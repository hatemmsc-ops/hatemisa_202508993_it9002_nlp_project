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</p:sldIdLst>
  <p:notesMasterIdLst>
    <p:notesMasterId r:id="rId65"/>
  </p:notesMasterIdLst>
  <p:sldSz cx="12192000" cy="6858000"/>
  <p:notesSz cx="6858000" cy="12192000"/>
  <p:embeddedFontLst>
    <p:embeddedFont>
      <p:font typeface="Exo 2" charset="0"/>
      <p:regular r:id="rId70"/>
      <p:bold r:id="rId71"/>
      <p:italic r:id="rId72"/>
      <p:boldItalic r:id="rId7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notesMaster" Target="notesMasters/notesMaster1.xml"/><Relationship Id="rId66" Type="http://schemas.openxmlformats.org/officeDocument/2006/relationships/presProps" Target="presProps.xml"/><Relationship Id="rId67" Type="http://schemas.openxmlformats.org/officeDocument/2006/relationships/viewProps" Target="viewProps.xml"/><Relationship Id="rId68" Type="http://schemas.openxmlformats.org/officeDocument/2006/relationships/theme" Target="theme/theme1.xml"/><Relationship Id="rId69" Type="http://schemas.openxmlformats.org/officeDocument/2006/relationships/tableStyles" Target="tableStyles.xml"/><Relationship Id="rId70" Type="http://schemas.openxmlformats.org/officeDocument/2006/relationships/font" Target="fonts/emyaa-font1.fntdata"/><Relationship Id="rId71" Type="http://schemas.openxmlformats.org/officeDocument/2006/relationships/font" Target="fonts/emyaa-font2.fntdata"/><Relationship Id="rId72" Type="http://schemas.openxmlformats.org/officeDocument/2006/relationships/font" Target="fonts/emyaa-font3.fntdata"/><Relationship Id="rId73" Type="http://schemas.openxmlformats.org/officeDocument/2006/relationships/font" Target="fonts/emyaa-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Rebuilt from eMYAA_-_Daily_Performance_Dashboard_34.pdf, page 1, report date 30 Sep 2026. Figures are exactly as reported on the dashboard; the only derived figures are Total KYC applications (onboarded + incomplete + rejected), the tickets-resolved percentage and the change since the previous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Rebuilt from eMYAA_-_Daily_Performance_Dashboard-1.pdf, page 1, report date 29 Sep 2026. Figures are exactly as reported on the dashboard; the only derived figures are Total KYC applications (onboarded + incomplete + rejected), the tickets-resolved percentage and the change since the previous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Rebuilt from eMYAA_-_Daily_Performance_Dashboard-1.pdf, page 2, report date 28 Sep 2026. Figures are exactly as reported on the dashboard; the only derived figures are Total KYC applications (onboarded + incomplete + rejected), the tickets-resolved percentage and the change since the previous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Rebuilt from eMYAA_-_Daily_Performance_Dashboard-1.pdf, page 3, report date 27 Sep 2026. Figures are exactly as reported on the dashboard; the only derived figures are Total KYC applications (onboarded + incomplete + rejected), the tickets-resolved percentage and the change since the previous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Rebuilt from eMYAA_-_Daily_Performance_Dashboard-1.pdf, page 4, report date 24 Sep 2026. Figures are exactly as reported on the dashboard; the only derived figures are Total KYC applications (onboarded + incomplete + rejected), the tickets-resolved percentage and the change since the previous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Rebuilt from eMYAA_-_Daily_Performance_Dashboard-1.pdf, page 5, report date 23 Sep 2026. Figures are exactly as reported on the dashboard; the only derived figures are Total KYC applications (onboarded + incomplete + rejected), the tickets-resolved percentage and the change since the previous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Rebuilt from eMYAA_-_Daily_Performance_Dashboard-1.pdf, page 6, report date 22 Sep 2026. Figures are exactly as reported on the dashboard; the only derived figures are Total KYC applications (onboarded + incomplete + rejected), the tickets-resolved percentage and the change since the previous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Rebuilt from eMYAA_-_Daily_Performance_Dashboard-1.pdf, page 7, report date 21 Sep 2026. Figures are exactly as reported on the dashboard; the only derived figures are Total KYC applications (onboarded + incomplete + rejected), the tickets-resolved percentage and the change since the previous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Rebuilt from eMYAA_-_Daily_Performance_Dashboard-1.pdf, page 8, report date 20 Sep 2026. Figures are exactly as reported on the dashboard; the only derived figures are Total KYC applications (onboarded + incomplete + rejected), the tickets-resolved percentage and the change since the previous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Rebuilt from eMYAA_-_Daily_Performance_Dashboard-1.pdf, page 9, report date 17 Sep 2026. Figures are exactly as reported on the dashboard; the only derived figures are Total KYC applications (onboarded + incomplete + rejected), the tickets-resolved percentage and the change since the previous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Rebuilt from eMYAA_-_Daily_Performance_Dashboard-1.pdf, page 10, report date 16 Sep 2026. Figures are exactly as reported on the dashboard; the only derived figures are Total KYC applications (onboarded + incomplete + rejected), the tickets-resolved percentage and the change since the previous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Rebuilt from eMYAA_-_Daily_Performance_Dashboard-1.pdf, page 11, report date 14 Sep 2026. Figures are exactly as reported on the dashboard; the only derived figures are Total KYC applications (onboarded + incomplete + rejected), the tickets-resolved percentage and the change since the previous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Rebuilt from eMYAA_-_Daily_Performance_Dashboard-1.pdf, page 12, report date 13 Sep 2026. Figures are exactly as reported on the dashboard; the only derived figures are Total KYC applications (onboarded + incomplete + rejected), the tickets-resolved percentage and the change since the previous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Rebuilt from eMYAA_-_Daily_Performance_Dashboard-1.pdf, page 13, report date 10 Sep 2026. Figures are exactly as reported on the dashboard; the only derived figures are Total KYC applications (onboarded + incomplete + rejected), the tickets-resolved percentage and the change since the previous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Rebuilt from eMYAA_-_Daily_Performance_Dashboard-1.pdf, page 14, report date 9 Sep 2026. Figures are exactly as reported on the dashboard; the only derived figures are Total KYC applications (onboarded + incomplete + rejected), the tickets-resolved percentage and the change since the previous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Rebuilt from eMYAA_-_Daily_Performance_Dashboard-1.pdf, page 15, report date 8 Sep 2026. Figures are exactly as reported on the dashboard; the only derived figures are Total KYC applications (onboarded + incomplete + rejected), the tickets-resolved percentage and the change since the previous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Rebuilt from eMYAA_-_Daily_Performance_Dashboard-1.pdf, page 16, report date 3 Sep 2026. Figures are exactly as reported on the dashboard; the only derived figures are Total KYC applications (onboarded + incomplete + rejected), the tickets-resolved percentage and the change since the previous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Rebuilt from eMYAA_-_Daily_Performance_Dashboard-1.pdf, page 17, report date 2 Sep 2026. Figures are exactly as reported on the dashboard; the only derived figures are Total KYC applications (onboarded + incomplete + rejected), the tickets-resolved percentage and the change since the previous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Rebuilt from eMYAA_-_Daily_Performance_Dashboard-1.pdf, page 18, report date 1 Sep 2026. Figures are exactly as reported on the dashboard; the only derived figures are Total KYC applications (onboarded + incomplete + rejected), the tickets-resolved percentage and the change since the previous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Rebuilt from eMYAA_-_Daily_Performance_Dashboard-1.pdf, page 19, report date 31 Aug 2026. Figures are exactly as reported on the dashboard; the only derived figures are Total KYC applications (onboarded + incomplete + rejected), the tickets-resolved percentage and the change since the previous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Rebuilt from eMYAA_-_Daily_Performance_Dashboard-1.pdf, page 20, report date 30 Aug 2026. Figures are exactly as reported on the dashboard; the only derived figures are Total KYC applications (onboarded + incomplete + rejected), the tickets-resolved percentage and the change since the previous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Rebuilt from eMYAA_-_Daily_Performance_Dashboard-1.pdf, page 21, report date 27 Aug 2026. Figures are exactly as reported on the dashboard; the only derived figures are Total KYC applications (onboarded + incomplete + rejected), the tickets-resolved percentage and the change since the previous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Rebuilt from eMYAA_-_Daily_Performance_Dashboard-1.pdf, page 22, report date 26 Aug 2026. Figures are exactly as reported on the dashboard; the only derived figures are Total KYC applications (onboarded + incomplete + rejected), the tickets-resolved percentage and the change since the previous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Rebuilt from eMYAA_-_Daily_Performance_Dashboard-1.pdf, page 23, report date 24 Aug 2026. Figures are exactly as reported on the dashboard; the only derived figures are Total KYC applications (onboarded + incomplete + rejected), the tickets-resolved percentage and the change since the previous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Rebuilt from eMYAA_-_Daily_Performance_Dashboard-1.pdf, page 24, report date 23 Aug 2026. Figures are exactly as reported on the dashboard; the only derived figures are Total KYC applications (onboarded + incomplete + rejected), the tickets-resolved percentage and the change since the previous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Rebuilt from eMYAA_-_Daily_Performance_Dashboard-1.pdf, page 25, report date 20 Aug 2026. Figures are exactly as reported on the dashboard; the only derived figures are Total KYC applications (onboarded + incomplete + rejected), the tickets-resolved percentage and the change since the previous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Rebuilt from eMYAA_-_Daily_Performance_Dashboard-1.pdf, page 26, report date 19 Aug 2026. Figures are exactly as reported on the dashboard; the only derived figures are Total KYC applications (onboarded + incomplete + rejected), the tickets-resolved percentage and the change since the previous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Rebuilt from eMYAA_-_Daily_Performance_Dashboard-1.pdf, page 27, report date 18 Aug 2026. Figures are exactly as reported on the dashboard; the only derived figures are Total KYC applications (onboarded + incomplete + rejected), the tickets-resolved percentage and the change since the previous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Rebuilt from eMYAA_-_Daily_Performance_Dashboard-1.pdf, page 28, report date 17 Aug 2026. Figures are exactly as reported on the dashboard; the only derived figures are Total KYC applications (onboarded + incomplete + rejected), the tickets-resolved percentage and the change since the previous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Rebuilt from eMYAA_-_Daily_Performance_Dashboard-1.pdf, page 29, report date 16 Aug 2026. Figures are exactly as reported on the dashboard; the only derived figures are Total KYC applications (onboarded + incomplete + rejected), the tickets-resolved percentage and the change since the previous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Rebuilt from eMYAA_-_Daily_Performance_Dashboard-1.pdf, page 30, report date 13 Aug 2026. Figures are exactly as reported on the dashboard; the only derived figures are Total KYC applications (onboarded + incomplete + rejected), the tickets-resolved percentage and the change since the previous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Rebuilt from eMYAA_-_Daily_Performance_Dashboard-1.pdf, page 31, report date 12 Aug 2026. Figures are exactly as reported on the dashboard; the only derived figures are Total KYC applications (onboarded + incomplete + rejected), the tickets-resolved percentage and the change since the previous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Rebuilt from eMYAA_-_Daily_Performance_Dashboard-1.pdf, page 32, report date 11 Aug 2026. Figures are exactly as reported on the dashboard; the only derived figures are Total KYC applications (onboarded + incomplete + rejected), the tickets-resolved percentage and the change since the previous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Rebuilt from eMYAA_-_Daily_Performance_Dashboard-1.pdf, page 33, report date 10 Aug 2026. Figures are exactly as reported on the dashboard; the only derived figures are Total KYC applications (onboarded + incomplete + rejected), the tickets-resolved percentage and the change since the previous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Rebuilt from eMYAA_-_Daily_Performance_Dashboard-1.pdf, page 34, report date 9 Aug 2026. Figures are exactly as reported on the dashboard; the only derived figures are Total KYC applications (onboarded + incomplete + rejected), the tickets-resolved percentage and the change since the previous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Rebuilt from eMYAA_-_Daily_Performance_Dashboard-1.pdf, page 35, report date 6 Aug 2026. Figures are exactly as reported on the dashboard; the only derived figures are Total KYC applications (onboarded + incomplete + rejected), the tickets-resolved percentage and the change since the previous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Rebuilt from eMYAA_-_Daily_Performance_Dashboard-1.pdf, page 36, report date 5 Aug 2026. Figures are exactly as reported on the dashboard; the only derived figures are Total KYC applications (onboarded + incomplete + rejected), the tickets-resolved percentage and the change since the previous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Rebuilt from eMYAA_-_Daily_Performance_Dashboard-1.pdf, page 37, report date 4 Aug 2026. Figures are exactly as reported on the dashboard; the only derived figures are Total KYC applications (onboarded + incomplete + rejected), the tickets-resolved percentage and the change since the previous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Rebuilt from eMYAA_-_Daily_Performance_Dashboard-1.pdf, page 38, report date 2 Aug 2026. Figures are exactly as reported on the dashboard; the only derived figures are Total KYC applications (onboarded + incomplete + rejected), the tickets-resolved percentage and the change since the previous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Rebuilt from eMYAA_-_Daily_Performance_Dashboard-1.pdf, page 39, report date 30 Jul 2026. Figures are exactly as reported on the dashboard; the only derived figures are Total KYC applications (onboarded + incomplete + rejected), the tickets-resolved percentage and the change since the previous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Rebuilt from eMYAA_-_Daily_Performance_Dashboard-1.pdf, page 40, report date 29 Jul 2026. Figures are exactly as reported on the dashboard; the only derived figures are Total KYC applications (onboarded + incomplete + rejected), the tickets-resolved percentage and the change since the previous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Rebuilt from eMYAA_-_Daily_Performance_Dashboard-1.pdf, page 41, report date 28 Jul 2026. Figures are exactly as reported on the dashboard; the only derived figures are Total KYC applications (onboarded + incomplete + rejected), the tickets-resolved percentage and the change since the previous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Rebuilt from eMYAA_-_Daily_Performance_Dashboard-1.pdf, page 42, report date 19 Jul 2026. Figures are exactly as reported on the dashboard; the only derived figures are Total KYC applications (onboarded + incomplete + rejected), the tickets-resolved percentage and the change since the previous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Rebuilt from eMYAA_-_Daily_Performance_Dashboard-1.pdf, page 43, report date 12 Jul 2026. Figures are exactly as reported on the dashboard; the only derived figures are Total KYC applications (onboarded + incomplete + rejected), the tickets-resolved percentage and the change since the previous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Rebuilt from eMYAA_-_Daily_Performance_Dashboard-1.pdf, page 44, report date 05 Jul 2026. Figures are exactly as reported on the dashboard; the only derived figures are Total KYC applications (onboarded + incomplete + rejected), the tickets-resolved percentage and the change since the previous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Rebuilt from eMYAA_-_Daily_Performance_Dashboard-1.pdf, page 45, report date 29 Jun 2026. Figures are exactly as reported on the dashboard; the only derived figures are Total KYC applications (onboarded + incomplete + rejected), the tickets-resolved percentage and the change since the previous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Rebuilt from eMYAA_-_Daily_Performance_Dashboard-1.pdf, page 46, report date 23 Jun 2026. Figures are exactly as reported on the dashboard; the only derived figures are Total KYC applications (onboarded + incomplete + rejected), the tickets-resolved percentage and the change since the previous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Rebuilt from eMYAA_-_Daily_Performance_Dashboard-1.pdf, page 47, report date 22 Jun 2026. Figures are exactly as reported on the dashboard; the only derived figures are Total KYC applications (onboarded + incomplete + rejected), the tickets-resolved percentage and the change since the previous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Rebuilt from eMYAA_-_Daily_Performance_Dashboard-1.pdf, page 48, report date 21 Jun 2026. Figures are exactly as reported on the dashboard; the only derived figures are Total KYC applications (onboarded + incomplete + rejected), the tickets-resolved percentage and the change since the previous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Rebuilt from eMYAA_-_Daily_Performance_Dashboard-1.pdf, page 49, report date 18 Jun 2026. Figures are exactly as reported on the dashboard; the only derived figures are Total KYC applications (onboarded + incomplete + rejected), the tickets-resolved percentage and the change since the previous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Rebuilt from eMYAA_-_Daily_Performance_Dashboard-1.pdf, page 50, report date 17 Jun 2026. Figures are exactly as reported on the dashboard; the only derived figures are Total KYC applications (onboarded + incomplete + rejected), the tickets-resolved percentage and the change since the previous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Rebuilt from eMYAA_-_Daily_Performance_Dashboard-1.pdf, page 51, report date 15 Jun 2026. Figures are exactly as reported on the dashboard; the only derived figures are Total KYC applications (onboarded + incomplete + rejected), the tickets-resolved percentage and the change since the previous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Rebuilt from eMYAA_-_Daily_Performance_Dashboard-1.pdf, page 52, report date 14 Jun 2026. Figures are exactly as reported on the dashboard; the only derived figures are Total KYC applications (onboarded + incomplete + rejected), the tickets-resolved percentage and the change since the previous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Rebuilt from eMYAA_-_Daily_Performance_Dashboard-1.pdf, page 53, report date 10 Jun 2026. Figures are exactly as reported on the dashboard; the only derived figures are Total KYC applications (onboarded + incomplete + rejected), the tickets-resolved percentage and the change since the previous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Rebuilt from eMYAA_-_Daily_Performance_Dashboard-1.pdf, page 54, report date 04 Jun 2026. Figures are exactly as reported on the dashboard; the only derived figures are Total KYC applications (onboarded + incomplete + rejected), the tickets-resolved percentage and the change since the previous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Rebuilt from eMYAA_-_Daily_Performance_Dashboard-1.pdf, page 55, report date 01 Jun 2026. Figures are exactly as reported on the dashboard; the only derived figures are Total KYC applications (onboarded + incomplete + rejected), the tickets-resolved percentage and the change since the previous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Rebuilt from eMYAA_-_Daily_Performance_Dashboard-1.pdf, page 56, report date 26 May 2026. Figures are exactly as reported on the dashboard; the only derived figures are Total KYC applications (onboarded + incomplete + rejected), the tickets-resolved percentage and the change since the previous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Rebuilt from eMYAA_-_Daily_Performance_Dashboard-1.pdf, page 57, report date 25 May 2026. Figures are exactly as reported on the dashboard; the only derived figures are Total KYC applications (onboarded + incomplete + rejected), the tickets-resolved percentage and the change since the previous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Rebuilt from eMYAA_-_Daily_Performance_Dashboard-1.pdf, page 58, report date 24 May 2026. Figures are exactly as reported on the dashboard; the only derived figures are Total KYC applications (onboarded + incomplete + rejected), the tickets-resolved percentage and the change since the previous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Rebuilt from eMYAA_-_Daily_Performance_Dashboard-1.pdf, page 59, report date 21 May 2026. Figures are exactly as reported on the dashboard; the only derived figures are Total KYC applications (onboarded + incomplete + rejected), the tickets-resolved percentage and the change since the previous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Rebuilt from eMYAA_-_Daily_Performance_Dashboard-1.pdf, page 60, report date 20 May 2026. Figures are exactly as reported on the dashboard; the only derived figures are Total KYC applications (onboarded + incomplete + rejected), the tickets-resolved percentage and the change since the previous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image" Target="../media/image-4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image" Target="../media/image-4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image" Target="../media/image-4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image" Target="../media/image-4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image" Target="../media/image-4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image" Target="../media/image-5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image" Target="../media/image-5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image" Target="../media/image-5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image" Target="../media/image-5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image" Target="../media/image-5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image" Target="../media/image-5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image" Target="../media/image-5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image" Target="../media/image-5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image" Target="../media/image-5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3" Type="http://schemas.openxmlformats.org/officeDocument/2006/relationships/image" Target="../media/image-5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image" Target="../media/image-6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png"/><Relationship Id="rId3" Type="http://schemas.openxmlformats.org/officeDocument/2006/relationships/image" Target="../media/image-6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png"/><Relationship Id="rId3" Type="http://schemas.openxmlformats.org/officeDocument/2006/relationships/image" Target="../media/image-6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png"/><Relationship Id="rId3" Type="http://schemas.openxmlformats.org/officeDocument/2006/relationships/image" Target="../media/image-6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atemIsa_202508993_IT9002_NLP_Project/emyaa-ceo-deck/working/charts/emyaa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85800"/>
            <a:ext cx="1600200" cy="566928"/>
          </a:xfrm>
          <a:prstGeom prst="rect">
            <a:avLst/>
          </a:prstGeom>
        </p:spPr>
      </p:pic>
      <p:pic>
        <p:nvPicPr>
          <p:cNvPr id="3" name="Image 1" descr="/home/user/HatemIsa_202508993_IT9002_NLP_Project/emyaa-ceo-deck/working/charts/ajya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6648" y="685800"/>
            <a:ext cx="1755648" cy="51206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25603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Daily Performance Dashboard</a:t>
            </a:r>
            <a:endParaRPr lang="en-US" sz="40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34747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D4AF3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PLATFORM ANALYTICS</a:t>
            </a:r>
            <a:endParaRPr lang="en-US" sz="20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3931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61 daily reports, 20 May 2026 to 30 Sep 2026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6126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6CFE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Source: eMYAA Daily Performance Dashboard PDFs. Figures are cumulative, all time, unless a report states a period.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atemIsa_202508993_IT9002_NLP_Project/emyaa-ceo-deck/working/charts/board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188720"/>
            <a:ext cx="12191695" cy="24689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66928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F3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OVERVIEW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57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Since launch: 492 downloads, 61 onboarded, 15 funded accounts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868680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6CFE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Cumulative totals on each report date, 20 May 2026 to 30 Sep 2026</a:t>
            </a:r>
            <a:endParaRPr lang="en-US" sz="1000" dirty="0"/>
          </a:p>
        </p:txBody>
      </p:sp>
      <p:pic>
        <p:nvPicPr>
          <p:cNvPr id="7" name="Image 1" descr="/home/user/HatemIsa_202508993_IT9002_NLP_Project/emyaa-ceo-deck/working/charts/ajy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02336"/>
            <a:ext cx="13258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" y="6272784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Source: eMYAA Daily Performance Dashboard, 61 reports. Downloads = Android + iOS.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eMYAA Trading Platform  |  Daily Performance Dashboard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9802368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</a:t>
            </a:r>
            <a:endParaRPr lang="en-US" sz="800" dirty="0"/>
          </a:p>
        </p:txBody>
      </p:sp>
      <p:pic>
        <p:nvPicPr>
          <p:cNvPr id="11" name="Image 2" descr="/home/user/HatemIsa_202508993_IT9002_NLP_Project/emyaa-ceo-deck/working/charts/emyaa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6336792"/>
            <a:ext cx="1024128" cy="3657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43000" y="160020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Cumulative downloads, onboarded users and funded accounts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1143000" y="5074920"/>
            <a:ext cx="6583680" cy="0"/>
          </a:xfrm>
          <a:prstGeom prst="line">
            <a:avLst/>
          </a:prstGeom>
          <a:noFill/>
          <a:ln w="12700">
            <a:solidFill>
              <a:srgbClr val="C6CFE4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40080" y="496519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0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1143000" y="4443984"/>
            <a:ext cx="6583680" cy="0"/>
          </a:xfrm>
          <a:prstGeom prst="line">
            <a:avLst/>
          </a:prstGeom>
          <a:noFill/>
          <a:ln w="9525">
            <a:solidFill>
              <a:srgbClr val="E6EAF2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40080" y="4334256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100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1143000" y="3813048"/>
            <a:ext cx="6583680" cy="0"/>
          </a:xfrm>
          <a:prstGeom prst="line">
            <a:avLst/>
          </a:prstGeom>
          <a:noFill/>
          <a:ln w="9525">
            <a:solidFill>
              <a:srgbClr val="E6EAF2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640080" y="370332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200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1143000" y="3182112"/>
            <a:ext cx="6583680" cy="0"/>
          </a:xfrm>
          <a:prstGeom prst="line">
            <a:avLst/>
          </a:prstGeom>
          <a:noFill/>
          <a:ln w="9525">
            <a:solidFill>
              <a:srgbClr val="E6EAF2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40080" y="307238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300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1143000" y="2551176"/>
            <a:ext cx="6583680" cy="0"/>
          </a:xfrm>
          <a:prstGeom prst="line">
            <a:avLst/>
          </a:prstGeom>
          <a:noFill/>
          <a:ln w="9525">
            <a:solidFill>
              <a:srgbClr val="E6EAF2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40080" y="244144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400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1143000" y="1920240"/>
            <a:ext cx="6583680" cy="0"/>
          </a:xfrm>
          <a:prstGeom prst="line">
            <a:avLst/>
          </a:prstGeom>
          <a:noFill/>
          <a:ln w="9525">
            <a:solidFill>
              <a:srgbClr val="E6EAF2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640080" y="181051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500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1737016" y="5074920"/>
            <a:ext cx="0" cy="54864"/>
          </a:xfrm>
          <a:prstGeom prst="line">
            <a:avLst/>
          </a:prstGeom>
          <a:noFill/>
          <a:ln w="12700">
            <a:solidFill>
              <a:srgbClr val="C6CFE4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1371256" y="51480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 Jun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3222057" y="5074920"/>
            <a:ext cx="0" cy="54864"/>
          </a:xfrm>
          <a:prstGeom prst="line">
            <a:avLst/>
          </a:prstGeom>
          <a:noFill/>
          <a:ln w="12700">
            <a:solidFill>
              <a:srgbClr val="C6CFE4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2856297" y="51480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 Jul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4756599" y="5074920"/>
            <a:ext cx="0" cy="54864"/>
          </a:xfrm>
          <a:prstGeom prst="line">
            <a:avLst/>
          </a:prstGeom>
          <a:noFill/>
          <a:ln w="12700">
            <a:solidFill>
              <a:srgbClr val="C6CFE4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4390839" y="51480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 Aug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6291141" y="5074920"/>
            <a:ext cx="0" cy="54864"/>
          </a:xfrm>
          <a:prstGeom prst="line">
            <a:avLst/>
          </a:prstGeom>
          <a:noFill/>
          <a:ln w="12700">
            <a:solidFill>
              <a:srgbClr val="C6CFE4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5925381" y="51480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 Sep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 flipV="1">
            <a:off x="1143000" y="4702668"/>
            <a:ext cx="49501" cy="12619"/>
          </a:xfrm>
          <a:prstGeom prst="line">
            <a:avLst/>
          </a:prstGeom>
          <a:noFill/>
          <a:ln w="28575">
            <a:solidFill>
              <a:srgbClr val="132257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 flipV="1">
            <a:off x="1192501" y="4563862"/>
            <a:ext cx="148504" cy="138806"/>
          </a:xfrm>
          <a:prstGeom prst="line">
            <a:avLst/>
          </a:prstGeom>
          <a:noFill/>
          <a:ln w="28575">
            <a:solidFill>
              <a:srgbClr val="132257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 flipV="1">
            <a:off x="1341005" y="4443984"/>
            <a:ext cx="49501" cy="119878"/>
          </a:xfrm>
          <a:prstGeom prst="line">
            <a:avLst/>
          </a:prstGeom>
          <a:noFill/>
          <a:ln w="28575">
            <a:solidFill>
              <a:srgbClr val="132257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 flipV="1">
            <a:off x="1390507" y="4437675"/>
            <a:ext cx="49501" cy="6309"/>
          </a:xfrm>
          <a:prstGeom prst="line">
            <a:avLst/>
          </a:prstGeom>
          <a:noFill/>
          <a:ln w="28575">
            <a:solidFill>
              <a:srgbClr val="132257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 flipV="1">
            <a:off x="1440008" y="4065422"/>
            <a:ext cx="297008" cy="372252"/>
          </a:xfrm>
          <a:prstGeom prst="line">
            <a:avLst/>
          </a:prstGeom>
          <a:noFill/>
          <a:ln w="28575">
            <a:solidFill>
              <a:srgbClr val="132257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1737016" y="4065422"/>
            <a:ext cx="148504" cy="0"/>
          </a:xfrm>
          <a:prstGeom prst="line">
            <a:avLst/>
          </a:prstGeom>
          <a:noFill/>
          <a:ln w="28575">
            <a:solidFill>
              <a:srgbClr val="132257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 flipV="1">
            <a:off x="1885520" y="3983401"/>
            <a:ext cx="297008" cy="82022"/>
          </a:xfrm>
          <a:prstGeom prst="line">
            <a:avLst/>
          </a:prstGeom>
          <a:noFill/>
          <a:ln w="28575">
            <a:solidFill>
              <a:srgbClr val="132257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 flipV="1">
            <a:off x="2182528" y="3926616"/>
            <a:ext cx="198005" cy="56784"/>
          </a:xfrm>
          <a:prstGeom prst="line">
            <a:avLst/>
          </a:prstGeom>
          <a:noFill/>
          <a:ln w="28575">
            <a:solidFill>
              <a:srgbClr val="132257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 flipV="1">
            <a:off x="2380534" y="3882451"/>
            <a:ext cx="49501" cy="44166"/>
          </a:xfrm>
          <a:prstGeom prst="line">
            <a:avLst/>
          </a:prstGeom>
          <a:noFill/>
          <a:ln w="28575">
            <a:solidFill>
              <a:srgbClr val="132257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 flipV="1">
            <a:off x="2430035" y="3857214"/>
            <a:ext cx="99003" cy="25237"/>
          </a:xfrm>
          <a:prstGeom prst="line">
            <a:avLst/>
          </a:prstGeom>
          <a:noFill/>
          <a:ln w="28575">
            <a:solidFill>
              <a:srgbClr val="132257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 flipV="1">
            <a:off x="2529038" y="3850904"/>
            <a:ext cx="49501" cy="6309"/>
          </a:xfrm>
          <a:prstGeom prst="line">
            <a:avLst/>
          </a:prstGeom>
          <a:noFill/>
          <a:ln w="28575">
            <a:solidFill>
              <a:srgbClr val="132257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 flipV="1">
            <a:off x="2578539" y="3787811"/>
            <a:ext cx="148504" cy="63094"/>
          </a:xfrm>
          <a:prstGeom prst="line">
            <a:avLst/>
          </a:prstGeom>
          <a:noFill/>
          <a:ln w="28575">
            <a:solidFill>
              <a:srgbClr val="132257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 flipV="1">
            <a:off x="2727043" y="3781501"/>
            <a:ext cx="49501" cy="6309"/>
          </a:xfrm>
          <a:prstGeom prst="line">
            <a:avLst/>
          </a:prstGeom>
          <a:noFill/>
          <a:ln w="28575">
            <a:solidFill>
              <a:srgbClr val="132257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 flipV="1">
            <a:off x="2776545" y="3775192"/>
            <a:ext cx="49501" cy="6309"/>
          </a:xfrm>
          <a:prstGeom prst="line">
            <a:avLst/>
          </a:prstGeom>
          <a:noFill/>
          <a:ln w="28575">
            <a:solidFill>
              <a:srgbClr val="132257"/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 flipV="1">
            <a:off x="2826046" y="3731026"/>
            <a:ext cx="297008" cy="44166"/>
          </a:xfrm>
          <a:prstGeom prst="line">
            <a:avLst/>
          </a:prstGeom>
          <a:noFill/>
          <a:ln w="28575">
            <a:solidFill>
              <a:srgbClr val="132257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 flipV="1">
            <a:off x="3123054" y="3699480"/>
            <a:ext cx="297008" cy="31547"/>
          </a:xfrm>
          <a:prstGeom prst="line">
            <a:avLst/>
          </a:prstGeom>
          <a:noFill/>
          <a:ln w="28575">
            <a:solidFill>
              <a:srgbClr val="132257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 flipV="1">
            <a:off x="3420062" y="3566983"/>
            <a:ext cx="346509" cy="132497"/>
          </a:xfrm>
          <a:prstGeom prst="line">
            <a:avLst/>
          </a:prstGeom>
          <a:noFill/>
          <a:ln w="28575">
            <a:solidFill>
              <a:srgbClr val="132257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 flipV="1">
            <a:off x="3766572" y="3428177"/>
            <a:ext cx="346509" cy="138806"/>
          </a:xfrm>
          <a:prstGeom prst="line">
            <a:avLst/>
          </a:prstGeom>
          <a:noFill/>
          <a:ln w="28575">
            <a:solidFill>
              <a:srgbClr val="132257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 flipV="1">
            <a:off x="4113081" y="3333537"/>
            <a:ext cx="445512" cy="94640"/>
          </a:xfrm>
          <a:prstGeom prst="line">
            <a:avLst/>
          </a:prstGeom>
          <a:noFill/>
          <a:ln w="28575">
            <a:solidFill>
              <a:srgbClr val="132257"/>
            </a:solidFill>
            <a:prstDash val="solid"/>
          </a:ln>
        </p:spPr>
      </p:sp>
      <p:sp>
        <p:nvSpPr>
          <p:cNvPr id="52" name="Shape 47"/>
          <p:cNvSpPr/>
          <p:nvPr/>
        </p:nvSpPr>
        <p:spPr>
          <a:xfrm>
            <a:off x="4558593" y="3333537"/>
            <a:ext cx="49501" cy="0"/>
          </a:xfrm>
          <a:prstGeom prst="line">
            <a:avLst/>
          </a:prstGeom>
          <a:noFill/>
          <a:ln w="28575">
            <a:solidFill>
              <a:srgbClr val="132257"/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4608095" y="3333537"/>
            <a:ext cx="49501" cy="0"/>
          </a:xfrm>
          <a:prstGeom prst="line">
            <a:avLst/>
          </a:prstGeom>
          <a:noFill/>
          <a:ln w="28575">
            <a:solidFill>
              <a:srgbClr val="132257"/>
            </a:solidFill>
            <a:prstDash val="solid"/>
          </a:ln>
        </p:spPr>
      </p:sp>
      <p:sp>
        <p:nvSpPr>
          <p:cNvPr id="54" name="Shape 49"/>
          <p:cNvSpPr/>
          <p:nvPr/>
        </p:nvSpPr>
        <p:spPr>
          <a:xfrm flipV="1">
            <a:off x="4657596" y="3283062"/>
            <a:ext cx="148504" cy="50475"/>
          </a:xfrm>
          <a:prstGeom prst="line">
            <a:avLst/>
          </a:prstGeom>
          <a:noFill/>
          <a:ln w="28575">
            <a:solidFill>
              <a:srgbClr val="132257"/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4806100" y="3283062"/>
            <a:ext cx="99003" cy="0"/>
          </a:xfrm>
          <a:prstGeom prst="line">
            <a:avLst/>
          </a:prstGeom>
          <a:noFill/>
          <a:ln w="28575">
            <a:solidFill>
              <a:srgbClr val="132257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4905103" y="3283062"/>
            <a:ext cx="49501" cy="0"/>
          </a:xfrm>
          <a:prstGeom prst="line">
            <a:avLst/>
          </a:prstGeom>
          <a:noFill/>
          <a:ln w="28575">
            <a:solidFill>
              <a:srgbClr val="132257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4954604" y="3283062"/>
            <a:ext cx="49501" cy="0"/>
          </a:xfrm>
          <a:prstGeom prst="line">
            <a:avLst/>
          </a:prstGeom>
          <a:noFill/>
          <a:ln w="28575">
            <a:solidFill>
              <a:srgbClr val="132257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 flipV="1">
            <a:off x="5004106" y="3276752"/>
            <a:ext cx="148504" cy="6309"/>
          </a:xfrm>
          <a:prstGeom prst="line">
            <a:avLst/>
          </a:prstGeom>
          <a:noFill/>
          <a:ln w="28575">
            <a:solidFill>
              <a:srgbClr val="132257"/>
            </a:solidFill>
            <a:prstDash val="solid"/>
          </a:ln>
        </p:spPr>
      </p:sp>
      <p:sp>
        <p:nvSpPr>
          <p:cNvPr id="59" name="Shape 54"/>
          <p:cNvSpPr/>
          <p:nvPr/>
        </p:nvSpPr>
        <p:spPr>
          <a:xfrm flipV="1">
            <a:off x="5152610" y="3264134"/>
            <a:ext cx="49501" cy="12619"/>
          </a:xfrm>
          <a:prstGeom prst="line">
            <a:avLst/>
          </a:prstGeom>
          <a:noFill/>
          <a:ln w="28575">
            <a:solidFill>
              <a:srgbClr val="132257"/>
            </a:solidFill>
            <a:prstDash val="solid"/>
          </a:ln>
        </p:spPr>
      </p:sp>
      <p:sp>
        <p:nvSpPr>
          <p:cNvPr id="60" name="Shape 55"/>
          <p:cNvSpPr/>
          <p:nvPr/>
        </p:nvSpPr>
        <p:spPr>
          <a:xfrm flipV="1">
            <a:off x="5202111" y="3238896"/>
            <a:ext cx="49501" cy="25237"/>
          </a:xfrm>
          <a:prstGeom prst="line">
            <a:avLst/>
          </a:prstGeom>
          <a:noFill/>
          <a:ln w="28575">
            <a:solidFill>
              <a:srgbClr val="132257"/>
            </a:solidFill>
            <a:prstDash val="solid"/>
          </a:ln>
        </p:spPr>
      </p:sp>
      <p:sp>
        <p:nvSpPr>
          <p:cNvPr id="61" name="Shape 56"/>
          <p:cNvSpPr/>
          <p:nvPr/>
        </p:nvSpPr>
        <p:spPr>
          <a:xfrm flipV="1">
            <a:off x="5251612" y="3062234"/>
            <a:ext cx="49501" cy="176662"/>
          </a:xfrm>
          <a:prstGeom prst="line">
            <a:avLst/>
          </a:prstGeom>
          <a:noFill/>
          <a:ln w="28575">
            <a:solidFill>
              <a:srgbClr val="132257"/>
            </a:solidFill>
            <a:prstDash val="solid"/>
          </a:ln>
        </p:spPr>
      </p:sp>
      <p:sp>
        <p:nvSpPr>
          <p:cNvPr id="62" name="Shape 57"/>
          <p:cNvSpPr/>
          <p:nvPr/>
        </p:nvSpPr>
        <p:spPr>
          <a:xfrm flipV="1">
            <a:off x="5301114" y="3036997"/>
            <a:ext cx="49501" cy="25237"/>
          </a:xfrm>
          <a:prstGeom prst="line">
            <a:avLst/>
          </a:prstGeom>
          <a:noFill/>
          <a:ln w="28575">
            <a:solidFill>
              <a:srgbClr val="132257"/>
            </a:solidFill>
            <a:prstDash val="solid"/>
          </a:ln>
        </p:spPr>
      </p:sp>
      <p:sp>
        <p:nvSpPr>
          <p:cNvPr id="63" name="Shape 58"/>
          <p:cNvSpPr/>
          <p:nvPr/>
        </p:nvSpPr>
        <p:spPr>
          <a:xfrm flipV="1">
            <a:off x="5350615" y="2967594"/>
            <a:ext cx="148504" cy="69403"/>
          </a:xfrm>
          <a:prstGeom prst="line">
            <a:avLst/>
          </a:prstGeom>
          <a:noFill/>
          <a:ln w="28575">
            <a:solidFill>
              <a:srgbClr val="132257"/>
            </a:solidFill>
            <a:prstDash val="solid"/>
          </a:ln>
        </p:spPr>
      </p:sp>
      <p:sp>
        <p:nvSpPr>
          <p:cNvPr id="64" name="Shape 59"/>
          <p:cNvSpPr/>
          <p:nvPr/>
        </p:nvSpPr>
        <p:spPr>
          <a:xfrm flipV="1">
            <a:off x="5499119" y="2954975"/>
            <a:ext cx="49501" cy="12619"/>
          </a:xfrm>
          <a:prstGeom prst="line">
            <a:avLst/>
          </a:prstGeom>
          <a:noFill/>
          <a:ln w="28575">
            <a:solidFill>
              <a:srgbClr val="132257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 flipV="1">
            <a:off x="5548620" y="2948666"/>
            <a:ext cx="49501" cy="6309"/>
          </a:xfrm>
          <a:prstGeom prst="line">
            <a:avLst/>
          </a:prstGeom>
          <a:noFill/>
          <a:ln w="28575">
            <a:solidFill>
              <a:srgbClr val="132257"/>
            </a:solidFill>
            <a:prstDash val="solid"/>
          </a:ln>
        </p:spPr>
      </p:sp>
      <p:sp>
        <p:nvSpPr>
          <p:cNvPr id="66" name="Shape 61"/>
          <p:cNvSpPr/>
          <p:nvPr/>
        </p:nvSpPr>
        <p:spPr>
          <a:xfrm>
            <a:off x="5598122" y="2948666"/>
            <a:ext cx="49501" cy="0"/>
          </a:xfrm>
          <a:prstGeom prst="line">
            <a:avLst/>
          </a:prstGeom>
          <a:noFill/>
          <a:ln w="28575">
            <a:solidFill>
              <a:srgbClr val="132257"/>
            </a:solidFill>
            <a:prstDash val="solid"/>
          </a:ln>
        </p:spPr>
      </p:sp>
      <p:sp>
        <p:nvSpPr>
          <p:cNvPr id="67" name="Shape 62"/>
          <p:cNvSpPr/>
          <p:nvPr/>
        </p:nvSpPr>
        <p:spPr>
          <a:xfrm flipV="1">
            <a:off x="5647623" y="2942356"/>
            <a:ext cx="49501" cy="6309"/>
          </a:xfrm>
          <a:prstGeom prst="line">
            <a:avLst/>
          </a:prstGeom>
          <a:noFill/>
          <a:ln w="28575">
            <a:solidFill>
              <a:srgbClr val="132257"/>
            </a:solidFill>
            <a:prstDash val="solid"/>
          </a:ln>
        </p:spPr>
      </p:sp>
      <p:sp>
        <p:nvSpPr>
          <p:cNvPr id="68" name="Shape 63"/>
          <p:cNvSpPr/>
          <p:nvPr/>
        </p:nvSpPr>
        <p:spPr>
          <a:xfrm flipV="1">
            <a:off x="5697125" y="2898191"/>
            <a:ext cx="148504" cy="44166"/>
          </a:xfrm>
          <a:prstGeom prst="line">
            <a:avLst/>
          </a:prstGeom>
          <a:noFill/>
          <a:ln w="28575">
            <a:solidFill>
              <a:srgbClr val="132257"/>
            </a:solidFill>
            <a:prstDash val="solid"/>
          </a:ln>
        </p:spPr>
      </p:sp>
      <p:sp>
        <p:nvSpPr>
          <p:cNvPr id="69" name="Shape 64"/>
          <p:cNvSpPr/>
          <p:nvPr/>
        </p:nvSpPr>
        <p:spPr>
          <a:xfrm flipV="1">
            <a:off x="5845629" y="2885572"/>
            <a:ext cx="49501" cy="12619"/>
          </a:xfrm>
          <a:prstGeom prst="line">
            <a:avLst/>
          </a:prstGeom>
          <a:noFill/>
          <a:ln w="28575">
            <a:solidFill>
              <a:srgbClr val="132257"/>
            </a:solidFill>
            <a:prstDash val="solid"/>
          </a:ln>
        </p:spPr>
      </p:sp>
      <p:sp>
        <p:nvSpPr>
          <p:cNvPr id="70" name="Shape 65"/>
          <p:cNvSpPr/>
          <p:nvPr/>
        </p:nvSpPr>
        <p:spPr>
          <a:xfrm flipV="1">
            <a:off x="5895130" y="2866644"/>
            <a:ext cx="99003" cy="18928"/>
          </a:xfrm>
          <a:prstGeom prst="line">
            <a:avLst/>
          </a:prstGeom>
          <a:noFill/>
          <a:ln w="28575">
            <a:solidFill>
              <a:srgbClr val="132257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 flipV="1">
            <a:off x="5994133" y="2854025"/>
            <a:ext cx="49501" cy="12619"/>
          </a:xfrm>
          <a:prstGeom prst="line">
            <a:avLst/>
          </a:prstGeom>
          <a:noFill/>
          <a:ln w="28575">
            <a:solidFill>
              <a:srgbClr val="132257"/>
            </a:solidFill>
            <a:prstDash val="solid"/>
          </a:ln>
        </p:spPr>
      </p:sp>
      <p:sp>
        <p:nvSpPr>
          <p:cNvPr id="72" name="Shape 67"/>
          <p:cNvSpPr/>
          <p:nvPr/>
        </p:nvSpPr>
        <p:spPr>
          <a:xfrm flipV="1">
            <a:off x="6043634" y="2809860"/>
            <a:ext cx="148504" cy="44166"/>
          </a:xfrm>
          <a:prstGeom prst="line">
            <a:avLst/>
          </a:prstGeom>
          <a:noFill/>
          <a:ln w="28575">
            <a:solidFill>
              <a:srgbClr val="132257"/>
            </a:solidFill>
            <a:prstDash val="solid"/>
          </a:ln>
        </p:spPr>
      </p:sp>
      <p:sp>
        <p:nvSpPr>
          <p:cNvPr id="73" name="Shape 68"/>
          <p:cNvSpPr/>
          <p:nvPr/>
        </p:nvSpPr>
        <p:spPr>
          <a:xfrm flipV="1">
            <a:off x="6192138" y="2790932"/>
            <a:ext cx="49501" cy="18928"/>
          </a:xfrm>
          <a:prstGeom prst="line">
            <a:avLst/>
          </a:prstGeom>
          <a:noFill/>
          <a:ln w="28575">
            <a:solidFill>
              <a:srgbClr val="132257"/>
            </a:solidFill>
            <a:prstDash val="solid"/>
          </a:ln>
        </p:spPr>
      </p:sp>
      <p:sp>
        <p:nvSpPr>
          <p:cNvPr id="74" name="Shape 69"/>
          <p:cNvSpPr/>
          <p:nvPr/>
        </p:nvSpPr>
        <p:spPr>
          <a:xfrm flipV="1">
            <a:off x="6241639" y="2721529"/>
            <a:ext cx="49501" cy="69403"/>
          </a:xfrm>
          <a:prstGeom prst="line">
            <a:avLst/>
          </a:prstGeom>
          <a:noFill/>
          <a:ln w="28575">
            <a:solidFill>
              <a:srgbClr val="132257"/>
            </a:solidFill>
            <a:prstDash val="solid"/>
          </a:ln>
        </p:spPr>
      </p:sp>
      <p:sp>
        <p:nvSpPr>
          <p:cNvPr id="75" name="Shape 70"/>
          <p:cNvSpPr/>
          <p:nvPr/>
        </p:nvSpPr>
        <p:spPr>
          <a:xfrm flipV="1">
            <a:off x="6291141" y="2620579"/>
            <a:ext cx="49501" cy="100950"/>
          </a:xfrm>
          <a:prstGeom prst="line">
            <a:avLst/>
          </a:prstGeom>
          <a:noFill/>
          <a:ln w="28575">
            <a:solidFill>
              <a:srgbClr val="132257"/>
            </a:solidFill>
            <a:prstDash val="solid"/>
          </a:ln>
        </p:spPr>
      </p:sp>
      <p:sp>
        <p:nvSpPr>
          <p:cNvPr id="76" name="Shape 71"/>
          <p:cNvSpPr/>
          <p:nvPr/>
        </p:nvSpPr>
        <p:spPr>
          <a:xfrm flipV="1">
            <a:off x="6340642" y="2582723"/>
            <a:ext cx="49501" cy="37856"/>
          </a:xfrm>
          <a:prstGeom prst="line">
            <a:avLst/>
          </a:prstGeom>
          <a:noFill/>
          <a:ln w="28575">
            <a:solidFill>
              <a:srgbClr val="132257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 flipV="1">
            <a:off x="6390143" y="2532248"/>
            <a:ext cx="247507" cy="50475"/>
          </a:xfrm>
          <a:prstGeom prst="line">
            <a:avLst/>
          </a:prstGeom>
          <a:noFill/>
          <a:ln w="28575">
            <a:solidFill>
              <a:srgbClr val="132257"/>
            </a:solidFill>
            <a:prstDash val="solid"/>
          </a:ln>
        </p:spPr>
      </p:sp>
      <p:sp>
        <p:nvSpPr>
          <p:cNvPr id="78" name="Shape 73"/>
          <p:cNvSpPr/>
          <p:nvPr/>
        </p:nvSpPr>
        <p:spPr>
          <a:xfrm flipV="1">
            <a:off x="6637650" y="2488082"/>
            <a:ext cx="49501" cy="44166"/>
          </a:xfrm>
          <a:prstGeom prst="line">
            <a:avLst/>
          </a:prstGeom>
          <a:noFill/>
          <a:ln w="28575">
            <a:solidFill>
              <a:srgbClr val="132257"/>
            </a:solidFill>
            <a:prstDash val="solid"/>
          </a:ln>
        </p:spPr>
      </p:sp>
      <p:sp>
        <p:nvSpPr>
          <p:cNvPr id="79" name="Shape 74"/>
          <p:cNvSpPr/>
          <p:nvPr/>
        </p:nvSpPr>
        <p:spPr>
          <a:xfrm flipV="1">
            <a:off x="6687152" y="2462845"/>
            <a:ext cx="49501" cy="25237"/>
          </a:xfrm>
          <a:prstGeom prst="line">
            <a:avLst/>
          </a:prstGeom>
          <a:noFill/>
          <a:ln w="28575">
            <a:solidFill>
              <a:srgbClr val="132257"/>
            </a:solidFill>
            <a:prstDash val="solid"/>
          </a:ln>
        </p:spPr>
      </p:sp>
      <p:sp>
        <p:nvSpPr>
          <p:cNvPr id="80" name="Shape 75"/>
          <p:cNvSpPr/>
          <p:nvPr/>
        </p:nvSpPr>
        <p:spPr>
          <a:xfrm flipV="1">
            <a:off x="6736653" y="2431298"/>
            <a:ext cx="148504" cy="31547"/>
          </a:xfrm>
          <a:prstGeom prst="line">
            <a:avLst/>
          </a:prstGeom>
          <a:noFill/>
          <a:ln w="28575">
            <a:solidFill>
              <a:srgbClr val="132257"/>
            </a:solidFill>
            <a:prstDash val="solid"/>
          </a:ln>
        </p:spPr>
      </p:sp>
      <p:sp>
        <p:nvSpPr>
          <p:cNvPr id="81" name="Shape 76"/>
          <p:cNvSpPr/>
          <p:nvPr/>
        </p:nvSpPr>
        <p:spPr>
          <a:xfrm flipV="1">
            <a:off x="6885157" y="2406061"/>
            <a:ext cx="49501" cy="25237"/>
          </a:xfrm>
          <a:prstGeom prst="line">
            <a:avLst/>
          </a:prstGeom>
          <a:noFill/>
          <a:ln w="28575">
            <a:solidFill>
              <a:srgbClr val="132257"/>
            </a:solidFill>
            <a:prstDash val="solid"/>
          </a:ln>
        </p:spPr>
      </p:sp>
      <p:sp>
        <p:nvSpPr>
          <p:cNvPr id="82" name="Shape 77"/>
          <p:cNvSpPr/>
          <p:nvPr/>
        </p:nvSpPr>
        <p:spPr>
          <a:xfrm flipV="1">
            <a:off x="6934658" y="2361895"/>
            <a:ext cx="99003" cy="44166"/>
          </a:xfrm>
          <a:prstGeom prst="line">
            <a:avLst/>
          </a:prstGeom>
          <a:noFill/>
          <a:ln w="28575">
            <a:solidFill>
              <a:srgbClr val="132257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 flipV="1">
            <a:off x="7033661" y="2349276"/>
            <a:ext cx="49501" cy="12619"/>
          </a:xfrm>
          <a:prstGeom prst="line">
            <a:avLst/>
          </a:prstGeom>
          <a:noFill/>
          <a:ln w="28575">
            <a:solidFill>
              <a:srgbClr val="132257"/>
            </a:solidFill>
            <a:prstDash val="solid"/>
          </a:ln>
        </p:spPr>
      </p:sp>
      <p:sp>
        <p:nvSpPr>
          <p:cNvPr id="84" name="Shape 79"/>
          <p:cNvSpPr/>
          <p:nvPr/>
        </p:nvSpPr>
        <p:spPr>
          <a:xfrm flipV="1">
            <a:off x="7083162" y="2317730"/>
            <a:ext cx="148504" cy="31547"/>
          </a:xfrm>
          <a:prstGeom prst="line">
            <a:avLst/>
          </a:prstGeom>
          <a:noFill/>
          <a:ln w="28575">
            <a:solidFill>
              <a:srgbClr val="132257"/>
            </a:solidFill>
            <a:prstDash val="solid"/>
          </a:ln>
        </p:spPr>
      </p:sp>
      <p:sp>
        <p:nvSpPr>
          <p:cNvPr id="85" name="Shape 80"/>
          <p:cNvSpPr/>
          <p:nvPr/>
        </p:nvSpPr>
        <p:spPr>
          <a:xfrm>
            <a:off x="7231666" y="2317730"/>
            <a:ext cx="49501" cy="0"/>
          </a:xfrm>
          <a:prstGeom prst="line">
            <a:avLst/>
          </a:prstGeom>
          <a:noFill/>
          <a:ln w="28575">
            <a:solidFill>
              <a:srgbClr val="132257"/>
            </a:solidFill>
            <a:prstDash val="solid"/>
          </a:ln>
        </p:spPr>
      </p:sp>
      <p:sp>
        <p:nvSpPr>
          <p:cNvPr id="86" name="Shape 81"/>
          <p:cNvSpPr/>
          <p:nvPr/>
        </p:nvSpPr>
        <p:spPr>
          <a:xfrm flipV="1">
            <a:off x="7281168" y="2223089"/>
            <a:ext cx="49501" cy="94640"/>
          </a:xfrm>
          <a:prstGeom prst="line">
            <a:avLst/>
          </a:prstGeom>
          <a:noFill/>
          <a:ln w="28575">
            <a:solidFill>
              <a:srgbClr val="132257"/>
            </a:solidFill>
            <a:prstDash val="solid"/>
          </a:ln>
        </p:spPr>
      </p:sp>
      <p:sp>
        <p:nvSpPr>
          <p:cNvPr id="87" name="Shape 82"/>
          <p:cNvSpPr/>
          <p:nvPr/>
        </p:nvSpPr>
        <p:spPr>
          <a:xfrm flipV="1">
            <a:off x="7330669" y="2210471"/>
            <a:ext cx="49501" cy="12619"/>
          </a:xfrm>
          <a:prstGeom prst="line">
            <a:avLst/>
          </a:prstGeom>
          <a:noFill/>
          <a:ln w="28575">
            <a:solidFill>
              <a:srgbClr val="132257"/>
            </a:solidFill>
            <a:prstDash val="solid"/>
          </a:ln>
        </p:spPr>
      </p:sp>
      <p:sp>
        <p:nvSpPr>
          <p:cNvPr id="88" name="Shape 83"/>
          <p:cNvSpPr/>
          <p:nvPr/>
        </p:nvSpPr>
        <p:spPr>
          <a:xfrm flipV="1">
            <a:off x="7380171" y="2204161"/>
            <a:ext cx="49501" cy="6309"/>
          </a:xfrm>
          <a:prstGeom prst="line">
            <a:avLst/>
          </a:prstGeom>
          <a:noFill/>
          <a:ln w="28575">
            <a:solidFill>
              <a:srgbClr val="132257"/>
            </a:solidFill>
            <a:prstDash val="solid"/>
          </a:ln>
        </p:spPr>
      </p:sp>
      <p:sp>
        <p:nvSpPr>
          <p:cNvPr id="89" name="Shape 84"/>
          <p:cNvSpPr/>
          <p:nvPr/>
        </p:nvSpPr>
        <p:spPr>
          <a:xfrm flipV="1">
            <a:off x="7429672" y="2090593"/>
            <a:ext cx="148504" cy="113568"/>
          </a:xfrm>
          <a:prstGeom prst="line">
            <a:avLst/>
          </a:prstGeom>
          <a:noFill/>
          <a:ln w="28575">
            <a:solidFill>
              <a:srgbClr val="132257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 flipV="1">
            <a:off x="7578176" y="2046427"/>
            <a:ext cx="49501" cy="44166"/>
          </a:xfrm>
          <a:prstGeom prst="line">
            <a:avLst/>
          </a:prstGeom>
          <a:noFill/>
          <a:ln w="28575">
            <a:solidFill>
              <a:srgbClr val="132257"/>
            </a:solidFill>
            <a:prstDash val="solid"/>
          </a:ln>
        </p:spPr>
      </p:sp>
      <p:sp>
        <p:nvSpPr>
          <p:cNvPr id="91" name="Shape 86"/>
          <p:cNvSpPr/>
          <p:nvPr/>
        </p:nvSpPr>
        <p:spPr>
          <a:xfrm flipV="1">
            <a:off x="7627677" y="1983334"/>
            <a:ext cx="49501" cy="63094"/>
          </a:xfrm>
          <a:prstGeom prst="line">
            <a:avLst/>
          </a:prstGeom>
          <a:noFill/>
          <a:ln w="28575">
            <a:solidFill>
              <a:srgbClr val="132257"/>
            </a:solidFill>
            <a:prstDash val="solid"/>
          </a:ln>
        </p:spPr>
      </p:sp>
      <p:sp>
        <p:nvSpPr>
          <p:cNvPr id="92" name="Shape 87"/>
          <p:cNvSpPr/>
          <p:nvPr/>
        </p:nvSpPr>
        <p:spPr>
          <a:xfrm flipV="1">
            <a:off x="7677179" y="1970715"/>
            <a:ext cx="49501" cy="12619"/>
          </a:xfrm>
          <a:prstGeom prst="line">
            <a:avLst/>
          </a:prstGeom>
          <a:noFill/>
          <a:ln w="28575">
            <a:solidFill>
              <a:srgbClr val="132257"/>
            </a:solidFill>
            <a:prstDash val="solid"/>
          </a:ln>
        </p:spPr>
      </p:sp>
      <p:sp>
        <p:nvSpPr>
          <p:cNvPr id="93" name="Shape 88"/>
          <p:cNvSpPr/>
          <p:nvPr/>
        </p:nvSpPr>
        <p:spPr>
          <a:xfrm>
            <a:off x="7680960" y="1924995"/>
            <a:ext cx="91440" cy="91440"/>
          </a:xfrm>
          <a:prstGeom prst="ellipse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94" name="Text 89"/>
          <p:cNvSpPr txBox="1"/>
          <p:nvPr/>
        </p:nvSpPr>
        <p:spPr>
          <a:xfrm>
            <a:off x="7818120" y="1851843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492  </a:t>
            </a:r>
            <a:pPr indent="0" marL="0">
              <a:buNone/>
            </a:pPr>
            <a:r>
              <a:rPr lang="en-US" sz="10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Downloads</a:t>
            </a:r>
            <a:endParaRPr lang="en-US" sz="1000" dirty="0"/>
          </a:p>
        </p:txBody>
      </p:sp>
      <p:sp>
        <p:nvSpPr>
          <p:cNvPr id="95" name="Shape 90"/>
          <p:cNvSpPr/>
          <p:nvPr/>
        </p:nvSpPr>
        <p:spPr>
          <a:xfrm>
            <a:off x="1143000" y="5049683"/>
            <a:ext cx="49501" cy="25237"/>
          </a:xfrm>
          <a:prstGeom prst="line">
            <a:avLst/>
          </a:prstGeom>
          <a:noFill/>
          <a:ln w="28575">
            <a:solidFill>
              <a:srgbClr val="1BA97C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1192501" y="5074920"/>
            <a:ext cx="148504" cy="0"/>
          </a:xfrm>
          <a:prstGeom prst="line">
            <a:avLst/>
          </a:prstGeom>
          <a:noFill/>
          <a:ln w="28575">
            <a:solidFill>
              <a:srgbClr val="1BA97C"/>
            </a:solidFill>
            <a:prstDash val="solid"/>
          </a:ln>
        </p:spPr>
      </p:sp>
      <p:sp>
        <p:nvSpPr>
          <p:cNvPr id="97" name="Shape 92"/>
          <p:cNvSpPr/>
          <p:nvPr/>
        </p:nvSpPr>
        <p:spPr>
          <a:xfrm>
            <a:off x="1341005" y="5074920"/>
            <a:ext cx="49501" cy="0"/>
          </a:xfrm>
          <a:prstGeom prst="line">
            <a:avLst/>
          </a:prstGeom>
          <a:noFill/>
          <a:ln w="28575">
            <a:solidFill>
              <a:srgbClr val="1BA97C"/>
            </a:solidFill>
            <a:prstDash val="solid"/>
          </a:ln>
        </p:spPr>
      </p:sp>
      <p:sp>
        <p:nvSpPr>
          <p:cNvPr id="98" name="Shape 93"/>
          <p:cNvSpPr/>
          <p:nvPr/>
        </p:nvSpPr>
        <p:spPr>
          <a:xfrm flipV="1">
            <a:off x="1390507" y="5068611"/>
            <a:ext cx="49501" cy="6309"/>
          </a:xfrm>
          <a:prstGeom prst="line">
            <a:avLst/>
          </a:prstGeom>
          <a:noFill/>
          <a:ln w="28575">
            <a:solidFill>
              <a:srgbClr val="1BA97C"/>
            </a:solidFill>
            <a:prstDash val="solid"/>
          </a:ln>
        </p:spPr>
      </p:sp>
      <p:sp>
        <p:nvSpPr>
          <p:cNvPr id="99" name="Shape 94"/>
          <p:cNvSpPr/>
          <p:nvPr/>
        </p:nvSpPr>
        <p:spPr>
          <a:xfrm flipV="1">
            <a:off x="1440008" y="5037064"/>
            <a:ext cx="297008" cy="31547"/>
          </a:xfrm>
          <a:prstGeom prst="line">
            <a:avLst/>
          </a:prstGeom>
          <a:noFill/>
          <a:ln w="28575">
            <a:solidFill>
              <a:srgbClr val="1BA97C"/>
            </a:solidFill>
            <a:prstDash val="solid"/>
          </a:ln>
        </p:spPr>
      </p:sp>
      <p:sp>
        <p:nvSpPr>
          <p:cNvPr id="100" name="Shape 95"/>
          <p:cNvSpPr/>
          <p:nvPr/>
        </p:nvSpPr>
        <p:spPr>
          <a:xfrm>
            <a:off x="1737016" y="5037064"/>
            <a:ext cx="148504" cy="0"/>
          </a:xfrm>
          <a:prstGeom prst="line">
            <a:avLst/>
          </a:prstGeom>
          <a:noFill/>
          <a:ln w="28575">
            <a:solidFill>
              <a:srgbClr val="1BA97C"/>
            </a:solidFill>
            <a:prstDash val="solid"/>
          </a:ln>
        </p:spPr>
      </p:sp>
      <p:sp>
        <p:nvSpPr>
          <p:cNvPr id="101" name="Shape 96"/>
          <p:cNvSpPr/>
          <p:nvPr/>
        </p:nvSpPr>
        <p:spPr>
          <a:xfrm flipV="1">
            <a:off x="1885520" y="5024445"/>
            <a:ext cx="297008" cy="12619"/>
          </a:xfrm>
          <a:prstGeom prst="line">
            <a:avLst/>
          </a:prstGeom>
          <a:noFill/>
          <a:ln w="28575">
            <a:solidFill>
              <a:srgbClr val="1BA97C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 flipV="1">
            <a:off x="2182528" y="5005517"/>
            <a:ext cx="198005" cy="18928"/>
          </a:xfrm>
          <a:prstGeom prst="line">
            <a:avLst/>
          </a:prstGeom>
          <a:noFill/>
          <a:ln w="28575">
            <a:solidFill>
              <a:srgbClr val="1BA97C"/>
            </a:solidFill>
            <a:prstDash val="solid"/>
          </a:ln>
        </p:spPr>
      </p:sp>
      <p:sp>
        <p:nvSpPr>
          <p:cNvPr id="103" name="Shape 98"/>
          <p:cNvSpPr/>
          <p:nvPr/>
        </p:nvSpPr>
        <p:spPr>
          <a:xfrm>
            <a:off x="2380534" y="5005517"/>
            <a:ext cx="49501" cy="0"/>
          </a:xfrm>
          <a:prstGeom prst="line">
            <a:avLst/>
          </a:prstGeom>
          <a:noFill/>
          <a:ln w="28575">
            <a:solidFill>
              <a:srgbClr val="1BA97C"/>
            </a:solidFill>
            <a:prstDash val="solid"/>
          </a:ln>
        </p:spPr>
      </p:sp>
      <p:sp>
        <p:nvSpPr>
          <p:cNvPr id="104" name="Shape 99"/>
          <p:cNvSpPr/>
          <p:nvPr/>
        </p:nvSpPr>
        <p:spPr>
          <a:xfrm flipV="1">
            <a:off x="2430035" y="4999208"/>
            <a:ext cx="99003" cy="6309"/>
          </a:xfrm>
          <a:prstGeom prst="line">
            <a:avLst/>
          </a:prstGeom>
          <a:noFill/>
          <a:ln w="28575">
            <a:solidFill>
              <a:srgbClr val="1BA97C"/>
            </a:solidFill>
            <a:prstDash val="solid"/>
          </a:ln>
        </p:spPr>
      </p:sp>
      <p:sp>
        <p:nvSpPr>
          <p:cNvPr id="105" name="Shape 100"/>
          <p:cNvSpPr/>
          <p:nvPr/>
        </p:nvSpPr>
        <p:spPr>
          <a:xfrm flipV="1">
            <a:off x="2529038" y="4992898"/>
            <a:ext cx="49501" cy="6309"/>
          </a:xfrm>
          <a:prstGeom prst="line">
            <a:avLst/>
          </a:prstGeom>
          <a:noFill/>
          <a:ln w="28575">
            <a:solidFill>
              <a:srgbClr val="1BA97C"/>
            </a:solidFill>
            <a:prstDash val="solid"/>
          </a:ln>
        </p:spPr>
      </p:sp>
      <p:sp>
        <p:nvSpPr>
          <p:cNvPr id="106" name="Shape 101"/>
          <p:cNvSpPr/>
          <p:nvPr/>
        </p:nvSpPr>
        <p:spPr>
          <a:xfrm flipV="1">
            <a:off x="2578539" y="4986589"/>
            <a:ext cx="148504" cy="6309"/>
          </a:xfrm>
          <a:prstGeom prst="line">
            <a:avLst/>
          </a:prstGeom>
          <a:noFill/>
          <a:ln w="28575">
            <a:solidFill>
              <a:srgbClr val="1BA97C"/>
            </a:solidFill>
            <a:prstDash val="solid"/>
          </a:ln>
        </p:spPr>
      </p:sp>
      <p:sp>
        <p:nvSpPr>
          <p:cNvPr id="107" name="Shape 102"/>
          <p:cNvSpPr/>
          <p:nvPr/>
        </p:nvSpPr>
        <p:spPr>
          <a:xfrm>
            <a:off x="2727043" y="4986589"/>
            <a:ext cx="49501" cy="0"/>
          </a:xfrm>
          <a:prstGeom prst="line">
            <a:avLst/>
          </a:prstGeom>
          <a:noFill/>
          <a:ln w="28575">
            <a:solidFill>
              <a:srgbClr val="1BA97C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 flipV="1">
            <a:off x="2776545" y="4980280"/>
            <a:ext cx="49501" cy="6309"/>
          </a:xfrm>
          <a:prstGeom prst="line">
            <a:avLst/>
          </a:prstGeom>
          <a:noFill/>
          <a:ln w="28575">
            <a:solidFill>
              <a:srgbClr val="1BA97C"/>
            </a:solidFill>
            <a:prstDash val="solid"/>
          </a:ln>
        </p:spPr>
      </p:sp>
      <p:sp>
        <p:nvSpPr>
          <p:cNvPr id="109" name="Shape 104"/>
          <p:cNvSpPr/>
          <p:nvPr/>
        </p:nvSpPr>
        <p:spPr>
          <a:xfrm flipV="1">
            <a:off x="2826046" y="4955042"/>
            <a:ext cx="297008" cy="25237"/>
          </a:xfrm>
          <a:prstGeom prst="line">
            <a:avLst/>
          </a:prstGeom>
          <a:noFill/>
          <a:ln w="28575">
            <a:solidFill>
              <a:srgbClr val="1BA97C"/>
            </a:solidFill>
            <a:prstDash val="solid"/>
          </a:ln>
        </p:spPr>
      </p:sp>
      <p:sp>
        <p:nvSpPr>
          <p:cNvPr id="110" name="Shape 105"/>
          <p:cNvSpPr/>
          <p:nvPr/>
        </p:nvSpPr>
        <p:spPr>
          <a:xfrm flipV="1">
            <a:off x="3123054" y="4936114"/>
            <a:ext cx="297008" cy="18928"/>
          </a:xfrm>
          <a:prstGeom prst="line">
            <a:avLst/>
          </a:prstGeom>
          <a:noFill/>
          <a:ln w="28575">
            <a:solidFill>
              <a:srgbClr val="1BA97C"/>
            </a:solidFill>
            <a:prstDash val="solid"/>
          </a:ln>
        </p:spPr>
      </p:sp>
      <p:sp>
        <p:nvSpPr>
          <p:cNvPr id="111" name="Shape 106"/>
          <p:cNvSpPr/>
          <p:nvPr/>
        </p:nvSpPr>
        <p:spPr>
          <a:xfrm flipV="1">
            <a:off x="3420062" y="4929805"/>
            <a:ext cx="346509" cy="6309"/>
          </a:xfrm>
          <a:prstGeom prst="line">
            <a:avLst/>
          </a:prstGeom>
          <a:noFill/>
          <a:ln w="28575">
            <a:solidFill>
              <a:srgbClr val="1BA97C"/>
            </a:solidFill>
            <a:prstDash val="solid"/>
          </a:ln>
        </p:spPr>
      </p:sp>
      <p:sp>
        <p:nvSpPr>
          <p:cNvPr id="112" name="Shape 107"/>
          <p:cNvSpPr/>
          <p:nvPr/>
        </p:nvSpPr>
        <p:spPr>
          <a:xfrm flipV="1">
            <a:off x="3766572" y="4923495"/>
            <a:ext cx="346509" cy="6309"/>
          </a:xfrm>
          <a:prstGeom prst="line">
            <a:avLst/>
          </a:prstGeom>
          <a:noFill/>
          <a:ln w="28575">
            <a:solidFill>
              <a:srgbClr val="1BA97C"/>
            </a:solidFill>
            <a:prstDash val="solid"/>
          </a:ln>
        </p:spPr>
      </p:sp>
      <p:sp>
        <p:nvSpPr>
          <p:cNvPr id="113" name="Shape 108"/>
          <p:cNvSpPr/>
          <p:nvPr/>
        </p:nvSpPr>
        <p:spPr>
          <a:xfrm flipV="1">
            <a:off x="4113081" y="4910877"/>
            <a:ext cx="445512" cy="12619"/>
          </a:xfrm>
          <a:prstGeom prst="line">
            <a:avLst/>
          </a:prstGeom>
          <a:noFill/>
          <a:ln w="28575">
            <a:solidFill>
              <a:srgbClr val="1BA97C"/>
            </a:solidFill>
            <a:prstDash val="solid"/>
          </a:ln>
        </p:spPr>
      </p:sp>
      <p:sp>
        <p:nvSpPr>
          <p:cNvPr id="114" name="Shape 109"/>
          <p:cNvSpPr/>
          <p:nvPr/>
        </p:nvSpPr>
        <p:spPr>
          <a:xfrm flipV="1">
            <a:off x="4558593" y="4879330"/>
            <a:ext cx="49501" cy="31547"/>
          </a:xfrm>
          <a:prstGeom prst="line">
            <a:avLst/>
          </a:prstGeom>
          <a:noFill/>
          <a:ln w="28575">
            <a:solidFill>
              <a:srgbClr val="1BA97C"/>
            </a:solidFill>
            <a:prstDash val="solid"/>
          </a:ln>
        </p:spPr>
      </p:sp>
      <p:sp>
        <p:nvSpPr>
          <p:cNvPr id="115" name="Shape 110"/>
          <p:cNvSpPr/>
          <p:nvPr/>
        </p:nvSpPr>
        <p:spPr>
          <a:xfrm flipV="1">
            <a:off x="4608095" y="4873020"/>
            <a:ext cx="49501" cy="6309"/>
          </a:xfrm>
          <a:prstGeom prst="line">
            <a:avLst/>
          </a:prstGeom>
          <a:noFill/>
          <a:ln w="28575">
            <a:solidFill>
              <a:srgbClr val="1BA97C"/>
            </a:solidFill>
            <a:prstDash val="solid"/>
          </a:ln>
        </p:spPr>
      </p:sp>
      <p:sp>
        <p:nvSpPr>
          <p:cNvPr id="116" name="Shape 111"/>
          <p:cNvSpPr/>
          <p:nvPr/>
        </p:nvSpPr>
        <p:spPr>
          <a:xfrm flipV="1">
            <a:off x="4657596" y="4866711"/>
            <a:ext cx="148504" cy="6309"/>
          </a:xfrm>
          <a:prstGeom prst="line">
            <a:avLst/>
          </a:prstGeom>
          <a:noFill/>
          <a:ln w="28575">
            <a:solidFill>
              <a:srgbClr val="1BA97C"/>
            </a:solidFill>
            <a:prstDash val="solid"/>
          </a:ln>
        </p:spPr>
      </p:sp>
      <p:sp>
        <p:nvSpPr>
          <p:cNvPr id="117" name="Shape 112"/>
          <p:cNvSpPr/>
          <p:nvPr/>
        </p:nvSpPr>
        <p:spPr>
          <a:xfrm flipV="1">
            <a:off x="4806100" y="4860402"/>
            <a:ext cx="99003" cy="6309"/>
          </a:xfrm>
          <a:prstGeom prst="line">
            <a:avLst/>
          </a:prstGeom>
          <a:noFill/>
          <a:ln w="28575">
            <a:solidFill>
              <a:srgbClr val="1BA97C"/>
            </a:solidFill>
            <a:prstDash val="solid"/>
          </a:ln>
        </p:spPr>
      </p:sp>
      <p:sp>
        <p:nvSpPr>
          <p:cNvPr id="118" name="Shape 113"/>
          <p:cNvSpPr/>
          <p:nvPr/>
        </p:nvSpPr>
        <p:spPr>
          <a:xfrm>
            <a:off x="4905103" y="4860402"/>
            <a:ext cx="49501" cy="0"/>
          </a:xfrm>
          <a:prstGeom prst="line">
            <a:avLst/>
          </a:prstGeom>
          <a:noFill/>
          <a:ln w="28575">
            <a:solidFill>
              <a:srgbClr val="1BA97C"/>
            </a:solidFill>
            <a:prstDash val="solid"/>
          </a:ln>
        </p:spPr>
      </p:sp>
      <p:sp>
        <p:nvSpPr>
          <p:cNvPr id="119" name="Shape 114"/>
          <p:cNvSpPr/>
          <p:nvPr/>
        </p:nvSpPr>
        <p:spPr>
          <a:xfrm>
            <a:off x="4954604" y="4860402"/>
            <a:ext cx="49501" cy="0"/>
          </a:xfrm>
          <a:prstGeom prst="line">
            <a:avLst/>
          </a:prstGeom>
          <a:noFill/>
          <a:ln w="28575">
            <a:solidFill>
              <a:srgbClr val="1BA97C"/>
            </a:solidFill>
            <a:prstDash val="solid"/>
          </a:ln>
        </p:spPr>
      </p:sp>
      <p:sp>
        <p:nvSpPr>
          <p:cNvPr id="120" name="Shape 115"/>
          <p:cNvSpPr/>
          <p:nvPr/>
        </p:nvSpPr>
        <p:spPr>
          <a:xfrm>
            <a:off x="5004106" y="4860402"/>
            <a:ext cx="148504" cy="0"/>
          </a:xfrm>
          <a:prstGeom prst="line">
            <a:avLst/>
          </a:prstGeom>
          <a:noFill/>
          <a:ln w="28575">
            <a:solidFill>
              <a:srgbClr val="1BA97C"/>
            </a:solidFill>
            <a:prstDash val="solid"/>
          </a:ln>
        </p:spPr>
      </p:sp>
      <p:sp>
        <p:nvSpPr>
          <p:cNvPr id="121" name="Shape 116"/>
          <p:cNvSpPr/>
          <p:nvPr/>
        </p:nvSpPr>
        <p:spPr>
          <a:xfrm flipV="1">
            <a:off x="5152610" y="4854092"/>
            <a:ext cx="49501" cy="6309"/>
          </a:xfrm>
          <a:prstGeom prst="line">
            <a:avLst/>
          </a:prstGeom>
          <a:noFill/>
          <a:ln w="28575">
            <a:solidFill>
              <a:srgbClr val="1BA97C"/>
            </a:solidFill>
            <a:prstDash val="solid"/>
          </a:ln>
        </p:spPr>
      </p:sp>
      <p:sp>
        <p:nvSpPr>
          <p:cNvPr id="122" name="Shape 117"/>
          <p:cNvSpPr/>
          <p:nvPr/>
        </p:nvSpPr>
        <p:spPr>
          <a:xfrm flipV="1">
            <a:off x="5202111" y="4847783"/>
            <a:ext cx="49501" cy="6309"/>
          </a:xfrm>
          <a:prstGeom prst="line">
            <a:avLst/>
          </a:prstGeom>
          <a:noFill/>
          <a:ln w="28575">
            <a:solidFill>
              <a:srgbClr val="1BA97C"/>
            </a:solidFill>
            <a:prstDash val="solid"/>
          </a:ln>
        </p:spPr>
      </p:sp>
      <p:sp>
        <p:nvSpPr>
          <p:cNvPr id="123" name="Shape 118"/>
          <p:cNvSpPr/>
          <p:nvPr/>
        </p:nvSpPr>
        <p:spPr>
          <a:xfrm>
            <a:off x="5251612" y="4847783"/>
            <a:ext cx="49501" cy="0"/>
          </a:xfrm>
          <a:prstGeom prst="line">
            <a:avLst/>
          </a:prstGeom>
          <a:noFill/>
          <a:ln w="28575">
            <a:solidFill>
              <a:srgbClr val="1BA97C"/>
            </a:solidFill>
            <a:prstDash val="solid"/>
          </a:ln>
        </p:spPr>
      </p:sp>
      <p:sp>
        <p:nvSpPr>
          <p:cNvPr id="124" name="Shape 119"/>
          <p:cNvSpPr/>
          <p:nvPr/>
        </p:nvSpPr>
        <p:spPr>
          <a:xfrm flipV="1">
            <a:off x="5301114" y="4841474"/>
            <a:ext cx="49501" cy="6309"/>
          </a:xfrm>
          <a:prstGeom prst="line">
            <a:avLst/>
          </a:prstGeom>
          <a:noFill/>
          <a:ln w="28575">
            <a:solidFill>
              <a:srgbClr val="1BA97C"/>
            </a:solidFill>
            <a:prstDash val="solid"/>
          </a:ln>
        </p:spPr>
      </p:sp>
      <p:sp>
        <p:nvSpPr>
          <p:cNvPr id="125" name="Shape 120"/>
          <p:cNvSpPr/>
          <p:nvPr/>
        </p:nvSpPr>
        <p:spPr>
          <a:xfrm>
            <a:off x="5350615" y="4841474"/>
            <a:ext cx="148504" cy="0"/>
          </a:xfrm>
          <a:prstGeom prst="line">
            <a:avLst/>
          </a:prstGeom>
          <a:noFill/>
          <a:ln w="28575">
            <a:solidFill>
              <a:srgbClr val="1BA97C"/>
            </a:solidFill>
            <a:prstDash val="solid"/>
          </a:ln>
        </p:spPr>
      </p:sp>
      <p:sp>
        <p:nvSpPr>
          <p:cNvPr id="126" name="Shape 121"/>
          <p:cNvSpPr/>
          <p:nvPr/>
        </p:nvSpPr>
        <p:spPr>
          <a:xfrm>
            <a:off x="5499119" y="4841474"/>
            <a:ext cx="49501" cy="0"/>
          </a:xfrm>
          <a:prstGeom prst="line">
            <a:avLst/>
          </a:prstGeom>
          <a:noFill/>
          <a:ln w="28575">
            <a:solidFill>
              <a:srgbClr val="1BA97C"/>
            </a:solidFill>
            <a:prstDash val="solid"/>
          </a:ln>
        </p:spPr>
      </p:sp>
      <p:sp>
        <p:nvSpPr>
          <p:cNvPr id="127" name="Shape 122"/>
          <p:cNvSpPr/>
          <p:nvPr/>
        </p:nvSpPr>
        <p:spPr>
          <a:xfrm flipV="1">
            <a:off x="5548620" y="4835164"/>
            <a:ext cx="49501" cy="6309"/>
          </a:xfrm>
          <a:prstGeom prst="line">
            <a:avLst/>
          </a:prstGeom>
          <a:noFill/>
          <a:ln w="28575">
            <a:solidFill>
              <a:srgbClr val="1BA97C"/>
            </a:solidFill>
            <a:prstDash val="solid"/>
          </a:ln>
        </p:spPr>
      </p:sp>
      <p:sp>
        <p:nvSpPr>
          <p:cNvPr id="128" name="Shape 123"/>
          <p:cNvSpPr/>
          <p:nvPr/>
        </p:nvSpPr>
        <p:spPr>
          <a:xfrm>
            <a:off x="5598122" y="4835164"/>
            <a:ext cx="49501" cy="0"/>
          </a:xfrm>
          <a:prstGeom prst="line">
            <a:avLst/>
          </a:prstGeom>
          <a:noFill/>
          <a:ln w="28575">
            <a:solidFill>
              <a:srgbClr val="1BA97C"/>
            </a:solidFill>
            <a:prstDash val="solid"/>
          </a:ln>
        </p:spPr>
      </p:sp>
      <p:sp>
        <p:nvSpPr>
          <p:cNvPr id="129" name="Shape 124"/>
          <p:cNvSpPr/>
          <p:nvPr/>
        </p:nvSpPr>
        <p:spPr>
          <a:xfrm>
            <a:off x="5647623" y="4835164"/>
            <a:ext cx="49501" cy="0"/>
          </a:xfrm>
          <a:prstGeom prst="line">
            <a:avLst/>
          </a:prstGeom>
          <a:noFill/>
          <a:ln w="28575">
            <a:solidFill>
              <a:srgbClr val="1BA97C"/>
            </a:solidFill>
            <a:prstDash val="solid"/>
          </a:ln>
        </p:spPr>
      </p:sp>
      <p:sp>
        <p:nvSpPr>
          <p:cNvPr id="130" name="Shape 125"/>
          <p:cNvSpPr/>
          <p:nvPr/>
        </p:nvSpPr>
        <p:spPr>
          <a:xfrm flipV="1">
            <a:off x="5697125" y="4822546"/>
            <a:ext cx="148504" cy="12619"/>
          </a:xfrm>
          <a:prstGeom prst="line">
            <a:avLst/>
          </a:prstGeom>
          <a:noFill/>
          <a:ln w="28575">
            <a:solidFill>
              <a:srgbClr val="1BA97C"/>
            </a:solidFill>
            <a:prstDash val="solid"/>
          </a:ln>
        </p:spPr>
      </p:sp>
      <p:sp>
        <p:nvSpPr>
          <p:cNvPr id="131" name="Shape 126"/>
          <p:cNvSpPr/>
          <p:nvPr/>
        </p:nvSpPr>
        <p:spPr>
          <a:xfrm>
            <a:off x="5845629" y="4822546"/>
            <a:ext cx="49501" cy="0"/>
          </a:xfrm>
          <a:prstGeom prst="line">
            <a:avLst/>
          </a:prstGeom>
          <a:noFill/>
          <a:ln w="28575">
            <a:solidFill>
              <a:srgbClr val="1BA97C"/>
            </a:solidFill>
            <a:prstDash val="solid"/>
          </a:ln>
        </p:spPr>
      </p:sp>
      <p:sp>
        <p:nvSpPr>
          <p:cNvPr id="132" name="Shape 127"/>
          <p:cNvSpPr/>
          <p:nvPr/>
        </p:nvSpPr>
        <p:spPr>
          <a:xfrm flipV="1">
            <a:off x="5895130" y="4816236"/>
            <a:ext cx="99003" cy="6309"/>
          </a:xfrm>
          <a:prstGeom prst="line">
            <a:avLst/>
          </a:prstGeom>
          <a:noFill/>
          <a:ln w="28575">
            <a:solidFill>
              <a:srgbClr val="1BA97C"/>
            </a:solidFill>
            <a:prstDash val="solid"/>
          </a:ln>
        </p:spPr>
      </p:sp>
      <p:sp>
        <p:nvSpPr>
          <p:cNvPr id="133" name="Shape 128"/>
          <p:cNvSpPr/>
          <p:nvPr/>
        </p:nvSpPr>
        <p:spPr>
          <a:xfrm>
            <a:off x="5994133" y="4816236"/>
            <a:ext cx="49501" cy="0"/>
          </a:xfrm>
          <a:prstGeom prst="line">
            <a:avLst/>
          </a:prstGeom>
          <a:noFill/>
          <a:ln w="28575">
            <a:solidFill>
              <a:srgbClr val="1BA97C"/>
            </a:solidFill>
            <a:prstDash val="solid"/>
          </a:ln>
        </p:spPr>
      </p:sp>
      <p:sp>
        <p:nvSpPr>
          <p:cNvPr id="134" name="Shape 129"/>
          <p:cNvSpPr/>
          <p:nvPr/>
        </p:nvSpPr>
        <p:spPr>
          <a:xfrm flipV="1">
            <a:off x="6043634" y="4778380"/>
            <a:ext cx="148504" cy="37856"/>
          </a:xfrm>
          <a:prstGeom prst="line">
            <a:avLst/>
          </a:prstGeom>
          <a:noFill/>
          <a:ln w="28575">
            <a:solidFill>
              <a:srgbClr val="1BA97C"/>
            </a:solidFill>
            <a:prstDash val="solid"/>
          </a:ln>
        </p:spPr>
      </p:sp>
      <p:sp>
        <p:nvSpPr>
          <p:cNvPr id="135" name="Shape 130"/>
          <p:cNvSpPr/>
          <p:nvPr/>
        </p:nvSpPr>
        <p:spPr>
          <a:xfrm>
            <a:off x="6192138" y="4778380"/>
            <a:ext cx="49501" cy="0"/>
          </a:xfrm>
          <a:prstGeom prst="line">
            <a:avLst/>
          </a:prstGeom>
          <a:noFill/>
          <a:ln w="28575">
            <a:solidFill>
              <a:srgbClr val="1BA97C"/>
            </a:solidFill>
            <a:prstDash val="solid"/>
          </a:ln>
        </p:spPr>
      </p:sp>
      <p:sp>
        <p:nvSpPr>
          <p:cNvPr id="136" name="Shape 131"/>
          <p:cNvSpPr/>
          <p:nvPr/>
        </p:nvSpPr>
        <p:spPr>
          <a:xfrm flipV="1">
            <a:off x="6241639" y="4772071"/>
            <a:ext cx="49501" cy="6309"/>
          </a:xfrm>
          <a:prstGeom prst="line">
            <a:avLst/>
          </a:prstGeom>
          <a:noFill/>
          <a:ln w="28575">
            <a:solidFill>
              <a:srgbClr val="1BA97C"/>
            </a:solidFill>
            <a:prstDash val="solid"/>
          </a:ln>
        </p:spPr>
      </p:sp>
      <p:sp>
        <p:nvSpPr>
          <p:cNvPr id="137" name="Shape 132"/>
          <p:cNvSpPr/>
          <p:nvPr/>
        </p:nvSpPr>
        <p:spPr>
          <a:xfrm flipV="1">
            <a:off x="6291141" y="4765761"/>
            <a:ext cx="49501" cy="6309"/>
          </a:xfrm>
          <a:prstGeom prst="line">
            <a:avLst/>
          </a:prstGeom>
          <a:noFill/>
          <a:ln w="28575">
            <a:solidFill>
              <a:srgbClr val="1BA97C"/>
            </a:solidFill>
            <a:prstDash val="solid"/>
          </a:ln>
        </p:spPr>
      </p:sp>
      <p:sp>
        <p:nvSpPr>
          <p:cNvPr id="138" name="Shape 133"/>
          <p:cNvSpPr/>
          <p:nvPr/>
        </p:nvSpPr>
        <p:spPr>
          <a:xfrm>
            <a:off x="6340642" y="4765761"/>
            <a:ext cx="49501" cy="0"/>
          </a:xfrm>
          <a:prstGeom prst="line">
            <a:avLst/>
          </a:prstGeom>
          <a:noFill/>
          <a:ln w="28575">
            <a:solidFill>
              <a:srgbClr val="1BA97C"/>
            </a:solidFill>
            <a:prstDash val="solid"/>
          </a:ln>
        </p:spPr>
      </p:sp>
      <p:sp>
        <p:nvSpPr>
          <p:cNvPr id="139" name="Shape 134"/>
          <p:cNvSpPr/>
          <p:nvPr/>
        </p:nvSpPr>
        <p:spPr>
          <a:xfrm>
            <a:off x="6390143" y="4765761"/>
            <a:ext cx="247507" cy="0"/>
          </a:xfrm>
          <a:prstGeom prst="line">
            <a:avLst/>
          </a:prstGeom>
          <a:noFill/>
          <a:ln w="28575">
            <a:solidFill>
              <a:srgbClr val="1BA97C"/>
            </a:solidFill>
            <a:prstDash val="solid"/>
          </a:ln>
        </p:spPr>
      </p:sp>
      <p:sp>
        <p:nvSpPr>
          <p:cNvPr id="140" name="Shape 135"/>
          <p:cNvSpPr/>
          <p:nvPr/>
        </p:nvSpPr>
        <p:spPr>
          <a:xfrm flipV="1">
            <a:off x="6637650" y="4759452"/>
            <a:ext cx="49501" cy="6309"/>
          </a:xfrm>
          <a:prstGeom prst="line">
            <a:avLst/>
          </a:prstGeom>
          <a:noFill/>
          <a:ln w="28575">
            <a:solidFill>
              <a:srgbClr val="1BA97C"/>
            </a:solidFill>
            <a:prstDash val="solid"/>
          </a:ln>
        </p:spPr>
      </p:sp>
      <p:sp>
        <p:nvSpPr>
          <p:cNvPr id="141" name="Shape 136"/>
          <p:cNvSpPr/>
          <p:nvPr/>
        </p:nvSpPr>
        <p:spPr>
          <a:xfrm flipV="1">
            <a:off x="6687152" y="4753143"/>
            <a:ext cx="49501" cy="6309"/>
          </a:xfrm>
          <a:prstGeom prst="line">
            <a:avLst/>
          </a:prstGeom>
          <a:noFill/>
          <a:ln w="28575">
            <a:solidFill>
              <a:srgbClr val="1BA97C"/>
            </a:solidFill>
            <a:prstDash val="solid"/>
          </a:ln>
        </p:spPr>
      </p:sp>
      <p:sp>
        <p:nvSpPr>
          <p:cNvPr id="142" name="Shape 137"/>
          <p:cNvSpPr/>
          <p:nvPr/>
        </p:nvSpPr>
        <p:spPr>
          <a:xfrm flipV="1">
            <a:off x="6736653" y="4746833"/>
            <a:ext cx="148504" cy="6309"/>
          </a:xfrm>
          <a:prstGeom prst="line">
            <a:avLst/>
          </a:prstGeom>
          <a:noFill/>
          <a:ln w="28575">
            <a:solidFill>
              <a:srgbClr val="1BA97C"/>
            </a:solidFill>
            <a:prstDash val="solid"/>
          </a:ln>
        </p:spPr>
      </p:sp>
      <p:sp>
        <p:nvSpPr>
          <p:cNvPr id="143" name="Shape 138"/>
          <p:cNvSpPr/>
          <p:nvPr/>
        </p:nvSpPr>
        <p:spPr>
          <a:xfrm>
            <a:off x="6885157" y="4746833"/>
            <a:ext cx="49501" cy="0"/>
          </a:xfrm>
          <a:prstGeom prst="line">
            <a:avLst/>
          </a:prstGeom>
          <a:noFill/>
          <a:ln w="28575">
            <a:solidFill>
              <a:srgbClr val="1BA97C"/>
            </a:solidFill>
            <a:prstDash val="solid"/>
          </a:ln>
        </p:spPr>
      </p:sp>
      <p:sp>
        <p:nvSpPr>
          <p:cNvPr id="144" name="Shape 139"/>
          <p:cNvSpPr/>
          <p:nvPr/>
        </p:nvSpPr>
        <p:spPr>
          <a:xfrm flipV="1">
            <a:off x="6934658" y="4740524"/>
            <a:ext cx="99003" cy="6309"/>
          </a:xfrm>
          <a:prstGeom prst="line">
            <a:avLst/>
          </a:prstGeom>
          <a:noFill/>
          <a:ln w="28575">
            <a:solidFill>
              <a:srgbClr val="1BA97C"/>
            </a:solidFill>
            <a:prstDash val="solid"/>
          </a:ln>
        </p:spPr>
      </p:sp>
      <p:sp>
        <p:nvSpPr>
          <p:cNvPr id="145" name="Shape 140"/>
          <p:cNvSpPr/>
          <p:nvPr/>
        </p:nvSpPr>
        <p:spPr>
          <a:xfrm flipV="1">
            <a:off x="7033661" y="4734215"/>
            <a:ext cx="49501" cy="6309"/>
          </a:xfrm>
          <a:prstGeom prst="line">
            <a:avLst/>
          </a:prstGeom>
          <a:noFill/>
          <a:ln w="28575">
            <a:solidFill>
              <a:srgbClr val="1BA97C"/>
            </a:solidFill>
            <a:prstDash val="solid"/>
          </a:ln>
        </p:spPr>
      </p:sp>
      <p:sp>
        <p:nvSpPr>
          <p:cNvPr id="146" name="Shape 141"/>
          <p:cNvSpPr/>
          <p:nvPr/>
        </p:nvSpPr>
        <p:spPr>
          <a:xfrm flipV="1">
            <a:off x="7083162" y="4715286"/>
            <a:ext cx="148504" cy="18928"/>
          </a:xfrm>
          <a:prstGeom prst="line">
            <a:avLst/>
          </a:prstGeom>
          <a:noFill/>
          <a:ln w="28575">
            <a:solidFill>
              <a:srgbClr val="1BA97C"/>
            </a:solidFill>
            <a:prstDash val="solid"/>
          </a:ln>
        </p:spPr>
      </p:sp>
      <p:sp>
        <p:nvSpPr>
          <p:cNvPr id="147" name="Shape 142"/>
          <p:cNvSpPr/>
          <p:nvPr/>
        </p:nvSpPr>
        <p:spPr>
          <a:xfrm>
            <a:off x="7231666" y="4715286"/>
            <a:ext cx="49501" cy="0"/>
          </a:xfrm>
          <a:prstGeom prst="line">
            <a:avLst/>
          </a:prstGeom>
          <a:noFill/>
          <a:ln w="28575">
            <a:solidFill>
              <a:srgbClr val="1BA97C"/>
            </a:solidFill>
            <a:prstDash val="solid"/>
          </a:ln>
        </p:spPr>
      </p:sp>
      <p:sp>
        <p:nvSpPr>
          <p:cNvPr id="148" name="Shape 143"/>
          <p:cNvSpPr/>
          <p:nvPr/>
        </p:nvSpPr>
        <p:spPr>
          <a:xfrm>
            <a:off x="7281168" y="4715286"/>
            <a:ext cx="49501" cy="0"/>
          </a:xfrm>
          <a:prstGeom prst="line">
            <a:avLst/>
          </a:prstGeom>
          <a:noFill/>
          <a:ln w="28575">
            <a:solidFill>
              <a:srgbClr val="1BA97C"/>
            </a:solidFill>
            <a:prstDash val="solid"/>
          </a:ln>
        </p:spPr>
      </p:sp>
      <p:sp>
        <p:nvSpPr>
          <p:cNvPr id="149" name="Shape 144"/>
          <p:cNvSpPr/>
          <p:nvPr/>
        </p:nvSpPr>
        <p:spPr>
          <a:xfrm>
            <a:off x="7330669" y="4715286"/>
            <a:ext cx="49501" cy="0"/>
          </a:xfrm>
          <a:prstGeom prst="line">
            <a:avLst/>
          </a:prstGeom>
          <a:noFill/>
          <a:ln w="28575">
            <a:solidFill>
              <a:srgbClr val="1BA97C"/>
            </a:solidFill>
            <a:prstDash val="solid"/>
          </a:ln>
        </p:spPr>
      </p:sp>
      <p:sp>
        <p:nvSpPr>
          <p:cNvPr id="150" name="Shape 145"/>
          <p:cNvSpPr/>
          <p:nvPr/>
        </p:nvSpPr>
        <p:spPr>
          <a:xfrm>
            <a:off x="7380171" y="4715286"/>
            <a:ext cx="49501" cy="0"/>
          </a:xfrm>
          <a:prstGeom prst="line">
            <a:avLst/>
          </a:prstGeom>
          <a:noFill/>
          <a:ln w="28575">
            <a:solidFill>
              <a:srgbClr val="1BA97C"/>
            </a:solidFill>
            <a:prstDash val="solid"/>
          </a:ln>
        </p:spPr>
      </p:sp>
      <p:sp>
        <p:nvSpPr>
          <p:cNvPr id="151" name="Shape 146"/>
          <p:cNvSpPr/>
          <p:nvPr/>
        </p:nvSpPr>
        <p:spPr>
          <a:xfrm flipV="1">
            <a:off x="7429672" y="4696358"/>
            <a:ext cx="148504" cy="18928"/>
          </a:xfrm>
          <a:prstGeom prst="line">
            <a:avLst/>
          </a:prstGeom>
          <a:noFill/>
          <a:ln w="28575">
            <a:solidFill>
              <a:srgbClr val="1BA97C"/>
            </a:solidFill>
            <a:prstDash val="solid"/>
          </a:ln>
        </p:spPr>
      </p:sp>
      <p:sp>
        <p:nvSpPr>
          <p:cNvPr id="152" name="Shape 147"/>
          <p:cNvSpPr/>
          <p:nvPr/>
        </p:nvSpPr>
        <p:spPr>
          <a:xfrm flipV="1">
            <a:off x="7578176" y="4690049"/>
            <a:ext cx="49501" cy="6309"/>
          </a:xfrm>
          <a:prstGeom prst="line">
            <a:avLst/>
          </a:prstGeom>
          <a:noFill/>
          <a:ln w="28575">
            <a:solidFill>
              <a:srgbClr val="1BA97C"/>
            </a:solidFill>
            <a:prstDash val="solid"/>
          </a:ln>
        </p:spPr>
      </p:sp>
      <p:sp>
        <p:nvSpPr>
          <p:cNvPr id="153" name="Shape 148"/>
          <p:cNvSpPr/>
          <p:nvPr/>
        </p:nvSpPr>
        <p:spPr>
          <a:xfrm>
            <a:off x="7627677" y="4690049"/>
            <a:ext cx="49501" cy="0"/>
          </a:xfrm>
          <a:prstGeom prst="line">
            <a:avLst/>
          </a:prstGeom>
          <a:noFill/>
          <a:ln w="28575">
            <a:solidFill>
              <a:srgbClr val="1BA97C"/>
            </a:solidFill>
            <a:prstDash val="solid"/>
          </a:ln>
        </p:spPr>
      </p:sp>
      <p:sp>
        <p:nvSpPr>
          <p:cNvPr id="154" name="Shape 149"/>
          <p:cNvSpPr/>
          <p:nvPr/>
        </p:nvSpPr>
        <p:spPr>
          <a:xfrm>
            <a:off x="7677179" y="4690049"/>
            <a:ext cx="49501" cy="0"/>
          </a:xfrm>
          <a:prstGeom prst="line">
            <a:avLst/>
          </a:prstGeom>
          <a:noFill/>
          <a:ln w="28575">
            <a:solidFill>
              <a:srgbClr val="1BA97C"/>
            </a:solidFill>
            <a:prstDash val="solid"/>
          </a:ln>
        </p:spPr>
      </p:sp>
      <p:sp>
        <p:nvSpPr>
          <p:cNvPr id="155" name="Shape 150"/>
          <p:cNvSpPr/>
          <p:nvPr/>
        </p:nvSpPr>
        <p:spPr>
          <a:xfrm>
            <a:off x="7680960" y="4644329"/>
            <a:ext cx="91440" cy="91440"/>
          </a:xfrm>
          <a:prstGeom prst="ellipse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156" name="Text 151"/>
          <p:cNvSpPr txBox="1"/>
          <p:nvPr/>
        </p:nvSpPr>
        <p:spPr>
          <a:xfrm>
            <a:off x="7818120" y="4571177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61  </a:t>
            </a:r>
            <a:pPr indent="0" marL="0">
              <a:buNone/>
            </a:pPr>
            <a:r>
              <a:rPr lang="en-US" sz="10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Onboarded</a:t>
            </a:r>
            <a:endParaRPr lang="en-US" sz="1000" dirty="0"/>
          </a:p>
        </p:txBody>
      </p:sp>
      <p:sp>
        <p:nvSpPr>
          <p:cNvPr id="157" name="Shape 152"/>
          <p:cNvSpPr/>
          <p:nvPr/>
        </p:nvSpPr>
        <p:spPr>
          <a:xfrm>
            <a:off x="1143000" y="5068611"/>
            <a:ext cx="49501" cy="6309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158" name="Shape 153"/>
          <p:cNvSpPr/>
          <p:nvPr/>
        </p:nvSpPr>
        <p:spPr>
          <a:xfrm>
            <a:off x="1192501" y="5074920"/>
            <a:ext cx="148504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159" name="Shape 154"/>
          <p:cNvSpPr/>
          <p:nvPr/>
        </p:nvSpPr>
        <p:spPr>
          <a:xfrm>
            <a:off x="1341005" y="5074920"/>
            <a:ext cx="49501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160" name="Shape 155"/>
          <p:cNvSpPr/>
          <p:nvPr/>
        </p:nvSpPr>
        <p:spPr>
          <a:xfrm flipV="1">
            <a:off x="1390507" y="5068611"/>
            <a:ext cx="49501" cy="6309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161" name="Shape 156"/>
          <p:cNvSpPr/>
          <p:nvPr/>
        </p:nvSpPr>
        <p:spPr>
          <a:xfrm flipV="1">
            <a:off x="1440008" y="5062301"/>
            <a:ext cx="297008" cy="6309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162" name="Shape 157"/>
          <p:cNvSpPr/>
          <p:nvPr/>
        </p:nvSpPr>
        <p:spPr>
          <a:xfrm>
            <a:off x="1737016" y="5062301"/>
            <a:ext cx="148504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163" name="Shape 158"/>
          <p:cNvSpPr/>
          <p:nvPr/>
        </p:nvSpPr>
        <p:spPr>
          <a:xfrm flipV="1">
            <a:off x="1885520" y="5055992"/>
            <a:ext cx="297008" cy="6309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164" name="Shape 159"/>
          <p:cNvSpPr/>
          <p:nvPr/>
        </p:nvSpPr>
        <p:spPr>
          <a:xfrm>
            <a:off x="2182528" y="5055992"/>
            <a:ext cx="198005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165" name="Shape 160"/>
          <p:cNvSpPr/>
          <p:nvPr/>
        </p:nvSpPr>
        <p:spPr>
          <a:xfrm>
            <a:off x="2380534" y="5055992"/>
            <a:ext cx="49501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166" name="Shape 161"/>
          <p:cNvSpPr/>
          <p:nvPr/>
        </p:nvSpPr>
        <p:spPr>
          <a:xfrm>
            <a:off x="2430035" y="5055992"/>
            <a:ext cx="99003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167" name="Shape 162"/>
          <p:cNvSpPr/>
          <p:nvPr/>
        </p:nvSpPr>
        <p:spPr>
          <a:xfrm>
            <a:off x="2529038" y="5055992"/>
            <a:ext cx="49501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168" name="Shape 163"/>
          <p:cNvSpPr/>
          <p:nvPr/>
        </p:nvSpPr>
        <p:spPr>
          <a:xfrm>
            <a:off x="2578539" y="5055992"/>
            <a:ext cx="148504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169" name="Shape 164"/>
          <p:cNvSpPr/>
          <p:nvPr/>
        </p:nvSpPr>
        <p:spPr>
          <a:xfrm>
            <a:off x="2727043" y="5055992"/>
            <a:ext cx="49501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170" name="Shape 165"/>
          <p:cNvSpPr/>
          <p:nvPr/>
        </p:nvSpPr>
        <p:spPr>
          <a:xfrm>
            <a:off x="2776545" y="5055992"/>
            <a:ext cx="49501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171" name="Shape 166"/>
          <p:cNvSpPr/>
          <p:nvPr/>
        </p:nvSpPr>
        <p:spPr>
          <a:xfrm flipV="1">
            <a:off x="2826046" y="5037064"/>
            <a:ext cx="297008" cy="18928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172" name="Shape 167"/>
          <p:cNvSpPr/>
          <p:nvPr/>
        </p:nvSpPr>
        <p:spPr>
          <a:xfrm>
            <a:off x="3123054" y="5037064"/>
            <a:ext cx="297008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173" name="Shape 168"/>
          <p:cNvSpPr/>
          <p:nvPr/>
        </p:nvSpPr>
        <p:spPr>
          <a:xfrm>
            <a:off x="3420062" y="5037064"/>
            <a:ext cx="346509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174" name="Shape 169"/>
          <p:cNvSpPr/>
          <p:nvPr/>
        </p:nvSpPr>
        <p:spPr>
          <a:xfrm flipV="1">
            <a:off x="3766572" y="5030754"/>
            <a:ext cx="346509" cy="6309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175" name="Shape 170"/>
          <p:cNvSpPr/>
          <p:nvPr/>
        </p:nvSpPr>
        <p:spPr>
          <a:xfrm flipV="1">
            <a:off x="4113081" y="5024445"/>
            <a:ext cx="445512" cy="6309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176" name="Shape 171"/>
          <p:cNvSpPr/>
          <p:nvPr/>
        </p:nvSpPr>
        <p:spPr>
          <a:xfrm>
            <a:off x="4558593" y="5024445"/>
            <a:ext cx="49501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177" name="Shape 172"/>
          <p:cNvSpPr/>
          <p:nvPr/>
        </p:nvSpPr>
        <p:spPr>
          <a:xfrm>
            <a:off x="4608095" y="5024445"/>
            <a:ext cx="49501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178" name="Shape 173"/>
          <p:cNvSpPr/>
          <p:nvPr/>
        </p:nvSpPr>
        <p:spPr>
          <a:xfrm flipV="1">
            <a:off x="4657596" y="5018136"/>
            <a:ext cx="148504" cy="6309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179" name="Shape 174"/>
          <p:cNvSpPr/>
          <p:nvPr/>
        </p:nvSpPr>
        <p:spPr>
          <a:xfrm>
            <a:off x="4806100" y="5018136"/>
            <a:ext cx="99003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180" name="Shape 175"/>
          <p:cNvSpPr/>
          <p:nvPr/>
        </p:nvSpPr>
        <p:spPr>
          <a:xfrm>
            <a:off x="4905103" y="5018136"/>
            <a:ext cx="49501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181" name="Shape 176"/>
          <p:cNvSpPr/>
          <p:nvPr/>
        </p:nvSpPr>
        <p:spPr>
          <a:xfrm>
            <a:off x="4954604" y="5018136"/>
            <a:ext cx="49501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182" name="Shape 177"/>
          <p:cNvSpPr/>
          <p:nvPr/>
        </p:nvSpPr>
        <p:spPr>
          <a:xfrm>
            <a:off x="5004106" y="5018136"/>
            <a:ext cx="148504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183" name="Shape 178"/>
          <p:cNvSpPr/>
          <p:nvPr/>
        </p:nvSpPr>
        <p:spPr>
          <a:xfrm>
            <a:off x="5152610" y="5018136"/>
            <a:ext cx="49501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184" name="Shape 179"/>
          <p:cNvSpPr/>
          <p:nvPr/>
        </p:nvSpPr>
        <p:spPr>
          <a:xfrm>
            <a:off x="5202111" y="5018136"/>
            <a:ext cx="49501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185" name="Shape 180"/>
          <p:cNvSpPr/>
          <p:nvPr/>
        </p:nvSpPr>
        <p:spPr>
          <a:xfrm flipV="1">
            <a:off x="5251612" y="5011826"/>
            <a:ext cx="49501" cy="6309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186" name="Shape 181"/>
          <p:cNvSpPr/>
          <p:nvPr/>
        </p:nvSpPr>
        <p:spPr>
          <a:xfrm>
            <a:off x="5301114" y="5011826"/>
            <a:ext cx="49501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187" name="Shape 182"/>
          <p:cNvSpPr/>
          <p:nvPr/>
        </p:nvSpPr>
        <p:spPr>
          <a:xfrm>
            <a:off x="5350615" y="5011826"/>
            <a:ext cx="148504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188" name="Shape 183"/>
          <p:cNvSpPr/>
          <p:nvPr/>
        </p:nvSpPr>
        <p:spPr>
          <a:xfrm>
            <a:off x="5499119" y="5011826"/>
            <a:ext cx="49501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189" name="Shape 184"/>
          <p:cNvSpPr/>
          <p:nvPr/>
        </p:nvSpPr>
        <p:spPr>
          <a:xfrm>
            <a:off x="5548620" y="5011826"/>
            <a:ext cx="49501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190" name="Shape 185"/>
          <p:cNvSpPr/>
          <p:nvPr/>
        </p:nvSpPr>
        <p:spPr>
          <a:xfrm>
            <a:off x="5598122" y="5011826"/>
            <a:ext cx="49501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191" name="Shape 186"/>
          <p:cNvSpPr/>
          <p:nvPr/>
        </p:nvSpPr>
        <p:spPr>
          <a:xfrm>
            <a:off x="5647623" y="5011826"/>
            <a:ext cx="49501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192" name="Shape 187"/>
          <p:cNvSpPr/>
          <p:nvPr/>
        </p:nvSpPr>
        <p:spPr>
          <a:xfrm>
            <a:off x="5697125" y="5011826"/>
            <a:ext cx="148504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193" name="Shape 188"/>
          <p:cNvSpPr/>
          <p:nvPr/>
        </p:nvSpPr>
        <p:spPr>
          <a:xfrm>
            <a:off x="5845629" y="5011826"/>
            <a:ext cx="49501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194" name="Shape 189"/>
          <p:cNvSpPr/>
          <p:nvPr/>
        </p:nvSpPr>
        <p:spPr>
          <a:xfrm>
            <a:off x="5895130" y="5011826"/>
            <a:ext cx="99003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195" name="Shape 190"/>
          <p:cNvSpPr/>
          <p:nvPr/>
        </p:nvSpPr>
        <p:spPr>
          <a:xfrm flipV="1">
            <a:off x="5994133" y="4999208"/>
            <a:ext cx="49501" cy="12619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196" name="Shape 191"/>
          <p:cNvSpPr/>
          <p:nvPr/>
        </p:nvSpPr>
        <p:spPr>
          <a:xfrm>
            <a:off x="6043634" y="4999208"/>
            <a:ext cx="148504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197" name="Shape 192"/>
          <p:cNvSpPr/>
          <p:nvPr/>
        </p:nvSpPr>
        <p:spPr>
          <a:xfrm>
            <a:off x="6192138" y="4999208"/>
            <a:ext cx="49501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198" name="Shape 193"/>
          <p:cNvSpPr/>
          <p:nvPr/>
        </p:nvSpPr>
        <p:spPr>
          <a:xfrm>
            <a:off x="6241639" y="4999208"/>
            <a:ext cx="49501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199" name="Shape 194"/>
          <p:cNvSpPr/>
          <p:nvPr/>
        </p:nvSpPr>
        <p:spPr>
          <a:xfrm>
            <a:off x="6291141" y="4999208"/>
            <a:ext cx="49501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200" name="Shape 195"/>
          <p:cNvSpPr/>
          <p:nvPr/>
        </p:nvSpPr>
        <p:spPr>
          <a:xfrm>
            <a:off x="6340642" y="4999208"/>
            <a:ext cx="49501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201" name="Shape 196"/>
          <p:cNvSpPr/>
          <p:nvPr/>
        </p:nvSpPr>
        <p:spPr>
          <a:xfrm>
            <a:off x="6390143" y="4999208"/>
            <a:ext cx="247507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202" name="Shape 197"/>
          <p:cNvSpPr/>
          <p:nvPr/>
        </p:nvSpPr>
        <p:spPr>
          <a:xfrm>
            <a:off x="6637650" y="4999208"/>
            <a:ext cx="49501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203" name="Shape 198"/>
          <p:cNvSpPr/>
          <p:nvPr/>
        </p:nvSpPr>
        <p:spPr>
          <a:xfrm>
            <a:off x="6687152" y="4999208"/>
            <a:ext cx="49501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204" name="Shape 199"/>
          <p:cNvSpPr/>
          <p:nvPr/>
        </p:nvSpPr>
        <p:spPr>
          <a:xfrm>
            <a:off x="6736653" y="4999208"/>
            <a:ext cx="148504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205" name="Shape 200"/>
          <p:cNvSpPr/>
          <p:nvPr/>
        </p:nvSpPr>
        <p:spPr>
          <a:xfrm>
            <a:off x="6885157" y="4999208"/>
            <a:ext cx="49501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206" name="Shape 201"/>
          <p:cNvSpPr/>
          <p:nvPr/>
        </p:nvSpPr>
        <p:spPr>
          <a:xfrm>
            <a:off x="6934658" y="4999208"/>
            <a:ext cx="99003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207" name="Shape 202"/>
          <p:cNvSpPr/>
          <p:nvPr/>
        </p:nvSpPr>
        <p:spPr>
          <a:xfrm flipV="1">
            <a:off x="7033661" y="4992898"/>
            <a:ext cx="49501" cy="6309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208" name="Shape 203"/>
          <p:cNvSpPr/>
          <p:nvPr/>
        </p:nvSpPr>
        <p:spPr>
          <a:xfrm>
            <a:off x="7083162" y="4992898"/>
            <a:ext cx="148504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209" name="Shape 204"/>
          <p:cNvSpPr/>
          <p:nvPr/>
        </p:nvSpPr>
        <p:spPr>
          <a:xfrm>
            <a:off x="7231666" y="4992898"/>
            <a:ext cx="49501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210" name="Shape 205"/>
          <p:cNvSpPr/>
          <p:nvPr/>
        </p:nvSpPr>
        <p:spPr>
          <a:xfrm flipV="1">
            <a:off x="7281168" y="4986589"/>
            <a:ext cx="49501" cy="6309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211" name="Shape 206"/>
          <p:cNvSpPr/>
          <p:nvPr/>
        </p:nvSpPr>
        <p:spPr>
          <a:xfrm flipV="1">
            <a:off x="7330669" y="4980280"/>
            <a:ext cx="49501" cy="6309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212" name="Shape 207"/>
          <p:cNvSpPr/>
          <p:nvPr/>
        </p:nvSpPr>
        <p:spPr>
          <a:xfrm>
            <a:off x="7380171" y="4980280"/>
            <a:ext cx="49501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213" name="Shape 208"/>
          <p:cNvSpPr/>
          <p:nvPr/>
        </p:nvSpPr>
        <p:spPr>
          <a:xfrm>
            <a:off x="7429672" y="4980280"/>
            <a:ext cx="148504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214" name="Shape 209"/>
          <p:cNvSpPr/>
          <p:nvPr/>
        </p:nvSpPr>
        <p:spPr>
          <a:xfrm>
            <a:off x="7578176" y="4980280"/>
            <a:ext cx="49501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215" name="Shape 210"/>
          <p:cNvSpPr/>
          <p:nvPr/>
        </p:nvSpPr>
        <p:spPr>
          <a:xfrm>
            <a:off x="7627677" y="4980280"/>
            <a:ext cx="49501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216" name="Shape 211"/>
          <p:cNvSpPr/>
          <p:nvPr/>
        </p:nvSpPr>
        <p:spPr>
          <a:xfrm>
            <a:off x="7677179" y="4980280"/>
            <a:ext cx="49501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217" name="Shape 212"/>
          <p:cNvSpPr/>
          <p:nvPr/>
        </p:nvSpPr>
        <p:spPr>
          <a:xfrm>
            <a:off x="7680960" y="4934560"/>
            <a:ext cx="91440" cy="9144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18" name="Text 213"/>
          <p:cNvSpPr txBox="1"/>
          <p:nvPr/>
        </p:nvSpPr>
        <p:spPr>
          <a:xfrm>
            <a:off x="7818120" y="48614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15  </a:t>
            </a:r>
            <a:pPr indent="0" marL="0">
              <a:buNone/>
            </a:pPr>
            <a:r>
              <a:rPr lang="en-US" sz="10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Funded accounts</a:t>
            </a:r>
            <a:endParaRPr lang="en-US" sz="1000" dirty="0"/>
          </a:p>
        </p:txBody>
      </p:sp>
      <p:sp>
        <p:nvSpPr>
          <p:cNvPr id="219" name="Shape 214"/>
          <p:cNvSpPr/>
          <p:nvPr/>
        </p:nvSpPr>
        <p:spPr>
          <a:xfrm>
            <a:off x="9144000" y="1554480"/>
            <a:ext cx="2487168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20" name="Shape 215"/>
          <p:cNvSpPr/>
          <p:nvPr/>
        </p:nvSpPr>
        <p:spPr>
          <a:xfrm>
            <a:off x="9144000" y="1554480"/>
            <a:ext cx="2487168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21" name="Text 216"/>
          <p:cNvSpPr txBox="1"/>
          <p:nvPr/>
        </p:nvSpPr>
        <p:spPr>
          <a:xfrm>
            <a:off x="9308592" y="166420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492</a:t>
            </a:r>
            <a:endParaRPr lang="en-US" sz="2200" dirty="0"/>
          </a:p>
        </p:txBody>
      </p:sp>
      <p:sp>
        <p:nvSpPr>
          <p:cNvPr id="222" name="Text 217"/>
          <p:cNvSpPr txBox="1"/>
          <p:nvPr/>
        </p:nvSpPr>
        <p:spPr>
          <a:xfrm>
            <a:off x="10241280" y="170078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 downloads</a:t>
            </a:r>
            <a:endParaRPr lang="en-US" sz="950" dirty="0"/>
          </a:p>
        </p:txBody>
      </p:sp>
      <p:sp>
        <p:nvSpPr>
          <p:cNvPr id="223" name="Text 218"/>
          <p:cNvSpPr txBox="1"/>
          <p:nvPr/>
        </p:nvSpPr>
        <p:spPr>
          <a:xfrm>
            <a:off x="9308592" y="2139696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262  |  iOS 230</a:t>
            </a:r>
            <a:endParaRPr lang="en-US" sz="850" dirty="0"/>
          </a:p>
        </p:txBody>
      </p:sp>
      <p:sp>
        <p:nvSpPr>
          <p:cNvPr id="224" name="Shape 219"/>
          <p:cNvSpPr/>
          <p:nvPr/>
        </p:nvSpPr>
        <p:spPr>
          <a:xfrm>
            <a:off x="9144000" y="2578608"/>
            <a:ext cx="2487168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25" name="Shape 220"/>
          <p:cNvSpPr/>
          <p:nvPr/>
        </p:nvSpPr>
        <p:spPr>
          <a:xfrm>
            <a:off x="9144000" y="2578608"/>
            <a:ext cx="2487168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226" name="Text 221"/>
          <p:cNvSpPr txBox="1"/>
          <p:nvPr/>
        </p:nvSpPr>
        <p:spPr>
          <a:xfrm>
            <a:off x="9308592" y="2688336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61</a:t>
            </a:r>
            <a:endParaRPr lang="en-US" sz="2200" dirty="0"/>
          </a:p>
        </p:txBody>
      </p:sp>
      <p:sp>
        <p:nvSpPr>
          <p:cNvPr id="227" name="Text 222"/>
          <p:cNvSpPr txBox="1"/>
          <p:nvPr/>
        </p:nvSpPr>
        <p:spPr>
          <a:xfrm>
            <a:off x="10241280" y="272491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onboarded</a:t>
            </a:r>
            <a:endParaRPr lang="en-US" sz="950" dirty="0"/>
          </a:p>
        </p:txBody>
      </p:sp>
      <p:sp>
        <p:nvSpPr>
          <p:cNvPr id="228" name="Text 223"/>
          <p:cNvSpPr txBox="1"/>
          <p:nvPr/>
        </p:nvSpPr>
        <p:spPr>
          <a:xfrm>
            <a:off x="9308592" y="3163824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12.4% of downloads</a:t>
            </a:r>
            <a:endParaRPr lang="en-US" sz="850" dirty="0"/>
          </a:p>
        </p:txBody>
      </p:sp>
      <p:sp>
        <p:nvSpPr>
          <p:cNvPr id="229" name="Shape 224"/>
          <p:cNvSpPr/>
          <p:nvPr/>
        </p:nvSpPr>
        <p:spPr>
          <a:xfrm>
            <a:off x="9144000" y="3602736"/>
            <a:ext cx="2487168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30" name="Shape 225"/>
          <p:cNvSpPr/>
          <p:nvPr/>
        </p:nvSpPr>
        <p:spPr>
          <a:xfrm>
            <a:off x="9144000" y="3602736"/>
            <a:ext cx="2487168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31" name="Text 226"/>
          <p:cNvSpPr txBox="1"/>
          <p:nvPr/>
        </p:nvSpPr>
        <p:spPr>
          <a:xfrm>
            <a:off x="9308592" y="3712464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9A7B1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15</a:t>
            </a:r>
            <a:endParaRPr lang="en-US" sz="2200" dirty="0"/>
          </a:p>
        </p:txBody>
      </p:sp>
      <p:sp>
        <p:nvSpPr>
          <p:cNvPr id="232" name="Text 227"/>
          <p:cNvSpPr txBox="1"/>
          <p:nvPr/>
        </p:nvSpPr>
        <p:spPr>
          <a:xfrm>
            <a:off x="10241280" y="37490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funded accounts</a:t>
            </a:r>
            <a:endParaRPr lang="en-US" sz="950" dirty="0"/>
          </a:p>
        </p:txBody>
      </p:sp>
      <p:sp>
        <p:nvSpPr>
          <p:cNvPr id="233" name="Text 228"/>
          <p:cNvSpPr txBox="1"/>
          <p:nvPr/>
        </p:nvSpPr>
        <p:spPr>
          <a:xfrm>
            <a:off x="9308592" y="418795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24.6% of onboarded</a:t>
            </a:r>
            <a:endParaRPr lang="en-US" sz="850" dirty="0"/>
          </a:p>
        </p:txBody>
      </p:sp>
      <p:sp>
        <p:nvSpPr>
          <p:cNvPr id="234" name="Shape 229"/>
          <p:cNvSpPr/>
          <p:nvPr/>
        </p:nvSpPr>
        <p:spPr>
          <a:xfrm>
            <a:off x="9144000" y="4626864"/>
            <a:ext cx="2487168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35" name="Shape 230"/>
          <p:cNvSpPr/>
          <p:nvPr/>
        </p:nvSpPr>
        <p:spPr>
          <a:xfrm>
            <a:off x="9144000" y="4626864"/>
            <a:ext cx="2487168" cy="32004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36" name="Text 231"/>
          <p:cNvSpPr txBox="1"/>
          <p:nvPr/>
        </p:nvSpPr>
        <p:spPr>
          <a:xfrm>
            <a:off x="9308592" y="473659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5303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72</a:t>
            </a:r>
            <a:endParaRPr lang="en-US" sz="2200" dirty="0"/>
          </a:p>
        </p:txBody>
      </p:sp>
      <p:sp>
        <p:nvSpPr>
          <p:cNvPr id="237" name="Text 232"/>
          <p:cNvSpPr txBox="1"/>
          <p:nvPr/>
        </p:nvSpPr>
        <p:spPr>
          <a:xfrm>
            <a:off x="10241280" y="477316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started KYC, not completed</a:t>
            </a:r>
            <a:endParaRPr lang="en-US" sz="950" dirty="0"/>
          </a:p>
        </p:txBody>
      </p:sp>
      <p:sp>
        <p:nvSpPr>
          <p:cNvPr id="238" name="Text 233"/>
          <p:cNvSpPr txBox="1"/>
          <p:nvPr/>
        </p:nvSpPr>
        <p:spPr>
          <a:xfrm>
            <a:off x="9308592" y="521208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plus 10 rejected, resubmission required</a:t>
            </a:r>
            <a:endParaRPr lang="en-US" sz="850" dirty="0"/>
          </a:p>
        </p:txBody>
      </p:sp>
      <p:sp>
        <p:nvSpPr>
          <p:cNvPr id="239" name="Shape 234"/>
          <p:cNvSpPr/>
          <p:nvPr/>
        </p:nvSpPr>
        <p:spPr>
          <a:xfrm>
            <a:off x="566928" y="5669280"/>
            <a:ext cx="11064240" cy="457200"/>
          </a:xfrm>
          <a:prstGeom prst="rect">
            <a:avLst/>
          </a:prstGeom>
          <a:solidFill>
            <a:srgbClr val="E3E8F2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40" name="Shape 235"/>
          <p:cNvSpPr/>
          <p:nvPr/>
        </p:nvSpPr>
        <p:spPr>
          <a:xfrm>
            <a:off x="566928" y="5669280"/>
            <a:ext cx="45720" cy="4572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41" name="Text 236"/>
          <p:cNvSpPr txBox="1"/>
          <p:nvPr/>
        </p:nvSpPr>
        <p:spPr>
          <a:xfrm>
            <a:off x="777240" y="5669280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Takeaway 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Downloads keep growing, but about 1 in 8 becomes an onboarded user and 1 in 4 of those funds an account.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atemIsa_202508993_IT9002_NLP_Project/emyaa-ceo-deck/working/charts/board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188720"/>
            <a:ext cx="12191695" cy="24689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66928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F3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PLATFORM ANALYTICS  |  PERFORMANCE DASHBOARD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57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 date: 30 Sep 2026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868680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6CFE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Reporting period: All Time   |   Change on each card is against the previous report, 29 Sep 2026</a:t>
            </a:r>
            <a:endParaRPr lang="en-US" sz="1000" dirty="0"/>
          </a:p>
        </p:txBody>
      </p:sp>
      <p:pic>
        <p:nvPicPr>
          <p:cNvPr id="7" name="Image 1" descr="/home/user/HatemIsa_202508993_IT9002_NLP_Project/emyaa-ceo-deck/working/charts/ajy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02336"/>
            <a:ext cx="13258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" y="6272784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Source: eMYAA Daily Performance Dashboard, eMYAA_-_Daily_Performance_Dashboard_34.pdf, page 1.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eMYAA Trading Platform  |  Daily Performance Dashboard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9802368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</a:t>
            </a:r>
            <a:endParaRPr lang="en-US" sz="800" dirty="0"/>
          </a:p>
        </p:txBody>
      </p:sp>
      <p:pic>
        <p:nvPicPr>
          <p:cNvPr id="11" name="Image 2" descr="/home/user/HatemIsa_202508993_IT9002_NLP_Project/emyaa-ceo-deck/working/charts/emyaa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6336792"/>
            <a:ext cx="1024128" cy="3657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66928" y="1408176"/>
            <a:ext cx="45720" cy="155448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665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DOWNLOADS &amp; RATINGS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6692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66928" y="170078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152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262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downloads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 Store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216712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6692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66928" y="279806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3152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230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73152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downloads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73152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Apple App Store</a:t>
            </a:r>
            <a:endParaRPr lang="en-US" sz="850" dirty="0"/>
          </a:p>
        </p:txBody>
      </p:sp>
      <p:sp>
        <p:nvSpPr>
          <p:cNvPr id="25" name="Text 20"/>
          <p:cNvSpPr txBox="1"/>
          <p:nvPr/>
        </p:nvSpPr>
        <p:spPr>
          <a:xfrm>
            <a:off x="216712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+2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6692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66928" y="389534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3152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29" name="Text 24"/>
          <p:cNvSpPr txBox="1"/>
          <p:nvPr/>
        </p:nvSpPr>
        <p:spPr>
          <a:xfrm>
            <a:off x="73152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app rating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73152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Play, 2 reviews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56692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66928" y="499262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3152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34" name="Text 29"/>
          <p:cNvSpPr txBox="1"/>
          <p:nvPr/>
        </p:nvSpPr>
        <p:spPr>
          <a:xfrm>
            <a:off x="73152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app rating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73152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 Store, 2 reviews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3378708" y="1408176"/>
            <a:ext cx="45720" cy="155448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48843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 ACTIVITY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337870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3378708" y="170078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354330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15</a:t>
            </a:r>
            <a:endParaRPr lang="en-US" sz="2400" dirty="0"/>
          </a:p>
        </p:txBody>
      </p:sp>
      <p:sp>
        <p:nvSpPr>
          <p:cNvPr id="41" name="Text 36"/>
          <p:cNvSpPr txBox="1"/>
          <p:nvPr/>
        </p:nvSpPr>
        <p:spPr>
          <a:xfrm>
            <a:off x="354330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deposited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354330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Funded accounts</a:t>
            </a:r>
            <a:endParaRPr lang="en-US" sz="850" dirty="0"/>
          </a:p>
        </p:txBody>
      </p:sp>
      <p:sp>
        <p:nvSpPr>
          <p:cNvPr id="43" name="Text 38"/>
          <p:cNvSpPr txBox="1"/>
          <p:nvPr/>
        </p:nvSpPr>
        <p:spPr>
          <a:xfrm>
            <a:off x="497890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337870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3378708" y="279806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354330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$10,539.81</a:t>
            </a:r>
            <a:endParaRPr lang="en-US" sz="1900" dirty="0"/>
          </a:p>
        </p:txBody>
      </p:sp>
      <p:sp>
        <p:nvSpPr>
          <p:cNvPr id="47" name="Text 42"/>
          <p:cNvSpPr txBox="1"/>
          <p:nvPr/>
        </p:nvSpPr>
        <p:spPr>
          <a:xfrm>
            <a:off x="354330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AUM</a:t>
            </a:r>
            <a:endParaRPr lang="en-US" sz="1050" dirty="0"/>
          </a:p>
        </p:txBody>
      </p:sp>
      <p:sp>
        <p:nvSpPr>
          <p:cNvPr id="48" name="Text 43"/>
          <p:cNvSpPr txBox="1"/>
          <p:nvPr/>
        </p:nvSpPr>
        <p:spPr>
          <a:xfrm>
            <a:off x="354330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Cumulative platform deposits</a:t>
            </a:r>
            <a:endParaRPr lang="en-US" sz="850" dirty="0"/>
          </a:p>
        </p:txBody>
      </p:sp>
      <p:sp>
        <p:nvSpPr>
          <p:cNvPr id="49" name="Text 44"/>
          <p:cNvSpPr txBox="1"/>
          <p:nvPr/>
        </p:nvSpPr>
        <p:spPr>
          <a:xfrm>
            <a:off x="497890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337870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3378708" y="389534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354330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15</a:t>
            </a:r>
            <a:endParaRPr lang="en-US" sz="2400" dirty="0"/>
          </a:p>
        </p:txBody>
      </p:sp>
      <p:sp>
        <p:nvSpPr>
          <p:cNvPr id="53" name="Text 48"/>
          <p:cNvSpPr txBox="1"/>
          <p:nvPr/>
        </p:nvSpPr>
        <p:spPr>
          <a:xfrm>
            <a:off x="354330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traded</a:t>
            </a:r>
            <a:endParaRPr lang="en-US" sz="1050" dirty="0"/>
          </a:p>
        </p:txBody>
      </p:sp>
      <p:sp>
        <p:nvSpPr>
          <p:cNvPr id="54" name="Text 49"/>
          <p:cNvSpPr txBox="1"/>
          <p:nvPr/>
        </p:nvSpPr>
        <p:spPr>
          <a:xfrm>
            <a:off x="354330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Placed at least 1 trade</a:t>
            </a:r>
            <a:endParaRPr lang="en-US" sz="850" dirty="0"/>
          </a:p>
        </p:txBody>
      </p:sp>
      <p:sp>
        <p:nvSpPr>
          <p:cNvPr id="55" name="Text 50"/>
          <p:cNvSpPr txBox="1"/>
          <p:nvPr/>
        </p:nvSpPr>
        <p:spPr>
          <a:xfrm>
            <a:off x="497890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6" name="Shape 51"/>
          <p:cNvSpPr/>
          <p:nvPr/>
        </p:nvSpPr>
        <p:spPr>
          <a:xfrm>
            <a:off x="337870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3378708" y="499262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354330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55</a:t>
            </a:r>
            <a:endParaRPr lang="en-US" sz="2400" dirty="0"/>
          </a:p>
        </p:txBody>
      </p:sp>
      <p:sp>
        <p:nvSpPr>
          <p:cNvPr id="59" name="Text 54"/>
          <p:cNvSpPr txBox="1"/>
          <p:nvPr/>
        </p:nvSpPr>
        <p:spPr>
          <a:xfrm>
            <a:off x="354330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trades</a:t>
            </a:r>
            <a:endParaRPr lang="en-US" sz="1050" dirty="0"/>
          </a:p>
        </p:txBody>
      </p:sp>
      <p:sp>
        <p:nvSpPr>
          <p:cNvPr id="60" name="Text 55"/>
          <p:cNvSpPr txBox="1"/>
          <p:nvPr/>
        </p:nvSpPr>
        <p:spPr>
          <a:xfrm>
            <a:off x="354330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Executed across all users</a:t>
            </a:r>
            <a:endParaRPr lang="en-US" sz="850" dirty="0"/>
          </a:p>
        </p:txBody>
      </p:sp>
      <p:sp>
        <p:nvSpPr>
          <p:cNvPr id="61" name="Text 56"/>
          <p:cNvSpPr txBox="1"/>
          <p:nvPr/>
        </p:nvSpPr>
        <p:spPr>
          <a:xfrm>
            <a:off x="497890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62" name="Shape 57"/>
          <p:cNvSpPr/>
          <p:nvPr/>
        </p:nvSpPr>
        <p:spPr>
          <a:xfrm>
            <a:off x="6190488" y="1408176"/>
            <a:ext cx="45720" cy="1554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630021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KYC STATUS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619048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6190488" y="170078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635508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61</a:t>
            </a:r>
            <a:endParaRPr lang="en-US" sz="2400" dirty="0"/>
          </a:p>
        </p:txBody>
      </p:sp>
      <p:sp>
        <p:nvSpPr>
          <p:cNvPr id="67" name="Text 62"/>
          <p:cNvSpPr txBox="1"/>
          <p:nvPr/>
        </p:nvSpPr>
        <p:spPr>
          <a:xfrm>
            <a:off x="635508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onboarded</a:t>
            </a:r>
            <a:endParaRPr lang="en-US" sz="1050" dirty="0"/>
          </a:p>
        </p:txBody>
      </p:sp>
      <p:sp>
        <p:nvSpPr>
          <p:cNvPr id="68" name="Text 63"/>
          <p:cNvSpPr txBox="1"/>
          <p:nvPr/>
        </p:nvSpPr>
        <p:spPr>
          <a:xfrm>
            <a:off x="635508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Completed signup and verification</a:t>
            </a:r>
            <a:endParaRPr lang="en-US" sz="850" dirty="0"/>
          </a:p>
        </p:txBody>
      </p:sp>
      <p:sp>
        <p:nvSpPr>
          <p:cNvPr id="69" name="Text 64"/>
          <p:cNvSpPr txBox="1"/>
          <p:nvPr/>
        </p:nvSpPr>
        <p:spPr>
          <a:xfrm>
            <a:off x="779068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70" name="Shape 65"/>
          <p:cNvSpPr/>
          <p:nvPr/>
        </p:nvSpPr>
        <p:spPr>
          <a:xfrm>
            <a:off x="619048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6190488" y="279806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2" name="Text 67"/>
          <p:cNvSpPr txBox="1"/>
          <p:nvPr/>
        </p:nvSpPr>
        <p:spPr>
          <a:xfrm>
            <a:off x="635508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72</a:t>
            </a:r>
            <a:endParaRPr lang="en-US" sz="2400" dirty="0"/>
          </a:p>
        </p:txBody>
      </p:sp>
      <p:sp>
        <p:nvSpPr>
          <p:cNvPr id="73" name="Text 68"/>
          <p:cNvSpPr txBox="1"/>
          <p:nvPr/>
        </p:nvSpPr>
        <p:spPr>
          <a:xfrm>
            <a:off x="635508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Incomplete KYC</a:t>
            </a:r>
            <a:endParaRPr lang="en-US" sz="1050" dirty="0"/>
          </a:p>
        </p:txBody>
      </p:sp>
      <p:sp>
        <p:nvSpPr>
          <p:cNvPr id="74" name="Text 69"/>
          <p:cNvSpPr txBox="1"/>
          <p:nvPr/>
        </p:nvSpPr>
        <p:spPr>
          <a:xfrm>
            <a:off x="635508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Started KYC but did not proceed</a:t>
            </a:r>
            <a:endParaRPr lang="en-US" sz="850" dirty="0"/>
          </a:p>
        </p:txBody>
      </p:sp>
      <p:sp>
        <p:nvSpPr>
          <p:cNvPr id="75" name="Text 70"/>
          <p:cNvSpPr txBox="1"/>
          <p:nvPr/>
        </p:nvSpPr>
        <p:spPr>
          <a:xfrm>
            <a:off x="779068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5303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+2</a:t>
            </a:r>
            <a:endParaRPr lang="en-US" sz="850" dirty="0"/>
          </a:p>
        </p:txBody>
      </p:sp>
      <p:sp>
        <p:nvSpPr>
          <p:cNvPr id="76" name="Shape 71"/>
          <p:cNvSpPr/>
          <p:nvPr/>
        </p:nvSpPr>
        <p:spPr>
          <a:xfrm>
            <a:off x="619048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6190488" y="389534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8" name="Text 73"/>
          <p:cNvSpPr txBox="1"/>
          <p:nvPr/>
        </p:nvSpPr>
        <p:spPr>
          <a:xfrm>
            <a:off x="635508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</a:t>
            </a:r>
            <a:endParaRPr lang="en-US" sz="2400" dirty="0"/>
          </a:p>
        </p:txBody>
      </p:sp>
      <p:sp>
        <p:nvSpPr>
          <p:cNvPr id="79" name="Text 74"/>
          <p:cNvSpPr txBox="1"/>
          <p:nvPr/>
        </p:nvSpPr>
        <p:spPr>
          <a:xfrm>
            <a:off x="635508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Rejected KYC</a:t>
            </a:r>
            <a:endParaRPr lang="en-US" sz="1050" dirty="0"/>
          </a:p>
        </p:txBody>
      </p:sp>
      <p:sp>
        <p:nvSpPr>
          <p:cNvPr id="80" name="Text 75"/>
          <p:cNvSpPr txBox="1"/>
          <p:nvPr/>
        </p:nvSpPr>
        <p:spPr>
          <a:xfrm>
            <a:off x="635508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Resubmission required</a:t>
            </a:r>
            <a:endParaRPr lang="en-US" sz="850" dirty="0"/>
          </a:p>
        </p:txBody>
      </p:sp>
      <p:sp>
        <p:nvSpPr>
          <p:cNvPr id="81" name="Text 76"/>
          <p:cNvSpPr txBox="1"/>
          <p:nvPr/>
        </p:nvSpPr>
        <p:spPr>
          <a:xfrm>
            <a:off x="779068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82" name="Shape 77"/>
          <p:cNvSpPr/>
          <p:nvPr/>
        </p:nvSpPr>
        <p:spPr>
          <a:xfrm>
            <a:off x="619048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6190488" y="499262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4" name="Text 79"/>
          <p:cNvSpPr txBox="1"/>
          <p:nvPr/>
        </p:nvSpPr>
        <p:spPr>
          <a:xfrm>
            <a:off x="635508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143</a:t>
            </a:r>
            <a:endParaRPr lang="en-US" sz="2400" dirty="0"/>
          </a:p>
        </p:txBody>
      </p:sp>
      <p:sp>
        <p:nvSpPr>
          <p:cNvPr id="85" name="Text 80"/>
          <p:cNvSpPr txBox="1"/>
          <p:nvPr/>
        </p:nvSpPr>
        <p:spPr>
          <a:xfrm>
            <a:off x="635508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KYC applications</a:t>
            </a:r>
            <a:endParaRPr lang="en-US" sz="1050" dirty="0"/>
          </a:p>
        </p:txBody>
      </p:sp>
      <p:sp>
        <p:nvSpPr>
          <p:cNvPr id="86" name="Text 81"/>
          <p:cNvSpPr txBox="1"/>
          <p:nvPr/>
        </p:nvSpPr>
        <p:spPr>
          <a:xfrm>
            <a:off x="635508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Onboarded + incomplete + rejected</a:t>
            </a:r>
            <a:endParaRPr lang="en-US" sz="850" dirty="0"/>
          </a:p>
        </p:txBody>
      </p:sp>
      <p:sp>
        <p:nvSpPr>
          <p:cNvPr id="87" name="Shape 82"/>
          <p:cNvSpPr/>
          <p:nvPr/>
        </p:nvSpPr>
        <p:spPr>
          <a:xfrm>
            <a:off x="9002268" y="1408176"/>
            <a:ext cx="45720" cy="155448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88" name="Text 83"/>
          <p:cNvSpPr txBox="1"/>
          <p:nvPr/>
        </p:nvSpPr>
        <p:spPr>
          <a:xfrm>
            <a:off x="911199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SUPPORT TICKETS</a:t>
            </a:r>
            <a:endParaRPr lang="en-US" sz="900" dirty="0"/>
          </a:p>
        </p:txBody>
      </p:sp>
      <p:sp>
        <p:nvSpPr>
          <p:cNvPr id="89" name="Shape 84"/>
          <p:cNvSpPr/>
          <p:nvPr/>
        </p:nvSpPr>
        <p:spPr>
          <a:xfrm>
            <a:off x="900226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9002268" y="170078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1" name="Text 86"/>
          <p:cNvSpPr txBox="1"/>
          <p:nvPr/>
        </p:nvSpPr>
        <p:spPr>
          <a:xfrm>
            <a:off x="916686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27</a:t>
            </a:r>
            <a:endParaRPr lang="en-US" sz="2400" dirty="0"/>
          </a:p>
        </p:txBody>
      </p:sp>
      <p:sp>
        <p:nvSpPr>
          <p:cNvPr id="92" name="Text 87"/>
          <p:cNvSpPr txBox="1"/>
          <p:nvPr/>
        </p:nvSpPr>
        <p:spPr>
          <a:xfrm>
            <a:off x="916686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created</a:t>
            </a:r>
            <a:endParaRPr lang="en-US" sz="1050" dirty="0"/>
          </a:p>
        </p:txBody>
      </p:sp>
      <p:sp>
        <p:nvSpPr>
          <p:cNvPr id="93" name="Text 88"/>
          <p:cNvSpPr txBox="1"/>
          <p:nvPr/>
        </p:nvSpPr>
        <p:spPr>
          <a:xfrm>
            <a:off x="916686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94" name="Text 89"/>
          <p:cNvSpPr txBox="1"/>
          <p:nvPr/>
        </p:nvSpPr>
        <p:spPr>
          <a:xfrm>
            <a:off x="1060246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95" name="Shape 90"/>
          <p:cNvSpPr/>
          <p:nvPr/>
        </p:nvSpPr>
        <p:spPr>
          <a:xfrm>
            <a:off x="900226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9002268" y="279806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7" name="Text 92"/>
          <p:cNvSpPr txBox="1"/>
          <p:nvPr/>
        </p:nvSpPr>
        <p:spPr>
          <a:xfrm>
            <a:off x="916686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27</a:t>
            </a:r>
            <a:endParaRPr lang="en-US" sz="2400" dirty="0"/>
          </a:p>
        </p:txBody>
      </p:sp>
      <p:sp>
        <p:nvSpPr>
          <p:cNvPr id="98" name="Text 93"/>
          <p:cNvSpPr txBox="1"/>
          <p:nvPr/>
        </p:nvSpPr>
        <p:spPr>
          <a:xfrm>
            <a:off x="916686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resolved</a:t>
            </a:r>
            <a:endParaRPr lang="en-US" sz="1050" dirty="0"/>
          </a:p>
        </p:txBody>
      </p:sp>
      <p:sp>
        <p:nvSpPr>
          <p:cNvPr id="99" name="Text 94"/>
          <p:cNvSpPr txBox="1"/>
          <p:nvPr/>
        </p:nvSpPr>
        <p:spPr>
          <a:xfrm>
            <a:off x="916686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100% of tickets created</a:t>
            </a:r>
            <a:endParaRPr lang="en-US" sz="850" dirty="0"/>
          </a:p>
        </p:txBody>
      </p:sp>
      <p:sp>
        <p:nvSpPr>
          <p:cNvPr id="100" name="Text 95"/>
          <p:cNvSpPr txBox="1"/>
          <p:nvPr/>
        </p:nvSpPr>
        <p:spPr>
          <a:xfrm>
            <a:off x="1060246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1" name="Shape 96"/>
          <p:cNvSpPr/>
          <p:nvPr/>
        </p:nvSpPr>
        <p:spPr>
          <a:xfrm>
            <a:off x="900226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9002268" y="389534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3" name="Text 98"/>
          <p:cNvSpPr txBox="1"/>
          <p:nvPr/>
        </p:nvSpPr>
        <p:spPr>
          <a:xfrm>
            <a:off x="916686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6</a:t>
            </a:r>
            <a:endParaRPr lang="en-US" sz="2400" dirty="0"/>
          </a:p>
        </p:txBody>
      </p:sp>
      <p:sp>
        <p:nvSpPr>
          <p:cNvPr id="104" name="Text 99"/>
          <p:cNvSpPr txBox="1"/>
          <p:nvPr/>
        </p:nvSpPr>
        <p:spPr>
          <a:xfrm>
            <a:off x="916686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Email queries</a:t>
            </a:r>
            <a:endParaRPr lang="en-US" sz="1050" dirty="0"/>
          </a:p>
        </p:txBody>
      </p:sp>
      <p:sp>
        <p:nvSpPr>
          <p:cNvPr id="105" name="Text 100"/>
          <p:cNvSpPr txBox="1"/>
          <p:nvPr/>
        </p:nvSpPr>
        <p:spPr>
          <a:xfrm>
            <a:off x="916686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06" name="Text 101"/>
          <p:cNvSpPr txBox="1"/>
          <p:nvPr/>
        </p:nvSpPr>
        <p:spPr>
          <a:xfrm>
            <a:off x="1060246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7" name="Shape 102"/>
          <p:cNvSpPr/>
          <p:nvPr/>
        </p:nvSpPr>
        <p:spPr>
          <a:xfrm>
            <a:off x="900226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9002268" y="499262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9" name="Text 104"/>
          <p:cNvSpPr txBox="1"/>
          <p:nvPr/>
        </p:nvSpPr>
        <p:spPr>
          <a:xfrm>
            <a:off x="916686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21</a:t>
            </a:r>
            <a:endParaRPr lang="en-US" sz="2400" dirty="0"/>
          </a:p>
        </p:txBody>
      </p:sp>
      <p:sp>
        <p:nvSpPr>
          <p:cNvPr id="110" name="Text 105"/>
          <p:cNvSpPr txBox="1"/>
          <p:nvPr/>
        </p:nvSpPr>
        <p:spPr>
          <a:xfrm>
            <a:off x="916686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AI support queries</a:t>
            </a:r>
            <a:endParaRPr lang="en-US" sz="1050" dirty="0"/>
          </a:p>
        </p:txBody>
      </p:sp>
      <p:sp>
        <p:nvSpPr>
          <p:cNvPr id="111" name="Text 106"/>
          <p:cNvSpPr txBox="1"/>
          <p:nvPr/>
        </p:nvSpPr>
        <p:spPr>
          <a:xfrm>
            <a:off x="916686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12" name="Text 107"/>
          <p:cNvSpPr txBox="1"/>
          <p:nvPr/>
        </p:nvSpPr>
        <p:spPr>
          <a:xfrm>
            <a:off x="1060246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atemIsa_202508993_IT9002_NLP_Project/emyaa-ceo-deck/working/charts/board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188720"/>
            <a:ext cx="12191695" cy="24689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66928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F3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PLATFORM ANALYTICS  |  PERFORMANCE DASHBOARD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57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 date: 29 Sep 2026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868680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6CFE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Reporting period: All Time   |   Change on each card is against the previous report, 28 Sep 2026</a:t>
            </a:r>
            <a:endParaRPr lang="en-US" sz="1000" dirty="0"/>
          </a:p>
        </p:txBody>
      </p:sp>
      <p:pic>
        <p:nvPicPr>
          <p:cNvPr id="7" name="Image 1" descr="/home/user/HatemIsa_202508993_IT9002_NLP_Project/emyaa-ceo-deck/working/charts/ajy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02336"/>
            <a:ext cx="13258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" y="6272784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Source: eMYAA Daily Performance Dashboard, eMYAA_-_Daily_Performance_Dashboard-1.pdf, page 1.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eMYAA Trading Platform  |  Daily Performance Dashboard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9802368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</a:t>
            </a:r>
            <a:endParaRPr lang="en-US" sz="800" dirty="0"/>
          </a:p>
        </p:txBody>
      </p:sp>
      <p:pic>
        <p:nvPicPr>
          <p:cNvPr id="11" name="Image 2" descr="/home/user/HatemIsa_202508993_IT9002_NLP_Project/emyaa-ceo-deck/working/charts/emyaa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6336792"/>
            <a:ext cx="1024128" cy="3657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66928" y="1408176"/>
            <a:ext cx="45720" cy="155448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665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DOWNLOADS &amp; RATINGS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6692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66928" y="170078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152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262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downloads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 Store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216712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+3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6692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66928" y="279806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3152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228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73152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downloads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73152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Apple App Store</a:t>
            </a:r>
            <a:endParaRPr lang="en-US" sz="850" dirty="0"/>
          </a:p>
        </p:txBody>
      </p:sp>
      <p:sp>
        <p:nvSpPr>
          <p:cNvPr id="25" name="Text 20"/>
          <p:cNvSpPr txBox="1"/>
          <p:nvPr/>
        </p:nvSpPr>
        <p:spPr>
          <a:xfrm>
            <a:off x="216712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+7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6692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66928" y="389534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3152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29" name="Text 24"/>
          <p:cNvSpPr txBox="1"/>
          <p:nvPr/>
        </p:nvSpPr>
        <p:spPr>
          <a:xfrm>
            <a:off x="73152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app rating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73152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Play, 2 reviews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56692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66928" y="499262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3152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34" name="Text 29"/>
          <p:cNvSpPr txBox="1"/>
          <p:nvPr/>
        </p:nvSpPr>
        <p:spPr>
          <a:xfrm>
            <a:off x="73152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app rating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73152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 Store, 2 reviews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3378708" y="1408176"/>
            <a:ext cx="45720" cy="155448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48843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 ACTIVITY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337870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3378708" y="170078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354330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15</a:t>
            </a:r>
            <a:endParaRPr lang="en-US" sz="2400" dirty="0"/>
          </a:p>
        </p:txBody>
      </p:sp>
      <p:sp>
        <p:nvSpPr>
          <p:cNvPr id="41" name="Text 36"/>
          <p:cNvSpPr txBox="1"/>
          <p:nvPr/>
        </p:nvSpPr>
        <p:spPr>
          <a:xfrm>
            <a:off x="354330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deposited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354330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Funded accounts</a:t>
            </a:r>
            <a:endParaRPr lang="en-US" sz="850" dirty="0"/>
          </a:p>
        </p:txBody>
      </p:sp>
      <p:sp>
        <p:nvSpPr>
          <p:cNvPr id="43" name="Text 38"/>
          <p:cNvSpPr txBox="1"/>
          <p:nvPr/>
        </p:nvSpPr>
        <p:spPr>
          <a:xfrm>
            <a:off x="497890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337870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3378708" y="279806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354330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$10,539.81</a:t>
            </a:r>
            <a:endParaRPr lang="en-US" sz="1900" dirty="0"/>
          </a:p>
        </p:txBody>
      </p:sp>
      <p:sp>
        <p:nvSpPr>
          <p:cNvPr id="47" name="Text 42"/>
          <p:cNvSpPr txBox="1"/>
          <p:nvPr/>
        </p:nvSpPr>
        <p:spPr>
          <a:xfrm>
            <a:off x="354330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AUM</a:t>
            </a:r>
            <a:endParaRPr lang="en-US" sz="1050" dirty="0"/>
          </a:p>
        </p:txBody>
      </p:sp>
      <p:sp>
        <p:nvSpPr>
          <p:cNvPr id="48" name="Text 43"/>
          <p:cNvSpPr txBox="1"/>
          <p:nvPr/>
        </p:nvSpPr>
        <p:spPr>
          <a:xfrm>
            <a:off x="354330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Cumulative platform deposits</a:t>
            </a:r>
            <a:endParaRPr lang="en-US" sz="850" dirty="0"/>
          </a:p>
        </p:txBody>
      </p:sp>
      <p:sp>
        <p:nvSpPr>
          <p:cNvPr id="49" name="Text 44"/>
          <p:cNvSpPr txBox="1"/>
          <p:nvPr/>
        </p:nvSpPr>
        <p:spPr>
          <a:xfrm>
            <a:off x="497890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337870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3378708" y="389534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354330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15</a:t>
            </a:r>
            <a:endParaRPr lang="en-US" sz="2400" dirty="0"/>
          </a:p>
        </p:txBody>
      </p:sp>
      <p:sp>
        <p:nvSpPr>
          <p:cNvPr id="53" name="Text 48"/>
          <p:cNvSpPr txBox="1"/>
          <p:nvPr/>
        </p:nvSpPr>
        <p:spPr>
          <a:xfrm>
            <a:off x="354330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traded</a:t>
            </a:r>
            <a:endParaRPr lang="en-US" sz="1050" dirty="0"/>
          </a:p>
        </p:txBody>
      </p:sp>
      <p:sp>
        <p:nvSpPr>
          <p:cNvPr id="54" name="Text 49"/>
          <p:cNvSpPr txBox="1"/>
          <p:nvPr/>
        </p:nvSpPr>
        <p:spPr>
          <a:xfrm>
            <a:off x="354330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Placed at least 1 trade</a:t>
            </a:r>
            <a:endParaRPr lang="en-US" sz="850" dirty="0"/>
          </a:p>
        </p:txBody>
      </p:sp>
      <p:sp>
        <p:nvSpPr>
          <p:cNvPr id="55" name="Text 50"/>
          <p:cNvSpPr txBox="1"/>
          <p:nvPr/>
        </p:nvSpPr>
        <p:spPr>
          <a:xfrm>
            <a:off x="497890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6" name="Shape 51"/>
          <p:cNvSpPr/>
          <p:nvPr/>
        </p:nvSpPr>
        <p:spPr>
          <a:xfrm>
            <a:off x="337870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3378708" y="499262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354330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55</a:t>
            </a:r>
            <a:endParaRPr lang="en-US" sz="2400" dirty="0"/>
          </a:p>
        </p:txBody>
      </p:sp>
      <p:sp>
        <p:nvSpPr>
          <p:cNvPr id="59" name="Text 54"/>
          <p:cNvSpPr txBox="1"/>
          <p:nvPr/>
        </p:nvSpPr>
        <p:spPr>
          <a:xfrm>
            <a:off x="354330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trades</a:t>
            </a:r>
            <a:endParaRPr lang="en-US" sz="1050" dirty="0"/>
          </a:p>
        </p:txBody>
      </p:sp>
      <p:sp>
        <p:nvSpPr>
          <p:cNvPr id="60" name="Text 55"/>
          <p:cNvSpPr txBox="1"/>
          <p:nvPr/>
        </p:nvSpPr>
        <p:spPr>
          <a:xfrm>
            <a:off x="354330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Executed across all users</a:t>
            </a:r>
            <a:endParaRPr lang="en-US" sz="850" dirty="0"/>
          </a:p>
        </p:txBody>
      </p:sp>
      <p:sp>
        <p:nvSpPr>
          <p:cNvPr id="61" name="Text 56"/>
          <p:cNvSpPr txBox="1"/>
          <p:nvPr/>
        </p:nvSpPr>
        <p:spPr>
          <a:xfrm>
            <a:off x="497890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62" name="Shape 57"/>
          <p:cNvSpPr/>
          <p:nvPr/>
        </p:nvSpPr>
        <p:spPr>
          <a:xfrm>
            <a:off x="6190488" y="1408176"/>
            <a:ext cx="45720" cy="1554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630021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KYC STATUS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619048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6190488" y="170078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635508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61</a:t>
            </a:r>
            <a:endParaRPr lang="en-US" sz="2400" dirty="0"/>
          </a:p>
        </p:txBody>
      </p:sp>
      <p:sp>
        <p:nvSpPr>
          <p:cNvPr id="67" name="Text 62"/>
          <p:cNvSpPr txBox="1"/>
          <p:nvPr/>
        </p:nvSpPr>
        <p:spPr>
          <a:xfrm>
            <a:off x="635508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onboarded</a:t>
            </a:r>
            <a:endParaRPr lang="en-US" sz="1050" dirty="0"/>
          </a:p>
        </p:txBody>
      </p:sp>
      <p:sp>
        <p:nvSpPr>
          <p:cNvPr id="68" name="Text 63"/>
          <p:cNvSpPr txBox="1"/>
          <p:nvPr/>
        </p:nvSpPr>
        <p:spPr>
          <a:xfrm>
            <a:off x="635508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Completed signup and verification</a:t>
            </a:r>
            <a:endParaRPr lang="en-US" sz="850" dirty="0"/>
          </a:p>
        </p:txBody>
      </p:sp>
      <p:sp>
        <p:nvSpPr>
          <p:cNvPr id="69" name="Text 64"/>
          <p:cNvSpPr txBox="1"/>
          <p:nvPr/>
        </p:nvSpPr>
        <p:spPr>
          <a:xfrm>
            <a:off x="779068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70" name="Shape 65"/>
          <p:cNvSpPr/>
          <p:nvPr/>
        </p:nvSpPr>
        <p:spPr>
          <a:xfrm>
            <a:off x="619048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6190488" y="279806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2" name="Text 67"/>
          <p:cNvSpPr txBox="1"/>
          <p:nvPr/>
        </p:nvSpPr>
        <p:spPr>
          <a:xfrm>
            <a:off x="635508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70</a:t>
            </a:r>
            <a:endParaRPr lang="en-US" sz="2400" dirty="0"/>
          </a:p>
        </p:txBody>
      </p:sp>
      <p:sp>
        <p:nvSpPr>
          <p:cNvPr id="73" name="Text 68"/>
          <p:cNvSpPr txBox="1"/>
          <p:nvPr/>
        </p:nvSpPr>
        <p:spPr>
          <a:xfrm>
            <a:off x="635508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Incomplete KYC</a:t>
            </a:r>
            <a:endParaRPr lang="en-US" sz="1050" dirty="0"/>
          </a:p>
        </p:txBody>
      </p:sp>
      <p:sp>
        <p:nvSpPr>
          <p:cNvPr id="74" name="Text 69"/>
          <p:cNvSpPr txBox="1"/>
          <p:nvPr/>
        </p:nvSpPr>
        <p:spPr>
          <a:xfrm>
            <a:off x="635508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Started KYC but did not proceed</a:t>
            </a:r>
            <a:endParaRPr lang="en-US" sz="850" dirty="0"/>
          </a:p>
        </p:txBody>
      </p:sp>
      <p:sp>
        <p:nvSpPr>
          <p:cNvPr id="75" name="Text 70"/>
          <p:cNvSpPr txBox="1"/>
          <p:nvPr/>
        </p:nvSpPr>
        <p:spPr>
          <a:xfrm>
            <a:off x="779068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76" name="Shape 71"/>
          <p:cNvSpPr/>
          <p:nvPr/>
        </p:nvSpPr>
        <p:spPr>
          <a:xfrm>
            <a:off x="619048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6190488" y="389534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8" name="Text 73"/>
          <p:cNvSpPr txBox="1"/>
          <p:nvPr/>
        </p:nvSpPr>
        <p:spPr>
          <a:xfrm>
            <a:off x="635508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</a:t>
            </a:r>
            <a:endParaRPr lang="en-US" sz="2400" dirty="0"/>
          </a:p>
        </p:txBody>
      </p:sp>
      <p:sp>
        <p:nvSpPr>
          <p:cNvPr id="79" name="Text 74"/>
          <p:cNvSpPr txBox="1"/>
          <p:nvPr/>
        </p:nvSpPr>
        <p:spPr>
          <a:xfrm>
            <a:off x="635508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Rejected KYC</a:t>
            </a:r>
            <a:endParaRPr lang="en-US" sz="1050" dirty="0"/>
          </a:p>
        </p:txBody>
      </p:sp>
      <p:sp>
        <p:nvSpPr>
          <p:cNvPr id="80" name="Text 75"/>
          <p:cNvSpPr txBox="1"/>
          <p:nvPr/>
        </p:nvSpPr>
        <p:spPr>
          <a:xfrm>
            <a:off x="635508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Resubmission required</a:t>
            </a:r>
            <a:endParaRPr lang="en-US" sz="850" dirty="0"/>
          </a:p>
        </p:txBody>
      </p:sp>
      <p:sp>
        <p:nvSpPr>
          <p:cNvPr id="81" name="Text 76"/>
          <p:cNvSpPr txBox="1"/>
          <p:nvPr/>
        </p:nvSpPr>
        <p:spPr>
          <a:xfrm>
            <a:off x="779068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82" name="Shape 77"/>
          <p:cNvSpPr/>
          <p:nvPr/>
        </p:nvSpPr>
        <p:spPr>
          <a:xfrm>
            <a:off x="619048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6190488" y="499262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4" name="Text 79"/>
          <p:cNvSpPr txBox="1"/>
          <p:nvPr/>
        </p:nvSpPr>
        <p:spPr>
          <a:xfrm>
            <a:off x="635508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141</a:t>
            </a:r>
            <a:endParaRPr lang="en-US" sz="2400" dirty="0"/>
          </a:p>
        </p:txBody>
      </p:sp>
      <p:sp>
        <p:nvSpPr>
          <p:cNvPr id="85" name="Text 80"/>
          <p:cNvSpPr txBox="1"/>
          <p:nvPr/>
        </p:nvSpPr>
        <p:spPr>
          <a:xfrm>
            <a:off x="635508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KYC applications</a:t>
            </a:r>
            <a:endParaRPr lang="en-US" sz="1050" dirty="0"/>
          </a:p>
        </p:txBody>
      </p:sp>
      <p:sp>
        <p:nvSpPr>
          <p:cNvPr id="86" name="Text 81"/>
          <p:cNvSpPr txBox="1"/>
          <p:nvPr/>
        </p:nvSpPr>
        <p:spPr>
          <a:xfrm>
            <a:off x="635508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Onboarded + incomplete + rejected</a:t>
            </a:r>
            <a:endParaRPr lang="en-US" sz="850" dirty="0"/>
          </a:p>
        </p:txBody>
      </p:sp>
      <p:sp>
        <p:nvSpPr>
          <p:cNvPr id="87" name="Shape 82"/>
          <p:cNvSpPr/>
          <p:nvPr/>
        </p:nvSpPr>
        <p:spPr>
          <a:xfrm>
            <a:off x="9002268" y="1408176"/>
            <a:ext cx="45720" cy="155448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88" name="Text 83"/>
          <p:cNvSpPr txBox="1"/>
          <p:nvPr/>
        </p:nvSpPr>
        <p:spPr>
          <a:xfrm>
            <a:off x="911199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SUPPORT TICKETS</a:t>
            </a:r>
            <a:endParaRPr lang="en-US" sz="900" dirty="0"/>
          </a:p>
        </p:txBody>
      </p:sp>
      <p:sp>
        <p:nvSpPr>
          <p:cNvPr id="89" name="Shape 84"/>
          <p:cNvSpPr/>
          <p:nvPr/>
        </p:nvSpPr>
        <p:spPr>
          <a:xfrm>
            <a:off x="900226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9002268" y="170078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1" name="Text 86"/>
          <p:cNvSpPr txBox="1"/>
          <p:nvPr/>
        </p:nvSpPr>
        <p:spPr>
          <a:xfrm>
            <a:off x="916686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27</a:t>
            </a:r>
            <a:endParaRPr lang="en-US" sz="2400" dirty="0"/>
          </a:p>
        </p:txBody>
      </p:sp>
      <p:sp>
        <p:nvSpPr>
          <p:cNvPr id="92" name="Text 87"/>
          <p:cNvSpPr txBox="1"/>
          <p:nvPr/>
        </p:nvSpPr>
        <p:spPr>
          <a:xfrm>
            <a:off x="916686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created</a:t>
            </a:r>
            <a:endParaRPr lang="en-US" sz="1050" dirty="0"/>
          </a:p>
        </p:txBody>
      </p:sp>
      <p:sp>
        <p:nvSpPr>
          <p:cNvPr id="93" name="Text 88"/>
          <p:cNvSpPr txBox="1"/>
          <p:nvPr/>
        </p:nvSpPr>
        <p:spPr>
          <a:xfrm>
            <a:off x="916686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94" name="Text 89"/>
          <p:cNvSpPr txBox="1"/>
          <p:nvPr/>
        </p:nvSpPr>
        <p:spPr>
          <a:xfrm>
            <a:off x="1060246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95" name="Shape 90"/>
          <p:cNvSpPr/>
          <p:nvPr/>
        </p:nvSpPr>
        <p:spPr>
          <a:xfrm>
            <a:off x="900226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9002268" y="279806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7" name="Text 92"/>
          <p:cNvSpPr txBox="1"/>
          <p:nvPr/>
        </p:nvSpPr>
        <p:spPr>
          <a:xfrm>
            <a:off x="916686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27</a:t>
            </a:r>
            <a:endParaRPr lang="en-US" sz="2400" dirty="0"/>
          </a:p>
        </p:txBody>
      </p:sp>
      <p:sp>
        <p:nvSpPr>
          <p:cNvPr id="98" name="Text 93"/>
          <p:cNvSpPr txBox="1"/>
          <p:nvPr/>
        </p:nvSpPr>
        <p:spPr>
          <a:xfrm>
            <a:off x="916686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resolved</a:t>
            </a:r>
            <a:endParaRPr lang="en-US" sz="1050" dirty="0"/>
          </a:p>
        </p:txBody>
      </p:sp>
      <p:sp>
        <p:nvSpPr>
          <p:cNvPr id="99" name="Text 94"/>
          <p:cNvSpPr txBox="1"/>
          <p:nvPr/>
        </p:nvSpPr>
        <p:spPr>
          <a:xfrm>
            <a:off x="916686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100% of tickets created</a:t>
            </a:r>
            <a:endParaRPr lang="en-US" sz="850" dirty="0"/>
          </a:p>
        </p:txBody>
      </p:sp>
      <p:sp>
        <p:nvSpPr>
          <p:cNvPr id="100" name="Text 95"/>
          <p:cNvSpPr txBox="1"/>
          <p:nvPr/>
        </p:nvSpPr>
        <p:spPr>
          <a:xfrm>
            <a:off x="1060246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1" name="Shape 96"/>
          <p:cNvSpPr/>
          <p:nvPr/>
        </p:nvSpPr>
        <p:spPr>
          <a:xfrm>
            <a:off x="900226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9002268" y="389534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3" name="Text 98"/>
          <p:cNvSpPr txBox="1"/>
          <p:nvPr/>
        </p:nvSpPr>
        <p:spPr>
          <a:xfrm>
            <a:off x="916686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6</a:t>
            </a:r>
            <a:endParaRPr lang="en-US" sz="2400" dirty="0"/>
          </a:p>
        </p:txBody>
      </p:sp>
      <p:sp>
        <p:nvSpPr>
          <p:cNvPr id="104" name="Text 99"/>
          <p:cNvSpPr txBox="1"/>
          <p:nvPr/>
        </p:nvSpPr>
        <p:spPr>
          <a:xfrm>
            <a:off x="916686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Email queries</a:t>
            </a:r>
            <a:endParaRPr lang="en-US" sz="1050" dirty="0"/>
          </a:p>
        </p:txBody>
      </p:sp>
      <p:sp>
        <p:nvSpPr>
          <p:cNvPr id="105" name="Text 100"/>
          <p:cNvSpPr txBox="1"/>
          <p:nvPr/>
        </p:nvSpPr>
        <p:spPr>
          <a:xfrm>
            <a:off x="916686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06" name="Text 101"/>
          <p:cNvSpPr txBox="1"/>
          <p:nvPr/>
        </p:nvSpPr>
        <p:spPr>
          <a:xfrm>
            <a:off x="1060246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7" name="Shape 102"/>
          <p:cNvSpPr/>
          <p:nvPr/>
        </p:nvSpPr>
        <p:spPr>
          <a:xfrm>
            <a:off x="900226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9002268" y="499262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9" name="Text 104"/>
          <p:cNvSpPr txBox="1"/>
          <p:nvPr/>
        </p:nvSpPr>
        <p:spPr>
          <a:xfrm>
            <a:off x="916686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21</a:t>
            </a:r>
            <a:endParaRPr lang="en-US" sz="2400" dirty="0"/>
          </a:p>
        </p:txBody>
      </p:sp>
      <p:sp>
        <p:nvSpPr>
          <p:cNvPr id="110" name="Text 105"/>
          <p:cNvSpPr txBox="1"/>
          <p:nvPr/>
        </p:nvSpPr>
        <p:spPr>
          <a:xfrm>
            <a:off x="916686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AI support queries</a:t>
            </a:r>
            <a:endParaRPr lang="en-US" sz="1050" dirty="0"/>
          </a:p>
        </p:txBody>
      </p:sp>
      <p:sp>
        <p:nvSpPr>
          <p:cNvPr id="111" name="Text 106"/>
          <p:cNvSpPr txBox="1"/>
          <p:nvPr/>
        </p:nvSpPr>
        <p:spPr>
          <a:xfrm>
            <a:off x="916686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12" name="Text 107"/>
          <p:cNvSpPr txBox="1"/>
          <p:nvPr/>
        </p:nvSpPr>
        <p:spPr>
          <a:xfrm>
            <a:off x="1060246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atemIsa_202508993_IT9002_NLP_Project/emyaa-ceo-deck/working/charts/board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188720"/>
            <a:ext cx="12191695" cy="24689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66928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F3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PLATFORM ANALYTICS  |  PERFORMANCE DASHBOARD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57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 date: 28 Sep 2026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868680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6CFE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Reporting period: All Time   |   Change on each card is against the previous report, 27 Sep 2026</a:t>
            </a:r>
            <a:endParaRPr lang="en-US" sz="1000" dirty="0"/>
          </a:p>
        </p:txBody>
      </p:sp>
      <p:pic>
        <p:nvPicPr>
          <p:cNvPr id="7" name="Image 1" descr="/home/user/HatemIsa_202508993_IT9002_NLP_Project/emyaa-ceo-deck/working/charts/ajy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02336"/>
            <a:ext cx="13258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" y="6272784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Source: eMYAA Daily Performance Dashboard, eMYAA_-_Daily_Performance_Dashboard-1.pdf, page 2.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eMYAA Trading Platform  |  Daily Performance Dashboard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9802368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</a:t>
            </a:r>
            <a:endParaRPr lang="en-US" sz="800" dirty="0"/>
          </a:p>
        </p:txBody>
      </p:sp>
      <p:pic>
        <p:nvPicPr>
          <p:cNvPr id="11" name="Image 2" descr="/home/user/HatemIsa_202508993_IT9002_NLP_Project/emyaa-ceo-deck/working/charts/emyaa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6336792"/>
            <a:ext cx="1024128" cy="3657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66928" y="1408176"/>
            <a:ext cx="45720" cy="155448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665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DOWNLOADS &amp; RATINGS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6692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66928" y="170078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152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259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downloads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 Store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216712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6692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66928" y="279806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3152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221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73152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downloads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73152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Apple App Store</a:t>
            </a:r>
            <a:endParaRPr lang="en-US" sz="850" dirty="0"/>
          </a:p>
        </p:txBody>
      </p:sp>
      <p:sp>
        <p:nvSpPr>
          <p:cNvPr id="25" name="Text 20"/>
          <p:cNvSpPr txBox="1"/>
          <p:nvPr/>
        </p:nvSpPr>
        <p:spPr>
          <a:xfrm>
            <a:off x="216712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+7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6692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66928" y="389534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3152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29" name="Text 24"/>
          <p:cNvSpPr txBox="1"/>
          <p:nvPr/>
        </p:nvSpPr>
        <p:spPr>
          <a:xfrm>
            <a:off x="73152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app rating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73152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Play, 2 reviews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56692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66928" y="499262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3152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34" name="Text 29"/>
          <p:cNvSpPr txBox="1"/>
          <p:nvPr/>
        </p:nvSpPr>
        <p:spPr>
          <a:xfrm>
            <a:off x="73152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app rating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73152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 Store, 2 reviews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3378708" y="1408176"/>
            <a:ext cx="45720" cy="155448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48843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 ACTIVITY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337870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3378708" y="170078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354330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15</a:t>
            </a:r>
            <a:endParaRPr lang="en-US" sz="2400" dirty="0"/>
          </a:p>
        </p:txBody>
      </p:sp>
      <p:sp>
        <p:nvSpPr>
          <p:cNvPr id="41" name="Text 36"/>
          <p:cNvSpPr txBox="1"/>
          <p:nvPr/>
        </p:nvSpPr>
        <p:spPr>
          <a:xfrm>
            <a:off x="354330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deposited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354330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Funded accounts</a:t>
            </a:r>
            <a:endParaRPr lang="en-US" sz="850" dirty="0"/>
          </a:p>
        </p:txBody>
      </p:sp>
      <p:sp>
        <p:nvSpPr>
          <p:cNvPr id="43" name="Text 38"/>
          <p:cNvSpPr txBox="1"/>
          <p:nvPr/>
        </p:nvSpPr>
        <p:spPr>
          <a:xfrm>
            <a:off x="497890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337870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3378708" y="279806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354330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$10,539.81</a:t>
            </a:r>
            <a:endParaRPr lang="en-US" sz="1900" dirty="0"/>
          </a:p>
        </p:txBody>
      </p:sp>
      <p:sp>
        <p:nvSpPr>
          <p:cNvPr id="47" name="Text 42"/>
          <p:cNvSpPr txBox="1"/>
          <p:nvPr/>
        </p:nvSpPr>
        <p:spPr>
          <a:xfrm>
            <a:off x="354330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AUM</a:t>
            </a:r>
            <a:endParaRPr lang="en-US" sz="1050" dirty="0"/>
          </a:p>
        </p:txBody>
      </p:sp>
      <p:sp>
        <p:nvSpPr>
          <p:cNvPr id="48" name="Text 43"/>
          <p:cNvSpPr txBox="1"/>
          <p:nvPr/>
        </p:nvSpPr>
        <p:spPr>
          <a:xfrm>
            <a:off x="354330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Cumulative platform deposits</a:t>
            </a:r>
            <a:endParaRPr lang="en-US" sz="850" dirty="0"/>
          </a:p>
        </p:txBody>
      </p:sp>
      <p:sp>
        <p:nvSpPr>
          <p:cNvPr id="49" name="Text 44"/>
          <p:cNvSpPr txBox="1"/>
          <p:nvPr/>
        </p:nvSpPr>
        <p:spPr>
          <a:xfrm>
            <a:off x="497890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+$510.12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337870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3378708" y="389534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354330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15</a:t>
            </a:r>
            <a:endParaRPr lang="en-US" sz="2400" dirty="0"/>
          </a:p>
        </p:txBody>
      </p:sp>
      <p:sp>
        <p:nvSpPr>
          <p:cNvPr id="53" name="Text 48"/>
          <p:cNvSpPr txBox="1"/>
          <p:nvPr/>
        </p:nvSpPr>
        <p:spPr>
          <a:xfrm>
            <a:off x="354330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traded</a:t>
            </a:r>
            <a:endParaRPr lang="en-US" sz="1050" dirty="0"/>
          </a:p>
        </p:txBody>
      </p:sp>
      <p:sp>
        <p:nvSpPr>
          <p:cNvPr id="54" name="Text 49"/>
          <p:cNvSpPr txBox="1"/>
          <p:nvPr/>
        </p:nvSpPr>
        <p:spPr>
          <a:xfrm>
            <a:off x="354330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Placed at least 1 trade</a:t>
            </a:r>
            <a:endParaRPr lang="en-US" sz="850" dirty="0"/>
          </a:p>
        </p:txBody>
      </p:sp>
      <p:sp>
        <p:nvSpPr>
          <p:cNvPr id="55" name="Text 50"/>
          <p:cNvSpPr txBox="1"/>
          <p:nvPr/>
        </p:nvSpPr>
        <p:spPr>
          <a:xfrm>
            <a:off x="497890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6" name="Shape 51"/>
          <p:cNvSpPr/>
          <p:nvPr/>
        </p:nvSpPr>
        <p:spPr>
          <a:xfrm>
            <a:off x="337870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3378708" y="499262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354330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54</a:t>
            </a:r>
            <a:endParaRPr lang="en-US" sz="2400" dirty="0"/>
          </a:p>
        </p:txBody>
      </p:sp>
      <p:sp>
        <p:nvSpPr>
          <p:cNvPr id="59" name="Text 54"/>
          <p:cNvSpPr txBox="1"/>
          <p:nvPr/>
        </p:nvSpPr>
        <p:spPr>
          <a:xfrm>
            <a:off x="354330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trades</a:t>
            </a:r>
            <a:endParaRPr lang="en-US" sz="1050" dirty="0"/>
          </a:p>
        </p:txBody>
      </p:sp>
      <p:sp>
        <p:nvSpPr>
          <p:cNvPr id="60" name="Text 55"/>
          <p:cNvSpPr txBox="1"/>
          <p:nvPr/>
        </p:nvSpPr>
        <p:spPr>
          <a:xfrm>
            <a:off x="354330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Executed across all users</a:t>
            </a:r>
            <a:endParaRPr lang="en-US" sz="850" dirty="0"/>
          </a:p>
        </p:txBody>
      </p:sp>
      <p:sp>
        <p:nvSpPr>
          <p:cNvPr id="61" name="Text 56"/>
          <p:cNvSpPr txBox="1"/>
          <p:nvPr/>
        </p:nvSpPr>
        <p:spPr>
          <a:xfrm>
            <a:off x="497890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62" name="Shape 57"/>
          <p:cNvSpPr/>
          <p:nvPr/>
        </p:nvSpPr>
        <p:spPr>
          <a:xfrm>
            <a:off x="6190488" y="1408176"/>
            <a:ext cx="45720" cy="1554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630021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KYC STATUS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619048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6190488" y="170078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635508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61</a:t>
            </a:r>
            <a:endParaRPr lang="en-US" sz="2400" dirty="0"/>
          </a:p>
        </p:txBody>
      </p:sp>
      <p:sp>
        <p:nvSpPr>
          <p:cNvPr id="67" name="Text 62"/>
          <p:cNvSpPr txBox="1"/>
          <p:nvPr/>
        </p:nvSpPr>
        <p:spPr>
          <a:xfrm>
            <a:off x="635508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onboarded</a:t>
            </a:r>
            <a:endParaRPr lang="en-US" sz="1050" dirty="0"/>
          </a:p>
        </p:txBody>
      </p:sp>
      <p:sp>
        <p:nvSpPr>
          <p:cNvPr id="68" name="Text 63"/>
          <p:cNvSpPr txBox="1"/>
          <p:nvPr/>
        </p:nvSpPr>
        <p:spPr>
          <a:xfrm>
            <a:off x="635508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Completed signup and verification</a:t>
            </a:r>
            <a:endParaRPr lang="en-US" sz="850" dirty="0"/>
          </a:p>
        </p:txBody>
      </p:sp>
      <p:sp>
        <p:nvSpPr>
          <p:cNvPr id="69" name="Text 64"/>
          <p:cNvSpPr txBox="1"/>
          <p:nvPr/>
        </p:nvSpPr>
        <p:spPr>
          <a:xfrm>
            <a:off x="779068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70" name="Shape 65"/>
          <p:cNvSpPr/>
          <p:nvPr/>
        </p:nvSpPr>
        <p:spPr>
          <a:xfrm>
            <a:off x="619048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6190488" y="279806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2" name="Text 67"/>
          <p:cNvSpPr txBox="1"/>
          <p:nvPr/>
        </p:nvSpPr>
        <p:spPr>
          <a:xfrm>
            <a:off x="635508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70</a:t>
            </a:r>
            <a:endParaRPr lang="en-US" sz="2400" dirty="0"/>
          </a:p>
        </p:txBody>
      </p:sp>
      <p:sp>
        <p:nvSpPr>
          <p:cNvPr id="73" name="Text 68"/>
          <p:cNvSpPr txBox="1"/>
          <p:nvPr/>
        </p:nvSpPr>
        <p:spPr>
          <a:xfrm>
            <a:off x="635508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Incomplete KYC</a:t>
            </a:r>
            <a:endParaRPr lang="en-US" sz="1050" dirty="0"/>
          </a:p>
        </p:txBody>
      </p:sp>
      <p:sp>
        <p:nvSpPr>
          <p:cNvPr id="74" name="Text 69"/>
          <p:cNvSpPr txBox="1"/>
          <p:nvPr/>
        </p:nvSpPr>
        <p:spPr>
          <a:xfrm>
            <a:off x="635508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Started KYC but did not proceed</a:t>
            </a:r>
            <a:endParaRPr lang="en-US" sz="850" dirty="0"/>
          </a:p>
        </p:txBody>
      </p:sp>
      <p:sp>
        <p:nvSpPr>
          <p:cNvPr id="75" name="Text 70"/>
          <p:cNvSpPr txBox="1"/>
          <p:nvPr/>
        </p:nvSpPr>
        <p:spPr>
          <a:xfrm>
            <a:off x="779068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5303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76" name="Shape 71"/>
          <p:cNvSpPr/>
          <p:nvPr/>
        </p:nvSpPr>
        <p:spPr>
          <a:xfrm>
            <a:off x="619048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6190488" y="389534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8" name="Text 73"/>
          <p:cNvSpPr txBox="1"/>
          <p:nvPr/>
        </p:nvSpPr>
        <p:spPr>
          <a:xfrm>
            <a:off x="635508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</a:t>
            </a:r>
            <a:endParaRPr lang="en-US" sz="2400" dirty="0"/>
          </a:p>
        </p:txBody>
      </p:sp>
      <p:sp>
        <p:nvSpPr>
          <p:cNvPr id="79" name="Text 74"/>
          <p:cNvSpPr txBox="1"/>
          <p:nvPr/>
        </p:nvSpPr>
        <p:spPr>
          <a:xfrm>
            <a:off x="635508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Rejected KYC</a:t>
            </a:r>
            <a:endParaRPr lang="en-US" sz="1050" dirty="0"/>
          </a:p>
        </p:txBody>
      </p:sp>
      <p:sp>
        <p:nvSpPr>
          <p:cNvPr id="80" name="Text 75"/>
          <p:cNvSpPr txBox="1"/>
          <p:nvPr/>
        </p:nvSpPr>
        <p:spPr>
          <a:xfrm>
            <a:off x="635508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Resubmission required</a:t>
            </a:r>
            <a:endParaRPr lang="en-US" sz="850" dirty="0"/>
          </a:p>
        </p:txBody>
      </p:sp>
      <p:sp>
        <p:nvSpPr>
          <p:cNvPr id="81" name="Text 76"/>
          <p:cNvSpPr txBox="1"/>
          <p:nvPr/>
        </p:nvSpPr>
        <p:spPr>
          <a:xfrm>
            <a:off x="779068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82" name="Shape 77"/>
          <p:cNvSpPr/>
          <p:nvPr/>
        </p:nvSpPr>
        <p:spPr>
          <a:xfrm>
            <a:off x="619048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6190488" y="499262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4" name="Text 79"/>
          <p:cNvSpPr txBox="1"/>
          <p:nvPr/>
        </p:nvSpPr>
        <p:spPr>
          <a:xfrm>
            <a:off x="635508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141</a:t>
            </a:r>
            <a:endParaRPr lang="en-US" sz="2400" dirty="0"/>
          </a:p>
        </p:txBody>
      </p:sp>
      <p:sp>
        <p:nvSpPr>
          <p:cNvPr id="85" name="Text 80"/>
          <p:cNvSpPr txBox="1"/>
          <p:nvPr/>
        </p:nvSpPr>
        <p:spPr>
          <a:xfrm>
            <a:off x="635508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KYC applications</a:t>
            </a:r>
            <a:endParaRPr lang="en-US" sz="1050" dirty="0"/>
          </a:p>
        </p:txBody>
      </p:sp>
      <p:sp>
        <p:nvSpPr>
          <p:cNvPr id="86" name="Text 81"/>
          <p:cNvSpPr txBox="1"/>
          <p:nvPr/>
        </p:nvSpPr>
        <p:spPr>
          <a:xfrm>
            <a:off x="635508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Onboarded + incomplete + rejected</a:t>
            </a:r>
            <a:endParaRPr lang="en-US" sz="850" dirty="0"/>
          </a:p>
        </p:txBody>
      </p:sp>
      <p:sp>
        <p:nvSpPr>
          <p:cNvPr id="87" name="Shape 82"/>
          <p:cNvSpPr/>
          <p:nvPr/>
        </p:nvSpPr>
        <p:spPr>
          <a:xfrm>
            <a:off x="9002268" y="1408176"/>
            <a:ext cx="45720" cy="155448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88" name="Text 83"/>
          <p:cNvSpPr txBox="1"/>
          <p:nvPr/>
        </p:nvSpPr>
        <p:spPr>
          <a:xfrm>
            <a:off x="911199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SUPPORT TICKETS</a:t>
            </a:r>
            <a:endParaRPr lang="en-US" sz="900" dirty="0"/>
          </a:p>
        </p:txBody>
      </p:sp>
      <p:sp>
        <p:nvSpPr>
          <p:cNvPr id="89" name="Shape 84"/>
          <p:cNvSpPr/>
          <p:nvPr/>
        </p:nvSpPr>
        <p:spPr>
          <a:xfrm>
            <a:off x="900226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9002268" y="170078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1" name="Text 86"/>
          <p:cNvSpPr txBox="1"/>
          <p:nvPr/>
        </p:nvSpPr>
        <p:spPr>
          <a:xfrm>
            <a:off x="916686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27</a:t>
            </a:r>
            <a:endParaRPr lang="en-US" sz="2400" dirty="0"/>
          </a:p>
        </p:txBody>
      </p:sp>
      <p:sp>
        <p:nvSpPr>
          <p:cNvPr id="92" name="Text 87"/>
          <p:cNvSpPr txBox="1"/>
          <p:nvPr/>
        </p:nvSpPr>
        <p:spPr>
          <a:xfrm>
            <a:off x="916686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created</a:t>
            </a:r>
            <a:endParaRPr lang="en-US" sz="1050" dirty="0"/>
          </a:p>
        </p:txBody>
      </p:sp>
      <p:sp>
        <p:nvSpPr>
          <p:cNvPr id="93" name="Text 88"/>
          <p:cNvSpPr txBox="1"/>
          <p:nvPr/>
        </p:nvSpPr>
        <p:spPr>
          <a:xfrm>
            <a:off x="916686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94" name="Text 89"/>
          <p:cNvSpPr txBox="1"/>
          <p:nvPr/>
        </p:nvSpPr>
        <p:spPr>
          <a:xfrm>
            <a:off x="1060246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95" name="Shape 90"/>
          <p:cNvSpPr/>
          <p:nvPr/>
        </p:nvSpPr>
        <p:spPr>
          <a:xfrm>
            <a:off x="900226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9002268" y="279806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7" name="Text 92"/>
          <p:cNvSpPr txBox="1"/>
          <p:nvPr/>
        </p:nvSpPr>
        <p:spPr>
          <a:xfrm>
            <a:off x="916686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27</a:t>
            </a:r>
            <a:endParaRPr lang="en-US" sz="2400" dirty="0"/>
          </a:p>
        </p:txBody>
      </p:sp>
      <p:sp>
        <p:nvSpPr>
          <p:cNvPr id="98" name="Text 93"/>
          <p:cNvSpPr txBox="1"/>
          <p:nvPr/>
        </p:nvSpPr>
        <p:spPr>
          <a:xfrm>
            <a:off x="916686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resolved</a:t>
            </a:r>
            <a:endParaRPr lang="en-US" sz="1050" dirty="0"/>
          </a:p>
        </p:txBody>
      </p:sp>
      <p:sp>
        <p:nvSpPr>
          <p:cNvPr id="99" name="Text 94"/>
          <p:cNvSpPr txBox="1"/>
          <p:nvPr/>
        </p:nvSpPr>
        <p:spPr>
          <a:xfrm>
            <a:off x="916686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100% of tickets created</a:t>
            </a:r>
            <a:endParaRPr lang="en-US" sz="850" dirty="0"/>
          </a:p>
        </p:txBody>
      </p:sp>
      <p:sp>
        <p:nvSpPr>
          <p:cNvPr id="100" name="Text 95"/>
          <p:cNvSpPr txBox="1"/>
          <p:nvPr/>
        </p:nvSpPr>
        <p:spPr>
          <a:xfrm>
            <a:off x="1060246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101" name="Shape 96"/>
          <p:cNvSpPr/>
          <p:nvPr/>
        </p:nvSpPr>
        <p:spPr>
          <a:xfrm>
            <a:off x="900226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9002268" y="389534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3" name="Text 98"/>
          <p:cNvSpPr txBox="1"/>
          <p:nvPr/>
        </p:nvSpPr>
        <p:spPr>
          <a:xfrm>
            <a:off x="916686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6</a:t>
            </a:r>
            <a:endParaRPr lang="en-US" sz="2400" dirty="0"/>
          </a:p>
        </p:txBody>
      </p:sp>
      <p:sp>
        <p:nvSpPr>
          <p:cNvPr id="104" name="Text 99"/>
          <p:cNvSpPr txBox="1"/>
          <p:nvPr/>
        </p:nvSpPr>
        <p:spPr>
          <a:xfrm>
            <a:off x="916686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Email queries</a:t>
            </a:r>
            <a:endParaRPr lang="en-US" sz="1050" dirty="0"/>
          </a:p>
        </p:txBody>
      </p:sp>
      <p:sp>
        <p:nvSpPr>
          <p:cNvPr id="105" name="Text 100"/>
          <p:cNvSpPr txBox="1"/>
          <p:nvPr/>
        </p:nvSpPr>
        <p:spPr>
          <a:xfrm>
            <a:off x="916686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06" name="Text 101"/>
          <p:cNvSpPr txBox="1"/>
          <p:nvPr/>
        </p:nvSpPr>
        <p:spPr>
          <a:xfrm>
            <a:off x="1060246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7" name="Shape 102"/>
          <p:cNvSpPr/>
          <p:nvPr/>
        </p:nvSpPr>
        <p:spPr>
          <a:xfrm>
            <a:off x="900226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9002268" y="499262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9" name="Text 104"/>
          <p:cNvSpPr txBox="1"/>
          <p:nvPr/>
        </p:nvSpPr>
        <p:spPr>
          <a:xfrm>
            <a:off x="916686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21</a:t>
            </a:r>
            <a:endParaRPr lang="en-US" sz="2400" dirty="0"/>
          </a:p>
        </p:txBody>
      </p:sp>
      <p:sp>
        <p:nvSpPr>
          <p:cNvPr id="110" name="Text 105"/>
          <p:cNvSpPr txBox="1"/>
          <p:nvPr/>
        </p:nvSpPr>
        <p:spPr>
          <a:xfrm>
            <a:off x="916686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AI support queries</a:t>
            </a:r>
            <a:endParaRPr lang="en-US" sz="1050" dirty="0"/>
          </a:p>
        </p:txBody>
      </p:sp>
      <p:sp>
        <p:nvSpPr>
          <p:cNvPr id="111" name="Text 106"/>
          <p:cNvSpPr txBox="1"/>
          <p:nvPr/>
        </p:nvSpPr>
        <p:spPr>
          <a:xfrm>
            <a:off x="916686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12" name="Text 107"/>
          <p:cNvSpPr txBox="1"/>
          <p:nvPr/>
        </p:nvSpPr>
        <p:spPr>
          <a:xfrm>
            <a:off x="1060246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atemIsa_202508993_IT9002_NLP_Project/emyaa-ceo-deck/working/charts/board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188720"/>
            <a:ext cx="12191695" cy="24689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66928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F3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PLATFORM ANALYTICS  |  PERFORMANCE DASHBOARD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57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 date: 27 Sep 2026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868680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6CFE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Reporting period: All Time   |   Change on each card is against the previous report, 24 Sep 2026</a:t>
            </a:r>
            <a:endParaRPr lang="en-US" sz="1000" dirty="0"/>
          </a:p>
        </p:txBody>
      </p:sp>
      <p:pic>
        <p:nvPicPr>
          <p:cNvPr id="7" name="Image 1" descr="/home/user/HatemIsa_202508993_IT9002_NLP_Project/emyaa-ceo-deck/working/charts/ajy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02336"/>
            <a:ext cx="13258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" y="6272784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Source: eMYAA Daily Performance Dashboard, eMYAA_-_Daily_Performance_Dashboard-1.pdf, page 3.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eMYAA Trading Platform  |  Daily Performance Dashboard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9802368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6</a:t>
            </a:r>
            <a:endParaRPr lang="en-US" sz="800" dirty="0"/>
          </a:p>
        </p:txBody>
      </p:sp>
      <p:pic>
        <p:nvPicPr>
          <p:cNvPr id="11" name="Image 2" descr="/home/user/HatemIsa_202508993_IT9002_NLP_Project/emyaa-ceo-deck/working/charts/emyaa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6336792"/>
            <a:ext cx="1024128" cy="3657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66928" y="1408176"/>
            <a:ext cx="45720" cy="155448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665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DOWNLOADS &amp; RATINGS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6692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66928" y="170078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152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259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downloads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 Store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216712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6692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66928" y="279806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3152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214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73152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downloads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73152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Apple App Store</a:t>
            </a:r>
            <a:endParaRPr lang="en-US" sz="850" dirty="0"/>
          </a:p>
        </p:txBody>
      </p:sp>
      <p:sp>
        <p:nvSpPr>
          <p:cNvPr id="25" name="Text 20"/>
          <p:cNvSpPr txBox="1"/>
          <p:nvPr/>
        </p:nvSpPr>
        <p:spPr>
          <a:xfrm>
            <a:off x="216712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+17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6692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66928" y="389534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3152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29" name="Text 24"/>
          <p:cNvSpPr txBox="1"/>
          <p:nvPr/>
        </p:nvSpPr>
        <p:spPr>
          <a:xfrm>
            <a:off x="73152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app rating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73152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Play, 2 reviews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56692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66928" y="499262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3152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34" name="Text 29"/>
          <p:cNvSpPr txBox="1"/>
          <p:nvPr/>
        </p:nvSpPr>
        <p:spPr>
          <a:xfrm>
            <a:off x="73152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app rating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73152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 Store, 2 reviews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3378708" y="1408176"/>
            <a:ext cx="45720" cy="155448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48843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 ACTIVITY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337870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3378708" y="170078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354330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15</a:t>
            </a:r>
            <a:endParaRPr lang="en-US" sz="2400" dirty="0"/>
          </a:p>
        </p:txBody>
      </p:sp>
      <p:sp>
        <p:nvSpPr>
          <p:cNvPr id="41" name="Text 36"/>
          <p:cNvSpPr txBox="1"/>
          <p:nvPr/>
        </p:nvSpPr>
        <p:spPr>
          <a:xfrm>
            <a:off x="354330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deposited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354330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Funded accounts</a:t>
            </a:r>
            <a:endParaRPr lang="en-US" sz="850" dirty="0"/>
          </a:p>
        </p:txBody>
      </p:sp>
      <p:sp>
        <p:nvSpPr>
          <p:cNvPr id="43" name="Text 38"/>
          <p:cNvSpPr txBox="1"/>
          <p:nvPr/>
        </p:nvSpPr>
        <p:spPr>
          <a:xfrm>
            <a:off x="497890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337870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3378708" y="279806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354330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$10,029.69</a:t>
            </a:r>
            <a:endParaRPr lang="en-US" sz="1900" dirty="0"/>
          </a:p>
        </p:txBody>
      </p:sp>
      <p:sp>
        <p:nvSpPr>
          <p:cNvPr id="47" name="Text 42"/>
          <p:cNvSpPr txBox="1"/>
          <p:nvPr/>
        </p:nvSpPr>
        <p:spPr>
          <a:xfrm>
            <a:off x="354330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AUM</a:t>
            </a:r>
            <a:endParaRPr lang="en-US" sz="1050" dirty="0"/>
          </a:p>
        </p:txBody>
      </p:sp>
      <p:sp>
        <p:nvSpPr>
          <p:cNvPr id="48" name="Text 43"/>
          <p:cNvSpPr txBox="1"/>
          <p:nvPr/>
        </p:nvSpPr>
        <p:spPr>
          <a:xfrm>
            <a:off x="354330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Cumulative platform deposits</a:t>
            </a:r>
            <a:endParaRPr lang="en-US" sz="850" dirty="0"/>
          </a:p>
        </p:txBody>
      </p:sp>
      <p:sp>
        <p:nvSpPr>
          <p:cNvPr id="49" name="Text 44"/>
          <p:cNvSpPr txBox="1"/>
          <p:nvPr/>
        </p:nvSpPr>
        <p:spPr>
          <a:xfrm>
            <a:off x="497890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337870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3378708" y="389534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354330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15</a:t>
            </a:r>
            <a:endParaRPr lang="en-US" sz="2400" dirty="0"/>
          </a:p>
        </p:txBody>
      </p:sp>
      <p:sp>
        <p:nvSpPr>
          <p:cNvPr id="53" name="Text 48"/>
          <p:cNvSpPr txBox="1"/>
          <p:nvPr/>
        </p:nvSpPr>
        <p:spPr>
          <a:xfrm>
            <a:off x="354330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traded</a:t>
            </a:r>
            <a:endParaRPr lang="en-US" sz="1050" dirty="0"/>
          </a:p>
        </p:txBody>
      </p:sp>
      <p:sp>
        <p:nvSpPr>
          <p:cNvPr id="54" name="Text 49"/>
          <p:cNvSpPr txBox="1"/>
          <p:nvPr/>
        </p:nvSpPr>
        <p:spPr>
          <a:xfrm>
            <a:off x="354330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Placed at least 1 trade</a:t>
            </a:r>
            <a:endParaRPr lang="en-US" sz="850" dirty="0"/>
          </a:p>
        </p:txBody>
      </p:sp>
      <p:sp>
        <p:nvSpPr>
          <p:cNvPr id="55" name="Text 50"/>
          <p:cNvSpPr txBox="1"/>
          <p:nvPr/>
        </p:nvSpPr>
        <p:spPr>
          <a:xfrm>
            <a:off x="497890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6" name="Shape 51"/>
          <p:cNvSpPr/>
          <p:nvPr/>
        </p:nvSpPr>
        <p:spPr>
          <a:xfrm>
            <a:off x="337870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3378708" y="499262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354330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54</a:t>
            </a:r>
            <a:endParaRPr lang="en-US" sz="2400" dirty="0"/>
          </a:p>
        </p:txBody>
      </p:sp>
      <p:sp>
        <p:nvSpPr>
          <p:cNvPr id="59" name="Text 54"/>
          <p:cNvSpPr txBox="1"/>
          <p:nvPr/>
        </p:nvSpPr>
        <p:spPr>
          <a:xfrm>
            <a:off x="354330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trades</a:t>
            </a:r>
            <a:endParaRPr lang="en-US" sz="1050" dirty="0"/>
          </a:p>
        </p:txBody>
      </p:sp>
      <p:sp>
        <p:nvSpPr>
          <p:cNvPr id="60" name="Text 55"/>
          <p:cNvSpPr txBox="1"/>
          <p:nvPr/>
        </p:nvSpPr>
        <p:spPr>
          <a:xfrm>
            <a:off x="354330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Executed across all users</a:t>
            </a:r>
            <a:endParaRPr lang="en-US" sz="850" dirty="0"/>
          </a:p>
        </p:txBody>
      </p:sp>
      <p:sp>
        <p:nvSpPr>
          <p:cNvPr id="61" name="Text 56"/>
          <p:cNvSpPr txBox="1"/>
          <p:nvPr/>
        </p:nvSpPr>
        <p:spPr>
          <a:xfrm>
            <a:off x="497890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+3</a:t>
            </a:r>
            <a:endParaRPr lang="en-US" sz="850" dirty="0"/>
          </a:p>
        </p:txBody>
      </p:sp>
      <p:sp>
        <p:nvSpPr>
          <p:cNvPr id="62" name="Shape 57"/>
          <p:cNvSpPr/>
          <p:nvPr/>
        </p:nvSpPr>
        <p:spPr>
          <a:xfrm>
            <a:off x="6190488" y="1408176"/>
            <a:ext cx="45720" cy="1554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630021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KYC STATUS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619048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6190488" y="170078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635508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60</a:t>
            </a:r>
            <a:endParaRPr lang="en-US" sz="2400" dirty="0"/>
          </a:p>
        </p:txBody>
      </p:sp>
      <p:sp>
        <p:nvSpPr>
          <p:cNvPr id="67" name="Text 62"/>
          <p:cNvSpPr txBox="1"/>
          <p:nvPr/>
        </p:nvSpPr>
        <p:spPr>
          <a:xfrm>
            <a:off x="635508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onboarded</a:t>
            </a:r>
            <a:endParaRPr lang="en-US" sz="1050" dirty="0"/>
          </a:p>
        </p:txBody>
      </p:sp>
      <p:sp>
        <p:nvSpPr>
          <p:cNvPr id="68" name="Text 63"/>
          <p:cNvSpPr txBox="1"/>
          <p:nvPr/>
        </p:nvSpPr>
        <p:spPr>
          <a:xfrm>
            <a:off x="635508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Completed signup and verification</a:t>
            </a:r>
            <a:endParaRPr lang="en-US" sz="850" dirty="0"/>
          </a:p>
        </p:txBody>
      </p:sp>
      <p:sp>
        <p:nvSpPr>
          <p:cNvPr id="69" name="Text 64"/>
          <p:cNvSpPr txBox="1"/>
          <p:nvPr/>
        </p:nvSpPr>
        <p:spPr>
          <a:xfrm>
            <a:off x="779068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+3</a:t>
            </a:r>
            <a:endParaRPr lang="en-US" sz="850" dirty="0"/>
          </a:p>
        </p:txBody>
      </p:sp>
      <p:sp>
        <p:nvSpPr>
          <p:cNvPr id="70" name="Shape 65"/>
          <p:cNvSpPr/>
          <p:nvPr/>
        </p:nvSpPr>
        <p:spPr>
          <a:xfrm>
            <a:off x="619048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6190488" y="279806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2" name="Text 67"/>
          <p:cNvSpPr txBox="1"/>
          <p:nvPr/>
        </p:nvSpPr>
        <p:spPr>
          <a:xfrm>
            <a:off x="635508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69</a:t>
            </a:r>
            <a:endParaRPr lang="en-US" sz="2400" dirty="0"/>
          </a:p>
        </p:txBody>
      </p:sp>
      <p:sp>
        <p:nvSpPr>
          <p:cNvPr id="73" name="Text 68"/>
          <p:cNvSpPr txBox="1"/>
          <p:nvPr/>
        </p:nvSpPr>
        <p:spPr>
          <a:xfrm>
            <a:off x="635508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Incomplete KYC</a:t>
            </a:r>
            <a:endParaRPr lang="en-US" sz="1050" dirty="0"/>
          </a:p>
        </p:txBody>
      </p:sp>
      <p:sp>
        <p:nvSpPr>
          <p:cNvPr id="74" name="Text 69"/>
          <p:cNvSpPr txBox="1"/>
          <p:nvPr/>
        </p:nvSpPr>
        <p:spPr>
          <a:xfrm>
            <a:off x="635508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Started KYC but did not proceed</a:t>
            </a:r>
            <a:endParaRPr lang="en-US" sz="850" dirty="0"/>
          </a:p>
        </p:txBody>
      </p:sp>
      <p:sp>
        <p:nvSpPr>
          <p:cNvPr id="75" name="Text 70"/>
          <p:cNvSpPr txBox="1"/>
          <p:nvPr/>
        </p:nvSpPr>
        <p:spPr>
          <a:xfrm>
            <a:off x="779068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5303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+2</a:t>
            </a:r>
            <a:endParaRPr lang="en-US" sz="850" dirty="0"/>
          </a:p>
        </p:txBody>
      </p:sp>
      <p:sp>
        <p:nvSpPr>
          <p:cNvPr id="76" name="Shape 71"/>
          <p:cNvSpPr/>
          <p:nvPr/>
        </p:nvSpPr>
        <p:spPr>
          <a:xfrm>
            <a:off x="619048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6190488" y="389534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8" name="Text 73"/>
          <p:cNvSpPr txBox="1"/>
          <p:nvPr/>
        </p:nvSpPr>
        <p:spPr>
          <a:xfrm>
            <a:off x="635508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</a:t>
            </a:r>
            <a:endParaRPr lang="en-US" sz="2400" dirty="0"/>
          </a:p>
        </p:txBody>
      </p:sp>
      <p:sp>
        <p:nvSpPr>
          <p:cNvPr id="79" name="Text 74"/>
          <p:cNvSpPr txBox="1"/>
          <p:nvPr/>
        </p:nvSpPr>
        <p:spPr>
          <a:xfrm>
            <a:off x="635508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Rejected KYC</a:t>
            </a:r>
            <a:endParaRPr lang="en-US" sz="1050" dirty="0"/>
          </a:p>
        </p:txBody>
      </p:sp>
      <p:sp>
        <p:nvSpPr>
          <p:cNvPr id="80" name="Text 75"/>
          <p:cNvSpPr txBox="1"/>
          <p:nvPr/>
        </p:nvSpPr>
        <p:spPr>
          <a:xfrm>
            <a:off x="635508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Resubmission required</a:t>
            </a:r>
            <a:endParaRPr lang="en-US" sz="850" dirty="0"/>
          </a:p>
        </p:txBody>
      </p:sp>
      <p:sp>
        <p:nvSpPr>
          <p:cNvPr id="81" name="Text 76"/>
          <p:cNvSpPr txBox="1"/>
          <p:nvPr/>
        </p:nvSpPr>
        <p:spPr>
          <a:xfrm>
            <a:off x="779068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82" name="Shape 77"/>
          <p:cNvSpPr/>
          <p:nvPr/>
        </p:nvSpPr>
        <p:spPr>
          <a:xfrm>
            <a:off x="619048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6190488" y="499262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4" name="Text 79"/>
          <p:cNvSpPr txBox="1"/>
          <p:nvPr/>
        </p:nvSpPr>
        <p:spPr>
          <a:xfrm>
            <a:off x="635508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139</a:t>
            </a:r>
            <a:endParaRPr lang="en-US" sz="2400" dirty="0"/>
          </a:p>
        </p:txBody>
      </p:sp>
      <p:sp>
        <p:nvSpPr>
          <p:cNvPr id="85" name="Text 80"/>
          <p:cNvSpPr txBox="1"/>
          <p:nvPr/>
        </p:nvSpPr>
        <p:spPr>
          <a:xfrm>
            <a:off x="635508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KYC applications</a:t>
            </a:r>
            <a:endParaRPr lang="en-US" sz="1050" dirty="0"/>
          </a:p>
        </p:txBody>
      </p:sp>
      <p:sp>
        <p:nvSpPr>
          <p:cNvPr id="86" name="Text 81"/>
          <p:cNvSpPr txBox="1"/>
          <p:nvPr/>
        </p:nvSpPr>
        <p:spPr>
          <a:xfrm>
            <a:off x="635508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Onboarded + incomplete + rejected</a:t>
            </a:r>
            <a:endParaRPr lang="en-US" sz="850" dirty="0"/>
          </a:p>
        </p:txBody>
      </p:sp>
      <p:sp>
        <p:nvSpPr>
          <p:cNvPr id="87" name="Shape 82"/>
          <p:cNvSpPr/>
          <p:nvPr/>
        </p:nvSpPr>
        <p:spPr>
          <a:xfrm>
            <a:off x="9002268" y="1408176"/>
            <a:ext cx="45720" cy="155448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88" name="Text 83"/>
          <p:cNvSpPr txBox="1"/>
          <p:nvPr/>
        </p:nvSpPr>
        <p:spPr>
          <a:xfrm>
            <a:off x="911199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SUPPORT TICKETS</a:t>
            </a:r>
            <a:endParaRPr lang="en-US" sz="900" dirty="0"/>
          </a:p>
        </p:txBody>
      </p:sp>
      <p:sp>
        <p:nvSpPr>
          <p:cNvPr id="89" name="Shape 84"/>
          <p:cNvSpPr/>
          <p:nvPr/>
        </p:nvSpPr>
        <p:spPr>
          <a:xfrm>
            <a:off x="900226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9002268" y="170078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1" name="Text 86"/>
          <p:cNvSpPr txBox="1"/>
          <p:nvPr/>
        </p:nvSpPr>
        <p:spPr>
          <a:xfrm>
            <a:off x="916686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27</a:t>
            </a:r>
            <a:endParaRPr lang="en-US" sz="2400" dirty="0"/>
          </a:p>
        </p:txBody>
      </p:sp>
      <p:sp>
        <p:nvSpPr>
          <p:cNvPr id="92" name="Text 87"/>
          <p:cNvSpPr txBox="1"/>
          <p:nvPr/>
        </p:nvSpPr>
        <p:spPr>
          <a:xfrm>
            <a:off x="916686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created</a:t>
            </a:r>
            <a:endParaRPr lang="en-US" sz="1050" dirty="0"/>
          </a:p>
        </p:txBody>
      </p:sp>
      <p:sp>
        <p:nvSpPr>
          <p:cNvPr id="93" name="Text 88"/>
          <p:cNvSpPr txBox="1"/>
          <p:nvPr/>
        </p:nvSpPr>
        <p:spPr>
          <a:xfrm>
            <a:off x="916686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94" name="Text 89"/>
          <p:cNvSpPr txBox="1"/>
          <p:nvPr/>
        </p:nvSpPr>
        <p:spPr>
          <a:xfrm>
            <a:off x="1060246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+2</a:t>
            </a:r>
            <a:endParaRPr lang="en-US" sz="850" dirty="0"/>
          </a:p>
        </p:txBody>
      </p:sp>
      <p:sp>
        <p:nvSpPr>
          <p:cNvPr id="95" name="Shape 90"/>
          <p:cNvSpPr/>
          <p:nvPr/>
        </p:nvSpPr>
        <p:spPr>
          <a:xfrm>
            <a:off x="900226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9002268" y="279806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7" name="Text 92"/>
          <p:cNvSpPr txBox="1"/>
          <p:nvPr/>
        </p:nvSpPr>
        <p:spPr>
          <a:xfrm>
            <a:off x="916686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26</a:t>
            </a:r>
            <a:endParaRPr lang="en-US" sz="2400" dirty="0"/>
          </a:p>
        </p:txBody>
      </p:sp>
      <p:sp>
        <p:nvSpPr>
          <p:cNvPr id="98" name="Text 93"/>
          <p:cNvSpPr txBox="1"/>
          <p:nvPr/>
        </p:nvSpPr>
        <p:spPr>
          <a:xfrm>
            <a:off x="916686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resolved</a:t>
            </a:r>
            <a:endParaRPr lang="en-US" sz="1050" dirty="0"/>
          </a:p>
        </p:txBody>
      </p:sp>
      <p:sp>
        <p:nvSpPr>
          <p:cNvPr id="99" name="Text 94"/>
          <p:cNvSpPr txBox="1"/>
          <p:nvPr/>
        </p:nvSpPr>
        <p:spPr>
          <a:xfrm>
            <a:off x="916686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96% of tickets created</a:t>
            </a:r>
            <a:endParaRPr lang="en-US" sz="850" dirty="0"/>
          </a:p>
        </p:txBody>
      </p:sp>
      <p:sp>
        <p:nvSpPr>
          <p:cNvPr id="100" name="Text 95"/>
          <p:cNvSpPr txBox="1"/>
          <p:nvPr/>
        </p:nvSpPr>
        <p:spPr>
          <a:xfrm>
            <a:off x="1060246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101" name="Shape 96"/>
          <p:cNvSpPr/>
          <p:nvPr/>
        </p:nvSpPr>
        <p:spPr>
          <a:xfrm>
            <a:off x="900226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9002268" y="389534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3" name="Text 98"/>
          <p:cNvSpPr txBox="1"/>
          <p:nvPr/>
        </p:nvSpPr>
        <p:spPr>
          <a:xfrm>
            <a:off x="916686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6</a:t>
            </a:r>
            <a:endParaRPr lang="en-US" sz="2400" dirty="0"/>
          </a:p>
        </p:txBody>
      </p:sp>
      <p:sp>
        <p:nvSpPr>
          <p:cNvPr id="104" name="Text 99"/>
          <p:cNvSpPr txBox="1"/>
          <p:nvPr/>
        </p:nvSpPr>
        <p:spPr>
          <a:xfrm>
            <a:off x="916686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Email queries</a:t>
            </a:r>
            <a:endParaRPr lang="en-US" sz="1050" dirty="0"/>
          </a:p>
        </p:txBody>
      </p:sp>
      <p:sp>
        <p:nvSpPr>
          <p:cNvPr id="105" name="Text 100"/>
          <p:cNvSpPr txBox="1"/>
          <p:nvPr/>
        </p:nvSpPr>
        <p:spPr>
          <a:xfrm>
            <a:off x="916686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06" name="Text 101"/>
          <p:cNvSpPr txBox="1"/>
          <p:nvPr/>
        </p:nvSpPr>
        <p:spPr>
          <a:xfrm>
            <a:off x="1060246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+2</a:t>
            </a:r>
            <a:endParaRPr lang="en-US" sz="850" dirty="0"/>
          </a:p>
        </p:txBody>
      </p:sp>
      <p:sp>
        <p:nvSpPr>
          <p:cNvPr id="107" name="Shape 102"/>
          <p:cNvSpPr/>
          <p:nvPr/>
        </p:nvSpPr>
        <p:spPr>
          <a:xfrm>
            <a:off x="900226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9002268" y="499262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9" name="Text 104"/>
          <p:cNvSpPr txBox="1"/>
          <p:nvPr/>
        </p:nvSpPr>
        <p:spPr>
          <a:xfrm>
            <a:off x="916686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21</a:t>
            </a:r>
            <a:endParaRPr lang="en-US" sz="2400" dirty="0"/>
          </a:p>
        </p:txBody>
      </p:sp>
      <p:sp>
        <p:nvSpPr>
          <p:cNvPr id="110" name="Text 105"/>
          <p:cNvSpPr txBox="1"/>
          <p:nvPr/>
        </p:nvSpPr>
        <p:spPr>
          <a:xfrm>
            <a:off x="916686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AI support queries</a:t>
            </a:r>
            <a:endParaRPr lang="en-US" sz="1050" dirty="0"/>
          </a:p>
        </p:txBody>
      </p:sp>
      <p:sp>
        <p:nvSpPr>
          <p:cNvPr id="111" name="Text 106"/>
          <p:cNvSpPr txBox="1"/>
          <p:nvPr/>
        </p:nvSpPr>
        <p:spPr>
          <a:xfrm>
            <a:off x="916686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12" name="Text 107"/>
          <p:cNvSpPr txBox="1"/>
          <p:nvPr/>
        </p:nvSpPr>
        <p:spPr>
          <a:xfrm>
            <a:off x="1060246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atemIsa_202508993_IT9002_NLP_Project/emyaa-ceo-deck/working/charts/board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188720"/>
            <a:ext cx="12191695" cy="24689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66928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F3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PLATFORM ANALYTICS  |  PERFORMANCE DASHBOARD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57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 date: 24 Sep 2026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868680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6CFE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Reporting period: All Time   |   Change on each card is against the previous report, 23 Sep 2026</a:t>
            </a:r>
            <a:endParaRPr lang="en-US" sz="1000" dirty="0"/>
          </a:p>
        </p:txBody>
      </p:sp>
      <p:pic>
        <p:nvPicPr>
          <p:cNvPr id="7" name="Image 1" descr="/home/user/HatemIsa_202508993_IT9002_NLP_Project/emyaa-ceo-deck/working/charts/ajy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02336"/>
            <a:ext cx="13258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" y="6272784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Source: eMYAA Daily Performance Dashboard, eMYAA_-_Daily_Performance_Dashboard-1.pdf, page 4.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eMYAA Trading Platform  |  Daily Performance Dashboard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9802368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7</a:t>
            </a:r>
            <a:endParaRPr lang="en-US" sz="800" dirty="0"/>
          </a:p>
        </p:txBody>
      </p:sp>
      <p:pic>
        <p:nvPicPr>
          <p:cNvPr id="11" name="Image 2" descr="/home/user/HatemIsa_202508993_IT9002_NLP_Project/emyaa-ceo-deck/working/charts/emyaa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6336792"/>
            <a:ext cx="1024128" cy="3657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66928" y="1408176"/>
            <a:ext cx="45720" cy="155448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665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DOWNLOADS &amp; RATINGS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6692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66928" y="170078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152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258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downloads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 Store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216712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6692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66928" y="279806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3152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197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73152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downloads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73152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Apple App Store</a:t>
            </a:r>
            <a:endParaRPr lang="en-US" sz="850" dirty="0"/>
          </a:p>
        </p:txBody>
      </p:sp>
      <p:sp>
        <p:nvSpPr>
          <p:cNvPr id="25" name="Text 20"/>
          <p:cNvSpPr txBox="1"/>
          <p:nvPr/>
        </p:nvSpPr>
        <p:spPr>
          <a:xfrm>
            <a:off x="216712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6692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66928" y="389534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3152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29" name="Text 24"/>
          <p:cNvSpPr txBox="1"/>
          <p:nvPr/>
        </p:nvSpPr>
        <p:spPr>
          <a:xfrm>
            <a:off x="73152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app rating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73152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Play, 2 reviews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56692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66928" y="499262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3152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34" name="Text 29"/>
          <p:cNvSpPr txBox="1"/>
          <p:nvPr/>
        </p:nvSpPr>
        <p:spPr>
          <a:xfrm>
            <a:off x="73152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app rating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73152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 Store, 2 reviews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3378708" y="1408176"/>
            <a:ext cx="45720" cy="155448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48843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 ACTIVITY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337870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3378708" y="170078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354330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15</a:t>
            </a:r>
            <a:endParaRPr lang="en-US" sz="2400" dirty="0"/>
          </a:p>
        </p:txBody>
      </p:sp>
      <p:sp>
        <p:nvSpPr>
          <p:cNvPr id="41" name="Text 36"/>
          <p:cNvSpPr txBox="1"/>
          <p:nvPr/>
        </p:nvSpPr>
        <p:spPr>
          <a:xfrm>
            <a:off x="354330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deposited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354330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Funded accounts</a:t>
            </a:r>
            <a:endParaRPr lang="en-US" sz="850" dirty="0"/>
          </a:p>
        </p:txBody>
      </p:sp>
      <p:sp>
        <p:nvSpPr>
          <p:cNvPr id="43" name="Text 38"/>
          <p:cNvSpPr txBox="1"/>
          <p:nvPr/>
        </p:nvSpPr>
        <p:spPr>
          <a:xfrm>
            <a:off x="497890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337870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3378708" y="279806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354330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$10,029.69</a:t>
            </a:r>
            <a:endParaRPr lang="en-US" sz="1900" dirty="0"/>
          </a:p>
        </p:txBody>
      </p:sp>
      <p:sp>
        <p:nvSpPr>
          <p:cNvPr id="47" name="Text 42"/>
          <p:cNvSpPr txBox="1"/>
          <p:nvPr/>
        </p:nvSpPr>
        <p:spPr>
          <a:xfrm>
            <a:off x="354330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AUM</a:t>
            </a:r>
            <a:endParaRPr lang="en-US" sz="1050" dirty="0"/>
          </a:p>
        </p:txBody>
      </p:sp>
      <p:sp>
        <p:nvSpPr>
          <p:cNvPr id="48" name="Text 43"/>
          <p:cNvSpPr txBox="1"/>
          <p:nvPr/>
        </p:nvSpPr>
        <p:spPr>
          <a:xfrm>
            <a:off x="354330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Cumulative platform deposits</a:t>
            </a:r>
            <a:endParaRPr lang="en-US" sz="850" dirty="0"/>
          </a:p>
        </p:txBody>
      </p:sp>
      <p:sp>
        <p:nvSpPr>
          <p:cNvPr id="49" name="Text 44"/>
          <p:cNvSpPr txBox="1"/>
          <p:nvPr/>
        </p:nvSpPr>
        <p:spPr>
          <a:xfrm>
            <a:off x="497890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337870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3378708" y="389534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354330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15</a:t>
            </a:r>
            <a:endParaRPr lang="en-US" sz="2400" dirty="0"/>
          </a:p>
        </p:txBody>
      </p:sp>
      <p:sp>
        <p:nvSpPr>
          <p:cNvPr id="53" name="Text 48"/>
          <p:cNvSpPr txBox="1"/>
          <p:nvPr/>
        </p:nvSpPr>
        <p:spPr>
          <a:xfrm>
            <a:off x="354330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traded</a:t>
            </a:r>
            <a:endParaRPr lang="en-US" sz="1050" dirty="0"/>
          </a:p>
        </p:txBody>
      </p:sp>
      <p:sp>
        <p:nvSpPr>
          <p:cNvPr id="54" name="Text 49"/>
          <p:cNvSpPr txBox="1"/>
          <p:nvPr/>
        </p:nvSpPr>
        <p:spPr>
          <a:xfrm>
            <a:off x="354330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Placed at least 1 trade</a:t>
            </a:r>
            <a:endParaRPr lang="en-US" sz="850" dirty="0"/>
          </a:p>
        </p:txBody>
      </p:sp>
      <p:sp>
        <p:nvSpPr>
          <p:cNvPr id="55" name="Text 50"/>
          <p:cNvSpPr txBox="1"/>
          <p:nvPr/>
        </p:nvSpPr>
        <p:spPr>
          <a:xfrm>
            <a:off x="497890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6" name="Shape 51"/>
          <p:cNvSpPr/>
          <p:nvPr/>
        </p:nvSpPr>
        <p:spPr>
          <a:xfrm>
            <a:off x="337870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3378708" y="499262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354330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51</a:t>
            </a:r>
            <a:endParaRPr lang="en-US" sz="2400" dirty="0"/>
          </a:p>
        </p:txBody>
      </p:sp>
      <p:sp>
        <p:nvSpPr>
          <p:cNvPr id="59" name="Text 54"/>
          <p:cNvSpPr txBox="1"/>
          <p:nvPr/>
        </p:nvSpPr>
        <p:spPr>
          <a:xfrm>
            <a:off x="354330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trades</a:t>
            </a:r>
            <a:endParaRPr lang="en-US" sz="1050" dirty="0"/>
          </a:p>
        </p:txBody>
      </p:sp>
      <p:sp>
        <p:nvSpPr>
          <p:cNvPr id="60" name="Text 55"/>
          <p:cNvSpPr txBox="1"/>
          <p:nvPr/>
        </p:nvSpPr>
        <p:spPr>
          <a:xfrm>
            <a:off x="354330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Executed across all users</a:t>
            </a:r>
            <a:endParaRPr lang="en-US" sz="850" dirty="0"/>
          </a:p>
        </p:txBody>
      </p:sp>
      <p:sp>
        <p:nvSpPr>
          <p:cNvPr id="61" name="Text 56"/>
          <p:cNvSpPr txBox="1"/>
          <p:nvPr/>
        </p:nvSpPr>
        <p:spPr>
          <a:xfrm>
            <a:off x="497890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62" name="Shape 57"/>
          <p:cNvSpPr/>
          <p:nvPr/>
        </p:nvSpPr>
        <p:spPr>
          <a:xfrm>
            <a:off x="6190488" y="1408176"/>
            <a:ext cx="45720" cy="1554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630021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KYC STATUS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619048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6190488" y="170078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635508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57</a:t>
            </a:r>
            <a:endParaRPr lang="en-US" sz="2400" dirty="0"/>
          </a:p>
        </p:txBody>
      </p:sp>
      <p:sp>
        <p:nvSpPr>
          <p:cNvPr id="67" name="Text 62"/>
          <p:cNvSpPr txBox="1"/>
          <p:nvPr/>
        </p:nvSpPr>
        <p:spPr>
          <a:xfrm>
            <a:off x="635508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onboarded</a:t>
            </a:r>
            <a:endParaRPr lang="en-US" sz="1050" dirty="0"/>
          </a:p>
        </p:txBody>
      </p:sp>
      <p:sp>
        <p:nvSpPr>
          <p:cNvPr id="68" name="Text 63"/>
          <p:cNvSpPr txBox="1"/>
          <p:nvPr/>
        </p:nvSpPr>
        <p:spPr>
          <a:xfrm>
            <a:off x="635508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Completed signup and verification</a:t>
            </a:r>
            <a:endParaRPr lang="en-US" sz="850" dirty="0"/>
          </a:p>
        </p:txBody>
      </p:sp>
      <p:sp>
        <p:nvSpPr>
          <p:cNvPr id="69" name="Text 64"/>
          <p:cNvSpPr txBox="1"/>
          <p:nvPr/>
        </p:nvSpPr>
        <p:spPr>
          <a:xfrm>
            <a:off x="779068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70" name="Shape 65"/>
          <p:cNvSpPr/>
          <p:nvPr/>
        </p:nvSpPr>
        <p:spPr>
          <a:xfrm>
            <a:off x="619048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6190488" y="279806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2" name="Text 67"/>
          <p:cNvSpPr txBox="1"/>
          <p:nvPr/>
        </p:nvSpPr>
        <p:spPr>
          <a:xfrm>
            <a:off x="635508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67</a:t>
            </a:r>
            <a:endParaRPr lang="en-US" sz="2400" dirty="0"/>
          </a:p>
        </p:txBody>
      </p:sp>
      <p:sp>
        <p:nvSpPr>
          <p:cNvPr id="73" name="Text 68"/>
          <p:cNvSpPr txBox="1"/>
          <p:nvPr/>
        </p:nvSpPr>
        <p:spPr>
          <a:xfrm>
            <a:off x="635508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Incomplete KYC</a:t>
            </a:r>
            <a:endParaRPr lang="en-US" sz="1050" dirty="0"/>
          </a:p>
        </p:txBody>
      </p:sp>
      <p:sp>
        <p:nvSpPr>
          <p:cNvPr id="74" name="Text 69"/>
          <p:cNvSpPr txBox="1"/>
          <p:nvPr/>
        </p:nvSpPr>
        <p:spPr>
          <a:xfrm>
            <a:off x="635508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Started KYC but did not proceed</a:t>
            </a:r>
            <a:endParaRPr lang="en-US" sz="850" dirty="0"/>
          </a:p>
        </p:txBody>
      </p:sp>
      <p:sp>
        <p:nvSpPr>
          <p:cNvPr id="75" name="Text 70"/>
          <p:cNvSpPr txBox="1"/>
          <p:nvPr/>
        </p:nvSpPr>
        <p:spPr>
          <a:xfrm>
            <a:off x="779068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5303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+2</a:t>
            </a:r>
            <a:endParaRPr lang="en-US" sz="850" dirty="0"/>
          </a:p>
        </p:txBody>
      </p:sp>
      <p:sp>
        <p:nvSpPr>
          <p:cNvPr id="76" name="Shape 71"/>
          <p:cNvSpPr/>
          <p:nvPr/>
        </p:nvSpPr>
        <p:spPr>
          <a:xfrm>
            <a:off x="619048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6190488" y="389534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8" name="Text 73"/>
          <p:cNvSpPr txBox="1"/>
          <p:nvPr/>
        </p:nvSpPr>
        <p:spPr>
          <a:xfrm>
            <a:off x="635508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</a:t>
            </a:r>
            <a:endParaRPr lang="en-US" sz="2400" dirty="0"/>
          </a:p>
        </p:txBody>
      </p:sp>
      <p:sp>
        <p:nvSpPr>
          <p:cNvPr id="79" name="Text 74"/>
          <p:cNvSpPr txBox="1"/>
          <p:nvPr/>
        </p:nvSpPr>
        <p:spPr>
          <a:xfrm>
            <a:off x="635508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Rejected KYC</a:t>
            </a:r>
            <a:endParaRPr lang="en-US" sz="1050" dirty="0"/>
          </a:p>
        </p:txBody>
      </p:sp>
      <p:sp>
        <p:nvSpPr>
          <p:cNvPr id="80" name="Text 75"/>
          <p:cNvSpPr txBox="1"/>
          <p:nvPr/>
        </p:nvSpPr>
        <p:spPr>
          <a:xfrm>
            <a:off x="635508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Resubmission required</a:t>
            </a:r>
            <a:endParaRPr lang="en-US" sz="850" dirty="0"/>
          </a:p>
        </p:txBody>
      </p:sp>
      <p:sp>
        <p:nvSpPr>
          <p:cNvPr id="81" name="Text 76"/>
          <p:cNvSpPr txBox="1"/>
          <p:nvPr/>
        </p:nvSpPr>
        <p:spPr>
          <a:xfrm>
            <a:off x="779068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82" name="Shape 77"/>
          <p:cNvSpPr/>
          <p:nvPr/>
        </p:nvSpPr>
        <p:spPr>
          <a:xfrm>
            <a:off x="619048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6190488" y="499262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4" name="Text 79"/>
          <p:cNvSpPr txBox="1"/>
          <p:nvPr/>
        </p:nvSpPr>
        <p:spPr>
          <a:xfrm>
            <a:off x="635508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134</a:t>
            </a:r>
            <a:endParaRPr lang="en-US" sz="2400" dirty="0"/>
          </a:p>
        </p:txBody>
      </p:sp>
      <p:sp>
        <p:nvSpPr>
          <p:cNvPr id="85" name="Text 80"/>
          <p:cNvSpPr txBox="1"/>
          <p:nvPr/>
        </p:nvSpPr>
        <p:spPr>
          <a:xfrm>
            <a:off x="635508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KYC applications</a:t>
            </a:r>
            <a:endParaRPr lang="en-US" sz="1050" dirty="0"/>
          </a:p>
        </p:txBody>
      </p:sp>
      <p:sp>
        <p:nvSpPr>
          <p:cNvPr id="86" name="Text 81"/>
          <p:cNvSpPr txBox="1"/>
          <p:nvPr/>
        </p:nvSpPr>
        <p:spPr>
          <a:xfrm>
            <a:off x="635508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Onboarded + incomplete + rejected</a:t>
            </a:r>
            <a:endParaRPr lang="en-US" sz="850" dirty="0"/>
          </a:p>
        </p:txBody>
      </p:sp>
      <p:sp>
        <p:nvSpPr>
          <p:cNvPr id="87" name="Shape 82"/>
          <p:cNvSpPr/>
          <p:nvPr/>
        </p:nvSpPr>
        <p:spPr>
          <a:xfrm>
            <a:off x="9002268" y="1408176"/>
            <a:ext cx="45720" cy="155448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88" name="Text 83"/>
          <p:cNvSpPr txBox="1"/>
          <p:nvPr/>
        </p:nvSpPr>
        <p:spPr>
          <a:xfrm>
            <a:off x="911199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SUPPORT TICKETS</a:t>
            </a:r>
            <a:endParaRPr lang="en-US" sz="900" dirty="0"/>
          </a:p>
        </p:txBody>
      </p:sp>
      <p:sp>
        <p:nvSpPr>
          <p:cNvPr id="89" name="Shape 84"/>
          <p:cNvSpPr/>
          <p:nvPr/>
        </p:nvSpPr>
        <p:spPr>
          <a:xfrm>
            <a:off x="900226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9002268" y="170078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1" name="Text 86"/>
          <p:cNvSpPr txBox="1"/>
          <p:nvPr/>
        </p:nvSpPr>
        <p:spPr>
          <a:xfrm>
            <a:off x="916686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25</a:t>
            </a:r>
            <a:endParaRPr lang="en-US" sz="2400" dirty="0"/>
          </a:p>
        </p:txBody>
      </p:sp>
      <p:sp>
        <p:nvSpPr>
          <p:cNvPr id="92" name="Text 87"/>
          <p:cNvSpPr txBox="1"/>
          <p:nvPr/>
        </p:nvSpPr>
        <p:spPr>
          <a:xfrm>
            <a:off x="916686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created</a:t>
            </a:r>
            <a:endParaRPr lang="en-US" sz="1050" dirty="0"/>
          </a:p>
        </p:txBody>
      </p:sp>
      <p:sp>
        <p:nvSpPr>
          <p:cNvPr id="93" name="Text 88"/>
          <p:cNvSpPr txBox="1"/>
          <p:nvPr/>
        </p:nvSpPr>
        <p:spPr>
          <a:xfrm>
            <a:off x="916686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94" name="Text 89"/>
          <p:cNvSpPr txBox="1"/>
          <p:nvPr/>
        </p:nvSpPr>
        <p:spPr>
          <a:xfrm>
            <a:off x="1060246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95" name="Shape 90"/>
          <p:cNvSpPr/>
          <p:nvPr/>
        </p:nvSpPr>
        <p:spPr>
          <a:xfrm>
            <a:off x="900226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9002268" y="279806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7" name="Text 92"/>
          <p:cNvSpPr txBox="1"/>
          <p:nvPr/>
        </p:nvSpPr>
        <p:spPr>
          <a:xfrm>
            <a:off x="916686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25</a:t>
            </a:r>
            <a:endParaRPr lang="en-US" sz="2400" dirty="0"/>
          </a:p>
        </p:txBody>
      </p:sp>
      <p:sp>
        <p:nvSpPr>
          <p:cNvPr id="98" name="Text 93"/>
          <p:cNvSpPr txBox="1"/>
          <p:nvPr/>
        </p:nvSpPr>
        <p:spPr>
          <a:xfrm>
            <a:off x="916686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resolved</a:t>
            </a:r>
            <a:endParaRPr lang="en-US" sz="1050" dirty="0"/>
          </a:p>
        </p:txBody>
      </p:sp>
      <p:sp>
        <p:nvSpPr>
          <p:cNvPr id="99" name="Text 94"/>
          <p:cNvSpPr txBox="1"/>
          <p:nvPr/>
        </p:nvSpPr>
        <p:spPr>
          <a:xfrm>
            <a:off x="916686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100% of tickets created</a:t>
            </a:r>
            <a:endParaRPr lang="en-US" sz="850" dirty="0"/>
          </a:p>
        </p:txBody>
      </p:sp>
      <p:sp>
        <p:nvSpPr>
          <p:cNvPr id="100" name="Text 95"/>
          <p:cNvSpPr txBox="1"/>
          <p:nvPr/>
        </p:nvSpPr>
        <p:spPr>
          <a:xfrm>
            <a:off x="1060246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1" name="Shape 96"/>
          <p:cNvSpPr/>
          <p:nvPr/>
        </p:nvSpPr>
        <p:spPr>
          <a:xfrm>
            <a:off x="900226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9002268" y="389534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3" name="Text 98"/>
          <p:cNvSpPr txBox="1"/>
          <p:nvPr/>
        </p:nvSpPr>
        <p:spPr>
          <a:xfrm>
            <a:off x="916686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</a:t>
            </a:r>
            <a:endParaRPr lang="en-US" sz="2400" dirty="0"/>
          </a:p>
        </p:txBody>
      </p:sp>
      <p:sp>
        <p:nvSpPr>
          <p:cNvPr id="104" name="Text 99"/>
          <p:cNvSpPr txBox="1"/>
          <p:nvPr/>
        </p:nvSpPr>
        <p:spPr>
          <a:xfrm>
            <a:off x="916686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Email queries</a:t>
            </a:r>
            <a:endParaRPr lang="en-US" sz="1050" dirty="0"/>
          </a:p>
        </p:txBody>
      </p:sp>
      <p:sp>
        <p:nvSpPr>
          <p:cNvPr id="105" name="Text 100"/>
          <p:cNvSpPr txBox="1"/>
          <p:nvPr/>
        </p:nvSpPr>
        <p:spPr>
          <a:xfrm>
            <a:off x="916686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06" name="Text 101"/>
          <p:cNvSpPr txBox="1"/>
          <p:nvPr/>
        </p:nvSpPr>
        <p:spPr>
          <a:xfrm>
            <a:off x="1060246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7" name="Shape 102"/>
          <p:cNvSpPr/>
          <p:nvPr/>
        </p:nvSpPr>
        <p:spPr>
          <a:xfrm>
            <a:off x="900226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9002268" y="499262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9" name="Text 104"/>
          <p:cNvSpPr txBox="1"/>
          <p:nvPr/>
        </p:nvSpPr>
        <p:spPr>
          <a:xfrm>
            <a:off x="916686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21</a:t>
            </a:r>
            <a:endParaRPr lang="en-US" sz="2400" dirty="0"/>
          </a:p>
        </p:txBody>
      </p:sp>
      <p:sp>
        <p:nvSpPr>
          <p:cNvPr id="110" name="Text 105"/>
          <p:cNvSpPr txBox="1"/>
          <p:nvPr/>
        </p:nvSpPr>
        <p:spPr>
          <a:xfrm>
            <a:off x="916686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AI support queries</a:t>
            </a:r>
            <a:endParaRPr lang="en-US" sz="1050" dirty="0"/>
          </a:p>
        </p:txBody>
      </p:sp>
      <p:sp>
        <p:nvSpPr>
          <p:cNvPr id="111" name="Text 106"/>
          <p:cNvSpPr txBox="1"/>
          <p:nvPr/>
        </p:nvSpPr>
        <p:spPr>
          <a:xfrm>
            <a:off x="916686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12" name="Text 107"/>
          <p:cNvSpPr txBox="1"/>
          <p:nvPr/>
        </p:nvSpPr>
        <p:spPr>
          <a:xfrm>
            <a:off x="1060246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atemIsa_202508993_IT9002_NLP_Project/emyaa-ceo-deck/working/charts/board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188720"/>
            <a:ext cx="12191695" cy="24689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66928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F3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PLATFORM ANALYTICS  |  PERFORMANCE DASHBOARD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57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 date: 23 Sep 2026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868680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6CFE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Reporting period: All Time   |   Change on each card is against the previous report, 22 Sep 2026</a:t>
            </a:r>
            <a:endParaRPr lang="en-US" sz="1000" dirty="0"/>
          </a:p>
        </p:txBody>
      </p:sp>
      <p:pic>
        <p:nvPicPr>
          <p:cNvPr id="7" name="Image 1" descr="/home/user/HatemIsa_202508993_IT9002_NLP_Project/emyaa-ceo-deck/working/charts/ajy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02336"/>
            <a:ext cx="13258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" y="6272784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Source: eMYAA Daily Performance Dashboard, eMYAA_-_Daily_Performance_Dashboard-1.pdf, page 5.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eMYAA Trading Platform  |  Daily Performance Dashboard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9802368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8</a:t>
            </a:r>
            <a:endParaRPr lang="en-US" sz="800" dirty="0"/>
          </a:p>
        </p:txBody>
      </p:sp>
      <p:pic>
        <p:nvPicPr>
          <p:cNvPr id="11" name="Image 2" descr="/home/user/HatemIsa_202508993_IT9002_NLP_Project/emyaa-ceo-deck/working/charts/emyaa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6336792"/>
            <a:ext cx="1024128" cy="3657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66928" y="1408176"/>
            <a:ext cx="45720" cy="155448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665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DOWNLOADS &amp; RATINGS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6692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66928" y="170078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152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258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downloads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 Store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216712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6692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66928" y="279806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3152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196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73152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downloads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73152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Apple App Store</a:t>
            </a:r>
            <a:endParaRPr lang="en-US" sz="850" dirty="0"/>
          </a:p>
        </p:txBody>
      </p:sp>
      <p:sp>
        <p:nvSpPr>
          <p:cNvPr id="25" name="Text 20"/>
          <p:cNvSpPr txBox="1"/>
          <p:nvPr/>
        </p:nvSpPr>
        <p:spPr>
          <a:xfrm>
            <a:off x="216712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6692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66928" y="389534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3152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29" name="Text 24"/>
          <p:cNvSpPr txBox="1"/>
          <p:nvPr/>
        </p:nvSpPr>
        <p:spPr>
          <a:xfrm>
            <a:off x="73152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app rating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73152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Play, 2 reviews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56692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66928" y="499262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3152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34" name="Text 29"/>
          <p:cNvSpPr txBox="1"/>
          <p:nvPr/>
        </p:nvSpPr>
        <p:spPr>
          <a:xfrm>
            <a:off x="73152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app rating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73152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 Store, 2 reviews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3378708" y="1408176"/>
            <a:ext cx="45720" cy="155448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48843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 ACTIVITY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337870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3378708" y="170078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354330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15</a:t>
            </a:r>
            <a:endParaRPr lang="en-US" sz="2400" dirty="0"/>
          </a:p>
        </p:txBody>
      </p:sp>
      <p:sp>
        <p:nvSpPr>
          <p:cNvPr id="41" name="Text 36"/>
          <p:cNvSpPr txBox="1"/>
          <p:nvPr/>
        </p:nvSpPr>
        <p:spPr>
          <a:xfrm>
            <a:off x="354330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deposited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354330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Funded accounts</a:t>
            </a:r>
            <a:endParaRPr lang="en-US" sz="850" dirty="0"/>
          </a:p>
        </p:txBody>
      </p:sp>
      <p:sp>
        <p:nvSpPr>
          <p:cNvPr id="43" name="Text 38"/>
          <p:cNvSpPr txBox="1"/>
          <p:nvPr/>
        </p:nvSpPr>
        <p:spPr>
          <a:xfrm>
            <a:off x="497890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337870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3378708" y="279806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354330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$10,029.69</a:t>
            </a:r>
            <a:endParaRPr lang="en-US" sz="1900" dirty="0"/>
          </a:p>
        </p:txBody>
      </p:sp>
      <p:sp>
        <p:nvSpPr>
          <p:cNvPr id="47" name="Text 42"/>
          <p:cNvSpPr txBox="1"/>
          <p:nvPr/>
        </p:nvSpPr>
        <p:spPr>
          <a:xfrm>
            <a:off x="354330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AUM</a:t>
            </a:r>
            <a:endParaRPr lang="en-US" sz="1050" dirty="0"/>
          </a:p>
        </p:txBody>
      </p:sp>
      <p:sp>
        <p:nvSpPr>
          <p:cNvPr id="48" name="Text 43"/>
          <p:cNvSpPr txBox="1"/>
          <p:nvPr/>
        </p:nvSpPr>
        <p:spPr>
          <a:xfrm>
            <a:off x="354330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Cumulative platform deposits</a:t>
            </a:r>
            <a:endParaRPr lang="en-US" sz="850" dirty="0"/>
          </a:p>
        </p:txBody>
      </p:sp>
      <p:sp>
        <p:nvSpPr>
          <p:cNvPr id="49" name="Text 44"/>
          <p:cNvSpPr txBox="1"/>
          <p:nvPr/>
        </p:nvSpPr>
        <p:spPr>
          <a:xfrm>
            <a:off x="497890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337870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3378708" y="389534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354330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15</a:t>
            </a:r>
            <a:endParaRPr lang="en-US" sz="2400" dirty="0"/>
          </a:p>
        </p:txBody>
      </p:sp>
      <p:sp>
        <p:nvSpPr>
          <p:cNvPr id="53" name="Text 48"/>
          <p:cNvSpPr txBox="1"/>
          <p:nvPr/>
        </p:nvSpPr>
        <p:spPr>
          <a:xfrm>
            <a:off x="354330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traded</a:t>
            </a:r>
            <a:endParaRPr lang="en-US" sz="1050" dirty="0"/>
          </a:p>
        </p:txBody>
      </p:sp>
      <p:sp>
        <p:nvSpPr>
          <p:cNvPr id="54" name="Text 49"/>
          <p:cNvSpPr txBox="1"/>
          <p:nvPr/>
        </p:nvSpPr>
        <p:spPr>
          <a:xfrm>
            <a:off x="354330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Placed at least 1 trade</a:t>
            </a:r>
            <a:endParaRPr lang="en-US" sz="850" dirty="0"/>
          </a:p>
        </p:txBody>
      </p:sp>
      <p:sp>
        <p:nvSpPr>
          <p:cNvPr id="55" name="Text 50"/>
          <p:cNvSpPr txBox="1"/>
          <p:nvPr/>
        </p:nvSpPr>
        <p:spPr>
          <a:xfrm>
            <a:off x="497890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56" name="Shape 51"/>
          <p:cNvSpPr/>
          <p:nvPr/>
        </p:nvSpPr>
        <p:spPr>
          <a:xfrm>
            <a:off x="337870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3378708" y="499262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354330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51</a:t>
            </a:r>
            <a:endParaRPr lang="en-US" sz="2400" dirty="0"/>
          </a:p>
        </p:txBody>
      </p:sp>
      <p:sp>
        <p:nvSpPr>
          <p:cNvPr id="59" name="Text 54"/>
          <p:cNvSpPr txBox="1"/>
          <p:nvPr/>
        </p:nvSpPr>
        <p:spPr>
          <a:xfrm>
            <a:off x="354330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trades</a:t>
            </a:r>
            <a:endParaRPr lang="en-US" sz="1050" dirty="0"/>
          </a:p>
        </p:txBody>
      </p:sp>
      <p:sp>
        <p:nvSpPr>
          <p:cNvPr id="60" name="Text 55"/>
          <p:cNvSpPr txBox="1"/>
          <p:nvPr/>
        </p:nvSpPr>
        <p:spPr>
          <a:xfrm>
            <a:off x="354330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Executed across all users</a:t>
            </a:r>
            <a:endParaRPr lang="en-US" sz="850" dirty="0"/>
          </a:p>
        </p:txBody>
      </p:sp>
      <p:sp>
        <p:nvSpPr>
          <p:cNvPr id="61" name="Text 56"/>
          <p:cNvSpPr txBox="1"/>
          <p:nvPr/>
        </p:nvSpPr>
        <p:spPr>
          <a:xfrm>
            <a:off x="497890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62" name="Shape 57"/>
          <p:cNvSpPr/>
          <p:nvPr/>
        </p:nvSpPr>
        <p:spPr>
          <a:xfrm>
            <a:off x="6190488" y="1408176"/>
            <a:ext cx="45720" cy="1554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630021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KYC STATUS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619048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6190488" y="170078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635508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57</a:t>
            </a:r>
            <a:endParaRPr lang="en-US" sz="2400" dirty="0"/>
          </a:p>
        </p:txBody>
      </p:sp>
      <p:sp>
        <p:nvSpPr>
          <p:cNvPr id="67" name="Text 62"/>
          <p:cNvSpPr txBox="1"/>
          <p:nvPr/>
        </p:nvSpPr>
        <p:spPr>
          <a:xfrm>
            <a:off x="635508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onboarded</a:t>
            </a:r>
            <a:endParaRPr lang="en-US" sz="1050" dirty="0"/>
          </a:p>
        </p:txBody>
      </p:sp>
      <p:sp>
        <p:nvSpPr>
          <p:cNvPr id="68" name="Text 63"/>
          <p:cNvSpPr txBox="1"/>
          <p:nvPr/>
        </p:nvSpPr>
        <p:spPr>
          <a:xfrm>
            <a:off x="635508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Completed signup and verification</a:t>
            </a:r>
            <a:endParaRPr lang="en-US" sz="850" dirty="0"/>
          </a:p>
        </p:txBody>
      </p:sp>
      <p:sp>
        <p:nvSpPr>
          <p:cNvPr id="69" name="Text 64"/>
          <p:cNvSpPr txBox="1"/>
          <p:nvPr/>
        </p:nvSpPr>
        <p:spPr>
          <a:xfrm>
            <a:off x="779068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70" name="Shape 65"/>
          <p:cNvSpPr/>
          <p:nvPr/>
        </p:nvSpPr>
        <p:spPr>
          <a:xfrm>
            <a:off x="619048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6190488" y="279806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2" name="Text 67"/>
          <p:cNvSpPr txBox="1"/>
          <p:nvPr/>
        </p:nvSpPr>
        <p:spPr>
          <a:xfrm>
            <a:off x="635508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65</a:t>
            </a:r>
            <a:endParaRPr lang="en-US" sz="2400" dirty="0"/>
          </a:p>
        </p:txBody>
      </p:sp>
      <p:sp>
        <p:nvSpPr>
          <p:cNvPr id="73" name="Text 68"/>
          <p:cNvSpPr txBox="1"/>
          <p:nvPr/>
        </p:nvSpPr>
        <p:spPr>
          <a:xfrm>
            <a:off x="635508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Incomplete KYC</a:t>
            </a:r>
            <a:endParaRPr lang="en-US" sz="1050" dirty="0"/>
          </a:p>
        </p:txBody>
      </p:sp>
      <p:sp>
        <p:nvSpPr>
          <p:cNvPr id="74" name="Text 69"/>
          <p:cNvSpPr txBox="1"/>
          <p:nvPr/>
        </p:nvSpPr>
        <p:spPr>
          <a:xfrm>
            <a:off x="635508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Started KYC but did not proceed</a:t>
            </a:r>
            <a:endParaRPr lang="en-US" sz="850" dirty="0"/>
          </a:p>
        </p:txBody>
      </p:sp>
      <p:sp>
        <p:nvSpPr>
          <p:cNvPr id="75" name="Text 70"/>
          <p:cNvSpPr txBox="1"/>
          <p:nvPr/>
        </p:nvSpPr>
        <p:spPr>
          <a:xfrm>
            <a:off x="779068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5303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76" name="Shape 71"/>
          <p:cNvSpPr/>
          <p:nvPr/>
        </p:nvSpPr>
        <p:spPr>
          <a:xfrm>
            <a:off x="619048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6190488" y="389534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8" name="Text 73"/>
          <p:cNvSpPr txBox="1"/>
          <p:nvPr/>
        </p:nvSpPr>
        <p:spPr>
          <a:xfrm>
            <a:off x="635508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</a:t>
            </a:r>
            <a:endParaRPr lang="en-US" sz="2400" dirty="0"/>
          </a:p>
        </p:txBody>
      </p:sp>
      <p:sp>
        <p:nvSpPr>
          <p:cNvPr id="79" name="Text 74"/>
          <p:cNvSpPr txBox="1"/>
          <p:nvPr/>
        </p:nvSpPr>
        <p:spPr>
          <a:xfrm>
            <a:off x="635508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Rejected KYC</a:t>
            </a:r>
            <a:endParaRPr lang="en-US" sz="1050" dirty="0"/>
          </a:p>
        </p:txBody>
      </p:sp>
      <p:sp>
        <p:nvSpPr>
          <p:cNvPr id="80" name="Text 75"/>
          <p:cNvSpPr txBox="1"/>
          <p:nvPr/>
        </p:nvSpPr>
        <p:spPr>
          <a:xfrm>
            <a:off x="635508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Resubmission required</a:t>
            </a:r>
            <a:endParaRPr lang="en-US" sz="850" dirty="0"/>
          </a:p>
        </p:txBody>
      </p:sp>
      <p:sp>
        <p:nvSpPr>
          <p:cNvPr id="81" name="Text 76"/>
          <p:cNvSpPr txBox="1"/>
          <p:nvPr/>
        </p:nvSpPr>
        <p:spPr>
          <a:xfrm>
            <a:off x="779068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82" name="Shape 77"/>
          <p:cNvSpPr/>
          <p:nvPr/>
        </p:nvSpPr>
        <p:spPr>
          <a:xfrm>
            <a:off x="619048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6190488" y="499262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4" name="Text 79"/>
          <p:cNvSpPr txBox="1"/>
          <p:nvPr/>
        </p:nvSpPr>
        <p:spPr>
          <a:xfrm>
            <a:off x="635508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132</a:t>
            </a:r>
            <a:endParaRPr lang="en-US" sz="2400" dirty="0"/>
          </a:p>
        </p:txBody>
      </p:sp>
      <p:sp>
        <p:nvSpPr>
          <p:cNvPr id="85" name="Text 80"/>
          <p:cNvSpPr txBox="1"/>
          <p:nvPr/>
        </p:nvSpPr>
        <p:spPr>
          <a:xfrm>
            <a:off x="635508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KYC applications</a:t>
            </a:r>
            <a:endParaRPr lang="en-US" sz="1050" dirty="0"/>
          </a:p>
        </p:txBody>
      </p:sp>
      <p:sp>
        <p:nvSpPr>
          <p:cNvPr id="86" name="Text 81"/>
          <p:cNvSpPr txBox="1"/>
          <p:nvPr/>
        </p:nvSpPr>
        <p:spPr>
          <a:xfrm>
            <a:off x="635508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Onboarded + incomplete + rejected</a:t>
            </a:r>
            <a:endParaRPr lang="en-US" sz="850" dirty="0"/>
          </a:p>
        </p:txBody>
      </p:sp>
      <p:sp>
        <p:nvSpPr>
          <p:cNvPr id="87" name="Shape 82"/>
          <p:cNvSpPr/>
          <p:nvPr/>
        </p:nvSpPr>
        <p:spPr>
          <a:xfrm>
            <a:off x="9002268" y="1408176"/>
            <a:ext cx="45720" cy="155448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88" name="Text 83"/>
          <p:cNvSpPr txBox="1"/>
          <p:nvPr/>
        </p:nvSpPr>
        <p:spPr>
          <a:xfrm>
            <a:off x="911199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SUPPORT TICKETS</a:t>
            </a:r>
            <a:endParaRPr lang="en-US" sz="900" dirty="0"/>
          </a:p>
        </p:txBody>
      </p:sp>
      <p:sp>
        <p:nvSpPr>
          <p:cNvPr id="89" name="Shape 84"/>
          <p:cNvSpPr/>
          <p:nvPr/>
        </p:nvSpPr>
        <p:spPr>
          <a:xfrm>
            <a:off x="900226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9002268" y="170078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1" name="Text 86"/>
          <p:cNvSpPr txBox="1"/>
          <p:nvPr/>
        </p:nvSpPr>
        <p:spPr>
          <a:xfrm>
            <a:off x="916686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25</a:t>
            </a:r>
            <a:endParaRPr lang="en-US" sz="2400" dirty="0"/>
          </a:p>
        </p:txBody>
      </p:sp>
      <p:sp>
        <p:nvSpPr>
          <p:cNvPr id="92" name="Text 87"/>
          <p:cNvSpPr txBox="1"/>
          <p:nvPr/>
        </p:nvSpPr>
        <p:spPr>
          <a:xfrm>
            <a:off x="916686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created</a:t>
            </a:r>
            <a:endParaRPr lang="en-US" sz="1050" dirty="0"/>
          </a:p>
        </p:txBody>
      </p:sp>
      <p:sp>
        <p:nvSpPr>
          <p:cNvPr id="93" name="Text 88"/>
          <p:cNvSpPr txBox="1"/>
          <p:nvPr/>
        </p:nvSpPr>
        <p:spPr>
          <a:xfrm>
            <a:off x="916686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94" name="Text 89"/>
          <p:cNvSpPr txBox="1"/>
          <p:nvPr/>
        </p:nvSpPr>
        <p:spPr>
          <a:xfrm>
            <a:off x="1060246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95" name="Shape 90"/>
          <p:cNvSpPr/>
          <p:nvPr/>
        </p:nvSpPr>
        <p:spPr>
          <a:xfrm>
            <a:off x="900226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9002268" y="279806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7" name="Text 92"/>
          <p:cNvSpPr txBox="1"/>
          <p:nvPr/>
        </p:nvSpPr>
        <p:spPr>
          <a:xfrm>
            <a:off x="916686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25</a:t>
            </a:r>
            <a:endParaRPr lang="en-US" sz="2400" dirty="0"/>
          </a:p>
        </p:txBody>
      </p:sp>
      <p:sp>
        <p:nvSpPr>
          <p:cNvPr id="98" name="Text 93"/>
          <p:cNvSpPr txBox="1"/>
          <p:nvPr/>
        </p:nvSpPr>
        <p:spPr>
          <a:xfrm>
            <a:off x="916686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resolved</a:t>
            </a:r>
            <a:endParaRPr lang="en-US" sz="1050" dirty="0"/>
          </a:p>
        </p:txBody>
      </p:sp>
      <p:sp>
        <p:nvSpPr>
          <p:cNvPr id="99" name="Text 94"/>
          <p:cNvSpPr txBox="1"/>
          <p:nvPr/>
        </p:nvSpPr>
        <p:spPr>
          <a:xfrm>
            <a:off x="916686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100% of tickets created</a:t>
            </a:r>
            <a:endParaRPr lang="en-US" sz="850" dirty="0"/>
          </a:p>
        </p:txBody>
      </p:sp>
      <p:sp>
        <p:nvSpPr>
          <p:cNvPr id="100" name="Text 95"/>
          <p:cNvSpPr txBox="1"/>
          <p:nvPr/>
        </p:nvSpPr>
        <p:spPr>
          <a:xfrm>
            <a:off x="1060246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1" name="Shape 96"/>
          <p:cNvSpPr/>
          <p:nvPr/>
        </p:nvSpPr>
        <p:spPr>
          <a:xfrm>
            <a:off x="900226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9002268" y="389534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3" name="Text 98"/>
          <p:cNvSpPr txBox="1"/>
          <p:nvPr/>
        </p:nvSpPr>
        <p:spPr>
          <a:xfrm>
            <a:off x="916686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</a:t>
            </a:r>
            <a:endParaRPr lang="en-US" sz="2400" dirty="0"/>
          </a:p>
        </p:txBody>
      </p:sp>
      <p:sp>
        <p:nvSpPr>
          <p:cNvPr id="104" name="Text 99"/>
          <p:cNvSpPr txBox="1"/>
          <p:nvPr/>
        </p:nvSpPr>
        <p:spPr>
          <a:xfrm>
            <a:off x="916686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Email queries</a:t>
            </a:r>
            <a:endParaRPr lang="en-US" sz="1050" dirty="0"/>
          </a:p>
        </p:txBody>
      </p:sp>
      <p:sp>
        <p:nvSpPr>
          <p:cNvPr id="105" name="Text 100"/>
          <p:cNvSpPr txBox="1"/>
          <p:nvPr/>
        </p:nvSpPr>
        <p:spPr>
          <a:xfrm>
            <a:off x="916686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06" name="Text 101"/>
          <p:cNvSpPr txBox="1"/>
          <p:nvPr/>
        </p:nvSpPr>
        <p:spPr>
          <a:xfrm>
            <a:off x="1060246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7" name="Shape 102"/>
          <p:cNvSpPr/>
          <p:nvPr/>
        </p:nvSpPr>
        <p:spPr>
          <a:xfrm>
            <a:off x="900226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9002268" y="499262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9" name="Text 104"/>
          <p:cNvSpPr txBox="1"/>
          <p:nvPr/>
        </p:nvSpPr>
        <p:spPr>
          <a:xfrm>
            <a:off x="916686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21</a:t>
            </a:r>
            <a:endParaRPr lang="en-US" sz="2400" dirty="0"/>
          </a:p>
        </p:txBody>
      </p:sp>
      <p:sp>
        <p:nvSpPr>
          <p:cNvPr id="110" name="Text 105"/>
          <p:cNvSpPr txBox="1"/>
          <p:nvPr/>
        </p:nvSpPr>
        <p:spPr>
          <a:xfrm>
            <a:off x="916686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AI support queries</a:t>
            </a:r>
            <a:endParaRPr lang="en-US" sz="1050" dirty="0"/>
          </a:p>
        </p:txBody>
      </p:sp>
      <p:sp>
        <p:nvSpPr>
          <p:cNvPr id="111" name="Text 106"/>
          <p:cNvSpPr txBox="1"/>
          <p:nvPr/>
        </p:nvSpPr>
        <p:spPr>
          <a:xfrm>
            <a:off x="916686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12" name="Text 107"/>
          <p:cNvSpPr txBox="1"/>
          <p:nvPr/>
        </p:nvSpPr>
        <p:spPr>
          <a:xfrm>
            <a:off x="1060246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atemIsa_202508993_IT9002_NLP_Project/emyaa-ceo-deck/working/charts/board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188720"/>
            <a:ext cx="12191695" cy="24689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66928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F3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PLATFORM ANALYTICS  |  PERFORMANCE DASHBOARD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57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 date: 22 Sep 2026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868680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6CFE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Reporting period: All Time   |   Change on each card is against the previous report, 21 Sep 2026</a:t>
            </a:r>
            <a:endParaRPr lang="en-US" sz="1000" dirty="0"/>
          </a:p>
        </p:txBody>
      </p:sp>
      <p:pic>
        <p:nvPicPr>
          <p:cNvPr id="7" name="Image 1" descr="/home/user/HatemIsa_202508993_IT9002_NLP_Project/emyaa-ceo-deck/working/charts/ajy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02336"/>
            <a:ext cx="13258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" y="6272784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Source: eMYAA Daily Performance Dashboard, eMYAA_-_Daily_Performance_Dashboard-1.pdf, page 6.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eMYAA Trading Platform  |  Daily Performance Dashboard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9802368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9</a:t>
            </a:r>
            <a:endParaRPr lang="en-US" sz="800" dirty="0"/>
          </a:p>
        </p:txBody>
      </p:sp>
      <p:pic>
        <p:nvPicPr>
          <p:cNvPr id="11" name="Image 2" descr="/home/user/HatemIsa_202508993_IT9002_NLP_Project/emyaa-ceo-deck/working/charts/emyaa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6336792"/>
            <a:ext cx="1024128" cy="3657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66928" y="1408176"/>
            <a:ext cx="45720" cy="155448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665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DOWNLOADS &amp; RATINGS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6692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66928" y="170078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152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257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downloads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 Store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216712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+15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6692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66928" y="279806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3152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195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73152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downloads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73152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Apple App Store</a:t>
            </a:r>
            <a:endParaRPr lang="en-US" sz="850" dirty="0"/>
          </a:p>
        </p:txBody>
      </p:sp>
      <p:sp>
        <p:nvSpPr>
          <p:cNvPr id="25" name="Text 20"/>
          <p:cNvSpPr txBox="1"/>
          <p:nvPr/>
        </p:nvSpPr>
        <p:spPr>
          <a:xfrm>
            <a:off x="216712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6692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66928" y="389534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3152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29" name="Text 24"/>
          <p:cNvSpPr txBox="1"/>
          <p:nvPr/>
        </p:nvSpPr>
        <p:spPr>
          <a:xfrm>
            <a:off x="73152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app rating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73152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Play, 2 reviews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56692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66928" y="499262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3152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34" name="Text 29"/>
          <p:cNvSpPr txBox="1"/>
          <p:nvPr/>
        </p:nvSpPr>
        <p:spPr>
          <a:xfrm>
            <a:off x="73152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app rating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73152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 Store, 2 reviews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3378708" y="1408176"/>
            <a:ext cx="45720" cy="155448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48843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 ACTIVITY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337870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3378708" y="170078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354330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14</a:t>
            </a:r>
            <a:endParaRPr lang="en-US" sz="2400" dirty="0"/>
          </a:p>
        </p:txBody>
      </p:sp>
      <p:sp>
        <p:nvSpPr>
          <p:cNvPr id="41" name="Text 36"/>
          <p:cNvSpPr txBox="1"/>
          <p:nvPr/>
        </p:nvSpPr>
        <p:spPr>
          <a:xfrm>
            <a:off x="354330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deposited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354330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Funded accounts</a:t>
            </a:r>
            <a:endParaRPr lang="en-US" sz="850" dirty="0"/>
          </a:p>
        </p:txBody>
      </p:sp>
      <p:sp>
        <p:nvSpPr>
          <p:cNvPr id="43" name="Text 38"/>
          <p:cNvSpPr txBox="1"/>
          <p:nvPr/>
        </p:nvSpPr>
        <p:spPr>
          <a:xfrm>
            <a:off x="497890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337870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3378708" y="279806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354330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$10,029.69</a:t>
            </a:r>
            <a:endParaRPr lang="en-US" sz="1900" dirty="0"/>
          </a:p>
        </p:txBody>
      </p:sp>
      <p:sp>
        <p:nvSpPr>
          <p:cNvPr id="47" name="Text 42"/>
          <p:cNvSpPr txBox="1"/>
          <p:nvPr/>
        </p:nvSpPr>
        <p:spPr>
          <a:xfrm>
            <a:off x="354330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AUM</a:t>
            </a:r>
            <a:endParaRPr lang="en-US" sz="1050" dirty="0"/>
          </a:p>
        </p:txBody>
      </p:sp>
      <p:sp>
        <p:nvSpPr>
          <p:cNvPr id="48" name="Text 43"/>
          <p:cNvSpPr txBox="1"/>
          <p:nvPr/>
        </p:nvSpPr>
        <p:spPr>
          <a:xfrm>
            <a:off x="354330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Cumulative platform deposits</a:t>
            </a:r>
            <a:endParaRPr lang="en-US" sz="850" dirty="0"/>
          </a:p>
        </p:txBody>
      </p:sp>
      <p:sp>
        <p:nvSpPr>
          <p:cNvPr id="49" name="Text 44"/>
          <p:cNvSpPr txBox="1"/>
          <p:nvPr/>
        </p:nvSpPr>
        <p:spPr>
          <a:xfrm>
            <a:off x="497890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337870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3378708" y="389534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354330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14</a:t>
            </a:r>
            <a:endParaRPr lang="en-US" sz="2400" dirty="0"/>
          </a:p>
        </p:txBody>
      </p:sp>
      <p:sp>
        <p:nvSpPr>
          <p:cNvPr id="53" name="Text 48"/>
          <p:cNvSpPr txBox="1"/>
          <p:nvPr/>
        </p:nvSpPr>
        <p:spPr>
          <a:xfrm>
            <a:off x="354330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traded</a:t>
            </a:r>
            <a:endParaRPr lang="en-US" sz="1050" dirty="0"/>
          </a:p>
        </p:txBody>
      </p:sp>
      <p:sp>
        <p:nvSpPr>
          <p:cNvPr id="54" name="Text 49"/>
          <p:cNvSpPr txBox="1"/>
          <p:nvPr/>
        </p:nvSpPr>
        <p:spPr>
          <a:xfrm>
            <a:off x="354330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Placed at least 1 trade</a:t>
            </a:r>
            <a:endParaRPr lang="en-US" sz="850" dirty="0"/>
          </a:p>
        </p:txBody>
      </p:sp>
      <p:sp>
        <p:nvSpPr>
          <p:cNvPr id="55" name="Text 50"/>
          <p:cNvSpPr txBox="1"/>
          <p:nvPr/>
        </p:nvSpPr>
        <p:spPr>
          <a:xfrm>
            <a:off x="497890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56" name="Shape 51"/>
          <p:cNvSpPr/>
          <p:nvPr/>
        </p:nvSpPr>
        <p:spPr>
          <a:xfrm>
            <a:off x="337870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3378708" y="499262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354330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50</a:t>
            </a:r>
            <a:endParaRPr lang="en-US" sz="2400" dirty="0"/>
          </a:p>
        </p:txBody>
      </p:sp>
      <p:sp>
        <p:nvSpPr>
          <p:cNvPr id="59" name="Text 54"/>
          <p:cNvSpPr txBox="1"/>
          <p:nvPr/>
        </p:nvSpPr>
        <p:spPr>
          <a:xfrm>
            <a:off x="354330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trades</a:t>
            </a:r>
            <a:endParaRPr lang="en-US" sz="1050" dirty="0"/>
          </a:p>
        </p:txBody>
      </p:sp>
      <p:sp>
        <p:nvSpPr>
          <p:cNvPr id="60" name="Text 55"/>
          <p:cNvSpPr txBox="1"/>
          <p:nvPr/>
        </p:nvSpPr>
        <p:spPr>
          <a:xfrm>
            <a:off x="354330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Executed across all users</a:t>
            </a:r>
            <a:endParaRPr lang="en-US" sz="850" dirty="0"/>
          </a:p>
        </p:txBody>
      </p:sp>
      <p:sp>
        <p:nvSpPr>
          <p:cNvPr id="61" name="Text 56"/>
          <p:cNvSpPr txBox="1"/>
          <p:nvPr/>
        </p:nvSpPr>
        <p:spPr>
          <a:xfrm>
            <a:off x="497890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62" name="Shape 57"/>
          <p:cNvSpPr/>
          <p:nvPr/>
        </p:nvSpPr>
        <p:spPr>
          <a:xfrm>
            <a:off x="6190488" y="1408176"/>
            <a:ext cx="45720" cy="1554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630021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KYC STATUS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619048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6190488" y="170078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635508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57</a:t>
            </a:r>
            <a:endParaRPr lang="en-US" sz="2400" dirty="0"/>
          </a:p>
        </p:txBody>
      </p:sp>
      <p:sp>
        <p:nvSpPr>
          <p:cNvPr id="67" name="Text 62"/>
          <p:cNvSpPr txBox="1"/>
          <p:nvPr/>
        </p:nvSpPr>
        <p:spPr>
          <a:xfrm>
            <a:off x="635508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onboarded</a:t>
            </a:r>
            <a:endParaRPr lang="en-US" sz="1050" dirty="0"/>
          </a:p>
        </p:txBody>
      </p:sp>
      <p:sp>
        <p:nvSpPr>
          <p:cNvPr id="68" name="Text 63"/>
          <p:cNvSpPr txBox="1"/>
          <p:nvPr/>
        </p:nvSpPr>
        <p:spPr>
          <a:xfrm>
            <a:off x="635508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Completed signup and verification</a:t>
            </a:r>
            <a:endParaRPr lang="en-US" sz="850" dirty="0"/>
          </a:p>
        </p:txBody>
      </p:sp>
      <p:sp>
        <p:nvSpPr>
          <p:cNvPr id="69" name="Text 64"/>
          <p:cNvSpPr txBox="1"/>
          <p:nvPr/>
        </p:nvSpPr>
        <p:spPr>
          <a:xfrm>
            <a:off x="779068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70" name="Shape 65"/>
          <p:cNvSpPr/>
          <p:nvPr/>
        </p:nvSpPr>
        <p:spPr>
          <a:xfrm>
            <a:off x="619048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6190488" y="279806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2" name="Text 67"/>
          <p:cNvSpPr txBox="1"/>
          <p:nvPr/>
        </p:nvSpPr>
        <p:spPr>
          <a:xfrm>
            <a:off x="635508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64</a:t>
            </a:r>
            <a:endParaRPr lang="en-US" sz="2400" dirty="0"/>
          </a:p>
        </p:txBody>
      </p:sp>
      <p:sp>
        <p:nvSpPr>
          <p:cNvPr id="73" name="Text 68"/>
          <p:cNvSpPr txBox="1"/>
          <p:nvPr/>
        </p:nvSpPr>
        <p:spPr>
          <a:xfrm>
            <a:off x="635508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Incomplete KYC</a:t>
            </a:r>
            <a:endParaRPr lang="en-US" sz="1050" dirty="0"/>
          </a:p>
        </p:txBody>
      </p:sp>
      <p:sp>
        <p:nvSpPr>
          <p:cNvPr id="74" name="Text 69"/>
          <p:cNvSpPr txBox="1"/>
          <p:nvPr/>
        </p:nvSpPr>
        <p:spPr>
          <a:xfrm>
            <a:off x="635508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Started KYC but did not proceed</a:t>
            </a:r>
            <a:endParaRPr lang="en-US" sz="850" dirty="0"/>
          </a:p>
        </p:txBody>
      </p:sp>
      <p:sp>
        <p:nvSpPr>
          <p:cNvPr id="75" name="Text 70"/>
          <p:cNvSpPr txBox="1"/>
          <p:nvPr/>
        </p:nvSpPr>
        <p:spPr>
          <a:xfrm>
            <a:off x="779068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76" name="Shape 71"/>
          <p:cNvSpPr/>
          <p:nvPr/>
        </p:nvSpPr>
        <p:spPr>
          <a:xfrm>
            <a:off x="619048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6190488" y="389534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8" name="Text 73"/>
          <p:cNvSpPr txBox="1"/>
          <p:nvPr/>
        </p:nvSpPr>
        <p:spPr>
          <a:xfrm>
            <a:off x="635508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</a:t>
            </a:r>
            <a:endParaRPr lang="en-US" sz="2400" dirty="0"/>
          </a:p>
        </p:txBody>
      </p:sp>
      <p:sp>
        <p:nvSpPr>
          <p:cNvPr id="79" name="Text 74"/>
          <p:cNvSpPr txBox="1"/>
          <p:nvPr/>
        </p:nvSpPr>
        <p:spPr>
          <a:xfrm>
            <a:off x="635508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Rejected KYC</a:t>
            </a:r>
            <a:endParaRPr lang="en-US" sz="1050" dirty="0"/>
          </a:p>
        </p:txBody>
      </p:sp>
      <p:sp>
        <p:nvSpPr>
          <p:cNvPr id="80" name="Text 75"/>
          <p:cNvSpPr txBox="1"/>
          <p:nvPr/>
        </p:nvSpPr>
        <p:spPr>
          <a:xfrm>
            <a:off x="635508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Resubmission required</a:t>
            </a:r>
            <a:endParaRPr lang="en-US" sz="850" dirty="0"/>
          </a:p>
        </p:txBody>
      </p:sp>
      <p:sp>
        <p:nvSpPr>
          <p:cNvPr id="81" name="Text 76"/>
          <p:cNvSpPr txBox="1"/>
          <p:nvPr/>
        </p:nvSpPr>
        <p:spPr>
          <a:xfrm>
            <a:off x="779068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82" name="Shape 77"/>
          <p:cNvSpPr/>
          <p:nvPr/>
        </p:nvSpPr>
        <p:spPr>
          <a:xfrm>
            <a:off x="619048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6190488" y="499262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4" name="Text 79"/>
          <p:cNvSpPr txBox="1"/>
          <p:nvPr/>
        </p:nvSpPr>
        <p:spPr>
          <a:xfrm>
            <a:off x="635508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131</a:t>
            </a:r>
            <a:endParaRPr lang="en-US" sz="2400" dirty="0"/>
          </a:p>
        </p:txBody>
      </p:sp>
      <p:sp>
        <p:nvSpPr>
          <p:cNvPr id="85" name="Text 80"/>
          <p:cNvSpPr txBox="1"/>
          <p:nvPr/>
        </p:nvSpPr>
        <p:spPr>
          <a:xfrm>
            <a:off x="635508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KYC applications</a:t>
            </a:r>
            <a:endParaRPr lang="en-US" sz="1050" dirty="0"/>
          </a:p>
        </p:txBody>
      </p:sp>
      <p:sp>
        <p:nvSpPr>
          <p:cNvPr id="86" name="Text 81"/>
          <p:cNvSpPr txBox="1"/>
          <p:nvPr/>
        </p:nvSpPr>
        <p:spPr>
          <a:xfrm>
            <a:off x="635508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Onboarded + incomplete + rejected</a:t>
            </a:r>
            <a:endParaRPr lang="en-US" sz="850" dirty="0"/>
          </a:p>
        </p:txBody>
      </p:sp>
      <p:sp>
        <p:nvSpPr>
          <p:cNvPr id="87" name="Shape 82"/>
          <p:cNvSpPr/>
          <p:nvPr/>
        </p:nvSpPr>
        <p:spPr>
          <a:xfrm>
            <a:off x="9002268" y="1408176"/>
            <a:ext cx="45720" cy="155448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88" name="Text 83"/>
          <p:cNvSpPr txBox="1"/>
          <p:nvPr/>
        </p:nvSpPr>
        <p:spPr>
          <a:xfrm>
            <a:off x="911199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SUPPORT TICKETS</a:t>
            </a:r>
            <a:endParaRPr lang="en-US" sz="900" dirty="0"/>
          </a:p>
        </p:txBody>
      </p:sp>
      <p:sp>
        <p:nvSpPr>
          <p:cNvPr id="89" name="Shape 84"/>
          <p:cNvSpPr/>
          <p:nvPr/>
        </p:nvSpPr>
        <p:spPr>
          <a:xfrm>
            <a:off x="900226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9002268" y="170078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1" name="Text 86"/>
          <p:cNvSpPr txBox="1"/>
          <p:nvPr/>
        </p:nvSpPr>
        <p:spPr>
          <a:xfrm>
            <a:off x="916686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25</a:t>
            </a:r>
            <a:endParaRPr lang="en-US" sz="2400" dirty="0"/>
          </a:p>
        </p:txBody>
      </p:sp>
      <p:sp>
        <p:nvSpPr>
          <p:cNvPr id="92" name="Text 87"/>
          <p:cNvSpPr txBox="1"/>
          <p:nvPr/>
        </p:nvSpPr>
        <p:spPr>
          <a:xfrm>
            <a:off x="916686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created</a:t>
            </a:r>
            <a:endParaRPr lang="en-US" sz="1050" dirty="0"/>
          </a:p>
        </p:txBody>
      </p:sp>
      <p:sp>
        <p:nvSpPr>
          <p:cNvPr id="93" name="Text 88"/>
          <p:cNvSpPr txBox="1"/>
          <p:nvPr/>
        </p:nvSpPr>
        <p:spPr>
          <a:xfrm>
            <a:off x="916686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94" name="Text 89"/>
          <p:cNvSpPr txBox="1"/>
          <p:nvPr/>
        </p:nvSpPr>
        <p:spPr>
          <a:xfrm>
            <a:off x="1060246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95" name="Shape 90"/>
          <p:cNvSpPr/>
          <p:nvPr/>
        </p:nvSpPr>
        <p:spPr>
          <a:xfrm>
            <a:off x="900226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9002268" y="279806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7" name="Text 92"/>
          <p:cNvSpPr txBox="1"/>
          <p:nvPr/>
        </p:nvSpPr>
        <p:spPr>
          <a:xfrm>
            <a:off x="916686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25</a:t>
            </a:r>
            <a:endParaRPr lang="en-US" sz="2400" dirty="0"/>
          </a:p>
        </p:txBody>
      </p:sp>
      <p:sp>
        <p:nvSpPr>
          <p:cNvPr id="98" name="Text 93"/>
          <p:cNvSpPr txBox="1"/>
          <p:nvPr/>
        </p:nvSpPr>
        <p:spPr>
          <a:xfrm>
            <a:off x="916686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resolved</a:t>
            </a:r>
            <a:endParaRPr lang="en-US" sz="1050" dirty="0"/>
          </a:p>
        </p:txBody>
      </p:sp>
      <p:sp>
        <p:nvSpPr>
          <p:cNvPr id="99" name="Text 94"/>
          <p:cNvSpPr txBox="1"/>
          <p:nvPr/>
        </p:nvSpPr>
        <p:spPr>
          <a:xfrm>
            <a:off x="916686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100% of tickets created</a:t>
            </a:r>
            <a:endParaRPr lang="en-US" sz="850" dirty="0"/>
          </a:p>
        </p:txBody>
      </p:sp>
      <p:sp>
        <p:nvSpPr>
          <p:cNvPr id="100" name="Text 95"/>
          <p:cNvSpPr txBox="1"/>
          <p:nvPr/>
        </p:nvSpPr>
        <p:spPr>
          <a:xfrm>
            <a:off x="1060246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1" name="Shape 96"/>
          <p:cNvSpPr/>
          <p:nvPr/>
        </p:nvSpPr>
        <p:spPr>
          <a:xfrm>
            <a:off x="900226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9002268" y="389534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3" name="Text 98"/>
          <p:cNvSpPr txBox="1"/>
          <p:nvPr/>
        </p:nvSpPr>
        <p:spPr>
          <a:xfrm>
            <a:off x="916686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</a:t>
            </a:r>
            <a:endParaRPr lang="en-US" sz="2400" dirty="0"/>
          </a:p>
        </p:txBody>
      </p:sp>
      <p:sp>
        <p:nvSpPr>
          <p:cNvPr id="104" name="Text 99"/>
          <p:cNvSpPr txBox="1"/>
          <p:nvPr/>
        </p:nvSpPr>
        <p:spPr>
          <a:xfrm>
            <a:off x="916686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Email queries</a:t>
            </a:r>
            <a:endParaRPr lang="en-US" sz="1050" dirty="0"/>
          </a:p>
        </p:txBody>
      </p:sp>
      <p:sp>
        <p:nvSpPr>
          <p:cNvPr id="105" name="Text 100"/>
          <p:cNvSpPr txBox="1"/>
          <p:nvPr/>
        </p:nvSpPr>
        <p:spPr>
          <a:xfrm>
            <a:off x="916686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06" name="Text 101"/>
          <p:cNvSpPr txBox="1"/>
          <p:nvPr/>
        </p:nvSpPr>
        <p:spPr>
          <a:xfrm>
            <a:off x="1060246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7" name="Shape 102"/>
          <p:cNvSpPr/>
          <p:nvPr/>
        </p:nvSpPr>
        <p:spPr>
          <a:xfrm>
            <a:off x="900226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9002268" y="499262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9" name="Text 104"/>
          <p:cNvSpPr txBox="1"/>
          <p:nvPr/>
        </p:nvSpPr>
        <p:spPr>
          <a:xfrm>
            <a:off x="916686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21</a:t>
            </a:r>
            <a:endParaRPr lang="en-US" sz="2400" dirty="0"/>
          </a:p>
        </p:txBody>
      </p:sp>
      <p:sp>
        <p:nvSpPr>
          <p:cNvPr id="110" name="Text 105"/>
          <p:cNvSpPr txBox="1"/>
          <p:nvPr/>
        </p:nvSpPr>
        <p:spPr>
          <a:xfrm>
            <a:off x="916686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AI support queries</a:t>
            </a:r>
            <a:endParaRPr lang="en-US" sz="1050" dirty="0"/>
          </a:p>
        </p:txBody>
      </p:sp>
      <p:sp>
        <p:nvSpPr>
          <p:cNvPr id="111" name="Text 106"/>
          <p:cNvSpPr txBox="1"/>
          <p:nvPr/>
        </p:nvSpPr>
        <p:spPr>
          <a:xfrm>
            <a:off x="916686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12" name="Text 107"/>
          <p:cNvSpPr txBox="1"/>
          <p:nvPr/>
        </p:nvSpPr>
        <p:spPr>
          <a:xfrm>
            <a:off x="1060246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atemIsa_202508993_IT9002_NLP_Project/emyaa-ceo-deck/working/charts/board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188720"/>
            <a:ext cx="12191695" cy="24689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66928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F3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PLATFORM ANALYTICS  |  PERFORMANCE DASHBOARD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57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 date: 21 Sep 2026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868680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6CFE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Reporting period: All Time   |   Change on each card is against the previous report, 20 Sep 2026</a:t>
            </a:r>
            <a:endParaRPr lang="en-US" sz="1000" dirty="0"/>
          </a:p>
        </p:txBody>
      </p:sp>
      <p:pic>
        <p:nvPicPr>
          <p:cNvPr id="7" name="Image 1" descr="/home/user/HatemIsa_202508993_IT9002_NLP_Project/emyaa-ceo-deck/working/charts/ajy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02336"/>
            <a:ext cx="13258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" y="6272784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Source: eMYAA Daily Performance Dashboard, eMYAA_-_Daily_Performance_Dashboard-1.pdf, page 7.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eMYAA Trading Platform  |  Daily Performance Dashboard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9802368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</a:t>
            </a:r>
            <a:endParaRPr lang="en-US" sz="800" dirty="0"/>
          </a:p>
        </p:txBody>
      </p:sp>
      <p:pic>
        <p:nvPicPr>
          <p:cNvPr id="11" name="Image 2" descr="/home/user/HatemIsa_202508993_IT9002_NLP_Project/emyaa-ceo-deck/working/charts/emyaa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6336792"/>
            <a:ext cx="1024128" cy="3657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66928" y="1408176"/>
            <a:ext cx="45720" cy="155448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665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DOWNLOADS &amp; RATINGS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6692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66928" y="170078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152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242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downloads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 Store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216712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6692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66928" y="279806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3152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195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73152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downloads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73152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Apple App Store</a:t>
            </a:r>
            <a:endParaRPr lang="en-US" sz="850" dirty="0"/>
          </a:p>
        </p:txBody>
      </p:sp>
      <p:sp>
        <p:nvSpPr>
          <p:cNvPr id="25" name="Text 20"/>
          <p:cNvSpPr txBox="1"/>
          <p:nvPr/>
        </p:nvSpPr>
        <p:spPr>
          <a:xfrm>
            <a:off x="216712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6692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66928" y="389534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3152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29" name="Text 24"/>
          <p:cNvSpPr txBox="1"/>
          <p:nvPr/>
        </p:nvSpPr>
        <p:spPr>
          <a:xfrm>
            <a:off x="73152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app rating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73152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Play, 2 reviews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56692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66928" y="499262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3152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34" name="Text 29"/>
          <p:cNvSpPr txBox="1"/>
          <p:nvPr/>
        </p:nvSpPr>
        <p:spPr>
          <a:xfrm>
            <a:off x="73152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app rating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73152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 Store, 2 reviews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3378708" y="1408176"/>
            <a:ext cx="45720" cy="155448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48843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 ACTIVITY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337870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3378708" y="170078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354330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13</a:t>
            </a:r>
            <a:endParaRPr lang="en-US" sz="2400" dirty="0"/>
          </a:p>
        </p:txBody>
      </p:sp>
      <p:sp>
        <p:nvSpPr>
          <p:cNvPr id="41" name="Text 36"/>
          <p:cNvSpPr txBox="1"/>
          <p:nvPr/>
        </p:nvSpPr>
        <p:spPr>
          <a:xfrm>
            <a:off x="354330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deposited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354330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Funded accounts</a:t>
            </a:r>
            <a:endParaRPr lang="en-US" sz="850" dirty="0"/>
          </a:p>
        </p:txBody>
      </p:sp>
      <p:sp>
        <p:nvSpPr>
          <p:cNvPr id="43" name="Text 38"/>
          <p:cNvSpPr txBox="1"/>
          <p:nvPr/>
        </p:nvSpPr>
        <p:spPr>
          <a:xfrm>
            <a:off x="497890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337870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3378708" y="279806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354330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$10,029.69</a:t>
            </a:r>
            <a:endParaRPr lang="en-US" sz="1900" dirty="0"/>
          </a:p>
        </p:txBody>
      </p:sp>
      <p:sp>
        <p:nvSpPr>
          <p:cNvPr id="47" name="Text 42"/>
          <p:cNvSpPr txBox="1"/>
          <p:nvPr/>
        </p:nvSpPr>
        <p:spPr>
          <a:xfrm>
            <a:off x="354330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AUM</a:t>
            </a:r>
            <a:endParaRPr lang="en-US" sz="1050" dirty="0"/>
          </a:p>
        </p:txBody>
      </p:sp>
      <p:sp>
        <p:nvSpPr>
          <p:cNvPr id="48" name="Text 43"/>
          <p:cNvSpPr txBox="1"/>
          <p:nvPr/>
        </p:nvSpPr>
        <p:spPr>
          <a:xfrm>
            <a:off x="354330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Cumulative platform deposits</a:t>
            </a:r>
            <a:endParaRPr lang="en-US" sz="850" dirty="0"/>
          </a:p>
        </p:txBody>
      </p:sp>
      <p:sp>
        <p:nvSpPr>
          <p:cNvPr id="49" name="Text 44"/>
          <p:cNvSpPr txBox="1"/>
          <p:nvPr/>
        </p:nvSpPr>
        <p:spPr>
          <a:xfrm>
            <a:off x="497890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337870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3378708" y="389534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354330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13</a:t>
            </a:r>
            <a:endParaRPr lang="en-US" sz="2400" dirty="0"/>
          </a:p>
        </p:txBody>
      </p:sp>
      <p:sp>
        <p:nvSpPr>
          <p:cNvPr id="53" name="Text 48"/>
          <p:cNvSpPr txBox="1"/>
          <p:nvPr/>
        </p:nvSpPr>
        <p:spPr>
          <a:xfrm>
            <a:off x="354330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traded</a:t>
            </a:r>
            <a:endParaRPr lang="en-US" sz="1050" dirty="0"/>
          </a:p>
        </p:txBody>
      </p:sp>
      <p:sp>
        <p:nvSpPr>
          <p:cNvPr id="54" name="Text 49"/>
          <p:cNvSpPr txBox="1"/>
          <p:nvPr/>
        </p:nvSpPr>
        <p:spPr>
          <a:xfrm>
            <a:off x="354330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Placed at least 1 trade</a:t>
            </a:r>
            <a:endParaRPr lang="en-US" sz="850" dirty="0"/>
          </a:p>
        </p:txBody>
      </p:sp>
      <p:sp>
        <p:nvSpPr>
          <p:cNvPr id="55" name="Text 50"/>
          <p:cNvSpPr txBox="1"/>
          <p:nvPr/>
        </p:nvSpPr>
        <p:spPr>
          <a:xfrm>
            <a:off x="497890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6" name="Shape 51"/>
          <p:cNvSpPr/>
          <p:nvPr/>
        </p:nvSpPr>
        <p:spPr>
          <a:xfrm>
            <a:off x="337870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3378708" y="499262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354330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49</a:t>
            </a:r>
            <a:endParaRPr lang="en-US" sz="2400" dirty="0"/>
          </a:p>
        </p:txBody>
      </p:sp>
      <p:sp>
        <p:nvSpPr>
          <p:cNvPr id="59" name="Text 54"/>
          <p:cNvSpPr txBox="1"/>
          <p:nvPr/>
        </p:nvSpPr>
        <p:spPr>
          <a:xfrm>
            <a:off x="354330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trades</a:t>
            </a:r>
            <a:endParaRPr lang="en-US" sz="1050" dirty="0"/>
          </a:p>
        </p:txBody>
      </p:sp>
      <p:sp>
        <p:nvSpPr>
          <p:cNvPr id="60" name="Text 55"/>
          <p:cNvSpPr txBox="1"/>
          <p:nvPr/>
        </p:nvSpPr>
        <p:spPr>
          <a:xfrm>
            <a:off x="354330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Executed across all users</a:t>
            </a:r>
            <a:endParaRPr lang="en-US" sz="850" dirty="0"/>
          </a:p>
        </p:txBody>
      </p:sp>
      <p:sp>
        <p:nvSpPr>
          <p:cNvPr id="61" name="Text 56"/>
          <p:cNvSpPr txBox="1"/>
          <p:nvPr/>
        </p:nvSpPr>
        <p:spPr>
          <a:xfrm>
            <a:off x="497890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62" name="Shape 57"/>
          <p:cNvSpPr/>
          <p:nvPr/>
        </p:nvSpPr>
        <p:spPr>
          <a:xfrm>
            <a:off x="6190488" y="1408176"/>
            <a:ext cx="45720" cy="1554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630021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KYC STATUS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619048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6190488" y="170078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635508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57</a:t>
            </a:r>
            <a:endParaRPr lang="en-US" sz="2400" dirty="0"/>
          </a:p>
        </p:txBody>
      </p:sp>
      <p:sp>
        <p:nvSpPr>
          <p:cNvPr id="67" name="Text 62"/>
          <p:cNvSpPr txBox="1"/>
          <p:nvPr/>
        </p:nvSpPr>
        <p:spPr>
          <a:xfrm>
            <a:off x="635508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onboarded</a:t>
            </a:r>
            <a:endParaRPr lang="en-US" sz="1050" dirty="0"/>
          </a:p>
        </p:txBody>
      </p:sp>
      <p:sp>
        <p:nvSpPr>
          <p:cNvPr id="68" name="Text 63"/>
          <p:cNvSpPr txBox="1"/>
          <p:nvPr/>
        </p:nvSpPr>
        <p:spPr>
          <a:xfrm>
            <a:off x="635508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Completed signup and verification</a:t>
            </a:r>
            <a:endParaRPr lang="en-US" sz="850" dirty="0"/>
          </a:p>
        </p:txBody>
      </p:sp>
      <p:sp>
        <p:nvSpPr>
          <p:cNvPr id="69" name="Text 64"/>
          <p:cNvSpPr txBox="1"/>
          <p:nvPr/>
        </p:nvSpPr>
        <p:spPr>
          <a:xfrm>
            <a:off x="779068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70" name="Shape 65"/>
          <p:cNvSpPr/>
          <p:nvPr/>
        </p:nvSpPr>
        <p:spPr>
          <a:xfrm>
            <a:off x="619048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6190488" y="279806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2" name="Text 67"/>
          <p:cNvSpPr txBox="1"/>
          <p:nvPr/>
        </p:nvSpPr>
        <p:spPr>
          <a:xfrm>
            <a:off x="635508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64</a:t>
            </a:r>
            <a:endParaRPr lang="en-US" sz="2400" dirty="0"/>
          </a:p>
        </p:txBody>
      </p:sp>
      <p:sp>
        <p:nvSpPr>
          <p:cNvPr id="73" name="Text 68"/>
          <p:cNvSpPr txBox="1"/>
          <p:nvPr/>
        </p:nvSpPr>
        <p:spPr>
          <a:xfrm>
            <a:off x="635508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Incomplete KYC</a:t>
            </a:r>
            <a:endParaRPr lang="en-US" sz="1050" dirty="0"/>
          </a:p>
        </p:txBody>
      </p:sp>
      <p:sp>
        <p:nvSpPr>
          <p:cNvPr id="74" name="Text 69"/>
          <p:cNvSpPr txBox="1"/>
          <p:nvPr/>
        </p:nvSpPr>
        <p:spPr>
          <a:xfrm>
            <a:off x="635508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Started KYC but did not proceed</a:t>
            </a:r>
            <a:endParaRPr lang="en-US" sz="850" dirty="0"/>
          </a:p>
        </p:txBody>
      </p:sp>
      <p:sp>
        <p:nvSpPr>
          <p:cNvPr id="75" name="Text 70"/>
          <p:cNvSpPr txBox="1"/>
          <p:nvPr/>
        </p:nvSpPr>
        <p:spPr>
          <a:xfrm>
            <a:off x="779068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76" name="Shape 71"/>
          <p:cNvSpPr/>
          <p:nvPr/>
        </p:nvSpPr>
        <p:spPr>
          <a:xfrm>
            <a:off x="619048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6190488" y="389534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8" name="Text 73"/>
          <p:cNvSpPr txBox="1"/>
          <p:nvPr/>
        </p:nvSpPr>
        <p:spPr>
          <a:xfrm>
            <a:off x="635508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</a:t>
            </a:r>
            <a:endParaRPr lang="en-US" sz="2400" dirty="0"/>
          </a:p>
        </p:txBody>
      </p:sp>
      <p:sp>
        <p:nvSpPr>
          <p:cNvPr id="79" name="Text 74"/>
          <p:cNvSpPr txBox="1"/>
          <p:nvPr/>
        </p:nvSpPr>
        <p:spPr>
          <a:xfrm>
            <a:off x="635508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Rejected KYC</a:t>
            </a:r>
            <a:endParaRPr lang="en-US" sz="1050" dirty="0"/>
          </a:p>
        </p:txBody>
      </p:sp>
      <p:sp>
        <p:nvSpPr>
          <p:cNvPr id="80" name="Text 75"/>
          <p:cNvSpPr txBox="1"/>
          <p:nvPr/>
        </p:nvSpPr>
        <p:spPr>
          <a:xfrm>
            <a:off x="635508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Resubmission required</a:t>
            </a:r>
            <a:endParaRPr lang="en-US" sz="850" dirty="0"/>
          </a:p>
        </p:txBody>
      </p:sp>
      <p:sp>
        <p:nvSpPr>
          <p:cNvPr id="81" name="Text 76"/>
          <p:cNvSpPr txBox="1"/>
          <p:nvPr/>
        </p:nvSpPr>
        <p:spPr>
          <a:xfrm>
            <a:off x="779068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82" name="Shape 77"/>
          <p:cNvSpPr/>
          <p:nvPr/>
        </p:nvSpPr>
        <p:spPr>
          <a:xfrm>
            <a:off x="619048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6190488" y="499262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4" name="Text 79"/>
          <p:cNvSpPr txBox="1"/>
          <p:nvPr/>
        </p:nvSpPr>
        <p:spPr>
          <a:xfrm>
            <a:off x="635508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131</a:t>
            </a:r>
            <a:endParaRPr lang="en-US" sz="2400" dirty="0"/>
          </a:p>
        </p:txBody>
      </p:sp>
      <p:sp>
        <p:nvSpPr>
          <p:cNvPr id="85" name="Text 80"/>
          <p:cNvSpPr txBox="1"/>
          <p:nvPr/>
        </p:nvSpPr>
        <p:spPr>
          <a:xfrm>
            <a:off x="635508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KYC applications</a:t>
            </a:r>
            <a:endParaRPr lang="en-US" sz="1050" dirty="0"/>
          </a:p>
        </p:txBody>
      </p:sp>
      <p:sp>
        <p:nvSpPr>
          <p:cNvPr id="86" name="Text 81"/>
          <p:cNvSpPr txBox="1"/>
          <p:nvPr/>
        </p:nvSpPr>
        <p:spPr>
          <a:xfrm>
            <a:off x="635508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Onboarded + incomplete + rejected</a:t>
            </a:r>
            <a:endParaRPr lang="en-US" sz="850" dirty="0"/>
          </a:p>
        </p:txBody>
      </p:sp>
      <p:sp>
        <p:nvSpPr>
          <p:cNvPr id="87" name="Shape 82"/>
          <p:cNvSpPr/>
          <p:nvPr/>
        </p:nvSpPr>
        <p:spPr>
          <a:xfrm>
            <a:off x="9002268" y="1408176"/>
            <a:ext cx="45720" cy="155448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88" name="Text 83"/>
          <p:cNvSpPr txBox="1"/>
          <p:nvPr/>
        </p:nvSpPr>
        <p:spPr>
          <a:xfrm>
            <a:off x="911199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SUPPORT TICKETS</a:t>
            </a:r>
            <a:endParaRPr lang="en-US" sz="900" dirty="0"/>
          </a:p>
        </p:txBody>
      </p:sp>
      <p:sp>
        <p:nvSpPr>
          <p:cNvPr id="89" name="Shape 84"/>
          <p:cNvSpPr/>
          <p:nvPr/>
        </p:nvSpPr>
        <p:spPr>
          <a:xfrm>
            <a:off x="900226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9002268" y="170078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1" name="Text 86"/>
          <p:cNvSpPr txBox="1"/>
          <p:nvPr/>
        </p:nvSpPr>
        <p:spPr>
          <a:xfrm>
            <a:off x="916686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25</a:t>
            </a:r>
            <a:endParaRPr lang="en-US" sz="2400" dirty="0"/>
          </a:p>
        </p:txBody>
      </p:sp>
      <p:sp>
        <p:nvSpPr>
          <p:cNvPr id="92" name="Text 87"/>
          <p:cNvSpPr txBox="1"/>
          <p:nvPr/>
        </p:nvSpPr>
        <p:spPr>
          <a:xfrm>
            <a:off x="916686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created</a:t>
            </a:r>
            <a:endParaRPr lang="en-US" sz="1050" dirty="0"/>
          </a:p>
        </p:txBody>
      </p:sp>
      <p:sp>
        <p:nvSpPr>
          <p:cNvPr id="93" name="Text 88"/>
          <p:cNvSpPr txBox="1"/>
          <p:nvPr/>
        </p:nvSpPr>
        <p:spPr>
          <a:xfrm>
            <a:off x="916686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94" name="Text 89"/>
          <p:cNvSpPr txBox="1"/>
          <p:nvPr/>
        </p:nvSpPr>
        <p:spPr>
          <a:xfrm>
            <a:off x="1060246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95" name="Shape 90"/>
          <p:cNvSpPr/>
          <p:nvPr/>
        </p:nvSpPr>
        <p:spPr>
          <a:xfrm>
            <a:off x="900226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9002268" y="279806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7" name="Text 92"/>
          <p:cNvSpPr txBox="1"/>
          <p:nvPr/>
        </p:nvSpPr>
        <p:spPr>
          <a:xfrm>
            <a:off x="916686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25</a:t>
            </a:r>
            <a:endParaRPr lang="en-US" sz="2400" dirty="0"/>
          </a:p>
        </p:txBody>
      </p:sp>
      <p:sp>
        <p:nvSpPr>
          <p:cNvPr id="98" name="Text 93"/>
          <p:cNvSpPr txBox="1"/>
          <p:nvPr/>
        </p:nvSpPr>
        <p:spPr>
          <a:xfrm>
            <a:off x="916686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resolved</a:t>
            </a:r>
            <a:endParaRPr lang="en-US" sz="1050" dirty="0"/>
          </a:p>
        </p:txBody>
      </p:sp>
      <p:sp>
        <p:nvSpPr>
          <p:cNvPr id="99" name="Text 94"/>
          <p:cNvSpPr txBox="1"/>
          <p:nvPr/>
        </p:nvSpPr>
        <p:spPr>
          <a:xfrm>
            <a:off x="916686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100% of tickets created</a:t>
            </a:r>
            <a:endParaRPr lang="en-US" sz="850" dirty="0"/>
          </a:p>
        </p:txBody>
      </p:sp>
      <p:sp>
        <p:nvSpPr>
          <p:cNvPr id="100" name="Text 95"/>
          <p:cNvSpPr txBox="1"/>
          <p:nvPr/>
        </p:nvSpPr>
        <p:spPr>
          <a:xfrm>
            <a:off x="1060246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1" name="Shape 96"/>
          <p:cNvSpPr/>
          <p:nvPr/>
        </p:nvSpPr>
        <p:spPr>
          <a:xfrm>
            <a:off x="900226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9002268" y="389534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3" name="Text 98"/>
          <p:cNvSpPr txBox="1"/>
          <p:nvPr/>
        </p:nvSpPr>
        <p:spPr>
          <a:xfrm>
            <a:off x="916686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</a:t>
            </a:r>
            <a:endParaRPr lang="en-US" sz="2400" dirty="0"/>
          </a:p>
        </p:txBody>
      </p:sp>
      <p:sp>
        <p:nvSpPr>
          <p:cNvPr id="104" name="Text 99"/>
          <p:cNvSpPr txBox="1"/>
          <p:nvPr/>
        </p:nvSpPr>
        <p:spPr>
          <a:xfrm>
            <a:off x="916686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Email queries</a:t>
            </a:r>
            <a:endParaRPr lang="en-US" sz="1050" dirty="0"/>
          </a:p>
        </p:txBody>
      </p:sp>
      <p:sp>
        <p:nvSpPr>
          <p:cNvPr id="105" name="Text 100"/>
          <p:cNvSpPr txBox="1"/>
          <p:nvPr/>
        </p:nvSpPr>
        <p:spPr>
          <a:xfrm>
            <a:off x="916686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06" name="Text 101"/>
          <p:cNvSpPr txBox="1"/>
          <p:nvPr/>
        </p:nvSpPr>
        <p:spPr>
          <a:xfrm>
            <a:off x="1060246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7" name="Shape 102"/>
          <p:cNvSpPr/>
          <p:nvPr/>
        </p:nvSpPr>
        <p:spPr>
          <a:xfrm>
            <a:off x="900226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9002268" y="499262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9" name="Text 104"/>
          <p:cNvSpPr txBox="1"/>
          <p:nvPr/>
        </p:nvSpPr>
        <p:spPr>
          <a:xfrm>
            <a:off x="916686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21</a:t>
            </a:r>
            <a:endParaRPr lang="en-US" sz="2400" dirty="0"/>
          </a:p>
        </p:txBody>
      </p:sp>
      <p:sp>
        <p:nvSpPr>
          <p:cNvPr id="110" name="Text 105"/>
          <p:cNvSpPr txBox="1"/>
          <p:nvPr/>
        </p:nvSpPr>
        <p:spPr>
          <a:xfrm>
            <a:off x="916686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AI support queries</a:t>
            </a:r>
            <a:endParaRPr lang="en-US" sz="1050" dirty="0"/>
          </a:p>
        </p:txBody>
      </p:sp>
      <p:sp>
        <p:nvSpPr>
          <p:cNvPr id="111" name="Text 106"/>
          <p:cNvSpPr txBox="1"/>
          <p:nvPr/>
        </p:nvSpPr>
        <p:spPr>
          <a:xfrm>
            <a:off x="916686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12" name="Text 107"/>
          <p:cNvSpPr txBox="1"/>
          <p:nvPr/>
        </p:nvSpPr>
        <p:spPr>
          <a:xfrm>
            <a:off x="1060246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atemIsa_202508993_IT9002_NLP_Project/emyaa-ceo-deck/working/charts/board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188720"/>
            <a:ext cx="12191695" cy="24689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66928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F3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PLATFORM ANALYTICS  |  PERFORMANCE DASHBOARD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57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 date: 20 Sep 2026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868680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6CFE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Reporting period: All Time   |   Change on each card is against the previous report, 17 Sep 2026</a:t>
            </a:r>
            <a:endParaRPr lang="en-US" sz="1000" dirty="0"/>
          </a:p>
        </p:txBody>
      </p:sp>
      <p:pic>
        <p:nvPicPr>
          <p:cNvPr id="7" name="Image 1" descr="/home/user/HatemIsa_202508993_IT9002_NLP_Project/emyaa-ceo-deck/working/charts/ajy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02336"/>
            <a:ext cx="13258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" y="6272784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Source: eMYAA Daily Performance Dashboard, eMYAA_-_Daily_Performance_Dashboard-1.pdf, page 8.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eMYAA Trading Platform  |  Daily Performance Dashboard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9802368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11</a:t>
            </a:r>
            <a:endParaRPr lang="en-US" sz="800" dirty="0"/>
          </a:p>
        </p:txBody>
      </p:sp>
      <p:pic>
        <p:nvPicPr>
          <p:cNvPr id="11" name="Image 2" descr="/home/user/HatemIsa_202508993_IT9002_NLP_Project/emyaa-ceo-deck/working/charts/emyaa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6336792"/>
            <a:ext cx="1024128" cy="3657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66928" y="1408176"/>
            <a:ext cx="45720" cy="155448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665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DOWNLOADS &amp; RATINGS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6692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66928" y="170078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152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242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downloads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 Store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216712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6692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66928" y="279806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3152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195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73152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downloads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73152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Apple App Store</a:t>
            </a:r>
            <a:endParaRPr lang="en-US" sz="850" dirty="0"/>
          </a:p>
        </p:txBody>
      </p:sp>
      <p:sp>
        <p:nvSpPr>
          <p:cNvPr id="25" name="Text 20"/>
          <p:cNvSpPr txBox="1"/>
          <p:nvPr/>
        </p:nvSpPr>
        <p:spPr>
          <a:xfrm>
            <a:off x="216712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+4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6692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66928" y="389534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3152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29" name="Text 24"/>
          <p:cNvSpPr txBox="1"/>
          <p:nvPr/>
        </p:nvSpPr>
        <p:spPr>
          <a:xfrm>
            <a:off x="73152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app rating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73152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Play, 2 reviews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56692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66928" y="499262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3152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34" name="Text 29"/>
          <p:cNvSpPr txBox="1"/>
          <p:nvPr/>
        </p:nvSpPr>
        <p:spPr>
          <a:xfrm>
            <a:off x="73152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app rating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73152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 Store, 2 reviews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3378708" y="1408176"/>
            <a:ext cx="45720" cy="155448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48843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 ACTIVITY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337870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3378708" y="170078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354330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13</a:t>
            </a:r>
            <a:endParaRPr lang="en-US" sz="2400" dirty="0"/>
          </a:p>
        </p:txBody>
      </p:sp>
      <p:sp>
        <p:nvSpPr>
          <p:cNvPr id="41" name="Text 36"/>
          <p:cNvSpPr txBox="1"/>
          <p:nvPr/>
        </p:nvSpPr>
        <p:spPr>
          <a:xfrm>
            <a:off x="354330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deposited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354330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Funded accounts</a:t>
            </a:r>
            <a:endParaRPr lang="en-US" sz="850" dirty="0"/>
          </a:p>
        </p:txBody>
      </p:sp>
      <p:sp>
        <p:nvSpPr>
          <p:cNvPr id="43" name="Text 38"/>
          <p:cNvSpPr txBox="1"/>
          <p:nvPr/>
        </p:nvSpPr>
        <p:spPr>
          <a:xfrm>
            <a:off x="497890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337870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3378708" y="279806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354330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$10,029.69</a:t>
            </a:r>
            <a:endParaRPr lang="en-US" sz="1900" dirty="0"/>
          </a:p>
        </p:txBody>
      </p:sp>
      <p:sp>
        <p:nvSpPr>
          <p:cNvPr id="47" name="Text 42"/>
          <p:cNvSpPr txBox="1"/>
          <p:nvPr/>
        </p:nvSpPr>
        <p:spPr>
          <a:xfrm>
            <a:off x="354330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AUM</a:t>
            </a:r>
            <a:endParaRPr lang="en-US" sz="1050" dirty="0"/>
          </a:p>
        </p:txBody>
      </p:sp>
      <p:sp>
        <p:nvSpPr>
          <p:cNvPr id="48" name="Text 43"/>
          <p:cNvSpPr txBox="1"/>
          <p:nvPr/>
        </p:nvSpPr>
        <p:spPr>
          <a:xfrm>
            <a:off x="354330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Cumulative platform deposits</a:t>
            </a:r>
            <a:endParaRPr lang="en-US" sz="850" dirty="0"/>
          </a:p>
        </p:txBody>
      </p:sp>
      <p:sp>
        <p:nvSpPr>
          <p:cNvPr id="49" name="Text 44"/>
          <p:cNvSpPr txBox="1"/>
          <p:nvPr/>
        </p:nvSpPr>
        <p:spPr>
          <a:xfrm>
            <a:off x="497890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337870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3378708" y="389534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354330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13</a:t>
            </a:r>
            <a:endParaRPr lang="en-US" sz="2400" dirty="0"/>
          </a:p>
        </p:txBody>
      </p:sp>
      <p:sp>
        <p:nvSpPr>
          <p:cNvPr id="53" name="Text 48"/>
          <p:cNvSpPr txBox="1"/>
          <p:nvPr/>
        </p:nvSpPr>
        <p:spPr>
          <a:xfrm>
            <a:off x="354330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traded</a:t>
            </a:r>
            <a:endParaRPr lang="en-US" sz="1050" dirty="0"/>
          </a:p>
        </p:txBody>
      </p:sp>
      <p:sp>
        <p:nvSpPr>
          <p:cNvPr id="54" name="Text 49"/>
          <p:cNvSpPr txBox="1"/>
          <p:nvPr/>
        </p:nvSpPr>
        <p:spPr>
          <a:xfrm>
            <a:off x="354330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Placed at least 1 trade</a:t>
            </a:r>
            <a:endParaRPr lang="en-US" sz="850" dirty="0"/>
          </a:p>
        </p:txBody>
      </p:sp>
      <p:sp>
        <p:nvSpPr>
          <p:cNvPr id="55" name="Text 50"/>
          <p:cNvSpPr txBox="1"/>
          <p:nvPr/>
        </p:nvSpPr>
        <p:spPr>
          <a:xfrm>
            <a:off x="497890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6" name="Shape 51"/>
          <p:cNvSpPr/>
          <p:nvPr/>
        </p:nvSpPr>
        <p:spPr>
          <a:xfrm>
            <a:off x="337870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3378708" y="499262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354330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49</a:t>
            </a:r>
            <a:endParaRPr lang="en-US" sz="2400" dirty="0"/>
          </a:p>
        </p:txBody>
      </p:sp>
      <p:sp>
        <p:nvSpPr>
          <p:cNvPr id="59" name="Text 54"/>
          <p:cNvSpPr txBox="1"/>
          <p:nvPr/>
        </p:nvSpPr>
        <p:spPr>
          <a:xfrm>
            <a:off x="354330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trades</a:t>
            </a:r>
            <a:endParaRPr lang="en-US" sz="1050" dirty="0"/>
          </a:p>
        </p:txBody>
      </p:sp>
      <p:sp>
        <p:nvSpPr>
          <p:cNvPr id="60" name="Text 55"/>
          <p:cNvSpPr txBox="1"/>
          <p:nvPr/>
        </p:nvSpPr>
        <p:spPr>
          <a:xfrm>
            <a:off x="354330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Executed across all users</a:t>
            </a:r>
            <a:endParaRPr lang="en-US" sz="850" dirty="0"/>
          </a:p>
        </p:txBody>
      </p:sp>
      <p:sp>
        <p:nvSpPr>
          <p:cNvPr id="61" name="Text 56"/>
          <p:cNvSpPr txBox="1"/>
          <p:nvPr/>
        </p:nvSpPr>
        <p:spPr>
          <a:xfrm>
            <a:off x="497890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62" name="Shape 57"/>
          <p:cNvSpPr/>
          <p:nvPr/>
        </p:nvSpPr>
        <p:spPr>
          <a:xfrm>
            <a:off x="6190488" y="1408176"/>
            <a:ext cx="45720" cy="1554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630021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KYC STATUS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619048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6190488" y="170078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635508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57</a:t>
            </a:r>
            <a:endParaRPr lang="en-US" sz="2400" dirty="0"/>
          </a:p>
        </p:txBody>
      </p:sp>
      <p:sp>
        <p:nvSpPr>
          <p:cNvPr id="67" name="Text 62"/>
          <p:cNvSpPr txBox="1"/>
          <p:nvPr/>
        </p:nvSpPr>
        <p:spPr>
          <a:xfrm>
            <a:off x="635508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onboarded</a:t>
            </a:r>
            <a:endParaRPr lang="en-US" sz="1050" dirty="0"/>
          </a:p>
        </p:txBody>
      </p:sp>
      <p:sp>
        <p:nvSpPr>
          <p:cNvPr id="68" name="Text 63"/>
          <p:cNvSpPr txBox="1"/>
          <p:nvPr/>
        </p:nvSpPr>
        <p:spPr>
          <a:xfrm>
            <a:off x="635508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Completed signup and verification</a:t>
            </a:r>
            <a:endParaRPr lang="en-US" sz="850" dirty="0"/>
          </a:p>
        </p:txBody>
      </p:sp>
      <p:sp>
        <p:nvSpPr>
          <p:cNvPr id="69" name="Text 64"/>
          <p:cNvSpPr txBox="1"/>
          <p:nvPr/>
        </p:nvSpPr>
        <p:spPr>
          <a:xfrm>
            <a:off x="779068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+3</a:t>
            </a:r>
            <a:endParaRPr lang="en-US" sz="850" dirty="0"/>
          </a:p>
        </p:txBody>
      </p:sp>
      <p:sp>
        <p:nvSpPr>
          <p:cNvPr id="70" name="Shape 65"/>
          <p:cNvSpPr/>
          <p:nvPr/>
        </p:nvSpPr>
        <p:spPr>
          <a:xfrm>
            <a:off x="619048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6190488" y="279806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2" name="Text 67"/>
          <p:cNvSpPr txBox="1"/>
          <p:nvPr/>
        </p:nvSpPr>
        <p:spPr>
          <a:xfrm>
            <a:off x="635508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64</a:t>
            </a:r>
            <a:endParaRPr lang="en-US" sz="2400" dirty="0"/>
          </a:p>
        </p:txBody>
      </p:sp>
      <p:sp>
        <p:nvSpPr>
          <p:cNvPr id="73" name="Text 68"/>
          <p:cNvSpPr txBox="1"/>
          <p:nvPr/>
        </p:nvSpPr>
        <p:spPr>
          <a:xfrm>
            <a:off x="635508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Incomplete KYC</a:t>
            </a:r>
            <a:endParaRPr lang="en-US" sz="1050" dirty="0"/>
          </a:p>
        </p:txBody>
      </p:sp>
      <p:sp>
        <p:nvSpPr>
          <p:cNvPr id="74" name="Text 69"/>
          <p:cNvSpPr txBox="1"/>
          <p:nvPr/>
        </p:nvSpPr>
        <p:spPr>
          <a:xfrm>
            <a:off x="635508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Started KYC but did not proceed</a:t>
            </a:r>
            <a:endParaRPr lang="en-US" sz="850" dirty="0"/>
          </a:p>
        </p:txBody>
      </p:sp>
      <p:sp>
        <p:nvSpPr>
          <p:cNvPr id="75" name="Text 70"/>
          <p:cNvSpPr txBox="1"/>
          <p:nvPr/>
        </p:nvSpPr>
        <p:spPr>
          <a:xfrm>
            <a:off x="779068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5303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76" name="Shape 71"/>
          <p:cNvSpPr/>
          <p:nvPr/>
        </p:nvSpPr>
        <p:spPr>
          <a:xfrm>
            <a:off x="619048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6190488" y="389534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8" name="Text 73"/>
          <p:cNvSpPr txBox="1"/>
          <p:nvPr/>
        </p:nvSpPr>
        <p:spPr>
          <a:xfrm>
            <a:off x="635508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</a:t>
            </a:r>
            <a:endParaRPr lang="en-US" sz="2400" dirty="0"/>
          </a:p>
        </p:txBody>
      </p:sp>
      <p:sp>
        <p:nvSpPr>
          <p:cNvPr id="79" name="Text 74"/>
          <p:cNvSpPr txBox="1"/>
          <p:nvPr/>
        </p:nvSpPr>
        <p:spPr>
          <a:xfrm>
            <a:off x="635508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Rejected KYC</a:t>
            </a:r>
            <a:endParaRPr lang="en-US" sz="1050" dirty="0"/>
          </a:p>
        </p:txBody>
      </p:sp>
      <p:sp>
        <p:nvSpPr>
          <p:cNvPr id="80" name="Text 75"/>
          <p:cNvSpPr txBox="1"/>
          <p:nvPr/>
        </p:nvSpPr>
        <p:spPr>
          <a:xfrm>
            <a:off x="635508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Resubmission required</a:t>
            </a:r>
            <a:endParaRPr lang="en-US" sz="850" dirty="0"/>
          </a:p>
        </p:txBody>
      </p:sp>
      <p:sp>
        <p:nvSpPr>
          <p:cNvPr id="81" name="Text 76"/>
          <p:cNvSpPr txBox="1"/>
          <p:nvPr/>
        </p:nvSpPr>
        <p:spPr>
          <a:xfrm>
            <a:off x="779068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82" name="Shape 77"/>
          <p:cNvSpPr/>
          <p:nvPr/>
        </p:nvSpPr>
        <p:spPr>
          <a:xfrm>
            <a:off x="619048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6190488" y="499262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4" name="Text 79"/>
          <p:cNvSpPr txBox="1"/>
          <p:nvPr/>
        </p:nvSpPr>
        <p:spPr>
          <a:xfrm>
            <a:off x="635508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131</a:t>
            </a:r>
            <a:endParaRPr lang="en-US" sz="2400" dirty="0"/>
          </a:p>
        </p:txBody>
      </p:sp>
      <p:sp>
        <p:nvSpPr>
          <p:cNvPr id="85" name="Text 80"/>
          <p:cNvSpPr txBox="1"/>
          <p:nvPr/>
        </p:nvSpPr>
        <p:spPr>
          <a:xfrm>
            <a:off x="635508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KYC applications</a:t>
            </a:r>
            <a:endParaRPr lang="en-US" sz="1050" dirty="0"/>
          </a:p>
        </p:txBody>
      </p:sp>
      <p:sp>
        <p:nvSpPr>
          <p:cNvPr id="86" name="Text 81"/>
          <p:cNvSpPr txBox="1"/>
          <p:nvPr/>
        </p:nvSpPr>
        <p:spPr>
          <a:xfrm>
            <a:off x="635508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Onboarded + incomplete + rejected</a:t>
            </a:r>
            <a:endParaRPr lang="en-US" sz="850" dirty="0"/>
          </a:p>
        </p:txBody>
      </p:sp>
      <p:sp>
        <p:nvSpPr>
          <p:cNvPr id="87" name="Shape 82"/>
          <p:cNvSpPr/>
          <p:nvPr/>
        </p:nvSpPr>
        <p:spPr>
          <a:xfrm>
            <a:off x="9002268" y="1408176"/>
            <a:ext cx="45720" cy="155448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88" name="Text 83"/>
          <p:cNvSpPr txBox="1"/>
          <p:nvPr/>
        </p:nvSpPr>
        <p:spPr>
          <a:xfrm>
            <a:off x="911199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SUPPORT TICKETS</a:t>
            </a:r>
            <a:endParaRPr lang="en-US" sz="900" dirty="0"/>
          </a:p>
        </p:txBody>
      </p:sp>
      <p:sp>
        <p:nvSpPr>
          <p:cNvPr id="89" name="Shape 84"/>
          <p:cNvSpPr/>
          <p:nvPr/>
        </p:nvSpPr>
        <p:spPr>
          <a:xfrm>
            <a:off x="900226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9002268" y="170078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1" name="Text 86"/>
          <p:cNvSpPr txBox="1"/>
          <p:nvPr/>
        </p:nvSpPr>
        <p:spPr>
          <a:xfrm>
            <a:off x="916686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25</a:t>
            </a:r>
            <a:endParaRPr lang="en-US" sz="2400" dirty="0"/>
          </a:p>
        </p:txBody>
      </p:sp>
      <p:sp>
        <p:nvSpPr>
          <p:cNvPr id="92" name="Text 87"/>
          <p:cNvSpPr txBox="1"/>
          <p:nvPr/>
        </p:nvSpPr>
        <p:spPr>
          <a:xfrm>
            <a:off x="916686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created</a:t>
            </a:r>
            <a:endParaRPr lang="en-US" sz="1050" dirty="0"/>
          </a:p>
        </p:txBody>
      </p:sp>
      <p:sp>
        <p:nvSpPr>
          <p:cNvPr id="93" name="Text 88"/>
          <p:cNvSpPr txBox="1"/>
          <p:nvPr/>
        </p:nvSpPr>
        <p:spPr>
          <a:xfrm>
            <a:off x="916686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94" name="Text 89"/>
          <p:cNvSpPr txBox="1"/>
          <p:nvPr/>
        </p:nvSpPr>
        <p:spPr>
          <a:xfrm>
            <a:off x="1060246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95" name="Shape 90"/>
          <p:cNvSpPr/>
          <p:nvPr/>
        </p:nvSpPr>
        <p:spPr>
          <a:xfrm>
            <a:off x="900226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9002268" y="279806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7" name="Text 92"/>
          <p:cNvSpPr txBox="1"/>
          <p:nvPr/>
        </p:nvSpPr>
        <p:spPr>
          <a:xfrm>
            <a:off x="916686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25</a:t>
            </a:r>
            <a:endParaRPr lang="en-US" sz="2400" dirty="0"/>
          </a:p>
        </p:txBody>
      </p:sp>
      <p:sp>
        <p:nvSpPr>
          <p:cNvPr id="98" name="Text 93"/>
          <p:cNvSpPr txBox="1"/>
          <p:nvPr/>
        </p:nvSpPr>
        <p:spPr>
          <a:xfrm>
            <a:off x="916686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resolved</a:t>
            </a:r>
            <a:endParaRPr lang="en-US" sz="1050" dirty="0"/>
          </a:p>
        </p:txBody>
      </p:sp>
      <p:sp>
        <p:nvSpPr>
          <p:cNvPr id="99" name="Text 94"/>
          <p:cNvSpPr txBox="1"/>
          <p:nvPr/>
        </p:nvSpPr>
        <p:spPr>
          <a:xfrm>
            <a:off x="916686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100% of tickets created</a:t>
            </a:r>
            <a:endParaRPr lang="en-US" sz="850" dirty="0"/>
          </a:p>
        </p:txBody>
      </p:sp>
      <p:sp>
        <p:nvSpPr>
          <p:cNvPr id="100" name="Text 95"/>
          <p:cNvSpPr txBox="1"/>
          <p:nvPr/>
        </p:nvSpPr>
        <p:spPr>
          <a:xfrm>
            <a:off x="1060246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101" name="Shape 96"/>
          <p:cNvSpPr/>
          <p:nvPr/>
        </p:nvSpPr>
        <p:spPr>
          <a:xfrm>
            <a:off x="900226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9002268" y="389534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3" name="Text 98"/>
          <p:cNvSpPr txBox="1"/>
          <p:nvPr/>
        </p:nvSpPr>
        <p:spPr>
          <a:xfrm>
            <a:off x="916686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</a:t>
            </a:r>
            <a:endParaRPr lang="en-US" sz="2400" dirty="0"/>
          </a:p>
        </p:txBody>
      </p:sp>
      <p:sp>
        <p:nvSpPr>
          <p:cNvPr id="104" name="Text 99"/>
          <p:cNvSpPr txBox="1"/>
          <p:nvPr/>
        </p:nvSpPr>
        <p:spPr>
          <a:xfrm>
            <a:off x="916686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Email queries</a:t>
            </a:r>
            <a:endParaRPr lang="en-US" sz="1050" dirty="0"/>
          </a:p>
        </p:txBody>
      </p:sp>
      <p:sp>
        <p:nvSpPr>
          <p:cNvPr id="105" name="Text 100"/>
          <p:cNvSpPr txBox="1"/>
          <p:nvPr/>
        </p:nvSpPr>
        <p:spPr>
          <a:xfrm>
            <a:off x="916686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06" name="Text 101"/>
          <p:cNvSpPr txBox="1"/>
          <p:nvPr/>
        </p:nvSpPr>
        <p:spPr>
          <a:xfrm>
            <a:off x="1060246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7" name="Shape 102"/>
          <p:cNvSpPr/>
          <p:nvPr/>
        </p:nvSpPr>
        <p:spPr>
          <a:xfrm>
            <a:off x="900226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9002268" y="499262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9" name="Text 104"/>
          <p:cNvSpPr txBox="1"/>
          <p:nvPr/>
        </p:nvSpPr>
        <p:spPr>
          <a:xfrm>
            <a:off x="916686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21</a:t>
            </a:r>
            <a:endParaRPr lang="en-US" sz="2400" dirty="0"/>
          </a:p>
        </p:txBody>
      </p:sp>
      <p:sp>
        <p:nvSpPr>
          <p:cNvPr id="110" name="Text 105"/>
          <p:cNvSpPr txBox="1"/>
          <p:nvPr/>
        </p:nvSpPr>
        <p:spPr>
          <a:xfrm>
            <a:off x="916686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AI support queries</a:t>
            </a:r>
            <a:endParaRPr lang="en-US" sz="1050" dirty="0"/>
          </a:p>
        </p:txBody>
      </p:sp>
      <p:sp>
        <p:nvSpPr>
          <p:cNvPr id="111" name="Text 106"/>
          <p:cNvSpPr txBox="1"/>
          <p:nvPr/>
        </p:nvSpPr>
        <p:spPr>
          <a:xfrm>
            <a:off x="916686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12" name="Text 107"/>
          <p:cNvSpPr txBox="1"/>
          <p:nvPr/>
        </p:nvSpPr>
        <p:spPr>
          <a:xfrm>
            <a:off x="1060246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atemIsa_202508993_IT9002_NLP_Project/emyaa-ceo-deck/working/charts/board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188720"/>
            <a:ext cx="12191695" cy="24689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66928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F3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PLATFORM ANALYTICS  |  PERFORMANCE DASHBOARD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57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 date: 17 Sep 2026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868680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6CFE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Reporting period: All Time   |   Change on each card is against the previous report, 16 Sep 2026</a:t>
            </a:r>
            <a:endParaRPr lang="en-US" sz="1000" dirty="0"/>
          </a:p>
        </p:txBody>
      </p:sp>
      <p:pic>
        <p:nvPicPr>
          <p:cNvPr id="7" name="Image 1" descr="/home/user/HatemIsa_202508993_IT9002_NLP_Project/emyaa-ceo-deck/working/charts/ajy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02336"/>
            <a:ext cx="13258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" y="6272784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Source: eMYAA Daily Performance Dashboard, eMYAA_-_Daily_Performance_Dashboard-1.pdf, page 9. This report labels the money card 'Total Deposits'; later reports label the same measure 'Total AUM'.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eMYAA Trading Platform  |  Daily Performance Dashboard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9802368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12</a:t>
            </a:r>
            <a:endParaRPr lang="en-US" sz="800" dirty="0"/>
          </a:p>
        </p:txBody>
      </p:sp>
      <p:pic>
        <p:nvPicPr>
          <p:cNvPr id="11" name="Image 2" descr="/home/user/HatemIsa_202508993_IT9002_NLP_Project/emyaa-ceo-deck/working/charts/emyaa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6336792"/>
            <a:ext cx="1024128" cy="3657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66928" y="1408176"/>
            <a:ext cx="45720" cy="155448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665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DOWNLOADS &amp; RATINGS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6692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66928" y="170078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152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241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downloads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 Store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216712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6692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66928" y="279806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3152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191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73152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downloads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73152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Apple App Store</a:t>
            </a:r>
            <a:endParaRPr lang="en-US" sz="850" dirty="0"/>
          </a:p>
        </p:txBody>
      </p:sp>
      <p:sp>
        <p:nvSpPr>
          <p:cNvPr id="25" name="Text 20"/>
          <p:cNvSpPr txBox="1"/>
          <p:nvPr/>
        </p:nvSpPr>
        <p:spPr>
          <a:xfrm>
            <a:off x="216712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+2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6692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66928" y="389534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3152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29" name="Text 24"/>
          <p:cNvSpPr txBox="1"/>
          <p:nvPr/>
        </p:nvSpPr>
        <p:spPr>
          <a:xfrm>
            <a:off x="73152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app rating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73152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Play, 2 reviews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56692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66928" y="499262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3152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34" name="Text 29"/>
          <p:cNvSpPr txBox="1"/>
          <p:nvPr/>
        </p:nvSpPr>
        <p:spPr>
          <a:xfrm>
            <a:off x="73152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app rating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73152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 Store, 2 reviews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3378708" y="1408176"/>
            <a:ext cx="45720" cy="155448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48843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 ACTIVITY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337870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3378708" y="170078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354330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13</a:t>
            </a:r>
            <a:endParaRPr lang="en-US" sz="2400" dirty="0"/>
          </a:p>
        </p:txBody>
      </p:sp>
      <p:sp>
        <p:nvSpPr>
          <p:cNvPr id="41" name="Text 36"/>
          <p:cNvSpPr txBox="1"/>
          <p:nvPr/>
        </p:nvSpPr>
        <p:spPr>
          <a:xfrm>
            <a:off x="354330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deposited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354330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Funded accounts</a:t>
            </a:r>
            <a:endParaRPr lang="en-US" sz="850" dirty="0"/>
          </a:p>
        </p:txBody>
      </p:sp>
      <p:sp>
        <p:nvSpPr>
          <p:cNvPr id="43" name="Text 38"/>
          <p:cNvSpPr txBox="1"/>
          <p:nvPr/>
        </p:nvSpPr>
        <p:spPr>
          <a:xfrm>
            <a:off x="497890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337870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3378708" y="279806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354330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$10,029.69</a:t>
            </a:r>
            <a:endParaRPr lang="en-US" sz="1900" dirty="0"/>
          </a:p>
        </p:txBody>
      </p:sp>
      <p:sp>
        <p:nvSpPr>
          <p:cNvPr id="47" name="Text 42"/>
          <p:cNvSpPr txBox="1"/>
          <p:nvPr/>
        </p:nvSpPr>
        <p:spPr>
          <a:xfrm>
            <a:off x="354330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deposits</a:t>
            </a:r>
            <a:endParaRPr lang="en-US" sz="1050" dirty="0"/>
          </a:p>
        </p:txBody>
      </p:sp>
      <p:sp>
        <p:nvSpPr>
          <p:cNvPr id="48" name="Text 43"/>
          <p:cNvSpPr txBox="1"/>
          <p:nvPr/>
        </p:nvSpPr>
        <p:spPr>
          <a:xfrm>
            <a:off x="354330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Cumulative platform deposits</a:t>
            </a:r>
            <a:endParaRPr lang="en-US" sz="850" dirty="0"/>
          </a:p>
        </p:txBody>
      </p:sp>
      <p:sp>
        <p:nvSpPr>
          <p:cNvPr id="49" name="Text 44"/>
          <p:cNvSpPr txBox="1"/>
          <p:nvPr/>
        </p:nvSpPr>
        <p:spPr>
          <a:xfrm>
            <a:off x="497890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+$1,500.00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337870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3378708" y="389534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354330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13</a:t>
            </a:r>
            <a:endParaRPr lang="en-US" sz="2400" dirty="0"/>
          </a:p>
        </p:txBody>
      </p:sp>
      <p:sp>
        <p:nvSpPr>
          <p:cNvPr id="53" name="Text 48"/>
          <p:cNvSpPr txBox="1"/>
          <p:nvPr/>
        </p:nvSpPr>
        <p:spPr>
          <a:xfrm>
            <a:off x="354330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traded</a:t>
            </a:r>
            <a:endParaRPr lang="en-US" sz="1050" dirty="0"/>
          </a:p>
        </p:txBody>
      </p:sp>
      <p:sp>
        <p:nvSpPr>
          <p:cNvPr id="54" name="Text 49"/>
          <p:cNvSpPr txBox="1"/>
          <p:nvPr/>
        </p:nvSpPr>
        <p:spPr>
          <a:xfrm>
            <a:off x="354330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Placed at least 1 trade</a:t>
            </a:r>
            <a:endParaRPr lang="en-US" sz="850" dirty="0"/>
          </a:p>
        </p:txBody>
      </p:sp>
      <p:sp>
        <p:nvSpPr>
          <p:cNvPr id="55" name="Text 50"/>
          <p:cNvSpPr txBox="1"/>
          <p:nvPr/>
        </p:nvSpPr>
        <p:spPr>
          <a:xfrm>
            <a:off x="497890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56" name="Shape 51"/>
          <p:cNvSpPr/>
          <p:nvPr/>
        </p:nvSpPr>
        <p:spPr>
          <a:xfrm>
            <a:off x="337870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3378708" y="499262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354330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49</a:t>
            </a:r>
            <a:endParaRPr lang="en-US" sz="2400" dirty="0"/>
          </a:p>
        </p:txBody>
      </p:sp>
      <p:sp>
        <p:nvSpPr>
          <p:cNvPr id="59" name="Text 54"/>
          <p:cNvSpPr txBox="1"/>
          <p:nvPr/>
        </p:nvSpPr>
        <p:spPr>
          <a:xfrm>
            <a:off x="354330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trades</a:t>
            </a:r>
            <a:endParaRPr lang="en-US" sz="1050" dirty="0"/>
          </a:p>
        </p:txBody>
      </p:sp>
      <p:sp>
        <p:nvSpPr>
          <p:cNvPr id="60" name="Text 55"/>
          <p:cNvSpPr txBox="1"/>
          <p:nvPr/>
        </p:nvSpPr>
        <p:spPr>
          <a:xfrm>
            <a:off x="354330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Executed across all users</a:t>
            </a:r>
            <a:endParaRPr lang="en-US" sz="850" dirty="0"/>
          </a:p>
        </p:txBody>
      </p:sp>
      <p:sp>
        <p:nvSpPr>
          <p:cNvPr id="61" name="Text 56"/>
          <p:cNvSpPr txBox="1"/>
          <p:nvPr/>
        </p:nvSpPr>
        <p:spPr>
          <a:xfrm>
            <a:off x="497890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+2</a:t>
            </a:r>
            <a:endParaRPr lang="en-US" sz="850" dirty="0"/>
          </a:p>
        </p:txBody>
      </p:sp>
      <p:sp>
        <p:nvSpPr>
          <p:cNvPr id="62" name="Shape 57"/>
          <p:cNvSpPr/>
          <p:nvPr/>
        </p:nvSpPr>
        <p:spPr>
          <a:xfrm>
            <a:off x="6190488" y="1408176"/>
            <a:ext cx="45720" cy="1554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630021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KYC STATUS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619048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6190488" y="170078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635508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54</a:t>
            </a:r>
            <a:endParaRPr lang="en-US" sz="2400" dirty="0"/>
          </a:p>
        </p:txBody>
      </p:sp>
      <p:sp>
        <p:nvSpPr>
          <p:cNvPr id="67" name="Text 62"/>
          <p:cNvSpPr txBox="1"/>
          <p:nvPr/>
        </p:nvSpPr>
        <p:spPr>
          <a:xfrm>
            <a:off x="635508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onboarded</a:t>
            </a:r>
            <a:endParaRPr lang="en-US" sz="1050" dirty="0"/>
          </a:p>
        </p:txBody>
      </p:sp>
      <p:sp>
        <p:nvSpPr>
          <p:cNvPr id="68" name="Text 63"/>
          <p:cNvSpPr txBox="1"/>
          <p:nvPr/>
        </p:nvSpPr>
        <p:spPr>
          <a:xfrm>
            <a:off x="635508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Completed signup and verification</a:t>
            </a:r>
            <a:endParaRPr lang="en-US" sz="850" dirty="0"/>
          </a:p>
        </p:txBody>
      </p:sp>
      <p:sp>
        <p:nvSpPr>
          <p:cNvPr id="69" name="Text 64"/>
          <p:cNvSpPr txBox="1"/>
          <p:nvPr/>
        </p:nvSpPr>
        <p:spPr>
          <a:xfrm>
            <a:off x="779068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70" name="Shape 65"/>
          <p:cNvSpPr/>
          <p:nvPr/>
        </p:nvSpPr>
        <p:spPr>
          <a:xfrm>
            <a:off x="619048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6190488" y="279806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2" name="Text 67"/>
          <p:cNvSpPr txBox="1"/>
          <p:nvPr/>
        </p:nvSpPr>
        <p:spPr>
          <a:xfrm>
            <a:off x="635508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63</a:t>
            </a:r>
            <a:endParaRPr lang="en-US" sz="2400" dirty="0"/>
          </a:p>
        </p:txBody>
      </p:sp>
      <p:sp>
        <p:nvSpPr>
          <p:cNvPr id="73" name="Text 68"/>
          <p:cNvSpPr txBox="1"/>
          <p:nvPr/>
        </p:nvSpPr>
        <p:spPr>
          <a:xfrm>
            <a:off x="635508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Incomplete KYC</a:t>
            </a:r>
            <a:endParaRPr lang="en-US" sz="1050" dirty="0"/>
          </a:p>
        </p:txBody>
      </p:sp>
      <p:sp>
        <p:nvSpPr>
          <p:cNvPr id="74" name="Text 69"/>
          <p:cNvSpPr txBox="1"/>
          <p:nvPr/>
        </p:nvSpPr>
        <p:spPr>
          <a:xfrm>
            <a:off x="635508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Started KYC but did not proceed</a:t>
            </a:r>
            <a:endParaRPr lang="en-US" sz="850" dirty="0"/>
          </a:p>
        </p:txBody>
      </p:sp>
      <p:sp>
        <p:nvSpPr>
          <p:cNvPr id="75" name="Text 70"/>
          <p:cNvSpPr txBox="1"/>
          <p:nvPr/>
        </p:nvSpPr>
        <p:spPr>
          <a:xfrm>
            <a:off x="779068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-1</a:t>
            </a:r>
            <a:endParaRPr lang="en-US" sz="850" dirty="0"/>
          </a:p>
        </p:txBody>
      </p:sp>
      <p:sp>
        <p:nvSpPr>
          <p:cNvPr id="76" name="Shape 71"/>
          <p:cNvSpPr/>
          <p:nvPr/>
        </p:nvSpPr>
        <p:spPr>
          <a:xfrm>
            <a:off x="619048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6190488" y="389534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8" name="Text 73"/>
          <p:cNvSpPr txBox="1"/>
          <p:nvPr/>
        </p:nvSpPr>
        <p:spPr>
          <a:xfrm>
            <a:off x="635508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</a:t>
            </a:r>
            <a:endParaRPr lang="en-US" sz="2400" dirty="0"/>
          </a:p>
        </p:txBody>
      </p:sp>
      <p:sp>
        <p:nvSpPr>
          <p:cNvPr id="79" name="Text 74"/>
          <p:cNvSpPr txBox="1"/>
          <p:nvPr/>
        </p:nvSpPr>
        <p:spPr>
          <a:xfrm>
            <a:off x="635508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Rejected KYC</a:t>
            </a:r>
            <a:endParaRPr lang="en-US" sz="1050" dirty="0"/>
          </a:p>
        </p:txBody>
      </p:sp>
      <p:sp>
        <p:nvSpPr>
          <p:cNvPr id="80" name="Text 75"/>
          <p:cNvSpPr txBox="1"/>
          <p:nvPr/>
        </p:nvSpPr>
        <p:spPr>
          <a:xfrm>
            <a:off x="635508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Resubmission required</a:t>
            </a:r>
            <a:endParaRPr lang="en-US" sz="850" dirty="0"/>
          </a:p>
        </p:txBody>
      </p:sp>
      <p:sp>
        <p:nvSpPr>
          <p:cNvPr id="81" name="Text 76"/>
          <p:cNvSpPr txBox="1"/>
          <p:nvPr/>
        </p:nvSpPr>
        <p:spPr>
          <a:xfrm>
            <a:off x="779068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82" name="Shape 77"/>
          <p:cNvSpPr/>
          <p:nvPr/>
        </p:nvSpPr>
        <p:spPr>
          <a:xfrm>
            <a:off x="619048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6190488" y="499262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4" name="Text 79"/>
          <p:cNvSpPr txBox="1"/>
          <p:nvPr/>
        </p:nvSpPr>
        <p:spPr>
          <a:xfrm>
            <a:off x="635508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127</a:t>
            </a:r>
            <a:endParaRPr lang="en-US" sz="2400" dirty="0"/>
          </a:p>
        </p:txBody>
      </p:sp>
      <p:sp>
        <p:nvSpPr>
          <p:cNvPr id="85" name="Text 80"/>
          <p:cNvSpPr txBox="1"/>
          <p:nvPr/>
        </p:nvSpPr>
        <p:spPr>
          <a:xfrm>
            <a:off x="635508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KYC applications</a:t>
            </a:r>
            <a:endParaRPr lang="en-US" sz="1050" dirty="0"/>
          </a:p>
        </p:txBody>
      </p:sp>
      <p:sp>
        <p:nvSpPr>
          <p:cNvPr id="86" name="Text 81"/>
          <p:cNvSpPr txBox="1"/>
          <p:nvPr/>
        </p:nvSpPr>
        <p:spPr>
          <a:xfrm>
            <a:off x="635508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Onboarded + incomplete + rejected</a:t>
            </a:r>
            <a:endParaRPr lang="en-US" sz="850" dirty="0"/>
          </a:p>
        </p:txBody>
      </p:sp>
      <p:sp>
        <p:nvSpPr>
          <p:cNvPr id="87" name="Shape 82"/>
          <p:cNvSpPr/>
          <p:nvPr/>
        </p:nvSpPr>
        <p:spPr>
          <a:xfrm>
            <a:off x="9002268" y="1408176"/>
            <a:ext cx="45720" cy="155448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88" name="Text 83"/>
          <p:cNvSpPr txBox="1"/>
          <p:nvPr/>
        </p:nvSpPr>
        <p:spPr>
          <a:xfrm>
            <a:off x="911199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SUPPORT TICKETS</a:t>
            </a:r>
            <a:endParaRPr lang="en-US" sz="900" dirty="0"/>
          </a:p>
        </p:txBody>
      </p:sp>
      <p:sp>
        <p:nvSpPr>
          <p:cNvPr id="89" name="Shape 84"/>
          <p:cNvSpPr/>
          <p:nvPr/>
        </p:nvSpPr>
        <p:spPr>
          <a:xfrm>
            <a:off x="900226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9002268" y="170078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1" name="Text 86"/>
          <p:cNvSpPr txBox="1"/>
          <p:nvPr/>
        </p:nvSpPr>
        <p:spPr>
          <a:xfrm>
            <a:off x="916686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25</a:t>
            </a:r>
            <a:endParaRPr lang="en-US" sz="2400" dirty="0"/>
          </a:p>
        </p:txBody>
      </p:sp>
      <p:sp>
        <p:nvSpPr>
          <p:cNvPr id="92" name="Text 87"/>
          <p:cNvSpPr txBox="1"/>
          <p:nvPr/>
        </p:nvSpPr>
        <p:spPr>
          <a:xfrm>
            <a:off x="916686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created</a:t>
            </a:r>
            <a:endParaRPr lang="en-US" sz="1050" dirty="0"/>
          </a:p>
        </p:txBody>
      </p:sp>
      <p:sp>
        <p:nvSpPr>
          <p:cNvPr id="93" name="Text 88"/>
          <p:cNvSpPr txBox="1"/>
          <p:nvPr/>
        </p:nvSpPr>
        <p:spPr>
          <a:xfrm>
            <a:off x="916686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94" name="Text 89"/>
          <p:cNvSpPr txBox="1"/>
          <p:nvPr/>
        </p:nvSpPr>
        <p:spPr>
          <a:xfrm>
            <a:off x="1060246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95" name="Shape 90"/>
          <p:cNvSpPr/>
          <p:nvPr/>
        </p:nvSpPr>
        <p:spPr>
          <a:xfrm>
            <a:off x="900226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9002268" y="279806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7" name="Text 92"/>
          <p:cNvSpPr txBox="1"/>
          <p:nvPr/>
        </p:nvSpPr>
        <p:spPr>
          <a:xfrm>
            <a:off x="916686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</a:t>
            </a:r>
            <a:endParaRPr lang="en-US" sz="2400" dirty="0"/>
          </a:p>
        </p:txBody>
      </p:sp>
      <p:sp>
        <p:nvSpPr>
          <p:cNvPr id="98" name="Text 93"/>
          <p:cNvSpPr txBox="1"/>
          <p:nvPr/>
        </p:nvSpPr>
        <p:spPr>
          <a:xfrm>
            <a:off x="916686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resolved</a:t>
            </a:r>
            <a:endParaRPr lang="en-US" sz="1050" dirty="0"/>
          </a:p>
        </p:txBody>
      </p:sp>
      <p:sp>
        <p:nvSpPr>
          <p:cNvPr id="99" name="Text 94"/>
          <p:cNvSpPr txBox="1"/>
          <p:nvPr/>
        </p:nvSpPr>
        <p:spPr>
          <a:xfrm>
            <a:off x="916686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96% of tickets created</a:t>
            </a:r>
            <a:endParaRPr lang="en-US" sz="850" dirty="0"/>
          </a:p>
        </p:txBody>
      </p:sp>
      <p:sp>
        <p:nvSpPr>
          <p:cNvPr id="100" name="Text 95"/>
          <p:cNvSpPr txBox="1"/>
          <p:nvPr/>
        </p:nvSpPr>
        <p:spPr>
          <a:xfrm>
            <a:off x="1060246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1" name="Shape 96"/>
          <p:cNvSpPr/>
          <p:nvPr/>
        </p:nvSpPr>
        <p:spPr>
          <a:xfrm>
            <a:off x="900226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9002268" y="389534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3" name="Text 98"/>
          <p:cNvSpPr txBox="1"/>
          <p:nvPr/>
        </p:nvSpPr>
        <p:spPr>
          <a:xfrm>
            <a:off x="916686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</a:t>
            </a:r>
            <a:endParaRPr lang="en-US" sz="2400" dirty="0"/>
          </a:p>
        </p:txBody>
      </p:sp>
      <p:sp>
        <p:nvSpPr>
          <p:cNvPr id="104" name="Text 99"/>
          <p:cNvSpPr txBox="1"/>
          <p:nvPr/>
        </p:nvSpPr>
        <p:spPr>
          <a:xfrm>
            <a:off x="916686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Email queries</a:t>
            </a:r>
            <a:endParaRPr lang="en-US" sz="1050" dirty="0"/>
          </a:p>
        </p:txBody>
      </p:sp>
      <p:sp>
        <p:nvSpPr>
          <p:cNvPr id="105" name="Text 100"/>
          <p:cNvSpPr txBox="1"/>
          <p:nvPr/>
        </p:nvSpPr>
        <p:spPr>
          <a:xfrm>
            <a:off x="916686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06" name="Text 101"/>
          <p:cNvSpPr txBox="1"/>
          <p:nvPr/>
        </p:nvSpPr>
        <p:spPr>
          <a:xfrm>
            <a:off x="1060246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7" name="Shape 102"/>
          <p:cNvSpPr/>
          <p:nvPr/>
        </p:nvSpPr>
        <p:spPr>
          <a:xfrm>
            <a:off x="900226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9002268" y="499262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9" name="Text 104"/>
          <p:cNvSpPr txBox="1"/>
          <p:nvPr/>
        </p:nvSpPr>
        <p:spPr>
          <a:xfrm>
            <a:off x="916686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21</a:t>
            </a:r>
            <a:endParaRPr lang="en-US" sz="2400" dirty="0"/>
          </a:p>
        </p:txBody>
      </p:sp>
      <p:sp>
        <p:nvSpPr>
          <p:cNvPr id="110" name="Text 105"/>
          <p:cNvSpPr txBox="1"/>
          <p:nvPr/>
        </p:nvSpPr>
        <p:spPr>
          <a:xfrm>
            <a:off x="916686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AI support queries</a:t>
            </a:r>
            <a:endParaRPr lang="en-US" sz="1050" dirty="0"/>
          </a:p>
        </p:txBody>
      </p:sp>
      <p:sp>
        <p:nvSpPr>
          <p:cNvPr id="111" name="Text 106"/>
          <p:cNvSpPr txBox="1"/>
          <p:nvPr/>
        </p:nvSpPr>
        <p:spPr>
          <a:xfrm>
            <a:off x="916686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12" name="Text 107"/>
          <p:cNvSpPr txBox="1"/>
          <p:nvPr/>
        </p:nvSpPr>
        <p:spPr>
          <a:xfrm>
            <a:off x="1060246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atemIsa_202508993_IT9002_NLP_Project/emyaa-ceo-deck/working/charts/board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188720"/>
            <a:ext cx="12191695" cy="24689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66928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F3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PLATFORM ANALYTICS  |  PERFORMANCE DASHBOARD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57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 date: 16 Sep 2026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868680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6CFE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Reporting period: All Time   |   Change on each card is against the previous report, 14 Sep 2026</a:t>
            </a:r>
            <a:endParaRPr lang="en-US" sz="1000" dirty="0"/>
          </a:p>
        </p:txBody>
      </p:sp>
      <p:pic>
        <p:nvPicPr>
          <p:cNvPr id="7" name="Image 1" descr="/home/user/HatemIsa_202508993_IT9002_NLP_Project/emyaa-ceo-deck/working/charts/ajy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02336"/>
            <a:ext cx="13258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" y="6272784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Source: eMYAA Daily Performance Dashboard, eMYAA_-_Daily_Performance_Dashboard-1.pdf, page 10. This report labels the money card 'Total Deposits'; later reports label the same measure 'Total AUM'.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eMYAA Trading Platform  |  Daily Performance Dashboard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9802368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13</a:t>
            </a:r>
            <a:endParaRPr lang="en-US" sz="800" dirty="0"/>
          </a:p>
        </p:txBody>
      </p:sp>
      <p:pic>
        <p:nvPicPr>
          <p:cNvPr id="11" name="Image 2" descr="/home/user/HatemIsa_202508993_IT9002_NLP_Project/emyaa-ceo-deck/working/charts/emyaa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6336792"/>
            <a:ext cx="1024128" cy="3657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66928" y="1408176"/>
            <a:ext cx="45720" cy="155448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665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DOWNLOADS &amp; RATINGS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6692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66928" y="170078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152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241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downloads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 Store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216712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+4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6692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66928" y="279806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3152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189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73152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downloads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73152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Apple App Store</a:t>
            </a:r>
            <a:endParaRPr lang="en-US" sz="850" dirty="0"/>
          </a:p>
        </p:txBody>
      </p:sp>
      <p:sp>
        <p:nvSpPr>
          <p:cNvPr id="25" name="Text 20"/>
          <p:cNvSpPr txBox="1"/>
          <p:nvPr/>
        </p:nvSpPr>
        <p:spPr>
          <a:xfrm>
            <a:off x="216712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+3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6692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66928" y="389534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3152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29" name="Text 24"/>
          <p:cNvSpPr txBox="1"/>
          <p:nvPr/>
        </p:nvSpPr>
        <p:spPr>
          <a:xfrm>
            <a:off x="73152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app rating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73152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Play, 2 reviews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56692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66928" y="499262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3152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34" name="Text 29"/>
          <p:cNvSpPr txBox="1"/>
          <p:nvPr/>
        </p:nvSpPr>
        <p:spPr>
          <a:xfrm>
            <a:off x="73152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app rating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73152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 Store, 2 reviews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3378708" y="1408176"/>
            <a:ext cx="45720" cy="155448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48843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 ACTIVITY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337870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3378708" y="170078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354330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12</a:t>
            </a:r>
            <a:endParaRPr lang="en-US" sz="2400" dirty="0"/>
          </a:p>
        </p:txBody>
      </p:sp>
      <p:sp>
        <p:nvSpPr>
          <p:cNvPr id="41" name="Text 36"/>
          <p:cNvSpPr txBox="1"/>
          <p:nvPr/>
        </p:nvSpPr>
        <p:spPr>
          <a:xfrm>
            <a:off x="354330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deposited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354330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Funded accounts</a:t>
            </a:r>
            <a:endParaRPr lang="en-US" sz="850" dirty="0"/>
          </a:p>
        </p:txBody>
      </p:sp>
      <p:sp>
        <p:nvSpPr>
          <p:cNvPr id="43" name="Text 38"/>
          <p:cNvSpPr txBox="1"/>
          <p:nvPr/>
        </p:nvSpPr>
        <p:spPr>
          <a:xfrm>
            <a:off x="497890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337870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3378708" y="279806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354330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$8,529.69</a:t>
            </a:r>
            <a:endParaRPr lang="en-US" sz="1900" dirty="0"/>
          </a:p>
        </p:txBody>
      </p:sp>
      <p:sp>
        <p:nvSpPr>
          <p:cNvPr id="47" name="Text 42"/>
          <p:cNvSpPr txBox="1"/>
          <p:nvPr/>
        </p:nvSpPr>
        <p:spPr>
          <a:xfrm>
            <a:off x="354330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deposits</a:t>
            </a:r>
            <a:endParaRPr lang="en-US" sz="1050" dirty="0"/>
          </a:p>
        </p:txBody>
      </p:sp>
      <p:sp>
        <p:nvSpPr>
          <p:cNvPr id="48" name="Text 43"/>
          <p:cNvSpPr txBox="1"/>
          <p:nvPr/>
        </p:nvSpPr>
        <p:spPr>
          <a:xfrm>
            <a:off x="354330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Cumulative platform deposits</a:t>
            </a:r>
            <a:endParaRPr lang="en-US" sz="850" dirty="0"/>
          </a:p>
        </p:txBody>
      </p:sp>
      <p:sp>
        <p:nvSpPr>
          <p:cNvPr id="49" name="Text 44"/>
          <p:cNvSpPr txBox="1"/>
          <p:nvPr/>
        </p:nvSpPr>
        <p:spPr>
          <a:xfrm>
            <a:off x="497890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337870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3378708" y="389534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354330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12</a:t>
            </a:r>
            <a:endParaRPr lang="en-US" sz="2400" dirty="0"/>
          </a:p>
        </p:txBody>
      </p:sp>
      <p:sp>
        <p:nvSpPr>
          <p:cNvPr id="53" name="Text 48"/>
          <p:cNvSpPr txBox="1"/>
          <p:nvPr/>
        </p:nvSpPr>
        <p:spPr>
          <a:xfrm>
            <a:off x="354330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traded</a:t>
            </a:r>
            <a:endParaRPr lang="en-US" sz="1050" dirty="0"/>
          </a:p>
        </p:txBody>
      </p:sp>
      <p:sp>
        <p:nvSpPr>
          <p:cNvPr id="54" name="Text 49"/>
          <p:cNvSpPr txBox="1"/>
          <p:nvPr/>
        </p:nvSpPr>
        <p:spPr>
          <a:xfrm>
            <a:off x="354330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Placed at least 1 trade</a:t>
            </a:r>
            <a:endParaRPr lang="en-US" sz="850" dirty="0"/>
          </a:p>
        </p:txBody>
      </p:sp>
      <p:sp>
        <p:nvSpPr>
          <p:cNvPr id="55" name="Text 50"/>
          <p:cNvSpPr txBox="1"/>
          <p:nvPr/>
        </p:nvSpPr>
        <p:spPr>
          <a:xfrm>
            <a:off x="497890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6" name="Shape 51"/>
          <p:cNvSpPr/>
          <p:nvPr/>
        </p:nvSpPr>
        <p:spPr>
          <a:xfrm>
            <a:off x="337870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3378708" y="499262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354330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47</a:t>
            </a:r>
            <a:endParaRPr lang="en-US" sz="2400" dirty="0"/>
          </a:p>
        </p:txBody>
      </p:sp>
      <p:sp>
        <p:nvSpPr>
          <p:cNvPr id="59" name="Text 54"/>
          <p:cNvSpPr txBox="1"/>
          <p:nvPr/>
        </p:nvSpPr>
        <p:spPr>
          <a:xfrm>
            <a:off x="354330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trades</a:t>
            </a:r>
            <a:endParaRPr lang="en-US" sz="1050" dirty="0"/>
          </a:p>
        </p:txBody>
      </p:sp>
      <p:sp>
        <p:nvSpPr>
          <p:cNvPr id="60" name="Text 55"/>
          <p:cNvSpPr txBox="1"/>
          <p:nvPr/>
        </p:nvSpPr>
        <p:spPr>
          <a:xfrm>
            <a:off x="354330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Executed across all users</a:t>
            </a:r>
            <a:endParaRPr lang="en-US" sz="850" dirty="0"/>
          </a:p>
        </p:txBody>
      </p:sp>
      <p:sp>
        <p:nvSpPr>
          <p:cNvPr id="61" name="Text 56"/>
          <p:cNvSpPr txBox="1"/>
          <p:nvPr/>
        </p:nvSpPr>
        <p:spPr>
          <a:xfrm>
            <a:off x="497890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62" name="Shape 57"/>
          <p:cNvSpPr/>
          <p:nvPr/>
        </p:nvSpPr>
        <p:spPr>
          <a:xfrm>
            <a:off x="6190488" y="1408176"/>
            <a:ext cx="45720" cy="1554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630021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KYC STATUS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619048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6190488" y="170078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635508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53</a:t>
            </a:r>
            <a:endParaRPr lang="en-US" sz="2400" dirty="0"/>
          </a:p>
        </p:txBody>
      </p:sp>
      <p:sp>
        <p:nvSpPr>
          <p:cNvPr id="67" name="Text 62"/>
          <p:cNvSpPr txBox="1"/>
          <p:nvPr/>
        </p:nvSpPr>
        <p:spPr>
          <a:xfrm>
            <a:off x="635508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onboarded</a:t>
            </a:r>
            <a:endParaRPr lang="en-US" sz="1050" dirty="0"/>
          </a:p>
        </p:txBody>
      </p:sp>
      <p:sp>
        <p:nvSpPr>
          <p:cNvPr id="68" name="Text 63"/>
          <p:cNvSpPr txBox="1"/>
          <p:nvPr/>
        </p:nvSpPr>
        <p:spPr>
          <a:xfrm>
            <a:off x="635508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Completed signup and verification</a:t>
            </a:r>
            <a:endParaRPr lang="en-US" sz="850" dirty="0"/>
          </a:p>
        </p:txBody>
      </p:sp>
      <p:sp>
        <p:nvSpPr>
          <p:cNvPr id="69" name="Text 64"/>
          <p:cNvSpPr txBox="1"/>
          <p:nvPr/>
        </p:nvSpPr>
        <p:spPr>
          <a:xfrm>
            <a:off x="779068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70" name="Shape 65"/>
          <p:cNvSpPr/>
          <p:nvPr/>
        </p:nvSpPr>
        <p:spPr>
          <a:xfrm>
            <a:off x="619048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6190488" y="279806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2" name="Text 67"/>
          <p:cNvSpPr txBox="1"/>
          <p:nvPr/>
        </p:nvSpPr>
        <p:spPr>
          <a:xfrm>
            <a:off x="635508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64</a:t>
            </a:r>
            <a:endParaRPr lang="en-US" sz="2400" dirty="0"/>
          </a:p>
        </p:txBody>
      </p:sp>
      <p:sp>
        <p:nvSpPr>
          <p:cNvPr id="73" name="Text 68"/>
          <p:cNvSpPr txBox="1"/>
          <p:nvPr/>
        </p:nvSpPr>
        <p:spPr>
          <a:xfrm>
            <a:off x="635508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Incomplete KYC</a:t>
            </a:r>
            <a:endParaRPr lang="en-US" sz="1050" dirty="0"/>
          </a:p>
        </p:txBody>
      </p:sp>
      <p:sp>
        <p:nvSpPr>
          <p:cNvPr id="74" name="Text 69"/>
          <p:cNvSpPr txBox="1"/>
          <p:nvPr/>
        </p:nvSpPr>
        <p:spPr>
          <a:xfrm>
            <a:off x="635508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Started KYC but did not proceed</a:t>
            </a:r>
            <a:endParaRPr lang="en-US" sz="850" dirty="0"/>
          </a:p>
        </p:txBody>
      </p:sp>
      <p:sp>
        <p:nvSpPr>
          <p:cNvPr id="75" name="Text 70"/>
          <p:cNvSpPr txBox="1"/>
          <p:nvPr/>
        </p:nvSpPr>
        <p:spPr>
          <a:xfrm>
            <a:off x="779068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5303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76" name="Shape 71"/>
          <p:cNvSpPr/>
          <p:nvPr/>
        </p:nvSpPr>
        <p:spPr>
          <a:xfrm>
            <a:off x="619048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6190488" y="389534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8" name="Text 73"/>
          <p:cNvSpPr txBox="1"/>
          <p:nvPr/>
        </p:nvSpPr>
        <p:spPr>
          <a:xfrm>
            <a:off x="635508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</a:t>
            </a:r>
            <a:endParaRPr lang="en-US" sz="2400" dirty="0"/>
          </a:p>
        </p:txBody>
      </p:sp>
      <p:sp>
        <p:nvSpPr>
          <p:cNvPr id="79" name="Text 74"/>
          <p:cNvSpPr txBox="1"/>
          <p:nvPr/>
        </p:nvSpPr>
        <p:spPr>
          <a:xfrm>
            <a:off x="635508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Rejected KYC</a:t>
            </a:r>
            <a:endParaRPr lang="en-US" sz="1050" dirty="0"/>
          </a:p>
        </p:txBody>
      </p:sp>
      <p:sp>
        <p:nvSpPr>
          <p:cNvPr id="80" name="Text 75"/>
          <p:cNvSpPr txBox="1"/>
          <p:nvPr/>
        </p:nvSpPr>
        <p:spPr>
          <a:xfrm>
            <a:off x="635508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Resubmission required</a:t>
            </a:r>
            <a:endParaRPr lang="en-US" sz="850" dirty="0"/>
          </a:p>
        </p:txBody>
      </p:sp>
      <p:sp>
        <p:nvSpPr>
          <p:cNvPr id="81" name="Text 76"/>
          <p:cNvSpPr txBox="1"/>
          <p:nvPr/>
        </p:nvSpPr>
        <p:spPr>
          <a:xfrm>
            <a:off x="779068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82" name="Shape 77"/>
          <p:cNvSpPr/>
          <p:nvPr/>
        </p:nvSpPr>
        <p:spPr>
          <a:xfrm>
            <a:off x="619048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6190488" y="499262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4" name="Text 79"/>
          <p:cNvSpPr txBox="1"/>
          <p:nvPr/>
        </p:nvSpPr>
        <p:spPr>
          <a:xfrm>
            <a:off x="635508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127</a:t>
            </a:r>
            <a:endParaRPr lang="en-US" sz="2400" dirty="0"/>
          </a:p>
        </p:txBody>
      </p:sp>
      <p:sp>
        <p:nvSpPr>
          <p:cNvPr id="85" name="Text 80"/>
          <p:cNvSpPr txBox="1"/>
          <p:nvPr/>
        </p:nvSpPr>
        <p:spPr>
          <a:xfrm>
            <a:off x="635508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KYC applications</a:t>
            </a:r>
            <a:endParaRPr lang="en-US" sz="1050" dirty="0"/>
          </a:p>
        </p:txBody>
      </p:sp>
      <p:sp>
        <p:nvSpPr>
          <p:cNvPr id="86" name="Text 81"/>
          <p:cNvSpPr txBox="1"/>
          <p:nvPr/>
        </p:nvSpPr>
        <p:spPr>
          <a:xfrm>
            <a:off x="635508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Onboarded + incomplete + rejected</a:t>
            </a:r>
            <a:endParaRPr lang="en-US" sz="850" dirty="0"/>
          </a:p>
        </p:txBody>
      </p:sp>
      <p:sp>
        <p:nvSpPr>
          <p:cNvPr id="87" name="Shape 82"/>
          <p:cNvSpPr/>
          <p:nvPr/>
        </p:nvSpPr>
        <p:spPr>
          <a:xfrm>
            <a:off x="9002268" y="1408176"/>
            <a:ext cx="45720" cy="155448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88" name="Text 83"/>
          <p:cNvSpPr txBox="1"/>
          <p:nvPr/>
        </p:nvSpPr>
        <p:spPr>
          <a:xfrm>
            <a:off x="911199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SUPPORT TICKETS</a:t>
            </a:r>
            <a:endParaRPr lang="en-US" sz="900" dirty="0"/>
          </a:p>
        </p:txBody>
      </p:sp>
      <p:sp>
        <p:nvSpPr>
          <p:cNvPr id="89" name="Shape 84"/>
          <p:cNvSpPr/>
          <p:nvPr/>
        </p:nvSpPr>
        <p:spPr>
          <a:xfrm>
            <a:off x="900226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9002268" y="170078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1" name="Text 86"/>
          <p:cNvSpPr txBox="1"/>
          <p:nvPr/>
        </p:nvSpPr>
        <p:spPr>
          <a:xfrm>
            <a:off x="916686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25</a:t>
            </a:r>
            <a:endParaRPr lang="en-US" sz="2400" dirty="0"/>
          </a:p>
        </p:txBody>
      </p:sp>
      <p:sp>
        <p:nvSpPr>
          <p:cNvPr id="92" name="Text 87"/>
          <p:cNvSpPr txBox="1"/>
          <p:nvPr/>
        </p:nvSpPr>
        <p:spPr>
          <a:xfrm>
            <a:off x="916686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created</a:t>
            </a:r>
            <a:endParaRPr lang="en-US" sz="1050" dirty="0"/>
          </a:p>
        </p:txBody>
      </p:sp>
      <p:sp>
        <p:nvSpPr>
          <p:cNvPr id="93" name="Text 88"/>
          <p:cNvSpPr txBox="1"/>
          <p:nvPr/>
        </p:nvSpPr>
        <p:spPr>
          <a:xfrm>
            <a:off x="916686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94" name="Text 89"/>
          <p:cNvSpPr txBox="1"/>
          <p:nvPr/>
        </p:nvSpPr>
        <p:spPr>
          <a:xfrm>
            <a:off x="1060246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95" name="Shape 90"/>
          <p:cNvSpPr/>
          <p:nvPr/>
        </p:nvSpPr>
        <p:spPr>
          <a:xfrm>
            <a:off x="900226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9002268" y="279806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7" name="Text 92"/>
          <p:cNvSpPr txBox="1"/>
          <p:nvPr/>
        </p:nvSpPr>
        <p:spPr>
          <a:xfrm>
            <a:off x="916686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</a:t>
            </a:r>
            <a:endParaRPr lang="en-US" sz="2400" dirty="0"/>
          </a:p>
        </p:txBody>
      </p:sp>
      <p:sp>
        <p:nvSpPr>
          <p:cNvPr id="98" name="Text 93"/>
          <p:cNvSpPr txBox="1"/>
          <p:nvPr/>
        </p:nvSpPr>
        <p:spPr>
          <a:xfrm>
            <a:off x="916686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resolved</a:t>
            </a:r>
            <a:endParaRPr lang="en-US" sz="1050" dirty="0"/>
          </a:p>
        </p:txBody>
      </p:sp>
      <p:sp>
        <p:nvSpPr>
          <p:cNvPr id="99" name="Text 94"/>
          <p:cNvSpPr txBox="1"/>
          <p:nvPr/>
        </p:nvSpPr>
        <p:spPr>
          <a:xfrm>
            <a:off x="916686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96% of tickets created</a:t>
            </a:r>
            <a:endParaRPr lang="en-US" sz="850" dirty="0"/>
          </a:p>
        </p:txBody>
      </p:sp>
      <p:sp>
        <p:nvSpPr>
          <p:cNvPr id="100" name="Text 95"/>
          <p:cNvSpPr txBox="1"/>
          <p:nvPr/>
        </p:nvSpPr>
        <p:spPr>
          <a:xfrm>
            <a:off x="1060246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1" name="Shape 96"/>
          <p:cNvSpPr/>
          <p:nvPr/>
        </p:nvSpPr>
        <p:spPr>
          <a:xfrm>
            <a:off x="900226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9002268" y="389534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3" name="Text 98"/>
          <p:cNvSpPr txBox="1"/>
          <p:nvPr/>
        </p:nvSpPr>
        <p:spPr>
          <a:xfrm>
            <a:off x="916686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</a:t>
            </a:r>
            <a:endParaRPr lang="en-US" sz="2400" dirty="0"/>
          </a:p>
        </p:txBody>
      </p:sp>
      <p:sp>
        <p:nvSpPr>
          <p:cNvPr id="104" name="Text 99"/>
          <p:cNvSpPr txBox="1"/>
          <p:nvPr/>
        </p:nvSpPr>
        <p:spPr>
          <a:xfrm>
            <a:off x="916686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Email queries</a:t>
            </a:r>
            <a:endParaRPr lang="en-US" sz="1050" dirty="0"/>
          </a:p>
        </p:txBody>
      </p:sp>
      <p:sp>
        <p:nvSpPr>
          <p:cNvPr id="105" name="Text 100"/>
          <p:cNvSpPr txBox="1"/>
          <p:nvPr/>
        </p:nvSpPr>
        <p:spPr>
          <a:xfrm>
            <a:off x="916686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06" name="Text 101"/>
          <p:cNvSpPr txBox="1"/>
          <p:nvPr/>
        </p:nvSpPr>
        <p:spPr>
          <a:xfrm>
            <a:off x="1060246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7" name="Shape 102"/>
          <p:cNvSpPr/>
          <p:nvPr/>
        </p:nvSpPr>
        <p:spPr>
          <a:xfrm>
            <a:off x="900226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9002268" y="499262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9" name="Text 104"/>
          <p:cNvSpPr txBox="1"/>
          <p:nvPr/>
        </p:nvSpPr>
        <p:spPr>
          <a:xfrm>
            <a:off x="916686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21</a:t>
            </a:r>
            <a:endParaRPr lang="en-US" sz="2400" dirty="0"/>
          </a:p>
        </p:txBody>
      </p:sp>
      <p:sp>
        <p:nvSpPr>
          <p:cNvPr id="110" name="Text 105"/>
          <p:cNvSpPr txBox="1"/>
          <p:nvPr/>
        </p:nvSpPr>
        <p:spPr>
          <a:xfrm>
            <a:off x="916686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AI support queries</a:t>
            </a:r>
            <a:endParaRPr lang="en-US" sz="1050" dirty="0"/>
          </a:p>
        </p:txBody>
      </p:sp>
      <p:sp>
        <p:nvSpPr>
          <p:cNvPr id="111" name="Text 106"/>
          <p:cNvSpPr txBox="1"/>
          <p:nvPr/>
        </p:nvSpPr>
        <p:spPr>
          <a:xfrm>
            <a:off x="916686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12" name="Text 107"/>
          <p:cNvSpPr txBox="1"/>
          <p:nvPr/>
        </p:nvSpPr>
        <p:spPr>
          <a:xfrm>
            <a:off x="1060246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atemIsa_202508993_IT9002_NLP_Project/emyaa-ceo-deck/working/charts/board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188720"/>
            <a:ext cx="12191695" cy="24689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66928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F3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PLATFORM ANALYTICS  |  PERFORMANCE DASHBOARD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57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 date: 14 Sep 2026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868680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6CFE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Reporting period: All Time   |   Change on each card is against the previous report, 13 Sep 2026</a:t>
            </a:r>
            <a:endParaRPr lang="en-US" sz="1000" dirty="0"/>
          </a:p>
        </p:txBody>
      </p:sp>
      <p:pic>
        <p:nvPicPr>
          <p:cNvPr id="7" name="Image 1" descr="/home/user/HatemIsa_202508993_IT9002_NLP_Project/emyaa-ceo-deck/working/charts/ajy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02336"/>
            <a:ext cx="13258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" y="6272784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Source: eMYAA Daily Performance Dashboard, eMYAA_-_Daily_Performance_Dashboard-1.pdf, page 11. This report labels the money card 'Total Deposits'; later reports label the same measure 'Total AUM'.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eMYAA Trading Platform  |  Daily Performance Dashboard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9802368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14</a:t>
            </a:r>
            <a:endParaRPr lang="en-US" sz="800" dirty="0"/>
          </a:p>
        </p:txBody>
      </p:sp>
      <p:pic>
        <p:nvPicPr>
          <p:cNvPr id="11" name="Image 2" descr="/home/user/HatemIsa_202508993_IT9002_NLP_Project/emyaa-ceo-deck/working/charts/emyaa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6336792"/>
            <a:ext cx="1024128" cy="3657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66928" y="1408176"/>
            <a:ext cx="45720" cy="155448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665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DOWNLOADS &amp; RATINGS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6692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66928" y="170078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152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237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downloads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 Store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216712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+3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6692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66928" y="279806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3152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186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73152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downloads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73152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Apple App Store</a:t>
            </a:r>
            <a:endParaRPr lang="en-US" sz="850" dirty="0"/>
          </a:p>
        </p:txBody>
      </p:sp>
      <p:sp>
        <p:nvSpPr>
          <p:cNvPr id="25" name="Text 20"/>
          <p:cNvSpPr txBox="1"/>
          <p:nvPr/>
        </p:nvSpPr>
        <p:spPr>
          <a:xfrm>
            <a:off x="216712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6692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66928" y="389534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3152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29" name="Text 24"/>
          <p:cNvSpPr txBox="1"/>
          <p:nvPr/>
        </p:nvSpPr>
        <p:spPr>
          <a:xfrm>
            <a:off x="73152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app rating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73152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Play, 2 reviews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56692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66928" y="499262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3152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34" name="Text 29"/>
          <p:cNvSpPr txBox="1"/>
          <p:nvPr/>
        </p:nvSpPr>
        <p:spPr>
          <a:xfrm>
            <a:off x="73152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app rating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73152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 Store, 2 reviews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3378708" y="1408176"/>
            <a:ext cx="45720" cy="155448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48843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 ACTIVITY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337870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3378708" y="170078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354330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12</a:t>
            </a:r>
            <a:endParaRPr lang="en-US" sz="2400" dirty="0"/>
          </a:p>
        </p:txBody>
      </p:sp>
      <p:sp>
        <p:nvSpPr>
          <p:cNvPr id="41" name="Text 36"/>
          <p:cNvSpPr txBox="1"/>
          <p:nvPr/>
        </p:nvSpPr>
        <p:spPr>
          <a:xfrm>
            <a:off x="354330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deposited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354330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Funded accounts</a:t>
            </a:r>
            <a:endParaRPr lang="en-US" sz="850" dirty="0"/>
          </a:p>
        </p:txBody>
      </p:sp>
      <p:sp>
        <p:nvSpPr>
          <p:cNvPr id="43" name="Text 38"/>
          <p:cNvSpPr txBox="1"/>
          <p:nvPr/>
        </p:nvSpPr>
        <p:spPr>
          <a:xfrm>
            <a:off x="497890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337870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3378708" y="279806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354330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$8,529.69</a:t>
            </a:r>
            <a:endParaRPr lang="en-US" sz="1900" dirty="0"/>
          </a:p>
        </p:txBody>
      </p:sp>
      <p:sp>
        <p:nvSpPr>
          <p:cNvPr id="47" name="Text 42"/>
          <p:cNvSpPr txBox="1"/>
          <p:nvPr/>
        </p:nvSpPr>
        <p:spPr>
          <a:xfrm>
            <a:off x="354330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deposits</a:t>
            </a:r>
            <a:endParaRPr lang="en-US" sz="1050" dirty="0"/>
          </a:p>
        </p:txBody>
      </p:sp>
      <p:sp>
        <p:nvSpPr>
          <p:cNvPr id="48" name="Text 43"/>
          <p:cNvSpPr txBox="1"/>
          <p:nvPr/>
        </p:nvSpPr>
        <p:spPr>
          <a:xfrm>
            <a:off x="354330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Cumulative platform deposits</a:t>
            </a:r>
            <a:endParaRPr lang="en-US" sz="850" dirty="0"/>
          </a:p>
        </p:txBody>
      </p:sp>
      <p:sp>
        <p:nvSpPr>
          <p:cNvPr id="49" name="Text 44"/>
          <p:cNvSpPr txBox="1"/>
          <p:nvPr/>
        </p:nvSpPr>
        <p:spPr>
          <a:xfrm>
            <a:off x="497890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337870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3378708" y="389534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354330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12</a:t>
            </a:r>
            <a:endParaRPr lang="en-US" sz="2400" dirty="0"/>
          </a:p>
        </p:txBody>
      </p:sp>
      <p:sp>
        <p:nvSpPr>
          <p:cNvPr id="53" name="Text 48"/>
          <p:cNvSpPr txBox="1"/>
          <p:nvPr/>
        </p:nvSpPr>
        <p:spPr>
          <a:xfrm>
            <a:off x="354330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traded</a:t>
            </a:r>
            <a:endParaRPr lang="en-US" sz="1050" dirty="0"/>
          </a:p>
        </p:txBody>
      </p:sp>
      <p:sp>
        <p:nvSpPr>
          <p:cNvPr id="54" name="Text 49"/>
          <p:cNvSpPr txBox="1"/>
          <p:nvPr/>
        </p:nvSpPr>
        <p:spPr>
          <a:xfrm>
            <a:off x="354330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Placed at least 1 trade</a:t>
            </a:r>
            <a:endParaRPr lang="en-US" sz="850" dirty="0"/>
          </a:p>
        </p:txBody>
      </p:sp>
      <p:sp>
        <p:nvSpPr>
          <p:cNvPr id="55" name="Text 50"/>
          <p:cNvSpPr txBox="1"/>
          <p:nvPr/>
        </p:nvSpPr>
        <p:spPr>
          <a:xfrm>
            <a:off x="497890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6" name="Shape 51"/>
          <p:cNvSpPr/>
          <p:nvPr/>
        </p:nvSpPr>
        <p:spPr>
          <a:xfrm>
            <a:off x="337870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3378708" y="499262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354330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47</a:t>
            </a:r>
            <a:endParaRPr lang="en-US" sz="2400" dirty="0"/>
          </a:p>
        </p:txBody>
      </p:sp>
      <p:sp>
        <p:nvSpPr>
          <p:cNvPr id="59" name="Text 54"/>
          <p:cNvSpPr txBox="1"/>
          <p:nvPr/>
        </p:nvSpPr>
        <p:spPr>
          <a:xfrm>
            <a:off x="354330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trades</a:t>
            </a:r>
            <a:endParaRPr lang="en-US" sz="1050" dirty="0"/>
          </a:p>
        </p:txBody>
      </p:sp>
      <p:sp>
        <p:nvSpPr>
          <p:cNvPr id="60" name="Text 55"/>
          <p:cNvSpPr txBox="1"/>
          <p:nvPr/>
        </p:nvSpPr>
        <p:spPr>
          <a:xfrm>
            <a:off x="354330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Executed across all users</a:t>
            </a:r>
            <a:endParaRPr lang="en-US" sz="850" dirty="0"/>
          </a:p>
        </p:txBody>
      </p:sp>
      <p:sp>
        <p:nvSpPr>
          <p:cNvPr id="61" name="Text 56"/>
          <p:cNvSpPr txBox="1"/>
          <p:nvPr/>
        </p:nvSpPr>
        <p:spPr>
          <a:xfrm>
            <a:off x="497890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62" name="Shape 57"/>
          <p:cNvSpPr/>
          <p:nvPr/>
        </p:nvSpPr>
        <p:spPr>
          <a:xfrm>
            <a:off x="6190488" y="1408176"/>
            <a:ext cx="45720" cy="1554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630021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KYC STATUS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619048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6190488" y="170078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635508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52</a:t>
            </a:r>
            <a:endParaRPr lang="en-US" sz="2400" dirty="0"/>
          </a:p>
        </p:txBody>
      </p:sp>
      <p:sp>
        <p:nvSpPr>
          <p:cNvPr id="67" name="Text 62"/>
          <p:cNvSpPr txBox="1"/>
          <p:nvPr/>
        </p:nvSpPr>
        <p:spPr>
          <a:xfrm>
            <a:off x="635508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onboarded</a:t>
            </a:r>
            <a:endParaRPr lang="en-US" sz="1050" dirty="0"/>
          </a:p>
        </p:txBody>
      </p:sp>
      <p:sp>
        <p:nvSpPr>
          <p:cNvPr id="68" name="Text 63"/>
          <p:cNvSpPr txBox="1"/>
          <p:nvPr/>
        </p:nvSpPr>
        <p:spPr>
          <a:xfrm>
            <a:off x="635508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Completed signup and verification</a:t>
            </a:r>
            <a:endParaRPr lang="en-US" sz="850" dirty="0"/>
          </a:p>
        </p:txBody>
      </p:sp>
      <p:sp>
        <p:nvSpPr>
          <p:cNvPr id="69" name="Text 64"/>
          <p:cNvSpPr txBox="1"/>
          <p:nvPr/>
        </p:nvSpPr>
        <p:spPr>
          <a:xfrm>
            <a:off x="779068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70" name="Shape 65"/>
          <p:cNvSpPr/>
          <p:nvPr/>
        </p:nvSpPr>
        <p:spPr>
          <a:xfrm>
            <a:off x="619048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6190488" y="279806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2" name="Text 67"/>
          <p:cNvSpPr txBox="1"/>
          <p:nvPr/>
        </p:nvSpPr>
        <p:spPr>
          <a:xfrm>
            <a:off x="635508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63</a:t>
            </a:r>
            <a:endParaRPr lang="en-US" sz="2400" dirty="0"/>
          </a:p>
        </p:txBody>
      </p:sp>
      <p:sp>
        <p:nvSpPr>
          <p:cNvPr id="73" name="Text 68"/>
          <p:cNvSpPr txBox="1"/>
          <p:nvPr/>
        </p:nvSpPr>
        <p:spPr>
          <a:xfrm>
            <a:off x="635508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Incomplete KYC</a:t>
            </a:r>
            <a:endParaRPr lang="en-US" sz="1050" dirty="0"/>
          </a:p>
        </p:txBody>
      </p:sp>
      <p:sp>
        <p:nvSpPr>
          <p:cNvPr id="74" name="Text 69"/>
          <p:cNvSpPr txBox="1"/>
          <p:nvPr/>
        </p:nvSpPr>
        <p:spPr>
          <a:xfrm>
            <a:off x="635508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Started KYC but did not proceed</a:t>
            </a:r>
            <a:endParaRPr lang="en-US" sz="850" dirty="0"/>
          </a:p>
        </p:txBody>
      </p:sp>
      <p:sp>
        <p:nvSpPr>
          <p:cNvPr id="75" name="Text 70"/>
          <p:cNvSpPr txBox="1"/>
          <p:nvPr/>
        </p:nvSpPr>
        <p:spPr>
          <a:xfrm>
            <a:off x="779068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5303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76" name="Shape 71"/>
          <p:cNvSpPr/>
          <p:nvPr/>
        </p:nvSpPr>
        <p:spPr>
          <a:xfrm>
            <a:off x="619048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6190488" y="389534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8" name="Text 73"/>
          <p:cNvSpPr txBox="1"/>
          <p:nvPr/>
        </p:nvSpPr>
        <p:spPr>
          <a:xfrm>
            <a:off x="635508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</a:t>
            </a:r>
            <a:endParaRPr lang="en-US" sz="2400" dirty="0"/>
          </a:p>
        </p:txBody>
      </p:sp>
      <p:sp>
        <p:nvSpPr>
          <p:cNvPr id="79" name="Text 74"/>
          <p:cNvSpPr txBox="1"/>
          <p:nvPr/>
        </p:nvSpPr>
        <p:spPr>
          <a:xfrm>
            <a:off x="635508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Rejected KYC</a:t>
            </a:r>
            <a:endParaRPr lang="en-US" sz="1050" dirty="0"/>
          </a:p>
        </p:txBody>
      </p:sp>
      <p:sp>
        <p:nvSpPr>
          <p:cNvPr id="80" name="Text 75"/>
          <p:cNvSpPr txBox="1"/>
          <p:nvPr/>
        </p:nvSpPr>
        <p:spPr>
          <a:xfrm>
            <a:off x="635508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Resubmission required</a:t>
            </a:r>
            <a:endParaRPr lang="en-US" sz="850" dirty="0"/>
          </a:p>
        </p:txBody>
      </p:sp>
      <p:sp>
        <p:nvSpPr>
          <p:cNvPr id="81" name="Text 76"/>
          <p:cNvSpPr txBox="1"/>
          <p:nvPr/>
        </p:nvSpPr>
        <p:spPr>
          <a:xfrm>
            <a:off x="779068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82" name="Shape 77"/>
          <p:cNvSpPr/>
          <p:nvPr/>
        </p:nvSpPr>
        <p:spPr>
          <a:xfrm>
            <a:off x="619048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6190488" y="499262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4" name="Text 79"/>
          <p:cNvSpPr txBox="1"/>
          <p:nvPr/>
        </p:nvSpPr>
        <p:spPr>
          <a:xfrm>
            <a:off x="635508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125</a:t>
            </a:r>
            <a:endParaRPr lang="en-US" sz="2400" dirty="0"/>
          </a:p>
        </p:txBody>
      </p:sp>
      <p:sp>
        <p:nvSpPr>
          <p:cNvPr id="85" name="Text 80"/>
          <p:cNvSpPr txBox="1"/>
          <p:nvPr/>
        </p:nvSpPr>
        <p:spPr>
          <a:xfrm>
            <a:off x="635508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KYC applications</a:t>
            </a:r>
            <a:endParaRPr lang="en-US" sz="1050" dirty="0"/>
          </a:p>
        </p:txBody>
      </p:sp>
      <p:sp>
        <p:nvSpPr>
          <p:cNvPr id="86" name="Text 81"/>
          <p:cNvSpPr txBox="1"/>
          <p:nvPr/>
        </p:nvSpPr>
        <p:spPr>
          <a:xfrm>
            <a:off x="635508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Onboarded + incomplete + rejected</a:t>
            </a:r>
            <a:endParaRPr lang="en-US" sz="850" dirty="0"/>
          </a:p>
        </p:txBody>
      </p:sp>
      <p:sp>
        <p:nvSpPr>
          <p:cNvPr id="87" name="Shape 82"/>
          <p:cNvSpPr/>
          <p:nvPr/>
        </p:nvSpPr>
        <p:spPr>
          <a:xfrm>
            <a:off x="9002268" y="1408176"/>
            <a:ext cx="45720" cy="155448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88" name="Text 83"/>
          <p:cNvSpPr txBox="1"/>
          <p:nvPr/>
        </p:nvSpPr>
        <p:spPr>
          <a:xfrm>
            <a:off x="911199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SUPPORT TICKETS</a:t>
            </a:r>
            <a:endParaRPr lang="en-US" sz="900" dirty="0"/>
          </a:p>
        </p:txBody>
      </p:sp>
      <p:sp>
        <p:nvSpPr>
          <p:cNvPr id="89" name="Shape 84"/>
          <p:cNvSpPr/>
          <p:nvPr/>
        </p:nvSpPr>
        <p:spPr>
          <a:xfrm>
            <a:off x="900226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9002268" y="170078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1" name="Text 86"/>
          <p:cNvSpPr txBox="1"/>
          <p:nvPr/>
        </p:nvSpPr>
        <p:spPr>
          <a:xfrm>
            <a:off x="916686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25</a:t>
            </a:r>
            <a:endParaRPr lang="en-US" sz="2400" dirty="0"/>
          </a:p>
        </p:txBody>
      </p:sp>
      <p:sp>
        <p:nvSpPr>
          <p:cNvPr id="92" name="Text 87"/>
          <p:cNvSpPr txBox="1"/>
          <p:nvPr/>
        </p:nvSpPr>
        <p:spPr>
          <a:xfrm>
            <a:off x="916686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created</a:t>
            </a:r>
            <a:endParaRPr lang="en-US" sz="1050" dirty="0"/>
          </a:p>
        </p:txBody>
      </p:sp>
      <p:sp>
        <p:nvSpPr>
          <p:cNvPr id="93" name="Text 88"/>
          <p:cNvSpPr txBox="1"/>
          <p:nvPr/>
        </p:nvSpPr>
        <p:spPr>
          <a:xfrm>
            <a:off x="916686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94" name="Text 89"/>
          <p:cNvSpPr txBox="1"/>
          <p:nvPr/>
        </p:nvSpPr>
        <p:spPr>
          <a:xfrm>
            <a:off x="1060246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95" name="Shape 90"/>
          <p:cNvSpPr/>
          <p:nvPr/>
        </p:nvSpPr>
        <p:spPr>
          <a:xfrm>
            <a:off x="900226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9002268" y="279806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7" name="Text 92"/>
          <p:cNvSpPr txBox="1"/>
          <p:nvPr/>
        </p:nvSpPr>
        <p:spPr>
          <a:xfrm>
            <a:off x="916686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</a:t>
            </a:r>
            <a:endParaRPr lang="en-US" sz="2400" dirty="0"/>
          </a:p>
        </p:txBody>
      </p:sp>
      <p:sp>
        <p:nvSpPr>
          <p:cNvPr id="98" name="Text 93"/>
          <p:cNvSpPr txBox="1"/>
          <p:nvPr/>
        </p:nvSpPr>
        <p:spPr>
          <a:xfrm>
            <a:off x="916686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resolved</a:t>
            </a:r>
            <a:endParaRPr lang="en-US" sz="1050" dirty="0"/>
          </a:p>
        </p:txBody>
      </p:sp>
      <p:sp>
        <p:nvSpPr>
          <p:cNvPr id="99" name="Text 94"/>
          <p:cNvSpPr txBox="1"/>
          <p:nvPr/>
        </p:nvSpPr>
        <p:spPr>
          <a:xfrm>
            <a:off x="916686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96% of tickets created</a:t>
            </a:r>
            <a:endParaRPr lang="en-US" sz="850" dirty="0"/>
          </a:p>
        </p:txBody>
      </p:sp>
      <p:sp>
        <p:nvSpPr>
          <p:cNvPr id="100" name="Text 95"/>
          <p:cNvSpPr txBox="1"/>
          <p:nvPr/>
        </p:nvSpPr>
        <p:spPr>
          <a:xfrm>
            <a:off x="1060246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1" name="Shape 96"/>
          <p:cNvSpPr/>
          <p:nvPr/>
        </p:nvSpPr>
        <p:spPr>
          <a:xfrm>
            <a:off x="900226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9002268" y="389534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3" name="Text 98"/>
          <p:cNvSpPr txBox="1"/>
          <p:nvPr/>
        </p:nvSpPr>
        <p:spPr>
          <a:xfrm>
            <a:off x="916686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</a:t>
            </a:r>
            <a:endParaRPr lang="en-US" sz="2400" dirty="0"/>
          </a:p>
        </p:txBody>
      </p:sp>
      <p:sp>
        <p:nvSpPr>
          <p:cNvPr id="104" name="Text 99"/>
          <p:cNvSpPr txBox="1"/>
          <p:nvPr/>
        </p:nvSpPr>
        <p:spPr>
          <a:xfrm>
            <a:off x="916686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Email queries</a:t>
            </a:r>
            <a:endParaRPr lang="en-US" sz="1050" dirty="0"/>
          </a:p>
        </p:txBody>
      </p:sp>
      <p:sp>
        <p:nvSpPr>
          <p:cNvPr id="105" name="Text 100"/>
          <p:cNvSpPr txBox="1"/>
          <p:nvPr/>
        </p:nvSpPr>
        <p:spPr>
          <a:xfrm>
            <a:off x="916686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06" name="Text 101"/>
          <p:cNvSpPr txBox="1"/>
          <p:nvPr/>
        </p:nvSpPr>
        <p:spPr>
          <a:xfrm>
            <a:off x="1060246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7" name="Shape 102"/>
          <p:cNvSpPr/>
          <p:nvPr/>
        </p:nvSpPr>
        <p:spPr>
          <a:xfrm>
            <a:off x="900226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9002268" y="499262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9" name="Text 104"/>
          <p:cNvSpPr txBox="1"/>
          <p:nvPr/>
        </p:nvSpPr>
        <p:spPr>
          <a:xfrm>
            <a:off x="916686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21</a:t>
            </a:r>
            <a:endParaRPr lang="en-US" sz="2400" dirty="0"/>
          </a:p>
        </p:txBody>
      </p:sp>
      <p:sp>
        <p:nvSpPr>
          <p:cNvPr id="110" name="Text 105"/>
          <p:cNvSpPr txBox="1"/>
          <p:nvPr/>
        </p:nvSpPr>
        <p:spPr>
          <a:xfrm>
            <a:off x="916686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AI support queries</a:t>
            </a:r>
            <a:endParaRPr lang="en-US" sz="1050" dirty="0"/>
          </a:p>
        </p:txBody>
      </p:sp>
      <p:sp>
        <p:nvSpPr>
          <p:cNvPr id="111" name="Text 106"/>
          <p:cNvSpPr txBox="1"/>
          <p:nvPr/>
        </p:nvSpPr>
        <p:spPr>
          <a:xfrm>
            <a:off x="916686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12" name="Text 107"/>
          <p:cNvSpPr txBox="1"/>
          <p:nvPr/>
        </p:nvSpPr>
        <p:spPr>
          <a:xfrm>
            <a:off x="1060246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atemIsa_202508993_IT9002_NLP_Project/emyaa-ceo-deck/working/charts/board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188720"/>
            <a:ext cx="12191695" cy="24689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66928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F3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PLATFORM ANALYTICS  |  PERFORMANCE DASHBOARD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57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 date: 13 Sep 2026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868680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6CFE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Reporting period: All Time   |   Change on each card is against the previous report, 10 Sep 2026</a:t>
            </a:r>
            <a:endParaRPr lang="en-US" sz="1000" dirty="0"/>
          </a:p>
        </p:txBody>
      </p:sp>
      <p:pic>
        <p:nvPicPr>
          <p:cNvPr id="7" name="Image 1" descr="/home/user/HatemIsa_202508993_IT9002_NLP_Project/emyaa-ceo-deck/working/charts/ajy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02336"/>
            <a:ext cx="13258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" y="6272784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Source: eMYAA Daily Performance Dashboard, eMYAA_-_Daily_Performance_Dashboard-1.pdf, page 12. This report labels the money card 'Total Deposits'; later reports label the same measure 'Total AUM'.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eMYAA Trading Platform  |  Daily Performance Dashboard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9802368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15</a:t>
            </a:r>
            <a:endParaRPr lang="en-US" sz="800" dirty="0"/>
          </a:p>
        </p:txBody>
      </p:sp>
      <p:pic>
        <p:nvPicPr>
          <p:cNvPr id="11" name="Image 2" descr="/home/user/HatemIsa_202508993_IT9002_NLP_Project/emyaa-ceo-deck/working/charts/emyaa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6336792"/>
            <a:ext cx="1024128" cy="3657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66928" y="1408176"/>
            <a:ext cx="45720" cy="155448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665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DOWNLOADS &amp; RATINGS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6692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66928" y="170078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152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234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downloads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 Store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216712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6692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66928" y="279806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3152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185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73152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downloads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73152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Apple App Store</a:t>
            </a:r>
            <a:endParaRPr lang="en-US" sz="850" dirty="0"/>
          </a:p>
        </p:txBody>
      </p:sp>
      <p:sp>
        <p:nvSpPr>
          <p:cNvPr id="25" name="Text 20"/>
          <p:cNvSpPr txBox="1"/>
          <p:nvPr/>
        </p:nvSpPr>
        <p:spPr>
          <a:xfrm>
            <a:off x="216712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+4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6692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66928" y="389534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3152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29" name="Text 24"/>
          <p:cNvSpPr txBox="1"/>
          <p:nvPr/>
        </p:nvSpPr>
        <p:spPr>
          <a:xfrm>
            <a:off x="73152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app rating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73152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Play, 2 reviews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56692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66928" y="499262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3152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34" name="Text 29"/>
          <p:cNvSpPr txBox="1"/>
          <p:nvPr/>
        </p:nvSpPr>
        <p:spPr>
          <a:xfrm>
            <a:off x="73152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app rating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73152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 Store, 2 reviews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3378708" y="1408176"/>
            <a:ext cx="45720" cy="155448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48843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 ACTIVITY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337870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3378708" y="170078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354330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12</a:t>
            </a:r>
            <a:endParaRPr lang="en-US" sz="2400" dirty="0"/>
          </a:p>
        </p:txBody>
      </p:sp>
      <p:sp>
        <p:nvSpPr>
          <p:cNvPr id="41" name="Text 36"/>
          <p:cNvSpPr txBox="1"/>
          <p:nvPr/>
        </p:nvSpPr>
        <p:spPr>
          <a:xfrm>
            <a:off x="354330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deposited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354330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Funded accounts</a:t>
            </a:r>
            <a:endParaRPr lang="en-US" sz="850" dirty="0"/>
          </a:p>
        </p:txBody>
      </p:sp>
      <p:sp>
        <p:nvSpPr>
          <p:cNvPr id="43" name="Text 38"/>
          <p:cNvSpPr txBox="1"/>
          <p:nvPr/>
        </p:nvSpPr>
        <p:spPr>
          <a:xfrm>
            <a:off x="497890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337870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3378708" y="279806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354330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$8,529.69</a:t>
            </a:r>
            <a:endParaRPr lang="en-US" sz="1900" dirty="0"/>
          </a:p>
        </p:txBody>
      </p:sp>
      <p:sp>
        <p:nvSpPr>
          <p:cNvPr id="47" name="Text 42"/>
          <p:cNvSpPr txBox="1"/>
          <p:nvPr/>
        </p:nvSpPr>
        <p:spPr>
          <a:xfrm>
            <a:off x="354330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deposits</a:t>
            </a:r>
            <a:endParaRPr lang="en-US" sz="1050" dirty="0"/>
          </a:p>
        </p:txBody>
      </p:sp>
      <p:sp>
        <p:nvSpPr>
          <p:cNvPr id="48" name="Text 43"/>
          <p:cNvSpPr txBox="1"/>
          <p:nvPr/>
        </p:nvSpPr>
        <p:spPr>
          <a:xfrm>
            <a:off x="354330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Cumulative platform deposits</a:t>
            </a:r>
            <a:endParaRPr lang="en-US" sz="850" dirty="0"/>
          </a:p>
        </p:txBody>
      </p:sp>
      <p:sp>
        <p:nvSpPr>
          <p:cNvPr id="49" name="Text 44"/>
          <p:cNvSpPr txBox="1"/>
          <p:nvPr/>
        </p:nvSpPr>
        <p:spPr>
          <a:xfrm>
            <a:off x="497890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337870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3378708" y="389534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354330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12</a:t>
            </a:r>
            <a:endParaRPr lang="en-US" sz="2400" dirty="0"/>
          </a:p>
        </p:txBody>
      </p:sp>
      <p:sp>
        <p:nvSpPr>
          <p:cNvPr id="53" name="Text 48"/>
          <p:cNvSpPr txBox="1"/>
          <p:nvPr/>
        </p:nvSpPr>
        <p:spPr>
          <a:xfrm>
            <a:off x="354330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traded</a:t>
            </a:r>
            <a:endParaRPr lang="en-US" sz="1050" dirty="0"/>
          </a:p>
        </p:txBody>
      </p:sp>
      <p:sp>
        <p:nvSpPr>
          <p:cNvPr id="54" name="Text 49"/>
          <p:cNvSpPr txBox="1"/>
          <p:nvPr/>
        </p:nvSpPr>
        <p:spPr>
          <a:xfrm>
            <a:off x="354330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Placed at least 1 trade</a:t>
            </a:r>
            <a:endParaRPr lang="en-US" sz="850" dirty="0"/>
          </a:p>
        </p:txBody>
      </p:sp>
      <p:sp>
        <p:nvSpPr>
          <p:cNvPr id="55" name="Text 50"/>
          <p:cNvSpPr txBox="1"/>
          <p:nvPr/>
        </p:nvSpPr>
        <p:spPr>
          <a:xfrm>
            <a:off x="497890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6" name="Shape 51"/>
          <p:cNvSpPr/>
          <p:nvPr/>
        </p:nvSpPr>
        <p:spPr>
          <a:xfrm>
            <a:off x="337870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3378708" y="499262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354330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47</a:t>
            </a:r>
            <a:endParaRPr lang="en-US" sz="2400" dirty="0"/>
          </a:p>
        </p:txBody>
      </p:sp>
      <p:sp>
        <p:nvSpPr>
          <p:cNvPr id="59" name="Text 54"/>
          <p:cNvSpPr txBox="1"/>
          <p:nvPr/>
        </p:nvSpPr>
        <p:spPr>
          <a:xfrm>
            <a:off x="354330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trades</a:t>
            </a:r>
            <a:endParaRPr lang="en-US" sz="1050" dirty="0"/>
          </a:p>
        </p:txBody>
      </p:sp>
      <p:sp>
        <p:nvSpPr>
          <p:cNvPr id="60" name="Text 55"/>
          <p:cNvSpPr txBox="1"/>
          <p:nvPr/>
        </p:nvSpPr>
        <p:spPr>
          <a:xfrm>
            <a:off x="354330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Executed across all users</a:t>
            </a:r>
            <a:endParaRPr lang="en-US" sz="850" dirty="0"/>
          </a:p>
        </p:txBody>
      </p:sp>
      <p:sp>
        <p:nvSpPr>
          <p:cNvPr id="61" name="Text 56"/>
          <p:cNvSpPr txBox="1"/>
          <p:nvPr/>
        </p:nvSpPr>
        <p:spPr>
          <a:xfrm>
            <a:off x="497890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62" name="Shape 57"/>
          <p:cNvSpPr/>
          <p:nvPr/>
        </p:nvSpPr>
        <p:spPr>
          <a:xfrm>
            <a:off x="6190488" y="1408176"/>
            <a:ext cx="45720" cy="1554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630021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KYC STATUS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619048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6190488" y="170078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635508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52</a:t>
            </a:r>
            <a:endParaRPr lang="en-US" sz="2400" dirty="0"/>
          </a:p>
        </p:txBody>
      </p:sp>
      <p:sp>
        <p:nvSpPr>
          <p:cNvPr id="67" name="Text 62"/>
          <p:cNvSpPr txBox="1"/>
          <p:nvPr/>
        </p:nvSpPr>
        <p:spPr>
          <a:xfrm>
            <a:off x="635508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onboarded</a:t>
            </a:r>
            <a:endParaRPr lang="en-US" sz="1050" dirty="0"/>
          </a:p>
        </p:txBody>
      </p:sp>
      <p:sp>
        <p:nvSpPr>
          <p:cNvPr id="68" name="Text 63"/>
          <p:cNvSpPr txBox="1"/>
          <p:nvPr/>
        </p:nvSpPr>
        <p:spPr>
          <a:xfrm>
            <a:off x="635508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Completed signup and verification</a:t>
            </a:r>
            <a:endParaRPr lang="en-US" sz="850" dirty="0"/>
          </a:p>
        </p:txBody>
      </p:sp>
      <p:sp>
        <p:nvSpPr>
          <p:cNvPr id="69" name="Text 64"/>
          <p:cNvSpPr txBox="1"/>
          <p:nvPr/>
        </p:nvSpPr>
        <p:spPr>
          <a:xfrm>
            <a:off x="779068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70" name="Shape 65"/>
          <p:cNvSpPr/>
          <p:nvPr/>
        </p:nvSpPr>
        <p:spPr>
          <a:xfrm>
            <a:off x="619048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6190488" y="279806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2" name="Text 67"/>
          <p:cNvSpPr txBox="1"/>
          <p:nvPr/>
        </p:nvSpPr>
        <p:spPr>
          <a:xfrm>
            <a:off x="635508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62</a:t>
            </a:r>
            <a:endParaRPr lang="en-US" sz="2400" dirty="0"/>
          </a:p>
        </p:txBody>
      </p:sp>
      <p:sp>
        <p:nvSpPr>
          <p:cNvPr id="73" name="Text 68"/>
          <p:cNvSpPr txBox="1"/>
          <p:nvPr/>
        </p:nvSpPr>
        <p:spPr>
          <a:xfrm>
            <a:off x="635508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Incomplete KYC</a:t>
            </a:r>
            <a:endParaRPr lang="en-US" sz="1050" dirty="0"/>
          </a:p>
        </p:txBody>
      </p:sp>
      <p:sp>
        <p:nvSpPr>
          <p:cNvPr id="74" name="Text 69"/>
          <p:cNvSpPr txBox="1"/>
          <p:nvPr/>
        </p:nvSpPr>
        <p:spPr>
          <a:xfrm>
            <a:off x="635508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Started KYC but did not proceed</a:t>
            </a:r>
            <a:endParaRPr lang="en-US" sz="850" dirty="0"/>
          </a:p>
        </p:txBody>
      </p:sp>
      <p:sp>
        <p:nvSpPr>
          <p:cNvPr id="75" name="Text 70"/>
          <p:cNvSpPr txBox="1"/>
          <p:nvPr/>
        </p:nvSpPr>
        <p:spPr>
          <a:xfrm>
            <a:off x="779068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-98</a:t>
            </a:r>
            <a:endParaRPr lang="en-US" sz="850" dirty="0"/>
          </a:p>
        </p:txBody>
      </p:sp>
      <p:sp>
        <p:nvSpPr>
          <p:cNvPr id="76" name="Shape 71"/>
          <p:cNvSpPr/>
          <p:nvPr/>
        </p:nvSpPr>
        <p:spPr>
          <a:xfrm>
            <a:off x="619048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6190488" y="389534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8" name="Text 73"/>
          <p:cNvSpPr txBox="1"/>
          <p:nvPr/>
        </p:nvSpPr>
        <p:spPr>
          <a:xfrm>
            <a:off x="635508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</a:t>
            </a:r>
            <a:endParaRPr lang="en-US" sz="2400" dirty="0"/>
          </a:p>
        </p:txBody>
      </p:sp>
      <p:sp>
        <p:nvSpPr>
          <p:cNvPr id="79" name="Text 74"/>
          <p:cNvSpPr txBox="1"/>
          <p:nvPr/>
        </p:nvSpPr>
        <p:spPr>
          <a:xfrm>
            <a:off x="635508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Rejected KYC</a:t>
            </a:r>
            <a:endParaRPr lang="en-US" sz="1050" dirty="0"/>
          </a:p>
        </p:txBody>
      </p:sp>
      <p:sp>
        <p:nvSpPr>
          <p:cNvPr id="80" name="Text 75"/>
          <p:cNvSpPr txBox="1"/>
          <p:nvPr/>
        </p:nvSpPr>
        <p:spPr>
          <a:xfrm>
            <a:off x="635508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Resubmission required</a:t>
            </a:r>
            <a:endParaRPr lang="en-US" sz="850" dirty="0"/>
          </a:p>
        </p:txBody>
      </p:sp>
      <p:sp>
        <p:nvSpPr>
          <p:cNvPr id="81" name="Text 76"/>
          <p:cNvSpPr txBox="1"/>
          <p:nvPr/>
        </p:nvSpPr>
        <p:spPr>
          <a:xfrm>
            <a:off x="779068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82" name="Shape 77"/>
          <p:cNvSpPr/>
          <p:nvPr/>
        </p:nvSpPr>
        <p:spPr>
          <a:xfrm>
            <a:off x="619048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6190488" y="499262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4" name="Text 79"/>
          <p:cNvSpPr txBox="1"/>
          <p:nvPr/>
        </p:nvSpPr>
        <p:spPr>
          <a:xfrm>
            <a:off x="635508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124</a:t>
            </a:r>
            <a:endParaRPr lang="en-US" sz="2400" dirty="0"/>
          </a:p>
        </p:txBody>
      </p:sp>
      <p:sp>
        <p:nvSpPr>
          <p:cNvPr id="85" name="Text 80"/>
          <p:cNvSpPr txBox="1"/>
          <p:nvPr/>
        </p:nvSpPr>
        <p:spPr>
          <a:xfrm>
            <a:off x="635508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KYC applications</a:t>
            </a:r>
            <a:endParaRPr lang="en-US" sz="1050" dirty="0"/>
          </a:p>
        </p:txBody>
      </p:sp>
      <p:sp>
        <p:nvSpPr>
          <p:cNvPr id="86" name="Text 81"/>
          <p:cNvSpPr txBox="1"/>
          <p:nvPr/>
        </p:nvSpPr>
        <p:spPr>
          <a:xfrm>
            <a:off x="635508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Onboarded + incomplete + rejected</a:t>
            </a:r>
            <a:endParaRPr lang="en-US" sz="850" dirty="0"/>
          </a:p>
        </p:txBody>
      </p:sp>
      <p:sp>
        <p:nvSpPr>
          <p:cNvPr id="87" name="Shape 82"/>
          <p:cNvSpPr/>
          <p:nvPr/>
        </p:nvSpPr>
        <p:spPr>
          <a:xfrm>
            <a:off x="9002268" y="1408176"/>
            <a:ext cx="45720" cy="155448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88" name="Text 83"/>
          <p:cNvSpPr txBox="1"/>
          <p:nvPr/>
        </p:nvSpPr>
        <p:spPr>
          <a:xfrm>
            <a:off x="911199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SUPPORT TICKETS</a:t>
            </a:r>
            <a:endParaRPr lang="en-US" sz="900" dirty="0"/>
          </a:p>
        </p:txBody>
      </p:sp>
      <p:sp>
        <p:nvSpPr>
          <p:cNvPr id="89" name="Shape 84"/>
          <p:cNvSpPr/>
          <p:nvPr/>
        </p:nvSpPr>
        <p:spPr>
          <a:xfrm>
            <a:off x="900226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9002268" y="170078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1" name="Text 86"/>
          <p:cNvSpPr txBox="1"/>
          <p:nvPr/>
        </p:nvSpPr>
        <p:spPr>
          <a:xfrm>
            <a:off x="916686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25</a:t>
            </a:r>
            <a:endParaRPr lang="en-US" sz="2400" dirty="0"/>
          </a:p>
        </p:txBody>
      </p:sp>
      <p:sp>
        <p:nvSpPr>
          <p:cNvPr id="92" name="Text 87"/>
          <p:cNvSpPr txBox="1"/>
          <p:nvPr/>
        </p:nvSpPr>
        <p:spPr>
          <a:xfrm>
            <a:off x="916686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created</a:t>
            </a:r>
            <a:endParaRPr lang="en-US" sz="1050" dirty="0"/>
          </a:p>
        </p:txBody>
      </p:sp>
      <p:sp>
        <p:nvSpPr>
          <p:cNvPr id="93" name="Text 88"/>
          <p:cNvSpPr txBox="1"/>
          <p:nvPr/>
        </p:nvSpPr>
        <p:spPr>
          <a:xfrm>
            <a:off x="916686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94" name="Text 89"/>
          <p:cNvSpPr txBox="1"/>
          <p:nvPr/>
        </p:nvSpPr>
        <p:spPr>
          <a:xfrm>
            <a:off x="1060246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95" name="Shape 90"/>
          <p:cNvSpPr/>
          <p:nvPr/>
        </p:nvSpPr>
        <p:spPr>
          <a:xfrm>
            <a:off x="900226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9002268" y="279806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7" name="Text 92"/>
          <p:cNvSpPr txBox="1"/>
          <p:nvPr/>
        </p:nvSpPr>
        <p:spPr>
          <a:xfrm>
            <a:off x="916686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</a:t>
            </a:r>
            <a:endParaRPr lang="en-US" sz="2400" dirty="0"/>
          </a:p>
        </p:txBody>
      </p:sp>
      <p:sp>
        <p:nvSpPr>
          <p:cNvPr id="98" name="Text 93"/>
          <p:cNvSpPr txBox="1"/>
          <p:nvPr/>
        </p:nvSpPr>
        <p:spPr>
          <a:xfrm>
            <a:off x="916686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resolved</a:t>
            </a:r>
            <a:endParaRPr lang="en-US" sz="1050" dirty="0"/>
          </a:p>
        </p:txBody>
      </p:sp>
      <p:sp>
        <p:nvSpPr>
          <p:cNvPr id="99" name="Text 94"/>
          <p:cNvSpPr txBox="1"/>
          <p:nvPr/>
        </p:nvSpPr>
        <p:spPr>
          <a:xfrm>
            <a:off x="916686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96% of tickets created</a:t>
            </a:r>
            <a:endParaRPr lang="en-US" sz="850" dirty="0"/>
          </a:p>
        </p:txBody>
      </p:sp>
      <p:sp>
        <p:nvSpPr>
          <p:cNvPr id="100" name="Text 95"/>
          <p:cNvSpPr txBox="1"/>
          <p:nvPr/>
        </p:nvSpPr>
        <p:spPr>
          <a:xfrm>
            <a:off x="1060246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1" name="Shape 96"/>
          <p:cNvSpPr/>
          <p:nvPr/>
        </p:nvSpPr>
        <p:spPr>
          <a:xfrm>
            <a:off x="900226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9002268" y="389534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3" name="Text 98"/>
          <p:cNvSpPr txBox="1"/>
          <p:nvPr/>
        </p:nvSpPr>
        <p:spPr>
          <a:xfrm>
            <a:off x="916686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</a:t>
            </a:r>
            <a:endParaRPr lang="en-US" sz="2400" dirty="0"/>
          </a:p>
        </p:txBody>
      </p:sp>
      <p:sp>
        <p:nvSpPr>
          <p:cNvPr id="104" name="Text 99"/>
          <p:cNvSpPr txBox="1"/>
          <p:nvPr/>
        </p:nvSpPr>
        <p:spPr>
          <a:xfrm>
            <a:off x="916686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Email queries</a:t>
            </a:r>
            <a:endParaRPr lang="en-US" sz="1050" dirty="0"/>
          </a:p>
        </p:txBody>
      </p:sp>
      <p:sp>
        <p:nvSpPr>
          <p:cNvPr id="105" name="Text 100"/>
          <p:cNvSpPr txBox="1"/>
          <p:nvPr/>
        </p:nvSpPr>
        <p:spPr>
          <a:xfrm>
            <a:off x="916686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06" name="Text 101"/>
          <p:cNvSpPr txBox="1"/>
          <p:nvPr/>
        </p:nvSpPr>
        <p:spPr>
          <a:xfrm>
            <a:off x="1060246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7" name="Shape 102"/>
          <p:cNvSpPr/>
          <p:nvPr/>
        </p:nvSpPr>
        <p:spPr>
          <a:xfrm>
            <a:off x="900226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9002268" y="499262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9" name="Text 104"/>
          <p:cNvSpPr txBox="1"/>
          <p:nvPr/>
        </p:nvSpPr>
        <p:spPr>
          <a:xfrm>
            <a:off x="916686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21</a:t>
            </a:r>
            <a:endParaRPr lang="en-US" sz="2400" dirty="0"/>
          </a:p>
        </p:txBody>
      </p:sp>
      <p:sp>
        <p:nvSpPr>
          <p:cNvPr id="110" name="Text 105"/>
          <p:cNvSpPr txBox="1"/>
          <p:nvPr/>
        </p:nvSpPr>
        <p:spPr>
          <a:xfrm>
            <a:off x="916686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AI support queries</a:t>
            </a:r>
            <a:endParaRPr lang="en-US" sz="1050" dirty="0"/>
          </a:p>
        </p:txBody>
      </p:sp>
      <p:sp>
        <p:nvSpPr>
          <p:cNvPr id="111" name="Text 106"/>
          <p:cNvSpPr txBox="1"/>
          <p:nvPr/>
        </p:nvSpPr>
        <p:spPr>
          <a:xfrm>
            <a:off x="916686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12" name="Text 107"/>
          <p:cNvSpPr txBox="1"/>
          <p:nvPr/>
        </p:nvSpPr>
        <p:spPr>
          <a:xfrm>
            <a:off x="1060246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atemIsa_202508993_IT9002_NLP_Project/emyaa-ceo-deck/working/charts/board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188720"/>
            <a:ext cx="12191695" cy="24689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66928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F3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PLATFORM ANALYTICS  |  PERFORMANCE DASHBOARD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57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 date: 10 Sep 2026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868680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6CFE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Reporting period: All Time   |   Change on each card is against the previous report, 9 Sep 2026</a:t>
            </a:r>
            <a:endParaRPr lang="en-US" sz="1000" dirty="0"/>
          </a:p>
        </p:txBody>
      </p:sp>
      <p:pic>
        <p:nvPicPr>
          <p:cNvPr id="7" name="Image 1" descr="/home/user/HatemIsa_202508993_IT9002_NLP_Project/emyaa-ceo-deck/working/charts/ajy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02336"/>
            <a:ext cx="13258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" y="6272784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Source: eMYAA Daily Performance Dashboard, eMYAA_-_Daily_Performance_Dashboard-1.pdf, page 13. This report labels the money card 'Total Deposits'; later reports label the same measure 'Total AUM'.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eMYAA Trading Platform  |  Daily Performance Dashboard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9802368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16</a:t>
            </a:r>
            <a:endParaRPr lang="en-US" sz="800" dirty="0"/>
          </a:p>
        </p:txBody>
      </p:sp>
      <p:pic>
        <p:nvPicPr>
          <p:cNvPr id="11" name="Image 2" descr="/home/user/HatemIsa_202508993_IT9002_NLP_Project/emyaa-ceo-deck/working/charts/emyaa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6336792"/>
            <a:ext cx="1024128" cy="3657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66928" y="1408176"/>
            <a:ext cx="45720" cy="155448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665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DOWNLOADS &amp; RATINGS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6692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66928" y="170078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152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233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downloads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 Store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216712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+3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6692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66928" y="279806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3152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181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73152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downloads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73152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Apple App Store</a:t>
            </a:r>
            <a:endParaRPr lang="en-US" sz="850" dirty="0"/>
          </a:p>
        </p:txBody>
      </p:sp>
      <p:sp>
        <p:nvSpPr>
          <p:cNvPr id="25" name="Text 20"/>
          <p:cNvSpPr txBox="1"/>
          <p:nvPr/>
        </p:nvSpPr>
        <p:spPr>
          <a:xfrm>
            <a:off x="216712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6692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66928" y="389534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3152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29" name="Text 24"/>
          <p:cNvSpPr txBox="1"/>
          <p:nvPr/>
        </p:nvSpPr>
        <p:spPr>
          <a:xfrm>
            <a:off x="73152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app rating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73152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Play, 2 reviews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56692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66928" y="499262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3152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34" name="Text 29"/>
          <p:cNvSpPr txBox="1"/>
          <p:nvPr/>
        </p:nvSpPr>
        <p:spPr>
          <a:xfrm>
            <a:off x="73152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app rating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73152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 Store, 2 reviews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3378708" y="1408176"/>
            <a:ext cx="45720" cy="155448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48843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 ACTIVITY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337870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3378708" y="170078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354330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12</a:t>
            </a:r>
            <a:endParaRPr lang="en-US" sz="2400" dirty="0"/>
          </a:p>
        </p:txBody>
      </p:sp>
      <p:sp>
        <p:nvSpPr>
          <p:cNvPr id="41" name="Text 36"/>
          <p:cNvSpPr txBox="1"/>
          <p:nvPr/>
        </p:nvSpPr>
        <p:spPr>
          <a:xfrm>
            <a:off x="354330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deposited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354330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Funded accounts</a:t>
            </a:r>
            <a:endParaRPr lang="en-US" sz="850" dirty="0"/>
          </a:p>
        </p:txBody>
      </p:sp>
      <p:sp>
        <p:nvSpPr>
          <p:cNvPr id="43" name="Text 38"/>
          <p:cNvSpPr txBox="1"/>
          <p:nvPr/>
        </p:nvSpPr>
        <p:spPr>
          <a:xfrm>
            <a:off x="497890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337870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3378708" y="279806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354330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$8,529.69</a:t>
            </a:r>
            <a:endParaRPr lang="en-US" sz="1900" dirty="0"/>
          </a:p>
        </p:txBody>
      </p:sp>
      <p:sp>
        <p:nvSpPr>
          <p:cNvPr id="47" name="Text 42"/>
          <p:cNvSpPr txBox="1"/>
          <p:nvPr/>
        </p:nvSpPr>
        <p:spPr>
          <a:xfrm>
            <a:off x="354330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deposits</a:t>
            </a:r>
            <a:endParaRPr lang="en-US" sz="1050" dirty="0"/>
          </a:p>
        </p:txBody>
      </p:sp>
      <p:sp>
        <p:nvSpPr>
          <p:cNvPr id="48" name="Text 43"/>
          <p:cNvSpPr txBox="1"/>
          <p:nvPr/>
        </p:nvSpPr>
        <p:spPr>
          <a:xfrm>
            <a:off x="354330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Cumulative platform deposits</a:t>
            </a:r>
            <a:endParaRPr lang="en-US" sz="850" dirty="0"/>
          </a:p>
        </p:txBody>
      </p:sp>
      <p:sp>
        <p:nvSpPr>
          <p:cNvPr id="49" name="Text 44"/>
          <p:cNvSpPr txBox="1"/>
          <p:nvPr/>
        </p:nvSpPr>
        <p:spPr>
          <a:xfrm>
            <a:off x="497890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337870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3378708" y="389534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354330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12</a:t>
            </a:r>
            <a:endParaRPr lang="en-US" sz="2400" dirty="0"/>
          </a:p>
        </p:txBody>
      </p:sp>
      <p:sp>
        <p:nvSpPr>
          <p:cNvPr id="53" name="Text 48"/>
          <p:cNvSpPr txBox="1"/>
          <p:nvPr/>
        </p:nvSpPr>
        <p:spPr>
          <a:xfrm>
            <a:off x="354330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traded</a:t>
            </a:r>
            <a:endParaRPr lang="en-US" sz="1050" dirty="0"/>
          </a:p>
        </p:txBody>
      </p:sp>
      <p:sp>
        <p:nvSpPr>
          <p:cNvPr id="54" name="Text 49"/>
          <p:cNvSpPr txBox="1"/>
          <p:nvPr/>
        </p:nvSpPr>
        <p:spPr>
          <a:xfrm>
            <a:off x="354330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Placed at least 1 trade</a:t>
            </a:r>
            <a:endParaRPr lang="en-US" sz="850" dirty="0"/>
          </a:p>
        </p:txBody>
      </p:sp>
      <p:sp>
        <p:nvSpPr>
          <p:cNvPr id="55" name="Text 50"/>
          <p:cNvSpPr txBox="1"/>
          <p:nvPr/>
        </p:nvSpPr>
        <p:spPr>
          <a:xfrm>
            <a:off x="497890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6" name="Shape 51"/>
          <p:cNvSpPr/>
          <p:nvPr/>
        </p:nvSpPr>
        <p:spPr>
          <a:xfrm>
            <a:off x="337870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3378708" y="499262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354330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47</a:t>
            </a:r>
            <a:endParaRPr lang="en-US" sz="2400" dirty="0"/>
          </a:p>
        </p:txBody>
      </p:sp>
      <p:sp>
        <p:nvSpPr>
          <p:cNvPr id="59" name="Text 54"/>
          <p:cNvSpPr txBox="1"/>
          <p:nvPr/>
        </p:nvSpPr>
        <p:spPr>
          <a:xfrm>
            <a:off x="354330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trades</a:t>
            </a:r>
            <a:endParaRPr lang="en-US" sz="1050" dirty="0"/>
          </a:p>
        </p:txBody>
      </p:sp>
      <p:sp>
        <p:nvSpPr>
          <p:cNvPr id="60" name="Text 55"/>
          <p:cNvSpPr txBox="1"/>
          <p:nvPr/>
        </p:nvSpPr>
        <p:spPr>
          <a:xfrm>
            <a:off x="354330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Executed across all users</a:t>
            </a:r>
            <a:endParaRPr lang="en-US" sz="850" dirty="0"/>
          </a:p>
        </p:txBody>
      </p:sp>
      <p:sp>
        <p:nvSpPr>
          <p:cNvPr id="61" name="Text 56"/>
          <p:cNvSpPr txBox="1"/>
          <p:nvPr/>
        </p:nvSpPr>
        <p:spPr>
          <a:xfrm>
            <a:off x="497890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62" name="Shape 57"/>
          <p:cNvSpPr/>
          <p:nvPr/>
        </p:nvSpPr>
        <p:spPr>
          <a:xfrm>
            <a:off x="6190488" y="1408176"/>
            <a:ext cx="45720" cy="1554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630021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KYC STATUS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619048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6190488" y="170078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635508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51</a:t>
            </a:r>
            <a:endParaRPr lang="en-US" sz="2400" dirty="0"/>
          </a:p>
        </p:txBody>
      </p:sp>
      <p:sp>
        <p:nvSpPr>
          <p:cNvPr id="67" name="Text 62"/>
          <p:cNvSpPr txBox="1"/>
          <p:nvPr/>
        </p:nvSpPr>
        <p:spPr>
          <a:xfrm>
            <a:off x="635508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onboarded</a:t>
            </a:r>
            <a:endParaRPr lang="en-US" sz="1050" dirty="0"/>
          </a:p>
        </p:txBody>
      </p:sp>
      <p:sp>
        <p:nvSpPr>
          <p:cNvPr id="68" name="Text 63"/>
          <p:cNvSpPr txBox="1"/>
          <p:nvPr/>
        </p:nvSpPr>
        <p:spPr>
          <a:xfrm>
            <a:off x="635508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Completed signup and verification</a:t>
            </a:r>
            <a:endParaRPr lang="en-US" sz="850" dirty="0"/>
          </a:p>
        </p:txBody>
      </p:sp>
      <p:sp>
        <p:nvSpPr>
          <p:cNvPr id="69" name="Text 64"/>
          <p:cNvSpPr txBox="1"/>
          <p:nvPr/>
        </p:nvSpPr>
        <p:spPr>
          <a:xfrm>
            <a:off x="779068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70" name="Shape 65"/>
          <p:cNvSpPr/>
          <p:nvPr/>
        </p:nvSpPr>
        <p:spPr>
          <a:xfrm>
            <a:off x="619048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6190488" y="279806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2" name="Text 67"/>
          <p:cNvSpPr txBox="1"/>
          <p:nvPr/>
        </p:nvSpPr>
        <p:spPr>
          <a:xfrm>
            <a:off x="635508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160</a:t>
            </a:r>
            <a:endParaRPr lang="en-US" sz="2400" dirty="0"/>
          </a:p>
        </p:txBody>
      </p:sp>
      <p:sp>
        <p:nvSpPr>
          <p:cNvPr id="73" name="Text 68"/>
          <p:cNvSpPr txBox="1"/>
          <p:nvPr/>
        </p:nvSpPr>
        <p:spPr>
          <a:xfrm>
            <a:off x="635508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Incomplete KYC</a:t>
            </a:r>
            <a:endParaRPr lang="en-US" sz="1050" dirty="0"/>
          </a:p>
        </p:txBody>
      </p:sp>
      <p:sp>
        <p:nvSpPr>
          <p:cNvPr id="74" name="Text 69"/>
          <p:cNvSpPr txBox="1"/>
          <p:nvPr/>
        </p:nvSpPr>
        <p:spPr>
          <a:xfrm>
            <a:off x="635508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Started KYC but did not proceed</a:t>
            </a:r>
            <a:endParaRPr lang="en-US" sz="850" dirty="0"/>
          </a:p>
        </p:txBody>
      </p:sp>
      <p:sp>
        <p:nvSpPr>
          <p:cNvPr id="75" name="Text 70"/>
          <p:cNvSpPr txBox="1"/>
          <p:nvPr/>
        </p:nvSpPr>
        <p:spPr>
          <a:xfrm>
            <a:off x="779068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76" name="Shape 71"/>
          <p:cNvSpPr/>
          <p:nvPr/>
        </p:nvSpPr>
        <p:spPr>
          <a:xfrm>
            <a:off x="619048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6190488" y="389534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8" name="Text 73"/>
          <p:cNvSpPr txBox="1"/>
          <p:nvPr/>
        </p:nvSpPr>
        <p:spPr>
          <a:xfrm>
            <a:off x="635508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</a:t>
            </a:r>
            <a:endParaRPr lang="en-US" sz="2400" dirty="0"/>
          </a:p>
        </p:txBody>
      </p:sp>
      <p:sp>
        <p:nvSpPr>
          <p:cNvPr id="79" name="Text 74"/>
          <p:cNvSpPr txBox="1"/>
          <p:nvPr/>
        </p:nvSpPr>
        <p:spPr>
          <a:xfrm>
            <a:off x="635508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Rejected KYC</a:t>
            </a:r>
            <a:endParaRPr lang="en-US" sz="1050" dirty="0"/>
          </a:p>
        </p:txBody>
      </p:sp>
      <p:sp>
        <p:nvSpPr>
          <p:cNvPr id="80" name="Text 75"/>
          <p:cNvSpPr txBox="1"/>
          <p:nvPr/>
        </p:nvSpPr>
        <p:spPr>
          <a:xfrm>
            <a:off x="635508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Resubmission required</a:t>
            </a:r>
            <a:endParaRPr lang="en-US" sz="850" dirty="0"/>
          </a:p>
        </p:txBody>
      </p:sp>
      <p:sp>
        <p:nvSpPr>
          <p:cNvPr id="81" name="Text 76"/>
          <p:cNvSpPr txBox="1"/>
          <p:nvPr/>
        </p:nvSpPr>
        <p:spPr>
          <a:xfrm>
            <a:off x="779068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82" name="Shape 77"/>
          <p:cNvSpPr/>
          <p:nvPr/>
        </p:nvSpPr>
        <p:spPr>
          <a:xfrm>
            <a:off x="619048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6190488" y="499262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4" name="Text 79"/>
          <p:cNvSpPr txBox="1"/>
          <p:nvPr/>
        </p:nvSpPr>
        <p:spPr>
          <a:xfrm>
            <a:off x="635508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221</a:t>
            </a:r>
            <a:endParaRPr lang="en-US" sz="2400" dirty="0"/>
          </a:p>
        </p:txBody>
      </p:sp>
      <p:sp>
        <p:nvSpPr>
          <p:cNvPr id="85" name="Text 80"/>
          <p:cNvSpPr txBox="1"/>
          <p:nvPr/>
        </p:nvSpPr>
        <p:spPr>
          <a:xfrm>
            <a:off x="635508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KYC applications</a:t>
            </a:r>
            <a:endParaRPr lang="en-US" sz="1050" dirty="0"/>
          </a:p>
        </p:txBody>
      </p:sp>
      <p:sp>
        <p:nvSpPr>
          <p:cNvPr id="86" name="Text 81"/>
          <p:cNvSpPr txBox="1"/>
          <p:nvPr/>
        </p:nvSpPr>
        <p:spPr>
          <a:xfrm>
            <a:off x="635508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Onboarded + incomplete + rejected</a:t>
            </a:r>
            <a:endParaRPr lang="en-US" sz="850" dirty="0"/>
          </a:p>
        </p:txBody>
      </p:sp>
      <p:sp>
        <p:nvSpPr>
          <p:cNvPr id="87" name="Shape 82"/>
          <p:cNvSpPr/>
          <p:nvPr/>
        </p:nvSpPr>
        <p:spPr>
          <a:xfrm>
            <a:off x="9002268" y="1408176"/>
            <a:ext cx="45720" cy="155448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88" name="Text 83"/>
          <p:cNvSpPr txBox="1"/>
          <p:nvPr/>
        </p:nvSpPr>
        <p:spPr>
          <a:xfrm>
            <a:off x="911199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SUPPORT TICKETS</a:t>
            </a:r>
            <a:endParaRPr lang="en-US" sz="900" dirty="0"/>
          </a:p>
        </p:txBody>
      </p:sp>
      <p:sp>
        <p:nvSpPr>
          <p:cNvPr id="89" name="Shape 84"/>
          <p:cNvSpPr/>
          <p:nvPr/>
        </p:nvSpPr>
        <p:spPr>
          <a:xfrm>
            <a:off x="900226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9002268" y="170078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1" name="Text 86"/>
          <p:cNvSpPr txBox="1"/>
          <p:nvPr/>
        </p:nvSpPr>
        <p:spPr>
          <a:xfrm>
            <a:off x="916686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25</a:t>
            </a:r>
            <a:endParaRPr lang="en-US" sz="2400" dirty="0"/>
          </a:p>
        </p:txBody>
      </p:sp>
      <p:sp>
        <p:nvSpPr>
          <p:cNvPr id="92" name="Text 87"/>
          <p:cNvSpPr txBox="1"/>
          <p:nvPr/>
        </p:nvSpPr>
        <p:spPr>
          <a:xfrm>
            <a:off x="916686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created</a:t>
            </a:r>
            <a:endParaRPr lang="en-US" sz="1050" dirty="0"/>
          </a:p>
        </p:txBody>
      </p:sp>
      <p:sp>
        <p:nvSpPr>
          <p:cNvPr id="93" name="Text 88"/>
          <p:cNvSpPr txBox="1"/>
          <p:nvPr/>
        </p:nvSpPr>
        <p:spPr>
          <a:xfrm>
            <a:off x="916686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94" name="Text 89"/>
          <p:cNvSpPr txBox="1"/>
          <p:nvPr/>
        </p:nvSpPr>
        <p:spPr>
          <a:xfrm>
            <a:off x="1060246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95" name="Shape 90"/>
          <p:cNvSpPr/>
          <p:nvPr/>
        </p:nvSpPr>
        <p:spPr>
          <a:xfrm>
            <a:off x="900226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9002268" y="279806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7" name="Text 92"/>
          <p:cNvSpPr txBox="1"/>
          <p:nvPr/>
        </p:nvSpPr>
        <p:spPr>
          <a:xfrm>
            <a:off x="916686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</a:t>
            </a:r>
            <a:endParaRPr lang="en-US" sz="2400" dirty="0"/>
          </a:p>
        </p:txBody>
      </p:sp>
      <p:sp>
        <p:nvSpPr>
          <p:cNvPr id="98" name="Text 93"/>
          <p:cNvSpPr txBox="1"/>
          <p:nvPr/>
        </p:nvSpPr>
        <p:spPr>
          <a:xfrm>
            <a:off x="916686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resolved</a:t>
            </a:r>
            <a:endParaRPr lang="en-US" sz="1050" dirty="0"/>
          </a:p>
        </p:txBody>
      </p:sp>
      <p:sp>
        <p:nvSpPr>
          <p:cNvPr id="99" name="Text 94"/>
          <p:cNvSpPr txBox="1"/>
          <p:nvPr/>
        </p:nvSpPr>
        <p:spPr>
          <a:xfrm>
            <a:off x="916686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96% of tickets created</a:t>
            </a:r>
            <a:endParaRPr lang="en-US" sz="850" dirty="0"/>
          </a:p>
        </p:txBody>
      </p:sp>
      <p:sp>
        <p:nvSpPr>
          <p:cNvPr id="100" name="Text 95"/>
          <p:cNvSpPr txBox="1"/>
          <p:nvPr/>
        </p:nvSpPr>
        <p:spPr>
          <a:xfrm>
            <a:off x="1060246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1" name="Shape 96"/>
          <p:cNvSpPr/>
          <p:nvPr/>
        </p:nvSpPr>
        <p:spPr>
          <a:xfrm>
            <a:off x="900226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9002268" y="389534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3" name="Text 98"/>
          <p:cNvSpPr txBox="1"/>
          <p:nvPr/>
        </p:nvSpPr>
        <p:spPr>
          <a:xfrm>
            <a:off x="916686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</a:t>
            </a:r>
            <a:endParaRPr lang="en-US" sz="2400" dirty="0"/>
          </a:p>
        </p:txBody>
      </p:sp>
      <p:sp>
        <p:nvSpPr>
          <p:cNvPr id="104" name="Text 99"/>
          <p:cNvSpPr txBox="1"/>
          <p:nvPr/>
        </p:nvSpPr>
        <p:spPr>
          <a:xfrm>
            <a:off x="916686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Email queries</a:t>
            </a:r>
            <a:endParaRPr lang="en-US" sz="1050" dirty="0"/>
          </a:p>
        </p:txBody>
      </p:sp>
      <p:sp>
        <p:nvSpPr>
          <p:cNvPr id="105" name="Text 100"/>
          <p:cNvSpPr txBox="1"/>
          <p:nvPr/>
        </p:nvSpPr>
        <p:spPr>
          <a:xfrm>
            <a:off x="916686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06" name="Text 101"/>
          <p:cNvSpPr txBox="1"/>
          <p:nvPr/>
        </p:nvSpPr>
        <p:spPr>
          <a:xfrm>
            <a:off x="1060246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7" name="Shape 102"/>
          <p:cNvSpPr/>
          <p:nvPr/>
        </p:nvSpPr>
        <p:spPr>
          <a:xfrm>
            <a:off x="900226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9002268" y="499262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9" name="Text 104"/>
          <p:cNvSpPr txBox="1"/>
          <p:nvPr/>
        </p:nvSpPr>
        <p:spPr>
          <a:xfrm>
            <a:off x="916686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21</a:t>
            </a:r>
            <a:endParaRPr lang="en-US" sz="2400" dirty="0"/>
          </a:p>
        </p:txBody>
      </p:sp>
      <p:sp>
        <p:nvSpPr>
          <p:cNvPr id="110" name="Text 105"/>
          <p:cNvSpPr txBox="1"/>
          <p:nvPr/>
        </p:nvSpPr>
        <p:spPr>
          <a:xfrm>
            <a:off x="916686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AI support queries</a:t>
            </a:r>
            <a:endParaRPr lang="en-US" sz="1050" dirty="0"/>
          </a:p>
        </p:txBody>
      </p:sp>
      <p:sp>
        <p:nvSpPr>
          <p:cNvPr id="111" name="Text 106"/>
          <p:cNvSpPr txBox="1"/>
          <p:nvPr/>
        </p:nvSpPr>
        <p:spPr>
          <a:xfrm>
            <a:off x="916686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12" name="Text 107"/>
          <p:cNvSpPr txBox="1"/>
          <p:nvPr/>
        </p:nvSpPr>
        <p:spPr>
          <a:xfrm>
            <a:off x="1060246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atemIsa_202508993_IT9002_NLP_Project/emyaa-ceo-deck/working/charts/board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188720"/>
            <a:ext cx="12191695" cy="24689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66928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F3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PLATFORM ANALYTICS  |  PERFORMANCE DASHBOARD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57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 date: 9 Sep 2026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868680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6CFE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Reporting period: All Time   |   Change on each card is against the previous report, 8 Sep 2026</a:t>
            </a:r>
            <a:endParaRPr lang="en-US" sz="1000" dirty="0"/>
          </a:p>
        </p:txBody>
      </p:sp>
      <p:pic>
        <p:nvPicPr>
          <p:cNvPr id="7" name="Image 1" descr="/home/user/HatemIsa_202508993_IT9002_NLP_Project/emyaa-ceo-deck/working/charts/ajy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02336"/>
            <a:ext cx="13258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" y="6272784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Source: eMYAA Daily Performance Dashboard, eMYAA_-_Daily_Performance_Dashboard-1.pdf, page 14. This report labels the money card 'Total Deposits'; later reports label the same measure 'Total AUM'.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eMYAA Trading Platform  |  Daily Performance Dashboard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9802368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17</a:t>
            </a:r>
            <a:endParaRPr lang="en-US" sz="800" dirty="0"/>
          </a:p>
        </p:txBody>
      </p:sp>
      <p:pic>
        <p:nvPicPr>
          <p:cNvPr id="11" name="Image 2" descr="/home/user/HatemIsa_202508993_IT9002_NLP_Project/emyaa-ceo-deck/working/charts/emyaa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6336792"/>
            <a:ext cx="1024128" cy="3657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66928" y="1408176"/>
            <a:ext cx="45720" cy="155448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665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DOWNLOADS &amp; RATINGS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6692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66928" y="170078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152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230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downloads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 Store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216712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+4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6692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66928" y="279806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3152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180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73152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downloads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73152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Apple App Store</a:t>
            </a:r>
            <a:endParaRPr lang="en-US" sz="850" dirty="0"/>
          </a:p>
        </p:txBody>
      </p:sp>
      <p:sp>
        <p:nvSpPr>
          <p:cNvPr id="25" name="Text 20"/>
          <p:cNvSpPr txBox="1"/>
          <p:nvPr/>
        </p:nvSpPr>
        <p:spPr>
          <a:xfrm>
            <a:off x="216712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+3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6692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66928" y="389534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3152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29" name="Text 24"/>
          <p:cNvSpPr txBox="1"/>
          <p:nvPr/>
        </p:nvSpPr>
        <p:spPr>
          <a:xfrm>
            <a:off x="73152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app rating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73152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Play, 2 reviews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56692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66928" y="499262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3152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34" name="Text 29"/>
          <p:cNvSpPr txBox="1"/>
          <p:nvPr/>
        </p:nvSpPr>
        <p:spPr>
          <a:xfrm>
            <a:off x="73152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app rating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73152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 Store, 2 reviews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3378708" y="1408176"/>
            <a:ext cx="45720" cy="155448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48843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 ACTIVITY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337870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3378708" y="170078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354330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12</a:t>
            </a:r>
            <a:endParaRPr lang="en-US" sz="2400" dirty="0"/>
          </a:p>
        </p:txBody>
      </p:sp>
      <p:sp>
        <p:nvSpPr>
          <p:cNvPr id="41" name="Text 36"/>
          <p:cNvSpPr txBox="1"/>
          <p:nvPr/>
        </p:nvSpPr>
        <p:spPr>
          <a:xfrm>
            <a:off x="354330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deposited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354330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Funded accounts</a:t>
            </a:r>
            <a:endParaRPr lang="en-US" sz="850" dirty="0"/>
          </a:p>
        </p:txBody>
      </p:sp>
      <p:sp>
        <p:nvSpPr>
          <p:cNvPr id="43" name="Text 38"/>
          <p:cNvSpPr txBox="1"/>
          <p:nvPr/>
        </p:nvSpPr>
        <p:spPr>
          <a:xfrm>
            <a:off x="497890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337870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3378708" y="279806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354330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$8,529.69</a:t>
            </a:r>
            <a:endParaRPr lang="en-US" sz="1900" dirty="0"/>
          </a:p>
        </p:txBody>
      </p:sp>
      <p:sp>
        <p:nvSpPr>
          <p:cNvPr id="47" name="Text 42"/>
          <p:cNvSpPr txBox="1"/>
          <p:nvPr/>
        </p:nvSpPr>
        <p:spPr>
          <a:xfrm>
            <a:off x="354330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deposits</a:t>
            </a:r>
            <a:endParaRPr lang="en-US" sz="1050" dirty="0"/>
          </a:p>
        </p:txBody>
      </p:sp>
      <p:sp>
        <p:nvSpPr>
          <p:cNvPr id="48" name="Text 43"/>
          <p:cNvSpPr txBox="1"/>
          <p:nvPr/>
        </p:nvSpPr>
        <p:spPr>
          <a:xfrm>
            <a:off x="354330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Cumulative platform deposits</a:t>
            </a:r>
            <a:endParaRPr lang="en-US" sz="850" dirty="0"/>
          </a:p>
        </p:txBody>
      </p:sp>
      <p:sp>
        <p:nvSpPr>
          <p:cNvPr id="49" name="Text 44"/>
          <p:cNvSpPr txBox="1"/>
          <p:nvPr/>
        </p:nvSpPr>
        <p:spPr>
          <a:xfrm>
            <a:off x="497890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337870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3378708" y="389534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354330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12</a:t>
            </a:r>
            <a:endParaRPr lang="en-US" sz="2400" dirty="0"/>
          </a:p>
        </p:txBody>
      </p:sp>
      <p:sp>
        <p:nvSpPr>
          <p:cNvPr id="53" name="Text 48"/>
          <p:cNvSpPr txBox="1"/>
          <p:nvPr/>
        </p:nvSpPr>
        <p:spPr>
          <a:xfrm>
            <a:off x="354330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traded</a:t>
            </a:r>
            <a:endParaRPr lang="en-US" sz="1050" dirty="0"/>
          </a:p>
        </p:txBody>
      </p:sp>
      <p:sp>
        <p:nvSpPr>
          <p:cNvPr id="54" name="Text 49"/>
          <p:cNvSpPr txBox="1"/>
          <p:nvPr/>
        </p:nvSpPr>
        <p:spPr>
          <a:xfrm>
            <a:off x="354330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Placed at least 1 trade</a:t>
            </a:r>
            <a:endParaRPr lang="en-US" sz="850" dirty="0"/>
          </a:p>
        </p:txBody>
      </p:sp>
      <p:sp>
        <p:nvSpPr>
          <p:cNvPr id="55" name="Text 50"/>
          <p:cNvSpPr txBox="1"/>
          <p:nvPr/>
        </p:nvSpPr>
        <p:spPr>
          <a:xfrm>
            <a:off x="497890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6" name="Shape 51"/>
          <p:cNvSpPr/>
          <p:nvPr/>
        </p:nvSpPr>
        <p:spPr>
          <a:xfrm>
            <a:off x="337870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3378708" y="499262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354330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47</a:t>
            </a:r>
            <a:endParaRPr lang="en-US" sz="2400" dirty="0"/>
          </a:p>
        </p:txBody>
      </p:sp>
      <p:sp>
        <p:nvSpPr>
          <p:cNvPr id="59" name="Text 54"/>
          <p:cNvSpPr txBox="1"/>
          <p:nvPr/>
        </p:nvSpPr>
        <p:spPr>
          <a:xfrm>
            <a:off x="354330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trades</a:t>
            </a:r>
            <a:endParaRPr lang="en-US" sz="1050" dirty="0"/>
          </a:p>
        </p:txBody>
      </p:sp>
      <p:sp>
        <p:nvSpPr>
          <p:cNvPr id="60" name="Text 55"/>
          <p:cNvSpPr txBox="1"/>
          <p:nvPr/>
        </p:nvSpPr>
        <p:spPr>
          <a:xfrm>
            <a:off x="354330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Executed across all users</a:t>
            </a:r>
            <a:endParaRPr lang="en-US" sz="850" dirty="0"/>
          </a:p>
        </p:txBody>
      </p:sp>
      <p:sp>
        <p:nvSpPr>
          <p:cNvPr id="61" name="Text 56"/>
          <p:cNvSpPr txBox="1"/>
          <p:nvPr/>
        </p:nvSpPr>
        <p:spPr>
          <a:xfrm>
            <a:off x="497890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62" name="Shape 57"/>
          <p:cNvSpPr/>
          <p:nvPr/>
        </p:nvSpPr>
        <p:spPr>
          <a:xfrm>
            <a:off x="6190488" y="1408176"/>
            <a:ext cx="45720" cy="1554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630021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KYC STATUS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619048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6190488" y="170078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635508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50</a:t>
            </a:r>
            <a:endParaRPr lang="en-US" sz="2400" dirty="0"/>
          </a:p>
        </p:txBody>
      </p:sp>
      <p:sp>
        <p:nvSpPr>
          <p:cNvPr id="67" name="Text 62"/>
          <p:cNvSpPr txBox="1"/>
          <p:nvPr/>
        </p:nvSpPr>
        <p:spPr>
          <a:xfrm>
            <a:off x="635508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onboarded</a:t>
            </a:r>
            <a:endParaRPr lang="en-US" sz="1050" dirty="0"/>
          </a:p>
        </p:txBody>
      </p:sp>
      <p:sp>
        <p:nvSpPr>
          <p:cNvPr id="68" name="Text 63"/>
          <p:cNvSpPr txBox="1"/>
          <p:nvPr/>
        </p:nvSpPr>
        <p:spPr>
          <a:xfrm>
            <a:off x="635508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Completed signup and verification</a:t>
            </a:r>
            <a:endParaRPr lang="en-US" sz="850" dirty="0"/>
          </a:p>
        </p:txBody>
      </p:sp>
      <p:sp>
        <p:nvSpPr>
          <p:cNvPr id="69" name="Text 64"/>
          <p:cNvSpPr txBox="1"/>
          <p:nvPr/>
        </p:nvSpPr>
        <p:spPr>
          <a:xfrm>
            <a:off x="779068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70" name="Shape 65"/>
          <p:cNvSpPr/>
          <p:nvPr/>
        </p:nvSpPr>
        <p:spPr>
          <a:xfrm>
            <a:off x="619048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6190488" y="279806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2" name="Text 67"/>
          <p:cNvSpPr txBox="1"/>
          <p:nvPr/>
        </p:nvSpPr>
        <p:spPr>
          <a:xfrm>
            <a:off x="635508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160</a:t>
            </a:r>
            <a:endParaRPr lang="en-US" sz="2400" dirty="0"/>
          </a:p>
        </p:txBody>
      </p:sp>
      <p:sp>
        <p:nvSpPr>
          <p:cNvPr id="73" name="Text 68"/>
          <p:cNvSpPr txBox="1"/>
          <p:nvPr/>
        </p:nvSpPr>
        <p:spPr>
          <a:xfrm>
            <a:off x="635508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Incomplete KYC</a:t>
            </a:r>
            <a:endParaRPr lang="en-US" sz="1050" dirty="0"/>
          </a:p>
        </p:txBody>
      </p:sp>
      <p:sp>
        <p:nvSpPr>
          <p:cNvPr id="74" name="Text 69"/>
          <p:cNvSpPr txBox="1"/>
          <p:nvPr/>
        </p:nvSpPr>
        <p:spPr>
          <a:xfrm>
            <a:off x="635508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Started KYC but did not proceed</a:t>
            </a:r>
            <a:endParaRPr lang="en-US" sz="850" dirty="0"/>
          </a:p>
        </p:txBody>
      </p:sp>
      <p:sp>
        <p:nvSpPr>
          <p:cNvPr id="75" name="Text 70"/>
          <p:cNvSpPr txBox="1"/>
          <p:nvPr/>
        </p:nvSpPr>
        <p:spPr>
          <a:xfrm>
            <a:off x="779068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76" name="Shape 71"/>
          <p:cNvSpPr/>
          <p:nvPr/>
        </p:nvSpPr>
        <p:spPr>
          <a:xfrm>
            <a:off x="619048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6190488" y="389534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8" name="Text 73"/>
          <p:cNvSpPr txBox="1"/>
          <p:nvPr/>
        </p:nvSpPr>
        <p:spPr>
          <a:xfrm>
            <a:off x="635508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</a:t>
            </a:r>
            <a:endParaRPr lang="en-US" sz="2400" dirty="0"/>
          </a:p>
        </p:txBody>
      </p:sp>
      <p:sp>
        <p:nvSpPr>
          <p:cNvPr id="79" name="Text 74"/>
          <p:cNvSpPr txBox="1"/>
          <p:nvPr/>
        </p:nvSpPr>
        <p:spPr>
          <a:xfrm>
            <a:off x="635508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Rejected KYC</a:t>
            </a:r>
            <a:endParaRPr lang="en-US" sz="1050" dirty="0"/>
          </a:p>
        </p:txBody>
      </p:sp>
      <p:sp>
        <p:nvSpPr>
          <p:cNvPr id="80" name="Text 75"/>
          <p:cNvSpPr txBox="1"/>
          <p:nvPr/>
        </p:nvSpPr>
        <p:spPr>
          <a:xfrm>
            <a:off x="635508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Resubmission required</a:t>
            </a:r>
            <a:endParaRPr lang="en-US" sz="850" dirty="0"/>
          </a:p>
        </p:txBody>
      </p:sp>
      <p:sp>
        <p:nvSpPr>
          <p:cNvPr id="81" name="Text 76"/>
          <p:cNvSpPr txBox="1"/>
          <p:nvPr/>
        </p:nvSpPr>
        <p:spPr>
          <a:xfrm>
            <a:off x="779068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82" name="Shape 77"/>
          <p:cNvSpPr/>
          <p:nvPr/>
        </p:nvSpPr>
        <p:spPr>
          <a:xfrm>
            <a:off x="619048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6190488" y="499262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4" name="Text 79"/>
          <p:cNvSpPr txBox="1"/>
          <p:nvPr/>
        </p:nvSpPr>
        <p:spPr>
          <a:xfrm>
            <a:off x="635508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220</a:t>
            </a:r>
            <a:endParaRPr lang="en-US" sz="2400" dirty="0"/>
          </a:p>
        </p:txBody>
      </p:sp>
      <p:sp>
        <p:nvSpPr>
          <p:cNvPr id="85" name="Text 80"/>
          <p:cNvSpPr txBox="1"/>
          <p:nvPr/>
        </p:nvSpPr>
        <p:spPr>
          <a:xfrm>
            <a:off x="635508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KYC applications</a:t>
            </a:r>
            <a:endParaRPr lang="en-US" sz="1050" dirty="0"/>
          </a:p>
        </p:txBody>
      </p:sp>
      <p:sp>
        <p:nvSpPr>
          <p:cNvPr id="86" name="Text 81"/>
          <p:cNvSpPr txBox="1"/>
          <p:nvPr/>
        </p:nvSpPr>
        <p:spPr>
          <a:xfrm>
            <a:off x="635508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Onboarded + incomplete + rejected</a:t>
            </a:r>
            <a:endParaRPr lang="en-US" sz="850" dirty="0"/>
          </a:p>
        </p:txBody>
      </p:sp>
      <p:sp>
        <p:nvSpPr>
          <p:cNvPr id="87" name="Shape 82"/>
          <p:cNvSpPr/>
          <p:nvPr/>
        </p:nvSpPr>
        <p:spPr>
          <a:xfrm>
            <a:off x="9002268" y="1408176"/>
            <a:ext cx="45720" cy="155448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88" name="Text 83"/>
          <p:cNvSpPr txBox="1"/>
          <p:nvPr/>
        </p:nvSpPr>
        <p:spPr>
          <a:xfrm>
            <a:off x="911199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SUPPORT TICKETS</a:t>
            </a:r>
            <a:endParaRPr lang="en-US" sz="900" dirty="0"/>
          </a:p>
        </p:txBody>
      </p:sp>
      <p:sp>
        <p:nvSpPr>
          <p:cNvPr id="89" name="Shape 84"/>
          <p:cNvSpPr/>
          <p:nvPr/>
        </p:nvSpPr>
        <p:spPr>
          <a:xfrm>
            <a:off x="900226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9002268" y="170078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1" name="Text 86"/>
          <p:cNvSpPr txBox="1"/>
          <p:nvPr/>
        </p:nvSpPr>
        <p:spPr>
          <a:xfrm>
            <a:off x="916686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25</a:t>
            </a:r>
            <a:endParaRPr lang="en-US" sz="2400" dirty="0"/>
          </a:p>
        </p:txBody>
      </p:sp>
      <p:sp>
        <p:nvSpPr>
          <p:cNvPr id="92" name="Text 87"/>
          <p:cNvSpPr txBox="1"/>
          <p:nvPr/>
        </p:nvSpPr>
        <p:spPr>
          <a:xfrm>
            <a:off x="916686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created</a:t>
            </a:r>
            <a:endParaRPr lang="en-US" sz="1050" dirty="0"/>
          </a:p>
        </p:txBody>
      </p:sp>
      <p:sp>
        <p:nvSpPr>
          <p:cNvPr id="93" name="Text 88"/>
          <p:cNvSpPr txBox="1"/>
          <p:nvPr/>
        </p:nvSpPr>
        <p:spPr>
          <a:xfrm>
            <a:off x="916686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94" name="Text 89"/>
          <p:cNvSpPr txBox="1"/>
          <p:nvPr/>
        </p:nvSpPr>
        <p:spPr>
          <a:xfrm>
            <a:off x="1060246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95" name="Shape 90"/>
          <p:cNvSpPr/>
          <p:nvPr/>
        </p:nvSpPr>
        <p:spPr>
          <a:xfrm>
            <a:off x="900226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9002268" y="279806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7" name="Text 92"/>
          <p:cNvSpPr txBox="1"/>
          <p:nvPr/>
        </p:nvSpPr>
        <p:spPr>
          <a:xfrm>
            <a:off x="916686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</a:t>
            </a:r>
            <a:endParaRPr lang="en-US" sz="2400" dirty="0"/>
          </a:p>
        </p:txBody>
      </p:sp>
      <p:sp>
        <p:nvSpPr>
          <p:cNvPr id="98" name="Text 93"/>
          <p:cNvSpPr txBox="1"/>
          <p:nvPr/>
        </p:nvSpPr>
        <p:spPr>
          <a:xfrm>
            <a:off x="916686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resolved</a:t>
            </a:r>
            <a:endParaRPr lang="en-US" sz="1050" dirty="0"/>
          </a:p>
        </p:txBody>
      </p:sp>
      <p:sp>
        <p:nvSpPr>
          <p:cNvPr id="99" name="Text 94"/>
          <p:cNvSpPr txBox="1"/>
          <p:nvPr/>
        </p:nvSpPr>
        <p:spPr>
          <a:xfrm>
            <a:off x="916686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96% of tickets created</a:t>
            </a:r>
            <a:endParaRPr lang="en-US" sz="850" dirty="0"/>
          </a:p>
        </p:txBody>
      </p:sp>
      <p:sp>
        <p:nvSpPr>
          <p:cNvPr id="100" name="Text 95"/>
          <p:cNvSpPr txBox="1"/>
          <p:nvPr/>
        </p:nvSpPr>
        <p:spPr>
          <a:xfrm>
            <a:off x="1060246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1" name="Shape 96"/>
          <p:cNvSpPr/>
          <p:nvPr/>
        </p:nvSpPr>
        <p:spPr>
          <a:xfrm>
            <a:off x="900226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9002268" y="389534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3" name="Text 98"/>
          <p:cNvSpPr txBox="1"/>
          <p:nvPr/>
        </p:nvSpPr>
        <p:spPr>
          <a:xfrm>
            <a:off x="916686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</a:t>
            </a:r>
            <a:endParaRPr lang="en-US" sz="2400" dirty="0"/>
          </a:p>
        </p:txBody>
      </p:sp>
      <p:sp>
        <p:nvSpPr>
          <p:cNvPr id="104" name="Text 99"/>
          <p:cNvSpPr txBox="1"/>
          <p:nvPr/>
        </p:nvSpPr>
        <p:spPr>
          <a:xfrm>
            <a:off x="916686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Email queries</a:t>
            </a:r>
            <a:endParaRPr lang="en-US" sz="1050" dirty="0"/>
          </a:p>
        </p:txBody>
      </p:sp>
      <p:sp>
        <p:nvSpPr>
          <p:cNvPr id="105" name="Text 100"/>
          <p:cNvSpPr txBox="1"/>
          <p:nvPr/>
        </p:nvSpPr>
        <p:spPr>
          <a:xfrm>
            <a:off x="916686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06" name="Text 101"/>
          <p:cNvSpPr txBox="1"/>
          <p:nvPr/>
        </p:nvSpPr>
        <p:spPr>
          <a:xfrm>
            <a:off x="1060246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7" name="Shape 102"/>
          <p:cNvSpPr/>
          <p:nvPr/>
        </p:nvSpPr>
        <p:spPr>
          <a:xfrm>
            <a:off x="900226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9002268" y="499262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9" name="Text 104"/>
          <p:cNvSpPr txBox="1"/>
          <p:nvPr/>
        </p:nvSpPr>
        <p:spPr>
          <a:xfrm>
            <a:off x="916686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21</a:t>
            </a:r>
            <a:endParaRPr lang="en-US" sz="2400" dirty="0"/>
          </a:p>
        </p:txBody>
      </p:sp>
      <p:sp>
        <p:nvSpPr>
          <p:cNvPr id="110" name="Text 105"/>
          <p:cNvSpPr txBox="1"/>
          <p:nvPr/>
        </p:nvSpPr>
        <p:spPr>
          <a:xfrm>
            <a:off x="916686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AI support queries</a:t>
            </a:r>
            <a:endParaRPr lang="en-US" sz="1050" dirty="0"/>
          </a:p>
        </p:txBody>
      </p:sp>
      <p:sp>
        <p:nvSpPr>
          <p:cNvPr id="111" name="Text 106"/>
          <p:cNvSpPr txBox="1"/>
          <p:nvPr/>
        </p:nvSpPr>
        <p:spPr>
          <a:xfrm>
            <a:off x="916686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12" name="Text 107"/>
          <p:cNvSpPr txBox="1"/>
          <p:nvPr/>
        </p:nvSpPr>
        <p:spPr>
          <a:xfrm>
            <a:off x="1060246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atemIsa_202508993_IT9002_NLP_Project/emyaa-ceo-deck/working/charts/board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188720"/>
            <a:ext cx="12191695" cy="24689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66928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F3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PLATFORM ANALYTICS  |  PERFORMANCE DASHBOARD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57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 date: 8 Sep 2026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868680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6CFE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Reporting period: All Time   |   Change on each card is against the previous report, 3 Sep 2026</a:t>
            </a:r>
            <a:endParaRPr lang="en-US" sz="1000" dirty="0"/>
          </a:p>
        </p:txBody>
      </p:sp>
      <p:pic>
        <p:nvPicPr>
          <p:cNvPr id="7" name="Image 1" descr="/home/user/HatemIsa_202508993_IT9002_NLP_Project/emyaa-ceo-deck/working/charts/ajy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02336"/>
            <a:ext cx="13258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" y="6272784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Source: eMYAA Daily Performance Dashboard, eMYAA_-_Daily_Performance_Dashboard-1.pdf, page 15. This report labels the money card 'Total Deposits'; later reports label the same measure 'Total AUM'.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eMYAA Trading Platform  |  Daily Performance Dashboard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9802368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18</a:t>
            </a:r>
            <a:endParaRPr lang="en-US" sz="800" dirty="0"/>
          </a:p>
        </p:txBody>
      </p:sp>
      <p:pic>
        <p:nvPicPr>
          <p:cNvPr id="11" name="Image 2" descr="/home/user/HatemIsa_202508993_IT9002_NLP_Project/emyaa-ceo-deck/working/charts/emyaa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6336792"/>
            <a:ext cx="1024128" cy="3657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66928" y="1408176"/>
            <a:ext cx="45720" cy="155448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665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DOWNLOADS &amp; RATINGS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6692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66928" y="170078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152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226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downloads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 Store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216712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6692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66928" y="279806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3152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177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73152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downloads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73152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Apple App Store</a:t>
            </a:r>
            <a:endParaRPr lang="en-US" sz="850" dirty="0"/>
          </a:p>
        </p:txBody>
      </p:sp>
      <p:sp>
        <p:nvSpPr>
          <p:cNvPr id="25" name="Text 20"/>
          <p:cNvSpPr txBox="1"/>
          <p:nvPr/>
        </p:nvSpPr>
        <p:spPr>
          <a:xfrm>
            <a:off x="216712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+7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6692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66928" y="389534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3152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29" name="Text 24"/>
          <p:cNvSpPr txBox="1"/>
          <p:nvPr/>
        </p:nvSpPr>
        <p:spPr>
          <a:xfrm>
            <a:off x="73152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app rating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73152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Play, 2 reviews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56692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66928" y="499262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3152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34" name="Text 29"/>
          <p:cNvSpPr txBox="1"/>
          <p:nvPr/>
        </p:nvSpPr>
        <p:spPr>
          <a:xfrm>
            <a:off x="73152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app rating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73152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 Store, 2 reviews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3378708" y="1408176"/>
            <a:ext cx="45720" cy="155448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48843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 ACTIVITY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337870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3378708" y="170078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354330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12</a:t>
            </a:r>
            <a:endParaRPr lang="en-US" sz="2400" dirty="0"/>
          </a:p>
        </p:txBody>
      </p:sp>
      <p:sp>
        <p:nvSpPr>
          <p:cNvPr id="41" name="Text 36"/>
          <p:cNvSpPr txBox="1"/>
          <p:nvPr/>
        </p:nvSpPr>
        <p:spPr>
          <a:xfrm>
            <a:off x="354330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deposited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354330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Funded accounts</a:t>
            </a:r>
            <a:endParaRPr lang="en-US" sz="850" dirty="0"/>
          </a:p>
        </p:txBody>
      </p:sp>
      <p:sp>
        <p:nvSpPr>
          <p:cNvPr id="43" name="Text 38"/>
          <p:cNvSpPr txBox="1"/>
          <p:nvPr/>
        </p:nvSpPr>
        <p:spPr>
          <a:xfrm>
            <a:off x="497890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337870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3378708" y="279806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354330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$8,529.69</a:t>
            </a:r>
            <a:endParaRPr lang="en-US" sz="1900" dirty="0"/>
          </a:p>
        </p:txBody>
      </p:sp>
      <p:sp>
        <p:nvSpPr>
          <p:cNvPr id="47" name="Text 42"/>
          <p:cNvSpPr txBox="1"/>
          <p:nvPr/>
        </p:nvSpPr>
        <p:spPr>
          <a:xfrm>
            <a:off x="354330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deposits</a:t>
            </a:r>
            <a:endParaRPr lang="en-US" sz="1050" dirty="0"/>
          </a:p>
        </p:txBody>
      </p:sp>
      <p:sp>
        <p:nvSpPr>
          <p:cNvPr id="48" name="Text 43"/>
          <p:cNvSpPr txBox="1"/>
          <p:nvPr/>
        </p:nvSpPr>
        <p:spPr>
          <a:xfrm>
            <a:off x="354330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Cumulative platform deposits</a:t>
            </a:r>
            <a:endParaRPr lang="en-US" sz="850" dirty="0"/>
          </a:p>
        </p:txBody>
      </p:sp>
      <p:sp>
        <p:nvSpPr>
          <p:cNvPr id="49" name="Text 44"/>
          <p:cNvSpPr txBox="1"/>
          <p:nvPr/>
        </p:nvSpPr>
        <p:spPr>
          <a:xfrm>
            <a:off x="497890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337870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3378708" y="389534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354330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12</a:t>
            </a:r>
            <a:endParaRPr lang="en-US" sz="2400" dirty="0"/>
          </a:p>
        </p:txBody>
      </p:sp>
      <p:sp>
        <p:nvSpPr>
          <p:cNvPr id="53" name="Text 48"/>
          <p:cNvSpPr txBox="1"/>
          <p:nvPr/>
        </p:nvSpPr>
        <p:spPr>
          <a:xfrm>
            <a:off x="354330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traded</a:t>
            </a:r>
            <a:endParaRPr lang="en-US" sz="1050" dirty="0"/>
          </a:p>
        </p:txBody>
      </p:sp>
      <p:sp>
        <p:nvSpPr>
          <p:cNvPr id="54" name="Text 49"/>
          <p:cNvSpPr txBox="1"/>
          <p:nvPr/>
        </p:nvSpPr>
        <p:spPr>
          <a:xfrm>
            <a:off x="354330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Placed at least 1 trade</a:t>
            </a:r>
            <a:endParaRPr lang="en-US" sz="850" dirty="0"/>
          </a:p>
        </p:txBody>
      </p:sp>
      <p:sp>
        <p:nvSpPr>
          <p:cNvPr id="55" name="Text 50"/>
          <p:cNvSpPr txBox="1"/>
          <p:nvPr/>
        </p:nvSpPr>
        <p:spPr>
          <a:xfrm>
            <a:off x="497890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6" name="Shape 51"/>
          <p:cNvSpPr/>
          <p:nvPr/>
        </p:nvSpPr>
        <p:spPr>
          <a:xfrm>
            <a:off x="337870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3378708" y="499262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354330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46</a:t>
            </a:r>
            <a:endParaRPr lang="en-US" sz="2400" dirty="0"/>
          </a:p>
        </p:txBody>
      </p:sp>
      <p:sp>
        <p:nvSpPr>
          <p:cNvPr id="59" name="Text 54"/>
          <p:cNvSpPr txBox="1"/>
          <p:nvPr/>
        </p:nvSpPr>
        <p:spPr>
          <a:xfrm>
            <a:off x="354330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trades</a:t>
            </a:r>
            <a:endParaRPr lang="en-US" sz="1050" dirty="0"/>
          </a:p>
        </p:txBody>
      </p:sp>
      <p:sp>
        <p:nvSpPr>
          <p:cNvPr id="60" name="Text 55"/>
          <p:cNvSpPr txBox="1"/>
          <p:nvPr/>
        </p:nvSpPr>
        <p:spPr>
          <a:xfrm>
            <a:off x="354330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Executed across all users</a:t>
            </a:r>
            <a:endParaRPr lang="en-US" sz="850" dirty="0"/>
          </a:p>
        </p:txBody>
      </p:sp>
      <p:sp>
        <p:nvSpPr>
          <p:cNvPr id="61" name="Text 56"/>
          <p:cNvSpPr txBox="1"/>
          <p:nvPr/>
        </p:nvSpPr>
        <p:spPr>
          <a:xfrm>
            <a:off x="497890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62" name="Shape 57"/>
          <p:cNvSpPr/>
          <p:nvPr/>
        </p:nvSpPr>
        <p:spPr>
          <a:xfrm>
            <a:off x="6190488" y="1408176"/>
            <a:ext cx="45720" cy="1554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630021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KYC STATUS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619048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6190488" y="170078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635508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49</a:t>
            </a:r>
            <a:endParaRPr lang="en-US" sz="2400" dirty="0"/>
          </a:p>
        </p:txBody>
      </p:sp>
      <p:sp>
        <p:nvSpPr>
          <p:cNvPr id="67" name="Text 62"/>
          <p:cNvSpPr txBox="1"/>
          <p:nvPr/>
        </p:nvSpPr>
        <p:spPr>
          <a:xfrm>
            <a:off x="635508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onboarded</a:t>
            </a:r>
            <a:endParaRPr lang="en-US" sz="1050" dirty="0"/>
          </a:p>
        </p:txBody>
      </p:sp>
      <p:sp>
        <p:nvSpPr>
          <p:cNvPr id="68" name="Text 63"/>
          <p:cNvSpPr txBox="1"/>
          <p:nvPr/>
        </p:nvSpPr>
        <p:spPr>
          <a:xfrm>
            <a:off x="635508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Completed signup and verification</a:t>
            </a:r>
            <a:endParaRPr lang="en-US" sz="850" dirty="0"/>
          </a:p>
        </p:txBody>
      </p:sp>
      <p:sp>
        <p:nvSpPr>
          <p:cNvPr id="69" name="Text 64"/>
          <p:cNvSpPr txBox="1"/>
          <p:nvPr/>
        </p:nvSpPr>
        <p:spPr>
          <a:xfrm>
            <a:off x="779068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70" name="Shape 65"/>
          <p:cNvSpPr/>
          <p:nvPr/>
        </p:nvSpPr>
        <p:spPr>
          <a:xfrm>
            <a:off x="619048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6190488" y="279806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2" name="Text 67"/>
          <p:cNvSpPr txBox="1"/>
          <p:nvPr/>
        </p:nvSpPr>
        <p:spPr>
          <a:xfrm>
            <a:off x="635508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160</a:t>
            </a:r>
            <a:endParaRPr lang="en-US" sz="2400" dirty="0"/>
          </a:p>
        </p:txBody>
      </p:sp>
      <p:sp>
        <p:nvSpPr>
          <p:cNvPr id="73" name="Text 68"/>
          <p:cNvSpPr txBox="1"/>
          <p:nvPr/>
        </p:nvSpPr>
        <p:spPr>
          <a:xfrm>
            <a:off x="635508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Incomplete KYC</a:t>
            </a:r>
            <a:endParaRPr lang="en-US" sz="1050" dirty="0"/>
          </a:p>
        </p:txBody>
      </p:sp>
      <p:sp>
        <p:nvSpPr>
          <p:cNvPr id="74" name="Text 69"/>
          <p:cNvSpPr txBox="1"/>
          <p:nvPr/>
        </p:nvSpPr>
        <p:spPr>
          <a:xfrm>
            <a:off x="635508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Started KYC but did not proceed</a:t>
            </a:r>
            <a:endParaRPr lang="en-US" sz="850" dirty="0"/>
          </a:p>
        </p:txBody>
      </p:sp>
      <p:sp>
        <p:nvSpPr>
          <p:cNvPr id="75" name="Text 70"/>
          <p:cNvSpPr txBox="1"/>
          <p:nvPr/>
        </p:nvSpPr>
        <p:spPr>
          <a:xfrm>
            <a:off x="779068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5303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+3</a:t>
            </a:r>
            <a:endParaRPr lang="en-US" sz="850" dirty="0"/>
          </a:p>
        </p:txBody>
      </p:sp>
      <p:sp>
        <p:nvSpPr>
          <p:cNvPr id="76" name="Shape 71"/>
          <p:cNvSpPr/>
          <p:nvPr/>
        </p:nvSpPr>
        <p:spPr>
          <a:xfrm>
            <a:off x="619048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6190488" y="389534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8" name="Text 73"/>
          <p:cNvSpPr txBox="1"/>
          <p:nvPr/>
        </p:nvSpPr>
        <p:spPr>
          <a:xfrm>
            <a:off x="635508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</a:t>
            </a:r>
            <a:endParaRPr lang="en-US" sz="2400" dirty="0"/>
          </a:p>
        </p:txBody>
      </p:sp>
      <p:sp>
        <p:nvSpPr>
          <p:cNvPr id="79" name="Text 74"/>
          <p:cNvSpPr txBox="1"/>
          <p:nvPr/>
        </p:nvSpPr>
        <p:spPr>
          <a:xfrm>
            <a:off x="635508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Rejected KYC</a:t>
            </a:r>
            <a:endParaRPr lang="en-US" sz="1050" dirty="0"/>
          </a:p>
        </p:txBody>
      </p:sp>
      <p:sp>
        <p:nvSpPr>
          <p:cNvPr id="80" name="Text 75"/>
          <p:cNvSpPr txBox="1"/>
          <p:nvPr/>
        </p:nvSpPr>
        <p:spPr>
          <a:xfrm>
            <a:off x="635508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Resubmission required</a:t>
            </a:r>
            <a:endParaRPr lang="en-US" sz="850" dirty="0"/>
          </a:p>
        </p:txBody>
      </p:sp>
      <p:sp>
        <p:nvSpPr>
          <p:cNvPr id="81" name="Text 76"/>
          <p:cNvSpPr txBox="1"/>
          <p:nvPr/>
        </p:nvSpPr>
        <p:spPr>
          <a:xfrm>
            <a:off x="779068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82" name="Shape 77"/>
          <p:cNvSpPr/>
          <p:nvPr/>
        </p:nvSpPr>
        <p:spPr>
          <a:xfrm>
            <a:off x="619048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6190488" y="499262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4" name="Text 79"/>
          <p:cNvSpPr txBox="1"/>
          <p:nvPr/>
        </p:nvSpPr>
        <p:spPr>
          <a:xfrm>
            <a:off x="635508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219</a:t>
            </a:r>
            <a:endParaRPr lang="en-US" sz="2400" dirty="0"/>
          </a:p>
        </p:txBody>
      </p:sp>
      <p:sp>
        <p:nvSpPr>
          <p:cNvPr id="85" name="Text 80"/>
          <p:cNvSpPr txBox="1"/>
          <p:nvPr/>
        </p:nvSpPr>
        <p:spPr>
          <a:xfrm>
            <a:off x="635508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KYC applications</a:t>
            </a:r>
            <a:endParaRPr lang="en-US" sz="1050" dirty="0"/>
          </a:p>
        </p:txBody>
      </p:sp>
      <p:sp>
        <p:nvSpPr>
          <p:cNvPr id="86" name="Text 81"/>
          <p:cNvSpPr txBox="1"/>
          <p:nvPr/>
        </p:nvSpPr>
        <p:spPr>
          <a:xfrm>
            <a:off x="635508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Onboarded + incomplete + rejected</a:t>
            </a:r>
            <a:endParaRPr lang="en-US" sz="850" dirty="0"/>
          </a:p>
        </p:txBody>
      </p:sp>
      <p:sp>
        <p:nvSpPr>
          <p:cNvPr id="87" name="Shape 82"/>
          <p:cNvSpPr/>
          <p:nvPr/>
        </p:nvSpPr>
        <p:spPr>
          <a:xfrm>
            <a:off x="9002268" y="1408176"/>
            <a:ext cx="45720" cy="155448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88" name="Text 83"/>
          <p:cNvSpPr txBox="1"/>
          <p:nvPr/>
        </p:nvSpPr>
        <p:spPr>
          <a:xfrm>
            <a:off x="911199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SUPPORT TICKETS</a:t>
            </a:r>
            <a:endParaRPr lang="en-US" sz="900" dirty="0"/>
          </a:p>
        </p:txBody>
      </p:sp>
      <p:sp>
        <p:nvSpPr>
          <p:cNvPr id="89" name="Shape 84"/>
          <p:cNvSpPr/>
          <p:nvPr/>
        </p:nvSpPr>
        <p:spPr>
          <a:xfrm>
            <a:off x="900226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9002268" y="170078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1" name="Text 86"/>
          <p:cNvSpPr txBox="1"/>
          <p:nvPr/>
        </p:nvSpPr>
        <p:spPr>
          <a:xfrm>
            <a:off x="916686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25</a:t>
            </a:r>
            <a:endParaRPr lang="en-US" sz="2400" dirty="0"/>
          </a:p>
        </p:txBody>
      </p:sp>
      <p:sp>
        <p:nvSpPr>
          <p:cNvPr id="92" name="Text 87"/>
          <p:cNvSpPr txBox="1"/>
          <p:nvPr/>
        </p:nvSpPr>
        <p:spPr>
          <a:xfrm>
            <a:off x="916686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created</a:t>
            </a:r>
            <a:endParaRPr lang="en-US" sz="1050" dirty="0"/>
          </a:p>
        </p:txBody>
      </p:sp>
      <p:sp>
        <p:nvSpPr>
          <p:cNvPr id="93" name="Text 88"/>
          <p:cNvSpPr txBox="1"/>
          <p:nvPr/>
        </p:nvSpPr>
        <p:spPr>
          <a:xfrm>
            <a:off x="916686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94" name="Text 89"/>
          <p:cNvSpPr txBox="1"/>
          <p:nvPr/>
        </p:nvSpPr>
        <p:spPr>
          <a:xfrm>
            <a:off x="1060246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95" name="Shape 90"/>
          <p:cNvSpPr/>
          <p:nvPr/>
        </p:nvSpPr>
        <p:spPr>
          <a:xfrm>
            <a:off x="900226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9002268" y="279806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7" name="Text 92"/>
          <p:cNvSpPr txBox="1"/>
          <p:nvPr/>
        </p:nvSpPr>
        <p:spPr>
          <a:xfrm>
            <a:off x="916686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</a:t>
            </a:r>
            <a:endParaRPr lang="en-US" sz="2400" dirty="0"/>
          </a:p>
        </p:txBody>
      </p:sp>
      <p:sp>
        <p:nvSpPr>
          <p:cNvPr id="98" name="Text 93"/>
          <p:cNvSpPr txBox="1"/>
          <p:nvPr/>
        </p:nvSpPr>
        <p:spPr>
          <a:xfrm>
            <a:off x="916686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resolved</a:t>
            </a:r>
            <a:endParaRPr lang="en-US" sz="1050" dirty="0"/>
          </a:p>
        </p:txBody>
      </p:sp>
      <p:sp>
        <p:nvSpPr>
          <p:cNvPr id="99" name="Text 94"/>
          <p:cNvSpPr txBox="1"/>
          <p:nvPr/>
        </p:nvSpPr>
        <p:spPr>
          <a:xfrm>
            <a:off x="916686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96% of tickets created</a:t>
            </a:r>
            <a:endParaRPr lang="en-US" sz="850" dirty="0"/>
          </a:p>
        </p:txBody>
      </p:sp>
      <p:sp>
        <p:nvSpPr>
          <p:cNvPr id="100" name="Text 95"/>
          <p:cNvSpPr txBox="1"/>
          <p:nvPr/>
        </p:nvSpPr>
        <p:spPr>
          <a:xfrm>
            <a:off x="1060246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1" name="Shape 96"/>
          <p:cNvSpPr/>
          <p:nvPr/>
        </p:nvSpPr>
        <p:spPr>
          <a:xfrm>
            <a:off x="900226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9002268" y="389534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3" name="Text 98"/>
          <p:cNvSpPr txBox="1"/>
          <p:nvPr/>
        </p:nvSpPr>
        <p:spPr>
          <a:xfrm>
            <a:off x="916686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</a:t>
            </a:r>
            <a:endParaRPr lang="en-US" sz="2400" dirty="0"/>
          </a:p>
        </p:txBody>
      </p:sp>
      <p:sp>
        <p:nvSpPr>
          <p:cNvPr id="104" name="Text 99"/>
          <p:cNvSpPr txBox="1"/>
          <p:nvPr/>
        </p:nvSpPr>
        <p:spPr>
          <a:xfrm>
            <a:off x="916686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Email queries</a:t>
            </a:r>
            <a:endParaRPr lang="en-US" sz="1050" dirty="0"/>
          </a:p>
        </p:txBody>
      </p:sp>
      <p:sp>
        <p:nvSpPr>
          <p:cNvPr id="105" name="Text 100"/>
          <p:cNvSpPr txBox="1"/>
          <p:nvPr/>
        </p:nvSpPr>
        <p:spPr>
          <a:xfrm>
            <a:off x="916686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06" name="Text 101"/>
          <p:cNvSpPr txBox="1"/>
          <p:nvPr/>
        </p:nvSpPr>
        <p:spPr>
          <a:xfrm>
            <a:off x="1060246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7" name="Shape 102"/>
          <p:cNvSpPr/>
          <p:nvPr/>
        </p:nvSpPr>
        <p:spPr>
          <a:xfrm>
            <a:off x="900226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9002268" y="499262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9" name="Text 104"/>
          <p:cNvSpPr txBox="1"/>
          <p:nvPr/>
        </p:nvSpPr>
        <p:spPr>
          <a:xfrm>
            <a:off x="916686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21</a:t>
            </a:r>
            <a:endParaRPr lang="en-US" sz="2400" dirty="0"/>
          </a:p>
        </p:txBody>
      </p:sp>
      <p:sp>
        <p:nvSpPr>
          <p:cNvPr id="110" name="Text 105"/>
          <p:cNvSpPr txBox="1"/>
          <p:nvPr/>
        </p:nvSpPr>
        <p:spPr>
          <a:xfrm>
            <a:off x="916686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AI support queries</a:t>
            </a:r>
            <a:endParaRPr lang="en-US" sz="1050" dirty="0"/>
          </a:p>
        </p:txBody>
      </p:sp>
      <p:sp>
        <p:nvSpPr>
          <p:cNvPr id="111" name="Text 106"/>
          <p:cNvSpPr txBox="1"/>
          <p:nvPr/>
        </p:nvSpPr>
        <p:spPr>
          <a:xfrm>
            <a:off x="916686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12" name="Text 107"/>
          <p:cNvSpPr txBox="1"/>
          <p:nvPr/>
        </p:nvSpPr>
        <p:spPr>
          <a:xfrm>
            <a:off x="1060246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atemIsa_202508993_IT9002_NLP_Project/emyaa-ceo-deck/working/charts/board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188720"/>
            <a:ext cx="12191695" cy="24689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66928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F3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PLATFORM ANALYTICS  |  PERFORMANCE DASHBOARD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57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 date: 3 Sep 2026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868680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6CFE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Reporting period: All Time   |   Change on each card is against the previous report, 2 Sep 2026</a:t>
            </a:r>
            <a:endParaRPr lang="en-US" sz="1000" dirty="0"/>
          </a:p>
        </p:txBody>
      </p:sp>
      <p:pic>
        <p:nvPicPr>
          <p:cNvPr id="7" name="Image 1" descr="/home/user/HatemIsa_202508993_IT9002_NLP_Project/emyaa-ceo-deck/working/charts/ajy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02336"/>
            <a:ext cx="13258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" y="6272784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Source: eMYAA Daily Performance Dashboard, eMYAA_-_Daily_Performance_Dashboard-1.pdf, page 16. This report labels the money card 'Total Deposits'; later reports label the same measure 'Total AUM'.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eMYAA Trading Platform  |  Daily Performance Dashboard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9802368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19</a:t>
            </a:r>
            <a:endParaRPr lang="en-US" sz="800" dirty="0"/>
          </a:p>
        </p:txBody>
      </p:sp>
      <p:pic>
        <p:nvPicPr>
          <p:cNvPr id="11" name="Image 2" descr="/home/user/HatemIsa_202508993_IT9002_NLP_Project/emyaa-ceo-deck/working/charts/emyaa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6336792"/>
            <a:ext cx="1024128" cy="3657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66928" y="1408176"/>
            <a:ext cx="45720" cy="155448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665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DOWNLOADS &amp; RATINGS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6692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66928" y="170078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152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225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downloads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 Store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216712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+5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6692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66928" y="279806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3152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170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73152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downloads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73152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Apple App Store</a:t>
            </a:r>
            <a:endParaRPr lang="en-US" sz="850" dirty="0"/>
          </a:p>
        </p:txBody>
      </p:sp>
      <p:sp>
        <p:nvSpPr>
          <p:cNvPr id="25" name="Text 20"/>
          <p:cNvSpPr txBox="1"/>
          <p:nvPr/>
        </p:nvSpPr>
        <p:spPr>
          <a:xfrm>
            <a:off x="216712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6692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66928" y="389534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3152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29" name="Text 24"/>
          <p:cNvSpPr txBox="1"/>
          <p:nvPr/>
        </p:nvSpPr>
        <p:spPr>
          <a:xfrm>
            <a:off x="73152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app rating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73152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Play, 2 reviews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56692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66928" y="499262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3152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34" name="Text 29"/>
          <p:cNvSpPr txBox="1"/>
          <p:nvPr/>
        </p:nvSpPr>
        <p:spPr>
          <a:xfrm>
            <a:off x="73152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app rating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73152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 Store, 2 reviews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3378708" y="1408176"/>
            <a:ext cx="45720" cy="155448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48843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 ACTIVITY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337870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3378708" y="170078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354330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12</a:t>
            </a:r>
            <a:endParaRPr lang="en-US" sz="2400" dirty="0"/>
          </a:p>
        </p:txBody>
      </p:sp>
      <p:sp>
        <p:nvSpPr>
          <p:cNvPr id="41" name="Text 36"/>
          <p:cNvSpPr txBox="1"/>
          <p:nvPr/>
        </p:nvSpPr>
        <p:spPr>
          <a:xfrm>
            <a:off x="354330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deposited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354330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Funded accounts</a:t>
            </a:r>
            <a:endParaRPr lang="en-US" sz="850" dirty="0"/>
          </a:p>
        </p:txBody>
      </p:sp>
      <p:sp>
        <p:nvSpPr>
          <p:cNvPr id="43" name="Text 38"/>
          <p:cNvSpPr txBox="1"/>
          <p:nvPr/>
        </p:nvSpPr>
        <p:spPr>
          <a:xfrm>
            <a:off x="497890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337870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3378708" y="279806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354330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$8,529.69</a:t>
            </a:r>
            <a:endParaRPr lang="en-US" sz="1900" dirty="0"/>
          </a:p>
        </p:txBody>
      </p:sp>
      <p:sp>
        <p:nvSpPr>
          <p:cNvPr id="47" name="Text 42"/>
          <p:cNvSpPr txBox="1"/>
          <p:nvPr/>
        </p:nvSpPr>
        <p:spPr>
          <a:xfrm>
            <a:off x="354330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deposits</a:t>
            </a:r>
            <a:endParaRPr lang="en-US" sz="1050" dirty="0"/>
          </a:p>
        </p:txBody>
      </p:sp>
      <p:sp>
        <p:nvSpPr>
          <p:cNvPr id="48" name="Text 43"/>
          <p:cNvSpPr txBox="1"/>
          <p:nvPr/>
        </p:nvSpPr>
        <p:spPr>
          <a:xfrm>
            <a:off x="354330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Cumulative platform deposits</a:t>
            </a:r>
            <a:endParaRPr lang="en-US" sz="850" dirty="0"/>
          </a:p>
        </p:txBody>
      </p:sp>
      <p:sp>
        <p:nvSpPr>
          <p:cNvPr id="49" name="Text 44"/>
          <p:cNvSpPr txBox="1"/>
          <p:nvPr/>
        </p:nvSpPr>
        <p:spPr>
          <a:xfrm>
            <a:off x="497890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+$192.28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337870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3378708" y="389534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354330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12</a:t>
            </a:r>
            <a:endParaRPr lang="en-US" sz="2400" dirty="0"/>
          </a:p>
        </p:txBody>
      </p:sp>
      <p:sp>
        <p:nvSpPr>
          <p:cNvPr id="53" name="Text 48"/>
          <p:cNvSpPr txBox="1"/>
          <p:nvPr/>
        </p:nvSpPr>
        <p:spPr>
          <a:xfrm>
            <a:off x="354330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traded</a:t>
            </a:r>
            <a:endParaRPr lang="en-US" sz="1050" dirty="0"/>
          </a:p>
        </p:txBody>
      </p:sp>
      <p:sp>
        <p:nvSpPr>
          <p:cNvPr id="54" name="Text 49"/>
          <p:cNvSpPr txBox="1"/>
          <p:nvPr/>
        </p:nvSpPr>
        <p:spPr>
          <a:xfrm>
            <a:off x="354330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Placed at least 1 trade</a:t>
            </a:r>
            <a:endParaRPr lang="en-US" sz="850" dirty="0"/>
          </a:p>
        </p:txBody>
      </p:sp>
      <p:sp>
        <p:nvSpPr>
          <p:cNvPr id="55" name="Text 50"/>
          <p:cNvSpPr txBox="1"/>
          <p:nvPr/>
        </p:nvSpPr>
        <p:spPr>
          <a:xfrm>
            <a:off x="497890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6" name="Shape 51"/>
          <p:cNvSpPr/>
          <p:nvPr/>
        </p:nvSpPr>
        <p:spPr>
          <a:xfrm>
            <a:off x="337870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3378708" y="499262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354330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46</a:t>
            </a:r>
            <a:endParaRPr lang="en-US" sz="2400" dirty="0"/>
          </a:p>
        </p:txBody>
      </p:sp>
      <p:sp>
        <p:nvSpPr>
          <p:cNvPr id="59" name="Text 54"/>
          <p:cNvSpPr txBox="1"/>
          <p:nvPr/>
        </p:nvSpPr>
        <p:spPr>
          <a:xfrm>
            <a:off x="354330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trades</a:t>
            </a:r>
            <a:endParaRPr lang="en-US" sz="1050" dirty="0"/>
          </a:p>
        </p:txBody>
      </p:sp>
      <p:sp>
        <p:nvSpPr>
          <p:cNvPr id="60" name="Text 55"/>
          <p:cNvSpPr txBox="1"/>
          <p:nvPr/>
        </p:nvSpPr>
        <p:spPr>
          <a:xfrm>
            <a:off x="354330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Executed across all users</a:t>
            </a:r>
            <a:endParaRPr lang="en-US" sz="850" dirty="0"/>
          </a:p>
        </p:txBody>
      </p:sp>
      <p:sp>
        <p:nvSpPr>
          <p:cNvPr id="61" name="Text 56"/>
          <p:cNvSpPr txBox="1"/>
          <p:nvPr/>
        </p:nvSpPr>
        <p:spPr>
          <a:xfrm>
            <a:off x="497890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62" name="Shape 57"/>
          <p:cNvSpPr/>
          <p:nvPr/>
        </p:nvSpPr>
        <p:spPr>
          <a:xfrm>
            <a:off x="6190488" y="1408176"/>
            <a:ext cx="45720" cy="1554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630021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KYC STATUS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619048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6190488" y="170078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635508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49</a:t>
            </a:r>
            <a:endParaRPr lang="en-US" sz="2400" dirty="0"/>
          </a:p>
        </p:txBody>
      </p:sp>
      <p:sp>
        <p:nvSpPr>
          <p:cNvPr id="67" name="Text 62"/>
          <p:cNvSpPr txBox="1"/>
          <p:nvPr/>
        </p:nvSpPr>
        <p:spPr>
          <a:xfrm>
            <a:off x="635508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onboarded</a:t>
            </a:r>
            <a:endParaRPr lang="en-US" sz="1050" dirty="0"/>
          </a:p>
        </p:txBody>
      </p:sp>
      <p:sp>
        <p:nvSpPr>
          <p:cNvPr id="68" name="Text 63"/>
          <p:cNvSpPr txBox="1"/>
          <p:nvPr/>
        </p:nvSpPr>
        <p:spPr>
          <a:xfrm>
            <a:off x="635508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Completed signup and verification</a:t>
            </a:r>
            <a:endParaRPr lang="en-US" sz="850" dirty="0"/>
          </a:p>
        </p:txBody>
      </p:sp>
      <p:sp>
        <p:nvSpPr>
          <p:cNvPr id="69" name="Text 64"/>
          <p:cNvSpPr txBox="1"/>
          <p:nvPr/>
        </p:nvSpPr>
        <p:spPr>
          <a:xfrm>
            <a:off x="779068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70" name="Shape 65"/>
          <p:cNvSpPr/>
          <p:nvPr/>
        </p:nvSpPr>
        <p:spPr>
          <a:xfrm>
            <a:off x="619048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6190488" y="279806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2" name="Text 67"/>
          <p:cNvSpPr txBox="1"/>
          <p:nvPr/>
        </p:nvSpPr>
        <p:spPr>
          <a:xfrm>
            <a:off x="635508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157</a:t>
            </a:r>
            <a:endParaRPr lang="en-US" sz="2400" dirty="0"/>
          </a:p>
        </p:txBody>
      </p:sp>
      <p:sp>
        <p:nvSpPr>
          <p:cNvPr id="73" name="Text 68"/>
          <p:cNvSpPr txBox="1"/>
          <p:nvPr/>
        </p:nvSpPr>
        <p:spPr>
          <a:xfrm>
            <a:off x="635508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Incomplete KYC</a:t>
            </a:r>
            <a:endParaRPr lang="en-US" sz="1050" dirty="0"/>
          </a:p>
        </p:txBody>
      </p:sp>
      <p:sp>
        <p:nvSpPr>
          <p:cNvPr id="74" name="Text 69"/>
          <p:cNvSpPr txBox="1"/>
          <p:nvPr/>
        </p:nvSpPr>
        <p:spPr>
          <a:xfrm>
            <a:off x="635508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Started KYC but did not proceed</a:t>
            </a:r>
            <a:endParaRPr lang="en-US" sz="850" dirty="0"/>
          </a:p>
        </p:txBody>
      </p:sp>
      <p:sp>
        <p:nvSpPr>
          <p:cNvPr id="75" name="Text 70"/>
          <p:cNvSpPr txBox="1"/>
          <p:nvPr/>
        </p:nvSpPr>
        <p:spPr>
          <a:xfrm>
            <a:off x="779068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5303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76" name="Shape 71"/>
          <p:cNvSpPr/>
          <p:nvPr/>
        </p:nvSpPr>
        <p:spPr>
          <a:xfrm>
            <a:off x="619048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6190488" y="389534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8" name="Text 73"/>
          <p:cNvSpPr txBox="1"/>
          <p:nvPr/>
        </p:nvSpPr>
        <p:spPr>
          <a:xfrm>
            <a:off x="635508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</a:t>
            </a:r>
            <a:endParaRPr lang="en-US" sz="2400" dirty="0"/>
          </a:p>
        </p:txBody>
      </p:sp>
      <p:sp>
        <p:nvSpPr>
          <p:cNvPr id="79" name="Text 74"/>
          <p:cNvSpPr txBox="1"/>
          <p:nvPr/>
        </p:nvSpPr>
        <p:spPr>
          <a:xfrm>
            <a:off x="635508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Rejected KYC</a:t>
            </a:r>
            <a:endParaRPr lang="en-US" sz="1050" dirty="0"/>
          </a:p>
        </p:txBody>
      </p:sp>
      <p:sp>
        <p:nvSpPr>
          <p:cNvPr id="80" name="Text 75"/>
          <p:cNvSpPr txBox="1"/>
          <p:nvPr/>
        </p:nvSpPr>
        <p:spPr>
          <a:xfrm>
            <a:off x="635508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Resubmission required</a:t>
            </a:r>
            <a:endParaRPr lang="en-US" sz="850" dirty="0"/>
          </a:p>
        </p:txBody>
      </p:sp>
      <p:sp>
        <p:nvSpPr>
          <p:cNvPr id="81" name="Text 76"/>
          <p:cNvSpPr txBox="1"/>
          <p:nvPr/>
        </p:nvSpPr>
        <p:spPr>
          <a:xfrm>
            <a:off x="779068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82" name="Shape 77"/>
          <p:cNvSpPr/>
          <p:nvPr/>
        </p:nvSpPr>
        <p:spPr>
          <a:xfrm>
            <a:off x="619048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6190488" y="499262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4" name="Text 79"/>
          <p:cNvSpPr txBox="1"/>
          <p:nvPr/>
        </p:nvSpPr>
        <p:spPr>
          <a:xfrm>
            <a:off x="635508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216</a:t>
            </a:r>
            <a:endParaRPr lang="en-US" sz="2400" dirty="0"/>
          </a:p>
        </p:txBody>
      </p:sp>
      <p:sp>
        <p:nvSpPr>
          <p:cNvPr id="85" name="Text 80"/>
          <p:cNvSpPr txBox="1"/>
          <p:nvPr/>
        </p:nvSpPr>
        <p:spPr>
          <a:xfrm>
            <a:off x="635508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KYC applications</a:t>
            </a:r>
            <a:endParaRPr lang="en-US" sz="1050" dirty="0"/>
          </a:p>
        </p:txBody>
      </p:sp>
      <p:sp>
        <p:nvSpPr>
          <p:cNvPr id="86" name="Text 81"/>
          <p:cNvSpPr txBox="1"/>
          <p:nvPr/>
        </p:nvSpPr>
        <p:spPr>
          <a:xfrm>
            <a:off x="635508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Onboarded + incomplete + rejected</a:t>
            </a:r>
            <a:endParaRPr lang="en-US" sz="850" dirty="0"/>
          </a:p>
        </p:txBody>
      </p:sp>
      <p:sp>
        <p:nvSpPr>
          <p:cNvPr id="87" name="Shape 82"/>
          <p:cNvSpPr/>
          <p:nvPr/>
        </p:nvSpPr>
        <p:spPr>
          <a:xfrm>
            <a:off x="9002268" y="1408176"/>
            <a:ext cx="45720" cy="155448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88" name="Text 83"/>
          <p:cNvSpPr txBox="1"/>
          <p:nvPr/>
        </p:nvSpPr>
        <p:spPr>
          <a:xfrm>
            <a:off x="911199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SUPPORT TICKETS</a:t>
            </a:r>
            <a:endParaRPr lang="en-US" sz="900" dirty="0"/>
          </a:p>
        </p:txBody>
      </p:sp>
      <p:sp>
        <p:nvSpPr>
          <p:cNvPr id="89" name="Shape 84"/>
          <p:cNvSpPr/>
          <p:nvPr/>
        </p:nvSpPr>
        <p:spPr>
          <a:xfrm>
            <a:off x="900226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9002268" y="170078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1" name="Text 86"/>
          <p:cNvSpPr txBox="1"/>
          <p:nvPr/>
        </p:nvSpPr>
        <p:spPr>
          <a:xfrm>
            <a:off x="916686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25</a:t>
            </a:r>
            <a:endParaRPr lang="en-US" sz="2400" dirty="0"/>
          </a:p>
        </p:txBody>
      </p:sp>
      <p:sp>
        <p:nvSpPr>
          <p:cNvPr id="92" name="Text 87"/>
          <p:cNvSpPr txBox="1"/>
          <p:nvPr/>
        </p:nvSpPr>
        <p:spPr>
          <a:xfrm>
            <a:off x="916686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created</a:t>
            </a:r>
            <a:endParaRPr lang="en-US" sz="1050" dirty="0"/>
          </a:p>
        </p:txBody>
      </p:sp>
      <p:sp>
        <p:nvSpPr>
          <p:cNvPr id="93" name="Text 88"/>
          <p:cNvSpPr txBox="1"/>
          <p:nvPr/>
        </p:nvSpPr>
        <p:spPr>
          <a:xfrm>
            <a:off x="916686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94" name="Text 89"/>
          <p:cNvSpPr txBox="1"/>
          <p:nvPr/>
        </p:nvSpPr>
        <p:spPr>
          <a:xfrm>
            <a:off x="1060246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95" name="Shape 90"/>
          <p:cNvSpPr/>
          <p:nvPr/>
        </p:nvSpPr>
        <p:spPr>
          <a:xfrm>
            <a:off x="900226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9002268" y="279806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7" name="Text 92"/>
          <p:cNvSpPr txBox="1"/>
          <p:nvPr/>
        </p:nvSpPr>
        <p:spPr>
          <a:xfrm>
            <a:off x="916686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</a:t>
            </a:r>
            <a:endParaRPr lang="en-US" sz="2400" dirty="0"/>
          </a:p>
        </p:txBody>
      </p:sp>
      <p:sp>
        <p:nvSpPr>
          <p:cNvPr id="98" name="Text 93"/>
          <p:cNvSpPr txBox="1"/>
          <p:nvPr/>
        </p:nvSpPr>
        <p:spPr>
          <a:xfrm>
            <a:off x="916686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resolved</a:t>
            </a:r>
            <a:endParaRPr lang="en-US" sz="1050" dirty="0"/>
          </a:p>
        </p:txBody>
      </p:sp>
      <p:sp>
        <p:nvSpPr>
          <p:cNvPr id="99" name="Text 94"/>
          <p:cNvSpPr txBox="1"/>
          <p:nvPr/>
        </p:nvSpPr>
        <p:spPr>
          <a:xfrm>
            <a:off x="916686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96% of tickets created</a:t>
            </a:r>
            <a:endParaRPr lang="en-US" sz="850" dirty="0"/>
          </a:p>
        </p:txBody>
      </p:sp>
      <p:sp>
        <p:nvSpPr>
          <p:cNvPr id="100" name="Text 95"/>
          <p:cNvSpPr txBox="1"/>
          <p:nvPr/>
        </p:nvSpPr>
        <p:spPr>
          <a:xfrm>
            <a:off x="1060246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1" name="Shape 96"/>
          <p:cNvSpPr/>
          <p:nvPr/>
        </p:nvSpPr>
        <p:spPr>
          <a:xfrm>
            <a:off x="900226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9002268" y="389534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3" name="Text 98"/>
          <p:cNvSpPr txBox="1"/>
          <p:nvPr/>
        </p:nvSpPr>
        <p:spPr>
          <a:xfrm>
            <a:off x="916686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</a:t>
            </a:r>
            <a:endParaRPr lang="en-US" sz="2400" dirty="0"/>
          </a:p>
        </p:txBody>
      </p:sp>
      <p:sp>
        <p:nvSpPr>
          <p:cNvPr id="104" name="Text 99"/>
          <p:cNvSpPr txBox="1"/>
          <p:nvPr/>
        </p:nvSpPr>
        <p:spPr>
          <a:xfrm>
            <a:off x="916686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Email queries</a:t>
            </a:r>
            <a:endParaRPr lang="en-US" sz="1050" dirty="0"/>
          </a:p>
        </p:txBody>
      </p:sp>
      <p:sp>
        <p:nvSpPr>
          <p:cNvPr id="105" name="Text 100"/>
          <p:cNvSpPr txBox="1"/>
          <p:nvPr/>
        </p:nvSpPr>
        <p:spPr>
          <a:xfrm>
            <a:off x="916686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06" name="Text 101"/>
          <p:cNvSpPr txBox="1"/>
          <p:nvPr/>
        </p:nvSpPr>
        <p:spPr>
          <a:xfrm>
            <a:off x="1060246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7" name="Shape 102"/>
          <p:cNvSpPr/>
          <p:nvPr/>
        </p:nvSpPr>
        <p:spPr>
          <a:xfrm>
            <a:off x="900226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9002268" y="499262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9" name="Text 104"/>
          <p:cNvSpPr txBox="1"/>
          <p:nvPr/>
        </p:nvSpPr>
        <p:spPr>
          <a:xfrm>
            <a:off x="916686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21</a:t>
            </a:r>
            <a:endParaRPr lang="en-US" sz="2400" dirty="0"/>
          </a:p>
        </p:txBody>
      </p:sp>
      <p:sp>
        <p:nvSpPr>
          <p:cNvPr id="110" name="Text 105"/>
          <p:cNvSpPr txBox="1"/>
          <p:nvPr/>
        </p:nvSpPr>
        <p:spPr>
          <a:xfrm>
            <a:off x="916686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AI support queries</a:t>
            </a:r>
            <a:endParaRPr lang="en-US" sz="1050" dirty="0"/>
          </a:p>
        </p:txBody>
      </p:sp>
      <p:sp>
        <p:nvSpPr>
          <p:cNvPr id="111" name="Text 106"/>
          <p:cNvSpPr txBox="1"/>
          <p:nvPr/>
        </p:nvSpPr>
        <p:spPr>
          <a:xfrm>
            <a:off x="916686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12" name="Text 107"/>
          <p:cNvSpPr txBox="1"/>
          <p:nvPr/>
        </p:nvSpPr>
        <p:spPr>
          <a:xfrm>
            <a:off x="1060246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atemIsa_202508993_IT9002_NLP_Project/emyaa-ceo-deck/working/charts/board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188720"/>
            <a:ext cx="12191695" cy="24689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66928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F3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PLATFORM ANALYTICS  |  PERFORMANCE DASHBOARD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57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 date: 2 Sep 2026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868680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6CFE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Reporting period: All Time   |   Change on each card is against the previous report, 1 Sep 2026</a:t>
            </a:r>
            <a:endParaRPr lang="en-US" sz="1000" dirty="0"/>
          </a:p>
        </p:txBody>
      </p:sp>
      <p:pic>
        <p:nvPicPr>
          <p:cNvPr id="7" name="Image 1" descr="/home/user/HatemIsa_202508993_IT9002_NLP_Project/emyaa-ceo-deck/working/charts/ajy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02336"/>
            <a:ext cx="13258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" y="6272784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Source: eMYAA Daily Performance Dashboard, eMYAA_-_Daily_Performance_Dashboard-1.pdf, page 17. This report labels the money card 'Total Deposits'; later reports label the same measure 'Total AUM'.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eMYAA Trading Platform  |  Daily Performance Dashboard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9802368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20</a:t>
            </a:r>
            <a:endParaRPr lang="en-US" sz="800" dirty="0"/>
          </a:p>
        </p:txBody>
      </p:sp>
      <p:pic>
        <p:nvPicPr>
          <p:cNvPr id="11" name="Image 2" descr="/home/user/HatemIsa_202508993_IT9002_NLP_Project/emyaa-ceo-deck/working/charts/emyaa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6336792"/>
            <a:ext cx="1024128" cy="3657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66928" y="1408176"/>
            <a:ext cx="45720" cy="155448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665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DOWNLOADS &amp; RATINGS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6692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66928" y="170078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152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220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downloads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 Store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216712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+12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6692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66928" y="279806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3152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169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73152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downloads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73152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Apple App Store</a:t>
            </a:r>
            <a:endParaRPr lang="en-US" sz="850" dirty="0"/>
          </a:p>
        </p:txBody>
      </p:sp>
      <p:sp>
        <p:nvSpPr>
          <p:cNvPr id="25" name="Text 20"/>
          <p:cNvSpPr txBox="1"/>
          <p:nvPr/>
        </p:nvSpPr>
        <p:spPr>
          <a:xfrm>
            <a:off x="216712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+4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6692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66928" y="389534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3152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29" name="Text 24"/>
          <p:cNvSpPr txBox="1"/>
          <p:nvPr/>
        </p:nvSpPr>
        <p:spPr>
          <a:xfrm>
            <a:off x="73152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app rating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73152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Play, 2 reviews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56692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66928" y="499262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3152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34" name="Text 29"/>
          <p:cNvSpPr txBox="1"/>
          <p:nvPr/>
        </p:nvSpPr>
        <p:spPr>
          <a:xfrm>
            <a:off x="73152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app rating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73152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 Store, 2 reviews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3378708" y="1408176"/>
            <a:ext cx="45720" cy="155448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48843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 ACTIVITY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337870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3378708" y="170078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354330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12</a:t>
            </a:r>
            <a:endParaRPr lang="en-US" sz="2400" dirty="0"/>
          </a:p>
        </p:txBody>
      </p:sp>
      <p:sp>
        <p:nvSpPr>
          <p:cNvPr id="41" name="Text 36"/>
          <p:cNvSpPr txBox="1"/>
          <p:nvPr/>
        </p:nvSpPr>
        <p:spPr>
          <a:xfrm>
            <a:off x="354330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deposited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354330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Funded accounts</a:t>
            </a:r>
            <a:endParaRPr lang="en-US" sz="850" dirty="0"/>
          </a:p>
        </p:txBody>
      </p:sp>
      <p:sp>
        <p:nvSpPr>
          <p:cNvPr id="43" name="Text 38"/>
          <p:cNvSpPr txBox="1"/>
          <p:nvPr/>
        </p:nvSpPr>
        <p:spPr>
          <a:xfrm>
            <a:off x="497890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337870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3378708" y="279806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354330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$8,337.41</a:t>
            </a:r>
            <a:endParaRPr lang="en-US" sz="1900" dirty="0"/>
          </a:p>
        </p:txBody>
      </p:sp>
      <p:sp>
        <p:nvSpPr>
          <p:cNvPr id="47" name="Text 42"/>
          <p:cNvSpPr txBox="1"/>
          <p:nvPr/>
        </p:nvSpPr>
        <p:spPr>
          <a:xfrm>
            <a:off x="354330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deposits</a:t>
            </a:r>
            <a:endParaRPr lang="en-US" sz="1050" dirty="0"/>
          </a:p>
        </p:txBody>
      </p:sp>
      <p:sp>
        <p:nvSpPr>
          <p:cNvPr id="48" name="Text 43"/>
          <p:cNvSpPr txBox="1"/>
          <p:nvPr/>
        </p:nvSpPr>
        <p:spPr>
          <a:xfrm>
            <a:off x="354330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Cumulative platform deposits</a:t>
            </a:r>
            <a:endParaRPr lang="en-US" sz="850" dirty="0"/>
          </a:p>
        </p:txBody>
      </p:sp>
      <p:sp>
        <p:nvSpPr>
          <p:cNvPr id="49" name="Text 44"/>
          <p:cNvSpPr txBox="1"/>
          <p:nvPr/>
        </p:nvSpPr>
        <p:spPr>
          <a:xfrm>
            <a:off x="497890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337870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3378708" y="389534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354330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12</a:t>
            </a:r>
            <a:endParaRPr lang="en-US" sz="2400" dirty="0"/>
          </a:p>
        </p:txBody>
      </p:sp>
      <p:sp>
        <p:nvSpPr>
          <p:cNvPr id="53" name="Text 48"/>
          <p:cNvSpPr txBox="1"/>
          <p:nvPr/>
        </p:nvSpPr>
        <p:spPr>
          <a:xfrm>
            <a:off x="354330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traded</a:t>
            </a:r>
            <a:endParaRPr lang="en-US" sz="1050" dirty="0"/>
          </a:p>
        </p:txBody>
      </p:sp>
      <p:sp>
        <p:nvSpPr>
          <p:cNvPr id="54" name="Text 49"/>
          <p:cNvSpPr txBox="1"/>
          <p:nvPr/>
        </p:nvSpPr>
        <p:spPr>
          <a:xfrm>
            <a:off x="354330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Placed at least 1 trade</a:t>
            </a:r>
            <a:endParaRPr lang="en-US" sz="850" dirty="0"/>
          </a:p>
        </p:txBody>
      </p:sp>
      <p:sp>
        <p:nvSpPr>
          <p:cNvPr id="55" name="Text 50"/>
          <p:cNvSpPr txBox="1"/>
          <p:nvPr/>
        </p:nvSpPr>
        <p:spPr>
          <a:xfrm>
            <a:off x="497890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6" name="Shape 51"/>
          <p:cNvSpPr/>
          <p:nvPr/>
        </p:nvSpPr>
        <p:spPr>
          <a:xfrm>
            <a:off x="337870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3378708" y="499262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354330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46</a:t>
            </a:r>
            <a:endParaRPr lang="en-US" sz="2400" dirty="0"/>
          </a:p>
        </p:txBody>
      </p:sp>
      <p:sp>
        <p:nvSpPr>
          <p:cNvPr id="59" name="Text 54"/>
          <p:cNvSpPr txBox="1"/>
          <p:nvPr/>
        </p:nvSpPr>
        <p:spPr>
          <a:xfrm>
            <a:off x="354330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trades</a:t>
            </a:r>
            <a:endParaRPr lang="en-US" sz="1050" dirty="0"/>
          </a:p>
        </p:txBody>
      </p:sp>
      <p:sp>
        <p:nvSpPr>
          <p:cNvPr id="60" name="Text 55"/>
          <p:cNvSpPr txBox="1"/>
          <p:nvPr/>
        </p:nvSpPr>
        <p:spPr>
          <a:xfrm>
            <a:off x="354330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Executed across all users</a:t>
            </a:r>
            <a:endParaRPr lang="en-US" sz="850" dirty="0"/>
          </a:p>
        </p:txBody>
      </p:sp>
      <p:sp>
        <p:nvSpPr>
          <p:cNvPr id="61" name="Text 56"/>
          <p:cNvSpPr txBox="1"/>
          <p:nvPr/>
        </p:nvSpPr>
        <p:spPr>
          <a:xfrm>
            <a:off x="497890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62" name="Shape 57"/>
          <p:cNvSpPr/>
          <p:nvPr/>
        </p:nvSpPr>
        <p:spPr>
          <a:xfrm>
            <a:off x="6190488" y="1408176"/>
            <a:ext cx="45720" cy="1554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630021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KYC STATUS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619048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6190488" y="170078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635508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49</a:t>
            </a:r>
            <a:endParaRPr lang="en-US" sz="2400" dirty="0"/>
          </a:p>
        </p:txBody>
      </p:sp>
      <p:sp>
        <p:nvSpPr>
          <p:cNvPr id="67" name="Text 62"/>
          <p:cNvSpPr txBox="1"/>
          <p:nvPr/>
        </p:nvSpPr>
        <p:spPr>
          <a:xfrm>
            <a:off x="635508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onboarded</a:t>
            </a:r>
            <a:endParaRPr lang="en-US" sz="1050" dirty="0"/>
          </a:p>
        </p:txBody>
      </p:sp>
      <p:sp>
        <p:nvSpPr>
          <p:cNvPr id="68" name="Text 63"/>
          <p:cNvSpPr txBox="1"/>
          <p:nvPr/>
        </p:nvSpPr>
        <p:spPr>
          <a:xfrm>
            <a:off x="635508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Completed signup and verification</a:t>
            </a:r>
            <a:endParaRPr lang="en-US" sz="850" dirty="0"/>
          </a:p>
        </p:txBody>
      </p:sp>
      <p:sp>
        <p:nvSpPr>
          <p:cNvPr id="69" name="Text 64"/>
          <p:cNvSpPr txBox="1"/>
          <p:nvPr/>
        </p:nvSpPr>
        <p:spPr>
          <a:xfrm>
            <a:off x="779068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70" name="Shape 65"/>
          <p:cNvSpPr/>
          <p:nvPr/>
        </p:nvSpPr>
        <p:spPr>
          <a:xfrm>
            <a:off x="619048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6190488" y="279806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2" name="Text 67"/>
          <p:cNvSpPr txBox="1"/>
          <p:nvPr/>
        </p:nvSpPr>
        <p:spPr>
          <a:xfrm>
            <a:off x="635508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156</a:t>
            </a:r>
            <a:endParaRPr lang="en-US" sz="2400" dirty="0"/>
          </a:p>
        </p:txBody>
      </p:sp>
      <p:sp>
        <p:nvSpPr>
          <p:cNvPr id="73" name="Text 68"/>
          <p:cNvSpPr txBox="1"/>
          <p:nvPr/>
        </p:nvSpPr>
        <p:spPr>
          <a:xfrm>
            <a:off x="635508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Incomplete KYC</a:t>
            </a:r>
            <a:endParaRPr lang="en-US" sz="1050" dirty="0"/>
          </a:p>
        </p:txBody>
      </p:sp>
      <p:sp>
        <p:nvSpPr>
          <p:cNvPr id="74" name="Text 69"/>
          <p:cNvSpPr txBox="1"/>
          <p:nvPr/>
        </p:nvSpPr>
        <p:spPr>
          <a:xfrm>
            <a:off x="635508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Started KYC but did not proceed</a:t>
            </a:r>
            <a:endParaRPr lang="en-US" sz="850" dirty="0"/>
          </a:p>
        </p:txBody>
      </p:sp>
      <p:sp>
        <p:nvSpPr>
          <p:cNvPr id="75" name="Text 70"/>
          <p:cNvSpPr txBox="1"/>
          <p:nvPr/>
        </p:nvSpPr>
        <p:spPr>
          <a:xfrm>
            <a:off x="779068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5303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+2</a:t>
            </a:r>
            <a:endParaRPr lang="en-US" sz="850" dirty="0"/>
          </a:p>
        </p:txBody>
      </p:sp>
      <p:sp>
        <p:nvSpPr>
          <p:cNvPr id="76" name="Shape 71"/>
          <p:cNvSpPr/>
          <p:nvPr/>
        </p:nvSpPr>
        <p:spPr>
          <a:xfrm>
            <a:off x="619048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6190488" y="389534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8" name="Text 73"/>
          <p:cNvSpPr txBox="1"/>
          <p:nvPr/>
        </p:nvSpPr>
        <p:spPr>
          <a:xfrm>
            <a:off x="635508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</a:t>
            </a:r>
            <a:endParaRPr lang="en-US" sz="2400" dirty="0"/>
          </a:p>
        </p:txBody>
      </p:sp>
      <p:sp>
        <p:nvSpPr>
          <p:cNvPr id="79" name="Text 74"/>
          <p:cNvSpPr txBox="1"/>
          <p:nvPr/>
        </p:nvSpPr>
        <p:spPr>
          <a:xfrm>
            <a:off x="635508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Rejected KYC</a:t>
            </a:r>
            <a:endParaRPr lang="en-US" sz="1050" dirty="0"/>
          </a:p>
        </p:txBody>
      </p:sp>
      <p:sp>
        <p:nvSpPr>
          <p:cNvPr id="80" name="Text 75"/>
          <p:cNvSpPr txBox="1"/>
          <p:nvPr/>
        </p:nvSpPr>
        <p:spPr>
          <a:xfrm>
            <a:off x="635508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Resubmission required</a:t>
            </a:r>
            <a:endParaRPr lang="en-US" sz="850" dirty="0"/>
          </a:p>
        </p:txBody>
      </p:sp>
      <p:sp>
        <p:nvSpPr>
          <p:cNvPr id="81" name="Text 76"/>
          <p:cNvSpPr txBox="1"/>
          <p:nvPr/>
        </p:nvSpPr>
        <p:spPr>
          <a:xfrm>
            <a:off x="779068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82" name="Shape 77"/>
          <p:cNvSpPr/>
          <p:nvPr/>
        </p:nvSpPr>
        <p:spPr>
          <a:xfrm>
            <a:off x="619048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6190488" y="499262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4" name="Text 79"/>
          <p:cNvSpPr txBox="1"/>
          <p:nvPr/>
        </p:nvSpPr>
        <p:spPr>
          <a:xfrm>
            <a:off x="635508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215</a:t>
            </a:r>
            <a:endParaRPr lang="en-US" sz="2400" dirty="0"/>
          </a:p>
        </p:txBody>
      </p:sp>
      <p:sp>
        <p:nvSpPr>
          <p:cNvPr id="85" name="Text 80"/>
          <p:cNvSpPr txBox="1"/>
          <p:nvPr/>
        </p:nvSpPr>
        <p:spPr>
          <a:xfrm>
            <a:off x="635508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KYC applications</a:t>
            </a:r>
            <a:endParaRPr lang="en-US" sz="1050" dirty="0"/>
          </a:p>
        </p:txBody>
      </p:sp>
      <p:sp>
        <p:nvSpPr>
          <p:cNvPr id="86" name="Text 81"/>
          <p:cNvSpPr txBox="1"/>
          <p:nvPr/>
        </p:nvSpPr>
        <p:spPr>
          <a:xfrm>
            <a:off x="635508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Onboarded + incomplete + rejected</a:t>
            </a:r>
            <a:endParaRPr lang="en-US" sz="850" dirty="0"/>
          </a:p>
        </p:txBody>
      </p:sp>
      <p:sp>
        <p:nvSpPr>
          <p:cNvPr id="87" name="Shape 82"/>
          <p:cNvSpPr/>
          <p:nvPr/>
        </p:nvSpPr>
        <p:spPr>
          <a:xfrm>
            <a:off x="9002268" y="1408176"/>
            <a:ext cx="45720" cy="155448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88" name="Text 83"/>
          <p:cNvSpPr txBox="1"/>
          <p:nvPr/>
        </p:nvSpPr>
        <p:spPr>
          <a:xfrm>
            <a:off x="911199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SUPPORT TICKETS</a:t>
            </a:r>
            <a:endParaRPr lang="en-US" sz="900" dirty="0"/>
          </a:p>
        </p:txBody>
      </p:sp>
      <p:sp>
        <p:nvSpPr>
          <p:cNvPr id="89" name="Shape 84"/>
          <p:cNvSpPr/>
          <p:nvPr/>
        </p:nvSpPr>
        <p:spPr>
          <a:xfrm>
            <a:off x="900226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9002268" y="170078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1" name="Text 86"/>
          <p:cNvSpPr txBox="1"/>
          <p:nvPr/>
        </p:nvSpPr>
        <p:spPr>
          <a:xfrm>
            <a:off x="916686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25</a:t>
            </a:r>
            <a:endParaRPr lang="en-US" sz="2400" dirty="0"/>
          </a:p>
        </p:txBody>
      </p:sp>
      <p:sp>
        <p:nvSpPr>
          <p:cNvPr id="92" name="Text 87"/>
          <p:cNvSpPr txBox="1"/>
          <p:nvPr/>
        </p:nvSpPr>
        <p:spPr>
          <a:xfrm>
            <a:off x="916686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created</a:t>
            </a:r>
            <a:endParaRPr lang="en-US" sz="1050" dirty="0"/>
          </a:p>
        </p:txBody>
      </p:sp>
      <p:sp>
        <p:nvSpPr>
          <p:cNvPr id="93" name="Text 88"/>
          <p:cNvSpPr txBox="1"/>
          <p:nvPr/>
        </p:nvSpPr>
        <p:spPr>
          <a:xfrm>
            <a:off x="916686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94" name="Text 89"/>
          <p:cNvSpPr txBox="1"/>
          <p:nvPr/>
        </p:nvSpPr>
        <p:spPr>
          <a:xfrm>
            <a:off x="1060246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95" name="Shape 90"/>
          <p:cNvSpPr/>
          <p:nvPr/>
        </p:nvSpPr>
        <p:spPr>
          <a:xfrm>
            <a:off x="900226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9002268" y="279806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7" name="Text 92"/>
          <p:cNvSpPr txBox="1"/>
          <p:nvPr/>
        </p:nvSpPr>
        <p:spPr>
          <a:xfrm>
            <a:off x="916686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</a:t>
            </a:r>
            <a:endParaRPr lang="en-US" sz="2400" dirty="0"/>
          </a:p>
        </p:txBody>
      </p:sp>
      <p:sp>
        <p:nvSpPr>
          <p:cNvPr id="98" name="Text 93"/>
          <p:cNvSpPr txBox="1"/>
          <p:nvPr/>
        </p:nvSpPr>
        <p:spPr>
          <a:xfrm>
            <a:off x="916686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resolved</a:t>
            </a:r>
            <a:endParaRPr lang="en-US" sz="1050" dirty="0"/>
          </a:p>
        </p:txBody>
      </p:sp>
      <p:sp>
        <p:nvSpPr>
          <p:cNvPr id="99" name="Text 94"/>
          <p:cNvSpPr txBox="1"/>
          <p:nvPr/>
        </p:nvSpPr>
        <p:spPr>
          <a:xfrm>
            <a:off x="916686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96% of tickets created</a:t>
            </a:r>
            <a:endParaRPr lang="en-US" sz="850" dirty="0"/>
          </a:p>
        </p:txBody>
      </p:sp>
      <p:sp>
        <p:nvSpPr>
          <p:cNvPr id="100" name="Text 95"/>
          <p:cNvSpPr txBox="1"/>
          <p:nvPr/>
        </p:nvSpPr>
        <p:spPr>
          <a:xfrm>
            <a:off x="1060246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1" name="Shape 96"/>
          <p:cNvSpPr/>
          <p:nvPr/>
        </p:nvSpPr>
        <p:spPr>
          <a:xfrm>
            <a:off x="900226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9002268" y="389534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3" name="Text 98"/>
          <p:cNvSpPr txBox="1"/>
          <p:nvPr/>
        </p:nvSpPr>
        <p:spPr>
          <a:xfrm>
            <a:off x="916686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</a:t>
            </a:r>
            <a:endParaRPr lang="en-US" sz="2400" dirty="0"/>
          </a:p>
        </p:txBody>
      </p:sp>
      <p:sp>
        <p:nvSpPr>
          <p:cNvPr id="104" name="Text 99"/>
          <p:cNvSpPr txBox="1"/>
          <p:nvPr/>
        </p:nvSpPr>
        <p:spPr>
          <a:xfrm>
            <a:off x="916686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Email queries</a:t>
            </a:r>
            <a:endParaRPr lang="en-US" sz="1050" dirty="0"/>
          </a:p>
        </p:txBody>
      </p:sp>
      <p:sp>
        <p:nvSpPr>
          <p:cNvPr id="105" name="Text 100"/>
          <p:cNvSpPr txBox="1"/>
          <p:nvPr/>
        </p:nvSpPr>
        <p:spPr>
          <a:xfrm>
            <a:off x="916686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06" name="Text 101"/>
          <p:cNvSpPr txBox="1"/>
          <p:nvPr/>
        </p:nvSpPr>
        <p:spPr>
          <a:xfrm>
            <a:off x="1060246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7" name="Shape 102"/>
          <p:cNvSpPr/>
          <p:nvPr/>
        </p:nvSpPr>
        <p:spPr>
          <a:xfrm>
            <a:off x="900226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9002268" y="499262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9" name="Text 104"/>
          <p:cNvSpPr txBox="1"/>
          <p:nvPr/>
        </p:nvSpPr>
        <p:spPr>
          <a:xfrm>
            <a:off x="916686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21</a:t>
            </a:r>
            <a:endParaRPr lang="en-US" sz="2400" dirty="0"/>
          </a:p>
        </p:txBody>
      </p:sp>
      <p:sp>
        <p:nvSpPr>
          <p:cNvPr id="110" name="Text 105"/>
          <p:cNvSpPr txBox="1"/>
          <p:nvPr/>
        </p:nvSpPr>
        <p:spPr>
          <a:xfrm>
            <a:off x="916686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AI support queries</a:t>
            </a:r>
            <a:endParaRPr lang="en-US" sz="1050" dirty="0"/>
          </a:p>
        </p:txBody>
      </p:sp>
      <p:sp>
        <p:nvSpPr>
          <p:cNvPr id="111" name="Text 106"/>
          <p:cNvSpPr txBox="1"/>
          <p:nvPr/>
        </p:nvSpPr>
        <p:spPr>
          <a:xfrm>
            <a:off x="916686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12" name="Text 107"/>
          <p:cNvSpPr txBox="1"/>
          <p:nvPr/>
        </p:nvSpPr>
        <p:spPr>
          <a:xfrm>
            <a:off x="1060246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atemIsa_202508993_IT9002_NLP_Project/emyaa-ceo-deck/working/charts/board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188720"/>
            <a:ext cx="12191695" cy="24689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66928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F3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PLATFORM ANALYTICS  |  PERFORMANCE DASHBOARD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57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 date: 1 Sep 2026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868680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6CFE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Reporting period: All Time   |   Change on each card is against the previous report, 31 Aug 2026</a:t>
            </a:r>
            <a:endParaRPr lang="en-US" sz="1000" dirty="0"/>
          </a:p>
        </p:txBody>
      </p:sp>
      <p:pic>
        <p:nvPicPr>
          <p:cNvPr id="7" name="Image 1" descr="/home/user/HatemIsa_202508993_IT9002_NLP_Project/emyaa-ceo-deck/working/charts/ajy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02336"/>
            <a:ext cx="13258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" y="6272784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Source: eMYAA Daily Performance Dashboard, eMYAA_-_Daily_Performance_Dashboard-1.pdf, page 18. This report labels the money card 'Total Deposits'; later reports label the same measure 'Total AUM'.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eMYAA Trading Platform  |  Daily Performance Dashboard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9802368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21</a:t>
            </a:r>
            <a:endParaRPr lang="en-US" sz="800" dirty="0"/>
          </a:p>
        </p:txBody>
      </p:sp>
      <p:pic>
        <p:nvPicPr>
          <p:cNvPr id="11" name="Image 2" descr="/home/user/HatemIsa_202508993_IT9002_NLP_Project/emyaa-ceo-deck/working/charts/emyaa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6336792"/>
            <a:ext cx="1024128" cy="3657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66928" y="1408176"/>
            <a:ext cx="45720" cy="155448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665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DOWNLOADS &amp; RATINGS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6692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66928" y="170078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152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208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downloads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 Store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216712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+11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6692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66928" y="279806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3152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165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73152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downloads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73152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Apple App Store</a:t>
            </a:r>
            <a:endParaRPr lang="en-US" sz="850" dirty="0"/>
          </a:p>
        </p:txBody>
      </p:sp>
      <p:sp>
        <p:nvSpPr>
          <p:cNvPr id="25" name="Text 20"/>
          <p:cNvSpPr txBox="1"/>
          <p:nvPr/>
        </p:nvSpPr>
        <p:spPr>
          <a:xfrm>
            <a:off x="216712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6692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66928" y="389534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3152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29" name="Text 24"/>
          <p:cNvSpPr txBox="1"/>
          <p:nvPr/>
        </p:nvSpPr>
        <p:spPr>
          <a:xfrm>
            <a:off x="73152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app rating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73152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Play, 2 reviews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56692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66928" y="499262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3152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34" name="Text 29"/>
          <p:cNvSpPr txBox="1"/>
          <p:nvPr/>
        </p:nvSpPr>
        <p:spPr>
          <a:xfrm>
            <a:off x="73152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app rating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73152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 Store, 2 reviews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3378708" y="1408176"/>
            <a:ext cx="45720" cy="155448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48843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 ACTIVITY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337870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3378708" y="170078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354330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12</a:t>
            </a:r>
            <a:endParaRPr lang="en-US" sz="2400" dirty="0"/>
          </a:p>
        </p:txBody>
      </p:sp>
      <p:sp>
        <p:nvSpPr>
          <p:cNvPr id="41" name="Text 36"/>
          <p:cNvSpPr txBox="1"/>
          <p:nvPr/>
        </p:nvSpPr>
        <p:spPr>
          <a:xfrm>
            <a:off x="354330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deposited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354330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Funded accounts</a:t>
            </a:r>
            <a:endParaRPr lang="en-US" sz="850" dirty="0"/>
          </a:p>
        </p:txBody>
      </p:sp>
      <p:sp>
        <p:nvSpPr>
          <p:cNvPr id="43" name="Text 38"/>
          <p:cNvSpPr txBox="1"/>
          <p:nvPr/>
        </p:nvSpPr>
        <p:spPr>
          <a:xfrm>
            <a:off x="497890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337870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3378708" y="279806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354330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$8,337.41</a:t>
            </a:r>
            <a:endParaRPr lang="en-US" sz="1900" dirty="0"/>
          </a:p>
        </p:txBody>
      </p:sp>
      <p:sp>
        <p:nvSpPr>
          <p:cNvPr id="47" name="Text 42"/>
          <p:cNvSpPr txBox="1"/>
          <p:nvPr/>
        </p:nvSpPr>
        <p:spPr>
          <a:xfrm>
            <a:off x="354330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deposits</a:t>
            </a:r>
            <a:endParaRPr lang="en-US" sz="1050" dirty="0"/>
          </a:p>
        </p:txBody>
      </p:sp>
      <p:sp>
        <p:nvSpPr>
          <p:cNvPr id="48" name="Text 43"/>
          <p:cNvSpPr txBox="1"/>
          <p:nvPr/>
        </p:nvSpPr>
        <p:spPr>
          <a:xfrm>
            <a:off x="354330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Cumulative platform deposits</a:t>
            </a:r>
            <a:endParaRPr lang="en-US" sz="850" dirty="0"/>
          </a:p>
        </p:txBody>
      </p:sp>
      <p:sp>
        <p:nvSpPr>
          <p:cNvPr id="49" name="Text 44"/>
          <p:cNvSpPr txBox="1"/>
          <p:nvPr/>
        </p:nvSpPr>
        <p:spPr>
          <a:xfrm>
            <a:off x="497890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337870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3378708" y="389534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354330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12</a:t>
            </a:r>
            <a:endParaRPr lang="en-US" sz="2400" dirty="0"/>
          </a:p>
        </p:txBody>
      </p:sp>
      <p:sp>
        <p:nvSpPr>
          <p:cNvPr id="53" name="Text 48"/>
          <p:cNvSpPr txBox="1"/>
          <p:nvPr/>
        </p:nvSpPr>
        <p:spPr>
          <a:xfrm>
            <a:off x="354330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traded</a:t>
            </a:r>
            <a:endParaRPr lang="en-US" sz="1050" dirty="0"/>
          </a:p>
        </p:txBody>
      </p:sp>
      <p:sp>
        <p:nvSpPr>
          <p:cNvPr id="54" name="Text 49"/>
          <p:cNvSpPr txBox="1"/>
          <p:nvPr/>
        </p:nvSpPr>
        <p:spPr>
          <a:xfrm>
            <a:off x="354330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Placed at least 1 trade</a:t>
            </a:r>
            <a:endParaRPr lang="en-US" sz="850" dirty="0"/>
          </a:p>
        </p:txBody>
      </p:sp>
      <p:sp>
        <p:nvSpPr>
          <p:cNvPr id="55" name="Text 50"/>
          <p:cNvSpPr txBox="1"/>
          <p:nvPr/>
        </p:nvSpPr>
        <p:spPr>
          <a:xfrm>
            <a:off x="497890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6" name="Shape 51"/>
          <p:cNvSpPr/>
          <p:nvPr/>
        </p:nvSpPr>
        <p:spPr>
          <a:xfrm>
            <a:off x="337870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3378708" y="499262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354330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46</a:t>
            </a:r>
            <a:endParaRPr lang="en-US" sz="2400" dirty="0"/>
          </a:p>
        </p:txBody>
      </p:sp>
      <p:sp>
        <p:nvSpPr>
          <p:cNvPr id="59" name="Text 54"/>
          <p:cNvSpPr txBox="1"/>
          <p:nvPr/>
        </p:nvSpPr>
        <p:spPr>
          <a:xfrm>
            <a:off x="354330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trades</a:t>
            </a:r>
            <a:endParaRPr lang="en-US" sz="1050" dirty="0"/>
          </a:p>
        </p:txBody>
      </p:sp>
      <p:sp>
        <p:nvSpPr>
          <p:cNvPr id="60" name="Text 55"/>
          <p:cNvSpPr txBox="1"/>
          <p:nvPr/>
        </p:nvSpPr>
        <p:spPr>
          <a:xfrm>
            <a:off x="354330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Executed across all users</a:t>
            </a:r>
            <a:endParaRPr lang="en-US" sz="850" dirty="0"/>
          </a:p>
        </p:txBody>
      </p:sp>
      <p:sp>
        <p:nvSpPr>
          <p:cNvPr id="61" name="Text 56"/>
          <p:cNvSpPr txBox="1"/>
          <p:nvPr/>
        </p:nvSpPr>
        <p:spPr>
          <a:xfrm>
            <a:off x="497890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62" name="Shape 57"/>
          <p:cNvSpPr/>
          <p:nvPr/>
        </p:nvSpPr>
        <p:spPr>
          <a:xfrm>
            <a:off x="6190488" y="1408176"/>
            <a:ext cx="45720" cy="1554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630021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KYC STATUS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619048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6190488" y="170078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635508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48</a:t>
            </a:r>
            <a:endParaRPr lang="en-US" sz="2400" dirty="0"/>
          </a:p>
        </p:txBody>
      </p:sp>
      <p:sp>
        <p:nvSpPr>
          <p:cNvPr id="67" name="Text 62"/>
          <p:cNvSpPr txBox="1"/>
          <p:nvPr/>
        </p:nvSpPr>
        <p:spPr>
          <a:xfrm>
            <a:off x="635508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onboarded</a:t>
            </a:r>
            <a:endParaRPr lang="en-US" sz="1050" dirty="0"/>
          </a:p>
        </p:txBody>
      </p:sp>
      <p:sp>
        <p:nvSpPr>
          <p:cNvPr id="68" name="Text 63"/>
          <p:cNvSpPr txBox="1"/>
          <p:nvPr/>
        </p:nvSpPr>
        <p:spPr>
          <a:xfrm>
            <a:off x="635508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Completed signup and verification</a:t>
            </a:r>
            <a:endParaRPr lang="en-US" sz="850" dirty="0"/>
          </a:p>
        </p:txBody>
      </p:sp>
      <p:sp>
        <p:nvSpPr>
          <p:cNvPr id="69" name="Text 64"/>
          <p:cNvSpPr txBox="1"/>
          <p:nvPr/>
        </p:nvSpPr>
        <p:spPr>
          <a:xfrm>
            <a:off x="779068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70" name="Shape 65"/>
          <p:cNvSpPr/>
          <p:nvPr/>
        </p:nvSpPr>
        <p:spPr>
          <a:xfrm>
            <a:off x="619048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6190488" y="279806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2" name="Text 67"/>
          <p:cNvSpPr txBox="1"/>
          <p:nvPr/>
        </p:nvSpPr>
        <p:spPr>
          <a:xfrm>
            <a:off x="635508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154</a:t>
            </a:r>
            <a:endParaRPr lang="en-US" sz="2400" dirty="0"/>
          </a:p>
        </p:txBody>
      </p:sp>
      <p:sp>
        <p:nvSpPr>
          <p:cNvPr id="73" name="Text 68"/>
          <p:cNvSpPr txBox="1"/>
          <p:nvPr/>
        </p:nvSpPr>
        <p:spPr>
          <a:xfrm>
            <a:off x="635508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Incomplete KYC</a:t>
            </a:r>
            <a:endParaRPr lang="en-US" sz="1050" dirty="0"/>
          </a:p>
        </p:txBody>
      </p:sp>
      <p:sp>
        <p:nvSpPr>
          <p:cNvPr id="74" name="Text 69"/>
          <p:cNvSpPr txBox="1"/>
          <p:nvPr/>
        </p:nvSpPr>
        <p:spPr>
          <a:xfrm>
            <a:off x="635508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Started KYC but did not proceed</a:t>
            </a:r>
            <a:endParaRPr lang="en-US" sz="850" dirty="0"/>
          </a:p>
        </p:txBody>
      </p:sp>
      <p:sp>
        <p:nvSpPr>
          <p:cNvPr id="75" name="Text 70"/>
          <p:cNvSpPr txBox="1"/>
          <p:nvPr/>
        </p:nvSpPr>
        <p:spPr>
          <a:xfrm>
            <a:off x="779068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76" name="Shape 71"/>
          <p:cNvSpPr/>
          <p:nvPr/>
        </p:nvSpPr>
        <p:spPr>
          <a:xfrm>
            <a:off x="619048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6190488" y="389534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8" name="Text 73"/>
          <p:cNvSpPr txBox="1"/>
          <p:nvPr/>
        </p:nvSpPr>
        <p:spPr>
          <a:xfrm>
            <a:off x="635508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</a:t>
            </a:r>
            <a:endParaRPr lang="en-US" sz="2400" dirty="0"/>
          </a:p>
        </p:txBody>
      </p:sp>
      <p:sp>
        <p:nvSpPr>
          <p:cNvPr id="79" name="Text 74"/>
          <p:cNvSpPr txBox="1"/>
          <p:nvPr/>
        </p:nvSpPr>
        <p:spPr>
          <a:xfrm>
            <a:off x="635508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Rejected KYC</a:t>
            </a:r>
            <a:endParaRPr lang="en-US" sz="1050" dirty="0"/>
          </a:p>
        </p:txBody>
      </p:sp>
      <p:sp>
        <p:nvSpPr>
          <p:cNvPr id="80" name="Text 75"/>
          <p:cNvSpPr txBox="1"/>
          <p:nvPr/>
        </p:nvSpPr>
        <p:spPr>
          <a:xfrm>
            <a:off x="635508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Resubmission required</a:t>
            </a:r>
            <a:endParaRPr lang="en-US" sz="850" dirty="0"/>
          </a:p>
        </p:txBody>
      </p:sp>
      <p:sp>
        <p:nvSpPr>
          <p:cNvPr id="81" name="Text 76"/>
          <p:cNvSpPr txBox="1"/>
          <p:nvPr/>
        </p:nvSpPr>
        <p:spPr>
          <a:xfrm>
            <a:off x="779068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5303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82" name="Shape 77"/>
          <p:cNvSpPr/>
          <p:nvPr/>
        </p:nvSpPr>
        <p:spPr>
          <a:xfrm>
            <a:off x="619048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6190488" y="499262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4" name="Text 79"/>
          <p:cNvSpPr txBox="1"/>
          <p:nvPr/>
        </p:nvSpPr>
        <p:spPr>
          <a:xfrm>
            <a:off x="635508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212</a:t>
            </a:r>
            <a:endParaRPr lang="en-US" sz="2400" dirty="0"/>
          </a:p>
        </p:txBody>
      </p:sp>
      <p:sp>
        <p:nvSpPr>
          <p:cNvPr id="85" name="Text 80"/>
          <p:cNvSpPr txBox="1"/>
          <p:nvPr/>
        </p:nvSpPr>
        <p:spPr>
          <a:xfrm>
            <a:off x="635508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KYC applications</a:t>
            </a:r>
            <a:endParaRPr lang="en-US" sz="1050" dirty="0"/>
          </a:p>
        </p:txBody>
      </p:sp>
      <p:sp>
        <p:nvSpPr>
          <p:cNvPr id="86" name="Text 81"/>
          <p:cNvSpPr txBox="1"/>
          <p:nvPr/>
        </p:nvSpPr>
        <p:spPr>
          <a:xfrm>
            <a:off x="635508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Onboarded + incomplete + rejected</a:t>
            </a:r>
            <a:endParaRPr lang="en-US" sz="850" dirty="0"/>
          </a:p>
        </p:txBody>
      </p:sp>
      <p:sp>
        <p:nvSpPr>
          <p:cNvPr id="87" name="Shape 82"/>
          <p:cNvSpPr/>
          <p:nvPr/>
        </p:nvSpPr>
        <p:spPr>
          <a:xfrm>
            <a:off x="9002268" y="1408176"/>
            <a:ext cx="45720" cy="155448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88" name="Text 83"/>
          <p:cNvSpPr txBox="1"/>
          <p:nvPr/>
        </p:nvSpPr>
        <p:spPr>
          <a:xfrm>
            <a:off x="911199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SUPPORT TICKETS</a:t>
            </a:r>
            <a:endParaRPr lang="en-US" sz="900" dirty="0"/>
          </a:p>
        </p:txBody>
      </p:sp>
      <p:sp>
        <p:nvSpPr>
          <p:cNvPr id="89" name="Shape 84"/>
          <p:cNvSpPr/>
          <p:nvPr/>
        </p:nvSpPr>
        <p:spPr>
          <a:xfrm>
            <a:off x="900226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9002268" y="170078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1" name="Text 86"/>
          <p:cNvSpPr txBox="1"/>
          <p:nvPr/>
        </p:nvSpPr>
        <p:spPr>
          <a:xfrm>
            <a:off x="916686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25</a:t>
            </a:r>
            <a:endParaRPr lang="en-US" sz="2400" dirty="0"/>
          </a:p>
        </p:txBody>
      </p:sp>
      <p:sp>
        <p:nvSpPr>
          <p:cNvPr id="92" name="Text 87"/>
          <p:cNvSpPr txBox="1"/>
          <p:nvPr/>
        </p:nvSpPr>
        <p:spPr>
          <a:xfrm>
            <a:off x="916686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created</a:t>
            </a:r>
            <a:endParaRPr lang="en-US" sz="1050" dirty="0"/>
          </a:p>
        </p:txBody>
      </p:sp>
      <p:sp>
        <p:nvSpPr>
          <p:cNvPr id="93" name="Text 88"/>
          <p:cNvSpPr txBox="1"/>
          <p:nvPr/>
        </p:nvSpPr>
        <p:spPr>
          <a:xfrm>
            <a:off x="916686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94" name="Text 89"/>
          <p:cNvSpPr txBox="1"/>
          <p:nvPr/>
        </p:nvSpPr>
        <p:spPr>
          <a:xfrm>
            <a:off x="1060246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95" name="Shape 90"/>
          <p:cNvSpPr/>
          <p:nvPr/>
        </p:nvSpPr>
        <p:spPr>
          <a:xfrm>
            <a:off x="900226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9002268" y="279806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7" name="Text 92"/>
          <p:cNvSpPr txBox="1"/>
          <p:nvPr/>
        </p:nvSpPr>
        <p:spPr>
          <a:xfrm>
            <a:off x="916686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</a:t>
            </a:r>
            <a:endParaRPr lang="en-US" sz="2400" dirty="0"/>
          </a:p>
        </p:txBody>
      </p:sp>
      <p:sp>
        <p:nvSpPr>
          <p:cNvPr id="98" name="Text 93"/>
          <p:cNvSpPr txBox="1"/>
          <p:nvPr/>
        </p:nvSpPr>
        <p:spPr>
          <a:xfrm>
            <a:off x="916686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resolved</a:t>
            </a:r>
            <a:endParaRPr lang="en-US" sz="1050" dirty="0"/>
          </a:p>
        </p:txBody>
      </p:sp>
      <p:sp>
        <p:nvSpPr>
          <p:cNvPr id="99" name="Text 94"/>
          <p:cNvSpPr txBox="1"/>
          <p:nvPr/>
        </p:nvSpPr>
        <p:spPr>
          <a:xfrm>
            <a:off x="916686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96% of tickets created</a:t>
            </a:r>
            <a:endParaRPr lang="en-US" sz="850" dirty="0"/>
          </a:p>
        </p:txBody>
      </p:sp>
      <p:sp>
        <p:nvSpPr>
          <p:cNvPr id="100" name="Text 95"/>
          <p:cNvSpPr txBox="1"/>
          <p:nvPr/>
        </p:nvSpPr>
        <p:spPr>
          <a:xfrm>
            <a:off x="1060246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1" name="Shape 96"/>
          <p:cNvSpPr/>
          <p:nvPr/>
        </p:nvSpPr>
        <p:spPr>
          <a:xfrm>
            <a:off x="900226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9002268" y="389534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3" name="Text 98"/>
          <p:cNvSpPr txBox="1"/>
          <p:nvPr/>
        </p:nvSpPr>
        <p:spPr>
          <a:xfrm>
            <a:off x="916686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</a:t>
            </a:r>
            <a:endParaRPr lang="en-US" sz="2400" dirty="0"/>
          </a:p>
        </p:txBody>
      </p:sp>
      <p:sp>
        <p:nvSpPr>
          <p:cNvPr id="104" name="Text 99"/>
          <p:cNvSpPr txBox="1"/>
          <p:nvPr/>
        </p:nvSpPr>
        <p:spPr>
          <a:xfrm>
            <a:off x="916686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Email queries</a:t>
            </a:r>
            <a:endParaRPr lang="en-US" sz="1050" dirty="0"/>
          </a:p>
        </p:txBody>
      </p:sp>
      <p:sp>
        <p:nvSpPr>
          <p:cNvPr id="105" name="Text 100"/>
          <p:cNvSpPr txBox="1"/>
          <p:nvPr/>
        </p:nvSpPr>
        <p:spPr>
          <a:xfrm>
            <a:off x="916686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06" name="Text 101"/>
          <p:cNvSpPr txBox="1"/>
          <p:nvPr/>
        </p:nvSpPr>
        <p:spPr>
          <a:xfrm>
            <a:off x="1060246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7" name="Shape 102"/>
          <p:cNvSpPr/>
          <p:nvPr/>
        </p:nvSpPr>
        <p:spPr>
          <a:xfrm>
            <a:off x="900226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9002268" y="499262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9" name="Text 104"/>
          <p:cNvSpPr txBox="1"/>
          <p:nvPr/>
        </p:nvSpPr>
        <p:spPr>
          <a:xfrm>
            <a:off x="916686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21</a:t>
            </a:r>
            <a:endParaRPr lang="en-US" sz="2400" dirty="0"/>
          </a:p>
        </p:txBody>
      </p:sp>
      <p:sp>
        <p:nvSpPr>
          <p:cNvPr id="110" name="Text 105"/>
          <p:cNvSpPr txBox="1"/>
          <p:nvPr/>
        </p:nvSpPr>
        <p:spPr>
          <a:xfrm>
            <a:off x="916686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AI support queries</a:t>
            </a:r>
            <a:endParaRPr lang="en-US" sz="1050" dirty="0"/>
          </a:p>
        </p:txBody>
      </p:sp>
      <p:sp>
        <p:nvSpPr>
          <p:cNvPr id="111" name="Text 106"/>
          <p:cNvSpPr txBox="1"/>
          <p:nvPr/>
        </p:nvSpPr>
        <p:spPr>
          <a:xfrm>
            <a:off x="916686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12" name="Text 107"/>
          <p:cNvSpPr txBox="1"/>
          <p:nvPr/>
        </p:nvSpPr>
        <p:spPr>
          <a:xfrm>
            <a:off x="1060246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atemIsa_202508993_IT9002_NLP_Project/emyaa-ceo-deck/working/charts/board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188720"/>
            <a:ext cx="12191695" cy="24689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66928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F3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PLATFORM ANALYTICS  |  PERFORMANCE DASHBOARD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57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 date: 31 Aug 2026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868680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6CFE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Reporting period: All Time   |   Change on each card is against the previous report, 30 Aug 2026</a:t>
            </a:r>
            <a:endParaRPr lang="en-US" sz="1000" dirty="0"/>
          </a:p>
        </p:txBody>
      </p:sp>
      <p:pic>
        <p:nvPicPr>
          <p:cNvPr id="7" name="Image 1" descr="/home/user/HatemIsa_202508993_IT9002_NLP_Project/emyaa-ceo-deck/working/charts/ajy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02336"/>
            <a:ext cx="13258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" y="6272784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Source: eMYAA Daily Performance Dashboard, eMYAA_-_Daily_Performance_Dashboard-1.pdf, page 19. This report labels the money card 'Total Deposits'; later reports label the same measure 'Total AUM'.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eMYAA Trading Platform  |  Daily Performance Dashboard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9802368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22</a:t>
            </a:r>
            <a:endParaRPr lang="en-US" sz="800" dirty="0"/>
          </a:p>
        </p:txBody>
      </p:sp>
      <p:pic>
        <p:nvPicPr>
          <p:cNvPr id="11" name="Image 2" descr="/home/user/HatemIsa_202508993_IT9002_NLP_Project/emyaa-ceo-deck/working/charts/emyaa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6336792"/>
            <a:ext cx="1024128" cy="3657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66928" y="1408176"/>
            <a:ext cx="45720" cy="155448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665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DOWNLOADS &amp; RATINGS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6692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66928" y="170078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152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197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downloads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 Store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216712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+3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6692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66928" y="279806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3152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165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73152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downloads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73152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Apple App Store</a:t>
            </a:r>
            <a:endParaRPr lang="en-US" sz="850" dirty="0"/>
          </a:p>
        </p:txBody>
      </p:sp>
      <p:sp>
        <p:nvSpPr>
          <p:cNvPr id="25" name="Text 20"/>
          <p:cNvSpPr txBox="1"/>
          <p:nvPr/>
        </p:nvSpPr>
        <p:spPr>
          <a:xfrm>
            <a:off x="216712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6692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66928" y="389534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3152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29" name="Text 24"/>
          <p:cNvSpPr txBox="1"/>
          <p:nvPr/>
        </p:nvSpPr>
        <p:spPr>
          <a:xfrm>
            <a:off x="73152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app rating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73152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Play, 2 reviews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56692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66928" y="499262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3152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34" name="Text 29"/>
          <p:cNvSpPr txBox="1"/>
          <p:nvPr/>
        </p:nvSpPr>
        <p:spPr>
          <a:xfrm>
            <a:off x="73152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app rating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73152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 Store, 2 reviews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3378708" y="1408176"/>
            <a:ext cx="45720" cy="155448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48843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 ACTIVITY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337870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3378708" y="170078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354330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12</a:t>
            </a:r>
            <a:endParaRPr lang="en-US" sz="2400" dirty="0"/>
          </a:p>
        </p:txBody>
      </p:sp>
      <p:sp>
        <p:nvSpPr>
          <p:cNvPr id="41" name="Text 36"/>
          <p:cNvSpPr txBox="1"/>
          <p:nvPr/>
        </p:nvSpPr>
        <p:spPr>
          <a:xfrm>
            <a:off x="354330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deposited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354330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Funded accounts</a:t>
            </a:r>
            <a:endParaRPr lang="en-US" sz="850" dirty="0"/>
          </a:p>
        </p:txBody>
      </p:sp>
      <p:sp>
        <p:nvSpPr>
          <p:cNvPr id="43" name="Text 38"/>
          <p:cNvSpPr txBox="1"/>
          <p:nvPr/>
        </p:nvSpPr>
        <p:spPr>
          <a:xfrm>
            <a:off x="497890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337870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3378708" y="279806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354330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$8,337.41</a:t>
            </a:r>
            <a:endParaRPr lang="en-US" sz="1900" dirty="0"/>
          </a:p>
        </p:txBody>
      </p:sp>
      <p:sp>
        <p:nvSpPr>
          <p:cNvPr id="47" name="Text 42"/>
          <p:cNvSpPr txBox="1"/>
          <p:nvPr/>
        </p:nvSpPr>
        <p:spPr>
          <a:xfrm>
            <a:off x="354330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deposits</a:t>
            </a:r>
            <a:endParaRPr lang="en-US" sz="1050" dirty="0"/>
          </a:p>
        </p:txBody>
      </p:sp>
      <p:sp>
        <p:nvSpPr>
          <p:cNvPr id="48" name="Text 43"/>
          <p:cNvSpPr txBox="1"/>
          <p:nvPr/>
        </p:nvSpPr>
        <p:spPr>
          <a:xfrm>
            <a:off x="354330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Cumulative platform deposits</a:t>
            </a:r>
            <a:endParaRPr lang="en-US" sz="850" dirty="0"/>
          </a:p>
        </p:txBody>
      </p:sp>
      <p:sp>
        <p:nvSpPr>
          <p:cNvPr id="49" name="Text 44"/>
          <p:cNvSpPr txBox="1"/>
          <p:nvPr/>
        </p:nvSpPr>
        <p:spPr>
          <a:xfrm>
            <a:off x="497890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5303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-$130.55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337870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3378708" y="389534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354330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12</a:t>
            </a:r>
            <a:endParaRPr lang="en-US" sz="2400" dirty="0"/>
          </a:p>
        </p:txBody>
      </p:sp>
      <p:sp>
        <p:nvSpPr>
          <p:cNvPr id="53" name="Text 48"/>
          <p:cNvSpPr txBox="1"/>
          <p:nvPr/>
        </p:nvSpPr>
        <p:spPr>
          <a:xfrm>
            <a:off x="354330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traded</a:t>
            </a:r>
            <a:endParaRPr lang="en-US" sz="1050" dirty="0"/>
          </a:p>
        </p:txBody>
      </p:sp>
      <p:sp>
        <p:nvSpPr>
          <p:cNvPr id="54" name="Text 49"/>
          <p:cNvSpPr txBox="1"/>
          <p:nvPr/>
        </p:nvSpPr>
        <p:spPr>
          <a:xfrm>
            <a:off x="354330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Placed at least 1 trade</a:t>
            </a:r>
            <a:endParaRPr lang="en-US" sz="850" dirty="0"/>
          </a:p>
        </p:txBody>
      </p:sp>
      <p:sp>
        <p:nvSpPr>
          <p:cNvPr id="55" name="Text 50"/>
          <p:cNvSpPr txBox="1"/>
          <p:nvPr/>
        </p:nvSpPr>
        <p:spPr>
          <a:xfrm>
            <a:off x="497890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6" name="Shape 51"/>
          <p:cNvSpPr/>
          <p:nvPr/>
        </p:nvSpPr>
        <p:spPr>
          <a:xfrm>
            <a:off x="337870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3378708" y="499262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354330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45</a:t>
            </a:r>
            <a:endParaRPr lang="en-US" sz="2400" dirty="0"/>
          </a:p>
        </p:txBody>
      </p:sp>
      <p:sp>
        <p:nvSpPr>
          <p:cNvPr id="59" name="Text 54"/>
          <p:cNvSpPr txBox="1"/>
          <p:nvPr/>
        </p:nvSpPr>
        <p:spPr>
          <a:xfrm>
            <a:off x="354330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trades</a:t>
            </a:r>
            <a:endParaRPr lang="en-US" sz="1050" dirty="0"/>
          </a:p>
        </p:txBody>
      </p:sp>
      <p:sp>
        <p:nvSpPr>
          <p:cNvPr id="60" name="Text 55"/>
          <p:cNvSpPr txBox="1"/>
          <p:nvPr/>
        </p:nvSpPr>
        <p:spPr>
          <a:xfrm>
            <a:off x="354330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Executed across all users</a:t>
            </a:r>
            <a:endParaRPr lang="en-US" sz="850" dirty="0"/>
          </a:p>
        </p:txBody>
      </p:sp>
      <p:sp>
        <p:nvSpPr>
          <p:cNvPr id="61" name="Text 56"/>
          <p:cNvSpPr txBox="1"/>
          <p:nvPr/>
        </p:nvSpPr>
        <p:spPr>
          <a:xfrm>
            <a:off x="497890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62" name="Shape 57"/>
          <p:cNvSpPr/>
          <p:nvPr/>
        </p:nvSpPr>
        <p:spPr>
          <a:xfrm>
            <a:off x="6190488" y="1408176"/>
            <a:ext cx="45720" cy="1554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630021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KYC STATUS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619048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6190488" y="170078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635508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47</a:t>
            </a:r>
            <a:endParaRPr lang="en-US" sz="2400" dirty="0"/>
          </a:p>
        </p:txBody>
      </p:sp>
      <p:sp>
        <p:nvSpPr>
          <p:cNvPr id="67" name="Text 62"/>
          <p:cNvSpPr txBox="1"/>
          <p:nvPr/>
        </p:nvSpPr>
        <p:spPr>
          <a:xfrm>
            <a:off x="635508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onboarded</a:t>
            </a:r>
            <a:endParaRPr lang="en-US" sz="1050" dirty="0"/>
          </a:p>
        </p:txBody>
      </p:sp>
      <p:sp>
        <p:nvSpPr>
          <p:cNvPr id="68" name="Text 63"/>
          <p:cNvSpPr txBox="1"/>
          <p:nvPr/>
        </p:nvSpPr>
        <p:spPr>
          <a:xfrm>
            <a:off x="635508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Completed signup and verification</a:t>
            </a:r>
            <a:endParaRPr lang="en-US" sz="850" dirty="0"/>
          </a:p>
        </p:txBody>
      </p:sp>
      <p:sp>
        <p:nvSpPr>
          <p:cNvPr id="69" name="Text 64"/>
          <p:cNvSpPr txBox="1"/>
          <p:nvPr/>
        </p:nvSpPr>
        <p:spPr>
          <a:xfrm>
            <a:off x="779068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70" name="Shape 65"/>
          <p:cNvSpPr/>
          <p:nvPr/>
        </p:nvSpPr>
        <p:spPr>
          <a:xfrm>
            <a:off x="619048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6190488" y="279806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2" name="Text 67"/>
          <p:cNvSpPr txBox="1"/>
          <p:nvPr/>
        </p:nvSpPr>
        <p:spPr>
          <a:xfrm>
            <a:off x="635508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154</a:t>
            </a:r>
            <a:endParaRPr lang="en-US" sz="2400" dirty="0"/>
          </a:p>
        </p:txBody>
      </p:sp>
      <p:sp>
        <p:nvSpPr>
          <p:cNvPr id="73" name="Text 68"/>
          <p:cNvSpPr txBox="1"/>
          <p:nvPr/>
        </p:nvSpPr>
        <p:spPr>
          <a:xfrm>
            <a:off x="635508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Incomplete KYC</a:t>
            </a:r>
            <a:endParaRPr lang="en-US" sz="1050" dirty="0"/>
          </a:p>
        </p:txBody>
      </p:sp>
      <p:sp>
        <p:nvSpPr>
          <p:cNvPr id="74" name="Text 69"/>
          <p:cNvSpPr txBox="1"/>
          <p:nvPr/>
        </p:nvSpPr>
        <p:spPr>
          <a:xfrm>
            <a:off x="635508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Started KYC but did not proceed</a:t>
            </a:r>
            <a:endParaRPr lang="en-US" sz="850" dirty="0"/>
          </a:p>
        </p:txBody>
      </p:sp>
      <p:sp>
        <p:nvSpPr>
          <p:cNvPr id="75" name="Text 70"/>
          <p:cNvSpPr txBox="1"/>
          <p:nvPr/>
        </p:nvSpPr>
        <p:spPr>
          <a:xfrm>
            <a:off x="779068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76" name="Shape 71"/>
          <p:cNvSpPr/>
          <p:nvPr/>
        </p:nvSpPr>
        <p:spPr>
          <a:xfrm>
            <a:off x="619048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6190488" y="389534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8" name="Text 73"/>
          <p:cNvSpPr txBox="1"/>
          <p:nvPr/>
        </p:nvSpPr>
        <p:spPr>
          <a:xfrm>
            <a:off x="635508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9</a:t>
            </a:r>
            <a:endParaRPr lang="en-US" sz="2400" dirty="0"/>
          </a:p>
        </p:txBody>
      </p:sp>
      <p:sp>
        <p:nvSpPr>
          <p:cNvPr id="79" name="Text 74"/>
          <p:cNvSpPr txBox="1"/>
          <p:nvPr/>
        </p:nvSpPr>
        <p:spPr>
          <a:xfrm>
            <a:off x="635508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Rejected KYC</a:t>
            </a:r>
            <a:endParaRPr lang="en-US" sz="1050" dirty="0"/>
          </a:p>
        </p:txBody>
      </p:sp>
      <p:sp>
        <p:nvSpPr>
          <p:cNvPr id="80" name="Text 75"/>
          <p:cNvSpPr txBox="1"/>
          <p:nvPr/>
        </p:nvSpPr>
        <p:spPr>
          <a:xfrm>
            <a:off x="635508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Resubmission required</a:t>
            </a:r>
            <a:endParaRPr lang="en-US" sz="850" dirty="0"/>
          </a:p>
        </p:txBody>
      </p:sp>
      <p:sp>
        <p:nvSpPr>
          <p:cNvPr id="81" name="Text 76"/>
          <p:cNvSpPr txBox="1"/>
          <p:nvPr/>
        </p:nvSpPr>
        <p:spPr>
          <a:xfrm>
            <a:off x="779068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82" name="Shape 77"/>
          <p:cNvSpPr/>
          <p:nvPr/>
        </p:nvSpPr>
        <p:spPr>
          <a:xfrm>
            <a:off x="619048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6190488" y="499262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4" name="Text 79"/>
          <p:cNvSpPr txBox="1"/>
          <p:nvPr/>
        </p:nvSpPr>
        <p:spPr>
          <a:xfrm>
            <a:off x="635508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210</a:t>
            </a:r>
            <a:endParaRPr lang="en-US" sz="2400" dirty="0"/>
          </a:p>
        </p:txBody>
      </p:sp>
      <p:sp>
        <p:nvSpPr>
          <p:cNvPr id="85" name="Text 80"/>
          <p:cNvSpPr txBox="1"/>
          <p:nvPr/>
        </p:nvSpPr>
        <p:spPr>
          <a:xfrm>
            <a:off x="635508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KYC applications</a:t>
            </a:r>
            <a:endParaRPr lang="en-US" sz="1050" dirty="0"/>
          </a:p>
        </p:txBody>
      </p:sp>
      <p:sp>
        <p:nvSpPr>
          <p:cNvPr id="86" name="Text 81"/>
          <p:cNvSpPr txBox="1"/>
          <p:nvPr/>
        </p:nvSpPr>
        <p:spPr>
          <a:xfrm>
            <a:off x="635508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Onboarded + incomplete + rejected</a:t>
            </a:r>
            <a:endParaRPr lang="en-US" sz="850" dirty="0"/>
          </a:p>
        </p:txBody>
      </p:sp>
      <p:sp>
        <p:nvSpPr>
          <p:cNvPr id="87" name="Shape 82"/>
          <p:cNvSpPr/>
          <p:nvPr/>
        </p:nvSpPr>
        <p:spPr>
          <a:xfrm>
            <a:off x="9002268" y="1408176"/>
            <a:ext cx="45720" cy="155448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88" name="Text 83"/>
          <p:cNvSpPr txBox="1"/>
          <p:nvPr/>
        </p:nvSpPr>
        <p:spPr>
          <a:xfrm>
            <a:off x="911199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SUPPORT TICKETS</a:t>
            </a:r>
            <a:endParaRPr lang="en-US" sz="900" dirty="0"/>
          </a:p>
        </p:txBody>
      </p:sp>
      <p:sp>
        <p:nvSpPr>
          <p:cNvPr id="89" name="Shape 84"/>
          <p:cNvSpPr/>
          <p:nvPr/>
        </p:nvSpPr>
        <p:spPr>
          <a:xfrm>
            <a:off x="900226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9002268" y="170078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1" name="Text 86"/>
          <p:cNvSpPr txBox="1"/>
          <p:nvPr/>
        </p:nvSpPr>
        <p:spPr>
          <a:xfrm>
            <a:off x="916686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25</a:t>
            </a:r>
            <a:endParaRPr lang="en-US" sz="2400" dirty="0"/>
          </a:p>
        </p:txBody>
      </p:sp>
      <p:sp>
        <p:nvSpPr>
          <p:cNvPr id="92" name="Text 87"/>
          <p:cNvSpPr txBox="1"/>
          <p:nvPr/>
        </p:nvSpPr>
        <p:spPr>
          <a:xfrm>
            <a:off x="916686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created</a:t>
            </a:r>
            <a:endParaRPr lang="en-US" sz="1050" dirty="0"/>
          </a:p>
        </p:txBody>
      </p:sp>
      <p:sp>
        <p:nvSpPr>
          <p:cNvPr id="93" name="Text 88"/>
          <p:cNvSpPr txBox="1"/>
          <p:nvPr/>
        </p:nvSpPr>
        <p:spPr>
          <a:xfrm>
            <a:off x="916686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94" name="Text 89"/>
          <p:cNvSpPr txBox="1"/>
          <p:nvPr/>
        </p:nvSpPr>
        <p:spPr>
          <a:xfrm>
            <a:off x="1060246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95" name="Shape 90"/>
          <p:cNvSpPr/>
          <p:nvPr/>
        </p:nvSpPr>
        <p:spPr>
          <a:xfrm>
            <a:off x="900226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9002268" y="279806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7" name="Text 92"/>
          <p:cNvSpPr txBox="1"/>
          <p:nvPr/>
        </p:nvSpPr>
        <p:spPr>
          <a:xfrm>
            <a:off x="916686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</a:t>
            </a:r>
            <a:endParaRPr lang="en-US" sz="2400" dirty="0"/>
          </a:p>
        </p:txBody>
      </p:sp>
      <p:sp>
        <p:nvSpPr>
          <p:cNvPr id="98" name="Text 93"/>
          <p:cNvSpPr txBox="1"/>
          <p:nvPr/>
        </p:nvSpPr>
        <p:spPr>
          <a:xfrm>
            <a:off x="916686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resolved</a:t>
            </a:r>
            <a:endParaRPr lang="en-US" sz="1050" dirty="0"/>
          </a:p>
        </p:txBody>
      </p:sp>
      <p:sp>
        <p:nvSpPr>
          <p:cNvPr id="99" name="Text 94"/>
          <p:cNvSpPr txBox="1"/>
          <p:nvPr/>
        </p:nvSpPr>
        <p:spPr>
          <a:xfrm>
            <a:off x="916686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96% of tickets created</a:t>
            </a:r>
            <a:endParaRPr lang="en-US" sz="850" dirty="0"/>
          </a:p>
        </p:txBody>
      </p:sp>
      <p:sp>
        <p:nvSpPr>
          <p:cNvPr id="100" name="Text 95"/>
          <p:cNvSpPr txBox="1"/>
          <p:nvPr/>
        </p:nvSpPr>
        <p:spPr>
          <a:xfrm>
            <a:off x="1060246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1" name="Shape 96"/>
          <p:cNvSpPr/>
          <p:nvPr/>
        </p:nvSpPr>
        <p:spPr>
          <a:xfrm>
            <a:off x="900226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9002268" y="389534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3" name="Text 98"/>
          <p:cNvSpPr txBox="1"/>
          <p:nvPr/>
        </p:nvSpPr>
        <p:spPr>
          <a:xfrm>
            <a:off x="916686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</a:t>
            </a:r>
            <a:endParaRPr lang="en-US" sz="2400" dirty="0"/>
          </a:p>
        </p:txBody>
      </p:sp>
      <p:sp>
        <p:nvSpPr>
          <p:cNvPr id="104" name="Text 99"/>
          <p:cNvSpPr txBox="1"/>
          <p:nvPr/>
        </p:nvSpPr>
        <p:spPr>
          <a:xfrm>
            <a:off x="916686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Email queries</a:t>
            </a:r>
            <a:endParaRPr lang="en-US" sz="1050" dirty="0"/>
          </a:p>
        </p:txBody>
      </p:sp>
      <p:sp>
        <p:nvSpPr>
          <p:cNvPr id="105" name="Text 100"/>
          <p:cNvSpPr txBox="1"/>
          <p:nvPr/>
        </p:nvSpPr>
        <p:spPr>
          <a:xfrm>
            <a:off x="916686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06" name="Text 101"/>
          <p:cNvSpPr txBox="1"/>
          <p:nvPr/>
        </p:nvSpPr>
        <p:spPr>
          <a:xfrm>
            <a:off x="1060246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7" name="Shape 102"/>
          <p:cNvSpPr/>
          <p:nvPr/>
        </p:nvSpPr>
        <p:spPr>
          <a:xfrm>
            <a:off x="900226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9002268" y="499262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9" name="Text 104"/>
          <p:cNvSpPr txBox="1"/>
          <p:nvPr/>
        </p:nvSpPr>
        <p:spPr>
          <a:xfrm>
            <a:off x="916686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21</a:t>
            </a:r>
            <a:endParaRPr lang="en-US" sz="2400" dirty="0"/>
          </a:p>
        </p:txBody>
      </p:sp>
      <p:sp>
        <p:nvSpPr>
          <p:cNvPr id="110" name="Text 105"/>
          <p:cNvSpPr txBox="1"/>
          <p:nvPr/>
        </p:nvSpPr>
        <p:spPr>
          <a:xfrm>
            <a:off x="916686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AI support queries</a:t>
            </a:r>
            <a:endParaRPr lang="en-US" sz="1050" dirty="0"/>
          </a:p>
        </p:txBody>
      </p:sp>
      <p:sp>
        <p:nvSpPr>
          <p:cNvPr id="111" name="Text 106"/>
          <p:cNvSpPr txBox="1"/>
          <p:nvPr/>
        </p:nvSpPr>
        <p:spPr>
          <a:xfrm>
            <a:off x="916686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12" name="Text 107"/>
          <p:cNvSpPr txBox="1"/>
          <p:nvPr/>
        </p:nvSpPr>
        <p:spPr>
          <a:xfrm>
            <a:off x="1060246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atemIsa_202508993_IT9002_NLP_Project/emyaa-ceo-deck/working/charts/board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188720"/>
            <a:ext cx="12191695" cy="24689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66928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F3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PLATFORM ANALYTICS  |  PERFORMANCE DASHBOARD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57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 date: 30 Aug 2026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868680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6CFE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Reporting period: All Time   |   Change on each card is against the previous report, 27 Aug 2026</a:t>
            </a:r>
            <a:endParaRPr lang="en-US" sz="1000" dirty="0"/>
          </a:p>
        </p:txBody>
      </p:sp>
      <p:pic>
        <p:nvPicPr>
          <p:cNvPr id="7" name="Image 1" descr="/home/user/HatemIsa_202508993_IT9002_NLP_Project/emyaa-ceo-deck/working/charts/ajy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02336"/>
            <a:ext cx="13258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" y="6272784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Source: eMYAA Daily Performance Dashboard, eMYAA_-_Daily_Performance_Dashboard-1.pdf, page 20. This report labels the money card 'Total Deposits'; later reports label the same measure 'Total AUM'.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eMYAA Trading Platform  |  Daily Performance Dashboard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9802368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23</a:t>
            </a:r>
            <a:endParaRPr lang="en-US" sz="800" dirty="0"/>
          </a:p>
        </p:txBody>
      </p:sp>
      <p:pic>
        <p:nvPicPr>
          <p:cNvPr id="11" name="Image 2" descr="/home/user/HatemIsa_202508993_IT9002_NLP_Project/emyaa-ceo-deck/working/charts/emyaa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6336792"/>
            <a:ext cx="1024128" cy="3657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66928" y="1408176"/>
            <a:ext cx="45720" cy="155448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665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DOWNLOADS &amp; RATINGS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6692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66928" y="170078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152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194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downloads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 Store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216712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+4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6692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66928" y="279806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3152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165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73152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downloads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73152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Apple App Store</a:t>
            </a:r>
            <a:endParaRPr lang="en-US" sz="850" dirty="0"/>
          </a:p>
        </p:txBody>
      </p:sp>
      <p:sp>
        <p:nvSpPr>
          <p:cNvPr id="25" name="Text 20"/>
          <p:cNvSpPr txBox="1"/>
          <p:nvPr/>
        </p:nvSpPr>
        <p:spPr>
          <a:xfrm>
            <a:off x="216712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+3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6692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66928" y="389534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3152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29" name="Text 24"/>
          <p:cNvSpPr txBox="1"/>
          <p:nvPr/>
        </p:nvSpPr>
        <p:spPr>
          <a:xfrm>
            <a:off x="73152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app rating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73152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Play, 2 reviews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56692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66928" y="499262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3152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34" name="Text 29"/>
          <p:cNvSpPr txBox="1"/>
          <p:nvPr/>
        </p:nvSpPr>
        <p:spPr>
          <a:xfrm>
            <a:off x="73152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app rating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73152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 Store, 2 reviews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3378708" y="1408176"/>
            <a:ext cx="45720" cy="155448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48843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 ACTIVITY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337870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3378708" y="170078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354330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12</a:t>
            </a:r>
            <a:endParaRPr lang="en-US" sz="2400" dirty="0"/>
          </a:p>
        </p:txBody>
      </p:sp>
      <p:sp>
        <p:nvSpPr>
          <p:cNvPr id="41" name="Text 36"/>
          <p:cNvSpPr txBox="1"/>
          <p:nvPr/>
        </p:nvSpPr>
        <p:spPr>
          <a:xfrm>
            <a:off x="354330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deposited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354330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Funded accounts</a:t>
            </a:r>
            <a:endParaRPr lang="en-US" sz="850" dirty="0"/>
          </a:p>
        </p:txBody>
      </p:sp>
      <p:sp>
        <p:nvSpPr>
          <p:cNvPr id="43" name="Text 38"/>
          <p:cNvSpPr txBox="1"/>
          <p:nvPr/>
        </p:nvSpPr>
        <p:spPr>
          <a:xfrm>
            <a:off x="497890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337870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3378708" y="279806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354330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$8,467.96</a:t>
            </a:r>
            <a:endParaRPr lang="en-US" sz="1900" dirty="0"/>
          </a:p>
        </p:txBody>
      </p:sp>
      <p:sp>
        <p:nvSpPr>
          <p:cNvPr id="47" name="Text 42"/>
          <p:cNvSpPr txBox="1"/>
          <p:nvPr/>
        </p:nvSpPr>
        <p:spPr>
          <a:xfrm>
            <a:off x="354330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deposits</a:t>
            </a:r>
            <a:endParaRPr lang="en-US" sz="1050" dirty="0"/>
          </a:p>
        </p:txBody>
      </p:sp>
      <p:sp>
        <p:nvSpPr>
          <p:cNvPr id="48" name="Text 43"/>
          <p:cNvSpPr txBox="1"/>
          <p:nvPr/>
        </p:nvSpPr>
        <p:spPr>
          <a:xfrm>
            <a:off x="354330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Cumulative platform deposits</a:t>
            </a:r>
            <a:endParaRPr lang="en-US" sz="850" dirty="0"/>
          </a:p>
        </p:txBody>
      </p:sp>
      <p:sp>
        <p:nvSpPr>
          <p:cNvPr id="49" name="Text 44"/>
          <p:cNvSpPr txBox="1"/>
          <p:nvPr/>
        </p:nvSpPr>
        <p:spPr>
          <a:xfrm>
            <a:off x="497890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5303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-$467.81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337870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3378708" y="389534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354330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12</a:t>
            </a:r>
            <a:endParaRPr lang="en-US" sz="2400" dirty="0"/>
          </a:p>
        </p:txBody>
      </p:sp>
      <p:sp>
        <p:nvSpPr>
          <p:cNvPr id="53" name="Text 48"/>
          <p:cNvSpPr txBox="1"/>
          <p:nvPr/>
        </p:nvSpPr>
        <p:spPr>
          <a:xfrm>
            <a:off x="354330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traded</a:t>
            </a:r>
            <a:endParaRPr lang="en-US" sz="1050" dirty="0"/>
          </a:p>
        </p:txBody>
      </p:sp>
      <p:sp>
        <p:nvSpPr>
          <p:cNvPr id="54" name="Text 49"/>
          <p:cNvSpPr txBox="1"/>
          <p:nvPr/>
        </p:nvSpPr>
        <p:spPr>
          <a:xfrm>
            <a:off x="354330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Placed at least 1 trade</a:t>
            </a:r>
            <a:endParaRPr lang="en-US" sz="850" dirty="0"/>
          </a:p>
        </p:txBody>
      </p:sp>
      <p:sp>
        <p:nvSpPr>
          <p:cNvPr id="55" name="Text 50"/>
          <p:cNvSpPr txBox="1"/>
          <p:nvPr/>
        </p:nvSpPr>
        <p:spPr>
          <a:xfrm>
            <a:off x="497890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6" name="Shape 51"/>
          <p:cNvSpPr/>
          <p:nvPr/>
        </p:nvSpPr>
        <p:spPr>
          <a:xfrm>
            <a:off x="337870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3378708" y="499262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354330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45</a:t>
            </a:r>
            <a:endParaRPr lang="en-US" sz="2400" dirty="0"/>
          </a:p>
        </p:txBody>
      </p:sp>
      <p:sp>
        <p:nvSpPr>
          <p:cNvPr id="59" name="Text 54"/>
          <p:cNvSpPr txBox="1"/>
          <p:nvPr/>
        </p:nvSpPr>
        <p:spPr>
          <a:xfrm>
            <a:off x="354330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trades</a:t>
            </a:r>
            <a:endParaRPr lang="en-US" sz="1050" dirty="0"/>
          </a:p>
        </p:txBody>
      </p:sp>
      <p:sp>
        <p:nvSpPr>
          <p:cNvPr id="60" name="Text 55"/>
          <p:cNvSpPr txBox="1"/>
          <p:nvPr/>
        </p:nvSpPr>
        <p:spPr>
          <a:xfrm>
            <a:off x="354330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Executed across all users</a:t>
            </a:r>
            <a:endParaRPr lang="en-US" sz="850" dirty="0"/>
          </a:p>
        </p:txBody>
      </p:sp>
      <p:sp>
        <p:nvSpPr>
          <p:cNvPr id="61" name="Text 56"/>
          <p:cNvSpPr txBox="1"/>
          <p:nvPr/>
        </p:nvSpPr>
        <p:spPr>
          <a:xfrm>
            <a:off x="497890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+5</a:t>
            </a:r>
            <a:endParaRPr lang="en-US" sz="850" dirty="0"/>
          </a:p>
        </p:txBody>
      </p:sp>
      <p:sp>
        <p:nvSpPr>
          <p:cNvPr id="62" name="Shape 57"/>
          <p:cNvSpPr/>
          <p:nvPr/>
        </p:nvSpPr>
        <p:spPr>
          <a:xfrm>
            <a:off x="6190488" y="1408176"/>
            <a:ext cx="45720" cy="1554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630021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KYC STATUS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619048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6190488" y="170078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635508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47</a:t>
            </a:r>
            <a:endParaRPr lang="en-US" sz="2400" dirty="0"/>
          </a:p>
        </p:txBody>
      </p:sp>
      <p:sp>
        <p:nvSpPr>
          <p:cNvPr id="67" name="Text 62"/>
          <p:cNvSpPr txBox="1"/>
          <p:nvPr/>
        </p:nvSpPr>
        <p:spPr>
          <a:xfrm>
            <a:off x="635508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onboarded</a:t>
            </a:r>
            <a:endParaRPr lang="en-US" sz="1050" dirty="0"/>
          </a:p>
        </p:txBody>
      </p:sp>
      <p:sp>
        <p:nvSpPr>
          <p:cNvPr id="68" name="Text 63"/>
          <p:cNvSpPr txBox="1"/>
          <p:nvPr/>
        </p:nvSpPr>
        <p:spPr>
          <a:xfrm>
            <a:off x="635508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Completed signup and verification</a:t>
            </a:r>
            <a:endParaRPr lang="en-US" sz="850" dirty="0"/>
          </a:p>
        </p:txBody>
      </p:sp>
      <p:sp>
        <p:nvSpPr>
          <p:cNvPr id="69" name="Text 64"/>
          <p:cNvSpPr txBox="1"/>
          <p:nvPr/>
        </p:nvSpPr>
        <p:spPr>
          <a:xfrm>
            <a:off x="779068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+6</a:t>
            </a:r>
            <a:endParaRPr lang="en-US" sz="850" dirty="0"/>
          </a:p>
        </p:txBody>
      </p:sp>
      <p:sp>
        <p:nvSpPr>
          <p:cNvPr id="70" name="Shape 65"/>
          <p:cNvSpPr/>
          <p:nvPr/>
        </p:nvSpPr>
        <p:spPr>
          <a:xfrm>
            <a:off x="619048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6190488" y="279806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2" name="Text 67"/>
          <p:cNvSpPr txBox="1"/>
          <p:nvPr/>
        </p:nvSpPr>
        <p:spPr>
          <a:xfrm>
            <a:off x="635508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154</a:t>
            </a:r>
            <a:endParaRPr lang="en-US" sz="2400" dirty="0"/>
          </a:p>
        </p:txBody>
      </p:sp>
      <p:sp>
        <p:nvSpPr>
          <p:cNvPr id="73" name="Text 68"/>
          <p:cNvSpPr txBox="1"/>
          <p:nvPr/>
        </p:nvSpPr>
        <p:spPr>
          <a:xfrm>
            <a:off x="635508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Incomplete KYC</a:t>
            </a:r>
            <a:endParaRPr lang="en-US" sz="1050" dirty="0"/>
          </a:p>
        </p:txBody>
      </p:sp>
      <p:sp>
        <p:nvSpPr>
          <p:cNvPr id="74" name="Text 69"/>
          <p:cNvSpPr txBox="1"/>
          <p:nvPr/>
        </p:nvSpPr>
        <p:spPr>
          <a:xfrm>
            <a:off x="635508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Started KYC but did not proceed</a:t>
            </a:r>
            <a:endParaRPr lang="en-US" sz="850" dirty="0"/>
          </a:p>
        </p:txBody>
      </p:sp>
      <p:sp>
        <p:nvSpPr>
          <p:cNvPr id="75" name="Text 70"/>
          <p:cNvSpPr txBox="1"/>
          <p:nvPr/>
        </p:nvSpPr>
        <p:spPr>
          <a:xfrm>
            <a:off x="779068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5303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+5</a:t>
            </a:r>
            <a:endParaRPr lang="en-US" sz="850" dirty="0"/>
          </a:p>
        </p:txBody>
      </p:sp>
      <p:sp>
        <p:nvSpPr>
          <p:cNvPr id="76" name="Shape 71"/>
          <p:cNvSpPr/>
          <p:nvPr/>
        </p:nvSpPr>
        <p:spPr>
          <a:xfrm>
            <a:off x="619048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6190488" y="389534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8" name="Text 73"/>
          <p:cNvSpPr txBox="1"/>
          <p:nvPr/>
        </p:nvSpPr>
        <p:spPr>
          <a:xfrm>
            <a:off x="635508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9</a:t>
            </a:r>
            <a:endParaRPr lang="en-US" sz="2400" dirty="0"/>
          </a:p>
        </p:txBody>
      </p:sp>
      <p:sp>
        <p:nvSpPr>
          <p:cNvPr id="79" name="Text 74"/>
          <p:cNvSpPr txBox="1"/>
          <p:nvPr/>
        </p:nvSpPr>
        <p:spPr>
          <a:xfrm>
            <a:off x="635508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Rejected KYC</a:t>
            </a:r>
            <a:endParaRPr lang="en-US" sz="1050" dirty="0"/>
          </a:p>
        </p:txBody>
      </p:sp>
      <p:sp>
        <p:nvSpPr>
          <p:cNvPr id="80" name="Text 75"/>
          <p:cNvSpPr txBox="1"/>
          <p:nvPr/>
        </p:nvSpPr>
        <p:spPr>
          <a:xfrm>
            <a:off x="635508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Resubmission required</a:t>
            </a:r>
            <a:endParaRPr lang="en-US" sz="850" dirty="0"/>
          </a:p>
        </p:txBody>
      </p:sp>
      <p:sp>
        <p:nvSpPr>
          <p:cNvPr id="81" name="Text 76"/>
          <p:cNvSpPr txBox="1"/>
          <p:nvPr/>
        </p:nvSpPr>
        <p:spPr>
          <a:xfrm>
            <a:off x="779068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5303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+2</a:t>
            </a:r>
            <a:endParaRPr lang="en-US" sz="850" dirty="0"/>
          </a:p>
        </p:txBody>
      </p:sp>
      <p:sp>
        <p:nvSpPr>
          <p:cNvPr id="82" name="Shape 77"/>
          <p:cNvSpPr/>
          <p:nvPr/>
        </p:nvSpPr>
        <p:spPr>
          <a:xfrm>
            <a:off x="619048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6190488" y="499262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4" name="Text 79"/>
          <p:cNvSpPr txBox="1"/>
          <p:nvPr/>
        </p:nvSpPr>
        <p:spPr>
          <a:xfrm>
            <a:off x="635508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210</a:t>
            </a:r>
            <a:endParaRPr lang="en-US" sz="2400" dirty="0"/>
          </a:p>
        </p:txBody>
      </p:sp>
      <p:sp>
        <p:nvSpPr>
          <p:cNvPr id="85" name="Text 80"/>
          <p:cNvSpPr txBox="1"/>
          <p:nvPr/>
        </p:nvSpPr>
        <p:spPr>
          <a:xfrm>
            <a:off x="635508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KYC applications</a:t>
            </a:r>
            <a:endParaRPr lang="en-US" sz="1050" dirty="0"/>
          </a:p>
        </p:txBody>
      </p:sp>
      <p:sp>
        <p:nvSpPr>
          <p:cNvPr id="86" name="Text 81"/>
          <p:cNvSpPr txBox="1"/>
          <p:nvPr/>
        </p:nvSpPr>
        <p:spPr>
          <a:xfrm>
            <a:off x="635508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Onboarded + incomplete + rejected</a:t>
            </a:r>
            <a:endParaRPr lang="en-US" sz="850" dirty="0"/>
          </a:p>
        </p:txBody>
      </p:sp>
      <p:sp>
        <p:nvSpPr>
          <p:cNvPr id="87" name="Shape 82"/>
          <p:cNvSpPr/>
          <p:nvPr/>
        </p:nvSpPr>
        <p:spPr>
          <a:xfrm>
            <a:off x="9002268" y="1408176"/>
            <a:ext cx="45720" cy="155448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88" name="Text 83"/>
          <p:cNvSpPr txBox="1"/>
          <p:nvPr/>
        </p:nvSpPr>
        <p:spPr>
          <a:xfrm>
            <a:off x="911199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SUPPORT TICKETS</a:t>
            </a:r>
            <a:endParaRPr lang="en-US" sz="900" dirty="0"/>
          </a:p>
        </p:txBody>
      </p:sp>
      <p:sp>
        <p:nvSpPr>
          <p:cNvPr id="89" name="Shape 84"/>
          <p:cNvSpPr/>
          <p:nvPr/>
        </p:nvSpPr>
        <p:spPr>
          <a:xfrm>
            <a:off x="900226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9002268" y="170078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1" name="Text 86"/>
          <p:cNvSpPr txBox="1"/>
          <p:nvPr/>
        </p:nvSpPr>
        <p:spPr>
          <a:xfrm>
            <a:off x="916686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25</a:t>
            </a:r>
            <a:endParaRPr lang="en-US" sz="2400" dirty="0"/>
          </a:p>
        </p:txBody>
      </p:sp>
      <p:sp>
        <p:nvSpPr>
          <p:cNvPr id="92" name="Text 87"/>
          <p:cNvSpPr txBox="1"/>
          <p:nvPr/>
        </p:nvSpPr>
        <p:spPr>
          <a:xfrm>
            <a:off x="916686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created</a:t>
            </a:r>
            <a:endParaRPr lang="en-US" sz="1050" dirty="0"/>
          </a:p>
        </p:txBody>
      </p:sp>
      <p:sp>
        <p:nvSpPr>
          <p:cNvPr id="93" name="Text 88"/>
          <p:cNvSpPr txBox="1"/>
          <p:nvPr/>
        </p:nvSpPr>
        <p:spPr>
          <a:xfrm>
            <a:off x="916686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94" name="Text 89"/>
          <p:cNvSpPr txBox="1"/>
          <p:nvPr/>
        </p:nvSpPr>
        <p:spPr>
          <a:xfrm>
            <a:off x="1060246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95" name="Shape 90"/>
          <p:cNvSpPr/>
          <p:nvPr/>
        </p:nvSpPr>
        <p:spPr>
          <a:xfrm>
            <a:off x="900226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9002268" y="279806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7" name="Text 92"/>
          <p:cNvSpPr txBox="1"/>
          <p:nvPr/>
        </p:nvSpPr>
        <p:spPr>
          <a:xfrm>
            <a:off x="916686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</a:t>
            </a:r>
            <a:endParaRPr lang="en-US" sz="2400" dirty="0"/>
          </a:p>
        </p:txBody>
      </p:sp>
      <p:sp>
        <p:nvSpPr>
          <p:cNvPr id="98" name="Text 93"/>
          <p:cNvSpPr txBox="1"/>
          <p:nvPr/>
        </p:nvSpPr>
        <p:spPr>
          <a:xfrm>
            <a:off x="916686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resolved</a:t>
            </a:r>
            <a:endParaRPr lang="en-US" sz="1050" dirty="0"/>
          </a:p>
        </p:txBody>
      </p:sp>
      <p:sp>
        <p:nvSpPr>
          <p:cNvPr id="99" name="Text 94"/>
          <p:cNvSpPr txBox="1"/>
          <p:nvPr/>
        </p:nvSpPr>
        <p:spPr>
          <a:xfrm>
            <a:off x="916686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96% of tickets created</a:t>
            </a:r>
            <a:endParaRPr lang="en-US" sz="850" dirty="0"/>
          </a:p>
        </p:txBody>
      </p:sp>
      <p:sp>
        <p:nvSpPr>
          <p:cNvPr id="100" name="Text 95"/>
          <p:cNvSpPr txBox="1"/>
          <p:nvPr/>
        </p:nvSpPr>
        <p:spPr>
          <a:xfrm>
            <a:off x="1060246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1" name="Shape 96"/>
          <p:cNvSpPr/>
          <p:nvPr/>
        </p:nvSpPr>
        <p:spPr>
          <a:xfrm>
            <a:off x="900226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9002268" y="389534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3" name="Text 98"/>
          <p:cNvSpPr txBox="1"/>
          <p:nvPr/>
        </p:nvSpPr>
        <p:spPr>
          <a:xfrm>
            <a:off x="916686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</a:t>
            </a:r>
            <a:endParaRPr lang="en-US" sz="2400" dirty="0"/>
          </a:p>
        </p:txBody>
      </p:sp>
      <p:sp>
        <p:nvSpPr>
          <p:cNvPr id="104" name="Text 99"/>
          <p:cNvSpPr txBox="1"/>
          <p:nvPr/>
        </p:nvSpPr>
        <p:spPr>
          <a:xfrm>
            <a:off x="916686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Email queries</a:t>
            </a:r>
            <a:endParaRPr lang="en-US" sz="1050" dirty="0"/>
          </a:p>
        </p:txBody>
      </p:sp>
      <p:sp>
        <p:nvSpPr>
          <p:cNvPr id="105" name="Text 100"/>
          <p:cNvSpPr txBox="1"/>
          <p:nvPr/>
        </p:nvSpPr>
        <p:spPr>
          <a:xfrm>
            <a:off x="916686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06" name="Text 101"/>
          <p:cNvSpPr txBox="1"/>
          <p:nvPr/>
        </p:nvSpPr>
        <p:spPr>
          <a:xfrm>
            <a:off x="1060246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7" name="Shape 102"/>
          <p:cNvSpPr/>
          <p:nvPr/>
        </p:nvSpPr>
        <p:spPr>
          <a:xfrm>
            <a:off x="900226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9002268" y="499262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9" name="Text 104"/>
          <p:cNvSpPr txBox="1"/>
          <p:nvPr/>
        </p:nvSpPr>
        <p:spPr>
          <a:xfrm>
            <a:off x="916686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21</a:t>
            </a:r>
            <a:endParaRPr lang="en-US" sz="2400" dirty="0"/>
          </a:p>
        </p:txBody>
      </p:sp>
      <p:sp>
        <p:nvSpPr>
          <p:cNvPr id="110" name="Text 105"/>
          <p:cNvSpPr txBox="1"/>
          <p:nvPr/>
        </p:nvSpPr>
        <p:spPr>
          <a:xfrm>
            <a:off x="916686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AI support queries</a:t>
            </a:r>
            <a:endParaRPr lang="en-US" sz="1050" dirty="0"/>
          </a:p>
        </p:txBody>
      </p:sp>
      <p:sp>
        <p:nvSpPr>
          <p:cNvPr id="111" name="Text 106"/>
          <p:cNvSpPr txBox="1"/>
          <p:nvPr/>
        </p:nvSpPr>
        <p:spPr>
          <a:xfrm>
            <a:off x="916686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12" name="Text 107"/>
          <p:cNvSpPr txBox="1"/>
          <p:nvPr/>
        </p:nvSpPr>
        <p:spPr>
          <a:xfrm>
            <a:off x="1060246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atemIsa_202508993_IT9002_NLP_Project/emyaa-ceo-deck/working/charts/board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188720"/>
            <a:ext cx="12191695" cy="24689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66928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F3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PLATFORM ANALYTICS  |  PERFORMANCE DASHBOARD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57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 date: 27 Aug 2026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868680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6CFE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Reporting period: All Time   |   Change on each card is against the previous report, 26 Aug 2026</a:t>
            </a:r>
            <a:endParaRPr lang="en-US" sz="1000" dirty="0"/>
          </a:p>
        </p:txBody>
      </p:sp>
      <p:pic>
        <p:nvPicPr>
          <p:cNvPr id="7" name="Image 1" descr="/home/user/HatemIsa_202508993_IT9002_NLP_Project/emyaa-ceo-deck/working/charts/ajy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02336"/>
            <a:ext cx="13258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" y="6272784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Source: eMYAA Daily Performance Dashboard, eMYAA_-_Daily_Performance_Dashboard-1.pdf, page 21. This report labels the money card 'Total Deposits'; later reports label the same measure 'Total AUM'.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eMYAA Trading Platform  |  Daily Performance Dashboard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9802368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</a:t>
            </a:r>
            <a:endParaRPr lang="en-US" sz="800" dirty="0"/>
          </a:p>
        </p:txBody>
      </p:sp>
      <p:pic>
        <p:nvPicPr>
          <p:cNvPr id="11" name="Image 2" descr="/home/user/HatemIsa_202508993_IT9002_NLP_Project/emyaa-ceo-deck/working/charts/emyaa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6336792"/>
            <a:ext cx="1024128" cy="3657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66928" y="1408176"/>
            <a:ext cx="45720" cy="155448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665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DOWNLOADS &amp; RATINGS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6692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66928" y="170078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152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190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downloads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 Store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216712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6692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66928" y="279806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3152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162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73152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downloads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73152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Apple App Store</a:t>
            </a:r>
            <a:endParaRPr lang="en-US" sz="850" dirty="0"/>
          </a:p>
        </p:txBody>
      </p:sp>
      <p:sp>
        <p:nvSpPr>
          <p:cNvPr id="25" name="Text 20"/>
          <p:cNvSpPr txBox="1"/>
          <p:nvPr/>
        </p:nvSpPr>
        <p:spPr>
          <a:xfrm>
            <a:off x="216712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+2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6692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66928" y="389534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3152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29" name="Text 24"/>
          <p:cNvSpPr txBox="1"/>
          <p:nvPr/>
        </p:nvSpPr>
        <p:spPr>
          <a:xfrm>
            <a:off x="73152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app rating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73152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Play, 2 reviews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56692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66928" y="499262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3152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34" name="Text 29"/>
          <p:cNvSpPr txBox="1"/>
          <p:nvPr/>
        </p:nvSpPr>
        <p:spPr>
          <a:xfrm>
            <a:off x="73152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app rating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73152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 Store, 2 reviews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3378708" y="1408176"/>
            <a:ext cx="45720" cy="155448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48843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 ACTIVITY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337870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3378708" y="170078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354330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12</a:t>
            </a:r>
            <a:endParaRPr lang="en-US" sz="2400" dirty="0"/>
          </a:p>
        </p:txBody>
      </p:sp>
      <p:sp>
        <p:nvSpPr>
          <p:cNvPr id="41" name="Text 36"/>
          <p:cNvSpPr txBox="1"/>
          <p:nvPr/>
        </p:nvSpPr>
        <p:spPr>
          <a:xfrm>
            <a:off x="354330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deposited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354330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Funded accounts</a:t>
            </a:r>
            <a:endParaRPr lang="en-US" sz="850" dirty="0"/>
          </a:p>
        </p:txBody>
      </p:sp>
      <p:sp>
        <p:nvSpPr>
          <p:cNvPr id="43" name="Text 38"/>
          <p:cNvSpPr txBox="1"/>
          <p:nvPr/>
        </p:nvSpPr>
        <p:spPr>
          <a:xfrm>
            <a:off x="497890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+2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337870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3378708" y="279806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354330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$8,935.77</a:t>
            </a:r>
            <a:endParaRPr lang="en-US" sz="1900" dirty="0"/>
          </a:p>
        </p:txBody>
      </p:sp>
      <p:sp>
        <p:nvSpPr>
          <p:cNvPr id="47" name="Text 42"/>
          <p:cNvSpPr txBox="1"/>
          <p:nvPr/>
        </p:nvSpPr>
        <p:spPr>
          <a:xfrm>
            <a:off x="354330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deposits</a:t>
            </a:r>
            <a:endParaRPr lang="en-US" sz="1050" dirty="0"/>
          </a:p>
        </p:txBody>
      </p:sp>
      <p:sp>
        <p:nvSpPr>
          <p:cNvPr id="48" name="Text 43"/>
          <p:cNvSpPr txBox="1"/>
          <p:nvPr/>
        </p:nvSpPr>
        <p:spPr>
          <a:xfrm>
            <a:off x="354330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Cumulative platform deposits</a:t>
            </a:r>
            <a:endParaRPr lang="en-US" sz="850" dirty="0"/>
          </a:p>
        </p:txBody>
      </p:sp>
      <p:sp>
        <p:nvSpPr>
          <p:cNvPr id="49" name="Text 44"/>
          <p:cNvSpPr txBox="1"/>
          <p:nvPr/>
        </p:nvSpPr>
        <p:spPr>
          <a:xfrm>
            <a:off x="497890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+$349.24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337870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3378708" y="389534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354330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12</a:t>
            </a:r>
            <a:endParaRPr lang="en-US" sz="2400" dirty="0"/>
          </a:p>
        </p:txBody>
      </p:sp>
      <p:sp>
        <p:nvSpPr>
          <p:cNvPr id="53" name="Text 48"/>
          <p:cNvSpPr txBox="1"/>
          <p:nvPr/>
        </p:nvSpPr>
        <p:spPr>
          <a:xfrm>
            <a:off x="354330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traded</a:t>
            </a:r>
            <a:endParaRPr lang="en-US" sz="1050" dirty="0"/>
          </a:p>
        </p:txBody>
      </p:sp>
      <p:sp>
        <p:nvSpPr>
          <p:cNvPr id="54" name="Text 49"/>
          <p:cNvSpPr txBox="1"/>
          <p:nvPr/>
        </p:nvSpPr>
        <p:spPr>
          <a:xfrm>
            <a:off x="354330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Placed at least 1 trade</a:t>
            </a:r>
            <a:endParaRPr lang="en-US" sz="850" dirty="0"/>
          </a:p>
        </p:txBody>
      </p:sp>
      <p:sp>
        <p:nvSpPr>
          <p:cNvPr id="55" name="Text 50"/>
          <p:cNvSpPr txBox="1"/>
          <p:nvPr/>
        </p:nvSpPr>
        <p:spPr>
          <a:xfrm>
            <a:off x="497890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56" name="Shape 51"/>
          <p:cNvSpPr/>
          <p:nvPr/>
        </p:nvSpPr>
        <p:spPr>
          <a:xfrm>
            <a:off x="337870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3378708" y="499262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354330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40</a:t>
            </a:r>
            <a:endParaRPr lang="en-US" sz="2400" dirty="0"/>
          </a:p>
        </p:txBody>
      </p:sp>
      <p:sp>
        <p:nvSpPr>
          <p:cNvPr id="59" name="Text 54"/>
          <p:cNvSpPr txBox="1"/>
          <p:nvPr/>
        </p:nvSpPr>
        <p:spPr>
          <a:xfrm>
            <a:off x="354330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trades</a:t>
            </a:r>
            <a:endParaRPr lang="en-US" sz="1050" dirty="0"/>
          </a:p>
        </p:txBody>
      </p:sp>
      <p:sp>
        <p:nvSpPr>
          <p:cNvPr id="60" name="Text 55"/>
          <p:cNvSpPr txBox="1"/>
          <p:nvPr/>
        </p:nvSpPr>
        <p:spPr>
          <a:xfrm>
            <a:off x="354330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Executed across all users</a:t>
            </a:r>
            <a:endParaRPr lang="en-US" sz="850" dirty="0"/>
          </a:p>
        </p:txBody>
      </p:sp>
      <p:sp>
        <p:nvSpPr>
          <p:cNvPr id="61" name="Text 56"/>
          <p:cNvSpPr txBox="1"/>
          <p:nvPr/>
        </p:nvSpPr>
        <p:spPr>
          <a:xfrm>
            <a:off x="497890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62" name="Shape 57"/>
          <p:cNvSpPr/>
          <p:nvPr/>
        </p:nvSpPr>
        <p:spPr>
          <a:xfrm>
            <a:off x="6190488" y="1408176"/>
            <a:ext cx="45720" cy="1554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630021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KYC STATUS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619048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6190488" y="170078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635508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41</a:t>
            </a:r>
            <a:endParaRPr lang="en-US" sz="2400" dirty="0"/>
          </a:p>
        </p:txBody>
      </p:sp>
      <p:sp>
        <p:nvSpPr>
          <p:cNvPr id="67" name="Text 62"/>
          <p:cNvSpPr txBox="1"/>
          <p:nvPr/>
        </p:nvSpPr>
        <p:spPr>
          <a:xfrm>
            <a:off x="635508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onboarded</a:t>
            </a:r>
            <a:endParaRPr lang="en-US" sz="1050" dirty="0"/>
          </a:p>
        </p:txBody>
      </p:sp>
      <p:sp>
        <p:nvSpPr>
          <p:cNvPr id="68" name="Text 63"/>
          <p:cNvSpPr txBox="1"/>
          <p:nvPr/>
        </p:nvSpPr>
        <p:spPr>
          <a:xfrm>
            <a:off x="635508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Completed signup and verification</a:t>
            </a:r>
            <a:endParaRPr lang="en-US" sz="850" dirty="0"/>
          </a:p>
        </p:txBody>
      </p:sp>
      <p:sp>
        <p:nvSpPr>
          <p:cNvPr id="69" name="Text 64"/>
          <p:cNvSpPr txBox="1"/>
          <p:nvPr/>
        </p:nvSpPr>
        <p:spPr>
          <a:xfrm>
            <a:off x="779068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70" name="Shape 65"/>
          <p:cNvSpPr/>
          <p:nvPr/>
        </p:nvSpPr>
        <p:spPr>
          <a:xfrm>
            <a:off x="619048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6190488" y="279806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2" name="Text 67"/>
          <p:cNvSpPr txBox="1"/>
          <p:nvPr/>
        </p:nvSpPr>
        <p:spPr>
          <a:xfrm>
            <a:off x="635508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149</a:t>
            </a:r>
            <a:endParaRPr lang="en-US" sz="2400" dirty="0"/>
          </a:p>
        </p:txBody>
      </p:sp>
      <p:sp>
        <p:nvSpPr>
          <p:cNvPr id="73" name="Text 68"/>
          <p:cNvSpPr txBox="1"/>
          <p:nvPr/>
        </p:nvSpPr>
        <p:spPr>
          <a:xfrm>
            <a:off x="635508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Incomplete KYC</a:t>
            </a:r>
            <a:endParaRPr lang="en-US" sz="1050" dirty="0"/>
          </a:p>
        </p:txBody>
      </p:sp>
      <p:sp>
        <p:nvSpPr>
          <p:cNvPr id="74" name="Text 69"/>
          <p:cNvSpPr txBox="1"/>
          <p:nvPr/>
        </p:nvSpPr>
        <p:spPr>
          <a:xfrm>
            <a:off x="635508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Started KYC but did not proceed</a:t>
            </a:r>
            <a:endParaRPr lang="en-US" sz="850" dirty="0"/>
          </a:p>
        </p:txBody>
      </p:sp>
      <p:sp>
        <p:nvSpPr>
          <p:cNvPr id="75" name="Text 70"/>
          <p:cNvSpPr txBox="1"/>
          <p:nvPr/>
        </p:nvSpPr>
        <p:spPr>
          <a:xfrm>
            <a:off x="779068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5303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76" name="Shape 71"/>
          <p:cNvSpPr/>
          <p:nvPr/>
        </p:nvSpPr>
        <p:spPr>
          <a:xfrm>
            <a:off x="619048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6190488" y="389534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8" name="Text 73"/>
          <p:cNvSpPr txBox="1"/>
          <p:nvPr/>
        </p:nvSpPr>
        <p:spPr>
          <a:xfrm>
            <a:off x="635508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7</a:t>
            </a:r>
            <a:endParaRPr lang="en-US" sz="2400" dirty="0"/>
          </a:p>
        </p:txBody>
      </p:sp>
      <p:sp>
        <p:nvSpPr>
          <p:cNvPr id="79" name="Text 74"/>
          <p:cNvSpPr txBox="1"/>
          <p:nvPr/>
        </p:nvSpPr>
        <p:spPr>
          <a:xfrm>
            <a:off x="635508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Rejected KYC</a:t>
            </a:r>
            <a:endParaRPr lang="en-US" sz="1050" dirty="0"/>
          </a:p>
        </p:txBody>
      </p:sp>
      <p:sp>
        <p:nvSpPr>
          <p:cNvPr id="80" name="Text 75"/>
          <p:cNvSpPr txBox="1"/>
          <p:nvPr/>
        </p:nvSpPr>
        <p:spPr>
          <a:xfrm>
            <a:off x="635508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Resubmission required</a:t>
            </a:r>
            <a:endParaRPr lang="en-US" sz="850" dirty="0"/>
          </a:p>
        </p:txBody>
      </p:sp>
      <p:sp>
        <p:nvSpPr>
          <p:cNvPr id="81" name="Text 76"/>
          <p:cNvSpPr txBox="1"/>
          <p:nvPr/>
        </p:nvSpPr>
        <p:spPr>
          <a:xfrm>
            <a:off x="779068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82" name="Shape 77"/>
          <p:cNvSpPr/>
          <p:nvPr/>
        </p:nvSpPr>
        <p:spPr>
          <a:xfrm>
            <a:off x="619048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6190488" y="499262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4" name="Text 79"/>
          <p:cNvSpPr txBox="1"/>
          <p:nvPr/>
        </p:nvSpPr>
        <p:spPr>
          <a:xfrm>
            <a:off x="635508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197</a:t>
            </a:r>
            <a:endParaRPr lang="en-US" sz="2400" dirty="0"/>
          </a:p>
        </p:txBody>
      </p:sp>
      <p:sp>
        <p:nvSpPr>
          <p:cNvPr id="85" name="Text 80"/>
          <p:cNvSpPr txBox="1"/>
          <p:nvPr/>
        </p:nvSpPr>
        <p:spPr>
          <a:xfrm>
            <a:off x="635508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KYC applications</a:t>
            </a:r>
            <a:endParaRPr lang="en-US" sz="1050" dirty="0"/>
          </a:p>
        </p:txBody>
      </p:sp>
      <p:sp>
        <p:nvSpPr>
          <p:cNvPr id="86" name="Text 81"/>
          <p:cNvSpPr txBox="1"/>
          <p:nvPr/>
        </p:nvSpPr>
        <p:spPr>
          <a:xfrm>
            <a:off x="635508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Onboarded + incomplete + rejected</a:t>
            </a:r>
            <a:endParaRPr lang="en-US" sz="850" dirty="0"/>
          </a:p>
        </p:txBody>
      </p:sp>
      <p:sp>
        <p:nvSpPr>
          <p:cNvPr id="87" name="Shape 82"/>
          <p:cNvSpPr/>
          <p:nvPr/>
        </p:nvSpPr>
        <p:spPr>
          <a:xfrm>
            <a:off x="9002268" y="1408176"/>
            <a:ext cx="45720" cy="155448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88" name="Text 83"/>
          <p:cNvSpPr txBox="1"/>
          <p:nvPr/>
        </p:nvSpPr>
        <p:spPr>
          <a:xfrm>
            <a:off x="911199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SUPPORT TICKETS</a:t>
            </a:r>
            <a:endParaRPr lang="en-US" sz="900" dirty="0"/>
          </a:p>
        </p:txBody>
      </p:sp>
      <p:sp>
        <p:nvSpPr>
          <p:cNvPr id="89" name="Shape 84"/>
          <p:cNvSpPr/>
          <p:nvPr/>
        </p:nvSpPr>
        <p:spPr>
          <a:xfrm>
            <a:off x="900226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9002268" y="170078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1" name="Text 86"/>
          <p:cNvSpPr txBox="1"/>
          <p:nvPr/>
        </p:nvSpPr>
        <p:spPr>
          <a:xfrm>
            <a:off x="916686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25</a:t>
            </a:r>
            <a:endParaRPr lang="en-US" sz="2400" dirty="0"/>
          </a:p>
        </p:txBody>
      </p:sp>
      <p:sp>
        <p:nvSpPr>
          <p:cNvPr id="92" name="Text 87"/>
          <p:cNvSpPr txBox="1"/>
          <p:nvPr/>
        </p:nvSpPr>
        <p:spPr>
          <a:xfrm>
            <a:off x="916686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created</a:t>
            </a:r>
            <a:endParaRPr lang="en-US" sz="1050" dirty="0"/>
          </a:p>
        </p:txBody>
      </p:sp>
      <p:sp>
        <p:nvSpPr>
          <p:cNvPr id="93" name="Text 88"/>
          <p:cNvSpPr txBox="1"/>
          <p:nvPr/>
        </p:nvSpPr>
        <p:spPr>
          <a:xfrm>
            <a:off x="916686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94" name="Text 89"/>
          <p:cNvSpPr txBox="1"/>
          <p:nvPr/>
        </p:nvSpPr>
        <p:spPr>
          <a:xfrm>
            <a:off x="1060246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95" name="Shape 90"/>
          <p:cNvSpPr/>
          <p:nvPr/>
        </p:nvSpPr>
        <p:spPr>
          <a:xfrm>
            <a:off x="900226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9002268" y="279806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7" name="Text 92"/>
          <p:cNvSpPr txBox="1"/>
          <p:nvPr/>
        </p:nvSpPr>
        <p:spPr>
          <a:xfrm>
            <a:off x="916686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</a:t>
            </a:r>
            <a:endParaRPr lang="en-US" sz="2400" dirty="0"/>
          </a:p>
        </p:txBody>
      </p:sp>
      <p:sp>
        <p:nvSpPr>
          <p:cNvPr id="98" name="Text 93"/>
          <p:cNvSpPr txBox="1"/>
          <p:nvPr/>
        </p:nvSpPr>
        <p:spPr>
          <a:xfrm>
            <a:off x="916686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resolved</a:t>
            </a:r>
            <a:endParaRPr lang="en-US" sz="1050" dirty="0"/>
          </a:p>
        </p:txBody>
      </p:sp>
      <p:sp>
        <p:nvSpPr>
          <p:cNvPr id="99" name="Text 94"/>
          <p:cNvSpPr txBox="1"/>
          <p:nvPr/>
        </p:nvSpPr>
        <p:spPr>
          <a:xfrm>
            <a:off x="916686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96% of tickets created</a:t>
            </a:r>
            <a:endParaRPr lang="en-US" sz="850" dirty="0"/>
          </a:p>
        </p:txBody>
      </p:sp>
      <p:sp>
        <p:nvSpPr>
          <p:cNvPr id="100" name="Text 95"/>
          <p:cNvSpPr txBox="1"/>
          <p:nvPr/>
        </p:nvSpPr>
        <p:spPr>
          <a:xfrm>
            <a:off x="1060246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1" name="Shape 96"/>
          <p:cNvSpPr/>
          <p:nvPr/>
        </p:nvSpPr>
        <p:spPr>
          <a:xfrm>
            <a:off x="900226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9002268" y="389534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3" name="Text 98"/>
          <p:cNvSpPr txBox="1"/>
          <p:nvPr/>
        </p:nvSpPr>
        <p:spPr>
          <a:xfrm>
            <a:off x="916686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</a:t>
            </a:r>
            <a:endParaRPr lang="en-US" sz="2400" dirty="0"/>
          </a:p>
        </p:txBody>
      </p:sp>
      <p:sp>
        <p:nvSpPr>
          <p:cNvPr id="104" name="Text 99"/>
          <p:cNvSpPr txBox="1"/>
          <p:nvPr/>
        </p:nvSpPr>
        <p:spPr>
          <a:xfrm>
            <a:off x="916686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Email queries</a:t>
            </a:r>
            <a:endParaRPr lang="en-US" sz="1050" dirty="0"/>
          </a:p>
        </p:txBody>
      </p:sp>
      <p:sp>
        <p:nvSpPr>
          <p:cNvPr id="105" name="Text 100"/>
          <p:cNvSpPr txBox="1"/>
          <p:nvPr/>
        </p:nvSpPr>
        <p:spPr>
          <a:xfrm>
            <a:off x="916686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06" name="Text 101"/>
          <p:cNvSpPr txBox="1"/>
          <p:nvPr/>
        </p:nvSpPr>
        <p:spPr>
          <a:xfrm>
            <a:off x="1060246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7" name="Shape 102"/>
          <p:cNvSpPr/>
          <p:nvPr/>
        </p:nvSpPr>
        <p:spPr>
          <a:xfrm>
            <a:off x="900226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9002268" y="499262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9" name="Text 104"/>
          <p:cNvSpPr txBox="1"/>
          <p:nvPr/>
        </p:nvSpPr>
        <p:spPr>
          <a:xfrm>
            <a:off x="916686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21</a:t>
            </a:r>
            <a:endParaRPr lang="en-US" sz="2400" dirty="0"/>
          </a:p>
        </p:txBody>
      </p:sp>
      <p:sp>
        <p:nvSpPr>
          <p:cNvPr id="110" name="Text 105"/>
          <p:cNvSpPr txBox="1"/>
          <p:nvPr/>
        </p:nvSpPr>
        <p:spPr>
          <a:xfrm>
            <a:off x="916686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AI support queries</a:t>
            </a:r>
            <a:endParaRPr lang="en-US" sz="1050" dirty="0"/>
          </a:p>
        </p:txBody>
      </p:sp>
      <p:sp>
        <p:nvSpPr>
          <p:cNvPr id="111" name="Text 106"/>
          <p:cNvSpPr txBox="1"/>
          <p:nvPr/>
        </p:nvSpPr>
        <p:spPr>
          <a:xfrm>
            <a:off x="916686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12" name="Text 107"/>
          <p:cNvSpPr txBox="1"/>
          <p:nvPr/>
        </p:nvSpPr>
        <p:spPr>
          <a:xfrm>
            <a:off x="1060246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atemIsa_202508993_IT9002_NLP_Project/emyaa-ceo-deck/working/charts/board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188720"/>
            <a:ext cx="12191695" cy="24689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66928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F3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PLATFORM ANALYTICS  |  PERFORMANCE DASHBOARD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57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 date: 26 Aug 2026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868680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6CFE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Reporting period: All Time   |   Change on each card is against the previous report, 24 Aug 2026</a:t>
            </a:r>
            <a:endParaRPr lang="en-US" sz="1000" dirty="0"/>
          </a:p>
        </p:txBody>
      </p:sp>
      <p:pic>
        <p:nvPicPr>
          <p:cNvPr id="7" name="Image 1" descr="/home/user/HatemIsa_202508993_IT9002_NLP_Project/emyaa-ceo-deck/working/charts/ajy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02336"/>
            <a:ext cx="13258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" y="6272784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Source: eMYAA Daily Performance Dashboard, eMYAA_-_Daily_Performance_Dashboard-1.pdf, page 22. This report labels the money card 'Total Deposits'; later reports label the same measure 'Total AUM'.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eMYAA Trading Platform  |  Daily Performance Dashboard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9802368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25</a:t>
            </a:r>
            <a:endParaRPr lang="en-US" sz="800" dirty="0"/>
          </a:p>
        </p:txBody>
      </p:sp>
      <p:pic>
        <p:nvPicPr>
          <p:cNvPr id="11" name="Image 2" descr="/home/user/HatemIsa_202508993_IT9002_NLP_Project/emyaa-ceo-deck/working/charts/emyaa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6336792"/>
            <a:ext cx="1024128" cy="3657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66928" y="1408176"/>
            <a:ext cx="45720" cy="155448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665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DOWNLOADS &amp; RATINGS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6692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66928" y="170078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152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190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downloads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 Store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216712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6692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66928" y="279806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3152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160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73152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downloads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73152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Apple App Store</a:t>
            </a:r>
            <a:endParaRPr lang="en-US" sz="850" dirty="0"/>
          </a:p>
        </p:txBody>
      </p:sp>
      <p:sp>
        <p:nvSpPr>
          <p:cNvPr id="25" name="Text 20"/>
          <p:cNvSpPr txBox="1"/>
          <p:nvPr/>
        </p:nvSpPr>
        <p:spPr>
          <a:xfrm>
            <a:off x="216712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+2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6692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66928" y="389534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3152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29" name="Text 24"/>
          <p:cNvSpPr txBox="1"/>
          <p:nvPr/>
        </p:nvSpPr>
        <p:spPr>
          <a:xfrm>
            <a:off x="73152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app rating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73152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Play, 2 reviews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56692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66928" y="499262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3152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34" name="Text 29"/>
          <p:cNvSpPr txBox="1"/>
          <p:nvPr/>
        </p:nvSpPr>
        <p:spPr>
          <a:xfrm>
            <a:off x="73152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app rating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73152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 Store, 2 reviews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3378708" y="1408176"/>
            <a:ext cx="45720" cy="155448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48843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 ACTIVITY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337870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3378708" y="170078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354330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</a:t>
            </a:r>
            <a:endParaRPr lang="en-US" sz="2400" dirty="0"/>
          </a:p>
        </p:txBody>
      </p:sp>
      <p:sp>
        <p:nvSpPr>
          <p:cNvPr id="41" name="Text 36"/>
          <p:cNvSpPr txBox="1"/>
          <p:nvPr/>
        </p:nvSpPr>
        <p:spPr>
          <a:xfrm>
            <a:off x="354330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deposited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354330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Funded accounts</a:t>
            </a:r>
            <a:endParaRPr lang="en-US" sz="850" dirty="0"/>
          </a:p>
        </p:txBody>
      </p:sp>
      <p:sp>
        <p:nvSpPr>
          <p:cNvPr id="43" name="Text 38"/>
          <p:cNvSpPr txBox="1"/>
          <p:nvPr/>
        </p:nvSpPr>
        <p:spPr>
          <a:xfrm>
            <a:off x="497890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337870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3378708" y="279806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354330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$8,586.53</a:t>
            </a:r>
            <a:endParaRPr lang="en-US" sz="1900" dirty="0"/>
          </a:p>
        </p:txBody>
      </p:sp>
      <p:sp>
        <p:nvSpPr>
          <p:cNvPr id="47" name="Text 42"/>
          <p:cNvSpPr txBox="1"/>
          <p:nvPr/>
        </p:nvSpPr>
        <p:spPr>
          <a:xfrm>
            <a:off x="354330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deposits</a:t>
            </a:r>
            <a:endParaRPr lang="en-US" sz="1050" dirty="0"/>
          </a:p>
        </p:txBody>
      </p:sp>
      <p:sp>
        <p:nvSpPr>
          <p:cNvPr id="48" name="Text 43"/>
          <p:cNvSpPr txBox="1"/>
          <p:nvPr/>
        </p:nvSpPr>
        <p:spPr>
          <a:xfrm>
            <a:off x="354330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Cumulative platform deposits</a:t>
            </a:r>
            <a:endParaRPr lang="en-US" sz="850" dirty="0"/>
          </a:p>
        </p:txBody>
      </p:sp>
      <p:sp>
        <p:nvSpPr>
          <p:cNvPr id="49" name="Text 44"/>
          <p:cNvSpPr txBox="1"/>
          <p:nvPr/>
        </p:nvSpPr>
        <p:spPr>
          <a:xfrm>
            <a:off x="497890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337870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3378708" y="389534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354330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11</a:t>
            </a:r>
            <a:endParaRPr lang="en-US" sz="2400" dirty="0"/>
          </a:p>
        </p:txBody>
      </p:sp>
      <p:sp>
        <p:nvSpPr>
          <p:cNvPr id="53" name="Text 48"/>
          <p:cNvSpPr txBox="1"/>
          <p:nvPr/>
        </p:nvSpPr>
        <p:spPr>
          <a:xfrm>
            <a:off x="354330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traded</a:t>
            </a:r>
            <a:endParaRPr lang="en-US" sz="1050" dirty="0"/>
          </a:p>
        </p:txBody>
      </p:sp>
      <p:sp>
        <p:nvSpPr>
          <p:cNvPr id="54" name="Text 49"/>
          <p:cNvSpPr txBox="1"/>
          <p:nvPr/>
        </p:nvSpPr>
        <p:spPr>
          <a:xfrm>
            <a:off x="354330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Placed at least 1 trade</a:t>
            </a:r>
            <a:endParaRPr lang="en-US" sz="850" dirty="0"/>
          </a:p>
        </p:txBody>
      </p:sp>
      <p:sp>
        <p:nvSpPr>
          <p:cNvPr id="55" name="Text 50"/>
          <p:cNvSpPr txBox="1"/>
          <p:nvPr/>
        </p:nvSpPr>
        <p:spPr>
          <a:xfrm>
            <a:off x="497890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56" name="Shape 51"/>
          <p:cNvSpPr/>
          <p:nvPr/>
        </p:nvSpPr>
        <p:spPr>
          <a:xfrm>
            <a:off x="337870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3378708" y="499262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354330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39</a:t>
            </a:r>
            <a:endParaRPr lang="en-US" sz="2400" dirty="0"/>
          </a:p>
        </p:txBody>
      </p:sp>
      <p:sp>
        <p:nvSpPr>
          <p:cNvPr id="59" name="Text 54"/>
          <p:cNvSpPr txBox="1"/>
          <p:nvPr/>
        </p:nvSpPr>
        <p:spPr>
          <a:xfrm>
            <a:off x="354330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trades</a:t>
            </a:r>
            <a:endParaRPr lang="en-US" sz="1050" dirty="0"/>
          </a:p>
        </p:txBody>
      </p:sp>
      <p:sp>
        <p:nvSpPr>
          <p:cNvPr id="60" name="Text 55"/>
          <p:cNvSpPr txBox="1"/>
          <p:nvPr/>
        </p:nvSpPr>
        <p:spPr>
          <a:xfrm>
            <a:off x="354330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Executed across all users</a:t>
            </a:r>
            <a:endParaRPr lang="en-US" sz="850" dirty="0"/>
          </a:p>
        </p:txBody>
      </p:sp>
      <p:sp>
        <p:nvSpPr>
          <p:cNvPr id="61" name="Text 56"/>
          <p:cNvSpPr txBox="1"/>
          <p:nvPr/>
        </p:nvSpPr>
        <p:spPr>
          <a:xfrm>
            <a:off x="497890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+2</a:t>
            </a:r>
            <a:endParaRPr lang="en-US" sz="850" dirty="0"/>
          </a:p>
        </p:txBody>
      </p:sp>
      <p:sp>
        <p:nvSpPr>
          <p:cNvPr id="62" name="Shape 57"/>
          <p:cNvSpPr/>
          <p:nvPr/>
        </p:nvSpPr>
        <p:spPr>
          <a:xfrm>
            <a:off x="6190488" y="1408176"/>
            <a:ext cx="45720" cy="1554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630021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KYC STATUS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619048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6190488" y="170078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635508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41</a:t>
            </a:r>
            <a:endParaRPr lang="en-US" sz="2400" dirty="0"/>
          </a:p>
        </p:txBody>
      </p:sp>
      <p:sp>
        <p:nvSpPr>
          <p:cNvPr id="67" name="Text 62"/>
          <p:cNvSpPr txBox="1"/>
          <p:nvPr/>
        </p:nvSpPr>
        <p:spPr>
          <a:xfrm>
            <a:off x="635508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onboarded</a:t>
            </a:r>
            <a:endParaRPr lang="en-US" sz="1050" dirty="0"/>
          </a:p>
        </p:txBody>
      </p:sp>
      <p:sp>
        <p:nvSpPr>
          <p:cNvPr id="68" name="Text 63"/>
          <p:cNvSpPr txBox="1"/>
          <p:nvPr/>
        </p:nvSpPr>
        <p:spPr>
          <a:xfrm>
            <a:off x="635508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Completed signup and verification</a:t>
            </a:r>
            <a:endParaRPr lang="en-US" sz="850" dirty="0"/>
          </a:p>
        </p:txBody>
      </p:sp>
      <p:sp>
        <p:nvSpPr>
          <p:cNvPr id="69" name="Text 64"/>
          <p:cNvSpPr txBox="1"/>
          <p:nvPr/>
        </p:nvSpPr>
        <p:spPr>
          <a:xfrm>
            <a:off x="779068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70" name="Shape 65"/>
          <p:cNvSpPr/>
          <p:nvPr/>
        </p:nvSpPr>
        <p:spPr>
          <a:xfrm>
            <a:off x="619048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6190488" y="279806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2" name="Text 67"/>
          <p:cNvSpPr txBox="1"/>
          <p:nvPr/>
        </p:nvSpPr>
        <p:spPr>
          <a:xfrm>
            <a:off x="635508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148</a:t>
            </a:r>
            <a:endParaRPr lang="en-US" sz="2400" dirty="0"/>
          </a:p>
        </p:txBody>
      </p:sp>
      <p:sp>
        <p:nvSpPr>
          <p:cNvPr id="73" name="Text 68"/>
          <p:cNvSpPr txBox="1"/>
          <p:nvPr/>
        </p:nvSpPr>
        <p:spPr>
          <a:xfrm>
            <a:off x="635508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Incomplete KYC</a:t>
            </a:r>
            <a:endParaRPr lang="en-US" sz="1050" dirty="0"/>
          </a:p>
        </p:txBody>
      </p:sp>
      <p:sp>
        <p:nvSpPr>
          <p:cNvPr id="74" name="Text 69"/>
          <p:cNvSpPr txBox="1"/>
          <p:nvPr/>
        </p:nvSpPr>
        <p:spPr>
          <a:xfrm>
            <a:off x="635508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Started KYC but did not proceed</a:t>
            </a:r>
            <a:endParaRPr lang="en-US" sz="850" dirty="0"/>
          </a:p>
        </p:txBody>
      </p:sp>
      <p:sp>
        <p:nvSpPr>
          <p:cNvPr id="75" name="Text 70"/>
          <p:cNvSpPr txBox="1"/>
          <p:nvPr/>
        </p:nvSpPr>
        <p:spPr>
          <a:xfrm>
            <a:off x="779068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76" name="Shape 71"/>
          <p:cNvSpPr/>
          <p:nvPr/>
        </p:nvSpPr>
        <p:spPr>
          <a:xfrm>
            <a:off x="619048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6190488" y="389534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8" name="Text 73"/>
          <p:cNvSpPr txBox="1"/>
          <p:nvPr/>
        </p:nvSpPr>
        <p:spPr>
          <a:xfrm>
            <a:off x="635508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7</a:t>
            </a:r>
            <a:endParaRPr lang="en-US" sz="2400" dirty="0"/>
          </a:p>
        </p:txBody>
      </p:sp>
      <p:sp>
        <p:nvSpPr>
          <p:cNvPr id="79" name="Text 74"/>
          <p:cNvSpPr txBox="1"/>
          <p:nvPr/>
        </p:nvSpPr>
        <p:spPr>
          <a:xfrm>
            <a:off x="635508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Rejected KYC</a:t>
            </a:r>
            <a:endParaRPr lang="en-US" sz="1050" dirty="0"/>
          </a:p>
        </p:txBody>
      </p:sp>
      <p:sp>
        <p:nvSpPr>
          <p:cNvPr id="80" name="Text 75"/>
          <p:cNvSpPr txBox="1"/>
          <p:nvPr/>
        </p:nvSpPr>
        <p:spPr>
          <a:xfrm>
            <a:off x="635508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Resubmission required</a:t>
            </a:r>
            <a:endParaRPr lang="en-US" sz="850" dirty="0"/>
          </a:p>
        </p:txBody>
      </p:sp>
      <p:sp>
        <p:nvSpPr>
          <p:cNvPr id="81" name="Text 76"/>
          <p:cNvSpPr txBox="1"/>
          <p:nvPr/>
        </p:nvSpPr>
        <p:spPr>
          <a:xfrm>
            <a:off x="779068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82" name="Shape 77"/>
          <p:cNvSpPr/>
          <p:nvPr/>
        </p:nvSpPr>
        <p:spPr>
          <a:xfrm>
            <a:off x="619048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6190488" y="499262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4" name="Text 79"/>
          <p:cNvSpPr txBox="1"/>
          <p:nvPr/>
        </p:nvSpPr>
        <p:spPr>
          <a:xfrm>
            <a:off x="635508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196</a:t>
            </a:r>
            <a:endParaRPr lang="en-US" sz="2400" dirty="0"/>
          </a:p>
        </p:txBody>
      </p:sp>
      <p:sp>
        <p:nvSpPr>
          <p:cNvPr id="85" name="Text 80"/>
          <p:cNvSpPr txBox="1"/>
          <p:nvPr/>
        </p:nvSpPr>
        <p:spPr>
          <a:xfrm>
            <a:off x="635508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KYC applications</a:t>
            </a:r>
            <a:endParaRPr lang="en-US" sz="1050" dirty="0"/>
          </a:p>
        </p:txBody>
      </p:sp>
      <p:sp>
        <p:nvSpPr>
          <p:cNvPr id="86" name="Text 81"/>
          <p:cNvSpPr txBox="1"/>
          <p:nvPr/>
        </p:nvSpPr>
        <p:spPr>
          <a:xfrm>
            <a:off x="635508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Onboarded + incomplete + rejected</a:t>
            </a:r>
            <a:endParaRPr lang="en-US" sz="850" dirty="0"/>
          </a:p>
        </p:txBody>
      </p:sp>
      <p:sp>
        <p:nvSpPr>
          <p:cNvPr id="87" name="Shape 82"/>
          <p:cNvSpPr/>
          <p:nvPr/>
        </p:nvSpPr>
        <p:spPr>
          <a:xfrm>
            <a:off x="9002268" y="1408176"/>
            <a:ext cx="45720" cy="155448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88" name="Text 83"/>
          <p:cNvSpPr txBox="1"/>
          <p:nvPr/>
        </p:nvSpPr>
        <p:spPr>
          <a:xfrm>
            <a:off x="911199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SUPPORT TICKETS</a:t>
            </a:r>
            <a:endParaRPr lang="en-US" sz="900" dirty="0"/>
          </a:p>
        </p:txBody>
      </p:sp>
      <p:sp>
        <p:nvSpPr>
          <p:cNvPr id="89" name="Shape 84"/>
          <p:cNvSpPr/>
          <p:nvPr/>
        </p:nvSpPr>
        <p:spPr>
          <a:xfrm>
            <a:off x="900226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9002268" y="170078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1" name="Text 86"/>
          <p:cNvSpPr txBox="1"/>
          <p:nvPr/>
        </p:nvSpPr>
        <p:spPr>
          <a:xfrm>
            <a:off x="916686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25</a:t>
            </a:r>
            <a:endParaRPr lang="en-US" sz="2400" dirty="0"/>
          </a:p>
        </p:txBody>
      </p:sp>
      <p:sp>
        <p:nvSpPr>
          <p:cNvPr id="92" name="Text 87"/>
          <p:cNvSpPr txBox="1"/>
          <p:nvPr/>
        </p:nvSpPr>
        <p:spPr>
          <a:xfrm>
            <a:off x="916686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created</a:t>
            </a:r>
            <a:endParaRPr lang="en-US" sz="1050" dirty="0"/>
          </a:p>
        </p:txBody>
      </p:sp>
      <p:sp>
        <p:nvSpPr>
          <p:cNvPr id="93" name="Text 88"/>
          <p:cNvSpPr txBox="1"/>
          <p:nvPr/>
        </p:nvSpPr>
        <p:spPr>
          <a:xfrm>
            <a:off x="916686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94" name="Text 89"/>
          <p:cNvSpPr txBox="1"/>
          <p:nvPr/>
        </p:nvSpPr>
        <p:spPr>
          <a:xfrm>
            <a:off x="1060246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95" name="Shape 90"/>
          <p:cNvSpPr/>
          <p:nvPr/>
        </p:nvSpPr>
        <p:spPr>
          <a:xfrm>
            <a:off x="900226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9002268" y="279806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7" name="Text 92"/>
          <p:cNvSpPr txBox="1"/>
          <p:nvPr/>
        </p:nvSpPr>
        <p:spPr>
          <a:xfrm>
            <a:off x="916686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</a:t>
            </a:r>
            <a:endParaRPr lang="en-US" sz="2400" dirty="0"/>
          </a:p>
        </p:txBody>
      </p:sp>
      <p:sp>
        <p:nvSpPr>
          <p:cNvPr id="98" name="Text 93"/>
          <p:cNvSpPr txBox="1"/>
          <p:nvPr/>
        </p:nvSpPr>
        <p:spPr>
          <a:xfrm>
            <a:off x="916686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resolved</a:t>
            </a:r>
            <a:endParaRPr lang="en-US" sz="1050" dirty="0"/>
          </a:p>
        </p:txBody>
      </p:sp>
      <p:sp>
        <p:nvSpPr>
          <p:cNvPr id="99" name="Text 94"/>
          <p:cNvSpPr txBox="1"/>
          <p:nvPr/>
        </p:nvSpPr>
        <p:spPr>
          <a:xfrm>
            <a:off x="916686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96% of tickets created</a:t>
            </a:r>
            <a:endParaRPr lang="en-US" sz="850" dirty="0"/>
          </a:p>
        </p:txBody>
      </p:sp>
      <p:sp>
        <p:nvSpPr>
          <p:cNvPr id="100" name="Text 95"/>
          <p:cNvSpPr txBox="1"/>
          <p:nvPr/>
        </p:nvSpPr>
        <p:spPr>
          <a:xfrm>
            <a:off x="1060246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1" name="Shape 96"/>
          <p:cNvSpPr/>
          <p:nvPr/>
        </p:nvSpPr>
        <p:spPr>
          <a:xfrm>
            <a:off x="900226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9002268" y="389534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3" name="Text 98"/>
          <p:cNvSpPr txBox="1"/>
          <p:nvPr/>
        </p:nvSpPr>
        <p:spPr>
          <a:xfrm>
            <a:off x="916686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</a:t>
            </a:r>
            <a:endParaRPr lang="en-US" sz="2400" dirty="0"/>
          </a:p>
        </p:txBody>
      </p:sp>
      <p:sp>
        <p:nvSpPr>
          <p:cNvPr id="104" name="Text 99"/>
          <p:cNvSpPr txBox="1"/>
          <p:nvPr/>
        </p:nvSpPr>
        <p:spPr>
          <a:xfrm>
            <a:off x="916686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Email queries</a:t>
            </a:r>
            <a:endParaRPr lang="en-US" sz="1050" dirty="0"/>
          </a:p>
        </p:txBody>
      </p:sp>
      <p:sp>
        <p:nvSpPr>
          <p:cNvPr id="105" name="Text 100"/>
          <p:cNvSpPr txBox="1"/>
          <p:nvPr/>
        </p:nvSpPr>
        <p:spPr>
          <a:xfrm>
            <a:off x="916686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06" name="Text 101"/>
          <p:cNvSpPr txBox="1"/>
          <p:nvPr/>
        </p:nvSpPr>
        <p:spPr>
          <a:xfrm>
            <a:off x="1060246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7" name="Shape 102"/>
          <p:cNvSpPr/>
          <p:nvPr/>
        </p:nvSpPr>
        <p:spPr>
          <a:xfrm>
            <a:off x="900226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9002268" y="499262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9" name="Text 104"/>
          <p:cNvSpPr txBox="1"/>
          <p:nvPr/>
        </p:nvSpPr>
        <p:spPr>
          <a:xfrm>
            <a:off x="916686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21</a:t>
            </a:r>
            <a:endParaRPr lang="en-US" sz="2400" dirty="0"/>
          </a:p>
        </p:txBody>
      </p:sp>
      <p:sp>
        <p:nvSpPr>
          <p:cNvPr id="110" name="Text 105"/>
          <p:cNvSpPr txBox="1"/>
          <p:nvPr/>
        </p:nvSpPr>
        <p:spPr>
          <a:xfrm>
            <a:off x="916686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AI support queries</a:t>
            </a:r>
            <a:endParaRPr lang="en-US" sz="1050" dirty="0"/>
          </a:p>
        </p:txBody>
      </p:sp>
      <p:sp>
        <p:nvSpPr>
          <p:cNvPr id="111" name="Text 106"/>
          <p:cNvSpPr txBox="1"/>
          <p:nvPr/>
        </p:nvSpPr>
        <p:spPr>
          <a:xfrm>
            <a:off x="916686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12" name="Text 107"/>
          <p:cNvSpPr txBox="1"/>
          <p:nvPr/>
        </p:nvSpPr>
        <p:spPr>
          <a:xfrm>
            <a:off x="1060246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atemIsa_202508993_IT9002_NLP_Project/emyaa-ceo-deck/working/charts/board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188720"/>
            <a:ext cx="12191695" cy="24689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66928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F3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PLATFORM ANALYTICS  |  PERFORMANCE DASHBOARD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57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 date: 24 Aug 2026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868680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6CFE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Reporting period: All Time   |   Change on each card is against the previous report, 23 Aug 2026</a:t>
            </a:r>
            <a:endParaRPr lang="en-US" sz="1000" dirty="0"/>
          </a:p>
        </p:txBody>
      </p:sp>
      <p:pic>
        <p:nvPicPr>
          <p:cNvPr id="7" name="Image 1" descr="/home/user/HatemIsa_202508993_IT9002_NLP_Project/emyaa-ceo-deck/working/charts/ajy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02336"/>
            <a:ext cx="13258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" y="6272784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Source: eMYAA Daily Performance Dashboard, eMYAA_-_Daily_Performance_Dashboard-1.pdf, page 23. This report labels the money card 'Total Deposits'; later reports label the same measure 'Total AUM'.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eMYAA Trading Platform  |  Daily Performance Dashboard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9802368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26</a:t>
            </a:r>
            <a:endParaRPr lang="en-US" sz="800" dirty="0"/>
          </a:p>
        </p:txBody>
      </p:sp>
      <p:pic>
        <p:nvPicPr>
          <p:cNvPr id="11" name="Image 2" descr="/home/user/HatemIsa_202508993_IT9002_NLP_Project/emyaa-ceo-deck/working/charts/emyaa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6336792"/>
            <a:ext cx="1024128" cy="3657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66928" y="1408176"/>
            <a:ext cx="45720" cy="155448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665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DOWNLOADS &amp; RATINGS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6692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66928" y="170078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152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189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downloads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 Store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216712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6692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66928" y="279806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3152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158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73152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downloads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73152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Apple App Store</a:t>
            </a:r>
            <a:endParaRPr lang="en-US" sz="850" dirty="0"/>
          </a:p>
        </p:txBody>
      </p:sp>
      <p:sp>
        <p:nvSpPr>
          <p:cNvPr id="25" name="Text 20"/>
          <p:cNvSpPr txBox="1"/>
          <p:nvPr/>
        </p:nvSpPr>
        <p:spPr>
          <a:xfrm>
            <a:off x="216712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+2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6692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66928" y="389534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3152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29" name="Text 24"/>
          <p:cNvSpPr txBox="1"/>
          <p:nvPr/>
        </p:nvSpPr>
        <p:spPr>
          <a:xfrm>
            <a:off x="73152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app rating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73152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Play, 2 reviews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56692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66928" y="499262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3152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34" name="Text 29"/>
          <p:cNvSpPr txBox="1"/>
          <p:nvPr/>
        </p:nvSpPr>
        <p:spPr>
          <a:xfrm>
            <a:off x="73152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app rating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73152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 Store, 2 reviews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3378708" y="1408176"/>
            <a:ext cx="45720" cy="155448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48843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 ACTIVITY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337870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3378708" y="170078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354330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</a:t>
            </a:r>
            <a:endParaRPr lang="en-US" sz="2400" dirty="0"/>
          </a:p>
        </p:txBody>
      </p:sp>
      <p:sp>
        <p:nvSpPr>
          <p:cNvPr id="41" name="Text 36"/>
          <p:cNvSpPr txBox="1"/>
          <p:nvPr/>
        </p:nvSpPr>
        <p:spPr>
          <a:xfrm>
            <a:off x="354330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deposited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354330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Funded accounts</a:t>
            </a:r>
            <a:endParaRPr lang="en-US" sz="850" dirty="0"/>
          </a:p>
        </p:txBody>
      </p:sp>
      <p:sp>
        <p:nvSpPr>
          <p:cNvPr id="43" name="Text 38"/>
          <p:cNvSpPr txBox="1"/>
          <p:nvPr/>
        </p:nvSpPr>
        <p:spPr>
          <a:xfrm>
            <a:off x="497890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337870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3378708" y="279806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354330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$8,586.53</a:t>
            </a:r>
            <a:endParaRPr lang="en-US" sz="1900" dirty="0"/>
          </a:p>
        </p:txBody>
      </p:sp>
      <p:sp>
        <p:nvSpPr>
          <p:cNvPr id="47" name="Text 42"/>
          <p:cNvSpPr txBox="1"/>
          <p:nvPr/>
        </p:nvSpPr>
        <p:spPr>
          <a:xfrm>
            <a:off x="354330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deposits</a:t>
            </a:r>
            <a:endParaRPr lang="en-US" sz="1050" dirty="0"/>
          </a:p>
        </p:txBody>
      </p:sp>
      <p:sp>
        <p:nvSpPr>
          <p:cNvPr id="48" name="Text 43"/>
          <p:cNvSpPr txBox="1"/>
          <p:nvPr/>
        </p:nvSpPr>
        <p:spPr>
          <a:xfrm>
            <a:off x="354330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Cumulative platform deposits</a:t>
            </a:r>
            <a:endParaRPr lang="en-US" sz="850" dirty="0"/>
          </a:p>
        </p:txBody>
      </p:sp>
      <p:sp>
        <p:nvSpPr>
          <p:cNvPr id="49" name="Text 44"/>
          <p:cNvSpPr txBox="1"/>
          <p:nvPr/>
        </p:nvSpPr>
        <p:spPr>
          <a:xfrm>
            <a:off x="497890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+$264.60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337870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3378708" y="389534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354330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</a:t>
            </a:r>
            <a:endParaRPr lang="en-US" sz="2400" dirty="0"/>
          </a:p>
        </p:txBody>
      </p:sp>
      <p:sp>
        <p:nvSpPr>
          <p:cNvPr id="53" name="Text 48"/>
          <p:cNvSpPr txBox="1"/>
          <p:nvPr/>
        </p:nvSpPr>
        <p:spPr>
          <a:xfrm>
            <a:off x="354330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traded</a:t>
            </a:r>
            <a:endParaRPr lang="en-US" sz="1050" dirty="0"/>
          </a:p>
        </p:txBody>
      </p:sp>
      <p:sp>
        <p:nvSpPr>
          <p:cNvPr id="54" name="Text 49"/>
          <p:cNvSpPr txBox="1"/>
          <p:nvPr/>
        </p:nvSpPr>
        <p:spPr>
          <a:xfrm>
            <a:off x="354330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Placed at least 1 trade</a:t>
            </a:r>
            <a:endParaRPr lang="en-US" sz="850" dirty="0"/>
          </a:p>
        </p:txBody>
      </p:sp>
      <p:sp>
        <p:nvSpPr>
          <p:cNvPr id="55" name="Text 50"/>
          <p:cNvSpPr txBox="1"/>
          <p:nvPr/>
        </p:nvSpPr>
        <p:spPr>
          <a:xfrm>
            <a:off x="497890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6" name="Shape 51"/>
          <p:cNvSpPr/>
          <p:nvPr/>
        </p:nvSpPr>
        <p:spPr>
          <a:xfrm>
            <a:off x="337870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3378708" y="499262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354330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37</a:t>
            </a:r>
            <a:endParaRPr lang="en-US" sz="2400" dirty="0"/>
          </a:p>
        </p:txBody>
      </p:sp>
      <p:sp>
        <p:nvSpPr>
          <p:cNvPr id="59" name="Text 54"/>
          <p:cNvSpPr txBox="1"/>
          <p:nvPr/>
        </p:nvSpPr>
        <p:spPr>
          <a:xfrm>
            <a:off x="354330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trades</a:t>
            </a:r>
            <a:endParaRPr lang="en-US" sz="1050" dirty="0"/>
          </a:p>
        </p:txBody>
      </p:sp>
      <p:sp>
        <p:nvSpPr>
          <p:cNvPr id="60" name="Text 55"/>
          <p:cNvSpPr txBox="1"/>
          <p:nvPr/>
        </p:nvSpPr>
        <p:spPr>
          <a:xfrm>
            <a:off x="354330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Executed across all users</a:t>
            </a:r>
            <a:endParaRPr lang="en-US" sz="850" dirty="0"/>
          </a:p>
        </p:txBody>
      </p:sp>
      <p:sp>
        <p:nvSpPr>
          <p:cNvPr id="61" name="Text 56"/>
          <p:cNvSpPr txBox="1"/>
          <p:nvPr/>
        </p:nvSpPr>
        <p:spPr>
          <a:xfrm>
            <a:off x="497890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62" name="Shape 57"/>
          <p:cNvSpPr/>
          <p:nvPr/>
        </p:nvSpPr>
        <p:spPr>
          <a:xfrm>
            <a:off x="6190488" y="1408176"/>
            <a:ext cx="45720" cy="1554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630021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KYC STATUS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619048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6190488" y="170078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635508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40</a:t>
            </a:r>
            <a:endParaRPr lang="en-US" sz="2400" dirty="0"/>
          </a:p>
        </p:txBody>
      </p:sp>
      <p:sp>
        <p:nvSpPr>
          <p:cNvPr id="67" name="Text 62"/>
          <p:cNvSpPr txBox="1"/>
          <p:nvPr/>
        </p:nvSpPr>
        <p:spPr>
          <a:xfrm>
            <a:off x="635508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onboarded</a:t>
            </a:r>
            <a:endParaRPr lang="en-US" sz="1050" dirty="0"/>
          </a:p>
        </p:txBody>
      </p:sp>
      <p:sp>
        <p:nvSpPr>
          <p:cNvPr id="68" name="Text 63"/>
          <p:cNvSpPr txBox="1"/>
          <p:nvPr/>
        </p:nvSpPr>
        <p:spPr>
          <a:xfrm>
            <a:off x="635508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Completed signup and verification</a:t>
            </a:r>
            <a:endParaRPr lang="en-US" sz="850" dirty="0"/>
          </a:p>
        </p:txBody>
      </p:sp>
      <p:sp>
        <p:nvSpPr>
          <p:cNvPr id="69" name="Text 64"/>
          <p:cNvSpPr txBox="1"/>
          <p:nvPr/>
        </p:nvSpPr>
        <p:spPr>
          <a:xfrm>
            <a:off x="779068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70" name="Shape 65"/>
          <p:cNvSpPr/>
          <p:nvPr/>
        </p:nvSpPr>
        <p:spPr>
          <a:xfrm>
            <a:off x="619048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6190488" y="279806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2" name="Text 67"/>
          <p:cNvSpPr txBox="1"/>
          <p:nvPr/>
        </p:nvSpPr>
        <p:spPr>
          <a:xfrm>
            <a:off x="635508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148</a:t>
            </a:r>
            <a:endParaRPr lang="en-US" sz="2400" dirty="0"/>
          </a:p>
        </p:txBody>
      </p:sp>
      <p:sp>
        <p:nvSpPr>
          <p:cNvPr id="73" name="Text 68"/>
          <p:cNvSpPr txBox="1"/>
          <p:nvPr/>
        </p:nvSpPr>
        <p:spPr>
          <a:xfrm>
            <a:off x="635508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Incomplete KYC</a:t>
            </a:r>
            <a:endParaRPr lang="en-US" sz="1050" dirty="0"/>
          </a:p>
        </p:txBody>
      </p:sp>
      <p:sp>
        <p:nvSpPr>
          <p:cNvPr id="74" name="Text 69"/>
          <p:cNvSpPr txBox="1"/>
          <p:nvPr/>
        </p:nvSpPr>
        <p:spPr>
          <a:xfrm>
            <a:off x="635508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Started KYC but did not proceed</a:t>
            </a:r>
            <a:endParaRPr lang="en-US" sz="850" dirty="0"/>
          </a:p>
        </p:txBody>
      </p:sp>
      <p:sp>
        <p:nvSpPr>
          <p:cNvPr id="75" name="Text 70"/>
          <p:cNvSpPr txBox="1"/>
          <p:nvPr/>
        </p:nvSpPr>
        <p:spPr>
          <a:xfrm>
            <a:off x="779068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76" name="Shape 71"/>
          <p:cNvSpPr/>
          <p:nvPr/>
        </p:nvSpPr>
        <p:spPr>
          <a:xfrm>
            <a:off x="619048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6190488" y="389534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8" name="Text 73"/>
          <p:cNvSpPr txBox="1"/>
          <p:nvPr/>
        </p:nvSpPr>
        <p:spPr>
          <a:xfrm>
            <a:off x="635508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7</a:t>
            </a:r>
            <a:endParaRPr lang="en-US" sz="2400" dirty="0"/>
          </a:p>
        </p:txBody>
      </p:sp>
      <p:sp>
        <p:nvSpPr>
          <p:cNvPr id="79" name="Text 74"/>
          <p:cNvSpPr txBox="1"/>
          <p:nvPr/>
        </p:nvSpPr>
        <p:spPr>
          <a:xfrm>
            <a:off x="635508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Rejected KYC</a:t>
            </a:r>
            <a:endParaRPr lang="en-US" sz="1050" dirty="0"/>
          </a:p>
        </p:txBody>
      </p:sp>
      <p:sp>
        <p:nvSpPr>
          <p:cNvPr id="80" name="Text 75"/>
          <p:cNvSpPr txBox="1"/>
          <p:nvPr/>
        </p:nvSpPr>
        <p:spPr>
          <a:xfrm>
            <a:off x="635508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Resubmission required</a:t>
            </a:r>
            <a:endParaRPr lang="en-US" sz="850" dirty="0"/>
          </a:p>
        </p:txBody>
      </p:sp>
      <p:sp>
        <p:nvSpPr>
          <p:cNvPr id="81" name="Text 76"/>
          <p:cNvSpPr txBox="1"/>
          <p:nvPr/>
        </p:nvSpPr>
        <p:spPr>
          <a:xfrm>
            <a:off x="779068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82" name="Shape 77"/>
          <p:cNvSpPr/>
          <p:nvPr/>
        </p:nvSpPr>
        <p:spPr>
          <a:xfrm>
            <a:off x="619048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6190488" y="499262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4" name="Text 79"/>
          <p:cNvSpPr txBox="1"/>
          <p:nvPr/>
        </p:nvSpPr>
        <p:spPr>
          <a:xfrm>
            <a:off x="635508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195</a:t>
            </a:r>
            <a:endParaRPr lang="en-US" sz="2400" dirty="0"/>
          </a:p>
        </p:txBody>
      </p:sp>
      <p:sp>
        <p:nvSpPr>
          <p:cNvPr id="85" name="Text 80"/>
          <p:cNvSpPr txBox="1"/>
          <p:nvPr/>
        </p:nvSpPr>
        <p:spPr>
          <a:xfrm>
            <a:off x="635508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KYC applications</a:t>
            </a:r>
            <a:endParaRPr lang="en-US" sz="1050" dirty="0"/>
          </a:p>
        </p:txBody>
      </p:sp>
      <p:sp>
        <p:nvSpPr>
          <p:cNvPr id="86" name="Text 81"/>
          <p:cNvSpPr txBox="1"/>
          <p:nvPr/>
        </p:nvSpPr>
        <p:spPr>
          <a:xfrm>
            <a:off x="635508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Onboarded + incomplete + rejected</a:t>
            </a:r>
            <a:endParaRPr lang="en-US" sz="850" dirty="0"/>
          </a:p>
        </p:txBody>
      </p:sp>
      <p:sp>
        <p:nvSpPr>
          <p:cNvPr id="87" name="Shape 82"/>
          <p:cNvSpPr/>
          <p:nvPr/>
        </p:nvSpPr>
        <p:spPr>
          <a:xfrm>
            <a:off x="9002268" y="1408176"/>
            <a:ext cx="45720" cy="155448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88" name="Text 83"/>
          <p:cNvSpPr txBox="1"/>
          <p:nvPr/>
        </p:nvSpPr>
        <p:spPr>
          <a:xfrm>
            <a:off x="911199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SUPPORT TICKETS</a:t>
            </a:r>
            <a:endParaRPr lang="en-US" sz="900" dirty="0"/>
          </a:p>
        </p:txBody>
      </p:sp>
      <p:sp>
        <p:nvSpPr>
          <p:cNvPr id="89" name="Shape 84"/>
          <p:cNvSpPr/>
          <p:nvPr/>
        </p:nvSpPr>
        <p:spPr>
          <a:xfrm>
            <a:off x="900226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9002268" y="170078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1" name="Text 86"/>
          <p:cNvSpPr txBox="1"/>
          <p:nvPr/>
        </p:nvSpPr>
        <p:spPr>
          <a:xfrm>
            <a:off x="916686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25</a:t>
            </a:r>
            <a:endParaRPr lang="en-US" sz="2400" dirty="0"/>
          </a:p>
        </p:txBody>
      </p:sp>
      <p:sp>
        <p:nvSpPr>
          <p:cNvPr id="92" name="Text 87"/>
          <p:cNvSpPr txBox="1"/>
          <p:nvPr/>
        </p:nvSpPr>
        <p:spPr>
          <a:xfrm>
            <a:off x="916686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created</a:t>
            </a:r>
            <a:endParaRPr lang="en-US" sz="1050" dirty="0"/>
          </a:p>
        </p:txBody>
      </p:sp>
      <p:sp>
        <p:nvSpPr>
          <p:cNvPr id="93" name="Text 88"/>
          <p:cNvSpPr txBox="1"/>
          <p:nvPr/>
        </p:nvSpPr>
        <p:spPr>
          <a:xfrm>
            <a:off x="916686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94" name="Text 89"/>
          <p:cNvSpPr txBox="1"/>
          <p:nvPr/>
        </p:nvSpPr>
        <p:spPr>
          <a:xfrm>
            <a:off x="1060246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95" name="Shape 90"/>
          <p:cNvSpPr/>
          <p:nvPr/>
        </p:nvSpPr>
        <p:spPr>
          <a:xfrm>
            <a:off x="900226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9002268" y="279806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7" name="Text 92"/>
          <p:cNvSpPr txBox="1"/>
          <p:nvPr/>
        </p:nvSpPr>
        <p:spPr>
          <a:xfrm>
            <a:off x="916686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</a:t>
            </a:r>
            <a:endParaRPr lang="en-US" sz="2400" dirty="0"/>
          </a:p>
        </p:txBody>
      </p:sp>
      <p:sp>
        <p:nvSpPr>
          <p:cNvPr id="98" name="Text 93"/>
          <p:cNvSpPr txBox="1"/>
          <p:nvPr/>
        </p:nvSpPr>
        <p:spPr>
          <a:xfrm>
            <a:off x="916686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resolved</a:t>
            </a:r>
            <a:endParaRPr lang="en-US" sz="1050" dirty="0"/>
          </a:p>
        </p:txBody>
      </p:sp>
      <p:sp>
        <p:nvSpPr>
          <p:cNvPr id="99" name="Text 94"/>
          <p:cNvSpPr txBox="1"/>
          <p:nvPr/>
        </p:nvSpPr>
        <p:spPr>
          <a:xfrm>
            <a:off x="916686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96% of tickets created</a:t>
            </a:r>
            <a:endParaRPr lang="en-US" sz="850" dirty="0"/>
          </a:p>
        </p:txBody>
      </p:sp>
      <p:sp>
        <p:nvSpPr>
          <p:cNvPr id="100" name="Text 95"/>
          <p:cNvSpPr txBox="1"/>
          <p:nvPr/>
        </p:nvSpPr>
        <p:spPr>
          <a:xfrm>
            <a:off x="1060246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1" name="Shape 96"/>
          <p:cNvSpPr/>
          <p:nvPr/>
        </p:nvSpPr>
        <p:spPr>
          <a:xfrm>
            <a:off x="900226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9002268" y="389534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3" name="Text 98"/>
          <p:cNvSpPr txBox="1"/>
          <p:nvPr/>
        </p:nvSpPr>
        <p:spPr>
          <a:xfrm>
            <a:off x="916686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</a:t>
            </a:r>
            <a:endParaRPr lang="en-US" sz="2400" dirty="0"/>
          </a:p>
        </p:txBody>
      </p:sp>
      <p:sp>
        <p:nvSpPr>
          <p:cNvPr id="104" name="Text 99"/>
          <p:cNvSpPr txBox="1"/>
          <p:nvPr/>
        </p:nvSpPr>
        <p:spPr>
          <a:xfrm>
            <a:off x="916686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Email queries</a:t>
            </a:r>
            <a:endParaRPr lang="en-US" sz="1050" dirty="0"/>
          </a:p>
        </p:txBody>
      </p:sp>
      <p:sp>
        <p:nvSpPr>
          <p:cNvPr id="105" name="Text 100"/>
          <p:cNvSpPr txBox="1"/>
          <p:nvPr/>
        </p:nvSpPr>
        <p:spPr>
          <a:xfrm>
            <a:off x="916686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06" name="Text 101"/>
          <p:cNvSpPr txBox="1"/>
          <p:nvPr/>
        </p:nvSpPr>
        <p:spPr>
          <a:xfrm>
            <a:off x="1060246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7" name="Shape 102"/>
          <p:cNvSpPr/>
          <p:nvPr/>
        </p:nvSpPr>
        <p:spPr>
          <a:xfrm>
            <a:off x="900226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9002268" y="499262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9" name="Text 104"/>
          <p:cNvSpPr txBox="1"/>
          <p:nvPr/>
        </p:nvSpPr>
        <p:spPr>
          <a:xfrm>
            <a:off x="916686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21</a:t>
            </a:r>
            <a:endParaRPr lang="en-US" sz="2400" dirty="0"/>
          </a:p>
        </p:txBody>
      </p:sp>
      <p:sp>
        <p:nvSpPr>
          <p:cNvPr id="110" name="Text 105"/>
          <p:cNvSpPr txBox="1"/>
          <p:nvPr/>
        </p:nvSpPr>
        <p:spPr>
          <a:xfrm>
            <a:off x="916686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AI support queries</a:t>
            </a:r>
            <a:endParaRPr lang="en-US" sz="1050" dirty="0"/>
          </a:p>
        </p:txBody>
      </p:sp>
      <p:sp>
        <p:nvSpPr>
          <p:cNvPr id="111" name="Text 106"/>
          <p:cNvSpPr txBox="1"/>
          <p:nvPr/>
        </p:nvSpPr>
        <p:spPr>
          <a:xfrm>
            <a:off x="916686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12" name="Text 107"/>
          <p:cNvSpPr txBox="1"/>
          <p:nvPr/>
        </p:nvSpPr>
        <p:spPr>
          <a:xfrm>
            <a:off x="1060246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atemIsa_202508993_IT9002_NLP_Project/emyaa-ceo-deck/working/charts/board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188720"/>
            <a:ext cx="12191695" cy="24689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66928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F3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PLATFORM ANALYTICS  |  PERFORMANCE DASHBOARD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57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 date: 23 Aug 2026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868680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6CFE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Reporting period: All Time   |   Change on each card is against the previous report, 20 Aug 2026</a:t>
            </a:r>
            <a:endParaRPr lang="en-US" sz="1000" dirty="0"/>
          </a:p>
        </p:txBody>
      </p:sp>
      <p:pic>
        <p:nvPicPr>
          <p:cNvPr id="7" name="Image 1" descr="/home/user/HatemIsa_202508993_IT9002_NLP_Project/emyaa-ceo-deck/working/charts/ajy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02336"/>
            <a:ext cx="13258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" y="6272784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Source: eMYAA Daily Performance Dashboard, eMYAA_-_Daily_Performance_Dashboard-1.pdf, page 24. This report labels the money card 'Total Deposits'; later reports label the same measure 'Total AUM'.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eMYAA Trading Platform  |  Daily Performance Dashboard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9802368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27</a:t>
            </a:r>
            <a:endParaRPr lang="en-US" sz="800" dirty="0"/>
          </a:p>
        </p:txBody>
      </p:sp>
      <p:pic>
        <p:nvPicPr>
          <p:cNvPr id="11" name="Image 2" descr="/home/user/HatemIsa_202508993_IT9002_NLP_Project/emyaa-ceo-deck/working/charts/emyaa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6336792"/>
            <a:ext cx="1024128" cy="3657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66928" y="1408176"/>
            <a:ext cx="45720" cy="155448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665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DOWNLOADS &amp; RATINGS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6692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66928" y="170078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152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189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downloads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 Store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216712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6692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66928" y="279806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3152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156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73152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downloads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73152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Apple App Store</a:t>
            </a:r>
            <a:endParaRPr lang="en-US" sz="850" dirty="0"/>
          </a:p>
        </p:txBody>
      </p:sp>
      <p:sp>
        <p:nvSpPr>
          <p:cNvPr id="25" name="Text 20"/>
          <p:cNvSpPr txBox="1"/>
          <p:nvPr/>
        </p:nvSpPr>
        <p:spPr>
          <a:xfrm>
            <a:off x="216712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+7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6692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66928" y="389534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3152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29" name="Text 24"/>
          <p:cNvSpPr txBox="1"/>
          <p:nvPr/>
        </p:nvSpPr>
        <p:spPr>
          <a:xfrm>
            <a:off x="73152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app rating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73152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Play, 2 reviews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56692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66928" y="499262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3152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34" name="Text 29"/>
          <p:cNvSpPr txBox="1"/>
          <p:nvPr/>
        </p:nvSpPr>
        <p:spPr>
          <a:xfrm>
            <a:off x="73152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app rating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73152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 Store, 2 reviews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3378708" y="1408176"/>
            <a:ext cx="45720" cy="155448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48843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 ACTIVITY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337870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3378708" y="170078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354330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</a:t>
            </a:r>
            <a:endParaRPr lang="en-US" sz="2400" dirty="0"/>
          </a:p>
        </p:txBody>
      </p:sp>
      <p:sp>
        <p:nvSpPr>
          <p:cNvPr id="41" name="Text 36"/>
          <p:cNvSpPr txBox="1"/>
          <p:nvPr/>
        </p:nvSpPr>
        <p:spPr>
          <a:xfrm>
            <a:off x="354330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deposited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354330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Funded accounts</a:t>
            </a:r>
            <a:endParaRPr lang="en-US" sz="850" dirty="0"/>
          </a:p>
        </p:txBody>
      </p:sp>
      <p:sp>
        <p:nvSpPr>
          <p:cNvPr id="43" name="Text 38"/>
          <p:cNvSpPr txBox="1"/>
          <p:nvPr/>
        </p:nvSpPr>
        <p:spPr>
          <a:xfrm>
            <a:off x="497890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337870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3378708" y="279806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354330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$8,321.93</a:t>
            </a:r>
            <a:endParaRPr lang="en-US" sz="1900" dirty="0"/>
          </a:p>
        </p:txBody>
      </p:sp>
      <p:sp>
        <p:nvSpPr>
          <p:cNvPr id="47" name="Text 42"/>
          <p:cNvSpPr txBox="1"/>
          <p:nvPr/>
        </p:nvSpPr>
        <p:spPr>
          <a:xfrm>
            <a:off x="354330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deposits</a:t>
            </a:r>
            <a:endParaRPr lang="en-US" sz="1050" dirty="0"/>
          </a:p>
        </p:txBody>
      </p:sp>
      <p:sp>
        <p:nvSpPr>
          <p:cNvPr id="48" name="Text 43"/>
          <p:cNvSpPr txBox="1"/>
          <p:nvPr/>
        </p:nvSpPr>
        <p:spPr>
          <a:xfrm>
            <a:off x="354330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Cumulative platform deposits</a:t>
            </a:r>
            <a:endParaRPr lang="en-US" sz="850" dirty="0"/>
          </a:p>
        </p:txBody>
      </p:sp>
      <p:sp>
        <p:nvSpPr>
          <p:cNvPr id="49" name="Text 44"/>
          <p:cNvSpPr txBox="1"/>
          <p:nvPr/>
        </p:nvSpPr>
        <p:spPr>
          <a:xfrm>
            <a:off x="497890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337870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3378708" y="389534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354330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</a:t>
            </a:r>
            <a:endParaRPr lang="en-US" sz="2400" dirty="0"/>
          </a:p>
        </p:txBody>
      </p:sp>
      <p:sp>
        <p:nvSpPr>
          <p:cNvPr id="53" name="Text 48"/>
          <p:cNvSpPr txBox="1"/>
          <p:nvPr/>
        </p:nvSpPr>
        <p:spPr>
          <a:xfrm>
            <a:off x="354330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traded</a:t>
            </a:r>
            <a:endParaRPr lang="en-US" sz="1050" dirty="0"/>
          </a:p>
        </p:txBody>
      </p:sp>
      <p:sp>
        <p:nvSpPr>
          <p:cNvPr id="54" name="Text 49"/>
          <p:cNvSpPr txBox="1"/>
          <p:nvPr/>
        </p:nvSpPr>
        <p:spPr>
          <a:xfrm>
            <a:off x="354330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Placed at least 1 trade</a:t>
            </a:r>
            <a:endParaRPr lang="en-US" sz="850" dirty="0"/>
          </a:p>
        </p:txBody>
      </p:sp>
      <p:sp>
        <p:nvSpPr>
          <p:cNvPr id="55" name="Text 50"/>
          <p:cNvSpPr txBox="1"/>
          <p:nvPr/>
        </p:nvSpPr>
        <p:spPr>
          <a:xfrm>
            <a:off x="497890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6" name="Shape 51"/>
          <p:cNvSpPr/>
          <p:nvPr/>
        </p:nvSpPr>
        <p:spPr>
          <a:xfrm>
            <a:off x="337870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3378708" y="499262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354330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37</a:t>
            </a:r>
            <a:endParaRPr lang="en-US" sz="2400" dirty="0"/>
          </a:p>
        </p:txBody>
      </p:sp>
      <p:sp>
        <p:nvSpPr>
          <p:cNvPr id="59" name="Text 54"/>
          <p:cNvSpPr txBox="1"/>
          <p:nvPr/>
        </p:nvSpPr>
        <p:spPr>
          <a:xfrm>
            <a:off x="354330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trades</a:t>
            </a:r>
            <a:endParaRPr lang="en-US" sz="1050" dirty="0"/>
          </a:p>
        </p:txBody>
      </p:sp>
      <p:sp>
        <p:nvSpPr>
          <p:cNvPr id="60" name="Text 55"/>
          <p:cNvSpPr txBox="1"/>
          <p:nvPr/>
        </p:nvSpPr>
        <p:spPr>
          <a:xfrm>
            <a:off x="354330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Executed across all users</a:t>
            </a:r>
            <a:endParaRPr lang="en-US" sz="850" dirty="0"/>
          </a:p>
        </p:txBody>
      </p:sp>
      <p:sp>
        <p:nvSpPr>
          <p:cNvPr id="61" name="Text 56"/>
          <p:cNvSpPr txBox="1"/>
          <p:nvPr/>
        </p:nvSpPr>
        <p:spPr>
          <a:xfrm>
            <a:off x="497890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62" name="Shape 57"/>
          <p:cNvSpPr/>
          <p:nvPr/>
        </p:nvSpPr>
        <p:spPr>
          <a:xfrm>
            <a:off x="6190488" y="1408176"/>
            <a:ext cx="45720" cy="1554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630021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KYC STATUS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619048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6190488" y="170078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635508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40</a:t>
            </a:r>
            <a:endParaRPr lang="en-US" sz="2400" dirty="0"/>
          </a:p>
        </p:txBody>
      </p:sp>
      <p:sp>
        <p:nvSpPr>
          <p:cNvPr id="67" name="Text 62"/>
          <p:cNvSpPr txBox="1"/>
          <p:nvPr/>
        </p:nvSpPr>
        <p:spPr>
          <a:xfrm>
            <a:off x="635508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onboarded</a:t>
            </a:r>
            <a:endParaRPr lang="en-US" sz="1050" dirty="0"/>
          </a:p>
        </p:txBody>
      </p:sp>
      <p:sp>
        <p:nvSpPr>
          <p:cNvPr id="68" name="Text 63"/>
          <p:cNvSpPr txBox="1"/>
          <p:nvPr/>
        </p:nvSpPr>
        <p:spPr>
          <a:xfrm>
            <a:off x="635508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Completed signup and verification</a:t>
            </a:r>
            <a:endParaRPr lang="en-US" sz="850" dirty="0"/>
          </a:p>
        </p:txBody>
      </p:sp>
      <p:sp>
        <p:nvSpPr>
          <p:cNvPr id="69" name="Text 64"/>
          <p:cNvSpPr txBox="1"/>
          <p:nvPr/>
        </p:nvSpPr>
        <p:spPr>
          <a:xfrm>
            <a:off x="779068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+2</a:t>
            </a:r>
            <a:endParaRPr lang="en-US" sz="850" dirty="0"/>
          </a:p>
        </p:txBody>
      </p:sp>
      <p:sp>
        <p:nvSpPr>
          <p:cNvPr id="70" name="Shape 65"/>
          <p:cNvSpPr/>
          <p:nvPr/>
        </p:nvSpPr>
        <p:spPr>
          <a:xfrm>
            <a:off x="619048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6190488" y="279806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2" name="Text 67"/>
          <p:cNvSpPr txBox="1"/>
          <p:nvPr/>
        </p:nvSpPr>
        <p:spPr>
          <a:xfrm>
            <a:off x="635508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148</a:t>
            </a:r>
            <a:endParaRPr lang="en-US" sz="2400" dirty="0"/>
          </a:p>
        </p:txBody>
      </p:sp>
      <p:sp>
        <p:nvSpPr>
          <p:cNvPr id="73" name="Text 68"/>
          <p:cNvSpPr txBox="1"/>
          <p:nvPr/>
        </p:nvSpPr>
        <p:spPr>
          <a:xfrm>
            <a:off x="635508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Incomplete KYC</a:t>
            </a:r>
            <a:endParaRPr lang="en-US" sz="1050" dirty="0"/>
          </a:p>
        </p:txBody>
      </p:sp>
      <p:sp>
        <p:nvSpPr>
          <p:cNvPr id="74" name="Text 69"/>
          <p:cNvSpPr txBox="1"/>
          <p:nvPr/>
        </p:nvSpPr>
        <p:spPr>
          <a:xfrm>
            <a:off x="635508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Started KYC but did not proceed</a:t>
            </a:r>
            <a:endParaRPr lang="en-US" sz="850" dirty="0"/>
          </a:p>
        </p:txBody>
      </p:sp>
      <p:sp>
        <p:nvSpPr>
          <p:cNvPr id="75" name="Text 70"/>
          <p:cNvSpPr txBox="1"/>
          <p:nvPr/>
        </p:nvSpPr>
        <p:spPr>
          <a:xfrm>
            <a:off x="779068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5303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+2</a:t>
            </a:r>
            <a:endParaRPr lang="en-US" sz="850" dirty="0"/>
          </a:p>
        </p:txBody>
      </p:sp>
      <p:sp>
        <p:nvSpPr>
          <p:cNvPr id="76" name="Shape 71"/>
          <p:cNvSpPr/>
          <p:nvPr/>
        </p:nvSpPr>
        <p:spPr>
          <a:xfrm>
            <a:off x="619048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6190488" y="389534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8" name="Text 73"/>
          <p:cNvSpPr txBox="1"/>
          <p:nvPr/>
        </p:nvSpPr>
        <p:spPr>
          <a:xfrm>
            <a:off x="635508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7</a:t>
            </a:r>
            <a:endParaRPr lang="en-US" sz="2400" dirty="0"/>
          </a:p>
        </p:txBody>
      </p:sp>
      <p:sp>
        <p:nvSpPr>
          <p:cNvPr id="79" name="Text 74"/>
          <p:cNvSpPr txBox="1"/>
          <p:nvPr/>
        </p:nvSpPr>
        <p:spPr>
          <a:xfrm>
            <a:off x="635508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Rejected KYC</a:t>
            </a:r>
            <a:endParaRPr lang="en-US" sz="1050" dirty="0"/>
          </a:p>
        </p:txBody>
      </p:sp>
      <p:sp>
        <p:nvSpPr>
          <p:cNvPr id="80" name="Text 75"/>
          <p:cNvSpPr txBox="1"/>
          <p:nvPr/>
        </p:nvSpPr>
        <p:spPr>
          <a:xfrm>
            <a:off x="635508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Resubmission required</a:t>
            </a:r>
            <a:endParaRPr lang="en-US" sz="850" dirty="0"/>
          </a:p>
        </p:txBody>
      </p:sp>
      <p:sp>
        <p:nvSpPr>
          <p:cNvPr id="81" name="Text 76"/>
          <p:cNvSpPr txBox="1"/>
          <p:nvPr/>
        </p:nvSpPr>
        <p:spPr>
          <a:xfrm>
            <a:off x="779068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5303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+2</a:t>
            </a:r>
            <a:endParaRPr lang="en-US" sz="850" dirty="0"/>
          </a:p>
        </p:txBody>
      </p:sp>
      <p:sp>
        <p:nvSpPr>
          <p:cNvPr id="82" name="Shape 77"/>
          <p:cNvSpPr/>
          <p:nvPr/>
        </p:nvSpPr>
        <p:spPr>
          <a:xfrm>
            <a:off x="619048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6190488" y="499262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4" name="Text 79"/>
          <p:cNvSpPr txBox="1"/>
          <p:nvPr/>
        </p:nvSpPr>
        <p:spPr>
          <a:xfrm>
            <a:off x="635508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195</a:t>
            </a:r>
            <a:endParaRPr lang="en-US" sz="2400" dirty="0"/>
          </a:p>
        </p:txBody>
      </p:sp>
      <p:sp>
        <p:nvSpPr>
          <p:cNvPr id="85" name="Text 80"/>
          <p:cNvSpPr txBox="1"/>
          <p:nvPr/>
        </p:nvSpPr>
        <p:spPr>
          <a:xfrm>
            <a:off x="635508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KYC applications</a:t>
            </a:r>
            <a:endParaRPr lang="en-US" sz="1050" dirty="0"/>
          </a:p>
        </p:txBody>
      </p:sp>
      <p:sp>
        <p:nvSpPr>
          <p:cNvPr id="86" name="Text 81"/>
          <p:cNvSpPr txBox="1"/>
          <p:nvPr/>
        </p:nvSpPr>
        <p:spPr>
          <a:xfrm>
            <a:off x="635508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Onboarded + incomplete + rejected</a:t>
            </a:r>
            <a:endParaRPr lang="en-US" sz="850" dirty="0"/>
          </a:p>
        </p:txBody>
      </p:sp>
      <p:sp>
        <p:nvSpPr>
          <p:cNvPr id="87" name="Shape 82"/>
          <p:cNvSpPr/>
          <p:nvPr/>
        </p:nvSpPr>
        <p:spPr>
          <a:xfrm>
            <a:off x="9002268" y="1408176"/>
            <a:ext cx="45720" cy="155448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88" name="Text 83"/>
          <p:cNvSpPr txBox="1"/>
          <p:nvPr/>
        </p:nvSpPr>
        <p:spPr>
          <a:xfrm>
            <a:off x="911199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SUPPORT TICKETS</a:t>
            </a:r>
            <a:endParaRPr lang="en-US" sz="900" dirty="0"/>
          </a:p>
        </p:txBody>
      </p:sp>
      <p:sp>
        <p:nvSpPr>
          <p:cNvPr id="89" name="Shape 84"/>
          <p:cNvSpPr/>
          <p:nvPr/>
        </p:nvSpPr>
        <p:spPr>
          <a:xfrm>
            <a:off x="900226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9002268" y="170078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1" name="Text 86"/>
          <p:cNvSpPr txBox="1"/>
          <p:nvPr/>
        </p:nvSpPr>
        <p:spPr>
          <a:xfrm>
            <a:off x="916686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25</a:t>
            </a:r>
            <a:endParaRPr lang="en-US" sz="2400" dirty="0"/>
          </a:p>
        </p:txBody>
      </p:sp>
      <p:sp>
        <p:nvSpPr>
          <p:cNvPr id="92" name="Text 87"/>
          <p:cNvSpPr txBox="1"/>
          <p:nvPr/>
        </p:nvSpPr>
        <p:spPr>
          <a:xfrm>
            <a:off x="916686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created</a:t>
            </a:r>
            <a:endParaRPr lang="en-US" sz="1050" dirty="0"/>
          </a:p>
        </p:txBody>
      </p:sp>
      <p:sp>
        <p:nvSpPr>
          <p:cNvPr id="93" name="Text 88"/>
          <p:cNvSpPr txBox="1"/>
          <p:nvPr/>
        </p:nvSpPr>
        <p:spPr>
          <a:xfrm>
            <a:off x="916686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94" name="Text 89"/>
          <p:cNvSpPr txBox="1"/>
          <p:nvPr/>
        </p:nvSpPr>
        <p:spPr>
          <a:xfrm>
            <a:off x="1060246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95" name="Shape 90"/>
          <p:cNvSpPr/>
          <p:nvPr/>
        </p:nvSpPr>
        <p:spPr>
          <a:xfrm>
            <a:off x="900226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9002268" y="279806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7" name="Text 92"/>
          <p:cNvSpPr txBox="1"/>
          <p:nvPr/>
        </p:nvSpPr>
        <p:spPr>
          <a:xfrm>
            <a:off x="916686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</a:t>
            </a:r>
            <a:endParaRPr lang="en-US" sz="2400" dirty="0"/>
          </a:p>
        </p:txBody>
      </p:sp>
      <p:sp>
        <p:nvSpPr>
          <p:cNvPr id="98" name="Text 93"/>
          <p:cNvSpPr txBox="1"/>
          <p:nvPr/>
        </p:nvSpPr>
        <p:spPr>
          <a:xfrm>
            <a:off x="916686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resolved</a:t>
            </a:r>
            <a:endParaRPr lang="en-US" sz="1050" dirty="0"/>
          </a:p>
        </p:txBody>
      </p:sp>
      <p:sp>
        <p:nvSpPr>
          <p:cNvPr id="99" name="Text 94"/>
          <p:cNvSpPr txBox="1"/>
          <p:nvPr/>
        </p:nvSpPr>
        <p:spPr>
          <a:xfrm>
            <a:off x="916686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96% of tickets created</a:t>
            </a:r>
            <a:endParaRPr lang="en-US" sz="850" dirty="0"/>
          </a:p>
        </p:txBody>
      </p:sp>
      <p:sp>
        <p:nvSpPr>
          <p:cNvPr id="100" name="Text 95"/>
          <p:cNvSpPr txBox="1"/>
          <p:nvPr/>
        </p:nvSpPr>
        <p:spPr>
          <a:xfrm>
            <a:off x="1060246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1" name="Shape 96"/>
          <p:cNvSpPr/>
          <p:nvPr/>
        </p:nvSpPr>
        <p:spPr>
          <a:xfrm>
            <a:off x="900226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9002268" y="389534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3" name="Text 98"/>
          <p:cNvSpPr txBox="1"/>
          <p:nvPr/>
        </p:nvSpPr>
        <p:spPr>
          <a:xfrm>
            <a:off x="916686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</a:t>
            </a:r>
            <a:endParaRPr lang="en-US" sz="2400" dirty="0"/>
          </a:p>
        </p:txBody>
      </p:sp>
      <p:sp>
        <p:nvSpPr>
          <p:cNvPr id="104" name="Text 99"/>
          <p:cNvSpPr txBox="1"/>
          <p:nvPr/>
        </p:nvSpPr>
        <p:spPr>
          <a:xfrm>
            <a:off x="916686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Email queries</a:t>
            </a:r>
            <a:endParaRPr lang="en-US" sz="1050" dirty="0"/>
          </a:p>
        </p:txBody>
      </p:sp>
      <p:sp>
        <p:nvSpPr>
          <p:cNvPr id="105" name="Text 100"/>
          <p:cNvSpPr txBox="1"/>
          <p:nvPr/>
        </p:nvSpPr>
        <p:spPr>
          <a:xfrm>
            <a:off x="916686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06" name="Text 101"/>
          <p:cNvSpPr txBox="1"/>
          <p:nvPr/>
        </p:nvSpPr>
        <p:spPr>
          <a:xfrm>
            <a:off x="1060246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7" name="Shape 102"/>
          <p:cNvSpPr/>
          <p:nvPr/>
        </p:nvSpPr>
        <p:spPr>
          <a:xfrm>
            <a:off x="900226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9002268" y="499262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9" name="Text 104"/>
          <p:cNvSpPr txBox="1"/>
          <p:nvPr/>
        </p:nvSpPr>
        <p:spPr>
          <a:xfrm>
            <a:off x="916686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21</a:t>
            </a:r>
            <a:endParaRPr lang="en-US" sz="2400" dirty="0"/>
          </a:p>
        </p:txBody>
      </p:sp>
      <p:sp>
        <p:nvSpPr>
          <p:cNvPr id="110" name="Text 105"/>
          <p:cNvSpPr txBox="1"/>
          <p:nvPr/>
        </p:nvSpPr>
        <p:spPr>
          <a:xfrm>
            <a:off x="916686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AI support queries</a:t>
            </a:r>
            <a:endParaRPr lang="en-US" sz="1050" dirty="0"/>
          </a:p>
        </p:txBody>
      </p:sp>
      <p:sp>
        <p:nvSpPr>
          <p:cNvPr id="111" name="Text 106"/>
          <p:cNvSpPr txBox="1"/>
          <p:nvPr/>
        </p:nvSpPr>
        <p:spPr>
          <a:xfrm>
            <a:off x="916686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12" name="Text 107"/>
          <p:cNvSpPr txBox="1"/>
          <p:nvPr/>
        </p:nvSpPr>
        <p:spPr>
          <a:xfrm>
            <a:off x="1060246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atemIsa_202508993_IT9002_NLP_Project/emyaa-ceo-deck/working/charts/board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188720"/>
            <a:ext cx="12191695" cy="24689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66928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F3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PLATFORM ANALYTICS  |  PERFORMANCE DASHBOARD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57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 date: 20 Aug 2026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868680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6CFE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Reporting period: All Time   |   Change on each card is against the previous report, 19 Aug 2026</a:t>
            </a:r>
            <a:endParaRPr lang="en-US" sz="1000" dirty="0"/>
          </a:p>
        </p:txBody>
      </p:sp>
      <p:pic>
        <p:nvPicPr>
          <p:cNvPr id="7" name="Image 1" descr="/home/user/HatemIsa_202508993_IT9002_NLP_Project/emyaa-ceo-deck/working/charts/ajy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02336"/>
            <a:ext cx="13258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" y="6272784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Source: eMYAA Daily Performance Dashboard, eMYAA_-_Daily_Performance_Dashboard-1.pdf, page 25. This report labels the money card 'Total Deposits'; later reports label the same measure 'Total AUM'.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eMYAA Trading Platform  |  Daily Performance Dashboard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9802368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28</a:t>
            </a:r>
            <a:endParaRPr lang="en-US" sz="800" dirty="0"/>
          </a:p>
        </p:txBody>
      </p:sp>
      <p:pic>
        <p:nvPicPr>
          <p:cNvPr id="11" name="Image 2" descr="/home/user/HatemIsa_202508993_IT9002_NLP_Project/emyaa-ceo-deck/working/charts/emyaa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6336792"/>
            <a:ext cx="1024128" cy="3657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66928" y="1408176"/>
            <a:ext cx="45720" cy="155448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665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DOWNLOADS &amp; RATINGS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6692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66928" y="170078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152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189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downloads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 Store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216712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6692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66928" y="279806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3152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149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73152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downloads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73152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Apple App Store</a:t>
            </a:r>
            <a:endParaRPr lang="en-US" sz="850" dirty="0"/>
          </a:p>
        </p:txBody>
      </p:sp>
      <p:sp>
        <p:nvSpPr>
          <p:cNvPr id="25" name="Text 20"/>
          <p:cNvSpPr txBox="1"/>
          <p:nvPr/>
        </p:nvSpPr>
        <p:spPr>
          <a:xfrm>
            <a:off x="216712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6692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66928" y="389534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3152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29" name="Text 24"/>
          <p:cNvSpPr txBox="1"/>
          <p:nvPr/>
        </p:nvSpPr>
        <p:spPr>
          <a:xfrm>
            <a:off x="73152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app rating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73152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Play, 2 reviews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56692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66928" y="499262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3152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34" name="Text 29"/>
          <p:cNvSpPr txBox="1"/>
          <p:nvPr/>
        </p:nvSpPr>
        <p:spPr>
          <a:xfrm>
            <a:off x="73152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app rating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73152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 Store, 2 reviews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3378708" y="1408176"/>
            <a:ext cx="45720" cy="155448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48843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 ACTIVITY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337870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3378708" y="170078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354330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</a:t>
            </a:r>
            <a:endParaRPr lang="en-US" sz="2400" dirty="0"/>
          </a:p>
        </p:txBody>
      </p:sp>
      <p:sp>
        <p:nvSpPr>
          <p:cNvPr id="41" name="Text 36"/>
          <p:cNvSpPr txBox="1"/>
          <p:nvPr/>
        </p:nvSpPr>
        <p:spPr>
          <a:xfrm>
            <a:off x="354330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deposited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354330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Funded accounts</a:t>
            </a:r>
            <a:endParaRPr lang="en-US" sz="850" dirty="0"/>
          </a:p>
        </p:txBody>
      </p:sp>
      <p:sp>
        <p:nvSpPr>
          <p:cNvPr id="43" name="Text 38"/>
          <p:cNvSpPr txBox="1"/>
          <p:nvPr/>
        </p:nvSpPr>
        <p:spPr>
          <a:xfrm>
            <a:off x="497890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337870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3378708" y="279806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354330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$8,321.93</a:t>
            </a:r>
            <a:endParaRPr lang="en-US" sz="1900" dirty="0"/>
          </a:p>
        </p:txBody>
      </p:sp>
      <p:sp>
        <p:nvSpPr>
          <p:cNvPr id="47" name="Text 42"/>
          <p:cNvSpPr txBox="1"/>
          <p:nvPr/>
        </p:nvSpPr>
        <p:spPr>
          <a:xfrm>
            <a:off x="354330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deposits</a:t>
            </a:r>
            <a:endParaRPr lang="en-US" sz="1050" dirty="0"/>
          </a:p>
        </p:txBody>
      </p:sp>
      <p:sp>
        <p:nvSpPr>
          <p:cNvPr id="48" name="Text 43"/>
          <p:cNvSpPr txBox="1"/>
          <p:nvPr/>
        </p:nvSpPr>
        <p:spPr>
          <a:xfrm>
            <a:off x="354330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Cumulative platform deposits</a:t>
            </a:r>
            <a:endParaRPr lang="en-US" sz="850" dirty="0"/>
          </a:p>
        </p:txBody>
      </p:sp>
      <p:sp>
        <p:nvSpPr>
          <p:cNvPr id="49" name="Text 44"/>
          <p:cNvSpPr txBox="1"/>
          <p:nvPr/>
        </p:nvSpPr>
        <p:spPr>
          <a:xfrm>
            <a:off x="497890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337870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3378708" y="389534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354330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</a:t>
            </a:r>
            <a:endParaRPr lang="en-US" sz="2400" dirty="0"/>
          </a:p>
        </p:txBody>
      </p:sp>
      <p:sp>
        <p:nvSpPr>
          <p:cNvPr id="53" name="Text 48"/>
          <p:cNvSpPr txBox="1"/>
          <p:nvPr/>
        </p:nvSpPr>
        <p:spPr>
          <a:xfrm>
            <a:off x="354330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traded</a:t>
            </a:r>
            <a:endParaRPr lang="en-US" sz="1050" dirty="0"/>
          </a:p>
        </p:txBody>
      </p:sp>
      <p:sp>
        <p:nvSpPr>
          <p:cNvPr id="54" name="Text 49"/>
          <p:cNvSpPr txBox="1"/>
          <p:nvPr/>
        </p:nvSpPr>
        <p:spPr>
          <a:xfrm>
            <a:off x="354330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Placed at least 1 trade</a:t>
            </a:r>
            <a:endParaRPr lang="en-US" sz="850" dirty="0"/>
          </a:p>
        </p:txBody>
      </p:sp>
      <p:sp>
        <p:nvSpPr>
          <p:cNvPr id="55" name="Text 50"/>
          <p:cNvSpPr txBox="1"/>
          <p:nvPr/>
        </p:nvSpPr>
        <p:spPr>
          <a:xfrm>
            <a:off x="497890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6" name="Shape 51"/>
          <p:cNvSpPr/>
          <p:nvPr/>
        </p:nvSpPr>
        <p:spPr>
          <a:xfrm>
            <a:off x="337870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3378708" y="499262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354330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37</a:t>
            </a:r>
            <a:endParaRPr lang="en-US" sz="2400" dirty="0"/>
          </a:p>
        </p:txBody>
      </p:sp>
      <p:sp>
        <p:nvSpPr>
          <p:cNvPr id="59" name="Text 54"/>
          <p:cNvSpPr txBox="1"/>
          <p:nvPr/>
        </p:nvSpPr>
        <p:spPr>
          <a:xfrm>
            <a:off x="354330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trades</a:t>
            </a:r>
            <a:endParaRPr lang="en-US" sz="1050" dirty="0"/>
          </a:p>
        </p:txBody>
      </p:sp>
      <p:sp>
        <p:nvSpPr>
          <p:cNvPr id="60" name="Text 55"/>
          <p:cNvSpPr txBox="1"/>
          <p:nvPr/>
        </p:nvSpPr>
        <p:spPr>
          <a:xfrm>
            <a:off x="354330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Executed across all users</a:t>
            </a:r>
            <a:endParaRPr lang="en-US" sz="850" dirty="0"/>
          </a:p>
        </p:txBody>
      </p:sp>
      <p:sp>
        <p:nvSpPr>
          <p:cNvPr id="61" name="Text 56"/>
          <p:cNvSpPr txBox="1"/>
          <p:nvPr/>
        </p:nvSpPr>
        <p:spPr>
          <a:xfrm>
            <a:off x="497890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62" name="Shape 57"/>
          <p:cNvSpPr/>
          <p:nvPr/>
        </p:nvSpPr>
        <p:spPr>
          <a:xfrm>
            <a:off x="6190488" y="1408176"/>
            <a:ext cx="45720" cy="1554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630021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KYC STATUS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619048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6190488" y="170078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635508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38</a:t>
            </a:r>
            <a:endParaRPr lang="en-US" sz="2400" dirty="0"/>
          </a:p>
        </p:txBody>
      </p:sp>
      <p:sp>
        <p:nvSpPr>
          <p:cNvPr id="67" name="Text 62"/>
          <p:cNvSpPr txBox="1"/>
          <p:nvPr/>
        </p:nvSpPr>
        <p:spPr>
          <a:xfrm>
            <a:off x="635508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onboarded</a:t>
            </a:r>
            <a:endParaRPr lang="en-US" sz="1050" dirty="0"/>
          </a:p>
        </p:txBody>
      </p:sp>
      <p:sp>
        <p:nvSpPr>
          <p:cNvPr id="68" name="Text 63"/>
          <p:cNvSpPr txBox="1"/>
          <p:nvPr/>
        </p:nvSpPr>
        <p:spPr>
          <a:xfrm>
            <a:off x="635508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Completed signup and verification</a:t>
            </a:r>
            <a:endParaRPr lang="en-US" sz="850" dirty="0"/>
          </a:p>
        </p:txBody>
      </p:sp>
      <p:sp>
        <p:nvSpPr>
          <p:cNvPr id="69" name="Text 64"/>
          <p:cNvSpPr txBox="1"/>
          <p:nvPr/>
        </p:nvSpPr>
        <p:spPr>
          <a:xfrm>
            <a:off x="779068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70" name="Shape 65"/>
          <p:cNvSpPr/>
          <p:nvPr/>
        </p:nvSpPr>
        <p:spPr>
          <a:xfrm>
            <a:off x="619048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6190488" y="279806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2" name="Text 67"/>
          <p:cNvSpPr txBox="1"/>
          <p:nvPr/>
        </p:nvSpPr>
        <p:spPr>
          <a:xfrm>
            <a:off x="635508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146</a:t>
            </a:r>
            <a:endParaRPr lang="en-US" sz="2400" dirty="0"/>
          </a:p>
        </p:txBody>
      </p:sp>
      <p:sp>
        <p:nvSpPr>
          <p:cNvPr id="73" name="Text 68"/>
          <p:cNvSpPr txBox="1"/>
          <p:nvPr/>
        </p:nvSpPr>
        <p:spPr>
          <a:xfrm>
            <a:off x="635508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Incomplete KYC</a:t>
            </a:r>
            <a:endParaRPr lang="en-US" sz="1050" dirty="0"/>
          </a:p>
        </p:txBody>
      </p:sp>
      <p:sp>
        <p:nvSpPr>
          <p:cNvPr id="74" name="Text 69"/>
          <p:cNvSpPr txBox="1"/>
          <p:nvPr/>
        </p:nvSpPr>
        <p:spPr>
          <a:xfrm>
            <a:off x="635508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Started KYC but did not proceed</a:t>
            </a:r>
            <a:endParaRPr lang="en-US" sz="850" dirty="0"/>
          </a:p>
        </p:txBody>
      </p:sp>
      <p:sp>
        <p:nvSpPr>
          <p:cNvPr id="75" name="Text 70"/>
          <p:cNvSpPr txBox="1"/>
          <p:nvPr/>
        </p:nvSpPr>
        <p:spPr>
          <a:xfrm>
            <a:off x="779068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5303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76" name="Shape 71"/>
          <p:cNvSpPr/>
          <p:nvPr/>
        </p:nvSpPr>
        <p:spPr>
          <a:xfrm>
            <a:off x="619048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6190488" y="389534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8" name="Text 73"/>
          <p:cNvSpPr txBox="1"/>
          <p:nvPr/>
        </p:nvSpPr>
        <p:spPr>
          <a:xfrm>
            <a:off x="635508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</a:t>
            </a:r>
            <a:endParaRPr lang="en-US" sz="2400" dirty="0"/>
          </a:p>
        </p:txBody>
      </p:sp>
      <p:sp>
        <p:nvSpPr>
          <p:cNvPr id="79" name="Text 74"/>
          <p:cNvSpPr txBox="1"/>
          <p:nvPr/>
        </p:nvSpPr>
        <p:spPr>
          <a:xfrm>
            <a:off x="635508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Rejected KYC</a:t>
            </a:r>
            <a:endParaRPr lang="en-US" sz="1050" dirty="0"/>
          </a:p>
        </p:txBody>
      </p:sp>
      <p:sp>
        <p:nvSpPr>
          <p:cNvPr id="80" name="Text 75"/>
          <p:cNvSpPr txBox="1"/>
          <p:nvPr/>
        </p:nvSpPr>
        <p:spPr>
          <a:xfrm>
            <a:off x="635508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Resubmission required</a:t>
            </a:r>
            <a:endParaRPr lang="en-US" sz="850" dirty="0"/>
          </a:p>
        </p:txBody>
      </p:sp>
      <p:sp>
        <p:nvSpPr>
          <p:cNvPr id="81" name="Text 76"/>
          <p:cNvSpPr txBox="1"/>
          <p:nvPr/>
        </p:nvSpPr>
        <p:spPr>
          <a:xfrm>
            <a:off x="779068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82" name="Shape 77"/>
          <p:cNvSpPr/>
          <p:nvPr/>
        </p:nvSpPr>
        <p:spPr>
          <a:xfrm>
            <a:off x="619048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6190488" y="499262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4" name="Text 79"/>
          <p:cNvSpPr txBox="1"/>
          <p:nvPr/>
        </p:nvSpPr>
        <p:spPr>
          <a:xfrm>
            <a:off x="635508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189</a:t>
            </a:r>
            <a:endParaRPr lang="en-US" sz="2400" dirty="0"/>
          </a:p>
        </p:txBody>
      </p:sp>
      <p:sp>
        <p:nvSpPr>
          <p:cNvPr id="85" name="Text 80"/>
          <p:cNvSpPr txBox="1"/>
          <p:nvPr/>
        </p:nvSpPr>
        <p:spPr>
          <a:xfrm>
            <a:off x="635508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KYC applications</a:t>
            </a:r>
            <a:endParaRPr lang="en-US" sz="1050" dirty="0"/>
          </a:p>
        </p:txBody>
      </p:sp>
      <p:sp>
        <p:nvSpPr>
          <p:cNvPr id="86" name="Text 81"/>
          <p:cNvSpPr txBox="1"/>
          <p:nvPr/>
        </p:nvSpPr>
        <p:spPr>
          <a:xfrm>
            <a:off x="635508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Onboarded + incomplete + rejected</a:t>
            </a:r>
            <a:endParaRPr lang="en-US" sz="850" dirty="0"/>
          </a:p>
        </p:txBody>
      </p:sp>
      <p:sp>
        <p:nvSpPr>
          <p:cNvPr id="87" name="Shape 82"/>
          <p:cNvSpPr/>
          <p:nvPr/>
        </p:nvSpPr>
        <p:spPr>
          <a:xfrm>
            <a:off x="9002268" y="1408176"/>
            <a:ext cx="45720" cy="155448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88" name="Text 83"/>
          <p:cNvSpPr txBox="1"/>
          <p:nvPr/>
        </p:nvSpPr>
        <p:spPr>
          <a:xfrm>
            <a:off x="911199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SUPPORT TICKETS</a:t>
            </a:r>
            <a:endParaRPr lang="en-US" sz="900" dirty="0"/>
          </a:p>
        </p:txBody>
      </p:sp>
      <p:sp>
        <p:nvSpPr>
          <p:cNvPr id="89" name="Shape 84"/>
          <p:cNvSpPr/>
          <p:nvPr/>
        </p:nvSpPr>
        <p:spPr>
          <a:xfrm>
            <a:off x="900226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9002268" y="170078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1" name="Text 86"/>
          <p:cNvSpPr txBox="1"/>
          <p:nvPr/>
        </p:nvSpPr>
        <p:spPr>
          <a:xfrm>
            <a:off x="916686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25</a:t>
            </a:r>
            <a:endParaRPr lang="en-US" sz="2400" dirty="0"/>
          </a:p>
        </p:txBody>
      </p:sp>
      <p:sp>
        <p:nvSpPr>
          <p:cNvPr id="92" name="Text 87"/>
          <p:cNvSpPr txBox="1"/>
          <p:nvPr/>
        </p:nvSpPr>
        <p:spPr>
          <a:xfrm>
            <a:off x="916686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created</a:t>
            </a:r>
            <a:endParaRPr lang="en-US" sz="1050" dirty="0"/>
          </a:p>
        </p:txBody>
      </p:sp>
      <p:sp>
        <p:nvSpPr>
          <p:cNvPr id="93" name="Text 88"/>
          <p:cNvSpPr txBox="1"/>
          <p:nvPr/>
        </p:nvSpPr>
        <p:spPr>
          <a:xfrm>
            <a:off x="916686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94" name="Text 89"/>
          <p:cNvSpPr txBox="1"/>
          <p:nvPr/>
        </p:nvSpPr>
        <p:spPr>
          <a:xfrm>
            <a:off x="1060246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95" name="Shape 90"/>
          <p:cNvSpPr/>
          <p:nvPr/>
        </p:nvSpPr>
        <p:spPr>
          <a:xfrm>
            <a:off x="900226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9002268" y="279806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7" name="Text 92"/>
          <p:cNvSpPr txBox="1"/>
          <p:nvPr/>
        </p:nvSpPr>
        <p:spPr>
          <a:xfrm>
            <a:off x="916686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</a:t>
            </a:r>
            <a:endParaRPr lang="en-US" sz="2400" dirty="0"/>
          </a:p>
        </p:txBody>
      </p:sp>
      <p:sp>
        <p:nvSpPr>
          <p:cNvPr id="98" name="Text 93"/>
          <p:cNvSpPr txBox="1"/>
          <p:nvPr/>
        </p:nvSpPr>
        <p:spPr>
          <a:xfrm>
            <a:off x="916686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resolved</a:t>
            </a:r>
            <a:endParaRPr lang="en-US" sz="1050" dirty="0"/>
          </a:p>
        </p:txBody>
      </p:sp>
      <p:sp>
        <p:nvSpPr>
          <p:cNvPr id="99" name="Text 94"/>
          <p:cNvSpPr txBox="1"/>
          <p:nvPr/>
        </p:nvSpPr>
        <p:spPr>
          <a:xfrm>
            <a:off x="916686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96% of tickets created</a:t>
            </a:r>
            <a:endParaRPr lang="en-US" sz="850" dirty="0"/>
          </a:p>
        </p:txBody>
      </p:sp>
      <p:sp>
        <p:nvSpPr>
          <p:cNvPr id="100" name="Text 95"/>
          <p:cNvSpPr txBox="1"/>
          <p:nvPr/>
        </p:nvSpPr>
        <p:spPr>
          <a:xfrm>
            <a:off x="1060246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1" name="Shape 96"/>
          <p:cNvSpPr/>
          <p:nvPr/>
        </p:nvSpPr>
        <p:spPr>
          <a:xfrm>
            <a:off x="900226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9002268" y="389534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3" name="Text 98"/>
          <p:cNvSpPr txBox="1"/>
          <p:nvPr/>
        </p:nvSpPr>
        <p:spPr>
          <a:xfrm>
            <a:off x="916686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</a:t>
            </a:r>
            <a:endParaRPr lang="en-US" sz="2400" dirty="0"/>
          </a:p>
        </p:txBody>
      </p:sp>
      <p:sp>
        <p:nvSpPr>
          <p:cNvPr id="104" name="Text 99"/>
          <p:cNvSpPr txBox="1"/>
          <p:nvPr/>
        </p:nvSpPr>
        <p:spPr>
          <a:xfrm>
            <a:off x="916686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Email queries</a:t>
            </a:r>
            <a:endParaRPr lang="en-US" sz="1050" dirty="0"/>
          </a:p>
        </p:txBody>
      </p:sp>
      <p:sp>
        <p:nvSpPr>
          <p:cNvPr id="105" name="Text 100"/>
          <p:cNvSpPr txBox="1"/>
          <p:nvPr/>
        </p:nvSpPr>
        <p:spPr>
          <a:xfrm>
            <a:off x="916686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06" name="Text 101"/>
          <p:cNvSpPr txBox="1"/>
          <p:nvPr/>
        </p:nvSpPr>
        <p:spPr>
          <a:xfrm>
            <a:off x="1060246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7" name="Shape 102"/>
          <p:cNvSpPr/>
          <p:nvPr/>
        </p:nvSpPr>
        <p:spPr>
          <a:xfrm>
            <a:off x="900226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9002268" y="499262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9" name="Text 104"/>
          <p:cNvSpPr txBox="1"/>
          <p:nvPr/>
        </p:nvSpPr>
        <p:spPr>
          <a:xfrm>
            <a:off x="916686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21</a:t>
            </a:r>
            <a:endParaRPr lang="en-US" sz="2400" dirty="0"/>
          </a:p>
        </p:txBody>
      </p:sp>
      <p:sp>
        <p:nvSpPr>
          <p:cNvPr id="110" name="Text 105"/>
          <p:cNvSpPr txBox="1"/>
          <p:nvPr/>
        </p:nvSpPr>
        <p:spPr>
          <a:xfrm>
            <a:off x="916686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AI support queries</a:t>
            </a:r>
            <a:endParaRPr lang="en-US" sz="1050" dirty="0"/>
          </a:p>
        </p:txBody>
      </p:sp>
      <p:sp>
        <p:nvSpPr>
          <p:cNvPr id="111" name="Text 106"/>
          <p:cNvSpPr txBox="1"/>
          <p:nvPr/>
        </p:nvSpPr>
        <p:spPr>
          <a:xfrm>
            <a:off x="916686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12" name="Text 107"/>
          <p:cNvSpPr txBox="1"/>
          <p:nvPr/>
        </p:nvSpPr>
        <p:spPr>
          <a:xfrm>
            <a:off x="1060246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atemIsa_202508993_IT9002_NLP_Project/emyaa-ceo-deck/working/charts/board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188720"/>
            <a:ext cx="12191695" cy="24689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66928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F3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PLATFORM ANALYTICS  |  PERFORMANCE DASHBOARD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57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 date: 19 Aug 2026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868680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6CFE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Reporting period: All Time   |   Change on each card is against the previous report, 18 Aug 2026</a:t>
            </a:r>
            <a:endParaRPr lang="en-US" sz="1000" dirty="0"/>
          </a:p>
        </p:txBody>
      </p:sp>
      <p:pic>
        <p:nvPicPr>
          <p:cNvPr id="7" name="Image 1" descr="/home/user/HatemIsa_202508993_IT9002_NLP_Project/emyaa-ceo-deck/working/charts/ajy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02336"/>
            <a:ext cx="13258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" y="6272784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Source: eMYAA Daily Performance Dashboard, eMYAA_-_Daily_Performance_Dashboard-1.pdf, page 26. This report labels the money card 'Total Deposits'; later reports label the same measure 'Total AUM'.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eMYAA Trading Platform  |  Daily Performance Dashboard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9802368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29</a:t>
            </a:r>
            <a:endParaRPr lang="en-US" sz="800" dirty="0"/>
          </a:p>
        </p:txBody>
      </p:sp>
      <p:pic>
        <p:nvPicPr>
          <p:cNvPr id="11" name="Image 2" descr="/home/user/HatemIsa_202508993_IT9002_NLP_Project/emyaa-ceo-deck/working/charts/emyaa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6336792"/>
            <a:ext cx="1024128" cy="3657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66928" y="1408176"/>
            <a:ext cx="45720" cy="155448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665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DOWNLOADS &amp; RATINGS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6692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66928" y="170078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152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188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downloads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 Store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216712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6692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66928" y="279806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3152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149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73152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downloads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73152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Apple App Store</a:t>
            </a:r>
            <a:endParaRPr lang="en-US" sz="850" dirty="0"/>
          </a:p>
        </p:txBody>
      </p:sp>
      <p:sp>
        <p:nvSpPr>
          <p:cNvPr id="25" name="Text 20"/>
          <p:cNvSpPr txBox="1"/>
          <p:nvPr/>
        </p:nvSpPr>
        <p:spPr>
          <a:xfrm>
            <a:off x="216712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6692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66928" y="389534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3152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29" name="Text 24"/>
          <p:cNvSpPr txBox="1"/>
          <p:nvPr/>
        </p:nvSpPr>
        <p:spPr>
          <a:xfrm>
            <a:off x="73152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app rating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73152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Play, 2 reviews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56692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66928" y="499262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3152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34" name="Text 29"/>
          <p:cNvSpPr txBox="1"/>
          <p:nvPr/>
        </p:nvSpPr>
        <p:spPr>
          <a:xfrm>
            <a:off x="73152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app rating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73152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 Store, 2 reviews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3378708" y="1408176"/>
            <a:ext cx="45720" cy="155448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48843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 ACTIVITY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337870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3378708" y="170078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354330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</a:t>
            </a:r>
            <a:endParaRPr lang="en-US" sz="2400" dirty="0"/>
          </a:p>
        </p:txBody>
      </p:sp>
      <p:sp>
        <p:nvSpPr>
          <p:cNvPr id="41" name="Text 36"/>
          <p:cNvSpPr txBox="1"/>
          <p:nvPr/>
        </p:nvSpPr>
        <p:spPr>
          <a:xfrm>
            <a:off x="354330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deposited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354330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Funded accounts</a:t>
            </a:r>
            <a:endParaRPr lang="en-US" sz="850" dirty="0"/>
          </a:p>
        </p:txBody>
      </p:sp>
      <p:sp>
        <p:nvSpPr>
          <p:cNvPr id="43" name="Text 38"/>
          <p:cNvSpPr txBox="1"/>
          <p:nvPr/>
        </p:nvSpPr>
        <p:spPr>
          <a:xfrm>
            <a:off x="497890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337870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3378708" y="279806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354330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$8,321.93</a:t>
            </a:r>
            <a:endParaRPr lang="en-US" sz="1900" dirty="0"/>
          </a:p>
        </p:txBody>
      </p:sp>
      <p:sp>
        <p:nvSpPr>
          <p:cNvPr id="47" name="Text 42"/>
          <p:cNvSpPr txBox="1"/>
          <p:nvPr/>
        </p:nvSpPr>
        <p:spPr>
          <a:xfrm>
            <a:off x="354330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deposits</a:t>
            </a:r>
            <a:endParaRPr lang="en-US" sz="1050" dirty="0"/>
          </a:p>
        </p:txBody>
      </p:sp>
      <p:sp>
        <p:nvSpPr>
          <p:cNvPr id="48" name="Text 43"/>
          <p:cNvSpPr txBox="1"/>
          <p:nvPr/>
        </p:nvSpPr>
        <p:spPr>
          <a:xfrm>
            <a:off x="354330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Cumulative platform deposits</a:t>
            </a:r>
            <a:endParaRPr lang="en-US" sz="850" dirty="0"/>
          </a:p>
        </p:txBody>
      </p:sp>
      <p:sp>
        <p:nvSpPr>
          <p:cNvPr id="49" name="Text 44"/>
          <p:cNvSpPr txBox="1"/>
          <p:nvPr/>
        </p:nvSpPr>
        <p:spPr>
          <a:xfrm>
            <a:off x="497890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337870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3378708" y="389534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354330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</a:t>
            </a:r>
            <a:endParaRPr lang="en-US" sz="2400" dirty="0"/>
          </a:p>
        </p:txBody>
      </p:sp>
      <p:sp>
        <p:nvSpPr>
          <p:cNvPr id="53" name="Text 48"/>
          <p:cNvSpPr txBox="1"/>
          <p:nvPr/>
        </p:nvSpPr>
        <p:spPr>
          <a:xfrm>
            <a:off x="354330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traded</a:t>
            </a:r>
            <a:endParaRPr lang="en-US" sz="1050" dirty="0"/>
          </a:p>
        </p:txBody>
      </p:sp>
      <p:sp>
        <p:nvSpPr>
          <p:cNvPr id="54" name="Text 49"/>
          <p:cNvSpPr txBox="1"/>
          <p:nvPr/>
        </p:nvSpPr>
        <p:spPr>
          <a:xfrm>
            <a:off x="354330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Placed at least 1 trade</a:t>
            </a:r>
            <a:endParaRPr lang="en-US" sz="850" dirty="0"/>
          </a:p>
        </p:txBody>
      </p:sp>
      <p:sp>
        <p:nvSpPr>
          <p:cNvPr id="55" name="Text 50"/>
          <p:cNvSpPr txBox="1"/>
          <p:nvPr/>
        </p:nvSpPr>
        <p:spPr>
          <a:xfrm>
            <a:off x="497890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6" name="Shape 51"/>
          <p:cNvSpPr/>
          <p:nvPr/>
        </p:nvSpPr>
        <p:spPr>
          <a:xfrm>
            <a:off x="337870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3378708" y="499262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354330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37</a:t>
            </a:r>
            <a:endParaRPr lang="en-US" sz="2400" dirty="0"/>
          </a:p>
        </p:txBody>
      </p:sp>
      <p:sp>
        <p:nvSpPr>
          <p:cNvPr id="59" name="Text 54"/>
          <p:cNvSpPr txBox="1"/>
          <p:nvPr/>
        </p:nvSpPr>
        <p:spPr>
          <a:xfrm>
            <a:off x="354330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trades</a:t>
            </a:r>
            <a:endParaRPr lang="en-US" sz="1050" dirty="0"/>
          </a:p>
        </p:txBody>
      </p:sp>
      <p:sp>
        <p:nvSpPr>
          <p:cNvPr id="60" name="Text 55"/>
          <p:cNvSpPr txBox="1"/>
          <p:nvPr/>
        </p:nvSpPr>
        <p:spPr>
          <a:xfrm>
            <a:off x="354330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Executed across all users</a:t>
            </a:r>
            <a:endParaRPr lang="en-US" sz="850" dirty="0"/>
          </a:p>
        </p:txBody>
      </p:sp>
      <p:sp>
        <p:nvSpPr>
          <p:cNvPr id="61" name="Text 56"/>
          <p:cNvSpPr txBox="1"/>
          <p:nvPr/>
        </p:nvSpPr>
        <p:spPr>
          <a:xfrm>
            <a:off x="497890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62" name="Shape 57"/>
          <p:cNvSpPr/>
          <p:nvPr/>
        </p:nvSpPr>
        <p:spPr>
          <a:xfrm>
            <a:off x="6190488" y="1408176"/>
            <a:ext cx="45720" cy="1554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630021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KYC STATUS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619048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6190488" y="170078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635508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38</a:t>
            </a:r>
            <a:endParaRPr lang="en-US" sz="2400" dirty="0"/>
          </a:p>
        </p:txBody>
      </p:sp>
      <p:sp>
        <p:nvSpPr>
          <p:cNvPr id="67" name="Text 62"/>
          <p:cNvSpPr txBox="1"/>
          <p:nvPr/>
        </p:nvSpPr>
        <p:spPr>
          <a:xfrm>
            <a:off x="635508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onboarded</a:t>
            </a:r>
            <a:endParaRPr lang="en-US" sz="1050" dirty="0"/>
          </a:p>
        </p:txBody>
      </p:sp>
      <p:sp>
        <p:nvSpPr>
          <p:cNvPr id="68" name="Text 63"/>
          <p:cNvSpPr txBox="1"/>
          <p:nvPr/>
        </p:nvSpPr>
        <p:spPr>
          <a:xfrm>
            <a:off x="635508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Completed signup and verification</a:t>
            </a:r>
            <a:endParaRPr lang="en-US" sz="850" dirty="0"/>
          </a:p>
        </p:txBody>
      </p:sp>
      <p:sp>
        <p:nvSpPr>
          <p:cNvPr id="69" name="Text 64"/>
          <p:cNvSpPr txBox="1"/>
          <p:nvPr/>
        </p:nvSpPr>
        <p:spPr>
          <a:xfrm>
            <a:off x="779068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70" name="Shape 65"/>
          <p:cNvSpPr/>
          <p:nvPr/>
        </p:nvSpPr>
        <p:spPr>
          <a:xfrm>
            <a:off x="619048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6190488" y="279806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2" name="Text 67"/>
          <p:cNvSpPr txBox="1"/>
          <p:nvPr/>
        </p:nvSpPr>
        <p:spPr>
          <a:xfrm>
            <a:off x="635508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145</a:t>
            </a:r>
            <a:endParaRPr lang="en-US" sz="2400" dirty="0"/>
          </a:p>
        </p:txBody>
      </p:sp>
      <p:sp>
        <p:nvSpPr>
          <p:cNvPr id="73" name="Text 68"/>
          <p:cNvSpPr txBox="1"/>
          <p:nvPr/>
        </p:nvSpPr>
        <p:spPr>
          <a:xfrm>
            <a:off x="635508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Incomplete KYC</a:t>
            </a:r>
            <a:endParaRPr lang="en-US" sz="1050" dirty="0"/>
          </a:p>
        </p:txBody>
      </p:sp>
      <p:sp>
        <p:nvSpPr>
          <p:cNvPr id="74" name="Text 69"/>
          <p:cNvSpPr txBox="1"/>
          <p:nvPr/>
        </p:nvSpPr>
        <p:spPr>
          <a:xfrm>
            <a:off x="635508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Started KYC but did not proceed</a:t>
            </a:r>
            <a:endParaRPr lang="en-US" sz="850" dirty="0"/>
          </a:p>
        </p:txBody>
      </p:sp>
      <p:sp>
        <p:nvSpPr>
          <p:cNvPr id="75" name="Text 70"/>
          <p:cNvSpPr txBox="1"/>
          <p:nvPr/>
        </p:nvSpPr>
        <p:spPr>
          <a:xfrm>
            <a:off x="779068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76" name="Shape 71"/>
          <p:cNvSpPr/>
          <p:nvPr/>
        </p:nvSpPr>
        <p:spPr>
          <a:xfrm>
            <a:off x="619048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6190488" y="389534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8" name="Text 73"/>
          <p:cNvSpPr txBox="1"/>
          <p:nvPr/>
        </p:nvSpPr>
        <p:spPr>
          <a:xfrm>
            <a:off x="635508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</a:t>
            </a:r>
            <a:endParaRPr lang="en-US" sz="2400" dirty="0"/>
          </a:p>
        </p:txBody>
      </p:sp>
      <p:sp>
        <p:nvSpPr>
          <p:cNvPr id="79" name="Text 74"/>
          <p:cNvSpPr txBox="1"/>
          <p:nvPr/>
        </p:nvSpPr>
        <p:spPr>
          <a:xfrm>
            <a:off x="635508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Rejected KYC</a:t>
            </a:r>
            <a:endParaRPr lang="en-US" sz="1050" dirty="0"/>
          </a:p>
        </p:txBody>
      </p:sp>
      <p:sp>
        <p:nvSpPr>
          <p:cNvPr id="80" name="Text 75"/>
          <p:cNvSpPr txBox="1"/>
          <p:nvPr/>
        </p:nvSpPr>
        <p:spPr>
          <a:xfrm>
            <a:off x="635508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Resubmission required</a:t>
            </a:r>
            <a:endParaRPr lang="en-US" sz="850" dirty="0"/>
          </a:p>
        </p:txBody>
      </p:sp>
      <p:sp>
        <p:nvSpPr>
          <p:cNvPr id="81" name="Text 76"/>
          <p:cNvSpPr txBox="1"/>
          <p:nvPr/>
        </p:nvSpPr>
        <p:spPr>
          <a:xfrm>
            <a:off x="779068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82" name="Shape 77"/>
          <p:cNvSpPr/>
          <p:nvPr/>
        </p:nvSpPr>
        <p:spPr>
          <a:xfrm>
            <a:off x="619048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6190488" y="499262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4" name="Text 79"/>
          <p:cNvSpPr txBox="1"/>
          <p:nvPr/>
        </p:nvSpPr>
        <p:spPr>
          <a:xfrm>
            <a:off x="635508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188</a:t>
            </a:r>
            <a:endParaRPr lang="en-US" sz="2400" dirty="0"/>
          </a:p>
        </p:txBody>
      </p:sp>
      <p:sp>
        <p:nvSpPr>
          <p:cNvPr id="85" name="Text 80"/>
          <p:cNvSpPr txBox="1"/>
          <p:nvPr/>
        </p:nvSpPr>
        <p:spPr>
          <a:xfrm>
            <a:off x="635508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KYC applications</a:t>
            </a:r>
            <a:endParaRPr lang="en-US" sz="1050" dirty="0"/>
          </a:p>
        </p:txBody>
      </p:sp>
      <p:sp>
        <p:nvSpPr>
          <p:cNvPr id="86" name="Text 81"/>
          <p:cNvSpPr txBox="1"/>
          <p:nvPr/>
        </p:nvSpPr>
        <p:spPr>
          <a:xfrm>
            <a:off x="635508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Onboarded + incomplete + rejected</a:t>
            </a:r>
            <a:endParaRPr lang="en-US" sz="850" dirty="0"/>
          </a:p>
        </p:txBody>
      </p:sp>
      <p:sp>
        <p:nvSpPr>
          <p:cNvPr id="87" name="Shape 82"/>
          <p:cNvSpPr/>
          <p:nvPr/>
        </p:nvSpPr>
        <p:spPr>
          <a:xfrm>
            <a:off x="9002268" y="1408176"/>
            <a:ext cx="45720" cy="155448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88" name="Text 83"/>
          <p:cNvSpPr txBox="1"/>
          <p:nvPr/>
        </p:nvSpPr>
        <p:spPr>
          <a:xfrm>
            <a:off x="911199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SUPPORT TICKETS</a:t>
            </a:r>
            <a:endParaRPr lang="en-US" sz="900" dirty="0"/>
          </a:p>
        </p:txBody>
      </p:sp>
      <p:sp>
        <p:nvSpPr>
          <p:cNvPr id="89" name="Shape 84"/>
          <p:cNvSpPr/>
          <p:nvPr/>
        </p:nvSpPr>
        <p:spPr>
          <a:xfrm>
            <a:off x="900226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9002268" y="170078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1" name="Text 86"/>
          <p:cNvSpPr txBox="1"/>
          <p:nvPr/>
        </p:nvSpPr>
        <p:spPr>
          <a:xfrm>
            <a:off x="916686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25</a:t>
            </a:r>
            <a:endParaRPr lang="en-US" sz="2400" dirty="0"/>
          </a:p>
        </p:txBody>
      </p:sp>
      <p:sp>
        <p:nvSpPr>
          <p:cNvPr id="92" name="Text 87"/>
          <p:cNvSpPr txBox="1"/>
          <p:nvPr/>
        </p:nvSpPr>
        <p:spPr>
          <a:xfrm>
            <a:off x="916686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created</a:t>
            </a:r>
            <a:endParaRPr lang="en-US" sz="1050" dirty="0"/>
          </a:p>
        </p:txBody>
      </p:sp>
      <p:sp>
        <p:nvSpPr>
          <p:cNvPr id="93" name="Text 88"/>
          <p:cNvSpPr txBox="1"/>
          <p:nvPr/>
        </p:nvSpPr>
        <p:spPr>
          <a:xfrm>
            <a:off x="916686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94" name="Text 89"/>
          <p:cNvSpPr txBox="1"/>
          <p:nvPr/>
        </p:nvSpPr>
        <p:spPr>
          <a:xfrm>
            <a:off x="1060246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95" name="Shape 90"/>
          <p:cNvSpPr/>
          <p:nvPr/>
        </p:nvSpPr>
        <p:spPr>
          <a:xfrm>
            <a:off x="900226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9002268" y="279806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7" name="Text 92"/>
          <p:cNvSpPr txBox="1"/>
          <p:nvPr/>
        </p:nvSpPr>
        <p:spPr>
          <a:xfrm>
            <a:off x="916686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</a:t>
            </a:r>
            <a:endParaRPr lang="en-US" sz="2400" dirty="0"/>
          </a:p>
        </p:txBody>
      </p:sp>
      <p:sp>
        <p:nvSpPr>
          <p:cNvPr id="98" name="Text 93"/>
          <p:cNvSpPr txBox="1"/>
          <p:nvPr/>
        </p:nvSpPr>
        <p:spPr>
          <a:xfrm>
            <a:off x="916686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resolved</a:t>
            </a:r>
            <a:endParaRPr lang="en-US" sz="1050" dirty="0"/>
          </a:p>
        </p:txBody>
      </p:sp>
      <p:sp>
        <p:nvSpPr>
          <p:cNvPr id="99" name="Text 94"/>
          <p:cNvSpPr txBox="1"/>
          <p:nvPr/>
        </p:nvSpPr>
        <p:spPr>
          <a:xfrm>
            <a:off x="916686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96% of tickets created</a:t>
            </a:r>
            <a:endParaRPr lang="en-US" sz="850" dirty="0"/>
          </a:p>
        </p:txBody>
      </p:sp>
      <p:sp>
        <p:nvSpPr>
          <p:cNvPr id="100" name="Text 95"/>
          <p:cNvSpPr txBox="1"/>
          <p:nvPr/>
        </p:nvSpPr>
        <p:spPr>
          <a:xfrm>
            <a:off x="1060246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1" name="Shape 96"/>
          <p:cNvSpPr/>
          <p:nvPr/>
        </p:nvSpPr>
        <p:spPr>
          <a:xfrm>
            <a:off x="900226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9002268" y="389534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3" name="Text 98"/>
          <p:cNvSpPr txBox="1"/>
          <p:nvPr/>
        </p:nvSpPr>
        <p:spPr>
          <a:xfrm>
            <a:off x="916686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</a:t>
            </a:r>
            <a:endParaRPr lang="en-US" sz="2400" dirty="0"/>
          </a:p>
        </p:txBody>
      </p:sp>
      <p:sp>
        <p:nvSpPr>
          <p:cNvPr id="104" name="Text 99"/>
          <p:cNvSpPr txBox="1"/>
          <p:nvPr/>
        </p:nvSpPr>
        <p:spPr>
          <a:xfrm>
            <a:off x="916686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Email queries</a:t>
            </a:r>
            <a:endParaRPr lang="en-US" sz="1050" dirty="0"/>
          </a:p>
        </p:txBody>
      </p:sp>
      <p:sp>
        <p:nvSpPr>
          <p:cNvPr id="105" name="Text 100"/>
          <p:cNvSpPr txBox="1"/>
          <p:nvPr/>
        </p:nvSpPr>
        <p:spPr>
          <a:xfrm>
            <a:off x="916686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06" name="Text 101"/>
          <p:cNvSpPr txBox="1"/>
          <p:nvPr/>
        </p:nvSpPr>
        <p:spPr>
          <a:xfrm>
            <a:off x="1060246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7" name="Shape 102"/>
          <p:cNvSpPr/>
          <p:nvPr/>
        </p:nvSpPr>
        <p:spPr>
          <a:xfrm>
            <a:off x="900226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9002268" y="499262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9" name="Text 104"/>
          <p:cNvSpPr txBox="1"/>
          <p:nvPr/>
        </p:nvSpPr>
        <p:spPr>
          <a:xfrm>
            <a:off x="916686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21</a:t>
            </a:r>
            <a:endParaRPr lang="en-US" sz="2400" dirty="0"/>
          </a:p>
        </p:txBody>
      </p:sp>
      <p:sp>
        <p:nvSpPr>
          <p:cNvPr id="110" name="Text 105"/>
          <p:cNvSpPr txBox="1"/>
          <p:nvPr/>
        </p:nvSpPr>
        <p:spPr>
          <a:xfrm>
            <a:off x="916686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AI support queries</a:t>
            </a:r>
            <a:endParaRPr lang="en-US" sz="1050" dirty="0"/>
          </a:p>
        </p:txBody>
      </p:sp>
      <p:sp>
        <p:nvSpPr>
          <p:cNvPr id="111" name="Text 106"/>
          <p:cNvSpPr txBox="1"/>
          <p:nvPr/>
        </p:nvSpPr>
        <p:spPr>
          <a:xfrm>
            <a:off x="916686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12" name="Text 107"/>
          <p:cNvSpPr txBox="1"/>
          <p:nvPr/>
        </p:nvSpPr>
        <p:spPr>
          <a:xfrm>
            <a:off x="1060246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atemIsa_202508993_IT9002_NLP_Project/emyaa-ceo-deck/working/charts/board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188720"/>
            <a:ext cx="12191695" cy="24689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66928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F3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PLATFORM ANALYTICS  |  PERFORMANCE DASHBOARD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57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 date: 18 Aug 2026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868680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6CFE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Reporting period: All Time   |   Change on each card is against the previous report, 17 Aug 2026</a:t>
            </a:r>
            <a:endParaRPr lang="en-US" sz="1000" dirty="0"/>
          </a:p>
        </p:txBody>
      </p:sp>
      <p:pic>
        <p:nvPicPr>
          <p:cNvPr id="7" name="Image 1" descr="/home/user/HatemIsa_202508993_IT9002_NLP_Project/emyaa-ceo-deck/working/charts/ajy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02336"/>
            <a:ext cx="13258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" y="6272784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Source: eMYAA Daily Performance Dashboard, eMYAA_-_Daily_Performance_Dashboard-1.pdf, page 27. This report labels the money card 'Total Deposits'; later reports label the same measure 'Total AUM'.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eMYAA Trading Platform  |  Daily Performance Dashboard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9802368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30</a:t>
            </a:r>
            <a:endParaRPr lang="en-US" sz="800" dirty="0"/>
          </a:p>
        </p:txBody>
      </p:sp>
      <p:pic>
        <p:nvPicPr>
          <p:cNvPr id="11" name="Image 2" descr="/home/user/HatemIsa_202508993_IT9002_NLP_Project/emyaa-ceo-deck/working/charts/emyaa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6336792"/>
            <a:ext cx="1024128" cy="3657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66928" y="1408176"/>
            <a:ext cx="45720" cy="155448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665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DOWNLOADS &amp; RATINGS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6692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66928" y="170078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152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188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downloads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 Store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216712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6692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66928" y="279806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3152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149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73152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downloads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73152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Apple App Store</a:t>
            </a:r>
            <a:endParaRPr lang="en-US" sz="850" dirty="0"/>
          </a:p>
        </p:txBody>
      </p:sp>
      <p:sp>
        <p:nvSpPr>
          <p:cNvPr id="25" name="Text 20"/>
          <p:cNvSpPr txBox="1"/>
          <p:nvPr/>
        </p:nvSpPr>
        <p:spPr>
          <a:xfrm>
            <a:off x="216712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6692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66928" y="389534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3152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29" name="Text 24"/>
          <p:cNvSpPr txBox="1"/>
          <p:nvPr/>
        </p:nvSpPr>
        <p:spPr>
          <a:xfrm>
            <a:off x="73152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app rating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73152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Play, 2 reviews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56692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66928" y="499262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3152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34" name="Text 29"/>
          <p:cNvSpPr txBox="1"/>
          <p:nvPr/>
        </p:nvSpPr>
        <p:spPr>
          <a:xfrm>
            <a:off x="73152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app rating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73152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 Store, 2 reviews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3378708" y="1408176"/>
            <a:ext cx="45720" cy="155448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48843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 ACTIVITY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337870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3378708" y="170078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354330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</a:t>
            </a:r>
            <a:endParaRPr lang="en-US" sz="2400" dirty="0"/>
          </a:p>
        </p:txBody>
      </p:sp>
      <p:sp>
        <p:nvSpPr>
          <p:cNvPr id="41" name="Text 36"/>
          <p:cNvSpPr txBox="1"/>
          <p:nvPr/>
        </p:nvSpPr>
        <p:spPr>
          <a:xfrm>
            <a:off x="354330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deposited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354330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Funded accounts</a:t>
            </a:r>
            <a:endParaRPr lang="en-US" sz="850" dirty="0"/>
          </a:p>
        </p:txBody>
      </p:sp>
      <p:sp>
        <p:nvSpPr>
          <p:cNvPr id="43" name="Text 38"/>
          <p:cNvSpPr txBox="1"/>
          <p:nvPr/>
        </p:nvSpPr>
        <p:spPr>
          <a:xfrm>
            <a:off x="497890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337870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3378708" y="279806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354330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$8,321.93</a:t>
            </a:r>
            <a:endParaRPr lang="en-US" sz="1900" dirty="0"/>
          </a:p>
        </p:txBody>
      </p:sp>
      <p:sp>
        <p:nvSpPr>
          <p:cNvPr id="47" name="Text 42"/>
          <p:cNvSpPr txBox="1"/>
          <p:nvPr/>
        </p:nvSpPr>
        <p:spPr>
          <a:xfrm>
            <a:off x="354330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deposits</a:t>
            </a:r>
            <a:endParaRPr lang="en-US" sz="1050" dirty="0"/>
          </a:p>
        </p:txBody>
      </p:sp>
      <p:sp>
        <p:nvSpPr>
          <p:cNvPr id="48" name="Text 43"/>
          <p:cNvSpPr txBox="1"/>
          <p:nvPr/>
        </p:nvSpPr>
        <p:spPr>
          <a:xfrm>
            <a:off x="354330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Cumulative platform deposits</a:t>
            </a:r>
            <a:endParaRPr lang="en-US" sz="850" dirty="0"/>
          </a:p>
        </p:txBody>
      </p:sp>
      <p:sp>
        <p:nvSpPr>
          <p:cNvPr id="49" name="Text 44"/>
          <p:cNvSpPr txBox="1"/>
          <p:nvPr/>
        </p:nvSpPr>
        <p:spPr>
          <a:xfrm>
            <a:off x="497890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+$500.00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337870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3378708" y="389534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354330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</a:t>
            </a:r>
            <a:endParaRPr lang="en-US" sz="2400" dirty="0"/>
          </a:p>
        </p:txBody>
      </p:sp>
      <p:sp>
        <p:nvSpPr>
          <p:cNvPr id="53" name="Text 48"/>
          <p:cNvSpPr txBox="1"/>
          <p:nvPr/>
        </p:nvSpPr>
        <p:spPr>
          <a:xfrm>
            <a:off x="354330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traded</a:t>
            </a:r>
            <a:endParaRPr lang="en-US" sz="1050" dirty="0"/>
          </a:p>
        </p:txBody>
      </p:sp>
      <p:sp>
        <p:nvSpPr>
          <p:cNvPr id="54" name="Text 49"/>
          <p:cNvSpPr txBox="1"/>
          <p:nvPr/>
        </p:nvSpPr>
        <p:spPr>
          <a:xfrm>
            <a:off x="354330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Placed at least 1 trade</a:t>
            </a:r>
            <a:endParaRPr lang="en-US" sz="850" dirty="0"/>
          </a:p>
        </p:txBody>
      </p:sp>
      <p:sp>
        <p:nvSpPr>
          <p:cNvPr id="55" name="Text 50"/>
          <p:cNvSpPr txBox="1"/>
          <p:nvPr/>
        </p:nvSpPr>
        <p:spPr>
          <a:xfrm>
            <a:off x="497890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6" name="Shape 51"/>
          <p:cNvSpPr/>
          <p:nvPr/>
        </p:nvSpPr>
        <p:spPr>
          <a:xfrm>
            <a:off x="337870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3378708" y="499262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354330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37</a:t>
            </a:r>
            <a:endParaRPr lang="en-US" sz="2400" dirty="0"/>
          </a:p>
        </p:txBody>
      </p:sp>
      <p:sp>
        <p:nvSpPr>
          <p:cNvPr id="59" name="Text 54"/>
          <p:cNvSpPr txBox="1"/>
          <p:nvPr/>
        </p:nvSpPr>
        <p:spPr>
          <a:xfrm>
            <a:off x="354330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trades</a:t>
            </a:r>
            <a:endParaRPr lang="en-US" sz="1050" dirty="0"/>
          </a:p>
        </p:txBody>
      </p:sp>
      <p:sp>
        <p:nvSpPr>
          <p:cNvPr id="60" name="Text 55"/>
          <p:cNvSpPr txBox="1"/>
          <p:nvPr/>
        </p:nvSpPr>
        <p:spPr>
          <a:xfrm>
            <a:off x="354330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Executed across all users</a:t>
            </a:r>
            <a:endParaRPr lang="en-US" sz="850" dirty="0"/>
          </a:p>
        </p:txBody>
      </p:sp>
      <p:sp>
        <p:nvSpPr>
          <p:cNvPr id="61" name="Text 56"/>
          <p:cNvSpPr txBox="1"/>
          <p:nvPr/>
        </p:nvSpPr>
        <p:spPr>
          <a:xfrm>
            <a:off x="497890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62" name="Shape 57"/>
          <p:cNvSpPr/>
          <p:nvPr/>
        </p:nvSpPr>
        <p:spPr>
          <a:xfrm>
            <a:off x="6190488" y="1408176"/>
            <a:ext cx="45720" cy="1554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630021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KYC STATUS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619048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6190488" y="170078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635508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38</a:t>
            </a:r>
            <a:endParaRPr lang="en-US" sz="2400" dirty="0"/>
          </a:p>
        </p:txBody>
      </p:sp>
      <p:sp>
        <p:nvSpPr>
          <p:cNvPr id="67" name="Text 62"/>
          <p:cNvSpPr txBox="1"/>
          <p:nvPr/>
        </p:nvSpPr>
        <p:spPr>
          <a:xfrm>
            <a:off x="635508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onboarded</a:t>
            </a:r>
            <a:endParaRPr lang="en-US" sz="1050" dirty="0"/>
          </a:p>
        </p:txBody>
      </p:sp>
      <p:sp>
        <p:nvSpPr>
          <p:cNvPr id="68" name="Text 63"/>
          <p:cNvSpPr txBox="1"/>
          <p:nvPr/>
        </p:nvSpPr>
        <p:spPr>
          <a:xfrm>
            <a:off x="635508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Completed signup and verification</a:t>
            </a:r>
            <a:endParaRPr lang="en-US" sz="850" dirty="0"/>
          </a:p>
        </p:txBody>
      </p:sp>
      <p:sp>
        <p:nvSpPr>
          <p:cNvPr id="69" name="Text 64"/>
          <p:cNvSpPr txBox="1"/>
          <p:nvPr/>
        </p:nvSpPr>
        <p:spPr>
          <a:xfrm>
            <a:off x="779068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70" name="Shape 65"/>
          <p:cNvSpPr/>
          <p:nvPr/>
        </p:nvSpPr>
        <p:spPr>
          <a:xfrm>
            <a:off x="619048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6190488" y="279806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2" name="Text 67"/>
          <p:cNvSpPr txBox="1"/>
          <p:nvPr/>
        </p:nvSpPr>
        <p:spPr>
          <a:xfrm>
            <a:off x="635508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145</a:t>
            </a:r>
            <a:endParaRPr lang="en-US" sz="2400" dirty="0"/>
          </a:p>
        </p:txBody>
      </p:sp>
      <p:sp>
        <p:nvSpPr>
          <p:cNvPr id="73" name="Text 68"/>
          <p:cNvSpPr txBox="1"/>
          <p:nvPr/>
        </p:nvSpPr>
        <p:spPr>
          <a:xfrm>
            <a:off x="635508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Incomplete KYC</a:t>
            </a:r>
            <a:endParaRPr lang="en-US" sz="1050" dirty="0"/>
          </a:p>
        </p:txBody>
      </p:sp>
      <p:sp>
        <p:nvSpPr>
          <p:cNvPr id="74" name="Text 69"/>
          <p:cNvSpPr txBox="1"/>
          <p:nvPr/>
        </p:nvSpPr>
        <p:spPr>
          <a:xfrm>
            <a:off x="635508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Started KYC but did not proceed</a:t>
            </a:r>
            <a:endParaRPr lang="en-US" sz="850" dirty="0"/>
          </a:p>
        </p:txBody>
      </p:sp>
      <p:sp>
        <p:nvSpPr>
          <p:cNvPr id="75" name="Text 70"/>
          <p:cNvSpPr txBox="1"/>
          <p:nvPr/>
        </p:nvSpPr>
        <p:spPr>
          <a:xfrm>
            <a:off x="779068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-1</a:t>
            </a:r>
            <a:endParaRPr lang="en-US" sz="850" dirty="0"/>
          </a:p>
        </p:txBody>
      </p:sp>
      <p:sp>
        <p:nvSpPr>
          <p:cNvPr id="76" name="Shape 71"/>
          <p:cNvSpPr/>
          <p:nvPr/>
        </p:nvSpPr>
        <p:spPr>
          <a:xfrm>
            <a:off x="619048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6190488" y="389534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8" name="Text 73"/>
          <p:cNvSpPr txBox="1"/>
          <p:nvPr/>
        </p:nvSpPr>
        <p:spPr>
          <a:xfrm>
            <a:off x="635508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</a:t>
            </a:r>
            <a:endParaRPr lang="en-US" sz="2400" dirty="0"/>
          </a:p>
        </p:txBody>
      </p:sp>
      <p:sp>
        <p:nvSpPr>
          <p:cNvPr id="79" name="Text 74"/>
          <p:cNvSpPr txBox="1"/>
          <p:nvPr/>
        </p:nvSpPr>
        <p:spPr>
          <a:xfrm>
            <a:off x="635508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Rejected KYC</a:t>
            </a:r>
            <a:endParaRPr lang="en-US" sz="1050" dirty="0"/>
          </a:p>
        </p:txBody>
      </p:sp>
      <p:sp>
        <p:nvSpPr>
          <p:cNvPr id="80" name="Text 75"/>
          <p:cNvSpPr txBox="1"/>
          <p:nvPr/>
        </p:nvSpPr>
        <p:spPr>
          <a:xfrm>
            <a:off x="635508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Resubmission required</a:t>
            </a:r>
            <a:endParaRPr lang="en-US" sz="850" dirty="0"/>
          </a:p>
        </p:txBody>
      </p:sp>
      <p:sp>
        <p:nvSpPr>
          <p:cNvPr id="81" name="Text 76"/>
          <p:cNvSpPr txBox="1"/>
          <p:nvPr/>
        </p:nvSpPr>
        <p:spPr>
          <a:xfrm>
            <a:off x="779068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82" name="Shape 77"/>
          <p:cNvSpPr/>
          <p:nvPr/>
        </p:nvSpPr>
        <p:spPr>
          <a:xfrm>
            <a:off x="619048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6190488" y="499262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4" name="Text 79"/>
          <p:cNvSpPr txBox="1"/>
          <p:nvPr/>
        </p:nvSpPr>
        <p:spPr>
          <a:xfrm>
            <a:off x="635508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188</a:t>
            </a:r>
            <a:endParaRPr lang="en-US" sz="2400" dirty="0"/>
          </a:p>
        </p:txBody>
      </p:sp>
      <p:sp>
        <p:nvSpPr>
          <p:cNvPr id="85" name="Text 80"/>
          <p:cNvSpPr txBox="1"/>
          <p:nvPr/>
        </p:nvSpPr>
        <p:spPr>
          <a:xfrm>
            <a:off x="635508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KYC applications</a:t>
            </a:r>
            <a:endParaRPr lang="en-US" sz="1050" dirty="0"/>
          </a:p>
        </p:txBody>
      </p:sp>
      <p:sp>
        <p:nvSpPr>
          <p:cNvPr id="86" name="Text 81"/>
          <p:cNvSpPr txBox="1"/>
          <p:nvPr/>
        </p:nvSpPr>
        <p:spPr>
          <a:xfrm>
            <a:off x="635508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Onboarded + incomplete + rejected</a:t>
            </a:r>
            <a:endParaRPr lang="en-US" sz="850" dirty="0"/>
          </a:p>
        </p:txBody>
      </p:sp>
      <p:sp>
        <p:nvSpPr>
          <p:cNvPr id="87" name="Shape 82"/>
          <p:cNvSpPr/>
          <p:nvPr/>
        </p:nvSpPr>
        <p:spPr>
          <a:xfrm>
            <a:off x="9002268" y="1408176"/>
            <a:ext cx="45720" cy="155448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88" name="Text 83"/>
          <p:cNvSpPr txBox="1"/>
          <p:nvPr/>
        </p:nvSpPr>
        <p:spPr>
          <a:xfrm>
            <a:off x="911199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SUPPORT TICKETS</a:t>
            </a:r>
            <a:endParaRPr lang="en-US" sz="900" dirty="0"/>
          </a:p>
        </p:txBody>
      </p:sp>
      <p:sp>
        <p:nvSpPr>
          <p:cNvPr id="89" name="Shape 84"/>
          <p:cNvSpPr/>
          <p:nvPr/>
        </p:nvSpPr>
        <p:spPr>
          <a:xfrm>
            <a:off x="900226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9002268" y="170078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1" name="Text 86"/>
          <p:cNvSpPr txBox="1"/>
          <p:nvPr/>
        </p:nvSpPr>
        <p:spPr>
          <a:xfrm>
            <a:off x="916686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25</a:t>
            </a:r>
            <a:endParaRPr lang="en-US" sz="2400" dirty="0"/>
          </a:p>
        </p:txBody>
      </p:sp>
      <p:sp>
        <p:nvSpPr>
          <p:cNvPr id="92" name="Text 87"/>
          <p:cNvSpPr txBox="1"/>
          <p:nvPr/>
        </p:nvSpPr>
        <p:spPr>
          <a:xfrm>
            <a:off x="916686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created</a:t>
            </a:r>
            <a:endParaRPr lang="en-US" sz="1050" dirty="0"/>
          </a:p>
        </p:txBody>
      </p:sp>
      <p:sp>
        <p:nvSpPr>
          <p:cNvPr id="93" name="Text 88"/>
          <p:cNvSpPr txBox="1"/>
          <p:nvPr/>
        </p:nvSpPr>
        <p:spPr>
          <a:xfrm>
            <a:off x="916686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94" name="Text 89"/>
          <p:cNvSpPr txBox="1"/>
          <p:nvPr/>
        </p:nvSpPr>
        <p:spPr>
          <a:xfrm>
            <a:off x="1060246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95" name="Shape 90"/>
          <p:cNvSpPr/>
          <p:nvPr/>
        </p:nvSpPr>
        <p:spPr>
          <a:xfrm>
            <a:off x="900226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9002268" y="279806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7" name="Text 92"/>
          <p:cNvSpPr txBox="1"/>
          <p:nvPr/>
        </p:nvSpPr>
        <p:spPr>
          <a:xfrm>
            <a:off x="916686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</a:t>
            </a:r>
            <a:endParaRPr lang="en-US" sz="2400" dirty="0"/>
          </a:p>
        </p:txBody>
      </p:sp>
      <p:sp>
        <p:nvSpPr>
          <p:cNvPr id="98" name="Text 93"/>
          <p:cNvSpPr txBox="1"/>
          <p:nvPr/>
        </p:nvSpPr>
        <p:spPr>
          <a:xfrm>
            <a:off x="916686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resolved</a:t>
            </a:r>
            <a:endParaRPr lang="en-US" sz="1050" dirty="0"/>
          </a:p>
        </p:txBody>
      </p:sp>
      <p:sp>
        <p:nvSpPr>
          <p:cNvPr id="99" name="Text 94"/>
          <p:cNvSpPr txBox="1"/>
          <p:nvPr/>
        </p:nvSpPr>
        <p:spPr>
          <a:xfrm>
            <a:off x="916686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96% of tickets created</a:t>
            </a:r>
            <a:endParaRPr lang="en-US" sz="850" dirty="0"/>
          </a:p>
        </p:txBody>
      </p:sp>
      <p:sp>
        <p:nvSpPr>
          <p:cNvPr id="100" name="Text 95"/>
          <p:cNvSpPr txBox="1"/>
          <p:nvPr/>
        </p:nvSpPr>
        <p:spPr>
          <a:xfrm>
            <a:off x="1060246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1" name="Shape 96"/>
          <p:cNvSpPr/>
          <p:nvPr/>
        </p:nvSpPr>
        <p:spPr>
          <a:xfrm>
            <a:off x="900226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9002268" y="389534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3" name="Text 98"/>
          <p:cNvSpPr txBox="1"/>
          <p:nvPr/>
        </p:nvSpPr>
        <p:spPr>
          <a:xfrm>
            <a:off x="916686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</a:t>
            </a:r>
            <a:endParaRPr lang="en-US" sz="2400" dirty="0"/>
          </a:p>
        </p:txBody>
      </p:sp>
      <p:sp>
        <p:nvSpPr>
          <p:cNvPr id="104" name="Text 99"/>
          <p:cNvSpPr txBox="1"/>
          <p:nvPr/>
        </p:nvSpPr>
        <p:spPr>
          <a:xfrm>
            <a:off x="916686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Email queries</a:t>
            </a:r>
            <a:endParaRPr lang="en-US" sz="1050" dirty="0"/>
          </a:p>
        </p:txBody>
      </p:sp>
      <p:sp>
        <p:nvSpPr>
          <p:cNvPr id="105" name="Text 100"/>
          <p:cNvSpPr txBox="1"/>
          <p:nvPr/>
        </p:nvSpPr>
        <p:spPr>
          <a:xfrm>
            <a:off x="916686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06" name="Text 101"/>
          <p:cNvSpPr txBox="1"/>
          <p:nvPr/>
        </p:nvSpPr>
        <p:spPr>
          <a:xfrm>
            <a:off x="1060246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7" name="Shape 102"/>
          <p:cNvSpPr/>
          <p:nvPr/>
        </p:nvSpPr>
        <p:spPr>
          <a:xfrm>
            <a:off x="900226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9002268" y="499262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9" name="Text 104"/>
          <p:cNvSpPr txBox="1"/>
          <p:nvPr/>
        </p:nvSpPr>
        <p:spPr>
          <a:xfrm>
            <a:off x="916686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21</a:t>
            </a:r>
            <a:endParaRPr lang="en-US" sz="2400" dirty="0"/>
          </a:p>
        </p:txBody>
      </p:sp>
      <p:sp>
        <p:nvSpPr>
          <p:cNvPr id="110" name="Text 105"/>
          <p:cNvSpPr txBox="1"/>
          <p:nvPr/>
        </p:nvSpPr>
        <p:spPr>
          <a:xfrm>
            <a:off x="916686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AI support queries</a:t>
            </a:r>
            <a:endParaRPr lang="en-US" sz="1050" dirty="0"/>
          </a:p>
        </p:txBody>
      </p:sp>
      <p:sp>
        <p:nvSpPr>
          <p:cNvPr id="111" name="Text 106"/>
          <p:cNvSpPr txBox="1"/>
          <p:nvPr/>
        </p:nvSpPr>
        <p:spPr>
          <a:xfrm>
            <a:off x="916686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12" name="Text 107"/>
          <p:cNvSpPr txBox="1"/>
          <p:nvPr/>
        </p:nvSpPr>
        <p:spPr>
          <a:xfrm>
            <a:off x="1060246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atemIsa_202508993_IT9002_NLP_Project/emyaa-ceo-deck/working/charts/board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188720"/>
            <a:ext cx="12191695" cy="24689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66928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F3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PLATFORM ANALYTICS  |  PERFORMANCE DASHBOARD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57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 date: 17 Aug 2026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868680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6CFE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Reporting period: All Time   |   Change on each card is against the previous report, 16 Aug 2026</a:t>
            </a:r>
            <a:endParaRPr lang="en-US" sz="1000" dirty="0"/>
          </a:p>
        </p:txBody>
      </p:sp>
      <p:pic>
        <p:nvPicPr>
          <p:cNvPr id="7" name="Image 1" descr="/home/user/HatemIsa_202508993_IT9002_NLP_Project/emyaa-ceo-deck/working/charts/ajy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02336"/>
            <a:ext cx="13258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" y="6272784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Source: eMYAA Daily Performance Dashboard, eMYAA_-_Daily_Performance_Dashboard-1.pdf, page 28. This report labels the money card 'Total Deposits'; later reports label the same measure 'Total AUM'.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eMYAA Trading Platform  |  Daily Performance Dashboard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9802368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31</a:t>
            </a:r>
            <a:endParaRPr lang="en-US" sz="800" dirty="0"/>
          </a:p>
        </p:txBody>
      </p:sp>
      <p:pic>
        <p:nvPicPr>
          <p:cNvPr id="11" name="Image 2" descr="/home/user/HatemIsa_202508993_IT9002_NLP_Project/emyaa-ceo-deck/working/charts/emyaa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6336792"/>
            <a:ext cx="1024128" cy="3657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66928" y="1408176"/>
            <a:ext cx="45720" cy="155448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665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DOWNLOADS &amp; RATINGS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6692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66928" y="170078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152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188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downloads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 Store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216712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6692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66928" y="279806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3152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148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73152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downloads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73152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Apple App Store</a:t>
            </a:r>
            <a:endParaRPr lang="en-US" sz="850" dirty="0"/>
          </a:p>
        </p:txBody>
      </p:sp>
      <p:sp>
        <p:nvSpPr>
          <p:cNvPr id="25" name="Text 20"/>
          <p:cNvSpPr txBox="1"/>
          <p:nvPr/>
        </p:nvSpPr>
        <p:spPr>
          <a:xfrm>
            <a:off x="216712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+2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6692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66928" y="389534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3152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29" name="Text 24"/>
          <p:cNvSpPr txBox="1"/>
          <p:nvPr/>
        </p:nvSpPr>
        <p:spPr>
          <a:xfrm>
            <a:off x="73152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app rating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73152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Play, 2 reviews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56692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66928" y="499262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3152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34" name="Text 29"/>
          <p:cNvSpPr txBox="1"/>
          <p:nvPr/>
        </p:nvSpPr>
        <p:spPr>
          <a:xfrm>
            <a:off x="73152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app rating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73152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 Store, 2 reviews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3378708" y="1408176"/>
            <a:ext cx="45720" cy="155448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48843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 ACTIVITY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337870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3378708" y="170078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354330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</a:t>
            </a:r>
            <a:endParaRPr lang="en-US" sz="2400" dirty="0"/>
          </a:p>
        </p:txBody>
      </p:sp>
      <p:sp>
        <p:nvSpPr>
          <p:cNvPr id="41" name="Text 36"/>
          <p:cNvSpPr txBox="1"/>
          <p:nvPr/>
        </p:nvSpPr>
        <p:spPr>
          <a:xfrm>
            <a:off x="354330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deposited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354330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Funded accounts</a:t>
            </a:r>
            <a:endParaRPr lang="en-US" sz="850" dirty="0"/>
          </a:p>
        </p:txBody>
      </p:sp>
      <p:sp>
        <p:nvSpPr>
          <p:cNvPr id="43" name="Text 38"/>
          <p:cNvSpPr txBox="1"/>
          <p:nvPr/>
        </p:nvSpPr>
        <p:spPr>
          <a:xfrm>
            <a:off x="497890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337870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3378708" y="279806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354330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$7,821.93</a:t>
            </a:r>
            <a:endParaRPr lang="en-US" sz="1900" dirty="0"/>
          </a:p>
        </p:txBody>
      </p:sp>
      <p:sp>
        <p:nvSpPr>
          <p:cNvPr id="47" name="Text 42"/>
          <p:cNvSpPr txBox="1"/>
          <p:nvPr/>
        </p:nvSpPr>
        <p:spPr>
          <a:xfrm>
            <a:off x="354330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deposits</a:t>
            </a:r>
            <a:endParaRPr lang="en-US" sz="1050" dirty="0"/>
          </a:p>
        </p:txBody>
      </p:sp>
      <p:sp>
        <p:nvSpPr>
          <p:cNvPr id="48" name="Text 43"/>
          <p:cNvSpPr txBox="1"/>
          <p:nvPr/>
        </p:nvSpPr>
        <p:spPr>
          <a:xfrm>
            <a:off x="354330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Cumulative platform deposits</a:t>
            </a:r>
            <a:endParaRPr lang="en-US" sz="850" dirty="0"/>
          </a:p>
        </p:txBody>
      </p:sp>
      <p:sp>
        <p:nvSpPr>
          <p:cNvPr id="49" name="Text 44"/>
          <p:cNvSpPr txBox="1"/>
          <p:nvPr/>
        </p:nvSpPr>
        <p:spPr>
          <a:xfrm>
            <a:off x="497890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337870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3378708" y="389534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354330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</a:t>
            </a:r>
            <a:endParaRPr lang="en-US" sz="2400" dirty="0"/>
          </a:p>
        </p:txBody>
      </p:sp>
      <p:sp>
        <p:nvSpPr>
          <p:cNvPr id="53" name="Text 48"/>
          <p:cNvSpPr txBox="1"/>
          <p:nvPr/>
        </p:nvSpPr>
        <p:spPr>
          <a:xfrm>
            <a:off x="354330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traded</a:t>
            </a:r>
            <a:endParaRPr lang="en-US" sz="1050" dirty="0"/>
          </a:p>
        </p:txBody>
      </p:sp>
      <p:sp>
        <p:nvSpPr>
          <p:cNvPr id="54" name="Text 49"/>
          <p:cNvSpPr txBox="1"/>
          <p:nvPr/>
        </p:nvSpPr>
        <p:spPr>
          <a:xfrm>
            <a:off x="354330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Placed at least 1 trade</a:t>
            </a:r>
            <a:endParaRPr lang="en-US" sz="850" dirty="0"/>
          </a:p>
        </p:txBody>
      </p:sp>
      <p:sp>
        <p:nvSpPr>
          <p:cNvPr id="55" name="Text 50"/>
          <p:cNvSpPr txBox="1"/>
          <p:nvPr/>
        </p:nvSpPr>
        <p:spPr>
          <a:xfrm>
            <a:off x="497890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6" name="Shape 51"/>
          <p:cNvSpPr/>
          <p:nvPr/>
        </p:nvSpPr>
        <p:spPr>
          <a:xfrm>
            <a:off x="337870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3378708" y="499262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354330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36</a:t>
            </a:r>
            <a:endParaRPr lang="en-US" sz="2400" dirty="0"/>
          </a:p>
        </p:txBody>
      </p:sp>
      <p:sp>
        <p:nvSpPr>
          <p:cNvPr id="59" name="Text 54"/>
          <p:cNvSpPr txBox="1"/>
          <p:nvPr/>
        </p:nvSpPr>
        <p:spPr>
          <a:xfrm>
            <a:off x="354330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trades</a:t>
            </a:r>
            <a:endParaRPr lang="en-US" sz="1050" dirty="0"/>
          </a:p>
        </p:txBody>
      </p:sp>
      <p:sp>
        <p:nvSpPr>
          <p:cNvPr id="60" name="Text 55"/>
          <p:cNvSpPr txBox="1"/>
          <p:nvPr/>
        </p:nvSpPr>
        <p:spPr>
          <a:xfrm>
            <a:off x="354330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Executed across all users</a:t>
            </a:r>
            <a:endParaRPr lang="en-US" sz="850" dirty="0"/>
          </a:p>
        </p:txBody>
      </p:sp>
      <p:sp>
        <p:nvSpPr>
          <p:cNvPr id="61" name="Text 56"/>
          <p:cNvSpPr txBox="1"/>
          <p:nvPr/>
        </p:nvSpPr>
        <p:spPr>
          <a:xfrm>
            <a:off x="497890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62" name="Shape 57"/>
          <p:cNvSpPr/>
          <p:nvPr/>
        </p:nvSpPr>
        <p:spPr>
          <a:xfrm>
            <a:off x="6190488" y="1408176"/>
            <a:ext cx="45720" cy="1554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630021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KYC STATUS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619048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6190488" y="170078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635508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37</a:t>
            </a:r>
            <a:endParaRPr lang="en-US" sz="2400" dirty="0"/>
          </a:p>
        </p:txBody>
      </p:sp>
      <p:sp>
        <p:nvSpPr>
          <p:cNvPr id="67" name="Text 62"/>
          <p:cNvSpPr txBox="1"/>
          <p:nvPr/>
        </p:nvSpPr>
        <p:spPr>
          <a:xfrm>
            <a:off x="635508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onboarded</a:t>
            </a:r>
            <a:endParaRPr lang="en-US" sz="1050" dirty="0"/>
          </a:p>
        </p:txBody>
      </p:sp>
      <p:sp>
        <p:nvSpPr>
          <p:cNvPr id="68" name="Text 63"/>
          <p:cNvSpPr txBox="1"/>
          <p:nvPr/>
        </p:nvSpPr>
        <p:spPr>
          <a:xfrm>
            <a:off x="635508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Completed signup and verification</a:t>
            </a:r>
            <a:endParaRPr lang="en-US" sz="850" dirty="0"/>
          </a:p>
        </p:txBody>
      </p:sp>
      <p:sp>
        <p:nvSpPr>
          <p:cNvPr id="69" name="Text 64"/>
          <p:cNvSpPr txBox="1"/>
          <p:nvPr/>
        </p:nvSpPr>
        <p:spPr>
          <a:xfrm>
            <a:off x="779068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70" name="Shape 65"/>
          <p:cNvSpPr/>
          <p:nvPr/>
        </p:nvSpPr>
        <p:spPr>
          <a:xfrm>
            <a:off x="619048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6190488" y="279806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2" name="Text 67"/>
          <p:cNvSpPr txBox="1"/>
          <p:nvPr/>
        </p:nvSpPr>
        <p:spPr>
          <a:xfrm>
            <a:off x="635508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146</a:t>
            </a:r>
            <a:endParaRPr lang="en-US" sz="2400" dirty="0"/>
          </a:p>
        </p:txBody>
      </p:sp>
      <p:sp>
        <p:nvSpPr>
          <p:cNvPr id="73" name="Text 68"/>
          <p:cNvSpPr txBox="1"/>
          <p:nvPr/>
        </p:nvSpPr>
        <p:spPr>
          <a:xfrm>
            <a:off x="635508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Incomplete KYC</a:t>
            </a:r>
            <a:endParaRPr lang="en-US" sz="1050" dirty="0"/>
          </a:p>
        </p:txBody>
      </p:sp>
      <p:sp>
        <p:nvSpPr>
          <p:cNvPr id="74" name="Text 69"/>
          <p:cNvSpPr txBox="1"/>
          <p:nvPr/>
        </p:nvSpPr>
        <p:spPr>
          <a:xfrm>
            <a:off x="635508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Started KYC but did not proceed</a:t>
            </a:r>
            <a:endParaRPr lang="en-US" sz="850" dirty="0"/>
          </a:p>
        </p:txBody>
      </p:sp>
      <p:sp>
        <p:nvSpPr>
          <p:cNvPr id="75" name="Text 70"/>
          <p:cNvSpPr txBox="1"/>
          <p:nvPr/>
        </p:nvSpPr>
        <p:spPr>
          <a:xfrm>
            <a:off x="779068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5303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+4</a:t>
            </a:r>
            <a:endParaRPr lang="en-US" sz="850" dirty="0"/>
          </a:p>
        </p:txBody>
      </p:sp>
      <p:sp>
        <p:nvSpPr>
          <p:cNvPr id="76" name="Shape 71"/>
          <p:cNvSpPr/>
          <p:nvPr/>
        </p:nvSpPr>
        <p:spPr>
          <a:xfrm>
            <a:off x="619048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6190488" y="389534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8" name="Text 73"/>
          <p:cNvSpPr txBox="1"/>
          <p:nvPr/>
        </p:nvSpPr>
        <p:spPr>
          <a:xfrm>
            <a:off x="635508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</a:t>
            </a:r>
            <a:endParaRPr lang="en-US" sz="2400" dirty="0"/>
          </a:p>
        </p:txBody>
      </p:sp>
      <p:sp>
        <p:nvSpPr>
          <p:cNvPr id="79" name="Text 74"/>
          <p:cNvSpPr txBox="1"/>
          <p:nvPr/>
        </p:nvSpPr>
        <p:spPr>
          <a:xfrm>
            <a:off x="635508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Rejected KYC</a:t>
            </a:r>
            <a:endParaRPr lang="en-US" sz="1050" dirty="0"/>
          </a:p>
        </p:txBody>
      </p:sp>
      <p:sp>
        <p:nvSpPr>
          <p:cNvPr id="80" name="Text 75"/>
          <p:cNvSpPr txBox="1"/>
          <p:nvPr/>
        </p:nvSpPr>
        <p:spPr>
          <a:xfrm>
            <a:off x="635508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Resubmission required</a:t>
            </a:r>
            <a:endParaRPr lang="en-US" sz="850" dirty="0"/>
          </a:p>
        </p:txBody>
      </p:sp>
      <p:sp>
        <p:nvSpPr>
          <p:cNvPr id="81" name="Text 76"/>
          <p:cNvSpPr txBox="1"/>
          <p:nvPr/>
        </p:nvSpPr>
        <p:spPr>
          <a:xfrm>
            <a:off x="779068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82" name="Shape 77"/>
          <p:cNvSpPr/>
          <p:nvPr/>
        </p:nvSpPr>
        <p:spPr>
          <a:xfrm>
            <a:off x="619048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6190488" y="499262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4" name="Text 79"/>
          <p:cNvSpPr txBox="1"/>
          <p:nvPr/>
        </p:nvSpPr>
        <p:spPr>
          <a:xfrm>
            <a:off x="635508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188</a:t>
            </a:r>
            <a:endParaRPr lang="en-US" sz="2400" dirty="0"/>
          </a:p>
        </p:txBody>
      </p:sp>
      <p:sp>
        <p:nvSpPr>
          <p:cNvPr id="85" name="Text 80"/>
          <p:cNvSpPr txBox="1"/>
          <p:nvPr/>
        </p:nvSpPr>
        <p:spPr>
          <a:xfrm>
            <a:off x="635508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KYC applications</a:t>
            </a:r>
            <a:endParaRPr lang="en-US" sz="1050" dirty="0"/>
          </a:p>
        </p:txBody>
      </p:sp>
      <p:sp>
        <p:nvSpPr>
          <p:cNvPr id="86" name="Text 81"/>
          <p:cNvSpPr txBox="1"/>
          <p:nvPr/>
        </p:nvSpPr>
        <p:spPr>
          <a:xfrm>
            <a:off x="635508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Onboarded + incomplete + rejected</a:t>
            </a:r>
            <a:endParaRPr lang="en-US" sz="850" dirty="0"/>
          </a:p>
        </p:txBody>
      </p:sp>
      <p:sp>
        <p:nvSpPr>
          <p:cNvPr id="87" name="Shape 82"/>
          <p:cNvSpPr/>
          <p:nvPr/>
        </p:nvSpPr>
        <p:spPr>
          <a:xfrm>
            <a:off x="9002268" y="1408176"/>
            <a:ext cx="45720" cy="155448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88" name="Text 83"/>
          <p:cNvSpPr txBox="1"/>
          <p:nvPr/>
        </p:nvSpPr>
        <p:spPr>
          <a:xfrm>
            <a:off x="911199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SUPPORT TICKETS</a:t>
            </a:r>
            <a:endParaRPr lang="en-US" sz="900" dirty="0"/>
          </a:p>
        </p:txBody>
      </p:sp>
      <p:sp>
        <p:nvSpPr>
          <p:cNvPr id="89" name="Shape 84"/>
          <p:cNvSpPr/>
          <p:nvPr/>
        </p:nvSpPr>
        <p:spPr>
          <a:xfrm>
            <a:off x="900226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9002268" y="170078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1" name="Text 86"/>
          <p:cNvSpPr txBox="1"/>
          <p:nvPr/>
        </p:nvSpPr>
        <p:spPr>
          <a:xfrm>
            <a:off x="916686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25</a:t>
            </a:r>
            <a:endParaRPr lang="en-US" sz="2400" dirty="0"/>
          </a:p>
        </p:txBody>
      </p:sp>
      <p:sp>
        <p:nvSpPr>
          <p:cNvPr id="92" name="Text 87"/>
          <p:cNvSpPr txBox="1"/>
          <p:nvPr/>
        </p:nvSpPr>
        <p:spPr>
          <a:xfrm>
            <a:off x="916686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created</a:t>
            </a:r>
            <a:endParaRPr lang="en-US" sz="1050" dirty="0"/>
          </a:p>
        </p:txBody>
      </p:sp>
      <p:sp>
        <p:nvSpPr>
          <p:cNvPr id="93" name="Text 88"/>
          <p:cNvSpPr txBox="1"/>
          <p:nvPr/>
        </p:nvSpPr>
        <p:spPr>
          <a:xfrm>
            <a:off x="916686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94" name="Text 89"/>
          <p:cNvSpPr txBox="1"/>
          <p:nvPr/>
        </p:nvSpPr>
        <p:spPr>
          <a:xfrm>
            <a:off x="1060246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95" name="Shape 90"/>
          <p:cNvSpPr/>
          <p:nvPr/>
        </p:nvSpPr>
        <p:spPr>
          <a:xfrm>
            <a:off x="900226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9002268" y="279806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7" name="Text 92"/>
          <p:cNvSpPr txBox="1"/>
          <p:nvPr/>
        </p:nvSpPr>
        <p:spPr>
          <a:xfrm>
            <a:off x="916686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</a:t>
            </a:r>
            <a:endParaRPr lang="en-US" sz="2400" dirty="0"/>
          </a:p>
        </p:txBody>
      </p:sp>
      <p:sp>
        <p:nvSpPr>
          <p:cNvPr id="98" name="Text 93"/>
          <p:cNvSpPr txBox="1"/>
          <p:nvPr/>
        </p:nvSpPr>
        <p:spPr>
          <a:xfrm>
            <a:off x="916686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resolved</a:t>
            </a:r>
            <a:endParaRPr lang="en-US" sz="1050" dirty="0"/>
          </a:p>
        </p:txBody>
      </p:sp>
      <p:sp>
        <p:nvSpPr>
          <p:cNvPr id="99" name="Text 94"/>
          <p:cNvSpPr txBox="1"/>
          <p:nvPr/>
        </p:nvSpPr>
        <p:spPr>
          <a:xfrm>
            <a:off x="916686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96% of tickets created</a:t>
            </a:r>
            <a:endParaRPr lang="en-US" sz="850" dirty="0"/>
          </a:p>
        </p:txBody>
      </p:sp>
      <p:sp>
        <p:nvSpPr>
          <p:cNvPr id="100" name="Text 95"/>
          <p:cNvSpPr txBox="1"/>
          <p:nvPr/>
        </p:nvSpPr>
        <p:spPr>
          <a:xfrm>
            <a:off x="1060246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1" name="Shape 96"/>
          <p:cNvSpPr/>
          <p:nvPr/>
        </p:nvSpPr>
        <p:spPr>
          <a:xfrm>
            <a:off x="900226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9002268" y="389534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3" name="Text 98"/>
          <p:cNvSpPr txBox="1"/>
          <p:nvPr/>
        </p:nvSpPr>
        <p:spPr>
          <a:xfrm>
            <a:off x="916686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</a:t>
            </a:r>
            <a:endParaRPr lang="en-US" sz="2400" dirty="0"/>
          </a:p>
        </p:txBody>
      </p:sp>
      <p:sp>
        <p:nvSpPr>
          <p:cNvPr id="104" name="Text 99"/>
          <p:cNvSpPr txBox="1"/>
          <p:nvPr/>
        </p:nvSpPr>
        <p:spPr>
          <a:xfrm>
            <a:off x="916686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Email queries</a:t>
            </a:r>
            <a:endParaRPr lang="en-US" sz="1050" dirty="0"/>
          </a:p>
        </p:txBody>
      </p:sp>
      <p:sp>
        <p:nvSpPr>
          <p:cNvPr id="105" name="Text 100"/>
          <p:cNvSpPr txBox="1"/>
          <p:nvPr/>
        </p:nvSpPr>
        <p:spPr>
          <a:xfrm>
            <a:off x="916686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06" name="Text 101"/>
          <p:cNvSpPr txBox="1"/>
          <p:nvPr/>
        </p:nvSpPr>
        <p:spPr>
          <a:xfrm>
            <a:off x="1060246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7" name="Shape 102"/>
          <p:cNvSpPr/>
          <p:nvPr/>
        </p:nvSpPr>
        <p:spPr>
          <a:xfrm>
            <a:off x="900226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9002268" y="499262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9" name="Text 104"/>
          <p:cNvSpPr txBox="1"/>
          <p:nvPr/>
        </p:nvSpPr>
        <p:spPr>
          <a:xfrm>
            <a:off x="916686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21</a:t>
            </a:r>
            <a:endParaRPr lang="en-US" sz="2400" dirty="0"/>
          </a:p>
        </p:txBody>
      </p:sp>
      <p:sp>
        <p:nvSpPr>
          <p:cNvPr id="110" name="Text 105"/>
          <p:cNvSpPr txBox="1"/>
          <p:nvPr/>
        </p:nvSpPr>
        <p:spPr>
          <a:xfrm>
            <a:off x="916686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AI support queries</a:t>
            </a:r>
            <a:endParaRPr lang="en-US" sz="1050" dirty="0"/>
          </a:p>
        </p:txBody>
      </p:sp>
      <p:sp>
        <p:nvSpPr>
          <p:cNvPr id="111" name="Text 106"/>
          <p:cNvSpPr txBox="1"/>
          <p:nvPr/>
        </p:nvSpPr>
        <p:spPr>
          <a:xfrm>
            <a:off x="916686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12" name="Text 107"/>
          <p:cNvSpPr txBox="1"/>
          <p:nvPr/>
        </p:nvSpPr>
        <p:spPr>
          <a:xfrm>
            <a:off x="1060246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atemIsa_202508993_IT9002_NLP_Project/emyaa-ceo-deck/working/charts/board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188720"/>
            <a:ext cx="12191695" cy="24689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66928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F3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PLATFORM ANALYTICS  |  PERFORMANCE DASHBOARD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57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 date: 16 Aug 2026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868680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6CFE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Reporting period: All Time   |   Change on each card is against the previous report, 13 Aug 2026</a:t>
            </a:r>
            <a:endParaRPr lang="en-US" sz="1000" dirty="0"/>
          </a:p>
        </p:txBody>
      </p:sp>
      <p:pic>
        <p:nvPicPr>
          <p:cNvPr id="7" name="Image 1" descr="/home/user/HatemIsa_202508993_IT9002_NLP_Project/emyaa-ceo-deck/working/charts/ajy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02336"/>
            <a:ext cx="13258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" y="6272784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Source: eMYAA Daily Performance Dashboard, eMYAA_-_Daily_Performance_Dashboard-1.pdf, page 29. This report labels the money card 'Total Deposits'; later reports label the same measure 'Total AUM'.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eMYAA Trading Platform  |  Daily Performance Dashboard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9802368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32</a:t>
            </a:r>
            <a:endParaRPr lang="en-US" sz="800" dirty="0"/>
          </a:p>
        </p:txBody>
      </p:sp>
      <p:pic>
        <p:nvPicPr>
          <p:cNvPr id="11" name="Image 2" descr="/home/user/HatemIsa_202508993_IT9002_NLP_Project/emyaa-ceo-deck/working/charts/emyaa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6336792"/>
            <a:ext cx="1024128" cy="3657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66928" y="1408176"/>
            <a:ext cx="45720" cy="155448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665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DOWNLOADS &amp; RATINGS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6692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66928" y="170078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152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188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downloads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 Store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216712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+7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6692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66928" y="279806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3152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146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73152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downloads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73152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Apple App Store</a:t>
            </a:r>
            <a:endParaRPr lang="en-US" sz="850" dirty="0"/>
          </a:p>
        </p:txBody>
      </p:sp>
      <p:sp>
        <p:nvSpPr>
          <p:cNvPr id="25" name="Text 20"/>
          <p:cNvSpPr txBox="1"/>
          <p:nvPr/>
        </p:nvSpPr>
        <p:spPr>
          <a:xfrm>
            <a:off x="216712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+4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6692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66928" y="389534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3152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29" name="Text 24"/>
          <p:cNvSpPr txBox="1"/>
          <p:nvPr/>
        </p:nvSpPr>
        <p:spPr>
          <a:xfrm>
            <a:off x="73152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app rating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73152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Play, 2 reviews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56692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66928" y="499262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3152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34" name="Text 29"/>
          <p:cNvSpPr txBox="1"/>
          <p:nvPr/>
        </p:nvSpPr>
        <p:spPr>
          <a:xfrm>
            <a:off x="73152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app rating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73152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 Store, 2 reviews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3378708" y="1408176"/>
            <a:ext cx="45720" cy="155448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48843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 ACTIVITY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337870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3378708" y="170078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354330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</a:t>
            </a:r>
            <a:endParaRPr lang="en-US" sz="2400" dirty="0"/>
          </a:p>
        </p:txBody>
      </p:sp>
      <p:sp>
        <p:nvSpPr>
          <p:cNvPr id="41" name="Text 36"/>
          <p:cNvSpPr txBox="1"/>
          <p:nvPr/>
        </p:nvSpPr>
        <p:spPr>
          <a:xfrm>
            <a:off x="354330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deposited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354330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Funded accounts</a:t>
            </a:r>
            <a:endParaRPr lang="en-US" sz="850" dirty="0"/>
          </a:p>
        </p:txBody>
      </p:sp>
      <p:sp>
        <p:nvSpPr>
          <p:cNvPr id="43" name="Text 38"/>
          <p:cNvSpPr txBox="1"/>
          <p:nvPr/>
        </p:nvSpPr>
        <p:spPr>
          <a:xfrm>
            <a:off x="497890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337870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3378708" y="279806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354330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$7,821.93</a:t>
            </a:r>
            <a:endParaRPr lang="en-US" sz="1900" dirty="0"/>
          </a:p>
        </p:txBody>
      </p:sp>
      <p:sp>
        <p:nvSpPr>
          <p:cNvPr id="47" name="Text 42"/>
          <p:cNvSpPr txBox="1"/>
          <p:nvPr/>
        </p:nvSpPr>
        <p:spPr>
          <a:xfrm>
            <a:off x="354330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deposits</a:t>
            </a:r>
            <a:endParaRPr lang="en-US" sz="1050" dirty="0"/>
          </a:p>
        </p:txBody>
      </p:sp>
      <p:sp>
        <p:nvSpPr>
          <p:cNvPr id="48" name="Text 43"/>
          <p:cNvSpPr txBox="1"/>
          <p:nvPr/>
        </p:nvSpPr>
        <p:spPr>
          <a:xfrm>
            <a:off x="354330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Cumulative platform deposits</a:t>
            </a:r>
            <a:endParaRPr lang="en-US" sz="850" dirty="0"/>
          </a:p>
        </p:txBody>
      </p:sp>
      <p:sp>
        <p:nvSpPr>
          <p:cNvPr id="49" name="Text 44"/>
          <p:cNvSpPr txBox="1"/>
          <p:nvPr/>
        </p:nvSpPr>
        <p:spPr>
          <a:xfrm>
            <a:off x="497890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337870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3378708" y="389534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354330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</a:t>
            </a:r>
            <a:endParaRPr lang="en-US" sz="2400" dirty="0"/>
          </a:p>
        </p:txBody>
      </p:sp>
      <p:sp>
        <p:nvSpPr>
          <p:cNvPr id="53" name="Text 48"/>
          <p:cNvSpPr txBox="1"/>
          <p:nvPr/>
        </p:nvSpPr>
        <p:spPr>
          <a:xfrm>
            <a:off x="354330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traded</a:t>
            </a:r>
            <a:endParaRPr lang="en-US" sz="1050" dirty="0"/>
          </a:p>
        </p:txBody>
      </p:sp>
      <p:sp>
        <p:nvSpPr>
          <p:cNvPr id="54" name="Text 49"/>
          <p:cNvSpPr txBox="1"/>
          <p:nvPr/>
        </p:nvSpPr>
        <p:spPr>
          <a:xfrm>
            <a:off x="354330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Placed at least 1 trade</a:t>
            </a:r>
            <a:endParaRPr lang="en-US" sz="850" dirty="0"/>
          </a:p>
        </p:txBody>
      </p:sp>
      <p:sp>
        <p:nvSpPr>
          <p:cNvPr id="55" name="Text 50"/>
          <p:cNvSpPr txBox="1"/>
          <p:nvPr/>
        </p:nvSpPr>
        <p:spPr>
          <a:xfrm>
            <a:off x="497890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6" name="Shape 51"/>
          <p:cNvSpPr/>
          <p:nvPr/>
        </p:nvSpPr>
        <p:spPr>
          <a:xfrm>
            <a:off x="337870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3378708" y="499262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354330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36</a:t>
            </a:r>
            <a:endParaRPr lang="en-US" sz="2400" dirty="0"/>
          </a:p>
        </p:txBody>
      </p:sp>
      <p:sp>
        <p:nvSpPr>
          <p:cNvPr id="59" name="Text 54"/>
          <p:cNvSpPr txBox="1"/>
          <p:nvPr/>
        </p:nvSpPr>
        <p:spPr>
          <a:xfrm>
            <a:off x="354330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trades</a:t>
            </a:r>
            <a:endParaRPr lang="en-US" sz="1050" dirty="0"/>
          </a:p>
        </p:txBody>
      </p:sp>
      <p:sp>
        <p:nvSpPr>
          <p:cNvPr id="60" name="Text 55"/>
          <p:cNvSpPr txBox="1"/>
          <p:nvPr/>
        </p:nvSpPr>
        <p:spPr>
          <a:xfrm>
            <a:off x="354330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Executed across all users</a:t>
            </a:r>
            <a:endParaRPr lang="en-US" sz="850" dirty="0"/>
          </a:p>
        </p:txBody>
      </p:sp>
      <p:sp>
        <p:nvSpPr>
          <p:cNvPr id="61" name="Text 56"/>
          <p:cNvSpPr txBox="1"/>
          <p:nvPr/>
        </p:nvSpPr>
        <p:spPr>
          <a:xfrm>
            <a:off x="497890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62" name="Shape 57"/>
          <p:cNvSpPr/>
          <p:nvPr/>
        </p:nvSpPr>
        <p:spPr>
          <a:xfrm>
            <a:off x="6190488" y="1408176"/>
            <a:ext cx="45720" cy="1554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630021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KYC STATUS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619048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6190488" y="170078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635508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37</a:t>
            </a:r>
            <a:endParaRPr lang="en-US" sz="2400" dirty="0"/>
          </a:p>
        </p:txBody>
      </p:sp>
      <p:sp>
        <p:nvSpPr>
          <p:cNvPr id="67" name="Text 62"/>
          <p:cNvSpPr txBox="1"/>
          <p:nvPr/>
        </p:nvSpPr>
        <p:spPr>
          <a:xfrm>
            <a:off x="635508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onboarded</a:t>
            </a:r>
            <a:endParaRPr lang="en-US" sz="1050" dirty="0"/>
          </a:p>
        </p:txBody>
      </p:sp>
      <p:sp>
        <p:nvSpPr>
          <p:cNvPr id="68" name="Text 63"/>
          <p:cNvSpPr txBox="1"/>
          <p:nvPr/>
        </p:nvSpPr>
        <p:spPr>
          <a:xfrm>
            <a:off x="635508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Completed signup and verification</a:t>
            </a:r>
            <a:endParaRPr lang="en-US" sz="850" dirty="0"/>
          </a:p>
        </p:txBody>
      </p:sp>
      <p:sp>
        <p:nvSpPr>
          <p:cNvPr id="69" name="Text 64"/>
          <p:cNvSpPr txBox="1"/>
          <p:nvPr/>
        </p:nvSpPr>
        <p:spPr>
          <a:xfrm>
            <a:off x="779068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70" name="Shape 65"/>
          <p:cNvSpPr/>
          <p:nvPr/>
        </p:nvSpPr>
        <p:spPr>
          <a:xfrm>
            <a:off x="619048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6190488" y="279806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2" name="Text 67"/>
          <p:cNvSpPr txBox="1"/>
          <p:nvPr/>
        </p:nvSpPr>
        <p:spPr>
          <a:xfrm>
            <a:off x="635508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142</a:t>
            </a:r>
            <a:endParaRPr lang="en-US" sz="2400" dirty="0"/>
          </a:p>
        </p:txBody>
      </p:sp>
      <p:sp>
        <p:nvSpPr>
          <p:cNvPr id="73" name="Text 68"/>
          <p:cNvSpPr txBox="1"/>
          <p:nvPr/>
        </p:nvSpPr>
        <p:spPr>
          <a:xfrm>
            <a:off x="635508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Incomplete KYC</a:t>
            </a:r>
            <a:endParaRPr lang="en-US" sz="1050" dirty="0"/>
          </a:p>
        </p:txBody>
      </p:sp>
      <p:sp>
        <p:nvSpPr>
          <p:cNvPr id="74" name="Text 69"/>
          <p:cNvSpPr txBox="1"/>
          <p:nvPr/>
        </p:nvSpPr>
        <p:spPr>
          <a:xfrm>
            <a:off x="635508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Started KYC but did not proceed</a:t>
            </a:r>
            <a:endParaRPr lang="en-US" sz="850" dirty="0"/>
          </a:p>
        </p:txBody>
      </p:sp>
      <p:sp>
        <p:nvSpPr>
          <p:cNvPr id="75" name="Text 70"/>
          <p:cNvSpPr txBox="1"/>
          <p:nvPr/>
        </p:nvSpPr>
        <p:spPr>
          <a:xfrm>
            <a:off x="779068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5303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+16</a:t>
            </a:r>
            <a:endParaRPr lang="en-US" sz="850" dirty="0"/>
          </a:p>
        </p:txBody>
      </p:sp>
      <p:sp>
        <p:nvSpPr>
          <p:cNvPr id="76" name="Shape 71"/>
          <p:cNvSpPr/>
          <p:nvPr/>
        </p:nvSpPr>
        <p:spPr>
          <a:xfrm>
            <a:off x="619048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6190488" y="389534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8" name="Text 73"/>
          <p:cNvSpPr txBox="1"/>
          <p:nvPr/>
        </p:nvSpPr>
        <p:spPr>
          <a:xfrm>
            <a:off x="635508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</a:t>
            </a:r>
            <a:endParaRPr lang="en-US" sz="2400" dirty="0"/>
          </a:p>
        </p:txBody>
      </p:sp>
      <p:sp>
        <p:nvSpPr>
          <p:cNvPr id="79" name="Text 74"/>
          <p:cNvSpPr txBox="1"/>
          <p:nvPr/>
        </p:nvSpPr>
        <p:spPr>
          <a:xfrm>
            <a:off x="635508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Rejected KYC</a:t>
            </a:r>
            <a:endParaRPr lang="en-US" sz="1050" dirty="0"/>
          </a:p>
        </p:txBody>
      </p:sp>
      <p:sp>
        <p:nvSpPr>
          <p:cNvPr id="80" name="Text 75"/>
          <p:cNvSpPr txBox="1"/>
          <p:nvPr/>
        </p:nvSpPr>
        <p:spPr>
          <a:xfrm>
            <a:off x="635508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Resubmission required</a:t>
            </a:r>
            <a:endParaRPr lang="en-US" sz="850" dirty="0"/>
          </a:p>
        </p:txBody>
      </p:sp>
      <p:sp>
        <p:nvSpPr>
          <p:cNvPr id="81" name="Text 76"/>
          <p:cNvSpPr txBox="1"/>
          <p:nvPr/>
        </p:nvSpPr>
        <p:spPr>
          <a:xfrm>
            <a:off x="779068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82" name="Shape 77"/>
          <p:cNvSpPr/>
          <p:nvPr/>
        </p:nvSpPr>
        <p:spPr>
          <a:xfrm>
            <a:off x="619048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6190488" y="499262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4" name="Text 79"/>
          <p:cNvSpPr txBox="1"/>
          <p:nvPr/>
        </p:nvSpPr>
        <p:spPr>
          <a:xfrm>
            <a:off x="635508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184</a:t>
            </a:r>
            <a:endParaRPr lang="en-US" sz="2400" dirty="0"/>
          </a:p>
        </p:txBody>
      </p:sp>
      <p:sp>
        <p:nvSpPr>
          <p:cNvPr id="85" name="Text 80"/>
          <p:cNvSpPr txBox="1"/>
          <p:nvPr/>
        </p:nvSpPr>
        <p:spPr>
          <a:xfrm>
            <a:off x="635508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KYC applications</a:t>
            </a:r>
            <a:endParaRPr lang="en-US" sz="1050" dirty="0"/>
          </a:p>
        </p:txBody>
      </p:sp>
      <p:sp>
        <p:nvSpPr>
          <p:cNvPr id="86" name="Text 81"/>
          <p:cNvSpPr txBox="1"/>
          <p:nvPr/>
        </p:nvSpPr>
        <p:spPr>
          <a:xfrm>
            <a:off x="635508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Onboarded + incomplete + rejected</a:t>
            </a:r>
            <a:endParaRPr lang="en-US" sz="850" dirty="0"/>
          </a:p>
        </p:txBody>
      </p:sp>
      <p:sp>
        <p:nvSpPr>
          <p:cNvPr id="87" name="Shape 82"/>
          <p:cNvSpPr/>
          <p:nvPr/>
        </p:nvSpPr>
        <p:spPr>
          <a:xfrm>
            <a:off x="9002268" y="1408176"/>
            <a:ext cx="45720" cy="155448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88" name="Text 83"/>
          <p:cNvSpPr txBox="1"/>
          <p:nvPr/>
        </p:nvSpPr>
        <p:spPr>
          <a:xfrm>
            <a:off x="911199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SUPPORT TICKETS</a:t>
            </a:r>
            <a:endParaRPr lang="en-US" sz="900" dirty="0"/>
          </a:p>
        </p:txBody>
      </p:sp>
      <p:sp>
        <p:nvSpPr>
          <p:cNvPr id="89" name="Shape 84"/>
          <p:cNvSpPr/>
          <p:nvPr/>
        </p:nvSpPr>
        <p:spPr>
          <a:xfrm>
            <a:off x="900226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9002268" y="170078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1" name="Text 86"/>
          <p:cNvSpPr txBox="1"/>
          <p:nvPr/>
        </p:nvSpPr>
        <p:spPr>
          <a:xfrm>
            <a:off x="916686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25</a:t>
            </a:r>
            <a:endParaRPr lang="en-US" sz="2400" dirty="0"/>
          </a:p>
        </p:txBody>
      </p:sp>
      <p:sp>
        <p:nvSpPr>
          <p:cNvPr id="92" name="Text 87"/>
          <p:cNvSpPr txBox="1"/>
          <p:nvPr/>
        </p:nvSpPr>
        <p:spPr>
          <a:xfrm>
            <a:off x="916686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created</a:t>
            </a:r>
            <a:endParaRPr lang="en-US" sz="1050" dirty="0"/>
          </a:p>
        </p:txBody>
      </p:sp>
      <p:sp>
        <p:nvSpPr>
          <p:cNvPr id="93" name="Text 88"/>
          <p:cNvSpPr txBox="1"/>
          <p:nvPr/>
        </p:nvSpPr>
        <p:spPr>
          <a:xfrm>
            <a:off x="916686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94" name="Text 89"/>
          <p:cNvSpPr txBox="1"/>
          <p:nvPr/>
        </p:nvSpPr>
        <p:spPr>
          <a:xfrm>
            <a:off x="1060246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95" name="Shape 90"/>
          <p:cNvSpPr/>
          <p:nvPr/>
        </p:nvSpPr>
        <p:spPr>
          <a:xfrm>
            <a:off x="900226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9002268" y="279806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7" name="Text 92"/>
          <p:cNvSpPr txBox="1"/>
          <p:nvPr/>
        </p:nvSpPr>
        <p:spPr>
          <a:xfrm>
            <a:off x="916686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</a:t>
            </a:r>
            <a:endParaRPr lang="en-US" sz="2400" dirty="0"/>
          </a:p>
        </p:txBody>
      </p:sp>
      <p:sp>
        <p:nvSpPr>
          <p:cNvPr id="98" name="Text 93"/>
          <p:cNvSpPr txBox="1"/>
          <p:nvPr/>
        </p:nvSpPr>
        <p:spPr>
          <a:xfrm>
            <a:off x="916686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resolved</a:t>
            </a:r>
            <a:endParaRPr lang="en-US" sz="1050" dirty="0"/>
          </a:p>
        </p:txBody>
      </p:sp>
      <p:sp>
        <p:nvSpPr>
          <p:cNvPr id="99" name="Text 94"/>
          <p:cNvSpPr txBox="1"/>
          <p:nvPr/>
        </p:nvSpPr>
        <p:spPr>
          <a:xfrm>
            <a:off x="916686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96% of tickets created</a:t>
            </a:r>
            <a:endParaRPr lang="en-US" sz="850" dirty="0"/>
          </a:p>
        </p:txBody>
      </p:sp>
      <p:sp>
        <p:nvSpPr>
          <p:cNvPr id="100" name="Text 95"/>
          <p:cNvSpPr txBox="1"/>
          <p:nvPr/>
        </p:nvSpPr>
        <p:spPr>
          <a:xfrm>
            <a:off x="1060246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1" name="Shape 96"/>
          <p:cNvSpPr/>
          <p:nvPr/>
        </p:nvSpPr>
        <p:spPr>
          <a:xfrm>
            <a:off x="900226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9002268" y="389534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3" name="Text 98"/>
          <p:cNvSpPr txBox="1"/>
          <p:nvPr/>
        </p:nvSpPr>
        <p:spPr>
          <a:xfrm>
            <a:off x="916686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</a:t>
            </a:r>
            <a:endParaRPr lang="en-US" sz="2400" dirty="0"/>
          </a:p>
        </p:txBody>
      </p:sp>
      <p:sp>
        <p:nvSpPr>
          <p:cNvPr id="104" name="Text 99"/>
          <p:cNvSpPr txBox="1"/>
          <p:nvPr/>
        </p:nvSpPr>
        <p:spPr>
          <a:xfrm>
            <a:off x="916686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Email queries</a:t>
            </a:r>
            <a:endParaRPr lang="en-US" sz="1050" dirty="0"/>
          </a:p>
        </p:txBody>
      </p:sp>
      <p:sp>
        <p:nvSpPr>
          <p:cNvPr id="105" name="Text 100"/>
          <p:cNvSpPr txBox="1"/>
          <p:nvPr/>
        </p:nvSpPr>
        <p:spPr>
          <a:xfrm>
            <a:off x="916686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06" name="Text 101"/>
          <p:cNvSpPr txBox="1"/>
          <p:nvPr/>
        </p:nvSpPr>
        <p:spPr>
          <a:xfrm>
            <a:off x="1060246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7" name="Shape 102"/>
          <p:cNvSpPr/>
          <p:nvPr/>
        </p:nvSpPr>
        <p:spPr>
          <a:xfrm>
            <a:off x="900226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9002268" y="499262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9" name="Text 104"/>
          <p:cNvSpPr txBox="1"/>
          <p:nvPr/>
        </p:nvSpPr>
        <p:spPr>
          <a:xfrm>
            <a:off x="916686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21</a:t>
            </a:r>
            <a:endParaRPr lang="en-US" sz="2400" dirty="0"/>
          </a:p>
        </p:txBody>
      </p:sp>
      <p:sp>
        <p:nvSpPr>
          <p:cNvPr id="110" name="Text 105"/>
          <p:cNvSpPr txBox="1"/>
          <p:nvPr/>
        </p:nvSpPr>
        <p:spPr>
          <a:xfrm>
            <a:off x="916686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AI support queries</a:t>
            </a:r>
            <a:endParaRPr lang="en-US" sz="1050" dirty="0"/>
          </a:p>
        </p:txBody>
      </p:sp>
      <p:sp>
        <p:nvSpPr>
          <p:cNvPr id="111" name="Text 106"/>
          <p:cNvSpPr txBox="1"/>
          <p:nvPr/>
        </p:nvSpPr>
        <p:spPr>
          <a:xfrm>
            <a:off x="916686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12" name="Text 107"/>
          <p:cNvSpPr txBox="1"/>
          <p:nvPr/>
        </p:nvSpPr>
        <p:spPr>
          <a:xfrm>
            <a:off x="1060246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atemIsa_202508993_IT9002_NLP_Project/emyaa-ceo-deck/working/charts/board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188720"/>
            <a:ext cx="12191695" cy="24689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66928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F3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PLATFORM ANALYTICS  |  PERFORMANCE DASHBOARD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57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 date: 13 Aug 2026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868680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6CFE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Reporting period: All Time   |   Change on each card is against the previous report, 12 Aug 2026</a:t>
            </a:r>
            <a:endParaRPr lang="en-US" sz="1000" dirty="0"/>
          </a:p>
        </p:txBody>
      </p:sp>
      <p:pic>
        <p:nvPicPr>
          <p:cNvPr id="7" name="Image 1" descr="/home/user/HatemIsa_202508993_IT9002_NLP_Project/emyaa-ceo-deck/working/charts/ajy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02336"/>
            <a:ext cx="13258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" y="6272784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Source: eMYAA Daily Performance Dashboard, eMYAA_-_Daily_Performance_Dashboard-1.pdf, page 30. This report labels the money card 'Total Deposits'; later reports label the same measure 'Total AUM'.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eMYAA Trading Platform  |  Daily Performance Dashboard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9802368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33</a:t>
            </a:r>
            <a:endParaRPr lang="en-US" sz="800" dirty="0"/>
          </a:p>
        </p:txBody>
      </p:sp>
      <p:pic>
        <p:nvPicPr>
          <p:cNvPr id="11" name="Image 2" descr="/home/user/HatemIsa_202508993_IT9002_NLP_Project/emyaa-ceo-deck/working/charts/emyaa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6336792"/>
            <a:ext cx="1024128" cy="3657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66928" y="1408176"/>
            <a:ext cx="45720" cy="155448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665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DOWNLOADS &amp; RATINGS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6692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66928" y="170078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152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181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downloads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 Store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216712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6692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66928" y="279806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3152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142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73152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downloads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73152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Apple App Store</a:t>
            </a:r>
            <a:endParaRPr lang="en-US" sz="850" dirty="0"/>
          </a:p>
        </p:txBody>
      </p:sp>
      <p:sp>
        <p:nvSpPr>
          <p:cNvPr id="25" name="Text 20"/>
          <p:cNvSpPr txBox="1"/>
          <p:nvPr/>
        </p:nvSpPr>
        <p:spPr>
          <a:xfrm>
            <a:off x="216712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+4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6692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66928" y="389534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3152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29" name="Text 24"/>
          <p:cNvSpPr txBox="1"/>
          <p:nvPr/>
        </p:nvSpPr>
        <p:spPr>
          <a:xfrm>
            <a:off x="73152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app rating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73152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Play, 2 reviews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56692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66928" y="499262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3152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34" name="Text 29"/>
          <p:cNvSpPr txBox="1"/>
          <p:nvPr/>
        </p:nvSpPr>
        <p:spPr>
          <a:xfrm>
            <a:off x="73152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app rating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73152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 Store, 2 reviews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3378708" y="1408176"/>
            <a:ext cx="45720" cy="155448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48843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 ACTIVITY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337870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3378708" y="170078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354330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</a:t>
            </a:r>
            <a:endParaRPr lang="en-US" sz="2400" dirty="0"/>
          </a:p>
        </p:txBody>
      </p:sp>
      <p:sp>
        <p:nvSpPr>
          <p:cNvPr id="41" name="Text 36"/>
          <p:cNvSpPr txBox="1"/>
          <p:nvPr/>
        </p:nvSpPr>
        <p:spPr>
          <a:xfrm>
            <a:off x="354330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deposited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354330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Funded accounts</a:t>
            </a:r>
            <a:endParaRPr lang="en-US" sz="850" dirty="0"/>
          </a:p>
        </p:txBody>
      </p:sp>
      <p:sp>
        <p:nvSpPr>
          <p:cNvPr id="43" name="Text 38"/>
          <p:cNvSpPr txBox="1"/>
          <p:nvPr/>
        </p:nvSpPr>
        <p:spPr>
          <a:xfrm>
            <a:off x="497890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337870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3378708" y="279806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354330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$7,821.93</a:t>
            </a:r>
            <a:endParaRPr lang="en-US" sz="1900" dirty="0"/>
          </a:p>
        </p:txBody>
      </p:sp>
      <p:sp>
        <p:nvSpPr>
          <p:cNvPr id="47" name="Text 42"/>
          <p:cNvSpPr txBox="1"/>
          <p:nvPr/>
        </p:nvSpPr>
        <p:spPr>
          <a:xfrm>
            <a:off x="354330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deposits</a:t>
            </a:r>
            <a:endParaRPr lang="en-US" sz="1050" dirty="0"/>
          </a:p>
        </p:txBody>
      </p:sp>
      <p:sp>
        <p:nvSpPr>
          <p:cNvPr id="48" name="Text 43"/>
          <p:cNvSpPr txBox="1"/>
          <p:nvPr/>
        </p:nvSpPr>
        <p:spPr>
          <a:xfrm>
            <a:off x="354330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Cumulative platform deposits</a:t>
            </a:r>
            <a:endParaRPr lang="en-US" sz="850" dirty="0"/>
          </a:p>
        </p:txBody>
      </p:sp>
      <p:sp>
        <p:nvSpPr>
          <p:cNvPr id="49" name="Text 44"/>
          <p:cNvSpPr txBox="1"/>
          <p:nvPr/>
        </p:nvSpPr>
        <p:spPr>
          <a:xfrm>
            <a:off x="497890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5303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-$837.28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337870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3378708" y="389534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354330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</a:t>
            </a:r>
            <a:endParaRPr lang="en-US" sz="2400" dirty="0"/>
          </a:p>
        </p:txBody>
      </p:sp>
      <p:sp>
        <p:nvSpPr>
          <p:cNvPr id="53" name="Text 48"/>
          <p:cNvSpPr txBox="1"/>
          <p:nvPr/>
        </p:nvSpPr>
        <p:spPr>
          <a:xfrm>
            <a:off x="354330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traded</a:t>
            </a:r>
            <a:endParaRPr lang="en-US" sz="1050" dirty="0"/>
          </a:p>
        </p:txBody>
      </p:sp>
      <p:sp>
        <p:nvSpPr>
          <p:cNvPr id="54" name="Text 49"/>
          <p:cNvSpPr txBox="1"/>
          <p:nvPr/>
        </p:nvSpPr>
        <p:spPr>
          <a:xfrm>
            <a:off x="354330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Placed at least 1 trade</a:t>
            </a:r>
            <a:endParaRPr lang="en-US" sz="850" dirty="0"/>
          </a:p>
        </p:txBody>
      </p:sp>
      <p:sp>
        <p:nvSpPr>
          <p:cNvPr id="55" name="Text 50"/>
          <p:cNvSpPr txBox="1"/>
          <p:nvPr/>
        </p:nvSpPr>
        <p:spPr>
          <a:xfrm>
            <a:off x="497890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6" name="Shape 51"/>
          <p:cNvSpPr/>
          <p:nvPr/>
        </p:nvSpPr>
        <p:spPr>
          <a:xfrm>
            <a:off x="337870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3378708" y="499262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354330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36</a:t>
            </a:r>
            <a:endParaRPr lang="en-US" sz="2400" dirty="0"/>
          </a:p>
        </p:txBody>
      </p:sp>
      <p:sp>
        <p:nvSpPr>
          <p:cNvPr id="59" name="Text 54"/>
          <p:cNvSpPr txBox="1"/>
          <p:nvPr/>
        </p:nvSpPr>
        <p:spPr>
          <a:xfrm>
            <a:off x="354330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trades</a:t>
            </a:r>
            <a:endParaRPr lang="en-US" sz="1050" dirty="0"/>
          </a:p>
        </p:txBody>
      </p:sp>
      <p:sp>
        <p:nvSpPr>
          <p:cNvPr id="60" name="Text 55"/>
          <p:cNvSpPr txBox="1"/>
          <p:nvPr/>
        </p:nvSpPr>
        <p:spPr>
          <a:xfrm>
            <a:off x="354330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Executed across all users</a:t>
            </a:r>
            <a:endParaRPr lang="en-US" sz="850" dirty="0"/>
          </a:p>
        </p:txBody>
      </p:sp>
      <p:sp>
        <p:nvSpPr>
          <p:cNvPr id="61" name="Text 56"/>
          <p:cNvSpPr txBox="1"/>
          <p:nvPr/>
        </p:nvSpPr>
        <p:spPr>
          <a:xfrm>
            <a:off x="497890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62" name="Shape 57"/>
          <p:cNvSpPr/>
          <p:nvPr/>
        </p:nvSpPr>
        <p:spPr>
          <a:xfrm>
            <a:off x="6190488" y="1408176"/>
            <a:ext cx="45720" cy="1554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630021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KYC STATUS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619048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6190488" y="170078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635508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37</a:t>
            </a:r>
            <a:endParaRPr lang="en-US" sz="2400" dirty="0"/>
          </a:p>
        </p:txBody>
      </p:sp>
      <p:sp>
        <p:nvSpPr>
          <p:cNvPr id="67" name="Text 62"/>
          <p:cNvSpPr txBox="1"/>
          <p:nvPr/>
        </p:nvSpPr>
        <p:spPr>
          <a:xfrm>
            <a:off x="635508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onboarded</a:t>
            </a:r>
            <a:endParaRPr lang="en-US" sz="1050" dirty="0"/>
          </a:p>
        </p:txBody>
      </p:sp>
      <p:sp>
        <p:nvSpPr>
          <p:cNvPr id="68" name="Text 63"/>
          <p:cNvSpPr txBox="1"/>
          <p:nvPr/>
        </p:nvSpPr>
        <p:spPr>
          <a:xfrm>
            <a:off x="635508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Completed signup and verification</a:t>
            </a:r>
            <a:endParaRPr lang="en-US" sz="850" dirty="0"/>
          </a:p>
        </p:txBody>
      </p:sp>
      <p:sp>
        <p:nvSpPr>
          <p:cNvPr id="69" name="Text 64"/>
          <p:cNvSpPr txBox="1"/>
          <p:nvPr/>
        </p:nvSpPr>
        <p:spPr>
          <a:xfrm>
            <a:off x="779068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70" name="Shape 65"/>
          <p:cNvSpPr/>
          <p:nvPr/>
        </p:nvSpPr>
        <p:spPr>
          <a:xfrm>
            <a:off x="619048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6190488" y="279806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2" name="Text 67"/>
          <p:cNvSpPr txBox="1"/>
          <p:nvPr/>
        </p:nvSpPr>
        <p:spPr>
          <a:xfrm>
            <a:off x="635508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126</a:t>
            </a:r>
            <a:endParaRPr lang="en-US" sz="2400" dirty="0"/>
          </a:p>
        </p:txBody>
      </p:sp>
      <p:sp>
        <p:nvSpPr>
          <p:cNvPr id="73" name="Text 68"/>
          <p:cNvSpPr txBox="1"/>
          <p:nvPr/>
        </p:nvSpPr>
        <p:spPr>
          <a:xfrm>
            <a:off x="635508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Incomplete KYC</a:t>
            </a:r>
            <a:endParaRPr lang="en-US" sz="1050" dirty="0"/>
          </a:p>
        </p:txBody>
      </p:sp>
      <p:sp>
        <p:nvSpPr>
          <p:cNvPr id="74" name="Text 69"/>
          <p:cNvSpPr txBox="1"/>
          <p:nvPr/>
        </p:nvSpPr>
        <p:spPr>
          <a:xfrm>
            <a:off x="635508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Started KYC but did not proceed</a:t>
            </a:r>
            <a:endParaRPr lang="en-US" sz="850" dirty="0"/>
          </a:p>
        </p:txBody>
      </p:sp>
      <p:sp>
        <p:nvSpPr>
          <p:cNvPr id="75" name="Text 70"/>
          <p:cNvSpPr txBox="1"/>
          <p:nvPr/>
        </p:nvSpPr>
        <p:spPr>
          <a:xfrm>
            <a:off x="779068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5303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76" name="Shape 71"/>
          <p:cNvSpPr/>
          <p:nvPr/>
        </p:nvSpPr>
        <p:spPr>
          <a:xfrm>
            <a:off x="619048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6190488" y="389534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8" name="Text 73"/>
          <p:cNvSpPr txBox="1"/>
          <p:nvPr/>
        </p:nvSpPr>
        <p:spPr>
          <a:xfrm>
            <a:off x="635508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</a:t>
            </a:r>
            <a:endParaRPr lang="en-US" sz="2400" dirty="0"/>
          </a:p>
        </p:txBody>
      </p:sp>
      <p:sp>
        <p:nvSpPr>
          <p:cNvPr id="79" name="Text 74"/>
          <p:cNvSpPr txBox="1"/>
          <p:nvPr/>
        </p:nvSpPr>
        <p:spPr>
          <a:xfrm>
            <a:off x="635508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Rejected KYC</a:t>
            </a:r>
            <a:endParaRPr lang="en-US" sz="1050" dirty="0"/>
          </a:p>
        </p:txBody>
      </p:sp>
      <p:sp>
        <p:nvSpPr>
          <p:cNvPr id="80" name="Text 75"/>
          <p:cNvSpPr txBox="1"/>
          <p:nvPr/>
        </p:nvSpPr>
        <p:spPr>
          <a:xfrm>
            <a:off x="635508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Resubmission required</a:t>
            </a:r>
            <a:endParaRPr lang="en-US" sz="850" dirty="0"/>
          </a:p>
        </p:txBody>
      </p:sp>
      <p:sp>
        <p:nvSpPr>
          <p:cNvPr id="81" name="Text 76"/>
          <p:cNvSpPr txBox="1"/>
          <p:nvPr/>
        </p:nvSpPr>
        <p:spPr>
          <a:xfrm>
            <a:off x="779068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82" name="Shape 77"/>
          <p:cNvSpPr/>
          <p:nvPr/>
        </p:nvSpPr>
        <p:spPr>
          <a:xfrm>
            <a:off x="619048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6190488" y="499262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4" name="Text 79"/>
          <p:cNvSpPr txBox="1"/>
          <p:nvPr/>
        </p:nvSpPr>
        <p:spPr>
          <a:xfrm>
            <a:off x="635508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168</a:t>
            </a:r>
            <a:endParaRPr lang="en-US" sz="2400" dirty="0"/>
          </a:p>
        </p:txBody>
      </p:sp>
      <p:sp>
        <p:nvSpPr>
          <p:cNvPr id="85" name="Text 80"/>
          <p:cNvSpPr txBox="1"/>
          <p:nvPr/>
        </p:nvSpPr>
        <p:spPr>
          <a:xfrm>
            <a:off x="635508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KYC applications</a:t>
            </a:r>
            <a:endParaRPr lang="en-US" sz="1050" dirty="0"/>
          </a:p>
        </p:txBody>
      </p:sp>
      <p:sp>
        <p:nvSpPr>
          <p:cNvPr id="86" name="Text 81"/>
          <p:cNvSpPr txBox="1"/>
          <p:nvPr/>
        </p:nvSpPr>
        <p:spPr>
          <a:xfrm>
            <a:off x="635508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Onboarded + incomplete + rejected</a:t>
            </a:r>
            <a:endParaRPr lang="en-US" sz="850" dirty="0"/>
          </a:p>
        </p:txBody>
      </p:sp>
      <p:sp>
        <p:nvSpPr>
          <p:cNvPr id="87" name="Shape 82"/>
          <p:cNvSpPr/>
          <p:nvPr/>
        </p:nvSpPr>
        <p:spPr>
          <a:xfrm>
            <a:off x="9002268" y="1408176"/>
            <a:ext cx="45720" cy="155448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88" name="Text 83"/>
          <p:cNvSpPr txBox="1"/>
          <p:nvPr/>
        </p:nvSpPr>
        <p:spPr>
          <a:xfrm>
            <a:off x="911199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SUPPORT TICKETS</a:t>
            </a:r>
            <a:endParaRPr lang="en-US" sz="900" dirty="0"/>
          </a:p>
        </p:txBody>
      </p:sp>
      <p:sp>
        <p:nvSpPr>
          <p:cNvPr id="89" name="Shape 84"/>
          <p:cNvSpPr/>
          <p:nvPr/>
        </p:nvSpPr>
        <p:spPr>
          <a:xfrm>
            <a:off x="900226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9002268" y="170078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1" name="Text 86"/>
          <p:cNvSpPr txBox="1"/>
          <p:nvPr/>
        </p:nvSpPr>
        <p:spPr>
          <a:xfrm>
            <a:off x="916686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25</a:t>
            </a:r>
            <a:endParaRPr lang="en-US" sz="2400" dirty="0"/>
          </a:p>
        </p:txBody>
      </p:sp>
      <p:sp>
        <p:nvSpPr>
          <p:cNvPr id="92" name="Text 87"/>
          <p:cNvSpPr txBox="1"/>
          <p:nvPr/>
        </p:nvSpPr>
        <p:spPr>
          <a:xfrm>
            <a:off x="916686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created</a:t>
            </a:r>
            <a:endParaRPr lang="en-US" sz="1050" dirty="0"/>
          </a:p>
        </p:txBody>
      </p:sp>
      <p:sp>
        <p:nvSpPr>
          <p:cNvPr id="93" name="Text 88"/>
          <p:cNvSpPr txBox="1"/>
          <p:nvPr/>
        </p:nvSpPr>
        <p:spPr>
          <a:xfrm>
            <a:off x="916686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94" name="Text 89"/>
          <p:cNvSpPr txBox="1"/>
          <p:nvPr/>
        </p:nvSpPr>
        <p:spPr>
          <a:xfrm>
            <a:off x="1060246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95" name="Shape 90"/>
          <p:cNvSpPr/>
          <p:nvPr/>
        </p:nvSpPr>
        <p:spPr>
          <a:xfrm>
            <a:off x="900226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9002268" y="279806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7" name="Text 92"/>
          <p:cNvSpPr txBox="1"/>
          <p:nvPr/>
        </p:nvSpPr>
        <p:spPr>
          <a:xfrm>
            <a:off x="916686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</a:t>
            </a:r>
            <a:endParaRPr lang="en-US" sz="2400" dirty="0"/>
          </a:p>
        </p:txBody>
      </p:sp>
      <p:sp>
        <p:nvSpPr>
          <p:cNvPr id="98" name="Text 93"/>
          <p:cNvSpPr txBox="1"/>
          <p:nvPr/>
        </p:nvSpPr>
        <p:spPr>
          <a:xfrm>
            <a:off x="916686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resolved</a:t>
            </a:r>
            <a:endParaRPr lang="en-US" sz="1050" dirty="0"/>
          </a:p>
        </p:txBody>
      </p:sp>
      <p:sp>
        <p:nvSpPr>
          <p:cNvPr id="99" name="Text 94"/>
          <p:cNvSpPr txBox="1"/>
          <p:nvPr/>
        </p:nvSpPr>
        <p:spPr>
          <a:xfrm>
            <a:off x="916686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96% of tickets created</a:t>
            </a:r>
            <a:endParaRPr lang="en-US" sz="850" dirty="0"/>
          </a:p>
        </p:txBody>
      </p:sp>
      <p:sp>
        <p:nvSpPr>
          <p:cNvPr id="100" name="Text 95"/>
          <p:cNvSpPr txBox="1"/>
          <p:nvPr/>
        </p:nvSpPr>
        <p:spPr>
          <a:xfrm>
            <a:off x="1060246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1" name="Shape 96"/>
          <p:cNvSpPr/>
          <p:nvPr/>
        </p:nvSpPr>
        <p:spPr>
          <a:xfrm>
            <a:off x="900226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9002268" y="389534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3" name="Text 98"/>
          <p:cNvSpPr txBox="1"/>
          <p:nvPr/>
        </p:nvSpPr>
        <p:spPr>
          <a:xfrm>
            <a:off x="916686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</a:t>
            </a:r>
            <a:endParaRPr lang="en-US" sz="2400" dirty="0"/>
          </a:p>
        </p:txBody>
      </p:sp>
      <p:sp>
        <p:nvSpPr>
          <p:cNvPr id="104" name="Text 99"/>
          <p:cNvSpPr txBox="1"/>
          <p:nvPr/>
        </p:nvSpPr>
        <p:spPr>
          <a:xfrm>
            <a:off x="916686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Email queries</a:t>
            </a:r>
            <a:endParaRPr lang="en-US" sz="1050" dirty="0"/>
          </a:p>
        </p:txBody>
      </p:sp>
      <p:sp>
        <p:nvSpPr>
          <p:cNvPr id="105" name="Text 100"/>
          <p:cNvSpPr txBox="1"/>
          <p:nvPr/>
        </p:nvSpPr>
        <p:spPr>
          <a:xfrm>
            <a:off x="916686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06" name="Text 101"/>
          <p:cNvSpPr txBox="1"/>
          <p:nvPr/>
        </p:nvSpPr>
        <p:spPr>
          <a:xfrm>
            <a:off x="1060246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7" name="Shape 102"/>
          <p:cNvSpPr/>
          <p:nvPr/>
        </p:nvSpPr>
        <p:spPr>
          <a:xfrm>
            <a:off x="900226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9002268" y="499262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9" name="Text 104"/>
          <p:cNvSpPr txBox="1"/>
          <p:nvPr/>
        </p:nvSpPr>
        <p:spPr>
          <a:xfrm>
            <a:off x="916686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21</a:t>
            </a:r>
            <a:endParaRPr lang="en-US" sz="2400" dirty="0"/>
          </a:p>
        </p:txBody>
      </p:sp>
      <p:sp>
        <p:nvSpPr>
          <p:cNvPr id="110" name="Text 105"/>
          <p:cNvSpPr txBox="1"/>
          <p:nvPr/>
        </p:nvSpPr>
        <p:spPr>
          <a:xfrm>
            <a:off x="916686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AI support queries</a:t>
            </a:r>
            <a:endParaRPr lang="en-US" sz="1050" dirty="0"/>
          </a:p>
        </p:txBody>
      </p:sp>
      <p:sp>
        <p:nvSpPr>
          <p:cNvPr id="111" name="Text 106"/>
          <p:cNvSpPr txBox="1"/>
          <p:nvPr/>
        </p:nvSpPr>
        <p:spPr>
          <a:xfrm>
            <a:off x="916686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12" name="Text 107"/>
          <p:cNvSpPr txBox="1"/>
          <p:nvPr/>
        </p:nvSpPr>
        <p:spPr>
          <a:xfrm>
            <a:off x="1060246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atemIsa_202508993_IT9002_NLP_Project/emyaa-ceo-deck/working/charts/board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188720"/>
            <a:ext cx="12191695" cy="24689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66928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F3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PLATFORM ANALYTICS  |  PERFORMANCE DASHBOARD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57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 date: 12 Aug 2026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868680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6CFE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Reporting period: All Time   |   Change on each card is against the previous report, 11 Aug 2026</a:t>
            </a:r>
            <a:endParaRPr lang="en-US" sz="1000" dirty="0"/>
          </a:p>
        </p:txBody>
      </p:sp>
      <p:pic>
        <p:nvPicPr>
          <p:cNvPr id="7" name="Image 1" descr="/home/user/HatemIsa_202508993_IT9002_NLP_Project/emyaa-ceo-deck/working/charts/ajy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02336"/>
            <a:ext cx="13258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" y="6272784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Source: eMYAA Daily Performance Dashboard, eMYAA_-_Daily_Performance_Dashboard-1.pdf, page 31. This report labels the money card 'Total Deposits'; later reports label the same measure 'Total AUM'.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eMYAA Trading Platform  |  Daily Performance Dashboard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9802368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34</a:t>
            </a:r>
            <a:endParaRPr lang="en-US" sz="800" dirty="0"/>
          </a:p>
        </p:txBody>
      </p:sp>
      <p:pic>
        <p:nvPicPr>
          <p:cNvPr id="11" name="Image 2" descr="/home/user/HatemIsa_202508993_IT9002_NLP_Project/emyaa-ceo-deck/working/charts/emyaa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6336792"/>
            <a:ext cx="1024128" cy="3657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66928" y="1408176"/>
            <a:ext cx="45720" cy="155448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665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DOWNLOADS &amp; RATINGS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6692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66928" y="170078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152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181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downloads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 Store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216712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6692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66928" y="279806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3152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138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73152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downloads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73152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Apple App Store</a:t>
            </a:r>
            <a:endParaRPr lang="en-US" sz="850" dirty="0"/>
          </a:p>
        </p:txBody>
      </p:sp>
      <p:sp>
        <p:nvSpPr>
          <p:cNvPr id="25" name="Text 20"/>
          <p:cNvSpPr txBox="1"/>
          <p:nvPr/>
        </p:nvSpPr>
        <p:spPr>
          <a:xfrm>
            <a:off x="216712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+28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6692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66928" y="389534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3152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29" name="Text 24"/>
          <p:cNvSpPr txBox="1"/>
          <p:nvPr/>
        </p:nvSpPr>
        <p:spPr>
          <a:xfrm>
            <a:off x="73152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app rating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73152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Play, 2 reviews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56692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66928" y="499262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3152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34" name="Text 29"/>
          <p:cNvSpPr txBox="1"/>
          <p:nvPr/>
        </p:nvSpPr>
        <p:spPr>
          <a:xfrm>
            <a:off x="73152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app rating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73152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 Store, 2 reviews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3378708" y="1408176"/>
            <a:ext cx="45720" cy="155448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48843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 ACTIVITY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337870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3378708" y="170078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354330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</a:t>
            </a:r>
            <a:endParaRPr lang="en-US" sz="2400" dirty="0"/>
          </a:p>
        </p:txBody>
      </p:sp>
      <p:sp>
        <p:nvSpPr>
          <p:cNvPr id="41" name="Text 36"/>
          <p:cNvSpPr txBox="1"/>
          <p:nvPr/>
        </p:nvSpPr>
        <p:spPr>
          <a:xfrm>
            <a:off x="354330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deposited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354330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Funded accounts</a:t>
            </a:r>
            <a:endParaRPr lang="en-US" sz="850" dirty="0"/>
          </a:p>
        </p:txBody>
      </p:sp>
      <p:sp>
        <p:nvSpPr>
          <p:cNvPr id="43" name="Text 38"/>
          <p:cNvSpPr txBox="1"/>
          <p:nvPr/>
        </p:nvSpPr>
        <p:spPr>
          <a:xfrm>
            <a:off x="497890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337870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3378708" y="279806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354330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$8,659.21</a:t>
            </a:r>
            <a:endParaRPr lang="en-US" sz="1900" dirty="0"/>
          </a:p>
        </p:txBody>
      </p:sp>
      <p:sp>
        <p:nvSpPr>
          <p:cNvPr id="47" name="Text 42"/>
          <p:cNvSpPr txBox="1"/>
          <p:nvPr/>
        </p:nvSpPr>
        <p:spPr>
          <a:xfrm>
            <a:off x="354330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deposits</a:t>
            </a:r>
            <a:endParaRPr lang="en-US" sz="1050" dirty="0"/>
          </a:p>
        </p:txBody>
      </p:sp>
      <p:sp>
        <p:nvSpPr>
          <p:cNvPr id="48" name="Text 43"/>
          <p:cNvSpPr txBox="1"/>
          <p:nvPr/>
        </p:nvSpPr>
        <p:spPr>
          <a:xfrm>
            <a:off x="354330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Cumulative platform deposits</a:t>
            </a:r>
            <a:endParaRPr lang="en-US" sz="850" dirty="0"/>
          </a:p>
        </p:txBody>
      </p:sp>
      <p:sp>
        <p:nvSpPr>
          <p:cNvPr id="49" name="Text 44"/>
          <p:cNvSpPr txBox="1"/>
          <p:nvPr/>
        </p:nvSpPr>
        <p:spPr>
          <a:xfrm>
            <a:off x="497890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+$79.38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337870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3378708" y="389534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354330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</a:t>
            </a:r>
            <a:endParaRPr lang="en-US" sz="2400" dirty="0"/>
          </a:p>
        </p:txBody>
      </p:sp>
      <p:sp>
        <p:nvSpPr>
          <p:cNvPr id="53" name="Text 48"/>
          <p:cNvSpPr txBox="1"/>
          <p:nvPr/>
        </p:nvSpPr>
        <p:spPr>
          <a:xfrm>
            <a:off x="354330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traded</a:t>
            </a:r>
            <a:endParaRPr lang="en-US" sz="1050" dirty="0"/>
          </a:p>
        </p:txBody>
      </p:sp>
      <p:sp>
        <p:nvSpPr>
          <p:cNvPr id="54" name="Text 49"/>
          <p:cNvSpPr txBox="1"/>
          <p:nvPr/>
        </p:nvSpPr>
        <p:spPr>
          <a:xfrm>
            <a:off x="354330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Placed at least 1 trade</a:t>
            </a:r>
            <a:endParaRPr lang="en-US" sz="850" dirty="0"/>
          </a:p>
        </p:txBody>
      </p:sp>
      <p:sp>
        <p:nvSpPr>
          <p:cNvPr id="55" name="Text 50"/>
          <p:cNvSpPr txBox="1"/>
          <p:nvPr/>
        </p:nvSpPr>
        <p:spPr>
          <a:xfrm>
            <a:off x="497890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56" name="Shape 51"/>
          <p:cNvSpPr/>
          <p:nvPr/>
        </p:nvSpPr>
        <p:spPr>
          <a:xfrm>
            <a:off x="337870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3378708" y="499262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354330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36</a:t>
            </a:r>
            <a:endParaRPr lang="en-US" sz="2400" dirty="0"/>
          </a:p>
        </p:txBody>
      </p:sp>
      <p:sp>
        <p:nvSpPr>
          <p:cNvPr id="59" name="Text 54"/>
          <p:cNvSpPr txBox="1"/>
          <p:nvPr/>
        </p:nvSpPr>
        <p:spPr>
          <a:xfrm>
            <a:off x="354330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trades</a:t>
            </a:r>
            <a:endParaRPr lang="en-US" sz="1050" dirty="0"/>
          </a:p>
        </p:txBody>
      </p:sp>
      <p:sp>
        <p:nvSpPr>
          <p:cNvPr id="60" name="Text 55"/>
          <p:cNvSpPr txBox="1"/>
          <p:nvPr/>
        </p:nvSpPr>
        <p:spPr>
          <a:xfrm>
            <a:off x="354330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Executed across all users</a:t>
            </a:r>
            <a:endParaRPr lang="en-US" sz="850" dirty="0"/>
          </a:p>
        </p:txBody>
      </p:sp>
      <p:sp>
        <p:nvSpPr>
          <p:cNvPr id="61" name="Text 56"/>
          <p:cNvSpPr txBox="1"/>
          <p:nvPr/>
        </p:nvSpPr>
        <p:spPr>
          <a:xfrm>
            <a:off x="497890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62" name="Shape 57"/>
          <p:cNvSpPr/>
          <p:nvPr/>
        </p:nvSpPr>
        <p:spPr>
          <a:xfrm>
            <a:off x="6190488" y="1408176"/>
            <a:ext cx="45720" cy="1554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630021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KYC STATUS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619048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6190488" y="170078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635508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36</a:t>
            </a:r>
            <a:endParaRPr lang="en-US" sz="2400" dirty="0"/>
          </a:p>
        </p:txBody>
      </p:sp>
      <p:sp>
        <p:nvSpPr>
          <p:cNvPr id="67" name="Text 62"/>
          <p:cNvSpPr txBox="1"/>
          <p:nvPr/>
        </p:nvSpPr>
        <p:spPr>
          <a:xfrm>
            <a:off x="635508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onboarded</a:t>
            </a:r>
            <a:endParaRPr lang="en-US" sz="1050" dirty="0"/>
          </a:p>
        </p:txBody>
      </p:sp>
      <p:sp>
        <p:nvSpPr>
          <p:cNvPr id="68" name="Text 63"/>
          <p:cNvSpPr txBox="1"/>
          <p:nvPr/>
        </p:nvSpPr>
        <p:spPr>
          <a:xfrm>
            <a:off x="635508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Completed signup and verification</a:t>
            </a:r>
            <a:endParaRPr lang="en-US" sz="850" dirty="0"/>
          </a:p>
        </p:txBody>
      </p:sp>
      <p:sp>
        <p:nvSpPr>
          <p:cNvPr id="69" name="Text 64"/>
          <p:cNvSpPr txBox="1"/>
          <p:nvPr/>
        </p:nvSpPr>
        <p:spPr>
          <a:xfrm>
            <a:off x="779068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70" name="Shape 65"/>
          <p:cNvSpPr/>
          <p:nvPr/>
        </p:nvSpPr>
        <p:spPr>
          <a:xfrm>
            <a:off x="619048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6190488" y="279806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2" name="Text 67"/>
          <p:cNvSpPr txBox="1"/>
          <p:nvPr/>
        </p:nvSpPr>
        <p:spPr>
          <a:xfrm>
            <a:off x="635508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125</a:t>
            </a:r>
            <a:endParaRPr lang="en-US" sz="2400" dirty="0"/>
          </a:p>
        </p:txBody>
      </p:sp>
      <p:sp>
        <p:nvSpPr>
          <p:cNvPr id="73" name="Text 68"/>
          <p:cNvSpPr txBox="1"/>
          <p:nvPr/>
        </p:nvSpPr>
        <p:spPr>
          <a:xfrm>
            <a:off x="635508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Incomplete KYC</a:t>
            </a:r>
            <a:endParaRPr lang="en-US" sz="1050" dirty="0"/>
          </a:p>
        </p:txBody>
      </p:sp>
      <p:sp>
        <p:nvSpPr>
          <p:cNvPr id="74" name="Text 69"/>
          <p:cNvSpPr txBox="1"/>
          <p:nvPr/>
        </p:nvSpPr>
        <p:spPr>
          <a:xfrm>
            <a:off x="635508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Started KYC but did not proceed</a:t>
            </a:r>
            <a:endParaRPr lang="en-US" sz="850" dirty="0"/>
          </a:p>
        </p:txBody>
      </p:sp>
      <p:sp>
        <p:nvSpPr>
          <p:cNvPr id="75" name="Text 70"/>
          <p:cNvSpPr txBox="1"/>
          <p:nvPr/>
        </p:nvSpPr>
        <p:spPr>
          <a:xfrm>
            <a:off x="779068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5303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+3</a:t>
            </a:r>
            <a:endParaRPr lang="en-US" sz="850" dirty="0"/>
          </a:p>
        </p:txBody>
      </p:sp>
      <p:sp>
        <p:nvSpPr>
          <p:cNvPr id="76" name="Shape 71"/>
          <p:cNvSpPr/>
          <p:nvPr/>
        </p:nvSpPr>
        <p:spPr>
          <a:xfrm>
            <a:off x="619048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6190488" y="389534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8" name="Text 73"/>
          <p:cNvSpPr txBox="1"/>
          <p:nvPr/>
        </p:nvSpPr>
        <p:spPr>
          <a:xfrm>
            <a:off x="635508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</a:t>
            </a:r>
            <a:endParaRPr lang="en-US" sz="2400" dirty="0"/>
          </a:p>
        </p:txBody>
      </p:sp>
      <p:sp>
        <p:nvSpPr>
          <p:cNvPr id="79" name="Text 74"/>
          <p:cNvSpPr txBox="1"/>
          <p:nvPr/>
        </p:nvSpPr>
        <p:spPr>
          <a:xfrm>
            <a:off x="635508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Rejected KYC</a:t>
            </a:r>
            <a:endParaRPr lang="en-US" sz="1050" dirty="0"/>
          </a:p>
        </p:txBody>
      </p:sp>
      <p:sp>
        <p:nvSpPr>
          <p:cNvPr id="80" name="Text 75"/>
          <p:cNvSpPr txBox="1"/>
          <p:nvPr/>
        </p:nvSpPr>
        <p:spPr>
          <a:xfrm>
            <a:off x="635508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Resubmission required</a:t>
            </a:r>
            <a:endParaRPr lang="en-US" sz="850" dirty="0"/>
          </a:p>
        </p:txBody>
      </p:sp>
      <p:sp>
        <p:nvSpPr>
          <p:cNvPr id="81" name="Text 76"/>
          <p:cNvSpPr txBox="1"/>
          <p:nvPr/>
        </p:nvSpPr>
        <p:spPr>
          <a:xfrm>
            <a:off x="779068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82" name="Shape 77"/>
          <p:cNvSpPr/>
          <p:nvPr/>
        </p:nvSpPr>
        <p:spPr>
          <a:xfrm>
            <a:off x="619048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6190488" y="499262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4" name="Text 79"/>
          <p:cNvSpPr txBox="1"/>
          <p:nvPr/>
        </p:nvSpPr>
        <p:spPr>
          <a:xfrm>
            <a:off x="635508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166</a:t>
            </a:r>
            <a:endParaRPr lang="en-US" sz="2400" dirty="0"/>
          </a:p>
        </p:txBody>
      </p:sp>
      <p:sp>
        <p:nvSpPr>
          <p:cNvPr id="85" name="Text 80"/>
          <p:cNvSpPr txBox="1"/>
          <p:nvPr/>
        </p:nvSpPr>
        <p:spPr>
          <a:xfrm>
            <a:off x="635508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KYC applications</a:t>
            </a:r>
            <a:endParaRPr lang="en-US" sz="1050" dirty="0"/>
          </a:p>
        </p:txBody>
      </p:sp>
      <p:sp>
        <p:nvSpPr>
          <p:cNvPr id="86" name="Text 81"/>
          <p:cNvSpPr txBox="1"/>
          <p:nvPr/>
        </p:nvSpPr>
        <p:spPr>
          <a:xfrm>
            <a:off x="635508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Onboarded + incomplete + rejected</a:t>
            </a:r>
            <a:endParaRPr lang="en-US" sz="850" dirty="0"/>
          </a:p>
        </p:txBody>
      </p:sp>
      <p:sp>
        <p:nvSpPr>
          <p:cNvPr id="87" name="Shape 82"/>
          <p:cNvSpPr/>
          <p:nvPr/>
        </p:nvSpPr>
        <p:spPr>
          <a:xfrm>
            <a:off x="9002268" y="1408176"/>
            <a:ext cx="45720" cy="155448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88" name="Text 83"/>
          <p:cNvSpPr txBox="1"/>
          <p:nvPr/>
        </p:nvSpPr>
        <p:spPr>
          <a:xfrm>
            <a:off x="911199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SUPPORT TICKETS</a:t>
            </a:r>
            <a:endParaRPr lang="en-US" sz="900" dirty="0"/>
          </a:p>
        </p:txBody>
      </p:sp>
      <p:sp>
        <p:nvSpPr>
          <p:cNvPr id="89" name="Shape 84"/>
          <p:cNvSpPr/>
          <p:nvPr/>
        </p:nvSpPr>
        <p:spPr>
          <a:xfrm>
            <a:off x="900226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9002268" y="170078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1" name="Text 86"/>
          <p:cNvSpPr txBox="1"/>
          <p:nvPr/>
        </p:nvSpPr>
        <p:spPr>
          <a:xfrm>
            <a:off x="916686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25</a:t>
            </a:r>
            <a:endParaRPr lang="en-US" sz="2400" dirty="0"/>
          </a:p>
        </p:txBody>
      </p:sp>
      <p:sp>
        <p:nvSpPr>
          <p:cNvPr id="92" name="Text 87"/>
          <p:cNvSpPr txBox="1"/>
          <p:nvPr/>
        </p:nvSpPr>
        <p:spPr>
          <a:xfrm>
            <a:off x="916686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created</a:t>
            </a:r>
            <a:endParaRPr lang="en-US" sz="1050" dirty="0"/>
          </a:p>
        </p:txBody>
      </p:sp>
      <p:sp>
        <p:nvSpPr>
          <p:cNvPr id="93" name="Text 88"/>
          <p:cNvSpPr txBox="1"/>
          <p:nvPr/>
        </p:nvSpPr>
        <p:spPr>
          <a:xfrm>
            <a:off x="916686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94" name="Text 89"/>
          <p:cNvSpPr txBox="1"/>
          <p:nvPr/>
        </p:nvSpPr>
        <p:spPr>
          <a:xfrm>
            <a:off x="1060246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95" name="Shape 90"/>
          <p:cNvSpPr/>
          <p:nvPr/>
        </p:nvSpPr>
        <p:spPr>
          <a:xfrm>
            <a:off x="900226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9002268" y="279806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7" name="Text 92"/>
          <p:cNvSpPr txBox="1"/>
          <p:nvPr/>
        </p:nvSpPr>
        <p:spPr>
          <a:xfrm>
            <a:off x="916686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</a:t>
            </a:r>
            <a:endParaRPr lang="en-US" sz="2400" dirty="0"/>
          </a:p>
        </p:txBody>
      </p:sp>
      <p:sp>
        <p:nvSpPr>
          <p:cNvPr id="98" name="Text 93"/>
          <p:cNvSpPr txBox="1"/>
          <p:nvPr/>
        </p:nvSpPr>
        <p:spPr>
          <a:xfrm>
            <a:off x="916686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resolved</a:t>
            </a:r>
            <a:endParaRPr lang="en-US" sz="1050" dirty="0"/>
          </a:p>
        </p:txBody>
      </p:sp>
      <p:sp>
        <p:nvSpPr>
          <p:cNvPr id="99" name="Text 94"/>
          <p:cNvSpPr txBox="1"/>
          <p:nvPr/>
        </p:nvSpPr>
        <p:spPr>
          <a:xfrm>
            <a:off x="916686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96% of tickets created</a:t>
            </a:r>
            <a:endParaRPr lang="en-US" sz="850" dirty="0"/>
          </a:p>
        </p:txBody>
      </p:sp>
      <p:sp>
        <p:nvSpPr>
          <p:cNvPr id="100" name="Text 95"/>
          <p:cNvSpPr txBox="1"/>
          <p:nvPr/>
        </p:nvSpPr>
        <p:spPr>
          <a:xfrm>
            <a:off x="1060246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1" name="Shape 96"/>
          <p:cNvSpPr/>
          <p:nvPr/>
        </p:nvSpPr>
        <p:spPr>
          <a:xfrm>
            <a:off x="900226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9002268" y="389534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3" name="Text 98"/>
          <p:cNvSpPr txBox="1"/>
          <p:nvPr/>
        </p:nvSpPr>
        <p:spPr>
          <a:xfrm>
            <a:off x="916686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</a:t>
            </a:r>
            <a:endParaRPr lang="en-US" sz="2400" dirty="0"/>
          </a:p>
        </p:txBody>
      </p:sp>
      <p:sp>
        <p:nvSpPr>
          <p:cNvPr id="104" name="Text 99"/>
          <p:cNvSpPr txBox="1"/>
          <p:nvPr/>
        </p:nvSpPr>
        <p:spPr>
          <a:xfrm>
            <a:off x="916686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Email queries</a:t>
            </a:r>
            <a:endParaRPr lang="en-US" sz="1050" dirty="0"/>
          </a:p>
        </p:txBody>
      </p:sp>
      <p:sp>
        <p:nvSpPr>
          <p:cNvPr id="105" name="Text 100"/>
          <p:cNvSpPr txBox="1"/>
          <p:nvPr/>
        </p:nvSpPr>
        <p:spPr>
          <a:xfrm>
            <a:off x="916686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06" name="Text 101"/>
          <p:cNvSpPr txBox="1"/>
          <p:nvPr/>
        </p:nvSpPr>
        <p:spPr>
          <a:xfrm>
            <a:off x="1060246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107" name="Shape 102"/>
          <p:cNvSpPr/>
          <p:nvPr/>
        </p:nvSpPr>
        <p:spPr>
          <a:xfrm>
            <a:off x="900226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9002268" y="499262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9" name="Text 104"/>
          <p:cNvSpPr txBox="1"/>
          <p:nvPr/>
        </p:nvSpPr>
        <p:spPr>
          <a:xfrm>
            <a:off x="916686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21</a:t>
            </a:r>
            <a:endParaRPr lang="en-US" sz="2400" dirty="0"/>
          </a:p>
        </p:txBody>
      </p:sp>
      <p:sp>
        <p:nvSpPr>
          <p:cNvPr id="110" name="Text 105"/>
          <p:cNvSpPr txBox="1"/>
          <p:nvPr/>
        </p:nvSpPr>
        <p:spPr>
          <a:xfrm>
            <a:off x="916686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AI support queries</a:t>
            </a:r>
            <a:endParaRPr lang="en-US" sz="1050" dirty="0"/>
          </a:p>
        </p:txBody>
      </p:sp>
      <p:sp>
        <p:nvSpPr>
          <p:cNvPr id="111" name="Text 106"/>
          <p:cNvSpPr txBox="1"/>
          <p:nvPr/>
        </p:nvSpPr>
        <p:spPr>
          <a:xfrm>
            <a:off x="916686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12" name="Text 107"/>
          <p:cNvSpPr txBox="1"/>
          <p:nvPr/>
        </p:nvSpPr>
        <p:spPr>
          <a:xfrm>
            <a:off x="1060246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atemIsa_202508993_IT9002_NLP_Project/emyaa-ceo-deck/working/charts/board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188720"/>
            <a:ext cx="12191695" cy="24689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66928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F3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PLATFORM ANALYTICS  |  PERFORMANCE DASHBOARD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57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 date: 11 Aug 2026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868680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6CFE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Reporting period: All Time   |   Change on each card is against the previous report, 10 Aug 2026</a:t>
            </a:r>
            <a:endParaRPr lang="en-US" sz="1000" dirty="0"/>
          </a:p>
        </p:txBody>
      </p:sp>
      <p:pic>
        <p:nvPicPr>
          <p:cNvPr id="7" name="Image 1" descr="/home/user/HatemIsa_202508993_IT9002_NLP_Project/emyaa-ceo-deck/working/charts/ajy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02336"/>
            <a:ext cx="13258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" y="6272784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Source: eMYAA Daily Performance Dashboard, eMYAA_-_Daily_Performance_Dashboard-1.pdf, page 32. This report labels the money card 'Total Deposits'; later reports label the same measure 'Total AUM'.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eMYAA Trading Platform  |  Daily Performance Dashboard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9802368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35</a:t>
            </a:r>
            <a:endParaRPr lang="en-US" sz="800" dirty="0"/>
          </a:p>
        </p:txBody>
      </p:sp>
      <p:pic>
        <p:nvPicPr>
          <p:cNvPr id="11" name="Image 2" descr="/home/user/HatemIsa_202508993_IT9002_NLP_Project/emyaa-ceo-deck/working/charts/emyaa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6336792"/>
            <a:ext cx="1024128" cy="3657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66928" y="1408176"/>
            <a:ext cx="45720" cy="155448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665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DOWNLOADS &amp; RATINGS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6692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66928" y="170078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152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181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downloads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 Store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216712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6692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66928" y="279806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3152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110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73152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downloads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73152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Apple App Store</a:t>
            </a:r>
            <a:endParaRPr lang="en-US" sz="850" dirty="0"/>
          </a:p>
        </p:txBody>
      </p:sp>
      <p:sp>
        <p:nvSpPr>
          <p:cNvPr id="25" name="Text 20"/>
          <p:cNvSpPr txBox="1"/>
          <p:nvPr/>
        </p:nvSpPr>
        <p:spPr>
          <a:xfrm>
            <a:off x="216712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+4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6692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66928" y="389534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3152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29" name="Text 24"/>
          <p:cNvSpPr txBox="1"/>
          <p:nvPr/>
        </p:nvSpPr>
        <p:spPr>
          <a:xfrm>
            <a:off x="73152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app rating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73152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Play, 2 reviews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56692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66928" y="499262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3152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34" name="Text 29"/>
          <p:cNvSpPr txBox="1"/>
          <p:nvPr/>
        </p:nvSpPr>
        <p:spPr>
          <a:xfrm>
            <a:off x="73152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app rating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73152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 Store, 2 reviews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3378708" y="1408176"/>
            <a:ext cx="45720" cy="155448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48843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 ACTIVITY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337870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3378708" y="170078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354330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9</a:t>
            </a:r>
            <a:endParaRPr lang="en-US" sz="2400" dirty="0"/>
          </a:p>
        </p:txBody>
      </p:sp>
      <p:sp>
        <p:nvSpPr>
          <p:cNvPr id="41" name="Text 36"/>
          <p:cNvSpPr txBox="1"/>
          <p:nvPr/>
        </p:nvSpPr>
        <p:spPr>
          <a:xfrm>
            <a:off x="354330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deposited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354330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Funded accounts</a:t>
            </a:r>
            <a:endParaRPr lang="en-US" sz="850" dirty="0"/>
          </a:p>
        </p:txBody>
      </p:sp>
      <p:sp>
        <p:nvSpPr>
          <p:cNvPr id="43" name="Text 38"/>
          <p:cNvSpPr txBox="1"/>
          <p:nvPr/>
        </p:nvSpPr>
        <p:spPr>
          <a:xfrm>
            <a:off x="497890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337870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3378708" y="279806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354330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$8,579.83</a:t>
            </a:r>
            <a:endParaRPr lang="en-US" sz="1900" dirty="0"/>
          </a:p>
        </p:txBody>
      </p:sp>
      <p:sp>
        <p:nvSpPr>
          <p:cNvPr id="47" name="Text 42"/>
          <p:cNvSpPr txBox="1"/>
          <p:nvPr/>
        </p:nvSpPr>
        <p:spPr>
          <a:xfrm>
            <a:off x="354330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deposits</a:t>
            </a:r>
            <a:endParaRPr lang="en-US" sz="1050" dirty="0"/>
          </a:p>
        </p:txBody>
      </p:sp>
      <p:sp>
        <p:nvSpPr>
          <p:cNvPr id="48" name="Text 43"/>
          <p:cNvSpPr txBox="1"/>
          <p:nvPr/>
        </p:nvSpPr>
        <p:spPr>
          <a:xfrm>
            <a:off x="354330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Cumulative platform deposits</a:t>
            </a:r>
            <a:endParaRPr lang="en-US" sz="850" dirty="0"/>
          </a:p>
        </p:txBody>
      </p:sp>
      <p:sp>
        <p:nvSpPr>
          <p:cNvPr id="49" name="Text 44"/>
          <p:cNvSpPr txBox="1"/>
          <p:nvPr/>
        </p:nvSpPr>
        <p:spPr>
          <a:xfrm>
            <a:off x="497890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+$52.92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337870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3378708" y="389534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354330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9</a:t>
            </a:r>
            <a:endParaRPr lang="en-US" sz="2400" dirty="0"/>
          </a:p>
        </p:txBody>
      </p:sp>
      <p:sp>
        <p:nvSpPr>
          <p:cNvPr id="53" name="Text 48"/>
          <p:cNvSpPr txBox="1"/>
          <p:nvPr/>
        </p:nvSpPr>
        <p:spPr>
          <a:xfrm>
            <a:off x="354330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traded</a:t>
            </a:r>
            <a:endParaRPr lang="en-US" sz="1050" dirty="0"/>
          </a:p>
        </p:txBody>
      </p:sp>
      <p:sp>
        <p:nvSpPr>
          <p:cNvPr id="54" name="Text 49"/>
          <p:cNvSpPr txBox="1"/>
          <p:nvPr/>
        </p:nvSpPr>
        <p:spPr>
          <a:xfrm>
            <a:off x="354330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Placed at least 1 trade</a:t>
            </a:r>
            <a:endParaRPr lang="en-US" sz="850" dirty="0"/>
          </a:p>
        </p:txBody>
      </p:sp>
      <p:sp>
        <p:nvSpPr>
          <p:cNvPr id="55" name="Text 50"/>
          <p:cNvSpPr txBox="1"/>
          <p:nvPr/>
        </p:nvSpPr>
        <p:spPr>
          <a:xfrm>
            <a:off x="497890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6" name="Shape 51"/>
          <p:cNvSpPr/>
          <p:nvPr/>
        </p:nvSpPr>
        <p:spPr>
          <a:xfrm>
            <a:off x="337870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3378708" y="499262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354330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35</a:t>
            </a:r>
            <a:endParaRPr lang="en-US" sz="2400" dirty="0"/>
          </a:p>
        </p:txBody>
      </p:sp>
      <p:sp>
        <p:nvSpPr>
          <p:cNvPr id="59" name="Text 54"/>
          <p:cNvSpPr txBox="1"/>
          <p:nvPr/>
        </p:nvSpPr>
        <p:spPr>
          <a:xfrm>
            <a:off x="354330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trades</a:t>
            </a:r>
            <a:endParaRPr lang="en-US" sz="1050" dirty="0"/>
          </a:p>
        </p:txBody>
      </p:sp>
      <p:sp>
        <p:nvSpPr>
          <p:cNvPr id="60" name="Text 55"/>
          <p:cNvSpPr txBox="1"/>
          <p:nvPr/>
        </p:nvSpPr>
        <p:spPr>
          <a:xfrm>
            <a:off x="354330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Executed across all users</a:t>
            </a:r>
            <a:endParaRPr lang="en-US" sz="850" dirty="0"/>
          </a:p>
        </p:txBody>
      </p:sp>
      <p:sp>
        <p:nvSpPr>
          <p:cNvPr id="61" name="Text 56"/>
          <p:cNvSpPr txBox="1"/>
          <p:nvPr/>
        </p:nvSpPr>
        <p:spPr>
          <a:xfrm>
            <a:off x="497890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+5</a:t>
            </a:r>
            <a:endParaRPr lang="en-US" sz="850" dirty="0"/>
          </a:p>
        </p:txBody>
      </p:sp>
      <p:sp>
        <p:nvSpPr>
          <p:cNvPr id="62" name="Shape 57"/>
          <p:cNvSpPr/>
          <p:nvPr/>
        </p:nvSpPr>
        <p:spPr>
          <a:xfrm>
            <a:off x="6190488" y="1408176"/>
            <a:ext cx="45720" cy="1554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630021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KYC STATUS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619048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6190488" y="170078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635508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36</a:t>
            </a:r>
            <a:endParaRPr lang="en-US" sz="2400" dirty="0"/>
          </a:p>
        </p:txBody>
      </p:sp>
      <p:sp>
        <p:nvSpPr>
          <p:cNvPr id="67" name="Text 62"/>
          <p:cNvSpPr txBox="1"/>
          <p:nvPr/>
        </p:nvSpPr>
        <p:spPr>
          <a:xfrm>
            <a:off x="635508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onboarded</a:t>
            </a:r>
            <a:endParaRPr lang="en-US" sz="1050" dirty="0"/>
          </a:p>
        </p:txBody>
      </p:sp>
      <p:sp>
        <p:nvSpPr>
          <p:cNvPr id="68" name="Text 63"/>
          <p:cNvSpPr txBox="1"/>
          <p:nvPr/>
        </p:nvSpPr>
        <p:spPr>
          <a:xfrm>
            <a:off x="635508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Completed signup and verification</a:t>
            </a:r>
            <a:endParaRPr lang="en-US" sz="850" dirty="0"/>
          </a:p>
        </p:txBody>
      </p:sp>
      <p:sp>
        <p:nvSpPr>
          <p:cNvPr id="69" name="Text 64"/>
          <p:cNvSpPr txBox="1"/>
          <p:nvPr/>
        </p:nvSpPr>
        <p:spPr>
          <a:xfrm>
            <a:off x="779068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70" name="Shape 65"/>
          <p:cNvSpPr/>
          <p:nvPr/>
        </p:nvSpPr>
        <p:spPr>
          <a:xfrm>
            <a:off x="619048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6190488" y="279806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2" name="Text 67"/>
          <p:cNvSpPr txBox="1"/>
          <p:nvPr/>
        </p:nvSpPr>
        <p:spPr>
          <a:xfrm>
            <a:off x="635508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122</a:t>
            </a:r>
            <a:endParaRPr lang="en-US" sz="2400" dirty="0"/>
          </a:p>
        </p:txBody>
      </p:sp>
      <p:sp>
        <p:nvSpPr>
          <p:cNvPr id="73" name="Text 68"/>
          <p:cNvSpPr txBox="1"/>
          <p:nvPr/>
        </p:nvSpPr>
        <p:spPr>
          <a:xfrm>
            <a:off x="635508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Incomplete KYC</a:t>
            </a:r>
            <a:endParaRPr lang="en-US" sz="1050" dirty="0"/>
          </a:p>
        </p:txBody>
      </p:sp>
      <p:sp>
        <p:nvSpPr>
          <p:cNvPr id="74" name="Text 69"/>
          <p:cNvSpPr txBox="1"/>
          <p:nvPr/>
        </p:nvSpPr>
        <p:spPr>
          <a:xfrm>
            <a:off x="635508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Started KYC but did not proceed</a:t>
            </a:r>
            <a:endParaRPr lang="en-US" sz="850" dirty="0"/>
          </a:p>
        </p:txBody>
      </p:sp>
      <p:sp>
        <p:nvSpPr>
          <p:cNvPr id="75" name="Text 70"/>
          <p:cNvSpPr txBox="1"/>
          <p:nvPr/>
        </p:nvSpPr>
        <p:spPr>
          <a:xfrm>
            <a:off x="779068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76" name="Shape 71"/>
          <p:cNvSpPr/>
          <p:nvPr/>
        </p:nvSpPr>
        <p:spPr>
          <a:xfrm>
            <a:off x="619048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6190488" y="389534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8" name="Text 73"/>
          <p:cNvSpPr txBox="1"/>
          <p:nvPr/>
        </p:nvSpPr>
        <p:spPr>
          <a:xfrm>
            <a:off x="635508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</a:t>
            </a:r>
            <a:endParaRPr lang="en-US" sz="2400" dirty="0"/>
          </a:p>
        </p:txBody>
      </p:sp>
      <p:sp>
        <p:nvSpPr>
          <p:cNvPr id="79" name="Text 74"/>
          <p:cNvSpPr txBox="1"/>
          <p:nvPr/>
        </p:nvSpPr>
        <p:spPr>
          <a:xfrm>
            <a:off x="635508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Rejected KYC</a:t>
            </a:r>
            <a:endParaRPr lang="en-US" sz="1050" dirty="0"/>
          </a:p>
        </p:txBody>
      </p:sp>
      <p:sp>
        <p:nvSpPr>
          <p:cNvPr id="80" name="Text 75"/>
          <p:cNvSpPr txBox="1"/>
          <p:nvPr/>
        </p:nvSpPr>
        <p:spPr>
          <a:xfrm>
            <a:off x="635508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Resubmission required</a:t>
            </a:r>
            <a:endParaRPr lang="en-US" sz="850" dirty="0"/>
          </a:p>
        </p:txBody>
      </p:sp>
      <p:sp>
        <p:nvSpPr>
          <p:cNvPr id="81" name="Text 76"/>
          <p:cNvSpPr txBox="1"/>
          <p:nvPr/>
        </p:nvSpPr>
        <p:spPr>
          <a:xfrm>
            <a:off x="779068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82" name="Shape 77"/>
          <p:cNvSpPr/>
          <p:nvPr/>
        </p:nvSpPr>
        <p:spPr>
          <a:xfrm>
            <a:off x="619048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6190488" y="499262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4" name="Text 79"/>
          <p:cNvSpPr txBox="1"/>
          <p:nvPr/>
        </p:nvSpPr>
        <p:spPr>
          <a:xfrm>
            <a:off x="635508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163</a:t>
            </a:r>
            <a:endParaRPr lang="en-US" sz="2400" dirty="0"/>
          </a:p>
        </p:txBody>
      </p:sp>
      <p:sp>
        <p:nvSpPr>
          <p:cNvPr id="85" name="Text 80"/>
          <p:cNvSpPr txBox="1"/>
          <p:nvPr/>
        </p:nvSpPr>
        <p:spPr>
          <a:xfrm>
            <a:off x="635508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KYC applications</a:t>
            </a:r>
            <a:endParaRPr lang="en-US" sz="1050" dirty="0"/>
          </a:p>
        </p:txBody>
      </p:sp>
      <p:sp>
        <p:nvSpPr>
          <p:cNvPr id="86" name="Text 81"/>
          <p:cNvSpPr txBox="1"/>
          <p:nvPr/>
        </p:nvSpPr>
        <p:spPr>
          <a:xfrm>
            <a:off x="635508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Onboarded + incomplete + rejected</a:t>
            </a:r>
            <a:endParaRPr lang="en-US" sz="850" dirty="0"/>
          </a:p>
        </p:txBody>
      </p:sp>
      <p:sp>
        <p:nvSpPr>
          <p:cNvPr id="87" name="Shape 82"/>
          <p:cNvSpPr/>
          <p:nvPr/>
        </p:nvSpPr>
        <p:spPr>
          <a:xfrm>
            <a:off x="9002268" y="1408176"/>
            <a:ext cx="45720" cy="155448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88" name="Text 83"/>
          <p:cNvSpPr txBox="1"/>
          <p:nvPr/>
        </p:nvSpPr>
        <p:spPr>
          <a:xfrm>
            <a:off x="911199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SUPPORT TICKETS</a:t>
            </a:r>
            <a:endParaRPr lang="en-US" sz="900" dirty="0"/>
          </a:p>
        </p:txBody>
      </p:sp>
      <p:sp>
        <p:nvSpPr>
          <p:cNvPr id="89" name="Shape 84"/>
          <p:cNvSpPr/>
          <p:nvPr/>
        </p:nvSpPr>
        <p:spPr>
          <a:xfrm>
            <a:off x="900226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9002268" y="170078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1" name="Text 86"/>
          <p:cNvSpPr txBox="1"/>
          <p:nvPr/>
        </p:nvSpPr>
        <p:spPr>
          <a:xfrm>
            <a:off x="916686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</a:t>
            </a:r>
            <a:endParaRPr lang="en-US" sz="2400" dirty="0"/>
          </a:p>
        </p:txBody>
      </p:sp>
      <p:sp>
        <p:nvSpPr>
          <p:cNvPr id="92" name="Text 87"/>
          <p:cNvSpPr txBox="1"/>
          <p:nvPr/>
        </p:nvSpPr>
        <p:spPr>
          <a:xfrm>
            <a:off x="916686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created</a:t>
            </a:r>
            <a:endParaRPr lang="en-US" sz="1050" dirty="0"/>
          </a:p>
        </p:txBody>
      </p:sp>
      <p:sp>
        <p:nvSpPr>
          <p:cNvPr id="93" name="Text 88"/>
          <p:cNvSpPr txBox="1"/>
          <p:nvPr/>
        </p:nvSpPr>
        <p:spPr>
          <a:xfrm>
            <a:off x="916686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94" name="Text 89"/>
          <p:cNvSpPr txBox="1"/>
          <p:nvPr/>
        </p:nvSpPr>
        <p:spPr>
          <a:xfrm>
            <a:off x="1060246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95" name="Shape 90"/>
          <p:cNvSpPr/>
          <p:nvPr/>
        </p:nvSpPr>
        <p:spPr>
          <a:xfrm>
            <a:off x="900226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9002268" y="279806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7" name="Text 92"/>
          <p:cNvSpPr txBox="1"/>
          <p:nvPr/>
        </p:nvSpPr>
        <p:spPr>
          <a:xfrm>
            <a:off x="916686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</a:t>
            </a:r>
            <a:endParaRPr lang="en-US" sz="2400" dirty="0"/>
          </a:p>
        </p:txBody>
      </p:sp>
      <p:sp>
        <p:nvSpPr>
          <p:cNvPr id="98" name="Text 93"/>
          <p:cNvSpPr txBox="1"/>
          <p:nvPr/>
        </p:nvSpPr>
        <p:spPr>
          <a:xfrm>
            <a:off x="916686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resolved</a:t>
            </a:r>
            <a:endParaRPr lang="en-US" sz="1050" dirty="0"/>
          </a:p>
        </p:txBody>
      </p:sp>
      <p:sp>
        <p:nvSpPr>
          <p:cNvPr id="99" name="Text 94"/>
          <p:cNvSpPr txBox="1"/>
          <p:nvPr/>
        </p:nvSpPr>
        <p:spPr>
          <a:xfrm>
            <a:off x="916686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100% of tickets created</a:t>
            </a:r>
            <a:endParaRPr lang="en-US" sz="850" dirty="0"/>
          </a:p>
        </p:txBody>
      </p:sp>
      <p:sp>
        <p:nvSpPr>
          <p:cNvPr id="100" name="Text 95"/>
          <p:cNvSpPr txBox="1"/>
          <p:nvPr/>
        </p:nvSpPr>
        <p:spPr>
          <a:xfrm>
            <a:off x="1060246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1" name="Shape 96"/>
          <p:cNvSpPr/>
          <p:nvPr/>
        </p:nvSpPr>
        <p:spPr>
          <a:xfrm>
            <a:off x="900226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9002268" y="389534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3" name="Text 98"/>
          <p:cNvSpPr txBox="1"/>
          <p:nvPr/>
        </p:nvSpPr>
        <p:spPr>
          <a:xfrm>
            <a:off x="916686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</a:t>
            </a:r>
            <a:endParaRPr lang="en-US" sz="2400" dirty="0"/>
          </a:p>
        </p:txBody>
      </p:sp>
      <p:sp>
        <p:nvSpPr>
          <p:cNvPr id="104" name="Text 99"/>
          <p:cNvSpPr txBox="1"/>
          <p:nvPr/>
        </p:nvSpPr>
        <p:spPr>
          <a:xfrm>
            <a:off x="916686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Email queries</a:t>
            </a:r>
            <a:endParaRPr lang="en-US" sz="1050" dirty="0"/>
          </a:p>
        </p:txBody>
      </p:sp>
      <p:sp>
        <p:nvSpPr>
          <p:cNvPr id="105" name="Text 100"/>
          <p:cNvSpPr txBox="1"/>
          <p:nvPr/>
        </p:nvSpPr>
        <p:spPr>
          <a:xfrm>
            <a:off x="916686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06" name="Text 101"/>
          <p:cNvSpPr txBox="1"/>
          <p:nvPr/>
        </p:nvSpPr>
        <p:spPr>
          <a:xfrm>
            <a:off x="1060246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7" name="Shape 102"/>
          <p:cNvSpPr/>
          <p:nvPr/>
        </p:nvSpPr>
        <p:spPr>
          <a:xfrm>
            <a:off x="900226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9002268" y="499262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9" name="Text 104"/>
          <p:cNvSpPr txBox="1"/>
          <p:nvPr/>
        </p:nvSpPr>
        <p:spPr>
          <a:xfrm>
            <a:off x="916686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21</a:t>
            </a:r>
            <a:endParaRPr lang="en-US" sz="2400" dirty="0"/>
          </a:p>
        </p:txBody>
      </p:sp>
      <p:sp>
        <p:nvSpPr>
          <p:cNvPr id="110" name="Text 105"/>
          <p:cNvSpPr txBox="1"/>
          <p:nvPr/>
        </p:nvSpPr>
        <p:spPr>
          <a:xfrm>
            <a:off x="916686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AI support queries</a:t>
            </a:r>
            <a:endParaRPr lang="en-US" sz="1050" dirty="0"/>
          </a:p>
        </p:txBody>
      </p:sp>
      <p:sp>
        <p:nvSpPr>
          <p:cNvPr id="111" name="Text 106"/>
          <p:cNvSpPr txBox="1"/>
          <p:nvPr/>
        </p:nvSpPr>
        <p:spPr>
          <a:xfrm>
            <a:off x="916686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12" name="Text 107"/>
          <p:cNvSpPr txBox="1"/>
          <p:nvPr/>
        </p:nvSpPr>
        <p:spPr>
          <a:xfrm>
            <a:off x="1060246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atemIsa_202508993_IT9002_NLP_Project/emyaa-ceo-deck/working/charts/board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188720"/>
            <a:ext cx="12191695" cy="24689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66928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F3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PLATFORM ANALYTICS  |  PERFORMANCE DASHBOARD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57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 date: 10 Aug 2026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868680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6CFE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Reporting period: All Time   |   Change on each card is against the previous report, 9 Aug 2026</a:t>
            </a:r>
            <a:endParaRPr lang="en-US" sz="1000" dirty="0"/>
          </a:p>
        </p:txBody>
      </p:sp>
      <p:pic>
        <p:nvPicPr>
          <p:cNvPr id="7" name="Image 1" descr="/home/user/HatemIsa_202508993_IT9002_NLP_Project/emyaa-ceo-deck/working/charts/ajy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02336"/>
            <a:ext cx="13258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" y="6272784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Source: eMYAA Daily Performance Dashboard, eMYAA_-_Daily_Performance_Dashboard-1.pdf, page 33. This report labels the money card 'Total Deposits'; later reports label the same measure 'Total AUM'.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eMYAA Trading Platform  |  Daily Performance Dashboard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9802368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36</a:t>
            </a:r>
            <a:endParaRPr lang="en-US" sz="800" dirty="0"/>
          </a:p>
        </p:txBody>
      </p:sp>
      <p:pic>
        <p:nvPicPr>
          <p:cNvPr id="11" name="Image 2" descr="/home/user/HatemIsa_202508993_IT9002_NLP_Project/emyaa-ceo-deck/working/charts/emyaa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6336792"/>
            <a:ext cx="1024128" cy="3657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66928" y="1408176"/>
            <a:ext cx="45720" cy="155448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665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DOWNLOADS &amp; RATINGS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6692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66928" y="170078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152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181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downloads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 Store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216712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+2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6692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66928" y="279806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3152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106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73152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downloads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73152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Apple App Store</a:t>
            </a:r>
            <a:endParaRPr lang="en-US" sz="850" dirty="0"/>
          </a:p>
        </p:txBody>
      </p:sp>
      <p:sp>
        <p:nvSpPr>
          <p:cNvPr id="25" name="Text 20"/>
          <p:cNvSpPr txBox="1"/>
          <p:nvPr/>
        </p:nvSpPr>
        <p:spPr>
          <a:xfrm>
            <a:off x="216712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6692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66928" y="389534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3152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29" name="Text 24"/>
          <p:cNvSpPr txBox="1"/>
          <p:nvPr/>
        </p:nvSpPr>
        <p:spPr>
          <a:xfrm>
            <a:off x="73152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app rating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73152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Play, 2 reviews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56692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66928" y="499262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3152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34" name="Text 29"/>
          <p:cNvSpPr txBox="1"/>
          <p:nvPr/>
        </p:nvSpPr>
        <p:spPr>
          <a:xfrm>
            <a:off x="73152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app rating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73152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 Store, 2 reviews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3378708" y="1408176"/>
            <a:ext cx="45720" cy="155448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48843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 ACTIVITY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337870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3378708" y="170078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354330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9</a:t>
            </a:r>
            <a:endParaRPr lang="en-US" sz="2400" dirty="0"/>
          </a:p>
        </p:txBody>
      </p:sp>
      <p:sp>
        <p:nvSpPr>
          <p:cNvPr id="41" name="Text 36"/>
          <p:cNvSpPr txBox="1"/>
          <p:nvPr/>
        </p:nvSpPr>
        <p:spPr>
          <a:xfrm>
            <a:off x="354330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deposited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354330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Funded accounts</a:t>
            </a:r>
            <a:endParaRPr lang="en-US" sz="850" dirty="0"/>
          </a:p>
        </p:txBody>
      </p:sp>
      <p:sp>
        <p:nvSpPr>
          <p:cNvPr id="43" name="Text 38"/>
          <p:cNvSpPr txBox="1"/>
          <p:nvPr/>
        </p:nvSpPr>
        <p:spPr>
          <a:xfrm>
            <a:off x="497890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337870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3378708" y="279806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354330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$8,526.91</a:t>
            </a:r>
            <a:endParaRPr lang="en-US" sz="1900" dirty="0"/>
          </a:p>
        </p:txBody>
      </p:sp>
      <p:sp>
        <p:nvSpPr>
          <p:cNvPr id="47" name="Text 42"/>
          <p:cNvSpPr txBox="1"/>
          <p:nvPr/>
        </p:nvSpPr>
        <p:spPr>
          <a:xfrm>
            <a:off x="354330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deposits</a:t>
            </a:r>
            <a:endParaRPr lang="en-US" sz="1050" dirty="0"/>
          </a:p>
        </p:txBody>
      </p:sp>
      <p:sp>
        <p:nvSpPr>
          <p:cNvPr id="48" name="Text 43"/>
          <p:cNvSpPr txBox="1"/>
          <p:nvPr/>
        </p:nvSpPr>
        <p:spPr>
          <a:xfrm>
            <a:off x="354330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Cumulative platform deposits</a:t>
            </a:r>
            <a:endParaRPr lang="en-US" sz="850" dirty="0"/>
          </a:p>
        </p:txBody>
      </p:sp>
      <p:sp>
        <p:nvSpPr>
          <p:cNvPr id="49" name="Text 44"/>
          <p:cNvSpPr txBox="1"/>
          <p:nvPr/>
        </p:nvSpPr>
        <p:spPr>
          <a:xfrm>
            <a:off x="497890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337870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3378708" y="389534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354330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9</a:t>
            </a:r>
            <a:endParaRPr lang="en-US" sz="2400" dirty="0"/>
          </a:p>
        </p:txBody>
      </p:sp>
      <p:sp>
        <p:nvSpPr>
          <p:cNvPr id="53" name="Text 48"/>
          <p:cNvSpPr txBox="1"/>
          <p:nvPr/>
        </p:nvSpPr>
        <p:spPr>
          <a:xfrm>
            <a:off x="354330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traded</a:t>
            </a:r>
            <a:endParaRPr lang="en-US" sz="1050" dirty="0"/>
          </a:p>
        </p:txBody>
      </p:sp>
      <p:sp>
        <p:nvSpPr>
          <p:cNvPr id="54" name="Text 49"/>
          <p:cNvSpPr txBox="1"/>
          <p:nvPr/>
        </p:nvSpPr>
        <p:spPr>
          <a:xfrm>
            <a:off x="354330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Placed at least 1 trade</a:t>
            </a:r>
            <a:endParaRPr lang="en-US" sz="850" dirty="0"/>
          </a:p>
        </p:txBody>
      </p:sp>
      <p:sp>
        <p:nvSpPr>
          <p:cNvPr id="55" name="Text 50"/>
          <p:cNvSpPr txBox="1"/>
          <p:nvPr/>
        </p:nvSpPr>
        <p:spPr>
          <a:xfrm>
            <a:off x="497890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6" name="Shape 51"/>
          <p:cNvSpPr/>
          <p:nvPr/>
        </p:nvSpPr>
        <p:spPr>
          <a:xfrm>
            <a:off x="337870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3378708" y="499262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354330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30</a:t>
            </a:r>
            <a:endParaRPr lang="en-US" sz="2400" dirty="0"/>
          </a:p>
        </p:txBody>
      </p:sp>
      <p:sp>
        <p:nvSpPr>
          <p:cNvPr id="59" name="Text 54"/>
          <p:cNvSpPr txBox="1"/>
          <p:nvPr/>
        </p:nvSpPr>
        <p:spPr>
          <a:xfrm>
            <a:off x="354330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trades</a:t>
            </a:r>
            <a:endParaRPr lang="en-US" sz="1050" dirty="0"/>
          </a:p>
        </p:txBody>
      </p:sp>
      <p:sp>
        <p:nvSpPr>
          <p:cNvPr id="60" name="Text 55"/>
          <p:cNvSpPr txBox="1"/>
          <p:nvPr/>
        </p:nvSpPr>
        <p:spPr>
          <a:xfrm>
            <a:off x="354330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Executed across all users</a:t>
            </a:r>
            <a:endParaRPr lang="en-US" sz="850" dirty="0"/>
          </a:p>
        </p:txBody>
      </p:sp>
      <p:sp>
        <p:nvSpPr>
          <p:cNvPr id="61" name="Text 56"/>
          <p:cNvSpPr txBox="1"/>
          <p:nvPr/>
        </p:nvSpPr>
        <p:spPr>
          <a:xfrm>
            <a:off x="497890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62" name="Shape 57"/>
          <p:cNvSpPr/>
          <p:nvPr/>
        </p:nvSpPr>
        <p:spPr>
          <a:xfrm>
            <a:off x="6190488" y="1408176"/>
            <a:ext cx="45720" cy="1554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630021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KYC STATUS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619048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6190488" y="170078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635508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35</a:t>
            </a:r>
            <a:endParaRPr lang="en-US" sz="2400" dirty="0"/>
          </a:p>
        </p:txBody>
      </p:sp>
      <p:sp>
        <p:nvSpPr>
          <p:cNvPr id="67" name="Text 62"/>
          <p:cNvSpPr txBox="1"/>
          <p:nvPr/>
        </p:nvSpPr>
        <p:spPr>
          <a:xfrm>
            <a:off x="635508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onboarded</a:t>
            </a:r>
            <a:endParaRPr lang="en-US" sz="1050" dirty="0"/>
          </a:p>
        </p:txBody>
      </p:sp>
      <p:sp>
        <p:nvSpPr>
          <p:cNvPr id="68" name="Text 63"/>
          <p:cNvSpPr txBox="1"/>
          <p:nvPr/>
        </p:nvSpPr>
        <p:spPr>
          <a:xfrm>
            <a:off x="635508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Completed signup and verification</a:t>
            </a:r>
            <a:endParaRPr lang="en-US" sz="850" dirty="0"/>
          </a:p>
        </p:txBody>
      </p:sp>
      <p:sp>
        <p:nvSpPr>
          <p:cNvPr id="69" name="Text 64"/>
          <p:cNvSpPr txBox="1"/>
          <p:nvPr/>
        </p:nvSpPr>
        <p:spPr>
          <a:xfrm>
            <a:off x="779068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70" name="Shape 65"/>
          <p:cNvSpPr/>
          <p:nvPr/>
        </p:nvSpPr>
        <p:spPr>
          <a:xfrm>
            <a:off x="619048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6190488" y="279806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2" name="Text 67"/>
          <p:cNvSpPr txBox="1"/>
          <p:nvPr/>
        </p:nvSpPr>
        <p:spPr>
          <a:xfrm>
            <a:off x="635508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122</a:t>
            </a:r>
            <a:endParaRPr lang="en-US" sz="2400" dirty="0"/>
          </a:p>
        </p:txBody>
      </p:sp>
      <p:sp>
        <p:nvSpPr>
          <p:cNvPr id="73" name="Text 68"/>
          <p:cNvSpPr txBox="1"/>
          <p:nvPr/>
        </p:nvSpPr>
        <p:spPr>
          <a:xfrm>
            <a:off x="635508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Incomplete KYC</a:t>
            </a:r>
            <a:endParaRPr lang="en-US" sz="1050" dirty="0"/>
          </a:p>
        </p:txBody>
      </p:sp>
      <p:sp>
        <p:nvSpPr>
          <p:cNvPr id="74" name="Text 69"/>
          <p:cNvSpPr txBox="1"/>
          <p:nvPr/>
        </p:nvSpPr>
        <p:spPr>
          <a:xfrm>
            <a:off x="635508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Started KYC but did not proceed</a:t>
            </a:r>
            <a:endParaRPr lang="en-US" sz="850" dirty="0"/>
          </a:p>
        </p:txBody>
      </p:sp>
      <p:sp>
        <p:nvSpPr>
          <p:cNvPr id="75" name="Text 70"/>
          <p:cNvSpPr txBox="1"/>
          <p:nvPr/>
        </p:nvSpPr>
        <p:spPr>
          <a:xfrm>
            <a:off x="779068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76" name="Shape 71"/>
          <p:cNvSpPr/>
          <p:nvPr/>
        </p:nvSpPr>
        <p:spPr>
          <a:xfrm>
            <a:off x="619048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6190488" y="389534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8" name="Text 73"/>
          <p:cNvSpPr txBox="1"/>
          <p:nvPr/>
        </p:nvSpPr>
        <p:spPr>
          <a:xfrm>
            <a:off x="635508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</a:t>
            </a:r>
            <a:endParaRPr lang="en-US" sz="2400" dirty="0"/>
          </a:p>
        </p:txBody>
      </p:sp>
      <p:sp>
        <p:nvSpPr>
          <p:cNvPr id="79" name="Text 74"/>
          <p:cNvSpPr txBox="1"/>
          <p:nvPr/>
        </p:nvSpPr>
        <p:spPr>
          <a:xfrm>
            <a:off x="635508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Rejected KYC</a:t>
            </a:r>
            <a:endParaRPr lang="en-US" sz="1050" dirty="0"/>
          </a:p>
        </p:txBody>
      </p:sp>
      <p:sp>
        <p:nvSpPr>
          <p:cNvPr id="80" name="Text 75"/>
          <p:cNvSpPr txBox="1"/>
          <p:nvPr/>
        </p:nvSpPr>
        <p:spPr>
          <a:xfrm>
            <a:off x="635508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Resubmission required</a:t>
            </a:r>
            <a:endParaRPr lang="en-US" sz="850" dirty="0"/>
          </a:p>
        </p:txBody>
      </p:sp>
      <p:sp>
        <p:nvSpPr>
          <p:cNvPr id="81" name="Text 76"/>
          <p:cNvSpPr txBox="1"/>
          <p:nvPr/>
        </p:nvSpPr>
        <p:spPr>
          <a:xfrm>
            <a:off x="779068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82" name="Shape 77"/>
          <p:cNvSpPr/>
          <p:nvPr/>
        </p:nvSpPr>
        <p:spPr>
          <a:xfrm>
            <a:off x="619048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6190488" y="499262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4" name="Text 79"/>
          <p:cNvSpPr txBox="1"/>
          <p:nvPr/>
        </p:nvSpPr>
        <p:spPr>
          <a:xfrm>
            <a:off x="635508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162</a:t>
            </a:r>
            <a:endParaRPr lang="en-US" sz="2400" dirty="0"/>
          </a:p>
        </p:txBody>
      </p:sp>
      <p:sp>
        <p:nvSpPr>
          <p:cNvPr id="85" name="Text 80"/>
          <p:cNvSpPr txBox="1"/>
          <p:nvPr/>
        </p:nvSpPr>
        <p:spPr>
          <a:xfrm>
            <a:off x="635508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KYC applications</a:t>
            </a:r>
            <a:endParaRPr lang="en-US" sz="1050" dirty="0"/>
          </a:p>
        </p:txBody>
      </p:sp>
      <p:sp>
        <p:nvSpPr>
          <p:cNvPr id="86" name="Text 81"/>
          <p:cNvSpPr txBox="1"/>
          <p:nvPr/>
        </p:nvSpPr>
        <p:spPr>
          <a:xfrm>
            <a:off x="635508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Onboarded + incomplete + rejected</a:t>
            </a:r>
            <a:endParaRPr lang="en-US" sz="850" dirty="0"/>
          </a:p>
        </p:txBody>
      </p:sp>
      <p:sp>
        <p:nvSpPr>
          <p:cNvPr id="87" name="Shape 82"/>
          <p:cNvSpPr/>
          <p:nvPr/>
        </p:nvSpPr>
        <p:spPr>
          <a:xfrm>
            <a:off x="9002268" y="1408176"/>
            <a:ext cx="45720" cy="155448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88" name="Text 83"/>
          <p:cNvSpPr txBox="1"/>
          <p:nvPr/>
        </p:nvSpPr>
        <p:spPr>
          <a:xfrm>
            <a:off x="911199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SUPPORT TICKETS</a:t>
            </a:r>
            <a:endParaRPr lang="en-US" sz="900" dirty="0"/>
          </a:p>
        </p:txBody>
      </p:sp>
      <p:sp>
        <p:nvSpPr>
          <p:cNvPr id="89" name="Shape 84"/>
          <p:cNvSpPr/>
          <p:nvPr/>
        </p:nvSpPr>
        <p:spPr>
          <a:xfrm>
            <a:off x="900226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9002268" y="170078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1" name="Text 86"/>
          <p:cNvSpPr txBox="1"/>
          <p:nvPr/>
        </p:nvSpPr>
        <p:spPr>
          <a:xfrm>
            <a:off x="916686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</a:t>
            </a:r>
            <a:endParaRPr lang="en-US" sz="2400" dirty="0"/>
          </a:p>
        </p:txBody>
      </p:sp>
      <p:sp>
        <p:nvSpPr>
          <p:cNvPr id="92" name="Text 87"/>
          <p:cNvSpPr txBox="1"/>
          <p:nvPr/>
        </p:nvSpPr>
        <p:spPr>
          <a:xfrm>
            <a:off x="916686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created</a:t>
            </a:r>
            <a:endParaRPr lang="en-US" sz="1050" dirty="0"/>
          </a:p>
        </p:txBody>
      </p:sp>
      <p:sp>
        <p:nvSpPr>
          <p:cNvPr id="93" name="Text 88"/>
          <p:cNvSpPr txBox="1"/>
          <p:nvPr/>
        </p:nvSpPr>
        <p:spPr>
          <a:xfrm>
            <a:off x="916686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94" name="Text 89"/>
          <p:cNvSpPr txBox="1"/>
          <p:nvPr/>
        </p:nvSpPr>
        <p:spPr>
          <a:xfrm>
            <a:off x="1060246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95" name="Shape 90"/>
          <p:cNvSpPr/>
          <p:nvPr/>
        </p:nvSpPr>
        <p:spPr>
          <a:xfrm>
            <a:off x="900226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9002268" y="279806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7" name="Text 92"/>
          <p:cNvSpPr txBox="1"/>
          <p:nvPr/>
        </p:nvSpPr>
        <p:spPr>
          <a:xfrm>
            <a:off x="916686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</a:t>
            </a:r>
            <a:endParaRPr lang="en-US" sz="2400" dirty="0"/>
          </a:p>
        </p:txBody>
      </p:sp>
      <p:sp>
        <p:nvSpPr>
          <p:cNvPr id="98" name="Text 93"/>
          <p:cNvSpPr txBox="1"/>
          <p:nvPr/>
        </p:nvSpPr>
        <p:spPr>
          <a:xfrm>
            <a:off x="916686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resolved</a:t>
            </a:r>
            <a:endParaRPr lang="en-US" sz="1050" dirty="0"/>
          </a:p>
        </p:txBody>
      </p:sp>
      <p:sp>
        <p:nvSpPr>
          <p:cNvPr id="99" name="Text 94"/>
          <p:cNvSpPr txBox="1"/>
          <p:nvPr/>
        </p:nvSpPr>
        <p:spPr>
          <a:xfrm>
            <a:off x="916686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100% of tickets created</a:t>
            </a:r>
            <a:endParaRPr lang="en-US" sz="850" dirty="0"/>
          </a:p>
        </p:txBody>
      </p:sp>
      <p:sp>
        <p:nvSpPr>
          <p:cNvPr id="100" name="Text 95"/>
          <p:cNvSpPr txBox="1"/>
          <p:nvPr/>
        </p:nvSpPr>
        <p:spPr>
          <a:xfrm>
            <a:off x="1060246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1" name="Shape 96"/>
          <p:cNvSpPr/>
          <p:nvPr/>
        </p:nvSpPr>
        <p:spPr>
          <a:xfrm>
            <a:off x="900226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9002268" y="389534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3" name="Text 98"/>
          <p:cNvSpPr txBox="1"/>
          <p:nvPr/>
        </p:nvSpPr>
        <p:spPr>
          <a:xfrm>
            <a:off x="916686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</a:t>
            </a:r>
            <a:endParaRPr lang="en-US" sz="2400" dirty="0"/>
          </a:p>
        </p:txBody>
      </p:sp>
      <p:sp>
        <p:nvSpPr>
          <p:cNvPr id="104" name="Text 99"/>
          <p:cNvSpPr txBox="1"/>
          <p:nvPr/>
        </p:nvSpPr>
        <p:spPr>
          <a:xfrm>
            <a:off x="916686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Email queries</a:t>
            </a:r>
            <a:endParaRPr lang="en-US" sz="1050" dirty="0"/>
          </a:p>
        </p:txBody>
      </p:sp>
      <p:sp>
        <p:nvSpPr>
          <p:cNvPr id="105" name="Text 100"/>
          <p:cNvSpPr txBox="1"/>
          <p:nvPr/>
        </p:nvSpPr>
        <p:spPr>
          <a:xfrm>
            <a:off x="916686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06" name="Text 101"/>
          <p:cNvSpPr txBox="1"/>
          <p:nvPr/>
        </p:nvSpPr>
        <p:spPr>
          <a:xfrm>
            <a:off x="1060246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7" name="Shape 102"/>
          <p:cNvSpPr/>
          <p:nvPr/>
        </p:nvSpPr>
        <p:spPr>
          <a:xfrm>
            <a:off x="900226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9002268" y="499262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9" name="Text 104"/>
          <p:cNvSpPr txBox="1"/>
          <p:nvPr/>
        </p:nvSpPr>
        <p:spPr>
          <a:xfrm>
            <a:off x="916686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21</a:t>
            </a:r>
            <a:endParaRPr lang="en-US" sz="2400" dirty="0"/>
          </a:p>
        </p:txBody>
      </p:sp>
      <p:sp>
        <p:nvSpPr>
          <p:cNvPr id="110" name="Text 105"/>
          <p:cNvSpPr txBox="1"/>
          <p:nvPr/>
        </p:nvSpPr>
        <p:spPr>
          <a:xfrm>
            <a:off x="916686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AI support queries</a:t>
            </a:r>
            <a:endParaRPr lang="en-US" sz="1050" dirty="0"/>
          </a:p>
        </p:txBody>
      </p:sp>
      <p:sp>
        <p:nvSpPr>
          <p:cNvPr id="111" name="Text 106"/>
          <p:cNvSpPr txBox="1"/>
          <p:nvPr/>
        </p:nvSpPr>
        <p:spPr>
          <a:xfrm>
            <a:off x="916686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12" name="Text 107"/>
          <p:cNvSpPr txBox="1"/>
          <p:nvPr/>
        </p:nvSpPr>
        <p:spPr>
          <a:xfrm>
            <a:off x="1060246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atemIsa_202508993_IT9002_NLP_Project/emyaa-ceo-deck/working/charts/board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188720"/>
            <a:ext cx="12191695" cy="24689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66928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F3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PLATFORM ANALYTICS  |  PERFORMANCE DASHBOARD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57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 date: 9 Aug 2026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868680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6CFE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Reporting period: All Time   |   Change on each card is against the previous report, 6 Aug 2026</a:t>
            </a:r>
            <a:endParaRPr lang="en-US" sz="1000" dirty="0"/>
          </a:p>
        </p:txBody>
      </p:sp>
      <p:pic>
        <p:nvPicPr>
          <p:cNvPr id="7" name="Image 1" descr="/home/user/HatemIsa_202508993_IT9002_NLP_Project/emyaa-ceo-deck/working/charts/ajy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02336"/>
            <a:ext cx="13258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" y="6272784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Source: eMYAA Daily Performance Dashboard, eMYAA_-_Daily_Performance_Dashboard-1.pdf, page 34. This report labels the money card 'Total Deposits'; later reports label the same measure 'Total AUM'.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eMYAA Trading Platform  |  Daily Performance Dashboard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9802368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37</a:t>
            </a:r>
            <a:endParaRPr lang="en-US" sz="800" dirty="0"/>
          </a:p>
        </p:txBody>
      </p:sp>
      <p:pic>
        <p:nvPicPr>
          <p:cNvPr id="11" name="Image 2" descr="/home/user/HatemIsa_202508993_IT9002_NLP_Project/emyaa-ceo-deck/working/charts/emyaa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6336792"/>
            <a:ext cx="1024128" cy="3657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66928" y="1408176"/>
            <a:ext cx="45720" cy="155448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665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DOWNLOADS &amp; RATINGS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6692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66928" y="170078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152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179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downloads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 Store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216712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6692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66928" y="279806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3152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106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73152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downloads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73152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Apple App Store</a:t>
            </a:r>
            <a:endParaRPr lang="en-US" sz="850" dirty="0"/>
          </a:p>
        </p:txBody>
      </p:sp>
      <p:sp>
        <p:nvSpPr>
          <p:cNvPr id="25" name="Text 20"/>
          <p:cNvSpPr txBox="1"/>
          <p:nvPr/>
        </p:nvSpPr>
        <p:spPr>
          <a:xfrm>
            <a:off x="216712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6692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66928" y="389534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3152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29" name="Text 24"/>
          <p:cNvSpPr txBox="1"/>
          <p:nvPr/>
        </p:nvSpPr>
        <p:spPr>
          <a:xfrm>
            <a:off x="73152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app rating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73152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Play, 2 reviews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56692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66928" y="499262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3152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34" name="Text 29"/>
          <p:cNvSpPr txBox="1"/>
          <p:nvPr/>
        </p:nvSpPr>
        <p:spPr>
          <a:xfrm>
            <a:off x="73152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app rating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73152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 Store, 2 reviews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3378708" y="1408176"/>
            <a:ext cx="45720" cy="155448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48843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 ACTIVITY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337870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3378708" y="170078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354330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9</a:t>
            </a:r>
            <a:endParaRPr lang="en-US" sz="2400" dirty="0"/>
          </a:p>
        </p:txBody>
      </p:sp>
      <p:sp>
        <p:nvSpPr>
          <p:cNvPr id="41" name="Text 36"/>
          <p:cNvSpPr txBox="1"/>
          <p:nvPr/>
        </p:nvSpPr>
        <p:spPr>
          <a:xfrm>
            <a:off x="354330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deposited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354330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Funded accounts</a:t>
            </a:r>
            <a:endParaRPr lang="en-US" sz="850" dirty="0"/>
          </a:p>
        </p:txBody>
      </p:sp>
      <p:sp>
        <p:nvSpPr>
          <p:cNvPr id="43" name="Text 38"/>
          <p:cNvSpPr txBox="1"/>
          <p:nvPr/>
        </p:nvSpPr>
        <p:spPr>
          <a:xfrm>
            <a:off x="497890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337870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3378708" y="279806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354330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$8,526.91</a:t>
            </a:r>
            <a:endParaRPr lang="en-US" sz="1900" dirty="0"/>
          </a:p>
        </p:txBody>
      </p:sp>
      <p:sp>
        <p:nvSpPr>
          <p:cNvPr id="47" name="Text 42"/>
          <p:cNvSpPr txBox="1"/>
          <p:nvPr/>
        </p:nvSpPr>
        <p:spPr>
          <a:xfrm>
            <a:off x="354330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deposits</a:t>
            </a:r>
            <a:endParaRPr lang="en-US" sz="1050" dirty="0"/>
          </a:p>
        </p:txBody>
      </p:sp>
      <p:sp>
        <p:nvSpPr>
          <p:cNvPr id="48" name="Text 43"/>
          <p:cNvSpPr txBox="1"/>
          <p:nvPr/>
        </p:nvSpPr>
        <p:spPr>
          <a:xfrm>
            <a:off x="354330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Cumulative platform deposits</a:t>
            </a:r>
            <a:endParaRPr lang="en-US" sz="850" dirty="0"/>
          </a:p>
        </p:txBody>
      </p:sp>
      <p:sp>
        <p:nvSpPr>
          <p:cNvPr id="49" name="Text 44"/>
          <p:cNvSpPr txBox="1"/>
          <p:nvPr/>
        </p:nvSpPr>
        <p:spPr>
          <a:xfrm>
            <a:off x="497890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337870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3378708" y="389534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354330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9</a:t>
            </a:r>
            <a:endParaRPr lang="en-US" sz="2400" dirty="0"/>
          </a:p>
        </p:txBody>
      </p:sp>
      <p:sp>
        <p:nvSpPr>
          <p:cNvPr id="53" name="Text 48"/>
          <p:cNvSpPr txBox="1"/>
          <p:nvPr/>
        </p:nvSpPr>
        <p:spPr>
          <a:xfrm>
            <a:off x="354330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traded</a:t>
            </a:r>
            <a:endParaRPr lang="en-US" sz="1050" dirty="0"/>
          </a:p>
        </p:txBody>
      </p:sp>
      <p:sp>
        <p:nvSpPr>
          <p:cNvPr id="54" name="Text 49"/>
          <p:cNvSpPr txBox="1"/>
          <p:nvPr/>
        </p:nvSpPr>
        <p:spPr>
          <a:xfrm>
            <a:off x="354330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Placed at least 1 trade</a:t>
            </a:r>
            <a:endParaRPr lang="en-US" sz="850" dirty="0"/>
          </a:p>
        </p:txBody>
      </p:sp>
      <p:sp>
        <p:nvSpPr>
          <p:cNvPr id="55" name="Text 50"/>
          <p:cNvSpPr txBox="1"/>
          <p:nvPr/>
        </p:nvSpPr>
        <p:spPr>
          <a:xfrm>
            <a:off x="497890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6" name="Shape 51"/>
          <p:cNvSpPr/>
          <p:nvPr/>
        </p:nvSpPr>
        <p:spPr>
          <a:xfrm>
            <a:off x="337870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3378708" y="499262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354330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30</a:t>
            </a:r>
            <a:endParaRPr lang="en-US" sz="2400" dirty="0"/>
          </a:p>
        </p:txBody>
      </p:sp>
      <p:sp>
        <p:nvSpPr>
          <p:cNvPr id="59" name="Text 54"/>
          <p:cNvSpPr txBox="1"/>
          <p:nvPr/>
        </p:nvSpPr>
        <p:spPr>
          <a:xfrm>
            <a:off x="354330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trades</a:t>
            </a:r>
            <a:endParaRPr lang="en-US" sz="1050" dirty="0"/>
          </a:p>
        </p:txBody>
      </p:sp>
      <p:sp>
        <p:nvSpPr>
          <p:cNvPr id="60" name="Text 55"/>
          <p:cNvSpPr txBox="1"/>
          <p:nvPr/>
        </p:nvSpPr>
        <p:spPr>
          <a:xfrm>
            <a:off x="354330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Executed across all users</a:t>
            </a:r>
            <a:endParaRPr lang="en-US" sz="850" dirty="0"/>
          </a:p>
        </p:txBody>
      </p:sp>
      <p:sp>
        <p:nvSpPr>
          <p:cNvPr id="61" name="Text 56"/>
          <p:cNvSpPr txBox="1"/>
          <p:nvPr/>
        </p:nvSpPr>
        <p:spPr>
          <a:xfrm>
            <a:off x="497890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62" name="Shape 57"/>
          <p:cNvSpPr/>
          <p:nvPr/>
        </p:nvSpPr>
        <p:spPr>
          <a:xfrm>
            <a:off x="6190488" y="1408176"/>
            <a:ext cx="45720" cy="1554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630021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KYC STATUS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619048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6190488" y="170078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635508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34</a:t>
            </a:r>
            <a:endParaRPr lang="en-US" sz="2400" dirty="0"/>
          </a:p>
        </p:txBody>
      </p:sp>
      <p:sp>
        <p:nvSpPr>
          <p:cNvPr id="67" name="Text 62"/>
          <p:cNvSpPr txBox="1"/>
          <p:nvPr/>
        </p:nvSpPr>
        <p:spPr>
          <a:xfrm>
            <a:off x="635508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onboarded</a:t>
            </a:r>
            <a:endParaRPr lang="en-US" sz="1050" dirty="0"/>
          </a:p>
        </p:txBody>
      </p:sp>
      <p:sp>
        <p:nvSpPr>
          <p:cNvPr id="68" name="Text 63"/>
          <p:cNvSpPr txBox="1"/>
          <p:nvPr/>
        </p:nvSpPr>
        <p:spPr>
          <a:xfrm>
            <a:off x="635508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Completed signup and verification</a:t>
            </a:r>
            <a:endParaRPr lang="en-US" sz="850" dirty="0"/>
          </a:p>
        </p:txBody>
      </p:sp>
      <p:sp>
        <p:nvSpPr>
          <p:cNvPr id="69" name="Text 64"/>
          <p:cNvSpPr txBox="1"/>
          <p:nvPr/>
        </p:nvSpPr>
        <p:spPr>
          <a:xfrm>
            <a:off x="779068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70" name="Shape 65"/>
          <p:cNvSpPr/>
          <p:nvPr/>
        </p:nvSpPr>
        <p:spPr>
          <a:xfrm>
            <a:off x="619048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6190488" y="279806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2" name="Text 67"/>
          <p:cNvSpPr txBox="1"/>
          <p:nvPr/>
        </p:nvSpPr>
        <p:spPr>
          <a:xfrm>
            <a:off x="635508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122</a:t>
            </a:r>
            <a:endParaRPr lang="en-US" sz="2400" dirty="0"/>
          </a:p>
        </p:txBody>
      </p:sp>
      <p:sp>
        <p:nvSpPr>
          <p:cNvPr id="73" name="Text 68"/>
          <p:cNvSpPr txBox="1"/>
          <p:nvPr/>
        </p:nvSpPr>
        <p:spPr>
          <a:xfrm>
            <a:off x="635508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Incomplete KYC</a:t>
            </a:r>
            <a:endParaRPr lang="en-US" sz="1050" dirty="0"/>
          </a:p>
        </p:txBody>
      </p:sp>
      <p:sp>
        <p:nvSpPr>
          <p:cNvPr id="74" name="Text 69"/>
          <p:cNvSpPr txBox="1"/>
          <p:nvPr/>
        </p:nvSpPr>
        <p:spPr>
          <a:xfrm>
            <a:off x="635508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Started KYC but did not proceed</a:t>
            </a:r>
            <a:endParaRPr lang="en-US" sz="850" dirty="0"/>
          </a:p>
        </p:txBody>
      </p:sp>
      <p:sp>
        <p:nvSpPr>
          <p:cNvPr id="75" name="Text 70"/>
          <p:cNvSpPr txBox="1"/>
          <p:nvPr/>
        </p:nvSpPr>
        <p:spPr>
          <a:xfrm>
            <a:off x="779068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5303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+5</a:t>
            </a:r>
            <a:endParaRPr lang="en-US" sz="850" dirty="0"/>
          </a:p>
        </p:txBody>
      </p:sp>
      <p:sp>
        <p:nvSpPr>
          <p:cNvPr id="76" name="Shape 71"/>
          <p:cNvSpPr/>
          <p:nvPr/>
        </p:nvSpPr>
        <p:spPr>
          <a:xfrm>
            <a:off x="619048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6190488" y="389534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8" name="Text 73"/>
          <p:cNvSpPr txBox="1"/>
          <p:nvPr/>
        </p:nvSpPr>
        <p:spPr>
          <a:xfrm>
            <a:off x="635508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</a:t>
            </a:r>
            <a:endParaRPr lang="en-US" sz="2400" dirty="0"/>
          </a:p>
        </p:txBody>
      </p:sp>
      <p:sp>
        <p:nvSpPr>
          <p:cNvPr id="79" name="Text 74"/>
          <p:cNvSpPr txBox="1"/>
          <p:nvPr/>
        </p:nvSpPr>
        <p:spPr>
          <a:xfrm>
            <a:off x="635508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Rejected KYC</a:t>
            </a:r>
            <a:endParaRPr lang="en-US" sz="1050" dirty="0"/>
          </a:p>
        </p:txBody>
      </p:sp>
      <p:sp>
        <p:nvSpPr>
          <p:cNvPr id="80" name="Text 75"/>
          <p:cNvSpPr txBox="1"/>
          <p:nvPr/>
        </p:nvSpPr>
        <p:spPr>
          <a:xfrm>
            <a:off x="635508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Resubmission required</a:t>
            </a:r>
            <a:endParaRPr lang="en-US" sz="850" dirty="0"/>
          </a:p>
        </p:txBody>
      </p:sp>
      <p:sp>
        <p:nvSpPr>
          <p:cNvPr id="81" name="Text 76"/>
          <p:cNvSpPr txBox="1"/>
          <p:nvPr/>
        </p:nvSpPr>
        <p:spPr>
          <a:xfrm>
            <a:off x="779068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82" name="Shape 77"/>
          <p:cNvSpPr/>
          <p:nvPr/>
        </p:nvSpPr>
        <p:spPr>
          <a:xfrm>
            <a:off x="619048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6190488" y="499262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4" name="Text 79"/>
          <p:cNvSpPr txBox="1"/>
          <p:nvPr/>
        </p:nvSpPr>
        <p:spPr>
          <a:xfrm>
            <a:off x="635508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161</a:t>
            </a:r>
            <a:endParaRPr lang="en-US" sz="2400" dirty="0"/>
          </a:p>
        </p:txBody>
      </p:sp>
      <p:sp>
        <p:nvSpPr>
          <p:cNvPr id="85" name="Text 80"/>
          <p:cNvSpPr txBox="1"/>
          <p:nvPr/>
        </p:nvSpPr>
        <p:spPr>
          <a:xfrm>
            <a:off x="635508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KYC applications</a:t>
            </a:r>
            <a:endParaRPr lang="en-US" sz="1050" dirty="0"/>
          </a:p>
        </p:txBody>
      </p:sp>
      <p:sp>
        <p:nvSpPr>
          <p:cNvPr id="86" name="Text 81"/>
          <p:cNvSpPr txBox="1"/>
          <p:nvPr/>
        </p:nvSpPr>
        <p:spPr>
          <a:xfrm>
            <a:off x="635508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Onboarded + incomplete + rejected</a:t>
            </a:r>
            <a:endParaRPr lang="en-US" sz="850" dirty="0"/>
          </a:p>
        </p:txBody>
      </p:sp>
      <p:sp>
        <p:nvSpPr>
          <p:cNvPr id="87" name="Shape 82"/>
          <p:cNvSpPr/>
          <p:nvPr/>
        </p:nvSpPr>
        <p:spPr>
          <a:xfrm>
            <a:off x="9002268" y="1408176"/>
            <a:ext cx="45720" cy="155448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88" name="Text 83"/>
          <p:cNvSpPr txBox="1"/>
          <p:nvPr/>
        </p:nvSpPr>
        <p:spPr>
          <a:xfrm>
            <a:off x="911199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SUPPORT TICKETS</a:t>
            </a:r>
            <a:endParaRPr lang="en-US" sz="900" dirty="0"/>
          </a:p>
        </p:txBody>
      </p:sp>
      <p:sp>
        <p:nvSpPr>
          <p:cNvPr id="89" name="Shape 84"/>
          <p:cNvSpPr/>
          <p:nvPr/>
        </p:nvSpPr>
        <p:spPr>
          <a:xfrm>
            <a:off x="900226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9002268" y="170078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1" name="Text 86"/>
          <p:cNvSpPr txBox="1"/>
          <p:nvPr/>
        </p:nvSpPr>
        <p:spPr>
          <a:xfrm>
            <a:off x="916686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</a:t>
            </a:r>
            <a:endParaRPr lang="en-US" sz="2400" dirty="0"/>
          </a:p>
        </p:txBody>
      </p:sp>
      <p:sp>
        <p:nvSpPr>
          <p:cNvPr id="92" name="Text 87"/>
          <p:cNvSpPr txBox="1"/>
          <p:nvPr/>
        </p:nvSpPr>
        <p:spPr>
          <a:xfrm>
            <a:off x="916686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created</a:t>
            </a:r>
            <a:endParaRPr lang="en-US" sz="1050" dirty="0"/>
          </a:p>
        </p:txBody>
      </p:sp>
      <p:sp>
        <p:nvSpPr>
          <p:cNvPr id="93" name="Text 88"/>
          <p:cNvSpPr txBox="1"/>
          <p:nvPr/>
        </p:nvSpPr>
        <p:spPr>
          <a:xfrm>
            <a:off x="916686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94" name="Text 89"/>
          <p:cNvSpPr txBox="1"/>
          <p:nvPr/>
        </p:nvSpPr>
        <p:spPr>
          <a:xfrm>
            <a:off x="1060246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95" name="Shape 90"/>
          <p:cNvSpPr/>
          <p:nvPr/>
        </p:nvSpPr>
        <p:spPr>
          <a:xfrm>
            <a:off x="900226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9002268" y="279806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7" name="Text 92"/>
          <p:cNvSpPr txBox="1"/>
          <p:nvPr/>
        </p:nvSpPr>
        <p:spPr>
          <a:xfrm>
            <a:off x="916686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</a:t>
            </a:r>
            <a:endParaRPr lang="en-US" sz="2400" dirty="0"/>
          </a:p>
        </p:txBody>
      </p:sp>
      <p:sp>
        <p:nvSpPr>
          <p:cNvPr id="98" name="Text 93"/>
          <p:cNvSpPr txBox="1"/>
          <p:nvPr/>
        </p:nvSpPr>
        <p:spPr>
          <a:xfrm>
            <a:off x="916686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resolved</a:t>
            </a:r>
            <a:endParaRPr lang="en-US" sz="1050" dirty="0"/>
          </a:p>
        </p:txBody>
      </p:sp>
      <p:sp>
        <p:nvSpPr>
          <p:cNvPr id="99" name="Text 94"/>
          <p:cNvSpPr txBox="1"/>
          <p:nvPr/>
        </p:nvSpPr>
        <p:spPr>
          <a:xfrm>
            <a:off x="916686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100% of tickets created</a:t>
            </a:r>
            <a:endParaRPr lang="en-US" sz="850" dirty="0"/>
          </a:p>
        </p:txBody>
      </p:sp>
      <p:sp>
        <p:nvSpPr>
          <p:cNvPr id="100" name="Text 95"/>
          <p:cNvSpPr txBox="1"/>
          <p:nvPr/>
        </p:nvSpPr>
        <p:spPr>
          <a:xfrm>
            <a:off x="1060246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1" name="Shape 96"/>
          <p:cNvSpPr/>
          <p:nvPr/>
        </p:nvSpPr>
        <p:spPr>
          <a:xfrm>
            <a:off x="900226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9002268" y="389534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3" name="Text 98"/>
          <p:cNvSpPr txBox="1"/>
          <p:nvPr/>
        </p:nvSpPr>
        <p:spPr>
          <a:xfrm>
            <a:off x="916686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</a:t>
            </a:r>
            <a:endParaRPr lang="en-US" sz="2400" dirty="0"/>
          </a:p>
        </p:txBody>
      </p:sp>
      <p:sp>
        <p:nvSpPr>
          <p:cNvPr id="104" name="Text 99"/>
          <p:cNvSpPr txBox="1"/>
          <p:nvPr/>
        </p:nvSpPr>
        <p:spPr>
          <a:xfrm>
            <a:off x="916686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Email queries</a:t>
            </a:r>
            <a:endParaRPr lang="en-US" sz="1050" dirty="0"/>
          </a:p>
        </p:txBody>
      </p:sp>
      <p:sp>
        <p:nvSpPr>
          <p:cNvPr id="105" name="Text 100"/>
          <p:cNvSpPr txBox="1"/>
          <p:nvPr/>
        </p:nvSpPr>
        <p:spPr>
          <a:xfrm>
            <a:off x="916686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06" name="Text 101"/>
          <p:cNvSpPr txBox="1"/>
          <p:nvPr/>
        </p:nvSpPr>
        <p:spPr>
          <a:xfrm>
            <a:off x="1060246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7" name="Shape 102"/>
          <p:cNvSpPr/>
          <p:nvPr/>
        </p:nvSpPr>
        <p:spPr>
          <a:xfrm>
            <a:off x="900226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9002268" y="499262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9" name="Text 104"/>
          <p:cNvSpPr txBox="1"/>
          <p:nvPr/>
        </p:nvSpPr>
        <p:spPr>
          <a:xfrm>
            <a:off x="916686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21</a:t>
            </a:r>
            <a:endParaRPr lang="en-US" sz="2400" dirty="0"/>
          </a:p>
        </p:txBody>
      </p:sp>
      <p:sp>
        <p:nvSpPr>
          <p:cNvPr id="110" name="Text 105"/>
          <p:cNvSpPr txBox="1"/>
          <p:nvPr/>
        </p:nvSpPr>
        <p:spPr>
          <a:xfrm>
            <a:off x="916686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AI support queries</a:t>
            </a:r>
            <a:endParaRPr lang="en-US" sz="1050" dirty="0"/>
          </a:p>
        </p:txBody>
      </p:sp>
      <p:sp>
        <p:nvSpPr>
          <p:cNvPr id="111" name="Text 106"/>
          <p:cNvSpPr txBox="1"/>
          <p:nvPr/>
        </p:nvSpPr>
        <p:spPr>
          <a:xfrm>
            <a:off x="916686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12" name="Text 107"/>
          <p:cNvSpPr txBox="1"/>
          <p:nvPr/>
        </p:nvSpPr>
        <p:spPr>
          <a:xfrm>
            <a:off x="1060246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atemIsa_202508993_IT9002_NLP_Project/emyaa-ceo-deck/working/charts/board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188720"/>
            <a:ext cx="12191695" cy="24689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66928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F3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PLATFORM ANALYTICS  |  PERFORMANCE DASHBOARD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57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 date: 6 Aug 2026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868680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6CFE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Reporting period: All Time   |   Change on each card is against the previous report, 5 Aug 2026</a:t>
            </a:r>
            <a:endParaRPr lang="en-US" sz="1000" dirty="0"/>
          </a:p>
        </p:txBody>
      </p:sp>
      <p:pic>
        <p:nvPicPr>
          <p:cNvPr id="7" name="Image 1" descr="/home/user/HatemIsa_202508993_IT9002_NLP_Project/emyaa-ceo-deck/working/charts/ajy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02336"/>
            <a:ext cx="13258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" y="6272784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Source: eMYAA Daily Performance Dashboard, eMYAA_-_Daily_Performance_Dashboard-1.pdf, page 35. This report labels the money card 'Total Deposits'; later reports label the same measure 'Total AUM'.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eMYAA Trading Platform  |  Daily Performance Dashboard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9802368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38</a:t>
            </a:r>
            <a:endParaRPr lang="en-US" sz="800" dirty="0"/>
          </a:p>
        </p:txBody>
      </p:sp>
      <p:pic>
        <p:nvPicPr>
          <p:cNvPr id="11" name="Image 2" descr="/home/user/HatemIsa_202508993_IT9002_NLP_Project/emyaa-ceo-deck/working/charts/emyaa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6336792"/>
            <a:ext cx="1024128" cy="3657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66928" y="1408176"/>
            <a:ext cx="45720" cy="155448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665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DOWNLOADS &amp; RATINGS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6692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66928" y="170078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152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178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downloads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 Store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216712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6692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66928" y="279806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3152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106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73152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downloads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73152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Apple App Store</a:t>
            </a:r>
            <a:endParaRPr lang="en-US" sz="850" dirty="0"/>
          </a:p>
        </p:txBody>
      </p:sp>
      <p:sp>
        <p:nvSpPr>
          <p:cNvPr id="25" name="Text 20"/>
          <p:cNvSpPr txBox="1"/>
          <p:nvPr/>
        </p:nvSpPr>
        <p:spPr>
          <a:xfrm>
            <a:off x="216712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6692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66928" y="389534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3152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29" name="Text 24"/>
          <p:cNvSpPr txBox="1"/>
          <p:nvPr/>
        </p:nvSpPr>
        <p:spPr>
          <a:xfrm>
            <a:off x="73152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app rating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73152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Play, 2 reviews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56692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66928" y="499262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3152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34" name="Text 29"/>
          <p:cNvSpPr txBox="1"/>
          <p:nvPr/>
        </p:nvSpPr>
        <p:spPr>
          <a:xfrm>
            <a:off x="73152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app rating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73152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 Store, 2 reviews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3378708" y="1408176"/>
            <a:ext cx="45720" cy="155448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48843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 ACTIVITY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337870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3378708" y="170078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354330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9</a:t>
            </a:r>
            <a:endParaRPr lang="en-US" sz="2400" dirty="0"/>
          </a:p>
        </p:txBody>
      </p:sp>
      <p:sp>
        <p:nvSpPr>
          <p:cNvPr id="41" name="Text 36"/>
          <p:cNvSpPr txBox="1"/>
          <p:nvPr/>
        </p:nvSpPr>
        <p:spPr>
          <a:xfrm>
            <a:off x="354330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deposited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354330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Funded accounts</a:t>
            </a:r>
            <a:endParaRPr lang="en-US" sz="850" dirty="0"/>
          </a:p>
        </p:txBody>
      </p:sp>
      <p:sp>
        <p:nvSpPr>
          <p:cNvPr id="43" name="Text 38"/>
          <p:cNvSpPr txBox="1"/>
          <p:nvPr/>
        </p:nvSpPr>
        <p:spPr>
          <a:xfrm>
            <a:off x="497890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337870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3378708" y="279806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354330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$8,526.91</a:t>
            </a:r>
            <a:endParaRPr lang="en-US" sz="1900" dirty="0"/>
          </a:p>
        </p:txBody>
      </p:sp>
      <p:sp>
        <p:nvSpPr>
          <p:cNvPr id="47" name="Text 42"/>
          <p:cNvSpPr txBox="1"/>
          <p:nvPr/>
        </p:nvSpPr>
        <p:spPr>
          <a:xfrm>
            <a:off x="354330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deposits</a:t>
            </a:r>
            <a:endParaRPr lang="en-US" sz="1050" dirty="0"/>
          </a:p>
        </p:txBody>
      </p:sp>
      <p:sp>
        <p:nvSpPr>
          <p:cNvPr id="48" name="Text 43"/>
          <p:cNvSpPr txBox="1"/>
          <p:nvPr/>
        </p:nvSpPr>
        <p:spPr>
          <a:xfrm>
            <a:off x="354330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Cumulative platform deposits</a:t>
            </a:r>
            <a:endParaRPr lang="en-US" sz="850" dirty="0"/>
          </a:p>
        </p:txBody>
      </p:sp>
      <p:sp>
        <p:nvSpPr>
          <p:cNvPr id="49" name="Text 44"/>
          <p:cNvSpPr txBox="1"/>
          <p:nvPr/>
        </p:nvSpPr>
        <p:spPr>
          <a:xfrm>
            <a:off x="497890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337870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3378708" y="389534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354330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9</a:t>
            </a:r>
            <a:endParaRPr lang="en-US" sz="2400" dirty="0"/>
          </a:p>
        </p:txBody>
      </p:sp>
      <p:sp>
        <p:nvSpPr>
          <p:cNvPr id="53" name="Text 48"/>
          <p:cNvSpPr txBox="1"/>
          <p:nvPr/>
        </p:nvSpPr>
        <p:spPr>
          <a:xfrm>
            <a:off x="354330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traded</a:t>
            </a:r>
            <a:endParaRPr lang="en-US" sz="1050" dirty="0"/>
          </a:p>
        </p:txBody>
      </p:sp>
      <p:sp>
        <p:nvSpPr>
          <p:cNvPr id="54" name="Text 49"/>
          <p:cNvSpPr txBox="1"/>
          <p:nvPr/>
        </p:nvSpPr>
        <p:spPr>
          <a:xfrm>
            <a:off x="354330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Placed at least 1 trade</a:t>
            </a:r>
            <a:endParaRPr lang="en-US" sz="850" dirty="0"/>
          </a:p>
        </p:txBody>
      </p:sp>
      <p:sp>
        <p:nvSpPr>
          <p:cNvPr id="55" name="Text 50"/>
          <p:cNvSpPr txBox="1"/>
          <p:nvPr/>
        </p:nvSpPr>
        <p:spPr>
          <a:xfrm>
            <a:off x="497890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6" name="Shape 51"/>
          <p:cNvSpPr/>
          <p:nvPr/>
        </p:nvSpPr>
        <p:spPr>
          <a:xfrm>
            <a:off x="337870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3378708" y="499262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354330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30</a:t>
            </a:r>
            <a:endParaRPr lang="en-US" sz="2400" dirty="0"/>
          </a:p>
        </p:txBody>
      </p:sp>
      <p:sp>
        <p:nvSpPr>
          <p:cNvPr id="59" name="Text 54"/>
          <p:cNvSpPr txBox="1"/>
          <p:nvPr/>
        </p:nvSpPr>
        <p:spPr>
          <a:xfrm>
            <a:off x="354330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trades</a:t>
            </a:r>
            <a:endParaRPr lang="en-US" sz="1050" dirty="0"/>
          </a:p>
        </p:txBody>
      </p:sp>
      <p:sp>
        <p:nvSpPr>
          <p:cNvPr id="60" name="Text 55"/>
          <p:cNvSpPr txBox="1"/>
          <p:nvPr/>
        </p:nvSpPr>
        <p:spPr>
          <a:xfrm>
            <a:off x="354330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Executed across all users</a:t>
            </a:r>
            <a:endParaRPr lang="en-US" sz="850" dirty="0"/>
          </a:p>
        </p:txBody>
      </p:sp>
      <p:sp>
        <p:nvSpPr>
          <p:cNvPr id="61" name="Text 56"/>
          <p:cNvSpPr txBox="1"/>
          <p:nvPr/>
        </p:nvSpPr>
        <p:spPr>
          <a:xfrm>
            <a:off x="497890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62" name="Shape 57"/>
          <p:cNvSpPr/>
          <p:nvPr/>
        </p:nvSpPr>
        <p:spPr>
          <a:xfrm>
            <a:off x="6190488" y="1408176"/>
            <a:ext cx="45720" cy="1554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630021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KYC STATUS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619048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6190488" y="170078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635508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34</a:t>
            </a:r>
            <a:endParaRPr lang="en-US" sz="2400" dirty="0"/>
          </a:p>
        </p:txBody>
      </p:sp>
      <p:sp>
        <p:nvSpPr>
          <p:cNvPr id="67" name="Text 62"/>
          <p:cNvSpPr txBox="1"/>
          <p:nvPr/>
        </p:nvSpPr>
        <p:spPr>
          <a:xfrm>
            <a:off x="635508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onboarded</a:t>
            </a:r>
            <a:endParaRPr lang="en-US" sz="1050" dirty="0"/>
          </a:p>
        </p:txBody>
      </p:sp>
      <p:sp>
        <p:nvSpPr>
          <p:cNvPr id="68" name="Text 63"/>
          <p:cNvSpPr txBox="1"/>
          <p:nvPr/>
        </p:nvSpPr>
        <p:spPr>
          <a:xfrm>
            <a:off x="635508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Completed signup and verification</a:t>
            </a:r>
            <a:endParaRPr lang="en-US" sz="850" dirty="0"/>
          </a:p>
        </p:txBody>
      </p:sp>
      <p:sp>
        <p:nvSpPr>
          <p:cNvPr id="69" name="Text 64"/>
          <p:cNvSpPr txBox="1"/>
          <p:nvPr/>
        </p:nvSpPr>
        <p:spPr>
          <a:xfrm>
            <a:off x="779068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70" name="Shape 65"/>
          <p:cNvSpPr/>
          <p:nvPr/>
        </p:nvSpPr>
        <p:spPr>
          <a:xfrm>
            <a:off x="619048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6190488" y="279806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2" name="Text 67"/>
          <p:cNvSpPr txBox="1"/>
          <p:nvPr/>
        </p:nvSpPr>
        <p:spPr>
          <a:xfrm>
            <a:off x="635508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117</a:t>
            </a:r>
            <a:endParaRPr lang="en-US" sz="2400" dirty="0"/>
          </a:p>
        </p:txBody>
      </p:sp>
      <p:sp>
        <p:nvSpPr>
          <p:cNvPr id="73" name="Text 68"/>
          <p:cNvSpPr txBox="1"/>
          <p:nvPr/>
        </p:nvSpPr>
        <p:spPr>
          <a:xfrm>
            <a:off x="635508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Incomplete KYC</a:t>
            </a:r>
            <a:endParaRPr lang="en-US" sz="1050" dirty="0"/>
          </a:p>
        </p:txBody>
      </p:sp>
      <p:sp>
        <p:nvSpPr>
          <p:cNvPr id="74" name="Text 69"/>
          <p:cNvSpPr txBox="1"/>
          <p:nvPr/>
        </p:nvSpPr>
        <p:spPr>
          <a:xfrm>
            <a:off x="635508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Started KYC but did not proceed</a:t>
            </a:r>
            <a:endParaRPr lang="en-US" sz="850" dirty="0"/>
          </a:p>
        </p:txBody>
      </p:sp>
      <p:sp>
        <p:nvSpPr>
          <p:cNvPr id="75" name="Text 70"/>
          <p:cNvSpPr txBox="1"/>
          <p:nvPr/>
        </p:nvSpPr>
        <p:spPr>
          <a:xfrm>
            <a:off x="779068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5303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76" name="Shape 71"/>
          <p:cNvSpPr/>
          <p:nvPr/>
        </p:nvSpPr>
        <p:spPr>
          <a:xfrm>
            <a:off x="619048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6190488" y="389534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8" name="Text 73"/>
          <p:cNvSpPr txBox="1"/>
          <p:nvPr/>
        </p:nvSpPr>
        <p:spPr>
          <a:xfrm>
            <a:off x="635508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</a:t>
            </a:r>
            <a:endParaRPr lang="en-US" sz="2400" dirty="0"/>
          </a:p>
        </p:txBody>
      </p:sp>
      <p:sp>
        <p:nvSpPr>
          <p:cNvPr id="79" name="Text 74"/>
          <p:cNvSpPr txBox="1"/>
          <p:nvPr/>
        </p:nvSpPr>
        <p:spPr>
          <a:xfrm>
            <a:off x="635508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Rejected KYC</a:t>
            </a:r>
            <a:endParaRPr lang="en-US" sz="1050" dirty="0"/>
          </a:p>
        </p:txBody>
      </p:sp>
      <p:sp>
        <p:nvSpPr>
          <p:cNvPr id="80" name="Text 75"/>
          <p:cNvSpPr txBox="1"/>
          <p:nvPr/>
        </p:nvSpPr>
        <p:spPr>
          <a:xfrm>
            <a:off x="635508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Resubmission required</a:t>
            </a:r>
            <a:endParaRPr lang="en-US" sz="850" dirty="0"/>
          </a:p>
        </p:txBody>
      </p:sp>
      <p:sp>
        <p:nvSpPr>
          <p:cNvPr id="81" name="Text 76"/>
          <p:cNvSpPr txBox="1"/>
          <p:nvPr/>
        </p:nvSpPr>
        <p:spPr>
          <a:xfrm>
            <a:off x="779068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82" name="Shape 77"/>
          <p:cNvSpPr/>
          <p:nvPr/>
        </p:nvSpPr>
        <p:spPr>
          <a:xfrm>
            <a:off x="619048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6190488" y="499262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4" name="Text 79"/>
          <p:cNvSpPr txBox="1"/>
          <p:nvPr/>
        </p:nvSpPr>
        <p:spPr>
          <a:xfrm>
            <a:off x="635508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156</a:t>
            </a:r>
            <a:endParaRPr lang="en-US" sz="2400" dirty="0"/>
          </a:p>
        </p:txBody>
      </p:sp>
      <p:sp>
        <p:nvSpPr>
          <p:cNvPr id="85" name="Text 80"/>
          <p:cNvSpPr txBox="1"/>
          <p:nvPr/>
        </p:nvSpPr>
        <p:spPr>
          <a:xfrm>
            <a:off x="635508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KYC applications</a:t>
            </a:r>
            <a:endParaRPr lang="en-US" sz="1050" dirty="0"/>
          </a:p>
        </p:txBody>
      </p:sp>
      <p:sp>
        <p:nvSpPr>
          <p:cNvPr id="86" name="Text 81"/>
          <p:cNvSpPr txBox="1"/>
          <p:nvPr/>
        </p:nvSpPr>
        <p:spPr>
          <a:xfrm>
            <a:off x="635508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Onboarded + incomplete + rejected</a:t>
            </a:r>
            <a:endParaRPr lang="en-US" sz="850" dirty="0"/>
          </a:p>
        </p:txBody>
      </p:sp>
      <p:sp>
        <p:nvSpPr>
          <p:cNvPr id="87" name="Shape 82"/>
          <p:cNvSpPr/>
          <p:nvPr/>
        </p:nvSpPr>
        <p:spPr>
          <a:xfrm>
            <a:off x="9002268" y="1408176"/>
            <a:ext cx="45720" cy="155448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88" name="Text 83"/>
          <p:cNvSpPr txBox="1"/>
          <p:nvPr/>
        </p:nvSpPr>
        <p:spPr>
          <a:xfrm>
            <a:off x="911199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SUPPORT TICKETS</a:t>
            </a:r>
            <a:endParaRPr lang="en-US" sz="900" dirty="0"/>
          </a:p>
        </p:txBody>
      </p:sp>
      <p:sp>
        <p:nvSpPr>
          <p:cNvPr id="89" name="Shape 84"/>
          <p:cNvSpPr/>
          <p:nvPr/>
        </p:nvSpPr>
        <p:spPr>
          <a:xfrm>
            <a:off x="900226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9002268" y="170078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1" name="Text 86"/>
          <p:cNvSpPr txBox="1"/>
          <p:nvPr/>
        </p:nvSpPr>
        <p:spPr>
          <a:xfrm>
            <a:off x="916686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</a:t>
            </a:r>
            <a:endParaRPr lang="en-US" sz="2400" dirty="0"/>
          </a:p>
        </p:txBody>
      </p:sp>
      <p:sp>
        <p:nvSpPr>
          <p:cNvPr id="92" name="Text 87"/>
          <p:cNvSpPr txBox="1"/>
          <p:nvPr/>
        </p:nvSpPr>
        <p:spPr>
          <a:xfrm>
            <a:off x="916686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created</a:t>
            </a:r>
            <a:endParaRPr lang="en-US" sz="1050" dirty="0"/>
          </a:p>
        </p:txBody>
      </p:sp>
      <p:sp>
        <p:nvSpPr>
          <p:cNvPr id="93" name="Text 88"/>
          <p:cNvSpPr txBox="1"/>
          <p:nvPr/>
        </p:nvSpPr>
        <p:spPr>
          <a:xfrm>
            <a:off x="916686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94" name="Text 89"/>
          <p:cNvSpPr txBox="1"/>
          <p:nvPr/>
        </p:nvSpPr>
        <p:spPr>
          <a:xfrm>
            <a:off x="1060246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95" name="Shape 90"/>
          <p:cNvSpPr/>
          <p:nvPr/>
        </p:nvSpPr>
        <p:spPr>
          <a:xfrm>
            <a:off x="900226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9002268" y="279806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7" name="Text 92"/>
          <p:cNvSpPr txBox="1"/>
          <p:nvPr/>
        </p:nvSpPr>
        <p:spPr>
          <a:xfrm>
            <a:off x="916686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</a:t>
            </a:r>
            <a:endParaRPr lang="en-US" sz="2400" dirty="0"/>
          </a:p>
        </p:txBody>
      </p:sp>
      <p:sp>
        <p:nvSpPr>
          <p:cNvPr id="98" name="Text 93"/>
          <p:cNvSpPr txBox="1"/>
          <p:nvPr/>
        </p:nvSpPr>
        <p:spPr>
          <a:xfrm>
            <a:off x="916686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resolved</a:t>
            </a:r>
            <a:endParaRPr lang="en-US" sz="1050" dirty="0"/>
          </a:p>
        </p:txBody>
      </p:sp>
      <p:sp>
        <p:nvSpPr>
          <p:cNvPr id="99" name="Text 94"/>
          <p:cNvSpPr txBox="1"/>
          <p:nvPr/>
        </p:nvSpPr>
        <p:spPr>
          <a:xfrm>
            <a:off x="916686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100% of tickets created</a:t>
            </a:r>
            <a:endParaRPr lang="en-US" sz="850" dirty="0"/>
          </a:p>
        </p:txBody>
      </p:sp>
      <p:sp>
        <p:nvSpPr>
          <p:cNvPr id="100" name="Text 95"/>
          <p:cNvSpPr txBox="1"/>
          <p:nvPr/>
        </p:nvSpPr>
        <p:spPr>
          <a:xfrm>
            <a:off x="1060246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1" name="Shape 96"/>
          <p:cNvSpPr/>
          <p:nvPr/>
        </p:nvSpPr>
        <p:spPr>
          <a:xfrm>
            <a:off x="900226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9002268" y="389534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3" name="Text 98"/>
          <p:cNvSpPr txBox="1"/>
          <p:nvPr/>
        </p:nvSpPr>
        <p:spPr>
          <a:xfrm>
            <a:off x="916686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</a:t>
            </a:r>
            <a:endParaRPr lang="en-US" sz="2400" dirty="0"/>
          </a:p>
        </p:txBody>
      </p:sp>
      <p:sp>
        <p:nvSpPr>
          <p:cNvPr id="104" name="Text 99"/>
          <p:cNvSpPr txBox="1"/>
          <p:nvPr/>
        </p:nvSpPr>
        <p:spPr>
          <a:xfrm>
            <a:off x="916686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Email queries</a:t>
            </a:r>
            <a:endParaRPr lang="en-US" sz="1050" dirty="0"/>
          </a:p>
        </p:txBody>
      </p:sp>
      <p:sp>
        <p:nvSpPr>
          <p:cNvPr id="105" name="Text 100"/>
          <p:cNvSpPr txBox="1"/>
          <p:nvPr/>
        </p:nvSpPr>
        <p:spPr>
          <a:xfrm>
            <a:off x="916686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06" name="Text 101"/>
          <p:cNvSpPr txBox="1"/>
          <p:nvPr/>
        </p:nvSpPr>
        <p:spPr>
          <a:xfrm>
            <a:off x="1060246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7" name="Shape 102"/>
          <p:cNvSpPr/>
          <p:nvPr/>
        </p:nvSpPr>
        <p:spPr>
          <a:xfrm>
            <a:off x="900226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9002268" y="499262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9" name="Text 104"/>
          <p:cNvSpPr txBox="1"/>
          <p:nvPr/>
        </p:nvSpPr>
        <p:spPr>
          <a:xfrm>
            <a:off x="916686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21</a:t>
            </a:r>
            <a:endParaRPr lang="en-US" sz="2400" dirty="0"/>
          </a:p>
        </p:txBody>
      </p:sp>
      <p:sp>
        <p:nvSpPr>
          <p:cNvPr id="110" name="Text 105"/>
          <p:cNvSpPr txBox="1"/>
          <p:nvPr/>
        </p:nvSpPr>
        <p:spPr>
          <a:xfrm>
            <a:off x="916686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AI support queries</a:t>
            </a:r>
            <a:endParaRPr lang="en-US" sz="1050" dirty="0"/>
          </a:p>
        </p:txBody>
      </p:sp>
      <p:sp>
        <p:nvSpPr>
          <p:cNvPr id="111" name="Text 106"/>
          <p:cNvSpPr txBox="1"/>
          <p:nvPr/>
        </p:nvSpPr>
        <p:spPr>
          <a:xfrm>
            <a:off x="916686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12" name="Text 107"/>
          <p:cNvSpPr txBox="1"/>
          <p:nvPr/>
        </p:nvSpPr>
        <p:spPr>
          <a:xfrm>
            <a:off x="1060246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atemIsa_202508993_IT9002_NLP_Project/emyaa-ceo-deck/working/charts/board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188720"/>
            <a:ext cx="12191695" cy="24689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66928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F3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PLATFORM ANALYTICS  |  PERFORMANCE DASHBOARD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57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 date: 5 Aug 2026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868680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6CFE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Reporting period: All Time   |   Change on each card is against the previous report, 4 Aug 2026</a:t>
            </a:r>
            <a:endParaRPr lang="en-US" sz="1000" dirty="0"/>
          </a:p>
        </p:txBody>
      </p:sp>
      <p:pic>
        <p:nvPicPr>
          <p:cNvPr id="7" name="Image 1" descr="/home/user/HatemIsa_202508993_IT9002_NLP_Project/emyaa-ceo-deck/working/charts/ajy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02336"/>
            <a:ext cx="13258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" y="6272784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Source: eMYAA Daily Performance Dashboard, eMYAA_-_Daily_Performance_Dashboard-1.pdf, page 36. This report labels the money card 'Total Deposits'; later reports label the same measure 'Total AUM'.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eMYAA Trading Platform  |  Daily Performance Dashboard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9802368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39</a:t>
            </a:r>
            <a:endParaRPr lang="en-US" sz="800" dirty="0"/>
          </a:p>
        </p:txBody>
      </p:sp>
      <p:pic>
        <p:nvPicPr>
          <p:cNvPr id="11" name="Image 2" descr="/home/user/HatemIsa_202508993_IT9002_NLP_Project/emyaa-ceo-deck/working/charts/emyaa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6336792"/>
            <a:ext cx="1024128" cy="3657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66928" y="1408176"/>
            <a:ext cx="45720" cy="155448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665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DOWNLOADS &amp; RATINGS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6692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66928" y="170078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152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178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downloads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 Store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216712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6692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66928" y="279806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3152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106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73152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downloads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73152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Apple App Store</a:t>
            </a:r>
            <a:endParaRPr lang="en-US" sz="850" dirty="0"/>
          </a:p>
        </p:txBody>
      </p:sp>
      <p:sp>
        <p:nvSpPr>
          <p:cNvPr id="25" name="Text 20"/>
          <p:cNvSpPr txBox="1"/>
          <p:nvPr/>
        </p:nvSpPr>
        <p:spPr>
          <a:xfrm>
            <a:off x="216712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6692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66928" y="389534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3152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29" name="Text 24"/>
          <p:cNvSpPr txBox="1"/>
          <p:nvPr/>
        </p:nvSpPr>
        <p:spPr>
          <a:xfrm>
            <a:off x="73152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app rating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73152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Play, 2 reviews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56692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66928" y="499262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3152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34" name="Text 29"/>
          <p:cNvSpPr txBox="1"/>
          <p:nvPr/>
        </p:nvSpPr>
        <p:spPr>
          <a:xfrm>
            <a:off x="73152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app rating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73152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 Store, 2 reviews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3378708" y="1408176"/>
            <a:ext cx="45720" cy="155448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48843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 ACTIVITY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337870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3378708" y="170078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354330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9</a:t>
            </a:r>
            <a:endParaRPr lang="en-US" sz="2400" dirty="0"/>
          </a:p>
        </p:txBody>
      </p:sp>
      <p:sp>
        <p:nvSpPr>
          <p:cNvPr id="41" name="Text 36"/>
          <p:cNvSpPr txBox="1"/>
          <p:nvPr/>
        </p:nvSpPr>
        <p:spPr>
          <a:xfrm>
            <a:off x="354330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deposited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354330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Funded accounts</a:t>
            </a:r>
            <a:endParaRPr lang="en-US" sz="850" dirty="0"/>
          </a:p>
        </p:txBody>
      </p:sp>
      <p:sp>
        <p:nvSpPr>
          <p:cNvPr id="43" name="Text 38"/>
          <p:cNvSpPr txBox="1"/>
          <p:nvPr/>
        </p:nvSpPr>
        <p:spPr>
          <a:xfrm>
            <a:off x="497890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337870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3378708" y="279806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354330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$8,526.91</a:t>
            </a:r>
            <a:endParaRPr lang="en-US" sz="1900" dirty="0"/>
          </a:p>
        </p:txBody>
      </p:sp>
      <p:sp>
        <p:nvSpPr>
          <p:cNvPr id="47" name="Text 42"/>
          <p:cNvSpPr txBox="1"/>
          <p:nvPr/>
        </p:nvSpPr>
        <p:spPr>
          <a:xfrm>
            <a:off x="354330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deposits</a:t>
            </a:r>
            <a:endParaRPr lang="en-US" sz="1050" dirty="0"/>
          </a:p>
        </p:txBody>
      </p:sp>
      <p:sp>
        <p:nvSpPr>
          <p:cNvPr id="48" name="Text 43"/>
          <p:cNvSpPr txBox="1"/>
          <p:nvPr/>
        </p:nvSpPr>
        <p:spPr>
          <a:xfrm>
            <a:off x="354330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Cumulative platform deposits</a:t>
            </a:r>
            <a:endParaRPr lang="en-US" sz="850" dirty="0"/>
          </a:p>
        </p:txBody>
      </p:sp>
      <p:sp>
        <p:nvSpPr>
          <p:cNvPr id="49" name="Text 44"/>
          <p:cNvSpPr txBox="1"/>
          <p:nvPr/>
        </p:nvSpPr>
        <p:spPr>
          <a:xfrm>
            <a:off x="497890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337870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3378708" y="389534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354330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9</a:t>
            </a:r>
            <a:endParaRPr lang="en-US" sz="2400" dirty="0"/>
          </a:p>
        </p:txBody>
      </p:sp>
      <p:sp>
        <p:nvSpPr>
          <p:cNvPr id="53" name="Text 48"/>
          <p:cNvSpPr txBox="1"/>
          <p:nvPr/>
        </p:nvSpPr>
        <p:spPr>
          <a:xfrm>
            <a:off x="354330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traded</a:t>
            </a:r>
            <a:endParaRPr lang="en-US" sz="1050" dirty="0"/>
          </a:p>
        </p:txBody>
      </p:sp>
      <p:sp>
        <p:nvSpPr>
          <p:cNvPr id="54" name="Text 49"/>
          <p:cNvSpPr txBox="1"/>
          <p:nvPr/>
        </p:nvSpPr>
        <p:spPr>
          <a:xfrm>
            <a:off x="354330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Placed at least 1 trade</a:t>
            </a:r>
            <a:endParaRPr lang="en-US" sz="850" dirty="0"/>
          </a:p>
        </p:txBody>
      </p:sp>
      <p:sp>
        <p:nvSpPr>
          <p:cNvPr id="55" name="Text 50"/>
          <p:cNvSpPr txBox="1"/>
          <p:nvPr/>
        </p:nvSpPr>
        <p:spPr>
          <a:xfrm>
            <a:off x="497890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6" name="Shape 51"/>
          <p:cNvSpPr/>
          <p:nvPr/>
        </p:nvSpPr>
        <p:spPr>
          <a:xfrm>
            <a:off x="337870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3378708" y="499262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354330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30</a:t>
            </a:r>
            <a:endParaRPr lang="en-US" sz="2400" dirty="0"/>
          </a:p>
        </p:txBody>
      </p:sp>
      <p:sp>
        <p:nvSpPr>
          <p:cNvPr id="59" name="Text 54"/>
          <p:cNvSpPr txBox="1"/>
          <p:nvPr/>
        </p:nvSpPr>
        <p:spPr>
          <a:xfrm>
            <a:off x="354330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trades</a:t>
            </a:r>
            <a:endParaRPr lang="en-US" sz="1050" dirty="0"/>
          </a:p>
        </p:txBody>
      </p:sp>
      <p:sp>
        <p:nvSpPr>
          <p:cNvPr id="60" name="Text 55"/>
          <p:cNvSpPr txBox="1"/>
          <p:nvPr/>
        </p:nvSpPr>
        <p:spPr>
          <a:xfrm>
            <a:off x="354330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Executed across all users</a:t>
            </a:r>
            <a:endParaRPr lang="en-US" sz="850" dirty="0"/>
          </a:p>
        </p:txBody>
      </p:sp>
      <p:sp>
        <p:nvSpPr>
          <p:cNvPr id="61" name="Text 56"/>
          <p:cNvSpPr txBox="1"/>
          <p:nvPr/>
        </p:nvSpPr>
        <p:spPr>
          <a:xfrm>
            <a:off x="497890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62" name="Shape 57"/>
          <p:cNvSpPr/>
          <p:nvPr/>
        </p:nvSpPr>
        <p:spPr>
          <a:xfrm>
            <a:off x="6190488" y="1408176"/>
            <a:ext cx="45720" cy="1554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630021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KYC STATUS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619048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6190488" y="170078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635508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34</a:t>
            </a:r>
            <a:endParaRPr lang="en-US" sz="2400" dirty="0"/>
          </a:p>
        </p:txBody>
      </p:sp>
      <p:sp>
        <p:nvSpPr>
          <p:cNvPr id="67" name="Text 62"/>
          <p:cNvSpPr txBox="1"/>
          <p:nvPr/>
        </p:nvSpPr>
        <p:spPr>
          <a:xfrm>
            <a:off x="635508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onboarded</a:t>
            </a:r>
            <a:endParaRPr lang="en-US" sz="1050" dirty="0"/>
          </a:p>
        </p:txBody>
      </p:sp>
      <p:sp>
        <p:nvSpPr>
          <p:cNvPr id="68" name="Text 63"/>
          <p:cNvSpPr txBox="1"/>
          <p:nvPr/>
        </p:nvSpPr>
        <p:spPr>
          <a:xfrm>
            <a:off x="635508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Completed signup and verification</a:t>
            </a:r>
            <a:endParaRPr lang="en-US" sz="850" dirty="0"/>
          </a:p>
        </p:txBody>
      </p:sp>
      <p:sp>
        <p:nvSpPr>
          <p:cNvPr id="69" name="Text 64"/>
          <p:cNvSpPr txBox="1"/>
          <p:nvPr/>
        </p:nvSpPr>
        <p:spPr>
          <a:xfrm>
            <a:off x="779068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70" name="Shape 65"/>
          <p:cNvSpPr/>
          <p:nvPr/>
        </p:nvSpPr>
        <p:spPr>
          <a:xfrm>
            <a:off x="619048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6190488" y="279806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2" name="Text 67"/>
          <p:cNvSpPr txBox="1"/>
          <p:nvPr/>
        </p:nvSpPr>
        <p:spPr>
          <a:xfrm>
            <a:off x="635508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116</a:t>
            </a:r>
            <a:endParaRPr lang="en-US" sz="2400" dirty="0"/>
          </a:p>
        </p:txBody>
      </p:sp>
      <p:sp>
        <p:nvSpPr>
          <p:cNvPr id="73" name="Text 68"/>
          <p:cNvSpPr txBox="1"/>
          <p:nvPr/>
        </p:nvSpPr>
        <p:spPr>
          <a:xfrm>
            <a:off x="635508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Incomplete KYC</a:t>
            </a:r>
            <a:endParaRPr lang="en-US" sz="1050" dirty="0"/>
          </a:p>
        </p:txBody>
      </p:sp>
      <p:sp>
        <p:nvSpPr>
          <p:cNvPr id="74" name="Text 69"/>
          <p:cNvSpPr txBox="1"/>
          <p:nvPr/>
        </p:nvSpPr>
        <p:spPr>
          <a:xfrm>
            <a:off x="635508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Started KYC but did not proceed</a:t>
            </a:r>
            <a:endParaRPr lang="en-US" sz="850" dirty="0"/>
          </a:p>
        </p:txBody>
      </p:sp>
      <p:sp>
        <p:nvSpPr>
          <p:cNvPr id="75" name="Text 70"/>
          <p:cNvSpPr txBox="1"/>
          <p:nvPr/>
        </p:nvSpPr>
        <p:spPr>
          <a:xfrm>
            <a:off x="779068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5303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+2</a:t>
            </a:r>
            <a:endParaRPr lang="en-US" sz="850" dirty="0"/>
          </a:p>
        </p:txBody>
      </p:sp>
      <p:sp>
        <p:nvSpPr>
          <p:cNvPr id="76" name="Shape 71"/>
          <p:cNvSpPr/>
          <p:nvPr/>
        </p:nvSpPr>
        <p:spPr>
          <a:xfrm>
            <a:off x="619048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6190488" y="389534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8" name="Text 73"/>
          <p:cNvSpPr txBox="1"/>
          <p:nvPr/>
        </p:nvSpPr>
        <p:spPr>
          <a:xfrm>
            <a:off x="635508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</a:t>
            </a:r>
            <a:endParaRPr lang="en-US" sz="2400" dirty="0"/>
          </a:p>
        </p:txBody>
      </p:sp>
      <p:sp>
        <p:nvSpPr>
          <p:cNvPr id="79" name="Text 74"/>
          <p:cNvSpPr txBox="1"/>
          <p:nvPr/>
        </p:nvSpPr>
        <p:spPr>
          <a:xfrm>
            <a:off x="635508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Rejected KYC</a:t>
            </a:r>
            <a:endParaRPr lang="en-US" sz="1050" dirty="0"/>
          </a:p>
        </p:txBody>
      </p:sp>
      <p:sp>
        <p:nvSpPr>
          <p:cNvPr id="80" name="Text 75"/>
          <p:cNvSpPr txBox="1"/>
          <p:nvPr/>
        </p:nvSpPr>
        <p:spPr>
          <a:xfrm>
            <a:off x="635508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Resubmission required</a:t>
            </a:r>
            <a:endParaRPr lang="en-US" sz="850" dirty="0"/>
          </a:p>
        </p:txBody>
      </p:sp>
      <p:sp>
        <p:nvSpPr>
          <p:cNvPr id="81" name="Text 76"/>
          <p:cNvSpPr txBox="1"/>
          <p:nvPr/>
        </p:nvSpPr>
        <p:spPr>
          <a:xfrm>
            <a:off x="779068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82" name="Shape 77"/>
          <p:cNvSpPr/>
          <p:nvPr/>
        </p:nvSpPr>
        <p:spPr>
          <a:xfrm>
            <a:off x="619048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6190488" y="499262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4" name="Text 79"/>
          <p:cNvSpPr txBox="1"/>
          <p:nvPr/>
        </p:nvSpPr>
        <p:spPr>
          <a:xfrm>
            <a:off x="635508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155</a:t>
            </a:r>
            <a:endParaRPr lang="en-US" sz="2400" dirty="0"/>
          </a:p>
        </p:txBody>
      </p:sp>
      <p:sp>
        <p:nvSpPr>
          <p:cNvPr id="85" name="Text 80"/>
          <p:cNvSpPr txBox="1"/>
          <p:nvPr/>
        </p:nvSpPr>
        <p:spPr>
          <a:xfrm>
            <a:off x="635508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KYC applications</a:t>
            </a:r>
            <a:endParaRPr lang="en-US" sz="1050" dirty="0"/>
          </a:p>
        </p:txBody>
      </p:sp>
      <p:sp>
        <p:nvSpPr>
          <p:cNvPr id="86" name="Text 81"/>
          <p:cNvSpPr txBox="1"/>
          <p:nvPr/>
        </p:nvSpPr>
        <p:spPr>
          <a:xfrm>
            <a:off x="635508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Onboarded + incomplete + rejected</a:t>
            </a:r>
            <a:endParaRPr lang="en-US" sz="850" dirty="0"/>
          </a:p>
        </p:txBody>
      </p:sp>
      <p:sp>
        <p:nvSpPr>
          <p:cNvPr id="87" name="Shape 82"/>
          <p:cNvSpPr/>
          <p:nvPr/>
        </p:nvSpPr>
        <p:spPr>
          <a:xfrm>
            <a:off x="9002268" y="1408176"/>
            <a:ext cx="45720" cy="155448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88" name="Text 83"/>
          <p:cNvSpPr txBox="1"/>
          <p:nvPr/>
        </p:nvSpPr>
        <p:spPr>
          <a:xfrm>
            <a:off x="911199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SUPPORT TICKETS</a:t>
            </a:r>
            <a:endParaRPr lang="en-US" sz="900" dirty="0"/>
          </a:p>
        </p:txBody>
      </p:sp>
      <p:sp>
        <p:nvSpPr>
          <p:cNvPr id="89" name="Shape 84"/>
          <p:cNvSpPr/>
          <p:nvPr/>
        </p:nvSpPr>
        <p:spPr>
          <a:xfrm>
            <a:off x="900226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9002268" y="170078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1" name="Text 86"/>
          <p:cNvSpPr txBox="1"/>
          <p:nvPr/>
        </p:nvSpPr>
        <p:spPr>
          <a:xfrm>
            <a:off x="916686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</a:t>
            </a:r>
            <a:endParaRPr lang="en-US" sz="2400" dirty="0"/>
          </a:p>
        </p:txBody>
      </p:sp>
      <p:sp>
        <p:nvSpPr>
          <p:cNvPr id="92" name="Text 87"/>
          <p:cNvSpPr txBox="1"/>
          <p:nvPr/>
        </p:nvSpPr>
        <p:spPr>
          <a:xfrm>
            <a:off x="916686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created</a:t>
            </a:r>
            <a:endParaRPr lang="en-US" sz="1050" dirty="0"/>
          </a:p>
        </p:txBody>
      </p:sp>
      <p:sp>
        <p:nvSpPr>
          <p:cNvPr id="93" name="Text 88"/>
          <p:cNvSpPr txBox="1"/>
          <p:nvPr/>
        </p:nvSpPr>
        <p:spPr>
          <a:xfrm>
            <a:off x="916686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94" name="Text 89"/>
          <p:cNvSpPr txBox="1"/>
          <p:nvPr/>
        </p:nvSpPr>
        <p:spPr>
          <a:xfrm>
            <a:off x="1060246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95" name="Shape 90"/>
          <p:cNvSpPr/>
          <p:nvPr/>
        </p:nvSpPr>
        <p:spPr>
          <a:xfrm>
            <a:off x="900226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9002268" y="279806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7" name="Text 92"/>
          <p:cNvSpPr txBox="1"/>
          <p:nvPr/>
        </p:nvSpPr>
        <p:spPr>
          <a:xfrm>
            <a:off x="916686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</a:t>
            </a:r>
            <a:endParaRPr lang="en-US" sz="2400" dirty="0"/>
          </a:p>
        </p:txBody>
      </p:sp>
      <p:sp>
        <p:nvSpPr>
          <p:cNvPr id="98" name="Text 93"/>
          <p:cNvSpPr txBox="1"/>
          <p:nvPr/>
        </p:nvSpPr>
        <p:spPr>
          <a:xfrm>
            <a:off x="916686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resolved</a:t>
            </a:r>
            <a:endParaRPr lang="en-US" sz="1050" dirty="0"/>
          </a:p>
        </p:txBody>
      </p:sp>
      <p:sp>
        <p:nvSpPr>
          <p:cNvPr id="99" name="Text 94"/>
          <p:cNvSpPr txBox="1"/>
          <p:nvPr/>
        </p:nvSpPr>
        <p:spPr>
          <a:xfrm>
            <a:off x="916686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100% of tickets created</a:t>
            </a:r>
            <a:endParaRPr lang="en-US" sz="850" dirty="0"/>
          </a:p>
        </p:txBody>
      </p:sp>
      <p:sp>
        <p:nvSpPr>
          <p:cNvPr id="100" name="Text 95"/>
          <p:cNvSpPr txBox="1"/>
          <p:nvPr/>
        </p:nvSpPr>
        <p:spPr>
          <a:xfrm>
            <a:off x="1060246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1" name="Shape 96"/>
          <p:cNvSpPr/>
          <p:nvPr/>
        </p:nvSpPr>
        <p:spPr>
          <a:xfrm>
            <a:off x="900226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9002268" y="389534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3" name="Text 98"/>
          <p:cNvSpPr txBox="1"/>
          <p:nvPr/>
        </p:nvSpPr>
        <p:spPr>
          <a:xfrm>
            <a:off x="916686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</a:t>
            </a:r>
            <a:endParaRPr lang="en-US" sz="2400" dirty="0"/>
          </a:p>
        </p:txBody>
      </p:sp>
      <p:sp>
        <p:nvSpPr>
          <p:cNvPr id="104" name="Text 99"/>
          <p:cNvSpPr txBox="1"/>
          <p:nvPr/>
        </p:nvSpPr>
        <p:spPr>
          <a:xfrm>
            <a:off x="916686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Email queries</a:t>
            </a:r>
            <a:endParaRPr lang="en-US" sz="1050" dirty="0"/>
          </a:p>
        </p:txBody>
      </p:sp>
      <p:sp>
        <p:nvSpPr>
          <p:cNvPr id="105" name="Text 100"/>
          <p:cNvSpPr txBox="1"/>
          <p:nvPr/>
        </p:nvSpPr>
        <p:spPr>
          <a:xfrm>
            <a:off x="916686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06" name="Text 101"/>
          <p:cNvSpPr txBox="1"/>
          <p:nvPr/>
        </p:nvSpPr>
        <p:spPr>
          <a:xfrm>
            <a:off x="1060246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7" name="Shape 102"/>
          <p:cNvSpPr/>
          <p:nvPr/>
        </p:nvSpPr>
        <p:spPr>
          <a:xfrm>
            <a:off x="900226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9002268" y="499262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9" name="Text 104"/>
          <p:cNvSpPr txBox="1"/>
          <p:nvPr/>
        </p:nvSpPr>
        <p:spPr>
          <a:xfrm>
            <a:off x="916686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21</a:t>
            </a:r>
            <a:endParaRPr lang="en-US" sz="2400" dirty="0"/>
          </a:p>
        </p:txBody>
      </p:sp>
      <p:sp>
        <p:nvSpPr>
          <p:cNvPr id="110" name="Text 105"/>
          <p:cNvSpPr txBox="1"/>
          <p:nvPr/>
        </p:nvSpPr>
        <p:spPr>
          <a:xfrm>
            <a:off x="916686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AI support queries</a:t>
            </a:r>
            <a:endParaRPr lang="en-US" sz="1050" dirty="0"/>
          </a:p>
        </p:txBody>
      </p:sp>
      <p:sp>
        <p:nvSpPr>
          <p:cNvPr id="111" name="Text 106"/>
          <p:cNvSpPr txBox="1"/>
          <p:nvPr/>
        </p:nvSpPr>
        <p:spPr>
          <a:xfrm>
            <a:off x="916686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12" name="Text 107"/>
          <p:cNvSpPr txBox="1"/>
          <p:nvPr/>
        </p:nvSpPr>
        <p:spPr>
          <a:xfrm>
            <a:off x="1060246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atemIsa_202508993_IT9002_NLP_Project/emyaa-ceo-deck/working/charts/board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188720"/>
            <a:ext cx="12191695" cy="24689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66928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F3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PLATFORM ANALYTICS  |  PERFORMANCE DASHBOARD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57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 date: 4 Aug 2026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868680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6CFE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Reporting period: All Time   |   Change on each card is against the previous report, 2 Aug 2026</a:t>
            </a:r>
            <a:endParaRPr lang="en-US" sz="1000" dirty="0"/>
          </a:p>
        </p:txBody>
      </p:sp>
      <p:pic>
        <p:nvPicPr>
          <p:cNvPr id="7" name="Image 1" descr="/home/user/HatemIsa_202508993_IT9002_NLP_Project/emyaa-ceo-deck/working/charts/ajy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02336"/>
            <a:ext cx="13258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" y="6272784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Source: eMYAA Daily Performance Dashboard, eMYAA_-_Daily_Performance_Dashboard-1.pdf, page 37. This report labels the money card 'Total Deposits'; later reports label the same measure 'Total AUM'.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eMYAA Trading Platform  |  Daily Performance Dashboard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9802368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40</a:t>
            </a:r>
            <a:endParaRPr lang="en-US" sz="800" dirty="0"/>
          </a:p>
        </p:txBody>
      </p:sp>
      <p:pic>
        <p:nvPicPr>
          <p:cNvPr id="11" name="Image 2" descr="/home/user/HatemIsa_202508993_IT9002_NLP_Project/emyaa-ceo-deck/working/charts/emyaa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6336792"/>
            <a:ext cx="1024128" cy="3657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66928" y="1408176"/>
            <a:ext cx="45720" cy="155448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665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DOWNLOADS &amp; RATINGS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6692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66928" y="170078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152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178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downloads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 Store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216712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6692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66928" y="279806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3152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106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73152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downloads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73152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Apple App Store</a:t>
            </a:r>
            <a:endParaRPr lang="en-US" sz="850" dirty="0"/>
          </a:p>
        </p:txBody>
      </p:sp>
      <p:sp>
        <p:nvSpPr>
          <p:cNvPr id="25" name="Text 20"/>
          <p:cNvSpPr txBox="1"/>
          <p:nvPr/>
        </p:nvSpPr>
        <p:spPr>
          <a:xfrm>
            <a:off x="216712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6692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66928" y="389534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3152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29" name="Text 24"/>
          <p:cNvSpPr txBox="1"/>
          <p:nvPr/>
        </p:nvSpPr>
        <p:spPr>
          <a:xfrm>
            <a:off x="73152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app rating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73152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Play, 2 reviews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56692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66928" y="499262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3152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34" name="Text 29"/>
          <p:cNvSpPr txBox="1"/>
          <p:nvPr/>
        </p:nvSpPr>
        <p:spPr>
          <a:xfrm>
            <a:off x="73152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app rating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73152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 Store, 2 reviews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3378708" y="1408176"/>
            <a:ext cx="45720" cy="155448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48843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 ACTIVITY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337870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3378708" y="170078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354330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9</a:t>
            </a:r>
            <a:endParaRPr lang="en-US" sz="2400" dirty="0"/>
          </a:p>
        </p:txBody>
      </p:sp>
      <p:sp>
        <p:nvSpPr>
          <p:cNvPr id="41" name="Text 36"/>
          <p:cNvSpPr txBox="1"/>
          <p:nvPr/>
        </p:nvSpPr>
        <p:spPr>
          <a:xfrm>
            <a:off x="354330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deposited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354330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Funded accounts</a:t>
            </a:r>
            <a:endParaRPr lang="en-US" sz="850" dirty="0"/>
          </a:p>
        </p:txBody>
      </p:sp>
      <p:sp>
        <p:nvSpPr>
          <p:cNvPr id="43" name="Text 38"/>
          <p:cNvSpPr txBox="1"/>
          <p:nvPr/>
        </p:nvSpPr>
        <p:spPr>
          <a:xfrm>
            <a:off x="497890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337870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3378708" y="279806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354330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$8,526.91</a:t>
            </a:r>
            <a:endParaRPr lang="en-US" sz="1900" dirty="0"/>
          </a:p>
        </p:txBody>
      </p:sp>
      <p:sp>
        <p:nvSpPr>
          <p:cNvPr id="47" name="Text 42"/>
          <p:cNvSpPr txBox="1"/>
          <p:nvPr/>
        </p:nvSpPr>
        <p:spPr>
          <a:xfrm>
            <a:off x="354330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deposits</a:t>
            </a:r>
            <a:endParaRPr lang="en-US" sz="1050" dirty="0"/>
          </a:p>
        </p:txBody>
      </p:sp>
      <p:sp>
        <p:nvSpPr>
          <p:cNvPr id="48" name="Text 43"/>
          <p:cNvSpPr txBox="1"/>
          <p:nvPr/>
        </p:nvSpPr>
        <p:spPr>
          <a:xfrm>
            <a:off x="354330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Cumulative platform deposits</a:t>
            </a:r>
            <a:endParaRPr lang="en-US" sz="850" dirty="0"/>
          </a:p>
        </p:txBody>
      </p:sp>
      <p:sp>
        <p:nvSpPr>
          <p:cNvPr id="49" name="Text 44"/>
          <p:cNvSpPr txBox="1"/>
          <p:nvPr/>
        </p:nvSpPr>
        <p:spPr>
          <a:xfrm>
            <a:off x="497890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337870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3378708" y="389534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354330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9</a:t>
            </a:r>
            <a:endParaRPr lang="en-US" sz="2400" dirty="0"/>
          </a:p>
        </p:txBody>
      </p:sp>
      <p:sp>
        <p:nvSpPr>
          <p:cNvPr id="53" name="Text 48"/>
          <p:cNvSpPr txBox="1"/>
          <p:nvPr/>
        </p:nvSpPr>
        <p:spPr>
          <a:xfrm>
            <a:off x="354330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traded</a:t>
            </a:r>
            <a:endParaRPr lang="en-US" sz="1050" dirty="0"/>
          </a:p>
        </p:txBody>
      </p:sp>
      <p:sp>
        <p:nvSpPr>
          <p:cNvPr id="54" name="Text 49"/>
          <p:cNvSpPr txBox="1"/>
          <p:nvPr/>
        </p:nvSpPr>
        <p:spPr>
          <a:xfrm>
            <a:off x="354330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Placed at least 1 trade</a:t>
            </a:r>
            <a:endParaRPr lang="en-US" sz="850" dirty="0"/>
          </a:p>
        </p:txBody>
      </p:sp>
      <p:sp>
        <p:nvSpPr>
          <p:cNvPr id="55" name="Text 50"/>
          <p:cNvSpPr txBox="1"/>
          <p:nvPr/>
        </p:nvSpPr>
        <p:spPr>
          <a:xfrm>
            <a:off x="497890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6" name="Shape 51"/>
          <p:cNvSpPr/>
          <p:nvPr/>
        </p:nvSpPr>
        <p:spPr>
          <a:xfrm>
            <a:off x="337870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3378708" y="499262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354330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30</a:t>
            </a:r>
            <a:endParaRPr lang="en-US" sz="2400" dirty="0"/>
          </a:p>
        </p:txBody>
      </p:sp>
      <p:sp>
        <p:nvSpPr>
          <p:cNvPr id="59" name="Text 54"/>
          <p:cNvSpPr txBox="1"/>
          <p:nvPr/>
        </p:nvSpPr>
        <p:spPr>
          <a:xfrm>
            <a:off x="354330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trades</a:t>
            </a:r>
            <a:endParaRPr lang="en-US" sz="1050" dirty="0"/>
          </a:p>
        </p:txBody>
      </p:sp>
      <p:sp>
        <p:nvSpPr>
          <p:cNvPr id="60" name="Text 55"/>
          <p:cNvSpPr txBox="1"/>
          <p:nvPr/>
        </p:nvSpPr>
        <p:spPr>
          <a:xfrm>
            <a:off x="354330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Executed across all users</a:t>
            </a:r>
            <a:endParaRPr lang="en-US" sz="850" dirty="0"/>
          </a:p>
        </p:txBody>
      </p:sp>
      <p:sp>
        <p:nvSpPr>
          <p:cNvPr id="61" name="Text 56"/>
          <p:cNvSpPr txBox="1"/>
          <p:nvPr/>
        </p:nvSpPr>
        <p:spPr>
          <a:xfrm>
            <a:off x="497890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62" name="Shape 57"/>
          <p:cNvSpPr/>
          <p:nvPr/>
        </p:nvSpPr>
        <p:spPr>
          <a:xfrm>
            <a:off x="6190488" y="1408176"/>
            <a:ext cx="45720" cy="1554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630021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KYC STATUS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619048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6190488" y="170078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635508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34</a:t>
            </a:r>
            <a:endParaRPr lang="en-US" sz="2400" dirty="0"/>
          </a:p>
        </p:txBody>
      </p:sp>
      <p:sp>
        <p:nvSpPr>
          <p:cNvPr id="67" name="Text 62"/>
          <p:cNvSpPr txBox="1"/>
          <p:nvPr/>
        </p:nvSpPr>
        <p:spPr>
          <a:xfrm>
            <a:off x="635508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onboarded</a:t>
            </a:r>
            <a:endParaRPr lang="en-US" sz="1050" dirty="0"/>
          </a:p>
        </p:txBody>
      </p:sp>
      <p:sp>
        <p:nvSpPr>
          <p:cNvPr id="68" name="Text 63"/>
          <p:cNvSpPr txBox="1"/>
          <p:nvPr/>
        </p:nvSpPr>
        <p:spPr>
          <a:xfrm>
            <a:off x="635508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Completed signup and verification</a:t>
            </a:r>
            <a:endParaRPr lang="en-US" sz="850" dirty="0"/>
          </a:p>
        </p:txBody>
      </p:sp>
      <p:sp>
        <p:nvSpPr>
          <p:cNvPr id="69" name="Text 64"/>
          <p:cNvSpPr txBox="1"/>
          <p:nvPr/>
        </p:nvSpPr>
        <p:spPr>
          <a:xfrm>
            <a:off x="779068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70" name="Shape 65"/>
          <p:cNvSpPr/>
          <p:nvPr/>
        </p:nvSpPr>
        <p:spPr>
          <a:xfrm>
            <a:off x="619048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6190488" y="279806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2" name="Text 67"/>
          <p:cNvSpPr txBox="1"/>
          <p:nvPr/>
        </p:nvSpPr>
        <p:spPr>
          <a:xfrm>
            <a:off x="635508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114</a:t>
            </a:r>
            <a:endParaRPr lang="en-US" sz="2400" dirty="0"/>
          </a:p>
        </p:txBody>
      </p:sp>
      <p:sp>
        <p:nvSpPr>
          <p:cNvPr id="73" name="Text 68"/>
          <p:cNvSpPr txBox="1"/>
          <p:nvPr/>
        </p:nvSpPr>
        <p:spPr>
          <a:xfrm>
            <a:off x="635508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Incomplete KYC</a:t>
            </a:r>
            <a:endParaRPr lang="en-US" sz="1050" dirty="0"/>
          </a:p>
        </p:txBody>
      </p:sp>
      <p:sp>
        <p:nvSpPr>
          <p:cNvPr id="74" name="Text 69"/>
          <p:cNvSpPr txBox="1"/>
          <p:nvPr/>
        </p:nvSpPr>
        <p:spPr>
          <a:xfrm>
            <a:off x="635508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Started KYC but did not proceed</a:t>
            </a:r>
            <a:endParaRPr lang="en-US" sz="850" dirty="0"/>
          </a:p>
        </p:txBody>
      </p:sp>
      <p:sp>
        <p:nvSpPr>
          <p:cNvPr id="75" name="Text 70"/>
          <p:cNvSpPr txBox="1"/>
          <p:nvPr/>
        </p:nvSpPr>
        <p:spPr>
          <a:xfrm>
            <a:off x="779068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76" name="Shape 71"/>
          <p:cNvSpPr/>
          <p:nvPr/>
        </p:nvSpPr>
        <p:spPr>
          <a:xfrm>
            <a:off x="619048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6190488" y="389534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8" name="Text 73"/>
          <p:cNvSpPr txBox="1"/>
          <p:nvPr/>
        </p:nvSpPr>
        <p:spPr>
          <a:xfrm>
            <a:off x="635508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</a:t>
            </a:r>
            <a:endParaRPr lang="en-US" sz="2400" dirty="0"/>
          </a:p>
        </p:txBody>
      </p:sp>
      <p:sp>
        <p:nvSpPr>
          <p:cNvPr id="79" name="Text 74"/>
          <p:cNvSpPr txBox="1"/>
          <p:nvPr/>
        </p:nvSpPr>
        <p:spPr>
          <a:xfrm>
            <a:off x="635508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Rejected KYC</a:t>
            </a:r>
            <a:endParaRPr lang="en-US" sz="1050" dirty="0"/>
          </a:p>
        </p:txBody>
      </p:sp>
      <p:sp>
        <p:nvSpPr>
          <p:cNvPr id="80" name="Text 75"/>
          <p:cNvSpPr txBox="1"/>
          <p:nvPr/>
        </p:nvSpPr>
        <p:spPr>
          <a:xfrm>
            <a:off x="635508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Resubmission required</a:t>
            </a:r>
            <a:endParaRPr lang="en-US" sz="850" dirty="0"/>
          </a:p>
        </p:txBody>
      </p:sp>
      <p:sp>
        <p:nvSpPr>
          <p:cNvPr id="81" name="Text 76"/>
          <p:cNvSpPr txBox="1"/>
          <p:nvPr/>
        </p:nvSpPr>
        <p:spPr>
          <a:xfrm>
            <a:off x="779068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82" name="Shape 77"/>
          <p:cNvSpPr/>
          <p:nvPr/>
        </p:nvSpPr>
        <p:spPr>
          <a:xfrm>
            <a:off x="619048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6190488" y="499262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4" name="Text 79"/>
          <p:cNvSpPr txBox="1"/>
          <p:nvPr/>
        </p:nvSpPr>
        <p:spPr>
          <a:xfrm>
            <a:off x="635508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153</a:t>
            </a:r>
            <a:endParaRPr lang="en-US" sz="2400" dirty="0"/>
          </a:p>
        </p:txBody>
      </p:sp>
      <p:sp>
        <p:nvSpPr>
          <p:cNvPr id="85" name="Text 80"/>
          <p:cNvSpPr txBox="1"/>
          <p:nvPr/>
        </p:nvSpPr>
        <p:spPr>
          <a:xfrm>
            <a:off x="635508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KYC applications</a:t>
            </a:r>
            <a:endParaRPr lang="en-US" sz="1050" dirty="0"/>
          </a:p>
        </p:txBody>
      </p:sp>
      <p:sp>
        <p:nvSpPr>
          <p:cNvPr id="86" name="Text 81"/>
          <p:cNvSpPr txBox="1"/>
          <p:nvPr/>
        </p:nvSpPr>
        <p:spPr>
          <a:xfrm>
            <a:off x="635508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Onboarded + incomplete + rejected</a:t>
            </a:r>
            <a:endParaRPr lang="en-US" sz="850" dirty="0"/>
          </a:p>
        </p:txBody>
      </p:sp>
      <p:sp>
        <p:nvSpPr>
          <p:cNvPr id="87" name="Shape 82"/>
          <p:cNvSpPr/>
          <p:nvPr/>
        </p:nvSpPr>
        <p:spPr>
          <a:xfrm>
            <a:off x="9002268" y="1408176"/>
            <a:ext cx="45720" cy="155448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88" name="Text 83"/>
          <p:cNvSpPr txBox="1"/>
          <p:nvPr/>
        </p:nvSpPr>
        <p:spPr>
          <a:xfrm>
            <a:off x="911199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SUPPORT TICKETS</a:t>
            </a:r>
            <a:endParaRPr lang="en-US" sz="900" dirty="0"/>
          </a:p>
        </p:txBody>
      </p:sp>
      <p:sp>
        <p:nvSpPr>
          <p:cNvPr id="89" name="Shape 84"/>
          <p:cNvSpPr/>
          <p:nvPr/>
        </p:nvSpPr>
        <p:spPr>
          <a:xfrm>
            <a:off x="900226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9002268" y="170078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1" name="Text 86"/>
          <p:cNvSpPr txBox="1"/>
          <p:nvPr/>
        </p:nvSpPr>
        <p:spPr>
          <a:xfrm>
            <a:off x="916686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</a:t>
            </a:r>
            <a:endParaRPr lang="en-US" sz="2400" dirty="0"/>
          </a:p>
        </p:txBody>
      </p:sp>
      <p:sp>
        <p:nvSpPr>
          <p:cNvPr id="92" name="Text 87"/>
          <p:cNvSpPr txBox="1"/>
          <p:nvPr/>
        </p:nvSpPr>
        <p:spPr>
          <a:xfrm>
            <a:off x="916686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created</a:t>
            </a:r>
            <a:endParaRPr lang="en-US" sz="1050" dirty="0"/>
          </a:p>
        </p:txBody>
      </p:sp>
      <p:sp>
        <p:nvSpPr>
          <p:cNvPr id="93" name="Text 88"/>
          <p:cNvSpPr txBox="1"/>
          <p:nvPr/>
        </p:nvSpPr>
        <p:spPr>
          <a:xfrm>
            <a:off x="916686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94" name="Text 89"/>
          <p:cNvSpPr txBox="1"/>
          <p:nvPr/>
        </p:nvSpPr>
        <p:spPr>
          <a:xfrm>
            <a:off x="1060246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95" name="Shape 90"/>
          <p:cNvSpPr/>
          <p:nvPr/>
        </p:nvSpPr>
        <p:spPr>
          <a:xfrm>
            <a:off x="900226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9002268" y="279806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7" name="Text 92"/>
          <p:cNvSpPr txBox="1"/>
          <p:nvPr/>
        </p:nvSpPr>
        <p:spPr>
          <a:xfrm>
            <a:off x="916686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</a:t>
            </a:r>
            <a:endParaRPr lang="en-US" sz="2400" dirty="0"/>
          </a:p>
        </p:txBody>
      </p:sp>
      <p:sp>
        <p:nvSpPr>
          <p:cNvPr id="98" name="Text 93"/>
          <p:cNvSpPr txBox="1"/>
          <p:nvPr/>
        </p:nvSpPr>
        <p:spPr>
          <a:xfrm>
            <a:off x="916686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resolved</a:t>
            </a:r>
            <a:endParaRPr lang="en-US" sz="1050" dirty="0"/>
          </a:p>
        </p:txBody>
      </p:sp>
      <p:sp>
        <p:nvSpPr>
          <p:cNvPr id="99" name="Text 94"/>
          <p:cNvSpPr txBox="1"/>
          <p:nvPr/>
        </p:nvSpPr>
        <p:spPr>
          <a:xfrm>
            <a:off x="916686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100% of tickets created</a:t>
            </a:r>
            <a:endParaRPr lang="en-US" sz="850" dirty="0"/>
          </a:p>
        </p:txBody>
      </p:sp>
      <p:sp>
        <p:nvSpPr>
          <p:cNvPr id="100" name="Text 95"/>
          <p:cNvSpPr txBox="1"/>
          <p:nvPr/>
        </p:nvSpPr>
        <p:spPr>
          <a:xfrm>
            <a:off x="1060246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1" name="Shape 96"/>
          <p:cNvSpPr/>
          <p:nvPr/>
        </p:nvSpPr>
        <p:spPr>
          <a:xfrm>
            <a:off x="900226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9002268" y="389534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3" name="Text 98"/>
          <p:cNvSpPr txBox="1"/>
          <p:nvPr/>
        </p:nvSpPr>
        <p:spPr>
          <a:xfrm>
            <a:off x="916686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</a:t>
            </a:r>
            <a:endParaRPr lang="en-US" sz="2400" dirty="0"/>
          </a:p>
        </p:txBody>
      </p:sp>
      <p:sp>
        <p:nvSpPr>
          <p:cNvPr id="104" name="Text 99"/>
          <p:cNvSpPr txBox="1"/>
          <p:nvPr/>
        </p:nvSpPr>
        <p:spPr>
          <a:xfrm>
            <a:off x="916686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Email queries</a:t>
            </a:r>
            <a:endParaRPr lang="en-US" sz="1050" dirty="0"/>
          </a:p>
        </p:txBody>
      </p:sp>
      <p:sp>
        <p:nvSpPr>
          <p:cNvPr id="105" name="Text 100"/>
          <p:cNvSpPr txBox="1"/>
          <p:nvPr/>
        </p:nvSpPr>
        <p:spPr>
          <a:xfrm>
            <a:off x="916686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06" name="Text 101"/>
          <p:cNvSpPr txBox="1"/>
          <p:nvPr/>
        </p:nvSpPr>
        <p:spPr>
          <a:xfrm>
            <a:off x="1060246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7" name="Shape 102"/>
          <p:cNvSpPr/>
          <p:nvPr/>
        </p:nvSpPr>
        <p:spPr>
          <a:xfrm>
            <a:off x="900226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9002268" y="499262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9" name="Text 104"/>
          <p:cNvSpPr txBox="1"/>
          <p:nvPr/>
        </p:nvSpPr>
        <p:spPr>
          <a:xfrm>
            <a:off x="916686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21</a:t>
            </a:r>
            <a:endParaRPr lang="en-US" sz="2400" dirty="0"/>
          </a:p>
        </p:txBody>
      </p:sp>
      <p:sp>
        <p:nvSpPr>
          <p:cNvPr id="110" name="Text 105"/>
          <p:cNvSpPr txBox="1"/>
          <p:nvPr/>
        </p:nvSpPr>
        <p:spPr>
          <a:xfrm>
            <a:off x="916686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AI support queries</a:t>
            </a:r>
            <a:endParaRPr lang="en-US" sz="1050" dirty="0"/>
          </a:p>
        </p:txBody>
      </p:sp>
      <p:sp>
        <p:nvSpPr>
          <p:cNvPr id="111" name="Text 106"/>
          <p:cNvSpPr txBox="1"/>
          <p:nvPr/>
        </p:nvSpPr>
        <p:spPr>
          <a:xfrm>
            <a:off x="916686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12" name="Text 107"/>
          <p:cNvSpPr txBox="1"/>
          <p:nvPr/>
        </p:nvSpPr>
        <p:spPr>
          <a:xfrm>
            <a:off x="1060246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atemIsa_202508993_IT9002_NLP_Project/emyaa-ceo-deck/working/charts/board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188720"/>
            <a:ext cx="12191695" cy="24689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66928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F3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PLATFORM ANALYTICS  |  PERFORMANCE DASHBOARD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57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 date: 2 Aug 2026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868680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6CFE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Reporting period: All Time   |   Change on each card is against the previous report, 30 Jul 2026</a:t>
            </a:r>
            <a:endParaRPr lang="en-US" sz="1000" dirty="0"/>
          </a:p>
        </p:txBody>
      </p:sp>
      <p:pic>
        <p:nvPicPr>
          <p:cNvPr id="7" name="Image 1" descr="/home/user/HatemIsa_202508993_IT9002_NLP_Project/emyaa-ceo-deck/working/charts/ajy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02336"/>
            <a:ext cx="13258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" y="6272784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Source: eMYAA Daily Performance Dashboard, eMYAA_-_Daily_Performance_Dashboard-1.pdf, page 38. This report labels the money card 'Total Deposits'; later reports label the same measure 'Total AUM'.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eMYAA Trading Platform  |  Daily Performance Dashboard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9802368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41</a:t>
            </a:r>
            <a:endParaRPr lang="en-US" sz="800" dirty="0"/>
          </a:p>
        </p:txBody>
      </p:sp>
      <p:pic>
        <p:nvPicPr>
          <p:cNvPr id="11" name="Image 2" descr="/home/user/HatemIsa_202508993_IT9002_NLP_Project/emyaa-ceo-deck/working/charts/emyaa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6336792"/>
            <a:ext cx="1024128" cy="3657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66928" y="1408176"/>
            <a:ext cx="45720" cy="155448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665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DOWNLOADS &amp; RATINGS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6692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66928" y="170078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152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178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downloads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 Store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216712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6692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66928" y="279806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3152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106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73152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downloads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73152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Apple App Store</a:t>
            </a:r>
            <a:endParaRPr lang="en-US" sz="850" dirty="0"/>
          </a:p>
        </p:txBody>
      </p:sp>
      <p:sp>
        <p:nvSpPr>
          <p:cNvPr id="25" name="Text 20"/>
          <p:cNvSpPr txBox="1"/>
          <p:nvPr/>
        </p:nvSpPr>
        <p:spPr>
          <a:xfrm>
            <a:off x="216712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+7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6692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66928" y="389534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3152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29" name="Text 24"/>
          <p:cNvSpPr txBox="1"/>
          <p:nvPr/>
        </p:nvSpPr>
        <p:spPr>
          <a:xfrm>
            <a:off x="73152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app rating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73152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Play, 2 reviews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56692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66928" y="499262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3152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34" name="Text 29"/>
          <p:cNvSpPr txBox="1"/>
          <p:nvPr/>
        </p:nvSpPr>
        <p:spPr>
          <a:xfrm>
            <a:off x="73152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app rating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73152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 Store, 2 reviews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3378708" y="1408176"/>
            <a:ext cx="45720" cy="155448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48843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 ACTIVITY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337870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3378708" y="170078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354330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9</a:t>
            </a:r>
            <a:endParaRPr lang="en-US" sz="2400" dirty="0"/>
          </a:p>
        </p:txBody>
      </p:sp>
      <p:sp>
        <p:nvSpPr>
          <p:cNvPr id="41" name="Text 36"/>
          <p:cNvSpPr txBox="1"/>
          <p:nvPr/>
        </p:nvSpPr>
        <p:spPr>
          <a:xfrm>
            <a:off x="354330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deposited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354330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Funded accounts</a:t>
            </a:r>
            <a:endParaRPr lang="en-US" sz="850" dirty="0"/>
          </a:p>
        </p:txBody>
      </p:sp>
      <p:sp>
        <p:nvSpPr>
          <p:cNvPr id="43" name="Text 38"/>
          <p:cNvSpPr txBox="1"/>
          <p:nvPr/>
        </p:nvSpPr>
        <p:spPr>
          <a:xfrm>
            <a:off x="497890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337870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3378708" y="279806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354330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$8,526.91</a:t>
            </a:r>
            <a:endParaRPr lang="en-US" sz="1900" dirty="0"/>
          </a:p>
        </p:txBody>
      </p:sp>
      <p:sp>
        <p:nvSpPr>
          <p:cNvPr id="47" name="Text 42"/>
          <p:cNvSpPr txBox="1"/>
          <p:nvPr/>
        </p:nvSpPr>
        <p:spPr>
          <a:xfrm>
            <a:off x="354330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deposits</a:t>
            </a:r>
            <a:endParaRPr lang="en-US" sz="1050" dirty="0"/>
          </a:p>
        </p:txBody>
      </p:sp>
      <p:sp>
        <p:nvSpPr>
          <p:cNvPr id="48" name="Text 43"/>
          <p:cNvSpPr txBox="1"/>
          <p:nvPr/>
        </p:nvSpPr>
        <p:spPr>
          <a:xfrm>
            <a:off x="354330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Cumulative platform deposits</a:t>
            </a:r>
            <a:endParaRPr lang="en-US" sz="850" dirty="0"/>
          </a:p>
        </p:txBody>
      </p:sp>
      <p:sp>
        <p:nvSpPr>
          <p:cNvPr id="49" name="Text 44"/>
          <p:cNvSpPr txBox="1"/>
          <p:nvPr/>
        </p:nvSpPr>
        <p:spPr>
          <a:xfrm>
            <a:off x="497890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+$3,845.85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337870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3378708" y="389534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354330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9</a:t>
            </a:r>
            <a:endParaRPr lang="en-US" sz="2400" dirty="0"/>
          </a:p>
        </p:txBody>
      </p:sp>
      <p:sp>
        <p:nvSpPr>
          <p:cNvPr id="53" name="Text 48"/>
          <p:cNvSpPr txBox="1"/>
          <p:nvPr/>
        </p:nvSpPr>
        <p:spPr>
          <a:xfrm>
            <a:off x="354330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traded</a:t>
            </a:r>
            <a:endParaRPr lang="en-US" sz="1050" dirty="0"/>
          </a:p>
        </p:txBody>
      </p:sp>
      <p:sp>
        <p:nvSpPr>
          <p:cNvPr id="54" name="Text 49"/>
          <p:cNvSpPr txBox="1"/>
          <p:nvPr/>
        </p:nvSpPr>
        <p:spPr>
          <a:xfrm>
            <a:off x="354330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Placed at least 1 trade</a:t>
            </a:r>
            <a:endParaRPr lang="en-US" sz="850" dirty="0"/>
          </a:p>
        </p:txBody>
      </p:sp>
      <p:sp>
        <p:nvSpPr>
          <p:cNvPr id="55" name="Text 50"/>
          <p:cNvSpPr txBox="1"/>
          <p:nvPr/>
        </p:nvSpPr>
        <p:spPr>
          <a:xfrm>
            <a:off x="497890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56" name="Shape 51"/>
          <p:cNvSpPr/>
          <p:nvPr/>
        </p:nvSpPr>
        <p:spPr>
          <a:xfrm>
            <a:off x="337870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3378708" y="499262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354330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30</a:t>
            </a:r>
            <a:endParaRPr lang="en-US" sz="2400" dirty="0"/>
          </a:p>
        </p:txBody>
      </p:sp>
      <p:sp>
        <p:nvSpPr>
          <p:cNvPr id="59" name="Text 54"/>
          <p:cNvSpPr txBox="1"/>
          <p:nvPr/>
        </p:nvSpPr>
        <p:spPr>
          <a:xfrm>
            <a:off x="354330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trades</a:t>
            </a:r>
            <a:endParaRPr lang="en-US" sz="1050" dirty="0"/>
          </a:p>
        </p:txBody>
      </p:sp>
      <p:sp>
        <p:nvSpPr>
          <p:cNvPr id="60" name="Text 55"/>
          <p:cNvSpPr txBox="1"/>
          <p:nvPr/>
        </p:nvSpPr>
        <p:spPr>
          <a:xfrm>
            <a:off x="354330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Executed across all users</a:t>
            </a:r>
            <a:endParaRPr lang="en-US" sz="850" dirty="0"/>
          </a:p>
        </p:txBody>
      </p:sp>
      <p:sp>
        <p:nvSpPr>
          <p:cNvPr id="61" name="Text 56"/>
          <p:cNvSpPr txBox="1"/>
          <p:nvPr/>
        </p:nvSpPr>
        <p:spPr>
          <a:xfrm>
            <a:off x="497890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+9</a:t>
            </a:r>
            <a:endParaRPr lang="en-US" sz="850" dirty="0"/>
          </a:p>
        </p:txBody>
      </p:sp>
      <p:sp>
        <p:nvSpPr>
          <p:cNvPr id="62" name="Shape 57"/>
          <p:cNvSpPr/>
          <p:nvPr/>
        </p:nvSpPr>
        <p:spPr>
          <a:xfrm>
            <a:off x="6190488" y="1408176"/>
            <a:ext cx="45720" cy="1554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630021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KYC STATUS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619048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6190488" y="170078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635508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33</a:t>
            </a:r>
            <a:endParaRPr lang="en-US" sz="2400" dirty="0"/>
          </a:p>
        </p:txBody>
      </p:sp>
      <p:sp>
        <p:nvSpPr>
          <p:cNvPr id="67" name="Text 62"/>
          <p:cNvSpPr txBox="1"/>
          <p:nvPr/>
        </p:nvSpPr>
        <p:spPr>
          <a:xfrm>
            <a:off x="635508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onboarded</a:t>
            </a:r>
            <a:endParaRPr lang="en-US" sz="1050" dirty="0"/>
          </a:p>
        </p:txBody>
      </p:sp>
      <p:sp>
        <p:nvSpPr>
          <p:cNvPr id="68" name="Text 63"/>
          <p:cNvSpPr txBox="1"/>
          <p:nvPr/>
        </p:nvSpPr>
        <p:spPr>
          <a:xfrm>
            <a:off x="635508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Completed signup and verification</a:t>
            </a:r>
            <a:endParaRPr lang="en-US" sz="850" dirty="0"/>
          </a:p>
        </p:txBody>
      </p:sp>
      <p:sp>
        <p:nvSpPr>
          <p:cNvPr id="69" name="Text 64"/>
          <p:cNvSpPr txBox="1"/>
          <p:nvPr/>
        </p:nvSpPr>
        <p:spPr>
          <a:xfrm>
            <a:off x="779068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70" name="Shape 65"/>
          <p:cNvSpPr/>
          <p:nvPr/>
        </p:nvSpPr>
        <p:spPr>
          <a:xfrm>
            <a:off x="619048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6190488" y="279806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2" name="Text 67"/>
          <p:cNvSpPr txBox="1"/>
          <p:nvPr/>
        </p:nvSpPr>
        <p:spPr>
          <a:xfrm>
            <a:off x="635508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114</a:t>
            </a:r>
            <a:endParaRPr lang="en-US" sz="2400" dirty="0"/>
          </a:p>
        </p:txBody>
      </p:sp>
      <p:sp>
        <p:nvSpPr>
          <p:cNvPr id="73" name="Text 68"/>
          <p:cNvSpPr txBox="1"/>
          <p:nvPr/>
        </p:nvSpPr>
        <p:spPr>
          <a:xfrm>
            <a:off x="635508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Incomplete KYC</a:t>
            </a:r>
            <a:endParaRPr lang="en-US" sz="1050" dirty="0"/>
          </a:p>
        </p:txBody>
      </p:sp>
      <p:sp>
        <p:nvSpPr>
          <p:cNvPr id="74" name="Text 69"/>
          <p:cNvSpPr txBox="1"/>
          <p:nvPr/>
        </p:nvSpPr>
        <p:spPr>
          <a:xfrm>
            <a:off x="635508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Started KYC but did not proceed</a:t>
            </a:r>
            <a:endParaRPr lang="en-US" sz="850" dirty="0"/>
          </a:p>
        </p:txBody>
      </p:sp>
      <p:sp>
        <p:nvSpPr>
          <p:cNvPr id="75" name="Text 70"/>
          <p:cNvSpPr txBox="1"/>
          <p:nvPr/>
        </p:nvSpPr>
        <p:spPr>
          <a:xfrm>
            <a:off x="779068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5303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+2</a:t>
            </a:r>
            <a:endParaRPr lang="en-US" sz="850" dirty="0"/>
          </a:p>
        </p:txBody>
      </p:sp>
      <p:sp>
        <p:nvSpPr>
          <p:cNvPr id="76" name="Shape 71"/>
          <p:cNvSpPr/>
          <p:nvPr/>
        </p:nvSpPr>
        <p:spPr>
          <a:xfrm>
            <a:off x="619048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6190488" y="389534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8" name="Text 73"/>
          <p:cNvSpPr txBox="1"/>
          <p:nvPr/>
        </p:nvSpPr>
        <p:spPr>
          <a:xfrm>
            <a:off x="635508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</a:t>
            </a:r>
            <a:endParaRPr lang="en-US" sz="2400" dirty="0"/>
          </a:p>
        </p:txBody>
      </p:sp>
      <p:sp>
        <p:nvSpPr>
          <p:cNvPr id="79" name="Text 74"/>
          <p:cNvSpPr txBox="1"/>
          <p:nvPr/>
        </p:nvSpPr>
        <p:spPr>
          <a:xfrm>
            <a:off x="635508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Rejected KYC</a:t>
            </a:r>
            <a:endParaRPr lang="en-US" sz="1050" dirty="0"/>
          </a:p>
        </p:txBody>
      </p:sp>
      <p:sp>
        <p:nvSpPr>
          <p:cNvPr id="80" name="Text 75"/>
          <p:cNvSpPr txBox="1"/>
          <p:nvPr/>
        </p:nvSpPr>
        <p:spPr>
          <a:xfrm>
            <a:off x="635508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Resubmission required</a:t>
            </a:r>
            <a:endParaRPr lang="en-US" sz="850" dirty="0"/>
          </a:p>
        </p:txBody>
      </p:sp>
      <p:sp>
        <p:nvSpPr>
          <p:cNvPr id="81" name="Text 76"/>
          <p:cNvSpPr txBox="1"/>
          <p:nvPr/>
        </p:nvSpPr>
        <p:spPr>
          <a:xfrm>
            <a:off x="779068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82" name="Shape 77"/>
          <p:cNvSpPr/>
          <p:nvPr/>
        </p:nvSpPr>
        <p:spPr>
          <a:xfrm>
            <a:off x="619048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6190488" y="499262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4" name="Text 79"/>
          <p:cNvSpPr txBox="1"/>
          <p:nvPr/>
        </p:nvSpPr>
        <p:spPr>
          <a:xfrm>
            <a:off x="635508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152</a:t>
            </a:r>
            <a:endParaRPr lang="en-US" sz="2400" dirty="0"/>
          </a:p>
        </p:txBody>
      </p:sp>
      <p:sp>
        <p:nvSpPr>
          <p:cNvPr id="85" name="Text 80"/>
          <p:cNvSpPr txBox="1"/>
          <p:nvPr/>
        </p:nvSpPr>
        <p:spPr>
          <a:xfrm>
            <a:off x="635508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KYC applications</a:t>
            </a:r>
            <a:endParaRPr lang="en-US" sz="1050" dirty="0"/>
          </a:p>
        </p:txBody>
      </p:sp>
      <p:sp>
        <p:nvSpPr>
          <p:cNvPr id="86" name="Text 81"/>
          <p:cNvSpPr txBox="1"/>
          <p:nvPr/>
        </p:nvSpPr>
        <p:spPr>
          <a:xfrm>
            <a:off x="635508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Onboarded + incomplete + rejected</a:t>
            </a:r>
            <a:endParaRPr lang="en-US" sz="850" dirty="0"/>
          </a:p>
        </p:txBody>
      </p:sp>
      <p:sp>
        <p:nvSpPr>
          <p:cNvPr id="87" name="Shape 82"/>
          <p:cNvSpPr/>
          <p:nvPr/>
        </p:nvSpPr>
        <p:spPr>
          <a:xfrm>
            <a:off x="9002268" y="1408176"/>
            <a:ext cx="45720" cy="155448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88" name="Text 83"/>
          <p:cNvSpPr txBox="1"/>
          <p:nvPr/>
        </p:nvSpPr>
        <p:spPr>
          <a:xfrm>
            <a:off x="911199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SUPPORT TICKETS</a:t>
            </a:r>
            <a:endParaRPr lang="en-US" sz="900" dirty="0"/>
          </a:p>
        </p:txBody>
      </p:sp>
      <p:sp>
        <p:nvSpPr>
          <p:cNvPr id="89" name="Shape 84"/>
          <p:cNvSpPr/>
          <p:nvPr/>
        </p:nvSpPr>
        <p:spPr>
          <a:xfrm>
            <a:off x="900226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9002268" y="170078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1" name="Text 86"/>
          <p:cNvSpPr txBox="1"/>
          <p:nvPr/>
        </p:nvSpPr>
        <p:spPr>
          <a:xfrm>
            <a:off x="916686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</a:t>
            </a:r>
            <a:endParaRPr lang="en-US" sz="2400" dirty="0"/>
          </a:p>
        </p:txBody>
      </p:sp>
      <p:sp>
        <p:nvSpPr>
          <p:cNvPr id="92" name="Text 87"/>
          <p:cNvSpPr txBox="1"/>
          <p:nvPr/>
        </p:nvSpPr>
        <p:spPr>
          <a:xfrm>
            <a:off x="916686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created</a:t>
            </a:r>
            <a:endParaRPr lang="en-US" sz="1050" dirty="0"/>
          </a:p>
        </p:txBody>
      </p:sp>
      <p:sp>
        <p:nvSpPr>
          <p:cNvPr id="93" name="Text 88"/>
          <p:cNvSpPr txBox="1"/>
          <p:nvPr/>
        </p:nvSpPr>
        <p:spPr>
          <a:xfrm>
            <a:off x="916686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94" name="Text 89"/>
          <p:cNvSpPr txBox="1"/>
          <p:nvPr/>
        </p:nvSpPr>
        <p:spPr>
          <a:xfrm>
            <a:off x="1060246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95" name="Shape 90"/>
          <p:cNvSpPr/>
          <p:nvPr/>
        </p:nvSpPr>
        <p:spPr>
          <a:xfrm>
            <a:off x="900226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9002268" y="279806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7" name="Text 92"/>
          <p:cNvSpPr txBox="1"/>
          <p:nvPr/>
        </p:nvSpPr>
        <p:spPr>
          <a:xfrm>
            <a:off x="916686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</a:t>
            </a:r>
            <a:endParaRPr lang="en-US" sz="2400" dirty="0"/>
          </a:p>
        </p:txBody>
      </p:sp>
      <p:sp>
        <p:nvSpPr>
          <p:cNvPr id="98" name="Text 93"/>
          <p:cNvSpPr txBox="1"/>
          <p:nvPr/>
        </p:nvSpPr>
        <p:spPr>
          <a:xfrm>
            <a:off x="916686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resolved</a:t>
            </a:r>
            <a:endParaRPr lang="en-US" sz="1050" dirty="0"/>
          </a:p>
        </p:txBody>
      </p:sp>
      <p:sp>
        <p:nvSpPr>
          <p:cNvPr id="99" name="Text 94"/>
          <p:cNvSpPr txBox="1"/>
          <p:nvPr/>
        </p:nvSpPr>
        <p:spPr>
          <a:xfrm>
            <a:off x="916686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100% of tickets created</a:t>
            </a:r>
            <a:endParaRPr lang="en-US" sz="850" dirty="0"/>
          </a:p>
        </p:txBody>
      </p:sp>
      <p:sp>
        <p:nvSpPr>
          <p:cNvPr id="100" name="Text 95"/>
          <p:cNvSpPr txBox="1"/>
          <p:nvPr/>
        </p:nvSpPr>
        <p:spPr>
          <a:xfrm>
            <a:off x="1060246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1" name="Shape 96"/>
          <p:cNvSpPr/>
          <p:nvPr/>
        </p:nvSpPr>
        <p:spPr>
          <a:xfrm>
            <a:off x="900226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9002268" y="389534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3" name="Text 98"/>
          <p:cNvSpPr txBox="1"/>
          <p:nvPr/>
        </p:nvSpPr>
        <p:spPr>
          <a:xfrm>
            <a:off x="916686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</a:t>
            </a:r>
            <a:endParaRPr lang="en-US" sz="2400" dirty="0"/>
          </a:p>
        </p:txBody>
      </p:sp>
      <p:sp>
        <p:nvSpPr>
          <p:cNvPr id="104" name="Text 99"/>
          <p:cNvSpPr txBox="1"/>
          <p:nvPr/>
        </p:nvSpPr>
        <p:spPr>
          <a:xfrm>
            <a:off x="916686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Email queries</a:t>
            </a:r>
            <a:endParaRPr lang="en-US" sz="1050" dirty="0"/>
          </a:p>
        </p:txBody>
      </p:sp>
      <p:sp>
        <p:nvSpPr>
          <p:cNvPr id="105" name="Text 100"/>
          <p:cNvSpPr txBox="1"/>
          <p:nvPr/>
        </p:nvSpPr>
        <p:spPr>
          <a:xfrm>
            <a:off x="916686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06" name="Text 101"/>
          <p:cNvSpPr txBox="1"/>
          <p:nvPr/>
        </p:nvSpPr>
        <p:spPr>
          <a:xfrm>
            <a:off x="1060246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7" name="Shape 102"/>
          <p:cNvSpPr/>
          <p:nvPr/>
        </p:nvSpPr>
        <p:spPr>
          <a:xfrm>
            <a:off x="900226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9002268" y="499262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9" name="Text 104"/>
          <p:cNvSpPr txBox="1"/>
          <p:nvPr/>
        </p:nvSpPr>
        <p:spPr>
          <a:xfrm>
            <a:off x="916686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21</a:t>
            </a:r>
            <a:endParaRPr lang="en-US" sz="2400" dirty="0"/>
          </a:p>
        </p:txBody>
      </p:sp>
      <p:sp>
        <p:nvSpPr>
          <p:cNvPr id="110" name="Text 105"/>
          <p:cNvSpPr txBox="1"/>
          <p:nvPr/>
        </p:nvSpPr>
        <p:spPr>
          <a:xfrm>
            <a:off x="916686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AI support queries</a:t>
            </a:r>
            <a:endParaRPr lang="en-US" sz="1050" dirty="0"/>
          </a:p>
        </p:txBody>
      </p:sp>
      <p:sp>
        <p:nvSpPr>
          <p:cNvPr id="111" name="Text 106"/>
          <p:cNvSpPr txBox="1"/>
          <p:nvPr/>
        </p:nvSpPr>
        <p:spPr>
          <a:xfrm>
            <a:off x="916686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12" name="Text 107"/>
          <p:cNvSpPr txBox="1"/>
          <p:nvPr/>
        </p:nvSpPr>
        <p:spPr>
          <a:xfrm>
            <a:off x="1060246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atemIsa_202508993_IT9002_NLP_Project/emyaa-ceo-deck/working/charts/board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188720"/>
            <a:ext cx="12191695" cy="24689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66928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F3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PLATFORM ANALYTICS  |  PERFORMANCE DASHBOARD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57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 date: 30 Jul 2026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868680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6CFE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Reporting period: 14 May 2026 - 29 Jul 2026   |   Change on each card is against the previous report, 29 Jul 2026</a:t>
            </a:r>
            <a:endParaRPr lang="en-US" sz="1000" dirty="0"/>
          </a:p>
        </p:txBody>
      </p:sp>
      <p:pic>
        <p:nvPicPr>
          <p:cNvPr id="7" name="Image 1" descr="/home/user/HatemIsa_202508993_IT9002_NLP_Project/emyaa-ceo-deck/working/charts/ajy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02336"/>
            <a:ext cx="13258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" y="6272784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Source: eMYAA Daily Performance Dashboard, eMYAA_-_Daily_Performance_Dashboard-1.pdf, page 39. This report labels the money card 'Total Deposits'; later reports label the same measure 'Total AUM'.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eMYAA Trading Platform  |  Daily Performance Dashboard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9802368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42</a:t>
            </a:r>
            <a:endParaRPr lang="en-US" sz="800" dirty="0"/>
          </a:p>
        </p:txBody>
      </p:sp>
      <p:pic>
        <p:nvPicPr>
          <p:cNvPr id="11" name="Image 2" descr="/home/user/HatemIsa_202508993_IT9002_NLP_Project/emyaa-ceo-deck/working/charts/emyaa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6336792"/>
            <a:ext cx="1024128" cy="3657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66928" y="1408176"/>
            <a:ext cx="45720" cy="155448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665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DOWNLOADS &amp; RATINGS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6692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66928" y="170078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152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177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downloads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 Store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216712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6692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66928" y="279806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3152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99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73152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downloads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73152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Apple App Store</a:t>
            </a:r>
            <a:endParaRPr lang="en-US" sz="850" dirty="0"/>
          </a:p>
        </p:txBody>
      </p:sp>
      <p:sp>
        <p:nvSpPr>
          <p:cNvPr id="25" name="Text 20"/>
          <p:cNvSpPr txBox="1"/>
          <p:nvPr/>
        </p:nvSpPr>
        <p:spPr>
          <a:xfrm>
            <a:off x="216712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6692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66928" y="389534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3152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29" name="Text 24"/>
          <p:cNvSpPr txBox="1"/>
          <p:nvPr/>
        </p:nvSpPr>
        <p:spPr>
          <a:xfrm>
            <a:off x="73152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app rating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73152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Play, 2 reviews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56692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66928" y="499262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3152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34" name="Text 29"/>
          <p:cNvSpPr txBox="1"/>
          <p:nvPr/>
        </p:nvSpPr>
        <p:spPr>
          <a:xfrm>
            <a:off x="73152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app rating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73152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 Store, 2 reviews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3378708" y="1408176"/>
            <a:ext cx="45720" cy="155448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48843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 ACTIVITY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337870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3378708" y="170078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354330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8</a:t>
            </a:r>
            <a:endParaRPr lang="en-US" sz="2400" dirty="0"/>
          </a:p>
        </p:txBody>
      </p:sp>
      <p:sp>
        <p:nvSpPr>
          <p:cNvPr id="41" name="Text 36"/>
          <p:cNvSpPr txBox="1"/>
          <p:nvPr/>
        </p:nvSpPr>
        <p:spPr>
          <a:xfrm>
            <a:off x="354330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deposited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354330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Funded accounts</a:t>
            </a:r>
            <a:endParaRPr lang="en-US" sz="850" dirty="0"/>
          </a:p>
        </p:txBody>
      </p:sp>
      <p:sp>
        <p:nvSpPr>
          <p:cNvPr id="43" name="Text 38"/>
          <p:cNvSpPr txBox="1"/>
          <p:nvPr/>
        </p:nvSpPr>
        <p:spPr>
          <a:xfrm>
            <a:off x="497890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337870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3378708" y="279806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354330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$4,681.06</a:t>
            </a:r>
            <a:endParaRPr lang="en-US" sz="1900" dirty="0"/>
          </a:p>
        </p:txBody>
      </p:sp>
      <p:sp>
        <p:nvSpPr>
          <p:cNvPr id="47" name="Text 42"/>
          <p:cNvSpPr txBox="1"/>
          <p:nvPr/>
        </p:nvSpPr>
        <p:spPr>
          <a:xfrm>
            <a:off x="354330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deposits</a:t>
            </a:r>
            <a:endParaRPr lang="en-US" sz="1050" dirty="0"/>
          </a:p>
        </p:txBody>
      </p:sp>
      <p:sp>
        <p:nvSpPr>
          <p:cNvPr id="48" name="Text 43"/>
          <p:cNvSpPr txBox="1"/>
          <p:nvPr/>
        </p:nvSpPr>
        <p:spPr>
          <a:xfrm>
            <a:off x="354330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Cumulative platform deposits</a:t>
            </a:r>
            <a:endParaRPr lang="en-US" sz="850" dirty="0"/>
          </a:p>
        </p:txBody>
      </p:sp>
      <p:sp>
        <p:nvSpPr>
          <p:cNvPr id="49" name="Text 44"/>
          <p:cNvSpPr txBox="1"/>
          <p:nvPr/>
        </p:nvSpPr>
        <p:spPr>
          <a:xfrm>
            <a:off x="497890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337870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3378708" y="389534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354330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8</a:t>
            </a:r>
            <a:endParaRPr lang="en-US" sz="2400" dirty="0"/>
          </a:p>
        </p:txBody>
      </p:sp>
      <p:sp>
        <p:nvSpPr>
          <p:cNvPr id="53" name="Text 48"/>
          <p:cNvSpPr txBox="1"/>
          <p:nvPr/>
        </p:nvSpPr>
        <p:spPr>
          <a:xfrm>
            <a:off x="354330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traded</a:t>
            </a:r>
            <a:endParaRPr lang="en-US" sz="1050" dirty="0"/>
          </a:p>
        </p:txBody>
      </p:sp>
      <p:sp>
        <p:nvSpPr>
          <p:cNvPr id="54" name="Text 49"/>
          <p:cNvSpPr txBox="1"/>
          <p:nvPr/>
        </p:nvSpPr>
        <p:spPr>
          <a:xfrm>
            <a:off x="354330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Placed at least 1 trade</a:t>
            </a:r>
            <a:endParaRPr lang="en-US" sz="850" dirty="0"/>
          </a:p>
        </p:txBody>
      </p:sp>
      <p:sp>
        <p:nvSpPr>
          <p:cNvPr id="55" name="Text 50"/>
          <p:cNvSpPr txBox="1"/>
          <p:nvPr/>
        </p:nvSpPr>
        <p:spPr>
          <a:xfrm>
            <a:off x="497890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6" name="Shape 51"/>
          <p:cNvSpPr/>
          <p:nvPr/>
        </p:nvSpPr>
        <p:spPr>
          <a:xfrm>
            <a:off x="337870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3378708" y="499262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354330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21</a:t>
            </a:r>
            <a:endParaRPr lang="en-US" sz="2400" dirty="0"/>
          </a:p>
        </p:txBody>
      </p:sp>
      <p:sp>
        <p:nvSpPr>
          <p:cNvPr id="59" name="Text 54"/>
          <p:cNvSpPr txBox="1"/>
          <p:nvPr/>
        </p:nvSpPr>
        <p:spPr>
          <a:xfrm>
            <a:off x="354330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trades</a:t>
            </a:r>
            <a:endParaRPr lang="en-US" sz="1050" dirty="0"/>
          </a:p>
        </p:txBody>
      </p:sp>
      <p:sp>
        <p:nvSpPr>
          <p:cNvPr id="60" name="Text 55"/>
          <p:cNvSpPr txBox="1"/>
          <p:nvPr/>
        </p:nvSpPr>
        <p:spPr>
          <a:xfrm>
            <a:off x="354330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Executed across all users</a:t>
            </a:r>
            <a:endParaRPr lang="en-US" sz="850" dirty="0"/>
          </a:p>
        </p:txBody>
      </p:sp>
      <p:sp>
        <p:nvSpPr>
          <p:cNvPr id="61" name="Text 56"/>
          <p:cNvSpPr txBox="1"/>
          <p:nvPr/>
        </p:nvSpPr>
        <p:spPr>
          <a:xfrm>
            <a:off x="497890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62" name="Shape 57"/>
          <p:cNvSpPr/>
          <p:nvPr/>
        </p:nvSpPr>
        <p:spPr>
          <a:xfrm>
            <a:off x="6190488" y="1408176"/>
            <a:ext cx="45720" cy="1554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630021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KYC STATUS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619048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6190488" y="170078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635508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32</a:t>
            </a:r>
            <a:endParaRPr lang="en-US" sz="2400" dirty="0"/>
          </a:p>
        </p:txBody>
      </p:sp>
      <p:sp>
        <p:nvSpPr>
          <p:cNvPr id="67" name="Text 62"/>
          <p:cNvSpPr txBox="1"/>
          <p:nvPr/>
        </p:nvSpPr>
        <p:spPr>
          <a:xfrm>
            <a:off x="635508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onboarded</a:t>
            </a:r>
            <a:endParaRPr lang="en-US" sz="1050" dirty="0"/>
          </a:p>
        </p:txBody>
      </p:sp>
      <p:sp>
        <p:nvSpPr>
          <p:cNvPr id="68" name="Text 63"/>
          <p:cNvSpPr txBox="1"/>
          <p:nvPr/>
        </p:nvSpPr>
        <p:spPr>
          <a:xfrm>
            <a:off x="635508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Completed signup and verification</a:t>
            </a:r>
            <a:endParaRPr lang="en-US" sz="850" dirty="0"/>
          </a:p>
        </p:txBody>
      </p:sp>
      <p:sp>
        <p:nvSpPr>
          <p:cNvPr id="69" name="Text 64"/>
          <p:cNvSpPr txBox="1"/>
          <p:nvPr/>
        </p:nvSpPr>
        <p:spPr>
          <a:xfrm>
            <a:off x="779068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70" name="Shape 65"/>
          <p:cNvSpPr/>
          <p:nvPr/>
        </p:nvSpPr>
        <p:spPr>
          <a:xfrm>
            <a:off x="619048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6190488" y="279806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2" name="Text 67"/>
          <p:cNvSpPr txBox="1"/>
          <p:nvPr/>
        </p:nvSpPr>
        <p:spPr>
          <a:xfrm>
            <a:off x="635508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112</a:t>
            </a:r>
            <a:endParaRPr lang="en-US" sz="2400" dirty="0"/>
          </a:p>
        </p:txBody>
      </p:sp>
      <p:sp>
        <p:nvSpPr>
          <p:cNvPr id="73" name="Text 68"/>
          <p:cNvSpPr txBox="1"/>
          <p:nvPr/>
        </p:nvSpPr>
        <p:spPr>
          <a:xfrm>
            <a:off x="635508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Incomplete KYC</a:t>
            </a:r>
            <a:endParaRPr lang="en-US" sz="1050" dirty="0"/>
          </a:p>
        </p:txBody>
      </p:sp>
      <p:sp>
        <p:nvSpPr>
          <p:cNvPr id="74" name="Text 69"/>
          <p:cNvSpPr txBox="1"/>
          <p:nvPr/>
        </p:nvSpPr>
        <p:spPr>
          <a:xfrm>
            <a:off x="635508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Started KYC but did not proceed</a:t>
            </a:r>
            <a:endParaRPr lang="en-US" sz="850" dirty="0"/>
          </a:p>
        </p:txBody>
      </p:sp>
      <p:sp>
        <p:nvSpPr>
          <p:cNvPr id="75" name="Text 70"/>
          <p:cNvSpPr txBox="1"/>
          <p:nvPr/>
        </p:nvSpPr>
        <p:spPr>
          <a:xfrm>
            <a:off x="779068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-1</a:t>
            </a:r>
            <a:endParaRPr lang="en-US" sz="850" dirty="0"/>
          </a:p>
        </p:txBody>
      </p:sp>
      <p:sp>
        <p:nvSpPr>
          <p:cNvPr id="76" name="Shape 71"/>
          <p:cNvSpPr/>
          <p:nvPr/>
        </p:nvSpPr>
        <p:spPr>
          <a:xfrm>
            <a:off x="619048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6190488" y="389534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8" name="Text 73"/>
          <p:cNvSpPr txBox="1"/>
          <p:nvPr/>
        </p:nvSpPr>
        <p:spPr>
          <a:xfrm>
            <a:off x="635508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</a:t>
            </a:r>
            <a:endParaRPr lang="en-US" sz="2400" dirty="0"/>
          </a:p>
        </p:txBody>
      </p:sp>
      <p:sp>
        <p:nvSpPr>
          <p:cNvPr id="79" name="Text 74"/>
          <p:cNvSpPr txBox="1"/>
          <p:nvPr/>
        </p:nvSpPr>
        <p:spPr>
          <a:xfrm>
            <a:off x="635508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Rejected KYC</a:t>
            </a:r>
            <a:endParaRPr lang="en-US" sz="1050" dirty="0"/>
          </a:p>
        </p:txBody>
      </p:sp>
      <p:sp>
        <p:nvSpPr>
          <p:cNvPr id="80" name="Text 75"/>
          <p:cNvSpPr txBox="1"/>
          <p:nvPr/>
        </p:nvSpPr>
        <p:spPr>
          <a:xfrm>
            <a:off x="635508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Resubmission required</a:t>
            </a:r>
            <a:endParaRPr lang="en-US" sz="850" dirty="0"/>
          </a:p>
        </p:txBody>
      </p:sp>
      <p:sp>
        <p:nvSpPr>
          <p:cNvPr id="81" name="Text 76"/>
          <p:cNvSpPr txBox="1"/>
          <p:nvPr/>
        </p:nvSpPr>
        <p:spPr>
          <a:xfrm>
            <a:off x="779068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82" name="Shape 77"/>
          <p:cNvSpPr/>
          <p:nvPr/>
        </p:nvSpPr>
        <p:spPr>
          <a:xfrm>
            <a:off x="619048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6190488" y="499262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4" name="Text 79"/>
          <p:cNvSpPr txBox="1"/>
          <p:nvPr/>
        </p:nvSpPr>
        <p:spPr>
          <a:xfrm>
            <a:off x="635508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149</a:t>
            </a:r>
            <a:endParaRPr lang="en-US" sz="2400" dirty="0"/>
          </a:p>
        </p:txBody>
      </p:sp>
      <p:sp>
        <p:nvSpPr>
          <p:cNvPr id="85" name="Text 80"/>
          <p:cNvSpPr txBox="1"/>
          <p:nvPr/>
        </p:nvSpPr>
        <p:spPr>
          <a:xfrm>
            <a:off x="635508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KYC applications</a:t>
            </a:r>
            <a:endParaRPr lang="en-US" sz="1050" dirty="0"/>
          </a:p>
        </p:txBody>
      </p:sp>
      <p:sp>
        <p:nvSpPr>
          <p:cNvPr id="86" name="Text 81"/>
          <p:cNvSpPr txBox="1"/>
          <p:nvPr/>
        </p:nvSpPr>
        <p:spPr>
          <a:xfrm>
            <a:off x="635508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Onboarded + incomplete + rejected</a:t>
            </a:r>
            <a:endParaRPr lang="en-US" sz="850" dirty="0"/>
          </a:p>
        </p:txBody>
      </p:sp>
      <p:sp>
        <p:nvSpPr>
          <p:cNvPr id="87" name="Shape 82"/>
          <p:cNvSpPr/>
          <p:nvPr/>
        </p:nvSpPr>
        <p:spPr>
          <a:xfrm>
            <a:off x="9002268" y="1408176"/>
            <a:ext cx="45720" cy="155448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88" name="Text 83"/>
          <p:cNvSpPr txBox="1"/>
          <p:nvPr/>
        </p:nvSpPr>
        <p:spPr>
          <a:xfrm>
            <a:off x="911199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SUPPORT TICKETS</a:t>
            </a:r>
            <a:endParaRPr lang="en-US" sz="900" dirty="0"/>
          </a:p>
        </p:txBody>
      </p:sp>
      <p:sp>
        <p:nvSpPr>
          <p:cNvPr id="89" name="Shape 84"/>
          <p:cNvSpPr/>
          <p:nvPr/>
        </p:nvSpPr>
        <p:spPr>
          <a:xfrm>
            <a:off x="900226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9002268" y="170078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1" name="Text 86"/>
          <p:cNvSpPr txBox="1"/>
          <p:nvPr/>
        </p:nvSpPr>
        <p:spPr>
          <a:xfrm>
            <a:off x="916686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</a:t>
            </a:r>
            <a:endParaRPr lang="en-US" sz="2400" dirty="0"/>
          </a:p>
        </p:txBody>
      </p:sp>
      <p:sp>
        <p:nvSpPr>
          <p:cNvPr id="92" name="Text 87"/>
          <p:cNvSpPr txBox="1"/>
          <p:nvPr/>
        </p:nvSpPr>
        <p:spPr>
          <a:xfrm>
            <a:off x="916686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created</a:t>
            </a:r>
            <a:endParaRPr lang="en-US" sz="1050" dirty="0"/>
          </a:p>
        </p:txBody>
      </p:sp>
      <p:sp>
        <p:nvSpPr>
          <p:cNvPr id="93" name="Text 88"/>
          <p:cNvSpPr txBox="1"/>
          <p:nvPr/>
        </p:nvSpPr>
        <p:spPr>
          <a:xfrm>
            <a:off x="916686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94" name="Text 89"/>
          <p:cNvSpPr txBox="1"/>
          <p:nvPr/>
        </p:nvSpPr>
        <p:spPr>
          <a:xfrm>
            <a:off x="1060246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95" name="Shape 90"/>
          <p:cNvSpPr/>
          <p:nvPr/>
        </p:nvSpPr>
        <p:spPr>
          <a:xfrm>
            <a:off x="900226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9002268" y="279806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7" name="Text 92"/>
          <p:cNvSpPr txBox="1"/>
          <p:nvPr/>
        </p:nvSpPr>
        <p:spPr>
          <a:xfrm>
            <a:off x="916686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</a:t>
            </a:r>
            <a:endParaRPr lang="en-US" sz="2400" dirty="0"/>
          </a:p>
        </p:txBody>
      </p:sp>
      <p:sp>
        <p:nvSpPr>
          <p:cNvPr id="98" name="Text 93"/>
          <p:cNvSpPr txBox="1"/>
          <p:nvPr/>
        </p:nvSpPr>
        <p:spPr>
          <a:xfrm>
            <a:off x="916686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resolved</a:t>
            </a:r>
            <a:endParaRPr lang="en-US" sz="1050" dirty="0"/>
          </a:p>
        </p:txBody>
      </p:sp>
      <p:sp>
        <p:nvSpPr>
          <p:cNvPr id="99" name="Text 94"/>
          <p:cNvSpPr txBox="1"/>
          <p:nvPr/>
        </p:nvSpPr>
        <p:spPr>
          <a:xfrm>
            <a:off x="916686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100% of tickets created</a:t>
            </a:r>
            <a:endParaRPr lang="en-US" sz="850" dirty="0"/>
          </a:p>
        </p:txBody>
      </p:sp>
      <p:sp>
        <p:nvSpPr>
          <p:cNvPr id="100" name="Text 95"/>
          <p:cNvSpPr txBox="1"/>
          <p:nvPr/>
        </p:nvSpPr>
        <p:spPr>
          <a:xfrm>
            <a:off x="1060246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1" name="Shape 96"/>
          <p:cNvSpPr/>
          <p:nvPr/>
        </p:nvSpPr>
        <p:spPr>
          <a:xfrm>
            <a:off x="900226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9002268" y="389534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3" name="Text 98"/>
          <p:cNvSpPr txBox="1"/>
          <p:nvPr/>
        </p:nvSpPr>
        <p:spPr>
          <a:xfrm>
            <a:off x="916686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</a:t>
            </a:r>
            <a:endParaRPr lang="en-US" sz="2400" dirty="0"/>
          </a:p>
        </p:txBody>
      </p:sp>
      <p:sp>
        <p:nvSpPr>
          <p:cNvPr id="104" name="Text 99"/>
          <p:cNvSpPr txBox="1"/>
          <p:nvPr/>
        </p:nvSpPr>
        <p:spPr>
          <a:xfrm>
            <a:off x="916686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Email queries</a:t>
            </a:r>
            <a:endParaRPr lang="en-US" sz="1050" dirty="0"/>
          </a:p>
        </p:txBody>
      </p:sp>
      <p:sp>
        <p:nvSpPr>
          <p:cNvPr id="105" name="Text 100"/>
          <p:cNvSpPr txBox="1"/>
          <p:nvPr/>
        </p:nvSpPr>
        <p:spPr>
          <a:xfrm>
            <a:off x="916686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06" name="Text 101"/>
          <p:cNvSpPr txBox="1"/>
          <p:nvPr/>
        </p:nvSpPr>
        <p:spPr>
          <a:xfrm>
            <a:off x="1060246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7" name="Shape 102"/>
          <p:cNvSpPr/>
          <p:nvPr/>
        </p:nvSpPr>
        <p:spPr>
          <a:xfrm>
            <a:off x="900226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9002268" y="499262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9" name="Text 104"/>
          <p:cNvSpPr txBox="1"/>
          <p:nvPr/>
        </p:nvSpPr>
        <p:spPr>
          <a:xfrm>
            <a:off x="916686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21</a:t>
            </a:r>
            <a:endParaRPr lang="en-US" sz="2400" dirty="0"/>
          </a:p>
        </p:txBody>
      </p:sp>
      <p:sp>
        <p:nvSpPr>
          <p:cNvPr id="110" name="Text 105"/>
          <p:cNvSpPr txBox="1"/>
          <p:nvPr/>
        </p:nvSpPr>
        <p:spPr>
          <a:xfrm>
            <a:off x="916686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AI support queries</a:t>
            </a:r>
            <a:endParaRPr lang="en-US" sz="1050" dirty="0"/>
          </a:p>
        </p:txBody>
      </p:sp>
      <p:sp>
        <p:nvSpPr>
          <p:cNvPr id="111" name="Text 106"/>
          <p:cNvSpPr txBox="1"/>
          <p:nvPr/>
        </p:nvSpPr>
        <p:spPr>
          <a:xfrm>
            <a:off x="916686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12" name="Text 107"/>
          <p:cNvSpPr txBox="1"/>
          <p:nvPr/>
        </p:nvSpPr>
        <p:spPr>
          <a:xfrm>
            <a:off x="1060246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atemIsa_202508993_IT9002_NLP_Project/emyaa-ceo-deck/working/charts/board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188720"/>
            <a:ext cx="12191695" cy="24689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66928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F3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PLATFORM ANALYTICS  |  PERFORMANCE DASHBOARD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57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 date: 29 Jul 2026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868680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6CFE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Reporting period: 14 May 2026 - 28 Jul 2026   |   Change on each card is against the previous report, 28 Jul 2026</a:t>
            </a:r>
            <a:endParaRPr lang="en-US" sz="1000" dirty="0"/>
          </a:p>
        </p:txBody>
      </p:sp>
      <p:pic>
        <p:nvPicPr>
          <p:cNvPr id="7" name="Image 1" descr="/home/user/HatemIsa_202508993_IT9002_NLP_Project/emyaa-ceo-deck/working/charts/ajy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02336"/>
            <a:ext cx="13258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" y="6272784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Source: eMYAA Daily Performance Dashboard, eMYAA_-_Daily_Performance_Dashboard-1.pdf, page 40. This report labels the money card 'Total Deposits'; later reports label the same measure 'Total AUM'.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eMYAA Trading Platform  |  Daily Performance Dashboard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9802368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43</a:t>
            </a:r>
            <a:endParaRPr lang="en-US" sz="800" dirty="0"/>
          </a:p>
        </p:txBody>
      </p:sp>
      <p:pic>
        <p:nvPicPr>
          <p:cNvPr id="11" name="Image 2" descr="/home/user/HatemIsa_202508993_IT9002_NLP_Project/emyaa-ceo-deck/working/charts/emyaa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6336792"/>
            <a:ext cx="1024128" cy="3657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66928" y="1408176"/>
            <a:ext cx="45720" cy="155448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665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DOWNLOADS &amp; RATINGS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6692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66928" y="170078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152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177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downloads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 Store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216712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6692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66928" y="279806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3152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99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73152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downloads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73152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Apple App Store</a:t>
            </a:r>
            <a:endParaRPr lang="en-US" sz="850" dirty="0"/>
          </a:p>
        </p:txBody>
      </p:sp>
      <p:sp>
        <p:nvSpPr>
          <p:cNvPr id="25" name="Text 20"/>
          <p:cNvSpPr txBox="1"/>
          <p:nvPr/>
        </p:nvSpPr>
        <p:spPr>
          <a:xfrm>
            <a:off x="216712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6692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66928" y="389534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3152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29" name="Text 24"/>
          <p:cNvSpPr txBox="1"/>
          <p:nvPr/>
        </p:nvSpPr>
        <p:spPr>
          <a:xfrm>
            <a:off x="73152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app rating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73152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Play, 2 reviews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56692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66928" y="499262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3152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34" name="Text 29"/>
          <p:cNvSpPr txBox="1"/>
          <p:nvPr/>
        </p:nvSpPr>
        <p:spPr>
          <a:xfrm>
            <a:off x="73152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app rating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73152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 Store, 2 reviews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3378708" y="1408176"/>
            <a:ext cx="45720" cy="155448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48843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 ACTIVITY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337870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3378708" y="170078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354330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8</a:t>
            </a:r>
            <a:endParaRPr lang="en-US" sz="2400" dirty="0"/>
          </a:p>
        </p:txBody>
      </p:sp>
      <p:sp>
        <p:nvSpPr>
          <p:cNvPr id="41" name="Text 36"/>
          <p:cNvSpPr txBox="1"/>
          <p:nvPr/>
        </p:nvSpPr>
        <p:spPr>
          <a:xfrm>
            <a:off x="354330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deposited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354330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Funded accounts</a:t>
            </a:r>
            <a:endParaRPr lang="en-US" sz="850" dirty="0"/>
          </a:p>
        </p:txBody>
      </p:sp>
      <p:sp>
        <p:nvSpPr>
          <p:cNvPr id="43" name="Text 38"/>
          <p:cNvSpPr txBox="1"/>
          <p:nvPr/>
        </p:nvSpPr>
        <p:spPr>
          <a:xfrm>
            <a:off x="497890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337870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3378708" y="279806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354330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$4,681.06</a:t>
            </a:r>
            <a:endParaRPr lang="en-US" sz="1900" dirty="0"/>
          </a:p>
        </p:txBody>
      </p:sp>
      <p:sp>
        <p:nvSpPr>
          <p:cNvPr id="47" name="Text 42"/>
          <p:cNvSpPr txBox="1"/>
          <p:nvPr/>
        </p:nvSpPr>
        <p:spPr>
          <a:xfrm>
            <a:off x="354330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deposits</a:t>
            </a:r>
            <a:endParaRPr lang="en-US" sz="1050" dirty="0"/>
          </a:p>
        </p:txBody>
      </p:sp>
      <p:sp>
        <p:nvSpPr>
          <p:cNvPr id="48" name="Text 43"/>
          <p:cNvSpPr txBox="1"/>
          <p:nvPr/>
        </p:nvSpPr>
        <p:spPr>
          <a:xfrm>
            <a:off x="354330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Cumulative platform deposits</a:t>
            </a:r>
            <a:endParaRPr lang="en-US" sz="850" dirty="0"/>
          </a:p>
        </p:txBody>
      </p:sp>
      <p:sp>
        <p:nvSpPr>
          <p:cNvPr id="49" name="Text 44"/>
          <p:cNvSpPr txBox="1"/>
          <p:nvPr/>
        </p:nvSpPr>
        <p:spPr>
          <a:xfrm>
            <a:off x="497890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337870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3378708" y="389534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354330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8</a:t>
            </a:r>
            <a:endParaRPr lang="en-US" sz="2400" dirty="0"/>
          </a:p>
        </p:txBody>
      </p:sp>
      <p:sp>
        <p:nvSpPr>
          <p:cNvPr id="53" name="Text 48"/>
          <p:cNvSpPr txBox="1"/>
          <p:nvPr/>
        </p:nvSpPr>
        <p:spPr>
          <a:xfrm>
            <a:off x="354330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traded</a:t>
            </a:r>
            <a:endParaRPr lang="en-US" sz="1050" dirty="0"/>
          </a:p>
        </p:txBody>
      </p:sp>
      <p:sp>
        <p:nvSpPr>
          <p:cNvPr id="54" name="Text 49"/>
          <p:cNvSpPr txBox="1"/>
          <p:nvPr/>
        </p:nvSpPr>
        <p:spPr>
          <a:xfrm>
            <a:off x="354330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Placed at least 1 trade</a:t>
            </a:r>
            <a:endParaRPr lang="en-US" sz="850" dirty="0"/>
          </a:p>
        </p:txBody>
      </p:sp>
      <p:sp>
        <p:nvSpPr>
          <p:cNvPr id="55" name="Text 50"/>
          <p:cNvSpPr txBox="1"/>
          <p:nvPr/>
        </p:nvSpPr>
        <p:spPr>
          <a:xfrm>
            <a:off x="497890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6" name="Shape 51"/>
          <p:cNvSpPr/>
          <p:nvPr/>
        </p:nvSpPr>
        <p:spPr>
          <a:xfrm>
            <a:off x="337870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3378708" y="499262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354330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21</a:t>
            </a:r>
            <a:endParaRPr lang="en-US" sz="2400" dirty="0"/>
          </a:p>
        </p:txBody>
      </p:sp>
      <p:sp>
        <p:nvSpPr>
          <p:cNvPr id="59" name="Text 54"/>
          <p:cNvSpPr txBox="1"/>
          <p:nvPr/>
        </p:nvSpPr>
        <p:spPr>
          <a:xfrm>
            <a:off x="354330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trades</a:t>
            </a:r>
            <a:endParaRPr lang="en-US" sz="1050" dirty="0"/>
          </a:p>
        </p:txBody>
      </p:sp>
      <p:sp>
        <p:nvSpPr>
          <p:cNvPr id="60" name="Text 55"/>
          <p:cNvSpPr txBox="1"/>
          <p:nvPr/>
        </p:nvSpPr>
        <p:spPr>
          <a:xfrm>
            <a:off x="354330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Executed across all users</a:t>
            </a:r>
            <a:endParaRPr lang="en-US" sz="850" dirty="0"/>
          </a:p>
        </p:txBody>
      </p:sp>
      <p:sp>
        <p:nvSpPr>
          <p:cNvPr id="61" name="Text 56"/>
          <p:cNvSpPr txBox="1"/>
          <p:nvPr/>
        </p:nvSpPr>
        <p:spPr>
          <a:xfrm>
            <a:off x="497890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62" name="Shape 57"/>
          <p:cNvSpPr/>
          <p:nvPr/>
        </p:nvSpPr>
        <p:spPr>
          <a:xfrm>
            <a:off x="6190488" y="1408176"/>
            <a:ext cx="45720" cy="1554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630021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KYC STATUS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619048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6190488" y="170078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635508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31</a:t>
            </a:r>
            <a:endParaRPr lang="en-US" sz="2400" dirty="0"/>
          </a:p>
        </p:txBody>
      </p:sp>
      <p:sp>
        <p:nvSpPr>
          <p:cNvPr id="67" name="Text 62"/>
          <p:cNvSpPr txBox="1"/>
          <p:nvPr/>
        </p:nvSpPr>
        <p:spPr>
          <a:xfrm>
            <a:off x="635508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onboarded</a:t>
            </a:r>
            <a:endParaRPr lang="en-US" sz="1050" dirty="0"/>
          </a:p>
        </p:txBody>
      </p:sp>
      <p:sp>
        <p:nvSpPr>
          <p:cNvPr id="68" name="Text 63"/>
          <p:cNvSpPr txBox="1"/>
          <p:nvPr/>
        </p:nvSpPr>
        <p:spPr>
          <a:xfrm>
            <a:off x="635508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Completed signup and verification</a:t>
            </a:r>
            <a:endParaRPr lang="en-US" sz="850" dirty="0"/>
          </a:p>
        </p:txBody>
      </p:sp>
      <p:sp>
        <p:nvSpPr>
          <p:cNvPr id="69" name="Text 64"/>
          <p:cNvSpPr txBox="1"/>
          <p:nvPr/>
        </p:nvSpPr>
        <p:spPr>
          <a:xfrm>
            <a:off x="779068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+5</a:t>
            </a:r>
            <a:endParaRPr lang="en-US" sz="850" dirty="0"/>
          </a:p>
        </p:txBody>
      </p:sp>
      <p:sp>
        <p:nvSpPr>
          <p:cNvPr id="70" name="Shape 65"/>
          <p:cNvSpPr/>
          <p:nvPr/>
        </p:nvSpPr>
        <p:spPr>
          <a:xfrm>
            <a:off x="619048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6190488" y="279806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2" name="Text 67"/>
          <p:cNvSpPr txBox="1"/>
          <p:nvPr/>
        </p:nvSpPr>
        <p:spPr>
          <a:xfrm>
            <a:off x="635508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113</a:t>
            </a:r>
            <a:endParaRPr lang="en-US" sz="2400" dirty="0"/>
          </a:p>
        </p:txBody>
      </p:sp>
      <p:sp>
        <p:nvSpPr>
          <p:cNvPr id="73" name="Text 68"/>
          <p:cNvSpPr txBox="1"/>
          <p:nvPr/>
        </p:nvSpPr>
        <p:spPr>
          <a:xfrm>
            <a:off x="635508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Incomplete KYC</a:t>
            </a:r>
            <a:endParaRPr lang="en-US" sz="1050" dirty="0"/>
          </a:p>
        </p:txBody>
      </p:sp>
      <p:sp>
        <p:nvSpPr>
          <p:cNvPr id="74" name="Text 69"/>
          <p:cNvSpPr txBox="1"/>
          <p:nvPr/>
        </p:nvSpPr>
        <p:spPr>
          <a:xfrm>
            <a:off x="635508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Started KYC but did not proceed</a:t>
            </a:r>
            <a:endParaRPr lang="en-US" sz="850" dirty="0"/>
          </a:p>
        </p:txBody>
      </p:sp>
      <p:sp>
        <p:nvSpPr>
          <p:cNvPr id="75" name="Text 70"/>
          <p:cNvSpPr txBox="1"/>
          <p:nvPr/>
        </p:nvSpPr>
        <p:spPr>
          <a:xfrm>
            <a:off x="779068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5303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+3</a:t>
            </a:r>
            <a:endParaRPr lang="en-US" sz="850" dirty="0"/>
          </a:p>
        </p:txBody>
      </p:sp>
      <p:sp>
        <p:nvSpPr>
          <p:cNvPr id="76" name="Shape 71"/>
          <p:cNvSpPr/>
          <p:nvPr/>
        </p:nvSpPr>
        <p:spPr>
          <a:xfrm>
            <a:off x="619048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6190488" y="389534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8" name="Text 73"/>
          <p:cNvSpPr txBox="1"/>
          <p:nvPr/>
        </p:nvSpPr>
        <p:spPr>
          <a:xfrm>
            <a:off x="635508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</a:t>
            </a:r>
            <a:endParaRPr lang="en-US" sz="2400" dirty="0"/>
          </a:p>
        </p:txBody>
      </p:sp>
      <p:sp>
        <p:nvSpPr>
          <p:cNvPr id="79" name="Text 74"/>
          <p:cNvSpPr txBox="1"/>
          <p:nvPr/>
        </p:nvSpPr>
        <p:spPr>
          <a:xfrm>
            <a:off x="635508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Rejected KYC</a:t>
            </a:r>
            <a:endParaRPr lang="en-US" sz="1050" dirty="0"/>
          </a:p>
        </p:txBody>
      </p:sp>
      <p:sp>
        <p:nvSpPr>
          <p:cNvPr id="80" name="Text 75"/>
          <p:cNvSpPr txBox="1"/>
          <p:nvPr/>
        </p:nvSpPr>
        <p:spPr>
          <a:xfrm>
            <a:off x="635508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Resubmission required</a:t>
            </a:r>
            <a:endParaRPr lang="en-US" sz="850" dirty="0"/>
          </a:p>
        </p:txBody>
      </p:sp>
      <p:sp>
        <p:nvSpPr>
          <p:cNvPr id="81" name="Text 76"/>
          <p:cNvSpPr txBox="1"/>
          <p:nvPr/>
        </p:nvSpPr>
        <p:spPr>
          <a:xfrm>
            <a:off x="779068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82" name="Shape 77"/>
          <p:cNvSpPr/>
          <p:nvPr/>
        </p:nvSpPr>
        <p:spPr>
          <a:xfrm>
            <a:off x="619048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6190488" y="499262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4" name="Text 79"/>
          <p:cNvSpPr txBox="1"/>
          <p:nvPr/>
        </p:nvSpPr>
        <p:spPr>
          <a:xfrm>
            <a:off x="635508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149</a:t>
            </a:r>
            <a:endParaRPr lang="en-US" sz="2400" dirty="0"/>
          </a:p>
        </p:txBody>
      </p:sp>
      <p:sp>
        <p:nvSpPr>
          <p:cNvPr id="85" name="Text 80"/>
          <p:cNvSpPr txBox="1"/>
          <p:nvPr/>
        </p:nvSpPr>
        <p:spPr>
          <a:xfrm>
            <a:off x="635508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KYC applications</a:t>
            </a:r>
            <a:endParaRPr lang="en-US" sz="1050" dirty="0"/>
          </a:p>
        </p:txBody>
      </p:sp>
      <p:sp>
        <p:nvSpPr>
          <p:cNvPr id="86" name="Text 81"/>
          <p:cNvSpPr txBox="1"/>
          <p:nvPr/>
        </p:nvSpPr>
        <p:spPr>
          <a:xfrm>
            <a:off x="635508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Onboarded + incomplete + rejected</a:t>
            </a:r>
            <a:endParaRPr lang="en-US" sz="850" dirty="0"/>
          </a:p>
        </p:txBody>
      </p:sp>
      <p:sp>
        <p:nvSpPr>
          <p:cNvPr id="87" name="Shape 82"/>
          <p:cNvSpPr/>
          <p:nvPr/>
        </p:nvSpPr>
        <p:spPr>
          <a:xfrm>
            <a:off x="9002268" y="1408176"/>
            <a:ext cx="45720" cy="155448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88" name="Text 83"/>
          <p:cNvSpPr txBox="1"/>
          <p:nvPr/>
        </p:nvSpPr>
        <p:spPr>
          <a:xfrm>
            <a:off x="911199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SUPPORT TICKETS</a:t>
            </a:r>
            <a:endParaRPr lang="en-US" sz="900" dirty="0"/>
          </a:p>
        </p:txBody>
      </p:sp>
      <p:sp>
        <p:nvSpPr>
          <p:cNvPr id="89" name="Shape 84"/>
          <p:cNvSpPr/>
          <p:nvPr/>
        </p:nvSpPr>
        <p:spPr>
          <a:xfrm>
            <a:off x="900226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9002268" y="170078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1" name="Text 86"/>
          <p:cNvSpPr txBox="1"/>
          <p:nvPr/>
        </p:nvSpPr>
        <p:spPr>
          <a:xfrm>
            <a:off x="916686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</a:t>
            </a:r>
            <a:endParaRPr lang="en-US" sz="2400" dirty="0"/>
          </a:p>
        </p:txBody>
      </p:sp>
      <p:sp>
        <p:nvSpPr>
          <p:cNvPr id="92" name="Text 87"/>
          <p:cNvSpPr txBox="1"/>
          <p:nvPr/>
        </p:nvSpPr>
        <p:spPr>
          <a:xfrm>
            <a:off x="916686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created</a:t>
            </a:r>
            <a:endParaRPr lang="en-US" sz="1050" dirty="0"/>
          </a:p>
        </p:txBody>
      </p:sp>
      <p:sp>
        <p:nvSpPr>
          <p:cNvPr id="93" name="Text 88"/>
          <p:cNvSpPr txBox="1"/>
          <p:nvPr/>
        </p:nvSpPr>
        <p:spPr>
          <a:xfrm>
            <a:off x="916686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94" name="Text 89"/>
          <p:cNvSpPr txBox="1"/>
          <p:nvPr/>
        </p:nvSpPr>
        <p:spPr>
          <a:xfrm>
            <a:off x="1060246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95" name="Shape 90"/>
          <p:cNvSpPr/>
          <p:nvPr/>
        </p:nvSpPr>
        <p:spPr>
          <a:xfrm>
            <a:off x="900226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9002268" y="279806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7" name="Text 92"/>
          <p:cNvSpPr txBox="1"/>
          <p:nvPr/>
        </p:nvSpPr>
        <p:spPr>
          <a:xfrm>
            <a:off x="916686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</a:t>
            </a:r>
            <a:endParaRPr lang="en-US" sz="2400" dirty="0"/>
          </a:p>
        </p:txBody>
      </p:sp>
      <p:sp>
        <p:nvSpPr>
          <p:cNvPr id="98" name="Text 93"/>
          <p:cNvSpPr txBox="1"/>
          <p:nvPr/>
        </p:nvSpPr>
        <p:spPr>
          <a:xfrm>
            <a:off x="916686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resolved</a:t>
            </a:r>
            <a:endParaRPr lang="en-US" sz="1050" dirty="0"/>
          </a:p>
        </p:txBody>
      </p:sp>
      <p:sp>
        <p:nvSpPr>
          <p:cNvPr id="99" name="Text 94"/>
          <p:cNvSpPr txBox="1"/>
          <p:nvPr/>
        </p:nvSpPr>
        <p:spPr>
          <a:xfrm>
            <a:off x="916686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100% of tickets created</a:t>
            </a:r>
            <a:endParaRPr lang="en-US" sz="850" dirty="0"/>
          </a:p>
        </p:txBody>
      </p:sp>
      <p:sp>
        <p:nvSpPr>
          <p:cNvPr id="100" name="Text 95"/>
          <p:cNvSpPr txBox="1"/>
          <p:nvPr/>
        </p:nvSpPr>
        <p:spPr>
          <a:xfrm>
            <a:off x="1060246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1" name="Shape 96"/>
          <p:cNvSpPr/>
          <p:nvPr/>
        </p:nvSpPr>
        <p:spPr>
          <a:xfrm>
            <a:off x="900226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9002268" y="389534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3" name="Text 98"/>
          <p:cNvSpPr txBox="1"/>
          <p:nvPr/>
        </p:nvSpPr>
        <p:spPr>
          <a:xfrm>
            <a:off x="916686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</a:t>
            </a:r>
            <a:endParaRPr lang="en-US" sz="2400" dirty="0"/>
          </a:p>
        </p:txBody>
      </p:sp>
      <p:sp>
        <p:nvSpPr>
          <p:cNvPr id="104" name="Text 99"/>
          <p:cNvSpPr txBox="1"/>
          <p:nvPr/>
        </p:nvSpPr>
        <p:spPr>
          <a:xfrm>
            <a:off x="916686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Email queries</a:t>
            </a:r>
            <a:endParaRPr lang="en-US" sz="1050" dirty="0"/>
          </a:p>
        </p:txBody>
      </p:sp>
      <p:sp>
        <p:nvSpPr>
          <p:cNvPr id="105" name="Text 100"/>
          <p:cNvSpPr txBox="1"/>
          <p:nvPr/>
        </p:nvSpPr>
        <p:spPr>
          <a:xfrm>
            <a:off x="916686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06" name="Text 101"/>
          <p:cNvSpPr txBox="1"/>
          <p:nvPr/>
        </p:nvSpPr>
        <p:spPr>
          <a:xfrm>
            <a:off x="1060246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7" name="Shape 102"/>
          <p:cNvSpPr/>
          <p:nvPr/>
        </p:nvSpPr>
        <p:spPr>
          <a:xfrm>
            <a:off x="900226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9002268" y="499262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9" name="Text 104"/>
          <p:cNvSpPr txBox="1"/>
          <p:nvPr/>
        </p:nvSpPr>
        <p:spPr>
          <a:xfrm>
            <a:off x="916686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21</a:t>
            </a:r>
            <a:endParaRPr lang="en-US" sz="2400" dirty="0"/>
          </a:p>
        </p:txBody>
      </p:sp>
      <p:sp>
        <p:nvSpPr>
          <p:cNvPr id="110" name="Text 105"/>
          <p:cNvSpPr txBox="1"/>
          <p:nvPr/>
        </p:nvSpPr>
        <p:spPr>
          <a:xfrm>
            <a:off x="916686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AI support queries</a:t>
            </a:r>
            <a:endParaRPr lang="en-US" sz="1050" dirty="0"/>
          </a:p>
        </p:txBody>
      </p:sp>
      <p:sp>
        <p:nvSpPr>
          <p:cNvPr id="111" name="Text 106"/>
          <p:cNvSpPr txBox="1"/>
          <p:nvPr/>
        </p:nvSpPr>
        <p:spPr>
          <a:xfrm>
            <a:off x="916686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12" name="Text 107"/>
          <p:cNvSpPr txBox="1"/>
          <p:nvPr/>
        </p:nvSpPr>
        <p:spPr>
          <a:xfrm>
            <a:off x="1060246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atemIsa_202508993_IT9002_NLP_Project/emyaa-ceo-deck/working/charts/board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188720"/>
            <a:ext cx="12191695" cy="24689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66928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F3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PLATFORM ANALYTICS  |  PERFORMANCE DASHBOARD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57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 date: 28 Jul 2026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868680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6CFE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Reporting period: 14 May 2026 - 27 Jul 2026   |   Change on each card is against the previous report, 19 Jul 2026</a:t>
            </a:r>
            <a:endParaRPr lang="en-US" sz="1000" dirty="0"/>
          </a:p>
        </p:txBody>
      </p:sp>
      <p:pic>
        <p:nvPicPr>
          <p:cNvPr id="7" name="Image 1" descr="/home/user/HatemIsa_202508993_IT9002_NLP_Project/emyaa-ceo-deck/working/charts/ajy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02336"/>
            <a:ext cx="13258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" y="6272784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Source: eMYAA Daily Performance Dashboard, eMYAA_-_Daily_Performance_Dashboard-1.pdf, page 41. This report labels the money card 'Total Deposits'; later reports label the same measure 'Total AUM'.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eMYAA Trading Platform  |  Daily Performance Dashboard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9802368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44</a:t>
            </a:r>
            <a:endParaRPr lang="en-US" sz="800" dirty="0"/>
          </a:p>
        </p:txBody>
      </p:sp>
      <p:pic>
        <p:nvPicPr>
          <p:cNvPr id="11" name="Image 2" descr="/home/user/HatemIsa_202508993_IT9002_NLP_Project/emyaa-ceo-deck/working/charts/emyaa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6336792"/>
            <a:ext cx="1024128" cy="3657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66928" y="1408176"/>
            <a:ext cx="45720" cy="155448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665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DOWNLOADS &amp; RATINGS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6692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66928" y="170078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152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177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downloads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 Store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216712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+5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6692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66928" y="279806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3152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99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73152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downloads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73152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Apple App Store</a:t>
            </a:r>
            <a:endParaRPr lang="en-US" sz="850" dirty="0"/>
          </a:p>
        </p:txBody>
      </p:sp>
      <p:sp>
        <p:nvSpPr>
          <p:cNvPr id="25" name="Text 20"/>
          <p:cNvSpPr txBox="1"/>
          <p:nvPr/>
        </p:nvSpPr>
        <p:spPr>
          <a:xfrm>
            <a:off x="216712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+10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6692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66928" y="389534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3152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29" name="Text 24"/>
          <p:cNvSpPr txBox="1"/>
          <p:nvPr/>
        </p:nvSpPr>
        <p:spPr>
          <a:xfrm>
            <a:off x="73152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app rating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73152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Play, 2 reviews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56692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66928" y="499262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3152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34" name="Text 29"/>
          <p:cNvSpPr txBox="1"/>
          <p:nvPr/>
        </p:nvSpPr>
        <p:spPr>
          <a:xfrm>
            <a:off x="73152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app rating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73152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 Store, 2 reviews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3378708" y="1408176"/>
            <a:ext cx="45720" cy="155448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48843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 ACTIVITY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337870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3378708" y="170078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354330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8</a:t>
            </a:r>
            <a:endParaRPr lang="en-US" sz="2400" dirty="0"/>
          </a:p>
        </p:txBody>
      </p:sp>
      <p:sp>
        <p:nvSpPr>
          <p:cNvPr id="41" name="Text 36"/>
          <p:cNvSpPr txBox="1"/>
          <p:nvPr/>
        </p:nvSpPr>
        <p:spPr>
          <a:xfrm>
            <a:off x="354330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deposited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354330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Funded accounts</a:t>
            </a:r>
            <a:endParaRPr lang="en-US" sz="850" dirty="0"/>
          </a:p>
        </p:txBody>
      </p:sp>
      <p:sp>
        <p:nvSpPr>
          <p:cNvPr id="43" name="Text 38"/>
          <p:cNvSpPr txBox="1"/>
          <p:nvPr/>
        </p:nvSpPr>
        <p:spPr>
          <a:xfrm>
            <a:off x="497890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337870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3378708" y="279806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354330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$4,681.06</a:t>
            </a:r>
            <a:endParaRPr lang="en-US" sz="1900" dirty="0"/>
          </a:p>
        </p:txBody>
      </p:sp>
      <p:sp>
        <p:nvSpPr>
          <p:cNvPr id="47" name="Text 42"/>
          <p:cNvSpPr txBox="1"/>
          <p:nvPr/>
        </p:nvSpPr>
        <p:spPr>
          <a:xfrm>
            <a:off x="354330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deposits</a:t>
            </a:r>
            <a:endParaRPr lang="en-US" sz="1050" dirty="0"/>
          </a:p>
        </p:txBody>
      </p:sp>
      <p:sp>
        <p:nvSpPr>
          <p:cNvPr id="48" name="Text 43"/>
          <p:cNvSpPr txBox="1"/>
          <p:nvPr/>
        </p:nvSpPr>
        <p:spPr>
          <a:xfrm>
            <a:off x="354330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Cumulative platform deposits</a:t>
            </a:r>
            <a:endParaRPr lang="en-US" sz="850" dirty="0"/>
          </a:p>
        </p:txBody>
      </p:sp>
      <p:sp>
        <p:nvSpPr>
          <p:cNvPr id="49" name="Text 44"/>
          <p:cNvSpPr txBox="1"/>
          <p:nvPr/>
        </p:nvSpPr>
        <p:spPr>
          <a:xfrm>
            <a:off x="497890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+$396.88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337870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3378708" y="389534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354330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8</a:t>
            </a:r>
            <a:endParaRPr lang="en-US" sz="2400" dirty="0"/>
          </a:p>
        </p:txBody>
      </p:sp>
      <p:sp>
        <p:nvSpPr>
          <p:cNvPr id="53" name="Text 48"/>
          <p:cNvSpPr txBox="1"/>
          <p:nvPr/>
        </p:nvSpPr>
        <p:spPr>
          <a:xfrm>
            <a:off x="354330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traded</a:t>
            </a:r>
            <a:endParaRPr lang="en-US" sz="1050" dirty="0"/>
          </a:p>
        </p:txBody>
      </p:sp>
      <p:sp>
        <p:nvSpPr>
          <p:cNvPr id="54" name="Text 49"/>
          <p:cNvSpPr txBox="1"/>
          <p:nvPr/>
        </p:nvSpPr>
        <p:spPr>
          <a:xfrm>
            <a:off x="354330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Placed at least 1 trade</a:t>
            </a:r>
            <a:endParaRPr lang="en-US" sz="850" dirty="0"/>
          </a:p>
        </p:txBody>
      </p:sp>
      <p:sp>
        <p:nvSpPr>
          <p:cNvPr id="55" name="Text 50"/>
          <p:cNvSpPr txBox="1"/>
          <p:nvPr/>
        </p:nvSpPr>
        <p:spPr>
          <a:xfrm>
            <a:off x="497890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6" name="Shape 51"/>
          <p:cNvSpPr/>
          <p:nvPr/>
        </p:nvSpPr>
        <p:spPr>
          <a:xfrm>
            <a:off x="337870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3378708" y="499262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354330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21</a:t>
            </a:r>
            <a:endParaRPr lang="en-US" sz="2400" dirty="0"/>
          </a:p>
        </p:txBody>
      </p:sp>
      <p:sp>
        <p:nvSpPr>
          <p:cNvPr id="59" name="Text 54"/>
          <p:cNvSpPr txBox="1"/>
          <p:nvPr/>
        </p:nvSpPr>
        <p:spPr>
          <a:xfrm>
            <a:off x="354330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trades</a:t>
            </a:r>
            <a:endParaRPr lang="en-US" sz="1050" dirty="0"/>
          </a:p>
        </p:txBody>
      </p:sp>
      <p:sp>
        <p:nvSpPr>
          <p:cNvPr id="60" name="Text 55"/>
          <p:cNvSpPr txBox="1"/>
          <p:nvPr/>
        </p:nvSpPr>
        <p:spPr>
          <a:xfrm>
            <a:off x="354330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Executed across all users</a:t>
            </a:r>
            <a:endParaRPr lang="en-US" sz="850" dirty="0"/>
          </a:p>
        </p:txBody>
      </p:sp>
      <p:sp>
        <p:nvSpPr>
          <p:cNvPr id="61" name="Text 56"/>
          <p:cNvSpPr txBox="1"/>
          <p:nvPr/>
        </p:nvSpPr>
        <p:spPr>
          <a:xfrm>
            <a:off x="497890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62" name="Shape 57"/>
          <p:cNvSpPr/>
          <p:nvPr/>
        </p:nvSpPr>
        <p:spPr>
          <a:xfrm>
            <a:off x="6190488" y="1408176"/>
            <a:ext cx="45720" cy="1554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630021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KYC STATUS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619048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6190488" y="170078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635508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26</a:t>
            </a:r>
            <a:endParaRPr lang="en-US" sz="2400" dirty="0"/>
          </a:p>
        </p:txBody>
      </p:sp>
      <p:sp>
        <p:nvSpPr>
          <p:cNvPr id="67" name="Text 62"/>
          <p:cNvSpPr txBox="1"/>
          <p:nvPr/>
        </p:nvSpPr>
        <p:spPr>
          <a:xfrm>
            <a:off x="635508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onboarded</a:t>
            </a:r>
            <a:endParaRPr lang="en-US" sz="1050" dirty="0"/>
          </a:p>
        </p:txBody>
      </p:sp>
      <p:sp>
        <p:nvSpPr>
          <p:cNvPr id="68" name="Text 63"/>
          <p:cNvSpPr txBox="1"/>
          <p:nvPr/>
        </p:nvSpPr>
        <p:spPr>
          <a:xfrm>
            <a:off x="635508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Completed signup and verification</a:t>
            </a:r>
            <a:endParaRPr lang="en-US" sz="850" dirty="0"/>
          </a:p>
        </p:txBody>
      </p:sp>
      <p:sp>
        <p:nvSpPr>
          <p:cNvPr id="69" name="Text 64"/>
          <p:cNvSpPr txBox="1"/>
          <p:nvPr/>
        </p:nvSpPr>
        <p:spPr>
          <a:xfrm>
            <a:off x="779068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+2</a:t>
            </a:r>
            <a:endParaRPr lang="en-US" sz="850" dirty="0"/>
          </a:p>
        </p:txBody>
      </p:sp>
      <p:sp>
        <p:nvSpPr>
          <p:cNvPr id="70" name="Shape 65"/>
          <p:cNvSpPr/>
          <p:nvPr/>
        </p:nvSpPr>
        <p:spPr>
          <a:xfrm>
            <a:off x="619048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6190488" y="279806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2" name="Text 67"/>
          <p:cNvSpPr txBox="1"/>
          <p:nvPr/>
        </p:nvSpPr>
        <p:spPr>
          <a:xfrm>
            <a:off x="635508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110</a:t>
            </a:r>
            <a:endParaRPr lang="en-US" sz="2400" dirty="0"/>
          </a:p>
        </p:txBody>
      </p:sp>
      <p:sp>
        <p:nvSpPr>
          <p:cNvPr id="73" name="Text 68"/>
          <p:cNvSpPr txBox="1"/>
          <p:nvPr/>
        </p:nvSpPr>
        <p:spPr>
          <a:xfrm>
            <a:off x="635508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Incomplete KYC</a:t>
            </a:r>
            <a:endParaRPr lang="en-US" sz="1050" dirty="0"/>
          </a:p>
        </p:txBody>
      </p:sp>
      <p:sp>
        <p:nvSpPr>
          <p:cNvPr id="74" name="Text 69"/>
          <p:cNvSpPr txBox="1"/>
          <p:nvPr/>
        </p:nvSpPr>
        <p:spPr>
          <a:xfrm>
            <a:off x="635508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Started KYC but did not proceed</a:t>
            </a:r>
            <a:endParaRPr lang="en-US" sz="850" dirty="0"/>
          </a:p>
        </p:txBody>
      </p:sp>
      <p:sp>
        <p:nvSpPr>
          <p:cNvPr id="75" name="Text 70"/>
          <p:cNvSpPr txBox="1"/>
          <p:nvPr/>
        </p:nvSpPr>
        <p:spPr>
          <a:xfrm>
            <a:off x="779068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5303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+7</a:t>
            </a:r>
            <a:endParaRPr lang="en-US" sz="850" dirty="0"/>
          </a:p>
        </p:txBody>
      </p:sp>
      <p:sp>
        <p:nvSpPr>
          <p:cNvPr id="76" name="Shape 71"/>
          <p:cNvSpPr/>
          <p:nvPr/>
        </p:nvSpPr>
        <p:spPr>
          <a:xfrm>
            <a:off x="619048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6190488" y="389534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8" name="Text 73"/>
          <p:cNvSpPr txBox="1"/>
          <p:nvPr/>
        </p:nvSpPr>
        <p:spPr>
          <a:xfrm>
            <a:off x="635508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</a:t>
            </a:r>
            <a:endParaRPr lang="en-US" sz="2400" dirty="0"/>
          </a:p>
        </p:txBody>
      </p:sp>
      <p:sp>
        <p:nvSpPr>
          <p:cNvPr id="79" name="Text 74"/>
          <p:cNvSpPr txBox="1"/>
          <p:nvPr/>
        </p:nvSpPr>
        <p:spPr>
          <a:xfrm>
            <a:off x="635508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Rejected KYC</a:t>
            </a:r>
            <a:endParaRPr lang="en-US" sz="1050" dirty="0"/>
          </a:p>
        </p:txBody>
      </p:sp>
      <p:sp>
        <p:nvSpPr>
          <p:cNvPr id="80" name="Text 75"/>
          <p:cNvSpPr txBox="1"/>
          <p:nvPr/>
        </p:nvSpPr>
        <p:spPr>
          <a:xfrm>
            <a:off x="635508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Resubmission required</a:t>
            </a:r>
            <a:endParaRPr lang="en-US" sz="850" dirty="0"/>
          </a:p>
        </p:txBody>
      </p:sp>
      <p:sp>
        <p:nvSpPr>
          <p:cNvPr id="81" name="Text 76"/>
          <p:cNvSpPr txBox="1"/>
          <p:nvPr/>
        </p:nvSpPr>
        <p:spPr>
          <a:xfrm>
            <a:off x="779068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-2</a:t>
            </a:r>
            <a:endParaRPr lang="en-US" sz="850" dirty="0"/>
          </a:p>
        </p:txBody>
      </p:sp>
      <p:sp>
        <p:nvSpPr>
          <p:cNvPr id="82" name="Shape 77"/>
          <p:cNvSpPr/>
          <p:nvPr/>
        </p:nvSpPr>
        <p:spPr>
          <a:xfrm>
            <a:off x="619048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6190488" y="499262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4" name="Text 79"/>
          <p:cNvSpPr txBox="1"/>
          <p:nvPr/>
        </p:nvSpPr>
        <p:spPr>
          <a:xfrm>
            <a:off x="635508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141</a:t>
            </a:r>
            <a:endParaRPr lang="en-US" sz="2400" dirty="0"/>
          </a:p>
        </p:txBody>
      </p:sp>
      <p:sp>
        <p:nvSpPr>
          <p:cNvPr id="85" name="Text 80"/>
          <p:cNvSpPr txBox="1"/>
          <p:nvPr/>
        </p:nvSpPr>
        <p:spPr>
          <a:xfrm>
            <a:off x="635508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KYC applications</a:t>
            </a:r>
            <a:endParaRPr lang="en-US" sz="1050" dirty="0"/>
          </a:p>
        </p:txBody>
      </p:sp>
      <p:sp>
        <p:nvSpPr>
          <p:cNvPr id="86" name="Text 81"/>
          <p:cNvSpPr txBox="1"/>
          <p:nvPr/>
        </p:nvSpPr>
        <p:spPr>
          <a:xfrm>
            <a:off x="635508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Onboarded + incomplete + rejected</a:t>
            </a:r>
            <a:endParaRPr lang="en-US" sz="850" dirty="0"/>
          </a:p>
        </p:txBody>
      </p:sp>
      <p:sp>
        <p:nvSpPr>
          <p:cNvPr id="87" name="Shape 82"/>
          <p:cNvSpPr/>
          <p:nvPr/>
        </p:nvSpPr>
        <p:spPr>
          <a:xfrm>
            <a:off x="9002268" y="1408176"/>
            <a:ext cx="45720" cy="155448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88" name="Text 83"/>
          <p:cNvSpPr txBox="1"/>
          <p:nvPr/>
        </p:nvSpPr>
        <p:spPr>
          <a:xfrm>
            <a:off x="911199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SUPPORT TICKETS</a:t>
            </a:r>
            <a:endParaRPr lang="en-US" sz="900" dirty="0"/>
          </a:p>
        </p:txBody>
      </p:sp>
      <p:sp>
        <p:nvSpPr>
          <p:cNvPr id="89" name="Shape 84"/>
          <p:cNvSpPr/>
          <p:nvPr/>
        </p:nvSpPr>
        <p:spPr>
          <a:xfrm>
            <a:off x="900226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9002268" y="170078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1" name="Text 86"/>
          <p:cNvSpPr txBox="1"/>
          <p:nvPr/>
        </p:nvSpPr>
        <p:spPr>
          <a:xfrm>
            <a:off x="916686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</a:t>
            </a:r>
            <a:endParaRPr lang="en-US" sz="2400" dirty="0"/>
          </a:p>
        </p:txBody>
      </p:sp>
      <p:sp>
        <p:nvSpPr>
          <p:cNvPr id="92" name="Text 87"/>
          <p:cNvSpPr txBox="1"/>
          <p:nvPr/>
        </p:nvSpPr>
        <p:spPr>
          <a:xfrm>
            <a:off x="916686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created</a:t>
            </a:r>
            <a:endParaRPr lang="en-US" sz="1050" dirty="0"/>
          </a:p>
        </p:txBody>
      </p:sp>
      <p:sp>
        <p:nvSpPr>
          <p:cNvPr id="93" name="Text 88"/>
          <p:cNvSpPr txBox="1"/>
          <p:nvPr/>
        </p:nvSpPr>
        <p:spPr>
          <a:xfrm>
            <a:off x="916686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94" name="Text 89"/>
          <p:cNvSpPr txBox="1"/>
          <p:nvPr/>
        </p:nvSpPr>
        <p:spPr>
          <a:xfrm>
            <a:off x="1060246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95" name="Shape 90"/>
          <p:cNvSpPr/>
          <p:nvPr/>
        </p:nvSpPr>
        <p:spPr>
          <a:xfrm>
            <a:off x="900226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9002268" y="279806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7" name="Text 92"/>
          <p:cNvSpPr txBox="1"/>
          <p:nvPr/>
        </p:nvSpPr>
        <p:spPr>
          <a:xfrm>
            <a:off x="916686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</a:t>
            </a:r>
            <a:endParaRPr lang="en-US" sz="2400" dirty="0"/>
          </a:p>
        </p:txBody>
      </p:sp>
      <p:sp>
        <p:nvSpPr>
          <p:cNvPr id="98" name="Text 93"/>
          <p:cNvSpPr txBox="1"/>
          <p:nvPr/>
        </p:nvSpPr>
        <p:spPr>
          <a:xfrm>
            <a:off x="916686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resolved</a:t>
            </a:r>
            <a:endParaRPr lang="en-US" sz="1050" dirty="0"/>
          </a:p>
        </p:txBody>
      </p:sp>
      <p:sp>
        <p:nvSpPr>
          <p:cNvPr id="99" name="Text 94"/>
          <p:cNvSpPr txBox="1"/>
          <p:nvPr/>
        </p:nvSpPr>
        <p:spPr>
          <a:xfrm>
            <a:off x="916686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100% of tickets created</a:t>
            </a:r>
            <a:endParaRPr lang="en-US" sz="850" dirty="0"/>
          </a:p>
        </p:txBody>
      </p:sp>
      <p:sp>
        <p:nvSpPr>
          <p:cNvPr id="100" name="Text 95"/>
          <p:cNvSpPr txBox="1"/>
          <p:nvPr/>
        </p:nvSpPr>
        <p:spPr>
          <a:xfrm>
            <a:off x="1060246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1" name="Shape 96"/>
          <p:cNvSpPr/>
          <p:nvPr/>
        </p:nvSpPr>
        <p:spPr>
          <a:xfrm>
            <a:off x="900226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9002268" y="389534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3" name="Text 98"/>
          <p:cNvSpPr txBox="1"/>
          <p:nvPr/>
        </p:nvSpPr>
        <p:spPr>
          <a:xfrm>
            <a:off x="916686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</a:t>
            </a:r>
            <a:endParaRPr lang="en-US" sz="2400" dirty="0"/>
          </a:p>
        </p:txBody>
      </p:sp>
      <p:sp>
        <p:nvSpPr>
          <p:cNvPr id="104" name="Text 99"/>
          <p:cNvSpPr txBox="1"/>
          <p:nvPr/>
        </p:nvSpPr>
        <p:spPr>
          <a:xfrm>
            <a:off x="916686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Email queries</a:t>
            </a:r>
            <a:endParaRPr lang="en-US" sz="1050" dirty="0"/>
          </a:p>
        </p:txBody>
      </p:sp>
      <p:sp>
        <p:nvSpPr>
          <p:cNvPr id="105" name="Text 100"/>
          <p:cNvSpPr txBox="1"/>
          <p:nvPr/>
        </p:nvSpPr>
        <p:spPr>
          <a:xfrm>
            <a:off x="916686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06" name="Text 101"/>
          <p:cNvSpPr txBox="1"/>
          <p:nvPr/>
        </p:nvSpPr>
        <p:spPr>
          <a:xfrm>
            <a:off x="1060246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7" name="Shape 102"/>
          <p:cNvSpPr/>
          <p:nvPr/>
        </p:nvSpPr>
        <p:spPr>
          <a:xfrm>
            <a:off x="900226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9002268" y="499262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9" name="Text 104"/>
          <p:cNvSpPr txBox="1"/>
          <p:nvPr/>
        </p:nvSpPr>
        <p:spPr>
          <a:xfrm>
            <a:off x="916686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21</a:t>
            </a:r>
            <a:endParaRPr lang="en-US" sz="2400" dirty="0"/>
          </a:p>
        </p:txBody>
      </p:sp>
      <p:sp>
        <p:nvSpPr>
          <p:cNvPr id="110" name="Text 105"/>
          <p:cNvSpPr txBox="1"/>
          <p:nvPr/>
        </p:nvSpPr>
        <p:spPr>
          <a:xfrm>
            <a:off x="916686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AI support queries</a:t>
            </a:r>
            <a:endParaRPr lang="en-US" sz="1050" dirty="0"/>
          </a:p>
        </p:txBody>
      </p:sp>
      <p:sp>
        <p:nvSpPr>
          <p:cNvPr id="111" name="Text 106"/>
          <p:cNvSpPr txBox="1"/>
          <p:nvPr/>
        </p:nvSpPr>
        <p:spPr>
          <a:xfrm>
            <a:off x="916686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12" name="Text 107"/>
          <p:cNvSpPr txBox="1"/>
          <p:nvPr/>
        </p:nvSpPr>
        <p:spPr>
          <a:xfrm>
            <a:off x="1060246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atemIsa_202508993_IT9002_NLP_Project/emyaa-ceo-deck/working/charts/board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188720"/>
            <a:ext cx="12191695" cy="24689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66928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F3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PLATFORM ANALYTICS  |  PERFORMANCE DASHBOARD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57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 date: 19 Jul 2026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868680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6CFE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Reporting period: 14 May 2026 - 18 Jul 2026   |   Change on each card is against the previous report, 12 Jul 2026</a:t>
            </a:r>
            <a:endParaRPr lang="en-US" sz="1000" dirty="0"/>
          </a:p>
        </p:txBody>
      </p:sp>
      <p:pic>
        <p:nvPicPr>
          <p:cNvPr id="7" name="Image 1" descr="/home/user/HatemIsa_202508993_IT9002_NLP_Project/emyaa-ceo-deck/working/charts/ajy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02336"/>
            <a:ext cx="13258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" y="6272784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Source: eMYAA Daily Performance Dashboard, eMYAA_-_Daily_Performance_Dashboard-1.pdf, page 42. This report labels the money card 'Total Deposits'; later reports label the same measure 'Total AUM'.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eMYAA Trading Platform  |  Daily Performance Dashboard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9802368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45</a:t>
            </a:r>
            <a:endParaRPr lang="en-US" sz="800" dirty="0"/>
          </a:p>
        </p:txBody>
      </p:sp>
      <p:pic>
        <p:nvPicPr>
          <p:cNvPr id="11" name="Image 2" descr="/home/user/HatemIsa_202508993_IT9002_NLP_Project/emyaa-ceo-deck/working/charts/emyaa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6336792"/>
            <a:ext cx="1024128" cy="3657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66928" y="1408176"/>
            <a:ext cx="45720" cy="155448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665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DOWNLOADS &amp; RATINGS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6692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66928" y="170078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152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172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downloads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 Store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216712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+18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6692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66928" y="279806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3152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89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73152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downloads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73152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Apple App Store</a:t>
            </a:r>
            <a:endParaRPr lang="en-US" sz="850" dirty="0"/>
          </a:p>
        </p:txBody>
      </p:sp>
      <p:sp>
        <p:nvSpPr>
          <p:cNvPr id="25" name="Text 20"/>
          <p:cNvSpPr txBox="1"/>
          <p:nvPr/>
        </p:nvSpPr>
        <p:spPr>
          <a:xfrm>
            <a:off x="216712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+4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6692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66928" y="389534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3152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29" name="Text 24"/>
          <p:cNvSpPr txBox="1"/>
          <p:nvPr/>
        </p:nvSpPr>
        <p:spPr>
          <a:xfrm>
            <a:off x="73152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app rating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73152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Play, 2 reviews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56692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66928" y="499262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3152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34" name="Text 29"/>
          <p:cNvSpPr txBox="1"/>
          <p:nvPr/>
        </p:nvSpPr>
        <p:spPr>
          <a:xfrm>
            <a:off x="73152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app rating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73152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 Store, 2 reviews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3378708" y="1408176"/>
            <a:ext cx="45720" cy="155448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48843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 ACTIVITY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337870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3378708" y="170078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354330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7</a:t>
            </a:r>
            <a:endParaRPr lang="en-US" sz="2400" dirty="0"/>
          </a:p>
        </p:txBody>
      </p:sp>
      <p:sp>
        <p:nvSpPr>
          <p:cNvPr id="41" name="Text 36"/>
          <p:cNvSpPr txBox="1"/>
          <p:nvPr/>
        </p:nvSpPr>
        <p:spPr>
          <a:xfrm>
            <a:off x="354330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deposited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354330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Funded accounts</a:t>
            </a:r>
            <a:endParaRPr lang="en-US" sz="850" dirty="0"/>
          </a:p>
        </p:txBody>
      </p:sp>
      <p:sp>
        <p:nvSpPr>
          <p:cNvPr id="43" name="Text 38"/>
          <p:cNvSpPr txBox="1"/>
          <p:nvPr/>
        </p:nvSpPr>
        <p:spPr>
          <a:xfrm>
            <a:off x="497890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337870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3378708" y="279806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354330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$4,284.18</a:t>
            </a:r>
            <a:endParaRPr lang="en-US" sz="1900" dirty="0"/>
          </a:p>
        </p:txBody>
      </p:sp>
      <p:sp>
        <p:nvSpPr>
          <p:cNvPr id="47" name="Text 42"/>
          <p:cNvSpPr txBox="1"/>
          <p:nvPr/>
        </p:nvSpPr>
        <p:spPr>
          <a:xfrm>
            <a:off x="354330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deposits</a:t>
            </a:r>
            <a:endParaRPr lang="en-US" sz="1050" dirty="0"/>
          </a:p>
        </p:txBody>
      </p:sp>
      <p:sp>
        <p:nvSpPr>
          <p:cNvPr id="48" name="Text 43"/>
          <p:cNvSpPr txBox="1"/>
          <p:nvPr/>
        </p:nvSpPr>
        <p:spPr>
          <a:xfrm>
            <a:off x="354330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Cumulative platform deposits</a:t>
            </a:r>
            <a:endParaRPr lang="en-US" sz="850" dirty="0"/>
          </a:p>
        </p:txBody>
      </p:sp>
      <p:sp>
        <p:nvSpPr>
          <p:cNvPr id="49" name="Text 44"/>
          <p:cNvSpPr txBox="1"/>
          <p:nvPr/>
        </p:nvSpPr>
        <p:spPr>
          <a:xfrm>
            <a:off x="497890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337870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3378708" y="389534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354330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8</a:t>
            </a:r>
            <a:endParaRPr lang="en-US" sz="2400" dirty="0"/>
          </a:p>
        </p:txBody>
      </p:sp>
      <p:sp>
        <p:nvSpPr>
          <p:cNvPr id="53" name="Text 48"/>
          <p:cNvSpPr txBox="1"/>
          <p:nvPr/>
        </p:nvSpPr>
        <p:spPr>
          <a:xfrm>
            <a:off x="354330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traded</a:t>
            </a:r>
            <a:endParaRPr lang="en-US" sz="1050" dirty="0"/>
          </a:p>
        </p:txBody>
      </p:sp>
      <p:sp>
        <p:nvSpPr>
          <p:cNvPr id="54" name="Text 49"/>
          <p:cNvSpPr txBox="1"/>
          <p:nvPr/>
        </p:nvSpPr>
        <p:spPr>
          <a:xfrm>
            <a:off x="354330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Placed at least 1 trade</a:t>
            </a:r>
            <a:endParaRPr lang="en-US" sz="850" dirty="0"/>
          </a:p>
        </p:txBody>
      </p:sp>
      <p:sp>
        <p:nvSpPr>
          <p:cNvPr id="55" name="Text 50"/>
          <p:cNvSpPr txBox="1"/>
          <p:nvPr/>
        </p:nvSpPr>
        <p:spPr>
          <a:xfrm>
            <a:off x="497890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+2</a:t>
            </a:r>
            <a:endParaRPr lang="en-US" sz="850" dirty="0"/>
          </a:p>
        </p:txBody>
      </p:sp>
      <p:sp>
        <p:nvSpPr>
          <p:cNvPr id="56" name="Shape 51"/>
          <p:cNvSpPr/>
          <p:nvPr/>
        </p:nvSpPr>
        <p:spPr>
          <a:xfrm>
            <a:off x="337870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3378708" y="499262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354330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21</a:t>
            </a:r>
            <a:endParaRPr lang="en-US" sz="2400" dirty="0"/>
          </a:p>
        </p:txBody>
      </p:sp>
      <p:sp>
        <p:nvSpPr>
          <p:cNvPr id="59" name="Text 54"/>
          <p:cNvSpPr txBox="1"/>
          <p:nvPr/>
        </p:nvSpPr>
        <p:spPr>
          <a:xfrm>
            <a:off x="354330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trades</a:t>
            </a:r>
            <a:endParaRPr lang="en-US" sz="1050" dirty="0"/>
          </a:p>
        </p:txBody>
      </p:sp>
      <p:sp>
        <p:nvSpPr>
          <p:cNvPr id="60" name="Text 55"/>
          <p:cNvSpPr txBox="1"/>
          <p:nvPr/>
        </p:nvSpPr>
        <p:spPr>
          <a:xfrm>
            <a:off x="354330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Executed across all users</a:t>
            </a:r>
            <a:endParaRPr lang="en-US" sz="850" dirty="0"/>
          </a:p>
        </p:txBody>
      </p:sp>
      <p:sp>
        <p:nvSpPr>
          <p:cNvPr id="61" name="Text 56"/>
          <p:cNvSpPr txBox="1"/>
          <p:nvPr/>
        </p:nvSpPr>
        <p:spPr>
          <a:xfrm>
            <a:off x="497890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62" name="Shape 57"/>
          <p:cNvSpPr/>
          <p:nvPr/>
        </p:nvSpPr>
        <p:spPr>
          <a:xfrm>
            <a:off x="6190488" y="1408176"/>
            <a:ext cx="45720" cy="1554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630021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KYC STATUS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619048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6190488" y="170078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635508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</a:t>
            </a:r>
            <a:endParaRPr lang="en-US" sz="2400" dirty="0"/>
          </a:p>
        </p:txBody>
      </p:sp>
      <p:sp>
        <p:nvSpPr>
          <p:cNvPr id="67" name="Text 62"/>
          <p:cNvSpPr txBox="1"/>
          <p:nvPr/>
        </p:nvSpPr>
        <p:spPr>
          <a:xfrm>
            <a:off x="635508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onboarded</a:t>
            </a:r>
            <a:endParaRPr lang="en-US" sz="1050" dirty="0"/>
          </a:p>
        </p:txBody>
      </p:sp>
      <p:sp>
        <p:nvSpPr>
          <p:cNvPr id="68" name="Text 63"/>
          <p:cNvSpPr txBox="1"/>
          <p:nvPr/>
        </p:nvSpPr>
        <p:spPr>
          <a:xfrm>
            <a:off x="635508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Completed signup and verification</a:t>
            </a:r>
            <a:endParaRPr lang="en-US" sz="850" dirty="0"/>
          </a:p>
        </p:txBody>
      </p:sp>
      <p:sp>
        <p:nvSpPr>
          <p:cNvPr id="69" name="Text 64"/>
          <p:cNvSpPr txBox="1"/>
          <p:nvPr/>
        </p:nvSpPr>
        <p:spPr>
          <a:xfrm>
            <a:off x="779068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70" name="Shape 65"/>
          <p:cNvSpPr/>
          <p:nvPr/>
        </p:nvSpPr>
        <p:spPr>
          <a:xfrm>
            <a:off x="619048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6190488" y="279806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2" name="Text 67"/>
          <p:cNvSpPr txBox="1"/>
          <p:nvPr/>
        </p:nvSpPr>
        <p:spPr>
          <a:xfrm>
            <a:off x="635508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103</a:t>
            </a:r>
            <a:endParaRPr lang="en-US" sz="2400" dirty="0"/>
          </a:p>
        </p:txBody>
      </p:sp>
      <p:sp>
        <p:nvSpPr>
          <p:cNvPr id="73" name="Text 68"/>
          <p:cNvSpPr txBox="1"/>
          <p:nvPr/>
        </p:nvSpPr>
        <p:spPr>
          <a:xfrm>
            <a:off x="635508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Incomplete KYC</a:t>
            </a:r>
            <a:endParaRPr lang="en-US" sz="1050" dirty="0"/>
          </a:p>
        </p:txBody>
      </p:sp>
      <p:sp>
        <p:nvSpPr>
          <p:cNvPr id="74" name="Text 69"/>
          <p:cNvSpPr txBox="1"/>
          <p:nvPr/>
        </p:nvSpPr>
        <p:spPr>
          <a:xfrm>
            <a:off x="635508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Started KYC but did not proceed</a:t>
            </a:r>
            <a:endParaRPr lang="en-US" sz="850" dirty="0"/>
          </a:p>
        </p:txBody>
      </p:sp>
      <p:sp>
        <p:nvSpPr>
          <p:cNvPr id="75" name="Text 70"/>
          <p:cNvSpPr txBox="1"/>
          <p:nvPr/>
        </p:nvSpPr>
        <p:spPr>
          <a:xfrm>
            <a:off x="779068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5303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+5</a:t>
            </a:r>
            <a:endParaRPr lang="en-US" sz="850" dirty="0"/>
          </a:p>
        </p:txBody>
      </p:sp>
      <p:sp>
        <p:nvSpPr>
          <p:cNvPr id="76" name="Shape 71"/>
          <p:cNvSpPr/>
          <p:nvPr/>
        </p:nvSpPr>
        <p:spPr>
          <a:xfrm>
            <a:off x="619048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6190488" y="389534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8" name="Text 73"/>
          <p:cNvSpPr txBox="1"/>
          <p:nvPr/>
        </p:nvSpPr>
        <p:spPr>
          <a:xfrm>
            <a:off x="635508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7</a:t>
            </a:r>
            <a:endParaRPr lang="en-US" sz="2400" dirty="0"/>
          </a:p>
        </p:txBody>
      </p:sp>
      <p:sp>
        <p:nvSpPr>
          <p:cNvPr id="79" name="Text 74"/>
          <p:cNvSpPr txBox="1"/>
          <p:nvPr/>
        </p:nvSpPr>
        <p:spPr>
          <a:xfrm>
            <a:off x="635508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Rejected KYC</a:t>
            </a:r>
            <a:endParaRPr lang="en-US" sz="1050" dirty="0"/>
          </a:p>
        </p:txBody>
      </p:sp>
      <p:sp>
        <p:nvSpPr>
          <p:cNvPr id="80" name="Text 75"/>
          <p:cNvSpPr txBox="1"/>
          <p:nvPr/>
        </p:nvSpPr>
        <p:spPr>
          <a:xfrm>
            <a:off x="635508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Resubmission required</a:t>
            </a:r>
            <a:endParaRPr lang="en-US" sz="850" dirty="0"/>
          </a:p>
        </p:txBody>
      </p:sp>
      <p:sp>
        <p:nvSpPr>
          <p:cNvPr id="81" name="Text 76"/>
          <p:cNvSpPr txBox="1"/>
          <p:nvPr/>
        </p:nvSpPr>
        <p:spPr>
          <a:xfrm>
            <a:off x="779068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5303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82" name="Shape 77"/>
          <p:cNvSpPr/>
          <p:nvPr/>
        </p:nvSpPr>
        <p:spPr>
          <a:xfrm>
            <a:off x="619048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6190488" y="499262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4" name="Text 79"/>
          <p:cNvSpPr txBox="1"/>
          <p:nvPr/>
        </p:nvSpPr>
        <p:spPr>
          <a:xfrm>
            <a:off x="635508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134</a:t>
            </a:r>
            <a:endParaRPr lang="en-US" sz="2400" dirty="0"/>
          </a:p>
        </p:txBody>
      </p:sp>
      <p:sp>
        <p:nvSpPr>
          <p:cNvPr id="85" name="Text 80"/>
          <p:cNvSpPr txBox="1"/>
          <p:nvPr/>
        </p:nvSpPr>
        <p:spPr>
          <a:xfrm>
            <a:off x="635508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KYC applications</a:t>
            </a:r>
            <a:endParaRPr lang="en-US" sz="1050" dirty="0"/>
          </a:p>
        </p:txBody>
      </p:sp>
      <p:sp>
        <p:nvSpPr>
          <p:cNvPr id="86" name="Text 81"/>
          <p:cNvSpPr txBox="1"/>
          <p:nvPr/>
        </p:nvSpPr>
        <p:spPr>
          <a:xfrm>
            <a:off x="635508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Onboarded + incomplete + rejected</a:t>
            </a:r>
            <a:endParaRPr lang="en-US" sz="850" dirty="0"/>
          </a:p>
        </p:txBody>
      </p:sp>
      <p:sp>
        <p:nvSpPr>
          <p:cNvPr id="87" name="Shape 82"/>
          <p:cNvSpPr/>
          <p:nvPr/>
        </p:nvSpPr>
        <p:spPr>
          <a:xfrm>
            <a:off x="9002268" y="1408176"/>
            <a:ext cx="45720" cy="155448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88" name="Text 83"/>
          <p:cNvSpPr txBox="1"/>
          <p:nvPr/>
        </p:nvSpPr>
        <p:spPr>
          <a:xfrm>
            <a:off x="911199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SUPPORT TICKETS</a:t>
            </a:r>
            <a:endParaRPr lang="en-US" sz="900" dirty="0"/>
          </a:p>
        </p:txBody>
      </p:sp>
      <p:sp>
        <p:nvSpPr>
          <p:cNvPr id="89" name="Shape 84"/>
          <p:cNvSpPr/>
          <p:nvPr/>
        </p:nvSpPr>
        <p:spPr>
          <a:xfrm>
            <a:off x="900226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9002268" y="170078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1" name="Text 86"/>
          <p:cNvSpPr txBox="1"/>
          <p:nvPr/>
        </p:nvSpPr>
        <p:spPr>
          <a:xfrm>
            <a:off x="916686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</a:t>
            </a:r>
            <a:endParaRPr lang="en-US" sz="2400" dirty="0"/>
          </a:p>
        </p:txBody>
      </p:sp>
      <p:sp>
        <p:nvSpPr>
          <p:cNvPr id="92" name="Text 87"/>
          <p:cNvSpPr txBox="1"/>
          <p:nvPr/>
        </p:nvSpPr>
        <p:spPr>
          <a:xfrm>
            <a:off x="916686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created</a:t>
            </a:r>
            <a:endParaRPr lang="en-US" sz="1050" dirty="0"/>
          </a:p>
        </p:txBody>
      </p:sp>
      <p:sp>
        <p:nvSpPr>
          <p:cNvPr id="93" name="Text 88"/>
          <p:cNvSpPr txBox="1"/>
          <p:nvPr/>
        </p:nvSpPr>
        <p:spPr>
          <a:xfrm>
            <a:off x="916686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94" name="Text 89"/>
          <p:cNvSpPr txBox="1"/>
          <p:nvPr/>
        </p:nvSpPr>
        <p:spPr>
          <a:xfrm>
            <a:off x="1060246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95" name="Shape 90"/>
          <p:cNvSpPr/>
          <p:nvPr/>
        </p:nvSpPr>
        <p:spPr>
          <a:xfrm>
            <a:off x="900226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9002268" y="279806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7" name="Text 92"/>
          <p:cNvSpPr txBox="1"/>
          <p:nvPr/>
        </p:nvSpPr>
        <p:spPr>
          <a:xfrm>
            <a:off x="916686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</a:t>
            </a:r>
            <a:endParaRPr lang="en-US" sz="2400" dirty="0"/>
          </a:p>
        </p:txBody>
      </p:sp>
      <p:sp>
        <p:nvSpPr>
          <p:cNvPr id="98" name="Text 93"/>
          <p:cNvSpPr txBox="1"/>
          <p:nvPr/>
        </p:nvSpPr>
        <p:spPr>
          <a:xfrm>
            <a:off x="916686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resolved</a:t>
            </a:r>
            <a:endParaRPr lang="en-US" sz="1050" dirty="0"/>
          </a:p>
        </p:txBody>
      </p:sp>
      <p:sp>
        <p:nvSpPr>
          <p:cNvPr id="99" name="Text 94"/>
          <p:cNvSpPr txBox="1"/>
          <p:nvPr/>
        </p:nvSpPr>
        <p:spPr>
          <a:xfrm>
            <a:off x="916686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100% of tickets created</a:t>
            </a:r>
            <a:endParaRPr lang="en-US" sz="850" dirty="0"/>
          </a:p>
        </p:txBody>
      </p:sp>
      <p:sp>
        <p:nvSpPr>
          <p:cNvPr id="100" name="Text 95"/>
          <p:cNvSpPr txBox="1"/>
          <p:nvPr/>
        </p:nvSpPr>
        <p:spPr>
          <a:xfrm>
            <a:off x="1060246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1" name="Shape 96"/>
          <p:cNvSpPr/>
          <p:nvPr/>
        </p:nvSpPr>
        <p:spPr>
          <a:xfrm>
            <a:off x="900226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9002268" y="389534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3" name="Text 98"/>
          <p:cNvSpPr txBox="1"/>
          <p:nvPr/>
        </p:nvSpPr>
        <p:spPr>
          <a:xfrm>
            <a:off x="916686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</a:t>
            </a:r>
            <a:endParaRPr lang="en-US" sz="2400" dirty="0"/>
          </a:p>
        </p:txBody>
      </p:sp>
      <p:sp>
        <p:nvSpPr>
          <p:cNvPr id="104" name="Text 99"/>
          <p:cNvSpPr txBox="1"/>
          <p:nvPr/>
        </p:nvSpPr>
        <p:spPr>
          <a:xfrm>
            <a:off x="916686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Email queries</a:t>
            </a:r>
            <a:endParaRPr lang="en-US" sz="1050" dirty="0"/>
          </a:p>
        </p:txBody>
      </p:sp>
      <p:sp>
        <p:nvSpPr>
          <p:cNvPr id="105" name="Text 100"/>
          <p:cNvSpPr txBox="1"/>
          <p:nvPr/>
        </p:nvSpPr>
        <p:spPr>
          <a:xfrm>
            <a:off x="916686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06" name="Text 101"/>
          <p:cNvSpPr txBox="1"/>
          <p:nvPr/>
        </p:nvSpPr>
        <p:spPr>
          <a:xfrm>
            <a:off x="1060246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7" name="Shape 102"/>
          <p:cNvSpPr/>
          <p:nvPr/>
        </p:nvSpPr>
        <p:spPr>
          <a:xfrm>
            <a:off x="900226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9002268" y="499262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9" name="Text 104"/>
          <p:cNvSpPr txBox="1"/>
          <p:nvPr/>
        </p:nvSpPr>
        <p:spPr>
          <a:xfrm>
            <a:off x="916686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21</a:t>
            </a:r>
            <a:endParaRPr lang="en-US" sz="2400" dirty="0"/>
          </a:p>
        </p:txBody>
      </p:sp>
      <p:sp>
        <p:nvSpPr>
          <p:cNvPr id="110" name="Text 105"/>
          <p:cNvSpPr txBox="1"/>
          <p:nvPr/>
        </p:nvSpPr>
        <p:spPr>
          <a:xfrm>
            <a:off x="916686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AI support queries</a:t>
            </a:r>
            <a:endParaRPr lang="en-US" sz="1050" dirty="0"/>
          </a:p>
        </p:txBody>
      </p:sp>
      <p:sp>
        <p:nvSpPr>
          <p:cNvPr id="111" name="Text 106"/>
          <p:cNvSpPr txBox="1"/>
          <p:nvPr/>
        </p:nvSpPr>
        <p:spPr>
          <a:xfrm>
            <a:off x="916686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12" name="Text 107"/>
          <p:cNvSpPr txBox="1"/>
          <p:nvPr/>
        </p:nvSpPr>
        <p:spPr>
          <a:xfrm>
            <a:off x="1060246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atemIsa_202508993_IT9002_NLP_Project/emyaa-ceo-deck/working/charts/board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188720"/>
            <a:ext cx="12191695" cy="24689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66928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F3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PLATFORM ANALYTICS  |  PERFORMANCE DASHBOARD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57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 date: 12 Jul 2026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868680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6CFE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Reporting period: 14 May 2026 - 11 Jul 2026   |   Change on each card is against the previous report, 05 Jul 2026</a:t>
            </a:r>
            <a:endParaRPr lang="en-US" sz="1000" dirty="0"/>
          </a:p>
        </p:txBody>
      </p:sp>
      <p:pic>
        <p:nvPicPr>
          <p:cNvPr id="7" name="Image 1" descr="/home/user/HatemIsa_202508993_IT9002_NLP_Project/emyaa-ceo-deck/working/charts/ajy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02336"/>
            <a:ext cx="13258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" y="6272784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Source: eMYAA Daily Performance Dashboard, eMYAA_-_Daily_Performance_Dashboard-1.pdf, page 43. This report labels the money card 'Total Deposits'; later reports label the same measure 'Total AUM'.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eMYAA Trading Platform  |  Daily Performance Dashboard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9802368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46</a:t>
            </a:r>
            <a:endParaRPr lang="en-US" sz="800" dirty="0"/>
          </a:p>
        </p:txBody>
      </p:sp>
      <p:pic>
        <p:nvPicPr>
          <p:cNvPr id="11" name="Image 2" descr="/home/user/HatemIsa_202508993_IT9002_NLP_Project/emyaa-ceo-deck/working/charts/emyaa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6336792"/>
            <a:ext cx="1024128" cy="3657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66928" y="1408176"/>
            <a:ext cx="45720" cy="155448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665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DOWNLOADS &amp; RATINGS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6692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66928" y="170078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152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154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downloads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 Store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216712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+18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6692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66928" y="279806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3152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85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73152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downloads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73152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Apple App Store</a:t>
            </a:r>
            <a:endParaRPr lang="en-US" sz="850" dirty="0"/>
          </a:p>
        </p:txBody>
      </p:sp>
      <p:sp>
        <p:nvSpPr>
          <p:cNvPr id="25" name="Text 20"/>
          <p:cNvSpPr txBox="1"/>
          <p:nvPr/>
        </p:nvSpPr>
        <p:spPr>
          <a:xfrm>
            <a:off x="216712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+3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6692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66928" y="389534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3152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29" name="Text 24"/>
          <p:cNvSpPr txBox="1"/>
          <p:nvPr/>
        </p:nvSpPr>
        <p:spPr>
          <a:xfrm>
            <a:off x="73152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app rating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73152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Play, 2 reviews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56692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66928" y="499262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3152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34" name="Text 29"/>
          <p:cNvSpPr txBox="1"/>
          <p:nvPr/>
        </p:nvSpPr>
        <p:spPr>
          <a:xfrm>
            <a:off x="73152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app rating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73152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 Store, 2 reviews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3378708" y="1408176"/>
            <a:ext cx="45720" cy="155448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48843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 ACTIVITY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337870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3378708" y="170078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354330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6</a:t>
            </a:r>
            <a:endParaRPr lang="en-US" sz="2400" dirty="0"/>
          </a:p>
        </p:txBody>
      </p:sp>
      <p:sp>
        <p:nvSpPr>
          <p:cNvPr id="41" name="Text 36"/>
          <p:cNvSpPr txBox="1"/>
          <p:nvPr/>
        </p:nvSpPr>
        <p:spPr>
          <a:xfrm>
            <a:off x="354330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deposited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354330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Funded accounts</a:t>
            </a:r>
            <a:endParaRPr lang="en-US" sz="850" dirty="0"/>
          </a:p>
        </p:txBody>
      </p:sp>
      <p:sp>
        <p:nvSpPr>
          <p:cNvPr id="43" name="Text 38"/>
          <p:cNvSpPr txBox="1"/>
          <p:nvPr/>
        </p:nvSpPr>
        <p:spPr>
          <a:xfrm>
            <a:off x="497890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337870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3378708" y="279806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354330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$4,284.18</a:t>
            </a:r>
            <a:endParaRPr lang="en-US" sz="1900" dirty="0"/>
          </a:p>
        </p:txBody>
      </p:sp>
      <p:sp>
        <p:nvSpPr>
          <p:cNvPr id="47" name="Text 42"/>
          <p:cNvSpPr txBox="1"/>
          <p:nvPr/>
        </p:nvSpPr>
        <p:spPr>
          <a:xfrm>
            <a:off x="354330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deposits</a:t>
            </a:r>
            <a:endParaRPr lang="en-US" sz="1050" dirty="0"/>
          </a:p>
        </p:txBody>
      </p:sp>
      <p:sp>
        <p:nvSpPr>
          <p:cNvPr id="48" name="Text 43"/>
          <p:cNvSpPr txBox="1"/>
          <p:nvPr/>
        </p:nvSpPr>
        <p:spPr>
          <a:xfrm>
            <a:off x="354330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Cumulative platform deposits</a:t>
            </a:r>
            <a:endParaRPr lang="en-US" sz="850" dirty="0"/>
          </a:p>
        </p:txBody>
      </p:sp>
      <p:sp>
        <p:nvSpPr>
          <p:cNvPr id="49" name="Text 44"/>
          <p:cNvSpPr txBox="1"/>
          <p:nvPr/>
        </p:nvSpPr>
        <p:spPr>
          <a:xfrm>
            <a:off x="497890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+$48.35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337870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3378708" y="389534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354330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6</a:t>
            </a:r>
            <a:endParaRPr lang="en-US" sz="2400" dirty="0"/>
          </a:p>
        </p:txBody>
      </p:sp>
      <p:sp>
        <p:nvSpPr>
          <p:cNvPr id="53" name="Text 48"/>
          <p:cNvSpPr txBox="1"/>
          <p:nvPr/>
        </p:nvSpPr>
        <p:spPr>
          <a:xfrm>
            <a:off x="354330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traded</a:t>
            </a:r>
            <a:endParaRPr lang="en-US" sz="1050" dirty="0"/>
          </a:p>
        </p:txBody>
      </p:sp>
      <p:sp>
        <p:nvSpPr>
          <p:cNvPr id="54" name="Text 49"/>
          <p:cNvSpPr txBox="1"/>
          <p:nvPr/>
        </p:nvSpPr>
        <p:spPr>
          <a:xfrm>
            <a:off x="354330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Placed at least 1 trade</a:t>
            </a:r>
            <a:endParaRPr lang="en-US" sz="850" dirty="0"/>
          </a:p>
        </p:txBody>
      </p:sp>
      <p:sp>
        <p:nvSpPr>
          <p:cNvPr id="55" name="Text 50"/>
          <p:cNvSpPr txBox="1"/>
          <p:nvPr/>
        </p:nvSpPr>
        <p:spPr>
          <a:xfrm>
            <a:off x="497890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6" name="Shape 51"/>
          <p:cNvSpPr/>
          <p:nvPr/>
        </p:nvSpPr>
        <p:spPr>
          <a:xfrm>
            <a:off x="337870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3378708" y="499262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354330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21</a:t>
            </a:r>
            <a:endParaRPr lang="en-US" sz="2400" dirty="0"/>
          </a:p>
        </p:txBody>
      </p:sp>
      <p:sp>
        <p:nvSpPr>
          <p:cNvPr id="59" name="Text 54"/>
          <p:cNvSpPr txBox="1"/>
          <p:nvPr/>
        </p:nvSpPr>
        <p:spPr>
          <a:xfrm>
            <a:off x="354330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trades</a:t>
            </a:r>
            <a:endParaRPr lang="en-US" sz="1050" dirty="0"/>
          </a:p>
        </p:txBody>
      </p:sp>
      <p:sp>
        <p:nvSpPr>
          <p:cNvPr id="60" name="Text 55"/>
          <p:cNvSpPr txBox="1"/>
          <p:nvPr/>
        </p:nvSpPr>
        <p:spPr>
          <a:xfrm>
            <a:off x="354330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Executed across all users</a:t>
            </a:r>
            <a:endParaRPr lang="en-US" sz="850" dirty="0"/>
          </a:p>
        </p:txBody>
      </p:sp>
      <p:sp>
        <p:nvSpPr>
          <p:cNvPr id="61" name="Text 56"/>
          <p:cNvSpPr txBox="1"/>
          <p:nvPr/>
        </p:nvSpPr>
        <p:spPr>
          <a:xfrm>
            <a:off x="497890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+3</a:t>
            </a:r>
            <a:endParaRPr lang="en-US" sz="850" dirty="0"/>
          </a:p>
        </p:txBody>
      </p:sp>
      <p:sp>
        <p:nvSpPr>
          <p:cNvPr id="62" name="Shape 57"/>
          <p:cNvSpPr/>
          <p:nvPr/>
        </p:nvSpPr>
        <p:spPr>
          <a:xfrm>
            <a:off x="6190488" y="1408176"/>
            <a:ext cx="45720" cy="1554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630021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KYC STATUS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619048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6190488" y="170078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635508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23</a:t>
            </a:r>
            <a:endParaRPr lang="en-US" sz="2400" dirty="0"/>
          </a:p>
        </p:txBody>
      </p:sp>
      <p:sp>
        <p:nvSpPr>
          <p:cNvPr id="67" name="Text 62"/>
          <p:cNvSpPr txBox="1"/>
          <p:nvPr/>
        </p:nvSpPr>
        <p:spPr>
          <a:xfrm>
            <a:off x="635508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onboarded</a:t>
            </a:r>
            <a:endParaRPr lang="en-US" sz="1050" dirty="0"/>
          </a:p>
        </p:txBody>
      </p:sp>
      <p:sp>
        <p:nvSpPr>
          <p:cNvPr id="68" name="Text 63"/>
          <p:cNvSpPr txBox="1"/>
          <p:nvPr/>
        </p:nvSpPr>
        <p:spPr>
          <a:xfrm>
            <a:off x="635508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Completed signup and verification</a:t>
            </a:r>
            <a:endParaRPr lang="en-US" sz="850" dirty="0"/>
          </a:p>
        </p:txBody>
      </p:sp>
      <p:sp>
        <p:nvSpPr>
          <p:cNvPr id="69" name="Text 64"/>
          <p:cNvSpPr txBox="1"/>
          <p:nvPr/>
        </p:nvSpPr>
        <p:spPr>
          <a:xfrm>
            <a:off x="779068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70" name="Shape 65"/>
          <p:cNvSpPr/>
          <p:nvPr/>
        </p:nvSpPr>
        <p:spPr>
          <a:xfrm>
            <a:off x="619048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6190488" y="279806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2" name="Text 67"/>
          <p:cNvSpPr txBox="1"/>
          <p:nvPr/>
        </p:nvSpPr>
        <p:spPr>
          <a:xfrm>
            <a:off x="635508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98</a:t>
            </a:r>
            <a:endParaRPr lang="en-US" sz="2400" dirty="0"/>
          </a:p>
        </p:txBody>
      </p:sp>
      <p:sp>
        <p:nvSpPr>
          <p:cNvPr id="73" name="Text 68"/>
          <p:cNvSpPr txBox="1"/>
          <p:nvPr/>
        </p:nvSpPr>
        <p:spPr>
          <a:xfrm>
            <a:off x="635508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Incomplete KYC</a:t>
            </a:r>
            <a:endParaRPr lang="en-US" sz="1050" dirty="0"/>
          </a:p>
        </p:txBody>
      </p:sp>
      <p:sp>
        <p:nvSpPr>
          <p:cNvPr id="74" name="Text 69"/>
          <p:cNvSpPr txBox="1"/>
          <p:nvPr/>
        </p:nvSpPr>
        <p:spPr>
          <a:xfrm>
            <a:off x="635508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Started KYC but did not proceed</a:t>
            </a:r>
            <a:endParaRPr lang="en-US" sz="850" dirty="0"/>
          </a:p>
        </p:txBody>
      </p:sp>
      <p:sp>
        <p:nvSpPr>
          <p:cNvPr id="75" name="Text 70"/>
          <p:cNvSpPr txBox="1"/>
          <p:nvPr/>
        </p:nvSpPr>
        <p:spPr>
          <a:xfrm>
            <a:off x="779068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5303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+5</a:t>
            </a:r>
            <a:endParaRPr lang="en-US" sz="850" dirty="0"/>
          </a:p>
        </p:txBody>
      </p:sp>
      <p:sp>
        <p:nvSpPr>
          <p:cNvPr id="76" name="Shape 71"/>
          <p:cNvSpPr/>
          <p:nvPr/>
        </p:nvSpPr>
        <p:spPr>
          <a:xfrm>
            <a:off x="619048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6190488" y="389534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8" name="Text 73"/>
          <p:cNvSpPr txBox="1"/>
          <p:nvPr/>
        </p:nvSpPr>
        <p:spPr>
          <a:xfrm>
            <a:off x="635508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6</a:t>
            </a:r>
            <a:endParaRPr lang="en-US" sz="2400" dirty="0"/>
          </a:p>
        </p:txBody>
      </p:sp>
      <p:sp>
        <p:nvSpPr>
          <p:cNvPr id="79" name="Text 74"/>
          <p:cNvSpPr txBox="1"/>
          <p:nvPr/>
        </p:nvSpPr>
        <p:spPr>
          <a:xfrm>
            <a:off x="635508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Rejected KYC</a:t>
            </a:r>
            <a:endParaRPr lang="en-US" sz="1050" dirty="0"/>
          </a:p>
        </p:txBody>
      </p:sp>
      <p:sp>
        <p:nvSpPr>
          <p:cNvPr id="80" name="Text 75"/>
          <p:cNvSpPr txBox="1"/>
          <p:nvPr/>
        </p:nvSpPr>
        <p:spPr>
          <a:xfrm>
            <a:off x="635508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Resubmission required</a:t>
            </a:r>
            <a:endParaRPr lang="en-US" sz="850" dirty="0"/>
          </a:p>
        </p:txBody>
      </p:sp>
      <p:sp>
        <p:nvSpPr>
          <p:cNvPr id="81" name="Text 76"/>
          <p:cNvSpPr txBox="1"/>
          <p:nvPr/>
        </p:nvSpPr>
        <p:spPr>
          <a:xfrm>
            <a:off x="779068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82" name="Shape 77"/>
          <p:cNvSpPr/>
          <p:nvPr/>
        </p:nvSpPr>
        <p:spPr>
          <a:xfrm>
            <a:off x="619048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6190488" y="499262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4" name="Text 79"/>
          <p:cNvSpPr txBox="1"/>
          <p:nvPr/>
        </p:nvSpPr>
        <p:spPr>
          <a:xfrm>
            <a:off x="635508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127</a:t>
            </a:r>
            <a:endParaRPr lang="en-US" sz="2400" dirty="0"/>
          </a:p>
        </p:txBody>
      </p:sp>
      <p:sp>
        <p:nvSpPr>
          <p:cNvPr id="85" name="Text 80"/>
          <p:cNvSpPr txBox="1"/>
          <p:nvPr/>
        </p:nvSpPr>
        <p:spPr>
          <a:xfrm>
            <a:off x="635508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KYC applications</a:t>
            </a:r>
            <a:endParaRPr lang="en-US" sz="1050" dirty="0"/>
          </a:p>
        </p:txBody>
      </p:sp>
      <p:sp>
        <p:nvSpPr>
          <p:cNvPr id="86" name="Text 81"/>
          <p:cNvSpPr txBox="1"/>
          <p:nvPr/>
        </p:nvSpPr>
        <p:spPr>
          <a:xfrm>
            <a:off x="635508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Onboarded + incomplete + rejected</a:t>
            </a:r>
            <a:endParaRPr lang="en-US" sz="850" dirty="0"/>
          </a:p>
        </p:txBody>
      </p:sp>
      <p:sp>
        <p:nvSpPr>
          <p:cNvPr id="87" name="Shape 82"/>
          <p:cNvSpPr/>
          <p:nvPr/>
        </p:nvSpPr>
        <p:spPr>
          <a:xfrm>
            <a:off x="9002268" y="1408176"/>
            <a:ext cx="45720" cy="155448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88" name="Text 83"/>
          <p:cNvSpPr txBox="1"/>
          <p:nvPr/>
        </p:nvSpPr>
        <p:spPr>
          <a:xfrm>
            <a:off x="911199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SUPPORT TICKETS</a:t>
            </a:r>
            <a:endParaRPr lang="en-US" sz="900" dirty="0"/>
          </a:p>
        </p:txBody>
      </p:sp>
      <p:sp>
        <p:nvSpPr>
          <p:cNvPr id="89" name="Shape 84"/>
          <p:cNvSpPr/>
          <p:nvPr/>
        </p:nvSpPr>
        <p:spPr>
          <a:xfrm>
            <a:off x="900226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9002268" y="170078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1" name="Text 86"/>
          <p:cNvSpPr txBox="1"/>
          <p:nvPr/>
        </p:nvSpPr>
        <p:spPr>
          <a:xfrm>
            <a:off x="916686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</a:t>
            </a:r>
            <a:endParaRPr lang="en-US" sz="2400" dirty="0"/>
          </a:p>
        </p:txBody>
      </p:sp>
      <p:sp>
        <p:nvSpPr>
          <p:cNvPr id="92" name="Text 87"/>
          <p:cNvSpPr txBox="1"/>
          <p:nvPr/>
        </p:nvSpPr>
        <p:spPr>
          <a:xfrm>
            <a:off x="916686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created</a:t>
            </a:r>
            <a:endParaRPr lang="en-US" sz="1050" dirty="0"/>
          </a:p>
        </p:txBody>
      </p:sp>
      <p:sp>
        <p:nvSpPr>
          <p:cNvPr id="93" name="Text 88"/>
          <p:cNvSpPr txBox="1"/>
          <p:nvPr/>
        </p:nvSpPr>
        <p:spPr>
          <a:xfrm>
            <a:off x="916686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94" name="Text 89"/>
          <p:cNvSpPr txBox="1"/>
          <p:nvPr/>
        </p:nvSpPr>
        <p:spPr>
          <a:xfrm>
            <a:off x="1060246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95" name="Shape 90"/>
          <p:cNvSpPr/>
          <p:nvPr/>
        </p:nvSpPr>
        <p:spPr>
          <a:xfrm>
            <a:off x="900226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9002268" y="279806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7" name="Text 92"/>
          <p:cNvSpPr txBox="1"/>
          <p:nvPr/>
        </p:nvSpPr>
        <p:spPr>
          <a:xfrm>
            <a:off x="916686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</a:t>
            </a:r>
            <a:endParaRPr lang="en-US" sz="2400" dirty="0"/>
          </a:p>
        </p:txBody>
      </p:sp>
      <p:sp>
        <p:nvSpPr>
          <p:cNvPr id="98" name="Text 93"/>
          <p:cNvSpPr txBox="1"/>
          <p:nvPr/>
        </p:nvSpPr>
        <p:spPr>
          <a:xfrm>
            <a:off x="916686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resolved</a:t>
            </a:r>
            <a:endParaRPr lang="en-US" sz="1050" dirty="0"/>
          </a:p>
        </p:txBody>
      </p:sp>
      <p:sp>
        <p:nvSpPr>
          <p:cNvPr id="99" name="Text 94"/>
          <p:cNvSpPr txBox="1"/>
          <p:nvPr/>
        </p:nvSpPr>
        <p:spPr>
          <a:xfrm>
            <a:off x="916686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100% of tickets created</a:t>
            </a:r>
            <a:endParaRPr lang="en-US" sz="850" dirty="0"/>
          </a:p>
        </p:txBody>
      </p:sp>
      <p:sp>
        <p:nvSpPr>
          <p:cNvPr id="100" name="Text 95"/>
          <p:cNvSpPr txBox="1"/>
          <p:nvPr/>
        </p:nvSpPr>
        <p:spPr>
          <a:xfrm>
            <a:off x="1060246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1" name="Shape 96"/>
          <p:cNvSpPr/>
          <p:nvPr/>
        </p:nvSpPr>
        <p:spPr>
          <a:xfrm>
            <a:off x="900226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9002268" y="389534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3" name="Text 98"/>
          <p:cNvSpPr txBox="1"/>
          <p:nvPr/>
        </p:nvSpPr>
        <p:spPr>
          <a:xfrm>
            <a:off x="916686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</a:t>
            </a:r>
            <a:endParaRPr lang="en-US" sz="2400" dirty="0"/>
          </a:p>
        </p:txBody>
      </p:sp>
      <p:sp>
        <p:nvSpPr>
          <p:cNvPr id="104" name="Text 99"/>
          <p:cNvSpPr txBox="1"/>
          <p:nvPr/>
        </p:nvSpPr>
        <p:spPr>
          <a:xfrm>
            <a:off x="916686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Email queries</a:t>
            </a:r>
            <a:endParaRPr lang="en-US" sz="1050" dirty="0"/>
          </a:p>
        </p:txBody>
      </p:sp>
      <p:sp>
        <p:nvSpPr>
          <p:cNvPr id="105" name="Text 100"/>
          <p:cNvSpPr txBox="1"/>
          <p:nvPr/>
        </p:nvSpPr>
        <p:spPr>
          <a:xfrm>
            <a:off x="916686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06" name="Text 101"/>
          <p:cNvSpPr txBox="1"/>
          <p:nvPr/>
        </p:nvSpPr>
        <p:spPr>
          <a:xfrm>
            <a:off x="1060246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7" name="Shape 102"/>
          <p:cNvSpPr/>
          <p:nvPr/>
        </p:nvSpPr>
        <p:spPr>
          <a:xfrm>
            <a:off x="900226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9002268" y="499262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9" name="Text 104"/>
          <p:cNvSpPr txBox="1"/>
          <p:nvPr/>
        </p:nvSpPr>
        <p:spPr>
          <a:xfrm>
            <a:off x="916686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21</a:t>
            </a:r>
            <a:endParaRPr lang="en-US" sz="2400" dirty="0"/>
          </a:p>
        </p:txBody>
      </p:sp>
      <p:sp>
        <p:nvSpPr>
          <p:cNvPr id="110" name="Text 105"/>
          <p:cNvSpPr txBox="1"/>
          <p:nvPr/>
        </p:nvSpPr>
        <p:spPr>
          <a:xfrm>
            <a:off x="916686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AI support queries</a:t>
            </a:r>
            <a:endParaRPr lang="en-US" sz="1050" dirty="0"/>
          </a:p>
        </p:txBody>
      </p:sp>
      <p:sp>
        <p:nvSpPr>
          <p:cNvPr id="111" name="Text 106"/>
          <p:cNvSpPr txBox="1"/>
          <p:nvPr/>
        </p:nvSpPr>
        <p:spPr>
          <a:xfrm>
            <a:off x="916686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12" name="Text 107"/>
          <p:cNvSpPr txBox="1"/>
          <p:nvPr/>
        </p:nvSpPr>
        <p:spPr>
          <a:xfrm>
            <a:off x="1060246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atemIsa_202508993_IT9002_NLP_Project/emyaa-ceo-deck/working/charts/board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188720"/>
            <a:ext cx="12191695" cy="24689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66928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F3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PLATFORM ANALYTICS  |  PERFORMANCE DASHBOARD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57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 date: 05 Jul 2026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868680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6CFE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Reporting period: 14 May 2026 - 04 Jul 2026   |   Change on each card is against the previous report, 29 Jun 2026</a:t>
            </a:r>
            <a:endParaRPr lang="en-US" sz="1000" dirty="0"/>
          </a:p>
        </p:txBody>
      </p:sp>
      <p:pic>
        <p:nvPicPr>
          <p:cNvPr id="7" name="Image 1" descr="/home/user/HatemIsa_202508993_IT9002_NLP_Project/emyaa-ceo-deck/working/charts/ajy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02336"/>
            <a:ext cx="13258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" y="6272784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Source: eMYAA Daily Performance Dashboard, eMYAA_-_Daily_Performance_Dashboard-1.pdf, page 44. This report labels the money card 'Total Deposits'; later reports label the same measure 'Total AUM'.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eMYAA Trading Platform  |  Daily Performance Dashboard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9802368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47</a:t>
            </a:r>
            <a:endParaRPr lang="en-US" sz="800" dirty="0"/>
          </a:p>
        </p:txBody>
      </p:sp>
      <p:pic>
        <p:nvPicPr>
          <p:cNvPr id="11" name="Image 2" descr="/home/user/HatemIsa_202508993_IT9002_NLP_Project/emyaa-ceo-deck/working/charts/emyaa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6336792"/>
            <a:ext cx="1024128" cy="3657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66928" y="1408176"/>
            <a:ext cx="45720" cy="155448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665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DOWNLOADS &amp; RATINGS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6692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66928" y="170078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152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136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downloads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 Store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216712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6692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66928" y="279806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3152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82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73152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downloads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73152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Apple App Store</a:t>
            </a:r>
            <a:endParaRPr lang="en-US" sz="850" dirty="0"/>
          </a:p>
        </p:txBody>
      </p:sp>
      <p:sp>
        <p:nvSpPr>
          <p:cNvPr id="25" name="Text 20"/>
          <p:cNvSpPr txBox="1"/>
          <p:nvPr/>
        </p:nvSpPr>
        <p:spPr>
          <a:xfrm>
            <a:off x="216712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+5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6692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66928" y="389534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3152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29" name="Text 24"/>
          <p:cNvSpPr txBox="1"/>
          <p:nvPr/>
        </p:nvSpPr>
        <p:spPr>
          <a:xfrm>
            <a:off x="73152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app rating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73152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Play, 2 reviews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56692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66928" y="499262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3152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34" name="Text 29"/>
          <p:cNvSpPr txBox="1"/>
          <p:nvPr/>
        </p:nvSpPr>
        <p:spPr>
          <a:xfrm>
            <a:off x="73152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app rating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73152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 Store, 2 reviews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3378708" y="1408176"/>
            <a:ext cx="45720" cy="155448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48843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 ACTIVITY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337870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3378708" y="170078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354330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6</a:t>
            </a:r>
            <a:endParaRPr lang="en-US" sz="2400" dirty="0"/>
          </a:p>
        </p:txBody>
      </p:sp>
      <p:sp>
        <p:nvSpPr>
          <p:cNvPr id="41" name="Text 36"/>
          <p:cNvSpPr txBox="1"/>
          <p:nvPr/>
        </p:nvSpPr>
        <p:spPr>
          <a:xfrm>
            <a:off x="354330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deposited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354330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Funded accounts</a:t>
            </a:r>
            <a:endParaRPr lang="en-US" sz="850" dirty="0"/>
          </a:p>
        </p:txBody>
      </p:sp>
      <p:sp>
        <p:nvSpPr>
          <p:cNvPr id="43" name="Text 38"/>
          <p:cNvSpPr txBox="1"/>
          <p:nvPr/>
        </p:nvSpPr>
        <p:spPr>
          <a:xfrm>
            <a:off x="497890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337870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3378708" y="279806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354330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$4,235.83</a:t>
            </a:r>
            <a:endParaRPr lang="en-US" sz="1900" dirty="0"/>
          </a:p>
        </p:txBody>
      </p:sp>
      <p:sp>
        <p:nvSpPr>
          <p:cNvPr id="47" name="Text 42"/>
          <p:cNvSpPr txBox="1"/>
          <p:nvPr/>
        </p:nvSpPr>
        <p:spPr>
          <a:xfrm>
            <a:off x="354330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deposits</a:t>
            </a:r>
            <a:endParaRPr lang="en-US" sz="1050" dirty="0"/>
          </a:p>
        </p:txBody>
      </p:sp>
      <p:sp>
        <p:nvSpPr>
          <p:cNvPr id="48" name="Text 43"/>
          <p:cNvSpPr txBox="1"/>
          <p:nvPr/>
        </p:nvSpPr>
        <p:spPr>
          <a:xfrm>
            <a:off x="354330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Cumulative platform deposits</a:t>
            </a:r>
            <a:endParaRPr lang="en-US" sz="850" dirty="0"/>
          </a:p>
        </p:txBody>
      </p:sp>
      <p:sp>
        <p:nvSpPr>
          <p:cNvPr id="49" name="Text 44"/>
          <p:cNvSpPr txBox="1"/>
          <p:nvPr/>
        </p:nvSpPr>
        <p:spPr>
          <a:xfrm>
            <a:off x="497890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+$539.12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337870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3378708" y="389534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354330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6</a:t>
            </a:r>
            <a:endParaRPr lang="en-US" sz="2400" dirty="0"/>
          </a:p>
        </p:txBody>
      </p:sp>
      <p:sp>
        <p:nvSpPr>
          <p:cNvPr id="53" name="Text 48"/>
          <p:cNvSpPr txBox="1"/>
          <p:nvPr/>
        </p:nvSpPr>
        <p:spPr>
          <a:xfrm>
            <a:off x="354330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traded</a:t>
            </a:r>
            <a:endParaRPr lang="en-US" sz="1050" dirty="0"/>
          </a:p>
        </p:txBody>
      </p:sp>
      <p:sp>
        <p:nvSpPr>
          <p:cNvPr id="54" name="Text 49"/>
          <p:cNvSpPr txBox="1"/>
          <p:nvPr/>
        </p:nvSpPr>
        <p:spPr>
          <a:xfrm>
            <a:off x="354330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Placed at least 1 trade</a:t>
            </a:r>
            <a:endParaRPr lang="en-US" sz="850" dirty="0"/>
          </a:p>
        </p:txBody>
      </p:sp>
      <p:sp>
        <p:nvSpPr>
          <p:cNvPr id="55" name="Text 50"/>
          <p:cNvSpPr txBox="1"/>
          <p:nvPr/>
        </p:nvSpPr>
        <p:spPr>
          <a:xfrm>
            <a:off x="497890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6" name="Shape 51"/>
          <p:cNvSpPr/>
          <p:nvPr/>
        </p:nvSpPr>
        <p:spPr>
          <a:xfrm>
            <a:off x="337870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3378708" y="499262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354330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18</a:t>
            </a:r>
            <a:endParaRPr lang="en-US" sz="2400" dirty="0"/>
          </a:p>
        </p:txBody>
      </p:sp>
      <p:sp>
        <p:nvSpPr>
          <p:cNvPr id="59" name="Text 54"/>
          <p:cNvSpPr txBox="1"/>
          <p:nvPr/>
        </p:nvSpPr>
        <p:spPr>
          <a:xfrm>
            <a:off x="354330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trades</a:t>
            </a:r>
            <a:endParaRPr lang="en-US" sz="1050" dirty="0"/>
          </a:p>
        </p:txBody>
      </p:sp>
      <p:sp>
        <p:nvSpPr>
          <p:cNvPr id="60" name="Text 55"/>
          <p:cNvSpPr txBox="1"/>
          <p:nvPr/>
        </p:nvSpPr>
        <p:spPr>
          <a:xfrm>
            <a:off x="354330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Executed across all users</a:t>
            </a:r>
            <a:endParaRPr lang="en-US" sz="850" dirty="0"/>
          </a:p>
        </p:txBody>
      </p:sp>
      <p:sp>
        <p:nvSpPr>
          <p:cNvPr id="61" name="Text 56"/>
          <p:cNvSpPr txBox="1"/>
          <p:nvPr/>
        </p:nvSpPr>
        <p:spPr>
          <a:xfrm>
            <a:off x="497890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62" name="Shape 57"/>
          <p:cNvSpPr/>
          <p:nvPr/>
        </p:nvSpPr>
        <p:spPr>
          <a:xfrm>
            <a:off x="6190488" y="1408176"/>
            <a:ext cx="45720" cy="1554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630021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KYC STATUS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619048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6190488" y="170078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635508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22</a:t>
            </a:r>
            <a:endParaRPr lang="en-US" sz="2400" dirty="0"/>
          </a:p>
        </p:txBody>
      </p:sp>
      <p:sp>
        <p:nvSpPr>
          <p:cNvPr id="67" name="Text 62"/>
          <p:cNvSpPr txBox="1"/>
          <p:nvPr/>
        </p:nvSpPr>
        <p:spPr>
          <a:xfrm>
            <a:off x="635508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onboarded</a:t>
            </a:r>
            <a:endParaRPr lang="en-US" sz="1050" dirty="0"/>
          </a:p>
        </p:txBody>
      </p:sp>
      <p:sp>
        <p:nvSpPr>
          <p:cNvPr id="68" name="Text 63"/>
          <p:cNvSpPr txBox="1"/>
          <p:nvPr/>
        </p:nvSpPr>
        <p:spPr>
          <a:xfrm>
            <a:off x="635508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Completed signup and verification</a:t>
            </a:r>
            <a:endParaRPr lang="en-US" sz="850" dirty="0"/>
          </a:p>
        </p:txBody>
      </p:sp>
      <p:sp>
        <p:nvSpPr>
          <p:cNvPr id="69" name="Text 64"/>
          <p:cNvSpPr txBox="1"/>
          <p:nvPr/>
        </p:nvSpPr>
        <p:spPr>
          <a:xfrm>
            <a:off x="779068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+3</a:t>
            </a:r>
            <a:endParaRPr lang="en-US" sz="850" dirty="0"/>
          </a:p>
        </p:txBody>
      </p:sp>
      <p:sp>
        <p:nvSpPr>
          <p:cNvPr id="70" name="Shape 65"/>
          <p:cNvSpPr/>
          <p:nvPr/>
        </p:nvSpPr>
        <p:spPr>
          <a:xfrm>
            <a:off x="619048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6190488" y="279806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2" name="Text 67"/>
          <p:cNvSpPr txBox="1"/>
          <p:nvPr/>
        </p:nvSpPr>
        <p:spPr>
          <a:xfrm>
            <a:off x="635508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93</a:t>
            </a:r>
            <a:endParaRPr lang="en-US" sz="2400" dirty="0"/>
          </a:p>
        </p:txBody>
      </p:sp>
      <p:sp>
        <p:nvSpPr>
          <p:cNvPr id="73" name="Text 68"/>
          <p:cNvSpPr txBox="1"/>
          <p:nvPr/>
        </p:nvSpPr>
        <p:spPr>
          <a:xfrm>
            <a:off x="635508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Incomplete KYC</a:t>
            </a:r>
            <a:endParaRPr lang="en-US" sz="1050" dirty="0"/>
          </a:p>
        </p:txBody>
      </p:sp>
      <p:sp>
        <p:nvSpPr>
          <p:cNvPr id="74" name="Text 69"/>
          <p:cNvSpPr txBox="1"/>
          <p:nvPr/>
        </p:nvSpPr>
        <p:spPr>
          <a:xfrm>
            <a:off x="635508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Started KYC but did not proceed</a:t>
            </a:r>
            <a:endParaRPr lang="en-US" sz="850" dirty="0"/>
          </a:p>
        </p:txBody>
      </p:sp>
      <p:sp>
        <p:nvSpPr>
          <p:cNvPr id="75" name="Text 70"/>
          <p:cNvSpPr txBox="1"/>
          <p:nvPr/>
        </p:nvSpPr>
        <p:spPr>
          <a:xfrm>
            <a:off x="779068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5303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+3</a:t>
            </a:r>
            <a:endParaRPr lang="en-US" sz="850" dirty="0"/>
          </a:p>
        </p:txBody>
      </p:sp>
      <p:sp>
        <p:nvSpPr>
          <p:cNvPr id="76" name="Shape 71"/>
          <p:cNvSpPr/>
          <p:nvPr/>
        </p:nvSpPr>
        <p:spPr>
          <a:xfrm>
            <a:off x="619048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6190488" y="389534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8" name="Text 73"/>
          <p:cNvSpPr txBox="1"/>
          <p:nvPr/>
        </p:nvSpPr>
        <p:spPr>
          <a:xfrm>
            <a:off x="635508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6</a:t>
            </a:r>
            <a:endParaRPr lang="en-US" sz="2400" dirty="0"/>
          </a:p>
        </p:txBody>
      </p:sp>
      <p:sp>
        <p:nvSpPr>
          <p:cNvPr id="79" name="Text 74"/>
          <p:cNvSpPr txBox="1"/>
          <p:nvPr/>
        </p:nvSpPr>
        <p:spPr>
          <a:xfrm>
            <a:off x="635508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Rejected KYC</a:t>
            </a:r>
            <a:endParaRPr lang="en-US" sz="1050" dirty="0"/>
          </a:p>
        </p:txBody>
      </p:sp>
      <p:sp>
        <p:nvSpPr>
          <p:cNvPr id="80" name="Text 75"/>
          <p:cNvSpPr txBox="1"/>
          <p:nvPr/>
        </p:nvSpPr>
        <p:spPr>
          <a:xfrm>
            <a:off x="635508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Resubmission required</a:t>
            </a:r>
            <a:endParaRPr lang="en-US" sz="850" dirty="0"/>
          </a:p>
        </p:txBody>
      </p:sp>
      <p:sp>
        <p:nvSpPr>
          <p:cNvPr id="81" name="Text 76"/>
          <p:cNvSpPr txBox="1"/>
          <p:nvPr/>
        </p:nvSpPr>
        <p:spPr>
          <a:xfrm>
            <a:off x="779068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82" name="Shape 77"/>
          <p:cNvSpPr/>
          <p:nvPr/>
        </p:nvSpPr>
        <p:spPr>
          <a:xfrm>
            <a:off x="619048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6190488" y="499262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4" name="Text 79"/>
          <p:cNvSpPr txBox="1"/>
          <p:nvPr/>
        </p:nvSpPr>
        <p:spPr>
          <a:xfrm>
            <a:off x="635508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121</a:t>
            </a:r>
            <a:endParaRPr lang="en-US" sz="2400" dirty="0"/>
          </a:p>
        </p:txBody>
      </p:sp>
      <p:sp>
        <p:nvSpPr>
          <p:cNvPr id="85" name="Text 80"/>
          <p:cNvSpPr txBox="1"/>
          <p:nvPr/>
        </p:nvSpPr>
        <p:spPr>
          <a:xfrm>
            <a:off x="635508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KYC applications</a:t>
            </a:r>
            <a:endParaRPr lang="en-US" sz="1050" dirty="0"/>
          </a:p>
        </p:txBody>
      </p:sp>
      <p:sp>
        <p:nvSpPr>
          <p:cNvPr id="86" name="Text 81"/>
          <p:cNvSpPr txBox="1"/>
          <p:nvPr/>
        </p:nvSpPr>
        <p:spPr>
          <a:xfrm>
            <a:off x="635508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Onboarded + incomplete + rejected</a:t>
            </a:r>
            <a:endParaRPr lang="en-US" sz="850" dirty="0"/>
          </a:p>
        </p:txBody>
      </p:sp>
      <p:sp>
        <p:nvSpPr>
          <p:cNvPr id="87" name="Shape 82"/>
          <p:cNvSpPr/>
          <p:nvPr/>
        </p:nvSpPr>
        <p:spPr>
          <a:xfrm>
            <a:off x="9002268" y="1408176"/>
            <a:ext cx="45720" cy="155448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88" name="Text 83"/>
          <p:cNvSpPr txBox="1"/>
          <p:nvPr/>
        </p:nvSpPr>
        <p:spPr>
          <a:xfrm>
            <a:off x="911199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SUPPORT TICKETS</a:t>
            </a:r>
            <a:endParaRPr lang="en-US" sz="900" dirty="0"/>
          </a:p>
        </p:txBody>
      </p:sp>
      <p:sp>
        <p:nvSpPr>
          <p:cNvPr id="89" name="Shape 84"/>
          <p:cNvSpPr/>
          <p:nvPr/>
        </p:nvSpPr>
        <p:spPr>
          <a:xfrm>
            <a:off x="900226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9002268" y="170078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1" name="Text 86"/>
          <p:cNvSpPr txBox="1"/>
          <p:nvPr/>
        </p:nvSpPr>
        <p:spPr>
          <a:xfrm>
            <a:off x="916686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</a:t>
            </a:r>
            <a:endParaRPr lang="en-US" sz="2400" dirty="0"/>
          </a:p>
        </p:txBody>
      </p:sp>
      <p:sp>
        <p:nvSpPr>
          <p:cNvPr id="92" name="Text 87"/>
          <p:cNvSpPr txBox="1"/>
          <p:nvPr/>
        </p:nvSpPr>
        <p:spPr>
          <a:xfrm>
            <a:off x="916686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created</a:t>
            </a:r>
            <a:endParaRPr lang="en-US" sz="1050" dirty="0"/>
          </a:p>
        </p:txBody>
      </p:sp>
      <p:sp>
        <p:nvSpPr>
          <p:cNvPr id="93" name="Text 88"/>
          <p:cNvSpPr txBox="1"/>
          <p:nvPr/>
        </p:nvSpPr>
        <p:spPr>
          <a:xfrm>
            <a:off x="916686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94" name="Text 89"/>
          <p:cNvSpPr txBox="1"/>
          <p:nvPr/>
        </p:nvSpPr>
        <p:spPr>
          <a:xfrm>
            <a:off x="1060246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95" name="Shape 90"/>
          <p:cNvSpPr/>
          <p:nvPr/>
        </p:nvSpPr>
        <p:spPr>
          <a:xfrm>
            <a:off x="900226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9002268" y="279806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7" name="Text 92"/>
          <p:cNvSpPr txBox="1"/>
          <p:nvPr/>
        </p:nvSpPr>
        <p:spPr>
          <a:xfrm>
            <a:off x="916686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</a:t>
            </a:r>
            <a:endParaRPr lang="en-US" sz="2400" dirty="0"/>
          </a:p>
        </p:txBody>
      </p:sp>
      <p:sp>
        <p:nvSpPr>
          <p:cNvPr id="98" name="Text 93"/>
          <p:cNvSpPr txBox="1"/>
          <p:nvPr/>
        </p:nvSpPr>
        <p:spPr>
          <a:xfrm>
            <a:off x="916686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resolved</a:t>
            </a:r>
            <a:endParaRPr lang="en-US" sz="1050" dirty="0"/>
          </a:p>
        </p:txBody>
      </p:sp>
      <p:sp>
        <p:nvSpPr>
          <p:cNvPr id="99" name="Text 94"/>
          <p:cNvSpPr txBox="1"/>
          <p:nvPr/>
        </p:nvSpPr>
        <p:spPr>
          <a:xfrm>
            <a:off x="916686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100% of tickets created</a:t>
            </a:r>
            <a:endParaRPr lang="en-US" sz="850" dirty="0"/>
          </a:p>
        </p:txBody>
      </p:sp>
      <p:sp>
        <p:nvSpPr>
          <p:cNvPr id="100" name="Text 95"/>
          <p:cNvSpPr txBox="1"/>
          <p:nvPr/>
        </p:nvSpPr>
        <p:spPr>
          <a:xfrm>
            <a:off x="1060246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1" name="Shape 96"/>
          <p:cNvSpPr/>
          <p:nvPr/>
        </p:nvSpPr>
        <p:spPr>
          <a:xfrm>
            <a:off x="900226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9002268" y="389534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3" name="Text 98"/>
          <p:cNvSpPr txBox="1"/>
          <p:nvPr/>
        </p:nvSpPr>
        <p:spPr>
          <a:xfrm>
            <a:off x="916686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</a:t>
            </a:r>
            <a:endParaRPr lang="en-US" sz="2400" dirty="0"/>
          </a:p>
        </p:txBody>
      </p:sp>
      <p:sp>
        <p:nvSpPr>
          <p:cNvPr id="104" name="Text 99"/>
          <p:cNvSpPr txBox="1"/>
          <p:nvPr/>
        </p:nvSpPr>
        <p:spPr>
          <a:xfrm>
            <a:off x="916686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Email queries</a:t>
            </a:r>
            <a:endParaRPr lang="en-US" sz="1050" dirty="0"/>
          </a:p>
        </p:txBody>
      </p:sp>
      <p:sp>
        <p:nvSpPr>
          <p:cNvPr id="105" name="Text 100"/>
          <p:cNvSpPr txBox="1"/>
          <p:nvPr/>
        </p:nvSpPr>
        <p:spPr>
          <a:xfrm>
            <a:off x="916686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06" name="Text 101"/>
          <p:cNvSpPr txBox="1"/>
          <p:nvPr/>
        </p:nvSpPr>
        <p:spPr>
          <a:xfrm>
            <a:off x="1060246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7" name="Shape 102"/>
          <p:cNvSpPr/>
          <p:nvPr/>
        </p:nvSpPr>
        <p:spPr>
          <a:xfrm>
            <a:off x="900226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9002268" y="499262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9" name="Text 104"/>
          <p:cNvSpPr txBox="1"/>
          <p:nvPr/>
        </p:nvSpPr>
        <p:spPr>
          <a:xfrm>
            <a:off x="916686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21</a:t>
            </a:r>
            <a:endParaRPr lang="en-US" sz="2400" dirty="0"/>
          </a:p>
        </p:txBody>
      </p:sp>
      <p:sp>
        <p:nvSpPr>
          <p:cNvPr id="110" name="Text 105"/>
          <p:cNvSpPr txBox="1"/>
          <p:nvPr/>
        </p:nvSpPr>
        <p:spPr>
          <a:xfrm>
            <a:off x="916686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AI support queries</a:t>
            </a:r>
            <a:endParaRPr lang="en-US" sz="1050" dirty="0"/>
          </a:p>
        </p:txBody>
      </p:sp>
      <p:sp>
        <p:nvSpPr>
          <p:cNvPr id="111" name="Text 106"/>
          <p:cNvSpPr txBox="1"/>
          <p:nvPr/>
        </p:nvSpPr>
        <p:spPr>
          <a:xfrm>
            <a:off x="916686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12" name="Text 107"/>
          <p:cNvSpPr txBox="1"/>
          <p:nvPr/>
        </p:nvSpPr>
        <p:spPr>
          <a:xfrm>
            <a:off x="1060246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atemIsa_202508993_IT9002_NLP_Project/emyaa-ceo-deck/working/charts/board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188720"/>
            <a:ext cx="12191695" cy="24689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66928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F3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PLATFORM ANALYTICS  |  PERFORMANCE DASHBOARD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57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 date: 29 Jun 2026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868680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6CFE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Reporting period: 14 May 2026 - 28 Jun 2026   |   Change on each card is against the previous report, 23 Jun 2026</a:t>
            </a:r>
            <a:endParaRPr lang="en-US" sz="1000" dirty="0"/>
          </a:p>
        </p:txBody>
      </p:sp>
      <p:pic>
        <p:nvPicPr>
          <p:cNvPr id="7" name="Image 1" descr="/home/user/HatemIsa_202508993_IT9002_NLP_Project/emyaa-ceo-deck/working/charts/ajy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02336"/>
            <a:ext cx="13258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" y="6272784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Source: eMYAA Daily Performance Dashboard, eMYAA_-_Daily_Performance_Dashboard-1.pdf, page 45. This report labels the money card 'Total Deposits'; later reports label the same measure 'Total AUM'.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eMYAA Trading Platform  |  Daily Performance Dashboard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9802368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48</a:t>
            </a:r>
            <a:endParaRPr lang="en-US" sz="800" dirty="0"/>
          </a:p>
        </p:txBody>
      </p:sp>
      <p:pic>
        <p:nvPicPr>
          <p:cNvPr id="11" name="Image 2" descr="/home/user/HatemIsa_202508993_IT9002_NLP_Project/emyaa-ceo-deck/working/charts/emyaa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6336792"/>
            <a:ext cx="1024128" cy="3657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66928" y="1408176"/>
            <a:ext cx="45720" cy="155448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665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DOWNLOADS &amp; RATINGS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6692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66928" y="170078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152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136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downloads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 Store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216712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+6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6692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66928" y="279806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3152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77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73152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downloads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73152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Apple App Store</a:t>
            </a:r>
            <a:endParaRPr lang="en-US" sz="850" dirty="0"/>
          </a:p>
        </p:txBody>
      </p:sp>
      <p:sp>
        <p:nvSpPr>
          <p:cNvPr id="25" name="Text 20"/>
          <p:cNvSpPr txBox="1"/>
          <p:nvPr/>
        </p:nvSpPr>
        <p:spPr>
          <a:xfrm>
            <a:off x="216712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6692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66928" y="389534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3152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29" name="Text 24"/>
          <p:cNvSpPr txBox="1"/>
          <p:nvPr/>
        </p:nvSpPr>
        <p:spPr>
          <a:xfrm>
            <a:off x="73152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app rating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73152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Play, 2 reviews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56692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66928" y="499262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3152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34" name="Text 29"/>
          <p:cNvSpPr txBox="1"/>
          <p:nvPr/>
        </p:nvSpPr>
        <p:spPr>
          <a:xfrm>
            <a:off x="73152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app rating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73152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 Store, 2 reviews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3378708" y="1408176"/>
            <a:ext cx="45720" cy="155448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48843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 ACTIVITY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337870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3378708" y="170078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354330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6</a:t>
            </a:r>
            <a:endParaRPr lang="en-US" sz="2400" dirty="0"/>
          </a:p>
        </p:txBody>
      </p:sp>
      <p:sp>
        <p:nvSpPr>
          <p:cNvPr id="41" name="Text 36"/>
          <p:cNvSpPr txBox="1"/>
          <p:nvPr/>
        </p:nvSpPr>
        <p:spPr>
          <a:xfrm>
            <a:off x="354330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deposited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354330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Funded accounts</a:t>
            </a:r>
            <a:endParaRPr lang="en-US" sz="850" dirty="0"/>
          </a:p>
        </p:txBody>
      </p:sp>
      <p:sp>
        <p:nvSpPr>
          <p:cNvPr id="43" name="Text 38"/>
          <p:cNvSpPr txBox="1"/>
          <p:nvPr/>
        </p:nvSpPr>
        <p:spPr>
          <a:xfrm>
            <a:off x="497890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+3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337870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3378708" y="279806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354330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$3,696.71</a:t>
            </a:r>
            <a:endParaRPr lang="en-US" sz="1900" dirty="0"/>
          </a:p>
        </p:txBody>
      </p:sp>
      <p:sp>
        <p:nvSpPr>
          <p:cNvPr id="47" name="Text 42"/>
          <p:cNvSpPr txBox="1"/>
          <p:nvPr/>
        </p:nvSpPr>
        <p:spPr>
          <a:xfrm>
            <a:off x="354330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deposits</a:t>
            </a:r>
            <a:endParaRPr lang="en-US" sz="1050" dirty="0"/>
          </a:p>
        </p:txBody>
      </p:sp>
      <p:sp>
        <p:nvSpPr>
          <p:cNvPr id="48" name="Text 43"/>
          <p:cNvSpPr txBox="1"/>
          <p:nvPr/>
        </p:nvSpPr>
        <p:spPr>
          <a:xfrm>
            <a:off x="354330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Cumulative platform deposits</a:t>
            </a:r>
            <a:endParaRPr lang="en-US" sz="850" dirty="0"/>
          </a:p>
        </p:txBody>
      </p:sp>
      <p:sp>
        <p:nvSpPr>
          <p:cNvPr id="49" name="Text 44"/>
          <p:cNvSpPr txBox="1"/>
          <p:nvPr/>
        </p:nvSpPr>
        <p:spPr>
          <a:xfrm>
            <a:off x="497890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+$1,608.14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337870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3378708" y="389534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354330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6</a:t>
            </a:r>
            <a:endParaRPr lang="en-US" sz="2400" dirty="0"/>
          </a:p>
        </p:txBody>
      </p:sp>
      <p:sp>
        <p:nvSpPr>
          <p:cNvPr id="53" name="Text 48"/>
          <p:cNvSpPr txBox="1"/>
          <p:nvPr/>
        </p:nvSpPr>
        <p:spPr>
          <a:xfrm>
            <a:off x="354330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traded</a:t>
            </a:r>
            <a:endParaRPr lang="en-US" sz="1050" dirty="0"/>
          </a:p>
        </p:txBody>
      </p:sp>
      <p:sp>
        <p:nvSpPr>
          <p:cNvPr id="54" name="Text 49"/>
          <p:cNvSpPr txBox="1"/>
          <p:nvPr/>
        </p:nvSpPr>
        <p:spPr>
          <a:xfrm>
            <a:off x="354330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Placed at least 1 trade</a:t>
            </a:r>
            <a:endParaRPr lang="en-US" sz="850" dirty="0"/>
          </a:p>
        </p:txBody>
      </p:sp>
      <p:sp>
        <p:nvSpPr>
          <p:cNvPr id="55" name="Text 50"/>
          <p:cNvSpPr txBox="1"/>
          <p:nvPr/>
        </p:nvSpPr>
        <p:spPr>
          <a:xfrm>
            <a:off x="497890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+2</a:t>
            </a:r>
            <a:endParaRPr lang="en-US" sz="850" dirty="0"/>
          </a:p>
        </p:txBody>
      </p:sp>
      <p:sp>
        <p:nvSpPr>
          <p:cNvPr id="56" name="Shape 51"/>
          <p:cNvSpPr/>
          <p:nvPr/>
        </p:nvSpPr>
        <p:spPr>
          <a:xfrm>
            <a:off x="337870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3378708" y="499262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354330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17</a:t>
            </a:r>
            <a:endParaRPr lang="en-US" sz="2400" dirty="0"/>
          </a:p>
        </p:txBody>
      </p:sp>
      <p:sp>
        <p:nvSpPr>
          <p:cNvPr id="59" name="Text 54"/>
          <p:cNvSpPr txBox="1"/>
          <p:nvPr/>
        </p:nvSpPr>
        <p:spPr>
          <a:xfrm>
            <a:off x="354330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trades</a:t>
            </a:r>
            <a:endParaRPr lang="en-US" sz="1050" dirty="0"/>
          </a:p>
        </p:txBody>
      </p:sp>
      <p:sp>
        <p:nvSpPr>
          <p:cNvPr id="60" name="Text 55"/>
          <p:cNvSpPr txBox="1"/>
          <p:nvPr/>
        </p:nvSpPr>
        <p:spPr>
          <a:xfrm>
            <a:off x="354330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Executed across all users</a:t>
            </a:r>
            <a:endParaRPr lang="en-US" sz="850" dirty="0"/>
          </a:p>
        </p:txBody>
      </p:sp>
      <p:sp>
        <p:nvSpPr>
          <p:cNvPr id="61" name="Text 56"/>
          <p:cNvSpPr txBox="1"/>
          <p:nvPr/>
        </p:nvSpPr>
        <p:spPr>
          <a:xfrm>
            <a:off x="497890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+8</a:t>
            </a:r>
            <a:endParaRPr lang="en-US" sz="850" dirty="0"/>
          </a:p>
        </p:txBody>
      </p:sp>
      <p:sp>
        <p:nvSpPr>
          <p:cNvPr id="62" name="Shape 57"/>
          <p:cNvSpPr/>
          <p:nvPr/>
        </p:nvSpPr>
        <p:spPr>
          <a:xfrm>
            <a:off x="6190488" y="1408176"/>
            <a:ext cx="45720" cy="1554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630021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KYC STATUS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619048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6190488" y="170078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635508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19</a:t>
            </a:r>
            <a:endParaRPr lang="en-US" sz="2400" dirty="0"/>
          </a:p>
        </p:txBody>
      </p:sp>
      <p:sp>
        <p:nvSpPr>
          <p:cNvPr id="67" name="Text 62"/>
          <p:cNvSpPr txBox="1"/>
          <p:nvPr/>
        </p:nvSpPr>
        <p:spPr>
          <a:xfrm>
            <a:off x="635508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onboarded</a:t>
            </a:r>
            <a:endParaRPr lang="en-US" sz="1050" dirty="0"/>
          </a:p>
        </p:txBody>
      </p:sp>
      <p:sp>
        <p:nvSpPr>
          <p:cNvPr id="68" name="Text 63"/>
          <p:cNvSpPr txBox="1"/>
          <p:nvPr/>
        </p:nvSpPr>
        <p:spPr>
          <a:xfrm>
            <a:off x="635508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Completed signup and verification</a:t>
            </a:r>
            <a:endParaRPr lang="en-US" sz="850" dirty="0"/>
          </a:p>
        </p:txBody>
      </p:sp>
      <p:sp>
        <p:nvSpPr>
          <p:cNvPr id="69" name="Text 64"/>
          <p:cNvSpPr txBox="1"/>
          <p:nvPr/>
        </p:nvSpPr>
        <p:spPr>
          <a:xfrm>
            <a:off x="779068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+4</a:t>
            </a:r>
            <a:endParaRPr lang="en-US" sz="850" dirty="0"/>
          </a:p>
        </p:txBody>
      </p:sp>
      <p:sp>
        <p:nvSpPr>
          <p:cNvPr id="70" name="Shape 65"/>
          <p:cNvSpPr/>
          <p:nvPr/>
        </p:nvSpPr>
        <p:spPr>
          <a:xfrm>
            <a:off x="619048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6190488" y="279806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2" name="Text 67"/>
          <p:cNvSpPr txBox="1"/>
          <p:nvPr/>
        </p:nvSpPr>
        <p:spPr>
          <a:xfrm>
            <a:off x="635508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90</a:t>
            </a:r>
            <a:endParaRPr lang="en-US" sz="2400" dirty="0"/>
          </a:p>
        </p:txBody>
      </p:sp>
      <p:sp>
        <p:nvSpPr>
          <p:cNvPr id="73" name="Text 68"/>
          <p:cNvSpPr txBox="1"/>
          <p:nvPr/>
        </p:nvSpPr>
        <p:spPr>
          <a:xfrm>
            <a:off x="635508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Incomplete KYC</a:t>
            </a:r>
            <a:endParaRPr lang="en-US" sz="1050" dirty="0"/>
          </a:p>
        </p:txBody>
      </p:sp>
      <p:sp>
        <p:nvSpPr>
          <p:cNvPr id="74" name="Text 69"/>
          <p:cNvSpPr txBox="1"/>
          <p:nvPr/>
        </p:nvSpPr>
        <p:spPr>
          <a:xfrm>
            <a:off x="635508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Started KYC but did not proceed</a:t>
            </a:r>
            <a:endParaRPr lang="en-US" sz="850" dirty="0"/>
          </a:p>
        </p:txBody>
      </p:sp>
      <p:sp>
        <p:nvSpPr>
          <p:cNvPr id="75" name="Text 70"/>
          <p:cNvSpPr txBox="1"/>
          <p:nvPr/>
        </p:nvSpPr>
        <p:spPr>
          <a:xfrm>
            <a:off x="779068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5303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+4</a:t>
            </a:r>
            <a:endParaRPr lang="en-US" sz="850" dirty="0"/>
          </a:p>
        </p:txBody>
      </p:sp>
      <p:sp>
        <p:nvSpPr>
          <p:cNvPr id="76" name="Shape 71"/>
          <p:cNvSpPr/>
          <p:nvPr/>
        </p:nvSpPr>
        <p:spPr>
          <a:xfrm>
            <a:off x="619048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6190488" y="389534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8" name="Text 73"/>
          <p:cNvSpPr txBox="1"/>
          <p:nvPr/>
        </p:nvSpPr>
        <p:spPr>
          <a:xfrm>
            <a:off x="635508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6</a:t>
            </a:r>
            <a:endParaRPr lang="en-US" sz="2400" dirty="0"/>
          </a:p>
        </p:txBody>
      </p:sp>
      <p:sp>
        <p:nvSpPr>
          <p:cNvPr id="79" name="Text 74"/>
          <p:cNvSpPr txBox="1"/>
          <p:nvPr/>
        </p:nvSpPr>
        <p:spPr>
          <a:xfrm>
            <a:off x="635508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Rejected KYC</a:t>
            </a:r>
            <a:endParaRPr lang="en-US" sz="1050" dirty="0"/>
          </a:p>
        </p:txBody>
      </p:sp>
      <p:sp>
        <p:nvSpPr>
          <p:cNvPr id="80" name="Text 75"/>
          <p:cNvSpPr txBox="1"/>
          <p:nvPr/>
        </p:nvSpPr>
        <p:spPr>
          <a:xfrm>
            <a:off x="635508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Resubmission required</a:t>
            </a:r>
            <a:endParaRPr lang="en-US" sz="850" dirty="0"/>
          </a:p>
        </p:txBody>
      </p:sp>
      <p:sp>
        <p:nvSpPr>
          <p:cNvPr id="81" name="Text 76"/>
          <p:cNvSpPr txBox="1"/>
          <p:nvPr/>
        </p:nvSpPr>
        <p:spPr>
          <a:xfrm>
            <a:off x="779068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5303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82" name="Shape 77"/>
          <p:cNvSpPr/>
          <p:nvPr/>
        </p:nvSpPr>
        <p:spPr>
          <a:xfrm>
            <a:off x="619048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6190488" y="499262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4" name="Text 79"/>
          <p:cNvSpPr txBox="1"/>
          <p:nvPr/>
        </p:nvSpPr>
        <p:spPr>
          <a:xfrm>
            <a:off x="635508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115</a:t>
            </a:r>
            <a:endParaRPr lang="en-US" sz="2400" dirty="0"/>
          </a:p>
        </p:txBody>
      </p:sp>
      <p:sp>
        <p:nvSpPr>
          <p:cNvPr id="85" name="Text 80"/>
          <p:cNvSpPr txBox="1"/>
          <p:nvPr/>
        </p:nvSpPr>
        <p:spPr>
          <a:xfrm>
            <a:off x="635508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KYC applications</a:t>
            </a:r>
            <a:endParaRPr lang="en-US" sz="1050" dirty="0"/>
          </a:p>
        </p:txBody>
      </p:sp>
      <p:sp>
        <p:nvSpPr>
          <p:cNvPr id="86" name="Text 81"/>
          <p:cNvSpPr txBox="1"/>
          <p:nvPr/>
        </p:nvSpPr>
        <p:spPr>
          <a:xfrm>
            <a:off x="635508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Onboarded + incomplete + rejected</a:t>
            </a:r>
            <a:endParaRPr lang="en-US" sz="850" dirty="0"/>
          </a:p>
        </p:txBody>
      </p:sp>
      <p:sp>
        <p:nvSpPr>
          <p:cNvPr id="87" name="Shape 82"/>
          <p:cNvSpPr/>
          <p:nvPr/>
        </p:nvSpPr>
        <p:spPr>
          <a:xfrm>
            <a:off x="9002268" y="1408176"/>
            <a:ext cx="45720" cy="155448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88" name="Text 83"/>
          <p:cNvSpPr txBox="1"/>
          <p:nvPr/>
        </p:nvSpPr>
        <p:spPr>
          <a:xfrm>
            <a:off x="911199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SUPPORT TICKETS</a:t>
            </a:r>
            <a:endParaRPr lang="en-US" sz="900" dirty="0"/>
          </a:p>
        </p:txBody>
      </p:sp>
      <p:sp>
        <p:nvSpPr>
          <p:cNvPr id="89" name="Shape 84"/>
          <p:cNvSpPr/>
          <p:nvPr/>
        </p:nvSpPr>
        <p:spPr>
          <a:xfrm>
            <a:off x="900226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9002268" y="170078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1" name="Text 86"/>
          <p:cNvSpPr txBox="1"/>
          <p:nvPr/>
        </p:nvSpPr>
        <p:spPr>
          <a:xfrm>
            <a:off x="916686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</a:t>
            </a:r>
            <a:endParaRPr lang="en-US" sz="2400" dirty="0"/>
          </a:p>
        </p:txBody>
      </p:sp>
      <p:sp>
        <p:nvSpPr>
          <p:cNvPr id="92" name="Text 87"/>
          <p:cNvSpPr txBox="1"/>
          <p:nvPr/>
        </p:nvSpPr>
        <p:spPr>
          <a:xfrm>
            <a:off x="916686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created</a:t>
            </a:r>
            <a:endParaRPr lang="en-US" sz="1050" dirty="0"/>
          </a:p>
        </p:txBody>
      </p:sp>
      <p:sp>
        <p:nvSpPr>
          <p:cNvPr id="93" name="Text 88"/>
          <p:cNvSpPr txBox="1"/>
          <p:nvPr/>
        </p:nvSpPr>
        <p:spPr>
          <a:xfrm>
            <a:off x="916686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94" name="Text 89"/>
          <p:cNvSpPr txBox="1"/>
          <p:nvPr/>
        </p:nvSpPr>
        <p:spPr>
          <a:xfrm>
            <a:off x="1060246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95" name="Shape 90"/>
          <p:cNvSpPr/>
          <p:nvPr/>
        </p:nvSpPr>
        <p:spPr>
          <a:xfrm>
            <a:off x="900226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9002268" y="279806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7" name="Text 92"/>
          <p:cNvSpPr txBox="1"/>
          <p:nvPr/>
        </p:nvSpPr>
        <p:spPr>
          <a:xfrm>
            <a:off x="916686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</a:t>
            </a:r>
            <a:endParaRPr lang="en-US" sz="2400" dirty="0"/>
          </a:p>
        </p:txBody>
      </p:sp>
      <p:sp>
        <p:nvSpPr>
          <p:cNvPr id="98" name="Text 93"/>
          <p:cNvSpPr txBox="1"/>
          <p:nvPr/>
        </p:nvSpPr>
        <p:spPr>
          <a:xfrm>
            <a:off x="916686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resolved</a:t>
            </a:r>
            <a:endParaRPr lang="en-US" sz="1050" dirty="0"/>
          </a:p>
        </p:txBody>
      </p:sp>
      <p:sp>
        <p:nvSpPr>
          <p:cNvPr id="99" name="Text 94"/>
          <p:cNvSpPr txBox="1"/>
          <p:nvPr/>
        </p:nvSpPr>
        <p:spPr>
          <a:xfrm>
            <a:off x="916686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100% of tickets created</a:t>
            </a:r>
            <a:endParaRPr lang="en-US" sz="850" dirty="0"/>
          </a:p>
        </p:txBody>
      </p:sp>
      <p:sp>
        <p:nvSpPr>
          <p:cNvPr id="100" name="Text 95"/>
          <p:cNvSpPr txBox="1"/>
          <p:nvPr/>
        </p:nvSpPr>
        <p:spPr>
          <a:xfrm>
            <a:off x="1060246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1" name="Shape 96"/>
          <p:cNvSpPr/>
          <p:nvPr/>
        </p:nvSpPr>
        <p:spPr>
          <a:xfrm>
            <a:off x="900226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9002268" y="389534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3" name="Text 98"/>
          <p:cNvSpPr txBox="1"/>
          <p:nvPr/>
        </p:nvSpPr>
        <p:spPr>
          <a:xfrm>
            <a:off x="916686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</a:t>
            </a:r>
            <a:endParaRPr lang="en-US" sz="2400" dirty="0"/>
          </a:p>
        </p:txBody>
      </p:sp>
      <p:sp>
        <p:nvSpPr>
          <p:cNvPr id="104" name="Text 99"/>
          <p:cNvSpPr txBox="1"/>
          <p:nvPr/>
        </p:nvSpPr>
        <p:spPr>
          <a:xfrm>
            <a:off x="916686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Email queries</a:t>
            </a:r>
            <a:endParaRPr lang="en-US" sz="1050" dirty="0"/>
          </a:p>
        </p:txBody>
      </p:sp>
      <p:sp>
        <p:nvSpPr>
          <p:cNvPr id="105" name="Text 100"/>
          <p:cNvSpPr txBox="1"/>
          <p:nvPr/>
        </p:nvSpPr>
        <p:spPr>
          <a:xfrm>
            <a:off x="916686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06" name="Text 101"/>
          <p:cNvSpPr txBox="1"/>
          <p:nvPr/>
        </p:nvSpPr>
        <p:spPr>
          <a:xfrm>
            <a:off x="1060246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7" name="Shape 102"/>
          <p:cNvSpPr/>
          <p:nvPr/>
        </p:nvSpPr>
        <p:spPr>
          <a:xfrm>
            <a:off x="900226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9002268" y="499262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9" name="Text 104"/>
          <p:cNvSpPr txBox="1"/>
          <p:nvPr/>
        </p:nvSpPr>
        <p:spPr>
          <a:xfrm>
            <a:off x="916686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21</a:t>
            </a:r>
            <a:endParaRPr lang="en-US" sz="2400" dirty="0"/>
          </a:p>
        </p:txBody>
      </p:sp>
      <p:sp>
        <p:nvSpPr>
          <p:cNvPr id="110" name="Text 105"/>
          <p:cNvSpPr txBox="1"/>
          <p:nvPr/>
        </p:nvSpPr>
        <p:spPr>
          <a:xfrm>
            <a:off x="916686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AI support queries</a:t>
            </a:r>
            <a:endParaRPr lang="en-US" sz="1050" dirty="0"/>
          </a:p>
        </p:txBody>
      </p:sp>
      <p:sp>
        <p:nvSpPr>
          <p:cNvPr id="111" name="Text 106"/>
          <p:cNvSpPr txBox="1"/>
          <p:nvPr/>
        </p:nvSpPr>
        <p:spPr>
          <a:xfrm>
            <a:off x="916686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12" name="Text 107"/>
          <p:cNvSpPr txBox="1"/>
          <p:nvPr/>
        </p:nvSpPr>
        <p:spPr>
          <a:xfrm>
            <a:off x="1060246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atemIsa_202508993_IT9002_NLP_Project/emyaa-ceo-deck/working/charts/board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188720"/>
            <a:ext cx="12191695" cy="24689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66928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F3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PLATFORM ANALYTICS  |  PERFORMANCE DASHBOARD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57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 date: 23 Jun 2026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868680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6CFE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Reporting period: 14 May 2026 - 22 Jun 2026   |   Change on each card is against the previous report, 22 Jun 2026</a:t>
            </a:r>
            <a:endParaRPr lang="en-US" sz="1000" dirty="0"/>
          </a:p>
        </p:txBody>
      </p:sp>
      <p:pic>
        <p:nvPicPr>
          <p:cNvPr id="7" name="Image 1" descr="/home/user/HatemIsa_202508993_IT9002_NLP_Project/emyaa-ceo-deck/working/charts/ajy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02336"/>
            <a:ext cx="13258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" y="6272784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Source: eMYAA Daily Performance Dashboard, eMYAA_-_Daily_Performance_Dashboard-1.pdf, page 46. This report labels the money card 'Total Deposits'; later reports label the same measure 'Total AUM'.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eMYAA Trading Platform  |  Daily Performance Dashboard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9802368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49</a:t>
            </a:r>
            <a:endParaRPr lang="en-US" sz="800" dirty="0"/>
          </a:p>
        </p:txBody>
      </p:sp>
      <p:pic>
        <p:nvPicPr>
          <p:cNvPr id="11" name="Image 2" descr="/home/user/HatemIsa_202508993_IT9002_NLP_Project/emyaa-ceo-deck/working/charts/emyaa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6336792"/>
            <a:ext cx="1024128" cy="3657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66928" y="1408176"/>
            <a:ext cx="45720" cy="155448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665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DOWNLOADS &amp; RATINGS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6692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66928" y="170078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152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130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downloads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 Store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216712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6692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66928" y="279806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3152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76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73152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downloads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73152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Apple App Store</a:t>
            </a:r>
            <a:endParaRPr lang="en-US" sz="850" dirty="0"/>
          </a:p>
        </p:txBody>
      </p:sp>
      <p:sp>
        <p:nvSpPr>
          <p:cNvPr id="25" name="Text 20"/>
          <p:cNvSpPr txBox="1"/>
          <p:nvPr/>
        </p:nvSpPr>
        <p:spPr>
          <a:xfrm>
            <a:off x="216712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6692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66928" y="389534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3152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29" name="Text 24"/>
          <p:cNvSpPr txBox="1"/>
          <p:nvPr/>
        </p:nvSpPr>
        <p:spPr>
          <a:xfrm>
            <a:off x="73152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app rating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73152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Play, 2 reviews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56692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66928" y="499262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3152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34" name="Text 29"/>
          <p:cNvSpPr txBox="1"/>
          <p:nvPr/>
        </p:nvSpPr>
        <p:spPr>
          <a:xfrm>
            <a:off x="73152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app rating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73152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 Store, 2 reviews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3378708" y="1408176"/>
            <a:ext cx="45720" cy="155448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48843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 ACTIVITY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337870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3378708" y="170078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354330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</a:t>
            </a:r>
            <a:endParaRPr lang="en-US" sz="2400" dirty="0"/>
          </a:p>
        </p:txBody>
      </p:sp>
      <p:sp>
        <p:nvSpPr>
          <p:cNvPr id="41" name="Text 36"/>
          <p:cNvSpPr txBox="1"/>
          <p:nvPr/>
        </p:nvSpPr>
        <p:spPr>
          <a:xfrm>
            <a:off x="354330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deposited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354330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Funded accounts</a:t>
            </a:r>
            <a:endParaRPr lang="en-US" sz="850" dirty="0"/>
          </a:p>
        </p:txBody>
      </p:sp>
      <p:sp>
        <p:nvSpPr>
          <p:cNvPr id="43" name="Text 38"/>
          <p:cNvSpPr txBox="1"/>
          <p:nvPr/>
        </p:nvSpPr>
        <p:spPr>
          <a:xfrm>
            <a:off x="497890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337870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3378708" y="279806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354330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$2,088.57</a:t>
            </a:r>
            <a:endParaRPr lang="en-US" sz="1900" dirty="0"/>
          </a:p>
        </p:txBody>
      </p:sp>
      <p:sp>
        <p:nvSpPr>
          <p:cNvPr id="47" name="Text 42"/>
          <p:cNvSpPr txBox="1"/>
          <p:nvPr/>
        </p:nvSpPr>
        <p:spPr>
          <a:xfrm>
            <a:off x="354330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deposits</a:t>
            </a:r>
            <a:endParaRPr lang="en-US" sz="1050" dirty="0"/>
          </a:p>
        </p:txBody>
      </p:sp>
      <p:sp>
        <p:nvSpPr>
          <p:cNvPr id="48" name="Text 43"/>
          <p:cNvSpPr txBox="1"/>
          <p:nvPr/>
        </p:nvSpPr>
        <p:spPr>
          <a:xfrm>
            <a:off x="354330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Cumulative platform deposits</a:t>
            </a:r>
            <a:endParaRPr lang="en-US" sz="850" dirty="0"/>
          </a:p>
        </p:txBody>
      </p:sp>
      <p:sp>
        <p:nvSpPr>
          <p:cNvPr id="49" name="Text 44"/>
          <p:cNvSpPr txBox="1"/>
          <p:nvPr/>
        </p:nvSpPr>
        <p:spPr>
          <a:xfrm>
            <a:off x="497890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337870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3378708" y="389534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354330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</a:t>
            </a:r>
            <a:endParaRPr lang="en-US" sz="2400" dirty="0"/>
          </a:p>
        </p:txBody>
      </p:sp>
      <p:sp>
        <p:nvSpPr>
          <p:cNvPr id="53" name="Text 48"/>
          <p:cNvSpPr txBox="1"/>
          <p:nvPr/>
        </p:nvSpPr>
        <p:spPr>
          <a:xfrm>
            <a:off x="354330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traded</a:t>
            </a:r>
            <a:endParaRPr lang="en-US" sz="1050" dirty="0"/>
          </a:p>
        </p:txBody>
      </p:sp>
      <p:sp>
        <p:nvSpPr>
          <p:cNvPr id="54" name="Text 49"/>
          <p:cNvSpPr txBox="1"/>
          <p:nvPr/>
        </p:nvSpPr>
        <p:spPr>
          <a:xfrm>
            <a:off x="354330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Placed at least 1 trade</a:t>
            </a:r>
            <a:endParaRPr lang="en-US" sz="850" dirty="0"/>
          </a:p>
        </p:txBody>
      </p:sp>
      <p:sp>
        <p:nvSpPr>
          <p:cNvPr id="55" name="Text 50"/>
          <p:cNvSpPr txBox="1"/>
          <p:nvPr/>
        </p:nvSpPr>
        <p:spPr>
          <a:xfrm>
            <a:off x="497890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6" name="Shape 51"/>
          <p:cNvSpPr/>
          <p:nvPr/>
        </p:nvSpPr>
        <p:spPr>
          <a:xfrm>
            <a:off x="337870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3378708" y="499262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354330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9</a:t>
            </a:r>
            <a:endParaRPr lang="en-US" sz="2400" dirty="0"/>
          </a:p>
        </p:txBody>
      </p:sp>
      <p:sp>
        <p:nvSpPr>
          <p:cNvPr id="59" name="Text 54"/>
          <p:cNvSpPr txBox="1"/>
          <p:nvPr/>
        </p:nvSpPr>
        <p:spPr>
          <a:xfrm>
            <a:off x="354330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trades</a:t>
            </a:r>
            <a:endParaRPr lang="en-US" sz="1050" dirty="0"/>
          </a:p>
        </p:txBody>
      </p:sp>
      <p:sp>
        <p:nvSpPr>
          <p:cNvPr id="60" name="Text 55"/>
          <p:cNvSpPr txBox="1"/>
          <p:nvPr/>
        </p:nvSpPr>
        <p:spPr>
          <a:xfrm>
            <a:off x="354330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Executed across all users</a:t>
            </a:r>
            <a:endParaRPr lang="en-US" sz="850" dirty="0"/>
          </a:p>
        </p:txBody>
      </p:sp>
      <p:sp>
        <p:nvSpPr>
          <p:cNvPr id="61" name="Text 56"/>
          <p:cNvSpPr txBox="1"/>
          <p:nvPr/>
        </p:nvSpPr>
        <p:spPr>
          <a:xfrm>
            <a:off x="497890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62" name="Shape 57"/>
          <p:cNvSpPr/>
          <p:nvPr/>
        </p:nvSpPr>
        <p:spPr>
          <a:xfrm>
            <a:off x="6190488" y="1408176"/>
            <a:ext cx="45720" cy="1554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630021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KYC STATUS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619048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6190488" y="170078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635508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15</a:t>
            </a:r>
            <a:endParaRPr lang="en-US" sz="2400" dirty="0"/>
          </a:p>
        </p:txBody>
      </p:sp>
      <p:sp>
        <p:nvSpPr>
          <p:cNvPr id="67" name="Text 62"/>
          <p:cNvSpPr txBox="1"/>
          <p:nvPr/>
        </p:nvSpPr>
        <p:spPr>
          <a:xfrm>
            <a:off x="635508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onboarded</a:t>
            </a:r>
            <a:endParaRPr lang="en-US" sz="1050" dirty="0"/>
          </a:p>
        </p:txBody>
      </p:sp>
      <p:sp>
        <p:nvSpPr>
          <p:cNvPr id="68" name="Text 63"/>
          <p:cNvSpPr txBox="1"/>
          <p:nvPr/>
        </p:nvSpPr>
        <p:spPr>
          <a:xfrm>
            <a:off x="635508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Completed signup and verification</a:t>
            </a:r>
            <a:endParaRPr lang="en-US" sz="850" dirty="0"/>
          </a:p>
        </p:txBody>
      </p:sp>
      <p:sp>
        <p:nvSpPr>
          <p:cNvPr id="69" name="Text 64"/>
          <p:cNvSpPr txBox="1"/>
          <p:nvPr/>
        </p:nvSpPr>
        <p:spPr>
          <a:xfrm>
            <a:off x="779068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70" name="Shape 65"/>
          <p:cNvSpPr/>
          <p:nvPr/>
        </p:nvSpPr>
        <p:spPr>
          <a:xfrm>
            <a:off x="619048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6190488" y="279806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2" name="Text 67"/>
          <p:cNvSpPr txBox="1"/>
          <p:nvPr/>
        </p:nvSpPr>
        <p:spPr>
          <a:xfrm>
            <a:off x="635508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86</a:t>
            </a:r>
            <a:endParaRPr lang="en-US" sz="2400" dirty="0"/>
          </a:p>
        </p:txBody>
      </p:sp>
      <p:sp>
        <p:nvSpPr>
          <p:cNvPr id="73" name="Text 68"/>
          <p:cNvSpPr txBox="1"/>
          <p:nvPr/>
        </p:nvSpPr>
        <p:spPr>
          <a:xfrm>
            <a:off x="635508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Incomplete KYC</a:t>
            </a:r>
            <a:endParaRPr lang="en-US" sz="1050" dirty="0"/>
          </a:p>
        </p:txBody>
      </p:sp>
      <p:sp>
        <p:nvSpPr>
          <p:cNvPr id="74" name="Text 69"/>
          <p:cNvSpPr txBox="1"/>
          <p:nvPr/>
        </p:nvSpPr>
        <p:spPr>
          <a:xfrm>
            <a:off x="635508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Started KYC but did not proceed</a:t>
            </a:r>
            <a:endParaRPr lang="en-US" sz="850" dirty="0"/>
          </a:p>
        </p:txBody>
      </p:sp>
      <p:sp>
        <p:nvSpPr>
          <p:cNvPr id="75" name="Text 70"/>
          <p:cNvSpPr txBox="1"/>
          <p:nvPr/>
        </p:nvSpPr>
        <p:spPr>
          <a:xfrm>
            <a:off x="779068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5303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+2</a:t>
            </a:r>
            <a:endParaRPr lang="en-US" sz="850" dirty="0"/>
          </a:p>
        </p:txBody>
      </p:sp>
      <p:sp>
        <p:nvSpPr>
          <p:cNvPr id="76" name="Shape 71"/>
          <p:cNvSpPr/>
          <p:nvPr/>
        </p:nvSpPr>
        <p:spPr>
          <a:xfrm>
            <a:off x="619048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6190488" y="389534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8" name="Text 73"/>
          <p:cNvSpPr txBox="1"/>
          <p:nvPr/>
        </p:nvSpPr>
        <p:spPr>
          <a:xfrm>
            <a:off x="635508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</a:t>
            </a:r>
            <a:endParaRPr lang="en-US" sz="2400" dirty="0"/>
          </a:p>
        </p:txBody>
      </p:sp>
      <p:sp>
        <p:nvSpPr>
          <p:cNvPr id="79" name="Text 74"/>
          <p:cNvSpPr txBox="1"/>
          <p:nvPr/>
        </p:nvSpPr>
        <p:spPr>
          <a:xfrm>
            <a:off x="635508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Rejected KYC</a:t>
            </a:r>
            <a:endParaRPr lang="en-US" sz="1050" dirty="0"/>
          </a:p>
        </p:txBody>
      </p:sp>
      <p:sp>
        <p:nvSpPr>
          <p:cNvPr id="80" name="Text 75"/>
          <p:cNvSpPr txBox="1"/>
          <p:nvPr/>
        </p:nvSpPr>
        <p:spPr>
          <a:xfrm>
            <a:off x="635508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Resubmission required</a:t>
            </a:r>
            <a:endParaRPr lang="en-US" sz="850" dirty="0"/>
          </a:p>
        </p:txBody>
      </p:sp>
      <p:sp>
        <p:nvSpPr>
          <p:cNvPr id="81" name="Text 76"/>
          <p:cNvSpPr txBox="1"/>
          <p:nvPr/>
        </p:nvSpPr>
        <p:spPr>
          <a:xfrm>
            <a:off x="779068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82" name="Shape 77"/>
          <p:cNvSpPr/>
          <p:nvPr/>
        </p:nvSpPr>
        <p:spPr>
          <a:xfrm>
            <a:off x="619048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6190488" y="499262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4" name="Text 79"/>
          <p:cNvSpPr txBox="1"/>
          <p:nvPr/>
        </p:nvSpPr>
        <p:spPr>
          <a:xfrm>
            <a:off x="635508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106</a:t>
            </a:r>
            <a:endParaRPr lang="en-US" sz="2400" dirty="0"/>
          </a:p>
        </p:txBody>
      </p:sp>
      <p:sp>
        <p:nvSpPr>
          <p:cNvPr id="85" name="Text 80"/>
          <p:cNvSpPr txBox="1"/>
          <p:nvPr/>
        </p:nvSpPr>
        <p:spPr>
          <a:xfrm>
            <a:off x="635508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KYC applications</a:t>
            </a:r>
            <a:endParaRPr lang="en-US" sz="1050" dirty="0"/>
          </a:p>
        </p:txBody>
      </p:sp>
      <p:sp>
        <p:nvSpPr>
          <p:cNvPr id="86" name="Text 81"/>
          <p:cNvSpPr txBox="1"/>
          <p:nvPr/>
        </p:nvSpPr>
        <p:spPr>
          <a:xfrm>
            <a:off x="635508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Onboarded + incomplete + rejected</a:t>
            </a:r>
            <a:endParaRPr lang="en-US" sz="850" dirty="0"/>
          </a:p>
        </p:txBody>
      </p:sp>
      <p:sp>
        <p:nvSpPr>
          <p:cNvPr id="87" name="Shape 82"/>
          <p:cNvSpPr/>
          <p:nvPr/>
        </p:nvSpPr>
        <p:spPr>
          <a:xfrm>
            <a:off x="9002268" y="1408176"/>
            <a:ext cx="45720" cy="155448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88" name="Text 83"/>
          <p:cNvSpPr txBox="1"/>
          <p:nvPr/>
        </p:nvSpPr>
        <p:spPr>
          <a:xfrm>
            <a:off x="911199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SUPPORT TICKETS</a:t>
            </a:r>
            <a:endParaRPr lang="en-US" sz="900" dirty="0"/>
          </a:p>
        </p:txBody>
      </p:sp>
      <p:sp>
        <p:nvSpPr>
          <p:cNvPr id="89" name="Shape 84"/>
          <p:cNvSpPr/>
          <p:nvPr/>
        </p:nvSpPr>
        <p:spPr>
          <a:xfrm>
            <a:off x="900226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9002268" y="170078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1" name="Text 86"/>
          <p:cNvSpPr txBox="1"/>
          <p:nvPr/>
        </p:nvSpPr>
        <p:spPr>
          <a:xfrm>
            <a:off x="916686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</a:t>
            </a:r>
            <a:endParaRPr lang="en-US" sz="2400" dirty="0"/>
          </a:p>
        </p:txBody>
      </p:sp>
      <p:sp>
        <p:nvSpPr>
          <p:cNvPr id="92" name="Text 87"/>
          <p:cNvSpPr txBox="1"/>
          <p:nvPr/>
        </p:nvSpPr>
        <p:spPr>
          <a:xfrm>
            <a:off x="916686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created</a:t>
            </a:r>
            <a:endParaRPr lang="en-US" sz="1050" dirty="0"/>
          </a:p>
        </p:txBody>
      </p:sp>
      <p:sp>
        <p:nvSpPr>
          <p:cNvPr id="93" name="Text 88"/>
          <p:cNvSpPr txBox="1"/>
          <p:nvPr/>
        </p:nvSpPr>
        <p:spPr>
          <a:xfrm>
            <a:off x="916686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94" name="Text 89"/>
          <p:cNvSpPr txBox="1"/>
          <p:nvPr/>
        </p:nvSpPr>
        <p:spPr>
          <a:xfrm>
            <a:off x="1060246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95" name="Shape 90"/>
          <p:cNvSpPr/>
          <p:nvPr/>
        </p:nvSpPr>
        <p:spPr>
          <a:xfrm>
            <a:off x="900226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9002268" y="279806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7" name="Text 92"/>
          <p:cNvSpPr txBox="1"/>
          <p:nvPr/>
        </p:nvSpPr>
        <p:spPr>
          <a:xfrm>
            <a:off x="916686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</a:t>
            </a:r>
            <a:endParaRPr lang="en-US" sz="2400" dirty="0"/>
          </a:p>
        </p:txBody>
      </p:sp>
      <p:sp>
        <p:nvSpPr>
          <p:cNvPr id="98" name="Text 93"/>
          <p:cNvSpPr txBox="1"/>
          <p:nvPr/>
        </p:nvSpPr>
        <p:spPr>
          <a:xfrm>
            <a:off x="916686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resolved</a:t>
            </a:r>
            <a:endParaRPr lang="en-US" sz="1050" dirty="0"/>
          </a:p>
        </p:txBody>
      </p:sp>
      <p:sp>
        <p:nvSpPr>
          <p:cNvPr id="99" name="Text 94"/>
          <p:cNvSpPr txBox="1"/>
          <p:nvPr/>
        </p:nvSpPr>
        <p:spPr>
          <a:xfrm>
            <a:off x="916686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100% of tickets created</a:t>
            </a:r>
            <a:endParaRPr lang="en-US" sz="850" dirty="0"/>
          </a:p>
        </p:txBody>
      </p:sp>
      <p:sp>
        <p:nvSpPr>
          <p:cNvPr id="100" name="Text 95"/>
          <p:cNvSpPr txBox="1"/>
          <p:nvPr/>
        </p:nvSpPr>
        <p:spPr>
          <a:xfrm>
            <a:off x="1060246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1" name="Shape 96"/>
          <p:cNvSpPr/>
          <p:nvPr/>
        </p:nvSpPr>
        <p:spPr>
          <a:xfrm>
            <a:off x="900226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9002268" y="389534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3" name="Text 98"/>
          <p:cNvSpPr txBox="1"/>
          <p:nvPr/>
        </p:nvSpPr>
        <p:spPr>
          <a:xfrm>
            <a:off x="916686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</a:t>
            </a:r>
            <a:endParaRPr lang="en-US" sz="2400" dirty="0"/>
          </a:p>
        </p:txBody>
      </p:sp>
      <p:sp>
        <p:nvSpPr>
          <p:cNvPr id="104" name="Text 99"/>
          <p:cNvSpPr txBox="1"/>
          <p:nvPr/>
        </p:nvSpPr>
        <p:spPr>
          <a:xfrm>
            <a:off x="916686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Email queries</a:t>
            </a:r>
            <a:endParaRPr lang="en-US" sz="1050" dirty="0"/>
          </a:p>
        </p:txBody>
      </p:sp>
      <p:sp>
        <p:nvSpPr>
          <p:cNvPr id="105" name="Text 100"/>
          <p:cNvSpPr txBox="1"/>
          <p:nvPr/>
        </p:nvSpPr>
        <p:spPr>
          <a:xfrm>
            <a:off x="916686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06" name="Text 101"/>
          <p:cNvSpPr txBox="1"/>
          <p:nvPr/>
        </p:nvSpPr>
        <p:spPr>
          <a:xfrm>
            <a:off x="1060246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7" name="Shape 102"/>
          <p:cNvSpPr/>
          <p:nvPr/>
        </p:nvSpPr>
        <p:spPr>
          <a:xfrm>
            <a:off x="900226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9002268" y="499262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9" name="Text 104"/>
          <p:cNvSpPr txBox="1"/>
          <p:nvPr/>
        </p:nvSpPr>
        <p:spPr>
          <a:xfrm>
            <a:off x="916686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21</a:t>
            </a:r>
            <a:endParaRPr lang="en-US" sz="2400" dirty="0"/>
          </a:p>
        </p:txBody>
      </p:sp>
      <p:sp>
        <p:nvSpPr>
          <p:cNvPr id="110" name="Text 105"/>
          <p:cNvSpPr txBox="1"/>
          <p:nvPr/>
        </p:nvSpPr>
        <p:spPr>
          <a:xfrm>
            <a:off x="916686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AI support queries</a:t>
            </a:r>
            <a:endParaRPr lang="en-US" sz="1050" dirty="0"/>
          </a:p>
        </p:txBody>
      </p:sp>
      <p:sp>
        <p:nvSpPr>
          <p:cNvPr id="111" name="Text 106"/>
          <p:cNvSpPr txBox="1"/>
          <p:nvPr/>
        </p:nvSpPr>
        <p:spPr>
          <a:xfrm>
            <a:off x="916686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12" name="Text 107"/>
          <p:cNvSpPr txBox="1"/>
          <p:nvPr/>
        </p:nvSpPr>
        <p:spPr>
          <a:xfrm>
            <a:off x="1060246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atemIsa_202508993_IT9002_NLP_Project/emyaa-ceo-deck/working/charts/board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188720"/>
            <a:ext cx="12191695" cy="24689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66928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F3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PLATFORM ANALYTICS  |  PERFORMANCE DASHBOARD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57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 date: 22 Jun 2026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868680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6CFE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Reporting period: 14 May 2026 - 21 Jun 2026   |   Change on each card is against the previous report, 21 Jun 2026</a:t>
            </a:r>
            <a:endParaRPr lang="en-US" sz="1000" dirty="0"/>
          </a:p>
        </p:txBody>
      </p:sp>
      <p:pic>
        <p:nvPicPr>
          <p:cNvPr id="7" name="Image 1" descr="/home/user/HatemIsa_202508993_IT9002_NLP_Project/emyaa-ceo-deck/working/charts/ajy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02336"/>
            <a:ext cx="13258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" y="6272784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Source: eMYAA Daily Performance Dashboard, eMYAA_-_Daily_Performance_Dashboard-1.pdf, page 47. This report labels the money card 'Total Deposits'; later reports label the same measure 'Total AUM'.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eMYAA Trading Platform  |  Daily Performance Dashboard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9802368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50</a:t>
            </a:r>
            <a:endParaRPr lang="en-US" sz="800" dirty="0"/>
          </a:p>
        </p:txBody>
      </p:sp>
      <p:pic>
        <p:nvPicPr>
          <p:cNvPr id="11" name="Image 2" descr="/home/user/HatemIsa_202508993_IT9002_NLP_Project/emyaa-ceo-deck/working/charts/emyaa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6336792"/>
            <a:ext cx="1024128" cy="3657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66928" y="1408176"/>
            <a:ext cx="45720" cy="155448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665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DOWNLOADS &amp; RATINGS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6692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66928" y="170078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152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130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downloads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 Store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216712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6692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66928" y="279806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3152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75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73152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downloads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73152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Apple App Store</a:t>
            </a:r>
            <a:endParaRPr lang="en-US" sz="850" dirty="0"/>
          </a:p>
        </p:txBody>
      </p:sp>
      <p:sp>
        <p:nvSpPr>
          <p:cNvPr id="25" name="Text 20"/>
          <p:cNvSpPr txBox="1"/>
          <p:nvPr/>
        </p:nvSpPr>
        <p:spPr>
          <a:xfrm>
            <a:off x="216712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6692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66928" y="389534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3152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29" name="Text 24"/>
          <p:cNvSpPr txBox="1"/>
          <p:nvPr/>
        </p:nvSpPr>
        <p:spPr>
          <a:xfrm>
            <a:off x="73152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app rating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73152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Play, 2 reviews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56692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66928" y="499262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3152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34" name="Text 29"/>
          <p:cNvSpPr txBox="1"/>
          <p:nvPr/>
        </p:nvSpPr>
        <p:spPr>
          <a:xfrm>
            <a:off x="73152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app rating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73152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 Store, 2 reviews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3378708" y="1408176"/>
            <a:ext cx="45720" cy="155448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48843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 ACTIVITY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337870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3378708" y="170078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354330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</a:t>
            </a:r>
            <a:endParaRPr lang="en-US" sz="2400" dirty="0"/>
          </a:p>
        </p:txBody>
      </p:sp>
      <p:sp>
        <p:nvSpPr>
          <p:cNvPr id="41" name="Text 36"/>
          <p:cNvSpPr txBox="1"/>
          <p:nvPr/>
        </p:nvSpPr>
        <p:spPr>
          <a:xfrm>
            <a:off x="354330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deposited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354330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Funded accounts</a:t>
            </a:r>
            <a:endParaRPr lang="en-US" sz="850" dirty="0"/>
          </a:p>
        </p:txBody>
      </p:sp>
      <p:sp>
        <p:nvSpPr>
          <p:cNvPr id="43" name="Text 38"/>
          <p:cNvSpPr txBox="1"/>
          <p:nvPr/>
        </p:nvSpPr>
        <p:spPr>
          <a:xfrm>
            <a:off x="497890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337870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3378708" y="279806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354330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$2,088.57</a:t>
            </a:r>
            <a:endParaRPr lang="en-US" sz="1900" dirty="0"/>
          </a:p>
        </p:txBody>
      </p:sp>
      <p:sp>
        <p:nvSpPr>
          <p:cNvPr id="47" name="Text 42"/>
          <p:cNvSpPr txBox="1"/>
          <p:nvPr/>
        </p:nvSpPr>
        <p:spPr>
          <a:xfrm>
            <a:off x="354330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deposits</a:t>
            </a:r>
            <a:endParaRPr lang="en-US" sz="1050" dirty="0"/>
          </a:p>
        </p:txBody>
      </p:sp>
      <p:sp>
        <p:nvSpPr>
          <p:cNvPr id="48" name="Text 43"/>
          <p:cNvSpPr txBox="1"/>
          <p:nvPr/>
        </p:nvSpPr>
        <p:spPr>
          <a:xfrm>
            <a:off x="354330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Cumulative platform deposits</a:t>
            </a:r>
            <a:endParaRPr lang="en-US" sz="850" dirty="0"/>
          </a:p>
        </p:txBody>
      </p:sp>
      <p:sp>
        <p:nvSpPr>
          <p:cNvPr id="49" name="Text 44"/>
          <p:cNvSpPr txBox="1"/>
          <p:nvPr/>
        </p:nvSpPr>
        <p:spPr>
          <a:xfrm>
            <a:off x="497890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337870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3378708" y="389534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354330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</a:t>
            </a:r>
            <a:endParaRPr lang="en-US" sz="2400" dirty="0"/>
          </a:p>
        </p:txBody>
      </p:sp>
      <p:sp>
        <p:nvSpPr>
          <p:cNvPr id="53" name="Text 48"/>
          <p:cNvSpPr txBox="1"/>
          <p:nvPr/>
        </p:nvSpPr>
        <p:spPr>
          <a:xfrm>
            <a:off x="354330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traded</a:t>
            </a:r>
            <a:endParaRPr lang="en-US" sz="1050" dirty="0"/>
          </a:p>
        </p:txBody>
      </p:sp>
      <p:sp>
        <p:nvSpPr>
          <p:cNvPr id="54" name="Text 49"/>
          <p:cNvSpPr txBox="1"/>
          <p:nvPr/>
        </p:nvSpPr>
        <p:spPr>
          <a:xfrm>
            <a:off x="354330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Placed at least 1 trade</a:t>
            </a:r>
            <a:endParaRPr lang="en-US" sz="850" dirty="0"/>
          </a:p>
        </p:txBody>
      </p:sp>
      <p:sp>
        <p:nvSpPr>
          <p:cNvPr id="55" name="Text 50"/>
          <p:cNvSpPr txBox="1"/>
          <p:nvPr/>
        </p:nvSpPr>
        <p:spPr>
          <a:xfrm>
            <a:off x="497890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6" name="Shape 51"/>
          <p:cNvSpPr/>
          <p:nvPr/>
        </p:nvSpPr>
        <p:spPr>
          <a:xfrm>
            <a:off x="337870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3378708" y="499262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354330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9</a:t>
            </a:r>
            <a:endParaRPr lang="en-US" sz="2400" dirty="0"/>
          </a:p>
        </p:txBody>
      </p:sp>
      <p:sp>
        <p:nvSpPr>
          <p:cNvPr id="59" name="Text 54"/>
          <p:cNvSpPr txBox="1"/>
          <p:nvPr/>
        </p:nvSpPr>
        <p:spPr>
          <a:xfrm>
            <a:off x="354330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trades</a:t>
            </a:r>
            <a:endParaRPr lang="en-US" sz="1050" dirty="0"/>
          </a:p>
        </p:txBody>
      </p:sp>
      <p:sp>
        <p:nvSpPr>
          <p:cNvPr id="60" name="Text 55"/>
          <p:cNvSpPr txBox="1"/>
          <p:nvPr/>
        </p:nvSpPr>
        <p:spPr>
          <a:xfrm>
            <a:off x="354330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Executed across all users</a:t>
            </a:r>
            <a:endParaRPr lang="en-US" sz="850" dirty="0"/>
          </a:p>
        </p:txBody>
      </p:sp>
      <p:sp>
        <p:nvSpPr>
          <p:cNvPr id="61" name="Text 56"/>
          <p:cNvSpPr txBox="1"/>
          <p:nvPr/>
        </p:nvSpPr>
        <p:spPr>
          <a:xfrm>
            <a:off x="497890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62" name="Shape 57"/>
          <p:cNvSpPr/>
          <p:nvPr/>
        </p:nvSpPr>
        <p:spPr>
          <a:xfrm>
            <a:off x="6190488" y="1408176"/>
            <a:ext cx="45720" cy="1554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630021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KYC STATUS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619048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6190488" y="170078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635508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14</a:t>
            </a:r>
            <a:endParaRPr lang="en-US" sz="2400" dirty="0"/>
          </a:p>
        </p:txBody>
      </p:sp>
      <p:sp>
        <p:nvSpPr>
          <p:cNvPr id="67" name="Text 62"/>
          <p:cNvSpPr txBox="1"/>
          <p:nvPr/>
        </p:nvSpPr>
        <p:spPr>
          <a:xfrm>
            <a:off x="635508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onboarded</a:t>
            </a:r>
            <a:endParaRPr lang="en-US" sz="1050" dirty="0"/>
          </a:p>
        </p:txBody>
      </p:sp>
      <p:sp>
        <p:nvSpPr>
          <p:cNvPr id="68" name="Text 63"/>
          <p:cNvSpPr txBox="1"/>
          <p:nvPr/>
        </p:nvSpPr>
        <p:spPr>
          <a:xfrm>
            <a:off x="635508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Completed signup and verification</a:t>
            </a:r>
            <a:endParaRPr lang="en-US" sz="850" dirty="0"/>
          </a:p>
        </p:txBody>
      </p:sp>
      <p:sp>
        <p:nvSpPr>
          <p:cNvPr id="69" name="Text 64"/>
          <p:cNvSpPr txBox="1"/>
          <p:nvPr/>
        </p:nvSpPr>
        <p:spPr>
          <a:xfrm>
            <a:off x="779068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70" name="Shape 65"/>
          <p:cNvSpPr/>
          <p:nvPr/>
        </p:nvSpPr>
        <p:spPr>
          <a:xfrm>
            <a:off x="619048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6190488" y="279806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2" name="Text 67"/>
          <p:cNvSpPr txBox="1"/>
          <p:nvPr/>
        </p:nvSpPr>
        <p:spPr>
          <a:xfrm>
            <a:off x="635508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84</a:t>
            </a:r>
            <a:endParaRPr lang="en-US" sz="2400" dirty="0"/>
          </a:p>
        </p:txBody>
      </p:sp>
      <p:sp>
        <p:nvSpPr>
          <p:cNvPr id="73" name="Text 68"/>
          <p:cNvSpPr txBox="1"/>
          <p:nvPr/>
        </p:nvSpPr>
        <p:spPr>
          <a:xfrm>
            <a:off x="635508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Incomplete KYC</a:t>
            </a:r>
            <a:endParaRPr lang="en-US" sz="1050" dirty="0"/>
          </a:p>
        </p:txBody>
      </p:sp>
      <p:sp>
        <p:nvSpPr>
          <p:cNvPr id="74" name="Text 69"/>
          <p:cNvSpPr txBox="1"/>
          <p:nvPr/>
        </p:nvSpPr>
        <p:spPr>
          <a:xfrm>
            <a:off x="635508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Started KYC but did not proceed</a:t>
            </a:r>
            <a:endParaRPr lang="en-US" sz="850" dirty="0"/>
          </a:p>
        </p:txBody>
      </p:sp>
      <p:sp>
        <p:nvSpPr>
          <p:cNvPr id="75" name="Text 70"/>
          <p:cNvSpPr txBox="1"/>
          <p:nvPr/>
        </p:nvSpPr>
        <p:spPr>
          <a:xfrm>
            <a:off x="779068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5303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76" name="Shape 71"/>
          <p:cNvSpPr/>
          <p:nvPr/>
        </p:nvSpPr>
        <p:spPr>
          <a:xfrm>
            <a:off x="619048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6190488" y="389534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8" name="Text 73"/>
          <p:cNvSpPr txBox="1"/>
          <p:nvPr/>
        </p:nvSpPr>
        <p:spPr>
          <a:xfrm>
            <a:off x="635508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</a:t>
            </a:r>
            <a:endParaRPr lang="en-US" sz="2400" dirty="0"/>
          </a:p>
        </p:txBody>
      </p:sp>
      <p:sp>
        <p:nvSpPr>
          <p:cNvPr id="79" name="Text 74"/>
          <p:cNvSpPr txBox="1"/>
          <p:nvPr/>
        </p:nvSpPr>
        <p:spPr>
          <a:xfrm>
            <a:off x="635508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Rejected KYC</a:t>
            </a:r>
            <a:endParaRPr lang="en-US" sz="1050" dirty="0"/>
          </a:p>
        </p:txBody>
      </p:sp>
      <p:sp>
        <p:nvSpPr>
          <p:cNvPr id="80" name="Text 75"/>
          <p:cNvSpPr txBox="1"/>
          <p:nvPr/>
        </p:nvSpPr>
        <p:spPr>
          <a:xfrm>
            <a:off x="635508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Resubmission required</a:t>
            </a:r>
            <a:endParaRPr lang="en-US" sz="850" dirty="0"/>
          </a:p>
        </p:txBody>
      </p:sp>
      <p:sp>
        <p:nvSpPr>
          <p:cNvPr id="81" name="Text 76"/>
          <p:cNvSpPr txBox="1"/>
          <p:nvPr/>
        </p:nvSpPr>
        <p:spPr>
          <a:xfrm>
            <a:off x="779068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82" name="Shape 77"/>
          <p:cNvSpPr/>
          <p:nvPr/>
        </p:nvSpPr>
        <p:spPr>
          <a:xfrm>
            <a:off x="619048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6190488" y="499262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4" name="Text 79"/>
          <p:cNvSpPr txBox="1"/>
          <p:nvPr/>
        </p:nvSpPr>
        <p:spPr>
          <a:xfrm>
            <a:off x="635508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103</a:t>
            </a:r>
            <a:endParaRPr lang="en-US" sz="2400" dirty="0"/>
          </a:p>
        </p:txBody>
      </p:sp>
      <p:sp>
        <p:nvSpPr>
          <p:cNvPr id="85" name="Text 80"/>
          <p:cNvSpPr txBox="1"/>
          <p:nvPr/>
        </p:nvSpPr>
        <p:spPr>
          <a:xfrm>
            <a:off x="635508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KYC applications</a:t>
            </a:r>
            <a:endParaRPr lang="en-US" sz="1050" dirty="0"/>
          </a:p>
        </p:txBody>
      </p:sp>
      <p:sp>
        <p:nvSpPr>
          <p:cNvPr id="86" name="Text 81"/>
          <p:cNvSpPr txBox="1"/>
          <p:nvPr/>
        </p:nvSpPr>
        <p:spPr>
          <a:xfrm>
            <a:off x="635508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Onboarded + incomplete + rejected</a:t>
            </a:r>
            <a:endParaRPr lang="en-US" sz="850" dirty="0"/>
          </a:p>
        </p:txBody>
      </p:sp>
      <p:sp>
        <p:nvSpPr>
          <p:cNvPr id="87" name="Shape 82"/>
          <p:cNvSpPr/>
          <p:nvPr/>
        </p:nvSpPr>
        <p:spPr>
          <a:xfrm>
            <a:off x="9002268" y="1408176"/>
            <a:ext cx="45720" cy="155448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88" name="Text 83"/>
          <p:cNvSpPr txBox="1"/>
          <p:nvPr/>
        </p:nvSpPr>
        <p:spPr>
          <a:xfrm>
            <a:off x="911199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SUPPORT TICKETS</a:t>
            </a:r>
            <a:endParaRPr lang="en-US" sz="900" dirty="0"/>
          </a:p>
        </p:txBody>
      </p:sp>
      <p:sp>
        <p:nvSpPr>
          <p:cNvPr id="89" name="Shape 84"/>
          <p:cNvSpPr/>
          <p:nvPr/>
        </p:nvSpPr>
        <p:spPr>
          <a:xfrm>
            <a:off x="900226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9002268" y="170078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1" name="Text 86"/>
          <p:cNvSpPr txBox="1"/>
          <p:nvPr/>
        </p:nvSpPr>
        <p:spPr>
          <a:xfrm>
            <a:off x="916686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</a:t>
            </a:r>
            <a:endParaRPr lang="en-US" sz="2400" dirty="0"/>
          </a:p>
        </p:txBody>
      </p:sp>
      <p:sp>
        <p:nvSpPr>
          <p:cNvPr id="92" name="Text 87"/>
          <p:cNvSpPr txBox="1"/>
          <p:nvPr/>
        </p:nvSpPr>
        <p:spPr>
          <a:xfrm>
            <a:off x="916686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created</a:t>
            </a:r>
            <a:endParaRPr lang="en-US" sz="1050" dirty="0"/>
          </a:p>
        </p:txBody>
      </p:sp>
      <p:sp>
        <p:nvSpPr>
          <p:cNvPr id="93" name="Text 88"/>
          <p:cNvSpPr txBox="1"/>
          <p:nvPr/>
        </p:nvSpPr>
        <p:spPr>
          <a:xfrm>
            <a:off x="916686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94" name="Text 89"/>
          <p:cNvSpPr txBox="1"/>
          <p:nvPr/>
        </p:nvSpPr>
        <p:spPr>
          <a:xfrm>
            <a:off x="1060246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95" name="Shape 90"/>
          <p:cNvSpPr/>
          <p:nvPr/>
        </p:nvSpPr>
        <p:spPr>
          <a:xfrm>
            <a:off x="900226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9002268" y="279806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7" name="Text 92"/>
          <p:cNvSpPr txBox="1"/>
          <p:nvPr/>
        </p:nvSpPr>
        <p:spPr>
          <a:xfrm>
            <a:off x="916686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</a:t>
            </a:r>
            <a:endParaRPr lang="en-US" sz="2400" dirty="0"/>
          </a:p>
        </p:txBody>
      </p:sp>
      <p:sp>
        <p:nvSpPr>
          <p:cNvPr id="98" name="Text 93"/>
          <p:cNvSpPr txBox="1"/>
          <p:nvPr/>
        </p:nvSpPr>
        <p:spPr>
          <a:xfrm>
            <a:off x="916686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resolved</a:t>
            </a:r>
            <a:endParaRPr lang="en-US" sz="1050" dirty="0"/>
          </a:p>
        </p:txBody>
      </p:sp>
      <p:sp>
        <p:nvSpPr>
          <p:cNvPr id="99" name="Text 94"/>
          <p:cNvSpPr txBox="1"/>
          <p:nvPr/>
        </p:nvSpPr>
        <p:spPr>
          <a:xfrm>
            <a:off x="916686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100% of tickets created</a:t>
            </a:r>
            <a:endParaRPr lang="en-US" sz="850" dirty="0"/>
          </a:p>
        </p:txBody>
      </p:sp>
      <p:sp>
        <p:nvSpPr>
          <p:cNvPr id="100" name="Text 95"/>
          <p:cNvSpPr txBox="1"/>
          <p:nvPr/>
        </p:nvSpPr>
        <p:spPr>
          <a:xfrm>
            <a:off x="1060246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1" name="Shape 96"/>
          <p:cNvSpPr/>
          <p:nvPr/>
        </p:nvSpPr>
        <p:spPr>
          <a:xfrm>
            <a:off x="900226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9002268" y="389534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3" name="Text 98"/>
          <p:cNvSpPr txBox="1"/>
          <p:nvPr/>
        </p:nvSpPr>
        <p:spPr>
          <a:xfrm>
            <a:off x="916686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</a:t>
            </a:r>
            <a:endParaRPr lang="en-US" sz="2400" dirty="0"/>
          </a:p>
        </p:txBody>
      </p:sp>
      <p:sp>
        <p:nvSpPr>
          <p:cNvPr id="104" name="Text 99"/>
          <p:cNvSpPr txBox="1"/>
          <p:nvPr/>
        </p:nvSpPr>
        <p:spPr>
          <a:xfrm>
            <a:off x="916686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Email queries</a:t>
            </a:r>
            <a:endParaRPr lang="en-US" sz="1050" dirty="0"/>
          </a:p>
        </p:txBody>
      </p:sp>
      <p:sp>
        <p:nvSpPr>
          <p:cNvPr id="105" name="Text 100"/>
          <p:cNvSpPr txBox="1"/>
          <p:nvPr/>
        </p:nvSpPr>
        <p:spPr>
          <a:xfrm>
            <a:off x="916686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06" name="Text 101"/>
          <p:cNvSpPr txBox="1"/>
          <p:nvPr/>
        </p:nvSpPr>
        <p:spPr>
          <a:xfrm>
            <a:off x="1060246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7" name="Shape 102"/>
          <p:cNvSpPr/>
          <p:nvPr/>
        </p:nvSpPr>
        <p:spPr>
          <a:xfrm>
            <a:off x="900226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9002268" y="499262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9" name="Text 104"/>
          <p:cNvSpPr txBox="1"/>
          <p:nvPr/>
        </p:nvSpPr>
        <p:spPr>
          <a:xfrm>
            <a:off x="916686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21</a:t>
            </a:r>
            <a:endParaRPr lang="en-US" sz="2400" dirty="0"/>
          </a:p>
        </p:txBody>
      </p:sp>
      <p:sp>
        <p:nvSpPr>
          <p:cNvPr id="110" name="Text 105"/>
          <p:cNvSpPr txBox="1"/>
          <p:nvPr/>
        </p:nvSpPr>
        <p:spPr>
          <a:xfrm>
            <a:off x="916686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AI support queries</a:t>
            </a:r>
            <a:endParaRPr lang="en-US" sz="1050" dirty="0"/>
          </a:p>
        </p:txBody>
      </p:sp>
      <p:sp>
        <p:nvSpPr>
          <p:cNvPr id="111" name="Text 106"/>
          <p:cNvSpPr txBox="1"/>
          <p:nvPr/>
        </p:nvSpPr>
        <p:spPr>
          <a:xfrm>
            <a:off x="916686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12" name="Text 107"/>
          <p:cNvSpPr txBox="1"/>
          <p:nvPr/>
        </p:nvSpPr>
        <p:spPr>
          <a:xfrm>
            <a:off x="1060246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atemIsa_202508993_IT9002_NLP_Project/emyaa-ceo-deck/working/charts/board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188720"/>
            <a:ext cx="12191695" cy="24689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66928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F3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PLATFORM ANALYTICS  |  PERFORMANCE DASHBOARD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57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 date: 21 Jun 2026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868680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6CFE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Reporting period: 14 May 2026 - 20 Jun 2026   |   Change on each card is against the previous report, 18 Jun 2026</a:t>
            </a:r>
            <a:endParaRPr lang="en-US" sz="1000" dirty="0"/>
          </a:p>
        </p:txBody>
      </p:sp>
      <p:pic>
        <p:nvPicPr>
          <p:cNvPr id="7" name="Image 1" descr="/home/user/HatemIsa_202508993_IT9002_NLP_Project/emyaa-ceo-deck/working/charts/ajy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02336"/>
            <a:ext cx="13258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" y="6272784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Source: eMYAA Daily Performance Dashboard, eMYAA_-_Daily_Performance_Dashboard-1.pdf, page 48. This report labels the money card 'Total Deposits'; later reports label the same measure 'Total AUM'.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eMYAA Trading Platform  |  Daily Performance Dashboard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9802368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51</a:t>
            </a:r>
            <a:endParaRPr lang="en-US" sz="800" dirty="0"/>
          </a:p>
        </p:txBody>
      </p:sp>
      <p:pic>
        <p:nvPicPr>
          <p:cNvPr id="11" name="Image 2" descr="/home/user/HatemIsa_202508993_IT9002_NLP_Project/emyaa-ceo-deck/working/charts/emyaa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6336792"/>
            <a:ext cx="1024128" cy="3657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66928" y="1408176"/>
            <a:ext cx="45720" cy="155448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665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DOWNLOADS &amp; RATINGS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6692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66928" y="170078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152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130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downloads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 Store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216712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+7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6692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66928" y="279806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3152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74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73152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downloads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73152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Apple App Store</a:t>
            </a:r>
            <a:endParaRPr lang="en-US" sz="850" dirty="0"/>
          </a:p>
        </p:txBody>
      </p:sp>
      <p:sp>
        <p:nvSpPr>
          <p:cNvPr id="25" name="Text 20"/>
          <p:cNvSpPr txBox="1"/>
          <p:nvPr/>
        </p:nvSpPr>
        <p:spPr>
          <a:xfrm>
            <a:off x="216712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+3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6692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66928" y="389534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3152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29" name="Text 24"/>
          <p:cNvSpPr txBox="1"/>
          <p:nvPr/>
        </p:nvSpPr>
        <p:spPr>
          <a:xfrm>
            <a:off x="73152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app rating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73152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Play, 2 reviews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56692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66928" y="499262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3152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34" name="Text 29"/>
          <p:cNvSpPr txBox="1"/>
          <p:nvPr/>
        </p:nvSpPr>
        <p:spPr>
          <a:xfrm>
            <a:off x="73152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app rating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73152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 Store, 2 reviews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3378708" y="1408176"/>
            <a:ext cx="45720" cy="155448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48843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 ACTIVITY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337870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3378708" y="170078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354330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</a:t>
            </a:r>
            <a:endParaRPr lang="en-US" sz="2400" dirty="0"/>
          </a:p>
        </p:txBody>
      </p:sp>
      <p:sp>
        <p:nvSpPr>
          <p:cNvPr id="41" name="Text 36"/>
          <p:cNvSpPr txBox="1"/>
          <p:nvPr/>
        </p:nvSpPr>
        <p:spPr>
          <a:xfrm>
            <a:off x="354330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deposited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354330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Funded accounts</a:t>
            </a:r>
            <a:endParaRPr lang="en-US" sz="850" dirty="0"/>
          </a:p>
        </p:txBody>
      </p:sp>
      <p:sp>
        <p:nvSpPr>
          <p:cNvPr id="43" name="Text 38"/>
          <p:cNvSpPr txBox="1"/>
          <p:nvPr/>
        </p:nvSpPr>
        <p:spPr>
          <a:xfrm>
            <a:off x="497890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337870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3378708" y="279806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354330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$2,088.57</a:t>
            </a:r>
            <a:endParaRPr lang="en-US" sz="1900" dirty="0"/>
          </a:p>
        </p:txBody>
      </p:sp>
      <p:sp>
        <p:nvSpPr>
          <p:cNvPr id="47" name="Text 42"/>
          <p:cNvSpPr txBox="1"/>
          <p:nvPr/>
        </p:nvSpPr>
        <p:spPr>
          <a:xfrm>
            <a:off x="354330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deposits</a:t>
            </a:r>
            <a:endParaRPr lang="en-US" sz="1050" dirty="0"/>
          </a:p>
        </p:txBody>
      </p:sp>
      <p:sp>
        <p:nvSpPr>
          <p:cNvPr id="48" name="Text 43"/>
          <p:cNvSpPr txBox="1"/>
          <p:nvPr/>
        </p:nvSpPr>
        <p:spPr>
          <a:xfrm>
            <a:off x="354330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Cumulative platform deposits</a:t>
            </a:r>
            <a:endParaRPr lang="en-US" sz="850" dirty="0"/>
          </a:p>
        </p:txBody>
      </p:sp>
      <p:sp>
        <p:nvSpPr>
          <p:cNvPr id="49" name="Text 44"/>
          <p:cNvSpPr txBox="1"/>
          <p:nvPr/>
        </p:nvSpPr>
        <p:spPr>
          <a:xfrm>
            <a:off x="497890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337870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3378708" y="389534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354330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</a:t>
            </a:r>
            <a:endParaRPr lang="en-US" sz="2400" dirty="0"/>
          </a:p>
        </p:txBody>
      </p:sp>
      <p:sp>
        <p:nvSpPr>
          <p:cNvPr id="53" name="Text 48"/>
          <p:cNvSpPr txBox="1"/>
          <p:nvPr/>
        </p:nvSpPr>
        <p:spPr>
          <a:xfrm>
            <a:off x="354330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traded</a:t>
            </a:r>
            <a:endParaRPr lang="en-US" sz="1050" dirty="0"/>
          </a:p>
        </p:txBody>
      </p:sp>
      <p:sp>
        <p:nvSpPr>
          <p:cNvPr id="54" name="Text 49"/>
          <p:cNvSpPr txBox="1"/>
          <p:nvPr/>
        </p:nvSpPr>
        <p:spPr>
          <a:xfrm>
            <a:off x="354330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Placed at least 1 trade</a:t>
            </a:r>
            <a:endParaRPr lang="en-US" sz="850" dirty="0"/>
          </a:p>
        </p:txBody>
      </p:sp>
      <p:sp>
        <p:nvSpPr>
          <p:cNvPr id="55" name="Text 50"/>
          <p:cNvSpPr txBox="1"/>
          <p:nvPr/>
        </p:nvSpPr>
        <p:spPr>
          <a:xfrm>
            <a:off x="497890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6" name="Shape 51"/>
          <p:cNvSpPr/>
          <p:nvPr/>
        </p:nvSpPr>
        <p:spPr>
          <a:xfrm>
            <a:off x="337870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3378708" y="499262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354330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9</a:t>
            </a:r>
            <a:endParaRPr lang="en-US" sz="2400" dirty="0"/>
          </a:p>
        </p:txBody>
      </p:sp>
      <p:sp>
        <p:nvSpPr>
          <p:cNvPr id="59" name="Text 54"/>
          <p:cNvSpPr txBox="1"/>
          <p:nvPr/>
        </p:nvSpPr>
        <p:spPr>
          <a:xfrm>
            <a:off x="354330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trades</a:t>
            </a:r>
            <a:endParaRPr lang="en-US" sz="1050" dirty="0"/>
          </a:p>
        </p:txBody>
      </p:sp>
      <p:sp>
        <p:nvSpPr>
          <p:cNvPr id="60" name="Text 55"/>
          <p:cNvSpPr txBox="1"/>
          <p:nvPr/>
        </p:nvSpPr>
        <p:spPr>
          <a:xfrm>
            <a:off x="354330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Executed across all users</a:t>
            </a:r>
            <a:endParaRPr lang="en-US" sz="850" dirty="0"/>
          </a:p>
        </p:txBody>
      </p:sp>
      <p:sp>
        <p:nvSpPr>
          <p:cNvPr id="61" name="Text 56"/>
          <p:cNvSpPr txBox="1"/>
          <p:nvPr/>
        </p:nvSpPr>
        <p:spPr>
          <a:xfrm>
            <a:off x="497890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62" name="Shape 57"/>
          <p:cNvSpPr/>
          <p:nvPr/>
        </p:nvSpPr>
        <p:spPr>
          <a:xfrm>
            <a:off x="6190488" y="1408176"/>
            <a:ext cx="45720" cy="1554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630021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KYC STATUS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619048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6190488" y="170078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635508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14</a:t>
            </a:r>
            <a:endParaRPr lang="en-US" sz="2400" dirty="0"/>
          </a:p>
        </p:txBody>
      </p:sp>
      <p:sp>
        <p:nvSpPr>
          <p:cNvPr id="67" name="Text 62"/>
          <p:cNvSpPr txBox="1"/>
          <p:nvPr/>
        </p:nvSpPr>
        <p:spPr>
          <a:xfrm>
            <a:off x="635508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onboarded</a:t>
            </a:r>
            <a:endParaRPr lang="en-US" sz="1050" dirty="0"/>
          </a:p>
        </p:txBody>
      </p:sp>
      <p:sp>
        <p:nvSpPr>
          <p:cNvPr id="68" name="Text 63"/>
          <p:cNvSpPr txBox="1"/>
          <p:nvPr/>
        </p:nvSpPr>
        <p:spPr>
          <a:xfrm>
            <a:off x="635508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Completed signup and verification</a:t>
            </a:r>
            <a:endParaRPr lang="en-US" sz="850" dirty="0"/>
          </a:p>
        </p:txBody>
      </p:sp>
      <p:sp>
        <p:nvSpPr>
          <p:cNvPr id="69" name="Text 64"/>
          <p:cNvSpPr txBox="1"/>
          <p:nvPr/>
        </p:nvSpPr>
        <p:spPr>
          <a:xfrm>
            <a:off x="779068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70" name="Shape 65"/>
          <p:cNvSpPr/>
          <p:nvPr/>
        </p:nvSpPr>
        <p:spPr>
          <a:xfrm>
            <a:off x="619048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6190488" y="279806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2" name="Text 67"/>
          <p:cNvSpPr txBox="1"/>
          <p:nvPr/>
        </p:nvSpPr>
        <p:spPr>
          <a:xfrm>
            <a:off x="635508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83</a:t>
            </a:r>
            <a:endParaRPr lang="en-US" sz="2400" dirty="0"/>
          </a:p>
        </p:txBody>
      </p:sp>
      <p:sp>
        <p:nvSpPr>
          <p:cNvPr id="73" name="Text 68"/>
          <p:cNvSpPr txBox="1"/>
          <p:nvPr/>
        </p:nvSpPr>
        <p:spPr>
          <a:xfrm>
            <a:off x="635508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Incomplete KYC</a:t>
            </a:r>
            <a:endParaRPr lang="en-US" sz="1050" dirty="0"/>
          </a:p>
        </p:txBody>
      </p:sp>
      <p:sp>
        <p:nvSpPr>
          <p:cNvPr id="74" name="Text 69"/>
          <p:cNvSpPr txBox="1"/>
          <p:nvPr/>
        </p:nvSpPr>
        <p:spPr>
          <a:xfrm>
            <a:off x="635508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Started KYC but did not proceed</a:t>
            </a:r>
            <a:endParaRPr lang="en-US" sz="850" dirty="0"/>
          </a:p>
        </p:txBody>
      </p:sp>
      <p:sp>
        <p:nvSpPr>
          <p:cNvPr id="75" name="Text 70"/>
          <p:cNvSpPr txBox="1"/>
          <p:nvPr/>
        </p:nvSpPr>
        <p:spPr>
          <a:xfrm>
            <a:off x="779068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5303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+6</a:t>
            </a:r>
            <a:endParaRPr lang="en-US" sz="850" dirty="0"/>
          </a:p>
        </p:txBody>
      </p:sp>
      <p:sp>
        <p:nvSpPr>
          <p:cNvPr id="76" name="Shape 71"/>
          <p:cNvSpPr/>
          <p:nvPr/>
        </p:nvSpPr>
        <p:spPr>
          <a:xfrm>
            <a:off x="619048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6190488" y="389534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8" name="Text 73"/>
          <p:cNvSpPr txBox="1"/>
          <p:nvPr/>
        </p:nvSpPr>
        <p:spPr>
          <a:xfrm>
            <a:off x="635508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</a:t>
            </a:r>
            <a:endParaRPr lang="en-US" sz="2400" dirty="0"/>
          </a:p>
        </p:txBody>
      </p:sp>
      <p:sp>
        <p:nvSpPr>
          <p:cNvPr id="79" name="Text 74"/>
          <p:cNvSpPr txBox="1"/>
          <p:nvPr/>
        </p:nvSpPr>
        <p:spPr>
          <a:xfrm>
            <a:off x="635508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Rejected KYC</a:t>
            </a:r>
            <a:endParaRPr lang="en-US" sz="1050" dirty="0"/>
          </a:p>
        </p:txBody>
      </p:sp>
      <p:sp>
        <p:nvSpPr>
          <p:cNvPr id="80" name="Text 75"/>
          <p:cNvSpPr txBox="1"/>
          <p:nvPr/>
        </p:nvSpPr>
        <p:spPr>
          <a:xfrm>
            <a:off x="635508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Resubmission required</a:t>
            </a:r>
            <a:endParaRPr lang="en-US" sz="850" dirty="0"/>
          </a:p>
        </p:txBody>
      </p:sp>
      <p:sp>
        <p:nvSpPr>
          <p:cNvPr id="81" name="Text 76"/>
          <p:cNvSpPr txBox="1"/>
          <p:nvPr/>
        </p:nvSpPr>
        <p:spPr>
          <a:xfrm>
            <a:off x="779068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82" name="Shape 77"/>
          <p:cNvSpPr/>
          <p:nvPr/>
        </p:nvSpPr>
        <p:spPr>
          <a:xfrm>
            <a:off x="619048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6190488" y="499262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4" name="Text 79"/>
          <p:cNvSpPr txBox="1"/>
          <p:nvPr/>
        </p:nvSpPr>
        <p:spPr>
          <a:xfrm>
            <a:off x="635508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102</a:t>
            </a:r>
            <a:endParaRPr lang="en-US" sz="2400" dirty="0"/>
          </a:p>
        </p:txBody>
      </p:sp>
      <p:sp>
        <p:nvSpPr>
          <p:cNvPr id="85" name="Text 80"/>
          <p:cNvSpPr txBox="1"/>
          <p:nvPr/>
        </p:nvSpPr>
        <p:spPr>
          <a:xfrm>
            <a:off x="635508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KYC applications</a:t>
            </a:r>
            <a:endParaRPr lang="en-US" sz="1050" dirty="0"/>
          </a:p>
        </p:txBody>
      </p:sp>
      <p:sp>
        <p:nvSpPr>
          <p:cNvPr id="86" name="Text 81"/>
          <p:cNvSpPr txBox="1"/>
          <p:nvPr/>
        </p:nvSpPr>
        <p:spPr>
          <a:xfrm>
            <a:off x="635508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Onboarded + incomplete + rejected</a:t>
            </a:r>
            <a:endParaRPr lang="en-US" sz="850" dirty="0"/>
          </a:p>
        </p:txBody>
      </p:sp>
      <p:sp>
        <p:nvSpPr>
          <p:cNvPr id="87" name="Shape 82"/>
          <p:cNvSpPr/>
          <p:nvPr/>
        </p:nvSpPr>
        <p:spPr>
          <a:xfrm>
            <a:off x="9002268" y="1408176"/>
            <a:ext cx="45720" cy="155448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88" name="Text 83"/>
          <p:cNvSpPr txBox="1"/>
          <p:nvPr/>
        </p:nvSpPr>
        <p:spPr>
          <a:xfrm>
            <a:off x="911199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SUPPORT TICKETS</a:t>
            </a:r>
            <a:endParaRPr lang="en-US" sz="900" dirty="0"/>
          </a:p>
        </p:txBody>
      </p:sp>
      <p:sp>
        <p:nvSpPr>
          <p:cNvPr id="89" name="Shape 84"/>
          <p:cNvSpPr/>
          <p:nvPr/>
        </p:nvSpPr>
        <p:spPr>
          <a:xfrm>
            <a:off x="900226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9002268" y="170078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1" name="Text 86"/>
          <p:cNvSpPr txBox="1"/>
          <p:nvPr/>
        </p:nvSpPr>
        <p:spPr>
          <a:xfrm>
            <a:off x="916686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</a:t>
            </a:r>
            <a:endParaRPr lang="en-US" sz="2400" dirty="0"/>
          </a:p>
        </p:txBody>
      </p:sp>
      <p:sp>
        <p:nvSpPr>
          <p:cNvPr id="92" name="Text 87"/>
          <p:cNvSpPr txBox="1"/>
          <p:nvPr/>
        </p:nvSpPr>
        <p:spPr>
          <a:xfrm>
            <a:off x="916686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created</a:t>
            </a:r>
            <a:endParaRPr lang="en-US" sz="1050" dirty="0"/>
          </a:p>
        </p:txBody>
      </p:sp>
      <p:sp>
        <p:nvSpPr>
          <p:cNvPr id="93" name="Text 88"/>
          <p:cNvSpPr txBox="1"/>
          <p:nvPr/>
        </p:nvSpPr>
        <p:spPr>
          <a:xfrm>
            <a:off x="916686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94" name="Text 89"/>
          <p:cNvSpPr txBox="1"/>
          <p:nvPr/>
        </p:nvSpPr>
        <p:spPr>
          <a:xfrm>
            <a:off x="1060246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95" name="Shape 90"/>
          <p:cNvSpPr/>
          <p:nvPr/>
        </p:nvSpPr>
        <p:spPr>
          <a:xfrm>
            <a:off x="900226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9002268" y="279806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7" name="Text 92"/>
          <p:cNvSpPr txBox="1"/>
          <p:nvPr/>
        </p:nvSpPr>
        <p:spPr>
          <a:xfrm>
            <a:off x="916686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</a:t>
            </a:r>
            <a:endParaRPr lang="en-US" sz="2400" dirty="0"/>
          </a:p>
        </p:txBody>
      </p:sp>
      <p:sp>
        <p:nvSpPr>
          <p:cNvPr id="98" name="Text 93"/>
          <p:cNvSpPr txBox="1"/>
          <p:nvPr/>
        </p:nvSpPr>
        <p:spPr>
          <a:xfrm>
            <a:off x="916686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resolved</a:t>
            </a:r>
            <a:endParaRPr lang="en-US" sz="1050" dirty="0"/>
          </a:p>
        </p:txBody>
      </p:sp>
      <p:sp>
        <p:nvSpPr>
          <p:cNvPr id="99" name="Text 94"/>
          <p:cNvSpPr txBox="1"/>
          <p:nvPr/>
        </p:nvSpPr>
        <p:spPr>
          <a:xfrm>
            <a:off x="916686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100% of tickets created</a:t>
            </a:r>
            <a:endParaRPr lang="en-US" sz="850" dirty="0"/>
          </a:p>
        </p:txBody>
      </p:sp>
      <p:sp>
        <p:nvSpPr>
          <p:cNvPr id="100" name="Text 95"/>
          <p:cNvSpPr txBox="1"/>
          <p:nvPr/>
        </p:nvSpPr>
        <p:spPr>
          <a:xfrm>
            <a:off x="1060246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1" name="Shape 96"/>
          <p:cNvSpPr/>
          <p:nvPr/>
        </p:nvSpPr>
        <p:spPr>
          <a:xfrm>
            <a:off x="900226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9002268" y="389534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3" name="Text 98"/>
          <p:cNvSpPr txBox="1"/>
          <p:nvPr/>
        </p:nvSpPr>
        <p:spPr>
          <a:xfrm>
            <a:off x="916686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</a:t>
            </a:r>
            <a:endParaRPr lang="en-US" sz="2400" dirty="0"/>
          </a:p>
        </p:txBody>
      </p:sp>
      <p:sp>
        <p:nvSpPr>
          <p:cNvPr id="104" name="Text 99"/>
          <p:cNvSpPr txBox="1"/>
          <p:nvPr/>
        </p:nvSpPr>
        <p:spPr>
          <a:xfrm>
            <a:off x="916686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Email queries</a:t>
            </a:r>
            <a:endParaRPr lang="en-US" sz="1050" dirty="0"/>
          </a:p>
        </p:txBody>
      </p:sp>
      <p:sp>
        <p:nvSpPr>
          <p:cNvPr id="105" name="Text 100"/>
          <p:cNvSpPr txBox="1"/>
          <p:nvPr/>
        </p:nvSpPr>
        <p:spPr>
          <a:xfrm>
            <a:off x="916686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06" name="Text 101"/>
          <p:cNvSpPr txBox="1"/>
          <p:nvPr/>
        </p:nvSpPr>
        <p:spPr>
          <a:xfrm>
            <a:off x="1060246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7" name="Shape 102"/>
          <p:cNvSpPr/>
          <p:nvPr/>
        </p:nvSpPr>
        <p:spPr>
          <a:xfrm>
            <a:off x="900226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9002268" y="499262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9" name="Text 104"/>
          <p:cNvSpPr txBox="1"/>
          <p:nvPr/>
        </p:nvSpPr>
        <p:spPr>
          <a:xfrm>
            <a:off x="916686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21</a:t>
            </a:r>
            <a:endParaRPr lang="en-US" sz="2400" dirty="0"/>
          </a:p>
        </p:txBody>
      </p:sp>
      <p:sp>
        <p:nvSpPr>
          <p:cNvPr id="110" name="Text 105"/>
          <p:cNvSpPr txBox="1"/>
          <p:nvPr/>
        </p:nvSpPr>
        <p:spPr>
          <a:xfrm>
            <a:off x="916686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AI support queries</a:t>
            </a:r>
            <a:endParaRPr lang="en-US" sz="1050" dirty="0"/>
          </a:p>
        </p:txBody>
      </p:sp>
      <p:sp>
        <p:nvSpPr>
          <p:cNvPr id="111" name="Text 106"/>
          <p:cNvSpPr txBox="1"/>
          <p:nvPr/>
        </p:nvSpPr>
        <p:spPr>
          <a:xfrm>
            <a:off x="916686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12" name="Text 107"/>
          <p:cNvSpPr txBox="1"/>
          <p:nvPr/>
        </p:nvSpPr>
        <p:spPr>
          <a:xfrm>
            <a:off x="1060246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atemIsa_202508993_IT9002_NLP_Project/emyaa-ceo-deck/working/charts/board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188720"/>
            <a:ext cx="12191695" cy="24689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66928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F3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PLATFORM ANALYTICS  |  PERFORMANCE DASHBOARD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57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 date: 18 Jun 2026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868680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6CFE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Reporting period: 14 May 2026 - 17 Jun 2026   |   Change on each card is against the previous report, 17 Jun 2026</a:t>
            </a:r>
            <a:endParaRPr lang="en-US" sz="1000" dirty="0"/>
          </a:p>
        </p:txBody>
      </p:sp>
      <p:pic>
        <p:nvPicPr>
          <p:cNvPr id="7" name="Image 1" descr="/home/user/HatemIsa_202508993_IT9002_NLP_Project/emyaa-ceo-deck/working/charts/ajy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02336"/>
            <a:ext cx="13258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" y="6272784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Source: eMYAA Daily Performance Dashboard, eMYAA_-_Daily_Performance_Dashboard-1.pdf, page 49. This report labels the money card 'Total Deposits'; later reports label the same measure 'Total AUM'.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eMYAA Trading Platform  |  Daily Performance Dashboard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9802368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52</a:t>
            </a:r>
            <a:endParaRPr lang="en-US" sz="800" dirty="0"/>
          </a:p>
        </p:txBody>
      </p:sp>
      <p:pic>
        <p:nvPicPr>
          <p:cNvPr id="11" name="Image 2" descr="/home/user/HatemIsa_202508993_IT9002_NLP_Project/emyaa-ceo-deck/working/charts/emyaa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6336792"/>
            <a:ext cx="1024128" cy="3657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66928" y="1408176"/>
            <a:ext cx="45720" cy="155448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665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DOWNLOADS &amp; RATINGS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6692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66928" y="170078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152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123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downloads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 Store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216712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6692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66928" y="279806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3152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71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73152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downloads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73152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Apple App Store</a:t>
            </a:r>
            <a:endParaRPr lang="en-US" sz="850" dirty="0"/>
          </a:p>
        </p:txBody>
      </p:sp>
      <p:sp>
        <p:nvSpPr>
          <p:cNvPr id="25" name="Text 20"/>
          <p:cNvSpPr txBox="1"/>
          <p:nvPr/>
        </p:nvSpPr>
        <p:spPr>
          <a:xfrm>
            <a:off x="216712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6692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66928" y="389534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3152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29" name="Text 24"/>
          <p:cNvSpPr txBox="1"/>
          <p:nvPr/>
        </p:nvSpPr>
        <p:spPr>
          <a:xfrm>
            <a:off x="73152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app rating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73152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Play, 2 reviews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56692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66928" y="499262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3152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34" name="Text 29"/>
          <p:cNvSpPr txBox="1"/>
          <p:nvPr/>
        </p:nvSpPr>
        <p:spPr>
          <a:xfrm>
            <a:off x="73152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app rating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73152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 Store, 2 reviews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3378708" y="1408176"/>
            <a:ext cx="45720" cy="155448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48843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 ACTIVITY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337870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3378708" y="170078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354330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</a:t>
            </a:r>
            <a:endParaRPr lang="en-US" sz="2400" dirty="0"/>
          </a:p>
        </p:txBody>
      </p:sp>
      <p:sp>
        <p:nvSpPr>
          <p:cNvPr id="41" name="Text 36"/>
          <p:cNvSpPr txBox="1"/>
          <p:nvPr/>
        </p:nvSpPr>
        <p:spPr>
          <a:xfrm>
            <a:off x="354330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deposited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354330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Funded accounts</a:t>
            </a:r>
            <a:endParaRPr lang="en-US" sz="850" dirty="0"/>
          </a:p>
        </p:txBody>
      </p:sp>
      <p:sp>
        <p:nvSpPr>
          <p:cNvPr id="43" name="Text 38"/>
          <p:cNvSpPr txBox="1"/>
          <p:nvPr/>
        </p:nvSpPr>
        <p:spPr>
          <a:xfrm>
            <a:off x="497890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337870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3378708" y="279806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354330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$2,088.57</a:t>
            </a:r>
            <a:endParaRPr lang="en-US" sz="1900" dirty="0"/>
          </a:p>
        </p:txBody>
      </p:sp>
      <p:sp>
        <p:nvSpPr>
          <p:cNvPr id="47" name="Text 42"/>
          <p:cNvSpPr txBox="1"/>
          <p:nvPr/>
        </p:nvSpPr>
        <p:spPr>
          <a:xfrm>
            <a:off x="354330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deposits</a:t>
            </a:r>
            <a:endParaRPr lang="en-US" sz="1050" dirty="0"/>
          </a:p>
        </p:txBody>
      </p:sp>
      <p:sp>
        <p:nvSpPr>
          <p:cNvPr id="48" name="Text 43"/>
          <p:cNvSpPr txBox="1"/>
          <p:nvPr/>
        </p:nvSpPr>
        <p:spPr>
          <a:xfrm>
            <a:off x="354330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Cumulative platform deposits</a:t>
            </a:r>
            <a:endParaRPr lang="en-US" sz="850" dirty="0"/>
          </a:p>
        </p:txBody>
      </p:sp>
      <p:sp>
        <p:nvSpPr>
          <p:cNvPr id="49" name="Text 44"/>
          <p:cNvSpPr txBox="1"/>
          <p:nvPr/>
        </p:nvSpPr>
        <p:spPr>
          <a:xfrm>
            <a:off x="497890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337870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3378708" y="389534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354330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</a:t>
            </a:r>
            <a:endParaRPr lang="en-US" sz="2400" dirty="0"/>
          </a:p>
        </p:txBody>
      </p:sp>
      <p:sp>
        <p:nvSpPr>
          <p:cNvPr id="53" name="Text 48"/>
          <p:cNvSpPr txBox="1"/>
          <p:nvPr/>
        </p:nvSpPr>
        <p:spPr>
          <a:xfrm>
            <a:off x="354330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traded</a:t>
            </a:r>
            <a:endParaRPr lang="en-US" sz="1050" dirty="0"/>
          </a:p>
        </p:txBody>
      </p:sp>
      <p:sp>
        <p:nvSpPr>
          <p:cNvPr id="54" name="Text 49"/>
          <p:cNvSpPr txBox="1"/>
          <p:nvPr/>
        </p:nvSpPr>
        <p:spPr>
          <a:xfrm>
            <a:off x="354330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Placed at least 1 trade</a:t>
            </a:r>
            <a:endParaRPr lang="en-US" sz="850" dirty="0"/>
          </a:p>
        </p:txBody>
      </p:sp>
      <p:sp>
        <p:nvSpPr>
          <p:cNvPr id="55" name="Text 50"/>
          <p:cNvSpPr txBox="1"/>
          <p:nvPr/>
        </p:nvSpPr>
        <p:spPr>
          <a:xfrm>
            <a:off x="497890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6" name="Shape 51"/>
          <p:cNvSpPr/>
          <p:nvPr/>
        </p:nvSpPr>
        <p:spPr>
          <a:xfrm>
            <a:off x="337870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3378708" y="499262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354330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9</a:t>
            </a:r>
            <a:endParaRPr lang="en-US" sz="2400" dirty="0"/>
          </a:p>
        </p:txBody>
      </p:sp>
      <p:sp>
        <p:nvSpPr>
          <p:cNvPr id="59" name="Text 54"/>
          <p:cNvSpPr txBox="1"/>
          <p:nvPr/>
        </p:nvSpPr>
        <p:spPr>
          <a:xfrm>
            <a:off x="354330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trades</a:t>
            </a:r>
            <a:endParaRPr lang="en-US" sz="1050" dirty="0"/>
          </a:p>
        </p:txBody>
      </p:sp>
      <p:sp>
        <p:nvSpPr>
          <p:cNvPr id="60" name="Text 55"/>
          <p:cNvSpPr txBox="1"/>
          <p:nvPr/>
        </p:nvSpPr>
        <p:spPr>
          <a:xfrm>
            <a:off x="354330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Executed across all users</a:t>
            </a:r>
            <a:endParaRPr lang="en-US" sz="850" dirty="0"/>
          </a:p>
        </p:txBody>
      </p:sp>
      <p:sp>
        <p:nvSpPr>
          <p:cNvPr id="61" name="Text 56"/>
          <p:cNvSpPr txBox="1"/>
          <p:nvPr/>
        </p:nvSpPr>
        <p:spPr>
          <a:xfrm>
            <a:off x="497890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62" name="Shape 57"/>
          <p:cNvSpPr/>
          <p:nvPr/>
        </p:nvSpPr>
        <p:spPr>
          <a:xfrm>
            <a:off x="6190488" y="1408176"/>
            <a:ext cx="45720" cy="1554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630021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KYC STATUS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619048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6190488" y="170078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635508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13</a:t>
            </a:r>
            <a:endParaRPr lang="en-US" sz="2400" dirty="0"/>
          </a:p>
        </p:txBody>
      </p:sp>
      <p:sp>
        <p:nvSpPr>
          <p:cNvPr id="67" name="Text 62"/>
          <p:cNvSpPr txBox="1"/>
          <p:nvPr/>
        </p:nvSpPr>
        <p:spPr>
          <a:xfrm>
            <a:off x="635508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onboarded</a:t>
            </a:r>
            <a:endParaRPr lang="en-US" sz="1050" dirty="0"/>
          </a:p>
        </p:txBody>
      </p:sp>
      <p:sp>
        <p:nvSpPr>
          <p:cNvPr id="68" name="Text 63"/>
          <p:cNvSpPr txBox="1"/>
          <p:nvPr/>
        </p:nvSpPr>
        <p:spPr>
          <a:xfrm>
            <a:off x="635508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Completed signup and verification</a:t>
            </a:r>
            <a:endParaRPr lang="en-US" sz="850" dirty="0"/>
          </a:p>
        </p:txBody>
      </p:sp>
      <p:sp>
        <p:nvSpPr>
          <p:cNvPr id="69" name="Text 64"/>
          <p:cNvSpPr txBox="1"/>
          <p:nvPr/>
        </p:nvSpPr>
        <p:spPr>
          <a:xfrm>
            <a:off x="779068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70" name="Shape 65"/>
          <p:cNvSpPr/>
          <p:nvPr/>
        </p:nvSpPr>
        <p:spPr>
          <a:xfrm>
            <a:off x="619048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6190488" y="279806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2" name="Text 67"/>
          <p:cNvSpPr txBox="1"/>
          <p:nvPr/>
        </p:nvSpPr>
        <p:spPr>
          <a:xfrm>
            <a:off x="635508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77</a:t>
            </a:r>
            <a:endParaRPr lang="en-US" sz="2400" dirty="0"/>
          </a:p>
        </p:txBody>
      </p:sp>
      <p:sp>
        <p:nvSpPr>
          <p:cNvPr id="73" name="Text 68"/>
          <p:cNvSpPr txBox="1"/>
          <p:nvPr/>
        </p:nvSpPr>
        <p:spPr>
          <a:xfrm>
            <a:off x="635508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Incomplete KYC</a:t>
            </a:r>
            <a:endParaRPr lang="en-US" sz="1050" dirty="0"/>
          </a:p>
        </p:txBody>
      </p:sp>
      <p:sp>
        <p:nvSpPr>
          <p:cNvPr id="74" name="Text 69"/>
          <p:cNvSpPr txBox="1"/>
          <p:nvPr/>
        </p:nvSpPr>
        <p:spPr>
          <a:xfrm>
            <a:off x="635508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Started KYC but did not proceed</a:t>
            </a:r>
            <a:endParaRPr lang="en-US" sz="850" dirty="0"/>
          </a:p>
        </p:txBody>
      </p:sp>
      <p:sp>
        <p:nvSpPr>
          <p:cNvPr id="75" name="Text 70"/>
          <p:cNvSpPr txBox="1"/>
          <p:nvPr/>
        </p:nvSpPr>
        <p:spPr>
          <a:xfrm>
            <a:off x="779068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-17</a:t>
            </a:r>
            <a:endParaRPr lang="en-US" sz="850" dirty="0"/>
          </a:p>
        </p:txBody>
      </p:sp>
      <p:sp>
        <p:nvSpPr>
          <p:cNvPr id="76" name="Shape 71"/>
          <p:cNvSpPr/>
          <p:nvPr/>
        </p:nvSpPr>
        <p:spPr>
          <a:xfrm>
            <a:off x="619048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6190488" y="389534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8" name="Text 73"/>
          <p:cNvSpPr txBox="1"/>
          <p:nvPr/>
        </p:nvSpPr>
        <p:spPr>
          <a:xfrm>
            <a:off x="635508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</a:t>
            </a:r>
            <a:endParaRPr lang="en-US" sz="2400" dirty="0"/>
          </a:p>
        </p:txBody>
      </p:sp>
      <p:sp>
        <p:nvSpPr>
          <p:cNvPr id="79" name="Text 74"/>
          <p:cNvSpPr txBox="1"/>
          <p:nvPr/>
        </p:nvSpPr>
        <p:spPr>
          <a:xfrm>
            <a:off x="635508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Rejected KYC</a:t>
            </a:r>
            <a:endParaRPr lang="en-US" sz="1050" dirty="0"/>
          </a:p>
        </p:txBody>
      </p:sp>
      <p:sp>
        <p:nvSpPr>
          <p:cNvPr id="80" name="Text 75"/>
          <p:cNvSpPr txBox="1"/>
          <p:nvPr/>
        </p:nvSpPr>
        <p:spPr>
          <a:xfrm>
            <a:off x="635508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Resubmission required</a:t>
            </a:r>
            <a:endParaRPr lang="en-US" sz="850" dirty="0"/>
          </a:p>
        </p:txBody>
      </p:sp>
      <p:sp>
        <p:nvSpPr>
          <p:cNvPr id="81" name="Text 76"/>
          <p:cNvSpPr txBox="1"/>
          <p:nvPr/>
        </p:nvSpPr>
        <p:spPr>
          <a:xfrm>
            <a:off x="779068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82" name="Shape 77"/>
          <p:cNvSpPr/>
          <p:nvPr/>
        </p:nvSpPr>
        <p:spPr>
          <a:xfrm>
            <a:off x="619048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6190488" y="499262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4" name="Text 79"/>
          <p:cNvSpPr txBox="1"/>
          <p:nvPr/>
        </p:nvSpPr>
        <p:spPr>
          <a:xfrm>
            <a:off x="635508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95</a:t>
            </a:r>
            <a:endParaRPr lang="en-US" sz="2400" dirty="0"/>
          </a:p>
        </p:txBody>
      </p:sp>
      <p:sp>
        <p:nvSpPr>
          <p:cNvPr id="85" name="Text 80"/>
          <p:cNvSpPr txBox="1"/>
          <p:nvPr/>
        </p:nvSpPr>
        <p:spPr>
          <a:xfrm>
            <a:off x="635508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KYC applications</a:t>
            </a:r>
            <a:endParaRPr lang="en-US" sz="1050" dirty="0"/>
          </a:p>
        </p:txBody>
      </p:sp>
      <p:sp>
        <p:nvSpPr>
          <p:cNvPr id="86" name="Text 81"/>
          <p:cNvSpPr txBox="1"/>
          <p:nvPr/>
        </p:nvSpPr>
        <p:spPr>
          <a:xfrm>
            <a:off x="635508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Onboarded + incomplete + rejected</a:t>
            </a:r>
            <a:endParaRPr lang="en-US" sz="850" dirty="0"/>
          </a:p>
        </p:txBody>
      </p:sp>
      <p:sp>
        <p:nvSpPr>
          <p:cNvPr id="87" name="Shape 82"/>
          <p:cNvSpPr/>
          <p:nvPr/>
        </p:nvSpPr>
        <p:spPr>
          <a:xfrm>
            <a:off x="9002268" y="1408176"/>
            <a:ext cx="45720" cy="155448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88" name="Text 83"/>
          <p:cNvSpPr txBox="1"/>
          <p:nvPr/>
        </p:nvSpPr>
        <p:spPr>
          <a:xfrm>
            <a:off x="911199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SUPPORT TICKETS</a:t>
            </a:r>
            <a:endParaRPr lang="en-US" sz="900" dirty="0"/>
          </a:p>
        </p:txBody>
      </p:sp>
      <p:sp>
        <p:nvSpPr>
          <p:cNvPr id="89" name="Shape 84"/>
          <p:cNvSpPr/>
          <p:nvPr/>
        </p:nvSpPr>
        <p:spPr>
          <a:xfrm>
            <a:off x="900226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9002268" y="170078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1" name="Text 86"/>
          <p:cNvSpPr txBox="1"/>
          <p:nvPr/>
        </p:nvSpPr>
        <p:spPr>
          <a:xfrm>
            <a:off x="916686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</a:t>
            </a:r>
            <a:endParaRPr lang="en-US" sz="2400" dirty="0"/>
          </a:p>
        </p:txBody>
      </p:sp>
      <p:sp>
        <p:nvSpPr>
          <p:cNvPr id="92" name="Text 87"/>
          <p:cNvSpPr txBox="1"/>
          <p:nvPr/>
        </p:nvSpPr>
        <p:spPr>
          <a:xfrm>
            <a:off x="916686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created</a:t>
            </a:r>
            <a:endParaRPr lang="en-US" sz="1050" dirty="0"/>
          </a:p>
        </p:txBody>
      </p:sp>
      <p:sp>
        <p:nvSpPr>
          <p:cNvPr id="93" name="Text 88"/>
          <p:cNvSpPr txBox="1"/>
          <p:nvPr/>
        </p:nvSpPr>
        <p:spPr>
          <a:xfrm>
            <a:off x="916686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94" name="Text 89"/>
          <p:cNvSpPr txBox="1"/>
          <p:nvPr/>
        </p:nvSpPr>
        <p:spPr>
          <a:xfrm>
            <a:off x="1060246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95" name="Shape 90"/>
          <p:cNvSpPr/>
          <p:nvPr/>
        </p:nvSpPr>
        <p:spPr>
          <a:xfrm>
            <a:off x="900226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9002268" y="279806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7" name="Text 92"/>
          <p:cNvSpPr txBox="1"/>
          <p:nvPr/>
        </p:nvSpPr>
        <p:spPr>
          <a:xfrm>
            <a:off x="916686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</a:t>
            </a:r>
            <a:endParaRPr lang="en-US" sz="2400" dirty="0"/>
          </a:p>
        </p:txBody>
      </p:sp>
      <p:sp>
        <p:nvSpPr>
          <p:cNvPr id="98" name="Text 93"/>
          <p:cNvSpPr txBox="1"/>
          <p:nvPr/>
        </p:nvSpPr>
        <p:spPr>
          <a:xfrm>
            <a:off x="916686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resolved</a:t>
            </a:r>
            <a:endParaRPr lang="en-US" sz="1050" dirty="0"/>
          </a:p>
        </p:txBody>
      </p:sp>
      <p:sp>
        <p:nvSpPr>
          <p:cNvPr id="99" name="Text 94"/>
          <p:cNvSpPr txBox="1"/>
          <p:nvPr/>
        </p:nvSpPr>
        <p:spPr>
          <a:xfrm>
            <a:off x="916686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100% of tickets created</a:t>
            </a:r>
            <a:endParaRPr lang="en-US" sz="850" dirty="0"/>
          </a:p>
        </p:txBody>
      </p:sp>
      <p:sp>
        <p:nvSpPr>
          <p:cNvPr id="100" name="Text 95"/>
          <p:cNvSpPr txBox="1"/>
          <p:nvPr/>
        </p:nvSpPr>
        <p:spPr>
          <a:xfrm>
            <a:off x="1060246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1" name="Shape 96"/>
          <p:cNvSpPr/>
          <p:nvPr/>
        </p:nvSpPr>
        <p:spPr>
          <a:xfrm>
            <a:off x="900226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9002268" y="389534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3" name="Text 98"/>
          <p:cNvSpPr txBox="1"/>
          <p:nvPr/>
        </p:nvSpPr>
        <p:spPr>
          <a:xfrm>
            <a:off x="916686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</a:t>
            </a:r>
            <a:endParaRPr lang="en-US" sz="2400" dirty="0"/>
          </a:p>
        </p:txBody>
      </p:sp>
      <p:sp>
        <p:nvSpPr>
          <p:cNvPr id="104" name="Text 99"/>
          <p:cNvSpPr txBox="1"/>
          <p:nvPr/>
        </p:nvSpPr>
        <p:spPr>
          <a:xfrm>
            <a:off x="916686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Email queries</a:t>
            </a:r>
            <a:endParaRPr lang="en-US" sz="1050" dirty="0"/>
          </a:p>
        </p:txBody>
      </p:sp>
      <p:sp>
        <p:nvSpPr>
          <p:cNvPr id="105" name="Text 100"/>
          <p:cNvSpPr txBox="1"/>
          <p:nvPr/>
        </p:nvSpPr>
        <p:spPr>
          <a:xfrm>
            <a:off x="916686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06" name="Text 101"/>
          <p:cNvSpPr txBox="1"/>
          <p:nvPr/>
        </p:nvSpPr>
        <p:spPr>
          <a:xfrm>
            <a:off x="1060246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7" name="Shape 102"/>
          <p:cNvSpPr/>
          <p:nvPr/>
        </p:nvSpPr>
        <p:spPr>
          <a:xfrm>
            <a:off x="900226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9002268" y="499262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9" name="Text 104"/>
          <p:cNvSpPr txBox="1"/>
          <p:nvPr/>
        </p:nvSpPr>
        <p:spPr>
          <a:xfrm>
            <a:off x="916686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21</a:t>
            </a:r>
            <a:endParaRPr lang="en-US" sz="2400" dirty="0"/>
          </a:p>
        </p:txBody>
      </p:sp>
      <p:sp>
        <p:nvSpPr>
          <p:cNvPr id="110" name="Text 105"/>
          <p:cNvSpPr txBox="1"/>
          <p:nvPr/>
        </p:nvSpPr>
        <p:spPr>
          <a:xfrm>
            <a:off x="916686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AI support queries</a:t>
            </a:r>
            <a:endParaRPr lang="en-US" sz="1050" dirty="0"/>
          </a:p>
        </p:txBody>
      </p:sp>
      <p:sp>
        <p:nvSpPr>
          <p:cNvPr id="111" name="Text 106"/>
          <p:cNvSpPr txBox="1"/>
          <p:nvPr/>
        </p:nvSpPr>
        <p:spPr>
          <a:xfrm>
            <a:off x="916686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12" name="Text 107"/>
          <p:cNvSpPr txBox="1"/>
          <p:nvPr/>
        </p:nvSpPr>
        <p:spPr>
          <a:xfrm>
            <a:off x="1060246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atemIsa_202508993_IT9002_NLP_Project/emyaa-ceo-deck/working/charts/board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188720"/>
            <a:ext cx="12191695" cy="24689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66928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F3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PLATFORM ANALYTICS  |  PERFORMANCE DASHBOARD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57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 date: 17 Jun 2026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868680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6CFE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Reporting period: 14 May 2026 - 16 Jun 2026   |   Change on each card is against the previous report, 15 Jun 2026</a:t>
            </a:r>
            <a:endParaRPr lang="en-US" sz="1000" dirty="0"/>
          </a:p>
        </p:txBody>
      </p:sp>
      <p:pic>
        <p:nvPicPr>
          <p:cNvPr id="7" name="Image 1" descr="/home/user/HatemIsa_202508993_IT9002_NLP_Project/emyaa-ceo-deck/working/charts/ajy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02336"/>
            <a:ext cx="13258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" y="6272784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Source: eMYAA Daily Performance Dashboard, eMYAA_-_Daily_Performance_Dashboard-1.pdf, page 50. This report labels the money card 'Total Deposits'; later reports label the same measure 'Total AUM'.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eMYAA Trading Platform  |  Daily Performance Dashboard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9802368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53</a:t>
            </a:r>
            <a:endParaRPr lang="en-US" sz="800" dirty="0"/>
          </a:p>
        </p:txBody>
      </p:sp>
      <p:pic>
        <p:nvPicPr>
          <p:cNvPr id="11" name="Image 2" descr="/home/user/HatemIsa_202508993_IT9002_NLP_Project/emyaa-ceo-deck/working/charts/emyaa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6336792"/>
            <a:ext cx="1024128" cy="3657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66928" y="1408176"/>
            <a:ext cx="45720" cy="155448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665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DOWNLOADS &amp; RATINGS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6692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66928" y="170078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152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122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downloads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 Store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216712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6692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66928" y="279806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3152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71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73152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downloads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73152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Apple App Store</a:t>
            </a:r>
            <a:endParaRPr lang="en-US" sz="850" dirty="0"/>
          </a:p>
        </p:txBody>
      </p:sp>
      <p:sp>
        <p:nvSpPr>
          <p:cNvPr id="25" name="Text 20"/>
          <p:cNvSpPr txBox="1"/>
          <p:nvPr/>
        </p:nvSpPr>
        <p:spPr>
          <a:xfrm>
            <a:off x="216712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+3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6692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66928" y="389534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3152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29" name="Text 24"/>
          <p:cNvSpPr txBox="1"/>
          <p:nvPr/>
        </p:nvSpPr>
        <p:spPr>
          <a:xfrm>
            <a:off x="73152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app rating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73152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Play, 2 reviews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56692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66928" y="499262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3152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34" name="Text 29"/>
          <p:cNvSpPr txBox="1"/>
          <p:nvPr/>
        </p:nvSpPr>
        <p:spPr>
          <a:xfrm>
            <a:off x="73152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app rating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73152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 Store, 2 reviews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3378708" y="1408176"/>
            <a:ext cx="45720" cy="155448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48843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 ACTIVITY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337870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3378708" y="170078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354330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</a:t>
            </a:r>
            <a:endParaRPr lang="en-US" sz="2400" dirty="0"/>
          </a:p>
        </p:txBody>
      </p:sp>
      <p:sp>
        <p:nvSpPr>
          <p:cNvPr id="41" name="Text 36"/>
          <p:cNvSpPr txBox="1"/>
          <p:nvPr/>
        </p:nvSpPr>
        <p:spPr>
          <a:xfrm>
            <a:off x="354330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deposited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354330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Funded accounts</a:t>
            </a:r>
            <a:endParaRPr lang="en-US" sz="850" dirty="0"/>
          </a:p>
        </p:txBody>
      </p:sp>
      <p:sp>
        <p:nvSpPr>
          <p:cNvPr id="43" name="Text 38"/>
          <p:cNvSpPr txBox="1"/>
          <p:nvPr/>
        </p:nvSpPr>
        <p:spPr>
          <a:xfrm>
            <a:off x="497890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337870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3378708" y="279806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354330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$2,088.57</a:t>
            </a:r>
            <a:endParaRPr lang="en-US" sz="1900" dirty="0"/>
          </a:p>
        </p:txBody>
      </p:sp>
      <p:sp>
        <p:nvSpPr>
          <p:cNvPr id="47" name="Text 42"/>
          <p:cNvSpPr txBox="1"/>
          <p:nvPr/>
        </p:nvSpPr>
        <p:spPr>
          <a:xfrm>
            <a:off x="354330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deposits</a:t>
            </a:r>
            <a:endParaRPr lang="en-US" sz="1050" dirty="0"/>
          </a:p>
        </p:txBody>
      </p:sp>
      <p:sp>
        <p:nvSpPr>
          <p:cNvPr id="48" name="Text 43"/>
          <p:cNvSpPr txBox="1"/>
          <p:nvPr/>
        </p:nvSpPr>
        <p:spPr>
          <a:xfrm>
            <a:off x="354330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Cumulative platform deposits</a:t>
            </a:r>
            <a:endParaRPr lang="en-US" sz="850" dirty="0"/>
          </a:p>
        </p:txBody>
      </p:sp>
      <p:sp>
        <p:nvSpPr>
          <p:cNvPr id="49" name="Text 44"/>
          <p:cNvSpPr txBox="1"/>
          <p:nvPr/>
        </p:nvSpPr>
        <p:spPr>
          <a:xfrm>
            <a:off x="497890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337870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3378708" y="389534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354330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</a:t>
            </a:r>
            <a:endParaRPr lang="en-US" sz="2400" dirty="0"/>
          </a:p>
        </p:txBody>
      </p:sp>
      <p:sp>
        <p:nvSpPr>
          <p:cNvPr id="53" name="Text 48"/>
          <p:cNvSpPr txBox="1"/>
          <p:nvPr/>
        </p:nvSpPr>
        <p:spPr>
          <a:xfrm>
            <a:off x="354330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traded</a:t>
            </a:r>
            <a:endParaRPr lang="en-US" sz="1050" dirty="0"/>
          </a:p>
        </p:txBody>
      </p:sp>
      <p:sp>
        <p:nvSpPr>
          <p:cNvPr id="54" name="Text 49"/>
          <p:cNvSpPr txBox="1"/>
          <p:nvPr/>
        </p:nvSpPr>
        <p:spPr>
          <a:xfrm>
            <a:off x="354330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Placed at least 1 trade</a:t>
            </a:r>
            <a:endParaRPr lang="en-US" sz="850" dirty="0"/>
          </a:p>
        </p:txBody>
      </p:sp>
      <p:sp>
        <p:nvSpPr>
          <p:cNvPr id="55" name="Text 50"/>
          <p:cNvSpPr txBox="1"/>
          <p:nvPr/>
        </p:nvSpPr>
        <p:spPr>
          <a:xfrm>
            <a:off x="497890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6" name="Shape 51"/>
          <p:cNvSpPr/>
          <p:nvPr/>
        </p:nvSpPr>
        <p:spPr>
          <a:xfrm>
            <a:off x="337870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3378708" y="499262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354330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9</a:t>
            </a:r>
            <a:endParaRPr lang="en-US" sz="2400" dirty="0"/>
          </a:p>
        </p:txBody>
      </p:sp>
      <p:sp>
        <p:nvSpPr>
          <p:cNvPr id="59" name="Text 54"/>
          <p:cNvSpPr txBox="1"/>
          <p:nvPr/>
        </p:nvSpPr>
        <p:spPr>
          <a:xfrm>
            <a:off x="354330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trades</a:t>
            </a:r>
            <a:endParaRPr lang="en-US" sz="1050" dirty="0"/>
          </a:p>
        </p:txBody>
      </p:sp>
      <p:sp>
        <p:nvSpPr>
          <p:cNvPr id="60" name="Text 55"/>
          <p:cNvSpPr txBox="1"/>
          <p:nvPr/>
        </p:nvSpPr>
        <p:spPr>
          <a:xfrm>
            <a:off x="354330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Executed across all users</a:t>
            </a:r>
            <a:endParaRPr lang="en-US" sz="850" dirty="0"/>
          </a:p>
        </p:txBody>
      </p:sp>
      <p:sp>
        <p:nvSpPr>
          <p:cNvPr id="61" name="Text 56"/>
          <p:cNvSpPr txBox="1"/>
          <p:nvPr/>
        </p:nvSpPr>
        <p:spPr>
          <a:xfrm>
            <a:off x="497890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62" name="Shape 57"/>
          <p:cNvSpPr/>
          <p:nvPr/>
        </p:nvSpPr>
        <p:spPr>
          <a:xfrm>
            <a:off x="6190488" y="1408176"/>
            <a:ext cx="45720" cy="1554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630021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KYC STATUS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619048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6190488" y="170078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635508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12</a:t>
            </a:r>
            <a:endParaRPr lang="en-US" sz="2400" dirty="0"/>
          </a:p>
        </p:txBody>
      </p:sp>
      <p:sp>
        <p:nvSpPr>
          <p:cNvPr id="67" name="Text 62"/>
          <p:cNvSpPr txBox="1"/>
          <p:nvPr/>
        </p:nvSpPr>
        <p:spPr>
          <a:xfrm>
            <a:off x="635508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onboarded</a:t>
            </a:r>
            <a:endParaRPr lang="en-US" sz="1050" dirty="0"/>
          </a:p>
        </p:txBody>
      </p:sp>
      <p:sp>
        <p:nvSpPr>
          <p:cNvPr id="68" name="Text 63"/>
          <p:cNvSpPr txBox="1"/>
          <p:nvPr/>
        </p:nvSpPr>
        <p:spPr>
          <a:xfrm>
            <a:off x="635508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Completed signup and verification</a:t>
            </a:r>
            <a:endParaRPr lang="en-US" sz="850" dirty="0"/>
          </a:p>
        </p:txBody>
      </p:sp>
      <p:sp>
        <p:nvSpPr>
          <p:cNvPr id="69" name="Text 64"/>
          <p:cNvSpPr txBox="1"/>
          <p:nvPr/>
        </p:nvSpPr>
        <p:spPr>
          <a:xfrm>
            <a:off x="779068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70" name="Shape 65"/>
          <p:cNvSpPr/>
          <p:nvPr/>
        </p:nvSpPr>
        <p:spPr>
          <a:xfrm>
            <a:off x="619048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6190488" y="279806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2" name="Text 67"/>
          <p:cNvSpPr txBox="1"/>
          <p:nvPr/>
        </p:nvSpPr>
        <p:spPr>
          <a:xfrm>
            <a:off x="635508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94</a:t>
            </a:r>
            <a:endParaRPr lang="en-US" sz="2400" dirty="0"/>
          </a:p>
        </p:txBody>
      </p:sp>
      <p:sp>
        <p:nvSpPr>
          <p:cNvPr id="73" name="Text 68"/>
          <p:cNvSpPr txBox="1"/>
          <p:nvPr/>
        </p:nvSpPr>
        <p:spPr>
          <a:xfrm>
            <a:off x="635508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Incomplete KYC</a:t>
            </a:r>
            <a:endParaRPr lang="en-US" sz="1050" dirty="0"/>
          </a:p>
        </p:txBody>
      </p:sp>
      <p:sp>
        <p:nvSpPr>
          <p:cNvPr id="74" name="Text 69"/>
          <p:cNvSpPr txBox="1"/>
          <p:nvPr/>
        </p:nvSpPr>
        <p:spPr>
          <a:xfrm>
            <a:off x="635508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Started KYC but did not proceed</a:t>
            </a:r>
            <a:endParaRPr lang="en-US" sz="850" dirty="0"/>
          </a:p>
        </p:txBody>
      </p:sp>
      <p:sp>
        <p:nvSpPr>
          <p:cNvPr id="75" name="Text 70"/>
          <p:cNvSpPr txBox="1"/>
          <p:nvPr/>
        </p:nvSpPr>
        <p:spPr>
          <a:xfrm>
            <a:off x="779068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5303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+19</a:t>
            </a:r>
            <a:endParaRPr lang="en-US" sz="850" dirty="0"/>
          </a:p>
        </p:txBody>
      </p:sp>
      <p:sp>
        <p:nvSpPr>
          <p:cNvPr id="76" name="Shape 71"/>
          <p:cNvSpPr/>
          <p:nvPr/>
        </p:nvSpPr>
        <p:spPr>
          <a:xfrm>
            <a:off x="619048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6190488" y="389534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8" name="Text 73"/>
          <p:cNvSpPr txBox="1"/>
          <p:nvPr/>
        </p:nvSpPr>
        <p:spPr>
          <a:xfrm>
            <a:off x="635508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</a:t>
            </a:r>
            <a:endParaRPr lang="en-US" sz="2400" dirty="0"/>
          </a:p>
        </p:txBody>
      </p:sp>
      <p:sp>
        <p:nvSpPr>
          <p:cNvPr id="79" name="Text 74"/>
          <p:cNvSpPr txBox="1"/>
          <p:nvPr/>
        </p:nvSpPr>
        <p:spPr>
          <a:xfrm>
            <a:off x="635508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Rejected KYC</a:t>
            </a:r>
            <a:endParaRPr lang="en-US" sz="1050" dirty="0"/>
          </a:p>
        </p:txBody>
      </p:sp>
      <p:sp>
        <p:nvSpPr>
          <p:cNvPr id="80" name="Text 75"/>
          <p:cNvSpPr txBox="1"/>
          <p:nvPr/>
        </p:nvSpPr>
        <p:spPr>
          <a:xfrm>
            <a:off x="635508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Resubmission required</a:t>
            </a:r>
            <a:endParaRPr lang="en-US" sz="850" dirty="0"/>
          </a:p>
        </p:txBody>
      </p:sp>
      <p:sp>
        <p:nvSpPr>
          <p:cNvPr id="81" name="Text 76"/>
          <p:cNvSpPr txBox="1"/>
          <p:nvPr/>
        </p:nvSpPr>
        <p:spPr>
          <a:xfrm>
            <a:off x="779068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82" name="Shape 77"/>
          <p:cNvSpPr/>
          <p:nvPr/>
        </p:nvSpPr>
        <p:spPr>
          <a:xfrm>
            <a:off x="619048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6190488" y="499262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4" name="Text 79"/>
          <p:cNvSpPr txBox="1"/>
          <p:nvPr/>
        </p:nvSpPr>
        <p:spPr>
          <a:xfrm>
            <a:off x="635508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111</a:t>
            </a:r>
            <a:endParaRPr lang="en-US" sz="2400" dirty="0"/>
          </a:p>
        </p:txBody>
      </p:sp>
      <p:sp>
        <p:nvSpPr>
          <p:cNvPr id="85" name="Text 80"/>
          <p:cNvSpPr txBox="1"/>
          <p:nvPr/>
        </p:nvSpPr>
        <p:spPr>
          <a:xfrm>
            <a:off x="635508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KYC applications</a:t>
            </a:r>
            <a:endParaRPr lang="en-US" sz="1050" dirty="0"/>
          </a:p>
        </p:txBody>
      </p:sp>
      <p:sp>
        <p:nvSpPr>
          <p:cNvPr id="86" name="Text 81"/>
          <p:cNvSpPr txBox="1"/>
          <p:nvPr/>
        </p:nvSpPr>
        <p:spPr>
          <a:xfrm>
            <a:off x="635508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Onboarded + incomplete + rejected</a:t>
            </a:r>
            <a:endParaRPr lang="en-US" sz="850" dirty="0"/>
          </a:p>
        </p:txBody>
      </p:sp>
      <p:sp>
        <p:nvSpPr>
          <p:cNvPr id="87" name="Shape 82"/>
          <p:cNvSpPr/>
          <p:nvPr/>
        </p:nvSpPr>
        <p:spPr>
          <a:xfrm>
            <a:off x="9002268" y="1408176"/>
            <a:ext cx="45720" cy="155448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88" name="Text 83"/>
          <p:cNvSpPr txBox="1"/>
          <p:nvPr/>
        </p:nvSpPr>
        <p:spPr>
          <a:xfrm>
            <a:off x="911199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SUPPORT TICKETS</a:t>
            </a:r>
            <a:endParaRPr lang="en-US" sz="900" dirty="0"/>
          </a:p>
        </p:txBody>
      </p:sp>
      <p:sp>
        <p:nvSpPr>
          <p:cNvPr id="89" name="Shape 84"/>
          <p:cNvSpPr/>
          <p:nvPr/>
        </p:nvSpPr>
        <p:spPr>
          <a:xfrm>
            <a:off x="900226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9002268" y="170078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1" name="Text 86"/>
          <p:cNvSpPr txBox="1"/>
          <p:nvPr/>
        </p:nvSpPr>
        <p:spPr>
          <a:xfrm>
            <a:off x="916686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</a:t>
            </a:r>
            <a:endParaRPr lang="en-US" sz="2400" dirty="0"/>
          </a:p>
        </p:txBody>
      </p:sp>
      <p:sp>
        <p:nvSpPr>
          <p:cNvPr id="92" name="Text 87"/>
          <p:cNvSpPr txBox="1"/>
          <p:nvPr/>
        </p:nvSpPr>
        <p:spPr>
          <a:xfrm>
            <a:off x="916686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created</a:t>
            </a:r>
            <a:endParaRPr lang="en-US" sz="1050" dirty="0"/>
          </a:p>
        </p:txBody>
      </p:sp>
      <p:sp>
        <p:nvSpPr>
          <p:cNvPr id="93" name="Text 88"/>
          <p:cNvSpPr txBox="1"/>
          <p:nvPr/>
        </p:nvSpPr>
        <p:spPr>
          <a:xfrm>
            <a:off x="916686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94" name="Text 89"/>
          <p:cNvSpPr txBox="1"/>
          <p:nvPr/>
        </p:nvSpPr>
        <p:spPr>
          <a:xfrm>
            <a:off x="1060246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95" name="Shape 90"/>
          <p:cNvSpPr/>
          <p:nvPr/>
        </p:nvSpPr>
        <p:spPr>
          <a:xfrm>
            <a:off x="900226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9002268" y="279806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7" name="Text 92"/>
          <p:cNvSpPr txBox="1"/>
          <p:nvPr/>
        </p:nvSpPr>
        <p:spPr>
          <a:xfrm>
            <a:off x="916686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</a:t>
            </a:r>
            <a:endParaRPr lang="en-US" sz="2400" dirty="0"/>
          </a:p>
        </p:txBody>
      </p:sp>
      <p:sp>
        <p:nvSpPr>
          <p:cNvPr id="98" name="Text 93"/>
          <p:cNvSpPr txBox="1"/>
          <p:nvPr/>
        </p:nvSpPr>
        <p:spPr>
          <a:xfrm>
            <a:off x="916686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resolved</a:t>
            </a:r>
            <a:endParaRPr lang="en-US" sz="1050" dirty="0"/>
          </a:p>
        </p:txBody>
      </p:sp>
      <p:sp>
        <p:nvSpPr>
          <p:cNvPr id="99" name="Text 94"/>
          <p:cNvSpPr txBox="1"/>
          <p:nvPr/>
        </p:nvSpPr>
        <p:spPr>
          <a:xfrm>
            <a:off x="916686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100% of tickets created</a:t>
            </a:r>
            <a:endParaRPr lang="en-US" sz="850" dirty="0"/>
          </a:p>
        </p:txBody>
      </p:sp>
      <p:sp>
        <p:nvSpPr>
          <p:cNvPr id="100" name="Text 95"/>
          <p:cNvSpPr txBox="1"/>
          <p:nvPr/>
        </p:nvSpPr>
        <p:spPr>
          <a:xfrm>
            <a:off x="1060246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1" name="Shape 96"/>
          <p:cNvSpPr/>
          <p:nvPr/>
        </p:nvSpPr>
        <p:spPr>
          <a:xfrm>
            <a:off x="900226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9002268" y="389534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3" name="Text 98"/>
          <p:cNvSpPr txBox="1"/>
          <p:nvPr/>
        </p:nvSpPr>
        <p:spPr>
          <a:xfrm>
            <a:off x="916686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</a:t>
            </a:r>
            <a:endParaRPr lang="en-US" sz="2400" dirty="0"/>
          </a:p>
        </p:txBody>
      </p:sp>
      <p:sp>
        <p:nvSpPr>
          <p:cNvPr id="104" name="Text 99"/>
          <p:cNvSpPr txBox="1"/>
          <p:nvPr/>
        </p:nvSpPr>
        <p:spPr>
          <a:xfrm>
            <a:off x="916686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Email queries</a:t>
            </a:r>
            <a:endParaRPr lang="en-US" sz="1050" dirty="0"/>
          </a:p>
        </p:txBody>
      </p:sp>
      <p:sp>
        <p:nvSpPr>
          <p:cNvPr id="105" name="Text 100"/>
          <p:cNvSpPr txBox="1"/>
          <p:nvPr/>
        </p:nvSpPr>
        <p:spPr>
          <a:xfrm>
            <a:off x="916686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06" name="Text 101"/>
          <p:cNvSpPr txBox="1"/>
          <p:nvPr/>
        </p:nvSpPr>
        <p:spPr>
          <a:xfrm>
            <a:off x="1060246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7" name="Shape 102"/>
          <p:cNvSpPr/>
          <p:nvPr/>
        </p:nvSpPr>
        <p:spPr>
          <a:xfrm>
            <a:off x="900226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9002268" y="499262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9" name="Text 104"/>
          <p:cNvSpPr txBox="1"/>
          <p:nvPr/>
        </p:nvSpPr>
        <p:spPr>
          <a:xfrm>
            <a:off x="916686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21</a:t>
            </a:r>
            <a:endParaRPr lang="en-US" sz="2400" dirty="0"/>
          </a:p>
        </p:txBody>
      </p:sp>
      <p:sp>
        <p:nvSpPr>
          <p:cNvPr id="110" name="Text 105"/>
          <p:cNvSpPr txBox="1"/>
          <p:nvPr/>
        </p:nvSpPr>
        <p:spPr>
          <a:xfrm>
            <a:off x="916686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AI support queries</a:t>
            </a:r>
            <a:endParaRPr lang="en-US" sz="1050" dirty="0"/>
          </a:p>
        </p:txBody>
      </p:sp>
      <p:sp>
        <p:nvSpPr>
          <p:cNvPr id="111" name="Text 106"/>
          <p:cNvSpPr txBox="1"/>
          <p:nvPr/>
        </p:nvSpPr>
        <p:spPr>
          <a:xfrm>
            <a:off x="916686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12" name="Text 107"/>
          <p:cNvSpPr txBox="1"/>
          <p:nvPr/>
        </p:nvSpPr>
        <p:spPr>
          <a:xfrm>
            <a:off x="1060246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atemIsa_202508993_IT9002_NLP_Project/emyaa-ceo-deck/working/charts/board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188720"/>
            <a:ext cx="12191695" cy="24689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66928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F3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PLATFORM ANALYTICS  |  PERFORMANCE DASHBOARD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57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 date: 15 Jun 2026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868680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6CFE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Reporting period: 14 May 2026 - 14 Jun 2026   |   Change on each card is against the previous report, 14 Jun 2026</a:t>
            </a:r>
            <a:endParaRPr lang="en-US" sz="1000" dirty="0"/>
          </a:p>
        </p:txBody>
      </p:sp>
      <p:pic>
        <p:nvPicPr>
          <p:cNvPr id="7" name="Image 1" descr="/home/user/HatemIsa_202508993_IT9002_NLP_Project/emyaa-ceo-deck/working/charts/ajy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02336"/>
            <a:ext cx="13258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" y="6272784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Source: eMYAA Daily Performance Dashboard, eMYAA_-_Daily_Performance_Dashboard-1.pdf, page 51. This report labels the money card 'Total Deposits'; later reports label the same measure 'Total AUM'.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eMYAA Trading Platform  |  Daily Performance Dashboard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9802368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54</a:t>
            </a:r>
            <a:endParaRPr lang="en-US" sz="800" dirty="0"/>
          </a:p>
        </p:txBody>
      </p:sp>
      <p:pic>
        <p:nvPicPr>
          <p:cNvPr id="11" name="Image 2" descr="/home/user/HatemIsa_202508993_IT9002_NLP_Project/emyaa-ceo-deck/working/charts/emyaa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6336792"/>
            <a:ext cx="1024128" cy="3657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66928" y="1408176"/>
            <a:ext cx="45720" cy="155448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665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DOWNLOADS &amp; RATINGS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6692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66928" y="170078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152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121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downloads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 Store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216712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+7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6692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66928" y="279806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3152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68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73152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downloads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73152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Apple App Store</a:t>
            </a:r>
            <a:endParaRPr lang="en-US" sz="850" dirty="0"/>
          </a:p>
        </p:txBody>
      </p:sp>
      <p:sp>
        <p:nvSpPr>
          <p:cNvPr id="25" name="Text 20"/>
          <p:cNvSpPr txBox="1"/>
          <p:nvPr/>
        </p:nvSpPr>
        <p:spPr>
          <a:xfrm>
            <a:off x="216712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6692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66928" y="389534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3152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29" name="Text 24"/>
          <p:cNvSpPr txBox="1"/>
          <p:nvPr/>
        </p:nvSpPr>
        <p:spPr>
          <a:xfrm>
            <a:off x="73152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app rating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73152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Play, 2 reviews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56692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66928" y="499262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3152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34" name="Text 29"/>
          <p:cNvSpPr txBox="1"/>
          <p:nvPr/>
        </p:nvSpPr>
        <p:spPr>
          <a:xfrm>
            <a:off x="73152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app rating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73152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 Store, 2 reviews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3378708" y="1408176"/>
            <a:ext cx="45720" cy="155448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48843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 ACTIVITY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337870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3378708" y="170078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354330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</a:t>
            </a:r>
            <a:endParaRPr lang="en-US" sz="2400" dirty="0"/>
          </a:p>
        </p:txBody>
      </p:sp>
      <p:sp>
        <p:nvSpPr>
          <p:cNvPr id="41" name="Text 36"/>
          <p:cNvSpPr txBox="1"/>
          <p:nvPr/>
        </p:nvSpPr>
        <p:spPr>
          <a:xfrm>
            <a:off x="354330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deposited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354330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Funded accounts</a:t>
            </a:r>
            <a:endParaRPr lang="en-US" sz="850" dirty="0"/>
          </a:p>
        </p:txBody>
      </p:sp>
      <p:sp>
        <p:nvSpPr>
          <p:cNvPr id="43" name="Text 38"/>
          <p:cNvSpPr txBox="1"/>
          <p:nvPr/>
        </p:nvSpPr>
        <p:spPr>
          <a:xfrm>
            <a:off x="497890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337870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3378708" y="279806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354330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$2,088.57</a:t>
            </a:r>
            <a:endParaRPr lang="en-US" sz="1900" dirty="0"/>
          </a:p>
        </p:txBody>
      </p:sp>
      <p:sp>
        <p:nvSpPr>
          <p:cNvPr id="47" name="Text 42"/>
          <p:cNvSpPr txBox="1"/>
          <p:nvPr/>
        </p:nvSpPr>
        <p:spPr>
          <a:xfrm>
            <a:off x="354330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deposits</a:t>
            </a:r>
            <a:endParaRPr lang="en-US" sz="1050" dirty="0"/>
          </a:p>
        </p:txBody>
      </p:sp>
      <p:sp>
        <p:nvSpPr>
          <p:cNvPr id="48" name="Text 43"/>
          <p:cNvSpPr txBox="1"/>
          <p:nvPr/>
        </p:nvSpPr>
        <p:spPr>
          <a:xfrm>
            <a:off x="354330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Cumulative platform deposits</a:t>
            </a:r>
            <a:endParaRPr lang="en-US" sz="850" dirty="0"/>
          </a:p>
        </p:txBody>
      </p:sp>
      <p:sp>
        <p:nvSpPr>
          <p:cNvPr id="49" name="Text 44"/>
          <p:cNvSpPr txBox="1"/>
          <p:nvPr/>
        </p:nvSpPr>
        <p:spPr>
          <a:xfrm>
            <a:off x="497890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337870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3378708" y="389534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354330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</a:t>
            </a:r>
            <a:endParaRPr lang="en-US" sz="2400" dirty="0"/>
          </a:p>
        </p:txBody>
      </p:sp>
      <p:sp>
        <p:nvSpPr>
          <p:cNvPr id="53" name="Text 48"/>
          <p:cNvSpPr txBox="1"/>
          <p:nvPr/>
        </p:nvSpPr>
        <p:spPr>
          <a:xfrm>
            <a:off x="354330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traded</a:t>
            </a:r>
            <a:endParaRPr lang="en-US" sz="1050" dirty="0"/>
          </a:p>
        </p:txBody>
      </p:sp>
      <p:sp>
        <p:nvSpPr>
          <p:cNvPr id="54" name="Text 49"/>
          <p:cNvSpPr txBox="1"/>
          <p:nvPr/>
        </p:nvSpPr>
        <p:spPr>
          <a:xfrm>
            <a:off x="354330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Placed at least 1 trade</a:t>
            </a:r>
            <a:endParaRPr lang="en-US" sz="850" dirty="0"/>
          </a:p>
        </p:txBody>
      </p:sp>
      <p:sp>
        <p:nvSpPr>
          <p:cNvPr id="55" name="Text 50"/>
          <p:cNvSpPr txBox="1"/>
          <p:nvPr/>
        </p:nvSpPr>
        <p:spPr>
          <a:xfrm>
            <a:off x="497890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6" name="Shape 51"/>
          <p:cNvSpPr/>
          <p:nvPr/>
        </p:nvSpPr>
        <p:spPr>
          <a:xfrm>
            <a:off x="337870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3378708" y="499262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354330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9</a:t>
            </a:r>
            <a:endParaRPr lang="en-US" sz="2400" dirty="0"/>
          </a:p>
        </p:txBody>
      </p:sp>
      <p:sp>
        <p:nvSpPr>
          <p:cNvPr id="59" name="Text 54"/>
          <p:cNvSpPr txBox="1"/>
          <p:nvPr/>
        </p:nvSpPr>
        <p:spPr>
          <a:xfrm>
            <a:off x="354330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trades</a:t>
            </a:r>
            <a:endParaRPr lang="en-US" sz="1050" dirty="0"/>
          </a:p>
        </p:txBody>
      </p:sp>
      <p:sp>
        <p:nvSpPr>
          <p:cNvPr id="60" name="Text 55"/>
          <p:cNvSpPr txBox="1"/>
          <p:nvPr/>
        </p:nvSpPr>
        <p:spPr>
          <a:xfrm>
            <a:off x="354330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Executed across all users</a:t>
            </a:r>
            <a:endParaRPr lang="en-US" sz="850" dirty="0"/>
          </a:p>
        </p:txBody>
      </p:sp>
      <p:sp>
        <p:nvSpPr>
          <p:cNvPr id="61" name="Text 56"/>
          <p:cNvSpPr txBox="1"/>
          <p:nvPr/>
        </p:nvSpPr>
        <p:spPr>
          <a:xfrm>
            <a:off x="497890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62" name="Shape 57"/>
          <p:cNvSpPr/>
          <p:nvPr/>
        </p:nvSpPr>
        <p:spPr>
          <a:xfrm>
            <a:off x="6190488" y="1408176"/>
            <a:ext cx="45720" cy="1554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630021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KYC STATUS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619048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6190488" y="170078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635508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11</a:t>
            </a:r>
            <a:endParaRPr lang="en-US" sz="2400" dirty="0"/>
          </a:p>
        </p:txBody>
      </p:sp>
      <p:sp>
        <p:nvSpPr>
          <p:cNvPr id="67" name="Text 62"/>
          <p:cNvSpPr txBox="1"/>
          <p:nvPr/>
        </p:nvSpPr>
        <p:spPr>
          <a:xfrm>
            <a:off x="635508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onboarded</a:t>
            </a:r>
            <a:endParaRPr lang="en-US" sz="1050" dirty="0"/>
          </a:p>
        </p:txBody>
      </p:sp>
      <p:sp>
        <p:nvSpPr>
          <p:cNvPr id="68" name="Text 63"/>
          <p:cNvSpPr txBox="1"/>
          <p:nvPr/>
        </p:nvSpPr>
        <p:spPr>
          <a:xfrm>
            <a:off x="635508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Completed signup and verification</a:t>
            </a:r>
            <a:endParaRPr lang="en-US" sz="850" dirty="0"/>
          </a:p>
        </p:txBody>
      </p:sp>
      <p:sp>
        <p:nvSpPr>
          <p:cNvPr id="69" name="Text 64"/>
          <p:cNvSpPr txBox="1"/>
          <p:nvPr/>
        </p:nvSpPr>
        <p:spPr>
          <a:xfrm>
            <a:off x="779068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70" name="Shape 65"/>
          <p:cNvSpPr/>
          <p:nvPr/>
        </p:nvSpPr>
        <p:spPr>
          <a:xfrm>
            <a:off x="619048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6190488" y="279806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2" name="Text 67"/>
          <p:cNvSpPr txBox="1"/>
          <p:nvPr/>
        </p:nvSpPr>
        <p:spPr>
          <a:xfrm>
            <a:off x="635508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75</a:t>
            </a:r>
            <a:endParaRPr lang="en-US" sz="2400" dirty="0"/>
          </a:p>
        </p:txBody>
      </p:sp>
      <p:sp>
        <p:nvSpPr>
          <p:cNvPr id="73" name="Text 68"/>
          <p:cNvSpPr txBox="1"/>
          <p:nvPr/>
        </p:nvSpPr>
        <p:spPr>
          <a:xfrm>
            <a:off x="635508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Incomplete KYC</a:t>
            </a:r>
            <a:endParaRPr lang="en-US" sz="1050" dirty="0"/>
          </a:p>
        </p:txBody>
      </p:sp>
      <p:sp>
        <p:nvSpPr>
          <p:cNvPr id="74" name="Text 69"/>
          <p:cNvSpPr txBox="1"/>
          <p:nvPr/>
        </p:nvSpPr>
        <p:spPr>
          <a:xfrm>
            <a:off x="635508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Started KYC but did not proceed</a:t>
            </a:r>
            <a:endParaRPr lang="en-US" sz="850" dirty="0"/>
          </a:p>
        </p:txBody>
      </p:sp>
      <p:sp>
        <p:nvSpPr>
          <p:cNvPr id="75" name="Text 70"/>
          <p:cNvSpPr txBox="1"/>
          <p:nvPr/>
        </p:nvSpPr>
        <p:spPr>
          <a:xfrm>
            <a:off x="779068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5303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+6</a:t>
            </a:r>
            <a:endParaRPr lang="en-US" sz="850" dirty="0"/>
          </a:p>
        </p:txBody>
      </p:sp>
      <p:sp>
        <p:nvSpPr>
          <p:cNvPr id="76" name="Shape 71"/>
          <p:cNvSpPr/>
          <p:nvPr/>
        </p:nvSpPr>
        <p:spPr>
          <a:xfrm>
            <a:off x="619048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6190488" y="389534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8" name="Text 73"/>
          <p:cNvSpPr txBox="1"/>
          <p:nvPr/>
        </p:nvSpPr>
        <p:spPr>
          <a:xfrm>
            <a:off x="635508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</a:t>
            </a:r>
            <a:endParaRPr lang="en-US" sz="2400" dirty="0"/>
          </a:p>
        </p:txBody>
      </p:sp>
      <p:sp>
        <p:nvSpPr>
          <p:cNvPr id="79" name="Text 74"/>
          <p:cNvSpPr txBox="1"/>
          <p:nvPr/>
        </p:nvSpPr>
        <p:spPr>
          <a:xfrm>
            <a:off x="635508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Rejected KYC</a:t>
            </a:r>
            <a:endParaRPr lang="en-US" sz="1050" dirty="0"/>
          </a:p>
        </p:txBody>
      </p:sp>
      <p:sp>
        <p:nvSpPr>
          <p:cNvPr id="80" name="Text 75"/>
          <p:cNvSpPr txBox="1"/>
          <p:nvPr/>
        </p:nvSpPr>
        <p:spPr>
          <a:xfrm>
            <a:off x="635508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Resubmission required</a:t>
            </a:r>
            <a:endParaRPr lang="en-US" sz="850" dirty="0"/>
          </a:p>
        </p:txBody>
      </p:sp>
      <p:sp>
        <p:nvSpPr>
          <p:cNvPr id="81" name="Text 76"/>
          <p:cNvSpPr txBox="1"/>
          <p:nvPr/>
        </p:nvSpPr>
        <p:spPr>
          <a:xfrm>
            <a:off x="779068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82" name="Shape 77"/>
          <p:cNvSpPr/>
          <p:nvPr/>
        </p:nvSpPr>
        <p:spPr>
          <a:xfrm>
            <a:off x="619048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6190488" y="499262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4" name="Text 79"/>
          <p:cNvSpPr txBox="1"/>
          <p:nvPr/>
        </p:nvSpPr>
        <p:spPr>
          <a:xfrm>
            <a:off x="635508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91</a:t>
            </a:r>
            <a:endParaRPr lang="en-US" sz="2400" dirty="0"/>
          </a:p>
        </p:txBody>
      </p:sp>
      <p:sp>
        <p:nvSpPr>
          <p:cNvPr id="85" name="Text 80"/>
          <p:cNvSpPr txBox="1"/>
          <p:nvPr/>
        </p:nvSpPr>
        <p:spPr>
          <a:xfrm>
            <a:off x="635508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KYC applications</a:t>
            </a:r>
            <a:endParaRPr lang="en-US" sz="1050" dirty="0"/>
          </a:p>
        </p:txBody>
      </p:sp>
      <p:sp>
        <p:nvSpPr>
          <p:cNvPr id="86" name="Text 81"/>
          <p:cNvSpPr txBox="1"/>
          <p:nvPr/>
        </p:nvSpPr>
        <p:spPr>
          <a:xfrm>
            <a:off x="635508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Onboarded + incomplete + rejected</a:t>
            </a:r>
            <a:endParaRPr lang="en-US" sz="850" dirty="0"/>
          </a:p>
        </p:txBody>
      </p:sp>
      <p:sp>
        <p:nvSpPr>
          <p:cNvPr id="87" name="Shape 82"/>
          <p:cNvSpPr/>
          <p:nvPr/>
        </p:nvSpPr>
        <p:spPr>
          <a:xfrm>
            <a:off x="9002268" y="1408176"/>
            <a:ext cx="45720" cy="155448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88" name="Text 83"/>
          <p:cNvSpPr txBox="1"/>
          <p:nvPr/>
        </p:nvSpPr>
        <p:spPr>
          <a:xfrm>
            <a:off x="911199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SUPPORT TICKETS</a:t>
            </a:r>
            <a:endParaRPr lang="en-US" sz="900" dirty="0"/>
          </a:p>
        </p:txBody>
      </p:sp>
      <p:sp>
        <p:nvSpPr>
          <p:cNvPr id="89" name="Shape 84"/>
          <p:cNvSpPr/>
          <p:nvPr/>
        </p:nvSpPr>
        <p:spPr>
          <a:xfrm>
            <a:off x="900226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9002268" y="170078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1" name="Text 86"/>
          <p:cNvSpPr txBox="1"/>
          <p:nvPr/>
        </p:nvSpPr>
        <p:spPr>
          <a:xfrm>
            <a:off x="916686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</a:t>
            </a:r>
            <a:endParaRPr lang="en-US" sz="2400" dirty="0"/>
          </a:p>
        </p:txBody>
      </p:sp>
      <p:sp>
        <p:nvSpPr>
          <p:cNvPr id="92" name="Text 87"/>
          <p:cNvSpPr txBox="1"/>
          <p:nvPr/>
        </p:nvSpPr>
        <p:spPr>
          <a:xfrm>
            <a:off x="916686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created</a:t>
            </a:r>
            <a:endParaRPr lang="en-US" sz="1050" dirty="0"/>
          </a:p>
        </p:txBody>
      </p:sp>
      <p:sp>
        <p:nvSpPr>
          <p:cNvPr id="93" name="Text 88"/>
          <p:cNvSpPr txBox="1"/>
          <p:nvPr/>
        </p:nvSpPr>
        <p:spPr>
          <a:xfrm>
            <a:off x="916686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94" name="Text 89"/>
          <p:cNvSpPr txBox="1"/>
          <p:nvPr/>
        </p:nvSpPr>
        <p:spPr>
          <a:xfrm>
            <a:off x="1060246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95" name="Shape 90"/>
          <p:cNvSpPr/>
          <p:nvPr/>
        </p:nvSpPr>
        <p:spPr>
          <a:xfrm>
            <a:off x="900226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9002268" y="279806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7" name="Text 92"/>
          <p:cNvSpPr txBox="1"/>
          <p:nvPr/>
        </p:nvSpPr>
        <p:spPr>
          <a:xfrm>
            <a:off x="916686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</a:t>
            </a:r>
            <a:endParaRPr lang="en-US" sz="2400" dirty="0"/>
          </a:p>
        </p:txBody>
      </p:sp>
      <p:sp>
        <p:nvSpPr>
          <p:cNvPr id="98" name="Text 93"/>
          <p:cNvSpPr txBox="1"/>
          <p:nvPr/>
        </p:nvSpPr>
        <p:spPr>
          <a:xfrm>
            <a:off x="916686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resolved</a:t>
            </a:r>
            <a:endParaRPr lang="en-US" sz="1050" dirty="0"/>
          </a:p>
        </p:txBody>
      </p:sp>
      <p:sp>
        <p:nvSpPr>
          <p:cNvPr id="99" name="Text 94"/>
          <p:cNvSpPr txBox="1"/>
          <p:nvPr/>
        </p:nvSpPr>
        <p:spPr>
          <a:xfrm>
            <a:off x="916686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100% of tickets created</a:t>
            </a:r>
            <a:endParaRPr lang="en-US" sz="850" dirty="0"/>
          </a:p>
        </p:txBody>
      </p:sp>
      <p:sp>
        <p:nvSpPr>
          <p:cNvPr id="100" name="Text 95"/>
          <p:cNvSpPr txBox="1"/>
          <p:nvPr/>
        </p:nvSpPr>
        <p:spPr>
          <a:xfrm>
            <a:off x="1060246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1" name="Shape 96"/>
          <p:cNvSpPr/>
          <p:nvPr/>
        </p:nvSpPr>
        <p:spPr>
          <a:xfrm>
            <a:off x="900226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9002268" y="389534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3" name="Text 98"/>
          <p:cNvSpPr txBox="1"/>
          <p:nvPr/>
        </p:nvSpPr>
        <p:spPr>
          <a:xfrm>
            <a:off x="916686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</a:t>
            </a:r>
            <a:endParaRPr lang="en-US" sz="2400" dirty="0"/>
          </a:p>
        </p:txBody>
      </p:sp>
      <p:sp>
        <p:nvSpPr>
          <p:cNvPr id="104" name="Text 99"/>
          <p:cNvSpPr txBox="1"/>
          <p:nvPr/>
        </p:nvSpPr>
        <p:spPr>
          <a:xfrm>
            <a:off x="916686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Email queries</a:t>
            </a:r>
            <a:endParaRPr lang="en-US" sz="1050" dirty="0"/>
          </a:p>
        </p:txBody>
      </p:sp>
      <p:sp>
        <p:nvSpPr>
          <p:cNvPr id="105" name="Text 100"/>
          <p:cNvSpPr txBox="1"/>
          <p:nvPr/>
        </p:nvSpPr>
        <p:spPr>
          <a:xfrm>
            <a:off x="916686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06" name="Text 101"/>
          <p:cNvSpPr txBox="1"/>
          <p:nvPr/>
        </p:nvSpPr>
        <p:spPr>
          <a:xfrm>
            <a:off x="1060246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7" name="Shape 102"/>
          <p:cNvSpPr/>
          <p:nvPr/>
        </p:nvSpPr>
        <p:spPr>
          <a:xfrm>
            <a:off x="900226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9002268" y="499262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9" name="Text 104"/>
          <p:cNvSpPr txBox="1"/>
          <p:nvPr/>
        </p:nvSpPr>
        <p:spPr>
          <a:xfrm>
            <a:off x="916686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21</a:t>
            </a:r>
            <a:endParaRPr lang="en-US" sz="2400" dirty="0"/>
          </a:p>
        </p:txBody>
      </p:sp>
      <p:sp>
        <p:nvSpPr>
          <p:cNvPr id="110" name="Text 105"/>
          <p:cNvSpPr txBox="1"/>
          <p:nvPr/>
        </p:nvSpPr>
        <p:spPr>
          <a:xfrm>
            <a:off x="916686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AI support queries</a:t>
            </a:r>
            <a:endParaRPr lang="en-US" sz="1050" dirty="0"/>
          </a:p>
        </p:txBody>
      </p:sp>
      <p:sp>
        <p:nvSpPr>
          <p:cNvPr id="111" name="Text 106"/>
          <p:cNvSpPr txBox="1"/>
          <p:nvPr/>
        </p:nvSpPr>
        <p:spPr>
          <a:xfrm>
            <a:off x="916686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12" name="Text 107"/>
          <p:cNvSpPr txBox="1"/>
          <p:nvPr/>
        </p:nvSpPr>
        <p:spPr>
          <a:xfrm>
            <a:off x="1060246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atemIsa_202508993_IT9002_NLP_Project/emyaa-ceo-deck/working/charts/board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188720"/>
            <a:ext cx="12191695" cy="24689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66928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F3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PLATFORM ANALYTICS  |  PERFORMANCE DASHBOARD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57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 date: 14 Jun 2026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868680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6CFE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Reporting period: 14 May 2026 - 13 Jun 2026   |   Change on each card is against the previous report, 10 Jun 2026</a:t>
            </a:r>
            <a:endParaRPr lang="en-US" sz="1000" dirty="0"/>
          </a:p>
        </p:txBody>
      </p:sp>
      <p:pic>
        <p:nvPicPr>
          <p:cNvPr id="7" name="Image 1" descr="/home/user/HatemIsa_202508993_IT9002_NLP_Project/emyaa-ceo-deck/working/charts/ajy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02336"/>
            <a:ext cx="13258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" y="6272784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Source: eMYAA Daily Performance Dashboard, eMYAA_-_Daily_Performance_Dashboard-1.pdf, page 52. This report labels the money card 'Total Deposits'; later reports label the same measure 'Total AUM'.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eMYAA Trading Platform  |  Daily Performance Dashboard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9802368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55</a:t>
            </a:r>
            <a:endParaRPr lang="en-US" sz="800" dirty="0"/>
          </a:p>
        </p:txBody>
      </p:sp>
      <p:pic>
        <p:nvPicPr>
          <p:cNvPr id="11" name="Image 2" descr="/home/user/HatemIsa_202508993_IT9002_NLP_Project/emyaa-ceo-deck/working/charts/emyaa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6336792"/>
            <a:ext cx="1024128" cy="3657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66928" y="1408176"/>
            <a:ext cx="45720" cy="155448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665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DOWNLOADS &amp; RATINGS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6692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66928" y="170078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152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114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downloads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 Store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216712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+4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6692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66928" y="279806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3152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68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73152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downloads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73152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Apple App Store</a:t>
            </a:r>
            <a:endParaRPr lang="en-US" sz="850" dirty="0"/>
          </a:p>
        </p:txBody>
      </p:sp>
      <p:sp>
        <p:nvSpPr>
          <p:cNvPr id="25" name="Text 20"/>
          <p:cNvSpPr txBox="1"/>
          <p:nvPr/>
        </p:nvSpPr>
        <p:spPr>
          <a:xfrm>
            <a:off x="216712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+5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6692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66928" y="389534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3152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29" name="Text 24"/>
          <p:cNvSpPr txBox="1"/>
          <p:nvPr/>
        </p:nvSpPr>
        <p:spPr>
          <a:xfrm>
            <a:off x="73152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app rating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73152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Play, 2 reviews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56692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66928" y="499262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3152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34" name="Text 29"/>
          <p:cNvSpPr txBox="1"/>
          <p:nvPr/>
        </p:nvSpPr>
        <p:spPr>
          <a:xfrm>
            <a:off x="73152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app rating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73152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 Store, 2 reviews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3378708" y="1408176"/>
            <a:ext cx="45720" cy="155448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48843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 ACTIVITY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337870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3378708" y="170078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354330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</a:t>
            </a:r>
            <a:endParaRPr lang="en-US" sz="2400" dirty="0"/>
          </a:p>
        </p:txBody>
      </p:sp>
      <p:sp>
        <p:nvSpPr>
          <p:cNvPr id="41" name="Text 36"/>
          <p:cNvSpPr txBox="1"/>
          <p:nvPr/>
        </p:nvSpPr>
        <p:spPr>
          <a:xfrm>
            <a:off x="354330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deposited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354330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Funded accounts</a:t>
            </a:r>
            <a:endParaRPr lang="en-US" sz="850" dirty="0"/>
          </a:p>
        </p:txBody>
      </p:sp>
      <p:sp>
        <p:nvSpPr>
          <p:cNvPr id="43" name="Text 38"/>
          <p:cNvSpPr txBox="1"/>
          <p:nvPr/>
        </p:nvSpPr>
        <p:spPr>
          <a:xfrm>
            <a:off x="497890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337870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3378708" y="279806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354330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$2,088.57</a:t>
            </a:r>
            <a:endParaRPr lang="en-US" sz="1900" dirty="0"/>
          </a:p>
        </p:txBody>
      </p:sp>
      <p:sp>
        <p:nvSpPr>
          <p:cNvPr id="47" name="Text 42"/>
          <p:cNvSpPr txBox="1"/>
          <p:nvPr/>
        </p:nvSpPr>
        <p:spPr>
          <a:xfrm>
            <a:off x="354330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deposits</a:t>
            </a:r>
            <a:endParaRPr lang="en-US" sz="1050" dirty="0"/>
          </a:p>
        </p:txBody>
      </p:sp>
      <p:sp>
        <p:nvSpPr>
          <p:cNvPr id="48" name="Text 43"/>
          <p:cNvSpPr txBox="1"/>
          <p:nvPr/>
        </p:nvSpPr>
        <p:spPr>
          <a:xfrm>
            <a:off x="354330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Cumulative platform deposits</a:t>
            </a:r>
            <a:endParaRPr lang="en-US" sz="850" dirty="0"/>
          </a:p>
        </p:txBody>
      </p:sp>
      <p:sp>
        <p:nvSpPr>
          <p:cNvPr id="49" name="Text 44"/>
          <p:cNvSpPr txBox="1"/>
          <p:nvPr/>
        </p:nvSpPr>
        <p:spPr>
          <a:xfrm>
            <a:off x="497890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337870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3378708" y="389534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354330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</a:t>
            </a:r>
            <a:endParaRPr lang="en-US" sz="2400" dirty="0"/>
          </a:p>
        </p:txBody>
      </p:sp>
      <p:sp>
        <p:nvSpPr>
          <p:cNvPr id="53" name="Text 48"/>
          <p:cNvSpPr txBox="1"/>
          <p:nvPr/>
        </p:nvSpPr>
        <p:spPr>
          <a:xfrm>
            <a:off x="354330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traded</a:t>
            </a:r>
            <a:endParaRPr lang="en-US" sz="1050" dirty="0"/>
          </a:p>
        </p:txBody>
      </p:sp>
      <p:sp>
        <p:nvSpPr>
          <p:cNvPr id="54" name="Text 49"/>
          <p:cNvSpPr txBox="1"/>
          <p:nvPr/>
        </p:nvSpPr>
        <p:spPr>
          <a:xfrm>
            <a:off x="354330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Placed at least 1 trade</a:t>
            </a:r>
            <a:endParaRPr lang="en-US" sz="850" dirty="0"/>
          </a:p>
        </p:txBody>
      </p:sp>
      <p:sp>
        <p:nvSpPr>
          <p:cNvPr id="55" name="Text 50"/>
          <p:cNvSpPr txBox="1"/>
          <p:nvPr/>
        </p:nvSpPr>
        <p:spPr>
          <a:xfrm>
            <a:off x="497890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56" name="Shape 51"/>
          <p:cNvSpPr/>
          <p:nvPr/>
        </p:nvSpPr>
        <p:spPr>
          <a:xfrm>
            <a:off x="337870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3378708" y="499262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354330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9</a:t>
            </a:r>
            <a:endParaRPr lang="en-US" sz="2400" dirty="0"/>
          </a:p>
        </p:txBody>
      </p:sp>
      <p:sp>
        <p:nvSpPr>
          <p:cNvPr id="59" name="Text 54"/>
          <p:cNvSpPr txBox="1"/>
          <p:nvPr/>
        </p:nvSpPr>
        <p:spPr>
          <a:xfrm>
            <a:off x="354330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trades</a:t>
            </a:r>
            <a:endParaRPr lang="en-US" sz="1050" dirty="0"/>
          </a:p>
        </p:txBody>
      </p:sp>
      <p:sp>
        <p:nvSpPr>
          <p:cNvPr id="60" name="Text 55"/>
          <p:cNvSpPr txBox="1"/>
          <p:nvPr/>
        </p:nvSpPr>
        <p:spPr>
          <a:xfrm>
            <a:off x="354330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Executed across all users</a:t>
            </a:r>
            <a:endParaRPr lang="en-US" sz="850" dirty="0"/>
          </a:p>
        </p:txBody>
      </p:sp>
      <p:sp>
        <p:nvSpPr>
          <p:cNvPr id="61" name="Text 56"/>
          <p:cNvSpPr txBox="1"/>
          <p:nvPr/>
        </p:nvSpPr>
        <p:spPr>
          <a:xfrm>
            <a:off x="497890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62" name="Shape 57"/>
          <p:cNvSpPr/>
          <p:nvPr/>
        </p:nvSpPr>
        <p:spPr>
          <a:xfrm>
            <a:off x="6190488" y="1408176"/>
            <a:ext cx="45720" cy="1554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630021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KYC STATUS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619048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6190488" y="170078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635508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11</a:t>
            </a:r>
            <a:endParaRPr lang="en-US" sz="2400" dirty="0"/>
          </a:p>
        </p:txBody>
      </p:sp>
      <p:sp>
        <p:nvSpPr>
          <p:cNvPr id="67" name="Text 62"/>
          <p:cNvSpPr txBox="1"/>
          <p:nvPr/>
        </p:nvSpPr>
        <p:spPr>
          <a:xfrm>
            <a:off x="635508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onboarded</a:t>
            </a:r>
            <a:endParaRPr lang="en-US" sz="1050" dirty="0"/>
          </a:p>
        </p:txBody>
      </p:sp>
      <p:sp>
        <p:nvSpPr>
          <p:cNvPr id="68" name="Text 63"/>
          <p:cNvSpPr txBox="1"/>
          <p:nvPr/>
        </p:nvSpPr>
        <p:spPr>
          <a:xfrm>
            <a:off x="635508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Completed signup and verification</a:t>
            </a:r>
            <a:endParaRPr lang="en-US" sz="850" dirty="0"/>
          </a:p>
        </p:txBody>
      </p:sp>
      <p:sp>
        <p:nvSpPr>
          <p:cNvPr id="69" name="Text 64"/>
          <p:cNvSpPr txBox="1"/>
          <p:nvPr/>
        </p:nvSpPr>
        <p:spPr>
          <a:xfrm>
            <a:off x="779068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+3</a:t>
            </a:r>
            <a:endParaRPr lang="en-US" sz="850" dirty="0"/>
          </a:p>
        </p:txBody>
      </p:sp>
      <p:sp>
        <p:nvSpPr>
          <p:cNvPr id="70" name="Shape 65"/>
          <p:cNvSpPr/>
          <p:nvPr/>
        </p:nvSpPr>
        <p:spPr>
          <a:xfrm>
            <a:off x="619048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6190488" y="279806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2" name="Text 67"/>
          <p:cNvSpPr txBox="1"/>
          <p:nvPr/>
        </p:nvSpPr>
        <p:spPr>
          <a:xfrm>
            <a:off x="635508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69</a:t>
            </a:r>
            <a:endParaRPr lang="en-US" sz="2400" dirty="0"/>
          </a:p>
        </p:txBody>
      </p:sp>
      <p:sp>
        <p:nvSpPr>
          <p:cNvPr id="73" name="Text 68"/>
          <p:cNvSpPr txBox="1"/>
          <p:nvPr/>
        </p:nvSpPr>
        <p:spPr>
          <a:xfrm>
            <a:off x="635508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Incomplete KYC</a:t>
            </a:r>
            <a:endParaRPr lang="en-US" sz="1050" dirty="0"/>
          </a:p>
        </p:txBody>
      </p:sp>
      <p:sp>
        <p:nvSpPr>
          <p:cNvPr id="74" name="Text 69"/>
          <p:cNvSpPr txBox="1"/>
          <p:nvPr/>
        </p:nvSpPr>
        <p:spPr>
          <a:xfrm>
            <a:off x="635508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Started KYC but did not proceed</a:t>
            </a:r>
            <a:endParaRPr lang="en-US" sz="850" dirty="0"/>
          </a:p>
        </p:txBody>
      </p:sp>
      <p:sp>
        <p:nvSpPr>
          <p:cNvPr id="75" name="Text 70"/>
          <p:cNvSpPr txBox="1"/>
          <p:nvPr/>
        </p:nvSpPr>
        <p:spPr>
          <a:xfrm>
            <a:off x="779068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5303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+8</a:t>
            </a:r>
            <a:endParaRPr lang="en-US" sz="850" dirty="0"/>
          </a:p>
        </p:txBody>
      </p:sp>
      <p:sp>
        <p:nvSpPr>
          <p:cNvPr id="76" name="Shape 71"/>
          <p:cNvSpPr/>
          <p:nvPr/>
        </p:nvSpPr>
        <p:spPr>
          <a:xfrm>
            <a:off x="619048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6190488" y="389534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8" name="Text 73"/>
          <p:cNvSpPr txBox="1"/>
          <p:nvPr/>
        </p:nvSpPr>
        <p:spPr>
          <a:xfrm>
            <a:off x="635508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</a:t>
            </a:r>
            <a:endParaRPr lang="en-US" sz="2400" dirty="0"/>
          </a:p>
        </p:txBody>
      </p:sp>
      <p:sp>
        <p:nvSpPr>
          <p:cNvPr id="79" name="Text 74"/>
          <p:cNvSpPr txBox="1"/>
          <p:nvPr/>
        </p:nvSpPr>
        <p:spPr>
          <a:xfrm>
            <a:off x="635508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Rejected KYC</a:t>
            </a:r>
            <a:endParaRPr lang="en-US" sz="1050" dirty="0"/>
          </a:p>
        </p:txBody>
      </p:sp>
      <p:sp>
        <p:nvSpPr>
          <p:cNvPr id="80" name="Text 75"/>
          <p:cNvSpPr txBox="1"/>
          <p:nvPr/>
        </p:nvSpPr>
        <p:spPr>
          <a:xfrm>
            <a:off x="635508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Resubmission required</a:t>
            </a:r>
            <a:endParaRPr lang="en-US" sz="850" dirty="0"/>
          </a:p>
        </p:txBody>
      </p:sp>
      <p:sp>
        <p:nvSpPr>
          <p:cNvPr id="81" name="Text 76"/>
          <p:cNvSpPr txBox="1"/>
          <p:nvPr/>
        </p:nvSpPr>
        <p:spPr>
          <a:xfrm>
            <a:off x="779068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82" name="Shape 77"/>
          <p:cNvSpPr/>
          <p:nvPr/>
        </p:nvSpPr>
        <p:spPr>
          <a:xfrm>
            <a:off x="619048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6190488" y="499262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4" name="Text 79"/>
          <p:cNvSpPr txBox="1"/>
          <p:nvPr/>
        </p:nvSpPr>
        <p:spPr>
          <a:xfrm>
            <a:off x="635508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85</a:t>
            </a:r>
            <a:endParaRPr lang="en-US" sz="2400" dirty="0"/>
          </a:p>
        </p:txBody>
      </p:sp>
      <p:sp>
        <p:nvSpPr>
          <p:cNvPr id="85" name="Text 80"/>
          <p:cNvSpPr txBox="1"/>
          <p:nvPr/>
        </p:nvSpPr>
        <p:spPr>
          <a:xfrm>
            <a:off x="635508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KYC applications</a:t>
            </a:r>
            <a:endParaRPr lang="en-US" sz="1050" dirty="0"/>
          </a:p>
        </p:txBody>
      </p:sp>
      <p:sp>
        <p:nvSpPr>
          <p:cNvPr id="86" name="Text 81"/>
          <p:cNvSpPr txBox="1"/>
          <p:nvPr/>
        </p:nvSpPr>
        <p:spPr>
          <a:xfrm>
            <a:off x="635508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Onboarded + incomplete + rejected</a:t>
            </a:r>
            <a:endParaRPr lang="en-US" sz="850" dirty="0"/>
          </a:p>
        </p:txBody>
      </p:sp>
      <p:sp>
        <p:nvSpPr>
          <p:cNvPr id="87" name="Shape 82"/>
          <p:cNvSpPr/>
          <p:nvPr/>
        </p:nvSpPr>
        <p:spPr>
          <a:xfrm>
            <a:off x="9002268" y="1408176"/>
            <a:ext cx="45720" cy="155448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88" name="Text 83"/>
          <p:cNvSpPr txBox="1"/>
          <p:nvPr/>
        </p:nvSpPr>
        <p:spPr>
          <a:xfrm>
            <a:off x="911199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SUPPORT TICKETS</a:t>
            </a:r>
            <a:endParaRPr lang="en-US" sz="900" dirty="0"/>
          </a:p>
        </p:txBody>
      </p:sp>
      <p:sp>
        <p:nvSpPr>
          <p:cNvPr id="89" name="Shape 84"/>
          <p:cNvSpPr/>
          <p:nvPr/>
        </p:nvSpPr>
        <p:spPr>
          <a:xfrm>
            <a:off x="900226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9002268" y="170078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1" name="Text 86"/>
          <p:cNvSpPr txBox="1"/>
          <p:nvPr/>
        </p:nvSpPr>
        <p:spPr>
          <a:xfrm>
            <a:off x="916686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</a:t>
            </a:r>
            <a:endParaRPr lang="en-US" sz="2400" dirty="0"/>
          </a:p>
        </p:txBody>
      </p:sp>
      <p:sp>
        <p:nvSpPr>
          <p:cNvPr id="92" name="Text 87"/>
          <p:cNvSpPr txBox="1"/>
          <p:nvPr/>
        </p:nvSpPr>
        <p:spPr>
          <a:xfrm>
            <a:off x="916686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created</a:t>
            </a:r>
            <a:endParaRPr lang="en-US" sz="1050" dirty="0"/>
          </a:p>
        </p:txBody>
      </p:sp>
      <p:sp>
        <p:nvSpPr>
          <p:cNvPr id="93" name="Text 88"/>
          <p:cNvSpPr txBox="1"/>
          <p:nvPr/>
        </p:nvSpPr>
        <p:spPr>
          <a:xfrm>
            <a:off x="916686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94" name="Text 89"/>
          <p:cNvSpPr txBox="1"/>
          <p:nvPr/>
        </p:nvSpPr>
        <p:spPr>
          <a:xfrm>
            <a:off x="1060246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95" name="Shape 90"/>
          <p:cNvSpPr/>
          <p:nvPr/>
        </p:nvSpPr>
        <p:spPr>
          <a:xfrm>
            <a:off x="900226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9002268" y="279806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7" name="Text 92"/>
          <p:cNvSpPr txBox="1"/>
          <p:nvPr/>
        </p:nvSpPr>
        <p:spPr>
          <a:xfrm>
            <a:off x="916686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</a:t>
            </a:r>
            <a:endParaRPr lang="en-US" sz="2400" dirty="0"/>
          </a:p>
        </p:txBody>
      </p:sp>
      <p:sp>
        <p:nvSpPr>
          <p:cNvPr id="98" name="Text 93"/>
          <p:cNvSpPr txBox="1"/>
          <p:nvPr/>
        </p:nvSpPr>
        <p:spPr>
          <a:xfrm>
            <a:off x="916686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resolved</a:t>
            </a:r>
            <a:endParaRPr lang="en-US" sz="1050" dirty="0"/>
          </a:p>
        </p:txBody>
      </p:sp>
      <p:sp>
        <p:nvSpPr>
          <p:cNvPr id="99" name="Text 94"/>
          <p:cNvSpPr txBox="1"/>
          <p:nvPr/>
        </p:nvSpPr>
        <p:spPr>
          <a:xfrm>
            <a:off x="916686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100% of tickets created</a:t>
            </a:r>
            <a:endParaRPr lang="en-US" sz="850" dirty="0"/>
          </a:p>
        </p:txBody>
      </p:sp>
      <p:sp>
        <p:nvSpPr>
          <p:cNvPr id="100" name="Text 95"/>
          <p:cNvSpPr txBox="1"/>
          <p:nvPr/>
        </p:nvSpPr>
        <p:spPr>
          <a:xfrm>
            <a:off x="1060246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1" name="Shape 96"/>
          <p:cNvSpPr/>
          <p:nvPr/>
        </p:nvSpPr>
        <p:spPr>
          <a:xfrm>
            <a:off x="900226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9002268" y="389534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3" name="Text 98"/>
          <p:cNvSpPr txBox="1"/>
          <p:nvPr/>
        </p:nvSpPr>
        <p:spPr>
          <a:xfrm>
            <a:off x="916686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</a:t>
            </a:r>
            <a:endParaRPr lang="en-US" sz="2400" dirty="0"/>
          </a:p>
        </p:txBody>
      </p:sp>
      <p:sp>
        <p:nvSpPr>
          <p:cNvPr id="104" name="Text 99"/>
          <p:cNvSpPr txBox="1"/>
          <p:nvPr/>
        </p:nvSpPr>
        <p:spPr>
          <a:xfrm>
            <a:off x="916686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Email queries</a:t>
            </a:r>
            <a:endParaRPr lang="en-US" sz="1050" dirty="0"/>
          </a:p>
        </p:txBody>
      </p:sp>
      <p:sp>
        <p:nvSpPr>
          <p:cNvPr id="105" name="Text 100"/>
          <p:cNvSpPr txBox="1"/>
          <p:nvPr/>
        </p:nvSpPr>
        <p:spPr>
          <a:xfrm>
            <a:off x="916686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06" name="Text 101"/>
          <p:cNvSpPr txBox="1"/>
          <p:nvPr/>
        </p:nvSpPr>
        <p:spPr>
          <a:xfrm>
            <a:off x="1060246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7" name="Shape 102"/>
          <p:cNvSpPr/>
          <p:nvPr/>
        </p:nvSpPr>
        <p:spPr>
          <a:xfrm>
            <a:off x="900226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9002268" y="499262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9" name="Text 104"/>
          <p:cNvSpPr txBox="1"/>
          <p:nvPr/>
        </p:nvSpPr>
        <p:spPr>
          <a:xfrm>
            <a:off x="916686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21</a:t>
            </a:r>
            <a:endParaRPr lang="en-US" sz="2400" dirty="0"/>
          </a:p>
        </p:txBody>
      </p:sp>
      <p:sp>
        <p:nvSpPr>
          <p:cNvPr id="110" name="Text 105"/>
          <p:cNvSpPr txBox="1"/>
          <p:nvPr/>
        </p:nvSpPr>
        <p:spPr>
          <a:xfrm>
            <a:off x="916686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AI support queries</a:t>
            </a:r>
            <a:endParaRPr lang="en-US" sz="1050" dirty="0"/>
          </a:p>
        </p:txBody>
      </p:sp>
      <p:sp>
        <p:nvSpPr>
          <p:cNvPr id="111" name="Text 106"/>
          <p:cNvSpPr txBox="1"/>
          <p:nvPr/>
        </p:nvSpPr>
        <p:spPr>
          <a:xfrm>
            <a:off x="916686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12" name="Text 107"/>
          <p:cNvSpPr txBox="1"/>
          <p:nvPr/>
        </p:nvSpPr>
        <p:spPr>
          <a:xfrm>
            <a:off x="1060246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atemIsa_202508993_IT9002_NLP_Project/emyaa-ceo-deck/working/charts/board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188720"/>
            <a:ext cx="12191695" cy="24689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66928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F3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PLATFORM ANALYTICS  |  PERFORMANCE DASHBOARD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57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 date: 10 Jun 2026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868680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6CFE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Reporting period: 14 May 2026 - 09 Jun 2026   |   Change on each card is against the previous report, 04 Jun 2026</a:t>
            </a:r>
            <a:endParaRPr lang="en-US" sz="1000" dirty="0"/>
          </a:p>
        </p:txBody>
      </p:sp>
      <p:pic>
        <p:nvPicPr>
          <p:cNvPr id="7" name="Image 1" descr="/home/user/HatemIsa_202508993_IT9002_NLP_Project/emyaa-ceo-deck/working/charts/ajy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02336"/>
            <a:ext cx="13258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" y="6272784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Source: eMYAA Daily Performance Dashboard, eMYAA_-_Daily_Performance_Dashboard-1.pdf, page 53. This report labels the money card 'Total Deposits'; later reports label the same measure 'Total AUM'.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eMYAA Trading Platform  |  Daily Performance Dashboard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9802368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56</a:t>
            </a:r>
            <a:endParaRPr lang="en-US" sz="800" dirty="0"/>
          </a:p>
        </p:txBody>
      </p:sp>
      <p:pic>
        <p:nvPicPr>
          <p:cNvPr id="11" name="Image 2" descr="/home/user/HatemIsa_202508993_IT9002_NLP_Project/emyaa-ceo-deck/working/charts/emyaa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6336792"/>
            <a:ext cx="1024128" cy="3657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66928" y="1408176"/>
            <a:ext cx="45720" cy="155448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665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DOWNLOADS &amp; RATINGS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6692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66928" y="170078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152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110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downloads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 Store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216712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+3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6692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66928" y="279806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3152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63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73152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downloads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73152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Apple App Store</a:t>
            </a:r>
            <a:endParaRPr lang="en-US" sz="850" dirty="0"/>
          </a:p>
        </p:txBody>
      </p:sp>
      <p:sp>
        <p:nvSpPr>
          <p:cNvPr id="25" name="Text 20"/>
          <p:cNvSpPr txBox="1"/>
          <p:nvPr/>
        </p:nvSpPr>
        <p:spPr>
          <a:xfrm>
            <a:off x="216712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+10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6692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66928" y="389534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3152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29" name="Text 24"/>
          <p:cNvSpPr txBox="1"/>
          <p:nvPr/>
        </p:nvSpPr>
        <p:spPr>
          <a:xfrm>
            <a:off x="73152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app rating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73152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Play, 2 reviews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56692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66928" y="499262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3152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34" name="Text 29"/>
          <p:cNvSpPr txBox="1"/>
          <p:nvPr/>
        </p:nvSpPr>
        <p:spPr>
          <a:xfrm>
            <a:off x="73152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app rating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73152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 Store, 2 reviews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3378708" y="1408176"/>
            <a:ext cx="45720" cy="155448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48843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 ACTIVITY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337870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3378708" y="170078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354330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</a:t>
            </a:r>
            <a:endParaRPr lang="en-US" sz="2400" dirty="0"/>
          </a:p>
        </p:txBody>
      </p:sp>
      <p:sp>
        <p:nvSpPr>
          <p:cNvPr id="41" name="Text 36"/>
          <p:cNvSpPr txBox="1"/>
          <p:nvPr/>
        </p:nvSpPr>
        <p:spPr>
          <a:xfrm>
            <a:off x="354330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deposited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354330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Funded accounts</a:t>
            </a:r>
            <a:endParaRPr lang="en-US" sz="850" dirty="0"/>
          </a:p>
        </p:txBody>
      </p:sp>
      <p:sp>
        <p:nvSpPr>
          <p:cNvPr id="43" name="Text 38"/>
          <p:cNvSpPr txBox="1"/>
          <p:nvPr/>
        </p:nvSpPr>
        <p:spPr>
          <a:xfrm>
            <a:off x="497890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337870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3378708" y="279806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354330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$2,088.57</a:t>
            </a:r>
            <a:endParaRPr lang="en-US" sz="1900" dirty="0"/>
          </a:p>
        </p:txBody>
      </p:sp>
      <p:sp>
        <p:nvSpPr>
          <p:cNvPr id="47" name="Text 42"/>
          <p:cNvSpPr txBox="1"/>
          <p:nvPr/>
        </p:nvSpPr>
        <p:spPr>
          <a:xfrm>
            <a:off x="354330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deposits</a:t>
            </a:r>
            <a:endParaRPr lang="en-US" sz="1050" dirty="0"/>
          </a:p>
        </p:txBody>
      </p:sp>
      <p:sp>
        <p:nvSpPr>
          <p:cNvPr id="48" name="Text 43"/>
          <p:cNvSpPr txBox="1"/>
          <p:nvPr/>
        </p:nvSpPr>
        <p:spPr>
          <a:xfrm>
            <a:off x="354330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Cumulative platform deposits</a:t>
            </a:r>
            <a:endParaRPr lang="en-US" sz="850" dirty="0"/>
          </a:p>
        </p:txBody>
      </p:sp>
      <p:sp>
        <p:nvSpPr>
          <p:cNvPr id="49" name="Text 44"/>
          <p:cNvSpPr txBox="1"/>
          <p:nvPr/>
        </p:nvSpPr>
        <p:spPr>
          <a:xfrm>
            <a:off x="497890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+$479.17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337870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3378708" y="389534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354330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</a:t>
            </a:r>
            <a:endParaRPr lang="en-US" sz="2400" dirty="0"/>
          </a:p>
        </p:txBody>
      </p:sp>
      <p:sp>
        <p:nvSpPr>
          <p:cNvPr id="53" name="Text 48"/>
          <p:cNvSpPr txBox="1"/>
          <p:nvPr/>
        </p:nvSpPr>
        <p:spPr>
          <a:xfrm>
            <a:off x="354330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traded</a:t>
            </a:r>
            <a:endParaRPr lang="en-US" sz="1050" dirty="0"/>
          </a:p>
        </p:txBody>
      </p:sp>
      <p:sp>
        <p:nvSpPr>
          <p:cNvPr id="54" name="Text 49"/>
          <p:cNvSpPr txBox="1"/>
          <p:nvPr/>
        </p:nvSpPr>
        <p:spPr>
          <a:xfrm>
            <a:off x="354330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Placed at least 1 trade</a:t>
            </a:r>
            <a:endParaRPr lang="en-US" sz="850" dirty="0"/>
          </a:p>
        </p:txBody>
      </p:sp>
      <p:sp>
        <p:nvSpPr>
          <p:cNvPr id="55" name="Text 50"/>
          <p:cNvSpPr txBox="1"/>
          <p:nvPr/>
        </p:nvSpPr>
        <p:spPr>
          <a:xfrm>
            <a:off x="497890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56" name="Shape 51"/>
          <p:cNvSpPr/>
          <p:nvPr/>
        </p:nvSpPr>
        <p:spPr>
          <a:xfrm>
            <a:off x="337870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3378708" y="499262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354330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8</a:t>
            </a:r>
            <a:endParaRPr lang="en-US" sz="2400" dirty="0"/>
          </a:p>
        </p:txBody>
      </p:sp>
      <p:sp>
        <p:nvSpPr>
          <p:cNvPr id="59" name="Text 54"/>
          <p:cNvSpPr txBox="1"/>
          <p:nvPr/>
        </p:nvSpPr>
        <p:spPr>
          <a:xfrm>
            <a:off x="354330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trades</a:t>
            </a:r>
            <a:endParaRPr lang="en-US" sz="1050" dirty="0"/>
          </a:p>
        </p:txBody>
      </p:sp>
      <p:sp>
        <p:nvSpPr>
          <p:cNvPr id="60" name="Text 55"/>
          <p:cNvSpPr txBox="1"/>
          <p:nvPr/>
        </p:nvSpPr>
        <p:spPr>
          <a:xfrm>
            <a:off x="354330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Executed across all users</a:t>
            </a:r>
            <a:endParaRPr lang="en-US" sz="850" dirty="0"/>
          </a:p>
        </p:txBody>
      </p:sp>
      <p:sp>
        <p:nvSpPr>
          <p:cNvPr id="61" name="Text 56"/>
          <p:cNvSpPr txBox="1"/>
          <p:nvPr/>
        </p:nvSpPr>
        <p:spPr>
          <a:xfrm>
            <a:off x="497890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+4</a:t>
            </a:r>
            <a:endParaRPr lang="en-US" sz="850" dirty="0"/>
          </a:p>
        </p:txBody>
      </p:sp>
      <p:sp>
        <p:nvSpPr>
          <p:cNvPr id="62" name="Shape 57"/>
          <p:cNvSpPr/>
          <p:nvPr/>
        </p:nvSpPr>
        <p:spPr>
          <a:xfrm>
            <a:off x="6190488" y="1408176"/>
            <a:ext cx="45720" cy="1554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630021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KYC STATUS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619048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6190488" y="170078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635508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8</a:t>
            </a:r>
            <a:endParaRPr lang="en-US" sz="2400" dirty="0"/>
          </a:p>
        </p:txBody>
      </p:sp>
      <p:sp>
        <p:nvSpPr>
          <p:cNvPr id="67" name="Text 62"/>
          <p:cNvSpPr txBox="1"/>
          <p:nvPr/>
        </p:nvSpPr>
        <p:spPr>
          <a:xfrm>
            <a:off x="635508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onboarded</a:t>
            </a:r>
            <a:endParaRPr lang="en-US" sz="1050" dirty="0"/>
          </a:p>
        </p:txBody>
      </p:sp>
      <p:sp>
        <p:nvSpPr>
          <p:cNvPr id="68" name="Text 63"/>
          <p:cNvSpPr txBox="1"/>
          <p:nvPr/>
        </p:nvSpPr>
        <p:spPr>
          <a:xfrm>
            <a:off x="635508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Completed signup and verification</a:t>
            </a:r>
            <a:endParaRPr lang="en-US" sz="850" dirty="0"/>
          </a:p>
        </p:txBody>
      </p:sp>
      <p:sp>
        <p:nvSpPr>
          <p:cNvPr id="69" name="Text 64"/>
          <p:cNvSpPr txBox="1"/>
          <p:nvPr/>
        </p:nvSpPr>
        <p:spPr>
          <a:xfrm>
            <a:off x="779068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+2</a:t>
            </a:r>
            <a:endParaRPr lang="en-US" sz="850" dirty="0"/>
          </a:p>
        </p:txBody>
      </p:sp>
      <p:sp>
        <p:nvSpPr>
          <p:cNvPr id="70" name="Shape 65"/>
          <p:cNvSpPr/>
          <p:nvPr/>
        </p:nvSpPr>
        <p:spPr>
          <a:xfrm>
            <a:off x="619048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6190488" y="279806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2" name="Text 67"/>
          <p:cNvSpPr txBox="1"/>
          <p:nvPr/>
        </p:nvSpPr>
        <p:spPr>
          <a:xfrm>
            <a:off x="635508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61</a:t>
            </a:r>
            <a:endParaRPr lang="en-US" sz="2400" dirty="0"/>
          </a:p>
        </p:txBody>
      </p:sp>
      <p:sp>
        <p:nvSpPr>
          <p:cNvPr id="73" name="Text 68"/>
          <p:cNvSpPr txBox="1"/>
          <p:nvPr/>
        </p:nvSpPr>
        <p:spPr>
          <a:xfrm>
            <a:off x="635508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Incomplete KYC</a:t>
            </a:r>
            <a:endParaRPr lang="en-US" sz="1050" dirty="0"/>
          </a:p>
        </p:txBody>
      </p:sp>
      <p:sp>
        <p:nvSpPr>
          <p:cNvPr id="74" name="Text 69"/>
          <p:cNvSpPr txBox="1"/>
          <p:nvPr/>
        </p:nvSpPr>
        <p:spPr>
          <a:xfrm>
            <a:off x="635508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Started KYC but did not proceed</a:t>
            </a:r>
            <a:endParaRPr lang="en-US" sz="850" dirty="0"/>
          </a:p>
        </p:txBody>
      </p:sp>
      <p:sp>
        <p:nvSpPr>
          <p:cNvPr id="75" name="Text 70"/>
          <p:cNvSpPr txBox="1"/>
          <p:nvPr/>
        </p:nvSpPr>
        <p:spPr>
          <a:xfrm>
            <a:off x="779068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5303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+8</a:t>
            </a:r>
            <a:endParaRPr lang="en-US" sz="850" dirty="0"/>
          </a:p>
        </p:txBody>
      </p:sp>
      <p:sp>
        <p:nvSpPr>
          <p:cNvPr id="76" name="Shape 71"/>
          <p:cNvSpPr/>
          <p:nvPr/>
        </p:nvSpPr>
        <p:spPr>
          <a:xfrm>
            <a:off x="619048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6190488" y="389534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8" name="Text 73"/>
          <p:cNvSpPr txBox="1"/>
          <p:nvPr/>
        </p:nvSpPr>
        <p:spPr>
          <a:xfrm>
            <a:off x="635508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</a:t>
            </a:r>
            <a:endParaRPr lang="en-US" sz="2400" dirty="0"/>
          </a:p>
        </p:txBody>
      </p:sp>
      <p:sp>
        <p:nvSpPr>
          <p:cNvPr id="79" name="Text 74"/>
          <p:cNvSpPr txBox="1"/>
          <p:nvPr/>
        </p:nvSpPr>
        <p:spPr>
          <a:xfrm>
            <a:off x="635508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Rejected KYC</a:t>
            </a:r>
            <a:endParaRPr lang="en-US" sz="1050" dirty="0"/>
          </a:p>
        </p:txBody>
      </p:sp>
      <p:sp>
        <p:nvSpPr>
          <p:cNvPr id="80" name="Text 75"/>
          <p:cNvSpPr txBox="1"/>
          <p:nvPr/>
        </p:nvSpPr>
        <p:spPr>
          <a:xfrm>
            <a:off x="635508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Resubmission required</a:t>
            </a:r>
            <a:endParaRPr lang="en-US" sz="850" dirty="0"/>
          </a:p>
        </p:txBody>
      </p:sp>
      <p:sp>
        <p:nvSpPr>
          <p:cNvPr id="81" name="Text 76"/>
          <p:cNvSpPr txBox="1"/>
          <p:nvPr/>
        </p:nvSpPr>
        <p:spPr>
          <a:xfrm>
            <a:off x="779068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82" name="Shape 77"/>
          <p:cNvSpPr/>
          <p:nvPr/>
        </p:nvSpPr>
        <p:spPr>
          <a:xfrm>
            <a:off x="619048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6190488" y="499262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4" name="Text 79"/>
          <p:cNvSpPr txBox="1"/>
          <p:nvPr/>
        </p:nvSpPr>
        <p:spPr>
          <a:xfrm>
            <a:off x="635508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74</a:t>
            </a:r>
            <a:endParaRPr lang="en-US" sz="2400" dirty="0"/>
          </a:p>
        </p:txBody>
      </p:sp>
      <p:sp>
        <p:nvSpPr>
          <p:cNvPr id="85" name="Text 80"/>
          <p:cNvSpPr txBox="1"/>
          <p:nvPr/>
        </p:nvSpPr>
        <p:spPr>
          <a:xfrm>
            <a:off x="635508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KYC applications</a:t>
            </a:r>
            <a:endParaRPr lang="en-US" sz="1050" dirty="0"/>
          </a:p>
        </p:txBody>
      </p:sp>
      <p:sp>
        <p:nvSpPr>
          <p:cNvPr id="86" name="Text 81"/>
          <p:cNvSpPr txBox="1"/>
          <p:nvPr/>
        </p:nvSpPr>
        <p:spPr>
          <a:xfrm>
            <a:off x="635508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Onboarded + incomplete + rejected</a:t>
            </a:r>
            <a:endParaRPr lang="en-US" sz="850" dirty="0"/>
          </a:p>
        </p:txBody>
      </p:sp>
      <p:sp>
        <p:nvSpPr>
          <p:cNvPr id="87" name="Shape 82"/>
          <p:cNvSpPr/>
          <p:nvPr/>
        </p:nvSpPr>
        <p:spPr>
          <a:xfrm>
            <a:off x="9002268" y="1408176"/>
            <a:ext cx="45720" cy="155448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88" name="Text 83"/>
          <p:cNvSpPr txBox="1"/>
          <p:nvPr/>
        </p:nvSpPr>
        <p:spPr>
          <a:xfrm>
            <a:off x="911199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SUPPORT TICKETS</a:t>
            </a:r>
            <a:endParaRPr lang="en-US" sz="900" dirty="0"/>
          </a:p>
        </p:txBody>
      </p:sp>
      <p:sp>
        <p:nvSpPr>
          <p:cNvPr id="89" name="Shape 84"/>
          <p:cNvSpPr/>
          <p:nvPr/>
        </p:nvSpPr>
        <p:spPr>
          <a:xfrm>
            <a:off x="900226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9002268" y="170078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1" name="Text 86"/>
          <p:cNvSpPr txBox="1"/>
          <p:nvPr/>
        </p:nvSpPr>
        <p:spPr>
          <a:xfrm>
            <a:off x="916686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</a:t>
            </a:r>
            <a:endParaRPr lang="en-US" sz="2400" dirty="0"/>
          </a:p>
        </p:txBody>
      </p:sp>
      <p:sp>
        <p:nvSpPr>
          <p:cNvPr id="92" name="Text 87"/>
          <p:cNvSpPr txBox="1"/>
          <p:nvPr/>
        </p:nvSpPr>
        <p:spPr>
          <a:xfrm>
            <a:off x="916686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created</a:t>
            </a:r>
            <a:endParaRPr lang="en-US" sz="1050" dirty="0"/>
          </a:p>
        </p:txBody>
      </p:sp>
      <p:sp>
        <p:nvSpPr>
          <p:cNvPr id="93" name="Text 88"/>
          <p:cNvSpPr txBox="1"/>
          <p:nvPr/>
        </p:nvSpPr>
        <p:spPr>
          <a:xfrm>
            <a:off x="916686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94" name="Text 89"/>
          <p:cNvSpPr txBox="1"/>
          <p:nvPr/>
        </p:nvSpPr>
        <p:spPr>
          <a:xfrm>
            <a:off x="1060246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+6</a:t>
            </a:r>
            <a:endParaRPr lang="en-US" sz="850" dirty="0"/>
          </a:p>
        </p:txBody>
      </p:sp>
      <p:sp>
        <p:nvSpPr>
          <p:cNvPr id="95" name="Shape 90"/>
          <p:cNvSpPr/>
          <p:nvPr/>
        </p:nvSpPr>
        <p:spPr>
          <a:xfrm>
            <a:off x="900226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9002268" y="279806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7" name="Text 92"/>
          <p:cNvSpPr txBox="1"/>
          <p:nvPr/>
        </p:nvSpPr>
        <p:spPr>
          <a:xfrm>
            <a:off x="916686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24</a:t>
            </a:r>
            <a:endParaRPr lang="en-US" sz="2400" dirty="0"/>
          </a:p>
        </p:txBody>
      </p:sp>
      <p:sp>
        <p:nvSpPr>
          <p:cNvPr id="98" name="Text 93"/>
          <p:cNvSpPr txBox="1"/>
          <p:nvPr/>
        </p:nvSpPr>
        <p:spPr>
          <a:xfrm>
            <a:off x="916686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resolved</a:t>
            </a:r>
            <a:endParaRPr lang="en-US" sz="1050" dirty="0"/>
          </a:p>
        </p:txBody>
      </p:sp>
      <p:sp>
        <p:nvSpPr>
          <p:cNvPr id="99" name="Text 94"/>
          <p:cNvSpPr txBox="1"/>
          <p:nvPr/>
        </p:nvSpPr>
        <p:spPr>
          <a:xfrm>
            <a:off x="916686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100% of tickets created</a:t>
            </a:r>
            <a:endParaRPr lang="en-US" sz="850" dirty="0"/>
          </a:p>
        </p:txBody>
      </p:sp>
      <p:sp>
        <p:nvSpPr>
          <p:cNvPr id="100" name="Text 95"/>
          <p:cNvSpPr txBox="1"/>
          <p:nvPr/>
        </p:nvSpPr>
        <p:spPr>
          <a:xfrm>
            <a:off x="1060246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+6</a:t>
            </a:r>
            <a:endParaRPr lang="en-US" sz="850" dirty="0"/>
          </a:p>
        </p:txBody>
      </p:sp>
      <p:sp>
        <p:nvSpPr>
          <p:cNvPr id="101" name="Shape 96"/>
          <p:cNvSpPr/>
          <p:nvPr/>
        </p:nvSpPr>
        <p:spPr>
          <a:xfrm>
            <a:off x="900226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9002268" y="389534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3" name="Text 98"/>
          <p:cNvSpPr txBox="1"/>
          <p:nvPr/>
        </p:nvSpPr>
        <p:spPr>
          <a:xfrm>
            <a:off x="916686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</a:t>
            </a:r>
            <a:endParaRPr lang="en-US" sz="2400" dirty="0"/>
          </a:p>
        </p:txBody>
      </p:sp>
      <p:sp>
        <p:nvSpPr>
          <p:cNvPr id="104" name="Text 99"/>
          <p:cNvSpPr txBox="1"/>
          <p:nvPr/>
        </p:nvSpPr>
        <p:spPr>
          <a:xfrm>
            <a:off x="916686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Email queries</a:t>
            </a:r>
            <a:endParaRPr lang="en-US" sz="1050" dirty="0"/>
          </a:p>
        </p:txBody>
      </p:sp>
      <p:sp>
        <p:nvSpPr>
          <p:cNvPr id="105" name="Text 100"/>
          <p:cNvSpPr txBox="1"/>
          <p:nvPr/>
        </p:nvSpPr>
        <p:spPr>
          <a:xfrm>
            <a:off x="916686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06" name="Text 101"/>
          <p:cNvSpPr txBox="1"/>
          <p:nvPr/>
        </p:nvSpPr>
        <p:spPr>
          <a:xfrm>
            <a:off x="1060246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7" name="Shape 102"/>
          <p:cNvSpPr/>
          <p:nvPr/>
        </p:nvSpPr>
        <p:spPr>
          <a:xfrm>
            <a:off x="900226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9002268" y="499262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9" name="Text 104"/>
          <p:cNvSpPr txBox="1"/>
          <p:nvPr/>
        </p:nvSpPr>
        <p:spPr>
          <a:xfrm>
            <a:off x="916686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21</a:t>
            </a:r>
            <a:endParaRPr lang="en-US" sz="2400" dirty="0"/>
          </a:p>
        </p:txBody>
      </p:sp>
      <p:sp>
        <p:nvSpPr>
          <p:cNvPr id="110" name="Text 105"/>
          <p:cNvSpPr txBox="1"/>
          <p:nvPr/>
        </p:nvSpPr>
        <p:spPr>
          <a:xfrm>
            <a:off x="916686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AI support queries</a:t>
            </a:r>
            <a:endParaRPr lang="en-US" sz="1050" dirty="0"/>
          </a:p>
        </p:txBody>
      </p:sp>
      <p:sp>
        <p:nvSpPr>
          <p:cNvPr id="111" name="Text 106"/>
          <p:cNvSpPr txBox="1"/>
          <p:nvPr/>
        </p:nvSpPr>
        <p:spPr>
          <a:xfrm>
            <a:off x="916686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12" name="Text 107"/>
          <p:cNvSpPr txBox="1"/>
          <p:nvPr/>
        </p:nvSpPr>
        <p:spPr>
          <a:xfrm>
            <a:off x="1060246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+6</a:t>
            </a:r>
            <a:endParaRPr lang="en-US" sz="8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atemIsa_202508993_IT9002_NLP_Project/emyaa-ceo-deck/working/charts/board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188720"/>
            <a:ext cx="12191695" cy="24689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66928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F3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PLATFORM ANALYTICS  |  PERFORMANCE DASHBOARD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57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 date: 04 Jun 2026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868680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6CFE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Reporting period: 14 May 2026 - 03 Jun 2026   |   Change on each card is against the previous report, 01 Jun 2026</a:t>
            </a:r>
            <a:endParaRPr lang="en-US" sz="1000" dirty="0"/>
          </a:p>
        </p:txBody>
      </p:sp>
      <p:pic>
        <p:nvPicPr>
          <p:cNvPr id="7" name="Image 1" descr="/home/user/HatemIsa_202508993_IT9002_NLP_Project/emyaa-ceo-deck/working/charts/ajy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02336"/>
            <a:ext cx="13258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" y="6272784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Source: eMYAA Daily Performance Dashboard, eMYAA_-_Daily_Performance_Dashboard-1.pdf, page 54. This report labels the money card 'Total Deposits'; later reports label the same measure 'Total AUM'.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eMYAA Trading Platform  |  Daily Performance Dashboard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9802368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57</a:t>
            </a:r>
            <a:endParaRPr lang="en-US" sz="800" dirty="0"/>
          </a:p>
        </p:txBody>
      </p:sp>
      <p:pic>
        <p:nvPicPr>
          <p:cNvPr id="11" name="Image 2" descr="/home/user/HatemIsa_202508993_IT9002_NLP_Project/emyaa-ceo-deck/working/charts/emyaa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6336792"/>
            <a:ext cx="1024128" cy="3657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66928" y="1408176"/>
            <a:ext cx="45720" cy="155448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665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DOWNLOADS &amp; RATINGS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6692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66928" y="170078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152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107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downloads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 Store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216712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6692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66928" y="279806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3152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53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73152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downloads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73152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Apple App Store</a:t>
            </a:r>
            <a:endParaRPr lang="en-US" sz="850" dirty="0"/>
          </a:p>
        </p:txBody>
      </p:sp>
      <p:sp>
        <p:nvSpPr>
          <p:cNvPr id="25" name="Text 20"/>
          <p:cNvSpPr txBox="1"/>
          <p:nvPr/>
        </p:nvSpPr>
        <p:spPr>
          <a:xfrm>
            <a:off x="216712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6692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66928" y="389534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3152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29" name="Text 24"/>
          <p:cNvSpPr txBox="1"/>
          <p:nvPr/>
        </p:nvSpPr>
        <p:spPr>
          <a:xfrm>
            <a:off x="73152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app rating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73152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Play, 2 reviews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56692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66928" y="499262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3152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34" name="Text 29"/>
          <p:cNvSpPr txBox="1"/>
          <p:nvPr/>
        </p:nvSpPr>
        <p:spPr>
          <a:xfrm>
            <a:off x="73152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app rating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73152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 Store, 2 reviews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3378708" y="1408176"/>
            <a:ext cx="45720" cy="155448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48843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 ACTIVITY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337870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3378708" y="170078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354330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</a:t>
            </a:r>
            <a:endParaRPr lang="en-US" sz="2400" dirty="0"/>
          </a:p>
        </p:txBody>
      </p:sp>
      <p:sp>
        <p:nvSpPr>
          <p:cNvPr id="41" name="Text 36"/>
          <p:cNvSpPr txBox="1"/>
          <p:nvPr/>
        </p:nvSpPr>
        <p:spPr>
          <a:xfrm>
            <a:off x="354330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deposited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354330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Funded accounts</a:t>
            </a:r>
            <a:endParaRPr lang="en-US" sz="850" dirty="0"/>
          </a:p>
        </p:txBody>
      </p:sp>
      <p:sp>
        <p:nvSpPr>
          <p:cNvPr id="43" name="Text 38"/>
          <p:cNvSpPr txBox="1"/>
          <p:nvPr/>
        </p:nvSpPr>
        <p:spPr>
          <a:xfrm>
            <a:off x="497890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337870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3378708" y="279806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354330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$1,609.40</a:t>
            </a:r>
            <a:endParaRPr lang="en-US" sz="1900" dirty="0"/>
          </a:p>
        </p:txBody>
      </p:sp>
      <p:sp>
        <p:nvSpPr>
          <p:cNvPr id="47" name="Text 42"/>
          <p:cNvSpPr txBox="1"/>
          <p:nvPr/>
        </p:nvSpPr>
        <p:spPr>
          <a:xfrm>
            <a:off x="354330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deposits</a:t>
            </a:r>
            <a:endParaRPr lang="en-US" sz="1050" dirty="0"/>
          </a:p>
        </p:txBody>
      </p:sp>
      <p:sp>
        <p:nvSpPr>
          <p:cNvPr id="48" name="Text 43"/>
          <p:cNvSpPr txBox="1"/>
          <p:nvPr/>
        </p:nvSpPr>
        <p:spPr>
          <a:xfrm>
            <a:off x="354330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Cumulative platform deposits</a:t>
            </a:r>
            <a:endParaRPr lang="en-US" sz="850" dirty="0"/>
          </a:p>
        </p:txBody>
      </p:sp>
      <p:sp>
        <p:nvSpPr>
          <p:cNvPr id="49" name="Text 44"/>
          <p:cNvSpPr txBox="1"/>
          <p:nvPr/>
        </p:nvSpPr>
        <p:spPr>
          <a:xfrm>
            <a:off x="497890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337870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3378708" y="389534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354330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</a:t>
            </a:r>
            <a:endParaRPr lang="en-US" sz="2400" dirty="0"/>
          </a:p>
        </p:txBody>
      </p:sp>
      <p:sp>
        <p:nvSpPr>
          <p:cNvPr id="53" name="Text 48"/>
          <p:cNvSpPr txBox="1"/>
          <p:nvPr/>
        </p:nvSpPr>
        <p:spPr>
          <a:xfrm>
            <a:off x="354330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traded</a:t>
            </a:r>
            <a:endParaRPr lang="en-US" sz="1050" dirty="0"/>
          </a:p>
        </p:txBody>
      </p:sp>
      <p:sp>
        <p:nvSpPr>
          <p:cNvPr id="54" name="Text 49"/>
          <p:cNvSpPr txBox="1"/>
          <p:nvPr/>
        </p:nvSpPr>
        <p:spPr>
          <a:xfrm>
            <a:off x="354330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Placed at least 1 trade</a:t>
            </a:r>
            <a:endParaRPr lang="en-US" sz="850" dirty="0"/>
          </a:p>
        </p:txBody>
      </p:sp>
      <p:sp>
        <p:nvSpPr>
          <p:cNvPr id="55" name="Text 50"/>
          <p:cNvSpPr txBox="1"/>
          <p:nvPr/>
        </p:nvSpPr>
        <p:spPr>
          <a:xfrm>
            <a:off x="497890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6" name="Shape 51"/>
          <p:cNvSpPr/>
          <p:nvPr/>
        </p:nvSpPr>
        <p:spPr>
          <a:xfrm>
            <a:off x="337870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3378708" y="499262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354330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</a:t>
            </a:r>
            <a:endParaRPr lang="en-US" sz="2400" dirty="0"/>
          </a:p>
        </p:txBody>
      </p:sp>
      <p:sp>
        <p:nvSpPr>
          <p:cNvPr id="59" name="Text 54"/>
          <p:cNvSpPr txBox="1"/>
          <p:nvPr/>
        </p:nvSpPr>
        <p:spPr>
          <a:xfrm>
            <a:off x="354330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trades</a:t>
            </a:r>
            <a:endParaRPr lang="en-US" sz="1050" dirty="0"/>
          </a:p>
        </p:txBody>
      </p:sp>
      <p:sp>
        <p:nvSpPr>
          <p:cNvPr id="60" name="Text 55"/>
          <p:cNvSpPr txBox="1"/>
          <p:nvPr/>
        </p:nvSpPr>
        <p:spPr>
          <a:xfrm>
            <a:off x="354330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Executed across all users</a:t>
            </a:r>
            <a:endParaRPr lang="en-US" sz="850" dirty="0"/>
          </a:p>
        </p:txBody>
      </p:sp>
      <p:sp>
        <p:nvSpPr>
          <p:cNvPr id="61" name="Text 56"/>
          <p:cNvSpPr txBox="1"/>
          <p:nvPr/>
        </p:nvSpPr>
        <p:spPr>
          <a:xfrm>
            <a:off x="497890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62" name="Shape 57"/>
          <p:cNvSpPr/>
          <p:nvPr/>
        </p:nvSpPr>
        <p:spPr>
          <a:xfrm>
            <a:off x="6190488" y="1408176"/>
            <a:ext cx="45720" cy="1554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630021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KYC STATUS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619048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6190488" y="170078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635508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6</a:t>
            </a:r>
            <a:endParaRPr lang="en-US" sz="2400" dirty="0"/>
          </a:p>
        </p:txBody>
      </p:sp>
      <p:sp>
        <p:nvSpPr>
          <p:cNvPr id="67" name="Text 62"/>
          <p:cNvSpPr txBox="1"/>
          <p:nvPr/>
        </p:nvSpPr>
        <p:spPr>
          <a:xfrm>
            <a:off x="635508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onboarded</a:t>
            </a:r>
            <a:endParaRPr lang="en-US" sz="1050" dirty="0"/>
          </a:p>
        </p:txBody>
      </p:sp>
      <p:sp>
        <p:nvSpPr>
          <p:cNvPr id="68" name="Text 63"/>
          <p:cNvSpPr txBox="1"/>
          <p:nvPr/>
        </p:nvSpPr>
        <p:spPr>
          <a:xfrm>
            <a:off x="635508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Completed signup and verification</a:t>
            </a:r>
            <a:endParaRPr lang="en-US" sz="850" dirty="0"/>
          </a:p>
        </p:txBody>
      </p:sp>
      <p:sp>
        <p:nvSpPr>
          <p:cNvPr id="69" name="Text 64"/>
          <p:cNvSpPr txBox="1"/>
          <p:nvPr/>
        </p:nvSpPr>
        <p:spPr>
          <a:xfrm>
            <a:off x="779068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70" name="Shape 65"/>
          <p:cNvSpPr/>
          <p:nvPr/>
        </p:nvSpPr>
        <p:spPr>
          <a:xfrm>
            <a:off x="619048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6190488" y="279806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2" name="Text 67"/>
          <p:cNvSpPr txBox="1"/>
          <p:nvPr/>
        </p:nvSpPr>
        <p:spPr>
          <a:xfrm>
            <a:off x="635508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53</a:t>
            </a:r>
            <a:endParaRPr lang="en-US" sz="2400" dirty="0"/>
          </a:p>
        </p:txBody>
      </p:sp>
      <p:sp>
        <p:nvSpPr>
          <p:cNvPr id="73" name="Text 68"/>
          <p:cNvSpPr txBox="1"/>
          <p:nvPr/>
        </p:nvSpPr>
        <p:spPr>
          <a:xfrm>
            <a:off x="635508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Incomplete KYC</a:t>
            </a:r>
            <a:endParaRPr lang="en-US" sz="1050" dirty="0"/>
          </a:p>
        </p:txBody>
      </p:sp>
      <p:sp>
        <p:nvSpPr>
          <p:cNvPr id="74" name="Text 69"/>
          <p:cNvSpPr txBox="1"/>
          <p:nvPr/>
        </p:nvSpPr>
        <p:spPr>
          <a:xfrm>
            <a:off x="635508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Started KYC but did not proceed</a:t>
            </a:r>
            <a:endParaRPr lang="en-US" sz="850" dirty="0"/>
          </a:p>
        </p:txBody>
      </p:sp>
      <p:sp>
        <p:nvSpPr>
          <p:cNvPr id="75" name="Text 70"/>
          <p:cNvSpPr txBox="1"/>
          <p:nvPr/>
        </p:nvSpPr>
        <p:spPr>
          <a:xfrm>
            <a:off x="779068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76" name="Shape 71"/>
          <p:cNvSpPr/>
          <p:nvPr/>
        </p:nvSpPr>
        <p:spPr>
          <a:xfrm>
            <a:off x="619048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6190488" y="389534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8" name="Text 73"/>
          <p:cNvSpPr txBox="1"/>
          <p:nvPr/>
        </p:nvSpPr>
        <p:spPr>
          <a:xfrm>
            <a:off x="635508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</a:t>
            </a:r>
            <a:endParaRPr lang="en-US" sz="2400" dirty="0"/>
          </a:p>
        </p:txBody>
      </p:sp>
      <p:sp>
        <p:nvSpPr>
          <p:cNvPr id="79" name="Text 74"/>
          <p:cNvSpPr txBox="1"/>
          <p:nvPr/>
        </p:nvSpPr>
        <p:spPr>
          <a:xfrm>
            <a:off x="635508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Rejected KYC</a:t>
            </a:r>
            <a:endParaRPr lang="en-US" sz="1050" dirty="0"/>
          </a:p>
        </p:txBody>
      </p:sp>
      <p:sp>
        <p:nvSpPr>
          <p:cNvPr id="80" name="Text 75"/>
          <p:cNvSpPr txBox="1"/>
          <p:nvPr/>
        </p:nvSpPr>
        <p:spPr>
          <a:xfrm>
            <a:off x="635508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Resubmission required</a:t>
            </a:r>
            <a:endParaRPr lang="en-US" sz="850" dirty="0"/>
          </a:p>
        </p:txBody>
      </p:sp>
      <p:sp>
        <p:nvSpPr>
          <p:cNvPr id="81" name="Text 76"/>
          <p:cNvSpPr txBox="1"/>
          <p:nvPr/>
        </p:nvSpPr>
        <p:spPr>
          <a:xfrm>
            <a:off x="779068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82" name="Shape 77"/>
          <p:cNvSpPr/>
          <p:nvPr/>
        </p:nvSpPr>
        <p:spPr>
          <a:xfrm>
            <a:off x="619048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6190488" y="499262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4" name="Text 79"/>
          <p:cNvSpPr txBox="1"/>
          <p:nvPr/>
        </p:nvSpPr>
        <p:spPr>
          <a:xfrm>
            <a:off x="635508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64</a:t>
            </a:r>
            <a:endParaRPr lang="en-US" sz="2400" dirty="0"/>
          </a:p>
        </p:txBody>
      </p:sp>
      <p:sp>
        <p:nvSpPr>
          <p:cNvPr id="85" name="Text 80"/>
          <p:cNvSpPr txBox="1"/>
          <p:nvPr/>
        </p:nvSpPr>
        <p:spPr>
          <a:xfrm>
            <a:off x="635508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KYC applications</a:t>
            </a:r>
            <a:endParaRPr lang="en-US" sz="1050" dirty="0"/>
          </a:p>
        </p:txBody>
      </p:sp>
      <p:sp>
        <p:nvSpPr>
          <p:cNvPr id="86" name="Text 81"/>
          <p:cNvSpPr txBox="1"/>
          <p:nvPr/>
        </p:nvSpPr>
        <p:spPr>
          <a:xfrm>
            <a:off x="635508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Onboarded + incomplete + rejected</a:t>
            </a:r>
            <a:endParaRPr lang="en-US" sz="850" dirty="0"/>
          </a:p>
        </p:txBody>
      </p:sp>
      <p:sp>
        <p:nvSpPr>
          <p:cNvPr id="87" name="Shape 82"/>
          <p:cNvSpPr/>
          <p:nvPr/>
        </p:nvSpPr>
        <p:spPr>
          <a:xfrm>
            <a:off x="9002268" y="1408176"/>
            <a:ext cx="45720" cy="155448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88" name="Text 83"/>
          <p:cNvSpPr txBox="1"/>
          <p:nvPr/>
        </p:nvSpPr>
        <p:spPr>
          <a:xfrm>
            <a:off x="911199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SUPPORT TICKETS</a:t>
            </a:r>
            <a:endParaRPr lang="en-US" sz="900" dirty="0"/>
          </a:p>
        </p:txBody>
      </p:sp>
      <p:sp>
        <p:nvSpPr>
          <p:cNvPr id="89" name="Shape 84"/>
          <p:cNvSpPr/>
          <p:nvPr/>
        </p:nvSpPr>
        <p:spPr>
          <a:xfrm>
            <a:off x="900226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9002268" y="170078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1" name="Text 86"/>
          <p:cNvSpPr txBox="1"/>
          <p:nvPr/>
        </p:nvSpPr>
        <p:spPr>
          <a:xfrm>
            <a:off x="916686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18</a:t>
            </a:r>
            <a:endParaRPr lang="en-US" sz="2400" dirty="0"/>
          </a:p>
        </p:txBody>
      </p:sp>
      <p:sp>
        <p:nvSpPr>
          <p:cNvPr id="92" name="Text 87"/>
          <p:cNvSpPr txBox="1"/>
          <p:nvPr/>
        </p:nvSpPr>
        <p:spPr>
          <a:xfrm>
            <a:off x="916686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created</a:t>
            </a:r>
            <a:endParaRPr lang="en-US" sz="1050" dirty="0"/>
          </a:p>
        </p:txBody>
      </p:sp>
      <p:sp>
        <p:nvSpPr>
          <p:cNvPr id="93" name="Text 88"/>
          <p:cNvSpPr txBox="1"/>
          <p:nvPr/>
        </p:nvSpPr>
        <p:spPr>
          <a:xfrm>
            <a:off x="916686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94" name="Text 89"/>
          <p:cNvSpPr txBox="1"/>
          <p:nvPr/>
        </p:nvSpPr>
        <p:spPr>
          <a:xfrm>
            <a:off x="1060246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95" name="Shape 90"/>
          <p:cNvSpPr/>
          <p:nvPr/>
        </p:nvSpPr>
        <p:spPr>
          <a:xfrm>
            <a:off x="900226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9002268" y="279806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7" name="Text 92"/>
          <p:cNvSpPr txBox="1"/>
          <p:nvPr/>
        </p:nvSpPr>
        <p:spPr>
          <a:xfrm>
            <a:off x="916686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18</a:t>
            </a:r>
            <a:endParaRPr lang="en-US" sz="2400" dirty="0"/>
          </a:p>
        </p:txBody>
      </p:sp>
      <p:sp>
        <p:nvSpPr>
          <p:cNvPr id="98" name="Text 93"/>
          <p:cNvSpPr txBox="1"/>
          <p:nvPr/>
        </p:nvSpPr>
        <p:spPr>
          <a:xfrm>
            <a:off x="916686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resolved</a:t>
            </a:r>
            <a:endParaRPr lang="en-US" sz="1050" dirty="0"/>
          </a:p>
        </p:txBody>
      </p:sp>
      <p:sp>
        <p:nvSpPr>
          <p:cNvPr id="99" name="Text 94"/>
          <p:cNvSpPr txBox="1"/>
          <p:nvPr/>
        </p:nvSpPr>
        <p:spPr>
          <a:xfrm>
            <a:off x="916686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100% of tickets created</a:t>
            </a:r>
            <a:endParaRPr lang="en-US" sz="850" dirty="0"/>
          </a:p>
        </p:txBody>
      </p:sp>
      <p:sp>
        <p:nvSpPr>
          <p:cNvPr id="100" name="Text 95"/>
          <p:cNvSpPr txBox="1"/>
          <p:nvPr/>
        </p:nvSpPr>
        <p:spPr>
          <a:xfrm>
            <a:off x="1060246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1" name="Shape 96"/>
          <p:cNvSpPr/>
          <p:nvPr/>
        </p:nvSpPr>
        <p:spPr>
          <a:xfrm>
            <a:off x="900226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9002268" y="389534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3" name="Text 98"/>
          <p:cNvSpPr txBox="1"/>
          <p:nvPr/>
        </p:nvSpPr>
        <p:spPr>
          <a:xfrm>
            <a:off x="916686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</a:t>
            </a:r>
            <a:endParaRPr lang="en-US" sz="2400" dirty="0"/>
          </a:p>
        </p:txBody>
      </p:sp>
      <p:sp>
        <p:nvSpPr>
          <p:cNvPr id="104" name="Text 99"/>
          <p:cNvSpPr txBox="1"/>
          <p:nvPr/>
        </p:nvSpPr>
        <p:spPr>
          <a:xfrm>
            <a:off x="916686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Email queries</a:t>
            </a:r>
            <a:endParaRPr lang="en-US" sz="1050" dirty="0"/>
          </a:p>
        </p:txBody>
      </p:sp>
      <p:sp>
        <p:nvSpPr>
          <p:cNvPr id="105" name="Text 100"/>
          <p:cNvSpPr txBox="1"/>
          <p:nvPr/>
        </p:nvSpPr>
        <p:spPr>
          <a:xfrm>
            <a:off x="916686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06" name="Text 101"/>
          <p:cNvSpPr txBox="1"/>
          <p:nvPr/>
        </p:nvSpPr>
        <p:spPr>
          <a:xfrm>
            <a:off x="1060246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7" name="Shape 102"/>
          <p:cNvSpPr/>
          <p:nvPr/>
        </p:nvSpPr>
        <p:spPr>
          <a:xfrm>
            <a:off x="900226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9002268" y="499262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9" name="Text 104"/>
          <p:cNvSpPr txBox="1"/>
          <p:nvPr/>
        </p:nvSpPr>
        <p:spPr>
          <a:xfrm>
            <a:off x="916686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15</a:t>
            </a:r>
            <a:endParaRPr lang="en-US" sz="2400" dirty="0"/>
          </a:p>
        </p:txBody>
      </p:sp>
      <p:sp>
        <p:nvSpPr>
          <p:cNvPr id="110" name="Text 105"/>
          <p:cNvSpPr txBox="1"/>
          <p:nvPr/>
        </p:nvSpPr>
        <p:spPr>
          <a:xfrm>
            <a:off x="916686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AI support queries</a:t>
            </a:r>
            <a:endParaRPr lang="en-US" sz="1050" dirty="0"/>
          </a:p>
        </p:txBody>
      </p:sp>
      <p:sp>
        <p:nvSpPr>
          <p:cNvPr id="111" name="Text 106"/>
          <p:cNvSpPr txBox="1"/>
          <p:nvPr/>
        </p:nvSpPr>
        <p:spPr>
          <a:xfrm>
            <a:off x="916686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12" name="Text 107"/>
          <p:cNvSpPr txBox="1"/>
          <p:nvPr/>
        </p:nvSpPr>
        <p:spPr>
          <a:xfrm>
            <a:off x="1060246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atemIsa_202508993_IT9002_NLP_Project/emyaa-ceo-deck/working/charts/board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188720"/>
            <a:ext cx="12191695" cy="24689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66928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F3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PLATFORM ANALYTICS  |  PERFORMANCE DASHBOARD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57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 date: 01 Jun 2026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868680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6CFE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Reporting period: 31 May 2026   |   Change on each card is against the previous report, 26 May 2026</a:t>
            </a:r>
            <a:endParaRPr lang="en-US" sz="1000" dirty="0"/>
          </a:p>
        </p:txBody>
      </p:sp>
      <p:pic>
        <p:nvPicPr>
          <p:cNvPr id="7" name="Image 1" descr="/home/user/HatemIsa_202508993_IT9002_NLP_Project/emyaa-ceo-deck/working/charts/ajy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02336"/>
            <a:ext cx="13258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" y="6272784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Source: eMYAA Daily Performance Dashboard, eMYAA_-_Daily_Performance_Dashboard-1.pdf, page 55. This report labels the money card 'Total Deposits'; later reports label the same measure 'Total AUM'.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eMYAA Trading Platform  |  Daily Performance Dashboard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9802368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58</a:t>
            </a:r>
            <a:endParaRPr lang="en-US" sz="800" dirty="0"/>
          </a:p>
        </p:txBody>
      </p:sp>
      <p:pic>
        <p:nvPicPr>
          <p:cNvPr id="11" name="Image 2" descr="/home/user/HatemIsa_202508993_IT9002_NLP_Project/emyaa-ceo-deck/working/charts/emyaa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6336792"/>
            <a:ext cx="1024128" cy="3657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66928" y="1408176"/>
            <a:ext cx="45720" cy="155448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665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DOWNLOADS &amp; RATINGS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6692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66928" y="170078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152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107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downloads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 Store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216712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+56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6692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66928" y="279806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3152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53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73152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downloads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73152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Apple App Store</a:t>
            </a:r>
            <a:endParaRPr lang="en-US" sz="850" dirty="0"/>
          </a:p>
        </p:txBody>
      </p:sp>
      <p:sp>
        <p:nvSpPr>
          <p:cNvPr id="25" name="Text 20"/>
          <p:cNvSpPr txBox="1"/>
          <p:nvPr/>
        </p:nvSpPr>
        <p:spPr>
          <a:xfrm>
            <a:off x="216712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+3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6692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66928" y="389534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3152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29" name="Text 24"/>
          <p:cNvSpPr txBox="1"/>
          <p:nvPr/>
        </p:nvSpPr>
        <p:spPr>
          <a:xfrm>
            <a:off x="73152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app rating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73152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Play, 2 reviews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56692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66928" y="499262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3152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34" name="Text 29"/>
          <p:cNvSpPr txBox="1"/>
          <p:nvPr/>
        </p:nvSpPr>
        <p:spPr>
          <a:xfrm>
            <a:off x="73152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app rating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73152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 Store, 2 reviews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3378708" y="1408176"/>
            <a:ext cx="45720" cy="155448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48843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 ACTIVITY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337870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3378708" y="170078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354330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</a:t>
            </a:r>
            <a:endParaRPr lang="en-US" sz="2400" dirty="0"/>
          </a:p>
        </p:txBody>
      </p:sp>
      <p:sp>
        <p:nvSpPr>
          <p:cNvPr id="41" name="Text 36"/>
          <p:cNvSpPr txBox="1"/>
          <p:nvPr/>
        </p:nvSpPr>
        <p:spPr>
          <a:xfrm>
            <a:off x="354330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deposited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354330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Funded accounts</a:t>
            </a:r>
            <a:endParaRPr lang="en-US" sz="850" dirty="0"/>
          </a:p>
        </p:txBody>
      </p:sp>
      <p:sp>
        <p:nvSpPr>
          <p:cNvPr id="43" name="Text 38"/>
          <p:cNvSpPr txBox="1"/>
          <p:nvPr/>
        </p:nvSpPr>
        <p:spPr>
          <a:xfrm>
            <a:off x="497890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337870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3378708" y="279806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354330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$1,609.40</a:t>
            </a:r>
            <a:endParaRPr lang="en-US" sz="1900" dirty="0"/>
          </a:p>
        </p:txBody>
      </p:sp>
      <p:sp>
        <p:nvSpPr>
          <p:cNvPr id="47" name="Text 42"/>
          <p:cNvSpPr txBox="1"/>
          <p:nvPr/>
        </p:nvSpPr>
        <p:spPr>
          <a:xfrm>
            <a:off x="354330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deposits</a:t>
            </a:r>
            <a:endParaRPr lang="en-US" sz="1050" dirty="0"/>
          </a:p>
        </p:txBody>
      </p:sp>
      <p:sp>
        <p:nvSpPr>
          <p:cNvPr id="48" name="Text 43"/>
          <p:cNvSpPr txBox="1"/>
          <p:nvPr/>
        </p:nvSpPr>
        <p:spPr>
          <a:xfrm>
            <a:off x="354330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Cumulative platform deposits</a:t>
            </a:r>
            <a:endParaRPr lang="en-US" sz="850" dirty="0"/>
          </a:p>
        </p:txBody>
      </p:sp>
      <p:sp>
        <p:nvSpPr>
          <p:cNvPr id="49" name="Text 44"/>
          <p:cNvSpPr txBox="1"/>
          <p:nvPr/>
        </p:nvSpPr>
        <p:spPr>
          <a:xfrm>
            <a:off x="497890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+$1,543.25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337870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3378708" y="389534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354330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</a:t>
            </a:r>
            <a:endParaRPr lang="en-US" sz="2400" dirty="0"/>
          </a:p>
        </p:txBody>
      </p:sp>
      <p:sp>
        <p:nvSpPr>
          <p:cNvPr id="53" name="Text 48"/>
          <p:cNvSpPr txBox="1"/>
          <p:nvPr/>
        </p:nvSpPr>
        <p:spPr>
          <a:xfrm>
            <a:off x="354330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traded</a:t>
            </a:r>
            <a:endParaRPr lang="en-US" sz="1050" dirty="0"/>
          </a:p>
        </p:txBody>
      </p:sp>
      <p:sp>
        <p:nvSpPr>
          <p:cNvPr id="54" name="Text 49"/>
          <p:cNvSpPr txBox="1"/>
          <p:nvPr/>
        </p:nvSpPr>
        <p:spPr>
          <a:xfrm>
            <a:off x="354330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Placed at least 1 trade</a:t>
            </a:r>
            <a:endParaRPr lang="en-US" sz="850" dirty="0"/>
          </a:p>
        </p:txBody>
      </p:sp>
      <p:sp>
        <p:nvSpPr>
          <p:cNvPr id="55" name="Text 50"/>
          <p:cNvSpPr txBox="1"/>
          <p:nvPr/>
        </p:nvSpPr>
        <p:spPr>
          <a:xfrm>
            <a:off x="497890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+2</a:t>
            </a:r>
            <a:endParaRPr lang="en-US" sz="850" dirty="0"/>
          </a:p>
        </p:txBody>
      </p:sp>
      <p:sp>
        <p:nvSpPr>
          <p:cNvPr id="56" name="Shape 51"/>
          <p:cNvSpPr/>
          <p:nvPr/>
        </p:nvSpPr>
        <p:spPr>
          <a:xfrm>
            <a:off x="337870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3378708" y="499262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354330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</a:t>
            </a:r>
            <a:endParaRPr lang="en-US" sz="2400" dirty="0"/>
          </a:p>
        </p:txBody>
      </p:sp>
      <p:sp>
        <p:nvSpPr>
          <p:cNvPr id="59" name="Text 54"/>
          <p:cNvSpPr txBox="1"/>
          <p:nvPr/>
        </p:nvSpPr>
        <p:spPr>
          <a:xfrm>
            <a:off x="354330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trades</a:t>
            </a:r>
            <a:endParaRPr lang="en-US" sz="1050" dirty="0"/>
          </a:p>
        </p:txBody>
      </p:sp>
      <p:sp>
        <p:nvSpPr>
          <p:cNvPr id="60" name="Text 55"/>
          <p:cNvSpPr txBox="1"/>
          <p:nvPr/>
        </p:nvSpPr>
        <p:spPr>
          <a:xfrm>
            <a:off x="354330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Executed across all users</a:t>
            </a:r>
            <a:endParaRPr lang="en-US" sz="850" dirty="0"/>
          </a:p>
        </p:txBody>
      </p:sp>
      <p:sp>
        <p:nvSpPr>
          <p:cNvPr id="61" name="Text 56"/>
          <p:cNvSpPr txBox="1"/>
          <p:nvPr/>
        </p:nvSpPr>
        <p:spPr>
          <a:xfrm>
            <a:off x="497890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+4</a:t>
            </a:r>
            <a:endParaRPr lang="en-US" sz="850" dirty="0"/>
          </a:p>
        </p:txBody>
      </p:sp>
      <p:sp>
        <p:nvSpPr>
          <p:cNvPr id="62" name="Shape 57"/>
          <p:cNvSpPr/>
          <p:nvPr/>
        </p:nvSpPr>
        <p:spPr>
          <a:xfrm>
            <a:off x="6190488" y="1408176"/>
            <a:ext cx="45720" cy="1554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630021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KYC STATUS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619048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6190488" y="170078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635508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6</a:t>
            </a:r>
            <a:endParaRPr lang="en-US" sz="2400" dirty="0"/>
          </a:p>
        </p:txBody>
      </p:sp>
      <p:sp>
        <p:nvSpPr>
          <p:cNvPr id="67" name="Text 62"/>
          <p:cNvSpPr txBox="1"/>
          <p:nvPr/>
        </p:nvSpPr>
        <p:spPr>
          <a:xfrm>
            <a:off x="635508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onboarded</a:t>
            </a:r>
            <a:endParaRPr lang="en-US" sz="1050" dirty="0"/>
          </a:p>
        </p:txBody>
      </p:sp>
      <p:sp>
        <p:nvSpPr>
          <p:cNvPr id="68" name="Text 63"/>
          <p:cNvSpPr txBox="1"/>
          <p:nvPr/>
        </p:nvSpPr>
        <p:spPr>
          <a:xfrm>
            <a:off x="635508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Completed signup and verification</a:t>
            </a:r>
            <a:endParaRPr lang="en-US" sz="850" dirty="0"/>
          </a:p>
        </p:txBody>
      </p:sp>
      <p:sp>
        <p:nvSpPr>
          <p:cNvPr id="69" name="Text 64"/>
          <p:cNvSpPr txBox="1"/>
          <p:nvPr/>
        </p:nvSpPr>
        <p:spPr>
          <a:xfrm>
            <a:off x="779068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+5</a:t>
            </a:r>
            <a:endParaRPr lang="en-US" sz="850" dirty="0"/>
          </a:p>
        </p:txBody>
      </p:sp>
      <p:sp>
        <p:nvSpPr>
          <p:cNvPr id="70" name="Shape 65"/>
          <p:cNvSpPr/>
          <p:nvPr/>
        </p:nvSpPr>
        <p:spPr>
          <a:xfrm>
            <a:off x="619048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6190488" y="279806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2" name="Text 67"/>
          <p:cNvSpPr txBox="1"/>
          <p:nvPr/>
        </p:nvSpPr>
        <p:spPr>
          <a:xfrm>
            <a:off x="635508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53</a:t>
            </a:r>
            <a:endParaRPr lang="en-US" sz="2400" dirty="0"/>
          </a:p>
        </p:txBody>
      </p:sp>
      <p:sp>
        <p:nvSpPr>
          <p:cNvPr id="73" name="Text 68"/>
          <p:cNvSpPr txBox="1"/>
          <p:nvPr/>
        </p:nvSpPr>
        <p:spPr>
          <a:xfrm>
            <a:off x="635508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Incomplete KYC</a:t>
            </a:r>
            <a:endParaRPr lang="en-US" sz="1050" dirty="0"/>
          </a:p>
        </p:txBody>
      </p:sp>
      <p:sp>
        <p:nvSpPr>
          <p:cNvPr id="74" name="Text 69"/>
          <p:cNvSpPr txBox="1"/>
          <p:nvPr/>
        </p:nvSpPr>
        <p:spPr>
          <a:xfrm>
            <a:off x="635508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Started KYC but did not proceed</a:t>
            </a:r>
            <a:endParaRPr lang="en-US" sz="850" dirty="0"/>
          </a:p>
        </p:txBody>
      </p:sp>
      <p:sp>
        <p:nvSpPr>
          <p:cNvPr id="75" name="Text 70"/>
          <p:cNvSpPr txBox="1"/>
          <p:nvPr/>
        </p:nvSpPr>
        <p:spPr>
          <a:xfrm>
            <a:off x="779068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5303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+49</a:t>
            </a:r>
            <a:endParaRPr lang="en-US" sz="850" dirty="0"/>
          </a:p>
        </p:txBody>
      </p:sp>
      <p:sp>
        <p:nvSpPr>
          <p:cNvPr id="76" name="Shape 71"/>
          <p:cNvSpPr/>
          <p:nvPr/>
        </p:nvSpPr>
        <p:spPr>
          <a:xfrm>
            <a:off x="619048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6190488" y="389534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8" name="Text 73"/>
          <p:cNvSpPr txBox="1"/>
          <p:nvPr/>
        </p:nvSpPr>
        <p:spPr>
          <a:xfrm>
            <a:off x="635508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</a:t>
            </a:r>
            <a:endParaRPr lang="en-US" sz="2400" dirty="0"/>
          </a:p>
        </p:txBody>
      </p:sp>
      <p:sp>
        <p:nvSpPr>
          <p:cNvPr id="79" name="Text 74"/>
          <p:cNvSpPr txBox="1"/>
          <p:nvPr/>
        </p:nvSpPr>
        <p:spPr>
          <a:xfrm>
            <a:off x="635508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Rejected KYC</a:t>
            </a:r>
            <a:endParaRPr lang="en-US" sz="1050" dirty="0"/>
          </a:p>
        </p:txBody>
      </p:sp>
      <p:sp>
        <p:nvSpPr>
          <p:cNvPr id="80" name="Text 75"/>
          <p:cNvSpPr txBox="1"/>
          <p:nvPr/>
        </p:nvSpPr>
        <p:spPr>
          <a:xfrm>
            <a:off x="635508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Resubmission required</a:t>
            </a:r>
            <a:endParaRPr lang="en-US" sz="850" dirty="0"/>
          </a:p>
        </p:txBody>
      </p:sp>
      <p:sp>
        <p:nvSpPr>
          <p:cNvPr id="81" name="Text 76"/>
          <p:cNvSpPr txBox="1"/>
          <p:nvPr/>
        </p:nvSpPr>
        <p:spPr>
          <a:xfrm>
            <a:off x="779068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-4</a:t>
            </a:r>
            <a:endParaRPr lang="en-US" sz="850" dirty="0"/>
          </a:p>
        </p:txBody>
      </p:sp>
      <p:sp>
        <p:nvSpPr>
          <p:cNvPr id="82" name="Shape 77"/>
          <p:cNvSpPr/>
          <p:nvPr/>
        </p:nvSpPr>
        <p:spPr>
          <a:xfrm>
            <a:off x="619048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6190488" y="499262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4" name="Text 79"/>
          <p:cNvSpPr txBox="1"/>
          <p:nvPr/>
        </p:nvSpPr>
        <p:spPr>
          <a:xfrm>
            <a:off x="635508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64</a:t>
            </a:r>
            <a:endParaRPr lang="en-US" sz="2400" dirty="0"/>
          </a:p>
        </p:txBody>
      </p:sp>
      <p:sp>
        <p:nvSpPr>
          <p:cNvPr id="85" name="Text 80"/>
          <p:cNvSpPr txBox="1"/>
          <p:nvPr/>
        </p:nvSpPr>
        <p:spPr>
          <a:xfrm>
            <a:off x="635508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KYC applications</a:t>
            </a:r>
            <a:endParaRPr lang="en-US" sz="1050" dirty="0"/>
          </a:p>
        </p:txBody>
      </p:sp>
      <p:sp>
        <p:nvSpPr>
          <p:cNvPr id="86" name="Text 81"/>
          <p:cNvSpPr txBox="1"/>
          <p:nvPr/>
        </p:nvSpPr>
        <p:spPr>
          <a:xfrm>
            <a:off x="635508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Onboarded + incomplete + rejected</a:t>
            </a:r>
            <a:endParaRPr lang="en-US" sz="850" dirty="0"/>
          </a:p>
        </p:txBody>
      </p:sp>
      <p:sp>
        <p:nvSpPr>
          <p:cNvPr id="87" name="Shape 82"/>
          <p:cNvSpPr/>
          <p:nvPr/>
        </p:nvSpPr>
        <p:spPr>
          <a:xfrm>
            <a:off x="9002268" y="1408176"/>
            <a:ext cx="45720" cy="155448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88" name="Text 83"/>
          <p:cNvSpPr txBox="1"/>
          <p:nvPr/>
        </p:nvSpPr>
        <p:spPr>
          <a:xfrm>
            <a:off x="911199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SUPPORT TICKETS</a:t>
            </a:r>
            <a:endParaRPr lang="en-US" sz="900" dirty="0"/>
          </a:p>
        </p:txBody>
      </p:sp>
      <p:sp>
        <p:nvSpPr>
          <p:cNvPr id="89" name="Shape 84"/>
          <p:cNvSpPr/>
          <p:nvPr/>
        </p:nvSpPr>
        <p:spPr>
          <a:xfrm>
            <a:off x="900226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9002268" y="170078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1" name="Text 86"/>
          <p:cNvSpPr txBox="1"/>
          <p:nvPr/>
        </p:nvSpPr>
        <p:spPr>
          <a:xfrm>
            <a:off x="916686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18</a:t>
            </a:r>
            <a:endParaRPr lang="en-US" sz="2400" dirty="0"/>
          </a:p>
        </p:txBody>
      </p:sp>
      <p:sp>
        <p:nvSpPr>
          <p:cNvPr id="92" name="Text 87"/>
          <p:cNvSpPr txBox="1"/>
          <p:nvPr/>
        </p:nvSpPr>
        <p:spPr>
          <a:xfrm>
            <a:off x="916686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created</a:t>
            </a:r>
            <a:endParaRPr lang="en-US" sz="1050" dirty="0"/>
          </a:p>
        </p:txBody>
      </p:sp>
      <p:sp>
        <p:nvSpPr>
          <p:cNvPr id="93" name="Text 88"/>
          <p:cNvSpPr txBox="1"/>
          <p:nvPr/>
        </p:nvSpPr>
        <p:spPr>
          <a:xfrm>
            <a:off x="916686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94" name="Text 89"/>
          <p:cNvSpPr txBox="1"/>
          <p:nvPr/>
        </p:nvSpPr>
        <p:spPr>
          <a:xfrm>
            <a:off x="1060246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+16</a:t>
            </a:r>
            <a:endParaRPr lang="en-US" sz="850" dirty="0"/>
          </a:p>
        </p:txBody>
      </p:sp>
      <p:sp>
        <p:nvSpPr>
          <p:cNvPr id="95" name="Shape 90"/>
          <p:cNvSpPr/>
          <p:nvPr/>
        </p:nvSpPr>
        <p:spPr>
          <a:xfrm>
            <a:off x="900226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9002268" y="279806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7" name="Text 92"/>
          <p:cNvSpPr txBox="1"/>
          <p:nvPr/>
        </p:nvSpPr>
        <p:spPr>
          <a:xfrm>
            <a:off x="916686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18</a:t>
            </a:r>
            <a:endParaRPr lang="en-US" sz="2400" dirty="0"/>
          </a:p>
        </p:txBody>
      </p:sp>
      <p:sp>
        <p:nvSpPr>
          <p:cNvPr id="98" name="Text 93"/>
          <p:cNvSpPr txBox="1"/>
          <p:nvPr/>
        </p:nvSpPr>
        <p:spPr>
          <a:xfrm>
            <a:off x="916686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resolved</a:t>
            </a:r>
            <a:endParaRPr lang="en-US" sz="1050" dirty="0"/>
          </a:p>
        </p:txBody>
      </p:sp>
      <p:sp>
        <p:nvSpPr>
          <p:cNvPr id="99" name="Text 94"/>
          <p:cNvSpPr txBox="1"/>
          <p:nvPr/>
        </p:nvSpPr>
        <p:spPr>
          <a:xfrm>
            <a:off x="916686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100% of tickets created</a:t>
            </a:r>
            <a:endParaRPr lang="en-US" sz="850" dirty="0"/>
          </a:p>
        </p:txBody>
      </p:sp>
      <p:sp>
        <p:nvSpPr>
          <p:cNvPr id="100" name="Text 95"/>
          <p:cNvSpPr txBox="1"/>
          <p:nvPr/>
        </p:nvSpPr>
        <p:spPr>
          <a:xfrm>
            <a:off x="1060246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+16</a:t>
            </a:r>
            <a:endParaRPr lang="en-US" sz="850" dirty="0"/>
          </a:p>
        </p:txBody>
      </p:sp>
      <p:sp>
        <p:nvSpPr>
          <p:cNvPr id="101" name="Shape 96"/>
          <p:cNvSpPr/>
          <p:nvPr/>
        </p:nvSpPr>
        <p:spPr>
          <a:xfrm>
            <a:off x="900226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9002268" y="389534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3" name="Text 98"/>
          <p:cNvSpPr txBox="1"/>
          <p:nvPr/>
        </p:nvSpPr>
        <p:spPr>
          <a:xfrm>
            <a:off x="916686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</a:t>
            </a:r>
            <a:endParaRPr lang="en-US" sz="2400" dirty="0"/>
          </a:p>
        </p:txBody>
      </p:sp>
      <p:sp>
        <p:nvSpPr>
          <p:cNvPr id="104" name="Text 99"/>
          <p:cNvSpPr txBox="1"/>
          <p:nvPr/>
        </p:nvSpPr>
        <p:spPr>
          <a:xfrm>
            <a:off x="916686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Email queries</a:t>
            </a:r>
            <a:endParaRPr lang="en-US" sz="1050" dirty="0"/>
          </a:p>
        </p:txBody>
      </p:sp>
      <p:sp>
        <p:nvSpPr>
          <p:cNvPr id="105" name="Text 100"/>
          <p:cNvSpPr txBox="1"/>
          <p:nvPr/>
        </p:nvSpPr>
        <p:spPr>
          <a:xfrm>
            <a:off x="916686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06" name="Text 101"/>
          <p:cNvSpPr txBox="1"/>
          <p:nvPr/>
        </p:nvSpPr>
        <p:spPr>
          <a:xfrm>
            <a:off x="1060246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+3</a:t>
            </a:r>
            <a:endParaRPr lang="en-US" sz="850" dirty="0"/>
          </a:p>
        </p:txBody>
      </p:sp>
      <p:sp>
        <p:nvSpPr>
          <p:cNvPr id="107" name="Shape 102"/>
          <p:cNvSpPr/>
          <p:nvPr/>
        </p:nvSpPr>
        <p:spPr>
          <a:xfrm>
            <a:off x="900226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9002268" y="499262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9" name="Text 104"/>
          <p:cNvSpPr txBox="1"/>
          <p:nvPr/>
        </p:nvSpPr>
        <p:spPr>
          <a:xfrm>
            <a:off x="916686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15</a:t>
            </a:r>
            <a:endParaRPr lang="en-US" sz="2400" dirty="0"/>
          </a:p>
        </p:txBody>
      </p:sp>
      <p:sp>
        <p:nvSpPr>
          <p:cNvPr id="110" name="Text 105"/>
          <p:cNvSpPr txBox="1"/>
          <p:nvPr/>
        </p:nvSpPr>
        <p:spPr>
          <a:xfrm>
            <a:off x="916686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AI support queries</a:t>
            </a:r>
            <a:endParaRPr lang="en-US" sz="1050" dirty="0"/>
          </a:p>
        </p:txBody>
      </p:sp>
      <p:sp>
        <p:nvSpPr>
          <p:cNvPr id="111" name="Text 106"/>
          <p:cNvSpPr txBox="1"/>
          <p:nvPr/>
        </p:nvSpPr>
        <p:spPr>
          <a:xfrm>
            <a:off x="916686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12" name="Text 107"/>
          <p:cNvSpPr txBox="1"/>
          <p:nvPr/>
        </p:nvSpPr>
        <p:spPr>
          <a:xfrm>
            <a:off x="1060246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+13</a:t>
            </a:r>
            <a:endParaRPr lang="en-US" sz="8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atemIsa_202508993_IT9002_NLP_Project/emyaa-ceo-deck/working/charts/board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188720"/>
            <a:ext cx="12191695" cy="24689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66928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F3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PLATFORM ANALYTICS  |  PERFORMANCE DASHBOARD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57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 date: 26 May 2026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868680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6CFE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Reporting period: 25 May 2026   |   Change on each card is against the previous report, 25 May 2026</a:t>
            </a:r>
            <a:endParaRPr lang="en-US" sz="1000" dirty="0"/>
          </a:p>
        </p:txBody>
      </p:sp>
      <p:pic>
        <p:nvPicPr>
          <p:cNvPr id="7" name="Image 1" descr="/home/user/HatemIsa_202508993_IT9002_NLP_Project/emyaa-ceo-deck/working/charts/ajy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02336"/>
            <a:ext cx="13258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" y="6272784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Source: eMYAA Daily Performance Dashboard, eMYAA_-_Daily_Performance_Dashboard-1.pdf, page 56. This report labels the money card 'Total Deposits'; later reports label the same measure 'Total AUM'.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eMYAA Trading Platform  |  Daily Performance Dashboard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9802368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59</a:t>
            </a:r>
            <a:endParaRPr lang="en-US" sz="800" dirty="0"/>
          </a:p>
        </p:txBody>
      </p:sp>
      <p:pic>
        <p:nvPicPr>
          <p:cNvPr id="11" name="Image 2" descr="/home/user/HatemIsa_202508993_IT9002_NLP_Project/emyaa-ceo-deck/working/charts/emyaa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6336792"/>
            <a:ext cx="1024128" cy="3657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66928" y="1408176"/>
            <a:ext cx="45720" cy="155448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665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DOWNLOADS &amp; RATINGS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6692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66928" y="170078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152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51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downloads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 Store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216712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6692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66928" y="279806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3152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50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73152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downloads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73152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Apple App Store</a:t>
            </a:r>
            <a:endParaRPr lang="en-US" sz="850" dirty="0"/>
          </a:p>
        </p:txBody>
      </p:sp>
      <p:sp>
        <p:nvSpPr>
          <p:cNvPr id="25" name="Text 20"/>
          <p:cNvSpPr txBox="1"/>
          <p:nvPr/>
        </p:nvSpPr>
        <p:spPr>
          <a:xfrm>
            <a:off x="216712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6692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66928" y="389534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3152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29" name="Text 24"/>
          <p:cNvSpPr txBox="1"/>
          <p:nvPr/>
        </p:nvSpPr>
        <p:spPr>
          <a:xfrm>
            <a:off x="73152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app rating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73152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Play, 2 reviews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56692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66928" y="499262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3152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34" name="Text 29"/>
          <p:cNvSpPr txBox="1"/>
          <p:nvPr/>
        </p:nvSpPr>
        <p:spPr>
          <a:xfrm>
            <a:off x="73152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app rating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73152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 Store, 2 reviews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3378708" y="1408176"/>
            <a:ext cx="45720" cy="155448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48843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 ACTIVITY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337870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3378708" y="170078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354330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</a:t>
            </a:r>
            <a:endParaRPr lang="en-US" sz="2400" dirty="0"/>
          </a:p>
        </p:txBody>
      </p:sp>
      <p:sp>
        <p:nvSpPr>
          <p:cNvPr id="41" name="Text 36"/>
          <p:cNvSpPr txBox="1"/>
          <p:nvPr/>
        </p:nvSpPr>
        <p:spPr>
          <a:xfrm>
            <a:off x="354330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deposited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354330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Funded accounts</a:t>
            </a:r>
            <a:endParaRPr lang="en-US" sz="850" dirty="0"/>
          </a:p>
        </p:txBody>
      </p:sp>
      <p:sp>
        <p:nvSpPr>
          <p:cNvPr id="43" name="Text 38"/>
          <p:cNvSpPr txBox="1"/>
          <p:nvPr/>
        </p:nvSpPr>
        <p:spPr>
          <a:xfrm>
            <a:off x="497890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337870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3378708" y="279806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354330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$66.15</a:t>
            </a:r>
            <a:endParaRPr lang="en-US" sz="2400" dirty="0"/>
          </a:p>
        </p:txBody>
      </p:sp>
      <p:sp>
        <p:nvSpPr>
          <p:cNvPr id="47" name="Text 42"/>
          <p:cNvSpPr txBox="1"/>
          <p:nvPr/>
        </p:nvSpPr>
        <p:spPr>
          <a:xfrm>
            <a:off x="354330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deposits</a:t>
            </a:r>
            <a:endParaRPr lang="en-US" sz="1050" dirty="0"/>
          </a:p>
        </p:txBody>
      </p:sp>
      <p:sp>
        <p:nvSpPr>
          <p:cNvPr id="48" name="Text 43"/>
          <p:cNvSpPr txBox="1"/>
          <p:nvPr/>
        </p:nvSpPr>
        <p:spPr>
          <a:xfrm>
            <a:off x="354330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Cumulative platform deposits</a:t>
            </a:r>
            <a:endParaRPr lang="en-US" sz="850" dirty="0"/>
          </a:p>
        </p:txBody>
      </p:sp>
      <p:sp>
        <p:nvSpPr>
          <p:cNvPr id="49" name="Text 44"/>
          <p:cNvSpPr txBox="1"/>
          <p:nvPr/>
        </p:nvSpPr>
        <p:spPr>
          <a:xfrm>
            <a:off x="497890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+$66.15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337870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3378708" y="389534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354330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0</a:t>
            </a:r>
            <a:endParaRPr lang="en-US" sz="2400" dirty="0"/>
          </a:p>
        </p:txBody>
      </p:sp>
      <p:sp>
        <p:nvSpPr>
          <p:cNvPr id="53" name="Text 48"/>
          <p:cNvSpPr txBox="1"/>
          <p:nvPr/>
        </p:nvSpPr>
        <p:spPr>
          <a:xfrm>
            <a:off x="354330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traded</a:t>
            </a:r>
            <a:endParaRPr lang="en-US" sz="1050" dirty="0"/>
          </a:p>
        </p:txBody>
      </p:sp>
      <p:sp>
        <p:nvSpPr>
          <p:cNvPr id="54" name="Text 49"/>
          <p:cNvSpPr txBox="1"/>
          <p:nvPr/>
        </p:nvSpPr>
        <p:spPr>
          <a:xfrm>
            <a:off x="354330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Placed at least 1 trade</a:t>
            </a:r>
            <a:endParaRPr lang="en-US" sz="850" dirty="0"/>
          </a:p>
        </p:txBody>
      </p:sp>
      <p:sp>
        <p:nvSpPr>
          <p:cNvPr id="55" name="Text 50"/>
          <p:cNvSpPr txBox="1"/>
          <p:nvPr/>
        </p:nvSpPr>
        <p:spPr>
          <a:xfrm>
            <a:off x="497890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6" name="Shape 51"/>
          <p:cNvSpPr/>
          <p:nvPr/>
        </p:nvSpPr>
        <p:spPr>
          <a:xfrm>
            <a:off x="337870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3378708" y="499262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354330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0</a:t>
            </a:r>
            <a:endParaRPr lang="en-US" sz="2400" dirty="0"/>
          </a:p>
        </p:txBody>
      </p:sp>
      <p:sp>
        <p:nvSpPr>
          <p:cNvPr id="59" name="Text 54"/>
          <p:cNvSpPr txBox="1"/>
          <p:nvPr/>
        </p:nvSpPr>
        <p:spPr>
          <a:xfrm>
            <a:off x="354330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trades</a:t>
            </a:r>
            <a:endParaRPr lang="en-US" sz="1050" dirty="0"/>
          </a:p>
        </p:txBody>
      </p:sp>
      <p:sp>
        <p:nvSpPr>
          <p:cNvPr id="60" name="Text 55"/>
          <p:cNvSpPr txBox="1"/>
          <p:nvPr/>
        </p:nvSpPr>
        <p:spPr>
          <a:xfrm>
            <a:off x="354330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Executed across all users</a:t>
            </a:r>
            <a:endParaRPr lang="en-US" sz="850" dirty="0"/>
          </a:p>
        </p:txBody>
      </p:sp>
      <p:sp>
        <p:nvSpPr>
          <p:cNvPr id="61" name="Text 56"/>
          <p:cNvSpPr txBox="1"/>
          <p:nvPr/>
        </p:nvSpPr>
        <p:spPr>
          <a:xfrm>
            <a:off x="497890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62" name="Shape 57"/>
          <p:cNvSpPr/>
          <p:nvPr/>
        </p:nvSpPr>
        <p:spPr>
          <a:xfrm>
            <a:off x="6190488" y="1408176"/>
            <a:ext cx="45720" cy="1554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630021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KYC STATUS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619048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6190488" y="170078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635508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</a:t>
            </a:r>
            <a:endParaRPr lang="en-US" sz="2400" dirty="0"/>
          </a:p>
        </p:txBody>
      </p:sp>
      <p:sp>
        <p:nvSpPr>
          <p:cNvPr id="67" name="Text 62"/>
          <p:cNvSpPr txBox="1"/>
          <p:nvPr/>
        </p:nvSpPr>
        <p:spPr>
          <a:xfrm>
            <a:off x="635508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onboarded</a:t>
            </a:r>
            <a:endParaRPr lang="en-US" sz="1050" dirty="0"/>
          </a:p>
        </p:txBody>
      </p:sp>
      <p:sp>
        <p:nvSpPr>
          <p:cNvPr id="68" name="Text 63"/>
          <p:cNvSpPr txBox="1"/>
          <p:nvPr/>
        </p:nvSpPr>
        <p:spPr>
          <a:xfrm>
            <a:off x="635508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Completed signup and verification</a:t>
            </a:r>
            <a:endParaRPr lang="en-US" sz="850" dirty="0"/>
          </a:p>
        </p:txBody>
      </p:sp>
      <p:sp>
        <p:nvSpPr>
          <p:cNvPr id="69" name="Text 64"/>
          <p:cNvSpPr txBox="1"/>
          <p:nvPr/>
        </p:nvSpPr>
        <p:spPr>
          <a:xfrm>
            <a:off x="779068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70" name="Shape 65"/>
          <p:cNvSpPr/>
          <p:nvPr/>
        </p:nvSpPr>
        <p:spPr>
          <a:xfrm>
            <a:off x="619048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6190488" y="279806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2" name="Text 67"/>
          <p:cNvSpPr txBox="1"/>
          <p:nvPr/>
        </p:nvSpPr>
        <p:spPr>
          <a:xfrm>
            <a:off x="635508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</a:t>
            </a:r>
            <a:endParaRPr lang="en-US" sz="2400" dirty="0"/>
          </a:p>
        </p:txBody>
      </p:sp>
      <p:sp>
        <p:nvSpPr>
          <p:cNvPr id="73" name="Text 68"/>
          <p:cNvSpPr txBox="1"/>
          <p:nvPr/>
        </p:nvSpPr>
        <p:spPr>
          <a:xfrm>
            <a:off x="635508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Incomplete KYC</a:t>
            </a:r>
            <a:endParaRPr lang="en-US" sz="1050" dirty="0"/>
          </a:p>
        </p:txBody>
      </p:sp>
      <p:sp>
        <p:nvSpPr>
          <p:cNvPr id="74" name="Text 69"/>
          <p:cNvSpPr txBox="1"/>
          <p:nvPr/>
        </p:nvSpPr>
        <p:spPr>
          <a:xfrm>
            <a:off x="635508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Started KYC but did not proceed</a:t>
            </a:r>
            <a:endParaRPr lang="en-US" sz="850" dirty="0"/>
          </a:p>
        </p:txBody>
      </p:sp>
      <p:sp>
        <p:nvSpPr>
          <p:cNvPr id="75" name="Text 70"/>
          <p:cNvSpPr txBox="1"/>
          <p:nvPr/>
        </p:nvSpPr>
        <p:spPr>
          <a:xfrm>
            <a:off x="779068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5303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+4</a:t>
            </a:r>
            <a:endParaRPr lang="en-US" sz="850" dirty="0"/>
          </a:p>
        </p:txBody>
      </p:sp>
      <p:sp>
        <p:nvSpPr>
          <p:cNvPr id="76" name="Shape 71"/>
          <p:cNvSpPr/>
          <p:nvPr/>
        </p:nvSpPr>
        <p:spPr>
          <a:xfrm>
            <a:off x="619048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6190488" y="389534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8" name="Text 73"/>
          <p:cNvSpPr txBox="1"/>
          <p:nvPr/>
        </p:nvSpPr>
        <p:spPr>
          <a:xfrm>
            <a:off x="635508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9</a:t>
            </a:r>
            <a:endParaRPr lang="en-US" sz="2400" dirty="0"/>
          </a:p>
        </p:txBody>
      </p:sp>
      <p:sp>
        <p:nvSpPr>
          <p:cNvPr id="79" name="Text 74"/>
          <p:cNvSpPr txBox="1"/>
          <p:nvPr/>
        </p:nvSpPr>
        <p:spPr>
          <a:xfrm>
            <a:off x="635508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Rejected KYC</a:t>
            </a:r>
            <a:endParaRPr lang="en-US" sz="1050" dirty="0"/>
          </a:p>
        </p:txBody>
      </p:sp>
      <p:sp>
        <p:nvSpPr>
          <p:cNvPr id="80" name="Text 75"/>
          <p:cNvSpPr txBox="1"/>
          <p:nvPr/>
        </p:nvSpPr>
        <p:spPr>
          <a:xfrm>
            <a:off x="635508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Resubmission required</a:t>
            </a:r>
            <a:endParaRPr lang="en-US" sz="850" dirty="0"/>
          </a:p>
        </p:txBody>
      </p:sp>
      <p:sp>
        <p:nvSpPr>
          <p:cNvPr id="81" name="Text 76"/>
          <p:cNvSpPr txBox="1"/>
          <p:nvPr/>
        </p:nvSpPr>
        <p:spPr>
          <a:xfrm>
            <a:off x="779068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5303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+8</a:t>
            </a:r>
            <a:endParaRPr lang="en-US" sz="850" dirty="0"/>
          </a:p>
        </p:txBody>
      </p:sp>
      <p:sp>
        <p:nvSpPr>
          <p:cNvPr id="82" name="Shape 77"/>
          <p:cNvSpPr/>
          <p:nvPr/>
        </p:nvSpPr>
        <p:spPr>
          <a:xfrm>
            <a:off x="619048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6190488" y="499262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4" name="Text 79"/>
          <p:cNvSpPr txBox="1"/>
          <p:nvPr/>
        </p:nvSpPr>
        <p:spPr>
          <a:xfrm>
            <a:off x="635508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14</a:t>
            </a:r>
            <a:endParaRPr lang="en-US" sz="2400" dirty="0"/>
          </a:p>
        </p:txBody>
      </p:sp>
      <p:sp>
        <p:nvSpPr>
          <p:cNvPr id="85" name="Text 80"/>
          <p:cNvSpPr txBox="1"/>
          <p:nvPr/>
        </p:nvSpPr>
        <p:spPr>
          <a:xfrm>
            <a:off x="635508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KYC applications</a:t>
            </a:r>
            <a:endParaRPr lang="en-US" sz="1050" dirty="0"/>
          </a:p>
        </p:txBody>
      </p:sp>
      <p:sp>
        <p:nvSpPr>
          <p:cNvPr id="86" name="Text 81"/>
          <p:cNvSpPr txBox="1"/>
          <p:nvPr/>
        </p:nvSpPr>
        <p:spPr>
          <a:xfrm>
            <a:off x="635508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Onboarded + incomplete + rejected</a:t>
            </a:r>
            <a:endParaRPr lang="en-US" sz="850" dirty="0"/>
          </a:p>
        </p:txBody>
      </p:sp>
      <p:sp>
        <p:nvSpPr>
          <p:cNvPr id="87" name="Shape 82"/>
          <p:cNvSpPr/>
          <p:nvPr/>
        </p:nvSpPr>
        <p:spPr>
          <a:xfrm>
            <a:off x="9002268" y="1408176"/>
            <a:ext cx="45720" cy="155448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88" name="Text 83"/>
          <p:cNvSpPr txBox="1"/>
          <p:nvPr/>
        </p:nvSpPr>
        <p:spPr>
          <a:xfrm>
            <a:off x="911199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SUPPORT TICKETS</a:t>
            </a:r>
            <a:endParaRPr lang="en-US" sz="900" dirty="0"/>
          </a:p>
        </p:txBody>
      </p:sp>
      <p:sp>
        <p:nvSpPr>
          <p:cNvPr id="89" name="Shape 84"/>
          <p:cNvSpPr/>
          <p:nvPr/>
        </p:nvSpPr>
        <p:spPr>
          <a:xfrm>
            <a:off x="900226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9002268" y="170078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1" name="Text 86"/>
          <p:cNvSpPr txBox="1"/>
          <p:nvPr/>
        </p:nvSpPr>
        <p:spPr>
          <a:xfrm>
            <a:off x="916686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</a:t>
            </a:r>
            <a:endParaRPr lang="en-US" sz="2400" dirty="0"/>
          </a:p>
        </p:txBody>
      </p:sp>
      <p:sp>
        <p:nvSpPr>
          <p:cNvPr id="92" name="Text 87"/>
          <p:cNvSpPr txBox="1"/>
          <p:nvPr/>
        </p:nvSpPr>
        <p:spPr>
          <a:xfrm>
            <a:off x="916686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created</a:t>
            </a:r>
            <a:endParaRPr lang="en-US" sz="1050" dirty="0"/>
          </a:p>
        </p:txBody>
      </p:sp>
      <p:sp>
        <p:nvSpPr>
          <p:cNvPr id="93" name="Text 88"/>
          <p:cNvSpPr txBox="1"/>
          <p:nvPr/>
        </p:nvSpPr>
        <p:spPr>
          <a:xfrm>
            <a:off x="916686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94" name="Text 89"/>
          <p:cNvSpPr txBox="1"/>
          <p:nvPr/>
        </p:nvSpPr>
        <p:spPr>
          <a:xfrm>
            <a:off x="1060246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+2</a:t>
            </a:r>
            <a:endParaRPr lang="en-US" sz="850" dirty="0"/>
          </a:p>
        </p:txBody>
      </p:sp>
      <p:sp>
        <p:nvSpPr>
          <p:cNvPr id="95" name="Shape 90"/>
          <p:cNvSpPr/>
          <p:nvPr/>
        </p:nvSpPr>
        <p:spPr>
          <a:xfrm>
            <a:off x="900226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9002268" y="279806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7" name="Text 92"/>
          <p:cNvSpPr txBox="1"/>
          <p:nvPr/>
        </p:nvSpPr>
        <p:spPr>
          <a:xfrm>
            <a:off x="916686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</a:t>
            </a:r>
            <a:endParaRPr lang="en-US" sz="2400" dirty="0"/>
          </a:p>
        </p:txBody>
      </p:sp>
      <p:sp>
        <p:nvSpPr>
          <p:cNvPr id="98" name="Text 93"/>
          <p:cNvSpPr txBox="1"/>
          <p:nvPr/>
        </p:nvSpPr>
        <p:spPr>
          <a:xfrm>
            <a:off x="916686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resolved</a:t>
            </a:r>
            <a:endParaRPr lang="en-US" sz="1050" dirty="0"/>
          </a:p>
        </p:txBody>
      </p:sp>
      <p:sp>
        <p:nvSpPr>
          <p:cNvPr id="99" name="Text 94"/>
          <p:cNvSpPr txBox="1"/>
          <p:nvPr/>
        </p:nvSpPr>
        <p:spPr>
          <a:xfrm>
            <a:off x="916686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100% of tickets created</a:t>
            </a:r>
            <a:endParaRPr lang="en-US" sz="850" dirty="0"/>
          </a:p>
        </p:txBody>
      </p:sp>
      <p:sp>
        <p:nvSpPr>
          <p:cNvPr id="100" name="Text 95"/>
          <p:cNvSpPr txBox="1"/>
          <p:nvPr/>
        </p:nvSpPr>
        <p:spPr>
          <a:xfrm>
            <a:off x="1060246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+2</a:t>
            </a:r>
            <a:endParaRPr lang="en-US" sz="850" dirty="0"/>
          </a:p>
        </p:txBody>
      </p:sp>
      <p:sp>
        <p:nvSpPr>
          <p:cNvPr id="101" name="Shape 96"/>
          <p:cNvSpPr/>
          <p:nvPr/>
        </p:nvSpPr>
        <p:spPr>
          <a:xfrm>
            <a:off x="900226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9002268" y="389534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3" name="Text 98"/>
          <p:cNvSpPr txBox="1"/>
          <p:nvPr/>
        </p:nvSpPr>
        <p:spPr>
          <a:xfrm>
            <a:off x="916686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0</a:t>
            </a:r>
            <a:endParaRPr lang="en-US" sz="2400" dirty="0"/>
          </a:p>
        </p:txBody>
      </p:sp>
      <p:sp>
        <p:nvSpPr>
          <p:cNvPr id="104" name="Text 99"/>
          <p:cNvSpPr txBox="1"/>
          <p:nvPr/>
        </p:nvSpPr>
        <p:spPr>
          <a:xfrm>
            <a:off x="916686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Email queries</a:t>
            </a:r>
            <a:endParaRPr lang="en-US" sz="1050" dirty="0"/>
          </a:p>
        </p:txBody>
      </p:sp>
      <p:sp>
        <p:nvSpPr>
          <p:cNvPr id="105" name="Text 100"/>
          <p:cNvSpPr txBox="1"/>
          <p:nvPr/>
        </p:nvSpPr>
        <p:spPr>
          <a:xfrm>
            <a:off x="916686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06" name="Text 101"/>
          <p:cNvSpPr txBox="1"/>
          <p:nvPr/>
        </p:nvSpPr>
        <p:spPr>
          <a:xfrm>
            <a:off x="1060246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7" name="Shape 102"/>
          <p:cNvSpPr/>
          <p:nvPr/>
        </p:nvSpPr>
        <p:spPr>
          <a:xfrm>
            <a:off x="900226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9002268" y="499262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9" name="Text 104"/>
          <p:cNvSpPr txBox="1"/>
          <p:nvPr/>
        </p:nvSpPr>
        <p:spPr>
          <a:xfrm>
            <a:off x="916686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</a:t>
            </a:r>
            <a:endParaRPr lang="en-US" sz="2400" dirty="0"/>
          </a:p>
        </p:txBody>
      </p:sp>
      <p:sp>
        <p:nvSpPr>
          <p:cNvPr id="110" name="Text 105"/>
          <p:cNvSpPr txBox="1"/>
          <p:nvPr/>
        </p:nvSpPr>
        <p:spPr>
          <a:xfrm>
            <a:off x="916686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AI support queries</a:t>
            </a:r>
            <a:endParaRPr lang="en-US" sz="1050" dirty="0"/>
          </a:p>
        </p:txBody>
      </p:sp>
      <p:sp>
        <p:nvSpPr>
          <p:cNvPr id="111" name="Text 106"/>
          <p:cNvSpPr txBox="1"/>
          <p:nvPr/>
        </p:nvSpPr>
        <p:spPr>
          <a:xfrm>
            <a:off x="916686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12" name="Text 107"/>
          <p:cNvSpPr txBox="1"/>
          <p:nvPr/>
        </p:nvSpPr>
        <p:spPr>
          <a:xfrm>
            <a:off x="1060246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+2</a:t>
            </a:r>
            <a:endParaRPr lang="en-US" sz="8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atemIsa_202508993_IT9002_NLP_Project/emyaa-ceo-deck/working/charts/board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188720"/>
            <a:ext cx="12191695" cy="24689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66928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F3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PLATFORM ANALYTICS  |  PERFORMANCE DASHBOARD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57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 date: 25 May 2026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868680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6CFE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Reporting period: 24 May 2026   |   Change on each card is against the previous report, 24 May 2026</a:t>
            </a:r>
            <a:endParaRPr lang="en-US" sz="1000" dirty="0"/>
          </a:p>
        </p:txBody>
      </p:sp>
      <p:pic>
        <p:nvPicPr>
          <p:cNvPr id="7" name="Image 1" descr="/home/user/HatemIsa_202508993_IT9002_NLP_Project/emyaa-ceo-deck/working/charts/ajy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02336"/>
            <a:ext cx="13258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" y="6272784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Source: eMYAA Daily Performance Dashboard, eMYAA_-_Daily_Performance_Dashboard-1.pdf, page 57. This report labels the money card 'Total Deposits'; later reports label the same measure 'Total AUM'.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eMYAA Trading Platform  |  Daily Performance Dashboard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9802368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60</a:t>
            </a:r>
            <a:endParaRPr lang="en-US" sz="800" dirty="0"/>
          </a:p>
        </p:txBody>
      </p:sp>
      <p:pic>
        <p:nvPicPr>
          <p:cNvPr id="11" name="Image 2" descr="/home/user/HatemIsa_202508993_IT9002_NLP_Project/emyaa-ceo-deck/working/charts/emyaa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6336792"/>
            <a:ext cx="1024128" cy="3657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66928" y="1408176"/>
            <a:ext cx="45720" cy="155448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665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DOWNLOADS &amp; RATINGS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6692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66928" y="170078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152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50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downloads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 Store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216712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+18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6692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66928" y="279806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3152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50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73152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downloads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73152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Apple App Store</a:t>
            </a:r>
            <a:endParaRPr lang="en-US" sz="850" dirty="0"/>
          </a:p>
        </p:txBody>
      </p:sp>
      <p:sp>
        <p:nvSpPr>
          <p:cNvPr id="25" name="Text 20"/>
          <p:cNvSpPr txBox="1"/>
          <p:nvPr/>
        </p:nvSpPr>
        <p:spPr>
          <a:xfrm>
            <a:off x="216712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6692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66928" y="389534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3152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29" name="Text 24"/>
          <p:cNvSpPr txBox="1"/>
          <p:nvPr/>
        </p:nvSpPr>
        <p:spPr>
          <a:xfrm>
            <a:off x="73152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app rating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73152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Play, 2 reviews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56692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66928" y="499262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3152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34" name="Text 29"/>
          <p:cNvSpPr txBox="1"/>
          <p:nvPr/>
        </p:nvSpPr>
        <p:spPr>
          <a:xfrm>
            <a:off x="73152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app rating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73152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 Store, 2 reviews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3378708" y="1408176"/>
            <a:ext cx="45720" cy="155448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48843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 ACTIVITY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337870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3378708" y="170078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354330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0</a:t>
            </a:r>
            <a:endParaRPr lang="en-US" sz="2400" dirty="0"/>
          </a:p>
        </p:txBody>
      </p:sp>
      <p:sp>
        <p:nvSpPr>
          <p:cNvPr id="41" name="Text 36"/>
          <p:cNvSpPr txBox="1"/>
          <p:nvPr/>
        </p:nvSpPr>
        <p:spPr>
          <a:xfrm>
            <a:off x="354330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deposited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354330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Funded accounts</a:t>
            </a:r>
            <a:endParaRPr lang="en-US" sz="850" dirty="0"/>
          </a:p>
        </p:txBody>
      </p:sp>
      <p:sp>
        <p:nvSpPr>
          <p:cNvPr id="43" name="Text 38"/>
          <p:cNvSpPr txBox="1"/>
          <p:nvPr/>
        </p:nvSpPr>
        <p:spPr>
          <a:xfrm>
            <a:off x="497890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337870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3378708" y="279806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354330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$0.00</a:t>
            </a:r>
            <a:endParaRPr lang="en-US" sz="2400" dirty="0"/>
          </a:p>
        </p:txBody>
      </p:sp>
      <p:sp>
        <p:nvSpPr>
          <p:cNvPr id="47" name="Text 42"/>
          <p:cNvSpPr txBox="1"/>
          <p:nvPr/>
        </p:nvSpPr>
        <p:spPr>
          <a:xfrm>
            <a:off x="354330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deposits</a:t>
            </a:r>
            <a:endParaRPr lang="en-US" sz="1050" dirty="0"/>
          </a:p>
        </p:txBody>
      </p:sp>
      <p:sp>
        <p:nvSpPr>
          <p:cNvPr id="48" name="Text 43"/>
          <p:cNvSpPr txBox="1"/>
          <p:nvPr/>
        </p:nvSpPr>
        <p:spPr>
          <a:xfrm>
            <a:off x="354330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Cumulative platform deposits</a:t>
            </a:r>
            <a:endParaRPr lang="en-US" sz="850" dirty="0"/>
          </a:p>
        </p:txBody>
      </p:sp>
      <p:sp>
        <p:nvSpPr>
          <p:cNvPr id="49" name="Text 44"/>
          <p:cNvSpPr txBox="1"/>
          <p:nvPr/>
        </p:nvSpPr>
        <p:spPr>
          <a:xfrm>
            <a:off x="497890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337870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3378708" y="389534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354330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0</a:t>
            </a:r>
            <a:endParaRPr lang="en-US" sz="2400" dirty="0"/>
          </a:p>
        </p:txBody>
      </p:sp>
      <p:sp>
        <p:nvSpPr>
          <p:cNvPr id="53" name="Text 48"/>
          <p:cNvSpPr txBox="1"/>
          <p:nvPr/>
        </p:nvSpPr>
        <p:spPr>
          <a:xfrm>
            <a:off x="354330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traded</a:t>
            </a:r>
            <a:endParaRPr lang="en-US" sz="1050" dirty="0"/>
          </a:p>
        </p:txBody>
      </p:sp>
      <p:sp>
        <p:nvSpPr>
          <p:cNvPr id="54" name="Text 49"/>
          <p:cNvSpPr txBox="1"/>
          <p:nvPr/>
        </p:nvSpPr>
        <p:spPr>
          <a:xfrm>
            <a:off x="354330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Placed at least 1 trade</a:t>
            </a:r>
            <a:endParaRPr lang="en-US" sz="850" dirty="0"/>
          </a:p>
        </p:txBody>
      </p:sp>
      <p:sp>
        <p:nvSpPr>
          <p:cNvPr id="55" name="Text 50"/>
          <p:cNvSpPr txBox="1"/>
          <p:nvPr/>
        </p:nvSpPr>
        <p:spPr>
          <a:xfrm>
            <a:off x="497890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6" name="Shape 51"/>
          <p:cNvSpPr/>
          <p:nvPr/>
        </p:nvSpPr>
        <p:spPr>
          <a:xfrm>
            <a:off x="337870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3378708" y="499262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354330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0</a:t>
            </a:r>
            <a:endParaRPr lang="en-US" sz="2400" dirty="0"/>
          </a:p>
        </p:txBody>
      </p:sp>
      <p:sp>
        <p:nvSpPr>
          <p:cNvPr id="59" name="Text 54"/>
          <p:cNvSpPr txBox="1"/>
          <p:nvPr/>
        </p:nvSpPr>
        <p:spPr>
          <a:xfrm>
            <a:off x="354330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trades</a:t>
            </a:r>
            <a:endParaRPr lang="en-US" sz="1050" dirty="0"/>
          </a:p>
        </p:txBody>
      </p:sp>
      <p:sp>
        <p:nvSpPr>
          <p:cNvPr id="60" name="Text 55"/>
          <p:cNvSpPr txBox="1"/>
          <p:nvPr/>
        </p:nvSpPr>
        <p:spPr>
          <a:xfrm>
            <a:off x="354330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Executed across all users</a:t>
            </a:r>
            <a:endParaRPr lang="en-US" sz="850" dirty="0"/>
          </a:p>
        </p:txBody>
      </p:sp>
      <p:sp>
        <p:nvSpPr>
          <p:cNvPr id="61" name="Text 56"/>
          <p:cNvSpPr txBox="1"/>
          <p:nvPr/>
        </p:nvSpPr>
        <p:spPr>
          <a:xfrm>
            <a:off x="497890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62" name="Shape 57"/>
          <p:cNvSpPr/>
          <p:nvPr/>
        </p:nvSpPr>
        <p:spPr>
          <a:xfrm>
            <a:off x="6190488" y="1408176"/>
            <a:ext cx="45720" cy="1554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630021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KYC STATUS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619048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6190488" y="170078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635508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0</a:t>
            </a:r>
            <a:endParaRPr lang="en-US" sz="2400" dirty="0"/>
          </a:p>
        </p:txBody>
      </p:sp>
      <p:sp>
        <p:nvSpPr>
          <p:cNvPr id="67" name="Text 62"/>
          <p:cNvSpPr txBox="1"/>
          <p:nvPr/>
        </p:nvSpPr>
        <p:spPr>
          <a:xfrm>
            <a:off x="635508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onboarded</a:t>
            </a:r>
            <a:endParaRPr lang="en-US" sz="1050" dirty="0"/>
          </a:p>
        </p:txBody>
      </p:sp>
      <p:sp>
        <p:nvSpPr>
          <p:cNvPr id="68" name="Text 63"/>
          <p:cNvSpPr txBox="1"/>
          <p:nvPr/>
        </p:nvSpPr>
        <p:spPr>
          <a:xfrm>
            <a:off x="635508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Completed signup and verification</a:t>
            </a:r>
            <a:endParaRPr lang="en-US" sz="850" dirty="0"/>
          </a:p>
        </p:txBody>
      </p:sp>
      <p:sp>
        <p:nvSpPr>
          <p:cNvPr id="69" name="Text 64"/>
          <p:cNvSpPr txBox="1"/>
          <p:nvPr/>
        </p:nvSpPr>
        <p:spPr>
          <a:xfrm>
            <a:off x="779068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70" name="Shape 65"/>
          <p:cNvSpPr/>
          <p:nvPr/>
        </p:nvSpPr>
        <p:spPr>
          <a:xfrm>
            <a:off x="619048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6190488" y="279806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2" name="Text 67"/>
          <p:cNvSpPr txBox="1"/>
          <p:nvPr/>
        </p:nvSpPr>
        <p:spPr>
          <a:xfrm>
            <a:off x="635508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0</a:t>
            </a:r>
            <a:endParaRPr lang="en-US" sz="2400" dirty="0"/>
          </a:p>
        </p:txBody>
      </p:sp>
      <p:sp>
        <p:nvSpPr>
          <p:cNvPr id="73" name="Text 68"/>
          <p:cNvSpPr txBox="1"/>
          <p:nvPr/>
        </p:nvSpPr>
        <p:spPr>
          <a:xfrm>
            <a:off x="635508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Incomplete KYC</a:t>
            </a:r>
            <a:endParaRPr lang="en-US" sz="1050" dirty="0"/>
          </a:p>
        </p:txBody>
      </p:sp>
      <p:sp>
        <p:nvSpPr>
          <p:cNvPr id="74" name="Text 69"/>
          <p:cNvSpPr txBox="1"/>
          <p:nvPr/>
        </p:nvSpPr>
        <p:spPr>
          <a:xfrm>
            <a:off x="635508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Started KYC but did not proceed</a:t>
            </a:r>
            <a:endParaRPr lang="en-US" sz="850" dirty="0"/>
          </a:p>
        </p:txBody>
      </p:sp>
      <p:sp>
        <p:nvSpPr>
          <p:cNvPr id="75" name="Text 70"/>
          <p:cNvSpPr txBox="1"/>
          <p:nvPr/>
        </p:nvSpPr>
        <p:spPr>
          <a:xfrm>
            <a:off x="779068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-5</a:t>
            </a:r>
            <a:endParaRPr lang="en-US" sz="850" dirty="0"/>
          </a:p>
        </p:txBody>
      </p:sp>
      <p:sp>
        <p:nvSpPr>
          <p:cNvPr id="76" name="Shape 71"/>
          <p:cNvSpPr/>
          <p:nvPr/>
        </p:nvSpPr>
        <p:spPr>
          <a:xfrm>
            <a:off x="619048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6190488" y="389534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8" name="Text 73"/>
          <p:cNvSpPr txBox="1"/>
          <p:nvPr/>
        </p:nvSpPr>
        <p:spPr>
          <a:xfrm>
            <a:off x="635508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</a:t>
            </a:r>
            <a:endParaRPr lang="en-US" sz="2400" dirty="0"/>
          </a:p>
        </p:txBody>
      </p:sp>
      <p:sp>
        <p:nvSpPr>
          <p:cNvPr id="79" name="Text 74"/>
          <p:cNvSpPr txBox="1"/>
          <p:nvPr/>
        </p:nvSpPr>
        <p:spPr>
          <a:xfrm>
            <a:off x="635508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Rejected KYC</a:t>
            </a:r>
            <a:endParaRPr lang="en-US" sz="1050" dirty="0"/>
          </a:p>
        </p:txBody>
      </p:sp>
      <p:sp>
        <p:nvSpPr>
          <p:cNvPr id="80" name="Text 75"/>
          <p:cNvSpPr txBox="1"/>
          <p:nvPr/>
        </p:nvSpPr>
        <p:spPr>
          <a:xfrm>
            <a:off x="635508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Resubmission required</a:t>
            </a:r>
            <a:endParaRPr lang="en-US" sz="850" dirty="0"/>
          </a:p>
        </p:txBody>
      </p:sp>
      <p:sp>
        <p:nvSpPr>
          <p:cNvPr id="81" name="Text 76"/>
          <p:cNvSpPr txBox="1"/>
          <p:nvPr/>
        </p:nvSpPr>
        <p:spPr>
          <a:xfrm>
            <a:off x="779068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5303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</a:t>
            </a:r>
            <a:endParaRPr lang="en-US" sz="850" dirty="0"/>
          </a:p>
        </p:txBody>
      </p:sp>
      <p:sp>
        <p:nvSpPr>
          <p:cNvPr id="82" name="Shape 77"/>
          <p:cNvSpPr/>
          <p:nvPr/>
        </p:nvSpPr>
        <p:spPr>
          <a:xfrm>
            <a:off x="619048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6190488" y="499262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4" name="Text 79"/>
          <p:cNvSpPr txBox="1"/>
          <p:nvPr/>
        </p:nvSpPr>
        <p:spPr>
          <a:xfrm>
            <a:off x="635508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</a:t>
            </a:r>
            <a:endParaRPr lang="en-US" sz="2400" dirty="0"/>
          </a:p>
        </p:txBody>
      </p:sp>
      <p:sp>
        <p:nvSpPr>
          <p:cNvPr id="85" name="Text 80"/>
          <p:cNvSpPr txBox="1"/>
          <p:nvPr/>
        </p:nvSpPr>
        <p:spPr>
          <a:xfrm>
            <a:off x="635508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KYC applications</a:t>
            </a:r>
            <a:endParaRPr lang="en-US" sz="1050" dirty="0"/>
          </a:p>
        </p:txBody>
      </p:sp>
      <p:sp>
        <p:nvSpPr>
          <p:cNvPr id="86" name="Text 81"/>
          <p:cNvSpPr txBox="1"/>
          <p:nvPr/>
        </p:nvSpPr>
        <p:spPr>
          <a:xfrm>
            <a:off x="635508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Onboarded + incomplete + rejected</a:t>
            </a:r>
            <a:endParaRPr lang="en-US" sz="850" dirty="0"/>
          </a:p>
        </p:txBody>
      </p:sp>
      <p:sp>
        <p:nvSpPr>
          <p:cNvPr id="87" name="Shape 82"/>
          <p:cNvSpPr/>
          <p:nvPr/>
        </p:nvSpPr>
        <p:spPr>
          <a:xfrm>
            <a:off x="9002268" y="1408176"/>
            <a:ext cx="45720" cy="155448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88" name="Text 83"/>
          <p:cNvSpPr txBox="1"/>
          <p:nvPr/>
        </p:nvSpPr>
        <p:spPr>
          <a:xfrm>
            <a:off x="911199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SUPPORT TICKETS</a:t>
            </a:r>
            <a:endParaRPr lang="en-US" sz="900" dirty="0"/>
          </a:p>
        </p:txBody>
      </p:sp>
      <p:sp>
        <p:nvSpPr>
          <p:cNvPr id="89" name="Shape 84"/>
          <p:cNvSpPr/>
          <p:nvPr/>
        </p:nvSpPr>
        <p:spPr>
          <a:xfrm>
            <a:off x="900226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9002268" y="170078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1" name="Text 86"/>
          <p:cNvSpPr txBox="1"/>
          <p:nvPr/>
        </p:nvSpPr>
        <p:spPr>
          <a:xfrm>
            <a:off x="916686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0</a:t>
            </a:r>
            <a:endParaRPr lang="en-US" sz="2400" dirty="0"/>
          </a:p>
        </p:txBody>
      </p:sp>
      <p:sp>
        <p:nvSpPr>
          <p:cNvPr id="92" name="Text 87"/>
          <p:cNvSpPr txBox="1"/>
          <p:nvPr/>
        </p:nvSpPr>
        <p:spPr>
          <a:xfrm>
            <a:off x="916686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created</a:t>
            </a:r>
            <a:endParaRPr lang="en-US" sz="1050" dirty="0"/>
          </a:p>
        </p:txBody>
      </p:sp>
      <p:sp>
        <p:nvSpPr>
          <p:cNvPr id="93" name="Text 88"/>
          <p:cNvSpPr txBox="1"/>
          <p:nvPr/>
        </p:nvSpPr>
        <p:spPr>
          <a:xfrm>
            <a:off x="916686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94" name="Text 89"/>
          <p:cNvSpPr txBox="1"/>
          <p:nvPr/>
        </p:nvSpPr>
        <p:spPr>
          <a:xfrm>
            <a:off x="1060246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95" name="Shape 90"/>
          <p:cNvSpPr/>
          <p:nvPr/>
        </p:nvSpPr>
        <p:spPr>
          <a:xfrm>
            <a:off x="900226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9002268" y="279806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7" name="Text 92"/>
          <p:cNvSpPr txBox="1"/>
          <p:nvPr/>
        </p:nvSpPr>
        <p:spPr>
          <a:xfrm>
            <a:off x="916686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0</a:t>
            </a:r>
            <a:endParaRPr lang="en-US" sz="2400" dirty="0"/>
          </a:p>
        </p:txBody>
      </p:sp>
      <p:sp>
        <p:nvSpPr>
          <p:cNvPr id="98" name="Text 93"/>
          <p:cNvSpPr txBox="1"/>
          <p:nvPr/>
        </p:nvSpPr>
        <p:spPr>
          <a:xfrm>
            <a:off x="916686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resolved</a:t>
            </a:r>
            <a:endParaRPr lang="en-US" sz="1050" dirty="0"/>
          </a:p>
        </p:txBody>
      </p:sp>
      <p:sp>
        <p:nvSpPr>
          <p:cNvPr id="99" name="Text 94"/>
          <p:cNvSpPr txBox="1"/>
          <p:nvPr/>
        </p:nvSpPr>
        <p:spPr>
          <a:xfrm>
            <a:off x="916686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n/a of tickets created</a:t>
            </a:r>
            <a:endParaRPr lang="en-US" sz="850" dirty="0"/>
          </a:p>
        </p:txBody>
      </p:sp>
      <p:sp>
        <p:nvSpPr>
          <p:cNvPr id="100" name="Text 95"/>
          <p:cNvSpPr txBox="1"/>
          <p:nvPr/>
        </p:nvSpPr>
        <p:spPr>
          <a:xfrm>
            <a:off x="1060246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1" name="Shape 96"/>
          <p:cNvSpPr/>
          <p:nvPr/>
        </p:nvSpPr>
        <p:spPr>
          <a:xfrm>
            <a:off x="900226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9002268" y="389534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3" name="Text 98"/>
          <p:cNvSpPr txBox="1"/>
          <p:nvPr/>
        </p:nvSpPr>
        <p:spPr>
          <a:xfrm>
            <a:off x="916686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0</a:t>
            </a:r>
            <a:endParaRPr lang="en-US" sz="2400" dirty="0"/>
          </a:p>
        </p:txBody>
      </p:sp>
      <p:sp>
        <p:nvSpPr>
          <p:cNvPr id="104" name="Text 99"/>
          <p:cNvSpPr txBox="1"/>
          <p:nvPr/>
        </p:nvSpPr>
        <p:spPr>
          <a:xfrm>
            <a:off x="916686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Email queries</a:t>
            </a:r>
            <a:endParaRPr lang="en-US" sz="1050" dirty="0"/>
          </a:p>
        </p:txBody>
      </p:sp>
      <p:sp>
        <p:nvSpPr>
          <p:cNvPr id="105" name="Text 100"/>
          <p:cNvSpPr txBox="1"/>
          <p:nvPr/>
        </p:nvSpPr>
        <p:spPr>
          <a:xfrm>
            <a:off x="916686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06" name="Text 101"/>
          <p:cNvSpPr txBox="1"/>
          <p:nvPr/>
        </p:nvSpPr>
        <p:spPr>
          <a:xfrm>
            <a:off x="1060246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7" name="Shape 102"/>
          <p:cNvSpPr/>
          <p:nvPr/>
        </p:nvSpPr>
        <p:spPr>
          <a:xfrm>
            <a:off x="900226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9002268" y="499262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9" name="Text 104"/>
          <p:cNvSpPr txBox="1"/>
          <p:nvPr/>
        </p:nvSpPr>
        <p:spPr>
          <a:xfrm>
            <a:off x="916686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0</a:t>
            </a:r>
            <a:endParaRPr lang="en-US" sz="2400" dirty="0"/>
          </a:p>
        </p:txBody>
      </p:sp>
      <p:sp>
        <p:nvSpPr>
          <p:cNvPr id="110" name="Text 105"/>
          <p:cNvSpPr txBox="1"/>
          <p:nvPr/>
        </p:nvSpPr>
        <p:spPr>
          <a:xfrm>
            <a:off x="916686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AI support queries</a:t>
            </a:r>
            <a:endParaRPr lang="en-US" sz="1050" dirty="0"/>
          </a:p>
        </p:txBody>
      </p:sp>
      <p:sp>
        <p:nvSpPr>
          <p:cNvPr id="111" name="Text 106"/>
          <p:cNvSpPr txBox="1"/>
          <p:nvPr/>
        </p:nvSpPr>
        <p:spPr>
          <a:xfrm>
            <a:off x="916686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12" name="Text 107"/>
          <p:cNvSpPr txBox="1"/>
          <p:nvPr/>
        </p:nvSpPr>
        <p:spPr>
          <a:xfrm>
            <a:off x="1060246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atemIsa_202508993_IT9002_NLP_Project/emyaa-ceo-deck/working/charts/board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188720"/>
            <a:ext cx="12191695" cy="24689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66928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F3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PLATFORM ANALYTICS  |  PERFORMANCE DASHBOARD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57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 date: 24 May 2026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868680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6CFE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Reporting period: 21 May 2026 – 23 May 2026   |   Change on each card is against the previous report, 21 May 2026</a:t>
            </a:r>
            <a:endParaRPr lang="en-US" sz="1000" dirty="0"/>
          </a:p>
        </p:txBody>
      </p:sp>
      <p:pic>
        <p:nvPicPr>
          <p:cNvPr id="7" name="Image 1" descr="/home/user/HatemIsa_202508993_IT9002_NLP_Project/emyaa-ceo-deck/working/charts/ajy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02336"/>
            <a:ext cx="13258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" y="6272784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Source: eMYAA Daily Performance Dashboard, eMYAA_-_Daily_Performance_Dashboard-1.pdf, page 58. This report labels the money card 'Total Deposits'; later reports label the same measure 'Total AUM'.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eMYAA Trading Platform  |  Daily Performance Dashboard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9802368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61</a:t>
            </a:r>
            <a:endParaRPr lang="en-US" sz="800" dirty="0"/>
          </a:p>
        </p:txBody>
      </p:sp>
      <p:pic>
        <p:nvPicPr>
          <p:cNvPr id="11" name="Image 2" descr="/home/user/HatemIsa_202508993_IT9002_NLP_Project/emyaa-ceo-deck/working/charts/emyaa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6336792"/>
            <a:ext cx="1024128" cy="3657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66928" y="1408176"/>
            <a:ext cx="45720" cy="155448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665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DOWNLOADS &amp; RATINGS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6692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66928" y="170078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152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32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downloads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 Store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216712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+17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6692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66928" y="279806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3152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49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73152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downloads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73152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Apple App Store</a:t>
            </a:r>
            <a:endParaRPr lang="en-US" sz="850" dirty="0"/>
          </a:p>
        </p:txBody>
      </p:sp>
      <p:sp>
        <p:nvSpPr>
          <p:cNvPr id="25" name="Text 20"/>
          <p:cNvSpPr txBox="1"/>
          <p:nvPr/>
        </p:nvSpPr>
        <p:spPr>
          <a:xfrm>
            <a:off x="216712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+5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6692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66928" y="389534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3152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29" name="Text 24"/>
          <p:cNvSpPr txBox="1"/>
          <p:nvPr/>
        </p:nvSpPr>
        <p:spPr>
          <a:xfrm>
            <a:off x="73152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app rating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73152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Play, 2 reviews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56692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66928" y="499262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3152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34" name="Text 29"/>
          <p:cNvSpPr txBox="1"/>
          <p:nvPr/>
        </p:nvSpPr>
        <p:spPr>
          <a:xfrm>
            <a:off x="73152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app rating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73152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 Store, 2 reviews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3378708" y="1408176"/>
            <a:ext cx="45720" cy="155448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48843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 ACTIVITY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337870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3378708" y="170078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354330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0</a:t>
            </a:r>
            <a:endParaRPr lang="en-US" sz="2400" dirty="0"/>
          </a:p>
        </p:txBody>
      </p:sp>
      <p:sp>
        <p:nvSpPr>
          <p:cNvPr id="41" name="Text 36"/>
          <p:cNvSpPr txBox="1"/>
          <p:nvPr/>
        </p:nvSpPr>
        <p:spPr>
          <a:xfrm>
            <a:off x="354330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deposited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354330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Funded accounts</a:t>
            </a:r>
            <a:endParaRPr lang="en-US" sz="850" dirty="0"/>
          </a:p>
        </p:txBody>
      </p:sp>
      <p:sp>
        <p:nvSpPr>
          <p:cNvPr id="43" name="Text 38"/>
          <p:cNvSpPr txBox="1"/>
          <p:nvPr/>
        </p:nvSpPr>
        <p:spPr>
          <a:xfrm>
            <a:off x="497890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337870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3378708" y="279806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354330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$0.00</a:t>
            </a:r>
            <a:endParaRPr lang="en-US" sz="2400" dirty="0"/>
          </a:p>
        </p:txBody>
      </p:sp>
      <p:sp>
        <p:nvSpPr>
          <p:cNvPr id="47" name="Text 42"/>
          <p:cNvSpPr txBox="1"/>
          <p:nvPr/>
        </p:nvSpPr>
        <p:spPr>
          <a:xfrm>
            <a:off x="354330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deposits</a:t>
            </a:r>
            <a:endParaRPr lang="en-US" sz="1050" dirty="0"/>
          </a:p>
        </p:txBody>
      </p:sp>
      <p:sp>
        <p:nvSpPr>
          <p:cNvPr id="48" name="Text 43"/>
          <p:cNvSpPr txBox="1"/>
          <p:nvPr/>
        </p:nvSpPr>
        <p:spPr>
          <a:xfrm>
            <a:off x="354330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Cumulative platform deposits</a:t>
            </a:r>
            <a:endParaRPr lang="en-US" sz="850" dirty="0"/>
          </a:p>
        </p:txBody>
      </p:sp>
      <p:sp>
        <p:nvSpPr>
          <p:cNvPr id="49" name="Text 44"/>
          <p:cNvSpPr txBox="1"/>
          <p:nvPr/>
        </p:nvSpPr>
        <p:spPr>
          <a:xfrm>
            <a:off x="497890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337870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3378708" y="389534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354330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0</a:t>
            </a:r>
            <a:endParaRPr lang="en-US" sz="2400" dirty="0"/>
          </a:p>
        </p:txBody>
      </p:sp>
      <p:sp>
        <p:nvSpPr>
          <p:cNvPr id="53" name="Text 48"/>
          <p:cNvSpPr txBox="1"/>
          <p:nvPr/>
        </p:nvSpPr>
        <p:spPr>
          <a:xfrm>
            <a:off x="354330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traded</a:t>
            </a:r>
            <a:endParaRPr lang="en-US" sz="1050" dirty="0"/>
          </a:p>
        </p:txBody>
      </p:sp>
      <p:sp>
        <p:nvSpPr>
          <p:cNvPr id="54" name="Text 49"/>
          <p:cNvSpPr txBox="1"/>
          <p:nvPr/>
        </p:nvSpPr>
        <p:spPr>
          <a:xfrm>
            <a:off x="354330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Placed at least 1 trade</a:t>
            </a:r>
            <a:endParaRPr lang="en-US" sz="850" dirty="0"/>
          </a:p>
        </p:txBody>
      </p:sp>
      <p:sp>
        <p:nvSpPr>
          <p:cNvPr id="55" name="Text 50"/>
          <p:cNvSpPr txBox="1"/>
          <p:nvPr/>
        </p:nvSpPr>
        <p:spPr>
          <a:xfrm>
            <a:off x="497890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6" name="Shape 51"/>
          <p:cNvSpPr/>
          <p:nvPr/>
        </p:nvSpPr>
        <p:spPr>
          <a:xfrm>
            <a:off x="337870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3378708" y="499262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354330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0</a:t>
            </a:r>
            <a:endParaRPr lang="en-US" sz="2400" dirty="0"/>
          </a:p>
        </p:txBody>
      </p:sp>
      <p:sp>
        <p:nvSpPr>
          <p:cNvPr id="59" name="Text 54"/>
          <p:cNvSpPr txBox="1"/>
          <p:nvPr/>
        </p:nvSpPr>
        <p:spPr>
          <a:xfrm>
            <a:off x="354330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trades</a:t>
            </a:r>
            <a:endParaRPr lang="en-US" sz="1050" dirty="0"/>
          </a:p>
        </p:txBody>
      </p:sp>
      <p:sp>
        <p:nvSpPr>
          <p:cNvPr id="60" name="Text 55"/>
          <p:cNvSpPr txBox="1"/>
          <p:nvPr/>
        </p:nvSpPr>
        <p:spPr>
          <a:xfrm>
            <a:off x="354330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Executed across all users</a:t>
            </a:r>
            <a:endParaRPr lang="en-US" sz="850" dirty="0"/>
          </a:p>
        </p:txBody>
      </p:sp>
      <p:sp>
        <p:nvSpPr>
          <p:cNvPr id="61" name="Text 56"/>
          <p:cNvSpPr txBox="1"/>
          <p:nvPr/>
        </p:nvSpPr>
        <p:spPr>
          <a:xfrm>
            <a:off x="497890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62" name="Shape 57"/>
          <p:cNvSpPr/>
          <p:nvPr/>
        </p:nvSpPr>
        <p:spPr>
          <a:xfrm>
            <a:off x="6190488" y="1408176"/>
            <a:ext cx="45720" cy="1554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630021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KYC STATUS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619048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6190488" y="170078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635508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0</a:t>
            </a:r>
            <a:endParaRPr lang="en-US" sz="2400" dirty="0"/>
          </a:p>
        </p:txBody>
      </p:sp>
      <p:sp>
        <p:nvSpPr>
          <p:cNvPr id="67" name="Text 62"/>
          <p:cNvSpPr txBox="1"/>
          <p:nvPr/>
        </p:nvSpPr>
        <p:spPr>
          <a:xfrm>
            <a:off x="635508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onboarded</a:t>
            </a:r>
            <a:endParaRPr lang="en-US" sz="1050" dirty="0"/>
          </a:p>
        </p:txBody>
      </p:sp>
      <p:sp>
        <p:nvSpPr>
          <p:cNvPr id="68" name="Text 63"/>
          <p:cNvSpPr txBox="1"/>
          <p:nvPr/>
        </p:nvSpPr>
        <p:spPr>
          <a:xfrm>
            <a:off x="635508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Completed signup and verification</a:t>
            </a:r>
            <a:endParaRPr lang="en-US" sz="850" dirty="0"/>
          </a:p>
        </p:txBody>
      </p:sp>
      <p:sp>
        <p:nvSpPr>
          <p:cNvPr id="69" name="Text 64"/>
          <p:cNvSpPr txBox="1"/>
          <p:nvPr/>
        </p:nvSpPr>
        <p:spPr>
          <a:xfrm>
            <a:off x="779068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70" name="Shape 65"/>
          <p:cNvSpPr/>
          <p:nvPr/>
        </p:nvSpPr>
        <p:spPr>
          <a:xfrm>
            <a:off x="619048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6190488" y="279806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2" name="Text 67"/>
          <p:cNvSpPr txBox="1"/>
          <p:nvPr/>
        </p:nvSpPr>
        <p:spPr>
          <a:xfrm>
            <a:off x="635508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</a:t>
            </a:r>
            <a:endParaRPr lang="en-US" sz="2400" dirty="0"/>
          </a:p>
        </p:txBody>
      </p:sp>
      <p:sp>
        <p:nvSpPr>
          <p:cNvPr id="73" name="Text 68"/>
          <p:cNvSpPr txBox="1"/>
          <p:nvPr/>
        </p:nvSpPr>
        <p:spPr>
          <a:xfrm>
            <a:off x="635508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Incomplete KYC</a:t>
            </a:r>
            <a:endParaRPr lang="en-US" sz="1050" dirty="0"/>
          </a:p>
        </p:txBody>
      </p:sp>
      <p:sp>
        <p:nvSpPr>
          <p:cNvPr id="74" name="Text 69"/>
          <p:cNvSpPr txBox="1"/>
          <p:nvPr/>
        </p:nvSpPr>
        <p:spPr>
          <a:xfrm>
            <a:off x="635508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Started KYC but did not proceed</a:t>
            </a:r>
            <a:endParaRPr lang="en-US" sz="850" dirty="0"/>
          </a:p>
        </p:txBody>
      </p:sp>
      <p:sp>
        <p:nvSpPr>
          <p:cNvPr id="75" name="Text 70"/>
          <p:cNvSpPr txBox="1"/>
          <p:nvPr/>
        </p:nvSpPr>
        <p:spPr>
          <a:xfrm>
            <a:off x="779068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5303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+5</a:t>
            </a:r>
            <a:endParaRPr lang="en-US" sz="850" dirty="0"/>
          </a:p>
        </p:txBody>
      </p:sp>
      <p:sp>
        <p:nvSpPr>
          <p:cNvPr id="76" name="Shape 71"/>
          <p:cNvSpPr/>
          <p:nvPr/>
        </p:nvSpPr>
        <p:spPr>
          <a:xfrm>
            <a:off x="619048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6190488" y="389534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8" name="Text 73"/>
          <p:cNvSpPr txBox="1"/>
          <p:nvPr/>
        </p:nvSpPr>
        <p:spPr>
          <a:xfrm>
            <a:off x="635508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0</a:t>
            </a:r>
            <a:endParaRPr lang="en-US" sz="2400" dirty="0"/>
          </a:p>
        </p:txBody>
      </p:sp>
      <p:sp>
        <p:nvSpPr>
          <p:cNvPr id="79" name="Text 74"/>
          <p:cNvSpPr txBox="1"/>
          <p:nvPr/>
        </p:nvSpPr>
        <p:spPr>
          <a:xfrm>
            <a:off x="635508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Rejected KYC</a:t>
            </a:r>
            <a:endParaRPr lang="en-US" sz="1050" dirty="0"/>
          </a:p>
        </p:txBody>
      </p:sp>
      <p:sp>
        <p:nvSpPr>
          <p:cNvPr id="80" name="Text 75"/>
          <p:cNvSpPr txBox="1"/>
          <p:nvPr/>
        </p:nvSpPr>
        <p:spPr>
          <a:xfrm>
            <a:off x="635508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Resubmission required</a:t>
            </a:r>
            <a:endParaRPr lang="en-US" sz="850" dirty="0"/>
          </a:p>
        </p:txBody>
      </p:sp>
      <p:sp>
        <p:nvSpPr>
          <p:cNvPr id="81" name="Text 76"/>
          <p:cNvSpPr txBox="1"/>
          <p:nvPr/>
        </p:nvSpPr>
        <p:spPr>
          <a:xfrm>
            <a:off x="779068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82" name="Shape 77"/>
          <p:cNvSpPr/>
          <p:nvPr/>
        </p:nvSpPr>
        <p:spPr>
          <a:xfrm>
            <a:off x="619048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6190488" y="499262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4" name="Text 79"/>
          <p:cNvSpPr txBox="1"/>
          <p:nvPr/>
        </p:nvSpPr>
        <p:spPr>
          <a:xfrm>
            <a:off x="635508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</a:t>
            </a:r>
            <a:endParaRPr lang="en-US" sz="2400" dirty="0"/>
          </a:p>
        </p:txBody>
      </p:sp>
      <p:sp>
        <p:nvSpPr>
          <p:cNvPr id="85" name="Text 80"/>
          <p:cNvSpPr txBox="1"/>
          <p:nvPr/>
        </p:nvSpPr>
        <p:spPr>
          <a:xfrm>
            <a:off x="635508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KYC applications</a:t>
            </a:r>
            <a:endParaRPr lang="en-US" sz="1050" dirty="0"/>
          </a:p>
        </p:txBody>
      </p:sp>
      <p:sp>
        <p:nvSpPr>
          <p:cNvPr id="86" name="Text 81"/>
          <p:cNvSpPr txBox="1"/>
          <p:nvPr/>
        </p:nvSpPr>
        <p:spPr>
          <a:xfrm>
            <a:off x="635508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Onboarded + incomplete + rejected</a:t>
            </a:r>
            <a:endParaRPr lang="en-US" sz="850" dirty="0"/>
          </a:p>
        </p:txBody>
      </p:sp>
      <p:sp>
        <p:nvSpPr>
          <p:cNvPr id="87" name="Shape 82"/>
          <p:cNvSpPr/>
          <p:nvPr/>
        </p:nvSpPr>
        <p:spPr>
          <a:xfrm>
            <a:off x="9002268" y="1408176"/>
            <a:ext cx="45720" cy="155448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88" name="Text 83"/>
          <p:cNvSpPr txBox="1"/>
          <p:nvPr/>
        </p:nvSpPr>
        <p:spPr>
          <a:xfrm>
            <a:off x="911199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SUPPORT TICKETS</a:t>
            </a:r>
            <a:endParaRPr lang="en-US" sz="900" dirty="0"/>
          </a:p>
        </p:txBody>
      </p:sp>
      <p:sp>
        <p:nvSpPr>
          <p:cNvPr id="89" name="Shape 84"/>
          <p:cNvSpPr/>
          <p:nvPr/>
        </p:nvSpPr>
        <p:spPr>
          <a:xfrm>
            <a:off x="900226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9002268" y="170078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1" name="Text 86"/>
          <p:cNvSpPr txBox="1"/>
          <p:nvPr/>
        </p:nvSpPr>
        <p:spPr>
          <a:xfrm>
            <a:off x="916686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0</a:t>
            </a:r>
            <a:endParaRPr lang="en-US" sz="2400" dirty="0"/>
          </a:p>
        </p:txBody>
      </p:sp>
      <p:sp>
        <p:nvSpPr>
          <p:cNvPr id="92" name="Text 87"/>
          <p:cNvSpPr txBox="1"/>
          <p:nvPr/>
        </p:nvSpPr>
        <p:spPr>
          <a:xfrm>
            <a:off x="916686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created</a:t>
            </a:r>
            <a:endParaRPr lang="en-US" sz="1050" dirty="0"/>
          </a:p>
        </p:txBody>
      </p:sp>
      <p:sp>
        <p:nvSpPr>
          <p:cNvPr id="93" name="Text 88"/>
          <p:cNvSpPr txBox="1"/>
          <p:nvPr/>
        </p:nvSpPr>
        <p:spPr>
          <a:xfrm>
            <a:off x="916686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94" name="Text 89"/>
          <p:cNvSpPr txBox="1"/>
          <p:nvPr/>
        </p:nvSpPr>
        <p:spPr>
          <a:xfrm>
            <a:off x="1060246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-1</a:t>
            </a:r>
            <a:endParaRPr lang="en-US" sz="850" dirty="0"/>
          </a:p>
        </p:txBody>
      </p:sp>
      <p:sp>
        <p:nvSpPr>
          <p:cNvPr id="95" name="Shape 90"/>
          <p:cNvSpPr/>
          <p:nvPr/>
        </p:nvSpPr>
        <p:spPr>
          <a:xfrm>
            <a:off x="900226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9002268" y="279806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7" name="Text 92"/>
          <p:cNvSpPr txBox="1"/>
          <p:nvPr/>
        </p:nvSpPr>
        <p:spPr>
          <a:xfrm>
            <a:off x="916686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0</a:t>
            </a:r>
            <a:endParaRPr lang="en-US" sz="2400" dirty="0"/>
          </a:p>
        </p:txBody>
      </p:sp>
      <p:sp>
        <p:nvSpPr>
          <p:cNvPr id="98" name="Text 93"/>
          <p:cNvSpPr txBox="1"/>
          <p:nvPr/>
        </p:nvSpPr>
        <p:spPr>
          <a:xfrm>
            <a:off x="916686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resolved</a:t>
            </a:r>
            <a:endParaRPr lang="en-US" sz="1050" dirty="0"/>
          </a:p>
        </p:txBody>
      </p:sp>
      <p:sp>
        <p:nvSpPr>
          <p:cNvPr id="99" name="Text 94"/>
          <p:cNvSpPr txBox="1"/>
          <p:nvPr/>
        </p:nvSpPr>
        <p:spPr>
          <a:xfrm>
            <a:off x="916686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n/a of tickets created</a:t>
            </a:r>
            <a:endParaRPr lang="en-US" sz="850" dirty="0"/>
          </a:p>
        </p:txBody>
      </p:sp>
      <p:sp>
        <p:nvSpPr>
          <p:cNvPr id="100" name="Text 95"/>
          <p:cNvSpPr txBox="1"/>
          <p:nvPr/>
        </p:nvSpPr>
        <p:spPr>
          <a:xfrm>
            <a:off x="1060246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-1</a:t>
            </a:r>
            <a:endParaRPr lang="en-US" sz="850" dirty="0"/>
          </a:p>
        </p:txBody>
      </p:sp>
      <p:sp>
        <p:nvSpPr>
          <p:cNvPr id="101" name="Shape 96"/>
          <p:cNvSpPr/>
          <p:nvPr/>
        </p:nvSpPr>
        <p:spPr>
          <a:xfrm>
            <a:off x="900226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9002268" y="389534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3" name="Text 98"/>
          <p:cNvSpPr txBox="1"/>
          <p:nvPr/>
        </p:nvSpPr>
        <p:spPr>
          <a:xfrm>
            <a:off x="916686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0</a:t>
            </a:r>
            <a:endParaRPr lang="en-US" sz="2400" dirty="0"/>
          </a:p>
        </p:txBody>
      </p:sp>
      <p:sp>
        <p:nvSpPr>
          <p:cNvPr id="104" name="Text 99"/>
          <p:cNvSpPr txBox="1"/>
          <p:nvPr/>
        </p:nvSpPr>
        <p:spPr>
          <a:xfrm>
            <a:off x="916686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Email queries</a:t>
            </a:r>
            <a:endParaRPr lang="en-US" sz="1050" dirty="0"/>
          </a:p>
        </p:txBody>
      </p:sp>
      <p:sp>
        <p:nvSpPr>
          <p:cNvPr id="105" name="Text 100"/>
          <p:cNvSpPr txBox="1"/>
          <p:nvPr/>
        </p:nvSpPr>
        <p:spPr>
          <a:xfrm>
            <a:off x="916686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06" name="Text 101"/>
          <p:cNvSpPr txBox="1"/>
          <p:nvPr/>
        </p:nvSpPr>
        <p:spPr>
          <a:xfrm>
            <a:off x="1060246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107" name="Shape 102"/>
          <p:cNvSpPr/>
          <p:nvPr/>
        </p:nvSpPr>
        <p:spPr>
          <a:xfrm>
            <a:off x="900226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9002268" y="499262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9" name="Text 104"/>
          <p:cNvSpPr txBox="1"/>
          <p:nvPr/>
        </p:nvSpPr>
        <p:spPr>
          <a:xfrm>
            <a:off x="916686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0</a:t>
            </a:r>
            <a:endParaRPr lang="en-US" sz="2400" dirty="0"/>
          </a:p>
        </p:txBody>
      </p:sp>
      <p:sp>
        <p:nvSpPr>
          <p:cNvPr id="110" name="Text 105"/>
          <p:cNvSpPr txBox="1"/>
          <p:nvPr/>
        </p:nvSpPr>
        <p:spPr>
          <a:xfrm>
            <a:off x="916686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AI support queries</a:t>
            </a:r>
            <a:endParaRPr lang="en-US" sz="1050" dirty="0"/>
          </a:p>
        </p:txBody>
      </p:sp>
      <p:sp>
        <p:nvSpPr>
          <p:cNvPr id="111" name="Text 106"/>
          <p:cNvSpPr txBox="1"/>
          <p:nvPr/>
        </p:nvSpPr>
        <p:spPr>
          <a:xfrm>
            <a:off x="916686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12" name="Text 107"/>
          <p:cNvSpPr txBox="1"/>
          <p:nvPr/>
        </p:nvSpPr>
        <p:spPr>
          <a:xfrm>
            <a:off x="1060246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-1</a:t>
            </a:r>
            <a:endParaRPr lang="en-US" sz="8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atemIsa_202508993_IT9002_NLP_Project/emyaa-ceo-deck/working/charts/board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188720"/>
            <a:ext cx="12191695" cy="24689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66928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F3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PLATFORM ANALYTICS  |  PERFORMANCE DASHBOARD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57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 date: 21 May 2026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868680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6CFE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Reporting period: 20 May 2026   |   Change on each card is against the previous report, 20 May 2026</a:t>
            </a:r>
            <a:endParaRPr lang="en-US" sz="1000" dirty="0"/>
          </a:p>
        </p:txBody>
      </p:sp>
      <p:pic>
        <p:nvPicPr>
          <p:cNvPr id="7" name="Image 1" descr="/home/user/HatemIsa_202508993_IT9002_NLP_Project/emyaa-ceo-deck/working/charts/ajy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02336"/>
            <a:ext cx="13258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" y="6272784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Source: eMYAA Daily Performance Dashboard, eMYAA_-_Daily_Performance_Dashboard-1.pdf, page 59. This report labels the money card 'Total Deposits'; later reports label the same measure 'Total AUM'.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eMYAA Trading Platform  |  Daily Performance Dashboard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9802368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62</a:t>
            </a:r>
            <a:endParaRPr lang="en-US" sz="800" dirty="0"/>
          </a:p>
        </p:txBody>
      </p:sp>
      <p:pic>
        <p:nvPicPr>
          <p:cNvPr id="11" name="Image 2" descr="/home/user/HatemIsa_202508993_IT9002_NLP_Project/emyaa-ceo-deck/working/charts/emyaa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6336792"/>
            <a:ext cx="1024128" cy="3657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66928" y="1408176"/>
            <a:ext cx="45720" cy="155448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665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DOWNLOADS &amp; RATINGS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6692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66928" y="170078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152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15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downloads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 Store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216712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6692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66928" y="279806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3152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44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73152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downloads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73152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Apple App Store</a:t>
            </a:r>
            <a:endParaRPr lang="en-US" sz="850" dirty="0"/>
          </a:p>
        </p:txBody>
      </p:sp>
      <p:sp>
        <p:nvSpPr>
          <p:cNvPr id="25" name="Text 20"/>
          <p:cNvSpPr txBox="1"/>
          <p:nvPr/>
        </p:nvSpPr>
        <p:spPr>
          <a:xfrm>
            <a:off x="216712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+2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6692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66928" y="389534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3152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29" name="Text 24"/>
          <p:cNvSpPr txBox="1"/>
          <p:nvPr/>
        </p:nvSpPr>
        <p:spPr>
          <a:xfrm>
            <a:off x="73152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app rating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73152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Play, 2 reviews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56692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66928" y="499262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3152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34" name="Text 29"/>
          <p:cNvSpPr txBox="1"/>
          <p:nvPr/>
        </p:nvSpPr>
        <p:spPr>
          <a:xfrm>
            <a:off x="73152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app rating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73152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 Store, 2 reviews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3378708" y="1408176"/>
            <a:ext cx="45720" cy="155448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48843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 ACTIVITY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337870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3378708" y="170078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354330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0</a:t>
            </a:r>
            <a:endParaRPr lang="en-US" sz="2400" dirty="0"/>
          </a:p>
        </p:txBody>
      </p:sp>
      <p:sp>
        <p:nvSpPr>
          <p:cNvPr id="41" name="Text 36"/>
          <p:cNvSpPr txBox="1"/>
          <p:nvPr/>
        </p:nvSpPr>
        <p:spPr>
          <a:xfrm>
            <a:off x="354330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deposited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354330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Funded accounts</a:t>
            </a:r>
            <a:endParaRPr lang="en-US" sz="850" dirty="0"/>
          </a:p>
        </p:txBody>
      </p:sp>
      <p:sp>
        <p:nvSpPr>
          <p:cNvPr id="43" name="Text 38"/>
          <p:cNvSpPr txBox="1"/>
          <p:nvPr/>
        </p:nvSpPr>
        <p:spPr>
          <a:xfrm>
            <a:off x="497890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5303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-1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337870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3378708" y="279806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354330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$0.00</a:t>
            </a:r>
            <a:endParaRPr lang="en-US" sz="2400" dirty="0"/>
          </a:p>
        </p:txBody>
      </p:sp>
      <p:sp>
        <p:nvSpPr>
          <p:cNvPr id="47" name="Text 42"/>
          <p:cNvSpPr txBox="1"/>
          <p:nvPr/>
        </p:nvSpPr>
        <p:spPr>
          <a:xfrm>
            <a:off x="354330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deposits</a:t>
            </a:r>
            <a:endParaRPr lang="en-US" sz="1050" dirty="0"/>
          </a:p>
        </p:txBody>
      </p:sp>
      <p:sp>
        <p:nvSpPr>
          <p:cNvPr id="48" name="Text 43"/>
          <p:cNvSpPr txBox="1"/>
          <p:nvPr/>
        </p:nvSpPr>
        <p:spPr>
          <a:xfrm>
            <a:off x="354330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Cumulative platform deposits</a:t>
            </a:r>
            <a:endParaRPr lang="en-US" sz="850" dirty="0"/>
          </a:p>
        </p:txBody>
      </p:sp>
      <p:sp>
        <p:nvSpPr>
          <p:cNvPr id="49" name="Text 44"/>
          <p:cNvSpPr txBox="1"/>
          <p:nvPr/>
        </p:nvSpPr>
        <p:spPr>
          <a:xfrm>
            <a:off x="497890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5303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-$0.99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337870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3378708" y="389534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354330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0</a:t>
            </a:r>
            <a:endParaRPr lang="en-US" sz="2400" dirty="0"/>
          </a:p>
        </p:txBody>
      </p:sp>
      <p:sp>
        <p:nvSpPr>
          <p:cNvPr id="53" name="Text 48"/>
          <p:cNvSpPr txBox="1"/>
          <p:nvPr/>
        </p:nvSpPr>
        <p:spPr>
          <a:xfrm>
            <a:off x="354330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traded</a:t>
            </a:r>
            <a:endParaRPr lang="en-US" sz="1050" dirty="0"/>
          </a:p>
        </p:txBody>
      </p:sp>
      <p:sp>
        <p:nvSpPr>
          <p:cNvPr id="54" name="Text 49"/>
          <p:cNvSpPr txBox="1"/>
          <p:nvPr/>
        </p:nvSpPr>
        <p:spPr>
          <a:xfrm>
            <a:off x="354330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Placed at least 1 trade</a:t>
            </a:r>
            <a:endParaRPr lang="en-US" sz="850" dirty="0"/>
          </a:p>
        </p:txBody>
      </p:sp>
      <p:sp>
        <p:nvSpPr>
          <p:cNvPr id="55" name="Text 50"/>
          <p:cNvSpPr txBox="1"/>
          <p:nvPr/>
        </p:nvSpPr>
        <p:spPr>
          <a:xfrm>
            <a:off x="497890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56" name="Shape 51"/>
          <p:cNvSpPr/>
          <p:nvPr/>
        </p:nvSpPr>
        <p:spPr>
          <a:xfrm>
            <a:off x="337870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3378708" y="499262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354330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0</a:t>
            </a:r>
            <a:endParaRPr lang="en-US" sz="2400" dirty="0"/>
          </a:p>
        </p:txBody>
      </p:sp>
      <p:sp>
        <p:nvSpPr>
          <p:cNvPr id="59" name="Text 54"/>
          <p:cNvSpPr txBox="1"/>
          <p:nvPr/>
        </p:nvSpPr>
        <p:spPr>
          <a:xfrm>
            <a:off x="354330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trades</a:t>
            </a:r>
            <a:endParaRPr lang="en-US" sz="1050" dirty="0"/>
          </a:p>
        </p:txBody>
      </p:sp>
      <p:sp>
        <p:nvSpPr>
          <p:cNvPr id="60" name="Text 55"/>
          <p:cNvSpPr txBox="1"/>
          <p:nvPr/>
        </p:nvSpPr>
        <p:spPr>
          <a:xfrm>
            <a:off x="354330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Executed across all users</a:t>
            </a:r>
            <a:endParaRPr lang="en-US" sz="850" dirty="0"/>
          </a:p>
        </p:txBody>
      </p:sp>
      <p:sp>
        <p:nvSpPr>
          <p:cNvPr id="61" name="Text 56"/>
          <p:cNvSpPr txBox="1"/>
          <p:nvPr/>
        </p:nvSpPr>
        <p:spPr>
          <a:xfrm>
            <a:off x="497890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change</a:t>
            </a:r>
            <a:endParaRPr lang="en-US" sz="850" dirty="0"/>
          </a:p>
        </p:txBody>
      </p:sp>
      <p:sp>
        <p:nvSpPr>
          <p:cNvPr id="62" name="Shape 57"/>
          <p:cNvSpPr/>
          <p:nvPr/>
        </p:nvSpPr>
        <p:spPr>
          <a:xfrm>
            <a:off x="6190488" y="1408176"/>
            <a:ext cx="45720" cy="1554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630021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KYC STATUS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619048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6190488" y="170078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635508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0</a:t>
            </a:r>
            <a:endParaRPr lang="en-US" sz="2400" dirty="0"/>
          </a:p>
        </p:txBody>
      </p:sp>
      <p:sp>
        <p:nvSpPr>
          <p:cNvPr id="67" name="Text 62"/>
          <p:cNvSpPr txBox="1"/>
          <p:nvPr/>
        </p:nvSpPr>
        <p:spPr>
          <a:xfrm>
            <a:off x="635508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onboarded</a:t>
            </a:r>
            <a:endParaRPr lang="en-US" sz="1050" dirty="0"/>
          </a:p>
        </p:txBody>
      </p:sp>
      <p:sp>
        <p:nvSpPr>
          <p:cNvPr id="68" name="Text 63"/>
          <p:cNvSpPr txBox="1"/>
          <p:nvPr/>
        </p:nvSpPr>
        <p:spPr>
          <a:xfrm>
            <a:off x="635508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Completed signup and verification</a:t>
            </a:r>
            <a:endParaRPr lang="en-US" sz="850" dirty="0"/>
          </a:p>
        </p:txBody>
      </p:sp>
      <p:sp>
        <p:nvSpPr>
          <p:cNvPr id="69" name="Text 64"/>
          <p:cNvSpPr txBox="1"/>
          <p:nvPr/>
        </p:nvSpPr>
        <p:spPr>
          <a:xfrm>
            <a:off x="779068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5303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-4</a:t>
            </a:r>
            <a:endParaRPr lang="en-US" sz="850" dirty="0"/>
          </a:p>
        </p:txBody>
      </p:sp>
      <p:sp>
        <p:nvSpPr>
          <p:cNvPr id="70" name="Shape 65"/>
          <p:cNvSpPr/>
          <p:nvPr/>
        </p:nvSpPr>
        <p:spPr>
          <a:xfrm>
            <a:off x="619048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6190488" y="279806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2" name="Text 67"/>
          <p:cNvSpPr txBox="1"/>
          <p:nvPr/>
        </p:nvSpPr>
        <p:spPr>
          <a:xfrm>
            <a:off x="635508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0</a:t>
            </a:r>
            <a:endParaRPr lang="en-US" sz="2400" dirty="0"/>
          </a:p>
        </p:txBody>
      </p:sp>
      <p:sp>
        <p:nvSpPr>
          <p:cNvPr id="73" name="Text 68"/>
          <p:cNvSpPr txBox="1"/>
          <p:nvPr/>
        </p:nvSpPr>
        <p:spPr>
          <a:xfrm>
            <a:off x="635508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Incomplete KYC</a:t>
            </a:r>
            <a:endParaRPr lang="en-US" sz="1050" dirty="0"/>
          </a:p>
        </p:txBody>
      </p:sp>
      <p:sp>
        <p:nvSpPr>
          <p:cNvPr id="74" name="Text 69"/>
          <p:cNvSpPr txBox="1"/>
          <p:nvPr/>
        </p:nvSpPr>
        <p:spPr>
          <a:xfrm>
            <a:off x="635508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Started KYC but did not proceed</a:t>
            </a:r>
            <a:endParaRPr lang="en-US" sz="850" dirty="0"/>
          </a:p>
        </p:txBody>
      </p:sp>
      <p:sp>
        <p:nvSpPr>
          <p:cNvPr id="75" name="Text 70"/>
          <p:cNvSpPr txBox="1"/>
          <p:nvPr/>
        </p:nvSpPr>
        <p:spPr>
          <a:xfrm>
            <a:off x="779068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-6</a:t>
            </a:r>
            <a:endParaRPr lang="en-US" sz="850" dirty="0"/>
          </a:p>
        </p:txBody>
      </p:sp>
      <p:sp>
        <p:nvSpPr>
          <p:cNvPr id="76" name="Shape 71"/>
          <p:cNvSpPr/>
          <p:nvPr/>
        </p:nvSpPr>
        <p:spPr>
          <a:xfrm>
            <a:off x="619048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6190488" y="389534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8" name="Text 73"/>
          <p:cNvSpPr txBox="1"/>
          <p:nvPr/>
        </p:nvSpPr>
        <p:spPr>
          <a:xfrm>
            <a:off x="635508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0</a:t>
            </a:r>
            <a:endParaRPr lang="en-US" sz="2400" dirty="0"/>
          </a:p>
        </p:txBody>
      </p:sp>
      <p:sp>
        <p:nvSpPr>
          <p:cNvPr id="79" name="Text 74"/>
          <p:cNvSpPr txBox="1"/>
          <p:nvPr/>
        </p:nvSpPr>
        <p:spPr>
          <a:xfrm>
            <a:off x="635508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Rejected KYC</a:t>
            </a:r>
            <a:endParaRPr lang="en-US" sz="1050" dirty="0"/>
          </a:p>
        </p:txBody>
      </p:sp>
      <p:sp>
        <p:nvSpPr>
          <p:cNvPr id="80" name="Text 75"/>
          <p:cNvSpPr txBox="1"/>
          <p:nvPr/>
        </p:nvSpPr>
        <p:spPr>
          <a:xfrm>
            <a:off x="635508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Resubmission required</a:t>
            </a:r>
            <a:endParaRPr lang="en-US" sz="850" dirty="0"/>
          </a:p>
        </p:txBody>
      </p:sp>
      <p:sp>
        <p:nvSpPr>
          <p:cNvPr id="81" name="Text 76"/>
          <p:cNvSpPr txBox="1"/>
          <p:nvPr/>
        </p:nvSpPr>
        <p:spPr>
          <a:xfrm>
            <a:off x="779068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A97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-8</a:t>
            </a:r>
            <a:endParaRPr lang="en-US" sz="850" dirty="0"/>
          </a:p>
        </p:txBody>
      </p:sp>
      <p:sp>
        <p:nvSpPr>
          <p:cNvPr id="82" name="Shape 77"/>
          <p:cNvSpPr/>
          <p:nvPr/>
        </p:nvSpPr>
        <p:spPr>
          <a:xfrm>
            <a:off x="619048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6190488" y="499262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4" name="Text 79"/>
          <p:cNvSpPr txBox="1"/>
          <p:nvPr/>
        </p:nvSpPr>
        <p:spPr>
          <a:xfrm>
            <a:off x="635508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0</a:t>
            </a:r>
            <a:endParaRPr lang="en-US" sz="2400" dirty="0"/>
          </a:p>
        </p:txBody>
      </p:sp>
      <p:sp>
        <p:nvSpPr>
          <p:cNvPr id="85" name="Text 80"/>
          <p:cNvSpPr txBox="1"/>
          <p:nvPr/>
        </p:nvSpPr>
        <p:spPr>
          <a:xfrm>
            <a:off x="635508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KYC applications</a:t>
            </a:r>
            <a:endParaRPr lang="en-US" sz="1050" dirty="0"/>
          </a:p>
        </p:txBody>
      </p:sp>
      <p:sp>
        <p:nvSpPr>
          <p:cNvPr id="86" name="Text 81"/>
          <p:cNvSpPr txBox="1"/>
          <p:nvPr/>
        </p:nvSpPr>
        <p:spPr>
          <a:xfrm>
            <a:off x="635508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Onboarded + incomplete + rejected</a:t>
            </a:r>
            <a:endParaRPr lang="en-US" sz="850" dirty="0"/>
          </a:p>
        </p:txBody>
      </p:sp>
      <p:sp>
        <p:nvSpPr>
          <p:cNvPr id="87" name="Shape 82"/>
          <p:cNvSpPr/>
          <p:nvPr/>
        </p:nvSpPr>
        <p:spPr>
          <a:xfrm>
            <a:off x="9002268" y="1408176"/>
            <a:ext cx="45720" cy="155448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88" name="Text 83"/>
          <p:cNvSpPr txBox="1"/>
          <p:nvPr/>
        </p:nvSpPr>
        <p:spPr>
          <a:xfrm>
            <a:off x="911199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SUPPORT TICKETS</a:t>
            </a:r>
            <a:endParaRPr lang="en-US" sz="900" dirty="0"/>
          </a:p>
        </p:txBody>
      </p:sp>
      <p:sp>
        <p:nvSpPr>
          <p:cNvPr id="89" name="Shape 84"/>
          <p:cNvSpPr/>
          <p:nvPr/>
        </p:nvSpPr>
        <p:spPr>
          <a:xfrm>
            <a:off x="900226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9002268" y="170078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1" name="Text 86"/>
          <p:cNvSpPr txBox="1"/>
          <p:nvPr/>
        </p:nvSpPr>
        <p:spPr>
          <a:xfrm>
            <a:off x="916686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</a:t>
            </a:r>
            <a:endParaRPr lang="en-US" sz="2400" dirty="0"/>
          </a:p>
        </p:txBody>
      </p:sp>
      <p:sp>
        <p:nvSpPr>
          <p:cNvPr id="92" name="Text 87"/>
          <p:cNvSpPr txBox="1"/>
          <p:nvPr/>
        </p:nvSpPr>
        <p:spPr>
          <a:xfrm>
            <a:off x="916686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created</a:t>
            </a:r>
            <a:endParaRPr lang="en-US" sz="1050" dirty="0"/>
          </a:p>
        </p:txBody>
      </p:sp>
      <p:sp>
        <p:nvSpPr>
          <p:cNvPr id="93" name="Text 88"/>
          <p:cNvSpPr txBox="1"/>
          <p:nvPr/>
        </p:nvSpPr>
        <p:spPr>
          <a:xfrm>
            <a:off x="916686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94" name="Text 89"/>
          <p:cNvSpPr txBox="1"/>
          <p:nvPr/>
        </p:nvSpPr>
        <p:spPr>
          <a:xfrm>
            <a:off x="1060246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-3</a:t>
            </a:r>
            <a:endParaRPr lang="en-US" sz="850" dirty="0"/>
          </a:p>
        </p:txBody>
      </p:sp>
      <p:sp>
        <p:nvSpPr>
          <p:cNvPr id="95" name="Shape 90"/>
          <p:cNvSpPr/>
          <p:nvPr/>
        </p:nvSpPr>
        <p:spPr>
          <a:xfrm>
            <a:off x="900226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9002268" y="279806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7" name="Text 92"/>
          <p:cNvSpPr txBox="1"/>
          <p:nvPr/>
        </p:nvSpPr>
        <p:spPr>
          <a:xfrm>
            <a:off x="916686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</a:t>
            </a:r>
            <a:endParaRPr lang="en-US" sz="2400" dirty="0"/>
          </a:p>
        </p:txBody>
      </p:sp>
      <p:sp>
        <p:nvSpPr>
          <p:cNvPr id="98" name="Text 93"/>
          <p:cNvSpPr txBox="1"/>
          <p:nvPr/>
        </p:nvSpPr>
        <p:spPr>
          <a:xfrm>
            <a:off x="916686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resolved</a:t>
            </a:r>
            <a:endParaRPr lang="en-US" sz="1050" dirty="0"/>
          </a:p>
        </p:txBody>
      </p:sp>
      <p:sp>
        <p:nvSpPr>
          <p:cNvPr id="99" name="Text 94"/>
          <p:cNvSpPr txBox="1"/>
          <p:nvPr/>
        </p:nvSpPr>
        <p:spPr>
          <a:xfrm>
            <a:off x="916686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100% of tickets created</a:t>
            </a:r>
            <a:endParaRPr lang="en-US" sz="850" dirty="0"/>
          </a:p>
        </p:txBody>
      </p:sp>
      <p:sp>
        <p:nvSpPr>
          <p:cNvPr id="100" name="Text 95"/>
          <p:cNvSpPr txBox="1"/>
          <p:nvPr/>
        </p:nvSpPr>
        <p:spPr>
          <a:xfrm>
            <a:off x="1060246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-3</a:t>
            </a:r>
            <a:endParaRPr lang="en-US" sz="850" dirty="0"/>
          </a:p>
        </p:txBody>
      </p:sp>
      <p:sp>
        <p:nvSpPr>
          <p:cNvPr id="101" name="Shape 96"/>
          <p:cNvSpPr/>
          <p:nvPr/>
        </p:nvSpPr>
        <p:spPr>
          <a:xfrm>
            <a:off x="900226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9002268" y="389534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3" name="Text 98"/>
          <p:cNvSpPr txBox="1"/>
          <p:nvPr/>
        </p:nvSpPr>
        <p:spPr>
          <a:xfrm>
            <a:off x="916686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0</a:t>
            </a:r>
            <a:endParaRPr lang="en-US" sz="2400" dirty="0"/>
          </a:p>
        </p:txBody>
      </p:sp>
      <p:sp>
        <p:nvSpPr>
          <p:cNvPr id="104" name="Text 99"/>
          <p:cNvSpPr txBox="1"/>
          <p:nvPr/>
        </p:nvSpPr>
        <p:spPr>
          <a:xfrm>
            <a:off x="916686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Email queries</a:t>
            </a:r>
            <a:endParaRPr lang="en-US" sz="1050" dirty="0"/>
          </a:p>
        </p:txBody>
      </p:sp>
      <p:sp>
        <p:nvSpPr>
          <p:cNvPr id="105" name="Text 100"/>
          <p:cNvSpPr txBox="1"/>
          <p:nvPr/>
        </p:nvSpPr>
        <p:spPr>
          <a:xfrm>
            <a:off x="916686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06" name="Text 101"/>
          <p:cNvSpPr txBox="1"/>
          <p:nvPr/>
        </p:nvSpPr>
        <p:spPr>
          <a:xfrm>
            <a:off x="1060246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-2</a:t>
            </a:r>
            <a:endParaRPr lang="en-US" sz="850" dirty="0"/>
          </a:p>
        </p:txBody>
      </p:sp>
      <p:sp>
        <p:nvSpPr>
          <p:cNvPr id="107" name="Shape 102"/>
          <p:cNvSpPr/>
          <p:nvPr/>
        </p:nvSpPr>
        <p:spPr>
          <a:xfrm>
            <a:off x="900226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9002268" y="499262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9" name="Text 104"/>
          <p:cNvSpPr txBox="1"/>
          <p:nvPr/>
        </p:nvSpPr>
        <p:spPr>
          <a:xfrm>
            <a:off x="916686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</a:t>
            </a:r>
            <a:endParaRPr lang="en-US" sz="2400" dirty="0"/>
          </a:p>
        </p:txBody>
      </p:sp>
      <p:sp>
        <p:nvSpPr>
          <p:cNvPr id="110" name="Text 105"/>
          <p:cNvSpPr txBox="1"/>
          <p:nvPr/>
        </p:nvSpPr>
        <p:spPr>
          <a:xfrm>
            <a:off x="916686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AI support queries</a:t>
            </a:r>
            <a:endParaRPr lang="en-US" sz="1050" dirty="0"/>
          </a:p>
        </p:txBody>
      </p:sp>
      <p:sp>
        <p:nvSpPr>
          <p:cNvPr id="111" name="Text 106"/>
          <p:cNvSpPr txBox="1"/>
          <p:nvPr/>
        </p:nvSpPr>
        <p:spPr>
          <a:xfrm>
            <a:off x="916686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12" name="Text 107"/>
          <p:cNvSpPr txBox="1"/>
          <p:nvPr/>
        </p:nvSpPr>
        <p:spPr>
          <a:xfrm>
            <a:off x="1060246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-1</a:t>
            </a:r>
            <a:endParaRPr lang="en-US" sz="8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atemIsa_202508993_IT9002_NLP_Project/emyaa-ceo-deck/working/charts/board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188720"/>
            <a:ext cx="12191695" cy="24689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66928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F3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PLATFORM ANALYTICS  |  PERFORMANCE DASHBOARD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57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 date: 20 May 2026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868680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6CFE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Reporting period: 12 May 2026 - 19 May 2026   |   First report in the series</a:t>
            </a:r>
            <a:endParaRPr lang="en-US" sz="1000" dirty="0"/>
          </a:p>
        </p:txBody>
      </p:sp>
      <p:pic>
        <p:nvPicPr>
          <p:cNvPr id="7" name="Image 1" descr="/home/user/HatemIsa_202508993_IT9002_NLP_Project/emyaa-ceo-deck/working/charts/ajy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02336"/>
            <a:ext cx="13258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" y="6272784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Source: eMYAA Daily Performance Dashboard, eMYAA_-_Daily_Performance_Dashboard-1.pdf, page 60. This report labels the money card 'Total Deposits'; later reports label the same measure 'Total AUM'.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eMYAA Trading Platform  |  Daily Performance Dashboard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9802368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63</a:t>
            </a:r>
            <a:endParaRPr lang="en-US" sz="800" dirty="0"/>
          </a:p>
        </p:txBody>
      </p:sp>
      <p:pic>
        <p:nvPicPr>
          <p:cNvPr id="11" name="Image 2" descr="/home/user/HatemIsa_202508993_IT9002_NLP_Project/emyaa-ceo-deck/working/charts/emyaa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6336792"/>
            <a:ext cx="1024128" cy="3657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66928" y="1408176"/>
            <a:ext cx="45720" cy="155448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665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DOWNLOADS &amp; RATINGS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6692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66928" y="170078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152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15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downloads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 Store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216712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First report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6692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66928" y="279806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3152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42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73152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downloads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73152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Apple App Store</a:t>
            </a:r>
            <a:endParaRPr lang="en-US" sz="850" dirty="0"/>
          </a:p>
        </p:txBody>
      </p:sp>
      <p:sp>
        <p:nvSpPr>
          <p:cNvPr id="25" name="Text 20"/>
          <p:cNvSpPr txBox="1"/>
          <p:nvPr/>
        </p:nvSpPr>
        <p:spPr>
          <a:xfrm>
            <a:off x="216712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First report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6692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66928" y="389534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3152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29" name="Text 24"/>
          <p:cNvSpPr txBox="1"/>
          <p:nvPr/>
        </p:nvSpPr>
        <p:spPr>
          <a:xfrm>
            <a:off x="73152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Android app rating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73152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Google Play, 2 reviews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56692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66928" y="4992624"/>
            <a:ext cx="2628900" cy="32004"/>
          </a:xfrm>
          <a:prstGeom prst="rect">
            <a:avLst/>
          </a:prstGeom>
          <a:solidFill>
            <a:srgbClr val="132257"/>
          </a:solidFill>
          <a:ln w="12700">
            <a:solidFill>
              <a:srgbClr val="132257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3152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5.0 / 5</a:t>
            </a:r>
            <a:endParaRPr lang="en-US" sz="2400" dirty="0"/>
          </a:p>
        </p:txBody>
      </p:sp>
      <p:sp>
        <p:nvSpPr>
          <p:cNvPr id="34" name="Text 29"/>
          <p:cNvSpPr txBox="1"/>
          <p:nvPr/>
        </p:nvSpPr>
        <p:spPr>
          <a:xfrm>
            <a:off x="73152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iOS app rating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73152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 Store, 2 reviews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3378708" y="1408176"/>
            <a:ext cx="45720" cy="155448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48843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 ACTIVITY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337870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3378708" y="170078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354330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</a:t>
            </a:r>
            <a:endParaRPr lang="en-US" sz="2400" dirty="0"/>
          </a:p>
        </p:txBody>
      </p:sp>
      <p:sp>
        <p:nvSpPr>
          <p:cNvPr id="41" name="Text 36"/>
          <p:cNvSpPr txBox="1"/>
          <p:nvPr/>
        </p:nvSpPr>
        <p:spPr>
          <a:xfrm>
            <a:off x="354330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deposited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354330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Funded accounts</a:t>
            </a:r>
            <a:endParaRPr lang="en-US" sz="850" dirty="0"/>
          </a:p>
        </p:txBody>
      </p:sp>
      <p:sp>
        <p:nvSpPr>
          <p:cNvPr id="43" name="Text 38"/>
          <p:cNvSpPr txBox="1"/>
          <p:nvPr/>
        </p:nvSpPr>
        <p:spPr>
          <a:xfrm>
            <a:off x="497890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First report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337870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3378708" y="279806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354330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$0.99</a:t>
            </a:r>
            <a:endParaRPr lang="en-US" sz="2400" dirty="0"/>
          </a:p>
        </p:txBody>
      </p:sp>
      <p:sp>
        <p:nvSpPr>
          <p:cNvPr id="47" name="Text 42"/>
          <p:cNvSpPr txBox="1"/>
          <p:nvPr/>
        </p:nvSpPr>
        <p:spPr>
          <a:xfrm>
            <a:off x="354330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deposits</a:t>
            </a:r>
            <a:endParaRPr lang="en-US" sz="1050" dirty="0"/>
          </a:p>
        </p:txBody>
      </p:sp>
      <p:sp>
        <p:nvSpPr>
          <p:cNvPr id="48" name="Text 43"/>
          <p:cNvSpPr txBox="1"/>
          <p:nvPr/>
        </p:nvSpPr>
        <p:spPr>
          <a:xfrm>
            <a:off x="354330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Cumulative platform deposits</a:t>
            </a:r>
            <a:endParaRPr lang="en-US" sz="850" dirty="0"/>
          </a:p>
        </p:txBody>
      </p:sp>
      <p:sp>
        <p:nvSpPr>
          <p:cNvPr id="49" name="Text 44"/>
          <p:cNvSpPr txBox="1"/>
          <p:nvPr/>
        </p:nvSpPr>
        <p:spPr>
          <a:xfrm>
            <a:off x="497890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First report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337870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3378708" y="389534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354330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0</a:t>
            </a:r>
            <a:endParaRPr lang="en-US" sz="2400" dirty="0"/>
          </a:p>
        </p:txBody>
      </p:sp>
      <p:sp>
        <p:nvSpPr>
          <p:cNvPr id="53" name="Text 48"/>
          <p:cNvSpPr txBox="1"/>
          <p:nvPr/>
        </p:nvSpPr>
        <p:spPr>
          <a:xfrm>
            <a:off x="354330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traded</a:t>
            </a:r>
            <a:endParaRPr lang="en-US" sz="1050" dirty="0"/>
          </a:p>
        </p:txBody>
      </p:sp>
      <p:sp>
        <p:nvSpPr>
          <p:cNvPr id="54" name="Text 49"/>
          <p:cNvSpPr txBox="1"/>
          <p:nvPr/>
        </p:nvSpPr>
        <p:spPr>
          <a:xfrm>
            <a:off x="354330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Placed at least 1 trade</a:t>
            </a:r>
            <a:endParaRPr lang="en-US" sz="850" dirty="0"/>
          </a:p>
        </p:txBody>
      </p:sp>
      <p:sp>
        <p:nvSpPr>
          <p:cNvPr id="55" name="Text 50"/>
          <p:cNvSpPr txBox="1"/>
          <p:nvPr/>
        </p:nvSpPr>
        <p:spPr>
          <a:xfrm>
            <a:off x="497890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First report</a:t>
            </a:r>
            <a:endParaRPr lang="en-US" sz="850" dirty="0"/>
          </a:p>
        </p:txBody>
      </p:sp>
      <p:sp>
        <p:nvSpPr>
          <p:cNvPr id="56" name="Shape 51"/>
          <p:cNvSpPr/>
          <p:nvPr/>
        </p:nvSpPr>
        <p:spPr>
          <a:xfrm>
            <a:off x="337870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3378708" y="4992624"/>
            <a:ext cx="2628900" cy="32004"/>
          </a:xfrm>
          <a:prstGeom prst="rect">
            <a:avLst/>
          </a:prstGeom>
          <a:solidFill>
            <a:srgbClr val="1BA97C"/>
          </a:solidFill>
          <a:ln w="12700">
            <a:solidFill>
              <a:srgbClr val="1BA97C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354330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0</a:t>
            </a:r>
            <a:endParaRPr lang="en-US" sz="2400" dirty="0"/>
          </a:p>
        </p:txBody>
      </p:sp>
      <p:sp>
        <p:nvSpPr>
          <p:cNvPr id="59" name="Text 54"/>
          <p:cNvSpPr txBox="1"/>
          <p:nvPr/>
        </p:nvSpPr>
        <p:spPr>
          <a:xfrm>
            <a:off x="354330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trades</a:t>
            </a:r>
            <a:endParaRPr lang="en-US" sz="1050" dirty="0"/>
          </a:p>
        </p:txBody>
      </p:sp>
      <p:sp>
        <p:nvSpPr>
          <p:cNvPr id="60" name="Text 55"/>
          <p:cNvSpPr txBox="1"/>
          <p:nvPr/>
        </p:nvSpPr>
        <p:spPr>
          <a:xfrm>
            <a:off x="354330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Executed across all users</a:t>
            </a:r>
            <a:endParaRPr lang="en-US" sz="850" dirty="0"/>
          </a:p>
        </p:txBody>
      </p:sp>
      <p:sp>
        <p:nvSpPr>
          <p:cNvPr id="61" name="Text 56"/>
          <p:cNvSpPr txBox="1"/>
          <p:nvPr/>
        </p:nvSpPr>
        <p:spPr>
          <a:xfrm>
            <a:off x="497890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First report</a:t>
            </a:r>
            <a:endParaRPr lang="en-US" sz="850" dirty="0"/>
          </a:p>
        </p:txBody>
      </p:sp>
      <p:sp>
        <p:nvSpPr>
          <p:cNvPr id="62" name="Shape 57"/>
          <p:cNvSpPr/>
          <p:nvPr/>
        </p:nvSpPr>
        <p:spPr>
          <a:xfrm>
            <a:off x="6190488" y="1408176"/>
            <a:ext cx="45720" cy="1554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630021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KYC STATUS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619048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6190488" y="170078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635508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</a:t>
            </a:r>
            <a:endParaRPr lang="en-US" sz="2400" dirty="0"/>
          </a:p>
        </p:txBody>
      </p:sp>
      <p:sp>
        <p:nvSpPr>
          <p:cNvPr id="67" name="Text 62"/>
          <p:cNvSpPr txBox="1"/>
          <p:nvPr/>
        </p:nvSpPr>
        <p:spPr>
          <a:xfrm>
            <a:off x="635508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Users onboarded</a:t>
            </a:r>
            <a:endParaRPr lang="en-US" sz="1050" dirty="0"/>
          </a:p>
        </p:txBody>
      </p:sp>
      <p:sp>
        <p:nvSpPr>
          <p:cNvPr id="68" name="Text 63"/>
          <p:cNvSpPr txBox="1"/>
          <p:nvPr/>
        </p:nvSpPr>
        <p:spPr>
          <a:xfrm>
            <a:off x="635508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Completed signup and verification</a:t>
            </a:r>
            <a:endParaRPr lang="en-US" sz="850" dirty="0"/>
          </a:p>
        </p:txBody>
      </p:sp>
      <p:sp>
        <p:nvSpPr>
          <p:cNvPr id="69" name="Text 64"/>
          <p:cNvSpPr txBox="1"/>
          <p:nvPr/>
        </p:nvSpPr>
        <p:spPr>
          <a:xfrm>
            <a:off x="779068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First report</a:t>
            </a:r>
            <a:endParaRPr lang="en-US" sz="850" dirty="0"/>
          </a:p>
        </p:txBody>
      </p:sp>
      <p:sp>
        <p:nvSpPr>
          <p:cNvPr id="70" name="Shape 65"/>
          <p:cNvSpPr/>
          <p:nvPr/>
        </p:nvSpPr>
        <p:spPr>
          <a:xfrm>
            <a:off x="619048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6190488" y="279806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2" name="Text 67"/>
          <p:cNvSpPr txBox="1"/>
          <p:nvPr/>
        </p:nvSpPr>
        <p:spPr>
          <a:xfrm>
            <a:off x="635508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6</a:t>
            </a:r>
            <a:endParaRPr lang="en-US" sz="2400" dirty="0"/>
          </a:p>
        </p:txBody>
      </p:sp>
      <p:sp>
        <p:nvSpPr>
          <p:cNvPr id="73" name="Text 68"/>
          <p:cNvSpPr txBox="1"/>
          <p:nvPr/>
        </p:nvSpPr>
        <p:spPr>
          <a:xfrm>
            <a:off x="635508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Incomplete KYC</a:t>
            </a:r>
            <a:endParaRPr lang="en-US" sz="1050" dirty="0"/>
          </a:p>
        </p:txBody>
      </p:sp>
      <p:sp>
        <p:nvSpPr>
          <p:cNvPr id="74" name="Text 69"/>
          <p:cNvSpPr txBox="1"/>
          <p:nvPr/>
        </p:nvSpPr>
        <p:spPr>
          <a:xfrm>
            <a:off x="635508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Started KYC but did not proceed</a:t>
            </a:r>
            <a:endParaRPr lang="en-US" sz="850" dirty="0"/>
          </a:p>
        </p:txBody>
      </p:sp>
      <p:sp>
        <p:nvSpPr>
          <p:cNvPr id="75" name="Text 70"/>
          <p:cNvSpPr txBox="1"/>
          <p:nvPr/>
        </p:nvSpPr>
        <p:spPr>
          <a:xfrm>
            <a:off x="779068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First report</a:t>
            </a:r>
            <a:endParaRPr lang="en-US" sz="850" dirty="0"/>
          </a:p>
        </p:txBody>
      </p:sp>
      <p:sp>
        <p:nvSpPr>
          <p:cNvPr id="76" name="Shape 71"/>
          <p:cNvSpPr/>
          <p:nvPr/>
        </p:nvSpPr>
        <p:spPr>
          <a:xfrm>
            <a:off x="619048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6190488" y="389534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8" name="Text 73"/>
          <p:cNvSpPr txBox="1"/>
          <p:nvPr/>
        </p:nvSpPr>
        <p:spPr>
          <a:xfrm>
            <a:off x="635508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8</a:t>
            </a:r>
            <a:endParaRPr lang="en-US" sz="2400" dirty="0"/>
          </a:p>
        </p:txBody>
      </p:sp>
      <p:sp>
        <p:nvSpPr>
          <p:cNvPr id="79" name="Text 74"/>
          <p:cNvSpPr txBox="1"/>
          <p:nvPr/>
        </p:nvSpPr>
        <p:spPr>
          <a:xfrm>
            <a:off x="635508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Rejected KYC</a:t>
            </a:r>
            <a:endParaRPr lang="en-US" sz="1050" dirty="0"/>
          </a:p>
        </p:txBody>
      </p:sp>
      <p:sp>
        <p:nvSpPr>
          <p:cNvPr id="80" name="Text 75"/>
          <p:cNvSpPr txBox="1"/>
          <p:nvPr/>
        </p:nvSpPr>
        <p:spPr>
          <a:xfrm>
            <a:off x="635508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Resubmission required</a:t>
            </a:r>
            <a:endParaRPr lang="en-US" sz="850" dirty="0"/>
          </a:p>
        </p:txBody>
      </p:sp>
      <p:sp>
        <p:nvSpPr>
          <p:cNvPr id="81" name="Text 76"/>
          <p:cNvSpPr txBox="1"/>
          <p:nvPr/>
        </p:nvSpPr>
        <p:spPr>
          <a:xfrm>
            <a:off x="779068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First report</a:t>
            </a:r>
            <a:endParaRPr lang="en-US" sz="850" dirty="0"/>
          </a:p>
        </p:txBody>
      </p:sp>
      <p:sp>
        <p:nvSpPr>
          <p:cNvPr id="82" name="Shape 77"/>
          <p:cNvSpPr/>
          <p:nvPr/>
        </p:nvSpPr>
        <p:spPr>
          <a:xfrm>
            <a:off x="619048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6190488" y="4992624"/>
            <a:ext cx="2628900" cy="320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4" name="Text 79"/>
          <p:cNvSpPr txBox="1"/>
          <p:nvPr/>
        </p:nvSpPr>
        <p:spPr>
          <a:xfrm>
            <a:off x="635508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18</a:t>
            </a:r>
            <a:endParaRPr lang="en-US" sz="2400" dirty="0"/>
          </a:p>
        </p:txBody>
      </p:sp>
      <p:sp>
        <p:nvSpPr>
          <p:cNvPr id="85" name="Text 80"/>
          <p:cNvSpPr txBox="1"/>
          <p:nvPr/>
        </p:nvSpPr>
        <p:spPr>
          <a:xfrm>
            <a:off x="635508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Total KYC applications</a:t>
            </a:r>
            <a:endParaRPr lang="en-US" sz="1050" dirty="0"/>
          </a:p>
        </p:txBody>
      </p:sp>
      <p:sp>
        <p:nvSpPr>
          <p:cNvPr id="86" name="Text 81"/>
          <p:cNvSpPr txBox="1"/>
          <p:nvPr/>
        </p:nvSpPr>
        <p:spPr>
          <a:xfrm>
            <a:off x="635508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Onboarded + incomplete + rejected</a:t>
            </a:r>
            <a:endParaRPr lang="en-US" sz="850" dirty="0"/>
          </a:p>
        </p:txBody>
      </p:sp>
      <p:sp>
        <p:nvSpPr>
          <p:cNvPr id="87" name="Shape 82"/>
          <p:cNvSpPr/>
          <p:nvPr/>
        </p:nvSpPr>
        <p:spPr>
          <a:xfrm>
            <a:off x="9002268" y="1408176"/>
            <a:ext cx="45720" cy="155448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88" name="Text 83"/>
          <p:cNvSpPr txBox="1"/>
          <p:nvPr/>
        </p:nvSpPr>
        <p:spPr>
          <a:xfrm>
            <a:off x="9111996" y="1371600"/>
            <a:ext cx="251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SUPPORT TICKETS</a:t>
            </a:r>
            <a:endParaRPr lang="en-US" sz="900" dirty="0"/>
          </a:p>
        </p:txBody>
      </p:sp>
      <p:sp>
        <p:nvSpPr>
          <p:cNvPr id="89" name="Shape 84"/>
          <p:cNvSpPr/>
          <p:nvPr/>
        </p:nvSpPr>
        <p:spPr>
          <a:xfrm>
            <a:off x="9002268" y="170078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9002268" y="170078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1" name="Text 86"/>
          <p:cNvSpPr txBox="1"/>
          <p:nvPr/>
        </p:nvSpPr>
        <p:spPr>
          <a:xfrm>
            <a:off x="9166860" y="181051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</a:t>
            </a:r>
            <a:endParaRPr lang="en-US" sz="2400" dirty="0"/>
          </a:p>
        </p:txBody>
      </p:sp>
      <p:sp>
        <p:nvSpPr>
          <p:cNvPr id="92" name="Text 87"/>
          <p:cNvSpPr txBox="1"/>
          <p:nvPr/>
        </p:nvSpPr>
        <p:spPr>
          <a:xfrm>
            <a:off x="9166860" y="221284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created</a:t>
            </a:r>
            <a:endParaRPr lang="en-US" sz="1050" dirty="0"/>
          </a:p>
        </p:txBody>
      </p:sp>
      <p:sp>
        <p:nvSpPr>
          <p:cNvPr id="93" name="Text 88"/>
          <p:cNvSpPr txBox="1"/>
          <p:nvPr/>
        </p:nvSpPr>
        <p:spPr>
          <a:xfrm>
            <a:off x="9166860" y="243230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94" name="Text 89"/>
          <p:cNvSpPr txBox="1"/>
          <p:nvPr/>
        </p:nvSpPr>
        <p:spPr>
          <a:xfrm>
            <a:off x="10602468" y="188366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First report</a:t>
            </a:r>
            <a:endParaRPr lang="en-US" sz="850" dirty="0"/>
          </a:p>
        </p:txBody>
      </p:sp>
      <p:sp>
        <p:nvSpPr>
          <p:cNvPr id="95" name="Shape 90"/>
          <p:cNvSpPr/>
          <p:nvPr/>
        </p:nvSpPr>
        <p:spPr>
          <a:xfrm>
            <a:off x="9002268" y="279806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9002268" y="279806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97" name="Text 92"/>
          <p:cNvSpPr txBox="1"/>
          <p:nvPr/>
        </p:nvSpPr>
        <p:spPr>
          <a:xfrm>
            <a:off x="9166860" y="290779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</a:t>
            </a:r>
            <a:endParaRPr lang="en-US" sz="2400" dirty="0"/>
          </a:p>
        </p:txBody>
      </p:sp>
      <p:sp>
        <p:nvSpPr>
          <p:cNvPr id="98" name="Text 93"/>
          <p:cNvSpPr txBox="1"/>
          <p:nvPr/>
        </p:nvSpPr>
        <p:spPr>
          <a:xfrm>
            <a:off x="9166860" y="331012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Tickets resolved</a:t>
            </a:r>
            <a:endParaRPr lang="en-US" sz="1050" dirty="0"/>
          </a:p>
        </p:txBody>
      </p:sp>
      <p:sp>
        <p:nvSpPr>
          <p:cNvPr id="99" name="Text 94"/>
          <p:cNvSpPr txBox="1"/>
          <p:nvPr/>
        </p:nvSpPr>
        <p:spPr>
          <a:xfrm>
            <a:off x="9166860" y="352958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100% of tickets created</a:t>
            </a:r>
            <a:endParaRPr lang="en-US" sz="850" dirty="0"/>
          </a:p>
        </p:txBody>
      </p:sp>
      <p:sp>
        <p:nvSpPr>
          <p:cNvPr id="100" name="Text 95"/>
          <p:cNvSpPr txBox="1"/>
          <p:nvPr/>
        </p:nvSpPr>
        <p:spPr>
          <a:xfrm>
            <a:off x="10602468" y="298094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First report</a:t>
            </a:r>
            <a:endParaRPr lang="en-US" sz="850" dirty="0"/>
          </a:p>
        </p:txBody>
      </p:sp>
      <p:sp>
        <p:nvSpPr>
          <p:cNvPr id="101" name="Shape 96"/>
          <p:cNvSpPr/>
          <p:nvPr/>
        </p:nvSpPr>
        <p:spPr>
          <a:xfrm>
            <a:off x="9002268" y="389534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9002268" y="389534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3" name="Text 98"/>
          <p:cNvSpPr txBox="1"/>
          <p:nvPr/>
        </p:nvSpPr>
        <p:spPr>
          <a:xfrm>
            <a:off x="9166860" y="400507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</a:t>
            </a:r>
            <a:endParaRPr lang="en-US" sz="2400" dirty="0"/>
          </a:p>
        </p:txBody>
      </p:sp>
      <p:sp>
        <p:nvSpPr>
          <p:cNvPr id="104" name="Text 99"/>
          <p:cNvSpPr txBox="1"/>
          <p:nvPr/>
        </p:nvSpPr>
        <p:spPr>
          <a:xfrm>
            <a:off x="9166860" y="440740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Email queries</a:t>
            </a:r>
            <a:endParaRPr lang="en-US" sz="1050" dirty="0"/>
          </a:p>
        </p:txBody>
      </p:sp>
      <p:sp>
        <p:nvSpPr>
          <p:cNvPr id="105" name="Text 100"/>
          <p:cNvSpPr txBox="1"/>
          <p:nvPr/>
        </p:nvSpPr>
        <p:spPr>
          <a:xfrm>
            <a:off x="9166860" y="462686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06" name="Text 101"/>
          <p:cNvSpPr txBox="1"/>
          <p:nvPr/>
        </p:nvSpPr>
        <p:spPr>
          <a:xfrm>
            <a:off x="10602468" y="407822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First report</a:t>
            </a:r>
            <a:endParaRPr lang="en-US" sz="850" dirty="0"/>
          </a:p>
        </p:txBody>
      </p:sp>
      <p:sp>
        <p:nvSpPr>
          <p:cNvPr id="107" name="Shape 102"/>
          <p:cNvSpPr/>
          <p:nvPr/>
        </p:nvSpPr>
        <p:spPr>
          <a:xfrm>
            <a:off x="9002268" y="4992624"/>
            <a:ext cx="26289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A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9002268" y="4992624"/>
            <a:ext cx="2628900" cy="32004"/>
          </a:xfrm>
          <a:prstGeom prst="rect">
            <a:avLst/>
          </a:prstGeom>
          <a:solidFill>
            <a:srgbClr val="22376F"/>
          </a:solidFill>
          <a:ln w="12700">
            <a:solidFill>
              <a:srgbClr val="22376F"/>
            </a:solidFill>
            <a:prstDash val="solid"/>
          </a:ln>
        </p:spPr>
      </p:sp>
      <p:sp>
        <p:nvSpPr>
          <p:cNvPr id="109" name="Text 104"/>
          <p:cNvSpPr txBox="1"/>
          <p:nvPr/>
        </p:nvSpPr>
        <p:spPr>
          <a:xfrm>
            <a:off x="9166860" y="5102352"/>
            <a:ext cx="2299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</a:t>
            </a:r>
            <a:endParaRPr lang="en-US" sz="2400" dirty="0"/>
          </a:p>
        </p:txBody>
      </p:sp>
      <p:sp>
        <p:nvSpPr>
          <p:cNvPr id="110" name="Text 105"/>
          <p:cNvSpPr txBox="1"/>
          <p:nvPr/>
        </p:nvSpPr>
        <p:spPr>
          <a:xfrm>
            <a:off x="9166860" y="5504688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2257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AI support queries</a:t>
            </a:r>
            <a:endParaRPr lang="en-US" sz="1050" dirty="0"/>
          </a:p>
        </p:txBody>
      </p:sp>
      <p:sp>
        <p:nvSpPr>
          <p:cNvPr id="111" name="Text 106"/>
          <p:cNvSpPr txBox="1"/>
          <p:nvPr/>
        </p:nvSpPr>
        <p:spPr>
          <a:xfrm>
            <a:off x="9166860" y="5724144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Submitted by users</a:t>
            </a:r>
            <a:endParaRPr lang="en-US" sz="850" dirty="0"/>
          </a:p>
        </p:txBody>
      </p:sp>
      <p:sp>
        <p:nvSpPr>
          <p:cNvPr id="112" name="Text 107"/>
          <p:cNvSpPr txBox="1"/>
          <p:nvPr/>
        </p:nvSpPr>
        <p:spPr>
          <a:xfrm>
            <a:off x="10602468" y="5175504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49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First report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63</Slides>
  <Notes>63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eMYAA Daily Performance Dashboard</dc:title>
  <dc:subject>PptxGenJS Presentation</dc:subject>
  <dc:creator>eMYAA</dc:creator>
  <cp:lastModifiedBy>eMYAA</cp:lastModifiedBy>
  <cp:revision>1</cp:revision>
  <dcterms:created xsi:type="dcterms:W3CDTF">2026-09-30T07:00:54Z</dcterms:created>
  <dcterms:modified xsi:type="dcterms:W3CDTF">2026-09-30T07:00:54Z</dcterms:modified>
</cp:coreProperties>
</file>