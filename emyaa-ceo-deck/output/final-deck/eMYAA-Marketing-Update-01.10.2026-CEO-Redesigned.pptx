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embeddedFontLst>
    <p:embeddedFont>
      <p:font typeface="Exo 2" charset="0"/>
      <p:regular r:id="rId11"/>
      <p:bold r:id="rId12"/>
      <p:italic r:id="rId13"/>
      <p:boldItalic r:id="rId1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font" Target="fonts/emyaa-font1.fntdata"/><Relationship Id="rId12" Type="http://schemas.openxmlformats.org/officeDocument/2006/relationships/font" Target="fonts/emyaa-font2.fntdata"/><Relationship Id="rId13" Type="http://schemas.openxmlformats.org/officeDocument/2006/relationships/font" Target="fonts/emyaa-font3.fntdata"/><Relationship Id="rId14" Type="http://schemas.openxmlformats.org/officeDocument/2006/relationships/font" Target="fonts/emyaa-font4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32257"/>
                </a:solidFill>
                <a:latin typeface="Exo 2"/>
              </a:defRPr>
            </a:pPr>
            <a:r>
              <a:rPr sz="1100" b="0" i="0" u="none" strike="noStrike">
                <a:solidFill>
                  <a:srgbClr val="132257"/>
                </a:solidFill>
                <a:latin typeface="Exo 2"/>
              </a:rPr>
              <a:t>Net new app downloads and onboarded users between dashboard dates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 downloads added</c:v>
                </c:pt>
              </c:strCache>
            </c:strRef>
          </c:tx>
          <c:spPr>
            <a:solidFill>
              <a:srgbClr val="1322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32257"/>
                    </a:solidFill>
                    <a:latin typeface="Exo 2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1-8 Sep</c:v>
                  </c:pt>
                  <c:pt idx="1">
                    <c:v>8-14 Sep</c:v>
                  </c:pt>
                  <c:pt idx="2">
                    <c:v>14-21 Sep</c:v>
                  </c:pt>
                  <c:pt idx="3">
                    <c:v>21-27 Sep (paid live)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20</c:v>
                </c:pt>
                <c:pt idx="2">
                  <c:v>14</c:v>
                </c:pt>
                <c:pt idx="3">
                  <c:v>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Users onboarded</c:v>
                </c:pt>
              </c:strCache>
            </c:strRef>
          </c:tx>
          <c:spPr>
            <a:solidFill>
              <a:srgbClr val="1BA9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32257"/>
                    </a:solidFill>
                    <a:latin typeface="Exo 2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1-8 Sep</c:v>
                  </c:pt>
                  <c:pt idx="1">
                    <c:v>8-14 Sep</c:v>
                  </c:pt>
                  <c:pt idx="2">
                    <c:v>14-21 Sep</c:v>
                  </c:pt>
                  <c:pt idx="3">
                    <c:v>21-27 Sep (paid live)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</c:v>
                </c:pt>
                <c:pt idx="1">
                  <c:v>3</c:v>
                </c:pt>
                <c:pt idx="2">
                  <c:v>5</c:v>
                </c:pt>
                <c:pt idx="3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32257"/>
                  </a:solidFill>
                  <a:latin typeface="Exo 2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F2A44"/>
                </a:solidFill>
                <a:latin typeface="Exo 2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F2A44"/>
              </a:solidFill>
              <a:latin typeface="Exo 2"/>
              <a:cs typeface="Exo 2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GA4 exports 1-28 Sep 2026; GA4 home card 21-27 Sep; daily performance dashboards to 27 Sep; eMYAA Board of Directors Update 17 Sep 2026 (plan, budget, segments, CAC targets); content calendars Sep and Oct 2026 (V2); Instagram profile grid screenshot; $5,000 campaign T&amp;Cs, approval checklist and 24F briefing. Anything without a source file is labelled 'reported' or 'per team'.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Paid media (Board plan): $30,000 Sep to Dec from the $62,477 reserve; Google Search Saudi $9K and other GCC $6K; LinkedIn Affluent Saudi $9K and other GCC $6K. Segments: Starter under $1K and Emerging $1K-5K via Google Ads; Affluent $5K-50K via LinkedIn lead gen. CAC targets Starter $167, Emerging $417, Affluent $882. GA4 shows only the two Saudi Google campaigns so far; LinkedIn lead forms keep users on LinkedIn, so no LinkedIn sessions is expected. Mention &amp; Win: monthly $500 contest in all six GCC countries (24F briefing), approved caption 'Follow, mention, and open an eMYAA account for a chance to win $500'; $3,200 prizes and ads budgeted Sep-Dec; 186K and 26.3K views on campaign posts; current round 23 Sep to 20 Oct per team. $5,000 Prize Campaign: 1 Aug to 31 Dec 2026, draw 10 Jan 2027, prize $500 to $5,000 by trading-volume tier, one entry per $500 traded; landing pages live; bilingual T&amp;Cs sent for approval 20 Jul, no sign-off on file. Creators: Musheera (Jul) 5.3M, Ali Sabeel (Aug, posted 2 Sep) 1.3M, Abdulelah Al Harbi (Sep) no view count yet, how-to video with presenter 332, Manal Talal on the October calendar for 22 Oct, Hamed Al Bloushi November per rollout. Social: Instagram 2,116 followers; LinkedIn 531 (586 in an earlier count; 247 new vs 4 in the prior 30 days); X 738 followers; TikTok 15 followers; no September exports for any channel.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Traffic: 587 sessions 1-28 Sep; google / cpc 409 (69.7%), direct 92, organic 39, referral 32 (incl. 7 Tag Assistant test sessions), ChatGPT 9, not available 6. 403 of 542 active users (74.4%) had Google Ads as first source. The GA home card reports 384 active users for 21-27 Sep, +793% vs the previous week; the prior week (about 43) is implied, not exported, so the figure stays 'reported'. Downloads (Android + iOS) on dashboard dates: 373, 403, 423, 437, 473; onboarded 48, 49, 52, 57, 60; funded accounts 13 on 21 Sep, 15 on 27 Sep; 54 trades. English vs Arabic Google Ads (1-28 Sep): engagement 97.2% vs 86.9%, key events per session 0.94 vs 1.05; the key event is not defined, so keep both live until it is defined and costed.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 2 follows from the GA4 campaign export: Arabic has a lower engagement rate (86.9% vs 97.2%) but more key events per session (1.05 vs 0.94). Decision 3 follows from the dashboards: +36 downloads but +3 onboarded in the first six days of paid testing. Open items: gross deposits of $12,206 rest on Malek's message of 29 Sep with no written export (the dashboard's $10,029.69 is assets under management, a different measure; the Board shows both); the Board figures (61 clients, $12,206) are as at 28 Sep, and Board slide 3 wrongly says 'as at 17 September', corrected in the separate Board update file; no Ignite spend, cost per key event or LinkedIn lead data, and the key event is undefined; no September social exports; the 793% active-user rise (GA card, prior week implied) and LinkedIn +118% / +155% are not traceable to an export; LinkedIn followers 531 vs 586; $5,000 campaign T&amp;Cs sent for approval on 20 Jul with no sign-off on file. Market Pulse: in-app feature in discussion (Exante data access).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atemIsa_202508993_IT9002_NLP_Project/emyaa-ceo-deck/working/charts/emyaa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85800"/>
            <a:ext cx="1600200" cy="566928"/>
          </a:xfrm>
          <a:prstGeom prst="rect">
            <a:avLst/>
          </a:prstGeom>
        </p:spPr>
      </p:pic>
      <p:pic>
        <p:nvPicPr>
          <p:cNvPr id="3" name="Image 1" descr="/home/user/HatemIsa_202508993_IT9002_NLP_Project/emyaa-ceo-deck/working/charts/ajyad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6648" y="685800"/>
            <a:ext cx="1755648" cy="512064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256032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Marketing Performance Update</a:t>
            </a:r>
            <a:endParaRPr lang="en-US" sz="4000" dirty="0"/>
          </a:p>
        </p:txBody>
      </p:sp>
      <p:sp>
        <p:nvSpPr>
          <p:cNvPr id="5" name="Text 1"/>
          <p:cNvSpPr txBox="1"/>
          <p:nvPr/>
        </p:nvSpPr>
        <p:spPr>
          <a:xfrm>
            <a:off x="685800" y="3474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D4AF3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CEO UPDATE</a:t>
            </a:r>
            <a:endParaRPr lang="en-US" sz="2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3931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1 October 2026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6126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6CFE4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Web: GA4, 1-28 Sep 2026  |  Platform: daily dashboard, 27 Sep 2026  |  Plan and budget: Board update, 17 Sep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atemIsa_202508993_IT9002_NLP_Project/emyaa-ceo-deck/working/charts/board_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2984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1298448"/>
            <a:ext cx="12191695" cy="24689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66928" y="2743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D4AF3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MARKETING EFFORTS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475488"/>
            <a:ext cx="9326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September: paid media went into testing, two campaigns are live and four creator videos are out</a:t>
            </a:r>
            <a:endParaRPr lang="en-US" sz="2000" dirty="0"/>
          </a:p>
        </p:txBody>
      </p:sp>
      <p:pic>
        <p:nvPicPr>
          <p:cNvPr id="6" name="Image 1" descr="/home/user/HatemIsa_202508993_IT9002_NLP_Project/emyaa-ceo-deck/working/charts/ajyad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5288" y="457200"/>
            <a:ext cx="1325880" cy="38404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669280"/>
            <a:ext cx="11064240" cy="457200"/>
          </a:xfrm>
          <a:prstGeom prst="rect">
            <a:avLst/>
          </a:prstGeom>
          <a:solidFill>
            <a:srgbClr val="E3E8F2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566928" y="5669280"/>
            <a:ext cx="45720" cy="4572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77240" y="5669280"/>
            <a:ext cx="1074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25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Takeaway   </a:t>
            </a:r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All efforts are on plan. Only paid media carries a decision: $30,000 (Board plan), judged against CAC targets of $167 / $417 / $882.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619963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C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Source: GA4 exports 1-28 Sep 2026; Board update 17 Sep 2026; 24F briefing; $5,000 campaign checklist and T&amp;Cs; Sep and Oct 2026 calendars; Instagram grid screenshot; Performance Analysis deck (X, TikTok).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93A8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eMYAA Trading Platform  |  CEO Marketing Update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9802368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93A8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2</a:t>
            </a:r>
            <a:endParaRPr lang="en-US" sz="800" dirty="0"/>
          </a:p>
        </p:txBody>
      </p:sp>
      <p:pic>
        <p:nvPicPr>
          <p:cNvPr id="13" name="Image 2" descr="/home/user/HatemIsa_202508993_IT9002_NLP_Project/emyaa-ceo-deck/working/charts/emyaa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6336792"/>
            <a:ext cx="1024128" cy="365760"/>
          </a:xfrm>
          <a:prstGeom prst="rect">
            <a:avLst/>
          </a:prstGeom>
        </p:spPr>
      </p:pic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36192"/>
          <a:ext cx="80010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691640"/>
                <a:gridCol w="2423160"/>
                <a:gridCol w="1874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Effort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22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Status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22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Result so far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22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Next checkpoint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225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2257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Google Ads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7A849C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Starter and Emerging, Saudi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9A7B1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A7B1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Testing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  since 22 Sep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409 sessions, 70% of September site traffic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Spend and cost per account, 20 Oct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2257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LinkedIn Ads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7A849C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Affluent lead generation, Saudi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9A7B1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A7B1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Testing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  since 22 Sep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No results reported yet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Leads and cost per lead, 20 Oct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2257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Mention &amp; Win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7A849C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$500 monthly contest, GCC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A97C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A97C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Live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  round to 20 Oct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186K views on the campaign post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Entries and accounts opened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2257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$5,000 Prize Campaign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7A849C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1 Aug to 31 Dec, draw 10 Jan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A97C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A97C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Live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  pages up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T&amp;C sign-off not on file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Compliance sign-off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2257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Creator videos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7A849C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one a month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32257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2257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Posted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  4 so far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5.3M and 1.3M views; Manal Talal 22 Oct, Hamed Nov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Abdulelah view count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2257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Social channels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7A849C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Instagram, LinkedIn, X, TikTok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9A7B1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A7B1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Pending evidence</a:t>
                      </a:r>
                      <a:pPr indent="0" marL="0">
                        <a:buNone/>
                      </a:pP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Followers: 2,116 / 531 / 738 / 15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September exports, 8 Oct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16" name="Image 3" descr="/home/user/HatemIsa_202508993_IT9002_NLP_Project/emyaa-ceo-deck/working/charts/tile9_musheer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1572768"/>
            <a:ext cx="1234440" cy="1481328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8778240" y="309067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225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Musheera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A849C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5.3M</a:t>
            </a:r>
            <a:endParaRPr lang="en-US" sz="900" dirty="0"/>
          </a:p>
        </p:txBody>
      </p:sp>
      <p:pic>
        <p:nvPicPr>
          <p:cNvPr id="18" name="Image 4" descr="/home/user/HatemIsa_202508993_IT9002_NLP_Project/emyaa-ceo-deck/working/charts/tile9_al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0" y="1572768"/>
            <a:ext cx="1234440" cy="1481328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10195560" y="309067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225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Ali Sabeel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A849C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1.3M</a:t>
            </a:r>
            <a:endParaRPr lang="en-US" sz="900" dirty="0"/>
          </a:p>
        </p:txBody>
      </p:sp>
      <p:pic>
        <p:nvPicPr>
          <p:cNvPr id="20" name="Image 5" descr="/home/user/HatemIsa_202508993_IT9002_NLP_Project/emyaa-ceo-deck/working/charts/tile9_abdulela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0" y="3584448"/>
            <a:ext cx="1234440" cy="1481328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8778240" y="510235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225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Abdulelah Al Harbi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A849C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views pending</a:t>
            </a:r>
            <a:endParaRPr lang="en-US" sz="900" dirty="0"/>
          </a:p>
        </p:txBody>
      </p:sp>
      <p:pic>
        <p:nvPicPr>
          <p:cNvPr id="22" name="Image 6" descr="/home/user/HatemIsa_202508993_IT9002_NLP_Project/emyaa-ceo-deck/working/charts/tile9_howt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7000" y="3584448"/>
            <a:ext cx="1234440" cy="1481328"/>
          </a:xfrm>
          <a:prstGeom prst="rect">
            <a:avLst/>
          </a:prstGeom>
        </p:spPr>
      </p:pic>
      <p:sp>
        <p:nvSpPr>
          <p:cNvPr id="23" name="Text 12"/>
          <p:cNvSpPr txBox="1"/>
          <p:nvPr/>
        </p:nvSpPr>
        <p:spPr>
          <a:xfrm>
            <a:off x="10195560" y="510235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225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How-to, presenter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A849C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332 views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atemIsa_202508993_IT9002_NLP_Project/emyaa-ceo-deck/working/charts/board_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2984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1298448"/>
            <a:ext cx="12191695" cy="24689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66928" y="2743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D4AF3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RESULTS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475488"/>
            <a:ext cx="9326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Paid search lifted traffic and downloads; onboarding did not follow</a:t>
            </a:r>
            <a:endParaRPr lang="en-US" sz="2000" dirty="0"/>
          </a:p>
        </p:txBody>
      </p:sp>
      <p:pic>
        <p:nvPicPr>
          <p:cNvPr id="6" name="Image 1" descr="/home/user/HatemIsa_202508993_IT9002_NLP_Project/emyaa-ceo-deck/working/charts/ajyad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5288" y="457200"/>
            <a:ext cx="1325880" cy="38404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669280"/>
            <a:ext cx="11064240" cy="457200"/>
          </a:xfrm>
          <a:prstGeom prst="rect">
            <a:avLst/>
          </a:prstGeom>
          <a:solidFill>
            <a:srgbClr val="E3E8F2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566928" y="5669280"/>
            <a:ext cx="45720" cy="4572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77240" y="5669280"/>
            <a:ext cx="1074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25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Takeaway   </a:t>
            </a:r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The constraint is onboarding, not traffic. Fix KYC completion before spend is scaled.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619963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C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Source: GA4 exports 1-28 Sep 2026; eMYAA Daily Performance Dashboards, cumulative figures on report dates 1, 8, 14, 21 and 27 Sep 2026 (periods of 6 to 7 days).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93A8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eMYAA Trading Platform  |  CEO Marketing Update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9802368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93A8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3</a:t>
            </a:r>
            <a:endParaRPr lang="en-US" sz="800" dirty="0"/>
          </a:p>
        </p:txBody>
      </p:sp>
      <p:pic>
        <p:nvPicPr>
          <p:cNvPr id="13" name="Image 2" descr="/home/user/HatemIsa_202508993_IT9002_NLP_Project/emyaa-ceo-deck/working/charts/emyaa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6336792"/>
            <a:ext cx="1024128" cy="36576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566928" y="1572768"/>
            <a:ext cx="35661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566928" y="1572768"/>
            <a:ext cx="3566160" cy="32004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777240" y="173736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225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70%</a:t>
            </a:r>
            <a:endParaRPr lang="en-US" sz="3400" dirty="0"/>
          </a:p>
        </p:txBody>
      </p:sp>
      <p:sp>
        <p:nvSpPr>
          <p:cNvPr id="18" name="Text 12"/>
          <p:cNvSpPr txBox="1"/>
          <p:nvPr/>
        </p:nvSpPr>
        <p:spPr>
          <a:xfrm>
            <a:off x="1965960" y="175564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3225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of September site sessions came from Google Ads</a:t>
            </a:r>
            <a:endParaRPr lang="en-US" sz="1150" dirty="0"/>
          </a:p>
        </p:txBody>
      </p:sp>
      <p:sp>
        <p:nvSpPr>
          <p:cNvPr id="19" name="Text 13"/>
          <p:cNvSpPr txBox="1"/>
          <p:nvPr/>
        </p:nvSpPr>
        <p:spPr>
          <a:xfrm>
            <a:off x="1965960" y="2322576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409 of 587 sessions, 1-28 Sep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566928" y="2916936"/>
            <a:ext cx="35661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66928" y="2916936"/>
            <a:ext cx="3566160" cy="32004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77240" y="3081528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225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+36</a:t>
            </a:r>
            <a:endParaRPr lang="en-US" sz="3400" dirty="0"/>
          </a:p>
        </p:txBody>
      </p:sp>
      <p:sp>
        <p:nvSpPr>
          <p:cNvPr id="23" name="Text 17"/>
          <p:cNvSpPr txBox="1"/>
          <p:nvPr/>
        </p:nvSpPr>
        <p:spPr>
          <a:xfrm>
            <a:off x="1965960" y="3099816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3225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app downloads in the six days after launch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1965960" y="3666744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vs +14 the week before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566928" y="4261104"/>
            <a:ext cx="35661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A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566928" y="4261104"/>
            <a:ext cx="3566160" cy="32004"/>
          </a:xfrm>
          <a:prstGeom prst="rect">
            <a:avLst/>
          </a:prstGeom>
          <a:solidFill>
            <a:srgbClr val="C53030"/>
          </a:solidFill>
          <a:ln w="12700">
            <a:solidFill>
              <a:srgbClr val="C53030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77240" y="4425696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53030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+3</a:t>
            </a:r>
            <a:endParaRPr lang="en-US" sz="3400" dirty="0"/>
          </a:p>
        </p:txBody>
      </p:sp>
      <p:sp>
        <p:nvSpPr>
          <p:cNvPr id="28" name="Text 22"/>
          <p:cNvSpPr txBox="1"/>
          <p:nvPr/>
        </p:nvSpPr>
        <p:spPr>
          <a:xfrm>
            <a:off x="1965960" y="444398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3225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users onboarded in the same six days</a:t>
            </a:r>
            <a:endParaRPr lang="en-US" sz="1150" dirty="0"/>
          </a:p>
        </p:txBody>
      </p:sp>
      <p:sp>
        <p:nvSpPr>
          <p:cNvPr id="29" name="Text 23"/>
          <p:cNvSpPr txBox="1"/>
          <p:nvPr/>
        </p:nvSpPr>
        <p:spPr>
          <a:xfrm>
            <a:off x="1965960" y="5010912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60 onboarded, 15 funded, as of 27 Sep</a:t>
            </a:r>
            <a:endParaRPr lang="en-US" sz="9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4434840" y="1508760"/>
          <a:ext cx="7196328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atemIsa_202508993_IT9002_NLP_Project/emyaa-ceo-deck/working/charts/board_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2984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1298448"/>
            <a:ext cx="12191695" cy="24689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66928" y="2743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D4AF3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DECISIONS AND OPEN ITEMS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475488"/>
            <a:ext cx="9326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Five decisions for today; one open data item blocks the 20 October call</a:t>
            </a:r>
            <a:endParaRPr lang="en-US" sz="2000" dirty="0"/>
          </a:p>
        </p:txBody>
      </p:sp>
      <p:pic>
        <p:nvPicPr>
          <p:cNvPr id="6" name="Image 1" descr="/home/user/HatemIsa_202508993_IT9002_NLP_Project/emyaa-ceo-deck/working/charts/ajyad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5288" y="457200"/>
            <a:ext cx="1325880" cy="38404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669280"/>
            <a:ext cx="11064240" cy="457200"/>
          </a:xfrm>
          <a:prstGeom prst="rect">
            <a:avLst/>
          </a:prstGeom>
          <a:solidFill>
            <a:srgbClr val="E3E8F2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566928" y="5669280"/>
            <a:ext cx="45720" cy="4572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77240" y="5669280"/>
            <a:ext cx="1074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257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Takeaway   </a:t>
            </a:r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Ignite must supply spend and lead data before 20 October. Decision 4 closes most of the other open items.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619963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C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Source: Proposed by Marketing based on this update; owners and dates are proposals for CEO confirmation. CAC targets from the Board update, 17 Sep 2026. Detail in Open-Items.md and Percentage-Audit.csv.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93A8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eMYAA Trading Platform  |  CEO Marketing Update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9802368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93A8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4</a:t>
            </a:r>
            <a:endParaRPr lang="en-US" sz="800" dirty="0"/>
          </a:p>
        </p:txBody>
      </p:sp>
      <p:pic>
        <p:nvPicPr>
          <p:cNvPr id="13" name="Image 2" descr="/home/user/HatemIsa_202508993_IT9002_NLP_Project/emyaa-ceo-deck/working/charts/emyaa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6336792"/>
            <a:ext cx="1024128" cy="365760"/>
          </a:xfrm>
          <a:prstGeom prst="rect">
            <a:avLst/>
          </a:prstGeom>
        </p:spPr>
      </p:pic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36192"/>
          <a:ext cx="66751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749040"/>
                <a:gridCol w="1691640"/>
                <a:gridCol w="8686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22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Decision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22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Owner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22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By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2257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D4AF37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1</a:t>
                      </a:r>
                      <a:endParaRPr lang="en-US" sz="14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Go or hold on paid media, judged on cost per account vs Board CAC targets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Marketing with Ignite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20 Oct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D4AF37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2</a:t>
                      </a:r>
                      <a:endParaRPr lang="en-US" sz="14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Keep Arabic and English ads live until the key event is defined and costed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Marketing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10 Oct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D4AF37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3</a:t>
                      </a:r>
                      <a:endParaRPr lang="en-US" sz="14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Follow up every new download that has not completed KYC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Client Experience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10 Oct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D4AF37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4</a:t>
                      </a:r>
                      <a:endParaRPr lang="en-US" sz="14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Monthly data pack: GA4, social, Google and LinkedIn Ads, deposits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Marketing and Malek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8 Oct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D4AF37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5</a:t>
                      </a:r>
                      <a:endParaRPr lang="en-US" sz="14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Sign off the $5,000 campaign T&amp;Cs; close out Mention &amp; Win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Compliance and Marketing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27 Oct</a:t>
                      </a:r>
                      <a:endParaRPr lang="en-US" sz="110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536192"/>
          <a:ext cx="4133088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15568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Open item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22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Status</a:t>
                      </a:r>
                      <a:endParaRPr lang="en-US" sz="10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2257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No ad spend, LinkedIn leads or key-event definition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53030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Blocks 20 Oct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Deposits: $12,206 has no written export yet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A7B1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Open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No September exports for social channels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A7B1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Open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793% and LinkedIn +118% / +155% not exported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A7B1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Open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LinkedIn followers: 531 vs 586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A7B1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Open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$5,000 campaign T&amp;C sign-off not on file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A7B1F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Open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Board slide 3 date: 17 Sep should read 28 Sep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A97C"/>
                          </a:solidFill>
                          <a:latin typeface="Exo 2" pitchFamily="34" charset="0"/>
                          <a:ea typeface="Exo 2" pitchFamily="34" charset="-122"/>
                          <a:cs typeface="Exo 2" pitchFamily="34" charset="-120"/>
                        </a:rPr>
                        <a:t>Fixed</a:t>
                      </a:r>
                      <a:endParaRPr lang="en-US" sz="950" dirty="0">
                        <a:latin typeface="Exo 2" charset="0"/>
                        <a:ea typeface="Exo 2" charset="0"/>
                        <a:cs typeface="Exo 2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Marketing Performance Update - CEO Update 1 October 2026</dc:title>
  <dc:subject>PptxGenJS Presentation</dc:subject>
  <dc:creator>eMYAA Marketing</dc:creator>
  <cp:lastModifiedBy>eMYAA Marketing</cp:lastModifiedBy>
  <cp:revision>1</cp:revision>
  <dcterms:created xsi:type="dcterms:W3CDTF">2026-09-29T12:59:54Z</dcterms:created>
  <dcterms:modified xsi:type="dcterms:W3CDTF">2026-09-29T12:59:54Z</dcterms:modified>
</cp:coreProperties>
</file>