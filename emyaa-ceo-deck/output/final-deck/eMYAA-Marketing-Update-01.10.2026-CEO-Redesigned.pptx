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Exo 2" charset="0"/>
      <p:regular r:id="rId13"/>
      <p:bold r:id="rId14"/>
      <p:italic r:id="rId15"/>
      <p:boldItalic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emyaa-font1.fntdata"/><Relationship Id="rId14" Type="http://schemas.openxmlformats.org/officeDocument/2006/relationships/font" Target="fonts/emyaa-font2.fntdata"/><Relationship Id="rId15" Type="http://schemas.openxmlformats.org/officeDocument/2006/relationships/font" Target="fonts/emyaa-font3.fntdata"/><Relationship Id="rId16" Type="http://schemas.openxmlformats.org/officeDocument/2006/relationships/font" Target="fonts/emyaa-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GA4 exports 1-28 Sep 2026; GA4 home card 21-27 Sep; daily performance dashboards to 29 Sep; eMYAA Board of Directors Update 17 Sep 2026 (plan, budget, segments, CAC targets); content calendars Sep and Oct 2026 (V2); Instagram profile grid screenshot; $5,000 campaign T&amp;Cs, approval checklist and 24F briefing. Anything without a source file is labelled 'reported' or 'per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media (Board plan): $30,000 Sep to Dec from the $62,477 reserve; Google Search Saudi $9K and other GCC $6K; LinkedIn Affluent Saudi $9K and other GCC $6K. Segments: Starter under $1K and Emerging $1K-5K via Google Ads; Affluent $5K-50K via LinkedIn lead gen. CAC targets Starter $167, Emerging $417, Affluent $882. GA4 shows only the two Saudi Google campaigns so far; LinkedIn lead forms keep users on LinkedIn, so no LinkedIn sessions is expected. Mention &amp; Win: monthly $500 contest in all six GCC countries (24F briefing), approved caption 'Follow, mention, and open an eMYAA account for a chance to win $500'; $3,200 prizes and ads budgeted Sep-Dec; 186K and 26.3K views on campaign posts; current round 23 Sep to 20 Oct per team. $5,000 Prize Campaign: 1 Aug to 31 Dec 2026, draw 10 Jan 2027, prize $500 to $5,000 by trading-volume tier, one entry per $500 traded; landing pages live; bilingual T&amp;Cs sent for approval 20 Jul, no sign-off on file. Creators: Musheera (Jul) 5.3M, Ali Sabeel (Aug, posted 2 Sep) 1.3M, Abdulelah Al Harbi (Sep) no view count yet, how-to video with presenter 332, Manal Talal on the October calendar for 22 Oct, Hamed Al Bloushi November per rollout. Social: Instagram 2,116 followers; LinkedIn 531 (586 in an earlier count; 247 new vs 4 in the prior 30 days); X 738 followers; TikTok 15 followers; no September exports for any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587 sessions 1-28 Sep; google / cpc 409 (69.7%), direct 92, organic 39, referral 32 (incl. 7 Tag Assistant test sessions), ChatGPT 9, not available 6. 403 of 542 active users (74.4%) had Google Ads as first source. The GA home card reports 384 active users for 21-27 Sep, +793% vs the previous week; the prior week (about 43) is implied, not exported, so the figure stays 'reported'. Downloads (Android + iOS) on dashboard dates 1, 8, 14, 21 and 29 Sep: 373, 403, 423, 437, 490; onboarded 48, 49, 52, 57, 61; funded accounts 13 on 21 Sep, 15 on 29 Sep; 55 trades on 29 Sep. English vs Arabic Google Ads (1-28 Sep): engagement 97.2% vs 86.9%, key events per session 0.94 vs 1.05; the key event is not defined, so keep both live until it is defined and costed.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Installs (Android + iOS, cumulative) on dashboard report dates: 1 Sep 373, 2 Sep 389, 3 Sep 395, 8 Sep 403, 9 Sep 410, 10 Sep 414, 13 Sep 419, 14 Sep 423, 16 Sep 430, 17 Sep 432, 20 Sep 437, 21 Sep 437, 22 Sep 452, 23 Sep 454, 24 Sep 455, 27 Sep 473, 28 Sep 480, 29 Sep 490. Report dates are irregular, so the line is spaced by report, not by calendar day. Pace: +53 in the eight days 21-29 Sep (6.6 a day) vs +30 in 1-8 Sep (4.3 a day, when the Ali Sabeel video and baseline sponsor ads were running) and +14 in 14-21 Sep. Split 21-29 Sep: Android +20, iOS +33. Funnel: 409 google / cpc sessions and 400 key events in GA4 (1-28 Sep); the key event is not defined in the export. Installs and onboarding come from the platform dashboard and cover all sources; there is no link yet from an ad click to an install. The app link (onelink.to/gpbwrg) already exists and can carry campaign tags. Onboarded users 57 to 61 over 21-29 Sep.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2 follows from the GA4 campaign export: Arabic has a lower engagement rate (86.9% vs 97.2%) but more key events per session (1.05 vs 0.94). Decision 3 follows from the dashboards: +53 downloads but +4 onboarded in the first six days of paid testing. Gross deposits: $12,206 is the total recorded on the platform to date, confirmed by management on 29 Sep (the dashboard's $10,029.69 is assets under management, a different measure; the Board shows both). Open items: the Board figures (61 clients, $12,206) are as at 28 Sep, and Board slide 3 wrongly says 'as at 17 September', corrected in the separate Board update file; no Ignite spend, cost per key event or LinkedIn lead data, and the key event is undefined; no September social exports; the 793% active-user rise (GA card, prior week implied) and LinkedIn +118% / +155% are not traceable to an export; LinkedIn followers 531 vs 586; $5,000 campaign T&amp;Cs sent for approval on 20 Jul with no sign-off on file. Market Pulse: in-app feature in discussion (Exante data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HatemIsa_202508993_IT9002_NLP_Project/emyaa-ceo-deck/working/charts/emyaa_white.png">    </p:cNvPr>
          <p:cNvPicPr>
            <a:picLocks noChangeAspect="1"/>
          </p:cNvPicPr>
          <p:nvPr/>
        </p:nvPicPr>
        <p:blipFill>
          <a:blip r:embed="rId2"/>
          <a:stretch>
            <a:fillRect/>
          </a:stretch>
        </p:blipFill>
        <p:spPr>
          <a:xfrm>
            <a:off x="685800" y="685800"/>
            <a:ext cx="1600200" cy="566928"/>
          </a:xfrm>
          <a:prstGeom prst="rect">
            <a:avLst/>
          </a:prstGeom>
        </p:spPr>
      </p:pic>
      <p:pic>
        <p:nvPicPr>
          <p:cNvPr id="3" name="Image 1" descr="/home/user/HatemIsa_202508993_IT9002_NLP_Project/emyaa-ceo-deck/working/charts/ajyad_white.png">    </p:cNvPr>
          <p:cNvPicPr>
            <a:picLocks noChangeAspect="1"/>
          </p:cNvPicPr>
          <p:nvPr/>
        </p:nvPicPr>
        <p:blipFill>
          <a:blip r:embed="rId3"/>
          <a:stretch>
            <a:fillRect/>
          </a:stretch>
        </p:blipFill>
        <p:spPr>
          <a:xfrm>
            <a:off x="9756648" y="685800"/>
            <a:ext cx="1755648" cy="512064"/>
          </a:xfrm>
          <a:prstGeom prst="rect">
            <a:avLst/>
          </a:prstGeom>
        </p:spPr>
      </p:pic>
      <p:sp>
        <p:nvSpPr>
          <p:cNvPr id="4" name="Text 0"/>
          <p:cNvSpPr txBox="1"/>
          <p:nvPr/>
        </p:nvSpPr>
        <p:spPr>
          <a:xfrm>
            <a:off x="685800" y="2560320"/>
            <a:ext cx="10881360" cy="868680"/>
          </a:xfrm>
          <a:prstGeom prst="rect">
            <a:avLst/>
          </a:prstGeom>
          <a:noFill/>
          <a:ln/>
        </p:spPr>
        <p:txBody>
          <a:bodyPr wrap="square" lIns="0" tIns="0" rIns="0" bIns="0" rtlCol="0" anchor="t"/>
          <a:lstStyle/>
          <a:p>
            <a:pPr indent="0" marL="0">
              <a:buNone/>
            </a:pPr>
            <a:r>
              <a:rPr lang="en-US" sz="4000" b="1" dirty="0">
                <a:solidFill>
                  <a:srgbClr val="FFFFFF"/>
                </a:solidFill>
                <a:latin typeface="Exo 2" pitchFamily="34" charset="0"/>
                <a:ea typeface="Exo 2" pitchFamily="34" charset="-122"/>
                <a:cs typeface="Exo 2" pitchFamily="34" charset="-120"/>
              </a:rPr>
              <a:t>Marketing Performance Update</a:t>
            </a:r>
            <a:endParaRPr lang="en-US" sz="4000" dirty="0"/>
          </a:p>
        </p:txBody>
      </p:sp>
      <p:sp>
        <p:nvSpPr>
          <p:cNvPr id="5" name="Text 1"/>
          <p:cNvSpPr txBox="1"/>
          <p:nvPr/>
        </p:nvSpPr>
        <p:spPr>
          <a:xfrm>
            <a:off x="685800" y="3474720"/>
            <a:ext cx="10058400" cy="411480"/>
          </a:xfrm>
          <a:prstGeom prst="rect">
            <a:avLst/>
          </a:prstGeom>
          <a:noFill/>
          <a:ln/>
        </p:spPr>
        <p:txBody>
          <a:bodyPr wrap="square" lIns="0" tIns="0" rIns="0" bIns="0" rtlCol="0" anchor="t"/>
          <a:lstStyle/>
          <a:p>
            <a:pPr indent="0" marL="0">
              <a:buNone/>
            </a:pPr>
            <a:r>
              <a:rPr lang="en-US" sz="2000" b="1" spc="100" kern="0" dirty="0">
                <a:solidFill>
                  <a:srgbClr val="D4AF37"/>
                </a:solidFill>
                <a:latin typeface="Exo 2" pitchFamily="34" charset="0"/>
                <a:ea typeface="Exo 2" pitchFamily="34" charset="-122"/>
                <a:cs typeface="Exo 2" pitchFamily="34" charset="-120"/>
              </a:rPr>
              <a:t>CEO UPDATE</a:t>
            </a:r>
            <a:endParaRPr lang="en-US" sz="2000" dirty="0"/>
          </a:p>
        </p:txBody>
      </p:sp>
      <p:sp>
        <p:nvSpPr>
          <p:cNvPr id="6" name="Text 2"/>
          <p:cNvSpPr txBox="1"/>
          <p:nvPr/>
        </p:nvSpPr>
        <p:spPr>
          <a:xfrm>
            <a:off x="685800" y="3931920"/>
            <a:ext cx="7315200" cy="365760"/>
          </a:xfrm>
          <a:prstGeom prst="rect">
            <a:avLst/>
          </a:prstGeom>
          <a:noFill/>
          <a:ln/>
        </p:spPr>
        <p:txBody>
          <a:bodyPr wrap="square" lIns="0" tIns="0" rIns="0" bIns="0" rtlCol="0" anchor="t"/>
          <a:lstStyle/>
          <a:p>
            <a:pPr indent="0" marL="0">
              <a:buNone/>
            </a:pPr>
            <a:r>
              <a:rPr lang="en-US" sz="1600" dirty="0">
                <a:solidFill>
                  <a:srgbClr val="FFFFFF"/>
                </a:solidFill>
                <a:latin typeface="Exo 2" pitchFamily="34" charset="0"/>
                <a:ea typeface="Exo 2" pitchFamily="34" charset="-122"/>
                <a:cs typeface="Exo 2" pitchFamily="34" charset="-120"/>
              </a:rPr>
              <a:t>1 October 2026</a:t>
            </a:r>
            <a:endParaRPr lang="en-US" sz="1600" dirty="0"/>
          </a:p>
        </p:txBody>
      </p:sp>
      <p:sp>
        <p:nvSpPr>
          <p:cNvPr id="7" name="Text 3"/>
          <p:cNvSpPr txBox="1"/>
          <p:nvPr/>
        </p:nvSpPr>
        <p:spPr>
          <a:xfrm>
            <a:off x="685800" y="6126480"/>
            <a:ext cx="10881360" cy="274320"/>
          </a:xfrm>
          <a:prstGeom prst="rect">
            <a:avLst/>
          </a:prstGeom>
          <a:noFill/>
          <a:ln/>
        </p:spPr>
        <p:txBody>
          <a:bodyPr wrap="square" lIns="0" tIns="0" rIns="0" bIns="0" rtlCol="0" anchor="t"/>
          <a:lstStyle/>
          <a:p>
            <a:pPr indent="0" marL="0">
              <a:buNone/>
            </a:pPr>
            <a:r>
              <a:rPr lang="en-US" sz="1000" dirty="0">
                <a:solidFill>
                  <a:srgbClr val="C6CFE4"/>
                </a:solidFill>
                <a:latin typeface="Exo 2" pitchFamily="34" charset="0"/>
                <a:ea typeface="Exo 2" pitchFamily="34" charset="-122"/>
                <a:cs typeface="Exo 2" pitchFamily="34" charset="-120"/>
              </a:rPr>
              <a:t>Web: GA4, 1-28 Sep 2026  |  Platform: daily dashboard, 29 Sep 2026  |  Plan and budget: Board update, 17 Sep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4689"/>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182880"/>
          </a:xfrm>
          <a:prstGeom prst="rect">
            <a:avLst/>
          </a:prstGeom>
          <a:noFill/>
          <a:ln/>
        </p:spPr>
        <p:txBody>
          <a:bodyPr wrap="square" lIns="0" tIns="0" rIns="0" bIns="0" rtlCol="0" anchor="t"/>
          <a:lstStyle/>
          <a:p>
            <a:pPr indent="0" marL="0">
              <a:buNone/>
            </a:pPr>
            <a:r>
              <a:rPr lang="en-US" sz="900" b="1" spc="200" kern="0" dirty="0">
                <a:solidFill>
                  <a:srgbClr val="D4AF37"/>
                </a:solidFill>
                <a:latin typeface="Exo 2" pitchFamily="34" charset="0"/>
                <a:ea typeface="Exo 2" pitchFamily="34" charset="-122"/>
                <a:cs typeface="Exo 2" pitchFamily="34" charset="-120"/>
              </a:rPr>
              <a:t>MARKETING EFFORTS</a:t>
            </a:r>
            <a:endParaRPr lang="en-US" sz="900" dirty="0"/>
          </a:p>
        </p:txBody>
      </p:sp>
      <p:sp>
        <p:nvSpPr>
          <p:cNvPr id="5" name="Text 2"/>
          <p:cNvSpPr txBox="1"/>
          <p:nvPr/>
        </p:nvSpPr>
        <p:spPr>
          <a:xfrm>
            <a:off x="566928" y="475488"/>
            <a:ext cx="9326880" cy="749808"/>
          </a:xfrm>
          <a:prstGeom prst="rect">
            <a:avLst/>
          </a:prstGeom>
          <a:noFill/>
          <a:ln/>
        </p:spPr>
        <p:txBody>
          <a:bodyPr wrap="square" lIns="0" tIns="0" rIns="0" bIns="0" rtlCol="0" anchor="ctr"/>
          <a:lstStyle/>
          <a:p>
            <a:pPr indent="0" marL="0">
              <a:buNone/>
            </a:pPr>
            <a:r>
              <a:rPr lang="en-US" sz="2000" b="1" dirty="0">
                <a:solidFill>
                  <a:srgbClr val="FFFFFF"/>
                </a:solidFill>
                <a:latin typeface="Exo 2" pitchFamily="34" charset="0"/>
                <a:ea typeface="Exo 2" pitchFamily="34" charset="-122"/>
                <a:cs typeface="Exo 2" pitchFamily="34" charset="-120"/>
              </a:rPr>
              <a:t>September: paid media went into testing, two campaigns are live and four creator videos are out</a:t>
            </a:r>
            <a:endParaRPr lang="en-US" sz="20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Shape 3"/>
          <p:cNvSpPr/>
          <p:nvPr/>
        </p:nvSpPr>
        <p:spPr>
          <a:xfrm>
            <a:off x="566928" y="5669280"/>
            <a:ext cx="11064240" cy="457200"/>
          </a:xfrm>
          <a:prstGeom prst="rect">
            <a:avLst/>
          </a:prstGeom>
          <a:solidFill>
            <a:srgbClr val="E3E8F2"/>
          </a:solidFill>
          <a:ln w="12700">
            <a:solidFill>
              <a:srgbClr val="E3E8F2"/>
            </a:solidFill>
            <a:prstDash val="solid"/>
          </a:ln>
        </p:spPr>
      </p:sp>
      <p:sp>
        <p:nvSpPr>
          <p:cNvPr id="8" name="Shape 4"/>
          <p:cNvSpPr/>
          <p:nvPr/>
        </p:nvSpPr>
        <p:spPr>
          <a:xfrm>
            <a:off x="566928" y="5669280"/>
            <a:ext cx="45720" cy="457200"/>
          </a:xfrm>
          <a:prstGeom prst="rect">
            <a:avLst/>
          </a:prstGeom>
          <a:solidFill>
            <a:srgbClr val="D4AF37"/>
          </a:solidFill>
          <a:ln w="12700">
            <a:solidFill>
              <a:srgbClr val="D4AF37"/>
            </a:solidFill>
            <a:prstDash val="solid"/>
          </a:ln>
        </p:spPr>
      </p:sp>
      <p:sp>
        <p:nvSpPr>
          <p:cNvPr id="9" name="Text 5"/>
          <p:cNvSpPr txBox="1"/>
          <p:nvPr/>
        </p:nvSpPr>
        <p:spPr>
          <a:xfrm>
            <a:off x="777240" y="5669280"/>
            <a:ext cx="10744200" cy="45720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Takeaway   </a:t>
            </a:r>
            <a:pPr indent="0" marL="0">
              <a:buNone/>
            </a:pPr>
            <a:r>
              <a:rPr lang="en-US" sz="1150" dirty="0">
                <a:solidFill>
                  <a:srgbClr val="1F2A44"/>
                </a:solidFill>
                <a:latin typeface="Exo 2" pitchFamily="34" charset="0"/>
                <a:ea typeface="Exo 2" pitchFamily="34" charset="-122"/>
                <a:cs typeface="Exo 2" pitchFamily="34" charset="-120"/>
              </a:rPr>
              <a:t>All efforts are on plan. Only paid media carries a decision: $30,000 (Board plan), judged against CAC targets of $167 / $417 / $882.</a:t>
            </a:r>
            <a:endParaRPr lang="en-US" sz="1150" dirty="0"/>
          </a:p>
        </p:txBody>
      </p:sp>
      <p:sp>
        <p:nvSpPr>
          <p:cNvPr id="10" name="Text 6"/>
          <p:cNvSpPr txBox="1"/>
          <p:nvPr/>
        </p:nvSpPr>
        <p:spPr>
          <a:xfrm>
            <a:off x="566928" y="6199632"/>
            <a:ext cx="9692640" cy="274320"/>
          </a:xfrm>
          <a:prstGeom prst="rect">
            <a:avLst/>
          </a:prstGeom>
          <a:noFill/>
          <a:ln/>
        </p:spPr>
        <p:txBody>
          <a:bodyPr wrap="square" lIns="0" tIns="0" rIns="0" bIns="0" rtlCol="0" anchor="t"/>
          <a:lstStyle/>
          <a:p>
            <a:pPr indent="0" marL="0">
              <a:buNone/>
            </a:pPr>
            <a:r>
              <a:rPr lang="en-US" sz="800" dirty="0">
                <a:solidFill>
                  <a:srgbClr val="7A849C"/>
                </a:solidFill>
                <a:latin typeface="Exo 2" pitchFamily="34" charset="0"/>
                <a:ea typeface="Exo 2" pitchFamily="34" charset="-122"/>
                <a:cs typeface="Exo 2" pitchFamily="34" charset="-120"/>
              </a:rPr>
              <a:t>Source: GA4 exports 1-28 Sep 2026; Board update 17 Sep 2026; 24F briefing; $5,000 campaign checklist and T&amp;Cs; Sep and Oct 2026 calendars; Instagram grid screenshot; Performance Analysis deck (X, TikTok).</a:t>
            </a:r>
            <a:endParaRPr lang="en-US" sz="800" dirty="0"/>
          </a:p>
        </p:txBody>
      </p:sp>
      <p:sp>
        <p:nvSpPr>
          <p:cNvPr id="11" name="Text 7"/>
          <p:cNvSpPr txBox="1"/>
          <p:nvPr/>
        </p:nvSpPr>
        <p:spPr>
          <a:xfrm>
            <a:off x="566928" y="6510528"/>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CEO Marketing Update</a:t>
            </a:r>
            <a:endParaRPr lang="en-US" sz="800" dirty="0"/>
          </a:p>
        </p:txBody>
      </p:sp>
      <p:sp>
        <p:nvSpPr>
          <p:cNvPr id="12" name="Text 8"/>
          <p:cNvSpPr txBox="1"/>
          <p:nvPr/>
        </p:nvSpPr>
        <p:spPr>
          <a:xfrm>
            <a:off x="9802368" y="6510528"/>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2</a:t>
            </a:r>
            <a:endParaRPr lang="en-US" sz="800" dirty="0"/>
          </a:p>
        </p:txBody>
      </p:sp>
      <p:pic>
        <p:nvPicPr>
          <p:cNvPr id="13" name="Image 2" descr="/home/user/HatemIsa_202508993_IT9002_NLP_Project/emyaa-ceo-deck/working/charts/emyaa_navy.png">    </p:cNvPr>
          <p:cNvPicPr>
            <a:picLocks noChangeAspect="1"/>
          </p:cNvPicPr>
          <p:nvPr/>
        </p:nvPicPr>
        <p:blipFill>
          <a:blip r:embed="rId3"/>
          <a:stretch>
            <a:fillRect/>
          </a:stretch>
        </p:blipFill>
        <p:spPr>
          <a:xfrm>
            <a:off x="10607040" y="6336792"/>
            <a:ext cx="1024128" cy="365760"/>
          </a:xfrm>
          <a:prstGeom prst="rect">
            <a:avLst/>
          </a:prstGeom>
        </p:spPr>
      </p:pic>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8001000" cy="914400"/>
        </p:xfrm>
        <a:graphic>
          <a:graphicData uri="http://schemas.openxmlformats.org/drawingml/2006/table">
            <a:tbl>
              <a:tblPr/>
              <a:tblGrid>
                <a:gridCol w="2011680"/>
                <a:gridCol w="1691640"/>
                <a:gridCol w="2423160"/>
                <a:gridCol w="1874520"/>
              </a:tblGrid>
              <a:tr h="310896">
                <a:tc>
                  <a:txBody>
                    <a:bodyPr/>
                    <a:lstStyle/>
                    <a:p>
                      <a:pPr indent="0" marL="0">
                        <a:buNone/>
                      </a:pPr>
                      <a:r>
                        <a:rPr lang="en-US" sz="1050" b="1" dirty="0">
                          <a:solidFill>
                            <a:srgbClr val="FFFFFF"/>
                          </a:solidFill>
                          <a:latin typeface="Exo 2" pitchFamily="34" charset="0"/>
                          <a:ea typeface="Exo 2" pitchFamily="34" charset="-122"/>
                          <a:cs typeface="Exo 2" pitchFamily="34" charset="-120"/>
                        </a:rPr>
                        <a:t>Effort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050" b="1" dirty="0">
                          <a:solidFill>
                            <a:srgbClr val="FFFFFF"/>
                          </a:solidFill>
                          <a:latin typeface="Exo 2" pitchFamily="34" charset="0"/>
                          <a:ea typeface="Exo 2" pitchFamily="34" charset="-122"/>
                          <a:cs typeface="Exo 2" pitchFamily="34" charset="-120"/>
                        </a:rPr>
                        <a:t>Status</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050" b="1" dirty="0">
                          <a:solidFill>
                            <a:srgbClr val="FFFFFF"/>
                          </a:solidFill>
                          <a:latin typeface="Exo 2" pitchFamily="34" charset="0"/>
                          <a:ea typeface="Exo 2" pitchFamily="34" charset="-122"/>
                          <a:cs typeface="Exo 2" pitchFamily="34" charset="-120"/>
                        </a:rPr>
                        <a:t>Result so far</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050" b="1" dirty="0">
                          <a:solidFill>
                            <a:srgbClr val="FFFFFF"/>
                          </a:solidFill>
                          <a:latin typeface="Exo 2" pitchFamily="34" charset="0"/>
                          <a:ea typeface="Exo 2" pitchFamily="34" charset="-122"/>
                          <a:cs typeface="Exo 2" pitchFamily="34" charset="-120"/>
                        </a:rPr>
                        <a:t>Next checkpoint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Google Ads</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Starter and Emerging, Saudi</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9A7B1F"/>
                          </a:solidFill>
                          <a:latin typeface="Exo 2" pitchFamily="34" charset="0"/>
                          <a:ea typeface="Exo 2" pitchFamily="34" charset="-122"/>
                          <a:cs typeface="Exo 2" pitchFamily="34" charset="-120"/>
                        </a:rPr>
                        <a:t>● </a:t>
                      </a:r>
                      <a:pPr indent="0" marL="0">
                        <a:buNone/>
                      </a:pPr>
                      <a:r>
                        <a:rPr lang="en-US" sz="1050" b="1" dirty="0">
                          <a:solidFill>
                            <a:srgbClr val="9A7B1F"/>
                          </a:solidFill>
                          <a:latin typeface="Exo 2" pitchFamily="34" charset="0"/>
                          <a:ea typeface="Exo 2" pitchFamily="34" charset="-122"/>
                          <a:cs typeface="Exo 2" pitchFamily="34" charset="-120"/>
                        </a:rPr>
                        <a:t>Testing</a:t>
                      </a:r>
                      <a:pPr indent="0" marL="0">
                        <a:buNone/>
                      </a:pPr>
                      <a:r>
                        <a:rPr lang="en-US" sz="1050" dirty="0">
                          <a:solidFill>
                            <a:srgbClr val="1F2A44"/>
                          </a:solidFill>
                          <a:latin typeface="Exo 2" pitchFamily="34" charset="0"/>
                          <a:ea typeface="Exo 2" pitchFamily="34" charset="-122"/>
                          <a:cs typeface="Exo 2" pitchFamily="34" charset="-120"/>
                        </a:rPr>
                        <a:t>  since 22 Sep</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409 sessions, 70% of September site traffic</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Spend and cost per account, 20 Oct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LinkedIn Ads</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Affluent lead generation, Saudi</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9A7B1F"/>
                          </a:solidFill>
                          <a:latin typeface="Exo 2" pitchFamily="34" charset="0"/>
                          <a:ea typeface="Exo 2" pitchFamily="34" charset="-122"/>
                          <a:cs typeface="Exo 2" pitchFamily="34" charset="-120"/>
                        </a:rPr>
                        <a:t>● </a:t>
                      </a:r>
                      <a:pPr indent="0" marL="0">
                        <a:buNone/>
                      </a:pPr>
                      <a:r>
                        <a:rPr lang="en-US" sz="1050" b="1" dirty="0">
                          <a:solidFill>
                            <a:srgbClr val="9A7B1F"/>
                          </a:solidFill>
                          <a:latin typeface="Exo 2" pitchFamily="34" charset="0"/>
                          <a:ea typeface="Exo 2" pitchFamily="34" charset="-122"/>
                          <a:cs typeface="Exo 2" pitchFamily="34" charset="-120"/>
                        </a:rPr>
                        <a:t>Testing</a:t>
                      </a:r>
                      <a:pPr indent="0" marL="0">
                        <a:buNone/>
                      </a:pPr>
                      <a:r>
                        <a:rPr lang="en-US" sz="1050" dirty="0">
                          <a:solidFill>
                            <a:srgbClr val="1F2A44"/>
                          </a:solidFill>
                          <a:latin typeface="Exo 2" pitchFamily="34" charset="0"/>
                          <a:ea typeface="Exo 2" pitchFamily="34" charset="-122"/>
                          <a:cs typeface="Exo 2" pitchFamily="34" charset="-120"/>
                        </a:rPr>
                        <a:t>  since 22 Sep</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No results reported yet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Leads and cost per lead, 20 Oct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Mention &amp; Win</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$500 monthly contest, GCC</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BA97C"/>
                          </a:solidFill>
                          <a:latin typeface="Exo 2" pitchFamily="34" charset="0"/>
                          <a:ea typeface="Exo 2" pitchFamily="34" charset="-122"/>
                          <a:cs typeface="Exo 2" pitchFamily="34" charset="-120"/>
                        </a:rPr>
                        <a:t>● </a:t>
                      </a:r>
                      <a:pPr indent="0" marL="0">
                        <a:buNone/>
                      </a:pPr>
                      <a:r>
                        <a:rPr lang="en-US" sz="1050" b="1" dirty="0">
                          <a:solidFill>
                            <a:srgbClr val="1BA97C"/>
                          </a:solidFill>
                          <a:latin typeface="Exo 2" pitchFamily="34" charset="0"/>
                          <a:ea typeface="Exo 2" pitchFamily="34" charset="-122"/>
                          <a:cs typeface="Exo 2" pitchFamily="34" charset="-120"/>
                        </a:rPr>
                        <a:t>Live</a:t>
                      </a:r>
                      <a:pPr indent="0" marL="0">
                        <a:buNone/>
                      </a:pPr>
                      <a:r>
                        <a:rPr lang="en-US" sz="1050" dirty="0">
                          <a:solidFill>
                            <a:srgbClr val="1F2A44"/>
                          </a:solidFill>
                          <a:latin typeface="Exo 2" pitchFamily="34" charset="0"/>
                          <a:ea typeface="Exo 2" pitchFamily="34" charset="-122"/>
                          <a:cs typeface="Exo 2" pitchFamily="34" charset="-120"/>
                        </a:rPr>
                        <a:t>  round to 20 Oct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186K views on the campaign post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Entries and accounts opened</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$5,000 Prize Campaign</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1 Aug to 31 Dec, draw 10 Jan</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BA97C"/>
                          </a:solidFill>
                          <a:latin typeface="Exo 2" pitchFamily="34" charset="0"/>
                          <a:ea typeface="Exo 2" pitchFamily="34" charset="-122"/>
                          <a:cs typeface="Exo 2" pitchFamily="34" charset="-120"/>
                        </a:rPr>
                        <a:t>● </a:t>
                      </a:r>
                      <a:pPr indent="0" marL="0">
                        <a:buNone/>
                      </a:pPr>
                      <a:r>
                        <a:rPr lang="en-US" sz="1050" b="1" dirty="0">
                          <a:solidFill>
                            <a:srgbClr val="1BA97C"/>
                          </a:solidFill>
                          <a:latin typeface="Exo 2" pitchFamily="34" charset="0"/>
                          <a:ea typeface="Exo 2" pitchFamily="34" charset="-122"/>
                          <a:cs typeface="Exo 2" pitchFamily="34" charset="-120"/>
                        </a:rPr>
                        <a:t>Live</a:t>
                      </a:r>
                      <a:pPr indent="0" marL="0">
                        <a:buNone/>
                      </a:pPr>
                      <a:r>
                        <a:rPr lang="en-US" sz="1050" dirty="0">
                          <a:solidFill>
                            <a:srgbClr val="1F2A44"/>
                          </a:solidFill>
                          <a:latin typeface="Exo 2" pitchFamily="34" charset="0"/>
                          <a:ea typeface="Exo 2" pitchFamily="34" charset="-122"/>
                          <a:cs typeface="Exo 2" pitchFamily="34" charset="-120"/>
                        </a:rPr>
                        <a:t>  pages up</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T&amp;C sign-off not on file</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Compliance sign-off</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Creator videos</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one a month</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32257"/>
                          </a:solidFill>
                          <a:latin typeface="Exo 2" pitchFamily="34" charset="0"/>
                          <a:ea typeface="Exo 2" pitchFamily="34" charset="-122"/>
                          <a:cs typeface="Exo 2" pitchFamily="34" charset="-120"/>
                        </a:rPr>
                        <a:t>● </a:t>
                      </a:r>
                      <a:pPr indent="0" marL="0">
                        <a:buNone/>
                      </a:pPr>
                      <a:r>
                        <a:rPr lang="en-US" sz="1050" b="1" dirty="0">
                          <a:solidFill>
                            <a:srgbClr val="132257"/>
                          </a:solidFill>
                          <a:latin typeface="Exo 2" pitchFamily="34" charset="0"/>
                          <a:ea typeface="Exo 2" pitchFamily="34" charset="-122"/>
                          <a:cs typeface="Exo 2" pitchFamily="34" charset="-120"/>
                        </a:rPr>
                        <a:t>Posted</a:t>
                      </a:r>
                      <a:pPr indent="0" marL="0">
                        <a:buNone/>
                      </a:pPr>
                      <a:r>
                        <a:rPr lang="en-US" sz="1050" dirty="0">
                          <a:solidFill>
                            <a:srgbClr val="1F2A44"/>
                          </a:solidFill>
                          <a:latin typeface="Exo 2" pitchFamily="34" charset="0"/>
                          <a:ea typeface="Exo 2" pitchFamily="34" charset="-122"/>
                          <a:cs typeface="Exo 2" pitchFamily="34" charset="-120"/>
                        </a:rPr>
                        <a:t>  4 so far</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5.3M and 1.3M views; Manal Talal 22 Oct, Hamed Nov</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Abdulelah view count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603504">
                <a:tc>
                  <a:txBody>
                    <a:bodyPr/>
                    <a:lstStyle/>
                    <a:p>
                      <a:pPr indent="0" marL="0">
                        <a:buNone/>
                      </a:pPr>
                      <a:r>
                        <a:rPr lang="en-US" sz="1050" b="1" dirty="0">
                          <a:solidFill>
                            <a:srgbClr val="132257"/>
                          </a:solidFill>
                          <a:latin typeface="Exo 2" pitchFamily="34" charset="0"/>
                          <a:ea typeface="Exo 2" pitchFamily="34" charset="-122"/>
                          <a:cs typeface="Exo 2" pitchFamily="34" charset="-120"/>
                        </a:rPr>
                        <a:t>Social channels</a:t>
                      </a:r>
                      <a:endParaRPr lang="en-US" sz="1050" dirty="0">
                        <a:latin typeface="Exo 2" charset="0"/>
                        <a:ea typeface="Exo 2" charset="0"/>
                        <a:cs typeface="Exo 2" charset="0"/>
                      </a:endParaRPr>
                    </a:p>
                    <a:p>
                      <a:pPr indent="0" marL="0">
                        <a:buNone/>
                      </a:pPr>
                      <a:r>
                        <a:rPr lang="en-US" sz="900" dirty="0">
                          <a:solidFill>
                            <a:srgbClr val="7A849C"/>
                          </a:solidFill>
                          <a:latin typeface="Exo 2" pitchFamily="34" charset="0"/>
                          <a:ea typeface="Exo 2" pitchFamily="34" charset="-122"/>
                          <a:cs typeface="Exo 2" pitchFamily="34" charset="-120"/>
                        </a:rPr>
                        <a:t>Instagram, LinkedIn, X, TikTok</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9A7B1F"/>
                          </a:solidFill>
                          <a:latin typeface="Exo 2" pitchFamily="34" charset="0"/>
                          <a:ea typeface="Exo 2" pitchFamily="34" charset="-122"/>
                          <a:cs typeface="Exo 2" pitchFamily="34" charset="-120"/>
                        </a:rPr>
                        <a:t>● </a:t>
                      </a:r>
                      <a:pPr indent="0" marL="0">
                        <a:buNone/>
                      </a:pPr>
                      <a:r>
                        <a:rPr lang="en-US" sz="1050" b="1" dirty="0">
                          <a:solidFill>
                            <a:srgbClr val="9A7B1F"/>
                          </a:solidFill>
                          <a:latin typeface="Exo 2" pitchFamily="34" charset="0"/>
                          <a:ea typeface="Exo 2" pitchFamily="34" charset="-122"/>
                          <a:cs typeface="Exo 2" pitchFamily="34" charset="-120"/>
                        </a:rPr>
                        <a:t>Pending evidence</a:t>
                      </a:r>
                      <a:pPr indent="0" marL="0">
                        <a:buNone/>
                      </a:pP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Followers: 2,116 / 531 / 738 / 15</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050" dirty="0">
                          <a:solidFill>
                            <a:srgbClr val="1F2A44"/>
                          </a:solidFill>
                          <a:latin typeface="Exo 2" pitchFamily="34" charset="0"/>
                          <a:ea typeface="Exo 2" pitchFamily="34" charset="-122"/>
                          <a:cs typeface="Exo 2" pitchFamily="34" charset="-120"/>
                        </a:rPr>
                        <a:t>September exports, 8 Oct</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bl>
          </a:graphicData>
        </a:graphic>
      </p:graphicFrame>
      <p:pic>
        <p:nvPicPr>
          <p:cNvPr id="16" name="Image 3" descr="/home/user/HatemIsa_202508993_IT9002_NLP_Project/emyaa-ceo-deck/working/charts/tile9_musheera.png">    </p:cNvPr>
          <p:cNvPicPr>
            <a:picLocks noChangeAspect="1"/>
          </p:cNvPicPr>
          <p:nvPr/>
        </p:nvPicPr>
        <p:blipFill>
          <a:blip r:embed="rId4"/>
          <a:stretch>
            <a:fillRect/>
          </a:stretch>
        </p:blipFill>
        <p:spPr>
          <a:xfrm>
            <a:off x="8869680" y="1572768"/>
            <a:ext cx="1234440" cy="1481328"/>
          </a:xfrm>
          <a:prstGeom prst="rect">
            <a:avLst/>
          </a:prstGeom>
        </p:spPr>
      </p:pic>
      <p:sp>
        <p:nvSpPr>
          <p:cNvPr id="17" name="Text 9"/>
          <p:cNvSpPr txBox="1"/>
          <p:nvPr/>
        </p:nvSpPr>
        <p:spPr>
          <a:xfrm>
            <a:off x="8778240" y="3090672"/>
            <a:ext cx="1417320" cy="420624"/>
          </a:xfrm>
          <a:prstGeom prst="rect">
            <a:avLst/>
          </a:prstGeom>
          <a:noFill/>
          <a:ln/>
        </p:spPr>
        <p:txBody>
          <a:bodyPr wrap="square" lIns="0" tIns="0" rIns="0" bIns="0" rtlCol="0" anchor="t"/>
          <a:lstStyle/>
          <a:p>
            <a:pPr algn="ctr" indent="0" marL="0">
              <a:buNone/>
            </a:pPr>
            <a:r>
              <a:rPr lang="en-US" sz="900" b="1" dirty="0">
                <a:solidFill>
                  <a:srgbClr val="132257"/>
                </a:solidFill>
                <a:latin typeface="Exo 2" pitchFamily="34" charset="0"/>
                <a:ea typeface="Exo 2" pitchFamily="34" charset="-122"/>
                <a:cs typeface="Exo 2" pitchFamily="34" charset="-120"/>
              </a:rPr>
              <a:t>Musheera</a:t>
            </a:r>
            <a:endParaRPr lang="en-US" sz="900" dirty="0"/>
          </a:p>
          <a:p>
            <a:pPr algn="ctr" indent="0" marL="0">
              <a:buNone/>
            </a:pPr>
            <a:r>
              <a:rPr lang="en-US" sz="900" dirty="0">
                <a:solidFill>
                  <a:srgbClr val="7A849C"/>
                </a:solidFill>
                <a:latin typeface="Exo 2" pitchFamily="34" charset="0"/>
                <a:ea typeface="Exo 2" pitchFamily="34" charset="-122"/>
                <a:cs typeface="Exo 2" pitchFamily="34" charset="-120"/>
              </a:rPr>
              <a:t>5.3M</a:t>
            </a:r>
            <a:endParaRPr lang="en-US" sz="900" dirty="0"/>
          </a:p>
        </p:txBody>
      </p:sp>
      <p:pic>
        <p:nvPicPr>
          <p:cNvPr id="18" name="Image 4" descr="/home/user/HatemIsa_202508993_IT9002_NLP_Project/emyaa-ceo-deck/working/charts/tile9_ali.png">    </p:cNvPr>
          <p:cNvPicPr>
            <a:picLocks noChangeAspect="1"/>
          </p:cNvPicPr>
          <p:nvPr/>
        </p:nvPicPr>
        <p:blipFill>
          <a:blip r:embed="rId5"/>
          <a:stretch>
            <a:fillRect/>
          </a:stretch>
        </p:blipFill>
        <p:spPr>
          <a:xfrm>
            <a:off x="10287000" y="1572768"/>
            <a:ext cx="1234440" cy="1481328"/>
          </a:xfrm>
          <a:prstGeom prst="rect">
            <a:avLst/>
          </a:prstGeom>
        </p:spPr>
      </p:pic>
      <p:sp>
        <p:nvSpPr>
          <p:cNvPr id="19" name="Text 10"/>
          <p:cNvSpPr txBox="1"/>
          <p:nvPr/>
        </p:nvSpPr>
        <p:spPr>
          <a:xfrm>
            <a:off x="10195560" y="3090672"/>
            <a:ext cx="1417320" cy="420624"/>
          </a:xfrm>
          <a:prstGeom prst="rect">
            <a:avLst/>
          </a:prstGeom>
          <a:noFill/>
          <a:ln/>
        </p:spPr>
        <p:txBody>
          <a:bodyPr wrap="square" lIns="0" tIns="0" rIns="0" bIns="0" rtlCol="0" anchor="t"/>
          <a:lstStyle/>
          <a:p>
            <a:pPr algn="ctr" indent="0" marL="0">
              <a:buNone/>
            </a:pPr>
            <a:r>
              <a:rPr lang="en-US" sz="900" b="1" dirty="0">
                <a:solidFill>
                  <a:srgbClr val="132257"/>
                </a:solidFill>
                <a:latin typeface="Exo 2" pitchFamily="34" charset="0"/>
                <a:ea typeface="Exo 2" pitchFamily="34" charset="-122"/>
                <a:cs typeface="Exo 2" pitchFamily="34" charset="-120"/>
              </a:rPr>
              <a:t>Ali Sabeel</a:t>
            </a:r>
            <a:endParaRPr lang="en-US" sz="900" dirty="0"/>
          </a:p>
          <a:p>
            <a:pPr algn="ctr" indent="0" marL="0">
              <a:buNone/>
            </a:pPr>
            <a:r>
              <a:rPr lang="en-US" sz="900" dirty="0">
                <a:solidFill>
                  <a:srgbClr val="7A849C"/>
                </a:solidFill>
                <a:latin typeface="Exo 2" pitchFamily="34" charset="0"/>
                <a:ea typeface="Exo 2" pitchFamily="34" charset="-122"/>
                <a:cs typeface="Exo 2" pitchFamily="34" charset="-120"/>
              </a:rPr>
              <a:t>1.3M</a:t>
            </a:r>
            <a:endParaRPr lang="en-US" sz="900" dirty="0"/>
          </a:p>
        </p:txBody>
      </p:sp>
      <p:pic>
        <p:nvPicPr>
          <p:cNvPr id="20" name="Image 5" descr="/home/user/HatemIsa_202508993_IT9002_NLP_Project/emyaa-ceo-deck/working/charts/tile9_abdulelah.png">    </p:cNvPr>
          <p:cNvPicPr>
            <a:picLocks noChangeAspect="1"/>
          </p:cNvPicPr>
          <p:nvPr/>
        </p:nvPicPr>
        <p:blipFill>
          <a:blip r:embed="rId6"/>
          <a:stretch>
            <a:fillRect/>
          </a:stretch>
        </p:blipFill>
        <p:spPr>
          <a:xfrm>
            <a:off x="8869680" y="3584448"/>
            <a:ext cx="1234440" cy="1481328"/>
          </a:xfrm>
          <a:prstGeom prst="rect">
            <a:avLst/>
          </a:prstGeom>
        </p:spPr>
      </p:pic>
      <p:sp>
        <p:nvSpPr>
          <p:cNvPr id="21" name="Text 11"/>
          <p:cNvSpPr txBox="1"/>
          <p:nvPr/>
        </p:nvSpPr>
        <p:spPr>
          <a:xfrm>
            <a:off x="8778240" y="5102352"/>
            <a:ext cx="1417320" cy="420624"/>
          </a:xfrm>
          <a:prstGeom prst="rect">
            <a:avLst/>
          </a:prstGeom>
          <a:noFill/>
          <a:ln/>
        </p:spPr>
        <p:txBody>
          <a:bodyPr wrap="square" lIns="0" tIns="0" rIns="0" bIns="0" rtlCol="0" anchor="t"/>
          <a:lstStyle/>
          <a:p>
            <a:pPr algn="ctr" indent="0" marL="0">
              <a:buNone/>
            </a:pPr>
            <a:r>
              <a:rPr lang="en-US" sz="900" b="1" dirty="0">
                <a:solidFill>
                  <a:srgbClr val="132257"/>
                </a:solidFill>
                <a:latin typeface="Exo 2" pitchFamily="34" charset="0"/>
                <a:ea typeface="Exo 2" pitchFamily="34" charset="-122"/>
                <a:cs typeface="Exo 2" pitchFamily="34" charset="-120"/>
              </a:rPr>
              <a:t>Abdulelah Al Harbi</a:t>
            </a:r>
            <a:endParaRPr lang="en-US" sz="900" dirty="0"/>
          </a:p>
          <a:p>
            <a:pPr algn="ctr" indent="0" marL="0">
              <a:buNone/>
            </a:pPr>
            <a:r>
              <a:rPr lang="en-US" sz="900" dirty="0">
                <a:solidFill>
                  <a:srgbClr val="7A849C"/>
                </a:solidFill>
                <a:latin typeface="Exo 2" pitchFamily="34" charset="0"/>
                <a:ea typeface="Exo 2" pitchFamily="34" charset="-122"/>
                <a:cs typeface="Exo 2" pitchFamily="34" charset="-120"/>
              </a:rPr>
              <a:t>views pending</a:t>
            </a:r>
            <a:endParaRPr lang="en-US" sz="900" dirty="0"/>
          </a:p>
        </p:txBody>
      </p:sp>
      <p:pic>
        <p:nvPicPr>
          <p:cNvPr id="22" name="Image 6" descr="/home/user/HatemIsa_202508993_IT9002_NLP_Project/emyaa-ceo-deck/working/charts/tile9_howto.png">    </p:cNvPr>
          <p:cNvPicPr>
            <a:picLocks noChangeAspect="1"/>
          </p:cNvPicPr>
          <p:nvPr/>
        </p:nvPicPr>
        <p:blipFill>
          <a:blip r:embed="rId7"/>
          <a:stretch>
            <a:fillRect/>
          </a:stretch>
        </p:blipFill>
        <p:spPr>
          <a:xfrm>
            <a:off x="10287000" y="3584448"/>
            <a:ext cx="1234440" cy="1481328"/>
          </a:xfrm>
          <a:prstGeom prst="rect">
            <a:avLst/>
          </a:prstGeom>
        </p:spPr>
      </p:pic>
      <p:sp>
        <p:nvSpPr>
          <p:cNvPr id="23" name="Text 12"/>
          <p:cNvSpPr txBox="1"/>
          <p:nvPr/>
        </p:nvSpPr>
        <p:spPr>
          <a:xfrm>
            <a:off x="10195560" y="5102352"/>
            <a:ext cx="1417320" cy="420624"/>
          </a:xfrm>
          <a:prstGeom prst="rect">
            <a:avLst/>
          </a:prstGeom>
          <a:noFill/>
          <a:ln/>
        </p:spPr>
        <p:txBody>
          <a:bodyPr wrap="square" lIns="0" tIns="0" rIns="0" bIns="0" rtlCol="0" anchor="t"/>
          <a:lstStyle/>
          <a:p>
            <a:pPr algn="ctr" indent="0" marL="0">
              <a:buNone/>
            </a:pPr>
            <a:r>
              <a:rPr lang="en-US" sz="900" b="1" dirty="0">
                <a:solidFill>
                  <a:srgbClr val="132257"/>
                </a:solidFill>
                <a:latin typeface="Exo 2" pitchFamily="34" charset="0"/>
                <a:ea typeface="Exo 2" pitchFamily="34" charset="-122"/>
                <a:cs typeface="Exo 2" pitchFamily="34" charset="-120"/>
              </a:rPr>
              <a:t>How-to, presenter</a:t>
            </a:r>
            <a:endParaRPr lang="en-US" sz="900" dirty="0"/>
          </a:p>
          <a:p>
            <a:pPr algn="ctr" indent="0" marL="0">
              <a:buNone/>
            </a:pPr>
            <a:r>
              <a:rPr lang="en-US" sz="900" dirty="0">
                <a:solidFill>
                  <a:srgbClr val="7A849C"/>
                </a:solidFill>
                <a:latin typeface="Exo 2" pitchFamily="34" charset="0"/>
                <a:ea typeface="Exo 2" pitchFamily="34" charset="-122"/>
                <a:cs typeface="Exo 2" pitchFamily="34" charset="-120"/>
              </a:rPr>
              <a:t>332 views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4689"/>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182880"/>
          </a:xfrm>
          <a:prstGeom prst="rect">
            <a:avLst/>
          </a:prstGeom>
          <a:noFill/>
          <a:ln/>
        </p:spPr>
        <p:txBody>
          <a:bodyPr wrap="square" lIns="0" tIns="0" rIns="0" bIns="0" rtlCol="0" anchor="t"/>
          <a:lstStyle/>
          <a:p>
            <a:pPr indent="0" marL="0">
              <a:buNone/>
            </a:pPr>
            <a:r>
              <a:rPr lang="en-US" sz="900" b="1" spc="200" kern="0" dirty="0">
                <a:solidFill>
                  <a:srgbClr val="D4AF37"/>
                </a:solidFill>
                <a:latin typeface="Exo 2" pitchFamily="34" charset="0"/>
                <a:ea typeface="Exo 2" pitchFamily="34" charset="-122"/>
                <a:cs typeface="Exo 2" pitchFamily="34" charset="-120"/>
              </a:rPr>
              <a:t>RESULTS</a:t>
            </a:r>
            <a:endParaRPr lang="en-US" sz="900" dirty="0"/>
          </a:p>
        </p:txBody>
      </p:sp>
      <p:sp>
        <p:nvSpPr>
          <p:cNvPr id="5" name="Text 2"/>
          <p:cNvSpPr txBox="1"/>
          <p:nvPr/>
        </p:nvSpPr>
        <p:spPr>
          <a:xfrm>
            <a:off x="566928" y="475488"/>
            <a:ext cx="9326880" cy="749808"/>
          </a:xfrm>
          <a:prstGeom prst="rect">
            <a:avLst/>
          </a:prstGeom>
          <a:noFill/>
          <a:ln/>
        </p:spPr>
        <p:txBody>
          <a:bodyPr wrap="square" lIns="0" tIns="0" rIns="0" bIns="0" rtlCol="0" anchor="ctr"/>
          <a:lstStyle/>
          <a:p>
            <a:pPr indent="0" marL="0">
              <a:buNone/>
            </a:pPr>
            <a:r>
              <a:rPr lang="en-US" sz="2000" b="1" dirty="0">
                <a:solidFill>
                  <a:srgbClr val="FFFFFF"/>
                </a:solidFill>
                <a:latin typeface="Exo 2" pitchFamily="34" charset="0"/>
                <a:ea typeface="Exo 2" pitchFamily="34" charset="-122"/>
                <a:cs typeface="Exo 2" pitchFamily="34" charset="-120"/>
              </a:rPr>
              <a:t>Paid search lifted traffic and downloads; onboarding did not follow</a:t>
            </a:r>
            <a:endParaRPr lang="en-US" sz="20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Shape 3"/>
          <p:cNvSpPr/>
          <p:nvPr/>
        </p:nvSpPr>
        <p:spPr>
          <a:xfrm>
            <a:off x="566928" y="5669280"/>
            <a:ext cx="11064240" cy="457200"/>
          </a:xfrm>
          <a:prstGeom prst="rect">
            <a:avLst/>
          </a:prstGeom>
          <a:solidFill>
            <a:srgbClr val="E3E8F2"/>
          </a:solidFill>
          <a:ln w="12700">
            <a:solidFill>
              <a:srgbClr val="E3E8F2"/>
            </a:solidFill>
            <a:prstDash val="solid"/>
          </a:ln>
        </p:spPr>
      </p:sp>
      <p:sp>
        <p:nvSpPr>
          <p:cNvPr id="8" name="Shape 4"/>
          <p:cNvSpPr/>
          <p:nvPr/>
        </p:nvSpPr>
        <p:spPr>
          <a:xfrm>
            <a:off x="566928" y="5669280"/>
            <a:ext cx="45720" cy="457200"/>
          </a:xfrm>
          <a:prstGeom prst="rect">
            <a:avLst/>
          </a:prstGeom>
          <a:solidFill>
            <a:srgbClr val="D4AF37"/>
          </a:solidFill>
          <a:ln w="12700">
            <a:solidFill>
              <a:srgbClr val="D4AF37"/>
            </a:solidFill>
            <a:prstDash val="solid"/>
          </a:ln>
        </p:spPr>
      </p:sp>
      <p:sp>
        <p:nvSpPr>
          <p:cNvPr id="9" name="Text 5"/>
          <p:cNvSpPr txBox="1"/>
          <p:nvPr/>
        </p:nvSpPr>
        <p:spPr>
          <a:xfrm>
            <a:off x="777240" y="5669280"/>
            <a:ext cx="10744200" cy="45720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Takeaway   </a:t>
            </a:r>
            <a:pPr indent="0" marL="0">
              <a:buNone/>
            </a:pPr>
            <a:r>
              <a:rPr lang="en-US" sz="1150" dirty="0">
                <a:solidFill>
                  <a:srgbClr val="1F2A44"/>
                </a:solidFill>
                <a:latin typeface="Exo 2" pitchFamily="34" charset="0"/>
                <a:ea typeface="Exo 2" pitchFamily="34" charset="-122"/>
                <a:cs typeface="Exo 2" pitchFamily="34" charset="-120"/>
              </a:rPr>
              <a:t>The constraint is onboarding, not traffic. Fix KYC completion before spend is scaled.</a:t>
            </a:r>
            <a:endParaRPr lang="en-US" sz="1150" dirty="0"/>
          </a:p>
        </p:txBody>
      </p:sp>
      <p:sp>
        <p:nvSpPr>
          <p:cNvPr id="10" name="Text 6"/>
          <p:cNvSpPr txBox="1"/>
          <p:nvPr/>
        </p:nvSpPr>
        <p:spPr>
          <a:xfrm>
            <a:off x="566928" y="6199632"/>
            <a:ext cx="9692640" cy="274320"/>
          </a:xfrm>
          <a:prstGeom prst="rect">
            <a:avLst/>
          </a:prstGeom>
          <a:noFill/>
          <a:ln/>
        </p:spPr>
        <p:txBody>
          <a:bodyPr wrap="square" lIns="0" tIns="0" rIns="0" bIns="0" rtlCol="0" anchor="t"/>
          <a:lstStyle/>
          <a:p>
            <a:pPr indent="0" marL="0">
              <a:buNone/>
            </a:pPr>
            <a:r>
              <a:rPr lang="en-US" sz="800" dirty="0">
                <a:solidFill>
                  <a:srgbClr val="7A849C"/>
                </a:solidFill>
                <a:latin typeface="Exo 2" pitchFamily="34" charset="0"/>
                <a:ea typeface="Exo 2" pitchFamily="34" charset="-122"/>
                <a:cs typeface="Exo 2" pitchFamily="34" charset="-120"/>
              </a:rPr>
              <a:t>Source: GA4 exports 1-28 Sep 2026; eMYAA Daily Performance Dashboards, cumulative figures on report dates 1, 8, 14, 21 and 29 Sep 2026 (periods of 6 to 8 days).</a:t>
            </a:r>
            <a:endParaRPr lang="en-US" sz="800" dirty="0"/>
          </a:p>
        </p:txBody>
      </p:sp>
      <p:sp>
        <p:nvSpPr>
          <p:cNvPr id="11" name="Text 7"/>
          <p:cNvSpPr txBox="1"/>
          <p:nvPr/>
        </p:nvSpPr>
        <p:spPr>
          <a:xfrm>
            <a:off x="566928" y="6510528"/>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CEO Marketing Update</a:t>
            </a:r>
            <a:endParaRPr lang="en-US" sz="800" dirty="0"/>
          </a:p>
        </p:txBody>
      </p:sp>
      <p:sp>
        <p:nvSpPr>
          <p:cNvPr id="12" name="Text 8"/>
          <p:cNvSpPr txBox="1"/>
          <p:nvPr/>
        </p:nvSpPr>
        <p:spPr>
          <a:xfrm>
            <a:off x="9802368" y="6510528"/>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3</a:t>
            </a:r>
            <a:endParaRPr lang="en-US" sz="800" dirty="0"/>
          </a:p>
        </p:txBody>
      </p:sp>
      <p:pic>
        <p:nvPicPr>
          <p:cNvPr id="13" name="Image 2" descr="/home/user/HatemIsa_202508993_IT9002_NLP_Project/emyaa-ceo-deck/working/charts/emyaa_navy.png">    </p:cNvPr>
          <p:cNvPicPr>
            <a:picLocks noChangeAspect="1"/>
          </p:cNvPicPr>
          <p:nvPr/>
        </p:nvPicPr>
        <p:blipFill>
          <a:blip r:embed="rId3"/>
          <a:stretch>
            <a:fillRect/>
          </a:stretch>
        </p:blipFill>
        <p:spPr>
          <a:xfrm>
            <a:off x="10607040" y="6336792"/>
            <a:ext cx="1024128" cy="365760"/>
          </a:xfrm>
          <a:prstGeom prst="rect">
            <a:avLst/>
          </a:prstGeom>
        </p:spPr>
      </p:pic>
      <p:sp>
        <p:nvSpPr>
          <p:cNvPr id="15" name="Shape 9"/>
          <p:cNvSpPr/>
          <p:nvPr/>
        </p:nvSpPr>
        <p:spPr>
          <a:xfrm>
            <a:off x="566928" y="1572768"/>
            <a:ext cx="3566160" cy="1188720"/>
          </a:xfrm>
          <a:prstGeom prst="rect">
            <a:avLst/>
          </a:prstGeom>
          <a:solidFill>
            <a:srgbClr val="FFFFFF"/>
          </a:solidFill>
          <a:ln w="9525">
            <a:solidFill>
              <a:srgbClr val="D9DFEA"/>
            </a:solidFill>
            <a:prstDash val="solid"/>
          </a:ln>
        </p:spPr>
      </p:sp>
      <p:sp>
        <p:nvSpPr>
          <p:cNvPr id="16" name="Shape 10"/>
          <p:cNvSpPr/>
          <p:nvPr/>
        </p:nvSpPr>
        <p:spPr>
          <a:xfrm>
            <a:off x="566928" y="1572768"/>
            <a:ext cx="3566160" cy="32004"/>
          </a:xfrm>
          <a:prstGeom prst="rect">
            <a:avLst/>
          </a:prstGeom>
          <a:solidFill>
            <a:srgbClr val="D4AF37"/>
          </a:solidFill>
          <a:ln w="12700">
            <a:solidFill>
              <a:srgbClr val="D4AF37"/>
            </a:solidFill>
            <a:prstDash val="solid"/>
          </a:ln>
        </p:spPr>
      </p:sp>
      <p:sp>
        <p:nvSpPr>
          <p:cNvPr id="17" name="Text 11"/>
          <p:cNvSpPr txBox="1"/>
          <p:nvPr/>
        </p:nvSpPr>
        <p:spPr>
          <a:xfrm>
            <a:off x="777240" y="1737360"/>
            <a:ext cx="1188720" cy="731520"/>
          </a:xfrm>
          <a:prstGeom prst="rect">
            <a:avLst/>
          </a:prstGeom>
          <a:noFill/>
          <a:ln/>
        </p:spPr>
        <p:txBody>
          <a:bodyPr wrap="square" lIns="0" tIns="0" rIns="0" bIns="0" rtlCol="0" anchor="ctr"/>
          <a:lstStyle/>
          <a:p>
            <a:pPr indent="0" marL="0">
              <a:buNone/>
            </a:pPr>
            <a:r>
              <a:rPr lang="en-US" sz="3400" b="1" dirty="0">
                <a:solidFill>
                  <a:srgbClr val="132257"/>
                </a:solidFill>
                <a:latin typeface="Exo 2" pitchFamily="34" charset="0"/>
                <a:ea typeface="Exo 2" pitchFamily="34" charset="-122"/>
                <a:cs typeface="Exo 2" pitchFamily="34" charset="-120"/>
              </a:rPr>
              <a:t>70%</a:t>
            </a:r>
            <a:endParaRPr lang="en-US" sz="3400" dirty="0"/>
          </a:p>
        </p:txBody>
      </p:sp>
      <p:sp>
        <p:nvSpPr>
          <p:cNvPr id="18" name="Text 12"/>
          <p:cNvSpPr txBox="1"/>
          <p:nvPr/>
        </p:nvSpPr>
        <p:spPr>
          <a:xfrm>
            <a:off x="1965960" y="1755648"/>
            <a:ext cx="2057400" cy="548640"/>
          </a:xfrm>
          <a:prstGeom prst="rect">
            <a:avLst/>
          </a:prstGeom>
          <a:noFill/>
          <a:ln/>
        </p:spPr>
        <p:txBody>
          <a:bodyPr wrap="square" lIns="0" tIns="0" rIns="0" bIns="0" rtlCol="0" anchor="t"/>
          <a:lstStyle/>
          <a:p>
            <a:pPr indent="0" marL="0">
              <a:buNone/>
            </a:pPr>
            <a:r>
              <a:rPr lang="en-US" sz="1150" b="1" dirty="0">
                <a:solidFill>
                  <a:srgbClr val="132257"/>
                </a:solidFill>
                <a:latin typeface="Exo 2" pitchFamily="34" charset="0"/>
                <a:ea typeface="Exo 2" pitchFamily="34" charset="-122"/>
                <a:cs typeface="Exo 2" pitchFamily="34" charset="-120"/>
              </a:rPr>
              <a:t>of September site sessions came from Google Ads</a:t>
            </a:r>
            <a:endParaRPr lang="en-US" sz="1150" dirty="0"/>
          </a:p>
        </p:txBody>
      </p:sp>
      <p:sp>
        <p:nvSpPr>
          <p:cNvPr id="19" name="Text 13"/>
          <p:cNvSpPr txBox="1"/>
          <p:nvPr/>
        </p:nvSpPr>
        <p:spPr>
          <a:xfrm>
            <a:off x="1965960" y="2322576"/>
            <a:ext cx="2057400" cy="320040"/>
          </a:xfrm>
          <a:prstGeom prst="rect">
            <a:avLst/>
          </a:prstGeom>
          <a:noFill/>
          <a:ln/>
        </p:spPr>
        <p:txBody>
          <a:bodyPr wrap="square" lIns="0" tIns="0" rIns="0" bIns="0" rtlCol="0" anchor="t"/>
          <a:lstStyle/>
          <a:p>
            <a:pPr indent="0" marL="0">
              <a:buNone/>
            </a:pPr>
            <a:r>
              <a:rPr lang="en-US" sz="950" dirty="0">
                <a:solidFill>
                  <a:srgbClr val="7A849C"/>
                </a:solidFill>
                <a:latin typeface="Exo 2" pitchFamily="34" charset="0"/>
                <a:ea typeface="Exo 2" pitchFamily="34" charset="-122"/>
                <a:cs typeface="Exo 2" pitchFamily="34" charset="-120"/>
              </a:rPr>
              <a:t>409 of 587 sessions, 1-28 Sep</a:t>
            </a:r>
            <a:endParaRPr lang="en-US" sz="950" dirty="0"/>
          </a:p>
        </p:txBody>
      </p:sp>
      <p:sp>
        <p:nvSpPr>
          <p:cNvPr id="20" name="Shape 14"/>
          <p:cNvSpPr/>
          <p:nvPr/>
        </p:nvSpPr>
        <p:spPr>
          <a:xfrm>
            <a:off x="566928" y="2916936"/>
            <a:ext cx="3566160" cy="1188720"/>
          </a:xfrm>
          <a:prstGeom prst="rect">
            <a:avLst/>
          </a:prstGeom>
          <a:solidFill>
            <a:srgbClr val="FFFFFF"/>
          </a:solidFill>
          <a:ln w="9525">
            <a:solidFill>
              <a:srgbClr val="D9DFEA"/>
            </a:solidFill>
            <a:prstDash val="solid"/>
          </a:ln>
        </p:spPr>
      </p:sp>
      <p:sp>
        <p:nvSpPr>
          <p:cNvPr id="21" name="Shape 15"/>
          <p:cNvSpPr/>
          <p:nvPr/>
        </p:nvSpPr>
        <p:spPr>
          <a:xfrm>
            <a:off x="566928" y="2916936"/>
            <a:ext cx="3566160" cy="32004"/>
          </a:xfrm>
          <a:prstGeom prst="rect">
            <a:avLst/>
          </a:prstGeom>
          <a:solidFill>
            <a:srgbClr val="D4AF37"/>
          </a:solidFill>
          <a:ln w="12700">
            <a:solidFill>
              <a:srgbClr val="D4AF37"/>
            </a:solidFill>
            <a:prstDash val="solid"/>
          </a:ln>
        </p:spPr>
      </p:sp>
      <p:sp>
        <p:nvSpPr>
          <p:cNvPr id="22" name="Text 16"/>
          <p:cNvSpPr txBox="1"/>
          <p:nvPr/>
        </p:nvSpPr>
        <p:spPr>
          <a:xfrm>
            <a:off x="777240" y="3081528"/>
            <a:ext cx="1188720" cy="731520"/>
          </a:xfrm>
          <a:prstGeom prst="rect">
            <a:avLst/>
          </a:prstGeom>
          <a:noFill/>
          <a:ln/>
        </p:spPr>
        <p:txBody>
          <a:bodyPr wrap="square" lIns="0" tIns="0" rIns="0" bIns="0" rtlCol="0" anchor="ctr"/>
          <a:lstStyle/>
          <a:p>
            <a:pPr indent="0" marL="0">
              <a:buNone/>
            </a:pPr>
            <a:r>
              <a:rPr lang="en-US" sz="3400" b="1" dirty="0">
                <a:solidFill>
                  <a:srgbClr val="132257"/>
                </a:solidFill>
                <a:latin typeface="Exo 2" pitchFamily="34" charset="0"/>
                <a:ea typeface="Exo 2" pitchFamily="34" charset="-122"/>
                <a:cs typeface="Exo 2" pitchFamily="34" charset="-120"/>
              </a:rPr>
              <a:t>+53</a:t>
            </a:r>
            <a:endParaRPr lang="en-US" sz="3400" dirty="0"/>
          </a:p>
        </p:txBody>
      </p:sp>
      <p:sp>
        <p:nvSpPr>
          <p:cNvPr id="23" name="Text 17"/>
          <p:cNvSpPr txBox="1"/>
          <p:nvPr/>
        </p:nvSpPr>
        <p:spPr>
          <a:xfrm>
            <a:off x="1965960" y="3099816"/>
            <a:ext cx="2057400" cy="548640"/>
          </a:xfrm>
          <a:prstGeom prst="rect">
            <a:avLst/>
          </a:prstGeom>
          <a:noFill/>
          <a:ln/>
        </p:spPr>
        <p:txBody>
          <a:bodyPr wrap="square" lIns="0" tIns="0" rIns="0" bIns="0" rtlCol="0" anchor="t"/>
          <a:lstStyle/>
          <a:p>
            <a:pPr indent="0" marL="0">
              <a:buNone/>
            </a:pPr>
            <a:r>
              <a:rPr lang="en-US" sz="1150" b="1" dirty="0">
                <a:solidFill>
                  <a:srgbClr val="132257"/>
                </a:solidFill>
                <a:latin typeface="Exo 2" pitchFamily="34" charset="0"/>
                <a:ea typeface="Exo 2" pitchFamily="34" charset="-122"/>
                <a:cs typeface="Exo 2" pitchFamily="34" charset="-120"/>
              </a:rPr>
              <a:t>app downloads in the eight days after launch</a:t>
            </a:r>
            <a:endParaRPr lang="en-US" sz="1150" dirty="0"/>
          </a:p>
        </p:txBody>
      </p:sp>
      <p:sp>
        <p:nvSpPr>
          <p:cNvPr id="24" name="Text 18"/>
          <p:cNvSpPr txBox="1"/>
          <p:nvPr/>
        </p:nvSpPr>
        <p:spPr>
          <a:xfrm>
            <a:off x="1965960" y="3666744"/>
            <a:ext cx="2057400" cy="320040"/>
          </a:xfrm>
          <a:prstGeom prst="rect">
            <a:avLst/>
          </a:prstGeom>
          <a:noFill/>
          <a:ln/>
        </p:spPr>
        <p:txBody>
          <a:bodyPr wrap="square" lIns="0" tIns="0" rIns="0" bIns="0" rtlCol="0" anchor="t"/>
          <a:lstStyle/>
          <a:p>
            <a:pPr indent="0" marL="0">
              <a:buNone/>
            </a:pPr>
            <a:r>
              <a:rPr lang="en-US" sz="950" dirty="0">
                <a:solidFill>
                  <a:srgbClr val="7A849C"/>
                </a:solidFill>
                <a:latin typeface="Exo 2" pitchFamily="34" charset="0"/>
                <a:ea typeface="Exo 2" pitchFamily="34" charset="-122"/>
                <a:cs typeface="Exo 2" pitchFamily="34" charset="-120"/>
              </a:rPr>
              <a:t>vs +14 the week before</a:t>
            </a:r>
            <a:endParaRPr lang="en-US" sz="950" dirty="0"/>
          </a:p>
        </p:txBody>
      </p:sp>
      <p:sp>
        <p:nvSpPr>
          <p:cNvPr id="25" name="Shape 19"/>
          <p:cNvSpPr/>
          <p:nvPr/>
        </p:nvSpPr>
        <p:spPr>
          <a:xfrm>
            <a:off x="566928" y="4261104"/>
            <a:ext cx="3566160" cy="1188720"/>
          </a:xfrm>
          <a:prstGeom prst="rect">
            <a:avLst/>
          </a:prstGeom>
          <a:solidFill>
            <a:srgbClr val="FFFFFF"/>
          </a:solidFill>
          <a:ln w="9525">
            <a:solidFill>
              <a:srgbClr val="D9DFEA"/>
            </a:solidFill>
            <a:prstDash val="solid"/>
          </a:ln>
        </p:spPr>
      </p:sp>
      <p:sp>
        <p:nvSpPr>
          <p:cNvPr id="26" name="Shape 20"/>
          <p:cNvSpPr/>
          <p:nvPr/>
        </p:nvSpPr>
        <p:spPr>
          <a:xfrm>
            <a:off x="566928" y="4261104"/>
            <a:ext cx="3566160" cy="32004"/>
          </a:xfrm>
          <a:prstGeom prst="rect">
            <a:avLst/>
          </a:prstGeom>
          <a:solidFill>
            <a:srgbClr val="C53030"/>
          </a:solidFill>
          <a:ln w="12700">
            <a:solidFill>
              <a:srgbClr val="C53030"/>
            </a:solidFill>
            <a:prstDash val="solid"/>
          </a:ln>
        </p:spPr>
      </p:sp>
      <p:sp>
        <p:nvSpPr>
          <p:cNvPr id="27" name="Text 21"/>
          <p:cNvSpPr txBox="1"/>
          <p:nvPr/>
        </p:nvSpPr>
        <p:spPr>
          <a:xfrm>
            <a:off x="777240" y="4425696"/>
            <a:ext cx="1188720" cy="731520"/>
          </a:xfrm>
          <a:prstGeom prst="rect">
            <a:avLst/>
          </a:prstGeom>
          <a:noFill/>
          <a:ln/>
        </p:spPr>
        <p:txBody>
          <a:bodyPr wrap="square" lIns="0" tIns="0" rIns="0" bIns="0" rtlCol="0" anchor="ctr"/>
          <a:lstStyle/>
          <a:p>
            <a:pPr indent="0" marL="0">
              <a:buNone/>
            </a:pPr>
            <a:r>
              <a:rPr lang="en-US" sz="3400" b="1" dirty="0">
                <a:solidFill>
                  <a:srgbClr val="C53030"/>
                </a:solidFill>
                <a:latin typeface="Exo 2" pitchFamily="34" charset="0"/>
                <a:ea typeface="Exo 2" pitchFamily="34" charset="-122"/>
                <a:cs typeface="Exo 2" pitchFamily="34" charset="-120"/>
              </a:rPr>
              <a:t>+4</a:t>
            </a:r>
            <a:endParaRPr lang="en-US" sz="3400" dirty="0"/>
          </a:p>
        </p:txBody>
      </p:sp>
      <p:sp>
        <p:nvSpPr>
          <p:cNvPr id="28" name="Text 22"/>
          <p:cNvSpPr txBox="1"/>
          <p:nvPr/>
        </p:nvSpPr>
        <p:spPr>
          <a:xfrm>
            <a:off x="1965960" y="4443984"/>
            <a:ext cx="2057400" cy="548640"/>
          </a:xfrm>
          <a:prstGeom prst="rect">
            <a:avLst/>
          </a:prstGeom>
          <a:noFill/>
          <a:ln/>
        </p:spPr>
        <p:txBody>
          <a:bodyPr wrap="square" lIns="0" tIns="0" rIns="0" bIns="0" rtlCol="0" anchor="t"/>
          <a:lstStyle/>
          <a:p>
            <a:pPr indent="0" marL="0">
              <a:buNone/>
            </a:pPr>
            <a:r>
              <a:rPr lang="en-US" sz="1150" b="1" dirty="0">
                <a:solidFill>
                  <a:srgbClr val="132257"/>
                </a:solidFill>
                <a:latin typeface="Exo 2" pitchFamily="34" charset="0"/>
                <a:ea typeface="Exo 2" pitchFamily="34" charset="-122"/>
                <a:cs typeface="Exo 2" pitchFamily="34" charset="-120"/>
              </a:rPr>
              <a:t>users onboarded in the same eight days</a:t>
            </a:r>
            <a:endParaRPr lang="en-US" sz="1150" dirty="0"/>
          </a:p>
        </p:txBody>
      </p:sp>
      <p:sp>
        <p:nvSpPr>
          <p:cNvPr id="29" name="Text 23"/>
          <p:cNvSpPr txBox="1"/>
          <p:nvPr/>
        </p:nvSpPr>
        <p:spPr>
          <a:xfrm>
            <a:off x="1965960" y="5010912"/>
            <a:ext cx="2057400" cy="320040"/>
          </a:xfrm>
          <a:prstGeom prst="rect">
            <a:avLst/>
          </a:prstGeom>
          <a:noFill/>
          <a:ln/>
        </p:spPr>
        <p:txBody>
          <a:bodyPr wrap="square" lIns="0" tIns="0" rIns="0" bIns="0" rtlCol="0" anchor="t"/>
          <a:lstStyle/>
          <a:p>
            <a:pPr indent="0" marL="0">
              <a:buNone/>
            </a:pPr>
            <a:r>
              <a:rPr lang="en-US" sz="950" dirty="0">
                <a:solidFill>
                  <a:srgbClr val="7A849C"/>
                </a:solidFill>
                <a:latin typeface="Exo 2" pitchFamily="34" charset="0"/>
                <a:ea typeface="Exo 2" pitchFamily="34" charset="-122"/>
                <a:cs typeface="Exo 2" pitchFamily="34" charset="-120"/>
              </a:rPr>
              <a:t>61 onboarded, 15 funded, as of 29 Sep</a:t>
            </a:r>
            <a:endParaRPr lang="en-US" sz="950" dirty="0"/>
          </a:p>
        </p:txBody>
      </p:sp>
      <p:sp>
        <p:nvSpPr>
          <p:cNvPr id="30" name="Text 24"/>
          <p:cNvSpPr txBox="1"/>
          <p:nvPr/>
        </p:nvSpPr>
        <p:spPr>
          <a:xfrm>
            <a:off x="4434840" y="1508760"/>
            <a:ext cx="7196328" cy="274320"/>
          </a:xfrm>
          <a:prstGeom prst="rect">
            <a:avLst/>
          </a:prstGeom>
          <a:noFill/>
          <a:ln/>
        </p:spPr>
        <p:txBody>
          <a:bodyPr wrap="square" lIns="0" tIns="0" rIns="0" bIns="0" rtlCol="0" anchor="t"/>
          <a:lstStyle/>
          <a:p>
            <a:pPr algn="ctr" indent="0" marL="0">
              <a:buNone/>
            </a:pPr>
            <a:r>
              <a:rPr lang="en-US" sz="1100" dirty="0">
                <a:solidFill>
                  <a:srgbClr val="132257"/>
                </a:solidFill>
                <a:latin typeface="Exo 2" pitchFamily="34" charset="0"/>
                <a:ea typeface="Exo 2" pitchFamily="34" charset="-122"/>
                <a:cs typeface="Exo 2" pitchFamily="34" charset="-120"/>
              </a:rPr>
              <a:t>Net new app downloads and onboarded users between dashboard dates</a:t>
            </a:r>
            <a:endParaRPr lang="en-US" sz="1100" dirty="0"/>
          </a:p>
        </p:txBody>
      </p:sp>
      <p:sp>
        <p:nvSpPr>
          <p:cNvPr id="31" name="Shape 25"/>
          <p:cNvSpPr/>
          <p:nvPr/>
        </p:nvSpPr>
        <p:spPr>
          <a:xfrm>
            <a:off x="4434840" y="4892040"/>
            <a:ext cx="7196328" cy="0"/>
          </a:xfrm>
          <a:prstGeom prst="line">
            <a:avLst/>
          </a:prstGeom>
          <a:noFill/>
          <a:ln w="12700">
            <a:solidFill>
              <a:srgbClr val="C6CFE4"/>
            </a:solidFill>
            <a:prstDash val="solid"/>
          </a:ln>
        </p:spPr>
      </p:sp>
      <p:sp>
        <p:nvSpPr>
          <p:cNvPr id="32" name="Shape 26"/>
          <p:cNvSpPr/>
          <p:nvPr/>
        </p:nvSpPr>
        <p:spPr>
          <a:xfrm>
            <a:off x="4794954" y="3402199"/>
            <a:ext cx="521139" cy="1489841"/>
          </a:xfrm>
          <a:prstGeom prst="rect">
            <a:avLst/>
          </a:prstGeom>
          <a:solidFill>
            <a:srgbClr val="132257"/>
          </a:solidFill>
          <a:ln w="12700">
            <a:solidFill>
              <a:srgbClr val="132257"/>
            </a:solidFill>
            <a:prstDash val="solid"/>
          </a:ln>
        </p:spPr>
      </p:sp>
      <p:sp>
        <p:nvSpPr>
          <p:cNvPr id="33" name="Text 27"/>
          <p:cNvSpPr txBox="1"/>
          <p:nvPr/>
        </p:nvSpPr>
        <p:spPr>
          <a:xfrm>
            <a:off x="4685226" y="3127879"/>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30</a:t>
            </a:r>
            <a:endParaRPr lang="en-US" sz="1100" dirty="0"/>
          </a:p>
        </p:txBody>
      </p:sp>
      <p:sp>
        <p:nvSpPr>
          <p:cNvPr id="34" name="Shape 28"/>
          <p:cNvSpPr/>
          <p:nvPr/>
        </p:nvSpPr>
        <p:spPr>
          <a:xfrm>
            <a:off x="5352669" y="4842379"/>
            <a:ext cx="521139" cy="49661"/>
          </a:xfrm>
          <a:prstGeom prst="rect">
            <a:avLst/>
          </a:prstGeom>
          <a:solidFill>
            <a:srgbClr val="1BA97C"/>
          </a:solidFill>
          <a:ln w="12700">
            <a:solidFill>
              <a:srgbClr val="1BA97C"/>
            </a:solidFill>
            <a:prstDash val="solid"/>
          </a:ln>
        </p:spPr>
      </p:sp>
      <p:sp>
        <p:nvSpPr>
          <p:cNvPr id="35" name="Text 29"/>
          <p:cNvSpPr txBox="1"/>
          <p:nvPr/>
        </p:nvSpPr>
        <p:spPr>
          <a:xfrm>
            <a:off x="5242941" y="4568059"/>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1</a:t>
            </a:r>
            <a:endParaRPr lang="en-US" sz="1100" dirty="0"/>
          </a:p>
        </p:txBody>
      </p:sp>
      <p:sp>
        <p:nvSpPr>
          <p:cNvPr id="36" name="Text 30"/>
          <p:cNvSpPr txBox="1"/>
          <p:nvPr/>
        </p:nvSpPr>
        <p:spPr>
          <a:xfrm>
            <a:off x="4434840" y="4965192"/>
            <a:ext cx="1799082" cy="274320"/>
          </a:xfrm>
          <a:prstGeom prst="rect">
            <a:avLst/>
          </a:prstGeom>
          <a:noFill/>
          <a:ln/>
        </p:spPr>
        <p:txBody>
          <a:bodyPr wrap="square" lIns="0" tIns="0" rIns="0" bIns="0" rtlCol="0" anchor="t"/>
          <a:lstStyle/>
          <a:p>
            <a:pPr algn="ctr" indent="0" marL="0">
              <a:buNone/>
            </a:pPr>
            <a:r>
              <a:rPr lang="en-US" sz="1050" dirty="0">
                <a:solidFill>
                  <a:srgbClr val="1F2A44"/>
                </a:solidFill>
                <a:latin typeface="Exo 2" pitchFamily="34" charset="0"/>
                <a:ea typeface="Exo 2" pitchFamily="34" charset="-122"/>
                <a:cs typeface="Exo 2" pitchFamily="34" charset="-120"/>
              </a:rPr>
              <a:t>1-8 Sep</a:t>
            </a:r>
            <a:endParaRPr lang="en-US" sz="1050" dirty="0"/>
          </a:p>
        </p:txBody>
      </p:sp>
      <p:sp>
        <p:nvSpPr>
          <p:cNvPr id="37" name="Shape 31"/>
          <p:cNvSpPr/>
          <p:nvPr/>
        </p:nvSpPr>
        <p:spPr>
          <a:xfrm>
            <a:off x="6594036" y="3898812"/>
            <a:ext cx="521139" cy="993228"/>
          </a:xfrm>
          <a:prstGeom prst="rect">
            <a:avLst/>
          </a:prstGeom>
          <a:solidFill>
            <a:srgbClr val="132257"/>
          </a:solidFill>
          <a:ln w="12700">
            <a:solidFill>
              <a:srgbClr val="132257"/>
            </a:solidFill>
            <a:prstDash val="solid"/>
          </a:ln>
        </p:spPr>
      </p:sp>
      <p:sp>
        <p:nvSpPr>
          <p:cNvPr id="38" name="Text 32"/>
          <p:cNvSpPr txBox="1"/>
          <p:nvPr/>
        </p:nvSpPr>
        <p:spPr>
          <a:xfrm>
            <a:off x="6484308" y="3624492"/>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20</a:t>
            </a:r>
            <a:endParaRPr lang="en-US" sz="1100" dirty="0"/>
          </a:p>
        </p:txBody>
      </p:sp>
      <p:sp>
        <p:nvSpPr>
          <p:cNvPr id="39" name="Shape 33"/>
          <p:cNvSpPr/>
          <p:nvPr/>
        </p:nvSpPr>
        <p:spPr>
          <a:xfrm>
            <a:off x="7151751" y="4743056"/>
            <a:ext cx="521139" cy="148984"/>
          </a:xfrm>
          <a:prstGeom prst="rect">
            <a:avLst/>
          </a:prstGeom>
          <a:solidFill>
            <a:srgbClr val="1BA97C"/>
          </a:solidFill>
          <a:ln w="12700">
            <a:solidFill>
              <a:srgbClr val="1BA97C"/>
            </a:solidFill>
            <a:prstDash val="solid"/>
          </a:ln>
        </p:spPr>
      </p:sp>
      <p:sp>
        <p:nvSpPr>
          <p:cNvPr id="40" name="Text 34"/>
          <p:cNvSpPr txBox="1"/>
          <p:nvPr/>
        </p:nvSpPr>
        <p:spPr>
          <a:xfrm>
            <a:off x="7042023" y="4468736"/>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3</a:t>
            </a:r>
            <a:endParaRPr lang="en-US" sz="1100" dirty="0"/>
          </a:p>
        </p:txBody>
      </p:sp>
      <p:sp>
        <p:nvSpPr>
          <p:cNvPr id="41" name="Text 35"/>
          <p:cNvSpPr txBox="1"/>
          <p:nvPr/>
        </p:nvSpPr>
        <p:spPr>
          <a:xfrm>
            <a:off x="6233922" y="4965192"/>
            <a:ext cx="1799082" cy="274320"/>
          </a:xfrm>
          <a:prstGeom prst="rect">
            <a:avLst/>
          </a:prstGeom>
          <a:noFill/>
          <a:ln/>
        </p:spPr>
        <p:txBody>
          <a:bodyPr wrap="square" lIns="0" tIns="0" rIns="0" bIns="0" rtlCol="0" anchor="t"/>
          <a:lstStyle/>
          <a:p>
            <a:pPr algn="ctr" indent="0" marL="0">
              <a:buNone/>
            </a:pPr>
            <a:r>
              <a:rPr lang="en-US" sz="1050" dirty="0">
                <a:solidFill>
                  <a:srgbClr val="1F2A44"/>
                </a:solidFill>
                <a:latin typeface="Exo 2" pitchFamily="34" charset="0"/>
                <a:ea typeface="Exo 2" pitchFamily="34" charset="-122"/>
                <a:cs typeface="Exo 2" pitchFamily="34" charset="-120"/>
              </a:rPr>
              <a:t>8-14 Sep</a:t>
            </a:r>
            <a:endParaRPr lang="en-US" sz="1050" dirty="0"/>
          </a:p>
        </p:txBody>
      </p:sp>
      <p:sp>
        <p:nvSpPr>
          <p:cNvPr id="42" name="Shape 36"/>
          <p:cNvSpPr/>
          <p:nvPr/>
        </p:nvSpPr>
        <p:spPr>
          <a:xfrm>
            <a:off x="8393118" y="4196781"/>
            <a:ext cx="521139" cy="695259"/>
          </a:xfrm>
          <a:prstGeom prst="rect">
            <a:avLst/>
          </a:prstGeom>
          <a:solidFill>
            <a:srgbClr val="132257"/>
          </a:solidFill>
          <a:ln w="12700">
            <a:solidFill>
              <a:srgbClr val="132257"/>
            </a:solidFill>
            <a:prstDash val="solid"/>
          </a:ln>
        </p:spPr>
      </p:sp>
      <p:sp>
        <p:nvSpPr>
          <p:cNvPr id="43" name="Text 37"/>
          <p:cNvSpPr txBox="1"/>
          <p:nvPr/>
        </p:nvSpPr>
        <p:spPr>
          <a:xfrm>
            <a:off x="8283390" y="3922461"/>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14</a:t>
            </a:r>
            <a:endParaRPr lang="en-US" sz="1100" dirty="0"/>
          </a:p>
        </p:txBody>
      </p:sp>
      <p:sp>
        <p:nvSpPr>
          <p:cNvPr id="44" name="Shape 38"/>
          <p:cNvSpPr/>
          <p:nvPr/>
        </p:nvSpPr>
        <p:spPr>
          <a:xfrm>
            <a:off x="8950833" y="4643733"/>
            <a:ext cx="521139" cy="248307"/>
          </a:xfrm>
          <a:prstGeom prst="rect">
            <a:avLst/>
          </a:prstGeom>
          <a:solidFill>
            <a:srgbClr val="1BA97C"/>
          </a:solidFill>
          <a:ln w="12700">
            <a:solidFill>
              <a:srgbClr val="1BA97C"/>
            </a:solidFill>
            <a:prstDash val="solid"/>
          </a:ln>
        </p:spPr>
      </p:sp>
      <p:sp>
        <p:nvSpPr>
          <p:cNvPr id="45" name="Text 39"/>
          <p:cNvSpPr txBox="1"/>
          <p:nvPr/>
        </p:nvSpPr>
        <p:spPr>
          <a:xfrm>
            <a:off x="8841105" y="4369413"/>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5</a:t>
            </a:r>
            <a:endParaRPr lang="en-US" sz="1100" dirty="0"/>
          </a:p>
        </p:txBody>
      </p:sp>
      <p:sp>
        <p:nvSpPr>
          <p:cNvPr id="46" name="Text 40"/>
          <p:cNvSpPr txBox="1"/>
          <p:nvPr/>
        </p:nvSpPr>
        <p:spPr>
          <a:xfrm>
            <a:off x="8033004" y="4965192"/>
            <a:ext cx="1799082" cy="274320"/>
          </a:xfrm>
          <a:prstGeom prst="rect">
            <a:avLst/>
          </a:prstGeom>
          <a:noFill/>
          <a:ln/>
        </p:spPr>
        <p:txBody>
          <a:bodyPr wrap="square" lIns="0" tIns="0" rIns="0" bIns="0" rtlCol="0" anchor="t"/>
          <a:lstStyle/>
          <a:p>
            <a:pPr algn="ctr" indent="0" marL="0">
              <a:buNone/>
            </a:pPr>
            <a:r>
              <a:rPr lang="en-US" sz="1050" dirty="0">
                <a:solidFill>
                  <a:srgbClr val="1F2A44"/>
                </a:solidFill>
                <a:latin typeface="Exo 2" pitchFamily="34" charset="0"/>
                <a:ea typeface="Exo 2" pitchFamily="34" charset="-122"/>
                <a:cs typeface="Exo 2" pitchFamily="34" charset="-120"/>
              </a:rPr>
              <a:t>14-21 Sep</a:t>
            </a:r>
            <a:endParaRPr lang="en-US" sz="1050" dirty="0"/>
          </a:p>
        </p:txBody>
      </p:sp>
      <p:sp>
        <p:nvSpPr>
          <p:cNvPr id="47" name="Shape 41"/>
          <p:cNvSpPr/>
          <p:nvPr/>
        </p:nvSpPr>
        <p:spPr>
          <a:xfrm>
            <a:off x="10192200" y="2259987"/>
            <a:ext cx="521139" cy="2632053"/>
          </a:xfrm>
          <a:prstGeom prst="rect">
            <a:avLst/>
          </a:prstGeom>
          <a:solidFill>
            <a:srgbClr val="132257"/>
          </a:solidFill>
          <a:ln w="12700">
            <a:solidFill>
              <a:srgbClr val="132257"/>
            </a:solidFill>
            <a:prstDash val="solid"/>
          </a:ln>
        </p:spPr>
      </p:sp>
      <p:sp>
        <p:nvSpPr>
          <p:cNvPr id="48" name="Text 42"/>
          <p:cNvSpPr txBox="1"/>
          <p:nvPr/>
        </p:nvSpPr>
        <p:spPr>
          <a:xfrm>
            <a:off x="10082472" y="1985667"/>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53</a:t>
            </a:r>
            <a:endParaRPr lang="en-US" sz="1100" dirty="0"/>
          </a:p>
        </p:txBody>
      </p:sp>
      <p:sp>
        <p:nvSpPr>
          <p:cNvPr id="49" name="Shape 43"/>
          <p:cNvSpPr/>
          <p:nvPr/>
        </p:nvSpPr>
        <p:spPr>
          <a:xfrm>
            <a:off x="10749915" y="4693394"/>
            <a:ext cx="521139" cy="198646"/>
          </a:xfrm>
          <a:prstGeom prst="rect">
            <a:avLst/>
          </a:prstGeom>
          <a:solidFill>
            <a:srgbClr val="1BA97C"/>
          </a:solidFill>
          <a:ln w="12700">
            <a:solidFill>
              <a:srgbClr val="1BA97C"/>
            </a:solidFill>
            <a:prstDash val="solid"/>
          </a:ln>
        </p:spPr>
      </p:sp>
      <p:sp>
        <p:nvSpPr>
          <p:cNvPr id="50" name="Text 44"/>
          <p:cNvSpPr txBox="1"/>
          <p:nvPr/>
        </p:nvSpPr>
        <p:spPr>
          <a:xfrm>
            <a:off x="10640187" y="4419074"/>
            <a:ext cx="740595" cy="256032"/>
          </a:xfrm>
          <a:prstGeom prst="rect">
            <a:avLst/>
          </a:prstGeom>
          <a:noFill/>
          <a:ln/>
        </p:spPr>
        <p:txBody>
          <a:bodyPr wrap="square" lIns="0" tIns="0" rIns="0" bIns="0" rtlCol="0" anchor="b"/>
          <a:lstStyle/>
          <a:p>
            <a:pPr algn="ctr" indent="0" marL="0">
              <a:buNone/>
            </a:pPr>
            <a:r>
              <a:rPr lang="en-US" sz="1100" b="1" dirty="0">
                <a:solidFill>
                  <a:srgbClr val="132257"/>
                </a:solidFill>
                <a:latin typeface="Exo 2" pitchFamily="34" charset="0"/>
                <a:ea typeface="Exo 2" pitchFamily="34" charset="-122"/>
                <a:cs typeface="Exo 2" pitchFamily="34" charset="-120"/>
              </a:rPr>
              <a:t>4</a:t>
            </a:r>
            <a:endParaRPr lang="en-US" sz="1100" dirty="0"/>
          </a:p>
        </p:txBody>
      </p:sp>
      <p:sp>
        <p:nvSpPr>
          <p:cNvPr id="51" name="Text 45"/>
          <p:cNvSpPr txBox="1"/>
          <p:nvPr/>
        </p:nvSpPr>
        <p:spPr>
          <a:xfrm>
            <a:off x="9832086" y="4965192"/>
            <a:ext cx="1799082" cy="274320"/>
          </a:xfrm>
          <a:prstGeom prst="rect">
            <a:avLst/>
          </a:prstGeom>
          <a:noFill/>
          <a:ln/>
        </p:spPr>
        <p:txBody>
          <a:bodyPr wrap="square" lIns="0" tIns="0" rIns="0" bIns="0" rtlCol="0" anchor="t"/>
          <a:lstStyle/>
          <a:p>
            <a:pPr algn="ctr" indent="0" marL="0">
              <a:buNone/>
            </a:pPr>
            <a:r>
              <a:rPr lang="en-US" sz="1050" dirty="0">
                <a:solidFill>
                  <a:srgbClr val="1F2A44"/>
                </a:solidFill>
                <a:latin typeface="Exo 2" pitchFamily="34" charset="0"/>
                <a:ea typeface="Exo 2" pitchFamily="34" charset="-122"/>
                <a:cs typeface="Exo 2" pitchFamily="34" charset="-120"/>
              </a:rPr>
              <a:t>21-29 Sep (paid live)</a:t>
            </a:r>
            <a:endParaRPr lang="en-US" sz="1050" dirty="0"/>
          </a:p>
        </p:txBody>
      </p:sp>
      <p:sp>
        <p:nvSpPr>
          <p:cNvPr id="52" name="Shape 46"/>
          <p:cNvSpPr/>
          <p:nvPr/>
        </p:nvSpPr>
        <p:spPr>
          <a:xfrm>
            <a:off x="6592824" y="5358384"/>
            <a:ext cx="128016" cy="128016"/>
          </a:xfrm>
          <a:prstGeom prst="rect">
            <a:avLst/>
          </a:prstGeom>
          <a:solidFill>
            <a:srgbClr val="132257"/>
          </a:solidFill>
          <a:ln w="12700">
            <a:solidFill>
              <a:srgbClr val="132257"/>
            </a:solidFill>
            <a:prstDash val="solid"/>
          </a:ln>
        </p:spPr>
      </p:sp>
      <p:sp>
        <p:nvSpPr>
          <p:cNvPr id="53" name="Text 47"/>
          <p:cNvSpPr txBox="1"/>
          <p:nvPr/>
        </p:nvSpPr>
        <p:spPr>
          <a:xfrm>
            <a:off x="6775704" y="5285232"/>
            <a:ext cx="1394460" cy="274320"/>
          </a:xfrm>
          <a:prstGeom prst="rect">
            <a:avLst/>
          </a:prstGeom>
          <a:noFill/>
          <a:ln/>
        </p:spPr>
        <p:txBody>
          <a:bodyPr wrap="square" lIns="0" tIns="0" rIns="0" bIns="0" rtlCol="0" anchor="ctr"/>
          <a:lstStyle/>
          <a:p>
            <a:pPr indent="0" marL="0">
              <a:buNone/>
            </a:pPr>
            <a:r>
              <a:rPr lang="en-US" sz="1000" dirty="0">
                <a:solidFill>
                  <a:srgbClr val="1F2A44"/>
                </a:solidFill>
                <a:latin typeface="Exo 2" pitchFamily="34" charset="0"/>
                <a:ea typeface="Exo 2" pitchFamily="34" charset="-122"/>
                <a:cs typeface="Exo 2" pitchFamily="34" charset="-120"/>
              </a:rPr>
              <a:t>App downloads added</a:t>
            </a:r>
            <a:endParaRPr lang="en-US" sz="1000" dirty="0"/>
          </a:p>
        </p:txBody>
      </p:sp>
      <p:sp>
        <p:nvSpPr>
          <p:cNvPr id="54" name="Shape 48"/>
          <p:cNvSpPr/>
          <p:nvPr/>
        </p:nvSpPr>
        <p:spPr>
          <a:xfrm>
            <a:off x="8170164" y="5358384"/>
            <a:ext cx="128016" cy="128016"/>
          </a:xfrm>
          <a:prstGeom prst="rect">
            <a:avLst/>
          </a:prstGeom>
          <a:solidFill>
            <a:srgbClr val="1BA97C"/>
          </a:solidFill>
          <a:ln w="12700">
            <a:solidFill>
              <a:srgbClr val="1BA97C"/>
            </a:solidFill>
            <a:prstDash val="solid"/>
          </a:ln>
        </p:spPr>
      </p:sp>
      <p:sp>
        <p:nvSpPr>
          <p:cNvPr id="55" name="Text 49"/>
          <p:cNvSpPr txBox="1"/>
          <p:nvPr/>
        </p:nvSpPr>
        <p:spPr>
          <a:xfrm>
            <a:off x="8353044" y="5285232"/>
            <a:ext cx="1120140" cy="274320"/>
          </a:xfrm>
          <a:prstGeom prst="rect">
            <a:avLst/>
          </a:prstGeom>
          <a:noFill/>
          <a:ln/>
        </p:spPr>
        <p:txBody>
          <a:bodyPr wrap="square" lIns="0" tIns="0" rIns="0" bIns="0" rtlCol="0" anchor="ctr"/>
          <a:lstStyle/>
          <a:p>
            <a:pPr indent="0" marL="0">
              <a:buNone/>
            </a:pPr>
            <a:r>
              <a:rPr lang="en-US" sz="1000" dirty="0">
                <a:solidFill>
                  <a:srgbClr val="1F2A44"/>
                </a:solidFill>
                <a:latin typeface="Exo 2" pitchFamily="34" charset="0"/>
                <a:ea typeface="Exo 2" pitchFamily="34" charset="-122"/>
                <a:cs typeface="Exo 2" pitchFamily="34" charset="-120"/>
              </a:rPr>
              <a:t>Users onboarded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4689"/>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182880"/>
          </a:xfrm>
          <a:prstGeom prst="rect">
            <a:avLst/>
          </a:prstGeom>
          <a:noFill/>
          <a:ln/>
        </p:spPr>
        <p:txBody>
          <a:bodyPr wrap="square" lIns="0" tIns="0" rIns="0" bIns="0" rtlCol="0" anchor="t"/>
          <a:lstStyle/>
          <a:p>
            <a:pPr indent="0" marL="0">
              <a:buNone/>
            </a:pPr>
            <a:r>
              <a:rPr lang="en-US" sz="900" b="1" spc="200" kern="0" dirty="0">
                <a:solidFill>
                  <a:srgbClr val="D4AF37"/>
                </a:solidFill>
                <a:latin typeface="Exo 2" pitchFamily="34" charset="0"/>
                <a:ea typeface="Exo 2" pitchFamily="34" charset="-122"/>
                <a:cs typeface="Exo 2" pitchFamily="34" charset="-120"/>
              </a:rPr>
              <a:t>GOOGLE ADS AND INSTALLS</a:t>
            </a:r>
            <a:endParaRPr lang="en-US" sz="900" dirty="0"/>
          </a:p>
        </p:txBody>
      </p:sp>
      <p:sp>
        <p:nvSpPr>
          <p:cNvPr id="5" name="Text 2"/>
          <p:cNvSpPr txBox="1"/>
          <p:nvPr/>
        </p:nvSpPr>
        <p:spPr>
          <a:xfrm>
            <a:off x="566928" y="475488"/>
            <a:ext cx="9326880" cy="749808"/>
          </a:xfrm>
          <a:prstGeom prst="rect">
            <a:avLst/>
          </a:prstGeom>
          <a:noFill/>
          <a:ln/>
        </p:spPr>
        <p:txBody>
          <a:bodyPr wrap="square" lIns="0" tIns="0" rIns="0" bIns="0" rtlCol="0" anchor="ctr"/>
          <a:lstStyle/>
          <a:p>
            <a:pPr indent="0" marL="0">
              <a:buNone/>
            </a:pPr>
            <a:r>
              <a:rPr lang="en-US" sz="2000" b="1" dirty="0">
                <a:solidFill>
                  <a:srgbClr val="FFFFFF"/>
                </a:solidFill>
                <a:latin typeface="Exo 2" pitchFamily="34" charset="0"/>
                <a:ea typeface="Exo 2" pitchFamily="34" charset="-122"/>
                <a:cs typeface="Exo 2" pitchFamily="34" charset="-120"/>
              </a:rPr>
              <a:t>Google Ads went live on 22 September; installs then grew at their fastest weekly pace of the month</a:t>
            </a:r>
            <a:endParaRPr lang="en-US" sz="20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Shape 3"/>
          <p:cNvSpPr/>
          <p:nvPr/>
        </p:nvSpPr>
        <p:spPr>
          <a:xfrm>
            <a:off x="566928" y="5669280"/>
            <a:ext cx="11064240" cy="457200"/>
          </a:xfrm>
          <a:prstGeom prst="rect">
            <a:avLst/>
          </a:prstGeom>
          <a:solidFill>
            <a:srgbClr val="E3E8F2"/>
          </a:solidFill>
          <a:ln w="12700">
            <a:solidFill>
              <a:srgbClr val="E3E8F2"/>
            </a:solidFill>
            <a:prstDash val="solid"/>
          </a:ln>
        </p:spPr>
      </p:sp>
      <p:sp>
        <p:nvSpPr>
          <p:cNvPr id="8" name="Shape 4"/>
          <p:cNvSpPr/>
          <p:nvPr/>
        </p:nvSpPr>
        <p:spPr>
          <a:xfrm>
            <a:off x="566928" y="5669280"/>
            <a:ext cx="45720" cy="457200"/>
          </a:xfrm>
          <a:prstGeom prst="rect">
            <a:avLst/>
          </a:prstGeom>
          <a:solidFill>
            <a:srgbClr val="D4AF37"/>
          </a:solidFill>
          <a:ln w="12700">
            <a:solidFill>
              <a:srgbClr val="D4AF37"/>
            </a:solidFill>
            <a:prstDash val="solid"/>
          </a:ln>
        </p:spPr>
      </p:sp>
      <p:sp>
        <p:nvSpPr>
          <p:cNvPr id="9" name="Text 5"/>
          <p:cNvSpPr txBox="1"/>
          <p:nvPr/>
        </p:nvSpPr>
        <p:spPr>
          <a:xfrm>
            <a:off x="777240" y="5669280"/>
            <a:ext cx="10744200" cy="45720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Takeaway   </a:t>
            </a:r>
            <a:pPr indent="0" marL="0">
              <a:buNone/>
            </a:pPr>
            <a:r>
              <a:rPr lang="en-US" sz="1150" dirty="0">
                <a:solidFill>
                  <a:srgbClr val="1F2A44"/>
                </a:solidFill>
                <a:latin typeface="Exo 2" pitchFamily="34" charset="0"/>
                <a:ea typeface="Exo 2" pitchFamily="34" charset="-122"/>
                <a:cs typeface="Exo 2" pitchFamily="34" charset="-120"/>
              </a:rPr>
              <a:t>Paid search is moving installs, but installs are not yet tracked back to the ads. Connect ad clicks to the app link so cost per install can be reported.</a:t>
            </a:r>
            <a:endParaRPr lang="en-US" sz="1150" dirty="0"/>
          </a:p>
        </p:txBody>
      </p:sp>
      <p:sp>
        <p:nvSpPr>
          <p:cNvPr id="10" name="Text 6"/>
          <p:cNvSpPr txBox="1"/>
          <p:nvPr/>
        </p:nvSpPr>
        <p:spPr>
          <a:xfrm>
            <a:off x="566928" y="6199632"/>
            <a:ext cx="9692640" cy="274320"/>
          </a:xfrm>
          <a:prstGeom prst="rect">
            <a:avLst/>
          </a:prstGeom>
          <a:noFill/>
          <a:ln/>
        </p:spPr>
        <p:txBody>
          <a:bodyPr wrap="square" lIns="0" tIns="0" rIns="0" bIns="0" rtlCol="0" anchor="t"/>
          <a:lstStyle/>
          <a:p>
            <a:pPr indent="0" marL="0">
              <a:buNone/>
            </a:pPr>
            <a:r>
              <a:rPr lang="en-US" sz="800" dirty="0">
                <a:solidFill>
                  <a:srgbClr val="7A849C"/>
                </a:solidFill>
                <a:latin typeface="Exo 2" pitchFamily="34" charset="0"/>
                <a:ea typeface="Exo 2" pitchFamily="34" charset="-122"/>
                <a:cs typeface="Exo 2" pitchFamily="34" charset="-120"/>
              </a:rPr>
              <a:t>Source: App installs: eMYAA Daily Performance Dashboards (Android + iOS, cumulative, on report dates 1-29 Sep 2026). Ads: GA4 Reports snapshot and Google Ads campaigns exports, 1-28 Sep 2026.</a:t>
            </a:r>
            <a:endParaRPr lang="en-US" sz="800" dirty="0"/>
          </a:p>
        </p:txBody>
      </p:sp>
      <p:sp>
        <p:nvSpPr>
          <p:cNvPr id="11" name="Text 7"/>
          <p:cNvSpPr txBox="1"/>
          <p:nvPr/>
        </p:nvSpPr>
        <p:spPr>
          <a:xfrm>
            <a:off x="566928" y="6510528"/>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CEO Marketing Update</a:t>
            </a:r>
            <a:endParaRPr lang="en-US" sz="800" dirty="0"/>
          </a:p>
        </p:txBody>
      </p:sp>
      <p:sp>
        <p:nvSpPr>
          <p:cNvPr id="12" name="Text 8"/>
          <p:cNvSpPr txBox="1"/>
          <p:nvPr/>
        </p:nvSpPr>
        <p:spPr>
          <a:xfrm>
            <a:off x="9802368" y="6510528"/>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4</a:t>
            </a:r>
            <a:endParaRPr lang="en-US" sz="800" dirty="0"/>
          </a:p>
        </p:txBody>
      </p:sp>
      <p:pic>
        <p:nvPicPr>
          <p:cNvPr id="13" name="Image 2" descr="/home/user/HatemIsa_202508993_IT9002_NLP_Project/emyaa-ceo-deck/working/charts/emyaa_navy.png">    </p:cNvPr>
          <p:cNvPicPr>
            <a:picLocks noChangeAspect="1"/>
          </p:cNvPicPr>
          <p:nvPr/>
        </p:nvPicPr>
        <p:blipFill>
          <a:blip r:embed="rId3"/>
          <a:stretch>
            <a:fillRect/>
          </a:stretch>
        </p:blipFill>
        <p:spPr>
          <a:xfrm>
            <a:off x="10607040" y="6336792"/>
            <a:ext cx="1024128" cy="365760"/>
          </a:xfrm>
          <a:prstGeom prst="rect">
            <a:avLst/>
          </a:prstGeom>
        </p:spPr>
      </p:pic>
      <p:sp>
        <p:nvSpPr>
          <p:cNvPr id="15" name="Text 9"/>
          <p:cNvSpPr txBox="1"/>
          <p:nvPr/>
        </p:nvSpPr>
        <p:spPr>
          <a:xfrm>
            <a:off x="566928" y="1508760"/>
            <a:ext cx="6720840" cy="274320"/>
          </a:xfrm>
          <a:prstGeom prst="rect">
            <a:avLst/>
          </a:prstGeom>
          <a:noFill/>
          <a:ln/>
        </p:spPr>
        <p:txBody>
          <a:bodyPr wrap="square" lIns="0" tIns="0" rIns="0" bIns="0" rtlCol="0" anchor="t"/>
          <a:lstStyle/>
          <a:p>
            <a:pPr algn="ctr" indent="0" marL="0">
              <a:buNone/>
            </a:pPr>
            <a:r>
              <a:rPr lang="en-US" sz="1100" dirty="0">
                <a:solidFill>
                  <a:srgbClr val="132257"/>
                </a:solidFill>
                <a:latin typeface="Exo 2" pitchFamily="34" charset="0"/>
                <a:ea typeface="Exo 2" pitchFamily="34" charset="-122"/>
                <a:cs typeface="Exo 2" pitchFamily="34" charset="-120"/>
              </a:rPr>
              <a:t>App installs, cumulative (Android + iOS), by dashboard report date</a:t>
            </a:r>
            <a:endParaRPr lang="en-US" sz="1100" dirty="0"/>
          </a:p>
        </p:txBody>
      </p:sp>
      <p:sp>
        <p:nvSpPr>
          <p:cNvPr id="16" name="Shape 10"/>
          <p:cNvSpPr/>
          <p:nvPr/>
        </p:nvSpPr>
        <p:spPr>
          <a:xfrm>
            <a:off x="1024128" y="5029200"/>
            <a:ext cx="6172200" cy="0"/>
          </a:xfrm>
          <a:prstGeom prst="line">
            <a:avLst/>
          </a:prstGeom>
          <a:noFill/>
          <a:ln w="12700">
            <a:solidFill>
              <a:srgbClr val="C6CFE4"/>
            </a:solidFill>
            <a:prstDash val="solid"/>
          </a:ln>
        </p:spPr>
      </p:sp>
      <p:sp>
        <p:nvSpPr>
          <p:cNvPr id="17" name="Text 11"/>
          <p:cNvSpPr txBox="1"/>
          <p:nvPr/>
        </p:nvSpPr>
        <p:spPr>
          <a:xfrm>
            <a:off x="566928" y="4919472"/>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360</a:t>
            </a:r>
            <a:endParaRPr lang="en-US" sz="900" dirty="0"/>
          </a:p>
        </p:txBody>
      </p:sp>
      <p:sp>
        <p:nvSpPr>
          <p:cNvPr id="18" name="Shape 12"/>
          <p:cNvSpPr/>
          <p:nvPr/>
        </p:nvSpPr>
        <p:spPr>
          <a:xfrm>
            <a:off x="1024128" y="4416552"/>
            <a:ext cx="6172200" cy="0"/>
          </a:xfrm>
          <a:prstGeom prst="line">
            <a:avLst/>
          </a:prstGeom>
          <a:noFill/>
          <a:ln w="9525">
            <a:solidFill>
              <a:srgbClr val="E6EAF2"/>
            </a:solidFill>
            <a:prstDash val="solid"/>
          </a:ln>
        </p:spPr>
      </p:sp>
      <p:sp>
        <p:nvSpPr>
          <p:cNvPr id="19" name="Text 13"/>
          <p:cNvSpPr txBox="1"/>
          <p:nvPr/>
        </p:nvSpPr>
        <p:spPr>
          <a:xfrm>
            <a:off x="566928" y="4306824"/>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390</a:t>
            </a:r>
            <a:endParaRPr lang="en-US" sz="900" dirty="0"/>
          </a:p>
        </p:txBody>
      </p:sp>
      <p:sp>
        <p:nvSpPr>
          <p:cNvPr id="20" name="Shape 14"/>
          <p:cNvSpPr/>
          <p:nvPr/>
        </p:nvSpPr>
        <p:spPr>
          <a:xfrm>
            <a:off x="1024128" y="3803904"/>
            <a:ext cx="6172200" cy="0"/>
          </a:xfrm>
          <a:prstGeom prst="line">
            <a:avLst/>
          </a:prstGeom>
          <a:noFill/>
          <a:ln w="9525">
            <a:solidFill>
              <a:srgbClr val="E6EAF2"/>
            </a:solidFill>
            <a:prstDash val="solid"/>
          </a:ln>
        </p:spPr>
      </p:sp>
      <p:sp>
        <p:nvSpPr>
          <p:cNvPr id="21" name="Text 15"/>
          <p:cNvSpPr txBox="1"/>
          <p:nvPr/>
        </p:nvSpPr>
        <p:spPr>
          <a:xfrm>
            <a:off x="566928" y="3694176"/>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420</a:t>
            </a:r>
            <a:endParaRPr lang="en-US" sz="900" dirty="0"/>
          </a:p>
        </p:txBody>
      </p:sp>
      <p:sp>
        <p:nvSpPr>
          <p:cNvPr id="22" name="Shape 16"/>
          <p:cNvSpPr/>
          <p:nvPr/>
        </p:nvSpPr>
        <p:spPr>
          <a:xfrm>
            <a:off x="1024128" y="3191256"/>
            <a:ext cx="6172200" cy="0"/>
          </a:xfrm>
          <a:prstGeom prst="line">
            <a:avLst/>
          </a:prstGeom>
          <a:noFill/>
          <a:ln w="9525">
            <a:solidFill>
              <a:srgbClr val="E6EAF2"/>
            </a:solidFill>
            <a:prstDash val="solid"/>
          </a:ln>
        </p:spPr>
      </p:sp>
      <p:sp>
        <p:nvSpPr>
          <p:cNvPr id="23" name="Text 17"/>
          <p:cNvSpPr txBox="1"/>
          <p:nvPr/>
        </p:nvSpPr>
        <p:spPr>
          <a:xfrm>
            <a:off x="566928" y="3081528"/>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450</a:t>
            </a:r>
            <a:endParaRPr lang="en-US" sz="900" dirty="0"/>
          </a:p>
        </p:txBody>
      </p:sp>
      <p:sp>
        <p:nvSpPr>
          <p:cNvPr id="24" name="Shape 18"/>
          <p:cNvSpPr/>
          <p:nvPr/>
        </p:nvSpPr>
        <p:spPr>
          <a:xfrm>
            <a:off x="1024128" y="2578608"/>
            <a:ext cx="6172200" cy="0"/>
          </a:xfrm>
          <a:prstGeom prst="line">
            <a:avLst/>
          </a:prstGeom>
          <a:noFill/>
          <a:ln w="9525">
            <a:solidFill>
              <a:srgbClr val="E6EAF2"/>
            </a:solidFill>
            <a:prstDash val="solid"/>
          </a:ln>
        </p:spPr>
      </p:sp>
      <p:sp>
        <p:nvSpPr>
          <p:cNvPr id="25" name="Text 19"/>
          <p:cNvSpPr txBox="1"/>
          <p:nvPr/>
        </p:nvSpPr>
        <p:spPr>
          <a:xfrm>
            <a:off x="566928" y="2468880"/>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480</a:t>
            </a:r>
            <a:endParaRPr lang="en-US" sz="900" dirty="0"/>
          </a:p>
        </p:txBody>
      </p:sp>
      <p:sp>
        <p:nvSpPr>
          <p:cNvPr id="26" name="Shape 20"/>
          <p:cNvSpPr/>
          <p:nvPr/>
        </p:nvSpPr>
        <p:spPr>
          <a:xfrm>
            <a:off x="1024128" y="1965960"/>
            <a:ext cx="6172200" cy="0"/>
          </a:xfrm>
          <a:prstGeom prst="line">
            <a:avLst/>
          </a:prstGeom>
          <a:noFill/>
          <a:ln w="9525">
            <a:solidFill>
              <a:srgbClr val="E6EAF2"/>
            </a:solidFill>
            <a:prstDash val="solid"/>
          </a:ln>
        </p:spPr>
      </p:sp>
      <p:sp>
        <p:nvSpPr>
          <p:cNvPr id="27" name="Text 21"/>
          <p:cNvSpPr txBox="1"/>
          <p:nvPr/>
        </p:nvSpPr>
        <p:spPr>
          <a:xfrm>
            <a:off x="566928" y="1856232"/>
            <a:ext cx="384048" cy="219456"/>
          </a:xfrm>
          <a:prstGeom prst="rect">
            <a:avLst/>
          </a:prstGeom>
          <a:noFill/>
          <a:ln/>
        </p:spPr>
        <p:txBody>
          <a:bodyPr wrap="square" lIns="0" tIns="0" rIns="0" bIns="0" rtlCol="0" anchor="ctr"/>
          <a:lstStyle/>
          <a:p>
            <a:pPr algn="r" indent="0" marL="0">
              <a:buNone/>
            </a:pPr>
            <a:r>
              <a:rPr lang="en-US" sz="900" dirty="0">
                <a:solidFill>
                  <a:srgbClr val="7A849C"/>
                </a:solidFill>
                <a:latin typeface="Exo 2" pitchFamily="34" charset="0"/>
                <a:ea typeface="Exo 2" pitchFamily="34" charset="-122"/>
                <a:cs typeface="Exo 2" pitchFamily="34" charset="-120"/>
              </a:rPr>
              <a:t>510</a:t>
            </a:r>
            <a:endParaRPr lang="en-US" sz="900" dirty="0"/>
          </a:p>
        </p:txBody>
      </p:sp>
      <p:sp>
        <p:nvSpPr>
          <p:cNvPr id="28" name="Shape 22"/>
          <p:cNvSpPr/>
          <p:nvPr/>
        </p:nvSpPr>
        <p:spPr>
          <a:xfrm>
            <a:off x="5324497" y="1920240"/>
            <a:ext cx="0" cy="3108960"/>
          </a:xfrm>
          <a:prstGeom prst="line">
            <a:avLst/>
          </a:prstGeom>
          <a:noFill/>
          <a:ln w="15875">
            <a:solidFill>
              <a:srgbClr val="D4AF37"/>
            </a:solidFill>
            <a:prstDash val="dash"/>
          </a:ln>
        </p:spPr>
      </p:sp>
      <p:sp>
        <p:nvSpPr>
          <p:cNvPr id="29" name="Shape 23"/>
          <p:cNvSpPr/>
          <p:nvPr/>
        </p:nvSpPr>
        <p:spPr>
          <a:xfrm flipV="1">
            <a:off x="1161288" y="4436974"/>
            <a:ext cx="346934" cy="326746"/>
          </a:xfrm>
          <a:prstGeom prst="line">
            <a:avLst/>
          </a:prstGeom>
          <a:noFill/>
          <a:ln w="31750">
            <a:solidFill>
              <a:srgbClr val="132257"/>
            </a:solidFill>
            <a:prstDash val="solid"/>
          </a:ln>
        </p:spPr>
      </p:sp>
      <p:sp>
        <p:nvSpPr>
          <p:cNvPr id="30" name="Shape 24"/>
          <p:cNvSpPr/>
          <p:nvPr/>
        </p:nvSpPr>
        <p:spPr>
          <a:xfrm flipV="1">
            <a:off x="1508222" y="4314444"/>
            <a:ext cx="346934" cy="122530"/>
          </a:xfrm>
          <a:prstGeom prst="line">
            <a:avLst/>
          </a:prstGeom>
          <a:noFill/>
          <a:ln w="31750">
            <a:solidFill>
              <a:srgbClr val="132257"/>
            </a:solidFill>
            <a:prstDash val="solid"/>
          </a:ln>
        </p:spPr>
      </p:sp>
      <p:sp>
        <p:nvSpPr>
          <p:cNvPr id="31" name="Shape 25"/>
          <p:cNvSpPr/>
          <p:nvPr/>
        </p:nvSpPr>
        <p:spPr>
          <a:xfrm flipV="1">
            <a:off x="1855156" y="4151071"/>
            <a:ext cx="346934" cy="163373"/>
          </a:xfrm>
          <a:prstGeom prst="line">
            <a:avLst/>
          </a:prstGeom>
          <a:noFill/>
          <a:ln w="31750">
            <a:solidFill>
              <a:srgbClr val="132257"/>
            </a:solidFill>
            <a:prstDash val="solid"/>
          </a:ln>
        </p:spPr>
      </p:sp>
      <p:sp>
        <p:nvSpPr>
          <p:cNvPr id="32" name="Shape 26"/>
          <p:cNvSpPr/>
          <p:nvPr/>
        </p:nvSpPr>
        <p:spPr>
          <a:xfrm flipV="1">
            <a:off x="2202090" y="4008120"/>
            <a:ext cx="346934" cy="142951"/>
          </a:xfrm>
          <a:prstGeom prst="line">
            <a:avLst/>
          </a:prstGeom>
          <a:noFill/>
          <a:ln w="31750">
            <a:solidFill>
              <a:srgbClr val="132257"/>
            </a:solidFill>
            <a:prstDash val="solid"/>
          </a:ln>
        </p:spPr>
      </p:sp>
      <p:sp>
        <p:nvSpPr>
          <p:cNvPr id="33" name="Shape 27"/>
          <p:cNvSpPr/>
          <p:nvPr/>
        </p:nvSpPr>
        <p:spPr>
          <a:xfrm flipV="1">
            <a:off x="2549024" y="3926434"/>
            <a:ext cx="346934" cy="81686"/>
          </a:xfrm>
          <a:prstGeom prst="line">
            <a:avLst/>
          </a:prstGeom>
          <a:noFill/>
          <a:ln w="31750">
            <a:solidFill>
              <a:srgbClr val="132257"/>
            </a:solidFill>
            <a:prstDash val="solid"/>
          </a:ln>
        </p:spPr>
      </p:sp>
      <p:sp>
        <p:nvSpPr>
          <p:cNvPr id="34" name="Shape 28"/>
          <p:cNvSpPr/>
          <p:nvPr/>
        </p:nvSpPr>
        <p:spPr>
          <a:xfrm flipV="1">
            <a:off x="2895959" y="3824326"/>
            <a:ext cx="346934" cy="102108"/>
          </a:xfrm>
          <a:prstGeom prst="line">
            <a:avLst/>
          </a:prstGeom>
          <a:noFill/>
          <a:ln w="31750">
            <a:solidFill>
              <a:srgbClr val="132257"/>
            </a:solidFill>
            <a:prstDash val="solid"/>
          </a:ln>
        </p:spPr>
      </p:sp>
      <p:sp>
        <p:nvSpPr>
          <p:cNvPr id="35" name="Shape 29"/>
          <p:cNvSpPr/>
          <p:nvPr/>
        </p:nvSpPr>
        <p:spPr>
          <a:xfrm flipV="1">
            <a:off x="3242893" y="3742639"/>
            <a:ext cx="346934" cy="81686"/>
          </a:xfrm>
          <a:prstGeom prst="line">
            <a:avLst/>
          </a:prstGeom>
          <a:noFill/>
          <a:ln w="31750">
            <a:solidFill>
              <a:srgbClr val="132257"/>
            </a:solidFill>
            <a:prstDash val="solid"/>
          </a:ln>
        </p:spPr>
      </p:sp>
      <p:sp>
        <p:nvSpPr>
          <p:cNvPr id="36" name="Shape 30"/>
          <p:cNvSpPr/>
          <p:nvPr/>
        </p:nvSpPr>
        <p:spPr>
          <a:xfrm flipV="1">
            <a:off x="3589827" y="3599688"/>
            <a:ext cx="346934" cy="142951"/>
          </a:xfrm>
          <a:prstGeom prst="line">
            <a:avLst/>
          </a:prstGeom>
          <a:noFill/>
          <a:ln w="31750">
            <a:solidFill>
              <a:srgbClr val="132257"/>
            </a:solidFill>
            <a:prstDash val="solid"/>
          </a:ln>
        </p:spPr>
      </p:sp>
      <p:sp>
        <p:nvSpPr>
          <p:cNvPr id="37" name="Shape 31"/>
          <p:cNvSpPr/>
          <p:nvPr/>
        </p:nvSpPr>
        <p:spPr>
          <a:xfrm flipV="1">
            <a:off x="3936761" y="3558845"/>
            <a:ext cx="346934" cy="40843"/>
          </a:xfrm>
          <a:prstGeom prst="line">
            <a:avLst/>
          </a:prstGeom>
          <a:noFill/>
          <a:ln w="31750">
            <a:solidFill>
              <a:srgbClr val="132257"/>
            </a:solidFill>
            <a:prstDash val="solid"/>
          </a:ln>
        </p:spPr>
      </p:sp>
      <p:sp>
        <p:nvSpPr>
          <p:cNvPr id="38" name="Shape 32"/>
          <p:cNvSpPr/>
          <p:nvPr/>
        </p:nvSpPr>
        <p:spPr>
          <a:xfrm flipV="1">
            <a:off x="4283695" y="3456737"/>
            <a:ext cx="346934" cy="102108"/>
          </a:xfrm>
          <a:prstGeom prst="line">
            <a:avLst/>
          </a:prstGeom>
          <a:noFill/>
          <a:ln w="31750">
            <a:solidFill>
              <a:srgbClr val="132257"/>
            </a:solidFill>
            <a:prstDash val="solid"/>
          </a:ln>
        </p:spPr>
      </p:sp>
      <p:sp>
        <p:nvSpPr>
          <p:cNvPr id="39" name="Shape 33"/>
          <p:cNvSpPr/>
          <p:nvPr/>
        </p:nvSpPr>
        <p:spPr>
          <a:xfrm>
            <a:off x="4630629" y="3456737"/>
            <a:ext cx="346934" cy="0"/>
          </a:xfrm>
          <a:prstGeom prst="line">
            <a:avLst/>
          </a:prstGeom>
          <a:noFill/>
          <a:ln w="31750">
            <a:solidFill>
              <a:srgbClr val="132257"/>
            </a:solidFill>
            <a:prstDash val="solid"/>
          </a:ln>
        </p:spPr>
      </p:sp>
      <p:sp>
        <p:nvSpPr>
          <p:cNvPr id="40" name="Shape 34"/>
          <p:cNvSpPr/>
          <p:nvPr/>
        </p:nvSpPr>
        <p:spPr>
          <a:xfrm flipV="1">
            <a:off x="4977563" y="3150413"/>
            <a:ext cx="346934" cy="306324"/>
          </a:xfrm>
          <a:prstGeom prst="line">
            <a:avLst/>
          </a:prstGeom>
          <a:noFill/>
          <a:ln w="31750">
            <a:solidFill>
              <a:srgbClr val="132257"/>
            </a:solidFill>
            <a:prstDash val="solid"/>
          </a:ln>
        </p:spPr>
      </p:sp>
      <p:sp>
        <p:nvSpPr>
          <p:cNvPr id="41" name="Shape 35"/>
          <p:cNvSpPr/>
          <p:nvPr/>
        </p:nvSpPr>
        <p:spPr>
          <a:xfrm flipV="1">
            <a:off x="5324497" y="3109570"/>
            <a:ext cx="346934" cy="40843"/>
          </a:xfrm>
          <a:prstGeom prst="line">
            <a:avLst/>
          </a:prstGeom>
          <a:noFill/>
          <a:ln w="31750">
            <a:solidFill>
              <a:srgbClr val="132257"/>
            </a:solidFill>
            <a:prstDash val="solid"/>
          </a:ln>
        </p:spPr>
      </p:sp>
      <p:sp>
        <p:nvSpPr>
          <p:cNvPr id="42" name="Shape 36"/>
          <p:cNvSpPr/>
          <p:nvPr/>
        </p:nvSpPr>
        <p:spPr>
          <a:xfrm flipV="1">
            <a:off x="5671432" y="3089148"/>
            <a:ext cx="346934" cy="20422"/>
          </a:xfrm>
          <a:prstGeom prst="line">
            <a:avLst/>
          </a:prstGeom>
          <a:noFill/>
          <a:ln w="31750">
            <a:solidFill>
              <a:srgbClr val="132257"/>
            </a:solidFill>
            <a:prstDash val="solid"/>
          </a:ln>
        </p:spPr>
      </p:sp>
      <p:sp>
        <p:nvSpPr>
          <p:cNvPr id="43" name="Shape 37"/>
          <p:cNvSpPr/>
          <p:nvPr/>
        </p:nvSpPr>
        <p:spPr>
          <a:xfrm flipV="1">
            <a:off x="6018366" y="2721559"/>
            <a:ext cx="346934" cy="367589"/>
          </a:xfrm>
          <a:prstGeom prst="line">
            <a:avLst/>
          </a:prstGeom>
          <a:noFill/>
          <a:ln w="31750">
            <a:solidFill>
              <a:srgbClr val="132257"/>
            </a:solidFill>
            <a:prstDash val="solid"/>
          </a:ln>
        </p:spPr>
      </p:sp>
      <p:sp>
        <p:nvSpPr>
          <p:cNvPr id="44" name="Shape 38"/>
          <p:cNvSpPr/>
          <p:nvPr/>
        </p:nvSpPr>
        <p:spPr>
          <a:xfrm flipV="1">
            <a:off x="6365300" y="2578608"/>
            <a:ext cx="346934" cy="142951"/>
          </a:xfrm>
          <a:prstGeom prst="line">
            <a:avLst/>
          </a:prstGeom>
          <a:noFill/>
          <a:ln w="31750">
            <a:solidFill>
              <a:srgbClr val="132257"/>
            </a:solidFill>
            <a:prstDash val="solid"/>
          </a:ln>
        </p:spPr>
      </p:sp>
      <p:sp>
        <p:nvSpPr>
          <p:cNvPr id="45" name="Shape 39"/>
          <p:cNvSpPr/>
          <p:nvPr/>
        </p:nvSpPr>
        <p:spPr>
          <a:xfrm flipV="1">
            <a:off x="6712234" y="2374392"/>
            <a:ext cx="346934" cy="204216"/>
          </a:xfrm>
          <a:prstGeom prst="line">
            <a:avLst/>
          </a:prstGeom>
          <a:noFill/>
          <a:ln w="31750">
            <a:solidFill>
              <a:srgbClr val="132257"/>
            </a:solidFill>
            <a:prstDash val="solid"/>
          </a:ln>
        </p:spPr>
      </p:sp>
      <p:sp>
        <p:nvSpPr>
          <p:cNvPr id="46" name="Shape 40"/>
          <p:cNvSpPr/>
          <p:nvPr/>
        </p:nvSpPr>
        <p:spPr>
          <a:xfrm>
            <a:off x="1115568" y="4717999"/>
            <a:ext cx="91440" cy="91440"/>
          </a:xfrm>
          <a:prstGeom prst="ellipse">
            <a:avLst/>
          </a:prstGeom>
          <a:solidFill>
            <a:srgbClr val="132257"/>
          </a:solidFill>
          <a:ln w="12700">
            <a:solidFill>
              <a:srgbClr val="132257"/>
            </a:solidFill>
            <a:prstDash val="solid"/>
          </a:ln>
        </p:spPr>
      </p:sp>
      <p:sp>
        <p:nvSpPr>
          <p:cNvPr id="47" name="Text 41"/>
          <p:cNvSpPr txBox="1"/>
          <p:nvPr/>
        </p:nvSpPr>
        <p:spPr>
          <a:xfrm>
            <a:off x="886968"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 Sep</a:t>
            </a:r>
            <a:endParaRPr lang="en-US" sz="850" dirty="0"/>
          </a:p>
        </p:txBody>
      </p:sp>
      <p:sp>
        <p:nvSpPr>
          <p:cNvPr id="48" name="Shape 42"/>
          <p:cNvSpPr/>
          <p:nvPr/>
        </p:nvSpPr>
        <p:spPr>
          <a:xfrm>
            <a:off x="1462502" y="4391254"/>
            <a:ext cx="91440" cy="91440"/>
          </a:xfrm>
          <a:prstGeom prst="ellipse">
            <a:avLst/>
          </a:prstGeom>
          <a:solidFill>
            <a:srgbClr val="132257"/>
          </a:solidFill>
          <a:ln w="12700">
            <a:solidFill>
              <a:srgbClr val="132257"/>
            </a:solidFill>
            <a:prstDash val="solid"/>
          </a:ln>
        </p:spPr>
      </p:sp>
      <p:sp>
        <p:nvSpPr>
          <p:cNvPr id="49" name="Text 43"/>
          <p:cNvSpPr txBox="1"/>
          <p:nvPr/>
        </p:nvSpPr>
        <p:spPr>
          <a:xfrm>
            <a:off x="1233902"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a:t>
            </a:r>
            <a:endParaRPr lang="en-US" sz="850" dirty="0"/>
          </a:p>
        </p:txBody>
      </p:sp>
      <p:sp>
        <p:nvSpPr>
          <p:cNvPr id="50" name="Shape 44"/>
          <p:cNvSpPr/>
          <p:nvPr/>
        </p:nvSpPr>
        <p:spPr>
          <a:xfrm>
            <a:off x="1809436" y="4268724"/>
            <a:ext cx="91440" cy="91440"/>
          </a:xfrm>
          <a:prstGeom prst="ellipse">
            <a:avLst/>
          </a:prstGeom>
          <a:solidFill>
            <a:srgbClr val="132257"/>
          </a:solidFill>
          <a:ln w="12700">
            <a:solidFill>
              <a:srgbClr val="132257"/>
            </a:solidFill>
            <a:prstDash val="solid"/>
          </a:ln>
        </p:spPr>
      </p:sp>
      <p:sp>
        <p:nvSpPr>
          <p:cNvPr id="51" name="Text 45"/>
          <p:cNvSpPr txBox="1"/>
          <p:nvPr/>
        </p:nvSpPr>
        <p:spPr>
          <a:xfrm>
            <a:off x="1580836"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3</a:t>
            </a:r>
            <a:endParaRPr lang="en-US" sz="850" dirty="0"/>
          </a:p>
        </p:txBody>
      </p:sp>
      <p:sp>
        <p:nvSpPr>
          <p:cNvPr id="52" name="Shape 46"/>
          <p:cNvSpPr/>
          <p:nvPr/>
        </p:nvSpPr>
        <p:spPr>
          <a:xfrm>
            <a:off x="2156370" y="4105351"/>
            <a:ext cx="91440" cy="91440"/>
          </a:xfrm>
          <a:prstGeom prst="ellipse">
            <a:avLst/>
          </a:prstGeom>
          <a:solidFill>
            <a:srgbClr val="132257"/>
          </a:solidFill>
          <a:ln w="12700">
            <a:solidFill>
              <a:srgbClr val="132257"/>
            </a:solidFill>
            <a:prstDash val="solid"/>
          </a:ln>
        </p:spPr>
      </p:sp>
      <p:sp>
        <p:nvSpPr>
          <p:cNvPr id="53" name="Text 47"/>
          <p:cNvSpPr txBox="1"/>
          <p:nvPr/>
        </p:nvSpPr>
        <p:spPr>
          <a:xfrm>
            <a:off x="1927770"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8</a:t>
            </a:r>
            <a:endParaRPr lang="en-US" sz="850" dirty="0"/>
          </a:p>
        </p:txBody>
      </p:sp>
      <p:sp>
        <p:nvSpPr>
          <p:cNvPr id="54" name="Shape 48"/>
          <p:cNvSpPr/>
          <p:nvPr/>
        </p:nvSpPr>
        <p:spPr>
          <a:xfrm>
            <a:off x="2503304" y="3962400"/>
            <a:ext cx="91440" cy="91440"/>
          </a:xfrm>
          <a:prstGeom prst="ellipse">
            <a:avLst/>
          </a:prstGeom>
          <a:solidFill>
            <a:srgbClr val="132257"/>
          </a:solidFill>
          <a:ln w="12700">
            <a:solidFill>
              <a:srgbClr val="132257"/>
            </a:solidFill>
            <a:prstDash val="solid"/>
          </a:ln>
        </p:spPr>
      </p:sp>
      <p:sp>
        <p:nvSpPr>
          <p:cNvPr id="55" name="Text 49"/>
          <p:cNvSpPr txBox="1"/>
          <p:nvPr/>
        </p:nvSpPr>
        <p:spPr>
          <a:xfrm>
            <a:off x="2274704"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9</a:t>
            </a:r>
            <a:endParaRPr lang="en-US" sz="850" dirty="0"/>
          </a:p>
        </p:txBody>
      </p:sp>
      <p:sp>
        <p:nvSpPr>
          <p:cNvPr id="56" name="Shape 50"/>
          <p:cNvSpPr/>
          <p:nvPr/>
        </p:nvSpPr>
        <p:spPr>
          <a:xfrm>
            <a:off x="2850239" y="3880714"/>
            <a:ext cx="91440" cy="91440"/>
          </a:xfrm>
          <a:prstGeom prst="ellipse">
            <a:avLst/>
          </a:prstGeom>
          <a:solidFill>
            <a:srgbClr val="132257"/>
          </a:solidFill>
          <a:ln w="12700">
            <a:solidFill>
              <a:srgbClr val="132257"/>
            </a:solidFill>
            <a:prstDash val="solid"/>
          </a:ln>
        </p:spPr>
      </p:sp>
      <p:sp>
        <p:nvSpPr>
          <p:cNvPr id="57" name="Text 51"/>
          <p:cNvSpPr txBox="1"/>
          <p:nvPr/>
        </p:nvSpPr>
        <p:spPr>
          <a:xfrm>
            <a:off x="2621639"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10</a:t>
            </a:r>
            <a:endParaRPr lang="en-US" sz="850" dirty="0"/>
          </a:p>
        </p:txBody>
      </p:sp>
      <p:sp>
        <p:nvSpPr>
          <p:cNvPr id="58" name="Shape 52"/>
          <p:cNvSpPr/>
          <p:nvPr/>
        </p:nvSpPr>
        <p:spPr>
          <a:xfrm>
            <a:off x="3197173" y="3778606"/>
            <a:ext cx="91440" cy="91440"/>
          </a:xfrm>
          <a:prstGeom prst="ellipse">
            <a:avLst/>
          </a:prstGeom>
          <a:solidFill>
            <a:srgbClr val="132257"/>
          </a:solidFill>
          <a:ln w="12700">
            <a:solidFill>
              <a:srgbClr val="132257"/>
            </a:solidFill>
            <a:prstDash val="solid"/>
          </a:ln>
        </p:spPr>
      </p:sp>
      <p:sp>
        <p:nvSpPr>
          <p:cNvPr id="59" name="Text 53"/>
          <p:cNvSpPr txBox="1"/>
          <p:nvPr/>
        </p:nvSpPr>
        <p:spPr>
          <a:xfrm>
            <a:off x="2968573"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13</a:t>
            </a:r>
            <a:endParaRPr lang="en-US" sz="850" dirty="0"/>
          </a:p>
        </p:txBody>
      </p:sp>
      <p:sp>
        <p:nvSpPr>
          <p:cNvPr id="60" name="Shape 54"/>
          <p:cNvSpPr/>
          <p:nvPr/>
        </p:nvSpPr>
        <p:spPr>
          <a:xfrm>
            <a:off x="3544107" y="3696919"/>
            <a:ext cx="91440" cy="91440"/>
          </a:xfrm>
          <a:prstGeom prst="ellipse">
            <a:avLst/>
          </a:prstGeom>
          <a:solidFill>
            <a:srgbClr val="132257"/>
          </a:solidFill>
          <a:ln w="12700">
            <a:solidFill>
              <a:srgbClr val="132257"/>
            </a:solidFill>
            <a:prstDash val="solid"/>
          </a:ln>
        </p:spPr>
      </p:sp>
      <p:sp>
        <p:nvSpPr>
          <p:cNvPr id="61" name="Text 55"/>
          <p:cNvSpPr txBox="1"/>
          <p:nvPr/>
        </p:nvSpPr>
        <p:spPr>
          <a:xfrm>
            <a:off x="3315507"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14</a:t>
            </a:r>
            <a:endParaRPr lang="en-US" sz="850" dirty="0"/>
          </a:p>
        </p:txBody>
      </p:sp>
      <p:sp>
        <p:nvSpPr>
          <p:cNvPr id="62" name="Shape 56"/>
          <p:cNvSpPr/>
          <p:nvPr/>
        </p:nvSpPr>
        <p:spPr>
          <a:xfrm>
            <a:off x="3891041" y="3553968"/>
            <a:ext cx="91440" cy="91440"/>
          </a:xfrm>
          <a:prstGeom prst="ellipse">
            <a:avLst/>
          </a:prstGeom>
          <a:solidFill>
            <a:srgbClr val="132257"/>
          </a:solidFill>
          <a:ln w="12700">
            <a:solidFill>
              <a:srgbClr val="132257"/>
            </a:solidFill>
            <a:prstDash val="solid"/>
          </a:ln>
        </p:spPr>
      </p:sp>
      <p:sp>
        <p:nvSpPr>
          <p:cNvPr id="63" name="Text 57"/>
          <p:cNvSpPr txBox="1"/>
          <p:nvPr/>
        </p:nvSpPr>
        <p:spPr>
          <a:xfrm>
            <a:off x="3662441"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16</a:t>
            </a:r>
            <a:endParaRPr lang="en-US" sz="850" dirty="0"/>
          </a:p>
        </p:txBody>
      </p:sp>
      <p:sp>
        <p:nvSpPr>
          <p:cNvPr id="64" name="Shape 58"/>
          <p:cNvSpPr/>
          <p:nvPr/>
        </p:nvSpPr>
        <p:spPr>
          <a:xfrm>
            <a:off x="4237975" y="3513125"/>
            <a:ext cx="91440" cy="91440"/>
          </a:xfrm>
          <a:prstGeom prst="ellipse">
            <a:avLst/>
          </a:prstGeom>
          <a:solidFill>
            <a:srgbClr val="132257"/>
          </a:solidFill>
          <a:ln w="12700">
            <a:solidFill>
              <a:srgbClr val="132257"/>
            </a:solidFill>
            <a:prstDash val="solid"/>
          </a:ln>
        </p:spPr>
      </p:sp>
      <p:sp>
        <p:nvSpPr>
          <p:cNvPr id="65" name="Text 59"/>
          <p:cNvSpPr txBox="1"/>
          <p:nvPr/>
        </p:nvSpPr>
        <p:spPr>
          <a:xfrm>
            <a:off x="4009375"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17</a:t>
            </a:r>
            <a:endParaRPr lang="en-US" sz="850" dirty="0"/>
          </a:p>
        </p:txBody>
      </p:sp>
      <p:sp>
        <p:nvSpPr>
          <p:cNvPr id="66" name="Shape 60"/>
          <p:cNvSpPr/>
          <p:nvPr/>
        </p:nvSpPr>
        <p:spPr>
          <a:xfrm>
            <a:off x="4584909" y="3411017"/>
            <a:ext cx="91440" cy="91440"/>
          </a:xfrm>
          <a:prstGeom prst="ellipse">
            <a:avLst/>
          </a:prstGeom>
          <a:solidFill>
            <a:srgbClr val="132257"/>
          </a:solidFill>
          <a:ln w="12700">
            <a:solidFill>
              <a:srgbClr val="132257"/>
            </a:solidFill>
            <a:prstDash val="solid"/>
          </a:ln>
        </p:spPr>
      </p:sp>
      <p:sp>
        <p:nvSpPr>
          <p:cNvPr id="67" name="Text 61"/>
          <p:cNvSpPr txBox="1"/>
          <p:nvPr/>
        </p:nvSpPr>
        <p:spPr>
          <a:xfrm>
            <a:off x="4356309"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20</a:t>
            </a:r>
            <a:endParaRPr lang="en-US" sz="850" dirty="0"/>
          </a:p>
        </p:txBody>
      </p:sp>
      <p:sp>
        <p:nvSpPr>
          <p:cNvPr id="68" name="Shape 62"/>
          <p:cNvSpPr/>
          <p:nvPr/>
        </p:nvSpPr>
        <p:spPr>
          <a:xfrm>
            <a:off x="4931843" y="3411017"/>
            <a:ext cx="91440" cy="91440"/>
          </a:xfrm>
          <a:prstGeom prst="ellipse">
            <a:avLst/>
          </a:prstGeom>
          <a:solidFill>
            <a:srgbClr val="132257"/>
          </a:solidFill>
          <a:ln w="12700">
            <a:solidFill>
              <a:srgbClr val="132257"/>
            </a:solidFill>
            <a:prstDash val="solid"/>
          </a:ln>
        </p:spPr>
      </p:sp>
      <p:sp>
        <p:nvSpPr>
          <p:cNvPr id="69" name="Text 63"/>
          <p:cNvSpPr txBox="1"/>
          <p:nvPr/>
        </p:nvSpPr>
        <p:spPr>
          <a:xfrm>
            <a:off x="4703243"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21</a:t>
            </a:r>
            <a:endParaRPr lang="en-US" sz="850" dirty="0"/>
          </a:p>
        </p:txBody>
      </p:sp>
      <p:sp>
        <p:nvSpPr>
          <p:cNvPr id="70" name="Shape 64"/>
          <p:cNvSpPr/>
          <p:nvPr/>
        </p:nvSpPr>
        <p:spPr>
          <a:xfrm>
            <a:off x="5278777" y="3104693"/>
            <a:ext cx="91440" cy="91440"/>
          </a:xfrm>
          <a:prstGeom prst="ellipse">
            <a:avLst/>
          </a:prstGeom>
          <a:solidFill>
            <a:srgbClr val="132257"/>
          </a:solidFill>
          <a:ln w="12700">
            <a:solidFill>
              <a:srgbClr val="132257"/>
            </a:solidFill>
            <a:prstDash val="solid"/>
          </a:ln>
        </p:spPr>
      </p:sp>
      <p:sp>
        <p:nvSpPr>
          <p:cNvPr id="71" name="Text 65"/>
          <p:cNvSpPr txBox="1"/>
          <p:nvPr/>
        </p:nvSpPr>
        <p:spPr>
          <a:xfrm>
            <a:off x="5050177" y="5084064"/>
            <a:ext cx="548640" cy="219456"/>
          </a:xfrm>
          <a:prstGeom prst="rect">
            <a:avLst/>
          </a:prstGeom>
          <a:noFill/>
          <a:ln/>
        </p:spPr>
        <p:txBody>
          <a:bodyPr wrap="square" lIns="0" tIns="0" rIns="0" bIns="0" rtlCol="0" anchor="t"/>
          <a:lstStyle/>
          <a:p>
            <a:pPr algn="ctr" indent="0" marL="0">
              <a:buNone/>
            </a:pPr>
            <a:r>
              <a:rPr lang="en-US" sz="850" b="1" dirty="0">
                <a:solidFill>
                  <a:srgbClr val="9A7B1F"/>
                </a:solidFill>
                <a:latin typeface="Exo 2" pitchFamily="34" charset="0"/>
                <a:ea typeface="Exo 2" pitchFamily="34" charset="-122"/>
                <a:cs typeface="Exo 2" pitchFamily="34" charset="-120"/>
              </a:rPr>
              <a:t>22 Sep</a:t>
            </a:r>
            <a:endParaRPr lang="en-US" sz="850" dirty="0"/>
          </a:p>
        </p:txBody>
      </p:sp>
      <p:sp>
        <p:nvSpPr>
          <p:cNvPr id="72" name="Shape 66"/>
          <p:cNvSpPr/>
          <p:nvPr/>
        </p:nvSpPr>
        <p:spPr>
          <a:xfrm>
            <a:off x="5625712" y="3063850"/>
            <a:ext cx="91440" cy="91440"/>
          </a:xfrm>
          <a:prstGeom prst="ellipse">
            <a:avLst/>
          </a:prstGeom>
          <a:solidFill>
            <a:srgbClr val="132257"/>
          </a:solidFill>
          <a:ln w="12700">
            <a:solidFill>
              <a:srgbClr val="132257"/>
            </a:solidFill>
            <a:prstDash val="solid"/>
          </a:ln>
        </p:spPr>
      </p:sp>
      <p:sp>
        <p:nvSpPr>
          <p:cNvPr id="73" name="Text 67"/>
          <p:cNvSpPr txBox="1"/>
          <p:nvPr/>
        </p:nvSpPr>
        <p:spPr>
          <a:xfrm>
            <a:off x="5397112"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23</a:t>
            </a:r>
            <a:endParaRPr lang="en-US" sz="850" dirty="0"/>
          </a:p>
        </p:txBody>
      </p:sp>
      <p:sp>
        <p:nvSpPr>
          <p:cNvPr id="74" name="Shape 68"/>
          <p:cNvSpPr/>
          <p:nvPr/>
        </p:nvSpPr>
        <p:spPr>
          <a:xfrm>
            <a:off x="5972646" y="3043428"/>
            <a:ext cx="91440" cy="91440"/>
          </a:xfrm>
          <a:prstGeom prst="ellipse">
            <a:avLst/>
          </a:prstGeom>
          <a:solidFill>
            <a:srgbClr val="132257"/>
          </a:solidFill>
          <a:ln w="12700">
            <a:solidFill>
              <a:srgbClr val="132257"/>
            </a:solidFill>
            <a:prstDash val="solid"/>
          </a:ln>
        </p:spPr>
      </p:sp>
      <p:sp>
        <p:nvSpPr>
          <p:cNvPr id="75" name="Text 69"/>
          <p:cNvSpPr txBox="1"/>
          <p:nvPr/>
        </p:nvSpPr>
        <p:spPr>
          <a:xfrm>
            <a:off x="5744046"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24</a:t>
            </a:r>
            <a:endParaRPr lang="en-US" sz="850" dirty="0"/>
          </a:p>
        </p:txBody>
      </p:sp>
      <p:sp>
        <p:nvSpPr>
          <p:cNvPr id="76" name="Shape 70"/>
          <p:cNvSpPr/>
          <p:nvPr/>
        </p:nvSpPr>
        <p:spPr>
          <a:xfrm>
            <a:off x="6319580" y="2675839"/>
            <a:ext cx="91440" cy="91440"/>
          </a:xfrm>
          <a:prstGeom prst="ellipse">
            <a:avLst/>
          </a:prstGeom>
          <a:solidFill>
            <a:srgbClr val="132257"/>
          </a:solidFill>
          <a:ln w="12700">
            <a:solidFill>
              <a:srgbClr val="132257"/>
            </a:solidFill>
            <a:prstDash val="solid"/>
          </a:ln>
        </p:spPr>
      </p:sp>
      <p:sp>
        <p:nvSpPr>
          <p:cNvPr id="77" name="Text 71"/>
          <p:cNvSpPr txBox="1"/>
          <p:nvPr/>
        </p:nvSpPr>
        <p:spPr>
          <a:xfrm>
            <a:off x="6090980"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27</a:t>
            </a:r>
            <a:endParaRPr lang="en-US" sz="850" dirty="0"/>
          </a:p>
        </p:txBody>
      </p:sp>
      <p:sp>
        <p:nvSpPr>
          <p:cNvPr id="78" name="Shape 72"/>
          <p:cNvSpPr/>
          <p:nvPr/>
        </p:nvSpPr>
        <p:spPr>
          <a:xfrm>
            <a:off x="6666514" y="2532888"/>
            <a:ext cx="91440" cy="91440"/>
          </a:xfrm>
          <a:prstGeom prst="ellipse">
            <a:avLst/>
          </a:prstGeom>
          <a:solidFill>
            <a:srgbClr val="132257"/>
          </a:solidFill>
          <a:ln w="12700">
            <a:solidFill>
              <a:srgbClr val="132257"/>
            </a:solidFill>
            <a:prstDash val="solid"/>
          </a:ln>
        </p:spPr>
      </p:sp>
      <p:sp>
        <p:nvSpPr>
          <p:cNvPr id="79" name="Text 73"/>
          <p:cNvSpPr txBox="1"/>
          <p:nvPr/>
        </p:nvSpPr>
        <p:spPr>
          <a:xfrm>
            <a:off x="6437914"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28</a:t>
            </a:r>
            <a:endParaRPr lang="en-US" sz="850" dirty="0"/>
          </a:p>
        </p:txBody>
      </p:sp>
      <p:sp>
        <p:nvSpPr>
          <p:cNvPr id="80" name="Shape 74"/>
          <p:cNvSpPr/>
          <p:nvPr/>
        </p:nvSpPr>
        <p:spPr>
          <a:xfrm>
            <a:off x="7013448" y="2328672"/>
            <a:ext cx="91440" cy="91440"/>
          </a:xfrm>
          <a:prstGeom prst="ellipse">
            <a:avLst/>
          </a:prstGeom>
          <a:solidFill>
            <a:srgbClr val="132257"/>
          </a:solidFill>
          <a:ln w="12700">
            <a:solidFill>
              <a:srgbClr val="132257"/>
            </a:solidFill>
            <a:prstDash val="solid"/>
          </a:ln>
        </p:spPr>
      </p:sp>
      <p:sp>
        <p:nvSpPr>
          <p:cNvPr id="81" name="Text 75"/>
          <p:cNvSpPr txBox="1"/>
          <p:nvPr/>
        </p:nvSpPr>
        <p:spPr>
          <a:xfrm>
            <a:off x="6784848" y="5084064"/>
            <a:ext cx="548640" cy="219456"/>
          </a:xfrm>
          <a:prstGeom prst="rect">
            <a:avLst/>
          </a:prstGeom>
          <a:noFill/>
          <a:ln/>
        </p:spPr>
        <p:txBody>
          <a:bodyPr wrap="square" lIns="0" tIns="0" rIns="0" bIns="0" rtlCol="0" anchor="t"/>
          <a:lstStyle/>
          <a:p>
            <a:pPr algn="ctr" indent="0" marL="0">
              <a:buNone/>
            </a:pPr>
            <a:r>
              <a:rPr lang="en-US" sz="850" dirty="0">
                <a:solidFill>
                  <a:srgbClr val="7A849C"/>
                </a:solidFill>
                <a:latin typeface="Exo 2" pitchFamily="34" charset="0"/>
                <a:ea typeface="Exo 2" pitchFamily="34" charset="-122"/>
                <a:cs typeface="Exo 2" pitchFamily="34" charset="-120"/>
              </a:rPr>
              <a:t>29 Sep</a:t>
            </a:r>
            <a:endParaRPr lang="en-US" sz="850" dirty="0"/>
          </a:p>
        </p:txBody>
      </p:sp>
      <p:sp>
        <p:nvSpPr>
          <p:cNvPr id="82" name="Text 76"/>
          <p:cNvSpPr txBox="1"/>
          <p:nvPr/>
        </p:nvSpPr>
        <p:spPr>
          <a:xfrm>
            <a:off x="4867297" y="5285232"/>
            <a:ext cx="914400" cy="201168"/>
          </a:xfrm>
          <a:prstGeom prst="rect">
            <a:avLst/>
          </a:prstGeom>
          <a:noFill/>
          <a:ln/>
        </p:spPr>
        <p:txBody>
          <a:bodyPr wrap="square" lIns="0" tIns="0" rIns="0" bIns="0" rtlCol="0" anchor="t"/>
          <a:lstStyle/>
          <a:p>
            <a:pPr algn="ctr" indent="0" marL="0">
              <a:buNone/>
            </a:pPr>
            <a:r>
              <a:rPr lang="en-US" sz="850" b="1" dirty="0">
                <a:solidFill>
                  <a:srgbClr val="9A7B1F"/>
                </a:solidFill>
                <a:latin typeface="Exo 2" pitchFamily="34" charset="0"/>
                <a:ea typeface="Exo 2" pitchFamily="34" charset="-122"/>
                <a:cs typeface="Exo 2" pitchFamily="34" charset="-120"/>
              </a:rPr>
              <a:t>Ads live</a:t>
            </a:r>
            <a:endParaRPr lang="en-US" sz="850" dirty="0"/>
          </a:p>
        </p:txBody>
      </p:sp>
      <p:sp>
        <p:nvSpPr>
          <p:cNvPr id="83" name="Text 77"/>
          <p:cNvSpPr txBox="1"/>
          <p:nvPr/>
        </p:nvSpPr>
        <p:spPr>
          <a:xfrm>
            <a:off x="6035040" y="3154680"/>
            <a:ext cx="1234440" cy="640080"/>
          </a:xfrm>
          <a:prstGeom prst="rect">
            <a:avLst/>
          </a:prstGeom>
          <a:noFill/>
          <a:ln/>
        </p:spPr>
        <p:txBody>
          <a:bodyPr wrap="square" lIns="0" tIns="0" rIns="0" bIns="0" rtlCol="0" anchor="t"/>
          <a:lstStyle/>
          <a:p>
            <a:pPr indent="0" marL="0">
              <a:buNone/>
            </a:pPr>
            <a:r>
              <a:rPr lang="en-US" sz="1050" b="1" dirty="0">
                <a:solidFill>
                  <a:srgbClr val="1BA97C"/>
                </a:solidFill>
                <a:latin typeface="Exo 2" pitchFamily="34" charset="0"/>
                <a:ea typeface="Exo 2" pitchFamily="34" charset="-122"/>
                <a:cs typeface="Exo 2" pitchFamily="34" charset="-120"/>
              </a:rPr>
              <a:t>+53 in 8 days</a:t>
            </a:r>
            <a:endParaRPr lang="en-US" sz="1050" dirty="0"/>
          </a:p>
          <a:p>
            <a:pPr indent="0" marL="0">
              <a:buNone/>
            </a:pPr>
            <a:r>
              <a:rPr lang="en-US" sz="1050" dirty="0">
                <a:solidFill>
                  <a:srgbClr val="7A849C"/>
                </a:solidFill>
                <a:latin typeface="Exo 2" pitchFamily="34" charset="0"/>
                <a:ea typeface="Exo 2" pitchFamily="34" charset="-122"/>
                <a:cs typeface="Exo 2" pitchFamily="34" charset="-120"/>
              </a:rPr>
              <a:t>21-29 Sep, after launch</a:t>
            </a:r>
            <a:endParaRPr lang="en-US" sz="1050" dirty="0"/>
          </a:p>
        </p:txBody>
      </p:sp>
      <p:sp>
        <p:nvSpPr>
          <p:cNvPr id="84" name="Text 78"/>
          <p:cNvSpPr txBox="1"/>
          <p:nvPr/>
        </p:nvSpPr>
        <p:spPr>
          <a:xfrm>
            <a:off x="4069080" y="3703320"/>
            <a:ext cx="2103120" cy="457200"/>
          </a:xfrm>
          <a:prstGeom prst="rect">
            <a:avLst/>
          </a:prstGeom>
          <a:noFill/>
          <a:ln/>
        </p:spPr>
        <p:txBody>
          <a:bodyPr wrap="square" lIns="0" tIns="0" rIns="0" bIns="0" rtlCol="0" anchor="t"/>
          <a:lstStyle/>
          <a:p>
            <a:pPr indent="0" marL="0">
              <a:buNone/>
            </a:pPr>
            <a:r>
              <a:rPr lang="en-US" sz="1050" b="1" dirty="0">
                <a:solidFill>
                  <a:srgbClr val="132257"/>
                </a:solidFill>
                <a:latin typeface="Exo 2" pitchFamily="34" charset="0"/>
                <a:ea typeface="Exo 2" pitchFamily="34" charset="-122"/>
                <a:cs typeface="Exo 2" pitchFamily="34" charset="-120"/>
              </a:rPr>
              <a:t>+14 in 7 days</a:t>
            </a:r>
            <a:endParaRPr lang="en-US" sz="1050" dirty="0"/>
          </a:p>
          <a:p>
            <a:pPr indent="0" marL="0">
              <a:buNone/>
            </a:pPr>
            <a:r>
              <a:rPr lang="en-US" sz="1050" dirty="0">
                <a:solidFill>
                  <a:srgbClr val="7A849C"/>
                </a:solidFill>
                <a:latin typeface="Exo 2" pitchFamily="34" charset="0"/>
                <a:ea typeface="Exo 2" pitchFamily="34" charset="-122"/>
                <a:cs typeface="Exo 2" pitchFamily="34" charset="-120"/>
              </a:rPr>
              <a:t>14-21 Sep, before launch</a:t>
            </a:r>
            <a:endParaRPr lang="en-US" sz="1050" dirty="0"/>
          </a:p>
        </p:txBody>
      </p:sp>
      <p:sp>
        <p:nvSpPr>
          <p:cNvPr id="85" name="Text 79"/>
          <p:cNvSpPr txBox="1"/>
          <p:nvPr/>
        </p:nvSpPr>
        <p:spPr>
          <a:xfrm>
            <a:off x="7589520" y="1481328"/>
            <a:ext cx="4041648" cy="228600"/>
          </a:xfrm>
          <a:prstGeom prst="rect">
            <a:avLst/>
          </a:prstGeom>
          <a:noFill/>
          <a:ln/>
        </p:spPr>
        <p:txBody>
          <a:bodyPr wrap="square" lIns="0" tIns="0" rIns="0" bIns="0" rtlCol="0" anchor="t"/>
          <a:lstStyle/>
          <a:p>
            <a:pPr indent="0" marL="0">
              <a:buNone/>
            </a:pPr>
            <a:r>
              <a:rPr lang="en-US" sz="900" b="1" spc="200" kern="0" dirty="0">
                <a:solidFill>
                  <a:srgbClr val="9A7B1F"/>
                </a:solidFill>
                <a:latin typeface="Exo 2" pitchFamily="34" charset="0"/>
                <a:ea typeface="Exo 2" pitchFamily="34" charset="-122"/>
                <a:cs typeface="Exo 2" pitchFamily="34" charset="-120"/>
              </a:rPr>
              <a:t>FROM AD TO ACCOUNT</a:t>
            </a:r>
            <a:endParaRPr lang="en-US" sz="900" dirty="0"/>
          </a:p>
        </p:txBody>
      </p:sp>
      <p:sp>
        <p:nvSpPr>
          <p:cNvPr id="86" name="Shape 80"/>
          <p:cNvSpPr/>
          <p:nvPr/>
        </p:nvSpPr>
        <p:spPr>
          <a:xfrm>
            <a:off x="7589520" y="1810512"/>
            <a:ext cx="4041648" cy="713232"/>
          </a:xfrm>
          <a:prstGeom prst="rect">
            <a:avLst/>
          </a:prstGeom>
          <a:solidFill>
            <a:srgbClr val="132257"/>
          </a:solidFill>
          <a:ln w="19050">
            <a:solidFill>
              <a:srgbClr val="132257"/>
            </a:solidFill>
            <a:prstDash val="solid"/>
          </a:ln>
        </p:spPr>
      </p:sp>
      <p:sp>
        <p:nvSpPr>
          <p:cNvPr id="87" name="Text 81"/>
          <p:cNvSpPr txBox="1"/>
          <p:nvPr/>
        </p:nvSpPr>
        <p:spPr>
          <a:xfrm>
            <a:off x="7726680" y="1810512"/>
            <a:ext cx="868680" cy="713232"/>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409</a:t>
            </a:r>
            <a:endParaRPr lang="en-US" sz="2200" dirty="0"/>
          </a:p>
        </p:txBody>
      </p:sp>
      <p:sp>
        <p:nvSpPr>
          <p:cNvPr id="88" name="Text 82"/>
          <p:cNvSpPr txBox="1"/>
          <p:nvPr/>
        </p:nvSpPr>
        <p:spPr>
          <a:xfrm>
            <a:off x="8595360" y="1810512"/>
            <a:ext cx="2944368" cy="713232"/>
          </a:xfrm>
          <a:prstGeom prst="rect">
            <a:avLst/>
          </a:prstGeom>
          <a:noFill/>
          <a:ln/>
        </p:spPr>
        <p:txBody>
          <a:bodyPr wrap="square" lIns="0" tIns="0" rIns="0" bIns="0" rtlCol="0" anchor="ctr"/>
          <a:lstStyle/>
          <a:p>
            <a:pPr indent="0" marL="0">
              <a:buNone/>
            </a:pPr>
            <a:r>
              <a:rPr lang="en-US" sz="1000" b="1" dirty="0">
                <a:solidFill>
                  <a:srgbClr val="FFFFFF"/>
                </a:solidFill>
                <a:latin typeface="Exo 2" pitchFamily="34" charset="0"/>
                <a:ea typeface="Exo 2" pitchFamily="34" charset="-122"/>
                <a:cs typeface="Exo 2" pitchFamily="34" charset="-120"/>
              </a:rPr>
              <a:t>Google Ads sessions</a:t>
            </a:r>
            <a:endParaRPr lang="en-US" sz="1000" dirty="0"/>
          </a:p>
          <a:p>
            <a:pPr indent="0" marL="0">
              <a:buNone/>
            </a:pPr>
            <a:r>
              <a:rPr lang="en-US" sz="850" dirty="0">
                <a:solidFill>
                  <a:srgbClr val="FFFFFF"/>
                </a:solidFill>
                <a:latin typeface="Exo 2" pitchFamily="34" charset="0"/>
                <a:ea typeface="Exo 2" pitchFamily="34" charset="-122"/>
                <a:cs typeface="Exo 2" pitchFamily="34" charset="-120"/>
              </a:rPr>
              <a:t>GA4, 1-28 Sep</a:t>
            </a:r>
            <a:endParaRPr lang="en-US" sz="1000" dirty="0"/>
          </a:p>
        </p:txBody>
      </p:sp>
      <p:sp>
        <p:nvSpPr>
          <p:cNvPr id="89" name="Shape 83"/>
          <p:cNvSpPr/>
          <p:nvPr/>
        </p:nvSpPr>
        <p:spPr>
          <a:xfrm>
            <a:off x="7827264" y="2706624"/>
            <a:ext cx="3566160" cy="713232"/>
          </a:xfrm>
          <a:prstGeom prst="rect">
            <a:avLst/>
          </a:prstGeom>
          <a:solidFill>
            <a:srgbClr val="132257"/>
          </a:solidFill>
          <a:ln w="19050">
            <a:solidFill>
              <a:srgbClr val="132257"/>
            </a:solidFill>
            <a:prstDash val="solid"/>
          </a:ln>
        </p:spPr>
      </p:sp>
      <p:sp>
        <p:nvSpPr>
          <p:cNvPr id="90" name="Text 84"/>
          <p:cNvSpPr txBox="1"/>
          <p:nvPr/>
        </p:nvSpPr>
        <p:spPr>
          <a:xfrm>
            <a:off x="7964424" y="2706624"/>
            <a:ext cx="868680" cy="713232"/>
          </a:xfrm>
          <a:prstGeom prst="rect">
            <a:avLst/>
          </a:prstGeom>
          <a:noFill/>
          <a:ln/>
        </p:spPr>
        <p:txBody>
          <a:bodyPr wrap="square" lIns="0" tIns="0" rIns="0" bIns="0" rtlCol="0" anchor="ctr"/>
          <a:lstStyle/>
          <a:p>
            <a:pPr indent="0" marL="0">
              <a:buNone/>
            </a:pPr>
            <a:r>
              <a:rPr lang="en-US" sz="2200" b="1" dirty="0">
                <a:solidFill>
                  <a:srgbClr val="FFFFFF"/>
                </a:solidFill>
                <a:latin typeface="Exo 2" pitchFamily="34" charset="0"/>
                <a:ea typeface="Exo 2" pitchFamily="34" charset="-122"/>
                <a:cs typeface="Exo 2" pitchFamily="34" charset="-120"/>
              </a:rPr>
              <a:t>400</a:t>
            </a:r>
            <a:endParaRPr lang="en-US" sz="2200" dirty="0"/>
          </a:p>
        </p:txBody>
      </p:sp>
      <p:sp>
        <p:nvSpPr>
          <p:cNvPr id="91" name="Text 85"/>
          <p:cNvSpPr txBox="1"/>
          <p:nvPr/>
        </p:nvSpPr>
        <p:spPr>
          <a:xfrm>
            <a:off x="8833104" y="2706624"/>
            <a:ext cx="2468880" cy="713232"/>
          </a:xfrm>
          <a:prstGeom prst="rect">
            <a:avLst/>
          </a:prstGeom>
          <a:noFill/>
          <a:ln/>
        </p:spPr>
        <p:txBody>
          <a:bodyPr wrap="square" lIns="0" tIns="0" rIns="0" bIns="0" rtlCol="0" anchor="ctr"/>
          <a:lstStyle/>
          <a:p>
            <a:pPr indent="0" marL="0">
              <a:buNone/>
            </a:pPr>
            <a:r>
              <a:rPr lang="en-US" sz="1000" b="1" dirty="0">
                <a:solidFill>
                  <a:srgbClr val="FFFFFF"/>
                </a:solidFill>
                <a:latin typeface="Exo 2" pitchFamily="34" charset="0"/>
                <a:ea typeface="Exo 2" pitchFamily="34" charset="-122"/>
                <a:cs typeface="Exo 2" pitchFamily="34" charset="-120"/>
              </a:rPr>
              <a:t>key events on those sessions</a:t>
            </a:r>
            <a:endParaRPr lang="en-US" sz="1000" dirty="0"/>
          </a:p>
          <a:p>
            <a:pPr indent="0" marL="0">
              <a:buNone/>
            </a:pPr>
            <a:r>
              <a:rPr lang="en-US" sz="850" dirty="0">
                <a:solidFill>
                  <a:srgbClr val="FFFFFF"/>
                </a:solidFill>
                <a:latin typeface="Exo 2" pitchFamily="34" charset="0"/>
                <a:ea typeface="Exo 2" pitchFamily="34" charset="-122"/>
                <a:cs typeface="Exo 2" pitchFamily="34" charset="-120"/>
              </a:rPr>
              <a:t>event not yet defined</a:t>
            </a:r>
            <a:endParaRPr lang="en-US" sz="1000" dirty="0"/>
          </a:p>
        </p:txBody>
      </p:sp>
      <p:sp>
        <p:nvSpPr>
          <p:cNvPr id="92" name="Shape 86"/>
          <p:cNvSpPr/>
          <p:nvPr/>
        </p:nvSpPr>
        <p:spPr>
          <a:xfrm>
            <a:off x="8065008" y="3803904"/>
            <a:ext cx="3090672" cy="713232"/>
          </a:xfrm>
          <a:prstGeom prst="rect">
            <a:avLst/>
          </a:prstGeom>
          <a:solidFill>
            <a:srgbClr val="FFFFFF"/>
          </a:solidFill>
          <a:ln w="19050">
            <a:solidFill>
              <a:srgbClr val="D4AF37"/>
            </a:solidFill>
            <a:prstDash val="solid"/>
          </a:ln>
        </p:spPr>
      </p:sp>
      <p:sp>
        <p:nvSpPr>
          <p:cNvPr id="93" name="Text 87"/>
          <p:cNvSpPr txBox="1"/>
          <p:nvPr/>
        </p:nvSpPr>
        <p:spPr>
          <a:xfrm>
            <a:off x="8202168" y="3803904"/>
            <a:ext cx="868680" cy="713232"/>
          </a:xfrm>
          <a:prstGeom prst="rect">
            <a:avLst/>
          </a:prstGeom>
          <a:noFill/>
          <a:ln/>
        </p:spPr>
        <p:txBody>
          <a:bodyPr wrap="square" lIns="0" tIns="0" rIns="0" bIns="0" rtlCol="0" anchor="ctr"/>
          <a:lstStyle/>
          <a:p>
            <a:pPr indent="0" marL="0">
              <a:buNone/>
            </a:pPr>
            <a:r>
              <a:rPr lang="en-US" sz="2200" b="1" dirty="0">
                <a:solidFill>
                  <a:srgbClr val="D4AF37"/>
                </a:solidFill>
                <a:latin typeface="Exo 2" pitchFamily="34" charset="0"/>
                <a:ea typeface="Exo 2" pitchFamily="34" charset="-122"/>
                <a:cs typeface="Exo 2" pitchFamily="34" charset="-120"/>
              </a:rPr>
              <a:t>+53</a:t>
            </a:r>
            <a:endParaRPr lang="en-US" sz="2200" dirty="0"/>
          </a:p>
        </p:txBody>
      </p:sp>
      <p:sp>
        <p:nvSpPr>
          <p:cNvPr id="94" name="Text 88"/>
          <p:cNvSpPr txBox="1"/>
          <p:nvPr/>
        </p:nvSpPr>
        <p:spPr>
          <a:xfrm>
            <a:off x="9070848" y="3803904"/>
            <a:ext cx="1993392" cy="71323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app installs, 21-29 Sep</a:t>
            </a:r>
            <a:endParaRPr lang="en-US" sz="1000" dirty="0"/>
          </a:p>
          <a:p>
            <a:pPr indent="0" marL="0">
              <a:buNone/>
            </a:pPr>
            <a:r>
              <a:rPr lang="en-US" sz="850" dirty="0">
                <a:solidFill>
                  <a:srgbClr val="132257"/>
                </a:solidFill>
                <a:latin typeface="Exo 2" pitchFamily="34" charset="0"/>
                <a:ea typeface="Exo 2" pitchFamily="34" charset="-122"/>
                <a:cs typeface="Exo 2" pitchFamily="34" charset="-120"/>
              </a:rPr>
              <a:t>all sources</a:t>
            </a:r>
            <a:endParaRPr lang="en-US" sz="1000" dirty="0"/>
          </a:p>
        </p:txBody>
      </p:sp>
      <p:sp>
        <p:nvSpPr>
          <p:cNvPr id="95" name="Shape 89"/>
          <p:cNvSpPr/>
          <p:nvPr/>
        </p:nvSpPr>
        <p:spPr>
          <a:xfrm>
            <a:off x="8302752" y="4700016"/>
            <a:ext cx="2615184" cy="713232"/>
          </a:xfrm>
          <a:prstGeom prst="rect">
            <a:avLst/>
          </a:prstGeom>
          <a:solidFill>
            <a:srgbClr val="FFFFFF"/>
          </a:solidFill>
          <a:ln w="19050">
            <a:solidFill>
              <a:srgbClr val="C53030"/>
            </a:solidFill>
            <a:prstDash val="solid"/>
          </a:ln>
        </p:spPr>
      </p:sp>
      <p:sp>
        <p:nvSpPr>
          <p:cNvPr id="96" name="Text 90"/>
          <p:cNvSpPr txBox="1"/>
          <p:nvPr/>
        </p:nvSpPr>
        <p:spPr>
          <a:xfrm>
            <a:off x="8439912" y="4700016"/>
            <a:ext cx="868680" cy="713232"/>
          </a:xfrm>
          <a:prstGeom prst="rect">
            <a:avLst/>
          </a:prstGeom>
          <a:noFill/>
          <a:ln/>
        </p:spPr>
        <p:txBody>
          <a:bodyPr wrap="square" lIns="0" tIns="0" rIns="0" bIns="0" rtlCol="0" anchor="ctr"/>
          <a:lstStyle/>
          <a:p>
            <a:pPr indent="0" marL="0">
              <a:buNone/>
            </a:pPr>
            <a:r>
              <a:rPr lang="en-US" sz="2200" b="1" dirty="0">
                <a:solidFill>
                  <a:srgbClr val="C53030"/>
                </a:solidFill>
                <a:latin typeface="Exo 2" pitchFamily="34" charset="0"/>
                <a:ea typeface="Exo 2" pitchFamily="34" charset="-122"/>
                <a:cs typeface="Exo 2" pitchFamily="34" charset="-120"/>
              </a:rPr>
              <a:t>+4</a:t>
            </a:r>
            <a:endParaRPr lang="en-US" sz="2200" dirty="0"/>
          </a:p>
        </p:txBody>
      </p:sp>
      <p:sp>
        <p:nvSpPr>
          <p:cNvPr id="97" name="Text 91"/>
          <p:cNvSpPr txBox="1"/>
          <p:nvPr/>
        </p:nvSpPr>
        <p:spPr>
          <a:xfrm>
            <a:off x="9308592" y="4700016"/>
            <a:ext cx="1517904" cy="71323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onboarded, 21-29 Sep</a:t>
            </a:r>
            <a:endParaRPr lang="en-US" sz="1000" dirty="0"/>
          </a:p>
          <a:p>
            <a:pPr indent="0" marL="0">
              <a:buNone/>
            </a:pPr>
            <a:r>
              <a:rPr lang="en-US" sz="850" dirty="0">
                <a:solidFill>
                  <a:srgbClr val="132257"/>
                </a:solidFill>
                <a:latin typeface="Exo 2" pitchFamily="34" charset="0"/>
                <a:ea typeface="Exo 2" pitchFamily="34" charset="-122"/>
                <a:cs typeface="Exo 2" pitchFamily="34" charset="-120"/>
              </a:rPr>
              <a:t>all sources</a:t>
            </a:r>
            <a:endParaRPr lang="en-US" sz="1000" dirty="0"/>
          </a:p>
        </p:txBody>
      </p:sp>
      <p:sp>
        <p:nvSpPr>
          <p:cNvPr id="98" name="Shape 92"/>
          <p:cNvSpPr/>
          <p:nvPr/>
        </p:nvSpPr>
        <p:spPr>
          <a:xfrm>
            <a:off x="7589520" y="3630168"/>
            <a:ext cx="4041648" cy="0"/>
          </a:xfrm>
          <a:prstGeom prst="line">
            <a:avLst/>
          </a:prstGeom>
          <a:noFill/>
          <a:ln w="12700">
            <a:solidFill>
              <a:srgbClr val="C53030"/>
            </a:solidFill>
            <a:prstDash val="dash"/>
          </a:ln>
        </p:spPr>
      </p:sp>
      <p:sp>
        <p:nvSpPr>
          <p:cNvPr id="99" name="Text 93"/>
          <p:cNvSpPr txBox="1"/>
          <p:nvPr/>
        </p:nvSpPr>
        <p:spPr>
          <a:xfrm>
            <a:off x="7589520" y="3648456"/>
            <a:ext cx="4041648" cy="182880"/>
          </a:xfrm>
          <a:prstGeom prst="rect">
            <a:avLst/>
          </a:prstGeom>
          <a:noFill/>
          <a:ln/>
        </p:spPr>
        <p:txBody>
          <a:bodyPr wrap="square" lIns="0" tIns="0" rIns="0" bIns="0" rtlCol="0" anchor="t"/>
          <a:lstStyle/>
          <a:p>
            <a:pPr algn="ctr" indent="0" marL="0">
              <a:buNone/>
            </a:pPr>
            <a:r>
              <a:rPr lang="en-US" sz="850" b="1" dirty="0">
                <a:solidFill>
                  <a:srgbClr val="C53030"/>
                </a:solidFill>
                <a:latin typeface="Exo 2" pitchFamily="34" charset="0"/>
                <a:ea typeface="Exo 2" pitchFamily="34" charset="-122"/>
                <a:cs typeface="Exo 2" pitchFamily="34" charset="-120"/>
              </a:rPr>
              <a:t>Tracking gap: installs not yet linked to ad clicks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4689"/>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182880"/>
          </a:xfrm>
          <a:prstGeom prst="rect">
            <a:avLst/>
          </a:prstGeom>
          <a:noFill/>
          <a:ln/>
        </p:spPr>
        <p:txBody>
          <a:bodyPr wrap="square" lIns="0" tIns="0" rIns="0" bIns="0" rtlCol="0" anchor="t"/>
          <a:lstStyle/>
          <a:p>
            <a:pPr indent="0" marL="0">
              <a:buNone/>
            </a:pPr>
            <a:r>
              <a:rPr lang="en-US" sz="900" b="1" spc="200" kern="0" dirty="0">
                <a:solidFill>
                  <a:srgbClr val="D4AF37"/>
                </a:solidFill>
                <a:latin typeface="Exo 2" pitchFamily="34" charset="0"/>
                <a:ea typeface="Exo 2" pitchFamily="34" charset="-122"/>
                <a:cs typeface="Exo 2" pitchFamily="34" charset="-120"/>
              </a:rPr>
              <a:t>ENGLISH VS ARABIC</a:t>
            </a:r>
            <a:endParaRPr lang="en-US" sz="900" dirty="0"/>
          </a:p>
        </p:txBody>
      </p:sp>
      <p:sp>
        <p:nvSpPr>
          <p:cNvPr id="5" name="Text 2"/>
          <p:cNvSpPr txBox="1"/>
          <p:nvPr/>
        </p:nvSpPr>
        <p:spPr>
          <a:xfrm>
            <a:off x="566928" y="475488"/>
            <a:ext cx="9326880" cy="749808"/>
          </a:xfrm>
          <a:prstGeom prst="rect">
            <a:avLst/>
          </a:prstGeom>
          <a:noFill/>
          <a:ln/>
        </p:spPr>
        <p:txBody>
          <a:bodyPr wrap="square" lIns="0" tIns="0" rIns="0" bIns="0" rtlCol="0" anchor="ctr"/>
          <a:lstStyle/>
          <a:p>
            <a:pPr indent="0" marL="0">
              <a:buNone/>
            </a:pPr>
            <a:r>
              <a:rPr lang="en-US" sz="2000" b="1" dirty="0">
                <a:solidFill>
                  <a:srgbClr val="FFFFFF"/>
                </a:solidFill>
                <a:latin typeface="Exo 2" pitchFamily="34" charset="0"/>
                <a:ea typeface="Exo 2" pitchFamily="34" charset="-122"/>
                <a:cs typeface="Exo 2" pitchFamily="34" charset="-120"/>
              </a:rPr>
              <a:t>English ads lead Arabic on traffic and engagement; Arabic still logs more key events per session</a:t>
            </a:r>
            <a:endParaRPr lang="en-US" sz="20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Shape 3"/>
          <p:cNvSpPr/>
          <p:nvPr/>
        </p:nvSpPr>
        <p:spPr>
          <a:xfrm>
            <a:off x="566928" y="5669280"/>
            <a:ext cx="11064240" cy="457200"/>
          </a:xfrm>
          <a:prstGeom prst="rect">
            <a:avLst/>
          </a:prstGeom>
          <a:solidFill>
            <a:srgbClr val="E3E8F2"/>
          </a:solidFill>
          <a:ln w="12700">
            <a:solidFill>
              <a:srgbClr val="E3E8F2"/>
            </a:solidFill>
            <a:prstDash val="solid"/>
          </a:ln>
        </p:spPr>
      </p:sp>
      <p:sp>
        <p:nvSpPr>
          <p:cNvPr id="8" name="Shape 4"/>
          <p:cNvSpPr/>
          <p:nvPr/>
        </p:nvSpPr>
        <p:spPr>
          <a:xfrm>
            <a:off x="566928" y="5669280"/>
            <a:ext cx="45720" cy="457200"/>
          </a:xfrm>
          <a:prstGeom prst="rect">
            <a:avLst/>
          </a:prstGeom>
          <a:solidFill>
            <a:srgbClr val="D4AF37"/>
          </a:solidFill>
          <a:ln w="12700">
            <a:solidFill>
              <a:srgbClr val="D4AF37"/>
            </a:solidFill>
            <a:prstDash val="solid"/>
          </a:ln>
        </p:spPr>
      </p:sp>
      <p:sp>
        <p:nvSpPr>
          <p:cNvPr id="9" name="Text 5"/>
          <p:cNvSpPr txBox="1"/>
          <p:nvPr/>
        </p:nvSpPr>
        <p:spPr>
          <a:xfrm>
            <a:off x="777240" y="5669280"/>
            <a:ext cx="10744200" cy="45720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Takeaway   </a:t>
            </a:r>
            <a:pPr indent="0" marL="0">
              <a:buNone/>
            </a:pPr>
            <a:r>
              <a:rPr lang="en-US" sz="1150" dirty="0">
                <a:solidFill>
                  <a:srgbClr val="1F2A44"/>
                </a:solidFill>
                <a:latin typeface="Exo 2" pitchFamily="34" charset="0"/>
                <a:ea typeface="Exo 2" pitchFamily="34" charset="-122"/>
                <a:cs typeface="Exo 2" pitchFamily="34" charset="-120"/>
              </a:rPr>
              <a:t>English is ahead on 8 of 9 measures. Refresh the Arabic creative to lift engagement, but keep it live: it converts slightly better per session.</a:t>
            </a:r>
            <a:endParaRPr lang="en-US" sz="1150" dirty="0"/>
          </a:p>
        </p:txBody>
      </p:sp>
      <p:sp>
        <p:nvSpPr>
          <p:cNvPr id="10" name="Text 6"/>
          <p:cNvSpPr txBox="1"/>
          <p:nvPr/>
        </p:nvSpPr>
        <p:spPr>
          <a:xfrm>
            <a:off x="566928" y="6199632"/>
            <a:ext cx="9692640" cy="274320"/>
          </a:xfrm>
          <a:prstGeom prst="rect">
            <a:avLst/>
          </a:prstGeom>
          <a:noFill/>
          <a:ln/>
        </p:spPr>
        <p:txBody>
          <a:bodyPr wrap="square" lIns="0" tIns="0" rIns="0" bIns="0" rtlCol="0" anchor="t"/>
          <a:lstStyle/>
          <a:p>
            <a:pPr indent="0" marL="0">
              <a:buNone/>
            </a:pPr>
            <a:r>
              <a:rPr lang="en-US" sz="800" dirty="0">
                <a:solidFill>
                  <a:srgbClr val="7A849C"/>
                </a:solidFill>
                <a:latin typeface="Exo 2" pitchFamily="34" charset="0"/>
                <a:ea typeface="Exo 2" pitchFamily="34" charset="-122"/>
                <a:cs typeface="Exo 2" pitchFamily="34" charset="-120"/>
              </a:rPr>
              <a:t>Source: GA4 Google Ads campaigns export, 1-28 Sep 2026: 'Website conversion - Saudi - English' vs '... - Arabic'. Campaigns live from 22 Sep. Key event not defined in the export.</a:t>
            </a:r>
            <a:endParaRPr lang="en-US" sz="800" dirty="0"/>
          </a:p>
        </p:txBody>
      </p:sp>
      <p:sp>
        <p:nvSpPr>
          <p:cNvPr id="11" name="Text 7"/>
          <p:cNvSpPr txBox="1"/>
          <p:nvPr/>
        </p:nvSpPr>
        <p:spPr>
          <a:xfrm>
            <a:off x="566928" y="6510528"/>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CEO Marketing Update</a:t>
            </a:r>
            <a:endParaRPr lang="en-US" sz="800" dirty="0"/>
          </a:p>
        </p:txBody>
      </p:sp>
      <p:sp>
        <p:nvSpPr>
          <p:cNvPr id="12" name="Text 8"/>
          <p:cNvSpPr txBox="1"/>
          <p:nvPr/>
        </p:nvSpPr>
        <p:spPr>
          <a:xfrm>
            <a:off x="9802368" y="6510528"/>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5</a:t>
            </a:r>
            <a:endParaRPr lang="en-US" sz="800" dirty="0"/>
          </a:p>
        </p:txBody>
      </p:sp>
      <p:pic>
        <p:nvPicPr>
          <p:cNvPr id="13" name="Image 2" descr="/home/user/HatemIsa_202508993_IT9002_NLP_Project/emyaa-ceo-deck/working/charts/emyaa_navy.png">    </p:cNvPr>
          <p:cNvPicPr>
            <a:picLocks noChangeAspect="1"/>
          </p:cNvPicPr>
          <p:nvPr/>
        </p:nvPicPr>
        <p:blipFill>
          <a:blip r:embed="rId3"/>
          <a:stretch>
            <a:fillRect/>
          </a:stretch>
        </p:blipFill>
        <p:spPr>
          <a:xfrm>
            <a:off x="10607040" y="6336792"/>
            <a:ext cx="1024128" cy="365760"/>
          </a:xfrm>
          <a:prstGeom prst="rect">
            <a:avLst/>
          </a:prstGeom>
        </p:spPr>
      </p:pic>
      <p:sp>
        <p:nvSpPr>
          <p:cNvPr id="15" name="Shape 9"/>
          <p:cNvSpPr/>
          <p:nvPr/>
        </p:nvSpPr>
        <p:spPr>
          <a:xfrm>
            <a:off x="566928" y="1572768"/>
            <a:ext cx="4206240" cy="1828800"/>
          </a:xfrm>
          <a:prstGeom prst="rect">
            <a:avLst/>
          </a:prstGeom>
          <a:solidFill>
            <a:srgbClr val="FFFFFF"/>
          </a:solidFill>
          <a:ln w="9525">
            <a:solidFill>
              <a:srgbClr val="D9DFEA"/>
            </a:solidFill>
            <a:prstDash val="solid"/>
          </a:ln>
        </p:spPr>
      </p:sp>
      <p:sp>
        <p:nvSpPr>
          <p:cNvPr id="16" name="Shape 10"/>
          <p:cNvSpPr/>
          <p:nvPr/>
        </p:nvSpPr>
        <p:spPr>
          <a:xfrm>
            <a:off x="566928" y="1572768"/>
            <a:ext cx="4206240" cy="32004"/>
          </a:xfrm>
          <a:prstGeom prst="rect">
            <a:avLst/>
          </a:prstGeom>
          <a:solidFill>
            <a:srgbClr val="132257"/>
          </a:solidFill>
          <a:ln w="12700">
            <a:solidFill>
              <a:srgbClr val="132257"/>
            </a:solidFill>
            <a:prstDash val="solid"/>
          </a:ln>
        </p:spPr>
      </p:sp>
      <p:sp>
        <p:nvSpPr>
          <p:cNvPr id="17" name="Text 11"/>
          <p:cNvSpPr txBox="1"/>
          <p:nvPr/>
        </p:nvSpPr>
        <p:spPr>
          <a:xfrm>
            <a:off x="795528" y="1755648"/>
            <a:ext cx="2743200" cy="228600"/>
          </a:xfrm>
          <a:prstGeom prst="rect">
            <a:avLst/>
          </a:prstGeom>
          <a:noFill/>
          <a:ln/>
        </p:spPr>
        <p:txBody>
          <a:bodyPr wrap="square" lIns="0" tIns="0" rIns="0" bIns="0" rtlCol="0" anchor="t"/>
          <a:lstStyle/>
          <a:p>
            <a:pPr indent="0" marL="0">
              <a:buNone/>
            </a:pPr>
            <a:r>
              <a:rPr lang="en-US" sz="900" b="1" spc="200" kern="0" dirty="0">
                <a:solidFill>
                  <a:srgbClr val="9A7B1F"/>
                </a:solidFill>
                <a:latin typeface="Exo 2" pitchFamily="34" charset="0"/>
                <a:ea typeface="Exo 2" pitchFamily="34" charset="-122"/>
                <a:cs typeface="Exo 2" pitchFamily="34" charset="-120"/>
              </a:rPr>
              <a:t>ENGLISH CAMPAIGN</a:t>
            </a:r>
            <a:endParaRPr lang="en-US" sz="900" dirty="0"/>
          </a:p>
        </p:txBody>
      </p:sp>
      <p:sp>
        <p:nvSpPr>
          <p:cNvPr id="18" name="Text 12"/>
          <p:cNvSpPr txBox="1"/>
          <p:nvPr/>
        </p:nvSpPr>
        <p:spPr>
          <a:xfrm>
            <a:off x="795528" y="2075688"/>
            <a:ext cx="1920240" cy="347472"/>
          </a:xfrm>
          <a:prstGeom prst="rect">
            <a:avLst/>
          </a:prstGeom>
          <a:noFill/>
          <a:ln/>
        </p:spPr>
        <p:txBody>
          <a:bodyPr wrap="square" lIns="0" tIns="0" rIns="0" bIns="0" rtlCol="0" anchor="t"/>
          <a:lstStyle/>
          <a:p>
            <a:pPr indent="0" marL="0">
              <a:buNone/>
            </a:pPr>
            <a:r>
              <a:rPr lang="en-US" sz="2000" b="1" dirty="0">
                <a:solidFill>
                  <a:srgbClr val="1BA97C"/>
                </a:solidFill>
                <a:latin typeface="Exo 2" pitchFamily="34" charset="0"/>
                <a:ea typeface="Exo 2" pitchFamily="34" charset="-122"/>
                <a:cs typeface="Exo 2" pitchFamily="34" charset="-120"/>
              </a:rPr>
              <a:t>212</a:t>
            </a:r>
            <a:endParaRPr lang="en-US" sz="2000" dirty="0"/>
          </a:p>
        </p:txBody>
      </p:sp>
      <p:sp>
        <p:nvSpPr>
          <p:cNvPr id="19" name="Text 13"/>
          <p:cNvSpPr txBox="1"/>
          <p:nvPr/>
        </p:nvSpPr>
        <p:spPr>
          <a:xfrm>
            <a:off x="795528" y="240487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sessions</a:t>
            </a:r>
            <a:endParaRPr lang="en-US" sz="900" dirty="0"/>
          </a:p>
        </p:txBody>
      </p:sp>
      <p:sp>
        <p:nvSpPr>
          <p:cNvPr id="20" name="Text 14"/>
          <p:cNvSpPr txBox="1"/>
          <p:nvPr/>
        </p:nvSpPr>
        <p:spPr>
          <a:xfrm>
            <a:off x="2807208" y="2075688"/>
            <a:ext cx="1920240" cy="347472"/>
          </a:xfrm>
          <a:prstGeom prst="rect">
            <a:avLst/>
          </a:prstGeom>
          <a:noFill/>
          <a:ln/>
        </p:spPr>
        <p:txBody>
          <a:bodyPr wrap="square" lIns="0" tIns="0" rIns="0" bIns="0" rtlCol="0" anchor="t"/>
          <a:lstStyle/>
          <a:p>
            <a:pPr indent="0" marL="0">
              <a:buNone/>
            </a:pPr>
            <a:r>
              <a:rPr lang="en-US" sz="2000" b="1" dirty="0">
                <a:solidFill>
                  <a:srgbClr val="1BA97C"/>
                </a:solidFill>
                <a:latin typeface="Exo 2" pitchFamily="34" charset="0"/>
                <a:ea typeface="Exo 2" pitchFamily="34" charset="-122"/>
                <a:cs typeface="Exo 2" pitchFamily="34" charset="-120"/>
              </a:rPr>
              <a:t>97.2%</a:t>
            </a:r>
            <a:endParaRPr lang="en-US" sz="2000" dirty="0"/>
          </a:p>
        </p:txBody>
      </p:sp>
      <p:sp>
        <p:nvSpPr>
          <p:cNvPr id="21" name="Text 15"/>
          <p:cNvSpPr txBox="1"/>
          <p:nvPr/>
        </p:nvSpPr>
        <p:spPr>
          <a:xfrm>
            <a:off x="2807208" y="240487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engagement rate</a:t>
            </a:r>
            <a:endParaRPr lang="en-US" sz="900" dirty="0"/>
          </a:p>
        </p:txBody>
      </p:sp>
      <p:sp>
        <p:nvSpPr>
          <p:cNvPr id="22" name="Text 16"/>
          <p:cNvSpPr txBox="1"/>
          <p:nvPr/>
        </p:nvSpPr>
        <p:spPr>
          <a:xfrm>
            <a:off x="795528" y="2715768"/>
            <a:ext cx="1920240" cy="347472"/>
          </a:xfrm>
          <a:prstGeom prst="rect">
            <a:avLst/>
          </a:prstGeom>
          <a:noFill/>
          <a:ln/>
        </p:spPr>
        <p:txBody>
          <a:bodyPr wrap="square" lIns="0" tIns="0" rIns="0" bIns="0" rtlCol="0" anchor="t"/>
          <a:lstStyle/>
          <a:p>
            <a:pPr indent="0" marL="0">
              <a:buNone/>
            </a:pPr>
            <a:r>
              <a:rPr lang="en-US" sz="2000" b="1" dirty="0">
                <a:solidFill>
                  <a:srgbClr val="1BA97C"/>
                </a:solidFill>
                <a:latin typeface="Exo 2" pitchFamily="34" charset="0"/>
                <a:ea typeface="Exo 2" pitchFamily="34" charset="-122"/>
                <a:cs typeface="Exo 2" pitchFamily="34" charset="-120"/>
              </a:rPr>
              <a:t>19.9s</a:t>
            </a:r>
            <a:endParaRPr lang="en-US" sz="2000" dirty="0"/>
          </a:p>
        </p:txBody>
      </p:sp>
      <p:sp>
        <p:nvSpPr>
          <p:cNvPr id="23" name="Text 17"/>
          <p:cNvSpPr txBox="1"/>
          <p:nvPr/>
        </p:nvSpPr>
        <p:spPr>
          <a:xfrm>
            <a:off x="795528" y="304495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per session</a:t>
            </a:r>
            <a:endParaRPr lang="en-US" sz="900" dirty="0"/>
          </a:p>
        </p:txBody>
      </p:sp>
      <p:sp>
        <p:nvSpPr>
          <p:cNvPr id="24" name="Text 18"/>
          <p:cNvSpPr txBox="1"/>
          <p:nvPr/>
        </p:nvSpPr>
        <p:spPr>
          <a:xfrm>
            <a:off x="2807208" y="2715768"/>
            <a:ext cx="1920240" cy="347472"/>
          </a:xfrm>
          <a:prstGeom prst="rect">
            <a:avLst/>
          </a:prstGeom>
          <a:noFill/>
          <a:ln/>
        </p:spPr>
        <p:txBody>
          <a:bodyPr wrap="square" lIns="0" tIns="0" rIns="0" bIns="0" rtlCol="0" anchor="t"/>
          <a:lstStyle/>
          <a:p>
            <a:pPr indent="0" marL="0">
              <a:buNone/>
            </a:pPr>
            <a:r>
              <a:rPr lang="en-US" sz="2000" b="1" dirty="0">
                <a:solidFill>
                  <a:srgbClr val="132257"/>
                </a:solidFill>
                <a:latin typeface="Exo 2" pitchFamily="34" charset="0"/>
                <a:ea typeface="Exo 2" pitchFamily="34" charset="-122"/>
                <a:cs typeface="Exo 2" pitchFamily="34" charset="-120"/>
              </a:rPr>
              <a:t>0.94</a:t>
            </a:r>
            <a:endParaRPr lang="en-US" sz="2000" dirty="0"/>
          </a:p>
        </p:txBody>
      </p:sp>
      <p:sp>
        <p:nvSpPr>
          <p:cNvPr id="25" name="Text 19"/>
          <p:cNvSpPr txBox="1"/>
          <p:nvPr/>
        </p:nvSpPr>
        <p:spPr>
          <a:xfrm>
            <a:off x="2807208" y="304495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key events per session</a:t>
            </a:r>
            <a:endParaRPr lang="en-US" sz="900" dirty="0"/>
          </a:p>
        </p:txBody>
      </p:sp>
      <p:sp>
        <p:nvSpPr>
          <p:cNvPr id="26" name="Shape 20"/>
          <p:cNvSpPr/>
          <p:nvPr/>
        </p:nvSpPr>
        <p:spPr>
          <a:xfrm>
            <a:off x="566928" y="3584448"/>
            <a:ext cx="4206240" cy="1828800"/>
          </a:xfrm>
          <a:prstGeom prst="rect">
            <a:avLst/>
          </a:prstGeom>
          <a:solidFill>
            <a:srgbClr val="FFFFFF"/>
          </a:solidFill>
          <a:ln w="9525">
            <a:solidFill>
              <a:srgbClr val="D9DFEA"/>
            </a:solidFill>
            <a:prstDash val="solid"/>
          </a:ln>
        </p:spPr>
      </p:sp>
      <p:sp>
        <p:nvSpPr>
          <p:cNvPr id="27" name="Shape 21"/>
          <p:cNvSpPr/>
          <p:nvPr/>
        </p:nvSpPr>
        <p:spPr>
          <a:xfrm>
            <a:off x="566928" y="3584448"/>
            <a:ext cx="4206240" cy="32004"/>
          </a:xfrm>
          <a:prstGeom prst="rect">
            <a:avLst/>
          </a:prstGeom>
          <a:solidFill>
            <a:srgbClr val="D4AF37"/>
          </a:solidFill>
          <a:ln w="12700">
            <a:solidFill>
              <a:srgbClr val="D4AF37"/>
            </a:solidFill>
            <a:prstDash val="solid"/>
          </a:ln>
        </p:spPr>
      </p:sp>
      <p:sp>
        <p:nvSpPr>
          <p:cNvPr id="28" name="Text 22"/>
          <p:cNvSpPr txBox="1"/>
          <p:nvPr/>
        </p:nvSpPr>
        <p:spPr>
          <a:xfrm>
            <a:off x="795528" y="3767328"/>
            <a:ext cx="2743200" cy="228600"/>
          </a:xfrm>
          <a:prstGeom prst="rect">
            <a:avLst/>
          </a:prstGeom>
          <a:noFill/>
          <a:ln/>
        </p:spPr>
        <p:txBody>
          <a:bodyPr wrap="square" lIns="0" tIns="0" rIns="0" bIns="0" rtlCol="0" anchor="t"/>
          <a:lstStyle/>
          <a:p>
            <a:pPr indent="0" marL="0">
              <a:buNone/>
            </a:pPr>
            <a:r>
              <a:rPr lang="en-US" sz="900" b="1" spc="200" kern="0" dirty="0">
                <a:solidFill>
                  <a:srgbClr val="9A7B1F"/>
                </a:solidFill>
                <a:latin typeface="Exo 2" pitchFamily="34" charset="0"/>
                <a:ea typeface="Exo 2" pitchFamily="34" charset="-122"/>
                <a:cs typeface="Exo 2" pitchFamily="34" charset="-120"/>
              </a:rPr>
              <a:t>ARABIC CAMPAIGN</a:t>
            </a:r>
            <a:endParaRPr lang="en-US" sz="900" dirty="0"/>
          </a:p>
        </p:txBody>
      </p:sp>
      <p:sp>
        <p:nvSpPr>
          <p:cNvPr id="29" name="Text 23"/>
          <p:cNvSpPr txBox="1"/>
          <p:nvPr/>
        </p:nvSpPr>
        <p:spPr>
          <a:xfrm>
            <a:off x="795528" y="4087368"/>
            <a:ext cx="1920240" cy="347472"/>
          </a:xfrm>
          <a:prstGeom prst="rect">
            <a:avLst/>
          </a:prstGeom>
          <a:noFill/>
          <a:ln/>
        </p:spPr>
        <p:txBody>
          <a:bodyPr wrap="square" lIns="0" tIns="0" rIns="0" bIns="0" rtlCol="0" anchor="t"/>
          <a:lstStyle/>
          <a:p>
            <a:pPr indent="0" marL="0">
              <a:buNone/>
            </a:pPr>
            <a:r>
              <a:rPr lang="en-US" sz="2000" b="1" dirty="0">
                <a:solidFill>
                  <a:srgbClr val="132257"/>
                </a:solidFill>
                <a:latin typeface="Exo 2" pitchFamily="34" charset="0"/>
                <a:ea typeface="Exo 2" pitchFamily="34" charset="-122"/>
                <a:cs typeface="Exo 2" pitchFamily="34" charset="-120"/>
              </a:rPr>
              <a:t>176</a:t>
            </a:r>
            <a:endParaRPr lang="en-US" sz="2000" dirty="0"/>
          </a:p>
        </p:txBody>
      </p:sp>
      <p:sp>
        <p:nvSpPr>
          <p:cNvPr id="30" name="Text 24"/>
          <p:cNvSpPr txBox="1"/>
          <p:nvPr/>
        </p:nvSpPr>
        <p:spPr>
          <a:xfrm>
            <a:off x="795528" y="441655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sessions</a:t>
            </a:r>
            <a:endParaRPr lang="en-US" sz="900" dirty="0"/>
          </a:p>
        </p:txBody>
      </p:sp>
      <p:sp>
        <p:nvSpPr>
          <p:cNvPr id="31" name="Text 25"/>
          <p:cNvSpPr txBox="1"/>
          <p:nvPr/>
        </p:nvSpPr>
        <p:spPr>
          <a:xfrm>
            <a:off x="2807208" y="4087368"/>
            <a:ext cx="1920240" cy="347472"/>
          </a:xfrm>
          <a:prstGeom prst="rect">
            <a:avLst/>
          </a:prstGeom>
          <a:noFill/>
          <a:ln/>
        </p:spPr>
        <p:txBody>
          <a:bodyPr wrap="square" lIns="0" tIns="0" rIns="0" bIns="0" rtlCol="0" anchor="t"/>
          <a:lstStyle/>
          <a:p>
            <a:pPr indent="0" marL="0">
              <a:buNone/>
            </a:pPr>
            <a:r>
              <a:rPr lang="en-US" sz="2000" b="1" dirty="0">
                <a:solidFill>
                  <a:srgbClr val="132257"/>
                </a:solidFill>
                <a:latin typeface="Exo 2" pitchFamily="34" charset="0"/>
                <a:ea typeface="Exo 2" pitchFamily="34" charset="-122"/>
                <a:cs typeface="Exo 2" pitchFamily="34" charset="-120"/>
              </a:rPr>
              <a:t>86.9%</a:t>
            </a:r>
            <a:endParaRPr lang="en-US" sz="2000" dirty="0"/>
          </a:p>
        </p:txBody>
      </p:sp>
      <p:sp>
        <p:nvSpPr>
          <p:cNvPr id="32" name="Text 26"/>
          <p:cNvSpPr txBox="1"/>
          <p:nvPr/>
        </p:nvSpPr>
        <p:spPr>
          <a:xfrm>
            <a:off x="2807208" y="441655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engagement rate</a:t>
            </a:r>
            <a:endParaRPr lang="en-US" sz="900" dirty="0"/>
          </a:p>
        </p:txBody>
      </p:sp>
      <p:sp>
        <p:nvSpPr>
          <p:cNvPr id="33" name="Text 27"/>
          <p:cNvSpPr txBox="1"/>
          <p:nvPr/>
        </p:nvSpPr>
        <p:spPr>
          <a:xfrm>
            <a:off x="795528" y="4727448"/>
            <a:ext cx="1920240" cy="347472"/>
          </a:xfrm>
          <a:prstGeom prst="rect">
            <a:avLst/>
          </a:prstGeom>
          <a:noFill/>
          <a:ln/>
        </p:spPr>
        <p:txBody>
          <a:bodyPr wrap="square" lIns="0" tIns="0" rIns="0" bIns="0" rtlCol="0" anchor="t"/>
          <a:lstStyle/>
          <a:p>
            <a:pPr indent="0" marL="0">
              <a:buNone/>
            </a:pPr>
            <a:r>
              <a:rPr lang="en-US" sz="2000" b="1" dirty="0">
                <a:solidFill>
                  <a:srgbClr val="132257"/>
                </a:solidFill>
                <a:latin typeface="Exo 2" pitchFamily="34" charset="0"/>
                <a:ea typeface="Exo 2" pitchFamily="34" charset="-122"/>
                <a:cs typeface="Exo 2" pitchFamily="34" charset="-120"/>
              </a:rPr>
              <a:t>16.0s</a:t>
            </a:r>
            <a:endParaRPr lang="en-US" sz="2000" dirty="0"/>
          </a:p>
        </p:txBody>
      </p:sp>
      <p:sp>
        <p:nvSpPr>
          <p:cNvPr id="34" name="Text 28"/>
          <p:cNvSpPr txBox="1"/>
          <p:nvPr/>
        </p:nvSpPr>
        <p:spPr>
          <a:xfrm>
            <a:off x="795528" y="505663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per session</a:t>
            </a:r>
            <a:endParaRPr lang="en-US" sz="900" dirty="0"/>
          </a:p>
        </p:txBody>
      </p:sp>
      <p:sp>
        <p:nvSpPr>
          <p:cNvPr id="35" name="Text 29"/>
          <p:cNvSpPr txBox="1"/>
          <p:nvPr/>
        </p:nvSpPr>
        <p:spPr>
          <a:xfrm>
            <a:off x="2807208" y="4727448"/>
            <a:ext cx="1920240" cy="347472"/>
          </a:xfrm>
          <a:prstGeom prst="rect">
            <a:avLst/>
          </a:prstGeom>
          <a:noFill/>
          <a:ln/>
        </p:spPr>
        <p:txBody>
          <a:bodyPr wrap="square" lIns="0" tIns="0" rIns="0" bIns="0" rtlCol="0" anchor="t"/>
          <a:lstStyle/>
          <a:p>
            <a:pPr indent="0" marL="0">
              <a:buNone/>
            </a:pPr>
            <a:r>
              <a:rPr lang="en-US" sz="2000" b="1" dirty="0">
                <a:solidFill>
                  <a:srgbClr val="1BA97C"/>
                </a:solidFill>
                <a:latin typeface="Exo 2" pitchFamily="34" charset="0"/>
                <a:ea typeface="Exo 2" pitchFamily="34" charset="-122"/>
                <a:cs typeface="Exo 2" pitchFamily="34" charset="-120"/>
              </a:rPr>
              <a:t>1.05</a:t>
            </a:r>
            <a:endParaRPr lang="en-US" sz="2000" dirty="0"/>
          </a:p>
        </p:txBody>
      </p:sp>
      <p:sp>
        <p:nvSpPr>
          <p:cNvPr id="36" name="Text 30"/>
          <p:cNvSpPr txBox="1"/>
          <p:nvPr/>
        </p:nvSpPr>
        <p:spPr>
          <a:xfrm>
            <a:off x="2807208" y="5056632"/>
            <a:ext cx="1920240" cy="228600"/>
          </a:xfrm>
          <a:prstGeom prst="rect">
            <a:avLst/>
          </a:prstGeom>
          <a:noFill/>
          <a:ln/>
        </p:spPr>
        <p:txBody>
          <a:bodyPr wrap="square" lIns="0" tIns="0" rIns="0" bIns="0" rtlCol="0" anchor="t"/>
          <a:lstStyle/>
          <a:p>
            <a:pPr indent="0" marL="0">
              <a:buNone/>
            </a:pPr>
            <a:r>
              <a:rPr lang="en-US" sz="900" dirty="0">
                <a:solidFill>
                  <a:srgbClr val="7A849C"/>
                </a:solidFill>
                <a:latin typeface="Exo 2" pitchFamily="34" charset="0"/>
                <a:ea typeface="Exo 2" pitchFamily="34" charset="-122"/>
                <a:cs typeface="Exo 2" pitchFamily="34" charset="-120"/>
              </a:rPr>
              <a:t>key events per session</a:t>
            </a:r>
            <a:endParaRPr lang="en-US" sz="900" dirty="0"/>
          </a:p>
        </p:txBody>
      </p:sp>
      <p:sp>
        <p:nvSpPr>
          <p:cNvPr id="37" name="Text 31"/>
          <p:cNvSpPr txBox="1"/>
          <p:nvPr/>
        </p:nvSpPr>
        <p:spPr>
          <a:xfrm>
            <a:off x="5074920" y="1508760"/>
            <a:ext cx="6556248" cy="274320"/>
          </a:xfrm>
          <a:prstGeom prst="rect">
            <a:avLst/>
          </a:prstGeom>
          <a:noFill/>
          <a:ln/>
        </p:spPr>
        <p:txBody>
          <a:bodyPr wrap="square" lIns="0" tIns="0" rIns="0" bIns="0" rtlCol="0" anchor="t"/>
          <a:lstStyle/>
          <a:p>
            <a:pPr algn="ctr" indent="0" marL="0">
              <a:buNone/>
            </a:pPr>
            <a:r>
              <a:rPr lang="en-US" sz="1100" dirty="0">
                <a:solidFill>
                  <a:srgbClr val="132257"/>
                </a:solidFill>
                <a:latin typeface="Exo 2" pitchFamily="34" charset="0"/>
                <a:ea typeface="Exo 2" pitchFamily="34" charset="-122"/>
                <a:cs typeface="Exo 2" pitchFamily="34" charset="-120"/>
              </a:rPr>
              <a:t>English relative to Arabic, % difference, 1-28 Sep</a:t>
            </a:r>
            <a:endParaRPr lang="en-US" sz="1100" dirty="0"/>
          </a:p>
        </p:txBody>
      </p:sp>
      <p:sp>
        <p:nvSpPr>
          <p:cNvPr id="38" name="Shape 32"/>
          <p:cNvSpPr/>
          <p:nvPr/>
        </p:nvSpPr>
        <p:spPr>
          <a:xfrm>
            <a:off x="8185709" y="1874520"/>
            <a:ext cx="0" cy="3291840"/>
          </a:xfrm>
          <a:prstGeom prst="line">
            <a:avLst/>
          </a:prstGeom>
          <a:noFill/>
          <a:ln w="12700">
            <a:solidFill>
              <a:srgbClr val="C6CFE4"/>
            </a:solidFill>
            <a:prstDash val="solid"/>
          </a:ln>
        </p:spPr>
      </p:sp>
      <p:sp>
        <p:nvSpPr>
          <p:cNvPr id="39" name="Text 33"/>
          <p:cNvSpPr txBox="1"/>
          <p:nvPr/>
        </p:nvSpPr>
        <p:spPr>
          <a:xfrm>
            <a:off x="5074920" y="192024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Sessions</a:t>
            </a:r>
            <a:endParaRPr lang="en-US" sz="1050" dirty="0"/>
          </a:p>
        </p:txBody>
      </p:sp>
      <p:sp>
        <p:nvSpPr>
          <p:cNvPr id="40" name="Shape 34"/>
          <p:cNvSpPr/>
          <p:nvPr/>
        </p:nvSpPr>
        <p:spPr>
          <a:xfrm>
            <a:off x="8185709" y="1988769"/>
            <a:ext cx="1267176" cy="223622"/>
          </a:xfrm>
          <a:prstGeom prst="rect">
            <a:avLst/>
          </a:prstGeom>
          <a:solidFill>
            <a:srgbClr val="132257"/>
          </a:solidFill>
          <a:ln w="12700">
            <a:solidFill>
              <a:srgbClr val="132257"/>
            </a:solidFill>
            <a:prstDash val="solid"/>
          </a:ln>
        </p:spPr>
      </p:sp>
      <p:sp>
        <p:nvSpPr>
          <p:cNvPr id="41" name="Text 35"/>
          <p:cNvSpPr txBox="1"/>
          <p:nvPr/>
        </p:nvSpPr>
        <p:spPr>
          <a:xfrm>
            <a:off x="9498604" y="198876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+20.5%</a:t>
            </a:r>
            <a:endParaRPr lang="en-US" sz="1000" dirty="0"/>
          </a:p>
        </p:txBody>
      </p:sp>
      <p:sp>
        <p:nvSpPr>
          <p:cNvPr id="42" name="Text 36"/>
          <p:cNvSpPr txBox="1"/>
          <p:nvPr/>
        </p:nvSpPr>
        <p:spPr>
          <a:xfrm>
            <a:off x="5074920" y="228092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Active users</a:t>
            </a:r>
            <a:endParaRPr lang="en-US" sz="1050" dirty="0"/>
          </a:p>
        </p:txBody>
      </p:sp>
      <p:sp>
        <p:nvSpPr>
          <p:cNvPr id="43" name="Shape 37"/>
          <p:cNvSpPr/>
          <p:nvPr/>
        </p:nvSpPr>
        <p:spPr>
          <a:xfrm>
            <a:off x="8185709" y="2349449"/>
            <a:ext cx="1168274" cy="223622"/>
          </a:xfrm>
          <a:prstGeom prst="rect">
            <a:avLst/>
          </a:prstGeom>
          <a:solidFill>
            <a:srgbClr val="132257"/>
          </a:solidFill>
          <a:ln w="12700">
            <a:solidFill>
              <a:srgbClr val="132257"/>
            </a:solidFill>
            <a:prstDash val="solid"/>
          </a:ln>
        </p:spPr>
      </p:sp>
      <p:sp>
        <p:nvSpPr>
          <p:cNvPr id="44" name="Text 38"/>
          <p:cNvSpPr txBox="1"/>
          <p:nvPr/>
        </p:nvSpPr>
        <p:spPr>
          <a:xfrm>
            <a:off x="9399703" y="234944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+18.9%</a:t>
            </a:r>
            <a:endParaRPr lang="en-US" sz="1000" dirty="0"/>
          </a:p>
        </p:txBody>
      </p:sp>
      <p:sp>
        <p:nvSpPr>
          <p:cNvPr id="45" name="Text 39"/>
          <p:cNvSpPr txBox="1"/>
          <p:nvPr/>
        </p:nvSpPr>
        <p:spPr>
          <a:xfrm>
            <a:off x="5074920" y="264160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Engaged sessions</a:t>
            </a:r>
            <a:endParaRPr lang="en-US" sz="1050" dirty="0"/>
          </a:p>
        </p:txBody>
      </p:sp>
      <p:sp>
        <p:nvSpPr>
          <p:cNvPr id="46" name="Shape 40"/>
          <p:cNvSpPr/>
          <p:nvPr/>
        </p:nvSpPr>
        <p:spPr>
          <a:xfrm>
            <a:off x="8185709" y="2710129"/>
            <a:ext cx="2138745" cy="223622"/>
          </a:xfrm>
          <a:prstGeom prst="rect">
            <a:avLst/>
          </a:prstGeom>
          <a:solidFill>
            <a:srgbClr val="132257"/>
          </a:solidFill>
          <a:ln w="12700">
            <a:solidFill>
              <a:srgbClr val="132257"/>
            </a:solidFill>
            <a:prstDash val="solid"/>
          </a:ln>
        </p:spPr>
      </p:sp>
      <p:sp>
        <p:nvSpPr>
          <p:cNvPr id="47" name="Text 41"/>
          <p:cNvSpPr txBox="1"/>
          <p:nvPr/>
        </p:nvSpPr>
        <p:spPr>
          <a:xfrm>
            <a:off x="10370174" y="271012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+34.6%</a:t>
            </a:r>
            <a:endParaRPr lang="en-US" sz="1000" dirty="0"/>
          </a:p>
        </p:txBody>
      </p:sp>
      <p:sp>
        <p:nvSpPr>
          <p:cNvPr id="48" name="Text 42"/>
          <p:cNvSpPr txBox="1"/>
          <p:nvPr/>
        </p:nvSpPr>
        <p:spPr>
          <a:xfrm>
            <a:off x="5074920" y="300228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Engagement rate</a:t>
            </a:r>
            <a:endParaRPr lang="en-US" sz="1050" dirty="0"/>
          </a:p>
        </p:txBody>
      </p:sp>
      <p:sp>
        <p:nvSpPr>
          <p:cNvPr id="49" name="Shape 43"/>
          <p:cNvSpPr/>
          <p:nvPr/>
        </p:nvSpPr>
        <p:spPr>
          <a:xfrm>
            <a:off x="8185709" y="3070809"/>
            <a:ext cx="729399" cy="223622"/>
          </a:xfrm>
          <a:prstGeom prst="rect">
            <a:avLst/>
          </a:prstGeom>
          <a:solidFill>
            <a:srgbClr val="132257"/>
          </a:solidFill>
          <a:ln w="12700">
            <a:solidFill>
              <a:srgbClr val="132257"/>
            </a:solidFill>
            <a:prstDash val="solid"/>
          </a:ln>
        </p:spPr>
      </p:sp>
      <p:sp>
        <p:nvSpPr>
          <p:cNvPr id="50" name="Text 44"/>
          <p:cNvSpPr txBox="1"/>
          <p:nvPr/>
        </p:nvSpPr>
        <p:spPr>
          <a:xfrm>
            <a:off x="8960827" y="307080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+11.8%</a:t>
            </a:r>
            <a:endParaRPr lang="en-US" sz="1000" dirty="0"/>
          </a:p>
        </p:txBody>
      </p:sp>
      <p:sp>
        <p:nvSpPr>
          <p:cNvPr id="51" name="Text 45"/>
          <p:cNvSpPr txBox="1"/>
          <p:nvPr/>
        </p:nvSpPr>
        <p:spPr>
          <a:xfrm>
            <a:off x="5074920" y="336296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Time per session</a:t>
            </a:r>
            <a:endParaRPr lang="en-US" sz="1050" dirty="0"/>
          </a:p>
        </p:txBody>
      </p:sp>
      <p:sp>
        <p:nvSpPr>
          <p:cNvPr id="52" name="Shape 46"/>
          <p:cNvSpPr/>
          <p:nvPr/>
        </p:nvSpPr>
        <p:spPr>
          <a:xfrm>
            <a:off x="8185709" y="3431489"/>
            <a:ext cx="1495885" cy="223622"/>
          </a:xfrm>
          <a:prstGeom prst="rect">
            <a:avLst/>
          </a:prstGeom>
          <a:solidFill>
            <a:srgbClr val="132257"/>
          </a:solidFill>
          <a:ln w="12700">
            <a:solidFill>
              <a:srgbClr val="132257"/>
            </a:solidFill>
            <a:prstDash val="solid"/>
          </a:ln>
        </p:spPr>
      </p:sp>
      <p:sp>
        <p:nvSpPr>
          <p:cNvPr id="53" name="Text 47"/>
          <p:cNvSpPr txBox="1"/>
          <p:nvPr/>
        </p:nvSpPr>
        <p:spPr>
          <a:xfrm>
            <a:off x="9727314" y="343148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+24.2%</a:t>
            </a:r>
            <a:endParaRPr lang="en-US" sz="1000" dirty="0"/>
          </a:p>
        </p:txBody>
      </p:sp>
      <p:sp>
        <p:nvSpPr>
          <p:cNvPr id="54" name="Text 48"/>
          <p:cNvSpPr txBox="1"/>
          <p:nvPr/>
        </p:nvSpPr>
        <p:spPr>
          <a:xfrm>
            <a:off x="5074920" y="372364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Events per session</a:t>
            </a:r>
            <a:endParaRPr lang="en-US" sz="1050" dirty="0"/>
          </a:p>
        </p:txBody>
      </p:sp>
      <p:sp>
        <p:nvSpPr>
          <p:cNvPr id="55" name="Shape 49"/>
          <p:cNvSpPr/>
          <p:nvPr/>
        </p:nvSpPr>
        <p:spPr>
          <a:xfrm>
            <a:off x="8185709" y="3792169"/>
            <a:ext cx="1186818" cy="223622"/>
          </a:xfrm>
          <a:prstGeom prst="rect">
            <a:avLst/>
          </a:prstGeom>
          <a:solidFill>
            <a:srgbClr val="132257"/>
          </a:solidFill>
          <a:ln w="12700">
            <a:solidFill>
              <a:srgbClr val="132257"/>
            </a:solidFill>
            <a:prstDash val="solid"/>
          </a:ln>
        </p:spPr>
      </p:sp>
      <p:sp>
        <p:nvSpPr>
          <p:cNvPr id="56" name="Text 50"/>
          <p:cNvSpPr txBox="1"/>
          <p:nvPr/>
        </p:nvSpPr>
        <p:spPr>
          <a:xfrm>
            <a:off x="9418247" y="379216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+19.2%</a:t>
            </a:r>
            <a:endParaRPr lang="en-US" sz="1000" dirty="0"/>
          </a:p>
        </p:txBody>
      </p:sp>
      <p:sp>
        <p:nvSpPr>
          <p:cNvPr id="57" name="Text 51"/>
          <p:cNvSpPr txBox="1"/>
          <p:nvPr/>
        </p:nvSpPr>
        <p:spPr>
          <a:xfrm>
            <a:off x="5074920" y="408432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Total events</a:t>
            </a:r>
            <a:endParaRPr lang="en-US" sz="1050" dirty="0"/>
          </a:p>
        </p:txBody>
      </p:sp>
      <p:sp>
        <p:nvSpPr>
          <p:cNvPr id="58" name="Shape 52"/>
          <p:cNvSpPr/>
          <p:nvPr/>
        </p:nvSpPr>
        <p:spPr>
          <a:xfrm>
            <a:off x="8185709" y="4152849"/>
            <a:ext cx="2695066" cy="223622"/>
          </a:xfrm>
          <a:prstGeom prst="rect">
            <a:avLst/>
          </a:prstGeom>
          <a:solidFill>
            <a:srgbClr val="132257"/>
          </a:solidFill>
          <a:ln w="12700">
            <a:solidFill>
              <a:srgbClr val="132257"/>
            </a:solidFill>
            <a:prstDash val="solid"/>
          </a:ln>
        </p:spPr>
      </p:sp>
      <p:sp>
        <p:nvSpPr>
          <p:cNvPr id="59" name="Text 53"/>
          <p:cNvSpPr txBox="1"/>
          <p:nvPr/>
        </p:nvSpPr>
        <p:spPr>
          <a:xfrm>
            <a:off x="10926495" y="415284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+43.6%</a:t>
            </a:r>
            <a:endParaRPr lang="en-US" sz="1000" dirty="0"/>
          </a:p>
        </p:txBody>
      </p:sp>
      <p:sp>
        <p:nvSpPr>
          <p:cNvPr id="60" name="Text 54"/>
          <p:cNvSpPr txBox="1"/>
          <p:nvPr/>
        </p:nvSpPr>
        <p:spPr>
          <a:xfrm>
            <a:off x="5074920" y="444500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Key events</a:t>
            </a:r>
            <a:endParaRPr lang="en-US" sz="1050" dirty="0"/>
          </a:p>
        </p:txBody>
      </p:sp>
      <p:sp>
        <p:nvSpPr>
          <p:cNvPr id="61" name="Shape 55"/>
          <p:cNvSpPr/>
          <p:nvPr/>
        </p:nvSpPr>
        <p:spPr>
          <a:xfrm>
            <a:off x="8185709" y="4513529"/>
            <a:ext cx="500689" cy="223622"/>
          </a:xfrm>
          <a:prstGeom prst="rect">
            <a:avLst/>
          </a:prstGeom>
          <a:solidFill>
            <a:srgbClr val="132257"/>
          </a:solidFill>
          <a:ln w="12700">
            <a:solidFill>
              <a:srgbClr val="132257"/>
            </a:solidFill>
            <a:prstDash val="solid"/>
          </a:ln>
        </p:spPr>
      </p:sp>
      <p:sp>
        <p:nvSpPr>
          <p:cNvPr id="62" name="Text 56"/>
          <p:cNvSpPr txBox="1"/>
          <p:nvPr/>
        </p:nvSpPr>
        <p:spPr>
          <a:xfrm>
            <a:off x="8732118" y="4513529"/>
            <a:ext cx="731520" cy="223622"/>
          </a:xfrm>
          <a:prstGeom prst="rect">
            <a:avLst/>
          </a:prstGeom>
          <a:noFill/>
          <a:ln/>
        </p:spPr>
        <p:txBody>
          <a:bodyPr wrap="square" lIns="0" tIns="0" rIns="0" bIns="0" rtlCol="0" anchor="ctr"/>
          <a:lstStyle/>
          <a:p>
            <a:pPr indent="0" marL="0">
              <a:buNone/>
            </a:pPr>
            <a:r>
              <a:rPr lang="en-US" sz="1000" b="1" dirty="0">
                <a:solidFill>
                  <a:srgbClr val="132257"/>
                </a:solidFill>
                <a:latin typeface="Exo 2" pitchFamily="34" charset="0"/>
                <a:ea typeface="Exo 2" pitchFamily="34" charset="-122"/>
                <a:cs typeface="Exo 2" pitchFamily="34" charset="-120"/>
              </a:rPr>
              <a:t>+8.1%</a:t>
            </a:r>
            <a:endParaRPr lang="en-US" sz="1000" dirty="0"/>
          </a:p>
        </p:txBody>
      </p:sp>
      <p:sp>
        <p:nvSpPr>
          <p:cNvPr id="63" name="Text 57"/>
          <p:cNvSpPr txBox="1"/>
          <p:nvPr/>
        </p:nvSpPr>
        <p:spPr>
          <a:xfrm>
            <a:off x="5074920" y="4805680"/>
            <a:ext cx="1783080" cy="360680"/>
          </a:xfrm>
          <a:prstGeom prst="rect">
            <a:avLst/>
          </a:prstGeom>
          <a:noFill/>
          <a:ln/>
        </p:spPr>
        <p:txBody>
          <a:bodyPr wrap="square" lIns="0" tIns="0" rIns="0" bIns="0" rtlCol="0" anchor="ctr"/>
          <a:lstStyle/>
          <a:p>
            <a:pPr algn="r" indent="0" marL="0">
              <a:buNone/>
            </a:pPr>
            <a:r>
              <a:rPr lang="en-US" sz="1050" dirty="0">
                <a:solidFill>
                  <a:srgbClr val="1F2A44"/>
                </a:solidFill>
                <a:latin typeface="Exo 2" pitchFamily="34" charset="0"/>
                <a:ea typeface="Exo 2" pitchFamily="34" charset="-122"/>
                <a:cs typeface="Exo 2" pitchFamily="34" charset="-120"/>
              </a:rPr>
              <a:t>Key events per session</a:t>
            </a:r>
            <a:endParaRPr lang="en-US" sz="1050" dirty="0"/>
          </a:p>
        </p:txBody>
      </p:sp>
      <p:sp>
        <p:nvSpPr>
          <p:cNvPr id="64" name="Shape 58"/>
          <p:cNvSpPr/>
          <p:nvPr/>
        </p:nvSpPr>
        <p:spPr>
          <a:xfrm>
            <a:off x="7555212" y="4874209"/>
            <a:ext cx="630497" cy="223622"/>
          </a:xfrm>
          <a:prstGeom prst="rect">
            <a:avLst/>
          </a:prstGeom>
          <a:solidFill>
            <a:srgbClr val="D4AF37"/>
          </a:solidFill>
          <a:ln w="12700">
            <a:solidFill>
              <a:srgbClr val="D4AF37"/>
            </a:solidFill>
            <a:prstDash val="solid"/>
          </a:ln>
        </p:spPr>
      </p:sp>
      <p:sp>
        <p:nvSpPr>
          <p:cNvPr id="65" name="Text 59"/>
          <p:cNvSpPr txBox="1"/>
          <p:nvPr/>
        </p:nvSpPr>
        <p:spPr>
          <a:xfrm>
            <a:off x="6777972" y="4874209"/>
            <a:ext cx="731520" cy="223622"/>
          </a:xfrm>
          <a:prstGeom prst="rect">
            <a:avLst/>
          </a:prstGeom>
          <a:noFill/>
          <a:ln/>
        </p:spPr>
        <p:txBody>
          <a:bodyPr wrap="square" lIns="0" tIns="0" rIns="0" bIns="0" rtlCol="0" anchor="ctr"/>
          <a:lstStyle/>
          <a:p>
            <a:pPr algn="r" indent="0" marL="0">
              <a:buNone/>
            </a:pPr>
            <a:r>
              <a:rPr lang="en-US" sz="1000" b="1" dirty="0">
                <a:solidFill>
                  <a:srgbClr val="9A7B1F"/>
                </a:solidFill>
                <a:latin typeface="Exo 2" pitchFamily="34" charset="0"/>
                <a:ea typeface="Exo 2" pitchFamily="34" charset="-122"/>
                <a:cs typeface="Exo 2" pitchFamily="34" charset="-120"/>
              </a:rPr>
              <a:t>-10.2%</a:t>
            </a:r>
            <a:endParaRPr lang="en-US" sz="1000" dirty="0"/>
          </a:p>
        </p:txBody>
      </p:sp>
      <p:sp>
        <p:nvSpPr>
          <p:cNvPr id="66" name="Shape 60"/>
          <p:cNvSpPr/>
          <p:nvPr/>
        </p:nvSpPr>
        <p:spPr>
          <a:xfrm>
            <a:off x="7221474" y="5358384"/>
            <a:ext cx="128016" cy="128016"/>
          </a:xfrm>
          <a:prstGeom prst="rect">
            <a:avLst/>
          </a:prstGeom>
          <a:solidFill>
            <a:srgbClr val="132257"/>
          </a:solidFill>
          <a:ln w="12700">
            <a:solidFill>
              <a:srgbClr val="132257"/>
            </a:solidFill>
            <a:prstDash val="solid"/>
          </a:ln>
        </p:spPr>
      </p:sp>
      <p:sp>
        <p:nvSpPr>
          <p:cNvPr id="67" name="Text 61"/>
          <p:cNvSpPr txBox="1"/>
          <p:nvPr/>
        </p:nvSpPr>
        <p:spPr>
          <a:xfrm>
            <a:off x="7404354" y="5285232"/>
            <a:ext cx="982980" cy="274320"/>
          </a:xfrm>
          <a:prstGeom prst="rect">
            <a:avLst/>
          </a:prstGeom>
          <a:noFill/>
          <a:ln/>
        </p:spPr>
        <p:txBody>
          <a:bodyPr wrap="square" lIns="0" tIns="0" rIns="0" bIns="0" rtlCol="0" anchor="ctr"/>
          <a:lstStyle/>
          <a:p>
            <a:pPr indent="0" marL="0">
              <a:buNone/>
            </a:pPr>
            <a:r>
              <a:rPr lang="en-US" sz="1000" dirty="0">
                <a:solidFill>
                  <a:srgbClr val="1F2A44"/>
                </a:solidFill>
                <a:latin typeface="Exo 2" pitchFamily="34" charset="0"/>
                <a:ea typeface="Exo 2" pitchFamily="34" charset="-122"/>
                <a:cs typeface="Exo 2" pitchFamily="34" charset="-120"/>
              </a:rPr>
              <a:t>English ahead</a:t>
            </a:r>
            <a:endParaRPr lang="en-US" sz="1000" dirty="0"/>
          </a:p>
        </p:txBody>
      </p:sp>
      <p:sp>
        <p:nvSpPr>
          <p:cNvPr id="68" name="Shape 62"/>
          <p:cNvSpPr/>
          <p:nvPr/>
        </p:nvSpPr>
        <p:spPr>
          <a:xfrm>
            <a:off x="8387334" y="5358384"/>
            <a:ext cx="128016" cy="128016"/>
          </a:xfrm>
          <a:prstGeom prst="rect">
            <a:avLst/>
          </a:prstGeom>
          <a:solidFill>
            <a:srgbClr val="D4AF37"/>
          </a:solidFill>
          <a:ln w="12700">
            <a:solidFill>
              <a:srgbClr val="D4AF37"/>
            </a:solidFill>
            <a:prstDash val="solid"/>
          </a:ln>
        </p:spPr>
      </p:sp>
      <p:sp>
        <p:nvSpPr>
          <p:cNvPr id="69" name="Text 63"/>
          <p:cNvSpPr txBox="1"/>
          <p:nvPr/>
        </p:nvSpPr>
        <p:spPr>
          <a:xfrm>
            <a:off x="8570214" y="5285232"/>
            <a:ext cx="914400" cy="274320"/>
          </a:xfrm>
          <a:prstGeom prst="rect">
            <a:avLst/>
          </a:prstGeom>
          <a:noFill/>
          <a:ln/>
        </p:spPr>
        <p:txBody>
          <a:bodyPr wrap="square" lIns="0" tIns="0" rIns="0" bIns="0" rtlCol="0" anchor="ctr"/>
          <a:lstStyle/>
          <a:p>
            <a:pPr indent="0" marL="0">
              <a:buNone/>
            </a:pPr>
            <a:r>
              <a:rPr lang="en-US" sz="1000" dirty="0">
                <a:solidFill>
                  <a:srgbClr val="1F2A44"/>
                </a:solidFill>
                <a:latin typeface="Exo 2" pitchFamily="34" charset="0"/>
                <a:ea typeface="Exo 2" pitchFamily="34" charset="-122"/>
                <a:cs typeface="Exo 2" pitchFamily="34" charset="-120"/>
              </a:rPr>
              <a:t>Arabic ahead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HatemIsa_202508993_IT9002_NLP_Project/emyaa-ceo-deck/working/charts/board_header.png">    </p:cNvPr>
          <p:cNvPicPr>
            <a:picLocks noChangeAspect="1"/>
          </p:cNvPicPr>
          <p:nvPr/>
        </p:nvPicPr>
        <p:blipFill>
          <a:blip r:embed="rId1"/>
          <a:stretch>
            <a:fillRect/>
          </a:stretch>
        </p:blipFill>
        <p:spPr>
          <a:xfrm>
            <a:off x="0" y="0"/>
            <a:ext cx="12191695" cy="1298448"/>
          </a:xfrm>
          <a:prstGeom prst="rect">
            <a:avLst/>
          </a:prstGeom>
        </p:spPr>
      </p:pic>
      <p:sp>
        <p:nvSpPr>
          <p:cNvPr id="3" name="Shape 0"/>
          <p:cNvSpPr/>
          <p:nvPr/>
        </p:nvSpPr>
        <p:spPr>
          <a:xfrm>
            <a:off x="0" y="1298448"/>
            <a:ext cx="12191695" cy="24689"/>
          </a:xfrm>
          <a:prstGeom prst="rect">
            <a:avLst/>
          </a:prstGeom>
          <a:solidFill>
            <a:srgbClr val="D4AF37"/>
          </a:solidFill>
          <a:ln w="12700">
            <a:solidFill>
              <a:srgbClr val="D4AF37"/>
            </a:solidFill>
            <a:prstDash val="solid"/>
          </a:ln>
        </p:spPr>
      </p:sp>
      <p:sp>
        <p:nvSpPr>
          <p:cNvPr id="4" name="Text 1"/>
          <p:cNvSpPr txBox="1"/>
          <p:nvPr/>
        </p:nvSpPr>
        <p:spPr>
          <a:xfrm>
            <a:off x="566928" y="274320"/>
            <a:ext cx="9144000" cy="182880"/>
          </a:xfrm>
          <a:prstGeom prst="rect">
            <a:avLst/>
          </a:prstGeom>
          <a:noFill/>
          <a:ln/>
        </p:spPr>
        <p:txBody>
          <a:bodyPr wrap="square" lIns="0" tIns="0" rIns="0" bIns="0" rtlCol="0" anchor="t"/>
          <a:lstStyle/>
          <a:p>
            <a:pPr indent="0" marL="0">
              <a:buNone/>
            </a:pPr>
            <a:r>
              <a:rPr lang="en-US" sz="900" b="1" spc="200" kern="0" dirty="0">
                <a:solidFill>
                  <a:srgbClr val="D4AF37"/>
                </a:solidFill>
                <a:latin typeface="Exo 2" pitchFamily="34" charset="0"/>
                <a:ea typeface="Exo 2" pitchFamily="34" charset="-122"/>
                <a:cs typeface="Exo 2" pitchFamily="34" charset="-120"/>
              </a:rPr>
              <a:t>DECISIONS AND OPEN ITEMS</a:t>
            </a:r>
            <a:endParaRPr lang="en-US" sz="900" dirty="0"/>
          </a:p>
        </p:txBody>
      </p:sp>
      <p:sp>
        <p:nvSpPr>
          <p:cNvPr id="5" name="Text 2"/>
          <p:cNvSpPr txBox="1"/>
          <p:nvPr/>
        </p:nvSpPr>
        <p:spPr>
          <a:xfrm>
            <a:off x="566928" y="475488"/>
            <a:ext cx="9326880" cy="749808"/>
          </a:xfrm>
          <a:prstGeom prst="rect">
            <a:avLst/>
          </a:prstGeom>
          <a:noFill/>
          <a:ln/>
        </p:spPr>
        <p:txBody>
          <a:bodyPr wrap="square" lIns="0" tIns="0" rIns="0" bIns="0" rtlCol="0" anchor="ctr"/>
          <a:lstStyle/>
          <a:p>
            <a:pPr indent="0" marL="0">
              <a:buNone/>
            </a:pPr>
            <a:r>
              <a:rPr lang="en-US" sz="2000" b="1" dirty="0">
                <a:solidFill>
                  <a:srgbClr val="FFFFFF"/>
                </a:solidFill>
                <a:latin typeface="Exo 2" pitchFamily="34" charset="0"/>
                <a:ea typeface="Exo 2" pitchFamily="34" charset="-122"/>
                <a:cs typeface="Exo 2" pitchFamily="34" charset="-120"/>
              </a:rPr>
              <a:t>Five decisions for today; one open data item blocks the 20 October call</a:t>
            </a:r>
            <a:endParaRPr lang="en-US" sz="2000" dirty="0"/>
          </a:p>
        </p:txBody>
      </p:sp>
      <p:pic>
        <p:nvPicPr>
          <p:cNvPr id="6" name="Image 1" descr="/home/user/HatemIsa_202508993_IT9002_NLP_Project/emyaa-ceo-deck/working/charts/ajyad_white.png">    </p:cNvPr>
          <p:cNvPicPr>
            <a:picLocks noChangeAspect="1"/>
          </p:cNvPicPr>
          <p:nvPr/>
        </p:nvPicPr>
        <p:blipFill>
          <a:blip r:embed="rId2"/>
          <a:stretch>
            <a:fillRect/>
          </a:stretch>
        </p:blipFill>
        <p:spPr>
          <a:xfrm>
            <a:off x="10305288" y="457200"/>
            <a:ext cx="1325880" cy="384048"/>
          </a:xfrm>
          <a:prstGeom prst="rect">
            <a:avLst/>
          </a:prstGeom>
        </p:spPr>
      </p:pic>
      <p:sp>
        <p:nvSpPr>
          <p:cNvPr id="7" name="Shape 3"/>
          <p:cNvSpPr/>
          <p:nvPr/>
        </p:nvSpPr>
        <p:spPr>
          <a:xfrm>
            <a:off x="566928" y="5669280"/>
            <a:ext cx="11064240" cy="457200"/>
          </a:xfrm>
          <a:prstGeom prst="rect">
            <a:avLst/>
          </a:prstGeom>
          <a:solidFill>
            <a:srgbClr val="E3E8F2"/>
          </a:solidFill>
          <a:ln w="12700">
            <a:solidFill>
              <a:srgbClr val="E3E8F2"/>
            </a:solidFill>
            <a:prstDash val="solid"/>
          </a:ln>
        </p:spPr>
      </p:sp>
      <p:sp>
        <p:nvSpPr>
          <p:cNvPr id="8" name="Shape 4"/>
          <p:cNvSpPr/>
          <p:nvPr/>
        </p:nvSpPr>
        <p:spPr>
          <a:xfrm>
            <a:off x="566928" y="5669280"/>
            <a:ext cx="45720" cy="457200"/>
          </a:xfrm>
          <a:prstGeom prst="rect">
            <a:avLst/>
          </a:prstGeom>
          <a:solidFill>
            <a:srgbClr val="D4AF37"/>
          </a:solidFill>
          <a:ln w="12700">
            <a:solidFill>
              <a:srgbClr val="D4AF37"/>
            </a:solidFill>
            <a:prstDash val="solid"/>
          </a:ln>
        </p:spPr>
      </p:sp>
      <p:sp>
        <p:nvSpPr>
          <p:cNvPr id="9" name="Text 5"/>
          <p:cNvSpPr txBox="1"/>
          <p:nvPr/>
        </p:nvSpPr>
        <p:spPr>
          <a:xfrm>
            <a:off x="777240" y="5669280"/>
            <a:ext cx="10744200" cy="457200"/>
          </a:xfrm>
          <a:prstGeom prst="rect">
            <a:avLst/>
          </a:prstGeom>
          <a:noFill/>
          <a:ln/>
        </p:spPr>
        <p:txBody>
          <a:bodyPr wrap="square" lIns="0" tIns="0" rIns="0" bIns="0" rtlCol="0" anchor="ctr"/>
          <a:lstStyle/>
          <a:p>
            <a:pPr indent="0" marL="0">
              <a:buNone/>
            </a:pPr>
            <a:r>
              <a:rPr lang="en-US" sz="1150" b="1" dirty="0">
                <a:solidFill>
                  <a:srgbClr val="132257"/>
                </a:solidFill>
                <a:latin typeface="Exo 2" pitchFamily="34" charset="0"/>
                <a:ea typeface="Exo 2" pitchFamily="34" charset="-122"/>
                <a:cs typeface="Exo 2" pitchFamily="34" charset="-120"/>
              </a:rPr>
              <a:t>Takeaway   </a:t>
            </a:r>
            <a:pPr indent="0" marL="0">
              <a:buNone/>
            </a:pPr>
            <a:r>
              <a:rPr lang="en-US" sz="1150" dirty="0">
                <a:solidFill>
                  <a:srgbClr val="1F2A44"/>
                </a:solidFill>
                <a:latin typeface="Exo 2" pitchFamily="34" charset="0"/>
                <a:ea typeface="Exo 2" pitchFamily="34" charset="-122"/>
                <a:cs typeface="Exo 2" pitchFamily="34" charset="-120"/>
              </a:rPr>
              <a:t>Ignite must supply spend and lead data before 20 October. Decision 4 closes most of the other open items.</a:t>
            </a:r>
            <a:endParaRPr lang="en-US" sz="1150" dirty="0"/>
          </a:p>
        </p:txBody>
      </p:sp>
      <p:sp>
        <p:nvSpPr>
          <p:cNvPr id="10" name="Text 6"/>
          <p:cNvSpPr txBox="1"/>
          <p:nvPr/>
        </p:nvSpPr>
        <p:spPr>
          <a:xfrm>
            <a:off x="566928" y="6199632"/>
            <a:ext cx="9692640" cy="274320"/>
          </a:xfrm>
          <a:prstGeom prst="rect">
            <a:avLst/>
          </a:prstGeom>
          <a:noFill/>
          <a:ln/>
        </p:spPr>
        <p:txBody>
          <a:bodyPr wrap="square" lIns="0" tIns="0" rIns="0" bIns="0" rtlCol="0" anchor="t"/>
          <a:lstStyle/>
          <a:p>
            <a:pPr indent="0" marL="0">
              <a:buNone/>
            </a:pPr>
            <a:r>
              <a:rPr lang="en-US" sz="800" dirty="0">
                <a:solidFill>
                  <a:srgbClr val="7A849C"/>
                </a:solidFill>
                <a:latin typeface="Exo 2" pitchFamily="34" charset="0"/>
                <a:ea typeface="Exo 2" pitchFamily="34" charset="-122"/>
                <a:cs typeface="Exo 2" pitchFamily="34" charset="-120"/>
              </a:rPr>
              <a:t>Source: Proposed by Marketing based on this update; owners and dates are proposals for CEO confirmation. CAC targets from the Board update, 17 Sep 2026. Detail in Open-Items.md and Percentage-Audit.csv.</a:t>
            </a:r>
            <a:endParaRPr lang="en-US" sz="800" dirty="0"/>
          </a:p>
        </p:txBody>
      </p:sp>
      <p:sp>
        <p:nvSpPr>
          <p:cNvPr id="11" name="Text 7"/>
          <p:cNvSpPr txBox="1"/>
          <p:nvPr/>
        </p:nvSpPr>
        <p:spPr>
          <a:xfrm>
            <a:off x="566928" y="6510528"/>
            <a:ext cx="5486400" cy="201168"/>
          </a:xfrm>
          <a:prstGeom prst="rect">
            <a:avLst/>
          </a:prstGeom>
          <a:noFill/>
          <a:ln/>
        </p:spPr>
        <p:txBody>
          <a:bodyPr wrap="square" lIns="0" tIns="0" rIns="0" bIns="0" rtlCol="0" anchor="t"/>
          <a:lstStyle/>
          <a:p>
            <a:pPr indent="0" marL="0">
              <a:buNone/>
            </a:pPr>
            <a:r>
              <a:rPr lang="en-US" sz="800" dirty="0">
                <a:solidFill>
                  <a:srgbClr val="8A93A8"/>
                </a:solidFill>
                <a:latin typeface="Exo 2" pitchFamily="34" charset="0"/>
                <a:ea typeface="Exo 2" pitchFamily="34" charset="-122"/>
                <a:cs typeface="Exo 2" pitchFamily="34" charset="-120"/>
              </a:rPr>
              <a:t>eMYAA Trading Platform  |  CEO Marketing Update</a:t>
            </a:r>
            <a:endParaRPr lang="en-US" sz="800" dirty="0"/>
          </a:p>
        </p:txBody>
      </p:sp>
      <p:sp>
        <p:nvSpPr>
          <p:cNvPr id="12" name="Text 8"/>
          <p:cNvSpPr txBox="1"/>
          <p:nvPr/>
        </p:nvSpPr>
        <p:spPr>
          <a:xfrm>
            <a:off x="9802368" y="6510528"/>
            <a:ext cx="457200" cy="201168"/>
          </a:xfrm>
          <a:prstGeom prst="rect">
            <a:avLst/>
          </a:prstGeom>
          <a:noFill/>
          <a:ln/>
        </p:spPr>
        <p:txBody>
          <a:bodyPr wrap="square" lIns="0" tIns="0" rIns="0" bIns="0" rtlCol="0" anchor="t"/>
          <a:lstStyle/>
          <a:p>
            <a:pPr algn="r" indent="0" marL="0">
              <a:buNone/>
            </a:pPr>
            <a:r>
              <a:rPr lang="en-US" sz="800" dirty="0">
                <a:solidFill>
                  <a:srgbClr val="8A93A8"/>
                </a:solidFill>
                <a:latin typeface="Exo 2" pitchFamily="34" charset="0"/>
                <a:ea typeface="Exo 2" pitchFamily="34" charset="-122"/>
                <a:cs typeface="Exo 2" pitchFamily="34" charset="-120"/>
              </a:rPr>
              <a:t>6</a:t>
            </a:r>
            <a:endParaRPr lang="en-US" sz="800" dirty="0"/>
          </a:p>
        </p:txBody>
      </p:sp>
      <p:pic>
        <p:nvPicPr>
          <p:cNvPr id="13" name="Image 2" descr="/home/user/HatemIsa_202508993_IT9002_NLP_Project/emyaa-ceo-deck/working/charts/emyaa_navy.png">    </p:cNvPr>
          <p:cNvPicPr>
            <a:picLocks noChangeAspect="1"/>
          </p:cNvPicPr>
          <p:nvPr/>
        </p:nvPicPr>
        <p:blipFill>
          <a:blip r:embed="rId3"/>
          <a:stretch>
            <a:fillRect/>
          </a:stretch>
        </p:blipFill>
        <p:spPr>
          <a:xfrm>
            <a:off x="10607040" y="6336792"/>
            <a:ext cx="1024128" cy="36576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6675120" cy="914400"/>
        </p:xfrm>
        <a:graphic>
          <a:graphicData uri="http://schemas.openxmlformats.org/drawingml/2006/table">
            <a:tbl>
              <a:tblPr/>
              <a:tblGrid>
                <a:gridCol w="365760"/>
                <a:gridCol w="3749040"/>
                <a:gridCol w="1691640"/>
                <a:gridCol w="868680"/>
              </a:tblGrid>
              <a:tr h="329184">
                <a:tc>
                  <a:txBody>
                    <a:bodyPr/>
                    <a:lstStyle/>
                    <a:p>
                      <a:pPr indent="0" marL="0">
                        <a:buNone/>
                      </a:pP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100" b="1" dirty="0">
                          <a:solidFill>
                            <a:srgbClr val="FFFFFF"/>
                          </a:solidFill>
                          <a:latin typeface="Exo 2" pitchFamily="34" charset="0"/>
                          <a:ea typeface="Exo 2" pitchFamily="34" charset="-122"/>
                          <a:cs typeface="Exo 2" pitchFamily="34" charset="-120"/>
                        </a:rPr>
                        <a:t>Decision</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100" b="1" dirty="0">
                          <a:solidFill>
                            <a:srgbClr val="FFFFFF"/>
                          </a:solidFill>
                          <a:latin typeface="Exo 2" pitchFamily="34" charset="0"/>
                          <a:ea typeface="Exo 2" pitchFamily="34" charset="-122"/>
                          <a:cs typeface="Exo 2" pitchFamily="34" charset="-120"/>
                        </a:rPr>
                        <a:t>Owner</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100" b="1" dirty="0">
                          <a:solidFill>
                            <a:srgbClr val="FFFFFF"/>
                          </a:solidFill>
                          <a:latin typeface="Exo 2" pitchFamily="34" charset="0"/>
                          <a:ea typeface="Exo 2" pitchFamily="34" charset="-122"/>
                          <a:cs typeface="Exo 2" pitchFamily="34" charset="-120"/>
                        </a:rPr>
                        <a:t>By</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r>
              <a:tr h="713232">
                <a:tc>
                  <a:txBody>
                    <a:bodyPr/>
                    <a:lstStyle/>
                    <a:p>
                      <a:pPr indent="0" marL="0">
                        <a:buNone/>
                      </a:pPr>
                      <a:r>
                        <a:rPr lang="en-US" sz="1400" b="1" dirty="0">
                          <a:solidFill>
                            <a:srgbClr val="D4AF37"/>
                          </a:solidFill>
                          <a:latin typeface="Exo 2" pitchFamily="34" charset="0"/>
                          <a:ea typeface="Exo 2" pitchFamily="34" charset="-122"/>
                          <a:cs typeface="Exo 2" pitchFamily="34" charset="-120"/>
                        </a:rPr>
                        <a:t>1</a:t>
                      </a:r>
                      <a:endParaRPr lang="en-US" sz="14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Go or hold on paid media, judged on cost per account vs Board CAC targets</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Marketing with Ignite</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20 Oct</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713232">
                <a:tc>
                  <a:txBody>
                    <a:bodyPr/>
                    <a:lstStyle/>
                    <a:p>
                      <a:pPr indent="0" marL="0">
                        <a:buNone/>
                      </a:pPr>
                      <a:r>
                        <a:rPr lang="en-US" sz="1400" b="1" dirty="0">
                          <a:solidFill>
                            <a:srgbClr val="D4AF37"/>
                          </a:solidFill>
                          <a:latin typeface="Exo 2" pitchFamily="34" charset="0"/>
                          <a:ea typeface="Exo 2" pitchFamily="34" charset="-122"/>
                          <a:cs typeface="Exo 2" pitchFamily="34" charset="-120"/>
                        </a:rPr>
                        <a:t>2</a:t>
                      </a:r>
                      <a:endParaRPr lang="en-US" sz="14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Keep Arabic and English ads live until the key event is defined and costed</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Marketing</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10 Oct</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713232">
                <a:tc>
                  <a:txBody>
                    <a:bodyPr/>
                    <a:lstStyle/>
                    <a:p>
                      <a:pPr indent="0" marL="0">
                        <a:buNone/>
                      </a:pPr>
                      <a:r>
                        <a:rPr lang="en-US" sz="1400" b="1" dirty="0">
                          <a:solidFill>
                            <a:srgbClr val="D4AF37"/>
                          </a:solidFill>
                          <a:latin typeface="Exo 2" pitchFamily="34" charset="0"/>
                          <a:ea typeface="Exo 2" pitchFamily="34" charset="-122"/>
                          <a:cs typeface="Exo 2" pitchFamily="34" charset="-120"/>
                        </a:rPr>
                        <a:t>3</a:t>
                      </a:r>
                      <a:endParaRPr lang="en-US" sz="14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Follow up every new download that has not completed KYC</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Client Experience</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10 Oct</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713232">
                <a:tc>
                  <a:txBody>
                    <a:bodyPr/>
                    <a:lstStyle/>
                    <a:p>
                      <a:pPr indent="0" marL="0">
                        <a:buNone/>
                      </a:pPr>
                      <a:r>
                        <a:rPr lang="en-US" sz="1400" b="1" dirty="0">
                          <a:solidFill>
                            <a:srgbClr val="D4AF37"/>
                          </a:solidFill>
                          <a:latin typeface="Exo 2" pitchFamily="34" charset="0"/>
                          <a:ea typeface="Exo 2" pitchFamily="34" charset="-122"/>
                          <a:cs typeface="Exo 2" pitchFamily="34" charset="-120"/>
                        </a:rPr>
                        <a:t>4</a:t>
                      </a:r>
                      <a:endParaRPr lang="en-US" sz="14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Monthly data pack: GA4, social, Google and LinkedIn Ads, deposits</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Marketing and Malek</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8 Oct</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713232">
                <a:tc>
                  <a:txBody>
                    <a:bodyPr/>
                    <a:lstStyle/>
                    <a:p>
                      <a:pPr indent="0" marL="0">
                        <a:buNone/>
                      </a:pPr>
                      <a:r>
                        <a:rPr lang="en-US" sz="1400" b="1" dirty="0">
                          <a:solidFill>
                            <a:srgbClr val="D4AF37"/>
                          </a:solidFill>
                          <a:latin typeface="Exo 2" pitchFamily="34" charset="0"/>
                          <a:ea typeface="Exo 2" pitchFamily="34" charset="-122"/>
                          <a:cs typeface="Exo 2" pitchFamily="34" charset="-120"/>
                        </a:rPr>
                        <a:t>5</a:t>
                      </a:r>
                      <a:endParaRPr lang="en-US" sz="14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Sign off the $5,000 campaign T&amp;Cs; close out Mention &amp; Win</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Compliance and Marketing</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1100" dirty="0">
                          <a:solidFill>
                            <a:srgbClr val="1F2A44"/>
                          </a:solidFill>
                          <a:latin typeface="Exo 2" pitchFamily="34" charset="0"/>
                          <a:ea typeface="Exo 2" pitchFamily="34" charset="-122"/>
                          <a:cs typeface="Exo 2" pitchFamily="34" charset="-120"/>
                        </a:rPr>
                        <a:t>27 Oct</a:t>
                      </a:r>
                      <a:endParaRPr lang="en-US" sz="110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7498080" y="1536192"/>
          <a:ext cx="4133088" cy="914400"/>
        </p:xfrm>
        <a:graphic>
          <a:graphicData uri="http://schemas.openxmlformats.org/drawingml/2006/table">
            <a:tbl>
              <a:tblPr/>
              <a:tblGrid>
                <a:gridCol w="3017520"/>
                <a:gridCol w="1115568"/>
              </a:tblGrid>
              <a:tr h="329184">
                <a:tc>
                  <a:txBody>
                    <a:bodyPr/>
                    <a:lstStyle/>
                    <a:p>
                      <a:pPr indent="0" marL="0">
                        <a:buNone/>
                      </a:pPr>
                      <a:r>
                        <a:rPr lang="en-US" sz="1050" b="1" dirty="0">
                          <a:solidFill>
                            <a:srgbClr val="FFFFFF"/>
                          </a:solidFill>
                          <a:latin typeface="Exo 2" pitchFamily="34" charset="0"/>
                          <a:ea typeface="Exo 2" pitchFamily="34" charset="-122"/>
                          <a:cs typeface="Exo 2" pitchFamily="34" charset="-120"/>
                        </a:rPr>
                        <a:t>Open item</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c>
                  <a:txBody>
                    <a:bodyPr/>
                    <a:lstStyle/>
                    <a:p>
                      <a:pPr indent="0" marL="0">
                        <a:buNone/>
                      </a:pPr>
                      <a:r>
                        <a:rPr lang="en-US" sz="1050" b="1" dirty="0">
                          <a:solidFill>
                            <a:srgbClr val="FFFFFF"/>
                          </a:solidFill>
                          <a:latin typeface="Exo 2" pitchFamily="34" charset="0"/>
                          <a:ea typeface="Exo 2" pitchFamily="34" charset="-122"/>
                          <a:cs typeface="Exo 2" pitchFamily="34" charset="-120"/>
                        </a:rPr>
                        <a:t>Status</a:t>
                      </a:r>
                      <a:endParaRPr lang="en-US" sz="10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0" cap="flat" cmpd="sng" algn="ctr">
                      <a:noFill/>
                    </a:lnB>
                    <a:solidFill>
                      <a:srgbClr val="132257"/>
                    </a:solidFill>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No ad spend, LinkedIn leads or key-event definition</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C53030"/>
                          </a:solidFill>
                          <a:latin typeface="Exo 2" pitchFamily="34" charset="0"/>
                          <a:ea typeface="Exo 2" pitchFamily="34" charset="-122"/>
                          <a:cs typeface="Exo 2" pitchFamily="34" charset="-120"/>
                        </a:rPr>
                        <a:t>Blocks 20 Oct</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Deposits: $12,206 to date, confirmed 29 Sep</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1BA97C"/>
                          </a:solidFill>
                          <a:latin typeface="Exo 2" pitchFamily="34" charset="0"/>
                          <a:ea typeface="Exo 2" pitchFamily="34" charset="-122"/>
                          <a:cs typeface="Exo 2" pitchFamily="34" charset="-120"/>
                        </a:rPr>
                        <a:t>Confirmed</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No September exports for social channels</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9A7B1F"/>
                          </a:solidFill>
                          <a:latin typeface="Exo 2" pitchFamily="34" charset="0"/>
                          <a:ea typeface="Exo 2" pitchFamily="34" charset="-122"/>
                          <a:cs typeface="Exo 2" pitchFamily="34" charset="-120"/>
                        </a:rPr>
                        <a:t>Open</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793% and LinkedIn +118% / +155% not exported</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9A7B1F"/>
                          </a:solidFill>
                          <a:latin typeface="Exo 2" pitchFamily="34" charset="0"/>
                          <a:ea typeface="Exo 2" pitchFamily="34" charset="-122"/>
                          <a:cs typeface="Exo 2" pitchFamily="34" charset="-120"/>
                        </a:rPr>
                        <a:t>Open</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LinkedIn followers: 531 vs 586</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9A7B1F"/>
                          </a:solidFill>
                          <a:latin typeface="Exo 2" pitchFamily="34" charset="0"/>
                          <a:ea typeface="Exo 2" pitchFamily="34" charset="-122"/>
                          <a:cs typeface="Exo 2" pitchFamily="34" charset="-120"/>
                        </a:rPr>
                        <a:t>Open</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84632">
                <a:tc>
                  <a:txBody>
                    <a:bodyPr/>
                    <a:lstStyle/>
                    <a:p>
                      <a:pPr indent="0" marL="0">
                        <a:buNone/>
                      </a:pPr>
                      <a:r>
                        <a:rPr lang="en-US" sz="950" dirty="0">
                          <a:solidFill>
                            <a:srgbClr val="1F2A44"/>
                          </a:solidFill>
                          <a:latin typeface="Exo 2" pitchFamily="34" charset="0"/>
                          <a:ea typeface="Exo 2" pitchFamily="34" charset="-122"/>
                          <a:cs typeface="Exo 2" pitchFamily="34" charset="-120"/>
                        </a:rPr>
                        <a:t>$5,000 campaign T&amp;C sign-off not on file</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9A7B1F"/>
                          </a:solidFill>
                          <a:latin typeface="Exo 2" pitchFamily="34" charset="0"/>
                          <a:ea typeface="Exo 2" pitchFamily="34" charset="-122"/>
                          <a:cs typeface="Exo 2" pitchFamily="34" charset="-120"/>
                        </a:rPr>
                        <a:t>Open</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r h="493776">
                <a:tc>
                  <a:txBody>
                    <a:bodyPr/>
                    <a:lstStyle/>
                    <a:p>
                      <a:pPr indent="0" marL="0">
                        <a:buNone/>
                      </a:pPr>
                      <a:r>
                        <a:rPr lang="en-US" sz="950" dirty="0">
                          <a:solidFill>
                            <a:srgbClr val="1F2A44"/>
                          </a:solidFill>
                          <a:latin typeface="Exo 2" pitchFamily="34" charset="0"/>
                          <a:ea typeface="Exo 2" pitchFamily="34" charset="-122"/>
                          <a:cs typeface="Exo 2" pitchFamily="34" charset="-120"/>
                        </a:rPr>
                        <a:t>Board slide 3 date: 17 Sep should read 28 Sep</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c>
                  <a:txBody>
                    <a:bodyPr/>
                    <a:lstStyle/>
                    <a:p>
                      <a:pPr indent="0" marL="0">
                        <a:buNone/>
                      </a:pPr>
                      <a:r>
                        <a:rPr lang="en-US" sz="950" b="1" dirty="0">
                          <a:solidFill>
                            <a:srgbClr val="1BA97C"/>
                          </a:solidFill>
                          <a:latin typeface="Exo 2" pitchFamily="34" charset="0"/>
                          <a:ea typeface="Exo 2" pitchFamily="34" charset="-122"/>
                          <a:cs typeface="Exo 2" pitchFamily="34" charset="-120"/>
                        </a:rPr>
                        <a:t>Fixed</a:t>
                      </a:r>
                      <a:endParaRPr lang="en-US" sz="950" dirty="0">
                        <a:latin typeface="Exo 2" charset="0"/>
                        <a:ea typeface="Exo 2" charset="0"/>
                        <a:cs typeface="Exo 2" charset="0"/>
                      </a:endParaRPr>
                    </a:p>
                  </a:txBody>
                  <a:tcPr marL="63500" marR="63500" marT="25400" marB="25400"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Performance Update - CEO Update 1 October 2026</dc:title>
  <dc:subject>PptxGenJS Presentation</dc:subject>
  <dc:creator>eMYAA Marketing</dc:creator>
  <cp:lastModifiedBy>eMYAA Marketing</cp:lastModifiedBy>
  <cp:revision>1</cp:revision>
  <dcterms:created xsi:type="dcterms:W3CDTF">2026-09-29T13:34:07Z</dcterms:created>
  <dcterms:modified xsi:type="dcterms:W3CDTF">2026-09-29T13:34:07Z</dcterms:modified>
</cp:coreProperties>
</file>