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embeddedFontLst>
    <p:embeddedFont>
      <p:font typeface="Exo 2" charset="0"/>
      <p:regular r:id="rId17"/>
      <p:bold r:id="rId18"/>
      <p:italic r:id="rId19"/>
      <p:boldItalic r:id="rId20"/>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font" Target="fonts/emyaa-font1.fntdata"/><Relationship Id="rId18" Type="http://schemas.openxmlformats.org/officeDocument/2006/relationships/font" Target="fonts/emyaa-font2.fntdata"/><Relationship Id="rId19" Type="http://schemas.openxmlformats.org/officeDocument/2006/relationships/font" Target="fonts/emyaa-font3.fntdata"/><Relationship Id="rId20" Type="http://schemas.openxmlformats.org/officeDocument/2006/relationships/font" Target="fonts/emyaa-font4.fntdata"/></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Board-approved budget, Sep-Dec 2026 (USD)</a:t>
            </a:r>
          </a:p>
        </c:rich>
      </c:tx>
      <c:layout/>
      <c:overlay val="0"/>
    </c:title>
    <c:autoTitleDeleted val="0"/>
    <c:plotArea>
      <c:layout/>
      <c:barChart>
        <c:barDir val="col"/>
        <c:grouping val="stacked"/>
        <c:varyColors val="0"/>
        <c:ser>
          <c:idx val="0"/>
          <c:order val="0"/>
          <c:tx>
            <c:strRef>
              <c:f>Sheet1!$B$1</c:f>
              <c:strCache>
                <c:ptCount val="1"/>
                <c:pt idx="0">
                  <c:v>Saudi Arabia</c:v>
                </c:pt>
              </c:strCache>
            </c:strRef>
          </c:tx>
          <c:spPr>
            <a:solidFill>
              <a:srgbClr val="132257"/>
            </a:solidFill>
            <a:effectLst/>
          </c:spPr>
          <c:invertIfNegative val="0"/>
          <c:dLbls>
            <c:numFmt formatCode="&quot;$&quot;#,##0" sourceLinked="0"/>
            <c:txPr>
              <a:bodyPr/>
              <a:lstStyle/>
              <a:p>
                <a:pPr>
                  <a:defRPr b="0" i="0" strike="noStrike" sz="1000" u="none">
                    <a:solidFill>
                      <a:srgbClr val="FFFFFF"/>
                    </a:solidFill>
                    <a:latin typeface="Exo 2"/>
                  </a:defRPr>
                </a:pPr>
              </a:p>
            </c:txPr>
            <c:dLblPos val="ctr"/>
            <c:showLegendKey val="0"/>
            <c:showVal val="1"/>
            <c:showCatName val="0"/>
            <c:showSerName val="0"/>
            <c:showPercent val="0"/>
            <c:showBubbleSize val="0"/>
            <c:showLeaderLines val="0"/>
          </c:dLbls>
          <c:cat>
            <c:multiLvlStrRef>
              <c:f>Sheet1!$A$2:$A$3</c:f>
              <c:multiLvlStrCache>
                <c:ptCount val="2"/>
                <c:lvl>
                  <c:pt idx="0">
                    <c:v>Google Search</c:v>
                  </c:pt>
                  <c:pt idx="1">
                    <c:v>LinkedIn Affluent</c:v>
                  </c:pt>
                </c:lvl>
              </c:multiLvlStrCache>
            </c:multiLvlStrRef>
          </c:cat>
          <c:val>
            <c:numRef>
              <c:f>Sheet1!$B$2:$B$3</c:f>
              <c:numCache>
                <c:formatCode>General</c:formatCode>
                <c:ptCount val="2"/>
                <c:pt idx="0">
                  <c:v>9000</c:v>
                </c:pt>
                <c:pt idx="1">
                  <c:v>9000</c:v>
                </c:pt>
              </c:numCache>
            </c:numRef>
          </c:val>
        </c:ser>
        <c:ser>
          <c:idx val="1"/>
          <c:order val="1"/>
          <c:tx>
            <c:strRef>
              <c:f>Sheet1!$C$1</c:f>
              <c:strCache>
                <c:ptCount val="1"/>
                <c:pt idx="0">
                  <c:v>Other GCC</c:v>
                </c:pt>
              </c:strCache>
            </c:strRef>
          </c:tx>
          <c:spPr>
            <a:solidFill>
              <a:srgbClr val="D4AF37"/>
            </a:solidFill>
            <a:effectLst/>
          </c:spPr>
          <c:invertIfNegative val="0"/>
          <c:dLbls>
            <c:numFmt formatCode="&quot;$&quot;#,##0" sourceLinked="0"/>
            <c:txPr>
              <a:bodyPr/>
              <a:lstStyle/>
              <a:p>
                <a:pPr>
                  <a:defRPr b="0" i="0" strike="noStrike" sz="1000" u="none">
                    <a:solidFill>
                      <a:srgbClr val="FFFFFF"/>
                    </a:solidFill>
                    <a:latin typeface="Exo 2"/>
                  </a:defRPr>
                </a:pPr>
              </a:p>
            </c:txPr>
            <c:dLblPos val="ctr"/>
            <c:showLegendKey val="0"/>
            <c:showVal val="1"/>
            <c:showCatName val="0"/>
            <c:showSerName val="0"/>
            <c:showPercent val="0"/>
            <c:showBubbleSize val="0"/>
            <c:showLeaderLines val="0"/>
          </c:dLbls>
          <c:cat>
            <c:multiLvlStrRef>
              <c:f>Sheet1!$A$2:$A$3</c:f>
              <c:multiLvlStrCache>
                <c:ptCount val="2"/>
                <c:lvl>
                  <c:pt idx="0">
                    <c:v>Google Search</c:v>
                  </c:pt>
                  <c:pt idx="1">
                    <c:v>LinkedIn Affluent</c:v>
                  </c:pt>
                </c:lvl>
              </c:multiLvlStrCache>
            </c:multiLvlStrRef>
          </c:cat>
          <c:val>
            <c:numRef>
              <c:f>Sheet1!$C$2:$C$3</c:f>
              <c:numCache>
                <c:formatCode>General</c:formatCode>
                <c:ptCount val="2"/>
                <c:pt idx="0">
                  <c:v>6000</c:v>
                </c:pt>
                <c:pt idx="1">
                  <c:v>6000</c:v>
                </c:pt>
              </c:numCache>
            </c:numRef>
          </c:val>
        </c:ser>
        <c:dLbls>
          <c:numFmt formatCode="&quot;$&quot;#,##0" sourceLinked="0"/>
          <c:txPr>
            <a:bodyPr/>
            <a:lstStyle/>
            <a:p>
              <a:pPr>
                <a:defRPr b="0" i="0" strike="noStrike" sz="1000" u="none">
                  <a:solidFill>
                    <a:srgbClr val="FFFFFF"/>
                  </a:solidFill>
                  <a:latin typeface="Exo 2"/>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16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A44"/>
              </a:solidFill>
              <a:latin typeface="Exo 2"/>
              <a:cs typeface="Exo 2"/>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Share of website sessions by source, 1-28 Sep (n = 587)</a:t>
            </a:r>
          </a:p>
        </c:rich>
      </c:tx>
      <c:layout/>
      <c:overlay val="0"/>
    </c:title>
    <c:autoTitleDeleted val="0"/>
    <c:plotArea>
      <c:layout/>
      <c:barChart>
        <c:barDir val="bar"/>
        <c:grouping val="clustered"/>
        <c:varyColors val="0"/>
        <c:ser>
          <c:idx val="0"/>
          <c:order val="0"/>
          <c:tx>
            <c:strRef>
              <c:f>Sheet1!$B$1</c:f>
              <c:strCache>
                <c:ptCount val="1"/>
                <c:pt idx="0">
                  <c:v>Share of sessions</c:v>
                </c:pt>
              </c:strCache>
            </c:strRef>
          </c:tx>
          <c:spPr>
            <a:solidFill>
              <a:srgbClr val="132257"/>
            </a:solidFill>
            <a:effectLst/>
          </c:spPr>
          <c:invertIfNegative val="0"/>
          <c:dLbls>
            <c:numFmt formatCode="0.0&quot;%&quot;"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Sheet1!$A$2:$A$7</c:f>
              <c:multiLvlStrCache>
                <c:ptCount val="6"/>
                <c:lvl>
                  <c:pt idx="0">
                    <c:v>Google Ads, cpc (409)</c:v>
                  </c:pt>
                  <c:pt idx="1">
                    <c:v>Direct (92)</c:v>
                  </c:pt>
                  <c:pt idx="2">
                    <c:v>Organic search (39)</c:v>
                  </c:pt>
                  <c:pt idx="3">
                    <c:v>Referral (32)</c:v>
                  </c:pt>
                  <c:pt idx="4">
                    <c:v>ChatGPT (9)</c:v>
                  </c:pt>
                  <c:pt idx="5">
                    <c:v>Not available (6)</c:v>
                  </c:pt>
                </c:lvl>
              </c:multiLvlStrCache>
            </c:multiLvlStrRef>
          </c:cat>
          <c:val>
            <c:numRef>
              <c:f>Sheet1!$B$2:$B$7</c:f>
              <c:numCache>
                <c:formatCode>General</c:formatCode>
                <c:ptCount val="6"/>
                <c:pt idx="0">
                  <c:v>69.7</c:v>
                </c:pt>
                <c:pt idx="1">
                  <c:v>15.7</c:v>
                </c:pt>
                <c:pt idx="2">
                  <c:v>6.6</c:v>
                </c:pt>
                <c:pt idx="3">
                  <c:v>5.5</c:v>
                </c:pt>
                <c:pt idx="4">
                  <c:v>1.5</c:v>
                </c:pt>
                <c:pt idx="5">
                  <c:v>1</c:v>
                </c:pt>
              </c:numCache>
            </c:numRef>
          </c:val>
        </c:ser>
        <c:dLbls>
          <c:numFmt formatCode="0.0&quot;%&quot;"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8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Google Ads Saudi campaigns: EN 212 vs AR 176 sessions</a:t>
            </a:r>
          </a:p>
        </c:rich>
      </c:tx>
      <c:layout/>
      <c:overlay val="0"/>
    </c:title>
    <c:autoTitleDeleted val="0"/>
    <c:plotArea>
      <c:layout/>
      <c:barChart>
        <c:barDir val="col"/>
        <c:grouping val="clustered"/>
        <c:varyColors val="0"/>
        <c:ser>
          <c:idx val="0"/>
          <c:order val="0"/>
          <c:tx>
            <c:strRef>
              <c:f>Sheet1!$B$1</c:f>
              <c:strCache>
                <c:ptCount val="1"/>
                <c:pt idx="0">
                  <c:v>English campaign</c:v>
                </c:pt>
              </c:strCache>
            </c:strRef>
          </c:tx>
          <c:spPr>
            <a:solidFill>
              <a:srgbClr val="132257"/>
            </a:solidFill>
            <a:effectLst/>
          </c:spPr>
          <c:invertIfNegative val="0"/>
          <c:dLbls>
            <c:numFmt formatCode="0.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Sheet1!$A$2:$A$3</c:f>
              <c:multiLvlStrCache>
                <c:ptCount val="2"/>
                <c:lvl>
                  <c:pt idx="0">
                    <c:v>Engagement rate, %</c:v>
                  </c:pt>
                  <c:pt idx="1">
                    <c:v>Key events per 100 sessions</c:v>
                  </c:pt>
                </c:lvl>
              </c:multiLvlStrCache>
            </c:multiLvlStrRef>
          </c:cat>
          <c:val>
            <c:numRef>
              <c:f>Sheet1!$B$2:$B$3</c:f>
              <c:numCache>
                <c:formatCode>General</c:formatCode>
                <c:ptCount val="2"/>
                <c:pt idx="0">
                  <c:v>97.2</c:v>
                </c:pt>
                <c:pt idx="1">
                  <c:v>94.3</c:v>
                </c:pt>
              </c:numCache>
            </c:numRef>
          </c:val>
        </c:ser>
        <c:ser>
          <c:idx val="1"/>
          <c:order val="1"/>
          <c:tx>
            <c:strRef>
              <c:f>Sheet1!$C$1</c:f>
              <c:strCache>
                <c:ptCount val="1"/>
                <c:pt idx="0">
                  <c:v>Arabic campaign</c:v>
                </c:pt>
              </c:strCache>
            </c:strRef>
          </c:tx>
          <c:spPr>
            <a:solidFill>
              <a:srgbClr val="D4AF37"/>
            </a:solidFill>
            <a:effectLst/>
          </c:spPr>
          <c:invertIfNegative val="0"/>
          <c:dLbls>
            <c:numFmt formatCode="0.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Sheet1!$A$2:$A$3</c:f>
              <c:multiLvlStrCache>
                <c:ptCount val="2"/>
                <c:lvl>
                  <c:pt idx="0">
                    <c:v>Engagement rate, %</c:v>
                  </c:pt>
                  <c:pt idx="1">
                    <c:v>Key events per 100 sessions</c:v>
                  </c:pt>
                </c:lvl>
              </c:multiLvlStrCache>
            </c:multiLvlStrRef>
          </c:cat>
          <c:val>
            <c:numRef>
              <c:f>Sheet1!$C$2:$C$3</c:f>
              <c:numCache>
                <c:formatCode>General</c:formatCode>
                <c:ptCount val="2"/>
                <c:pt idx="0">
                  <c:v>86.9</c:v>
                </c:pt>
                <c:pt idx="1">
                  <c:v>105.1</c:v>
                </c:pt>
              </c:numCache>
            </c:numRef>
          </c:val>
        </c:ser>
        <c:dLbls>
          <c:numFmt formatCode="0.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A44"/>
              </a:solidFill>
              <a:latin typeface="Exo 2"/>
              <a:cs typeface="Exo 2"/>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Net new app downloads and onboarded users between dashboard dates</a:t>
            </a:r>
          </a:p>
        </c:rich>
      </c:tx>
      <c:layout/>
      <c:overlay val="0"/>
    </c:title>
    <c:autoTitleDeleted val="0"/>
    <c:plotArea>
      <c:layout/>
      <c:barChart>
        <c:barDir val="col"/>
        <c:grouping val="clustered"/>
        <c:varyColors val="0"/>
        <c:ser>
          <c:idx val="0"/>
          <c:order val="0"/>
          <c:tx>
            <c:strRef>
              <c:f>Sheet1!$B$1</c:f>
              <c:strCache>
                <c:ptCount val="1"/>
                <c:pt idx="0">
                  <c:v>App downloads added</c:v>
                </c:pt>
              </c:strCache>
            </c:strRef>
          </c:tx>
          <c:spPr>
            <a:solidFill>
              <a:srgbClr val="132257"/>
            </a:solidFill>
            <a:effectLst/>
          </c:spPr>
          <c:invertIfNegative val="0"/>
          <c:dLbls>
            <c:numFmt formatCode="#,##0" sourceLinked="0"/>
            <c:txPr>
              <a:bodyPr/>
              <a:lstStyle/>
              <a:p>
                <a:pPr>
                  <a:defRPr b="1" i="0" strike="noStrike" sz="1100" u="none">
                    <a:solidFill>
                      <a:srgbClr val="132257"/>
                    </a:solidFill>
                    <a:latin typeface="Exo 2"/>
                  </a:defRPr>
                </a:pPr>
              </a:p>
            </c:txPr>
            <c:showLegendKey val="0"/>
            <c:showVal val="1"/>
            <c:showCatName val="0"/>
            <c:showSerName val="0"/>
            <c:showPercent val="0"/>
            <c:showBubbleSize val="0"/>
            <c:showLeaderLines val="0"/>
          </c:dLbls>
          <c:cat>
            <c:multiLvlStrRef>
              <c:f>Sheet1!$A$2:$A$5</c:f>
              <c:multiLvlStrCache>
                <c:ptCount val="4"/>
                <c:lvl>
                  <c:pt idx="0">
                    <c:v>1-8 Sep</c:v>
                  </c:pt>
                  <c:pt idx="1">
                    <c:v>8-14 Sep</c:v>
                  </c:pt>
                  <c:pt idx="2">
                    <c:v>14-21 Sep</c:v>
                  </c:pt>
                  <c:pt idx="3">
                    <c:v>21-27 Sep (paid live)</c:v>
                  </c:pt>
                </c:lvl>
              </c:multiLvlStrCache>
            </c:multiLvlStrRef>
          </c:cat>
          <c:val>
            <c:numRef>
              <c:f>Sheet1!$B$2:$B$5</c:f>
              <c:numCache>
                <c:formatCode>General</c:formatCode>
                <c:ptCount val="4"/>
                <c:pt idx="0">
                  <c:v>30</c:v>
                </c:pt>
                <c:pt idx="1">
                  <c:v>20</c:v>
                </c:pt>
                <c:pt idx="2">
                  <c:v>14</c:v>
                </c:pt>
                <c:pt idx="3">
                  <c:v>36</c:v>
                </c:pt>
              </c:numCache>
            </c:numRef>
          </c:val>
        </c:ser>
        <c:ser>
          <c:idx val="1"/>
          <c:order val="1"/>
          <c:tx>
            <c:strRef>
              <c:f>Sheet1!$C$1</c:f>
              <c:strCache>
                <c:ptCount val="1"/>
                <c:pt idx="0">
                  <c:v>Users onboarded</c:v>
                </c:pt>
              </c:strCache>
            </c:strRef>
          </c:tx>
          <c:spPr>
            <a:solidFill>
              <a:srgbClr val="1BA97C"/>
            </a:solidFill>
            <a:effectLst/>
          </c:spPr>
          <c:invertIfNegative val="0"/>
          <c:dLbls>
            <c:numFmt formatCode="#,##0" sourceLinked="0"/>
            <c:txPr>
              <a:bodyPr/>
              <a:lstStyle/>
              <a:p>
                <a:pPr>
                  <a:defRPr b="1" i="0" strike="noStrike" sz="1100" u="none">
                    <a:solidFill>
                      <a:srgbClr val="132257"/>
                    </a:solidFill>
                    <a:latin typeface="Exo 2"/>
                  </a:defRPr>
                </a:pPr>
              </a:p>
            </c:txPr>
            <c:showLegendKey val="0"/>
            <c:showVal val="1"/>
            <c:showCatName val="0"/>
            <c:showSerName val="0"/>
            <c:showPercent val="0"/>
            <c:showBubbleSize val="0"/>
            <c:showLeaderLines val="0"/>
          </c:dLbls>
          <c:cat>
            <c:multiLvlStrRef>
              <c:f>Sheet1!$A$2:$A$5</c:f>
              <c:multiLvlStrCache>
                <c:ptCount val="4"/>
                <c:lvl>
                  <c:pt idx="0">
                    <c:v>1-8 Sep</c:v>
                  </c:pt>
                  <c:pt idx="1">
                    <c:v>8-14 Sep</c:v>
                  </c:pt>
                  <c:pt idx="2">
                    <c:v>14-21 Sep</c:v>
                  </c:pt>
                  <c:pt idx="3">
                    <c:v>21-27 Sep (paid live)</c:v>
                  </c:pt>
                </c:lvl>
              </c:multiLvlStrCache>
            </c:multiLvlStrRef>
          </c:cat>
          <c:val>
            <c:numRef>
              <c:f>Sheet1!$C$2:$C$5</c:f>
              <c:numCache>
                <c:formatCode>General</c:formatCode>
                <c:ptCount val="4"/>
                <c:pt idx="0">
                  <c:v>1</c:v>
                </c:pt>
                <c:pt idx="1">
                  <c:v>3</c:v>
                </c:pt>
                <c:pt idx="2">
                  <c:v>5</c:v>
                </c:pt>
                <c:pt idx="3">
                  <c:v>3</c:v>
                </c:pt>
              </c:numCache>
            </c:numRef>
          </c:val>
        </c:ser>
        <c:dLbls>
          <c:numFmt formatCode="#,##0" sourceLinked="0"/>
          <c:txPr>
            <a:bodyPr/>
            <a:lstStyle/>
            <a:p>
              <a:pPr>
                <a:defRPr b="1" i="0" strike="noStrike" sz="1100" u="none">
                  <a:solidFill>
                    <a:srgbClr val="132257"/>
                  </a:solidFill>
                  <a:latin typeface="Exo 2"/>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A44"/>
              </a:solidFill>
              <a:latin typeface="Exo 2"/>
              <a:cs typeface="Exo 2"/>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Prize if you win, by trading volume Aug-Dec 2026 (USD)</a:t>
            </a:r>
          </a:p>
        </c:rich>
      </c:tx>
      <c:layout/>
      <c:overlay val="0"/>
    </c:title>
    <c:autoTitleDeleted val="0"/>
    <c:plotArea>
      <c:layout/>
      <c:barChart>
        <c:barDir val="col"/>
        <c:grouping val="clustered"/>
        <c:varyColors val="0"/>
        <c:ser>
          <c:idx val="0"/>
          <c:order val="0"/>
          <c:tx>
            <c:strRef>
              <c:f>Sheet1!$B$1</c:f>
              <c:strCache>
                <c:ptCount val="1"/>
                <c:pt idx="0">
                  <c:v>Prize</c:v>
                </c:pt>
              </c:strCache>
            </c:strRef>
          </c:tx>
          <c:spPr>
            <a:solidFill>
              <a:srgbClr val="D4AF37"/>
            </a:solidFill>
            <a:effectLst/>
          </c:spPr>
          <c:invertIfNegative val="0"/>
          <c:dLbls>
            <c:numFmt formatCode="&quot;$&quot;#,##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Sheet1!$A$2:$A$7</c:f>
              <c:multiLvlStrCache>
                <c:ptCount val="6"/>
                <c:lvl>
                  <c:pt idx="0">
                    <c:v>$0.5K-5K</c:v>
                  </c:pt>
                  <c:pt idx="1">
                    <c:v>$5K-15K</c:v>
                  </c:pt>
                  <c:pt idx="2">
                    <c:v>$15K-50K</c:v>
                  </c:pt>
                  <c:pt idx="3">
                    <c:v>$50K-100K</c:v>
                  </c:pt>
                  <c:pt idx="4">
                    <c:v>$100K-500K</c:v>
                  </c:pt>
                  <c:pt idx="5">
                    <c:v>$500K+</c:v>
                  </c:pt>
                </c:lvl>
              </c:multiLvlStrCache>
            </c:multiLvlStrRef>
          </c:cat>
          <c:val>
            <c:numRef>
              <c:f>Sheet1!$B$2:$B$7</c:f>
              <c:numCache>
                <c:formatCode>General</c:formatCode>
                <c:ptCount val="6"/>
                <c:pt idx="0">
                  <c:v>500</c:v>
                </c:pt>
                <c:pt idx="1">
                  <c:v>1000</c:v>
                </c:pt>
                <c:pt idx="2">
                  <c:v>2000</c:v>
                </c:pt>
                <c:pt idx="3">
                  <c:v>3000</c:v>
                </c:pt>
                <c:pt idx="4">
                  <c:v>4000</c:v>
                </c:pt>
                <c:pt idx="5">
                  <c:v>5000</c:v>
                </c:pt>
              </c:numCache>
            </c:numRef>
          </c:val>
        </c:ser>
        <c:dLbls>
          <c:numFmt formatCode="&quot;$&quot;#,##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A849C"/>
                </a:solidFill>
                <a:latin typeface="Exo 2"/>
              </a:defRPr>
            </a:pPr>
            <a:endParaRPr lang="en-US"/>
          </a:p>
        </c:txPr>
        <c:crossAx val="2094734552"/>
        <c:crosses val="autoZero"/>
        <c:auto val="1"/>
        <c:lblAlgn val="ctr"/>
        <c:noMultiLvlLbl val="1"/>
      </c:catAx>
      <c:valAx>
        <c:axId val="2094734552"/>
        <c:scaling>
          <c:orientation val="minMax"/>
          <c:max val="6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Instagram views per post (as shown on profile grid)</a:t>
            </a:r>
          </a:p>
        </c:rich>
      </c:tx>
      <c:layout/>
      <c:overlay val="0"/>
    </c:title>
    <c:autoTitleDeleted val="0"/>
    <c:plotArea>
      <c:layout/>
      <c:barChart>
        <c:barDir val="bar"/>
        <c:grouping val="clustered"/>
        <c:varyColors val="0"/>
        <c:ser>
          <c:idx val="0"/>
          <c:order val="0"/>
          <c:tx>
            <c:strRef>
              <c:f>Sheet1!$B$1</c:f>
              <c:strCache>
                <c:ptCount val="1"/>
                <c:pt idx="0">
                  <c:v>Views</c:v>
                </c:pt>
              </c:strCache>
            </c:strRef>
          </c:tx>
          <c:spPr>
            <a:solidFill>
              <a:srgbClr val="132257"/>
            </a:solidFill>
            <a:effectLst/>
          </c:spPr>
          <c:invertIfNegative val="0"/>
          <c:dLbls>
            <c:numFmt formatCode="[&gt;=1000000]0.0,,&quot;M&quot;;[&gt;=1000]0.0,&quot;K&quot;;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Sheet1!$A$2:$A$9</c:f>
              <c:multiLvlStrCache>
                <c:ptCount val="8"/>
                <c:lvl>
                  <c:pt idx="0">
                    <c:v>Musheera reel</c:v>
                  </c:pt>
                  <c:pt idx="1">
                    <c:v>Ali Sabeel reel</c:v>
                  </c:pt>
                  <c:pt idx="2">
                    <c:v>Mention &amp; Win $500 graphic</c:v>
                  </c:pt>
                  <c:pt idx="3">
                    <c:v>Open account, win $500 graphic</c:v>
                  </c:pt>
                  <c:pt idx="4">
                    <c:v>Trade &amp; Win graphic</c:v>
                  </c:pt>
                  <c:pt idx="5">
                    <c:v>No limits graphic</c:v>
                  </c:pt>
                  <c:pt idx="6">
                    <c:v>How-to video, presenter</c:v>
                  </c:pt>
                  <c:pt idx="7">
                    <c:v>Start trading graphic</c:v>
                  </c:pt>
                </c:lvl>
              </c:multiLvlStrCache>
            </c:multiLvlStrRef>
          </c:cat>
          <c:val>
            <c:numRef>
              <c:f>Sheet1!$B$2:$B$9</c:f>
              <c:numCache>
                <c:formatCode>General</c:formatCode>
                <c:ptCount val="8"/>
                <c:pt idx="0">
                  <c:v>5300000</c:v>
                </c:pt>
                <c:pt idx="1">
                  <c:v>1300000</c:v>
                </c:pt>
                <c:pt idx="2">
                  <c:v>186000</c:v>
                </c:pt>
                <c:pt idx="3">
                  <c:v>26300</c:v>
                </c:pt>
                <c:pt idx="4">
                  <c:v>549</c:v>
                </c:pt>
                <c:pt idx="5">
                  <c:v>347</c:v>
                </c:pt>
                <c:pt idx="6">
                  <c:v>332</c:v>
                </c:pt>
                <c:pt idx="7">
                  <c:v>262</c:v>
                </c:pt>
              </c:numCache>
            </c:numRef>
          </c:val>
        </c:ser>
        <c:dLbls>
          <c:numFmt formatCode="[&gt;=1000000]0.0,,&quot;M&quot;;[&gt;=1000]0.0,&quot;K&quot;;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6500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GA4 exports 1-28 Sep 2026; GA4 home card 21-27 Sep; daily performance dashboards to 27 Sep; eMYAA Board of Directors Update 17 Sep 2026 (plan, budget, segments, CAC targets); content calendars Sep and Oct 2026 (V2); Instagram profile grid screenshot; $5,000 campaign T&amp;Cs, approval checklist and 24F briefing. Anything without a source file is labelled 'reported' or 'per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 409 google / cpc sessions of 587 total, 1-28 Sep. Downloads: 437 on the 21 Sep dashboard, 473 on 27 Sep (+36); the week before added +14. Onboarded: 57 to 60 (+3) over the same six days. 1.3M and 186K are Instagram view counts from the profile grid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segments: Starter under $1,000 and Emerging $1,000 to $5,000 via Google Ads; Affluent $5,000 to $50,000 via LinkedIn lead generation then in-person meeting. CAC targets: Starter $167, Emerging $417, Affluent $882. Budget: Google Search Saudi $9,000, LinkedIn Affluent Saudi $9,000, Google Search Qatar/UAE/Kuwait/Bahrain/Oman $6,000, LinkedIn Affluent same markets $6,000; funded from the $62,477 reserved budget. GA4 shows only the two Saudi Google campaigns so far. LinkedIn lead forms keep users on LinkedIn, so no LinkedIn sessions in GA4 is expected. The Ignite invoice TI7541 was cited by the previous audit but is not in this review set; TI7542 is not in the review set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Corrections vs the previous drafts: referral is 5.5% (32 sessions by GA medium) not 6.6% (the draft grouped ChatGPT's 9 sessions into referral and left out facebook.com's 2); top four sources are 97.4% (572 of 587), not 98.6%; EN/AR session shares are 54.6%/45.4%, not 54.5%/45.2%; EN engagement time per session is 19.9s, not 19s; the period is 1-28 Sep, not 'since 22/23 Sep'; 558 new users is the September total, not 'since campaign launch'. GA home card: 384 active users for 21-27 Sep, a reported +793% vs the previous 7 days (implied prior week about 43; not exported; all sources and countries). 403 of 542 active users (74.4%) had google / cpc as first source. Key events: EN 200 on 212 sessions (0.94 per session), AR 185 on 176 sessions (1.05). The key event is not defined in the export; 400 key events on 409 paid sessions suggests a light action, so do not call it a conversion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change between dashboard report dates. Downloads = Android + iOS: 373 (1 Sep), 403 (8 Sep), 423 (14 Sep), 437 (21 Sep), 473 (27 Sep). Users onboarded: 48, 49, 52, 57, 60. Funded accounts: 12 to 13 (21 Sep) to 15 (27 Sep). Trades: 54 on 27 Sep. The 28 Sep dashboard (#32) cited by the previous audit shows 480 downloads; it is not in this review set. The Board shows 61 clients 'as at 17 Sep' while the 17 Sep dashboard shows 54; logged as an open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&amp; Win (24F briefing): recurring monthly contest across all six GCC countries, approved caption 'Follow, mention, and open an eMYAA account for a chance to win $500'; paid boost via Ignite. Calendar posts 15 Sep and 18 Oct; the team gives 23 Sep to 20 Oct for the current round. Board budget: $1,100 prizes Jun-Aug; $3,200 prizes and ads Sep-Dec. The 26.3K post is the 'open your account, chance to win $500' creative. 1,129 likes on the launch reel is reported, not visible on the screenshot. $5,000 Prize Campaign: approval checklist of 20 Jul shows landing pages built and live, bilingual T&amp;Cs 'sent for approval' with no sign-off recorded, six influencer scripts finalized. Campaign period 1 Aug to 31 Dec 2026, draw 10 Jan 2027; $5,000 prize in the Board plan to year end; launch animation on the October calendar for 5 Oct.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how-to video showed 319 views in the previous draft and 332 on the screenshot, so the screenshot is the later capture. Ali Sabeel posted 2 Sep per the September calendar. Manal Talal: brief sent and production started; October calendar V2 date 22 Oct. Hamed Al Bloushi: November per the rollout plan (the September calendar had listed 29 Sep). Abdulelah Al Harbi thumbnail is a video still supplied by the team; no view count yet. No item is awaiting approval per the team. The same six creators, plus Ammar Alshaikh, have finalized scripts for the $5,000 Prize Campaign (approval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uses only view counts visible on the Instagram grid screenshot. Excluded as unverified or inconsistent: 2,271,132 'all-time' views (one reel alone shows 5.3M); format shares, which differ between decks (73.3/25.9/0.7 in the Marketing Update vs 59.2/38.1 in the Performance Analysis deck). LinkedIn: 247 new followers in the last 30 days vs 4 in the prior 30 days is the +6,075%; it is growth in new followers, not in total followers. The LinkedIn export (31 May-28 Aug) shows 498 new followers, 493 of them in June and 4 in August, which contradicts the draft's derived baseline of 284 followers '30 days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Gross deposits: the Board shows $12,206 (Malek's figure, verbal); the dashboard figure of $10,029.69 is relabelled from 'Total Deposits' to 'Total AUM' from 20 Sep; the KPI workbook shows $11,195.88 for September. Client count: Board 61 'as at 17 Sep'; dashboards 54 (17 Sep) and 60 (27 Sep); KPI workbook 54. $5,000 campaign: bilingual T&amp;Cs 'sent for approval' on 20 Jul, no sign-off on file. Market Pulse: calendar posts 30 Sep and 29 Oct; the in-app Market Pulse feature is 'in discussion', with Exante verifying data-provider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2 follows from the GA4 campaign export: Arabic has a lower engagement rate (86.9% vs 97.2%) but more key events per session (1.05 vs 0.94). Decision 3 follows from the dashboards: +36 downloads but +3 onboarded in the first six days of paid testing. Decision 5: the $5,000 campaign T&amp;Cs were sent for approval on 20 Jul and no sign-off is 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4" Type="http://schemas.openxmlformats.org/officeDocument/2006/relationships/chart" Target="/ppt/charts/chart2.xml"/><Relationship Id="rId5" Type="http://schemas.openxmlformats.org/officeDocument/2006/relationships/chart" Target="/ppt/charts/chart3.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chart" Target="/ppt/charts/chart4.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6" Type="http://schemas.openxmlformats.org/officeDocument/2006/relationships/chart" Target="/ppt/charts/chart5.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chart" Target="/ppt/charts/chart6.xm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HatemIsa_202508993_IT9002_NLP_Project/emyaa-ceo-deck/working/charts/emyaa_white.png">    </p:cNvPr>
          <p:cNvPicPr>
            <a:picLocks noChangeAspect="1"/>
          </p:cNvPicPr>
          <p:nvPr/>
        </p:nvPicPr>
        <p:blipFill>
          <a:blip r:embed="rId2"/>
          <a:stretch>
            <a:fillRect/>
          </a:stretch>
        </p:blipFill>
        <p:spPr>
          <a:xfrm>
            <a:off x="685800" y="685800"/>
            <a:ext cx="1600200" cy="566928"/>
          </a:xfrm>
          <a:prstGeom prst="rect">
            <a:avLst/>
          </a:prstGeom>
        </p:spPr>
      </p:pic>
      <p:pic>
        <p:nvPicPr>
          <p:cNvPr id="3" name="Image 1" descr="/home/user/HatemIsa_202508993_IT9002_NLP_Project/emyaa-ceo-deck/working/charts/ajyad_white.png">    </p:cNvPr>
          <p:cNvPicPr>
            <a:picLocks noChangeAspect="1"/>
          </p:cNvPicPr>
          <p:nvPr/>
        </p:nvPicPr>
        <p:blipFill>
          <a:blip r:embed="rId3"/>
          <a:stretch>
            <a:fillRect/>
          </a:stretch>
        </p:blipFill>
        <p:spPr>
          <a:xfrm>
            <a:off x="9756648" y="685800"/>
            <a:ext cx="1755648" cy="512064"/>
          </a:xfrm>
          <a:prstGeom prst="rect">
            <a:avLst/>
          </a:prstGeom>
        </p:spPr>
      </p:pic>
      <p:sp>
        <p:nvSpPr>
          <p:cNvPr id="4" name="Text 0"/>
          <p:cNvSpPr txBox="1"/>
          <p:nvPr/>
        </p:nvSpPr>
        <p:spPr>
          <a:xfrm>
            <a:off x="685800" y="2560320"/>
            <a:ext cx="10881360" cy="868680"/>
          </a:xfrm>
          <a:prstGeom prst="rect">
            <a:avLst/>
          </a:prstGeom>
          <a:noFill/>
          <a:ln/>
        </p:spPr>
        <p:txBody>
          <a:bodyPr wrap="square" lIns="0" tIns="0" rIns="0" bIns="0" rtlCol="0" anchor="t"/>
          <a:lstStyle/>
          <a:p>
            <a:pPr indent="0" marL="0">
              <a:buNone/>
            </a:pPr>
            <a:r>
              <a:rPr lang="en-US" sz="4000" b="1" dirty="0">
                <a:solidFill>
                  <a:srgbClr val="FFFFFF"/>
                </a:solidFill>
                <a:latin typeface="Exo 2" pitchFamily="34" charset="0"/>
                <a:ea typeface="Exo 2" pitchFamily="34" charset="-122"/>
                <a:cs typeface="Exo 2" pitchFamily="34" charset="-120"/>
              </a:rPr>
              <a:t>Marketing Performance Update</a:t>
            </a:r>
            <a:endParaRPr lang="en-US" sz="4000" dirty="0"/>
          </a:p>
        </p:txBody>
      </p:sp>
      <p:sp>
        <p:nvSpPr>
          <p:cNvPr id="5" name="Text 1"/>
          <p:cNvSpPr txBox="1"/>
          <p:nvPr/>
        </p:nvSpPr>
        <p:spPr>
          <a:xfrm>
            <a:off x="685800" y="3474720"/>
            <a:ext cx="10058400" cy="411480"/>
          </a:xfrm>
          <a:prstGeom prst="rect">
            <a:avLst/>
          </a:prstGeom>
          <a:noFill/>
          <a:ln/>
        </p:spPr>
        <p:txBody>
          <a:bodyPr wrap="square" lIns="0" tIns="0" rIns="0" bIns="0" rtlCol="0" anchor="t"/>
          <a:lstStyle/>
          <a:p>
            <a:pPr indent="0" marL="0">
              <a:buNone/>
            </a:pPr>
            <a:r>
              <a:rPr lang="en-US" sz="2000" b="1" spc="100" kern="0" dirty="0">
                <a:solidFill>
                  <a:srgbClr val="D4AF37"/>
                </a:solidFill>
                <a:latin typeface="Exo 2" pitchFamily="34" charset="0"/>
                <a:ea typeface="Exo 2" pitchFamily="34" charset="-122"/>
                <a:cs typeface="Exo 2" pitchFamily="34" charset="-120"/>
              </a:rPr>
              <a:t>CEO UPDATE</a:t>
            </a:r>
            <a:endParaRPr lang="en-US" sz="2000" dirty="0"/>
          </a:p>
        </p:txBody>
      </p:sp>
      <p:sp>
        <p:nvSpPr>
          <p:cNvPr id="6" name="Text 2"/>
          <p:cNvSpPr txBox="1"/>
          <p:nvPr/>
        </p:nvSpPr>
        <p:spPr>
          <a:xfrm>
            <a:off x="685800" y="3931920"/>
            <a:ext cx="7315200" cy="365760"/>
          </a:xfrm>
          <a:prstGeom prst="rect">
            <a:avLst/>
          </a:prstGeom>
          <a:noFill/>
          <a:ln/>
        </p:spPr>
        <p:txBody>
          <a:bodyPr wrap="square" lIns="0" tIns="0" rIns="0" bIns="0" rtlCol="0" anchor="t"/>
          <a:lstStyle/>
          <a:p>
            <a:pPr indent="0" marL="0">
              <a:buNone/>
            </a:pPr>
            <a:r>
              <a:rPr lang="en-US" sz="1600" dirty="0">
                <a:solidFill>
                  <a:srgbClr val="FFFFFF"/>
                </a:solidFill>
                <a:latin typeface="Exo 2" pitchFamily="34" charset="0"/>
                <a:ea typeface="Exo 2" pitchFamily="34" charset="-122"/>
                <a:cs typeface="Exo 2" pitchFamily="34" charset="-120"/>
              </a:rPr>
              <a:t>1 October 2026</a:t>
            </a:r>
            <a:endParaRPr lang="en-US" sz="1600" dirty="0"/>
          </a:p>
        </p:txBody>
      </p:sp>
      <p:sp>
        <p:nvSpPr>
          <p:cNvPr id="7" name="Text 3"/>
          <p:cNvSpPr txBox="1"/>
          <p:nvPr/>
        </p:nvSpPr>
        <p:spPr>
          <a:xfrm>
            <a:off x="685800" y="6126480"/>
            <a:ext cx="10881360" cy="274320"/>
          </a:xfrm>
          <a:prstGeom prst="rect">
            <a:avLst/>
          </a:prstGeom>
          <a:noFill/>
          <a:ln/>
        </p:spPr>
        <p:txBody>
          <a:bodyPr wrap="square" lIns="0" tIns="0" rIns="0" bIns="0" rtlCol="0" anchor="t"/>
          <a:lstStyle/>
          <a:p>
            <a:pPr indent="0" marL="0">
              <a:buNone/>
            </a:pPr>
            <a:r>
              <a:rPr lang="en-US" sz="1000" dirty="0">
                <a:solidFill>
                  <a:srgbClr val="C6CFE4"/>
                </a:solidFill>
                <a:latin typeface="Exo 2" pitchFamily="34" charset="0"/>
                <a:ea typeface="Exo 2" pitchFamily="34" charset="-122"/>
                <a:cs typeface="Exo 2" pitchFamily="34" charset="-120"/>
              </a:rPr>
              <a:t>Web: GA4, 1-28 Sep 2026  |  Platform: daily dashboard, 27 Sep 2026  |  Plan and budget: Board update, 17 Sep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EXECUTIVE SUMMARY</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Paid search drives traffic and downloads; onboarding is now the bottleneck</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Paid media works at the top of the funnel. Decide on 20 October, judged on accounts opened.</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exports 1-28 Sep 2026; daily performance dashboards 14-27 Sep 2026; Instagram profile grid screenshot; Board update 17 Sep 2026 (CAC targets).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2</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Shape 9"/>
          <p:cNvSpPr/>
          <p:nvPr/>
        </p:nvSpPr>
        <p:spPr>
          <a:xfrm>
            <a:off x="566928" y="1600200"/>
            <a:ext cx="2624328" cy="3840480"/>
          </a:xfrm>
          <a:prstGeom prst="rect">
            <a:avLst/>
          </a:prstGeom>
          <a:solidFill>
            <a:srgbClr val="FFFFFF"/>
          </a:solidFill>
          <a:ln w="9525">
            <a:solidFill>
              <a:srgbClr val="D9DFEA"/>
            </a:solidFill>
            <a:prstDash val="solid"/>
          </a:ln>
        </p:spPr>
      </p:sp>
      <p:sp>
        <p:nvSpPr>
          <p:cNvPr id="16" name="Shape 10"/>
          <p:cNvSpPr/>
          <p:nvPr/>
        </p:nvSpPr>
        <p:spPr>
          <a:xfrm>
            <a:off x="566928" y="1600200"/>
            <a:ext cx="2624328" cy="32004"/>
          </a:xfrm>
          <a:prstGeom prst="rect">
            <a:avLst/>
          </a:prstGeom>
          <a:solidFill>
            <a:srgbClr val="132257"/>
          </a:solidFill>
          <a:ln w="12700">
            <a:solidFill>
              <a:srgbClr val="132257"/>
            </a:solidFill>
            <a:prstDash val="solid"/>
          </a:ln>
        </p:spPr>
      </p:sp>
      <p:sp>
        <p:nvSpPr>
          <p:cNvPr id="17" name="Text 11"/>
          <p:cNvSpPr txBox="1"/>
          <p:nvPr/>
        </p:nvSpPr>
        <p:spPr>
          <a:xfrm>
            <a:off x="795528" y="1874520"/>
            <a:ext cx="216712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DELIVERED</a:t>
            </a:r>
            <a:endParaRPr lang="en-US" sz="900" dirty="0"/>
          </a:p>
        </p:txBody>
      </p:sp>
      <p:sp>
        <p:nvSpPr>
          <p:cNvPr id="18" name="Text 12"/>
          <p:cNvSpPr txBox="1"/>
          <p:nvPr/>
        </p:nvSpPr>
        <p:spPr>
          <a:xfrm>
            <a:off x="795528" y="2194560"/>
            <a:ext cx="2167128" cy="822960"/>
          </a:xfrm>
          <a:prstGeom prst="rect">
            <a:avLst/>
          </a:prstGeom>
          <a:noFill/>
          <a:ln/>
        </p:spPr>
        <p:txBody>
          <a:bodyPr wrap="square" lIns="0" tIns="0" rIns="0" bIns="0" rtlCol="0" anchor="t"/>
          <a:lstStyle/>
          <a:p>
            <a:pPr indent="0" marL="0">
              <a:buNone/>
            </a:pPr>
            <a:r>
              <a:rPr lang="en-US" sz="4400" b="1" dirty="0">
                <a:solidFill>
                  <a:srgbClr val="132257"/>
                </a:solidFill>
                <a:latin typeface="Exo 2" pitchFamily="34" charset="0"/>
                <a:ea typeface="Exo 2" pitchFamily="34" charset="-122"/>
                <a:cs typeface="Exo 2" pitchFamily="34" charset="-120"/>
              </a:rPr>
              <a:t>1.3M</a:t>
            </a:r>
            <a:endParaRPr lang="en-US" sz="4400" dirty="0"/>
          </a:p>
        </p:txBody>
      </p:sp>
      <p:sp>
        <p:nvSpPr>
          <p:cNvPr id="19" name="Text 13"/>
          <p:cNvSpPr txBox="1"/>
          <p:nvPr/>
        </p:nvSpPr>
        <p:spPr>
          <a:xfrm>
            <a:off x="795528" y="3108960"/>
            <a:ext cx="2167128" cy="73152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views, Ali Sabeel reel</a:t>
            </a:r>
            <a:endParaRPr lang="en-US" sz="1600" dirty="0"/>
          </a:p>
        </p:txBody>
      </p:sp>
      <p:sp>
        <p:nvSpPr>
          <p:cNvPr id="20" name="Text 14"/>
          <p:cNvSpPr txBox="1"/>
          <p:nvPr/>
        </p:nvSpPr>
        <p:spPr>
          <a:xfrm>
            <a:off x="795528" y="4023360"/>
            <a:ext cx="2167128" cy="1280160"/>
          </a:xfrm>
          <a:prstGeom prst="rect">
            <a:avLst/>
          </a:prstGeom>
          <a:noFill/>
          <a:ln/>
        </p:spPr>
        <p:txBody>
          <a:bodyPr wrap="square" lIns="0" tIns="0" rIns="0" bIns="0" rtlCol="0" anchor="t"/>
          <a:lstStyle/>
          <a:p>
            <a:pPr indent="0" marL="0">
              <a:buNone/>
            </a:pPr>
            <a:r>
              <a:rPr lang="en-US" sz="1400" dirty="0">
                <a:solidFill>
                  <a:srgbClr val="1F2A44"/>
                </a:solidFill>
                <a:latin typeface="Exo 2" pitchFamily="34" charset="0"/>
                <a:ea typeface="Exo 2" pitchFamily="34" charset="-122"/>
                <a:cs typeface="Exo 2" pitchFamily="34" charset="-120"/>
              </a:rPr>
              <a:t>Three presenter videos posted in September. Manal Talal on 22 Oct.</a:t>
            </a:r>
            <a:endParaRPr lang="en-US" sz="1400" dirty="0"/>
          </a:p>
        </p:txBody>
      </p:sp>
      <p:sp>
        <p:nvSpPr>
          <p:cNvPr id="21" name="Shape 15"/>
          <p:cNvSpPr/>
          <p:nvPr/>
        </p:nvSpPr>
        <p:spPr>
          <a:xfrm>
            <a:off x="3374136" y="1600200"/>
            <a:ext cx="2624328" cy="3840480"/>
          </a:xfrm>
          <a:prstGeom prst="rect">
            <a:avLst/>
          </a:prstGeom>
          <a:solidFill>
            <a:srgbClr val="FFFFFF"/>
          </a:solidFill>
          <a:ln w="9525">
            <a:solidFill>
              <a:srgbClr val="D9DFEA"/>
            </a:solidFill>
            <a:prstDash val="solid"/>
          </a:ln>
        </p:spPr>
      </p:sp>
      <p:sp>
        <p:nvSpPr>
          <p:cNvPr id="22" name="Shape 16"/>
          <p:cNvSpPr/>
          <p:nvPr/>
        </p:nvSpPr>
        <p:spPr>
          <a:xfrm>
            <a:off x="3374136" y="1600200"/>
            <a:ext cx="2624328" cy="32004"/>
          </a:xfrm>
          <a:prstGeom prst="rect">
            <a:avLst/>
          </a:prstGeom>
          <a:solidFill>
            <a:srgbClr val="1BA97C"/>
          </a:solidFill>
          <a:ln w="12700">
            <a:solidFill>
              <a:srgbClr val="1BA97C"/>
            </a:solidFill>
            <a:prstDash val="solid"/>
          </a:ln>
        </p:spPr>
      </p:sp>
      <p:sp>
        <p:nvSpPr>
          <p:cNvPr id="23" name="Text 17"/>
          <p:cNvSpPr txBox="1"/>
          <p:nvPr/>
        </p:nvSpPr>
        <p:spPr>
          <a:xfrm>
            <a:off x="3602736" y="1874520"/>
            <a:ext cx="216712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LIVE</a:t>
            </a:r>
            <a:endParaRPr lang="en-US" sz="900" dirty="0"/>
          </a:p>
        </p:txBody>
      </p:sp>
      <p:sp>
        <p:nvSpPr>
          <p:cNvPr id="24" name="Text 18"/>
          <p:cNvSpPr txBox="1"/>
          <p:nvPr/>
        </p:nvSpPr>
        <p:spPr>
          <a:xfrm>
            <a:off x="3602736" y="2194560"/>
            <a:ext cx="2167128" cy="822960"/>
          </a:xfrm>
          <a:prstGeom prst="rect">
            <a:avLst/>
          </a:prstGeom>
          <a:noFill/>
          <a:ln/>
        </p:spPr>
        <p:txBody>
          <a:bodyPr wrap="square" lIns="0" tIns="0" rIns="0" bIns="0" rtlCol="0" anchor="t"/>
          <a:lstStyle/>
          <a:p>
            <a:pPr indent="0" marL="0">
              <a:buNone/>
            </a:pPr>
            <a:r>
              <a:rPr lang="en-US" sz="4400" b="1" dirty="0">
                <a:solidFill>
                  <a:srgbClr val="1BA97C"/>
                </a:solidFill>
                <a:latin typeface="Exo 2" pitchFamily="34" charset="0"/>
                <a:ea typeface="Exo 2" pitchFamily="34" charset="-122"/>
                <a:cs typeface="Exo 2" pitchFamily="34" charset="-120"/>
              </a:rPr>
              <a:t>186K</a:t>
            </a:r>
            <a:endParaRPr lang="en-US" sz="4400" dirty="0"/>
          </a:p>
        </p:txBody>
      </p:sp>
      <p:sp>
        <p:nvSpPr>
          <p:cNvPr id="25" name="Text 19"/>
          <p:cNvSpPr txBox="1"/>
          <p:nvPr/>
        </p:nvSpPr>
        <p:spPr>
          <a:xfrm>
            <a:off x="3602736" y="3108960"/>
            <a:ext cx="2167128" cy="73152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views, Mention &amp; Win post</a:t>
            </a:r>
            <a:endParaRPr lang="en-US" sz="1600" dirty="0"/>
          </a:p>
        </p:txBody>
      </p:sp>
      <p:sp>
        <p:nvSpPr>
          <p:cNvPr id="26" name="Text 20"/>
          <p:cNvSpPr txBox="1"/>
          <p:nvPr/>
        </p:nvSpPr>
        <p:spPr>
          <a:xfrm>
            <a:off x="3602736" y="4023360"/>
            <a:ext cx="2167128" cy="1280160"/>
          </a:xfrm>
          <a:prstGeom prst="rect">
            <a:avLst/>
          </a:prstGeom>
          <a:noFill/>
          <a:ln/>
        </p:spPr>
        <p:txBody>
          <a:bodyPr wrap="square" lIns="0" tIns="0" rIns="0" bIns="0" rtlCol="0" anchor="t"/>
          <a:lstStyle/>
          <a:p>
            <a:pPr indent="0" marL="0">
              <a:buNone/>
            </a:pPr>
            <a:r>
              <a:rPr lang="en-US" sz="1400" dirty="0">
                <a:solidFill>
                  <a:srgbClr val="1F2A44"/>
                </a:solidFill>
                <a:latin typeface="Exo 2" pitchFamily="34" charset="0"/>
                <a:ea typeface="Exo 2" pitchFamily="34" charset="-122"/>
                <a:cs typeface="Exo 2" pitchFamily="34" charset="-120"/>
              </a:rPr>
              <a:t>Monthly $500 contest; this round closes 20 Oct.</a:t>
            </a:r>
            <a:endParaRPr lang="en-US" sz="1400" dirty="0"/>
          </a:p>
        </p:txBody>
      </p:sp>
      <p:sp>
        <p:nvSpPr>
          <p:cNvPr id="27" name="Shape 21"/>
          <p:cNvSpPr/>
          <p:nvPr/>
        </p:nvSpPr>
        <p:spPr>
          <a:xfrm>
            <a:off x="6181344" y="1600200"/>
            <a:ext cx="2624328" cy="3840480"/>
          </a:xfrm>
          <a:prstGeom prst="rect">
            <a:avLst/>
          </a:prstGeom>
          <a:solidFill>
            <a:srgbClr val="FFFFFF"/>
          </a:solidFill>
          <a:ln w="9525">
            <a:solidFill>
              <a:srgbClr val="D9DFEA"/>
            </a:solidFill>
            <a:prstDash val="solid"/>
          </a:ln>
        </p:spPr>
      </p:sp>
      <p:sp>
        <p:nvSpPr>
          <p:cNvPr id="28" name="Shape 22"/>
          <p:cNvSpPr/>
          <p:nvPr/>
        </p:nvSpPr>
        <p:spPr>
          <a:xfrm>
            <a:off x="6181344" y="1600200"/>
            <a:ext cx="2624328" cy="32004"/>
          </a:xfrm>
          <a:prstGeom prst="rect">
            <a:avLst/>
          </a:prstGeom>
          <a:solidFill>
            <a:srgbClr val="D4AF37"/>
          </a:solidFill>
          <a:ln w="12700">
            <a:solidFill>
              <a:srgbClr val="D4AF37"/>
            </a:solidFill>
            <a:prstDash val="solid"/>
          </a:ln>
        </p:spPr>
      </p:sp>
      <p:sp>
        <p:nvSpPr>
          <p:cNvPr id="29" name="Text 23"/>
          <p:cNvSpPr txBox="1"/>
          <p:nvPr/>
        </p:nvSpPr>
        <p:spPr>
          <a:xfrm>
            <a:off x="6409944" y="1874520"/>
            <a:ext cx="216712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TESTING</a:t>
            </a:r>
            <a:endParaRPr lang="en-US" sz="900" dirty="0"/>
          </a:p>
        </p:txBody>
      </p:sp>
      <p:sp>
        <p:nvSpPr>
          <p:cNvPr id="30" name="Text 24"/>
          <p:cNvSpPr txBox="1"/>
          <p:nvPr/>
        </p:nvSpPr>
        <p:spPr>
          <a:xfrm>
            <a:off x="6409944" y="2194560"/>
            <a:ext cx="2167128" cy="822960"/>
          </a:xfrm>
          <a:prstGeom prst="rect">
            <a:avLst/>
          </a:prstGeom>
          <a:noFill/>
          <a:ln/>
        </p:spPr>
        <p:txBody>
          <a:bodyPr wrap="square" lIns="0" tIns="0" rIns="0" bIns="0" rtlCol="0" anchor="t"/>
          <a:lstStyle/>
          <a:p>
            <a:pPr indent="0" marL="0">
              <a:buNone/>
            </a:pPr>
            <a:r>
              <a:rPr lang="en-US" sz="4400" b="1" dirty="0">
                <a:solidFill>
                  <a:srgbClr val="132257"/>
                </a:solidFill>
                <a:latin typeface="Exo 2" pitchFamily="34" charset="0"/>
                <a:ea typeface="Exo 2" pitchFamily="34" charset="-122"/>
                <a:cs typeface="Exo 2" pitchFamily="34" charset="-120"/>
              </a:rPr>
              <a:t>70%</a:t>
            </a:r>
            <a:endParaRPr lang="en-US" sz="4400" dirty="0"/>
          </a:p>
        </p:txBody>
      </p:sp>
      <p:sp>
        <p:nvSpPr>
          <p:cNvPr id="31" name="Text 25"/>
          <p:cNvSpPr txBox="1"/>
          <p:nvPr/>
        </p:nvSpPr>
        <p:spPr>
          <a:xfrm>
            <a:off x="6409944" y="3108960"/>
            <a:ext cx="2167128" cy="73152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of Sep site sessions from Google Ads</a:t>
            </a:r>
            <a:endParaRPr lang="en-US" sz="1600" dirty="0"/>
          </a:p>
        </p:txBody>
      </p:sp>
      <p:sp>
        <p:nvSpPr>
          <p:cNvPr id="32" name="Text 26"/>
          <p:cNvSpPr txBox="1"/>
          <p:nvPr/>
        </p:nvSpPr>
        <p:spPr>
          <a:xfrm>
            <a:off x="6409944" y="4023360"/>
            <a:ext cx="2167128" cy="1280160"/>
          </a:xfrm>
          <a:prstGeom prst="rect">
            <a:avLst/>
          </a:prstGeom>
          <a:noFill/>
          <a:ln/>
        </p:spPr>
        <p:txBody>
          <a:bodyPr wrap="square" lIns="0" tIns="0" rIns="0" bIns="0" rtlCol="0" anchor="t"/>
          <a:lstStyle/>
          <a:p>
            <a:pPr indent="0" marL="0">
              <a:buNone/>
            </a:pPr>
            <a:r>
              <a:rPr lang="en-US" sz="1400" dirty="0">
                <a:solidFill>
                  <a:srgbClr val="1F2A44"/>
                </a:solidFill>
                <a:latin typeface="Exo 2" pitchFamily="34" charset="0"/>
                <a:ea typeface="Exo 2" pitchFamily="34" charset="-122"/>
                <a:cs typeface="Exo 2" pitchFamily="34" charset="-120"/>
              </a:rPr>
              <a:t>Downloads +36 in six days after launch; onboarding +3.</a:t>
            </a:r>
            <a:endParaRPr lang="en-US" sz="1400" dirty="0"/>
          </a:p>
        </p:txBody>
      </p:sp>
      <p:sp>
        <p:nvSpPr>
          <p:cNvPr id="33" name="Shape 27"/>
          <p:cNvSpPr/>
          <p:nvPr/>
        </p:nvSpPr>
        <p:spPr>
          <a:xfrm>
            <a:off x="8988552" y="1600200"/>
            <a:ext cx="2624328" cy="3840480"/>
          </a:xfrm>
          <a:prstGeom prst="rect">
            <a:avLst/>
          </a:prstGeom>
          <a:solidFill>
            <a:srgbClr val="FFFFFF"/>
          </a:solidFill>
          <a:ln w="9525">
            <a:solidFill>
              <a:srgbClr val="D9DFEA"/>
            </a:solidFill>
            <a:prstDash val="solid"/>
          </a:ln>
        </p:spPr>
      </p:sp>
      <p:sp>
        <p:nvSpPr>
          <p:cNvPr id="34" name="Shape 28"/>
          <p:cNvSpPr/>
          <p:nvPr/>
        </p:nvSpPr>
        <p:spPr>
          <a:xfrm>
            <a:off x="8988552" y="1600200"/>
            <a:ext cx="2624328" cy="32004"/>
          </a:xfrm>
          <a:prstGeom prst="rect">
            <a:avLst/>
          </a:prstGeom>
          <a:solidFill>
            <a:srgbClr val="C53030"/>
          </a:solidFill>
          <a:ln w="12700">
            <a:solidFill>
              <a:srgbClr val="C53030"/>
            </a:solidFill>
            <a:prstDash val="solid"/>
          </a:ln>
        </p:spPr>
      </p:sp>
      <p:sp>
        <p:nvSpPr>
          <p:cNvPr id="35" name="Text 29"/>
          <p:cNvSpPr txBox="1"/>
          <p:nvPr/>
        </p:nvSpPr>
        <p:spPr>
          <a:xfrm>
            <a:off x="9217152" y="1874520"/>
            <a:ext cx="216712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DECISION</a:t>
            </a:r>
            <a:endParaRPr lang="en-US" sz="900" dirty="0"/>
          </a:p>
        </p:txBody>
      </p:sp>
      <p:sp>
        <p:nvSpPr>
          <p:cNvPr id="36" name="Text 30"/>
          <p:cNvSpPr txBox="1"/>
          <p:nvPr/>
        </p:nvSpPr>
        <p:spPr>
          <a:xfrm>
            <a:off x="9217152" y="2194560"/>
            <a:ext cx="2167128" cy="822960"/>
          </a:xfrm>
          <a:prstGeom prst="rect">
            <a:avLst/>
          </a:prstGeom>
          <a:noFill/>
          <a:ln/>
        </p:spPr>
        <p:txBody>
          <a:bodyPr wrap="square" lIns="0" tIns="0" rIns="0" bIns="0" rtlCol="0" anchor="t"/>
          <a:lstStyle/>
          <a:p>
            <a:pPr indent="0" marL="0">
              <a:buNone/>
            </a:pPr>
            <a:r>
              <a:rPr lang="en-US" sz="4400" b="1" dirty="0">
                <a:solidFill>
                  <a:srgbClr val="132257"/>
                </a:solidFill>
                <a:latin typeface="Exo 2" pitchFamily="34" charset="0"/>
                <a:ea typeface="Exo 2" pitchFamily="34" charset="-122"/>
                <a:cs typeface="Exo 2" pitchFamily="34" charset="-120"/>
              </a:rPr>
              <a:t>20 Oct</a:t>
            </a:r>
            <a:endParaRPr lang="en-US" sz="4400" dirty="0"/>
          </a:p>
        </p:txBody>
      </p:sp>
      <p:sp>
        <p:nvSpPr>
          <p:cNvPr id="37" name="Text 31"/>
          <p:cNvSpPr txBox="1"/>
          <p:nvPr/>
        </p:nvSpPr>
        <p:spPr>
          <a:xfrm>
            <a:off x="9217152" y="3108960"/>
            <a:ext cx="2167128" cy="73152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go or hold on paid media</a:t>
            </a:r>
            <a:endParaRPr lang="en-US" sz="1600" dirty="0"/>
          </a:p>
        </p:txBody>
      </p:sp>
      <p:sp>
        <p:nvSpPr>
          <p:cNvPr id="38" name="Text 32"/>
          <p:cNvSpPr txBox="1"/>
          <p:nvPr/>
        </p:nvSpPr>
        <p:spPr>
          <a:xfrm>
            <a:off x="9217152" y="4023360"/>
            <a:ext cx="2167128" cy="1280160"/>
          </a:xfrm>
          <a:prstGeom prst="rect">
            <a:avLst/>
          </a:prstGeom>
          <a:noFill/>
          <a:ln/>
        </p:spPr>
        <p:txBody>
          <a:bodyPr wrap="square" lIns="0" tIns="0" rIns="0" bIns="0" rtlCol="0" anchor="t"/>
          <a:lstStyle/>
          <a:p>
            <a:pPr indent="0" marL="0">
              <a:buNone/>
            </a:pPr>
            <a:r>
              <a:rPr lang="en-US" sz="1400" dirty="0">
                <a:solidFill>
                  <a:srgbClr val="1F2A44"/>
                </a:solidFill>
                <a:latin typeface="Exo 2" pitchFamily="34" charset="0"/>
                <a:ea typeface="Exo 2" pitchFamily="34" charset="-122"/>
                <a:cs typeface="Exo 2" pitchFamily="34" charset="-120"/>
              </a:rPr>
              <a:t>Judged on cost per account vs Board targets ($167 / $417 / $882).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PAID MEDIA LAUNCH</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Paid media is in testing against Board CAC targets; only Google Ads has results so far</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Plan and targets are set. Ignite must supply spend and conversion data before 20 October.</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Board update 17 Sep 2026 (segments, CAC targets, $30,000 split); GA4 Google Ads campaigns export 1-28 Sep 2026. Residents-only rule per management.</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3</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7406640" cy="914400"/>
        </p:xfrm>
        <a:graphic>
          <a:graphicData uri="http://schemas.openxmlformats.org/drawingml/2006/table">
            <a:tbl>
              <a:tblPr/>
              <a:tblGrid>
                <a:gridCol w="1234440"/>
                <a:gridCol w="3200400"/>
                <a:gridCol w="2971800"/>
              </a:tblGrid>
              <a:tr h="384048">
                <a:tc>
                  <a:txBody>
                    <a:bodyPr/>
                    <a:lstStyle/>
                    <a:p>
                      <a:pPr indent="0" marL="0">
                        <a:buNone/>
                      </a:pPr>
                      <a:endParaRPr lang="en-US" sz="1200" dirty="0">
                        <a:latin typeface="Exo 2" charset="0"/>
                        <a:ea typeface="Exo 2" charset="0"/>
                        <a:cs typeface="Exo 2" charset="0"/>
                      </a:endParaRPr>
                    </a:p>
                  </a:txBody>
                  <a:tcPr marL="76200" marR="762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200" b="1" dirty="0">
                          <a:solidFill>
                            <a:srgbClr val="FFFFFF"/>
                          </a:solidFill>
                          <a:latin typeface="Exo 2" pitchFamily="34" charset="0"/>
                          <a:ea typeface="Exo 2" pitchFamily="34" charset="-122"/>
                          <a:cs typeface="Exo 2" pitchFamily="34" charset="-120"/>
                        </a:rPr>
                        <a:t>Google Ads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200" b="1" dirty="0">
                          <a:solidFill>
                            <a:srgbClr val="FFFFFF"/>
                          </a:solidFill>
                          <a:latin typeface="Exo 2" pitchFamily="34" charset="0"/>
                          <a:ea typeface="Exo 2" pitchFamily="34" charset="-122"/>
                          <a:cs typeface="Exo 2" pitchFamily="34" charset="-120"/>
                        </a:rPr>
                        <a:t>LinkedIn Ads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Audience</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Starter (under $1K) and Emerging ($1K-5K)</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Affluent ($5K-50K)</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11480">
                <a:tc>
                  <a:txBody>
                    <a:bodyPr/>
                    <a:lstStyle/>
                    <a:p>
                      <a:pPr indent="0" marL="0">
                        <a:buNone/>
                      </a:pPr>
                      <a:r>
                        <a:rPr lang="en-US" sz="1100" b="1" dirty="0">
                          <a:solidFill>
                            <a:srgbClr val="7A849C"/>
                          </a:solidFill>
                          <a:latin typeface="Exo 2" pitchFamily="34" charset="0"/>
                          <a:ea typeface="Exo 2" pitchFamily="34" charset="-122"/>
                          <a:cs typeface="Exo 2" pitchFamily="34" charset="-120"/>
                        </a:rPr>
                        <a:t>Objective</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Website conversions</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Leads, then in-person meeting</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Markets</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gridSpan="2">
                  <a:txBody>
                    <a:bodyPr/>
                    <a:lstStyle/>
                    <a:p>
                      <a:pPr indent="0" marL="0">
                        <a:buNone/>
                      </a:pPr>
                      <a:r>
                        <a:rPr lang="en-US" sz="1100" dirty="0">
                          <a:solidFill>
                            <a:srgbClr val="1F2A44"/>
                          </a:solidFill>
                          <a:latin typeface="Exo 2" pitchFamily="34" charset="0"/>
                          <a:ea typeface="Exo 2" pitchFamily="34" charset="-122"/>
                          <a:cs typeface="Exo 2" pitchFamily="34" charset="-120"/>
                        </a:rPr>
                        <a:t>Saudi Arabia first; Qatar, UAE, Kuwait, Bahrain, Oman in plan</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hMerge="1">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Phase</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gridSpan="2">
                  <a:txBody>
                    <a:bodyPr/>
                    <a:lstStyle/>
                    <a:p>
                      <a:pPr indent="0" marL="0">
                        <a:buNone/>
                      </a:pPr>
                      <a:r>
                        <a:rPr lang="en-US" sz="1100" dirty="0">
                          <a:solidFill>
                            <a:srgbClr val="1F2A44"/>
                          </a:solidFill>
                          <a:latin typeface="Exo 2" pitchFamily="34" charset="0"/>
                          <a:ea typeface="Exo 2" pitchFamily="34" charset="-122"/>
                          <a:cs typeface="Exo 2" pitchFamily="34" charset="-120"/>
                        </a:rPr>
                        <a:t>Testing since 22 September; scale phase follows (Board runway)</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hMerge="1">
                  <a:tcPr/>
                </a:tc>
              </a:tr>
              <a:tr h="411480">
                <a:tc>
                  <a:txBody>
                    <a:bodyPr/>
                    <a:lstStyle/>
                    <a:p>
                      <a:pPr indent="0" marL="0">
                        <a:buNone/>
                      </a:pPr>
                      <a:r>
                        <a:rPr lang="en-US" sz="1100" b="1" dirty="0">
                          <a:solidFill>
                            <a:srgbClr val="7A849C"/>
                          </a:solidFill>
                          <a:latin typeface="Exo 2" pitchFamily="34" charset="0"/>
                          <a:ea typeface="Exo 2" pitchFamily="34" charset="-122"/>
                          <a:cs typeface="Exo 2" pitchFamily="34" charset="-120"/>
                        </a:rPr>
                        <a:t>Target CAC</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b="1" dirty="0">
                          <a:solidFill>
                            <a:srgbClr val="132257"/>
                          </a:solidFill>
                          <a:latin typeface="Exo 2" pitchFamily="34" charset="0"/>
                          <a:ea typeface="Exo 2" pitchFamily="34" charset="-122"/>
                          <a:cs typeface="Exo 2" pitchFamily="34" charset="-120"/>
                        </a:rPr>
                        <a:t>$167 Starter  |  $417 Emerging</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b="1" dirty="0">
                          <a:solidFill>
                            <a:srgbClr val="132257"/>
                          </a:solidFill>
                          <a:latin typeface="Exo 2" pitchFamily="34" charset="0"/>
                          <a:ea typeface="Exo 2" pitchFamily="34" charset="-122"/>
                          <a:cs typeface="Exo 2" pitchFamily="34" charset="-120"/>
                        </a:rPr>
                        <a:t>$882 Affluent</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Evidence</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409 sessions, 400 key events (GA4, 1-28 Sep)</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None yet; lead forms stay on LinkedIn</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Next read-out</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20 Oct: spend, cost per key event, accounts</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20 Oct: leads, cost per lead, meetings</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graphicFrame>
        <p:nvGraphicFramePr>
          <p:cNvPr id="16" name="Chart 0" descr=""/>
          <p:cNvGraphicFramePr/>
          <p:nvPr/>
        </p:nvGraphicFramePr>
        <p:xfrm>
          <a:off x="8229600" y="1508760"/>
          <a:ext cx="3401568" cy="4023360"/>
        </p:xfrm>
        <a:graphic xmlns:a="http://schemas.openxmlformats.org/drawingml/2006/main">
          <a:graphicData uri="http://schemas.openxmlformats.org/drawingml/2006/chart">
            <c:chart xmlns:c="http://schemas.openxmlformats.org/drawingml/2006/chart" r:id="rId4"/>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WEBSITE AND ANALYTICS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Google Ads brought 70% of September sessions; Arabic ads log more key events per session</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Do not cut the Arabic ads on engagement alone. Define the key event and cost each campaign first.</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Reports snapshot and Google Ads campaigns exports, 1-28 Sep 2026. Referral includes 7 Tag Assistant test sessions; 21 paid sessions sit outside both campaigns.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4</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Text 9"/>
          <p:cNvSpPr txBox="1"/>
          <p:nvPr/>
        </p:nvSpPr>
        <p:spPr>
          <a:xfrm>
            <a:off x="566928" y="1481328"/>
            <a:ext cx="1051560" cy="475488"/>
          </a:xfrm>
          <a:prstGeom prst="rect">
            <a:avLst/>
          </a:prstGeom>
          <a:noFill/>
          <a:ln/>
        </p:spPr>
        <p:txBody>
          <a:bodyPr wrap="square" lIns="0" tIns="0" rIns="0" bIns="0" rtlCol="0" anchor="ctr"/>
          <a:lstStyle/>
          <a:p>
            <a:pPr indent="0" marL="0">
              <a:buNone/>
            </a:pPr>
            <a:r>
              <a:rPr lang="en-US" sz="2600" b="1" dirty="0">
                <a:solidFill>
                  <a:srgbClr val="1BA97C"/>
                </a:solidFill>
                <a:latin typeface="Exo 2" pitchFamily="34" charset="0"/>
                <a:ea typeface="Exo 2" pitchFamily="34" charset="-122"/>
                <a:cs typeface="Exo 2" pitchFamily="34" charset="-120"/>
              </a:rPr>
              <a:t>587</a:t>
            </a:r>
            <a:endParaRPr lang="en-US" sz="2600" dirty="0"/>
          </a:p>
        </p:txBody>
      </p:sp>
      <p:sp>
        <p:nvSpPr>
          <p:cNvPr id="16" name="Text 10"/>
          <p:cNvSpPr txBox="1"/>
          <p:nvPr/>
        </p:nvSpPr>
        <p:spPr>
          <a:xfrm>
            <a:off x="1618488" y="1481328"/>
            <a:ext cx="1645920" cy="475488"/>
          </a:xfrm>
          <a:prstGeom prst="rect">
            <a:avLst/>
          </a:prstGeom>
          <a:noFill/>
          <a:ln/>
        </p:spPr>
        <p:txBody>
          <a:bodyPr wrap="square" lIns="0" tIns="0" rIns="0" bIns="0" rtlCol="0" anchor="ctr"/>
          <a:lstStyle/>
          <a:p>
            <a:pPr indent="0" marL="0">
              <a:buNone/>
            </a:pPr>
            <a:r>
              <a:rPr lang="en-US" sz="1000" dirty="0">
                <a:solidFill>
                  <a:srgbClr val="7A849C"/>
                </a:solidFill>
                <a:latin typeface="Exo 2" pitchFamily="34" charset="0"/>
                <a:ea typeface="Exo 2" pitchFamily="34" charset="-122"/>
                <a:cs typeface="Exo 2" pitchFamily="34" charset="-120"/>
              </a:rPr>
              <a:t>sessions, 1-28 Sep</a:t>
            </a:r>
            <a:endParaRPr lang="en-US" sz="1000" dirty="0"/>
          </a:p>
        </p:txBody>
      </p:sp>
      <p:sp>
        <p:nvSpPr>
          <p:cNvPr id="17" name="Text 11"/>
          <p:cNvSpPr txBox="1"/>
          <p:nvPr/>
        </p:nvSpPr>
        <p:spPr>
          <a:xfrm>
            <a:off x="3355848" y="1481328"/>
            <a:ext cx="1051560" cy="475488"/>
          </a:xfrm>
          <a:prstGeom prst="rect">
            <a:avLst/>
          </a:prstGeom>
          <a:noFill/>
          <a:ln/>
        </p:spPr>
        <p:txBody>
          <a:bodyPr wrap="square" lIns="0" tIns="0" rIns="0" bIns="0" rtlCol="0" anchor="ctr"/>
          <a:lstStyle/>
          <a:p>
            <a:pPr indent="0" marL="0">
              <a:buNone/>
            </a:pPr>
            <a:r>
              <a:rPr lang="en-US" sz="2600" b="1" dirty="0">
                <a:solidFill>
                  <a:srgbClr val="1BA97C"/>
                </a:solidFill>
                <a:latin typeface="Exo 2" pitchFamily="34" charset="0"/>
                <a:ea typeface="Exo 2" pitchFamily="34" charset="-122"/>
                <a:cs typeface="Exo 2" pitchFamily="34" charset="-120"/>
              </a:rPr>
              <a:t>542</a:t>
            </a:r>
            <a:endParaRPr lang="en-US" sz="2600" dirty="0"/>
          </a:p>
        </p:txBody>
      </p:sp>
      <p:sp>
        <p:nvSpPr>
          <p:cNvPr id="18" name="Text 12"/>
          <p:cNvSpPr txBox="1"/>
          <p:nvPr/>
        </p:nvSpPr>
        <p:spPr>
          <a:xfrm>
            <a:off x="4407408" y="1481328"/>
            <a:ext cx="1645920" cy="475488"/>
          </a:xfrm>
          <a:prstGeom prst="rect">
            <a:avLst/>
          </a:prstGeom>
          <a:noFill/>
          <a:ln/>
        </p:spPr>
        <p:txBody>
          <a:bodyPr wrap="square" lIns="0" tIns="0" rIns="0" bIns="0" rtlCol="0" anchor="ctr"/>
          <a:lstStyle/>
          <a:p>
            <a:pPr indent="0" marL="0">
              <a:buNone/>
            </a:pPr>
            <a:r>
              <a:rPr lang="en-US" sz="1000" dirty="0">
                <a:solidFill>
                  <a:srgbClr val="7A849C"/>
                </a:solidFill>
                <a:latin typeface="Exo 2" pitchFamily="34" charset="0"/>
                <a:ea typeface="Exo 2" pitchFamily="34" charset="-122"/>
                <a:cs typeface="Exo 2" pitchFamily="34" charset="-120"/>
              </a:rPr>
              <a:t>active users, 1-28 Sep</a:t>
            </a:r>
            <a:endParaRPr lang="en-US" sz="1000" dirty="0"/>
          </a:p>
        </p:txBody>
      </p:sp>
      <p:sp>
        <p:nvSpPr>
          <p:cNvPr id="19" name="Text 13"/>
          <p:cNvSpPr txBox="1"/>
          <p:nvPr/>
        </p:nvSpPr>
        <p:spPr>
          <a:xfrm>
            <a:off x="6144768" y="1481328"/>
            <a:ext cx="1051560" cy="475488"/>
          </a:xfrm>
          <a:prstGeom prst="rect">
            <a:avLst/>
          </a:prstGeom>
          <a:noFill/>
          <a:ln/>
        </p:spPr>
        <p:txBody>
          <a:bodyPr wrap="square" lIns="0" tIns="0" rIns="0" bIns="0" rtlCol="0" anchor="ctr"/>
          <a:lstStyle/>
          <a:p>
            <a:pPr indent="0" marL="0">
              <a:buNone/>
            </a:pPr>
            <a:r>
              <a:rPr lang="en-US" sz="2600" b="1" dirty="0">
                <a:solidFill>
                  <a:srgbClr val="1BA97C"/>
                </a:solidFill>
                <a:latin typeface="Exo 2" pitchFamily="34" charset="0"/>
                <a:ea typeface="Exo 2" pitchFamily="34" charset="-122"/>
                <a:cs typeface="Exo 2" pitchFamily="34" charset="-120"/>
              </a:rPr>
              <a:t>558</a:t>
            </a:r>
            <a:endParaRPr lang="en-US" sz="2600" dirty="0"/>
          </a:p>
        </p:txBody>
      </p:sp>
      <p:sp>
        <p:nvSpPr>
          <p:cNvPr id="20" name="Text 14"/>
          <p:cNvSpPr txBox="1"/>
          <p:nvPr/>
        </p:nvSpPr>
        <p:spPr>
          <a:xfrm>
            <a:off x="7196328" y="1481328"/>
            <a:ext cx="1645920" cy="475488"/>
          </a:xfrm>
          <a:prstGeom prst="rect">
            <a:avLst/>
          </a:prstGeom>
          <a:noFill/>
          <a:ln/>
        </p:spPr>
        <p:txBody>
          <a:bodyPr wrap="square" lIns="0" tIns="0" rIns="0" bIns="0" rtlCol="0" anchor="ctr"/>
          <a:lstStyle/>
          <a:p>
            <a:pPr indent="0" marL="0">
              <a:buNone/>
            </a:pPr>
            <a:r>
              <a:rPr lang="en-US" sz="1000" dirty="0">
                <a:solidFill>
                  <a:srgbClr val="7A849C"/>
                </a:solidFill>
                <a:latin typeface="Exo 2" pitchFamily="34" charset="0"/>
                <a:ea typeface="Exo 2" pitchFamily="34" charset="-122"/>
                <a:cs typeface="Exo 2" pitchFamily="34" charset="-120"/>
              </a:rPr>
              <a:t>new users, 1-28 Sep</a:t>
            </a:r>
            <a:endParaRPr lang="en-US" sz="1000" dirty="0"/>
          </a:p>
        </p:txBody>
      </p:sp>
      <p:sp>
        <p:nvSpPr>
          <p:cNvPr id="21" name="Text 15"/>
          <p:cNvSpPr txBox="1"/>
          <p:nvPr/>
        </p:nvSpPr>
        <p:spPr>
          <a:xfrm>
            <a:off x="8933688" y="1481328"/>
            <a:ext cx="1051560" cy="475488"/>
          </a:xfrm>
          <a:prstGeom prst="rect">
            <a:avLst/>
          </a:prstGeom>
          <a:noFill/>
          <a:ln/>
        </p:spPr>
        <p:txBody>
          <a:bodyPr wrap="square" lIns="0" tIns="0" rIns="0" bIns="0" rtlCol="0" anchor="ctr"/>
          <a:lstStyle/>
          <a:p>
            <a:pPr indent="0" marL="0">
              <a:buNone/>
            </a:pPr>
            <a:r>
              <a:rPr lang="en-US" sz="2600" b="1" dirty="0">
                <a:solidFill>
                  <a:srgbClr val="1BA97C"/>
                </a:solidFill>
                <a:latin typeface="Exo 2" pitchFamily="34" charset="0"/>
                <a:ea typeface="Exo 2" pitchFamily="34" charset="-122"/>
                <a:cs typeface="Exo 2" pitchFamily="34" charset="-120"/>
              </a:rPr>
              <a:t>23s</a:t>
            </a:r>
            <a:endParaRPr lang="en-US" sz="2600" dirty="0"/>
          </a:p>
        </p:txBody>
      </p:sp>
      <p:sp>
        <p:nvSpPr>
          <p:cNvPr id="22" name="Text 16"/>
          <p:cNvSpPr txBox="1"/>
          <p:nvPr/>
        </p:nvSpPr>
        <p:spPr>
          <a:xfrm>
            <a:off x="9985248" y="1481328"/>
            <a:ext cx="1645920" cy="475488"/>
          </a:xfrm>
          <a:prstGeom prst="rect">
            <a:avLst/>
          </a:prstGeom>
          <a:noFill/>
          <a:ln/>
        </p:spPr>
        <p:txBody>
          <a:bodyPr wrap="square" lIns="0" tIns="0" rIns="0" bIns="0" rtlCol="0" anchor="ctr"/>
          <a:lstStyle/>
          <a:p>
            <a:pPr indent="0" marL="0">
              <a:buNone/>
            </a:pPr>
            <a:r>
              <a:rPr lang="en-US" sz="1000" dirty="0">
                <a:solidFill>
                  <a:srgbClr val="7A849C"/>
                </a:solidFill>
                <a:latin typeface="Exo 2" pitchFamily="34" charset="0"/>
                <a:ea typeface="Exo 2" pitchFamily="34" charset="-122"/>
                <a:cs typeface="Exo 2" pitchFamily="34" charset="-120"/>
              </a:rPr>
              <a:t>avg engagement per active user, 1-28 Sep</a:t>
            </a:r>
            <a:endParaRPr lang="en-US" sz="1000" dirty="0"/>
          </a:p>
        </p:txBody>
      </p:sp>
      <p:sp>
        <p:nvSpPr>
          <p:cNvPr id="23" name="Shape 17"/>
          <p:cNvSpPr/>
          <p:nvPr/>
        </p:nvSpPr>
        <p:spPr>
          <a:xfrm>
            <a:off x="566928" y="2057400"/>
            <a:ext cx="11064240" cy="0"/>
          </a:xfrm>
          <a:prstGeom prst="line">
            <a:avLst/>
          </a:prstGeom>
          <a:noFill/>
          <a:ln w="9525">
            <a:solidFill>
              <a:srgbClr val="D9DFEA"/>
            </a:solidFill>
            <a:prstDash val="solid"/>
          </a:ln>
        </p:spPr>
      </p:sp>
      <p:graphicFrame>
        <p:nvGraphicFramePr>
          <p:cNvPr id="24" name="Chart 0" descr=""/>
          <p:cNvGraphicFramePr/>
          <p:nvPr/>
        </p:nvGraphicFramePr>
        <p:xfrm>
          <a:off x="566928" y="2176272"/>
          <a:ext cx="6035040" cy="3401568"/>
        </p:xfrm>
        <a:graphic xmlns:a="http://schemas.openxmlformats.org/drawingml/2006/main">
          <a:graphicData uri="http://schemas.openxmlformats.org/drawingml/2006/chart">
            <c:chart xmlns:c="http://schemas.openxmlformats.org/drawingml/2006/chart" r:id="rId4"/>
          </a:graphicData>
        </a:graphic>
      </p:graphicFrame>
      <p:graphicFrame>
        <p:nvGraphicFramePr>
          <p:cNvPr id="25" name="Chart 1" descr=""/>
          <p:cNvGraphicFramePr/>
          <p:nvPr/>
        </p:nvGraphicFramePr>
        <p:xfrm>
          <a:off x="6858000" y="2176272"/>
          <a:ext cx="4773168" cy="3401568"/>
        </p:xfrm>
        <a:graphic xmlns:a="http://schemas.openxmlformats.org/drawingml/2006/main">
          <a:graphicData uri="http://schemas.openxmlformats.org/drawingml/2006/chart">
            <c:chart xmlns:c="http://schemas.openxmlformats.org/drawingml/2006/chart" r:id="rId5"/>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FROM TRAFFIC TO ACCOUNTS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After the paid launch, downloads rose (+36 in six days) but onboarding did not (+3)</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KYC and onboarding completion is the constraint to fix before spend is scaled.</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eMYAA Daily Performance Dashboards, all-time cumulative figures on report dates 1, 8, 14, 21 and 27 Sep 2026. Periods are 6 to 7 days.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5</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15" name="Chart 0" descr=""/>
          <p:cNvGraphicFramePr/>
          <p:nvPr/>
        </p:nvGraphicFramePr>
        <p:xfrm>
          <a:off x="566928" y="1508760"/>
          <a:ext cx="7223760" cy="4069080"/>
        </p:xfrm>
        <a:graphic xmlns:a="http://schemas.openxmlformats.org/drawingml/2006/main">
          <a:graphicData uri="http://schemas.openxmlformats.org/drawingml/2006/chart">
            <c:chart xmlns:c="http://schemas.openxmlformats.org/drawingml/2006/chart" r:id="rId4"/>
          </a:graphicData>
        </a:graphic>
      </p:graphicFrame>
      <p:sp>
        <p:nvSpPr>
          <p:cNvPr id="16" name="Shape 9"/>
          <p:cNvSpPr/>
          <p:nvPr/>
        </p:nvSpPr>
        <p:spPr>
          <a:xfrm>
            <a:off x="8183880" y="1600200"/>
            <a:ext cx="1618488" cy="1783080"/>
          </a:xfrm>
          <a:prstGeom prst="rect">
            <a:avLst/>
          </a:prstGeom>
          <a:solidFill>
            <a:srgbClr val="FFFFFF"/>
          </a:solidFill>
          <a:ln w="9525">
            <a:solidFill>
              <a:srgbClr val="D9DFEA"/>
            </a:solidFill>
            <a:prstDash val="solid"/>
          </a:ln>
        </p:spPr>
      </p:sp>
      <p:sp>
        <p:nvSpPr>
          <p:cNvPr id="17" name="Shape 10"/>
          <p:cNvSpPr/>
          <p:nvPr/>
        </p:nvSpPr>
        <p:spPr>
          <a:xfrm>
            <a:off x="8183880" y="1600200"/>
            <a:ext cx="1618488" cy="32004"/>
          </a:xfrm>
          <a:prstGeom prst="rect">
            <a:avLst/>
          </a:prstGeom>
          <a:solidFill>
            <a:srgbClr val="D4AF37"/>
          </a:solidFill>
          <a:ln w="12700">
            <a:solidFill>
              <a:srgbClr val="D4AF37"/>
            </a:solidFill>
            <a:prstDash val="solid"/>
          </a:ln>
        </p:spPr>
      </p:sp>
      <p:sp>
        <p:nvSpPr>
          <p:cNvPr id="18" name="Text 11"/>
          <p:cNvSpPr txBox="1"/>
          <p:nvPr/>
        </p:nvSpPr>
        <p:spPr>
          <a:xfrm>
            <a:off x="8348472" y="1856232"/>
            <a:ext cx="1325880" cy="566928"/>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473</a:t>
            </a:r>
            <a:endParaRPr lang="en-US" sz="2800" dirty="0"/>
          </a:p>
        </p:txBody>
      </p:sp>
      <p:sp>
        <p:nvSpPr>
          <p:cNvPr id="19" name="Text 12"/>
          <p:cNvSpPr txBox="1"/>
          <p:nvPr/>
        </p:nvSpPr>
        <p:spPr>
          <a:xfrm>
            <a:off x="8348472" y="2468880"/>
            <a:ext cx="1325880" cy="41148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app downloads</a:t>
            </a:r>
            <a:endParaRPr lang="en-US" sz="1100" dirty="0"/>
          </a:p>
        </p:txBody>
      </p:sp>
      <p:sp>
        <p:nvSpPr>
          <p:cNvPr id="20" name="Text 13"/>
          <p:cNvSpPr txBox="1"/>
          <p:nvPr/>
        </p:nvSpPr>
        <p:spPr>
          <a:xfrm>
            <a:off x="8348472" y="2880360"/>
            <a:ext cx="1325880" cy="41148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all time, 27 Sep</a:t>
            </a:r>
            <a:endParaRPr lang="en-US" sz="950" dirty="0"/>
          </a:p>
        </p:txBody>
      </p:sp>
      <p:sp>
        <p:nvSpPr>
          <p:cNvPr id="21" name="Shape 14"/>
          <p:cNvSpPr/>
          <p:nvPr/>
        </p:nvSpPr>
        <p:spPr>
          <a:xfrm>
            <a:off x="9921240" y="1600200"/>
            <a:ext cx="1618488" cy="1783080"/>
          </a:xfrm>
          <a:prstGeom prst="rect">
            <a:avLst/>
          </a:prstGeom>
          <a:solidFill>
            <a:srgbClr val="FFFFFF"/>
          </a:solidFill>
          <a:ln w="9525">
            <a:solidFill>
              <a:srgbClr val="D9DFEA"/>
            </a:solidFill>
            <a:prstDash val="solid"/>
          </a:ln>
        </p:spPr>
      </p:sp>
      <p:sp>
        <p:nvSpPr>
          <p:cNvPr id="22" name="Shape 15"/>
          <p:cNvSpPr/>
          <p:nvPr/>
        </p:nvSpPr>
        <p:spPr>
          <a:xfrm>
            <a:off x="9921240" y="1600200"/>
            <a:ext cx="1618488" cy="32004"/>
          </a:xfrm>
          <a:prstGeom prst="rect">
            <a:avLst/>
          </a:prstGeom>
          <a:solidFill>
            <a:srgbClr val="D4AF37"/>
          </a:solidFill>
          <a:ln w="12700">
            <a:solidFill>
              <a:srgbClr val="D4AF37"/>
            </a:solidFill>
            <a:prstDash val="solid"/>
          </a:ln>
        </p:spPr>
      </p:sp>
      <p:sp>
        <p:nvSpPr>
          <p:cNvPr id="23" name="Text 16"/>
          <p:cNvSpPr txBox="1"/>
          <p:nvPr/>
        </p:nvSpPr>
        <p:spPr>
          <a:xfrm>
            <a:off x="10085832" y="1856232"/>
            <a:ext cx="1325880" cy="566928"/>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60</a:t>
            </a:r>
            <a:endParaRPr lang="en-US" sz="2800" dirty="0"/>
          </a:p>
        </p:txBody>
      </p:sp>
      <p:sp>
        <p:nvSpPr>
          <p:cNvPr id="24" name="Text 17"/>
          <p:cNvSpPr txBox="1"/>
          <p:nvPr/>
        </p:nvSpPr>
        <p:spPr>
          <a:xfrm>
            <a:off x="10085832" y="2468880"/>
            <a:ext cx="1325880" cy="41148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users onboarded</a:t>
            </a:r>
            <a:endParaRPr lang="en-US" sz="1100" dirty="0"/>
          </a:p>
        </p:txBody>
      </p:sp>
      <p:sp>
        <p:nvSpPr>
          <p:cNvPr id="25" name="Text 18"/>
          <p:cNvSpPr txBox="1"/>
          <p:nvPr/>
        </p:nvSpPr>
        <p:spPr>
          <a:xfrm>
            <a:off x="10085832" y="2880360"/>
            <a:ext cx="1325880" cy="41148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all time, 27 Sep</a:t>
            </a:r>
            <a:endParaRPr lang="en-US" sz="950" dirty="0"/>
          </a:p>
        </p:txBody>
      </p:sp>
      <p:sp>
        <p:nvSpPr>
          <p:cNvPr id="26" name="Shape 19"/>
          <p:cNvSpPr/>
          <p:nvPr/>
        </p:nvSpPr>
        <p:spPr>
          <a:xfrm>
            <a:off x="8183880" y="3566160"/>
            <a:ext cx="1618488" cy="1783080"/>
          </a:xfrm>
          <a:prstGeom prst="rect">
            <a:avLst/>
          </a:prstGeom>
          <a:solidFill>
            <a:srgbClr val="FFFFFF"/>
          </a:solidFill>
          <a:ln w="9525">
            <a:solidFill>
              <a:srgbClr val="D9DFEA"/>
            </a:solidFill>
            <a:prstDash val="solid"/>
          </a:ln>
        </p:spPr>
      </p:sp>
      <p:sp>
        <p:nvSpPr>
          <p:cNvPr id="27" name="Shape 20"/>
          <p:cNvSpPr/>
          <p:nvPr/>
        </p:nvSpPr>
        <p:spPr>
          <a:xfrm>
            <a:off x="8183880" y="3566160"/>
            <a:ext cx="1618488" cy="32004"/>
          </a:xfrm>
          <a:prstGeom prst="rect">
            <a:avLst/>
          </a:prstGeom>
          <a:solidFill>
            <a:srgbClr val="1BA97C"/>
          </a:solidFill>
          <a:ln w="12700">
            <a:solidFill>
              <a:srgbClr val="1BA97C"/>
            </a:solidFill>
            <a:prstDash val="solid"/>
          </a:ln>
        </p:spPr>
      </p:sp>
      <p:sp>
        <p:nvSpPr>
          <p:cNvPr id="28" name="Text 21"/>
          <p:cNvSpPr txBox="1"/>
          <p:nvPr/>
        </p:nvSpPr>
        <p:spPr>
          <a:xfrm>
            <a:off x="8348472" y="3822192"/>
            <a:ext cx="1325880" cy="566928"/>
          </a:xfrm>
          <a:prstGeom prst="rect">
            <a:avLst/>
          </a:prstGeom>
          <a:noFill/>
          <a:ln/>
        </p:spPr>
        <p:txBody>
          <a:bodyPr wrap="square" lIns="0" tIns="0" rIns="0" bIns="0" rtlCol="0" anchor="t"/>
          <a:lstStyle/>
          <a:p>
            <a:pPr indent="0" marL="0">
              <a:buNone/>
            </a:pPr>
            <a:r>
              <a:rPr lang="en-US" sz="2800" b="1" dirty="0">
                <a:solidFill>
                  <a:srgbClr val="1BA97C"/>
                </a:solidFill>
                <a:latin typeface="Exo 2" pitchFamily="34" charset="0"/>
                <a:ea typeface="Exo 2" pitchFamily="34" charset="-122"/>
                <a:cs typeface="Exo 2" pitchFamily="34" charset="-120"/>
              </a:rPr>
              <a:t>15</a:t>
            </a:r>
            <a:endParaRPr lang="en-US" sz="2800" dirty="0"/>
          </a:p>
        </p:txBody>
      </p:sp>
      <p:sp>
        <p:nvSpPr>
          <p:cNvPr id="29" name="Text 22"/>
          <p:cNvSpPr txBox="1"/>
          <p:nvPr/>
        </p:nvSpPr>
        <p:spPr>
          <a:xfrm>
            <a:off x="8348472" y="4434840"/>
            <a:ext cx="1325880" cy="41148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funded accounts</a:t>
            </a:r>
            <a:endParaRPr lang="en-US" sz="1100" dirty="0"/>
          </a:p>
        </p:txBody>
      </p:sp>
      <p:sp>
        <p:nvSpPr>
          <p:cNvPr id="30" name="Text 23"/>
          <p:cNvSpPr txBox="1"/>
          <p:nvPr/>
        </p:nvSpPr>
        <p:spPr>
          <a:xfrm>
            <a:off x="8348472" y="4846320"/>
            <a:ext cx="1325880" cy="41148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up from 13 on 21 Sep</a:t>
            </a:r>
            <a:endParaRPr lang="en-US" sz="950" dirty="0"/>
          </a:p>
        </p:txBody>
      </p:sp>
      <p:sp>
        <p:nvSpPr>
          <p:cNvPr id="31" name="Shape 24"/>
          <p:cNvSpPr/>
          <p:nvPr/>
        </p:nvSpPr>
        <p:spPr>
          <a:xfrm>
            <a:off x="9921240" y="3566160"/>
            <a:ext cx="1618488" cy="1783080"/>
          </a:xfrm>
          <a:prstGeom prst="rect">
            <a:avLst/>
          </a:prstGeom>
          <a:solidFill>
            <a:srgbClr val="FFFFFF"/>
          </a:solidFill>
          <a:ln w="9525">
            <a:solidFill>
              <a:srgbClr val="D9DFEA"/>
            </a:solidFill>
            <a:prstDash val="solid"/>
          </a:ln>
        </p:spPr>
      </p:sp>
      <p:sp>
        <p:nvSpPr>
          <p:cNvPr id="32" name="Shape 25"/>
          <p:cNvSpPr/>
          <p:nvPr/>
        </p:nvSpPr>
        <p:spPr>
          <a:xfrm>
            <a:off x="9921240" y="3566160"/>
            <a:ext cx="1618488" cy="32004"/>
          </a:xfrm>
          <a:prstGeom prst="rect">
            <a:avLst/>
          </a:prstGeom>
          <a:solidFill>
            <a:srgbClr val="D4AF37"/>
          </a:solidFill>
          <a:ln w="12700">
            <a:solidFill>
              <a:srgbClr val="D4AF37"/>
            </a:solidFill>
            <a:prstDash val="solid"/>
          </a:ln>
        </p:spPr>
      </p:sp>
      <p:sp>
        <p:nvSpPr>
          <p:cNvPr id="33" name="Text 26"/>
          <p:cNvSpPr txBox="1"/>
          <p:nvPr/>
        </p:nvSpPr>
        <p:spPr>
          <a:xfrm>
            <a:off x="10085832" y="3822192"/>
            <a:ext cx="1325880" cy="566928"/>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54</a:t>
            </a:r>
            <a:endParaRPr lang="en-US" sz="2800" dirty="0"/>
          </a:p>
        </p:txBody>
      </p:sp>
      <p:sp>
        <p:nvSpPr>
          <p:cNvPr id="34" name="Text 27"/>
          <p:cNvSpPr txBox="1"/>
          <p:nvPr/>
        </p:nvSpPr>
        <p:spPr>
          <a:xfrm>
            <a:off x="10085832" y="4434840"/>
            <a:ext cx="1325880" cy="41148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trades</a:t>
            </a:r>
            <a:endParaRPr lang="en-US" sz="1100" dirty="0"/>
          </a:p>
        </p:txBody>
      </p:sp>
      <p:sp>
        <p:nvSpPr>
          <p:cNvPr id="35" name="Text 28"/>
          <p:cNvSpPr txBox="1"/>
          <p:nvPr/>
        </p:nvSpPr>
        <p:spPr>
          <a:xfrm>
            <a:off x="10085832" y="4846320"/>
            <a:ext cx="1325880" cy="41148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all time, 27 Sep</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CAMPAIGN PERFORMANCE</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Mention &amp; Win ($500, monthly) and the $5,000 Prize Campaign are separate campaigns</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Mention &amp; Win needs sign-up results per round. The $5,000 campaign needs its T&amp;C sign-off on file.</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Instagram grid screenshot; 24F campaign briefing; $5,000 campaign approval checklist (20 Jul 2026); raffle T&amp;Cs; Board update 17 Sep 2026 (budget).</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6</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Text 9"/>
          <p:cNvSpPr txBox="1"/>
          <p:nvPr/>
        </p:nvSpPr>
        <p:spPr>
          <a:xfrm>
            <a:off x="566928" y="1508760"/>
            <a:ext cx="5394960" cy="365760"/>
          </a:xfrm>
          <a:prstGeom prst="rect">
            <a:avLst/>
          </a:prstGeom>
          <a:noFill/>
          <a:ln/>
        </p:spPr>
        <p:txBody>
          <a:bodyPr wrap="square" lIns="0" tIns="0" rIns="0" bIns="0" rtlCol="0" anchor="ctr"/>
          <a:lstStyle/>
          <a:p>
            <a:pPr indent="0" marL="0">
              <a:buNone/>
            </a:pPr>
            <a:r>
              <a:rPr lang="en-US" sz="1600" b="1" dirty="0">
                <a:solidFill>
                  <a:srgbClr val="132257"/>
                </a:solidFill>
                <a:latin typeface="Exo 2" pitchFamily="34" charset="0"/>
                <a:ea typeface="Exo 2" pitchFamily="34" charset="-122"/>
                <a:cs typeface="Exo 2" pitchFamily="34" charset="-120"/>
              </a:rPr>
              <a:t>Mention &amp; Win   </a:t>
            </a:r>
            <a:pPr indent="0" marL="0">
              <a:buNone/>
            </a:pPr>
            <a:r>
              <a:rPr lang="en-US" sz="1100" b="1" dirty="0">
                <a:solidFill>
                  <a:srgbClr val="1BA97C"/>
                </a:solidFill>
                <a:latin typeface="Exo 2" pitchFamily="34" charset="0"/>
                <a:ea typeface="Exo 2" pitchFamily="34" charset="-122"/>
                <a:cs typeface="Exo 2" pitchFamily="34" charset="-120"/>
              </a:rPr>
              <a:t>● Live, monthly</a:t>
            </a:r>
            <a:endParaRPr lang="en-US" sz="1600" dirty="0"/>
          </a:p>
        </p:txBody>
      </p:sp>
      <p:pic>
        <p:nvPicPr>
          <p:cNvPr id="16" name="Image 3" descr="/home/user/HatemIsa_202508993_IT9002_NLP_Project/emyaa-ceo-deck/working/charts/tile_mw_mention.png">    </p:cNvPr>
          <p:cNvPicPr>
            <a:picLocks noChangeAspect="1"/>
          </p:cNvPicPr>
          <p:nvPr/>
        </p:nvPicPr>
        <p:blipFill>
          <a:blip r:embed="rId4"/>
          <a:stretch>
            <a:fillRect/>
          </a:stretch>
        </p:blipFill>
        <p:spPr>
          <a:xfrm>
            <a:off x="566928" y="1965960"/>
            <a:ext cx="1188720" cy="1856232"/>
          </a:xfrm>
          <a:prstGeom prst="rect">
            <a:avLst/>
          </a:prstGeom>
        </p:spPr>
      </p:pic>
      <p:pic>
        <p:nvPicPr>
          <p:cNvPr id="17" name="Image 4" descr="/home/user/HatemIsa_202508993_IT9002_NLP_Project/emyaa-ceo-deck/working/charts/tile_mw_account.png">    </p:cNvPr>
          <p:cNvPicPr>
            <a:picLocks noChangeAspect="1"/>
          </p:cNvPicPr>
          <p:nvPr/>
        </p:nvPicPr>
        <p:blipFill>
          <a:blip r:embed="rId5"/>
          <a:stretch>
            <a:fillRect/>
          </a:stretch>
        </p:blipFill>
        <p:spPr>
          <a:xfrm>
            <a:off x="1892808" y="1965960"/>
            <a:ext cx="1188720" cy="1856232"/>
          </a:xfrm>
          <a:prstGeom prst="rect">
            <a:avLst/>
          </a:prstGeom>
        </p:spPr>
      </p:pic>
      <p:sp>
        <p:nvSpPr>
          <p:cNvPr id="18" name="Text 10"/>
          <p:cNvSpPr txBox="1"/>
          <p:nvPr/>
        </p:nvSpPr>
        <p:spPr>
          <a:xfrm>
            <a:off x="566928" y="3858768"/>
            <a:ext cx="1188720" cy="256032"/>
          </a:xfrm>
          <a:prstGeom prst="rect">
            <a:avLst/>
          </a:prstGeom>
          <a:noFill/>
          <a:ln/>
        </p:spPr>
        <p:txBody>
          <a:bodyPr wrap="square" lIns="0" tIns="0" rIns="0" bIns="0" rtlCol="0" anchor="t"/>
          <a:lstStyle/>
          <a:p>
            <a:pPr algn="ctr" indent="0" marL="0">
              <a:buNone/>
            </a:pPr>
            <a:r>
              <a:rPr lang="en-US" sz="1050" b="1" dirty="0">
                <a:solidFill>
                  <a:srgbClr val="132257"/>
                </a:solidFill>
                <a:latin typeface="Exo 2" pitchFamily="34" charset="0"/>
                <a:ea typeface="Exo 2" pitchFamily="34" charset="-122"/>
                <a:cs typeface="Exo 2" pitchFamily="34" charset="-120"/>
              </a:rPr>
              <a:t>186K views</a:t>
            </a:r>
            <a:endParaRPr lang="en-US" sz="1050" dirty="0"/>
          </a:p>
        </p:txBody>
      </p:sp>
      <p:sp>
        <p:nvSpPr>
          <p:cNvPr id="19" name="Text 11"/>
          <p:cNvSpPr txBox="1"/>
          <p:nvPr/>
        </p:nvSpPr>
        <p:spPr>
          <a:xfrm>
            <a:off x="1892808" y="3858768"/>
            <a:ext cx="1188720" cy="256032"/>
          </a:xfrm>
          <a:prstGeom prst="rect">
            <a:avLst/>
          </a:prstGeom>
          <a:noFill/>
          <a:ln/>
        </p:spPr>
        <p:txBody>
          <a:bodyPr wrap="square" lIns="0" tIns="0" rIns="0" bIns="0" rtlCol="0" anchor="t"/>
          <a:lstStyle/>
          <a:p>
            <a:pPr algn="ctr" indent="0" marL="0">
              <a:buNone/>
            </a:pPr>
            <a:r>
              <a:rPr lang="en-US" sz="1050" b="1" dirty="0">
                <a:solidFill>
                  <a:srgbClr val="132257"/>
                </a:solidFill>
                <a:latin typeface="Exo 2" pitchFamily="34" charset="0"/>
                <a:ea typeface="Exo 2" pitchFamily="34" charset="-122"/>
                <a:cs typeface="Exo 2" pitchFamily="34" charset="-120"/>
              </a:rPr>
              <a:t>26.3K views</a:t>
            </a:r>
            <a:endParaRPr lang="en-US" sz="1050" dirty="0"/>
          </a:p>
        </p:txBody>
      </p:sp>
      <p:sp>
        <p:nvSpPr>
          <p:cNvPr id="20" name="Text 12"/>
          <p:cNvSpPr txBox="1"/>
          <p:nvPr/>
        </p:nvSpPr>
        <p:spPr>
          <a:xfrm>
            <a:off x="3310128" y="19659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Round</a:t>
            </a:r>
            <a:endParaRPr lang="en-US" sz="1050" dirty="0"/>
          </a:p>
        </p:txBody>
      </p:sp>
      <p:sp>
        <p:nvSpPr>
          <p:cNvPr id="21" name="Text 13"/>
          <p:cNvSpPr txBox="1"/>
          <p:nvPr/>
        </p:nvSpPr>
        <p:spPr>
          <a:xfrm>
            <a:off x="4224528" y="19659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23 Sep to 20 Oct (per team)</a:t>
            </a:r>
            <a:endParaRPr lang="en-US" sz="1050" dirty="0"/>
          </a:p>
        </p:txBody>
      </p:sp>
      <p:sp>
        <p:nvSpPr>
          <p:cNvPr id="22" name="Text 14"/>
          <p:cNvSpPr txBox="1"/>
          <p:nvPr/>
        </p:nvSpPr>
        <p:spPr>
          <a:xfrm>
            <a:off x="3310128" y="24231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Mechanic</a:t>
            </a:r>
            <a:endParaRPr lang="en-US" sz="1050" dirty="0"/>
          </a:p>
        </p:txBody>
      </p:sp>
      <p:sp>
        <p:nvSpPr>
          <p:cNvPr id="23" name="Text 15"/>
          <p:cNvSpPr txBox="1"/>
          <p:nvPr/>
        </p:nvSpPr>
        <p:spPr>
          <a:xfrm>
            <a:off x="4224528" y="24231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Follow, mention, open an account</a:t>
            </a:r>
            <a:endParaRPr lang="en-US" sz="1050" dirty="0"/>
          </a:p>
        </p:txBody>
      </p:sp>
      <p:sp>
        <p:nvSpPr>
          <p:cNvPr id="24" name="Text 16"/>
          <p:cNvSpPr txBox="1"/>
          <p:nvPr/>
        </p:nvSpPr>
        <p:spPr>
          <a:xfrm>
            <a:off x="3310128" y="28803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Markets</a:t>
            </a:r>
            <a:endParaRPr lang="en-US" sz="1050" dirty="0"/>
          </a:p>
        </p:txBody>
      </p:sp>
      <p:sp>
        <p:nvSpPr>
          <p:cNvPr id="25" name="Text 17"/>
          <p:cNvSpPr txBox="1"/>
          <p:nvPr/>
        </p:nvSpPr>
        <p:spPr>
          <a:xfrm>
            <a:off x="4224528" y="28803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All six GCC countries</a:t>
            </a:r>
            <a:endParaRPr lang="en-US" sz="1050" dirty="0"/>
          </a:p>
        </p:txBody>
      </p:sp>
      <p:sp>
        <p:nvSpPr>
          <p:cNvPr id="26" name="Text 18"/>
          <p:cNvSpPr txBox="1"/>
          <p:nvPr/>
        </p:nvSpPr>
        <p:spPr>
          <a:xfrm>
            <a:off x="3310128" y="33375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Budget</a:t>
            </a:r>
            <a:endParaRPr lang="en-US" sz="1050" dirty="0"/>
          </a:p>
        </p:txBody>
      </p:sp>
      <p:sp>
        <p:nvSpPr>
          <p:cNvPr id="27" name="Text 19"/>
          <p:cNvSpPr txBox="1"/>
          <p:nvPr/>
        </p:nvSpPr>
        <p:spPr>
          <a:xfrm>
            <a:off x="4224528" y="33375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$3,200 prizes and ads, Sep-Dec</a:t>
            </a:r>
            <a:endParaRPr lang="en-US" sz="1050" dirty="0"/>
          </a:p>
        </p:txBody>
      </p:sp>
      <p:sp>
        <p:nvSpPr>
          <p:cNvPr id="28" name="Text 20"/>
          <p:cNvSpPr txBox="1"/>
          <p:nvPr/>
        </p:nvSpPr>
        <p:spPr>
          <a:xfrm>
            <a:off x="3310128" y="37947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Results</a:t>
            </a:r>
            <a:endParaRPr lang="en-US" sz="1050" dirty="0"/>
          </a:p>
        </p:txBody>
      </p:sp>
      <p:sp>
        <p:nvSpPr>
          <p:cNvPr id="29" name="Text 21"/>
          <p:cNvSpPr txBox="1"/>
          <p:nvPr/>
        </p:nvSpPr>
        <p:spPr>
          <a:xfrm>
            <a:off x="4224528" y="37947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Entries and accounts due after 20 Oct</a:t>
            </a:r>
            <a:endParaRPr lang="en-US" sz="1050" dirty="0"/>
          </a:p>
        </p:txBody>
      </p:sp>
      <p:sp>
        <p:nvSpPr>
          <p:cNvPr id="30" name="Text 22"/>
          <p:cNvSpPr txBox="1"/>
          <p:nvPr/>
        </p:nvSpPr>
        <p:spPr>
          <a:xfrm>
            <a:off x="566928" y="4206240"/>
            <a:ext cx="2743200" cy="274320"/>
          </a:xfrm>
          <a:prstGeom prst="rect">
            <a:avLst/>
          </a:prstGeom>
          <a:noFill/>
          <a:ln/>
        </p:spPr>
        <p:txBody>
          <a:bodyPr wrap="square" lIns="0" tIns="0" rIns="0" bIns="0" rtlCol="0" anchor="t"/>
          <a:lstStyle/>
          <a:p>
            <a:pPr indent="0" marL="0">
              <a:buNone/>
            </a:pPr>
            <a:r>
              <a:rPr lang="en-US" sz="1000" i="1" dirty="0">
                <a:solidFill>
                  <a:srgbClr val="7A849C"/>
                </a:solidFill>
                <a:latin typeface="Exo 2" pitchFamily="34" charset="0"/>
                <a:ea typeface="Exo 2" pitchFamily="34" charset="-122"/>
                <a:cs typeface="Exo 2" pitchFamily="34" charset="-120"/>
              </a:rPr>
              <a:t>Launch reel: 1,129 likes (reported)</a:t>
            </a:r>
            <a:endParaRPr lang="en-US" sz="1000" dirty="0"/>
          </a:p>
        </p:txBody>
      </p:sp>
      <p:sp>
        <p:nvSpPr>
          <p:cNvPr id="31" name="Shape 23"/>
          <p:cNvSpPr/>
          <p:nvPr/>
        </p:nvSpPr>
        <p:spPr>
          <a:xfrm>
            <a:off x="6263640" y="1554480"/>
            <a:ext cx="0" cy="3977640"/>
          </a:xfrm>
          <a:prstGeom prst="line">
            <a:avLst/>
          </a:prstGeom>
          <a:noFill/>
          <a:ln w="12700">
            <a:solidFill>
              <a:srgbClr val="D9DFEA"/>
            </a:solidFill>
            <a:prstDash val="solid"/>
          </a:ln>
        </p:spPr>
      </p:sp>
      <p:sp>
        <p:nvSpPr>
          <p:cNvPr id="32" name="Text 24"/>
          <p:cNvSpPr txBox="1"/>
          <p:nvPr/>
        </p:nvSpPr>
        <p:spPr>
          <a:xfrm>
            <a:off x="6492240" y="1508760"/>
            <a:ext cx="5138928" cy="365760"/>
          </a:xfrm>
          <a:prstGeom prst="rect">
            <a:avLst/>
          </a:prstGeom>
          <a:noFill/>
          <a:ln/>
        </p:spPr>
        <p:txBody>
          <a:bodyPr wrap="square" lIns="0" tIns="0" rIns="0" bIns="0" rtlCol="0" anchor="ctr"/>
          <a:lstStyle/>
          <a:p>
            <a:pPr indent="0" marL="0">
              <a:buNone/>
            </a:pPr>
            <a:r>
              <a:rPr lang="en-US" sz="1600" b="1" dirty="0">
                <a:solidFill>
                  <a:srgbClr val="132257"/>
                </a:solidFill>
                <a:latin typeface="Exo 2" pitchFamily="34" charset="0"/>
                <a:ea typeface="Exo 2" pitchFamily="34" charset="-122"/>
                <a:cs typeface="Exo 2" pitchFamily="34" charset="-120"/>
              </a:rPr>
              <a:t>$5,000 Prize Campaign   </a:t>
            </a:r>
            <a:pPr indent="0" marL="0">
              <a:buNone/>
            </a:pPr>
            <a:r>
              <a:rPr lang="en-US" sz="1100" b="1" dirty="0">
                <a:solidFill>
                  <a:srgbClr val="9A7B1F"/>
                </a:solidFill>
                <a:latin typeface="Exo 2" pitchFamily="34" charset="0"/>
                <a:ea typeface="Exo 2" pitchFamily="34" charset="-122"/>
                <a:cs typeface="Exo 2" pitchFamily="34" charset="-120"/>
              </a:rPr>
              <a:t>● Pages live; T&amp;C sign-off not on file</a:t>
            </a:r>
            <a:endParaRPr lang="en-US" sz="1600" dirty="0"/>
          </a:p>
        </p:txBody>
      </p:sp>
      <p:sp>
        <p:nvSpPr>
          <p:cNvPr id="33" name="Text 25"/>
          <p:cNvSpPr txBox="1"/>
          <p:nvPr/>
        </p:nvSpPr>
        <p:spPr>
          <a:xfrm>
            <a:off x="6492240" y="1965960"/>
            <a:ext cx="1005840" cy="310896"/>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Dates</a:t>
            </a:r>
            <a:endParaRPr lang="en-US" sz="1050" dirty="0"/>
          </a:p>
        </p:txBody>
      </p:sp>
      <p:sp>
        <p:nvSpPr>
          <p:cNvPr id="34" name="Text 26"/>
          <p:cNvSpPr txBox="1"/>
          <p:nvPr/>
        </p:nvSpPr>
        <p:spPr>
          <a:xfrm>
            <a:off x="7498080" y="1965960"/>
            <a:ext cx="4114800" cy="310896"/>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1 Aug to 31 Dec 2026; draw 10 Jan 2027</a:t>
            </a:r>
            <a:endParaRPr lang="en-US" sz="1050" dirty="0"/>
          </a:p>
        </p:txBody>
      </p:sp>
      <p:sp>
        <p:nvSpPr>
          <p:cNvPr id="35" name="Text 27"/>
          <p:cNvSpPr txBox="1"/>
          <p:nvPr/>
        </p:nvSpPr>
        <p:spPr>
          <a:xfrm>
            <a:off x="6492240" y="2295144"/>
            <a:ext cx="1005840" cy="310896"/>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Mechanic</a:t>
            </a:r>
            <a:endParaRPr lang="en-US" sz="1050" dirty="0"/>
          </a:p>
        </p:txBody>
      </p:sp>
      <p:sp>
        <p:nvSpPr>
          <p:cNvPr id="36" name="Text 28"/>
          <p:cNvSpPr txBox="1"/>
          <p:nvPr/>
        </p:nvSpPr>
        <p:spPr>
          <a:xfrm>
            <a:off x="7498080" y="2295144"/>
            <a:ext cx="4114800" cy="310896"/>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1 entry per $500 traded; one winner</a:t>
            </a:r>
            <a:endParaRPr lang="en-US" sz="1050" dirty="0"/>
          </a:p>
        </p:txBody>
      </p:sp>
      <p:sp>
        <p:nvSpPr>
          <p:cNvPr id="37" name="Text 29"/>
          <p:cNvSpPr txBox="1"/>
          <p:nvPr/>
        </p:nvSpPr>
        <p:spPr>
          <a:xfrm>
            <a:off x="6492240" y="2624328"/>
            <a:ext cx="1005840" cy="310896"/>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Eligibility</a:t>
            </a:r>
            <a:endParaRPr lang="en-US" sz="1050" dirty="0"/>
          </a:p>
        </p:txBody>
      </p:sp>
      <p:sp>
        <p:nvSpPr>
          <p:cNvPr id="38" name="Text 30"/>
          <p:cNvSpPr txBox="1"/>
          <p:nvPr/>
        </p:nvSpPr>
        <p:spPr>
          <a:xfrm>
            <a:off x="7498080" y="2624328"/>
            <a:ext cx="4114800" cy="310896"/>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Fully verified, active eMYAA account</a:t>
            </a:r>
            <a:endParaRPr lang="en-US" sz="1050" dirty="0"/>
          </a:p>
        </p:txBody>
      </p:sp>
      <p:graphicFrame>
        <p:nvGraphicFramePr>
          <p:cNvPr id="39" name="Chart 0" descr=""/>
          <p:cNvGraphicFramePr/>
          <p:nvPr/>
        </p:nvGraphicFramePr>
        <p:xfrm>
          <a:off x="6446520" y="2971800"/>
          <a:ext cx="5184648" cy="2606040"/>
        </p:xfrm>
        <a:graphic xmlns:a="http://schemas.openxmlformats.org/drawingml/2006/main">
          <a:graphicData uri="http://schemas.openxmlformats.org/drawingml/2006/chart">
            <c:chart xmlns:c="http://schemas.openxmlformats.org/drawingml/2006/chart" r:id="rId6"/>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CONTENT PRODUCTION</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One creator a month is on plan: three videos posted, Manal Talal posts 22 October</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On plan through November. Abdulelah Al Harbi still has no view count.</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Instagram grid screenshot (videos matched to names by view count); Abdulelah Al Harbi video still supplied by the team; Sep and Oct 2026 calendars; rollout plan.</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7</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Shape 9"/>
          <p:cNvSpPr/>
          <p:nvPr/>
        </p:nvSpPr>
        <p:spPr>
          <a:xfrm>
            <a:off x="1412748" y="1938528"/>
            <a:ext cx="9372600" cy="0"/>
          </a:xfrm>
          <a:prstGeom prst="line">
            <a:avLst/>
          </a:prstGeom>
          <a:noFill/>
          <a:ln w="25400">
            <a:solidFill>
              <a:srgbClr val="C6CFE4"/>
            </a:solidFill>
            <a:prstDash val="solid"/>
          </a:ln>
        </p:spPr>
      </p:sp>
      <p:sp>
        <p:nvSpPr>
          <p:cNvPr id="16" name="Text 10"/>
          <p:cNvSpPr txBox="1"/>
          <p:nvPr/>
        </p:nvSpPr>
        <p:spPr>
          <a:xfrm>
            <a:off x="566928" y="1554480"/>
            <a:ext cx="1691640" cy="228600"/>
          </a:xfrm>
          <a:prstGeom prst="rect">
            <a:avLst/>
          </a:prstGeom>
          <a:noFill/>
          <a:ln/>
        </p:spPr>
        <p:txBody>
          <a:bodyPr wrap="square" lIns="0" tIns="0" rIns="0" bIns="0" rtlCol="0" anchor="t"/>
          <a:lstStyle/>
          <a:p>
            <a:pPr algn="ctr" indent="0" marL="0">
              <a:buNone/>
            </a:pPr>
            <a:r>
              <a:rPr lang="en-US" sz="1000" b="1" spc="200" kern="0" dirty="0">
                <a:solidFill>
                  <a:srgbClr val="9A7B1F"/>
                </a:solidFill>
                <a:latin typeface="Exo 2" pitchFamily="34" charset="0"/>
                <a:ea typeface="Exo 2" pitchFamily="34" charset="-122"/>
                <a:cs typeface="Exo 2" pitchFamily="34" charset="-120"/>
              </a:rPr>
              <a:t>JUL</a:t>
            </a:r>
            <a:endParaRPr lang="en-US" sz="1000" dirty="0"/>
          </a:p>
        </p:txBody>
      </p:sp>
      <p:sp>
        <p:nvSpPr>
          <p:cNvPr id="17" name="Shape 11"/>
          <p:cNvSpPr/>
          <p:nvPr/>
        </p:nvSpPr>
        <p:spPr>
          <a:xfrm>
            <a:off x="1312164" y="1837944"/>
            <a:ext cx="201168" cy="201168"/>
          </a:xfrm>
          <a:prstGeom prst="ellipse">
            <a:avLst/>
          </a:prstGeom>
          <a:solidFill>
            <a:srgbClr val="1BA97C"/>
          </a:solidFill>
          <a:ln w="25400">
            <a:solidFill>
              <a:srgbClr val="1BA97C"/>
            </a:solidFill>
            <a:prstDash val="solid"/>
          </a:ln>
        </p:spPr>
      </p:sp>
      <p:pic>
        <p:nvPicPr>
          <p:cNvPr id="18" name="Image 3" descr="/home/user/HatemIsa_202508993_IT9002_NLP_Project/emyaa-ceo-deck/working/charts/tile9_musheera.png">    </p:cNvPr>
          <p:cNvPicPr>
            <a:picLocks noChangeAspect="1"/>
          </p:cNvPicPr>
          <p:nvPr/>
        </p:nvPicPr>
        <p:blipFill>
          <a:blip r:embed="rId4"/>
          <a:stretch>
            <a:fillRect/>
          </a:stretch>
        </p:blipFill>
        <p:spPr>
          <a:xfrm>
            <a:off x="704088" y="2212848"/>
            <a:ext cx="1417320" cy="1828800"/>
          </a:xfrm>
          <a:prstGeom prst="rect">
            <a:avLst/>
          </a:prstGeom>
        </p:spPr>
      </p:pic>
      <p:sp>
        <p:nvSpPr>
          <p:cNvPr id="19" name="Text 12"/>
          <p:cNvSpPr txBox="1"/>
          <p:nvPr/>
        </p:nvSpPr>
        <p:spPr>
          <a:xfrm>
            <a:off x="566928" y="4160520"/>
            <a:ext cx="1691640" cy="502920"/>
          </a:xfrm>
          <a:prstGeom prst="rect">
            <a:avLst/>
          </a:prstGeom>
          <a:noFill/>
          <a:ln/>
        </p:spPr>
        <p:txBody>
          <a:bodyPr wrap="square" lIns="0" tIns="0" rIns="0" bIns="0" rtlCol="0" anchor="t"/>
          <a:lstStyle/>
          <a:p>
            <a:pPr algn="ctr" indent="0" marL="0">
              <a:buNone/>
            </a:pPr>
            <a:r>
              <a:rPr lang="en-US" sz="1200" b="1" dirty="0">
                <a:solidFill>
                  <a:srgbClr val="132257"/>
                </a:solidFill>
                <a:latin typeface="Exo 2" pitchFamily="34" charset="0"/>
                <a:ea typeface="Exo 2" pitchFamily="34" charset="-122"/>
                <a:cs typeface="Exo 2" pitchFamily="34" charset="-120"/>
              </a:rPr>
              <a:t>Musheera</a:t>
            </a:r>
            <a:endParaRPr lang="en-US" sz="1200" dirty="0"/>
          </a:p>
        </p:txBody>
      </p:sp>
      <p:sp>
        <p:nvSpPr>
          <p:cNvPr id="20" name="Text 13"/>
          <p:cNvSpPr txBox="1"/>
          <p:nvPr/>
        </p:nvSpPr>
        <p:spPr>
          <a:xfrm>
            <a:off x="566928" y="4709160"/>
            <a:ext cx="1691640" cy="274320"/>
          </a:xfrm>
          <a:prstGeom prst="rect">
            <a:avLst/>
          </a:prstGeom>
          <a:noFill/>
          <a:ln/>
        </p:spPr>
        <p:txBody>
          <a:bodyPr wrap="square" lIns="0" tIns="0" rIns="0" bIns="0" rtlCol="0" anchor="t"/>
          <a:lstStyle/>
          <a:p>
            <a:pPr algn="ctr" indent="0" marL="0">
              <a:buNone/>
            </a:pPr>
            <a:r>
              <a:rPr lang="en-US" sz="1050" dirty="0">
                <a:solidFill>
                  <a:srgbClr val="132257"/>
                </a:solidFill>
                <a:latin typeface="Exo 2" pitchFamily="34" charset="0"/>
                <a:ea typeface="Exo 2" pitchFamily="34" charset="-122"/>
                <a:cs typeface="Exo 2" pitchFamily="34" charset="-120"/>
              </a:rPr>
              <a:t>● </a:t>
            </a:r>
            <a:pPr algn="ctr" indent="0" marL="0">
              <a:buNone/>
            </a:pPr>
            <a:r>
              <a:rPr lang="en-US" sz="1050" b="1" dirty="0">
                <a:solidFill>
                  <a:srgbClr val="132257"/>
                </a:solidFill>
                <a:latin typeface="Exo 2" pitchFamily="34" charset="0"/>
                <a:ea typeface="Exo 2" pitchFamily="34" charset="-122"/>
                <a:cs typeface="Exo 2" pitchFamily="34" charset="-120"/>
              </a:rPr>
              <a:t>Posted</a:t>
            </a:r>
            <a:endParaRPr lang="en-US" sz="1050" dirty="0"/>
          </a:p>
        </p:txBody>
      </p:sp>
      <p:sp>
        <p:nvSpPr>
          <p:cNvPr id="21" name="Text 14"/>
          <p:cNvSpPr txBox="1"/>
          <p:nvPr/>
        </p:nvSpPr>
        <p:spPr>
          <a:xfrm>
            <a:off x="566928" y="5001768"/>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5.3M views</a:t>
            </a:r>
            <a:endParaRPr lang="en-US" sz="1050" dirty="0"/>
          </a:p>
        </p:txBody>
      </p:sp>
      <p:sp>
        <p:nvSpPr>
          <p:cNvPr id="22" name="Text 15"/>
          <p:cNvSpPr txBox="1"/>
          <p:nvPr/>
        </p:nvSpPr>
        <p:spPr>
          <a:xfrm>
            <a:off x="2441448" y="1554480"/>
            <a:ext cx="1691640" cy="228600"/>
          </a:xfrm>
          <a:prstGeom prst="rect">
            <a:avLst/>
          </a:prstGeom>
          <a:noFill/>
          <a:ln/>
        </p:spPr>
        <p:txBody>
          <a:bodyPr wrap="square" lIns="0" tIns="0" rIns="0" bIns="0" rtlCol="0" anchor="t"/>
          <a:lstStyle/>
          <a:p>
            <a:pPr algn="ctr" indent="0" marL="0">
              <a:buNone/>
            </a:pPr>
            <a:r>
              <a:rPr lang="en-US" sz="1000" b="1" spc="200" kern="0" dirty="0">
                <a:solidFill>
                  <a:srgbClr val="9A7B1F"/>
                </a:solidFill>
                <a:latin typeface="Exo 2" pitchFamily="34" charset="0"/>
                <a:ea typeface="Exo 2" pitchFamily="34" charset="-122"/>
                <a:cs typeface="Exo 2" pitchFamily="34" charset="-120"/>
              </a:rPr>
              <a:t>AUG</a:t>
            </a:r>
            <a:endParaRPr lang="en-US" sz="1000" dirty="0"/>
          </a:p>
        </p:txBody>
      </p:sp>
      <p:sp>
        <p:nvSpPr>
          <p:cNvPr id="23" name="Shape 16"/>
          <p:cNvSpPr/>
          <p:nvPr/>
        </p:nvSpPr>
        <p:spPr>
          <a:xfrm>
            <a:off x="3186684" y="1837944"/>
            <a:ext cx="201168" cy="201168"/>
          </a:xfrm>
          <a:prstGeom prst="ellipse">
            <a:avLst/>
          </a:prstGeom>
          <a:solidFill>
            <a:srgbClr val="1BA97C"/>
          </a:solidFill>
          <a:ln w="25400">
            <a:solidFill>
              <a:srgbClr val="1BA97C"/>
            </a:solidFill>
            <a:prstDash val="solid"/>
          </a:ln>
        </p:spPr>
      </p:sp>
      <p:pic>
        <p:nvPicPr>
          <p:cNvPr id="24" name="Image 4" descr="/home/user/HatemIsa_202508993_IT9002_NLP_Project/emyaa-ceo-deck/working/charts/tile9_ali.png">    </p:cNvPr>
          <p:cNvPicPr>
            <a:picLocks noChangeAspect="1"/>
          </p:cNvPicPr>
          <p:nvPr/>
        </p:nvPicPr>
        <p:blipFill>
          <a:blip r:embed="rId5"/>
          <a:stretch>
            <a:fillRect/>
          </a:stretch>
        </p:blipFill>
        <p:spPr>
          <a:xfrm>
            <a:off x="2578608" y="2212848"/>
            <a:ext cx="1417320" cy="1828800"/>
          </a:xfrm>
          <a:prstGeom prst="rect">
            <a:avLst/>
          </a:prstGeom>
        </p:spPr>
      </p:pic>
      <p:sp>
        <p:nvSpPr>
          <p:cNvPr id="25" name="Text 17"/>
          <p:cNvSpPr txBox="1"/>
          <p:nvPr/>
        </p:nvSpPr>
        <p:spPr>
          <a:xfrm>
            <a:off x="2441448" y="4160520"/>
            <a:ext cx="1691640" cy="502920"/>
          </a:xfrm>
          <a:prstGeom prst="rect">
            <a:avLst/>
          </a:prstGeom>
          <a:noFill/>
          <a:ln/>
        </p:spPr>
        <p:txBody>
          <a:bodyPr wrap="square" lIns="0" tIns="0" rIns="0" bIns="0" rtlCol="0" anchor="t"/>
          <a:lstStyle/>
          <a:p>
            <a:pPr algn="ctr" indent="0" marL="0">
              <a:buNone/>
            </a:pPr>
            <a:r>
              <a:rPr lang="en-US" sz="1200" b="1" dirty="0">
                <a:solidFill>
                  <a:srgbClr val="132257"/>
                </a:solidFill>
                <a:latin typeface="Exo 2" pitchFamily="34" charset="0"/>
                <a:ea typeface="Exo 2" pitchFamily="34" charset="-122"/>
                <a:cs typeface="Exo 2" pitchFamily="34" charset="-120"/>
              </a:rPr>
              <a:t>Ali Sabeel</a:t>
            </a:r>
            <a:endParaRPr lang="en-US" sz="1200" dirty="0"/>
          </a:p>
        </p:txBody>
      </p:sp>
      <p:sp>
        <p:nvSpPr>
          <p:cNvPr id="26" name="Text 18"/>
          <p:cNvSpPr txBox="1"/>
          <p:nvPr/>
        </p:nvSpPr>
        <p:spPr>
          <a:xfrm>
            <a:off x="2441448" y="4709160"/>
            <a:ext cx="1691640" cy="274320"/>
          </a:xfrm>
          <a:prstGeom prst="rect">
            <a:avLst/>
          </a:prstGeom>
          <a:noFill/>
          <a:ln/>
        </p:spPr>
        <p:txBody>
          <a:bodyPr wrap="square" lIns="0" tIns="0" rIns="0" bIns="0" rtlCol="0" anchor="t"/>
          <a:lstStyle/>
          <a:p>
            <a:pPr algn="ctr" indent="0" marL="0">
              <a:buNone/>
            </a:pPr>
            <a:r>
              <a:rPr lang="en-US" sz="1050" dirty="0">
                <a:solidFill>
                  <a:srgbClr val="132257"/>
                </a:solidFill>
                <a:latin typeface="Exo 2" pitchFamily="34" charset="0"/>
                <a:ea typeface="Exo 2" pitchFamily="34" charset="-122"/>
                <a:cs typeface="Exo 2" pitchFamily="34" charset="-120"/>
              </a:rPr>
              <a:t>● </a:t>
            </a:r>
            <a:pPr algn="ctr" indent="0" marL="0">
              <a:buNone/>
            </a:pPr>
            <a:r>
              <a:rPr lang="en-US" sz="1050" b="1" dirty="0">
                <a:solidFill>
                  <a:srgbClr val="132257"/>
                </a:solidFill>
                <a:latin typeface="Exo 2" pitchFamily="34" charset="0"/>
                <a:ea typeface="Exo 2" pitchFamily="34" charset="-122"/>
                <a:cs typeface="Exo 2" pitchFamily="34" charset="-120"/>
              </a:rPr>
              <a:t>Posted</a:t>
            </a:r>
            <a:endParaRPr lang="en-US" sz="1050" dirty="0"/>
          </a:p>
        </p:txBody>
      </p:sp>
      <p:sp>
        <p:nvSpPr>
          <p:cNvPr id="27" name="Text 19"/>
          <p:cNvSpPr txBox="1"/>
          <p:nvPr/>
        </p:nvSpPr>
        <p:spPr>
          <a:xfrm>
            <a:off x="2441448" y="5001768"/>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1.3M views</a:t>
            </a:r>
            <a:endParaRPr lang="en-US" sz="1050" dirty="0"/>
          </a:p>
        </p:txBody>
      </p:sp>
      <p:sp>
        <p:nvSpPr>
          <p:cNvPr id="28" name="Text 20"/>
          <p:cNvSpPr txBox="1"/>
          <p:nvPr/>
        </p:nvSpPr>
        <p:spPr>
          <a:xfrm>
            <a:off x="4315968" y="1554480"/>
            <a:ext cx="1691640" cy="228600"/>
          </a:xfrm>
          <a:prstGeom prst="rect">
            <a:avLst/>
          </a:prstGeom>
          <a:noFill/>
          <a:ln/>
        </p:spPr>
        <p:txBody>
          <a:bodyPr wrap="square" lIns="0" tIns="0" rIns="0" bIns="0" rtlCol="0" anchor="t"/>
          <a:lstStyle/>
          <a:p>
            <a:pPr algn="ctr" indent="0" marL="0">
              <a:buNone/>
            </a:pPr>
            <a:r>
              <a:rPr lang="en-US" sz="1000" b="1" spc="200" kern="0" dirty="0">
                <a:solidFill>
                  <a:srgbClr val="9A7B1F"/>
                </a:solidFill>
                <a:latin typeface="Exo 2" pitchFamily="34" charset="0"/>
                <a:ea typeface="Exo 2" pitchFamily="34" charset="-122"/>
                <a:cs typeface="Exo 2" pitchFamily="34" charset="-120"/>
              </a:rPr>
              <a:t>SEP</a:t>
            </a:r>
            <a:endParaRPr lang="en-US" sz="1000" dirty="0"/>
          </a:p>
        </p:txBody>
      </p:sp>
      <p:sp>
        <p:nvSpPr>
          <p:cNvPr id="29" name="Shape 21"/>
          <p:cNvSpPr/>
          <p:nvPr/>
        </p:nvSpPr>
        <p:spPr>
          <a:xfrm>
            <a:off x="5061204" y="1837944"/>
            <a:ext cx="201168" cy="201168"/>
          </a:xfrm>
          <a:prstGeom prst="ellipse">
            <a:avLst/>
          </a:prstGeom>
          <a:solidFill>
            <a:srgbClr val="1BA97C"/>
          </a:solidFill>
          <a:ln w="25400">
            <a:solidFill>
              <a:srgbClr val="1BA97C"/>
            </a:solidFill>
            <a:prstDash val="solid"/>
          </a:ln>
        </p:spPr>
      </p:sp>
      <p:pic>
        <p:nvPicPr>
          <p:cNvPr id="30" name="Image 5" descr="/home/user/HatemIsa_202508993_IT9002_NLP_Project/emyaa-ceo-deck/working/charts/tile9_abdulelah.png">    </p:cNvPr>
          <p:cNvPicPr>
            <a:picLocks noChangeAspect="1"/>
          </p:cNvPicPr>
          <p:nvPr/>
        </p:nvPicPr>
        <p:blipFill>
          <a:blip r:embed="rId6"/>
          <a:stretch>
            <a:fillRect/>
          </a:stretch>
        </p:blipFill>
        <p:spPr>
          <a:xfrm>
            <a:off x="4453128" y="2212848"/>
            <a:ext cx="1417320" cy="1828800"/>
          </a:xfrm>
          <a:prstGeom prst="rect">
            <a:avLst/>
          </a:prstGeom>
        </p:spPr>
      </p:pic>
      <p:sp>
        <p:nvSpPr>
          <p:cNvPr id="31" name="Text 22"/>
          <p:cNvSpPr txBox="1"/>
          <p:nvPr/>
        </p:nvSpPr>
        <p:spPr>
          <a:xfrm>
            <a:off x="4315968" y="4160520"/>
            <a:ext cx="1691640" cy="502920"/>
          </a:xfrm>
          <a:prstGeom prst="rect">
            <a:avLst/>
          </a:prstGeom>
          <a:noFill/>
          <a:ln/>
        </p:spPr>
        <p:txBody>
          <a:bodyPr wrap="square" lIns="0" tIns="0" rIns="0" bIns="0" rtlCol="0" anchor="t"/>
          <a:lstStyle/>
          <a:p>
            <a:pPr algn="ctr" indent="0" marL="0">
              <a:buNone/>
            </a:pPr>
            <a:r>
              <a:rPr lang="en-US" sz="1200" b="1" dirty="0">
                <a:solidFill>
                  <a:srgbClr val="132257"/>
                </a:solidFill>
                <a:latin typeface="Exo 2" pitchFamily="34" charset="0"/>
                <a:ea typeface="Exo 2" pitchFamily="34" charset="-122"/>
                <a:cs typeface="Exo 2" pitchFamily="34" charset="-120"/>
              </a:rPr>
              <a:t>Abdulelah Al Harbi</a:t>
            </a:r>
            <a:endParaRPr lang="en-US" sz="1200" dirty="0"/>
          </a:p>
        </p:txBody>
      </p:sp>
      <p:sp>
        <p:nvSpPr>
          <p:cNvPr id="32" name="Text 23"/>
          <p:cNvSpPr txBox="1"/>
          <p:nvPr/>
        </p:nvSpPr>
        <p:spPr>
          <a:xfrm>
            <a:off x="4315968" y="4709160"/>
            <a:ext cx="1691640" cy="274320"/>
          </a:xfrm>
          <a:prstGeom prst="rect">
            <a:avLst/>
          </a:prstGeom>
          <a:noFill/>
          <a:ln/>
        </p:spPr>
        <p:txBody>
          <a:bodyPr wrap="square" lIns="0" tIns="0" rIns="0" bIns="0" rtlCol="0" anchor="t"/>
          <a:lstStyle/>
          <a:p>
            <a:pPr algn="ctr" indent="0" marL="0">
              <a:buNone/>
            </a:pPr>
            <a:r>
              <a:rPr lang="en-US" sz="1050" dirty="0">
                <a:solidFill>
                  <a:srgbClr val="132257"/>
                </a:solidFill>
                <a:latin typeface="Exo 2" pitchFamily="34" charset="0"/>
                <a:ea typeface="Exo 2" pitchFamily="34" charset="-122"/>
                <a:cs typeface="Exo 2" pitchFamily="34" charset="-120"/>
              </a:rPr>
              <a:t>● </a:t>
            </a:r>
            <a:pPr algn="ctr" indent="0" marL="0">
              <a:buNone/>
            </a:pPr>
            <a:r>
              <a:rPr lang="en-US" sz="1050" b="1" dirty="0">
                <a:solidFill>
                  <a:srgbClr val="132257"/>
                </a:solidFill>
                <a:latin typeface="Exo 2" pitchFamily="34" charset="0"/>
                <a:ea typeface="Exo 2" pitchFamily="34" charset="-122"/>
                <a:cs typeface="Exo 2" pitchFamily="34" charset="-120"/>
              </a:rPr>
              <a:t>Posted</a:t>
            </a:r>
            <a:endParaRPr lang="en-US" sz="1050" dirty="0"/>
          </a:p>
        </p:txBody>
      </p:sp>
      <p:sp>
        <p:nvSpPr>
          <p:cNvPr id="33" name="Text 24"/>
          <p:cNvSpPr txBox="1"/>
          <p:nvPr/>
        </p:nvSpPr>
        <p:spPr>
          <a:xfrm>
            <a:off x="4315968" y="5001768"/>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Views not supplied</a:t>
            </a:r>
            <a:endParaRPr lang="en-US" sz="1050" dirty="0"/>
          </a:p>
        </p:txBody>
      </p:sp>
      <p:sp>
        <p:nvSpPr>
          <p:cNvPr id="34" name="Text 25"/>
          <p:cNvSpPr txBox="1"/>
          <p:nvPr/>
        </p:nvSpPr>
        <p:spPr>
          <a:xfrm>
            <a:off x="6190488" y="1554480"/>
            <a:ext cx="1691640" cy="228600"/>
          </a:xfrm>
          <a:prstGeom prst="rect">
            <a:avLst/>
          </a:prstGeom>
          <a:noFill/>
          <a:ln/>
        </p:spPr>
        <p:txBody>
          <a:bodyPr wrap="square" lIns="0" tIns="0" rIns="0" bIns="0" rtlCol="0" anchor="t"/>
          <a:lstStyle/>
          <a:p>
            <a:pPr algn="ctr" indent="0" marL="0">
              <a:buNone/>
            </a:pPr>
            <a:r>
              <a:rPr lang="en-US" sz="1000" b="1" spc="200" kern="0" dirty="0">
                <a:solidFill>
                  <a:srgbClr val="9A7B1F"/>
                </a:solidFill>
                <a:latin typeface="Exo 2" pitchFamily="34" charset="0"/>
                <a:ea typeface="Exo 2" pitchFamily="34" charset="-122"/>
                <a:cs typeface="Exo 2" pitchFamily="34" charset="-120"/>
              </a:rPr>
              <a:t>SEP</a:t>
            </a:r>
            <a:endParaRPr lang="en-US" sz="1000" dirty="0"/>
          </a:p>
        </p:txBody>
      </p:sp>
      <p:sp>
        <p:nvSpPr>
          <p:cNvPr id="35" name="Shape 26"/>
          <p:cNvSpPr/>
          <p:nvPr/>
        </p:nvSpPr>
        <p:spPr>
          <a:xfrm>
            <a:off x="6935724" y="1837944"/>
            <a:ext cx="201168" cy="201168"/>
          </a:xfrm>
          <a:prstGeom prst="ellipse">
            <a:avLst/>
          </a:prstGeom>
          <a:solidFill>
            <a:srgbClr val="1BA97C"/>
          </a:solidFill>
          <a:ln w="25400">
            <a:solidFill>
              <a:srgbClr val="1BA97C"/>
            </a:solidFill>
            <a:prstDash val="solid"/>
          </a:ln>
        </p:spPr>
      </p:sp>
      <p:pic>
        <p:nvPicPr>
          <p:cNvPr id="36" name="Image 6" descr="/home/user/HatemIsa_202508993_IT9002_NLP_Project/emyaa-ceo-deck/working/charts/tile9_howto.png">    </p:cNvPr>
          <p:cNvPicPr>
            <a:picLocks noChangeAspect="1"/>
          </p:cNvPicPr>
          <p:nvPr/>
        </p:nvPicPr>
        <p:blipFill>
          <a:blip r:embed="rId7"/>
          <a:stretch>
            <a:fillRect/>
          </a:stretch>
        </p:blipFill>
        <p:spPr>
          <a:xfrm>
            <a:off x="6327648" y="2212848"/>
            <a:ext cx="1417320" cy="1828800"/>
          </a:xfrm>
          <a:prstGeom prst="rect">
            <a:avLst/>
          </a:prstGeom>
        </p:spPr>
      </p:pic>
      <p:sp>
        <p:nvSpPr>
          <p:cNvPr id="37" name="Text 27"/>
          <p:cNvSpPr txBox="1"/>
          <p:nvPr/>
        </p:nvSpPr>
        <p:spPr>
          <a:xfrm>
            <a:off x="6190488" y="4160520"/>
            <a:ext cx="1691640" cy="502920"/>
          </a:xfrm>
          <a:prstGeom prst="rect">
            <a:avLst/>
          </a:prstGeom>
          <a:noFill/>
          <a:ln/>
        </p:spPr>
        <p:txBody>
          <a:bodyPr wrap="square" lIns="0" tIns="0" rIns="0" bIns="0" rtlCol="0" anchor="t"/>
          <a:lstStyle/>
          <a:p>
            <a:pPr algn="ctr" indent="0" marL="0">
              <a:buNone/>
            </a:pPr>
            <a:r>
              <a:rPr lang="en-US" sz="1200" b="1" dirty="0">
                <a:solidFill>
                  <a:srgbClr val="132257"/>
                </a:solidFill>
                <a:latin typeface="Exo 2" pitchFamily="34" charset="0"/>
                <a:ea typeface="Exo 2" pitchFamily="34" charset="-122"/>
                <a:cs typeface="Exo 2" pitchFamily="34" charset="-120"/>
              </a:rPr>
              <a:t>How-to, human presenter</a:t>
            </a:r>
            <a:endParaRPr lang="en-US" sz="1200" dirty="0"/>
          </a:p>
        </p:txBody>
      </p:sp>
      <p:sp>
        <p:nvSpPr>
          <p:cNvPr id="38" name="Text 28"/>
          <p:cNvSpPr txBox="1"/>
          <p:nvPr/>
        </p:nvSpPr>
        <p:spPr>
          <a:xfrm>
            <a:off x="6190488" y="4709160"/>
            <a:ext cx="1691640" cy="274320"/>
          </a:xfrm>
          <a:prstGeom prst="rect">
            <a:avLst/>
          </a:prstGeom>
          <a:noFill/>
          <a:ln/>
        </p:spPr>
        <p:txBody>
          <a:bodyPr wrap="square" lIns="0" tIns="0" rIns="0" bIns="0" rtlCol="0" anchor="t"/>
          <a:lstStyle/>
          <a:p>
            <a:pPr algn="ctr" indent="0" marL="0">
              <a:buNone/>
            </a:pPr>
            <a:r>
              <a:rPr lang="en-US" sz="1050" dirty="0">
                <a:solidFill>
                  <a:srgbClr val="132257"/>
                </a:solidFill>
                <a:latin typeface="Exo 2" pitchFamily="34" charset="0"/>
                <a:ea typeface="Exo 2" pitchFamily="34" charset="-122"/>
                <a:cs typeface="Exo 2" pitchFamily="34" charset="-120"/>
              </a:rPr>
              <a:t>● </a:t>
            </a:r>
            <a:pPr algn="ctr" indent="0" marL="0">
              <a:buNone/>
            </a:pPr>
            <a:r>
              <a:rPr lang="en-US" sz="1050" b="1" dirty="0">
                <a:solidFill>
                  <a:srgbClr val="132257"/>
                </a:solidFill>
                <a:latin typeface="Exo 2" pitchFamily="34" charset="0"/>
                <a:ea typeface="Exo 2" pitchFamily="34" charset="-122"/>
                <a:cs typeface="Exo 2" pitchFamily="34" charset="-120"/>
              </a:rPr>
              <a:t>Posted</a:t>
            </a:r>
            <a:endParaRPr lang="en-US" sz="1050" dirty="0"/>
          </a:p>
        </p:txBody>
      </p:sp>
      <p:sp>
        <p:nvSpPr>
          <p:cNvPr id="39" name="Text 29"/>
          <p:cNvSpPr txBox="1"/>
          <p:nvPr/>
        </p:nvSpPr>
        <p:spPr>
          <a:xfrm>
            <a:off x="6190488" y="5001768"/>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332 views</a:t>
            </a:r>
            <a:endParaRPr lang="en-US" sz="1050" dirty="0"/>
          </a:p>
        </p:txBody>
      </p:sp>
      <p:sp>
        <p:nvSpPr>
          <p:cNvPr id="40" name="Text 30"/>
          <p:cNvSpPr txBox="1"/>
          <p:nvPr/>
        </p:nvSpPr>
        <p:spPr>
          <a:xfrm>
            <a:off x="8065008" y="1554480"/>
            <a:ext cx="1691640" cy="228600"/>
          </a:xfrm>
          <a:prstGeom prst="rect">
            <a:avLst/>
          </a:prstGeom>
          <a:noFill/>
          <a:ln/>
        </p:spPr>
        <p:txBody>
          <a:bodyPr wrap="square" lIns="0" tIns="0" rIns="0" bIns="0" rtlCol="0" anchor="t"/>
          <a:lstStyle/>
          <a:p>
            <a:pPr algn="ctr" indent="0" marL="0">
              <a:buNone/>
            </a:pPr>
            <a:r>
              <a:rPr lang="en-US" sz="1000" b="1" spc="200" kern="0" dirty="0">
                <a:solidFill>
                  <a:srgbClr val="9A7B1F"/>
                </a:solidFill>
                <a:latin typeface="Exo 2" pitchFamily="34" charset="0"/>
                <a:ea typeface="Exo 2" pitchFamily="34" charset="-122"/>
                <a:cs typeface="Exo 2" pitchFamily="34" charset="-120"/>
              </a:rPr>
              <a:t>OCT</a:t>
            </a:r>
            <a:endParaRPr lang="en-US" sz="1000" dirty="0"/>
          </a:p>
        </p:txBody>
      </p:sp>
      <p:sp>
        <p:nvSpPr>
          <p:cNvPr id="41" name="Shape 31"/>
          <p:cNvSpPr/>
          <p:nvPr/>
        </p:nvSpPr>
        <p:spPr>
          <a:xfrm>
            <a:off x="8810244" y="1837944"/>
            <a:ext cx="201168" cy="201168"/>
          </a:xfrm>
          <a:prstGeom prst="ellipse">
            <a:avLst/>
          </a:prstGeom>
          <a:solidFill>
            <a:srgbClr val="FFFFFF"/>
          </a:solidFill>
          <a:ln w="25400">
            <a:solidFill>
              <a:srgbClr val="7A849C"/>
            </a:solidFill>
            <a:prstDash val="solid"/>
          </a:ln>
        </p:spPr>
      </p:sp>
      <p:sp>
        <p:nvSpPr>
          <p:cNvPr id="42" name="Shape 32"/>
          <p:cNvSpPr/>
          <p:nvPr/>
        </p:nvSpPr>
        <p:spPr>
          <a:xfrm>
            <a:off x="8202168" y="2212848"/>
            <a:ext cx="1417320" cy="1828800"/>
          </a:xfrm>
          <a:prstGeom prst="rect">
            <a:avLst/>
          </a:prstGeom>
          <a:solidFill>
            <a:srgbClr val="E3E8F2"/>
          </a:solidFill>
          <a:ln w="9525">
            <a:solidFill>
              <a:srgbClr val="C6CFE4"/>
            </a:solidFill>
            <a:prstDash val="dash"/>
          </a:ln>
        </p:spPr>
      </p:sp>
      <p:sp>
        <p:nvSpPr>
          <p:cNvPr id="43" name="Text 33"/>
          <p:cNvSpPr txBox="1"/>
          <p:nvPr/>
        </p:nvSpPr>
        <p:spPr>
          <a:xfrm>
            <a:off x="8293608" y="2212848"/>
            <a:ext cx="1234440" cy="1828800"/>
          </a:xfrm>
          <a:prstGeom prst="rect">
            <a:avLst/>
          </a:prstGeom>
          <a:noFill/>
          <a:ln/>
        </p:spPr>
        <p:txBody>
          <a:bodyPr wrap="square" lIns="0" tIns="0" rIns="0" bIns="0" rtlCol="0" anchor="ctr"/>
          <a:lstStyle/>
          <a:p>
            <a:pPr algn="ctr" indent="0" marL="0">
              <a:buNone/>
            </a:pPr>
            <a:r>
              <a:rPr lang="en-US" sz="1000" dirty="0">
                <a:solidFill>
                  <a:srgbClr val="7A849C"/>
                </a:solidFill>
                <a:latin typeface="Exo 2" pitchFamily="34" charset="0"/>
                <a:ea typeface="Exo 2" pitchFamily="34" charset="-122"/>
                <a:cs typeface="Exo 2" pitchFamily="34" charset="-120"/>
              </a:rPr>
              <a:t>In production</a:t>
            </a:r>
            <a:endParaRPr lang="en-US" sz="1000" dirty="0"/>
          </a:p>
        </p:txBody>
      </p:sp>
      <p:sp>
        <p:nvSpPr>
          <p:cNvPr id="44" name="Text 34"/>
          <p:cNvSpPr txBox="1"/>
          <p:nvPr/>
        </p:nvSpPr>
        <p:spPr>
          <a:xfrm>
            <a:off x="8065008" y="4160520"/>
            <a:ext cx="1691640" cy="502920"/>
          </a:xfrm>
          <a:prstGeom prst="rect">
            <a:avLst/>
          </a:prstGeom>
          <a:noFill/>
          <a:ln/>
        </p:spPr>
        <p:txBody>
          <a:bodyPr wrap="square" lIns="0" tIns="0" rIns="0" bIns="0" rtlCol="0" anchor="t"/>
          <a:lstStyle/>
          <a:p>
            <a:pPr algn="ctr" indent="0" marL="0">
              <a:buNone/>
            </a:pPr>
            <a:r>
              <a:rPr lang="en-US" sz="1200" b="1" dirty="0">
                <a:solidFill>
                  <a:srgbClr val="132257"/>
                </a:solidFill>
                <a:latin typeface="Exo 2" pitchFamily="34" charset="0"/>
                <a:ea typeface="Exo 2" pitchFamily="34" charset="-122"/>
                <a:cs typeface="Exo 2" pitchFamily="34" charset="-120"/>
              </a:rPr>
              <a:t>Manal Talal</a:t>
            </a:r>
            <a:endParaRPr lang="en-US" sz="1200" dirty="0"/>
          </a:p>
        </p:txBody>
      </p:sp>
      <p:sp>
        <p:nvSpPr>
          <p:cNvPr id="45" name="Text 35"/>
          <p:cNvSpPr txBox="1"/>
          <p:nvPr/>
        </p:nvSpPr>
        <p:spPr>
          <a:xfrm>
            <a:off x="8065008" y="4709160"/>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 </a:t>
            </a:r>
            <a:pPr algn="ctr" indent="0" marL="0">
              <a:buNone/>
            </a:pPr>
            <a:r>
              <a:rPr lang="en-US" sz="1050" b="1" dirty="0">
                <a:solidFill>
                  <a:srgbClr val="7A849C"/>
                </a:solidFill>
                <a:latin typeface="Exo 2" pitchFamily="34" charset="0"/>
                <a:ea typeface="Exo 2" pitchFamily="34" charset="-122"/>
                <a:cs typeface="Exo 2" pitchFamily="34" charset="-120"/>
              </a:rPr>
              <a:t>In production</a:t>
            </a:r>
            <a:endParaRPr lang="en-US" sz="1050" dirty="0"/>
          </a:p>
        </p:txBody>
      </p:sp>
      <p:sp>
        <p:nvSpPr>
          <p:cNvPr id="46" name="Text 36"/>
          <p:cNvSpPr txBox="1"/>
          <p:nvPr/>
        </p:nvSpPr>
        <p:spPr>
          <a:xfrm>
            <a:off x="8065008" y="5001768"/>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Calendar: 22 Oct</a:t>
            </a:r>
            <a:endParaRPr lang="en-US" sz="1050" dirty="0"/>
          </a:p>
        </p:txBody>
      </p:sp>
      <p:sp>
        <p:nvSpPr>
          <p:cNvPr id="47" name="Text 37"/>
          <p:cNvSpPr txBox="1"/>
          <p:nvPr/>
        </p:nvSpPr>
        <p:spPr>
          <a:xfrm>
            <a:off x="9939528" y="1554480"/>
            <a:ext cx="1691640" cy="228600"/>
          </a:xfrm>
          <a:prstGeom prst="rect">
            <a:avLst/>
          </a:prstGeom>
          <a:noFill/>
          <a:ln/>
        </p:spPr>
        <p:txBody>
          <a:bodyPr wrap="square" lIns="0" tIns="0" rIns="0" bIns="0" rtlCol="0" anchor="t"/>
          <a:lstStyle/>
          <a:p>
            <a:pPr algn="ctr" indent="0" marL="0">
              <a:buNone/>
            </a:pPr>
            <a:r>
              <a:rPr lang="en-US" sz="1000" b="1" spc="200" kern="0" dirty="0">
                <a:solidFill>
                  <a:srgbClr val="9A7B1F"/>
                </a:solidFill>
                <a:latin typeface="Exo 2" pitchFamily="34" charset="0"/>
                <a:ea typeface="Exo 2" pitchFamily="34" charset="-122"/>
                <a:cs typeface="Exo 2" pitchFamily="34" charset="-120"/>
              </a:rPr>
              <a:t>NOV</a:t>
            </a:r>
            <a:endParaRPr lang="en-US" sz="1000" dirty="0"/>
          </a:p>
        </p:txBody>
      </p:sp>
      <p:sp>
        <p:nvSpPr>
          <p:cNvPr id="48" name="Shape 38"/>
          <p:cNvSpPr/>
          <p:nvPr/>
        </p:nvSpPr>
        <p:spPr>
          <a:xfrm>
            <a:off x="10684764" y="1837944"/>
            <a:ext cx="201168" cy="201168"/>
          </a:xfrm>
          <a:prstGeom prst="ellipse">
            <a:avLst/>
          </a:prstGeom>
          <a:solidFill>
            <a:srgbClr val="FFFFFF"/>
          </a:solidFill>
          <a:ln w="25400">
            <a:solidFill>
              <a:srgbClr val="7A849C"/>
            </a:solidFill>
            <a:prstDash val="solid"/>
          </a:ln>
        </p:spPr>
      </p:sp>
      <p:sp>
        <p:nvSpPr>
          <p:cNvPr id="49" name="Shape 39"/>
          <p:cNvSpPr/>
          <p:nvPr/>
        </p:nvSpPr>
        <p:spPr>
          <a:xfrm>
            <a:off x="10076688" y="2212848"/>
            <a:ext cx="1417320" cy="1828800"/>
          </a:xfrm>
          <a:prstGeom prst="rect">
            <a:avLst/>
          </a:prstGeom>
          <a:solidFill>
            <a:srgbClr val="E3E8F2"/>
          </a:solidFill>
          <a:ln w="9525">
            <a:solidFill>
              <a:srgbClr val="C6CFE4"/>
            </a:solidFill>
            <a:prstDash val="dash"/>
          </a:ln>
        </p:spPr>
      </p:sp>
      <p:sp>
        <p:nvSpPr>
          <p:cNvPr id="50" name="Text 40"/>
          <p:cNvSpPr txBox="1"/>
          <p:nvPr/>
        </p:nvSpPr>
        <p:spPr>
          <a:xfrm>
            <a:off x="10168128" y="2212848"/>
            <a:ext cx="1234440" cy="1828800"/>
          </a:xfrm>
          <a:prstGeom prst="rect">
            <a:avLst/>
          </a:prstGeom>
          <a:noFill/>
          <a:ln/>
        </p:spPr>
        <p:txBody>
          <a:bodyPr wrap="square" lIns="0" tIns="0" rIns="0" bIns="0" rtlCol="0" anchor="ctr"/>
          <a:lstStyle/>
          <a:p>
            <a:pPr algn="ctr" indent="0" marL="0">
              <a:buNone/>
            </a:pPr>
            <a:r>
              <a:rPr lang="en-US" sz="1000" dirty="0">
                <a:solidFill>
                  <a:srgbClr val="7A849C"/>
                </a:solidFill>
                <a:latin typeface="Exo 2" pitchFamily="34" charset="0"/>
                <a:ea typeface="Exo 2" pitchFamily="34" charset="-122"/>
                <a:cs typeface="Exo 2" pitchFamily="34" charset="-120"/>
              </a:rPr>
              <a:t>Scheduled</a:t>
            </a:r>
            <a:endParaRPr lang="en-US" sz="1000" dirty="0"/>
          </a:p>
        </p:txBody>
      </p:sp>
      <p:sp>
        <p:nvSpPr>
          <p:cNvPr id="51" name="Text 41"/>
          <p:cNvSpPr txBox="1"/>
          <p:nvPr/>
        </p:nvSpPr>
        <p:spPr>
          <a:xfrm>
            <a:off x="9939528" y="4160520"/>
            <a:ext cx="1691640" cy="502920"/>
          </a:xfrm>
          <a:prstGeom prst="rect">
            <a:avLst/>
          </a:prstGeom>
          <a:noFill/>
          <a:ln/>
        </p:spPr>
        <p:txBody>
          <a:bodyPr wrap="square" lIns="0" tIns="0" rIns="0" bIns="0" rtlCol="0" anchor="t"/>
          <a:lstStyle/>
          <a:p>
            <a:pPr algn="ctr" indent="0" marL="0">
              <a:buNone/>
            </a:pPr>
            <a:r>
              <a:rPr lang="en-US" sz="1200" b="1" dirty="0">
                <a:solidFill>
                  <a:srgbClr val="132257"/>
                </a:solidFill>
                <a:latin typeface="Exo 2" pitchFamily="34" charset="0"/>
                <a:ea typeface="Exo 2" pitchFamily="34" charset="-122"/>
                <a:cs typeface="Exo 2" pitchFamily="34" charset="-120"/>
              </a:rPr>
              <a:t>Hamed Al Bloushi</a:t>
            </a:r>
            <a:endParaRPr lang="en-US" sz="1200" dirty="0"/>
          </a:p>
        </p:txBody>
      </p:sp>
      <p:sp>
        <p:nvSpPr>
          <p:cNvPr id="52" name="Text 42"/>
          <p:cNvSpPr txBox="1"/>
          <p:nvPr/>
        </p:nvSpPr>
        <p:spPr>
          <a:xfrm>
            <a:off x="9939528" y="4709160"/>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 </a:t>
            </a:r>
            <a:pPr algn="ctr" indent="0" marL="0">
              <a:buNone/>
            </a:pPr>
            <a:r>
              <a:rPr lang="en-US" sz="1050" b="1" dirty="0">
                <a:solidFill>
                  <a:srgbClr val="7A849C"/>
                </a:solidFill>
                <a:latin typeface="Exo 2" pitchFamily="34" charset="0"/>
                <a:ea typeface="Exo 2" pitchFamily="34" charset="-122"/>
                <a:cs typeface="Exo 2" pitchFamily="34" charset="-120"/>
              </a:rPr>
              <a:t>Scheduled</a:t>
            </a:r>
            <a:endParaRPr lang="en-US" sz="1050" dirty="0"/>
          </a:p>
        </p:txBody>
      </p:sp>
      <p:sp>
        <p:nvSpPr>
          <p:cNvPr id="53" name="Text 43"/>
          <p:cNvSpPr txBox="1"/>
          <p:nvPr/>
        </p:nvSpPr>
        <p:spPr>
          <a:xfrm>
            <a:off x="9939528" y="5001768"/>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Per rollout plan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SOCIAL AND CONTENT PERFORMANCE</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Instagram reach sits in three posts; other channels lack September exports</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Three posts carry the views; the rest are under 600. Reach depends on a few assets.</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Instagram grid screenshot (capture date and boost spend unknown); GA4 export 1-28 Sep; LinkedIn export 31 May-28 Aug; X and TikTok from the Performance Analysis deck (screenshots).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8</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15" name="Chart 0" descr=""/>
          <p:cNvGraphicFramePr/>
          <p:nvPr/>
        </p:nvGraphicFramePr>
        <p:xfrm>
          <a:off x="566928" y="1481328"/>
          <a:ext cx="5669280" cy="4069080"/>
        </p:xfrm>
        <a:graphic xmlns:a="http://schemas.openxmlformats.org/drawingml/2006/main">
          <a:graphicData uri="http://schemas.openxmlformats.org/drawingml/2006/chart">
            <c:chart xmlns:c="http://schemas.openxmlformats.org/drawingml/2006/chart" r:id="rId4"/>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1536192"/>
          <a:ext cx="5138928" cy="914400"/>
        </p:xfrm>
        <a:graphic>
          <a:graphicData uri="http://schemas.openxmlformats.org/drawingml/2006/table">
            <a:tbl>
              <a:tblPr/>
              <a:tblGrid>
                <a:gridCol w="868680"/>
                <a:gridCol w="2148840"/>
                <a:gridCol w="1024128"/>
                <a:gridCol w="1097280"/>
              </a:tblGrid>
              <a:tr h="512064">
                <a:tc>
                  <a:txBody>
                    <a:bodyPr/>
                    <a:lstStyle/>
                    <a:p>
                      <a:pPr indent="0" marL="0">
                        <a:buNone/>
                      </a:pPr>
                      <a:r>
                        <a:rPr lang="en-US" sz="1050" b="1" dirty="0">
                          <a:solidFill>
                            <a:srgbClr val="FFFFFF"/>
                          </a:solidFill>
                          <a:latin typeface="Exo 2" pitchFamily="34" charset="0"/>
                          <a:ea typeface="Exo 2" pitchFamily="34" charset="-122"/>
                          <a:cs typeface="Exo 2" pitchFamily="34" charset="-120"/>
                        </a:rPr>
                        <a:t>Channel</a:t>
                      </a:r>
                      <a:endParaRPr lang="en-US" sz="105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Latest figure</a:t>
                      </a:r>
                      <a:endParaRPr lang="en-US" sz="105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Period</a:t>
                      </a:r>
                      <a:endParaRPr lang="en-US" sz="105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Status</a:t>
                      </a:r>
                      <a:endParaRPr lang="en-US" sz="105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0" cap="flat" cmpd="sng" algn="ctr">
                      <a:noFill/>
                    </a:lnB>
                    <a:solidFill>
                      <a:srgbClr val="132257"/>
                    </a:solidFill>
                  </a:tcPr>
                </a:tc>
              </a:tr>
              <a:tr h="512064">
                <a:tc>
                  <a:txBody>
                    <a:bodyPr/>
                    <a:lstStyle/>
                    <a:p>
                      <a:pPr indent="0" marL="0">
                        <a:buNone/>
                      </a:pPr>
                      <a:r>
                        <a:rPr lang="en-US" sz="1000" dirty="0">
                          <a:solidFill>
                            <a:srgbClr val="1F2A44"/>
                          </a:solidFill>
                          <a:latin typeface="Exo 2" pitchFamily="34" charset="0"/>
                          <a:ea typeface="Exo 2" pitchFamily="34" charset="-122"/>
                          <a:cs typeface="Exo 2" pitchFamily="34" charset="-120"/>
                        </a:rPr>
                        <a:t>Website</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587 sessions; 11 from Instagram</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1-28 Sep</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BA97C"/>
                          </a:solidFill>
                          <a:latin typeface="Exo 2" pitchFamily="34" charset="0"/>
                          <a:ea typeface="Exo 2" pitchFamily="34" charset="-122"/>
                          <a:cs typeface="Exo 2" pitchFamily="34" charset="-120"/>
                        </a:rPr>
                        <a:t>● </a:t>
                      </a:r>
                      <a:pPr indent="0" marL="0">
                        <a:buNone/>
                      </a:pPr>
                      <a:r>
                        <a:rPr lang="en-US" sz="1000" b="1" dirty="0">
                          <a:solidFill>
                            <a:srgbClr val="1BA97C"/>
                          </a:solidFill>
                          <a:latin typeface="Exo 2" pitchFamily="34" charset="0"/>
                          <a:ea typeface="Exo 2" pitchFamily="34" charset="-122"/>
                          <a:cs typeface="Exo 2" pitchFamily="34" charset="-120"/>
                        </a:rPr>
                        <a:t>Verified</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512064">
                <a:tc>
                  <a:txBody>
                    <a:bodyPr/>
                    <a:lstStyle/>
                    <a:p>
                      <a:pPr indent="0" marL="0">
                        <a:buNone/>
                      </a:pPr>
                      <a:r>
                        <a:rPr lang="en-US" sz="1000" dirty="0">
                          <a:solidFill>
                            <a:srgbClr val="1F2A44"/>
                          </a:solidFill>
                          <a:latin typeface="Exo 2" pitchFamily="34" charset="0"/>
                          <a:ea typeface="Exo 2" pitchFamily="34" charset="-122"/>
                          <a:cs typeface="Exo 2" pitchFamily="34" charset="-120"/>
                        </a:rPr>
                        <a:t>Instagram</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2,116 followers</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Late Sep</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9A7B1F"/>
                          </a:solidFill>
                          <a:latin typeface="Exo 2" pitchFamily="34" charset="0"/>
                          <a:ea typeface="Exo 2" pitchFamily="34" charset="-122"/>
                          <a:cs typeface="Exo 2" pitchFamily="34" charset="-120"/>
                        </a:rPr>
                        <a:t>● </a:t>
                      </a:r>
                      <a:pPr indent="0" marL="0">
                        <a:buNone/>
                      </a:pPr>
                      <a:r>
                        <a:rPr lang="en-US" sz="1000" b="1" dirty="0">
                          <a:solidFill>
                            <a:srgbClr val="9A7B1F"/>
                          </a:solidFill>
                          <a:latin typeface="Exo 2" pitchFamily="34" charset="0"/>
                          <a:ea typeface="Exo 2" pitchFamily="34" charset="-122"/>
                          <a:cs typeface="Exo 2" pitchFamily="34" charset="-120"/>
                        </a:rPr>
                        <a:t>Reported</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512064">
                <a:tc>
                  <a:txBody>
                    <a:bodyPr/>
                    <a:lstStyle/>
                    <a:p>
                      <a:pPr indent="0" marL="0">
                        <a:buNone/>
                      </a:pPr>
                      <a:r>
                        <a:rPr lang="en-US" sz="1000" dirty="0">
                          <a:solidFill>
                            <a:srgbClr val="1F2A44"/>
                          </a:solidFill>
                          <a:latin typeface="Exo 2" pitchFamily="34" charset="0"/>
                          <a:ea typeface="Exo 2" pitchFamily="34" charset="-122"/>
                          <a:cs typeface="Exo 2" pitchFamily="34" charset="-120"/>
                        </a:rPr>
                        <a:t>LinkedIn</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531 followers; 247 new vs 4 prior (+6,075% new)</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30 days</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C53030"/>
                          </a:solidFill>
                          <a:latin typeface="Exo 2" pitchFamily="34" charset="0"/>
                          <a:ea typeface="Exo 2" pitchFamily="34" charset="-122"/>
                          <a:cs typeface="Exo 2" pitchFamily="34" charset="-120"/>
                        </a:rPr>
                        <a:t>● </a:t>
                      </a:r>
                      <a:pPr indent="0" marL="0">
                        <a:buNone/>
                      </a:pPr>
                      <a:r>
                        <a:rPr lang="en-US" sz="1000" b="1" dirty="0">
                          <a:solidFill>
                            <a:srgbClr val="C53030"/>
                          </a:solidFill>
                          <a:latin typeface="Exo 2" pitchFamily="34" charset="0"/>
                          <a:ea typeface="Exo 2" pitchFamily="34" charset="-122"/>
                          <a:cs typeface="Exo 2" pitchFamily="34" charset="-120"/>
                        </a:rPr>
                        <a:t>Conflicting</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512064">
                <a:tc>
                  <a:txBody>
                    <a:bodyPr/>
                    <a:lstStyle/>
                    <a:p>
                      <a:pPr indent="0" marL="0">
                        <a:buNone/>
                      </a:pPr>
                      <a:r>
                        <a:rPr lang="en-US" sz="1000" dirty="0">
                          <a:solidFill>
                            <a:srgbClr val="1F2A44"/>
                          </a:solidFill>
                          <a:latin typeface="Exo 2" pitchFamily="34" charset="0"/>
                          <a:ea typeface="Exo 2" pitchFamily="34" charset="-122"/>
                          <a:cs typeface="Exo 2" pitchFamily="34" charset="-120"/>
                        </a:rPr>
                        <a:t>LinkedIn</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559 impressions, +118%</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13-27 Sep vs prior</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9A7B1F"/>
                          </a:solidFill>
                          <a:latin typeface="Exo 2" pitchFamily="34" charset="0"/>
                          <a:ea typeface="Exo 2" pitchFamily="34" charset="-122"/>
                          <a:cs typeface="Exo 2" pitchFamily="34" charset="-120"/>
                        </a:rPr>
                        <a:t>● </a:t>
                      </a:r>
                      <a:pPr indent="0" marL="0">
                        <a:buNone/>
                      </a:pPr>
                      <a:r>
                        <a:rPr lang="en-US" sz="1000" b="1" dirty="0">
                          <a:solidFill>
                            <a:srgbClr val="9A7B1F"/>
                          </a:solidFill>
                          <a:latin typeface="Exo 2" pitchFamily="34" charset="0"/>
                          <a:ea typeface="Exo 2" pitchFamily="34" charset="-122"/>
                          <a:cs typeface="Exo 2" pitchFamily="34" charset="-120"/>
                        </a:rPr>
                        <a:t>Reported</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512064">
                <a:tc>
                  <a:txBody>
                    <a:bodyPr/>
                    <a:lstStyle/>
                    <a:p>
                      <a:pPr indent="0" marL="0">
                        <a:buNone/>
                      </a:pPr>
                      <a:r>
                        <a:rPr lang="en-US" sz="1000" dirty="0">
                          <a:solidFill>
                            <a:srgbClr val="1F2A44"/>
                          </a:solidFill>
                          <a:latin typeface="Exo 2" pitchFamily="34" charset="0"/>
                          <a:ea typeface="Exo 2" pitchFamily="34" charset="-122"/>
                          <a:cs typeface="Exo 2" pitchFamily="34" charset="-120"/>
                        </a:rPr>
                        <a:t>X</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738 followers, 99 posts; 96.4% Bahrain</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Late Sep</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9A7B1F"/>
                          </a:solidFill>
                          <a:latin typeface="Exo 2" pitchFamily="34" charset="0"/>
                          <a:ea typeface="Exo 2" pitchFamily="34" charset="-122"/>
                          <a:cs typeface="Exo 2" pitchFamily="34" charset="-120"/>
                        </a:rPr>
                        <a:t>● </a:t>
                      </a:r>
                      <a:pPr indent="0" marL="0">
                        <a:buNone/>
                      </a:pPr>
                      <a:r>
                        <a:rPr lang="en-US" sz="1000" b="1" dirty="0">
                          <a:solidFill>
                            <a:srgbClr val="9A7B1F"/>
                          </a:solidFill>
                          <a:latin typeface="Exo 2" pitchFamily="34" charset="0"/>
                          <a:ea typeface="Exo 2" pitchFamily="34" charset="-122"/>
                          <a:cs typeface="Exo 2" pitchFamily="34" charset="-120"/>
                        </a:rPr>
                        <a:t>Reported</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512064">
                <a:tc>
                  <a:txBody>
                    <a:bodyPr/>
                    <a:lstStyle/>
                    <a:p>
                      <a:pPr indent="0" marL="0">
                        <a:buNone/>
                      </a:pPr>
                      <a:r>
                        <a:rPr lang="en-US" sz="1000" dirty="0">
                          <a:solidFill>
                            <a:srgbClr val="1F2A44"/>
                          </a:solidFill>
                          <a:latin typeface="Exo 2" pitchFamily="34" charset="0"/>
                          <a:ea typeface="Exo 2" pitchFamily="34" charset="-122"/>
                          <a:cs typeface="Exo 2" pitchFamily="34" charset="-120"/>
                        </a:rPr>
                        <a:t>TikTok</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15 followers, 176 likes</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Late Sep</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9A7B1F"/>
                          </a:solidFill>
                          <a:latin typeface="Exo 2" pitchFamily="34" charset="0"/>
                          <a:ea typeface="Exo 2" pitchFamily="34" charset="-122"/>
                          <a:cs typeface="Exo 2" pitchFamily="34" charset="-120"/>
                        </a:rPr>
                        <a:t>● </a:t>
                      </a:r>
                      <a:pPr indent="0" marL="0">
                        <a:buNone/>
                      </a:pPr>
                      <a:r>
                        <a:rPr lang="en-US" sz="1000" b="1" dirty="0">
                          <a:solidFill>
                            <a:srgbClr val="9A7B1F"/>
                          </a:solidFill>
                          <a:latin typeface="Exo 2" pitchFamily="34" charset="0"/>
                          <a:ea typeface="Exo 2" pitchFamily="34" charset="-122"/>
                          <a:cs typeface="Exo 2" pitchFamily="34" charset="-120"/>
                        </a:rPr>
                        <a:t>Reported</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sp>
        <p:nvSpPr>
          <p:cNvPr id="17" name="Text 9"/>
          <p:cNvSpPr txBox="1"/>
          <p:nvPr/>
        </p:nvSpPr>
        <p:spPr>
          <a:xfrm>
            <a:off x="6492240" y="5230368"/>
            <a:ext cx="5138928" cy="320040"/>
          </a:xfrm>
          <a:prstGeom prst="rect">
            <a:avLst/>
          </a:prstGeom>
          <a:noFill/>
          <a:ln/>
        </p:spPr>
        <p:txBody>
          <a:bodyPr wrap="square" lIns="0" tIns="0" rIns="0" bIns="0" rtlCol="0" anchor="t"/>
          <a:lstStyle/>
          <a:p>
            <a:pPr indent="0" marL="0">
              <a:buNone/>
            </a:pPr>
            <a:r>
              <a:rPr lang="en-US" sz="900" i="1" dirty="0">
                <a:solidFill>
                  <a:srgbClr val="7A849C"/>
                </a:solidFill>
                <a:latin typeface="Exo 2" pitchFamily="34" charset="0"/>
                <a:ea typeface="Exo 2" pitchFamily="34" charset="-122"/>
                <a:cs typeface="Exo 2" pitchFamily="34" charset="-120"/>
              </a:rPr>
              <a:t>LinkedIn total also appears as 586 in an earlier count; export ends 28 Aug.</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RISKS AND DATA GAPS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Seven open items; three block the 20 October paid-media decision</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Owners and dates are proposed. Items 1, 4 and 5 must close before 20 October.</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Audit of the previous drafts against GA4 exports, daily dashboards, LinkedIn export, Board update and campaign files. See Percentage-Audit.csv and Source-Traceability.csv.</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9</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64240" cy="914400"/>
        </p:xfrm>
        <a:graphic>
          <a:graphicData uri="http://schemas.openxmlformats.org/drawingml/2006/table">
            <a:tbl>
              <a:tblPr/>
              <a:tblGrid>
                <a:gridCol w="365760"/>
                <a:gridCol w="4160520"/>
                <a:gridCol w="2514600"/>
                <a:gridCol w="1554480"/>
                <a:gridCol w="960120"/>
                <a:gridCol w="1508760"/>
              </a:tblGrid>
              <a:tr h="475488">
                <a:tc>
                  <a:txBody>
                    <a:bodyPr/>
                    <a:lstStyle/>
                    <a:p>
                      <a:pPr indent="0" marL="0">
                        <a:buNone/>
                      </a:pPr>
                      <a:r>
                        <a:rPr lang="en-US" sz="1100" b="1" dirty="0">
                          <a:solidFill>
                            <a:srgbClr val="FFFFFF"/>
                          </a:solidFill>
                          <a:latin typeface="Exo 2" pitchFamily="34" charset="0"/>
                          <a:ea typeface="Exo 2" pitchFamily="34" charset="-122"/>
                          <a:cs typeface="Exo 2" pitchFamily="34" charset="-120"/>
                        </a:rPr>
                        <a: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Issue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Impact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Owner</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Required by</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Status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1</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Deposits: $12,206 (Board, verbal) vs $10,029.69 on dashboard, relabelled 'AUM' from 20 Sep</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Deposit story rests on an unsourced figure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Malek</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C53030"/>
                          </a:solidFill>
                          <a:latin typeface="Exo 2" pitchFamily="34" charset="0"/>
                          <a:ea typeface="Exo 2" pitchFamily="34" charset="-122"/>
                          <a:cs typeface="Exo 2" pitchFamily="34" charset="-120"/>
                        </a:rPr>
                        <a:t>● </a:t>
                      </a:r>
                      <a:pPr indent="0" marL="0">
                        <a:buNone/>
                      </a:pPr>
                      <a:r>
                        <a:rPr lang="en-US" sz="1100" b="1" dirty="0">
                          <a:solidFill>
                            <a:srgbClr val="C53030"/>
                          </a:solidFill>
                          <a:latin typeface="Exo 2" pitchFamily="34" charset="0"/>
                          <a:ea typeface="Exo 2" pitchFamily="34" charset="-122"/>
                          <a:cs typeface="Exo 2" pitchFamily="34" charset="-120"/>
                        </a:rPr>
                        <a:t>Open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2</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No September exports for Instagram, LinkedIn, X, TikTok (LinkedIn export ends 28 Aug)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Social results are screenshot-only</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C53030"/>
                          </a:solidFill>
                          <a:latin typeface="Exo 2" pitchFamily="34" charset="0"/>
                          <a:ea typeface="Exo 2" pitchFamily="34" charset="-122"/>
                          <a:cs typeface="Exo 2" pitchFamily="34" charset="-120"/>
                        </a:rPr>
                        <a:t>● </a:t>
                      </a:r>
                      <a:pPr indent="0" marL="0">
                        <a:buNone/>
                      </a:pPr>
                      <a:r>
                        <a:rPr lang="en-US" sz="1100" b="1" dirty="0">
                          <a:solidFill>
                            <a:srgbClr val="C53030"/>
                          </a:solidFill>
                          <a:latin typeface="Exo 2" pitchFamily="34" charset="0"/>
                          <a:ea typeface="Exo 2" pitchFamily="34" charset="-122"/>
                          <a:cs typeface="Exo 2" pitchFamily="34" charset="-120"/>
                        </a:rPr>
                        <a:t>Open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3</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793% active-user rise (GA card) and LinkedIn +118% / +155% not traceable to an export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Risk of overstating results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9A7B1F"/>
                          </a:solidFill>
                          <a:latin typeface="Exo 2" pitchFamily="34" charset="0"/>
                          <a:ea typeface="Exo 2" pitchFamily="34" charset="-122"/>
                          <a:cs typeface="Exo 2" pitchFamily="34" charset="-120"/>
                        </a:rPr>
                        <a:t>● </a:t>
                      </a:r>
                      <a:pPr indent="0" marL="0">
                        <a:buNone/>
                      </a:pPr>
                      <a:r>
                        <a:rPr lang="en-US" sz="1100" b="1" dirty="0">
                          <a:solidFill>
                            <a:srgbClr val="9A7B1F"/>
                          </a:solidFill>
                          <a:latin typeface="Exo 2" pitchFamily="34" charset="0"/>
                          <a:ea typeface="Exo 2" pitchFamily="34" charset="-122"/>
                          <a:cs typeface="Exo 2" pitchFamily="34" charset="-120"/>
                        </a:rPr>
                        <a:t>Pending evidence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4</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No spend, cost per key event or LinkedIn leads; key event undefined</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Cannot test Board CAC targets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 with Ignite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15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C53030"/>
                          </a:solidFill>
                          <a:latin typeface="Exo 2" pitchFamily="34" charset="0"/>
                          <a:ea typeface="Exo 2" pitchFamily="34" charset="-122"/>
                          <a:cs typeface="Exo 2" pitchFamily="34" charset="-120"/>
                        </a:rPr>
                        <a:t>● </a:t>
                      </a:r>
                      <a:pPr indent="0" marL="0">
                        <a:buNone/>
                      </a:pPr>
                      <a:r>
                        <a:rPr lang="en-US" sz="1100" b="1" dirty="0">
                          <a:solidFill>
                            <a:srgbClr val="C53030"/>
                          </a:solidFill>
                          <a:latin typeface="Exo 2" pitchFamily="34" charset="0"/>
                          <a:ea typeface="Exo 2" pitchFamily="34" charset="-122"/>
                          <a:cs typeface="Exo 2" pitchFamily="34" charset="-120"/>
                        </a:rPr>
                        <a:t>Open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5</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Clients: Board 61 'as at 17 Sep' vs dashboard 54 (17 Sep) and 60 (27 Sep)</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Board figure may run ahead of source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Malek</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C53030"/>
                          </a:solidFill>
                          <a:latin typeface="Exo 2" pitchFamily="34" charset="0"/>
                          <a:ea typeface="Exo 2" pitchFamily="34" charset="-122"/>
                          <a:cs typeface="Exo 2" pitchFamily="34" charset="-120"/>
                        </a:rPr>
                        <a:t>● </a:t>
                      </a:r>
                      <a:pPr indent="0" marL="0">
                        <a:buNone/>
                      </a:pPr>
                      <a:r>
                        <a:rPr lang="en-US" sz="1100" b="1" dirty="0">
                          <a:solidFill>
                            <a:srgbClr val="C53030"/>
                          </a:solidFill>
                          <a:latin typeface="Exo 2" pitchFamily="34" charset="0"/>
                          <a:ea typeface="Exo 2" pitchFamily="34" charset="-122"/>
                          <a:cs typeface="Exo 2" pitchFamily="34" charset="-120"/>
                        </a:rPr>
                        <a:t>Open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6</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LinkedIn followers: 531 now, 586 in an earlier count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Growth claim unreliable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 with Ignite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C53030"/>
                          </a:solidFill>
                          <a:latin typeface="Exo 2" pitchFamily="34" charset="0"/>
                          <a:ea typeface="Exo 2" pitchFamily="34" charset="-122"/>
                          <a:cs typeface="Exo 2" pitchFamily="34" charset="-120"/>
                        </a:rPr>
                        <a:t>● </a:t>
                      </a:r>
                      <a:pPr indent="0" marL="0">
                        <a:buNone/>
                      </a:pPr>
                      <a:r>
                        <a:rPr lang="en-US" sz="1100" b="1" dirty="0">
                          <a:solidFill>
                            <a:srgbClr val="C53030"/>
                          </a:solidFill>
                          <a:latin typeface="Exo 2" pitchFamily="34" charset="0"/>
                          <a:ea typeface="Exo 2" pitchFamily="34" charset="-122"/>
                          <a:cs typeface="Exo 2" pitchFamily="34" charset="-120"/>
                        </a:rPr>
                        <a:t>Open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7</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$5,000 campaign T&amp;Cs sent for approval 20 Jul, no sign-off on file; Market Pulse feature in discussion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Regulatory and content dependency</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Compliance, IT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15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9A7B1F"/>
                          </a:solidFill>
                          <a:latin typeface="Exo 2" pitchFamily="34" charset="0"/>
                          <a:ea typeface="Exo 2" pitchFamily="34" charset="-122"/>
                          <a:cs typeface="Exo 2" pitchFamily="34" charset="-120"/>
                        </a:rPr>
                        <a:t>● </a:t>
                      </a:r>
                      <a:pPr indent="0" marL="0">
                        <a:buNone/>
                      </a:pPr>
                      <a:r>
                        <a:rPr lang="en-US" sz="1100" b="1" dirty="0">
                          <a:solidFill>
                            <a:srgbClr val="9A7B1F"/>
                          </a:solidFill>
                          <a:latin typeface="Exo 2" pitchFamily="34" charset="0"/>
                          <a:ea typeface="Exo 2" pitchFamily="34" charset="-122"/>
                          <a:cs typeface="Exo 2" pitchFamily="34" charset="-120"/>
                        </a:rPr>
                        <a:t>Pending evidence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CEO DECISIONS AND NEXT STEPS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Five decisions for today</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With these, the next update reports cost per account against Board targets.</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Proposed by Marketing based on this update. Dates are proposals for CEO confirmation. CAC targets from the Board update, 17 Sep 2026.</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10</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64240" cy="914400"/>
        </p:xfrm>
        <a:graphic>
          <a:graphicData uri="http://schemas.openxmlformats.org/drawingml/2006/table">
            <a:tbl>
              <a:tblPr/>
              <a:tblGrid>
                <a:gridCol w="457200"/>
                <a:gridCol w="4754880"/>
                <a:gridCol w="1920240"/>
                <a:gridCol w="1188720"/>
                <a:gridCol w="2743200"/>
              </a:tblGrid>
              <a:tr h="384048">
                <a:tc>
                  <a:txBody>
                    <a:bodyPr/>
                    <a:lstStyle/>
                    <a:p>
                      <a:pPr indent="0" marL="0">
                        <a:buNone/>
                      </a:pPr>
                      <a:endParaRPr lang="en-US" sz="115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50" b="1" dirty="0">
                          <a:solidFill>
                            <a:srgbClr val="FFFFFF"/>
                          </a:solidFill>
                          <a:latin typeface="Exo 2" pitchFamily="34" charset="0"/>
                          <a:ea typeface="Exo 2" pitchFamily="34" charset="-122"/>
                          <a:cs typeface="Exo 2" pitchFamily="34" charset="-120"/>
                        </a:rPr>
                        <a:t>Decision required</a:t>
                      </a:r>
                      <a:endParaRPr lang="en-US" sz="115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50" b="1" dirty="0">
                          <a:solidFill>
                            <a:srgbClr val="FFFFFF"/>
                          </a:solidFill>
                          <a:latin typeface="Exo 2" pitchFamily="34" charset="0"/>
                          <a:ea typeface="Exo 2" pitchFamily="34" charset="-122"/>
                          <a:cs typeface="Exo 2" pitchFamily="34" charset="-120"/>
                        </a:rPr>
                        <a:t>Owner</a:t>
                      </a:r>
                      <a:endParaRPr lang="en-US" sz="115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50" b="1" dirty="0">
                          <a:solidFill>
                            <a:srgbClr val="FFFFFF"/>
                          </a:solidFill>
                          <a:latin typeface="Exo 2" pitchFamily="34" charset="0"/>
                          <a:ea typeface="Exo 2" pitchFamily="34" charset="-122"/>
                          <a:cs typeface="Exo 2" pitchFamily="34" charset="-120"/>
                        </a:rPr>
                        <a:t>By</a:t>
                      </a:r>
                      <a:endParaRPr lang="en-US" sz="115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50" b="1" dirty="0">
                          <a:solidFill>
                            <a:srgbClr val="FFFFFF"/>
                          </a:solidFill>
                          <a:latin typeface="Exo 2" pitchFamily="34" charset="0"/>
                          <a:ea typeface="Exo 2" pitchFamily="34" charset="-122"/>
                          <a:cs typeface="Exo 2" pitchFamily="34" charset="-120"/>
                        </a:rPr>
                        <a:t>Expected outcome</a:t>
                      </a:r>
                      <a:endParaRPr lang="en-US" sz="115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r>
              <a:tr h="676656">
                <a:tc>
                  <a:txBody>
                    <a:bodyPr/>
                    <a:lstStyle/>
                    <a:p>
                      <a:pPr indent="0" marL="0">
                        <a:buNone/>
                      </a:pPr>
                      <a:r>
                        <a:rPr lang="en-US" sz="1600" b="1" dirty="0">
                          <a:solidFill>
                            <a:srgbClr val="D4AF37"/>
                          </a:solidFill>
                          <a:latin typeface="Exo 2" pitchFamily="34" charset="0"/>
                          <a:ea typeface="Exo 2" pitchFamily="34" charset="-122"/>
                          <a:cs typeface="Exo 2" pitchFamily="34" charset="-120"/>
                        </a:rPr>
                        <a:t>1</a:t>
                      </a:r>
                      <a:endParaRPr lang="en-US" sz="16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Set 20 Oct as the go or hold point for paid media, judged on cost per account against Board CAC targets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Marketing with Ignite</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20 Oct</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Remaining budget goes to what converts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76656">
                <a:tc>
                  <a:txBody>
                    <a:bodyPr/>
                    <a:lstStyle/>
                    <a:p>
                      <a:pPr indent="0" marL="0">
                        <a:buNone/>
                      </a:pPr>
                      <a:r>
                        <a:rPr lang="en-US" sz="1600" b="1" dirty="0">
                          <a:solidFill>
                            <a:srgbClr val="D4AF37"/>
                          </a:solidFill>
                          <a:latin typeface="Exo 2" pitchFamily="34" charset="0"/>
                          <a:ea typeface="Exo 2" pitchFamily="34" charset="-122"/>
                          <a:cs typeface="Exo 2" pitchFamily="34" charset="-120"/>
                        </a:rPr>
                        <a:t>2</a:t>
                      </a:r>
                      <a:endParaRPr lang="en-US" sz="16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Keep both Arabic and English ads live until the key event is defined and costed</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Marketing</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10 Oct</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No cut to the version with more key events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76656">
                <a:tc>
                  <a:txBody>
                    <a:bodyPr/>
                    <a:lstStyle/>
                    <a:p>
                      <a:pPr indent="0" marL="0">
                        <a:buNone/>
                      </a:pPr>
                      <a:r>
                        <a:rPr lang="en-US" sz="1600" b="1" dirty="0">
                          <a:solidFill>
                            <a:srgbClr val="D4AF37"/>
                          </a:solidFill>
                          <a:latin typeface="Exo 2" pitchFamily="34" charset="0"/>
                          <a:ea typeface="Exo 2" pitchFamily="34" charset="-122"/>
                          <a:cs typeface="Exo 2" pitchFamily="34" charset="-120"/>
                        </a:rPr>
                        <a:t>3</a:t>
                      </a:r>
                      <a:endParaRPr lang="en-US" sz="16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Fix onboarding drop-off: follow up every new download that has not completed KYC</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Client Experience</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10 Oct</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More of the new downloads become accounts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76656">
                <a:tc>
                  <a:txBody>
                    <a:bodyPr/>
                    <a:lstStyle/>
                    <a:p>
                      <a:pPr indent="0" marL="0">
                        <a:buNone/>
                      </a:pPr>
                      <a:r>
                        <a:rPr lang="en-US" sz="1600" b="1" dirty="0">
                          <a:solidFill>
                            <a:srgbClr val="D4AF37"/>
                          </a:solidFill>
                          <a:latin typeface="Exo 2" pitchFamily="34" charset="0"/>
                          <a:ea typeface="Exo 2" pitchFamily="34" charset="-122"/>
                          <a:cs typeface="Exo 2" pitchFamily="34" charset="-120"/>
                        </a:rPr>
                        <a:t>4</a:t>
                      </a:r>
                      <a:endParaRPr lang="en-US" sz="16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Require a monthly data pack: GA4, social, Google Ads, LinkedIn Ads, deposits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Marketing and Malek</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First pack 8 Oct</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Every figure in the next update is sourced</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76656">
                <a:tc>
                  <a:txBody>
                    <a:bodyPr/>
                    <a:lstStyle/>
                    <a:p>
                      <a:pPr indent="0" marL="0">
                        <a:buNone/>
                      </a:pPr>
                      <a:r>
                        <a:rPr lang="en-US" sz="1600" b="1" dirty="0">
                          <a:solidFill>
                            <a:srgbClr val="D4AF37"/>
                          </a:solidFill>
                          <a:latin typeface="Exo 2" pitchFamily="34" charset="0"/>
                          <a:ea typeface="Exo 2" pitchFamily="34" charset="-122"/>
                          <a:cs typeface="Exo 2" pitchFamily="34" charset="-120"/>
                        </a:rPr>
                        <a:t>5</a:t>
                      </a:r>
                      <a:endParaRPr lang="en-US" sz="16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Confirm sign-off of the $5,000 campaign T&amp;Cs and require a Mention &amp; Win close-out</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Compliance and Marketing</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27 Oct</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Both campaigns on record and measured</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Marketing Performance Update - CEO Update 1 October 2026</dc:title>
  <dc:subject>PptxGenJS Presentation</dc:subject>
  <dc:creator>eMYAA Marketing</dc:creator>
  <cp:lastModifiedBy>eMYAA Marketing</cp:lastModifiedBy>
  <cp:revision>1</cp:revision>
  <dcterms:created xsi:type="dcterms:W3CDTF">2026-09-29T11:50:21Z</dcterms:created>
  <dcterms:modified xsi:type="dcterms:W3CDTF">2026-09-29T11:50:21Z</dcterms:modified>
</cp:coreProperties>
</file>