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embeddedFontLst>
    <p:embeddedFont>
      <p:font typeface="Exo 2" charset="0"/>
      <p:regular r:id="rId15"/>
      <p:bold r:id="rId16"/>
      <p:italic r:id="rId17"/>
      <p:boldItalic r:id="rId1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font" Target="fonts/emyaa-font1.fntdata"/><Relationship Id="rId16" Type="http://schemas.openxmlformats.org/officeDocument/2006/relationships/font" Target="fonts/emyaa-font2.fntdata"/><Relationship Id="rId17" Type="http://schemas.openxmlformats.org/officeDocument/2006/relationships/font" Target="fonts/emyaa-font3.fntdata"/><Relationship Id="rId18" Type="http://schemas.openxmlformats.org/officeDocument/2006/relationships/font" Target="fonts/emyaa-font4.fntdata"/></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Board-approved budget, Sep-Dec 2026 (USD)</a:t>
            </a:r>
          </a:p>
        </c:rich>
      </c:tx>
      <c:layout/>
      <c:overlay val="0"/>
    </c:title>
    <c:autoTitleDeleted val="0"/>
    <c:plotArea>
      <c:layout/>
      <c:barChart>
        <c:barDir val="col"/>
        <c:grouping val="stacked"/>
        <c:varyColors val="0"/>
        <c:ser>
          <c:idx val="0"/>
          <c:order val="0"/>
          <c:tx>
            <c:strRef>
              <c:f>Sheet1!$B$1</c:f>
              <c:strCache>
                <c:ptCount val="1"/>
                <c:pt idx="0">
                  <c:v>Saudi Arabia</c:v>
                </c:pt>
              </c:strCache>
            </c:strRef>
          </c:tx>
          <c:spPr>
            <a:solidFill>
              <a:srgbClr val="132257"/>
            </a:solidFill>
            <a:effectLst/>
          </c:spPr>
          <c:invertIfNegative val="0"/>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cat>
            <c:multiLvlStrRef>
              <c:f>Sheet1!$A$2:$A$3</c:f>
              <c:multiLvlStrCache>
                <c:ptCount val="2"/>
                <c:lvl>
                  <c:pt idx="0">
                    <c:v>Google Search</c:v>
                  </c:pt>
                  <c:pt idx="1">
                    <c:v>LinkedIn Affluent</c:v>
                  </c:pt>
                </c:lvl>
              </c:multiLvlStrCache>
            </c:multiLvlStrRef>
          </c:cat>
          <c:val>
            <c:numRef>
              <c:f>Sheet1!$B$2:$B$3</c:f>
              <c:numCache>
                <c:formatCode>General</c:formatCode>
                <c:ptCount val="2"/>
                <c:pt idx="0">
                  <c:v>9000</c:v>
                </c:pt>
                <c:pt idx="1">
                  <c:v>9000</c:v>
                </c:pt>
              </c:numCache>
            </c:numRef>
          </c:val>
        </c:ser>
        <c:ser>
          <c:idx val="1"/>
          <c:order val="1"/>
          <c:tx>
            <c:strRef>
              <c:f>Sheet1!$C$1</c:f>
              <c:strCache>
                <c:ptCount val="1"/>
                <c:pt idx="0">
                  <c:v>Other GCC</c:v>
                </c:pt>
              </c:strCache>
            </c:strRef>
          </c:tx>
          <c:spPr>
            <a:solidFill>
              <a:srgbClr val="D4AF37"/>
            </a:solidFill>
            <a:effectLst/>
          </c:spPr>
          <c:invertIfNegative val="0"/>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cat>
            <c:multiLvlStrRef>
              <c:f>Sheet1!$A$2:$A$3</c:f>
              <c:multiLvlStrCache>
                <c:ptCount val="2"/>
                <c:lvl>
                  <c:pt idx="0">
                    <c:v>Google Search</c:v>
                  </c:pt>
                  <c:pt idx="1">
                    <c:v>LinkedIn Affluent</c:v>
                  </c:pt>
                </c:lvl>
              </c:multiLvlStrCache>
            </c:multiLvlStrRef>
          </c:cat>
          <c:val>
            <c:numRef>
              <c:f>Sheet1!$C$2:$C$3</c:f>
              <c:numCache>
                <c:formatCode>General</c:formatCode>
                <c:ptCount val="2"/>
                <c:pt idx="0">
                  <c:v>6000</c:v>
                </c:pt>
                <c:pt idx="1">
                  <c:v>6000</c:v>
                </c:pt>
              </c:numCache>
            </c:numRef>
          </c:val>
        </c:ser>
        <c:dLbls>
          <c:numFmt formatCode="&quot;$&quot;#,##0" sourceLinked="0"/>
          <c:txPr>
            <a:bodyPr/>
            <a:lstStyle/>
            <a:p>
              <a:pPr>
                <a:defRPr b="0" i="0" strike="noStrike" sz="1000" u="none">
                  <a:solidFill>
                    <a:srgbClr val="FFFFFF"/>
                  </a:solidFill>
                  <a:latin typeface="Exo 2"/>
                </a:defRPr>
              </a:pPr>
            </a:p>
          </c:txPr>
          <c:dLblPos val="ct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16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Share of website sessions by source, 1-28 Sep (n = 587)</a:t>
            </a:r>
          </a:p>
        </c:rich>
      </c:tx>
      <c:layout/>
      <c:overlay val="0"/>
    </c:title>
    <c:autoTitleDeleted val="0"/>
    <c:plotArea>
      <c:layout/>
      <c:barChart>
        <c:barDir val="bar"/>
        <c:grouping val="clustered"/>
        <c:varyColors val="0"/>
        <c:ser>
          <c:idx val="0"/>
          <c:order val="0"/>
          <c:tx>
            <c:strRef>
              <c:f>Sheet1!$B$1</c:f>
              <c:strCache>
                <c:ptCount val="1"/>
                <c:pt idx="0">
                  <c:v>Share of sessions</c:v>
                </c:pt>
              </c:strCache>
            </c:strRef>
          </c:tx>
          <c:spPr>
            <a:solidFill>
              <a:srgbClr val="132257"/>
            </a:solidFill>
            <a:effectLst/>
          </c:spPr>
          <c:invertIfNegative val="0"/>
          <c:dLbls>
            <c:numFmt formatCode="0.0&quot;%&quot;"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Sheet1!$A$2:$A$7</c:f>
              <c:multiLvlStrCache>
                <c:ptCount val="6"/>
                <c:lvl>
                  <c:pt idx="0">
                    <c:v>Google Ads, cpc (409)</c:v>
                  </c:pt>
                  <c:pt idx="1">
                    <c:v>Direct (92)</c:v>
                  </c:pt>
                  <c:pt idx="2">
                    <c:v>Organic search (39)</c:v>
                  </c:pt>
                  <c:pt idx="3">
                    <c:v>Referral (32)</c:v>
                  </c:pt>
                  <c:pt idx="4">
                    <c:v>ChatGPT (9)</c:v>
                  </c:pt>
                  <c:pt idx="5">
                    <c:v>Not available (6)</c:v>
                  </c:pt>
                </c:lvl>
              </c:multiLvlStrCache>
            </c:multiLvlStrRef>
          </c:cat>
          <c:val>
            <c:numRef>
              <c:f>Sheet1!$B$2:$B$7</c:f>
              <c:numCache>
                <c:formatCode>General</c:formatCode>
                <c:ptCount val="6"/>
                <c:pt idx="0">
                  <c:v>69.7</c:v>
                </c:pt>
                <c:pt idx="1">
                  <c:v>15.7</c:v>
                </c:pt>
                <c:pt idx="2">
                  <c:v>6.6</c:v>
                </c:pt>
                <c:pt idx="3">
                  <c:v>5.5</c:v>
                </c:pt>
                <c:pt idx="4">
                  <c:v>1.5</c:v>
                </c:pt>
                <c:pt idx="5">
                  <c:v>1</c:v>
                </c:pt>
              </c:numCache>
            </c:numRef>
          </c:val>
        </c:ser>
        <c:dLbls>
          <c:numFmt formatCode="0.0&quot;%&quot;"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8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Google Ads Saudi campaigns: EN 212 vs AR 176 sessions</a:t>
            </a:r>
          </a:p>
        </c:rich>
      </c:tx>
      <c:layout/>
      <c:overlay val="0"/>
    </c:title>
    <c:autoTitleDeleted val="0"/>
    <c:plotArea>
      <c:layout/>
      <c:barChart>
        <c:barDir val="col"/>
        <c:grouping val="clustered"/>
        <c:varyColors val="0"/>
        <c:ser>
          <c:idx val="0"/>
          <c:order val="0"/>
          <c:tx>
            <c:strRef>
              <c:f>Sheet1!$B$1</c:f>
              <c:strCache>
                <c:ptCount val="1"/>
                <c:pt idx="0">
                  <c:v>English campaign</c:v>
                </c:pt>
              </c:strCache>
            </c:strRef>
          </c:tx>
          <c:spPr>
            <a:solidFill>
              <a:srgbClr val="132257"/>
            </a:solidFill>
            <a:effectLst/>
          </c:spPr>
          <c:invertIfNegative val="0"/>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Sheet1!$A$2:$A$3</c:f>
              <c:multiLvlStrCache>
                <c:ptCount val="2"/>
                <c:lvl>
                  <c:pt idx="0">
                    <c:v>Engagement rate, %</c:v>
                  </c:pt>
                  <c:pt idx="1">
                    <c:v>Key events per 100 sessions</c:v>
                  </c:pt>
                </c:lvl>
              </c:multiLvlStrCache>
            </c:multiLvlStrRef>
          </c:cat>
          <c:val>
            <c:numRef>
              <c:f>Sheet1!$B$2:$B$3</c:f>
              <c:numCache>
                <c:formatCode>General</c:formatCode>
                <c:ptCount val="2"/>
                <c:pt idx="0">
                  <c:v>97.2</c:v>
                </c:pt>
                <c:pt idx="1">
                  <c:v>94.3</c:v>
                </c:pt>
              </c:numCache>
            </c:numRef>
          </c:val>
        </c:ser>
        <c:ser>
          <c:idx val="1"/>
          <c:order val="1"/>
          <c:tx>
            <c:strRef>
              <c:f>Sheet1!$C$1</c:f>
              <c:strCache>
                <c:ptCount val="1"/>
                <c:pt idx="0">
                  <c:v>Arabic campaign</c:v>
                </c:pt>
              </c:strCache>
            </c:strRef>
          </c:tx>
          <c:spPr>
            <a:solidFill>
              <a:srgbClr val="D4AF37"/>
            </a:solidFill>
            <a:effectLst/>
          </c:spPr>
          <c:invertIfNegative val="0"/>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Sheet1!$A$2:$A$3</c:f>
              <c:multiLvlStrCache>
                <c:ptCount val="2"/>
                <c:lvl>
                  <c:pt idx="0">
                    <c:v>Engagement rate, %</c:v>
                  </c:pt>
                  <c:pt idx="1">
                    <c:v>Key events per 100 sessions</c:v>
                  </c:pt>
                </c:lvl>
              </c:multiLvlStrCache>
            </c:multiLvlStrRef>
          </c:cat>
          <c:val>
            <c:numRef>
              <c:f>Sheet1!$C$2:$C$3</c:f>
              <c:numCache>
                <c:formatCode>General</c:formatCode>
                <c:ptCount val="2"/>
                <c:pt idx="0">
                  <c:v>86.9</c:v>
                </c:pt>
                <c:pt idx="1">
                  <c:v>105.1</c:v>
                </c:pt>
              </c:numCache>
            </c:numRef>
          </c:val>
        </c:ser>
        <c:dLbls>
          <c:numFmt formatCode="0.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Net new app downloads and onboarded users between dashboard dates</a:t>
            </a:r>
          </a:p>
        </c:rich>
      </c:tx>
      <c:layout/>
      <c:overlay val="0"/>
    </c:title>
    <c:autoTitleDeleted val="0"/>
    <c:plotArea>
      <c:layout/>
      <c:barChart>
        <c:barDir val="col"/>
        <c:grouping val="clustered"/>
        <c:varyColors val="0"/>
        <c:ser>
          <c:idx val="0"/>
          <c:order val="0"/>
          <c:tx>
            <c:strRef>
              <c:f>Sheet1!$B$1</c:f>
              <c:strCache>
                <c:ptCount val="1"/>
                <c:pt idx="0">
                  <c:v>App downloads added</c:v>
                </c:pt>
              </c:strCache>
            </c:strRef>
          </c:tx>
          <c:spPr>
            <a:solidFill>
              <a:srgbClr val="132257"/>
            </a:solidFill>
            <a:effectLst/>
          </c:spPr>
          <c:invertIfNegative val="0"/>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cat>
            <c:multiLvlStrRef>
              <c:f>Sheet1!$A$2:$A$5</c:f>
              <c:multiLvlStrCache>
                <c:ptCount val="4"/>
                <c:lvl>
                  <c:pt idx="0">
                    <c:v>1-8 Sep</c:v>
                  </c:pt>
                  <c:pt idx="1">
                    <c:v>8-14 Sep</c:v>
                  </c:pt>
                  <c:pt idx="2">
                    <c:v>14-21 Sep</c:v>
                  </c:pt>
                  <c:pt idx="3">
                    <c:v>21-27 Sep (paid live)</c:v>
                  </c:pt>
                </c:lvl>
              </c:multiLvlStrCache>
            </c:multiLvlStrRef>
          </c:cat>
          <c:val>
            <c:numRef>
              <c:f>Sheet1!$B$2:$B$5</c:f>
              <c:numCache>
                <c:formatCode>General</c:formatCode>
                <c:ptCount val="4"/>
                <c:pt idx="0">
                  <c:v>30</c:v>
                </c:pt>
                <c:pt idx="1">
                  <c:v>20</c:v>
                </c:pt>
                <c:pt idx="2">
                  <c:v>14</c:v>
                </c:pt>
                <c:pt idx="3">
                  <c:v>36</c:v>
                </c:pt>
              </c:numCache>
            </c:numRef>
          </c:val>
        </c:ser>
        <c:ser>
          <c:idx val="1"/>
          <c:order val="1"/>
          <c:tx>
            <c:strRef>
              <c:f>Sheet1!$C$1</c:f>
              <c:strCache>
                <c:ptCount val="1"/>
                <c:pt idx="0">
                  <c:v>Users onboarded</c:v>
                </c:pt>
              </c:strCache>
            </c:strRef>
          </c:tx>
          <c:spPr>
            <a:solidFill>
              <a:srgbClr val="1BA97C"/>
            </a:solidFill>
            <a:effectLst/>
          </c:spPr>
          <c:invertIfNegative val="0"/>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cat>
            <c:multiLvlStrRef>
              <c:f>Sheet1!$A$2:$A$5</c:f>
              <c:multiLvlStrCache>
                <c:ptCount val="4"/>
                <c:lvl>
                  <c:pt idx="0">
                    <c:v>1-8 Sep</c:v>
                  </c:pt>
                  <c:pt idx="1">
                    <c:v>8-14 Sep</c:v>
                  </c:pt>
                  <c:pt idx="2">
                    <c:v>14-21 Sep</c:v>
                  </c:pt>
                  <c:pt idx="3">
                    <c:v>21-27 Sep (paid live)</c:v>
                  </c:pt>
                </c:lvl>
              </c:multiLvlStrCache>
            </c:multiLvlStrRef>
          </c:cat>
          <c:val>
            <c:numRef>
              <c:f>Sheet1!$C$2:$C$5</c:f>
              <c:numCache>
                <c:formatCode>General</c:formatCode>
                <c:ptCount val="4"/>
                <c:pt idx="0">
                  <c:v>1</c:v>
                </c:pt>
                <c:pt idx="1">
                  <c:v>3</c:v>
                </c:pt>
                <c:pt idx="2">
                  <c:v>5</c:v>
                </c:pt>
                <c:pt idx="3">
                  <c:v>3</c:v>
                </c:pt>
              </c:numCache>
            </c:numRef>
          </c:val>
        </c:ser>
        <c:dLbls>
          <c:numFmt formatCode="#,##0" sourceLinked="0"/>
          <c:txPr>
            <a:bodyPr/>
            <a:lstStyle/>
            <a:p>
              <a:pPr>
                <a:defRPr b="1" i="0" strike="noStrike" sz="1100" u="none">
                  <a:solidFill>
                    <a:srgbClr val="132257"/>
                  </a:solidFill>
                  <a:latin typeface="Exo 2"/>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1F2A44"/>
                </a:solidFill>
                <a:latin typeface="Exo 2"/>
              </a:defRPr>
            </a:pPr>
            <a:endParaRPr lang="en-US"/>
          </a:p>
        </c:txPr>
        <c:crossAx val="2094734552"/>
        <c:crosses val="autoZero"/>
        <c:auto val="1"/>
        <c:lblAlgn val="ctr"/>
        <c:noMultiLvlLbl val="1"/>
      </c:catAx>
      <c:valAx>
        <c:axId val="2094734552"/>
        <c:scaling>
          <c:orientation val="minMax"/>
          <c:max val="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F2A44"/>
              </a:solidFill>
              <a:latin typeface="Exo 2"/>
              <a:cs typeface="Exo 2"/>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32257"/>
                </a:solidFill>
                <a:latin typeface="Exo 2"/>
              </a:defRPr>
            </a:pPr>
            <a:r>
              <a:rPr sz="1100" b="0" i="0" u="none" strike="noStrike">
                <a:solidFill>
                  <a:srgbClr val="132257"/>
                </a:solidFill>
                <a:latin typeface="Exo 2"/>
              </a:rPr>
              <a:t>Prize if you win, by trading volume Aug-Dec 2026 (USD)</a:t>
            </a:r>
          </a:p>
        </c:rich>
      </c:tx>
      <c:layout/>
      <c:overlay val="0"/>
    </c:title>
    <c:autoTitleDeleted val="0"/>
    <c:plotArea>
      <c:layout/>
      <c:barChart>
        <c:barDir val="col"/>
        <c:grouping val="clustered"/>
        <c:varyColors val="0"/>
        <c:ser>
          <c:idx val="0"/>
          <c:order val="0"/>
          <c:tx>
            <c:strRef>
              <c:f>Sheet1!$B$1</c:f>
              <c:strCache>
                <c:ptCount val="1"/>
                <c:pt idx="0">
                  <c:v>Prize</c:v>
                </c:pt>
              </c:strCache>
            </c:strRef>
          </c:tx>
          <c:spPr>
            <a:solidFill>
              <a:srgbClr val="D4AF37"/>
            </a:solidFill>
            <a:effectLst/>
          </c:spPr>
          <c:invertIfNegative val="0"/>
          <c:dLbls>
            <c:numFmt formatCode="&quot;$&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cat>
            <c:multiLvlStrRef>
              <c:f>Sheet1!$A$2:$A$7</c:f>
              <c:multiLvlStrCache>
                <c:ptCount val="6"/>
                <c:lvl>
                  <c:pt idx="0">
                    <c:v>$0.5K-5K</c:v>
                  </c:pt>
                  <c:pt idx="1">
                    <c:v>$5K-15K</c:v>
                  </c:pt>
                  <c:pt idx="2">
                    <c:v>$15K-50K</c:v>
                  </c:pt>
                  <c:pt idx="3">
                    <c:v>$50K-100K</c:v>
                  </c:pt>
                  <c:pt idx="4">
                    <c:v>$100K-500K</c:v>
                  </c:pt>
                  <c:pt idx="5">
                    <c:v>$500K+</c:v>
                  </c:pt>
                </c:lvl>
              </c:multiLvlStrCache>
            </c:multiLvlStrRef>
          </c:cat>
          <c:val>
            <c:numRef>
              <c:f>Sheet1!$B$2:$B$7</c:f>
              <c:numCache>
                <c:formatCode>General</c:formatCode>
                <c:ptCount val="6"/>
                <c:pt idx="0">
                  <c:v>500</c:v>
                </c:pt>
                <c:pt idx="1">
                  <c:v>1000</c:v>
                </c:pt>
                <c:pt idx="2">
                  <c:v>2000</c:v>
                </c:pt>
                <c:pt idx="3">
                  <c:v>3000</c:v>
                </c:pt>
                <c:pt idx="4">
                  <c:v>4000</c:v>
                </c:pt>
                <c:pt idx="5">
                  <c:v>5000</c:v>
                </c:pt>
              </c:numCache>
            </c:numRef>
          </c:val>
        </c:ser>
        <c:dLbls>
          <c:numFmt formatCode="&quot;$&quot;#,##0" sourceLinked="0"/>
          <c:txPr>
            <a:bodyPr/>
            <a:lstStyle/>
            <a:p>
              <a:pPr>
                <a:defRPr b="0" i="0" strike="noStrike" sz="1000" u="none">
                  <a:solidFill>
                    <a:srgbClr val="132257"/>
                  </a:solidFill>
                  <a:latin typeface="Exo 2"/>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7A849C"/>
                </a:solidFill>
                <a:latin typeface="Exo 2"/>
              </a:defRPr>
            </a:pPr>
            <a:endParaRPr lang="en-US"/>
          </a:p>
        </c:txPr>
        <c:crossAx val="2094734552"/>
        <c:crosses val="autoZero"/>
        <c:auto val="1"/>
        <c:lblAlgn val="ctr"/>
        <c:noMultiLvlLbl val="1"/>
      </c:catAx>
      <c:valAx>
        <c:axId val="2094734552"/>
        <c:scaling>
          <c:orientation val="minMax"/>
          <c:max val="6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GA4 exports 1-28 Sep 2026; GA4 home card 21-27 Sep; daily performance dashboards to 27 Sep; eMYAA Board of Directors Update 17 Sep 2026 (plan, budget, segments, CAC targets); content calendars Sep and Oct 2026 (V2); Instagram profile grid screenshot; $5,000 campaign T&amp;Cs, approval checklist and 24F briefing. Anything without a source file is labelled 'reported' or 'per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 = 409 google / cpc sessions of 587 total, 1-28 Sep. Downloads: 437 on the 21 Sep dashboard, 473 on 27 Sep (+36); the week before added +14. Onboarded: 57 to 60 (+3) over the same six days. 1.3M and 186K are Instagram view counts from the profile grid screenshot.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Board segments: Starter under $1,000 and Emerging $1,000 to $5,000 via Google Ads; Affluent $5,000 to $50,000 via LinkedIn lead generation then in-person meeting. CAC targets: Starter $167, Emerging $417, Affluent $882. Budget: Google Search Saudi $9,000, LinkedIn Affluent Saudi $9,000, Google Search Qatar/UAE/Kuwait/Bahrain/Oman $6,000, LinkedIn Affluent same markets $6,000; funded from the $62,477 reserved budget. GA4 shows only the two Saudi Google campaigns so far. LinkedIn lead forms keep users on LinkedIn, so no LinkedIn sessions in GA4 is expected. The Ignite invoice TI7541 was cited by the previous audit but is not in this review set; TI7542 is not in the review set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Corrections vs the previous drafts: referral is 5.5% (32 sessions by GA medium) not 6.6% (the draft grouped ChatGPT's 9 sessions into referral and left out facebook.com's 2); top four sources are 97.4% (572 of 587), not 98.6%; EN/AR session shares are 54.6%/45.4%, not 54.5%/45.2%; EN engagement time per session is 19.9s, not 19s; the period is 1-28 Sep, not 'since 22/23 Sep'; 558 new users is the September total, not 'since campaign launch'. GA home card: 384 active users for 21-27 Sep, a reported +793% vs the previous 7 days (implied prior week about 43; not exported; all sources and countries). 403 of 542 active users (74.4%) had google / cpc as first source. Key events: EN 200 on 212 sessions (0.94 per session), AR 185 on 176 sessions (1.05). The key event is not defined in the export; 400 key events on 409 paid sessions suggests a light action, so do not call it a conversion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change between dashboard report dates. Downloads = Android + iOS: 373 (1 Sep), 403 (8 Sep), 423 (14 Sep), 437 (21 Sep), 473 (27 Sep). Users onboarded: 48, 49, 52, 57, 60. Funded accounts: 12 to 13 (21 Sep) to 15 (27 Sep). Trades: 54 on 27 Sep. The 28 Sep dashboard (#32) cited by the previous audit shows 480 downloads; it is not in this review set. The Board shows 61 clients 'as at 17 Sep' while the 17 Sep dashboard shows 54; logged as an open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&amp; Win (24F briefing): recurring monthly contest across all six GCC countries, approved caption 'Follow, mention, and open an eMYAA account for a chance to win $500'; paid boost via Ignite. Calendar posts 15 Sep and 18 Oct; the team gives 23 Sep to 20 Oct for the current round. Board budget: $1,100 prizes Jun-Aug; $3,200 prizes and ads Sep-Dec. The 26.3K post is the 'open your account, chance to win $500' creative. 1,129 likes on the launch reel is reported, not visible on the screenshot. $5,000 Prize Campaign: approval checklist of 20 Jul shows landing pages built and live, bilingual T&amp;Cs 'sent for approval' with no sign-off recorded, six influencer scripts finalized. Campaign period 1 Aug to 31 Dec 2026, draw 10 Jan 2027; $5,000 prize in the Board plan to year end; launch animation on the October calendar for 5 Oct.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Pipeline: Ali Sabeel posted 2 Sep (September calendar); Manal Talal brief sent and in production, October calendar V2 date 22 Oct; Hamed Al Bloushi November per the rollout plan (the September calendar had listed 29 Sep). The how-to video showed 319 views in the previous draft and 332 on the screenshot (later capture). Instagram views: Musheera 5.3M, Ali Sabeel 1.3M, Mention &amp; Win graphic 186K; every other post on the grid is under 600, so reach depends on a few (likely boosted) assets. Excluded as unverified: 2,271,132 'all-time' views (one reel alone shows 5.3M) and format shares, which differ between decks. LinkedIn: +6,075% is growth in new followers (247 vs 4 in the prior 30 days), not total followers; the LinkedIn export (31 May-28 Aug) shows 498 new followers, 493 in June, contradicting the draft's 284 baseline. Website: 587 sessions, 11 from Instagram, 1-28 Sep.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2 follows from the GA4 campaign export: Arabic has a lower engagement rate (86.9% vs 97.2%) but more key events per session (1.05 vs 0.94). Decision 3 follows from the dashboards: +36 downloads but +3 onboarded in the first six days of paid testing. Open items: deposits $12,206 (Board, verbal from Malek) vs $10,029.69 on the dashboard (relabelled 'Total AUM' from 20 Sep) vs $11,195.88 in the KPI workbook; clients 61 on the Board 'as at 17 Sep' vs 54 on the 17 Sep dashboard and 60 on 27 Sep; no Ignite spend, cost per key event or LinkedIn lead data, and the key event is undefined; no September social exports; the 793% active-user rise (GA card, prior week implied) and LinkedIn +118% / +155% are not traceable to an export; LinkedIn followers 531 vs 586; $5,000 campaign T&amp;Cs sent for approval on 20 Jul with no sign-off on file. Market Pulse: in-app feature in discussion (Exante data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4" Type="http://schemas.openxmlformats.org/officeDocument/2006/relationships/chart" Target="/ppt/charts/chart2.xml"/><Relationship Id="rId5" Type="http://schemas.openxmlformats.org/officeDocument/2006/relationships/chart" Target="/ppt/charts/chart3.xml"/><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4" Type="http://schemas.openxmlformats.org/officeDocument/2006/relationships/chart" Target="/ppt/charts/chart4.xml"/><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6" Type="http://schemas.openxmlformats.org/officeDocument/2006/relationships/chart" Target="/ppt/charts/chart5.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HatemIsa_202508993_IT9002_NLP_Project/emyaa-ceo-deck/working/charts/emyaa_white.png">    </p:cNvPr>
          <p:cNvPicPr>
            <a:picLocks noChangeAspect="1"/>
          </p:cNvPicPr>
          <p:nvPr/>
        </p:nvPicPr>
        <p:blipFill>
          <a:blip r:embed="rId2"/>
          <a:stretch>
            <a:fillRect/>
          </a:stretch>
        </p:blipFill>
        <p:spPr>
          <a:xfrm>
            <a:off x="685800" y="685800"/>
            <a:ext cx="1600200" cy="566928"/>
          </a:xfrm>
          <a:prstGeom prst="rect">
            <a:avLst/>
          </a:prstGeom>
        </p:spPr>
      </p:pic>
      <p:pic>
        <p:nvPicPr>
          <p:cNvPr id="3" name="Image 1" descr="/home/user/HatemIsa_202508993_IT9002_NLP_Project/emyaa-ceo-deck/working/charts/ajyad_white.png">    </p:cNvPr>
          <p:cNvPicPr>
            <a:picLocks noChangeAspect="1"/>
          </p:cNvPicPr>
          <p:nvPr/>
        </p:nvPicPr>
        <p:blipFill>
          <a:blip r:embed="rId3"/>
          <a:stretch>
            <a:fillRect/>
          </a:stretch>
        </p:blipFill>
        <p:spPr>
          <a:xfrm>
            <a:off x="9756648" y="685800"/>
            <a:ext cx="1755648" cy="512064"/>
          </a:xfrm>
          <a:prstGeom prst="rect">
            <a:avLst/>
          </a:prstGeom>
        </p:spPr>
      </p:pic>
      <p:sp>
        <p:nvSpPr>
          <p:cNvPr id="4" name="Text 0"/>
          <p:cNvSpPr txBox="1"/>
          <p:nvPr/>
        </p:nvSpPr>
        <p:spPr>
          <a:xfrm>
            <a:off x="685800" y="2560320"/>
            <a:ext cx="10881360" cy="868680"/>
          </a:xfrm>
          <a:prstGeom prst="rect">
            <a:avLst/>
          </a:prstGeom>
          <a:noFill/>
          <a:ln/>
        </p:spPr>
        <p:txBody>
          <a:bodyPr wrap="square" lIns="0" tIns="0" rIns="0" bIns="0" rtlCol="0" anchor="t"/>
          <a:lstStyle/>
          <a:p>
            <a:pPr indent="0" marL="0">
              <a:buNone/>
            </a:pPr>
            <a:r>
              <a:rPr lang="en-US" sz="4000" b="1" dirty="0">
                <a:solidFill>
                  <a:srgbClr val="FFFFFF"/>
                </a:solidFill>
                <a:latin typeface="Exo 2" pitchFamily="34" charset="0"/>
                <a:ea typeface="Exo 2" pitchFamily="34" charset="-122"/>
                <a:cs typeface="Exo 2" pitchFamily="34" charset="-120"/>
              </a:rPr>
              <a:t>Marketing Performance Update</a:t>
            </a:r>
            <a:endParaRPr lang="en-US" sz="4000" dirty="0"/>
          </a:p>
        </p:txBody>
      </p:sp>
      <p:sp>
        <p:nvSpPr>
          <p:cNvPr id="5" name="Text 1"/>
          <p:cNvSpPr txBox="1"/>
          <p:nvPr/>
        </p:nvSpPr>
        <p:spPr>
          <a:xfrm>
            <a:off x="685800" y="3474720"/>
            <a:ext cx="10058400" cy="411480"/>
          </a:xfrm>
          <a:prstGeom prst="rect">
            <a:avLst/>
          </a:prstGeom>
          <a:noFill/>
          <a:ln/>
        </p:spPr>
        <p:txBody>
          <a:bodyPr wrap="square" lIns="0" tIns="0" rIns="0" bIns="0" rtlCol="0" anchor="t"/>
          <a:lstStyle/>
          <a:p>
            <a:pPr indent="0" marL="0">
              <a:buNone/>
            </a:pPr>
            <a:r>
              <a:rPr lang="en-US" sz="2000" b="1" spc="100" kern="0" dirty="0">
                <a:solidFill>
                  <a:srgbClr val="D4AF37"/>
                </a:solidFill>
                <a:latin typeface="Exo 2" pitchFamily="34" charset="0"/>
                <a:ea typeface="Exo 2" pitchFamily="34" charset="-122"/>
                <a:cs typeface="Exo 2" pitchFamily="34" charset="-120"/>
              </a:rPr>
              <a:t>CEO UPDATE</a:t>
            </a:r>
            <a:endParaRPr lang="en-US" sz="2000" dirty="0"/>
          </a:p>
        </p:txBody>
      </p:sp>
      <p:sp>
        <p:nvSpPr>
          <p:cNvPr id="6" name="Text 2"/>
          <p:cNvSpPr txBox="1"/>
          <p:nvPr/>
        </p:nvSpPr>
        <p:spPr>
          <a:xfrm>
            <a:off x="685800" y="3931920"/>
            <a:ext cx="7315200" cy="365760"/>
          </a:xfrm>
          <a:prstGeom prst="rect">
            <a:avLst/>
          </a:prstGeom>
          <a:noFill/>
          <a:ln/>
        </p:spPr>
        <p:txBody>
          <a:bodyPr wrap="square" lIns="0" tIns="0" rIns="0" bIns="0" rtlCol="0" anchor="t"/>
          <a:lstStyle/>
          <a:p>
            <a:pPr indent="0" marL="0">
              <a:buNone/>
            </a:pPr>
            <a:r>
              <a:rPr lang="en-US" sz="1600" dirty="0">
                <a:solidFill>
                  <a:srgbClr val="FFFFFF"/>
                </a:solidFill>
                <a:latin typeface="Exo 2" pitchFamily="34" charset="0"/>
                <a:ea typeface="Exo 2" pitchFamily="34" charset="-122"/>
                <a:cs typeface="Exo 2" pitchFamily="34" charset="-120"/>
              </a:rPr>
              <a:t>1 October 2026</a:t>
            </a:r>
            <a:endParaRPr lang="en-US" sz="1600" dirty="0"/>
          </a:p>
        </p:txBody>
      </p:sp>
      <p:sp>
        <p:nvSpPr>
          <p:cNvPr id="7" name="Text 3"/>
          <p:cNvSpPr txBox="1"/>
          <p:nvPr/>
        </p:nvSpPr>
        <p:spPr>
          <a:xfrm>
            <a:off x="685800" y="6126480"/>
            <a:ext cx="10881360" cy="274320"/>
          </a:xfrm>
          <a:prstGeom prst="rect">
            <a:avLst/>
          </a:prstGeom>
          <a:noFill/>
          <a:ln/>
        </p:spPr>
        <p:txBody>
          <a:bodyPr wrap="square" lIns="0" tIns="0" rIns="0" bIns="0" rtlCol="0" anchor="t"/>
          <a:lstStyle/>
          <a:p>
            <a:pPr indent="0" marL="0">
              <a:buNone/>
            </a:pPr>
            <a:r>
              <a:rPr lang="en-US" sz="1000" dirty="0">
                <a:solidFill>
                  <a:srgbClr val="C6CFE4"/>
                </a:solidFill>
                <a:latin typeface="Exo 2" pitchFamily="34" charset="0"/>
                <a:ea typeface="Exo 2" pitchFamily="34" charset="-122"/>
                <a:cs typeface="Exo 2" pitchFamily="34" charset="-120"/>
              </a:rPr>
              <a:t>Web: GA4, 1-28 Sep 2026  |  Platform: daily dashboard, 27 Sep 2026  |  Plan and budget: Board update, 17 Sep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EXECUTIVE SUMMARY</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Paid search drives traffic and downloads; onboarding is now the bottleneck</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Paid media works at the top of the funnel. Decide on 20 October, judged on accounts opened.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exports 1-28 Sep 2026; daily performance dashboards 14-27 Sep 2026; Instagram profile grid screenshot; Board update 17 Sep 2026 (CAC targets).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2</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566928" y="1600200"/>
            <a:ext cx="2624328" cy="3840480"/>
          </a:xfrm>
          <a:prstGeom prst="rect">
            <a:avLst/>
          </a:prstGeom>
          <a:solidFill>
            <a:srgbClr val="FFFFFF"/>
          </a:solidFill>
          <a:ln w="9525">
            <a:solidFill>
              <a:srgbClr val="D9DFEA"/>
            </a:solidFill>
            <a:prstDash val="solid"/>
          </a:ln>
        </p:spPr>
      </p:sp>
      <p:sp>
        <p:nvSpPr>
          <p:cNvPr id="16" name="Shape 10"/>
          <p:cNvSpPr/>
          <p:nvPr/>
        </p:nvSpPr>
        <p:spPr>
          <a:xfrm>
            <a:off x="566928" y="1600200"/>
            <a:ext cx="2624328" cy="32004"/>
          </a:xfrm>
          <a:prstGeom prst="rect">
            <a:avLst/>
          </a:prstGeom>
          <a:solidFill>
            <a:srgbClr val="132257"/>
          </a:solidFill>
          <a:ln w="12700">
            <a:solidFill>
              <a:srgbClr val="132257"/>
            </a:solidFill>
            <a:prstDash val="solid"/>
          </a:ln>
        </p:spPr>
      </p:sp>
      <p:sp>
        <p:nvSpPr>
          <p:cNvPr id="17" name="Text 11"/>
          <p:cNvSpPr txBox="1"/>
          <p:nvPr/>
        </p:nvSpPr>
        <p:spPr>
          <a:xfrm>
            <a:off x="795528"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DELIVERED</a:t>
            </a:r>
            <a:endParaRPr lang="en-US" sz="900" dirty="0"/>
          </a:p>
        </p:txBody>
      </p:sp>
      <p:sp>
        <p:nvSpPr>
          <p:cNvPr id="18" name="Text 12"/>
          <p:cNvSpPr txBox="1"/>
          <p:nvPr/>
        </p:nvSpPr>
        <p:spPr>
          <a:xfrm>
            <a:off x="795528" y="2194560"/>
            <a:ext cx="2167128" cy="822960"/>
          </a:xfrm>
          <a:prstGeom prst="rect">
            <a:avLst/>
          </a:prstGeom>
          <a:noFill/>
          <a:ln/>
        </p:spPr>
        <p:txBody>
          <a:bodyPr wrap="square" lIns="0" tIns="0" rIns="0" bIns="0" rtlCol="0" anchor="t"/>
          <a:lstStyle/>
          <a:p>
            <a:pPr indent="0" marL="0">
              <a:buNone/>
            </a:pPr>
            <a:r>
              <a:rPr lang="en-US" sz="4400" b="1" dirty="0">
                <a:solidFill>
                  <a:srgbClr val="132257"/>
                </a:solidFill>
                <a:latin typeface="Exo 2" pitchFamily="34" charset="0"/>
                <a:ea typeface="Exo 2" pitchFamily="34" charset="-122"/>
                <a:cs typeface="Exo 2" pitchFamily="34" charset="-120"/>
              </a:rPr>
              <a:t>1.3M</a:t>
            </a:r>
            <a:endParaRPr lang="en-US" sz="4400" dirty="0"/>
          </a:p>
        </p:txBody>
      </p:sp>
      <p:sp>
        <p:nvSpPr>
          <p:cNvPr id="19" name="Text 13"/>
          <p:cNvSpPr txBox="1"/>
          <p:nvPr/>
        </p:nvSpPr>
        <p:spPr>
          <a:xfrm>
            <a:off x="795528" y="3108960"/>
            <a:ext cx="2167128" cy="73152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views, Ali Sabeel reel</a:t>
            </a:r>
            <a:endParaRPr lang="en-US" sz="1600" dirty="0"/>
          </a:p>
        </p:txBody>
      </p:sp>
      <p:sp>
        <p:nvSpPr>
          <p:cNvPr id="20" name="Text 14"/>
          <p:cNvSpPr txBox="1"/>
          <p:nvPr/>
        </p:nvSpPr>
        <p:spPr>
          <a:xfrm>
            <a:off x="795528" y="4023360"/>
            <a:ext cx="2167128" cy="1280160"/>
          </a:xfrm>
          <a:prstGeom prst="rect">
            <a:avLst/>
          </a:prstGeom>
          <a:noFill/>
          <a:ln/>
        </p:spPr>
        <p:txBody>
          <a:bodyPr wrap="square" lIns="0" tIns="0" rIns="0" bIns="0" rtlCol="0" anchor="t"/>
          <a:lstStyle/>
          <a:p>
            <a:pPr indent="0" marL="0">
              <a:buNone/>
            </a:pPr>
            <a:r>
              <a:rPr lang="en-US" sz="1400" dirty="0">
                <a:solidFill>
                  <a:srgbClr val="1F2A44"/>
                </a:solidFill>
                <a:latin typeface="Exo 2" pitchFamily="34" charset="0"/>
                <a:ea typeface="Exo 2" pitchFamily="34" charset="-122"/>
                <a:cs typeface="Exo 2" pitchFamily="34" charset="-120"/>
              </a:rPr>
              <a:t>Three presenter videos posted in September. Manal Talal on 22 Oct.</a:t>
            </a:r>
            <a:endParaRPr lang="en-US" sz="1400" dirty="0"/>
          </a:p>
        </p:txBody>
      </p:sp>
      <p:sp>
        <p:nvSpPr>
          <p:cNvPr id="21" name="Shape 15"/>
          <p:cNvSpPr/>
          <p:nvPr/>
        </p:nvSpPr>
        <p:spPr>
          <a:xfrm>
            <a:off x="3374136" y="1600200"/>
            <a:ext cx="2624328" cy="3840480"/>
          </a:xfrm>
          <a:prstGeom prst="rect">
            <a:avLst/>
          </a:prstGeom>
          <a:solidFill>
            <a:srgbClr val="FFFFFF"/>
          </a:solidFill>
          <a:ln w="9525">
            <a:solidFill>
              <a:srgbClr val="D9DFEA"/>
            </a:solidFill>
            <a:prstDash val="solid"/>
          </a:ln>
        </p:spPr>
      </p:sp>
      <p:sp>
        <p:nvSpPr>
          <p:cNvPr id="22" name="Shape 16"/>
          <p:cNvSpPr/>
          <p:nvPr/>
        </p:nvSpPr>
        <p:spPr>
          <a:xfrm>
            <a:off x="3374136" y="1600200"/>
            <a:ext cx="2624328" cy="32004"/>
          </a:xfrm>
          <a:prstGeom prst="rect">
            <a:avLst/>
          </a:prstGeom>
          <a:solidFill>
            <a:srgbClr val="1BA97C"/>
          </a:solidFill>
          <a:ln w="12700">
            <a:solidFill>
              <a:srgbClr val="1BA97C"/>
            </a:solidFill>
            <a:prstDash val="solid"/>
          </a:ln>
        </p:spPr>
      </p:sp>
      <p:sp>
        <p:nvSpPr>
          <p:cNvPr id="23" name="Text 17"/>
          <p:cNvSpPr txBox="1"/>
          <p:nvPr/>
        </p:nvSpPr>
        <p:spPr>
          <a:xfrm>
            <a:off x="3602736"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LIVE</a:t>
            </a:r>
            <a:endParaRPr lang="en-US" sz="900" dirty="0"/>
          </a:p>
        </p:txBody>
      </p:sp>
      <p:sp>
        <p:nvSpPr>
          <p:cNvPr id="24" name="Text 18"/>
          <p:cNvSpPr txBox="1"/>
          <p:nvPr/>
        </p:nvSpPr>
        <p:spPr>
          <a:xfrm>
            <a:off x="3602736" y="2194560"/>
            <a:ext cx="2167128" cy="822960"/>
          </a:xfrm>
          <a:prstGeom prst="rect">
            <a:avLst/>
          </a:prstGeom>
          <a:noFill/>
          <a:ln/>
        </p:spPr>
        <p:txBody>
          <a:bodyPr wrap="square" lIns="0" tIns="0" rIns="0" bIns="0" rtlCol="0" anchor="t"/>
          <a:lstStyle/>
          <a:p>
            <a:pPr indent="0" marL="0">
              <a:buNone/>
            </a:pPr>
            <a:r>
              <a:rPr lang="en-US" sz="4400" b="1" dirty="0">
                <a:solidFill>
                  <a:srgbClr val="1BA97C"/>
                </a:solidFill>
                <a:latin typeface="Exo 2" pitchFamily="34" charset="0"/>
                <a:ea typeface="Exo 2" pitchFamily="34" charset="-122"/>
                <a:cs typeface="Exo 2" pitchFamily="34" charset="-120"/>
              </a:rPr>
              <a:t>186K</a:t>
            </a:r>
            <a:endParaRPr lang="en-US" sz="4400" dirty="0"/>
          </a:p>
        </p:txBody>
      </p:sp>
      <p:sp>
        <p:nvSpPr>
          <p:cNvPr id="25" name="Text 19"/>
          <p:cNvSpPr txBox="1"/>
          <p:nvPr/>
        </p:nvSpPr>
        <p:spPr>
          <a:xfrm>
            <a:off x="3602736" y="3108960"/>
            <a:ext cx="2167128" cy="73152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views, Mention &amp; Win post</a:t>
            </a:r>
            <a:endParaRPr lang="en-US" sz="1600" dirty="0"/>
          </a:p>
        </p:txBody>
      </p:sp>
      <p:sp>
        <p:nvSpPr>
          <p:cNvPr id="26" name="Text 20"/>
          <p:cNvSpPr txBox="1"/>
          <p:nvPr/>
        </p:nvSpPr>
        <p:spPr>
          <a:xfrm>
            <a:off x="3602736" y="4023360"/>
            <a:ext cx="2167128" cy="1280160"/>
          </a:xfrm>
          <a:prstGeom prst="rect">
            <a:avLst/>
          </a:prstGeom>
          <a:noFill/>
          <a:ln/>
        </p:spPr>
        <p:txBody>
          <a:bodyPr wrap="square" lIns="0" tIns="0" rIns="0" bIns="0" rtlCol="0" anchor="t"/>
          <a:lstStyle/>
          <a:p>
            <a:pPr indent="0" marL="0">
              <a:buNone/>
            </a:pPr>
            <a:r>
              <a:rPr lang="en-US" sz="1400" dirty="0">
                <a:solidFill>
                  <a:srgbClr val="1F2A44"/>
                </a:solidFill>
                <a:latin typeface="Exo 2" pitchFamily="34" charset="0"/>
                <a:ea typeface="Exo 2" pitchFamily="34" charset="-122"/>
                <a:cs typeface="Exo 2" pitchFamily="34" charset="-120"/>
              </a:rPr>
              <a:t>Monthly $500 contest; this round closes 20 Oct.</a:t>
            </a:r>
            <a:endParaRPr lang="en-US" sz="1400" dirty="0"/>
          </a:p>
        </p:txBody>
      </p:sp>
      <p:sp>
        <p:nvSpPr>
          <p:cNvPr id="27" name="Shape 21"/>
          <p:cNvSpPr/>
          <p:nvPr/>
        </p:nvSpPr>
        <p:spPr>
          <a:xfrm>
            <a:off x="6181344" y="1600200"/>
            <a:ext cx="2624328" cy="3840480"/>
          </a:xfrm>
          <a:prstGeom prst="rect">
            <a:avLst/>
          </a:prstGeom>
          <a:solidFill>
            <a:srgbClr val="FFFFFF"/>
          </a:solidFill>
          <a:ln w="9525">
            <a:solidFill>
              <a:srgbClr val="D9DFEA"/>
            </a:solidFill>
            <a:prstDash val="solid"/>
          </a:ln>
        </p:spPr>
      </p:sp>
      <p:sp>
        <p:nvSpPr>
          <p:cNvPr id="28" name="Shape 22"/>
          <p:cNvSpPr/>
          <p:nvPr/>
        </p:nvSpPr>
        <p:spPr>
          <a:xfrm>
            <a:off x="6181344" y="1600200"/>
            <a:ext cx="2624328" cy="32004"/>
          </a:xfrm>
          <a:prstGeom prst="rect">
            <a:avLst/>
          </a:prstGeom>
          <a:solidFill>
            <a:srgbClr val="D4AF37"/>
          </a:solidFill>
          <a:ln w="12700">
            <a:solidFill>
              <a:srgbClr val="D4AF37"/>
            </a:solidFill>
            <a:prstDash val="solid"/>
          </a:ln>
        </p:spPr>
      </p:sp>
      <p:sp>
        <p:nvSpPr>
          <p:cNvPr id="29" name="Text 23"/>
          <p:cNvSpPr txBox="1"/>
          <p:nvPr/>
        </p:nvSpPr>
        <p:spPr>
          <a:xfrm>
            <a:off x="6409944"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TESTING</a:t>
            </a:r>
            <a:endParaRPr lang="en-US" sz="900" dirty="0"/>
          </a:p>
        </p:txBody>
      </p:sp>
      <p:sp>
        <p:nvSpPr>
          <p:cNvPr id="30" name="Text 24"/>
          <p:cNvSpPr txBox="1"/>
          <p:nvPr/>
        </p:nvSpPr>
        <p:spPr>
          <a:xfrm>
            <a:off x="6409944" y="2194560"/>
            <a:ext cx="2167128" cy="822960"/>
          </a:xfrm>
          <a:prstGeom prst="rect">
            <a:avLst/>
          </a:prstGeom>
          <a:noFill/>
          <a:ln/>
        </p:spPr>
        <p:txBody>
          <a:bodyPr wrap="square" lIns="0" tIns="0" rIns="0" bIns="0" rtlCol="0" anchor="t"/>
          <a:lstStyle/>
          <a:p>
            <a:pPr indent="0" marL="0">
              <a:buNone/>
            </a:pPr>
            <a:r>
              <a:rPr lang="en-US" sz="4400" b="1" dirty="0">
                <a:solidFill>
                  <a:srgbClr val="132257"/>
                </a:solidFill>
                <a:latin typeface="Exo 2" pitchFamily="34" charset="0"/>
                <a:ea typeface="Exo 2" pitchFamily="34" charset="-122"/>
                <a:cs typeface="Exo 2" pitchFamily="34" charset="-120"/>
              </a:rPr>
              <a:t>70%</a:t>
            </a:r>
            <a:endParaRPr lang="en-US" sz="4400" dirty="0"/>
          </a:p>
        </p:txBody>
      </p:sp>
      <p:sp>
        <p:nvSpPr>
          <p:cNvPr id="31" name="Text 25"/>
          <p:cNvSpPr txBox="1"/>
          <p:nvPr/>
        </p:nvSpPr>
        <p:spPr>
          <a:xfrm>
            <a:off x="6409944" y="3108960"/>
            <a:ext cx="2167128" cy="73152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of Sep site sessions from Google Ads</a:t>
            </a:r>
            <a:endParaRPr lang="en-US" sz="1600" dirty="0"/>
          </a:p>
        </p:txBody>
      </p:sp>
      <p:sp>
        <p:nvSpPr>
          <p:cNvPr id="32" name="Text 26"/>
          <p:cNvSpPr txBox="1"/>
          <p:nvPr/>
        </p:nvSpPr>
        <p:spPr>
          <a:xfrm>
            <a:off x="6409944" y="4023360"/>
            <a:ext cx="2167128" cy="1280160"/>
          </a:xfrm>
          <a:prstGeom prst="rect">
            <a:avLst/>
          </a:prstGeom>
          <a:noFill/>
          <a:ln/>
        </p:spPr>
        <p:txBody>
          <a:bodyPr wrap="square" lIns="0" tIns="0" rIns="0" bIns="0" rtlCol="0" anchor="t"/>
          <a:lstStyle/>
          <a:p>
            <a:pPr indent="0" marL="0">
              <a:buNone/>
            </a:pPr>
            <a:r>
              <a:rPr lang="en-US" sz="1400" dirty="0">
                <a:solidFill>
                  <a:srgbClr val="1F2A44"/>
                </a:solidFill>
                <a:latin typeface="Exo 2" pitchFamily="34" charset="0"/>
                <a:ea typeface="Exo 2" pitchFamily="34" charset="-122"/>
                <a:cs typeface="Exo 2" pitchFamily="34" charset="-120"/>
              </a:rPr>
              <a:t>Downloads +36 in six days after launch; onboarding +3.</a:t>
            </a:r>
            <a:endParaRPr lang="en-US" sz="1400" dirty="0"/>
          </a:p>
        </p:txBody>
      </p:sp>
      <p:sp>
        <p:nvSpPr>
          <p:cNvPr id="33" name="Shape 27"/>
          <p:cNvSpPr/>
          <p:nvPr/>
        </p:nvSpPr>
        <p:spPr>
          <a:xfrm>
            <a:off x="8988552" y="1600200"/>
            <a:ext cx="2624328" cy="3840480"/>
          </a:xfrm>
          <a:prstGeom prst="rect">
            <a:avLst/>
          </a:prstGeom>
          <a:solidFill>
            <a:srgbClr val="FFFFFF"/>
          </a:solidFill>
          <a:ln w="9525">
            <a:solidFill>
              <a:srgbClr val="D9DFEA"/>
            </a:solidFill>
            <a:prstDash val="solid"/>
          </a:ln>
        </p:spPr>
      </p:sp>
      <p:sp>
        <p:nvSpPr>
          <p:cNvPr id="34" name="Shape 28"/>
          <p:cNvSpPr/>
          <p:nvPr/>
        </p:nvSpPr>
        <p:spPr>
          <a:xfrm>
            <a:off x="8988552" y="1600200"/>
            <a:ext cx="2624328" cy="32004"/>
          </a:xfrm>
          <a:prstGeom prst="rect">
            <a:avLst/>
          </a:prstGeom>
          <a:solidFill>
            <a:srgbClr val="C53030"/>
          </a:solidFill>
          <a:ln w="12700">
            <a:solidFill>
              <a:srgbClr val="C53030"/>
            </a:solidFill>
            <a:prstDash val="solid"/>
          </a:ln>
        </p:spPr>
      </p:sp>
      <p:sp>
        <p:nvSpPr>
          <p:cNvPr id="35" name="Text 29"/>
          <p:cNvSpPr txBox="1"/>
          <p:nvPr/>
        </p:nvSpPr>
        <p:spPr>
          <a:xfrm>
            <a:off x="9217152" y="1874520"/>
            <a:ext cx="2167128" cy="228600"/>
          </a:xfrm>
          <a:prstGeom prst="rect">
            <a:avLst/>
          </a:prstGeom>
          <a:noFill/>
          <a:ln/>
        </p:spPr>
        <p:txBody>
          <a:bodyPr wrap="square" lIns="0" tIns="0" rIns="0" bIns="0" rtlCol="0" anchor="t"/>
          <a:lstStyle/>
          <a:p>
            <a:pPr indent="0" marL="0">
              <a:buNone/>
            </a:pPr>
            <a:r>
              <a:rPr lang="en-US" sz="900" b="1" spc="200" kern="0" dirty="0">
                <a:solidFill>
                  <a:srgbClr val="9A7B1F"/>
                </a:solidFill>
                <a:latin typeface="Exo 2" pitchFamily="34" charset="0"/>
                <a:ea typeface="Exo 2" pitchFamily="34" charset="-122"/>
                <a:cs typeface="Exo 2" pitchFamily="34" charset="-120"/>
              </a:rPr>
              <a:t>DECISION</a:t>
            </a:r>
            <a:endParaRPr lang="en-US" sz="900" dirty="0"/>
          </a:p>
        </p:txBody>
      </p:sp>
      <p:sp>
        <p:nvSpPr>
          <p:cNvPr id="36" name="Text 30"/>
          <p:cNvSpPr txBox="1"/>
          <p:nvPr/>
        </p:nvSpPr>
        <p:spPr>
          <a:xfrm>
            <a:off x="9217152" y="2194560"/>
            <a:ext cx="2167128" cy="822960"/>
          </a:xfrm>
          <a:prstGeom prst="rect">
            <a:avLst/>
          </a:prstGeom>
          <a:noFill/>
          <a:ln/>
        </p:spPr>
        <p:txBody>
          <a:bodyPr wrap="square" lIns="0" tIns="0" rIns="0" bIns="0" rtlCol="0" anchor="t"/>
          <a:lstStyle/>
          <a:p>
            <a:pPr indent="0" marL="0">
              <a:buNone/>
            </a:pPr>
            <a:r>
              <a:rPr lang="en-US" sz="4400" b="1" dirty="0">
                <a:solidFill>
                  <a:srgbClr val="132257"/>
                </a:solidFill>
                <a:latin typeface="Exo 2" pitchFamily="34" charset="0"/>
                <a:ea typeface="Exo 2" pitchFamily="34" charset="-122"/>
                <a:cs typeface="Exo 2" pitchFamily="34" charset="-120"/>
              </a:rPr>
              <a:t>20 Oct</a:t>
            </a:r>
            <a:endParaRPr lang="en-US" sz="4400" dirty="0"/>
          </a:p>
        </p:txBody>
      </p:sp>
      <p:sp>
        <p:nvSpPr>
          <p:cNvPr id="37" name="Text 31"/>
          <p:cNvSpPr txBox="1"/>
          <p:nvPr/>
        </p:nvSpPr>
        <p:spPr>
          <a:xfrm>
            <a:off x="9217152" y="3108960"/>
            <a:ext cx="2167128" cy="731520"/>
          </a:xfrm>
          <a:prstGeom prst="rect">
            <a:avLst/>
          </a:prstGeom>
          <a:noFill/>
          <a:ln/>
        </p:spPr>
        <p:txBody>
          <a:bodyPr wrap="square" lIns="0" tIns="0" rIns="0" bIns="0" rtlCol="0" anchor="t"/>
          <a:lstStyle/>
          <a:p>
            <a:pPr indent="0" marL="0">
              <a:buNone/>
            </a:pPr>
            <a:r>
              <a:rPr lang="en-US" sz="1600" b="1" dirty="0">
                <a:solidFill>
                  <a:srgbClr val="132257"/>
                </a:solidFill>
                <a:latin typeface="Exo 2" pitchFamily="34" charset="0"/>
                <a:ea typeface="Exo 2" pitchFamily="34" charset="-122"/>
                <a:cs typeface="Exo 2" pitchFamily="34" charset="-120"/>
              </a:rPr>
              <a:t>go or hold on paid media</a:t>
            </a:r>
            <a:endParaRPr lang="en-US" sz="1600" dirty="0"/>
          </a:p>
        </p:txBody>
      </p:sp>
      <p:sp>
        <p:nvSpPr>
          <p:cNvPr id="38" name="Text 32"/>
          <p:cNvSpPr txBox="1"/>
          <p:nvPr/>
        </p:nvSpPr>
        <p:spPr>
          <a:xfrm>
            <a:off x="9217152" y="4023360"/>
            <a:ext cx="2167128" cy="1280160"/>
          </a:xfrm>
          <a:prstGeom prst="rect">
            <a:avLst/>
          </a:prstGeom>
          <a:noFill/>
          <a:ln/>
        </p:spPr>
        <p:txBody>
          <a:bodyPr wrap="square" lIns="0" tIns="0" rIns="0" bIns="0" rtlCol="0" anchor="t"/>
          <a:lstStyle/>
          <a:p>
            <a:pPr indent="0" marL="0">
              <a:buNone/>
            </a:pPr>
            <a:r>
              <a:rPr lang="en-US" sz="1400" dirty="0">
                <a:solidFill>
                  <a:srgbClr val="1F2A44"/>
                </a:solidFill>
                <a:latin typeface="Exo 2" pitchFamily="34" charset="0"/>
                <a:ea typeface="Exo 2" pitchFamily="34" charset="-122"/>
                <a:cs typeface="Exo 2" pitchFamily="34" charset="-120"/>
              </a:rPr>
              <a:t>Judged on cost per account vs Board targets ($167 / $417 / $882).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PAID MEDIA LAUNCH</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Paid media is in testing against Board CAC targets; only Google Ads has results so far</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Plan and targets are set. Ignite must supply spend and conversion data before 20 October.</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Board update 17 Sep 2026 (segments, CAC targets, $30,000 split); GA4 Google Ads campaigns export 1-28 Sep 2026. Residents-only rule per management.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3</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7406640" cy="914400"/>
        </p:xfrm>
        <a:graphic>
          <a:graphicData uri="http://schemas.openxmlformats.org/drawingml/2006/table">
            <a:tbl>
              <a:tblPr/>
              <a:tblGrid>
                <a:gridCol w="1234440"/>
                <a:gridCol w="3200400"/>
                <a:gridCol w="2971800"/>
              </a:tblGrid>
              <a:tr h="384048">
                <a:tc>
                  <a:txBody>
                    <a:bodyPr/>
                    <a:lstStyle/>
                    <a:p>
                      <a:pPr indent="0" marL="0">
                        <a:buNone/>
                      </a:pPr>
                      <a:endParaRPr lang="en-US" sz="1200" dirty="0">
                        <a:latin typeface="Exo 2" charset="0"/>
                        <a:ea typeface="Exo 2" charset="0"/>
                        <a:cs typeface="Exo 2" charset="0"/>
                      </a:endParaRPr>
                    </a:p>
                  </a:txBody>
                  <a:tcPr marL="76200" marR="76200" marT="25400" marB="25400">
                    <a:lnL w="0" cap="flat" cmpd="sng" algn="ctr">
                      <a:noFill/>
                    </a:lnL>
                    <a:lnR w="0" cap="flat" cmpd="sng" algn="ctr">
                      <a:noFill/>
                    </a:lnR>
                    <a:lnT w="0" cap="flat" cmpd="sng" algn="ctr">
                      <a:noFill/>
                    </a:lnT>
                    <a:lnB w="0" cap="flat" cmpd="sng" algn="ctr">
                      <a:noFill/>
                    </a:lnB>
                  </a:tcPr>
                </a:tc>
                <a:tc>
                  <a:txBody>
                    <a:bodyPr/>
                    <a:lstStyle/>
                    <a:p>
                      <a:pPr indent="0" marL="0">
                        <a:buNone/>
                      </a:pPr>
                      <a:r>
                        <a:rPr lang="en-US" sz="1200" b="1" dirty="0">
                          <a:solidFill>
                            <a:srgbClr val="FFFFFF"/>
                          </a:solidFill>
                          <a:latin typeface="Exo 2" pitchFamily="34" charset="0"/>
                          <a:ea typeface="Exo 2" pitchFamily="34" charset="-122"/>
                          <a:cs typeface="Exo 2" pitchFamily="34" charset="-120"/>
                        </a:rPr>
                        <a:t>Google Ads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200" b="1" dirty="0">
                          <a:solidFill>
                            <a:srgbClr val="FFFFFF"/>
                          </a:solidFill>
                          <a:latin typeface="Exo 2" pitchFamily="34" charset="0"/>
                          <a:ea typeface="Exo 2" pitchFamily="34" charset="-122"/>
                          <a:cs typeface="Exo 2" pitchFamily="34" charset="-120"/>
                        </a:rPr>
                        <a:t>LinkedIn Ads</a:t>
                      </a:r>
                      <a:endParaRPr lang="en-US" sz="12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132257"/>
                    </a:solidFill>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Audience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Starter (under $1K) and Emerging ($1K-5K)</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Affluent ($5K-50K)</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11480">
                <a:tc>
                  <a:txBody>
                    <a:bodyPr/>
                    <a:lstStyle/>
                    <a:p>
                      <a:pPr indent="0" marL="0">
                        <a:buNone/>
                      </a:pPr>
                      <a:r>
                        <a:rPr lang="en-US" sz="1100" b="1" dirty="0">
                          <a:solidFill>
                            <a:srgbClr val="7A849C"/>
                          </a:solidFill>
                          <a:latin typeface="Exo 2" pitchFamily="34" charset="0"/>
                          <a:ea typeface="Exo 2" pitchFamily="34" charset="-122"/>
                          <a:cs typeface="Exo 2" pitchFamily="34" charset="-120"/>
                        </a:rPr>
                        <a:t>Objective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Website conversions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Leads, then in-person meeting</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Markets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gridSpan="2">
                  <a:txBody>
                    <a:bodyPr/>
                    <a:lstStyle/>
                    <a:p>
                      <a:pPr indent="0" marL="0">
                        <a:buNone/>
                      </a:pPr>
                      <a:r>
                        <a:rPr lang="en-US" sz="1100" dirty="0">
                          <a:solidFill>
                            <a:srgbClr val="1F2A44"/>
                          </a:solidFill>
                          <a:latin typeface="Exo 2" pitchFamily="34" charset="0"/>
                          <a:ea typeface="Exo 2" pitchFamily="34" charset="-122"/>
                          <a:cs typeface="Exo 2" pitchFamily="34" charset="-120"/>
                        </a:rPr>
                        <a:t>Saudi Arabia first; Qatar, UAE, Kuwait, Bahrain, Oman in plan</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hMerge="1">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Phase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gridSpan="2">
                  <a:txBody>
                    <a:bodyPr/>
                    <a:lstStyle/>
                    <a:p>
                      <a:pPr indent="0" marL="0">
                        <a:buNone/>
                      </a:pPr>
                      <a:r>
                        <a:rPr lang="en-US" sz="1100" dirty="0">
                          <a:solidFill>
                            <a:srgbClr val="1F2A44"/>
                          </a:solidFill>
                          <a:latin typeface="Exo 2" pitchFamily="34" charset="0"/>
                          <a:ea typeface="Exo 2" pitchFamily="34" charset="-122"/>
                          <a:cs typeface="Exo 2" pitchFamily="34" charset="-120"/>
                        </a:rPr>
                        <a:t>Testing since 22 September; scale phase follows (Board runway)</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hMerge="1">
                  <a:tcPr/>
                </a:tc>
              </a:tr>
              <a:tr h="411480">
                <a:tc>
                  <a:txBody>
                    <a:bodyPr/>
                    <a:lstStyle/>
                    <a:p>
                      <a:pPr indent="0" marL="0">
                        <a:buNone/>
                      </a:pPr>
                      <a:r>
                        <a:rPr lang="en-US" sz="1100" b="1" dirty="0">
                          <a:solidFill>
                            <a:srgbClr val="7A849C"/>
                          </a:solidFill>
                          <a:latin typeface="Exo 2" pitchFamily="34" charset="0"/>
                          <a:ea typeface="Exo 2" pitchFamily="34" charset="-122"/>
                          <a:cs typeface="Exo 2" pitchFamily="34" charset="-120"/>
                        </a:rPr>
                        <a:t>Target CAC</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b="1" dirty="0">
                          <a:solidFill>
                            <a:srgbClr val="132257"/>
                          </a:solidFill>
                          <a:latin typeface="Exo 2" pitchFamily="34" charset="0"/>
                          <a:ea typeface="Exo 2" pitchFamily="34" charset="-122"/>
                          <a:cs typeface="Exo 2" pitchFamily="34" charset="-120"/>
                        </a:rPr>
                        <a:t>$167 Starter  |  $417 Emerging</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b="1" dirty="0">
                          <a:solidFill>
                            <a:srgbClr val="132257"/>
                          </a:solidFill>
                          <a:latin typeface="Exo 2" pitchFamily="34" charset="0"/>
                          <a:ea typeface="Exo 2" pitchFamily="34" charset="-122"/>
                          <a:cs typeface="Exo 2" pitchFamily="34" charset="-120"/>
                        </a:rPr>
                        <a:t>$882 Affluent</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Evidence</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409 sessions, 400 key events (GA4, 1-28 Sep)</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None yet; lead forms stay on LinkedIn</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75488">
                <a:tc>
                  <a:txBody>
                    <a:bodyPr/>
                    <a:lstStyle/>
                    <a:p>
                      <a:pPr indent="0" marL="0">
                        <a:buNone/>
                      </a:pPr>
                      <a:r>
                        <a:rPr lang="en-US" sz="1100" b="1" dirty="0">
                          <a:solidFill>
                            <a:srgbClr val="7A849C"/>
                          </a:solidFill>
                          <a:latin typeface="Exo 2" pitchFamily="34" charset="0"/>
                          <a:ea typeface="Exo 2" pitchFamily="34" charset="-122"/>
                          <a:cs typeface="Exo 2" pitchFamily="34" charset="-120"/>
                        </a:rPr>
                        <a:t>Next read-out</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 spend, cost per key event, accounts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 leads, cost per lead, meetings</a:t>
                      </a:r>
                      <a:endParaRPr lang="en-US" sz="1100" dirty="0">
                        <a:latin typeface="Exo 2" charset="0"/>
                        <a:ea typeface="Exo 2" charset="0"/>
                        <a:cs typeface="Exo 2" charset="0"/>
                      </a:endParaRPr>
                    </a:p>
                  </a:txBody>
                  <a:tcPr marL="76200" marR="762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graphicFrame>
        <p:nvGraphicFramePr>
          <p:cNvPr id="16" name="Chart 0" descr=""/>
          <p:cNvGraphicFramePr/>
          <p:nvPr/>
        </p:nvGraphicFramePr>
        <p:xfrm>
          <a:off x="8229600" y="1508760"/>
          <a:ext cx="3401568" cy="4023360"/>
        </p:xfrm>
        <a:graphic xmlns:a="http://schemas.openxmlformats.org/drawingml/2006/main">
          <a:graphicData uri="http://schemas.openxmlformats.org/drawingml/2006/chart">
            <c:chart xmlns:c="http://schemas.openxmlformats.org/drawingml/2006/chart" r:id="rId4"/>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WEBSITE AND ANALYTICS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Google Ads brought 70% of September sessions; Arabic ads log more key events per session</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Do not cut the Arabic ads on engagement alone. Define the key event and cost each campaign first.</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GA4 Reports snapshot and Google Ads campaigns exports, 1-28 Sep 2026. Referral includes 7 Tag Assistant test sessions; 21 paid sessions sit outside both campaigns.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4</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Text 9"/>
          <p:cNvSpPr txBox="1"/>
          <p:nvPr/>
        </p:nvSpPr>
        <p:spPr>
          <a:xfrm>
            <a:off x="56692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587</a:t>
            </a:r>
            <a:endParaRPr lang="en-US" sz="2600" dirty="0"/>
          </a:p>
        </p:txBody>
      </p:sp>
      <p:sp>
        <p:nvSpPr>
          <p:cNvPr id="16" name="Text 10"/>
          <p:cNvSpPr txBox="1"/>
          <p:nvPr/>
        </p:nvSpPr>
        <p:spPr>
          <a:xfrm>
            <a:off x="161848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sessions, 1-28 Sep</a:t>
            </a:r>
            <a:endParaRPr lang="en-US" sz="1000" dirty="0"/>
          </a:p>
        </p:txBody>
      </p:sp>
      <p:sp>
        <p:nvSpPr>
          <p:cNvPr id="17" name="Text 11"/>
          <p:cNvSpPr txBox="1"/>
          <p:nvPr/>
        </p:nvSpPr>
        <p:spPr>
          <a:xfrm>
            <a:off x="335584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542</a:t>
            </a:r>
            <a:endParaRPr lang="en-US" sz="2600" dirty="0"/>
          </a:p>
        </p:txBody>
      </p:sp>
      <p:sp>
        <p:nvSpPr>
          <p:cNvPr id="18" name="Text 12"/>
          <p:cNvSpPr txBox="1"/>
          <p:nvPr/>
        </p:nvSpPr>
        <p:spPr>
          <a:xfrm>
            <a:off x="440740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active users, 1-28 Sep</a:t>
            </a:r>
            <a:endParaRPr lang="en-US" sz="1000" dirty="0"/>
          </a:p>
        </p:txBody>
      </p:sp>
      <p:sp>
        <p:nvSpPr>
          <p:cNvPr id="19" name="Text 13"/>
          <p:cNvSpPr txBox="1"/>
          <p:nvPr/>
        </p:nvSpPr>
        <p:spPr>
          <a:xfrm>
            <a:off x="614476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558</a:t>
            </a:r>
            <a:endParaRPr lang="en-US" sz="2600" dirty="0"/>
          </a:p>
        </p:txBody>
      </p:sp>
      <p:sp>
        <p:nvSpPr>
          <p:cNvPr id="20" name="Text 14"/>
          <p:cNvSpPr txBox="1"/>
          <p:nvPr/>
        </p:nvSpPr>
        <p:spPr>
          <a:xfrm>
            <a:off x="719632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new users, 1-28 Sep</a:t>
            </a:r>
            <a:endParaRPr lang="en-US" sz="1000" dirty="0"/>
          </a:p>
        </p:txBody>
      </p:sp>
      <p:sp>
        <p:nvSpPr>
          <p:cNvPr id="21" name="Text 15"/>
          <p:cNvSpPr txBox="1"/>
          <p:nvPr/>
        </p:nvSpPr>
        <p:spPr>
          <a:xfrm>
            <a:off x="8933688" y="1481328"/>
            <a:ext cx="1051560" cy="475488"/>
          </a:xfrm>
          <a:prstGeom prst="rect">
            <a:avLst/>
          </a:prstGeom>
          <a:noFill/>
          <a:ln/>
        </p:spPr>
        <p:txBody>
          <a:bodyPr wrap="square" lIns="0" tIns="0" rIns="0" bIns="0" rtlCol="0" anchor="ctr"/>
          <a:lstStyle/>
          <a:p>
            <a:pPr indent="0" marL="0">
              <a:buNone/>
            </a:pPr>
            <a:r>
              <a:rPr lang="en-US" sz="2600" b="1" dirty="0">
                <a:solidFill>
                  <a:srgbClr val="1BA97C"/>
                </a:solidFill>
                <a:latin typeface="Exo 2" pitchFamily="34" charset="0"/>
                <a:ea typeface="Exo 2" pitchFamily="34" charset="-122"/>
                <a:cs typeface="Exo 2" pitchFamily="34" charset="-120"/>
              </a:rPr>
              <a:t>23s</a:t>
            </a:r>
            <a:endParaRPr lang="en-US" sz="2600" dirty="0"/>
          </a:p>
        </p:txBody>
      </p:sp>
      <p:sp>
        <p:nvSpPr>
          <p:cNvPr id="22" name="Text 16"/>
          <p:cNvSpPr txBox="1"/>
          <p:nvPr/>
        </p:nvSpPr>
        <p:spPr>
          <a:xfrm>
            <a:off x="9985248" y="1481328"/>
            <a:ext cx="1645920" cy="475488"/>
          </a:xfrm>
          <a:prstGeom prst="rect">
            <a:avLst/>
          </a:prstGeom>
          <a:noFill/>
          <a:ln/>
        </p:spPr>
        <p:txBody>
          <a:bodyPr wrap="square" lIns="0" tIns="0" rIns="0" bIns="0" rtlCol="0" anchor="ctr"/>
          <a:lstStyle/>
          <a:p>
            <a:pPr indent="0" marL="0">
              <a:buNone/>
            </a:pPr>
            <a:r>
              <a:rPr lang="en-US" sz="1000" dirty="0">
                <a:solidFill>
                  <a:srgbClr val="7A849C"/>
                </a:solidFill>
                <a:latin typeface="Exo 2" pitchFamily="34" charset="0"/>
                <a:ea typeface="Exo 2" pitchFamily="34" charset="-122"/>
                <a:cs typeface="Exo 2" pitchFamily="34" charset="-120"/>
              </a:rPr>
              <a:t>avg engagement per active user, 1-28 Sep</a:t>
            </a:r>
            <a:endParaRPr lang="en-US" sz="1000" dirty="0"/>
          </a:p>
        </p:txBody>
      </p:sp>
      <p:sp>
        <p:nvSpPr>
          <p:cNvPr id="23" name="Shape 17"/>
          <p:cNvSpPr/>
          <p:nvPr/>
        </p:nvSpPr>
        <p:spPr>
          <a:xfrm>
            <a:off x="566928" y="2057400"/>
            <a:ext cx="11064240" cy="0"/>
          </a:xfrm>
          <a:prstGeom prst="line">
            <a:avLst/>
          </a:prstGeom>
          <a:noFill/>
          <a:ln w="9525">
            <a:solidFill>
              <a:srgbClr val="D9DFEA"/>
            </a:solidFill>
            <a:prstDash val="solid"/>
          </a:ln>
        </p:spPr>
      </p:sp>
      <p:graphicFrame>
        <p:nvGraphicFramePr>
          <p:cNvPr id="24" name="Chart 0" descr=""/>
          <p:cNvGraphicFramePr/>
          <p:nvPr/>
        </p:nvGraphicFramePr>
        <p:xfrm>
          <a:off x="566928" y="2176272"/>
          <a:ext cx="6035040" cy="3401568"/>
        </p:xfrm>
        <a:graphic xmlns:a="http://schemas.openxmlformats.org/drawingml/2006/main">
          <a:graphicData uri="http://schemas.openxmlformats.org/drawingml/2006/chart">
            <c:chart xmlns:c="http://schemas.openxmlformats.org/drawingml/2006/chart" r:id="rId4"/>
          </a:graphicData>
        </a:graphic>
      </p:graphicFrame>
      <p:graphicFrame>
        <p:nvGraphicFramePr>
          <p:cNvPr id="25" name="Chart 1" descr=""/>
          <p:cNvGraphicFramePr/>
          <p:nvPr/>
        </p:nvGraphicFramePr>
        <p:xfrm>
          <a:off x="6858000" y="2176272"/>
          <a:ext cx="4773168" cy="3401568"/>
        </p:xfrm>
        <a:graphic xmlns:a="http://schemas.openxmlformats.org/drawingml/2006/main">
          <a:graphicData uri="http://schemas.openxmlformats.org/drawingml/2006/chart">
            <c:chart xmlns:c="http://schemas.openxmlformats.org/drawingml/2006/chart" r:id="rId5"/>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FROM TRAFFIC TO ACCOUNTS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After the paid launch, downloads rose (+36 in six days) but onboarding did not (+3)</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KYC and onboarding completion is the constraint to fix before spend is scaled.</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eMYAA Daily Performance Dashboards, all-time cumulative figures on report dates 1, 8, 14, 21 and 27 Sep 2026. Periods are 6 to 7 days.</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5</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15" name="Chart 0" descr=""/>
          <p:cNvGraphicFramePr/>
          <p:nvPr/>
        </p:nvGraphicFramePr>
        <p:xfrm>
          <a:off x="566928" y="1508760"/>
          <a:ext cx="7223760" cy="4069080"/>
        </p:xfrm>
        <a:graphic xmlns:a="http://schemas.openxmlformats.org/drawingml/2006/main">
          <a:graphicData uri="http://schemas.openxmlformats.org/drawingml/2006/chart">
            <c:chart xmlns:c="http://schemas.openxmlformats.org/drawingml/2006/chart" r:id="rId4"/>
          </a:graphicData>
        </a:graphic>
      </p:graphicFrame>
      <p:sp>
        <p:nvSpPr>
          <p:cNvPr id="16" name="Shape 9"/>
          <p:cNvSpPr/>
          <p:nvPr/>
        </p:nvSpPr>
        <p:spPr>
          <a:xfrm>
            <a:off x="8183880" y="1600200"/>
            <a:ext cx="1618488" cy="1783080"/>
          </a:xfrm>
          <a:prstGeom prst="rect">
            <a:avLst/>
          </a:prstGeom>
          <a:solidFill>
            <a:srgbClr val="FFFFFF"/>
          </a:solidFill>
          <a:ln w="9525">
            <a:solidFill>
              <a:srgbClr val="D9DFEA"/>
            </a:solidFill>
            <a:prstDash val="solid"/>
          </a:ln>
        </p:spPr>
      </p:sp>
      <p:sp>
        <p:nvSpPr>
          <p:cNvPr id="17" name="Shape 10"/>
          <p:cNvSpPr/>
          <p:nvPr/>
        </p:nvSpPr>
        <p:spPr>
          <a:xfrm>
            <a:off x="8183880" y="1600200"/>
            <a:ext cx="1618488" cy="32004"/>
          </a:xfrm>
          <a:prstGeom prst="rect">
            <a:avLst/>
          </a:prstGeom>
          <a:solidFill>
            <a:srgbClr val="D4AF37"/>
          </a:solidFill>
          <a:ln w="12700">
            <a:solidFill>
              <a:srgbClr val="D4AF37"/>
            </a:solidFill>
            <a:prstDash val="solid"/>
          </a:ln>
        </p:spPr>
      </p:sp>
      <p:sp>
        <p:nvSpPr>
          <p:cNvPr id="18" name="Text 11"/>
          <p:cNvSpPr txBox="1"/>
          <p:nvPr/>
        </p:nvSpPr>
        <p:spPr>
          <a:xfrm>
            <a:off x="8348472" y="185623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473</a:t>
            </a:r>
            <a:endParaRPr lang="en-US" sz="2800" dirty="0"/>
          </a:p>
        </p:txBody>
      </p:sp>
      <p:sp>
        <p:nvSpPr>
          <p:cNvPr id="19" name="Text 12"/>
          <p:cNvSpPr txBox="1"/>
          <p:nvPr/>
        </p:nvSpPr>
        <p:spPr>
          <a:xfrm>
            <a:off x="8348472" y="246888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app downloads</a:t>
            </a:r>
            <a:endParaRPr lang="en-US" sz="1100" dirty="0"/>
          </a:p>
        </p:txBody>
      </p:sp>
      <p:sp>
        <p:nvSpPr>
          <p:cNvPr id="20" name="Text 13"/>
          <p:cNvSpPr txBox="1"/>
          <p:nvPr/>
        </p:nvSpPr>
        <p:spPr>
          <a:xfrm>
            <a:off x="8348472" y="288036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
        <p:nvSpPr>
          <p:cNvPr id="21" name="Shape 14"/>
          <p:cNvSpPr/>
          <p:nvPr/>
        </p:nvSpPr>
        <p:spPr>
          <a:xfrm>
            <a:off x="9921240" y="1600200"/>
            <a:ext cx="1618488" cy="1783080"/>
          </a:xfrm>
          <a:prstGeom prst="rect">
            <a:avLst/>
          </a:prstGeom>
          <a:solidFill>
            <a:srgbClr val="FFFFFF"/>
          </a:solidFill>
          <a:ln w="9525">
            <a:solidFill>
              <a:srgbClr val="D9DFEA"/>
            </a:solidFill>
            <a:prstDash val="solid"/>
          </a:ln>
        </p:spPr>
      </p:sp>
      <p:sp>
        <p:nvSpPr>
          <p:cNvPr id="22" name="Shape 15"/>
          <p:cNvSpPr/>
          <p:nvPr/>
        </p:nvSpPr>
        <p:spPr>
          <a:xfrm>
            <a:off x="9921240" y="1600200"/>
            <a:ext cx="1618488" cy="32004"/>
          </a:xfrm>
          <a:prstGeom prst="rect">
            <a:avLst/>
          </a:prstGeom>
          <a:solidFill>
            <a:srgbClr val="D4AF37"/>
          </a:solidFill>
          <a:ln w="12700">
            <a:solidFill>
              <a:srgbClr val="D4AF37"/>
            </a:solidFill>
            <a:prstDash val="solid"/>
          </a:ln>
        </p:spPr>
      </p:sp>
      <p:sp>
        <p:nvSpPr>
          <p:cNvPr id="23" name="Text 16"/>
          <p:cNvSpPr txBox="1"/>
          <p:nvPr/>
        </p:nvSpPr>
        <p:spPr>
          <a:xfrm>
            <a:off x="10085832" y="185623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60</a:t>
            </a:r>
            <a:endParaRPr lang="en-US" sz="2800" dirty="0"/>
          </a:p>
        </p:txBody>
      </p:sp>
      <p:sp>
        <p:nvSpPr>
          <p:cNvPr id="24" name="Text 17"/>
          <p:cNvSpPr txBox="1"/>
          <p:nvPr/>
        </p:nvSpPr>
        <p:spPr>
          <a:xfrm>
            <a:off x="10085832" y="246888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users onboarded</a:t>
            </a:r>
            <a:endParaRPr lang="en-US" sz="1100" dirty="0"/>
          </a:p>
        </p:txBody>
      </p:sp>
      <p:sp>
        <p:nvSpPr>
          <p:cNvPr id="25" name="Text 18"/>
          <p:cNvSpPr txBox="1"/>
          <p:nvPr/>
        </p:nvSpPr>
        <p:spPr>
          <a:xfrm>
            <a:off x="10085832" y="288036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
        <p:nvSpPr>
          <p:cNvPr id="26" name="Shape 19"/>
          <p:cNvSpPr/>
          <p:nvPr/>
        </p:nvSpPr>
        <p:spPr>
          <a:xfrm>
            <a:off x="8183880" y="3566160"/>
            <a:ext cx="1618488" cy="1783080"/>
          </a:xfrm>
          <a:prstGeom prst="rect">
            <a:avLst/>
          </a:prstGeom>
          <a:solidFill>
            <a:srgbClr val="FFFFFF"/>
          </a:solidFill>
          <a:ln w="9525">
            <a:solidFill>
              <a:srgbClr val="D9DFEA"/>
            </a:solidFill>
            <a:prstDash val="solid"/>
          </a:ln>
        </p:spPr>
      </p:sp>
      <p:sp>
        <p:nvSpPr>
          <p:cNvPr id="27" name="Shape 20"/>
          <p:cNvSpPr/>
          <p:nvPr/>
        </p:nvSpPr>
        <p:spPr>
          <a:xfrm>
            <a:off x="8183880" y="3566160"/>
            <a:ext cx="1618488" cy="32004"/>
          </a:xfrm>
          <a:prstGeom prst="rect">
            <a:avLst/>
          </a:prstGeom>
          <a:solidFill>
            <a:srgbClr val="1BA97C"/>
          </a:solidFill>
          <a:ln w="12700">
            <a:solidFill>
              <a:srgbClr val="1BA97C"/>
            </a:solidFill>
            <a:prstDash val="solid"/>
          </a:ln>
        </p:spPr>
      </p:sp>
      <p:sp>
        <p:nvSpPr>
          <p:cNvPr id="28" name="Text 21"/>
          <p:cNvSpPr txBox="1"/>
          <p:nvPr/>
        </p:nvSpPr>
        <p:spPr>
          <a:xfrm>
            <a:off x="8348472" y="3822192"/>
            <a:ext cx="1325880" cy="566928"/>
          </a:xfrm>
          <a:prstGeom prst="rect">
            <a:avLst/>
          </a:prstGeom>
          <a:noFill/>
          <a:ln/>
        </p:spPr>
        <p:txBody>
          <a:bodyPr wrap="square" lIns="0" tIns="0" rIns="0" bIns="0" rtlCol="0" anchor="t"/>
          <a:lstStyle/>
          <a:p>
            <a:pPr indent="0" marL="0">
              <a:buNone/>
            </a:pPr>
            <a:r>
              <a:rPr lang="en-US" sz="2800" b="1" dirty="0">
                <a:solidFill>
                  <a:srgbClr val="1BA97C"/>
                </a:solidFill>
                <a:latin typeface="Exo 2" pitchFamily="34" charset="0"/>
                <a:ea typeface="Exo 2" pitchFamily="34" charset="-122"/>
                <a:cs typeface="Exo 2" pitchFamily="34" charset="-120"/>
              </a:rPr>
              <a:t>15</a:t>
            </a:r>
            <a:endParaRPr lang="en-US" sz="2800" dirty="0"/>
          </a:p>
        </p:txBody>
      </p:sp>
      <p:sp>
        <p:nvSpPr>
          <p:cNvPr id="29" name="Text 22"/>
          <p:cNvSpPr txBox="1"/>
          <p:nvPr/>
        </p:nvSpPr>
        <p:spPr>
          <a:xfrm>
            <a:off x="8348472" y="443484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funded accounts</a:t>
            </a:r>
            <a:endParaRPr lang="en-US" sz="1100" dirty="0"/>
          </a:p>
        </p:txBody>
      </p:sp>
      <p:sp>
        <p:nvSpPr>
          <p:cNvPr id="30" name="Text 23"/>
          <p:cNvSpPr txBox="1"/>
          <p:nvPr/>
        </p:nvSpPr>
        <p:spPr>
          <a:xfrm>
            <a:off x="8348472" y="484632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up from 13 on 21 Sep</a:t>
            </a:r>
            <a:endParaRPr lang="en-US" sz="950" dirty="0"/>
          </a:p>
        </p:txBody>
      </p:sp>
      <p:sp>
        <p:nvSpPr>
          <p:cNvPr id="31" name="Shape 24"/>
          <p:cNvSpPr/>
          <p:nvPr/>
        </p:nvSpPr>
        <p:spPr>
          <a:xfrm>
            <a:off x="9921240" y="3566160"/>
            <a:ext cx="1618488" cy="1783080"/>
          </a:xfrm>
          <a:prstGeom prst="rect">
            <a:avLst/>
          </a:prstGeom>
          <a:solidFill>
            <a:srgbClr val="FFFFFF"/>
          </a:solidFill>
          <a:ln w="9525">
            <a:solidFill>
              <a:srgbClr val="D9DFEA"/>
            </a:solidFill>
            <a:prstDash val="solid"/>
          </a:ln>
        </p:spPr>
      </p:sp>
      <p:sp>
        <p:nvSpPr>
          <p:cNvPr id="32" name="Shape 25"/>
          <p:cNvSpPr/>
          <p:nvPr/>
        </p:nvSpPr>
        <p:spPr>
          <a:xfrm>
            <a:off x="9921240" y="3566160"/>
            <a:ext cx="1618488" cy="32004"/>
          </a:xfrm>
          <a:prstGeom prst="rect">
            <a:avLst/>
          </a:prstGeom>
          <a:solidFill>
            <a:srgbClr val="D4AF37"/>
          </a:solidFill>
          <a:ln w="12700">
            <a:solidFill>
              <a:srgbClr val="D4AF37"/>
            </a:solidFill>
            <a:prstDash val="solid"/>
          </a:ln>
        </p:spPr>
      </p:sp>
      <p:sp>
        <p:nvSpPr>
          <p:cNvPr id="33" name="Text 26"/>
          <p:cNvSpPr txBox="1"/>
          <p:nvPr/>
        </p:nvSpPr>
        <p:spPr>
          <a:xfrm>
            <a:off x="10085832" y="3822192"/>
            <a:ext cx="1325880" cy="566928"/>
          </a:xfrm>
          <a:prstGeom prst="rect">
            <a:avLst/>
          </a:prstGeom>
          <a:noFill/>
          <a:ln/>
        </p:spPr>
        <p:txBody>
          <a:bodyPr wrap="square" lIns="0" tIns="0" rIns="0" bIns="0" rtlCol="0" anchor="t"/>
          <a:lstStyle/>
          <a:p>
            <a:pPr indent="0" marL="0">
              <a:buNone/>
            </a:pPr>
            <a:r>
              <a:rPr lang="en-US" sz="2800" b="1" dirty="0">
                <a:solidFill>
                  <a:srgbClr val="132257"/>
                </a:solidFill>
                <a:latin typeface="Exo 2" pitchFamily="34" charset="0"/>
                <a:ea typeface="Exo 2" pitchFamily="34" charset="-122"/>
                <a:cs typeface="Exo 2" pitchFamily="34" charset="-120"/>
              </a:rPr>
              <a:t>54</a:t>
            </a:r>
            <a:endParaRPr lang="en-US" sz="2800" dirty="0"/>
          </a:p>
        </p:txBody>
      </p:sp>
      <p:sp>
        <p:nvSpPr>
          <p:cNvPr id="34" name="Text 27"/>
          <p:cNvSpPr txBox="1"/>
          <p:nvPr/>
        </p:nvSpPr>
        <p:spPr>
          <a:xfrm>
            <a:off x="10085832" y="4434840"/>
            <a:ext cx="1325880" cy="411480"/>
          </a:xfrm>
          <a:prstGeom prst="rect">
            <a:avLst/>
          </a:prstGeom>
          <a:noFill/>
          <a:ln/>
        </p:spPr>
        <p:txBody>
          <a:bodyPr wrap="square" lIns="0" tIns="0" rIns="0" bIns="0" rtlCol="0" anchor="t"/>
          <a:lstStyle/>
          <a:p>
            <a:pPr indent="0" marL="0">
              <a:buNone/>
            </a:pPr>
            <a:r>
              <a:rPr lang="en-US" sz="1100" b="1" dirty="0">
                <a:solidFill>
                  <a:srgbClr val="132257"/>
                </a:solidFill>
                <a:latin typeface="Exo 2" pitchFamily="34" charset="0"/>
                <a:ea typeface="Exo 2" pitchFamily="34" charset="-122"/>
                <a:cs typeface="Exo 2" pitchFamily="34" charset="-120"/>
              </a:rPr>
              <a:t>trades</a:t>
            </a:r>
            <a:endParaRPr lang="en-US" sz="1100" dirty="0"/>
          </a:p>
        </p:txBody>
      </p:sp>
      <p:sp>
        <p:nvSpPr>
          <p:cNvPr id="35" name="Text 28"/>
          <p:cNvSpPr txBox="1"/>
          <p:nvPr/>
        </p:nvSpPr>
        <p:spPr>
          <a:xfrm>
            <a:off x="10085832" y="4846320"/>
            <a:ext cx="1325880" cy="411480"/>
          </a:xfrm>
          <a:prstGeom prst="rect">
            <a:avLst/>
          </a:prstGeom>
          <a:noFill/>
          <a:ln/>
        </p:spPr>
        <p:txBody>
          <a:bodyPr wrap="square" lIns="0" tIns="0" rIns="0" bIns="0" rtlCol="0" anchor="t"/>
          <a:lstStyle/>
          <a:p>
            <a:pPr indent="0" marL="0">
              <a:buNone/>
            </a:pPr>
            <a:r>
              <a:rPr lang="en-US" sz="950" dirty="0">
                <a:solidFill>
                  <a:srgbClr val="7A849C"/>
                </a:solidFill>
                <a:latin typeface="Exo 2" pitchFamily="34" charset="0"/>
                <a:ea typeface="Exo 2" pitchFamily="34" charset="-122"/>
                <a:cs typeface="Exo 2" pitchFamily="34" charset="-120"/>
              </a:rPr>
              <a:t>all time, 27 Sep</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CAMPAIGN PERFORMANCE</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Mention &amp; Win ($500, monthly) and the $5,000 Prize Campaign are separate campaigns</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Mention &amp; Win needs sign-up results per round. The $5,000 campaign needs its T&amp;C sign-off on file.</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Instagram grid screenshot; 24F campaign briefing; $5,000 campaign approval checklist (20 Jul 2026); raffle T&amp;Cs; Board update 17 Sep 2026 (budget).</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6</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Text 9"/>
          <p:cNvSpPr txBox="1"/>
          <p:nvPr/>
        </p:nvSpPr>
        <p:spPr>
          <a:xfrm>
            <a:off x="566928" y="1508760"/>
            <a:ext cx="5394960" cy="365760"/>
          </a:xfrm>
          <a:prstGeom prst="rect">
            <a:avLst/>
          </a:prstGeom>
          <a:noFill/>
          <a:ln/>
        </p:spPr>
        <p:txBody>
          <a:bodyPr wrap="square" lIns="0" tIns="0" rIns="0" bIns="0" rtlCol="0" anchor="ctr"/>
          <a:lstStyle/>
          <a:p>
            <a:pPr indent="0" marL="0">
              <a:buNone/>
            </a:pPr>
            <a:r>
              <a:rPr lang="en-US" sz="1600" b="1" dirty="0">
                <a:solidFill>
                  <a:srgbClr val="132257"/>
                </a:solidFill>
                <a:latin typeface="Exo 2" pitchFamily="34" charset="0"/>
                <a:ea typeface="Exo 2" pitchFamily="34" charset="-122"/>
                <a:cs typeface="Exo 2" pitchFamily="34" charset="-120"/>
              </a:rPr>
              <a:t>Mention &amp; Win   </a:t>
            </a:r>
            <a:pPr indent="0" marL="0">
              <a:buNone/>
            </a:pPr>
            <a:r>
              <a:rPr lang="en-US" sz="1100" b="1" dirty="0">
                <a:solidFill>
                  <a:srgbClr val="1BA97C"/>
                </a:solidFill>
                <a:latin typeface="Exo 2" pitchFamily="34" charset="0"/>
                <a:ea typeface="Exo 2" pitchFamily="34" charset="-122"/>
                <a:cs typeface="Exo 2" pitchFamily="34" charset="-120"/>
              </a:rPr>
              <a:t>● Live, monthly</a:t>
            </a:r>
            <a:endParaRPr lang="en-US" sz="1600" dirty="0"/>
          </a:p>
        </p:txBody>
      </p:sp>
      <p:pic>
        <p:nvPicPr>
          <p:cNvPr id="16" name="Image 3" descr="/home/user/HatemIsa_202508993_IT9002_NLP_Project/emyaa-ceo-deck/working/charts/tile_mw_mention.png">    </p:cNvPr>
          <p:cNvPicPr>
            <a:picLocks noChangeAspect="1"/>
          </p:cNvPicPr>
          <p:nvPr/>
        </p:nvPicPr>
        <p:blipFill>
          <a:blip r:embed="rId4"/>
          <a:stretch>
            <a:fillRect/>
          </a:stretch>
        </p:blipFill>
        <p:spPr>
          <a:xfrm>
            <a:off x="566928" y="1965960"/>
            <a:ext cx="1188720" cy="1856232"/>
          </a:xfrm>
          <a:prstGeom prst="rect">
            <a:avLst/>
          </a:prstGeom>
        </p:spPr>
      </p:pic>
      <p:pic>
        <p:nvPicPr>
          <p:cNvPr id="17" name="Image 4" descr="/home/user/HatemIsa_202508993_IT9002_NLP_Project/emyaa-ceo-deck/working/charts/tile_mw_account.png">    </p:cNvPr>
          <p:cNvPicPr>
            <a:picLocks noChangeAspect="1"/>
          </p:cNvPicPr>
          <p:nvPr/>
        </p:nvPicPr>
        <p:blipFill>
          <a:blip r:embed="rId5"/>
          <a:stretch>
            <a:fillRect/>
          </a:stretch>
        </p:blipFill>
        <p:spPr>
          <a:xfrm>
            <a:off x="1892808" y="1965960"/>
            <a:ext cx="1188720" cy="1856232"/>
          </a:xfrm>
          <a:prstGeom prst="rect">
            <a:avLst/>
          </a:prstGeom>
        </p:spPr>
      </p:pic>
      <p:sp>
        <p:nvSpPr>
          <p:cNvPr id="18" name="Text 10"/>
          <p:cNvSpPr txBox="1"/>
          <p:nvPr/>
        </p:nvSpPr>
        <p:spPr>
          <a:xfrm>
            <a:off x="566928" y="3858768"/>
            <a:ext cx="1188720" cy="256032"/>
          </a:xfrm>
          <a:prstGeom prst="rect">
            <a:avLst/>
          </a:prstGeom>
          <a:noFill/>
          <a:ln/>
        </p:spPr>
        <p:txBody>
          <a:bodyPr wrap="square" lIns="0" tIns="0" rIns="0" bIns="0" rtlCol="0" anchor="t"/>
          <a:lstStyle/>
          <a:p>
            <a:pPr algn="ctr" indent="0" marL="0">
              <a:buNone/>
            </a:pPr>
            <a:r>
              <a:rPr lang="en-US" sz="1050" b="1" dirty="0">
                <a:solidFill>
                  <a:srgbClr val="132257"/>
                </a:solidFill>
                <a:latin typeface="Exo 2" pitchFamily="34" charset="0"/>
                <a:ea typeface="Exo 2" pitchFamily="34" charset="-122"/>
                <a:cs typeface="Exo 2" pitchFamily="34" charset="-120"/>
              </a:rPr>
              <a:t>186K views</a:t>
            </a:r>
            <a:endParaRPr lang="en-US" sz="1050" dirty="0"/>
          </a:p>
        </p:txBody>
      </p:sp>
      <p:sp>
        <p:nvSpPr>
          <p:cNvPr id="19" name="Text 11"/>
          <p:cNvSpPr txBox="1"/>
          <p:nvPr/>
        </p:nvSpPr>
        <p:spPr>
          <a:xfrm>
            <a:off x="1892808" y="3858768"/>
            <a:ext cx="1188720" cy="256032"/>
          </a:xfrm>
          <a:prstGeom prst="rect">
            <a:avLst/>
          </a:prstGeom>
          <a:noFill/>
          <a:ln/>
        </p:spPr>
        <p:txBody>
          <a:bodyPr wrap="square" lIns="0" tIns="0" rIns="0" bIns="0" rtlCol="0" anchor="t"/>
          <a:lstStyle/>
          <a:p>
            <a:pPr algn="ctr" indent="0" marL="0">
              <a:buNone/>
            </a:pPr>
            <a:r>
              <a:rPr lang="en-US" sz="1050" b="1" dirty="0">
                <a:solidFill>
                  <a:srgbClr val="132257"/>
                </a:solidFill>
                <a:latin typeface="Exo 2" pitchFamily="34" charset="0"/>
                <a:ea typeface="Exo 2" pitchFamily="34" charset="-122"/>
                <a:cs typeface="Exo 2" pitchFamily="34" charset="-120"/>
              </a:rPr>
              <a:t>26.3K views</a:t>
            </a:r>
            <a:endParaRPr lang="en-US" sz="1050" dirty="0"/>
          </a:p>
        </p:txBody>
      </p:sp>
      <p:sp>
        <p:nvSpPr>
          <p:cNvPr id="20" name="Text 12"/>
          <p:cNvSpPr txBox="1"/>
          <p:nvPr/>
        </p:nvSpPr>
        <p:spPr>
          <a:xfrm>
            <a:off x="3310128" y="19659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Round</a:t>
            </a:r>
            <a:endParaRPr lang="en-US" sz="1050" dirty="0"/>
          </a:p>
        </p:txBody>
      </p:sp>
      <p:sp>
        <p:nvSpPr>
          <p:cNvPr id="21" name="Text 13"/>
          <p:cNvSpPr txBox="1"/>
          <p:nvPr/>
        </p:nvSpPr>
        <p:spPr>
          <a:xfrm>
            <a:off x="4224528" y="19659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23 Sep to 20 Oct (per team)</a:t>
            </a:r>
            <a:endParaRPr lang="en-US" sz="1050" dirty="0"/>
          </a:p>
        </p:txBody>
      </p:sp>
      <p:sp>
        <p:nvSpPr>
          <p:cNvPr id="22" name="Text 14"/>
          <p:cNvSpPr txBox="1"/>
          <p:nvPr/>
        </p:nvSpPr>
        <p:spPr>
          <a:xfrm>
            <a:off x="3310128" y="24231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Mechanic</a:t>
            </a:r>
            <a:endParaRPr lang="en-US" sz="1050" dirty="0"/>
          </a:p>
        </p:txBody>
      </p:sp>
      <p:sp>
        <p:nvSpPr>
          <p:cNvPr id="23" name="Text 15"/>
          <p:cNvSpPr txBox="1"/>
          <p:nvPr/>
        </p:nvSpPr>
        <p:spPr>
          <a:xfrm>
            <a:off x="4224528" y="24231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Follow, mention, open an account</a:t>
            </a:r>
            <a:endParaRPr lang="en-US" sz="1050" dirty="0"/>
          </a:p>
        </p:txBody>
      </p:sp>
      <p:sp>
        <p:nvSpPr>
          <p:cNvPr id="24" name="Text 16"/>
          <p:cNvSpPr txBox="1"/>
          <p:nvPr/>
        </p:nvSpPr>
        <p:spPr>
          <a:xfrm>
            <a:off x="3310128" y="28803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Markets</a:t>
            </a:r>
            <a:endParaRPr lang="en-US" sz="1050" dirty="0"/>
          </a:p>
        </p:txBody>
      </p:sp>
      <p:sp>
        <p:nvSpPr>
          <p:cNvPr id="25" name="Text 17"/>
          <p:cNvSpPr txBox="1"/>
          <p:nvPr/>
        </p:nvSpPr>
        <p:spPr>
          <a:xfrm>
            <a:off x="4224528" y="28803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All six GCC countries</a:t>
            </a:r>
            <a:endParaRPr lang="en-US" sz="1050" dirty="0"/>
          </a:p>
        </p:txBody>
      </p:sp>
      <p:sp>
        <p:nvSpPr>
          <p:cNvPr id="26" name="Text 18"/>
          <p:cNvSpPr txBox="1"/>
          <p:nvPr/>
        </p:nvSpPr>
        <p:spPr>
          <a:xfrm>
            <a:off x="3310128" y="33375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Budget</a:t>
            </a:r>
            <a:endParaRPr lang="en-US" sz="1050" dirty="0"/>
          </a:p>
        </p:txBody>
      </p:sp>
      <p:sp>
        <p:nvSpPr>
          <p:cNvPr id="27" name="Text 19"/>
          <p:cNvSpPr txBox="1"/>
          <p:nvPr/>
        </p:nvSpPr>
        <p:spPr>
          <a:xfrm>
            <a:off x="4224528" y="33375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$3,200 prizes and ads, Sep-Dec</a:t>
            </a:r>
            <a:endParaRPr lang="en-US" sz="1050" dirty="0"/>
          </a:p>
        </p:txBody>
      </p:sp>
      <p:sp>
        <p:nvSpPr>
          <p:cNvPr id="28" name="Text 20"/>
          <p:cNvSpPr txBox="1"/>
          <p:nvPr/>
        </p:nvSpPr>
        <p:spPr>
          <a:xfrm>
            <a:off x="3310128" y="3794760"/>
            <a:ext cx="914400" cy="420624"/>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Results</a:t>
            </a:r>
            <a:endParaRPr lang="en-US" sz="1050" dirty="0"/>
          </a:p>
        </p:txBody>
      </p:sp>
      <p:sp>
        <p:nvSpPr>
          <p:cNvPr id="29" name="Text 21"/>
          <p:cNvSpPr txBox="1"/>
          <p:nvPr/>
        </p:nvSpPr>
        <p:spPr>
          <a:xfrm>
            <a:off x="4224528" y="3794760"/>
            <a:ext cx="1828800" cy="420624"/>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Entries and accounts due after 20 Oct</a:t>
            </a:r>
            <a:endParaRPr lang="en-US" sz="1050" dirty="0"/>
          </a:p>
        </p:txBody>
      </p:sp>
      <p:sp>
        <p:nvSpPr>
          <p:cNvPr id="30" name="Text 22"/>
          <p:cNvSpPr txBox="1"/>
          <p:nvPr/>
        </p:nvSpPr>
        <p:spPr>
          <a:xfrm>
            <a:off x="566928" y="4206240"/>
            <a:ext cx="2743200" cy="274320"/>
          </a:xfrm>
          <a:prstGeom prst="rect">
            <a:avLst/>
          </a:prstGeom>
          <a:noFill/>
          <a:ln/>
        </p:spPr>
        <p:txBody>
          <a:bodyPr wrap="square" lIns="0" tIns="0" rIns="0" bIns="0" rtlCol="0" anchor="t"/>
          <a:lstStyle/>
          <a:p>
            <a:pPr indent="0" marL="0">
              <a:buNone/>
            </a:pPr>
            <a:r>
              <a:rPr lang="en-US" sz="1000" i="1" dirty="0">
                <a:solidFill>
                  <a:srgbClr val="7A849C"/>
                </a:solidFill>
                <a:latin typeface="Exo 2" pitchFamily="34" charset="0"/>
                <a:ea typeface="Exo 2" pitchFamily="34" charset="-122"/>
                <a:cs typeface="Exo 2" pitchFamily="34" charset="-120"/>
              </a:rPr>
              <a:t>Launch reel: 1,129 likes (reported)</a:t>
            </a:r>
            <a:endParaRPr lang="en-US" sz="1000" dirty="0"/>
          </a:p>
        </p:txBody>
      </p:sp>
      <p:sp>
        <p:nvSpPr>
          <p:cNvPr id="31" name="Shape 23"/>
          <p:cNvSpPr/>
          <p:nvPr/>
        </p:nvSpPr>
        <p:spPr>
          <a:xfrm>
            <a:off x="6263640" y="1554480"/>
            <a:ext cx="0" cy="3977640"/>
          </a:xfrm>
          <a:prstGeom prst="line">
            <a:avLst/>
          </a:prstGeom>
          <a:noFill/>
          <a:ln w="12700">
            <a:solidFill>
              <a:srgbClr val="D9DFEA"/>
            </a:solidFill>
            <a:prstDash val="solid"/>
          </a:ln>
        </p:spPr>
      </p:sp>
      <p:sp>
        <p:nvSpPr>
          <p:cNvPr id="32" name="Text 24"/>
          <p:cNvSpPr txBox="1"/>
          <p:nvPr/>
        </p:nvSpPr>
        <p:spPr>
          <a:xfrm>
            <a:off x="6492240" y="1508760"/>
            <a:ext cx="5138928" cy="365760"/>
          </a:xfrm>
          <a:prstGeom prst="rect">
            <a:avLst/>
          </a:prstGeom>
          <a:noFill/>
          <a:ln/>
        </p:spPr>
        <p:txBody>
          <a:bodyPr wrap="square" lIns="0" tIns="0" rIns="0" bIns="0" rtlCol="0" anchor="ctr"/>
          <a:lstStyle/>
          <a:p>
            <a:pPr indent="0" marL="0">
              <a:buNone/>
            </a:pPr>
            <a:r>
              <a:rPr lang="en-US" sz="1600" b="1" dirty="0">
                <a:solidFill>
                  <a:srgbClr val="132257"/>
                </a:solidFill>
                <a:latin typeface="Exo 2" pitchFamily="34" charset="0"/>
                <a:ea typeface="Exo 2" pitchFamily="34" charset="-122"/>
                <a:cs typeface="Exo 2" pitchFamily="34" charset="-120"/>
              </a:rPr>
              <a:t>$5,000 Prize Campaign   </a:t>
            </a:r>
            <a:pPr indent="0" marL="0">
              <a:buNone/>
            </a:pPr>
            <a:r>
              <a:rPr lang="en-US" sz="1100" b="1" dirty="0">
                <a:solidFill>
                  <a:srgbClr val="9A7B1F"/>
                </a:solidFill>
                <a:latin typeface="Exo 2" pitchFamily="34" charset="0"/>
                <a:ea typeface="Exo 2" pitchFamily="34" charset="-122"/>
                <a:cs typeface="Exo 2" pitchFamily="34" charset="-120"/>
              </a:rPr>
              <a:t>● Pages live; T&amp;C sign-off not on file</a:t>
            </a:r>
            <a:endParaRPr lang="en-US" sz="1600" dirty="0"/>
          </a:p>
        </p:txBody>
      </p:sp>
      <p:sp>
        <p:nvSpPr>
          <p:cNvPr id="33" name="Text 25"/>
          <p:cNvSpPr txBox="1"/>
          <p:nvPr/>
        </p:nvSpPr>
        <p:spPr>
          <a:xfrm>
            <a:off x="6492240" y="1965960"/>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Dates</a:t>
            </a:r>
            <a:endParaRPr lang="en-US" sz="1050" dirty="0"/>
          </a:p>
        </p:txBody>
      </p:sp>
      <p:sp>
        <p:nvSpPr>
          <p:cNvPr id="34" name="Text 26"/>
          <p:cNvSpPr txBox="1"/>
          <p:nvPr/>
        </p:nvSpPr>
        <p:spPr>
          <a:xfrm>
            <a:off x="7498080" y="1965960"/>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1 Aug to 31 Dec 2026; draw 10 Jan 2027</a:t>
            </a:r>
            <a:endParaRPr lang="en-US" sz="1050" dirty="0"/>
          </a:p>
        </p:txBody>
      </p:sp>
      <p:sp>
        <p:nvSpPr>
          <p:cNvPr id="35" name="Text 27"/>
          <p:cNvSpPr txBox="1"/>
          <p:nvPr/>
        </p:nvSpPr>
        <p:spPr>
          <a:xfrm>
            <a:off x="6492240" y="2295144"/>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Mechanic</a:t>
            </a:r>
            <a:endParaRPr lang="en-US" sz="1050" dirty="0"/>
          </a:p>
        </p:txBody>
      </p:sp>
      <p:sp>
        <p:nvSpPr>
          <p:cNvPr id="36" name="Text 28"/>
          <p:cNvSpPr txBox="1"/>
          <p:nvPr/>
        </p:nvSpPr>
        <p:spPr>
          <a:xfrm>
            <a:off x="7498080" y="2295144"/>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1 entry per $500 traded; one winner</a:t>
            </a:r>
            <a:endParaRPr lang="en-US" sz="1050" dirty="0"/>
          </a:p>
        </p:txBody>
      </p:sp>
      <p:sp>
        <p:nvSpPr>
          <p:cNvPr id="37" name="Text 29"/>
          <p:cNvSpPr txBox="1"/>
          <p:nvPr/>
        </p:nvSpPr>
        <p:spPr>
          <a:xfrm>
            <a:off x="6492240" y="2624328"/>
            <a:ext cx="1005840" cy="310896"/>
          </a:xfrm>
          <a:prstGeom prst="rect">
            <a:avLst/>
          </a:prstGeom>
          <a:noFill/>
          <a:ln/>
        </p:spPr>
        <p:txBody>
          <a:bodyPr wrap="square" lIns="0" tIns="0" rIns="0" bIns="0" rtlCol="0" anchor="t"/>
          <a:lstStyle/>
          <a:p>
            <a:pPr indent="0" marL="0">
              <a:buNone/>
            </a:pPr>
            <a:r>
              <a:rPr lang="en-US" sz="1050" b="1" dirty="0">
                <a:solidFill>
                  <a:srgbClr val="7A849C"/>
                </a:solidFill>
                <a:latin typeface="Exo 2" pitchFamily="34" charset="0"/>
                <a:ea typeface="Exo 2" pitchFamily="34" charset="-122"/>
                <a:cs typeface="Exo 2" pitchFamily="34" charset="-120"/>
              </a:rPr>
              <a:t>Eligibility</a:t>
            </a:r>
            <a:endParaRPr lang="en-US" sz="1050" dirty="0"/>
          </a:p>
        </p:txBody>
      </p:sp>
      <p:sp>
        <p:nvSpPr>
          <p:cNvPr id="38" name="Text 30"/>
          <p:cNvSpPr txBox="1"/>
          <p:nvPr/>
        </p:nvSpPr>
        <p:spPr>
          <a:xfrm>
            <a:off x="7498080" y="2624328"/>
            <a:ext cx="4114800" cy="310896"/>
          </a:xfrm>
          <a:prstGeom prst="rect">
            <a:avLst/>
          </a:prstGeom>
          <a:noFill/>
          <a:ln/>
        </p:spPr>
        <p:txBody>
          <a:bodyPr wrap="square" lIns="0" tIns="0" rIns="0" bIns="0" rtlCol="0" anchor="t"/>
          <a:lstStyle/>
          <a:p>
            <a:pPr indent="0" marL="0">
              <a:buNone/>
            </a:pPr>
            <a:r>
              <a:rPr lang="en-US" sz="1050" dirty="0">
                <a:solidFill>
                  <a:srgbClr val="1F2A44"/>
                </a:solidFill>
                <a:latin typeface="Exo 2" pitchFamily="34" charset="0"/>
                <a:ea typeface="Exo 2" pitchFamily="34" charset="-122"/>
                <a:cs typeface="Exo 2" pitchFamily="34" charset="-120"/>
              </a:rPr>
              <a:t>Fully verified, active eMYAA account</a:t>
            </a:r>
            <a:endParaRPr lang="en-US" sz="1050" dirty="0"/>
          </a:p>
        </p:txBody>
      </p:sp>
      <p:graphicFrame>
        <p:nvGraphicFramePr>
          <p:cNvPr id="39" name="Chart 0" descr=""/>
          <p:cNvGraphicFramePr/>
          <p:nvPr/>
        </p:nvGraphicFramePr>
        <p:xfrm>
          <a:off x="6446520" y="2971800"/>
          <a:ext cx="5184648" cy="2606040"/>
        </p:xfrm>
        <a:graphic xmlns:a="http://schemas.openxmlformats.org/drawingml/2006/main">
          <a:graphicData uri="http://schemas.openxmlformats.org/drawingml/2006/chart">
            <c:chart xmlns:c="http://schemas.openxmlformats.org/drawingml/2006/chart" r:id="rId6"/>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CONTENT AND SOCIAL</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Content is on plan; Instagram reach sits in a few posts and other channels lack September exports</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On plan through November. Next: September exports for every channel and a view count for Abdulelah Al Harbi.</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Instagram grid screenshot; Abdulelah still from the team; Sep and Oct 2026 calendars; LinkedIn export to 28 Aug; X and TikTok per Performance Analysis deck; GA4 1-28 Sep.</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7</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sp>
        <p:nvSpPr>
          <p:cNvPr id="15" name="Shape 9"/>
          <p:cNvSpPr/>
          <p:nvPr/>
        </p:nvSpPr>
        <p:spPr>
          <a:xfrm>
            <a:off x="1412748" y="1764792"/>
            <a:ext cx="9372600" cy="0"/>
          </a:xfrm>
          <a:prstGeom prst="line">
            <a:avLst/>
          </a:prstGeom>
          <a:noFill/>
          <a:ln w="25400">
            <a:solidFill>
              <a:srgbClr val="C6CFE4"/>
            </a:solidFill>
            <a:prstDash val="solid"/>
          </a:ln>
        </p:spPr>
      </p:sp>
      <p:sp>
        <p:nvSpPr>
          <p:cNvPr id="16" name="Text 10"/>
          <p:cNvSpPr txBox="1"/>
          <p:nvPr/>
        </p:nvSpPr>
        <p:spPr>
          <a:xfrm>
            <a:off x="566928" y="1444752"/>
            <a:ext cx="1691640" cy="201168"/>
          </a:xfrm>
          <a:prstGeom prst="rect">
            <a:avLst/>
          </a:prstGeom>
          <a:noFill/>
          <a:ln/>
        </p:spPr>
        <p:txBody>
          <a:bodyPr wrap="square" lIns="0" tIns="0" rIns="0" bIns="0" rtlCol="0" anchor="t"/>
          <a:lstStyle/>
          <a:p>
            <a:pPr algn="ctr" indent="0" marL="0">
              <a:buNone/>
            </a:pPr>
            <a:r>
              <a:rPr lang="en-US" sz="950" b="1" spc="200" kern="0" dirty="0">
                <a:solidFill>
                  <a:srgbClr val="9A7B1F"/>
                </a:solidFill>
                <a:latin typeface="Exo 2" pitchFamily="34" charset="0"/>
                <a:ea typeface="Exo 2" pitchFamily="34" charset="-122"/>
                <a:cs typeface="Exo 2" pitchFamily="34" charset="-120"/>
              </a:rPr>
              <a:t>JUL</a:t>
            </a:r>
            <a:endParaRPr lang="en-US" sz="950" dirty="0"/>
          </a:p>
        </p:txBody>
      </p:sp>
      <p:sp>
        <p:nvSpPr>
          <p:cNvPr id="17" name="Shape 11"/>
          <p:cNvSpPr/>
          <p:nvPr/>
        </p:nvSpPr>
        <p:spPr>
          <a:xfrm>
            <a:off x="1321308" y="1673352"/>
            <a:ext cx="182880" cy="182880"/>
          </a:xfrm>
          <a:prstGeom prst="ellipse">
            <a:avLst/>
          </a:prstGeom>
          <a:solidFill>
            <a:srgbClr val="1BA97C"/>
          </a:solidFill>
          <a:ln w="25400">
            <a:solidFill>
              <a:srgbClr val="1BA97C"/>
            </a:solidFill>
            <a:prstDash val="solid"/>
          </a:ln>
        </p:spPr>
      </p:sp>
      <p:pic>
        <p:nvPicPr>
          <p:cNvPr id="18" name="Image 3" descr="/home/user/HatemIsa_202508993_IT9002_NLP_Project/emyaa-ceo-deck/working/charts/tile9_musheera.png">    </p:cNvPr>
          <p:cNvPicPr>
            <a:picLocks noChangeAspect="1"/>
          </p:cNvPicPr>
          <p:nvPr/>
        </p:nvPicPr>
        <p:blipFill>
          <a:blip r:embed="rId4"/>
          <a:stretch>
            <a:fillRect/>
          </a:stretch>
        </p:blipFill>
        <p:spPr>
          <a:xfrm>
            <a:off x="909828" y="1938528"/>
            <a:ext cx="1005840" cy="1298448"/>
          </a:xfrm>
          <a:prstGeom prst="rect">
            <a:avLst/>
          </a:prstGeom>
        </p:spPr>
      </p:pic>
      <p:sp>
        <p:nvSpPr>
          <p:cNvPr id="19" name="Text 12"/>
          <p:cNvSpPr txBox="1"/>
          <p:nvPr/>
        </p:nvSpPr>
        <p:spPr>
          <a:xfrm>
            <a:off x="566928" y="3291840"/>
            <a:ext cx="1691640" cy="237744"/>
          </a:xfrm>
          <a:prstGeom prst="rect">
            <a:avLst/>
          </a:prstGeom>
          <a:noFill/>
          <a:ln/>
        </p:spPr>
        <p:txBody>
          <a:bodyPr wrap="square" lIns="0" tIns="0" rIns="0" bIns="0" rtlCol="0" anchor="t"/>
          <a:lstStyle/>
          <a:p>
            <a:pPr algn="ctr" indent="0" marL="0">
              <a:buNone/>
            </a:pPr>
            <a:r>
              <a:rPr lang="en-US" sz="1100" b="1" dirty="0">
                <a:solidFill>
                  <a:srgbClr val="132257"/>
                </a:solidFill>
                <a:latin typeface="Exo 2" pitchFamily="34" charset="0"/>
                <a:ea typeface="Exo 2" pitchFamily="34" charset="-122"/>
                <a:cs typeface="Exo 2" pitchFamily="34" charset="-120"/>
              </a:rPr>
              <a:t>Musheera</a:t>
            </a:r>
            <a:endParaRPr lang="en-US" sz="1100" dirty="0"/>
          </a:p>
        </p:txBody>
      </p:sp>
      <p:sp>
        <p:nvSpPr>
          <p:cNvPr id="20" name="Text 13"/>
          <p:cNvSpPr txBox="1"/>
          <p:nvPr/>
        </p:nvSpPr>
        <p:spPr>
          <a:xfrm>
            <a:off x="521208" y="3538728"/>
            <a:ext cx="1783080" cy="237744"/>
          </a:xfrm>
          <a:prstGeom prst="rect">
            <a:avLst/>
          </a:prstGeom>
          <a:noFill/>
          <a:ln/>
        </p:spPr>
        <p:txBody>
          <a:bodyPr wrap="square" lIns="0" tIns="0" rIns="0" bIns="0" rtlCol="0" anchor="t"/>
          <a:lstStyle/>
          <a:p>
            <a:pPr algn="ctr" indent="0" marL="0">
              <a:buNone/>
            </a:pPr>
            <a:r>
              <a:rPr lang="en-US" sz="900" dirty="0">
                <a:solidFill>
                  <a:srgbClr val="132257"/>
                </a:solidFill>
                <a:latin typeface="Exo 2" pitchFamily="34" charset="0"/>
                <a:ea typeface="Exo 2" pitchFamily="34" charset="-122"/>
                <a:cs typeface="Exo 2" pitchFamily="34" charset="-120"/>
              </a:rPr>
              <a:t>● </a:t>
            </a:r>
            <a:pPr algn="ctr" indent="0" marL="0">
              <a:buNone/>
            </a:pPr>
            <a:r>
              <a:rPr lang="en-US" sz="900" b="1" dirty="0">
                <a:solidFill>
                  <a:srgbClr val="132257"/>
                </a:solidFill>
                <a:latin typeface="Exo 2" pitchFamily="34" charset="0"/>
                <a:ea typeface="Exo 2" pitchFamily="34" charset="-122"/>
                <a:cs typeface="Exo 2" pitchFamily="34" charset="-120"/>
              </a:rPr>
              <a:t>Posted</a:t>
            </a:r>
            <a:pPr algn="ctr" indent="0" marL="0">
              <a:buNone/>
            </a:pPr>
            <a:r>
              <a:rPr lang="en-US" sz="900" dirty="0">
                <a:solidFill>
                  <a:srgbClr val="7A849C"/>
                </a:solidFill>
                <a:latin typeface="Exo 2" pitchFamily="34" charset="0"/>
                <a:ea typeface="Exo 2" pitchFamily="34" charset="-122"/>
                <a:cs typeface="Exo 2" pitchFamily="34" charset="-120"/>
              </a:rPr>
              <a:t>  5.3M views</a:t>
            </a:r>
            <a:endParaRPr lang="en-US" sz="900" dirty="0"/>
          </a:p>
        </p:txBody>
      </p:sp>
      <p:sp>
        <p:nvSpPr>
          <p:cNvPr id="21" name="Text 14"/>
          <p:cNvSpPr txBox="1"/>
          <p:nvPr/>
        </p:nvSpPr>
        <p:spPr>
          <a:xfrm>
            <a:off x="2441448" y="1444752"/>
            <a:ext cx="1691640" cy="201168"/>
          </a:xfrm>
          <a:prstGeom prst="rect">
            <a:avLst/>
          </a:prstGeom>
          <a:noFill/>
          <a:ln/>
        </p:spPr>
        <p:txBody>
          <a:bodyPr wrap="square" lIns="0" tIns="0" rIns="0" bIns="0" rtlCol="0" anchor="t"/>
          <a:lstStyle/>
          <a:p>
            <a:pPr algn="ctr" indent="0" marL="0">
              <a:buNone/>
            </a:pPr>
            <a:r>
              <a:rPr lang="en-US" sz="950" b="1" spc="200" kern="0" dirty="0">
                <a:solidFill>
                  <a:srgbClr val="9A7B1F"/>
                </a:solidFill>
                <a:latin typeface="Exo 2" pitchFamily="34" charset="0"/>
                <a:ea typeface="Exo 2" pitchFamily="34" charset="-122"/>
                <a:cs typeface="Exo 2" pitchFamily="34" charset="-120"/>
              </a:rPr>
              <a:t>AUG</a:t>
            </a:r>
            <a:endParaRPr lang="en-US" sz="950" dirty="0"/>
          </a:p>
        </p:txBody>
      </p:sp>
      <p:sp>
        <p:nvSpPr>
          <p:cNvPr id="22" name="Shape 15"/>
          <p:cNvSpPr/>
          <p:nvPr/>
        </p:nvSpPr>
        <p:spPr>
          <a:xfrm>
            <a:off x="3195828" y="1673352"/>
            <a:ext cx="182880" cy="182880"/>
          </a:xfrm>
          <a:prstGeom prst="ellipse">
            <a:avLst/>
          </a:prstGeom>
          <a:solidFill>
            <a:srgbClr val="1BA97C"/>
          </a:solidFill>
          <a:ln w="25400">
            <a:solidFill>
              <a:srgbClr val="1BA97C"/>
            </a:solidFill>
            <a:prstDash val="solid"/>
          </a:ln>
        </p:spPr>
      </p:sp>
      <p:pic>
        <p:nvPicPr>
          <p:cNvPr id="23" name="Image 4" descr="/home/user/HatemIsa_202508993_IT9002_NLP_Project/emyaa-ceo-deck/working/charts/tile9_ali.png">    </p:cNvPr>
          <p:cNvPicPr>
            <a:picLocks noChangeAspect="1"/>
          </p:cNvPicPr>
          <p:nvPr/>
        </p:nvPicPr>
        <p:blipFill>
          <a:blip r:embed="rId5"/>
          <a:stretch>
            <a:fillRect/>
          </a:stretch>
        </p:blipFill>
        <p:spPr>
          <a:xfrm>
            <a:off x="2784348" y="1938528"/>
            <a:ext cx="1005840" cy="1298448"/>
          </a:xfrm>
          <a:prstGeom prst="rect">
            <a:avLst/>
          </a:prstGeom>
        </p:spPr>
      </p:pic>
      <p:sp>
        <p:nvSpPr>
          <p:cNvPr id="24" name="Text 16"/>
          <p:cNvSpPr txBox="1"/>
          <p:nvPr/>
        </p:nvSpPr>
        <p:spPr>
          <a:xfrm>
            <a:off x="2441448" y="3291840"/>
            <a:ext cx="1691640" cy="237744"/>
          </a:xfrm>
          <a:prstGeom prst="rect">
            <a:avLst/>
          </a:prstGeom>
          <a:noFill/>
          <a:ln/>
        </p:spPr>
        <p:txBody>
          <a:bodyPr wrap="square" lIns="0" tIns="0" rIns="0" bIns="0" rtlCol="0" anchor="t"/>
          <a:lstStyle/>
          <a:p>
            <a:pPr algn="ctr" indent="0" marL="0">
              <a:buNone/>
            </a:pPr>
            <a:r>
              <a:rPr lang="en-US" sz="1100" b="1" dirty="0">
                <a:solidFill>
                  <a:srgbClr val="132257"/>
                </a:solidFill>
                <a:latin typeface="Exo 2" pitchFamily="34" charset="0"/>
                <a:ea typeface="Exo 2" pitchFamily="34" charset="-122"/>
                <a:cs typeface="Exo 2" pitchFamily="34" charset="-120"/>
              </a:rPr>
              <a:t>Ali Sabeel</a:t>
            </a:r>
            <a:endParaRPr lang="en-US" sz="1100" dirty="0"/>
          </a:p>
        </p:txBody>
      </p:sp>
      <p:sp>
        <p:nvSpPr>
          <p:cNvPr id="25" name="Text 17"/>
          <p:cNvSpPr txBox="1"/>
          <p:nvPr/>
        </p:nvSpPr>
        <p:spPr>
          <a:xfrm>
            <a:off x="2395728" y="3538728"/>
            <a:ext cx="1783080" cy="237744"/>
          </a:xfrm>
          <a:prstGeom prst="rect">
            <a:avLst/>
          </a:prstGeom>
          <a:noFill/>
          <a:ln/>
        </p:spPr>
        <p:txBody>
          <a:bodyPr wrap="square" lIns="0" tIns="0" rIns="0" bIns="0" rtlCol="0" anchor="t"/>
          <a:lstStyle/>
          <a:p>
            <a:pPr algn="ctr" indent="0" marL="0">
              <a:buNone/>
            </a:pPr>
            <a:r>
              <a:rPr lang="en-US" sz="900" dirty="0">
                <a:solidFill>
                  <a:srgbClr val="132257"/>
                </a:solidFill>
                <a:latin typeface="Exo 2" pitchFamily="34" charset="0"/>
                <a:ea typeface="Exo 2" pitchFamily="34" charset="-122"/>
                <a:cs typeface="Exo 2" pitchFamily="34" charset="-120"/>
              </a:rPr>
              <a:t>● </a:t>
            </a:r>
            <a:pPr algn="ctr" indent="0" marL="0">
              <a:buNone/>
            </a:pPr>
            <a:r>
              <a:rPr lang="en-US" sz="900" b="1" dirty="0">
                <a:solidFill>
                  <a:srgbClr val="132257"/>
                </a:solidFill>
                <a:latin typeface="Exo 2" pitchFamily="34" charset="0"/>
                <a:ea typeface="Exo 2" pitchFamily="34" charset="-122"/>
                <a:cs typeface="Exo 2" pitchFamily="34" charset="-120"/>
              </a:rPr>
              <a:t>Posted</a:t>
            </a:r>
            <a:pPr algn="ctr" indent="0" marL="0">
              <a:buNone/>
            </a:pPr>
            <a:r>
              <a:rPr lang="en-US" sz="900" dirty="0">
                <a:solidFill>
                  <a:srgbClr val="7A849C"/>
                </a:solidFill>
                <a:latin typeface="Exo 2" pitchFamily="34" charset="0"/>
                <a:ea typeface="Exo 2" pitchFamily="34" charset="-122"/>
                <a:cs typeface="Exo 2" pitchFamily="34" charset="-120"/>
              </a:rPr>
              <a:t>  1.3M views</a:t>
            </a:r>
            <a:endParaRPr lang="en-US" sz="900" dirty="0"/>
          </a:p>
        </p:txBody>
      </p:sp>
      <p:sp>
        <p:nvSpPr>
          <p:cNvPr id="26" name="Text 18"/>
          <p:cNvSpPr txBox="1"/>
          <p:nvPr/>
        </p:nvSpPr>
        <p:spPr>
          <a:xfrm>
            <a:off x="4315968" y="1444752"/>
            <a:ext cx="1691640" cy="201168"/>
          </a:xfrm>
          <a:prstGeom prst="rect">
            <a:avLst/>
          </a:prstGeom>
          <a:noFill/>
          <a:ln/>
        </p:spPr>
        <p:txBody>
          <a:bodyPr wrap="square" lIns="0" tIns="0" rIns="0" bIns="0" rtlCol="0" anchor="t"/>
          <a:lstStyle/>
          <a:p>
            <a:pPr algn="ctr" indent="0" marL="0">
              <a:buNone/>
            </a:pPr>
            <a:r>
              <a:rPr lang="en-US" sz="950" b="1" spc="200" kern="0" dirty="0">
                <a:solidFill>
                  <a:srgbClr val="9A7B1F"/>
                </a:solidFill>
                <a:latin typeface="Exo 2" pitchFamily="34" charset="0"/>
                <a:ea typeface="Exo 2" pitchFamily="34" charset="-122"/>
                <a:cs typeface="Exo 2" pitchFamily="34" charset="-120"/>
              </a:rPr>
              <a:t>SEP</a:t>
            </a:r>
            <a:endParaRPr lang="en-US" sz="950" dirty="0"/>
          </a:p>
        </p:txBody>
      </p:sp>
      <p:sp>
        <p:nvSpPr>
          <p:cNvPr id="27" name="Shape 19"/>
          <p:cNvSpPr/>
          <p:nvPr/>
        </p:nvSpPr>
        <p:spPr>
          <a:xfrm>
            <a:off x="5070348" y="1673352"/>
            <a:ext cx="182880" cy="182880"/>
          </a:xfrm>
          <a:prstGeom prst="ellipse">
            <a:avLst/>
          </a:prstGeom>
          <a:solidFill>
            <a:srgbClr val="1BA97C"/>
          </a:solidFill>
          <a:ln w="25400">
            <a:solidFill>
              <a:srgbClr val="1BA97C"/>
            </a:solidFill>
            <a:prstDash val="solid"/>
          </a:ln>
        </p:spPr>
      </p:sp>
      <p:pic>
        <p:nvPicPr>
          <p:cNvPr id="28" name="Image 5" descr="/home/user/HatemIsa_202508993_IT9002_NLP_Project/emyaa-ceo-deck/working/charts/tile9_abdulelah.png">    </p:cNvPr>
          <p:cNvPicPr>
            <a:picLocks noChangeAspect="1"/>
          </p:cNvPicPr>
          <p:nvPr/>
        </p:nvPicPr>
        <p:blipFill>
          <a:blip r:embed="rId6"/>
          <a:stretch>
            <a:fillRect/>
          </a:stretch>
        </p:blipFill>
        <p:spPr>
          <a:xfrm>
            <a:off x="4658868" y="1938528"/>
            <a:ext cx="1005840" cy="1298448"/>
          </a:xfrm>
          <a:prstGeom prst="rect">
            <a:avLst/>
          </a:prstGeom>
        </p:spPr>
      </p:pic>
      <p:sp>
        <p:nvSpPr>
          <p:cNvPr id="29" name="Text 20"/>
          <p:cNvSpPr txBox="1"/>
          <p:nvPr/>
        </p:nvSpPr>
        <p:spPr>
          <a:xfrm>
            <a:off x="4315968" y="3291840"/>
            <a:ext cx="1691640" cy="237744"/>
          </a:xfrm>
          <a:prstGeom prst="rect">
            <a:avLst/>
          </a:prstGeom>
          <a:noFill/>
          <a:ln/>
        </p:spPr>
        <p:txBody>
          <a:bodyPr wrap="square" lIns="0" tIns="0" rIns="0" bIns="0" rtlCol="0" anchor="t"/>
          <a:lstStyle/>
          <a:p>
            <a:pPr algn="ctr" indent="0" marL="0">
              <a:buNone/>
            </a:pPr>
            <a:r>
              <a:rPr lang="en-US" sz="1100" b="1" dirty="0">
                <a:solidFill>
                  <a:srgbClr val="132257"/>
                </a:solidFill>
                <a:latin typeface="Exo 2" pitchFamily="34" charset="0"/>
                <a:ea typeface="Exo 2" pitchFamily="34" charset="-122"/>
                <a:cs typeface="Exo 2" pitchFamily="34" charset="-120"/>
              </a:rPr>
              <a:t>Abdulelah Al Harbi</a:t>
            </a:r>
            <a:endParaRPr lang="en-US" sz="1100" dirty="0"/>
          </a:p>
        </p:txBody>
      </p:sp>
      <p:sp>
        <p:nvSpPr>
          <p:cNvPr id="30" name="Text 21"/>
          <p:cNvSpPr txBox="1"/>
          <p:nvPr/>
        </p:nvSpPr>
        <p:spPr>
          <a:xfrm>
            <a:off x="4270248" y="3538728"/>
            <a:ext cx="1783080" cy="237744"/>
          </a:xfrm>
          <a:prstGeom prst="rect">
            <a:avLst/>
          </a:prstGeom>
          <a:noFill/>
          <a:ln/>
        </p:spPr>
        <p:txBody>
          <a:bodyPr wrap="square" lIns="0" tIns="0" rIns="0" bIns="0" rtlCol="0" anchor="t"/>
          <a:lstStyle/>
          <a:p>
            <a:pPr algn="ctr" indent="0" marL="0">
              <a:buNone/>
            </a:pPr>
            <a:r>
              <a:rPr lang="en-US" sz="900" dirty="0">
                <a:solidFill>
                  <a:srgbClr val="132257"/>
                </a:solidFill>
                <a:latin typeface="Exo 2" pitchFamily="34" charset="0"/>
                <a:ea typeface="Exo 2" pitchFamily="34" charset="-122"/>
                <a:cs typeface="Exo 2" pitchFamily="34" charset="-120"/>
              </a:rPr>
              <a:t>● </a:t>
            </a:r>
            <a:pPr algn="ctr" indent="0" marL="0">
              <a:buNone/>
            </a:pPr>
            <a:r>
              <a:rPr lang="en-US" sz="900" b="1" dirty="0">
                <a:solidFill>
                  <a:srgbClr val="132257"/>
                </a:solidFill>
                <a:latin typeface="Exo 2" pitchFamily="34" charset="0"/>
                <a:ea typeface="Exo 2" pitchFamily="34" charset="-122"/>
                <a:cs typeface="Exo 2" pitchFamily="34" charset="-120"/>
              </a:rPr>
              <a:t>Posted</a:t>
            </a:r>
            <a:pPr algn="ctr" indent="0" marL="0">
              <a:buNone/>
            </a:pPr>
            <a:r>
              <a:rPr lang="en-US" sz="900" dirty="0">
                <a:solidFill>
                  <a:srgbClr val="7A849C"/>
                </a:solidFill>
                <a:latin typeface="Exo 2" pitchFamily="34" charset="0"/>
                <a:ea typeface="Exo 2" pitchFamily="34" charset="-122"/>
                <a:cs typeface="Exo 2" pitchFamily="34" charset="-120"/>
              </a:rPr>
              <a:t>  views not supplied</a:t>
            </a:r>
            <a:endParaRPr lang="en-US" sz="900" dirty="0"/>
          </a:p>
        </p:txBody>
      </p:sp>
      <p:sp>
        <p:nvSpPr>
          <p:cNvPr id="31" name="Text 22"/>
          <p:cNvSpPr txBox="1"/>
          <p:nvPr/>
        </p:nvSpPr>
        <p:spPr>
          <a:xfrm>
            <a:off x="6190488" y="1444752"/>
            <a:ext cx="1691640" cy="201168"/>
          </a:xfrm>
          <a:prstGeom prst="rect">
            <a:avLst/>
          </a:prstGeom>
          <a:noFill/>
          <a:ln/>
        </p:spPr>
        <p:txBody>
          <a:bodyPr wrap="square" lIns="0" tIns="0" rIns="0" bIns="0" rtlCol="0" anchor="t"/>
          <a:lstStyle/>
          <a:p>
            <a:pPr algn="ctr" indent="0" marL="0">
              <a:buNone/>
            </a:pPr>
            <a:r>
              <a:rPr lang="en-US" sz="950" b="1" spc="200" kern="0" dirty="0">
                <a:solidFill>
                  <a:srgbClr val="9A7B1F"/>
                </a:solidFill>
                <a:latin typeface="Exo 2" pitchFamily="34" charset="0"/>
                <a:ea typeface="Exo 2" pitchFamily="34" charset="-122"/>
                <a:cs typeface="Exo 2" pitchFamily="34" charset="-120"/>
              </a:rPr>
              <a:t>SEP</a:t>
            </a:r>
            <a:endParaRPr lang="en-US" sz="950" dirty="0"/>
          </a:p>
        </p:txBody>
      </p:sp>
      <p:sp>
        <p:nvSpPr>
          <p:cNvPr id="32" name="Shape 23"/>
          <p:cNvSpPr/>
          <p:nvPr/>
        </p:nvSpPr>
        <p:spPr>
          <a:xfrm>
            <a:off x="6944868" y="1673352"/>
            <a:ext cx="182880" cy="182880"/>
          </a:xfrm>
          <a:prstGeom prst="ellipse">
            <a:avLst/>
          </a:prstGeom>
          <a:solidFill>
            <a:srgbClr val="1BA97C"/>
          </a:solidFill>
          <a:ln w="25400">
            <a:solidFill>
              <a:srgbClr val="1BA97C"/>
            </a:solidFill>
            <a:prstDash val="solid"/>
          </a:ln>
        </p:spPr>
      </p:sp>
      <p:pic>
        <p:nvPicPr>
          <p:cNvPr id="33" name="Image 6" descr="/home/user/HatemIsa_202508993_IT9002_NLP_Project/emyaa-ceo-deck/working/charts/tile9_howto.png">    </p:cNvPr>
          <p:cNvPicPr>
            <a:picLocks noChangeAspect="1"/>
          </p:cNvPicPr>
          <p:nvPr/>
        </p:nvPicPr>
        <p:blipFill>
          <a:blip r:embed="rId7"/>
          <a:stretch>
            <a:fillRect/>
          </a:stretch>
        </p:blipFill>
        <p:spPr>
          <a:xfrm>
            <a:off x="6533388" y="1938528"/>
            <a:ext cx="1005840" cy="1298448"/>
          </a:xfrm>
          <a:prstGeom prst="rect">
            <a:avLst/>
          </a:prstGeom>
        </p:spPr>
      </p:pic>
      <p:sp>
        <p:nvSpPr>
          <p:cNvPr id="34" name="Text 24"/>
          <p:cNvSpPr txBox="1"/>
          <p:nvPr/>
        </p:nvSpPr>
        <p:spPr>
          <a:xfrm>
            <a:off x="6190488" y="3291840"/>
            <a:ext cx="1691640" cy="237744"/>
          </a:xfrm>
          <a:prstGeom prst="rect">
            <a:avLst/>
          </a:prstGeom>
          <a:noFill/>
          <a:ln/>
        </p:spPr>
        <p:txBody>
          <a:bodyPr wrap="square" lIns="0" tIns="0" rIns="0" bIns="0" rtlCol="0" anchor="t"/>
          <a:lstStyle/>
          <a:p>
            <a:pPr algn="ctr" indent="0" marL="0">
              <a:buNone/>
            </a:pPr>
            <a:r>
              <a:rPr lang="en-US" sz="1100" b="1" dirty="0">
                <a:solidFill>
                  <a:srgbClr val="132257"/>
                </a:solidFill>
                <a:latin typeface="Exo 2" pitchFamily="34" charset="0"/>
                <a:ea typeface="Exo 2" pitchFamily="34" charset="-122"/>
                <a:cs typeface="Exo 2" pitchFamily="34" charset="-120"/>
              </a:rPr>
              <a:t>How-to, presenter</a:t>
            </a:r>
            <a:endParaRPr lang="en-US" sz="1100" dirty="0"/>
          </a:p>
        </p:txBody>
      </p:sp>
      <p:sp>
        <p:nvSpPr>
          <p:cNvPr id="35" name="Text 25"/>
          <p:cNvSpPr txBox="1"/>
          <p:nvPr/>
        </p:nvSpPr>
        <p:spPr>
          <a:xfrm>
            <a:off x="6144768" y="3538728"/>
            <a:ext cx="1783080" cy="237744"/>
          </a:xfrm>
          <a:prstGeom prst="rect">
            <a:avLst/>
          </a:prstGeom>
          <a:noFill/>
          <a:ln/>
        </p:spPr>
        <p:txBody>
          <a:bodyPr wrap="square" lIns="0" tIns="0" rIns="0" bIns="0" rtlCol="0" anchor="t"/>
          <a:lstStyle/>
          <a:p>
            <a:pPr algn="ctr" indent="0" marL="0">
              <a:buNone/>
            </a:pPr>
            <a:r>
              <a:rPr lang="en-US" sz="900" dirty="0">
                <a:solidFill>
                  <a:srgbClr val="132257"/>
                </a:solidFill>
                <a:latin typeface="Exo 2" pitchFamily="34" charset="0"/>
                <a:ea typeface="Exo 2" pitchFamily="34" charset="-122"/>
                <a:cs typeface="Exo 2" pitchFamily="34" charset="-120"/>
              </a:rPr>
              <a:t>● </a:t>
            </a:r>
            <a:pPr algn="ctr" indent="0" marL="0">
              <a:buNone/>
            </a:pPr>
            <a:r>
              <a:rPr lang="en-US" sz="900" b="1" dirty="0">
                <a:solidFill>
                  <a:srgbClr val="132257"/>
                </a:solidFill>
                <a:latin typeface="Exo 2" pitchFamily="34" charset="0"/>
                <a:ea typeface="Exo 2" pitchFamily="34" charset="-122"/>
                <a:cs typeface="Exo 2" pitchFamily="34" charset="-120"/>
              </a:rPr>
              <a:t>Posted</a:t>
            </a:r>
            <a:pPr algn="ctr" indent="0" marL="0">
              <a:buNone/>
            </a:pPr>
            <a:r>
              <a:rPr lang="en-US" sz="900" dirty="0">
                <a:solidFill>
                  <a:srgbClr val="7A849C"/>
                </a:solidFill>
                <a:latin typeface="Exo 2" pitchFamily="34" charset="0"/>
                <a:ea typeface="Exo 2" pitchFamily="34" charset="-122"/>
                <a:cs typeface="Exo 2" pitchFamily="34" charset="-120"/>
              </a:rPr>
              <a:t>  332 views</a:t>
            </a:r>
            <a:endParaRPr lang="en-US" sz="900" dirty="0"/>
          </a:p>
        </p:txBody>
      </p:sp>
      <p:sp>
        <p:nvSpPr>
          <p:cNvPr id="36" name="Text 26"/>
          <p:cNvSpPr txBox="1"/>
          <p:nvPr/>
        </p:nvSpPr>
        <p:spPr>
          <a:xfrm>
            <a:off x="8065008" y="1444752"/>
            <a:ext cx="1691640" cy="201168"/>
          </a:xfrm>
          <a:prstGeom prst="rect">
            <a:avLst/>
          </a:prstGeom>
          <a:noFill/>
          <a:ln/>
        </p:spPr>
        <p:txBody>
          <a:bodyPr wrap="square" lIns="0" tIns="0" rIns="0" bIns="0" rtlCol="0" anchor="t"/>
          <a:lstStyle/>
          <a:p>
            <a:pPr algn="ctr" indent="0" marL="0">
              <a:buNone/>
            </a:pPr>
            <a:r>
              <a:rPr lang="en-US" sz="950" b="1" spc="200" kern="0" dirty="0">
                <a:solidFill>
                  <a:srgbClr val="9A7B1F"/>
                </a:solidFill>
                <a:latin typeface="Exo 2" pitchFamily="34" charset="0"/>
                <a:ea typeface="Exo 2" pitchFamily="34" charset="-122"/>
                <a:cs typeface="Exo 2" pitchFamily="34" charset="-120"/>
              </a:rPr>
              <a:t>OCT</a:t>
            </a:r>
            <a:endParaRPr lang="en-US" sz="950" dirty="0"/>
          </a:p>
        </p:txBody>
      </p:sp>
      <p:sp>
        <p:nvSpPr>
          <p:cNvPr id="37" name="Shape 27"/>
          <p:cNvSpPr/>
          <p:nvPr/>
        </p:nvSpPr>
        <p:spPr>
          <a:xfrm>
            <a:off x="8819388" y="1673352"/>
            <a:ext cx="182880" cy="182880"/>
          </a:xfrm>
          <a:prstGeom prst="ellipse">
            <a:avLst/>
          </a:prstGeom>
          <a:solidFill>
            <a:srgbClr val="FFFFFF"/>
          </a:solidFill>
          <a:ln w="25400">
            <a:solidFill>
              <a:srgbClr val="7A849C"/>
            </a:solidFill>
            <a:prstDash val="solid"/>
          </a:ln>
        </p:spPr>
      </p:sp>
      <p:sp>
        <p:nvSpPr>
          <p:cNvPr id="38" name="Shape 28"/>
          <p:cNvSpPr/>
          <p:nvPr/>
        </p:nvSpPr>
        <p:spPr>
          <a:xfrm>
            <a:off x="8407908" y="1938528"/>
            <a:ext cx="1005840" cy="1298448"/>
          </a:xfrm>
          <a:prstGeom prst="rect">
            <a:avLst/>
          </a:prstGeom>
          <a:solidFill>
            <a:srgbClr val="E3E8F2"/>
          </a:solidFill>
          <a:ln w="9525">
            <a:solidFill>
              <a:srgbClr val="C6CFE4"/>
            </a:solidFill>
            <a:prstDash val="dash"/>
          </a:ln>
        </p:spPr>
      </p:sp>
      <p:sp>
        <p:nvSpPr>
          <p:cNvPr id="39" name="Text 29"/>
          <p:cNvSpPr txBox="1"/>
          <p:nvPr/>
        </p:nvSpPr>
        <p:spPr>
          <a:xfrm>
            <a:off x="8453628" y="1938528"/>
            <a:ext cx="914400" cy="1298448"/>
          </a:xfrm>
          <a:prstGeom prst="rect">
            <a:avLst/>
          </a:prstGeom>
          <a:noFill/>
          <a:ln/>
        </p:spPr>
        <p:txBody>
          <a:bodyPr wrap="square" lIns="0" tIns="0" rIns="0" bIns="0" rtlCol="0" anchor="ctr"/>
          <a:lstStyle/>
          <a:p>
            <a:pPr algn="ctr" indent="0" marL="0">
              <a:buNone/>
            </a:pPr>
            <a:r>
              <a:rPr lang="en-US" sz="950" dirty="0">
                <a:solidFill>
                  <a:srgbClr val="7A849C"/>
                </a:solidFill>
                <a:latin typeface="Exo 2" pitchFamily="34" charset="0"/>
                <a:ea typeface="Exo 2" pitchFamily="34" charset="-122"/>
                <a:cs typeface="Exo 2" pitchFamily="34" charset="-120"/>
              </a:rPr>
              <a:t>In production</a:t>
            </a:r>
            <a:endParaRPr lang="en-US" sz="950" dirty="0"/>
          </a:p>
        </p:txBody>
      </p:sp>
      <p:sp>
        <p:nvSpPr>
          <p:cNvPr id="40" name="Text 30"/>
          <p:cNvSpPr txBox="1"/>
          <p:nvPr/>
        </p:nvSpPr>
        <p:spPr>
          <a:xfrm>
            <a:off x="8065008" y="3291840"/>
            <a:ext cx="1691640" cy="237744"/>
          </a:xfrm>
          <a:prstGeom prst="rect">
            <a:avLst/>
          </a:prstGeom>
          <a:noFill/>
          <a:ln/>
        </p:spPr>
        <p:txBody>
          <a:bodyPr wrap="square" lIns="0" tIns="0" rIns="0" bIns="0" rtlCol="0" anchor="t"/>
          <a:lstStyle/>
          <a:p>
            <a:pPr algn="ctr" indent="0" marL="0">
              <a:buNone/>
            </a:pPr>
            <a:r>
              <a:rPr lang="en-US" sz="1100" b="1" dirty="0">
                <a:solidFill>
                  <a:srgbClr val="132257"/>
                </a:solidFill>
                <a:latin typeface="Exo 2" pitchFamily="34" charset="0"/>
                <a:ea typeface="Exo 2" pitchFamily="34" charset="-122"/>
                <a:cs typeface="Exo 2" pitchFamily="34" charset="-120"/>
              </a:rPr>
              <a:t>Manal Talal</a:t>
            </a:r>
            <a:endParaRPr lang="en-US" sz="1100" dirty="0"/>
          </a:p>
        </p:txBody>
      </p:sp>
      <p:sp>
        <p:nvSpPr>
          <p:cNvPr id="41" name="Text 31"/>
          <p:cNvSpPr txBox="1"/>
          <p:nvPr/>
        </p:nvSpPr>
        <p:spPr>
          <a:xfrm>
            <a:off x="8019288" y="3538728"/>
            <a:ext cx="1783080" cy="237744"/>
          </a:xfrm>
          <a:prstGeom prst="rect">
            <a:avLst/>
          </a:prstGeom>
          <a:noFill/>
          <a:ln/>
        </p:spPr>
        <p:txBody>
          <a:bodyPr wrap="square" lIns="0" tIns="0" rIns="0" bIns="0" rtlCol="0" anchor="t"/>
          <a:lstStyle/>
          <a:p>
            <a:pPr algn="ctr" indent="0" marL="0">
              <a:buNone/>
            </a:pPr>
            <a:r>
              <a:rPr lang="en-US" sz="900" dirty="0">
                <a:solidFill>
                  <a:srgbClr val="7A849C"/>
                </a:solidFill>
                <a:latin typeface="Exo 2" pitchFamily="34" charset="0"/>
                <a:ea typeface="Exo 2" pitchFamily="34" charset="-122"/>
                <a:cs typeface="Exo 2" pitchFamily="34" charset="-120"/>
              </a:rPr>
              <a:t>● </a:t>
            </a:r>
            <a:pPr algn="ctr" indent="0" marL="0">
              <a:buNone/>
            </a:pPr>
            <a:r>
              <a:rPr lang="en-US" sz="900" b="1" dirty="0">
                <a:solidFill>
                  <a:srgbClr val="7A849C"/>
                </a:solidFill>
                <a:latin typeface="Exo 2" pitchFamily="34" charset="0"/>
                <a:ea typeface="Exo 2" pitchFamily="34" charset="-122"/>
                <a:cs typeface="Exo 2" pitchFamily="34" charset="-120"/>
              </a:rPr>
              <a:t>In production</a:t>
            </a:r>
            <a:pPr algn="ctr" indent="0" marL="0">
              <a:buNone/>
            </a:pPr>
            <a:r>
              <a:rPr lang="en-US" sz="900" dirty="0">
                <a:solidFill>
                  <a:srgbClr val="7A849C"/>
                </a:solidFill>
                <a:latin typeface="Exo 2" pitchFamily="34" charset="0"/>
                <a:ea typeface="Exo 2" pitchFamily="34" charset="-122"/>
                <a:cs typeface="Exo 2" pitchFamily="34" charset="-120"/>
              </a:rPr>
              <a:t>  calendar: 22 Oct</a:t>
            </a:r>
            <a:endParaRPr lang="en-US" sz="900" dirty="0"/>
          </a:p>
        </p:txBody>
      </p:sp>
      <p:sp>
        <p:nvSpPr>
          <p:cNvPr id="42" name="Text 32"/>
          <p:cNvSpPr txBox="1"/>
          <p:nvPr/>
        </p:nvSpPr>
        <p:spPr>
          <a:xfrm>
            <a:off x="9939528" y="1444752"/>
            <a:ext cx="1691640" cy="201168"/>
          </a:xfrm>
          <a:prstGeom prst="rect">
            <a:avLst/>
          </a:prstGeom>
          <a:noFill/>
          <a:ln/>
        </p:spPr>
        <p:txBody>
          <a:bodyPr wrap="square" lIns="0" tIns="0" rIns="0" bIns="0" rtlCol="0" anchor="t"/>
          <a:lstStyle/>
          <a:p>
            <a:pPr algn="ctr" indent="0" marL="0">
              <a:buNone/>
            </a:pPr>
            <a:r>
              <a:rPr lang="en-US" sz="950" b="1" spc="200" kern="0" dirty="0">
                <a:solidFill>
                  <a:srgbClr val="9A7B1F"/>
                </a:solidFill>
                <a:latin typeface="Exo 2" pitchFamily="34" charset="0"/>
                <a:ea typeface="Exo 2" pitchFamily="34" charset="-122"/>
                <a:cs typeface="Exo 2" pitchFamily="34" charset="-120"/>
              </a:rPr>
              <a:t>NOV</a:t>
            </a:r>
            <a:endParaRPr lang="en-US" sz="950" dirty="0"/>
          </a:p>
        </p:txBody>
      </p:sp>
      <p:sp>
        <p:nvSpPr>
          <p:cNvPr id="43" name="Shape 33"/>
          <p:cNvSpPr/>
          <p:nvPr/>
        </p:nvSpPr>
        <p:spPr>
          <a:xfrm>
            <a:off x="10693908" y="1673352"/>
            <a:ext cx="182880" cy="182880"/>
          </a:xfrm>
          <a:prstGeom prst="ellipse">
            <a:avLst/>
          </a:prstGeom>
          <a:solidFill>
            <a:srgbClr val="FFFFFF"/>
          </a:solidFill>
          <a:ln w="25400">
            <a:solidFill>
              <a:srgbClr val="7A849C"/>
            </a:solidFill>
            <a:prstDash val="solid"/>
          </a:ln>
        </p:spPr>
      </p:sp>
      <p:sp>
        <p:nvSpPr>
          <p:cNvPr id="44" name="Shape 34"/>
          <p:cNvSpPr/>
          <p:nvPr/>
        </p:nvSpPr>
        <p:spPr>
          <a:xfrm>
            <a:off x="10282428" y="1938528"/>
            <a:ext cx="1005840" cy="1298448"/>
          </a:xfrm>
          <a:prstGeom prst="rect">
            <a:avLst/>
          </a:prstGeom>
          <a:solidFill>
            <a:srgbClr val="E3E8F2"/>
          </a:solidFill>
          <a:ln w="9525">
            <a:solidFill>
              <a:srgbClr val="C6CFE4"/>
            </a:solidFill>
            <a:prstDash val="dash"/>
          </a:ln>
        </p:spPr>
      </p:sp>
      <p:sp>
        <p:nvSpPr>
          <p:cNvPr id="45" name="Text 35"/>
          <p:cNvSpPr txBox="1"/>
          <p:nvPr/>
        </p:nvSpPr>
        <p:spPr>
          <a:xfrm>
            <a:off x="10328148" y="1938528"/>
            <a:ext cx="914400" cy="1298448"/>
          </a:xfrm>
          <a:prstGeom prst="rect">
            <a:avLst/>
          </a:prstGeom>
          <a:noFill/>
          <a:ln/>
        </p:spPr>
        <p:txBody>
          <a:bodyPr wrap="square" lIns="0" tIns="0" rIns="0" bIns="0" rtlCol="0" anchor="ctr"/>
          <a:lstStyle/>
          <a:p>
            <a:pPr algn="ctr" indent="0" marL="0">
              <a:buNone/>
            </a:pPr>
            <a:r>
              <a:rPr lang="en-US" sz="950" dirty="0">
                <a:solidFill>
                  <a:srgbClr val="7A849C"/>
                </a:solidFill>
                <a:latin typeface="Exo 2" pitchFamily="34" charset="0"/>
                <a:ea typeface="Exo 2" pitchFamily="34" charset="-122"/>
                <a:cs typeface="Exo 2" pitchFamily="34" charset="-120"/>
              </a:rPr>
              <a:t>Scheduled</a:t>
            </a:r>
            <a:endParaRPr lang="en-US" sz="950" dirty="0"/>
          </a:p>
        </p:txBody>
      </p:sp>
      <p:sp>
        <p:nvSpPr>
          <p:cNvPr id="46" name="Text 36"/>
          <p:cNvSpPr txBox="1"/>
          <p:nvPr/>
        </p:nvSpPr>
        <p:spPr>
          <a:xfrm>
            <a:off x="9939528" y="3291840"/>
            <a:ext cx="1691640" cy="237744"/>
          </a:xfrm>
          <a:prstGeom prst="rect">
            <a:avLst/>
          </a:prstGeom>
          <a:noFill/>
          <a:ln/>
        </p:spPr>
        <p:txBody>
          <a:bodyPr wrap="square" lIns="0" tIns="0" rIns="0" bIns="0" rtlCol="0" anchor="t"/>
          <a:lstStyle/>
          <a:p>
            <a:pPr algn="ctr" indent="0" marL="0">
              <a:buNone/>
            </a:pPr>
            <a:r>
              <a:rPr lang="en-US" sz="1100" b="1" dirty="0">
                <a:solidFill>
                  <a:srgbClr val="132257"/>
                </a:solidFill>
                <a:latin typeface="Exo 2" pitchFamily="34" charset="0"/>
                <a:ea typeface="Exo 2" pitchFamily="34" charset="-122"/>
                <a:cs typeface="Exo 2" pitchFamily="34" charset="-120"/>
              </a:rPr>
              <a:t>Hamed Al Bloushi</a:t>
            </a:r>
            <a:endParaRPr lang="en-US" sz="1100" dirty="0"/>
          </a:p>
        </p:txBody>
      </p:sp>
      <p:sp>
        <p:nvSpPr>
          <p:cNvPr id="47" name="Text 37"/>
          <p:cNvSpPr txBox="1"/>
          <p:nvPr/>
        </p:nvSpPr>
        <p:spPr>
          <a:xfrm>
            <a:off x="9893808" y="3538728"/>
            <a:ext cx="1783080" cy="237744"/>
          </a:xfrm>
          <a:prstGeom prst="rect">
            <a:avLst/>
          </a:prstGeom>
          <a:noFill/>
          <a:ln/>
        </p:spPr>
        <p:txBody>
          <a:bodyPr wrap="square" lIns="0" tIns="0" rIns="0" bIns="0" rtlCol="0" anchor="t"/>
          <a:lstStyle/>
          <a:p>
            <a:pPr algn="ctr" indent="0" marL="0">
              <a:buNone/>
            </a:pPr>
            <a:r>
              <a:rPr lang="en-US" sz="900" dirty="0">
                <a:solidFill>
                  <a:srgbClr val="7A849C"/>
                </a:solidFill>
                <a:latin typeface="Exo 2" pitchFamily="34" charset="0"/>
                <a:ea typeface="Exo 2" pitchFamily="34" charset="-122"/>
                <a:cs typeface="Exo 2" pitchFamily="34" charset="-120"/>
              </a:rPr>
              <a:t>● </a:t>
            </a:r>
            <a:pPr algn="ctr" indent="0" marL="0">
              <a:buNone/>
            </a:pPr>
            <a:r>
              <a:rPr lang="en-US" sz="900" b="1" dirty="0">
                <a:solidFill>
                  <a:srgbClr val="7A849C"/>
                </a:solidFill>
                <a:latin typeface="Exo 2" pitchFamily="34" charset="0"/>
                <a:ea typeface="Exo 2" pitchFamily="34" charset="-122"/>
                <a:cs typeface="Exo 2" pitchFamily="34" charset="-120"/>
              </a:rPr>
              <a:t>Scheduled</a:t>
            </a:r>
            <a:pPr algn="ctr" indent="0" marL="0">
              <a:buNone/>
            </a:pPr>
            <a:r>
              <a:rPr lang="en-US" sz="900" dirty="0">
                <a:solidFill>
                  <a:srgbClr val="7A849C"/>
                </a:solidFill>
                <a:latin typeface="Exo 2" pitchFamily="34" charset="0"/>
                <a:ea typeface="Exo 2" pitchFamily="34" charset="-122"/>
                <a:cs typeface="Exo 2" pitchFamily="34" charset="-120"/>
              </a:rPr>
              <a:t>  per rollout plan</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3959352"/>
          <a:ext cx="11064240" cy="914400"/>
        </p:xfrm>
        <a:graphic>
          <a:graphicData uri="http://schemas.openxmlformats.org/drawingml/2006/table">
            <a:tbl>
              <a:tblPr/>
              <a:tblGrid>
                <a:gridCol w="1188720"/>
                <a:gridCol w="6949440"/>
                <a:gridCol w="1463040"/>
                <a:gridCol w="1463040"/>
              </a:tblGrid>
              <a:tr h="274320">
                <a:tc>
                  <a:txBody>
                    <a:bodyPr/>
                    <a:lstStyle/>
                    <a:p>
                      <a:pPr indent="0" marL="0">
                        <a:buNone/>
                      </a:pPr>
                      <a:r>
                        <a:rPr lang="en-US" sz="1000" b="1" dirty="0">
                          <a:solidFill>
                            <a:srgbClr val="FFFFFF"/>
                          </a:solidFill>
                          <a:latin typeface="Exo 2" pitchFamily="34" charset="0"/>
                          <a:ea typeface="Exo 2" pitchFamily="34" charset="-122"/>
                          <a:cs typeface="Exo 2" pitchFamily="34" charset="-120"/>
                        </a:rPr>
                        <a:t>Channel</a:t>
                      </a:r>
                      <a:endParaRPr lang="en-US" sz="100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00" b="1" dirty="0">
                          <a:solidFill>
                            <a:srgbClr val="FFFFFF"/>
                          </a:solidFill>
                          <a:latin typeface="Exo 2" pitchFamily="34" charset="0"/>
                          <a:ea typeface="Exo 2" pitchFamily="34" charset="-122"/>
                          <a:cs typeface="Exo 2" pitchFamily="34" charset="-120"/>
                        </a:rPr>
                        <a:t>Latest figure</a:t>
                      </a:r>
                      <a:endParaRPr lang="en-US" sz="100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00" b="1" dirty="0">
                          <a:solidFill>
                            <a:srgbClr val="FFFFFF"/>
                          </a:solidFill>
                          <a:latin typeface="Exo 2" pitchFamily="34" charset="0"/>
                          <a:ea typeface="Exo 2" pitchFamily="34" charset="-122"/>
                          <a:cs typeface="Exo 2" pitchFamily="34" charset="-120"/>
                        </a:rPr>
                        <a:t>Period</a:t>
                      </a:r>
                      <a:endParaRPr lang="en-US" sz="100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00" b="1" dirty="0">
                          <a:solidFill>
                            <a:srgbClr val="FFFFFF"/>
                          </a:solidFill>
                          <a:latin typeface="Exo 2" pitchFamily="34" charset="0"/>
                          <a:ea typeface="Exo 2" pitchFamily="34" charset="-122"/>
                          <a:cs typeface="Exo 2" pitchFamily="34" charset="-120"/>
                        </a:rPr>
                        <a:t>Status</a:t>
                      </a:r>
                      <a:endParaRPr lang="en-US" sz="100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0" cap="flat" cmpd="sng" algn="ctr">
                      <a:noFill/>
                    </a:lnB>
                    <a:solidFill>
                      <a:srgbClr val="132257"/>
                    </a:solidFill>
                  </a:tcPr>
                </a:tc>
              </a:tr>
              <a:tr h="329184">
                <a:tc>
                  <a:txBody>
                    <a:bodyPr/>
                    <a:lstStyle/>
                    <a:p>
                      <a:pPr indent="0" marL="0">
                        <a:buNone/>
                      </a:pPr>
                      <a:r>
                        <a:rPr lang="en-US" sz="950" dirty="0">
                          <a:solidFill>
                            <a:srgbClr val="1F2A44"/>
                          </a:solidFill>
                          <a:latin typeface="Exo 2" pitchFamily="34" charset="0"/>
                          <a:ea typeface="Exo 2" pitchFamily="34" charset="-122"/>
                          <a:cs typeface="Exo 2" pitchFamily="34" charset="-120"/>
                        </a:rPr>
                        <a:t>Instagram</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F2A44"/>
                          </a:solidFill>
                          <a:latin typeface="Exo 2" pitchFamily="34" charset="0"/>
                          <a:ea typeface="Exo 2" pitchFamily="34" charset="-122"/>
                          <a:cs typeface="Exo 2" pitchFamily="34" charset="-120"/>
                        </a:rPr>
                        <a:t>2,116 followers; 5.3M, 1.3M and 186K views on the top three posts, every other post under 600</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F2A44"/>
                          </a:solidFill>
                          <a:latin typeface="Exo 2" pitchFamily="34" charset="0"/>
                          <a:ea typeface="Exo 2" pitchFamily="34" charset="-122"/>
                          <a:cs typeface="Exo 2" pitchFamily="34" charset="-120"/>
                        </a:rPr>
                        <a:t>Late Sep</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9A7B1F"/>
                          </a:solidFill>
                          <a:latin typeface="Exo 2" pitchFamily="34" charset="0"/>
                          <a:ea typeface="Exo 2" pitchFamily="34" charset="-122"/>
                          <a:cs typeface="Exo 2" pitchFamily="34" charset="-120"/>
                        </a:rPr>
                        <a:t>● </a:t>
                      </a:r>
                      <a:pPr indent="0" marL="0">
                        <a:buNone/>
                      </a:pPr>
                      <a:r>
                        <a:rPr lang="en-US" sz="950" b="1" dirty="0">
                          <a:solidFill>
                            <a:srgbClr val="9A7B1F"/>
                          </a:solidFill>
                          <a:latin typeface="Exo 2" pitchFamily="34" charset="0"/>
                          <a:ea typeface="Exo 2" pitchFamily="34" charset="-122"/>
                          <a:cs typeface="Exo 2" pitchFamily="34" charset="-120"/>
                        </a:rPr>
                        <a:t>Reported</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329184">
                <a:tc>
                  <a:txBody>
                    <a:bodyPr/>
                    <a:lstStyle/>
                    <a:p>
                      <a:pPr indent="0" marL="0">
                        <a:buNone/>
                      </a:pPr>
                      <a:r>
                        <a:rPr lang="en-US" sz="950" dirty="0">
                          <a:solidFill>
                            <a:srgbClr val="1F2A44"/>
                          </a:solidFill>
                          <a:latin typeface="Exo 2" pitchFamily="34" charset="0"/>
                          <a:ea typeface="Exo 2" pitchFamily="34" charset="-122"/>
                          <a:cs typeface="Exo 2" pitchFamily="34" charset="-120"/>
                        </a:rPr>
                        <a:t>LinkedIn</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F2A44"/>
                          </a:solidFill>
                          <a:latin typeface="Exo 2" pitchFamily="34" charset="0"/>
                          <a:ea typeface="Exo 2" pitchFamily="34" charset="-122"/>
                          <a:cs typeface="Exo 2" pitchFamily="34" charset="-120"/>
                        </a:rPr>
                        <a:t>531 followers (586 in an earlier count); 247 new vs 4 prior; 559 impressions, +118%</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F2A44"/>
                          </a:solidFill>
                          <a:latin typeface="Exo 2" pitchFamily="34" charset="0"/>
                          <a:ea typeface="Exo 2" pitchFamily="34" charset="-122"/>
                          <a:cs typeface="Exo 2" pitchFamily="34" charset="-120"/>
                        </a:rPr>
                        <a:t>30 days; 13-27 Sep</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C53030"/>
                          </a:solidFill>
                          <a:latin typeface="Exo 2" pitchFamily="34" charset="0"/>
                          <a:ea typeface="Exo 2" pitchFamily="34" charset="-122"/>
                          <a:cs typeface="Exo 2" pitchFamily="34" charset="-120"/>
                        </a:rPr>
                        <a:t>● </a:t>
                      </a:r>
                      <a:pPr indent="0" marL="0">
                        <a:buNone/>
                      </a:pPr>
                      <a:r>
                        <a:rPr lang="en-US" sz="950" b="1" dirty="0">
                          <a:solidFill>
                            <a:srgbClr val="C53030"/>
                          </a:solidFill>
                          <a:latin typeface="Exo 2" pitchFamily="34" charset="0"/>
                          <a:ea typeface="Exo 2" pitchFamily="34" charset="-122"/>
                          <a:cs typeface="Exo 2" pitchFamily="34" charset="-120"/>
                        </a:rPr>
                        <a:t>Conflicting</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329184">
                <a:tc>
                  <a:txBody>
                    <a:bodyPr/>
                    <a:lstStyle/>
                    <a:p>
                      <a:pPr indent="0" marL="0">
                        <a:buNone/>
                      </a:pPr>
                      <a:r>
                        <a:rPr lang="en-US" sz="950" dirty="0">
                          <a:solidFill>
                            <a:srgbClr val="1F2A44"/>
                          </a:solidFill>
                          <a:latin typeface="Exo 2" pitchFamily="34" charset="0"/>
                          <a:ea typeface="Exo 2" pitchFamily="34" charset="-122"/>
                          <a:cs typeface="Exo 2" pitchFamily="34" charset="-120"/>
                        </a:rPr>
                        <a:t>X / TikTok</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F2A44"/>
                          </a:solidFill>
                          <a:latin typeface="Exo 2" pitchFamily="34" charset="0"/>
                          <a:ea typeface="Exo 2" pitchFamily="34" charset="-122"/>
                          <a:cs typeface="Exo 2" pitchFamily="34" charset="-120"/>
                        </a:rPr>
                        <a:t>X: 738 followers, 99 posts, 96.4% Bahrain audience.  TikTok: 15 followers, 176 likes</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F2A44"/>
                          </a:solidFill>
                          <a:latin typeface="Exo 2" pitchFamily="34" charset="0"/>
                          <a:ea typeface="Exo 2" pitchFamily="34" charset="-122"/>
                          <a:cs typeface="Exo 2" pitchFamily="34" charset="-120"/>
                        </a:rPr>
                        <a:t>Late Sep</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9A7B1F"/>
                          </a:solidFill>
                          <a:latin typeface="Exo 2" pitchFamily="34" charset="0"/>
                          <a:ea typeface="Exo 2" pitchFamily="34" charset="-122"/>
                          <a:cs typeface="Exo 2" pitchFamily="34" charset="-120"/>
                        </a:rPr>
                        <a:t>● </a:t>
                      </a:r>
                      <a:pPr indent="0" marL="0">
                        <a:buNone/>
                      </a:pPr>
                      <a:r>
                        <a:rPr lang="en-US" sz="950" b="1" dirty="0">
                          <a:solidFill>
                            <a:srgbClr val="9A7B1F"/>
                          </a:solidFill>
                          <a:latin typeface="Exo 2" pitchFamily="34" charset="0"/>
                          <a:ea typeface="Exo 2" pitchFamily="34" charset="-122"/>
                          <a:cs typeface="Exo 2" pitchFamily="34" charset="-120"/>
                        </a:rPr>
                        <a:t>Reported</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310896">
                <a:tc>
                  <a:txBody>
                    <a:bodyPr/>
                    <a:lstStyle/>
                    <a:p>
                      <a:pPr indent="0" marL="0">
                        <a:buNone/>
                      </a:pPr>
                      <a:r>
                        <a:rPr lang="en-US" sz="950" dirty="0">
                          <a:solidFill>
                            <a:srgbClr val="1F2A44"/>
                          </a:solidFill>
                          <a:latin typeface="Exo 2" pitchFamily="34" charset="0"/>
                          <a:ea typeface="Exo 2" pitchFamily="34" charset="-122"/>
                          <a:cs typeface="Exo 2" pitchFamily="34" charset="-120"/>
                        </a:rPr>
                        <a:t>Website</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F2A44"/>
                          </a:solidFill>
                          <a:latin typeface="Exo 2" pitchFamily="34" charset="0"/>
                          <a:ea typeface="Exo 2" pitchFamily="34" charset="-122"/>
                          <a:cs typeface="Exo 2" pitchFamily="34" charset="-120"/>
                        </a:rPr>
                        <a:t>587 sessions, of which 11 from Instagram</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F2A44"/>
                          </a:solidFill>
                          <a:latin typeface="Exo 2" pitchFamily="34" charset="0"/>
                          <a:ea typeface="Exo 2" pitchFamily="34" charset="-122"/>
                          <a:cs typeface="Exo 2" pitchFamily="34" charset="-120"/>
                        </a:rPr>
                        <a:t>1-28 Sep</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dirty="0">
                          <a:solidFill>
                            <a:srgbClr val="1BA97C"/>
                          </a:solidFill>
                          <a:latin typeface="Exo 2" pitchFamily="34" charset="0"/>
                          <a:ea typeface="Exo 2" pitchFamily="34" charset="-122"/>
                          <a:cs typeface="Exo 2" pitchFamily="34" charset="-120"/>
                        </a:rPr>
                        <a:t>● </a:t>
                      </a:r>
                      <a:pPr indent="0" marL="0">
                        <a:buNone/>
                      </a:pPr>
                      <a:r>
                        <a:rPr lang="en-US" sz="950" b="1" dirty="0">
                          <a:solidFill>
                            <a:srgbClr val="1BA97C"/>
                          </a:solidFill>
                          <a:latin typeface="Exo 2" pitchFamily="34" charset="0"/>
                          <a:ea typeface="Exo 2" pitchFamily="34" charset="-122"/>
                          <a:cs typeface="Exo 2" pitchFamily="34" charset="-120"/>
                        </a:rPr>
                        <a:t>Verified</a:t>
                      </a:r>
                      <a:endParaRPr lang="en-US" sz="950" dirty="0">
                        <a:latin typeface="Exo 2" charset="0"/>
                        <a:ea typeface="Exo 2" charset="0"/>
                        <a:cs typeface="Exo 2" charset="0"/>
                      </a:endParaRPr>
                    </a:p>
                  </a:txBody>
                  <a:tcPr marL="63500" marR="63500" marT="12700" marB="127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HatemIsa_202508993_IT9002_NLP_Project/emyaa-ceo-deck/working/charts/board_header.png">    </p:cNvPr>
          <p:cNvPicPr>
            <a:picLocks noChangeAspect="1"/>
          </p:cNvPicPr>
          <p:nvPr/>
        </p:nvPicPr>
        <p:blipFill>
          <a:blip r:embed="rId1"/>
          <a:stretch>
            <a:fillRect/>
          </a:stretch>
        </p:blipFill>
        <p:spPr>
          <a:xfrm>
            <a:off x="0" y="0"/>
            <a:ext cx="12191695" cy="1298448"/>
          </a:xfrm>
          <a:prstGeom prst="rect">
            <a:avLst/>
          </a:prstGeom>
        </p:spPr>
      </p:pic>
      <p:sp>
        <p:nvSpPr>
          <p:cNvPr id="3" name="Shape 0"/>
          <p:cNvSpPr/>
          <p:nvPr/>
        </p:nvSpPr>
        <p:spPr>
          <a:xfrm>
            <a:off x="0" y="1298448"/>
            <a:ext cx="12191695" cy="24689"/>
          </a:xfrm>
          <a:prstGeom prst="rect">
            <a:avLst/>
          </a:prstGeom>
          <a:solidFill>
            <a:srgbClr val="D4AF37"/>
          </a:solidFill>
          <a:ln w="12700">
            <a:solidFill>
              <a:srgbClr val="D4AF37"/>
            </a:solidFill>
            <a:prstDash val="solid"/>
          </a:ln>
        </p:spPr>
      </p:sp>
      <p:sp>
        <p:nvSpPr>
          <p:cNvPr id="4" name="Text 1"/>
          <p:cNvSpPr txBox="1"/>
          <p:nvPr/>
        </p:nvSpPr>
        <p:spPr>
          <a:xfrm>
            <a:off x="566928" y="274320"/>
            <a:ext cx="9144000" cy="182880"/>
          </a:xfrm>
          <a:prstGeom prst="rect">
            <a:avLst/>
          </a:prstGeom>
          <a:noFill/>
          <a:ln/>
        </p:spPr>
        <p:txBody>
          <a:bodyPr wrap="square" lIns="0" tIns="0" rIns="0" bIns="0" rtlCol="0" anchor="t"/>
          <a:lstStyle/>
          <a:p>
            <a:pPr indent="0" marL="0">
              <a:buNone/>
            </a:pPr>
            <a:r>
              <a:rPr lang="en-US" sz="900" b="1" spc="200" kern="0" dirty="0">
                <a:solidFill>
                  <a:srgbClr val="D4AF37"/>
                </a:solidFill>
                <a:latin typeface="Exo 2" pitchFamily="34" charset="0"/>
                <a:ea typeface="Exo 2" pitchFamily="34" charset="-122"/>
                <a:cs typeface="Exo 2" pitchFamily="34" charset="-120"/>
              </a:rPr>
              <a:t>DECISIONS AND OPEN ITEMS</a:t>
            </a:r>
            <a:endParaRPr lang="en-US" sz="900" dirty="0"/>
          </a:p>
        </p:txBody>
      </p:sp>
      <p:sp>
        <p:nvSpPr>
          <p:cNvPr id="5" name="Text 2"/>
          <p:cNvSpPr txBox="1"/>
          <p:nvPr/>
        </p:nvSpPr>
        <p:spPr>
          <a:xfrm>
            <a:off x="566928" y="475488"/>
            <a:ext cx="9326880" cy="749808"/>
          </a:xfrm>
          <a:prstGeom prst="rect">
            <a:avLst/>
          </a:prstGeom>
          <a:noFill/>
          <a:ln/>
        </p:spPr>
        <p:txBody>
          <a:bodyPr wrap="square" lIns="0" tIns="0" rIns="0" bIns="0" rtlCol="0" anchor="ctr"/>
          <a:lstStyle/>
          <a:p>
            <a:pPr indent="0" marL="0">
              <a:buNone/>
            </a:pPr>
            <a:r>
              <a:rPr lang="en-US" sz="2000" b="1" dirty="0">
                <a:solidFill>
                  <a:srgbClr val="FFFFFF"/>
                </a:solidFill>
                <a:latin typeface="Exo 2" pitchFamily="34" charset="0"/>
                <a:ea typeface="Exo 2" pitchFamily="34" charset="-122"/>
                <a:cs typeface="Exo 2" pitchFamily="34" charset="-120"/>
              </a:rPr>
              <a:t>Five decisions for today; three open data items must close before 20 October</a:t>
            </a:r>
            <a:endParaRPr lang="en-US" sz="2000" dirty="0"/>
          </a:p>
        </p:txBody>
      </p:sp>
      <p:pic>
        <p:nvPicPr>
          <p:cNvPr id="6" name="Image 1" descr="/home/user/HatemIsa_202508993_IT9002_NLP_Project/emyaa-ceo-deck/working/charts/ajyad_white.png">    </p:cNvPr>
          <p:cNvPicPr>
            <a:picLocks noChangeAspect="1"/>
          </p:cNvPicPr>
          <p:nvPr/>
        </p:nvPicPr>
        <p:blipFill>
          <a:blip r:embed="rId2"/>
          <a:stretch>
            <a:fillRect/>
          </a:stretch>
        </p:blipFill>
        <p:spPr>
          <a:xfrm>
            <a:off x="10305288" y="457200"/>
            <a:ext cx="1325880" cy="384048"/>
          </a:xfrm>
          <a:prstGeom prst="rect">
            <a:avLst/>
          </a:prstGeom>
        </p:spPr>
      </p:pic>
      <p:sp>
        <p:nvSpPr>
          <p:cNvPr id="7" name="Shape 3"/>
          <p:cNvSpPr/>
          <p:nvPr/>
        </p:nvSpPr>
        <p:spPr>
          <a:xfrm>
            <a:off x="566928" y="5669280"/>
            <a:ext cx="11064240" cy="457200"/>
          </a:xfrm>
          <a:prstGeom prst="rect">
            <a:avLst/>
          </a:prstGeom>
          <a:solidFill>
            <a:srgbClr val="E3E8F2"/>
          </a:solidFill>
          <a:ln w="12700">
            <a:solidFill>
              <a:srgbClr val="E3E8F2"/>
            </a:solidFill>
            <a:prstDash val="solid"/>
          </a:ln>
        </p:spPr>
      </p:sp>
      <p:sp>
        <p:nvSpPr>
          <p:cNvPr id="8" name="Shape 4"/>
          <p:cNvSpPr/>
          <p:nvPr/>
        </p:nvSpPr>
        <p:spPr>
          <a:xfrm>
            <a:off x="566928" y="5669280"/>
            <a:ext cx="45720" cy="457200"/>
          </a:xfrm>
          <a:prstGeom prst="rect">
            <a:avLst/>
          </a:prstGeom>
          <a:solidFill>
            <a:srgbClr val="D4AF37"/>
          </a:solidFill>
          <a:ln w="12700">
            <a:solidFill>
              <a:srgbClr val="D4AF37"/>
            </a:solidFill>
            <a:prstDash val="solid"/>
          </a:ln>
        </p:spPr>
      </p:sp>
      <p:sp>
        <p:nvSpPr>
          <p:cNvPr id="9" name="Text 5"/>
          <p:cNvSpPr txBox="1"/>
          <p:nvPr/>
        </p:nvSpPr>
        <p:spPr>
          <a:xfrm>
            <a:off x="777240" y="5669280"/>
            <a:ext cx="10744200" cy="457200"/>
          </a:xfrm>
          <a:prstGeom prst="rect">
            <a:avLst/>
          </a:prstGeom>
          <a:noFill/>
          <a:ln/>
        </p:spPr>
        <p:txBody>
          <a:bodyPr wrap="square" lIns="0" tIns="0" rIns="0" bIns="0" rtlCol="0" anchor="ctr"/>
          <a:lstStyle/>
          <a:p>
            <a:pPr indent="0" marL="0">
              <a:buNone/>
            </a:pPr>
            <a:r>
              <a:rPr lang="en-US" sz="1150" b="1" dirty="0">
                <a:solidFill>
                  <a:srgbClr val="132257"/>
                </a:solidFill>
                <a:latin typeface="Exo 2" pitchFamily="34" charset="0"/>
                <a:ea typeface="Exo 2" pitchFamily="34" charset="-122"/>
                <a:cs typeface="Exo 2" pitchFamily="34" charset="-120"/>
              </a:rPr>
              <a:t>Takeaway   </a:t>
            </a:r>
            <a:pPr indent="0" marL="0">
              <a:buNone/>
            </a:pPr>
            <a:r>
              <a:rPr lang="en-US" sz="1150" dirty="0">
                <a:solidFill>
                  <a:srgbClr val="1F2A44"/>
                </a:solidFill>
                <a:latin typeface="Exo 2" pitchFamily="34" charset="0"/>
                <a:ea typeface="Exo 2" pitchFamily="34" charset="-122"/>
                <a:cs typeface="Exo 2" pitchFamily="34" charset="-120"/>
              </a:rPr>
              <a:t>Decision 4 closes most of the open items. The three marked 'Blocks 20 Oct' must close before the paid-media call.</a:t>
            </a:r>
            <a:endParaRPr lang="en-US" sz="1150" dirty="0"/>
          </a:p>
        </p:txBody>
      </p:sp>
      <p:sp>
        <p:nvSpPr>
          <p:cNvPr id="10" name="Text 6"/>
          <p:cNvSpPr txBox="1"/>
          <p:nvPr/>
        </p:nvSpPr>
        <p:spPr>
          <a:xfrm>
            <a:off x="566928" y="6199632"/>
            <a:ext cx="9692640" cy="274320"/>
          </a:xfrm>
          <a:prstGeom prst="rect">
            <a:avLst/>
          </a:prstGeom>
          <a:noFill/>
          <a:ln/>
        </p:spPr>
        <p:txBody>
          <a:bodyPr wrap="square" lIns="0" tIns="0" rIns="0" bIns="0" rtlCol="0" anchor="t"/>
          <a:lstStyle/>
          <a:p>
            <a:pPr indent="0" marL="0">
              <a:buNone/>
            </a:pPr>
            <a:r>
              <a:rPr lang="en-US" sz="800" dirty="0">
                <a:solidFill>
                  <a:srgbClr val="7A849C"/>
                </a:solidFill>
                <a:latin typeface="Exo 2" pitchFamily="34" charset="0"/>
                <a:ea typeface="Exo 2" pitchFamily="34" charset="-122"/>
                <a:cs typeface="Exo 2" pitchFamily="34" charset="-120"/>
              </a:rPr>
              <a:t>Source: Proposed by Marketing based on this update; owners and dates are proposals for CEO confirmation. CAC targets from the Board update, 17 Sep 2026. Detail in Open-Items.md and Percentage-Audit.csv.</a:t>
            </a:r>
            <a:endParaRPr lang="en-US" sz="800" dirty="0"/>
          </a:p>
        </p:txBody>
      </p:sp>
      <p:sp>
        <p:nvSpPr>
          <p:cNvPr id="11" name="Text 7"/>
          <p:cNvSpPr txBox="1"/>
          <p:nvPr/>
        </p:nvSpPr>
        <p:spPr>
          <a:xfrm>
            <a:off x="566928" y="6510528"/>
            <a:ext cx="5486400" cy="201168"/>
          </a:xfrm>
          <a:prstGeom prst="rect">
            <a:avLst/>
          </a:prstGeom>
          <a:noFill/>
          <a:ln/>
        </p:spPr>
        <p:txBody>
          <a:bodyPr wrap="square" lIns="0" tIns="0" rIns="0" bIns="0" rtlCol="0" anchor="t"/>
          <a:lstStyle/>
          <a:p>
            <a:pPr indent="0" marL="0">
              <a:buNone/>
            </a:pPr>
            <a:r>
              <a:rPr lang="en-US" sz="800" dirty="0">
                <a:solidFill>
                  <a:srgbClr val="8A93A8"/>
                </a:solidFill>
                <a:latin typeface="Exo 2" pitchFamily="34" charset="0"/>
                <a:ea typeface="Exo 2" pitchFamily="34" charset="-122"/>
                <a:cs typeface="Exo 2" pitchFamily="34" charset="-120"/>
              </a:rPr>
              <a:t>eMYAA Trading Platform  |  CEO Marketing Update</a:t>
            </a:r>
            <a:endParaRPr lang="en-US" sz="800" dirty="0"/>
          </a:p>
        </p:txBody>
      </p:sp>
      <p:sp>
        <p:nvSpPr>
          <p:cNvPr id="12" name="Text 8"/>
          <p:cNvSpPr txBox="1"/>
          <p:nvPr/>
        </p:nvSpPr>
        <p:spPr>
          <a:xfrm>
            <a:off x="9802368" y="6510528"/>
            <a:ext cx="457200" cy="201168"/>
          </a:xfrm>
          <a:prstGeom prst="rect">
            <a:avLst/>
          </a:prstGeom>
          <a:noFill/>
          <a:ln/>
        </p:spPr>
        <p:txBody>
          <a:bodyPr wrap="square" lIns="0" tIns="0" rIns="0" bIns="0" rtlCol="0" anchor="t"/>
          <a:lstStyle/>
          <a:p>
            <a:pPr algn="r" indent="0" marL="0">
              <a:buNone/>
            </a:pPr>
            <a:r>
              <a:rPr lang="en-US" sz="800" dirty="0">
                <a:solidFill>
                  <a:srgbClr val="8A93A8"/>
                </a:solidFill>
                <a:latin typeface="Exo 2" pitchFamily="34" charset="0"/>
                <a:ea typeface="Exo 2" pitchFamily="34" charset="-122"/>
                <a:cs typeface="Exo 2" pitchFamily="34" charset="-120"/>
              </a:rPr>
              <a:t>8</a:t>
            </a:r>
            <a:endParaRPr lang="en-US" sz="800" dirty="0"/>
          </a:p>
        </p:txBody>
      </p:sp>
      <p:pic>
        <p:nvPicPr>
          <p:cNvPr id="13" name="Image 2" descr="/home/user/HatemIsa_202508993_IT9002_NLP_Project/emyaa-ceo-deck/working/charts/emyaa_navy.png">    </p:cNvPr>
          <p:cNvPicPr>
            <a:picLocks noChangeAspect="1"/>
          </p:cNvPicPr>
          <p:nvPr/>
        </p:nvPicPr>
        <p:blipFill>
          <a:blip r:embed="rId3"/>
          <a:stretch>
            <a:fillRect/>
          </a:stretch>
        </p:blipFill>
        <p:spPr>
          <a:xfrm>
            <a:off x="10607040" y="6336792"/>
            <a:ext cx="1024128" cy="365760"/>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536192"/>
          <a:ext cx="6675120" cy="914400"/>
        </p:xfrm>
        <a:graphic>
          <a:graphicData uri="http://schemas.openxmlformats.org/drawingml/2006/table">
            <a:tbl>
              <a:tblPr/>
              <a:tblGrid>
                <a:gridCol w="365760"/>
                <a:gridCol w="3749040"/>
                <a:gridCol w="1691640"/>
                <a:gridCol w="868680"/>
              </a:tblGrid>
              <a:tr h="329184">
                <a:tc>
                  <a:txBody>
                    <a:bodyPr/>
                    <a:lstStyle/>
                    <a:p>
                      <a:pPr indent="0" marL="0">
                        <a:buNone/>
                      </a:pP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Decision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Owner</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100" b="1" dirty="0">
                          <a:solidFill>
                            <a:srgbClr val="FFFFFF"/>
                          </a:solidFill>
                          <a:latin typeface="Exo 2" pitchFamily="34" charset="0"/>
                          <a:ea typeface="Exo 2" pitchFamily="34" charset="-122"/>
                          <a:cs typeface="Exo 2" pitchFamily="34" charset="-120"/>
                        </a:rPr>
                        <a:t>By</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1</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Go or hold on paid media, judged on cost per account vs Board CAC targets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with Ignite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2</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Keep Arabic and English ads live until the key event is defined and costed</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3</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Follow up every new download that has not completed KYC</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Client Experience</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10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4</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Monthly data pack: GA4, social, Google and LinkedIn Ads, deposits</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Marketing and Malek</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8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713232">
                <a:tc>
                  <a:txBody>
                    <a:bodyPr/>
                    <a:lstStyle/>
                    <a:p>
                      <a:pPr indent="0" marL="0">
                        <a:buNone/>
                      </a:pPr>
                      <a:r>
                        <a:rPr lang="en-US" sz="1400" b="1" dirty="0">
                          <a:solidFill>
                            <a:srgbClr val="D4AF37"/>
                          </a:solidFill>
                          <a:latin typeface="Exo 2" pitchFamily="34" charset="0"/>
                          <a:ea typeface="Exo 2" pitchFamily="34" charset="-122"/>
                          <a:cs typeface="Exo 2" pitchFamily="34" charset="-120"/>
                        </a:rPr>
                        <a:t>5</a:t>
                      </a:r>
                      <a:endParaRPr lang="en-US" sz="14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Sign off the $5,000 campaign T&amp;Cs; close out Mention &amp; Win</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Compliance and Marketing</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1100" dirty="0">
                          <a:solidFill>
                            <a:srgbClr val="1F2A44"/>
                          </a:solidFill>
                          <a:latin typeface="Exo 2" pitchFamily="34" charset="0"/>
                          <a:ea typeface="Exo 2" pitchFamily="34" charset="-122"/>
                          <a:cs typeface="Exo 2" pitchFamily="34" charset="-120"/>
                        </a:rPr>
                        <a:t>27 Oct</a:t>
                      </a:r>
                      <a:endParaRPr lang="en-US" sz="110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7498080" y="1536192"/>
          <a:ext cx="4133088" cy="914400"/>
        </p:xfrm>
        <a:graphic>
          <a:graphicData uri="http://schemas.openxmlformats.org/drawingml/2006/table">
            <a:tbl>
              <a:tblPr/>
              <a:tblGrid>
                <a:gridCol w="3017520"/>
                <a:gridCol w="1115568"/>
              </a:tblGrid>
              <a:tr h="329184">
                <a:tc>
                  <a:txBody>
                    <a:bodyPr/>
                    <a:lstStyle/>
                    <a:p>
                      <a:pPr indent="0" marL="0">
                        <a:buNone/>
                      </a:pPr>
                      <a:r>
                        <a:rPr lang="en-US" sz="1050" b="1" dirty="0">
                          <a:solidFill>
                            <a:srgbClr val="FFFFFF"/>
                          </a:solidFill>
                          <a:latin typeface="Exo 2" pitchFamily="34" charset="0"/>
                          <a:ea typeface="Exo 2" pitchFamily="34" charset="-122"/>
                          <a:cs typeface="Exo 2" pitchFamily="34" charset="-120"/>
                        </a:rPr>
                        <a:t>Open item</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c>
                  <a:txBody>
                    <a:bodyPr/>
                    <a:lstStyle/>
                    <a:p>
                      <a:pPr indent="0" marL="0">
                        <a:buNone/>
                      </a:pPr>
                      <a:r>
                        <a:rPr lang="en-US" sz="1050" b="1" dirty="0">
                          <a:solidFill>
                            <a:srgbClr val="FFFFFF"/>
                          </a:solidFill>
                          <a:latin typeface="Exo 2" pitchFamily="34" charset="0"/>
                          <a:ea typeface="Exo 2" pitchFamily="34" charset="-122"/>
                          <a:cs typeface="Exo 2" pitchFamily="34" charset="-120"/>
                        </a:rPr>
                        <a:t>Status</a:t>
                      </a:r>
                      <a:endParaRPr lang="en-US" sz="10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0" cap="flat" cmpd="sng" algn="ctr">
                      <a:noFill/>
                    </a:lnB>
                    <a:solidFill>
                      <a:srgbClr val="132257"/>
                    </a:solidFill>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Deposits: three different figures; Board $12,206 is verbal</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C53030"/>
                          </a:solidFill>
                          <a:latin typeface="Exo 2" pitchFamily="34" charset="0"/>
                          <a:ea typeface="Exo 2" pitchFamily="34" charset="-122"/>
                          <a:cs typeface="Exo 2" pitchFamily="34" charset="-120"/>
                        </a:rPr>
                        <a:t>Blocks 20 Oct</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Clients: Board 61 vs dashboard 54 on 17 Sep</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C53030"/>
                          </a:solidFill>
                          <a:latin typeface="Exo 2" pitchFamily="34" charset="0"/>
                          <a:ea typeface="Exo 2" pitchFamily="34" charset="-122"/>
                          <a:cs typeface="Exo 2" pitchFamily="34" charset="-120"/>
                        </a:rPr>
                        <a:t>Blocks 20 Oct</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No ad spend, LinkedIn leads or key-event definition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C53030"/>
                          </a:solidFill>
                          <a:latin typeface="Exo 2" pitchFamily="34" charset="0"/>
                          <a:ea typeface="Exo 2" pitchFamily="34" charset="-122"/>
                          <a:cs typeface="Exo 2" pitchFamily="34" charset="-120"/>
                        </a:rPr>
                        <a:t>Blocks 20 Oct</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No September exports for social channels</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793% and LinkedIn +118% / +155% not exported</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84632">
                <a:tc>
                  <a:txBody>
                    <a:bodyPr/>
                    <a:lstStyle/>
                    <a:p>
                      <a:pPr indent="0" marL="0">
                        <a:buNone/>
                      </a:pPr>
                      <a:r>
                        <a:rPr lang="en-US" sz="950" dirty="0">
                          <a:solidFill>
                            <a:srgbClr val="1F2A44"/>
                          </a:solidFill>
                          <a:latin typeface="Exo 2" pitchFamily="34" charset="0"/>
                          <a:ea typeface="Exo 2" pitchFamily="34" charset="-122"/>
                          <a:cs typeface="Exo 2" pitchFamily="34" charset="-120"/>
                        </a:rPr>
                        <a:t>LinkedIn followers: 531 vs 586</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r h="493776">
                <a:tc>
                  <a:txBody>
                    <a:bodyPr/>
                    <a:lstStyle/>
                    <a:p>
                      <a:pPr indent="0" marL="0">
                        <a:buNone/>
                      </a:pPr>
                      <a:r>
                        <a:rPr lang="en-US" sz="950" dirty="0">
                          <a:solidFill>
                            <a:srgbClr val="1F2A44"/>
                          </a:solidFill>
                          <a:latin typeface="Exo 2" pitchFamily="34" charset="0"/>
                          <a:ea typeface="Exo 2" pitchFamily="34" charset="-122"/>
                          <a:cs typeface="Exo 2" pitchFamily="34" charset="-120"/>
                        </a:rPr>
                        <a:t>$5,000 campaign T&amp;C sign-off not on file</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c>
                  <a:txBody>
                    <a:bodyPr/>
                    <a:lstStyle/>
                    <a:p>
                      <a:pPr indent="0" marL="0">
                        <a:buNone/>
                      </a:pPr>
                      <a:r>
                        <a:rPr lang="en-US" sz="950" b="1" dirty="0">
                          <a:solidFill>
                            <a:srgbClr val="9A7B1F"/>
                          </a:solidFill>
                          <a:latin typeface="Exo 2" pitchFamily="34" charset="0"/>
                          <a:ea typeface="Exo 2" pitchFamily="34" charset="-122"/>
                          <a:cs typeface="Exo 2" pitchFamily="34" charset="-120"/>
                        </a:rPr>
                        <a:t>Open</a:t>
                      </a:r>
                      <a:endParaRPr lang="en-US" sz="950" dirty="0">
                        <a:latin typeface="Exo 2" charset="0"/>
                        <a:ea typeface="Exo 2" charset="0"/>
                        <a:cs typeface="Exo 2" charset="0"/>
                      </a:endParaRPr>
                    </a:p>
                  </a:txBody>
                  <a:tcPr marL="63500" marR="63500" marT="25400" marB="25400" anchor="ctr">
                    <a:lnL w="0" cap="flat" cmpd="sng" algn="ctr">
                      <a:noFill/>
                    </a:lnL>
                    <a:lnR w="0" cap="flat" cmpd="sng" algn="ctr">
                      <a:noFill/>
                    </a:lnR>
                    <a:lnT w="0" cap="flat" cmpd="sng" algn="ctr">
                      <a:noFill/>
                    </a:lnT>
                    <a:lnB w="9525" cap="flat" cmpd="sng" algn="ctr">
                      <a:solidFill>
                        <a:srgbClr val="D9DFEA"/>
                      </a:solidFill>
                      <a:prstDash val="solid"/>
                      <a:round/>
                      <a:headEnd type="none" w="med" len="med"/>
                      <a:tailEnd type="none" w="med" len="med"/>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Marketing Performance Update - CEO Update 1 October 2026</dc:title>
  <dc:subject>PptxGenJS Presentation</dc:subject>
  <dc:creator>eMYAA Marketing</dc:creator>
  <cp:lastModifiedBy>eMYAA Marketing</cp:lastModifiedBy>
  <cp:revision>1</cp:revision>
  <dcterms:created xsi:type="dcterms:W3CDTF">2026-09-29T11:54:28Z</dcterms:created>
  <dcterms:modified xsi:type="dcterms:W3CDTF">2026-09-29T11:54:28Z</dcterms:modified>
</cp:coreProperties>
</file>