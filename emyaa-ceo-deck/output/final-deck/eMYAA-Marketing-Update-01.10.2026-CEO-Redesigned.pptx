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Exo 2" charset="0"/>
      <p:regular r:id="rId20"/>
      <p:bold r:id="rId21"/>
      <p:italic r:id="rId22"/>
      <p:boldItalic r:id="rId2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emyaa-font1.fntdata"/><Relationship Id="rId21" Type="http://schemas.openxmlformats.org/officeDocument/2006/relationships/font" Target="fonts/emyaa-font2.fntdata"/><Relationship Id="rId22" Type="http://schemas.openxmlformats.org/officeDocument/2006/relationships/font" Target="fonts/emyaa-font3.fntdata"/><Relationship Id="rId23" Type="http://schemas.openxmlformats.org/officeDocument/2006/relationships/font" Target="fonts/emyaa-font4.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Board-approved budget, Sep-Dec 2026 (USD)</a:t>
            </a:r>
          </a:p>
        </c:rich>
      </c:tx>
      <c:layout/>
      <c:overlay val="0"/>
    </c:title>
    <c:autoTitleDeleted val="0"/>
    <c:plotArea>
      <c:layout/>
      <c:barChart>
        <c:barDir val="col"/>
        <c:grouping val="stacked"/>
        <c:varyColors val="0"/>
        <c:ser>
          <c:idx val="0"/>
          <c:order val="0"/>
          <c:tx>
            <c:strRef>
              <c:f>Sheet1!$B$1</c:f>
              <c:strCache>
                <c:ptCount val="1"/>
                <c:pt idx="0">
                  <c:v>Saudi Arabia</c:v>
                </c:pt>
              </c:strCache>
            </c:strRef>
          </c:tx>
          <c:spPr>
            <a:solidFill>
              <a:srgbClr val="13225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Sheet1!$B$2:$B$3</c:f>
              <c:numCache>
                <c:formatCode>General</c:formatCode>
                <c:ptCount val="2"/>
                <c:pt idx="0">
                  <c:v>9000</c:v>
                </c:pt>
                <c:pt idx="1">
                  <c:v>9000</c:v>
                </c:pt>
              </c:numCache>
            </c:numRef>
          </c:val>
        </c:ser>
        <c:ser>
          <c:idx val="1"/>
          <c:order val="1"/>
          <c:tx>
            <c:strRef>
              <c:f>Sheet1!$C$1</c:f>
              <c:strCache>
                <c:ptCount val="1"/>
                <c:pt idx="0">
                  <c:v>Other GCC</c:v>
                </c:pt>
              </c:strCache>
            </c:strRef>
          </c:tx>
          <c:spPr>
            <a:solidFill>
              <a:srgbClr val="D4AF3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Sheet1!$C$2:$C$3</c:f>
              <c:numCache>
                <c:formatCode>General</c:formatCode>
                <c:ptCount val="2"/>
                <c:pt idx="0">
                  <c:v>6000</c:v>
                </c:pt>
                <c:pt idx="1">
                  <c:v>6000</c:v>
                </c:pt>
              </c:numCache>
            </c:numRef>
          </c:val>
        </c:ser>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Active users per week, all sources, all countries</a:t>
            </a:r>
          </a:p>
        </c:rich>
      </c:tx>
      <c:layout/>
      <c:overlay val="0"/>
    </c:title>
    <c:autoTitleDeleted val="0"/>
    <c:plotArea>
      <c:layout/>
      <c:barChart>
        <c:barDir val="col"/>
        <c:grouping val="clustered"/>
        <c:varyColors val="0"/>
        <c:ser>
          <c:idx val="0"/>
          <c:order val="0"/>
          <c:tx>
            <c:strRef>
              <c:f>Sheet1!$B$1</c:f>
              <c:strCache>
                <c:ptCount val="1"/>
                <c:pt idx="0">
                  <c:v>Active users</c:v>
                </c:pt>
              </c:strCache>
            </c:strRef>
          </c:tx>
          <c:spPr>
            <a:solidFill>
              <a:srgbClr val="C6CFE4"/>
            </a:solidFill>
            <a:effectLst/>
          </c:spPr>
          <c:invertIfNegative val="0"/>
          <c:dLbls>
            <c:numFmt formatCode="#,##0" sourceLinked="0"/>
            <c:txPr>
              <a:bodyPr/>
              <a:lstStyle/>
              <a:p>
                <a:pPr>
                  <a:defRPr b="1" i="0" strike="noStrike" sz="1500" u="none">
                    <a:solidFill>
                      <a:srgbClr val="132257"/>
                    </a:solidFill>
                    <a:latin typeface="Exo 2"/>
                  </a:defRPr>
                </a:pPr>
              </a:p>
            </c:txPr>
            <c:showLegendKey val="0"/>
            <c:showVal val="1"/>
            <c:showCatName val="0"/>
            <c:showSerName val="0"/>
            <c:showPercent val="0"/>
            <c:showBubbleSize val="0"/>
            <c:showLeaderLines val="0"/>
          </c:dLbls>
          <c:dPt>
            <c:idx val="0"/>
            <c:invertIfNegative val="0"/>
            <c:bubble3D val="0"/>
            <c:spPr>
              <a:solidFill>
                <a:srgbClr val="C6CFE4"/>
              </a:solidFill>
              <a:effectLst/>
            </c:spPr>
          </c:dPt>
          <c:dPt>
            <c:idx val="1"/>
            <c:invertIfNegative val="0"/>
            <c:bubble3D val="0"/>
            <c:spPr>
              <a:solidFill>
                <a:srgbClr val="132257"/>
              </a:solidFill>
              <a:effectLst/>
            </c:spPr>
          </c:dPt>
          <c:cat>
            <c:multiLvlStrRef>
              <c:f>Sheet1!$A$2:$A$3</c:f>
              <c:multiLvlStrCache>
                <c:ptCount val="2"/>
                <c:lvl>
                  <c:pt idx="0">
                    <c:v>14-20 Sep (implied)</c:v>
                  </c:pt>
                  <c:pt idx="1">
                    <c:v>21-27 Sep</c:v>
                  </c:pt>
                </c:lvl>
              </c:multiLvlStrCache>
            </c:multiLvlStrRef>
          </c:cat>
          <c:val>
            <c:numRef>
              <c:f>Sheet1!$B$2:$B$3</c:f>
              <c:numCache>
                <c:formatCode>General</c:formatCode>
                <c:ptCount val="2"/>
                <c:pt idx="0">
                  <c:v>43</c:v>
                </c:pt>
                <c:pt idx="1">
                  <c:v>384</c:v>
                </c:pt>
              </c:numCache>
            </c:numRef>
          </c:val>
        </c:ser>
        <c:dLbls>
          <c:numFmt formatCode="#,##0" sourceLinked="0"/>
          <c:txPr>
            <a:bodyPr/>
            <a:lstStyle/>
            <a:p>
              <a:pPr>
                <a:defRPr b="1" i="0" strike="noStrike" sz="1500" u="none">
                  <a:solidFill>
                    <a:srgbClr val="132257"/>
                  </a:solidFill>
                  <a:latin typeface="Exo 2"/>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FEA"/>
            </a:solidFill>
            <a:prstDash val="solid"/>
            <a:round/>
          </a:ln>
        </c:spPr>
        <c:txPr>
          <a:bodyPr/>
          <a:lstStyle/>
          <a:p>
            <a:pPr>
              <a:defRPr sz="11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Instagram views per post (as shown on profile grid)</a:t>
            </a:r>
          </a:p>
        </c:rich>
      </c:tx>
      <c:layout/>
      <c:overlay val="0"/>
    </c:title>
    <c:autoTitleDeleted val="0"/>
    <c:plotArea>
      <c:layout/>
      <c:barChart>
        <c:barDir val="bar"/>
        <c:grouping val="clustered"/>
        <c:varyColors val="0"/>
        <c:ser>
          <c:idx val="0"/>
          <c:order val="0"/>
          <c:tx>
            <c:strRef>
              <c:f>Sheet1!$B$1</c:f>
              <c:strCache>
                <c:ptCount val="1"/>
                <c:pt idx="0">
                  <c:v>Views</c:v>
                </c:pt>
              </c:strCache>
            </c:strRef>
          </c:tx>
          <c:spPr>
            <a:solidFill>
              <a:srgbClr val="132257"/>
            </a:solidFill>
            <a:effectLst/>
          </c:spPr>
          <c:invertIfNegative val="0"/>
          <c:dLbls>
            <c:numFmt formatCode="[&gt;=1000000]0.0,,&quot;M&quot;;[&gt;=1000]0.0,&quot;K&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Sheet1!$A$2:$A$9</c:f>
              <c:multiLvlStrCache>
                <c:ptCount val="8"/>
                <c:lvl>
                  <c:pt idx="0">
                    <c:v>Musheera reel</c:v>
                  </c:pt>
                  <c:pt idx="1">
                    <c:v>Ali Sabeel reel</c:v>
                  </c:pt>
                  <c:pt idx="2">
                    <c:v>Mention &amp; Win $500 graphic</c:v>
                  </c:pt>
                  <c:pt idx="3">
                    <c:v>Open account, win $500 graphic</c:v>
                  </c:pt>
                  <c:pt idx="4">
                    <c:v>Trade &amp; Win graphic</c:v>
                  </c:pt>
                  <c:pt idx="5">
                    <c:v>No limits graphic</c:v>
                  </c:pt>
                  <c:pt idx="6">
                    <c:v>How-to video, presenter</c:v>
                  </c:pt>
                  <c:pt idx="7">
                    <c:v>Start trading graphic</c:v>
                  </c:pt>
                </c:lvl>
              </c:multiLvlStrCache>
            </c:multiLvlStrRef>
          </c:cat>
          <c:val>
            <c:numRef>
              <c:f>Sheet1!$B$2:$B$9</c:f>
              <c:numCache>
                <c:formatCode>General</c:formatCode>
                <c:ptCount val="8"/>
                <c:pt idx="0">
                  <c:v>5300000</c:v>
                </c:pt>
                <c:pt idx="1">
                  <c:v>1300000</c:v>
                </c:pt>
                <c:pt idx="2">
                  <c:v>186000</c:v>
                </c:pt>
                <c:pt idx="3">
                  <c:v>26300</c:v>
                </c:pt>
                <c:pt idx="4">
                  <c:v>549</c:v>
                </c:pt>
                <c:pt idx="5">
                  <c:v>347</c:v>
                </c:pt>
                <c:pt idx="6">
                  <c:v>332</c:v>
                </c:pt>
                <c:pt idx="7">
                  <c:v>262</c:v>
                </c:pt>
              </c:numCache>
            </c:numRef>
          </c:val>
        </c:ser>
        <c:dLbls>
          <c:numFmt formatCode="[&gt;=1000000]0.0,,&quot;M&quot;;[&gt;=1000]0.0,&quot;K&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650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Prize if you win, by trading volume Aug-Dec 2026 (USD)</a:t>
            </a:r>
          </a:p>
        </c:rich>
      </c:tx>
      <c:layout/>
      <c:overlay val="0"/>
    </c:title>
    <c:autoTitleDeleted val="0"/>
    <c:plotArea>
      <c:layout/>
      <c:barChart>
        <c:barDir val="col"/>
        <c:grouping val="clustered"/>
        <c:varyColors val="0"/>
        <c:ser>
          <c:idx val="0"/>
          <c:order val="0"/>
          <c:tx>
            <c:strRef>
              <c:f>Sheet1!$B$1</c:f>
              <c:strCache>
                <c:ptCount val="1"/>
                <c:pt idx="0">
                  <c:v>Prize</c:v>
                </c:pt>
              </c:strCache>
            </c:strRef>
          </c:tx>
          <c:spPr>
            <a:solidFill>
              <a:srgbClr val="D4AF37"/>
            </a:solidFill>
            <a:effectLst/>
          </c:spPr>
          <c:invertIfNegative val="0"/>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$0.5K-5K</c:v>
                  </c:pt>
                  <c:pt idx="1">
                    <c:v>$5K-15K</c:v>
                  </c:pt>
                  <c:pt idx="2">
                    <c:v>$15K-50K</c:v>
                  </c:pt>
                  <c:pt idx="3">
                    <c:v>$50K-100K</c:v>
                  </c:pt>
                  <c:pt idx="4">
                    <c:v>$100K-500K</c:v>
                  </c:pt>
                  <c:pt idx="5">
                    <c:v>$500K+</c:v>
                  </c:pt>
                </c:lvl>
              </c:multiLvlStrCache>
            </c:multiLvlStrRef>
          </c:cat>
          <c:val>
            <c:numRef>
              <c:f>Sheet1!$B$2:$B$7</c:f>
              <c:numCache>
                <c:formatCode>General</c:formatCode>
                <c:ptCount val="6"/>
                <c:pt idx="0">
                  <c:v>500</c:v>
                </c:pt>
                <c:pt idx="1">
                  <c:v>1000</c:v>
                </c:pt>
                <c:pt idx="2">
                  <c:v>2000</c:v>
                </c:pt>
                <c:pt idx="3">
                  <c:v>3000</c:v>
                </c:pt>
                <c:pt idx="4">
                  <c:v>4000</c:v>
                </c:pt>
                <c:pt idx="5">
                  <c:v>5000</c:v>
                </c:pt>
              </c:numCache>
            </c:numRef>
          </c:val>
        </c:ser>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49C"/>
                </a:solidFill>
                <a:latin typeface="Exo 2"/>
              </a:defRPr>
            </a:pPr>
            <a:endParaRPr lang="en-US"/>
          </a:p>
        </c:txPr>
        <c:crossAx val="2094734552"/>
        <c:crosses val="autoZero"/>
        <c:auto val="1"/>
        <c:lblAlgn val="ctr"/>
        <c:noMultiLvlLbl val="1"/>
      </c:catAx>
      <c:valAx>
        <c:axId val="2094734552"/>
        <c:scaling>
          <c:orientation val="minMax"/>
          <c:max val="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Share of website sessions by source, 1-28 Sep (n = 587)</a:t>
            </a:r>
          </a:p>
        </c:rich>
      </c:tx>
      <c:layout/>
      <c:overlay val="0"/>
    </c:title>
    <c:autoTitleDeleted val="0"/>
    <c:plotArea>
      <c:layout/>
      <c:barChart>
        <c:barDir val="bar"/>
        <c:grouping val="clustered"/>
        <c:varyColors val="0"/>
        <c:ser>
          <c:idx val="0"/>
          <c:order val="0"/>
          <c:tx>
            <c:strRef>
              <c:f>Sheet1!$B$1</c:f>
              <c:strCache>
                <c:ptCount val="1"/>
                <c:pt idx="0">
                  <c:v>Share of sessions</c:v>
                </c:pt>
              </c:strCache>
            </c:strRef>
          </c:tx>
          <c:spPr>
            <a:solidFill>
              <a:srgbClr val="132257"/>
            </a:solidFill>
            <a:effectLst/>
          </c:spPr>
          <c:invertIfNegative val="0"/>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Google Ads, cpc (409)</c:v>
                  </c:pt>
                  <c:pt idx="1">
                    <c:v>Direct (92)</c:v>
                  </c:pt>
                  <c:pt idx="2">
                    <c:v>Organic search (39)</c:v>
                  </c:pt>
                  <c:pt idx="3">
                    <c:v>Referral (32)</c:v>
                  </c:pt>
                  <c:pt idx="4">
                    <c:v>ChatGPT (9)</c:v>
                  </c:pt>
                  <c:pt idx="5">
                    <c:v>Not available (6)</c:v>
                  </c:pt>
                </c:lvl>
              </c:multiLvlStrCache>
            </c:multiLvlStrRef>
          </c:cat>
          <c:val>
            <c:numRef>
              <c:f>Sheet1!$B$2:$B$7</c:f>
              <c:numCache>
                <c:formatCode>General</c:formatCode>
                <c:ptCount val="6"/>
                <c:pt idx="0">
                  <c:v>69.7</c:v>
                </c:pt>
                <c:pt idx="1">
                  <c:v>15.7</c:v>
                </c:pt>
                <c:pt idx="2">
                  <c:v>6.6</c:v>
                </c:pt>
                <c:pt idx="3">
                  <c:v>5.5</c:v>
                </c:pt>
                <c:pt idx="4">
                  <c:v>1.5</c:v>
                </c:pt>
                <c:pt idx="5">
                  <c:v>1</c:v>
                </c:pt>
              </c:numCache>
            </c:numRef>
          </c:val>
        </c:ser>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8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Google Ads Saudi campaigns: EN 212 vs AR 176 sessions</a:t>
            </a:r>
          </a:p>
        </c:rich>
      </c:tx>
      <c:layout/>
      <c:overlay val="0"/>
    </c:title>
    <c:autoTitleDeleted val="0"/>
    <c:plotArea>
      <c:layout/>
      <c:barChart>
        <c:barDir val="col"/>
        <c:grouping val="clustered"/>
        <c:varyColors val="0"/>
        <c:ser>
          <c:idx val="0"/>
          <c:order val="0"/>
          <c:tx>
            <c:strRef>
              <c:f>Sheet1!$B$1</c:f>
              <c:strCache>
                <c:ptCount val="1"/>
                <c:pt idx="0">
                  <c:v>English campaign</c:v>
                </c:pt>
              </c:strCache>
            </c:strRef>
          </c:tx>
          <c:spPr>
            <a:solidFill>
              <a:srgbClr val="13225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Sheet1!$B$2:$B$3</c:f>
              <c:numCache>
                <c:formatCode>General</c:formatCode>
                <c:ptCount val="2"/>
                <c:pt idx="0">
                  <c:v>97.2</c:v>
                </c:pt>
                <c:pt idx="1">
                  <c:v>94.3</c:v>
                </c:pt>
              </c:numCache>
            </c:numRef>
          </c:val>
        </c:ser>
        <c:ser>
          <c:idx val="1"/>
          <c:order val="1"/>
          <c:tx>
            <c:strRef>
              <c:f>Sheet1!$C$1</c:f>
              <c:strCache>
                <c:ptCount val="1"/>
                <c:pt idx="0">
                  <c:v>Arabic campaign</c:v>
                </c:pt>
              </c:strCache>
            </c:strRef>
          </c:tx>
          <c:spPr>
            <a:solidFill>
              <a:srgbClr val="D4AF3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Sheet1!$C$2:$C$3</c:f>
              <c:numCache>
                <c:formatCode>General</c:formatCode>
                <c:ptCount val="2"/>
                <c:pt idx="0">
                  <c:v>86.9</c:v>
                </c:pt>
                <c:pt idx="1">
                  <c:v>105.1</c:v>
                </c:pt>
              </c:numCache>
            </c:numRef>
          </c:val>
        </c:ser>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Net new app downloads and onboarded users between dashboard dates</a:t>
            </a:r>
          </a:p>
        </c:rich>
      </c:tx>
      <c:layout/>
      <c:overlay val="0"/>
    </c:title>
    <c:autoTitleDeleted val="0"/>
    <c:plotArea>
      <c:layout/>
      <c:barChart>
        <c:barDir val="col"/>
        <c:grouping val="clustered"/>
        <c:varyColors val="0"/>
        <c:ser>
          <c:idx val="0"/>
          <c:order val="0"/>
          <c:tx>
            <c:strRef>
              <c:f>Sheet1!$B$1</c:f>
              <c:strCache>
                <c:ptCount val="1"/>
                <c:pt idx="0">
                  <c:v>App downloads added</c:v>
                </c:pt>
              </c:strCache>
            </c:strRef>
          </c:tx>
          <c:spPr>
            <a:solidFill>
              <a:srgbClr val="132257"/>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Sheet1!$B$2:$B$5</c:f>
              <c:numCache>
                <c:formatCode>General</c:formatCode>
                <c:ptCount val="4"/>
                <c:pt idx="0">
                  <c:v>30</c:v>
                </c:pt>
                <c:pt idx="1">
                  <c:v>20</c:v>
                </c:pt>
                <c:pt idx="2">
                  <c:v>14</c:v>
                </c:pt>
                <c:pt idx="3">
                  <c:v>36</c:v>
                </c:pt>
              </c:numCache>
            </c:numRef>
          </c:val>
        </c:ser>
        <c:ser>
          <c:idx val="1"/>
          <c:order val="1"/>
          <c:tx>
            <c:strRef>
              <c:f>Sheet1!$C$1</c:f>
              <c:strCache>
                <c:ptCount val="1"/>
                <c:pt idx="0">
                  <c:v>Users onboarded</c:v>
                </c:pt>
              </c:strCache>
            </c:strRef>
          </c:tx>
          <c:spPr>
            <a:solidFill>
              <a:srgbClr val="1BA97C"/>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Sheet1!$C$2:$C$5</c:f>
              <c:numCache>
                <c:formatCode>General</c:formatCode>
                <c:ptCount val="4"/>
                <c:pt idx="0">
                  <c:v>1</c:v>
                </c:pt>
                <c:pt idx="1">
                  <c:v>3</c:v>
                </c:pt>
                <c:pt idx="2">
                  <c:v>5</c:v>
                </c:pt>
                <c:pt idx="3">
                  <c:v>3</c:v>
                </c:pt>
              </c:numCache>
            </c:numRef>
          </c:val>
        </c:ser>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409 google / cpc sessions of 587 total, 1-28 Sep. Downloads: 437 on the 21 Sep dashboard, 473 on 27 Sep (+36); the week before added +14. Onboarded: 57 to 60 (+3) over the same six days. 1.3M and 186K are Instagram view counts from the profile grid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 Sabeel: posted 2 Sep per the September calendar; the draft's 'Completed 18 Sep' is inferred from no further Ignite invoice; the Board budget shows a $2,200 Instagram sponsor ad for this video spent before 6 Sep. Shown as Posted. Mention &amp; Win is a recurring monthly contest (24F briefing): calendar posts on 15 Sep and 18 Oct; the team gives 23 Sep to 20 Oct for the current round; the Board budget lists $3,200 of prizes and ads for Sep to Dec. Manal Talal is on the October calendar (V2) for 22 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Sep is the date the draft gives for Ali Sabeel completion; it is inferred, not confirmed by Ignite (the video itself was posted 2 Sep per the September calendar). The Board runway shows 'LinkedIn and Google Ads, testing phase' started, followed by 'Scale LinkedIn and Google Ads' to December. Hamed Al Bloushi: November per the rollout plan; the September calendar had listed 29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segments: Starter under $1,000 and Emerging $1,000 to $5,000 via Google Ads; Affluent $5,000 to $50,000 via LinkedIn lead generation then in-person meeting. CAC targets: Starter $167, Emerging $417, Affluent $882. Budget: Google Search Saudi $9,000, LinkedIn Affluent Saudi $9,000, Google Search Qatar/UAE/Kuwait/Bahrain/Oman $6,000, LinkedIn Affluent same markets $6,000; funded from the $62,477 reserved budget. GA4 shows only the two Saudi Google campaigns so far. LinkedIn lead forms keep users on LinkedIn, so no LinkedIn sessions in GA4 is expected. The Ignite invoice TI7541 was cited by the previous audit but is not in this review set; TI7542 is not in the review set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increase; source calculation pending verification. GA shows 384 active users, +793.0% vs the previous 7 days, which implies about 43 users in 14-20 Sep (384 / 8.93). The card covers all sources and all countries. The realtime 'Saudi Arabia 7' panel on the original screenshot covers the last 30 minutes only and was cropped out. The line on the card plots event count, not active users. From the 1-28 Sep export: 403 of 542 active users (74.4%) had google / cpc as first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uses only view counts visible on the Instagram grid screenshot. Excluded as unverified or inconsistent: 2,271,132 'all-time' views (one reel alone shows 5.3M); format shares, which differ between decks (73.3/25.9/0.7 in the Marketing Update vs 59.2/38.1 in the Performance Analysis deck). LinkedIn: 247 new followers in the last 30 days vs 4 in the prior 30 days is the +6,075%; it is growth in new followers, not in total followers. The LinkedIn export (31 May-28 Aug) shows 498 new followers, 493 of them in June and 4 in August, which contradicts the draft's derived baseline of 284 followers '30 days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&amp; Win (24F briefing): recurring monthly contest across all six GCC countries, approved caption 'Follow, mention, and open an eMYAA account for a chance to win $500'; paid boost via Ignite. Calendar posts 15 Sep and 18 Oct; the team gives 23 Sep to 20 Oct for the current round. Board budget: $1,100 prizes Jun-Aug; $3,200 prizes and ads Sep-Dec. The 26.3K post is the 'open your account, chance to win $500' creative. 1,129 likes on the launch reel is reported, not visible on the screenshot. $5,000 Prize Campaign: approval checklist of 20 Jul shows landing pages built and live, bilingual T&amp;Cs 'sent for approval' with no sign-off recorded, six influencer scripts finalized. Campaign period 1 Aug to 31 Dec 2026, draw 10 Jan 2027; $5,000 prize in the Board plan to year end; launch animation on the October calendar for 5 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how-to video showed 319 views in the previous draft and 332 on the screenshot, so the screenshot is the later capture. Ali Sabeel posted 2 Sep per the September calendar. Manal Talal: brief sent and production started; October calendar V2 date 22 Oct. Hamed Al Bloushi: November per the rollout plan (the September calendar had listed 29 Sep). The same six creators, plus Ammar Alshaikh, have finalized scripts for the $5,000 Prize Campaign (approval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Corrections vs the previous drafts: referral is 5.5% (32 sessions by GA medium) not 6.6% (the draft grouped ChatGPT's 9 sessions into referral and left out facebook.com's 2); top four sources are 97.4% (572 of 587), not 98.6%; EN/AR session shares are 54.6%/45.4%, not 54.5%/45.2%; EN engagement time per session is 19.9s, not 19s; the period is 1-28 Sep, not 'since 22/23 Sep'; 558 new users is the September total, not 'since campaign launch'. Key events: EN 200 on 212 sessions (0.94 per session), AR 185 on 176 sessions (1.05). The key event is not defined in the export; 400 key events on 409 paid sessions suggests a light action, so do not call it a conversion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change between dashboard report dates. Downloads = Android + iOS: 373 (1 Sep), 403 (8 Sep), 423 (14 Sep), 437 (21 Sep), 473 (27 Sep). Users onboarded: 48, 49, 52, 57, 60. Funded accounts: 12 to 13 (21 Sep) to 15 (27 Sep). Trades: 54 on 27 Sep. The 28 Sep dashboard (#32) cited by the previous audit shows 480 downloads; it is not in this review set. The Board shows 61 clients 'as at 17 Sep' while the 17 Sep dashboard shows 54; logged as an open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Gross deposits: the Board shows $12,206 (Malek's figure, verbal); the dashboard figure of $10,029.69 is relabelled from 'Total Deposits' to 'Total AUM' from 20 Sep; the KPI workbook shows $11,195.88 for September. Client count: Board 61 'as at 17 Sep'; dashboards 54 (17 Sep) and 60 (27 Sep); KPI workbook 54. $5,000 campaign: bilingual T&amp;Cs 'sent for approval' on 20 Jul, no sign-off on file. Market Pulse: calendar posts 30 Sep and 29 Oct; the in-app Market Pulse feature is 'in discussion', with Exante verifying data-provider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Decision 5: the $5,000 campaign T&amp;Cs were sent for approval on 20 Jul and no sign-off is 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chart" Target="/ppt/charts/chart4.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5.xml"/><Relationship Id="rId5" Type="http://schemas.openxmlformats.org/officeDocument/2006/relationships/chart" Target="/ppt/charts/chart6.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4" Type="http://schemas.openxmlformats.org/officeDocument/2006/relationships/chart" Target="/ppt/charts/chart7.xm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EXECUTIVE SUMMARY</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now brings most site traffic and more downloads; onboarding has not kept pace</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Early paid-media signals are positive at the top of the funnel. Treat 20 October as the go or hold point, judged on accounts opened.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daily performance dashboards 14-27 Sep 2026; Instagram profile grid screenshot; Board update 17 Sep 2026 (CAC targets).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600200"/>
            <a:ext cx="2624328" cy="3840480"/>
          </a:xfrm>
          <a:prstGeom prst="rect">
            <a:avLst/>
          </a:prstGeom>
          <a:solidFill>
            <a:srgbClr val="FFFFFF"/>
          </a:solidFill>
          <a:ln w="9525">
            <a:solidFill>
              <a:srgbClr val="D9DFEA"/>
            </a:solidFill>
            <a:prstDash val="solid"/>
          </a:ln>
        </p:spPr>
      </p:sp>
      <p:sp>
        <p:nvSpPr>
          <p:cNvPr id="16" name="Shape 10"/>
          <p:cNvSpPr/>
          <p:nvPr/>
        </p:nvSpPr>
        <p:spPr>
          <a:xfrm>
            <a:off x="566928" y="1600200"/>
            <a:ext cx="2624328" cy="32004"/>
          </a:xfrm>
          <a:prstGeom prst="rect">
            <a:avLst/>
          </a:prstGeom>
          <a:solidFill>
            <a:srgbClr val="132257"/>
          </a:solidFill>
          <a:ln w="12700">
            <a:solidFill>
              <a:srgbClr val="132257"/>
            </a:solidFill>
            <a:prstDash val="solid"/>
          </a:ln>
        </p:spPr>
      </p:sp>
      <p:sp>
        <p:nvSpPr>
          <p:cNvPr id="17" name="Text 11"/>
          <p:cNvSpPr txBox="1"/>
          <p:nvPr/>
        </p:nvSpPr>
        <p:spPr>
          <a:xfrm>
            <a:off x="795528"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DELIVERED</a:t>
            </a:r>
            <a:endParaRPr lang="en-US" sz="900" dirty="0"/>
          </a:p>
        </p:txBody>
      </p:sp>
      <p:sp>
        <p:nvSpPr>
          <p:cNvPr id="18" name="Text 12"/>
          <p:cNvSpPr txBox="1"/>
          <p:nvPr/>
        </p:nvSpPr>
        <p:spPr>
          <a:xfrm>
            <a:off x="795528" y="2194560"/>
            <a:ext cx="2167128" cy="777240"/>
          </a:xfrm>
          <a:prstGeom prst="rect">
            <a:avLst/>
          </a:prstGeom>
          <a:noFill/>
          <a:ln/>
        </p:spPr>
        <p:txBody>
          <a:bodyPr wrap="square" lIns="0" tIns="0" rIns="0" bIns="0" rtlCol="0" anchor="t"/>
          <a:lstStyle/>
          <a:p>
            <a:pPr indent="0" marL="0">
              <a:buNone/>
            </a:pPr>
            <a:r>
              <a:rPr lang="en-US" sz="4000" b="1" dirty="0">
                <a:solidFill>
                  <a:srgbClr val="132257"/>
                </a:solidFill>
                <a:latin typeface="Exo 2" pitchFamily="34" charset="0"/>
                <a:ea typeface="Exo 2" pitchFamily="34" charset="-122"/>
                <a:cs typeface="Exo 2" pitchFamily="34" charset="-120"/>
              </a:rPr>
              <a:t>1.3M</a:t>
            </a:r>
            <a:endParaRPr lang="en-US" sz="4000" dirty="0"/>
          </a:p>
        </p:txBody>
      </p:sp>
      <p:sp>
        <p:nvSpPr>
          <p:cNvPr id="19" name="Text 13"/>
          <p:cNvSpPr txBox="1"/>
          <p:nvPr/>
        </p:nvSpPr>
        <p:spPr>
          <a:xfrm>
            <a:off x="795528" y="3063240"/>
            <a:ext cx="2167128" cy="640080"/>
          </a:xfrm>
          <a:prstGeom prst="rect">
            <a:avLst/>
          </a:prstGeom>
          <a:noFill/>
          <a:ln/>
        </p:spPr>
        <p:txBody>
          <a:bodyPr wrap="square" lIns="0" tIns="0" rIns="0" bIns="0" rtlCol="0" anchor="t"/>
          <a:lstStyle/>
          <a:p>
            <a:pPr indent="0" marL="0">
              <a:buNone/>
            </a:pPr>
            <a:r>
              <a:rPr lang="en-US" sz="1450" b="1" dirty="0">
                <a:solidFill>
                  <a:srgbClr val="132257"/>
                </a:solidFill>
                <a:latin typeface="Exo 2" pitchFamily="34" charset="0"/>
                <a:ea typeface="Exo 2" pitchFamily="34" charset="-122"/>
                <a:cs typeface="Exo 2" pitchFamily="34" charset="-120"/>
              </a:rPr>
              <a:t>views on the Ali Sabeel reel</a:t>
            </a:r>
            <a:endParaRPr lang="en-US" sz="1450" dirty="0"/>
          </a:p>
        </p:txBody>
      </p:sp>
      <p:sp>
        <p:nvSpPr>
          <p:cNvPr id="20" name="Text 14"/>
          <p:cNvSpPr txBox="1"/>
          <p:nvPr/>
        </p:nvSpPr>
        <p:spPr>
          <a:xfrm>
            <a:off x="795528" y="3840480"/>
            <a:ext cx="2167128" cy="1463040"/>
          </a:xfrm>
          <a:prstGeom prst="rect">
            <a:avLst/>
          </a:prstGeom>
          <a:noFill/>
          <a:ln/>
        </p:spPr>
        <p:txBody>
          <a:bodyPr wrap="square" lIns="0" tIns="0" rIns="0" bIns="0" rtlCol="0" anchor="t"/>
          <a:lstStyle/>
          <a:p>
            <a:pPr indent="0" marL="0">
              <a:buNone/>
            </a:pPr>
            <a:r>
              <a:rPr lang="en-US" sz="1250" dirty="0">
                <a:solidFill>
                  <a:srgbClr val="1F2A44"/>
                </a:solidFill>
                <a:latin typeface="Exo 2" pitchFamily="34" charset="0"/>
                <a:ea typeface="Exo 2" pitchFamily="34" charset="-122"/>
                <a:cs typeface="Exo 2" pitchFamily="34" charset="-120"/>
              </a:rPr>
              <a:t>How-to and Abdulelah Al Harbi videos also posted in September. Manal Talal video set for 22 Oct.</a:t>
            </a:r>
            <a:endParaRPr lang="en-US" sz="1250" dirty="0"/>
          </a:p>
        </p:txBody>
      </p:sp>
      <p:sp>
        <p:nvSpPr>
          <p:cNvPr id="21" name="Shape 15"/>
          <p:cNvSpPr/>
          <p:nvPr/>
        </p:nvSpPr>
        <p:spPr>
          <a:xfrm>
            <a:off x="3374136" y="1600200"/>
            <a:ext cx="2624328" cy="3840480"/>
          </a:xfrm>
          <a:prstGeom prst="rect">
            <a:avLst/>
          </a:prstGeom>
          <a:solidFill>
            <a:srgbClr val="FFFFFF"/>
          </a:solidFill>
          <a:ln w="9525">
            <a:solidFill>
              <a:srgbClr val="D9DFEA"/>
            </a:solidFill>
            <a:prstDash val="solid"/>
          </a:ln>
        </p:spPr>
      </p:sp>
      <p:sp>
        <p:nvSpPr>
          <p:cNvPr id="22" name="Shape 16"/>
          <p:cNvSpPr/>
          <p:nvPr/>
        </p:nvSpPr>
        <p:spPr>
          <a:xfrm>
            <a:off x="3374136" y="1600200"/>
            <a:ext cx="2624328" cy="32004"/>
          </a:xfrm>
          <a:prstGeom prst="rect">
            <a:avLst/>
          </a:prstGeom>
          <a:solidFill>
            <a:srgbClr val="1BA97C"/>
          </a:solidFill>
          <a:ln w="12700">
            <a:solidFill>
              <a:srgbClr val="1BA97C"/>
            </a:solidFill>
            <a:prstDash val="solid"/>
          </a:ln>
        </p:spPr>
      </p:sp>
      <p:sp>
        <p:nvSpPr>
          <p:cNvPr id="23" name="Text 17"/>
          <p:cNvSpPr txBox="1"/>
          <p:nvPr/>
        </p:nvSpPr>
        <p:spPr>
          <a:xfrm>
            <a:off x="3602736"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LIVE</a:t>
            </a:r>
            <a:endParaRPr lang="en-US" sz="900" dirty="0"/>
          </a:p>
        </p:txBody>
      </p:sp>
      <p:sp>
        <p:nvSpPr>
          <p:cNvPr id="24" name="Text 18"/>
          <p:cNvSpPr txBox="1"/>
          <p:nvPr/>
        </p:nvSpPr>
        <p:spPr>
          <a:xfrm>
            <a:off x="3602736" y="2194560"/>
            <a:ext cx="2167128" cy="777240"/>
          </a:xfrm>
          <a:prstGeom prst="rect">
            <a:avLst/>
          </a:prstGeom>
          <a:noFill/>
          <a:ln/>
        </p:spPr>
        <p:txBody>
          <a:bodyPr wrap="square" lIns="0" tIns="0" rIns="0" bIns="0" rtlCol="0" anchor="t"/>
          <a:lstStyle/>
          <a:p>
            <a:pPr indent="0" marL="0">
              <a:buNone/>
            </a:pPr>
            <a:r>
              <a:rPr lang="en-US" sz="4000" b="1" dirty="0">
                <a:solidFill>
                  <a:srgbClr val="1BA97C"/>
                </a:solidFill>
                <a:latin typeface="Exo 2" pitchFamily="34" charset="0"/>
                <a:ea typeface="Exo 2" pitchFamily="34" charset="-122"/>
                <a:cs typeface="Exo 2" pitchFamily="34" charset="-120"/>
              </a:rPr>
              <a:t>186K</a:t>
            </a:r>
            <a:endParaRPr lang="en-US" sz="4000" dirty="0"/>
          </a:p>
        </p:txBody>
      </p:sp>
      <p:sp>
        <p:nvSpPr>
          <p:cNvPr id="25" name="Text 19"/>
          <p:cNvSpPr txBox="1"/>
          <p:nvPr/>
        </p:nvSpPr>
        <p:spPr>
          <a:xfrm>
            <a:off x="3602736" y="3063240"/>
            <a:ext cx="2167128" cy="640080"/>
          </a:xfrm>
          <a:prstGeom prst="rect">
            <a:avLst/>
          </a:prstGeom>
          <a:noFill/>
          <a:ln/>
        </p:spPr>
        <p:txBody>
          <a:bodyPr wrap="square" lIns="0" tIns="0" rIns="0" bIns="0" rtlCol="0" anchor="t"/>
          <a:lstStyle/>
          <a:p>
            <a:pPr indent="0" marL="0">
              <a:buNone/>
            </a:pPr>
            <a:r>
              <a:rPr lang="en-US" sz="1450" b="1" dirty="0">
                <a:solidFill>
                  <a:srgbClr val="132257"/>
                </a:solidFill>
                <a:latin typeface="Exo 2" pitchFamily="34" charset="0"/>
                <a:ea typeface="Exo 2" pitchFamily="34" charset="-122"/>
                <a:cs typeface="Exo 2" pitchFamily="34" charset="-120"/>
              </a:rPr>
              <a:t>views on the Mention &amp; Win post</a:t>
            </a:r>
            <a:endParaRPr lang="en-US" sz="1450" dirty="0"/>
          </a:p>
        </p:txBody>
      </p:sp>
      <p:sp>
        <p:nvSpPr>
          <p:cNvPr id="26" name="Text 20"/>
          <p:cNvSpPr txBox="1"/>
          <p:nvPr/>
        </p:nvSpPr>
        <p:spPr>
          <a:xfrm>
            <a:off x="3602736" y="3840480"/>
            <a:ext cx="2167128" cy="1463040"/>
          </a:xfrm>
          <a:prstGeom prst="rect">
            <a:avLst/>
          </a:prstGeom>
          <a:noFill/>
          <a:ln/>
        </p:spPr>
        <p:txBody>
          <a:bodyPr wrap="square" lIns="0" tIns="0" rIns="0" bIns="0" rtlCol="0" anchor="t"/>
          <a:lstStyle/>
          <a:p>
            <a:pPr indent="0" marL="0">
              <a:buNone/>
            </a:pPr>
            <a:r>
              <a:rPr lang="en-US" sz="1250" dirty="0">
                <a:solidFill>
                  <a:srgbClr val="1F2A44"/>
                </a:solidFill>
                <a:latin typeface="Exo 2" pitchFamily="34" charset="0"/>
                <a:ea typeface="Exo 2" pitchFamily="34" charset="-122"/>
                <a:cs typeface="Exo 2" pitchFamily="34" charset="-120"/>
              </a:rPr>
              <a:t>Monthly $500 contest across the GCC; current round 23 Sep to 20 Oct. Entries and accounts due at close.</a:t>
            </a:r>
            <a:endParaRPr lang="en-US" sz="1250" dirty="0"/>
          </a:p>
        </p:txBody>
      </p:sp>
      <p:sp>
        <p:nvSpPr>
          <p:cNvPr id="27" name="Shape 21"/>
          <p:cNvSpPr/>
          <p:nvPr/>
        </p:nvSpPr>
        <p:spPr>
          <a:xfrm>
            <a:off x="6181344" y="1600200"/>
            <a:ext cx="2624328" cy="3840480"/>
          </a:xfrm>
          <a:prstGeom prst="rect">
            <a:avLst/>
          </a:prstGeom>
          <a:solidFill>
            <a:srgbClr val="FFFFFF"/>
          </a:solidFill>
          <a:ln w="9525">
            <a:solidFill>
              <a:srgbClr val="D9DFEA"/>
            </a:solidFill>
            <a:prstDash val="solid"/>
          </a:ln>
        </p:spPr>
      </p:sp>
      <p:sp>
        <p:nvSpPr>
          <p:cNvPr id="28" name="Shape 22"/>
          <p:cNvSpPr/>
          <p:nvPr/>
        </p:nvSpPr>
        <p:spPr>
          <a:xfrm>
            <a:off x="6181344" y="1600200"/>
            <a:ext cx="2624328" cy="32004"/>
          </a:xfrm>
          <a:prstGeom prst="rect">
            <a:avLst/>
          </a:prstGeom>
          <a:solidFill>
            <a:srgbClr val="D4AF37"/>
          </a:solidFill>
          <a:ln w="12700">
            <a:solidFill>
              <a:srgbClr val="D4AF37"/>
            </a:solidFill>
            <a:prstDash val="solid"/>
          </a:ln>
        </p:spPr>
      </p:sp>
      <p:sp>
        <p:nvSpPr>
          <p:cNvPr id="29" name="Text 23"/>
          <p:cNvSpPr txBox="1"/>
          <p:nvPr/>
        </p:nvSpPr>
        <p:spPr>
          <a:xfrm>
            <a:off x="6409944"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TESTING</a:t>
            </a:r>
            <a:endParaRPr lang="en-US" sz="900" dirty="0"/>
          </a:p>
        </p:txBody>
      </p:sp>
      <p:sp>
        <p:nvSpPr>
          <p:cNvPr id="30" name="Text 24"/>
          <p:cNvSpPr txBox="1"/>
          <p:nvPr/>
        </p:nvSpPr>
        <p:spPr>
          <a:xfrm>
            <a:off x="6409944" y="2194560"/>
            <a:ext cx="2167128" cy="777240"/>
          </a:xfrm>
          <a:prstGeom prst="rect">
            <a:avLst/>
          </a:prstGeom>
          <a:noFill/>
          <a:ln/>
        </p:spPr>
        <p:txBody>
          <a:bodyPr wrap="square" lIns="0" tIns="0" rIns="0" bIns="0" rtlCol="0" anchor="t"/>
          <a:lstStyle/>
          <a:p>
            <a:pPr indent="0" marL="0">
              <a:buNone/>
            </a:pPr>
            <a:r>
              <a:rPr lang="en-US" sz="4000" b="1" dirty="0">
                <a:solidFill>
                  <a:srgbClr val="132257"/>
                </a:solidFill>
                <a:latin typeface="Exo 2" pitchFamily="34" charset="0"/>
                <a:ea typeface="Exo 2" pitchFamily="34" charset="-122"/>
                <a:cs typeface="Exo 2" pitchFamily="34" charset="-120"/>
              </a:rPr>
              <a:t>70%</a:t>
            </a:r>
            <a:endParaRPr lang="en-US" sz="4000" dirty="0"/>
          </a:p>
        </p:txBody>
      </p:sp>
      <p:sp>
        <p:nvSpPr>
          <p:cNvPr id="31" name="Text 25"/>
          <p:cNvSpPr txBox="1"/>
          <p:nvPr/>
        </p:nvSpPr>
        <p:spPr>
          <a:xfrm>
            <a:off x="6409944" y="3063240"/>
            <a:ext cx="2167128" cy="640080"/>
          </a:xfrm>
          <a:prstGeom prst="rect">
            <a:avLst/>
          </a:prstGeom>
          <a:noFill/>
          <a:ln/>
        </p:spPr>
        <p:txBody>
          <a:bodyPr wrap="square" lIns="0" tIns="0" rIns="0" bIns="0" rtlCol="0" anchor="t"/>
          <a:lstStyle/>
          <a:p>
            <a:pPr indent="0" marL="0">
              <a:buNone/>
            </a:pPr>
            <a:r>
              <a:rPr lang="en-US" sz="1450" b="1" dirty="0">
                <a:solidFill>
                  <a:srgbClr val="132257"/>
                </a:solidFill>
                <a:latin typeface="Exo 2" pitchFamily="34" charset="0"/>
                <a:ea typeface="Exo 2" pitchFamily="34" charset="-122"/>
                <a:cs typeface="Exo 2" pitchFamily="34" charset="-120"/>
              </a:rPr>
              <a:t>of Sep site sessions from Google Ads</a:t>
            </a:r>
            <a:endParaRPr lang="en-US" sz="1450" dirty="0"/>
          </a:p>
        </p:txBody>
      </p:sp>
      <p:sp>
        <p:nvSpPr>
          <p:cNvPr id="32" name="Text 26"/>
          <p:cNvSpPr txBox="1"/>
          <p:nvPr/>
        </p:nvSpPr>
        <p:spPr>
          <a:xfrm>
            <a:off x="6409944" y="3840480"/>
            <a:ext cx="2167128" cy="1463040"/>
          </a:xfrm>
          <a:prstGeom prst="rect">
            <a:avLst/>
          </a:prstGeom>
          <a:noFill/>
          <a:ln/>
        </p:spPr>
        <p:txBody>
          <a:bodyPr wrap="square" lIns="0" tIns="0" rIns="0" bIns="0" rtlCol="0" anchor="t"/>
          <a:lstStyle/>
          <a:p>
            <a:pPr indent="0" marL="0">
              <a:buNone/>
            </a:pPr>
            <a:r>
              <a:rPr lang="en-US" sz="1250" dirty="0">
                <a:solidFill>
                  <a:srgbClr val="1F2A44"/>
                </a:solidFill>
                <a:latin typeface="Exo 2" pitchFamily="34" charset="0"/>
                <a:ea typeface="Exo 2" pitchFamily="34" charset="-122"/>
                <a:cs typeface="Exo 2" pitchFamily="34" charset="-120"/>
              </a:rPr>
              <a:t>409 of 587 sessions, 1-28 Sep. Downloads +36 in the six days after launch vs +14 the week before.</a:t>
            </a:r>
            <a:endParaRPr lang="en-US" sz="1250" dirty="0"/>
          </a:p>
        </p:txBody>
      </p:sp>
      <p:sp>
        <p:nvSpPr>
          <p:cNvPr id="33" name="Shape 27"/>
          <p:cNvSpPr/>
          <p:nvPr/>
        </p:nvSpPr>
        <p:spPr>
          <a:xfrm>
            <a:off x="8988552" y="1600200"/>
            <a:ext cx="2624328" cy="3840480"/>
          </a:xfrm>
          <a:prstGeom prst="rect">
            <a:avLst/>
          </a:prstGeom>
          <a:solidFill>
            <a:srgbClr val="FFFFFF"/>
          </a:solidFill>
          <a:ln w="9525">
            <a:solidFill>
              <a:srgbClr val="D9DFEA"/>
            </a:solidFill>
            <a:prstDash val="solid"/>
          </a:ln>
        </p:spPr>
      </p:sp>
      <p:sp>
        <p:nvSpPr>
          <p:cNvPr id="34" name="Shape 28"/>
          <p:cNvSpPr/>
          <p:nvPr/>
        </p:nvSpPr>
        <p:spPr>
          <a:xfrm>
            <a:off x="8988552" y="1600200"/>
            <a:ext cx="2624328" cy="32004"/>
          </a:xfrm>
          <a:prstGeom prst="rect">
            <a:avLst/>
          </a:prstGeom>
          <a:solidFill>
            <a:srgbClr val="C53030"/>
          </a:solidFill>
          <a:ln w="12700">
            <a:solidFill>
              <a:srgbClr val="C53030"/>
            </a:solidFill>
            <a:prstDash val="solid"/>
          </a:ln>
        </p:spPr>
      </p:sp>
      <p:sp>
        <p:nvSpPr>
          <p:cNvPr id="35" name="Text 29"/>
          <p:cNvSpPr txBox="1"/>
          <p:nvPr/>
        </p:nvSpPr>
        <p:spPr>
          <a:xfrm>
            <a:off x="9217152"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DECISION</a:t>
            </a:r>
            <a:endParaRPr lang="en-US" sz="900" dirty="0"/>
          </a:p>
        </p:txBody>
      </p:sp>
      <p:sp>
        <p:nvSpPr>
          <p:cNvPr id="36" name="Text 30"/>
          <p:cNvSpPr txBox="1"/>
          <p:nvPr/>
        </p:nvSpPr>
        <p:spPr>
          <a:xfrm>
            <a:off x="9217152" y="2194560"/>
            <a:ext cx="2167128" cy="777240"/>
          </a:xfrm>
          <a:prstGeom prst="rect">
            <a:avLst/>
          </a:prstGeom>
          <a:noFill/>
          <a:ln/>
        </p:spPr>
        <p:txBody>
          <a:bodyPr wrap="square" lIns="0" tIns="0" rIns="0" bIns="0" rtlCol="0" anchor="t"/>
          <a:lstStyle/>
          <a:p>
            <a:pPr indent="0" marL="0">
              <a:buNone/>
            </a:pPr>
            <a:r>
              <a:rPr lang="en-US" sz="4000" b="1" dirty="0">
                <a:solidFill>
                  <a:srgbClr val="132257"/>
                </a:solidFill>
                <a:latin typeface="Exo 2" pitchFamily="34" charset="0"/>
                <a:ea typeface="Exo 2" pitchFamily="34" charset="-122"/>
                <a:cs typeface="Exo 2" pitchFamily="34" charset="-120"/>
              </a:rPr>
              <a:t>20 Oct</a:t>
            </a:r>
            <a:endParaRPr lang="en-US" sz="4000" dirty="0"/>
          </a:p>
        </p:txBody>
      </p:sp>
      <p:sp>
        <p:nvSpPr>
          <p:cNvPr id="37" name="Text 31"/>
          <p:cNvSpPr txBox="1"/>
          <p:nvPr/>
        </p:nvSpPr>
        <p:spPr>
          <a:xfrm>
            <a:off x="9217152" y="3063240"/>
            <a:ext cx="2167128" cy="640080"/>
          </a:xfrm>
          <a:prstGeom prst="rect">
            <a:avLst/>
          </a:prstGeom>
          <a:noFill/>
          <a:ln/>
        </p:spPr>
        <p:txBody>
          <a:bodyPr wrap="square" lIns="0" tIns="0" rIns="0" bIns="0" rtlCol="0" anchor="t"/>
          <a:lstStyle/>
          <a:p>
            <a:pPr indent="0" marL="0">
              <a:buNone/>
            </a:pPr>
            <a:r>
              <a:rPr lang="en-US" sz="1450" b="1" dirty="0">
                <a:solidFill>
                  <a:srgbClr val="132257"/>
                </a:solidFill>
                <a:latin typeface="Exo 2" pitchFamily="34" charset="0"/>
                <a:ea typeface="Exo 2" pitchFamily="34" charset="-122"/>
                <a:cs typeface="Exo 2" pitchFamily="34" charset="-120"/>
              </a:rPr>
              <a:t>go or hold on paid media</a:t>
            </a:r>
            <a:endParaRPr lang="en-US" sz="1450" dirty="0"/>
          </a:p>
        </p:txBody>
      </p:sp>
      <p:sp>
        <p:nvSpPr>
          <p:cNvPr id="38" name="Text 32"/>
          <p:cNvSpPr txBox="1"/>
          <p:nvPr/>
        </p:nvSpPr>
        <p:spPr>
          <a:xfrm>
            <a:off x="9217152" y="3840480"/>
            <a:ext cx="2167128" cy="1463040"/>
          </a:xfrm>
          <a:prstGeom prst="rect">
            <a:avLst/>
          </a:prstGeom>
          <a:noFill/>
          <a:ln/>
        </p:spPr>
        <p:txBody>
          <a:bodyPr wrap="square" lIns="0" tIns="0" rIns="0" bIns="0" rtlCol="0" anchor="t"/>
          <a:lstStyle/>
          <a:p>
            <a:pPr indent="0" marL="0">
              <a:buNone/>
            </a:pPr>
            <a:r>
              <a:rPr lang="en-US" sz="1250" dirty="0">
                <a:solidFill>
                  <a:srgbClr val="1F2A44"/>
                </a:solidFill>
                <a:latin typeface="Exo 2" pitchFamily="34" charset="0"/>
                <a:ea typeface="Exo 2" pitchFamily="34" charset="-122"/>
                <a:cs typeface="Exo 2" pitchFamily="34" charset="-120"/>
              </a:rPr>
              <a:t>Judge against Board CAC targets: Starter $167, Emerging $417, Affluent $882. Onboarding added only +3.</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MARKETING ACTIVITY STATUS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One campaign is live, two paid channels are in testing, and four videos are posted or in production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Nothing is labelled complete until close-out is confirmed. LinkedIn Ads has no reported results yet.</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Instagram grid screenshot; Board update 17 Sep 2026; Sep and Oct 2026 content calendars; 24F briefing; team updates ('per team' = no file).</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64240" cy="914400"/>
        </p:xfrm>
        <a:graphic>
          <a:graphicData uri="http://schemas.openxmlformats.org/drawingml/2006/table">
            <a:tbl>
              <a:tblPr/>
              <a:tblGrid>
                <a:gridCol w="1737360"/>
                <a:gridCol w="2011680"/>
                <a:gridCol w="1325880"/>
                <a:gridCol w="1463040"/>
                <a:gridCol w="2514600"/>
                <a:gridCol w="2011680"/>
              </a:tblGrid>
              <a:tr h="475488">
                <a:tc>
                  <a:txBody>
                    <a:bodyPr/>
                    <a:lstStyle/>
                    <a:p>
                      <a:pPr indent="0" marL="0">
                        <a:buNone/>
                      </a:pPr>
                      <a:r>
                        <a:rPr lang="en-US" sz="1100" b="1" dirty="0">
                          <a:solidFill>
                            <a:srgbClr val="FFFFFF"/>
                          </a:solidFill>
                          <a:latin typeface="Exo 2" pitchFamily="34" charset="0"/>
                          <a:ea typeface="Exo 2" pitchFamily="34" charset="-122"/>
                          <a:cs typeface="Exo 2" pitchFamily="34" charset="-120"/>
                        </a:rPr>
                        <a:t>Initiative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Objective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Status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Date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Evidence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Next step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Mention &amp; Win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Account openings ($500 monthly prize)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BA97C"/>
                          </a:solidFill>
                          <a:latin typeface="Exo 2" pitchFamily="34" charset="0"/>
                          <a:ea typeface="Exo 2" pitchFamily="34" charset="-122"/>
                          <a:cs typeface="Exo 2" pitchFamily="34" charset="-120"/>
                        </a:rPr>
                        <a:t>● </a:t>
                      </a:r>
                      <a:pPr indent="0" marL="0">
                        <a:buNone/>
                      </a:pPr>
                      <a:r>
                        <a:rPr lang="en-US" sz="1100" b="1" dirty="0">
                          <a:solidFill>
                            <a:srgbClr val="1BA97C"/>
                          </a:solidFill>
                          <a:latin typeface="Exo 2" pitchFamily="34" charset="0"/>
                          <a:ea typeface="Exo 2" pitchFamily="34" charset="-122"/>
                          <a:cs typeface="Exo 2" pitchFamily="34" charset="-120"/>
                        </a:rPr>
                        <a:t>Live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Round 23 Sep to 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Instagram: 186K and 26.3K views; $3,200 budgeted Sep-Dec</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Report entries and accounts after 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Google Ads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Starter and Emerging investors, Saudi</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Testing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From 22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GA4: 409 sessions, 400 key events (1-28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Add spend and cost per key event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LinkedIn Ads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Affluent lead generation, Saudi</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Testing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From 22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 campaign report yet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Pull leads and spend from Campaign Manager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Ali Sabeel video</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Presenter-led awareness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32257"/>
                          </a:solidFill>
                          <a:latin typeface="Exo 2" pitchFamily="34" charset="0"/>
                          <a:ea typeface="Exo 2" pitchFamily="34" charset="-122"/>
                          <a:cs typeface="Exo 2" pitchFamily="34" charset="-120"/>
                        </a:rPr>
                        <a:t>● </a:t>
                      </a:r>
                      <a:pPr indent="0" marL="0">
                        <a:buNone/>
                      </a:pPr>
                      <a:r>
                        <a:rPr lang="en-US" sz="1100" b="1" dirty="0">
                          <a:solidFill>
                            <a:srgbClr val="132257"/>
                          </a:solidFill>
                          <a:latin typeface="Exo 2" pitchFamily="34" charset="0"/>
                          <a:ea typeface="Exo 2" pitchFamily="34" charset="-122"/>
                          <a:cs typeface="Exo 2" pitchFamily="34" charset="-120"/>
                        </a:rPr>
                        <a:t>Posted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Posted 2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Instagram: 1.3M views; $2,200 sponsor ad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Confirm close-out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How-to video, human presenter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Onboarding education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32257"/>
                          </a:solidFill>
                          <a:latin typeface="Exo 2" pitchFamily="34" charset="0"/>
                          <a:ea typeface="Exo 2" pitchFamily="34" charset="-122"/>
                          <a:cs typeface="Exo 2" pitchFamily="34" charset="-120"/>
                        </a:rPr>
                        <a:t>● </a:t>
                      </a:r>
                      <a:pPr indent="0" marL="0">
                        <a:buNone/>
                      </a:pPr>
                      <a:r>
                        <a:rPr lang="en-US" sz="1100" b="1" dirty="0">
                          <a:solidFill>
                            <a:srgbClr val="132257"/>
                          </a:solidFill>
                          <a:latin typeface="Exo 2" pitchFamily="34" charset="0"/>
                          <a:ea typeface="Exo 2" pitchFamily="34" charset="-122"/>
                          <a:cs typeface="Exo 2" pitchFamily="34" charset="-120"/>
                        </a:rPr>
                        <a:t>Posted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September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Instagram: 332 views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Track clicks to account opening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Abdulelah Al Harbi</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Creator video, Sep slot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32257"/>
                          </a:solidFill>
                          <a:latin typeface="Exo 2" pitchFamily="34" charset="0"/>
                          <a:ea typeface="Exo 2" pitchFamily="34" charset="-122"/>
                          <a:cs typeface="Exo 2" pitchFamily="34" charset="-120"/>
                        </a:rPr>
                        <a:t>● </a:t>
                      </a:r>
                      <a:pPr indent="0" marL="0">
                        <a:buNone/>
                      </a:pPr>
                      <a:r>
                        <a:rPr lang="en-US" sz="1100" b="1" dirty="0">
                          <a:solidFill>
                            <a:srgbClr val="132257"/>
                          </a:solidFill>
                          <a:latin typeface="Exo 2" pitchFamily="34" charset="0"/>
                          <a:ea typeface="Exo 2" pitchFamily="34" charset="-122"/>
                          <a:cs typeface="Exo 2" pitchFamily="34" charset="-120"/>
                        </a:rPr>
                        <a:t>Posted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September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Per team; no view count supplied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Add views to next update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Manal Talal</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Creator video, Oct slot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7A849C"/>
                          </a:solidFill>
                          <a:latin typeface="Exo 2" pitchFamily="34" charset="0"/>
                          <a:ea typeface="Exo 2" pitchFamily="34" charset="-122"/>
                          <a:cs typeface="Exo 2" pitchFamily="34" charset="-120"/>
                        </a:rPr>
                        <a:t>● </a:t>
                      </a:r>
                      <a:pPr indent="0" marL="0">
                        <a:buNone/>
                      </a:pPr>
                      <a:r>
                        <a:rPr lang="en-US" sz="1100" b="1" dirty="0">
                          <a:solidFill>
                            <a:srgbClr val="7A849C"/>
                          </a:solidFill>
                          <a:latin typeface="Exo 2" pitchFamily="34" charset="0"/>
                          <a:ea typeface="Exo 2" pitchFamily="34" charset="-122"/>
                          <a:cs typeface="Exo 2" pitchFamily="34" charset="-120"/>
                        </a:rPr>
                        <a:t>In production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Calendar: 22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Per team: brief sent, filming started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Approve final cut before posting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CAMPAIGN TIMELINE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dated milestones run from 18 September to 22 October; the paid-media plan runs to December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20 October is the natural review point: the Mention &amp; Win round closes and paid testing will have four weeks of data.</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Board update 17 Sep 2026 (runway, $30,000 plan); October 2026 content calendar V2 (22 Oct); team dates. Milestones not drawn to scale.</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1600200" y="2514600"/>
            <a:ext cx="9006840" cy="0"/>
          </a:xfrm>
          <a:prstGeom prst="line">
            <a:avLst/>
          </a:prstGeom>
          <a:noFill/>
          <a:ln w="25400">
            <a:solidFill>
              <a:srgbClr val="C6CFE4"/>
            </a:solidFill>
            <a:prstDash val="solid"/>
          </a:ln>
        </p:spPr>
      </p:sp>
      <p:sp>
        <p:nvSpPr>
          <p:cNvPr id="16" name="Shape 10"/>
          <p:cNvSpPr/>
          <p:nvPr/>
        </p:nvSpPr>
        <p:spPr>
          <a:xfrm>
            <a:off x="1490472" y="2404872"/>
            <a:ext cx="219456" cy="219456"/>
          </a:xfrm>
          <a:prstGeom prst="ellipse">
            <a:avLst/>
          </a:prstGeom>
          <a:solidFill>
            <a:srgbClr val="1BA97C"/>
          </a:solidFill>
          <a:ln w="25400">
            <a:solidFill>
              <a:srgbClr val="1BA97C"/>
            </a:solidFill>
            <a:prstDash val="solid"/>
          </a:ln>
        </p:spPr>
      </p:sp>
      <p:sp>
        <p:nvSpPr>
          <p:cNvPr id="17" name="Text 11"/>
          <p:cNvSpPr txBox="1"/>
          <p:nvPr/>
        </p:nvSpPr>
        <p:spPr>
          <a:xfrm>
            <a:off x="594360" y="1892808"/>
            <a:ext cx="2011680" cy="347472"/>
          </a:xfrm>
          <a:prstGeom prst="rect">
            <a:avLst/>
          </a:prstGeom>
          <a:noFill/>
          <a:ln/>
        </p:spPr>
        <p:txBody>
          <a:bodyPr wrap="square" lIns="0" tIns="0" rIns="0" bIns="0" rtlCol="0" anchor="t"/>
          <a:lstStyle/>
          <a:p>
            <a:pPr algn="ctr" indent="0" marL="0">
              <a:buNone/>
            </a:pPr>
            <a:r>
              <a:rPr lang="en-US" sz="1700" b="1" dirty="0">
                <a:solidFill>
                  <a:srgbClr val="132257"/>
                </a:solidFill>
                <a:latin typeface="Exo 2" pitchFamily="34" charset="0"/>
                <a:ea typeface="Exo 2" pitchFamily="34" charset="-122"/>
                <a:cs typeface="Exo 2" pitchFamily="34" charset="-120"/>
              </a:rPr>
              <a:t>18 Sep</a:t>
            </a:r>
            <a:endParaRPr lang="en-US" sz="1700" dirty="0"/>
          </a:p>
        </p:txBody>
      </p:sp>
      <p:sp>
        <p:nvSpPr>
          <p:cNvPr id="18" name="Text 12"/>
          <p:cNvSpPr txBox="1"/>
          <p:nvPr/>
        </p:nvSpPr>
        <p:spPr>
          <a:xfrm>
            <a:off x="548640" y="2788920"/>
            <a:ext cx="2103120" cy="292608"/>
          </a:xfrm>
          <a:prstGeom prst="rect">
            <a:avLst/>
          </a:prstGeom>
          <a:noFill/>
          <a:ln/>
        </p:spPr>
        <p:txBody>
          <a:bodyPr wrap="square" lIns="0" tIns="0" rIns="0" bIns="0" rtlCol="0" anchor="t"/>
          <a:lstStyle/>
          <a:p>
            <a:pPr algn="ctr" indent="0" marL="0">
              <a:buNone/>
            </a:pPr>
            <a:r>
              <a:rPr lang="en-US" sz="1250" b="1" dirty="0">
                <a:solidFill>
                  <a:srgbClr val="132257"/>
                </a:solidFill>
                <a:latin typeface="Exo 2" pitchFamily="34" charset="0"/>
                <a:ea typeface="Exo 2" pitchFamily="34" charset="-122"/>
                <a:cs typeface="Exo 2" pitchFamily="34" charset="-120"/>
              </a:rPr>
              <a:t>Ali Sabeel video</a:t>
            </a:r>
            <a:endParaRPr lang="en-US" sz="1250" dirty="0"/>
          </a:p>
        </p:txBody>
      </p:sp>
      <p:sp>
        <p:nvSpPr>
          <p:cNvPr id="19" name="Text 13"/>
          <p:cNvSpPr txBox="1"/>
          <p:nvPr/>
        </p:nvSpPr>
        <p:spPr>
          <a:xfrm>
            <a:off x="594360" y="3118104"/>
            <a:ext cx="2011680" cy="54864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Marked complete (per team). 1.3M views</a:t>
            </a:r>
            <a:endParaRPr lang="en-US" sz="1050" dirty="0"/>
          </a:p>
        </p:txBody>
      </p:sp>
      <p:sp>
        <p:nvSpPr>
          <p:cNvPr id="20" name="Shape 14"/>
          <p:cNvSpPr/>
          <p:nvPr/>
        </p:nvSpPr>
        <p:spPr>
          <a:xfrm>
            <a:off x="3742182" y="2404872"/>
            <a:ext cx="219456" cy="219456"/>
          </a:xfrm>
          <a:prstGeom prst="ellipse">
            <a:avLst/>
          </a:prstGeom>
          <a:solidFill>
            <a:srgbClr val="1BA97C"/>
          </a:solidFill>
          <a:ln w="25400">
            <a:solidFill>
              <a:srgbClr val="1BA97C"/>
            </a:solidFill>
            <a:prstDash val="solid"/>
          </a:ln>
        </p:spPr>
      </p:sp>
      <p:sp>
        <p:nvSpPr>
          <p:cNvPr id="21" name="Text 15"/>
          <p:cNvSpPr txBox="1"/>
          <p:nvPr/>
        </p:nvSpPr>
        <p:spPr>
          <a:xfrm>
            <a:off x="2846070" y="1892808"/>
            <a:ext cx="2011680" cy="347472"/>
          </a:xfrm>
          <a:prstGeom prst="rect">
            <a:avLst/>
          </a:prstGeom>
          <a:noFill/>
          <a:ln/>
        </p:spPr>
        <p:txBody>
          <a:bodyPr wrap="square" lIns="0" tIns="0" rIns="0" bIns="0" rtlCol="0" anchor="t"/>
          <a:lstStyle/>
          <a:p>
            <a:pPr algn="ctr" indent="0" marL="0">
              <a:buNone/>
            </a:pPr>
            <a:r>
              <a:rPr lang="en-US" sz="1700" b="1" dirty="0">
                <a:solidFill>
                  <a:srgbClr val="132257"/>
                </a:solidFill>
                <a:latin typeface="Exo 2" pitchFamily="34" charset="0"/>
                <a:ea typeface="Exo 2" pitchFamily="34" charset="-122"/>
                <a:cs typeface="Exo 2" pitchFamily="34" charset="-120"/>
              </a:rPr>
              <a:t>22 Sep</a:t>
            </a:r>
            <a:endParaRPr lang="en-US" sz="1700" dirty="0"/>
          </a:p>
        </p:txBody>
      </p:sp>
      <p:sp>
        <p:nvSpPr>
          <p:cNvPr id="22" name="Text 16"/>
          <p:cNvSpPr txBox="1"/>
          <p:nvPr/>
        </p:nvSpPr>
        <p:spPr>
          <a:xfrm>
            <a:off x="2800350" y="2788920"/>
            <a:ext cx="2103120" cy="292608"/>
          </a:xfrm>
          <a:prstGeom prst="rect">
            <a:avLst/>
          </a:prstGeom>
          <a:noFill/>
          <a:ln/>
        </p:spPr>
        <p:txBody>
          <a:bodyPr wrap="square" lIns="0" tIns="0" rIns="0" bIns="0" rtlCol="0" anchor="t"/>
          <a:lstStyle/>
          <a:p>
            <a:pPr algn="ctr" indent="0" marL="0">
              <a:buNone/>
            </a:pPr>
            <a:r>
              <a:rPr lang="en-US" sz="1250" b="1" dirty="0">
                <a:solidFill>
                  <a:srgbClr val="132257"/>
                </a:solidFill>
                <a:latin typeface="Exo 2" pitchFamily="34" charset="0"/>
                <a:ea typeface="Exo 2" pitchFamily="34" charset="-122"/>
                <a:cs typeface="Exo 2" pitchFamily="34" charset="-120"/>
              </a:rPr>
              <a:t>Paid testing starts</a:t>
            </a:r>
            <a:endParaRPr lang="en-US" sz="1250" dirty="0"/>
          </a:p>
        </p:txBody>
      </p:sp>
      <p:sp>
        <p:nvSpPr>
          <p:cNvPr id="23" name="Text 17"/>
          <p:cNvSpPr txBox="1"/>
          <p:nvPr/>
        </p:nvSpPr>
        <p:spPr>
          <a:xfrm>
            <a:off x="2846070" y="3118104"/>
            <a:ext cx="2011680" cy="54864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Google Ads and LinkedIn Ads, Saudi Arabia</a:t>
            </a:r>
            <a:endParaRPr lang="en-US" sz="1050" dirty="0"/>
          </a:p>
        </p:txBody>
      </p:sp>
      <p:sp>
        <p:nvSpPr>
          <p:cNvPr id="24" name="Shape 18"/>
          <p:cNvSpPr/>
          <p:nvPr/>
        </p:nvSpPr>
        <p:spPr>
          <a:xfrm>
            <a:off x="5993892" y="2404872"/>
            <a:ext cx="219456" cy="219456"/>
          </a:xfrm>
          <a:prstGeom prst="ellipse">
            <a:avLst/>
          </a:prstGeom>
          <a:solidFill>
            <a:srgbClr val="1BA97C"/>
          </a:solidFill>
          <a:ln w="25400">
            <a:solidFill>
              <a:srgbClr val="1BA97C"/>
            </a:solidFill>
            <a:prstDash val="solid"/>
          </a:ln>
        </p:spPr>
      </p:sp>
      <p:sp>
        <p:nvSpPr>
          <p:cNvPr id="25" name="Text 19"/>
          <p:cNvSpPr txBox="1"/>
          <p:nvPr/>
        </p:nvSpPr>
        <p:spPr>
          <a:xfrm>
            <a:off x="5097780" y="1892808"/>
            <a:ext cx="2011680" cy="347472"/>
          </a:xfrm>
          <a:prstGeom prst="rect">
            <a:avLst/>
          </a:prstGeom>
          <a:noFill/>
          <a:ln/>
        </p:spPr>
        <p:txBody>
          <a:bodyPr wrap="square" lIns="0" tIns="0" rIns="0" bIns="0" rtlCol="0" anchor="t"/>
          <a:lstStyle/>
          <a:p>
            <a:pPr algn="ctr" indent="0" marL="0">
              <a:buNone/>
            </a:pPr>
            <a:r>
              <a:rPr lang="en-US" sz="1700" b="1" dirty="0">
                <a:solidFill>
                  <a:srgbClr val="132257"/>
                </a:solidFill>
                <a:latin typeface="Exo 2" pitchFamily="34" charset="0"/>
                <a:ea typeface="Exo 2" pitchFamily="34" charset="-122"/>
                <a:cs typeface="Exo 2" pitchFamily="34" charset="-120"/>
              </a:rPr>
              <a:t>23 Sep</a:t>
            </a:r>
            <a:endParaRPr lang="en-US" sz="1700" dirty="0"/>
          </a:p>
        </p:txBody>
      </p:sp>
      <p:sp>
        <p:nvSpPr>
          <p:cNvPr id="26" name="Text 20"/>
          <p:cNvSpPr txBox="1"/>
          <p:nvPr/>
        </p:nvSpPr>
        <p:spPr>
          <a:xfrm>
            <a:off x="5052060" y="2788920"/>
            <a:ext cx="2103120" cy="292608"/>
          </a:xfrm>
          <a:prstGeom prst="rect">
            <a:avLst/>
          </a:prstGeom>
          <a:noFill/>
          <a:ln/>
        </p:spPr>
        <p:txBody>
          <a:bodyPr wrap="square" lIns="0" tIns="0" rIns="0" bIns="0" rtlCol="0" anchor="t"/>
          <a:lstStyle/>
          <a:p>
            <a:pPr algn="ctr" indent="0" marL="0">
              <a:buNone/>
            </a:pPr>
            <a:r>
              <a:rPr lang="en-US" sz="1250" b="1" dirty="0">
                <a:solidFill>
                  <a:srgbClr val="132257"/>
                </a:solidFill>
                <a:latin typeface="Exo 2" pitchFamily="34" charset="0"/>
                <a:ea typeface="Exo 2" pitchFamily="34" charset="-122"/>
                <a:cs typeface="Exo 2" pitchFamily="34" charset="-120"/>
              </a:rPr>
              <a:t>Mention &amp; Win round</a:t>
            </a:r>
            <a:endParaRPr lang="en-US" sz="1250" dirty="0"/>
          </a:p>
        </p:txBody>
      </p:sp>
      <p:sp>
        <p:nvSpPr>
          <p:cNvPr id="27" name="Text 21"/>
          <p:cNvSpPr txBox="1"/>
          <p:nvPr/>
        </p:nvSpPr>
        <p:spPr>
          <a:xfrm>
            <a:off x="5097780" y="3118104"/>
            <a:ext cx="2011680" cy="54864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$500 prize, ahead of salary days</a:t>
            </a:r>
            <a:endParaRPr lang="en-US" sz="1050" dirty="0"/>
          </a:p>
        </p:txBody>
      </p:sp>
      <p:sp>
        <p:nvSpPr>
          <p:cNvPr id="28" name="Shape 22"/>
          <p:cNvSpPr/>
          <p:nvPr/>
        </p:nvSpPr>
        <p:spPr>
          <a:xfrm>
            <a:off x="8245602" y="2404872"/>
            <a:ext cx="219456" cy="219456"/>
          </a:xfrm>
          <a:prstGeom prst="ellipse">
            <a:avLst/>
          </a:prstGeom>
          <a:solidFill>
            <a:srgbClr val="FFFFFF"/>
          </a:solidFill>
          <a:ln w="25400">
            <a:solidFill>
              <a:srgbClr val="132257"/>
            </a:solidFill>
            <a:prstDash val="solid"/>
          </a:ln>
        </p:spPr>
      </p:sp>
      <p:sp>
        <p:nvSpPr>
          <p:cNvPr id="29" name="Text 23"/>
          <p:cNvSpPr txBox="1"/>
          <p:nvPr/>
        </p:nvSpPr>
        <p:spPr>
          <a:xfrm>
            <a:off x="7349490" y="1892808"/>
            <a:ext cx="2011680" cy="347472"/>
          </a:xfrm>
          <a:prstGeom prst="rect">
            <a:avLst/>
          </a:prstGeom>
          <a:noFill/>
          <a:ln/>
        </p:spPr>
        <p:txBody>
          <a:bodyPr wrap="square" lIns="0" tIns="0" rIns="0" bIns="0" rtlCol="0" anchor="t"/>
          <a:lstStyle/>
          <a:p>
            <a:pPr algn="ctr" indent="0" marL="0">
              <a:buNone/>
            </a:pPr>
            <a:r>
              <a:rPr lang="en-US" sz="1700" b="1" dirty="0">
                <a:solidFill>
                  <a:srgbClr val="132257"/>
                </a:solidFill>
                <a:latin typeface="Exo 2" pitchFamily="34" charset="0"/>
                <a:ea typeface="Exo 2" pitchFamily="34" charset="-122"/>
                <a:cs typeface="Exo 2" pitchFamily="34" charset="-120"/>
              </a:rPr>
              <a:t>20 Oct</a:t>
            </a:r>
            <a:endParaRPr lang="en-US" sz="1700" dirty="0"/>
          </a:p>
        </p:txBody>
      </p:sp>
      <p:sp>
        <p:nvSpPr>
          <p:cNvPr id="30" name="Text 24"/>
          <p:cNvSpPr txBox="1"/>
          <p:nvPr/>
        </p:nvSpPr>
        <p:spPr>
          <a:xfrm>
            <a:off x="7303770" y="2788920"/>
            <a:ext cx="2103120" cy="292608"/>
          </a:xfrm>
          <a:prstGeom prst="rect">
            <a:avLst/>
          </a:prstGeom>
          <a:noFill/>
          <a:ln/>
        </p:spPr>
        <p:txBody>
          <a:bodyPr wrap="square" lIns="0" tIns="0" rIns="0" bIns="0" rtlCol="0" anchor="t"/>
          <a:lstStyle/>
          <a:p>
            <a:pPr algn="ctr" indent="0" marL="0">
              <a:buNone/>
            </a:pPr>
            <a:r>
              <a:rPr lang="en-US" sz="1250" b="1" dirty="0">
                <a:solidFill>
                  <a:srgbClr val="132257"/>
                </a:solidFill>
                <a:latin typeface="Exo 2" pitchFamily="34" charset="0"/>
                <a:ea typeface="Exo 2" pitchFamily="34" charset="-122"/>
                <a:cs typeface="Exo 2" pitchFamily="34" charset="-120"/>
              </a:rPr>
              <a:t>Round closes</a:t>
            </a:r>
            <a:endParaRPr lang="en-US" sz="1250" dirty="0"/>
          </a:p>
        </p:txBody>
      </p:sp>
      <p:sp>
        <p:nvSpPr>
          <p:cNvPr id="31" name="Text 25"/>
          <p:cNvSpPr txBox="1"/>
          <p:nvPr/>
        </p:nvSpPr>
        <p:spPr>
          <a:xfrm>
            <a:off x="7349490" y="3118104"/>
            <a:ext cx="2011680" cy="54864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Proposed paid-media review</a:t>
            </a:r>
            <a:endParaRPr lang="en-US" sz="1050" dirty="0"/>
          </a:p>
        </p:txBody>
      </p:sp>
      <p:sp>
        <p:nvSpPr>
          <p:cNvPr id="32" name="Shape 26"/>
          <p:cNvSpPr/>
          <p:nvPr/>
        </p:nvSpPr>
        <p:spPr>
          <a:xfrm>
            <a:off x="10497312" y="2404872"/>
            <a:ext cx="219456" cy="219456"/>
          </a:xfrm>
          <a:prstGeom prst="ellipse">
            <a:avLst/>
          </a:prstGeom>
          <a:solidFill>
            <a:srgbClr val="FFFFFF"/>
          </a:solidFill>
          <a:ln w="25400">
            <a:solidFill>
              <a:srgbClr val="132257"/>
            </a:solidFill>
            <a:prstDash val="solid"/>
          </a:ln>
        </p:spPr>
      </p:sp>
      <p:sp>
        <p:nvSpPr>
          <p:cNvPr id="33" name="Text 27"/>
          <p:cNvSpPr txBox="1"/>
          <p:nvPr/>
        </p:nvSpPr>
        <p:spPr>
          <a:xfrm>
            <a:off x="9601200" y="1892808"/>
            <a:ext cx="2011680" cy="347472"/>
          </a:xfrm>
          <a:prstGeom prst="rect">
            <a:avLst/>
          </a:prstGeom>
          <a:noFill/>
          <a:ln/>
        </p:spPr>
        <p:txBody>
          <a:bodyPr wrap="square" lIns="0" tIns="0" rIns="0" bIns="0" rtlCol="0" anchor="t"/>
          <a:lstStyle/>
          <a:p>
            <a:pPr algn="ctr" indent="0" marL="0">
              <a:buNone/>
            </a:pPr>
            <a:r>
              <a:rPr lang="en-US" sz="1700" b="1" dirty="0">
                <a:solidFill>
                  <a:srgbClr val="132257"/>
                </a:solidFill>
                <a:latin typeface="Exo 2" pitchFamily="34" charset="0"/>
                <a:ea typeface="Exo 2" pitchFamily="34" charset="-122"/>
                <a:cs typeface="Exo 2" pitchFamily="34" charset="-120"/>
              </a:rPr>
              <a:t>22 Oct</a:t>
            </a:r>
            <a:endParaRPr lang="en-US" sz="1700" dirty="0"/>
          </a:p>
        </p:txBody>
      </p:sp>
      <p:sp>
        <p:nvSpPr>
          <p:cNvPr id="34" name="Text 28"/>
          <p:cNvSpPr txBox="1"/>
          <p:nvPr/>
        </p:nvSpPr>
        <p:spPr>
          <a:xfrm>
            <a:off x="9555480" y="2788920"/>
            <a:ext cx="2103120" cy="292608"/>
          </a:xfrm>
          <a:prstGeom prst="rect">
            <a:avLst/>
          </a:prstGeom>
          <a:noFill/>
          <a:ln/>
        </p:spPr>
        <p:txBody>
          <a:bodyPr wrap="square" lIns="0" tIns="0" rIns="0" bIns="0" rtlCol="0" anchor="t"/>
          <a:lstStyle/>
          <a:p>
            <a:pPr algn="ctr" indent="0" marL="0">
              <a:buNone/>
            </a:pPr>
            <a:r>
              <a:rPr lang="en-US" sz="1250" b="1" dirty="0">
                <a:solidFill>
                  <a:srgbClr val="132257"/>
                </a:solidFill>
                <a:latin typeface="Exo 2" pitchFamily="34" charset="0"/>
                <a:ea typeface="Exo 2" pitchFamily="34" charset="-122"/>
                <a:cs typeface="Exo 2" pitchFamily="34" charset="-120"/>
              </a:rPr>
              <a:t>Manal Talal video</a:t>
            </a:r>
            <a:endParaRPr lang="en-US" sz="1250" dirty="0"/>
          </a:p>
        </p:txBody>
      </p:sp>
      <p:sp>
        <p:nvSpPr>
          <p:cNvPr id="35" name="Text 29"/>
          <p:cNvSpPr txBox="1"/>
          <p:nvPr/>
        </p:nvSpPr>
        <p:spPr>
          <a:xfrm>
            <a:off x="9601200" y="3118104"/>
            <a:ext cx="2011680" cy="54864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October calendar date, in production</a:t>
            </a:r>
            <a:endParaRPr lang="en-US" sz="1050" dirty="0"/>
          </a:p>
        </p:txBody>
      </p:sp>
      <p:sp>
        <p:nvSpPr>
          <p:cNvPr id="36" name="Shape 30"/>
          <p:cNvSpPr/>
          <p:nvPr/>
        </p:nvSpPr>
        <p:spPr>
          <a:xfrm>
            <a:off x="1124712" y="3959352"/>
            <a:ext cx="2436876" cy="256032"/>
          </a:xfrm>
          <a:prstGeom prst="rect">
            <a:avLst/>
          </a:prstGeom>
          <a:solidFill>
            <a:srgbClr val="132257"/>
          </a:solidFill>
          <a:ln w="12700">
            <a:solidFill>
              <a:srgbClr val="132257"/>
            </a:solidFill>
            <a:prstDash val="solid"/>
          </a:ln>
        </p:spPr>
      </p:sp>
      <p:sp>
        <p:nvSpPr>
          <p:cNvPr id="37" name="Text 31"/>
          <p:cNvSpPr txBox="1"/>
          <p:nvPr/>
        </p:nvSpPr>
        <p:spPr>
          <a:xfrm>
            <a:off x="1097280" y="3959352"/>
            <a:ext cx="24917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Exo 2" pitchFamily="34" charset="0"/>
                <a:ea typeface="Exo 2" pitchFamily="34" charset="-122"/>
                <a:cs typeface="Exo 2" pitchFamily="34" charset="-120"/>
              </a:rPr>
              <a:t>SEPTEMBER</a:t>
            </a:r>
            <a:endParaRPr lang="en-US" sz="900" dirty="0"/>
          </a:p>
        </p:txBody>
      </p:sp>
      <p:sp>
        <p:nvSpPr>
          <p:cNvPr id="38" name="Shape 32"/>
          <p:cNvSpPr/>
          <p:nvPr/>
        </p:nvSpPr>
        <p:spPr>
          <a:xfrm>
            <a:off x="3616452" y="3959352"/>
            <a:ext cx="2436876" cy="256032"/>
          </a:xfrm>
          <a:prstGeom prst="rect">
            <a:avLst/>
          </a:prstGeom>
          <a:solidFill>
            <a:srgbClr val="132257"/>
          </a:solidFill>
          <a:ln w="12700">
            <a:solidFill>
              <a:srgbClr val="132257"/>
            </a:solidFill>
            <a:prstDash val="solid"/>
          </a:ln>
        </p:spPr>
      </p:sp>
      <p:sp>
        <p:nvSpPr>
          <p:cNvPr id="39" name="Text 33"/>
          <p:cNvSpPr txBox="1"/>
          <p:nvPr/>
        </p:nvSpPr>
        <p:spPr>
          <a:xfrm>
            <a:off x="3589020" y="3959352"/>
            <a:ext cx="24917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Exo 2" pitchFamily="34" charset="0"/>
                <a:ea typeface="Exo 2" pitchFamily="34" charset="-122"/>
                <a:cs typeface="Exo 2" pitchFamily="34" charset="-120"/>
              </a:rPr>
              <a:t>OCTOBER</a:t>
            </a:r>
            <a:endParaRPr lang="en-US" sz="900" dirty="0"/>
          </a:p>
        </p:txBody>
      </p:sp>
      <p:sp>
        <p:nvSpPr>
          <p:cNvPr id="40" name="Shape 34"/>
          <p:cNvSpPr/>
          <p:nvPr/>
        </p:nvSpPr>
        <p:spPr>
          <a:xfrm>
            <a:off x="3589020" y="4251960"/>
            <a:ext cx="0" cy="1005840"/>
          </a:xfrm>
          <a:prstGeom prst="line">
            <a:avLst/>
          </a:prstGeom>
          <a:noFill/>
          <a:ln w="9525">
            <a:solidFill>
              <a:srgbClr val="D9DFEA"/>
            </a:solidFill>
            <a:prstDash val="solid"/>
          </a:ln>
        </p:spPr>
      </p:sp>
      <p:sp>
        <p:nvSpPr>
          <p:cNvPr id="41" name="Shape 35"/>
          <p:cNvSpPr/>
          <p:nvPr/>
        </p:nvSpPr>
        <p:spPr>
          <a:xfrm>
            <a:off x="6108192" y="3959352"/>
            <a:ext cx="2436876" cy="256032"/>
          </a:xfrm>
          <a:prstGeom prst="rect">
            <a:avLst/>
          </a:prstGeom>
          <a:solidFill>
            <a:srgbClr val="132257"/>
          </a:solidFill>
          <a:ln w="12700">
            <a:solidFill>
              <a:srgbClr val="132257"/>
            </a:solidFill>
            <a:prstDash val="solid"/>
          </a:ln>
        </p:spPr>
      </p:sp>
      <p:sp>
        <p:nvSpPr>
          <p:cNvPr id="42" name="Text 36"/>
          <p:cNvSpPr txBox="1"/>
          <p:nvPr/>
        </p:nvSpPr>
        <p:spPr>
          <a:xfrm>
            <a:off x="6080760" y="3959352"/>
            <a:ext cx="24917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Exo 2" pitchFamily="34" charset="0"/>
                <a:ea typeface="Exo 2" pitchFamily="34" charset="-122"/>
                <a:cs typeface="Exo 2" pitchFamily="34" charset="-120"/>
              </a:rPr>
              <a:t>NOVEMBER</a:t>
            </a:r>
            <a:endParaRPr lang="en-US" sz="900" dirty="0"/>
          </a:p>
        </p:txBody>
      </p:sp>
      <p:sp>
        <p:nvSpPr>
          <p:cNvPr id="43" name="Shape 37"/>
          <p:cNvSpPr/>
          <p:nvPr/>
        </p:nvSpPr>
        <p:spPr>
          <a:xfrm>
            <a:off x="6080760" y="4251960"/>
            <a:ext cx="0" cy="1005840"/>
          </a:xfrm>
          <a:prstGeom prst="line">
            <a:avLst/>
          </a:prstGeom>
          <a:noFill/>
          <a:ln w="9525">
            <a:solidFill>
              <a:srgbClr val="D9DFEA"/>
            </a:solidFill>
            <a:prstDash val="solid"/>
          </a:ln>
        </p:spPr>
      </p:sp>
      <p:sp>
        <p:nvSpPr>
          <p:cNvPr id="44" name="Shape 38"/>
          <p:cNvSpPr/>
          <p:nvPr/>
        </p:nvSpPr>
        <p:spPr>
          <a:xfrm>
            <a:off x="8599932" y="3959352"/>
            <a:ext cx="2436876" cy="256032"/>
          </a:xfrm>
          <a:prstGeom prst="rect">
            <a:avLst/>
          </a:prstGeom>
          <a:solidFill>
            <a:srgbClr val="132257"/>
          </a:solidFill>
          <a:ln w="12700">
            <a:solidFill>
              <a:srgbClr val="132257"/>
            </a:solidFill>
            <a:prstDash val="solid"/>
          </a:ln>
        </p:spPr>
      </p:sp>
      <p:sp>
        <p:nvSpPr>
          <p:cNvPr id="45" name="Text 39"/>
          <p:cNvSpPr txBox="1"/>
          <p:nvPr/>
        </p:nvSpPr>
        <p:spPr>
          <a:xfrm>
            <a:off x="8572500" y="3959352"/>
            <a:ext cx="2491740" cy="256032"/>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Exo 2" pitchFamily="34" charset="0"/>
                <a:ea typeface="Exo 2" pitchFamily="34" charset="-122"/>
                <a:cs typeface="Exo 2" pitchFamily="34" charset="-120"/>
              </a:rPr>
              <a:t>DECEMBER</a:t>
            </a:r>
            <a:endParaRPr lang="en-US" sz="900" dirty="0"/>
          </a:p>
        </p:txBody>
      </p:sp>
      <p:sp>
        <p:nvSpPr>
          <p:cNvPr id="46" name="Shape 40"/>
          <p:cNvSpPr/>
          <p:nvPr/>
        </p:nvSpPr>
        <p:spPr>
          <a:xfrm>
            <a:off x="8572500" y="4251960"/>
            <a:ext cx="0" cy="1005840"/>
          </a:xfrm>
          <a:prstGeom prst="line">
            <a:avLst/>
          </a:prstGeom>
          <a:noFill/>
          <a:ln w="9525">
            <a:solidFill>
              <a:srgbClr val="D9DFEA"/>
            </a:solidFill>
            <a:prstDash val="solid"/>
          </a:ln>
        </p:spPr>
      </p:sp>
      <p:sp>
        <p:nvSpPr>
          <p:cNvPr id="47" name="Shape 41"/>
          <p:cNvSpPr/>
          <p:nvPr/>
        </p:nvSpPr>
        <p:spPr>
          <a:xfrm>
            <a:off x="2841498" y="4343400"/>
            <a:ext cx="8222742" cy="329184"/>
          </a:xfrm>
          <a:prstGeom prst="rect">
            <a:avLst/>
          </a:prstGeom>
          <a:solidFill>
            <a:srgbClr val="D4AF37"/>
          </a:solidFill>
          <a:ln w="12700">
            <a:solidFill>
              <a:srgbClr val="D4AF37"/>
            </a:solidFill>
            <a:prstDash val="solid"/>
          </a:ln>
        </p:spPr>
      </p:sp>
      <p:sp>
        <p:nvSpPr>
          <p:cNvPr id="48" name="Text 42"/>
          <p:cNvSpPr txBox="1"/>
          <p:nvPr/>
        </p:nvSpPr>
        <p:spPr>
          <a:xfrm>
            <a:off x="2978658" y="4343400"/>
            <a:ext cx="7315200" cy="329184"/>
          </a:xfrm>
          <a:prstGeom prst="rect">
            <a:avLst/>
          </a:prstGeom>
          <a:noFill/>
          <a:ln/>
        </p:spPr>
        <p:txBody>
          <a:bodyPr wrap="square" lIns="0" tIns="0" rIns="0" bIns="0" rtlCol="0" anchor="ctr"/>
          <a:lstStyle/>
          <a:p>
            <a:pPr indent="0" marL="0">
              <a:buNone/>
            </a:pPr>
            <a:r>
              <a:rPr lang="en-US" sz="1050" b="1" dirty="0">
                <a:solidFill>
                  <a:srgbClr val="132257"/>
                </a:solidFill>
                <a:latin typeface="Exo 2" pitchFamily="34" charset="0"/>
                <a:ea typeface="Exo 2" pitchFamily="34" charset="-122"/>
                <a:cs typeface="Exo 2" pitchFamily="34" charset="-120"/>
              </a:rPr>
              <a:t>Paid media: test from 22 Sep, then scale to December ($30,000, Board plan)</a:t>
            </a:r>
            <a:endParaRPr lang="en-US" sz="1050" dirty="0"/>
          </a:p>
        </p:txBody>
      </p:sp>
      <p:sp>
        <p:nvSpPr>
          <p:cNvPr id="49" name="Shape 43"/>
          <p:cNvSpPr/>
          <p:nvPr/>
        </p:nvSpPr>
        <p:spPr>
          <a:xfrm>
            <a:off x="2924556" y="4818888"/>
            <a:ext cx="2272038" cy="329184"/>
          </a:xfrm>
          <a:prstGeom prst="rect">
            <a:avLst/>
          </a:prstGeom>
          <a:solidFill>
            <a:srgbClr val="132257"/>
          </a:solidFill>
          <a:ln w="12700">
            <a:solidFill>
              <a:srgbClr val="132257"/>
            </a:solidFill>
            <a:prstDash val="solid"/>
          </a:ln>
        </p:spPr>
      </p:sp>
      <p:sp>
        <p:nvSpPr>
          <p:cNvPr id="50" name="Text 44"/>
          <p:cNvSpPr txBox="1"/>
          <p:nvPr/>
        </p:nvSpPr>
        <p:spPr>
          <a:xfrm>
            <a:off x="3061716" y="4818888"/>
            <a:ext cx="2743200" cy="329184"/>
          </a:xfrm>
          <a:prstGeom prst="rect">
            <a:avLst/>
          </a:prstGeom>
          <a:noFill/>
          <a:ln/>
        </p:spPr>
        <p:txBody>
          <a:bodyPr wrap="square" lIns="0" tIns="0" rIns="0" bIns="0" rtlCol="0" anchor="ctr"/>
          <a:lstStyle/>
          <a:p>
            <a:pPr indent="0" marL="0">
              <a:buNone/>
            </a:pPr>
            <a:r>
              <a:rPr lang="en-US" sz="1050" b="1" dirty="0">
                <a:solidFill>
                  <a:srgbClr val="FFFFFF"/>
                </a:solidFill>
                <a:latin typeface="Exo 2" pitchFamily="34" charset="0"/>
                <a:ea typeface="Exo 2" pitchFamily="34" charset="-122"/>
                <a:cs typeface="Exo 2" pitchFamily="34" charset="-120"/>
              </a:rPr>
              <a:t>Mention &amp; Win round</a:t>
            </a:r>
            <a:endParaRPr lang="en-US" sz="1050" dirty="0"/>
          </a:p>
        </p:txBody>
      </p:sp>
      <p:sp>
        <p:nvSpPr>
          <p:cNvPr id="51" name="Shape 45"/>
          <p:cNvSpPr/>
          <p:nvPr/>
        </p:nvSpPr>
        <p:spPr>
          <a:xfrm>
            <a:off x="6190488" y="4901184"/>
            <a:ext cx="164592" cy="164592"/>
          </a:xfrm>
          <a:prstGeom prst="ellipse">
            <a:avLst/>
          </a:prstGeom>
          <a:solidFill>
            <a:srgbClr val="FFFFFF"/>
          </a:solidFill>
          <a:ln w="19050">
            <a:solidFill>
              <a:srgbClr val="7A849C"/>
            </a:solidFill>
            <a:prstDash val="solid"/>
          </a:ln>
        </p:spPr>
      </p:sp>
      <p:sp>
        <p:nvSpPr>
          <p:cNvPr id="52" name="Text 46"/>
          <p:cNvSpPr txBox="1"/>
          <p:nvPr/>
        </p:nvSpPr>
        <p:spPr>
          <a:xfrm>
            <a:off x="6446520" y="4818888"/>
            <a:ext cx="2194560" cy="329184"/>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Hamed Al Bloushi video (scheduled)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PAID MEDIA LAUNCH</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and LinkedIn Ads are in testing against Board CAC targets; only Google has results so far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plan and targets are set. What is missing is spend and conversion data, which Ignite must supply before 20 October.</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Board update 17 Sep 2026 (segments, CAC targets, $30,000 split); GA4 Google Ads campaigns export 1-28 Sep 2026. Residents-only rule per management.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7406640" cy="914400"/>
        </p:xfrm>
        <a:graphic>
          <a:graphicData uri="http://schemas.openxmlformats.org/drawingml/2006/table">
            <a:tbl>
              <a:tblPr/>
              <a:tblGrid>
                <a:gridCol w="1234440"/>
                <a:gridCol w="3200400"/>
                <a:gridCol w="2971800"/>
              </a:tblGrid>
              <a:tr h="384048">
                <a:tc>
                  <a:txBody>
                    <a:bodyPr/>
                    <a:lstStyle/>
                    <a:p>
                      <a:pPr indent="0" marL="0">
                        <a:buNone/>
                      </a:pPr>
                      <a:endParaRPr lang="en-US" sz="1200" dirty="0">
                        <a:latin typeface="Exo 2" charset="0"/>
                        <a:ea typeface="Exo 2" charset="0"/>
                        <a:cs typeface="Exo 2" charset="0"/>
                      </a:endParaRPr>
                    </a:p>
                  </a:txBody>
                  <a:tcPr marL="76200" marR="762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Google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LinkedIn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Audience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Starter (under $1K) and Emerging ($1K-5K)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Affluent ($5K-50K)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Objective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Website conversions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Leads, then in-person meeting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Markets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Saudi Arabia first; Qatar, UAE, Kuwait, Bahrain, Oman in plan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Phase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Testing since 22 September; scale phase follows (Board runway)</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Target CAC</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$167 Starter  |  $417 Emerging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$882 Affluent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Evidence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409 sessions, 400 key events (GA4, 1-28 Sep)</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None yet; lead forms stay on LinkedIn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Next read-out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spend, cost per key event, accounts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leads, cost per lead, meetings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6" name="Chart 0" descr=""/>
          <p:cNvGraphicFramePr/>
          <p:nvPr/>
        </p:nvGraphicFramePr>
        <p:xfrm>
          <a:off x="8229600" y="1508760"/>
          <a:ext cx="3401568" cy="402336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PAID-MEDIA EVIDENCE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Active users reached 384 in the week of 21-27 September, a reported 793% rise as paid testing began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rise lines up with the paid launch, and paid search is the first source for 74% of September users. The 793% stays 'reported' for now.</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home card, last 7 days (21-27 Sep) vs previous 7 days; GA4 Reports snapshot export, 1-28 Sep 2026. Prior-week value implied from GA's own % change.</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508760"/>
          <a:ext cx="4754880" cy="3017520"/>
        </p:xfrm>
        <a:graphic xmlns:a="http://schemas.openxmlformats.org/drawingml/2006/main">
          <a:graphicData uri="http://schemas.openxmlformats.org/drawingml/2006/chart">
            <c:chart xmlns:c="http://schemas.openxmlformats.org/drawingml/2006/chart" r:id="rId4"/>
          </a:graphicData>
        </a:graphic>
      </p:graphicFrame>
      <p:sp>
        <p:nvSpPr>
          <p:cNvPr id="16" name="Text 9"/>
          <p:cNvSpPr txBox="1"/>
          <p:nvPr/>
        </p:nvSpPr>
        <p:spPr>
          <a:xfrm>
            <a:off x="566928" y="4617720"/>
            <a:ext cx="5120640" cy="411480"/>
          </a:xfrm>
          <a:prstGeom prst="rect">
            <a:avLst/>
          </a:prstGeom>
          <a:noFill/>
          <a:ln/>
        </p:spPr>
        <p:txBody>
          <a:bodyPr wrap="square" lIns="0" tIns="0" rIns="0" bIns="0" rtlCol="0" anchor="ctr"/>
          <a:lstStyle/>
          <a:p>
            <a:pPr indent="0" marL="0">
              <a:buNone/>
            </a:pPr>
            <a:r>
              <a:rPr lang="en-US" sz="2200" b="1" dirty="0">
                <a:solidFill>
                  <a:srgbClr val="1BA97C"/>
                </a:solidFill>
                <a:latin typeface="Exo 2" pitchFamily="34" charset="0"/>
                <a:ea typeface="Exo 2" pitchFamily="34" charset="-122"/>
                <a:cs typeface="Exo 2" pitchFamily="34" charset="-120"/>
              </a:rPr>
              <a:t>+793%   </a:t>
            </a:r>
            <a:pPr indent="0" marL="0">
              <a:buNone/>
            </a:pPr>
            <a:r>
              <a:rPr lang="en-US" sz="1150" b="1" dirty="0">
                <a:solidFill>
                  <a:srgbClr val="132257"/>
                </a:solidFill>
                <a:latin typeface="Exo 2" pitchFamily="34" charset="0"/>
                <a:ea typeface="Exo 2" pitchFamily="34" charset="-122"/>
                <a:cs typeface="Exo 2" pitchFamily="34" charset="-120"/>
              </a:rPr>
              <a:t>Reported increase; calculation pending verification</a:t>
            </a:r>
            <a:endParaRPr lang="en-US" sz="2200" dirty="0"/>
          </a:p>
        </p:txBody>
      </p:sp>
      <p:sp>
        <p:nvSpPr>
          <p:cNvPr id="17" name="Text 10"/>
          <p:cNvSpPr txBox="1"/>
          <p:nvPr/>
        </p:nvSpPr>
        <p:spPr>
          <a:xfrm>
            <a:off x="566928" y="5074920"/>
            <a:ext cx="4937760" cy="411480"/>
          </a:xfrm>
          <a:prstGeom prst="rect">
            <a:avLst/>
          </a:prstGeom>
          <a:noFill/>
          <a:ln/>
        </p:spPr>
        <p:txBody>
          <a:bodyPr wrap="square" lIns="0" tIns="0" rIns="0" bIns="0" rtlCol="0" anchor="t"/>
          <a:lstStyle/>
          <a:p>
            <a:pPr indent="0" marL="0">
              <a:buNone/>
            </a:pPr>
            <a:r>
              <a:rPr lang="en-US" sz="1050" dirty="0">
                <a:solidFill>
                  <a:srgbClr val="7A849C"/>
                </a:solidFill>
                <a:latin typeface="Exo 2" pitchFamily="34" charset="0"/>
                <a:ea typeface="Exo 2" pitchFamily="34" charset="-122"/>
                <a:cs typeface="Exo 2" pitchFamily="34" charset="-120"/>
              </a:rPr>
              <a:t>Prior week of about 43 users is implied by GA's % change; it is not in the export.</a:t>
            </a:r>
            <a:endParaRPr lang="en-US" sz="1050" dirty="0"/>
          </a:p>
        </p:txBody>
      </p:sp>
      <p:pic>
        <p:nvPicPr>
          <p:cNvPr id="18" name="Image 3" descr="/home/user/HatemIsa_202508993_IT9002_NLP_Project/emyaa-ceo-deck/working/charts/ga_panel.png">    </p:cNvPr>
          <p:cNvPicPr>
            <a:picLocks noChangeAspect="1"/>
          </p:cNvPicPr>
          <p:nvPr/>
        </p:nvPicPr>
        <p:blipFill>
          <a:blip r:embed="rId5"/>
          <a:stretch>
            <a:fillRect/>
          </a:stretch>
        </p:blipFill>
        <p:spPr>
          <a:xfrm>
            <a:off x="5989320" y="1554480"/>
            <a:ext cx="5641848" cy="3621024"/>
          </a:xfrm>
          <a:prstGeom prst="rect">
            <a:avLst/>
          </a:prstGeom>
        </p:spPr>
      </p:pic>
      <p:sp>
        <p:nvSpPr>
          <p:cNvPr id="19" name="Text 11"/>
          <p:cNvSpPr txBox="1"/>
          <p:nvPr/>
        </p:nvSpPr>
        <p:spPr>
          <a:xfrm>
            <a:off x="5989320" y="5257800"/>
            <a:ext cx="5641848" cy="274320"/>
          </a:xfrm>
          <a:prstGeom prst="rect">
            <a:avLst/>
          </a:prstGeom>
          <a:noFill/>
          <a:ln/>
        </p:spPr>
        <p:txBody>
          <a:bodyPr wrap="square" lIns="0" tIns="0" rIns="0" bIns="0" rtlCol="0" anchor="t"/>
          <a:lstStyle/>
          <a:p>
            <a:pPr indent="0" marL="0">
              <a:buNone/>
            </a:pPr>
            <a:r>
              <a:rPr lang="en-US" sz="950" i="1" dirty="0">
                <a:solidFill>
                  <a:srgbClr val="7A849C"/>
                </a:solidFill>
                <a:latin typeface="Exo 2" pitchFamily="34" charset="0"/>
                <a:ea typeface="Exo 2" pitchFamily="34" charset="-122"/>
                <a:cs typeface="Exo 2" pitchFamily="34" charset="-120"/>
              </a:rPr>
              <a:t>GA4 home card as captured. The line plots event count, not users.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SOCIAL AND CONTENT PERFORMANCE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Instagram reach sits in three posts; other channels have screenshots but no September exports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Two presenter-led reels and one campaign graphic carry the views. Other posts are under 600, so reach depends on a few assets.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(capture date and boost spend unknown); GA4 export 1-28 Sep; LinkedIn export 31 May-28 Aug; X and TikTok from the Performance Analysis deck (screenshots).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481328"/>
          <a:ext cx="5669280" cy="4069080"/>
        </p:xfrm>
        <a:graphic xmlns:a="http://schemas.openxmlformats.org/drawingml/2006/main">
          <a:graphicData uri="http://schemas.openxmlformats.org/drawingml/2006/chart">
            <c:chart xmlns:c="http://schemas.openxmlformats.org/drawingml/2006/chart" r:id="rId4"/>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536192"/>
          <a:ext cx="5138928" cy="914400"/>
        </p:xfrm>
        <a:graphic>
          <a:graphicData uri="http://schemas.openxmlformats.org/drawingml/2006/table">
            <a:tbl>
              <a:tblPr/>
              <a:tblGrid>
                <a:gridCol w="868680"/>
                <a:gridCol w="2148840"/>
                <a:gridCol w="1024128"/>
                <a:gridCol w="1097280"/>
              </a:tblGrid>
              <a:tr h="512064">
                <a:tc>
                  <a:txBody>
                    <a:bodyPr/>
                    <a:lstStyle/>
                    <a:p>
                      <a:pPr indent="0" marL="0">
                        <a:buNone/>
                      </a:pPr>
                      <a:r>
                        <a:rPr lang="en-US" sz="1050" b="1" dirty="0">
                          <a:solidFill>
                            <a:srgbClr val="FFFFFF"/>
                          </a:solidFill>
                          <a:latin typeface="Exo 2" pitchFamily="34" charset="0"/>
                          <a:ea typeface="Exo 2" pitchFamily="34" charset="-122"/>
                          <a:cs typeface="Exo 2" pitchFamily="34" charset="-120"/>
                        </a:rPr>
                        <a:t>Channel</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Latest figure</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Period</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0" cap="flat" cmpd="sng" algn="ctr">
                      <a:noFill/>
                    </a:lnB>
                    <a:solidFill>
                      <a:srgbClr val="132257"/>
                    </a:solidFill>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Website</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587 sessions; 11 from Instagram</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1-28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BA97C"/>
                          </a:solidFill>
                          <a:latin typeface="Exo 2" pitchFamily="34" charset="0"/>
                          <a:ea typeface="Exo 2" pitchFamily="34" charset="-122"/>
                          <a:cs typeface="Exo 2" pitchFamily="34" charset="-120"/>
                        </a:rPr>
                        <a:t>● </a:t>
                      </a:r>
                      <a:pPr indent="0" marL="0">
                        <a:buNone/>
                      </a:pPr>
                      <a:r>
                        <a:rPr lang="en-US" sz="1000" b="1" dirty="0">
                          <a:solidFill>
                            <a:srgbClr val="1BA97C"/>
                          </a:solidFill>
                          <a:latin typeface="Exo 2" pitchFamily="34" charset="0"/>
                          <a:ea typeface="Exo 2" pitchFamily="34" charset="-122"/>
                          <a:cs typeface="Exo 2" pitchFamily="34" charset="-120"/>
                        </a:rPr>
                        <a:t>Verified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Instagram</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2,116 followers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LinkedIn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531 followers; 247 new vs 4 prior (+6,075% new)</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30 days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C53030"/>
                          </a:solidFill>
                          <a:latin typeface="Exo 2" pitchFamily="34" charset="0"/>
                          <a:ea typeface="Exo 2" pitchFamily="34" charset="-122"/>
                          <a:cs typeface="Exo 2" pitchFamily="34" charset="-120"/>
                        </a:rPr>
                        <a:t>● </a:t>
                      </a:r>
                      <a:pPr indent="0" marL="0">
                        <a:buNone/>
                      </a:pPr>
                      <a:r>
                        <a:rPr lang="en-US" sz="1000" b="1" dirty="0">
                          <a:solidFill>
                            <a:srgbClr val="C53030"/>
                          </a:solidFill>
                          <a:latin typeface="Exo 2" pitchFamily="34" charset="0"/>
                          <a:ea typeface="Exo 2" pitchFamily="34" charset="-122"/>
                          <a:cs typeface="Exo 2" pitchFamily="34" charset="-120"/>
                        </a:rPr>
                        <a:t>Conflicting</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LinkedIn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559 impressions, +118%</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13-27 Sep vs prior</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X</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738 followers, 99 posts; 96.4% Bahrain</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512064">
                <a:tc>
                  <a:txBody>
                    <a:bodyPr/>
                    <a:lstStyle/>
                    <a:p>
                      <a:pPr indent="0" marL="0">
                        <a:buNone/>
                      </a:pPr>
                      <a:r>
                        <a:rPr lang="en-US" sz="1000" dirty="0">
                          <a:solidFill>
                            <a:srgbClr val="1F2A44"/>
                          </a:solidFill>
                          <a:latin typeface="Exo 2" pitchFamily="34" charset="0"/>
                          <a:ea typeface="Exo 2" pitchFamily="34" charset="-122"/>
                          <a:cs typeface="Exo 2" pitchFamily="34" charset="-120"/>
                        </a:rPr>
                        <a:t>TikTok</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15 followers, 176 likes</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1F2A44"/>
                          </a:solidFill>
                          <a:latin typeface="Exo 2" pitchFamily="34" charset="0"/>
                          <a:ea typeface="Exo 2" pitchFamily="34" charset="-122"/>
                          <a:cs typeface="Exo 2" pitchFamily="34" charset="-120"/>
                        </a:rPr>
                        <a:t>Late Sep</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00" dirty="0">
                          <a:solidFill>
                            <a:srgbClr val="9A7B1F"/>
                          </a:solidFill>
                          <a:latin typeface="Exo 2" pitchFamily="34" charset="0"/>
                          <a:ea typeface="Exo 2" pitchFamily="34" charset="-122"/>
                          <a:cs typeface="Exo 2" pitchFamily="34" charset="-120"/>
                        </a:rPr>
                        <a:t>● </a:t>
                      </a:r>
                      <a:pPr indent="0" marL="0">
                        <a:buNone/>
                      </a:pPr>
                      <a:r>
                        <a:rPr lang="en-US" sz="1000" b="1" dirty="0">
                          <a:solidFill>
                            <a:srgbClr val="9A7B1F"/>
                          </a:solidFill>
                          <a:latin typeface="Exo 2" pitchFamily="34" charset="0"/>
                          <a:ea typeface="Exo 2" pitchFamily="34" charset="-122"/>
                          <a:cs typeface="Exo 2" pitchFamily="34" charset="-120"/>
                        </a:rPr>
                        <a:t>Reported</a:t>
                      </a:r>
                      <a:endParaRPr lang="en-US" sz="1000" dirty="0">
                        <a:latin typeface="Exo 2" charset="0"/>
                        <a:ea typeface="Exo 2" charset="0"/>
                        <a:cs typeface="Exo 2" charset="0"/>
                      </a:endParaRPr>
                    </a:p>
                  </a:txBody>
                  <a:tcPr marL="50800" marR="508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
        <p:nvSpPr>
          <p:cNvPr id="17" name="Text 9"/>
          <p:cNvSpPr txBox="1"/>
          <p:nvPr/>
        </p:nvSpPr>
        <p:spPr>
          <a:xfrm>
            <a:off x="6492240" y="5230368"/>
            <a:ext cx="5138928" cy="320040"/>
          </a:xfrm>
          <a:prstGeom prst="rect">
            <a:avLst/>
          </a:prstGeom>
          <a:noFill/>
          <a:ln/>
        </p:spPr>
        <p:txBody>
          <a:bodyPr wrap="square" lIns="0" tIns="0" rIns="0" bIns="0" rtlCol="0" anchor="t"/>
          <a:lstStyle/>
          <a:p>
            <a:pPr indent="0" marL="0">
              <a:buNone/>
            </a:pPr>
            <a:r>
              <a:rPr lang="en-US" sz="900" i="1" dirty="0">
                <a:solidFill>
                  <a:srgbClr val="7A849C"/>
                </a:solidFill>
                <a:latin typeface="Exo 2" pitchFamily="34" charset="0"/>
                <a:ea typeface="Exo 2" pitchFamily="34" charset="-122"/>
                <a:cs typeface="Exo 2" pitchFamily="34" charset="-120"/>
              </a:rPr>
              <a:t>LinkedIn total also appears as 586 in an earlier count; export ends 28 Aug.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CAMPAIGN PERFORMANCE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Mention &amp; Win is a monthly $500 contest; the $5,000 Prize Campaign is a separate, larger campaign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Report the two separately. Mention &amp; Win needs sign-up results per round; the $5,000 campaign still needs its T&amp;C sign-off on file.</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24F campaign briefing; $5,000 campaign approval checklist (20 Jul 2026); raffle T&amp;Cs; Board update 17 Sep 2026 (budget).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8</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508760"/>
            <a:ext cx="5394960"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Mention &amp; Win   </a:t>
            </a:r>
            <a:pPr indent="0" marL="0">
              <a:buNone/>
            </a:pPr>
            <a:r>
              <a:rPr lang="en-US" sz="1100" b="1" dirty="0">
                <a:solidFill>
                  <a:srgbClr val="1BA97C"/>
                </a:solidFill>
                <a:latin typeface="Exo 2" pitchFamily="34" charset="0"/>
                <a:ea typeface="Exo 2" pitchFamily="34" charset="-122"/>
                <a:cs typeface="Exo 2" pitchFamily="34" charset="-120"/>
              </a:rPr>
              <a:t>● Live, monthly</a:t>
            </a:r>
            <a:endParaRPr lang="en-US" sz="1600" dirty="0"/>
          </a:p>
        </p:txBody>
      </p:sp>
      <p:pic>
        <p:nvPicPr>
          <p:cNvPr id="16" name="Image 3" descr="/home/user/HatemIsa_202508993_IT9002_NLP_Project/emyaa-ceo-deck/working/charts/tile_mw_mention.png">    </p:cNvPr>
          <p:cNvPicPr>
            <a:picLocks noChangeAspect="1"/>
          </p:cNvPicPr>
          <p:nvPr/>
        </p:nvPicPr>
        <p:blipFill>
          <a:blip r:embed="rId4"/>
          <a:stretch>
            <a:fillRect/>
          </a:stretch>
        </p:blipFill>
        <p:spPr>
          <a:xfrm>
            <a:off x="566928" y="1965960"/>
            <a:ext cx="1188720" cy="1856232"/>
          </a:xfrm>
          <a:prstGeom prst="rect">
            <a:avLst/>
          </a:prstGeom>
        </p:spPr>
      </p:pic>
      <p:pic>
        <p:nvPicPr>
          <p:cNvPr id="17" name="Image 4" descr="/home/user/HatemIsa_202508993_IT9002_NLP_Project/emyaa-ceo-deck/working/charts/tile_mw_account.png">    </p:cNvPr>
          <p:cNvPicPr>
            <a:picLocks noChangeAspect="1"/>
          </p:cNvPicPr>
          <p:nvPr/>
        </p:nvPicPr>
        <p:blipFill>
          <a:blip r:embed="rId5"/>
          <a:stretch>
            <a:fillRect/>
          </a:stretch>
        </p:blipFill>
        <p:spPr>
          <a:xfrm>
            <a:off x="1892808" y="1965960"/>
            <a:ext cx="1188720" cy="1856232"/>
          </a:xfrm>
          <a:prstGeom prst="rect">
            <a:avLst/>
          </a:prstGeom>
        </p:spPr>
      </p:pic>
      <p:sp>
        <p:nvSpPr>
          <p:cNvPr id="18" name="Text 10"/>
          <p:cNvSpPr txBox="1"/>
          <p:nvPr/>
        </p:nvSpPr>
        <p:spPr>
          <a:xfrm>
            <a:off x="56692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186K views</a:t>
            </a:r>
            <a:endParaRPr lang="en-US" sz="1050" dirty="0"/>
          </a:p>
        </p:txBody>
      </p:sp>
      <p:sp>
        <p:nvSpPr>
          <p:cNvPr id="19" name="Text 11"/>
          <p:cNvSpPr txBox="1"/>
          <p:nvPr/>
        </p:nvSpPr>
        <p:spPr>
          <a:xfrm>
            <a:off x="189280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26.3K views</a:t>
            </a:r>
            <a:endParaRPr lang="en-US" sz="1050" dirty="0"/>
          </a:p>
        </p:txBody>
      </p:sp>
      <p:sp>
        <p:nvSpPr>
          <p:cNvPr id="20" name="Text 12"/>
          <p:cNvSpPr txBox="1"/>
          <p:nvPr/>
        </p:nvSpPr>
        <p:spPr>
          <a:xfrm>
            <a:off x="3310128" y="19659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Round</a:t>
            </a:r>
            <a:endParaRPr lang="en-US" sz="1050" dirty="0"/>
          </a:p>
        </p:txBody>
      </p:sp>
      <p:sp>
        <p:nvSpPr>
          <p:cNvPr id="21" name="Text 13"/>
          <p:cNvSpPr txBox="1"/>
          <p:nvPr/>
        </p:nvSpPr>
        <p:spPr>
          <a:xfrm>
            <a:off x="4224528" y="19659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23 Sep to 20 Oct (per team)</a:t>
            </a:r>
            <a:endParaRPr lang="en-US" sz="1050" dirty="0"/>
          </a:p>
        </p:txBody>
      </p:sp>
      <p:sp>
        <p:nvSpPr>
          <p:cNvPr id="22" name="Text 14"/>
          <p:cNvSpPr txBox="1"/>
          <p:nvPr/>
        </p:nvSpPr>
        <p:spPr>
          <a:xfrm>
            <a:off x="3310128" y="24231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23" name="Text 15"/>
          <p:cNvSpPr txBox="1"/>
          <p:nvPr/>
        </p:nvSpPr>
        <p:spPr>
          <a:xfrm>
            <a:off x="4224528" y="24231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Follow, mention, open an account</a:t>
            </a:r>
            <a:endParaRPr lang="en-US" sz="1050" dirty="0"/>
          </a:p>
        </p:txBody>
      </p:sp>
      <p:sp>
        <p:nvSpPr>
          <p:cNvPr id="24" name="Text 16"/>
          <p:cNvSpPr txBox="1"/>
          <p:nvPr/>
        </p:nvSpPr>
        <p:spPr>
          <a:xfrm>
            <a:off x="3310128" y="28803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Markets</a:t>
            </a:r>
            <a:endParaRPr lang="en-US" sz="1050" dirty="0"/>
          </a:p>
        </p:txBody>
      </p:sp>
      <p:sp>
        <p:nvSpPr>
          <p:cNvPr id="25" name="Text 17"/>
          <p:cNvSpPr txBox="1"/>
          <p:nvPr/>
        </p:nvSpPr>
        <p:spPr>
          <a:xfrm>
            <a:off x="4224528" y="28803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All six GCC countries</a:t>
            </a:r>
            <a:endParaRPr lang="en-US" sz="1050" dirty="0"/>
          </a:p>
        </p:txBody>
      </p:sp>
      <p:sp>
        <p:nvSpPr>
          <p:cNvPr id="26" name="Text 18"/>
          <p:cNvSpPr txBox="1"/>
          <p:nvPr/>
        </p:nvSpPr>
        <p:spPr>
          <a:xfrm>
            <a:off x="3310128" y="33375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Budget</a:t>
            </a:r>
            <a:endParaRPr lang="en-US" sz="1050" dirty="0"/>
          </a:p>
        </p:txBody>
      </p:sp>
      <p:sp>
        <p:nvSpPr>
          <p:cNvPr id="27" name="Text 19"/>
          <p:cNvSpPr txBox="1"/>
          <p:nvPr/>
        </p:nvSpPr>
        <p:spPr>
          <a:xfrm>
            <a:off x="4224528" y="33375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$3,200 prizes and ads, Sep-Dec</a:t>
            </a:r>
            <a:endParaRPr lang="en-US" sz="1050" dirty="0"/>
          </a:p>
        </p:txBody>
      </p:sp>
      <p:sp>
        <p:nvSpPr>
          <p:cNvPr id="28" name="Text 20"/>
          <p:cNvSpPr txBox="1"/>
          <p:nvPr/>
        </p:nvSpPr>
        <p:spPr>
          <a:xfrm>
            <a:off x="3310128" y="37947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Results</a:t>
            </a:r>
            <a:endParaRPr lang="en-US" sz="1050" dirty="0"/>
          </a:p>
        </p:txBody>
      </p:sp>
      <p:sp>
        <p:nvSpPr>
          <p:cNvPr id="29" name="Text 21"/>
          <p:cNvSpPr txBox="1"/>
          <p:nvPr/>
        </p:nvSpPr>
        <p:spPr>
          <a:xfrm>
            <a:off x="4224528" y="37947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Entries and accounts due after 20 Oct</a:t>
            </a:r>
            <a:endParaRPr lang="en-US" sz="1050" dirty="0"/>
          </a:p>
        </p:txBody>
      </p:sp>
      <p:sp>
        <p:nvSpPr>
          <p:cNvPr id="30" name="Text 22"/>
          <p:cNvSpPr txBox="1"/>
          <p:nvPr/>
        </p:nvSpPr>
        <p:spPr>
          <a:xfrm>
            <a:off x="566928" y="4206240"/>
            <a:ext cx="2743200" cy="274320"/>
          </a:xfrm>
          <a:prstGeom prst="rect">
            <a:avLst/>
          </a:prstGeom>
          <a:noFill/>
          <a:ln/>
        </p:spPr>
        <p:txBody>
          <a:bodyPr wrap="square" lIns="0" tIns="0" rIns="0" bIns="0" rtlCol="0" anchor="t"/>
          <a:lstStyle/>
          <a:p>
            <a:pPr indent="0" marL="0">
              <a:buNone/>
            </a:pPr>
            <a:r>
              <a:rPr lang="en-US" sz="1000" i="1" dirty="0">
                <a:solidFill>
                  <a:srgbClr val="7A849C"/>
                </a:solidFill>
                <a:latin typeface="Exo 2" pitchFamily="34" charset="0"/>
                <a:ea typeface="Exo 2" pitchFamily="34" charset="-122"/>
                <a:cs typeface="Exo 2" pitchFamily="34" charset="-120"/>
              </a:rPr>
              <a:t>Launch reel: 1,129 likes (reported)</a:t>
            </a:r>
            <a:endParaRPr lang="en-US" sz="1000" dirty="0"/>
          </a:p>
        </p:txBody>
      </p:sp>
      <p:sp>
        <p:nvSpPr>
          <p:cNvPr id="31" name="Shape 23"/>
          <p:cNvSpPr/>
          <p:nvPr/>
        </p:nvSpPr>
        <p:spPr>
          <a:xfrm>
            <a:off x="6263640" y="1554480"/>
            <a:ext cx="0" cy="3977640"/>
          </a:xfrm>
          <a:prstGeom prst="line">
            <a:avLst/>
          </a:prstGeom>
          <a:noFill/>
          <a:ln w="12700">
            <a:solidFill>
              <a:srgbClr val="D9DFEA"/>
            </a:solidFill>
            <a:prstDash val="solid"/>
          </a:ln>
        </p:spPr>
      </p:sp>
      <p:sp>
        <p:nvSpPr>
          <p:cNvPr id="32" name="Text 24"/>
          <p:cNvSpPr txBox="1"/>
          <p:nvPr/>
        </p:nvSpPr>
        <p:spPr>
          <a:xfrm>
            <a:off x="6492240" y="1508760"/>
            <a:ext cx="5138928"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$5,000 Prize Campaign   </a:t>
            </a:r>
            <a:pPr indent="0" marL="0">
              <a:buNone/>
            </a:pPr>
            <a:r>
              <a:rPr lang="en-US" sz="1100" b="1" dirty="0">
                <a:solidFill>
                  <a:srgbClr val="9A7B1F"/>
                </a:solidFill>
                <a:latin typeface="Exo 2" pitchFamily="34" charset="0"/>
                <a:ea typeface="Exo 2" pitchFamily="34" charset="-122"/>
                <a:cs typeface="Exo 2" pitchFamily="34" charset="-120"/>
              </a:rPr>
              <a:t>● Pages live; T&amp;C sign-off not on file</a:t>
            </a:r>
            <a:endParaRPr lang="en-US" sz="1600" dirty="0"/>
          </a:p>
        </p:txBody>
      </p:sp>
      <p:sp>
        <p:nvSpPr>
          <p:cNvPr id="33" name="Text 25"/>
          <p:cNvSpPr txBox="1"/>
          <p:nvPr/>
        </p:nvSpPr>
        <p:spPr>
          <a:xfrm>
            <a:off x="6492240" y="1965960"/>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Dates</a:t>
            </a:r>
            <a:endParaRPr lang="en-US" sz="1050" dirty="0"/>
          </a:p>
        </p:txBody>
      </p:sp>
      <p:sp>
        <p:nvSpPr>
          <p:cNvPr id="34" name="Text 26"/>
          <p:cNvSpPr txBox="1"/>
          <p:nvPr/>
        </p:nvSpPr>
        <p:spPr>
          <a:xfrm>
            <a:off x="7498080" y="1965960"/>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Aug to 31 Dec 2026; draw 10 Jan 2027</a:t>
            </a:r>
            <a:endParaRPr lang="en-US" sz="1050" dirty="0"/>
          </a:p>
        </p:txBody>
      </p:sp>
      <p:sp>
        <p:nvSpPr>
          <p:cNvPr id="35" name="Text 27"/>
          <p:cNvSpPr txBox="1"/>
          <p:nvPr/>
        </p:nvSpPr>
        <p:spPr>
          <a:xfrm>
            <a:off x="6492240" y="2295144"/>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36" name="Text 28"/>
          <p:cNvSpPr txBox="1"/>
          <p:nvPr/>
        </p:nvSpPr>
        <p:spPr>
          <a:xfrm>
            <a:off x="7498080" y="2295144"/>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entry per $500 traded; one winner</a:t>
            </a:r>
            <a:endParaRPr lang="en-US" sz="1050" dirty="0"/>
          </a:p>
        </p:txBody>
      </p:sp>
      <p:sp>
        <p:nvSpPr>
          <p:cNvPr id="37" name="Text 29"/>
          <p:cNvSpPr txBox="1"/>
          <p:nvPr/>
        </p:nvSpPr>
        <p:spPr>
          <a:xfrm>
            <a:off x="6492240" y="2624328"/>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Eligibility</a:t>
            </a:r>
            <a:endParaRPr lang="en-US" sz="1050" dirty="0"/>
          </a:p>
        </p:txBody>
      </p:sp>
      <p:sp>
        <p:nvSpPr>
          <p:cNvPr id="38" name="Text 30"/>
          <p:cNvSpPr txBox="1"/>
          <p:nvPr/>
        </p:nvSpPr>
        <p:spPr>
          <a:xfrm>
            <a:off x="7498080" y="2624328"/>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Fully verified, active eMYAA account</a:t>
            </a:r>
            <a:endParaRPr lang="en-US" sz="1050" dirty="0"/>
          </a:p>
        </p:txBody>
      </p:sp>
      <p:graphicFrame>
        <p:nvGraphicFramePr>
          <p:cNvPr id="39" name="Chart 0" descr=""/>
          <p:cNvGraphicFramePr/>
          <p:nvPr/>
        </p:nvGraphicFramePr>
        <p:xfrm>
          <a:off x="6446520" y="2971800"/>
          <a:ext cx="5184648" cy="2606040"/>
        </p:xfrm>
        <a:graphic xmlns:a="http://schemas.openxmlformats.org/drawingml/2006/main">
          <a:graphicData uri="http://schemas.openxmlformats.org/drawingml/2006/chart">
            <c:chart xmlns:c="http://schemas.openxmlformats.org/drawingml/2006/chart" r:id="rId6"/>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CONTENT PRODUCTION</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The one-creator-a-month plan is on track: three presenter videos posted, Manal Talal set for 22 October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pipeline is on plan through November. The gap is measurement: Abdulelah Al Harbi has no view count yet.</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(videos matched to names by view count); Sep and Oct 2026 content calendars; team rollout plan. No item is awaiting approval per the team.</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9</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1412748" y="1938528"/>
            <a:ext cx="9372600" cy="0"/>
          </a:xfrm>
          <a:prstGeom prst="line">
            <a:avLst/>
          </a:prstGeom>
          <a:noFill/>
          <a:ln w="25400">
            <a:solidFill>
              <a:srgbClr val="C6CFE4"/>
            </a:solidFill>
            <a:prstDash val="solid"/>
          </a:ln>
        </p:spPr>
      </p:sp>
      <p:sp>
        <p:nvSpPr>
          <p:cNvPr id="16" name="Text 10"/>
          <p:cNvSpPr txBox="1"/>
          <p:nvPr/>
        </p:nvSpPr>
        <p:spPr>
          <a:xfrm>
            <a:off x="56692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JUL</a:t>
            </a:r>
            <a:endParaRPr lang="en-US" sz="1000" dirty="0"/>
          </a:p>
        </p:txBody>
      </p:sp>
      <p:sp>
        <p:nvSpPr>
          <p:cNvPr id="17" name="Shape 11"/>
          <p:cNvSpPr/>
          <p:nvPr/>
        </p:nvSpPr>
        <p:spPr>
          <a:xfrm>
            <a:off x="1312164" y="1837944"/>
            <a:ext cx="201168" cy="201168"/>
          </a:xfrm>
          <a:prstGeom prst="ellipse">
            <a:avLst/>
          </a:prstGeom>
          <a:solidFill>
            <a:srgbClr val="1BA97C"/>
          </a:solidFill>
          <a:ln w="25400">
            <a:solidFill>
              <a:srgbClr val="1BA97C"/>
            </a:solidFill>
            <a:prstDash val="solid"/>
          </a:ln>
        </p:spPr>
      </p:sp>
      <p:pic>
        <p:nvPicPr>
          <p:cNvPr id="18" name="Image 3" descr="/home/user/HatemIsa_202508993_IT9002_NLP_Project/emyaa-ceo-deck/working/charts/tile9_musheera.png">    </p:cNvPr>
          <p:cNvPicPr>
            <a:picLocks noChangeAspect="1"/>
          </p:cNvPicPr>
          <p:nvPr/>
        </p:nvPicPr>
        <p:blipFill>
          <a:blip r:embed="rId4"/>
          <a:stretch>
            <a:fillRect/>
          </a:stretch>
        </p:blipFill>
        <p:spPr>
          <a:xfrm>
            <a:off x="704088" y="2212848"/>
            <a:ext cx="1417320" cy="1828800"/>
          </a:xfrm>
          <a:prstGeom prst="rect">
            <a:avLst/>
          </a:prstGeom>
        </p:spPr>
      </p:pic>
      <p:sp>
        <p:nvSpPr>
          <p:cNvPr id="19" name="Text 12"/>
          <p:cNvSpPr txBox="1"/>
          <p:nvPr/>
        </p:nvSpPr>
        <p:spPr>
          <a:xfrm>
            <a:off x="56692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Musheera</a:t>
            </a:r>
            <a:endParaRPr lang="en-US" sz="1200" dirty="0"/>
          </a:p>
        </p:txBody>
      </p:sp>
      <p:sp>
        <p:nvSpPr>
          <p:cNvPr id="20" name="Text 13"/>
          <p:cNvSpPr txBox="1"/>
          <p:nvPr/>
        </p:nvSpPr>
        <p:spPr>
          <a:xfrm>
            <a:off x="56692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21" name="Text 14"/>
          <p:cNvSpPr txBox="1"/>
          <p:nvPr/>
        </p:nvSpPr>
        <p:spPr>
          <a:xfrm>
            <a:off x="56692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5.3M views</a:t>
            </a:r>
            <a:endParaRPr lang="en-US" sz="1050" dirty="0"/>
          </a:p>
        </p:txBody>
      </p:sp>
      <p:sp>
        <p:nvSpPr>
          <p:cNvPr id="22" name="Text 15"/>
          <p:cNvSpPr txBox="1"/>
          <p:nvPr/>
        </p:nvSpPr>
        <p:spPr>
          <a:xfrm>
            <a:off x="244144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AUG</a:t>
            </a:r>
            <a:endParaRPr lang="en-US" sz="1000" dirty="0"/>
          </a:p>
        </p:txBody>
      </p:sp>
      <p:sp>
        <p:nvSpPr>
          <p:cNvPr id="23" name="Shape 16"/>
          <p:cNvSpPr/>
          <p:nvPr/>
        </p:nvSpPr>
        <p:spPr>
          <a:xfrm>
            <a:off x="3186684" y="1837944"/>
            <a:ext cx="201168" cy="201168"/>
          </a:xfrm>
          <a:prstGeom prst="ellipse">
            <a:avLst/>
          </a:prstGeom>
          <a:solidFill>
            <a:srgbClr val="1BA97C"/>
          </a:solidFill>
          <a:ln w="25400">
            <a:solidFill>
              <a:srgbClr val="1BA97C"/>
            </a:solidFill>
            <a:prstDash val="solid"/>
          </a:ln>
        </p:spPr>
      </p:sp>
      <p:pic>
        <p:nvPicPr>
          <p:cNvPr id="24" name="Image 4" descr="/home/user/HatemIsa_202508993_IT9002_NLP_Project/emyaa-ceo-deck/working/charts/tile9_ali.png">    </p:cNvPr>
          <p:cNvPicPr>
            <a:picLocks noChangeAspect="1"/>
          </p:cNvPicPr>
          <p:nvPr/>
        </p:nvPicPr>
        <p:blipFill>
          <a:blip r:embed="rId5"/>
          <a:stretch>
            <a:fillRect/>
          </a:stretch>
        </p:blipFill>
        <p:spPr>
          <a:xfrm>
            <a:off x="2578608" y="2212848"/>
            <a:ext cx="1417320" cy="1828800"/>
          </a:xfrm>
          <a:prstGeom prst="rect">
            <a:avLst/>
          </a:prstGeom>
        </p:spPr>
      </p:pic>
      <p:sp>
        <p:nvSpPr>
          <p:cNvPr id="25" name="Text 17"/>
          <p:cNvSpPr txBox="1"/>
          <p:nvPr/>
        </p:nvSpPr>
        <p:spPr>
          <a:xfrm>
            <a:off x="244144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Ali Sabeel</a:t>
            </a:r>
            <a:endParaRPr lang="en-US" sz="1200" dirty="0"/>
          </a:p>
        </p:txBody>
      </p:sp>
      <p:sp>
        <p:nvSpPr>
          <p:cNvPr id="26" name="Text 18"/>
          <p:cNvSpPr txBox="1"/>
          <p:nvPr/>
        </p:nvSpPr>
        <p:spPr>
          <a:xfrm>
            <a:off x="244144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27" name="Text 19"/>
          <p:cNvSpPr txBox="1"/>
          <p:nvPr/>
        </p:nvSpPr>
        <p:spPr>
          <a:xfrm>
            <a:off x="244144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1.3M views</a:t>
            </a:r>
            <a:endParaRPr lang="en-US" sz="1050" dirty="0"/>
          </a:p>
        </p:txBody>
      </p:sp>
      <p:sp>
        <p:nvSpPr>
          <p:cNvPr id="28" name="Text 20"/>
          <p:cNvSpPr txBox="1"/>
          <p:nvPr/>
        </p:nvSpPr>
        <p:spPr>
          <a:xfrm>
            <a:off x="431596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SEP</a:t>
            </a:r>
            <a:endParaRPr lang="en-US" sz="1000" dirty="0"/>
          </a:p>
        </p:txBody>
      </p:sp>
      <p:sp>
        <p:nvSpPr>
          <p:cNvPr id="29" name="Shape 21"/>
          <p:cNvSpPr/>
          <p:nvPr/>
        </p:nvSpPr>
        <p:spPr>
          <a:xfrm>
            <a:off x="5061204" y="1837944"/>
            <a:ext cx="201168" cy="201168"/>
          </a:xfrm>
          <a:prstGeom prst="ellipse">
            <a:avLst/>
          </a:prstGeom>
          <a:solidFill>
            <a:srgbClr val="1BA97C"/>
          </a:solidFill>
          <a:ln w="25400">
            <a:solidFill>
              <a:srgbClr val="1BA97C"/>
            </a:solidFill>
            <a:prstDash val="solid"/>
          </a:ln>
        </p:spPr>
      </p:sp>
      <p:sp>
        <p:nvSpPr>
          <p:cNvPr id="30" name="Shape 22"/>
          <p:cNvSpPr/>
          <p:nvPr/>
        </p:nvSpPr>
        <p:spPr>
          <a:xfrm>
            <a:off x="4453128" y="2212848"/>
            <a:ext cx="1417320" cy="1828800"/>
          </a:xfrm>
          <a:prstGeom prst="rect">
            <a:avLst/>
          </a:prstGeom>
          <a:solidFill>
            <a:srgbClr val="E3E8F2"/>
          </a:solidFill>
          <a:ln w="9525">
            <a:solidFill>
              <a:srgbClr val="C6CFE4"/>
            </a:solidFill>
            <a:prstDash val="dash"/>
          </a:ln>
        </p:spPr>
      </p:sp>
      <p:sp>
        <p:nvSpPr>
          <p:cNvPr id="31" name="Text 23"/>
          <p:cNvSpPr txBox="1"/>
          <p:nvPr/>
        </p:nvSpPr>
        <p:spPr>
          <a:xfrm>
            <a:off x="4544568" y="2212848"/>
            <a:ext cx="1234440" cy="1828800"/>
          </a:xfrm>
          <a:prstGeom prst="rect">
            <a:avLst/>
          </a:prstGeom>
          <a:noFill/>
          <a:ln/>
        </p:spPr>
        <p:txBody>
          <a:bodyPr wrap="square" lIns="0" tIns="0" rIns="0" bIns="0" rtlCol="0" anchor="ctr"/>
          <a:lstStyle/>
          <a:p>
            <a:pPr algn="ctr" indent="0" marL="0">
              <a:buNone/>
            </a:pPr>
            <a:r>
              <a:rPr lang="en-US" sz="1000" dirty="0">
                <a:solidFill>
                  <a:srgbClr val="7A849C"/>
                </a:solidFill>
                <a:latin typeface="Exo 2" pitchFamily="34" charset="0"/>
                <a:ea typeface="Exo 2" pitchFamily="34" charset="-122"/>
                <a:cs typeface="Exo 2" pitchFamily="34" charset="-120"/>
              </a:rPr>
              <a:t>No asset in review set</a:t>
            </a:r>
            <a:endParaRPr lang="en-US" sz="1000" dirty="0"/>
          </a:p>
        </p:txBody>
      </p:sp>
      <p:sp>
        <p:nvSpPr>
          <p:cNvPr id="32" name="Text 24"/>
          <p:cNvSpPr txBox="1"/>
          <p:nvPr/>
        </p:nvSpPr>
        <p:spPr>
          <a:xfrm>
            <a:off x="431596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Abdulelah Al Harbi</a:t>
            </a:r>
            <a:endParaRPr lang="en-US" sz="1200" dirty="0"/>
          </a:p>
        </p:txBody>
      </p:sp>
      <p:sp>
        <p:nvSpPr>
          <p:cNvPr id="33" name="Text 25"/>
          <p:cNvSpPr txBox="1"/>
          <p:nvPr/>
        </p:nvSpPr>
        <p:spPr>
          <a:xfrm>
            <a:off x="431596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34" name="Text 26"/>
          <p:cNvSpPr txBox="1"/>
          <p:nvPr/>
        </p:nvSpPr>
        <p:spPr>
          <a:xfrm>
            <a:off x="431596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Views not supplied</a:t>
            </a:r>
            <a:endParaRPr lang="en-US" sz="1050" dirty="0"/>
          </a:p>
        </p:txBody>
      </p:sp>
      <p:sp>
        <p:nvSpPr>
          <p:cNvPr id="35" name="Text 27"/>
          <p:cNvSpPr txBox="1"/>
          <p:nvPr/>
        </p:nvSpPr>
        <p:spPr>
          <a:xfrm>
            <a:off x="619048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SEP</a:t>
            </a:r>
            <a:endParaRPr lang="en-US" sz="1000" dirty="0"/>
          </a:p>
        </p:txBody>
      </p:sp>
      <p:sp>
        <p:nvSpPr>
          <p:cNvPr id="36" name="Shape 28"/>
          <p:cNvSpPr/>
          <p:nvPr/>
        </p:nvSpPr>
        <p:spPr>
          <a:xfrm>
            <a:off x="6935724" y="1837944"/>
            <a:ext cx="201168" cy="201168"/>
          </a:xfrm>
          <a:prstGeom prst="ellipse">
            <a:avLst/>
          </a:prstGeom>
          <a:solidFill>
            <a:srgbClr val="1BA97C"/>
          </a:solidFill>
          <a:ln w="25400">
            <a:solidFill>
              <a:srgbClr val="1BA97C"/>
            </a:solidFill>
            <a:prstDash val="solid"/>
          </a:ln>
        </p:spPr>
      </p:sp>
      <p:pic>
        <p:nvPicPr>
          <p:cNvPr id="37" name="Image 5" descr="/home/user/HatemIsa_202508993_IT9002_NLP_Project/emyaa-ceo-deck/working/charts/tile9_howto.png">    </p:cNvPr>
          <p:cNvPicPr>
            <a:picLocks noChangeAspect="1"/>
          </p:cNvPicPr>
          <p:nvPr/>
        </p:nvPicPr>
        <p:blipFill>
          <a:blip r:embed="rId6"/>
          <a:stretch>
            <a:fillRect/>
          </a:stretch>
        </p:blipFill>
        <p:spPr>
          <a:xfrm>
            <a:off x="6327648" y="2212848"/>
            <a:ext cx="1417320" cy="1828800"/>
          </a:xfrm>
          <a:prstGeom prst="rect">
            <a:avLst/>
          </a:prstGeom>
        </p:spPr>
      </p:pic>
      <p:sp>
        <p:nvSpPr>
          <p:cNvPr id="38" name="Text 29"/>
          <p:cNvSpPr txBox="1"/>
          <p:nvPr/>
        </p:nvSpPr>
        <p:spPr>
          <a:xfrm>
            <a:off x="619048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How-to, human presenter</a:t>
            </a:r>
            <a:endParaRPr lang="en-US" sz="1200" dirty="0"/>
          </a:p>
        </p:txBody>
      </p:sp>
      <p:sp>
        <p:nvSpPr>
          <p:cNvPr id="39" name="Text 30"/>
          <p:cNvSpPr txBox="1"/>
          <p:nvPr/>
        </p:nvSpPr>
        <p:spPr>
          <a:xfrm>
            <a:off x="6190488" y="4709160"/>
            <a:ext cx="1691640" cy="274320"/>
          </a:xfrm>
          <a:prstGeom prst="rect">
            <a:avLst/>
          </a:prstGeom>
          <a:noFill/>
          <a:ln/>
        </p:spPr>
        <p:txBody>
          <a:bodyPr wrap="square" lIns="0" tIns="0" rIns="0" bIns="0" rtlCol="0" anchor="t"/>
          <a:lstStyle/>
          <a:p>
            <a:pPr algn="ctr" indent="0" marL="0">
              <a:buNone/>
            </a:pPr>
            <a:r>
              <a:rPr lang="en-US" sz="1050" dirty="0">
                <a:solidFill>
                  <a:srgbClr val="132257"/>
                </a:solidFill>
                <a:latin typeface="Exo 2" pitchFamily="34" charset="0"/>
                <a:ea typeface="Exo 2" pitchFamily="34" charset="-122"/>
                <a:cs typeface="Exo 2" pitchFamily="34" charset="-120"/>
              </a:rPr>
              <a:t>● </a:t>
            </a:r>
            <a:pPr algn="ctr" indent="0" marL="0">
              <a:buNone/>
            </a:pPr>
            <a:r>
              <a:rPr lang="en-US" sz="1050" b="1" dirty="0">
                <a:solidFill>
                  <a:srgbClr val="132257"/>
                </a:solidFill>
                <a:latin typeface="Exo 2" pitchFamily="34" charset="0"/>
                <a:ea typeface="Exo 2" pitchFamily="34" charset="-122"/>
                <a:cs typeface="Exo 2" pitchFamily="34" charset="-120"/>
              </a:rPr>
              <a:t>Posted</a:t>
            </a:r>
            <a:endParaRPr lang="en-US" sz="1050" dirty="0"/>
          </a:p>
        </p:txBody>
      </p:sp>
      <p:sp>
        <p:nvSpPr>
          <p:cNvPr id="40" name="Text 31"/>
          <p:cNvSpPr txBox="1"/>
          <p:nvPr/>
        </p:nvSpPr>
        <p:spPr>
          <a:xfrm>
            <a:off x="619048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332 views</a:t>
            </a:r>
            <a:endParaRPr lang="en-US" sz="1050" dirty="0"/>
          </a:p>
        </p:txBody>
      </p:sp>
      <p:sp>
        <p:nvSpPr>
          <p:cNvPr id="41" name="Text 32"/>
          <p:cNvSpPr txBox="1"/>
          <p:nvPr/>
        </p:nvSpPr>
        <p:spPr>
          <a:xfrm>
            <a:off x="806500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OCT</a:t>
            </a:r>
            <a:endParaRPr lang="en-US" sz="1000" dirty="0"/>
          </a:p>
        </p:txBody>
      </p:sp>
      <p:sp>
        <p:nvSpPr>
          <p:cNvPr id="42" name="Shape 33"/>
          <p:cNvSpPr/>
          <p:nvPr/>
        </p:nvSpPr>
        <p:spPr>
          <a:xfrm>
            <a:off x="8810244" y="1837944"/>
            <a:ext cx="201168" cy="201168"/>
          </a:xfrm>
          <a:prstGeom prst="ellipse">
            <a:avLst/>
          </a:prstGeom>
          <a:solidFill>
            <a:srgbClr val="FFFFFF"/>
          </a:solidFill>
          <a:ln w="25400">
            <a:solidFill>
              <a:srgbClr val="7A849C"/>
            </a:solidFill>
            <a:prstDash val="solid"/>
          </a:ln>
        </p:spPr>
      </p:sp>
      <p:sp>
        <p:nvSpPr>
          <p:cNvPr id="43" name="Shape 34"/>
          <p:cNvSpPr/>
          <p:nvPr/>
        </p:nvSpPr>
        <p:spPr>
          <a:xfrm>
            <a:off x="8202168" y="2212848"/>
            <a:ext cx="1417320" cy="1828800"/>
          </a:xfrm>
          <a:prstGeom prst="rect">
            <a:avLst/>
          </a:prstGeom>
          <a:solidFill>
            <a:srgbClr val="E3E8F2"/>
          </a:solidFill>
          <a:ln w="9525">
            <a:solidFill>
              <a:srgbClr val="C6CFE4"/>
            </a:solidFill>
            <a:prstDash val="dash"/>
          </a:ln>
        </p:spPr>
      </p:sp>
      <p:sp>
        <p:nvSpPr>
          <p:cNvPr id="44" name="Text 35"/>
          <p:cNvSpPr txBox="1"/>
          <p:nvPr/>
        </p:nvSpPr>
        <p:spPr>
          <a:xfrm>
            <a:off x="8293608" y="2212848"/>
            <a:ext cx="1234440" cy="1828800"/>
          </a:xfrm>
          <a:prstGeom prst="rect">
            <a:avLst/>
          </a:prstGeom>
          <a:noFill/>
          <a:ln/>
        </p:spPr>
        <p:txBody>
          <a:bodyPr wrap="square" lIns="0" tIns="0" rIns="0" bIns="0" rtlCol="0" anchor="ctr"/>
          <a:lstStyle/>
          <a:p>
            <a:pPr algn="ctr" indent="0" marL="0">
              <a:buNone/>
            </a:pPr>
            <a:r>
              <a:rPr lang="en-US" sz="1000" dirty="0">
                <a:solidFill>
                  <a:srgbClr val="7A849C"/>
                </a:solidFill>
                <a:latin typeface="Exo 2" pitchFamily="34" charset="0"/>
                <a:ea typeface="Exo 2" pitchFamily="34" charset="-122"/>
                <a:cs typeface="Exo 2" pitchFamily="34" charset="-120"/>
              </a:rPr>
              <a:t>In production</a:t>
            </a:r>
            <a:endParaRPr lang="en-US" sz="1000" dirty="0"/>
          </a:p>
        </p:txBody>
      </p:sp>
      <p:sp>
        <p:nvSpPr>
          <p:cNvPr id="45" name="Text 36"/>
          <p:cNvSpPr txBox="1"/>
          <p:nvPr/>
        </p:nvSpPr>
        <p:spPr>
          <a:xfrm>
            <a:off x="806500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Manal Talal</a:t>
            </a:r>
            <a:endParaRPr lang="en-US" sz="1200" dirty="0"/>
          </a:p>
        </p:txBody>
      </p:sp>
      <p:sp>
        <p:nvSpPr>
          <p:cNvPr id="46" name="Text 37"/>
          <p:cNvSpPr txBox="1"/>
          <p:nvPr/>
        </p:nvSpPr>
        <p:spPr>
          <a:xfrm>
            <a:off x="8065008" y="4709160"/>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 </a:t>
            </a:r>
            <a:pPr algn="ctr" indent="0" marL="0">
              <a:buNone/>
            </a:pPr>
            <a:r>
              <a:rPr lang="en-US" sz="1050" b="1" dirty="0">
                <a:solidFill>
                  <a:srgbClr val="7A849C"/>
                </a:solidFill>
                <a:latin typeface="Exo 2" pitchFamily="34" charset="0"/>
                <a:ea typeface="Exo 2" pitchFamily="34" charset="-122"/>
                <a:cs typeface="Exo 2" pitchFamily="34" charset="-120"/>
              </a:rPr>
              <a:t>In production</a:t>
            </a:r>
            <a:endParaRPr lang="en-US" sz="1050" dirty="0"/>
          </a:p>
        </p:txBody>
      </p:sp>
      <p:sp>
        <p:nvSpPr>
          <p:cNvPr id="47" name="Text 38"/>
          <p:cNvSpPr txBox="1"/>
          <p:nvPr/>
        </p:nvSpPr>
        <p:spPr>
          <a:xfrm>
            <a:off x="806500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Calendar: 22 Oct</a:t>
            </a:r>
            <a:endParaRPr lang="en-US" sz="1050" dirty="0"/>
          </a:p>
        </p:txBody>
      </p:sp>
      <p:sp>
        <p:nvSpPr>
          <p:cNvPr id="48" name="Text 39"/>
          <p:cNvSpPr txBox="1"/>
          <p:nvPr/>
        </p:nvSpPr>
        <p:spPr>
          <a:xfrm>
            <a:off x="9939528" y="1554480"/>
            <a:ext cx="1691640" cy="228600"/>
          </a:xfrm>
          <a:prstGeom prst="rect">
            <a:avLst/>
          </a:prstGeom>
          <a:noFill/>
          <a:ln/>
        </p:spPr>
        <p:txBody>
          <a:bodyPr wrap="square" lIns="0" tIns="0" rIns="0" bIns="0" rtlCol="0" anchor="t"/>
          <a:lstStyle/>
          <a:p>
            <a:pPr algn="ctr" indent="0" marL="0">
              <a:buNone/>
            </a:pPr>
            <a:r>
              <a:rPr lang="en-US" sz="1000" b="1" spc="200" kern="0" dirty="0">
                <a:solidFill>
                  <a:srgbClr val="9A7B1F"/>
                </a:solidFill>
                <a:latin typeface="Exo 2" pitchFamily="34" charset="0"/>
                <a:ea typeface="Exo 2" pitchFamily="34" charset="-122"/>
                <a:cs typeface="Exo 2" pitchFamily="34" charset="-120"/>
              </a:rPr>
              <a:t>NOV</a:t>
            </a:r>
            <a:endParaRPr lang="en-US" sz="1000" dirty="0"/>
          </a:p>
        </p:txBody>
      </p:sp>
      <p:sp>
        <p:nvSpPr>
          <p:cNvPr id="49" name="Shape 40"/>
          <p:cNvSpPr/>
          <p:nvPr/>
        </p:nvSpPr>
        <p:spPr>
          <a:xfrm>
            <a:off x="10684764" y="1837944"/>
            <a:ext cx="201168" cy="201168"/>
          </a:xfrm>
          <a:prstGeom prst="ellipse">
            <a:avLst/>
          </a:prstGeom>
          <a:solidFill>
            <a:srgbClr val="FFFFFF"/>
          </a:solidFill>
          <a:ln w="25400">
            <a:solidFill>
              <a:srgbClr val="7A849C"/>
            </a:solidFill>
            <a:prstDash val="solid"/>
          </a:ln>
        </p:spPr>
      </p:sp>
      <p:sp>
        <p:nvSpPr>
          <p:cNvPr id="50" name="Shape 41"/>
          <p:cNvSpPr/>
          <p:nvPr/>
        </p:nvSpPr>
        <p:spPr>
          <a:xfrm>
            <a:off x="10076688" y="2212848"/>
            <a:ext cx="1417320" cy="1828800"/>
          </a:xfrm>
          <a:prstGeom prst="rect">
            <a:avLst/>
          </a:prstGeom>
          <a:solidFill>
            <a:srgbClr val="E3E8F2"/>
          </a:solidFill>
          <a:ln w="9525">
            <a:solidFill>
              <a:srgbClr val="C6CFE4"/>
            </a:solidFill>
            <a:prstDash val="dash"/>
          </a:ln>
        </p:spPr>
      </p:sp>
      <p:sp>
        <p:nvSpPr>
          <p:cNvPr id="51" name="Text 42"/>
          <p:cNvSpPr txBox="1"/>
          <p:nvPr/>
        </p:nvSpPr>
        <p:spPr>
          <a:xfrm>
            <a:off x="10168128" y="2212848"/>
            <a:ext cx="1234440" cy="1828800"/>
          </a:xfrm>
          <a:prstGeom prst="rect">
            <a:avLst/>
          </a:prstGeom>
          <a:noFill/>
          <a:ln/>
        </p:spPr>
        <p:txBody>
          <a:bodyPr wrap="square" lIns="0" tIns="0" rIns="0" bIns="0" rtlCol="0" anchor="ctr"/>
          <a:lstStyle/>
          <a:p>
            <a:pPr algn="ctr" indent="0" marL="0">
              <a:buNone/>
            </a:pPr>
            <a:r>
              <a:rPr lang="en-US" sz="1000" dirty="0">
                <a:solidFill>
                  <a:srgbClr val="7A849C"/>
                </a:solidFill>
                <a:latin typeface="Exo 2" pitchFamily="34" charset="0"/>
                <a:ea typeface="Exo 2" pitchFamily="34" charset="-122"/>
                <a:cs typeface="Exo 2" pitchFamily="34" charset="-120"/>
              </a:rPr>
              <a:t>Scheduled</a:t>
            </a:r>
            <a:endParaRPr lang="en-US" sz="1000" dirty="0"/>
          </a:p>
        </p:txBody>
      </p:sp>
      <p:sp>
        <p:nvSpPr>
          <p:cNvPr id="52" name="Text 43"/>
          <p:cNvSpPr txBox="1"/>
          <p:nvPr/>
        </p:nvSpPr>
        <p:spPr>
          <a:xfrm>
            <a:off x="9939528" y="4160520"/>
            <a:ext cx="1691640" cy="502920"/>
          </a:xfrm>
          <a:prstGeom prst="rect">
            <a:avLst/>
          </a:prstGeom>
          <a:noFill/>
          <a:ln/>
        </p:spPr>
        <p:txBody>
          <a:bodyPr wrap="square" lIns="0" tIns="0" rIns="0" bIns="0" rtlCol="0" anchor="t"/>
          <a:lstStyle/>
          <a:p>
            <a:pPr algn="ctr" indent="0" marL="0">
              <a:buNone/>
            </a:pPr>
            <a:r>
              <a:rPr lang="en-US" sz="1200" b="1" dirty="0">
                <a:solidFill>
                  <a:srgbClr val="132257"/>
                </a:solidFill>
                <a:latin typeface="Exo 2" pitchFamily="34" charset="0"/>
                <a:ea typeface="Exo 2" pitchFamily="34" charset="-122"/>
                <a:cs typeface="Exo 2" pitchFamily="34" charset="-120"/>
              </a:rPr>
              <a:t>Hamed Al Bloushi</a:t>
            </a:r>
            <a:endParaRPr lang="en-US" sz="1200" dirty="0"/>
          </a:p>
        </p:txBody>
      </p:sp>
      <p:sp>
        <p:nvSpPr>
          <p:cNvPr id="53" name="Text 44"/>
          <p:cNvSpPr txBox="1"/>
          <p:nvPr/>
        </p:nvSpPr>
        <p:spPr>
          <a:xfrm>
            <a:off x="9939528" y="4709160"/>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 </a:t>
            </a:r>
            <a:pPr algn="ctr" indent="0" marL="0">
              <a:buNone/>
            </a:pPr>
            <a:r>
              <a:rPr lang="en-US" sz="1050" b="1" dirty="0">
                <a:solidFill>
                  <a:srgbClr val="7A849C"/>
                </a:solidFill>
                <a:latin typeface="Exo 2" pitchFamily="34" charset="0"/>
                <a:ea typeface="Exo 2" pitchFamily="34" charset="-122"/>
                <a:cs typeface="Exo 2" pitchFamily="34" charset="-120"/>
              </a:rPr>
              <a:t>Scheduled</a:t>
            </a:r>
            <a:endParaRPr lang="en-US" sz="1050" dirty="0"/>
          </a:p>
        </p:txBody>
      </p:sp>
      <p:sp>
        <p:nvSpPr>
          <p:cNvPr id="54" name="Text 45"/>
          <p:cNvSpPr txBox="1"/>
          <p:nvPr/>
        </p:nvSpPr>
        <p:spPr>
          <a:xfrm>
            <a:off x="9939528" y="5001768"/>
            <a:ext cx="1691640" cy="274320"/>
          </a:xfrm>
          <a:prstGeom prst="rect">
            <a:avLst/>
          </a:prstGeom>
          <a:noFill/>
          <a:ln/>
        </p:spPr>
        <p:txBody>
          <a:bodyPr wrap="square" lIns="0" tIns="0" rIns="0" bIns="0" rtlCol="0" anchor="t"/>
          <a:lstStyle/>
          <a:p>
            <a:pPr algn="ctr" indent="0" marL="0">
              <a:buNone/>
            </a:pPr>
            <a:r>
              <a:rPr lang="en-US" sz="1050" dirty="0">
                <a:solidFill>
                  <a:srgbClr val="7A849C"/>
                </a:solidFill>
                <a:latin typeface="Exo 2" pitchFamily="34" charset="0"/>
                <a:ea typeface="Exo 2" pitchFamily="34" charset="-122"/>
                <a:cs typeface="Exo 2" pitchFamily="34" charset="-120"/>
              </a:rPr>
              <a:t>Per rollout plan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WEBSITE AND ANALYTICS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brought 70% of September site sessions; English ads engage more, Arabic ads log more key events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Do not cut the Arabic campaign on engagement alone. First confirm what the key event measures and what each campaign costs.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Reports snapshot and Google Ads campaigns exports, 1-28 Sep 2026. Referral includes 7 Tag Assistant test sessions; 21 paid sessions sit outside both campaigns.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10</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587</a:t>
            </a:r>
            <a:endParaRPr lang="en-US" sz="2600" dirty="0"/>
          </a:p>
        </p:txBody>
      </p:sp>
      <p:sp>
        <p:nvSpPr>
          <p:cNvPr id="16" name="Text 10"/>
          <p:cNvSpPr txBox="1"/>
          <p:nvPr/>
        </p:nvSpPr>
        <p:spPr>
          <a:xfrm>
            <a:off x="161848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sessions, 1-28 Sep</a:t>
            </a:r>
            <a:endParaRPr lang="en-US" sz="1000" dirty="0"/>
          </a:p>
        </p:txBody>
      </p:sp>
      <p:sp>
        <p:nvSpPr>
          <p:cNvPr id="17" name="Text 11"/>
          <p:cNvSpPr txBox="1"/>
          <p:nvPr/>
        </p:nvSpPr>
        <p:spPr>
          <a:xfrm>
            <a:off x="335584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542</a:t>
            </a:r>
            <a:endParaRPr lang="en-US" sz="2600" dirty="0"/>
          </a:p>
        </p:txBody>
      </p:sp>
      <p:sp>
        <p:nvSpPr>
          <p:cNvPr id="18" name="Text 12"/>
          <p:cNvSpPr txBox="1"/>
          <p:nvPr/>
        </p:nvSpPr>
        <p:spPr>
          <a:xfrm>
            <a:off x="440740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active users, 1-28 Sep</a:t>
            </a:r>
            <a:endParaRPr lang="en-US" sz="1000" dirty="0"/>
          </a:p>
        </p:txBody>
      </p:sp>
      <p:sp>
        <p:nvSpPr>
          <p:cNvPr id="19" name="Text 13"/>
          <p:cNvSpPr txBox="1"/>
          <p:nvPr/>
        </p:nvSpPr>
        <p:spPr>
          <a:xfrm>
            <a:off x="614476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558</a:t>
            </a:r>
            <a:endParaRPr lang="en-US" sz="2600" dirty="0"/>
          </a:p>
        </p:txBody>
      </p:sp>
      <p:sp>
        <p:nvSpPr>
          <p:cNvPr id="20" name="Text 14"/>
          <p:cNvSpPr txBox="1"/>
          <p:nvPr/>
        </p:nvSpPr>
        <p:spPr>
          <a:xfrm>
            <a:off x="719632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new users, 1-28 Sep</a:t>
            </a:r>
            <a:endParaRPr lang="en-US" sz="1000" dirty="0"/>
          </a:p>
        </p:txBody>
      </p:sp>
      <p:sp>
        <p:nvSpPr>
          <p:cNvPr id="21" name="Text 15"/>
          <p:cNvSpPr txBox="1"/>
          <p:nvPr/>
        </p:nvSpPr>
        <p:spPr>
          <a:xfrm>
            <a:off x="893368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23s</a:t>
            </a:r>
            <a:endParaRPr lang="en-US" sz="2600" dirty="0"/>
          </a:p>
        </p:txBody>
      </p:sp>
      <p:sp>
        <p:nvSpPr>
          <p:cNvPr id="22" name="Text 16"/>
          <p:cNvSpPr txBox="1"/>
          <p:nvPr/>
        </p:nvSpPr>
        <p:spPr>
          <a:xfrm>
            <a:off x="998524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avg engagement per active user, 1-28 Sep</a:t>
            </a:r>
            <a:endParaRPr lang="en-US" sz="1000" dirty="0"/>
          </a:p>
        </p:txBody>
      </p:sp>
      <p:sp>
        <p:nvSpPr>
          <p:cNvPr id="23" name="Shape 17"/>
          <p:cNvSpPr/>
          <p:nvPr/>
        </p:nvSpPr>
        <p:spPr>
          <a:xfrm>
            <a:off x="566928" y="2057400"/>
            <a:ext cx="11064240" cy="0"/>
          </a:xfrm>
          <a:prstGeom prst="line">
            <a:avLst/>
          </a:prstGeom>
          <a:noFill/>
          <a:ln w="9525">
            <a:solidFill>
              <a:srgbClr val="D9DFEA"/>
            </a:solidFill>
            <a:prstDash val="solid"/>
          </a:ln>
        </p:spPr>
      </p:sp>
      <p:graphicFrame>
        <p:nvGraphicFramePr>
          <p:cNvPr id="24" name="Chart 0" descr=""/>
          <p:cNvGraphicFramePr/>
          <p:nvPr/>
        </p:nvGraphicFramePr>
        <p:xfrm>
          <a:off x="566928" y="2176272"/>
          <a:ext cx="6035040" cy="3401568"/>
        </p:xfrm>
        <a:graphic xmlns:a="http://schemas.openxmlformats.org/drawingml/2006/main">
          <a:graphicData uri="http://schemas.openxmlformats.org/drawingml/2006/chart">
            <c:chart xmlns:c="http://schemas.openxmlformats.org/drawingml/2006/chart" r:id="rId4"/>
          </a:graphicData>
        </a:graphic>
      </p:graphicFrame>
      <p:graphicFrame>
        <p:nvGraphicFramePr>
          <p:cNvPr id="25" name="Chart 1" descr=""/>
          <p:cNvGraphicFramePr/>
          <p:nvPr/>
        </p:nvGraphicFramePr>
        <p:xfrm>
          <a:off x="6858000" y="2176272"/>
          <a:ext cx="4773168" cy="3401568"/>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FROM TRAFFIC TO ACCOUNTS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Downloads picked up after the paid launch, but onboarding did not: +36 downloads, +3 accounts in six days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media is filling the top of the funnel. KYC and onboarding completion is the constraint to fix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eMYAA Daily Performance Dashboards, all-time cumulative figures on report dates 1, 8, 14, 21 and 27 Sep 2026. Periods are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11</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508760"/>
          <a:ext cx="7223760" cy="4069080"/>
        </p:xfrm>
        <a:graphic xmlns:a="http://schemas.openxmlformats.org/drawingml/2006/main">
          <a:graphicData uri="http://schemas.openxmlformats.org/drawingml/2006/chart">
            <c:chart xmlns:c="http://schemas.openxmlformats.org/drawingml/2006/chart" r:id="rId4"/>
          </a:graphicData>
        </a:graphic>
      </p:graphicFrame>
      <p:sp>
        <p:nvSpPr>
          <p:cNvPr id="16" name="Shape 9"/>
          <p:cNvSpPr/>
          <p:nvPr/>
        </p:nvSpPr>
        <p:spPr>
          <a:xfrm>
            <a:off x="8183880" y="1600200"/>
            <a:ext cx="1618488" cy="1783080"/>
          </a:xfrm>
          <a:prstGeom prst="rect">
            <a:avLst/>
          </a:prstGeom>
          <a:solidFill>
            <a:srgbClr val="FFFFFF"/>
          </a:solidFill>
          <a:ln w="9525">
            <a:solidFill>
              <a:srgbClr val="D9DFEA"/>
            </a:solidFill>
            <a:prstDash val="solid"/>
          </a:ln>
        </p:spPr>
      </p:sp>
      <p:sp>
        <p:nvSpPr>
          <p:cNvPr id="17" name="Shape 10"/>
          <p:cNvSpPr/>
          <p:nvPr/>
        </p:nvSpPr>
        <p:spPr>
          <a:xfrm>
            <a:off x="8183880" y="1600200"/>
            <a:ext cx="1618488" cy="32004"/>
          </a:xfrm>
          <a:prstGeom prst="rect">
            <a:avLst/>
          </a:prstGeom>
          <a:solidFill>
            <a:srgbClr val="D4AF37"/>
          </a:solidFill>
          <a:ln w="12700">
            <a:solidFill>
              <a:srgbClr val="D4AF37"/>
            </a:solidFill>
            <a:prstDash val="solid"/>
          </a:ln>
        </p:spPr>
      </p:sp>
      <p:sp>
        <p:nvSpPr>
          <p:cNvPr id="18" name="Text 11"/>
          <p:cNvSpPr txBox="1"/>
          <p:nvPr/>
        </p:nvSpPr>
        <p:spPr>
          <a:xfrm>
            <a:off x="834847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473</a:t>
            </a:r>
            <a:endParaRPr lang="en-US" sz="2800" dirty="0"/>
          </a:p>
        </p:txBody>
      </p:sp>
      <p:sp>
        <p:nvSpPr>
          <p:cNvPr id="19" name="Text 12"/>
          <p:cNvSpPr txBox="1"/>
          <p:nvPr/>
        </p:nvSpPr>
        <p:spPr>
          <a:xfrm>
            <a:off x="834847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app downloads</a:t>
            </a:r>
            <a:endParaRPr lang="en-US" sz="1100" dirty="0"/>
          </a:p>
        </p:txBody>
      </p:sp>
      <p:sp>
        <p:nvSpPr>
          <p:cNvPr id="20" name="Text 13"/>
          <p:cNvSpPr txBox="1"/>
          <p:nvPr/>
        </p:nvSpPr>
        <p:spPr>
          <a:xfrm>
            <a:off x="834847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1" name="Shape 14"/>
          <p:cNvSpPr/>
          <p:nvPr/>
        </p:nvSpPr>
        <p:spPr>
          <a:xfrm>
            <a:off x="9921240" y="1600200"/>
            <a:ext cx="1618488" cy="1783080"/>
          </a:xfrm>
          <a:prstGeom prst="rect">
            <a:avLst/>
          </a:prstGeom>
          <a:solidFill>
            <a:srgbClr val="FFFFFF"/>
          </a:solidFill>
          <a:ln w="9525">
            <a:solidFill>
              <a:srgbClr val="D9DFEA"/>
            </a:solidFill>
            <a:prstDash val="solid"/>
          </a:ln>
        </p:spPr>
      </p:sp>
      <p:sp>
        <p:nvSpPr>
          <p:cNvPr id="22" name="Shape 15"/>
          <p:cNvSpPr/>
          <p:nvPr/>
        </p:nvSpPr>
        <p:spPr>
          <a:xfrm>
            <a:off x="9921240" y="1600200"/>
            <a:ext cx="1618488" cy="32004"/>
          </a:xfrm>
          <a:prstGeom prst="rect">
            <a:avLst/>
          </a:prstGeom>
          <a:solidFill>
            <a:srgbClr val="D4AF37"/>
          </a:solidFill>
          <a:ln w="12700">
            <a:solidFill>
              <a:srgbClr val="D4AF37"/>
            </a:solidFill>
            <a:prstDash val="solid"/>
          </a:ln>
        </p:spPr>
      </p:sp>
      <p:sp>
        <p:nvSpPr>
          <p:cNvPr id="23" name="Text 16"/>
          <p:cNvSpPr txBox="1"/>
          <p:nvPr/>
        </p:nvSpPr>
        <p:spPr>
          <a:xfrm>
            <a:off x="1008583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60</a:t>
            </a:r>
            <a:endParaRPr lang="en-US" sz="2800" dirty="0"/>
          </a:p>
        </p:txBody>
      </p:sp>
      <p:sp>
        <p:nvSpPr>
          <p:cNvPr id="24" name="Text 17"/>
          <p:cNvSpPr txBox="1"/>
          <p:nvPr/>
        </p:nvSpPr>
        <p:spPr>
          <a:xfrm>
            <a:off x="1008583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users onboarded</a:t>
            </a:r>
            <a:endParaRPr lang="en-US" sz="1100" dirty="0"/>
          </a:p>
        </p:txBody>
      </p:sp>
      <p:sp>
        <p:nvSpPr>
          <p:cNvPr id="25" name="Text 18"/>
          <p:cNvSpPr txBox="1"/>
          <p:nvPr/>
        </p:nvSpPr>
        <p:spPr>
          <a:xfrm>
            <a:off x="1008583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6" name="Shape 19"/>
          <p:cNvSpPr/>
          <p:nvPr/>
        </p:nvSpPr>
        <p:spPr>
          <a:xfrm>
            <a:off x="8183880" y="3566160"/>
            <a:ext cx="1618488" cy="1783080"/>
          </a:xfrm>
          <a:prstGeom prst="rect">
            <a:avLst/>
          </a:prstGeom>
          <a:solidFill>
            <a:srgbClr val="FFFFFF"/>
          </a:solidFill>
          <a:ln w="9525">
            <a:solidFill>
              <a:srgbClr val="D9DFEA"/>
            </a:solidFill>
            <a:prstDash val="solid"/>
          </a:ln>
        </p:spPr>
      </p:sp>
      <p:sp>
        <p:nvSpPr>
          <p:cNvPr id="27" name="Shape 20"/>
          <p:cNvSpPr/>
          <p:nvPr/>
        </p:nvSpPr>
        <p:spPr>
          <a:xfrm>
            <a:off x="8183880" y="3566160"/>
            <a:ext cx="1618488" cy="32004"/>
          </a:xfrm>
          <a:prstGeom prst="rect">
            <a:avLst/>
          </a:prstGeom>
          <a:solidFill>
            <a:srgbClr val="1BA97C"/>
          </a:solidFill>
          <a:ln w="12700">
            <a:solidFill>
              <a:srgbClr val="1BA97C"/>
            </a:solidFill>
            <a:prstDash val="solid"/>
          </a:ln>
        </p:spPr>
      </p:sp>
      <p:sp>
        <p:nvSpPr>
          <p:cNvPr id="28" name="Text 21"/>
          <p:cNvSpPr txBox="1"/>
          <p:nvPr/>
        </p:nvSpPr>
        <p:spPr>
          <a:xfrm>
            <a:off x="8348472" y="3822192"/>
            <a:ext cx="1325880" cy="566928"/>
          </a:xfrm>
          <a:prstGeom prst="rect">
            <a:avLst/>
          </a:prstGeom>
          <a:noFill/>
          <a:ln/>
        </p:spPr>
        <p:txBody>
          <a:bodyPr wrap="square" lIns="0" tIns="0" rIns="0" bIns="0" rtlCol="0" anchor="t"/>
          <a:lstStyle/>
          <a:p>
            <a:pPr indent="0" marL="0">
              <a:buNone/>
            </a:pPr>
            <a:r>
              <a:rPr lang="en-US" sz="2800" b="1" dirty="0">
                <a:solidFill>
                  <a:srgbClr val="1BA97C"/>
                </a:solidFill>
                <a:latin typeface="Exo 2" pitchFamily="34" charset="0"/>
                <a:ea typeface="Exo 2" pitchFamily="34" charset="-122"/>
                <a:cs typeface="Exo 2" pitchFamily="34" charset="-120"/>
              </a:rPr>
              <a:t>15</a:t>
            </a:r>
            <a:endParaRPr lang="en-US" sz="2800" dirty="0"/>
          </a:p>
        </p:txBody>
      </p:sp>
      <p:sp>
        <p:nvSpPr>
          <p:cNvPr id="29" name="Text 22"/>
          <p:cNvSpPr txBox="1"/>
          <p:nvPr/>
        </p:nvSpPr>
        <p:spPr>
          <a:xfrm>
            <a:off x="834847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funded accounts</a:t>
            </a:r>
            <a:endParaRPr lang="en-US" sz="1100" dirty="0"/>
          </a:p>
        </p:txBody>
      </p:sp>
      <p:sp>
        <p:nvSpPr>
          <p:cNvPr id="30" name="Text 23"/>
          <p:cNvSpPr txBox="1"/>
          <p:nvPr/>
        </p:nvSpPr>
        <p:spPr>
          <a:xfrm>
            <a:off x="834847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up from 13 on 21 Sep</a:t>
            </a:r>
            <a:endParaRPr lang="en-US" sz="950" dirty="0"/>
          </a:p>
        </p:txBody>
      </p:sp>
      <p:sp>
        <p:nvSpPr>
          <p:cNvPr id="31" name="Shape 24"/>
          <p:cNvSpPr/>
          <p:nvPr/>
        </p:nvSpPr>
        <p:spPr>
          <a:xfrm>
            <a:off x="9921240" y="3566160"/>
            <a:ext cx="1618488" cy="1783080"/>
          </a:xfrm>
          <a:prstGeom prst="rect">
            <a:avLst/>
          </a:prstGeom>
          <a:solidFill>
            <a:srgbClr val="FFFFFF"/>
          </a:solidFill>
          <a:ln w="9525">
            <a:solidFill>
              <a:srgbClr val="D9DFEA"/>
            </a:solidFill>
            <a:prstDash val="solid"/>
          </a:ln>
        </p:spPr>
      </p:sp>
      <p:sp>
        <p:nvSpPr>
          <p:cNvPr id="32" name="Shape 25"/>
          <p:cNvSpPr/>
          <p:nvPr/>
        </p:nvSpPr>
        <p:spPr>
          <a:xfrm>
            <a:off x="9921240" y="3566160"/>
            <a:ext cx="1618488" cy="32004"/>
          </a:xfrm>
          <a:prstGeom prst="rect">
            <a:avLst/>
          </a:prstGeom>
          <a:solidFill>
            <a:srgbClr val="D4AF37"/>
          </a:solidFill>
          <a:ln w="12700">
            <a:solidFill>
              <a:srgbClr val="D4AF37"/>
            </a:solidFill>
            <a:prstDash val="solid"/>
          </a:ln>
        </p:spPr>
      </p:sp>
      <p:sp>
        <p:nvSpPr>
          <p:cNvPr id="33" name="Text 26"/>
          <p:cNvSpPr txBox="1"/>
          <p:nvPr/>
        </p:nvSpPr>
        <p:spPr>
          <a:xfrm>
            <a:off x="10085832" y="382219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54</a:t>
            </a:r>
            <a:endParaRPr lang="en-US" sz="2800" dirty="0"/>
          </a:p>
        </p:txBody>
      </p:sp>
      <p:sp>
        <p:nvSpPr>
          <p:cNvPr id="34" name="Text 27"/>
          <p:cNvSpPr txBox="1"/>
          <p:nvPr/>
        </p:nvSpPr>
        <p:spPr>
          <a:xfrm>
            <a:off x="1008583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trades</a:t>
            </a:r>
            <a:endParaRPr lang="en-US" sz="1100" dirty="0"/>
          </a:p>
        </p:txBody>
      </p:sp>
      <p:sp>
        <p:nvSpPr>
          <p:cNvPr id="35" name="Text 28"/>
          <p:cNvSpPr txBox="1"/>
          <p:nvPr/>
        </p:nvSpPr>
        <p:spPr>
          <a:xfrm>
            <a:off x="1008583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RISKS AND DATA GAPS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Seven open items limit what we can claim; three of them block the 20 October paid-media decision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Owners and dates are proposed. Items 1, 4 and 5 must close before the paid-media decision.</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Audit of the previous drafts against GA4 exports, daily dashboards, LinkedIn export, Board update and campaign files. See Percentage-Audit.csv and Source-Traceability.csv.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64240" cy="914400"/>
        </p:xfrm>
        <a:graphic>
          <a:graphicData uri="http://schemas.openxmlformats.org/drawingml/2006/table">
            <a:tbl>
              <a:tblPr/>
              <a:tblGrid>
                <a:gridCol w="365760"/>
                <a:gridCol w="4160520"/>
                <a:gridCol w="2514600"/>
                <a:gridCol w="1554480"/>
                <a:gridCol w="960120"/>
                <a:gridCol w="1508760"/>
              </a:tblGrid>
              <a:tr h="475488">
                <a:tc>
                  <a:txBody>
                    <a:bodyPr/>
                    <a:lstStyle/>
                    <a:p>
                      <a:pPr indent="0" marL="0">
                        <a:buNone/>
                      </a:pPr>
                      <a:r>
                        <a:rPr lang="en-US" sz="1100" b="1" dirty="0">
                          <a:solidFill>
                            <a:srgbClr val="FFFFFF"/>
                          </a:solidFill>
                          <a:latin typeface="Exo 2" pitchFamily="34" charset="0"/>
                          <a:ea typeface="Exo 2" pitchFamily="34" charset="-122"/>
                          <a:cs typeface="Exo 2" pitchFamily="34" charset="-120"/>
                        </a:rPr>
                        <a: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Issue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Impact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Required 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Status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1</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Deposits: $12,206 (Board, verbal) vs $10,029.69 on dashboard, relabelled 'AUM' from 20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Deposit story rests on an unsourced figure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2</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 September exports for Instagram, LinkedIn, X, TikTok (LinkedIn export ends 28 Aug)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Social results are screenshot-only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3</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793% and LinkedIn +118% / +155% not traceable to an export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Risk of overstating results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Pending evidence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4</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 spend, cost per key event or LinkedIn leads; key event undefined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Cannot test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15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5</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Clients: Board 61 'as at 17 Sep' vs dashboard 54 (17 Sep) and 60 (27 Sep)</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Board figure may run ahead of source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6</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LinkedIn followers: 531 now, 586 in an earlier count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Growth claim unreliable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C53030"/>
                          </a:solidFill>
                          <a:latin typeface="Exo 2" pitchFamily="34" charset="0"/>
                          <a:ea typeface="Exo 2" pitchFamily="34" charset="-122"/>
                          <a:cs typeface="Exo 2" pitchFamily="34" charset="-120"/>
                        </a:rPr>
                        <a:t>● </a:t>
                      </a:r>
                      <a:pPr indent="0" marL="0">
                        <a:buNone/>
                      </a:pPr>
                      <a:r>
                        <a:rPr lang="en-US" sz="1100" b="1" dirty="0">
                          <a:solidFill>
                            <a:srgbClr val="C53030"/>
                          </a:solidFill>
                          <a:latin typeface="Exo 2" pitchFamily="34" charset="0"/>
                          <a:ea typeface="Exo 2" pitchFamily="34" charset="-122"/>
                          <a:cs typeface="Exo 2" pitchFamily="34" charset="-120"/>
                        </a:rPr>
                        <a:t>Open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dirty="0">
                          <a:solidFill>
                            <a:srgbClr val="1F2A44"/>
                          </a:solidFill>
                          <a:latin typeface="Exo 2" pitchFamily="34" charset="0"/>
                          <a:ea typeface="Exo 2" pitchFamily="34" charset="-122"/>
                          <a:cs typeface="Exo 2" pitchFamily="34" charset="-120"/>
                        </a:rPr>
                        <a:t>7</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$5,000 campaign T&amp;Cs sent for approval 20 Jul, no sign-off on file; Market Pulse feature in discussion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Regulatory and content dependency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IT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15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9A7B1F"/>
                          </a:solidFill>
                          <a:latin typeface="Exo 2" pitchFamily="34" charset="0"/>
                          <a:ea typeface="Exo 2" pitchFamily="34" charset="-122"/>
                          <a:cs typeface="Exo 2" pitchFamily="34" charset="-120"/>
                        </a:rPr>
                        <a:t>● </a:t>
                      </a:r>
                      <a:pPr indent="0" marL="0">
                        <a:buNone/>
                      </a:pPr>
                      <a:r>
                        <a:rPr lang="en-US" sz="1100" b="1" dirty="0">
                          <a:solidFill>
                            <a:srgbClr val="9A7B1F"/>
                          </a:solidFill>
                          <a:latin typeface="Exo 2" pitchFamily="34" charset="0"/>
                          <a:ea typeface="Exo 2" pitchFamily="34" charset="-122"/>
                          <a:cs typeface="Exo 2" pitchFamily="34" charset="-120"/>
                        </a:rPr>
                        <a:t>Pending evidence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CEO DECISIONS AND NEXT STEPS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 each with an owner, a date and a measurable outcome</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With these in place, the next update can report cost per account opened against the Board targets, not just traffic.</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Dates are proposals for CEO confirmation. CAC targets from the Board update, 17 Sep 2026.</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64240" cy="914400"/>
        </p:xfrm>
        <a:graphic>
          <a:graphicData uri="http://schemas.openxmlformats.org/drawingml/2006/table">
            <a:tbl>
              <a:tblPr/>
              <a:tblGrid>
                <a:gridCol w="457200"/>
                <a:gridCol w="4754880"/>
                <a:gridCol w="1920240"/>
                <a:gridCol w="1188720"/>
                <a:gridCol w="2743200"/>
              </a:tblGrid>
              <a:tr h="384048">
                <a:tc>
                  <a:txBody>
                    <a:bodyPr/>
                    <a:lstStyle/>
                    <a:p>
                      <a:pPr indent="0" marL="0">
                        <a:buNone/>
                      </a:pP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Decision required</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Owner</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By</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50" b="1" dirty="0">
                          <a:solidFill>
                            <a:srgbClr val="FFFFFF"/>
                          </a:solidFill>
                          <a:latin typeface="Exo 2" pitchFamily="34" charset="0"/>
                          <a:ea typeface="Exo 2" pitchFamily="34" charset="-122"/>
                          <a:cs typeface="Exo 2" pitchFamily="34" charset="-120"/>
                        </a:rPr>
                        <a:t>Expected outcome</a:t>
                      </a:r>
                      <a:endParaRPr lang="en-US" sz="115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1</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Set 20 Oct as the go or hold point for paid media, judged on cost per account against Board CAC targets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 with Ignite</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20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Remaining budget goes to what converts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2</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Keep both Arabic and English ads live until the key event is defined and costed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10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No cut to the version with more key events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3</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Fix onboarding drop-off: follow up every new download that has not completed KYC</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Client Experience</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10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More of the new downloads become accounts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4</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Require a monthly data pack: GA4, social, Google Ads, LinkedIn Ads, deposits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Marketing and Malek</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First pack 8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Every figure in the next update is sourced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76656">
                <a:tc>
                  <a:txBody>
                    <a:bodyPr/>
                    <a:lstStyle/>
                    <a:p>
                      <a:pPr indent="0" marL="0">
                        <a:buNone/>
                      </a:pPr>
                      <a:r>
                        <a:rPr lang="en-US" sz="1600" b="1" dirty="0">
                          <a:solidFill>
                            <a:srgbClr val="D4AF37"/>
                          </a:solidFill>
                          <a:latin typeface="Exo 2" pitchFamily="34" charset="0"/>
                          <a:ea typeface="Exo 2" pitchFamily="34" charset="-122"/>
                          <a:cs typeface="Exo 2" pitchFamily="34" charset="-120"/>
                        </a:rPr>
                        <a:t>5</a:t>
                      </a:r>
                      <a:endParaRPr lang="en-US" sz="16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Confirm sign-off of the $5,000 campaign T&amp;Cs and require a Mention &amp; Win close-out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Compliance and Marketing</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27 Oct</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200" dirty="0">
                          <a:solidFill>
                            <a:srgbClr val="1F2A44"/>
                          </a:solidFill>
                          <a:latin typeface="Exo 2" pitchFamily="34" charset="0"/>
                          <a:ea typeface="Exo 2" pitchFamily="34" charset="-122"/>
                          <a:cs typeface="Exo 2" pitchFamily="34" charset="-120"/>
                        </a:rPr>
                        <a:t>Both campaigns on record and measured</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2026-09-29T11:43:04Z</dcterms:created>
  <dcterms:modified xsi:type="dcterms:W3CDTF">2026-09-29T11:43:04Z</dcterms:modified>
</cp:coreProperties>
</file>