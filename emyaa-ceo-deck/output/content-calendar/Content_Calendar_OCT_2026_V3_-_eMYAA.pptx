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03_0.xml" ContentType="application/vnd.ms-powerpoint.comments+xml"/>
  <Override PartName="/ppt/comments/modernComment_106_0.xml" ContentType="application/vnd.ms-powerpoint.comments+xml"/>
  <Override PartName="/ppt/comments/modernComment_108_0.xml" ContentType="application/vnd.ms-powerpoint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Light" panose="00000400000000000000" pitchFamily="2" charset="0"/>
      <p:regular r:id="rId27"/>
      <p:bold r:id="rId28"/>
      <p:italic r:id="rId29"/>
      <p:boldItalic r:id="rId30"/>
    </p:embeddedFont>
    <p:embeddedFont>
      <p:font typeface="Montserrat Medium" panose="00000600000000000000" pitchFamily="2" charset="0"/>
      <p:regular r:id="rId31"/>
      <p:bold r:id="rId32"/>
      <p:italic r:id="rId33"/>
      <p:boldItalic r:id="rId34"/>
    </p:embeddedFont>
    <p:embeddedFont>
      <p:font typeface="Montserrat SemiBold" panose="00000700000000000000" pitchFamily="2" charset="0"/>
      <p:regular r:id="rId35"/>
      <p:bold r:id="rId36"/>
      <p:italic r:id="rId37"/>
      <p:boldItalic r:id="rId38"/>
    </p:embeddedFont>
    <p:embeddedFont>
      <p:font typeface="Rubik" panose="020B0604020202020204" charset="-79"/>
      <p:regular r:id="rId39"/>
      <p:bold r:id="rId40"/>
      <p:italic r:id="rId41"/>
      <p:boldItalic r:id="rId42"/>
    </p:embeddedFont>
    <p:embeddedFont>
      <p:font typeface="Rubik Medium" panose="020B0604020202020204" charset="-79"/>
      <p:regular r:id="rId43"/>
      <p:bold r:id="rId44"/>
      <p:italic r:id="rId45"/>
      <p:boldItalic r:id="rId46"/>
    </p:embeddedFont>
    <p:embeddedFont>
      <p:font typeface="Rubik SemiBold" panose="020B0604020202020204" charset="-79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325">
          <p15:clr>
            <a:srgbClr val="A4A3A4"/>
          </p15:clr>
        </p15:guide>
        <p15:guide id="3" orient="horz" pos="845">
          <p15:clr>
            <a:srgbClr val="A4A3A4"/>
          </p15:clr>
        </p15:guide>
        <p15:guide id="4" pos="7355">
          <p15:clr>
            <a:srgbClr val="A4A3A4"/>
          </p15:clr>
        </p15:guide>
        <p15:guide id="5" orient="horz" pos="37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1" roundtripDataSignature="AMtx7mhneI5gTTPBRa71eZ4c6qkGKUL7H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8E71D12-D815-3F05-8FC5-BC99AAF91F62}" name="Eman Mahdi Almansoor" initials="EM" userId="S::ealmansoor@ajyadcapital.com::d4a875a7-e2ef-48bf-8b87-3401686c02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5A2213-206D-4D29-8ACF-96B4C444891F}">
  <a:tblStyle styleId="{285A2213-206D-4D29-8ACF-96B4C44489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9"/>
  </p:normalViewPr>
  <p:slideViewPr>
    <p:cSldViewPr snapToGrid="0">
      <p:cViewPr varScale="1">
        <p:scale>
          <a:sx n="81" d="100"/>
          <a:sy n="81" d="100"/>
        </p:scale>
        <p:origin x="80" y="1628"/>
      </p:cViewPr>
      <p:guideLst>
        <p:guide orient="horz" pos="3838"/>
        <p:guide pos="325"/>
        <p:guide orient="horz" pos="845"/>
        <p:guide pos="7355"/>
        <p:guide orient="horz" pos="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Relationship Id="rId27" Type="http://schemas.openxmlformats.org/officeDocument/2006/relationships/font" Target="fonts/font9.fntdata"/><Relationship Id="rId28" Type="http://schemas.openxmlformats.org/officeDocument/2006/relationships/font" Target="fonts/font10.fntdata"/><Relationship Id="rId29" Type="http://schemas.openxmlformats.org/officeDocument/2006/relationships/font" Target="fonts/font11.fntdata"/><Relationship Id="rId30" Type="http://schemas.openxmlformats.org/officeDocument/2006/relationships/font" Target="fonts/font12.fntdata"/><Relationship Id="rId31" Type="http://schemas.openxmlformats.org/officeDocument/2006/relationships/font" Target="fonts/font13.fntdata"/><Relationship Id="rId32" Type="http://schemas.openxmlformats.org/officeDocument/2006/relationships/font" Target="fonts/font14.fntdata"/><Relationship Id="rId33" Type="http://schemas.openxmlformats.org/officeDocument/2006/relationships/font" Target="fonts/font15.fntdata"/><Relationship Id="rId34" Type="http://schemas.openxmlformats.org/officeDocument/2006/relationships/font" Target="fonts/font16.fntdata"/><Relationship Id="rId35" Type="http://schemas.openxmlformats.org/officeDocument/2006/relationships/font" Target="fonts/font17.fntdata"/><Relationship Id="rId36" Type="http://schemas.openxmlformats.org/officeDocument/2006/relationships/font" Target="fonts/font18.fntdata"/><Relationship Id="rId37" Type="http://schemas.openxmlformats.org/officeDocument/2006/relationships/font" Target="fonts/font19.fntdata"/><Relationship Id="rId38" Type="http://schemas.openxmlformats.org/officeDocument/2006/relationships/font" Target="fonts/font20.fntdata"/><Relationship Id="rId39" Type="http://schemas.openxmlformats.org/officeDocument/2006/relationships/font" Target="fonts/font21.fntdata"/><Relationship Id="rId40" Type="http://schemas.openxmlformats.org/officeDocument/2006/relationships/font" Target="fonts/font22.fntdata"/><Relationship Id="rId41" Type="http://schemas.openxmlformats.org/officeDocument/2006/relationships/font" Target="fonts/font23.fntdata"/><Relationship Id="rId42" Type="http://schemas.openxmlformats.org/officeDocument/2006/relationships/font" Target="fonts/font24.fntdata"/><Relationship Id="rId43" Type="http://schemas.openxmlformats.org/officeDocument/2006/relationships/font" Target="fonts/font25.fntdata"/><Relationship Id="rId44" Type="http://schemas.openxmlformats.org/officeDocument/2006/relationships/font" Target="fonts/font26.fntdata"/><Relationship Id="rId45" Type="http://schemas.openxmlformats.org/officeDocument/2006/relationships/font" Target="fonts/font27.fntdata"/><Relationship Id="rId46" Type="http://schemas.openxmlformats.org/officeDocument/2006/relationships/font" Target="fonts/font28.fntdata"/><Relationship Id="rId47" Type="http://schemas.openxmlformats.org/officeDocument/2006/relationships/font" Target="fonts/font29.fntdata"/><Relationship Id="rId48" Type="http://schemas.openxmlformats.org/officeDocument/2006/relationships/font" Target="fonts/font30.fntdata"/><Relationship Id="rId49" Type="http://schemas.openxmlformats.org/officeDocument/2006/relationships/font" Target="fonts/font31.fntdata"/><Relationship Id="rId50" Type="http://schemas.openxmlformats.org/officeDocument/2006/relationships/font" Target="fonts/font32.fntdata"/><Relationship Id="rId51" Type="http://customschemas.google.com/relationships/presentationmetadata" Target="metadata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microsoft.com/office/2018/10/relationships/authors" Target="authors.xml"/></Relationships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20C9AF-CB75-4A06-A6DD-7F4D6D7B6D52}" authorId="{18E71D12-D815-3F05-8FC5-BC99AAF91F62}" created="2026-09-30T13:49:50.51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52" creationId="{00000000-0000-0000-0000-000000000000}"/>
      <ac:txMk cp="506" len="115">
        <ac:context len="819" hash="2385309986"/>
      </ac:txMk>
    </ac:txMkLst>
    <p188:pos x="7739992" y="4005348"/>
    <p188:txBody>
      <a:bodyPr/>
      <a:lstStyle/>
      <a:p>
        <a:r>
          <a:rPr lang="en-US"/>
          <a:t>SPUS tracks a Shari'ah-compliant index built from the S&amp;P 500 universe, applying specific Shari'ah screening criteria.</a:t>
        </a:r>
      </a:p>
    </p188:txBody>
  </p188:cm>
  <p188:cm id="{A9A9BF2E-DD92-4171-886D-D5B5E0335092}" authorId="{18E71D12-D815-3F05-8FC5-BC99AAF91F62}" created="2026-10-01T06:44:58.0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52" creationId="{00000000-0000-0000-0000-000000000000}"/>
      <ac:txMk cp="70" len="26">
        <ac:context len="819" hash="2385309986"/>
      </ac:txMk>
    </ac:txMkLst>
    <p188:pos x="2094103" y="921906"/>
    <p188:txBody>
      <a:bodyPr/>
      <a:lstStyle/>
      <a:p>
        <a:r>
          <a:rPr lang="en-US"/>
          <a:t>Let’s say: Which one fits my investment goals?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071635-47B9-49A1-B4AC-4F3E75645E13}" authorId="{18E71D12-D815-3F05-8FC5-BC99AAF91F62}" created="2026-09-30T13:57:18.16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90" creationId="{00000000-0000-0000-0000-000000000000}"/>
      <ac:txMk cp="115" len="81">
        <ac:context len="793" hash="703458732"/>
      </ac:txMk>
    </ac:txMkLst>
    <p188:pos x="6570410" y="1412490"/>
    <p188:txBody>
      <a:bodyPr/>
      <a:lstStyle/>
      <a:p>
        <a:r>
          <a:rPr lang="en-US"/>
          <a:t>I like the ovrall idea and the flow. However, I think we should change it to: U.S. equity markets represented 43.7% of global equity market capitalization in 2025. according to https://www.sifma.org/news/blog/2026-capital-markets-fact-book-key-findings</a:t>
        </a:r>
      </a:p>
    </p188:txBody>
  </p188:cm>
  <p188:cm id="{2554342F-25B9-4CF6-892E-8DDCF0DF2C90}" authorId="{18E71D12-D815-3F05-8FC5-BC99AAF91F62}" created="2026-09-30T13:58:01.7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90" creationId="{00000000-0000-0000-0000-000000000000}"/>
      <ac:txMk cp="236" len="73">
        <ac:context len="793" hash="703458732"/>
      </ac:txMk>
    </ac:txMkLst>
    <p188:pos x="5804866" y="2326890"/>
    <p188:replyLst>
      <p188:reply id="{9A2898C2-FEFF-46E8-A0E0-F103EAAD54A5}" authorId="{18E71D12-D815-3F05-8FC5-BC99AAF91F62}" created="2026-10-01T06:37:09.958">
        <p188:txBody>
          <a:bodyPr/>
          <a:lstStyle/>
          <a:p>
            <a:r>
              <a:rPr lang="en-US"/>
              <a:t>Or we can say, last year</a:t>
            </a:r>
          </a:p>
        </p188:txBody>
      </p188:reply>
    </p188:replyLst>
    <p188:txBody>
      <a:bodyPr/>
      <a:lstStyle/>
      <a:p>
        <a:r>
          <a:rPr lang="en-US"/>
          <a:t>Same goes here: U.S. equity market capitalization stood at $68.9 trillion in 2025.</a:t>
        </a:r>
      </a:p>
    </p188:txBody>
  </p188:cm>
  <p188:cm id="{F5EAE6B0-AC99-4154-A8F9-972AC58CE720}" authorId="{18E71D12-D815-3F05-8FC5-BC99AAF91F62}" created="2026-10-01T06:45:54.0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90" creationId="{00000000-0000-0000-0000-000000000000}"/>
      <ac:txMk cp="92" len="20">
        <ac:context len="793" hash="703458732"/>
      </ac:txMk>
    </ac:txMkLst>
    <p188:pos x="1665470" y="1187925"/>
    <p188:txBody>
      <a:bodyPr/>
      <a:lstStyle/>
      <a:p>
        <a:r>
          <a:rPr lang="en-US"/>
          <a:t>Lets say: The World’s Largest Equity Market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974FDA-05E3-4618-A732-F47A29EB11E5}" authorId="{18E71D12-D815-3F05-8FC5-BC99AAF91F62}" created="2026-09-30T13:58:49.64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spMk id="115" creationId="{00000000-0000-0000-0000-000000000000}"/>
      <ac:txMk cp="30" len="4">
        <ac:context len="315" hash="3787464096"/>
      </ac:txMk>
    </ac:txMkLst>
    <p188:pos x="2625664" y="739318"/>
    <p188:txBody>
      <a:bodyPr/>
      <a:lstStyle/>
      <a:p>
        <a:r>
          <a:rPr lang="en-US"/>
          <a:t>buy</a:t>
        </a:r>
      </a:p>
    </p188:txBody>
  </p188:cm>
  <p188:cm id="{CC84E90B-ACFF-4558-AAFC-32F94738201A}" authorId="{18E71D12-D815-3F05-8FC5-BC99AAF91F62}" created="2026-09-30T13:59:09.74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spMk id="115" creationId="{00000000-0000-0000-0000-000000000000}"/>
      <ac:txMk cp="264" len="4">
        <ac:context len="315" hash="3787464096"/>
      </ac:txMk>
    </ac:txMkLst>
    <p188:pos x="2870213" y="3195439"/>
    <p188:txBody>
      <a:bodyPr/>
      <a:lstStyle/>
      <a:p>
        <a:r>
          <a:rPr lang="en-US"/>
          <a:t>buy</a:t>
        </a:r>
      </a:p>
    </p188:txBody>
  </p188:cm>
  <p188:cm id="{A3B6900D-15F4-440D-9620-E996B992D7F5}" authorId="{18E71D12-D815-3F05-8FC5-BC99AAF91F62}" created="2026-10-01T06:40:43.9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spMk id="117" creationId="{00000000-0000-0000-0000-000000000000}"/>
      <ac:txMk cp="301" len="9">
        <ac:context len="396" hash="2170607440"/>
      </ac:txMk>
    </ac:txMkLst>
    <p188:pos x="1948446" y="2768484"/>
    <p188:txBody>
      <a:bodyPr/>
      <a:lstStyle/>
      <a:p>
        <a:r>
          <a:rPr lang="en-US"/>
          <a:t>Unfortunately we do not have real time data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580b7541f_0_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" name="Google Shape;25;g3f580b7541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3e4482777_1_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" name="Google Shape;33;g3f3e4482777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b4af7843d_0_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g3fb4af7843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b4e3c6d27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3fb4e3c6d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84980652_0_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g3fb8498065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ea212878359e98f_0_1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h4ea212878359e98f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7da663f0f3bf80fa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h7da663f0f3bf80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4ea212878359e98f_0_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h4ea212878359e98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4ea212878359e98f_0_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h4ea212878359e98f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4ea212878359e98f_0_2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h4ea212878359e98f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ea212878359e98f_0_1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h4ea212878359e98f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4ea212878359e98f_0_1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h4ea212878359e98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4ea212878359e98f_0_1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h4ea212878359e98f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4ea212878359e98f_0_1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h4ea212878359e98f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84a60ae80_0_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g3e84a60ae80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_Title Slide">
  <p:cSld name="Title Pages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Content Pages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3"/>
          <p:cNvSpPr txBox="1"/>
          <p:nvPr/>
        </p:nvSpPr>
        <p:spPr>
          <a:xfrm>
            <a:off x="11450973" y="6285007"/>
            <a:ext cx="27365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Lato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9;p33"/>
          <p:cNvSpPr txBox="1"/>
          <p:nvPr/>
        </p:nvSpPr>
        <p:spPr>
          <a:xfrm>
            <a:off x="421442" y="6284986"/>
            <a:ext cx="262910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24F PRODUCTION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;p33"/>
          <p:cNvCxnSpPr/>
          <p:nvPr/>
        </p:nvCxnSpPr>
        <p:spPr>
          <a:xfrm>
            <a:off x="507404" y="914402"/>
            <a:ext cx="1117719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" name="Google Shape;11;p33"/>
          <p:cNvPicPr preferRelativeResize="0"/>
          <p:nvPr/>
        </p:nvPicPr>
        <p:blipFill rotWithShape="1">
          <a:blip r:embed="rId2">
            <a:alphaModFix/>
          </a:blip>
          <a:srcRect l="94076"/>
          <a:stretch/>
        </p:blipFill>
        <p:spPr>
          <a:xfrm rot="-5400000">
            <a:off x="5980609" y="634205"/>
            <a:ext cx="230783" cy="12264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microsoft.com/office/2018/10/relationships/comments" Target="../comments/modernComment_103_0.xml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microsoft.com/office/2018/10/relationships/comments" Target="../comments/modernComment_106_0.xml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microsoft.com/office/2018/10/relationships/comments" Target="../comments/modernComment_108_0.xml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515950" y="6107550"/>
            <a:ext cx="19686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500" b="1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OCTOBER</a:t>
            </a:r>
            <a:r>
              <a:rPr lang="en-US" sz="1500" b="1" i="0" u="none" strike="noStrike" cap="none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2026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" descr="Picture 4"/>
          <p:cNvPicPr preferRelativeResize="0"/>
          <p:nvPr/>
        </p:nvPicPr>
        <p:blipFill rotWithShape="1">
          <a:blip r:embed="rId4">
            <a:alphaModFix/>
          </a:blip>
          <a:srcRect l="27140" t="27156" r="27419" b="31956"/>
          <a:stretch/>
        </p:blipFill>
        <p:spPr>
          <a:xfrm>
            <a:off x="10099142" y="231693"/>
            <a:ext cx="1576944" cy="100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424475" y="5213625"/>
            <a:ext cx="371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October content calendar  </a:t>
            </a: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424475" y="4658400"/>
            <a:ext cx="519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eMYAA x AJYAD</a:t>
            </a:r>
            <a:endParaRPr sz="1800" b="1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4143578" y="5447814"/>
            <a:ext cx="319200" cy="33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" name="Google Shape;21;p1" title="Ajyad+Capital+Logo+white.png"/>
          <p:cNvPicPr preferRelativeResize="0"/>
          <p:nvPr/>
        </p:nvPicPr>
        <p:blipFill rotWithShape="1">
          <a:blip r:embed="rId5">
            <a:alphaModFix/>
          </a:blip>
          <a:srcRect l="-12561" t="-41466" r="-18690" b="-39137"/>
          <a:stretch/>
        </p:blipFill>
        <p:spPr>
          <a:xfrm>
            <a:off x="1605441" y="379923"/>
            <a:ext cx="1663273" cy="65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title="Gold+&amp;+White+Logo.png"/>
          <p:cNvPicPr preferRelativeResize="0"/>
          <p:nvPr/>
        </p:nvPicPr>
        <p:blipFill rotWithShape="1">
          <a:blip r:embed="rId6">
            <a:alphaModFix/>
          </a:blip>
          <a:srcRect t="14763" b="14770"/>
          <a:stretch/>
        </p:blipFill>
        <p:spPr>
          <a:xfrm>
            <a:off x="22988" y="279913"/>
            <a:ext cx="1915617" cy="75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580b7541f_0_5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3f580b7541f_0_50"/>
          <p:cNvSpPr/>
          <p:nvPr/>
        </p:nvSpPr>
        <p:spPr>
          <a:xfrm>
            <a:off x="224850" y="684475"/>
            <a:ext cx="117423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f580b7541f_0_5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" name="Google Shape;30;g3f580b7541f_0_50"/>
          <p:cNvGraphicFramePr/>
          <p:nvPr/>
        </p:nvGraphicFramePr>
        <p:xfrm>
          <a:off x="1119775" y="533526"/>
          <a:ext cx="9952450" cy="5653890"/>
        </p:xfrm>
        <a:graphic>
          <a:graphicData uri="http://schemas.openxmlformats.org/drawingml/2006/table">
            <a:tbl>
              <a:tblPr>
                <a:noFill/>
                <a:tableStyleId>{285A2213-206D-4D29-8ACF-96B4C444891F}</a:tableStyleId>
              </a:tblPr>
              <a:tblGrid>
                <a:gridCol w="17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SUN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MON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TUE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WED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THU</a:t>
                      </a:r>
                      <a:endParaRPr sz="1300" u="none" strike="noStrike" cap="none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01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04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05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$5000 Campaign Animation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06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07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sng" strike="noStrike" cap="none" dirty="0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08</a:t>
                      </a:r>
                      <a:endParaRPr sz="1300" b="1" u="none" strike="noStrike" cap="none" dirty="0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 dirty="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SPUS vs other ETFs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 dirty="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11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b="1" u="sng" strike="noStrike" cap="none" dirty="0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12</a:t>
                      </a:r>
                      <a:endParaRPr sz="1300" b="1" u="none" strike="noStrike" cap="none" dirty="0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 dirty="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Power of consistency Animation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 dirty="0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13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14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15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The U.S. Market — By the Numbers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300" u="none" strike="noStrike" cap="none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18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Mention &amp; Win $500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19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20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What Happens After You Tap “Buy”?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21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highlight>
                          <a:srgbClr val="D9EAD3"/>
                        </a:highlight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22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Manal Talal Video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25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Female Investors: Building Financial Future 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26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27</a:t>
                      </a:r>
                      <a:endParaRPr sz="1300" b="1" u="none" strike="noStrike" cap="none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 new path for your future </a:t>
                      </a: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28</a:t>
                      </a:r>
                      <a:endParaRPr sz="1300" u="none" strike="noStrike" cap="none">
                        <a:solidFill>
                          <a:srgbClr val="4A86E8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sng" strike="noStrike" cap="none" dirty="0">
                          <a:solidFill>
                            <a:srgbClr val="4A86E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29</a:t>
                      </a:r>
                      <a:endParaRPr sz="1300" b="1" u="none" strike="noStrike" cap="none" dirty="0">
                        <a:solidFill>
                          <a:srgbClr val="4A86E8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 dirty="0">
                          <a:solidFill>
                            <a:schemeClr val="dk1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Market Pulse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3e4482777_1_44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f3e4482777_1_44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f3e4482777_1_44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g3f3e4482777_1_44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g3f3e4482777_1_44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g3f3e4482777_1_44"/>
          <p:cNvSpPr txBox="1"/>
          <p:nvPr/>
        </p:nvSpPr>
        <p:spPr>
          <a:xfrm>
            <a:off x="1287050" y="1525925"/>
            <a:ext cx="8410200" cy="474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الأول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(</a:t>
            </a:r>
            <a:r>
              <a:rPr lang="en-US" sz="1300" b="0" i="0" u="none" strike="noStrike" cap="none" dirty="0" err="1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عنوان</a:t>
            </a:r>
            <a:r>
              <a:rPr lang="en-US" sz="1300" b="0" i="0" u="none" strike="noStrike" cap="none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فرعي</a:t>
            </a:r>
            <a:r>
              <a:rPr lang="en-US" sz="1300" b="0" i="0" u="none" strike="noStrike" cap="none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):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اعرفها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صـح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عنوان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رئيسي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الصنادي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ــــق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الاستثماري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ـــــة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أيّها يناسب أهدافي الاستثمارية؟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الثاني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عندما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تشتري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صندوق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ETF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تقليدي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يتبع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S&amp;P 500،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فأنت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تستثمر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حزمة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تضم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أكبر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500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شركة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أمريكية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بحسب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قيمتها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السوقية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الثالث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وتشمل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هذه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الحزمة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جميع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القطاعات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دون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استثناء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بما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فيها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القطاع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المالي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التقليدي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والشركات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ذات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المديونيات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المرتفعة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الرابع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حين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يعتمد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صندوق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مثل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SPUS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منهجية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مختلفة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الانتقاء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الخامس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يتبع صندوق SPUS مؤشرًا متوافقًا مع أحكام الشريعة الإسلامية، مبنيًا على شركات مؤشر S&amp;P 500، ويطبّق معايير فرز شرعية محددة.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البوست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السادس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فهم الفرق في هيكلة الصناديق يساعدك على اتخاذ قرارات متوازنة تناسب أهدافك الاستثمارية 💡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استكشف وتداول مختلف صناديق المؤشرات المتداولة الآن عبر تطبيق eMYAA.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1" name="Google Shape;41;g3f3e4482777_1_44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g3f3e4482777_1_44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SPUS vs other ETFs  I   Date: 08 Oct</a:t>
            </a:r>
            <a:endParaRPr sz="13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b4af7843d_0_37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fb4af7843d_0_37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b4af7843d_0_37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g3fb4af7843d_0_37" descr="Picture 4"/>
          <p:cNvPicPr preferRelativeResize="0"/>
          <p:nvPr/>
        </p:nvPicPr>
        <p:blipFill rotWithShape="1">
          <a:blip r:embed="rId4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" name="Google Shape;51;g3fb4af7843d_0_37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g3fb4af7843d_0_37"/>
          <p:cNvSpPr txBox="1"/>
          <p:nvPr/>
        </p:nvSpPr>
        <p:spPr>
          <a:xfrm>
            <a:off x="1287050" y="1055750"/>
            <a:ext cx="8410200" cy="55992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Cover Post: </a:t>
            </a:r>
            <a:endParaRPr sz="15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1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(Subtitle):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Know It Right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(Main Title): Investment Funds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 one fits my investment goals?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 </a:t>
            </a:r>
            <a:endParaRPr sz="15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When you purchase a conventional ETF that tracks the S&amp;P 500 index, you are investing in a basket containing the top 500 U.S. companies by market capitalization.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 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basket covers all sectors without exception, including traditional financial institutions and highly indebted companies.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the other hand, a fund like SPUS relies on a different selection methodology.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5: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SPUS tracks a Shari'ah-compliant index built from the S&amp;P 500 universe, applying specific Shari'ah screening criteria.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6: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Knowing how funds are structured helps you make balanced decisions that fit your investment goals. 💡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 and trade a range of ETFs now on the eMYAA app.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" name="Google Shape;53;g3fb4af7843d_0_37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4e3c6d27_0_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fb4e3c6d27_0_0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fb4e3c6d27_0_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fb4e3c6d27_0_0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g3fb4e3c6d27_0_0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g3fb4e3c6d27_0_0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g3fb4e3c6d27_0_0"/>
          <p:cNvSpPr txBox="1"/>
          <p:nvPr/>
        </p:nvSpPr>
        <p:spPr>
          <a:xfrm>
            <a:off x="927821" y="1760125"/>
            <a:ext cx="4514400" cy="368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النص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السر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الذي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يعرفه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الكثير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عن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الاستثمار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..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يظن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البعض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أن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المهم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هو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كم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تستثمر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؟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لكن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الأهم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كم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مرة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تكرر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ذلك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؟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وينتظر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الكثيرون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الحصول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على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مبلغ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كبير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للبدء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..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بينما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المستثمر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الذكي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هو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يبدأ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بمبلغ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بسيط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ويكرره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بشكل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منتظم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ببساطة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،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كيف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تفعل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ذلك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؟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حدد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مبلغًا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يؤثر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على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حياتك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اليومية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اختر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يومًا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ثابتًا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من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شهر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حوّل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العملية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لعادة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تلقائية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دون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التفكير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في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تقلبات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السوق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وتذكر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دائمًا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الاستمرارية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هي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المحرك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الحقيقي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للنمو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المالي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!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65" name="Google Shape;65;g3fb4e3c6d27_0_0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The Power of Consistency  - Animation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g3fb4e3c6d27_0_0"/>
          <p:cNvSpPr txBox="1"/>
          <p:nvPr/>
        </p:nvSpPr>
        <p:spPr>
          <a:xfrm>
            <a:off x="6322071" y="1760125"/>
            <a:ext cx="5230500" cy="415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Script: </a:t>
            </a:r>
            <a:endParaRPr sz="15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secret most people don't know about investing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Some think it’s about </a:t>
            </a:r>
            <a:r>
              <a:rPr lang="en-US" sz="1300" b="0" i="1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much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you invest, but what truly matters is </a:t>
            </a:r>
            <a:r>
              <a:rPr lang="en-US" sz="1300" b="0" i="1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often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you repeat it.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Many wait until they have a large sum to get started, but the smart investor begins with a small amount and repeats it consistently.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How can you easily do this?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810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Set an amount that won't affect your daily life.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810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Pick a fixed day every month.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3810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Turn the process into an automatic habit, without stressing over market fluctuations.</a:t>
            </a:r>
            <a:endParaRPr sz="13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always remember: 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Consistency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is the real engine of financial growth!</a:t>
            </a:r>
            <a:endParaRPr sz="15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67" name="Google Shape;67;g3fb4e3c6d27_0_0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Power of Consistency   I    Date: 12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b84980652_0_4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b84980652_0_4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b84980652_0_4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g3fb84980652_0_4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g3fb84980652_0_4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g3fb84980652_0_4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g3fb84980652_0_4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U.S. Market — By the Numbers  I  Date: 15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g3fb84980652_0_4"/>
          <p:cNvSpPr txBox="1"/>
          <p:nvPr/>
        </p:nvSpPr>
        <p:spPr>
          <a:xfrm>
            <a:off x="1287049" y="1525925"/>
            <a:ext cx="8410200" cy="457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الأول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دليلك المختصر لسوق الأسهم الأمريكية بالأرقام 📊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الثاني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أكبر سوق أسهم في العالم 🌐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شكّلت أسواق الأسهم الأمريكية 43.7% من إجمالي القيمة السوقية للأسهم عالميًا في عام 2025.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الثالث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قوة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مالية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لا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تُضاهى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💰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بلغت القيمة السوقية لأسواق الأسهم الأمريكية 68.9 تريليون دولار في العام الماضي، أي ما يعادل 4.4 أضعاف حجم السوق الصينية، ثاني أكبر سوق أسهم في العالم.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الرابع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خيارات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استثمارية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متنوعة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أكثر من 5,500 شركة مدرجة في بورصتي نيويورك (NYSE) وناسداك (NASDAQ)، ما يمنحك خيارات واسعة بين القطاعات والشركات.</a:t>
            </a: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الخامس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 </a:t>
            </a: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البداية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أسهل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ممّا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تتخيل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! 💡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استكشف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مجموعة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مختارة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الأسهم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الأمريكية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عبر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بحد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أدنى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للإيداع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يبدأ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50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دولاراً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فقط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15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الفوتر (على جميع الشرائح):</a:t>
            </a:r>
            <a:endParaRPr sz="1300" b="0" i="1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1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المصدر: SIFMA - Capital Markets Fact Book 2026. البيانات حتى عام 2025. لأغراض توعوية فقط، ولا تُعد نصيحة استثمارية.</a:t>
            </a:r>
            <a:endParaRPr sz="13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4ea212878359e98f_0_194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h4ea212878359e98f_0_194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h4ea212878359e98f_0_194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h4ea212878359e98f_0_194" descr="Picture 4"/>
          <p:cNvPicPr preferRelativeResize="0"/>
          <p:nvPr/>
        </p:nvPicPr>
        <p:blipFill rotWithShape="1">
          <a:blip r:embed="rId4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h4ea212878359e98f_0_194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h4ea212878359e98f_0_194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h4ea212878359e98f_0_194"/>
          <p:cNvSpPr txBox="1"/>
          <p:nvPr/>
        </p:nvSpPr>
        <p:spPr>
          <a:xfrm>
            <a:off x="1287050" y="1213752"/>
            <a:ext cx="8615400" cy="48313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Cover Post: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quick guide to the U.S. stock market, by the numbers 📊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 </a:t>
            </a:r>
            <a:endParaRPr sz="1300" b="0" i="0" u="none" strike="noStrike" cap="none" dirty="0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World's Largest Equity Market 🌐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U.S. equity markets represented 43.7% of global equity market capitalization in 2025.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 </a:t>
            </a:r>
            <a:endParaRPr sz="1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Unmatched Financial Power 💰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market capitalization of U.S. equity markets reached $68.9 trillion last year, 4.4 times the size of China's market, the world's second largest.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Diverse Investment Options 🏢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More than 5,500 companies are listed on the New York Stock Exchange (NYSE) and NASDAQ, giving you a wide choice of sectors and companies.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5: 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Getting started is easier than you think! 💡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 a curated selection of U.S. stocks via the </a:t>
            </a:r>
            <a:r>
              <a:rPr lang="en-US" sz="1150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15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app, with a minimum deposit starting at just $50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0" u="none" strike="noStrike" cap="none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Footer (on every slide):</a:t>
            </a:r>
            <a:endParaRPr sz="1300" b="0" i="0" u="none" strike="noStrike" cap="none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 b="0" i="1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Source: SIFMA Capital Markets Fact Book 2026. Data as of 2025. For information only, not investment advice.</a:t>
            </a: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7da663f0f3bf80fa_0_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h7da663f0f3bf80fa_0_0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h7da663f0f3bf80fa_0_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h7da663f0f3bf80fa_0_0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h7da663f0f3bf80fa_0_0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h7da663f0f3bf80fa_0_0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h7da663f0f3bf80fa_0_0"/>
          <p:cNvSpPr txBox="1"/>
          <p:nvPr/>
        </p:nvSpPr>
        <p:spPr>
          <a:xfrm>
            <a:off x="829917" y="2260807"/>
            <a:ext cx="4514400" cy="272536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النص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ar-BH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في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ar-BH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نساعدك تبدأ رحلتك الاستثمارية، ونمنحك فرصة للفوز بـ500 دولار تُضاف مباشرة إلى حسابك.</a:t>
            </a:r>
            <a:endParaRPr lang="en-US"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اللي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عليك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تسويه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تتابع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حسابنا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وتسوي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منشن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والأهم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يكون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عندك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حساب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خاص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فيك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تفوّت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الفرصة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وشارك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اليوم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   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02" name="Google Shape;102;h7da663f0f3bf80fa_0_0"/>
          <p:cNvSpPr txBox="1"/>
          <p:nvPr/>
        </p:nvSpPr>
        <p:spPr>
          <a:xfrm>
            <a:off x="1287050" y="587425"/>
            <a:ext cx="46608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Mention &amp; Win - Animation with VO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h7da663f0f3bf80fa_0_0"/>
          <p:cNvSpPr txBox="1"/>
          <p:nvPr/>
        </p:nvSpPr>
        <p:spPr>
          <a:xfrm>
            <a:off x="6387492" y="2242068"/>
            <a:ext cx="4514400" cy="326474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Script: </a:t>
            </a:r>
            <a:endParaRPr sz="15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we’re here to support your investment journey and give you the chance to win $500.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you need to do: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Follow our account and mention a friend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Make sure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you have an active account on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app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Don't miss the opportunity, participate today!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4" name="Google Shape;104;h7da663f0f3bf80fa_0_0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Mention &amp; Win $500   I   Date: 18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8AE6D0-E122-2B34-4421-8160B12BF4FA}"/>
              </a:ext>
            </a:extLst>
          </p:cNvPr>
          <p:cNvSpPr txBox="1"/>
          <p:nvPr/>
        </p:nvSpPr>
        <p:spPr>
          <a:xfrm>
            <a:off x="914400" y="571948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ea212878359e98f_0_29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h4ea212878359e98f_0_29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4ea212878359e98f_0_29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h4ea212878359e98f_0_29" descr="Picture 4"/>
          <p:cNvPicPr preferRelativeResize="0"/>
          <p:nvPr/>
        </p:nvPicPr>
        <p:blipFill rotWithShape="1">
          <a:blip r:embed="rId4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h4ea212878359e98f_0_29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h4ea212878359e98f_0_29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h4ea212878359e98f_0_29"/>
          <p:cNvSpPr txBox="1"/>
          <p:nvPr/>
        </p:nvSpPr>
        <p:spPr>
          <a:xfrm>
            <a:off x="829917" y="2152738"/>
            <a:ext cx="4514400" cy="343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النص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ماذا يحدث بعد ما تضغط «Buy»؟</a:t>
            </a: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أولًا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تابع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طلبك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.</a:t>
            </a:r>
            <a:endParaRPr b="1"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ادخل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Orders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أسفل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التطبيق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وتعرّف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على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حالة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طلبك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تقدر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تتأكد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إذا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كان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السوق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مفتوحًا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أو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متى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بيفتح</a:t>
            </a:r>
            <a:r>
              <a:rPr lang="en-US" dirty="0">
                <a:latin typeface="Rubik"/>
                <a:ea typeface="Rubik"/>
                <a:cs typeface="Rubik"/>
                <a:sym typeface="Rubik"/>
              </a:rPr>
              <a:t>.</a:t>
            </a: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ثانيًا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تابع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حركة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1" dirty="0" err="1">
                <a:latin typeface="Rubik"/>
                <a:ea typeface="Rubik"/>
                <a:cs typeface="Rubik"/>
                <a:sym typeface="Rubik"/>
              </a:rPr>
              <a:t>السهم</a:t>
            </a:r>
            <a:r>
              <a:rPr lang="en-US" b="1" dirty="0">
                <a:latin typeface="Rubik"/>
                <a:ea typeface="Rubik"/>
                <a:cs typeface="Rubik"/>
                <a:sym typeface="Rubik"/>
              </a:rPr>
              <a:t>.</a:t>
            </a:r>
            <a:endParaRPr b="1"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من قسم Trade، تقدر تتابع حركة السعر وتشوف الرسم البياني (Chart) للسهم.</a:t>
            </a: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latin typeface="Rubik"/>
              <a:ea typeface="Rubik"/>
              <a:cs typeface="Rubik"/>
              <a:sym typeface="Rubik"/>
            </a:endParaRPr>
          </a:p>
          <a:p>
            <a:pPr lvl="0" algn="r" rtl="1">
              <a:lnSpc>
                <a:spcPct val="115000"/>
              </a:lnSpc>
              <a:buSzPts val="1100"/>
            </a:pPr>
            <a:r>
              <a:rPr lang="en-US" dirty="0" err="1">
                <a:latin typeface="Rubik"/>
                <a:ea typeface="Rubik"/>
                <a:cs typeface="Rubik"/>
                <a:sym typeface="Rubik"/>
              </a:rPr>
              <a:t>من لحظة الضغط على «Buy»… تقدر تتابع كل استثمارك من خلال تطبيق eMYAA.</a:t>
            </a:r>
            <a:endParaRPr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6" name="Google Shape;116;h4ea212878359e98f_0_29"/>
          <p:cNvSpPr txBox="1"/>
          <p:nvPr/>
        </p:nvSpPr>
        <p:spPr>
          <a:xfrm>
            <a:off x="1287050" y="587425"/>
            <a:ext cx="73554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What Happens After You Tap “Buy”? - Video 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h4ea212878359e98f_0_29"/>
          <p:cNvSpPr txBox="1"/>
          <p:nvPr/>
        </p:nvSpPr>
        <p:spPr>
          <a:xfrm>
            <a:off x="6387480" y="1899209"/>
            <a:ext cx="4514400" cy="394415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Script: 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What Happens After You Tap “Buy”?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dirty="0">
                <a:latin typeface="Montserrat"/>
                <a:ea typeface="Montserrat"/>
                <a:cs typeface="Montserrat"/>
                <a:sym typeface="Montserrat"/>
              </a:rPr>
              <a:t>First, track your order.</a:t>
            </a:r>
            <a:endParaRPr sz="12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Head to Orders at the bottom of the app to check your order status and see whether the market is open or when it’s scheduled to open.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1" dirty="0">
                <a:latin typeface="Montserrat"/>
                <a:ea typeface="Montserrat"/>
                <a:cs typeface="Montserrat"/>
                <a:sym typeface="Montserrat"/>
              </a:rPr>
              <a:t>Then, follow the market.</a:t>
            </a:r>
            <a:endParaRPr sz="12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Go to Trade to track the stock’s price movement and view its chart.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R="381000" lvl="0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From placing your order to tracking the market, the </a:t>
            </a:r>
            <a:r>
              <a:rPr lang="en-US" sz="1200" dirty="0" err="1"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dirty="0">
                <a:latin typeface="Montserrat"/>
                <a:ea typeface="Montserrat"/>
                <a:cs typeface="Montserrat"/>
                <a:sym typeface="Montserrat"/>
              </a:rPr>
              <a:t> app keeps you informed.</a:t>
            </a:r>
            <a:endParaRPr sz="12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h4ea212878359e98f_0_29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>
                <a:latin typeface="Montserrat Light"/>
                <a:ea typeface="Montserrat Light"/>
                <a:cs typeface="Montserrat Light"/>
                <a:sym typeface="Montserrat Light"/>
              </a:rPr>
              <a:t>What Happens After You Tap “Buy”?</a:t>
            </a: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I   Date: </a:t>
            </a:r>
            <a:r>
              <a:rPr lang="en-US" sz="1300">
                <a:latin typeface="Montserrat Light"/>
                <a:ea typeface="Montserrat Light"/>
                <a:cs typeface="Montserrat Light"/>
                <a:sym typeface="Montserrat Light"/>
              </a:rPr>
              <a:t>20</a:t>
            </a:r>
            <a:r>
              <a:rPr lang="en-US" sz="1300" b="0" i="0" u="none" strike="noStrike" cap="none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Oct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4ea212878359e98f_0_59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h4ea212878359e98f_0_59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h4ea212878359e98f_0_59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h4ea212878359e98f_0_59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h4ea212878359e98f_0_59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h4ea212878359e98f_0_59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h4ea212878359e98f_0_59"/>
          <p:cNvSpPr txBox="1"/>
          <p:nvPr/>
        </p:nvSpPr>
        <p:spPr>
          <a:xfrm>
            <a:off x="829892" y="1806288"/>
            <a:ext cx="4514400" cy="3819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الأول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استثماركِ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اليوم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أمان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الغد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لكِ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ولأبنائك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(</a:t>
            </a:r>
            <a:r>
              <a:rPr lang="en-US" sz="1400" b="0" i="0" u="none" strike="noStrike" cap="none" dirty="0" err="1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عنوان</a:t>
            </a:r>
            <a:r>
              <a:rPr lang="en-US" sz="1400" b="0" i="0" u="none" strike="noStrike" cap="none" dirty="0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فرعي</a:t>
            </a:r>
            <a:r>
              <a:rPr lang="en-US" sz="1400" b="0" i="0" u="none" strike="noStrike" cap="none" dirty="0">
                <a:solidFill>
                  <a:srgbClr val="8F8F8F"/>
                </a:solidFill>
                <a:latin typeface="Rubik"/>
                <a:ea typeface="Rubik"/>
                <a:cs typeface="Rubik"/>
                <a:sym typeface="Rubik"/>
              </a:rPr>
              <a:t>):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والبداية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أسهل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ممّا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تتخيلين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الثاني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لبدء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رحلتك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الاستثمارية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تحتاجين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لرأس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مال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ضخم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أو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قضاء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ساعات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طويلة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تحليل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الأسواق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الثالث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تحتاجينه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50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دولار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فقط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خطوة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بسيطة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اليوم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تعود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عليك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وعلى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عائلتك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بالنفع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غدًا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الرابع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ومع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عملية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تداول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تقومين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بها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خلال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وحتى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نهاية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ديسمبر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تتضاعف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فرص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فوزك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بجوائز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تصل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قيمتها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لـ5000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دولار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h4ea212878359e98f_0_59"/>
          <p:cNvSpPr txBox="1"/>
          <p:nvPr/>
        </p:nvSpPr>
        <p:spPr>
          <a:xfrm>
            <a:off x="1287050" y="587425"/>
            <a:ext cx="46608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h4ea212878359e98f_0_59"/>
          <p:cNvSpPr txBox="1"/>
          <p:nvPr/>
        </p:nvSpPr>
        <p:spPr>
          <a:xfrm>
            <a:off x="6387492" y="1806288"/>
            <a:ext cx="4514400" cy="379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1: </a:t>
            </a:r>
            <a:endParaRPr sz="12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Your investment today is tomorrow’s security for you and your children.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1" u="none" strike="noStrike" cap="none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(Subtitle):</a:t>
            </a:r>
            <a:r>
              <a:rPr lang="en-US" sz="1200" b="0" i="0" u="none" strike="noStrike" cap="none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And starting is easier than you think!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begin your investment journey, you don't need huge capital or long hours analyzing the markets.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you need is just $50. A simple step today pays off for you and your family tomorrow.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With every trade you make through the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eMYAA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app until the end of December, you double your chances of winning prizes worth up to $5,000!</a:t>
            </a:r>
            <a:endParaRPr sz="15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2" name="Google Shape;132;h4ea212878359e98f_0_59"/>
          <p:cNvSpPr txBox="1"/>
          <p:nvPr/>
        </p:nvSpPr>
        <p:spPr>
          <a:xfrm>
            <a:off x="1287050" y="1195200"/>
            <a:ext cx="6751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buSzPts val="1400"/>
            </a:pPr>
            <a:r>
              <a:rPr lang="en-US" sz="1300" dirty="0">
                <a:latin typeface="Montserrat Light"/>
                <a:ea typeface="Montserrat Light"/>
                <a:cs typeface="Montserrat Light"/>
                <a:sym typeface="Montserrat Light"/>
              </a:rPr>
              <a:t>Mothers &amp; Investing: Building a Financial Future I  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Date: 25 Oct</a:t>
            </a:r>
            <a:endParaRPr sz="1900" b="1" i="0" u="none" strike="noStrike" cap="none" dirty="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ea212878359e98f_0_211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h4ea212878359e98f_0_211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h4ea212878359e98f_0_211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h4ea212878359e98f_0_211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h4ea212878359e98f_0_211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2" name="Google Shape;142;h4ea212878359e98f_0_211"/>
          <p:cNvCxnSpPr/>
          <p:nvPr/>
        </p:nvCxnSpPr>
        <p:spPr>
          <a:xfrm>
            <a:off x="5865898" y="1814950"/>
            <a:ext cx="0" cy="411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h4ea212878359e98f_0_211"/>
          <p:cNvSpPr txBox="1"/>
          <p:nvPr/>
        </p:nvSpPr>
        <p:spPr>
          <a:xfrm>
            <a:off x="829892" y="1793000"/>
            <a:ext cx="4514400" cy="4179477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الأول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ابدأ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رحلتك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الاستثمارية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اليوم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بأسلوب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048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ubik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أسهل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048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ubik"/>
              <a:buChar char="●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أذكى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048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ubik"/>
              <a:buChar char="●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ومتوافق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مع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قيمك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الثاني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-BH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ومع منصة تمنحك</a:t>
            </a:r>
            <a:endParaRPr lang="en-US" sz="12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171450" marR="0" lvl="0" indent="-1714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سهولة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الاستخدام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تجربة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انضمام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وتداول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سريعة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مباشرة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هاتفك</a:t>
            </a:r>
            <a:endParaRPr lang="en-US" sz="1200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171450" marR="0" lvl="0" indent="-1714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آمن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وصول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إلى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أسهم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وصناديق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(ETFs)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ومؤشرات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متوافقة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مع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الشريعة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الإسلامية</a:t>
            </a:r>
            <a:endParaRPr lang="en-US" sz="1200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171450" marR="0" lvl="0" indent="-1714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بداية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مرنة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ابدأ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استثمارك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برأس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مال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مناسب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وبكل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مرونة</a:t>
            </a:r>
            <a:endParaRPr sz="12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الثالث</a:t>
            </a:r>
            <a:r>
              <a:rPr lang="en-US" sz="124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ومع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كل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عملية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تداول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تقوم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بها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خلال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تطبيق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eMYAA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وحتى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نهاية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ديسمبر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،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تتضاعف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فرص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فوزك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بجوائز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تصل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قيمتها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لـ5000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دولار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endParaRPr sz="1200" b="0" i="0" u="none" strike="noStrike" cap="none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"/>
              <a:buFont typeface="Arial"/>
              <a:buNone/>
            </a:pP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24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</a:t>
            </a:r>
            <a:r>
              <a:rPr lang="en-US" sz="124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US" sz="1240" b="0" i="0" u="none" strike="noStrike" cap="none" dirty="0" err="1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الرابع</a:t>
            </a:r>
            <a:r>
              <a:rPr lang="en-US" sz="1240" b="0" i="0" u="none" strike="noStrike" cap="none" dirty="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:</a:t>
            </a:r>
            <a:endParaRPr sz="124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📲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حمل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التطبيق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الآن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وافتح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حسابك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في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دقائق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4" name="Google Shape;144;h4ea212878359e98f_0_211"/>
          <p:cNvSpPr txBox="1"/>
          <p:nvPr/>
        </p:nvSpPr>
        <p:spPr>
          <a:xfrm>
            <a:off x="1287050" y="587425"/>
            <a:ext cx="46608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h4ea212878359e98f_0_211"/>
          <p:cNvSpPr txBox="1"/>
          <p:nvPr/>
        </p:nvSpPr>
        <p:spPr>
          <a:xfrm>
            <a:off x="6387492" y="1618938"/>
            <a:ext cx="4514400" cy="452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1: </a:t>
            </a: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Start your investment journey today in a way that is: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Easier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Smarter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Aligned with your values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a platform that offers you: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Ease of use: Fast onboarding and seamless trading straight from your phone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Secure investing: Access to Shari'ah-compliant stocks, ETFs, and indices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Flexible start: Begin investing with a suitable capital and full flexibility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every trade you make through the eMYAA app until the end of December, double your chances to win prizes worth up to $5,000!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📲 </a:t>
            </a:r>
            <a:r>
              <a:rPr lang="en-U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Download the app now and open your account in minutes!</a:t>
            </a:r>
            <a:endParaRPr sz="15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h4ea212878359e98f_0_211"/>
          <p:cNvSpPr txBox="1"/>
          <p:nvPr/>
        </p:nvSpPr>
        <p:spPr>
          <a:xfrm>
            <a:off x="1287050" y="1195200"/>
            <a:ext cx="6751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new path for your future</a:t>
            </a:r>
            <a:r>
              <a:rPr lang="en-US" sz="1300" b="0" i="0" u="none" strike="noStrike" cap="none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I  Date: 27 Oct</a:t>
            </a:r>
            <a:endParaRPr sz="1900" b="1" i="0" u="none" strike="noStrike" cap="none" dirty="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4ea212878359e98f_0_108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4ea212878359e98f_0_108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h4ea212878359e98f_0_108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h4ea212878359e98f_0_108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h4ea212878359e98f_0_108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h4ea212878359e98f_0_108"/>
          <p:cNvSpPr txBox="1"/>
          <p:nvPr/>
        </p:nvSpPr>
        <p:spPr>
          <a:xfrm>
            <a:off x="1287050" y="1525925"/>
            <a:ext cx="8410200" cy="469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الأول: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إليك أهم ما حرّك المشهد المالي هذا الشهر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الثاني: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مستويات قياسية تقود الأسواق الأمريكية 🇺🇸</a:t>
            </a:r>
            <a:endParaRPr sz="1300" b="0" i="0" u="none" strike="noStrike" cap="none">
              <a:solidFill>
                <a:schemeClr val="dk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استمرت الأسواق الأمريكية في تحقيق المكاسب مع نهاية أكتوبر، مدفوعة بزخم شركات التكنولوجيا الكبرى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 S&amp;P 500: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 ناسداك المركب: سجل (…) نقطة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مؤشر داو جونز الصناعي: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الثالث: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لم يقتصر المشهد على الأسواق الأمريكية؛ حيث أظهرت الأسواق الإقليمية والعالمية تحركات لافتة: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تاسي (TASI):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سوق دبي المالي (DFMGI): سجل (…) نقطة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ubik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هانغ سينغ (Hang Seng): أغلق عند (..)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74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الرابع:</a:t>
            </a:r>
            <a:endParaRPr sz="13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لكن المشهد لا يخلو من التحديات والمحطات المفصلية ⚖️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شهد شهر أكتوبر قرارات واضحة وتبايناً في البيانات الاقتصادية التي رسمت توجهات الأسواق: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قرار الفيدرالي: ثبت مجلس الاحتياطي الفيدرالي نطاق الفائدة المرجعية عند (...) في اجتماعه بتاريخ (..)</a:t>
            </a:r>
            <a:endParaRPr sz="1300" b="0" i="1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التضخم الأمريكي: أظهرت بيانات CPI الصادرة في (..) تسارعاً سنوياً عند (..) </a:t>
            </a:r>
            <a:endParaRPr sz="1300" b="0" i="1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457200" marR="0" lvl="0" indent="-31115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US" sz="13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أسعار النفط: </a:t>
            </a:r>
            <a:endParaRPr sz="13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7" name="Google Shape;157;h4ea212878359e98f_0_108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h4ea212878359e98f_0_108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Market Pulse  I   Date: 29 Oct</a:t>
            </a:r>
            <a:endParaRPr sz="13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4ea212878359e98f_0_120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h4ea212878359e98f_0_120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4ea212878359e98f_0_120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h4ea212878359e98f_0_120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h4ea212878359e98f_0_120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" name="Google Shape;168;h4ea212878359e98f_0_120"/>
          <p:cNvSpPr txBox="1"/>
          <p:nvPr/>
        </p:nvSpPr>
        <p:spPr>
          <a:xfrm>
            <a:off x="1287050" y="3150013"/>
            <a:ext cx="8410200" cy="95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rPr>
              <a:t>البوست الخامس:</a:t>
            </a:r>
            <a:endParaRPr sz="14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فهمك للمشهد المالي يساعدك على اتخاذ قرارات استثمارية أكثر دقة وتوازناً.</a:t>
            </a: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مع eMYAA</a:t>
            </a: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ابقَ على اطلاع 💡</a:t>
            </a:r>
            <a:endParaRPr sz="1400" b="0" i="0" u="none" strike="noStrike" cap="non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9" name="Google Shape;169;h4ea212878359e98f_0_120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AR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h4ea212878359e98f_0_120"/>
          <p:cNvSpPr txBox="1"/>
          <p:nvPr/>
        </p:nvSpPr>
        <p:spPr>
          <a:xfrm>
            <a:off x="1287050" y="1195200"/>
            <a:ext cx="6022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Market Pulse  I   Date: 29 Oct</a:t>
            </a:r>
            <a:endParaRPr sz="13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ea212878359e98f_0_131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4ea212878359e98f_0_131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4ea212878359e98f_0_131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h4ea212878359e98f_0_131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h4ea212878359e98f_0_131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h4ea212878359e98f_0_131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h4ea212878359e98f_0_131"/>
          <p:cNvSpPr txBox="1"/>
          <p:nvPr/>
        </p:nvSpPr>
        <p:spPr>
          <a:xfrm>
            <a:off x="1287050" y="1145913"/>
            <a:ext cx="8410200" cy="532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Cover Post: </a:t>
            </a:r>
            <a:endParaRPr sz="15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Here is what moved the financial landscape this month 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2: </a:t>
            </a:r>
            <a:endParaRPr sz="1500" b="0" i="0" u="none" strike="noStrike" cap="none">
              <a:solidFill>
                <a:schemeClr val="dk1"/>
              </a:solidFill>
              <a:latin typeface="Rubik Medium"/>
              <a:ea typeface="Rubik Medium"/>
              <a:cs typeface="Rubik Medium"/>
              <a:sym typeface="Rubik Medium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Record Levels Driving U.S. Markets 🇺🇸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U.S. markets continued to post gains through the end of October, driven by momentum in major tech stocks: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S&amp;P 500 Index: Closed at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Nasdaq Composite Index: Reached (...) points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Dow Jones Industrial Average: Closed at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3: 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momentum was not limited to U.S. markets; regional and global markets also showed notable movements: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Tadawul All Share Index (TASI): Closed at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Dubai Financial Market General Index (DFMGI): Reached (...) points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Hang Seng Index: Closed at (...)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4: 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However, the landscape is not without its challenges and key turning points ⚖️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October witnessed decisive moves and diverging economic data that shaped market direction: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Federal Reserve Decision: The Federal Reserve held benchmark interest rates steady at (...) during its meeting on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U.S. Inflation: CPI data released on (...) showed an annual acceleration of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Oil Prices: (...)</a:t>
            </a: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4ea212878359e98f_0_151"/>
          <p:cNvSpPr/>
          <p:nvPr/>
        </p:nvSpPr>
        <p:spPr>
          <a:xfrm>
            <a:off x="9195300" y="8014975"/>
            <a:ext cx="2076000" cy="39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4ea212878359e98f_0_151"/>
          <p:cNvSpPr/>
          <p:nvPr/>
        </p:nvSpPr>
        <p:spPr>
          <a:xfrm>
            <a:off x="192675" y="831025"/>
            <a:ext cx="11483400" cy="390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4ea212878359e98f_0_151"/>
          <p:cNvSpPr/>
          <p:nvPr/>
        </p:nvSpPr>
        <p:spPr>
          <a:xfrm>
            <a:off x="317625" y="6036906"/>
            <a:ext cx="1501800" cy="50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h4ea212878359e98f_0_151" descr="Picture 4"/>
          <p:cNvPicPr preferRelativeResize="0"/>
          <p:nvPr/>
        </p:nvPicPr>
        <p:blipFill rotWithShape="1">
          <a:blip r:embed="rId3">
            <a:alphaModFix/>
          </a:blip>
          <a:srcRect l="27139" t="27158" r="27417" b="31947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h4ea212878359e98f_0_151"/>
          <p:cNvCxnSpPr/>
          <p:nvPr/>
        </p:nvCxnSpPr>
        <p:spPr>
          <a:xfrm>
            <a:off x="1287050" y="1064575"/>
            <a:ext cx="841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h4ea212878359e98f_0_151"/>
          <p:cNvSpPr txBox="1"/>
          <p:nvPr/>
        </p:nvSpPr>
        <p:spPr>
          <a:xfrm>
            <a:off x="1287050" y="587425"/>
            <a:ext cx="5542500" cy="2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Carousel Post - EN</a:t>
            </a:r>
            <a:endParaRPr sz="1900" b="1" i="0" u="none" strike="noStrike" cap="none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h4ea212878359e98f_0_151"/>
          <p:cNvSpPr txBox="1"/>
          <p:nvPr/>
        </p:nvSpPr>
        <p:spPr>
          <a:xfrm>
            <a:off x="1287050" y="2731651"/>
            <a:ext cx="8410200" cy="17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Post 5: </a:t>
            </a:r>
            <a:endParaRPr sz="1300" b="0" i="0" u="none" strike="noStrike" cap="non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financial landscape helps you make more precise and balanced investment decisions.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eMYAA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Stay informed 💡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84a60ae80_0_94"/>
          <p:cNvSpPr txBox="1"/>
          <p:nvPr/>
        </p:nvSpPr>
        <p:spPr>
          <a:xfrm>
            <a:off x="515950" y="6107550"/>
            <a:ext cx="19686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THANK YOU!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e84a60ae80_0_94" descr="Picture 4"/>
          <p:cNvPicPr preferRelativeResize="0"/>
          <p:nvPr/>
        </p:nvPicPr>
        <p:blipFill rotWithShape="1">
          <a:blip r:embed="rId4">
            <a:alphaModFix/>
          </a:blip>
          <a:srcRect l="27141" t="27158" r="27419" b="31954"/>
          <a:stretch/>
        </p:blipFill>
        <p:spPr>
          <a:xfrm>
            <a:off x="10099142" y="231693"/>
            <a:ext cx="1576944" cy="100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e84a60ae80_0_94" title="Ajyad+Capital+Logo+white.png"/>
          <p:cNvPicPr preferRelativeResize="0"/>
          <p:nvPr/>
        </p:nvPicPr>
        <p:blipFill rotWithShape="1">
          <a:blip r:embed="rId5">
            <a:alphaModFix/>
          </a:blip>
          <a:srcRect l="-12561" t="-41466" r="-18690" b="-39137"/>
          <a:stretch/>
        </p:blipFill>
        <p:spPr>
          <a:xfrm>
            <a:off x="1605441" y="379923"/>
            <a:ext cx="1663273" cy="65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e84a60ae80_0_94" title="Gold+&amp;+White+Logo.png"/>
          <p:cNvPicPr preferRelativeResize="0"/>
          <p:nvPr/>
        </p:nvPicPr>
        <p:blipFill rotWithShape="1">
          <a:blip r:embed="rId6">
            <a:alphaModFix/>
          </a:blip>
          <a:srcRect t="14763" b="14770"/>
          <a:stretch/>
        </p:blipFill>
        <p:spPr>
          <a:xfrm>
            <a:off x="22988" y="279913"/>
            <a:ext cx="1915617" cy="75932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e84a60ae80_0_94"/>
          <p:cNvSpPr txBox="1"/>
          <p:nvPr/>
        </p:nvSpPr>
        <p:spPr>
          <a:xfrm>
            <a:off x="424475" y="4658400"/>
            <a:ext cx="519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eMYAA x AJYAD</a:t>
            </a:r>
            <a:endParaRPr sz="1800" b="1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g3e84a60ae80_0_94"/>
          <p:cNvSpPr txBox="1"/>
          <p:nvPr/>
        </p:nvSpPr>
        <p:spPr>
          <a:xfrm>
            <a:off x="424475" y="5213625"/>
            <a:ext cx="3719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October content calendar  </a:t>
            </a: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3" name="Google Shape;203;g3e84a60ae80_0_94"/>
          <p:cNvCxnSpPr/>
          <p:nvPr/>
        </p:nvCxnSpPr>
        <p:spPr>
          <a:xfrm>
            <a:off x="4143578" y="5447814"/>
            <a:ext cx="319200" cy="33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4D4343"/>
      </a:lt2>
      <a:accent1>
        <a:srgbClr val="F59696"/>
      </a:accent1>
      <a:accent2>
        <a:srgbClr val="E67878"/>
      </a:accent2>
      <a:accent3>
        <a:srgbClr val="C0504F"/>
      </a:accent3>
      <a:accent4>
        <a:srgbClr val="9B3433"/>
      </a:accent4>
      <a:accent5>
        <a:srgbClr val="8F8F8F"/>
      </a:accent5>
      <a:accent6>
        <a:srgbClr val="6E6E6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59696"/>
      </a:accent1>
      <a:accent2>
        <a:srgbClr val="E67878"/>
      </a:accent2>
      <a:accent3>
        <a:srgbClr val="C0504F"/>
      </a:accent3>
      <a:accent4>
        <a:srgbClr val="9B3433"/>
      </a:accent4>
      <a:accent5>
        <a:srgbClr val="8F8F8F"/>
      </a:accent5>
      <a:accent6>
        <a:srgbClr val="6E6E6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2624</TotalTime>
  <Words>2074</Words>
  <Application>Microsoft Office PowerPoint</Application>
  <PresentationFormat>Widescreen</PresentationFormat>
  <Paragraphs>327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Montserrat SemiBold</vt:lpstr>
      <vt:lpstr>Lato</vt:lpstr>
      <vt:lpstr>Montserrat</vt:lpstr>
      <vt:lpstr>Arial</vt:lpstr>
      <vt:lpstr>Rubik</vt:lpstr>
      <vt:lpstr>Montserrat Light</vt:lpstr>
      <vt:lpstr>Rubik SemiBold</vt:lpstr>
      <vt:lpstr>Montserrat Medium</vt:lpstr>
      <vt:lpstr>Calibri</vt:lpstr>
      <vt:lpstr>Rubik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Zahra</dc:creator>
  <cp:lastModifiedBy>Eman Mahdi Almansoor</cp:lastModifiedBy>
  <cp:revision>3</cp:revision>
  <dcterms:modified xsi:type="dcterms:W3CDTF">2026-10-01T06:51:21Z</dcterms:modified>
</cp:coreProperties>
</file>