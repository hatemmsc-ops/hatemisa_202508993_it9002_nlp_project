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Exo 2" charset="1" panose="00000000000000000000"/>
      <p:regular r:id="rId20"/>
    </p:embeddedFont>
    <p:embeddedFont>
      <p:font typeface="Exo 2 Bold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Exo 2 Bold Italics" charset="1" panose="00000000000000000000"/>
      <p:regular r:id="rId23"/>
    </p:embeddedFont>
    <p:embeddedFont>
      <p:font typeface="Exo 2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Master" Target="notesMasters/notesMaster1.xml"/><Relationship Id="rId26" Type="http://schemas.openxmlformats.org/officeDocument/2006/relationships/theme" Target="theme/theme2.xml"/><Relationship Id="rId27" Type="http://schemas.openxmlformats.org/officeDocument/2006/relationships/notesSlide" Target="notesSlides/notesSlide1.xml"/><Relationship Id="rId28" Type="http://schemas.openxmlformats.org/officeDocument/2006/relationships/notesSlide" Target="notesSlides/notes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hyperlink" Target="https://www.digitalwasfa.com/google-ads-cost-in-saudi-arabia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8.jpeg"/><Relationship Id="rId6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hyperlink" Target="https://firstpagesage.com/seo-blog/fintech-cac-benchmarks-report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Relationship Id="rId6" Type="http://schemas.openxmlformats.org/officeDocument/2006/relationships/image" Target="../media/image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0" t="0" r="-37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61902"/>
            <a:ext cx="16299999" cy="283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90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Board of Directors Update</a:t>
            </a:r>
          </a:p>
          <a:p>
            <a:pPr algn="l">
              <a:lnSpc>
                <a:spcPts val="6514"/>
              </a:lnSpc>
            </a:pPr>
            <a:r>
              <a:rPr lang="en-US" sz="4800">
                <a:solidFill>
                  <a:srgbClr val="D4AF37"/>
                </a:solidFill>
                <a:latin typeface="Exo 2"/>
                <a:ea typeface="Exo 2"/>
                <a:cs typeface="Exo 2"/>
                <a:sym typeface="Exo 2"/>
              </a:rPr>
              <a:t>MARKET FEEDBACK AND GROWTH STRATEGY</a:t>
            </a:r>
          </a:p>
          <a:p>
            <a:pPr algn="l">
              <a:lnSpc>
                <a:spcPts val="5180"/>
              </a:lnSpc>
            </a:pPr>
            <a:r>
              <a:rPr lang="en-US" sz="34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  <a:r>
              <a:rPr lang="en-US" sz="34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ᵗʰ of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BOARD EXECUTIVE COMMITTEE (BEC) MEETING  |  14 SEPTEMBER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BEC </a:t>
            </a: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Guidance. Actions Taken.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38095" y="2387994"/>
            <a:ext cx="4723828" cy="6924008"/>
            <a:chOff x="0" y="0"/>
            <a:chExt cx="6298438" cy="92320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8438" cy="9232011"/>
            </a:xfrm>
            <a:custGeom>
              <a:avLst/>
              <a:gdLst/>
              <a:ahLst/>
              <a:cxnLst/>
              <a:rect r="r" b="b" t="t" l="l"/>
              <a:pathLst>
                <a:path h="9232011" w="6298438">
                  <a:moveTo>
                    <a:pt x="0" y="0"/>
                  </a:moveTo>
                  <a:lnTo>
                    <a:pt x="6298438" y="0"/>
                  </a:lnTo>
                  <a:lnTo>
                    <a:pt x="6298438" y="9232011"/>
                  </a:lnTo>
                  <a:lnTo>
                    <a:pt x="0" y="923201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400005"/>
            <a:ext cx="4700016" cy="50006"/>
            <a:chOff x="0" y="0"/>
            <a:chExt cx="6266688" cy="66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66688" cy="66675"/>
            </a:xfrm>
            <a:custGeom>
              <a:avLst/>
              <a:gdLst/>
              <a:ahLst/>
              <a:cxnLst/>
              <a:rect r="r" b="b" t="t" l="l"/>
              <a:pathLst>
                <a:path h="66675" w="6266688">
                  <a:moveTo>
                    <a:pt x="0" y="0"/>
                  </a:moveTo>
                  <a:lnTo>
                    <a:pt x="6266688" y="0"/>
                  </a:lnTo>
                  <a:lnTo>
                    <a:pt x="626668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0004" y="2751430"/>
            <a:ext cx="39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39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UPDATE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0004" y="3249997"/>
            <a:ext cx="900017" cy="900017"/>
            <a:chOff x="0" y="0"/>
            <a:chExt cx="1200023" cy="12000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023" cy="1200023"/>
            </a:xfrm>
            <a:custGeom>
              <a:avLst/>
              <a:gdLst/>
              <a:ahLst/>
              <a:cxnLst/>
              <a:rect r="r" b="b" t="t" l="l"/>
              <a:pathLst>
                <a:path h="1200023" w="1200023">
                  <a:moveTo>
                    <a:pt x="0" y="599948"/>
                  </a:moveTo>
                  <a:cubicBezTo>
                    <a:pt x="0" y="268605"/>
                    <a:pt x="268605" y="0"/>
                    <a:pt x="599948" y="0"/>
                  </a:cubicBezTo>
                  <a:cubicBezTo>
                    <a:pt x="931291" y="0"/>
                    <a:pt x="1200023" y="268605"/>
                    <a:pt x="1200023" y="599948"/>
                  </a:cubicBezTo>
                  <a:cubicBezTo>
                    <a:pt x="1200023" y="931291"/>
                    <a:pt x="931418" y="1200023"/>
                    <a:pt x="599948" y="1200023"/>
                  </a:cubicBezTo>
                  <a:cubicBezTo>
                    <a:pt x="268478" y="1200023"/>
                    <a:pt x="0" y="931418"/>
                    <a:pt x="0" y="599948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0000" y="3450003"/>
            <a:ext cx="499967" cy="499967"/>
            <a:chOff x="0" y="0"/>
            <a:chExt cx="666623" cy="66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6623" cy="666623"/>
            </a:xfrm>
            <a:custGeom>
              <a:avLst/>
              <a:gdLst/>
              <a:ahLst/>
              <a:cxnLst/>
              <a:rect r="r" b="b" t="t" l="l"/>
              <a:pathLst>
                <a:path h="666623" w="666623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cubicBezTo>
                    <a:pt x="517525" y="0"/>
                    <a:pt x="666623" y="149225"/>
                    <a:pt x="666623" y="333375"/>
                  </a:cubicBezTo>
                  <a:cubicBezTo>
                    <a:pt x="666623" y="517525"/>
                    <a:pt x="517398" y="666623"/>
                    <a:pt x="333375" y="666623"/>
                  </a:cubicBezTo>
                  <a:cubicBezTo>
                    <a:pt x="149352" y="666623"/>
                    <a:pt x="0" y="517398"/>
                    <a:pt x="0" y="333375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0004" y="4321426"/>
            <a:ext cx="4040391" cy="5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89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Actioned Following 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BEC Meeting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50004" y="5249999"/>
            <a:ext cx="900017" cy="30004"/>
            <a:chOff x="0" y="0"/>
            <a:chExt cx="1200023" cy="400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0023" cy="40005"/>
            </a:xfrm>
            <a:custGeom>
              <a:avLst/>
              <a:gdLst/>
              <a:ahLst/>
              <a:cxnLst/>
              <a:rect r="r" b="b" t="t" l="l"/>
              <a:pathLst>
                <a:path h="40005" w="1200023">
                  <a:moveTo>
                    <a:pt x="0" y="0"/>
                  </a:moveTo>
                  <a:lnTo>
                    <a:pt x="1200023" y="0"/>
                  </a:lnTo>
                  <a:lnTo>
                    <a:pt x="1200023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0004" y="5327599"/>
            <a:ext cx="3900002" cy="131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17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Onboarding performance gives eMYAA a firm footing. The actions that follow translate the committee's guidance into growth at scale across the GCC.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0004" y="7157123"/>
            <a:ext cx="3900002" cy="10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Five actions were agreed, and each is reflected in this pack.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938095" y="2389480"/>
            <a:ext cx="11511820" cy="1304449"/>
            <a:chOff x="0" y="0"/>
            <a:chExt cx="15349093" cy="17392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950001" y="2400005"/>
            <a:ext cx="11488007" cy="50006"/>
            <a:chOff x="0" y="0"/>
            <a:chExt cx="15317343" cy="66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79997" y="2741714"/>
            <a:ext cx="599980" cy="599980"/>
            <a:chOff x="0" y="0"/>
            <a:chExt cx="799973" cy="7999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79997" y="2741714"/>
            <a:ext cx="599980" cy="599980"/>
            <a:chOff x="0" y="0"/>
            <a:chExt cx="799973" cy="7999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379997" y="2741714"/>
            <a:ext cx="599999" cy="599999"/>
            <a:chOff x="0" y="0"/>
            <a:chExt cx="799998" cy="7999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379997" y="2734570"/>
            <a:ext cx="599999" cy="607143"/>
            <a:chOff x="0" y="0"/>
            <a:chExt cx="799998" cy="8095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299998" y="2568092"/>
            <a:ext cx="4300004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 forward CAC for every segment, across Google Ads and LinkedIn.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850005" y="2535241"/>
            <a:ext cx="12002" cy="1012984"/>
            <a:chOff x="0" y="0"/>
            <a:chExt cx="16002" cy="13506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099998" y="2568092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Each segment's CAC is calculated from September to December spend and benchmarked against industry data.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99998" y="3298193"/>
            <a:ext cx="5038058" cy="280035"/>
            <a:chOff x="0" y="0"/>
            <a:chExt cx="6717411" cy="3733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49998" y="3298193"/>
            <a:ext cx="4788027" cy="280035"/>
            <a:chOff x="0" y="0"/>
            <a:chExt cx="6384036" cy="3733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49998" y="3292307"/>
            <a:ext cx="4787998" cy="285883"/>
            <a:chOff x="0" y="0"/>
            <a:chExt cx="6383998" cy="3811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49998" y="3292307"/>
            <a:ext cx="4787998" cy="285883"/>
            <a:chOff x="0" y="0"/>
            <a:chExt cx="6383998" cy="3811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segment playbook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938095" y="3792436"/>
            <a:ext cx="11511820" cy="1304449"/>
            <a:chOff x="0" y="0"/>
            <a:chExt cx="15349093" cy="17392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950001" y="3802952"/>
            <a:ext cx="11488007" cy="50006"/>
            <a:chOff x="0" y="0"/>
            <a:chExt cx="15317343" cy="666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379997" y="4144670"/>
            <a:ext cx="599980" cy="599980"/>
            <a:chOff x="0" y="0"/>
            <a:chExt cx="799973" cy="7999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79997" y="4144670"/>
            <a:ext cx="599980" cy="599980"/>
            <a:chOff x="0" y="0"/>
            <a:chExt cx="799973" cy="79997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79997" y="4144670"/>
            <a:ext cx="599999" cy="599999"/>
            <a:chOff x="0" y="0"/>
            <a:chExt cx="799998" cy="79999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379997" y="4137527"/>
            <a:ext cx="599999" cy="607143"/>
            <a:chOff x="0" y="0"/>
            <a:chExt cx="799998" cy="8095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02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299998" y="3971049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 clear competitive edge for every segment.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850005" y="3938197"/>
            <a:ext cx="12002" cy="1012984"/>
            <a:chOff x="0" y="0"/>
            <a:chExt cx="16002" cy="13506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099998" y="3971049"/>
            <a:ext cx="5038001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Each segment now has a defined competitive edge, based on what eMYAA offers that investor.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99998" y="4701149"/>
            <a:ext cx="5038058" cy="280035"/>
            <a:chOff x="0" y="0"/>
            <a:chExt cx="6717411" cy="3733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249998" y="4701149"/>
            <a:ext cx="4788027" cy="280035"/>
            <a:chOff x="0" y="0"/>
            <a:chExt cx="6384036" cy="3733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249998" y="4695263"/>
            <a:ext cx="4787998" cy="285883"/>
            <a:chOff x="0" y="0"/>
            <a:chExt cx="6383998" cy="38117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249998" y="4695263"/>
            <a:ext cx="4787998" cy="285883"/>
            <a:chOff x="0" y="0"/>
            <a:chExt cx="6383998" cy="38117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segment playbook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938095" y="5195383"/>
            <a:ext cx="11511820" cy="1304449"/>
            <a:chOff x="0" y="0"/>
            <a:chExt cx="15349093" cy="173926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5950001" y="5205908"/>
            <a:ext cx="11488007" cy="50006"/>
            <a:chOff x="0" y="0"/>
            <a:chExt cx="15317343" cy="666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379997" y="5547617"/>
            <a:ext cx="599980" cy="599980"/>
            <a:chOff x="0" y="0"/>
            <a:chExt cx="799973" cy="79997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379997" y="5547617"/>
            <a:ext cx="599980" cy="599980"/>
            <a:chOff x="0" y="0"/>
            <a:chExt cx="799973" cy="7999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379997" y="5547617"/>
            <a:ext cx="599999" cy="599999"/>
            <a:chOff x="0" y="0"/>
            <a:chExt cx="799998" cy="7999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379997" y="5540473"/>
            <a:ext cx="599999" cy="607143"/>
            <a:chOff x="0" y="0"/>
            <a:chExt cx="799998" cy="8095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7299998" y="5373995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Increase the focus on LinkedIn to build credibility.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1850005" y="5341144"/>
            <a:ext cx="12002" cy="1012984"/>
            <a:chOff x="0" y="0"/>
            <a:chExt cx="16002" cy="135064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2099998" y="5373995"/>
            <a:ext cx="5038001" cy="46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LinkedIn will take a greater role in building trust, regulatory standing, governance and expertise.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2099998" y="6104096"/>
            <a:ext cx="5038058" cy="280035"/>
            <a:chOff x="0" y="0"/>
            <a:chExt cx="6717411" cy="3733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249998" y="6104096"/>
            <a:ext cx="4788027" cy="280035"/>
            <a:chOff x="0" y="0"/>
            <a:chExt cx="6384036" cy="3733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249998" y="6098210"/>
            <a:ext cx="4787998" cy="285883"/>
            <a:chOff x="0" y="0"/>
            <a:chExt cx="6383998" cy="38117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249998" y="6098210"/>
            <a:ext cx="4787998" cy="285883"/>
            <a:chOff x="0" y="0"/>
            <a:chExt cx="6383998" cy="38117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channel plan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938095" y="6598339"/>
            <a:ext cx="11511820" cy="1304449"/>
            <a:chOff x="0" y="0"/>
            <a:chExt cx="15349093" cy="173926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5950001" y="6608855"/>
            <a:ext cx="11488007" cy="50006"/>
            <a:chOff x="0" y="0"/>
            <a:chExt cx="15317343" cy="666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379997" y="6950573"/>
            <a:ext cx="599980" cy="599980"/>
            <a:chOff x="0" y="0"/>
            <a:chExt cx="799973" cy="79997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6379997" y="6950573"/>
            <a:ext cx="599980" cy="599980"/>
            <a:chOff x="0" y="0"/>
            <a:chExt cx="799973" cy="79997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379997" y="6950573"/>
            <a:ext cx="599999" cy="599999"/>
            <a:chOff x="0" y="0"/>
            <a:chExt cx="799998" cy="79999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379997" y="6943430"/>
            <a:ext cx="599999" cy="607143"/>
            <a:chOff x="0" y="0"/>
            <a:chExt cx="799998" cy="80952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04</a:t>
              </a: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7299998" y="6776952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Share every GCC influencer collaboration with the committee.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11850005" y="6744100"/>
            <a:ext cx="12002" cy="1012984"/>
            <a:chOff x="0" y="0"/>
            <a:chExt cx="16002" cy="135064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12099998" y="6776952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Collaborations will be shared with members by market relevance, so each can share the content best suited to their network.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2099998" y="7507053"/>
            <a:ext cx="5038058" cy="280035"/>
            <a:chOff x="0" y="0"/>
            <a:chExt cx="6717411" cy="3733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249998" y="7507053"/>
            <a:ext cx="4788027" cy="280035"/>
            <a:chOff x="0" y="0"/>
            <a:chExt cx="6384036" cy="3733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249998" y="7501166"/>
            <a:ext cx="4787998" cy="285883"/>
            <a:chOff x="0" y="0"/>
            <a:chExt cx="6383998" cy="38117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249998" y="7501166"/>
            <a:ext cx="4787998" cy="285883"/>
            <a:chOff x="0" y="0"/>
            <a:chExt cx="6383998" cy="38117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links to be shared with committee members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938095" y="8001286"/>
            <a:ext cx="11511820" cy="1304449"/>
            <a:chOff x="0" y="0"/>
            <a:chExt cx="15349093" cy="173926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5950001" y="8011811"/>
            <a:ext cx="11488007" cy="50006"/>
            <a:chOff x="0" y="0"/>
            <a:chExt cx="15317343" cy="6667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6379997" y="8353520"/>
            <a:ext cx="599980" cy="599980"/>
            <a:chOff x="0" y="0"/>
            <a:chExt cx="799973" cy="79997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379997" y="8353520"/>
            <a:ext cx="599980" cy="599980"/>
            <a:chOff x="0" y="0"/>
            <a:chExt cx="799973" cy="79997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6379997" y="8353520"/>
            <a:ext cx="599999" cy="599999"/>
            <a:chOff x="0" y="0"/>
            <a:chExt cx="799998" cy="79999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6379997" y="8346376"/>
            <a:ext cx="599999" cy="607143"/>
            <a:chOff x="0" y="0"/>
            <a:chExt cx="799998" cy="80952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05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7299998" y="8179899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Strengthen our understanding of the Saudi market.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1850005" y="8147047"/>
            <a:ext cx="12002" cy="1012984"/>
            <a:chOff x="0" y="0"/>
            <a:chExt cx="16002" cy="135064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47" id="147"/>
          <p:cNvSpPr txBox="true"/>
          <p:nvPr/>
        </p:nvSpPr>
        <p:spPr>
          <a:xfrm rot="0">
            <a:off x="12099998" y="8179899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We will engage the Head of Marketing at Vision Bank to better penetrate the Saudi market.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2099998" y="8909999"/>
            <a:ext cx="5038058" cy="280035"/>
            <a:chOff x="0" y="0"/>
            <a:chExt cx="6717411" cy="37338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2249998" y="8909999"/>
            <a:ext cx="4788027" cy="280035"/>
            <a:chOff x="0" y="0"/>
            <a:chExt cx="6384036" cy="37338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249998" y="8904113"/>
            <a:ext cx="4787998" cy="285883"/>
            <a:chOff x="0" y="0"/>
            <a:chExt cx="6383998" cy="38117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2249998" y="8904113"/>
            <a:ext cx="4787998" cy="285883"/>
            <a:chOff x="0" y="0"/>
            <a:chExt cx="6383998" cy="38117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0"/>
              <a:ext cx="6383998" cy="381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in progress</a:t>
              </a:r>
            </a:p>
          </p:txBody>
        </p:sp>
      </p:grpSp>
      <p:sp>
        <p:nvSpPr>
          <p:cNvPr name="TextBox 157" id="157"/>
          <p:cNvSpPr txBox="true"/>
          <p:nvPr/>
        </p:nvSpPr>
        <p:spPr>
          <a:xfrm rot="0">
            <a:off x="850001" y="1480004"/>
            <a:ext cx="53873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Each BEC recommendation, and what we changed as a result.</a:t>
            </a:r>
          </a:p>
        </p:txBody>
      </p:sp>
      <p:sp>
        <p:nvSpPr>
          <p:cNvPr name="AutoShape 158" id="158"/>
          <p:cNvSpPr/>
          <p:nvPr/>
        </p:nvSpPr>
        <p:spPr>
          <a:xfrm>
            <a:off x="1559191" y="3699986"/>
            <a:ext cx="105565" cy="102965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 flipV="true">
            <a:off x="1645895" y="3575708"/>
            <a:ext cx="220300" cy="22030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Clients Are Ahead. Money Is Not.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Four months live, as at 30 September 2026. Onboarding is running ahead of plan, and deposits are the gap this strategy closes.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42858" y="2288096"/>
            <a:ext cx="5351050" cy="1343787"/>
            <a:chOff x="0" y="0"/>
            <a:chExt cx="7134733" cy="17917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56374" y="2300002"/>
            <a:ext cx="5323999" cy="50006"/>
            <a:chOff x="0" y="0"/>
            <a:chExt cx="7098665" cy="66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471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471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onboarded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471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156% of the 39 target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80743" y="2288096"/>
            <a:ext cx="5351050" cy="1343787"/>
            <a:chOff x="0" y="0"/>
            <a:chExt cx="7134733" cy="17917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94259" y="2300002"/>
            <a:ext cx="5323999" cy="50006"/>
            <a:chOff x="0" y="0"/>
            <a:chExt cx="7098665" cy="66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89535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$12,206.00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535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Total deposits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535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5.18% of the $235,660 target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8874" y="2288096"/>
            <a:ext cx="5351050" cy="1343787"/>
            <a:chOff x="0" y="0"/>
            <a:chExt cx="7134733" cy="1791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2390" y="2300002"/>
            <a:ext cx="5323999" cy="50006"/>
            <a:chOff x="0" y="0"/>
            <a:chExt cx="7098665" cy="66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1349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$200.10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1349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Average deposit per client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349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Across all 61 onboarded clients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38095" y="4388091"/>
            <a:ext cx="8207788" cy="4873847"/>
            <a:chOff x="0" y="0"/>
            <a:chExt cx="10943717" cy="6498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50001" y="4399998"/>
            <a:ext cx="8183975" cy="50006"/>
            <a:chOff x="0" y="0"/>
            <a:chExt cx="10911967" cy="666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50001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CLIENTS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42098" y="4388091"/>
            <a:ext cx="8207788" cy="4873847"/>
            <a:chOff x="0" y="0"/>
            <a:chExt cx="10943717" cy="6498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54004" y="4399998"/>
            <a:ext cx="8183975" cy="50006"/>
            <a:chOff x="0" y="0"/>
            <a:chExt cx="10911967" cy="666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54004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DEPOSITS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9997" y="8349996"/>
            <a:ext cx="7350004" cy="9001"/>
            <a:chOff x="0" y="0"/>
            <a:chExt cx="9800006" cy="120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69997" y="6924999"/>
            <a:ext cx="7350004" cy="9001"/>
            <a:chOff x="0" y="0"/>
            <a:chExt cx="9800006" cy="12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9997" y="5500002"/>
            <a:ext cx="7350004" cy="9001"/>
            <a:chOff x="0" y="0"/>
            <a:chExt cx="9800006" cy="120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005003" y="5867743"/>
            <a:ext cx="5880002" cy="2482263"/>
            <a:chOff x="0" y="0"/>
            <a:chExt cx="7840002" cy="33096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39964" cy="3309620"/>
            </a:xfrm>
            <a:custGeom>
              <a:avLst/>
              <a:gdLst/>
              <a:ahLst/>
              <a:cxnLst/>
              <a:rect r="r" b="b" t="t" l="l"/>
              <a:pathLst>
                <a:path h="3309620" w="7839964">
                  <a:moveTo>
                    <a:pt x="0" y="3309620"/>
                  </a:moveTo>
                  <a:lnTo>
                    <a:pt x="0" y="2635504"/>
                  </a:lnTo>
                  <a:lnTo>
                    <a:pt x="1959991" y="1838706"/>
                  </a:lnTo>
                  <a:lnTo>
                    <a:pt x="3919982" y="1287145"/>
                  </a:lnTo>
                  <a:lnTo>
                    <a:pt x="5879973" y="429006"/>
                  </a:lnTo>
                  <a:lnTo>
                    <a:pt x="7839964" y="0"/>
                  </a:lnTo>
                  <a:lnTo>
                    <a:pt x="7839964" y="330962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95478" y="6547733"/>
            <a:ext cx="5899052" cy="892435"/>
            <a:chOff x="0" y="0"/>
            <a:chExt cx="7865402" cy="11899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5364" cy="1189863"/>
            </a:xfrm>
            <a:custGeom>
              <a:avLst/>
              <a:gdLst/>
              <a:ahLst/>
              <a:cxnLst/>
              <a:rect r="r" b="b" t="t" l="l"/>
              <a:pathLst>
                <a:path h="1189863" w="7865364">
                  <a:moveTo>
                    <a:pt x="0" y="1189863"/>
                  </a:moveTo>
                  <a:lnTo>
                    <a:pt x="1966341" y="939419"/>
                  </a:lnTo>
                  <a:lnTo>
                    <a:pt x="3932682" y="688848"/>
                  </a:lnTo>
                  <a:lnTo>
                    <a:pt x="5899023" y="375793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8800" r="0" b="-78804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934004" y="7359644"/>
            <a:ext cx="141999" cy="141999"/>
            <a:chOff x="0" y="0"/>
            <a:chExt cx="189332" cy="1893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3403997" y="7175773"/>
            <a:ext cx="141999" cy="141999"/>
            <a:chOff x="0" y="0"/>
            <a:chExt cx="189332" cy="1893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4874000" y="6991902"/>
            <a:ext cx="141999" cy="141999"/>
            <a:chOff x="0" y="0"/>
            <a:chExt cx="189332" cy="1893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344002" y="6762064"/>
            <a:ext cx="141999" cy="141999"/>
            <a:chOff x="0" y="0"/>
            <a:chExt cx="189332" cy="1893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813996" y="6486258"/>
            <a:ext cx="141999" cy="141999"/>
            <a:chOff x="0" y="0"/>
            <a:chExt cx="189332" cy="1893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6585004" y="6647259"/>
            <a:ext cx="1450000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39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5919997" y="4745003"/>
            <a:ext cx="299999" cy="28004"/>
            <a:chOff x="0" y="0"/>
            <a:chExt cx="399999" cy="373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6280004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7069998" y="4745003"/>
            <a:ext cx="299999" cy="19002"/>
            <a:chOff x="0" y="0"/>
            <a:chExt cx="399999" cy="25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7429995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987534" y="5850284"/>
            <a:ext cx="5914930" cy="2011537"/>
            <a:chOff x="0" y="0"/>
            <a:chExt cx="7886573" cy="26820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86573" cy="2682113"/>
            </a:xfrm>
            <a:custGeom>
              <a:avLst/>
              <a:gdLst/>
              <a:ahLst/>
              <a:cxnLst/>
              <a:rect r="r" b="b" t="t" l="l"/>
              <a:pathLst>
                <a:path h="2682113" w="7886573">
                  <a:moveTo>
                    <a:pt x="0" y="2682113"/>
                  </a:moveTo>
                  <a:lnTo>
                    <a:pt x="1971675" y="1871218"/>
                  </a:lnTo>
                  <a:lnTo>
                    <a:pt x="3943350" y="1309878"/>
                  </a:lnTo>
                  <a:lnTo>
                    <a:pt x="5914898" y="436626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295" r="0" b="-7293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919002" y="7758351"/>
            <a:ext cx="172002" cy="172002"/>
            <a:chOff x="0" y="0"/>
            <a:chExt cx="229337" cy="22933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305001" y="79543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04998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3389005" y="7160771"/>
            <a:ext cx="172002" cy="172002"/>
            <a:chOff x="0" y="0"/>
            <a:chExt cx="229337" cy="22933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2775004" y="6886775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3094996" y="6566773"/>
            <a:ext cx="760000" cy="250003"/>
            <a:chOff x="0" y="0"/>
            <a:chExt cx="1013333" cy="33333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118%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75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4858998" y="6747062"/>
            <a:ext cx="172002" cy="172002"/>
            <a:chOff x="0" y="0"/>
            <a:chExt cx="229337" cy="22933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4244997" y="647306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4564999" y="6153064"/>
            <a:ext cx="760000" cy="250003"/>
            <a:chOff x="0" y="0"/>
            <a:chExt cx="1013333" cy="3333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38%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4445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329001" y="6103515"/>
            <a:ext cx="172002" cy="172002"/>
            <a:chOff x="0" y="0"/>
            <a:chExt cx="229337" cy="22933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5715000" y="5829519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47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6035002" y="5509517"/>
            <a:ext cx="760000" cy="250003"/>
            <a:chOff x="0" y="0"/>
            <a:chExt cx="1013333" cy="3333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42%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5914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7799003" y="5781742"/>
            <a:ext cx="172002" cy="172002"/>
            <a:chOff x="0" y="0"/>
            <a:chExt cx="229337" cy="22933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7185003" y="550774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505005" y="5187744"/>
            <a:ext cx="760000" cy="250003"/>
            <a:chOff x="0" y="0"/>
            <a:chExt cx="1013333" cy="33333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30%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384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69997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674000" y="8349996"/>
            <a:ext cx="7350004" cy="9001"/>
            <a:chOff x="0" y="0"/>
            <a:chExt cx="9800006" cy="1200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74000" y="6924999"/>
            <a:ext cx="7350004" cy="9001"/>
            <a:chOff x="0" y="0"/>
            <a:chExt cx="9800006" cy="120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674000" y="5500002"/>
            <a:ext cx="7350004" cy="9001"/>
            <a:chOff x="0" y="0"/>
            <a:chExt cx="9800006" cy="1200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408996" y="8222371"/>
            <a:ext cx="5880002" cy="127635"/>
            <a:chOff x="0" y="0"/>
            <a:chExt cx="7840002" cy="1701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39964" cy="170180"/>
            </a:xfrm>
            <a:custGeom>
              <a:avLst/>
              <a:gdLst/>
              <a:ahLst/>
              <a:cxnLst/>
              <a:rect r="r" b="b" t="t" l="l"/>
              <a:pathLst>
                <a:path h="170180" w="7839964">
                  <a:moveTo>
                    <a:pt x="0" y="170180"/>
                  </a:moveTo>
                  <a:lnTo>
                    <a:pt x="0" y="109220"/>
                  </a:lnTo>
                  <a:lnTo>
                    <a:pt x="1959991" y="50038"/>
                  </a:lnTo>
                  <a:lnTo>
                    <a:pt x="3919982" y="39116"/>
                  </a:lnTo>
                  <a:lnTo>
                    <a:pt x="5879973" y="18161"/>
                  </a:lnTo>
                  <a:lnTo>
                    <a:pt x="7839964" y="0"/>
                  </a:lnTo>
                  <a:lnTo>
                    <a:pt x="7839964" y="17018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399471" y="5653954"/>
            <a:ext cx="5899052" cy="1565577"/>
            <a:chOff x="0" y="0"/>
            <a:chExt cx="7865402" cy="20874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65364" cy="2087372"/>
            </a:xfrm>
            <a:custGeom>
              <a:avLst/>
              <a:gdLst/>
              <a:ahLst/>
              <a:cxnLst/>
              <a:rect r="r" b="b" t="t" l="l"/>
              <a:pathLst>
                <a:path h="2087372" w="7865364">
                  <a:moveTo>
                    <a:pt x="0" y="2087372"/>
                  </a:moveTo>
                  <a:lnTo>
                    <a:pt x="1966341" y="1719580"/>
                  </a:lnTo>
                  <a:lnTo>
                    <a:pt x="3932682" y="1264031"/>
                  </a:lnTo>
                  <a:lnTo>
                    <a:pt x="5899023" y="699516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23419" r="0" b="-23422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337997" y="7138997"/>
            <a:ext cx="141999" cy="141999"/>
            <a:chOff x="0" y="0"/>
            <a:chExt cx="189332" cy="18933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808000" y="6866544"/>
            <a:ext cx="141999" cy="141999"/>
            <a:chOff x="0" y="0"/>
            <a:chExt cx="189332" cy="18933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278002" y="6528959"/>
            <a:ext cx="141999" cy="141999"/>
            <a:chOff x="0" y="0"/>
            <a:chExt cx="189332" cy="18933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747996" y="6110707"/>
            <a:ext cx="141999" cy="141999"/>
            <a:chOff x="0" y="0"/>
            <a:chExt cx="189332" cy="1893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6217998" y="5592480"/>
            <a:ext cx="141999" cy="141999"/>
            <a:chOff x="0" y="0"/>
            <a:chExt cx="189332" cy="1893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127" id="127"/>
          <p:cNvSpPr txBox="true"/>
          <p:nvPr/>
        </p:nvSpPr>
        <p:spPr>
          <a:xfrm rot="0">
            <a:off x="15199004" y="5843511"/>
            <a:ext cx="2000002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$235,660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4324000" y="4745003"/>
            <a:ext cx="299999" cy="28004"/>
            <a:chOff x="0" y="0"/>
            <a:chExt cx="399999" cy="3733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683997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5474001" y="4745003"/>
            <a:ext cx="299999" cy="19002"/>
            <a:chOff x="0" y="0"/>
            <a:chExt cx="399999" cy="2533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15833998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10391537" y="8204902"/>
            <a:ext cx="5914930" cy="116815"/>
            <a:chOff x="0" y="0"/>
            <a:chExt cx="7886573" cy="15575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886573" cy="155702"/>
            </a:xfrm>
            <a:custGeom>
              <a:avLst/>
              <a:gdLst/>
              <a:ahLst/>
              <a:cxnLst/>
              <a:rect r="r" b="b" t="t" l="l"/>
              <a:pathLst>
                <a:path h="155702" w="7886573">
                  <a:moveTo>
                    <a:pt x="0" y="155702"/>
                  </a:moveTo>
                  <a:lnTo>
                    <a:pt x="1971675" y="71247"/>
                  </a:lnTo>
                  <a:lnTo>
                    <a:pt x="3943223" y="55753"/>
                  </a:lnTo>
                  <a:lnTo>
                    <a:pt x="5914898" y="25908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936934" r="0" b="-936966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323004" y="8218256"/>
            <a:ext cx="172002" cy="172002"/>
            <a:chOff x="0" y="0"/>
            <a:chExt cx="229337" cy="22933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38" id="138"/>
          <p:cNvSpPr txBox="true"/>
          <p:nvPr/>
        </p:nvSpPr>
        <p:spPr>
          <a:xfrm rot="0">
            <a:off x="9709004" y="7944250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$4,013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909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1792998" y="8173860"/>
            <a:ext cx="172002" cy="172002"/>
            <a:chOff x="0" y="0"/>
            <a:chExt cx="229337" cy="22933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2" id="142"/>
          <p:cNvSpPr txBox="true"/>
          <p:nvPr/>
        </p:nvSpPr>
        <p:spPr>
          <a:xfrm rot="0">
            <a:off x="11178997" y="789985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$7,907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11498999" y="7579862"/>
            <a:ext cx="760000" cy="250003"/>
            <a:chOff x="0" y="0"/>
            <a:chExt cx="1013333" cy="3333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97%</a:t>
              </a: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11379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13263001" y="8165649"/>
            <a:ext cx="172002" cy="172002"/>
            <a:chOff x="0" y="0"/>
            <a:chExt cx="229337" cy="229337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9" id="149"/>
          <p:cNvSpPr txBox="true"/>
          <p:nvPr/>
        </p:nvSpPr>
        <p:spPr>
          <a:xfrm rot="0">
            <a:off x="12649000" y="7891653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$8,627</a:t>
            </a:r>
          </a:p>
        </p:txBody>
      </p:sp>
      <p:grpSp>
        <p:nvGrpSpPr>
          <p:cNvPr name="Group 150" id="150"/>
          <p:cNvGrpSpPr/>
          <p:nvPr/>
        </p:nvGrpSpPr>
        <p:grpSpPr>
          <a:xfrm rot="0">
            <a:off x="12969002" y="7571651"/>
            <a:ext cx="760000" cy="250003"/>
            <a:chOff x="0" y="0"/>
            <a:chExt cx="1013333" cy="33333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9%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848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4733003" y="8149961"/>
            <a:ext cx="172002" cy="172002"/>
            <a:chOff x="0" y="0"/>
            <a:chExt cx="229337" cy="22933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56" id="156"/>
          <p:cNvSpPr txBox="true"/>
          <p:nvPr/>
        </p:nvSpPr>
        <p:spPr>
          <a:xfrm rot="0">
            <a:off x="14119003" y="78759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$10,004</a:t>
            </a:r>
          </a:p>
        </p:txBody>
      </p:sp>
      <p:grpSp>
        <p:nvGrpSpPr>
          <p:cNvPr name="Group 157" id="157"/>
          <p:cNvGrpSpPr/>
          <p:nvPr/>
        </p:nvGrpSpPr>
        <p:grpSpPr>
          <a:xfrm rot="0">
            <a:off x="14439005" y="7555954"/>
            <a:ext cx="760000" cy="250003"/>
            <a:chOff x="0" y="0"/>
            <a:chExt cx="1013333" cy="333337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16%</a:t>
              </a:r>
            </a:p>
          </p:txBody>
        </p:sp>
      </p:grpSp>
      <p:sp>
        <p:nvSpPr>
          <p:cNvPr name="TextBox 160" id="160"/>
          <p:cNvSpPr txBox="true"/>
          <p:nvPr/>
        </p:nvSpPr>
        <p:spPr>
          <a:xfrm rot="0">
            <a:off x="14318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161" id="161"/>
          <p:cNvGrpSpPr/>
          <p:nvPr/>
        </p:nvGrpSpPr>
        <p:grpSpPr>
          <a:xfrm rot="0">
            <a:off x="16202997" y="8136369"/>
            <a:ext cx="172002" cy="172002"/>
            <a:chOff x="0" y="0"/>
            <a:chExt cx="229337" cy="22933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63" id="163"/>
          <p:cNvSpPr txBox="true"/>
          <p:nvPr/>
        </p:nvSpPr>
        <p:spPr>
          <a:xfrm rot="0">
            <a:off x="15588996" y="786236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b="true" sz="1530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$12,206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5908998" y="7542362"/>
            <a:ext cx="760000" cy="250003"/>
            <a:chOff x="0" y="0"/>
            <a:chExt cx="1013333" cy="33333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22%</a:t>
              </a: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5789002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9674000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SEGMENTS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Four Segments, One Playbook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Defining each investor segment, targeting</a:t>
            </a: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 strategy, competitive hook, and acquisition cost.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50001" y="2249996"/>
            <a:ext cx="10284524" cy="519970"/>
            <a:chOff x="0" y="0"/>
            <a:chExt cx="13712698" cy="6932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12698" cy="693293"/>
            </a:xfrm>
            <a:custGeom>
              <a:avLst/>
              <a:gdLst/>
              <a:ahLst/>
              <a:cxnLst/>
              <a:rect r="r" b="b" t="t" l="l"/>
              <a:pathLst>
                <a:path h="693293" w="13712698">
                  <a:moveTo>
                    <a:pt x="0" y="83185"/>
                  </a:moveTo>
                  <a:cubicBezTo>
                    <a:pt x="0" y="37211"/>
                    <a:pt x="46863" y="0"/>
                    <a:pt x="104648" y="0"/>
                  </a:cubicBezTo>
                  <a:lnTo>
                    <a:pt x="13608050" y="0"/>
                  </a:lnTo>
                  <a:cubicBezTo>
                    <a:pt x="13665836" y="0"/>
                    <a:pt x="13712698" y="37211"/>
                    <a:pt x="13712698" y="83185"/>
                  </a:cubicBezTo>
                  <a:lnTo>
                    <a:pt x="13712698" y="610108"/>
                  </a:lnTo>
                  <a:cubicBezTo>
                    <a:pt x="13712698" y="656082"/>
                    <a:pt x="13665836" y="693293"/>
                    <a:pt x="13608050" y="693293"/>
                  </a:cubicBezTo>
                  <a:lnTo>
                    <a:pt x="104648" y="693293"/>
                  </a:lnTo>
                  <a:cubicBezTo>
                    <a:pt x="46863" y="693293"/>
                    <a:pt x="0" y="656082"/>
                    <a:pt x="0" y="610108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0001" y="2249996"/>
            <a:ext cx="9984581" cy="519970"/>
            <a:chOff x="0" y="0"/>
            <a:chExt cx="13312775" cy="6932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2775" cy="693293"/>
            </a:xfrm>
            <a:custGeom>
              <a:avLst/>
              <a:gdLst/>
              <a:ahLst/>
              <a:cxnLst/>
              <a:rect r="r" b="b" t="t" l="l"/>
              <a:pathLst>
                <a:path h="693293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693293"/>
                  </a:lnTo>
                  <a:lnTo>
                    <a:pt x="0" y="693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3896" r="0" b="-32389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001" y="2242852"/>
            <a:ext cx="9984562" cy="527142"/>
            <a:chOff x="0" y="0"/>
            <a:chExt cx="13312750" cy="702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12775" cy="702818"/>
            </a:xfrm>
            <a:custGeom>
              <a:avLst/>
              <a:gdLst/>
              <a:ahLst/>
              <a:cxnLst/>
              <a:rect r="r" b="b" t="t" l="l"/>
              <a:pathLst>
                <a:path h="702818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702818"/>
                  </a:lnTo>
                  <a:lnTo>
                    <a:pt x="0" y="7028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8825" r="0" b="-31883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0001" y="2235708"/>
            <a:ext cx="9984562" cy="534286"/>
            <a:chOff x="0" y="0"/>
            <a:chExt cx="13312750" cy="712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12749" cy="712381"/>
            </a:xfrm>
            <a:custGeom>
              <a:avLst/>
              <a:gdLst/>
              <a:ahLst/>
              <a:cxnLst/>
              <a:rect r="r" b="b" t="t" l="l"/>
              <a:pathLst>
                <a:path h="712381" w="13312749">
                  <a:moveTo>
                    <a:pt x="0" y="0"/>
                  </a:moveTo>
                  <a:lnTo>
                    <a:pt x="13312749" y="0"/>
                  </a:lnTo>
                  <a:lnTo>
                    <a:pt x="13312749" y="712381"/>
                  </a:lnTo>
                  <a:lnTo>
                    <a:pt x="0" y="7123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130" r="0" b="-3141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312750" cy="721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7"/>
                </a:lnSpc>
              </a:pPr>
              <a:r>
                <a:rPr lang="en-US" sz="1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  </a:t>
              </a:r>
              <a:r>
                <a:rPr lang="en-US" sz="1299">
                  <a:solidFill>
                    <a:srgbClr val="DCE3F5"/>
                  </a:solidFill>
                  <a:latin typeface="Exo 2"/>
                  <a:ea typeface="Exo 2"/>
                  <a:cs typeface="Exo 2"/>
                  <a:sym typeface="Exo 2"/>
                </a:rPr>
                <a:t>Main focus: reaching investors at scale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74564" y="2249996"/>
            <a:ext cx="6063425" cy="519970"/>
            <a:chOff x="0" y="0"/>
            <a:chExt cx="8084566" cy="6932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84565" cy="693293"/>
            </a:xfrm>
            <a:custGeom>
              <a:avLst/>
              <a:gdLst/>
              <a:ahLst/>
              <a:cxnLst/>
              <a:rect r="r" b="b" t="t" l="l"/>
              <a:pathLst>
                <a:path h="693293" w="8084565">
                  <a:moveTo>
                    <a:pt x="0" y="83185"/>
                  </a:moveTo>
                  <a:cubicBezTo>
                    <a:pt x="0" y="37211"/>
                    <a:pt x="27559" y="0"/>
                    <a:pt x="61722" y="0"/>
                  </a:cubicBezTo>
                  <a:lnTo>
                    <a:pt x="8022844" y="0"/>
                  </a:lnTo>
                  <a:cubicBezTo>
                    <a:pt x="8057007" y="0"/>
                    <a:pt x="8084565" y="37211"/>
                    <a:pt x="8084565" y="83185"/>
                  </a:cubicBezTo>
                  <a:lnTo>
                    <a:pt x="8084565" y="610108"/>
                  </a:lnTo>
                  <a:cubicBezTo>
                    <a:pt x="8084565" y="656082"/>
                    <a:pt x="8057007" y="693293"/>
                    <a:pt x="8022844" y="693293"/>
                  </a:cubicBezTo>
                  <a:lnTo>
                    <a:pt x="61722" y="693293"/>
                  </a:lnTo>
                  <a:cubicBezTo>
                    <a:pt x="27559" y="693293"/>
                    <a:pt x="0" y="656082"/>
                    <a:pt x="0" y="610108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74564" y="2249996"/>
            <a:ext cx="5763482" cy="519970"/>
            <a:chOff x="0" y="0"/>
            <a:chExt cx="7684643" cy="6932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4643" cy="693293"/>
            </a:xfrm>
            <a:custGeom>
              <a:avLst/>
              <a:gdLst/>
              <a:ahLst/>
              <a:cxnLst/>
              <a:rect r="r" b="b" t="t" l="l"/>
              <a:pathLst>
                <a:path h="693293" w="7684643">
                  <a:moveTo>
                    <a:pt x="0" y="0"/>
                  </a:moveTo>
                  <a:lnTo>
                    <a:pt x="7684643" y="0"/>
                  </a:lnTo>
                  <a:lnTo>
                    <a:pt x="7684643" y="693293"/>
                  </a:lnTo>
                  <a:lnTo>
                    <a:pt x="0" y="693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827" r="0" b="-16582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74564" y="2242852"/>
            <a:ext cx="5763435" cy="527142"/>
            <a:chOff x="0" y="0"/>
            <a:chExt cx="7684580" cy="702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84643" cy="702818"/>
            </a:xfrm>
            <a:custGeom>
              <a:avLst/>
              <a:gdLst/>
              <a:ahLst/>
              <a:cxnLst/>
              <a:rect r="r" b="b" t="t" l="l"/>
              <a:pathLst>
                <a:path h="702818" w="7684643">
                  <a:moveTo>
                    <a:pt x="0" y="0"/>
                  </a:moveTo>
                  <a:lnTo>
                    <a:pt x="7684643" y="0"/>
                  </a:lnTo>
                  <a:lnTo>
                    <a:pt x="7684643" y="702818"/>
                  </a:lnTo>
                  <a:lnTo>
                    <a:pt x="0" y="7028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898" r="0" b="-16290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74564" y="2249996"/>
            <a:ext cx="5763435" cy="519998"/>
            <a:chOff x="0" y="0"/>
            <a:chExt cx="7684580" cy="6933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4580" cy="693331"/>
            </a:xfrm>
            <a:custGeom>
              <a:avLst/>
              <a:gdLst/>
              <a:ahLst/>
              <a:cxnLst/>
              <a:rect r="r" b="b" t="t" l="l"/>
              <a:pathLst>
                <a:path h="693331" w="7684580">
                  <a:moveTo>
                    <a:pt x="0" y="0"/>
                  </a:moveTo>
                  <a:lnTo>
                    <a:pt x="7684580" y="0"/>
                  </a:lnTo>
                  <a:lnTo>
                    <a:pt x="7684580" y="693331"/>
                  </a:lnTo>
                  <a:lnTo>
                    <a:pt x="0" y="69333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5963" r="0" b="-1659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7684580" cy="683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6"/>
                </a:lnSpc>
              </a:pPr>
              <a:r>
                <a:rPr lang="en-US" sz="116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AJYAD PLACEMENT TEAM   </a:t>
              </a:r>
              <a:r>
                <a:rPr lang="en-US" sz="116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Closing one relationship at a time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7143" y="2888094"/>
            <a:ext cx="5047964" cy="5023771"/>
            <a:chOff x="0" y="0"/>
            <a:chExt cx="6730619" cy="66983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30619" cy="6698361"/>
            </a:xfrm>
            <a:custGeom>
              <a:avLst/>
              <a:gdLst/>
              <a:ahLst/>
              <a:cxnLst/>
              <a:rect r="r" b="b" t="t" l="l"/>
              <a:pathLst>
                <a:path h="6698361" w="6730619">
                  <a:moveTo>
                    <a:pt x="0" y="0"/>
                  </a:moveTo>
                  <a:lnTo>
                    <a:pt x="6730619" y="0"/>
                  </a:lnTo>
                  <a:lnTo>
                    <a:pt x="6730619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132257"/>
            </a:solidFill>
            <a:ln w="9525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50001" y="2900001"/>
            <a:ext cx="5022247" cy="50006"/>
            <a:chOff x="0" y="0"/>
            <a:chExt cx="6696329" cy="666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96329" cy="66675"/>
            </a:xfrm>
            <a:custGeom>
              <a:avLst/>
              <a:gdLst/>
              <a:ahLst/>
              <a:cxnLst/>
              <a:rect r="r" b="b" t="t" l="l"/>
              <a:pathLst>
                <a:path h="66675" w="6696329">
                  <a:moveTo>
                    <a:pt x="0" y="0"/>
                  </a:moveTo>
                  <a:lnTo>
                    <a:pt x="6696329" y="0"/>
                  </a:lnTo>
                  <a:lnTo>
                    <a:pt x="6696329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10005" y="3119999"/>
            <a:ext cx="4502277" cy="34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Starter investor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0005" y="3441421"/>
            <a:ext cx="4502277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Under $1,000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0005" y="3735695"/>
            <a:ext cx="4502277" cy="7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26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21 to 35, salaried, often their first investment product. Finds us on social media, sponsored ads or through an influencer campaign.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10005" y="4931997"/>
            <a:ext cx="4502277" cy="1249966"/>
            <a:chOff x="0" y="0"/>
            <a:chExt cx="6003036" cy="16666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03036" cy="1666621"/>
            </a:xfrm>
            <a:custGeom>
              <a:avLst/>
              <a:gdLst/>
              <a:ahLst/>
              <a:cxnLst/>
              <a:rect r="r" b="b" t="t" l="l"/>
              <a:pathLst>
                <a:path h="1666621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0005" y="4931997"/>
            <a:ext cx="30004" cy="1249966"/>
            <a:chOff x="0" y="0"/>
            <a:chExt cx="40005" cy="16666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8FB0FF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89999" y="5031991"/>
            <a:ext cx="422227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999" y="5186743"/>
            <a:ext cx="4222271" cy="7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b="true" sz="1320" i="true">
                <a:solidFill>
                  <a:srgbClr val="FFFFFF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 simple bilingual app built for GCC investors, Shari’ah compliant with AI support, no account fees and a minimum deposit of just USD 50.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0005" y="6331991"/>
            <a:ext cx="4502277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0005" y="6496269"/>
            <a:ext cx="4502277" cy="64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2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Google Ads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10005" y="7129996"/>
            <a:ext cx="4502277" cy="12002"/>
            <a:chOff x="0" y="0"/>
            <a:chExt cx="6003036" cy="16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03036" cy="16002"/>
            </a:xfrm>
            <a:custGeom>
              <a:avLst/>
              <a:gdLst/>
              <a:ahLst/>
              <a:cxnLst/>
              <a:rect r="r" b="b" t="t" l="l"/>
              <a:pathLst>
                <a:path h="16002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10005" y="7219998"/>
            <a:ext cx="2068163" cy="559975"/>
            <a:chOff x="0" y="0"/>
            <a:chExt cx="2757551" cy="7466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10005" y="7205710"/>
            <a:ext cx="2068201" cy="574291"/>
            <a:chOff x="0" y="0"/>
            <a:chExt cx="2757602" cy="76572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0005" y="7263771"/>
            <a:ext cx="3288795" cy="588579"/>
            <a:chOff x="0" y="0"/>
            <a:chExt cx="4385060" cy="7847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5059" cy="784772"/>
            </a:xfrm>
            <a:custGeom>
              <a:avLst/>
              <a:gdLst/>
              <a:ahLst/>
              <a:cxnLst/>
              <a:rect r="r" b="b" t="t" l="l"/>
              <a:pathLst>
                <a:path h="784772" w="4385059">
                  <a:moveTo>
                    <a:pt x="0" y="0"/>
                  </a:moveTo>
                  <a:lnTo>
                    <a:pt x="4385059" y="0"/>
                  </a:lnTo>
                  <a:lnTo>
                    <a:pt x="4385059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37113" b="-184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385060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2"/>
                </a:lnSpc>
              </a:pP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  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$1,000 EACH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233472" y="7219998"/>
            <a:ext cx="1378839" cy="559975"/>
            <a:chOff x="0" y="0"/>
            <a:chExt cx="1838452" cy="7466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233472" y="7219998"/>
            <a:ext cx="1378801" cy="560003"/>
            <a:chOff x="0" y="0"/>
            <a:chExt cx="1838401" cy="7466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233472" y="7255716"/>
            <a:ext cx="1378801" cy="524285"/>
            <a:chOff x="0" y="0"/>
            <a:chExt cx="1838401" cy="69904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38401" cy="699046"/>
            </a:xfrm>
            <a:custGeom>
              <a:avLst/>
              <a:gdLst/>
              <a:ahLst/>
              <a:cxnLst/>
              <a:rect r="r" b="b" t="t" l="l"/>
              <a:pathLst>
                <a:path h="699046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699046"/>
                  </a:lnTo>
                  <a:lnTo>
                    <a:pt x="0" y="6990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" r="0" b="-12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47625"/>
              <a:ext cx="1838401" cy="6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66"/>
                </a:lnSpc>
              </a:pPr>
              <a:r>
                <a:rPr lang="en-US" sz="303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225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099429" y="2888094"/>
            <a:ext cx="5047964" cy="5023771"/>
            <a:chOff x="0" y="0"/>
            <a:chExt cx="6730619" cy="66983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30619" cy="6698361"/>
            </a:xfrm>
            <a:custGeom>
              <a:avLst/>
              <a:gdLst/>
              <a:ahLst/>
              <a:cxnLst/>
              <a:rect r="r" b="b" t="t" l="l"/>
              <a:pathLst>
                <a:path h="6698361" w="6730619">
                  <a:moveTo>
                    <a:pt x="0" y="0"/>
                  </a:moveTo>
                  <a:lnTo>
                    <a:pt x="6730619" y="0"/>
                  </a:lnTo>
                  <a:lnTo>
                    <a:pt x="6730619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132257"/>
            </a:solidFill>
            <a:ln w="9525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112278" y="2900001"/>
            <a:ext cx="5022247" cy="50006"/>
            <a:chOff x="0" y="0"/>
            <a:chExt cx="6696329" cy="666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96329" cy="66675"/>
            </a:xfrm>
            <a:custGeom>
              <a:avLst/>
              <a:gdLst/>
              <a:ahLst/>
              <a:cxnLst/>
              <a:rect r="r" b="b" t="t" l="l"/>
              <a:pathLst>
                <a:path h="66675" w="6696329">
                  <a:moveTo>
                    <a:pt x="0" y="0"/>
                  </a:moveTo>
                  <a:lnTo>
                    <a:pt x="6696329" y="0"/>
                  </a:lnTo>
                  <a:lnTo>
                    <a:pt x="6696329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372273" y="3119999"/>
            <a:ext cx="4502277" cy="34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372273" y="3441421"/>
            <a:ext cx="4502277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$1,000 to $5,000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372273" y="3735695"/>
            <a:ext cx="4502277" cy="7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26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28 to 45, professional with a savings habit. Discovers us on social media, then researches and compares fees before acting. 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6372273" y="4931997"/>
            <a:ext cx="4502277" cy="1249966"/>
            <a:chOff x="0" y="0"/>
            <a:chExt cx="6003036" cy="16666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03036" cy="1666621"/>
            </a:xfrm>
            <a:custGeom>
              <a:avLst/>
              <a:gdLst/>
              <a:ahLst/>
              <a:cxnLst/>
              <a:rect r="r" b="b" t="t" l="l"/>
              <a:pathLst>
                <a:path h="1666621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372273" y="4931997"/>
            <a:ext cx="30004" cy="1249966"/>
            <a:chOff x="0" y="0"/>
            <a:chExt cx="40005" cy="166662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8FB0FF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6552276" y="5031991"/>
            <a:ext cx="422227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HOOK (COMPETITIVE EDGE)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552276" y="5186743"/>
            <a:ext cx="4222271" cy="7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b="true" sz="1320" i="true">
                <a:solidFill>
                  <a:srgbClr val="FFFFFF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No high spreads, and no account opening, inactivity, custody, account management or bank deposit fees. US trades from USD 2.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72273" y="6331991"/>
            <a:ext cx="4502277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72273" y="6496269"/>
            <a:ext cx="4502277" cy="28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2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Google Ads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372273" y="7129996"/>
            <a:ext cx="4502277" cy="12002"/>
            <a:chOff x="0" y="0"/>
            <a:chExt cx="6003036" cy="1600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03036" cy="16002"/>
            </a:xfrm>
            <a:custGeom>
              <a:avLst/>
              <a:gdLst/>
              <a:ahLst/>
              <a:cxnLst/>
              <a:rect r="r" b="b" t="t" l="l"/>
              <a:pathLst>
                <a:path h="16002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372273" y="7219998"/>
            <a:ext cx="2068163" cy="559975"/>
            <a:chOff x="0" y="0"/>
            <a:chExt cx="2757551" cy="74663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372273" y="7205710"/>
            <a:ext cx="2068201" cy="574291"/>
            <a:chOff x="0" y="0"/>
            <a:chExt cx="2757602" cy="7657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6372273" y="7263771"/>
            <a:ext cx="3310478" cy="588579"/>
            <a:chOff x="0" y="0"/>
            <a:chExt cx="4413970" cy="7847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13969" cy="784772"/>
            </a:xfrm>
            <a:custGeom>
              <a:avLst/>
              <a:gdLst/>
              <a:ahLst/>
              <a:cxnLst/>
              <a:rect r="r" b="b" t="t" l="l"/>
              <a:pathLst>
                <a:path h="784772" w="4413969">
                  <a:moveTo>
                    <a:pt x="0" y="0"/>
                  </a:moveTo>
                  <a:lnTo>
                    <a:pt x="4413969" y="0"/>
                  </a:lnTo>
                  <a:lnTo>
                    <a:pt x="4413969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37525" b="-1846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413970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2"/>
                </a:lnSpc>
              </a:pP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$5,000 EACH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95758" y="7219998"/>
            <a:ext cx="1378839" cy="559975"/>
            <a:chOff x="0" y="0"/>
            <a:chExt cx="1838452" cy="74663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95758" y="7219998"/>
            <a:ext cx="1378801" cy="560003"/>
            <a:chOff x="0" y="0"/>
            <a:chExt cx="1838401" cy="7466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495758" y="7255716"/>
            <a:ext cx="1378801" cy="524285"/>
            <a:chOff x="0" y="0"/>
            <a:chExt cx="1838401" cy="69904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38401" cy="699046"/>
            </a:xfrm>
            <a:custGeom>
              <a:avLst/>
              <a:gdLst/>
              <a:ahLst/>
              <a:cxnLst/>
              <a:rect r="r" b="b" t="t" l="l"/>
              <a:pathLst>
                <a:path h="699046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699046"/>
                  </a:lnTo>
                  <a:lnTo>
                    <a:pt x="0" y="6990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" r="0" b="-124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47625"/>
              <a:ext cx="1838401" cy="6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66"/>
                </a:lnSpc>
              </a:pPr>
              <a:r>
                <a:rPr lang="en-US" sz="303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363601" y="2888094"/>
            <a:ext cx="2933605" cy="5023771"/>
            <a:chOff x="0" y="0"/>
            <a:chExt cx="3911473" cy="669836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11473" cy="6698361"/>
            </a:xfrm>
            <a:custGeom>
              <a:avLst/>
              <a:gdLst/>
              <a:ahLst/>
              <a:cxnLst/>
              <a:rect r="r" b="b" t="t" l="l"/>
              <a:pathLst>
                <a:path h="6698361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374564" y="2900001"/>
            <a:ext cx="2911697" cy="50006"/>
            <a:chOff x="0" y="0"/>
            <a:chExt cx="3882263" cy="6667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82263" cy="66675"/>
            </a:xfrm>
            <a:custGeom>
              <a:avLst/>
              <a:gdLst/>
              <a:ahLst/>
              <a:cxnLst/>
              <a:rect r="r" b="b" t="t" l="l"/>
              <a:pathLst>
                <a:path h="66675" w="3882263">
                  <a:moveTo>
                    <a:pt x="0" y="0"/>
                  </a:moveTo>
                  <a:lnTo>
                    <a:pt x="3882263" y="0"/>
                  </a:lnTo>
                  <a:lnTo>
                    <a:pt x="388226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634568" y="3100949"/>
            <a:ext cx="2391718" cy="36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53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634568" y="3460471"/>
            <a:ext cx="2391718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"/>
              </a:lnSpc>
            </a:pPr>
            <a:r>
              <a:rPr lang="en-US" sz="1137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$5,000 to $50,000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634568" y="3773795"/>
            <a:ext cx="2391718" cy="95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3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35 to 55, business owner or senior professional. Already invested in property or with a local broker. Does not make decisions based on social media.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1634568" y="4931997"/>
            <a:ext cx="2391728" cy="1249966"/>
            <a:chOff x="0" y="0"/>
            <a:chExt cx="3188970" cy="166662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88970" cy="1666621"/>
            </a:xfrm>
            <a:custGeom>
              <a:avLst/>
              <a:gdLst/>
              <a:ahLst/>
              <a:cxnLst/>
              <a:rect r="r" b="b" t="t" l="l"/>
              <a:pathLst>
                <a:path h="1666621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634568" y="4931997"/>
            <a:ext cx="30004" cy="1249966"/>
            <a:chOff x="0" y="0"/>
            <a:chExt cx="40005" cy="166662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7A849C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814572" y="5012941"/>
            <a:ext cx="2111712" cy="14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814572" y="5186743"/>
            <a:ext cx="2111712" cy="94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b="true" sz="1082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 CBB regulated GCC pl</a:t>
            </a:r>
            <a:r>
              <a:rPr lang="en-US" b="true" sz="1082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atform, closer to you than international brokers, with Shari’ah filtration and purification handled for you.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634568" y="6312941"/>
            <a:ext cx="2391718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634568" y="6515319"/>
            <a:ext cx="2026794" cy="35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08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LinkedIn lead generation, then in-person meeting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11634568" y="7129996"/>
            <a:ext cx="2391728" cy="12002"/>
            <a:chOff x="0" y="0"/>
            <a:chExt cx="3188970" cy="160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88970" cy="16002"/>
            </a:xfrm>
            <a:custGeom>
              <a:avLst/>
              <a:gdLst/>
              <a:ahLst/>
              <a:cxnLst/>
              <a:rect r="r" b="b" t="t" l="l"/>
              <a:pathLst>
                <a:path h="16002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634568" y="7219998"/>
            <a:ext cx="2068163" cy="559975"/>
            <a:chOff x="0" y="0"/>
            <a:chExt cx="2757551" cy="74663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634568" y="7205710"/>
            <a:ext cx="2068201" cy="574291"/>
            <a:chOff x="0" y="0"/>
            <a:chExt cx="2757602" cy="76572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634568" y="7191423"/>
            <a:ext cx="2068201" cy="588579"/>
            <a:chOff x="0" y="0"/>
            <a:chExt cx="2757602" cy="7847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757601" cy="784772"/>
            </a:xfrm>
            <a:custGeom>
              <a:avLst/>
              <a:gdLst/>
              <a:ahLst/>
              <a:cxnLst/>
              <a:rect r="r" b="b" t="t" l="l"/>
              <a:pathLst>
                <a:path h="784772" w="2757601">
                  <a:moveTo>
                    <a:pt x="0" y="0"/>
                  </a:moveTo>
                  <a:lnTo>
                    <a:pt x="2757601" y="0"/>
                  </a:lnTo>
                  <a:lnTo>
                    <a:pt x="2757601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0" b="-1846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2757602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5"/>
                </a:lnSpc>
              </a:pP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 AT $50,000 EACH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647486" y="7219998"/>
            <a:ext cx="1378839" cy="559975"/>
            <a:chOff x="0" y="0"/>
            <a:chExt cx="1838452" cy="74663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647486" y="7219998"/>
            <a:ext cx="1378801" cy="560003"/>
            <a:chOff x="0" y="0"/>
            <a:chExt cx="1838401" cy="74667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647486" y="7219998"/>
            <a:ext cx="1378801" cy="560003"/>
            <a:chOff x="0" y="0"/>
            <a:chExt cx="1838401" cy="7466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838401" cy="746671"/>
            </a:xfrm>
            <a:custGeom>
              <a:avLst/>
              <a:gdLst/>
              <a:ahLst/>
              <a:cxnLst/>
              <a:rect r="r" b="b" t="t" l="l"/>
              <a:pathLst>
                <a:path h="746671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746671"/>
                  </a:lnTo>
                  <a:lnTo>
                    <a:pt x="0" y="7466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110" t="0" r="-2110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838401" cy="74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5"/>
                </a:lnSpc>
              </a:pPr>
              <a:r>
                <a:rPr lang="en-US" sz="2163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520091" y="2892857"/>
            <a:ext cx="2924080" cy="5014246"/>
            <a:chOff x="0" y="0"/>
            <a:chExt cx="3898773" cy="668566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98773" cy="6685661"/>
            </a:xfrm>
            <a:custGeom>
              <a:avLst/>
              <a:gdLst/>
              <a:ahLst/>
              <a:cxnLst/>
              <a:rect r="r" b="b" t="t" l="l"/>
              <a:pathLst>
                <a:path h="6685661" w="3898773">
                  <a:moveTo>
                    <a:pt x="0" y="0"/>
                  </a:moveTo>
                  <a:lnTo>
                    <a:pt x="3898773" y="0"/>
                  </a:lnTo>
                  <a:lnTo>
                    <a:pt x="3898773" y="6685661"/>
                  </a:lnTo>
                  <a:lnTo>
                    <a:pt x="0" y="6685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14526282" y="2900001"/>
            <a:ext cx="2911697" cy="50006"/>
            <a:chOff x="0" y="0"/>
            <a:chExt cx="3882263" cy="6667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882263" cy="66675"/>
            </a:xfrm>
            <a:custGeom>
              <a:avLst/>
              <a:gdLst/>
              <a:ahLst/>
              <a:cxnLst/>
              <a:rect r="r" b="b" t="t" l="l"/>
              <a:pathLst>
                <a:path h="66675" w="3882263">
                  <a:moveTo>
                    <a:pt x="0" y="0"/>
                  </a:moveTo>
                  <a:lnTo>
                    <a:pt x="3882263" y="0"/>
                  </a:lnTo>
                  <a:lnTo>
                    <a:pt x="388226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129" id="129"/>
          <p:cNvSpPr txBox="true"/>
          <p:nvPr/>
        </p:nvSpPr>
        <p:spPr>
          <a:xfrm rot="0">
            <a:off x="14786286" y="3100949"/>
            <a:ext cx="2391718" cy="36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53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4786286" y="3460471"/>
            <a:ext cx="2391718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"/>
              </a:lnSpc>
            </a:pPr>
            <a:r>
              <a:rPr lang="en-US" sz="1137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$50,000 and above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4786286" y="3773795"/>
            <a:ext cx="2391718" cy="7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3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40 to 70, executive or family business owner. Light user of social media, moves capital on referral and personal relationships.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14786286" y="4931997"/>
            <a:ext cx="2391728" cy="1249966"/>
            <a:chOff x="0" y="0"/>
            <a:chExt cx="3188970" cy="166662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188970" cy="1666621"/>
            </a:xfrm>
            <a:custGeom>
              <a:avLst/>
              <a:gdLst/>
              <a:ahLst/>
              <a:cxnLst/>
              <a:rect r="r" b="b" t="t" l="l"/>
              <a:pathLst>
                <a:path h="1666621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4786286" y="4931997"/>
            <a:ext cx="30004" cy="1249966"/>
            <a:chOff x="0" y="0"/>
            <a:chExt cx="40005" cy="166662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7A849C"/>
            </a:solidFill>
          </p:spPr>
        </p:sp>
      </p:grpSp>
      <p:sp>
        <p:nvSpPr>
          <p:cNvPr name="TextBox 136" id="136"/>
          <p:cNvSpPr txBox="true"/>
          <p:nvPr/>
        </p:nvSpPr>
        <p:spPr>
          <a:xfrm rot="0">
            <a:off x="14966280" y="5012941"/>
            <a:ext cx="2111712" cy="14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4966280" y="5196269"/>
            <a:ext cx="2111712" cy="90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b="true" sz="999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Ajyad Capital’s 20+ year track record of trusted wealth management, CBB regulation, secure custody and a dedicated relationship manager.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4786286" y="6312941"/>
            <a:ext cx="2391718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CHANNEL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4786286" y="6515319"/>
            <a:ext cx="2391718" cy="17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08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Referral and in-person meeting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4786286" y="7129996"/>
            <a:ext cx="2391728" cy="12002"/>
            <a:chOff x="0" y="0"/>
            <a:chExt cx="3188970" cy="1600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188970" cy="16002"/>
            </a:xfrm>
            <a:custGeom>
              <a:avLst/>
              <a:gdLst/>
              <a:ahLst/>
              <a:cxnLst/>
              <a:rect r="r" b="b" t="t" l="l"/>
              <a:pathLst>
                <a:path h="16002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4786286" y="7219998"/>
            <a:ext cx="2068163" cy="559975"/>
            <a:chOff x="0" y="0"/>
            <a:chExt cx="2757551" cy="74663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4786286" y="7205710"/>
            <a:ext cx="2068201" cy="574291"/>
            <a:chOff x="0" y="0"/>
            <a:chExt cx="2757602" cy="76572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4786286" y="7191423"/>
            <a:ext cx="2068201" cy="588579"/>
            <a:chOff x="0" y="0"/>
            <a:chExt cx="2757602" cy="78477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757601" cy="784772"/>
            </a:xfrm>
            <a:custGeom>
              <a:avLst/>
              <a:gdLst/>
              <a:ahLst/>
              <a:cxnLst/>
              <a:rect r="r" b="b" t="t" l="l"/>
              <a:pathLst>
                <a:path h="784772" w="2757601">
                  <a:moveTo>
                    <a:pt x="0" y="0"/>
                  </a:moveTo>
                  <a:lnTo>
                    <a:pt x="2757601" y="0"/>
                  </a:lnTo>
                  <a:lnTo>
                    <a:pt x="2757601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0" b="-1846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2757602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5"/>
                </a:lnSpc>
              </a:pP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$100,000 EACH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799203" y="7219998"/>
            <a:ext cx="1378839" cy="559975"/>
            <a:chOff x="0" y="0"/>
            <a:chExt cx="1838452" cy="74663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5799203" y="7219998"/>
            <a:ext cx="1378801" cy="560003"/>
            <a:chOff x="0" y="0"/>
            <a:chExt cx="1838401" cy="74667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5799203" y="7219998"/>
            <a:ext cx="1378801" cy="560003"/>
            <a:chOff x="0" y="0"/>
            <a:chExt cx="1838401" cy="74667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838401" cy="746671"/>
            </a:xfrm>
            <a:custGeom>
              <a:avLst/>
              <a:gdLst/>
              <a:ahLst/>
              <a:cxnLst/>
              <a:rect r="r" b="b" t="t" l="l"/>
              <a:pathLst>
                <a:path h="746671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746671"/>
                  </a:lnTo>
                  <a:lnTo>
                    <a:pt x="0" y="7466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110" t="0" r="-2110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1838401" cy="74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5"/>
                </a:lnSpc>
              </a:pPr>
              <a:r>
                <a:rPr lang="en-US" sz="2163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850001" y="8020002"/>
            <a:ext cx="10284524" cy="599980"/>
            <a:chOff x="0" y="0"/>
            <a:chExt cx="13712698" cy="79997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3712698" cy="799973"/>
            </a:xfrm>
            <a:custGeom>
              <a:avLst/>
              <a:gdLst/>
              <a:ahLst/>
              <a:cxnLst/>
              <a:rect r="r" b="b" t="t" l="l"/>
              <a:pathLst>
                <a:path h="799973" w="13712698">
                  <a:moveTo>
                    <a:pt x="0" y="120015"/>
                  </a:moveTo>
                  <a:cubicBezTo>
                    <a:pt x="0" y="53721"/>
                    <a:pt x="67564" y="0"/>
                    <a:pt x="151003" y="0"/>
                  </a:cubicBezTo>
                  <a:lnTo>
                    <a:pt x="13561695" y="0"/>
                  </a:lnTo>
                  <a:cubicBezTo>
                    <a:pt x="13645133" y="0"/>
                    <a:pt x="13712698" y="53721"/>
                    <a:pt x="13712698" y="120015"/>
                  </a:cubicBezTo>
                  <a:lnTo>
                    <a:pt x="13712698" y="679958"/>
                  </a:lnTo>
                  <a:cubicBezTo>
                    <a:pt x="13712698" y="746252"/>
                    <a:pt x="13645133" y="799973"/>
                    <a:pt x="13561695" y="799973"/>
                  </a:cubicBezTo>
                  <a:lnTo>
                    <a:pt x="151003" y="799973"/>
                  </a:lnTo>
                  <a:cubicBezTo>
                    <a:pt x="67564" y="799973"/>
                    <a:pt x="0" y="746252"/>
                    <a:pt x="0" y="679958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50001" y="8020002"/>
            <a:ext cx="9984581" cy="599980"/>
            <a:chOff x="0" y="0"/>
            <a:chExt cx="13312775" cy="79997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3312775" cy="799973"/>
            </a:xfrm>
            <a:custGeom>
              <a:avLst/>
              <a:gdLst/>
              <a:ahLst/>
              <a:cxnLst/>
              <a:rect r="r" b="b" t="t" l="l"/>
              <a:pathLst>
                <a:path h="799973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035" r="0" b="-274035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150001" y="8012859"/>
            <a:ext cx="9984562" cy="607143"/>
            <a:chOff x="0" y="0"/>
            <a:chExt cx="13312750" cy="809523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3312775" cy="809498"/>
            </a:xfrm>
            <a:custGeom>
              <a:avLst/>
              <a:gdLst/>
              <a:ahLst/>
              <a:cxnLst/>
              <a:rect r="r" b="b" t="t" l="l"/>
              <a:pathLst>
                <a:path h="809498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219" r="0" b="-270224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150001" y="8005715"/>
            <a:ext cx="9984562" cy="614287"/>
            <a:chOff x="0" y="0"/>
            <a:chExt cx="13312750" cy="819049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3312749" cy="819050"/>
            </a:xfrm>
            <a:custGeom>
              <a:avLst/>
              <a:gdLst/>
              <a:ahLst/>
              <a:cxnLst/>
              <a:rect r="r" b="b" t="t" l="l"/>
              <a:pathLst>
                <a:path h="819050" w="13312749">
                  <a:moveTo>
                    <a:pt x="0" y="0"/>
                  </a:moveTo>
                  <a:lnTo>
                    <a:pt x="13312749" y="0"/>
                  </a:lnTo>
                  <a:lnTo>
                    <a:pt x="13312749" y="819050"/>
                  </a:lnTo>
                  <a:lnTo>
                    <a:pt x="0" y="8190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6707" r="0" b="-266707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9525"/>
              <a:ext cx="13312750" cy="828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12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 $167</a:t>
              </a:r>
              <a:r>
                <a:rPr lang="en-US" sz="1250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   recovers in 20 months</a:t>
              </a:r>
              <a:r>
                <a:rPr lang="en-US" sz="1250">
                  <a:solidFill>
                    <a:srgbClr val="4A5C8C"/>
                  </a:solidFill>
                  <a:latin typeface="Exo 2"/>
                  <a:ea typeface="Exo 2"/>
                  <a:cs typeface="Exo 2"/>
                  <a:sym typeface="Exo 2"/>
                </a:rPr>
                <a:t>                                                    |        </a:t>
              </a:r>
              <a:r>
                <a:rPr lang="en-US" sz="1250" b="true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12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 $417</a:t>
              </a:r>
              <a:r>
                <a:rPr lang="en-US" sz="1250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   recovers in 45 months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1374564" y="8020002"/>
            <a:ext cx="6063425" cy="599980"/>
            <a:chOff x="0" y="0"/>
            <a:chExt cx="8084566" cy="799973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8084566" cy="799973"/>
            </a:xfrm>
            <a:custGeom>
              <a:avLst/>
              <a:gdLst/>
              <a:ahLst/>
              <a:cxnLst/>
              <a:rect r="r" b="b" t="t" l="l"/>
              <a:pathLst>
                <a:path h="799973" w="8084566">
                  <a:moveTo>
                    <a:pt x="0" y="120015"/>
                  </a:moveTo>
                  <a:cubicBezTo>
                    <a:pt x="0" y="53721"/>
                    <a:pt x="39878" y="0"/>
                    <a:pt x="89027" y="0"/>
                  </a:cubicBezTo>
                  <a:lnTo>
                    <a:pt x="7995539" y="0"/>
                  </a:lnTo>
                  <a:cubicBezTo>
                    <a:pt x="8044688" y="0"/>
                    <a:pt x="8084566" y="53721"/>
                    <a:pt x="8084566" y="120015"/>
                  </a:cubicBezTo>
                  <a:lnTo>
                    <a:pt x="8084566" y="679958"/>
                  </a:lnTo>
                  <a:cubicBezTo>
                    <a:pt x="8084566" y="746252"/>
                    <a:pt x="8044688" y="799973"/>
                    <a:pt x="7995539" y="799973"/>
                  </a:cubicBezTo>
                  <a:lnTo>
                    <a:pt x="89027" y="799973"/>
                  </a:lnTo>
                  <a:cubicBezTo>
                    <a:pt x="39878" y="799973"/>
                    <a:pt x="0" y="746252"/>
                    <a:pt x="0" y="679958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1594563" y="8020002"/>
            <a:ext cx="2731675" cy="599980"/>
            <a:chOff x="0" y="0"/>
            <a:chExt cx="3642233" cy="79997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642233" cy="799973"/>
            </a:xfrm>
            <a:custGeom>
              <a:avLst/>
              <a:gdLst/>
              <a:ahLst/>
              <a:cxnLst/>
              <a:rect r="r" b="b" t="t" l="l"/>
              <a:pathLst>
                <a:path h="799973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52" r="0" b="-38653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1594563" y="8012859"/>
            <a:ext cx="2731722" cy="607143"/>
            <a:chOff x="0" y="0"/>
            <a:chExt cx="3642296" cy="809523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642233" cy="809498"/>
            </a:xfrm>
            <a:custGeom>
              <a:avLst/>
              <a:gdLst/>
              <a:ahLst/>
              <a:cxnLst/>
              <a:rect r="r" b="b" t="t" l="l"/>
              <a:pathLst>
                <a:path h="809498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09" r="-1" b="-37612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1594563" y="8012859"/>
            <a:ext cx="2731722" cy="607143"/>
            <a:chOff x="0" y="0"/>
            <a:chExt cx="3642296" cy="80952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642296" cy="809525"/>
            </a:xfrm>
            <a:custGeom>
              <a:avLst/>
              <a:gdLst/>
              <a:ahLst/>
              <a:cxnLst/>
              <a:rect r="r" b="b" t="t" l="l"/>
              <a:pathLst>
                <a:path h="809525" w="3642296">
                  <a:moveTo>
                    <a:pt x="0" y="0"/>
                  </a:moveTo>
                  <a:lnTo>
                    <a:pt x="3642296" y="0"/>
                  </a:lnTo>
                  <a:lnTo>
                    <a:pt x="3642296" y="809525"/>
                  </a:lnTo>
                  <a:lnTo>
                    <a:pt x="0" y="8095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669" r="0" b="-37669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3642296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8"/>
                </a:lnSpc>
              </a:pPr>
              <a:r>
                <a:rPr lang="en-US" sz="99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9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 $882</a:t>
              </a:r>
              <a:r>
                <a:rPr lang="en-US" sz="999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 recovers in 39 months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4406277" y="8160001"/>
            <a:ext cx="12002" cy="320040"/>
            <a:chOff x="0" y="0"/>
            <a:chExt cx="16002" cy="42672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6002" cy="426720"/>
            </a:xfrm>
            <a:custGeom>
              <a:avLst/>
              <a:gdLst/>
              <a:ahLst/>
              <a:cxnLst/>
              <a:rect r="r" b="b" t="t" l="l"/>
              <a:pathLst>
                <a:path h="426720" w="16002">
                  <a:moveTo>
                    <a:pt x="0" y="0"/>
                  </a:moveTo>
                  <a:lnTo>
                    <a:pt x="16002" y="0"/>
                  </a:lnTo>
                  <a:lnTo>
                    <a:pt x="16002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4586280" y="8020002"/>
            <a:ext cx="2731675" cy="599980"/>
            <a:chOff x="0" y="0"/>
            <a:chExt cx="3642233" cy="799973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642233" cy="799973"/>
            </a:xfrm>
            <a:custGeom>
              <a:avLst/>
              <a:gdLst/>
              <a:ahLst/>
              <a:cxnLst/>
              <a:rect r="r" b="b" t="t" l="l"/>
              <a:pathLst>
                <a:path h="799973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52" r="0" b="-38653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4586280" y="8012859"/>
            <a:ext cx="2731722" cy="607143"/>
            <a:chOff x="0" y="0"/>
            <a:chExt cx="3642296" cy="809523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642233" cy="809498"/>
            </a:xfrm>
            <a:custGeom>
              <a:avLst/>
              <a:gdLst/>
              <a:ahLst/>
              <a:cxnLst/>
              <a:rect r="r" b="b" t="t" l="l"/>
              <a:pathLst>
                <a:path h="809498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09" r="-1" b="-37612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4586280" y="8012859"/>
            <a:ext cx="2731722" cy="607143"/>
            <a:chOff x="0" y="0"/>
            <a:chExt cx="3642296" cy="80952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642296" cy="809525"/>
            </a:xfrm>
            <a:custGeom>
              <a:avLst/>
              <a:gdLst/>
              <a:ahLst/>
              <a:cxnLst/>
              <a:rect r="r" b="b" t="t" l="l"/>
              <a:pathLst>
                <a:path h="809525" w="3642296">
                  <a:moveTo>
                    <a:pt x="0" y="0"/>
                  </a:moveTo>
                  <a:lnTo>
                    <a:pt x="3642296" y="0"/>
                  </a:lnTo>
                  <a:lnTo>
                    <a:pt x="3642296" y="809525"/>
                  </a:lnTo>
                  <a:lnTo>
                    <a:pt x="0" y="8095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669" r="0" b="-37669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3642296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8"/>
                </a:lnSpc>
              </a:pPr>
              <a:r>
                <a:rPr lang="en-US" sz="99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9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  <a:r>
                <a:rPr lang="en-US" sz="99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</a:t>
              </a:r>
              <a:r>
                <a:rPr lang="en-US" b="true" sz="999" i="true">
                  <a:solidFill>
                    <a:srgbClr val="1BA97C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No added cost and is immediate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342151" y="6773799"/>
            <a:ext cx="1279998" cy="279997"/>
            <a:chOff x="0" y="0"/>
            <a:chExt cx="1706664" cy="373329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706753" cy="373380"/>
            </a:xfrm>
            <a:custGeom>
              <a:avLst/>
              <a:gdLst/>
              <a:ahLst/>
              <a:cxnLst/>
              <a:rect r="r" b="b" t="t" l="l"/>
              <a:pathLst>
                <a:path h="373380" w="1706753">
                  <a:moveTo>
                    <a:pt x="0" y="186690"/>
                  </a:moveTo>
                  <a:cubicBezTo>
                    <a:pt x="0" y="83566"/>
                    <a:pt x="83566" y="0"/>
                    <a:pt x="186690" y="0"/>
                  </a:cubicBezTo>
                  <a:lnTo>
                    <a:pt x="1520063" y="0"/>
                  </a:lnTo>
                  <a:cubicBezTo>
                    <a:pt x="1623187" y="0"/>
                    <a:pt x="1706753" y="83566"/>
                    <a:pt x="1706753" y="186690"/>
                  </a:cubicBezTo>
                  <a:cubicBezTo>
                    <a:pt x="1706753" y="289814"/>
                    <a:pt x="1623187" y="373380"/>
                    <a:pt x="1520063" y="373380"/>
                  </a:cubicBezTo>
                  <a:lnTo>
                    <a:pt x="186690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1706664" cy="373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92"/>
                </a:lnSpc>
              </a:pPr>
              <a:r>
                <a:rPr lang="en-US" b="true" sz="910" spc="9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ADDED COST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850001" y="8760000"/>
            <a:ext cx="16587997" cy="560003"/>
            <a:chOff x="0" y="0"/>
            <a:chExt cx="22117329" cy="746671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117304" cy="746633"/>
            </a:xfrm>
            <a:custGeom>
              <a:avLst/>
              <a:gdLst/>
              <a:ahLst/>
              <a:cxnLst/>
              <a:rect r="r" b="b" t="t" l="l"/>
              <a:pathLst>
                <a:path h="74663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746633"/>
                  </a:lnTo>
                  <a:lnTo>
                    <a:pt x="0" y="74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850001" y="8760000"/>
            <a:ext cx="39995" cy="560003"/>
            <a:chOff x="0" y="0"/>
            <a:chExt cx="53327" cy="74667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3340" cy="746633"/>
            </a:xfrm>
            <a:custGeom>
              <a:avLst/>
              <a:gdLst/>
              <a:ahLst/>
              <a:cxnLst/>
              <a:rect r="r" b="b" t="t" l="l"/>
              <a:pathLst>
                <a:path h="746633" w="53340">
                  <a:moveTo>
                    <a:pt x="0" y="0"/>
                  </a:moveTo>
                  <a:lnTo>
                    <a:pt x="53340" y="0"/>
                  </a:lnTo>
                  <a:lnTo>
                    <a:pt x="53340" y="746633"/>
                  </a:lnTo>
                  <a:lnTo>
                    <a:pt x="0" y="74663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129998" y="8819998"/>
            <a:ext cx="16088001" cy="440000"/>
            <a:chOff x="0" y="0"/>
            <a:chExt cx="21450668" cy="586667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1450666" cy="586670"/>
            </a:xfrm>
            <a:custGeom>
              <a:avLst/>
              <a:gdLst/>
              <a:ahLst/>
              <a:cxnLst/>
              <a:rect r="r" b="b" t="t" l="l"/>
              <a:pathLst>
                <a:path h="586670" w="21450666">
                  <a:moveTo>
                    <a:pt x="0" y="0"/>
                  </a:moveTo>
                  <a:lnTo>
                    <a:pt x="21450666" y="0"/>
                  </a:lnTo>
                  <a:lnTo>
                    <a:pt x="21450666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62440" r="0" b="-662439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9525"/>
              <a:ext cx="2145066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Goog</a:t>
              </a: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le Ads and LinkedIn are a new channel approach, running alongside our existing Instagram ads and influencer campaigns.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DELIVERY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The Runway, and What It Should Produce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3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The plan ahead for the growth strategy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475713" y="2349998"/>
            <a:ext cx="1661189" cy="380047"/>
            <a:chOff x="0" y="0"/>
            <a:chExt cx="2214918" cy="506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4880" cy="506730"/>
            </a:xfrm>
            <a:custGeom>
              <a:avLst/>
              <a:gdLst/>
              <a:ahLst/>
              <a:cxnLst/>
              <a:rect r="r" b="b" t="t" l="l"/>
              <a:pathLst>
                <a:path h="506730" w="221488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2084578" y="0"/>
                  </a:lnTo>
                  <a:cubicBezTo>
                    <a:pt x="2156587" y="0"/>
                    <a:pt x="2214880" y="68072"/>
                    <a:pt x="2214880" y="152019"/>
                  </a:cubicBezTo>
                  <a:lnTo>
                    <a:pt x="2214880" y="354711"/>
                  </a:lnTo>
                  <a:cubicBezTo>
                    <a:pt x="2214880" y="438658"/>
                    <a:pt x="2156587" y="506730"/>
                    <a:pt x="208457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50005" y="2349998"/>
            <a:ext cx="1712538" cy="380047"/>
            <a:chOff x="0" y="0"/>
            <a:chExt cx="2283384" cy="5067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3333" cy="506730"/>
            </a:xfrm>
            <a:custGeom>
              <a:avLst/>
              <a:gdLst/>
              <a:ahLst/>
              <a:cxnLst/>
              <a:rect r="r" b="b" t="t" l="l"/>
              <a:pathLst>
                <a:path h="506730" w="2283333">
                  <a:moveTo>
                    <a:pt x="0" y="0"/>
                  </a:moveTo>
                  <a:lnTo>
                    <a:pt x="2283333" y="0"/>
                  </a:lnTo>
                  <a:lnTo>
                    <a:pt x="228333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741" r="-2" b="-3773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50005" y="2349998"/>
            <a:ext cx="1712576" cy="380000"/>
            <a:chOff x="0" y="0"/>
            <a:chExt cx="2283435" cy="506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3460" cy="506730"/>
            </a:xfrm>
            <a:custGeom>
              <a:avLst/>
              <a:gdLst/>
              <a:ahLst/>
              <a:cxnLst/>
              <a:rect r="r" b="b" t="t" l="l"/>
              <a:pathLst>
                <a:path h="506730" w="2283460">
                  <a:moveTo>
                    <a:pt x="0" y="0"/>
                  </a:moveTo>
                  <a:lnTo>
                    <a:pt x="2283460" y="0"/>
                  </a:lnTo>
                  <a:lnTo>
                    <a:pt x="22834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749" r="1" b="-3773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50005" y="2349998"/>
            <a:ext cx="1712576" cy="380000"/>
            <a:chOff x="0" y="0"/>
            <a:chExt cx="2283435" cy="5066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3431" cy="506667"/>
            </a:xfrm>
            <a:custGeom>
              <a:avLst/>
              <a:gdLst/>
              <a:ahLst/>
              <a:cxnLst/>
              <a:rect r="r" b="b" t="t" l="l"/>
              <a:pathLst>
                <a:path h="506667" w="2283431">
                  <a:moveTo>
                    <a:pt x="0" y="0"/>
                  </a:moveTo>
                  <a:lnTo>
                    <a:pt x="2283431" y="0"/>
                  </a:lnTo>
                  <a:lnTo>
                    <a:pt x="228343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814" r="0" b="-378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83435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SEPTEMBER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89" y="2349998"/>
            <a:ext cx="3373726" cy="380047"/>
            <a:chOff x="0" y="0"/>
            <a:chExt cx="4498302" cy="5067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4368038" y="0"/>
                  </a:lnTo>
                  <a:cubicBezTo>
                    <a:pt x="4440047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440047" y="506730"/>
                    <a:pt x="436803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62571" y="2349998"/>
            <a:ext cx="3425161" cy="380047"/>
            <a:chOff x="0" y="0"/>
            <a:chExt cx="4566882" cy="5067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6" r="0" b="-12548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62571" y="2349998"/>
            <a:ext cx="3425142" cy="380000"/>
            <a:chOff x="0" y="0"/>
            <a:chExt cx="4566856" cy="506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-1" b="-12547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62571" y="2349998"/>
            <a:ext cx="3425142" cy="380000"/>
            <a:chOff x="0" y="0"/>
            <a:chExt cx="4566856" cy="5066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685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51">
                  <a:moveTo>
                    <a:pt x="0" y="0"/>
                  </a:moveTo>
                  <a:lnTo>
                    <a:pt x="4566851" y="0"/>
                  </a:lnTo>
                  <a:lnTo>
                    <a:pt x="456685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OCTOBER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13422" y="2349998"/>
            <a:ext cx="3373726" cy="380047"/>
            <a:chOff x="0" y="0"/>
            <a:chExt cx="4498302" cy="5067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4368038" y="0"/>
                  </a:lnTo>
                  <a:cubicBezTo>
                    <a:pt x="4440047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440047" y="506730"/>
                    <a:pt x="436803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87714" y="2349998"/>
            <a:ext cx="3425161" cy="380047"/>
            <a:chOff x="0" y="0"/>
            <a:chExt cx="4566882" cy="5067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6" r="0" b="-12548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587714" y="2349998"/>
            <a:ext cx="3425142" cy="380000"/>
            <a:chOff x="0" y="0"/>
            <a:chExt cx="4566856" cy="5066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-1" b="-12547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587714" y="2349998"/>
            <a:ext cx="3425142" cy="380000"/>
            <a:chOff x="0" y="0"/>
            <a:chExt cx="4566856" cy="5066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6685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51">
                  <a:moveTo>
                    <a:pt x="0" y="0"/>
                  </a:moveTo>
                  <a:lnTo>
                    <a:pt x="4566851" y="0"/>
                  </a:lnTo>
                  <a:lnTo>
                    <a:pt x="456685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NOVEMBER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038574" y="2349998"/>
            <a:ext cx="3373765" cy="380047"/>
            <a:chOff x="0" y="0"/>
            <a:chExt cx="4498353" cy="5067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118491" y="0"/>
                    <a:pt x="264668" y="0"/>
                  </a:cubicBezTo>
                  <a:lnTo>
                    <a:pt x="4233672" y="0"/>
                  </a:lnTo>
                  <a:cubicBezTo>
                    <a:pt x="4379849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379849" y="506730"/>
                    <a:pt x="4233672" y="506730"/>
                  </a:cubicBezTo>
                  <a:lnTo>
                    <a:pt x="264668" y="506730"/>
                  </a:lnTo>
                  <a:cubicBezTo>
                    <a:pt x="118491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012856" y="2349998"/>
            <a:ext cx="3425076" cy="380047"/>
            <a:chOff x="0" y="0"/>
            <a:chExt cx="4566768" cy="5067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1" r="0" b="-12548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12856" y="2349998"/>
            <a:ext cx="3425142" cy="380000"/>
            <a:chOff x="0" y="0"/>
            <a:chExt cx="4566856" cy="5066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1" b="-12547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12856" y="2349998"/>
            <a:ext cx="3425142" cy="380000"/>
            <a:chOff x="0" y="0"/>
            <a:chExt cx="4566856" cy="5066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6686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61">
                  <a:moveTo>
                    <a:pt x="0" y="0"/>
                  </a:moveTo>
                  <a:lnTo>
                    <a:pt x="4566861" y="0"/>
                  </a:lnTo>
                  <a:lnTo>
                    <a:pt x="456686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DECEMBER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50005" y="2780005"/>
            <a:ext cx="856269" cy="300038"/>
            <a:chOff x="0" y="0"/>
            <a:chExt cx="1141692" cy="400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450005" y="2780005"/>
            <a:ext cx="856288" cy="299999"/>
            <a:chOff x="0" y="0"/>
            <a:chExt cx="1141717" cy="3999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450005" y="2780005"/>
            <a:ext cx="856288" cy="299999"/>
            <a:chOff x="0" y="0"/>
            <a:chExt cx="1141717" cy="3999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306283" y="2780005"/>
            <a:ext cx="856269" cy="300038"/>
            <a:chOff x="0" y="0"/>
            <a:chExt cx="1141692" cy="400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06283" y="2780005"/>
            <a:ext cx="856288" cy="299999"/>
            <a:chOff x="0" y="0"/>
            <a:chExt cx="1141717" cy="3999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06283" y="2780005"/>
            <a:ext cx="856288" cy="299999"/>
            <a:chOff x="0" y="0"/>
            <a:chExt cx="1141717" cy="3999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162571" y="2780005"/>
            <a:ext cx="856269" cy="300038"/>
            <a:chOff x="0" y="0"/>
            <a:chExt cx="1141692" cy="400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162571" y="2780005"/>
            <a:ext cx="856288" cy="299999"/>
            <a:chOff x="0" y="0"/>
            <a:chExt cx="1141717" cy="3999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162571" y="2780005"/>
            <a:ext cx="856288" cy="299999"/>
            <a:chOff x="0" y="0"/>
            <a:chExt cx="1141717" cy="39999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18859" y="2780005"/>
            <a:ext cx="856269" cy="300038"/>
            <a:chOff x="0" y="0"/>
            <a:chExt cx="1141692" cy="400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018859" y="2780005"/>
            <a:ext cx="856288" cy="299999"/>
            <a:chOff x="0" y="0"/>
            <a:chExt cx="1141717" cy="3999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018859" y="2780005"/>
            <a:ext cx="856288" cy="299999"/>
            <a:chOff x="0" y="0"/>
            <a:chExt cx="1141717" cy="39999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w2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875147" y="2780005"/>
            <a:ext cx="856269" cy="300038"/>
            <a:chOff x="0" y="0"/>
            <a:chExt cx="1141692" cy="4000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875147" y="2780005"/>
            <a:ext cx="856288" cy="299999"/>
            <a:chOff x="0" y="0"/>
            <a:chExt cx="1141717" cy="39999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875147" y="2780005"/>
            <a:ext cx="856288" cy="299999"/>
            <a:chOff x="0" y="0"/>
            <a:chExt cx="1141717" cy="39999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731426" y="2780005"/>
            <a:ext cx="856269" cy="300038"/>
            <a:chOff x="0" y="0"/>
            <a:chExt cx="1141692" cy="4000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731426" y="2780005"/>
            <a:ext cx="856288" cy="299999"/>
            <a:chOff x="0" y="0"/>
            <a:chExt cx="1141717" cy="3999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31426" y="2780005"/>
            <a:ext cx="856288" cy="299999"/>
            <a:chOff x="0" y="0"/>
            <a:chExt cx="1141717" cy="3999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87714" y="2780005"/>
            <a:ext cx="856269" cy="300038"/>
            <a:chOff x="0" y="0"/>
            <a:chExt cx="1141692" cy="4000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587714" y="2780005"/>
            <a:ext cx="856288" cy="299999"/>
            <a:chOff x="0" y="0"/>
            <a:chExt cx="1141717" cy="39999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587714" y="2780005"/>
            <a:ext cx="856288" cy="299999"/>
            <a:chOff x="0" y="0"/>
            <a:chExt cx="1141717" cy="39999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444002" y="2780005"/>
            <a:ext cx="856269" cy="300038"/>
            <a:chOff x="0" y="0"/>
            <a:chExt cx="1141692" cy="4000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444002" y="2780005"/>
            <a:ext cx="856288" cy="299999"/>
            <a:chOff x="0" y="0"/>
            <a:chExt cx="1141717" cy="3999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444002" y="2780005"/>
            <a:ext cx="856288" cy="299999"/>
            <a:chOff x="0" y="0"/>
            <a:chExt cx="1141717" cy="39999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w2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300290" y="2780005"/>
            <a:ext cx="856269" cy="300038"/>
            <a:chOff x="0" y="0"/>
            <a:chExt cx="1141692" cy="40005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300290" y="2780005"/>
            <a:ext cx="856288" cy="299999"/>
            <a:chOff x="0" y="0"/>
            <a:chExt cx="1141717" cy="39999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300290" y="2780005"/>
            <a:ext cx="856288" cy="299999"/>
            <a:chOff x="0" y="0"/>
            <a:chExt cx="1141717" cy="39999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156568" y="2780005"/>
            <a:ext cx="856269" cy="300038"/>
            <a:chOff x="0" y="0"/>
            <a:chExt cx="1141692" cy="4000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156568" y="2780005"/>
            <a:ext cx="856288" cy="299999"/>
            <a:chOff x="0" y="0"/>
            <a:chExt cx="1141717" cy="39999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156568" y="2780005"/>
            <a:ext cx="856288" cy="299999"/>
            <a:chOff x="0" y="0"/>
            <a:chExt cx="1141717" cy="39999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w4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012856" y="2780005"/>
            <a:ext cx="856269" cy="300038"/>
            <a:chOff x="0" y="0"/>
            <a:chExt cx="1141692" cy="40005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012856" y="2780005"/>
            <a:ext cx="856288" cy="299999"/>
            <a:chOff x="0" y="0"/>
            <a:chExt cx="1141717" cy="39999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4012856" y="2780005"/>
            <a:ext cx="856288" cy="299999"/>
            <a:chOff x="0" y="0"/>
            <a:chExt cx="1141717" cy="39999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w1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869144" y="2780005"/>
            <a:ext cx="856269" cy="300038"/>
            <a:chOff x="0" y="0"/>
            <a:chExt cx="1141692" cy="40005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4869144" y="2780005"/>
            <a:ext cx="856288" cy="299999"/>
            <a:chOff x="0" y="0"/>
            <a:chExt cx="1141717" cy="39999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869144" y="2780005"/>
            <a:ext cx="856288" cy="299999"/>
            <a:chOff x="0" y="0"/>
            <a:chExt cx="1141717" cy="39999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850001" y="2780005"/>
            <a:ext cx="4600004" cy="300038"/>
            <a:chOff x="0" y="0"/>
            <a:chExt cx="6133338" cy="40005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133338" cy="400050"/>
            </a:xfrm>
            <a:custGeom>
              <a:avLst/>
              <a:gdLst/>
              <a:ahLst/>
              <a:cxnLst/>
              <a:rect r="r" b="b" t="t" l="l"/>
              <a:pathLst>
                <a:path h="400050" w="6133338">
                  <a:moveTo>
                    <a:pt x="0" y="0"/>
                  </a:moveTo>
                  <a:lnTo>
                    <a:pt x="6133338" y="0"/>
                  </a:lnTo>
                  <a:lnTo>
                    <a:pt x="6133338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8526" r="0" b="-248523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850001" y="2780005"/>
            <a:ext cx="4600004" cy="299999"/>
            <a:chOff x="0" y="0"/>
            <a:chExt cx="6133338" cy="39999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133338" cy="400050"/>
            </a:xfrm>
            <a:custGeom>
              <a:avLst/>
              <a:gdLst/>
              <a:ahLst/>
              <a:cxnLst/>
              <a:rect r="r" b="b" t="t" l="l"/>
              <a:pathLst>
                <a:path h="400050" w="6133338">
                  <a:moveTo>
                    <a:pt x="0" y="0"/>
                  </a:moveTo>
                  <a:lnTo>
                    <a:pt x="6133338" y="0"/>
                  </a:lnTo>
                  <a:lnTo>
                    <a:pt x="6133338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8533" r="0" b="-248517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850001" y="2780005"/>
            <a:ext cx="4600004" cy="299999"/>
            <a:chOff x="0" y="0"/>
            <a:chExt cx="6133338" cy="39999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133339" cy="399999"/>
            </a:xfrm>
            <a:custGeom>
              <a:avLst/>
              <a:gdLst/>
              <a:ahLst/>
              <a:cxnLst/>
              <a:rect r="r" b="b" t="t" l="l"/>
              <a:pathLst>
                <a:path h="399999" w="6133339">
                  <a:moveTo>
                    <a:pt x="0" y="0"/>
                  </a:moveTo>
                  <a:lnTo>
                    <a:pt x="6133339" y="0"/>
                  </a:lnTo>
                  <a:lnTo>
                    <a:pt x="6133339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8771" r="0" b="-24877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6133338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b="true" sz="1130" spc="160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WORKSTREAM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5450005" y="3150003"/>
            <a:ext cx="7677" cy="4920044"/>
            <a:chOff x="0" y="0"/>
            <a:chExt cx="10236" cy="656005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306283" y="3150003"/>
            <a:ext cx="7677" cy="4920044"/>
            <a:chOff x="0" y="0"/>
            <a:chExt cx="10236" cy="656005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7162571" y="3150003"/>
            <a:ext cx="7677" cy="4920044"/>
            <a:chOff x="0" y="0"/>
            <a:chExt cx="10236" cy="656005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8018859" y="3150003"/>
            <a:ext cx="7677" cy="4920044"/>
            <a:chOff x="0" y="0"/>
            <a:chExt cx="10236" cy="656005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875147" y="3150003"/>
            <a:ext cx="7677" cy="4920044"/>
            <a:chOff x="0" y="0"/>
            <a:chExt cx="10236" cy="656005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731426" y="3150003"/>
            <a:ext cx="7677" cy="4920044"/>
            <a:chOff x="0" y="0"/>
            <a:chExt cx="10236" cy="656005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587714" y="3150003"/>
            <a:ext cx="7677" cy="4920044"/>
            <a:chOff x="0" y="0"/>
            <a:chExt cx="10236" cy="656005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1444002" y="3150003"/>
            <a:ext cx="7677" cy="4920044"/>
            <a:chOff x="0" y="0"/>
            <a:chExt cx="10236" cy="656005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300290" y="3150003"/>
            <a:ext cx="7677" cy="4920044"/>
            <a:chOff x="0" y="0"/>
            <a:chExt cx="10236" cy="656005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3156568" y="3150003"/>
            <a:ext cx="7677" cy="4920044"/>
            <a:chOff x="0" y="0"/>
            <a:chExt cx="10236" cy="656005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4012856" y="3150003"/>
            <a:ext cx="7677" cy="4920044"/>
            <a:chOff x="0" y="0"/>
            <a:chExt cx="10236" cy="656005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4869144" y="3150003"/>
            <a:ext cx="7677" cy="4920044"/>
            <a:chOff x="0" y="0"/>
            <a:chExt cx="10236" cy="656005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5725432" y="3150003"/>
            <a:ext cx="7677" cy="4920044"/>
            <a:chOff x="0" y="0"/>
            <a:chExt cx="10236" cy="656005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7437999" y="3150003"/>
            <a:ext cx="7677" cy="4920044"/>
            <a:chOff x="0" y="0"/>
            <a:chExt cx="10236" cy="656005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6581711" y="3150003"/>
            <a:ext cx="7677" cy="4920044"/>
            <a:chOff x="0" y="0"/>
            <a:chExt cx="10236" cy="656005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850001" y="3150003"/>
            <a:ext cx="16587978" cy="820007"/>
            <a:chOff x="0" y="0"/>
            <a:chExt cx="22117304" cy="1093343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000001" y="3290002"/>
            <a:ext cx="2939986" cy="260033"/>
            <a:chOff x="0" y="0"/>
            <a:chExt cx="3919982" cy="34671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919982" cy="346710"/>
            </a:xfrm>
            <a:custGeom>
              <a:avLst/>
              <a:gdLst/>
              <a:ahLst/>
              <a:cxnLst/>
              <a:rect r="r" b="b" t="t" l="l"/>
              <a:pathLst>
                <a:path h="346710" w="391998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746627" y="0"/>
                  </a:lnTo>
                  <a:cubicBezTo>
                    <a:pt x="3842385" y="0"/>
                    <a:pt x="3919982" y="77597"/>
                    <a:pt x="3919982" y="173355"/>
                  </a:cubicBezTo>
                  <a:cubicBezTo>
                    <a:pt x="3919982" y="269113"/>
                    <a:pt x="3842385" y="346710"/>
                    <a:pt x="374662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129998" y="3290002"/>
            <a:ext cx="3200019" cy="260033"/>
            <a:chOff x="0" y="0"/>
            <a:chExt cx="4266692" cy="34671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29998" y="3282858"/>
            <a:ext cx="3200000" cy="267148"/>
            <a:chOff x="0" y="0"/>
            <a:chExt cx="4266667" cy="356197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29998" y="3275714"/>
            <a:ext cx="3200000" cy="274291"/>
            <a:chOff x="0" y="0"/>
            <a:chExt cx="4266667" cy="36572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sp>
        <p:nvSpPr>
          <p:cNvPr name="TextBox 182" id="182"/>
          <p:cNvSpPr txBox="true"/>
          <p:nvPr/>
        </p:nvSpPr>
        <p:spPr>
          <a:xfrm rot="0">
            <a:off x="1000001" y="3561426"/>
            <a:ext cx="430000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Analytics implementation</a:t>
            </a:r>
          </a:p>
        </p:txBody>
      </p:sp>
      <p:grpSp>
        <p:nvGrpSpPr>
          <p:cNvPr name="Group 183" id="183"/>
          <p:cNvGrpSpPr/>
          <p:nvPr/>
        </p:nvGrpSpPr>
        <p:grpSpPr>
          <a:xfrm rot="0">
            <a:off x="5492858" y="3419999"/>
            <a:ext cx="1626899" cy="280035"/>
            <a:chOff x="0" y="0"/>
            <a:chExt cx="2169198" cy="37338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69160" cy="373380"/>
            </a:xfrm>
            <a:custGeom>
              <a:avLst/>
              <a:gdLst/>
              <a:ahLst/>
              <a:cxnLst/>
              <a:rect r="r" b="b" t="t" l="l"/>
              <a:pathLst>
                <a:path h="373380" w="2169160">
                  <a:moveTo>
                    <a:pt x="0" y="186690"/>
                  </a:moveTo>
                  <a:cubicBezTo>
                    <a:pt x="0" y="83566"/>
                    <a:pt x="71628" y="0"/>
                    <a:pt x="160020" y="0"/>
                  </a:cubicBezTo>
                  <a:lnTo>
                    <a:pt x="2009140" y="0"/>
                  </a:lnTo>
                  <a:cubicBezTo>
                    <a:pt x="2097532" y="0"/>
                    <a:pt x="2169160" y="83566"/>
                    <a:pt x="2169160" y="186690"/>
                  </a:cubicBezTo>
                  <a:cubicBezTo>
                    <a:pt x="2169160" y="289814"/>
                    <a:pt x="2097532" y="373380"/>
                    <a:pt x="2009140" y="373380"/>
                  </a:cubicBezTo>
                  <a:lnTo>
                    <a:pt x="160020" y="373380"/>
                  </a:lnTo>
                  <a:cubicBezTo>
                    <a:pt x="71628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000001" y="4109999"/>
            <a:ext cx="1896618" cy="260033"/>
            <a:chOff x="0" y="0"/>
            <a:chExt cx="2528824" cy="34671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528824" cy="346710"/>
            </a:xfrm>
            <a:custGeom>
              <a:avLst/>
              <a:gdLst/>
              <a:ahLst/>
              <a:cxnLst/>
              <a:rect r="r" b="b" t="t" l="l"/>
              <a:pathLst>
                <a:path h="346710" w="2528824">
                  <a:moveTo>
                    <a:pt x="0" y="173355"/>
                  </a:moveTo>
                  <a:cubicBezTo>
                    <a:pt x="0" y="77597"/>
                    <a:pt x="106680" y="0"/>
                    <a:pt x="238252" y="0"/>
                  </a:cubicBezTo>
                  <a:lnTo>
                    <a:pt x="2290572" y="0"/>
                  </a:lnTo>
                  <a:cubicBezTo>
                    <a:pt x="2422144" y="0"/>
                    <a:pt x="2528824" y="77597"/>
                    <a:pt x="2528824" y="173355"/>
                  </a:cubicBezTo>
                  <a:cubicBezTo>
                    <a:pt x="2528824" y="269113"/>
                    <a:pt x="2422144" y="346710"/>
                    <a:pt x="2290572" y="346710"/>
                  </a:cubicBezTo>
                  <a:lnTo>
                    <a:pt x="238252" y="346710"/>
                  </a:lnTo>
                  <a:cubicBezTo>
                    <a:pt x="106680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FBF1D6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129998" y="4109999"/>
            <a:ext cx="3200019" cy="260033"/>
            <a:chOff x="0" y="0"/>
            <a:chExt cx="4266692" cy="34671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129998" y="4102856"/>
            <a:ext cx="3200000" cy="267148"/>
            <a:chOff x="0" y="0"/>
            <a:chExt cx="4266667" cy="35619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29998" y="4095712"/>
            <a:ext cx="3200000" cy="274291"/>
            <a:chOff x="0" y="0"/>
            <a:chExt cx="4266667" cy="36572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PLACEMENT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ONGOING</a:t>
              </a:r>
            </a:p>
          </p:txBody>
        </p:sp>
      </p:grpSp>
      <p:sp>
        <p:nvSpPr>
          <p:cNvPr name="TextBox 194" id="194"/>
          <p:cNvSpPr txBox="true"/>
          <p:nvPr/>
        </p:nvSpPr>
        <p:spPr>
          <a:xfrm rot="0">
            <a:off x="1000001" y="4381424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and HNW visits and closing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5492858" y="4239997"/>
            <a:ext cx="11895153" cy="280035"/>
            <a:chOff x="0" y="0"/>
            <a:chExt cx="15860204" cy="37338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5860268" cy="373380"/>
            </a:xfrm>
            <a:custGeom>
              <a:avLst/>
              <a:gdLst/>
              <a:ahLst/>
              <a:cxnLst/>
              <a:rect r="r" b="b" t="t" l="l"/>
              <a:pathLst>
                <a:path h="373380" w="15860268">
                  <a:moveTo>
                    <a:pt x="0" y="186690"/>
                  </a:moveTo>
                  <a:cubicBezTo>
                    <a:pt x="0" y="83566"/>
                    <a:pt x="83566" y="0"/>
                    <a:pt x="186817" y="0"/>
                  </a:cubicBezTo>
                  <a:lnTo>
                    <a:pt x="15673451" y="0"/>
                  </a:lnTo>
                  <a:cubicBezTo>
                    <a:pt x="15776575" y="0"/>
                    <a:pt x="15860268" y="83566"/>
                    <a:pt x="15860268" y="186690"/>
                  </a:cubicBezTo>
                  <a:cubicBezTo>
                    <a:pt x="15860268" y="289814"/>
                    <a:pt x="15776702" y="373380"/>
                    <a:pt x="15673451" y="373380"/>
                  </a:cubicBezTo>
                  <a:lnTo>
                    <a:pt x="186817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850001" y="4789999"/>
            <a:ext cx="16587978" cy="820007"/>
            <a:chOff x="0" y="0"/>
            <a:chExt cx="22117304" cy="1093343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000001" y="4929997"/>
            <a:ext cx="2258473" cy="260033"/>
            <a:chOff x="0" y="0"/>
            <a:chExt cx="3011297" cy="34671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011297" cy="346710"/>
            </a:xfrm>
            <a:custGeom>
              <a:avLst/>
              <a:gdLst/>
              <a:ahLst/>
              <a:cxnLst/>
              <a:rect r="r" b="b" t="t" l="l"/>
              <a:pathLst>
                <a:path h="346710" w="3011297">
                  <a:moveTo>
                    <a:pt x="0" y="173355"/>
                  </a:moveTo>
                  <a:cubicBezTo>
                    <a:pt x="0" y="77597"/>
                    <a:pt x="83439" y="0"/>
                    <a:pt x="186436" y="0"/>
                  </a:cubicBezTo>
                  <a:lnTo>
                    <a:pt x="2824861" y="0"/>
                  </a:lnTo>
                  <a:cubicBezTo>
                    <a:pt x="2927858" y="0"/>
                    <a:pt x="3011297" y="77597"/>
                    <a:pt x="3011297" y="173355"/>
                  </a:cubicBezTo>
                  <a:cubicBezTo>
                    <a:pt x="3011297" y="269113"/>
                    <a:pt x="2927858" y="346710"/>
                    <a:pt x="2824861" y="346710"/>
                  </a:cubicBezTo>
                  <a:lnTo>
                    <a:pt x="186436" y="346710"/>
                  </a:lnTo>
                  <a:cubicBezTo>
                    <a:pt x="83439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129998" y="4929997"/>
            <a:ext cx="3200019" cy="260033"/>
            <a:chOff x="0" y="0"/>
            <a:chExt cx="4266692" cy="34671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129998" y="4922853"/>
            <a:ext cx="3200000" cy="267148"/>
            <a:chOff x="0" y="0"/>
            <a:chExt cx="4266667" cy="35619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129998" y="4915710"/>
            <a:ext cx="3200000" cy="274291"/>
            <a:chOff x="0" y="0"/>
            <a:chExt cx="4266667" cy="36572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(CX)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ONGOING</a:t>
              </a:r>
            </a:p>
          </p:txBody>
        </p:sp>
      </p:grpSp>
      <p:sp>
        <p:nvSpPr>
          <p:cNvPr name="TextBox 208" id="208"/>
          <p:cNvSpPr txBox="true"/>
          <p:nvPr/>
        </p:nvSpPr>
        <p:spPr>
          <a:xfrm rot="0">
            <a:off x="1000001" y="5201422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Ongoing customer communication</a:t>
            </a:r>
          </a:p>
        </p:txBody>
      </p:sp>
      <p:grpSp>
        <p:nvGrpSpPr>
          <p:cNvPr name="Group 209" id="209"/>
          <p:cNvGrpSpPr/>
          <p:nvPr/>
        </p:nvGrpSpPr>
        <p:grpSpPr>
          <a:xfrm rot="0">
            <a:off x="5492858" y="5060004"/>
            <a:ext cx="11895153" cy="280035"/>
            <a:chOff x="0" y="0"/>
            <a:chExt cx="15860204" cy="37338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5860268" cy="373380"/>
            </a:xfrm>
            <a:custGeom>
              <a:avLst/>
              <a:gdLst/>
              <a:ahLst/>
              <a:cxnLst/>
              <a:rect r="r" b="b" t="t" l="l"/>
              <a:pathLst>
                <a:path h="373380" w="15860268">
                  <a:moveTo>
                    <a:pt x="0" y="186690"/>
                  </a:moveTo>
                  <a:cubicBezTo>
                    <a:pt x="0" y="83566"/>
                    <a:pt x="83566" y="0"/>
                    <a:pt x="186817" y="0"/>
                  </a:cubicBezTo>
                  <a:lnTo>
                    <a:pt x="15673451" y="0"/>
                  </a:lnTo>
                  <a:cubicBezTo>
                    <a:pt x="15776575" y="0"/>
                    <a:pt x="15860268" y="83566"/>
                    <a:pt x="15860268" y="186690"/>
                  </a:cubicBezTo>
                  <a:cubicBezTo>
                    <a:pt x="15860268" y="289814"/>
                    <a:pt x="15776702" y="373380"/>
                    <a:pt x="15673451" y="373380"/>
                  </a:cubicBezTo>
                  <a:lnTo>
                    <a:pt x="186817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1000001" y="5750004"/>
            <a:ext cx="2999994" cy="260033"/>
            <a:chOff x="0" y="0"/>
            <a:chExt cx="3999992" cy="34671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999992" cy="346710"/>
            </a:xfrm>
            <a:custGeom>
              <a:avLst/>
              <a:gdLst/>
              <a:ahLst/>
              <a:cxnLst/>
              <a:rect r="r" b="b" t="t" l="l"/>
              <a:pathLst>
                <a:path h="346710" w="3999992">
                  <a:moveTo>
                    <a:pt x="0" y="173355"/>
                  </a:moveTo>
                  <a:cubicBezTo>
                    <a:pt x="0" y="77597"/>
                    <a:pt x="79121" y="0"/>
                    <a:pt x="176911" y="0"/>
                  </a:cubicBezTo>
                  <a:lnTo>
                    <a:pt x="3823081" y="0"/>
                  </a:lnTo>
                  <a:cubicBezTo>
                    <a:pt x="3920744" y="0"/>
                    <a:pt x="3999992" y="77597"/>
                    <a:pt x="3999992" y="173355"/>
                  </a:cubicBezTo>
                  <a:cubicBezTo>
                    <a:pt x="3999992" y="269113"/>
                    <a:pt x="3920871" y="346710"/>
                    <a:pt x="3823081" y="346710"/>
                  </a:cubicBezTo>
                  <a:lnTo>
                    <a:pt x="176911" y="346710"/>
                  </a:lnTo>
                  <a:cubicBezTo>
                    <a:pt x="79121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129998" y="5750004"/>
            <a:ext cx="3200019" cy="260033"/>
            <a:chOff x="0" y="0"/>
            <a:chExt cx="4266692" cy="34671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129998" y="5742861"/>
            <a:ext cx="3200000" cy="267138"/>
            <a:chOff x="0" y="0"/>
            <a:chExt cx="4266667" cy="356184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1129998" y="5735717"/>
            <a:ext cx="3200000" cy="274291"/>
            <a:chOff x="0" y="0"/>
            <a:chExt cx="4266667" cy="365722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4266667" cy="365717"/>
            </a:xfrm>
            <a:custGeom>
              <a:avLst/>
              <a:gdLst/>
              <a:ahLst/>
              <a:cxnLst/>
              <a:rect r="r" b="b" t="t" l="l"/>
              <a:pathLst>
                <a:path h="365717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17"/>
                  </a:lnTo>
                  <a:lnTo>
                    <a:pt x="0" y="3657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3" r="0" b="-177324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STARTED</a:t>
              </a:r>
            </a:p>
          </p:txBody>
        </p:sp>
      </p:grpSp>
      <p:sp>
        <p:nvSpPr>
          <p:cNvPr name="TextBox 220" id="220"/>
          <p:cNvSpPr txBox="true"/>
          <p:nvPr/>
        </p:nvSpPr>
        <p:spPr>
          <a:xfrm rot="0">
            <a:off x="1000001" y="6021429"/>
            <a:ext cx="4300004" cy="22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and Google Ads, testing phase</a:t>
            </a:r>
          </a:p>
        </p:txBody>
      </p:sp>
      <p:grpSp>
        <p:nvGrpSpPr>
          <p:cNvPr name="Group 221" id="221"/>
          <p:cNvGrpSpPr/>
          <p:nvPr/>
        </p:nvGrpSpPr>
        <p:grpSpPr>
          <a:xfrm rot="0">
            <a:off x="7205434" y="5880002"/>
            <a:ext cx="3339436" cy="280035"/>
            <a:chOff x="0" y="0"/>
            <a:chExt cx="4452582" cy="37338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452620" cy="373380"/>
            </a:xfrm>
            <a:custGeom>
              <a:avLst/>
              <a:gdLst/>
              <a:ahLst/>
              <a:cxnLst/>
              <a:rect r="r" b="b" t="t" l="l"/>
              <a:pathLst>
                <a:path h="373380" w="4452620">
                  <a:moveTo>
                    <a:pt x="0" y="186690"/>
                  </a:moveTo>
                  <a:cubicBezTo>
                    <a:pt x="0" y="83566"/>
                    <a:pt x="71628" y="0"/>
                    <a:pt x="160020" y="0"/>
                  </a:cubicBezTo>
                  <a:lnTo>
                    <a:pt x="4292600" y="0"/>
                  </a:lnTo>
                  <a:cubicBezTo>
                    <a:pt x="4380992" y="0"/>
                    <a:pt x="4452620" y="83566"/>
                    <a:pt x="4452620" y="186690"/>
                  </a:cubicBezTo>
                  <a:cubicBezTo>
                    <a:pt x="4452620" y="289814"/>
                    <a:pt x="4380992" y="373380"/>
                    <a:pt x="4292600" y="373380"/>
                  </a:cubicBezTo>
                  <a:lnTo>
                    <a:pt x="160020" y="373380"/>
                  </a:lnTo>
                  <a:cubicBezTo>
                    <a:pt x="71628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850001" y="6430004"/>
            <a:ext cx="16587978" cy="820007"/>
            <a:chOff x="0" y="0"/>
            <a:chExt cx="22117304" cy="1093343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1000001" y="6570002"/>
            <a:ext cx="2939986" cy="260033"/>
            <a:chOff x="0" y="0"/>
            <a:chExt cx="3919982" cy="346710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3919982" cy="346710"/>
            </a:xfrm>
            <a:custGeom>
              <a:avLst/>
              <a:gdLst/>
              <a:ahLst/>
              <a:cxnLst/>
              <a:rect r="r" b="b" t="t" l="l"/>
              <a:pathLst>
                <a:path h="346710" w="391998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746627" y="0"/>
                  </a:lnTo>
                  <a:cubicBezTo>
                    <a:pt x="3842385" y="0"/>
                    <a:pt x="3919982" y="77597"/>
                    <a:pt x="3919982" y="173355"/>
                  </a:cubicBezTo>
                  <a:cubicBezTo>
                    <a:pt x="3919982" y="269113"/>
                    <a:pt x="3842385" y="346710"/>
                    <a:pt x="374662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129998" y="6570002"/>
            <a:ext cx="3200019" cy="260033"/>
            <a:chOff x="0" y="0"/>
            <a:chExt cx="4266692" cy="34671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1129998" y="6562858"/>
            <a:ext cx="3200000" cy="267148"/>
            <a:chOff x="0" y="0"/>
            <a:chExt cx="4266667" cy="35619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1129998" y="6555715"/>
            <a:ext cx="3200000" cy="274291"/>
            <a:chOff x="0" y="0"/>
            <a:chExt cx="4266667" cy="365722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</a:t>
              </a:r>
            </a:p>
          </p:txBody>
        </p:sp>
      </p:grpSp>
      <p:sp>
        <p:nvSpPr>
          <p:cNvPr name="TextBox 234" id="234"/>
          <p:cNvSpPr txBox="true"/>
          <p:nvPr/>
        </p:nvSpPr>
        <p:spPr>
          <a:xfrm rot="0">
            <a:off x="1000001" y="6841426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Scale LinkedIn and Google Ads</a:t>
            </a:r>
          </a:p>
        </p:txBody>
      </p:sp>
      <p:grpSp>
        <p:nvGrpSpPr>
          <p:cNvPr name="Group 235" id="235"/>
          <p:cNvGrpSpPr/>
          <p:nvPr/>
        </p:nvGrpSpPr>
        <p:grpSpPr>
          <a:xfrm rot="0">
            <a:off x="10630567" y="6699999"/>
            <a:ext cx="6757445" cy="280035"/>
            <a:chOff x="0" y="0"/>
            <a:chExt cx="9009926" cy="37338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9009925" cy="373380"/>
            </a:xfrm>
            <a:custGeom>
              <a:avLst/>
              <a:gdLst/>
              <a:ahLst/>
              <a:cxnLst/>
              <a:rect r="r" b="b" t="t" l="l"/>
              <a:pathLst>
                <a:path h="373380" w="9009925">
                  <a:moveTo>
                    <a:pt x="0" y="186690"/>
                  </a:moveTo>
                  <a:cubicBezTo>
                    <a:pt x="0" y="83566"/>
                    <a:pt x="95807" y="0"/>
                    <a:pt x="214037" y="0"/>
                  </a:cubicBezTo>
                  <a:lnTo>
                    <a:pt x="8795889" y="0"/>
                  </a:lnTo>
                  <a:cubicBezTo>
                    <a:pt x="8914119" y="0"/>
                    <a:pt x="9009925" y="83566"/>
                    <a:pt x="9009925" y="186690"/>
                  </a:cubicBezTo>
                  <a:cubicBezTo>
                    <a:pt x="9009925" y="289814"/>
                    <a:pt x="8914119" y="373380"/>
                    <a:pt x="8795889" y="373380"/>
                  </a:cubicBezTo>
                  <a:lnTo>
                    <a:pt x="214037" y="373380"/>
                  </a:lnTo>
                  <a:cubicBezTo>
                    <a:pt x="95807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000001" y="7390000"/>
            <a:ext cx="2999994" cy="260033"/>
            <a:chOff x="0" y="0"/>
            <a:chExt cx="3999992" cy="34671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999992" cy="346710"/>
            </a:xfrm>
            <a:custGeom>
              <a:avLst/>
              <a:gdLst/>
              <a:ahLst/>
              <a:cxnLst/>
              <a:rect r="r" b="b" t="t" l="l"/>
              <a:pathLst>
                <a:path h="346710" w="399999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826637" y="0"/>
                  </a:lnTo>
                  <a:cubicBezTo>
                    <a:pt x="3922395" y="0"/>
                    <a:pt x="3999992" y="77597"/>
                    <a:pt x="3999992" y="173355"/>
                  </a:cubicBezTo>
                  <a:cubicBezTo>
                    <a:pt x="3999992" y="269113"/>
                    <a:pt x="3922395" y="346710"/>
                    <a:pt x="382663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129998" y="7390000"/>
            <a:ext cx="3200019" cy="260033"/>
            <a:chOff x="0" y="0"/>
            <a:chExt cx="4266692" cy="34671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1129998" y="7382856"/>
            <a:ext cx="3200000" cy="267148"/>
            <a:chOff x="0" y="0"/>
            <a:chExt cx="4266667" cy="356197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1129998" y="7375712"/>
            <a:ext cx="3200000" cy="274291"/>
            <a:chOff x="0" y="0"/>
            <a:chExt cx="4266667" cy="365722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45" id="245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(TECHNOLOGY)</a:t>
              </a:r>
            </a:p>
          </p:txBody>
        </p:sp>
      </p:grpSp>
      <p:sp>
        <p:nvSpPr>
          <p:cNvPr name="TextBox 246" id="246"/>
          <p:cNvSpPr txBox="true"/>
          <p:nvPr/>
        </p:nvSpPr>
        <p:spPr>
          <a:xfrm rot="0">
            <a:off x="1000001" y="7661424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UI and UX update</a:t>
            </a:r>
          </a:p>
        </p:txBody>
      </p:sp>
      <p:grpSp>
        <p:nvGrpSpPr>
          <p:cNvPr name="Group 247" id="247"/>
          <p:cNvGrpSpPr/>
          <p:nvPr/>
        </p:nvGrpSpPr>
        <p:grpSpPr>
          <a:xfrm rot="0">
            <a:off x="13199431" y="7519997"/>
            <a:ext cx="4188581" cy="280035"/>
            <a:chOff x="0" y="0"/>
            <a:chExt cx="5584774" cy="373380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5584774" cy="373380"/>
            </a:xfrm>
            <a:custGeom>
              <a:avLst/>
              <a:gdLst/>
              <a:ahLst/>
              <a:cxnLst/>
              <a:rect r="r" b="b" t="t" l="l"/>
              <a:pathLst>
                <a:path h="373380" w="5584774">
                  <a:moveTo>
                    <a:pt x="0" y="186690"/>
                  </a:moveTo>
                  <a:cubicBezTo>
                    <a:pt x="0" y="83566"/>
                    <a:pt x="120821" y="0"/>
                    <a:pt x="269920" y="0"/>
                  </a:cubicBezTo>
                  <a:lnTo>
                    <a:pt x="5314854" y="0"/>
                  </a:lnTo>
                  <a:cubicBezTo>
                    <a:pt x="5463953" y="0"/>
                    <a:pt x="5584774" y="83566"/>
                    <a:pt x="5584774" y="186690"/>
                  </a:cubicBezTo>
                  <a:cubicBezTo>
                    <a:pt x="5584774" y="289814"/>
                    <a:pt x="5463953" y="373380"/>
                    <a:pt x="5314854" y="373380"/>
                  </a:cubicBezTo>
                  <a:lnTo>
                    <a:pt x="269920" y="373380"/>
                  </a:lnTo>
                  <a:cubicBezTo>
                    <a:pt x="120821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5725423" y="2780005"/>
            <a:ext cx="856269" cy="300038"/>
            <a:chOff x="0" y="0"/>
            <a:chExt cx="1141692" cy="40005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15725423" y="2780005"/>
            <a:ext cx="856288" cy="299999"/>
            <a:chOff x="0" y="0"/>
            <a:chExt cx="1141717" cy="39999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5725423" y="2780005"/>
            <a:ext cx="856288" cy="299999"/>
            <a:chOff x="0" y="0"/>
            <a:chExt cx="1141717" cy="39999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255" id="255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w3</a:t>
              </a:r>
            </a:p>
          </p:txBody>
        </p:sp>
      </p:grpSp>
      <p:grpSp>
        <p:nvGrpSpPr>
          <p:cNvPr name="Group 256" id="256"/>
          <p:cNvGrpSpPr/>
          <p:nvPr/>
        </p:nvGrpSpPr>
        <p:grpSpPr>
          <a:xfrm rot="0">
            <a:off x="16581711" y="2780005"/>
            <a:ext cx="856269" cy="300038"/>
            <a:chOff x="0" y="0"/>
            <a:chExt cx="1141692" cy="400050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258" id="258"/>
          <p:cNvGrpSpPr/>
          <p:nvPr/>
        </p:nvGrpSpPr>
        <p:grpSpPr>
          <a:xfrm rot="0">
            <a:off x="16581711" y="2780005"/>
            <a:ext cx="856288" cy="299999"/>
            <a:chOff x="0" y="0"/>
            <a:chExt cx="1141717" cy="399999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6581711" y="2780005"/>
            <a:ext cx="856288" cy="299999"/>
            <a:chOff x="0" y="0"/>
            <a:chExt cx="1141717" cy="399999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WAY FORWARD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What the Plan Costs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89907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The budget will be taken from the already allocated reserved budget ($62,477).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50001" y="2339997"/>
            <a:ext cx="160020" cy="30004"/>
            <a:chOff x="0" y="0"/>
            <a:chExt cx="213360" cy="40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40005"/>
            </a:xfrm>
            <a:custGeom>
              <a:avLst/>
              <a:gdLst/>
              <a:ahLst/>
              <a:cxnLst/>
              <a:rect r="r" b="b" t="t" l="l"/>
              <a:pathLst>
                <a:path h="40005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00004" y="2251424"/>
            <a:ext cx="8000000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78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THIS ACTUALLY NEEDS, $30,000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38095" y="2688098"/>
            <a:ext cx="4005834" cy="1523809"/>
            <a:chOff x="0" y="0"/>
            <a:chExt cx="5341112" cy="20317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0001" y="2700004"/>
            <a:ext cx="3982022" cy="50006"/>
            <a:chOff x="0" y="0"/>
            <a:chExt cx="5309362" cy="666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29998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998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Saudi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9998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$9,000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9998" y="4019998"/>
            <a:ext cx="3421952" cy="60007"/>
            <a:chOff x="0" y="0"/>
            <a:chExt cx="4562602" cy="800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9998" y="4019998"/>
            <a:ext cx="3421952" cy="60007"/>
            <a:chOff x="0" y="0"/>
            <a:chExt cx="4562602" cy="800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40097" y="2688098"/>
            <a:ext cx="4005834" cy="1523809"/>
            <a:chOff x="0" y="0"/>
            <a:chExt cx="5341112" cy="20317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52003" y="2700004"/>
            <a:ext cx="3982022" cy="50006"/>
            <a:chOff x="0" y="0"/>
            <a:chExt cx="5309362" cy="66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332000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Affluent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32000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Saudi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32000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$9,000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332000" y="4019998"/>
            <a:ext cx="3421952" cy="60007"/>
            <a:chOff x="0" y="0"/>
            <a:chExt cx="4562602" cy="800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332000" y="4019998"/>
            <a:ext cx="3421952" cy="60007"/>
            <a:chOff x="0" y="0"/>
            <a:chExt cx="4562602" cy="800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42098" y="2688098"/>
            <a:ext cx="4005834" cy="1523809"/>
            <a:chOff x="0" y="0"/>
            <a:chExt cx="5341112" cy="20317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254004" y="2700004"/>
            <a:ext cx="3982022" cy="50006"/>
            <a:chOff x="0" y="0"/>
            <a:chExt cx="5309362" cy="66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534001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Search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34001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Qatar, UAE, Kuwait, Bahrain and Oman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34001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$6,000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534001" y="4019998"/>
            <a:ext cx="3421952" cy="60007"/>
            <a:chOff x="0" y="0"/>
            <a:chExt cx="4562602" cy="800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534001" y="4019998"/>
            <a:ext cx="2281333" cy="60007"/>
            <a:chOff x="0" y="0"/>
            <a:chExt cx="3041777" cy="800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41777" cy="80010"/>
            </a:xfrm>
            <a:custGeom>
              <a:avLst/>
              <a:gdLst/>
              <a:ahLst/>
              <a:cxnLst/>
              <a:rect r="r" b="b" t="t" l="l"/>
              <a:pathLst>
                <a:path h="80010" w="3041777">
                  <a:moveTo>
                    <a:pt x="0" y="0"/>
                  </a:moveTo>
                  <a:lnTo>
                    <a:pt x="3041777" y="0"/>
                  </a:lnTo>
                  <a:lnTo>
                    <a:pt x="3041777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444090" y="2688098"/>
            <a:ext cx="4005834" cy="1523809"/>
            <a:chOff x="0" y="0"/>
            <a:chExt cx="5341112" cy="20317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55996" y="2700004"/>
            <a:ext cx="3982022" cy="50006"/>
            <a:chOff x="0" y="0"/>
            <a:chExt cx="5309362" cy="666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3736002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Affluent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36002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Qatar, UAE, Kuwait, Bahrain and Oman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36002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$6,000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736002" y="4019998"/>
            <a:ext cx="3421952" cy="60007"/>
            <a:chOff x="0" y="0"/>
            <a:chExt cx="4562602" cy="800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736002" y="4019998"/>
            <a:ext cx="2281333" cy="60007"/>
            <a:chOff x="0" y="0"/>
            <a:chExt cx="3041777" cy="800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41777" cy="80010"/>
            </a:xfrm>
            <a:custGeom>
              <a:avLst/>
              <a:gdLst/>
              <a:ahLst/>
              <a:cxnLst/>
              <a:rect r="r" b="b" t="t" l="l"/>
              <a:pathLst>
                <a:path h="80010" w="3041777">
                  <a:moveTo>
                    <a:pt x="0" y="0"/>
                  </a:moveTo>
                  <a:lnTo>
                    <a:pt x="3041777" y="0"/>
                  </a:lnTo>
                  <a:lnTo>
                    <a:pt x="3041777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50001" y="4399998"/>
            <a:ext cx="16587978" cy="599980"/>
            <a:chOff x="0" y="0"/>
            <a:chExt cx="22117304" cy="79997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17304" cy="799973"/>
            </a:xfrm>
            <a:custGeom>
              <a:avLst/>
              <a:gdLst/>
              <a:ahLst/>
              <a:cxnLst/>
              <a:rect r="r" b="b" t="t" l="l"/>
              <a:pathLst>
                <a:path h="79997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50001" y="4399998"/>
            <a:ext cx="44006" cy="599980"/>
            <a:chOff x="0" y="0"/>
            <a:chExt cx="58674" cy="79997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674" cy="799973"/>
            </a:xfrm>
            <a:custGeom>
              <a:avLst/>
              <a:gdLst/>
              <a:ahLst/>
              <a:cxnLst/>
              <a:rect r="r" b="b" t="t" l="l"/>
              <a:pathLst>
                <a:path h="799973" w="58674">
                  <a:moveTo>
                    <a:pt x="0" y="0"/>
                  </a:moveTo>
                  <a:lnTo>
                    <a:pt x="58674" y="0"/>
                  </a:lnTo>
                  <a:lnTo>
                    <a:pt x="58674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29998" y="4399998"/>
            <a:ext cx="16028003" cy="599980"/>
            <a:chOff x="0" y="0"/>
            <a:chExt cx="21370671" cy="79997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370671" cy="799973"/>
            </a:xfrm>
            <a:custGeom>
              <a:avLst/>
              <a:gdLst/>
              <a:ahLst/>
              <a:cxnLst/>
              <a:rect r="r" b="b" t="t" l="l"/>
              <a:pathLst>
                <a:path h="799973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166" r="0" b="-47016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29998" y="4392854"/>
            <a:ext cx="16028003" cy="607143"/>
            <a:chOff x="0" y="0"/>
            <a:chExt cx="21370671" cy="8095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370671" cy="809498"/>
            </a:xfrm>
            <a:custGeom>
              <a:avLst/>
              <a:gdLst/>
              <a:ahLst/>
              <a:cxnLst/>
              <a:rect r="r" b="b" t="t" l="l"/>
              <a:pathLst>
                <a:path h="809498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4044" r="0" b="-46404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29998" y="4385710"/>
            <a:ext cx="16028003" cy="614286"/>
            <a:chOff x="0" y="0"/>
            <a:chExt cx="21370671" cy="8190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370671" cy="819049"/>
            </a:xfrm>
            <a:custGeom>
              <a:avLst/>
              <a:gdLst/>
              <a:ahLst/>
              <a:cxnLst/>
              <a:rect r="r" b="b" t="t" l="l"/>
              <a:pathLst>
                <a:path h="819049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819049"/>
                  </a:lnTo>
                  <a:lnTo>
                    <a:pt x="0" y="8190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8404" r="0" b="-4584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1370671" cy="828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is generating the Affluent pipeline across the GCC and delivering leads. Placement closes them and holds the relationship.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50001" y="6019971"/>
            <a:ext cx="160020" cy="30004"/>
            <a:chOff x="0" y="0"/>
            <a:chExt cx="213360" cy="4000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3360" cy="40005"/>
            </a:xfrm>
            <a:custGeom>
              <a:avLst/>
              <a:gdLst/>
              <a:ahLst/>
              <a:cxnLst/>
              <a:rect r="r" b="b" t="t" l="l"/>
              <a:pathLst>
                <a:path h="40005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100004" y="5931398"/>
            <a:ext cx="8000000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78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WHERE THE $30,000 COMES FROM, SEPTEMBER TO DECEMBER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838095" y="7173530"/>
            <a:ext cx="4005834" cy="1073848"/>
            <a:chOff x="0" y="0"/>
            <a:chExt cx="5341112" cy="143179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50001" y="7185436"/>
            <a:ext cx="3982022" cy="50006"/>
            <a:chOff x="0" y="0"/>
            <a:chExt cx="5309362" cy="666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129998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$127,820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29998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Available budget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040097" y="7173530"/>
            <a:ext cx="4005834" cy="1073848"/>
            <a:chOff x="0" y="0"/>
            <a:chExt cx="5341112" cy="14317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5052003" y="7185436"/>
            <a:ext cx="3982022" cy="50006"/>
            <a:chOff x="0" y="0"/>
            <a:chExt cx="5309362" cy="666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5332000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$65,343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332000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Committed expenses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9242098" y="7173530"/>
            <a:ext cx="4005834" cy="1073848"/>
            <a:chOff x="0" y="0"/>
            <a:chExt cx="5341112" cy="14317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254004" y="7185436"/>
            <a:ext cx="3982022" cy="50006"/>
            <a:chOff x="0" y="0"/>
            <a:chExt cx="5309362" cy="666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9534001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$30,000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534001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&amp; Google Ads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3444090" y="7173530"/>
            <a:ext cx="4005834" cy="1073848"/>
            <a:chOff x="0" y="0"/>
            <a:chExt cx="5341112" cy="143179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3455996" y="7185436"/>
            <a:ext cx="3982022" cy="50006"/>
            <a:chOff x="0" y="0"/>
            <a:chExt cx="5309362" cy="666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3736002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$32,477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736002" y="7836860"/>
            <a:ext cx="342199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Contingency &amp; Other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841667" y="8395435"/>
            <a:ext cx="8302342" cy="340042"/>
            <a:chOff x="0" y="0"/>
            <a:chExt cx="11069790" cy="4533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069828" cy="453390"/>
            </a:xfrm>
            <a:custGeom>
              <a:avLst/>
              <a:gdLst/>
              <a:ahLst/>
              <a:cxnLst/>
              <a:rect r="r" b="b" t="t" l="l"/>
              <a:pathLst>
                <a:path h="453390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41667" y="8395435"/>
            <a:ext cx="8302390" cy="340042"/>
            <a:chOff x="0" y="0"/>
            <a:chExt cx="11069853" cy="45339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069828" cy="453390"/>
            </a:xfrm>
            <a:custGeom>
              <a:avLst/>
              <a:gdLst/>
              <a:ahLst/>
              <a:cxnLst/>
              <a:rect r="r" b="b" t="t" l="l"/>
              <a:pathLst>
                <a:path h="453390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5411" r="0" b="-425408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41667" y="8388291"/>
            <a:ext cx="8302342" cy="347148"/>
            <a:chOff x="0" y="0"/>
            <a:chExt cx="11069790" cy="4628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069828" cy="462915"/>
            </a:xfrm>
            <a:custGeom>
              <a:avLst/>
              <a:gdLst/>
              <a:ahLst/>
              <a:cxnLst/>
              <a:rect r="r" b="b" t="t" l="l"/>
              <a:pathLst>
                <a:path h="462915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5632" r="0" b="-415621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41667" y="8381148"/>
            <a:ext cx="8302342" cy="354292"/>
            <a:chOff x="0" y="0"/>
            <a:chExt cx="11069790" cy="47238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69796" cy="472389"/>
            </a:xfrm>
            <a:custGeom>
              <a:avLst/>
              <a:gdLst/>
              <a:ahLst/>
              <a:cxnLst/>
              <a:rect r="r" b="b" t="t" l="l"/>
              <a:pathLst>
                <a:path h="472389" w="11069796">
                  <a:moveTo>
                    <a:pt x="0" y="0"/>
                  </a:moveTo>
                  <a:lnTo>
                    <a:pt x="11069796" y="0"/>
                  </a:lnTo>
                  <a:lnTo>
                    <a:pt x="11069796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6605" r="0" b="-40660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1069790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51%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144010" y="8395435"/>
            <a:ext cx="4202001" cy="340042"/>
            <a:chOff x="0" y="0"/>
            <a:chExt cx="5602668" cy="45339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602605" cy="453390"/>
            </a:xfrm>
            <a:custGeom>
              <a:avLst/>
              <a:gdLst/>
              <a:ahLst/>
              <a:cxnLst/>
              <a:rect r="r" b="b" t="t" l="l"/>
              <a:pathLst>
                <a:path h="453390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144010" y="8395435"/>
            <a:ext cx="4201954" cy="340042"/>
            <a:chOff x="0" y="0"/>
            <a:chExt cx="5602605" cy="45339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02605" cy="453390"/>
            </a:xfrm>
            <a:custGeom>
              <a:avLst/>
              <a:gdLst/>
              <a:ahLst/>
              <a:cxnLst/>
              <a:rect r="r" b="b" t="t" l="l"/>
              <a:pathLst>
                <a:path h="453390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610" r="0" b="-190613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144010" y="8388291"/>
            <a:ext cx="4202001" cy="347148"/>
            <a:chOff x="0" y="0"/>
            <a:chExt cx="5602668" cy="4628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602605" cy="462915"/>
            </a:xfrm>
            <a:custGeom>
              <a:avLst/>
              <a:gdLst/>
              <a:ahLst/>
              <a:cxnLst/>
              <a:rect r="r" b="b" t="t" l="l"/>
              <a:pathLst>
                <a:path h="462915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5668" r="-1" b="-185659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144010" y="8381148"/>
            <a:ext cx="4202001" cy="354292"/>
            <a:chOff x="0" y="0"/>
            <a:chExt cx="5602668" cy="47238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602663" cy="472389"/>
            </a:xfrm>
            <a:custGeom>
              <a:avLst/>
              <a:gdLst/>
              <a:ahLst/>
              <a:cxnLst/>
              <a:rect r="r" b="b" t="t" l="l"/>
              <a:pathLst>
                <a:path h="472389" w="5602663">
                  <a:moveTo>
                    <a:pt x="0" y="0"/>
                  </a:moveTo>
                  <a:lnTo>
                    <a:pt x="5602663" y="0"/>
                  </a:lnTo>
                  <a:lnTo>
                    <a:pt x="5602663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1098" r="0" b="-18109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5602668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24%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346011" y="8395435"/>
            <a:ext cx="4100341" cy="340042"/>
            <a:chOff x="0" y="0"/>
            <a:chExt cx="5467121" cy="45339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67096" cy="453390"/>
            </a:xfrm>
            <a:custGeom>
              <a:avLst/>
              <a:gdLst/>
              <a:ahLst/>
              <a:cxnLst/>
              <a:rect r="r" b="b" t="t" l="l"/>
              <a:pathLst>
                <a:path h="453390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346011" y="8395435"/>
            <a:ext cx="4100312" cy="340042"/>
            <a:chOff x="0" y="0"/>
            <a:chExt cx="5467083" cy="45339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467096" cy="453390"/>
            </a:xfrm>
            <a:custGeom>
              <a:avLst/>
              <a:gdLst/>
              <a:ahLst/>
              <a:cxnLst/>
              <a:rect r="r" b="b" t="t" l="l"/>
              <a:pathLst>
                <a:path h="453390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4792" r="0" b="-184789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346011" y="8388291"/>
            <a:ext cx="4100341" cy="347148"/>
            <a:chOff x="0" y="0"/>
            <a:chExt cx="5467121" cy="4628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467096" cy="462915"/>
            </a:xfrm>
            <a:custGeom>
              <a:avLst/>
              <a:gdLst/>
              <a:ahLst/>
              <a:cxnLst/>
              <a:rect r="r" b="b" t="t" l="l"/>
              <a:pathLst>
                <a:path h="462915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9967" r="0" b="-179958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346011" y="8381148"/>
            <a:ext cx="4100341" cy="354292"/>
            <a:chOff x="0" y="0"/>
            <a:chExt cx="5467121" cy="4723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467121" cy="472389"/>
            </a:xfrm>
            <a:custGeom>
              <a:avLst/>
              <a:gdLst/>
              <a:ahLst/>
              <a:cxnLst/>
              <a:rect r="r" b="b" t="t" l="l"/>
              <a:pathLst>
                <a:path h="472389" w="5467121">
                  <a:moveTo>
                    <a:pt x="0" y="0"/>
                  </a:moveTo>
                  <a:lnTo>
                    <a:pt x="5467121" y="0"/>
                  </a:lnTo>
                  <a:lnTo>
                    <a:pt x="5467121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5507" r="0" b="-17550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5467121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25%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832023" y="9239460"/>
            <a:ext cx="8000000" cy="30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i="true" u="sng">
                <a:solidFill>
                  <a:srgbClr val="0000FF"/>
                </a:solidFill>
                <a:latin typeface="Exo 2 Italics"/>
                <a:ea typeface="Exo 2 Italics"/>
                <a:cs typeface="Exo 2 Italics"/>
                <a:sym typeface="Exo 2 Italics"/>
                <a:hlinkClick r:id="rId8" tooltip="https://www.digitalwasfa.com/google-ads-cost-in-saudi-arabia/"/>
              </a:rPr>
              <a:t>Source: Google Ads cost in Saudi Arabia, 2026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9254004" y="6034973"/>
            <a:ext cx="8195920" cy="624207"/>
            <a:chOff x="0" y="0"/>
            <a:chExt cx="10927893" cy="83227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27893" cy="832275"/>
            </a:xfrm>
            <a:custGeom>
              <a:avLst/>
              <a:gdLst/>
              <a:ahLst/>
              <a:cxnLst/>
              <a:rect r="r" b="b" t="t" l="l"/>
              <a:pathLst>
                <a:path h="832275" w="10927893">
                  <a:moveTo>
                    <a:pt x="0" y="0"/>
                  </a:moveTo>
                  <a:lnTo>
                    <a:pt x="10927893" y="0"/>
                  </a:lnTo>
                  <a:lnTo>
                    <a:pt x="10927893" y="832275"/>
                  </a:lnTo>
                  <a:lnTo>
                    <a:pt x="0" y="8322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9254004" y="6046880"/>
            <a:ext cx="8192348" cy="50006"/>
            <a:chOff x="0" y="0"/>
            <a:chExt cx="10923130" cy="6667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23130" cy="66675"/>
            </a:xfrm>
            <a:custGeom>
              <a:avLst/>
              <a:gdLst/>
              <a:ahLst/>
              <a:cxnLst/>
              <a:rect r="r" b="b" t="t" l="l"/>
              <a:pathLst>
                <a:path h="66675" w="10923130">
                  <a:moveTo>
                    <a:pt x="0" y="0"/>
                  </a:moveTo>
                  <a:lnTo>
                    <a:pt x="10923130" y="0"/>
                  </a:lnTo>
                  <a:lnTo>
                    <a:pt x="1092313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02A44"/>
            </a:solid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9851256" y="6112400"/>
            <a:ext cx="6983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2140" b="true">
                <a:solidFill>
                  <a:srgbClr val="2E4275"/>
                </a:solidFill>
                <a:latin typeface="Exo 2 Bold"/>
                <a:ea typeface="Exo 2 Bold"/>
                <a:cs typeface="Exo 2 Bold"/>
                <a:sym typeface="Exo 2 Bold"/>
              </a:rPr>
              <a:t>$62,477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840781" y="6449311"/>
            <a:ext cx="6983403" cy="15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"/>
              </a:lnSpc>
            </a:pPr>
            <a:r>
              <a:rPr lang="en-US" sz="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Reserved Budget </a:t>
            </a:r>
          </a:p>
        </p:txBody>
      </p:sp>
      <p:sp>
        <p:nvSpPr>
          <p:cNvPr name="AutoShape 133" id="133"/>
          <p:cNvSpPr/>
          <p:nvPr/>
        </p:nvSpPr>
        <p:spPr>
          <a:xfrm>
            <a:off x="11235490" y="6649655"/>
            <a:ext cx="0" cy="523875"/>
          </a:xfrm>
          <a:prstGeom prst="line">
            <a:avLst/>
          </a:prstGeom>
          <a:ln cap="flat" w="3810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4" id="134"/>
          <p:cNvSpPr/>
          <p:nvPr/>
        </p:nvSpPr>
        <p:spPr>
          <a:xfrm>
            <a:off x="15447007" y="6659180"/>
            <a:ext cx="0" cy="514350"/>
          </a:xfrm>
          <a:prstGeom prst="line">
            <a:avLst/>
          </a:prstGeom>
          <a:ln cap="flat" w="3810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2485" y="3742468"/>
            <a:ext cx="157030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7"/>
              </a:lnSpc>
            </a:pPr>
            <a:r>
              <a:rPr lang="en-US" sz="83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1390" y="5611301"/>
            <a:ext cx="55550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Invest Wisely. Trade Precisely.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0" t="0" r="-37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7636" y="4703226"/>
            <a:ext cx="1399999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b="true" sz="6240" spc="-7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Appendix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77643" y="5925350"/>
            <a:ext cx="1399984" cy="60007"/>
            <a:chOff x="0" y="0"/>
            <a:chExt cx="1866646" cy="80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6646" cy="80010"/>
            </a:xfrm>
            <a:custGeom>
              <a:avLst/>
              <a:gdLst/>
              <a:ahLst/>
              <a:cxnLst/>
              <a:rect r="r" b="b" t="t" l="l"/>
              <a:pathLst>
                <a:path h="80010" w="1866646">
                  <a:moveTo>
                    <a:pt x="0" y="0"/>
                  </a:moveTo>
                  <a:lnTo>
                    <a:pt x="1866646" y="0"/>
                  </a:lnTo>
                  <a:lnTo>
                    <a:pt x="1866646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Key Performance Indicators &amp; Volume Projections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16587978" cy="469964"/>
            <a:chOff x="0" y="0"/>
            <a:chExt cx="22117304" cy="6266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7304" cy="626618"/>
            </a:xfrm>
            <a:custGeom>
              <a:avLst/>
              <a:gdLst/>
              <a:ahLst/>
              <a:cxnLst/>
              <a:rect r="r" b="b" t="t" l="l"/>
              <a:pathLst>
                <a:path h="62661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626618"/>
                  </a:lnTo>
                  <a:lnTo>
                    <a:pt x="0" y="626618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70000" y="2271427"/>
            <a:ext cx="2699956" cy="469964"/>
            <a:chOff x="0" y="0"/>
            <a:chExt cx="3599942" cy="6266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9942" cy="626618"/>
            </a:xfrm>
            <a:custGeom>
              <a:avLst/>
              <a:gdLst/>
              <a:ahLst/>
              <a:cxnLst/>
              <a:rect r="r" b="b" t="t" l="l"/>
              <a:pathLst>
                <a:path h="626618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864" r="0" b="-6186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0000" y="2264283"/>
            <a:ext cx="2700004" cy="477145"/>
            <a:chOff x="0" y="0"/>
            <a:chExt cx="3600005" cy="6361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9942" cy="636143"/>
            </a:xfrm>
            <a:custGeom>
              <a:avLst/>
              <a:gdLst/>
              <a:ahLst/>
              <a:cxnLst/>
              <a:rect r="r" b="b" t="t" l="l"/>
              <a:pathLst>
                <a:path h="636143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0187" r="-1" b="-6019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0000" y="2257139"/>
            <a:ext cx="2700004" cy="484289"/>
            <a:chOff x="0" y="0"/>
            <a:chExt cx="3600005" cy="645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00005" cy="645718"/>
            </a:xfrm>
            <a:custGeom>
              <a:avLst/>
              <a:gdLst/>
              <a:ahLst/>
              <a:cxnLst/>
              <a:rect r="r" b="b" t="t" l="l"/>
              <a:pathLst>
                <a:path h="645718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8632" r="0" b="-586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00005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KPI &amp; Performance Detail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50005" y="2271427"/>
            <a:ext cx="1698498" cy="469964"/>
            <a:chOff x="0" y="0"/>
            <a:chExt cx="2264664" cy="6266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50005" y="2264283"/>
            <a:ext cx="1698498" cy="477145"/>
            <a:chOff x="0" y="0"/>
            <a:chExt cx="2264664" cy="6361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50005" y="2257139"/>
            <a:ext cx="1698498" cy="484289"/>
            <a:chOff x="0" y="0"/>
            <a:chExt cx="2264664" cy="6457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548503" y="2271427"/>
            <a:ext cx="1698498" cy="469964"/>
            <a:chOff x="0" y="0"/>
            <a:chExt cx="2264664" cy="6266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548503" y="2264283"/>
            <a:ext cx="1698498" cy="477145"/>
            <a:chOff x="0" y="0"/>
            <a:chExt cx="2264664" cy="6361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48503" y="2257139"/>
            <a:ext cx="1698498" cy="484289"/>
            <a:chOff x="0" y="0"/>
            <a:chExt cx="2264664" cy="6457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June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47001" y="2271427"/>
            <a:ext cx="1698498" cy="469964"/>
            <a:chOff x="0" y="0"/>
            <a:chExt cx="2264664" cy="6266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47001" y="2264283"/>
            <a:ext cx="1698498" cy="477145"/>
            <a:chOff x="0" y="0"/>
            <a:chExt cx="2264664" cy="6361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247001" y="2257139"/>
            <a:ext cx="1698498" cy="484289"/>
            <a:chOff x="0" y="0"/>
            <a:chExt cx="2264664" cy="6457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July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45499" y="2271427"/>
            <a:ext cx="1698498" cy="469964"/>
            <a:chOff x="0" y="0"/>
            <a:chExt cx="2264664" cy="6266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45499" y="2264283"/>
            <a:ext cx="1698498" cy="477145"/>
            <a:chOff x="0" y="0"/>
            <a:chExt cx="2264664" cy="6361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45499" y="2257139"/>
            <a:ext cx="1698498" cy="484289"/>
            <a:chOff x="0" y="0"/>
            <a:chExt cx="2264664" cy="6457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August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43997" y="2271427"/>
            <a:ext cx="1698498" cy="469964"/>
            <a:chOff x="0" y="0"/>
            <a:chExt cx="2264664" cy="6266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643997" y="2264283"/>
            <a:ext cx="1698498" cy="477145"/>
            <a:chOff x="0" y="0"/>
            <a:chExt cx="2264664" cy="63619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43997" y="2257139"/>
            <a:ext cx="1698498" cy="484289"/>
            <a:chOff x="0" y="0"/>
            <a:chExt cx="2264664" cy="6457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September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2505" y="2271427"/>
            <a:ext cx="1698498" cy="469964"/>
            <a:chOff x="0" y="0"/>
            <a:chExt cx="2264664" cy="6266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342505" y="2264283"/>
            <a:ext cx="1698498" cy="477145"/>
            <a:chOff x="0" y="0"/>
            <a:chExt cx="2264664" cy="6361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2505" y="2257139"/>
            <a:ext cx="1698498" cy="484289"/>
            <a:chOff x="0" y="0"/>
            <a:chExt cx="2264664" cy="6457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October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041003" y="2271427"/>
            <a:ext cx="1698498" cy="469964"/>
            <a:chOff x="0" y="0"/>
            <a:chExt cx="2264664" cy="6266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41003" y="2264283"/>
            <a:ext cx="1698498" cy="477145"/>
            <a:chOff x="0" y="0"/>
            <a:chExt cx="2264664" cy="6361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041003" y="2257139"/>
            <a:ext cx="1698498" cy="484289"/>
            <a:chOff x="0" y="0"/>
            <a:chExt cx="2264664" cy="6457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November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739501" y="2271427"/>
            <a:ext cx="1698498" cy="469964"/>
            <a:chOff x="0" y="0"/>
            <a:chExt cx="2264664" cy="6266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5739501" y="2264283"/>
            <a:ext cx="1698498" cy="477145"/>
            <a:chOff x="0" y="0"/>
            <a:chExt cx="2264664" cy="6361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739501" y="2257139"/>
            <a:ext cx="1698498" cy="484289"/>
            <a:chOff x="0" y="0"/>
            <a:chExt cx="2264664" cy="6457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December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643997" y="2770003"/>
            <a:ext cx="1698498" cy="6320028"/>
            <a:chOff x="0" y="0"/>
            <a:chExt cx="2264664" cy="84267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64664" cy="8426704"/>
            </a:xfrm>
            <a:custGeom>
              <a:avLst/>
              <a:gdLst/>
              <a:ahLst/>
              <a:cxnLst/>
              <a:rect r="r" b="b" t="t" l="l"/>
              <a:pathLst>
                <a:path h="8426704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8426704"/>
                  </a:lnTo>
                  <a:lnTo>
                    <a:pt x="0" y="8426704"/>
                  </a:lnTo>
                  <a:close/>
                </a:path>
              </a:pathLst>
            </a:custGeom>
            <a:solidFill>
              <a:srgbClr val="FBF6E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0001" y="2770003"/>
            <a:ext cx="16587978" cy="395002"/>
            <a:chOff x="0" y="0"/>
            <a:chExt cx="22117304" cy="52666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70000" y="2770003"/>
            <a:ext cx="16587978" cy="395002"/>
            <a:chOff x="0" y="0"/>
            <a:chExt cx="22117304" cy="5266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70000" y="2762860"/>
            <a:ext cx="16587997" cy="402146"/>
            <a:chOff x="0" y="0"/>
            <a:chExt cx="22117329" cy="53619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70000" y="2755716"/>
            <a:ext cx="16587997" cy="409289"/>
            <a:chOff x="0" y="0"/>
            <a:chExt cx="22117329" cy="54571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I.  CLIENTS, CUMULATIVE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0000" y="3164996"/>
            <a:ext cx="2699956" cy="395002"/>
            <a:chOff x="0" y="0"/>
            <a:chExt cx="3599942" cy="52666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70000" y="3164996"/>
            <a:ext cx="2700004" cy="395002"/>
            <a:chOff x="0" y="0"/>
            <a:chExt cx="3600005" cy="526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70000" y="3164996"/>
            <a:ext cx="2700004" cy="395002"/>
            <a:chOff x="0" y="0"/>
            <a:chExt cx="3600005" cy="5266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11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47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61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50001" y="3550996"/>
            <a:ext cx="16587978" cy="8954"/>
            <a:chOff x="0" y="0"/>
            <a:chExt cx="22117304" cy="1193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070000" y="3559997"/>
            <a:ext cx="2699956" cy="395002"/>
            <a:chOff x="0" y="0"/>
            <a:chExt cx="3599942" cy="52666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70000" y="3559997"/>
            <a:ext cx="2700004" cy="395002"/>
            <a:chOff x="0" y="0"/>
            <a:chExt cx="3600005" cy="52666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70000" y="3559997"/>
            <a:ext cx="2700004" cy="395002"/>
            <a:chOff x="0" y="0"/>
            <a:chExt cx="3600005" cy="52666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20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28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39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46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54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64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850001" y="3945998"/>
            <a:ext cx="16587978" cy="8954"/>
            <a:chOff x="0" y="0"/>
            <a:chExt cx="22117304" cy="11938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070000" y="3954999"/>
            <a:ext cx="2699956" cy="395002"/>
            <a:chOff x="0" y="0"/>
            <a:chExt cx="3599942" cy="526669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070000" y="3954999"/>
            <a:ext cx="2700004" cy="395002"/>
            <a:chOff x="0" y="0"/>
            <a:chExt cx="3600005" cy="526669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070000" y="3954999"/>
            <a:ext cx="2700004" cy="395002"/>
            <a:chOff x="0" y="0"/>
            <a:chExt cx="3600005" cy="52666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+0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+5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+14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39" id="23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+22</a:t>
              </a: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850001" y="4341000"/>
            <a:ext cx="16587978" cy="8954"/>
            <a:chOff x="0" y="0"/>
            <a:chExt cx="22117304" cy="11938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850001" y="4350001"/>
            <a:ext cx="16587978" cy="395002"/>
            <a:chOff x="0" y="0"/>
            <a:chExt cx="22117304" cy="526669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1070000" y="4350001"/>
            <a:ext cx="16587978" cy="395002"/>
            <a:chOff x="0" y="0"/>
            <a:chExt cx="22117304" cy="526669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70000" y="4342857"/>
            <a:ext cx="16587997" cy="402146"/>
            <a:chOff x="0" y="0"/>
            <a:chExt cx="22117329" cy="536194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070000" y="4335713"/>
            <a:ext cx="16587997" cy="409289"/>
            <a:chOff x="0" y="0"/>
            <a:chExt cx="22117329" cy="545719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II.  NUMBER OF TRADES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070000" y="4745003"/>
            <a:ext cx="2699956" cy="395002"/>
            <a:chOff x="0" y="0"/>
            <a:chExt cx="3599942" cy="52666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070000" y="4745003"/>
            <a:ext cx="2700004" cy="395002"/>
            <a:chOff x="0" y="0"/>
            <a:chExt cx="3600005" cy="52666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1070000" y="4745003"/>
            <a:ext cx="2700004" cy="395002"/>
            <a:chOff x="0" y="0"/>
            <a:chExt cx="3600005" cy="526669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8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17</a:t>
              </a:r>
            </a:p>
          </p:txBody>
        </p:sp>
      </p:grpSp>
      <p:grpSp>
        <p:nvGrpSpPr>
          <p:cNvPr name="Group 272" id="272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74" id="274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76" id="276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78" id="27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</a:t>
              </a: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85" id="28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16</a:t>
              </a: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90" id="290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91" id="29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92" id="29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9</a:t>
              </a:r>
            </a:p>
          </p:txBody>
        </p:sp>
      </p:grpSp>
      <p:grpSp>
        <p:nvGrpSpPr>
          <p:cNvPr name="Group 293" id="293"/>
          <p:cNvGrpSpPr/>
          <p:nvPr/>
        </p:nvGrpSpPr>
        <p:grpSpPr>
          <a:xfrm rot="0">
            <a:off x="850001" y="5131003"/>
            <a:ext cx="16587978" cy="8954"/>
            <a:chOff x="0" y="0"/>
            <a:chExt cx="22117304" cy="11938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1070000" y="5140004"/>
            <a:ext cx="2699956" cy="395002"/>
            <a:chOff x="0" y="0"/>
            <a:chExt cx="3599942" cy="526669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97" id="297"/>
          <p:cNvGrpSpPr/>
          <p:nvPr/>
        </p:nvGrpSpPr>
        <p:grpSpPr>
          <a:xfrm rot="0">
            <a:off x="1070000" y="5140004"/>
            <a:ext cx="2700004" cy="395002"/>
            <a:chOff x="0" y="0"/>
            <a:chExt cx="3600005" cy="526669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070000" y="5140004"/>
            <a:ext cx="2700004" cy="395002"/>
            <a:chOff x="0" y="0"/>
            <a:chExt cx="3600005" cy="526669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301" id="301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302" id="302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04" id="304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06" id="306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20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3" id="313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15" id="31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316" id="316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8" id="318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0" id="320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21" id="32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22" id="32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28</a:t>
              </a:r>
            </a:p>
          </p:txBody>
        </p:sp>
      </p:grpSp>
      <p:grpSp>
        <p:nvGrpSpPr>
          <p:cNvPr name="Group 323" id="323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5" id="325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29" id="32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330" id="330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1" id="3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2" id="332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3" id="33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4" id="334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36" id="33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39</a:t>
              </a:r>
            </a:p>
          </p:txBody>
        </p:sp>
      </p:grpSp>
      <p:grpSp>
        <p:nvGrpSpPr>
          <p:cNvPr name="Group 337" id="337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38" id="3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9" id="339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1" id="341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43" id="34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46</a:t>
              </a:r>
            </a:p>
          </p:txBody>
        </p:sp>
      </p:grpSp>
      <p:grpSp>
        <p:nvGrpSpPr>
          <p:cNvPr name="Group 344" id="344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6" id="346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7" id="34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8" id="348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9" id="34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50" id="35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54</a:t>
              </a:r>
            </a:p>
          </p:txBody>
        </p:sp>
      </p:grpSp>
      <p:grpSp>
        <p:nvGrpSpPr>
          <p:cNvPr name="Group 351" id="351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53" id="353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4" id="35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55" id="355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57" id="35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64</a:t>
              </a:r>
            </a:p>
          </p:txBody>
        </p:sp>
      </p:grpSp>
      <p:grpSp>
        <p:nvGrpSpPr>
          <p:cNvPr name="Group 358" id="358"/>
          <p:cNvGrpSpPr/>
          <p:nvPr/>
        </p:nvGrpSpPr>
        <p:grpSpPr>
          <a:xfrm rot="0">
            <a:off x="850001" y="5525995"/>
            <a:ext cx="16587978" cy="8954"/>
            <a:chOff x="0" y="0"/>
            <a:chExt cx="22117304" cy="11938"/>
          </a:xfrm>
        </p:grpSpPr>
        <p:sp>
          <p:nvSpPr>
            <p:cNvPr name="Freeform 359" id="359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360" id="360"/>
          <p:cNvGrpSpPr/>
          <p:nvPr/>
        </p:nvGrpSpPr>
        <p:grpSpPr>
          <a:xfrm rot="0">
            <a:off x="1070000" y="5534997"/>
            <a:ext cx="2699956" cy="395002"/>
            <a:chOff x="0" y="0"/>
            <a:chExt cx="3599942" cy="526669"/>
          </a:xfrm>
        </p:grpSpPr>
        <p:sp>
          <p:nvSpPr>
            <p:cNvPr name="Freeform 361" id="361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362" id="362"/>
          <p:cNvGrpSpPr/>
          <p:nvPr/>
        </p:nvGrpSpPr>
        <p:grpSpPr>
          <a:xfrm rot="0">
            <a:off x="1070000" y="5534997"/>
            <a:ext cx="2700004" cy="395002"/>
            <a:chOff x="0" y="0"/>
            <a:chExt cx="3600005" cy="526669"/>
          </a:xfrm>
        </p:grpSpPr>
        <p:sp>
          <p:nvSpPr>
            <p:cNvPr name="Freeform 363" id="363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364" id="364"/>
          <p:cNvGrpSpPr/>
          <p:nvPr/>
        </p:nvGrpSpPr>
        <p:grpSpPr>
          <a:xfrm rot="0">
            <a:off x="1070000" y="5534997"/>
            <a:ext cx="2700004" cy="395002"/>
            <a:chOff x="0" y="0"/>
            <a:chExt cx="3600005" cy="526669"/>
          </a:xfrm>
        </p:grpSpPr>
        <p:sp>
          <p:nvSpPr>
            <p:cNvPr name="Freeform 365" id="365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366" id="366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367" id="367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73" id="37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-12</a:t>
              </a:r>
            </a:p>
          </p:txBody>
        </p:sp>
      </p:grpSp>
      <p:grpSp>
        <p:nvGrpSpPr>
          <p:cNvPr name="Group 374" id="374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6" id="376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8" id="378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9" id="37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80" id="38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-7</a:t>
              </a:r>
            </a:p>
          </p:txBody>
        </p:sp>
      </p:grpSp>
      <p:grpSp>
        <p:nvGrpSpPr>
          <p:cNvPr name="Group 381" id="381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4" id="38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85" id="385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87" id="38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-23</a:t>
              </a:r>
            </a:p>
          </p:txBody>
        </p:sp>
      </p:grpSp>
      <p:grpSp>
        <p:nvGrpSpPr>
          <p:cNvPr name="Group 388" id="388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89" id="38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0" id="390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91" id="39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2" id="392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93" id="39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94" id="39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-17</a:t>
              </a:r>
            </a:p>
          </p:txBody>
        </p:sp>
      </p:grpSp>
      <p:grpSp>
        <p:nvGrpSpPr>
          <p:cNvPr name="Group 395" id="395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7" id="397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9" id="399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01" id="40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-30</a:t>
              </a:r>
            </a:p>
          </p:txBody>
        </p:sp>
      </p:grpSp>
      <p:grpSp>
        <p:nvGrpSpPr>
          <p:cNvPr name="Group 402" id="402"/>
          <p:cNvGrpSpPr/>
          <p:nvPr/>
        </p:nvGrpSpPr>
        <p:grpSpPr>
          <a:xfrm rot="0">
            <a:off x="850001" y="5920997"/>
            <a:ext cx="16587978" cy="8954"/>
            <a:chOff x="0" y="0"/>
            <a:chExt cx="22117304" cy="11938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04" id="404"/>
          <p:cNvGrpSpPr/>
          <p:nvPr/>
        </p:nvGrpSpPr>
        <p:grpSpPr>
          <a:xfrm rot="0">
            <a:off x="850001" y="5929998"/>
            <a:ext cx="16587978" cy="395002"/>
            <a:chOff x="0" y="0"/>
            <a:chExt cx="22117304" cy="526669"/>
          </a:xfrm>
        </p:grpSpPr>
        <p:sp>
          <p:nvSpPr>
            <p:cNvPr name="Freeform 405" id="405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406" id="406"/>
          <p:cNvGrpSpPr/>
          <p:nvPr/>
        </p:nvGrpSpPr>
        <p:grpSpPr>
          <a:xfrm rot="0">
            <a:off x="1070000" y="5929998"/>
            <a:ext cx="16587978" cy="395002"/>
            <a:chOff x="0" y="0"/>
            <a:chExt cx="22117304" cy="526669"/>
          </a:xfrm>
        </p:grpSpPr>
        <p:sp>
          <p:nvSpPr>
            <p:cNvPr name="Freeform 407" id="407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408" id="408"/>
          <p:cNvGrpSpPr/>
          <p:nvPr/>
        </p:nvGrpSpPr>
        <p:grpSpPr>
          <a:xfrm rot="0">
            <a:off x="1070000" y="5922855"/>
            <a:ext cx="16587997" cy="402146"/>
            <a:chOff x="0" y="0"/>
            <a:chExt cx="22117329" cy="536194"/>
          </a:xfrm>
        </p:grpSpPr>
        <p:sp>
          <p:nvSpPr>
            <p:cNvPr name="Freeform 409" id="409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410" id="410"/>
          <p:cNvGrpSpPr/>
          <p:nvPr/>
        </p:nvGrpSpPr>
        <p:grpSpPr>
          <a:xfrm rot="0">
            <a:off x="1070000" y="5915711"/>
            <a:ext cx="16587997" cy="409289"/>
            <a:chOff x="0" y="0"/>
            <a:chExt cx="22117329" cy="545719"/>
          </a:xfrm>
        </p:grpSpPr>
        <p:sp>
          <p:nvSpPr>
            <p:cNvPr name="Freeform 411" id="411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412" id="412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III.  AVERAGE DEPOSIT PER CLIENT</a:t>
              </a:r>
            </a:p>
          </p:txBody>
        </p:sp>
      </p:grpSp>
      <p:grpSp>
        <p:nvGrpSpPr>
          <p:cNvPr name="Group 413" id="413"/>
          <p:cNvGrpSpPr/>
          <p:nvPr/>
        </p:nvGrpSpPr>
        <p:grpSpPr>
          <a:xfrm rot="0">
            <a:off x="1070000" y="6325000"/>
            <a:ext cx="2699956" cy="395002"/>
            <a:chOff x="0" y="0"/>
            <a:chExt cx="3599942" cy="526669"/>
          </a:xfrm>
        </p:grpSpPr>
        <p:sp>
          <p:nvSpPr>
            <p:cNvPr name="Freeform 414" id="41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415" id="415"/>
          <p:cNvGrpSpPr/>
          <p:nvPr/>
        </p:nvGrpSpPr>
        <p:grpSpPr>
          <a:xfrm rot="0">
            <a:off x="1070000" y="6325000"/>
            <a:ext cx="2700004" cy="395002"/>
            <a:chOff x="0" y="0"/>
            <a:chExt cx="3600005" cy="526669"/>
          </a:xfrm>
        </p:grpSpPr>
        <p:sp>
          <p:nvSpPr>
            <p:cNvPr name="Freeform 416" id="41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417" id="417"/>
          <p:cNvGrpSpPr/>
          <p:nvPr/>
        </p:nvGrpSpPr>
        <p:grpSpPr>
          <a:xfrm rot="0">
            <a:off x="1070000" y="6325000"/>
            <a:ext cx="2700004" cy="395002"/>
            <a:chOff x="0" y="0"/>
            <a:chExt cx="3600005" cy="526669"/>
          </a:xfrm>
        </p:grpSpPr>
        <p:sp>
          <p:nvSpPr>
            <p:cNvPr name="Freeform 418" id="418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419" id="419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Actual / Current</a:t>
              </a:r>
            </a:p>
          </p:txBody>
        </p:sp>
      </p:grpSp>
      <p:grpSp>
        <p:nvGrpSpPr>
          <p:cNvPr name="Group 420" id="420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1" id="42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2" id="422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3" id="42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4" id="424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5" id="42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26" id="42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$364.82</a:t>
              </a:r>
            </a:p>
          </p:txBody>
        </p:sp>
      </p:grpSp>
      <p:grpSp>
        <p:nvGrpSpPr>
          <p:cNvPr name="Group 427" id="427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28" id="42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9" id="429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30" id="43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1" id="431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32" id="43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33" id="43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$329.46</a:t>
              </a:r>
            </a:p>
          </p:txBody>
        </p:sp>
      </p:grpSp>
      <p:grpSp>
        <p:nvGrpSpPr>
          <p:cNvPr name="Group 434" id="434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5" id="43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6" id="436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7" id="43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8" id="438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40" id="44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$261.42</a:t>
              </a:r>
            </a:p>
          </p:txBody>
        </p:sp>
      </p:grpSp>
      <p:grpSp>
        <p:nvGrpSpPr>
          <p:cNvPr name="Group 441" id="441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2" id="44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43" id="443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45" id="445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6" id="44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47" id="44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$212.84</a:t>
              </a:r>
            </a:p>
          </p:txBody>
        </p:sp>
      </p:grpSp>
      <p:grpSp>
        <p:nvGrpSpPr>
          <p:cNvPr name="Group 448" id="448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49" id="44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50" id="450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51" id="45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52" id="452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53" id="45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54" id="45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$200.10</a:t>
              </a:r>
            </a:p>
          </p:txBody>
        </p:sp>
      </p:grpSp>
      <p:grpSp>
        <p:nvGrpSpPr>
          <p:cNvPr name="Group 455" id="455"/>
          <p:cNvGrpSpPr/>
          <p:nvPr/>
        </p:nvGrpSpPr>
        <p:grpSpPr>
          <a:xfrm rot="0">
            <a:off x="850001" y="6711001"/>
            <a:ext cx="16587978" cy="8954"/>
            <a:chOff x="0" y="0"/>
            <a:chExt cx="22117304" cy="11938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57" id="457"/>
          <p:cNvGrpSpPr/>
          <p:nvPr/>
        </p:nvGrpSpPr>
        <p:grpSpPr>
          <a:xfrm rot="0">
            <a:off x="1070000" y="6720002"/>
            <a:ext cx="2699956" cy="395002"/>
            <a:chOff x="0" y="0"/>
            <a:chExt cx="3599942" cy="526669"/>
          </a:xfrm>
        </p:grpSpPr>
        <p:sp>
          <p:nvSpPr>
            <p:cNvPr name="Freeform 458" id="45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459" id="459"/>
          <p:cNvGrpSpPr/>
          <p:nvPr/>
        </p:nvGrpSpPr>
        <p:grpSpPr>
          <a:xfrm rot="0">
            <a:off x="1070000" y="6720002"/>
            <a:ext cx="2700004" cy="395002"/>
            <a:chOff x="0" y="0"/>
            <a:chExt cx="3600005" cy="526669"/>
          </a:xfrm>
        </p:grpSpPr>
        <p:sp>
          <p:nvSpPr>
            <p:cNvPr name="Freeform 460" id="46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461" id="461"/>
          <p:cNvGrpSpPr/>
          <p:nvPr/>
        </p:nvGrpSpPr>
        <p:grpSpPr>
          <a:xfrm rot="0">
            <a:off x="1070000" y="6720002"/>
            <a:ext cx="2700004" cy="395002"/>
            <a:chOff x="0" y="0"/>
            <a:chExt cx="3600005" cy="526669"/>
          </a:xfrm>
        </p:grpSpPr>
        <p:sp>
          <p:nvSpPr>
            <p:cNvPr name="Freeform 462" id="462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463" id="463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464" id="464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5" id="46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66" id="466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7" id="46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68" id="468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9" id="4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70" id="47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$5,000</a:t>
              </a:r>
            </a:p>
          </p:txBody>
        </p:sp>
      </p:grpSp>
      <p:grpSp>
        <p:nvGrpSpPr>
          <p:cNvPr name="Group 471" id="471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2" id="47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73" id="473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4" id="47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75" id="475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6" id="4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77" id="47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$5,250</a:t>
              </a:r>
            </a:p>
          </p:txBody>
        </p:sp>
      </p:grpSp>
      <p:grpSp>
        <p:nvGrpSpPr>
          <p:cNvPr name="Group 478" id="478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79" id="47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0" id="480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81" id="48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2" id="482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83" id="4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84" id="48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$5,513</a:t>
              </a:r>
            </a:p>
          </p:txBody>
        </p:sp>
      </p:grpSp>
      <p:grpSp>
        <p:nvGrpSpPr>
          <p:cNvPr name="Group 485" id="485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86" id="48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7" id="487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88" id="48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9" id="489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91" id="49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$5,788</a:t>
              </a:r>
            </a:p>
          </p:txBody>
        </p:sp>
      </p:grpSp>
      <p:grpSp>
        <p:nvGrpSpPr>
          <p:cNvPr name="Group 492" id="492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3" id="49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94" id="494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96" id="496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7" id="4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98" id="49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$6,078</a:t>
              </a:r>
            </a:p>
          </p:txBody>
        </p:sp>
      </p:grpSp>
      <p:grpSp>
        <p:nvGrpSpPr>
          <p:cNvPr name="Group 499" id="499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0" id="50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1" id="501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2" id="50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3" id="503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4" id="5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05" id="50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$6,381</a:t>
              </a:r>
            </a:p>
          </p:txBody>
        </p:sp>
      </p:grpSp>
      <p:grpSp>
        <p:nvGrpSpPr>
          <p:cNvPr name="Group 506" id="506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07" id="50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8" id="508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09" id="50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0" id="510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11" id="5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12" id="51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$6,700</a:t>
              </a:r>
            </a:p>
          </p:txBody>
        </p:sp>
      </p:grpSp>
      <p:grpSp>
        <p:nvGrpSpPr>
          <p:cNvPr name="Group 513" id="513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5" id="515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6" id="51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7" id="517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8" id="51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19" id="51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$7,036</a:t>
              </a:r>
            </a:p>
          </p:txBody>
        </p:sp>
      </p:grpSp>
      <p:grpSp>
        <p:nvGrpSpPr>
          <p:cNvPr name="Group 520" id="520"/>
          <p:cNvGrpSpPr/>
          <p:nvPr/>
        </p:nvGrpSpPr>
        <p:grpSpPr>
          <a:xfrm rot="0">
            <a:off x="850001" y="7106002"/>
            <a:ext cx="16587978" cy="8954"/>
            <a:chOff x="0" y="0"/>
            <a:chExt cx="22117304" cy="11938"/>
          </a:xfrm>
        </p:grpSpPr>
        <p:sp>
          <p:nvSpPr>
            <p:cNvPr name="Freeform 521" id="521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22" id="522"/>
          <p:cNvGrpSpPr/>
          <p:nvPr/>
        </p:nvGrpSpPr>
        <p:grpSpPr>
          <a:xfrm rot="0">
            <a:off x="1070000" y="7115004"/>
            <a:ext cx="2699956" cy="395002"/>
            <a:chOff x="0" y="0"/>
            <a:chExt cx="3599942" cy="526669"/>
          </a:xfrm>
        </p:grpSpPr>
        <p:sp>
          <p:nvSpPr>
            <p:cNvPr name="Freeform 523" id="523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524" id="524"/>
          <p:cNvGrpSpPr/>
          <p:nvPr/>
        </p:nvGrpSpPr>
        <p:grpSpPr>
          <a:xfrm rot="0">
            <a:off x="1070000" y="7115004"/>
            <a:ext cx="2700004" cy="395002"/>
            <a:chOff x="0" y="0"/>
            <a:chExt cx="3600005" cy="526669"/>
          </a:xfrm>
        </p:grpSpPr>
        <p:sp>
          <p:nvSpPr>
            <p:cNvPr name="Freeform 525" id="525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526" id="526"/>
          <p:cNvGrpSpPr/>
          <p:nvPr/>
        </p:nvGrpSpPr>
        <p:grpSpPr>
          <a:xfrm rot="0">
            <a:off x="1070000" y="7115004"/>
            <a:ext cx="2700004" cy="395002"/>
            <a:chOff x="0" y="0"/>
            <a:chExt cx="3600005" cy="526669"/>
          </a:xfrm>
        </p:grpSpPr>
        <p:sp>
          <p:nvSpPr>
            <p:cNvPr name="Freeform 527" id="527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528" id="528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529" id="529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0" id="53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1" id="531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2" id="53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3" id="533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4" id="5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35" id="53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-$4,635.18</a:t>
              </a:r>
            </a:p>
          </p:txBody>
        </p:sp>
      </p:grpSp>
      <p:grpSp>
        <p:nvGrpSpPr>
          <p:cNvPr name="Group 536" id="536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37" id="53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8" id="538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39" id="53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0" id="540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41" id="5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42" id="54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-$4,920.54</a:t>
              </a:r>
            </a:p>
          </p:txBody>
        </p:sp>
      </p:grpSp>
      <p:grpSp>
        <p:nvGrpSpPr>
          <p:cNvPr name="Group 543" id="543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4" id="54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5" id="545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7" id="547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8" id="5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49" id="54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-$5,251.58</a:t>
              </a:r>
            </a:p>
          </p:txBody>
        </p:sp>
      </p:grpSp>
      <p:grpSp>
        <p:nvGrpSpPr>
          <p:cNvPr name="Group 550" id="550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1" id="55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2" id="552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3" id="55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4" id="554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5" id="5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56" id="55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-$5,575.16</a:t>
              </a:r>
            </a:p>
          </p:txBody>
        </p:sp>
      </p:grpSp>
      <p:grpSp>
        <p:nvGrpSpPr>
          <p:cNvPr name="Group 557" id="557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58" id="55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9" id="559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60" id="56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61" id="561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62" id="5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63" id="56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-$5,877.90</a:t>
              </a:r>
            </a:p>
          </p:txBody>
        </p:sp>
      </p:grpSp>
      <p:grpSp>
        <p:nvGrpSpPr>
          <p:cNvPr name="Group 564" id="564"/>
          <p:cNvGrpSpPr/>
          <p:nvPr/>
        </p:nvGrpSpPr>
        <p:grpSpPr>
          <a:xfrm rot="0">
            <a:off x="850001" y="7501004"/>
            <a:ext cx="16587978" cy="8954"/>
            <a:chOff x="0" y="0"/>
            <a:chExt cx="22117304" cy="11938"/>
          </a:xfrm>
        </p:grpSpPr>
        <p:sp>
          <p:nvSpPr>
            <p:cNvPr name="Freeform 565" id="565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66" id="566"/>
          <p:cNvGrpSpPr/>
          <p:nvPr/>
        </p:nvGrpSpPr>
        <p:grpSpPr>
          <a:xfrm rot="0">
            <a:off x="850001" y="7509996"/>
            <a:ext cx="16587978" cy="395002"/>
            <a:chOff x="0" y="0"/>
            <a:chExt cx="22117304" cy="526669"/>
          </a:xfrm>
        </p:grpSpPr>
        <p:sp>
          <p:nvSpPr>
            <p:cNvPr name="Freeform 567" id="567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568" id="568"/>
          <p:cNvGrpSpPr/>
          <p:nvPr/>
        </p:nvGrpSpPr>
        <p:grpSpPr>
          <a:xfrm rot="0">
            <a:off x="1070000" y="7509996"/>
            <a:ext cx="16587978" cy="395002"/>
            <a:chOff x="0" y="0"/>
            <a:chExt cx="22117304" cy="526669"/>
          </a:xfrm>
        </p:grpSpPr>
        <p:sp>
          <p:nvSpPr>
            <p:cNvPr name="Freeform 569" id="569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570" id="570"/>
          <p:cNvGrpSpPr/>
          <p:nvPr/>
        </p:nvGrpSpPr>
        <p:grpSpPr>
          <a:xfrm rot="0">
            <a:off x="1070000" y="7502852"/>
            <a:ext cx="16587997" cy="402146"/>
            <a:chOff x="0" y="0"/>
            <a:chExt cx="22117329" cy="536194"/>
          </a:xfrm>
        </p:grpSpPr>
        <p:sp>
          <p:nvSpPr>
            <p:cNvPr name="Freeform 571" id="571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572" id="572"/>
          <p:cNvGrpSpPr/>
          <p:nvPr/>
        </p:nvGrpSpPr>
        <p:grpSpPr>
          <a:xfrm rot="0">
            <a:off x="1070000" y="7495708"/>
            <a:ext cx="16587997" cy="409289"/>
            <a:chOff x="0" y="0"/>
            <a:chExt cx="22117329" cy="545719"/>
          </a:xfrm>
        </p:grpSpPr>
        <p:sp>
          <p:nvSpPr>
            <p:cNvPr name="Freeform 573" id="573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574" id="574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IV.  TOTAL DEPOSITS, CUMULATIVE</a:t>
              </a:r>
            </a:p>
          </p:txBody>
        </p:sp>
      </p:grpSp>
      <p:grpSp>
        <p:nvGrpSpPr>
          <p:cNvPr name="Group 575" id="575"/>
          <p:cNvGrpSpPr/>
          <p:nvPr/>
        </p:nvGrpSpPr>
        <p:grpSpPr>
          <a:xfrm rot="0">
            <a:off x="1070000" y="7904998"/>
            <a:ext cx="2699956" cy="395002"/>
            <a:chOff x="0" y="0"/>
            <a:chExt cx="3599942" cy="526669"/>
          </a:xfrm>
        </p:grpSpPr>
        <p:sp>
          <p:nvSpPr>
            <p:cNvPr name="Freeform 576" id="57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577" id="577"/>
          <p:cNvGrpSpPr/>
          <p:nvPr/>
        </p:nvGrpSpPr>
        <p:grpSpPr>
          <a:xfrm rot="0">
            <a:off x="1070000" y="7904998"/>
            <a:ext cx="2700004" cy="395002"/>
            <a:chOff x="0" y="0"/>
            <a:chExt cx="3600005" cy="526669"/>
          </a:xfrm>
        </p:grpSpPr>
        <p:sp>
          <p:nvSpPr>
            <p:cNvPr name="Freeform 578" id="57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579" id="579"/>
          <p:cNvGrpSpPr/>
          <p:nvPr/>
        </p:nvGrpSpPr>
        <p:grpSpPr>
          <a:xfrm rot="0">
            <a:off x="1070000" y="7904998"/>
            <a:ext cx="2700004" cy="395002"/>
            <a:chOff x="0" y="0"/>
            <a:chExt cx="3600005" cy="526669"/>
          </a:xfrm>
        </p:grpSpPr>
        <p:sp>
          <p:nvSpPr>
            <p:cNvPr name="Freeform 580" id="580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581" id="581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582" id="582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3" id="5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84" id="584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5" id="58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86" id="586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7" id="5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88" id="58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$4,012.99</a:t>
              </a:r>
            </a:p>
          </p:txBody>
        </p:sp>
      </p:grpSp>
      <p:grpSp>
        <p:nvGrpSpPr>
          <p:cNvPr name="Group 589" id="589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0" id="5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1" id="591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95" id="59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$7,907.15</a:t>
              </a:r>
            </a:p>
          </p:txBody>
        </p:sp>
      </p:grpSp>
      <p:grpSp>
        <p:nvGrpSpPr>
          <p:cNvPr name="Group 596" id="596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597" id="5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8" id="598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599" id="5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0" id="600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601" id="6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02" id="60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$8,626.91</a:t>
              </a:r>
            </a:p>
          </p:txBody>
        </p:sp>
      </p:grpSp>
      <p:grpSp>
        <p:nvGrpSpPr>
          <p:cNvPr name="Group 603" id="603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4" id="6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5" id="605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6" id="6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7" id="607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8" id="6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09" id="60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$10,003.60</a:t>
              </a:r>
            </a:p>
          </p:txBody>
        </p:sp>
      </p:grpSp>
      <p:grpSp>
        <p:nvGrpSpPr>
          <p:cNvPr name="Group 610" id="610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1" id="6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12" id="612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3" id="6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14" id="614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5" id="6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16" id="61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$12,206.00</a:t>
              </a:r>
            </a:p>
          </p:txBody>
        </p:sp>
      </p:grpSp>
      <p:grpSp>
        <p:nvGrpSpPr>
          <p:cNvPr name="Group 617" id="617"/>
          <p:cNvGrpSpPr/>
          <p:nvPr/>
        </p:nvGrpSpPr>
        <p:grpSpPr>
          <a:xfrm rot="0">
            <a:off x="850001" y="8290998"/>
            <a:ext cx="16587978" cy="8954"/>
            <a:chOff x="0" y="0"/>
            <a:chExt cx="22117304" cy="11938"/>
          </a:xfrm>
        </p:grpSpPr>
        <p:sp>
          <p:nvSpPr>
            <p:cNvPr name="Freeform 618" id="618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19" id="619"/>
          <p:cNvGrpSpPr/>
          <p:nvPr/>
        </p:nvGrpSpPr>
        <p:grpSpPr>
          <a:xfrm rot="0">
            <a:off x="1070000" y="8299999"/>
            <a:ext cx="2699956" cy="395002"/>
            <a:chOff x="0" y="0"/>
            <a:chExt cx="3599942" cy="526669"/>
          </a:xfrm>
        </p:grpSpPr>
        <p:sp>
          <p:nvSpPr>
            <p:cNvPr name="Freeform 620" id="62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621" id="621"/>
          <p:cNvGrpSpPr/>
          <p:nvPr/>
        </p:nvGrpSpPr>
        <p:grpSpPr>
          <a:xfrm rot="0">
            <a:off x="1070000" y="8299999"/>
            <a:ext cx="2700004" cy="395002"/>
            <a:chOff x="0" y="0"/>
            <a:chExt cx="3600005" cy="526669"/>
          </a:xfrm>
        </p:grpSpPr>
        <p:sp>
          <p:nvSpPr>
            <p:cNvPr name="Freeform 622" id="62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623" id="623"/>
          <p:cNvGrpSpPr/>
          <p:nvPr/>
        </p:nvGrpSpPr>
        <p:grpSpPr>
          <a:xfrm rot="0">
            <a:off x="1070000" y="8299999"/>
            <a:ext cx="2700004" cy="395002"/>
            <a:chOff x="0" y="0"/>
            <a:chExt cx="3600005" cy="526669"/>
          </a:xfrm>
        </p:grpSpPr>
        <p:sp>
          <p:nvSpPr>
            <p:cNvPr name="Freeform 624" id="624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625" id="625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626" id="626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27" id="6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28" id="628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29" id="6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0" id="630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31" id="6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32" id="63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$100,000</a:t>
              </a:r>
            </a:p>
          </p:txBody>
        </p:sp>
      </p:grpSp>
      <p:grpSp>
        <p:nvGrpSpPr>
          <p:cNvPr name="Group 633" id="633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4" id="6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5" id="635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6" id="63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7" id="637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8" id="6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39" id="63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$123,900</a:t>
              </a:r>
            </a:p>
          </p:txBody>
        </p:sp>
      </p:grpSp>
      <p:grpSp>
        <p:nvGrpSpPr>
          <p:cNvPr name="Group 640" id="640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1" id="6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2" id="642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3" id="64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4" id="644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5" id="6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46" id="64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$153,512</a:t>
              </a:r>
            </a:p>
          </p:txBody>
        </p:sp>
      </p:grpSp>
      <p:grpSp>
        <p:nvGrpSpPr>
          <p:cNvPr name="Group 647" id="647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9" id="649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50" id="65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1" id="651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52" id="6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53" id="65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$190,201</a:t>
              </a:r>
            </a:p>
          </p:txBody>
        </p:sp>
      </p:grpSp>
      <p:grpSp>
        <p:nvGrpSpPr>
          <p:cNvPr name="Group 654" id="654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5" id="6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6" id="656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7" id="65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8" id="658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9" id="6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60" id="66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$235,660</a:t>
              </a:r>
            </a:p>
          </p:txBody>
        </p:sp>
      </p:grpSp>
      <p:grpSp>
        <p:nvGrpSpPr>
          <p:cNvPr name="Group 661" id="661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2" id="6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63" id="663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4" id="66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65" id="665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6" id="6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67" id="66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$291,982</a:t>
              </a:r>
            </a:p>
          </p:txBody>
        </p:sp>
      </p:grpSp>
      <p:grpSp>
        <p:nvGrpSpPr>
          <p:cNvPr name="Group 668" id="668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69" id="6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0" id="670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71" id="67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2" id="672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73" id="6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74" id="67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$361,766</a:t>
              </a:r>
            </a:p>
          </p:txBody>
        </p:sp>
      </p:grpSp>
      <p:grpSp>
        <p:nvGrpSpPr>
          <p:cNvPr name="Group 675" id="675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76" id="6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7" id="677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78" id="67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9" id="679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80" id="6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81" id="68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$448,228</a:t>
              </a:r>
            </a:p>
          </p:txBody>
        </p:sp>
      </p:grpSp>
      <p:grpSp>
        <p:nvGrpSpPr>
          <p:cNvPr name="Group 682" id="682"/>
          <p:cNvGrpSpPr/>
          <p:nvPr/>
        </p:nvGrpSpPr>
        <p:grpSpPr>
          <a:xfrm rot="0">
            <a:off x="850001" y="8686000"/>
            <a:ext cx="16587978" cy="8954"/>
            <a:chOff x="0" y="0"/>
            <a:chExt cx="22117304" cy="11938"/>
          </a:xfrm>
        </p:grpSpPr>
        <p:sp>
          <p:nvSpPr>
            <p:cNvPr name="Freeform 683" id="683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84" id="684"/>
          <p:cNvGrpSpPr/>
          <p:nvPr/>
        </p:nvGrpSpPr>
        <p:grpSpPr>
          <a:xfrm rot="0">
            <a:off x="1070000" y="8695001"/>
            <a:ext cx="2699956" cy="395002"/>
            <a:chOff x="0" y="0"/>
            <a:chExt cx="3599942" cy="526669"/>
          </a:xfrm>
        </p:grpSpPr>
        <p:sp>
          <p:nvSpPr>
            <p:cNvPr name="Freeform 685" id="685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686" id="686"/>
          <p:cNvGrpSpPr/>
          <p:nvPr/>
        </p:nvGrpSpPr>
        <p:grpSpPr>
          <a:xfrm rot="0">
            <a:off x="1070000" y="8695001"/>
            <a:ext cx="2700004" cy="395002"/>
            <a:chOff x="0" y="0"/>
            <a:chExt cx="3600005" cy="526669"/>
          </a:xfrm>
        </p:grpSpPr>
        <p:sp>
          <p:nvSpPr>
            <p:cNvPr name="Freeform 687" id="687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688" id="688"/>
          <p:cNvGrpSpPr/>
          <p:nvPr/>
        </p:nvGrpSpPr>
        <p:grpSpPr>
          <a:xfrm rot="0">
            <a:off x="1070000" y="8695001"/>
            <a:ext cx="2700004" cy="395002"/>
            <a:chOff x="0" y="0"/>
            <a:chExt cx="3600005" cy="526669"/>
          </a:xfrm>
        </p:grpSpPr>
        <p:sp>
          <p:nvSpPr>
            <p:cNvPr name="Freeform 689" id="689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690" id="690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691" id="691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2" id="6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93" id="693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4" id="6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95" id="695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6" id="69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97" id="69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-$95,987.01</a:t>
              </a:r>
            </a:p>
          </p:txBody>
        </p:sp>
      </p:grpSp>
      <p:grpSp>
        <p:nvGrpSpPr>
          <p:cNvPr name="Group 698" id="698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699" id="6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0" id="700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701" id="7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2" id="702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703" id="70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04" id="70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-$115,992.85</a:t>
              </a:r>
            </a:p>
          </p:txBody>
        </p:sp>
      </p:grpSp>
      <p:grpSp>
        <p:nvGrpSpPr>
          <p:cNvPr name="Group 705" id="705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06" id="7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7" id="707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08" id="7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9" id="709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10" id="7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11" id="71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-$144,885.19</a:t>
              </a:r>
            </a:p>
          </p:txBody>
        </p:sp>
      </p:grpSp>
      <p:grpSp>
        <p:nvGrpSpPr>
          <p:cNvPr name="Group 712" id="712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3" id="7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14" id="714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5" id="7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16" id="716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7" id="7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18" id="71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-$180,197.89</a:t>
              </a:r>
            </a:p>
          </p:txBody>
        </p:sp>
      </p:grpSp>
      <p:grpSp>
        <p:nvGrpSpPr>
          <p:cNvPr name="Group 719" id="719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0" id="7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21" id="721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2" id="7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23" id="723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4" id="7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25" id="72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-$223,454.00</a:t>
              </a:r>
            </a:p>
          </p:txBody>
        </p:sp>
      </p:grpSp>
      <p:grpSp>
        <p:nvGrpSpPr>
          <p:cNvPr name="Group 726" id="726"/>
          <p:cNvGrpSpPr/>
          <p:nvPr/>
        </p:nvGrpSpPr>
        <p:grpSpPr>
          <a:xfrm rot="0">
            <a:off x="850001" y="9081002"/>
            <a:ext cx="16587978" cy="8954"/>
            <a:chOff x="0" y="0"/>
            <a:chExt cx="22117304" cy="11938"/>
          </a:xfrm>
        </p:grpSpPr>
        <p:sp>
          <p:nvSpPr>
            <p:cNvPr name="Freeform 727" id="727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728" id="728"/>
          <p:cNvGrpSpPr/>
          <p:nvPr/>
        </p:nvGrpSpPr>
        <p:grpSpPr>
          <a:xfrm rot="0">
            <a:off x="850001" y="9090003"/>
            <a:ext cx="16587978" cy="26003"/>
            <a:chOff x="0" y="0"/>
            <a:chExt cx="22117304" cy="34671"/>
          </a:xfrm>
        </p:grpSpPr>
        <p:sp>
          <p:nvSpPr>
            <p:cNvPr name="Freeform 729" id="729"/>
            <p:cNvSpPr/>
            <p:nvPr/>
          </p:nvSpPr>
          <p:spPr>
            <a:xfrm flipH="false" flipV="false" rot="0">
              <a:off x="0" y="0"/>
              <a:ext cx="22117304" cy="34671"/>
            </a:xfrm>
            <a:custGeom>
              <a:avLst/>
              <a:gdLst/>
              <a:ahLst/>
              <a:cxnLst/>
              <a:rect r="r" b="b" t="t" l="l"/>
              <a:pathLst>
                <a:path h="34671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34671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AS AT 30 SEPTEMBER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Platform Dashboard at a Glance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001" y="2300954"/>
            <a:ext cx="1658799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 JOURNEY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0001" y="2659999"/>
            <a:ext cx="3109627" cy="1319974"/>
            <a:chOff x="0" y="0"/>
            <a:chExt cx="4146169" cy="1759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0001" y="2659999"/>
            <a:ext cx="3109627" cy="40005"/>
            <a:chOff x="0" y="0"/>
            <a:chExt cx="4146169" cy="53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0005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492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0005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App downloads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0005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Android 262  |  iOS 230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59600" y="3119999"/>
            <a:ext cx="260004" cy="400002"/>
            <a:chOff x="0" y="0"/>
            <a:chExt cx="346672" cy="533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59600" y="3119999"/>
            <a:ext cx="260004" cy="400002"/>
            <a:chOff x="0" y="0"/>
            <a:chExt cx="346672" cy="533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219604" y="2659999"/>
            <a:ext cx="3109627" cy="1319974"/>
            <a:chOff x="0" y="0"/>
            <a:chExt cx="4146169" cy="1759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219604" y="2659999"/>
            <a:ext cx="3109627" cy="40005"/>
            <a:chOff x="0" y="0"/>
            <a:chExt cx="4146169" cy="533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479598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79598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onboarded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79598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12.4% of downloads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329202" y="3119999"/>
            <a:ext cx="260004" cy="400002"/>
            <a:chOff x="0" y="0"/>
            <a:chExt cx="346672" cy="533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29202" y="3119999"/>
            <a:ext cx="260004" cy="400002"/>
            <a:chOff x="0" y="0"/>
            <a:chExt cx="346672" cy="533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89196" y="2659999"/>
            <a:ext cx="3109627" cy="1319974"/>
            <a:chOff x="0" y="0"/>
            <a:chExt cx="4146169" cy="17599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589196" y="2659999"/>
            <a:ext cx="3109627" cy="40005"/>
            <a:chOff x="0" y="0"/>
            <a:chExt cx="4146169" cy="533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49200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15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49200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Funded clients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49200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24.6% of onboarded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698804" y="3119999"/>
            <a:ext cx="260004" cy="400002"/>
            <a:chOff x="0" y="0"/>
            <a:chExt cx="346672" cy="533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98804" y="3119999"/>
            <a:ext cx="260004" cy="400002"/>
            <a:chOff x="0" y="0"/>
            <a:chExt cx="346672" cy="5333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58798" y="2659999"/>
            <a:ext cx="3109627" cy="1319974"/>
            <a:chOff x="0" y="0"/>
            <a:chExt cx="4146169" cy="17599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958798" y="2659999"/>
            <a:ext cx="3109627" cy="40005"/>
            <a:chOff x="0" y="0"/>
            <a:chExt cx="4146169" cy="533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218802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18802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who traded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18802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100% of funded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068396" y="3119999"/>
            <a:ext cx="260004" cy="400002"/>
            <a:chOff x="0" y="0"/>
            <a:chExt cx="346672" cy="533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68396" y="3119999"/>
            <a:ext cx="260004" cy="400002"/>
            <a:chOff x="0" y="0"/>
            <a:chExt cx="346672" cy="533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28400" y="2659999"/>
            <a:ext cx="3109627" cy="1319974"/>
            <a:chOff x="0" y="0"/>
            <a:chExt cx="4146169" cy="17599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328400" y="2659999"/>
            <a:ext cx="3109627" cy="40005"/>
            <a:chOff x="0" y="0"/>
            <a:chExt cx="4146169" cy="533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4588404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55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588404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Total trades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88404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3.7 trades per trading client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50001" y="4360002"/>
            <a:ext cx="3952018" cy="4369975"/>
            <a:chOff x="0" y="0"/>
            <a:chExt cx="5269357" cy="582663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0001" y="4360002"/>
            <a:ext cx="3952018" cy="40005"/>
            <a:chOff x="0" y="0"/>
            <a:chExt cx="5269357" cy="533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10005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MONEY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0005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$12,206.00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10005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Total deposits (gross)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110005" y="5772502"/>
            <a:ext cx="3431953" cy="8954"/>
            <a:chOff x="0" y="0"/>
            <a:chExt cx="4575937" cy="119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110005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$10,539.81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10005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Assets under management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110005" y="6735004"/>
            <a:ext cx="3431953" cy="8954"/>
            <a:chOff x="0" y="0"/>
            <a:chExt cx="4575937" cy="1193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110005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$200.10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10005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Average deposit per onboarded client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110005" y="7697495"/>
            <a:ext cx="3431953" cy="8954"/>
            <a:chOff x="0" y="0"/>
            <a:chExt cx="4575937" cy="119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110005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$813.73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10005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Average deposit per funded client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5062004" y="4360002"/>
            <a:ext cx="3952018" cy="4369975"/>
            <a:chOff x="0" y="0"/>
            <a:chExt cx="5269357" cy="582663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5062004" y="4360002"/>
            <a:ext cx="3952018" cy="40005"/>
            <a:chOff x="0" y="0"/>
            <a:chExt cx="5269357" cy="533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5321998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KYC STATUS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21998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21998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Completed and verified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5321998" y="5772502"/>
            <a:ext cx="3431953" cy="8954"/>
            <a:chOff x="0" y="0"/>
            <a:chExt cx="4575937" cy="119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5321998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72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321998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Started KYC, not completed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5321998" y="6735004"/>
            <a:ext cx="3431953" cy="8954"/>
            <a:chOff x="0" y="0"/>
            <a:chExt cx="4575937" cy="119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5321998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321998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Rejected, resubmission required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5321998" y="7697495"/>
            <a:ext cx="3431953" cy="8954"/>
            <a:chOff x="0" y="0"/>
            <a:chExt cx="4575937" cy="1193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5321998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143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321998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Total KYC applications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273997" y="4360002"/>
            <a:ext cx="3952018" cy="4369975"/>
            <a:chOff x="0" y="0"/>
            <a:chExt cx="5269357" cy="582663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273997" y="4360002"/>
            <a:ext cx="3952018" cy="40005"/>
            <a:chOff x="0" y="0"/>
            <a:chExt cx="5269357" cy="533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9534001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DOWNLOADS AND RATINGS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534001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262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534001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Android downloads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9534001" y="5772502"/>
            <a:ext cx="3431953" cy="8954"/>
            <a:chOff x="0" y="0"/>
            <a:chExt cx="4575937" cy="1193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9534001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230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9534001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iOS downloads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9534001" y="6735004"/>
            <a:ext cx="3431953" cy="8954"/>
            <a:chOff x="0" y="0"/>
            <a:chExt cx="4575937" cy="1193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0" id="120"/>
          <p:cNvSpPr txBox="true"/>
          <p:nvPr/>
        </p:nvSpPr>
        <p:spPr>
          <a:xfrm rot="0">
            <a:off x="9534001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5.0 ★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534001" y="7165953"/>
            <a:ext cx="353200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Google Play rating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9534001" y="7697495"/>
            <a:ext cx="3431953" cy="8954"/>
            <a:chOff x="0" y="0"/>
            <a:chExt cx="4575937" cy="1193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4" id="124"/>
          <p:cNvSpPr txBox="true"/>
          <p:nvPr/>
        </p:nvSpPr>
        <p:spPr>
          <a:xfrm rot="0">
            <a:off x="9534001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5.0 ★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9534001" y="8128454"/>
            <a:ext cx="353200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App Store rating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3486000" y="4360002"/>
            <a:ext cx="3952018" cy="4369975"/>
            <a:chOff x="0" y="0"/>
            <a:chExt cx="5269357" cy="582663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86000" y="4360002"/>
            <a:ext cx="3952018" cy="40005"/>
            <a:chOff x="0" y="0"/>
            <a:chExt cx="5269357" cy="533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3746004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 SUPPORT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3746004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3746004" y="5240950"/>
            <a:ext cx="353200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Support tickets created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3746004" y="5772502"/>
            <a:ext cx="3431953" cy="8954"/>
            <a:chOff x="0" y="0"/>
            <a:chExt cx="4575937" cy="1193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35" id="135"/>
          <p:cNvSpPr txBox="true"/>
          <p:nvPr/>
        </p:nvSpPr>
        <p:spPr>
          <a:xfrm rot="0">
            <a:off x="13746004" y="5823452"/>
            <a:ext cx="3532003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27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3746004" y="6203452"/>
            <a:ext cx="353200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Tickets resolved (100%)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13746004" y="6735004"/>
            <a:ext cx="3431953" cy="8954"/>
            <a:chOff x="0" y="0"/>
            <a:chExt cx="4575937" cy="1193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39" id="139"/>
          <p:cNvSpPr txBox="true"/>
          <p:nvPr/>
        </p:nvSpPr>
        <p:spPr>
          <a:xfrm rot="0">
            <a:off x="13746004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21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746004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AI client support queries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13746004" y="7697495"/>
            <a:ext cx="3431953" cy="8954"/>
            <a:chOff x="0" y="0"/>
            <a:chExt cx="4575937" cy="1193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3746004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6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3746004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Email queries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CUSTOMER ACQUISITION COST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How We Win a Client, and What It Costs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9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16587978" cy="619982"/>
            <a:chOff x="0" y="0"/>
            <a:chExt cx="22117304" cy="826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7304" cy="826643"/>
            </a:xfrm>
            <a:custGeom>
              <a:avLst/>
              <a:gdLst/>
              <a:ahLst/>
              <a:cxnLst/>
              <a:rect r="r" b="b" t="t" l="l"/>
              <a:pathLst>
                <a:path h="8266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300002"/>
            <a:ext cx="44006" cy="619982"/>
            <a:chOff x="0" y="0"/>
            <a:chExt cx="58674" cy="826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674" cy="826643"/>
            </a:xfrm>
            <a:custGeom>
              <a:avLst/>
              <a:gdLst/>
              <a:ahLst/>
              <a:cxnLst/>
              <a:rect r="r" b="b" t="t" l="l"/>
              <a:pathLst>
                <a:path h="826643" w="58674">
                  <a:moveTo>
                    <a:pt x="0" y="0"/>
                  </a:moveTo>
                  <a:lnTo>
                    <a:pt x="58674" y="0"/>
                  </a:lnTo>
                  <a:lnTo>
                    <a:pt x="5867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0001" y="2300002"/>
            <a:ext cx="15987998" cy="620001"/>
            <a:chOff x="0" y="0"/>
            <a:chExt cx="21317331" cy="8266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17331" cy="826643"/>
            </a:xfrm>
            <a:custGeom>
              <a:avLst/>
              <a:gdLst/>
              <a:ahLst/>
              <a:cxnLst/>
              <a:rect r="r" b="b" t="t" l="l"/>
              <a:pathLst>
                <a:path h="82664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826643"/>
                  </a:lnTo>
                  <a:lnTo>
                    <a:pt x="0" y="8266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2126" r="0" b="-45212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0001" y="2292858"/>
            <a:ext cx="15987998" cy="627145"/>
            <a:chOff x="0" y="0"/>
            <a:chExt cx="21317331" cy="8361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17331" cy="836193"/>
            </a:xfrm>
            <a:custGeom>
              <a:avLst/>
              <a:gdLst/>
              <a:ahLst/>
              <a:cxnLst/>
              <a:rect r="r" b="b" t="t" l="l"/>
              <a:pathLst>
                <a:path h="83619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836193"/>
                  </a:lnTo>
                  <a:lnTo>
                    <a:pt x="0" y="8361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6738" r="0" b="-4467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317331" cy="845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=  </a:t>
              </a: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campaign spend  ÷  clients won</a:t>
              </a:r>
              <a:r>
                <a:rPr lang="en-US" sz="120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        The $30,000 September to December campaign, plus one referral for every three clients.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0001" y="3220002"/>
            <a:ext cx="3952018" cy="5630037"/>
            <a:chOff x="0" y="0"/>
            <a:chExt cx="5269357" cy="7506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0001" y="3220002"/>
            <a:ext cx="3952018" cy="40005"/>
            <a:chOff x="0" y="0"/>
            <a:chExt cx="5269357" cy="533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29998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WEALTHTECH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9998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Starter investor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998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Google Ads  |  $7,500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9998" y="4469997"/>
            <a:ext cx="3392043" cy="8954"/>
            <a:chOff x="0" y="0"/>
            <a:chExt cx="4522724" cy="119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29998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3,750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56399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9998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5.1% click to download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9998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191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56399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downloads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998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18% download to client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998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56399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9998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C6CFE4"/>
                </a:solidFill>
                <a:latin typeface="Exo 2 Bold"/>
                <a:ea typeface="Exo 2 Bold"/>
                <a:cs typeface="Exo 2 Bold"/>
                <a:sym typeface="Exo 2 Bold"/>
              </a:rPr>
              <a:t>+ 11 referrals (1 in 3)  =  45 clients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29998" y="7700000"/>
            <a:ext cx="3392043" cy="8954"/>
            <a:chOff x="0" y="0"/>
            <a:chExt cx="4522724" cy="119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29998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9998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$167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062004" y="3220002"/>
            <a:ext cx="3952018" cy="5630037"/>
            <a:chOff x="0" y="0"/>
            <a:chExt cx="5269357" cy="7506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62004" y="3220002"/>
            <a:ext cx="3952018" cy="40005"/>
            <a:chOff x="0" y="0"/>
            <a:chExt cx="5269357" cy="533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342001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WEALTHTECH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42001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42001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Google Ads  |  $7,500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342001" y="4469997"/>
            <a:ext cx="3392043" cy="8954"/>
            <a:chOff x="0" y="0"/>
            <a:chExt cx="4522724" cy="119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5342001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1,500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868401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42001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5.1% click to download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42001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77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68401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downloads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42001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18% download to client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42001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868401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42001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C6CFE4"/>
                </a:solidFill>
                <a:latin typeface="Exo 2 Bold"/>
                <a:ea typeface="Exo 2 Bold"/>
                <a:cs typeface="Exo 2 Bold"/>
                <a:sym typeface="Exo 2 Bold"/>
              </a:rPr>
              <a:t>+ 4 referrals (1 in 3)  =  18 clients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342001" y="7700000"/>
            <a:ext cx="3392043" cy="8954"/>
            <a:chOff x="0" y="0"/>
            <a:chExt cx="4522724" cy="119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5342001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342001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$417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273997" y="3220002"/>
            <a:ext cx="3952018" cy="5630037"/>
            <a:chOff x="0" y="0"/>
            <a:chExt cx="5269357" cy="75067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73997" y="3220002"/>
            <a:ext cx="3952018" cy="40005"/>
            <a:chOff x="0" y="0"/>
            <a:chExt cx="5269357" cy="533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554004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54004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54004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 |  $15,000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554004" y="4469997"/>
            <a:ext cx="3392043" cy="8954"/>
            <a:chOff x="0" y="0"/>
            <a:chExt cx="4522724" cy="1193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554004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1,300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80404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554004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   10% click to lead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554004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130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80404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leads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54004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   10% lead to potential client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554004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13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080404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potential clients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554004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545C72"/>
                </a:solidFill>
                <a:latin typeface="Exo 2 Bold"/>
                <a:ea typeface="Exo 2 Bold"/>
                <a:cs typeface="Exo 2 Bold"/>
                <a:sym typeface="Exo 2 Bold"/>
              </a:rPr>
              <a:t>+ 4 referrals (1 in 3)  =  17 clients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554004" y="7700000"/>
            <a:ext cx="3392043" cy="8954"/>
            <a:chOff x="0" y="0"/>
            <a:chExt cx="4522724" cy="119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9554004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554004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$882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3486000" y="3220002"/>
            <a:ext cx="3952018" cy="5630037"/>
            <a:chOff x="0" y="0"/>
            <a:chExt cx="5269357" cy="75067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486000" y="3220002"/>
            <a:ext cx="3952018" cy="40005"/>
            <a:chOff x="0" y="0"/>
            <a:chExt cx="5269357" cy="533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3765997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765997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765997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Existing Placement meetings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3765997" y="4469997"/>
            <a:ext cx="3392043" cy="8954"/>
            <a:chOff x="0" y="0"/>
            <a:chExt cx="4522724" cy="119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3765997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5292397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new spend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765997" y="4910947"/>
            <a:ext cx="1526400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765997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 to 1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5292397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relationship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765997" y="5470950"/>
            <a:ext cx="1526400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765997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Direct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292397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introductions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765997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545C72"/>
                </a:solidFill>
                <a:latin typeface="Exo 2 Bold"/>
                <a:ea typeface="Exo 2 Bold"/>
                <a:cs typeface="Exo 2 Bold"/>
                <a:sym typeface="Exo 2 Bold"/>
              </a:rPr>
              <a:t>Won through relationships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13765997" y="7700000"/>
            <a:ext cx="3392043" cy="8954"/>
            <a:chOff x="0" y="0"/>
            <a:chExt cx="4522724" cy="119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3765997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765997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No added cost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50001" y="8892854"/>
            <a:ext cx="16587997" cy="44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i="true">
                <a:solidFill>
                  <a:srgbClr val="8A93A8"/>
                </a:solidFill>
                <a:latin typeface="Exo 2 Italics"/>
                <a:ea typeface="Exo 2 Italics"/>
                <a:cs typeface="Exo 2 Italics"/>
                <a:sym typeface="Exo 2 Italics"/>
              </a:rPr>
              <a:t>Every CAC sits below industry research: investing apps $1,340 to $2,140 per client; wealth management $2,100 to $4,100. Funnel rates use industry benchmarks for cost per click, conversion and cost per lead. Retainers and Instagram activity are excluded.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51964" y="9434408"/>
            <a:ext cx="16587997" cy="23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i="true" u="sng">
                <a:solidFill>
                  <a:srgbClr val="0000FF"/>
                </a:solidFill>
                <a:latin typeface="Exo 2 Italics"/>
                <a:ea typeface="Exo 2 Italics"/>
                <a:cs typeface="Exo 2 Italics"/>
                <a:sym typeface="Exo 2 Italics"/>
                <a:hlinkClick r:id="rId7" tooltip="https://firstpagesage.com/seo-blog/fintech-cac-benchmarks-report/"/>
              </a:rPr>
              <a:t>https://firstpagesage.com/seo-blog/fintech-cac-benchmarks-report/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How We Earn the Cost Back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10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5356003" cy="1750028"/>
            <a:chOff x="0" y="0"/>
            <a:chExt cx="7141337" cy="23333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300002"/>
            <a:ext cx="5356003" cy="40005"/>
            <a:chOff x="0" y="0"/>
            <a:chExt cx="7141337" cy="53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29998" y="2530002"/>
            <a:ext cx="480060" cy="480060"/>
            <a:chOff x="0" y="0"/>
            <a:chExt cx="64008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9998" y="2522858"/>
            <a:ext cx="480003" cy="487147"/>
            <a:chOff x="0" y="0"/>
            <a:chExt cx="640004" cy="649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70002" y="2530002"/>
            <a:ext cx="4255999" cy="480003"/>
            <a:chOff x="0" y="0"/>
            <a:chExt cx="5674665" cy="6400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70002" y="2522858"/>
            <a:ext cx="4255999" cy="487147"/>
            <a:chOff x="0" y="0"/>
            <a:chExt cx="5674665" cy="649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trade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29998" y="3064754"/>
            <a:ext cx="4795999" cy="91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Starter: 5 trades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Emerging: 3 trades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Affluent and HNW: 1 trade a month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65999" y="2300002"/>
            <a:ext cx="5356003" cy="1750028"/>
            <a:chOff x="0" y="0"/>
            <a:chExt cx="7141337" cy="23333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65999" y="2300002"/>
            <a:ext cx="5356003" cy="40005"/>
            <a:chOff x="0" y="0"/>
            <a:chExt cx="7141337" cy="53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45996" y="2530002"/>
            <a:ext cx="480060" cy="480060"/>
            <a:chOff x="0" y="0"/>
            <a:chExt cx="64008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45996" y="2522858"/>
            <a:ext cx="480003" cy="487147"/>
            <a:chOff x="0" y="0"/>
            <a:chExt cx="640004" cy="6495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85999" y="2530002"/>
            <a:ext cx="4255999" cy="480003"/>
            <a:chOff x="0" y="0"/>
            <a:chExt cx="5674665" cy="6400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85999" y="2522858"/>
            <a:ext cx="4255999" cy="487147"/>
            <a:chOff x="0" y="0"/>
            <a:chExt cx="5674665" cy="6495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 ratio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745996" y="3064754"/>
            <a:ext cx="479599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Starter 2.9 : 1  ($490 ÷ $167)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Emerging 4.8 : 1  ($1,999 ÷ $417)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Affluent 11.9 : 1  ($10,455 ÷ $882)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081996" y="2300002"/>
            <a:ext cx="5356003" cy="1750028"/>
            <a:chOff x="0" y="0"/>
            <a:chExt cx="7141337" cy="23333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81996" y="2300002"/>
            <a:ext cx="5356003" cy="40005"/>
            <a:chOff x="0" y="0"/>
            <a:chExt cx="7141337" cy="533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62002" y="2530002"/>
            <a:ext cx="480060" cy="480060"/>
            <a:chOff x="0" y="0"/>
            <a:chExt cx="64008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62002" y="2522858"/>
            <a:ext cx="480003" cy="487147"/>
            <a:chOff x="0" y="0"/>
            <a:chExt cx="640004" cy="6495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01996" y="2530002"/>
            <a:ext cx="4255999" cy="480003"/>
            <a:chOff x="0" y="0"/>
            <a:chExt cx="5674665" cy="6400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01996" y="2522858"/>
            <a:ext cx="4255999" cy="487147"/>
            <a:chOff x="0" y="0"/>
            <a:chExt cx="5674665" cy="6495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Portfolios grow over time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362002" y="3064754"/>
            <a:ext cx="479599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Deposits and returns add 5%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1% churn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Clients move up a segment as they grow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48039" y="4535776"/>
            <a:ext cx="16587978" cy="479965"/>
            <a:chOff x="0" y="0"/>
            <a:chExt cx="22117304" cy="63995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17304" cy="639953"/>
            </a:xfrm>
            <a:custGeom>
              <a:avLst/>
              <a:gdLst/>
              <a:ahLst/>
              <a:cxnLst/>
              <a:rect r="r" b="b" t="t" l="l"/>
              <a:pathLst>
                <a:path h="63995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639953"/>
                  </a:lnTo>
                  <a:lnTo>
                    <a:pt x="0" y="63995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48039" y="4535776"/>
            <a:ext cx="15987998" cy="480003"/>
            <a:chOff x="0" y="0"/>
            <a:chExt cx="21317331" cy="6400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317331" cy="639953"/>
            </a:xfrm>
            <a:custGeom>
              <a:avLst/>
              <a:gdLst/>
              <a:ahLst/>
              <a:cxnLst/>
              <a:rect r="r" b="b" t="t" l="l"/>
              <a:pathLst>
                <a:path h="63995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8606" r="0" b="-59861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48039" y="4528633"/>
            <a:ext cx="15987998" cy="487147"/>
            <a:chOff x="0" y="0"/>
            <a:chExt cx="21317331" cy="6495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317331" cy="649529"/>
            </a:xfrm>
            <a:custGeom>
              <a:avLst/>
              <a:gdLst/>
              <a:ahLst/>
              <a:cxnLst/>
              <a:rect r="r" b="b" t="t" l="l"/>
              <a:pathLst>
                <a:path h="649529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9492" r="0" b="-5894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1317331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Where clients trade:   </a:t>
              </a:r>
              <a:r>
                <a:rPr lang="en-US" sz="125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US 75%   |   Saudi Tadawul 15%   |   Dubai DFM 7%   |   Hong Kong HKEX 3%</a:t>
              </a:r>
              <a:r>
                <a:rPr lang="en-US" sz="12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    GCC and Hong Kong trades earn more per trade than US trades.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0001" y="5558704"/>
            <a:ext cx="10616279" cy="3350038"/>
            <a:chOff x="0" y="0"/>
            <a:chExt cx="14155039" cy="44667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155038" cy="4466717"/>
            </a:xfrm>
            <a:custGeom>
              <a:avLst/>
              <a:gdLst/>
              <a:ahLst/>
              <a:cxnLst/>
              <a:rect r="r" b="b" t="t" l="l"/>
              <a:pathLst>
                <a:path h="4466717" w="14155038">
                  <a:moveTo>
                    <a:pt x="0" y="0"/>
                  </a:moveTo>
                  <a:lnTo>
                    <a:pt x="14155038" y="0"/>
                  </a:lnTo>
                  <a:lnTo>
                    <a:pt x="14155038" y="4466717"/>
                  </a:lnTo>
                  <a:lnTo>
                    <a:pt x="0" y="4466717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26323" y="5558704"/>
            <a:ext cx="5711666" cy="3350038"/>
            <a:chOff x="0" y="0"/>
            <a:chExt cx="7615555" cy="446671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15555" cy="4466717"/>
            </a:xfrm>
            <a:custGeom>
              <a:avLst/>
              <a:gdLst/>
              <a:ahLst/>
              <a:cxnLst/>
              <a:rect r="r" b="b" t="t" l="l"/>
              <a:pathLst>
                <a:path h="4466717" w="7615555">
                  <a:moveTo>
                    <a:pt x="0" y="0"/>
                  </a:moveTo>
                  <a:lnTo>
                    <a:pt x="7615555" y="0"/>
                  </a:lnTo>
                  <a:lnTo>
                    <a:pt x="7615555" y="4466717"/>
                  </a:lnTo>
                  <a:lnTo>
                    <a:pt x="0" y="4466717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26323" y="5558704"/>
            <a:ext cx="5711666" cy="40005"/>
            <a:chOff x="0" y="0"/>
            <a:chExt cx="7615555" cy="533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15555" cy="53340"/>
            </a:xfrm>
            <a:custGeom>
              <a:avLst/>
              <a:gdLst/>
              <a:ahLst/>
              <a:cxnLst/>
              <a:rect r="r" b="b" t="t" l="l"/>
              <a:pathLst>
                <a:path h="53340" w="7615555">
                  <a:moveTo>
                    <a:pt x="0" y="0"/>
                  </a:moveTo>
                  <a:lnTo>
                    <a:pt x="7615555" y="0"/>
                  </a:lnTo>
                  <a:lnTo>
                    <a:pt x="7615555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2026322" y="5719648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THE $30,000 CAMPAIGN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026322" y="6178706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80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026322" y="6559648"/>
            <a:ext cx="51116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 invested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026322" y="7058701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Year 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026322" y="7439654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campaign cost fully recovered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026322" y="7938697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$76,787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026322" y="8319649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revenue by year 5, 2.6 times the cost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50001" y="5699998"/>
            <a:ext cx="1450000" cy="299999"/>
            <a:chOff x="0" y="0"/>
            <a:chExt cx="1933334" cy="39999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933334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SEGMENT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600001" y="5699998"/>
            <a:ext cx="3699996" cy="299999"/>
            <a:chOff x="0" y="0"/>
            <a:chExt cx="4933328" cy="3999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4933328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MONTHS TO RECOVER CAC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299997" y="5699998"/>
            <a:ext cx="1450000" cy="299999"/>
            <a:chOff x="0" y="0"/>
            <a:chExt cx="1933334" cy="39999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933334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LIFECYCLE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749997" y="5699998"/>
            <a:ext cx="2150002" cy="299999"/>
            <a:chOff x="0" y="0"/>
            <a:chExt cx="2866669" cy="3999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66667" cy="400000"/>
            </a:xfrm>
            <a:custGeom>
              <a:avLst/>
              <a:gdLst/>
              <a:ahLst/>
              <a:cxnLst/>
              <a:rect r="r" b="b" t="t" l="l"/>
              <a:pathLst>
                <a:path h="400000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643" r="0" b="-8964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2866669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LIFETIME PROFIT PER CLIENT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99999" y="5699998"/>
            <a:ext cx="1499997" cy="299999"/>
            <a:chOff x="0" y="0"/>
            <a:chExt cx="1999996" cy="39999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00000" cy="400000"/>
            </a:xfrm>
            <a:custGeom>
              <a:avLst/>
              <a:gdLst/>
              <a:ahLst/>
              <a:cxnLst/>
              <a:rect r="r" b="b" t="t" l="l"/>
              <a:pathLst>
                <a:path h="400000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999996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0001" y="6040003"/>
            <a:ext cx="10000002" cy="9001"/>
            <a:chOff x="0" y="0"/>
            <a:chExt cx="13333336" cy="1200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333349" cy="11938"/>
            </a:xfrm>
            <a:custGeom>
              <a:avLst/>
              <a:gdLst/>
              <a:ahLst/>
              <a:cxnLst/>
              <a:rect r="r" b="b" t="t" l="l"/>
              <a:pathLst>
                <a:path h="11938" w="13333349">
                  <a:moveTo>
                    <a:pt x="0" y="0"/>
                  </a:moveTo>
                  <a:lnTo>
                    <a:pt x="13333349" y="0"/>
                  </a:lnTo>
                  <a:lnTo>
                    <a:pt x="13333349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50001" y="6089999"/>
            <a:ext cx="1450000" cy="640004"/>
            <a:chOff x="0" y="0"/>
            <a:chExt cx="1933334" cy="8533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00001" y="6289996"/>
            <a:ext cx="1041664" cy="240001"/>
            <a:chOff x="0" y="0"/>
            <a:chExt cx="1388885" cy="32000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88872" cy="320040"/>
            </a:xfrm>
            <a:custGeom>
              <a:avLst/>
              <a:gdLst/>
              <a:ahLst/>
              <a:cxnLst/>
              <a:rect r="r" b="b" t="t" l="l"/>
              <a:pathLst>
                <a:path h="320040" w="1388872">
                  <a:moveTo>
                    <a:pt x="0" y="0"/>
                  </a:moveTo>
                  <a:lnTo>
                    <a:pt x="1388872" y="0"/>
                  </a:lnTo>
                  <a:lnTo>
                    <a:pt x="1388872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741668" y="6089999"/>
            <a:ext cx="1100004" cy="640004"/>
            <a:chOff x="0" y="0"/>
            <a:chExt cx="1466672" cy="85333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 months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299997" y="6089999"/>
            <a:ext cx="1450000" cy="640004"/>
            <a:chOff x="0" y="0"/>
            <a:chExt cx="1933334" cy="85333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5 years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749997" y="6089999"/>
            <a:ext cx="2150002" cy="640004"/>
            <a:chOff x="0" y="0"/>
            <a:chExt cx="2866669" cy="8533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$323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899999" y="6089999"/>
            <a:ext cx="1499997" cy="640004"/>
            <a:chOff x="0" y="0"/>
            <a:chExt cx="1999996" cy="8533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2.9 : 1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50001" y="6730003"/>
            <a:ext cx="1450000" cy="640004"/>
            <a:chOff x="0" y="0"/>
            <a:chExt cx="1933334" cy="8533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2600001" y="6929999"/>
            <a:ext cx="2343750" cy="240001"/>
            <a:chOff x="0" y="0"/>
            <a:chExt cx="3125000" cy="32000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124962" cy="320040"/>
            </a:xfrm>
            <a:custGeom>
              <a:avLst/>
              <a:gdLst/>
              <a:ahLst/>
              <a:cxnLst/>
              <a:rect r="r" b="b" t="t" l="l"/>
              <a:pathLst>
                <a:path h="320040" w="3124962">
                  <a:moveTo>
                    <a:pt x="0" y="0"/>
                  </a:moveTo>
                  <a:lnTo>
                    <a:pt x="3124962" y="0"/>
                  </a:lnTo>
                  <a:lnTo>
                    <a:pt x="3124962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5043754" y="6730003"/>
            <a:ext cx="1100004" cy="640004"/>
            <a:chOff x="0" y="0"/>
            <a:chExt cx="1466672" cy="85333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45 months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299997" y="6730003"/>
            <a:ext cx="1450000" cy="640004"/>
            <a:chOff x="0" y="0"/>
            <a:chExt cx="1933334" cy="85333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7 years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7749997" y="6730003"/>
            <a:ext cx="2150002" cy="640004"/>
            <a:chOff x="0" y="0"/>
            <a:chExt cx="2866669" cy="85333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$1,582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899999" y="6730003"/>
            <a:ext cx="1499997" cy="640004"/>
            <a:chOff x="0" y="0"/>
            <a:chExt cx="1999996" cy="85333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4.8 : 1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50001" y="7369997"/>
            <a:ext cx="1450000" cy="640004"/>
            <a:chOff x="0" y="0"/>
            <a:chExt cx="1933334" cy="85333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2600001" y="7570003"/>
            <a:ext cx="2031254" cy="240001"/>
            <a:chOff x="0" y="0"/>
            <a:chExt cx="2708338" cy="32000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08275" cy="320040"/>
            </a:xfrm>
            <a:custGeom>
              <a:avLst/>
              <a:gdLst/>
              <a:ahLst/>
              <a:cxnLst/>
              <a:rect r="r" b="b" t="t" l="l"/>
              <a:pathLst>
                <a:path h="320040" w="2708275">
                  <a:moveTo>
                    <a:pt x="0" y="0"/>
                  </a:moveTo>
                  <a:lnTo>
                    <a:pt x="2708275" y="0"/>
                  </a:lnTo>
                  <a:lnTo>
                    <a:pt x="2708275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9AA5BC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731248" y="7369997"/>
            <a:ext cx="1100004" cy="640004"/>
            <a:chOff x="0" y="0"/>
            <a:chExt cx="1466672" cy="85333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39 months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299997" y="7369997"/>
            <a:ext cx="1450000" cy="640004"/>
            <a:chOff x="0" y="0"/>
            <a:chExt cx="1933334" cy="85333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8 years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749997" y="7369997"/>
            <a:ext cx="2150002" cy="640004"/>
            <a:chOff x="0" y="0"/>
            <a:chExt cx="2866669" cy="85333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$9,573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99999" y="7369997"/>
            <a:ext cx="1499997" cy="640004"/>
            <a:chOff x="0" y="0"/>
            <a:chExt cx="1999996" cy="85333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11.9 : 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30005" y="8039995"/>
            <a:ext cx="10240004" cy="579996"/>
            <a:chOff x="0" y="0"/>
            <a:chExt cx="13653338" cy="77332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3653388" cy="773303"/>
            </a:xfrm>
            <a:custGeom>
              <a:avLst/>
              <a:gdLst/>
              <a:ahLst/>
              <a:cxnLst/>
              <a:rect r="r" b="b" t="t" l="l"/>
              <a:pathLst>
                <a:path h="773303" w="13653388">
                  <a:moveTo>
                    <a:pt x="0" y="0"/>
                  </a:moveTo>
                  <a:lnTo>
                    <a:pt x="13653388" y="0"/>
                  </a:lnTo>
                  <a:lnTo>
                    <a:pt x="13653388" y="773303"/>
                  </a:lnTo>
                  <a:lnTo>
                    <a:pt x="0" y="77330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150001" y="8010001"/>
            <a:ext cx="1450000" cy="640004"/>
            <a:chOff x="0" y="0"/>
            <a:chExt cx="1933334" cy="85333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2600001" y="8010001"/>
            <a:ext cx="3699996" cy="640004"/>
            <a:chOff x="0" y="0"/>
            <a:chExt cx="4933328" cy="85333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47" r="0" b="-62648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4933328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Immediate, no acquisition cost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6299997" y="8010001"/>
            <a:ext cx="1450000" cy="640004"/>
            <a:chOff x="0" y="0"/>
            <a:chExt cx="1933334" cy="85333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 years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749997" y="8010001"/>
            <a:ext cx="2150002" cy="640004"/>
            <a:chOff x="0" y="0"/>
            <a:chExt cx="2866669" cy="85333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$53,782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899999" y="8010001"/>
            <a:ext cx="1499997" cy="640004"/>
            <a:chOff x="0" y="0"/>
            <a:chExt cx="1999996" cy="85333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cost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850001" y="8990000"/>
            <a:ext cx="14500003" cy="320002"/>
            <a:chOff x="0" y="0"/>
            <a:chExt cx="19333337" cy="4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333333" cy="426667"/>
            </a:xfrm>
            <a:custGeom>
              <a:avLst/>
              <a:gdLst/>
              <a:ahLst/>
              <a:cxnLst/>
              <a:rect r="r" b="b" t="t" l="l"/>
              <a:pathLst>
                <a:path h="426667" w="19333333">
                  <a:moveTo>
                    <a:pt x="0" y="0"/>
                  </a:moveTo>
                  <a:lnTo>
                    <a:pt x="19333333" y="0"/>
                  </a:lnTo>
                  <a:lnTo>
                    <a:pt x="19333333" y="426667"/>
                  </a:lnTo>
                  <a:lnTo>
                    <a:pt x="0" y="42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2915" r="0" b="-832916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19333337" cy="43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i="true">
                  <a:solidFill>
                    <a:srgbClr val="7A849C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Calculated with 1% monthly churn and 5% monthly portfolio growth from deposits and returns. Lifecycles extend as clients move up a segment. Revenue to CAC = lifetime revenue per client ÷ CAC; market benchmark is 3 : 1.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Recovery and Lifetime Value by Segment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001" y="2290477"/>
            <a:ext cx="16587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b="true" sz="1389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CAMPAIGN REVENUE AGAINST THE $30,000 SPEND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0001" y="2680002"/>
            <a:ext cx="16587997" cy="439998"/>
            <a:chOff x="0" y="0"/>
            <a:chExt cx="22117329" cy="586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0000" y="2680002"/>
            <a:ext cx="1524676" cy="439998"/>
            <a:chOff x="0" y="0"/>
            <a:chExt cx="2032902" cy="586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End of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94676" y="2680002"/>
            <a:ext cx="1856442" cy="439998"/>
            <a:chOff x="0" y="0"/>
            <a:chExt cx="2475255" cy="586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51117" y="2680002"/>
            <a:ext cx="1856442" cy="439998"/>
            <a:chOff x="0" y="0"/>
            <a:chExt cx="2475255" cy="586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07558" y="2680002"/>
            <a:ext cx="1856442" cy="439998"/>
            <a:chOff x="0" y="0"/>
            <a:chExt cx="2475255" cy="586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63999" y="2680002"/>
            <a:ext cx="2188197" cy="439998"/>
            <a:chOff x="0" y="0"/>
            <a:chExt cx="2917596" cy="586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Campaign revenue (excl. HNW)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52196" y="2680002"/>
            <a:ext cx="2354075" cy="439998"/>
            <a:chOff x="0" y="0"/>
            <a:chExt cx="3138767" cy="5866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Against $30,000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06280" y="2680002"/>
            <a:ext cx="2851718" cy="439998"/>
            <a:chOff x="0" y="0"/>
            <a:chExt cx="3802291" cy="586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HNW, per client (no cost)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0001" y="3119999"/>
            <a:ext cx="16587997" cy="439998"/>
            <a:chOff x="0" y="0"/>
            <a:chExt cx="22117329" cy="586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0000" y="3119999"/>
            <a:ext cx="1524676" cy="439998"/>
            <a:chOff x="0" y="0"/>
            <a:chExt cx="2032902" cy="586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894676" y="3119999"/>
            <a:ext cx="1856442" cy="439998"/>
            <a:chOff x="0" y="0"/>
            <a:chExt cx="2475255" cy="5866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$4,795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51117" y="3119999"/>
            <a:ext cx="1856442" cy="439998"/>
            <a:chOff x="0" y="0"/>
            <a:chExt cx="2475255" cy="586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$1,262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207558" y="3119999"/>
            <a:ext cx="1856442" cy="439998"/>
            <a:chOff x="0" y="0"/>
            <a:chExt cx="2475255" cy="5866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$2,615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63999" y="3119999"/>
            <a:ext cx="2188197" cy="439998"/>
            <a:chOff x="0" y="0"/>
            <a:chExt cx="2917596" cy="5866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$8,672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52196" y="3119999"/>
            <a:ext cx="2354075" cy="439998"/>
            <a:chOff x="0" y="0"/>
            <a:chExt cx="3138767" cy="5866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29%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06280" y="3119999"/>
            <a:ext cx="2851718" cy="439998"/>
            <a:chOff x="0" y="0"/>
            <a:chExt cx="3802291" cy="5866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$308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50001" y="3559997"/>
            <a:ext cx="16587997" cy="439998"/>
            <a:chOff x="0" y="0"/>
            <a:chExt cx="22117329" cy="5866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70000" y="3559997"/>
            <a:ext cx="1524676" cy="439998"/>
            <a:chOff x="0" y="0"/>
            <a:chExt cx="2032902" cy="586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94676" y="3559997"/>
            <a:ext cx="1856442" cy="439998"/>
            <a:chOff x="0" y="0"/>
            <a:chExt cx="2475255" cy="586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$9,024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51117" y="3559997"/>
            <a:ext cx="1856442" cy="439998"/>
            <a:chOff x="0" y="0"/>
            <a:chExt cx="2475255" cy="586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$2,908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207558" y="3559997"/>
            <a:ext cx="1856442" cy="439998"/>
            <a:chOff x="0" y="0"/>
            <a:chExt cx="2475255" cy="5866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$6,778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63999" y="3559997"/>
            <a:ext cx="2188197" cy="439998"/>
            <a:chOff x="0" y="0"/>
            <a:chExt cx="2917596" cy="5866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$18,710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852196" y="3559997"/>
            <a:ext cx="2354075" cy="439998"/>
            <a:chOff x="0" y="0"/>
            <a:chExt cx="3138767" cy="5866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506280" y="3559997"/>
            <a:ext cx="2851718" cy="439998"/>
            <a:chOff x="0" y="0"/>
            <a:chExt cx="3802291" cy="586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$797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50001" y="4000005"/>
            <a:ext cx="16587997" cy="439998"/>
            <a:chOff x="0" y="0"/>
            <a:chExt cx="22117329" cy="586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70000" y="4000005"/>
            <a:ext cx="1524676" cy="439998"/>
            <a:chOff x="0" y="0"/>
            <a:chExt cx="2032902" cy="5866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894676" y="4000005"/>
            <a:ext cx="1856442" cy="439998"/>
            <a:chOff x="0" y="0"/>
            <a:chExt cx="2475255" cy="5866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$12,763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051117" y="4000005"/>
            <a:ext cx="1856442" cy="439998"/>
            <a:chOff x="0" y="0"/>
            <a:chExt cx="2475255" cy="5866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$5,242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207558" y="4000005"/>
            <a:ext cx="1856442" cy="439998"/>
            <a:chOff x="0" y="0"/>
            <a:chExt cx="2475255" cy="5866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$13,404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363999" y="4000005"/>
            <a:ext cx="2188197" cy="439998"/>
            <a:chOff x="0" y="0"/>
            <a:chExt cx="2917596" cy="58666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$31,409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852196" y="4000005"/>
            <a:ext cx="2354075" cy="439998"/>
            <a:chOff x="0" y="0"/>
            <a:chExt cx="3138767" cy="5866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Recovered (105%)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506280" y="4000005"/>
            <a:ext cx="2851718" cy="439998"/>
            <a:chOff x="0" y="0"/>
            <a:chExt cx="3802291" cy="5866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$1,577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50001" y="4440003"/>
            <a:ext cx="16587997" cy="439998"/>
            <a:chOff x="0" y="0"/>
            <a:chExt cx="22117329" cy="5866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70000" y="4440003"/>
            <a:ext cx="1524676" cy="439998"/>
            <a:chOff x="0" y="0"/>
            <a:chExt cx="2032902" cy="58666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4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2894676" y="4440003"/>
            <a:ext cx="1856442" cy="439998"/>
            <a:chOff x="0" y="0"/>
            <a:chExt cx="2475255" cy="5866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$16,721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051117" y="4440003"/>
            <a:ext cx="1856442" cy="439998"/>
            <a:chOff x="0" y="0"/>
            <a:chExt cx="2475255" cy="5866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$8,643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207558" y="4440003"/>
            <a:ext cx="1856442" cy="439998"/>
            <a:chOff x="0" y="0"/>
            <a:chExt cx="2475255" cy="58666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$23,952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363999" y="4440003"/>
            <a:ext cx="2188197" cy="439998"/>
            <a:chOff x="0" y="0"/>
            <a:chExt cx="2917596" cy="5866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$49,316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1852196" y="4440003"/>
            <a:ext cx="2354075" cy="439998"/>
            <a:chOff x="0" y="0"/>
            <a:chExt cx="3138767" cy="58666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164%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506280" y="4440003"/>
            <a:ext cx="2851718" cy="439998"/>
            <a:chOff x="0" y="0"/>
            <a:chExt cx="3802291" cy="58666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$2,818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850001" y="4880000"/>
            <a:ext cx="16587997" cy="439998"/>
            <a:chOff x="0" y="0"/>
            <a:chExt cx="22117329" cy="58666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70000" y="4880000"/>
            <a:ext cx="1524676" cy="439998"/>
            <a:chOff x="0" y="0"/>
            <a:chExt cx="2032902" cy="5866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5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894676" y="4880000"/>
            <a:ext cx="1856442" cy="439998"/>
            <a:chOff x="0" y="0"/>
            <a:chExt cx="2475255" cy="5866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$22,069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051117" y="4880000"/>
            <a:ext cx="1856442" cy="439998"/>
            <a:chOff x="0" y="0"/>
            <a:chExt cx="2475255" cy="58666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$13,976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207558" y="4880000"/>
            <a:ext cx="1856442" cy="439998"/>
            <a:chOff x="0" y="0"/>
            <a:chExt cx="2475255" cy="5866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$40,742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63999" y="4880000"/>
            <a:ext cx="2188197" cy="439998"/>
            <a:chOff x="0" y="0"/>
            <a:chExt cx="2917596" cy="58666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$76,787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852196" y="4880000"/>
            <a:ext cx="2354075" cy="439998"/>
            <a:chOff x="0" y="0"/>
            <a:chExt cx="3138767" cy="58666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256%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506280" y="4880000"/>
            <a:ext cx="2851718" cy="439998"/>
            <a:chOff x="0" y="0"/>
            <a:chExt cx="3802291" cy="58666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$4,793</a:t>
              </a:r>
            </a:p>
          </p:txBody>
        </p:sp>
      </p:grpSp>
      <p:sp>
        <p:nvSpPr>
          <p:cNvPr name="TextBox 152" id="152"/>
          <p:cNvSpPr txBox="true"/>
          <p:nvPr/>
        </p:nvSpPr>
        <p:spPr>
          <a:xfrm rot="0">
            <a:off x="850001" y="5610473"/>
            <a:ext cx="16587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b="true" sz="1389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LIFETIME VALUE PER CLIENT BY SEGMENT</a:t>
            </a:r>
          </a:p>
        </p:txBody>
      </p:sp>
      <p:grpSp>
        <p:nvGrpSpPr>
          <p:cNvPr name="Group 153" id="153"/>
          <p:cNvGrpSpPr/>
          <p:nvPr/>
        </p:nvGrpSpPr>
        <p:grpSpPr>
          <a:xfrm rot="0">
            <a:off x="850001" y="5999998"/>
            <a:ext cx="16587997" cy="439998"/>
            <a:chOff x="0" y="0"/>
            <a:chExt cx="22117329" cy="58666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070000" y="5999998"/>
            <a:ext cx="1856442" cy="439998"/>
            <a:chOff x="0" y="0"/>
            <a:chExt cx="2475255" cy="58666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Segment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3226441" y="5999998"/>
            <a:ext cx="2519963" cy="439998"/>
            <a:chOff x="0" y="0"/>
            <a:chExt cx="3359950" cy="58666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Months to recover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046403" y="5999998"/>
            <a:ext cx="1856442" cy="439998"/>
            <a:chOff x="0" y="0"/>
            <a:chExt cx="2475255" cy="58666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Lifecycle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7585019" y="5999996"/>
            <a:ext cx="5051925" cy="440000"/>
            <a:chOff x="0" y="0"/>
            <a:chExt cx="6735899" cy="58666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Lifetime profit per client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139189" y="5999996"/>
            <a:ext cx="4218809" cy="440000"/>
            <a:chOff x="0" y="0"/>
            <a:chExt cx="5625078" cy="58666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850001" y="6439995"/>
            <a:ext cx="16587997" cy="439998"/>
            <a:chOff x="0" y="0"/>
            <a:chExt cx="22117329" cy="58666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070000" y="6439995"/>
            <a:ext cx="1856442" cy="439998"/>
            <a:chOff x="0" y="0"/>
            <a:chExt cx="2475255" cy="58666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3226441" y="6439995"/>
            <a:ext cx="2519963" cy="439998"/>
            <a:chOff x="0" y="0"/>
            <a:chExt cx="3359950" cy="58666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20 months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6046403" y="6439995"/>
            <a:ext cx="1856442" cy="439998"/>
            <a:chOff x="0" y="0"/>
            <a:chExt cx="2475255" cy="58666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5 years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585019" y="6439994"/>
            <a:ext cx="5051925" cy="440000"/>
            <a:chOff x="0" y="0"/>
            <a:chExt cx="6735899" cy="58666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$323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3139189" y="6439994"/>
            <a:ext cx="4218809" cy="440000"/>
            <a:chOff x="0" y="0"/>
            <a:chExt cx="5625078" cy="586667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2.9 : 1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850001" y="6880003"/>
            <a:ext cx="16587997" cy="439998"/>
            <a:chOff x="0" y="0"/>
            <a:chExt cx="22117329" cy="58666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070000" y="6880003"/>
            <a:ext cx="1856442" cy="439998"/>
            <a:chOff x="0" y="0"/>
            <a:chExt cx="2475255" cy="58666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3226441" y="6880003"/>
            <a:ext cx="2519963" cy="439998"/>
            <a:chOff x="0" y="0"/>
            <a:chExt cx="3359950" cy="586664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45 months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6046403" y="6880003"/>
            <a:ext cx="1856442" cy="439998"/>
            <a:chOff x="0" y="0"/>
            <a:chExt cx="2475255" cy="586664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7 years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7585019" y="6880002"/>
            <a:ext cx="5051925" cy="440000"/>
            <a:chOff x="0" y="0"/>
            <a:chExt cx="6735899" cy="586667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$1,582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13139189" y="6880002"/>
            <a:ext cx="4218809" cy="440000"/>
            <a:chOff x="0" y="0"/>
            <a:chExt cx="5625078" cy="586667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4.8 : 1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850001" y="7320001"/>
            <a:ext cx="16587997" cy="439998"/>
            <a:chOff x="0" y="0"/>
            <a:chExt cx="22117329" cy="586664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070000" y="7320001"/>
            <a:ext cx="1856442" cy="439998"/>
            <a:chOff x="0" y="0"/>
            <a:chExt cx="2475255" cy="58666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3226441" y="7320001"/>
            <a:ext cx="2519963" cy="439998"/>
            <a:chOff x="0" y="0"/>
            <a:chExt cx="3359950" cy="586664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39 months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6046403" y="7320001"/>
            <a:ext cx="1856442" cy="439998"/>
            <a:chOff x="0" y="0"/>
            <a:chExt cx="2475255" cy="58666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8 years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7585019" y="7320000"/>
            <a:ext cx="5051925" cy="440000"/>
            <a:chOff x="0" y="0"/>
            <a:chExt cx="6735899" cy="58666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$9,573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3139189" y="7320000"/>
            <a:ext cx="4218809" cy="440000"/>
            <a:chOff x="0" y="0"/>
            <a:chExt cx="5625078" cy="586667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11.9 : 1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850001" y="7759998"/>
            <a:ext cx="16587997" cy="439998"/>
            <a:chOff x="0" y="0"/>
            <a:chExt cx="22117329" cy="586664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1070000" y="7759998"/>
            <a:ext cx="1856442" cy="439998"/>
            <a:chOff x="0" y="0"/>
            <a:chExt cx="2475255" cy="586664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3226441" y="7759998"/>
            <a:ext cx="2519963" cy="439998"/>
            <a:chOff x="0" y="0"/>
            <a:chExt cx="3359950" cy="586664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Immediate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6046403" y="7759998"/>
            <a:ext cx="1856442" cy="439998"/>
            <a:chOff x="0" y="0"/>
            <a:chExt cx="2475255" cy="586664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 years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7585019" y="7759997"/>
            <a:ext cx="5051925" cy="440000"/>
            <a:chOff x="0" y="0"/>
            <a:chExt cx="6735899" cy="58666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$53,782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3139189" y="7759997"/>
            <a:ext cx="4218809" cy="440000"/>
            <a:chOff x="0" y="0"/>
            <a:chExt cx="5625078" cy="586667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cost</a:t>
              </a:r>
            </a:p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850001" y="8320002"/>
            <a:ext cx="16587997" cy="299999"/>
            <a:chOff x="0" y="0"/>
            <a:chExt cx="22117329" cy="399999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22117332" cy="400000"/>
            </a:xfrm>
            <a:custGeom>
              <a:avLst/>
              <a:gdLst/>
              <a:ahLst/>
              <a:cxnLst/>
              <a:rect r="r" b="b" t="t" l="l"/>
              <a:pathLst>
                <a:path h="400000" w="22117332">
                  <a:moveTo>
                    <a:pt x="0" y="0"/>
                  </a:moveTo>
                  <a:lnTo>
                    <a:pt x="22117332" y="0"/>
                  </a:lnTo>
                  <a:lnTo>
                    <a:pt x="22117332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7392" r="0" b="-1027392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9525"/>
              <a:ext cx="22117329" cy="4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i="true">
                  <a:solidFill>
                    <a:srgbClr val="7A849C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Clients won: 45 Starter, 18 Emerging, 17 Affluent. HNW is shown per client and sits outside the campaign total, as it is won through Placement at no added cost. Calculated with 1% monthly churn, 5% monthly portfolio growth and trades split US 75%, Tadawul 15%, DFM 7%, HKEX 3%. Lifetime profit = lifetime revenue less CAC. Market benchmark for revenue to CAC is 3 : 1.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PREVIOUS BUDGET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</a:t>
            </a: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arketing Budget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1916" y="2038502"/>
            <a:ext cx="3952018" cy="1100042"/>
            <a:chOff x="0" y="0"/>
            <a:chExt cx="5269357" cy="1466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1916" y="2031359"/>
            <a:ext cx="3951999" cy="1107148"/>
            <a:chOff x="0" y="0"/>
            <a:chExt cx="5269332" cy="14761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$80,000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Allocated Budget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3919" y="2038502"/>
            <a:ext cx="3952018" cy="1100042"/>
            <a:chOff x="0" y="0"/>
            <a:chExt cx="5269357" cy="1466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63919" y="2031359"/>
            <a:ext cx="3951999" cy="1107148"/>
            <a:chOff x="0" y="0"/>
            <a:chExt cx="5269332" cy="1476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Spent to Date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5912" y="2038502"/>
            <a:ext cx="3952018" cy="1100042"/>
            <a:chOff x="0" y="0"/>
            <a:chExt cx="5269357" cy="14667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75912" y="2031359"/>
            <a:ext cx="3951999" cy="1107148"/>
            <a:chOff x="0" y="0"/>
            <a:chExt cx="5269332" cy="14761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Planned to Year End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87914" y="2038502"/>
            <a:ext cx="3952018" cy="1100042"/>
            <a:chOff x="0" y="0"/>
            <a:chExt cx="5269357" cy="14667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487914" y="2031359"/>
            <a:ext cx="3951999" cy="1107148"/>
            <a:chOff x="0" y="0"/>
            <a:chExt cx="5269332" cy="14761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69332" cy="1476192"/>
            </a:xfrm>
            <a:custGeom>
              <a:avLst/>
              <a:gdLst/>
              <a:ahLst/>
              <a:cxnLst/>
              <a:rect r="r" b="b" t="t" l="l"/>
              <a:pathLst>
                <a:path h="1476192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2"/>
                  </a:lnTo>
                  <a:lnTo>
                    <a:pt x="0" y="14761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7BD39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$9,908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Contingency </a:t>
              </a: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(Other Marketing Expense)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1916" y="3408502"/>
            <a:ext cx="38005" cy="290036"/>
            <a:chOff x="0" y="0"/>
            <a:chExt cx="50673" cy="3867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93356" y="3405168"/>
            <a:ext cx="3967124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Budget Utilization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916" y="3798503"/>
            <a:ext cx="4299966" cy="3628644"/>
            <a:chOff x="0" y="0"/>
            <a:chExt cx="5733288" cy="4838192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5733288" cy="4838192"/>
            </a:xfrm>
            <a:custGeom>
              <a:avLst/>
              <a:gdLst/>
              <a:ahLst/>
              <a:cxnLst/>
              <a:rect r="r" b="b" t="t" l="l"/>
              <a:pathLst>
                <a:path h="4838192" w="5733288">
                  <a:moveTo>
                    <a:pt x="0" y="0"/>
                  </a:moveTo>
                  <a:lnTo>
                    <a:pt x="5733288" y="0"/>
                  </a:lnTo>
                  <a:lnTo>
                    <a:pt x="5733288" y="4838192"/>
                  </a:lnTo>
                  <a:lnTo>
                    <a:pt x="0" y="483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" t="0" r="-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51920" y="3408502"/>
            <a:ext cx="38005" cy="290036"/>
            <a:chOff x="0" y="0"/>
            <a:chExt cx="50673" cy="3867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5693359" y="3405168"/>
            <a:ext cx="5667118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Spent to Date, 14 May to 6 Sep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451919" y="3798503"/>
            <a:ext cx="5999988" cy="419957"/>
            <a:chOff x="0" y="0"/>
            <a:chExt cx="7999984" cy="5599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99984" cy="559943"/>
            </a:xfrm>
            <a:custGeom>
              <a:avLst/>
              <a:gdLst/>
              <a:ahLst/>
              <a:cxnLst/>
              <a:rect r="r" b="b" t="t" l="l"/>
              <a:pathLst>
                <a:path h="5599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571915" y="3798503"/>
            <a:ext cx="3960000" cy="419995"/>
            <a:chOff x="0" y="0"/>
            <a:chExt cx="5280000" cy="55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80025" cy="559943"/>
            </a:xfrm>
            <a:custGeom>
              <a:avLst/>
              <a:gdLst/>
              <a:ahLst/>
              <a:cxnLst/>
              <a:rect r="r" b="b" t="t" l="l"/>
              <a:pathLst>
                <a:path h="559943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3601" r="0" b="-133613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571915" y="3791360"/>
            <a:ext cx="3960000" cy="427139"/>
            <a:chOff x="0" y="0"/>
            <a:chExt cx="5280000" cy="5695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8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45" r="0" b="-1306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280000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51911" y="3798503"/>
            <a:ext cx="1680000" cy="419995"/>
            <a:chOff x="0" y="0"/>
            <a:chExt cx="2240001" cy="55999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0026" cy="559943"/>
            </a:xfrm>
            <a:custGeom>
              <a:avLst/>
              <a:gdLst/>
              <a:ahLst/>
              <a:cxnLst/>
              <a:rect r="r" b="b" t="t" l="l"/>
              <a:pathLst>
                <a:path h="559943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888" r="1" b="-2789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51911" y="3791360"/>
            <a:ext cx="1680000" cy="427139"/>
            <a:chOff x="0" y="0"/>
            <a:chExt cx="2240001" cy="5695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37" r="0" b="-266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2400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51919" y="4218499"/>
            <a:ext cx="5999988" cy="469964"/>
            <a:chOff x="0" y="0"/>
            <a:chExt cx="7999984" cy="6266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571915" y="4218499"/>
            <a:ext cx="3960000" cy="470002"/>
            <a:chOff x="0" y="0"/>
            <a:chExt cx="5280000" cy="62666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571915" y="4218499"/>
            <a:ext cx="3960000" cy="470002"/>
            <a:chOff x="0" y="0"/>
            <a:chExt cx="5280000" cy="62666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Sponsored ads and influencer boosts (TRACCS)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51911" y="4218499"/>
            <a:ext cx="1680000" cy="470002"/>
            <a:chOff x="0" y="0"/>
            <a:chExt cx="2240001" cy="6266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51911" y="4218499"/>
            <a:ext cx="1680000" cy="470002"/>
            <a:chOff x="0" y="0"/>
            <a:chExt cx="2240001" cy="6266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$21,533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51919" y="4688500"/>
            <a:ext cx="5999988" cy="469964"/>
            <a:chOff x="0" y="0"/>
            <a:chExt cx="7999984" cy="6266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571915" y="4688500"/>
            <a:ext cx="3960000" cy="470002"/>
            <a:chOff x="0" y="0"/>
            <a:chExt cx="5280000" cy="62666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571915" y="4688500"/>
            <a:ext cx="3960000" cy="470002"/>
            <a:chOff x="0" y="0"/>
            <a:chExt cx="5280000" cy="6266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Influencer program, 6 creators (Project 2)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51911" y="4688500"/>
            <a:ext cx="1680000" cy="470002"/>
            <a:chOff x="0" y="0"/>
            <a:chExt cx="2240001" cy="6266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51911" y="4688500"/>
            <a:ext cx="1680000" cy="470002"/>
            <a:chOff x="0" y="0"/>
            <a:chExt cx="2240001" cy="6266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$9,037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451919" y="5158502"/>
            <a:ext cx="5999988" cy="469964"/>
            <a:chOff x="0" y="0"/>
            <a:chExt cx="7999984" cy="6266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571915" y="5158502"/>
            <a:ext cx="3960000" cy="470002"/>
            <a:chOff x="0" y="0"/>
            <a:chExt cx="5280000" cy="6266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571915" y="5158502"/>
            <a:ext cx="3960000" cy="470002"/>
            <a:chOff x="0" y="0"/>
            <a:chExt cx="5280000" cy="62666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Ali Sabeel video sponsor ad, Instagram (Ignite)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51911" y="5158502"/>
            <a:ext cx="1680000" cy="470002"/>
            <a:chOff x="0" y="0"/>
            <a:chExt cx="2240001" cy="62666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51911" y="5158502"/>
            <a:ext cx="1680000" cy="470002"/>
            <a:chOff x="0" y="0"/>
            <a:chExt cx="2240001" cy="62666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$2,200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51919" y="5628503"/>
            <a:ext cx="5999988" cy="469964"/>
            <a:chOff x="0" y="0"/>
            <a:chExt cx="7999984" cy="6266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571915" y="5628503"/>
            <a:ext cx="3960000" cy="470002"/>
            <a:chOff x="0" y="0"/>
            <a:chExt cx="5280000" cy="626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571915" y="5628503"/>
            <a:ext cx="3960000" cy="470002"/>
            <a:chOff x="0" y="0"/>
            <a:chExt cx="5280000" cy="6266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sponsor ad, Instagram (Ignite)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51911" y="5628503"/>
            <a:ext cx="1680000" cy="470002"/>
            <a:chOff x="0" y="0"/>
            <a:chExt cx="2240001" cy="6266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651911" y="5628503"/>
            <a:ext cx="1680000" cy="470002"/>
            <a:chOff x="0" y="0"/>
            <a:chExt cx="2240001" cy="62666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$400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451919" y="6098496"/>
            <a:ext cx="5999988" cy="469964"/>
            <a:chOff x="0" y="0"/>
            <a:chExt cx="7999984" cy="6266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571915" y="6098496"/>
            <a:ext cx="3960000" cy="470002"/>
            <a:chOff x="0" y="0"/>
            <a:chExt cx="5280000" cy="6266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571915" y="6098496"/>
            <a:ext cx="3960000" cy="470002"/>
            <a:chOff x="0" y="0"/>
            <a:chExt cx="5280000" cy="62666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prizes, June to August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51911" y="6098496"/>
            <a:ext cx="1680000" cy="470002"/>
            <a:chOff x="0" y="0"/>
            <a:chExt cx="2240001" cy="62666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51911" y="6098496"/>
            <a:ext cx="1680000" cy="470002"/>
            <a:chOff x="0" y="0"/>
            <a:chExt cx="2240001" cy="6266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$1,100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51919" y="6568497"/>
            <a:ext cx="5999988" cy="469964"/>
            <a:chOff x="0" y="0"/>
            <a:chExt cx="7999984" cy="62661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571915" y="6568497"/>
            <a:ext cx="3960000" cy="470002"/>
            <a:chOff x="0" y="0"/>
            <a:chExt cx="5280000" cy="62666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5571915" y="6568497"/>
            <a:ext cx="3960000" cy="470002"/>
            <a:chOff x="0" y="0"/>
            <a:chExt cx="5280000" cy="62666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Voiceover production, 4 videos (EnRoute PR)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651911" y="6568497"/>
            <a:ext cx="1680000" cy="470002"/>
            <a:chOff x="0" y="0"/>
            <a:chExt cx="2240001" cy="62666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51911" y="6568497"/>
            <a:ext cx="1680000" cy="470002"/>
            <a:chOff x="0" y="0"/>
            <a:chExt cx="2240001" cy="62666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$212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451919" y="7038499"/>
            <a:ext cx="5999988" cy="469964"/>
            <a:chOff x="0" y="0"/>
            <a:chExt cx="7999984" cy="62661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5451919" y="7038499"/>
            <a:ext cx="5999988" cy="18002"/>
            <a:chOff x="0" y="0"/>
            <a:chExt cx="7999984" cy="2400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999984" cy="24003"/>
            </a:xfrm>
            <a:custGeom>
              <a:avLst/>
              <a:gdLst/>
              <a:ahLst/>
              <a:cxnLst/>
              <a:rect r="r" b="b" t="t" l="l"/>
              <a:pathLst>
                <a:path h="2400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5571915" y="7038499"/>
            <a:ext cx="3960000" cy="470002"/>
            <a:chOff x="0" y="0"/>
            <a:chExt cx="5280000" cy="62666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571915" y="7038499"/>
            <a:ext cx="3960000" cy="470002"/>
            <a:chOff x="0" y="0"/>
            <a:chExt cx="5280000" cy="62666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spent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51911" y="7038499"/>
            <a:ext cx="1680000" cy="470002"/>
            <a:chOff x="0" y="0"/>
            <a:chExt cx="2240001" cy="62666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651911" y="7038499"/>
            <a:ext cx="1680000" cy="470002"/>
            <a:chOff x="0" y="0"/>
            <a:chExt cx="2240001" cy="62666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751916" y="3408502"/>
            <a:ext cx="38005" cy="290036"/>
            <a:chOff x="0" y="0"/>
            <a:chExt cx="50673" cy="38671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41" id="141"/>
          <p:cNvSpPr txBox="true"/>
          <p:nvPr/>
        </p:nvSpPr>
        <p:spPr>
          <a:xfrm rot="0">
            <a:off x="11993356" y="3405168"/>
            <a:ext cx="5355117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Plan to Year End, Sep to Dec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1751916" y="3798503"/>
            <a:ext cx="5688044" cy="419957"/>
            <a:chOff x="0" y="0"/>
            <a:chExt cx="7584059" cy="55994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584059" cy="559943"/>
            </a:xfrm>
            <a:custGeom>
              <a:avLst/>
              <a:gdLst/>
              <a:ahLst/>
              <a:cxnLst/>
              <a:rect r="r" b="b" t="t" l="l"/>
              <a:pathLst>
                <a:path h="55994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1871912" y="3798503"/>
            <a:ext cx="3741601" cy="419995"/>
            <a:chOff x="0" y="0"/>
            <a:chExt cx="4988801" cy="55999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988814" cy="559943"/>
            </a:xfrm>
            <a:custGeom>
              <a:avLst/>
              <a:gdLst/>
              <a:ahLst/>
              <a:cxnLst/>
              <a:rect r="r" b="b" t="t" l="l"/>
              <a:pathLst>
                <a:path h="559943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474" r="0" b="-123486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871912" y="3791360"/>
            <a:ext cx="3741601" cy="427139"/>
            <a:chOff x="0" y="0"/>
            <a:chExt cx="4988801" cy="56951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988801" cy="569518"/>
            </a:xfrm>
            <a:custGeom>
              <a:avLst/>
              <a:gdLst/>
              <a:ahLst/>
              <a:cxnLst/>
              <a:rect r="r" b="b" t="t" l="l"/>
              <a:pathLst>
                <a:path h="569518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682" r="0" b="-12068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49888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733509" y="3798503"/>
            <a:ext cx="1586398" cy="419995"/>
            <a:chOff x="0" y="0"/>
            <a:chExt cx="2115198" cy="55999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15185" cy="559943"/>
            </a:xfrm>
            <a:custGeom>
              <a:avLst/>
              <a:gdLst/>
              <a:ahLst/>
              <a:cxnLst/>
              <a:rect r="r" b="b" t="t" l="l"/>
              <a:pathLst>
                <a:path h="559943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549" r="0" b="-23558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5733509" y="3791360"/>
            <a:ext cx="1586398" cy="427139"/>
            <a:chOff x="0" y="0"/>
            <a:chExt cx="2115198" cy="56951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115197" cy="569518"/>
            </a:xfrm>
            <a:custGeom>
              <a:avLst/>
              <a:gdLst/>
              <a:ahLst/>
              <a:cxnLst/>
              <a:rect r="r" b="b" t="t" l="l"/>
              <a:pathLst>
                <a:path h="569518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67" r="0" b="-2236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2115198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1751916" y="4218499"/>
            <a:ext cx="5688044" cy="469964"/>
            <a:chOff x="0" y="0"/>
            <a:chExt cx="7584059" cy="62661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1871912" y="4218499"/>
            <a:ext cx="3741601" cy="470002"/>
            <a:chOff x="0" y="0"/>
            <a:chExt cx="4988801" cy="62666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871912" y="4218499"/>
            <a:ext cx="3741601" cy="470002"/>
            <a:chOff x="0" y="0"/>
            <a:chExt cx="4988801" cy="62666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Baseline sponsor ads, Sep to Dec (Ignite)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733509" y="4218499"/>
            <a:ext cx="1586398" cy="470002"/>
            <a:chOff x="0" y="0"/>
            <a:chExt cx="2115198" cy="62666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5733509" y="4218499"/>
            <a:ext cx="1586398" cy="470002"/>
            <a:chOff x="0" y="0"/>
            <a:chExt cx="2115198" cy="6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$18,400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1751916" y="4688500"/>
            <a:ext cx="5688044" cy="469964"/>
            <a:chOff x="0" y="0"/>
            <a:chExt cx="7584059" cy="62661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1871912" y="4688500"/>
            <a:ext cx="3741601" cy="470002"/>
            <a:chOff x="0" y="0"/>
            <a:chExt cx="4988801" cy="62666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871912" y="4688500"/>
            <a:ext cx="3741601" cy="470002"/>
            <a:chOff x="0" y="0"/>
            <a:chExt cx="4988801" cy="62666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 and ads, Sep to Dec (Ignite)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5733509" y="4688500"/>
            <a:ext cx="1586398" cy="470002"/>
            <a:chOff x="0" y="0"/>
            <a:chExt cx="2115198" cy="62666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5733509" y="4688500"/>
            <a:ext cx="1586398" cy="470002"/>
            <a:chOff x="0" y="0"/>
            <a:chExt cx="2115198" cy="62666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$3,200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1751916" y="5158502"/>
            <a:ext cx="5688044" cy="469964"/>
            <a:chOff x="0" y="0"/>
            <a:chExt cx="7584059" cy="62661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1871912" y="5158502"/>
            <a:ext cx="3741601" cy="470002"/>
            <a:chOff x="0" y="0"/>
            <a:chExt cx="4988801" cy="626669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871912" y="5158502"/>
            <a:ext cx="3741601" cy="470002"/>
            <a:chOff x="0" y="0"/>
            <a:chExt cx="4988801" cy="626669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November app release coverage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5733509" y="5158502"/>
            <a:ext cx="1586398" cy="470002"/>
            <a:chOff x="0" y="0"/>
            <a:chExt cx="2115198" cy="62666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5733509" y="5158502"/>
            <a:ext cx="1586398" cy="470002"/>
            <a:chOff x="0" y="0"/>
            <a:chExt cx="2115198" cy="626669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$9,010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1751916" y="5628503"/>
            <a:ext cx="5688044" cy="469964"/>
            <a:chOff x="0" y="0"/>
            <a:chExt cx="7584059" cy="62661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1871912" y="5628503"/>
            <a:ext cx="3741601" cy="470002"/>
            <a:chOff x="0" y="0"/>
            <a:chExt cx="4988801" cy="626669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1871912" y="5628503"/>
            <a:ext cx="3741601" cy="470002"/>
            <a:chOff x="0" y="0"/>
            <a:chExt cx="4988801" cy="626669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$5,000 campaign prize, drawn 10 Jan 2027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733509" y="5628503"/>
            <a:ext cx="1586398" cy="470002"/>
            <a:chOff x="0" y="0"/>
            <a:chExt cx="2115198" cy="62666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5733509" y="5628503"/>
            <a:ext cx="1586398" cy="470002"/>
            <a:chOff x="0" y="0"/>
            <a:chExt cx="2115198" cy="626669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$5,000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751916" y="6098496"/>
            <a:ext cx="5688044" cy="469964"/>
            <a:chOff x="0" y="0"/>
            <a:chExt cx="7584059" cy="62661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BECEC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1751916" y="6098496"/>
            <a:ext cx="34004" cy="469964"/>
            <a:chOff x="0" y="0"/>
            <a:chExt cx="45339" cy="62661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5339" cy="626618"/>
            </a:xfrm>
            <a:custGeom>
              <a:avLst/>
              <a:gdLst/>
              <a:ahLst/>
              <a:cxnLst/>
              <a:rect r="r" b="b" t="t" l="l"/>
              <a:pathLst>
                <a:path h="626618" w="45339">
                  <a:moveTo>
                    <a:pt x="0" y="0"/>
                  </a:moveTo>
                  <a:lnTo>
                    <a:pt x="45339" y="0"/>
                  </a:lnTo>
                  <a:lnTo>
                    <a:pt x="4533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1871912" y="6098496"/>
            <a:ext cx="3741601" cy="470002"/>
            <a:chOff x="0" y="0"/>
            <a:chExt cx="4988801" cy="62666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11871912" y="6098496"/>
            <a:ext cx="3741601" cy="470002"/>
            <a:chOff x="0" y="0"/>
            <a:chExt cx="4988801" cy="626669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4988801" cy="626667"/>
            </a:xfrm>
            <a:custGeom>
              <a:avLst/>
              <a:gdLst/>
              <a:ahLst/>
              <a:cxnLst/>
              <a:rect r="r" b="b" t="t" l="l"/>
              <a:pathLst>
                <a:path h="626667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7"/>
                  </a:lnTo>
                  <a:lnTo>
                    <a:pt x="0" y="62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7" r="0" b="-105117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b="true" sz="1050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Fintech Forward sponsorship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5733509" y="6098496"/>
            <a:ext cx="1586398" cy="470002"/>
            <a:chOff x="0" y="0"/>
            <a:chExt cx="2115198" cy="62666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5733509" y="6098496"/>
            <a:ext cx="1586398" cy="470002"/>
            <a:chOff x="0" y="0"/>
            <a:chExt cx="2115198" cy="626669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b="true" sz="1149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$26,500</a:t>
              </a: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11751916" y="6568497"/>
            <a:ext cx="5688044" cy="469964"/>
            <a:chOff x="0" y="0"/>
            <a:chExt cx="7584059" cy="626618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1751916" y="6568497"/>
            <a:ext cx="5688044" cy="18002"/>
            <a:chOff x="0" y="0"/>
            <a:chExt cx="7584059" cy="24003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584059" cy="24003"/>
            </a:xfrm>
            <a:custGeom>
              <a:avLst/>
              <a:gdLst/>
              <a:ahLst/>
              <a:cxnLst/>
              <a:rect r="r" b="b" t="t" l="l"/>
              <a:pathLst>
                <a:path h="2400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1871912" y="6568497"/>
            <a:ext cx="3741601" cy="470002"/>
            <a:chOff x="0" y="0"/>
            <a:chExt cx="4988801" cy="626669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11871912" y="6568497"/>
            <a:ext cx="3741601" cy="470002"/>
            <a:chOff x="0" y="0"/>
            <a:chExt cx="4988801" cy="626669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224" id="22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planned</a:t>
              </a:r>
            </a:p>
          </p:txBody>
        </p:sp>
      </p:grpSp>
      <p:grpSp>
        <p:nvGrpSpPr>
          <p:cNvPr name="Group 225" id="225"/>
          <p:cNvGrpSpPr/>
          <p:nvPr/>
        </p:nvGrpSpPr>
        <p:grpSpPr>
          <a:xfrm rot="0">
            <a:off x="15733509" y="6568497"/>
            <a:ext cx="1586398" cy="470002"/>
            <a:chOff x="0" y="0"/>
            <a:chExt cx="2115198" cy="626669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5733509" y="6568497"/>
            <a:ext cx="1586398" cy="470002"/>
            <a:chOff x="0" y="0"/>
            <a:chExt cx="2115198" cy="62666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851916" y="7604287"/>
            <a:ext cx="16587978" cy="739997"/>
            <a:chOff x="0" y="0"/>
            <a:chExt cx="22117304" cy="986663"/>
          </a:xfrm>
        </p:grpSpPr>
        <p:grpSp>
          <p:nvGrpSpPr>
            <p:cNvPr name="Group 231" id="231"/>
            <p:cNvGrpSpPr/>
            <p:nvPr/>
          </p:nvGrpSpPr>
          <p:grpSpPr>
            <a:xfrm rot="0">
              <a:off x="0" y="0"/>
              <a:ext cx="22117304" cy="986663"/>
              <a:chOff x="0" y="0"/>
              <a:chExt cx="22117304" cy="986663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22117304" cy="986663"/>
              </a:xfrm>
              <a:custGeom>
                <a:avLst/>
                <a:gdLst/>
                <a:ahLst/>
                <a:cxnLst/>
                <a:rect r="r" b="b" t="t" l="l"/>
                <a:pathLst>
                  <a:path h="986663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986663"/>
                    </a:lnTo>
                    <a:lnTo>
                      <a:pt x="0" y="986663"/>
                    </a:lnTo>
                    <a:close/>
                  </a:path>
                </a:pathLst>
              </a:custGeom>
              <a:solidFill>
                <a:srgbClr val="EEF1F8"/>
              </a:solidFill>
            </p:spPr>
          </p:sp>
        </p:grpSp>
        <p:grpSp>
          <p:nvGrpSpPr>
            <p:cNvPr name="Group 233" id="233"/>
            <p:cNvGrpSpPr/>
            <p:nvPr/>
          </p:nvGrpSpPr>
          <p:grpSpPr>
            <a:xfrm rot="0">
              <a:off x="0" y="0"/>
              <a:ext cx="53340" cy="986663"/>
              <a:chOff x="0" y="0"/>
              <a:chExt cx="53340" cy="986663"/>
            </a:xfrm>
          </p:grpSpPr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53340" cy="986663"/>
              </a:xfrm>
              <a:custGeom>
                <a:avLst/>
                <a:gdLst/>
                <a:ahLst/>
                <a:cxnLst/>
                <a:rect r="r" b="b" t="t" l="l"/>
                <a:pathLst>
                  <a:path h="986663" w="53340">
                    <a:moveTo>
                      <a:pt x="0" y="0"/>
                    </a:moveTo>
                    <a:lnTo>
                      <a:pt x="53340" y="0"/>
                    </a:lnTo>
                    <a:lnTo>
                      <a:pt x="53340" y="986663"/>
                    </a:lnTo>
                    <a:lnTo>
                      <a:pt x="0" y="986663"/>
                    </a:lnTo>
                    <a:close/>
                  </a:path>
                </a:pathLst>
              </a:custGeom>
              <a:solidFill>
                <a:srgbClr val="D4AF37"/>
              </a:solidFill>
            </p:spPr>
          </p:sp>
        </p:grpSp>
        <p:sp>
          <p:nvSpPr>
            <p:cNvPr name="TextBox 235" id="235"/>
            <p:cNvSpPr txBox="true"/>
            <p:nvPr/>
          </p:nvSpPr>
          <p:spPr>
            <a:xfrm rot="0">
              <a:off x="388582" y="178740"/>
              <a:ext cx="21340153" cy="260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Agency Retainers, outside the $80,000 budget</a:t>
              </a:r>
            </a:p>
          </p:txBody>
        </p:sp>
        <p:sp>
          <p:nvSpPr>
            <p:cNvPr name="TextBox 236" id="236"/>
            <p:cNvSpPr txBox="true"/>
            <p:nvPr/>
          </p:nvSpPr>
          <p:spPr>
            <a:xfrm rot="0">
              <a:off x="388582" y="594297"/>
              <a:ext cx="21340153" cy="238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78"/>
                </a:lnSpc>
              </a:pPr>
              <a:r>
                <a:rPr lang="en-US" sz="11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TRACCS, 5 months to 19 July  $37,895        24F social management, from August  $6,413 a month        Ignite ads management, from August  $1,020 a month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850001" y="8511043"/>
            <a:ext cx="16587978" cy="546405"/>
            <a:chOff x="0" y="0"/>
            <a:chExt cx="22117304" cy="728540"/>
          </a:xfrm>
        </p:grpSpPr>
        <p:grpSp>
          <p:nvGrpSpPr>
            <p:cNvPr name="Group 238" id="238"/>
            <p:cNvGrpSpPr/>
            <p:nvPr/>
          </p:nvGrpSpPr>
          <p:grpSpPr>
            <a:xfrm rot="0">
              <a:off x="0" y="15594"/>
              <a:ext cx="22117304" cy="712947"/>
              <a:chOff x="0" y="0"/>
              <a:chExt cx="22117304" cy="712947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0" y="0"/>
                <a:ext cx="22117304" cy="712947"/>
              </a:xfrm>
              <a:custGeom>
                <a:avLst/>
                <a:gdLst/>
                <a:ahLst/>
                <a:cxnLst/>
                <a:rect r="r" b="b" t="t" l="l"/>
                <a:pathLst>
                  <a:path h="712947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712947"/>
                    </a:lnTo>
                    <a:lnTo>
                      <a:pt x="0" y="712947"/>
                    </a:lnTo>
                    <a:close/>
                  </a:path>
                </a:pathLst>
              </a:custGeom>
              <a:solidFill>
                <a:srgbClr val="FBF6E6"/>
              </a:solidFill>
            </p:spPr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0" y="15594"/>
              <a:ext cx="66675" cy="712947"/>
              <a:chOff x="0" y="0"/>
              <a:chExt cx="66675" cy="712947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66675" cy="712947"/>
              </a:xfrm>
              <a:custGeom>
                <a:avLst/>
                <a:gdLst/>
                <a:ahLst/>
                <a:cxnLst/>
                <a:rect r="r" b="b" t="t" l="l"/>
                <a:pathLst>
                  <a:path h="712947" w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712947"/>
                    </a:lnTo>
                    <a:lnTo>
                      <a:pt x="0" y="712947"/>
                    </a:lnTo>
                    <a:close/>
                  </a:path>
                </a:pathLst>
              </a:custGeom>
              <a:solidFill>
                <a:srgbClr val="D4AF37"/>
              </a:solidFill>
            </p:spPr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426669" y="15594"/>
              <a:ext cx="21263991" cy="392910"/>
              <a:chOff x="0" y="0"/>
              <a:chExt cx="21263991" cy="392910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21263990" cy="392910"/>
              </a:xfrm>
              <a:custGeom>
                <a:avLst/>
                <a:gdLst/>
                <a:ahLst/>
                <a:cxnLst/>
                <a:rect r="r" b="b" t="t" l="l"/>
                <a:pathLst>
                  <a:path h="392910" w="21263990">
                    <a:moveTo>
                      <a:pt x="0" y="0"/>
                    </a:moveTo>
                    <a:lnTo>
                      <a:pt x="21263990" y="0"/>
                    </a:lnTo>
                    <a:lnTo>
                      <a:pt x="21263990" y="392910"/>
                    </a:lnTo>
                    <a:lnTo>
                      <a:pt x="0" y="39291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003781" r="0" b="-1003781"/>
                </a:stretch>
              </a:blipFill>
            </p:spPr>
          </p:sp>
        </p:grpSp>
        <p:grpSp>
          <p:nvGrpSpPr>
            <p:cNvPr name="Group 244" id="244"/>
            <p:cNvGrpSpPr/>
            <p:nvPr/>
          </p:nvGrpSpPr>
          <p:grpSpPr>
            <a:xfrm rot="0">
              <a:off x="426669" y="0"/>
              <a:ext cx="21264004" cy="408509"/>
              <a:chOff x="0" y="0"/>
              <a:chExt cx="21264004" cy="408509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21263990" cy="408504"/>
              </a:xfrm>
              <a:custGeom>
                <a:avLst/>
                <a:gdLst/>
                <a:ahLst/>
                <a:cxnLst/>
                <a:rect r="r" b="b" t="t" l="l"/>
                <a:pathLst>
                  <a:path h="408504" w="21263990">
                    <a:moveTo>
                      <a:pt x="0" y="0"/>
                    </a:moveTo>
                    <a:lnTo>
                      <a:pt x="21263990" y="0"/>
                    </a:lnTo>
                    <a:lnTo>
                      <a:pt x="21263990" y="408504"/>
                    </a:lnTo>
                    <a:lnTo>
                      <a:pt x="0" y="408504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963556" r="0" b="-963556"/>
                </a:stretch>
              </a:blipFill>
            </p:spPr>
          </p:sp>
        </p:grpSp>
        <p:grpSp>
          <p:nvGrpSpPr>
            <p:cNvPr name="Group 246" id="246"/>
            <p:cNvGrpSpPr/>
            <p:nvPr/>
          </p:nvGrpSpPr>
          <p:grpSpPr>
            <a:xfrm rot="0">
              <a:off x="426669" y="56661"/>
              <a:ext cx="21264004" cy="630812"/>
              <a:chOff x="0" y="0"/>
              <a:chExt cx="21264004" cy="630812"/>
            </a:xfrm>
          </p:grpSpPr>
          <p:sp>
            <p:nvSpPr>
              <p:cNvPr name="Freeform 247" id="247"/>
              <p:cNvSpPr/>
              <p:nvPr/>
            </p:nvSpPr>
            <p:spPr>
              <a:xfrm flipH="false" flipV="false" rot="0">
                <a:off x="0" y="0"/>
                <a:ext cx="21264004" cy="630812"/>
              </a:xfrm>
              <a:custGeom>
                <a:avLst/>
                <a:gdLst/>
                <a:ahLst/>
                <a:cxnLst/>
                <a:rect r="r" b="b" t="t" l="l"/>
                <a:pathLst>
                  <a:path h="630812" w="21264004">
                    <a:moveTo>
                      <a:pt x="0" y="0"/>
                    </a:moveTo>
                    <a:lnTo>
                      <a:pt x="21264004" y="0"/>
                    </a:lnTo>
                    <a:lnTo>
                      <a:pt x="21264004" y="630812"/>
                    </a:lnTo>
                    <a:lnTo>
                      <a:pt x="0" y="6308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574687" r="0" b="-638952"/>
                </a:stretch>
              </a:blipFill>
            </p:spPr>
          </p:sp>
          <p:sp>
            <p:nvSpPr>
              <p:cNvPr name="TextBox 248" id="248"/>
              <p:cNvSpPr txBox="true"/>
              <p:nvPr/>
            </p:nvSpPr>
            <p:spPr>
              <a:xfrm>
                <a:off x="0" y="-38100"/>
                <a:ext cx="21264004" cy="6689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727"/>
                  </a:lnSpc>
                </a:pPr>
                <a:r>
                  <a:rPr lang="en-US" sz="1200" b="true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Against the agreed $80,000 budget, $70,092 is spent or committed, leaving $9,908. Adding the $30,000 takes the campaign budget to $100,092, which is $20,092 above the original budget. The plan is therefore funded from the remaining $127,820.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DAHVcVmHYw4</dc:identifier>
  <dcterms:modified xsi:type="dcterms:W3CDTF">2011-08-01T06:04:30Z</dcterms:modified>
  <cp:revision>1</cp:revision>
  <dc:title>eMYAA Board of Directors Update - 17.09.2026</dc:title>
</cp:coreProperties>
</file>