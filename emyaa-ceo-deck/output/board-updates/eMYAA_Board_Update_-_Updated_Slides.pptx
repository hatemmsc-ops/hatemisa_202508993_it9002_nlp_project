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5"/>
  </p:notesMasterIdLst>
  <p:sldIdLst>
    <p:sldId id="258" r:id="rId8"/>
    <p:sldId id="264" r:id="rId14"/>
    <p:sldId id="265" r:id="rId15"/>
  </p:sldIdLst>
  <p:sldSz cx="18288000" cy="10287000"/>
  <p:notesSz cx="6858000" cy="9144000"/>
  <p:embeddedFontLst>
    <p:embeddedFont>
      <p:font typeface="Exo 2" charset="1" panose="00000000000000000000"/>
      <p:regular r:id="rId20"/>
    </p:embeddedFont>
    <p:embeddedFont>
      <p:font typeface="Exo 2 Bold" charset="1" panose="00000000000000000000"/>
      <p:regular r:id="rId21"/>
    </p:embeddedFont>
    <p:embeddedFont>
      <p:font typeface="Calibri (MS) Bold" charset="1" panose="020F0702030404030204"/>
      <p:regular r:id="rId22"/>
    </p:embeddedFont>
    <p:embeddedFont>
      <p:font typeface="Exo 2 Bold Italics" charset="1" panose="00000000000000000000"/>
      <p:regular r:id="rId23"/>
    </p:embeddedFont>
    <p:embeddedFont>
      <p:font typeface="Exo 2 Italics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8" Type="http://schemas.openxmlformats.org/officeDocument/2006/relationships/slide" Target="slides/slide3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notesMaster" Target="notesMasters/notesMaster1.xml"/><Relationship Id="rId26" Type="http://schemas.openxmlformats.org/officeDocument/2006/relationships/theme" Target="theme/theme2.xml"/><Relationship Id="rId28" Type="http://schemas.openxmlformats.org/officeDocument/2006/relationships/notesSlide" Target="notesSlides/notes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9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8.jpeg"/><Relationship Id="rId6" Type="http://schemas.openxmlformats.org/officeDocument/2006/relationships/image" Target="../media/image9.jpeg"/></Relationships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949958"/>
            <a:chOff x="0" y="0"/>
            <a:chExt cx="24384000" cy="2599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599944"/>
            </a:xfrm>
            <a:custGeom>
              <a:avLst/>
              <a:gdLst/>
              <a:ahLst/>
              <a:cxnLst/>
              <a:rect r="r" b="b" t="t" l="l"/>
              <a:pathLst>
                <a:path h="259994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599944"/>
                  </a:lnTo>
                  <a:lnTo>
                    <a:pt x="0" y="2599944"/>
                  </a:lnTo>
                  <a:close/>
                </a:path>
              </a:pathLst>
            </a:custGeom>
            <a:gradFill rotWithShape="true">
              <a:gsLst>
                <a:gs pos="0">
                  <a:srgbClr val="101B3B">
                    <a:alpha val="100000"/>
                  </a:srgbClr>
                </a:gs>
                <a:gs pos="100000">
                  <a:srgbClr val="22376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949996"/>
            <a:ext cx="18288000" cy="36004"/>
            <a:chOff x="0" y="0"/>
            <a:chExt cx="24384000" cy="480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48006"/>
            </a:xfrm>
            <a:custGeom>
              <a:avLst/>
              <a:gdLst/>
              <a:ahLst/>
              <a:cxnLst/>
              <a:rect r="r" b="b" t="t" l="l"/>
              <a:pathLst>
                <a:path h="4800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8006"/>
                  </a:lnTo>
                  <a:lnTo>
                    <a:pt x="0" y="48006"/>
                  </a:lnTo>
                  <a:close/>
                </a:path>
              </a:pathLst>
            </a:custGeom>
            <a:solidFill>
              <a:srgbClr val="D4AF37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0001" y="451428"/>
            <a:ext cx="13800001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279">
                <a:solidFill>
                  <a:srgbClr val="D4AF37"/>
                </a:solidFill>
                <a:latin typeface="Exo 2 Bold"/>
                <a:ea typeface="Exo 2 Bold"/>
                <a:cs typeface="Exo 2 Bold"/>
                <a:sym typeface="Exo 2 Bold"/>
              </a:rPr>
              <a:t>PERFORMANCE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0001" y="760000"/>
            <a:ext cx="1380000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8"/>
              </a:lnSpc>
            </a:pPr>
            <a:r>
              <a:rPr lang="en-US" b="true" sz="3740" spc="-40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Clients Are Ahead. Money Is Not.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0001" y="1480004"/>
            <a:ext cx="14599996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6"/>
              </a:lnSpc>
            </a:pPr>
            <a:r>
              <a:rPr lang="en-US" sz="1530">
                <a:solidFill>
                  <a:srgbClr val="C6CFE4"/>
                </a:solidFill>
                <a:latin typeface="Exo 2"/>
                <a:ea typeface="Exo 2"/>
                <a:cs typeface="Exo 2"/>
                <a:sym typeface="Exo 2"/>
              </a:rPr>
              <a:t>Four months live, as at 29 September 2026. Onboarding is running ahead of plan, and deposits are the gap this strategy closes.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449998" y="690001"/>
            <a:ext cx="1989963" cy="573024"/>
            <a:chOff x="0" y="0"/>
            <a:chExt cx="2653284" cy="764032"/>
          </a:xfrm>
        </p:grpSpPr>
        <p:sp>
          <p:nvSpPr>
            <p:cNvPr name="Freeform 10" id="10" descr="image.png"/>
            <p:cNvSpPr/>
            <p:nvPr/>
          </p:nvSpPr>
          <p:spPr>
            <a:xfrm flipH="false" flipV="false" rot="0">
              <a:off x="0" y="0"/>
              <a:ext cx="2653284" cy="764032"/>
            </a:xfrm>
            <a:custGeom>
              <a:avLst/>
              <a:gdLst/>
              <a:ahLst/>
              <a:cxnLst/>
              <a:rect r="r" b="b" t="t" l="l"/>
              <a:pathLst>
                <a:path h="764032" w="2653284">
                  <a:moveTo>
                    <a:pt x="0" y="0"/>
                  </a:moveTo>
                  <a:lnTo>
                    <a:pt x="2653284" y="0"/>
                  </a:lnTo>
                  <a:lnTo>
                    <a:pt x="2653284" y="764032"/>
                  </a:lnTo>
                  <a:lnTo>
                    <a:pt x="0" y="764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99" r="0" b="-299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850001" y="9771421"/>
            <a:ext cx="10000002" cy="328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6"/>
              </a:lnSpc>
            </a:pPr>
            <a:r>
              <a:rPr lang="en-US" sz="939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eMYAA Trading Platform  |  Board of Directors Update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699999" y="9799996"/>
            <a:ext cx="700002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12"/>
              </a:lnSpc>
            </a:pPr>
            <a:r>
              <a:rPr lang="en-US" sz="1010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3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5711488" y="9398508"/>
            <a:ext cx="1547812" cy="550335"/>
          </a:xfrm>
          <a:custGeom>
            <a:avLst/>
            <a:gdLst/>
            <a:ahLst/>
            <a:cxnLst/>
            <a:rect r="r" b="b" t="t" l="l"/>
            <a:pathLst>
              <a:path h="550335" w="1547812">
                <a:moveTo>
                  <a:pt x="0" y="0"/>
                </a:moveTo>
                <a:lnTo>
                  <a:pt x="1547812" y="0"/>
                </a:lnTo>
                <a:lnTo>
                  <a:pt x="1547812" y="550335"/>
                </a:lnTo>
                <a:lnTo>
                  <a:pt x="0" y="5503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574" t="0" r="-574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842858" y="2288096"/>
            <a:ext cx="5351050" cy="1343787"/>
            <a:chOff x="0" y="0"/>
            <a:chExt cx="7134733" cy="17917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134733" cy="1791716"/>
            </a:xfrm>
            <a:custGeom>
              <a:avLst/>
              <a:gdLst/>
              <a:ahLst/>
              <a:cxnLst/>
              <a:rect r="r" b="b" t="t" l="l"/>
              <a:pathLst>
                <a:path h="1791716" w="7134733">
                  <a:moveTo>
                    <a:pt x="0" y="0"/>
                  </a:moveTo>
                  <a:lnTo>
                    <a:pt x="7134733" y="0"/>
                  </a:lnTo>
                  <a:lnTo>
                    <a:pt x="7134733" y="1791716"/>
                  </a:lnTo>
                  <a:lnTo>
                    <a:pt x="0" y="1791716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8F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856374" y="2300002"/>
            <a:ext cx="5323999" cy="50006"/>
            <a:chOff x="0" y="0"/>
            <a:chExt cx="7098665" cy="6667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098665" cy="66675"/>
            </a:xfrm>
            <a:custGeom>
              <a:avLst/>
              <a:gdLst/>
              <a:ahLst/>
              <a:cxnLst/>
              <a:rect r="r" b="b" t="t" l="l"/>
              <a:pathLst>
                <a:path h="66675" w="7098665">
                  <a:moveTo>
                    <a:pt x="0" y="0"/>
                  </a:moveTo>
                  <a:lnTo>
                    <a:pt x="7098665" y="0"/>
                  </a:lnTo>
                  <a:lnTo>
                    <a:pt x="7098665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1BA97C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257471" y="2454773"/>
            <a:ext cx="4521794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75"/>
              </a:lnSpc>
            </a:pPr>
            <a:r>
              <a:rPr lang="en-US" sz="347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61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57471" y="3031427"/>
            <a:ext cx="452179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Clients onboarded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57471" y="3281429"/>
            <a:ext cx="452179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156% of the 39 target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480743" y="2288096"/>
            <a:ext cx="5351050" cy="1343787"/>
            <a:chOff x="0" y="0"/>
            <a:chExt cx="7134733" cy="17917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134733" cy="1791716"/>
            </a:xfrm>
            <a:custGeom>
              <a:avLst/>
              <a:gdLst/>
              <a:ahLst/>
              <a:cxnLst/>
              <a:rect r="r" b="b" t="t" l="l"/>
              <a:pathLst>
                <a:path h="1791716" w="7134733">
                  <a:moveTo>
                    <a:pt x="0" y="0"/>
                  </a:moveTo>
                  <a:lnTo>
                    <a:pt x="7134733" y="0"/>
                  </a:lnTo>
                  <a:lnTo>
                    <a:pt x="7134733" y="1791716"/>
                  </a:lnTo>
                  <a:lnTo>
                    <a:pt x="0" y="1791716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8F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494259" y="2300002"/>
            <a:ext cx="5323999" cy="50006"/>
            <a:chOff x="0" y="0"/>
            <a:chExt cx="7098665" cy="6667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8665" cy="66675"/>
            </a:xfrm>
            <a:custGeom>
              <a:avLst/>
              <a:gdLst/>
              <a:ahLst/>
              <a:cxnLst/>
              <a:rect r="r" b="b" t="t" l="l"/>
              <a:pathLst>
                <a:path h="66675" w="7098665">
                  <a:moveTo>
                    <a:pt x="0" y="0"/>
                  </a:moveTo>
                  <a:lnTo>
                    <a:pt x="7098665" y="0"/>
                  </a:lnTo>
                  <a:lnTo>
                    <a:pt x="7098665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9A7B1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6895357" y="2454773"/>
            <a:ext cx="4521794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75"/>
              </a:lnSpc>
            </a:pPr>
            <a:r>
              <a:rPr lang="en-US" sz="347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$12,206.00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895357" y="3031427"/>
            <a:ext cx="452179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Total deposits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895357" y="3281429"/>
            <a:ext cx="452179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5.18% of the $235,660 target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8874" y="2288096"/>
            <a:ext cx="5351050" cy="1343787"/>
            <a:chOff x="0" y="0"/>
            <a:chExt cx="7134733" cy="17917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134733" cy="1791716"/>
            </a:xfrm>
            <a:custGeom>
              <a:avLst/>
              <a:gdLst/>
              <a:ahLst/>
              <a:cxnLst/>
              <a:rect r="r" b="b" t="t" l="l"/>
              <a:pathLst>
                <a:path h="1791716" w="7134733">
                  <a:moveTo>
                    <a:pt x="0" y="0"/>
                  </a:moveTo>
                  <a:lnTo>
                    <a:pt x="7134733" y="0"/>
                  </a:lnTo>
                  <a:lnTo>
                    <a:pt x="7134733" y="1791716"/>
                  </a:lnTo>
                  <a:lnTo>
                    <a:pt x="0" y="1791716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8F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112390" y="2300002"/>
            <a:ext cx="5323999" cy="50006"/>
            <a:chOff x="0" y="0"/>
            <a:chExt cx="7098665" cy="666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98665" cy="66675"/>
            </a:xfrm>
            <a:custGeom>
              <a:avLst/>
              <a:gdLst/>
              <a:ahLst/>
              <a:cxnLst/>
              <a:rect r="r" b="b" t="t" l="l"/>
              <a:pathLst>
                <a:path h="66675" w="7098665">
                  <a:moveTo>
                    <a:pt x="0" y="0"/>
                  </a:moveTo>
                  <a:lnTo>
                    <a:pt x="7098665" y="0"/>
                  </a:lnTo>
                  <a:lnTo>
                    <a:pt x="7098665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13497" y="2454773"/>
            <a:ext cx="4521794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75"/>
              </a:lnSpc>
            </a:pPr>
            <a:r>
              <a:rPr lang="en-US" sz="347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$200.10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513497" y="3031427"/>
            <a:ext cx="452179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Average deposit per client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13497" y="3281429"/>
            <a:ext cx="4521794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Across all 61 onboarded clients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838095" y="4388091"/>
            <a:ext cx="8207788" cy="4873847"/>
            <a:chOff x="0" y="0"/>
            <a:chExt cx="10943717" cy="649846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43717" cy="6498463"/>
            </a:xfrm>
            <a:custGeom>
              <a:avLst/>
              <a:gdLst/>
              <a:ahLst/>
              <a:cxnLst/>
              <a:rect r="r" b="b" t="t" l="l"/>
              <a:pathLst>
                <a:path h="6498463" w="10943717">
                  <a:moveTo>
                    <a:pt x="0" y="0"/>
                  </a:moveTo>
                  <a:lnTo>
                    <a:pt x="10943717" y="0"/>
                  </a:lnTo>
                  <a:lnTo>
                    <a:pt x="10943717" y="6498463"/>
                  </a:lnTo>
                  <a:lnTo>
                    <a:pt x="0" y="6498463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8F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850001" y="4399998"/>
            <a:ext cx="8183975" cy="50006"/>
            <a:chOff x="0" y="0"/>
            <a:chExt cx="10911967" cy="6667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911967" cy="66675"/>
            </a:xfrm>
            <a:custGeom>
              <a:avLst/>
              <a:gdLst/>
              <a:ahLst/>
              <a:cxnLst/>
              <a:rect r="r" b="b" t="t" l="l"/>
              <a:pathLst>
                <a:path h="66675" w="10911967">
                  <a:moveTo>
                    <a:pt x="0" y="0"/>
                  </a:moveTo>
                  <a:lnTo>
                    <a:pt x="10911967" y="0"/>
                  </a:lnTo>
                  <a:lnTo>
                    <a:pt x="10911967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150001" y="4580001"/>
            <a:ext cx="818399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4"/>
              </a:lnSpc>
            </a:pPr>
            <a:r>
              <a:rPr lang="en-US" b="true" sz="1320" spc="140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CUMULATIVE CLIENTS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242098" y="4388091"/>
            <a:ext cx="8207788" cy="4873847"/>
            <a:chOff x="0" y="0"/>
            <a:chExt cx="10943717" cy="6498463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943717" cy="6498463"/>
            </a:xfrm>
            <a:custGeom>
              <a:avLst/>
              <a:gdLst/>
              <a:ahLst/>
              <a:cxnLst/>
              <a:rect r="r" b="b" t="t" l="l"/>
              <a:pathLst>
                <a:path h="6498463" w="10943717">
                  <a:moveTo>
                    <a:pt x="0" y="0"/>
                  </a:moveTo>
                  <a:lnTo>
                    <a:pt x="10943717" y="0"/>
                  </a:lnTo>
                  <a:lnTo>
                    <a:pt x="10943717" y="6498463"/>
                  </a:lnTo>
                  <a:lnTo>
                    <a:pt x="0" y="6498463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E3E8F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54004" y="4399998"/>
            <a:ext cx="8183975" cy="50006"/>
            <a:chOff x="0" y="0"/>
            <a:chExt cx="10911967" cy="6667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911967" cy="66675"/>
            </a:xfrm>
            <a:custGeom>
              <a:avLst/>
              <a:gdLst/>
              <a:ahLst/>
              <a:cxnLst/>
              <a:rect r="r" b="b" t="t" l="l"/>
              <a:pathLst>
                <a:path h="66675" w="10911967">
                  <a:moveTo>
                    <a:pt x="0" y="0"/>
                  </a:moveTo>
                  <a:lnTo>
                    <a:pt x="10911967" y="0"/>
                  </a:lnTo>
                  <a:lnTo>
                    <a:pt x="10911967" y="66675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9554004" y="4580001"/>
            <a:ext cx="818399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4"/>
              </a:lnSpc>
            </a:pPr>
            <a:r>
              <a:rPr lang="en-US" b="true" sz="1320" spc="140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CUMULATIVE DEPOSITS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269997" y="8349996"/>
            <a:ext cx="7350004" cy="9001"/>
            <a:chOff x="0" y="0"/>
            <a:chExt cx="9800006" cy="12002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69997" y="6924999"/>
            <a:ext cx="7350004" cy="9001"/>
            <a:chOff x="0" y="0"/>
            <a:chExt cx="9800006" cy="1200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269997" y="5500002"/>
            <a:ext cx="7350004" cy="9001"/>
            <a:chOff x="0" y="0"/>
            <a:chExt cx="9800006" cy="1200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2005003" y="5867743"/>
            <a:ext cx="5880002" cy="2482263"/>
            <a:chOff x="0" y="0"/>
            <a:chExt cx="7840002" cy="33096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839964" cy="3309620"/>
            </a:xfrm>
            <a:custGeom>
              <a:avLst/>
              <a:gdLst/>
              <a:ahLst/>
              <a:cxnLst/>
              <a:rect r="r" b="b" t="t" l="l"/>
              <a:pathLst>
                <a:path h="3309620" w="7839964">
                  <a:moveTo>
                    <a:pt x="0" y="3309620"/>
                  </a:moveTo>
                  <a:lnTo>
                    <a:pt x="0" y="2635504"/>
                  </a:lnTo>
                  <a:lnTo>
                    <a:pt x="1959991" y="1838706"/>
                  </a:lnTo>
                  <a:lnTo>
                    <a:pt x="3919982" y="1287145"/>
                  </a:lnTo>
                  <a:lnTo>
                    <a:pt x="5879973" y="429006"/>
                  </a:lnTo>
                  <a:lnTo>
                    <a:pt x="7839964" y="0"/>
                  </a:lnTo>
                  <a:lnTo>
                    <a:pt x="7839964" y="3309620"/>
                  </a:lnTo>
                  <a:close/>
                </a:path>
              </a:pathLst>
            </a:custGeom>
            <a:solidFill>
              <a:srgbClr val="E3F4EC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995478" y="6547733"/>
            <a:ext cx="5899052" cy="892435"/>
            <a:chOff x="0" y="0"/>
            <a:chExt cx="7865402" cy="118991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865364" cy="1189863"/>
            </a:xfrm>
            <a:custGeom>
              <a:avLst/>
              <a:gdLst/>
              <a:ahLst/>
              <a:cxnLst/>
              <a:rect r="r" b="b" t="t" l="l"/>
              <a:pathLst>
                <a:path h="1189863" w="7865364">
                  <a:moveTo>
                    <a:pt x="0" y="1189863"/>
                  </a:moveTo>
                  <a:lnTo>
                    <a:pt x="1966341" y="939419"/>
                  </a:lnTo>
                  <a:lnTo>
                    <a:pt x="3932682" y="688848"/>
                  </a:lnTo>
                  <a:lnTo>
                    <a:pt x="5899023" y="375793"/>
                  </a:lnTo>
                  <a:lnTo>
                    <a:pt x="7865364" y="0"/>
                  </a:lnTo>
                </a:path>
              </a:pathLst>
            </a:custGeom>
            <a:blipFill>
              <a:blip r:embed="rId5">
                <a:alphaModFix amt="0"/>
              </a:blip>
              <a:stretch>
                <a:fillRect l="0" t="-78800" r="0" b="-78804"/>
              </a:stretch>
            </a:blipFill>
            <a:ln w="1905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934004" y="7359644"/>
            <a:ext cx="141999" cy="141999"/>
            <a:chOff x="0" y="0"/>
            <a:chExt cx="189332" cy="189332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3403997" y="7175773"/>
            <a:ext cx="141999" cy="141999"/>
            <a:chOff x="0" y="0"/>
            <a:chExt cx="189332" cy="18933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4874000" y="6991902"/>
            <a:ext cx="141999" cy="141999"/>
            <a:chOff x="0" y="0"/>
            <a:chExt cx="189332" cy="189332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6344002" y="6762064"/>
            <a:ext cx="141999" cy="141999"/>
            <a:chOff x="0" y="0"/>
            <a:chExt cx="189332" cy="18933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7813996" y="6486258"/>
            <a:ext cx="141999" cy="141999"/>
            <a:chOff x="0" y="0"/>
            <a:chExt cx="189332" cy="18933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sp>
        <p:nvSpPr>
          <p:cNvPr name="TextBox 65" id="65"/>
          <p:cNvSpPr txBox="true"/>
          <p:nvPr/>
        </p:nvSpPr>
        <p:spPr>
          <a:xfrm rot="0">
            <a:off x="6585004" y="6647259"/>
            <a:ext cx="1450000" cy="260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84"/>
              </a:lnSpc>
            </a:pPr>
            <a:r>
              <a:rPr lang="en-US" sz="132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Target 39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5919997" y="4745003"/>
            <a:ext cx="299999" cy="28004"/>
            <a:chOff x="0" y="0"/>
            <a:chExt cx="399999" cy="37338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00050" cy="37338"/>
            </a:xfrm>
            <a:custGeom>
              <a:avLst/>
              <a:gdLst/>
              <a:ahLst/>
              <a:cxnLst/>
              <a:rect r="r" b="b" t="t" l="l"/>
              <a:pathLst>
                <a:path h="37338" w="400050">
                  <a:moveTo>
                    <a:pt x="0" y="0"/>
                  </a:moveTo>
                  <a:lnTo>
                    <a:pt x="400050" y="0"/>
                  </a:lnTo>
                  <a:lnTo>
                    <a:pt x="400050" y="37338"/>
                  </a:lnTo>
                  <a:lnTo>
                    <a:pt x="0" y="37338"/>
                  </a:lnTo>
                  <a:close/>
                </a:path>
              </a:pathLst>
            </a:custGeom>
            <a:solidFill>
              <a:srgbClr val="1BA97C"/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6280004" y="4630474"/>
            <a:ext cx="800005" cy="26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Actual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7069998" y="4745003"/>
            <a:ext cx="299999" cy="19002"/>
            <a:chOff x="0" y="0"/>
            <a:chExt cx="399999" cy="2533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00050" cy="25273"/>
            </a:xfrm>
            <a:custGeom>
              <a:avLst/>
              <a:gdLst/>
              <a:ahLst/>
              <a:cxnLst/>
              <a:rect r="r" b="b" t="t" l="l"/>
              <a:pathLst>
                <a:path h="25273" w="400050">
                  <a:moveTo>
                    <a:pt x="0" y="0"/>
                  </a:moveTo>
                  <a:lnTo>
                    <a:pt x="400050" y="0"/>
                  </a:lnTo>
                  <a:lnTo>
                    <a:pt x="400050" y="25273"/>
                  </a:lnTo>
                  <a:lnTo>
                    <a:pt x="0" y="25273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71" id="71"/>
          <p:cNvSpPr txBox="true"/>
          <p:nvPr/>
        </p:nvSpPr>
        <p:spPr>
          <a:xfrm rot="0">
            <a:off x="7429995" y="4630474"/>
            <a:ext cx="800005" cy="26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Target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987534" y="5850284"/>
            <a:ext cx="5914930" cy="2011537"/>
            <a:chOff x="0" y="0"/>
            <a:chExt cx="7886573" cy="268205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886573" cy="2682113"/>
            </a:xfrm>
            <a:custGeom>
              <a:avLst/>
              <a:gdLst/>
              <a:ahLst/>
              <a:cxnLst/>
              <a:rect r="r" b="b" t="t" l="l"/>
              <a:pathLst>
                <a:path h="2682113" w="7886573">
                  <a:moveTo>
                    <a:pt x="0" y="2682113"/>
                  </a:moveTo>
                  <a:lnTo>
                    <a:pt x="1971675" y="1871218"/>
                  </a:lnTo>
                  <a:lnTo>
                    <a:pt x="3943350" y="1309878"/>
                  </a:lnTo>
                  <a:lnTo>
                    <a:pt x="5914898" y="436626"/>
                  </a:lnTo>
                  <a:lnTo>
                    <a:pt x="7886573" y="0"/>
                  </a:lnTo>
                </a:path>
              </a:pathLst>
            </a:custGeom>
            <a:blipFill>
              <a:blip r:embed="rId5">
                <a:alphaModFix amt="0"/>
              </a:blip>
              <a:stretch>
                <a:fillRect l="0" t="-7295" r="0" b="-7293"/>
              </a:stretch>
            </a:blipFill>
            <a:ln w="34925" cap="sq">
              <a:solidFill>
                <a:srgbClr val="1BA97C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1919002" y="7758351"/>
            <a:ext cx="172002" cy="172002"/>
            <a:chOff x="0" y="0"/>
            <a:chExt cx="229337" cy="229337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76" id="76"/>
          <p:cNvSpPr txBox="true"/>
          <p:nvPr/>
        </p:nvSpPr>
        <p:spPr>
          <a:xfrm rot="0">
            <a:off x="1305001" y="7954356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11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504998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May</a:t>
            </a:r>
          </a:p>
        </p:txBody>
      </p:sp>
      <p:grpSp>
        <p:nvGrpSpPr>
          <p:cNvPr name="Group 78" id="78"/>
          <p:cNvGrpSpPr/>
          <p:nvPr/>
        </p:nvGrpSpPr>
        <p:grpSpPr>
          <a:xfrm rot="0">
            <a:off x="3389005" y="7160771"/>
            <a:ext cx="172002" cy="172002"/>
            <a:chOff x="0" y="0"/>
            <a:chExt cx="229337" cy="229337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80" id="80"/>
          <p:cNvSpPr txBox="true"/>
          <p:nvPr/>
        </p:nvSpPr>
        <p:spPr>
          <a:xfrm rot="0">
            <a:off x="2775004" y="6886775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24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3094996" y="6566773"/>
            <a:ext cx="760000" cy="250003"/>
            <a:chOff x="0" y="0"/>
            <a:chExt cx="1013333" cy="333337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118%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75000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Jun</a:t>
            </a:r>
          </a:p>
        </p:txBody>
      </p:sp>
      <p:grpSp>
        <p:nvGrpSpPr>
          <p:cNvPr name="Group 85" id="85"/>
          <p:cNvGrpSpPr/>
          <p:nvPr/>
        </p:nvGrpSpPr>
        <p:grpSpPr>
          <a:xfrm rot="0">
            <a:off x="4858998" y="6747062"/>
            <a:ext cx="172002" cy="172002"/>
            <a:chOff x="0" y="0"/>
            <a:chExt cx="229337" cy="229337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87" id="87"/>
          <p:cNvSpPr txBox="true"/>
          <p:nvPr/>
        </p:nvSpPr>
        <p:spPr>
          <a:xfrm rot="0">
            <a:off x="4244997" y="6473066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33</a:t>
            </a:r>
          </a:p>
        </p:txBody>
      </p:sp>
      <p:grpSp>
        <p:nvGrpSpPr>
          <p:cNvPr name="Group 88" id="88"/>
          <p:cNvGrpSpPr/>
          <p:nvPr/>
        </p:nvGrpSpPr>
        <p:grpSpPr>
          <a:xfrm rot="0">
            <a:off x="4564999" y="6153064"/>
            <a:ext cx="760000" cy="250003"/>
            <a:chOff x="0" y="0"/>
            <a:chExt cx="1013333" cy="333337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38%</a:t>
              </a:r>
            </a:p>
          </p:txBody>
        </p:sp>
      </p:grpSp>
      <p:sp>
        <p:nvSpPr>
          <p:cNvPr name="TextBox 91" id="91"/>
          <p:cNvSpPr txBox="true"/>
          <p:nvPr/>
        </p:nvSpPr>
        <p:spPr>
          <a:xfrm rot="0">
            <a:off x="4445003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Jul</a:t>
            </a:r>
          </a:p>
        </p:txBody>
      </p:sp>
      <p:grpSp>
        <p:nvGrpSpPr>
          <p:cNvPr name="Group 92" id="92"/>
          <p:cNvGrpSpPr/>
          <p:nvPr/>
        </p:nvGrpSpPr>
        <p:grpSpPr>
          <a:xfrm rot="0">
            <a:off x="6329001" y="6103515"/>
            <a:ext cx="172002" cy="172002"/>
            <a:chOff x="0" y="0"/>
            <a:chExt cx="229337" cy="229337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94" id="94"/>
          <p:cNvSpPr txBox="true"/>
          <p:nvPr/>
        </p:nvSpPr>
        <p:spPr>
          <a:xfrm rot="0">
            <a:off x="5715000" y="5829519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47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6035002" y="5509517"/>
            <a:ext cx="760000" cy="250003"/>
            <a:chOff x="0" y="0"/>
            <a:chExt cx="1013333" cy="333337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42%</a:t>
              </a:r>
            </a:p>
          </p:txBody>
        </p:sp>
      </p:grpSp>
      <p:sp>
        <p:nvSpPr>
          <p:cNvPr name="TextBox 98" id="98"/>
          <p:cNvSpPr txBox="true"/>
          <p:nvPr/>
        </p:nvSpPr>
        <p:spPr>
          <a:xfrm rot="0">
            <a:off x="5914996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Aug</a:t>
            </a:r>
          </a:p>
        </p:txBody>
      </p:sp>
      <p:grpSp>
        <p:nvGrpSpPr>
          <p:cNvPr name="Group 99" id="99"/>
          <p:cNvGrpSpPr/>
          <p:nvPr/>
        </p:nvGrpSpPr>
        <p:grpSpPr>
          <a:xfrm rot="0">
            <a:off x="7799003" y="5781742"/>
            <a:ext cx="172002" cy="172002"/>
            <a:chOff x="0" y="0"/>
            <a:chExt cx="229337" cy="229337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01" id="101"/>
          <p:cNvSpPr txBox="true"/>
          <p:nvPr/>
        </p:nvSpPr>
        <p:spPr>
          <a:xfrm rot="0">
            <a:off x="7185003" y="5507746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61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505005" y="5187744"/>
            <a:ext cx="760000" cy="250003"/>
            <a:chOff x="0" y="0"/>
            <a:chExt cx="1013333" cy="333337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30%</a:t>
              </a:r>
            </a:p>
          </p:txBody>
        </p:sp>
      </p:grpSp>
      <p:sp>
        <p:nvSpPr>
          <p:cNvPr name="TextBox 105" id="105"/>
          <p:cNvSpPr txBox="true"/>
          <p:nvPr/>
        </p:nvSpPr>
        <p:spPr>
          <a:xfrm rot="0">
            <a:off x="7384999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Sep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269997" y="8800948"/>
            <a:ext cx="7350004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BA97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▲ Month on month growth</a:t>
            </a:r>
          </a:p>
        </p:txBody>
      </p:sp>
      <p:grpSp>
        <p:nvGrpSpPr>
          <p:cNvPr name="Group 107" id="107"/>
          <p:cNvGrpSpPr/>
          <p:nvPr/>
        </p:nvGrpSpPr>
        <p:grpSpPr>
          <a:xfrm rot="0">
            <a:off x="9674000" y="8349996"/>
            <a:ext cx="7350004" cy="9001"/>
            <a:chOff x="0" y="0"/>
            <a:chExt cx="9800006" cy="12002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9674000" y="6924999"/>
            <a:ext cx="7350004" cy="9001"/>
            <a:chOff x="0" y="0"/>
            <a:chExt cx="9800006" cy="1200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9674000" y="5500002"/>
            <a:ext cx="7350004" cy="9001"/>
            <a:chOff x="0" y="0"/>
            <a:chExt cx="9800006" cy="1200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9799955" cy="11938"/>
            </a:xfrm>
            <a:custGeom>
              <a:avLst/>
              <a:gdLst/>
              <a:ahLst/>
              <a:cxnLst/>
              <a:rect r="r" b="b" t="t" l="l"/>
              <a:pathLst>
                <a:path h="11938" w="9799955">
                  <a:moveTo>
                    <a:pt x="0" y="0"/>
                  </a:moveTo>
                  <a:lnTo>
                    <a:pt x="9799955" y="0"/>
                  </a:lnTo>
                  <a:lnTo>
                    <a:pt x="9799955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0408996" y="8222371"/>
            <a:ext cx="5880002" cy="127635"/>
            <a:chOff x="0" y="0"/>
            <a:chExt cx="7840002" cy="17018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839964" cy="170180"/>
            </a:xfrm>
            <a:custGeom>
              <a:avLst/>
              <a:gdLst/>
              <a:ahLst/>
              <a:cxnLst/>
              <a:rect r="r" b="b" t="t" l="l"/>
              <a:pathLst>
                <a:path h="170180" w="7839964">
                  <a:moveTo>
                    <a:pt x="0" y="170180"/>
                  </a:moveTo>
                  <a:lnTo>
                    <a:pt x="0" y="109220"/>
                  </a:lnTo>
                  <a:lnTo>
                    <a:pt x="1959991" y="50038"/>
                  </a:lnTo>
                  <a:lnTo>
                    <a:pt x="3919982" y="39116"/>
                  </a:lnTo>
                  <a:lnTo>
                    <a:pt x="5879973" y="18161"/>
                  </a:lnTo>
                  <a:lnTo>
                    <a:pt x="7839964" y="0"/>
                  </a:lnTo>
                  <a:lnTo>
                    <a:pt x="7839964" y="170180"/>
                  </a:lnTo>
                  <a:close/>
                </a:path>
              </a:pathLst>
            </a:custGeom>
            <a:solidFill>
              <a:srgbClr val="E3F4EC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0399471" y="5653954"/>
            <a:ext cx="5899052" cy="1565577"/>
            <a:chOff x="0" y="0"/>
            <a:chExt cx="7865402" cy="208743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7865364" cy="2087372"/>
            </a:xfrm>
            <a:custGeom>
              <a:avLst/>
              <a:gdLst/>
              <a:ahLst/>
              <a:cxnLst/>
              <a:rect r="r" b="b" t="t" l="l"/>
              <a:pathLst>
                <a:path h="2087372" w="7865364">
                  <a:moveTo>
                    <a:pt x="0" y="2087372"/>
                  </a:moveTo>
                  <a:lnTo>
                    <a:pt x="1966341" y="1719580"/>
                  </a:lnTo>
                  <a:lnTo>
                    <a:pt x="3932682" y="1264031"/>
                  </a:lnTo>
                  <a:lnTo>
                    <a:pt x="5899023" y="699516"/>
                  </a:lnTo>
                  <a:lnTo>
                    <a:pt x="7865364" y="0"/>
                  </a:lnTo>
                </a:path>
              </a:pathLst>
            </a:custGeom>
            <a:blipFill>
              <a:blip r:embed="rId5">
                <a:alphaModFix amt="0"/>
              </a:blip>
              <a:stretch>
                <a:fillRect l="0" t="-23419" r="0" b="-23422"/>
              </a:stretch>
            </a:blipFill>
            <a:ln w="1905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337997" y="7138997"/>
            <a:ext cx="141999" cy="141999"/>
            <a:chOff x="0" y="0"/>
            <a:chExt cx="189332" cy="189332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808000" y="6866544"/>
            <a:ext cx="141999" cy="141999"/>
            <a:chOff x="0" y="0"/>
            <a:chExt cx="189332" cy="189332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121" id="121"/>
          <p:cNvGrpSpPr/>
          <p:nvPr/>
        </p:nvGrpSpPr>
        <p:grpSpPr>
          <a:xfrm rot="0">
            <a:off x="13278002" y="6528959"/>
            <a:ext cx="141999" cy="141999"/>
            <a:chOff x="0" y="0"/>
            <a:chExt cx="189332" cy="18933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4747996" y="6110707"/>
            <a:ext cx="141999" cy="141999"/>
            <a:chOff x="0" y="0"/>
            <a:chExt cx="189332" cy="18933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grpSp>
        <p:nvGrpSpPr>
          <p:cNvPr name="Group 125" id="125"/>
          <p:cNvGrpSpPr/>
          <p:nvPr/>
        </p:nvGrpSpPr>
        <p:grpSpPr>
          <a:xfrm rot="0">
            <a:off x="16217998" y="5592480"/>
            <a:ext cx="141999" cy="141999"/>
            <a:chOff x="0" y="0"/>
            <a:chExt cx="189332" cy="189332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189230" cy="189230"/>
            </a:xfrm>
            <a:custGeom>
              <a:avLst/>
              <a:gdLst/>
              <a:ahLst/>
              <a:cxnLst/>
              <a:rect r="r" b="b" t="t" l="l"/>
              <a:pathLst>
                <a:path h="189230" w="189230">
                  <a:moveTo>
                    <a:pt x="0" y="94615"/>
                  </a:moveTo>
                  <a:cubicBezTo>
                    <a:pt x="0" y="42418"/>
                    <a:pt x="42418" y="0"/>
                    <a:pt x="94615" y="0"/>
                  </a:cubicBezTo>
                  <a:cubicBezTo>
                    <a:pt x="146812" y="0"/>
                    <a:pt x="189230" y="42418"/>
                    <a:pt x="189230" y="94615"/>
                  </a:cubicBezTo>
                  <a:cubicBezTo>
                    <a:pt x="189230" y="146812"/>
                    <a:pt x="146812" y="189230"/>
                    <a:pt x="94615" y="189230"/>
                  </a:cubicBezTo>
                  <a:cubicBezTo>
                    <a:pt x="42418" y="189230"/>
                    <a:pt x="0" y="146939"/>
                    <a:pt x="0" y="94615"/>
                  </a:cubicBezTo>
                  <a:close/>
                </a:path>
              </a:pathLst>
            </a:custGeom>
            <a:solidFill>
              <a:srgbClr val="FFFFFF"/>
            </a:solidFill>
            <a:ln w="22000" cap="sq">
              <a:solidFill>
                <a:srgbClr val="132257"/>
              </a:solidFill>
              <a:prstDash val="solid"/>
              <a:miter/>
            </a:ln>
          </p:spPr>
        </p:sp>
      </p:grpSp>
      <p:sp>
        <p:nvSpPr>
          <p:cNvPr name="TextBox 127" id="127"/>
          <p:cNvSpPr txBox="true"/>
          <p:nvPr/>
        </p:nvSpPr>
        <p:spPr>
          <a:xfrm rot="0">
            <a:off x="15199004" y="5843511"/>
            <a:ext cx="2000002" cy="260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84"/>
              </a:lnSpc>
            </a:pPr>
            <a:r>
              <a:rPr lang="en-US" sz="132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Target $235,660</a:t>
            </a:r>
          </a:p>
        </p:txBody>
      </p:sp>
      <p:grpSp>
        <p:nvGrpSpPr>
          <p:cNvPr name="Group 128" id="128"/>
          <p:cNvGrpSpPr/>
          <p:nvPr/>
        </p:nvGrpSpPr>
        <p:grpSpPr>
          <a:xfrm rot="0">
            <a:off x="14324000" y="4745003"/>
            <a:ext cx="299999" cy="28004"/>
            <a:chOff x="0" y="0"/>
            <a:chExt cx="399999" cy="3733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400050" cy="37338"/>
            </a:xfrm>
            <a:custGeom>
              <a:avLst/>
              <a:gdLst/>
              <a:ahLst/>
              <a:cxnLst/>
              <a:rect r="r" b="b" t="t" l="l"/>
              <a:pathLst>
                <a:path h="37338" w="400050">
                  <a:moveTo>
                    <a:pt x="0" y="0"/>
                  </a:moveTo>
                  <a:lnTo>
                    <a:pt x="400050" y="0"/>
                  </a:lnTo>
                  <a:lnTo>
                    <a:pt x="400050" y="37338"/>
                  </a:lnTo>
                  <a:lnTo>
                    <a:pt x="0" y="37338"/>
                  </a:lnTo>
                  <a:close/>
                </a:path>
              </a:pathLst>
            </a:custGeom>
            <a:solidFill>
              <a:srgbClr val="1BA97C"/>
            </a:solidFill>
          </p:spPr>
        </p:sp>
      </p:grpSp>
      <p:sp>
        <p:nvSpPr>
          <p:cNvPr name="TextBox 130" id="130"/>
          <p:cNvSpPr txBox="true"/>
          <p:nvPr/>
        </p:nvSpPr>
        <p:spPr>
          <a:xfrm rot="0">
            <a:off x="14683997" y="4630474"/>
            <a:ext cx="800005" cy="26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Actual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5474001" y="4745003"/>
            <a:ext cx="299999" cy="19002"/>
            <a:chOff x="0" y="0"/>
            <a:chExt cx="399999" cy="25336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400050" cy="25273"/>
            </a:xfrm>
            <a:custGeom>
              <a:avLst/>
              <a:gdLst/>
              <a:ahLst/>
              <a:cxnLst/>
              <a:rect r="r" b="b" t="t" l="l"/>
              <a:pathLst>
                <a:path h="25273" w="400050">
                  <a:moveTo>
                    <a:pt x="0" y="0"/>
                  </a:moveTo>
                  <a:lnTo>
                    <a:pt x="400050" y="0"/>
                  </a:lnTo>
                  <a:lnTo>
                    <a:pt x="400050" y="25273"/>
                  </a:lnTo>
                  <a:lnTo>
                    <a:pt x="0" y="25273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133" id="133"/>
          <p:cNvSpPr txBox="true"/>
          <p:nvPr/>
        </p:nvSpPr>
        <p:spPr>
          <a:xfrm rot="0">
            <a:off x="15833998" y="4630474"/>
            <a:ext cx="800005" cy="269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Target</a:t>
            </a:r>
          </a:p>
        </p:txBody>
      </p:sp>
      <p:grpSp>
        <p:nvGrpSpPr>
          <p:cNvPr name="Group 134" id="134"/>
          <p:cNvGrpSpPr/>
          <p:nvPr/>
        </p:nvGrpSpPr>
        <p:grpSpPr>
          <a:xfrm rot="0">
            <a:off x="10391537" y="8204902"/>
            <a:ext cx="5914930" cy="116815"/>
            <a:chOff x="0" y="0"/>
            <a:chExt cx="7886573" cy="155753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7886573" cy="155702"/>
            </a:xfrm>
            <a:custGeom>
              <a:avLst/>
              <a:gdLst/>
              <a:ahLst/>
              <a:cxnLst/>
              <a:rect r="r" b="b" t="t" l="l"/>
              <a:pathLst>
                <a:path h="155702" w="7886573">
                  <a:moveTo>
                    <a:pt x="0" y="155702"/>
                  </a:moveTo>
                  <a:lnTo>
                    <a:pt x="1971675" y="71247"/>
                  </a:lnTo>
                  <a:lnTo>
                    <a:pt x="3943223" y="55753"/>
                  </a:lnTo>
                  <a:lnTo>
                    <a:pt x="5914898" y="25908"/>
                  </a:lnTo>
                  <a:lnTo>
                    <a:pt x="7886573" y="0"/>
                  </a:lnTo>
                </a:path>
              </a:pathLst>
            </a:custGeom>
            <a:blipFill>
              <a:blip r:embed="rId5">
                <a:alphaModFix amt="0"/>
              </a:blip>
              <a:stretch>
                <a:fillRect l="0" t="-936934" r="0" b="-936966"/>
              </a:stretch>
            </a:blipFill>
            <a:ln w="34925" cap="sq">
              <a:solidFill>
                <a:srgbClr val="1BA97C"/>
              </a:solidFill>
              <a:prstDash val="solid"/>
              <a:miter/>
            </a:ln>
          </p:spPr>
        </p:sp>
      </p:grpSp>
      <p:grpSp>
        <p:nvGrpSpPr>
          <p:cNvPr name="Group 136" id="136"/>
          <p:cNvGrpSpPr/>
          <p:nvPr/>
        </p:nvGrpSpPr>
        <p:grpSpPr>
          <a:xfrm rot="0">
            <a:off x="10323004" y="8218256"/>
            <a:ext cx="172002" cy="172002"/>
            <a:chOff x="0" y="0"/>
            <a:chExt cx="229337" cy="229337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38" id="138"/>
          <p:cNvSpPr txBox="true"/>
          <p:nvPr/>
        </p:nvSpPr>
        <p:spPr>
          <a:xfrm rot="0">
            <a:off x="9709004" y="7944250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$4,013</a:t>
            </a:r>
          </a:p>
        </p:txBody>
      </p:sp>
      <p:sp>
        <p:nvSpPr>
          <p:cNvPr name="TextBox 139" id="139"/>
          <p:cNvSpPr txBox="true"/>
          <p:nvPr/>
        </p:nvSpPr>
        <p:spPr>
          <a:xfrm rot="0">
            <a:off x="9909000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May</a:t>
            </a:r>
          </a:p>
        </p:txBody>
      </p:sp>
      <p:grpSp>
        <p:nvGrpSpPr>
          <p:cNvPr name="Group 140" id="140"/>
          <p:cNvGrpSpPr/>
          <p:nvPr/>
        </p:nvGrpSpPr>
        <p:grpSpPr>
          <a:xfrm rot="0">
            <a:off x="11792998" y="8173860"/>
            <a:ext cx="172002" cy="172002"/>
            <a:chOff x="0" y="0"/>
            <a:chExt cx="229337" cy="229337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42" id="142"/>
          <p:cNvSpPr txBox="true"/>
          <p:nvPr/>
        </p:nvSpPr>
        <p:spPr>
          <a:xfrm rot="0">
            <a:off x="11178997" y="7899854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$7,907</a:t>
            </a:r>
          </a:p>
        </p:txBody>
      </p:sp>
      <p:grpSp>
        <p:nvGrpSpPr>
          <p:cNvPr name="Group 143" id="143"/>
          <p:cNvGrpSpPr/>
          <p:nvPr/>
        </p:nvGrpSpPr>
        <p:grpSpPr>
          <a:xfrm rot="0">
            <a:off x="11498999" y="7579862"/>
            <a:ext cx="760000" cy="250003"/>
            <a:chOff x="0" y="0"/>
            <a:chExt cx="1013333" cy="333337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97%</a:t>
              </a:r>
            </a:p>
          </p:txBody>
        </p:sp>
      </p:grpSp>
      <p:sp>
        <p:nvSpPr>
          <p:cNvPr name="TextBox 146" id="146"/>
          <p:cNvSpPr txBox="true"/>
          <p:nvPr/>
        </p:nvSpPr>
        <p:spPr>
          <a:xfrm rot="0">
            <a:off x="11379003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Jun</a:t>
            </a:r>
          </a:p>
        </p:txBody>
      </p:sp>
      <p:grpSp>
        <p:nvGrpSpPr>
          <p:cNvPr name="Group 147" id="147"/>
          <p:cNvGrpSpPr/>
          <p:nvPr/>
        </p:nvGrpSpPr>
        <p:grpSpPr>
          <a:xfrm rot="0">
            <a:off x="13263001" y="8165649"/>
            <a:ext cx="172002" cy="172002"/>
            <a:chOff x="0" y="0"/>
            <a:chExt cx="229337" cy="229337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49" id="149"/>
          <p:cNvSpPr txBox="true"/>
          <p:nvPr/>
        </p:nvSpPr>
        <p:spPr>
          <a:xfrm rot="0">
            <a:off x="12649000" y="7891653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$8,627</a:t>
            </a:r>
          </a:p>
        </p:txBody>
      </p:sp>
      <p:grpSp>
        <p:nvGrpSpPr>
          <p:cNvPr name="Group 150" id="150"/>
          <p:cNvGrpSpPr/>
          <p:nvPr/>
        </p:nvGrpSpPr>
        <p:grpSpPr>
          <a:xfrm rot="0">
            <a:off x="12969002" y="7571651"/>
            <a:ext cx="760000" cy="250003"/>
            <a:chOff x="0" y="0"/>
            <a:chExt cx="1013333" cy="333337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9%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848996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Jul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4733003" y="8149961"/>
            <a:ext cx="172002" cy="172002"/>
            <a:chOff x="0" y="0"/>
            <a:chExt cx="229337" cy="229337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56" id="156"/>
          <p:cNvSpPr txBox="true"/>
          <p:nvPr/>
        </p:nvSpPr>
        <p:spPr>
          <a:xfrm rot="0">
            <a:off x="14119003" y="7875956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sz="1530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$10,004</a:t>
            </a:r>
          </a:p>
        </p:txBody>
      </p:sp>
      <p:grpSp>
        <p:nvGrpSpPr>
          <p:cNvPr name="Group 157" id="157"/>
          <p:cNvGrpSpPr/>
          <p:nvPr/>
        </p:nvGrpSpPr>
        <p:grpSpPr>
          <a:xfrm rot="0">
            <a:off x="14439005" y="7555954"/>
            <a:ext cx="760000" cy="250003"/>
            <a:chOff x="0" y="0"/>
            <a:chExt cx="1013333" cy="333337"/>
          </a:xfrm>
        </p:grpSpPr>
        <p:sp>
          <p:nvSpPr>
            <p:cNvPr name="Freeform 158" id="158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159" id="159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16%</a:t>
              </a:r>
            </a:p>
          </p:txBody>
        </p:sp>
      </p:grpSp>
      <p:sp>
        <p:nvSpPr>
          <p:cNvPr name="TextBox 160" id="160"/>
          <p:cNvSpPr txBox="true"/>
          <p:nvPr/>
        </p:nvSpPr>
        <p:spPr>
          <a:xfrm rot="0">
            <a:off x="14318999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Aug</a:t>
            </a:r>
          </a:p>
        </p:txBody>
      </p:sp>
      <p:grpSp>
        <p:nvGrpSpPr>
          <p:cNvPr name="Group 161" id="161"/>
          <p:cNvGrpSpPr/>
          <p:nvPr/>
        </p:nvGrpSpPr>
        <p:grpSpPr>
          <a:xfrm rot="0">
            <a:off x="16202997" y="8136369"/>
            <a:ext cx="172002" cy="172002"/>
            <a:chOff x="0" y="0"/>
            <a:chExt cx="229337" cy="229337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229362" cy="229362"/>
            </a:xfrm>
            <a:custGeom>
              <a:avLst/>
              <a:gdLst/>
              <a:ahLst/>
              <a:cxnLst/>
              <a:rect r="r" b="b" t="t" l="l"/>
              <a:pathLst>
                <a:path h="229362" w="229362">
                  <a:moveTo>
                    <a:pt x="0" y="114681"/>
                  </a:moveTo>
                  <a:cubicBezTo>
                    <a:pt x="0" y="51308"/>
                    <a:pt x="51308" y="0"/>
                    <a:pt x="114681" y="0"/>
                  </a:cubicBezTo>
                  <a:cubicBezTo>
                    <a:pt x="178054" y="0"/>
                    <a:pt x="229362" y="51308"/>
                    <a:pt x="229362" y="114681"/>
                  </a:cubicBezTo>
                  <a:cubicBezTo>
                    <a:pt x="229362" y="178054"/>
                    <a:pt x="178054" y="229362"/>
                    <a:pt x="114681" y="229362"/>
                  </a:cubicBezTo>
                  <a:cubicBezTo>
                    <a:pt x="51308" y="229362"/>
                    <a:pt x="0" y="178054"/>
                    <a:pt x="0" y="114681"/>
                  </a:cubicBezTo>
                  <a:close/>
                </a:path>
              </a:pathLst>
            </a:custGeom>
            <a:solidFill>
              <a:srgbClr val="1BA97C"/>
            </a:solidFill>
            <a:ln w="22000" cap="sq">
              <a:solidFill>
                <a:srgbClr val="1BA97C"/>
              </a:solidFill>
              <a:prstDash val="solid"/>
              <a:miter/>
            </a:ln>
          </p:spPr>
        </p:sp>
      </p:grpSp>
      <p:sp>
        <p:nvSpPr>
          <p:cNvPr name="TextBox 163" id="163"/>
          <p:cNvSpPr txBox="true"/>
          <p:nvPr/>
        </p:nvSpPr>
        <p:spPr>
          <a:xfrm rot="0">
            <a:off x="15588996" y="7862364"/>
            <a:ext cx="1400004" cy="299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6"/>
              </a:lnSpc>
            </a:pPr>
            <a:r>
              <a:rPr lang="en-US" b="true" sz="1530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$12,206</a:t>
            </a:r>
          </a:p>
        </p:txBody>
      </p:sp>
      <p:grpSp>
        <p:nvGrpSpPr>
          <p:cNvPr name="Group 164" id="164"/>
          <p:cNvGrpSpPr/>
          <p:nvPr/>
        </p:nvGrpSpPr>
        <p:grpSpPr>
          <a:xfrm rot="0">
            <a:off x="15908998" y="7542362"/>
            <a:ext cx="760000" cy="250003"/>
            <a:chOff x="0" y="0"/>
            <a:chExt cx="1013333" cy="333337"/>
          </a:xfrm>
        </p:grpSpPr>
        <p:sp>
          <p:nvSpPr>
            <p:cNvPr name="Freeform 165" id="165"/>
            <p:cNvSpPr/>
            <p:nvPr/>
          </p:nvSpPr>
          <p:spPr>
            <a:xfrm flipH="false" flipV="false" rot="0">
              <a:off x="0" y="0"/>
              <a:ext cx="1013333" cy="333375"/>
            </a:xfrm>
            <a:custGeom>
              <a:avLst/>
              <a:gdLst/>
              <a:ahLst/>
              <a:cxnLst/>
              <a:rect r="r" b="b" t="t" l="l"/>
              <a:pathLst>
                <a:path h="333375" w="1013333">
                  <a:moveTo>
                    <a:pt x="0" y="166624"/>
                  </a:moveTo>
                  <a:cubicBezTo>
                    <a:pt x="0" y="74676"/>
                    <a:pt x="74676" y="0"/>
                    <a:pt x="166624" y="0"/>
                  </a:cubicBezTo>
                  <a:lnTo>
                    <a:pt x="846709" y="0"/>
                  </a:lnTo>
                  <a:cubicBezTo>
                    <a:pt x="938784" y="0"/>
                    <a:pt x="1013333" y="74676"/>
                    <a:pt x="1013333" y="166624"/>
                  </a:cubicBezTo>
                  <a:cubicBezTo>
                    <a:pt x="1013333" y="258572"/>
                    <a:pt x="938657" y="333375"/>
                    <a:pt x="846709" y="333375"/>
                  </a:cubicBezTo>
                  <a:lnTo>
                    <a:pt x="166624" y="333375"/>
                  </a:lnTo>
                  <a:cubicBezTo>
                    <a:pt x="74676" y="333375"/>
                    <a:pt x="0" y="258699"/>
                    <a:pt x="0" y="166624"/>
                  </a:cubicBezTo>
                  <a:close/>
                </a:path>
              </a:pathLst>
            </a:custGeom>
            <a:solidFill>
              <a:srgbClr val="E3F4EC"/>
            </a:solidFill>
          </p:spPr>
        </p:sp>
        <p:sp>
          <p:nvSpPr>
            <p:cNvPr name="TextBox 166" id="166"/>
            <p:cNvSpPr txBox="true"/>
            <p:nvPr/>
          </p:nvSpPr>
          <p:spPr>
            <a:xfrm>
              <a:off x="0" y="-19050"/>
              <a:ext cx="1013333" cy="352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39"/>
                </a:lnSpc>
              </a:pPr>
              <a:r>
                <a:rPr lang="en-US" sz="1200" b="true">
                  <a:solidFill>
                    <a:srgbClr val="1BA97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▲ 22%</a:t>
              </a:r>
            </a:p>
          </p:txBody>
        </p:sp>
      </p:grpSp>
      <p:sp>
        <p:nvSpPr>
          <p:cNvPr name="TextBox 167" id="167"/>
          <p:cNvSpPr txBox="true"/>
          <p:nvPr/>
        </p:nvSpPr>
        <p:spPr>
          <a:xfrm rot="0">
            <a:off x="15789002" y="8470478"/>
            <a:ext cx="1000001" cy="289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67"/>
              </a:lnSpc>
            </a:pPr>
            <a:r>
              <a:rPr lang="en-US" sz="138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Sep</a:t>
            </a:r>
          </a:p>
        </p:txBody>
      </p:sp>
      <p:sp>
        <p:nvSpPr>
          <p:cNvPr name="TextBox 168" id="168"/>
          <p:cNvSpPr txBox="true"/>
          <p:nvPr/>
        </p:nvSpPr>
        <p:spPr>
          <a:xfrm rot="0">
            <a:off x="9674000" y="8800948"/>
            <a:ext cx="7350004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1BA97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▲ Month on month growth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949958"/>
            <a:chOff x="0" y="0"/>
            <a:chExt cx="24384000" cy="2599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599944"/>
            </a:xfrm>
            <a:custGeom>
              <a:avLst/>
              <a:gdLst/>
              <a:ahLst/>
              <a:cxnLst/>
              <a:rect r="r" b="b" t="t" l="l"/>
              <a:pathLst>
                <a:path h="259994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599944"/>
                  </a:lnTo>
                  <a:lnTo>
                    <a:pt x="0" y="2599944"/>
                  </a:lnTo>
                  <a:close/>
                </a:path>
              </a:pathLst>
            </a:custGeom>
            <a:gradFill rotWithShape="true">
              <a:gsLst>
                <a:gs pos="0">
                  <a:srgbClr val="101B3B">
                    <a:alpha val="100000"/>
                  </a:srgbClr>
                </a:gs>
                <a:gs pos="100000">
                  <a:srgbClr val="22376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949996"/>
            <a:ext cx="18288000" cy="36004"/>
            <a:chOff x="0" y="0"/>
            <a:chExt cx="24384000" cy="480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48006"/>
            </a:xfrm>
            <a:custGeom>
              <a:avLst/>
              <a:gdLst/>
              <a:ahLst/>
              <a:cxnLst/>
              <a:rect r="r" b="b" t="t" l="l"/>
              <a:pathLst>
                <a:path h="4800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8006"/>
                  </a:lnTo>
                  <a:lnTo>
                    <a:pt x="0" y="48006"/>
                  </a:lnTo>
                  <a:close/>
                </a:path>
              </a:pathLst>
            </a:custGeom>
            <a:solidFill>
              <a:srgbClr val="D4AF37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0001" y="451428"/>
            <a:ext cx="13800001" cy="328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279">
                <a:solidFill>
                  <a:srgbClr val="D4AF37"/>
                </a:solidFill>
                <a:latin typeface="Exo 2 Bold"/>
                <a:ea typeface="Exo 2 Bold"/>
                <a:cs typeface="Exo 2 Bold"/>
                <a:sym typeface="Exo 2 Bold"/>
              </a:rPr>
              <a:t>APPENDIX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0001" y="760000"/>
            <a:ext cx="13800001" cy="700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8"/>
              </a:lnSpc>
            </a:pPr>
            <a:r>
              <a:rPr lang="en-US" b="true" sz="3740" spc="-40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Key Performance Indicators &amp; Volume Projections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5449998" y="690001"/>
            <a:ext cx="1989963" cy="573024"/>
            <a:chOff x="0" y="0"/>
            <a:chExt cx="2653284" cy="764032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2653284" cy="764032"/>
            </a:xfrm>
            <a:custGeom>
              <a:avLst/>
              <a:gdLst/>
              <a:ahLst/>
              <a:cxnLst/>
              <a:rect r="r" b="b" t="t" l="l"/>
              <a:pathLst>
                <a:path h="764032" w="2653284">
                  <a:moveTo>
                    <a:pt x="0" y="0"/>
                  </a:moveTo>
                  <a:lnTo>
                    <a:pt x="2653284" y="0"/>
                  </a:lnTo>
                  <a:lnTo>
                    <a:pt x="2653284" y="764032"/>
                  </a:lnTo>
                  <a:lnTo>
                    <a:pt x="0" y="764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20" r="0" b="-322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50001" y="9771421"/>
            <a:ext cx="10000002" cy="328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6"/>
              </a:lnSpc>
            </a:pPr>
            <a:r>
              <a:rPr lang="en-US" sz="939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eMYAA Trading Platform  |  Board of Directors Update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699999" y="9799996"/>
            <a:ext cx="70000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12"/>
              </a:lnSpc>
            </a:pPr>
            <a:r>
              <a:rPr lang="en-US" sz="1010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7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5711488" y="9398508"/>
            <a:ext cx="1547812" cy="550335"/>
          </a:xfrm>
          <a:custGeom>
            <a:avLst/>
            <a:gdLst/>
            <a:ahLst/>
            <a:cxnLst/>
            <a:rect r="r" b="b" t="t" l="l"/>
            <a:pathLst>
              <a:path h="550335" w="1547812">
                <a:moveTo>
                  <a:pt x="0" y="0"/>
                </a:moveTo>
                <a:lnTo>
                  <a:pt x="1547812" y="0"/>
                </a:lnTo>
                <a:lnTo>
                  <a:pt x="1547812" y="550335"/>
                </a:lnTo>
                <a:lnTo>
                  <a:pt x="0" y="5503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574" t="0" r="-574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850001" y="2300002"/>
            <a:ext cx="16587978" cy="469964"/>
            <a:chOff x="0" y="0"/>
            <a:chExt cx="22117304" cy="6266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117304" cy="626618"/>
            </a:xfrm>
            <a:custGeom>
              <a:avLst/>
              <a:gdLst/>
              <a:ahLst/>
              <a:cxnLst/>
              <a:rect r="r" b="b" t="t" l="l"/>
              <a:pathLst>
                <a:path h="62661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626618"/>
                  </a:lnTo>
                  <a:lnTo>
                    <a:pt x="0" y="626618"/>
                  </a:lnTo>
                  <a:close/>
                </a:path>
              </a:pathLst>
            </a:custGeom>
            <a:gradFill rotWithShape="true">
              <a:gsLst>
                <a:gs pos="0">
                  <a:srgbClr val="101B3B">
                    <a:alpha val="100000"/>
                  </a:srgbClr>
                </a:gs>
                <a:gs pos="100000">
                  <a:srgbClr val="22376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070000" y="2271427"/>
            <a:ext cx="2699956" cy="469964"/>
            <a:chOff x="0" y="0"/>
            <a:chExt cx="3599942" cy="62661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599942" cy="626618"/>
            </a:xfrm>
            <a:custGeom>
              <a:avLst/>
              <a:gdLst/>
              <a:ahLst/>
              <a:cxnLst/>
              <a:rect r="r" b="b" t="t" l="l"/>
              <a:pathLst>
                <a:path h="626618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61864" r="0" b="-61864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070000" y="2264283"/>
            <a:ext cx="2700004" cy="477145"/>
            <a:chOff x="0" y="0"/>
            <a:chExt cx="3600005" cy="63619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99942" cy="636143"/>
            </a:xfrm>
            <a:custGeom>
              <a:avLst/>
              <a:gdLst/>
              <a:ahLst/>
              <a:cxnLst/>
              <a:rect r="r" b="b" t="t" l="l"/>
              <a:pathLst>
                <a:path h="636143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60187" r="-1" b="-60195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70000" y="2257139"/>
            <a:ext cx="2700004" cy="484289"/>
            <a:chOff x="0" y="0"/>
            <a:chExt cx="3600005" cy="64571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600005" cy="645718"/>
            </a:xfrm>
            <a:custGeom>
              <a:avLst/>
              <a:gdLst/>
              <a:ahLst/>
              <a:cxnLst/>
              <a:rect r="r" b="b" t="t" l="l"/>
              <a:pathLst>
                <a:path h="645718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58632" r="0" b="-5863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3600005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KPI &amp; Performance Detail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850005" y="2271427"/>
            <a:ext cx="1698498" cy="469964"/>
            <a:chOff x="0" y="0"/>
            <a:chExt cx="2264664" cy="62661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3850005" y="2264283"/>
            <a:ext cx="1698498" cy="477145"/>
            <a:chOff x="0" y="0"/>
            <a:chExt cx="2264664" cy="6361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3850005" y="2257139"/>
            <a:ext cx="1698498" cy="484289"/>
            <a:chOff x="0" y="0"/>
            <a:chExt cx="2264664" cy="64571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May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548503" y="2271427"/>
            <a:ext cx="1698498" cy="469964"/>
            <a:chOff x="0" y="0"/>
            <a:chExt cx="2264664" cy="62661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548503" y="2264283"/>
            <a:ext cx="1698498" cy="477145"/>
            <a:chOff x="0" y="0"/>
            <a:chExt cx="2264664" cy="63619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5548503" y="2257139"/>
            <a:ext cx="1698498" cy="484289"/>
            <a:chOff x="0" y="0"/>
            <a:chExt cx="2264664" cy="645719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June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7247001" y="2271427"/>
            <a:ext cx="1698498" cy="469964"/>
            <a:chOff x="0" y="0"/>
            <a:chExt cx="2264664" cy="62661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7247001" y="2264283"/>
            <a:ext cx="1698498" cy="477145"/>
            <a:chOff x="0" y="0"/>
            <a:chExt cx="2264664" cy="63619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7247001" y="2257139"/>
            <a:ext cx="1698498" cy="484289"/>
            <a:chOff x="0" y="0"/>
            <a:chExt cx="2264664" cy="64571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July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945499" y="2271427"/>
            <a:ext cx="1698498" cy="469964"/>
            <a:chOff x="0" y="0"/>
            <a:chExt cx="2264664" cy="62661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8945499" y="2264283"/>
            <a:ext cx="1698498" cy="477145"/>
            <a:chOff x="0" y="0"/>
            <a:chExt cx="2264664" cy="63619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8945499" y="2257139"/>
            <a:ext cx="1698498" cy="484289"/>
            <a:chOff x="0" y="0"/>
            <a:chExt cx="2264664" cy="64571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August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643997" y="2271427"/>
            <a:ext cx="1698498" cy="469964"/>
            <a:chOff x="0" y="0"/>
            <a:chExt cx="2264664" cy="62661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0643997" y="2264283"/>
            <a:ext cx="1698498" cy="477145"/>
            <a:chOff x="0" y="0"/>
            <a:chExt cx="2264664" cy="63619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0643997" y="2257139"/>
            <a:ext cx="1698498" cy="484289"/>
            <a:chOff x="0" y="0"/>
            <a:chExt cx="2264664" cy="645719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D4AF3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September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342505" y="2271427"/>
            <a:ext cx="1698498" cy="469964"/>
            <a:chOff x="0" y="0"/>
            <a:chExt cx="2264664" cy="626618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2342505" y="2264283"/>
            <a:ext cx="1698498" cy="477145"/>
            <a:chOff x="0" y="0"/>
            <a:chExt cx="2264664" cy="63619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2505" y="2257139"/>
            <a:ext cx="1698498" cy="484289"/>
            <a:chOff x="0" y="0"/>
            <a:chExt cx="2264664" cy="645719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October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4041003" y="2271427"/>
            <a:ext cx="1698498" cy="469964"/>
            <a:chOff x="0" y="0"/>
            <a:chExt cx="2264664" cy="626618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4041003" y="2264283"/>
            <a:ext cx="1698498" cy="477145"/>
            <a:chOff x="0" y="0"/>
            <a:chExt cx="2264664" cy="636194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4041003" y="2257139"/>
            <a:ext cx="1698498" cy="484289"/>
            <a:chOff x="0" y="0"/>
            <a:chExt cx="2264664" cy="645719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November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5739501" y="2271427"/>
            <a:ext cx="1698498" cy="469964"/>
            <a:chOff x="0" y="0"/>
            <a:chExt cx="2264664" cy="626618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4664" cy="626618"/>
            </a:xfrm>
            <a:custGeom>
              <a:avLst/>
              <a:gdLst/>
              <a:ahLst/>
              <a:cxnLst/>
              <a:rect r="r" b="b" t="t" l="l"/>
              <a:pathLst>
                <a:path h="6266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26618"/>
                  </a:lnTo>
                  <a:lnTo>
                    <a:pt x="0" y="62661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20372" r="0" b="-2037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5739501" y="2264283"/>
            <a:ext cx="1698498" cy="477145"/>
            <a:chOff x="0" y="0"/>
            <a:chExt cx="2264664" cy="63619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264664" cy="636143"/>
            </a:xfrm>
            <a:custGeom>
              <a:avLst/>
              <a:gdLst/>
              <a:ahLst/>
              <a:cxnLst/>
              <a:rect r="r" b="b" t="t" l="l"/>
              <a:pathLst>
                <a:path h="636143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36143"/>
                  </a:lnTo>
                  <a:lnTo>
                    <a:pt x="0" y="636143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9315" r="0" b="-19321"/>
              </a:stretch>
            </a:blip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5739501" y="2257139"/>
            <a:ext cx="1698498" cy="484289"/>
            <a:chOff x="0" y="0"/>
            <a:chExt cx="2264664" cy="64571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264664" cy="645718"/>
            </a:xfrm>
            <a:custGeom>
              <a:avLst/>
              <a:gdLst/>
              <a:ahLst/>
              <a:cxnLst/>
              <a:rect r="r" b="b" t="t" l="l"/>
              <a:pathLst>
                <a:path h="645718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645718"/>
                  </a:lnTo>
                  <a:lnTo>
                    <a:pt x="0" y="645718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18337" r="0" b="-1833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9525"/>
              <a:ext cx="2264664" cy="6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07"/>
                </a:lnSpc>
              </a:pPr>
              <a:r>
                <a:rPr lang="en-US" sz="1589" b="true">
                  <a:solidFill>
                    <a:srgbClr val="FFFFFF"/>
                  </a:solidFill>
                  <a:latin typeface="Exo 2 Bold"/>
                  <a:ea typeface="Exo 2 Bold"/>
                  <a:cs typeface="Exo 2 Bold"/>
                  <a:sym typeface="Exo 2 Bold"/>
                </a:rPr>
                <a:t>December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0643997" y="2770003"/>
            <a:ext cx="1698498" cy="6320028"/>
            <a:chOff x="0" y="0"/>
            <a:chExt cx="2264664" cy="8426704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264664" cy="8426704"/>
            </a:xfrm>
            <a:custGeom>
              <a:avLst/>
              <a:gdLst/>
              <a:ahLst/>
              <a:cxnLst/>
              <a:rect r="r" b="b" t="t" l="l"/>
              <a:pathLst>
                <a:path h="8426704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8426704"/>
                  </a:lnTo>
                  <a:lnTo>
                    <a:pt x="0" y="8426704"/>
                  </a:lnTo>
                  <a:close/>
                </a:path>
              </a:pathLst>
            </a:custGeom>
            <a:solidFill>
              <a:srgbClr val="FBF6E6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850001" y="2770003"/>
            <a:ext cx="16587978" cy="395002"/>
            <a:chOff x="0" y="0"/>
            <a:chExt cx="22117304" cy="526669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solidFill>
              <a:srgbClr val="E9EDF6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070000" y="2770003"/>
            <a:ext cx="16587978" cy="395002"/>
            <a:chOff x="0" y="0"/>
            <a:chExt cx="22117304" cy="52666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767699" r="0" b="-767699"/>
              </a:stretch>
            </a:blip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070000" y="2762860"/>
            <a:ext cx="16587997" cy="402146"/>
            <a:chOff x="0" y="0"/>
            <a:chExt cx="22117329" cy="536194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2117304" cy="536194"/>
            </a:xfrm>
            <a:custGeom>
              <a:avLst/>
              <a:gdLst/>
              <a:ahLst/>
              <a:cxnLst/>
              <a:rect r="r" b="b" t="t" l="l"/>
              <a:pathLst>
                <a:path h="536194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36194"/>
                  </a:lnTo>
                  <a:lnTo>
                    <a:pt x="0" y="53619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53173" r="0" b="-753173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070000" y="2755716"/>
            <a:ext cx="16587997" cy="409289"/>
            <a:chOff x="0" y="0"/>
            <a:chExt cx="22117329" cy="545719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22117329" cy="545720"/>
            </a:xfrm>
            <a:custGeom>
              <a:avLst/>
              <a:gdLst/>
              <a:ahLst/>
              <a:cxnLst/>
              <a:rect r="r" b="b" t="t" l="l"/>
              <a:pathLst>
                <a:path h="545720" w="22117329">
                  <a:moveTo>
                    <a:pt x="0" y="0"/>
                  </a:moveTo>
                  <a:lnTo>
                    <a:pt x="22117329" y="0"/>
                  </a:lnTo>
                  <a:lnTo>
                    <a:pt x="22117329" y="545720"/>
                  </a:lnTo>
                  <a:lnTo>
                    <a:pt x="0" y="5457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739704" r="0" b="-739703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9525"/>
              <a:ext cx="22117329" cy="5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12"/>
                </a:lnSpc>
              </a:pPr>
              <a:r>
                <a:rPr lang="en-US" b="true" sz="1260" spc="138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I.  CLIENTS, CUMULATIVE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0000" y="3164996"/>
            <a:ext cx="2699956" cy="395002"/>
            <a:chOff x="0" y="0"/>
            <a:chExt cx="3599942" cy="526669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91" id="91"/>
          <p:cNvGrpSpPr/>
          <p:nvPr/>
        </p:nvGrpSpPr>
        <p:grpSpPr>
          <a:xfrm rot="0">
            <a:off x="1070000" y="3164996"/>
            <a:ext cx="2700004" cy="395002"/>
            <a:chOff x="0" y="0"/>
            <a:chExt cx="3600005" cy="526669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070000" y="3164996"/>
            <a:ext cx="2700004" cy="395002"/>
            <a:chOff x="0" y="0"/>
            <a:chExt cx="3600005" cy="526669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Achieved / Current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3850005" y="3164996"/>
            <a:ext cx="1698498" cy="395002"/>
            <a:chOff x="0" y="0"/>
            <a:chExt cx="2264664" cy="526669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3850005" y="3164996"/>
            <a:ext cx="1698498" cy="395002"/>
            <a:chOff x="0" y="0"/>
            <a:chExt cx="2264664" cy="526669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3850005" y="3164996"/>
            <a:ext cx="1698498" cy="395002"/>
            <a:chOff x="0" y="0"/>
            <a:chExt cx="2264664" cy="526669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11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5548503" y="3164996"/>
            <a:ext cx="1698498" cy="395002"/>
            <a:chOff x="0" y="0"/>
            <a:chExt cx="2264664" cy="526669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05" id="105"/>
          <p:cNvGrpSpPr/>
          <p:nvPr/>
        </p:nvGrpSpPr>
        <p:grpSpPr>
          <a:xfrm rot="0">
            <a:off x="5548503" y="3164996"/>
            <a:ext cx="1698498" cy="395002"/>
            <a:chOff x="0" y="0"/>
            <a:chExt cx="2264664" cy="526669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5548503" y="3164996"/>
            <a:ext cx="1698498" cy="395002"/>
            <a:chOff x="0" y="0"/>
            <a:chExt cx="2264664" cy="5266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24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7247001" y="3164996"/>
            <a:ext cx="1698498" cy="395002"/>
            <a:chOff x="0" y="0"/>
            <a:chExt cx="2264664" cy="52666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7247001" y="3164996"/>
            <a:ext cx="1698498" cy="395002"/>
            <a:chOff x="0" y="0"/>
            <a:chExt cx="2264664" cy="526669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7247001" y="3164996"/>
            <a:ext cx="1698498" cy="395002"/>
            <a:chOff x="0" y="0"/>
            <a:chExt cx="2264664" cy="526669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16" id="11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33</a:t>
              </a:r>
            </a:p>
          </p:txBody>
        </p:sp>
      </p:grpSp>
      <p:grpSp>
        <p:nvGrpSpPr>
          <p:cNvPr name="Group 117" id="117"/>
          <p:cNvGrpSpPr/>
          <p:nvPr/>
        </p:nvGrpSpPr>
        <p:grpSpPr>
          <a:xfrm rot="0">
            <a:off x="8945499" y="3164996"/>
            <a:ext cx="1698498" cy="395002"/>
            <a:chOff x="0" y="0"/>
            <a:chExt cx="2264664" cy="526669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8945499" y="3164996"/>
            <a:ext cx="1698498" cy="395002"/>
            <a:chOff x="0" y="0"/>
            <a:chExt cx="2264664" cy="526669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21" id="121"/>
          <p:cNvGrpSpPr/>
          <p:nvPr/>
        </p:nvGrpSpPr>
        <p:grpSpPr>
          <a:xfrm rot="0">
            <a:off x="8945499" y="3164996"/>
            <a:ext cx="1698498" cy="395002"/>
            <a:chOff x="0" y="0"/>
            <a:chExt cx="2264664" cy="526669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47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0643997" y="3164996"/>
            <a:ext cx="1698498" cy="395002"/>
            <a:chOff x="0" y="0"/>
            <a:chExt cx="2264664" cy="526669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0643997" y="3164996"/>
            <a:ext cx="1698498" cy="395002"/>
            <a:chOff x="0" y="0"/>
            <a:chExt cx="2264664" cy="526669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0643997" y="3164996"/>
            <a:ext cx="1698498" cy="395002"/>
            <a:chOff x="0" y="0"/>
            <a:chExt cx="2264664" cy="526669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61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850001" y="3550996"/>
            <a:ext cx="16587978" cy="8954"/>
            <a:chOff x="0" y="0"/>
            <a:chExt cx="22117304" cy="1193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070000" y="3559997"/>
            <a:ext cx="2699956" cy="395002"/>
            <a:chOff x="0" y="0"/>
            <a:chExt cx="3599942" cy="526669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135" id="135"/>
          <p:cNvGrpSpPr/>
          <p:nvPr/>
        </p:nvGrpSpPr>
        <p:grpSpPr>
          <a:xfrm rot="0">
            <a:off x="1070000" y="3559997"/>
            <a:ext cx="2700004" cy="395002"/>
            <a:chOff x="0" y="0"/>
            <a:chExt cx="3600005" cy="526669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137" id="137"/>
          <p:cNvGrpSpPr/>
          <p:nvPr/>
        </p:nvGrpSpPr>
        <p:grpSpPr>
          <a:xfrm rot="0">
            <a:off x="1070000" y="3559997"/>
            <a:ext cx="2700004" cy="395002"/>
            <a:chOff x="0" y="0"/>
            <a:chExt cx="3600005" cy="526669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Target / Projected</a:t>
              </a: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3850005" y="3559997"/>
            <a:ext cx="1698498" cy="395002"/>
            <a:chOff x="0" y="0"/>
            <a:chExt cx="2264664" cy="526669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42" id="142"/>
          <p:cNvGrpSpPr/>
          <p:nvPr/>
        </p:nvGrpSpPr>
        <p:grpSpPr>
          <a:xfrm rot="0">
            <a:off x="3850005" y="3559997"/>
            <a:ext cx="1698498" cy="395002"/>
            <a:chOff x="0" y="0"/>
            <a:chExt cx="2264664" cy="526669"/>
          </a:xfrm>
        </p:grpSpPr>
        <p:sp>
          <p:nvSpPr>
            <p:cNvPr name="Freeform 143" id="14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44" id="144"/>
          <p:cNvGrpSpPr/>
          <p:nvPr/>
        </p:nvGrpSpPr>
        <p:grpSpPr>
          <a:xfrm rot="0">
            <a:off x="3850005" y="3559997"/>
            <a:ext cx="1698498" cy="395002"/>
            <a:chOff x="0" y="0"/>
            <a:chExt cx="2264664" cy="526669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20</a:t>
              </a:r>
            </a:p>
          </p:txBody>
        </p:sp>
      </p:grpSp>
      <p:grpSp>
        <p:nvGrpSpPr>
          <p:cNvPr name="Group 147" id="147"/>
          <p:cNvGrpSpPr/>
          <p:nvPr/>
        </p:nvGrpSpPr>
        <p:grpSpPr>
          <a:xfrm rot="0">
            <a:off x="5548503" y="3559997"/>
            <a:ext cx="1698498" cy="395002"/>
            <a:chOff x="0" y="0"/>
            <a:chExt cx="2264664" cy="526669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49" id="149"/>
          <p:cNvGrpSpPr/>
          <p:nvPr/>
        </p:nvGrpSpPr>
        <p:grpSpPr>
          <a:xfrm rot="0">
            <a:off x="5548503" y="3559997"/>
            <a:ext cx="1698498" cy="395002"/>
            <a:chOff x="0" y="0"/>
            <a:chExt cx="2264664" cy="526669"/>
          </a:xfrm>
        </p:grpSpPr>
        <p:sp>
          <p:nvSpPr>
            <p:cNvPr name="Freeform 150" id="15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51" id="151"/>
          <p:cNvGrpSpPr/>
          <p:nvPr/>
        </p:nvGrpSpPr>
        <p:grpSpPr>
          <a:xfrm rot="0">
            <a:off x="5548503" y="3559997"/>
            <a:ext cx="1698498" cy="395002"/>
            <a:chOff x="0" y="0"/>
            <a:chExt cx="2264664" cy="526669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24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7247001" y="3559997"/>
            <a:ext cx="1698498" cy="395002"/>
            <a:chOff x="0" y="0"/>
            <a:chExt cx="2264664" cy="526669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7247001" y="3559997"/>
            <a:ext cx="1698498" cy="395002"/>
            <a:chOff x="0" y="0"/>
            <a:chExt cx="2264664" cy="526669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58" id="158"/>
          <p:cNvGrpSpPr/>
          <p:nvPr/>
        </p:nvGrpSpPr>
        <p:grpSpPr>
          <a:xfrm rot="0">
            <a:off x="7247001" y="3559997"/>
            <a:ext cx="1698498" cy="395002"/>
            <a:chOff x="0" y="0"/>
            <a:chExt cx="2264664" cy="526669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28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8945499" y="3559997"/>
            <a:ext cx="1698498" cy="395002"/>
            <a:chOff x="0" y="0"/>
            <a:chExt cx="2264664" cy="526669"/>
          </a:xfrm>
        </p:grpSpPr>
        <p:sp>
          <p:nvSpPr>
            <p:cNvPr name="Freeform 162" id="16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63" id="163"/>
          <p:cNvGrpSpPr/>
          <p:nvPr/>
        </p:nvGrpSpPr>
        <p:grpSpPr>
          <a:xfrm rot="0">
            <a:off x="8945499" y="3559997"/>
            <a:ext cx="1698498" cy="395002"/>
            <a:chOff x="0" y="0"/>
            <a:chExt cx="2264664" cy="526669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65" id="165"/>
          <p:cNvGrpSpPr/>
          <p:nvPr/>
        </p:nvGrpSpPr>
        <p:grpSpPr>
          <a:xfrm rot="0">
            <a:off x="8945499" y="3559997"/>
            <a:ext cx="1698498" cy="395002"/>
            <a:chOff x="0" y="0"/>
            <a:chExt cx="2264664" cy="526669"/>
          </a:xfrm>
        </p:grpSpPr>
        <p:sp>
          <p:nvSpPr>
            <p:cNvPr name="Freeform 166" id="16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67" id="16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33</a:t>
              </a:r>
            </a:p>
          </p:txBody>
        </p:sp>
      </p:grpSp>
      <p:grpSp>
        <p:nvGrpSpPr>
          <p:cNvPr name="Group 168" id="168"/>
          <p:cNvGrpSpPr/>
          <p:nvPr/>
        </p:nvGrpSpPr>
        <p:grpSpPr>
          <a:xfrm rot="0">
            <a:off x="10643997" y="3559997"/>
            <a:ext cx="1698498" cy="395002"/>
            <a:chOff x="0" y="0"/>
            <a:chExt cx="2264664" cy="526669"/>
          </a:xfrm>
        </p:grpSpPr>
        <p:sp>
          <p:nvSpPr>
            <p:cNvPr name="Freeform 169" id="16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70" id="170"/>
          <p:cNvGrpSpPr/>
          <p:nvPr/>
        </p:nvGrpSpPr>
        <p:grpSpPr>
          <a:xfrm rot="0">
            <a:off x="10643997" y="3559997"/>
            <a:ext cx="1698498" cy="395002"/>
            <a:chOff x="0" y="0"/>
            <a:chExt cx="2264664" cy="526669"/>
          </a:xfrm>
        </p:grpSpPr>
        <p:sp>
          <p:nvSpPr>
            <p:cNvPr name="Freeform 171" id="17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72" id="172"/>
          <p:cNvGrpSpPr/>
          <p:nvPr/>
        </p:nvGrpSpPr>
        <p:grpSpPr>
          <a:xfrm rot="0">
            <a:off x="10643997" y="3559997"/>
            <a:ext cx="1698498" cy="395002"/>
            <a:chOff x="0" y="0"/>
            <a:chExt cx="2264664" cy="526669"/>
          </a:xfrm>
        </p:grpSpPr>
        <p:sp>
          <p:nvSpPr>
            <p:cNvPr name="Freeform 173" id="17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74" id="17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39</a:t>
              </a:r>
            </a:p>
          </p:txBody>
        </p:sp>
      </p:grpSp>
      <p:grpSp>
        <p:nvGrpSpPr>
          <p:cNvPr name="Group 175" id="175"/>
          <p:cNvGrpSpPr/>
          <p:nvPr/>
        </p:nvGrpSpPr>
        <p:grpSpPr>
          <a:xfrm rot="0">
            <a:off x="12342505" y="3559997"/>
            <a:ext cx="1698498" cy="395002"/>
            <a:chOff x="0" y="0"/>
            <a:chExt cx="2264664" cy="526669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77" id="177"/>
          <p:cNvGrpSpPr/>
          <p:nvPr/>
        </p:nvGrpSpPr>
        <p:grpSpPr>
          <a:xfrm rot="0">
            <a:off x="12342505" y="3559997"/>
            <a:ext cx="1698498" cy="395002"/>
            <a:chOff x="0" y="0"/>
            <a:chExt cx="2264664" cy="526669"/>
          </a:xfrm>
        </p:grpSpPr>
        <p:sp>
          <p:nvSpPr>
            <p:cNvPr name="Freeform 178" id="17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79" id="179"/>
          <p:cNvGrpSpPr/>
          <p:nvPr/>
        </p:nvGrpSpPr>
        <p:grpSpPr>
          <a:xfrm rot="0">
            <a:off x="12342505" y="3559997"/>
            <a:ext cx="1698498" cy="395002"/>
            <a:chOff x="0" y="0"/>
            <a:chExt cx="2264664" cy="526669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81" id="18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46</a:t>
              </a:r>
            </a:p>
          </p:txBody>
        </p:sp>
      </p:grpSp>
      <p:grpSp>
        <p:nvGrpSpPr>
          <p:cNvPr name="Group 182" id="182"/>
          <p:cNvGrpSpPr/>
          <p:nvPr/>
        </p:nvGrpSpPr>
        <p:grpSpPr>
          <a:xfrm rot="0">
            <a:off x="14041003" y="3559997"/>
            <a:ext cx="1698498" cy="395002"/>
            <a:chOff x="0" y="0"/>
            <a:chExt cx="2264664" cy="526669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84" id="184"/>
          <p:cNvGrpSpPr/>
          <p:nvPr/>
        </p:nvGrpSpPr>
        <p:grpSpPr>
          <a:xfrm rot="0">
            <a:off x="14041003" y="3559997"/>
            <a:ext cx="1698498" cy="395002"/>
            <a:chOff x="0" y="0"/>
            <a:chExt cx="2264664" cy="526669"/>
          </a:xfrm>
        </p:grpSpPr>
        <p:sp>
          <p:nvSpPr>
            <p:cNvPr name="Freeform 185" id="18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86" id="186"/>
          <p:cNvGrpSpPr/>
          <p:nvPr/>
        </p:nvGrpSpPr>
        <p:grpSpPr>
          <a:xfrm rot="0">
            <a:off x="14041003" y="3559997"/>
            <a:ext cx="1698498" cy="395002"/>
            <a:chOff x="0" y="0"/>
            <a:chExt cx="2264664" cy="526669"/>
          </a:xfrm>
        </p:grpSpPr>
        <p:sp>
          <p:nvSpPr>
            <p:cNvPr name="Freeform 187" id="18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88" id="18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54</a:t>
              </a:r>
            </a:p>
          </p:txBody>
        </p:sp>
      </p:grpSp>
      <p:grpSp>
        <p:nvGrpSpPr>
          <p:cNvPr name="Group 189" id="189"/>
          <p:cNvGrpSpPr/>
          <p:nvPr/>
        </p:nvGrpSpPr>
        <p:grpSpPr>
          <a:xfrm rot="0">
            <a:off x="15739501" y="3559997"/>
            <a:ext cx="1698498" cy="395002"/>
            <a:chOff x="0" y="0"/>
            <a:chExt cx="2264664" cy="526669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91" id="191"/>
          <p:cNvGrpSpPr/>
          <p:nvPr/>
        </p:nvGrpSpPr>
        <p:grpSpPr>
          <a:xfrm rot="0">
            <a:off x="15739501" y="3559997"/>
            <a:ext cx="1698498" cy="395002"/>
            <a:chOff x="0" y="0"/>
            <a:chExt cx="2264664" cy="526669"/>
          </a:xfrm>
        </p:grpSpPr>
        <p:sp>
          <p:nvSpPr>
            <p:cNvPr name="Freeform 192" id="19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193" id="193"/>
          <p:cNvGrpSpPr/>
          <p:nvPr/>
        </p:nvGrpSpPr>
        <p:grpSpPr>
          <a:xfrm rot="0">
            <a:off x="15739501" y="3559997"/>
            <a:ext cx="1698498" cy="395002"/>
            <a:chOff x="0" y="0"/>
            <a:chExt cx="2264664" cy="526669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195" id="19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64</a:t>
              </a:r>
            </a:p>
          </p:txBody>
        </p:sp>
      </p:grpSp>
      <p:grpSp>
        <p:nvGrpSpPr>
          <p:cNvPr name="Group 196" id="196"/>
          <p:cNvGrpSpPr/>
          <p:nvPr/>
        </p:nvGrpSpPr>
        <p:grpSpPr>
          <a:xfrm rot="0">
            <a:off x="850001" y="3945998"/>
            <a:ext cx="16587978" cy="8954"/>
            <a:chOff x="0" y="0"/>
            <a:chExt cx="22117304" cy="11938"/>
          </a:xfrm>
        </p:grpSpPr>
        <p:sp>
          <p:nvSpPr>
            <p:cNvPr name="Freeform 197" id="197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198" id="198"/>
          <p:cNvGrpSpPr/>
          <p:nvPr/>
        </p:nvGrpSpPr>
        <p:grpSpPr>
          <a:xfrm rot="0">
            <a:off x="1070000" y="3954999"/>
            <a:ext cx="2699956" cy="395002"/>
            <a:chOff x="0" y="0"/>
            <a:chExt cx="3599942" cy="526669"/>
          </a:xfrm>
        </p:grpSpPr>
        <p:sp>
          <p:nvSpPr>
            <p:cNvPr name="Freeform 199" id="199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200" id="200"/>
          <p:cNvGrpSpPr/>
          <p:nvPr/>
        </p:nvGrpSpPr>
        <p:grpSpPr>
          <a:xfrm rot="0">
            <a:off x="1070000" y="3954999"/>
            <a:ext cx="2700004" cy="395002"/>
            <a:chOff x="0" y="0"/>
            <a:chExt cx="3600005" cy="526669"/>
          </a:xfrm>
        </p:grpSpPr>
        <p:sp>
          <p:nvSpPr>
            <p:cNvPr name="Freeform 201" id="201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202" id="202"/>
          <p:cNvGrpSpPr/>
          <p:nvPr/>
        </p:nvGrpSpPr>
        <p:grpSpPr>
          <a:xfrm rot="0">
            <a:off x="1070000" y="3954999"/>
            <a:ext cx="2700004" cy="395002"/>
            <a:chOff x="0" y="0"/>
            <a:chExt cx="3600005" cy="526669"/>
          </a:xfrm>
        </p:grpSpPr>
        <p:sp>
          <p:nvSpPr>
            <p:cNvPr name="Freeform 203" id="203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204" id="204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b="true" sz="1320" i="true">
                  <a:solidFill>
                    <a:srgbClr val="132257"/>
                  </a:solidFill>
                  <a:latin typeface="Exo 2 Bold Italics"/>
                  <a:ea typeface="Exo 2 Bold Italics"/>
                  <a:cs typeface="Exo 2 Bold Italics"/>
                  <a:sym typeface="Exo 2 Bold Italics"/>
                </a:rPr>
                <a:t>Performance Gap</a:t>
              </a:r>
            </a:p>
          </p:txBody>
        </p:sp>
      </p:grpSp>
      <p:grpSp>
        <p:nvGrpSpPr>
          <p:cNvPr name="Group 205" id="205"/>
          <p:cNvGrpSpPr/>
          <p:nvPr/>
        </p:nvGrpSpPr>
        <p:grpSpPr>
          <a:xfrm rot="0">
            <a:off x="3850005" y="3954999"/>
            <a:ext cx="1698498" cy="395002"/>
            <a:chOff x="0" y="0"/>
            <a:chExt cx="2264664" cy="526669"/>
          </a:xfrm>
        </p:grpSpPr>
        <p:sp>
          <p:nvSpPr>
            <p:cNvPr name="Freeform 206" id="20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07" id="207"/>
          <p:cNvGrpSpPr/>
          <p:nvPr/>
        </p:nvGrpSpPr>
        <p:grpSpPr>
          <a:xfrm rot="0">
            <a:off x="3850005" y="3954999"/>
            <a:ext cx="1698498" cy="395002"/>
            <a:chOff x="0" y="0"/>
            <a:chExt cx="2264664" cy="526669"/>
          </a:xfrm>
        </p:grpSpPr>
        <p:sp>
          <p:nvSpPr>
            <p:cNvPr name="Freeform 208" id="20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09" id="209"/>
          <p:cNvGrpSpPr/>
          <p:nvPr/>
        </p:nvGrpSpPr>
        <p:grpSpPr>
          <a:xfrm rot="0">
            <a:off x="3850005" y="3954999"/>
            <a:ext cx="1698498" cy="395002"/>
            <a:chOff x="0" y="0"/>
            <a:chExt cx="2264664" cy="526669"/>
          </a:xfrm>
        </p:grpSpPr>
        <p:sp>
          <p:nvSpPr>
            <p:cNvPr name="Freeform 210" id="21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11" id="21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-9</a:t>
              </a:r>
            </a:p>
          </p:txBody>
        </p:sp>
      </p:grpSp>
      <p:grpSp>
        <p:nvGrpSpPr>
          <p:cNvPr name="Group 212" id="212"/>
          <p:cNvGrpSpPr/>
          <p:nvPr/>
        </p:nvGrpSpPr>
        <p:grpSpPr>
          <a:xfrm rot="0">
            <a:off x="5548503" y="3954999"/>
            <a:ext cx="1698498" cy="395002"/>
            <a:chOff x="0" y="0"/>
            <a:chExt cx="2264664" cy="526669"/>
          </a:xfrm>
        </p:grpSpPr>
        <p:sp>
          <p:nvSpPr>
            <p:cNvPr name="Freeform 213" id="21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14" id="214"/>
          <p:cNvGrpSpPr/>
          <p:nvPr/>
        </p:nvGrpSpPr>
        <p:grpSpPr>
          <a:xfrm rot="0">
            <a:off x="5548503" y="3954999"/>
            <a:ext cx="1698498" cy="395002"/>
            <a:chOff x="0" y="0"/>
            <a:chExt cx="2264664" cy="526669"/>
          </a:xfrm>
        </p:grpSpPr>
        <p:sp>
          <p:nvSpPr>
            <p:cNvPr name="Freeform 215" id="21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16" id="216"/>
          <p:cNvGrpSpPr/>
          <p:nvPr/>
        </p:nvGrpSpPr>
        <p:grpSpPr>
          <a:xfrm rot="0">
            <a:off x="5548503" y="3954999"/>
            <a:ext cx="1698498" cy="395002"/>
            <a:chOff x="0" y="0"/>
            <a:chExt cx="2264664" cy="526669"/>
          </a:xfrm>
        </p:grpSpPr>
        <p:sp>
          <p:nvSpPr>
            <p:cNvPr name="Freeform 217" id="21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18" id="21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+0</a:t>
              </a:r>
            </a:p>
          </p:txBody>
        </p:sp>
      </p:grpSp>
      <p:grpSp>
        <p:nvGrpSpPr>
          <p:cNvPr name="Group 219" id="219"/>
          <p:cNvGrpSpPr/>
          <p:nvPr/>
        </p:nvGrpSpPr>
        <p:grpSpPr>
          <a:xfrm rot="0">
            <a:off x="7247001" y="3954999"/>
            <a:ext cx="1698498" cy="395002"/>
            <a:chOff x="0" y="0"/>
            <a:chExt cx="2264664" cy="526669"/>
          </a:xfrm>
        </p:grpSpPr>
        <p:sp>
          <p:nvSpPr>
            <p:cNvPr name="Freeform 220" id="22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21" id="221"/>
          <p:cNvGrpSpPr/>
          <p:nvPr/>
        </p:nvGrpSpPr>
        <p:grpSpPr>
          <a:xfrm rot="0">
            <a:off x="7247001" y="3954999"/>
            <a:ext cx="1698498" cy="395002"/>
            <a:chOff x="0" y="0"/>
            <a:chExt cx="2264664" cy="526669"/>
          </a:xfrm>
        </p:grpSpPr>
        <p:sp>
          <p:nvSpPr>
            <p:cNvPr name="Freeform 222" id="22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23" id="223"/>
          <p:cNvGrpSpPr/>
          <p:nvPr/>
        </p:nvGrpSpPr>
        <p:grpSpPr>
          <a:xfrm rot="0">
            <a:off x="7247001" y="3954999"/>
            <a:ext cx="1698498" cy="395002"/>
            <a:chOff x="0" y="0"/>
            <a:chExt cx="2264664" cy="526669"/>
          </a:xfrm>
        </p:grpSpPr>
        <p:sp>
          <p:nvSpPr>
            <p:cNvPr name="Freeform 224" id="22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25" id="22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BA97C"/>
                  </a:solidFill>
                  <a:latin typeface="Exo 2 Bold"/>
                  <a:ea typeface="Exo 2 Bold"/>
                  <a:cs typeface="Exo 2 Bold"/>
                  <a:sym typeface="Exo 2 Bold"/>
                </a:rPr>
                <a:t>+5</a:t>
              </a:r>
            </a:p>
          </p:txBody>
        </p:sp>
      </p:grpSp>
      <p:grpSp>
        <p:nvGrpSpPr>
          <p:cNvPr name="Group 226" id="226"/>
          <p:cNvGrpSpPr/>
          <p:nvPr/>
        </p:nvGrpSpPr>
        <p:grpSpPr>
          <a:xfrm rot="0">
            <a:off x="8945499" y="3954999"/>
            <a:ext cx="1698498" cy="395002"/>
            <a:chOff x="0" y="0"/>
            <a:chExt cx="2264664" cy="526669"/>
          </a:xfrm>
        </p:grpSpPr>
        <p:sp>
          <p:nvSpPr>
            <p:cNvPr name="Freeform 227" id="22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28" id="228"/>
          <p:cNvGrpSpPr/>
          <p:nvPr/>
        </p:nvGrpSpPr>
        <p:grpSpPr>
          <a:xfrm rot="0">
            <a:off x="8945499" y="3954999"/>
            <a:ext cx="1698498" cy="395002"/>
            <a:chOff x="0" y="0"/>
            <a:chExt cx="2264664" cy="526669"/>
          </a:xfrm>
        </p:grpSpPr>
        <p:sp>
          <p:nvSpPr>
            <p:cNvPr name="Freeform 229" id="22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30" id="230"/>
          <p:cNvGrpSpPr/>
          <p:nvPr/>
        </p:nvGrpSpPr>
        <p:grpSpPr>
          <a:xfrm rot="0">
            <a:off x="8945499" y="3954999"/>
            <a:ext cx="1698498" cy="395002"/>
            <a:chOff x="0" y="0"/>
            <a:chExt cx="2264664" cy="526669"/>
          </a:xfrm>
        </p:grpSpPr>
        <p:sp>
          <p:nvSpPr>
            <p:cNvPr name="Freeform 231" id="23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32" id="23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BA97C"/>
                  </a:solidFill>
                  <a:latin typeface="Exo 2 Bold"/>
                  <a:ea typeface="Exo 2 Bold"/>
                  <a:cs typeface="Exo 2 Bold"/>
                  <a:sym typeface="Exo 2 Bold"/>
                </a:rPr>
                <a:t>+14</a:t>
              </a:r>
            </a:p>
          </p:txBody>
        </p:sp>
      </p:grpSp>
      <p:grpSp>
        <p:nvGrpSpPr>
          <p:cNvPr name="Group 233" id="233"/>
          <p:cNvGrpSpPr/>
          <p:nvPr/>
        </p:nvGrpSpPr>
        <p:grpSpPr>
          <a:xfrm rot="0">
            <a:off x="10643997" y="3954999"/>
            <a:ext cx="1698498" cy="395002"/>
            <a:chOff x="0" y="0"/>
            <a:chExt cx="2264664" cy="526669"/>
          </a:xfrm>
        </p:grpSpPr>
        <p:sp>
          <p:nvSpPr>
            <p:cNvPr name="Freeform 234" id="23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35" id="235"/>
          <p:cNvGrpSpPr/>
          <p:nvPr/>
        </p:nvGrpSpPr>
        <p:grpSpPr>
          <a:xfrm rot="0">
            <a:off x="10643997" y="3954999"/>
            <a:ext cx="1698498" cy="395002"/>
            <a:chOff x="0" y="0"/>
            <a:chExt cx="2264664" cy="526669"/>
          </a:xfrm>
        </p:grpSpPr>
        <p:sp>
          <p:nvSpPr>
            <p:cNvPr name="Freeform 236" id="23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37" id="237"/>
          <p:cNvGrpSpPr/>
          <p:nvPr/>
        </p:nvGrpSpPr>
        <p:grpSpPr>
          <a:xfrm rot="0">
            <a:off x="10643997" y="3954999"/>
            <a:ext cx="1698498" cy="395002"/>
            <a:chOff x="0" y="0"/>
            <a:chExt cx="2264664" cy="526669"/>
          </a:xfrm>
        </p:grpSpPr>
        <p:sp>
          <p:nvSpPr>
            <p:cNvPr name="Freeform 238" id="23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39" id="23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BA97C"/>
                  </a:solidFill>
                  <a:latin typeface="Exo 2 Bold"/>
                  <a:ea typeface="Exo 2 Bold"/>
                  <a:cs typeface="Exo 2 Bold"/>
                  <a:sym typeface="Exo 2 Bold"/>
                </a:rPr>
                <a:t>+22</a:t>
              </a:r>
            </a:p>
          </p:txBody>
        </p:sp>
      </p:grpSp>
      <p:grpSp>
        <p:nvGrpSpPr>
          <p:cNvPr name="Group 240" id="240"/>
          <p:cNvGrpSpPr/>
          <p:nvPr/>
        </p:nvGrpSpPr>
        <p:grpSpPr>
          <a:xfrm rot="0">
            <a:off x="850001" y="4341000"/>
            <a:ext cx="16587978" cy="8954"/>
            <a:chOff x="0" y="0"/>
            <a:chExt cx="22117304" cy="11938"/>
          </a:xfrm>
        </p:grpSpPr>
        <p:sp>
          <p:nvSpPr>
            <p:cNvPr name="Freeform 241" id="241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242" id="242"/>
          <p:cNvGrpSpPr/>
          <p:nvPr/>
        </p:nvGrpSpPr>
        <p:grpSpPr>
          <a:xfrm rot="0">
            <a:off x="850001" y="4350001"/>
            <a:ext cx="16587978" cy="395002"/>
            <a:chOff x="0" y="0"/>
            <a:chExt cx="22117304" cy="526669"/>
          </a:xfrm>
        </p:grpSpPr>
        <p:sp>
          <p:nvSpPr>
            <p:cNvPr name="Freeform 243" id="243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solidFill>
              <a:srgbClr val="E9EDF6"/>
            </a:solidFill>
          </p:spPr>
        </p:sp>
      </p:grpSp>
      <p:grpSp>
        <p:nvGrpSpPr>
          <p:cNvPr name="Group 244" id="244"/>
          <p:cNvGrpSpPr/>
          <p:nvPr/>
        </p:nvGrpSpPr>
        <p:grpSpPr>
          <a:xfrm rot="0">
            <a:off x="1070000" y="4350001"/>
            <a:ext cx="16587978" cy="395002"/>
            <a:chOff x="0" y="0"/>
            <a:chExt cx="22117304" cy="526669"/>
          </a:xfrm>
        </p:grpSpPr>
        <p:sp>
          <p:nvSpPr>
            <p:cNvPr name="Freeform 245" id="245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767699" r="0" b="-767699"/>
              </a:stretch>
            </a:blipFill>
          </p:spPr>
        </p:sp>
      </p:grpSp>
      <p:grpSp>
        <p:nvGrpSpPr>
          <p:cNvPr name="Group 246" id="246"/>
          <p:cNvGrpSpPr/>
          <p:nvPr/>
        </p:nvGrpSpPr>
        <p:grpSpPr>
          <a:xfrm rot="0">
            <a:off x="1070000" y="4342857"/>
            <a:ext cx="16587997" cy="402146"/>
            <a:chOff x="0" y="0"/>
            <a:chExt cx="22117329" cy="536194"/>
          </a:xfrm>
        </p:grpSpPr>
        <p:sp>
          <p:nvSpPr>
            <p:cNvPr name="Freeform 247" id="247"/>
            <p:cNvSpPr/>
            <p:nvPr/>
          </p:nvSpPr>
          <p:spPr>
            <a:xfrm flipH="false" flipV="false" rot="0">
              <a:off x="0" y="0"/>
              <a:ext cx="22117304" cy="536194"/>
            </a:xfrm>
            <a:custGeom>
              <a:avLst/>
              <a:gdLst/>
              <a:ahLst/>
              <a:cxnLst/>
              <a:rect r="r" b="b" t="t" l="l"/>
              <a:pathLst>
                <a:path h="536194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36194"/>
                  </a:lnTo>
                  <a:lnTo>
                    <a:pt x="0" y="53619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53173" r="0" b="-753173"/>
              </a:stretch>
            </a:blipFill>
          </p:spPr>
        </p:sp>
      </p:grpSp>
      <p:grpSp>
        <p:nvGrpSpPr>
          <p:cNvPr name="Group 248" id="248"/>
          <p:cNvGrpSpPr/>
          <p:nvPr/>
        </p:nvGrpSpPr>
        <p:grpSpPr>
          <a:xfrm rot="0">
            <a:off x="1070000" y="4335713"/>
            <a:ext cx="16587997" cy="409289"/>
            <a:chOff x="0" y="0"/>
            <a:chExt cx="22117329" cy="545719"/>
          </a:xfrm>
        </p:grpSpPr>
        <p:sp>
          <p:nvSpPr>
            <p:cNvPr name="Freeform 249" id="249"/>
            <p:cNvSpPr/>
            <p:nvPr/>
          </p:nvSpPr>
          <p:spPr>
            <a:xfrm flipH="false" flipV="false" rot="0">
              <a:off x="0" y="0"/>
              <a:ext cx="22117329" cy="545720"/>
            </a:xfrm>
            <a:custGeom>
              <a:avLst/>
              <a:gdLst/>
              <a:ahLst/>
              <a:cxnLst/>
              <a:rect r="r" b="b" t="t" l="l"/>
              <a:pathLst>
                <a:path h="545720" w="22117329">
                  <a:moveTo>
                    <a:pt x="0" y="0"/>
                  </a:moveTo>
                  <a:lnTo>
                    <a:pt x="22117329" y="0"/>
                  </a:lnTo>
                  <a:lnTo>
                    <a:pt x="22117329" y="545720"/>
                  </a:lnTo>
                  <a:lnTo>
                    <a:pt x="0" y="5457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739704" r="0" b="-739703"/>
              </a:stretch>
            </a:blipFill>
          </p:spPr>
        </p:sp>
        <p:sp>
          <p:nvSpPr>
            <p:cNvPr name="TextBox 250" id="250"/>
            <p:cNvSpPr txBox="true"/>
            <p:nvPr/>
          </p:nvSpPr>
          <p:spPr>
            <a:xfrm>
              <a:off x="0" y="-9525"/>
              <a:ext cx="22117329" cy="5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12"/>
                </a:lnSpc>
              </a:pPr>
              <a:r>
                <a:rPr lang="en-US" b="true" sz="1260" spc="138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II.  NUMBER OF TRADES</a:t>
              </a:r>
            </a:p>
          </p:txBody>
        </p:sp>
      </p:grpSp>
      <p:grpSp>
        <p:nvGrpSpPr>
          <p:cNvPr name="Group 251" id="251"/>
          <p:cNvGrpSpPr/>
          <p:nvPr/>
        </p:nvGrpSpPr>
        <p:grpSpPr>
          <a:xfrm rot="0">
            <a:off x="1070000" y="4745003"/>
            <a:ext cx="2699956" cy="395002"/>
            <a:chOff x="0" y="0"/>
            <a:chExt cx="3599942" cy="526669"/>
          </a:xfrm>
        </p:grpSpPr>
        <p:sp>
          <p:nvSpPr>
            <p:cNvPr name="Freeform 252" id="252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253" id="253"/>
          <p:cNvGrpSpPr/>
          <p:nvPr/>
        </p:nvGrpSpPr>
        <p:grpSpPr>
          <a:xfrm rot="0">
            <a:off x="1070000" y="4745003"/>
            <a:ext cx="2700004" cy="395002"/>
            <a:chOff x="0" y="0"/>
            <a:chExt cx="3600005" cy="526669"/>
          </a:xfrm>
        </p:grpSpPr>
        <p:sp>
          <p:nvSpPr>
            <p:cNvPr name="Freeform 254" id="254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255" id="255"/>
          <p:cNvGrpSpPr/>
          <p:nvPr/>
        </p:nvGrpSpPr>
        <p:grpSpPr>
          <a:xfrm rot="0">
            <a:off x="1070000" y="4745003"/>
            <a:ext cx="2700004" cy="395002"/>
            <a:chOff x="0" y="0"/>
            <a:chExt cx="3600005" cy="526669"/>
          </a:xfrm>
        </p:grpSpPr>
        <p:sp>
          <p:nvSpPr>
            <p:cNvPr name="Freeform 256" id="256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257" id="257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Achieved / Current</a:t>
              </a:r>
            </a:p>
          </p:txBody>
        </p:sp>
      </p:grpSp>
      <p:grpSp>
        <p:nvGrpSpPr>
          <p:cNvPr name="Group 258" id="258"/>
          <p:cNvGrpSpPr/>
          <p:nvPr/>
        </p:nvGrpSpPr>
        <p:grpSpPr>
          <a:xfrm rot="0">
            <a:off x="3850005" y="4745003"/>
            <a:ext cx="1698498" cy="395002"/>
            <a:chOff x="0" y="0"/>
            <a:chExt cx="2264664" cy="526669"/>
          </a:xfrm>
        </p:grpSpPr>
        <p:sp>
          <p:nvSpPr>
            <p:cNvPr name="Freeform 259" id="25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60" id="260"/>
          <p:cNvGrpSpPr/>
          <p:nvPr/>
        </p:nvGrpSpPr>
        <p:grpSpPr>
          <a:xfrm rot="0">
            <a:off x="3850005" y="4745003"/>
            <a:ext cx="1698498" cy="395002"/>
            <a:chOff x="0" y="0"/>
            <a:chExt cx="2264664" cy="526669"/>
          </a:xfrm>
        </p:grpSpPr>
        <p:sp>
          <p:nvSpPr>
            <p:cNvPr name="Freeform 261" id="26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62" id="262"/>
          <p:cNvGrpSpPr/>
          <p:nvPr/>
        </p:nvGrpSpPr>
        <p:grpSpPr>
          <a:xfrm rot="0">
            <a:off x="3850005" y="4745003"/>
            <a:ext cx="1698498" cy="395002"/>
            <a:chOff x="0" y="0"/>
            <a:chExt cx="2264664" cy="526669"/>
          </a:xfrm>
        </p:grpSpPr>
        <p:sp>
          <p:nvSpPr>
            <p:cNvPr name="Freeform 263" id="26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64" id="26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8</a:t>
              </a:r>
            </a:p>
          </p:txBody>
        </p:sp>
      </p:grpSp>
      <p:grpSp>
        <p:nvGrpSpPr>
          <p:cNvPr name="Group 265" id="265"/>
          <p:cNvGrpSpPr/>
          <p:nvPr/>
        </p:nvGrpSpPr>
        <p:grpSpPr>
          <a:xfrm rot="0">
            <a:off x="5548503" y="4745003"/>
            <a:ext cx="1698498" cy="395002"/>
            <a:chOff x="0" y="0"/>
            <a:chExt cx="2264664" cy="526669"/>
          </a:xfrm>
        </p:grpSpPr>
        <p:sp>
          <p:nvSpPr>
            <p:cNvPr name="Freeform 266" id="26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67" id="267"/>
          <p:cNvGrpSpPr/>
          <p:nvPr/>
        </p:nvGrpSpPr>
        <p:grpSpPr>
          <a:xfrm rot="0">
            <a:off x="5548503" y="4745003"/>
            <a:ext cx="1698498" cy="395002"/>
            <a:chOff x="0" y="0"/>
            <a:chExt cx="2264664" cy="526669"/>
          </a:xfrm>
        </p:grpSpPr>
        <p:sp>
          <p:nvSpPr>
            <p:cNvPr name="Freeform 268" id="26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69" id="269"/>
          <p:cNvGrpSpPr/>
          <p:nvPr/>
        </p:nvGrpSpPr>
        <p:grpSpPr>
          <a:xfrm rot="0">
            <a:off x="5548503" y="4745003"/>
            <a:ext cx="1698498" cy="395002"/>
            <a:chOff x="0" y="0"/>
            <a:chExt cx="2264664" cy="526669"/>
          </a:xfrm>
        </p:grpSpPr>
        <p:sp>
          <p:nvSpPr>
            <p:cNvPr name="Freeform 270" id="27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71" id="27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17</a:t>
              </a:r>
            </a:p>
          </p:txBody>
        </p:sp>
      </p:grpSp>
      <p:grpSp>
        <p:nvGrpSpPr>
          <p:cNvPr name="Group 272" id="272"/>
          <p:cNvGrpSpPr/>
          <p:nvPr/>
        </p:nvGrpSpPr>
        <p:grpSpPr>
          <a:xfrm rot="0">
            <a:off x="7247001" y="4745003"/>
            <a:ext cx="1698498" cy="395002"/>
            <a:chOff x="0" y="0"/>
            <a:chExt cx="2264664" cy="526669"/>
          </a:xfrm>
        </p:grpSpPr>
        <p:sp>
          <p:nvSpPr>
            <p:cNvPr name="Freeform 273" id="27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74" id="274"/>
          <p:cNvGrpSpPr/>
          <p:nvPr/>
        </p:nvGrpSpPr>
        <p:grpSpPr>
          <a:xfrm rot="0">
            <a:off x="7247001" y="4745003"/>
            <a:ext cx="1698498" cy="395002"/>
            <a:chOff x="0" y="0"/>
            <a:chExt cx="2264664" cy="526669"/>
          </a:xfrm>
        </p:grpSpPr>
        <p:sp>
          <p:nvSpPr>
            <p:cNvPr name="Freeform 275" id="27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76" id="276"/>
          <p:cNvGrpSpPr/>
          <p:nvPr/>
        </p:nvGrpSpPr>
        <p:grpSpPr>
          <a:xfrm rot="0">
            <a:off x="7247001" y="4745003"/>
            <a:ext cx="1698498" cy="395002"/>
            <a:chOff x="0" y="0"/>
            <a:chExt cx="2264664" cy="526669"/>
          </a:xfrm>
        </p:grpSpPr>
        <p:sp>
          <p:nvSpPr>
            <p:cNvPr name="Freeform 277" id="27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78" id="27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5</a:t>
              </a:r>
            </a:p>
          </p:txBody>
        </p:sp>
      </p:grpSp>
      <p:grpSp>
        <p:nvGrpSpPr>
          <p:cNvPr name="Group 279" id="279"/>
          <p:cNvGrpSpPr/>
          <p:nvPr/>
        </p:nvGrpSpPr>
        <p:grpSpPr>
          <a:xfrm rot="0">
            <a:off x="8945499" y="4745003"/>
            <a:ext cx="1698498" cy="395002"/>
            <a:chOff x="0" y="0"/>
            <a:chExt cx="2264664" cy="526669"/>
          </a:xfrm>
        </p:grpSpPr>
        <p:sp>
          <p:nvSpPr>
            <p:cNvPr name="Freeform 280" id="28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81" id="281"/>
          <p:cNvGrpSpPr/>
          <p:nvPr/>
        </p:nvGrpSpPr>
        <p:grpSpPr>
          <a:xfrm rot="0">
            <a:off x="8945499" y="4745003"/>
            <a:ext cx="1698498" cy="395002"/>
            <a:chOff x="0" y="0"/>
            <a:chExt cx="2264664" cy="526669"/>
          </a:xfrm>
        </p:grpSpPr>
        <p:sp>
          <p:nvSpPr>
            <p:cNvPr name="Freeform 282" id="28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83" id="283"/>
          <p:cNvGrpSpPr/>
          <p:nvPr/>
        </p:nvGrpSpPr>
        <p:grpSpPr>
          <a:xfrm rot="0">
            <a:off x="8945499" y="4745003"/>
            <a:ext cx="1698498" cy="395002"/>
            <a:chOff x="0" y="0"/>
            <a:chExt cx="2264664" cy="526669"/>
          </a:xfrm>
        </p:grpSpPr>
        <p:sp>
          <p:nvSpPr>
            <p:cNvPr name="Freeform 284" id="28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85" id="28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16</a:t>
              </a:r>
            </a:p>
          </p:txBody>
        </p:sp>
      </p:grpSp>
      <p:grpSp>
        <p:nvGrpSpPr>
          <p:cNvPr name="Group 286" id="286"/>
          <p:cNvGrpSpPr/>
          <p:nvPr/>
        </p:nvGrpSpPr>
        <p:grpSpPr>
          <a:xfrm rot="0">
            <a:off x="10643997" y="4745003"/>
            <a:ext cx="1698498" cy="395002"/>
            <a:chOff x="0" y="0"/>
            <a:chExt cx="2264664" cy="526669"/>
          </a:xfrm>
        </p:grpSpPr>
        <p:sp>
          <p:nvSpPr>
            <p:cNvPr name="Freeform 287" id="28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88" id="288"/>
          <p:cNvGrpSpPr/>
          <p:nvPr/>
        </p:nvGrpSpPr>
        <p:grpSpPr>
          <a:xfrm rot="0">
            <a:off x="10643997" y="4745003"/>
            <a:ext cx="1698498" cy="395002"/>
            <a:chOff x="0" y="0"/>
            <a:chExt cx="2264664" cy="526669"/>
          </a:xfrm>
        </p:grpSpPr>
        <p:sp>
          <p:nvSpPr>
            <p:cNvPr name="Freeform 289" id="28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290" id="290"/>
          <p:cNvGrpSpPr/>
          <p:nvPr/>
        </p:nvGrpSpPr>
        <p:grpSpPr>
          <a:xfrm rot="0">
            <a:off x="10643997" y="4745003"/>
            <a:ext cx="1698498" cy="395002"/>
            <a:chOff x="0" y="0"/>
            <a:chExt cx="2264664" cy="526669"/>
          </a:xfrm>
        </p:grpSpPr>
        <p:sp>
          <p:nvSpPr>
            <p:cNvPr name="Freeform 291" id="29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292" id="29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9</a:t>
              </a:r>
            </a:p>
          </p:txBody>
        </p:sp>
      </p:grpSp>
      <p:grpSp>
        <p:nvGrpSpPr>
          <p:cNvPr name="Group 293" id="293"/>
          <p:cNvGrpSpPr/>
          <p:nvPr/>
        </p:nvGrpSpPr>
        <p:grpSpPr>
          <a:xfrm rot="0">
            <a:off x="850001" y="5131003"/>
            <a:ext cx="16587978" cy="8954"/>
            <a:chOff x="0" y="0"/>
            <a:chExt cx="22117304" cy="11938"/>
          </a:xfrm>
        </p:grpSpPr>
        <p:sp>
          <p:nvSpPr>
            <p:cNvPr name="Freeform 294" id="294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295" id="295"/>
          <p:cNvGrpSpPr/>
          <p:nvPr/>
        </p:nvGrpSpPr>
        <p:grpSpPr>
          <a:xfrm rot="0">
            <a:off x="1070000" y="5140004"/>
            <a:ext cx="2699956" cy="395002"/>
            <a:chOff x="0" y="0"/>
            <a:chExt cx="3599942" cy="526669"/>
          </a:xfrm>
        </p:grpSpPr>
        <p:sp>
          <p:nvSpPr>
            <p:cNvPr name="Freeform 296" id="296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297" id="297"/>
          <p:cNvGrpSpPr/>
          <p:nvPr/>
        </p:nvGrpSpPr>
        <p:grpSpPr>
          <a:xfrm rot="0">
            <a:off x="1070000" y="5140004"/>
            <a:ext cx="2700004" cy="395002"/>
            <a:chOff x="0" y="0"/>
            <a:chExt cx="3600005" cy="526669"/>
          </a:xfrm>
        </p:grpSpPr>
        <p:sp>
          <p:nvSpPr>
            <p:cNvPr name="Freeform 298" id="298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299" id="299"/>
          <p:cNvGrpSpPr/>
          <p:nvPr/>
        </p:nvGrpSpPr>
        <p:grpSpPr>
          <a:xfrm rot="0">
            <a:off x="1070000" y="5140004"/>
            <a:ext cx="2700004" cy="395002"/>
            <a:chOff x="0" y="0"/>
            <a:chExt cx="3600005" cy="526669"/>
          </a:xfrm>
        </p:grpSpPr>
        <p:sp>
          <p:nvSpPr>
            <p:cNvPr name="Freeform 300" id="300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301" id="301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Target / Projected</a:t>
              </a:r>
            </a:p>
          </p:txBody>
        </p:sp>
      </p:grpSp>
      <p:grpSp>
        <p:nvGrpSpPr>
          <p:cNvPr name="Group 302" id="302"/>
          <p:cNvGrpSpPr/>
          <p:nvPr/>
        </p:nvGrpSpPr>
        <p:grpSpPr>
          <a:xfrm rot="0">
            <a:off x="3850005" y="5140004"/>
            <a:ext cx="1698498" cy="395002"/>
            <a:chOff x="0" y="0"/>
            <a:chExt cx="2264664" cy="526669"/>
          </a:xfrm>
        </p:grpSpPr>
        <p:sp>
          <p:nvSpPr>
            <p:cNvPr name="Freeform 303" id="30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04" id="304"/>
          <p:cNvGrpSpPr/>
          <p:nvPr/>
        </p:nvGrpSpPr>
        <p:grpSpPr>
          <a:xfrm rot="0">
            <a:off x="3850005" y="5140004"/>
            <a:ext cx="1698498" cy="395002"/>
            <a:chOff x="0" y="0"/>
            <a:chExt cx="2264664" cy="526669"/>
          </a:xfrm>
        </p:grpSpPr>
        <p:sp>
          <p:nvSpPr>
            <p:cNvPr name="Freeform 305" id="30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06" id="306"/>
          <p:cNvGrpSpPr/>
          <p:nvPr/>
        </p:nvGrpSpPr>
        <p:grpSpPr>
          <a:xfrm rot="0">
            <a:off x="3850005" y="5140004"/>
            <a:ext cx="1698498" cy="395002"/>
            <a:chOff x="0" y="0"/>
            <a:chExt cx="2264664" cy="526669"/>
          </a:xfrm>
        </p:grpSpPr>
        <p:sp>
          <p:nvSpPr>
            <p:cNvPr name="Freeform 307" id="30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08" id="30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20</a:t>
              </a:r>
            </a:p>
          </p:txBody>
        </p:sp>
      </p:grpSp>
      <p:grpSp>
        <p:nvGrpSpPr>
          <p:cNvPr name="Group 309" id="309"/>
          <p:cNvGrpSpPr/>
          <p:nvPr/>
        </p:nvGrpSpPr>
        <p:grpSpPr>
          <a:xfrm rot="0">
            <a:off x="5548503" y="5140004"/>
            <a:ext cx="1698498" cy="395002"/>
            <a:chOff x="0" y="0"/>
            <a:chExt cx="2264664" cy="526669"/>
          </a:xfrm>
        </p:grpSpPr>
        <p:sp>
          <p:nvSpPr>
            <p:cNvPr name="Freeform 310" id="31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11" id="311"/>
          <p:cNvGrpSpPr/>
          <p:nvPr/>
        </p:nvGrpSpPr>
        <p:grpSpPr>
          <a:xfrm rot="0">
            <a:off x="5548503" y="5140004"/>
            <a:ext cx="1698498" cy="395002"/>
            <a:chOff x="0" y="0"/>
            <a:chExt cx="2264664" cy="526669"/>
          </a:xfrm>
        </p:grpSpPr>
        <p:sp>
          <p:nvSpPr>
            <p:cNvPr name="Freeform 312" id="31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13" id="313"/>
          <p:cNvGrpSpPr/>
          <p:nvPr/>
        </p:nvGrpSpPr>
        <p:grpSpPr>
          <a:xfrm rot="0">
            <a:off x="5548503" y="5140004"/>
            <a:ext cx="1698498" cy="395002"/>
            <a:chOff x="0" y="0"/>
            <a:chExt cx="2264664" cy="526669"/>
          </a:xfrm>
        </p:grpSpPr>
        <p:sp>
          <p:nvSpPr>
            <p:cNvPr name="Freeform 314" id="31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15" id="31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24</a:t>
              </a:r>
            </a:p>
          </p:txBody>
        </p:sp>
      </p:grpSp>
      <p:grpSp>
        <p:nvGrpSpPr>
          <p:cNvPr name="Group 316" id="316"/>
          <p:cNvGrpSpPr/>
          <p:nvPr/>
        </p:nvGrpSpPr>
        <p:grpSpPr>
          <a:xfrm rot="0">
            <a:off x="7247001" y="5140004"/>
            <a:ext cx="1698498" cy="395002"/>
            <a:chOff x="0" y="0"/>
            <a:chExt cx="2264664" cy="526669"/>
          </a:xfrm>
        </p:grpSpPr>
        <p:sp>
          <p:nvSpPr>
            <p:cNvPr name="Freeform 317" id="31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18" id="318"/>
          <p:cNvGrpSpPr/>
          <p:nvPr/>
        </p:nvGrpSpPr>
        <p:grpSpPr>
          <a:xfrm rot="0">
            <a:off x="7247001" y="5140004"/>
            <a:ext cx="1698498" cy="395002"/>
            <a:chOff x="0" y="0"/>
            <a:chExt cx="2264664" cy="526669"/>
          </a:xfrm>
        </p:grpSpPr>
        <p:sp>
          <p:nvSpPr>
            <p:cNvPr name="Freeform 319" id="31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20" id="320"/>
          <p:cNvGrpSpPr/>
          <p:nvPr/>
        </p:nvGrpSpPr>
        <p:grpSpPr>
          <a:xfrm rot="0">
            <a:off x="7247001" y="5140004"/>
            <a:ext cx="1698498" cy="395002"/>
            <a:chOff x="0" y="0"/>
            <a:chExt cx="2264664" cy="526669"/>
          </a:xfrm>
        </p:grpSpPr>
        <p:sp>
          <p:nvSpPr>
            <p:cNvPr name="Freeform 321" id="32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22" id="32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28</a:t>
              </a:r>
            </a:p>
          </p:txBody>
        </p:sp>
      </p:grpSp>
      <p:grpSp>
        <p:nvGrpSpPr>
          <p:cNvPr name="Group 323" id="323"/>
          <p:cNvGrpSpPr/>
          <p:nvPr/>
        </p:nvGrpSpPr>
        <p:grpSpPr>
          <a:xfrm rot="0">
            <a:off x="8945499" y="5140004"/>
            <a:ext cx="1698498" cy="395002"/>
            <a:chOff x="0" y="0"/>
            <a:chExt cx="2264664" cy="526669"/>
          </a:xfrm>
        </p:grpSpPr>
        <p:sp>
          <p:nvSpPr>
            <p:cNvPr name="Freeform 324" id="32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25" id="325"/>
          <p:cNvGrpSpPr/>
          <p:nvPr/>
        </p:nvGrpSpPr>
        <p:grpSpPr>
          <a:xfrm rot="0">
            <a:off x="8945499" y="5140004"/>
            <a:ext cx="1698498" cy="395002"/>
            <a:chOff x="0" y="0"/>
            <a:chExt cx="2264664" cy="526669"/>
          </a:xfrm>
        </p:grpSpPr>
        <p:sp>
          <p:nvSpPr>
            <p:cNvPr name="Freeform 326" id="32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27" id="327"/>
          <p:cNvGrpSpPr/>
          <p:nvPr/>
        </p:nvGrpSpPr>
        <p:grpSpPr>
          <a:xfrm rot="0">
            <a:off x="8945499" y="5140004"/>
            <a:ext cx="1698498" cy="395002"/>
            <a:chOff x="0" y="0"/>
            <a:chExt cx="2264664" cy="526669"/>
          </a:xfrm>
        </p:grpSpPr>
        <p:sp>
          <p:nvSpPr>
            <p:cNvPr name="Freeform 328" id="32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29" id="32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33</a:t>
              </a:r>
            </a:p>
          </p:txBody>
        </p:sp>
      </p:grpSp>
      <p:grpSp>
        <p:nvGrpSpPr>
          <p:cNvPr name="Group 330" id="330"/>
          <p:cNvGrpSpPr/>
          <p:nvPr/>
        </p:nvGrpSpPr>
        <p:grpSpPr>
          <a:xfrm rot="0">
            <a:off x="10643997" y="5140004"/>
            <a:ext cx="1698498" cy="395002"/>
            <a:chOff x="0" y="0"/>
            <a:chExt cx="2264664" cy="526669"/>
          </a:xfrm>
        </p:grpSpPr>
        <p:sp>
          <p:nvSpPr>
            <p:cNvPr name="Freeform 331" id="33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32" id="332"/>
          <p:cNvGrpSpPr/>
          <p:nvPr/>
        </p:nvGrpSpPr>
        <p:grpSpPr>
          <a:xfrm rot="0">
            <a:off x="10643997" y="5140004"/>
            <a:ext cx="1698498" cy="395002"/>
            <a:chOff x="0" y="0"/>
            <a:chExt cx="2264664" cy="526669"/>
          </a:xfrm>
        </p:grpSpPr>
        <p:sp>
          <p:nvSpPr>
            <p:cNvPr name="Freeform 333" id="33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34" id="334"/>
          <p:cNvGrpSpPr/>
          <p:nvPr/>
        </p:nvGrpSpPr>
        <p:grpSpPr>
          <a:xfrm rot="0">
            <a:off x="10643997" y="5140004"/>
            <a:ext cx="1698498" cy="395002"/>
            <a:chOff x="0" y="0"/>
            <a:chExt cx="2264664" cy="526669"/>
          </a:xfrm>
        </p:grpSpPr>
        <p:sp>
          <p:nvSpPr>
            <p:cNvPr name="Freeform 335" id="33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36" id="33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39</a:t>
              </a:r>
            </a:p>
          </p:txBody>
        </p:sp>
      </p:grpSp>
      <p:grpSp>
        <p:nvGrpSpPr>
          <p:cNvPr name="Group 337" id="337"/>
          <p:cNvGrpSpPr/>
          <p:nvPr/>
        </p:nvGrpSpPr>
        <p:grpSpPr>
          <a:xfrm rot="0">
            <a:off x="12342505" y="5140004"/>
            <a:ext cx="1698498" cy="395002"/>
            <a:chOff x="0" y="0"/>
            <a:chExt cx="2264664" cy="526669"/>
          </a:xfrm>
        </p:grpSpPr>
        <p:sp>
          <p:nvSpPr>
            <p:cNvPr name="Freeform 338" id="33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39" id="339"/>
          <p:cNvGrpSpPr/>
          <p:nvPr/>
        </p:nvGrpSpPr>
        <p:grpSpPr>
          <a:xfrm rot="0">
            <a:off x="12342505" y="5140004"/>
            <a:ext cx="1698498" cy="395002"/>
            <a:chOff x="0" y="0"/>
            <a:chExt cx="2264664" cy="526669"/>
          </a:xfrm>
        </p:grpSpPr>
        <p:sp>
          <p:nvSpPr>
            <p:cNvPr name="Freeform 340" id="34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41" id="341"/>
          <p:cNvGrpSpPr/>
          <p:nvPr/>
        </p:nvGrpSpPr>
        <p:grpSpPr>
          <a:xfrm rot="0">
            <a:off x="12342505" y="5140004"/>
            <a:ext cx="1698498" cy="395002"/>
            <a:chOff x="0" y="0"/>
            <a:chExt cx="2264664" cy="526669"/>
          </a:xfrm>
        </p:grpSpPr>
        <p:sp>
          <p:nvSpPr>
            <p:cNvPr name="Freeform 342" id="34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43" id="34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46</a:t>
              </a:r>
            </a:p>
          </p:txBody>
        </p:sp>
      </p:grpSp>
      <p:grpSp>
        <p:nvGrpSpPr>
          <p:cNvPr name="Group 344" id="344"/>
          <p:cNvGrpSpPr/>
          <p:nvPr/>
        </p:nvGrpSpPr>
        <p:grpSpPr>
          <a:xfrm rot="0">
            <a:off x="14041003" y="5140004"/>
            <a:ext cx="1698498" cy="395002"/>
            <a:chOff x="0" y="0"/>
            <a:chExt cx="2264664" cy="526669"/>
          </a:xfrm>
        </p:grpSpPr>
        <p:sp>
          <p:nvSpPr>
            <p:cNvPr name="Freeform 345" id="34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46" id="346"/>
          <p:cNvGrpSpPr/>
          <p:nvPr/>
        </p:nvGrpSpPr>
        <p:grpSpPr>
          <a:xfrm rot="0">
            <a:off x="14041003" y="5140004"/>
            <a:ext cx="1698498" cy="395002"/>
            <a:chOff x="0" y="0"/>
            <a:chExt cx="2264664" cy="526669"/>
          </a:xfrm>
        </p:grpSpPr>
        <p:sp>
          <p:nvSpPr>
            <p:cNvPr name="Freeform 347" id="34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48" id="348"/>
          <p:cNvGrpSpPr/>
          <p:nvPr/>
        </p:nvGrpSpPr>
        <p:grpSpPr>
          <a:xfrm rot="0">
            <a:off x="14041003" y="5140004"/>
            <a:ext cx="1698498" cy="395002"/>
            <a:chOff x="0" y="0"/>
            <a:chExt cx="2264664" cy="526669"/>
          </a:xfrm>
        </p:grpSpPr>
        <p:sp>
          <p:nvSpPr>
            <p:cNvPr name="Freeform 349" id="34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50" id="35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54</a:t>
              </a:r>
            </a:p>
          </p:txBody>
        </p:sp>
      </p:grpSp>
      <p:grpSp>
        <p:nvGrpSpPr>
          <p:cNvPr name="Group 351" id="351"/>
          <p:cNvGrpSpPr/>
          <p:nvPr/>
        </p:nvGrpSpPr>
        <p:grpSpPr>
          <a:xfrm rot="0">
            <a:off x="15739501" y="5140004"/>
            <a:ext cx="1698498" cy="395002"/>
            <a:chOff x="0" y="0"/>
            <a:chExt cx="2264664" cy="526669"/>
          </a:xfrm>
        </p:grpSpPr>
        <p:sp>
          <p:nvSpPr>
            <p:cNvPr name="Freeform 352" id="35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53" id="353"/>
          <p:cNvGrpSpPr/>
          <p:nvPr/>
        </p:nvGrpSpPr>
        <p:grpSpPr>
          <a:xfrm rot="0">
            <a:off x="15739501" y="5140004"/>
            <a:ext cx="1698498" cy="395002"/>
            <a:chOff x="0" y="0"/>
            <a:chExt cx="2264664" cy="526669"/>
          </a:xfrm>
        </p:grpSpPr>
        <p:sp>
          <p:nvSpPr>
            <p:cNvPr name="Freeform 354" id="35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55" id="355"/>
          <p:cNvGrpSpPr/>
          <p:nvPr/>
        </p:nvGrpSpPr>
        <p:grpSpPr>
          <a:xfrm rot="0">
            <a:off x="15739501" y="5140004"/>
            <a:ext cx="1698498" cy="395002"/>
            <a:chOff x="0" y="0"/>
            <a:chExt cx="2264664" cy="526669"/>
          </a:xfrm>
        </p:grpSpPr>
        <p:sp>
          <p:nvSpPr>
            <p:cNvPr name="Freeform 356" id="35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57" id="35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64</a:t>
              </a:r>
            </a:p>
          </p:txBody>
        </p:sp>
      </p:grpSp>
      <p:grpSp>
        <p:nvGrpSpPr>
          <p:cNvPr name="Group 358" id="358"/>
          <p:cNvGrpSpPr/>
          <p:nvPr/>
        </p:nvGrpSpPr>
        <p:grpSpPr>
          <a:xfrm rot="0">
            <a:off x="850001" y="5525995"/>
            <a:ext cx="16587978" cy="8954"/>
            <a:chOff x="0" y="0"/>
            <a:chExt cx="22117304" cy="11938"/>
          </a:xfrm>
        </p:grpSpPr>
        <p:sp>
          <p:nvSpPr>
            <p:cNvPr name="Freeform 359" id="359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360" id="360"/>
          <p:cNvGrpSpPr/>
          <p:nvPr/>
        </p:nvGrpSpPr>
        <p:grpSpPr>
          <a:xfrm rot="0">
            <a:off x="1070000" y="5534997"/>
            <a:ext cx="2699956" cy="395002"/>
            <a:chOff x="0" y="0"/>
            <a:chExt cx="3599942" cy="526669"/>
          </a:xfrm>
        </p:grpSpPr>
        <p:sp>
          <p:nvSpPr>
            <p:cNvPr name="Freeform 361" id="361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362" id="362"/>
          <p:cNvGrpSpPr/>
          <p:nvPr/>
        </p:nvGrpSpPr>
        <p:grpSpPr>
          <a:xfrm rot="0">
            <a:off x="1070000" y="5534997"/>
            <a:ext cx="2700004" cy="395002"/>
            <a:chOff x="0" y="0"/>
            <a:chExt cx="3600005" cy="526669"/>
          </a:xfrm>
        </p:grpSpPr>
        <p:sp>
          <p:nvSpPr>
            <p:cNvPr name="Freeform 363" id="363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364" id="364"/>
          <p:cNvGrpSpPr/>
          <p:nvPr/>
        </p:nvGrpSpPr>
        <p:grpSpPr>
          <a:xfrm rot="0">
            <a:off x="1070000" y="5534997"/>
            <a:ext cx="2700004" cy="395002"/>
            <a:chOff x="0" y="0"/>
            <a:chExt cx="3600005" cy="526669"/>
          </a:xfrm>
        </p:grpSpPr>
        <p:sp>
          <p:nvSpPr>
            <p:cNvPr name="Freeform 365" id="365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366" id="366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b="true" sz="1320" i="true">
                  <a:solidFill>
                    <a:srgbClr val="132257"/>
                  </a:solidFill>
                  <a:latin typeface="Exo 2 Bold Italics"/>
                  <a:ea typeface="Exo 2 Bold Italics"/>
                  <a:cs typeface="Exo 2 Bold Italics"/>
                  <a:sym typeface="Exo 2 Bold Italics"/>
                </a:rPr>
                <a:t>Performance Gap</a:t>
              </a:r>
            </a:p>
          </p:txBody>
        </p:sp>
      </p:grpSp>
      <p:grpSp>
        <p:nvGrpSpPr>
          <p:cNvPr name="Group 367" id="367"/>
          <p:cNvGrpSpPr/>
          <p:nvPr/>
        </p:nvGrpSpPr>
        <p:grpSpPr>
          <a:xfrm rot="0">
            <a:off x="3850005" y="5534997"/>
            <a:ext cx="1698498" cy="395002"/>
            <a:chOff x="0" y="0"/>
            <a:chExt cx="2264664" cy="526669"/>
          </a:xfrm>
        </p:grpSpPr>
        <p:sp>
          <p:nvSpPr>
            <p:cNvPr name="Freeform 368" id="36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69" id="369"/>
          <p:cNvGrpSpPr/>
          <p:nvPr/>
        </p:nvGrpSpPr>
        <p:grpSpPr>
          <a:xfrm rot="0">
            <a:off x="3850005" y="5534997"/>
            <a:ext cx="1698498" cy="395002"/>
            <a:chOff x="0" y="0"/>
            <a:chExt cx="2264664" cy="526669"/>
          </a:xfrm>
        </p:grpSpPr>
        <p:sp>
          <p:nvSpPr>
            <p:cNvPr name="Freeform 370" id="37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71" id="371"/>
          <p:cNvGrpSpPr/>
          <p:nvPr/>
        </p:nvGrpSpPr>
        <p:grpSpPr>
          <a:xfrm rot="0">
            <a:off x="3850005" y="5534997"/>
            <a:ext cx="1698498" cy="395002"/>
            <a:chOff x="0" y="0"/>
            <a:chExt cx="2264664" cy="526669"/>
          </a:xfrm>
        </p:grpSpPr>
        <p:sp>
          <p:nvSpPr>
            <p:cNvPr name="Freeform 372" id="37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73" id="37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-12</a:t>
              </a:r>
            </a:p>
          </p:txBody>
        </p:sp>
      </p:grpSp>
      <p:grpSp>
        <p:nvGrpSpPr>
          <p:cNvPr name="Group 374" id="374"/>
          <p:cNvGrpSpPr/>
          <p:nvPr/>
        </p:nvGrpSpPr>
        <p:grpSpPr>
          <a:xfrm rot="0">
            <a:off x="5548503" y="5534997"/>
            <a:ext cx="1698498" cy="395002"/>
            <a:chOff x="0" y="0"/>
            <a:chExt cx="2264664" cy="526669"/>
          </a:xfrm>
        </p:grpSpPr>
        <p:sp>
          <p:nvSpPr>
            <p:cNvPr name="Freeform 375" id="37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76" id="376"/>
          <p:cNvGrpSpPr/>
          <p:nvPr/>
        </p:nvGrpSpPr>
        <p:grpSpPr>
          <a:xfrm rot="0">
            <a:off x="5548503" y="5534997"/>
            <a:ext cx="1698498" cy="395002"/>
            <a:chOff x="0" y="0"/>
            <a:chExt cx="2264664" cy="526669"/>
          </a:xfrm>
        </p:grpSpPr>
        <p:sp>
          <p:nvSpPr>
            <p:cNvPr name="Freeform 377" id="37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78" id="378"/>
          <p:cNvGrpSpPr/>
          <p:nvPr/>
        </p:nvGrpSpPr>
        <p:grpSpPr>
          <a:xfrm rot="0">
            <a:off x="5548503" y="5534997"/>
            <a:ext cx="1698498" cy="395002"/>
            <a:chOff x="0" y="0"/>
            <a:chExt cx="2264664" cy="526669"/>
          </a:xfrm>
        </p:grpSpPr>
        <p:sp>
          <p:nvSpPr>
            <p:cNvPr name="Freeform 379" id="37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80" id="38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-7</a:t>
              </a:r>
            </a:p>
          </p:txBody>
        </p:sp>
      </p:grpSp>
      <p:grpSp>
        <p:nvGrpSpPr>
          <p:cNvPr name="Group 381" id="381"/>
          <p:cNvGrpSpPr/>
          <p:nvPr/>
        </p:nvGrpSpPr>
        <p:grpSpPr>
          <a:xfrm rot="0">
            <a:off x="7247001" y="5534997"/>
            <a:ext cx="1698498" cy="395002"/>
            <a:chOff x="0" y="0"/>
            <a:chExt cx="2264664" cy="526669"/>
          </a:xfrm>
        </p:grpSpPr>
        <p:sp>
          <p:nvSpPr>
            <p:cNvPr name="Freeform 382" id="38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83" id="383"/>
          <p:cNvGrpSpPr/>
          <p:nvPr/>
        </p:nvGrpSpPr>
        <p:grpSpPr>
          <a:xfrm rot="0">
            <a:off x="7247001" y="5534997"/>
            <a:ext cx="1698498" cy="395002"/>
            <a:chOff x="0" y="0"/>
            <a:chExt cx="2264664" cy="526669"/>
          </a:xfrm>
        </p:grpSpPr>
        <p:sp>
          <p:nvSpPr>
            <p:cNvPr name="Freeform 384" id="38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85" id="385"/>
          <p:cNvGrpSpPr/>
          <p:nvPr/>
        </p:nvGrpSpPr>
        <p:grpSpPr>
          <a:xfrm rot="0">
            <a:off x="7247001" y="5534997"/>
            <a:ext cx="1698498" cy="395002"/>
            <a:chOff x="0" y="0"/>
            <a:chExt cx="2264664" cy="526669"/>
          </a:xfrm>
        </p:grpSpPr>
        <p:sp>
          <p:nvSpPr>
            <p:cNvPr name="Freeform 386" id="38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87" id="38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-23</a:t>
              </a:r>
            </a:p>
          </p:txBody>
        </p:sp>
      </p:grpSp>
      <p:grpSp>
        <p:nvGrpSpPr>
          <p:cNvPr name="Group 388" id="388"/>
          <p:cNvGrpSpPr/>
          <p:nvPr/>
        </p:nvGrpSpPr>
        <p:grpSpPr>
          <a:xfrm rot="0">
            <a:off x="8945499" y="5534997"/>
            <a:ext cx="1698498" cy="395002"/>
            <a:chOff x="0" y="0"/>
            <a:chExt cx="2264664" cy="526669"/>
          </a:xfrm>
        </p:grpSpPr>
        <p:sp>
          <p:nvSpPr>
            <p:cNvPr name="Freeform 389" id="38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90" id="390"/>
          <p:cNvGrpSpPr/>
          <p:nvPr/>
        </p:nvGrpSpPr>
        <p:grpSpPr>
          <a:xfrm rot="0">
            <a:off x="8945499" y="5534997"/>
            <a:ext cx="1698498" cy="395002"/>
            <a:chOff x="0" y="0"/>
            <a:chExt cx="2264664" cy="526669"/>
          </a:xfrm>
        </p:grpSpPr>
        <p:sp>
          <p:nvSpPr>
            <p:cNvPr name="Freeform 391" id="39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92" id="392"/>
          <p:cNvGrpSpPr/>
          <p:nvPr/>
        </p:nvGrpSpPr>
        <p:grpSpPr>
          <a:xfrm rot="0">
            <a:off x="8945499" y="5534997"/>
            <a:ext cx="1698498" cy="395002"/>
            <a:chOff x="0" y="0"/>
            <a:chExt cx="2264664" cy="526669"/>
          </a:xfrm>
        </p:grpSpPr>
        <p:sp>
          <p:nvSpPr>
            <p:cNvPr name="Freeform 393" id="39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394" id="39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-17</a:t>
              </a:r>
            </a:p>
          </p:txBody>
        </p:sp>
      </p:grpSp>
      <p:grpSp>
        <p:nvGrpSpPr>
          <p:cNvPr name="Group 395" id="395"/>
          <p:cNvGrpSpPr/>
          <p:nvPr/>
        </p:nvGrpSpPr>
        <p:grpSpPr>
          <a:xfrm rot="0">
            <a:off x="10643997" y="5534997"/>
            <a:ext cx="1698498" cy="395002"/>
            <a:chOff x="0" y="0"/>
            <a:chExt cx="2264664" cy="526669"/>
          </a:xfrm>
        </p:grpSpPr>
        <p:sp>
          <p:nvSpPr>
            <p:cNvPr name="Freeform 396" id="39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97" id="397"/>
          <p:cNvGrpSpPr/>
          <p:nvPr/>
        </p:nvGrpSpPr>
        <p:grpSpPr>
          <a:xfrm rot="0">
            <a:off x="10643997" y="5534997"/>
            <a:ext cx="1698498" cy="395002"/>
            <a:chOff x="0" y="0"/>
            <a:chExt cx="2264664" cy="526669"/>
          </a:xfrm>
        </p:grpSpPr>
        <p:sp>
          <p:nvSpPr>
            <p:cNvPr name="Freeform 398" id="39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399" id="399"/>
          <p:cNvGrpSpPr/>
          <p:nvPr/>
        </p:nvGrpSpPr>
        <p:grpSpPr>
          <a:xfrm rot="0">
            <a:off x="10643997" y="5534997"/>
            <a:ext cx="1698498" cy="395002"/>
            <a:chOff x="0" y="0"/>
            <a:chExt cx="2264664" cy="526669"/>
          </a:xfrm>
        </p:grpSpPr>
        <p:sp>
          <p:nvSpPr>
            <p:cNvPr name="Freeform 400" id="40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01" id="40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-30</a:t>
              </a:r>
            </a:p>
          </p:txBody>
        </p:sp>
      </p:grpSp>
      <p:grpSp>
        <p:nvGrpSpPr>
          <p:cNvPr name="Group 402" id="402"/>
          <p:cNvGrpSpPr/>
          <p:nvPr/>
        </p:nvGrpSpPr>
        <p:grpSpPr>
          <a:xfrm rot="0">
            <a:off x="850001" y="5920997"/>
            <a:ext cx="16587978" cy="8954"/>
            <a:chOff x="0" y="0"/>
            <a:chExt cx="22117304" cy="11938"/>
          </a:xfrm>
        </p:grpSpPr>
        <p:sp>
          <p:nvSpPr>
            <p:cNvPr name="Freeform 403" id="403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404" id="404"/>
          <p:cNvGrpSpPr/>
          <p:nvPr/>
        </p:nvGrpSpPr>
        <p:grpSpPr>
          <a:xfrm rot="0">
            <a:off x="850001" y="5929998"/>
            <a:ext cx="16587978" cy="395002"/>
            <a:chOff x="0" y="0"/>
            <a:chExt cx="22117304" cy="526669"/>
          </a:xfrm>
        </p:grpSpPr>
        <p:sp>
          <p:nvSpPr>
            <p:cNvPr name="Freeform 405" id="405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solidFill>
              <a:srgbClr val="E9EDF6"/>
            </a:solidFill>
          </p:spPr>
        </p:sp>
      </p:grpSp>
      <p:grpSp>
        <p:nvGrpSpPr>
          <p:cNvPr name="Group 406" id="406"/>
          <p:cNvGrpSpPr/>
          <p:nvPr/>
        </p:nvGrpSpPr>
        <p:grpSpPr>
          <a:xfrm rot="0">
            <a:off x="1070000" y="5929998"/>
            <a:ext cx="16587978" cy="395002"/>
            <a:chOff x="0" y="0"/>
            <a:chExt cx="22117304" cy="526669"/>
          </a:xfrm>
        </p:grpSpPr>
        <p:sp>
          <p:nvSpPr>
            <p:cNvPr name="Freeform 407" id="407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767699" r="0" b="-767699"/>
              </a:stretch>
            </a:blipFill>
          </p:spPr>
        </p:sp>
      </p:grpSp>
      <p:grpSp>
        <p:nvGrpSpPr>
          <p:cNvPr name="Group 408" id="408"/>
          <p:cNvGrpSpPr/>
          <p:nvPr/>
        </p:nvGrpSpPr>
        <p:grpSpPr>
          <a:xfrm rot="0">
            <a:off x="1070000" y="5922855"/>
            <a:ext cx="16587997" cy="402146"/>
            <a:chOff x="0" y="0"/>
            <a:chExt cx="22117329" cy="536194"/>
          </a:xfrm>
        </p:grpSpPr>
        <p:sp>
          <p:nvSpPr>
            <p:cNvPr name="Freeform 409" id="409"/>
            <p:cNvSpPr/>
            <p:nvPr/>
          </p:nvSpPr>
          <p:spPr>
            <a:xfrm flipH="false" flipV="false" rot="0">
              <a:off x="0" y="0"/>
              <a:ext cx="22117304" cy="536194"/>
            </a:xfrm>
            <a:custGeom>
              <a:avLst/>
              <a:gdLst/>
              <a:ahLst/>
              <a:cxnLst/>
              <a:rect r="r" b="b" t="t" l="l"/>
              <a:pathLst>
                <a:path h="536194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36194"/>
                  </a:lnTo>
                  <a:lnTo>
                    <a:pt x="0" y="53619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53173" r="0" b="-753173"/>
              </a:stretch>
            </a:blipFill>
          </p:spPr>
        </p:sp>
      </p:grpSp>
      <p:grpSp>
        <p:nvGrpSpPr>
          <p:cNvPr name="Group 410" id="410"/>
          <p:cNvGrpSpPr/>
          <p:nvPr/>
        </p:nvGrpSpPr>
        <p:grpSpPr>
          <a:xfrm rot="0">
            <a:off x="1070000" y="5915711"/>
            <a:ext cx="16587997" cy="409289"/>
            <a:chOff x="0" y="0"/>
            <a:chExt cx="22117329" cy="545719"/>
          </a:xfrm>
        </p:grpSpPr>
        <p:sp>
          <p:nvSpPr>
            <p:cNvPr name="Freeform 411" id="411"/>
            <p:cNvSpPr/>
            <p:nvPr/>
          </p:nvSpPr>
          <p:spPr>
            <a:xfrm flipH="false" flipV="false" rot="0">
              <a:off x="0" y="0"/>
              <a:ext cx="22117329" cy="545720"/>
            </a:xfrm>
            <a:custGeom>
              <a:avLst/>
              <a:gdLst/>
              <a:ahLst/>
              <a:cxnLst/>
              <a:rect r="r" b="b" t="t" l="l"/>
              <a:pathLst>
                <a:path h="545720" w="22117329">
                  <a:moveTo>
                    <a:pt x="0" y="0"/>
                  </a:moveTo>
                  <a:lnTo>
                    <a:pt x="22117329" y="0"/>
                  </a:lnTo>
                  <a:lnTo>
                    <a:pt x="22117329" y="545720"/>
                  </a:lnTo>
                  <a:lnTo>
                    <a:pt x="0" y="5457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739704" r="0" b="-739703"/>
              </a:stretch>
            </a:blipFill>
          </p:spPr>
        </p:sp>
        <p:sp>
          <p:nvSpPr>
            <p:cNvPr name="TextBox 412" id="412"/>
            <p:cNvSpPr txBox="true"/>
            <p:nvPr/>
          </p:nvSpPr>
          <p:spPr>
            <a:xfrm>
              <a:off x="0" y="-9525"/>
              <a:ext cx="22117329" cy="5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12"/>
                </a:lnSpc>
              </a:pPr>
              <a:r>
                <a:rPr lang="en-US" b="true" sz="1260" spc="138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III.  AVERAGE DEPOSIT PER CLIENT</a:t>
              </a:r>
            </a:p>
          </p:txBody>
        </p:sp>
      </p:grpSp>
      <p:grpSp>
        <p:nvGrpSpPr>
          <p:cNvPr name="Group 413" id="413"/>
          <p:cNvGrpSpPr/>
          <p:nvPr/>
        </p:nvGrpSpPr>
        <p:grpSpPr>
          <a:xfrm rot="0">
            <a:off x="1070000" y="6325000"/>
            <a:ext cx="2699956" cy="395002"/>
            <a:chOff x="0" y="0"/>
            <a:chExt cx="3599942" cy="526669"/>
          </a:xfrm>
        </p:grpSpPr>
        <p:sp>
          <p:nvSpPr>
            <p:cNvPr name="Freeform 414" id="414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415" id="415"/>
          <p:cNvGrpSpPr/>
          <p:nvPr/>
        </p:nvGrpSpPr>
        <p:grpSpPr>
          <a:xfrm rot="0">
            <a:off x="1070000" y="6325000"/>
            <a:ext cx="2700004" cy="395002"/>
            <a:chOff x="0" y="0"/>
            <a:chExt cx="3600005" cy="526669"/>
          </a:xfrm>
        </p:grpSpPr>
        <p:sp>
          <p:nvSpPr>
            <p:cNvPr name="Freeform 416" id="416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417" id="417"/>
          <p:cNvGrpSpPr/>
          <p:nvPr/>
        </p:nvGrpSpPr>
        <p:grpSpPr>
          <a:xfrm rot="0">
            <a:off x="1070000" y="6325000"/>
            <a:ext cx="2700004" cy="395002"/>
            <a:chOff x="0" y="0"/>
            <a:chExt cx="3600005" cy="526669"/>
          </a:xfrm>
        </p:grpSpPr>
        <p:sp>
          <p:nvSpPr>
            <p:cNvPr name="Freeform 418" id="418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419" id="419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Actual / Current</a:t>
              </a:r>
            </a:p>
          </p:txBody>
        </p:sp>
      </p:grpSp>
      <p:grpSp>
        <p:nvGrpSpPr>
          <p:cNvPr name="Group 420" id="420"/>
          <p:cNvGrpSpPr/>
          <p:nvPr/>
        </p:nvGrpSpPr>
        <p:grpSpPr>
          <a:xfrm rot="0">
            <a:off x="3850005" y="6325000"/>
            <a:ext cx="1698498" cy="395002"/>
            <a:chOff x="0" y="0"/>
            <a:chExt cx="2264664" cy="526669"/>
          </a:xfrm>
        </p:grpSpPr>
        <p:sp>
          <p:nvSpPr>
            <p:cNvPr name="Freeform 421" id="42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22" id="422"/>
          <p:cNvGrpSpPr/>
          <p:nvPr/>
        </p:nvGrpSpPr>
        <p:grpSpPr>
          <a:xfrm rot="0">
            <a:off x="3850005" y="6325000"/>
            <a:ext cx="1698498" cy="395002"/>
            <a:chOff x="0" y="0"/>
            <a:chExt cx="2264664" cy="526669"/>
          </a:xfrm>
        </p:grpSpPr>
        <p:sp>
          <p:nvSpPr>
            <p:cNvPr name="Freeform 423" id="42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24" id="424"/>
          <p:cNvGrpSpPr/>
          <p:nvPr/>
        </p:nvGrpSpPr>
        <p:grpSpPr>
          <a:xfrm rot="0">
            <a:off x="3850005" y="6325000"/>
            <a:ext cx="1698498" cy="395002"/>
            <a:chOff x="0" y="0"/>
            <a:chExt cx="2264664" cy="526669"/>
          </a:xfrm>
        </p:grpSpPr>
        <p:sp>
          <p:nvSpPr>
            <p:cNvPr name="Freeform 425" id="42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26" id="42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$364.82</a:t>
              </a:r>
            </a:p>
          </p:txBody>
        </p:sp>
      </p:grpSp>
      <p:grpSp>
        <p:nvGrpSpPr>
          <p:cNvPr name="Group 427" id="427"/>
          <p:cNvGrpSpPr/>
          <p:nvPr/>
        </p:nvGrpSpPr>
        <p:grpSpPr>
          <a:xfrm rot="0">
            <a:off x="5548503" y="6325000"/>
            <a:ext cx="1698498" cy="395002"/>
            <a:chOff x="0" y="0"/>
            <a:chExt cx="2264664" cy="526669"/>
          </a:xfrm>
        </p:grpSpPr>
        <p:sp>
          <p:nvSpPr>
            <p:cNvPr name="Freeform 428" id="42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29" id="429"/>
          <p:cNvGrpSpPr/>
          <p:nvPr/>
        </p:nvGrpSpPr>
        <p:grpSpPr>
          <a:xfrm rot="0">
            <a:off x="5548503" y="6325000"/>
            <a:ext cx="1698498" cy="395002"/>
            <a:chOff x="0" y="0"/>
            <a:chExt cx="2264664" cy="526669"/>
          </a:xfrm>
        </p:grpSpPr>
        <p:sp>
          <p:nvSpPr>
            <p:cNvPr name="Freeform 430" id="43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31" id="431"/>
          <p:cNvGrpSpPr/>
          <p:nvPr/>
        </p:nvGrpSpPr>
        <p:grpSpPr>
          <a:xfrm rot="0">
            <a:off x="5548503" y="6325000"/>
            <a:ext cx="1698498" cy="395002"/>
            <a:chOff x="0" y="0"/>
            <a:chExt cx="2264664" cy="526669"/>
          </a:xfrm>
        </p:grpSpPr>
        <p:sp>
          <p:nvSpPr>
            <p:cNvPr name="Freeform 432" id="43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33" id="43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$329.46</a:t>
              </a:r>
            </a:p>
          </p:txBody>
        </p:sp>
      </p:grpSp>
      <p:grpSp>
        <p:nvGrpSpPr>
          <p:cNvPr name="Group 434" id="434"/>
          <p:cNvGrpSpPr/>
          <p:nvPr/>
        </p:nvGrpSpPr>
        <p:grpSpPr>
          <a:xfrm rot="0">
            <a:off x="7247001" y="6325000"/>
            <a:ext cx="1698498" cy="395002"/>
            <a:chOff x="0" y="0"/>
            <a:chExt cx="2264664" cy="526669"/>
          </a:xfrm>
        </p:grpSpPr>
        <p:sp>
          <p:nvSpPr>
            <p:cNvPr name="Freeform 435" id="43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36" id="436"/>
          <p:cNvGrpSpPr/>
          <p:nvPr/>
        </p:nvGrpSpPr>
        <p:grpSpPr>
          <a:xfrm rot="0">
            <a:off x="7247001" y="6325000"/>
            <a:ext cx="1698498" cy="395002"/>
            <a:chOff x="0" y="0"/>
            <a:chExt cx="2264664" cy="526669"/>
          </a:xfrm>
        </p:grpSpPr>
        <p:sp>
          <p:nvSpPr>
            <p:cNvPr name="Freeform 437" id="43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38" id="438"/>
          <p:cNvGrpSpPr/>
          <p:nvPr/>
        </p:nvGrpSpPr>
        <p:grpSpPr>
          <a:xfrm rot="0">
            <a:off x="7247001" y="6325000"/>
            <a:ext cx="1698498" cy="395002"/>
            <a:chOff x="0" y="0"/>
            <a:chExt cx="2264664" cy="526669"/>
          </a:xfrm>
        </p:grpSpPr>
        <p:sp>
          <p:nvSpPr>
            <p:cNvPr name="Freeform 439" id="43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40" id="44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$261.42</a:t>
              </a:r>
            </a:p>
          </p:txBody>
        </p:sp>
      </p:grpSp>
      <p:grpSp>
        <p:nvGrpSpPr>
          <p:cNvPr name="Group 441" id="441"/>
          <p:cNvGrpSpPr/>
          <p:nvPr/>
        </p:nvGrpSpPr>
        <p:grpSpPr>
          <a:xfrm rot="0">
            <a:off x="8945499" y="6325000"/>
            <a:ext cx="1698498" cy="395002"/>
            <a:chOff x="0" y="0"/>
            <a:chExt cx="2264664" cy="526669"/>
          </a:xfrm>
        </p:grpSpPr>
        <p:sp>
          <p:nvSpPr>
            <p:cNvPr name="Freeform 442" id="44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43" id="443"/>
          <p:cNvGrpSpPr/>
          <p:nvPr/>
        </p:nvGrpSpPr>
        <p:grpSpPr>
          <a:xfrm rot="0">
            <a:off x="8945499" y="6325000"/>
            <a:ext cx="1698498" cy="395002"/>
            <a:chOff x="0" y="0"/>
            <a:chExt cx="2264664" cy="526669"/>
          </a:xfrm>
        </p:grpSpPr>
        <p:sp>
          <p:nvSpPr>
            <p:cNvPr name="Freeform 444" id="44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45" id="445"/>
          <p:cNvGrpSpPr/>
          <p:nvPr/>
        </p:nvGrpSpPr>
        <p:grpSpPr>
          <a:xfrm rot="0">
            <a:off x="8945499" y="6325000"/>
            <a:ext cx="1698498" cy="395002"/>
            <a:chOff x="0" y="0"/>
            <a:chExt cx="2264664" cy="526669"/>
          </a:xfrm>
        </p:grpSpPr>
        <p:sp>
          <p:nvSpPr>
            <p:cNvPr name="Freeform 446" id="44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47" id="44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$212.84</a:t>
              </a:r>
            </a:p>
          </p:txBody>
        </p:sp>
      </p:grpSp>
      <p:grpSp>
        <p:nvGrpSpPr>
          <p:cNvPr name="Group 448" id="448"/>
          <p:cNvGrpSpPr/>
          <p:nvPr/>
        </p:nvGrpSpPr>
        <p:grpSpPr>
          <a:xfrm rot="0">
            <a:off x="10643997" y="6325000"/>
            <a:ext cx="1698498" cy="395002"/>
            <a:chOff x="0" y="0"/>
            <a:chExt cx="2264664" cy="526669"/>
          </a:xfrm>
        </p:grpSpPr>
        <p:sp>
          <p:nvSpPr>
            <p:cNvPr name="Freeform 449" id="44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50" id="450"/>
          <p:cNvGrpSpPr/>
          <p:nvPr/>
        </p:nvGrpSpPr>
        <p:grpSpPr>
          <a:xfrm rot="0">
            <a:off x="10643997" y="6325000"/>
            <a:ext cx="1698498" cy="395002"/>
            <a:chOff x="0" y="0"/>
            <a:chExt cx="2264664" cy="526669"/>
          </a:xfrm>
        </p:grpSpPr>
        <p:sp>
          <p:nvSpPr>
            <p:cNvPr name="Freeform 451" id="45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52" id="452"/>
          <p:cNvGrpSpPr/>
          <p:nvPr/>
        </p:nvGrpSpPr>
        <p:grpSpPr>
          <a:xfrm rot="0">
            <a:off x="10643997" y="6325000"/>
            <a:ext cx="1698498" cy="395002"/>
            <a:chOff x="0" y="0"/>
            <a:chExt cx="2264664" cy="526669"/>
          </a:xfrm>
        </p:grpSpPr>
        <p:sp>
          <p:nvSpPr>
            <p:cNvPr name="Freeform 453" id="45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54" id="45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$200.10</a:t>
              </a:r>
            </a:p>
          </p:txBody>
        </p:sp>
      </p:grpSp>
      <p:grpSp>
        <p:nvGrpSpPr>
          <p:cNvPr name="Group 455" id="455"/>
          <p:cNvGrpSpPr/>
          <p:nvPr/>
        </p:nvGrpSpPr>
        <p:grpSpPr>
          <a:xfrm rot="0">
            <a:off x="850001" y="6711001"/>
            <a:ext cx="16587978" cy="8954"/>
            <a:chOff x="0" y="0"/>
            <a:chExt cx="22117304" cy="11938"/>
          </a:xfrm>
        </p:grpSpPr>
        <p:sp>
          <p:nvSpPr>
            <p:cNvPr name="Freeform 456" id="456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457" id="457"/>
          <p:cNvGrpSpPr/>
          <p:nvPr/>
        </p:nvGrpSpPr>
        <p:grpSpPr>
          <a:xfrm rot="0">
            <a:off x="1070000" y="6720002"/>
            <a:ext cx="2699956" cy="395002"/>
            <a:chOff x="0" y="0"/>
            <a:chExt cx="3599942" cy="526669"/>
          </a:xfrm>
        </p:grpSpPr>
        <p:sp>
          <p:nvSpPr>
            <p:cNvPr name="Freeform 458" id="458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459" id="459"/>
          <p:cNvGrpSpPr/>
          <p:nvPr/>
        </p:nvGrpSpPr>
        <p:grpSpPr>
          <a:xfrm rot="0">
            <a:off x="1070000" y="6720002"/>
            <a:ext cx="2700004" cy="395002"/>
            <a:chOff x="0" y="0"/>
            <a:chExt cx="3600005" cy="526669"/>
          </a:xfrm>
        </p:grpSpPr>
        <p:sp>
          <p:nvSpPr>
            <p:cNvPr name="Freeform 460" id="460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461" id="461"/>
          <p:cNvGrpSpPr/>
          <p:nvPr/>
        </p:nvGrpSpPr>
        <p:grpSpPr>
          <a:xfrm rot="0">
            <a:off x="1070000" y="6720002"/>
            <a:ext cx="2700004" cy="395002"/>
            <a:chOff x="0" y="0"/>
            <a:chExt cx="3600005" cy="526669"/>
          </a:xfrm>
        </p:grpSpPr>
        <p:sp>
          <p:nvSpPr>
            <p:cNvPr name="Freeform 462" id="462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463" id="463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Target / Projected</a:t>
              </a:r>
            </a:p>
          </p:txBody>
        </p:sp>
      </p:grpSp>
      <p:grpSp>
        <p:nvGrpSpPr>
          <p:cNvPr name="Group 464" id="464"/>
          <p:cNvGrpSpPr/>
          <p:nvPr/>
        </p:nvGrpSpPr>
        <p:grpSpPr>
          <a:xfrm rot="0">
            <a:off x="3850005" y="6720002"/>
            <a:ext cx="1698498" cy="395002"/>
            <a:chOff x="0" y="0"/>
            <a:chExt cx="2264664" cy="526669"/>
          </a:xfrm>
        </p:grpSpPr>
        <p:sp>
          <p:nvSpPr>
            <p:cNvPr name="Freeform 465" id="46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66" id="466"/>
          <p:cNvGrpSpPr/>
          <p:nvPr/>
        </p:nvGrpSpPr>
        <p:grpSpPr>
          <a:xfrm rot="0">
            <a:off x="3850005" y="6720002"/>
            <a:ext cx="1698498" cy="395002"/>
            <a:chOff x="0" y="0"/>
            <a:chExt cx="2264664" cy="526669"/>
          </a:xfrm>
        </p:grpSpPr>
        <p:sp>
          <p:nvSpPr>
            <p:cNvPr name="Freeform 467" id="46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68" id="468"/>
          <p:cNvGrpSpPr/>
          <p:nvPr/>
        </p:nvGrpSpPr>
        <p:grpSpPr>
          <a:xfrm rot="0">
            <a:off x="3850005" y="6720002"/>
            <a:ext cx="1698498" cy="395002"/>
            <a:chOff x="0" y="0"/>
            <a:chExt cx="2264664" cy="526669"/>
          </a:xfrm>
        </p:grpSpPr>
        <p:sp>
          <p:nvSpPr>
            <p:cNvPr name="Freeform 469" id="46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70" id="47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$5,000</a:t>
              </a:r>
            </a:p>
          </p:txBody>
        </p:sp>
      </p:grpSp>
      <p:grpSp>
        <p:nvGrpSpPr>
          <p:cNvPr name="Group 471" id="471"/>
          <p:cNvGrpSpPr/>
          <p:nvPr/>
        </p:nvGrpSpPr>
        <p:grpSpPr>
          <a:xfrm rot="0">
            <a:off x="5548503" y="6720002"/>
            <a:ext cx="1698498" cy="395002"/>
            <a:chOff x="0" y="0"/>
            <a:chExt cx="2264664" cy="526669"/>
          </a:xfrm>
        </p:grpSpPr>
        <p:sp>
          <p:nvSpPr>
            <p:cNvPr name="Freeform 472" id="47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73" id="473"/>
          <p:cNvGrpSpPr/>
          <p:nvPr/>
        </p:nvGrpSpPr>
        <p:grpSpPr>
          <a:xfrm rot="0">
            <a:off x="5548503" y="6720002"/>
            <a:ext cx="1698498" cy="395002"/>
            <a:chOff x="0" y="0"/>
            <a:chExt cx="2264664" cy="526669"/>
          </a:xfrm>
        </p:grpSpPr>
        <p:sp>
          <p:nvSpPr>
            <p:cNvPr name="Freeform 474" id="47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75" id="475"/>
          <p:cNvGrpSpPr/>
          <p:nvPr/>
        </p:nvGrpSpPr>
        <p:grpSpPr>
          <a:xfrm rot="0">
            <a:off x="5548503" y="6720002"/>
            <a:ext cx="1698498" cy="395002"/>
            <a:chOff x="0" y="0"/>
            <a:chExt cx="2264664" cy="526669"/>
          </a:xfrm>
        </p:grpSpPr>
        <p:sp>
          <p:nvSpPr>
            <p:cNvPr name="Freeform 476" id="47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77" id="47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$5,250</a:t>
              </a:r>
            </a:p>
          </p:txBody>
        </p:sp>
      </p:grpSp>
      <p:grpSp>
        <p:nvGrpSpPr>
          <p:cNvPr name="Group 478" id="478"/>
          <p:cNvGrpSpPr/>
          <p:nvPr/>
        </p:nvGrpSpPr>
        <p:grpSpPr>
          <a:xfrm rot="0">
            <a:off x="7247001" y="6720002"/>
            <a:ext cx="1698498" cy="395002"/>
            <a:chOff x="0" y="0"/>
            <a:chExt cx="2264664" cy="526669"/>
          </a:xfrm>
        </p:grpSpPr>
        <p:sp>
          <p:nvSpPr>
            <p:cNvPr name="Freeform 479" id="47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80" id="480"/>
          <p:cNvGrpSpPr/>
          <p:nvPr/>
        </p:nvGrpSpPr>
        <p:grpSpPr>
          <a:xfrm rot="0">
            <a:off x="7247001" y="6720002"/>
            <a:ext cx="1698498" cy="395002"/>
            <a:chOff x="0" y="0"/>
            <a:chExt cx="2264664" cy="526669"/>
          </a:xfrm>
        </p:grpSpPr>
        <p:sp>
          <p:nvSpPr>
            <p:cNvPr name="Freeform 481" id="48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82" id="482"/>
          <p:cNvGrpSpPr/>
          <p:nvPr/>
        </p:nvGrpSpPr>
        <p:grpSpPr>
          <a:xfrm rot="0">
            <a:off x="7247001" y="6720002"/>
            <a:ext cx="1698498" cy="395002"/>
            <a:chOff x="0" y="0"/>
            <a:chExt cx="2264664" cy="526669"/>
          </a:xfrm>
        </p:grpSpPr>
        <p:sp>
          <p:nvSpPr>
            <p:cNvPr name="Freeform 483" id="48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84" id="48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$5,513</a:t>
              </a:r>
            </a:p>
          </p:txBody>
        </p:sp>
      </p:grpSp>
      <p:grpSp>
        <p:nvGrpSpPr>
          <p:cNvPr name="Group 485" id="485"/>
          <p:cNvGrpSpPr/>
          <p:nvPr/>
        </p:nvGrpSpPr>
        <p:grpSpPr>
          <a:xfrm rot="0">
            <a:off x="8945499" y="6720002"/>
            <a:ext cx="1698498" cy="395002"/>
            <a:chOff x="0" y="0"/>
            <a:chExt cx="2264664" cy="526669"/>
          </a:xfrm>
        </p:grpSpPr>
        <p:sp>
          <p:nvSpPr>
            <p:cNvPr name="Freeform 486" id="48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87" id="487"/>
          <p:cNvGrpSpPr/>
          <p:nvPr/>
        </p:nvGrpSpPr>
        <p:grpSpPr>
          <a:xfrm rot="0">
            <a:off x="8945499" y="6720002"/>
            <a:ext cx="1698498" cy="395002"/>
            <a:chOff x="0" y="0"/>
            <a:chExt cx="2264664" cy="526669"/>
          </a:xfrm>
        </p:grpSpPr>
        <p:sp>
          <p:nvSpPr>
            <p:cNvPr name="Freeform 488" id="48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89" id="489"/>
          <p:cNvGrpSpPr/>
          <p:nvPr/>
        </p:nvGrpSpPr>
        <p:grpSpPr>
          <a:xfrm rot="0">
            <a:off x="8945499" y="6720002"/>
            <a:ext cx="1698498" cy="395002"/>
            <a:chOff x="0" y="0"/>
            <a:chExt cx="2264664" cy="526669"/>
          </a:xfrm>
        </p:grpSpPr>
        <p:sp>
          <p:nvSpPr>
            <p:cNvPr name="Freeform 490" id="49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91" id="49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$5,788</a:t>
              </a:r>
            </a:p>
          </p:txBody>
        </p:sp>
      </p:grpSp>
      <p:grpSp>
        <p:nvGrpSpPr>
          <p:cNvPr name="Group 492" id="492"/>
          <p:cNvGrpSpPr/>
          <p:nvPr/>
        </p:nvGrpSpPr>
        <p:grpSpPr>
          <a:xfrm rot="0">
            <a:off x="10643997" y="6720002"/>
            <a:ext cx="1698498" cy="395002"/>
            <a:chOff x="0" y="0"/>
            <a:chExt cx="2264664" cy="526669"/>
          </a:xfrm>
        </p:grpSpPr>
        <p:sp>
          <p:nvSpPr>
            <p:cNvPr name="Freeform 493" id="49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94" id="494"/>
          <p:cNvGrpSpPr/>
          <p:nvPr/>
        </p:nvGrpSpPr>
        <p:grpSpPr>
          <a:xfrm rot="0">
            <a:off x="10643997" y="6720002"/>
            <a:ext cx="1698498" cy="395002"/>
            <a:chOff x="0" y="0"/>
            <a:chExt cx="2264664" cy="526669"/>
          </a:xfrm>
        </p:grpSpPr>
        <p:sp>
          <p:nvSpPr>
            <p:cNvPr name="Freeform 495" id="49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496" id="496"/>
          <p:cNvGrpSpPr/>
          <p:nvPr/>
        </p:nvGrpSpPr>
        <p:grpSpPr>
          <a:xfrm rot="0">
            <a:off x="10643997" y="6720002"/>
            <a:ext cx="1698498" cy="395002"/>
            <a:chOff x="0" y="0"/>
            <a:chExt cx="2264664" cy="526669"/>
          </a:xfrm>
        </p:grpSpPr>
        <p:sp>
          <p:nvSpPr>
            <p:cNvPr name="Freeform 497" id="49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498" id="49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$6,078</a:t>
              </a:r>
            </a:p>
          </p:txBody>
        </p:sp>
      </p:grpSp>
      <p:grpSp>
        <p:nvGrpSpPr>
          <p:cNvPr name="Group 499" id="499"/>
          <p:cNvGrpSpPr/>
          <p:nvPr/>
        </p:nvGrpSpPr>
        <p:grpSpPr>
          <a:xfrm rot="0">
            <a:off x="12342505" y="6720002"/>
            <a:ext cx="1698498" cy="395002"/>
            <a:chOff x="0" y="0"/>
            <a:chExt cx="2264664" cy="526669"/>
          </a:xfrm>
        </p:grpSpPr>
        <p:sp>
          <p:nvSpPr>
            <p:cNvPr name="Freeform 500" id="50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01" id="501"/>
          <p:cNvGrpSpPr/>
          <p:nvPr/>
        </p:nvGrpSpPr>
        <p:grpSpPr>
          <a:xfrm rot="0">
            <a:off x="12342505" y="6720002"/>
            <a:ext cx="1698498" cy="395002"/>
            <a:chOff x="0" y="0"/>
            <a:chExt cx="2264664" cy="526669"/>
          </a:xfrm>
        </p:grpSpPr>
        <p:sp>
          <p:nvSpPr>
            <p:cNvPr name="Freeform 502" id="50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03" id="503"/>
          <p:cNvGrpSpPr/>
          <p:nvPr/>
        </p:nvGrpSpPr>
        <p:grpSpPr>
          <a:xfrm rot="0">
            <a:off x="12342505" y="6720002"/>
            <a:ext cx="1698498" cy="395002"/>
            <a:chOff x="0" y="0"/>
            <a:chExt cx="2264664" cy="526669"/>
          </a:xfrm>
        </p:grpSpPr>
        <p:sp>
          <p:nvSpPr>
            <p:cNvPr name="Freeform 504" id="50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05" id="50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$6,381</a:t>
              </a:r>
            </a:p>
          </p:txBody>
        </p:sp>
      </p:grpSp>
      <p:grpSp>
        <p:nvGrpSpPr>
          <p:cNvPr name="Group 506" id="506"/>
          <p:cNvGrpSpPr/>
          <p:nvPr/>
        </p:nvGrpSpPr>
        <p:grpSpPr>
          <a:xfrm rot="0">
            <a:off x="14041003" y="6720002"/>
            <a:ext cx="1698498" cy="395002"/>
            <a:chOff x="0" y="0"/>
            <a:chExt cx="2264664" cy="526669"/>
          </a:xfrm>
        </p:grpSpPr>
        <p:sp>
          <p:nvSpPr>
            <p:cNvPr name="Freeform 507" id="50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08" id="508"/>
          <p:cNvGrpSpPr/>
          <p:nvPr/>
        </p:nvGrpSpPr>
        <p:grpSpPr>
          <a:xfrm rot="0">
            <a:off x="14041003" y="6720002"/>
            <a:ext cx="1698498" cy="395002"/>
            <a:chOff x="0" y="0"/>
            <a:chExt cx="2264664" cy="526669"/>
          </a:xfrm>
        </p:grpSpPr>
        <p:sp>
          <p:nvSpPr>
            <p:cNvPr name="Freeform 509" id="50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10" id="510"/>
          <p:cNvGrpSpPr/>
          <p:nvPr/>
        </p:nvGrpSpPr>
        <p:grpSpPr>
          <a:xfrm rot="0">
            <a:off x="14041003" y="6720002"/>
            <a:ext cx="1698498" cy="395002"/>
            <a:chOff x="0" y="0"/>
            <a:chExt cx="2264664" cy="526669"/>
          </a:xfrm>
        </p:grpSpPr>
        <p:sp>
          <p:nvSpPr>
            <p:cNvPr name="Freeform 511" id="51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12" id="51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$6,700</a:t>
              </a:r>
            </a:p>
          </p:txBody>
        </p:sp>
      </p:grpSp>
      <p:grpSp>
        <p:nvGrpSpPr>
          <p:cNvPr name="Group 513" id="513"/>
          <p:cNvGrpSpPr/>
          <p:nvPr/>
        </p:nvGrpSpPr>
        <p:grpSpPr>
          <a:xfrm rot="0">
            <a:off x="15739501" y="6720002"/>
            <a:ext cx="1698498" cy="395002"/>
            <a:chOff x="0" y="0"/>
            <a:chExt cx="2264664" cy="526669"/>
          </a:xfrm>
        </p:grpSpPr>
        <p:sp>
          <p:nvSpPr>
            <p:cNvPr name="Freeform 514" id="51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15" id="515"/>
          <p:cNvGrpSpPr/>
          <p:nvPr/>
        </p:nvGrpSpPr>
        <p:grpSpPr>
          <a:xfrm rot="0">
            <a:off x="15739501" y="6720002"/>
            <a:ext cx="1698498" cy="395002"/>
            <a:chOff x="0" y="0"/>
            <a:chExt cx="2264664" cy="526669"/>
          </a:xfrm>
        </p:grpSpPr>
        <p:sp>
          <p:nvSpPr>
            <p:cNvPr name="Freeform 516" id="51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17" id="517"/>
          <p:cNvGrpSpPr/>
          <p:nvPr/>
        </p:nvGrpSpPr>
        <p:grpSpPr>
          <a:xfrm rot="0">
            <a:off x="15739501" y="6720002"/>
            <a:ext cx="1698498" cy="395002"/>
            <a:chOff x="0" y="0"/>
            <a:chExt cx="2264664" cy="526669"/>
          </a:xfrm>
        </p:grpSpPr>
        <p:sp>
          <p:nvSpPr>
            <p:cNvPr name="Freeform 518" id="51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19" id="51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$7,036</a:t>
              </a:r>
            </a:p>
          </p:txBody>
        </p:sp>
      </p:grpSp>
      <p:grpSp>
        <p:nvGrpSpPr>
          <p:cNvPr name="Group 520" id="520"/>
          <p:cNvGrpSpPr/>
          <p:nvPr/>
        </p:nvGrpSpPr>
        <p:grpSpPr>
          <a:xfrm rot="0">
            <a:off x="850001" y="7106002"/>
            <a:ext cx="16587978" cy="8954"/>
            <a:chOff x="0" y="0"/>
            <a:chExt cx="22117304" cy="11938"/>
          </a:xfrm>
        </p:grpSpPr>
        <p:sp>
          <p:nvSpPr>
            <p:cNvPr name="Freeform 521" id="521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522" id="522"/>
          <p:cNvGrpSpPr/>
          <p:nvPr/>
        </p:nvGrpSpPr>
        <p:grpSpPr>
          <a:xfrm rot="0">
            <a:off x="1070000" y="7115004"/>
            <a:ext cx="2699956" cy="395002"/>
            <a:chOff x="0" y="0"/>
            <a:chExt cx="3599942" cy="526669"/>
          </a:xfrm>
        </p:grpSpPr>
        <p:sp>
          <p:nvSpPr>
            <p:cNvPr name="Freeform 523" id="523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524" id="524"/>
          <p:cNvGrpSpPr/>
          <p:nvPr/>
        </p:nvGrpSpPr>
        <p:grpSpPr>
          <a:xfrm rot="0">
            <a:off x="1070000" y="7115004"/>
            <a:ext cx="2700004" cy="395002"/>
            <a:chOff x="0" y="0"/>
            <a:chExt cx="3600005" cy="526669"/>
          </a:xfrm>
        </p:grpSpPr>
        <p:sp>
          <p:nvSpPr>
            <p:cNvPr name="Freeform 525" id="525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526" id="526"/>
          <p:cNvGrpSpPr/>
          <p:nvPr/>
        </p:nvGrpSpPr>
        <p:grpSpPr>
          <a:xfrm rot="0">
            <a:off x="1070000" y="7115004"/>
            <a:ext cx="2700004" cy="395002"/>
            <a:chOff x="0" y="0"/>
            <a:chExt cx="3600005" cy="526669"/>
          </a:xfrm>
        </p:grpSpPr>
        <p:sp>
          <p:nvSpPr>
            <p:cNvPr name="Freeform 527" id="527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528" id="528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b="true" sz="1320" i="true">
                  <a:solidFill>
                    <a:srgbClr val="132257"/>
                  </a:solidFill>
                  <a:latin typeface="Exo 2 Bold Italics"/>
                  <a:ea typeface="Exo 2 Bold Italics"/>
                  <a:cs typeface="Exo 2 Bold Italics"/>
                  <a:sym typeface="Exo 2 Bold Italics"/>
                </a:rPr>
                <a:t>Performance Gap</a:t>
              </a:r>
            </a:p>
          </p:txBody>
        </p:sp>
      </p:grpSp>
      <p:grpSp>
        <p:nvGrpSpPr>
          <p:cNvPr name="Group 529" id="529"/>
          <p:cNvGrpSpPr/>
          <p:nvPr/>
        </p:nvGrpSpPr>
        <p:grpSpPr>
          <a:xfrm rot="0">
            <a:off x="3850005" y="7115004"/>
            <a:ext cx="1698498" cy="395002"/>
            <a:chOff x="0" y="0"/>
            <a:chExt cx="2264664" cy="526669"/>
          </a:xfrm>
        </p:grpSpPr>
        <p:sp>
          <p:nvSpPr>
            <p:cNvPr name="Freeform 530" id="53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31" id="531"/>
          <p:cNvGrpSpPr/>
          <p:nvPr/>
        </p:nvGrpSpPr>
        <p:grpSpPr>
          <a:xfrm rot="0">
            <a:off x="3850005" y="7115004"/>
            <a:ext cx="1698498" cy="395002"/>
            <a:chOff x="0" y="0"/>
            <a:chExt cx="2264664" cy="526669"/>
          </a:xfrm>
        </p:grpSpPr>
        <p:sp>
          <p:nvSpPr>
            <p:cNvPr name="Freeform 532" id="53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33" id="533"/>
          <p:cNvGrpSpPr/>
          <p:nvPr/>
        </p:nvGrpSpPr>
        <p:grpSpPr>
          <a:xfrm rot="0">
            <a:off x="3850005" y="7115004"/>
            <a:ext cx="1698498" cy="395002"/>
            <a:chOff x="0" y="0"/>
            <a:chExt cx="2264664" cy="526669"/>
          </a:xfrm>
        </p:grpSpPr>
        <p:sp>
          <p:nvSpPr>
            <p:cNvPr name="Freeform 534" id="53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35" id="53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-$4,635.18</a:t>
              </a:r>
            </a:p>
          </p:txBody>
        </p:sp>
      </p:grpSp>
      <p:grpSp>
        <p:nvGrpSpPr>
          <p:cNvPr name="Group 536" id="536"/>
          <p:cNvGrpSpPr/>
          <p:nvPr/>
        </p:nvGrpSpPr>
        <p:grpSpPr>
          <a:xfrm rot="0">
            <a:off x="5548503" y="7115004"/>
            <a:ext cx="1698498" cy="395002"/>
            <a:chOff x="0" y="0"/>
            <a:chExt cx="2264664" cy="526669"/>
          </a:xfrm>
        </p:grpSpPr>
        <p:sp>
          <p:nvSpPr>
            <p:cNvPr name="Freeform 537" id="53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38" id="538"/>
          <p:cNvGrpSpPr/>
          <p:nvPr/>
        </p:nvGrpSpPr>
        <p:grpSpPr>
          <a:xfrm rot="0">
            <a:off x="5548503" y="7115004"/>
            <a:ext cx="1698498" cy="395002"/>
            <a:chOff x="0" y="0"/>
            <a:chExt cx="2264664" cy="526669"/>
          </a:xfrm>
        </p:grpSpPr>
        <p:sp>
          <p:nvSpPr>
            <p:cNvPr name="Freeform 539" id="53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40" id="540"/>
          <p:cNvGrpSpPr/>
          <p:nvPr/>
        </p:nvGrpSpPr>
        <p:grpSpPr>
          <a:xfrm rot="0">
            <a:off x="5548503" y="7115004"/>
            <a:ext cx="1698498" cy="395002"/>
            <a:chOff x="0" y="0"/>
            <a:chExt cx="2264664" cy="526669"/>
          </a:xfrm>
        </p:grpSpPr>
        <p:sp>
          <p:nvSpPr>
            <p:cNvPr name="Freeform 541" id="54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42" id="54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-$4,920.54</a:t>
              </a:r>
            </a:p>
          </p:txBody>
        </p:sp>
      </p:grpSp>
      <p:grpSp>
        <p:nvGrpSpPr>
          <p:cNvPr name="Group 543" id="543"/>
          <p:cNvGrpSpPr/>
          <p:nvPr/>
        </p:nvGrpSpPr>
        <p:grpSpPr>
          <a:xfrm rot="0">
            <a:off x="7247001" y="7115004"/>
            <a:ext cx="1698498" cy="395002"/>
            <a:chOff x="0" y="0"/>
            <a:chExt cx="2264664" cy="526669"/>
          </a:xfrm>
        </p:grpSpPr>
        <p:sp>
          <p:nvSpPr>
            <p:cNvPr name="Freeform 544" id="54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45" id="545"/>
          <p:cNvGrpSpPr/>
          <p:nvPr/>
        </p:nvGrpSpPr>
        <p:grpSpPr>
          <a:xfrm rot="0">
            <a:off x="7247001" y="7115004"/>
            <a:ext cx="1698498" cy="395002"/>
            <a:chOff x="0" y="0"/>
            <a:chExt cx="2264664" cy="526669"/>
          </a:xfrm>
        </p:grpSpPr>
        <p:sp>
          <p:nvSpPr>
            <p:cNvPr name="Freeform 546" id="54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47" id="547"/>
          <p:cNvGrpSpPr/>
          <p:nvPr/>
        </p:nvGrpSpPr>
        <p:grpSpPr>
          <a:xfrm rot="0">
            <a:off x="7247001" y="7115004"/>
            <a:ext cx="1698498" cy="395002"/>
            <a:chOff x="0" y="0"/>
            <a:chExt cx="2264664" cy="526669"/>
          </a:xfrm>
        </p:grpSpPr>
        <p:sp>
          <p:nvSpPr>
            <p:cNvPr name="Freeform 548" id="54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49" id="54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-$5,251.58</a:t>
              </a:r>
            </a:p>
          </p:txBody>
        </p:sp>
      </p:grpSp>
      <p:grpSp>
        <p:nvGrpSpPr>
          <p:cNvPr name="Group 550" id="550"/>
          <p:cNvGrpSpPr/>
          <p:nvPr/>
        </p:nvGrpSpPr>
        <p:grpSpPr>
          <a:xfrm rot="0">
            <a:off x="8945499" y="7115004"/>
            <a:ext cx="1698498" cy="395002"/>
            <a:chOff x="0" y="0"/>
            <a:chExt cx="2264664" cy="526669"/>
          </a:xfrm>
        </p:grpSpPr>
        <p:sp>
          <p:nvSpPr>
            <p:cNvPr name="Freeform 551" id="55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52" id="552"/>
          <p:cNvGrpSpPr/>
          <p:nvPr/>
        </p:nvGrpSpPr>
        <p:grpSpPr>
          <a:xfrm rot="0">
            <a:off x="8945499" y="7115004"/>
            <a:ext cx="1698498" cy="395002"/>
            <a:chOff x="0" y="0"/>
            <a:chExt cx="2264664" cy="526669"/>
          </a:xfrm>
        </p:grpSpPr>
        <p:sp>
          <p:nvSpPr>
            <p:cNvPr name="Freeform 553" id="55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54" id="554"/>
          <p:cNvGrpSpPr/>
          <p:nvPr/>
        </p:nvGrpSpPr>
        <p:grpSpPr>
          <a:xfrm rot="0">
            <a:off x="8945499" y="7115004"/>
            <a:ext cx="1698498" cy="395002"/>
            <a:chOff x="0" y="0"/>
            <a:chExt cx="2264664" cy="526669"/>
          </a:xfrm>
        </p:grpSpPr>
        <p:sp>
          <p:nvSpPr>
            <p:cNvPr name="Freeform 555" id="55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56" id="55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-$5,575.16</a:t>
              </a:r>
            </a:p>
          </p:txBody>
        </p:sp>
      </p:grpSp>
      <p:grpSp>
        <p:nvGrpSpPr>
          <p:cNvPr name="Group 557" id="557"/>
          <p:cNvGrpSpPr/>
          <p:nvPr/>
        </p:nvGrpSpPr>
        <p:grpSpPr>
          <a:xfrm rot="0">
            <a:off x="10643997" y="7115004"/>
            <a:ext cx="1698498" cy="395002"/>
            <a:chOff x="0" y="0"/>
            <a:chExt cx="2264664" cy="526669"/>
          </a:xfrm>
        </p:grpSpPr>
        <p:sp>
          <p:nvSpPr>
            <p:cNvPr name="Freeform 558" id="55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59" id="559"/>
          <p:cNvGrpSpPr/>
          <p:nvPr/>
        </p:nvGrpSpPr>
        <p:grpSpPr>
          <a:xfrm rot="0">
            <a:off x="10643997" y="7115004"/>
            <a:ext cx="1698498" cy="395002"/>
            <a:chOff x="0" y="0"/>
            <a:chExt cx="2264664" cy="526669"/>
          </a:xfrm>
        </p:grpSpPr>
        <p:sp>
          <p:nvSpPr>
            <p:cNvPr name="Freeform 560" id="56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61" id="561"/>
          <p:cNvGrpSpPr/>
          <p:nvPr/>
        </p:nvGrpSpPr>
        <p:grpSpPr>
          <a:xfrm rot="0">
            <a:off x="10643997" y="7115004"/>
            <a:ext cx="1698498" cy="395002"/>
            <a:chOff x="0" y="0"/>
            <a:chExt cx="2264664" cy="526669"/>
          </a:xfrm>
        </p:grpSpPr>
        <p:sp>
          <p:nvSpPr>
            <p:cNvPr name="Freeform 562" id="56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63" id="56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-$5,877.90</a:t>
              </a:r>
            </a:p>
          </p:txBody>
        </p:sp>
      </p:grpSp>
      <p:grpSp>
        <p:nvGrpSpPr>
          <p:cNvPr name="Group 564" id="564"/>
          <p:cNvGrpSpPr/>
          <p:nvPr/>
        </p:nvGrpSpPr>
        <p:grpSpPr>
          <a:xfrm rot="0">
            <a:off x="850001" y="7501004"/>
            <a:ext cx="16587978" cy="8954"/>
            <a:chOff x="0" y="0"/>
            <a:chExt cx="22117304" cy="11938"/>
          </a:xfrm>
        </p:grpSpPr>
        <p:sp>
          <p:nvSpPr>
            <p:cNvPr name="Freeform 565" id="565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566" id="566"/>
          <p:cNvGrpSpPr/>
          <p:nvPr/>
        </p:nvGrpSpPr>
        <p:grpSpPr>
          <a:xfrm rot="0">
            <a:off x="850001" y="7509996"/>
            <a:ext cx="16587978" cy="395002"/>
            <a:chOff x="0" y="0"/>
            <a:chExt cx="22117304" cy="526669"/>
          </a:xfrm>
        </p:grpSpPr>
        <p:sp>
          <p:nvSpPr>
            <p:cNvPr name="Freeform 567" id="567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solidFill>
              <a:srgbClr val="E9EDF6"/>
            </a:solidFill>
          </p:spPr>
        </p:sp>
      </p:grpSp>
      <p:grpSp>
        <p:nvGrpSpPr>
          <p:cNvPr name="Group 568" id="568"/>
          <p:cNvGrpSpPr/>
          <p:nvPr/>
        </p:nvGrpSpPr>
        <p:grpSpPr>
          <a:xfrm rot="0">
            <a:off x="1070000" y="7509996"/>
            <a:ext cx="16587978" cy="395002"/>
            <a:chOff x="0" y="0"/>
            <a:chExt cx="22117304" cy="526669"/>
          </a:xfrm>
        </p:grpSpPr>
        <p:sp>
          <p:nvSpPr>
            <p:cNvPr name="Freeform 569" id="569"/>
            <p:cNvSpPr/>
            <p:nvPr/>
          </p:nvSpPr>
          <p:spPr>
            <a:xfrm flipH="false" flipV="false" rot="0">
              <a:off x="0" y="0"/>
              <a:ext cx="22117304" cy="526669"/>
            </a:xfrm>
            <a:custGeom>
              <a:avLst/>
              <a:gdLst/>
              <a:ahLst/>
              <a:cxnLst/>
              <a:rect r="r" b="b" t="t" l="l"/>
              <a:pathLst>
                <a:path h="526669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767699" r="0" b="-767699"/>
              </a:stretch>
            </a:blipFill>
          </p:spPr>
        </p:sp>
      </p:grpSp>
      <p:grpSp>
        <p:nvGrpSpPr>
          <p:cNvPr name="Group 570" id="570"/>
          <p:cNvGrpSpPr/>
          <p:nvPr/>
        </p:nvGrpSpPr>
        <p:grpSpPr>
          <a:xfrm rot="0">
            <a:off x="1070000" y="7502852"/>
            <a:ext cx="16587997" cy="402146"/>
            <a:chOff x="0" y="0"/>
            <a:chExt cx="22117329" cy="536194"/>
          </a:xfrm>
        </p:grpSpPr>
        <p:sp>
          <p:nvSpPr>
            <p:cNvPr name="Freeform 571" id="571"/>
            <p:cNvSpPr/>
            <p:nvPr/>
          </p:nvSpPr>
          <p:spPr>
            <a:xfrm flipH="false" flipV="false" rot="0">
              <a:off x="0" y="0"/>
              <a:ext cx="22117304" cy="536194"/>
            </a:xfrm>
            <a:custGeom>
              <a:avLst/>
              <a:gdLst/>
              <a:ahLst/>
              <a:cxnLst/>
              <a:rect r="r" b="b" t="t" l="l"/>
              <a:pathLst>
                <a:path h="536194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536194"/>
                  </a:lnTo>
                  <a:lnTo>
                    <a:pt x="0" y="536194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753173" r="0" b="-753173"/>
              </a:stretch>
            </a:blipFill>
          </p:spPr>
        </p:sp>
      </p:grpSp>
      <p:grpSp>
        <p:nvGrpSpPr>
          <p:cNvPr name="Group 572" id="572"/>
          <p:cNvGrpSpPr/>
          <p:nvPr/>
        </p:nvGrpSpPr>
        <p:grpSpPr>
          <a:xfrm rot="0">
            <a:off x="1070000" y="7495708"/>
            <a:ext cx="16587997" cy="409289"/>
            <a:chOff x="0" y="0"/>
            <a:chExt cx="22117329" cy="545719"/>
          </a:xfrm>
        </p:grpSpPr>
        <p:sp>
          <p:nvSpPr>
            <p:cNvPr name="Freeform 573" id="573"/>
            <p:cNvSpPr/>
            <p:nvPr/>
          </p:nvSpPr>
          <p:spPr>
            <a:xfrm flipH="false" flipV="false" rot="0">
              <a:off x="0" y="0"/>
              <a:ext cx="22117329" cy="545720"/>
            </a:xfrm>
            <a:custGeom>
              <a:avLst/>
              <a:gdLst/>
              <a:ahLst/>
              <a:cxnLst/>
              <a:rect r="r" b="b" t="t" l="l"/>
              <a:pathLst>
                <a:path h="545720" w="22117329">
                  <a:moveTo>
                    <a:pt x="0" y="0"/>
                  </a:moveTo>
                  <a:lnTo>
                    <a:pt x="22117329" y="0"/>
                  </a:lnTo>
                  <a:lnTo>
                    <a:pt x="22117329" y="545720"/>
                  </a:lnTo>
                  <a:lnTo>
                    <a:pt x="0" y="545720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739704" r="0" b="-739703"/>
              </a:stretch>
            </a:blipFill>
          </p:spPr>
        </p:sp>
        <p:sp>
          <p:nvSpPr>
            <p:cNvPr name="TextBox 574" id="574"/>
            <p:cNvSpPr txBox="true"/>
            <p:nvPr/>
          </p:nvSpPr>
          <p:spPr>
            <a:xfrm>
              <a:off x="0" y="-9525"/>
              <a:ext cx="22117329" cy="5552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12"/>
                </a:lnSpc>
              </a:pPr>
              <a:r>
                <a:rPr lang="en-US" b="true" sz="1260" spc="138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IV.  TOTAL DEPOSITS, CUMULATIVE</a:t>
              </a:r>
            </a:p>
          </p:txBody>
        </p:sp>
      </p:grpSp>
      <p:grpSp>
        <p:nvGrpSpPr>
          <p:cNvPr name="Group 575" id="575"/>
          <p:cNvGrpSpPr/>
          <p:nvPr/>
        </p:nvGrpSpPr>
        <p:grpSpPr>
          <a:xfrm rot="0">
            <a:off x="1070000" y="7904998"/>
            <a:ext cx="2699956" cy="395002"/>
            <a:chOff x="0" y="0"/>
            <a:chExt cx="3599942" cy="526669"/>
          </a:xfrm>
        </p:grpSpPr>
        <p:sp>
          <p:nvSpPr>
            <p:cNvPr name="Freeform 576" id="576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577" id="577"/>
          <p:cNvGrpSpPr/>
          <p:nvPr/>
        </p:nvGrpSpPr>
        <p:grpSpPr>
          <a:xfrm rot="0">
            <a:off x="1070000" y="7904998"/>
            <a:ext cx="2700004" cy="395002"/>
            <a:chOff x="0" y="0"/>
            <a:chExt cx="3600005" cy="526669"/>
          </a:xfrm>
        </p:grpSpPr>
        <p:sp>
          <p:nvSpPr>
            <p:cNvPr name="Freeform 578" id="578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579" id="579"/>
          <p:cNvGrpSpPr/>
          <p:nvPr/>
        </p:nvGrpSpPr>
        <p:grpSpPr>
          <a:xfrm rot="0">
            <a:off x="1070000" y="7904998"/>
            <a:ext cx="2700004" cy="395002"/>
            <a:chOff x="0" y="0"/>
            <a:chExt cx="3600005" cy="526669"/>
          </a:xfrm>
        </p:grpSpPr>
        <p:sp>
          <p:nvSpPr>
            <p:cNvPr name="Freeform 580" id="580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581" id="581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Achieved / Current</a:t>
              </a:r>
            </a:p>
          </p:txBody>
        </p:sp>
      </p:grpSp>
      <p:grpSp>
        <p:nvGrpSpPr>
          <p:cNvPr name="Group 582" id="582"/>
          <p:cNvGrpSpPr/>
          <p:nvPr/>
        </p:nvGrpSpPr>
        <p:grpSpPr>
          <a:xfrm rot="0">
            <a:off x="3850005" y="7904998"/>
            <a:ext cx="1698498" cy="395002"/>
            <a:chOff x="0" y="0"/>
            <a:chExt cx="2264664" cy="526669"/>
          </a:xfrm>
        </p:grpSpPr>
        <p:sp>
          <p:nvSpPr>
            <p:cNvPr name="Freeform 583" id="58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84" id="584"/>
          <p:cNvGrpSpPr/>
          <p:nvPr/>
        </p:nvGrpSpPr>
        <p:grpSpPr>
          <a:xfrm rot="0">
            <a:off x="3850005" y="7904998"/>
            <a:ext cx="1698498" cy="395002"/>
            <a:chOff x="0" y="0"/>
            <a:chExt cx="2264664" cy="526669"/>
          </a:xfrm>
        </p:grpSpPr>
        <p:sp>
          <p:nvSpPr>
            <p:cNvPr name="Freeform 585" id="58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86" id="586"/>
          <p:cNvGrpSpPr/>
          <p:nvPr/>
        </p:nvGrpSpPr>
        <p:grpSpPr>
          <a:xfrm rot="0">
            <a:off x="3850005" y="7904998"/>
            <a:ext cx="1698498" cy="395002"/>
            <a:chOff x="0" y="0"/>
            <a:chExt cx="2264664" cy="526669"/>
          </a:xfrm>
        </p:grpSpPr>
        <p:sp>
          <p:nvSpPr>
            <p:cNvPr name="Freeform 587" id="58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88" id="58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$4,012.99</a:t>
              </a:r>
            </a:p>
          </p:txBody>
        </p:sp>
      </p:grpSp>
      <p:grpSp>
        <p:nvGrpSpPr>
          <p:cNvPr name="Group 589" id="589"/>
          <p:cNvGrpSpPr/>
          <p:nvPr/>
        </p:nvGrpSpPr>
        <p:grpSpPr>
          <a:xfrm rot="0">
            <a:off x="5548503" y="7904998"/>
            <a:ext cx="1698498" cy="395002"/>
            <a:chOff x="0" y="0"/>
            <a:chExt cx="2264664" cy="526669"/>
          </a:xfrm>
        </p:grpSpPr>
        <p:sp>
          <p:nvSpPr>
            <p:cNvPr name="Freeform 590" id="59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91" id="591"/>
          <p:cNvGrpSpPr/>
          <p:nvPr/>
        </p:nvGrpSpPr>
        <p:grpSpPr>
          <a:xfrm rot="0">
            <a:off x="5548503" y="7904998"/>
            <a:ext cx="1698498" cy="395002"/>
            <a:chOff x="0" y="0"/>
            <a:chExt cx="2264664" cy="526669"/>
          </a:xfrm>
        </p:grpSpPr>
        <p:sp>
          <p:nvSpPr>
            <p:cNvPr name="Freeform 592" id="59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93" id="593"/>
          <p:cNvGrpSpPr/>
          <p:nvPr/>
        </p:nvGrpSpPr>
        <p:grpSpPr>
          <a:xfrm rot="0">
            <a:off x="5548503" y="7904998"/>
            <a:ext cx="1698498" cy="395002"/>
            <a:chOff x="0" y="0"/>
            <a:chExt cx="2264664" cy="526669"/>
          </a:xfrm>
        </p:grpSpPr>
        <p:sp>
          <p:nvSpPr>
            <p:cNvPr name="Freeform 594" id="59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595" id="59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$7,907.15</a:t>
              </a:r>
            </a:p>
          </p:txBody>
        </p:sp>
      </p:grpSp>
      <p:grpSp>
        <p:nvGrpSpPr>
          <p:cNvPr name="Group 596" id="596"/>
          <p:cNvGrpSpPr/>
          <p:nvPr/>
        </p:nvGrpSpPr>
        <p:grpSpPr>
          <a:xfrm rot="0">
            <a:off x="7247001" y="7904998"/>
            <a:ext cx="1698498" cy="395002"/>
            <a:chOff x="0" y="0"/>
            <a:chExt cx="2264664" cy="526669"/>
          </a:xfrm>
        </p:grpSpPr>
        <p:sp>
          <p:nvSpPr>
            <p:cNvPr name="Freeform 597" id="59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598" id="598"/>
          <p:cNvGrpSpPr/>
          <p:nvPr/>
        </p:nvGrpSpPr>
        <p:grpSpPr>
          <a:xfrm rot="0">
            <a:off x="7247001" y="7904998"/>
            <a:ext cx="1698498" cy="395002"/>
            <a:chOff x="0" y="0"/>
            <a:chExt cx="2264664" cy="526669"/>
          </a:xfrm>
        </p:grpSpPr>
        <p:sp>
          <p:nvSpPr>
            <p:cNvPr name="Freeform 599" id="59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00" id="600"/>
          <p:cNvGrpSpPr/>
          <p:nvPr/>
        </p:nvGrpSpPr>
        <p:grpSpPr>
          <a:xfrm rot="0">
            <a:off x="7247001" y="7904998"/>
            <a:ext cx="1698498" cy="395002"/>
            <a:chOff x="0" y="0"/>
            <a:chExt cx="2264664" cy="526669"/>
          </a:xfrm>
        </p:grpSpPr>
        <p:sp>
          <p:nvSpPr>
            <p:cNvPr name="Freeform 601" id="60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02" id="60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$8,626.91</a:t>
              </a:r>
            </a:p>
          </p:txBody>
        </p:sp>
      </p:grpSp>
      <p:grpSp>
        <p:nvGrpSpPr>
          <p:cNvPr name="Group 603" id="603"/>
          <p:cNvGrpSpPr/>
          <p:nvPr/>
        </p:nvGrpSpPr>
        <p:grpSpPr>
          <a:xfrm rot="0">
            <a:off x="8945499" y="7904998"/>
            <a:ext cx="1698498" cy="395002"/>
            <a:chOff x="0" y="0"/>
            <a:chExt cx="2264664" cy="526669"/>
          </a:xfrm>
        </p:grpSpPr>
        <p:sp>
          <p:nvSpPr>
            <p:cNvPr name="Freeform 604" id="60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05" id="605"/>
          <p:cNvGrpSpPr/>
          <p:nvPr/>
        </p:nvGrpSpPr>
        <p:grpSpPr>
          <a:xfrm rot="0">
            <a:off x="8945499" y="7904998"/>
            <a:ext cx="1698498" cy="395002"/>
            <a:chOff x="0" y="0"/>
            <a:chExt cx="2264664" cy="526669"/>
          </a:xfrm>
        </p:grpSpPr>
        <p:sp>
          <p:nvSpPr>
            <p:cNvPr name="Freeform 606" id="60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07" id="607"/>
          <p:cNvGrpSpPr/>
          <p:nvPr/>
        </p:nvGrpSpPr>
        <p:grpSpPr>
          <a:xfrm rot="0">
            <a:off x="8945499" y="7904998"/>
            <a:ext cx="1698498" cy="395002"/>
            <a:chOff x="0" y="0"/>
            <a:chExt cx="2264664" cy="526669"/>
          </a:xfrm>
        </p:grpSpPr>
        <p:sp>
          <p:nvSpPr>
            <p:cNvPr name="Freeform 608" id="60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09" id="60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$10,003.60</a:t>
              </a:r>
            </a:p>
          </p:txBody>
        </p:sp>
      </p:grpSp>
      <p:grpSp>
        <p:nvGrpSpPr>
          <p:cNvPr name="Group 610" id="610"/>
          <p:cNvGrpSpPr/>
          <p:nvPr/>
        </p:nvGrpSpPr>
        <p:grpSpPr>
          <a:xfrm rot="0">
            <a:off x="10643997" y="7904998"/>
            <a:ext cx="1698498" cy="395002"/>
            <a:chOff x="0" y="0"/>
            <a:chExt cx="2264664" cy="526669"/>
          </a:xfrm>
        </p:grpSpPr>
        <p:sp>
          <p:nvSpPr>
            <p:cNvPr name="Freeform 611" id="61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12" id="612"/>
          <p:cNvGrpSpPr/>
          <p:nvPr/>
        </p:nvGrpSpPr>
        <p:grpSpPr>
          <a:xfrm rot="0">
            <a:off x="10643997" y="7904998"/>
            <a:ext cx="1698498" cy="395002"/>
            <a:chOff x="0" y="0"/>
            <a:chExt cx="2264664" cy="526669"/>
          </a:xfrm>
        </p:grpSpPr>
        <p:sp>
          <p:nvSpPr>
            <p:cNvPr name="Freeform 613" id="61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14" id="614"/>
          <p:cNvGrpSpPr/>
          <p:nvPr/>
        </p:nvGrpSpPr>
        <p:grpSpPr>
          <a:xfrm rot="0">
            <a:off x="10643997" y="7904998"/>
            <a:ext cx="1698498" cy="395002"/>
            <a:chOff x="0" y="0"/>
            <a:chExt cx="2264664" cy="526669"/>
          </a:xfrm>
        </p:grpSpPr>
        <p:sp>
          <p:nvSpPr>
            <p:cNvPr name="Freeform 615" id="61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16" id="61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$12,206.00</a:t>
              </a:r>
            </a:p>
          </p:txBody>
        </p:sp>
      </p:grpSp>
      <p:grpSp>
        <p:nvGrpSpPr>
          <p:cNvPr name="Group 617" id="617"/>
          <p:cNvGrpSpPr/>
          <p:nvPr/>
        </p:nvGrpSpPr>
        <p:grpSpPr>
          <a:xfrm rot="0">
            <a:off x="850001" y="8290998"/>
            <a:ext cx="16587978" cy="8954"/>
            <a:chOff x="0" y="0"/>
            <a:chExt cx="22117304" cy="11938"/>
          </a:xfrm>
        </p:grpSpPr>
        <p:sp>
          <p:nvSpPr>
            <p:cNvPr name="Freeform 618" id="618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619" id="619"/>
          <p:cNvGrpSpPr/>
          <p:nvPr/>
        </p:nvGrpSpPr>
        <p:grpSpPr>
          <a:xfrm rot="0">
            <a:off x="1070000" y="8299999"/>
            <a:ext cx="2699956" cy="395002"/>
            <a:chOff x="0" y="0"/>
            <a:chExt cx="3599942" cy="526669"/>
          </a:xfrm>
        </p:grpSpPr>
        <p:sp>
          <p:nvSpPr>
            <p:cNvPr name="Freeform 620" id="620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621" id="621"/>
          <p:cNvGrpSpPr/>
          <p:nvPr/>
        </p:nvGrpSpPr>
        <p:grpSpPr>
          <a:xfrm rot="0">
            <a:off x="1070000" y="8299999"/>
            <a:ext cx="2700004" cy="395002"/>
            <a:chOff x="0" y="0"/>
            <a:chExt cx="3600005" cy="526669"/>
          </a:xfrm>
        </p:grpSpPr>
        <p:sp>
          <p:nvSpPr>
            <p:cNvPr name="Freeform 622" id="622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623" id="623"/>
          <p:cNvGrpSpPr/>
          <p:nvPr/>
        </p:nvGrpSpPr>
        <p:grpSpPr>
          <a:xfrm rot="0">
            <a:off x="1070000" y="8299999"/>
            <a:ext cx="2700004" cy="395002"/>
            <a:chOff x="0" y="0"/>
            <a:chExt cx="3600005" cy="526669"/>
          </a:xfrm>
        </p:grpSpPr>
        <p:sp>
          <p:nvSpPr>
            <p:cNvPr name="Freeform 624" id="624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625" id="625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sz="1320">
                  <a:solidFill>
                    <a:srgbClr val="545C72"/>
                  </a:solidFill>
                  <a:latin typeface="Exo 2"/>
                  <a:ea typeface="Exo 2"/>
                  <a:cs typeface="Exo 2"/>
                  <a:sym typeface="Exo 2"/>
                </a:rPr>
                <a:t>Target / Projected</a:t>
              </a:r>
            </a:p>
          </p:txBody>
        </p:sp>
      </p:grpSp>
      <p:grpSp>
        <p:nvGrpSpPr>
          <p:cNvPr name="Group 626" id="626"/>
          <p:cNvGrpSpPr/>
          <p:nvPr/>
        </p:nvGrpSpPr>
        <p:grpSpPr>
          <a:xfrm rot="0">
            <a:off x="3850005" y="8299999"/>
            <a:ext cx="1698498" cy="395002"/>
            <a:chOff x="0" y="0"/>
            <a:chExt cx="2264664" cy="526669"/>
          </a:xfrm>
        </p:grpSpPr>
        <p:sp>
          <p:nvSpPr>
            <p:cNvPr name="Freeform 627" id="62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28" id="628"/>
          <p:cNvGrpSpPr/>
          <p:nvPr/>
        </p:nvGrpSpPr>
        <p:grpSpPr>
          <a:xfrm rot="0">
            <a:off x="3850005" y="8299999"/>
            <a:ext cx="1698498" cy="395002"/>
            <a:chOff x="0" y="0"/>
            <a:chExt cx="2264664" cy="526669"/>
          </a:xfrm>
        </p:grpSpPr>
        <p:sp>
          <p:nvSpPr>
            <p:cNvPr name="Freeform 629" id="62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30" id="630"/>
          <p:cNvGrpSpPr/>
          <p:nvPr/>
        </p:nvGrpSpPr>
        <p:grpSpPr>
          <a:xfrm rot="0">
            <a:off x="3850005" y="8299999"/>
            <a:ext cx="1698498" cy="395002"/>
            <a:chOff x="0" y="0"/>
            <a:chExt cx="2264664" cy="526669"/>
          </a:xfrm>
        </p:grpSpPr>
        <p:sp>
          <p:nvSpPr>
            <p:cNvPr name="Freeform 631" id="63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32" id="632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$100,000</a:t>
              </a:r>
            </a:p>
          </p:txBody>
        </p:sp>
      </p:grpSp>
      <p:grpSp>
        <p:nvGrpSpPr>
          <p:cNvPr name="Group 633" id="633"/>
          <p:cNvGrpSpPr/>
          <p:nvPr/>
        </p:nvGrpSpPr>
        <p:grpSpPr>
          <a:xfrm rot="0">
            <a:off x="5548503" y="8299999"/>
            <a:ext cx="1698498" cy="395002"/>
            <a:chOff x="0" y="0"/>
            <a:chExt cx="2264664" cy="526669"/>
          </a:xfrm>
        </p:grpSpPr>
        <p:sp>
          <p:nvSpPr>
            <p:cNvPr name="Freeform 634" id="63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35" id="635"/>
          <p:cNvGrpSpPr/>
          <p:nvPr/>
        </p:nvGrpSpPr>
        <p:grpSpPr>
          <a:xfrm rot="0">
            <a:off x="5548503" y="8299999"/>
            <a:ext cx="1698498" cy="395002"/>
            <a:chOff x="0" y="0"/>
            <a:chExt cx="2264664" cy="526669"/>
          </a:xfrm>
        </p:grpSpPr>
        <p:sp>
          <p:nvSpPr>
            <p:cNvPr name="Freeform 636" id="63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37" id="637"/>
          <p:cNvGrpSpPr/>
          <p:nvPr/>
        </p:nvGrpSpPr>
        <p:grpSpPr>
          <a:xfrm rot="0">
            <a:off x="5548503" y="8299999"/>
            <a:ext cx="1698498" cy="395002"/>
            <a:chOff x="0" y="0"/>
            <a:chExt cx="2264664" cy="526669"/>
          </a:xfrm>
        </p:grpSpPr>
        <p:sp>
          <p:nvSpPr>
            <p:cNvPr name="Freeform 638" id="63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39" id="639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$123,900</a:t>
              </a:r>
            </a:p>
          </p:txBody>
        </p:sp>
      </p:grpSp>
      <p:grpSp>
        <p:nvGrpSpPr>
          <p:cNvPr name="Group 640" id="640"/>
          <p:cNvGrpSpPr/>
          <p:nvPr/>
        </p:nvGrpSpPr>
        <p:grpSpPr>
          <a:xfrm rot="0">
            <a:off x="7247001" y="8299999"/>
            <a:ext cx="1698498" cy="395002"/>
            <a:chOff x="0" y="0"/>
            <a:chExt cx="2264664" cy="526669"/>
          </a:xfrm>
        </p:grpSpPr>
        <p:sp>
          <p:nvSpPr>
            <p:cNvPr name="Freeform 641" id="64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42" id="642"/>
          <p:cNvGrpSpPr/>
          <p:nvPr/>
        </p:nvGrpSpPr>
        <p:grpSpPr>
          <a:xfrm rot="0">
            <a:off x="7247001" y="8299999"/>
            <a:ext cx="1698498" cy="395002"/>
            <a:chOff x="0" y="0"/>
            <a:chExt cx="2264664" cy="526669"/>
          </a:xfrm>
        </p:grpSpPr>
        <p:sp>
          <p:nvSpPr>
            <p:cNvPr name="Freeform 643" id="64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44" id="644"/>
          <p:cNvGrpSpPr/>
          <p:nvPr/>
        </p:nvGrpSpPr>
        <p:grpSpPr>
          <a:xfrm rot="0">
            <a:off x="7247001" y="8299999"/>
            <a:ext cx="1698498" cy="395002"/>
            <a:chOff x="0" y="0"/>
            <a:chExt cx="2264664" cy="526669"/>
          </a:xfrm>
        </p:grpSpPr>
        <p:sp>
          <p:nvSpPr>
            <p:cNvPr name="Freeform 645" id="64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46" id="646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$153,512</a:t>
              </a:r>
            </a:p>
          </p:txBody>
        </p:sp>
      </p:grpSp>
      <p:grpSp>
        <p:nvGrpSpPr>
          <p:cNvPr name="Group 647" id="647"/>
          <p:cNvGrpSpPr/>
          <p:nvPr/>
        </p:nvGrpSpPr>
        <p:grpSpPr>
          <a:xfrm rot="0">
            <a:off x="8945499" y="8299999"/>
            <a:ext cx="1698498" cy="395002"/>
            <a:chOff x="0" y="0"/>
            <a:chExt cx="2264664" cy="526669"/>
          </a:xfrm>
        </p:grpSpPr>
        <p:sp>
          <p:nvSpPr>
            <p:cNvPr name="Freeform 648" id="64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49" id="649"/>
          <p:cNvGrpSpPr/>
          <p:nvPr/>
        </p:nvGrpSpPr>
        <p:grpSpPr>
          <a:xfrm rot="0">
            <a:off x="8945499" y="8299999"/>
            <a:ext cx="1698498" cy="395002"/>
            <a:chOff x="0" y="0"/>
            <a:chExt cx="2264664" cy="526669"/>
          </a:xfrm>
        </p:grpSpPr>
        <p:sp>
          <p:nvSpPr>
            <p:cNvPr name="Freeform 650" id="65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51" id="651"/>
          <p:cNvGrpSpPr/>
          <p:nvPr/>
        </p:nvGrpSpPr>
        <p:grpSpPr>
          <a:xfrm rot="0">
            <a:off x="8945499" y="8299999"/>
            <a:ext cx="1698498" cy="395002"/>
            <a:chOff x="0" y="0"/>
            <a:chExt cx="2264664" cy="526669"/>
          </a:xfrm>
        </p:grpSpPr>
        <p:sp>
          <p:nvSpPr>
            <p:cNvPr name="Freeform 652" id="65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53" id="653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$190,201</a:t>
              </a:r>
            </a:p>
          </p:txBody>
        </p:sp>
      </p:grpSp>
      <p:grpSp>
        <p:nvGrpSpPr>
          <p:cNvPr name="Group 654" id="654"/>
          <p:cNvGrpSpPr/>
          <p:nvPr/>
        </p:nvGrpSpPr>
        <p:grpSpPr>
          <a:xfrm rot="0">
            <a:off x="10643997" y="8299999"/>
            <a:ext cx="1698498" cy="395002"/>
            <a:chOff x="0" y="0"/>
            <a:chExt cx="2264664" cy="526669"/>
          </a:xfrm>
        </p:grpSpPr>
        <p:sp>
          <p:nvSpPr>
            <p:cNvPr name="Freeform 655" id="65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56" id="656"/>
          <p:cNvGrpSpPr/>
          <p:nvPr/>
        </p:nvGrpSpPr>
        <p:grpSpPr>
          <a:xfrm rot="0">
            <a:off x="10643997" y="8299999"/>
            <a:ext cx="1698498" cy="395002"/>
            <a:chOff x="0" y="0"/>
            <a:chExt cx="2264664" cy="526669"/>
          </a:xfrm>
        </p:grpSpPr>
        <p:sp>
          <p:nvSpPr>
            <p:cNvPr name="Freeform 657" id="65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58" id="658"/>
          <p:cNvGrpSpPr/>
          <p:nvPr/>
        </p:nvGrpSpPr>
        <p:grpSpPr>
          <a:xfrm rot="0">
            <a:off x="10643997" y="8299999"/>
            <a:ext cx="1698498" cy="395002"/>
            <a:chOff x="0" y="0"/>
            <a:chExt cx="2264664" cy="526669"/>
          </a:xfrm>
        </p:grpSpPr>
        <p:sp>
          <p:nvSpPr>
            <p:cNvPr name="Freeform 659" id="65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60" id="660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$235,660</a:t>
              </a:r>
            </a:p>
          </p:txBody>
        </p:sp>
      </p:grpSp>
      <p:grpSp>
        <p:nvGrpSpPr>
          <p:cNvPr name="Group 661" id="661"/>
          <p:cNvGrpSpPr/>
          <p:nvPr/>
        </p:nvGrpSpPr>
        <p:grpSpPr>
          <a:xfrm rot="0">
            <a:off x="12342505" y="8299999"/>
            <a:ext cx="1698498" cy="395002"/>
            <a:chOff x="0" y="0"/>
            <a:chExt cx="2264664" cy="526669"/>
          </a:xfrm>
        </p:grpSpPr>
        <p:sp>
          <p:nvSpPr>
            <p:cNvPr name="Freeform 662" id="66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63" id="663"/>
          <p:cNvGrpSpPr/>
          <p:nvPr/>
        </p:nvGrpSpPr>
        <p:grpSpPr>
          <a:xfrm rot="0">
            <a:off x="12342505" y="8299999"/>
            <a:ext cx="1698498" cy="395002"/>
            <a:chOff x="0" y="0"/>
            <a:chExt cx="2264664" cy="526669"/>
          </a:xfrm>
        </p:grpSpPr>
        <p:sp>
          <p:nvSpPr>
            <p:cNvPr name="Freeform 664" id="66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65" id="665"/>
          <p:cNvGrpSpPr/>
          <p:nvPr/>
        </p:nvGrpSpPr>
        <p:grpSpPr>
          <a:xfrm rot="0">
            <a:off x="12342505" y="8299999"/>
            <a:ext cx="1698498" cy="395002"/>
            <a:chOff x="0" y="0"/>
            <a:chExt cx="2264664" cy="526669"/>
          </a:xfrm>
        </p:grpSpPr>
        <p:sp>
          <p:nvSpPr>
            <p:cNvPr name="Freeform 666" id="66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67" id="66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$291,982</a:t>
              </a:r>
            </a:p>
          </p:txBody>
        </p:sp>
      </p:grpSp>
      <p:grpSp>
        <p:nvGrpSpPr>
          <p:cNvPr name="Group 668" id="668"/>
          <p:cNvGrpSpPr/>
          <p:nvPr/>
        </p:nvGrpSpPr>
        <p:grpSpPr>
          <a:xfrm rot="0">
            <a:off x="14041003" y="8299999"/>
            <a:ext cx="1698498" cy="395002"/>
            <a:chOff x="0" y="0"/>
            <a:chExt cx="2264664" cy="526669"/>
          </a:xfrm>
        </p:grpSpPr>
        <p:sp>
          <p:nvSpPr>
            <p:cNvPr name="Freeform 669" id="66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70" id="670"/>
          <p:cNvGrpSpPr/>
          <p:nvPr/>
        </p:nvGrpSpPr>
        <p:grpSpPr>
          <a:xfrm rot="0">
            <a:off x="14041003" y="8299999"/>
            <a:ext cx="1698498" cy="395002"/>
            <a:chOff x="0" y="0"/>
            <a:chExt cx="2264664" cy="526669"/>
          </a:xfrm>
        </p:grpSpPr>
        <p:sp>
          <p:nvSpPr>
            <p:cNvPr name="Freeform 671" id="67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72" id="672"/>
          <p:cNvGrpSpPr/>
          <p:nvPr/>
        </p:nvGrpSpPr>
        <p:grpSpPr>
          <a:xfrm rot="0">
            <a:off x="14041003" y="8299999"/>
            <a:ext cx="1698498" cy="395002"/>
            <a:chOff x="0" y="0"/>
            <a:chExt cx="2264664" cy="526669"/>
          </a:xfrm>
        </p:grpSpPr>
        <p:sp>
          <p:nvSpPr>
            <p:cNvPr name="Freeform 673" id="67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74" id="67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$361,766</a:t>
              </a:r>
            </a:p>
          </p:txBody>
        </p:sp>
      </p:grpSp>
      <p:grpSp>
        <p:nvGrpSpPr>
          <p:cNvPr name="Group 675" id="675"/>
          <p:cNvGrpSpPr/>
          <p:nvPr/>
        </p:nvGrpSpPr>
        <p:grpSpPr>
          <a:xfrm rot="0">
            <a:off x="15739501" y="8299999"/>
            <a:ext cx="1698498" cy="395002"/>
            <a:chOff x="0" y="0"/>
            <a:chExt cx="2264664" cy="526669"/>
          </a:xfrm>
        </p:grpSpPr>
        <p:sp>
          <p:nvSpPr>
            <p:cNvPr name="Freeform 676" id="67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77" id="677"/>
          <p:cNvGrpSpPr/>
          <p:nvPr/>
        </p:nvGrpSpPr>
        <p:grpSpPr>
          <a:xfrm rot="0">
            <a:off x="15739501" y="8299999"/>
            <a:ext cx="1698498" cy="395002"/>
            <a:chOff x="0" y="0"/>
            <a:chExt cx="2264664" cy="526669"/>
          </a:xfrm>
        </p:grpSpPr>
        <p:sp>
          <p:nvSpPr>
            <p:cNvPr name="Freeform 678" id="67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79" id="679"/>
          <p:cNvGrpSpPr/>
          <p:nvPr/>
        </p:nvGrpSpPr>
        <p:grpSpPr>
          <a:xfrm rot="0">
            <a:off x="15739501" y="8299999"/>
            <a:ext cx="1698498" cy="395002"/>
            <a:chOff x="0" y="0"/>
            <a:chExt cx="2264664" cy="526669"/>
          </a:xfrm>
        </p:grpSpPr>
        <p:sp>
          <p:nvSpPr>
            <p:cNvPr name="Freeform 680" id="68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81" id="68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>
                  <a:solidFill>
                    <a:srgbClr val="132257"/>
                  </a:solidFill>
                  <a:latin typeface="Exo 2"/>
                  <a:ea typeface="Exo 2"/>
                  <a:cs typeface="Exo 2"/>
                  <a:sym typeface="Exo 2"/>
                </a:rPr>
                <a:t>$448,228</a:t>
              </a:r>
            </a:p>
          </p:txBody>
        </p:sp>
      </p:grpSp>
      <p:grpSp>
        <p:nvGrpSpPr>
          <p:cNvPr name="Group 682" id="682"/>
          <p:cNvGrpSpPr/>
          <p:nvPr/>
        </p:nvGrpSpPr>
        <p:grpSpPr>
          <a:xfrm rot="0">
            <a:off x="850001" y="8686000"/>
            <a:ext cx="16587978" cy="8954"/>
            <a:chOff x="0" y="0"/>
            <a:chExt cx="22117304" cy="11938"/>
          </a:xfrm>
        </p:grpSpPr>
        <p:sp>
          <p:nvSpPr>
            <p:cNvPr name="Freeform 683" id="683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684" id="684"/>
          <p:cNvGrpSpPr/>
          <p:nvPr/>
        </p:nvGrpSpPr>
        <p:grpSpPr>
          <a:xfrm rot="0">
            <a:off x="1070000" y="8695001"/>
            <a:ext cx="2699956" cy="395002"/>
            <a:chOff x="0" y="0"/>
            <a:chExt cx="3599942" cy="526669"/>
          </a:xfrm>
        </p:grpSpPr>
        <p:sp>
          <p:nvSpPr>
            <p:cNvPr name="Freeform 685" id="685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83093" r="0" b="-83093"/>
              </a:stretch>
            </a:blipFill>
          </p:spPr>
        </p:sp>
      </p:grpSp>
      <p:grpSp>
        <p:nvGrpSpPr>
          <p:cNvPr name="Group 686" id="686"/>
          <p:cNvGrpSpPr/>
          <p:nvPr/>
        </p:nvGrpSpPr>
        <p:grpSpPr>
          <a:xfrm rot="0">
            <a:off x="1070000" y="8695001"/>
            <a:ext cx="2700004" cy="395002"/>
            <a:chOff x="0" y="0"/>
            <a:chExt cx="3600005" cy="526669"/>
          </a:xfrm>
        </p:grpSpPr>
        <p:sp>
          <p:nvSpPr>
            <p:cNvPr name="Freeform 687" id="687"/>
            <p:cNvSpPr/>
            <p:nvPr/>
          </p:nvSpPr>
          <p:spPr>
            <a:xfrm flipH="false" flipV="false" rot="0">
              <a:off x="0" y="0"/>
              <a:ext cx="3599942" cy="526669"/>
            </a:xfrm>
            <a:custGeom>
              <a:avLst/>
              <a:gdLst/>
              <a:ahLst/>
              <a:cxnLst/>
              <a:rect r="r" b="b" t="t" l="l"/>
              <a:pathLst>
                <a:path h="526669" w="3599942">
                  <a:moveTo>
                    <a:pt x="0" y="0"/>
                  </a:moveTo>
                  <a:lnTo>
                    <a:pt x="3599942" y="0"/>
                  </a:lnTo>
                  <a:lnTo>
                    <a:pt x="3599942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83096" r="-1" b="-83096"/>
              </a:stretch>
            </a:blipFill>
          </p:spPr>
        </p:sp>
      </p:grpSp>
      <p:grpSp>
        <p:nvGrpSpPr>
          <p:cNvPr name="Group 688" id="688"/>
          <p:cNvGrpSpPr/>
          <p:nvPr/>
        </p:nvGrpSpPr>
        <p:grpSpPr>
          <a:xfrm rot="0">
            <a:off x="1070000" y="8695001"/>
            <a:ext cx="2700004" cy="395002"/>
            <a:chOff x="0" y="0"/>
            <a:chExt cx="3600005" cy="526669"/>
          </a:xfrm>
        </p:grpSpPr>
        <p:sp>
          <p:nvSpPr>
            <p:cNvPr name="Freeform 689" id="689"/>
            <p:cNvSpPr/>
            <p:nvPr/>
          </p:nvSpPr>
          <p:spPr>
            <a:xfrm flipH="false" flipV="false" rot="0">
              <a:off x="0" y="0"/>
              <a:ext cx="3600005" cy="526669"/>
            </a:xfrm>
            <a:custGeom>
              <a:avLst/>
              <a:gdLst/>
              <a:ahLst/>
              <a:cxnLst/>
              <a:rect r="r" b="b" t="t" l="l"/>
              <a:pathLst>
                <a:path h="526669" w="3600005">
                  <a:moveTo>
                    <a:pt x="0" y="0"/>
                  </a:moveTo>
                  <a:lnTo>
                    <a:pt x="3600005" y="0"/>
                  </a:lnTo>
                  <a:lnTo>
                    <a:pt x="3600005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83188" r="0" b="-83188"/>
              </a:stretch>
            </a:blipFill>
          </p:spPr>
        </p:sp>
        <p:sp>
          <p:nvSpPr>
            <p:cNvPr name="TextBox 690" id="690"/>
            <p:cNvSpPr txBox="true"/>
            <p:nvPr/>
          </p:nvSpPr>
          <p:spPr>
            <a:xfrm>
              <a:off x="0" y="0"/>
              <a:ext cx="3600005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84"/>
                </a:lnSpc>
              </a:pPr>
              <a:r>
                <a:rPr lang="en-US" b="true" sz="1320" i="true">
                  <a:solidFill>
                    <a:srgbClr val="132257"/>
                  </a:solidFill>
                  <a:latin typeface="Exo 2 Bold Italics"/>
                  <a:ea typeface="Exo 2 Bold Italics"/>
                  <a:cs typeface="Exo 2 Bold Italics"/>
                  <a:sym typeface="Exo 2 Bold Italics"/>
                </a:rPr>
                <a:t>Performance Gap</a:t>
              </a:r>
            </a:p>
          </p:txBody>
        </p:sp>
      </p:grpSp>
      <p:grpSp>
        <p:nvGrpSpPr>
          <p:cNvPr name="Group 691" id="691"/>
          <p:cNvGrpSpPr/>
          <p:nvPr/>
        </p:nvGrpSpPr>
        <p:grpSpPr>
          <a:xfrm rot="0">
            <a:off x="3850005" y="8695001"/>
            <a:ext cx="1698498" cy="395002"/>
            <a:chOff x="0" y="0"/>
            <a:chExt cx="2264664" cy="526669"/>
          </a:xfrm>
        </p:grpSpPr>
        <p:sp>
          <p:nvSpPr>
            <p:cNvPr name="Freeform 692" id="69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93" id="693"/>
          <p:cNvGrpSpPr/>
          <p:nvPr/>
        </p:nvGrpSpPr>
        <p:grpSpPr>
          <a:xfrm rot="0">
            <a:off x="3850005" y="8695001"/>
            <a:ext cx="1698498" cy="395002"/>
            <a:chOff x="0" y="0"/>
            <a:chExt cx="2264664" cy="526669"/>
          </a:xfrm>
        </p:grpSpPr>
        <p:sp>
          <p:nvSpPr>
            <p:cNvPr name="Freeform 694" id="69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695" id="695"/>
          <p:cNvGrpSpPr/>
          <p:nvPr/>
        </p:nvGrpSpPr>
        <p:grpSpPr>
          <a:xfrm rot="0">
            <a:off x="3850005" y="8695001"/>
            <a:ext cx="1698498" cy="395002"/>
            <a:chOff x="0" y="0"/>
            <a:chExt cx="2264664" cy="526669"/>
          </a:xfrm>
        </p:grpSpPr>
        <p:sp>
          <p:nvSpPr>
            <p:cNvPr name="Freeform 696" id="69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697" id="697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-$95,987.01</a:t>
              </a:r>
            </a:p>
          </p:txBody>
        </p:sp>
      </p:grpSp>
      <p:grpSp>
        <p:nvGrpSpPr>
          <p:cNvPr name="Group 698" id="698"/>
          <p:cNvGrpSpPr/>
          <p:nvPr/>
        </p:nvGrpSpPr>
        <p:grpSpPr>
          <a:xfrm rot="0">
            <a:off x="5548503" y="8695001"/>
            <a:ext cx="1698498" cy="395002"/>
            <a:chOff x="0" y="0"/>
            <a:chExt cx="2264664" cy="526669"/>
          </a:xfrm>
        </p:grpSpPr>
        <p:sp>
          <p:nvSpPr>
            <p:cNvPr name="Freeform 699" id="699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00" id="700"/>
          <p:cNvGrpSpPr/>
          <p:nvPr/>
        </p:nvGrpSpPr>
        <p:grpSpPr>
          <a:xfrm rot="0">
            <a:off x="5548503" y="8695001"/>
            <a:ext cx="1698498" cy="395002"/>
            <a:chOff x="0" y="0"/>
            <a:chExt cx="2264664" cy="526669"/>
          </a:xfrm>
        </p:grpSpPr>
        <p:sp>
          <p:nvSpPr>
            <p:cNvPr name="Freeform 701" id="701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02" id="702"/>
          <p:cNvGrpSpPr/>
          <p:nvPr/>
        </p:nvGrpSpPr>
        <p:grpSpPr>
          <a:xfrm rot="0">
            <a:off x="5548503" y="8695001"/>
            <a:ext cx="1698498" cy="395002"/>
            <a:chOff x="0" y="0"/>
            <a:chExt cx="2264664" cy="526669"/>
          </a:xfrm>
        </p:grpSpPr>
        <p:sp>
          <p:nvSpPr>
            <p:cNvPr name="Freeform 703" id="70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704" id="704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-$115,992.85</a:t>
              </a:r>
            </a:p>
          </p:txBody>
        </p:sp>
      </p:grpSp>
      <p:grpSp>
        <p:nvGrpSpPr>
          <p:cNvPr name="Group 705" id="705"/>
          <p:cNvGrpSpPr/>
          <p:nvPr/>
        </p:nvGrpSpPr>
        <p:grpSpPr>
          <a:xfrm rot="0">
            <a:off x="7247001" y="8695001"/>
            <a:ext cx="1698498" cy="395002"/>
            <a:chOff x="0" y="0"/>
            <a:chExt cx="2264664" cy="526669"/>
          </a:xfrm>
        </p:grpSpPr>
        <p:sp>
          <p:nvSpPr>
            <p:cNvPr name="Freeform 706" id="706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07" id="707"/>
          <p:cNvGrpSpPr/>
          <p:nvPr/>
        </p:nvGrpSpPr>
        <p:grpSpPr>
          <a:xfrm rot="0">
            <a:off x="7247001" y="8695001"/>
            <a:ext cx="1698498" cy="395002"/>
            <a:chOff x="0" y="0"/>
            <a:chExt cx="2264664" cy="526669"/>
          </a:xfrm>
        </p:grpSpPr>
        <p:sp>
          <p:nvSpPr>
            <p:cNvPr name="Freeform 708" id="708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09" id="709"/>
          <p:cNvGrpSpPr/>
          <p:nvPr/>
        </p:nvGrpSpPr>
        <p:grpSpPr>
          <a:xfrm rot="0">
            <a:off x="7247001" y="8695001"/>
            <a:ext cx="1698498" cy="395002"/>
            <a:chOff x="0" y="0"/>
            <a:chExt cx="2264664" cy="526669"/>
          </a:xfrm>
        </p:grpSpPr>
        <p:sp>
          <p:nvSpPr>
            <p:cNvPr name="Freeform 710" id="71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711" id="711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-$144,885.19</a:t>
              </a:r>
            </a:p>
          </p:txBody>
        </p:sp>
      </p:grpSp>
      <p:grpSp>
        <p:nvGrpSpPr>
          <p:cNvPr name="Group 712" id="712"/>
          <p:cNvGrpSpPr/>
          <p:nvPr/>
        </p:nvGrpSpPr>
        <p:grpSpPr>
          <a:xfrm rot="0">
            <a:off x="8945499" y="8695001"/>
            <a:ext cx="1698498" cy="395002"/>
            <a:chOff x="0" y="0"/>
            <a:chExt cx="2264664" cy="526669"/>
          </a:xfrm>
        </p:grpSpPr>
        <p:sp>
          <p:nvSpPr>
            <p:cNvPr name="Freeform 713" id="713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14" id="714"/>
          <p:cNvGrpSpPr/>
          <p:nvPr/>
        </p:nvGrpSpPr>
        <p:grpSpPr>
          <a:xfrm rot="0">
            <a:off x="8945499" y="8695001"/>
            <a:ext cx="1698498" cy="395002"/>
            <a:chOff x="0" y="0"/>
            <a:chExt cx="2264664" cy="526669"/>
          </a:xfrm>
        </p:grpSpPr>
        <p:sp>
          <p:nvSpPr>
            <p:cNvPr name="Freeform 715" id="715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16" id="716"/>
          <p:cNvGrpSpPr/>
          <p:nvPr/>
        </p:nvGrpSpPr>
        <p:grpSpPr>
          <a:xfrm rot="0">
            <a:off x="8945499" y="8695001"/>
            <a:ext cx="1698498" cy="395002"/>
            <a:chOff x="0" y="0"/>
            <a:chExt cx="2264664" cy="526669"/>
          </a:xfrm>
        </p:grpSpPr>
        <p:sp>
          <p:nvSpPr>
            <p:cNvPr name="Freeform 717" id="717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718" id="718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-$180,197.89</a:t>
              </a:r>
            </a:p>
          </p:txBody>
        </p:sp>
      </p:grpSp>
      <p:grpSp>
        <p:nvGrpSpPr>
          <p:cNvPr name="Group 719" id="719"/>
          <p:cNvGrpSpPr/>
          <p:nvPr/>
        </p:nvGrpSpPr>
        <p:grpSpPr>
          <a:xfrm rot="0">
            <a:off x="10643997" y="8695001"/>
            <a:ext cx="1698498" cy="395002"/>
            <a:chOff x="0" y="0"/>
            <a:chExt cx="2264664" cy="526669"/>
          </a:xfrm>
        </p:grpSpPr>
        <p:sp>
          <p:nvSpPr>
            <p:cNvPr name="Freeform 720" id="720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21" id="721"/>
          <p:cNvGrpSpPr/>
          <p:nvPr/>
        </p:nvGrpSpPr>
        <p:grpSpPr>
          <a:xfrm rot="0">
            <a:off x="10643997" y="8695001"/>
            <a:ext cx="1698498" cy="395002"/>
            <a:chOff x="0" y="0"/>
            <a:chExt cx="2264664" cy="526669"/>
          </a:xfrm>
        </p:grpSpPr>
        <p:sp>
          <p:nvSpPr>
            <p:cNvPr name="Freeform 722" id="722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33727" r="0" b="-33725"/>
              </a:stretch>
            </a:blipFill>
          </p:spPr>
        </p:sp>
      </p:grpSp>
      <p:grpSp>
        <p:nvGrpSpPr>
          <p:cNvPr name="Group 723" id="723"/>
          <p:cNvGrpSpPr/>
          <p:nvPr/>
        </p:nvGrpSpPr>
        <p:grpSpPr>
          <a:xfrm rot="0">
            <a:off x="10643997" y="8695001"/>
            <a:ext cx="1698498" cy="395002"/>
            <a:chOff x="0" y="0"/>
            <a:chExt cx="2264664" cy="526669"/>
          </a:xfrm>
        </p:grpSpPr>
        <p:sp>
          <p:nvSpPr>
            <p:cNvPr name="Freeform 724" id="724"/>
            <p:cNvSpPr/>
            <p:nvPr/>
          </p:nvSpPr>
          <p:spPr>
            <a:xfrm flipH="false" flipV="false" rot="0">
              <a:off x="0" y="0"/>
              <a:ext cx="2264664" cy="526669"/>
            </a:xfrm>
            <a:custGeom>
              <a:avLst/>
              <a:gdLst/>
              <a:ahLst/>
              <a:cxnLst/>
              <a:rect r="r" b="b" t="t" l="l"/>
              <a:pathLst>
                <a:path h="526669" w="2264664">
                  <a:moveTo>
                    <a:pt x="0" y="0"/>
                  </a:moveTo>
                  <a:lnTo>
                    <a:pt x="2264664" y="0"/>
                  </a:lnTo>
                  <a:lnTo>
                    <a:pt x="2264664" y="526669"/>
                  </a:lnTo>
                  <a:lnTo>
                    <a:pt x="0" y="526669"/>
                  </a:lnTo>
                  <a:close/>
                </a:path>
              </a:pathLst>
            </a:custGeom>
            <a:blipFill>
              <a:blip r:embed="rId8">
                <a:alphaModFix amt="0"/>
              </a:blip>
              <a:stretch>
                <a:fillRect l="0" t="-33785" r="0" b="-33785"/>
              </a:stretch>
            </a:blipFill>
          </p:spPr>
        </p:sp>
        <p:sp>
          <p:nvSpPr>
            <p:cNvPr name="TextBox 725" id="725"/>
            <p:cNvSpPr txBox="true"/>
            <p:nvPr/>
          </p:nvSpPr>
          <p:spPr>
            <a:xfrm>
              <a:off x="0" y="0"/>
              <a:ext cx="2264664" cy="526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84"/>
                </a:lnSpc>
              </a:pPr>
              <a:r>
                <a:rPr lang="en-US" sz="1320" b="true">
                  <a:solidFill>
                    <a:srgbClr val="132257"/>
                  </a:solidFill>
                  <a:latin typeface="Exo 2 Bold"/>
                  <a:ea typeface="Exo 2 Bold"/>
                  <a:cs typeface="Exo 2 Bold"/>
                  <a:sym typeface="Exo 2 Bold"/>
                </a:rPr>
                <a:t>-$223,454.00</a:t>
              </a:r>
            </a:p>
          </p:txBody>
        </p:sp>
      </p:grpSp>
      <p:grpSp>
        <p:nvGrpSpPr>
          <p:cNvPr name="Group 726" id="726"/>
          <p:cNvGrpSpPr/>
          <p:nvPr/>
        </p:nvGrpSpPr>
        <p:grpSpPr>
          <a:xfrm rot="0">
            <a:off x="850001" y="9081002"/>
            <a:ext cx="16587978" cy="8954"/>
            <a:chOff x="0" y="0"/>
            <a:chExt cx="22117304" cy="11938"/>
          </a:xfrm>
        </p:grpSpPr>
        <p:sp>
          <p:nvSpPr>
            <p:cNvPr name="Freeform 727" id="727"/>
            <p:cNvSpPr/>
            <p:nvPr/>
          </p:nvSpPr>
          <p:spPr>
            <a:xfrm flipH="false" flipV="false" rot="0">
              <a:off x="0" y="0"/>
              <a:ext cx="22117304" cy="11938"/>
            </a:xfrm>
            <a:custGeom>
              <a:avLst/>
              <a:gdLst/>
              <a:ahLst/>
              <a:cxnLst/>
              <a:rect r="r" b="b" t="t" l="l"/>
              <a:pathLst>
                <a:path h="11938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grpSp>
        <p:nvGrpSpPr>
          <p:cNvPr name="Group 728" id="728"/>
          <p:cNvGrpSpPr/>
          <p:nvPr/>
        </p:nvGrpSpPr>
        <p:grpSpPr>
          <a:xfrm rot="0">
            <a:off x="850001" y="9090003"/>
            <a:ext cx="16587978" cy="26003"/>
            <a:chOff x="0" y="0"/>
            <a:chExt cx="22117304" cy="34671"/>
          </a:xfrm>
        </p:grpSpPr>
        <p:sp>
          <p:nvSpPr>
            <p:cNvPr name="Freeform 729" id="729"/>
            <p:cNvSpPr/>
            <p:nvPr/>
          </p:nvSpPr>
          <p:spPr>
            <a:xfrm flipH="false" flipV="false" rot="0">
              <a:off x="0" y="0"/>
              <a:ext cx="22117304" cy="34671"/>
            </a:xfrm>
            <a:custGeom>
              <a:avLst/>
              <a:gdLst/>
              <a:ahLst/>
              <a:cxnLst/>
              <a:rect r="r" b="b" t="t" l="l"/>
              <a:pathLst>
                <a:path h="34671" w="22117304">
                  <a:moveTo>
                    <a:pt x="0" y="0"/>
                  </a:moveTo>
                  <a:lnTo>
                    <a:pt x="22117304" y="0"/>
                  </a:lnTo>
                  <a:lnTo>
                    <a:pt x="22117304" y="34671"/>
                  </a:lnTo>
                  <a:lnTo>
                    <a:pt x="0" y="34671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949958"/>
            <a:chOff x="0" y="0"/>
            <a:chExt cx="24384000" cy="2599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2599944"/>
            </a:xfrm>
            <a:custGeom>
              <a:avLst/>
              <a:gdLst/>
              <a:ahLst/>
              <a:cxnLst/>
              <a:rect r="r" b="b" t="t" l="l"/>
              <a:pathLst>
                <a:path h="259994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2599944"/>
                  </a:lnTo>
                  <a:lnTo>
                    <a:pt x="0" y="2599944"/>
                  </a:lnTo>
                  <a:close/>
                </a:path>
              </a:pathLst>
            </a:custGeom>
            <a:gradFill rotWithShape="true">
              <a:gsLst>
                <a:gs pos="0">
                  <a:srgbClr val="101B3B">
                    <a:alpha val="100000"/>
                  </a:srgbClr>
                </a:gs>
                <a:gs pos="100000">
                  <a:srgbClr val="22376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949996"/>
            <a:ext cx="18288000" cy="36004"/>
            <a:chOff x="0" y="0"/>
            <a:chExt cx="24384000" cy="480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48006"/>
            </a:xfrm>
            <a:custGeom>
              <a:avLst/>
              <a:gdLst/>
              <a:ahLst/>
              <a:cxnLst/>
              <a:rect r="r" b="b" t="t" l="l"/>
              <a:pathLst>
                <a:path h="4800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8006"/>
                  </a:lnTo>
                  <a:lnTo>
                    <a:pt x="0" y="48006"/>
                  </a:lnTo>
                  <a:close/>
                </a:path>
              </a:pathLst>
            </a:custGeom>
            <a:solidFill>
              <a:srgbClr val="D4AF37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0001" y="451428"/>
            <a:ext cx="13800001" cy="328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279">
                <a:solidFill>
                  <a:srgbClr val="D4AF37"/>
                </a:solidFill>
                <a:latin typeface="Exo 2 Bold"/>
                <a:ea typeface="Exo 2 Bold"/>
                <a:cs typeface="Exo 2 Bold"/>
                <a:sym typeface="Exo 2 Bold"/>
              </a:rPr>
              <a:t>APPENDIX  |  AS AT 29 SEPTEMBER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0001" y="760000"/>
            <a:ext cx="13800001" cy="700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8"/>
              </a:lnSpc>
            </a:pPr>
            <a:r>
              <a:rPr lang="en-US" b="true" sz="3740" spc="-40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Platform Dashboard at a Glance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5449998" y="690001"/>
            <a:ext cx="1989963" cy="573024"/>
            <a:chOff x="0" y="0"/>
            <a:chExt cx="2653284" cy="764032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2653284" cy="764032"/>
            </a:xfrm>
            <a:custGeom>
              <a:avLst/>
              <a:gdLst/>
              <a:ahLst/>
              <a:cxnLst/>
              <a:rect r="r" b="b" t="t" l="l"/>
              <a:pathLst>
                <a:path h="764032" w="2653284">
                  <a:moveTo>
                    <a:pt x="0" y="0"/>
                  </a:moveTo>
                  <a:lnTo>
                    <a:pt x="2653284" y="0"/>
                  </a:lnTo>
                  <a:lnTo>
                    <a:pt x="2653284" y="764032"/>
                  </a:lnTo>
                  <a:lnTo>
                    <a:pt x="0" y="764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320" r="0" b="-322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50001" y="9771421"/>
            <a:ext cx="10000002" cy="3285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6"/>
              </a:lnSpc>
            </a:pPr>
            <a:r>
              <a:rPr lang="en-US" sz="939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eMYAA Trading Platform  |  Board of Directors Update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699999" y="9799996"/>
            <a:ext cx="700002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12"/>
              </a:lnSpc>
            </a:pPr>
            <a:r>
              <a:rPr lang="en-US" sz="1010">
                <a:solidFill>
                  <a:srgbClr val="8A93A8"/>
                </a:solidFill>
                <a:latin typeface="Exo 2"/>
                <a:ea typeface="Exo 2"/>
                <a:cs typeface="Exo 2"/>
                <a:sym typeface="Exo 2"/>
              </a:rPr>
              <a:t>8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5711488" y="9398508"/>
            <a:ext cx="1547812" cy="550335"/>
          </a:xfrm>
          <a:custGeom>
            <a:avLst/>
            <a:gdLst/>
            <a:ahLst/>
            <a:cxnLst/>
            <a:rect r="r" b="b" t="t" l="l"/>
            <a:pathLst>
              <a:path h="550335" w="1547812">
                <a:moveTo>
                  <a:pt x="0" y="0"/>
                </a:moveTo>
                <a:lnTo>
                  <a:pt x="1547812" y="0"/>
                </a:lnTo>
                <a:lnTo>
                  <a:pt x="1547812" y="550335"/>
                </a:lnTo>
                <a:lnTo>
                  <a:pt x="0" y="5503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574" t="0" r="-574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50001" y="2300954"/>
            <a:ext cx="16587997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199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CLIENT JOURNEY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50001" y="2659999"/>
            <a:ext cx="3109627" cy="1319974"/>
            <a:chOff x="0" y="0"/>
            <a:chExt cx="4146169" cy="175996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46169" cy="1759966"/>
            </a:xfrm>
            <a:custGeom>
              <a:avLst/>
              <a:gdLst/>
              <a:ahLst/>
              <a:cxnLst/>
              <a:rect r="r" b="b" t="t" l="l"/>
              <a:pathLst>
                <a:path h="1759966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1759966"/>
                  </a:lnTo>
                  <a:lnTo>
                    <a:pt x="0" y="1759966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50001" y="2659999"/>
            <a:ext cx="3109627" cy="40005"/>
            <a:chOff x="0" y="0"/>
            <a:chExt cx="4146169" cy="533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46169" cy="53340"/>
            </a:xfrm>
            <a:custGeom>
              <a:avLst/>
              <a:gdLst/>
              <a:ahLst/>
              <a:cxnLst/>
              <a:rect r="r" b="b" t="t" l="l"/>
              <a:pathLst>
                <a:path h="53340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3E61B5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110005" y="2850004"/>
            <a:ext cx="2689603" cy="560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3"/>
              </a:lnSpc>
            </a:pPr>
            <a:r>
              <a:rPr lang="en-US" sz="3519" b="true">
                <a:solidFill>
                  <a:srgbClr val="3E61B5"/>
                </a:solidFill>
                <a:latin typeface="Exo 2 Bold"/>
                <a:ea typeface="Exo 2 Bold"/>
                <a:cs typeface="Exo 2 Bold"/>
                <a:sym typeface="Exo 2 Bold"/>
              </a:rPr>
              <a:t>490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10005" y="3400949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2"/>
              </a:lnSpc>
            </a:pPr>
            <a:r>
              <a:rPr lang="en-US" sz="14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App downloads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10005" y="3670954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Android 262  |  iOS 228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959600" y="3119999"/>
            <a:ext cx="260004" cy="400002"/>
            <a:chOff x="0" y="0"/>
            <a:chExt cx="346672" cy="5333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6710" cy="533273"/>
            </a:xfrm>
            <a:custGeom>
              <a:avLst/>
              <a:gdLst/>
              <a:ahLst/>
              <a:cxnLst/>
              <a:rect r="r" b="b" t="t" l="l"/>
              <a:pathLst>
                <a:path h="533273" w="346710">
                  <a:moveTo>
                    <a:pt x="0" y="0"/>
                  </a:moveTo>
                  <a:lnTo>
                    <a:pt x="346710" y="0"/>
                  </a:lnTo>
                  <a:lnTo>
                    <a:pt x="346710" y="533273"/>
                  </a:lnTo>
                  <a:lnTo>
                    <a:pt x="0" y="53327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47509" t="0" r="-147494" b="-11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3959600" y="3119999"/>
            <a:ext cx="260004" cy="400002"/>
            <a:chOff x="0" y="0"/>
            <a:chExt cx="346672" cy="53333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46672" cy="533336"/>
            </a:xfrm>
            <a:custGeom>
              <a:avLst/>
              <a:gdLst/>
              <a:ahLst/>
              <a:cxnLst/>
              <a:rect r="r" b="b" t="t" l="l"/>
              <a:pathLst>
                <a:path h="533336" w="346672">
                  <a:moveTo>
                    <a:pt x="0" y="0"/>
                  </a:moveTo>
                  <a:lnTo>
                    <a:pt x="346672" y="0"/>
                  </a:lnTo>
                  <a:lnTo>
                    <a:pt x="346672" y="533336"/>
                  </a:lnTo>
                  <a:lnTo>
                    <a:pt x="0" y="53333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47388" t="0" r="-147388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346672" cy="533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68"/>
                </a:lnSpc>
              </a:pPr>
              <a:r>
                <a:rPr lang="en-US" sz="2640" b="true">
                  <a:solidFill>
                    <a:srgbClr val="8A93A8"/>
                  </a:solidFill>
                  <a:latin typeface="Exo 2 Bold"/>
                  <a:ea typeface="Exo 2 Bold"/>
                  <a:cs typeface="Exo 2 Bold"/>
                  <a:sym typeface="Exo 2 Bold"/>
                </a:rPr>
                <a:t>›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4219604" y="2659999"/>
            <a:ext cx="3109627" cy="1319974"/>
            <a:chOff x="0" y="0"/>
            <a:chExt cx="4146169" cy="175996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146169" cy="1759966"/>
            </a:xfrm>
            <a:custGeom>
              <a:avLst/>
              <a:gdLst/>
              <a:ahLst/>
              <a:cxnLst/>
              <a:rect r="r" b="b" t="t" l="l"/>
              <a:pathLst>
                <a:path h="1759966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1759966"/>
                  </a:lnTo>
                  <a:lnTo>
                    <a:pt x="0" y="1759966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219604" y="2659999"/>
            <a:ext cx="3109627" cy="40005"/>
            <a:chOff x="0" y="0"/>
            <a:chExt cx="4146169" cy="533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146169" cy="53340"/>
            </a:xfrm>
            <a:custGeom>
              <a:avLst/>
              <a:gdLst/>
              <a:ahLst/>
              <a:cxnLst/>
              <a:rect r="r" b="b" t="t" l="l"/>
              <a:pathLst>
                <a:path h="53340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1BA97C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4479598" y="2850004"/>
            <a:ext cx="2689603" cy="560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3"/>
              </a:lnSpc>
            </a:pPr>
            <a:r>
              <a:rPr lang="en-US" sz="351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61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479598" y="3400949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2"/>
              </a:lnSpc>
            </a:pPr>
            <a:r>
              <a:rPr lang="en-US" sz="14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Clients onboarded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479598" y="3670954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12.4% of downloads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7329202" y="3119999"/>
            <a:ext cx="260004" cy="400002"/>
            <a:chOff x="0" y="0"/>
            <a:chExt cx="346672" cy="53333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46710" cy="533273"/>
            </a:xfrm>
            <a:custGeom>
              <a:avLst/>
              <a:gdLst/>
              <a:ahLst/>
              <a:cxnLst/>
              <a:rect r="r" b="b" t="t" l="l"/>
              <a:pathLst>
                <a:path h="533273" w="346710">
                  <a:moveTo>
                    <a:pt x="0" y="0"/>
                  </a:moveTo>
                  <a:lnTo>
                    <a:pt x="346710" y="0"/>
                  </a:lnTo>
                  <a:lnTo>
                    <a:pt x="346710" y="533273"/>
                  </a:lnTo>
                  <a:lnTo>
                    <a:pt x="0" y="53327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47509" t="0" r="-147494" b="-11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329202" y="3119999"/>
            <a:ext cx="260004" cy="400002"/>
            <a:chOff x="0" y="0"/>
            <a:chExt cx="346672" cy="53333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46672" cy="533336"/>
            </a:xfrm>
            <a:custGeom>
              <a:avLst/>
              <a:gdLst/>
              <a:ahLst/>
              <a:cxnLst/>
              <a:rect r="r" b="b" t="t" l="l"/>
              <a:pathLst>
                <a:path h="533336" w="346672">
                  <a:moveTo>
                    <a:pt x="0" y="0"/>
                  </a:moveTo>
                  <a:lnTo>
                    <a:pt x="346672" y="0"/>
                  </a:lnTo>
                  <a:lnTo>
                    <a:pt x="346672" y="533336"/>
                  </a:lnTo>
                  <a:lnTo>
                    <a:pt x="0" y="53333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47388" t="0" r="-147388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346672" cy="533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68"/>
                </a:lnSpc>
              </a:pPr>
              <a:r>
                <a:rPr lang="en-US" sz="2640" b="true">
                  <a:solidFill>
                    <a:srgbClr val="8A93A8"/>
                  </a:solidFill>
                  <a:latin typeface="Exo 2 Bold"/>
                  <a:ea typeface="Exo 2 Bold"/>
                  <a:cs typeface="Exo 2 Bold"/>
                  <a:sym typeface="Exo 2 Bold"/>
                </a:rPr>
                <a:t>›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589196" y="2659999"/>
            <a:ext cx="3109627" cy="1319974"/>
            <a:chOff x="0" y="0"/>
            <a:chExt cx="4146169" cy="175996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146169" cy="1759966"/>
            </a:xfrm>
            <a:custGeom>
              <a:avLst/>
              <a:gdLst/>
              <a:ahLst/>
              <a:cxnLst/>
              <a:rect r="r" b="b" t="t" l="l"/>
              <a:pathLst>
                <a:path h="1759966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1759966"/>
                  </a:lnTo>
                  <a:lnTo>
                    <a:pt x="0" y="1759966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7589196" y="2659999"/>
            <a:ext cx="3109627" cy="40005"/>
            <a:chOff x="0" y="0"/>
            <a:chExt cx="4146169" cy="533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146169" cy="53340"/>
            </a:xfrm>
            <a:custGeom>
              <a:avLst/>
              <a:gdLst/>
              <a:ahLst/>
              <a:cxnLst/>
              <a:rect r="r" b="b" t="t" l="l"/>
              <a:pathLst>
                <a:path h="53340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9A7B1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49200" y="2850004"/>
            <a:ext cx="2689603" cy="560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3"/>
              </a:lnSpc>
            </a:pPr>
            <a:r>
              <a:rPr lang="en-US" sz="351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15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849200" y="3400949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2"/>
              </a:lnSpc>
            </a:pPr>
            <a:r>
              <a:rPr lang="en-US" sz="14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Funded clients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7849200" y="3670954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24.6% of onboarded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0698804" y="3119999"/>
            <a:ext cx="260004" cy="400002"/>
            <a:chOff x="0" y="0"/>
            <a:chExt cx="346672" cy="53333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46710" cy="533273"/>
            </a:xfrm>
            <a:custGeom>
              <a:avLst/>
              <a:gdLst/>
              <a:ahLst/>
              <a:cxnLst/>
              <a:rect r="r" b="b" t="t" l="l"/>
              <a:pathLst>
                <a:path h="533273" w="346710">
                  <a:moveTo>
                    <a:pt x="0" y="0"/>
                  </a:moveTo>
                  <a:lnTo>
                    <a:pt x="346710" y="0"/>
                  </a:lnTo>
                  <a:lnTo>
                    <a:pt x="346710" y="533273"/>
                  </a:lnTo>
                  <a:lnTo>
                    <a:pt x="0" y="53327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47509" t="0" r="-147494" b="-11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0698804" y="3119999"/>
            <a:ext cx="260004" cy="400002"/>
            <a:chOff x="0" y="0"/>
            <a:chExt cx="346672" cy="53333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46672" cy="533336"/>
            </a:xfrm>
            <a:custGeom>
              <a:avLst/>
              <a:gdLst/>
              <a:ahLst/>
              <a:cxnLst/>
              <a:rect r="r" b="b" t="t" l="l"/>
              <a:pathLst>
                <a:path h="533336" w="346672">
                  <a:moveTo>
                    <a:pt x="0" y="0"/>
                  </a:moveTo>
                  <a:lnTo>
                    <a:pt x="346672" y="0"/>
                  </a:lnTo>
                  <a:lnTo>
                    <a:pt x="346672" y="533336"/>
                  </a:lnTo>
                  <a:lnTo>
                    <a:pt x="0" y="53333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47388" t="0" r="-147388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346672" cy="533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68"/>
                </a:lnSpc>
              </a:pPr>
              <a:r>
                <a:rPr lang="en-US" sz="2640" b="true">
                  <a:solidFill>
                    <a:srgbClr val="8A93A8"/>
                  </a:solidFill>
                  <a:latin typeface="Exo 2 Bold"/>
                  <a:ea typeface="Exo 2 Bold"/>
                  <a:cs typeface="Exo 2 Bold"/>
                  <a:sym typeface="Exo 2 Bold"/>
                </a:rPr>
                <a:t>›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958798" y="2659999"/>
            <a:ext cx="3109627" cy="1319974"/>
            <a:chOff x="0" y="0"/>
            <a:chExt cx="4146169" cy="175996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146169" cy="1759966"/>
            </a:xfrm>
            <a:custGeom>
              <a:avLst/>
              <a:gdLst/>
              <a:ahLst/>
              <a:cxnLst/>
              <a:rect r="r" b="b" t="t" l="l"/>
              <a:pathLst>
                <a:path h="1759966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1759966"/>
                  </a:lnTo>
                  <a:lnTo>
                    <a:pt x="0" y="1759966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0958798" y="2659999"/>
            <a:ext cx="3109627" cy="40005"/>
            <a:chOff x="0" y="0"/>
            <a:chExt cx="4146169" cy="533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146169" cy="53340"/>
            </a:xfrm>
            <a:custGeom>
              <a:avLst/>
              <a:gdLst/>
              <a:ahLst/>
              <a:cxnLst/>
              <a:rect r="r" b="b" t="t" l="l"/>
              <a:pathLst>
                <a:path h="53340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11218802" y="2850004"/>
            <a:ext cx="2689603" cy="560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3"/>
              </a:lnSpc>
            </a:pPr>
            <a:r>
              <a:rPr lang="en-US" sz="35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15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1218802" y="3400949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2"/>
              </a:lnSpc>
            </a:pPr>
            <a:r>
              <a:rPr lang="en-US" sz="14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Clients who traded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1218802" y="3670954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100% of funded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4068396" y="3119999"/>
            <a:ext cx="260004" cy="400002"/>
            <a:chOff x="0" y="0"/>
            <a:chExt cx="346672" cy="53333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46710" cy="533273"/>
            </a:xfrm>
            <a:custGeom>
              <a:avLst/>
              <a:gdLst/>
              <a:ahLst/>
              <a:cxnLst/>
              <a:rect r="r" b="b" t="t" l="l"/>
              <a:pathLst>
                <a:path h="533273" w="346710">
                  <a:moveTo>
                    <a:pt x="0" y="0"/>
                  </a:moveTo>
                  <a:lnTo>
                    <a:pt x="346710" y="0"/>
                  </a:lnTo>
                  <a:lnTo>
                    <a:pt x="346710" y="533273"/>
                  </a:lnTo>
                  <a:lnTo>
                    <a:pt x="0" y="533273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147509" t="0" r="-147494" b="-11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4068396" y="3119999"/>
            <a:ext cx="260004" cy="400002"/>
            <a:chOff x="0" y="0"/>
            <a:chExt cx="346672" cy="533336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46672" cy="533336"/>
            </a:xfrm>
            <a:custGeom>
              <a:avLst/>
              <a:gdLst/>
              <a:ahLst/>
              <a:cxnLst/>
              <a:rect r="r" b="b" t="t" l="l"/>
              <a:pathLst>
                <a:path h="533336" w="346672">
                  <a:moveTo>
                    <a:pt x="0" y="0"/>
                  </a:moveTo>
                  <a:lnTo>
                    <a:pt x="346672" y="0"/>
                  </a:lnTo>
                  <a:lnTo>
                    <a:pt x="346672" y="533336"/>
                  </a:lnTo>
                  <a:lnTo>
                    <a:pt x="0" y="53333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147388" t="0" r="-147388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0"/>
              <a:ext cx="346672" cy="5333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168"/>
                </a:lnSpc>
              </a:pPr>
              <a:r>
                <a:rPr lang="en-US" sz="2640" b="true">
                  <a:solidFill>
                    <a:srgbClr val="8A93A8"/>
                  </a:solidFill>
                  <a:latin typeface="Exo 2 Bold"/>
                  <a:ea typeface="Exo 2 Bold"/>
                  <a:cs typeface="Exo 2 Bold"/>
                  <a:sym typeface="Exo 2 Bold"/>
                </a:rPr>
                <a:t>›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4328400" y="2659999"/>
            <a:ext cx="3109627" cy="1319974"/>
            <a:chOff x="0" y="0"/>
            <a:chExt cx="4146169" cy="1759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146169" cy="1759966"/>
            </a:xfrm>
            <a:custGeom>
              <a:avLst/>
              <a:gdLst/>
              <a:ahLst/>
              <a:cxnLst/>
              <a:rect r="r" b="b" t="t" l="l"/>
              <a:pathLst>
                <a:path h="1759966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1759966"/>
                  </a:lnTo>
                  <a:lnTo>
                    <a:pt x="0" y="1759966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4328400" y="2659999"/>
            <a:ext cx="3109627" cy="40005"/>
            <a:chOff x="0" y="0"/>
            <a:chExt cx="4146169" cy="533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146169" cy="53340"/>
            </a:xfrm>
            <a:custGeom>
              <a:avLst/>
              <a:gdLst/>
              <a:ahLst/>
              <a:cxnLst/>
              <a:rect r="r" b="b" t="t" l="l"/>
              <a:pathLst>
                <a:path h="53340" w="4146169">
                  <a:moveTo>
                    <a:pt x="0" y="0"/>
                  </a:moveTo>
                  <a:lnTo>
                    <a:pt x="4146169" y="0"/>
                  </a:lnTo>
                  <a:lnTo>
                    <a:pt x="4146169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66" id="66"/>
          <p:cNvSpPr txBox="true"/>
          <p:nvPr/>
        </p:nvSpPr>
        <p:spPr>
          <a:xfrm rot="0">
            <a:off x="14588404" y="2850004"/>
            <a:ext cx="2689603" cy="560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3"/>
              </a:lnSpc>
            </a:pPr>
            <a:r>
              <a:rPr lang="en-US" sz="35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55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4588404" y="3400949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2"/>
              </a:lnSpc>
            </a:pPr>
            <a:r>
              <a:rPr lang="en-US" sz="141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Total trades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4588404" y="3670954"/>
            <a:ext cx="26896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849C"/>
                </a:solidFill>
                <a:latin typeface="Exo 2"/>
                <a:ea typeface="Exo 2"/>
                <a:cs typeface="Exo 2"/>
                <a:sym typeface="Exo 2"/>
              </a:rPr>
              <a:t>3.7 trades per trading client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850001" y="4360002"/>
            <a:ext cx="3952018" cy="4369975"/>
            <a:chOff x="0" y="0"/>
            <a:chExt cx="5269357" cy="5826633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5269357" cy="5826633"/>
            </a:xfrm>
            <a:custGeom>
              <a:avLst/>
              <a:gdLst/>
              <a:ahLst/>
              <a:cxnLst/>
              <a:rect r="r" b="b" t="t" l="l"/>
              <a:pathLst>
                <a:path h="5826633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826633"/>
                  </a:lnTo>
                  <a:lnTo>
                    <a:pt x="0" y="5826633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850001" y="4360002"/>
            <a:ext cx="3952018" cy="40005"/>
            <a:chOff x="0" y="0"/>
            <a:chExt cx="5269357" cy="533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269357" cy="53340"/>
            </a:xfrm>
            <a:custGeom>
              <a:avLst/>
              <a:gdLst/>
              <a:ahLst/>
              <a:cxnLst/>
              <a:rect r="r" b="b" t="t" l="l"/>
              <a:pathLst>
                <a:path h="53340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D4AF37"/>
            </a:solidFill>
          </p:spPr>
        </p:sp>
      </p:grpSp>
      <p:sp>
        <p:nvSpPr>
          <p:cNvPr name="TextBox 73" id="73"/>
          <p:cNvSpPr txBox="true"/>
          <p:nvPr/>
        </p:nvSpPr>
        <p:spPr>
          <a:xfrm rot="0">
            <a:off x="1110005" y="4510954"/>
            <a:ext cx="35320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199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MONEY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110005" y="4860950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$12,206.00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1110005" y="5240950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Total deposits (gross)</a:t>
            </a:r>
          </a:p>
        </p:txBody>
      </p:sp>
      <p:grpSp>
        <p:nvGrpSpPr>
          <p:cNvPr name="Group 76" id="76"/>
          <p:cNvGrpSpPr/>
          <p:nvPr/>
        </p:nvGrpSpPr>
        <p:grpSpPr>
          <a:xfrm rot="0">
            <a:off x="1110005" y="5772502"/>
            <a:ext cx="3431953" cy="8954"/>
            <a:chOff x="0" y="0"/>
            <a:chExt cx="4575937" cy="11938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1110005" y="5823452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$10,539.81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110005" y="6203452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Assets under management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1110005" y="6735004"/>
            <a:ext cx="3431953" cy="8954"/>
            <a:chOff x="0" y="0"/>
            <a:chExt cx="4575937" cy="11938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82" id="82"/>
          <p:cNvSpPr txBox="true"/>
          <p:nvPr/>
        </p:nvSpPr>
        <p:spPr>
          <a:xfrm rot="0">
            <a:off x="1110005" y="6785953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$200.10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10005" y="7165953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Average deposit per onboarded client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1110005" y="7697495"/>
            <a:ext cx="3431953" cy="8954"/>
            <a:chOff x="0" y="0"/>
            <a:chExt cx="4575937" cy="11938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86" id="86"/>
          <p:cNvSpPr txBox="true"/>
          <p:nvPr/>
        </p:nvSpPr>
        <p:spPr>
          <a:xfrm rot="0">
            <a:off x="1110005" y="7748454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9A7B1F"/>
                </a:solidFill>
                <a:latin typeface="Exo 2 Bold"/>
                <a:ea typeface="Exo 2 Bold"/>
                <a:cs typeface="Exo 2 Bold"/>
                <a:sym typeface="Exo 2 Bold"/>
              </a:rPr>
              <a:t>$813.73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1110005" y="8128454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Average deposit per funded client</a:t>
            </a:r>
          </a:p>
        </p:txBody>
      </p:sp>
      <p:grpSp>
        <p:nvGrpSpPr>
          <p:cNvPr name="Group 88" id="88"/>
          <p:cNvGrpSpPr/>
          <p:nvPr/>
        </p:nvGrpSpPr>
        <p:grpSpPr>
          <a:xfrm rot="0">
            <a:off x="5062004" y="4360002"/>
            <a:ext cx="3952018" cy="4369975"/>
            <a:chOff x="0" y="0"/>
            <a:chExt cx="5269357" cy="5826633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5269357" cy="5826633"/>
            </a:xfrm>
            <a:custGeom>
              <a:avLst/>
              <a:gdLst/>
              <a:ahLst/>
              <a:cxnLst/>
              <a:rect r="r" b="b" t="t" l="l"/>
              <a:pathLst>
                <a:path h="5826633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826633"/>
                  </a:lnTo>
                  <a:lnTo>
                    <a:pt x="0" y="5826633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5062004" y="4360002"/>
            <a:ext cx="3952018" cy="40005"/>
            <a:chOff x="0" y="0"/>
            <a:chExt cx="5269357" cy="5334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5269357" cy="53340"/>
            </a:xfrm>
            <a:custGeom>
              <a:avLst/>
              <a:gdLst/>
              <a:ahLst/>
              <a:cxnLst/>
              <a:rect r="r" b="b" t="t" l="l"/>
              <a:pathLst>
                <a:path h="53340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1BA97C"/>
            </a:solidFill>
          </p:spPr>
        </p:sp>
      </p:grpSp>
      <p:sp>
        <p:nvSpPr>
          <p:cNvPr name="TextBox 92" id="92"/>
          <p:cNvSpPr txBox="true"/>
          <p:nvPr/>
        </p:nvSpPr>
        <p:spPr>
          <a:xfrm rot="0">
            <a:off x="5321998" y="4510954"/>
            <a:ext cx="35320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199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KYC STATUS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5321998" y="4860950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61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321998" y="5240950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Completed and verified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5321998" y="5772502"/>
            <a:ext cx="3431953" cy="8954"/>
            <a:chOff x="0" y="0"/>
            <a:chExt cx="4575937" cy="1193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97" id="97"/>
          <p:cNvSpPr txBox="true"/>
          <p:nvPr/>
        </p:nvSpPr>
        <p:spPr>
          <a:xfrm rot="0">
            <a:off x="5321998" y="5823452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70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5321998" y="6203452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Started KYC, not completed</a:t>
            </a:r>
          </a:p>
        </p:txBody>
      </p:sp>
      <p:grpSp>
        <p:nvGrpSpPr>
          <p:cNvPr name="Group 99" id="99"/>
          <p:cNvGrpSpPr/>
          <p:nvPr/>
        </p:nvGrpSpPr>
        <p:grpSpPr>
          <a:xfrm rot="0">
            <a:off x="5321998" y="6735004"/>
            <a:ext cx="3431953" cy="8954"/>
            <a:chOff x="0" y="0"/>
            <a:chExt cx="4575937" cy="11938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01" id="101"/>
          <p:cNvSpPr txBox="true"/>
          <p:nvPr/>
        </p:nvSpPr>
        <p:spPr>
          <a:xfrm rot="0">
            <a:off x="5321998" y="6785953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10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5321998" y="7165953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Rejected, resubmission required</a:t>
            </a:r>
          </a:p>
        </p:txBody>
      </p:sp>
      <p:grpSp>
        <p:nvGrpSpPr>
          <p:cNvPr name="Group 103" id="103"/>
          <p:cNvGrpSpPr/>
          <p:nvPr/>
        </p:nvGrpSpPr>
        <p:grpSpPr>
          <a:xfrm rot="0">
            <a:off x="5321998" y="7697495"/>
            <a:ext cx="3431953" cy="8954"/>
            <a:chOff x="0" y="0"/>
            <a:chExt cx="4575937" cy="11938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05" id="105"/>
          <p:cNvSpPr txBox="true"/>
          <p:nvPr/>
        </p:nvSpPr>
        <p:spPr>
          <a:xfrm rot="0">
            <a:off x="5321998" y="7748454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BA97C"/>
                </a:solidFill>
                <a:latin typeface="Exo 2 Bold"/>
                <a:ea typeface="Exo 2 Bold"/>
                <a:cs typeface="Exo 2 Bold"/>
                <a:sym typeface="Exo 2 Bold"/>
              </a:rPr>
              <a:t>141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5321998" y="8128454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Total KYC applications</a:t>
            </a:r>
          </a:p>
        </p:txBody>
      </p:sp>
      <p:grpSp>
        <p:nvGrpSpPr>
          <p:cNvPr name="Group 107" id="107"/>
          <p:cNvGrpSpPr/>
          <p:nvPr/>
        </p:nvGrpSpPr>
        <p:grpSpPr>
          <a:xfrm rot="0">
            <a:off x="9273997" y="4360002"/>
            <a:ext cx="3952018" cy="4369975"/>
            <a:chOff x="0" y="0"/>
            <a:chExt cx="5269357" cy="5826633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5269357" cy="5826633"/>
            </a:xfrm>
            <a:custGeom>
              <a:avLst/>
              <a:gdLst/>
              <a:ahLst/>
              <a:cxnLst/>
              <a:rect r="r" b="b" t="t" l="l"/>
              <a:pathLst>
                <a:path h="5826633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826633"/>
                  </a:lnTo>
                  <a:lnTo>
                    <a:pt x="0" y="5826633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9273997" y="4360002"/>
            <a:ext cx="3952018" cy="40005"/>
            <a:chOff x="0" y="0"/>
            <a:chExt cx="5269357" cy="533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269357" cy="53340"/>
            </a:xfrm>
            <a:custGeom>
              <a:avLst/>
              <a:gdLst/>
              <a:ahLst/>
              <a:cxnLst/>
              <a:rect r="r" b="b" t="t" l="l"/>
              <a:pathLst>
                <a:path h="53340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3E61B5"/>
            </a:solidFill>
          </p:spPr>
        </p:sp>
      </p:grpSp>
      <p:sp>
        <p:nvSpPr>
          <p:cNvPr name="TextBox 111" id="111"/>
          <p:cNvSpPr txBox="true"/>
          <p:nvPr/>
        </p:nvSpPr>
        <p:spPr>
          <a:xfrm rot="0">
            <a:off x="9534001" y="4510954"/>
            <a:ext cx="35320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199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DOWNLOADS AND RATINGS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9534001" y="4860950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3E61B5"/>
                </a:solidFill>
                <a:latin typeface="Exo 2 Bold"/>
                <a:ea typeface="Exo 2 Bold"/>
                <a:cs typeface="Exo 2 Bold"/>
                <a:sym typeface="Exo 2 Bold"/>
              </a:rPr>
              <a:t>262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9534001" y="5240950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Android downloads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9534001" y="5772502"/>
            <a:ext cx="3431953" cy="8954"/>
            <a:chOff x="0" y="0"/>
            <a:chExt cx="4575937" cy="1193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16" id="116"/>
          <p:cNvSpPr txBox="true"/>
          <p:nvPr/>
        </p:nvSpPr>
        <p:spPr>
          <a:xfrm rot="0">
            <a:off x="9534001" y="5823452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3E61B5"/>
                </a:solidFill>
                <a:latin typeface="Exo 2 Bold"/>
                <a:ea typeface="Exo 2 Bold"/>
                <a:cs typeface="Exo 2 Bold"/>
                <a:sym typeface="Exo 2 Bold"/>
              </a:rPr>
              <a:t>228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9534001" y="6203452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iOS downloads</a:t>
            </a:r>
          </a:p>
        </p:txBody>
      </p:sp>
      <p:grpSp>
        <p:nvGrpSpPr>
          <p:cNvPr name="Group 118" id="118"/>
          <p:cNvGrpSpPr/>
          <p:nvPr/>
        </p:nvGrpSpPr>
        <p:grpSpPr>
          <a:xfrm rot="0">
            <a:off x="9534001" y="6735004"/>
            <a:ext cx="3431953" cy="8954"/>
            <a:chOff x="0" y="0"/>
            <a:chExt cx="4575937" cy="1193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20" id="120"/>
          <p:cNvSpPr txBox="true"/>
          <p:nvPr/>
        </p:nvSpPr>
        <p:spPr>
          <a:xfrm rot="0">
            <a:off x="9534001" y="6785953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3E61B5"/>
                </a:solidFill>
                <a:latin typeface="Exo 2 Bold"/>
                <a:ea typeface="Exo 2 Bold"/>
                <a:cs typeface="Exo 2 Bold"/>
                <a:sym typeface="Exo 2 Bold"/>
              </a:rPr>
              <a:t>5.0 ★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9534001" y="7165953"/>
            <a:ext cx="353200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Google Play rating</a:t>
            </a:r>
          </a:p>
        </p:txBody>
      </p:sp>
      <p:grpSp>
        <p:nvGrpSpPr>
          <p:cNvPr name="Group 122" id="122"/>
          <p:cNvGrpSpPr/>
          <p:nvPr/>
        </p:nvGrpSpPr>
        <p:grpSpPr>
          <a:xfrm rot="0">
            <a:off x="9534001" y="7697495"/>
            <a:ext cx="3431953" cy="8954"/>
            <a:chOff x="0" y="0"/>
            <a:chExt cx="4575937" cy="1193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24" id="124"/>
          <p:cNvSpPr txBox="true"/>
          <p:nvPr/>
        </p:nvSpPr>
        <p:spPr>
          <a:xfrm rot="0">
            <a:off x="9534001" y="7748454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3E61B5"/>
                </a:solidFill>
                <a:latin typeface="Exo 2 Bold"/>
                <a:ea typeface="Exo 2 Bold"/>
                <a:cs typeface="Exo 2 Bold"/>
                <a:sym typeface="Exo 2 Bold"/>
              </a:rPr>
              <a:t>5.0 ★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9534001" y="8128454"/>
            <a:ext cx="353200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App Store rating</a:t>
            </a:r>
          </a:p>
        </p:txBody>
      </p:sp>
      <p:grpSp>
        <p:nvGrpSpPr>
          <p:cNvPr name="Group 126" id="126"/>
          <p:cNvGrpSpPr/>
          <p:nvPr/>
        </p:nvGrpSpPr>
        <p:grpSpPr>
          <a:xfrm rot="0">
            <a:off x="13486000" y="4360002"/>
            <a:ext cx="3952018" cy="4369975"/>
            <a:chOff x="0" y="0"/>
            <a:chExt cx="5269357" cy="5826633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5269357" cy="5826633"/>
            </a:xfrm>
            <a:custGeom>
              <a:avLst/>
              <a:gdLst/>
              <a:ahLst/>
              <a:cxnLst/>
              <a:rect r="r" b="b" t="t" l="l"/>
              <a:pathLst>
                <a:path h="5826633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826633"/>
                  </a:lnTo>
                  <a:lnTo>
                    <a:pt x="0" y="5826633"/>
                  </a:lnTo>
                  <a:close/>
                </a:path>
              </a:pathLst>
            </a:custGeom>
            <a:solidFill>
              <a:srgbClr val="F4F6FB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3486000" y="4360002"/>
            <a:ext cx="3952018" cy="40005"/>
            <a:chOff x="0" y="0"/>
            <a:chExt cx="5269357" cy="53340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5269357" cy="53340"/>
            </a:xfrm>
            <a:custGeom>
              <a:avLst/>
              <a:gdLst/>
              <a:ahLst/>
              <a:cxnLst/>
              <a:rect r="r" b="b" t="t" l="l"/>
              <a:pathLst>
                <a:path h="53340" w="5269357">
                  <a:moveTo>
                    <a:pt x="0" y="0"/>
                  </a:moveTo>
                  <a:lnTo>
                    <a:pt x="5269357" y="0"/>
                  </a:lnTo>
                  <a:lnTo>
                    <a:pt x="5269357" y="5334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132257"/>
            </a:solidFill>
          </p:spPr>
        </p:sp>
      </p:grpSp>
      <p:sp>
        <p:nvSpPr>
          <p:cNvPr name="TextBox 130" id="130"/>
          <p:cNvSpPr txBox="true"/>
          <p:nvPr/>
        </p:nvSpPr>
        <p:spPr>
          <a:xfrm rot="0">
            <a:off x="13746004" y="4510954"/>
            <a:ext cx="3532003" cy="279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b="true" sz="1260" spc="199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CLIENT SUPPORT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13746004" y="4860950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27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3746004" y="5240950"/>
            <a:ext cx="3532003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Support tickets created</a:t>
            </a:r>
          </a:p>
        </p:txBody>
      </p:sp>
      <p:grpSp>
        <p:nvGrpSpPr>
          <p:cNvPr name="Group 133" id="133"/>
          <p:cNvGrpSpPr/>
          <p:nvPr/>
        </p:nvGrpSpPr>
        <p:grpSpPr>
          <a:xfrm rot="0">
            <a:off x="13746004" y="5772502"/>
            <a:ext cx="3431953" cy="8954"/>
            <a:chOff x="0" y="0"/>
            <a:chExt cx="4575937" cy="1193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35" id="135"/>
          <p:cNvSpPr txBox="true"/>
          <p:nvPr/>
        </p:nvSpPr>
        <p:spPr>
          <a:xfrm rot="0">
            <a:off x="13746004" y="5823452"/>
            <a:ext cx="3532003" cy="34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27</a:t>
            </a:r>
          </a:p>
        </p:txBody>
      </p:sp>
      <p:sp>
        <p:nvSpPr>
          <p:cNvPr name="TextBox 136" id="136"/>
          <p:cNvSpPr txBox="true"/>
          <p:nvPr/>
        </p:nvSpPr>
        <p:spPr>
          <a:xfrm rot="0">
            <a:off x="13746004" y="6203452"/>
            <a:ext cx="3532003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Tickets resolved (100%)</a:t>
            </a:r>
          </a:p>
        </p:txBody>
      </p:sp>
      <p:grpSp>
        <p:nvGrpSpPr>
          <p:cNvPr name="Group 137" id="137"/>
          <p:cNvGrpSpPr/>
          <p:nvPr/>
        </p:nvGrpSpPr>
        <p:grpSpPr>
          <a:xfrm rot="0">
            <a:off x="13746004" y="6735004"/>
            <a:ext cx="3431953" cy="8954"/>
            <a:chOff x="0" y="0"/>
            <a:chExt cx="4575937" cy="1193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39" id="139"/>
          <p:cNvSpPr txBox="true"/>
          <p:nvPr/>
        </p:nvSpPr>
        <p:spPr>
          <a:xfrm rot="0">
            <a:off x="13746004" y="6785953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21</a:t>
            </a:r>
          </a:p>
        </p:txBody>
      </p:sp>
      <p:sp>
        <p:nvSpPr>
          <p:cNvPr name="TextBox 140" id="140"/>
          <p:cNvSpPr txBox="true"/>
          <p:nvPr/>
        </p:nvSpPr>
        <p:spPr>
          <a:xfrm rot="0">
            <a:off x="13746004" y="7165953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AI client support queries</a:t>
            </a:r>
          </a:p>
        </p:txBody>
      </p:sp>
      <p:grpSp>
        <p:nvGrpSpPr>
          <p:cNvPr name="Group 141" id="141"/>
          <p:cNvGrpSpPr/>
          <p:nvPr/>
        </p:nvGrpSpPr>
        <p:grpSpPr>
          <a:xfrm rot="0">
            <a:off x="13746004" y="7697495"/>
            <a:ext cx="3431953" cy="8954"/>
            <a:chOff x="0" y="0"/>
            <a:chExt cx="4575937" cy="1193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4575937" cy="11938"/>
            </a:xfrm>
            <a:custGeom>
              <a:avLst/>
              <a:gdLst/>
              <a:ahLst/>
              <a:cxnLst/>
              <a:rect r="r" b="b" t="t" l="l"/>
              <a:pathLst>
                <a:path h="11938" w="4575937">
                  <a:moveTo>
                    <a:pt x="0" y="0"/>
                  </a:moveTo>
                  <a:lnTo>
                    <a:pt x="4575937" y="0"/>
                  </a:lnTo>
                  <a:lnTo>
                    <a:pt x="4575937" y="11938"/>
                  </a:lnTo>
                  <a:lnTo>
                    <a:pt x="0" y="11938"/>
                  </a:lnTo>
                  <a:close/>
                </a:path>
              </a:pathLst>
            </a:custGeom>
            <a:solidFill>
              <a:srgbClr val="E3E8F2"/>
            </a:solidFill>
          </p:spPr>
        </p:sp>
      </p:grpSp>
      <p:sp>
        <p:nvSpPr>
          <p:cNvPr name="TextBox 143" id="143"/>
          <p:cNvSpPr txBox="true"/>
          <p:nvPr/>
        </p:nvSpPr>
        <p:spPr>
          <a:xfrm rot="0">
            <a:off x="13746004" y="7748454"/>
            <a:ext cx="3532003" cy="39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8"/>
              </a:lnSpc>
            </a:pPr>
            <a:r>
              <a:rPr lang="en-US" sz="2199" b="true">
                <a:solidFill>
                  <a:srgbClr val="132257"/>
                </a:solidFill>
                <a:latin typeface="Exo 2 Bold"/>
                <a:ea typeface="Exo 2 Bold"/>
                <a:cs typeface="Exo 2 Bold"/>
                <a:sym typeface="Exo 2 Bold"/>
              </a:rPr>
              <a:t>6</a:t>
            </a:r>
          </a:p>
        </p:txBody>
      </p:sp>
      <p:sp>
        <p:nvSpPr>
          <p:cNvPr name="TextBox 144" id="144"/>
          <p:cNvSpPr txBox="true"/>
          <p:nvPr/>
        </p:nvSpPr>
        <p:spPr>
          <a:xfrm rot="0">
            <a:off x="13746004" y="8128454"/>
            <a:ext cx="3532003" cy="25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60">
                <a:solidFill>
                  <a:srgbClr val="545C72"/>
                </a:solidFill>
                <a:latin typeface="Exo 2"/>
                <a:ea typeface="Exo 2"/>
                <a:cs typeface="Exo 2"/>
                <a:sym typeface="Exo 2"/>
              </a:rPr>
              <a:t>Email queries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DAHVcVmHYw4</dc:identifier>
  <dcterms:modified xsi:type="dcterms:W3CDTF">2011-08-01T06:04:30Z</dcterms:modified>
  <cp:revision>1</cp:revision>
  <dc:title>eMYAA Board of Directors Update - 17.09.2026</dc:title>
</cp:coreProperties>
</file>