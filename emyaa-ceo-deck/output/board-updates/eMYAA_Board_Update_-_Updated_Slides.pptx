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6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5"/>
  </p:notesMasterIdLst>
  <p:sldIdLst>
    <p:sldId id="258" r:id="rId8"/>
  </p:sldIdLst>
  <p:sldSz cx="18288000" cy="10287000"/>
  <p:notesSz cx="6858000" cy="9144000"/>
  <p:embeddedFontLst>
    <p:embeddedFont>
      <p:font typeface="Exo 2" charset="1" panose="00000000000000000000"/>
      <p:regular r:id="rId20"/>
    </p:embeddedFont>
    <p:embeddedFont>
      <p:font typeface="Exo 2 Bold" charset="1" panose="00000000000000000000"/>
      <p:regular r:id="rId21"/>
    </p:embeddedFont>
    <p:embeddedFont>
      <p:font typeface="Calibri (MS) Bold" charset="1" panose="020F0702030404030204"/>
      <p:regular r:id="rId22"/>
    </p:embeddedFont>
    <p:embeddedFont>
      <p:font typeface="Exo 2 Bold Italics" charset="1" panose="00000000000000000000"/>
      <p:regular r:id="rId23"/>
    </p:embeddedFont>
    <p:embeddedFont>
      <p:font typeface="Exo 2 Italics" charset="1" panose="0000000000000000000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8" Type="http://schemas.openxmlformats.org/officeDocument/2006/relationships/slide" Target="slides/slide3.xml"/><Relationship Id="rId20" Type="http://schemas.openxmlformats.org/officeDocument/2006/relationships/font" Target="fonts/font20.fntdata"/><Relationship Id="rId21" Type="http://schemas.openxmlformats.org/officeDocument/2006/relationships/font" Target="fonts/font21.fntdata"/><Relationship Id="rId22" Type="http://schemas.openxmlformats.org/officeDocument/2006/relationships/font" Target="fonts/font22.fntdata"/><Relationship Id="rId23" Type="http://schemas.openxmlformats.org/officeDocument/2006/relationships/font" Target="fonts/font23.fntdata"/><Relationship Id="rId24" Type="http://schemas.openxmlformats.org/officeDocument/2006/relationships/font" Target="fonts/font24.fntdata"/><Relationship Id="rId25" Type="http://schemas.openxmlformats.org/officeDocument/2006/relationships/notesMaster" Target="notesMasters/notesMaster1.xml"/><Relationship Id="rId26" Type="http://schemas.openxmlformats.org/officeDocument/2006/relationships/theme" Target="theme/them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5.png"/><Relationship Id="rId4" Type="http://schemas.openxmlformats.org/officeDocument/2006/relationships/image" Target="../media/image6.svg"/><Relationship Id="rId5" Type="http://schemas.openxmlformats.org/officeDocument/2006/relationships/image" Target="../media/image9.jpeg"/></Relationships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949958"/>
            <a:chOff x="0" y="0"/>
            <a:chExt cx="24384000" cy="259994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599944"/>
            </a:xfrm>
            <a:custGeom>
              <a:avLst/>
              <a:gdLst/>
              <a:ahLst/>
              <a:cxnLst/>
              <a:rect r="r" b="b" t="t" l="l"/>
              <a:pathLst>
                <a:path h="2599944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599944"/>
                  </a:lnTo>
                  <a:lnTo>
                    <a:pt x="0" y="2599944"/>
                  </a:lnTo>
                  <a:close/>
                </a:path>
              </a:pathLst>
            </a:custGeom>
            <a:gradFill rotWithShape="true">
              <a:gsLst>
                <a:gs pos="0">
                  <a:srgbClr val="101B3B">
                    <a:alpha val="100000"/>
                  </a:srgbClr>
                </a:gs>
                <a:gs pos="100000">
                  <a:srgbClr val="22376F">
                    <a:alpha val="100000"/>
                  </a:srgbClr>
                </a:gs>
              </a:gsLst>
              <a:lin ang="0"/>
            </a:gra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949996"/>
            <a:ext cx="18288000" cy="36004"/>
            <a:chOff x="0" y="0"/>
            <a:chExt cx="24384000" cy="4800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48006"/>
            </a:xfrm>
            <a:custGeom>
              <a:avLst/>
              <a:gdLst/>
              <a:ahLst/>
              <a:cxnLst/>
              <a:rect r="r" b="b" t="t" l="l"/>
              <a:pathLst>
                <a:path h="4800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8006"/>
                  </a:lnTo>
                  <a:lnTo>
                    <a:pt x="0" y="48006"/>
                  </a:lnTo>
                  <a:close/>
                </a:path>
              </a:pathLst>
            </a:custGeom>
            <a:solidFill>
              <a:srgbClr val="D4AF37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850001" y="451428"/>
            <a:ext cx="13800001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2"/>
              </a:lnSpc>
            </a:pPr>
            <a:r>
              <a:rPr lang="en-US" b="true" sz="1260" spc="279">
                <a:solidFill>
                  <a:srgbClr val="D4AF37"/>
                </a:solidFill>
                <a:latin typeface="Exo 2 Bold"/>
                <a:ea typeface="Exo 2 Bold"/>
                <a:cs typeface="Exo 2 Bold"/>
                <a:sym typeface="Exo 2 Bold"/>
              </a:rPr>
              <a:t>PERFORMANCE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50001" y="760000"/>
            <a:ext cx="13800001" cy="561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8"/>
              </a:lnSpc>
            </a:pPr>
            <a:r>
              <a:rPr lang="en-US" b="true" sz="3740" spc="-40">
                <a:solidFill>
                  <a:srgbClr val="FFFFFF"/>
                </a:solidFill>
                <a:latin typeface="Exo 2 Bold"/>
                <a:ea typeface="Exo 2 Bold"/>
                <a:cs typeface="Exo 2 Bold"/>
                <a:sym typeface="Exo 2 Bold"/>
              </a:rPr>
              <a:t>Clients Are Ahead. Money Is Not.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50001" y="1480004"/>
            <a:ext cx="14599996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36"/>
              </a:lnSpc>
            </a:pPr>
            <a:r>
              <a:rPr lang="en-US" sz="1530">
                <a:solidFill>
                  <a:srgbClr val="C6CFE4"/>
                </a:solidFill>
                <a:latin typeface="Exo 2"/>
                <a:ea typeface="Exo 2"/>
                <a:cs typeface="Exo 2"/>
                <a:sym typeface="Exo 2"/>
              </a:rPr>
              <a:t>Four months live, as at 28 September 2026. Onboarding is running ahead of plan, and deposits are the gap this strategy closes.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5449998" y="690001"/>
            <a:ext cx="1989963" cy="573024"/>
            <a:chOff x="0" y="0"/>
            <a:chExt cx="2653284" cy="764032"/>
          </a:xfrm>
        </p:grpSpPr>
        <p:sp>
          <p:nvSpPr>
            <p:cNvPr name="Freeform 10" id="10" descr="image.png"/>
            <p:cNvSpPr/>
            <p:nvPr/>
          </p:nvSpPr>
          <p:spPr>
            <a:xfrm flipH="false" flipV="false" rot="0">
              <a:off x="0" y="0"/>
              <a:ext cx="2653284" cy="764032"/>
            </a:xfrm>
            <a:custGeom>
              <a:avLst/>
              <a:gdLst/>
              <a:ahLst/>
              <a:cxnLst/>
              <a:rect r="r" b="b" t="t" l="l"/>
              <a:pathLst>
                <a:path h="764032" w="2653284">
                  <a:moveTo>
                    <a:pt x="0" y="0"/>
                  </a:moveTo>
                  <a:lnTo>
                    <a:pt x="2653284" y="0"/>
                  </a:lnTo>
                  <a:lnTo>
                    <a:pt x="2653284" y="764032"/>
                  </a:lnTo>
                  <a:lnTo>
                    <a:pt x="0" y="7640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99" r="0" b="-299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850001" y="9771421"/>
            <a:ext cx="10000002" cy="328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6"/>
              </a:lnSpc>
            </a:pPr>
            <a:r>
              <a:rPr lang="en-US" sz="939">
                <a:solidFill>
                  <a:srgbClr val="8A93A8"/>
                </a:solidFill>
                <a:latin typeface="Exo 2"/>
                <a:ea typeface="Exo 2"/>
                <a:cs typeface="Exo 2"/>
                <a:sym typeface="Exo 2"/>
              </a:rPr>
              <a:t>eMYAA Trading Platform  |  Board of Directors Update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699999" y="9799996"/>
            <a:ext cx="700002" cy="299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212"/>
              </a:lnSpc>
            </a:pPr>
            <a:r>
              <a:rPr lang="en-US" sz="1010">
                <a:solidFill>
                  <a:srgbClr val="8A93A8"/>
                </a:solidFill>
                <a:latin typeface="Exo 2"/>
                <a:ea typeface="Exo 2"/>
                <a:cs typeface="Exo 2"/>
                <a:sym typeface="Exo 2"/>
              </a:rPr>
              <a:t>3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5711488" y="9398508"/>
            <a:ext cx="1547812" cy="550335"/>
          </a:xfrm>
          <a:custGeom>
            <a:avLst/>
            <a:gdLst/>
            <a:ahLst/>
            <a:cxnLst/>
            <a:rect r="r" b="b" t="t" l="l"/>
            <a:pathLst>
              <a:path h="550335" w="1547812">
                <a:moveTo>
                  <a:pt x="0" y="0"/>
                </a:moveTo>
                <a:lnTo>
                  <a:pt x="1547812" y="0"/>
                </a:lnTo>
                <a:lnTo>
                  <a:pt x="1547812" y="550335"/>
                </a:lnTo>
                <a:lnTo>
                  <a:pt x="0" y="55033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574" t="0" r="-574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842858" y="2288096"/>
            <a:ext cx="5351050" cy="1343787"/>
            <a:chOff x="0" y="0"/>
            <a:chExt cx="7134733" cy="179171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134733" cy="1791716"/>
            </a:xfrm>
            <a:custGeom>
              <a:avLst/>
              <a:gdLst/>
              <a:ahLst/>
              <a:cxnLst/>
              <a:rect r="r" b="b" t="t" l="l"/>
              <a:pathLst>
                <a:path h="1791716" w="7134733">
                  <a:moveTo>
                    <a:pt x="0" y="0"/>
                  </a:moveTo>
                  <a:lnTo>
                    <a:pt x="7134733" y="0"/>
                  </a:lnTo>
                  <a:lnTo>
                    <a:pt x="7134733" y="1791716"/>
                  </a:lnTo>
                  <a:lnTo>
                    <a:pt x="0" y="1791716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3E8F2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856374" y="2300002"/>
            <a:ext cx="5323999" cy="50006"/>
            <a:chOff x="0" y="0"/>
            <a:chExt cx="7098665" cy="6667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098665" cy="66675"/>
            </a:xfrm>
            <a:custGeom>
              <a:avLst/>
              <a:gdLst/>
              <a:ahLst/>
              <a:cxnLst/>
              <a:rect r="r" b="b" t="t" l="l"/>
              <a:pathLst>
                <a:path h="66675" w="7098665">
                  <a:moveTo>
                    <a:pt x="0" y="0"/>
                  </a:moveTo>
                  <a:lnTo>
                    <a:pt x="7098665" y="0"/>
                  </a:lnTo>
                  <a:lnTo>
                    <a:pt x="7098665" y="66675"/>
                  </a:lnTo>
                  <a:lnTo>
                    <a:pt x="0" y="66675"/>
                  </a:lnTo>
                  <a:close/>
                </a:path>
              </a:pathLst>
            </a:custGeom>
            <a:solidFill>
              <a:srgbClr val="1BA97C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257471" y="2454773"/>
            <a:ext cx="4521794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75"/>
              </a:lnSpc>
            </a:pPr>
            <a:r>
              <a:rPr lang="en-US" sz="3479" b="true">
                <a:solidFill>
                  <a:srgbClr val="1BA97C"/>
                </a:solidFill>
                <a:latin typeface="Exo 2 Bold"/>
                <a:ea typeface="Exo 2 Bold"/>
                <a:cs typeface="Exo 2 Bold"/>
                <a:sym typeface="Exo 2 Bold"/>
              </a:rPr>
              <a:t>61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57471" y="3031427"/>
            <a:ext cx="4521794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39"/>
              </a:lnSpc>
            </a:pPr>
            <a:r>
              <a:rPr lang="en-US" sz="1449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Clients onboarded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57471" y="3281429"/>
            <a:ext cx="4521794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7A849C"/>
                </a:solidFill>
                <a:latin typeface="Exo 2"/>
                <a:ea typeface="Exo 2"/>
                <a:cs typeface="Exo 2"/>
                <a:sym typeface="Exo 2"/>
              </a:rPr>
              <a:t>156% of the 39 target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6480743" y="2288096"/>
            <a:ext cx="5351050" cy="1343787"/>
            <a:chOff x="0" y="0"/>
            <a:chExt cx="7134733" cy="179171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134733" cy="1791716"/>
            </a:xfrm>
            <a:custGeom>
              <a:avLst/>
              <a:gdLst/>
              <a:ahLst/>
              <a:cxnLst/>
              <a:rect r="r" b="b" t="t" l="l"/>
              <a:pathLst>
                <a:path h="1791716" w="7134733">
                  <a:moveTo>
                    <a:pt x="0" y="0"/>
                  </a:moveTo>
                  <a:lnTo>
                    <a:pt x="7134733" y="0"/>
                  </a:lnTo>
                  <a:lnTo>
                    <a:pt x="7134733" y="1791716"/>
                  </a:lnTo>
                  <a:lnTo>
                    <a:pt x="0" y="1791716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3E8F2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6494259" y="2300002"/>
            <a:ext cx="5323999" cy="50006"/>
            <a:chOff x="0" y="0"/>
            <a:chExt cx="7098665" cy="6667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098665" cy="66675"/>
            </a:xfrm>
            <a:custGeom>
              <a:avLst/>
              <a:gdLst/>
              <a:ahLst/>
              <a:cxnLst/>
              <a:rect r="r" b="b" t="t" l="l"/>
              <a:pathLst>
                <a:path h="66675" w="7098665">
                  <a:moveTo>
                    <a:pt x="0" y="0"/>
                  </a:moveTo>
                  <a:lnTo>
                    <a:pt x="7098665" y="0"/>
                  </a:lnTo>
                  <a:lnTo>
                    <a:pt x="7098665" y="66675"/>
                  </a:lnTo>
                  <a:lnTo>
                    <a:pt x="0" y="66675"/>
                  </a:lnTo>
                  <a:close/>
                </a:path>
              </a:pathLst>
            </a:custGeom>
            <a:solidFill>
              <a:srgbClr val="9A7B1F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6895357" y="2454773"/>
            <a:ext cx="4521794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75"/>
              </a:lnSpc>
            </a:pPr>
            <a:r>
              <a:rPr lang="en-US" sz="3479" b="true">
                <a:solidFill>
                  <a:srgbClr val="9A7B1F"/>
                </a:solidFill>
                <a:latin typeface="Exo 2 Bold"/>
                <a:ea typeface="Exo 2 Bold"/>
                <a:cs typeface="Exo 2 Bold"/>
                <a:sym typeface="Exo 2 Bold"/>
              </a:rPr>
              <a:t>$12,206.00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895357" y="3031427"/>
            <a:ext cx="4521794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39"/>
              </a:lnSpc>
            </a:pPr>
            <a:r>
              <a:rPr lang="en-US" sz="1449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Total deposits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895357" y="3281429"/>
            <a:ext cx="4521794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7A849C"/>
                </a:solidFill>
                <a:latin typeface="Exo 2"/>
                <a:ea typeface="Exo 2"/>
                <a:cs typeface="Exo 2"/>
                <a:sym typeface="Exo 2"/>
              </a:rPr>
              <a:t>5.18% of the $235,660 target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12098874" y="2288096"/>
            <a:ext cx="5351050" cy="1343787"/>
            <a:chOff x="0" y="0"/>
            <a:chExt cx="7134733" cy="179171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134733" cy="1791716"/>
            </a:xfrm>
            <a:custGeom>
              <a:avLst/>
              <a:gdLst/>
              <a:ahLst/>
              <a:cxnLst/>
              <a:rect r="r" b="b" t="t" l="l"/>
              <a:pathLst>
                <a:path h="1791716" w="7134733">
                  <a:moveTo>
                    <a:pt x="0" y="0"/>
                  </a:moveTo>
                  <a:lnTo>
                    <a:pt x="7134733" y="0"/>
                  </a:lnTo>
                  <a:lnTo>
                    <a:pt x="7134733" y="1791716"/>
                  </a:lnTo>
                  <a:lnTo>
                    <a:pt x="0" y="1791716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3E8F2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12112390" y="2300002"/>
            <a:ext cx="5323999" cy="50006"/>
            <a:chOff x="0" y="0"/>
            <a:chExt cx="7098665" cy="66675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098665" cy="66675"/>
            </a:xfrm>
            <a:custGeom>
              <a:avLst/>
              <a:gdLst/>
              <a:ahLst/>
              <a:cxnLst/>
              <a:rect r="r" b="b" t="t" l="l"/>
              <a:pathLst>
                <a:path h="66675" w="7098665">
                  <a:moveTo>
                    <a:pt x="0" y="0"/>
                  </a:moveTo>
                  <a:lnTo>
                    <a:pt x="7098665" y="0"/>
                  </a:lnTo>
                  <a:lnTo>
                    <a:pt x="7098665" y="66675"/>
                  </a:lnTo>
                  <a:lnTo>
                    <a:pt x="0" y="66675"/>
                  </a:lnTo>
                  <a:close/>
                </a:path>
              </a:pathLst>
            </a:custGeom>
            <a:solidFill>
              <a:srgbClr val="132257"/>
            </a:solid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12513497" y="2454773"/>
            <a:ext cx="4521794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75"/>
              </a:lnSpc>
            </a:pPr>
            <a:r>
              <a:rPr lang="en-US" sz="3479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$200.10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2513497" y="3031427"/>
            <a:ext cx="4521794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39"/>
              </a:lnSpc>
            </a:pPr>
            <a:r>
              <a:rPr lang="en-US" sz="1449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Average deposit per client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2513497" y="3281429"/>
            <a:ext cx="4521794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7A849C"/>
                </a:solidFill>
                <a:latin typeface="Exo 2"/>
                <a:ea typeface="Exo 2"/>
                <a:cs typeface="Exo 2"/>
                <a:sym typeface="Exo 2"/>
              </a:rPr>
              <a:t>Across all 61 onboarded clients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838095" y="4388091"/>
            <a:ext cx="8207788" cy="4873847"/>
            <a:chOff x="0" y="0"/>
            <a:chExt cx="10943717" cy="6498463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943717" cy="6498463"/>
            </a:xfrm>
            <a:custGeom>
              <a:avLst/>
              <a:gdLst/>
              <a:ahLst/>
              <a:cxnLst/>
              <a:rect r="r" b="b" t="t" l="l"/>
              <a:pathLst>
                <a:path h="6498463" w="10943717">
                  <a:moveTo>
                    <a:pt x="0" y="0"/>
                  </a:moveTo>
                  <a:lnTo>
                    <a:pt x="10943717" y="0"/>
                  </a:lnTo>
                  <a:lnTo>
                    <a:pt x="10943717" y="6498463"/>
                  </a:lnTo>
                  <a:lnTo>
                    <a:pt x="0" y="6498463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3E8F2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850001" y="4399998"/>
            <a:ext cx="8183975" cy="50006"/>
            <a:chOff x="0" y="0"/>
            <a:chExt cx="10911967" cy="66675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0911967" cy="66675"/>
            </a:xfrm>
            <a:custGeom>
              <a:avLst/>
              <a:gdLst/>
              <a:ahLst/>
              <a:cxnLst/>
              <a:rect r="r" b="b" t="t" l="l"/>
              <a:pathLst>
                <a:path h="66675" w="10911967">
                  <a:moveTo>
                    <a:pt x="0" y="0"/>
                  </a:moveTo>
                  <a:lnTo>
                    <a:pt x="10911967" y="0"/>
                  </a:lnTo>
                  <a:lnTo>
                    <a:pt x="10911967" y="66675"/>
                  </a:lnTo>
                  <a:lnTo>
                    <a:pt x="0" y="66675"/>
                  </a:lnTo>
                  <a:close/>
                </a:path>
              </a:pathLst>
            </a:custGeom>
            <a:solidFill>
              <a:srgbClr val="132257"/>
            </a:solidFill>
          </p:spPr>
        </p:sp>
      </p:grpSp>
      <p:sp>
        <p:nvSpPr>
          <p:cNvPr name="TextBox 39" id="39"/>
          <p:cNvSpPr txBox="true"/>
          <p:nvPr/>
        </p:nvSpPr>
        <p:spPr>
          <a:xfrm rot="0">
            <a:off x="1150001" y="4580001"/>
            <a:ext cx="8183994" cy="299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84"/>
              </a:lnSpc>
            </a:pPr>
            <a:r>
              <a:rPr lang="en-US" b="true" sz="1320" spc="140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CUMULATIVE CLIENTS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9242098" y="4388091"/>
            <a:ext cx="8207788" cy="4873847"/>
            <a:chOff x="0" y="0"/>
            <a:chExt cx="10943717" cy="6498463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0943717" cy="6498463"/>
            </a:xfrm>
            <a:custGeom>
              <a:avLst/>
              <a:gdLst/>
              <a:ahLst/>
              <a:cxnLst/>
              <a:rect r="r" b="b" t="t" l="l"/>
              <a:pathLst>
                <a:path h="6498463" w="10943717">
                  <a:moveTo>
                    <a:pt x="0" y="0"/>
                  </a:moveTo>
                  <a:lnTo>
                    <a:pt x="10943717" y="0"/>
                  </a:lnTo>
                  <a:lnTo>
                    <a:pt x="10943717" y="6498463"/>
                  </a:lnTo>
                  <a:lnTo>
                    <a:pt x="0" y="6498463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3E8F2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9254004" y="4399998"/>
            <a:ext cx="8183975" cy="50006"/>
            <a:chOff x="0" y="0"/>
            <a:chExt cx="10911967" cy="66675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0911967" cy="66675"/>
            </a:xfrm>
            <a:custGeom>
              <a:avLst/>
              <a:gdLst/>
              <a:ahLst/>
              <a:cxnLst/>
              <a:rect r="r" b="b" t="t" l="l"/>
              <a:pathLst>
                <a:path h="66675" w="10911967">
                  <a:moveTo>
                    <a:pt x="0" y="0"/>
                  </a:moveTo>
                  <a:lnTo>
                    <a:pt x="10911967" y="0"/>
                  </a:lnTo>
                  <a:lnTo>
                    <a:pt x="10911967" y="66675"/>
                  </a:lnTo>
                  <a:lnTo>
                    <a:pt x="0" y="66675"/>
                  </a:lnTo>
                  <a:close/>
                </a:path>
              </a:pathLst>
            </a:custGeom>
            <a:solidFill>
              <a:srgbClr val="132257"/>
            </a:solidFill>
          </p:spPr>
        </p:sp>
      </p:grpSp>
      <p:sp>
        <p:nvSpPr>
          <p:cNvPr name="TextBox 44" id="44"/>
          <p:cNvSpPr txBox="true"/>
          <p:nvPr/>
        </p:nvSpPr>
        <p:spPr>
          <a:xfrm rot="0">
            <a:off x="9554004" y="4580001"/>
            <a:ext cx="8183994" cy="299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84"/>
              </a:lnSpc>
            </a:pPr>
            <a:r>
              <a:rPr lang="en-US" b="true" sz="1320" spc="140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CUMULATIVE DEPOSITS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1269997" y="8349996"/>
            <a:ext cx="7350004" cy="9001"/>
            <a:chOff x="0" y="0"/>
            <a:chExt cx="9800006" cy="12002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9799955" cy="11938"/>
            </a:xfrm>
            <a:custGeom>
              <a:avLst/>
              <a:gdLst/>
              <a:ahLst/>
              <a:cxnLst/>
              <a:rect r="r" b="b" t="t" l="l"/>
              <a:pathLst>
                <a:path h="11938" w="9799955">
                  <a:moveTo>
                    <a:pt x="0" y="0"/>
                  </a:moveTo>
                  <a:lnTo>
                    <a:pt x="9799955" y="0"/>
                  </a:lnTo>
                  <a:lnTo>
                    <a:pt x="9799955" y="11938"/>
                  </a:lnTo>
                  <a:lnTo>
                    <a:pt x="0" y="11938"/>
                  </a:lnTo>
                  <a:close/>
                </a:path>
              </a:pathLst>
            </a:custGeom>
            <a:solidFill>
              <a:srgbClr val="E3E8F2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269997" y="6924999"/>
            <a:ext cx="7350004" cy="9001"/>
            <a:chOff x="0" y="0"/>
            <a:chExt cx="9800006" cy="12002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9799955" cy="11938"/>
            </a:xfrm>
            <a:custGeom>
              <a:avLst/>
              <a:gdLst/>
              <a:ahLst/>
              <a:cxnLst/>
              <a:rect r="r" b="b" t="t" l="l"/>
              <a:pathLst>
                <a:path h="11938" w="9799955">
                  <a:moveTo>
                    <a:pt x="0" y="0"/>
                  </a:moveTo>
                  <a:lnTo>
                    <a:pt x="9799955" y="0"/>
                  </a:lnTo>
                  <a:lnTo>
                    <a:pt x="9799955" y="11938"/>
                  </a:lnTo>
                  <a:lnTo>
                    <a:pt x="0" y="11938"/>
                  </a:lnTo>
                  <a:close/>
                </a:path>
              </a:pathLst>
            </a:custGeom>
            <a:solidFill>
              <a:srgbClr val="E3E8F2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1269997" y="5500002"/>
            <a:ext cx="7350004" cy="9001"/>
            <a:chOff x="0" y="0"/>
            <a:chExt cx="9800006" cy="12002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9799955" cy="11938"/>
            </a:xfrm>
            <a:custGeom>
              <a:avLst/>
              <a:gdLst/>
              <a:ahLst/>
              <a:cxnLst/>
              <a:rect r="r" b="b" t="t" l="l"/>
              <a:pathLst>
                <a:path h="11938" w="9799955">
                  <a:moveTo>
                    <a:pt x="0" y="0"/>
                  </a:moveTo>
                  <a:lnTo>
                    <a:pt x="9799955" y="0"/>
                  </a:lnTo>
                  <a:lnTo>
                    <a:pt x="9799955" y="11938"/>
                  </a:lnTo>
                  <a:lnTo>
                    <a:pt x="0" y="11938"/>
                  </a:lnTo>
                  <a:close/>
                </a:path>
              </a:pathLst>
            </a:custGeom>
            <a:solidFill>
              <a:srgbClr val="E3E8F2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2005003" y="5867743"/>
            <a:ext cx="5880002" cy="2482263"/>
            <a:chOff x="0" y="0"/>
            <a:chExt cx="7840002" cy="3309684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7839964" cy="3309620"/>
            </a:xfrm>
            <a:custGeom>
              <a:avLst/>
              <a:gdLst/>
              <a:ahLst/>
              <a:cxnLst/>
              <a:rect r="r" b="b" t="t" l="l"/>
              <a:pathLst>
                <a:path h="3309620" w="7839964">
                  <a:moveTo>
                    <a:pt x="0" y="3309620"/>
                  </a:moveTo>
                  <a:lnTo>
                    <a:pt x="0" y="2635504"/>
                  </a:lnTo>
                  <a:lnTo>
                    <a:pt x="1959991" y="1838706"/>
                  </a:lnTo>
                  <a:lnTo>
                    <a:pt x="3919982" y="1287145"/>
                  </a:lnTo>
                  <a:lnTo>
                    <a:pt x="5879973" y="429006"/>
                  </a:lnTo>
                  <a:lnTo>
                    <a:pt x="7839964" y="0"/>
                  </a:lnTo>
                  <a:lnTo>
                    <a:pt x="7839964" y="3309620"/>
                  </a:lnTo>
                  <a:close/>
                </a:path>
              </a:pathLst>
            </a:custGeom>
            <a:solidFill>
              <a:srgbClr val="E3F4EC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1995478" y="6547733"/>
            <a:ext cx="5899052" cy="892435"/>
            <a:chOff x="0" y="0"/>
            <a:chExt cx="7865402" cy="1189914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7865364" cy="1189863"/>
            </a:xfrm>
            <a:custGeom>
              <a:avLst/>
              <a:gdLst/>
              <a:ahLst/>
              <a:cxnLst/>
              <a:rect r="r" b="b" t="t" l="l"/>
              <a:pathLst>
                <a:path h="1189863" w="7865364">
                  <a:moveTo>
                    <a:pt x="0" y="1189863"/>
                  </a:moveTo>
                  <a:lnTo>
                    <a:pt x="1966341" y="939419"/>
                  </a:lnTo>
                  <a:lnTo>
                    <a:pt x="3932682" y="688848"/>
                  </a:lnTo>
                  <a:lnTo>
                    <a:pt x="5899023" y="375793"/>
                  </a:lnTo>
                  <a:lnTo>
                    <a:pt x="7865364" y="0"/>
                  </a:lnTo>
                </a:path>
              </a:pathLst>
            </a:custGeom>
            <a:blipFill>
              <a:blip r:embed="rId5">
                <a:alphaModFix amt="0"/>
              </a:blip>
              <a:stretch>
                <a:fillRect l="0" t="-78800" r="0" b="-78804"/>
              </a:stretch>
            </a:blipFill>
            <a:ln w="19050" cap="sq">
              <a:solidFill>
                <a:srgbClr val="132257"/>
              </a:solidFill>
              <a:prstDash val="solid"/>
              <a:miter/>
            </a:ln>
          </p:spPr>
        </p:sp>
      </p:grpSp>
      <p:grpSp>
        <p:nvGrpSpPr>
          <p:cNvPr name="Group 55" id="55"/>
          <p:cNvGrpSpPr/>
          <p:nvPr/>
        </p:nvGrpSpPr>
        <p:grpSpPr>
          <a:xfrm rot="0">
            <a:off x="1934004" y="7359644"/>
            <a:ext cx="141999" cy="141999"/>
            <a:chOff x="0" y="0"/>
            <a:chExt cx="189332" cy="189332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89230" cy="189230"/>
            </a:xfrm>
            <a:custGeom>
              <a:avLst/>
              <a:gdLst/>
              <a:ahLst/>
              <a:cxnLst/>
              <a:rect r="r" b="b" t="t" l="l"/>
              <a:pathLst>
                <a:path h="189230" w="189230">
                  <a:moveTo>
                    <a:pt x="0" y="94615"/>
                  </a:moveTo>
                  <a:cubicBezTo>
                    <a:pt x="0" y="42418"/>
                    <a:pt x="42418" y="0"/>
                    <a:pt x="94615" y="0"/>
                  </a:cubicBezTo>
                  <a:cubicBezTo>
                    <a:pt x="146812" y="0"/>
                    <a:pt x="189230" y="42418"/>
                    <a:pt x="189230" y="94615"/>
                  </a:cubicBezTo>
                  <a:cubicBezTo>
                    <a:pt x="189230" y="146812"/>
                    <a:pt x="146812" y="189230"/>
                    <a:pt x="94615" y="189230"/>
                  </a:cubicBezTo>
                  <a:cubicBezTo>
                    <a:pt x="42418" y="189230"/>
                    <a:pt x="0" y="146939"/>
                    <a:pt x="0" y="94615"/>
                  </a:cubicBezTo>
                  <a:close/>
                </a:path>
              </a:pathLst>
            </a:custGeom>
            <a:solidFill>
              <a:srgbClr val="FFFFFF"/>
            </a:solidFill>
            <a:ln w="22000" cap="sq">
              <a:solidFill>
                <a:srgbClr val="132257"/>
              </a:solidFill>
              <a:prstDash val="solid"/>
              <a:miter/>
            </a:ln>
          </p:spPr>
        </p:sp>
      </p:grpSp>
      <p:grpSp>
        <p:nvGrpSpPr>
          <p:cNvPr name="Group 57" id="57"/>
          <p:cNvGrpSpPr/>
          <p:nvPr/>
        </p:nvGrpSpPr>
        <p:grpSpPr>
          <a:xfrm rot="0">
            <a:off x="3403997" y="7175773"/>
            <a:ext cx="141999" cy="141999"/>
            <a:chOff x="0" y="0"/>
            <a:chExt cx="189332" cy="189332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89230" cy="189230"/>
            </a:xfrm>
            <a:custGeom>
              <a:avLst/>
              <a:gdLst/>
              <a:ahLst/>
              <a:cxnLst/>
              <a:rect r="r" b="b" t="t" l="l"/>
              <a:pathLst>
                <a:path h="189230" w="189230">
                  <a:moveTo>
                    <a:pt x="0" y="94615"/>
                  </a:moveTo>
                  <a:cubicBezTo>
                    <a:pt x="0" y="42418"/>
                    <a:pt x="42418" y="0"/>
                    <a:pt x="94615" y="0"/>
                  </a:cubicBezTo>
                  <a:cubicBezTo>
                    <a:pt x="146812" y="0"/>
                    <a:pt x="189230" y="42418"/>
                    <a:pt x="189230" y="94615"/>
                  </a:cubicBezTo>
                  <a:cubicBezTo>
                    <a:pt x="189230" y="146812"/>
                    <a:pt x="146812" y="189230"/>
                    <a:pt x="94615" y="189230"/>
                  </a:cubicBezTo>
                  <a:cubicBezTo>
                    <a:pt x="42418" y="189230"/>
                    <a:pt x="0" y="146939"/>
                    <a:pt x="0" y="94615"/>
                  </a:cubicBezTo>
                  <a:close/>
                </a:path>
              </a:pathLst>
            </a:custGeom>
            <a:solidFill>
              <a:srgbClr val="FFFFFF"/>
            </a:solidFill>
            <a:ln w="22000" cap="sq">
              <a:solidFill>
                <a:srgbClr val="132257"/>
              </a:solidFill>
              <a:prstDash val="solid"/>
              <a:miter/>
            </a:ln>
          </p:spPr>
        </p:sp>
      </p:grpSp>
      <p:grpSp>
        <p:nvGrpSpPr>
          <p:cNvPr name="Group 59" id="59"/>
          <p:cNvGrpSpPr/>
          <p:nvPr/>
        </p:nvGrpSpPr>
        <p:grpSpPr>
          <a:xfrm rot="0">
            <a:off x="4874000" y="6991902"/>
            <a:ext cx="141999" cy="141999"/>
            <a:chOff x="0" y="0"/>
            <a:chExt cx="189332" cy="189332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89230" cy="189230"/>
            </a:xfrm>
            <a:custGeom>
              <a:avLst/>
              <a:gdLst/>
              <a:ahLst/>
              <a:cxnLst/>
              <a:rect r="r" b="b" t="t" l="l"/>
              <a:pathLst>
                <a:path h="189230" w="189230">
                  <a:moveTo>
                    <a:pt x="0" y="94615"/>
                  </a:moveTo>
                  <a:cubicBezTo>
                    <a:pt x="0" y="42418"/>
                    <a:pt x="42418" y="0"/>
                    <a:pt x="94615" y="0"/>
                  </a:cubicBezTo>
                  <a:cubicBezTo>
                    <a:pt x="146812" y="0"/>
                    <a:pt x="189230" y="42418"/>
                    <a:pt x="189230" y="94615"/>
                  </a:cubicBezTo>
                  <a:cubicBezTo>
                    <a:pt x="189230" y="146812"/>
                    <a:pt x="146812" y="189230"/>
                    <a:pt x="94615" y="189230"/>
                  </a:cubicBezTo>
                  <a:cubicBezTo>
                    <a:pt x="42418" y="189230"/>
                    <a:pt x="0" y="146939"/>
                    <a:pt x="0" y="94615"/>
                  </a:cubicBezTo>
                  <a:close/>
                </a:path>
              </a:pathLst>
            </a:custGeom>
            <a:solidFill>
              <a:srgbClr val="FFFFFF"/>
            </a:solidFill>
            <a:ln w="22000" cap="sq">
              <a:solidFill>
                <a:srgbClr val="132257"/>
              </a:solidFill>
              <a:prstDash val="solid"/>
              <a:miter/>
            </a:ln>
          </p:spPr>
        </p:sp>
      </p:grpSp>
      <p:grpSp>
        <p:nvGrpSpPr>
          <p:cNvPr name="Group 61" id="61"/>
          <p:cNvGrpSpPr/>
          <p:nvPr/>
        </p:nvGrpSpPr>
        <p:grpSpPr>
          <a:xfrm rot="0">
            <a:off x="6344002" y="6762064"/>
            <a:ext cx="141999" cy="141999"/>
            <a:chOff x="0" y="0"/>
            <a:chExt cx="189332" cy="189332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89230" cy="189230"/>
            </a:xfrm>
            <a:custGeom>
              <a:avLst/>
              <a:gdLst/>
              <a:ahLst/>
              <a:cxnLst/>
              <a:rect r="r" b="b" t="t" l="l"/>
              <a:pathLst>
                <a:path h="189230" w="189230">
                  <a:moveTo>
                    <a:pt x="0" y="94615"/>
                  </a:moveTo>
                  <a:cubicBezTo>
                    <a:pt x="0" y="42418"/>
                    <a:pt x="42418" y="0"/>
                    <a:pt x="94615" y="0"/>
                  </a:cubicBezTo>
                  <a:cubicBezTo>
                    <a:pt x="146812" y="0"/>
                    <a:pt x="189230" y="42418"/>
                    <a:pt x="189230" y="94615"/>
                  </a:cubicBezTo>
                  <a:cubicBezTo>
                    <a:pt x="189230" y="146812"/>
                    <a:pt x="146812" y="189230"/>
                    <a:pt x="94615" y="189230"/>
                  </a:cubicBezTo>
                  <a:cubicBezTo>
                    <a:pt x="42418" y="189230"/>
                    <a:pt x="0" y="146939"/>
                    <a:pt x="0" y="94615"/>
                  </a:cubicBezTo>
                  <a:close/>
                </a:path>
              </a:pathLst>
            </a:custGeom>
            <a:solidFill>
              <a:srgbClr val="FFFFFF"/>
            </a:solidFill>
            <a:ln w="22000" cap="sq">
              <a:solidFill>
                <a:srgbClr val="132257"/>
              </a:solidFill>
              <a:prstDash val="solid"/>
              <a:miter/>
            </a:ln>
          </p:spPr>
        </p:sp>
      </p:grpSp>
      <p:grpSp>
        <p:nvGrpSpPr>
          <p:cNvPr name="Group 63" id="63"/>
          <p:cNvGrpSpPr/>
          <p:nvPr/>
        </p:nvGrpSpPr>
        <p:grpSpPr>
          <a:xfrm rot="0">
            <a:off x="7813996" y="6486258"/>
            <a:ext cx="141999" cy="141999"/>
            <a:chOff x="0" y="0"/>
            <a:chExt cx="189332" cy="189332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89230" cy="189230"/>
            </a:xfrm>
            <a:custGeom>
              <a:avLst/>
              <a:gdLst/>
              <a:ahLst/>
              <a:cxnLst/>
              <a:rect r="r" b="b" t="t" l="l"/>
              <a:pathLst>
                <a:path h="189230" w="189230">
                  <a:moveTo>
                    <a:pt x="0" y="94615"/>
                  </a:moveTo>
                  <a:cubicBezTo>
                    <a:pt x="0" y="42418"/>
                    <a:pt x="42418" y="0"/>
                    <a:pt x="94615" y="0"/>
                  </a:cubicBezTo>
                  <a:cubicBezTo>
                    <a:pt x="146812" y="0"/>
                    <a:pt x="189230" y="42418"/>
                    <a:pt x="189230" y="94615"/>
                  </a:cubicBezTo>
                  <a:cubicBezTo>
                    <a:pt x="189230" y="146812"/>
                    <a:pt x="146812" y="189230"/>
                    <a:pt x="94615" y="189230"/>
                  </a:cubicBezTo>
                  <a:cubicBezTo>
                    <a:pt x="42418" y="189230"/>
                    <a:pt x="0" y="146939"/>
                    <a:pt x="0" y="94615"/>
                  </a:cubicBezTo>
                  <a:close/>
                </a:path>
              </a:pathLst>
            </a:custGeom>
            <a:solidFill>
              <a:srgbClr val="FFFFFF"/>
            </a:solidFill>
            <a:ln w="22000" cap="sq">
              <a:solidFill>
                <a:srgbClr val="132257"/>
              </a:solidFill>
              <a:prstDash val="solid"/>
              <a:miter/>
            </a:ln>
          </p:spPr>
        </p:sp>
      </p:grpSp>
      <p:sp>
        <p:nvSpPr>
          <p:cNvPr name="TextBox 65" id="65"/>
          <p:cNvSpPr txBox="true"/>
          <p:nvPr/>
        </p:nvSpPr>
        <p:spPr>
          <a:xfrm rot="0">
            <a:off x="6585004" y="6647259"/>
            <a:ext cx="1450000" cy="260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584"/>
              </a:lnSpc>
            </a:pPr>
            <a:r>
              <a:rPr lang="en-US" sz="1320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Target 39</a:t>
            </a:r>
          </a:p>
        </p:txBody>
      </p:sp>
      <p:grpSp>
        <p:nvGrpSpPr>
          <p:cNvPr name="Group 66" id="66"/>
          <p:cNvGrpSpPr/>
          <p:nvPr/>
        </p:nvGrpSpPr>
        <p:grpSpPr>
          <a:xfrm rot="0">
            <a:off x="5919997" y="4745003"/>
            <a:ext cx="299999" cy="28004"/>
            <a:chOff x="0" y="0"/>
            <a:chExt cx="399999" cy="37338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400050" cy="37338"/>
            </a:xfrm>
            <a:custGeom>
              <a:avLst/>
              <a:gdLst/>
              <a:ahLst/>
              <a:cxnLst/>
              <a:rect r="r" b="b" t="t" l="l"/>
              <a:pathLst>
                <a:path h="37338" w="400050">
                  <a:moveTo>
                    <a:pt x="0" y="0"/>
                  </a:moveTo>
                  <a:lnTo>
                    <a:pt x="400050" y="0"/>
                  </a:lnTo>
                  <a:lnTo>
                    <a:pt x="400050" y="37338"/>
                  </a:lnTo>
                  <a:lnTo>
                    <a:pt x="0" y="37338"/>
                  </a:lnTo>
                  <a:close/>
                </a:path>
              </a:pathLst>
            </a:custGeom>
            <a:solidFill>
              <a:srgbClr val="1BA97C"/>
            </a:solidFill>
          </p:spPr>
        </p:sp>
      </p:grpSp>
      <p:sp>
        <p:nvSpPr>
          <p:cNvPr name="TextBox 68" id="68"/>
          <p:cNvSpPr txBox="true"/>
          <p:nvPr/>
        </p:nvSpPr>
        <p:spPr>
          <a:xfrm rot="0">
            <a:off x="6280004" y="4630474"/>
            <a:ext cx="800005" cy="2695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2"/>
              </a:lnSpc>
            </a:pPr>
            <a:r>
              <a:rPr lang="en-US" sz="1260">
                <a:solidFill>
                  <a:srgbClr val="7A849C"/>
                </a:solidFill>
                <a:latin typeface="Exo 2"/>
                <a:ea typeface="Exo 2"/>
                <a:cs typeface="Exo 2"/>
                <a:sym typeface="Exo 2"/>
              </a:rPr>
              <a:t>Actual</a:t>
            </a:r>
          </a:p>
        </p:txBody>
      </p:sp>
      <p:grpSp>
        <p:nvGrpSpPr>
          <p:cNvPr name="Group 69" id="69"/>
          <p:cNvGrpSpPr/>
          <p:nvPr/>
        </p:nvGrpSpPr>
        <p:grpSpPr>
          <a:xfrm rot="0">
            <a:off x="7069998" y="4745003"/>
            <a:ext cx="299999" cy="19002"/>
            <a:chOff x="0" y="0"/>
            <a:chExt cx="399999" cy="25336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400050" cy="25273"/>
            </a:xfrm>
            <a:custGeom>
              <a:avLst/>
              <a:gdLst/>
              <a:ahLst/>
              <a:cxnLst/>
              <a:rect r="r" b="b" t="t" l="l"/>
              <a:pathLst>
                <a:path h="25273" w="400050">
                  <a:moveTo>
                    <a:pt x="0" y="0"/>
                  </a:moveTo>
                  <a:lnTo>
                    <a:pt x="400050" y="0"/>
                  </a:lnTo>
                  <a:lnTo>
                    <a:pt x="400050" y="25273"/>
                  </a:lnTo>
                  <a:lnTo>
                    <a:pt x="0" y="25273"/>
                  </a:lnTo>
                  <a:close/>
                </a:path>
              </a:pathLst>
            </a:custGeom>
            <a:solidFill>
              <a:srgbClr val="132257"/>
            </a:solidFill>
          </p:spPr>
        </p:sp>
      </p:grpSp>
      <p:sp>
        <p:nvSpPr>
          <p:cNvPr name="TextBox 71" id="71"/>
          <p:cNvSpPr txBox="true"/>
          <p:nvPr/>
        </p:nvSpPr>
        <p:spPr>
          <a:xfrm rot="0">
            <a:off x="7429995" y="4630474"/>
            <a:ext cx="800005" cy="2695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2"/>
              </a:lnSpc>
            </a:pPr>
            <a:r>
              <a:rPr lang="en-US" sz="1260">
                <a:solidFill>
                  <a:srgbClr val="7A849C"/>
                </a:solidFill>
                <a:latin typeface="Exo 2"/>
                <a:ea typeface="Exo 2"/>
                <a:cs typeface="Exo 2"/>
                <a:sym typeface="Exo 2"/>
              </a:rPr>
              <a:t>Target</a:t>
            </a:r>
          </a:p>
        </p:txBody>
      </p:sp>
      <p:grpSp>
        <p:nvGrpSpPr>
          <p:cNvPr name="Group 72" id="72"/>
          <p:cNvGrpSpPr/>
          <p:nvPr/>
        </p:nvGrpSpPr>
        <p:grpSpPr>
          <a:xfrm rot="0">
            <a:off x="1987534" y="5850284"/>
            <a:ext cx="5914930" cy="2011537"/>
            <a:chOff x="0" y="0"/>
            <a:chExt cx="7886573" cy="268205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7886573" cy="2682113"/>
            </a:xfrm>
            <a:custGeom>
              <a:avLst/>
              <a:gdLst/>
              <a:ahLst/>
              <a:cxnLst/>
              <a:rect r="r" b="b" t="t" l="l"/>
              <a:pathLst>
                <a:path h="2682113" w="7886573">
                  <a:moveTo>
                    <a:pt x="0" y="2682113"/>
                  </a:moveTo>
                  <a:lnTo>
                    <a:pt x="1971675" y="1871218"/>
                  </a:lnTo>
                  <a:lnTo>
                    <a:pt x="3943350" y="1309878"/>
                  </a:lnTo>
                  <a:lnTo>
                    <a:pt x="5914898" y="436626"/>
                  </a:lnTo>
                  <a:lnTo>
                    <a:pt x="7886573" y="0"/>
                  </a:lnTo>
                </a:path>
              </a:pathLst>
            </a:custGeom>
            <a:blipFill>
              <a:blip r:embed="rId5">
                <a:alphaModFix amt="0"/>
              </a:blip>
              <a:stretch>
                <a:fillRect l="0" t="-7295" r="0" b="-7293"/>
              </a:stretch>
            </a:blipFill>
            <a:ln w="34925" cap="sq">
              <a:solidFill>
                <a:srgbClr val="1BA97C"/>
              </a:solidFill>
              <a:prstDash val="solid"/>
              <a:miter/>
            </a:ln>
          </p:spPr>
        </p:sp>
      </p:grpSp>
      <p:grpSp>
        <p:nvGrpSpPr>
          <p:cNvPr name="Group 74" id="74"/>
          <p:cNvGrpSpPr/>
          <p:nvPr/>
        </p:nvGrpSpPr>
        <p:grpSpPr>
          <a:xfrm rot="0">
            <a:off x="1919002" y="7758351"/>
            <a:ext cx="172002" cy="172002"/>
            <a:chOff x="0" y="0"/>
            <a:chExt cx="229337" cy="229337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229362" cy="229362"/>
            </a:xfrm>
            <a:custGeom>
              <a:avLst/>
              <a:gdLst/>
              <a:ahLst/>
              <a:cxnLst/>
              <a:rect r="r" b="b" t="t" l="l"/>
              <a:pathLst>
                <a:path h="229362" w="229362">
                  <a:moveTo>
                    <a:pt x="0" y="114681"/>
                  </a:moveTo>
                  <a:cubicBezTo>
                    <a:pt x="0" y="51308"/>
                    <a:pt x="51308" y="0"/>
                    <a:pt x="114681" y="0"/>
                  </a:cubicBezTo>
                  <a:cubicBezTo>
                    <a:pt x="178054" y="0"/>
                    <a:pt x="229362" y="51308"/>
                    <a:pt x="229362" y="114681"/>
                  </a:cubicBezTo>
                  <a:cubicBezTo>
                    <a:pt x="229362" y="178054"/>
                    <a:pt x="178054" y="229362"/>
                    <a:pt x="114681" y="229362"/>
                  </a:cubicBezTo>
                  <a:cubicBezTo>
                    <a:pt x="51308" y="229362"/>
                    <a:pt x="0" y="178054"/>
                    <a:pt x="0" y="114681"/>
                  </a:cubicBezTo>
                  <a:close/>
                </a:path>
              </a:pathLst>
            </a:custGeom>
            <a:solidFill>
              <a:srgbClr val="1BA97C"/>
            </a:solidFill>
            <a:ln w="22000" cap="sq">
              <a:solidFill>
                <a:srgbClr val="1BA97C"/>
              </a:solidFill>
              <a:prstDash val="solid"/>
              <a:miter/>
            </a:ln>
          </p:spPr>
        </p:sp>
      </p:grpSp>
      <p:sp>
        <p:nvSpPr>
          <p:cNvPr name="TextBox 76" id="76"/>
          <p:cNvSpPr txBox="true"/>
          <p:nvPr/>
        </p:nvSpPr>
        <p:spPr>
          <a:xfrm rot="0">
            <a:off x="1305001" y="7954356"/>
            <a:ext cx="1400004" cy="299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36"/>
              </a:lnSpc>
            </a:pPr>
            <a:r>
              <a:rPr lang="en-US" sz="1530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11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1504998" y="8470478"/>
            <a:ext cx="1000001" cy="289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67"/>
              </a:lnSpc>
            </a:pPr>
            <a:r>
              <a:rPr lang="en-US" sz="1389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May</a:t>
            </a:r>
          </a:p>
        </p:txBody>
      </p:sp>
      <p:grpSp>
        <p:nvGrpSpPr>
          <p:cNvPr name="Group 78" id="78"/>
          <p:cNvGrpSpPr/>
          <p:nvPr/>
        </p:nvGrpSpPr>
        <p:grpSpPr>
          <a:xfrm rot="0">
            <a:off x="3389005" y="7160771"/>
            <a:ext cx="172002" cy="172002"/>
            <a:chOff x="0" y="0"/>
            <a:chExt cx="229337" cy="229337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229362" cy="229362"/>
            </a:xfrm>
            <a:custGeom>
              <a:avLst/>
              <a:gdLst/>
              <a:ahLst/>
              <a:cxnLst/>
              <a:rect r="r" b="b" t="t" l="l"/>
              <a:pathLst>
                <a:path h="229362" w="229362">
                  <a:moveTo>
                    <a:pt x="0" y="114681"/>
                  </a:moveTo>
                  <a:cubicBezTo>
                    <a:pt x="0" y="51308"/>
                    <a:pt x="51308" y="0"/>
                    <a:pt x="114681" y="0"/>
                  </a:cubicBezTo>
                  <a:cubicBezTo>
                    <a:pt x="178054" y="0"/>
                    <a:pt x="229362" y="51308"/>
                    <a:pt x="229362" y="114681"/>
                  </a:cubicBezTo>
                  <a:cubicBezTo>
                    <a:pt x="229362" y="178054"/>
                    <a:pt x="178054" y="229362"/>
                    <a:pt x="114681" y="229362"/>
                  </a:cubicBezTo>
                  <a:cubicBezTo>
                    <a:pt x="51308" y="229362"/>
                    <a:pt x="0" y="178054"/>
                    <a:pt x="0" y="114681"/>
                  </a:cubicBezTo>
                  <a:close/>
                </a:path>
              </a:pathLst>
            </a:custGeom>
            <a:solidFill>
              <a:srgbClr val="1BA97C"/>
            </a:solidFill>
            <a:ln w="22000" cap="sq">
              <a:solidFill>
                <a:srgbClr val="1BA97C"/>
              </a:solidFill>
              <a:prstDash val="solid"/>
              <a:miter/>
            </a:ln>
          </p:spPr>
        </p:sp>
      </p:grpSp>
      <p:sp>
        <p:nvSpPr>
          <p:cNvPr name="TextBox 80" id="80"/>
          <p:cNvSpPr txBox="true"/>
          <p:nvPr/>
        </p:nvSpPr>
        <p:spPr>
          <a:xfrm rot="0">
            <a:off x="2775004" y="6886775"/>
            <a:ext cx="1400004" cy="299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36"/>
              </a:lnSpc>
            </a:pPr>
            <a:r>
              <a:rPr lang="en-US" sz="1530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24</a:t>
            </a:r>
          </a:p>
        </p:txBody>
      </p:sp>
      <p:grpSp>
        <p:nvGrpSpPr>
          <p:cNvPr name="Group 81" id="81"/>
          <p:cNvGrpSpPr/>
          <p:nvPr/>
        </p:nvGrpSpPr>
        <p:grpSpPr>
          <a:xfrm rot="0">
            <a:off x="3094996" y="6566773"/>
            <a:ext cx="760000" cy="250003"/>
            <a:chOff x="0" y="0"/>
            <a:chExt cx="1013333" cy="333337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1013333" cy="333375"/>
            </a:xfrm>
            <a:custGeom>
              <a:avLst/>
              <a:gdLst/>
              <a:ahLst/>
              <a:cxnLst/>
              <a:rect r="r" b="b" t="t" l="l"/>
              <a:pathLst>
                <a:path h="333375" w="1013333">
                  <a:moveTo>
                    <a:pt x="0" y="166624"/>
                  </a:moveTo>
                  <a:cubicBezTo>
                    <a:pt x="0" y="74676"/>
                    <a:pt x="74676" y="0"/>
                    <a:pt x="166624" y="0"/>
                  </a:cubicBezTo>
                  <a:lnTo>
                    <a:pt x="846709" y="0"/>
                  </a:lnTo>
                  <a:cubicBezTo>
                    <a:pt x="938784" y="0"/>
                    <a:pt x="1013333" y="74676"/>
                    <a:pt x="1013333" y="166624"/>
                  </a:cubicBezTo>
                  <a:cubicBezTo>
                    <a:pt x="1013333" y="258572"/>
                    <a:pt x="938657" y="333375"/>
                    <a:pt x="846709" y="333375"/>
                  </a:cubicBezTo>
                  <a:lnTo>
                    <a:pt x="166624" y="333375"/>
                  </a:lnTo>
                  <a:cubicBezTo>
                    <a:pt x="74676" y="333375"/>
                    <a:pt x="0" y="258699"/>
                    <a:pt x="0" y="166624"/>
                  </a:cubicBezTo>
                  <a:close/>
                </a:path>
              </a:pathLst>
            </a:custGeom>
            <a:solidFill>
              <a:srgbClr val="E3F4EC"/>
            </a:solid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19050"/>
              <a:ext cx="1013333" cy="3523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39"/>
                </a:lnSpc>
              </a:pPr>
              <a:r>
                <a:rPr lang="en-US" sz="1200" b="true">
                  <a:solidFill>
                    <a:srgbClr val="1BA97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▲ 118%</a:t>
              </a:r>
            </a:p>
          </p:txBody>
        </p:sp>
      </p:grpSp>
      <p:sp>
        <p:nvSpPr>
          <p:cNvPr name="TextBox 84" id="84"/>
          <p:cNvSpPr txBox="true"/>
          <p:nvPr/>
        </p:nvSpPr>
        <p:spPr>
          <a:xfrm rot="0">
            <a:off x="2975000" y="8470478"/>
            <a:ext cx="1000001" cy="289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67"/>
              </a:lnSpc>
            </a:pPr>
            <a:r>
              <a:rPr lang="en-US" sz="1389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Jun</a:t>
            </a:r>
          </a:p>
        </p:txBody>
      </p:sp>
      <p:grpSp>
        <p:nvGrpSpPr>
          <p:cNvPr name="Group 85" id="85"/>
          <p:cNvGrpSpPr/>
          <p:nvPr/>
        </p:nvGrpSpPr>
        <p:grpSpPr>
          <a:xfrm rot="0">
            <a:off x="4858998" y="6747062"/>
            <a:ext cx="172002" cy="172002"/>
            <a:chOff x="0" y="0"/>
            <a:chExt cx="229337" cy="229337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229362" cy="229362"/>
            </a:xfrm>
            <a:custGeom>
              <a:avLst/>
              <a:gdLst/>
              <a:ahLst/>
              <a:cxnLst/>
              <a:rect r="r" b="b" t="t" l="l"/>
              <a:pathLst>
                <a:path h="229362" w="229362">
                  <a:moveTo>
                    <a:pt x="0" y="114681"/>
                  </a:moveTo>
                  <a:cubicBezTo>
                    <a:pt x="0" y="51308"/>
                    <a:pt x="51308" y="0"/>
                    <a:pt x="114681" y="0"/>
                  </a:cubicBezTo>
                  <a:cubicBezTo>
                    <a:pt x="178054" y="0"/>
                    <a:pt x="229362" y="51308"/>
                    <a:pt x="229362" y="114681"/>
                  </a:cubicBezTo>
                  <a:cubicBezTo>
                    <a:pt x="229362" y="178054"/>
                    <a:pt x="178054" y="229362"/>
                    <a:pt x="114681" y="229362"/>
                  </a:cubicBezTo>
                  <a:cubicBezTo>
                    <a:pt x="51308" y="229362"/>
                    <a:pt x="0" y="178054"/>
                    <a:pt x="0" y="114681"/>
                  </a:cubicBezTo>
                  <a:close/>
                </a:path>
              </a:pathLst>
            </a:custGeom>
            <a:solidFill>
              <a:srgbClr val="1BA97C"/>
            </a:solidFill>
            <a:ln w="22000" cap="sq">
              <a:solidFill>
                <a:srgbClr val="1BA97C"/>
              </a:solidFill>
              <a:prstDash val="solid"/>
              <a:miter/>
            </a:ln>
          </p:spPr>
        </p:sp>
      </p:grpSp>
      <p:sp>
        <p:nvSpPr>
          <p:cNvPr name="TextBox 87" id="87"/>
          <p:cNvSpPr txBox="true"/>
          <p:nvPr/>
        </p:nvSpPr>
        <p:spPr>
          <a:xfrm rot="0">
            <a:off x="4244997" y="6473066"/>
            <a:ext cx="1400004" cy="299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36"/>
              </a:lnSpc>
            </a:pPr>
            <a:r>
              <a:rPr lang="en-US" sz="1530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33</a:t>
            </a:r>
          </a:p>
        </p:txBody>
      </p:sp>
      <p:grpSp>
        <p:nvGrpSpPr>
          <p:cNvPr name="Group 88" id="88"/>
          <p:cNvGrpSpPr/>
          <p:nvPr/>
        </p:nvGrpSpPr>
        <p:grpSpPr>
          <a:xfrm rot="0">
            <a:off x="4564999" y="6153064"/>
            <a:ext cx="760000" cy="250003"/>
            <a:chOff x="0" y="0"/>
            <a:chExt cx="1013333" cy="333337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1013333" cy="333375"/>
            </a:xfrm>
            <a:custGeom>
              <a:avLst/>
              <a:gdLst/>
              <a:ahLst/>
              <a:cxnLst/>
              <a:rect r="r" b="b" t="t" l="l"/>
              <a:pathLst>
                <a:path h="333375" w="1013333">
                  <a:moveTo>
                    <a:pt x="0" y="166624"/>
                  </a:moveTo>
                  <a:cubicBezTo>
                    <a:pt x="0" y="74676"/>
                    <a:pt x="74676" y="0"/>
                    <a:pt x="166624" y="0"/>
                  </a:cubicBezTo>
                  <a:lnTo>
                    <a:pt x="846709" y="0"/>
                  </a:lnTo>
                  <a:cubicBezTo>
                    <a:pt x="938784" y="0"/>
                    <a:pt x="1013333" y="74676"/>
                    <a:pt x="1013333" y="166624"/>
                  </a:cubicBezTo>
                  <a:cubicBezTo>
                    <a:pt x="1013333" y="258572"/>
                    <a:pt x="938657" y="333375"/>
                    <a:pt x="846709" y="333375"/>
                  </a:cubicBezTo>
                  <a:lnTo>
                    <a:pt x="166624" y="333375"/>
                  </a:lnTo>
                  <a:cubicBezTo>
                    <a:pt x="74676" y="333375"/>
                    <a:pt x="0" y="258699"/>
                    <a:pt x="0" y="166624"/>
                  </a:cubicBezTo>
                  <a:close/>
                </a:path>
              </a:pathLst>
            </a:custGeom>
            <a:solidFill>
              <a:srgbClr val="E3F4EC"/>
            </a:solidFill>
          </p:spPr>
        </p:sp>
        <p:sp>
          <p:nvSpPr>
            <p:cNvPr name="TextBox 90" id="90"/>
            <p:cNvSpPr txBox="true"/>
            <p:nvPr/>
          </p:nvSpPr>
          <p:spPr>
            <a:xfrm>
              <a:off x="0" y="-19050"/>
              <a:ext cx="1013333" cy="3523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39"/>
                </a:lnSpc>
              </a:pPr>
              <a:r>
                <a:rPr lang="en-US" sz="1200" b="true">
                  <a:solidFill>
                    <a:srgbClr val="1BA97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▲ 38%</a:t>
              </a:r>
            </a:p>
          </p:txBody>
        </p:sp>
      </p:grpSp>
      <p:sp>
        <p:nvSpPr>
          <p:cNvPr name="TextBox 91" id="91"/>
          <p:cNvSpPr txBox="true"/>
          <p:nvPr/>
        </p:nvSpPr>
        <p:spPr>
          <a:xfrm rot="0">
            <a:off x="4445003" y="8470478"/>
            <a:ext cx="1000001" cy="289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67"/>
              </a:lnSpc>
            </a:pPr>
            <a:r>
              <a:rPr lang="en-US" sz="1389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Jul</a:t>
            </a:r>
          </a:p>
        </p:txBody>
      </p:sp>
      <p:grpSp>
        <p:nvGrpSpPr>
          <p:cNvPr name="Group 92" id="92"/>
          <p:cNvGrpSpPr/>
          <p:nvPr/>
        </p:nvGrpSpPr>
        <p:grpSpPr>
          <a:xfrm rot="0">
            <a:off x="6329001" y="6103515"/>
            <a:ext cx="172002" cy="172002"/>
            <a:chOff x="0" y="0"/>
            <a:chExt cx="229337" cy="229337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229362" cy="229362"/>
            </a:xfrm>
            <a:custGeom>
              <a:avLst/>
              <a:gdLst/>
              <a:ahLst/>
              <a:cxnLst/>
              <a:rect r="r" b="b" t="t" l="l"/>
              <a:pathLst>
                <a:path h="229362" w="229362">
                  <a:moveTo>
                    <a:pt x="0" y="114681"/>
                  </a:moveTo>
                  <a:cubicBezTo>
                    <a:pt x="0" y="51308"/>
                    <a:pt x="51308" y="0"/>
                    <a:pt x="114681" y="0"/>
                  </a:cubicBezTo>
                  <a:cubicBezTo>
                    <a:pt x="178054" y="0"/>
                    <a:pt x="229362" y="51308"/>
                    <a:pt x="229362" y="114681"/>
                  </a:cubicBezTo>
                  <a:cubicBezTo>
                    <a:pt x="229362" y="178054"/>
                    <a:pt x="178054" y="229362"/>
                    <a:pt x="114681" y="229362"/>
                  </a:cubicBezTo>
                  <a:cubicBezTo>
                    <a:pt x="51308" y="229362"/>
                    <a:pt x="0" y="178054"/>
                    <a:pt x="0" y="114681"/>
                  </a:cubicBezTo>
                  <a:close/>
                </a:path>
              </a:pathLst>
            </a:custGeom>
            <a:solidFill>
              <a:srgbClr val="1BA97C"/>
            </a:solidFill>
            <a:ln w="22000" cap="sq">
              <a:solidFill>
                <a:srgbClr val="1BA97C"/>
              </a:solidFill>
              <a:prstDash val="solid"/>
              <a:miter/>
            </a:ln>
          </p:spPr>
        </p:sp>
      </p:grpSp>
      <p:sp>
        <p:nvSpPr>
          <p:cNvPr name="TextBox 94" id="94"/>
          <p:cNvSpPr txBox="true"/>
          <p:nvPr/>
        </p:nvSpPr>
        <p:spPr>
          <a:xfrm rot="0">
            <a:off x="5715000" y="5829519"/>
            <a:ext cx="1400004" cy="299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36"/>
              </a:lnSpc>
            </a:pPr>
            <a:r>
              <a:rPr lang="en-US" sz="1530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47</a:t>
            </a:r>
          </a:p>
        </p:txBody>
      </p:sp>
      <p:grpSp>
        <p:nvGrpSpPr>
          <p:cNvPr name="Group 95" id="95"/>
          <p:cNvGrpSpPr/>
          <p:nvPr/>
        </p:nvGrpSpPr>
        <p:grpSpPr>
          <a:xfrm rot="0">
            <a:off x="6035002" y="5509517"/>
            <a:ext cx="760000" cy="250003"/>
            <a:chOff x="0" y="0"/>
            <a:chExt cx="1013333" cy="333337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1013333" cy="333375"/>
            </a:xfrm>
            <a:custGeom>
              <a:avLst/>
              <a:gdLst/>
              <a:ahLst/>
              <a:cxnLst/>
              <a:rect r="r" b="b" t="t" l="l"/>
              <a:pathLst>
                <a:path h="333375" w="1013333">
                  <a:moveTo>
                    <a:pt x="0" y="166624"/>
                  </a:moveTo>
                  <a:cubicBezTo>
                    <a:pt x="0" y="74676"/>
                    <a:pt x="74676" y="0"/>
                    <a:pt x="166624" y="0"/>
                  </a:cubicBezTo>
                  <a:lnTo>
                    <a:pt x="846709" y="0"/>
                  </a:lnTo>
                  <a:cubicBezTo>
                    <a:pt x="938784" y="0"/>
                    <a:pt x="1013333" y="74676"/>
                    <a:pt x="1013333" y="166624"/>
                  </a:cubicBezTo>
                  <a:cubicBezTo>
                    <a:pt x="1013333" y="258572"/>
                    <a:pt x="938657" y="333375"/>
                    <a:pt x="846709" y="333375"/>
                  </a:cubicBezTo>
                  <a:lnTo>
                    <a:pt x="166624" y="333375"/>
                  </a:lnTo>
                  <a:cubicBezTo>
                    <a:pt x="74676" y="333375"/>
                    <a:pt x="0" y="258699"/>
                    <a:pt x="0" y="166624"/>
                  </a:cubicBezTo>
                  <a:close/>
                </a:path>
              </a:pathLst>
            </a:custGeom>
            <a:solidFill>
              <a:srgbClr val="E3F4EC"/>
            </a:solid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19050"/>
              <a:ext cx="1013333" cy="3523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39"/>
                </a:lnSpc>
              </a:pPr>
              <a:r>
                <a:rPr lang="en-US" sz="1200" b="true">
                  <a:solidFill>
                    <a:srgbClr val="1BA97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▲ 42%</a:t>
              </a:r>
            </a:p>
          </p:txBody>
        </p:sp>
      </p:grpSp>
      <p:sp>
        <p:nvSpPr>
          <p:cNvPr name="TextBox 98" id="98"/>
          <p:cNvSpPr txBox="true"/>
          <p:nvPr/>
        </p:nvSpPr>
        <p:spPr>
          <a:xfrm rot="0">
            <a:off x="5914996" y="8470478"/>
            <a:ext cx="1000001" cy="289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67"/>
              </a:lnSpc>
            </a:pPr>
            <a:r>
              <a:rPr lang="en-US" sz="1389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Aug</a:t>
            </a:r>
          </a:p>
        </p:txBody>
      </p:sp>
      <p:grpSp>
        <p:nvGrpSpPr>
          <p:cNvPr name="Group 99" id="99"/>
          <p:cNvGrpSpPr/>
          <p:nvPr/>
        </p:nvGrpSpPr>
        <p:grpSpPr>
          <a:xfrm rot="0">
            <a:off x="7799003" y="5781742"/>
            <a:ext cx="172002" cy="172002"/>
            <a:chOff x="0" y="0"/>
            <a:chExt cx="229337" cy="229337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229362" cy="229362"/>
            </a:xfrm>
            <a:custGeom>
              <a:avLst/>
              <a:gdLst/>
              <a:ahLst/>
              <a:cxnLst/>
              <a:rect r="r" b="b" t="t" l="l"/>
              <a:pathLst>
                <a:path h="229362" w="229362">
                  <a:moveTo>
                    <a:pt x="0" y="114681"/>
                  </a:moveTo>
                  <a:cubicBezTo>
                    <a:pt x="0" y="51308"/>
                    <a:pt x="51308" y="0"/>
                    <a:pt x="114681" y="0"/>
                  </a:cubicBezTo>
                  <a:cubicBezTo>
                    <a:pt x="178054" y="0"/>
                    <a:pt x="229362" y="51308"/>
                    <a:pt x="229362" y="114681"/>
                  </a:cubicBezTo>
                  <a:cubicBezTo>
                    <a:pt x="229362" y="178054"/>
                    <a:pt x="178054" y="229362"/>
                    <a:pt x="114681" y="229362"/>
                  </a:cubicBezTo>
                  <a:cubicBezTo>
                    <a:pt x="51308" y="229362"/>
                    <a:pt x="0" y="178054"/>
                    <a:pt x="0" y="114681"/>
                  </a:cubicBezTo>
                  <a:close/>
                </a:path>
              </a:pathLst>
            </a:custGeom>
            <a:solidFill>
              <a:srgbClr val="1BA97C"/>
            </a:solidFill>
            <a:ln w="22000" cap="sq">
              <a:solidFill>
                <a:srgbClr val="1BA97C"/>
              </a:solidFill>
              <a:prstDash val="solid"/>
              <a:miter/>
            </a:ln>
          </p:spPr>
        </p:sp>
      </p:grpSp>
      <p:sp>
        <p:nvSpPr>
          <p:cNvPr name="TextBox 101" id="101"/>
          <p:cNvSpPr txBox="true"/>
          <p:nvPr/>
        </p:nvSpPr>
        <p:spPr>
          <a:xfrm rot="0">
            <a:off x="7185003" y="5507746"/>
            <a:ext cx="1400004" cy="299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36"/>
              </a:lnSpc>
            </a:pPr>
            <a:r>
              <a:rPr lang="en-US" sz="1530" b="true">
                <a:solidFill>
                  <a:srgbClr val="1BA97C"/>
                </a:solidFill>
                <a:latin typeface="Exo 2 Bold"/>
                <a:ea typeface="Exo 2 Bold"/>
                <a:cs typeface="Exo 2 Bold"/>
                <a:sym typeface="Exo 2 Bold"/>
              </a:rPr>
              <a:t>61</a:t>
            </a:r>
          </a:p>
        </p:txBody>
      </p:sp>
      <p:grpSp>
        <p:nvGrpSpPr>
          <p:cNvPr name="Group 102" id="102"/>
          <p:cNvGrpSpPr/>
          <p:nvPr/>
        </p:nvGrpSpPr>
        <p:grpSpPr>
          <a:xfrm rot="0">
            <a:off x="7505005" y="5187744"/>
            <a:ext cx="760000" cy="250003"/>
            <a:chOff x="0" y="0"/>
            <a:chExt cx="1013333" cy="333337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1013333" cy="333375"/>
            </a:xfrm>
            <a:custGeom>
              <a:avLst/>
              <a:gdLst/>
              <a:ahLst/>
              <a:cxnLst/>
              <a:rect r="r" b="b" t="t" l="l"/>
              <a:pathLst>
                <a:path h="333375" w="1013333">
                  <a:moveTo>
                    <a:pt x="0" y="166624"/>
                  </a:moveTo>
                  <a:cubicBezTo>
                    <a:pt x="0" y="74676"/>
                    <a:pt x="74676" y="0"/>
                    <a:pt x="166624" y="0"/>
                  </a:cubicBezTo>
                  <a:lnTo>
                    <a:pt x="846709" y="0"/>
                  </a:lnTo>
                  <a:cubicBezTo>
                    <a:pt x="938784" y="0"/>
                    <a:pt x="1013333" y="74676"/>
                    <a:pt x="1013333" y="166624"/>
                  </a:cubicBezTo>
                  <a:cubicBezTo>
                    <a:pt x="1013333" y="258572"/>
                    <a:pt x="938657" y="333375"/>
                    <a:pt x="846709" y="333375"/>
                  </a:cubicBezTo>
                  <a:lnTo>
                    <a:pt x="166624" y="333375"/>
                  </a:lnTo>
                  <a:cubicBezTo>
                    <a:pt x="74676" y="333375"/>
                    <a:pt x="0" y="258699"/>
                    <a:pt x="0" y="166624"/>
                  </a:cubicBezTo>
                  <a:close/>
                </a:path>
              </a:pathLst>
            </a:custGeom>
            <a:solidFill>
              <a:srgbClr val="E3F4EC"/>
            </a:solidFill>
          </p:spPr>
        </p:sp>
        <p:sp>
          <p:nvSpPr>
            <p:cNvPr name="TextBox 104" id="104"/>
            <p:cNvSpPr txBox="true"/>
            <p:nvPr/>
          </p:nvSpPr>
          <p:spPr>
            <a:xfrm>
              <a:off x="0" y="-19050"/>
              <a:ext cx="1013333" cy="3523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39"/>
                </a:lnSpc>
              </a:pPr>
              <a:r>
                <a:rPr lang="en-US" sz="1200" b="true">
                  <a:solidFill>
                    <a:srgbClr val="1BA97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▲ 30%</a:t>
              </a:r>
            </a:p>
          </p:txBody>
        </p:sp>
      </p:grpSp>
      <p:sp>
        <p:nvSpPr>
          <p:cNvPr name="TextBox 105" id="105"/>
          <p:cNvSpPr txBox="true"/>
          <p:nvPr/>
        </p:nvSpPr>
        <p:spPr>
          <a:xfrm rot="0">
            <a:off x="7384999" y="8470478"/>
            <a:ext cx="1000001" cy="289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67"/>
              </a:lnSpc>
            </a:pPr>
            <a:r>
              <a:rPr lang="en-US" sz="1389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Sep</a:t>
            </a:r>
          </a:p>
        </p:txBody>
      </p:sp>
      <p:sp>
        <p:nvSpPr>
          <p:cNvPr name="TextBox 106" id="106"/>
          <p:cNvSpPr txBox="true"/>
          <p:nvPr/>
        </p:nvSpPr>
        <p:spPr>
          <a:xfrm rot="0">
            <a:off x="1269997" y="8800948"/>
            <a:ext cx="7350004" cy="279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 b="true">
                <a:solidFill>
                  <a:srgbClr val="1BA97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▲ Month on month growth</a:t>
            </a:r>
          </a:p>
        </p:txBody>
      </p:sp>
      <p:grpSp>
        <p:nvGrpSpPr>
          <p:cNvPr name="Group 107" id="107"/>
          <p:cNvGrpSpPr/>
          <p:nvPr/>
        </p:nvGrpSpPr>
        <p:grpSpPr>
          <a:xfrm rot="0">
            <a:off x="9674000" y="8349996"/>
            <a:ext cx="7350004" cy="9001"/>
            <a:chOff x="0" y="0"/>
            <a:chExt cx="9800006" cy="12002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9799955" cy="11938"/>
            </a:xfrm>
            <a:custGeom>
              <a:avLst/>
              <a:gdLst/>
              <a:ahLst/>
              <a:cxnLst/>
              <a:rect r="r" b="b" t="t" l="l"/>
              <a:pathLst>
                <a:path h="11938" w="9799955">
                  <a:moveTo>
                    <a:pt x="0" y="0"/>
                  </a:moveTo>
                  <a:lnTo>
                    <a:pt x="9799955" y="0"/>
                  </a:lnTo>
                  <a:lnTo>
                    <a:pt x="9799955" y="11938"/>
                  </a:lnTo>
                  <a:lnTo>
                    <a:pt x="0" y="11938"/>
                  </a:lnTo>
                  <a:close/>
                </a:path>
              </a:pathLst>
            </a:custGeom>
            <a:solidFill>
              <a:srgbClr val="E3E8F2"/>
            </a:solidFill>
          </p:spPr>
        </p:sp>
      </p:grpSp>
      <p:grpSp>
        <p:nvGrpSpPr>
          <p:cNvPr name="Group 109" id="109"/>
          <p:cNvGrpSpPr/>
          <p:nvPr/>
        </p:nvGrpSpPr>
        <p:grpSpPr>
          <a:xfrm rot="0">
            <a:off x="9674000" y="6924999"/>
            <a:ext cx="7350004" cy="9001"/>
            <a:chOff x="0" y="0"/>
            <a:chExt cx="9800006" cy="12002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9799955" cy="11938"/>
            </a:xfrm>
            <a:custGeom>
              <a:avLst/>
              <a:gdLst/>
              <a:ahLst/>
              <a:cxnLst/>
              <a:rect r="r" b="b" t="t" l="l"/>
              <a:pathLst>
                <a:path h="11938" w="9799955">
                  <a:moveTo>
                    <a:pt x="0" y="0"/>
                  </a:moveTo>
                  <a:lnTo>
                    <a:pt x="9799955" y="0"/>
                  </a:lnTo>
                  <a:lnTo>
                    <a:pt x="9799955" y="11938"/>
                  </a:lnTo>
                  <a:lnTo>
                    <a:pt x="0" y="11938"/>
                  </a:lnTo>
                  <a:close/>
                </a:path>
              </a:pathLst>
            </a:custGeom>
            <a:solidFill>
              <a:srgbClr val="E3E8F2"/>
            </a:solidFill>
          </p:spPr>
        </p:sp>
      </p:grpSp>
      <p:grpSp>
        <p:nvGrpSpPr>
          <p:cNvPr name="Group 111" id="111"/>
          <p:cNvGrpSpPr/>
          <p:nvPr/>
        </p:nvGrpSpPr>
        <p:grpSpPr>
          <a:xfrm rot="0">
            <a:off x="9674000" y="5500002"/>
            <a:ext cx="7350004" cy="9001"/>
            <a:chOff x="0" y="0"/>
            <a:chExt cx="9800006" cy="12002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9799955" cy="11938"/>
            </a:xfrm>
            <a:custGeom>
              <a:avLst/>
              <a:gdLst/>
              <a:ahLst/>
              <a:cxnLst/>
              <a:rect r="r" b="b" t="t" l="l"/>
              <a:pathLst>
                <a:path h="11938" w="9799955">
                  <a:moveTo>
                    <a:pt x="0" y="0"/>
                  </a:moveTo>
                  <a:lnTo>
                    <a:pt x="9799955" y="0"/>
                  </a:lnTo>
                  <a:lnTo>
                    <a:pt x="9799955" y="11938"/>
                  </a:lnTo>
                  <a:lnTo>
                    <a:pt x="0" y="11938"/>
                  </a:lnTo>
                  <a:close/>
                </a:path>
              </a:pathLst>
            </a:custGeom>
            <a:solidFill>
              <a:srgbClr val="E3E8F2"/>
            </a:solidFill>
          </p:spPr>
        </p:sp>
      </p:grpSp>
      <p:grpSp>
        <p:nvGrpSpPr>
          <p:cNvPr name="Group 113" id="113"/>
          <p:cNvGrpSpPr/>
          <p:nvPr/>
        </p:nvGrpSpPr>
        <p:grpSpPr>
          <a:xfrm rot="0">
            <a:off x="10408996" y="8222371"/>
            <a:ext cx="5880002" cy="127635"/>
            <a:chOff x="0" y="0"/>
            <a:chExt cx="7840002" cy="170180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7839964" cy="170180"/>
            </a:xfrm>
            <a:custGeom>
              <a:avLst/>
              <a:gdLst/>
              <a:ahLst/>
              <a:cxnLst/>
              <a:rect r="r" b="b" t="t" l="l"/>
              <a:pathLst>
                <a:path h="170180" w="7839964">
                  <a:moveTo>
                    <a:pt x="0" y="170180"/>
                  </a:moveTo>
                  <a:lnTo>
                    <a:pt x="0" y="109220"/>
                  </a:lnTo>
                  <a:lnTo>
                    <a:pt x="1959991" y="50038"/>
                  </a:lnTo>
                  <a:lnTo>
                    <a:pt x="3919982" y="39116"/>
                  </a:lnTo>
                  <a:lnTo>
                    <a:pt x="5879973" y="18161"/>
                  </a:lnTo>
                  <a:lnTo>
                    <a:pt x="7839964" y="0"/>
                  </a:lnTo>
                  <a:lnTo>
                    <a:pt x="7839964" y="170180"/>
                  </a:lnTo>
                  <a:close/>
                </a:path>
              </a:pathLst>
            </a:custGeom>
            <a:solidFill>
              <a:srgbClr val="E3F4EC"/>
            </a:solidFill>
          </p:spPr>
        </p:sp>
      </p:grpSp>
      <p:grpSp>
        <p:nvGrpSpPr>
          <p:cNvPr name="Group 115" id="115"/>
          <p:cNvGrpSpPr/>
          <p:nvPr/>
        </p:nvGrpSpPr>
        <p:grpSpPr>
          <a:xfrm rot="0">
            <a:off x="10399471" y="5653954"/>
            <a:ext cx="5899052" cy="1565577"/>
            <a:chOff x="0" y="0"/>
            <a:chExt cx="7865402" cy="2087436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7865364" cy="2087372"/>
            </a:xfrm>
            <a:custGeom>
              <a:avLst/>
              <a:gdLst/>
              <a:ahLst/>
              <a:cxnLst/>
              <a:rect r="r" b="b" t="t" l="l"/>
              <a:pathLst>
                <a:path h="2087372" w="7865364">
                  <a:moveTo>
                    <a:pt x="0" y="2087372"/>
                  </a:moveTo>
                  <a:lnTo>
                    <a:pt x="1966341" y="1719580"/>
                  </a:lnTo>
                  <a:lnTo>
                    <a:pt x="3932682" y="1264031"/>
                  </a:lnTo>
                  <a:lnTo>
                    <a:pt x="5899023" y="699516"/>
                  </a:lnTo>
                  <a:lnTo>
                    <a:pt x="7865364" y="0"/>
                  </a:lnTo>
                </a:path>
              </a:pathLst>
            </a:custGeom>
            <a:blipFill>
              <a:blip r:embed="rId5">
                <a:alphaModFix amt="0"/>
              </a:blip>
              <a:stretch>
                <a:fillRect l="0" t="-23419" r="0" b="-23422"/>
              </a:stretch>
            </a:blipFill>
            <a:ln w="19050" cap="sq">
              <a:solidFill>
                <a:srgbClr val="132257"/>
              </a:solidFill>
              <a:prstDash val="solid"/>
              <a:miter/>
            </a:ln>
          </p:spPr>
        </p:sp>
      </p:grpSp>
      <p:grpSp>
        <p:nvGrpSpPr>
          <p:cNvPr name="Group 117" id="117"/>
          <p:cNvGrpSpPr/>
          <p:nvPr/>
        </p:nvGrpSpPr>
        <p:grpSpPr>
          <a:xfrm rot="0">
            <a:off x="10337997" y="7138997"/>
            <a:ext cx="141999" cy="141999"/>
            <a:chOff x="0" y="0"/>
            <a:chExt cx="189332" cy="189332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189230" cy="189230"/>
            </a:xfrm>
            <a:custGeom>
              <a:avLst/>
              <a:gdLst/>
              <a:ahLst/>
              <a:cxnLst/>
              <a:rect r="r" b="b" t="t" l="l"/>
              <a:pathLst>
                <a:path h="189230" w="189230">
                  <a:moveTo>
                    <a:pt x="0" y="94615"/>
                  </a:moveTo>
                  <a:cubicBezTo>
                    <a:pt x="0" y="42418"/>
                    <a:pt x="42418" y="0"/>
                    <a:pt x="94615" y="0"/>
                  </a:cubicBezTo>
                  <a:cubicBezTo>
                    <a:pt x="146812" y="0"/>
                    <a:pt x="189230" y="42418"/>
                    <a:pt x="189230" y="94615"/>
                  </a:cubicBezTo>
                  <a:cubicBezTo>
                    <a:pt x="189230" y="146812"/>
                    <a:pt x="146812" y="189230"/>
                    <a:pt x="94615" y="189230"/>
                  </a:cubicBezTo>
                  <a:cubicBezTo>
                    <a:pt x="42418" y="189230"/>
                    <a:pt x="0" y="146939"/>
                    <a:pt x="0" y="94615"/>
                  </a:cubicBezTo>
                  <a:close/>
                </a:path>
              </a:pathLst>
            </a:custGeom>
            <a:solidFill>
              <a:srgbClr val="FFFFFF"/>
            </a:solidFill>
            <a:ln w="22000" cap="sq">
              <a:solidFill>
                <a:srgbClr val="132257"/>
              </a:solidFill>
              <a:prstDash val="solid"/>
              <a:miter/>
            </a:ln>
          </p:spPr>
        </p:sp>
      </p:grpSp>
      <p:grpSp>
        <p:nvGrpSpPr>
          <p:cNvPr name="Group 119" id="119"/>
          <p:cNvGrpSpPr/>
          <p:nvPr/>
        </p:nvGrpSpPr>
        <p:grpSpPr>
          <a:xfrm rot="0">
            <a:off x="11808000" y="6866544"/>
            <a:ext cx="141999" cy="141999"/>
            <a:chOff x="0" y="0"/>
            <a:chExt cx="189332" cy="189332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189230" cy="189230"/>
            </a:xfrm>
            <a:custGeom>
              <a:avLst/>
              <a:gdLst/>
              <a:ahLst/>
              <a:cxnLst/>
              <a:rect r="r" b="b" t="t" l="l"/>
              <a:pathLst>
                <a:path h="189230" w="189230">
                  <a:moveTo>
                    <a:pt x="0" y="94615"/>
                  </a:moveTo>
                  <a:cubicBezTo>
                    <a:pt x="0" y="42418"/>
                    <a:pt x="42418" y="0"/>
                    <a:pt x="94615" y="0"/>
                  </a:cubicBezTo>
                  <a:cubicBezTo>
                    <a:pt x="146812" y="0"/>
                    <a:pt x="189230" y="42418"/>
                    <a:pt x="189230" y="94615"/>
                  </a:cubicBezTo>
                  <a:cubicBezTo>
                    <a:pt x="189230" y="146812"/>
                    <a:pt x="146812" y="189230"/>
                    <a:pt x="94615" y="189230"/>
                  </a:cubicBezTo>
                  <a:cubicBezTo>
                    <a:pt x="42418" y="189230"/>
                    <a:pt x="0" y="146939"/>
                    <a:pt x="0" y="94615"/>
                  </a:cubicBezTo>
                  <a:close/>
                </a:path>
              </a:pathLst>
            </a:custGeom>
            <a:solidFill>
              <a:srgbClr val="FFFFFF"/>
            </a:solidFill>
            <a:ln w="22000" cap="sq">
              <a:solidFill>
                <a:srgbClr val="132257"/>
              </a:solidFill>
              <a:prstDash val="solid"/>
              <a:miter/>
            </a:ln>
          </p:spPr>
        </p:sp>
      </p:grpSp>
      <p:grpSp>
        <p:nvGrpSpPr>
          <p:cNvPr name="Group 121" id="121"/>
          <p:cNvGrpSpPr/>
          <p:nvPr/>
        </p:nvGrpSpPr>
        <p:grpSpPr>
          <a:xfrm rot="0">
            <a:off x="13278002" y="6528959"/>
            <a:ext cx="141999" cy="141999"/>
            <a:chOff x="0" y="0"/>
            <a:chExt cx="189332" cy="189332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0" y="0"/>
              <a:ext cx="189230" cy="189230"/>
            </a:xfrm>
            <a:custGeom>
              <a:avLst/>
              <a:gdLst/>
              <a:ahLst/>
              <a:cxnLst/>
              <a:rect r="r" b="b" t="t" l="l"/>
              <a:pathLst>
                <a:path h="189230" w="189230">
                  <a:moveTo>
                    <a:pt x="0" y="94615"/>
                  </a:moveTo>
                  <a:cubicBezTo>
                    <a:pt x="0" y="42418"/>
                    <a:pt x="42418" y="0"/>
                    <a:pt x="94615" y="0"/>
                  </a:cubicBezTo>
                  <a:cubicBezTo>
                    <a:pt x="146812" y="0"/>
                    <a:pt x="189230" y="42418"/>
                    <a:pt x="189230" y="94615"/>
                  </a:cubicBezTo>
                  <a:cubicBezTo>
                    <a:pt x="189230" y="146812"/>
                    <a:pt x="146812" y="189230"/>
                    <a:pt x="94615" y="189230"/>
                  </a:cubicBezTo>
                  <a:cubicBezTo>
                    <a:pt x="42418" y="189230"/>
                    <a:pt x="0" y="146939"/>
                    <a:pt x="0" y="94615"/>
                  </a:cubicBezTo>
                  <a:close/>
                </a:path>
              </a:pathLst>
            </a:custGeom>
            <a:solidFill>
              <a:srgbClr val="FFFFFF"/>
            </a:solidFill>
            <a:ln w="22000" cap="sq">
              <a:solidFill>
                <a:srgbClr val="132257"/>
              </a:solidFill>
              <a:prstDash val="solid"/>
              <a:miter/>
            </a:ln>
          </p:spPr>
        </p:sp>
      </p:grpSp>
      <p:grpSp>
        <p:nvGrpSpPr>
          <p:cNvPr name="Group 123" id="123"/>
          <p:cNvGrpSpPr/>
          <p:nvPr/>
        </p:nvGrpSpPr>
        <p:grpSpPr>
          <a:xfrm rot="0">
            <a:off x="14747996" y="6110707"/>
            <a:ext cx="141999" cy="141999"/>
            <a:chOff x="0" y="0"/>
            <a:chExt cx="189332" cy="189332"/>
          </a:xfrm>
        </p:grpSpPr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189230" cy="189230"/>
            </a:xfrm>
            <a:custGeom>
              <a:avLst/>
              <a:gdLst/>
              <a:ahLst/>
              <a:cxnLst/>
              <a:rect r="r" b="b" t="t" l="l"/>
              <a:pathLst>
                <a:path h="189230" w="189230">
                  <a:moveTo>
                    <a:pt x="0" y="94615"/>
                  </a:moveTo>
                  <a:cubicBezTo>
                    <a:pt x="0" y="42418"/>
                    <a:pt x="42418" y="0"/>
                    <a:pt x="94615" y="0"/>
                  </a:cubicBezTo>
                  <a:cubicBezTo>
                    <a:pt x="146812" y="0"/>
                    <a:pt x="189230" y="42418"/>
                    <a:pt x="189230" y="94615"/>
                  </a:cubicBezTo>
                  <a:cubicBezTo>
                    <a:pt x="189230" y="146812"/>
                    <a:pt x="146812" y="189230"/>
                    <a:pt x="94615" y="189230"/>
                  </a:cubicBezTo>
                  <a:cubicBezTo>
                    <a:pt x="42418" y="189230"/>
                    <a:pt x="0" y="146939"/>
                    <a:pt x="0" y="94615"/>
                  </a:cubicBezTo>
                  <a:close/>
                </a:path>
              </a:pathLst>
            </a:custGeom>
            <a:solidFill>
              <a:srgbClr val="FFFFFF"/>
            </a:solidFill>
            <a:ln w="22000" cap="sq">
              <a:solidFill>
                <a:srgbClr val="132257"/>
              </a:solidFill>
              <a:prstDash val="solid"/>
              <a:miter/>
            </a:ln>
          </p:spPr>
        </p:sp>
      </p:grpSp>
      <p:grpSp>
        <p:nvGrpSpPr>
          <p:cNvPr name="Group 125" id="125"/>
          <p:cNvGrpSpPr/>
          <p:nvPr/>
        </p:nvGrpSpPr>
        <p:grpSpPr>
          <a:xfrm rot="0">
            <a:off x="16217998" y="5592480"/>
            <a:ext cx="141999" cy="141999"/>
            <a:chOff x="0" y="0"/>
            <a:chExt cx="189332" cy="189332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189230" cy="189230"/>
            </a:xfrm>
            <a:custGeom>
              <a:avLst/>
              <a:gdLst/>
              <a:ahLst/>
              <a:cxnLst/>
              <a:rect r="r" b="b" t="t" l="l"/>
              <a:pathLst>
                <a:path h="189230" w="189230">
                  <a:moveTo>
                    <a:pt x="0" y="94615"/>
                  </a:moveTo>
                  <a:cubicBezTo>
                    <a:pt x="0" y="42418"/>
                    <a:pt x="42418" y="0"/>
                    <a:pt x="94615" y="0"/>
                  </a:cubicBezTo>
                  <a:cubicBezTo>
                    <a:pt x="146812" y="0"/>
                    <a:pt x="189230" y="42418"/>
                    <a:pt x="189230" y="94615"/>
                  </a:cubicBezTo>
                  <a:cubicBezTo>
                    <a:pt x="189230" y="146812"/>
                    <a:pt x="146812" y="189230"/>
                    <a:pt x="94615" y="189230"/>
                  </a:cubicBezTo>
                  <a:cubicBezTo>
                    <a:pt x="42418" y="189230"/>
                    <a:pt x="0" y="146939"/>
                    <a:pt x="0" y="94615"/>
                  </a:cubicBezTo>
                  <a:close/>
                </a:path>
              </a:pathLst>
            </a:custGeom>
            <a:solidFill>
              <a:srgbClr val="FFFFFF"/>
            </a:solidFill>
            <a:ln w="22000" cap="sq">
              <a:solidFill>
                <a:srgbClr val="132257"/>
              </a:solidFill>
              <a:prstDash val="solid"/>
              <a:miter/>
            </a:ln>
          </p:spPr>
        </p:sp>
      </p:grpSp>
      <p:sp>
        <p:nvSpPr>
          <p:cNvPr name="TextBox 127" id="127"/>
          <p:cNvSpPr txBox="true"/>
          <p:nvPr/>
        </p:nvSpPr>
        <p:spPr>
          <a:xfrm rot="0">
            <a:off x="15199004" y="5843511"/>
            <a:ext cx="2000002" cy="260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584"/>
              </a:lnSpc>
            </a:pPr>
            <a:r>
              <a:rPr lang="en-US" sz="1320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Target $235,660</a:t>
            </a:r>
          </a:p>
        </p:txBody>
      </p:sp>
      <p:grpSp>
        <p:nvGrpSpPr>
          <p:cNvPr name="Group 128" id="128"/>
          <p:cNvGrpSpPr/>
          <p:nvPr/>
        </p:nvGrpSpPr>
        <p:grpSpPr>
          <a:xfrm rot="0">
            <a:off x="14324000" y="4745003"/>
            <a:ext cx="299999" cy="28004"/>
            <a:chOff x="0" y="0"/>
            <a:chExt cx="399999" cy="37338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400050" cy="37338"/>
            </a:xfrm>
            <a:custGeom>
              <a:avLst/>
              <a:gdLst/>
              <a:ahLst/>
              <a:cxnLst/>
              <a:rect r="r" b="b" t="t" l="l"/>
              <a:pathLst>
                <a:path h="37338" w="400050">
                  <a:moveTo>
                    <a:pt x="0" y="0"/>
                  </a:moveTo>
                  <a:lnTo>
                    <a:pt x="400050" y="0"/>
                  </a:lnTo>
                  <a:lnTo>
                    <a:pt x="400050" y="37338"/>
                  </a:lnTo>
                  <a:lnTo>
                    <a:pt x="0" y="37338"/>
                  </a:lnTo>
                  <a:close/>
                </a:path>
              </a:pathLst>
            </a:custGeom>
            <a:solidFill>
              <a:srgbClr val="1BA97C"/>
            </a:solidFill>
          </p:spPr>
        </p:sp>
      </p:grpSp>
      <p:sp>
        <p:nvSpPr>
          <p:cNvPr name="TextBox 130" id="130"/>
          <p:cNvSpPr txBox="true"/>
          <p:nvPr/>
        </p:nvSpPr>
        <p:spPr>
          <a:xfrm rot="0">
            <a:off x="14683997" y="4630474"/>
            <a:ext cx="800005" cy="2695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2"/>
              </a:lnSpc>
            </a:pPr>
            <a:r>
              <a:rPr lang="en-US" sz="1260">
                <a:solidFill>
                  <a:srgbClr val="7A849C"/>
                </a:solidFill>
                <a:latin typeface="Exo 2"/>
                <a:ea typeface="Exo 2"/>
                <a:cs typeface="Exo 2"/>
                <a:sym typeface="Exo 2"/>
              </a:rPr>
              <a:t>Actual</a:t>
            </a:r>
          </a:p>
        </p:txBody>
      </p:sp>
      <p:grpSp>
        <p:nvGrpSpPr>
          <p:cNvPr name="Group 131" id="131"/>
          <p:cNvGrpSpPr/>
          <p:nvPr/>
        </p:nvGrpSpPr>
        <p:grpSpPr>
          <a:xfrm rot="0">
            <a:off x="15474001" y="4745003"/>
            <a:ext cx="299999" cy="19002"/>
            <a:chOff x="0" y="0"/>
            <a:chExt cx="399999" cy="25336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0" y="0"/>
              <a:ext cx="400050" cy="25273"/>
            </a:xfrm>
            <a:custGeom>
              <a:avLst/>
              <a:gdLst/>
              <a:ahLst/>
              <a:cxnLst/>
              <a:rect r="r" b="b" t="t" l="l"/>
              <a:pathLst>
                <a:path h="25273" w="400050">
                  <a:moveTo>
                    <a:pt x="0" y="0"/>
                  </a:moveTo>
                  <a:lnTo>
                    <a:pt x="400050" y="0"/>
                  </a:lnTo>
                  <a:lnTo>
                    <a:pt x="400050" y="25273"/>
                  </a:lnTo>
                  <a:lnTo>
                    <a:pt x="0" y="25273"/>
                  </a:lnTo>
                  <a:close/>
                </a:path>
              </a:pathLst>
            </a:custGeom>
            <a:solidFill>
              <a:srgbClr val="132257"/>
            </a:solidFill>
          </p:spPr>
        </p:sp>
      </p:grpSp>
      <p:sp>
        <p:nvSpPr>
          <p:cNvPr name="TextBox 133" id="133"/>
          <p:cNvSpPr txBox="true"/>
          <p:nvPr/>
        </p:nvSpPr>
        <p:spPr>
          <a:xfrm rot="0">
            <a:off x="15833998" y="4630474"/>
            <a:ext cx="800005" cy="2695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2"/>
              </a:lnSpc>
            </a:pPr>
            <a:r>
              <a:rPr lang="en-US" sz="1260">
                <a:solidFill>
                  <a:srgbClr val="7A849C"/>
                </a:solidFill>
                <a:latin typeface="Exo 2"/>
                <a:ea typeface="Exo 2"/>
                <a:cs typeface="Exo 2"/>
                <a:sym typeface="Exo 2"/>
              </a:rPr>
              <a:t>Target</a:t>
            </a:r>
          </a:p>
        </p:txBody>
      </p:sp>
      <p:grpSp>
        <p:nvGrpSpPr>
          <p:cNvPr name="Group 134" id="134"/>
          <p:cNvGrpSpPr/>
          <p:nvPr/>
        </p:nvGrpSpPr>
        <p:grpSpPr>
          <a:xfrm rot="0">
            <a:off x="10391537" y="8204902"/>
            <a:ext cx="5914930" cy="116815"/>
            <a:chOff x="0" y="0"/>
            <a:chExt cx="7886573" cy="155753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0" y="0"/>
              <a:ext cx="7886573" cy="155702"/>
            </a:xfrm>
            <a:custGeom>
              <a:avLst/>
              <a:gdLst/>
              <a:ahLst/>
              <a:cxnLst/>
              <a:rect r="r" b="b" t="t" l="l"/>
              <a:pathLst>
                <a:path h="155702" w="7886573">
                  <a:moveTo>
                    <a:pt x="0" y="155702"/>
                  </a:moveTo>
                  <a:lnTo>
                    <a:pt x="1971675" y="71247"/>
                  </a:lnTo>
                  <a:lnTo>
                    <a:pt x="3943223" y="55753"/>
                  </a:lnTo>
                  <a:lnTo>
                    <a:pt x="5914898" y="25908"/>
                  </a:lnTo>
                  <a:lnTo>
                    <a:pt x="7886573" y="0"/>
                  </a:lnTo>
                </a:path>
              </a:pathLst>
            </a:custGeom>
            <a:blipFill>
              <a:blip r:embed="rId5">
                <a:alphaModFix amt="0"/>
              </a:blip>
              <a:stretch>
                <a:fillRect l="0" t="-936934" r="0" b="-936966"/>
              </a:stretch>
            </a:blipFill>
            <a:ln w="34925" cap="sq">
              <a:solidFill>
                <a:srgbClr val="1BA97C"/>
              </a:solidFill>
              <a:prstDash val="solid"/>
              <a:miter/>
            </a:ln>
          </p:spPr>
        </p:sp>
      </p:grpSp>
      <p:grpSp>
        <p:nvGrpSpPr>
          <p:cNvPr name="Group 136" id="136"/>
          <p:cNvGrpSpPr/>
          <p:nvPr/>
        </p:nvGrpSpPr>
        <p:grpSpPr>
          <a:xfrm rot="0">
            <a:off x="10323004" y="8218256"/>
            <a:ext cx="172002" cy="172002"/>
            <a:chOff x="0" y="0"/>
            <a:chExt cx="229337" cy="229337"/>
          </a:xfrm>
        </p:grpSpPr>
        <p:sp>
          <p:nvSpPr>
            <p:cNvPr name="Freeform 137" id="137"/>
            <p:cNvSpPr/>
            <p:nvPr/>
          </p:nvSpPr>
          <p:spPr>
            <a:xfrm flipH="false" flipV="false" rot="0">
              <a:off x="0" y="0"/>
              <a:ext cx="229362" cy="229362"/>
            </a:xfrm>
            <a:custGeom>
              <a:avLst/>
              <a:gdLst/>
              <a:ahLst/>
              <a:cxnLst/>
              <a:rect r="r" b="b" t="t" l="l"/>
              <a:pathLst>
                <a:path h="229362" w="229362">
                  <a:moveTo>
                    <a:pt x="0" y="114681"/>
                  </a:moveTo>
                  <a:cubicBezTo>
                    <a:pt x="0" y="51308"/>
                    <a:pt x="51308" y="0"/>
                    <a:pt x="114681" y="0"/>
                  </a:cubicBezTo>
                  <a:cubicBezTo>
                    <a:pt x="178054" y="0"/>
                    <a:pt x="229362" y="51308"/>
                    <a:pt x="229362" y="114681"/>
                  </a:cubicBezTo>
                  <a:cubicBezTo>
                    <a:pt x="229362" y="178054"/>
                    <a:pt x="178054" y="229362"/>
                    <a:pt x="114681" y="229362"/>
                  </a:cubicBezTo>
                  <a:cubicBezTo>
                    <a:pt x="51308" y="229362"/>
                    <a:pt x="0" y="178054"/>
                    <a:pt x="0" y="114681"/>
                  </a:cubicBezTo>
                  <a:close/>
                </a:path>
              </a:pathLst>
            </a:custGeom>
            <a:solidFill>
              <a:srgbClr val="1BA97C"/>
            </a:solidFill>
            <a:ln w="22000" cap="sq">
              <a:solidFill>
                <a:srgbClr val="1BA97C"/>
              </a:solidFill>
              <a:prstDash val="solid"/>
              <a:miter/>
            </a:ln>
          </p:spPr>
        </p:sp>
      </p:grpSp>
      <p:sp>
        <p:nvSpPr>
          <p:cNvPr name="TextBox 138" id="138"/>
          <p:cNvSpPr txBox="true"/>
          <p:nvPr/>
        </p:nvSpPr>
        <p:spPr>
          <a:xfrm rot="0">
            <a:off x="9709004" y="7944250"/>
            <a:ext cx="1400004" cy="299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36"/>
              </a:lnSpc>
            </a:pPr>
            <a:r>
              <a:rPr lang="en-US" sz="1530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$4,013</a:t>
            </a:r>
          </a:p>
        </p:txBody>
      </p:sp>
      <p:sp>
        <p:nvSpPr>
          <p:cNvPr name="TextBox 139" id="139"/>
          <p:cNvSpPr txBox="true"/>
          <p:nvPr/>
        </p:nvSpPr>
        <p:spPr>
          <a:xfrm rot="0">
            <a:off x="9909000" y="8470478"/>
            <a:ext cx="1000001" cy="289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67"/>
              </a:lnSpc>
            </a:pPr>
            <a:r>
              <a:rPr lang="en-US" sz="1389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May</a:t>
            </a:r>
          </a:p>
        </p:txBody>
      </p:sp>
      <p:grpSp>
        <p:nvGrpSpPr>
          <p:cNvPr name="Group 140" id="140"/>
          <p:cNvGrpSpPr/>
          <p:nvPr/>
        </p:nvGrpSpPr>
        <p:grpSpPr>
          <a:xfrm rot="0">
            <a:off x="11792998" y="8173860"/>
            <a:ext cx="172002" cy="172002"/>
            <a:chOff x="0" y="0"/>
            <a:chExt cx="229337" cy="229337"/>
          </a:xfrm>
        </p:grpSpPr>
        <p:sp>
          <p:nvSpPr>
            <p:cNvPr name="Freeform 141" id="141"/>
            <p:cNvSpPr/>
            <p:nvPr/>
          </p:nvSpPr>
          <p:spPr>
            <a:xfrm flipH="false" flipV="false" rot="0">
              <a:off x="0" y="0"/>
              <a:ext cx="229362" cy="229362"/>
            </a:xfrm>
            <a:custGeom>
              <a:avLst/>
              <a:gdLst/>
              <a:ahLst/>
              <a:cxnLst/>
              <a:rect r="r" b="b" t="t" l="l"/>
              <a:pathLst>
                <a:path h="229362" w="229362">
                  <a:moveTo>
                    <a:pt x="0" y="114681"/>
                  </a:moveTo>
                  <a:cubicBezTo>
                    <a:pt x="0" y="51308"/>
                    <a:pt x="51308" y="0"/>
                    <a:pt x="114681" y="0"/>
                  </a:cubicBezTo>
                  <a:cubicBezTo>
                    <a:pt x="178054" y="0"/>
                    <a:pt x="229362" y="51308"/>
                    <a:pt x="229362" y="114681"/>
                  </a:cubicBezTo>
                  <a:cubicBezTo>
                    <a:pt x="229362" y="178054"/>
                    <a:pt x="178054" y="229362"/>
                    <a:pt x="114681" y="229362"/>
                  </a:cubicBezTo>
                  <a:cubicBezTo>
                    <a:pt x="51308" y="229362"/>
                    <a:pt x="0" y="178054"/>
                    <a:pt x="0" y="114681"/>
                  </a:cubicBezTo>
                  <a:close/>
                </a:path>
              </a:pathLst>
            </a:custGeom>
            <a:solidFill>
              <a:srgbClr val="1BA97C"/>
            </a:solidFill>
            <a:ln w="22000" cap="sq">
              <a:solidFill>
                <a:srgbClr val="1BA97C"/>
              </a:solidFill>
              <a:prstDash val="solid"/>
              <a:miter/>
            </a:ln>
          </p:spPr>
        </p:sp>
      </p:grpSp>
      <p:sp>
        <p:nvSpPr>
          <p:cNvPr name="TextBox 142" id="142"/>
          <p:cNvSpPr txBox="true"/>
          <p:nvPr/>
        </p:nvSpPr>
        <p:spPr>
          <a:xfrm rot="0">
            <a:off x="11178997" y="7899854"/>
            <a:ext cx="1400004" cy="299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36"/>
              </a:lnSpc>
            </a:pPr>
            <a:r>
              <a:rPr lang="en-US" sz="1530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$7,907</a:t>
            </a:r>
          </a:p>
        </p:txBody>
      </p:sp>
      <p:grpSp>
        <p:nvGrpSpPr>
          <p:cNvPr name="Group 143" id="143"/>
          <p:cNvGrpSpPr/>
          <p:nvPr/>
        </p:nvGrpSpPr>
        <p:grpSpPr>
          <a:xfrm rot="0">
            <a:off x="11498999" y="7579862"/>
            <a:ext cx="760000" cy="250003"/>
            <a:chOff x="0" y="0"/>
            <a:chExt cx="1013333" cy="333337"/>
          </a:xfrm>
        </p:grpSpPr>
        <p:sp>
          <p:nvSpPr>
            <p:cNvPr name="Freeform 144" id="144"/>
            <p:cNvSpPr/>
            <p:nvPr/>
          </p:nvSpPr>
          <p:spPr>
            <a:xfrm flipH="false" flipV="false" rot="0">
              <a:off x="0" y="0"/>
              <a:ext cx="1013333" cy="333375"/>
            </a:xfrm>
            <a:custGeom>
              <a:avLst/>
              <a:gdLst/>
              <a:ahLst/>
              <a:cxnLst/>
              <a:rect r="r" b="b" t="t" l="l"/>
              <a:pathLst>
                <a:path h="333375" w="1013333">
                  <a:moveTo>
                    <a:pt x="0" y="166624"/>
                  </a:moveTo>
                  <a:cubicBezTo>
                    <a:pt x="0" y="74676"/>
                    <a:pt x="74676" y="0"/>
                    <a:pt x="166624" y="0"/>
                  </a:cubicBezTo>
                  <a:lnTo>
                    <a:pt x="846709" y="0"/>
                  </a:lnTo>
                  <a:cubicBezTo>
                    <a:pt x="938784" y="0"/>
                    <a:pt x="1013333" y="74676"/>
                    <a:pt x="1013333" y="166624"/>
                  </a:cubicBezTo>
                  <a:cubicBezTo>
                    <a:pt x="1013333" y="258572"/>
                    <a:pt x="938657" y="333375"/>
                    <a:pt x="846709" y="333375"/>
                  </a:cubicBezTo>
                  <a:lnTo>
                    <a:pt x="166624" y="333375"/>
                  </a:lnTo>
                  <a:cubicBezTo>
                    <a:pt x="74676" y="333375"/>
                    <a:pt x="0" y="258699"/>
                    <a:pt x="0" y="166624"/>
                  </a:cubicBezTo>
                  <a:close/>
                </a:path>
              </a:pathLst>
            </a:custGeom>
            <a:solidFill>
              <a:srgbClr val="E3F4EC"/>
            </a:solidFill>
          </p:spPr>
        </p:sp>
        <p:sp>
          <p:nvSpPr>
            <p:cNvPr name="TextBox 145" id="145"/>
            <p:cNvSpPr txBox="true"/>
            <p:nvPr/>
          </p:nvSpPr>
          <p:spPr>
            <a:xfrm>
              <a:off x="0" y="-19050"/>
              <a:ext cx="1013333" cy="3523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39"/>
                </a:lnSpc>
              </a:pPr>
              <a:r>
                <a:rPr lang="en-US" sz="1200" b="true">
                  <a:solidFill>
                    <a:srgbClr val="1BA97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▲ 97%</a:t>
              </a:r>
            </a:p>
          </p:txBody>
        </p:sp>
      </p:grpSp>
      <p:sp>
        <p:nvSpPr>
          <p:cNvPr name="TextBox 146" id="146"/>
          <p:cNvSpPr txBox="true"/>
          <p:nvPr/>
        </p:nvSpPr>
        <p:spPr>
          <a:xfrm rot="0">
            <a:off x="11379003" y="8470478"/>
            <a:ext cx="1000001" cy="289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67"/>
              </a:lnSpc>
            </a:pPr>
            <a:r>
              <a:rPr lang="en-US" sz="1389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Jun</a:t>
            </a:r>
          </a:p>
        </p:txBody>
      </p:sp>
      <p:grpSp>
        <p:nvGrpSpPr>
          <p:cNvPr name="Group 147" id="147"/>
          <p:cNvGrpSpPr/>
          <p:nvPr/>
        </p:nvGrpSpPr>
        <p:grpSpPr>
          <a:xfrm rot="0">
            <a:off x="13263001" y="8165649"/>
            <a:ext cx="172002" cy="172002"/>
            <a:chOff x="0" y="0"/>
            <a:chExt cx="229337" cy="229337"/>
          </a:xfrm>
        </p:grpSpPr>
        <p:sp>
          <p:nvSpPr>
            <p:cNvPr name="Freeform 148" id="148"/>
            <p:cNvSpPr/>
            <p:nvPr/>
          </p:nvSpPr>
          <p:spPr>
            <a:xfrm flipH="false" flipV="false" rot="0">
              <a:off x="0" y="0"/>
              <a:ext cx="229362" cy="229362"/>
            </a:xfrm>
            <a:custGeom>
              <a:avLst/>
              <a:gdLst/>
              <a:ahLst/>
              <a:cxnLst/>
              <a:rect r="r" b="b" t="t" l="l"/>
              <a:pathLst>
                <a:path h="229362" w="229362">
                  <a:moveTo>
                    <a:pt x="0" y="114681"/>
                  </a:moveTo>
                  <a:cubicBezTo>
                    <a:pt x="0" y="51308"/>
                    <a:pt x="51308" y="0"/>
                    <a:pt x="114681" y="0"/>
                  </a:cubicBezTo>
                  <a:cubicBezTo>
                    <a:pt x="178054" y="0"/>
                    <a:pt x="229362" y="51308"/>
                    <a:pt x="229362" y="114681"/>
                  </a:cubicBezTo>
                  <a:cubicBezTo>
                    <a:pt x="229362" y="178054"/>
                    <a:pt x="178054" y="229362"/>
                    <a:pt x="114681" y="229362"/>
                  </a:cubicBezTo>
                  <a:cubicBezTo>
                    <a:pt x="51308" y="229362"/>
                    <a:pt x="0" y="178054"/>
                    <a:pt x="0" y="114681"/>
                  </a:cubicBezTo>
                  <a:close/>
                </a:path>
              </a:pathLst>
            </a:custGeom>
            <a:solidFill>
              <a:srgbClr val="1BA97C"/>
            </a:solidFill>
            <a:ln w="22000" cap="sq">
              <a:solidFill>
                <a:srgbClr val="1BA97C"/>
              </a:solidFill>
              <a:prstDash val="solid"/>
              <a:miter/>
            </a:ln>
          </p:spPr>
        </p:sp>
      </p:grpSp>
      <p:sp>
        <p:nvSpPr>
          <p:cNvPr name="TextBox 149" id="149"/>
          <p:cNvSpPr txBox="true"/>
          <p:nvPr/>
        </p:nvSpPr>
        <p:spPr>
          <a:xfrm rot="0">
            <a:off x="12649000" y="7891653"/>
            <a:ext cx="1400004" cy="299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36"/>
              </a:lnSpc>
            </a:pPr>
            <a:r>
              <a:rPr lang="en-US" sz="1530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$8,627</a:t>
            </a:r>
          </a:p>
        </p:txBody>
      </p:sp>
      <p:grpSp>
        <p:nvGrpSpPr>
          <p:cNvPr name="Group 150" id="150"/>
          <p:cNvGrpSpPr/>
          <p:nvPr/>
        </p:nvGrpSpPr>
        <p:grpSpPr>
          <a:xfrm rot="0">
            <a:off x="12969002" y="7571651"/>
            <a:ext cx="760000" cy="250003"/>
            <a:chOff x="0" y="0"/>
            <a:chExt cx="1013333" cy="333337"/>
          </a:xfrm>
        </p:grpSpPr>
        <p:sp>
          <p:nvSpPr>
            <p:cNvPr name="Freeform 151" id="151"/>
            <p:cNvSpPr/>
            <p:nvPr/>
          </p:nvSpPr>
          <p:spPr>
            <a:xfrm flipH="false" flipV="false" rot="0">
              <a:off x="0" y="0"/>
              <a:ext cx="1013333" cy="333375"/>
            </a:xfrm>
            <a:custGeom>
              <a:avLst/>
              <a:gdLst/>
              <a:ahLst/>
              <a:cxnLst/>
              <a:rect r="r" b="b" t="t" l="l"/>
              <a:pathLst>
                <a:path h="333375" w="1013333">
                  <a:moveTo>
                    <a:pt x="0" y="166624"/>
                  </a:moveTo>
                  <a:cubicBezTo>
                    <a:pt x="0" y="74676"/>
                    <a:pt x="74676" y="0"/>
                    <a:pt x="166624" y="0"/>
                  </a:cubicBezTo>
                  <a:lnTo>
                    <a:pt x="846709" y="0"/>
                  </a:lnTo>
                  <a:cubicBezTo>
                    <a:pt x="938784" y="0"/>
                    <a:pt x="1013333" y="74676"/>
                    <a:pt x="1013333" y="166624"/>
                  </a:cubicBezTo>
                  <a:cubicBezTo>
                    <a:pt x="1013333" y="258572"/>
                    <a:pt x="938657" y="333375"/>
                    <a:pt x="846709" y="333375"/>
                  </a:cubicBezTo>
                  <a:lnTo>
                    <a:pt x="166624" y="333375"/>
                  </a:lnTo>
                  <a:cubicBezTo>
                    <a:pt x="74676" y="333375"/>
                    <a:pt x="0" y="258699"/>
                    <a:pt x="0" y="166624"/>
                  </a:cubicBezTo>
                  <a:close/>
                </a:path>
              </a:pathLst>
            </a:custGeom>
            <a:solidFill>
              <a:srgbClr val="E3F4EC"/>
            </a:solidFill>
          </p:spPr>
        </p:sp>
        <p:sp>
          <p:nvSpPr>
            <p:cNvPr name="TextBox 152" id="152"/>
            <p:cNvSpPr txBox="true"/>
            <p:nvPr/>
          </p:nvSpPr>
          <p:spPr>
            <a:xfrm>
              <a:off x="0" y="-19050"/>
              <a:ext cx="1013333" cy="3523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39"/>
                </a:lnSpc>
              </a:pPr>
              <a:r>
                <a:rPr lang="en-US" sz="1200" b="true">
                  <a:solidFill>
                    <a:srgbClr val="1BA97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▲ 9%</a:t>
              </a:r>
            </a:p>
          </p:txBody>
        </p:sp>
      </p:grpSp>
      <p:sp>
        <p:nvSpPr>
          <p:cNvPr name="TextBox 153" id="153"/>
          <p:cNvSpPr txBox="true"/>
          <p:nvPr/>
        </p:nvSpPr>
        <p:spPr>
          <a:xfrm rot="0">
            <a:off x="12848996" y="8470478"/>
            <a:ext cx="1000001" cy="289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67"/>
              </a:lnSpc>
            </a:pPr>
            <a:r>
              <a:rPr lang="en-US" sz="1389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Jul</a:t>
            </a:r>
          </a:p>
        </p:txBody>
      </p:sp>
      <p:grpSp>
        <p:nvGrpSpPr>
          <p:cNvPr name="Group 154" id="154"/>
          <p:cNvGrpSpPr/>
          <p:nvPr/>
        </p:nvGrpSpPr>
        <p:grpSpPr>
          <a:xfrm rot="0">
            <a:off x="14733003" y="8149961"/>
            <a:ext cx="172002" cy="172002"/>
            <a:chOff x="0" y="0"/>
            <a:chExt cx="229337" cy="229337"/>
          </a:xfrm>
        </p:grpSpPr>
        <p:sp>
          <p:nvSpPr>
            <p:cNvPr name="Freeform 155" id="155"/>
            <p:cNvSpPr/>
            <p:nvPr/>
          </p:nvSpPr>
          <p:spPr>
            <a:xfrm flipH="false" flipV="false" rot="0">
              <a:off x="0" y="0"/>
              <a:ext cx="229362" cy="229362"/>
            </a:xfrm>
            <a:custGeom>
              <a:avLst/>
              <a:gdLst/>
              <a:ahLst/>
              <a:cxnLst/>
              <a:rect r="r" b="b" t="t" l="l"/>
              <a:pathLst>
                <a:path h="229362" w="229362">
                  <a:moveTo>
                    <a:pt x="0" y="114681"/>
                  </a:moveTo>
                  <a:cubicBezTo>
                    <a:pt x="0" y="51308"/>
                    <a:pt x="51308" y="0"/>
                    <a:pt x="114681" y="0"/>
                  </a:cubicBezTo>
                  <a:cubicBezTo>
                    <a:pt x="178054" y="0"/>
                    <a:pt x="229362" y="51308"/>
                    <a:pt x="229362" y="114681"/>
                  </a:cubicBezTo>
                  <a:cubicBezTo>
                    <a:pt x="229362" y="178054"/>
                    <a:pt x="178054" y="229362"/>
                    <a:pt x="114681" y="229362"/>
                  </a:cubicBezTo>
                  <a:cubicBezTo>
                    <a:pt x="51308" y="229362"/>
                    <a:pt x="0" y="178054"/>
                    <a:pt x="0" y="114681"/>
                  </a:cubicBezTo>
                  <a:close/>
                </a:path>
              </a:pathLst>
            </a:custGeom>
            <a:solidFill>
              <a:srgbClr val="1BA97C"/>
            </a:solidFill>
            <a:ln w="22000" cap="sq">
              <a:solidFill>
                <a:srgbClr val="1BA97C"/>
              </a:solidFill>
              <a:prstDash val="solid"/>
              <a:miter/>
            </a:ln>
          </p:spPr>
        </p:sp>
      </p:grpSp>
      <p:sp>
        <p:nvSpPr>
          <p:cNvPr name="TextBox 156" id="156"/>
          <p:cNvSpPr txBox="true"/>
          <p:nvPr/>
        </p:nvSpPr>
        <p:spPr>
          <a:xfrm rot="0">
            <a:off x="14119003" y="7875956"/>
            <a:ext cx="1400004" cy="299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36"/>
              </a:lnSpc>
            </a:pPr>
            <a:r>
              <a:rPr lang="en-US" sz="1530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$10,004</a:t>
            </a:r>
          </a:p>
        </p:txBody>
      </p:sp>
      <p:grpSp>
        <p:nvGrpSpPr>
          <p:cNvPr name="Group 157" id="157"/>
          <p:cNvGrpSpPr/>
          <p:nvPr/>
        </p:nvGrpSpPr>
        <p:grpSpPr>
          <a:xfrm rot="0">
            <a:off x="14439005" y="7555954"/>
            <a:ext cx="760000" cy="250003"/>
            <a:chOff x="0" y="0"/>
            <a:chExt cx="1013333" cy="333337"/>
          </a:xfrm>
        </p:grpSpPr>
        <p:sp>
          <p:nvSpPr>
            <p:cNvPr name="Freeform 158" id="158"/>
            <p:cNvSpPr/>
            <p:nvPr/>
          </p:nvSpPr>
          <p:spPr>
            <a:xfrm flipH="false" flipV="false" rot="0">
              <a:off x="0" y="0"/>
              <a:ext cx="1013333" cy="333375"/>
            </a:xfrm>
            <a:custGeom>
              <a:avLst/>
              <a:gdLst/>
              <a:ahLst/>
              <a:cxnLst/>
              <a:rect r="r" b="b" t="t" l="l"/>
              <a:pathLst>
                <a:path h="333375" w="1013333">
                  <a:moveTo>
                    <a:pt x="0" y="166624"/>
                  </a:moveTo>
                  <a:cubicBezTo>
                    <a:pt x="0" y="74676"/>
                    <a:pt x="74676" y="0"/>
                    <a:pt x="166624" y="0"/>
                  </a:cubicBezTo>
                  <a:lnTo>
                    <a:pt x="846709" y="0"/>
                  </a:lnTo>
                  <a:cubicBezTo>
                    <a:pt x="938784" y="0"/>
                    <a:pt x="1013333" y="74676"/>
                    <a:pt x="1013333" y="166624"/>
                  </a:cubicBezTo>
                  <a:cubicBezTo>
                    <a:pt x="1013333" y="258572"/>
                    <a:pt x="938657" y="333375"/>
                    <a:pt x="846709" y="333375"/>
                  </a:cubicBezTo>
                  <a:lnTo>
                    <a:pt x="166624" y="333375"/>
                  </a:lnTo>
                  <a:cubicBezTo>
                    <a:pt x="74676" y="333375"/>
                    <a:pt x="0" y="258699"/>
                    <a:pt x="0" y="166624"/>
                  </a:cubicBezTo>
                  <a:close/>
                </a:path>
              </a:pathLst>
            </a:custGeom>
            <a:solidFill>
              <a:srgbClr val="E3F4EC"/>
            </a:solidFill>
          </p:spPr>
        </p:sp>
        <p:sp>
          <p:nvSpPr>
            <p:cNvPr name="TextBox 159" id="159"/>
            <p:cNvSpPr txBox="true"/>
            <p:nvPr/>
          </p:nvSpPr>
          <p:spPr>
            <a:xfrm>
              <a:off x="0" y="-19050"/>
              <a:ext cx="1013333" cy="3523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39"/>
                </a:lnSpc>
              </a:pPr>
              <a:r>
                <a:rPr lang="en-US" sz="1200" b="true">
                  <a:solidFill>
                    <a:srgbClr val="1BA97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▲ 16%</a:t>
              </a:r>
            </a:p>
          </p:txBody>
        </p:sp>
      </p:grpSp>
      <p:sp>
        <p:nvSpPr>
          <p:cNvPr name="TextBox 160" id="160"/>
          <p:cNvSpPr txBox="true"/>
          <p:nvPr/>
        </p:nvSpPr>
        <p:spPr>
          <a:xfrm rot="0">
            <a:off x="14318999" y="8470478"/>
            <a:ext cx="1000001" cy="289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67"/>
              </a:lnSpc>
            </a:pPr>
            <a:r>
              <a:rPr lang="en-US" sz="1389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Aug</a:t>
            </a:r>
          </a:p>
        </p:txBody>
      </p:sp>
      <p:grpSp>
        <p:nvGrpSpPr>
          <p:cNvPr name="Group 161" id="161"/>
          <p:cNvGrpSpPr/>
          <p:nvPr/>
        </p:nvGrpSpPr>
        <p:grpSpPr>
          <a:xfrm rot="0">
            <a:off x="16202997" y="8136369"/>
            <a:ext cx="172002" cy="172002"/>
            <a:chOff x="0" y="0"/>
            <a:chExt cx="229337" cy="229337"/>
          </a:xfrm>
        </p:grpSpPr>
        <p:sp>
          <p:nvSpPr>
            <p:cNvPr name="Freeform 162" id="162"/>
            <p:cNvSpPr/>
            <p:nvPr/>
          </p:nvSpPr>
          <p:spPr>
            <a:xfrm flipH="false" flipV="false" rot="0">
              <a:off x="0" y="0"/>
              <a:ext cx="229362" cy="229362"/>
            </a:xfrm>
            <a:custGeom>
              <a:avLst/>
              <a:gdLst/>
              <a:ahLst/>
              <a:cxnLst/>
              <a:rect r="r" b="b" t="t" l="l"/>
              <a:pathLst>
                <a:path h="229362" w="229362">
                  <a:moveTo>
                    <a:pt x="0" y="114681"/>
                  </a:moveTo>
                  <a:cubicBezTo>
                    <a:pt x="0" y="51308"/>
                    <a:pt x="51308" y="0"/>
                    <a:pt x="114681" y="0"/>
                  </a:cubicBezTo>
                  <a:cubicBezTo>
                    <a:pt x="178054" y="0"/>
                    <a:pt x="229362" y="51308"/>
                    <a:pt x="229362" y="114681"/>
                  </a:cubicBezTo>
                  <a:cubicBezTo>
                    <a:pt x="229362" y="178054"/>
                    <a:pt x="178054" y="229362"/>
                    <a:pt x="114681" y="229362"/>
                  </a:cubicBezTo>
                  <a:cubicBezTo>
                    <a:pt x="51308" y="229362"/>
                    <a:pt x="0" y="178054"/>
                    <a:pt x="0" y="114681"/>
                  </a:cubicBezTo>
                  <a:close/>
                </a:path>
              </a:pathLst>
            </a:custGeom>
            <a:solidFill>
              <a:srgbClr val="1BA97C"/>
            </a:solidFill>
            <a:ln w="22000" cap="sq">
              <a:solidFill>
                <a:srgbClr val="1BA97C"/>
              </a:solidFill>
              <a:prstDash val="solid"/>
              <a:miter/>
            </a:ln>
          </p:spPr>
        </p:sp>
      </p:grpSp>
      <p:sp>
        <p:nvSpPr>
          <p:cNvPr name="TextBox 163" id="163"/>
          <p:cNvSpPr txBox="true"/>
          <p:nvPr/>
        </p:nvSpPr>
        <p:spPr>
          <a:xfrm rot="0">
            <a:off x="15588996" y="7862364"/>
            <a:ext cx="1400004" cy="299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36"/>
              </a:lnSpc>
            </a:pPr>
            <a:r>
              <a:rPr lang="en-US" b="true" sz="1530">
                <a:solidFill>
                  <a:srgbClr val="1BA97C"/>
                </a:solidFill>
                <a:latin typeface="Exo 2 Bold"/>
                <a:ea typeface="Exo 2 Bold"/>
                <a:cs typeface="Exo 2 Bold"/>
                <a:sym typeface="Exo 2 Bold"/>
              </a:rPr>
              <a:t>$12,206</a:t>
            </a:r>
          </a:p>
        </p:txBody>
      </p:sp>
      <p:grpSp>
        <p:nvGrpSpPr>
          <p:cNvPr name="Group 164" id="164"/>
          <p:cNvGrpSpPr/>
          <p:nvPr/>
        </p:nvGrpSpPr>
        <p:grpSpPr>
          <a:xfrm rot="0">
            <a:off x="15908998" y="7542362"/>
            <a:ext cx="760000" cy="250003"/>
            <a:chOff x="0" y="0"/>
            <a:chExt cx="1013333" cy="333337"/>
          </a:xfrm>
        </p:grpSpPr>
        <p:sp>
          <p:nvSpPr>
            <p:cNvPr name="Freeform 165" id="165"/>
            <p:cNvSpPr/>
            <p:nvPr/>
          </p:nvSpPr>
          <p:spPr>
            <a:xfrm flipH="false" flipV="false" rot="0">
              <a:off x="0" y="0"/>
              <a:ext cx="1013333" cy="333375"/>
            </a:xfrm>
            <a:custGeom>
              <a:avLst/>
              <a:gdLst/>
              <a:ahLst/>
              <a:cxnLst/>
              <a:rect r="r" b="b" t="t" l="l"/>
              <a:pathLst>
                <a:path h="333375" w="1013333">
                  <a:moveTo>
                    <a:pt x="0" y="166624"/>
                  </a:moveTo>
                  <a:cubicBezTo>
                    <a:pt x="0" y="74676"/>
                    <a:pt x="74676" y="0"/>
                    <a:pt x="166624" y="0"/>
                  </a:cubicBezTo>
                  <a:lnTo>
                    <a:pt x="846709" y="0"/>
                  </a:lnTo>
                  <a:cubicBezTo>
                    <a:pt x="938784" y="0"/>
                    <a:pt x="1013333" y="74676"/>
                    <a:pt x="1013333" y="166624"/>
                  </a:cubicBezTo>
                  <a:cubicBezTo>
                    <a:pt x="1013333" y="258572"/>
                    <a:pt x="938657" y="333375"/>
                    <a:pt x="846709" y="333375"/>
                  </a:cubicBezTo>
                  <a:lnTo>
                    <a:pt x="166624" y="333375"/>
                  </a:lnTo>
                  <a:cubicBezTo>
                    <a:pt x="74676" y="333375"/>
                    <a:pt x="0" y="258699"/>
                    <a:pt x="0" y="166624"/>
                  </a:cubicBezTo>
                  <a:close/>
                </a:path>
              </a:pathLst>
            </a:custGeom>
            <a:solidFill>
              <a:srgbClr val="E3F4EC"/>
            </a:solidFill>
          </p:spPr>
        </p:sp>
        <p:sp>
          <p:nvSpPr>
            <p:cNvPr name="TextBox 166" id="166"/>
            <p:cNvSpPr txBox="true"/>
            <p:nvPr/>
          </p:nvSpPr>
          <p:spPr>
            <a:xfrm>
              <a:off x="0" y="-19050"/>
              <a:ext cx="1013333" cy="3523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39"/>
                </a:lnSpc>
              </a:pPr>
              <a:r>
                <a:rPr lang="en-US" sz="1200" b="true">
                  <a:solidFill>
                    <a:srgbClr val="1BA97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▲ 22%</a:t>
              </a:r>
            </a:p>
          </p:txBody>
        </p:sp>
      </p:grpSp>
      <p:sp>
        <p:nvSpPr>
          <p:cNvPr name="TextBox 167" id="167"/>
          <p:cNvSpPr txBox="true"/>
          <p:nvPr/>
        </p:nvSpPr>
        <p:spPr>
          <a:xfrm rot="0">
            <a:off x="15789002" y="8470478"/>
            <a:ext cx="1000001" cy="289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67"/>
              </a:lnSpc>
            </a:pPr>
            <a:r>
              <a:rPr lang="en-US" sz="1389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Sep</a:t>
            </a:r>
          </a:p>
        </p:txBody>
      </p:sp>
      <p:sp>
        <p:nvSpPr>
          <p:cNvPr name="TextBox 168" id="168"/>
          <p:cNvSpPr txBox="true"/>
          <p:nvPr/>
        </p:nvSpPr>
        <p:spPr>
          <a:xfrm rot="0">
            <a:off x="9674000" y="8800948"/>
            <a:ext cx="7350004" cy="279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 b="true">
                <a:solidFill>
                  <a:srgbClr val="1BA97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▲ Month on month growth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DAHVcVmHYw4</dc:identifier>
  <dcterms:modified xsi:type="dcterms:W3CDTF">2011-08-01T06:04:30Z</dcterms:modified>
  <cp:revision>1</cp:revision>
  <dc:title>eMYAA Board of Directors Update - 17.09.2026</dc:title>
</cp:coreProperties>
</file>