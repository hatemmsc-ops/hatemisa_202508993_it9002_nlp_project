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75" r:id="rId35"/>
    <p:sldId id="276" r:id="rId36"/>
    <p:sldId id="277" r:id="rId37"/>
    <p:sldId id="260" r:id="rId6"/>
    <p:sldId id="261" r:id="rId7"/>
    <p:sldId id="279" r:id="rId39"/>
    <p:sldId id="280" r:id="rId40"/>
    <p:sldId id="263" r:id="rId9"/>
    <p:sldId id="264" r:id="rId10"/>
    <p:sldId id="265" r:id="rId11"/>
    <p:sldId id="266" r:id="rId12"/>
    <p:sldId id="267" r:id="rId13"/>
    <p:sldId id="268" r:id="rId14"/>
    <p:sldId id="278" r:id="rId38"/>
    <p:sldId id="269" r:id="rId15"/>
    <p:sldId id="270" r:id="rId16"/>
    <p:sldId id="271" r:id="rId17"/>
    <p:sldId id="272" r:id="rId18"/>
    <p:sldId id="273" r:id="rId19"/>
    <p:sldId id="274" r:id="rId20"/>
  </p:sldIdLst>
  <p:sldSz cx="18288000" cy="10287000"/>
  <p:notesSz cx="6858000" cy="9144000"/>
  <p:embeddedFontLst>
    <p:embeddedFont>
      <p:font typeface="Arimo Bold" panose="020B0704020202020204" pitchFamily="34" charset="0"/>
      <p:regular r:id="rId22"/>
      <p:bold r:id="rId23"/>
    </p:embeddedFont>
    <p:embeddedFont>
      <p:font typeface="Exo 2" pitchFamily="2" charset="77"/>
      <p:regular r:id="rId24"/>
    </p:embeddedFont>
    <p:embeddedFont>
      <p:font typeface="Exo 2 Bold" pitchFamily="2" charset="77"/>
      <p:regular r:id="rId25"/>
      <p:bold r:id="rId26"/>
    </p:embeddedFont>
    <p:embeddedFont>
      <p:font typeface="Exo 2 Bold Italics" pitchFamily="2" charset="77"/>
      <p:regular r:id="rId27"/>
      <p:bold r:id="rId28"/>
    </p:embeddedFont>
    <p:embeddedFont>
      <p:font typeface="Exo 2 Italics" pitchFamily="2" charset="77"/>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7" autoAdjust="0"/>
  </p:normalViewPr>
  <p:slideViewPr>
    <p:cSldViewPr>
      <p:cViewPr varScale="1">
        <p:scale>
          <a:sx n="76" d="100"/>
          <a:sy n="76" d="100"/>
        </p:scale>
        <p:origin x="7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IT Status Update to CEO, 01 Oct 2026, slide 2, with the review comments applied: Shufti credit shown as compensation; CRM and Reporting Dashboard added in the same format; target date column added. The Google Play item is the security update to the current app, not the Next App. The Shufti KYC flow is an internal demo and will not go live. The sanity test date for Next App v1 was left blank in the source, so it shows as to be confirmed. iGentech: 10,750 to 5,625 is -47.7%.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IT Status Update to CEO, 01 Oct 2026, slide 3. The source said testing starts when v1 arrives on 09 Oct but gives 08 Oct everywhere else; 08 Oct is used. Sanity test date not given in the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IT Status Update to CEO, 01 Oct 2026, slide 4. This is the security API update Google requires for the current Android app, not the Next App. 182 cases: 158 passed, 19 skipped, 4 N/A, 1 failed; 158 of 159 executed = 99.4%. Module rows add up to the totals. Chart drawn from shapes so it imports into Canva. Tester names removed, in line with the review comment on the Helpdesk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IT Status Update to CEO, 01 Oct 2026, slide 5. Names and IDs removed and slide moved to the appendix, as the review comments asked. Counts: 7 logged = 3 done + 1 in progress + 3 new.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figures to 1 Oct: 21 called, 72 emailed, 4 WhatsApp, 6 completed onboarding. Pending 21 - 6 = 15; conversion 6 / 21 = 28.6%. Client types from the Client Monthly Tracker, weeks 8 and 9 (20 Sep to 1 Oct): 17 not onboarded (Potential Customer) and 4 funding gap (Funded Gap Customer). The 6 who completed onboarding are among the 17, which leaves 11. The previous Canva version said 6 of 20 = 20% and 14 = 80%; the correct figures for 20 would have been 30% and 70%.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from the current Canva version of the Overview slide, plus the funding-gap point asked for in the review comments. Funding-gap notes from the tracker (week 8): one asked about fees, two will fund soon, one with no note. Next steps are proposals that follow the Client Interaction Journey in the appendix. Tracker check: weeks 8-9 have no owner, due date, next follow-up or funding value filled in, and 7 week-9 rows have no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4.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jpeg"/><Relationship Id="rId8" Type="http://schemas.openxmlformats.org/officeDocument/2006/relationships/image" Target="../media/image14.png"/><Relationship Id="rId9" Type="http://schemas.openxmlformats.org/officeDocument/2006/relationships/image" Target="../media/image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svg"/><Relationship Id="rId7" Type="http://schemas.openxmlformats.org/officeDocument/2006/relationships/image" Target="../media/image4.jpe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6.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 Id="rId5"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 Id="rId5"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 Id="rId5"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 Id="rId5"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 Id="rId5"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455364"/>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eMYAA Trading Platform</a:t>
            </a:r>
          </a:p>
        </p:txBody>
      </p:sp>
      <p:sp>
        <p:nvSpPr>
          <p:cNvPr id="5" name="TextBox 5"/>
          <p:cNvSpPr txBox="1"/>
          <p:nvPr/>
        </p:nvSpPr>
        <p:spPr>
          <a:xfrm>
            <a:off x="7005489" y="6305790"/>
            <a:ext cx="4277023" cy="1206288"/>
          </a:xfrm>
          <a:prstGeom prst="rect">
            <a:avLst/>
          </a:prstGeom>
        </p:spPr>
        <p:txBody>
          <a:bodyPr lIns="0" tIns="0" rIns="0" bIns="0" rtlCol="0" anchor="t">
            <a:spAutoFit/>
          </a:bodyPr>
          <a:lstStyle/>
          <a:p>
            <a:pPr algn="ctr">
              <a:lnSpc>
                <a:spcPts val="4828"/>
              </a:lnSpc>
            </a:pPr>
            <a:r>
              <a:rPr lang="en-US" sz="3376">
                <a:solidFill>
                  <a:srgbClr val="94A3B8"/>
                </a:solidFill>
                <a:latin typeface="Exo 2"/>
                <a:ea typeface="Exo 2"/>
                <a:cs typeface="Exo 2"/>
                <a:sym typeface="Exo 2"/>
              </a:rPr>
              <a:t>Performance Analysis</a:t>
            </a:r>
          </a:p>
          <a:p>
            <a:pPr algn="ctr">
              <a:lnSpc>
                <a:spcPts val="4828"/>
              </a:lnSpc>
            </a:pPr>
            <a:r>
              <a:rPr lang="en-US" sz="3376" i="1">
                <a:solidFill>
                  <a:srgbClr val="94A3B8"/>
                </a:solidFill>
                <a:latin typeface="Exo 2 Italics"/>
                <a:ea typeface="Exo 2 Italics"/>
                <a:cs typeface="Exo 2 Italics"/>
                <a:sym typeface="Exo 2 Italics"/>
              </a:rPr>
              <a:t> 1st of October, 2026</a:t>
            </a:r>
          </a:p>
        </p:txBody>
      </p:sp>
      <p:grpSp>
        <p:nvGrpSpPr>
          <p:cNvPr id="6" name="Group 6"/>
          <p:cNvGrpSpPr/>
          <p:nvPr/>
        </p:nvGrpSpPr>
        <p:grpSpPr>
          <a:xfrm>
            <a:off x="14630340" y="1028700"/>
            <a:ext cx="2628960" cy="757148"/>
            <a:chOff x="0" y="0"/>
            <a:chExt cx="6614516" cy="1905000"/>
          </a:xfrm>
        </p:grpSpPr>
        <p:sp>
          <p:nvSpPr>
            <p:cNvPr id="7" name="Freeform 7"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8" name="Freeform 8"/>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0535" y="648843"/>
            <a:ext cx="115062" cy="732282"/>
            <a:chOff x="0" y="0"/>
            <a:chExt cx="153416" cy="976376"/>
          </a:xfrm>
        </p:grpSpPr>
        <p:sp>
          <p:nvSpPr>
            <p:cNvPr id="3" name="Freeform 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5" name="Group 5"/>
          <p:cNvGrpSpPr/>
          <p:nvPr/>
        </p:nvGrpSpPr>
        <p:grpSpPr>
          <a:xfrm>
            <a:off x="755850" y="564284"/>
            <a:ext cx="13164593" cy="928831"/>
            <a:chOff x="0" y="0"/>
            <a:chExt cx="17552791" cy="1238442"/>
          </a:xfrm>
        </p:grpSpPr>
        <p:sp>
          <p:nvSpPr>
            <p:cNvPr id="6" name="Freeform 6"/>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3">
                <a:alphaModFix amt="0"/>
              </a:blip>
              <a:stretch>
                <a:fillRect t="-220566" r="6230" b="-197355"/>
              </a:stretch>
            </a:blipFill>
          </p:spPr>
          <p:txBody>
            <a:bodyPr/>
            <a:lstStyle/>
            <a:p>
              <a:endParaRPr lang="en-US"/>
            </a:p>
          </p:txBody>
        </p:sp>
        <p:sp>
          <p:nvSpPr>
            <p:cNvPr id="7" name="TextBox 7"/>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a:ea typeface="Exo 2"/>
                  <a:cs typeface="Exo 2"/>
                  <a:sym typeface="Exo 2"/>
                </a:rPr>
                <a:t>Performance Update</a:t>
              </a:r>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486251" y="1800446"/>
            <a:ext cx="3996690" cy="1802130"/>
            <a:chOff x="0" y="0"/>
            <a:chExt cx="5328920" cy="2402840"/>
          </a:xfrm>
        </p:grpSpPr>
        <p:sp>
          <p:nvSpPr>
            <p:cNvPr id="11" name="Freeform 1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2" name="Freeform 1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13" name="Group 13"/>
          <p:cNvGrpSpPr/>
          <p:nvPr/>
        </p:nvGrpSpPr>
        <p:grpSpPr>
          <a:xfrm>
            <a:off x="632936" y="1800446"/>
            <a:ext cx="3703320" cy="903821"/>
            <a:chOff x="0" y="0"/>
            <a:chExt cx="4937760" cy="1205094"/>
          </a:xfrm>
        </p:grpSpPr>
        <p:sp>
          <p:nvSpPr>
            <p:cNvPr id="14" name="Freeform 1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5" name="TextBox 1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490</a:t>
              </a:r>
            </a:p>
          </p:txBody>
        </p:sp>
      </p:grpSp>
      <p:grpSp>
        <p:nvGrpSpPr>
          <p:cNvPr id="16" name="Group 16"/>
          <p:cNvGrpSpPr/>
          <p:nvPr/>
        </p:nvGrpSpPr>
        <p:grpSpPr>
          <a:xfrm>
            <a:off x="632936" y="2608727"/>
            <a:ext cx="3703320" cy="499263"/>
            <a:chOff x="0" y="0"/>
            <a:chExt cx="4937760" cy="665684"/>
          </a:xfrm>
        </p:grpSpPr>
        <p:sp>
          <p:nvSpPr>
            <p:cNvPr id="17" name="Freeform 1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8" name="TextBox 1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Downloads</a:t>
              </a:r>
            </a:p>
          </p:txBody>
        </p:sp>
      </p:grpSp>
      <p:grpSp>
        <p:nvGrpSpPr>
          <p:cNvPr id="19" name="Group 19"/>
          <p:cNvGrpSpPr/>
          <p:nvPr/>
        </p:nvGrpSpPr>
        <p:grpSpPr>
          <a:xfrm>
            <a:off x="4875371" y="1800446"/>
            <a:ext cx="3996690" cy="1802130"/>
            <a:chOff x="0" y="0"/>
            <a:chExt cx="5328920" cy="2402840"/>
          </a:xfrm>
        </p:grpSpPr>
        <p:sp>
          <p:nvSpPr>
            <p:cNvPr id="20" name="Freeform 2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1" name="Freeform 2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22" name="Group 22"/>
          <p:cNvGrpSpPr/>
          <p:nvPr/>
        </p:nvGrpSpPr>
        <p:grpSpPr>
          <a:xfrm>
            <a:off x="5022056" y="1800446"/>
            <a:ext cx="3703320" cy="903821"/>
            <a:chOff x="0" y="0"/>
            <a:chExt cx="4937760" cy="1205094"/>
          </a:xfrm>
        </p:grpSpPr>
        <p:sp>
          <p:nvSpPr>
            <p:cNvPr id="23" name="Freeform 23"/>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24" name="TextBox 24"/>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61</a:t>
              </a:r>
            </a:p>
          </p:txBody>
        </p:sp>
      </p:grpSp>
      <p:grpSp>
        <p:nvGrpSpPr>
          <p:cNvPr id="25" name="Group 25"/>
          <p:cNvGrpSpPr/>
          <p:nvPr/>
        </p:nvGrpSpPr>
        <p:grpSpPr>
          <a:xfrm>
            <a:off x="5022056" y="2608727"/>
            <a:ext cx="3703320" cy="499263"/>
            <a:chOff x="0" y="0"/>
            <a:chExt cx="4937760" cy="665684"/>
          </a:xfrm>
        </p:grpSpPr>
        <p:sp>
          <p:nvSpPr>
            <p:cNvPr id="26" name="Freeform 26"/>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27" name="TextBox 27"/>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Users Onboarded</a:t>
              </a:r>
            </a:p>
          </p:txBody>
        </p:sp>
      </p:grpSp>
      <p:grpSp>
        <p:nvGrpSpPr>
          <p:cNvPr id="28" name="Group 28"/>
          <p:cNvGrpSpPr/>
          <p:nvPr/>
        </p:nvGrpSpPr>
        <p:grpSpPr>
          <a:xfrm>
            <a:off x="9264491" y="1800446"/>
            <a:ext cx="3996690" cy="1802130"/>
            <a:chOff x="0" y="0"/>
            <a:chExt cx="5328920" cy="2402840"/>
          </a:xfrm>
        </p:grpSpPr>
        <p:sp>
          <p:nvSpPr>
            <p:cNvPr id="29" name="Freeform 29"/>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0" name="Freeform 30"/>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31" name="Group 31"/>
          <p:cNvGrpSpPr/>
          <p:nvPr/>
        </p:nvGrpSpPr>
        <p:grpSpPr>
          <a:xfrm>
            <a:off x="9411176" y="1800446"/>
            <a:ext cx="3703320" cy="903821"/>
            <a:chOff x="0" y="0"/>
            <a:chExt cx="4937760" cy="1205094"/>
          </a:xfrm>
        </p:grpSpPr>
        <p:sp>
          <p:nvSpPr>
            <p:cNvPr id="32" name="Freeform 32"/>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33" name="TextBox 33"/>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70</a:t>
              </a:r>
            </a:p>
          </p:txBody>
        </p:sp>
      </p:grpSp>
      <p:grpSp>
        <p:nvGrpSpPr>
          <p:cNvPr id="34" name="Group 34"/>
          <p:cNvGrpSpPr/>
          <p:nvPr/>
        </p:nvGrpSpPr>
        <p:grpSpPr>
          <a:xfrm>
            <a:off x="9411176" y="2608727"/>
            <a:ext cx="3703320" cy="499263"/>
            <a:chOff x="0" y="0"/>
            <a:chExt cx="4937760" cy="665684"/>
          </a:xfrm>
        </p:grpSpPr>
        <p:sp>
          <p:nvSpPr>
            <p:cNvPr id="35" name="Freeform 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36" name="TextBox 36"/>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id="37" name="Group 37"/>
          <p:cNvGrpSpPr/>
          <p:nvPr/>
        </p:nvGrpSpPr>
        <p:grpSpPr>
          <a:xfrm>
            <a:off x="13653611" y="1800446"/>
            <a:ext cx="3996690" cy="1802130"/>
            <a:chOff x="0" y="0"/>
            <a:chExt cx="5328920" cy="2402840"/>
          </a:xfrm>
        </p:grpSpPr>
        <p:sp>
          <p:nvSpPr>
            <p:cNvPr id="38" name="Freeform 38"/>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9" name="Freeform 39"/>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0" name="Group 40"/>
          <p:cNvGrpSpPr/>
          <p:nvPr/>
        </p:nvGrpSpPr>
        <p:grpSpPr>
          <a:xfrm>
            <a:off x="470535" y="3927929"/>
            <a:ext cx="3996690" cy="1802130"/>
            <a:chOff x="0" y="0"/>
            <a:chExt cx="5328920" cy="2402840"/>
          </a:xfrm>
        </p:grpSpPr>
        <p:sp>
          <p:nvSpPr>
            <p:cNvPr id="41" name="Freeform 4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2" name="Freeform 4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3" name="Group 43"/>
          <p:cNvGrpSpPr/>
          <p:nvPr/>
        </p:nvGrpSpPr>
        <p:grpSpPr>
          <a:xfrm>
            <a:off x="617220" y="3927929"/>
            <a:ext cx="3703320" cy="903821"/>
            <a:chOff x="0" y="0"/>
            <a:chExt cx="4937760" cy="1205094"/>
          </a:xfrm>
        </p:grpSpPr>
        <p:sp>
          <p:nvSpPr>
            <p:cNvPr id="44" name="Freeform 4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45" name="TextBox 4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$12,206.00</a:t>
              </a:r>
            </a:p>
          </p:txBody>
        </p:sp>
      </p:grpSp>
      <p:grpSp>
        <p:nvGrpSpPr>
          <p:cNvPr id="46" name="Group 46"/>
          <p:cNvGrpSpPr/>
          <p:nvPr/>
        </p:nvGrpSpPr>
        <p:grpSpPr>
          <a:xfrm>
            <a:off x="617220" y="4740221"/>
            <a:ext cx="3703320" cy="499263"/>
            <a:chOff x="0" y="0"/>
            <a:chExt cx="4937760" cy="665684"/>
          </a:xfrm>
        </p:grpSpPr>
        <p:sp>
          <p:nvSpPr>
            <p:cNvPr id="47" name="Freeform 4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48" name="TextBox 4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Deposits</a:t>
              </a:r>
            </a:p>
          </p:txBody>
        </p:sp>
      </p:grpSp>
      <p:grpSp>
        <p:nvGrpSpPr>
          <p:cNvPr id="49" name="Group 49"/>
          <p:cNvGrpSpPr/>
          <p:nvPr/>
        </p:nvGrpSpPr>
        <p:grpSpPr>
          <a:xfrm>
            <a:off x="4859655" y="3927929"/>
            <a:ext cx="3996690" cy="1802130"/>
            <a:chOff x="0" y="0"/>
            <a:chExt cx="5328920" cy="2402840"/>
          </a:xfrm>
        </p:grpSpPr>
        <p:sp>
          <p:nvSpPr>
            <p:cNvPr id="50" name="Freeform 5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Freeform 5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2" name="Group 52"/>
          <p:cNvGrpSpPr/>
          <p:nvPr/>
        </p:nvGrpSpPr>
        <p:grpSpPr>
          <a:xfrm>
            <a:off x="9248775" y="3927929"/>
            <a:ext cx="3996690" cy="1802130"/>
            <a:chOff x="0" y="0"/>
            <a:chExt cx="5328920" cy="2402840"/>
          </a:xfrm>
        </p:grpSpPr>
        <p:sp>
          <p:nvSpPr>
            <p:cNvPr id="53" name="Freeform 53"/>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4" name="Freeform 54"/>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5" name="Group 55"/>
          <p:cNvGrpSpPr/>
          <p:nvPr/>
        </p:nvGrpSpPr>
        <p:grpSpPr>
          <a:xfrm>
            <a:off x="13637895" y="3927929"/>
            <a:ext cx="3996690" cy="1802130"/>
            <a:chOff x="0" y="0"/>
            <a:chExt cx="5328920" cy="2402840"/>
          </a:xfrm>
        </p:grpSpPr>
        <p:sp>
          <p:nvSpPr>
            <p:cNvPr id="56" name="Freeform 56"/>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7" name="Freeform 57"/>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8" name="Group 58"/>
          <p:cNvGrpSpPr/>
          <p:nvPr/>
        </p:nvGrpSpPr>
        <p:grpSpPr>
          <a:xfrm>
            <a:off x="470535" y="7643641"/>
            <a:ext cx="16605885" cy="775760"/>
            <a:chOff x="0" y="0"/>
            <a:chExt cx="22141180" cy="1034346"/>
          </a:xfrm>
        </p:grpSpPr>
        <p:grpSp>
          <p:nvGrpSpPr>
            <p:cNvPr id="59" name="Group 59"/>
            <p:cNvGrpSpPr/>
            <p:nvPr/>
          </p:nvGrpSpPr>
          <p:grpSpPr>
            <a:xfrm>
              <a:off x="524764" y="0"/>
              <a:ext cx="21616416" cy="1034346"/>
              <a:chOff x="0" y="0"/>
              <a:chExt cx="21616416" cy="1034346"/>
            </a:xfrm>
          </p:grpSpPr>
          <p:sp>
            <p:nvSpPr>
              <p:cNvPr id="60" name="Freeform 60"/>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1" name="TextBox 61"/>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a:ea typeface="Exo 2"/>
                    <a:cs typeface="Exo 2"/>
                    <a:sym typeface="Exo 2"/>
                  </a:rPr>
                  <a:t>Marketing: paid media testing, campaigns live
</a:t>
                </a:r>
                <a:r>
                  <a:rPr lang="en-US" sz="2149" dirty="0">
                    <a:solidFill>
                      <a:srgbClr val="5A6A85"/>
                    </a:solidFill>
                    <a:latin typeface="Exo 2"/>
                    <a:ea typeface="Exo 2"/>
                    <a:cs typeface="Exo 2"/>
                    <a:sym typeface="Exo 2"/>
                  </a:rPr>
                  <a:t>Google Ads brought 70% of Sep site traffic; Mention &amp; Win and $5,000 campaigns live; Manal Talal video in October.</a:t>
                </a:r>
              </a:p>
              <a:p>
                <a:pPr algn="l">
                  <a:lnSpc>
                    <a:spcPts val="2579"/>
                  </a:lnSpc>
                </a:pPr>
                <a:endParaRPr lang="en-US" sz="2149" b="1" dirty="0">
                  <a:solidFill>
                    <a:srgbClr val="5A6A85"/>
                  </a:solidFill>
                  <a:latin typeface="Exo 2"/>
                  <a:ea typeface="Exo 2"/>
                  <a:cs typeface="Exo 2"/>
                  <a:sym typeface="Exo 2"/>
                </a:endParaRPr>
              </a:p>
            </p:txBody>
          </p:sp>
        </p:grpSp>
        <p:grpSp>
          <p:nvGrpSpPr>
            <p:cNvPr id="62" name="Group 62"/>
            <p:cNvGrpSpPr/>
            <p:nvPr/>
          </p:nvGrpSpPr>
          <p:grpSpPr>
            <a:xfrm>
              <a:off x="0" y="164453"/>
              <a:ext cx="370790" cy="324441"/>
              <a:chOff x="0" y="0"/>
              <a:chExt cx="812800" cy="711200"/>
            </a:xfrm>
          </p:grpSpPr>
          <p:sp>
            <p:nvSpPr>
              <p:cNvPr id="63" name="Freeform 6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4" name="TextBox 64"/>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65" name="Group 65"/>
          <p:cNvGrpSpPr/>
          <p:nvPr/>
        </p:nvGrpSpPr>
        <p:grpSpPr>
          <a:xfrm>
            <a:off x="470535" y="6626711"/>
            <a:ext cx="16605885" cy="775760"/>
            <a:chOff x="0" y="0"/>
            <a:chExt cx="22141180" cy="1034346"/>
          </a:xfrm>
        </p:grpSpPr>
        <p:grpSp>
          <p:nvGrpSpPr>
            <p:cNvPr id="66" name="Group 66"/>
            <p:cNvGrpSpPr/>
            <p:nvPr/>
          </p:nvGrpSpPr>
          <p:grpSpPr>
            <a:xfrm>
              <a:off x="524764" y="0"/>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a:ea typeface="Exo 2"/>
                    <a:cs typeface="Exo 2"/>
                    <a:sym typeface="Exo 2"/>
                  </a:rPr>
                  <a:t>Platform: downloads up, onboarding lagging
</a:t>
                </a:r>
                <a:r>
                  <a:rPr lang="en-US" sz="2149" dirty="0">
                    <a:solidFill>
                      <a:srgbClr val="5A6A85"/>
                    </a:solidFill>
                    <a:latin typeface="Exo 2"/>
                    <a:ea typeface="Exo 2"/>
                    <a:cs typeface="Exo 2"/>
                    <a:sym typeface="Exo 2"/>
                  </a:rPr>
                  <a:t>490 downloads (+18.4%), 61 clients (+19.6%); only 4 of 53 downloads since 22 Sep onboarded, 70 KYC incomplete.</a:t>
                </a:r>
              </a:p>
              <a:p>
                <a:pPr algn="l">
                  <a:lnSpc>
                    <a:spcPts val="2579"/>
                  </a:lnSpc>
                </a:pPr>
                <a:endParaRPr lang="en-US" sz="2149" b="1" dirty="0">
                  <a:solidFill>
                    <a:srgbClr val="5A6A85"/>
                  </a:solidFill>
                  <a:latin typeface="Exo 2 Bold"/>
                  <a:ea typeface="Exo 2 Bold"/>
                  <a:cs typeface="Exo 2 Bold"/>
                  <a:sym typeface="Exo 2 Bold"/>
                </a:endParaRPr>
              </a:p>
            </p:txBody>
          </p:sp>
        </p:grpSp>
        <p:grpSp>
          <p:nvGrpSpPr>
            <p:cNvPr id="69" name="Group 69"/>
            <p:cNvGrpSpPr/>
            <p:nvPr/>
          </p:nvGrpSpPr>
          <p:grpSpPr>
            <a:xfrm>
              <a:off x="0" y="164453"/>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72" name="Group 72"/>
          <p:cNvGrpSpPr/>
          <p:nvPr/>
        </p:nvGrpSpPr>
        <p:grpSpPr>
          <a:xfrm>
            <a:off x="797528" y="3108017"/>
            <a:ext cx="3374136" cy="438912"/>
            <a:chOff x="0" y="0"/>
            <a:chExt cx="4498848" cy="585216"/>
          </a:xfrm>
        </p:grpSpPr>
        <p:grpSp>
          <p:nvGrpSpPr>
            <p:cNvPr id="73" name="Group 73"/>
            <p:cNvGrpSpPr/>
            <p:nvPr/>
          </p:nvGrpSpPr>
          <p:grpSpPr>
            <a:xfrm>
              <a:off x="0" y="0"/>
              <a:ext cx="2578608" cy="585216"/>
              <a:chOff x="0" y="0"/>
              <a:chExt cx="2578608" cy="585216"/>
            </a:xfrm>
          </p:grpSpPr>
          <p:sp>
            <p:nvSpPr>
              <p:cNvPr id="74" name="Freeform 74"/>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75" name="TextBox 75"/>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414</a:t>
                </a:r>
              </a:p>
            </p:txBody>
          </p:sp>
        </p:grpSp>
        <p:grpSp>
          <p:nvGrpSpPr>
            <p:cNvPr id="76" name="Group 76"/>
            <p:cNvGrpSpPr/>
            <p:nvPr/>
          </p:nvGrpSpPr>
          <p:grpSpPr>
            <a:xfrm>
              <a:off x="2043138" y="0"/>
              <a:ext cx="2455710" cy="585216"/>
              <a:chOff x="0" y="0"/>
              <a:chExt cx="2455710" cy="585216"/>
            </a:xfrm>
          </p:grpSpPr>
          <p:sp>
            <p:nvSpPr>
              <p:cNvPr id="77" name="Freeform 77"/>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78" name="TextBox 78"/>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+18.4%</a:t>
                </a:r>
              </a:p>
            </p:txBody>
          </p:sp>
        </p:grpSp>
      </p:grpSp>
      <p:grpSp>
        <p:nvGrpSpPr>
          <p:cNvPr id="79" name="Group 79"/>
          <p:cNvGrpSpPr/>
          <p:nvPr/>
        </p:nvGrpSpPr>
        <p:grpSpPr>
          <a:xfrm>
            <a:off x="781812" y="5243522"/>
            <a:ext cx="3374136" cy="438912"/>
            <a:chOff x="0" y="0"/>
            <a:chExt cx="4498848" cy="585216"/>
          </a:xfrm>
        </p:grpSpPr>
        <p:grpSp>
          <p:nvGrpSpPr>
            <p:cNvPr id="80" name="Group 80"/>
            <p:cNvGrpSpPr/>
            <p:nvPr/>
          </p:nvGrpSpPr>
          <p:grpSpPr>
            <a:xfrm>
              <a:off x="0" y="0"/>
              <a:ext cx="2578608" cy="585216"/>
              <a:chOff x="0" y="0"/>
              <a:chExt cx="2578608" cy="585216"/>
            </a:xfrm>
          </p:grpSpPr>
          <p:sp>
            <p:nvSpPr>
              <p:cNvPr id="81" name="Freeform 8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2" name="TextBox 8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$10,195.88</a:t>
                </a:r>
              </a:p>
            </p:txBody>
          </p:sp>
        </p:grpSp>
        <p:grpSp>
          <p:nvGrpSpPr>
            <p:cNvPr id="83" name="Group 83"/>
            <p:cNvGrpSpPr/>
            <p:nvPr/>
          </p:nvGrpSpPr>
          <p:grpSpPr>
            <a:xfrm>
              <a:off x="2043138" y="0"/>
              <a:ext cx="2455710" cy="585216"/>
              <a:chOff x="0" y="0"/>
              <a:chExt cx="2455710" cy="585216"/>
            </a:xfrm>
          </p:grpSpPr>
          <p:sp>
            <p:nvSpPr>
              <p:cNvPr id="84" name="Freeform 8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85" name="TextBox 8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+19.7%</a:t>
                </a:r>
              </a:p>
            </p:txBody>
          </p:sp>
        </p:grpSp>
      </p:grpSp>
      <p:grpSp>
        <p:nvGrpSpPr>
          <p:cNvPr id="86" name="Group 86"/>
          <p:cNvGrpSpPr/>
          <p:nvPr/>
        </p:nvGrpSpPr>
        <p:grpSpPr>
          <a:xfrm>
            <a:off x="5186648" y="3108017"/>
            <a:ext cx="3374136" cy="438912"/>
            <a:chOff x="0" y="0"/>
            <a:chExt cx="4498848" cy="585216"/>
          </a:xfrm>
        </p:grpSpPr>
        <p:grpSp>
          <p:nvGrpSpPr>
            <p:cNvPr id="87" name="Group 87"/>
            <p:cNvGrpSpPr/>
            <p:nvPr/>
          </p:nvGrpSpPr>
          <p:grpSpPr>
            <a:xfrm>
              <a:off x="0" y="0"/>
              <a:ext cx="2578608" cy="585216"/>
              <a:chOff x="0" y="0"/>
              <a:chExt cx="2578608" cy="585216"/>
            </a:xfrm>
          </p:grpSpPr>
          <p:sp>
            <p:nvSpPr>
              <p:cNvPr id="88" name="Freeform 88"/>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9" name="TextBox 89"/>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51</a:t>
                </a:r>
              </a:p>
            </p:txBody>
          </p:sp>
        </p:grpSp>
        <p:grpSp>
          <p:nvGrpSpPr>
            <p:cNvPr id="90" name="Group 90"/>
            <p:cNvGrpSpPr/>
            <p:nvPr/>
          </p:nvGrpSpPr>
          <p:grpSpPr>
            <a:xfrm>
              <a:off x="2043138" y="0"/>
              <a:ext cx="2455710" cy="585216"/>
              <a:chOff x="0" y="0"/>
              <a:chExt cx="2455710" cy="585216"/>
            </a:xfrm>
          </p:grpSpPr>
          <p:sp>
            <p:nvSpPr>
              <p:cNvPr id="91" name="Freeform 91"/>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92" name="TextBox 92"/>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+19.6%</a:t>
                </a:r>
              </a:p>
            </p:txBody>
          </p:sp>
        </p:grpSp>
      </p:grpSp>
      <p:grpSp>
        <p:nvGrpSpPr>
          <p:cNvPr id="93" name="Group 93"/>
          <p:cNvGrpSpPr/>
          <p:nvPr/>
        </p:nvGrpSpPr>
        <p:grpSpPr>
          <a:xfrm>
            <a:off x="13800296" y="3927929"/>
            <a:ext cx="3703320" cy="903821"/>
            <a:chOff x="0" y="0"/>
            <a:chExt cx="4937760" cy="1205094"/>
          </a:xfrm>
        </p:grpSpPr>
        <p:sp>
          <p:nvSpPr>
            <p:cNvPr id="94" name="Freeform 9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95" name="TextBox 9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55</a:t>
              </a:r>
            </a:p>
          </p:txBody>
        </p:sp>
      </p:grpSp>
      <p:grpSp>
        <p:nvGrpSpPr>
          <p:cNvPr id="96" name="Group 96"/>
          <p:cNvGrpSpPr/>
          <p:nvPr/>
        </p:nvGrpSpPr>
        <p:grpSpPr>
          <a:xfrm>
            <a:off x="13800296" y="4740221"/>
            <a:ext cx="3703320" cy="499263"/>
            <a:chOff x="0" y="0"/>
            <a:chExt cx="4937760" cy="665684"/>
          </a:xfrm>
        </p:grpSpPr>
        <p:sp>
          <p:nvSpPr>
            <p:cNvPr id="97" name="Freeform 9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98" name="TextBox 9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Trades</a:t>
              </a:r>
            </a:p>
          </p:txBody>
        </p:sp>
      </p:grpSp>
      <p:grpSp>
        <p:nvGrpSpPr>
          <p:cNvPr id="99" name="Group 99"/>
          <p:cNvGrpSpPr/>
          <p:nvPr/>
        </p:nvGrpSpPr>
        <p:grpSpPr>
          <a:xfrm>
            <a:off x="13964888" y="5243522"/>
            <a:ext cx="3374136" cy="438912"/>
            <a:chOff x="0" y="0"/>
            <a:chExt cx="4498848" cy="585216"/>
          </a:xfrm>
        </p:grpSpPr>
        <p:grpSp>
          <p:nvGrpSpPr>
            <p:cNvPr id="100" name="Group 100"/>
            <p:cNvGrpSpPr/>
            <p:nvPr/>
          </p:nvGrpSpPr>
          <p:grpSpPr>
            <a:xfrm>
              <a:off x="0" y="0"/>
              <a:ext cx="2578608" cy="585216"/>
              <a:chOff x="0" y="0"/>
              <a:chExt cx="2578608" cy="585216"/>
            </a:xfrm>
          </p:grpSpPr>
          <p:sp>
            <p:nvSpPr>
              <p:cNvPr id="101" name="Freeform 10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02" name="TextBox 10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47</a:t>
                </a:r>
              </a:p>
            </p:txBody>
          </p:sp>
        </p:grpSp>
        <p:grpSp>
          <p:nvGrpSpPr>
            <p:cNvPr id="103" name="Group 103"/>
            <p:cNvGrpSpPr/>
            <p:nvPr/>
          </p:nvGrpSpPr>
          <p:grpSpPr>
            <a:xfrm>
              <a:off x="2043138" y="0"/>
              <a:ext cx="2455710" cy="585216"/>
              <a:chOff x="0" y="0"/>
              <a:chExt cx="2455710" cy="585216"/>
            </a:xfrm>
          </p:grpSpPr>
          <p:sp>
            <p:nvSpPr>
              <p:cNvPr id="104" name="Freeform 10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05" name="TextBox 10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+17.0%</a:t>
                </a:r>
              </a:p>
            </p:txBody>
          </p:sp>
        </p:grpSp>
      </p:grpSp>
      <p:grpSp>
        <p:nvGrpSpPr>
          <p:cNvPr id="106" name="Group 106"/>
          <p:cNvGrpSpPr/>
          <p:nvPr/>
        </p:nvGrpSpPr>
        <p:grpSpPr>
          <a:xfrm>
            <a:off x="5022056" y="3951742"/>
            <a:ext cx="3703320" cy="903821"/>
            <a:chOff x="0" y="0"/>
            <a:chExt cx="4937760" cy="1205094"/>
          </a:xfrm>
        </p:grpSpPr>
        <p:sp>
          <p:nvSpPr>
            <p:cNvPr id="107" name="Freeform 107"/>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08" name="TextBox 108"/>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$1,666.19</a:t>
              </a:r>
            </a:p>
          </p:txBody>
        </p:sp>
      </p:grpSp>
      <p:grpSp>
        <p:nvGrpSpPr>
          <p:cNvPr id="109" name="Group 109"/>
          <p:cNvGrpSpPr/>
          <p:nvPr/>
        </p:nvGrpSpPr>
        <p:grpSpPr>
          <a:xfrm>
            <a:off x="5022056" y="4764034"/>
            <a:ext cx="3703320" cy="499263"/>
            <a:chOff x="0" y="0"/>
            <a:chExt cx="4937760" cy="665684"/>
          </a:xfrm>
        </p:grpSpPr>
        <p:sp>
          <p:nvSpPr>
            <p:cNvPr id="110" name="Freeform 110"/>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11" name="TextBox 111"/>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id="112" name="Group 112"/>
          <p:cNvGrpSpPr/>
          <p:nvPr/>
        </p:nvGrpSpPr>
        <p:grpSpPr>
          <a:xfrm>
            <a:off x="5186648" y="5267335"/>
            <a:ext cx="1933956" cy="438912"/>
            <a:chOff x="0" y="0"/>
            <a:chExt cx="2578608" cy="585216"/>
          </a:xfrm>
        </p:grpSpPr>
        <p:sp>
          <p:nvSpPr>
            <p:cNvPr id="113" name="Freeform 113"/>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14" name="TextBox 114"/>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$1,666.19</a:t>
              </a:r>
            </a:p>
          </p:txBody>
        </p:sp>
      </p:grpSp>
      <p:grpSp>
        <p:nvGrpSpPr>
          <p:cNvPr id="115" name="Group 115"/>
          <p:cNvGrpSpPr/>
          <p:nvPr/>
        </p:nvGrpSpPr>
        <p:grpSpPr>
          <a:xfrm>
            <a:off x="9411176" y="3937434"/>
            <a:ext cx="3703320" cy="903821"/>
            <a:chOff x="0" y="0"/>
            <a:chExt cx="4937760" cy="1205094"/>
          </a:xfrm>
        </p:grpSpPr>
        <p:sp>
          <p:nvSpPr>
            <p:cNvPr id="116" name="Freeform 116"/>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17" name="TextBox 117"/>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$10,539.81</a:t>
              </a:r>
            </a:p>
          </p:txBody>
        </p:sp>
      </p:grpSp>
      <p:grpSp>
        <p:nvGrpSpPr>
          <p:cNvPr id="118" name="Group 118"/>
          <p:cNvGrpSpPr/>
          <p:nvPr/>
        </p:nvGrpSpPr>
        <p:grpSpPr>
          <a:xfrm>
            <a:off x="9411176" y="4749726"/>
            <a:ext cx="3703320" cy="499263"/>
            <a:chOff x="0" y="0"/>
            <a:chExt cx="4937760" cy="665684"/>
          </a:xfrm>
        </p:grpSpPr>
        <p:sp>
          <p:nvSpPr>
            <p:cNvPr id="119" name="Freeform 119"/>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20" name="TextBox 120"/>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Current AUM</a:t>
              </a:r>
            </a:p>
          </p:txBody>
        </p:sp>
      </p:grpSp>
      <p:grpSp>
        <p:nvGrpSpPr>
          <p:cNvPr id="121" name="Group 121"/>
          <p:cNvGrpSpPr/>
          <p:nvPr/>
        </p:nvGrpSpPr>
        <p:grpSpPr>
          <a:xfrm>
            <a:off x="9575768" y="5253027"/>
            <a:ext cx="1933956" cy="438912"/>
            <a:chOff x="0" y="0"/>
            <a:chExt cx="2578608" cy="585216"/>
          </a:xfrm>
        </p:grpSpPr>
        <p:sp>
          <p:nvSpPr>
            <p:cNvPr id="122" name="Freeform 122"/>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23" name="TextBox 123"/>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$8,529.69</a:t>
              </a:r>
            </a:p>
          </p:txBody>
        </p:sp>
      </p:grpSp>
      <p:grpSp>
        <p:nvGrpSpPr>
          <p:cNvPr id="124" name="Group 124"/>
          <p:cNvGrpSpPr/>
          <p:nvPr/>
        </p:nvGrpSpPr>
        <p:grpSpPr>
          <a:xfrm>
            <a:off x="11108122" y="5253027"/>
            <a:ext cx="1841783" cy="438912"/>
            <a:chOff x="0" y="0"/>
            <a:chExt cx="2455710" cy="585216"/>
          </a:xfrm>
        </p:grpSpPr>
        <p:sp>
          <p:nvSpPr>
            <p:cNvPr id="125" name="Freeform 125"/>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26" name="TextBox 126"/>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+23.6%</a:t>
              </a:r>
            </a:p>
          </p:txBody>
        </p:sp>
      </p:grpSp>
      <p:sp>
        <p:nvSpPr>
          <p:cNvPr id="127" name="TextBox 127"/>
          <p:cNvSpPr txBox="1"/>
          <p:nvPr/>
        </p:nvSpPr>
        <p:spPr>
          <a:xfrm>
            <a:off x="843320" y="6044364"/>
            <a:ext cx="7801572" cy="457200"/>
          </a:xfrm>
          <a:prstGeom prst="rect">
            <a:avLst/>
          </a:prstGeom>
        </p:spPr>
        <p:txBody>
          <a:bodyPr lIns="0" tIns="0" rIns="0" bIns="0" rtlCol="0" anchor="t">
            <a:spAutoFit/>
          </a:bodyPr>
          <a:lstStyle/>
          <a:p>
            <a:pPr algn="l">
              <a:lnSpc>
                <a:spcPts val="3510"/>
              </a:lnSpc>
            </a:pPr>
            <a:r>
              <a:rPr lang="en-US" sz="2925" b="1" dirty="0">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Key Highlights</a:t>
            </a:r>
          </a:p>
        </p:txBody>
      </p:sp>
      <p:grpSp>
        <p:nvGrpSpPr>
          <p:cNvPr id="128" name="Group 128"/>
          <p:cNvGrpSpPr/>
          <p:nvPr/>
        </p:nvGrpSpPr>
        <p:grpSpPr>
          <a:xfrm>
            <a:off x="13784580" y="1824259"/>
            <a:ext cx="3703320" cy="903821"/>
            <a:chOff x="0" y="0"/>
            <a:chExt cx="4937760" cy="1205094"/>
          </a:xfrm>
        </p:grpSpPr>
        <p:sp>
          <p:nvSpPr>
            <p:cNvPr id="129" name="Freeform 129"/>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30" name="TextBox 130"/>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$107.52</a:t>
              </a:r>
            </a:p>
          </p:txBody>
        </p:sp>
      </p:grpSp>
      <p:grpSp>
        <p:nvGrpSpPr>
          <p:cNvPr id="131" name="Group 131"/>
          <p:cNvGrpSpPr/>
          <p:nvPr/>
        </p:nvGrpSpPr>
        <p:grpSpPr>
          <a:xfrm>
            <a:off x="13784580" y="2636551"/>
            <a:ext cx="3703320" cy="499263"/>
            <a:chOff x="0" y="0"/>
            <a:chExt cx="4937760" cy="665684"/>
          </a:xfrm>
        </p:grpSpPr>
        <p:sp>
          <p:nvSpPr>
            <p:cNvPr id="132" name="Freeform 132"/>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3" name="TextBox 133"/>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Revenue </a:t>
              </a:r>
            </a:p>
          </p:txBody>
        </p:sp>
      </p:grpSp>
      <p:grpSp>
        <p:nvGrpSpPr>
          <p:cNvPr id="134" name="Group 134"/>
          <p:cNvGrpSpPr/>
          <p:nvPr/>
        </p:nvGrpSpPr>
        <p:grpSpPr>
          <a:xfrm>
            <a:off x="13804106" y="3061454"/>
            <a:ext cx="3703320" cy="499263"/>
            <a:chOff x="0" y="0"/>
            <a:chExt cx="4937760" cy="665684"/>
          </a:xfrm>
        </p:grpSpPr>
        <p:sp>
          <p:nvSpPr>
            <p:cNvPr id="135" name="Freeform 1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6" name="TextBox 136"/>
            <p:cNvSpPr txBox="1"/>
            <p:nvPr/>
          </p:nvSpPr>
          <p:spPr>
            <a:xfrm>
              <a:off x="0" y="0"/>
              <a:ext cx="4937760" cy="665684"/>
            </a:xfrm>
            <a:prstGeom prst="rect">
              <a:avLst/>
            </a:prstGeom>
          </p:spPr>
          <p:txBody>
            <a:bodyPr lIns="0" tIns="0" rIns="0" bIns="0" rtlCol="0" anchor="ctr"/>
            <a:lstStyle/>
            <a:p>
              <a:pPr algn="ctr">
                <a:lnSpc>
                  <a:spcPts val="1980"/>
                </a:lnSpc>
              </a:pPr>
              <a:r>
                <a:rPr lang="en-US" sz="1650">
                  <a:solidFill>
                    <a:srgbClr val="9AA5E0"/>
                  </a:solidFill>
                  <a:latin typeface="Exo 2"/>
                  <a:ea typeface="Exo 2"/>
                  <a:cs typeface="Exo 2"/>
                  <a:sym typeface="Exo 2"/>
                </a:rPr>
                <a:t>From 14 May 2026 . till date </a:t>
              </a:r>
            </a:p>
          </p:txBody>
        </p:sp>
      </p:grpSp>
      <p:grpSp>
        <p:nvGrpSpPr>
          <p:cNvPr id="137" name="Group 137"/>
          <p:cNvGrpSpPr/>
          <p:nvPr/>
        </p:nvGrpSpPr>
        <p:grpSpPr>
          <a:xfrm>
            <a:off x="422434" y="8660570"/>
            <a:ext cx="16605885" cy="775760"/>
            <a:chOff x="0" y="0"/>
            <a:chExt cx="22141180" cy="1034346"/>
          </a:xfrm>
        </p:grpSpPr>
        <p:grpSp>
          <p:nvGrpSpPr>
            <p:cNvPr id="138" name="Group 138"/>
            <p:cNvGrpSpPr/>
            <p:nvPr/>
          </p:nvGrpSpPr>
          <p:grpSpPr>
            <a:xfrm>
              <a:off x="524764" y="0"/>
              <a:ext cx="21616416" cy="1034346"/>
              <a:chOff x="0" y="0"/>
              <a:chExt cx="21616416" cy="1034346"/>
            </a:xfrm>
          </p:grpSpPr>
          <p:sp>
            <p:nvSpPr>
              <p:cNvPr id="139" name="Freeform 139"/>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140" name="TextBox 140"/>
              <p:cNvSpPr txBox="1"/>
              <p:nvPr/>
            </p:nvSpPr>
            <p:spPr>
              <a:xfrm>
                <a:off x="0" y="0"/>
                <a:ext cx="21616416" cy="1034346"/>
              </a:xfrm>
              <a:prstGeom prst="rect">
                <a:avLst/>
              </a:prstGeom>
            </p:spPr>
            <p:txBody>
              <a:bodyPr lIns="0" tIns="0" rIns="0" bIns="0" rtlCol="0" anchor="ctr"/>
              <a:lstStyle/>
              <a:p>
                <a:pPr algn="l">
                  <a:lnSpc>
                    <a:spcPts val="2579"/>
                  </a:lnSpc>
                </a:pPr>
                <a:r>
                  <a:rPr lang="en-US" sz="2149" b="1">
                    <a:solidFill>
                      <a:srgbClr val="5A6A85"/>
                    </a:solidFill>
                    <a:latin typeface="Exo 2 Bold"/>
                    <a:ea typeface="Exo 2 Bold"/>
                    <a:cs typeface="Exo 2 Bold"/>
                    <a:sym typeface="Exo 2 Bold"/>
                  </a:rPr>
                  <a:t>Client Experience and IT: clearing onboarding blockers</a:t>
                </a:r>
              </a:p>
              <a:p>
                <a:pPr algn="l">
                  <a:lnSpc>
                    <a:spcPts val="2579"/>
                  </a:lnSpc>
                </a:pPr>
                <a:r>
                  <a:rPr lang="en-US" sz="2149">
                    <a:solidFill>
                      <a:srgbClr val="5A6A85"/>
                    </a:solidFill>
                    <a:latin typeface="Exo 2"/>
                    <a:ea typeface="Exo 2"/>
                    <a:cs typeface="Exo 2"/>
                    <a:sym typeface="Exo 2"/>
                  </a:rPr>
                  <a:t>6 of 21 clients called onboarded (28.6%); Helpdesk live 17 Sep; Android security update live 29 Sep; Next App v1 due 08 Oct.</a:t>
                </a:r>
              </a:p>
            </p:txBody>
          </p:sp>
        </p:grpSp>
        <p:grpSp>
          <p:nvGrpSpPr>
            <p:cNvPr id="141" name="Group 141"/>
            <p:cNvGrpSpPr/>
            <p:nvPr/>
          </p:nvGrpSpPr>
          <p:grpSpPr>
            <a:xfrm>
              <a:off x="0" y="164453"/>
              <a:ext cx="370790" cy="324441"/>
              <a:chOff x="0" y="0"/>
              <a:chExt cx="812800" cy="711200"/>
            </a:xfrm>
          </p:grpSpPr>
          <p:sp>
            <p:nvSpPr>
              <p:cNvPr id="142" name="Freeform 1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43" name="TextBox 143"/>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3">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Key Performance Indicators &amp; Volume Projections</a:t>
              </a:r>
            </a:p>
          </p:txBody>
        </p:sp>
      </p:grpSp>
      <p:sp>
        <p:nvSpPr>
          <p:cNvPr id="5" name="Freeform 5"/>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850001" y="1980000"/>
            <a:ext cx="16587997" cy="514041"/>
            <a:chOff x="0" y="0"/>
            <a:chExt cx="22117329" cy="685388"/>
          </a:xfrm>
        </p:grpSpPr>
        <p:sp>
          <p:nvSpPr>
            <p:cNvPr id="11" name="Freeform 11"/>
            <p:cNvSpPr/>
            <p:nvPr/>
          </p:nvSpPr>
          <p:spPr>
            <a:xfrm>
              <a:off x="0" y="0"/>
              <a:ext cx="22117304" cy="685331"/>
            </a:xfrm>
            <a:custGeom>
              <a:avLst/>
              <a:gdLst/>
              <a:ahLst/>
              <a:cxnLst/>
              <a:rect l="l" t="t" r="r" b="b"/>
              <a:pathLst>
                <a:path w="22117304" h="685331">
                  <a:moveTo>
                    <a:pt x="0" y="0"/>
                  </a:moveTo>
                  <a:lnTo>
                    <a:pt x="22117304" y="0"/>
                  </a:lnTo>
                  <a:lnTo>
                    <a:pt x="22117304" y="685331"/>
                  </a:lnTo>
                  <a:lnTo>
                    <a:pt x="0" y="685331"/>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2" name="Group 12"/>
          <p:cNvGrpSpPr/>
          <p:nvPr/>
        </p:nvGrpSpPr>
        <p:grpSpPr>
          <a:xfrm>
            <a:off x="850001" y="1980000"/>
            <a:ext cx="3984060" cy="514041"/>
            <a:chOff x="0" y="0"/>
            <a:chExt cx="5312080" cy="685388"/>
          </a:xfrm>
        </p:grpSpPr>
        <p:sp>
          <p:nvSpPr>
            <p:cNvPr id="13" name="Freeform 13"/>
            <p:cNvSpPr/>
            <p:nvPr/>
          </p:nvSpPr>
          <p:spPr>
            <a:xfrm>
              <a:off x="0" y="0"/>
              <a:ext cx="5312084" cy="685387"/>
            </a:xfrm>
            <a:custGeom>
              <a:avLst/>
              <a:gdLst/>
              <a:ahLst/>
              <a:cxnLst/>
              <a:rect l="l" t="t" r="r" b="b"/>
              <a:pathLst>
                <a:path w="5312084" h="685387">
                  <a:moveTo>
                    <a:pt x="0" y="0"/>
                  </a:moveTo>
                  <a:lnTo>
                    <a:pt x="5312084" y="0"/>
                  </a:lnTo>
                  <a:lnTo>
                    <a:pt x="5312084" y="685387"/>
                  </a:lnTo>
                  <a:lnTo>
                    <a:pt x="0" y="685387"/>
                  </a:lnTo>
                  <a:close/>
                </a:path>
              </a:pathLst>
            </a:custGeom>
            <a:gradFill rotWithShape="1">
              <a:gsLst>
                <a:gs pos="0">
                  <a:srgbClr val="3C61B6">
                    <a:alpha val="100000"/>
                  </a:srgbClr>
                </a:gs>
                <a:gs pos="100000">
                  <a:srgbClr val="121C36">
                    <a:alpha val="100000"/>
                  </a:srgbClr>
                </a:gs>
              </a:gsLst>
              <a:path path="circle">
                <a:fillToRect l="200000" t="200000" r="-100000" b="-100000"/>
              </a:path>
              <a:tileRect r="-300000" b="-300000"/>
            </a:gradFill>
            <a:ln w="6350" cap="sq">
              <a:solidFill>
                <a:srgbClr val="C5CED8"/>
              </a:solidFill>
              <a:prstDash val="solid"/>
              <a:miter/>
            </a:ln>
          </p:spPr>
          <p:txBody>
            <a:bodyPr/>
            <a:lstStyle/>
            <a:p>
              <a:endParaRPr lang="en-US"/>
            </a:p>
          </p:txBody>
        </p:sp>
        <p:sp>
          <p:nvSpPr>
            <p:cNvPr id="14" name="TextBox 14"/>
            <p:cNvSpPr txBox="1"/>
            <p:nvPr/>
          </p:nvSpPr>
          <p:spPr>
            <a:xfrm>
              <a:off x="0" y="0"/>
              <a:ext cx="5312080" cy="685388"/>
            </a:xfrm>
            <a:prstGeom prst="rect">
              <a:avLst/>
            </a:prstGeom>
          </p:spPr>
          <p:txBody>
            <a:bodyPr lIns="0" tIns="0" rIns="0" bIns="0" rtlCol="0" anchor="ctr"/>
            <a:lstStyle/>
            <a:p>
              <a:pPr marL="0" lvl="0" indent="0" algn="ctr">
                <a:lnSpc>
                  <a:spcPts val="2098"/>
                </a:lnSpc>
                <a:spcBef>
                  <a:spcPct val="0"/>
                </a:spcBef>
              </a:pPr>
              <a:r>
                <a:rPr lang="en-US" sz="1749" b="1" u="none" strike="noStrike">
                  <a:solidFill>
                    <a:srgbClr val="FFFFFF"/>
                  </a:solidFill>
                  <a:latin typeface="Exo 2 Bold"/>
                  <a:ea typeface="Exo 2 Bold"/>
                  <a:cs typeface="Exo 2 Bold"/>
                  <a:sym typeface="Exo 2 Bold"/>
                </a:rPr>
                <a:t>KPI &amp; Performance Detail</a:t>
              </a:r>
            </a:p>
          </p:txBody>
        </p:sp>
      </p:grpSp>
      <p:grpSp>
        <p:nvGrpSpPr>
          <p:cNvPr id="15" name="Group 15"/>
          <p:cNvGrpSpPr/>
          <p:nvPr/>
        </p:nvGrpSpPr>
        <p:grpSpPr>
          <a:xfrm>
            <a:off x="4914062" y="1980000"/>
            <a:ext cx="1565491" cy="514041"/>
            <a:chOff x="0" y="0"/>
            <a:chExt cx="2087321" cy="685388"/>
          </a:xfrm>
        </p:grpSpPr>
        <p:sp>
          <p:nvSpPr>
            <p:cNvPr id="16" name="Freeform 16"/>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17" name="TextBox 17"/>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May</a:t>
              </a:r>
            </a:p>
          </p:txBody>
        </p:sp>
      </p:grpSp>
      <p:grpSp>
        <p:nvGrpSpPr>
          <p:cNvPr id="18" name="Group 18"/>
          <p:cNvGrpSpPr/>
          <p:nvPr/>
        </p:nvGrpSpPr>
        <p:grpSpPr>
          <a:xfrm>
            <a:off x="6479553" y="1980000"/>
            <a:ext cx="1565491" cy="514041"/>
            <a:chOff x="0" y="0"/>
            <a:chExt cx="2087321" cy="685388"/>
          </a:xfrm>
        </p:grpSpPr>
        <p:sp>
          <p:nvSpPr>
            <p:cNvPr id="19" name="Freeform 19"/>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0" name="TextBox 20"/>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June</a:t>
              </a:r>
            </a:p>
          </p:txBody>
        </p:sp>
      </p:grpSp>
      <p:grpSp>
        <p:nvGrpSpPr>
          <p:cNvPr id="21" name="Group 21"/>
          <p:cNvGrpSpPr/>
          <p:nvPr/>
        </p:nvGrpSpPr>
        <p:grpSpPr>
          <a:xfrm>
            <a:off x="8045044" y="1980000"/>
            <a:ext cx="1565491" cy="514041"/>
            <a:chOff x="0" y="0"/>
            <a:chExt cx="2087321" cy="685388"/>
          </a:xfrm>
        </p:grpSpPr>
        <p:sp>
          <p:nvSpPr>
            <p:cNvPr id="22" name="Freeform 22"/>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3" name="TextBox 23"/>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July</a:t>
              </a:r>
            </a:p>
          </p:txBody>
        </p:sp>
      </p:grpSp>
      <p:grpSp>
        <p:nvGrpSpPr>
          <p:cNvPr id="24" name="Group 24"/>
          <p:cNvGrpSpPr/>
          <p:nvPr/>
        </p:nvGrpSpPr>
        <p:grpSpPr>
          <a:xfrm>
            <a:off x="9610534" y="1980000"/>
            <a:ext cx="1565491" cy="514041"/>
            <a:chOff x="0" y="0"/>
            <a:chExt cx="2087321" cy="685388"/>
          </a:xfrm>
        </p:grpSpPr>
        <p:sp>
          <p:nvSpPr>
            <p:cNvPr id="25" name="Freeform 25"/>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6" name="TextBox 26"/>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August</a:t>
              </a:r>
            </a:p>
          </p:txBody>
        </p:sp>
      </p:grpSp>
      <p:grpSp>
        <p:nvGrpSpPr>
          <p:cNvPr id="27" name="Group 27"/>
          <p:cNvGrpSpPr/>
          <p:nvPr/>
        </p:nvGrpSpPr>
        <p:grpSpPr>
          <a:xfrm>
            <a:off x="11176025" y="1980000"/>
            <a:ext cx="1565491" cy="514041"/>
            <a:chOff x="0" y="0"/>
            <a:chExt cx="2087321" cy="685388"/>
          </a:xfrm>
        </p:grpSpPr>
        <p:sp>
          <p:nvSpPr>
            <p:cNvPr id="28" name="Freeform 28"/>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9" name="TextBox 29"/>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September</a:t>
              </a:r>
            </a:p>
          </p:txBody>
        </p:sp>
      </p:grpSp>
      <p:grpSp>
        <p:nvGrpSpPr>
          <p:cNvPr id="30" name="Group 30"/>
          <p:cNvGrpSpPr/>
          <p:nvPr/>
        </p:nvGrpSpPr>
        <p:grpSpPr>
          <a:xfrm>
            <a:off x="12741516" y="1980000"/>
            <a:ext cx="1565491" cy="514041"/>
            <a:chOff x="0" y="0"/>
            <a:chExt cx="2087321" cy="685388"/>
          </a:xfrm>
        </p:grpSpPr>
        <p:sp>
          <p:nvSpPr>
            <p:cNvPr id="31" name="Freeform 31"/>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2" name="TextBox 32"/>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October</a:t>
              </a:r>
            </a:p>
          </p:txBody>
        </p:sp>
      </p:grpSp>
      <p:grpSp>
        <p:nvGrpSpPr>
          <p:cNvPr id="33" name="Group 33"/>
          <p:cNvGrpSpPr/>
          <p:nvPr/>
        </p:nvGrpSpPr>
        <p:grpSpPr>
          <a:xfrm>
            <a:off x="14307017" y="1980000"/>
            <a:ext cx="1565491" cy="514041"/>
            <a:chOff x="0" y="0"/>
            <a:chExt cx="2087321" cy="685388"/>
          </a:xfrm>
        </p:grpSpPr>
        <p:sp>
          <p:nvSpPr>
            <p:cNvPr id="34" name="Freeform 34"/>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5" name="TextBox 35"/>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November</a:t>
              </a:r>
            </a:p>
          </p:txBody>
        </p:sp>
      </p:grpSp>
      <p:grpSp>
        <p:nvGrpSpPr>
          <p:cNvPr id="36" name="Group 36"/>
          <p:cNvGrpSpPr/>
          <p:nvPr/>
        </p:nvGrpSpPr>
        <p:grpSpPr>
          <a:xfrm>
            <a:off x="15872508" y="1980000"/>
            <a:ext cx="1565491" cy="514041"/>
            <a:chOff x="0" y="0"/>
            <a:chExt cx="2087321" cy="685388"/>
          </a:xfrm>
        </p:grpSpPr>
        <p:sp>
          <p:nvSpPr>
            <p:cNvPr id="37" name="Freeform 37"/>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8" name="TextBox 38"/>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December</a:t>
              </a:r>
            </a:p>
          </p:txBody>
        </p:sp>
      </p:grpSp>
      <p:grpSp>
        <p:nvGrpSpPr>
          <p:cNvPr id="39" name="Group 39"/>
          <p:cNvGrpSpPr/>
          <p:nvPr/>
        </p:nvGrpSpPr>
        <p:grpSpPr>
          <a:xfrm>
            <a:off x="850001" y="2494041"/>
            <a:ext cx="16587997" cy="415701"/>
            <a:chOff x="0" y="0"/>
            <a:chExt cx="22117329" cy="554268"/>
          </a:xfrm>
        </p:grpSpPr>
        <p:sp>
          <p:nvSpPr>
            <p:cNvPr id="40" name="Freeform 4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41" name="Group 41"/>
          <p:cNvGrpSpPr/>
          <p:nvPr/>
        </p:nvGrpSpPr>
        <p:grpSpPr>
          <a:xfrm>
            <a:off x="850001" y="2494041"/>
            <a:ext cx="16587997" cy="415702"/>
            <a:chOff x="0" y="0"/>
            <a:chExt cx="22117329" cy="554270"/>
          </a:xfrm>
        </p:grpSpPr>
        <p:sp>
          <p:nvSpPr>
            <p:cNvPr id="42" name="Freeform 42"/>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43" name="TextBox 43"/>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  CLIENTS, CUMULATIVE</a:t>
              </a:r>
            </a:p>
          </p:txBody>
        </p:sp>
      </p:grpSp>
      <p:grpSp>
        <p:nvGrpSpPr>
          <p:cNvPr id="44" name="Group 44"/>
          <p:cNvGrpSpPr/>
          <p:nvPr/>
        </p:nvGrpSpPr>
        <p:grpSpPr>
          <a:xfrm>
            <a:off x="850001" y="2909742"/>
            <a:ext cx="16587997" cy="415701"/>
            <a:chOff x="0" y="0"/>
            <a:chExt cx="22117329" cy="554268"/>
          </a:xfrm>
        </p:grpSpPr>
        <p:sp>
          <p:nvSpPr>
            <p:cNvPr id="45" name="Freeform 4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46" name="Group 46"/>
          <p:cNvGrpSpPr/>
          <p:nvPr/>
        </p:nvGrpSpPr>
        <p:grpSpPr>
          <a:xfrm>
            <a:off x="1030005" y="2909742"/>
            <a:ext cx="3804056" cy="415702"/>
            <a:chOff x="0" y="0"/>
            <a:chExt cx="5072075" cy="554270"/>
          </a:xfrm>
        </p:grpSpPr>
        <p:sp>
          <p:nvSpPr>
            <p:cNvPr id="47" name="Freeform 4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48" name="TextBox 4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49" name="Group 49"/>
          <p:cNvGrpSpPr/>
          <p:nvPr/>
        </p:nvGrpSpPr>
        <p:grpSpPr>
          <a:xfrm>
            <a:off x="4914062" y="2909742"/>
            <a:ext cx="1565491" cy="415702"/>
            <a:chOff x="0" y="0"/>
            <a:chExt cx="2087321" cy="554270"/>
          </a:xfrm>
        </p:grpSpPr>
        <p:sp>
          <p:nvSpPr>
            <p:cNvPr id="50" name="Freeform 5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1" name="TextBox 5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11</a:t>
              </a:r>
            </a:p>
          </p:txBody>
        </p:sp>
      </p:grpSp>
      <p:grpSp>
        <p:nvGrpSpPr>
          <p:cNvPr id="52" name="Group 52"/>
          <p:cNvGrpSpPr/>
          <p:nvPr/>
        </p:nvGrpSpPr>
        <p:grpSpPr>
          <a:xfrm>
            <a:off x="6479553" y="2909742"/>
            <a:ext cx="1565491" cy="415702"/>
            <a:chOff x="0" y="0"/>
            <a:chExt cx="2087321" cy="554270"/>
          </a:xfrm>
        </p:grpSpPr>
        <p:sp>
          <p:nvSpPr>
            <p:cNvPr id="53" name="Freeform 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4" name="TextBox 5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55" name="Group 55"/>
          <p:cNvGrpSpPr/>
          <p:nvPr/>
        </p:nvGrpSpPr>
        <p:grpSpPr>
          <a:xfrm>
            <a:off x="8045044" y="2909742"/>
            <a:ext cx="1565491" cy="415702"/>
            <a:chOff x="0" y="0"/>
            <a:chExt cx="2087321" cy="554270"/>
          </a:xfrm>
        </p:grpSpPr>
        <p:sp>
          <p:nvSpPr>
            <p:cNvPr id="56" name="Freeform 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7" name="TextBox 5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58" name="Group 58"/>
          <p:cNvGrpSpPr/>
          <p:nvPr/>
        </p:nvGrpSpPr>
        <p:grpSpPr>
          <a:xfrm>
            <a:off x="9610534" y="2909742"/>
            <a:ext cx="1565491" cy="415702"/>
            <a:chOff x="0" y="0"/>
            <a:chExt cx="2087321" cy="554270"/>
          </a:xfrm>
        </p:grpSpPr>
        <p:sp>
          <p:nvSpPr>
            <p:cNvPr id="59" name="Freeform 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0" name="TextBox 6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47</a:t>
              </a:r>
            </a:p>
          </p:txBody>
        </p:sp>
      </p:grpSp>
      <p:grpSp>
        <p:nvGrpSpPr>
          <p:cNvPr id="61" name="Group 61"/>
          <p:cNvGrpSpPr/>
          <p:nvPr/>
        </p:nvGrpSpPr>
        <p:grpSpPr>
          <a:xfrm>
            <a:off x="11176025" y="2909742"/>
            <a:ext cx="1565491" cy="415702"/>
            <a:chOff x="0" y="0"/>
            <a:chExt cx="2087321" cy="554270"/>
          </a:xfrm>
        </p:grpSpPr>
        <p:sp>
          <p:nvSpPr>
            <p:cNvPr id="62" name="Freeform 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3" name="TextBox 6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61</a:t>
              </a:r>
            </a:p>
          </p:txBody>
        </p:sp>
      </p:grpSp>
      <p:grpSp>
        <p:nvGrpSpPr>
          <p:cNvPr id="64" name="Group 64"/>
          <p:cNvGrpSpPr/>
          <p:nvPr/>
        </p:nvGrpSpPr>
        <p:grpSpPr>
          <a:xfrm>
            <a:off x="850001" y="3325443"/>
            <a:ext cx="16587997" cy="415701"/>
            <a:chOff x="0" y="0"/>
            <a:chExt cx="22117329" cy="554268"/>
          </a:xfrm>
        </p:grpSpPr>
        <p:sp>
          <p:nvSpPr>
            <p:cNvPr id="65" name="Freeform 6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66" name="Group 66"/>
          <p:cNvGrpSpPr/>
          <p:nvPr/>
        </p:nvGrpSpPr>
        <p:grpSpPr>
          <a:xfrm>
            <a:off x="1030005" y="3325443"/>
            <a:ext cx="3804056" cy="415702"/>
            <a:chOff x="0" y="0"/>
            <a:chExt cx="5072075" cy="554270"/>
          </a:xfrm>
        </p:grpSpPr>
        <p:sp>
          <p:nvSpPr>
            <p:cNvPr id="67" name="Freeform 6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68" name="TextBox 6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69" name="Group 69"/>
          <p:cNvGrpSpPr/>
          <p:nvPr/>
        </p:nvGrpSpPr>
        <p:grpSpPr>
          <a:xfrm>
            <a:off x="4914062" y="3325443"/>
            <a:ext cx="1565491" cy="415702"/>
            <a:chOff x="0" y="0"/>
            <a:chExt cx="2087321" cy="554270"/>
          </a:xfrm>
        </p:grpSpPr>
        <p:sp>
          <p:nvSpPr>
            <p:cNvPr id="70" name="Freeform 7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1" name="TextBox 7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72" name="Group 72"/>
          <p:cNvGrpSpPr/>
          <p:nvPr/>
        </p:nvGrpSpPr>
        <p:grpSpPr>
          <a:xfrm>
            <a:off x="6479553" y="3325443"/>
            <a:ext cx="1565491" cy="415702"/>
            <a:chOff x="0" y="0"/>
            <a:chExt cx="2087321" cy="554270"/>
          </a:xfrm>
        </p:grpSpPr>
        <p:sp>
          <p:nvSpPr>
            <p:cNvPr id="73" name="Freeform 7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4" name="TextBox 7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75" name="Group 75"/>
          <p:cNvGrpSpPr/>
          <p:nvPr/>
        </p:nvGrpSpPr>
        <p:grpSpPr>
          <a:xfrm>
            <a:off x="8045044" y="3325443"/>
            <a:ext cx="1565491" cy="415702"/>
            <a:chOff x="0" y="0"/>
            <a:chExt cx="2087321" cy="554270"/>
          </a:xfrm>
        </p:grpSpPr>
        <p:sp>
          <p:nvSpPr>
            <p:cNvPr id="76" name="Freeform 7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7" name="TextBox 7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78" name="Group 78"/>
          <p:cNvGrpSpPr/>
          <p:nvPr/>
        </p:nvGrpSpPr>
        <p:grpSpPr>
          <a:xfrm>
            <a:off x="9610534" y="3325443"/>
            <a:ext cx="1565491" cy="415702"/>
            <a:chOff x="0" y="0"/>
            <a:chExt cx="2087321" cy="554270"/>
          </a:xfrm>
        </p:grpSpPr>
        <p:sp>
          <p:nvSpPr>
            <p:cNvPr id="79" name="Freeform 7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0" name="TextBox 8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81" name="Group 81"/>
          <p:cNvGrpSpPr/>
          <p:nvPr/>
        </p:nvGrpSpPr>
        <p:grpSpPr>
          <a:xfrm>
            <a:off x="11176025" y="3325443"/>
            <a:ext cx="1565491" cy="415702"/>
            <a:chOff x="0" y="0"/>
            <a:chExt cx="2087321" cy="554270"/>
          </a:xfrm>
        </p:grpSpPr>
        <p:sp>
          <p:nvSpPr>
            <p:cNvPr id="82" name="Freeform 8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3" name="TextBox 8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84" name="Group 84"/>
          <p:cNvGrpSpPr/>
          <p:nvPr/>
        </p:nvGrpSpPr>
        <p:grpSpPr>
          <a:xfrm>
            <a:off x="12741516" y="3325443"/>
            <a:ext cx="1565491" cy="415702"/>
            <a:chOff x="0" y="0"/>
            <a:chExt cx="2087321" cy="554270"/>
          </a:xfrm>
        </p:grpSpPr>
        <p:sp>
          <p:nvSpPr>
            <p:cNvPr id="85" name="Freeform 8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6" name="TextBox 8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87" name="Group 87"/>
          <p:cNvGrpSpPr/>
          <p:nvPr/>
        </p:nvGrpSpPr>
        <p:grpSpPr>
          <a:xfrm>
            <a:off x="14307017" y="3325443"/>
            <a:ext cx="1565491" cy="415702"/>
            <a:chOff x="0" y="0"/>
            <a:chExt cx="2087321" cy="554270"/>
          </a:xfrm>
        </p:grpSpPr>
        <p:sp>
          <p:nvSpPr>
            <p:cNvPr id="88" name="Freeform 8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9" name="TextBox 8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90" name="Group 90"/>
          <p:cNvGrpSpPr/>
          <p:nvPr/>
        </p:nvGrpSpPr>
        <p:grpSpPr>
          <a:xfrm>
            <a:off x="15872508" y="3325443"/>
            <a:ext cx="1565491" cy="415702"/>
            <a:chOff x="0" y="0"/>
            <a:chExt cx="2087321" cy="554270"/>
          </a:xfrm>
        </p:grpSpPr>
        <p:sp>
          <p:nvSpPr>
            <p:cNvPr id="91" name="Freeform 9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92" name="TextBox 9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93" name="Group 93"/>
          <p:cNvGrpSpPr/>
          <p:nvPr/>
        </p:nvGrpSpPr>
        <p:grpSpPr>
          <a:xfrm>
            <a:off x="850001" y="3741145"/>
            <a:ext cx="16587997" cy="415701"/>
            <a:chOff x="0" y="0"/>
            <a:chExt cx="22117329" cy="554268"/>
          </a:xfrm>
        </p:grpSpPr>
        <p:sp>
          <p:nvSpPr>
            <p:cNvPr id="94" name="Freeform 94"/>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95" name="Group 95"/>
          <p:cNvGrpSpPr/>
          <p:nvPr/>
        </p:nvGrpSpPr>
        <p:grpSpPr>
          <a:xfrm>
            <a:off x="850001" y="3709166"/>
            <a:ext cx="16587997" cy="47625"/>
            <a:chOff x="0" y="0"/>
            <a:chExt cx="22117329" cy="63500"/>
          </a:xfrm>
        </p:grpSpPr>
        <p:sp>
          <p:nvSpPr>
            <p:cNvPr id="96" name="Freeform 96"/>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97" name="Group 97"/>
          <p:cNvGrpSpPr/>
          <p:nvPr/>
        </p:nvGrpSpPr>
        <p:grpSpPr>
          <a:xfrm>
            <a:off x="1030005" y="3741145"/>
            <a:ext cx="3804056" cy="415702"/>
            <a:chOff x="0" y="0"/>
            <a:chExt cx="5072075" cy="554270"/>
          </a:xfrm>
        </p:grpSpPr>
        <p:sp>
          <p:nvSpPr>
            <p:cNvPr id="98" name="Freeform 98"/>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99" name="TextBox 99"/>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00" name="Group 100"/>
          <p:cNvGrpSpPr/>
          <p:nvPr/>
        </p:nvGrpSpPr>
        <p:grpSpPr>
          <a:xfrm>
            <a:off x="4914062" y="3741145"/>
            <a:ext cx="1565491" cy="415702"/>
            <a:chOff x="0" y="0"/>
            <a:chExt cx="2087321" cy="554270"/>
          </a:xfrm>
        </p:grpSpPr>
        <p:sp>
          <p:nvSpPr>
            <p:cNvPr id="101" name="Freeform 1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2" name="TextBox 10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a:t>
              </a:r>
            </a:p>
          </p:txBody>
        </p:sp>
      </p:grpSp>
      <p:grpSp>
        <p:nvGrpSpPr>
          <p:cNvPr id="103" name="Group 103"/>
          <p:cNvGrpSpPr/>
          <p:nvPr/>
        </p:nvGrpSpPr>
        <p:grpSpPr>
          <a:xfrm>
            <a:off x="6479553" y="3741145"/>
            <a:ext cx="1565491" cy="415702"/>
            <a:chOff x="0" y="0"/>
            <a:chExt cx="2087321" cy="554270"/>
          </a:xfrm>
        </p:grpSpPr>
        <p:sp>
          <p:nvSpPr>
            <p:cNvPr id="104" name="Freeform 1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5" name="TextBox 105"/>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+0</a:t>
              </a:r>
            </a:p>
          </p:txBody>
        </p:sp>
      </p:grpSp>
      <p:grpSp>
        <p:nvGrpSpPr>
          <p:cNvPr id="106" name="Group 106"/>
          <p:cNvGrpSpPr/>
          <p:nvPr/>
        </p:nvGrpSpPr>
        <p:grpSpPr>
          <a:xfrm>
            <a:off x="8045044" y="3741145"/>
            <a:ext cx="1565491" cy="415702"/>
            <a:chOff x="0" y="0"/>
            <a:chExt cx="2087321" cy="554270"/>
          </a:xfrm>
        </p:grpSpPr>
        <p:sp>
          <p:nvSpPr>
            <p:cNvPr id="107" name="Freeform 1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8" name="TextBox 10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+5</a:t>
              </a:r>
            </a:p>
          </p:txBody>
        </p:sp>
      </p:grpSp>
      <p:grpSp>
        <p:nvGrpSpPr>
          <p:cNvPr id="109" name="Group 109"/>
          <p:cNvGrpSpPr/>
          <p:nvPr/>
        </p:nvGrpSpPr>
        <p:grpSpPr>
          <a:xfrm>
            <a:off x="9610534" y="3741145"/>
            <a:ext cx="1565491" cy="415702"/>
            <a:chOff x="0" y="0"/>
            <a:chExt cx="2087321" cy="554270"/>
          </a:xfrm>
        </p:grpSpPr>
        <p:sp>
          <p:nvSpPr>
            <p:cNvPr id="110" name="Freeform 1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1" name="TextBox 11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+14</a:t>
              </a:r>
            </a:p>
          </p:txBody>
        </p:sp>
      </p:grpSp>
      <p:grpSp>
        <p:nvGrpSpPr>
          <p:cNvPr id="112" name="Group 112"/>
          <p:cNvGrpSpPr/>
          <p:nvPr/>
        </p:nvGrpSpPr>
        <p:grpSpPr>
          <a:xfrm>
            <a:off x="11176025" y="3741145"/>
            <a:ext cx="1565491" cy="415702"/>
            <a:chOff x="0" y="0"/>
            <a:chExt cx="2087321" cy="554270"/>
          </a:xfrm>
        </p:grpSpPr>
        <p:sp>
          <p:nvSpPr>
            <p:cNvPr id="113" name="Freeform 1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4" name="TextBox 11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+22</a:t>
              </a:r>
            </a:p>
          </p:txBody>
        </p:sp>
      </p:grpSp>
      <p:grpSp>
        <p:nvGrpSpPr>
          <p:cNvPr id="115" name="Group 115"/>
          <p:cNvGrpSpPr/>
          <p:nvPr/>
        </p:nvGrpSpPr>
        <p:grpSpPr>
          <a:xfrm>
            <a:off x="850001" y="4156846"/>
            <a:ext cx="16587997" cy="415701"/>
            <a:chOff x="0" y="0"/>
            <a:chExt cx="22117329" cy="554268"/>
          </a:xfrm>
        </p:grpSpPr>
        <p:sp>
          <p:nvSpPr>
            <p:cNvPr id="116" name="Freeform 11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17" name="Group 117"/>
          <p:cNvGrpSpPr/>
          <p:nvPr/>
        </p:nvGrpSpPr>
        <p:grpSpPr>
          <a:xfrm>
            <a:off x="850001" y="4156846"/>
            <a:ext cx="16587997" cy="415702"/>
            <a:chOff x="0" y="0"/>
            <a:chExt cx="22117329" cy="554270"/>
          </a:xfrm>
        </p:grpSpPr>
        <p:sp>
          <p:nvSpPr>
            <p:cNvPr id="118" name="Freeform 118"/>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19" name="TextBox 119"/>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  NUMBER OF TRADES</a:t>
              </a:r>
            </a:p>
          </p:txBody>
        </p:sp>
      </p:grpSp>
      <p:grpSp>
        <p:nvGrpSpPr>
          <p:cNvPr id="120" name="Group 120"/>
          <p:cNvGrpSpPr/>
          <p:nvPr/>
        </p:nvGrpSpPr>
        <p:grpSpPr>
          <a:xfrm>
            <a:off x="850001" y="4572558"/>
            <a:ext cx="16587997" cy="415701"/>
            <a:chOff x="0" y="0"/>
            <a:chExt cx="22117329" cy="554268"/>
          </a:xfrm>
        </p:grpSpPr>
        <p:sp>
          <p:nvSpPr>
            <p:cNvPr id="121" name="Freeform 12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22" name="Group 122"/>
          <p:cNvGrpSpPr/>
          <p:nvPr/>
        </p:nvGrpSpPr>
        <p:grpSpPr>
          <a:xfrm>
            <a:off x="1030005" y="4572558"/>
            <a:ext cx="3804056" cy="415702"/>
            <a:chOff x="0" y="0"/>
            <a:chExt cx="5072075" cy="554270"/>
          </a:xfrm>
        </p:grpSpPr>
        <p:sp>
          <p:nvSpPr>
            <p:cNvPr id="123" name="Freeform 12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24" name="TextBox 12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125" name="Group 125"/>
          <p:cNvGrpSpPr/>
          <p:nvPr/>
        </p:nvGrpSpPr>
        <p:grpSpPr>
          <a:xfrm>
            <a:off x="4914062" y="4572558"/>
            <a:ext cx="1565491" cy="415702"/>
            <a:chOff x="0" y="0"/>
            <a:chExt cx="2087321" cy="554270"/>
          </a:xfrm>
        </p:grpSpPr>
        <p:sp>
          <p:nvSpPr>
            <p:cNvPr id="126" name="Freeform 12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27" name="TextBox 12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a:t>
              </a:r>
            </a:p>
          </p:txBody>
        </p:sp>
      </p:grpSp>
      <p:grpSp>
        <p:nvGrpSpPr>
          <p:cNvPr id="128" name="Group 128"/>
          <p:cNvGrpSpPr/>
          <p:nvPr/>
        </p:nvGrpSpPr>
        <p:grpSpPr>
          <a:xfrm>
            <a:off x="6479553" y="4572558"/>
            <a:ext cx="1565491" cy="415702"/>
            <a:chOff x="0" y="0"/>
            <a:chExt cx="2087321" cy="554270"/>
          </a:xfrm>
        </p:grpSpPr>
        <p:sp>
          <p:nvSpPr>
            <p:cNvPr id="129" name="Freeform 1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0" name="TextBox 13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17</a:t>
              </a:r>
            </a:p>
          </p:txBody>
        </p:sp>
      </p:grpSp>
      <p:grpSp>
        <p:nvGrpSpPr>
          <p:cNvPr id="131" name="Group 131"/>
          <p:cNvGrpSpPr/>
          <p:nvPr/>
        </p:nvGrpSpPr>
        <p:grpSpPr>
          <a:xfrm>
            <a:off x="8045044" y="4572558"/>
            <a:ext cx="1565491" cy="415702"/>
            <a:chOff x="0" y="0"/>
            <a:chExt cx="2087321" cy="554270"/>
          </a:xfrm>
        </p:grpSpPr>
        <p:sp>
          <p:nvSpPr>
            <p:cNvPr id="132" name="Freeform 1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3" name="TextBox 13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a:t>
              </a:r>
            </a:p>
          </p:txBody>
        </p:sp>
      </p:grpSp>
      <p:grpSp>
        <p:nvGrpSpPr>
          <p:cNvPr id="134" name="Group 134"/>
          <p:cNvGrpSpPr/>
          <p:nvPr/>
        </p:nvGrpSpPr>
        <p:grpSpPr>
          <a:xfrm>
            <a:off x="9610534" y="4572558"/>
            <a:ext cx="1565491" cy="415702"/>
            <a:chOff x="0" y="0"/>
            <a:chExt cx="2087321" cy="554270"/>
          </a:xfrm>
        </p:grpSpPr>
        <p:sp>
          <p:nvSpPr>
            <p:cNvPr id="135" name="Freeform 1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6" name="TextBox 13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16</a:t>
              </a:r>
            </a:p>
          </p:txBody>
        </p:sp>
      </p:grpSp>
      <p:grpSp>
        <p:nvGrpSpPr>
          <p:cNvPr id="137" name="Group 137"/>
          <p:cNvGrpSpPr/>
          <p:nvPr/>
        </p:nvGrpSpPr>
        <p:grpSpPr>
          <a:xfrm>
            <a:off x="11176025" y="4572558"/>
            <a:ext cx="1565491" cy="415702"/>
            <a:chOff x="0" y="0"/>
            <a:chExt cx="2087321" cy="554270"/>
          </a:xfrm>
        </p:grpSpPr>
        <p:sp>
          <p:nvSpPr>
            <p:cNvPr id="138" name="Freeform 1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9" name="TextBox 13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9</a:t>
              </a:r>
            </a:p>
          </p:txBody>
        </p:sp>
      </p:grpSp>
      <p:grpSp>
        <p:nvGrpSpPr>
          <p:cNvPr id="140" name="Group 140"/>
          <p:cNvGrpSpPr/>
          <p:nvPr/>
        </p:nvGrpSpPr>
        <p:grpSpPr>
          <a:xfrm>
            <a:off x="850001" y="4988259"/>
            <a:ext cx="16587997" cy="415701"/>
            <a:chOff x="0" y="0"/>
            <a:chExt cx="22117329" cy="554268"/>
          </a:xfrm>
        </p:grpSpPr>
        <p:sp>
          <p:nvSpPr>
            <p:cNvPr id="141" name="Freeform 14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142" name="Group 142"/>
          <p:cNvGrpSpPr/>
          <p:nvPr/>
        </p:nvGrpSpPr>
        <p:grpSpPr>
          <a:xfrm>
            <a:off x="1030005" y="4988259"/>
            <a:ext cx="3804056" cy="415702"/>
            <a:chOff x="0" y="0"/>
            <a:chExt cx="5072075" cy="554270"/>
          </a:xfrm>
        </p:grpSpPr>
        <p:sp>
          <p:nvSpPr>
            <p:cNvPr id="143" name="Freeform 14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44" name="TextBox 14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145" name="Group 145"/>
          <p:cNvGrpSpPr/>
          <p:nvPr/>
        </p:nvGrpSpPr>
        <p:grpSpPr>
          <a:xfrm>
            <a:off x="4914062" y="4988259"/>
            <a:ext cx="1565491" cy="415702"/>
            <a:chOff x="0" y="0"/>
            <a:chExt cx="2087321" cy="554270"/>
          </a:xfrm>
        </p:grpSpPr>
        <p:sp>
          <p:nvSpPr>
            <p:cNvPr id="146" name="Freeform 14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47" name="TextBox 14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148" name="Group 148"/>
          <p:cNvGrpSpPr/>
          <p:nvPr/>
        </p:nvGrpSpPr>
        <p:grpSpPr>
          <a:xfrm>
            <a:off x="6479553" y="4988259"/>
            <a:ext cx="1565491" cy="415702"/>
            <a:chOff x="0" y="0"/>
            <a:chExt cx="2087321" cy="554270"/>
          </a:xfrm>
        </p:grpSpPr>
        <p:sp>
          <p:nvSpPr>
            <p:cNvPr id="149" name="Freeform 14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0" name="TextBox 15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151" name="Group 151"/>
          <p:cNvGrpSpPr/>
          <p:nvPr/>
        </p:nvGrpSpPr>
        <p:grpSpPr>
          <a:xfrm>
            <a:off x="8045044" y="4988259"/>
            <a:ext cx="1565491" cy="415702"/>
            <a:chOff x="0" y="0"/>
            <a:chExt cx="2087321" cy="554270"/>
          </a:xfrm>
        </p:grpSpPr>
        <p:sp>
          <p:nvSpPr>
            <p:cNvPr id="152" name="Freeform 15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3" name="TextBox 15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154" name="Group 154"/>
          <p:cNvGrpSpPr/>
          <p:nvPr/>
        </p:nvGrpSpPr>
        <p:grpSpPr>
          <a:xfrm>
            <a:off x="9610534" y="4988259"/>
            <a:ext cx="1565491" cy="415702"/>
            <a:chOff x="0" y="0"/>
            <a:chExt cx="2087321" cy="554270"/>
          </a:xfrm>
        </p:grpSpPr>
        <p:sp>
          <p:nvSpPr>
            <p:cNvPr id="155" name="Freeform 15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6" name="TextBox 15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157" name="Group 157"/>
          <p:cNvGrpSpPr/>
          <p:nvPr/>
        </p:nvGrpSpPr>
        <p:grpSpPr>
          <a:xfrm>
            <a:off x="11176025" y="4988259"/>
            <a:ext cx="1565491" cy="415702"/>
            <a:chOff x="0" y="0"/>
            <a:chExt cx="2087321" cy="554270"/>
          </a:xfrm>
        </p:grpSpPr>
        <p:sp>
          <p:nvSpPr>
            <p:cNvPr id="158" name="Freeform 15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9" name="TextBox 15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160" name="Group 160"/>
          <p:cNvGrpSpPr/>
          <p:nvPr/>
        </p:nvGrpSpPr>
        <p:grpSpPr>
          <a:xfrm>
            <a:off x="12741516" y="4988259"/>
            <a:ext cx="1565491" cy="415702"/>
            <a:chOff x="0" y="0"/>
            <a:chExt cx="2087321" cy="554270"/>
          </a:xfrm>
        </p:grpSpPr>
        <p:sp>
          <p:nvSpPr>
            <p:cNvPr id="161" name="Freeform 16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2" name="TextBox 16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163" name="Group 163"/>
          <p:cNvGrpSpPr/>
          <p:nvPr/>
        </p:nvGrpSpPr>
        <p:grpSpPr>
          <a:xfrm>
            <a:off x="14307017" y="4988259"/>
            <a:ext cx="1565491" cy="415702"/>
            <a:chOff x="0" y="0"/>
            <a:chExt cx="2087321" cy="554270"/>
          </a:xfrm>
        </p:grpSpPr>
        <p:sp>
          <p:nvSpPr>
            <p:cNvPr id="164" name="Freeform 16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5" name="TextBox 16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166" name="Group 166"/>
          <p:cNvGrpSpPr/>
          <p:nvPr/>
        </p:nvGrpSpPr>
        <p:grpSpPr>
          <a:xfrm>
            <a:off x="15872508" y="4988259"/>
            <a:ext cx="1565491" cy="415702"/>
            <a:chOff x="0" y="0"/>
            <a:chExt cx="2087321" cy="554270"/>
          </a:xfrm>
        </p:grpSpPr>
        <p:sp>
          <p:nvSpPr>
            <p:cNvPr id="167" name="Freeform 16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8" name="TextBox 16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169" name="Group 169"/>
          <p:cNvGrpSpPr/>
          <p:nvPr/>
        </p:nvGrpSpPr>
        <p:grpSpPr>
          <a:xfrm>
            <a:off x="850001" y="5403960"/>
            <a:ext cx="16587997" cy="415701"/>
            <a:chOff x="0" y="0"/>
            <a:chExt cx="22117329" cy="554268"/>
          </a:xfrm>
        </p:grpSpPr>
        <p:sp>
          <p:nvSpPr>
            <p:cNvPr id="170" name="Freeform 17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71" name="Group 171"/>
          <p:cNvGrpSpPr/>
          <p:nvPr/>
        </p:nvGrpSpPr>
        <p:grpSpPr>
          <a:xfrm>
            <a:off x="850001" y="5371982"/>
            <a:ext cx="16587997" cy="47625"/>
            <a:chOff x="0" y="0"/>
            <a:chExt cx="22117329" cy="63500"/>
          </a:xfrm>
        </p:grpSpPr>
        <p:sp>
          <p:nvSpPr>
            <p:cNvPr id="172" name="Freeform 172"/>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173" name="Group 173"/>
          <p:cNvGrpSpPr/>
          <p:nvPr/>
        </p:nvGrpSpPr>
        <p:grpSpPr>
          <a:xfrm>
            <a:off x="1030005" y="5403960"/>
            <a:ext cx="3804056" cy="415702"/>
            <a:chOff x="0" y="0"/>
            <a:chExt cx="5072075" cy="554270"/>
          </a:xfrm>
        </p:grpSpPr>
        <p:sp>
          <p:nvSpPr>
            <p:cNvPr id="174" name="Freeform 174"/>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75" name="TextBox 175"/>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76" name="Group 176"/>
          <p:cNvGrpSpPr/>
          <p:nvPr/>
        </p:nvGrpSpPr>
        <p:grpSpPr>
          <a:xfrm>
            <a:off x="4914062" y="5403960"/>
            <a:ext cx="1565491" cy="415702"/>
            <a:chOff x="0" y="0"/>
            <a:chExt cx="2087321" cy="554270"/>
          </a:xfrm>
        </p:grpSpPr>
        <p:sp>
          <p:nvSpPr>
            <p:cNvPr id="177" name="Freeform 17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78" name="TextBox 17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-12</a:t>
              </a:r>
            </a:p>
          </p:txBody>
        </p:sp>
      </p:grpSp>
      <p:grpSp>
        <p:nvGrpSpPr>
          <p:cNvPr id="179" name="Group 179"/>
          <p:cNvGrpSpPr/>
          <p:nvPr/>
        </p:nvGrpSpPr>
        <p:grpSpPr>
          <a:xfrm>
            <a:off x="6479553" y="5403960"/>
            <a:ext cx="1565491" cy="415702"/>
            <a:chOff x="0" y="0"/>
            <a:chExt cx="2087321" cy="554270"/>
          </a:xfrm>
        </p:grpSpPr>
        <p:sp>
          <p:nvSpPr>
            <p:cNvPr id="180" name="Freeform 18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1" name="TextBox 18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-7</a:t>
              </a:r>
            </a:p>
          </p:txBody>
        </p:sp>
      </p:grpSp>
      <p:grpSp>
        <p:nvGrpSpPr>
          <p:cNvPr id="182" name="Group 182"/>
          <p:cNvGrpSpPr/>
          <p:nvPr/>
        </p:nvGrpSpPr>
        <p:grpSpPr>
          <a:xfrm>
            <a:off x="8045044" y="5403960"/>
            <a:ext cx="1565491" cy="415702"/>
            <a:chOff x="0" y="0"/>
            <a:chExt cx="2087321" cy="554270"/>
          </a:xfrm>
        </p:grpSpPr>
        <p:sp>
          <p:nvSpPr>
            <p:cNvPr id="183" name="Freeform 18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4" name="TextBox 18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-23</a:t>
              </a:r>
            </a:p>
          </p:txBody>
        </p:sp>
      </p:grpSp>
      <p:grpSp>
        <p:nvGrpSpPr>
          <p:cNvPr id="185" name="Group 185"/>
          <p:cNvGrpSpPr/>
          <p:nvPr/>
        </p:nvGrpSpPr>
        <p:grpSpPr>
          <a:xfrm>
            <a:off x="9610534" y="5403960"/>
            <a:ext cx="1565491" cy="415702"/>
            <a:chOff x="0" y="0"/>
            <a:chExt cx="2087321" cy="554270"/>
          </a:xfrm>
        </p:grpSpPr>
        <p:sp>
          <p:nvSpPr>
            <p:cNvPr id="186" name="Freeform 18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7" name="TextBox 18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-17</a:t>
              </a:r>
            </a:p>
          </p:txBody>
        </p:sp>
      </p:grpSp>
      <p:grpSp>
        <p:nvGrpSpPr>
          <p:cNvPr id="188" name="Group 188"/>
          <p:cNvGrpSpPr/>
          <p:nvPr/>
        </p:nvGrpSpPr>
        <p:grpSpPr>
          <a:xfrm>
            <a:off x="11176025" y="5403960"/>
            <a:ext cx="1565491" cy="415702"/>
            <a:chOff x="0" y="0"/>
            <a:chExt cx="2087321" cy="554270"/>
          </a:xfrm>
        </p:grpSpPr>
        <p:sp>
          <p:nvSpPr>
            <p:cNvPr id="189" name="Freeform 18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90" name="TextBox 19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-30</a:t>
              </a:r>
            </a:p>
          </p:txBody>
        </p:sp>
      </p:grpSp>
      <p:grpSp>
        <p:nvGrpSpPr>
          <p:cNvPr id="191" name="Group 191"/>
          <p:cNvGrpSpPr/>
          <p:nvPr/>
        </p:nvGrpSpPr>
        <p:grpSpPr>
          <a:xfrm>
            <a:off x="850001" y="5819662"/>
            <a:ext cx="16587997" cy="415701"/>
            <a:chOff x="0" y="0"/>
            <a:chExt cx="22117329" cy="554268"/>
          </a:xfrm>
        </p:grpSpPr>
        <p:sp>
          <p:nvSpPr>
            <p:cNvPr id="192" name="Freeform 19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93" name="Group 193"/>
          <p:cNvGrpSpPr/>
          <p:nvPr/>
        </p:nvGrpSpPr>
        <p:grpSpPr>
          <a:xfrm>
            <a:off x="850001" y="5819662"/>
            <a:ext cx="16587997" cy="415702"/>
            <a:chOff x="0" y="0"/>
            <a:chExt cx="22117329" cy="554270"/>
          </a:xfrm>
        </p:grpSpPr>
        <p:sp>
          <p:nvSpPr>
            <p:cNvPr id="194" name="Freeform 194"/>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95" name="TextBox 195"/>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III.  AVERAGE DEPOSIT PER CLIENT</a:t>
              </a:r>
            </a:p>
          </p:txBody>
        </p:sp>
      </p:grpSp>
      <p:grpSp>
        <p:nvGrpSpPr>
          <p:cNvPr id="196" name="Group 196"/>
          <p:cNvGrpSpPr/>
          <p:nvPr/>
        </p:nvGrpSpPr>
        <p:grpSpPr>
          <a:xfrm>
            <a:off x="850001" y="6235363"/>
            <a:ext cx="16587997" cy="415701"/>
            <a:chOff x="0" y="0"/>
            <a:chExt cx="22117329" cy="554268"/>
          </a:xfrm>
        </p:grpSpPr>
        <p:sp>
          <p:nvSpPr>
            <p:cNvPr id="197" name="Freeform 19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98" name="Group 198"/>
          <p:cNvGrpSpPr/>
          <p:nvPr/>
        </p:nvGrpSpPr>
        <p:grpSpPr>
          <a:xfrm>
            <a:off x="1030005" y="6235363"/>
            <a:ext cx="3804056" cy="415702"/>
            <a:chOff x="0" y="0"/>
            <a:chExt cx="5072075" cy="554270"/>
          </a:xfrm>
        </p:grpSpPr>
        <p:sp>
          <p:nvSpPr>
            <p:cNvPr id="199" name="Freeform 19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00" name="TextBox 20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Actual / Current</a:t>
              </a:r>
            </a:p>
          </p:txBody>
        </p:sp>
      </p:grpSp>
      <p:grpSp>
        <p:nvGrpSpPr>
          <p:cNvPr id="201" name="Group 201"/>
          <p:cNvGrpSpPr/>
          <p:nvPr/>
        </p:nvGrpSpPr>
        <p:grpSpPr>
          <a:xfrm>
            <a:off x="4914062" y="6235363"/>
            <a:ext cx="1565491" cy="415702"/>
            <a:chOff x="0" y="0"/>
            <a:chExt cx="2087321" cy="554270"/>
          </a:xfrm>
        </p:grpSpPr>
        <p:sp>
          <p:nvSpPr>
            <p:cNvPr id="202" name="Freeform 20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3" name="TextBox 20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$364.82</a:t>
              </a:r>
            </a:p>
          </p:txBody>
        </p:sp>
      </p:grpSp>
      <p:grpSp>
        <p:nvGrpSpPr>
          <p:cNvPr id="204" name="Group 204"/>
          <p:cNvGrpSpPr/>
          <p:nvPr/>
        </p:nvGrpSpPr>
        <p:grpSpPr>
          <a:xfrm>
            <a:off x="6479553" y="6235363"/>
            <a:ext cx="1565491" cy="415702"/>
            <a:chOff x="0" y="0"/>
            <a:chExt cx="2087321" cy="554270"/>
          </a:xfrm>
        </p:grpSpPr>
        <p:sp>
          <p:nvSpPr>
            <p:cNvPr id="205" name="Freeform 20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6" name="TextBox 20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$329.46</a:t>
              </a:r>
            </a:p>
          </p:txBody>
        </p:sp>
      </p:grpSp>
      <p:grpSp>
        <p:nvGrpSpPr>
          <p:cNvPr id="207" name="Group 207"/>
          <p:cNvGrpSpPr/>
          <p:nvPr/>
        </p:nvGrpSpPr>
        <p:grpSpPr>
          <a:xfrm>
            <a:off x="8045044" y="6235363"/>
            <a:ext cx="1565491" cy="415702"/>
            <a:chOff x="0" y="0"/>
            <a:chExt cx="2087321" cy="554270"/>
          </a:xfrm>
        </p:grpSpPr>
        <p:sp>
          <p:nvSpPr>
            <p:cNvPr id="208" name="Freeform 20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9" name="TextBox 20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$261.42</a:t>
              </a:r>
            </a:p>
          </p:txBody>
        </p:sp>
      </p:grpSp>
      <p:grpSp>
        <p:nvGrpSpPr>
          <p:cNvPr id="210" name="Group 210"/>
          <p:cNvGrpSpPr/>
          <p:nvPr/>
        </p:nvGrpSpPr>
        <p:grpSpPr>
          <a:xfrm>
            <a:off x="9610534" y="6235363"/>
            <a:ext cx="1565491" cy="415702"/>
            <a:chOff x="0" y="0"/>
            <a:chExt cx="2087321" cy="554270"/>
          </a:xfrm>
        </p:grpSpPr>
        <p:sp>
          <p:nvSpPr>
            <p:cNvPr id="211" name="Freeform 21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2" name="TextBox 21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$212.84</a:t>
              </a:r>
            </a:p>
          </p:txBody>
        </p:sp>
      </p:grpSp>
      <p:grpSp>
        <p:nvGrpSpPr>
          <p:cNvPr id="213" name="Group 213"/>
          <p:cNvGrpSpPr/>
          <p:nvPr/>
        </p:nvGrpSpPr>
        <p:grpSpPr>
          <a:xfrm>
            <a:off x="11176025" y="6235363"/>
            <a:ext cx="1565491" cy="415702"/>
            <a:chOff x="0" y="0"/>
            <a:chExt cx="2087321" cy="554270"/>
          </a:xfrm>
        </p:grpSpPr>
        <p:sp>
          <p:nvSpPr>
            <p:cNvPr id="214" name="Freeform 21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5" name="TextBox 21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$200.10</a:t>
              </a:r>
            </a:p>
          </p:txBody>
        </p:sp>
      </p:grpSp>
      <p:grpSp>
        <p:nvGrpSpPr>
          <p:cNvPr id="216" name="Group 216"/>
          <p:cNvGrpSpPr/>
          <p:nvPr/>
        </p:nvGrpSpPr>
        <p:grpSpPr>
          <a:xfrm>
            <a:off x="850001" y="6651064"/>
            <a:ext cx="16587997" cy="415701"/>
            <a:chOff x="0" y="0"/>
            <a:chExt cx="22117329" cy="554268"/>
          </a:xfrm>
        </p:grpSpPr>
        <p:sp>
          <p:nvSpPr>
            <p:cNvPr id="217" name="Freeform 21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18" name="Group 218"/>
          <p:cNvGrpSpPr/>
          <p:nvPr/>
        </p:nvGrpSpPr>
        <p:grpSpPr>
          <a:xfrm>
            <a:off x="1030005" y="6651064"/>
            <a:ext cx="3804056" cy="415702"/>
            <a:chOff x="0" y="0"/>
            <a:chExt cx="5072075" cy="554270"/>
          </a:xfrm>
        </p:grpSpPr>
        <p:sp>
          <p:nvSpPr>
            <p:cNvPr id="219" name="Freeform 21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20" name="TextBox 22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21" name="Group 221"/>
          <p:cNvGrpSpPr/>
          <p:nvPr/>
        </p:nvGrpSpPr>
        <p:grpSpPr>
          <a:xfrm>
            <a:off x="4914062" y="6651064"/>
            <a:ext cx="1565491" cy="415702"/>
            <a:chOff x="0" y="0"/>
            <a:chExt cx="2087321" cy="554270"/>
          </a:xfrm>
        </p:grpSpPr>
        <p:sp>
          <p:nvSpPr>
            <p:cNvPr id="222" name="Freeform 22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3" name="TextBox 22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$5,000</a:t>
              </a:r>
            </a:p>
          </p:txBody>
        </p:sp>
      </p:grpSp>
      <p:grpSp>
        <p:nvGrpSpPr>
          <p:cNvPr id="224" name="Group 224"/>
          <p:cNvGrpSpPr/>
          <p:nvPr/>
        </p:nvGrpSpPr>
        <p:grpSpPr>
          <a:xfrm>
            <a:off x="6479553" y="6651064"/>
            <a:ext cx="1565491" cy="415702"/>
            <a:chOff x="0" y="0"/>
            <a:chExt cx="2087321" cy="554270"/>
          </a:xfrm>
        </p:grpSpPr>
        <p:sp>
          <p:nvSpPr>
            <p:cNvPr id="225" name="Freeform 22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6" name="TextBox 22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$5,250</a:t>
              </a:r>
            </a:p>
          </p:txBody>
        </p:sp>
      </p:grpSp>
      <p:grpSp>
        <p:nvGrpSpPr>
          <p:cNvPr id="227" name="Group 227"/>
          <p:cNvGrpSpPr/>
          <p:nvPr/>
        </p:nvGrpSpPr>
        <p:grpSpPr>
          <a:xfrm>
            <a:off x="8045044" y="6651064"/>
            <a:ext cx="1565491" cy="415702"/>
            <a:chOff x="0" y="0"/>
            <a:chExt cx="2087321" cy="554270"/>
          </a:xfrm>
        </p:grpSpPr>
        <p:sp>
          <p:nvSpPr>
            <p:cNvPr id="228" name="Freeform 22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9" name="TextBox 22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$5,513</a:t>
              </a:r>
            </a:p>
          </p:txBody>
        </p:sp>
      </p:grpSp>
      <p:grpSp>
        <p:nvGrpSpPr>
          <p:cNvPr id="230" name="Group 230"/>
          <p:cNvGrpSpPr/>
          <p:nvPr/>
        </p:nvGrpSpPr>
        <p:grpSpPr>
          <a:xfrm>
            <a:off x="9610534" y="6651064"/>
            <a:ext cx="1565491" cy="415702"/>
            <a:chOff x="0" y="0"/>
            <a:chExt cx="2087321" cy="554270"/>
          </a:xfrm>
        </p:grpSpPr>
        <p:sp>
          <p:nvSpPr>
            <p:cNvPr id="231" name="Freeform 23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2" name="TextBox 23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$5,788</a:t>
              </a:r>
            </a:p>
          </p:txBody>
        </p:sp>
      </p:grpSp>
      <p:grpSp>
        <p:nvGrpSpPr>
          <p:cNvPr id="233" name="Group 233"/>
          <p:cNvGrpSpPr/>
          <p:nvPr/>
        </p:nvGrpSpPr>
        <p:grpSpPr>
          <a:xfrm>
            <a:off x="11176025" y="6651064"/>
            <a:ext cx="1565491" cy="415702"/>
            <a:chOff x="0" y="0"/>
            <a:chExt cx="2087321" cy="554270"/>
          </a:xfrm>
        </p:grpSpPr>
        <p:sp>
          <p:nvSpPr>
            <p:cNvPr id="234" name="Freeform 23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5" name="TextBox 23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$6,078</a:t>
              </a:r>
            </a:p>
          </p:txBody>
        </p:sp>
      </p:grpSp>
      <p:grpSp>
        <p:nvGrpSpPr>
          <p:cNvPr id="236" name="Group 236"/>
          <p:cNvGrpSpPr/>
          <p:nvPr/>
        </p:nvGrpSpPr>
        <p:grpSpPr>
          <a:xfrm>
            <a:off x="12741516" y="6651064"/>
            <a:ext cx="1565491" cy="415702"/>
            <a:chOff x="0" y="0"/>
            <a:chExt cx="2087321" cy="554270"/>
          </a:xfrm>
        </p:grpSpPr>
        <p:sp>
          <p:nvSpPr>
            <p:cNvPr id="237" name="Freeform 23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8" name="TextBox 23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$6,381</a:t>
              </a:r>
            </a:p>
          </p:txBody>
        </p:sp>
      </p:grpSp>
      <p:grpSp>
        <p:nvGrpSpPr>
          <p:cNvPr id="239" name="Group 239"/>
          <p:cNvGrpSpPr/>
          <p:nvPr/>
        </p:nvGrpSpPr>
        <p:grpSpPr>
          <a:xfrm>
            <a:off x="14307017" y="6651064"/>
            <a:ext cx="1565491" cy="415702"/>
            <a:chOff x="0" y="0"/>
            <a:chExt cx="2087321" cy="554270"/>
          </a:xfrm>
        </p:grpSpPr>
        <p:sp>
          <p:nvSpPr>
            <p:cNvPr id="240" name="Freeform 24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1" name="TextBox 24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$6,700</a:t>
              </a:r>
            </a:p>
          </p:txBody>
        </p:sp>
      </p:grpSp>
      <p:grpSp>
        <p:nvGrpSpPr>
          <p:cNvPr id="242" name="Group 242"/>
          <p:cNvGrpSpPr/>
          <p:nvPr/>
        </p:nvGrpSpPr>
        <p:grpSpPr>
          <a:xfrm>
            <a:off x="15872508" y="6651064"/>
            <a:ext cx="1565491" cy="415702"/>
            <a:chOff x="0" y="0"/>
            <a:chExt cx="2087321" cy="554270"/>
          </a:xfrm>
        </p:grpSpPr>
        <p:sp>
          <p:nvSpPr>
            <p:cNvPr id="243" name="Freeform 24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4" name="TextBox 24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$7,036</a:t>
              </a:r>
            </a:p>
          </p:txBody>
        </p:sp>
      </p:grpSp>
      <p:grpSp>
        <p:nvGrpSpPr>
          <p:cNvPr id="245" name="Group 245"/>
          <p:cNvGrpSpPr/>
          <p:nvPr/>
        </p:nvGrpSpPr>
        <p:grpSpPr>
          <a:xfrm>
            <a:off x="850001" y="7066765"/>
            <a:ext cx="16587997" cy="415701"/>
            <a:chOff x="0" y="0"/>
            <a:chExt cx="22117329" cy="554268"/>
          </a:xfrm>
        </p:grpSpPr>
        <p:sp>
          <p:nvSpPr>
            <p:cNvPr id="246" name="Freeform 24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47" name="Group 247"/>
          <p:cNvGrpSpPr/>
          <p:nvPr/>
        </p:nvGrpSpPr>
        <p:grpSpPr>
          <a:xfrm>
            <a:off x="850001" y="7034787"/>
            <a:ext cx="16587997" cy="47625"/>
            <a:chOff x="0" y="0"/>
            <a:chExt cx="22117329" cy="63500"/>
          </a:xfrm>
        </p:grpSpPr>
        <p:sp>
          <p:nvSpPr>
            <p:cNvPr id="248" name="Freeform 248"/>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249" name="Group 249"/>
          <p:cNvGrpSpPr/>
          <p:nvPr/>
        </p:nvGrpSpPr>
        <p:grpSpPr>
          <a:xfrm>
            <a:off x="1030005" y="7066765"/>
            <a:ext cx="3804056" cy="415702"/>
            <a:chOff x="0" y="0"/>
            <a:chExt cx="5072075" cy="554270"/>
          </a:xfrm>
        </p:grpSpPr>
        <p:sp>
          <p:nvSpPr>
            <p:cNvPr id="250" name="Freeform 250"/>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51" name="TextBox 251"/>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252" name="Group 252"/>
          <p:cNvGrpSpPr/>
          <p:nvPr/>
        </p:nvGrpSpPr>
        <p:grpSpPr>
          <a:xfrm>
            <a:off x="4914062" y="7066765"/>
            <a:ext cx="1565491" cy="415702"/>
            <a:chOff x="0" y="0"/>
            <a:chExt cx="2087321" cy="554270"/>
          </a:xfrm>
        </p:grpSpPr>
        <p:sp>
          <p:nvSpPr>
            <p:cNvPr id="253" name="Freeform 2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4" name="TextBox 25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-$4,635.18</a:t>
              </a:r>
            </a:p>
          </p:txBody>
        </p:sp>
      </p:grpSp>
      <p:grpSp>
        <p:nvGrpSpPr>
          <p:cNvPr id="255" name="Group 255"/>
          <p:cNvGrpSpPr/>
          <p:nvPr/>
        </p:nvGrpSpPr>
        <p:grpSpPr>
          <a:xfrm>
            <a:off x="6479553" y="7066765"/>
            <a:ext cx="1565491" cy="415702"/>
            <a:chOff x="0" y="0"/>
            <a:chExt cx="2087321" cy="554270"/>
          </a:xfrm>
        </p:grpSpPr>
        <p:sp>
          <p:nvSpPr>
            <p:cNvPr id="256" name="Freeform 2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7" name="TextBox 25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-$4,920.54</a:t>
              </a:r>
            </a:p>
          </p:txBody>
        </p:sp>
      </p:grpSp>
      <p:grpSp>
        <p:nvGrpSpPr>
          <p:cNvPr id="258" name="Group 258"/>
          <p:cNvGrpSpPr/>
          <p:nvPr/>
        </p:nvGrpSpPr>
        <p:grpSpPr>
          <a:xfrm>
            <a:off x="8045044" y="7066765"/>
            <a:ext cx="1565491" cy="415702"/>
            <a:chOff x="0" y="0"/>
            <a:chExt cx="2087321" cy="554270"/>
          </a:xfrm>
        </p:grpSpPr>
        <p:sp>
          <p:nvSpPr>
            <p:cNvPr id="259" name="Freeform 2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0" name="TextBox 26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-$5,251.58</a:t>
              </a:r>
            </a:p>
          </p:txBody>
        </p:sp>
      </p:grpSp>
      <p:grpSp>
        <p:nvGrpSpPr>
          <p:cNvPr id="261" name="Group 261"/>
          <p:cNvGrpSpPr/>
          <p:nvPr/>
        </p:nvGrpSpPr>
        <p:grpSpPr>
          <a:xfrm>
            <a:off x="9610534" y="7066765"/>
            <a:ext cx="1565491" cy="415702"/>
            <a:chOff x="0" y="0"/>
            <a:chExt cx="2087321" cy="554270"/>
          </a:xfrm>
        </p:grpSpPr>
        <p:sp>
          <p:nvSpPr>
            <p:cNvPr id="262" name="Freeform 2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3" name="TextBox 26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-$5,575.16</a:t>
              </a:r>
            </a:p>
          </p:txBody>
        </p:sp>
      </p:grpSp>
      <p:grpSp>
        <p:nvGrpSpPr>
          <p:cNvPr id="264" name="Group 264"/>
          <p:cNvGrpSpPr/>
          <p:nvPr/>
        </p:nvGrpSpPr>
        <p:grpSpPr>
          <a:xfrm>
            <a:off x="11176025" y="7066765"/>
            <a:ext cx="1565491" cy="415702"/>
            <a:chOff x="0" y="0"/>
            <a:chExt cx="2087321" cy="554270"/>
          </a:xfrm>
        </p:grpSpPr>
        <p:sp>
          <p:nvSpPr>
            <p:cNvPr id="265" name="Freeform 26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6" name="TextBox 26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-$5,877.90</a:t>
              </a:r>
            </a:p>
          </p:txBody>
        </p:sp>
      </p:grpSp>
      <p:grpSp>
        <p:nvGrpSpPr>
          <p:cNvPr id="267" name="Group 267"/>
          <p:cNvGrpSpPr/>
          <p:nvPr/>
        </p:nvGrpSpPr>
        <p:grpSpPr>
          <a:xfrm>
            <a:off x="850001" y="7482466"/>
            <a:ext cx="16587997" cy="415701"/>
            <a:chOff x="0" y="0"/>
            <a:chExt cx="22117329" cy="554268"/>
          </a:xfrm>
        </p:grpSpPr>
        <p:sp>
          <p:nvSpPr>
            <p:cNvPr id="268" name="Freeform 268"/>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269" name="Group 269"/>
          <p:cNvGrpSpPr/>
          <p:nvPr/>
        </p:nvGrpSpPr>
        <p:grpSpPr>
          <a:xfrm>
            <a:off x="850001" y="7482466"/>
            <a:ext cx="16587997" cy="415702"/>
            <a:chOff x="0" y="0"/>
            <a:chExt cx="22117329" cy="554270"/>
          </a:xfrm>
        </p:grpSpPr>
        <p:sp>
          <p:nvSpPr>
            <p:cNvPr id="270" name="Freeform 270"/>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271" name="TextBox 271"/>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IV.  TOTAL DEPOSITS, CUMULATIVE</a:t>
              </a:r>
            </a:p>
          </p:txBody>
        </p:sp>
      </p:grpSp>
      <p:grpSp>
        <p:nvGrpSpPr>
          <p:cNvPr id="272" name="Group 272"/>
          <p:cNvGrpSpPr/>
          <p:nvPr/>
        </p:nvGrpSpPr>
        <p:grpSpPr>
          <a:xfrm>
            <a:off x="850001" y="7898178"/>
            <a:ext cx="16587997" cy="415701"/>
            <a:chOff x="0" y="0"/>
            <a:chExt cx="22117329" cy="554268"/>
          </a:xfrm>
        </p:grpSpPr>
        <p:sp>
          <p:nvSpPr>
            <p:cNvPr id="273" name="Freeform 27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74" name="Group 274"/>
          <p:cNvGrpSpPr/>
          <p:nvPr/>
        </p:nvGrpSpPr>
        <p:grpSpPr>
          <a:xfrm>
            <a:off x="1030005" y="7898178"/>
            <a:ext cx="3804056" cy="415702"/>
            <a:chOff x="0" y="0"/>
            <a:chExt cx="5072075" cy="554270"/>
          </a:xfrm>
        </p:grpSpPr>
        <p:sp>
          <p:nvSpPr>
            <p:cNvPr id="275" name="Freeform 27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76" name="TextBox 27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277" name="Group 277"/>
          <p:cNvGrpSpPr/>
          <p:nvPr/>
        </p:nvGrpSpPr>
        <p:grpSpPr>
          <a:xfrm>
            <a:off x="4914062" y="7898178"/>
            <a:ext cx="1565491" cy="415702"/>
            <a:chOff x="0" y="0"/>
            <a:chExt cx="2087321" cy="554270"/>
          </a:xfrm>
        </p:grpSpPr>
        <p:sp>
          <p:nvSpPr>
            <p:cNvPr id="278" name="Freeform 27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79" name="TextBox 27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$4,012.99</a:t>
              </a:r>
            </a:p>
          </p:txBody>
        </p:sp>
      </p:grpSp>
      <p:grpSp>
        <p:nvGrpSpPr>
          <p:cNvPr id="280" name="Group 280"/>
          <p:cNvGrpSpPr/>
          <p:nvPr/>
        </p:nvGrpSpPr>
        <p:grpSpPr>
          <a:xfrm>
            <a:off x="6479553" y="7898178"/>
            <a:ext cx="1565491" cy="415702"/>
            <a:chOff x="0" y="0"/>
            <a:chExt cx="2087321" cy="554270"/>
          </a:xfrm>
        </p:grpSpPr>
        <p:sp>
          <p:nvSpPr>
            <p:cNvPr id="281" name="Freeform 28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2" name="TextBox 28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$7,907.15</a:t>
              </a:r>
            </a:p>
          </p:txBody>
        </p:sp>
      </p:grpSp>
      <p:grpSp>
        <p:nvGrpSpPr>
          <p:cNvPr id="283" name="Group 283"/>
          <p:cNvGrpSpPr/>
          <p:nvPr/>
        </p:nvGrpSpPr>
        <p:grpSpPr>
          <a:xfrm>
            <a:off x="8045044" y="7898178"/>
            <a:ext cx="1565491" cy="415702"/>
            <a:chOff x="0" y="0"/>
            <a:chExt cx="2087321" cy="554270"/>
          </a:xfrm>
        </p:grpSpPr>
        <p:sp>
          <p:nvSpPr>
            <p:cNvPr id="284" name="Freeform 28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5" name="TextBox 28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$8,626.91</a:t>
              </a:r>
            </a:p>
          </p:txBody>
        </p:sp>
      </p:grpSp>
      <p:grpSp>
        <p:nvGrpSpPr>
          <p:cNvPr id="286" name="Group 286"/>
          <p:cNvGrpSpPr/>
          <p:nvPr/>
        </p:nvGrpSpPr>
        <p:grpSpPr>
          <a:xfrm>
            <a:off x="9610534" y="7898178"/>
            <a:ext cx="1565491" cy="415702"/>
            <a:chOff x="0" y="0"/>
            <a:chExt cx="2087321" cy="554270"/>
          </a:xfrm>
        </p:grpSpPr>
        <p:sp>
          <p:nvSpPr>
            <p:cNvPr id="287" name="Freeform 28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8" name="TextBox 28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$10,003.60</a:t>
              </a:r>
            </a:p>
          </p:txBody>
        </p:sp>
      </p:grpSp>
      <p:grpSp>
        <p:nvGrpSpPr>
          <p:cNvPr id="289" name="Group 289"/>
          <p:cNvGrpSpPr/>
          <p:nvPr/>
        </p:nvGrpSpPr>
        <p:grpSpPr>
          <a:xfrm>
            <a:off x="11176025" y="7898178"/>
            <a:ext cx="1565491" cy="415702"/>
            <a:chOff x="0" y="0"/>
            <a:chExt cx="2087321" cy="554270"/>
          </a:xfrm>
        </p:grpSpPr>
        <p:sp>
          <p:nvSpPr>
            <p:cNvPr id="290" name="Freeform 29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1" name="TextBox 29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$12,206.00</a:t>
              </a:r>
            </a:p>
          </p:txBody>
        </p:sp>
      </p:grpSp>
      <p:grpSp>
        <p:nvGrpSpPr>
          <p:cNvPr id="292" name="Group 292"/>
          <p:cNvGrpSpPr/>
          <p:nvPr/>
        </p:nvGrpSpPr>
        <p:grpSpPr>
          <a:xfrm>
            <a:off x="850001" y="8313880"/>
            <a:ext cx="16587997" cy="415701"/>
            <a:chOff x="0" y="0"/>
            <a:chExt cx="22117329" cy="554268"/>
          </a:xfrm>
        </p:grpSpPr>
        <p:sp>
          <p:nvSpPr>
            <p:cNvPr id="293" name="Freeform 29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94" name="Group 294"/>
          <p:cNvGrpSpPr/>
          <p:nvPr/>
        </p:nvGrpSpPr>
        <p:grpSpPr>
          <a:xfrm>
            <a:off x="1030005" y="8313880"/>
            <a:ext cx="3804056" cy="415702"/>
            <a:chOff x="0" y="0"/>
            <a:chExt cx="5072075" cy="554270"/>
          </a:xfrm>
        </p:grpSpPr>
        <p:sp>
          <p:nvSpPr>
            <p:cNvPr id="295" name="Freeform 29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96" name="TextBox 29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97" name="Group 297"/>
          <p:cNvGrpSpPr/>
          <p:nvPr/>
        </p:nvGrpSpPr>
        <p:grpSpPr>
          <a:xfrm>
            <a:off x="4914062" y="8313880"/>
            <a:ext cx="1565491" cy="415702"/>
            <a:chOff x="0" y="0"/>
            <a:chExt cx="2087321" cy="554270"/>
          </a:xfrm>
        </p:grpSpPr>
        <p:sp>
          <p:nvSpPr>
            <p:cNvPr id="298" name="Freeform 29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9" name="TextBox 29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$100,000</a:t>
              </a:r>
            </a:p>
          </p:txBody>
        </p:sp>
      </p:grpSp>
      <p:grpSp>
        <p:nvGrpSpPr>
          <p:cNvPr id="300" name="Group 300"/>
          <p:cNvGrpSpPr/>
          <p:nvPr/>
        </p:nvGrpSpPr>
        <p:grpSpPr>
          <a:xfrm>
            <a:off x="6479553" y="8313880"/>
            <a:ext cx="1565491" cy="415702"/>
            <a:chOff x="0" y="0"/>
            <a:chExt cx="2087321" cy="554270"/>
          </a:xfrm>
        </p:grpSpPr>
        <p:sp>
          <p:nvSpPr>
            <p:cNvPr id="301" name="Freeform 3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2" name="TextBox 30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$123,900</a:t>
              </a:r>
            </a:p>
          </p:txBody>
        </p:sp>
      </p:grpSp>
      <p:grpSp>
        <p:nvGrpSpPr>
          <p:cNvPr id="303" name="Group 303"/>
          <p:cNvGrpSpPr/>
          <p:nvPr/>
        </p:nvGrpSpPr>
        <p:grpSpPr>
          <a:xfrm>
            <a:off x="8045044" y="8313880"/>
            <a:ext cx="1565491" cy="415702"/>
            <a:chOff x="0" y="0"/>
            <a:chExt cx="2087321" cy="554270"/>
          </a:xfrm>
        </p:grpSpPr>
        <p:sp>
          <p:nvSpPr>
            <p:cNvPr id="304" name="Freeform 3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5" name="TextBox 30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$153,512</a:t>
              </a:r>
            </a:p>
          </p:txBody>
        </p:sp>
      </p:grpSp>
      <p:grpSp>
        <p:nvGrpSpPr>
          <p:cNvPr id="306" name="Group 306"/>
          <p:cNvGrpSpPr/>
          <p:nvPr/>
        </p:nvGrpSpPr>
        <p:grpSpPr>
          <a:xfrm>
            <a:off x="9610534" y="8313880"/>
            <a:ext cx="1565491" cy="415702"/>
            <a:chOff x="0" y="0"/>
            <a:chExt cx="2087321" cy="554270"/>
          </a:xfrm>
        </p:grpSpPr>
        <p:sp>
          <p:nvSpPr>
            <p:cNvPr id="307" name="Freeform 3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8" name="TextBox 30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$190,201</a:t>
              </a:r>
            </a:p>
          </p:txBody>
        </p:sp>
      </p:grpSp>
      <p:grpSp>
        <p:nvGrpSpPr>
          <p:cNvPr id="309" name="Group 309"/>
          <p:cNvGrpSpPr/>
          <p:nvPr/>
        </p:nvGrpSpPr>
        <p:grpSpPr>
          <a:xfrm>
            <a:off x="11176025" y="8313880"/>
            <a:ext cx="1565491" cy="415702"/>
            <a:chOff x="0" y="0"/>
            <a:chExt cx="2087321" cy="554270"/>
          </a:xfrm>
        </p:grpSpPr>
        <p:sp>
          <p:nvSpPr>
            <p:cNvPr id="310" name="Freeform 3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1" name="TextBox 31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$235,660</a:t>
              </a:r>
            </a:p>
          </p:txBody>
        </p:sp>
      </p:grpSp>
      <p:grpSp>
        <p:nvGrpSpPr>
          <p:cNvPr id="312" name="Group 312"/>
          <p:cNvGrpSpPr/>
          <p:nvPr/>
        </p:nvGrpSpPr>
        <p:grpSpPr>
          <a:xfrm>
            <a:off x="12741516" y="8313880"/>
            <a:ext cx="1565491" cy="415702"/>
            <a:chOff x="0" y="0"/>
            <a:chExt cx="2087321" cy="554270"/>
          </a:xfrm>
        </p:grpSpPr>
        <p:sp>
          <p:nvSpPr>
            <p:cNvPr id="313" name="Freeform 3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4" name="TextBox 31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$291,982</a:t>
              </a:r>
            </a:p>
          </p:txBody>
        </p:sp>
      </p:grpSp>
      <p:grpSp>
        <p:nvGrpSpPr>
          <p:cNvPr id="315" name="Group 315"/>
          <p:cNvGrpSpPr/>
          <p:nvPr/>
        </p:nvGrpSpPr>
        <p:grpSpPr>
          <a:xfrm>
            <a:off x="14307017" y="8313880"/>
            <a:ext cx="1565491" cy="415702"/>
            <a:chOff x="0" y="0"/>
            <a:chExt cx="2087321" cy="554270"/>
          </a:xfrm>
        </p:grpSpPr>
        <p:sp>
          <p:nvSpPr>
            <p:cNvPr id="316" name="Freeform 31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7" name="TextBox 31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$361,766</a:t>
              </a:r>
            </a:p>
          </p:txBody>
        </p:sp>
      </p:grpSp>
      <p:grpSp>
        <p:nvGrpSpPr>
          <p:cNvPr id="318" name="Group 318"/>
          <p:cNvGrpSpPr/>
          <p:nvPr/>
        </p:nvGrpSpPr>
        <p:grpSpPr>
          <a:xfrm>
            <a:off x="15872508" y="8313880"/>
            <a:ext cx="1565491" cy="415702"/>
            <a:chOff x="0" y="0"/>
            <a:chExt cx="2087321" cy="554270"/>
          </a:xfrm>
        </p:grpSpPr>
        <p:sp>
          <p:nvSpPr>
            <p:cNvPr id="319" name="Freeform 31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20" name="TextBox 32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$448,228</a:t>
              </a:r>
            </a:p>
          </p:txBody>
        </p:sp>
      </p:grpSp>
      <p:grpSp>
        <p:nvGrpSpPr>
          <p:cNvPr id="321" name="Group 321"/>
          <p:cNvGrpSpPr/>
          <p:nvPr/>
        </p:nvGrpSpPr>
        <p:grpSpPr>
          <a:xfrm>
            <a:off x="850001" y="8729581"/>
            <a:ext cx="16587997" cy="415701"/>
            <a:chOff x="0" y="0"/>
            <a:chExt cx="22117329" cy="554268"/>
          </a:xfrm>
        </p:grpSpPr>
        <p:sp>
          <p:nvSpPr>
            <p:cNvPr id="322" name="Freeform 32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323" name="Group 323"/>
          <p:cNvGrpSpPr/>
          <p:nvPr/>
        </p:nvGrpSpPr>
        <p:grpSpPr>
          <a:xfrm>
            <a:off x="850001" y="8697602"/>
            <a:ext cx="16587997" cy="47625"/>
            <a:chOff x="0" y="0"/>
            <a:chExt cx="22117329" cy="63500"/>
          </a:xfrm>
        </p:grpSpPr>
        <p:sp>
          <p:nvSpPr>
            <p:cNvPr id="324" name="Freeform 32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325" name="Group 325"/>
          <p:cNvGrpSpPr/>
          <p:nvPr/>
        </p:nvGrpSpPr>
        <p:grpSpPr>
          <a:xfrm>
            <a:off x="1030005" y="8729581"/>
            <a:ext cx="3804056" cy="415702"/>
            <a:chOff x="0" y="0"/>
            <a:chExt cx="5072075" cy="554270"/>
          </a:xfrm>
        </p:grpSpPr>
        <p:sp>
          <p:nvSpPr>
            <p:cNvPr id="326" name="Freeform 326"/>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327" name="TextBox 327"/>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328" name="Group 328"/>
          <p:cNvGrpSpPr/>
          <p:nvPr/>
        </p:nvGrpSpPr>
        <p:grpSpPr>
          <a:xfrm>
            <a:off x="4914062" y="8729581"/>
            <a:ext cx="1565491" cy="415702"/>
            <a:chOff x="0" y="0"/>
            <a:chExt cx="2087321" cy="554270"/>
          </a:xfrm>
        </p:grpSpPr>
        <p:sp>
          <p:nvSpPr>
            <p:cNvPr id="329" name="Freeform 3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0" name="TextBox 33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-$95,987.01</a:t>
              </a:r>
            </a:p>
          </p:txBody>
        </p:sp>
      </p:grpSp>
      <p:grpSp>
        <p:nvGrpSpPr>
          <p:cNvPr id="331" name="Group 331"/>
          <p:cNvGrpSpPr/>
          <p:nvPr/>
        </p:nvGrpSpPr>
        <p:grpSpPr>
          <a:xfrm>
            <a:off x="6479553" y="8729581"/>
            <a:ext cx="1565491" cy="415702"/>
            <a:chOff x="0" y="0"/>
            <a:chExt cx="2087321" cy="554270"/>
          </a:xfrm>
        </p:grpSpPr>
        <p:sp>
          <p:nvSpPr>
            <p:cNvPr id="332" name="Freeform 3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3" name="TextBox 33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-$115,992.85</a:t>
              </a:r>
            </a:p>
          </p:txBody>
        </p:sp>
      </p:grpSp>
      <p:grpSp>
        <p:nvGrpSpPr>
          <p:cNvPr id="334" name="Group 334"/>
          <p:cNvGrpSpPr/>
          <p:nvPr/>
        </p:nvGrpSpPr>
        <p:grpSpPr>
          <a:xfrm>
            <a:off x="8045044" y="8729581"/>
            <a:ext cx="1565491" cy="415702"/>
            <a:chOff x="0" y="0"/>
            <a:chExt cx="2087321" cy="554270"/>
          </a:xfrm>
        </p:grpSpPr>
        <p:sp>
          <p:nvSpPr>
            <p:cNvPr id="335" name="Freeform 3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6" name="TextBox 33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-$144,885.19</a:t>
              </a:r>
            </a:p>
          </p:txBody>
        </p:sp>
      </p:grpSp>
      <p:grpSp>
        <p:nvGrpSpPr>
          <p:cNvPr id="337" name="Group 337"/>
          <p:cNvGrpSpPr/>
          <p:nvPr/>
        </p:nvGrpSpPr>
        <p:grpSpPr>
          <a:xfrm>
            <a:off x="9610534" y="8729581"/>
            <a:ext cx="1565491" cy="415702"/>
            <a:chOff x="0" y="0"/>
            <a:chExt cx="2087321" cy="554270"/>
          </a:xfrm>
        </p:grpSpPr>
        <p:sp>
          <p:nvSpPr>
            <p:cNvPr id="338" name="Freeform 3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9" name="TextBox 339"/>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-$180,197.89</a:t>
              </a:r>
            </a:p>
          </p:txBody>
        </p:sp>
      </p:grpSp>
      <p:grpSp>
        <p:nvGrpSpPr>
          <p:cNvPr id="340" name="Group 340"/>
          <p:cNvGrpSpPr/>
          <p:nvPr/>
        </p:nvGrpSpPr>
        <p:grpSpPr>
          <a:xfrm>
            <a:off x="11176025" y="8729581"/>
            <a:ext cx="1565491" cy="415702"/>
            <a:chOff x="0" y="0"/>
            <a:chExt cx="2087321" cy="554270"/>
          </a:xfrm>
        </p:grpSpPr>
        <p:sp>
          <p:nvSpPr>
            <p:cNvPr id="341" name="Freeform 34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42" name="TextBox 34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-$223,454.00</a:t>
              </a:r>
            </a:p>
          </p:txBody>
        </p:sp>
      </p:grpSp>
      <p:grpSp>
        <p:nvGrpSpPr>
          <p:cNvPr id="343" name="Group 343"/>
          <p:cNvGrpSpPr/>
          <p:nvPr/>
        </p:nvGrpSpPr>
        <p:grpSpPr>
          <a:xfrm>
            <a:off x="850001" y="9115539"/>
            <a:ext cx="16587997" cy="47625"/>
            <a:chOff x="0" y="0"/>
            <a:chExt cx="22117329" cy="63500"/>
          </a:xfrm>
        </p:grpSpPr>
        <p:sp>
          <p:nvSpPr>
            <p:cNvPr id="344" name="Freeform 34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132257"/>
            </a:solid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IT 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 Product Roadmap</a:t>
              </a:r>
            </a:p>
          </p:txBody>
        </p:sp>
      </p:grpSp>
      <p:grpSp>
        <p:nvGrpSpPr>
          <p:cNvPr id="5" name="Group 5"/>
          <p:cNvGrpSpPr/>
          <p:nvPr/>
        </p:nvGrpSpPr>
        <p:grpSpPr>
          <a:xfrm>
            <a:off x="470535" y="648843"/>
            <a:ext cx="115062" cy="732282"/>
            <a:chOff x="0" y="0"/>
            <a:chExt cx="153416" cy="976376"/>
          </a:xfrm>
        </p:grpSpPr>
        <p:sp>
          <p:nvSpPr>
            <p:cNvPr id="6" name="Freeform 6"/>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10" name="Group 10"/>
          <p:cNvGrpSpPr/>
          <p:nvPr/>
        </p:nvGrpSpPr>
        <p:grpSpPr>
          <a:xfrm>
            <a:off x="630555" y="1769832"/>
            <a:ext cx="17026890" cy="1656177"/>
            <a:chOff x="0" y="0"/>
            <a:chExt cx="22702520" cy="2208236"/>
          </a:xfrm>
        </p:grpSpPr>
        <p:grpSp>
          <p:nvGrpSpPr>
            <p:cNvPr id="11" name="Group 11"/>
            <p:cNvGrpSpPr/>
            <p:nvPr/>
          </p:nvGrpSpPr>
          <p:grpSpPr>
            <a:xfrm>
              <a:off x="0" y="0"/>
              <a:ext cx="22702520" cy="2208236"/>
              <a:chOff x="0" y="0"/>
              <a:chExt cx="22702520" cy="2208236"/>
            </a:xfrm>
          </p:grpSpPr>
          <p:sp>
            <p:nvSpPr>
              <p:cNvPr id="12" name="Freeform 12"/>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3" name="Group 13"/>
            <p:cNvGrpSpPr/>
            <p:nvPr/>
          </p:nvGrpSpPr>
          <p:grpSpPr>
            <a:xfrm>
              <a:off x="433324" y="360172"/>
              <a:ext cx="19751040" cy="731520"/>
              <a:chOff x="0" y="0"/>
              <a:chExt cx="19751040" cy="731520"/>
            </a:xfrm>
          </p:grpSpPr>
          <p:sp>
            <p:nvSpPr>
              <p:cNvPr id="14" name="Freeform 14"/>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15" name="TextBox 15"/>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The Next Mobile App - </a:t>
                </a:r>
                <a:r>
                  <a:rPr lang="en-US" sz="2050" b="1">
                    <a:solidFill>
                      <a:srgbClr val="CC4E00"/>
                    </a:solidFill>
                    <a:latin typeface="Exo 2 Bold"/>
                    <a:ea typeface="Exo 2 Bold"/>
                    <a:cs typeface="Exo 2 Bold"/>
                    <a:sym typeface="Exo 2 Bold"/>
                  </a:rPr>
                  <a:t>v1 due 08 Oct 2026</a:t>
                </a:r>
              </a:p>
            </p:txBody>
          </p:sp>
        </p:grpSp>
        <p:grpSp>
          <p:nvGrpSpPr>
            <p:cNvPr id="16" name="Group 16"/>
            <p:cNvGrpSpPr/>
            <p:nvPr/>
          </p:nvGrpSpPr>
          <p:grpSpPr>
            <a:xfrm>
              <a:off x="433324" y="1092644"/>
              <a:ext cx="21835872" cy="914400"/>
              <a:chOff x="0" y="0"/>
              <a:chExt cx="21835872" cy="914400"/>
            </a:xfrm>
          </p:grpSpPr>
          <p:sp>
            <p:nvSpPr>
              <p:cNvPr id="17" name="Freeform 17"/>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18" name="TextBox 18"/>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Built by Exante and tested by QATestLab before release. A simpler, easier trading experience.</a:t>
                </a:r>
              </a:p>
            </p:txBody>
          </p:sp>
        </p:grpSp>
      </p:grpSp>
      <p:grpSp>
        <p:nvGrpSpPr>
          <p:cNvPr id="19" name="Group 19"/>
          <p:cNvGrpSpPr/>
          <p:nvPr/>
        </p:nvGrpSpPr>
        <p:grpSpPr>
          <a:xfrm>
            <a:off x="630555" y="3966642"/>
            <a:ext cx="17026890" cy="1656177"/>
            <a:chOff x="0" y="0"/>
            <a:chExt cx="22702520" cy="2208236"/>
          </a:xfrm>
        </p:grpSpPr>
        <p:grpSp>
          <p:nvGrpSpPr>
            <p:cNvPr id="20" name="Group 20"/>
            <p:cNvGrpSpPr/>
            <p:nvPr/>
          </p:nvGrpSpPr>
          <p:grpSpPr>
            <a:xfrm>
              <a:off x="0" y="0"/>
              <a:ext cx="22702520" cy="2208236"/>
              <a:chOff x="0" y="0"/>
              <a:chExt cx="22702520" cy="2208236"/>
            </a:xfrm>
          </p:grpSpPr>
          <p:sp>
            <p:nvSpPr>
              <p:cNvPr id="21" name="Freeform 21"/>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22" name="Group 22"/>
            <p:cNvGrpSpPr/>
            <p:nvPr/>
          </p:nvGrpSpPr>
          <p:grpSpPr>
            <a:xfrm>
              <a:off x="433324" y="360172"/>
              <a:ext cx="19751040" cy="731520"/>
              <a:chOff x="0" y="0"/>
              <a:chExt cx="19751040" cy="731520"/>
            </a:xfrm>
          </p:grpSpPr>
          <p:sp>
            <p:nvSpPr>
              <p:cNvPr id="23" name="Freeform 2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24" name="TextBox 24"/>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Guest Access - </a:t>
                </a:r>
                <a:r>
                  <a:rPr lang="en-US" sz="2050" b="1">
                    <a:solidFill>
                      <a:srgbClr val="CC4E00"/>
                    </a:solidFill>
                    <a:latin typeface="Exo 2 Bold"/>
                    <a:ea typeface="Exo 2 Bold"/>
                    <a:cs typeface="Exo 2 Bold"/>
                    <a:sym typeface="Exo 2 Bold"/>
                  </a:rPr>
                  <a:t>Planned 2027</a:t>
                </a:r>
              </a:p>
            </p:txBody>
          </p:sp>
        </p:grpSp>
        <p:grpSp>
          <p:nvGrpSpPr>
            <p:cNvPr id="25" name="Group 25"/>
            <p:cNvGrpSpPr/>
            <p:nvPr/>
          </p:nvGrpSpPr>
          <p:grpSpPr>
            <a:xfrm>
              <a:off x="433324" y="1092644"/>
              <a:ext cx="21835872" cy="914400"/>
              <a:chOff x="0" y="0"/>
              <a:chExt cx="21835872" cy="914400"/>
            </a:xfrm>
          </p:grpSpPr>
          <p:sp>
            <p:nvSpPr>
              <p:cNvPr id="26" name="Freeform 26"/>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27" name="TextBox 27"/>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Users can explore the platform before onboarding, removing KYC as a barrier to first experience. </a:t>
                </a:r>
              </a:p>
            </p:txBody>
          </p:sp>
        </p:grpSp>
      </p:grpSp>
      <p:grpSp>
        <p:nvGrpSpPr>
          <p:cNvPr id="28" name="Group 28"/>
          <p:cNvGrpSpPr/>
          <p:nvPr/>
        </p:nvGrpSpPr>
        <p:grpSpPr>
          <a:xfrm>
            <a:off x="630555" y="6163452"/>
            <a:ext cx="17026890" cy="2156327"/>
            <a:chOff x="0" y="0"/>
            <a:chExt cx="22702520" cy="2875103"/>
          </a:xfrm>
        </p:grpSpPr>
        <p:grpSp>
          <p:nvGrpSpPr>
            <p:cNvPr id="29" name="Group 29"/>
            <p:cNvGrpSpPr/>
            <p:nvPr/>
          </p:nvGrpSpPr>
          <p:grpSpPr>
            <a:xfrm>
              <a:off x="0" y="0"/>
              <a:ext cx="22702520" cy="2875103"/>
              <a:chOff x="0" y="0"/>
              <a:chExt cx="22702520" cy="2875103"/>
            </a:xfrm>
          </p:grpSpPr>
          <p:sp>
            <p:nvSpPr>
              <p:cNvPr id="30" name="Freeform 30"/>
              <p:cNvSpPr/>
              <p:nvPr/>
            </p:nvSpPr>
            <p:spPr>
              <a:xfrm>
                <a:off x="0" y="0"/>
                <a:ext cx="22702520" cy="2875102"/>
              </a:xfrm>
              <a:custGeom>
                <a:avLst/>
                <a:gdLst/>
                <a:ahLst/>
                <a:cxnLst/>
                <a:rect l="l" t="t" r="r" b="b"/>
                <a:pathLst>
                  <a:path w="22702520" h="2875102">
                    <a:moveTo>
                      <a:pt x="0" y="138602"/>
                    </a:moveTo>
                    <a:cubicBezTo>
                      <a:pt x="0" y="62025"/>
                      <a:pt x="66040" y="0"/>
                      <a:pt x="147574" y="0"/>
                    </a:cubicBezTo>
                    <a:lnTo>
                      <a:pt x="22554946" y="0"/>
                    </a:lnTo>
                    <a:cubicBezTo>
                      <a:pt x="22636480" y="0"/>
                      <a:pt x="22702520" y="62025"/>
                      <a:pt x="22702520" y="138602"/>
                    </a:cubicBezTo>
                    <a:lnTo>
                      <a:pt x="22702520" y="2736500"/>
                    </a:lnTo>
                    <a:cubicBezTo>
                      <a:pt x="22702520" y="2813077"/>
                      <a:pt x="22636480" y="2875102"/>
                      <a:pt x="22554946" y="2875102"/>
                    </a:cubicBezTo>
                    <a:lnTo>
                      <a:pt x="147574" y="2875102"/>
                    </a:lnTo>
                    <a:cubicBezTo>
                      <a:pt x="66040" y="2875102"/>
                      <a:pt x="0" y="2813077"/>
                      <a:pt x="0" y="2736500"/>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1" name="Group 31"/>
            <p:cNvGrpSpPr/>
            <p:nvPr/>
          </p:nvGrpSpPr>
          <p:grpSpPr>
            <a:xfrm>
              <a:off x="433324" y="360172"/>
              <a:ext cx="19751040" cy="731520"/>
              <a:chOff x="0" y="0"/>
              <a:chExt cx="19751040" cy="731520"/>
            </a:xfrm>
          </p:grpSpPr>
          <p:sp>
            <p:nvSpPr>
              <p:cNvPr id="32" name="Freeform 32"/>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33" name="TextBox 33"/>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Market Pulse Feature - </a:t>
                </a:r>
                <a:r>
                  <a:rPr lang="en-US" sz="2050" b="1">
                    <a:solidFill>
                      <a:srgbClr val="D4AF37"/>
                    </a:solidFill>
                    <a:latin typeface="Exo 2 Bold"/>
                    <a:ea typeface="Exo 2 Bold"/>
                    <a:cs typeface="Exo 2 Bold"/>
                    <a:sym typeface="Exo 2 Bold"/>
                  </a:rPr>
                  <a:t/>
                </a:r>
                <a:r>
                  <a:rPr lang="en-US" sz="2050" b="1">
                    <a:solidFill>
                      <a:srgbClr val="CC4E00"/>
                    </a:solidFill>
                    <a:latin typeface="Exo 2 Bold"/>
                    <a:ea typeface="Exo 2 Bold"/>
                    <a:cs typeface="Exo 2 Bold"/>
                    <a:sym typeface="Exo 2 Bold"/>
                  </a:rPr>
                  <a:t>In Discussion</a:t>
                </a:r>
              </a:p>
            </p:txBody>
          </p:sp>
        </p:grpSp>
        <p:grpSp>
          <p:nvGrpSpPr>
            <p:cNvPr id="34" name="Group 34"/>
            <p:cNvGrpSpPr/>
            <p:nvPr/>
          </p:nvGrpSpPr>
          <p:grpSpPr>
            <a:xfrm>
              <a:off x="433324" y="1092644"/>
              <a:ext cx="21835872" cy="914400"/>
              <a:chOff x="0" y="0"/>
              <a:chExt cx="21835872" cy="914400"/>
            </a:xfrm>
          </p:grpSpPr>
          <p:sp>
            <p:nvSpPr>
              <p:cNvPr id="35" name="Freeform 35"/>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36" name="TextBox 36"/>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In-app live market news to drive repeat engagement.</a:t>
                </a:r>
              </a:p>
            </p:txBody>
          </p:sp>
        </p:grpSp>
        <p:sp>
          <p:nvSpPr>
            <p:cNvPr id="37" name="TextBox 37"/>
            <p:cNvSpPr txBox="1"/>
            <p:nvPr/>
          </p:nvSpPr>
          <p:spPr>
            <a:xfrm>
              <a:off x="433324" y="1997519"/>
              <a:ext cx="8399661" cy="352425"/>
            </a:xfrm>
            <a:prstGeom prst="rect">
              <a:avLst/>
            </a:prstGeom>
          </p:spPr>
          <p:txBody>
            <a:bodyPr lIns="0" tIns="0" rIns="0" bIns="0" rtlCol="0" anchor="t">
              <a:spAutoFit/>
            </a:bodyPr>
            <a:lstStyle/>
            <a:p>
              <a:pPr algn="l">
                <a:lnSpc>
                  <a:spcPts val="2027"/>
                </a:lnSpc>
                <a:spcBef>
                  <a:spcPct val="0"/>
                </a:spcBef>
              </a:pPr>
              <a:r>
                <a:rPr lang="en-US" sz="1689" b="1" i="1">
                  <a:solidFill>
                    <a:srgbClr val="D4AF37"/>
                  </a:solidFill>
                  <a:latin typeface="Exo 2 Bold Italics"/>
                  <a:ea typeface="Exo 2 Bold Italics"/>
                  <a:cs typeface="Exo 2 Bold Italics"/>
                  <a:sym typeface="Exo 2 Bold Italics"/>
                </a:rPr>
                <a:t>Note: EXANTE verifying data-provider access for white-labels.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3857625"/>
            <a:ext cx="15703023" cy="2571750"/>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Client Experience </a:t>
            </a:r>
          </a:p>
          <a:p>
            <a:pPr algn="ctr">
              <a:lnSpc>
                <a:spcPts val="10199"/>
              </a:lnSpc>
            </a:pPr>
            <a:r>
              <a:rPr lang="en-US" sz="8499" b="1">
                <a:solidFill>
                  <a:srgbClr val="FFFFFF"/>
                </a:solidFill>
                <a:latin typeface="Exo 2 Bold"/>
                <a:ea typeface="Exo 2 Bold"/>
                <a:cs typeface="Exo 2 Bold"/>
                <a:sym typeface="Exo 2 Bold"/>
              </a:rPr>
              <a:t>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Marketing</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Freeform 4"/>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5" name="Group 5"/>
          <p:cNvGrpSpPr/>
          <p:nvPr/>
        </p:nvGrpSpPr>
        <p:grpSpPr>
          <a:xfrm>
            <a:off x="804861" y="603559"/>
            <a:ext cx="14636945" cy="822851"/>
            <a:chOff x="0" y="0"/>
            <a:chExt cx="19515927" cy="1097134"/>
          </a:xfrm>
        </p:grpSpPr>
        <p:sp>
          <p:nvSpPr>
            <p:cNvPr id="6" name="Freeform 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7" name="TextBox 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Sponsored Ads: What's Live Now</a:t>
              </a:r>
            </a:p>
          </p:txBody>
        </p:sp>
      </p:gr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470535" y="1963511"/>
          <a:ext cx="9087244" cy="2967928"/>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9288">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931">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Mention &amp; Win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Live, 23 Sep to 20 Oct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Timed before salary days; 26.3K views, 1,129 likes on launch post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931">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Ali Sabeel Video</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 18 Sep</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dirty="0">
                          <a:solidFill>
                            <a:srgbClr val="5A6A85"/>
                          </a:solidFill>
                          <a:latin typeface="Exo 2"/>
                          <a:ea typeface="Exo 2"/>
                          <a:cs typeface="Exo 2"/>
                          <a:sym typeface="Exo 2"/>
                        </a:rPr>
                        <a:t>GCC-wide targeting, 3-week run completed, no further spend invoiced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grpSp>
        <p:nvGrpSpPr>
          <p:cNvPr id="13" name="Group 13"/>
          <p:cNvGrpSpPr/>
          <p:nvPr/>
        </p:nvGrpSpPr>
        <p:grpSpPr>
          <a:xfrm>
            <a:off x="804861" y="4941661"/>
            <a:ext cx="14636945" cy="822851"/>
            <a:chOff x="0" y="0"/>
            <a:chExt cx="19515927" cy="1097134"/>
          </a:xfrm>
        </p:grpSpPr>
        <p:sp>
          <p:nvSpPr>
            <p:cNvPr id="14" name="Freeform 1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15" name="TextBox 1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What is Actioned &amp; In Progress</a:t>
              </a:r>
            </a:p>
          </p:txBody>
        </p:sp>
      </p:grpSp>
      <p:grpSp>
        <p:nvGrpSpPr>
          <p:cNvPr id="16" name="Group 16"/>
          <p:cNvGrpSpPr/>
          <p:nvPr/>
        </p:nvGrpSpPr>
        <p:grpSpPr>
          <a:xfrm>
            <a:off x="470535" y="4986945"/>
            <a:ext cx="115062" cy="732282"/>
            <a:chOff x="0" y="0"/>
            <a:chExt cx="153416" cy="976376"/>
          </a:xfrm>
        </p:grpSpPr>
        <p:sp>
          <p:nvSpPr>
            <p:cNvPr id="17" name="Freeform 17"/>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9" name="Table 19"/>
          <p:cNvGraphicFramePr>
            <a:graphicFrameLocks noGrp="1"/>
          </p:cNvGraphicFramePr>
          <p:nvPr>
            <p:extLst>
              <p:ext uri="{D42A27DB-BD31-4B8C-83A1-F6EECF244321}">
                <p14:modId xmlns:p14="http://schemas.microsoft.com/office/powerpoint/2010/main" val="3917843913"/>
              </p:ext>
            </p:extLst>
          </p:nvPr>
        </p:nvGraphicFramePr>
        <p:xfrm>
          <a:off x="470535" y="5918617"/>
          <a:ext cx="9087244" cy="3568701"/>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8855">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Monthly Calendar</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New How To video with a human presenter posted</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Abdulelah Al Harbi</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Video live on Instagram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Manal Talal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Scheduled for 22 October</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dirty="0">
                          <a:solidFill>
                            <a:srgbClr val="5A6A85"/>
                          </a:solidFill>
                          <a:latin typeface="Exo 2"/>
                          <a:ea typeface="Exo 2"/>
                          <a:cs typeface="Exo 2"/>
                          <a:sym typeface="Exo 2"/>
                        </a:rPr>
                        <a:t>Brief sent, video production started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Freeform 20"/>
          <p:cNvSpPr/>
          <p:nvPr/>
        </p:nvSpPr>
        <p:spPr>
          <a:xfrm>
            <a:off x="9892105" y="1866236"/>
            <a:ext cx="8115313" cy="3865362"/>
          </a:xfrm>
          <a:custGeom>
            <a:avLst/>
            <a:gdLst/>
            <a:ahLst/>
            <a:cxnLst/>
            <a:rect l="l" t="t" r="r" b="b"/>
            <a:pathLst>
              <a:path w="8115313" h="3865362">
                <a:moveTo>
                  <a:pt x="0" y="0"/>
                </a:moveTo>
                <a:lnTo>
                  <a:pt x="8115313" y="0"/>
                </a:lnTo>
                <a:lnTo>
                  <a:pt x="8115313" y="3865362"/>
                </a:lnTo>
                <a:lnTo>
                  <a:pt x="0" y="3865362"/>
                </a:lnTo>
                <a:lnTo>
                  <a:pt x="0" y="0"/>
                </a:lnTo>
                <a:close/>
              </a:path>
            </a:pathLst>
          </a:custGeom>
          <a:blipFill>
            <a:blip r:embed="rId5"/>
            <a:stretch>
              <a:fillRect t="-63"/>
            </a:stretch>
          </a:blipFill>
        </p:spPr>
        <p:txBody>
          <a:bodyPr/>
          <a:lstStyle/>
          <a:p>
            <a:endParaRPr lang="en-US"/>
          </a:p>
        </p:txBody>
      </p:sp>
      <p:sp>
        <p:nvSpPr>
          <p:cNvPr id="21" name="Rounded Rectangle 20"/>
          <p:cNvSpPr/>
          <p:nvPr/>
        </p:nvSpPr>
        <p:spPr>
          <a:xfrm>
            <a:off x="9921695" y="8050000"/>
            <a:ext cx="3450000" cy="2150000"/>
          </a:xfrm>
          <a:prstGeom prst="roundRect">
            <a:avLst/>
          </a:prstGeom>
          <a:solidFill>
            <a:srgbClr val="F7F9FC"/>
          </a:solidFill>
          <a:ln w="15875">
            <a:solidFill>
              <a:srgbClr val="C9A84C"/>
            </a:solidFill>
          </a:ln>
          <a:effectLst/>
        </p:spPr>
        <p:style>
          <a:lnRef idx="1">
            <a:schemeClr val="accent1"/>
          </a:lnRef>
          <a:fillRef idx="3">
            <a:schemeClr val="accent1"/>
          </a:fillRef>
          <a:effectRef idx="2">
            <a:schemeClr val="accent1"/>
          </a:effectRef>
          <a:fontRef idx="minor">
            <a:schemeClr val="lt1"/>
          </a:fontRef>
        </p:style>
        <p:txBody>
          <a:bodyPr wrap="square" lIns="160000" tIns="140000" rIns="160000" bIns="140000" rtlCol="0" anchor="ctr"/>
          <a:lstStyle/>
          <a:p>
            <a:pPr algn="ctr"/>
            <a:r>
              <a:rPr sz="1300" b="1" dirty="0">
                <a:solidFill>
                  <a:srgbClr val="121A2F"/>
                </a:solidFill>
                <a:latin typeface="Calibri"/>
              </a:rPr>
              <a:t>NEW CHANNEL: GOOGLE ADS &amp; LINKEDIN</a:t>
            </a:r>
          </a:p>
          <a:p>
            <a:pPr>
              <a:spcBef>
                <a:spcPts val="600"/>
              </a:spcBef>
            </a:pPr>
            <a:r>
              <a:rPr sz="1000" dirty="0">
                <a:solidFill>
                  <a:srgbClr val="5A6A85"/>
                </a:solidFill>
                <a:latin typeface="Calibri"/>
              </a:rPr>
              <a:t>Testing since 22 Sep. Google Search (Starter/Emerging) + LinkedIn lead gen (Affluent). Interest targeting: Saudi Arabia and Riyadh; location restricted to Saudi Arabia residents only. $30,000 campaign, Sep to Dec (Ignite, TI7541).</a:t>
            </a:r>
          </a:p>
          <a:p>
            <a:pPr>
              <a:spcBef>
                <a:spcPts val="600"/>
              </a:spcBef>
            </a:pPr>
            <a:r>
              <a:rPr sz="1000" b="1" dirty="0">
                <a:solidFill>
                  <a:srgbClr val="5A6A85"/>
                </a:solidFill>
                <a:latin typeface="Calibri"/>
              </a:rPr>
              <a:t>In testing, English is outperforming Arabic: 212 vs 176 sessions, 97% vs 87% engagement rate.</a:t>
            </a:r>
          </a:p>
        </p:txBody>
      </p:sp>
      <p:pic>
        <p:nvPicPr>
          <p:cNvPr id="22" name="Picture 21" descr="1.png"/>
          <p:cNvPicPr>
            <a:picLocks noChangeAspect="1"/>
          </p:cNvPicPr>
          <p:nvPr/>
        </p:nvPicPr>
        <p:blipFill>
          <a:blip r:embed="rId6"/>
          <a:stretch>
            <a:fillRect/>
          </a:stretch>
        </p:blipFill>
        <p:spPr>
          <a:xfrm>
            <a:off x="13511695" y="8125324"/>
            <a:ext cx="4530000" cy="1999351"/>
          </a:xfrm>
          <a:prstGeom prst="rect">
            <a:avLst/>
          </a:prstGeom>
        </p:spPr>
      </p:pic>
      <p:sp>
        <p:nvSpPr>
          <p:cNvPr id="23" name="TextBox 22"/>
          <p:cNvSpPr txBox="1"/>
          <p:nvPr/>
        </p:nvSpPr>
        <p:spPr>
          <a:xfrm>
            <a:off x="13511695" y="7865324"/>
            <a:ext cx="4530000" cy="240000"/>
          </a:xfrm>
          <a:prstGeom prst="rect">
            <a:avLst/>
          </a:prstGeom>
          <a:noFill/>
        </p:spPr>
        <p:txBody>
          <a:bodyPr wrap="square">
            <a:spAutoFit/>
          </a:bodyPr>
          <a:lstStyle/>
          <a:p>
            <a:r>
              <a:rPr sz="900" i="1" dirty="0">
                <a:solidFill>
                  <a:srgbClr val="5A6A85"/>
                </a:solidFill>
                <a:latin typeface="Calibri"/>
              </a:rPr>
              <a:t>Google Analytics: website traffic, 21 to 27 Sep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grpSp>
        <p:nvGrpSpPr>
          <p:cNvPr id="4" name="Group 4"/>
          <p:cNvGrpSpPr/>
          <p:nvPr/>
        </p:nvGrpSpPr>
        <p:grpSpPr>
          <a:xfrm>
            <a:off x="14630340" y="1028700"/>
            <a:ext cx="2628960" cy="757148"/>
            <a:chOff x="0" y="0"/>
            <a:chExt cx="6614516" cy="1905000"/>
          </a:xfrm>
        </p:grpSpPr>
        <p:sp>
          <p:nvSpPr>
            <p:cNvPr id="5" name="Freeform 5"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6" name="Freeform 6"/>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292489" y="3780565"/>
            <a:ext cx="15703023" cy="1285875"/>
          </a:xfrm>
          <a:prstGeom prst="rect">
            <a:avLst/>
          </a:prstGeom>
        </p:spPr>
        <p:txBody>
          <a:bodyPr lIns="0" tIns="0" rIns="0" bIns="0" rtlCol="0" anchor="t">
            <a:spAutoFit/>
          </a:bodyPr>
          <a:lstStyle/>
          <a:p>
            <a:pPr algn="ctr">
              <a:lnSpc>
                <a:spcPts val="10079"/>
              </a:lnSpc>
            </a:pPr>
            <a:r>
              <a:rPr lang="en-US" sz="8399" b="1">
                <a:solidFill>
                  <a:srgbClr val="FFFFFF"/>
                </a:solidFill>
                <a:latin typeface="Exo 2 Bold"/>
                <a:ea typeface="Exo 2 Bold"/>
                <a:cs typeface="Exo 2 Bold"/>
                <a:sym typeface="Exo 2 Bold"/>
              </a:rPr>
              <a:t>Thank You</a:t>
            </a:r>
          </a:p>
        </p:txBody>
      </p:sp>
      <p:sp>
        <p:nvSpPr>
          <p:cNvPr id="8" name="TextBox 8"/>
          <p:cNvSpPr txBox="1"/>
          <p:nvPr/>
        </p:nvSpPr>
        <p:spPr>
          <a:xfrm>
            <a:off x="6321387" y="5649399"/>
            <a:ext cx="5555060" cy="485775"/>
          </a:xfrm>
          <a:prstGeom prst="rect">
            <a:avLst/>
          </a:prstGeom>
        </p:spPr>
        <p:txBody>
          <a:bodyPr lIns="0" tIns="0" rIns="0" bIns="0" rtlCol="0" anchor="t">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Appendix</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7695" y="1773555"/>
            <a:ext cx="17026890" cy="2057400"/>
            <a:chOff x="0" y="0"/>
            <a:chExt cx="22702520" cy="2743200"/>
          </a:xfrm>
        </p:grpSpPr>
        <p:sp>
          <p:nvSpPr>
            <p:cNvPr id="3" name="Freeform 3"/>
            <p:cNvSpPr/>
            <p:nvPr/>
          </p:nvSpPr>
          <p:spPr>
            <a:xfrm>
              <a:off x="0" y="0"/>
              <a:ext cx="22702520" cy="2743200"/>
            </a:xfrm>
            <a:custGeom>
              <a:avLst/>
              <a:gdLst/>
              <a:ahLst/>
              <a:cxnLst/>
              <a:rect l="l" t="t" r="r" b="b"/>
              <a:pathLst>
                <a:path w="22702520" h="2743200">
                  <a:moveTo>
                    <a:pt x="0" y="168768"/>
                  </a:moveTo>
                  <a:cubicBezTo>
                    <a:pt x="0" y="75539"/>
                    <a:pt x="66167" y="0"/>
                    <a:pt x="147828" y="0"/>
                  </a:cubicBezTo>
                  <a:lnTo>
                    <a:pt x="22554692" y="0"/>
                  </a:lnTo>
                  <a:cubicBezTo>
                    <a:pt x="22636353" y="0"/>
                    <a:pt x="22702520" y="75539"/>
                    <a:pt x="22702520" y="168768"/>
                  </a:cubicBezTo>
                  <a:lnTo>
                    <a:pt x="22702520" y="2574432"/>
                  </a:lnTo>
                  <a:cubicBezTo>
                    <a:pt x="22702520" y="2667661"/>
                    <a:pt x="22636353" y="2743200"/>
                    <a:pt x="22554692" y="2743200"/>
                  </a:cubicBezTo>
                  <a:lnTo>
                    <a:pt x="147828" y="2743200"/>
                  </a:lnTo>
                  <a:cubicBezTo>
                    <a:pt x="66167" y="2743200"/>
                    <a:pt x="0" y="2667661"/>
                    <a:pt x="0" y="257443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4" name="Group 4"/>
          <p:cNvGrpSpPr/>
          <p:nvPr/>
        </p:nvGrpSpPr>
        <p:grpSpPr>
          <a:xfrm>
            <a:off x="932688" y="2057400"/>
            <a:ext cx="2057400" cy="438912"/>
            <a:chOff x="0" y="0"/>
            <a:chExt cx="2743200" cy="585216"/>
          </a:xfrm>
        </p:grpSpPr>
        <p:sp>
          <p:nvSpPr>
            <p:cNvPr id="5" name="Freeform 5"/>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80784"/>
              </a:srgbClr>
            </a:solidFill>
          </p:spPr>
          <p:txBody>
            <a:bodyPr/>
            <a:lstStyle/>
            <a:p>
              <a:endParaRPr lang="en-US"/>
            </a:p>
          </p:txBody>
        </p:sp>
      </p:grpSp>
      <p:grpSp>
        <p:nvGrpSpPr>
          <p:cNvPr id="6" name="Group 6"/>
          <p:cNvGrpSpPr/>
          <p:nvPr/>
        </p:nvGrpSpPr>
        <p:grpSpPr>
          <a:xfrm>
            <a:off x="932688" y="2057400"/>
            <a:ext cx="2057400" cy="438912"/>
            <a:chOff x="0" y="0"/>
            <a:chExt cx="2743200" cy="585216"/>
          </a:xfrm>
        </p:grpSpPr>
        <p:sp>
          <p:nvSpPr>
            <p:cNvPr id="7" name="Freeform 7"/>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solidFill>
              <a:srgbClr val="1E9E6B"/>
            </a:solidFill>
          </p:spPr>
          <p:txBody>
            <a:bodyPr/>
            <a:lstStyle/>
            <a:p>
              <a:endParaRPr lang="en-US"/>
            </a:p>
          </p:txBody>
        </p:sp>
        <p:sp>
          <p:nvSpPr>
            <p:cNvPr id="8" name="TextBox 8"/>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DONE</a:t>
              </a:r>
            </a:p>
          </p:txBody>
        </p:sp>
      </p:grpSp>
      <p:grpSp>
        <p:nvGrpSpPr>
          <p:cNvPr id="9" name="Group 9"/>
          <p:cNvGrpSpPr/>
          <p:nvPr/>
        </p:nvGrpSpPr>
        <p:grpSpPr>
          <a:xfrm>
            <a:off x="3223260" y="2002536"/>
            <a:ext cx="13441680" cy="548640"/>
            <a:chOff x="0" y="0"/>
            <a:chExt cx="17922240" cy="731520"/>
          </a:xfrm>
        </p:grpSpPr>
        <p:sp>
          <p:nvSpPr>
            <p:cNvPr id="10" name="Freeform 10"/>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11" name="TextBox 11"/>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Helpdesk Deployment - Frappe Helpdesk</a:t>
              </a:r>
            </a:p>
          </p:txBody>
        </p:sp>
      </p:grpSp>
      <p:grpSp>
        <p:nvGrpSpPr>
          <p:cNvPr id="12" name="Group 12"/>
          <p:cNvGrpSpPr/>
          <p:nvPr/>
        </p:nvGrpSpPr>
        <p:grpSpPr>
          <a:xfrm>
            <a:off x="932688" y="2633472"/>
            <a:ext cx="16322040" cy="822960"/>
            <a:chOff x="0" y="0"/>
            <a:chExt cx="21762720" cy="1097280"/>
          </a:xfrm>
        </p:grpSpPr>
        <p:sp>
          <p:nvSpPr>
            <p:cNvPr id="13" name="Freeform 13"/>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14" name="TextBox 14"/>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Deployed by WealthTech IT on 17 Sep 2026, ahead of the 20 Sep target. Cybersecurity approval was received on 20 August.</a:t>
              </a:r>
            </a:p>
          </p:txBody>
        </p:sp>
      </p:grpSp>
      <p:grpSp>
        <p:nvGrpSpPr>
          <p:cNvPr id="15" name="Group 15"/>
          <p:cNvGrpSpPr/>
          <p:nvPr/>
        </p:nvGrpSpPr>
        <p:grpSpPr>
          <a:xfrm>
            <a:off x="607695" y="4168521"/>
            <a:ext cx="17026890" cy="1802130"/>
            <a:chOff x="0" y="0"/>
            <a:chExt cx="22702520" cy="2402840"/>
          </a:xfrm>
        </p:grpSpPr>
        <p:sp>
          <p:nvSpPr>
            <p:cNvPr id="16" name="Freeform 16"/>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7" name="Group 17"/>
          <p:cNvGrpSpPr/>
          <p:nvPr/>
        </p:nvGrpSpPr>
        <p:grpSpPr>
          <a:xfrm>
            <a:off x="932688" y="4452366"/>
            <a:ext cx="2057400" cy="438912"/>
            <a:chOff x="0" y="0"/>
            <a:chExt cx="2743200" cy="585216"/>
          </a:xfrm>
        </p:grpSpPr>
        <p:sp>
          <p:nvSpPr>
            <p:cNvPr id="18" name="Freeform 18"/>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80784"/>
              </a:srgbClr>
            </a:solidFill>
          </p:spPr>
          <p:txBody>
            <a:bodyPr/>
            <a:lstStyle/>
            <a:p>
              <a:endParaRPr lang="en-US"/>
            </a:p>
          </p:txBody>
        </p:sp>
      </p:grpSp>
      <p:grpSp>
        <p:nvGrpSpPr>
          <p:cNvPr id="19" name="Group 19"/>
          <p:cNvGrpSpPr/>
          <p:nvPr/>
        </p:nvGrpSpPr>
        <p:grpSpPr>
          <a:xfrm>
            <a:off x="932688" y="4452366"/>
            <a:ext cx="2057400" cy="438912"/>
            <a:chOff x="0" y="0"/>
            <a:chExt cx="2743200" cy="585216"/>
          </a:xfrm>
        </p:grpSpPr>
        <p:sp>
          <p:nvSpPr>
            <p:cNvPr id="20" name="Freeform 20"/>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21" name="TextBox 21"/>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PLANNED</a:t>
              </a:r>
            </a:p>
          </p:txBody>
        </p:sp>
      </p:grpSp>
      <p:grpSp>
        <p:nvGrpSpPr>
          <p:cNvPr id="22" name="Group 22"/>
          <p:cNvGrpSpPr/>
          <p:nvPr/>
        </p:nvGrpSpPr>
        <p:grpSpPr>
          <a:xfrm>
            <a:off x="3223260" y="4397502"/>
            <a:ext cx="13441680" cy="548640"/>
            <a:chOff x="0" y="0"/>
            <a:chExt cx="17922240" cy="731520"/>
          </a:xfrm>
        </p:grpSpPr>
        <p:sp>
          <p:nvSpPr>
            <p:cNvPr id="23" name="Freeform 23"/>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24" name="TextBox 24"/>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WealthTech CRM - Frappe CRM</a:t>
              </a:r>
            </a:p>
          </p:txBody>
        </p:sp>
      </p:grpSp>
      <p:grpSp>
        <p:nvGrpSpPr>
          <p:cNvPr id="25" name="Group 25"/>
          <p:cNvGrpSpPr/>
          <p:nvPr/>
        </p:nvGrpSpPr>
        <p:grpSpPr>
          <a:xfrm>
            <a:off x="932688" y="5028438"/>
            <a:ext cx="16322040" cy="822960"/>
            <a:chOff x="0" y="0"/>
            <a:chExt cx="21762720" cy="1097280"/>
          </a:xfrm>
        </p:grpSpPr>
        <p:sp>
          <p:nvSpPr>
            <p:cNvPr id="26" name="Freeform 26"/>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27" name="TextBox 27"/>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has approved Frappe applications. Frappe's CRM module will hold one customer base. Starts now that Helpdesk is live.</a:t>
              </a:r>
            </a:p>
          </p:txBody>
        </p:sp>
      </p:grpSp>
      <p:grpSp>
        <p:nvGrpSpPr>
          <p:cNvPr id="28" name="Group 28"/>
          <p:cNvGrpSpPr/>
          <p:nvPr/>
        </p:nvGrpSpPr>
        <p:grpSpPr>
          <a:xfrm>
            <a:off x="607695" y="6225921"/>
            <a:ext cx="17026890" cy="1802130"/>
            <a:chOff x="0" y="0"/>
            <a:chExt cx="22702520" cy="2402840"/>
          </a:xfrm>
        </p:grpSpPr>
        <p:sp>
          <p:nvSpPr>
            <p:cNvPr id="29" name="Freeform 29"/>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0" name="Group 30"/>
          <p:cNvGrpSpPr/>
          <p:nvPr/>
        </p:nvGrpSpPr>
        <p:grpSpPr>
          <a:xfrm>
            <a:off x="932688" y="6509766"/>
            <a:ext cx="2057400" cy="438912"/>
            <a:chOff x="0" y="0"/>
            <a:chExt cx="2743200" cy="585216"/>
          </a:xfrm>
        </p:grpSpPr>
        <p:sp>
          <p:nvSpPr>
            <p:cNvPr id="31" name="Freeform 31"/>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80784"/>
              </a:srgbClr>
            </a:solidFill>
          </p:spPr>
          <p:txBody>
            <a:bodyPr/>
            <a:lstStyle/>
            <a:p>
              <a:endParaRPr lang="en-US"/>
            </a:p>
          </p:txBody>
        </p:sp>
      </p:grpSp>
      <p:grpSp>
        <p:nvGrpSpPr>
          <p:cNvPr id="32" name="Group 32"/>
          <p:cNvGrpSpPr/>
          <p:nvPr/>
        </p:nvGrpSpPr>
        <p:grpSpPr>
          <a:xfrm>
            <a:off x="932688" y="6509766"/>
            <a:ext cx="2057400" cy="438912"/>
            <a:chOff x="0" y="0"/>
            <a:chExt cx="2743200" cy="585216"/>
          </a:xfrm>
        </p:grpSpPr>
        <p:sp>
          <p:nvSpPr>
            <p:cNvPr id="33" name="Freeform 33"/>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34" name="TextBox 34"/>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EXPLORING</a:t>
              </a:r>
            </a:p>
          </p:txBody>
        </p:sp>
      </p:grpSp>
      <p:grpSp>
        <p:nvGrpSpPr>
          <p:cNvPr id="35" name="Group 35"/>
          <p:cNvGrpSpPr/>
          <p:nvPr/>
        </p:nvGrpSpPr>
        <p:grpSpPr>
          <a:xfrm>
            <a:off x="3223260" y="6454902"/>
            <a:ext cx="13441680" cy="548640"/>
            <a:chOff x="0" y="0"/>
            <a:chExt cx="17922240" cy="731520"/>
          </a:xfrm>
        </p:grpSpPr>
        <p:sp>
          <p:nvSpPr>
            <p:cNvPr id="36" name="Freeform 36"/>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37" name="TextBox 37"/>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Reporting Dashboard</a:t>
              </a:r>
            </a:p>
          </p:txBody>
        </p:sp>
      </p:grpSp>
      <p:grpSp>
        <p:nvGrpSpPr>
          <p:cNvPr id="38" name="Group 38"/>
          <p:cNvGrpSpPr/>
          <p:nvPr/>
        </p:nvGrpSpPr>
        <p:grpSpPr>
          <a:xfrm>
            <a:off x="932688" y="7085838"/>
            <a:ext cx="16322040" cy="822960"/>
            <a:chOff x="0" y="0"/>
            <a:chExt cx="21762720" cy="1097280"/>
          </a:xfrm>
        </p:grpSpPr>
        <p:sp>
          <p:nvSpPr>
            <p:cNvPr id="39" name="Freeform 39"/>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40" name="TextBox 40"/>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grpSp>
        <p:nvGrpSpPr>
          <p:cNvPr id="41" name="Group 41"/>
          <p:cNvGrpSpPr/>
          <p:nvPr/>
        </p:nvGrpSpPr>
        <p:grpSpPr>
          <a:xfrm>
            <a:off x="804861" y="603559"/>
            <a:ext cx="13241570" cy="822851"/>
            <a:chOff x="0" y="0"/>
            <a:chExt cx="17655427" cy="1097134"/>
          </a:xfrm>
        </p:grpSpPr>
        <p:sp>
          <p:nvSpPr>
            <p:cNvPr id="42" name="Freeform 42"/>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3" name="TextBox 43"/>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Platform Initiatives Roadmap</a:t>
              </a:r>
            </a:p>
          </p:txBody>
        </p:sp>
      </p:grpSp>
      <p:grpSp>
        <p:nvGrpSpPr>
          <p:cNvPr id="44" name="Group 44"/>
          <p:cNvGrpSpPr/>
          <p:nvPr/>
        </p:nvGrpSpPr>
        <p:grpSpPr>
          <a:xfrm>
            <a:off x="470535" y="648843"/>
            <a:ext cx="115062" cy="732282"/>
            <a:chOff x="0" y="0"/>
            <a:chExt cx="153416" cy="976376"/>
          </a:xfrm>
        </p:grpSpPr>
        <p:sp>
          <p:nvSpPr>
            <p:cNvPr id="45" name="Freeform 45"/>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6" name="Freeform 46"/>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47" name="Freeform 4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8" name="Freeform 4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49" name="Group 49"/>
          <p:cNvGrpSpPr/>
          <p:nvPr/>
        </p:nvGrpSpPr>
        <p:grpSpPr>
          <a:xfrm>
            <a:off x="13580622" y="1983486"/>
            <a:ext cx="3722370" cy="512826"/>
            <a:chOff x="0" y="0"/>
            <a:chExt cx="4963160" cy="683768"/>
          </a:xfrm>
        </p:grpSpPr>
        <p:grpSp>
          <p:nvGrpSpPr>
            <p:cNvPr id="50" name="Group 50"/>
            <p:cNvGrpSpPr/>
            <p:nvPr/>
          </p:nvGrpSpPr>
          <p:grpSpPr>
            <a:xfrm>
              <a:off x="0" y="0"/>
              <a:ext cx="4963160" cy="683768"/>
              <a:chOff x="0" y="0"/>
              <a:chExt cx="4963160" cy="683768"/>
            </a:xfrm>
          </p:grpSpPr>
          <p:sp>
            <p:nvSpPr>
              <p:cNvPr id="51" name="Freeform 51"/>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2" name="Group 52"/>
            <p:cNvGrpSpPr/>
            <p:nvPr/>
          </p:nvGrpSpPr>
          <p:grpSpPr>
            <a:xfrm>
              <a:off x="12700" y="12700"/>
              <a:ext cx="4937760" cy="658368"/>
              <a:chOff x="0" y="0"/>
              <a:chExt cx="4937760" cy="658368"/>
            </a:xfrm>
          </p:grpSpPr>
          <p:sp>
            <p:nvSpPr>
              <p:cNvPr id="53" name="Freeform 53"/>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54" name="TextBox 54"/>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20 Sep 2026</a:t>
                </a:r>
              </a:p>
            </p:txBody>
          </p:sp>
        </p:grpSp>
      </p:grpSp>
      <p:grpSp>
        <p:nvGrpSpPr>
          <p:cNvPr id="55" name="Group 55"/>
          <p:cNvGrpSpPr/>
          <p:nvPr/>
        </p:nvGrpSpPr>
        <p:grpSpPr>
          <a:xfrm>
            <a:off x="13580622" y="4397502"/>
            <a:ext cx="3722370" cy="512826"/>
            <a:chOff x="0" y="0"/>
            <a:chExt cx="4963160" cy="683768"/>
          </a:xfrm>
        </p:grpSpPr>
        <p:grpSp>
          <p:nvGrpSpPr>
            <p:cNvPr id="56" name="Group 56"/>
            <p:cNvGrpSpPr/>
            <p:nvPr/>
          </p:nvGrpSpPr>
          <p:grpSpPr>
            <a:xfrm>
              <a:off x="0" y="0"/>
              <a:ext cx="4963160" cy="683768"/>
              <a:chOff x="0" y="0"/>
              <a:chExt cx="4963160" cy="683768"/>
            </a:xfrm>
          </p:grpSpPr>
          <p:sp>
            <p:nvSpPr>
              <p:cNvPr id="57" name="Freeform 57"/>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8" name="Group 58"/>
            <p:cNvGrpSpPr/>
            <p:nvPr/>
          </p:nvGrpSpPr>
          <p:grpSpPr>
            <a:xfrm>
              <a:off x="12700" y="12700"/>
              <a:ext cx="4937760" cy="658368"/>
              <a:chOff x="0" y="0"/>
              <a:chExt cx="4937760" cy="658368"/>
            </a:xfrm>
          </p:grpSpPr>
          <p:sp>
            <p:nvSpPr>
              <p:cNvPr id="59" name="Freeform 59"/>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0" name="TextBox 60"/>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29 Oct 2026</a:t>
                </a:r>
              </a:p>
            </p:txBody>
          </p:sp>
        </p:grpSp>
      </p:grpSp>
      <p:grpSp>
        <p:nvGrpSpPr>
          <p:cNvPr id="61" name="Group 61"/>
          <p:cNvGrpSpPr/>
          <p:nvPr/>
        </p:nvGrpSpPr>
        <p:grpSpPr>
          <a:xfrm>
            <a:off x="13580622" y="6454902"/>
            <a:ext cx="3722370" cy="512826"/>
            <a:chOff x="0" y="0"/>
            <a:chExt cx="4963160" cy="683768"/>
          </a:xfrm>
        </p:grpSpPr>
        <p:grpSp>
          <p:nvGrpSpPr>
            <p:cNvPr id="62" name="Group 62"/>
            <p:cNvGrpSpPr/>
            <p:nvPr/>
          </p:nvGrpSpPr>
          <p:grpSpPr>
            <a:xfrm>
              <a:off x="0" y="0"/>
              <a:ext cx="4963160" cy="683768"/>
              <a:chOff x="0" y="0"/>
              <a:chExt cx="4963160" cy="683768"/>
            </a:xfrm>
          </p:grpSpPr>
          <p:sp>
            <p:nvSpPr>
              <p:cNvPr id="63" name="Freeform 63"/>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BF6E9"/>
              </a:solidFill>
              <a:ln w="19050" cap="sq">
                <a:solidFill>
                  <a:srgbClr val="EEE0BB"/>
                </a:solidFill>
                <a:prstDash val="solid"/>
                <a:miter/>
              </a:ln>
            </p:spPr>
            <p:txBody>
              <a:bodyPr/>
              <a:lstStyle/>
              <a:p>
                <a:endParaRPr lang="en-US"/>
              </a:p>
            </p:txBody>
          </p:sp>
        </p:grpSp>
        <p:grpSp>
          <p:nvGrpSpPr>
            <p:cNvPr id="64" name="Group 64"/>
            <p:cNvGrpSpPr/>
            <p:nvPr/>
          </p:nvGrpSpPr>
          <p:grpSpPr>
            <a:xfrm>
              <a:off x="12700" y="12700"/>
              <a:ext cx="4937760" cy="658368"/>
              <a:chOff x="0" y="0"/>
              <a:chExt cx="4937760" cy="658368"/>
            </a:xfrm>
          </p:grpSpPr>
          <p:sp>
            <p:nvSpPr>
              <p:cNvPr id="65" name="Freeform 65"/>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6" name="TextBox 66"/>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8A7530"/>
                    </a:solidFill>
                    <a:latin typeface="Exo 2 Bold"/>
                    <a:ea typeface="Exo 2 Bold"/>
                    <a:cs typeface="Exo 2 Bold"/>
                    <a:sym typeface="Exo 2 Bold"/>
                  </a:rPr>
                  <a:t>Under R&amp;D - date TBC</a:t>
                </a:r>
              </a:p>
            </p:txBody>
          </p:sp>
        </p:grpSp>
      </p:grpSp>
      <p:grpSp>
        <p:nvGrpSpPr>
          <p:cNvPr id="67" name="Group 67"/>
          <p:cNvGrpSpPr/>
          <p:nvPr/>
        </p:nvGrpSpPr>
        <p:grpSpPr>
          <a:xfrm>
            <a:off x="932688" y="3122676"/>
            <a:ext cx="16322040" cy="822960"/>
            <a:chOff x="0" y="0"/>
            <a:chExt cx="21762720" cy="1097280"/>
          </a:xfrm>
        </p:grpSpPr>
        <p:sp>
          <p:nvSpPr>
            <p:cNvPr id="68" name="Freeform 68"/>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69" name="TextBox 69"/>
            <p:cNvSpPr txBox="1"/>
            <p:nvPr/>
          </p:nvSpPr>
          <p:spPr>
            <a:xfrm>
              <a:off x="0" y="-28575"/>
              <a:ext cx="21762720" cy="1125855"/>
            </a:xfrm>
            <a:prstGeom prst="rect">
              <a:avLst/>
            </a:prstGeom>
          </p:spPr>
          <p:txBody>
            <a:bodyPr lIns="0" tIns="0" rIns="0" bIns="0" rtlCol="0" anchor="ctr"/>
            <a:lstStyle/>
            <a:p>
              <a:pPr algn="l">
                <a:lnSpc>
                  <a:spcPts val="2277"/>
                </a:lnSpc>
              </a:pPr>
              <a:r>
                <a:rPr lang="en-US" sz="1650" b="1" i="1">
                  <a:solidFill>
                    <a:srgbClr val="1E9E6B"/>
                  </a:solidFill>
                  <a:latin typeface="Exo 2 Bold Italics"/>
                  <a:ea typeface="Exo 2 Bold Italics"/>
                  <a:cs typeface="Exo 2 Bold Italics"/>
                  <a:sym typeface="Exo 2 Bold Italics"/>
                </a:rPr>
                <a:t>Live since 17 Sep 2026</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2291039"/>
            <a:ext cx="5364290" cy="4472940"/>
            <a:chOff x="0" y="0"/>
            <a:chExt cx="7152386" cy="5963920"/>
          </a:xfrm>
        </p:grpSpPr>
        <p:sp>
          <p:nvSpPr>
            <p:cNvPr id="3" name="Freeform 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4" name="Group 4"/>
          <p:cNvGrpSpPr/>
          <p:nvPr/>
        </p:nvGrpSpPr>
        <p:grpSpPr>
          <a:xfrm>
            <a:off x="1028700" y="2633939"/>
            <a:ext cx="685800" cy="685800"/>
            <a:chOff x="0" y="0"/>
            <a:chExt cx="914400" cy="914400"/>
          </a:xfrm>
        </p:grpSpPr>
        <p:sp>
          <p:nvSpPr>
            <p:cNvPr id="5" name="Freeform 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6" name="Group 6"/>
          <p:cNvGrpSpPr/>
          <p:nvPr/>
        </p:nvGrpSpPr>
        <p:grpSpPr>
          <a:xfrm>
            <a:off x="1028700" y="2633939"/>
            <a:ext cx="685800" cy="685800"/>
            <a:chOff x="0" y="0"/>
            <a:chExt cx="914400" cy="914400"/>
          </a:xfrm>
        </p:grpSpPr>
        <p:sp>
          <p:nvSpPr>
            <p:cNvPr id="7" name="Freeform 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 name="Group 8"/>
          <p:cNvGrpSpPr/>
          <p:nvPr/>
        </p:nvGrpSpPr>
        <p:grpSpPr>
          <a:xfrm>
            <a:off x="1028700" y="2626795"/>
            <a:ext cx="685800" cy="692944"/>
            <a:chOff x="0" y="0"/>
            <a:chExt cx="914400" cy="923925"/>
          </a:xfrm>
        </p:grpSpPr>
        <p:sp>
          <p:nvSpPr>
            <p:cNvPr id="9" name="Freeform 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0" name="Group 10"/>
          <p:cNvGrpSpPr/>
          <p:nvPr/>
        </p:nvGrpSpPr>
        <p:grpSpPr>
          <a:xfrm>
            <a:off x="1028700" y="2619651"/>
            <a:ext cx="685800" cy="700088"/>
            <a:chOff x="0" y="0"/>
            <a:chExt cx="914400" cy="933450"/>
          </a:xfrm>
        </p:grpSpPr>
        <p:sp>
          <p:nvSpPr>
            <p:cNvPr id="11" name="Freeform 1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2" name="TextBox 1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01</a:t>
              </a:r>
            </a:p>
          </p:txBody>
        </p:sp>
      </p:grpSp>
      <p:grpSp>
        <p:nvGrpSpPr>
          <p:cNvPr id="13" name="Group 13"/>
          <p:cNvGrpSpPr/>
          <p:nvPr/>
        </p:nvGrpSpPr>
        <p:grpSpPr>
          <a:xfrm>
            <a:off x="1920240" y="2592791"/>
            <a:ext cx="3855529" cy="685800"/>
            <a:chOff x="0" y="0"/>
            <a:chExt cx="5140706" cy="914400"/>
          </a:xfrm>
        </p:grpSpPr>
        <p:sp>
          <p:nvSpPr>
            <p:cNvPr id="14" name="Freeform 1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5" name="Group 15"/>
          <p:cNvGrpSpPr/>
          <p:nvPr/>
        </p:nvGrpSpPr>
        <p:grpSpPr>
          <a:xfrm>
            <a:off x="1920240" y="2585647"/>
            <a:ext cx="3855568" cy="692944"/>
            <a:chOff x="0" y="0"/>
            <a:chExt cx="5140757" cy="923925"/>
          </a:xfrm>
        </p:grpSpPr>
        <p:sp>
          <p:nvSpPr>
            <p:cNvPr id="16" name="Freeform 1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7" name="Group 17"/>
          <p:cNvGrpSpPr/>
          <p:nvPr/>
        </p:nvGrpSpPr>
        <p:grpSpPr>
          <a:xfrm>
            <a:off x="1920240" y="2578503"/>
            <a:ext cx="3855568" cy="700088"/>
            <a:chOff x="0" y="0"/>
            <a:chExt cx="5140757" cy="933450"/>
          </a:xfrm>
        </p:grpSpPr>
        <p:sp>
          <p:nvSpPr>
            <p:cNvPr id="18" name="Freeform 1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9" name="TextBox 1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Helpdesk Deployment</a:t>
              </a:r>
            </a:p>
          </p:txBody>
        </p:sp>
      </p:grpSp>
      <p:grpSp>
        <p:nvGrpSpPr>
          <p:cNvPr id="20" name="Group 20"/>
          <p:cNvGrpSpPr/>
          <p:nvPr/>
        </p:nvGrpSpPr>
        <p:grpSpPr>
          <a:xfrm>
            <a:off x="1028700" y="3456899"/>
            <a:ext cx="4678490" cy="411480"/>
            <a:chOff x="0" y="0"/>
            <a:chExt cx="6237986" cy="548640"/>
          </a:xfrm>
        </p:grpSpPr>
        <p:sp>
          <p:nvSpPr>
            <p:cNvPr id="21" name="Freeform 2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22" name="Group 22"/>
          <p:cNvGrpSpPr/>
          <p:nvPr/>
        </p:nvGrpSpPr>
        <p:grpSpPr>
          <a:xfrm>
            <a:off x="1028700" y="3456899"/>
            <a:ext cx="4678490" cy="411480"/>
            <a:chOff x="0" y="0"/>
            <a:chExt cx="6237986" cy="548640"/>
          </a:xfrm>
        </p:grpSpPr>
        <p:sp>
          <p:nvSpPr>
            <p:cNvPr id="23" name="Freeform 2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24" name="Group 24"/>
          <p:cNvGrpSpPr/>
          <p:nvPr/>
        </p:nvGrpSpPr>
        <p:grpSpPr>
          <a:xfrm>
            <a:off x="1028700" y="3449755"/>
            <a:ext cx="4678528" cy="418624"/>
            <a:chOff x="0" y="0"/>
            <a:chExt cx="6238037" cy="558165"/>
          </a:xfrm>
        </p:grpSpPr>
        <p:sp>
          <p:nvSpPr>
            <p:cNvPr id="25" name="Freeform 2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26" name="Group 26"/>
          <p:cNvGrpSpPr/>
          <p:nvPr/>
        </p:nvGrpSpPr>
        <p:grpSpPr>
          <a:xfrm>
            <a:off x="1028700" y="3442611"/>
            <a:ext cx="4678528" cy="425768"/>
            <a:chOff x="0" y="0"/>
            <a:chExt cx="6238037" cy="567690"/>
          </a:xfrm>
        </p:grpSpPr>
        <p:sp>
          <p:nvSpPr>
            <p:cNvPr id="27" name="Freeform 2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28" name="TextBox 2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20 Sep 2026</a:t>
              </a:r>
            </a:p>
          </p:txBody>
        </p:sp>
      </p:grpSp>
      <p:grpSp>
        <p:nvGrpSpPr>
          <p:cNvPr id="29" name="Group 29"/>
          <p:cNvGrpSpPr/>
          <p:nvPr/>
        </p:nvGrpSpPr>
        <p:grpSpPr>
          <a:xfrm>
            <a:off x="1028700" y="5143967"/>
            <a:ext cx="2125980" cy="384048"/>
            <a:chOff x="0" y="0"/>
            <a:chExt cx="2834640" cy="512064"/>
          </a:xfrm>
        </p:grpSpPr>
        <p:sp>
          <p:nvSpPr>
            <p:cNvPr id="30" name="Freeform 3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31" name="Group 31"/>
          <p:cNvGrpSpPr/>
          <p:nvPr/>
        </p:nvGrpSpPr>
        <p:grpSpPr>
          <a:xfrm>
            <a:off x="1028700" y="5136823"/>
            <a:ext cx="2125980" cy="391192"/>
            <a:chOff x="0" y="0"/>
            <a:chExt cx="2834640" cy="521589"/>
          </a:xfrm>
        </p:grpSpPr>
        <p:sp>
          <p:nvSpPr>
            <p:cNvPr id="32" name="Freeform 3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33" name="Group 33"/>
          <p:cNvGrpSpPr/>
          <p:nvPr/>
        </p:nvGrpSpPr>
        <p:grpSpPr>
          <a:xfrm>
            <a:off x="1028700" y="5129679"/>
            <a:ext cx="2125980" cy="398336"/>
            <a:chOff x="0" y="0"/>
            <a:chExt cx="2834640" cy="531114"/>
          </a:xfrm>
        </p:grpSpPr>
        <p:sp>
          <p:nvSpPr>
            <p:cNvPr id="34" name="Freeform 3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35" name="TextBox 3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36" name="Group 36"/>
          <p:cNvGrpSpPr/>
          <p:nvPr/>
        </p:nvGrpSpPr>
        <p:grpSpPr>
          <a:xfrm>
            <a:off x="3512668" y="5157683"/>
            <a:ext cx="2194560" cy="356616"/>
            <a:chOff x="0" y="0"/>
            <a:chExt cx="2926080" cy="475488"/>
          </a:xfrm>
        </p:grpSpPr>
        <p:sp>
          <p:nvSpPr>
            <p:cNvPr id="37" name="Freeform 3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38" name="Group 38"/>
          <p:cNvGrpSpPr/>
          <p:nvPr/>
        </p:nvGrpSpPr>
        <p:grpSpPr>
          <a:xfrm>
            <a:off x="3512668" y="5157683"/>
            <a:ext cx="2194560" cy="356616"/>
            <a:chOff x="0" y="0"/>
            <a:chExt cx="2926080" cy="475488"/>
          </a:xfrm>
        </p:grpSpPr>
        <p:sp>
          <p:nvSpPr>
            <p:cNvPr id="39" name="Freeform 3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40" name="Group 40"/>
          <p:cNvGrpSpPr/>
          <p:nvPr/>
        </p:nvGrpSpPr>
        <p:grpSpPr>
          <a:xfrm>
            <a:off x="3512668" y="5150539"/>
            <a:ext cx="2194560" cy="363760"/>
            <a:chOff x="0" y="0"/>
            <a:chExt cx="2926080" cy="485013"/>
          </a:xfrm>
        </p:grpSpPr>
        <p:sp>
          <p:nvSpPr>
            <p:cNvPr id="41" name="Freeform 4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42" name="Group 42"/>
          <p:cNvGrpSpPr/>
          <p:nvPr/>
        </p:nvGrpSpPr>
        <p:grpSpPr>
          <a:xfrm>
            <a:off x="3512668" y="5143395"/>
            <a:ext cx="2194560" cy="370904"/>
            <a:chOff x="0" y="0"/>
            <a:chExt cx="2926080" cy="494538"/>
          </a:xfrm>
        </p:grpSpPr>
        <p:sp>
          <p:nvSpPr>
            <p:cNvPr id="43" name="Freeform 4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44" name="TextBox 4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45" name="Group 45"/>
          <p:cNvGrpSpPr/>
          <p:nvPr/>
        </p:nvGrpSpPr>
        <p:grpSpPr>
          <a:xfrm>
            <a:off x="1028700" y="5651459"/>
            <a:ext cx="2125980" cy="384048"/>
            <a:chOff x="0" y="0"/>
            <a:chExt cx="2834640" cy="512064"/>
          </a:xfrm>
        </p:grpSpPr>
        <p:sp>
          <p:nvSpPr>
            <p:cNvPr id="46" name="Freeform 4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47" name="Group 47"/>
          <p:cNvGrpSpPr/>
          <p:nvPr/>
        </p:nvGrpSpPr>
        <p:grpSpPr>
          <a:xfrm>
            <a:off x="1028700" y="5644315"/>
            <a:ext cx="2125980" cy="391192"/>
            <a:chOff x="0" y="0"/>
            <a:chExt cx="2834640" cy="521589"/>
          </a:xfrm>
        </p:grpSpPr>
        <p:sp>
          <p:nvSpPr>
            <p:cNvPr id="48" name="Freeform 4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49" name="Group 49"/>
          <p:cNvGrpSpPr/>
          <p:nvPr/>
        </p:nvGrpSpPr>
        <p:grpSpPr>
          <a:xfrm>
            <a:off x="1028700" y="5637171"/>
            <a:ext cx="2125980" cy="398336"/>
            <a:chOff x="0" y="0"/>
            <a:chExt cx="2834640" cy="531114"/>
          </a:xfrm>
        </p:grpSpPr>
        <p:sp>
          <p:nvSpPr>
            <p:cNvPr id="50" name="Freeform 5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51" name="TextBox 5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52" name="Group 52"/>
          <p:cNvGrpSpPr/>
          <p:nvPr/>
        </p:nvGrpSpPr>
        <p:grpSpPr>
          <a:xfrm>
            <a:off x="3512668" y="5665175"/>
            <a:ext cx="2194560" cy="356616"/>
            <a:chOff x="0" y="0"/>
            <a:chExt cx="2926080" cy="475488"/>
          </a:xfrm>
        </p:grpSpPr>
        <p:sp>
          <p:nvSpPr>
            <p:cNvPr id="53" name="Freeform 5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54" name="Group 54"/>
          <p:cNvGrpSpPr/>
          <p:nvPr/>
        </p:nvGrpSpPr>
        <p:grpSpPr>
          <a:xfrm>
            <a:off x="3512668" y="5665175"/>
            <a:ext cx="2194560" cy="356616"/>
            <a:chOff x="0" y="0"/>
            <a:chExt cx="2926080" cy="475488"/>
          </a:xfrm>
        </p:grpSpPr>
        <p:sp>
          <p:nvSpPr>
            <p:cNvPr id="55" name="Freeform 5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56" name="Group 56"/>
          <p:cNvGrpSpPr/>
          <p:nvPr/>
        </p:nvGrpSpPr>
        <p:grpSpPr>
          <a:xfrm>
            <a:off x="3512668" y="5658031"/>
            <a:ext cx="2194560" cy="363760"/>
            <a:chOff x="0" y="0"/>
            <a:chExt cx="2926080" cy="485013"/>
          </a:xfrm>
        </p:grpSpPr>
        <p:sp>
          <p:nvSpPr>
            <p:cNvPr id="57" name="Freeform 5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58" name="Group 58"/>
          <p:cNvGrpSpPr/>
          <p:nvPr/>
        </p:nvGrpSpPr>
        <p:grpSpPr>
          <a:xfrm>
            <a:off x="3512668" y="5650887"/>
            <a:ext cx="2194560" cy="370904"/>
            <a:chOff x="0" y="0"/>
            <a:chExt cx="2926080" cy="494538"/>
          </a:xfrm>
        </p:grpSpPr>
        <p:sp>
          <p:nvSpPr>
            <p:cNvPr id="59" name="Freeform 5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60" name="TextBox 6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61" name="Group 61"/>
          <p:cNvGrpSpPr/>
          <p:nvPr/>
        </p:nvGrpSpPr>
        <p:grpSpPr>
          <a:xfrm>
            <a:off x="1028700" y="6158951"/>
            <a:ext cx="2125980" cy="384048"/>
            <a:chOff x="0" y="0"/>
            <a:chExt cx="2834640" cy="512064"/>
          </a:xfrm>
        </p:grpSpPr>
        <p:sp>
          <p:nvSpPr>
            <p:cNvPr id="62" name="Freeform 6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63" name="Group 63"/>
          <p:cNvGrpSpPr/>
          <p:nvPr/>
        </p:nvGrpSpPr>
        <p:grpSpPr>
          <a:xfrm>
            <a:off x="1028700" y="6151807"/>
            <a:ext cx="2125980" cy="391192"/>
            <a:chOff x="0" y="0"/>
            <a:chExt cx="2834640" cy="521589"/>
          </a:xfrm>
        </p:grpSpPr>
        <p:sp>
          <p:nvSpPr>
            <p:cNvPr id="64" name="Freeform 6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65" name="Group 65"/>
          <p:cNvGrpSpPr/>
          <p:nvPr/>
        </p:nvGrpSpPr>
        <p:grpSpPr>
          <a:xfrm>
            <a:off x="1028700" y="6144663"/>
            <a:ext cx="2125980" cy="398336"/>
            <a:chOff x="0" y="0"/>
            <a:chExt cx="2834640" cy="531114"/>
          </a:xfrm>
        </p:grpSpPr>
        <p:sp>
          <p:nvSpPr>
            <p:cNvPr id="66" name="Freeform 6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67" name="TextBox 6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68" name="Group 68"/>
          <p:cNvGrpSpPr/>
          <p:nvPr/>
        </p:nvGrpSpPr>
        <p:grpSpPr>
          <a:xfrm>
            <a:off x="3512668" y="6172667"/>
            <a:ext cx="2194560" cy="356616"/>
            <a:chOff x="0" y="0"/>
            <a:chExt cx="2926080" cy="475488"/>
          </a:xfrm>
        </p:grpSpPr>
        <p:sp>
          <p:nvSpPr>
            <p:cNvPr id="69" name="Freeform 6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70" name="Group 70"/>
          <p:cNvGrpSpPr/>
          <p:nvPr/>
        </p:nvGrpSpPr>
        <p:grpSpPr>
          <a:xfrm>
            <a:off x="3512668" y="6172667"/>
            <a:ext cx="2194560" cy="356616"/>
            <a:chOff x="0" y="0"/>
            <a:chExt cx="2926080" cy="475488"/>
          </a:xfrm>
        </p:grpSpPr>
        <p:sp>
          <p:nvSpPr>
            <p:cNvPr id="71" name="Freeform 7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72" name="Group 72"/>
          <p:cNvGrpSpPr/>
          <p:nvPr/>
        </p:nvGrpSpPr>
        <p:grpSpPr>
          <a:xfrm>
            <a:off x="3512668" y="6165523"/>
            <a:ext cx="2194560" cy="363760"/>
            <a:chOff x="0" y="0"/>
            <a:chExt cx="2926080" cy="485013"/>
          </a:xfrm>
        </p:grpSpPr>
        <p:sp>
          <p:nvSpPr>
            <p:cNvPr id="73" name="Freeform 7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74" name="Group 74"/>
          <p:cNvGrpSpPr/>
          <p:nvPr/>
        </p:nvGrpSpPr>
        <p:grpSpPr>
          <a:xfrm>
            <a:off x="3512668" y="6158379"/>
            <a:ext cx="2194560" cy="370904"/>
            <a:chOff x="0" y="0"/>
            <a:chExt cx="2926080" cy="494538"/>
          </a:xfrm>
        </p:grpSpPr>
        <p:sp>
          <p:nvSpPr>
            <p:cNvPr id="75" name="Freeform 7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76" name="TextBox 7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77" name="Group 77"/>
          <p:cNvGrpSpPr/>
          <p:nvPr/>
        </p:nvGrpSpPr>
        <p:grpSpPr>
          <a:xfrm>
            <a:off x="6461608" y="2291039"/>
            <a:ext cx="5364290" cy="4472940"/>
            <a:chOff x="0" y="0"/>
            <a:chExt cx="7152386" cy="5963920"/>
          </a:xfrm>
        </p:grpSpPr>
        <p:sp>
          <p:nvSpPr>
            <p:cNvPr id="78" name="Freeform 78"/>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79" name="Group 79"/>
          <p:cNvGrpSpPr/>
          <p:nvPr/>
        </p:nvGrpSpPr>
        <p:grpSpPr>
          <a:xfrm>
            <a:off x="6804508" y="2633939"/>
            <a:ext cx="685800" cy="685800"/>
            <a:chOff x="0" y="0"/>
            <a:chExt cx="914400" cy="914400"/>
          </a:xfrm>
        </p:grpSpPr>
        <p:sp>
          <p:nvSpPr>
            <p:cNvPr id="80" name="Freeform 80"/>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81" name="Group 81"/>
          <p:cNvGrpSpPr/>
          <p:nvPr/>
        </p:nvGrpSpPr>
        <p:grpSpPr>
          <a:xfrm>
            <a:off x="6804508" y="2633939"/>
            <a:ext cx="685800" cy="685800"/>
            <a:chOff x="0" y="0"/>
            <a:chExt cx="914400" cy="914400"/>
          </a:xfrm>
        </p:grpSpPr>
        <p:sp>
          <p:nvSpPr>
            <p:cNvPr id="82" name="Freeform 82"/>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3" name="Group 83"/>
          <p:cNvGrpSpPr/>
          <p:nvPr/>
        </p:nvGrpSpPr>
        <p:grpSpPr>
          <a:xfrm>
            <a:off x="6804508" y="2626795"/>
            <a:ext cx="685800" cy="692944"/>
            <a:chOff x="0" y="0"/>
            <a:chExt cx="914400" cy="923925"/>
          </a:xfrm>
        </p:grpSpPr>
        <p:sp>
          <p:nvSpPr>
            <p:cNvPr id="84" name="Freeform 84"/>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85" name="Group 85"/>
          <p:cNvGrpSpPr/>
          <p:nvPr/>
        </p:nvGrpSpPr>
        <p:grpSpPr>
          <a:xfrm>
            <a:off x="6804508" y="2619651"/>
            <a:ext cx="685800" cy="700088"/>
            <a:chOff x="0" y="0"/>
            <a:chExt cx="914400" cy="933450"/>
          </a:xfrm>
        </p:grpSpPr>
        <p:sp>
          <p:nvSpPr>
            <p:cNvPr id="86" name="Freeform 86"/>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87" name="TextBox 87"/>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02</a:t>
              </a:r>
            </a:p>
          </p:txBody>
        </p:sp>
      </p:grpSp>
      <p:grpSp>
        <p:nvGrpSpPr>
          <p:cNvPr id="88" name="Group 88"/>
          <p:cNvGrpSpPr/>
          <p:nvPr/>
        </p:nvGrpSpPr>
        <p:grpSpPr>
          <a:xfrm>
            <a:off x="7696048" y="2592791"/>
            <a:ext cx="3855529" cy="685800"/>
            <a:chOff x="0" y="0"/>
            <a:chExt cx="5140706" cy="914400"/>
          </a:xfrm>
        </p:grpSpPr>
        <p:sp>
          <p:nvSpPr>
            <p:cNvPr id="89" name="Freeform 89"/>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90" name="Group 90"/>
          <p:cNvGrpSpPr/>
          <p:nvPr/>
        </p:nvGrpSpPr>
        <p:grpSpPr>
          <a:xfrm>
            <a:off x="7696048" y="2585647"/>
            <a:ext cx="3855568" cy="692944"/>
            <a:chOff x="0" y="0"/>
            <a:chExt cx="5140757" cy="923925"/>
          </a:xfrm>
        </p:grpSpPr>
        <p:sp>
          <p:nvSpPr>
            <p:cNvPr id="91" name="Freeform 91"/>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92" name="Group 92"/>
          <p:cNvGrpSpPr/>
          <p:nvPr/>
        </p:nvGrpSpPr>
        <p:grpSpPr>
          <a:xfrm>
            <a:off x="7696048" y="2578503"/>
            <a:ext cx="3855568" cy="700088"/>
            <a:chOff x="0" y="0"/>
            <a:chExt cx="5140757" cy="933450"/>
          </a:xfrm>
        </p:grpSpPr>
        <p:sp>
          <p:nvSpPr>
            <p:cNvPr id="93" name="Freeform 93"/>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94" name="TextBox 94"/>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WealthTech CRM Rollout</a:t>
              </a:r>
            </a:p>
          </p:txBody>
        </p:sp>
      </p:grpSp>
      <p:grpSp>
        <p:nvGrpSpPr>
          <p:cNvPr id="95" name="Group 95"/>
          <p:cNvGrpSpPr/>
          <p:nvPr/>
        </p:nvGrpSpPr>
        <p:grpSpPr>
          <a:xfrm>
            <a:off x="6804508" y="3456899"/>
            <a:ext cx="4678490" cy="411480"/>
            <a:chOff x="0" y="0"/>
            <a:chExt cx="6237986" cy="548640"/>
          </a:xfrm>
        </p:grpSpPr>
        <p:sp>
          <p:nvSpPr>
            <p:cNvPr id="96" name="Freeform 96"/>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97" name="Group 97"/>
          <p:cNvGrpSpPr/>
          <p:nvPr/>
        </p:nvGrpSpPr>
        <p:grpSpPr>
          <a:xfrm>
            <a:off x="6804508" y="3456899"/>
            <a:ext cx="4678490" cy="411480"/>
            <a:chOff x="0" y="0"/>
            <a:chExt cx="6237986" cy="548640"/>
          </a:xfrm>
        </p:grpSpPr>
        <p:sp>
          <p:nvSpPr>
            <p:cNvPr id="98" name="Freeform 98"/>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99" name="Group 99"/>
          <p:cNvGrpSpPr/>
          <p:nvPr/>
        </p:nvGrpSpPr>
        <p:grpSpPr>
          <a:xfrm>
            <a:off x="6804508" y="3449755"/>
            <a:ext cx="4678528" cy="418624"/>
            <a:chOff x="0" y="0"/>
            <a:chExt cx="6238037" cy="558165"/>
          </a:xfrm>
        </p:grpSpPr>
        <p:sp>
          <p:nvSpPr>
            <p:cNvPr id="100" name="Freeform 100"/>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01" name="Group 101"/>
          <p:cNvGrpSpPr/>
          <p:nvPr/>
        </p:nvGrpSpPr>
        <p:grpSpPr>
          <a:xfrm>
            <a:off x="6804508" y="3442611"/>
            <a:ext cx="4678528" cy="425768"/>
            <a:chOff x="0" y="0"/>
            <a:chExt cx="6238037" cy="567690"/>
          </a:xfrm>
        </p:grpSpPr>
        <p:sp>
          <p:nvSpPr>
            <p:cNvPr id="102" name="Freeform 102"/>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03" name="TextBox 103"/>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29 Oct 2026</a:t>
              </a:r>
            </a:p>
          </p:txBody>
        </p:sp>
      </p:grpSp>
      <p:grpSp>
        <p:nvGrpSpPr>
          <p:cNvPr id="104" name="Group 104"/>
          <p:cNvGrpSpPr/>
          <p:nvPr/>
        </p:nvGrpSpPr>
        <p:grpSpPr>
          <a:xfrm>
            <a:off x="6804508" y="5143967"/>
            <a:ext cx="2125980" cy="384048"/>
            <a:chOff x="0" y="0"/>
            <a:chExt cx="2834640" cy="512064"/>
          </a:xfrm>
        </p:grpSpPr>
        <p:sp>
          <p:nvSpPr>
            <p:cNvPr id="105" name="Freeform 105"/>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06" name="Group 106"/>
          <p:cNvGrpSpPr/>
          <p:nvPr/>
        </p:nvGrpSpPr>
        <p:grpSpPr>
          <a:xfrm>
            <a:off x="6804508" y="5136823"/>
            <a:ext cx="2125980" cy="391192"/>
            <a:chOff x="0" y="0"/>
            <a:chExt cx="2834640" cy="521589"/>
          </a:xfrm>
        </p:grpSpPr>
        <p:sp>
          <p:nvSpPr>
            <p:cNvPr id="107" name="Freeform 107"/>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08" name="Group 108"/>
          <p:cNvGrpSpPr/>
          <p:nvPr/>
        </p:nvGrpSpPr>
        <p:grpSpPr>
          <a:xfrm>
            <a:off x="6804508" y="5129679"/>
            <a:ext cx="2125980" cy="398336"/>
            <a:chOff x="0" y="0"/>
            <a:chExt cx="2834640" cy="531114"/>
          </a:xfrm>
        </p:grpSpPr>
        <p:sp>
          <p:nvSpPr>
            <p:cNvPr id="109" name="Freeform 109"/>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10" name="TextBox 110"/>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11" name="Group 111"/>
          <p:cNvGrpSpPr/>
          <p:nvPr/>
        </p:nvGrpSpPr>
        <p:grpSpPr>
          <a:xfrm>
            <a:off x="9288475" y="5157683"/>
            <a:ext cx="2194560" cy="356616"/>
            <a:chOff x="0" y="0"/>
            <a:chExt cx="2926080" cy="475488"/>
          </a:xfrm>
        </p:grpSpPr>
        <p:sp>
          <p:nvSpPr>
            <p:cNvPr id="112" name="Freeform 11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13" name="Group 113"/>
          <p:cNvGrpSpPr/>
          <p:nvPr/>
        </p:nvGrpSpPr>
        <p:grpSpPr>
          <a:xfrm>
            <a:off x="9288475" y="5157683"/>
            <a:ext cx="2194560" cy="356616"/>
            <a:chOff x="0" y="0"/>
            <a:chExt cx="2926080" cy="475488"/>
          </a:xfrm>
        </p:grpSpPr>
        <p:sp>
          <p:nvSpPr>
            <p:cNvPr id="114" name="Freeform 114"/>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15" name="Group 115"/>
          <p:cNvGrpSpPr/>
          <p:nvPr/>
        </p:nvGrpSpPr>
        <p:grpSpPr>
          <a:xfrm>
            <a:off x="9288475" y="5150539"/>
            <a:ext cx="2194560" cy="363760"/>
            <a:chOff x="0" y="0"/>
            <a:chExt cx="2926080" cy="485013"/>
          </a:xfrm>
        </p:grpSpPr>
        <p:sp>
          <p:nvSpPr>
            <p:cNvPr id="116" name="Freeform 116"/>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17" name="Group 117"/>
          <p:cNvGrpSpPr/>
          <p:nvPr/>
        </p:nvGrpSpPr>
        <p:grpSpPr>
          <a:xfrm>
            <a:off x="9288475" y="5143395"/>
            <a:ext cx="2194560" cy="370904"/>
            <a:chOff x="0" y="0"/>
            <a:chExt cx="2926080" cy="494538"/>
          </a:xfrm>
        </p:grpSpPr>
        <p:sp>
          <p:nvSpPr>
            <p:cNvPr id="118" name="Freeform 118"/>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19" name="TextBox 119"/>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20" name="Group 120"/>
          <p:cNvGrpSpPr/>
          <p:nvPr/>
        </p:nvGrpSpPr>
        <p:grpSpPr>
          <a:xfrm>
            <a:off x="6804508" y="5651459"/>
            <a:ext cx="2125980" cy="384048"/>
            <a:chOff x="0" y="0"/>
            <a:chExt cx="2834640" cy="512064"/>
          </a:xfrm>
        </p:grpSpPr>
        <p:sp>
          <p:nvSpPr>
            <p:cNvPr id="121" name="Freeform 121"/>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22" name="Group 122"/>
          <p:cNvGrpSpPr/>
          <p:nvPr/>
        </p:nvGrpSpPr>
        <p:grpSpPr>
          <a:xfrm>
            <a:off x="6804508" y="5644315"/>
            <a:ext cx="2125980" cy="391192"/>
            <a:chOff x="0" y="0"/>
            <a:chExt cx="2834640" cy="521589"/>
          </a:xfrm>
        </p:grpSpPr>
        <p:sp>
          <p:nvSpPr>
            <p:cNvPr id="123" name="Freeform 123"/>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24" name="Group 124"/>
          <p:cNvGrpSpPr/>
          <p:nvPr/>
        </p:nvGrpSpPr>
        <p:grpSpPr>
          <a:xfrm>
            <a:off x="6804508" y="5637171"/>
            <a:ext cx="2125980" cy="398336"/>
            <a:chOff x="0" y="0"/>
            <a:chExt cx="2834640" cy="531114"/>
          </a:xfrm>
        </p:grpSpPr>
        <p:sp>
          <p:nvSpPr>
            <p:cNvPr id="125" name="Freeform 125"/>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26" name="TextBox 126"/>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127" name="Group 127"/>
          <p:cNvGrpSpPr/>
          <p:nvPr/>
        </p:nvGrpSpPr>
        <p:grpSpPr>
          <a:xfrm>
            <a:off x="9288475" y="5665175"/>
            <a:ext cx="2194560" cy="356616"/>
            <a:chOff x="0" y="0"/>
            <a:chExt cx="2926080" cy="475488"/>
          </a:xfrm>
        </p:grpSpPr>
        <p:sp>
          <p:nvSpPr>
            <p:cNvPr id="128" name="Freeform 128"/>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29" name="Group 129"/>
          <p:cNvGrpSpPr/>
          <p:nvPr/>
        </p:nvGrpSpPr>
        <p:grpSpPr>
          <a:xfrm>
            <a:off x="9288475" y="5665175"/>
            <a:ext cx="2194560" cy="356616"/>
            <a:chOff x="0" y="0"/>
            <a:chExt cx="2926080" cy="475488"/>
          </a:xfrm>
        </p:grpSpPr>
        <p:sp>
          <p:nvSpPr>
            <p:cNvPr id="130" name="Freeform 130"/>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31" name="Group 131"/>
          <p:cNvGrpSpPr/>
          <p:nvPr/>
        </p:nvGrpSpPr>
        <p:grpSpPr>
          <a:xfrm>
            <a:off x="9288475" y="5658031"/>
            <a:ext cx="2194560" cy="363760"/>
            <a:chOff x="0" y="0"/>
            <a:chExt cx="2926080" cy="485013"/>
          </a:xfrm>
        </p:grpSpPr>
        <p:sp>
          <p:nvSpPr>
            <p:cNvPr id="132" name="Freeform 132"/>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33" name="Group 133"/>
          <p:cNvGrpSpPr/>
          <p:nvPr/>
        </p:nvGrpSpPr>
        <p:grpSpPr>
          <a:xfrm>
            <a:off x="9288475" y="5650887"/>
            <a:ext cx="2194560" cy="370904"/>
            <a:chOff x="0" y="0"/>
            <a:chExt cx="2926080" cy="494538"/>
          </a:xfrm>
        </p:grpSpPr>
        <p:sp>
          <p:nvSpPr>
            <p:cNvPr id="134" name="Freeform 134"/>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35" name="TextBox 135"/>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36" name="Group 136"/>
          <p:cNvGrpSpPr/>
          <p:nvPr/>
        </p:nvGrpSpPr>
        <p:grpSpPr>
          <a:xfrm>
            <a:off x="6804508" y="6158951"/>
            <a:ext cx="2125980" cy="384048"/>
            <a:chOff x="0" y="0"/>
            <a:chExt cx="2834640" cy="512064"/>
          </a:xfrm>
        </p:grpSpPr>
        <p:sp>
          <p:nvSpPr>
            <p:cNvPr id="137" name="Freeform 137"/>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38" name="Group 138"/>
          <p:cNvGrpSpPr/>
          <p:nvPr/>
        </p:nvGrpSpPr>
        <p:grpSpPr>
          <a:xfrm>
            <a:off x="6804508" y="6151807"/>
            <a:ext cx="2125980" cy="391192"/>
            <a:chOff x="0" y="0"/>
            <a:chExt cx="2834640" cy="521589"/>
          </a:xfrm>
        </p:grpSpPr>
        <p:sp>
          <p:nvSpPr>
            <p:cNvPr id="139" name="Freeform 139"/>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40" name="Group 140"/>
          <p:cNvGrpSpPr/>
          <p:nvPr/>
        </p:nvGrpSpPr>
        <p:grpSpPr>
          <a:xfrm>
            <a:off x="6804508" y="6144663"/>
            <a:ext cx="2125980" cy="398336"/>
            <a:chOff x="0" y="0"/>
            <a:chExt cx="2834640" cy="531114"/>
          </a:xfrm>
        </p:grpSpPr>
        <p:sp>
          <p:nvSpPr>
            <p:cNvPr id="141" name="Freeform 141"/>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42" name="TextBox 142"/>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143" name="Group 143"/>
          <p:cNvGrpSpPr/>
          <p:nvPr/>
        </p:nvGrpSpPr>
        <p:grpSpPr>
          <a:xfrm>
            <a:off x="9288475" y="6172667"/>
            <a:ext cx="2194560" cy="356616"/>
            <a:chOff x="0" y="0"/>
            <a:chExt cx="2926080" cy="475488"/>
          </a:xfrm>
        </p:grpSpPr>
        <p:sp>
          <p:nvSpPr>
            <p:cNvPr id="144" name="Freeform 144"/>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145" name="Group 145"/>
          <p:cNvGrpSpPr/>
          <p:nvPr/>
        </p:nvGrpSpPr>
        <p:grpSpPr>
          <a:xfrm>
            <a:off x="9288475" y="6172667"/>
            <a:ext cx="2194560" cy="356616"/>
            <a:chOff x="0" y="0"/>
            <a:chExt cx="2926080" cy="475488"/>
          </a:xfrm>
        </p:grpSpPr>
        <p:sp>
          <p:nvSpPr>
            <p:cNvPr id="146" name="Freeform 146"/>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47" name="Group 147"/>
          <p:cNvGrpSpPr/>
          <p:nvPr/>
        </p:nvGrpSpPr>
        <p:grpSpPr>
          <a:xfrm>
            <a:off x="9288475" y="6165523"/>
            <a:ext cx="2194560" cy="363760"/>
            <a:chOff x="0" y="0"/>
            <a:chExt cx="2926080" cy="485013"/>
          </a:xfrm>
        </p:grpSpPr>
        <p:sp>
          <p:nvSpPr>
            <p:cNvPr id="148" name="Freeform 148"/>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49" name="Group 149"/>
          <p:cNvGrpSpPr/>
          <p:nvPr/>
        </p:nvGrpSpPr>
        <p:grpSpPr>
          <a:xfrm>
            <a:off x="9288475" y="6158379"/>
            <a:ext cx="2194560" cy="370904"/>
            <a:chOff x="0" y="0"/>
            <a:chExt cx="2926080" cy="494538"/>
          </a:xfrm>
        </p:grpSpPr>
        <p:sp>
          <p:nvSpPr>
            <p:cNvPr id="150" name="Freeform 150"/>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51" name="TextBox 151"/>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152" name="Group 152"/>
          <p:cNvGrpSpPr/>
          <p:nvPr/>
        </p:nvGrpSpPr>
        <p:grpSpPr>
          <a:xfrm>
            <a:off x="12237415" y="2291039"/>
            <a:ext cx="5364290" cy="4472940"/>
            <a:chOff x="0" y="0"/>
            <a:chExt cx="7152386" cy="5963920"/>
          </a:xfrm>
        </p:grpSpPr>
        <p:sp>
          <p:nvSpPr>
            <p:cNvPr id="153" name="Freeform 15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154" name="Group 154"/>
          <p:cNvGrpSpPr/>
          <p:nvPr/>
        </p:nvGrpSpPr>
        <p:grpSpPr>
          <a:xfrm>
            <a:off x="12580315" y="2633939"/>
            <a:ext cx="685800" cy="685800"/>
            <a:chOff x="0" y="0"/>
            <a:chExt cx="914400" cy="914400"/>
          </a:xfrm>
        </p:grpSpPr>
        <p:sp>
          <p:nvSpPr>
            <p:cNvPr id="155" name="Freeform 15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156" name="Group 156"/>
          <p:cNvGrpSpPr/>
          <p:nvPr/>
        </p:nvGrpSpPr>
        <p:grpSpPr>
          <a:xfrm>
            <a:off x="12580315" y="2633939"/>
            <a:ext cx="685800" cy="685800"/>
            <a:chOff x="0" y="0"/>
            <a:chExt cx="914400" cy="914400"/>
          </a:xfrm>
        </p:grpSpPr>
        <p:sp>
          <p:nvSpPr>
            <p:cNvPr id="157" name="Freeform 15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158" name="Group 158"/>
          <p:cNvGrpSpPr/>
          <p:nvPr/>
        </p:nvGrpSpPr>
        <p:grpSpPr>
          <a:xfrm>
            <a:off x="12580315" y="2626795"/>
            <a:ext cx="685800" cy="692944"/>
            <a:chOff x="0" y="0"/>
            <a:chExt cx="914400" cy="923925"/>
          </a:xfrm>
        </p:grpSpPr>
        <p:sp>
          <p:nvSpPr>
            <p:cNvPr id="159" name="Freeform 15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60" name="Group 160"/>
          <p:cNvGrpSpPr/>
          <p:nvPr/>
        </p:nvGrpSpPr>
        <p:grpSpPr>
          <a:xfrm>
            <a:off x="12580315" y="2619651"/>
            <a:ext cx="685800" cy="700088"/>
            <a:chOff x="0" y="0"/>
            <a:chExt cx="914400" cy="933450"/>
          </a:xfrm>
        </p:grpSpPr>
        <p:sp>
          <p:nvSpPr>
            <p:cNvPr id="161" name="Freeform 16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62" name="TextBox 16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03</a:t>
              </a:r>
            </a:p>
          </p:txBody>
        </p:sp>
      </p:grpSp>
      <p:grpSp>
        <p:nvGrpSpPr>
          <p:cNvPr id="163" name="Group 163"/>
          <p:cNvGrpSpPr/>
          <p:nvPr/>
        </p:nvGrpSpPr>
        <p:grpSpPr>
          <a:xfrm>
            <a:off x="13471855" y="2592791"/>
            <a:ext cx="3855529" cy="685800"/>
            <a:chOff x="0" y="0"/>
            <a:chExt cx="5140706" cy="914400"/>
          </a:xfrm>
        </p:grpSpPr>
        <p:sp>
          <p:nvSpPr>
            <p:cNvPr id="164" name="Freeform 16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65" name="Group 165"/>
          <p:cNvGrpSpPr/>
          <p:nvPr/>
        </p:nvGrpSpPr>
        <p:grpSpPr>
          <a:xfrm>
            <a:off x="13471855" y="2585647"/>
            <a:ext cx="3855568" cy="692944"/>
            <a:chOff x="0" y="0"/>
            <a:chExt cx="5140757" cy="923925"/>
          </a:xfrm>
        </p:grpSpPr>
        <p:sp>
          <p:nvSpPr>
            <p:cNvPr id="166" name="Freeform 16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67" name="Group 167"/>
          <p:cNvGrpSpPr/>
          <p:nvPr/>
        </p:nvGrpSpPr>
        <p:grpSpPr>
          <a:xfrm>
            <a:off x="13471855" y="2578503"/>
            <a:ext cx="3855568" cy="700088"/>
            <a:chOff x="0" y="0"/>
            <a:chExt cx="5140757" cy="933450"/>
          </a:xfrm>
        </p:grpSpPr>
        <p:sp>
          <p:nvSpPr>
            <p:cNvPr id="168" name="Freeform 16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69" name="TextBox 16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Reporting Dashboard</a:t>
              </a:r>
            </a:p>
          </p:txBody>
        </p:sp>
      </p:grpSp>
      <p:grpSp>
        <p:nvGrpSpPr>
          <p:cNvPr id="170" name="Group 170"/>
          <p:cNvGrpSpPr/>
          <p:nvPr/>
        </p:nvGrpSpPr>
        <p:grpSpPr>
          <a:xfrm>
            <a:off x="12580315" y="3456899"/>
            <a:ext cx="4678490" cy="411480"/>
            <a:chOff x="0" y="0"/>
            <a:chExt cx="6237986" cy="548640"/>
          </a:xfrm>
        </p:grpSpPr>
        <p:sp>
          <p:nvSpPr>
            <p:cNvPr id="171" name="Freeform 17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172" name="Group 172"/>
          <p:cNvGrpSpPr/>
          <p:nvPr/>
        </p:nvGrpSpPr>
        <p:grpSpPr>
          <a:xfrm>
            <a:off x="12580315" y="3456899"/>
            <a:ext cx="4678490" cy="411480"/>
            <a:chOff x="0" y="0"/>
            <a:chExt cx="6237986" cy="548640"/>
          </a:xfrm>
        </p:grpSpPr>
        <p:sp>
          <p:nvSpPr>
            <p:cNvPr id="173" name="Freeform 17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174" name="Group 174"/>
          <p:cNvGrpSpPr/>
          <p:nvPr/>
        </p:nvGrpSpPr>
        <p:grpSpPr>
          <a:xfrm>
            <a:off x="12580315" y="3449755"/>
            <a:ext cx="4678528" cy="418624"/>
            <a:chOff x="0" y="0"/>
            <a:chExt cx="6238037" cy="558165"/>
          </a:xfrm>
        </p:grpSpPr>
        <p:sp>
          <p:nvSpPr>
            <p:cNvPr id="175" name="Freeform 17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76" name="Group 176"/>
          <p:cNvGrpSpPr/>
          <p:nvPr/>
        </p:nvGrpSpPr>
        <p:grpSpPr>
          <a:xfrm>
            <a:off x="12580315" y="3442611"/>
            <a:ext cx="4678528" cy="425768"/>
            <a:chOff x="0" y="0"/>
            <a:chExt cx="6238037" cy="567690"/>
          </a:xfrm>
        </p:grpSpPr>
        <p:sp>
          <p:nvSpPr>
            <p:cNvPr id="177" name="Freeform 17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78" name="TextBox 17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TBC</a:t>
              </a:r>
            </a:p>
          </p:txBody>
        </p:sp>
      </p:grpSp>
      <p:grpSp>
        <p:nvGrpSpPr>
          <p:cNvPr id="179" name="Group 179"/>
          <p:cNvGrpSpPr/>
          <p:nvPr/>
        </p:nvGrpSpPr>
        <p:grpSpPr>
          <a:xfrm>
            <a:off x="12580315" y="5143967"/>
            <a:ext cx="2125980" cy="384048"/>
            <a:chOff x="0" y="0"/>
            <a:chExt cx="2834640" cy="512064"/>
          </a:xfrm>
        </p:grpSpPr>
        <p:sp>
          <p:nvSpPr>
            <p:cNvPr id="180" name="Freeform 18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81" name="Group 181"/>
          <p:cNvGrpSpPr/>
          <p:nvPr/>
        </p:nvGrpSpPr>
        <p:grpSpPr>
          <a:xfrm>
            <a:off x="12580315" y="5136823"/>
            <a:ext cx="2125980" cy="391192"/>
            <a:chOff x="0" y="0"/>
            <a:chExt cx="2834640" cy="521589"/>
          </a:xfrm>
        </p:grpSpPr>
        <p:sp>
          <p:nvSpPr>
            <p:cNvPr id="182" name="Freeform 18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83" name="Group 183"/>
          <p:cNvGrpSpPr/>
          <p:nvPr/>
        </p:nvGrpSpPr>
        <p:grpSpPr>
          <a:xfrm>
            <a:off x="12580315" y="5129679"/>
            <a:ext cx="2125980" cy="398336"/>
            <a:chOff x="0" y="0"/>
            <a:chExt cx="2834640" cy="531114"/>
          </a:xfrm>
        </p:grpSpPr>
        <p:sp>
          <p:nvSpPr>
            <p:cNvPr id="184" name="Freeform 18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85" name="TextBox 18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86" name="Group 186"/>
          <p:cNvGrpSpPr/>
          <p:nvPr/>
        </p:nvGrpSpPr>
        <p:grpSpPr>
          <a:xfrm>
            <a:off x="15064283" y="5157683"/>
            <a:ext cx="2194560" cy="356616"/>
            <a:chOff x="0" y="0"/>
            <a:chExt cx="2926080" cy="475488"/>
          </a:xfrm>
        </p:grpSpPr>
        <p:sp>
          <p:nvSpPr>
            <p:cNvPr id="187" name="Freeform 18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188" name="Group 188"/>
          <p:cNvGrpSpPr/>
          <p:nvPr/>
        </p:nvGrpSpPr>
        <p:grpSpPr>
          <a:xfrm>
            <a:off x="15064283" y="5157683"/>
            <a:ext cx="2194560" cy="356616"/>
            <a:chOff x="0" y="0"/>
            <a:chExt cx="2926080" cy="475488"/>
          </a:xfrm>
        </p:grpSpPr>
        <p:sp>
          <p:nvSpPr>
            <p:cNvPr id="189" name="Freeform 18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90" name="Group 190"/>
          <p:cNvGrpSpPr/>
          <p:nvPr/>
        </p:nvGrpSpPr>
        <p:grpSpPr>
          <a:xfrm>
            <a:off x="15064283" y="5150539"/>
            <a:ext cx="2194560" cy="363760"/>
            <a:chOff x="0" y="0"/>
            <a:chExt cx="2926080" cy="485013"/>
          </a:xfrm>
        </p:grpSpPr>
        <p:sp>
          <p:nvSpPr>
            <p:cNvPr id="191" name="Freeform 19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92" name="Group 192"/>
          <p:cNvGrpSpPr/>
          <p:nvPr/>
        </p:nvGrpSpPr>
        <p:grpSpPr>
          <a:xfrm>
            <a:off x="15064283" y="5143395"/>
            <a:ext cx="2194560" cy="370904"/>
            <a:chOff x="0" y="0"/>
            <a:chExt cx="2926080" cy="494538"/>
          </a:xfrm>
        </p:grpSpPr>
        <p:sp>
          <p:nvSpPr>
            <p:cNvPr id="193" name="Freeform 19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94" name="TextBox 19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195" name="Group 195"/>
          <p:cNvGrpSpPr/>
          <p:nvPr/>
        </p:nvGrpSpPr>
        <p:grpSpPr>
          <a:xfrm>
            <a:off x="12580315" y="5651459"/>
            <a:ext cx="2125980" cy="384048"/>
            <a:chOff x="0" y="0"/>
            <a:chExt cx="2834640" cy="512064"/>
          </a:xfrm>
        </p:grpSpPr>
        <p:sp>
          <p:nvSpPr>
            <p:cNvPr id="196" name="Freeform 19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97" name="Group 197"/>
          <p:cNvGrpSpPr/>
          <p:nvPr/>
        </p:nvGrpSpPr>
        <p:grpSpPr>
          <a:xfrm>
            <a:off x="12580315" y="5644315"/>
            <a:ext cx="2125980" cy="391192"/>
            <a:chOff x="0" y="0"/>
            <a:chExt cx="2834640" cy="521589"/>
          </a:xfrm>
        </p:grpSpPr>
        <p:sp>
          <p:nvSpPr>
            <p:cNvPr id="198" name="Freeform 19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99" name="Group 199"/>
          <p:cNvGrpSpPr/>
          <p:nvPr/>
        </p:nvGrpSpPr>
        <p:grpSpPr>
          <a:xfrm>
            <a:off x="12580315" y="5637171"/>
            <a:ext cx="2125980" cy="398336"/>
            <a:chOff x="0" y="0"/>
            <a:chExt cx="2834640" cy="531114"/>
          </a:xfrm>
        </p:grpSpPr>
        <p:sp>
          <p:nvSpPr>
            <p:cNvPr id="200" name="Freeform 20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01" name="TextBox 20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202" name="Group 202"/>
          <p:cNvGrpSpPr/>
          <p:nvPr/>
        </p:nvGrpSpPr>
        <p:grpSpPr>
          <a:xfrm>
            <a:off x="15064283" y="5665175"/>
            <a:ext cx="2194560" cy="356616"/>
            <a:chOff x="0" y="0"/>
            <a:chExt cx="2926080" cy="475488"/>
          </a:xfrm>
        </p:grpSpPr>
        <p:sp>
          <p:nvSpPr>
            <p:cNvPr id="203" name="Freeform 20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04" name="Group 204"/>
          <p:cNvGrpSpPr/>
          <p:nvPr/>
        </p:nvGrpSpPr>
        <p:grpSpPr>
          <a:xfrm>
            <a:off x="15064283" y="5665175"/>
            <a:ext cx="2194560" cy="356616"/>
            <a:chOff x="0" y="0"/>
            <a:chExt cx="2926080" cy="475488"/>
          </a:xfrm>
        </p:grpSpPr>
        <p:sp>
          <p:nvSpPr>
            <p:cNvPr id="205" name="Freeform 20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06" name="Group 206"/>
          <p:cNvGrpSpPr/>
          <p:nvPr/>
        </p:nvGrpSpPr>
        <p:grpSpPr>
          <a:xfrm>
            <a:off x="15064283" y="5658031"/>
            <a:ext cx="2194560" cy="363760"/>
            <a:chOff x="0" y="0"/>
            <a:chExt cx="2926080" cy="485013"/>
          </a:xfrm>
        </p:grpSpPr>
        <p:sp>
          <p:nvSpPr>
            <p:cNvPr id="207" name="Freeform 20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08" name="Group 208"/>
          <p:cNvGrpSpPr/>
          <p:nvPr/>
        </p:nvGrpSpPr>
        <p:grpSpPr>
          <a:xfrm>
            <a:off x="15064283" y="5650887"/>
            <a:ext cx="2194560" cy="370904"/>
            <a:chOff x="0" y="0"/>
            <a:chExt cx="2926080" cy="494538"/>
          </a:xfrm>
        </p:grpSpPr>
        <p:sp>
          <p:nvSpPr>
            <p:cNvPr id="209" name="Freeform 20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10" name="TextBox 21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11" name="Group 211"/>
          <p:cNvGrpSpPr/>
          <p:nvPr/>
        </p:nvGrpSpPr>
        <p:grpSpPr>
          <a:xfrm>
            <a:off x="12580315" y="6158951"/>
            <a:ext cx="2125980" cy="384048"/>
            <a:chOff x="0" y="0"/>
            <a:chExt cx="2834640" cy="512064"/>
          </a:xfrm>
        </p:grpSpPr>
        <p:sp>
          <p:nvSpPr>
            <p:cNvPr id="212" name="Freeform 21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213" name="Group 213"/>
          <p:cNvGrpSpPr/>
          <p:nvPr/>
        </p:nvGrpSpPr>
        <p:grpSpPr>
          <a:xfrm>
            <a:off x="12580315" y="6151807"/>
            <a:ext cx="2125980" cy="391192"/>
            <a:chOff x="0" y="0"/>
            <a:chExt cx="2834640" cy="521589"/>
          </a:xfrm>
        </p:grpSpPr>
        <p:sp>
          <p:nvSpPr>
            <p:cNvPr id="214" name="Freeform 21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215" name="Group 215"/>
          <p:cNvGrpSpPr/>
          <p:nvPr/>
        </p:nvGrpSpPr>
        <p:grpSpPr>
          <a:xfrm>
            <a:off x="12580315" y="6144663"/>
            <a:ext cx="2125980" cy="398336"/>
            <a:chOff x="0" y="0"/>
            <a:chExt cx="2834640" cy="531114"/>
          </a:xfrm>
        </p:grpSpPr>
        <p:sp>
          <p:nvSpPr>
            <p:cNvPr id="216" name="Freeform 21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17" name="TextBox 21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218" name="Group 218"/>
          <p:cNvGrpSpPr/>
          <p:nvPr/>
        </p:nvGrpSpPr>
        <p:grpSpPr>
          <a:xfrm>
            <a:off x="15064283" y="6172667"/>
            <a:ext cx="2194560" cy="356616"/>
            <a:chOff x="0" y="0"/>
            <a:chExt cx="2926080" cy="475488"/>
          </a:xfrm>
        </p:grpSpPr>
        <p:sp>
          <p:nvSpPr>
            <p:cNvPr id="219" name="Freeform 21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20" name="Group 220"/>
          <p:cNvGrpSpPr/>
          <p:nvPr/>
        </p:nvGrpSpPr>
        <p:grpSpPr>
          <a:xfrm>
            <a:off x="15064283" y="6172667"/>
            <a:ext cx="2194560" cy="356616"/>
            <a:chOff x="0" y="0"/>
            <a:chExt cx="2926080" cy="475488"/>
          </a:xfrm>
        </p:grpSpPr>
        <p:sp>
          <p:nvSpPr>
            <p:cNvPr id="221" name="Freeform 22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22" name="Group 222"/>
          <p:cNvGrpSpPr/>
          <p:nvPr/>
        </p:nvGrpSpPr>
        <p:grpSpPr>
          <a:xfrm>
            <a:off x="15064283" y="6165523"/>
            <a:ext cx="2194560" cy="363760"/>
            <a:chOff x="0" y="0"/>
            <a:chExt cx="2926080" cy="485013"/>
          </a:xfrm>
        </p:grpSpPr>
        <p:sp>
          <p:nvSpPr>
            <p:cNvPr id="223" name="Freeform 22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24" name="Group 224"/>
          <p:cNvGrpSpPr/>
          <p:nvPr/>
        </p:nvGrpSpPr>
        <p:grpSpPr>
          <a:xfrm>
            <a:off x="15064283" y="6158379"/>
            <a:ext cx="2194560" cy="370904"/>
            <a:chOff x="0" y="0"/>
            <a:chExt cx="2926080" cy="494538"/>
          </a:xfrm>
        </p:grpSpPr>
        <p:sp>
          <p:nvSpPr>
            <p:cNvPr id="225" name="Freeform 22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26" name="TextBox 22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27" name="Group 227"/>
          <p:cNvGrpSpPr/>
          <p:nvPr/>
        </p:nvGrpSpPr>
        <p:grpSpPr>
          <a:xfrm>
            <a:off x="685800" y="6954479"/>
            <a:ext cx="16915924" cy="2047780"/>
            <a:chOff x="0" y="0"/>
            <a:chExt cx="22554565" cy="2730373"/>
          </a:xfrm>
        </p:grpSpPr>
        <p:sp>
          <p:nvSpPr>
            <p:cNvPr id="228" name="Freeform 228"/>
            <p:cNvSpPr/>
            <p:nvPr/>
          </p:nvSpPr>
          <p:spPr>
            <a:xfrm>
              <a:off x="0" y="0"/>
              <a:ext cx="22554564" cy="2730373"/>
            </a:xfrm>
            <a:custGeom>
              <a:avLst/>
              <a:gdLst/>
              <a:ahLst/>
              <a:cxnLst/>
              <a:rect l="l" t="t" r="r" b="b"/>
              <a:pathLst>
                <a:path w="22554564" h="2730373">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txBody>
            <a:bodyPr/>
            <a:lstStyle/>
            <a:p>
              <a:endParaRPr lang="en-US"/>
            </a:p>
          </p:txBody>
        </p:sp>
      </p:grpSp>
      <p:grpSp>
        <p:nvGrpSpPr>
          <p:cNvPr id="229" name="Group 229"/>
          <p:cNvGrpSpPr/>
          <p:nvPr/>
        </p:nvGrpSpPr>
        <p:grpSpPr>
          <a:xfrm>
            <a:off x="1097280" y="7201367"/>
            <a:ext cx="8229600" cy="411480"/>
            <a:chOff x="0" y="0"/>
            <a:chExt cx="10972800" cy="548640"/>
          </a:xfrm>
        </p:grpSpPr>
        <p:sp>
          <p:nvSpPr>
            <p:cNvPr id="230" name="Freeform 230"/>
            <p:cNvSpPr/>
            <p:nvPr/>
          </p:nvSpPr>
          <p:spPr>
            <a:xfrm>
              <a:off x="0" y="0"/>
              <a:ext cx="10972800" cy="548640"/>
            </a:xfrm>
            <a:custGeom>
              <a:avLst/>
              <a:gdLst/>
              <a:ahLst/>
              <a:cxnLst/>
              <a:rect l="l" t="t" r="r" b="b"/>
              <a:pathLst>
                <a:path w="10972800" h="548640">
                  <a:moveTo>
                    <a:pt x="0" y="0"/>
                  </a:moveTo>
                  <a:lnTo>
                    <a:pt x="10972800" y="0"/>
                  </a:lnTo>
                  <a:lnTo>
                    <a:pt x="10972800" y="548640"/>
                  </a:lnTo>
                  <a:lnTo>
                    <a:pt x="0" y="548640"/>
                  </a:lnTo>
                  <a:close/>
                </a:path>
              </a:pathLst>
            </a:custGeom>
            <a:blipFill>
              <a:blip r:embed="rId2">
                <a:alphaModFix amt="0"/>
              </a:blip>
              <a:stretch>
                <a:fillRect t="-339430" b="-339428"/>
              </a:stretch>
            </a:blipFill>
          </p:spPr>
          <p:txBody>
            <a:bodyPr/>
            <a:lstStyle/>
            <a:p>
              <a:endParaRPr lang="en-US"/>
            </a:p>
          </p:txBody>
        </p:sp>
      </p:grpSp>
      <p:grpSp>
        <p:nvGrpSpPr>
          <p:cNvPr id="231" name="Group 231"/>
          <p:cNvGrpSpPr/>
          <p:nvPr/>
        </p:nvGrpSpPr>
        <p:grpSpPr>
          <a:xfrm>
            <a:off x="1097280" y="7194223"/>
            <a:ext cx="8229600" cy="418624"/>
            <a:chOff x="0" y="0"/>
            <a:chExt cx="10972800" cy="558165"/>
          </a:xfrm>
        </p:grpSpPr>
        <p:sp>
          <p:nvSpPr>
            <p:cNvPr id="232" name="Freeform 232"/>
            <p:cNvSpPr/>
            <p:nvPr/>
          </p:nvSpPr>
          <p:spPr>
            <a:xfrm>
              <a:off x="0" y="0"/>
              <a:ext cx="10972800" cy="558165"/>
            </a:xfrm>
            <a:custGeom>
              <a:avLst/>
              <a:gdLst/>
              <a:ahLst/>
              <a:cxnLst/>
              <a:rect l="l" t="t" r="r" b="b"/>
              <a:pathLst>
                <a:path w="10972800" h="558165">
                  <a:moveTo>
                    <a:pt x="0" y="0"/>
                  </a:moveTo>
                  <a:lnTo>
                    <a:pt x="10972800" y="0"/>
                  </a:lnTo>
                  <a:lnTo>
                    <a:pt x="10972800" y="558165"/>
                  </a:lnTo>
                  <a:lnTo>
                    <a:pt x="0" y="558165"/>
                  </a:lnTo>
                  <a:close/>
                </a:path>
              </a:pathLst>
            </a:custGeom>
            <a:blipFill>
              <a:blip r:embed="rId3">
                <a:alphaModFix amt="0"/>
              </a:blip>
              <a:stretch>
                <a:fillRect t="-332784" b="-332782"/>
              </a:stretch>
            </a:blipFill>
          </p:spPr>
          <p:txBody>
            <a:bodyPr/>
            <a:lstStyle/>
            <a:p>
              <a:endParaRPr lang="en-US"/>
            </a:p>
          </p:txBody>
        </p:sp>
      </p:grpSp>
      <p:grpSp>
        <p:nvGrpSpPr>
          <p:cNvPr id="233" name="Group 233"/>
          <p:cNvGrpSpPr/>
          <p:nvPr/>
        </p:nvGrpSpPr>
        <p:grpSpPr>
          <a:xfrm>
            <a:off x="1097280" y="7187079"/>
            <a:ext cx="8229600" cy="425768"/>
            <a:chOff x="0" y="0"/>
            <a:chExt cx="10972800" cy="567690"/>
          </a:xfrm>
        </p:grpSpPr>
        <p:sp>
          <p:nvSpPr>
            <p:cNvPr id="234" name="Freeform 234"/>
            <p:cNvSpPr/>
            <p:nvPr/>
          </p:nvSpPr>
          <p:spPr>
            <a:xfrm>
              <a:off x="0" y="0"/>
              <a:ext cx="10972800" cy="567690"/>
            </a:xfrm>
            <a:custGeom>
              <a:avLst/>
              <a:gdLst/>
              <a:ahLst/>
              <a:cxnLst/>
              <a:rect l="l" t="t" r="r" b="b"/>
              <a:pathLst>
                <a:path w="10972800" h="567690">
                  <a:moveTo>
                    <a:pt x="0" y="0"/>
                  </a:moveTo>
                  <a:lnTo>
                    <a:pt x="10972800" y="0"/>
                  </a:lnTo>
                  <a:lnTo>
                    <a:pt x="10972800" y="567690"/>
                  </a:lnTo>
                  <a:lnTo>
                    <a:pt x="0" y="567690"/>
                  </a:lnTo>
                  <a:close/>
                </a:path>
              </a:pathLst>
            </a:custGeom>
            <a:blipFill>
              <a:blip r:embed="rId4">
                <a:alphaModFix amt="0"/>
              </a:blip>
              <a:stretch>
                <a:fillRect t="-326623" b="-326623"/>
              </a:stretch>
            </a:blipFill>
          </p:spPr>
          <p:txBody>
            <a:bodyPr/>
            <a:lstStyle/>
            <a:p>
              <a:endParaRPr lang="en-US"/>
            </a:p>
          </p:txBody>
        </p:sp>
        <p:sp>
          <p:nvSpPr>
            <p:cNvPr id="235" name="TextBox 235"/>
            <p:cNvSpPr txBox="1"/>
            <p:nvPr/>
          </p:nvSpPr>
          <p:spPr>
            <a:xfrm>
              <a:off x="0" y="-9525"/>
              <a:ext cx="10972800" cy="577215"/>
            </a:xfrm>
            <a:prstGeom prst="rect">
              <a:avLst/>
            </a:prstGeom>
          </p:spPr>
          <p:txBody>
            <a:bodyPr lIns="0" tIns="0" rIns="0" bIns="0" rtlCol="0" anchor="ctr"/>
            <a:lstStyle/>
            <a:p>
              <a:pPr algn="l">
                <a:lnSpc>
                  <a:spcPts val="2250"/>
                </a:lnSpc>
              </a:pPr>
              <a:r>
                <a:rPr lang="en-US" sz="1875" b="1" spc="179">
                  <a:solidFill>
                    <a:srgbClr val="CADCFC"/>
                  </a:solidFill>
                  <a:latin typeface="Exo 2 Bold"/>
                  <a:ea typeface="Exo 2 Bold"/>
                  <a:cs typeface="Exo 2 Bold"/>
                  <a:sym typeface="Exo 2 Bold"/>
                </a:rPr>
                <a:t>HELPDESK SOLUTION</a:t>
              </a:r>
            </a:p>
          </p:txBody>
        </p:sp>
      </p:grpSp>
      <p:grpSp>
        <p:nvGrpSpPr>
          <p:cNvPr id="236" name="Group 236"/>
          <p:cNvGrpSpPr/>
          <p:nvPr/>
        </p:nvGrpSpPr>
        <p:grpSpPr>
          <a:xfrm>
            <a:off x="1097280" y="7804871"/>
            <a:ext cx="576072" cy="576072"/>
            <a:chOff x="0" y="0"/>
            <a:chExt cx="768096" cy="768096"/>
          </a:xfrm>
        </p:grpSpPr>
        <p:sp>
          <p:nvSpPr>
            <p:cNvPr id="237" name="Freeform 237" descr="icons/dollar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5"/>
              <a:stretch>
                <a:fillRect/>
              </a:stretch>
            </a:blipFill>
          </p:spPr>
          <p:txBody>
            <a:bodyPr/>
            <a:lstStyle/>
            <a:p>
              <a:endParaRPr lang="en-US"/>
            </a:p>
          </p:txBody>
        </p:sp>
      </p:grpSp>
      <p:sp>
        <p:nvSpPr>
          <p:cNvPr id="238" name="TextBox 238"/>
          <p:cNvSpPr txBox="1"/>
          <p:nvPr/>
        </p:nvSpPr>
        <p:spPr>
          <a:xfrm>
            <a:off x="1792615" y="7758484"/>
            <a:ext cx="7066588" cy="849820"/>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about 83%-90% less than comparable vendor tools at USD 6,000-10,000.</a:t>
            </a:r>
          </a:p>
        </p:txBody>
      </p:sp>
      <p:sp>
        <p:nvSpPr>
          <p:cNvPr id="239" name="AutoShape 239"/>
          <p:cNvSpPr/>
          <p:nvPr/>
        </p:nvSpPr>
        <p:spPr>
          <a:xfrm rot="24420">
            <a:off x="8724729" y="7907179"/>
            <a:ext cx="1341463" cy="0"/>
          </a:xfrm>
          <a:prstGeom prst="line">
            <a:avLst/>
          </a:prstGeom>
          <a:ln w="9525" cap="rnd">
            <a:solidFill>
              <a:srgbClr val="3A4482"/>
            </a:solidFill>
            <a:prstDash val="solid"/>
            <a:headEnd type="none" w="sm" len="sm"/>
            <a:tailEnd type="none" w="sm" len="sm"/>
          </a:ln>
        </p:spPr>
        <p:txBody>
          <a:bodyPr/>
          <a:lstStyle/>
          <a:p>
            <a:endParaRPr lang="en-US"/>
          </a:p>
        </p:txBody>
      </p:sp>
      <p:grpSp>
        <p:nvGrpSpPr>
          <p:cNvPr id="240" name="Group 240"/>
          <p:cNvGrpSpPr/>
          <p:nvPr/>
        </p:nvGrpSpPr>
        <p:grpSpPr>
          <a:xfrm>
            <a:off x="9806940" y="7804871"/>
            <a:ext cx="576072" cy="576072"/>
            <a:chOff x="0" y="0"/>
            <a:chExt cx="768096" cy="768096"/>
          </a:xfrm>
        </p:grpSpPr>
        <p:sp>
          <p:nvSpPr>
            <p:cNvPr id="241" name="Freeform 241" descr="icons/code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6"/>
              <a:stretch>
                <a:fillRect/>
              </a:stretch>
            </a:blipFill>
          </p:spPr>
          <p:txBody>
            <a:bodyPr/>
            <a:lstStyle/>
            <a:p>
              <a:endParaRPr lang="en-US"/>
            </a:p>
          </p:txBody>
        </p:sp>
      </p:grpSp>
      <p:grpSp>
        <p:nvGrpSpPr>
          <p:cNvPr id="242" name="Group 242"/>
          <p:cNvGrpSpPr/>
          <p:nvPr/>
        </p:nvGrpSpPr>
        <p:grpSpPr>
          <a:xfrm>
            <a:off x="755847" y="557136"/>
            <a:ext cx="13164598" cy="928783"/>
            <a:chOff x="0" y="0"/>
            <a:chExt cx="17552797" cy="1238377"/>
          </a:xfrm>
        </p:grpSpPr>
        <p:sp>
          <p:nvSpPr>
            <p:cNvPr id="243" name="Freeform 243"/>
            <p:cNvSpPr/>
            <p:nvPr/>
          </p:nvSpPr>
          <p:spPr>
            <a:xfrm>
              <a:off x="0" y="0"/>
              <a:ext cx="17552797" cy="1238377"/>
            </a:xfrm>
            <a:custGeom>
              <a:avLst/>
              <a:gdLst/>
              <a:ahLst/>
              <a:cxnLst/>
              <a:rect l="l" t="t" r="r" b="b"/>
              <a:pathLst>
                <a:path w="17552797" h="1238377">
                  <a:moveTo>
                    <a:pt x="0" y="0"/>
                  </a:moveTo>
                  <a:lnTo>
                    <a:pt x="17552797" y="0"/>
                  </a:lnTo>
                  <a:lnTo>
                    <a:pt x="17552797" y="1238377"/>
                  </a:lnTo>
                  <a:lnTo>
                    <a:pt x="0" y="1238377"/>
                  </a:lnTo>
                  <a:close/>
                </a:path>
              </a:pathLst>
            </a:custGeom>
            <a:blipFill>
              <a:blip r:embed="rId7">
                <a:alphaModFix amt="0"/>
              </a:blip>
              <a:stretch>
                <a:fillRect t="-225989" b="-225990"/>
              </a:stretch>
            </a:blipFill>
          </p:spPr>
          <p:txBody>
            <a:bodyPr/>
            <a:lstStyle/>
            <a:p>
              <a:endParaRPr lang="en-US"/>
            </a:p>
          </p:txBody>
        </p:sp>
      </p:grpSp>
      <p:grpSp>
        <p:nvGrpSpPr>
          <p:cNvPr id="244" name="Group 244"/>
          <p:cNvGrpSpPr/>
          <p:nvPr/>
        </p:nvGrpSpPr>
        <p:grpSpPr>
          <a:xfrm>
            <a:off x="755847" y="549993"/>
            <a:ext cx="13164598" cy="935927"/>
            <a:chOff x="0" y="0"/>
            <a:chExt cx="17552797" cy="1247902"/>
          </a:xfrm>
        </p:grpSpPr>
        <p:sp>
          <p:nvSpPr>
            <p:cNvPr id="245" name="Freeform 245"/>
            <p:cNvSpPr/>
            <p:nvPr/>
          </p:nvSpPr>
          <p:spPr>
            <a:xfrm>
              <a:off x="0" y="0"/>
              <a:ext cx="17552797" cy="1247902"/>
            </a:xfrm>
            <a:custGeom>
              <a:avLst/>
              <a:gdLst/>
              <a:ahLst/>
              <a:cxnLst/>
              <a:rect l="l" t="t" r="r" b="b"/>
              <a:pathLst>
                <a:path w="17552797" h="1247902">
                  <a:moveTo>
                    <a:pt x="0" y="0"/>
                  </a:moveTo>
                  <a:lnTo>
                    <a:pt x="17552797" y="0"/>
                  </a:lnTo>
                  <a:lnTo>
                    <a:pt x="17552797" y="1247902"/>
                  </a:lnTo>
                  <a:lnTo>
                    <a:pt x="0" y="1247902"/>
                  </a:lnTo>
                  <a:close/>
                </a:path>
              </a:pathLst>
            </a:custGeom>
            <a:blipFill>
              <a:blip r:embed="rId2">
                <a:alphaModFix amt="0"/>
              </a:blip>
              <a:stretch>
                <a:fillRect t="-223882" b="-223883"/>
              </a:stretch>
            </a:blipFill>
          </p:spPr>
          <p:txBody>
            <a:bodyPr/>
            <a:lstStyle/>
            <a:p>
              <a:endParaRPr lang="en-US"/>
            </a:p>
          </p:txBody>
        </p:sp>
      </p:grpSp>
      <p:grpSp>
        <p:nvGrpSpPr>
          <p:cNvPr id="246" name="Group 246"/>
          <p:cNvGrpSpPr/>
          <p:nvPr/>
        </p:nvGrpSpPr>
        <p:grpSpPr>
          <a:xfrm>
            <a:off x="755847" y="542849"/>
            <a:ext cx="13164598" cy="943118"/>
            <a:chOff x="0" y="0"/>
            <a:chExt cx="17552797" cy="1257490"/>
          </a:xfrm>
        </p:grpSpPr>
        <p:sp>
          <p:nvSpPr>
            <p:cNvPr id="247" name="Freeform 247"/>
            <p:cNvSpPr/>
            <p:nvPr/>
          </p:nvSpPr>
          <p:spPr>
            <a:xfrm>
              <a:off x="0" y="0"/>
              <a:ext cx="17552797" cy="1257427"/>
            </a:xfrm>
            <a:custGeom>
              <a:avLst/>
              <a:gdLst/>
              <a:ahLst/>
              <a:cxnLst/>
              <a:rect l="l" t="t" r="r" b="b"/>
              <a:pathLst>
                <a:path w="17552797" h="1257427">
                  <a:moveTo>
                    <a:pt x="0" y="0"/>
                  </a:moveTo>
                  <a:lnTo>
                    <a:pt x="17552797" y="0"/>
                  </a:lnTo>
                  <a:lnTo>
                    <a:pt x="17552797" y="1257427"/>
                  </a:lnTo>
                  <a:lnTo>
                    <a:pt x="0" y="1257427"/>
                  </a:lnTo>
                  <a:close/>
                </a:path>
              </a:pathLst>
            </a:custGeom>
            <a:blipFill>
              <a:blip r:embed="rId3">
                <a:alphaModFix amt="0"/>
              </a:blip>
              <a:stretch>
                <a:fillRect t="-221805" b="-221810"/>
              </a:stretch>
            </a:blipFill>
          </p:spPr>
          <p:txBody>
            <a:bodyPr/>
            <a:lstStyle/>
            <a:p>
              <a:endParaRPr lang="en-US"/>
            </a:p>
          </p:txBody>
        </p:sp>
      </p:grpSp>
      <p:grpSp>
        <p:nvGrpSpPr>
          <p:cNvPr id="248" name="Group 248"/>
          <p:cNvGrpSpPr/>
          <p:nvPr/>
        </p:nvGrpSpPr>
        <p:grpSpPr>
          <a:xfrm>
            <a:off x="755847" y="535705"/>
            <a:ext cx="13164598" cy="950262"/>
            <a:chOff x="0" y="0"/>
            <a:chExt cx="17552797" cy="1267016"/>
          </a:xfrm>
        </p:grpSpPr>
        <p:sp>
          <p:nvSpPr>
            <p:cNvPr id="249" name="Freeform 249"/>
            <p:cNvSpPr/>
            <p:nvPr/>
          </p:nvSpPr>
          <p:spPr>
            <a:xfrm>
              <a:off x="0" y="0"/>
              <a:ext cx="17552797" cy="1267016"/>
            </a:xfrm>
            <a:custGeom>
              <a:avLst/>
              <a:gdLst/>
              <a:ahLst/>
              <a:cxnLst/>
              <a:rect l="l" t="t" r="r" b="b"/>
              <a:pathLst>
                <a:path w="17552797" h="1267016">
                  <a:moveTo>
                    <a:pt x="0" y="0"/>
                  </a:moveTo>
                  <a:lnTo>
                    <a:pt x="17552797" y="0"/>
                  </a:lnTo>
                  <a:lnTo>
                    <a:pt x="17552797" y="1267016"/>
                  </a:lnTo>
                  <a:lnTo>
                    <a:pt x="0" y="1267016"/>
                  </a:lnTo>
                  <a:close/>
                </a:path>
              </a:pathLst>
            </a:custGeom>
            <a:blipFill>
              <a:blip r:embed="rId4">
                <a:alphaModFix amt="0"/>
              </a:blip>
              <a:stretch>
                <a:fillRect t="-219938" b="-219938"/>
              </a:stretch>
            </a:blipFill>
          </p:spPr>
          <p:txBody>
            <a:bodyPr/>
            <a:lstStyle/>
            <a:p>
              <a:endParaRPr lang="en-US"/>
            </a:p>
          </p:txBody>
        </p:sp>
        <p:sp>
          <p:nvSpPr>
            <p:cNvPr id="250" name="TextBox 250"/>
            <p:cNvSpPr txBox="1"/>
            <p:nvPr/>
          </p:nvSpPr>
          <p:spPr>
            <a:xfrm>
              <a:off x="0" y="-9525"/>
              <a:ext cx="17552797" cy="1276541"/>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l="200000" t="200000" r="-100000" b="-100000"/>
                    </a:path>
                    <a:tileRect r="-300000" b="-300000"/>
                  </a:gradFill>
                  <a:latin typeface="Exo 2 Bold"/>
                  <a:ea typeface="Exo 2 Bold"/>
                  <a:cs typeface="Exo 2 Bold"/>
                  <a:sym typeface="Exo 2 Bold"/>
                </a:rPr>
                <a:t>Systems Planning &amp; Deployment</a:t>
              </a:r>
            </a:p>
          </p:txBody>
        </p:sp>
      </p:grpSp>
      <p:grpSp>
        <p:nvGrpSpPr>
          <p:cNvPr id="251" name="Group 251"/>
          <p:cNvGrpSpPr/>
          <p:nvPr/>
        </p:nvGrpSpPr>
        <p:grpSpPr>
          <a:xfrm>
            <a:off x="470535" y="648843"/>
            <a:ext cx="115062" cy="732282"/>
            <a:chOff x="0" y="0"/>
            <a:chExt cx="153416" cy="976376"/>
          </a:xfrm>
        </p:grpSpPr>
        <p:sp>
          <p:nvSpPr>
            <p:cNvPr id="252" name="Freeform 252"/>
            <p:cNvSpPr/>
            <p:nvPr/>
          </p:nvSpPr>
          <p:spPr>
            <a:xfrm>
              <a:off x="0" y="0"/>
              <a:ext cx="153416" cy="976376"/>
            </a:xfrm>
            <a:custGeom>
              <a:avLst/>
              <a:gdLst/>
              <a:ahLst/>
              <a:cxnLst/>
              <a:rect l="l" t="t" r="r" b="b"/>
              <a:pathLst>
                <a:path w="153416" h="976376">
                  <a:moveTo>
                    <a:pt x="0" y="0"/>
                  </a:moveTo>
                  <a:lnTo>
                    <a:pt x="153416" y="0"/>
                  </a:lnTo>
                  <a:lnTo>
                    <a:pt x="153416" y="976376"/>
                  </a:lnTo>
                  <a:lnTo>
                    <a:pt x="0" y="976376"/>
                  </a:lnTo>
                  <a:lnTo>
                    <a:pt x="0" y="0"/>
                  </a:lnTo>
                  <a:close/>
                </a:path>
              </a:pathLst>
            </a:custGeom>
            <a:gradFill rotWithShape="1">
              <a:gsLst>
                <a:gs pos="0">
                  <a:srgbClr val="132257">
                    <a:alpha val="100000"/>
                  </a:srgbClr>
                </a:gs>
                <a:gs pos="100000">
                  <a:srgbClr val="2F6FE0">
                    <a:alpha val="100000"/>
                  </a:srgbClr>
                </a:gs>
              </a:gsLst>
              <a:lin ang="18900000"/>
            </a:gradFill>
          </p:spPr>
          <p:txBody>
            <a:bodyPr/>
            <a:lstStyle/>
            <a:p>
              <a:endParaRPr lang="en-US"/>
            </a:p>
          </p:txBody>
        </p:sp>
      </p:grpSp>
      <p:grpSp>
        <p:nvGrpSpPr>
          <p:cNvPr id="253" name="Group 253"/>
          <p:cNvGrpSpPr/>
          <p:nvPr/>
        </p:nvGrpSpPr>
        <p:grpSpPr>
          <a:xfrm>
            <a:off x="15441806" y="505082"/>
            <a:ext cx="1817465" cy="523589"/>
            <a:chOff x="0" y="0"/>
            <a:chExt cx="2423287" cy="698119"/>
          </a:xfrm>
        </p:grpSpPr>
        <p:sp>
          <p:nvSpPr>
            <p:cNvPr id="254" name="Freeform 254"/>
            <p:cNvSpPr/>
            <p:nvPr/>
          </p:nvSpPr>
          <p:spPr>
            <a:xfrm>
              <a:off x="0" y="0"/>
              <a:ext cx="2423287" cy="698119"/>
            </a:xfrm>
            <a:custGeom>
              <a:avLst/>
              <a:gdLst/>
              <a:ahLst/>
              <a:cxnLst/>
              <a:rect l="l" t="t" r="r" b="b"/>
              <a:pathLst>
                <a:path w="2423287" h="698119">
                  <a:moveTo>
                    <a:pt x="0" y="0"/>
                  </a:moveTo>
                  <a:lnTo>
                    <a:pt x="2423287" y="0"/>
                  </a:lnTo>
                  <a:lnTo>
                    <a:pt x="2423287" y="698119"/>
                  </a:lnTo>
                  <a:lnTo>
                    <a:pt x="0" y="698119"/>
                  </a:lnTo>
                  <a:lnTo>
                    <a:pt x="0" y="0"/>
                  </a:lnTo>
                  <a:close/>
                </a:path>
              </a:pathLst>
            </a:custGeom>
            <a:blipFill>
              <a:blip r:embed="rId8"/>
              <a:stretch>
                <a:fillRect t="-362" b="-363"/>
              </a:stretch>
            </a:blipFill>
          </p:spPr>
          <p:txBody>
            <a:bodyPr/>
            <a:lstStyle/>
            <a:p>
              <a:endParaRPr lang="en-US"/>
            </a:p>
          </p:txBody>
        </p:sp>
      </p:grpSp>
      <p:grpSp>
        <p:nvGrpSpPr>
          <p:cNvPr id="255" name="Group 255"/>
          <p:cNvGrpSpPr/>
          <p:nvPr/>
        </p:nvGrpSpPr>
        <p:grpSpPr>
          <a:xfrm>
            <a:off x="9292438" y="5678891"/>
            <a:ext cx="2194560" cy="356616"/>
            <a:chOff x="0" y="0"/>
            <a:chExt cx="2926080" cy="475488"/>
          </a:xfrm>
        </p:grpSpPr>
        <p:sp>
          <p:nvSpPr>
            <p:cNvPr id="256" name="Freeform 256"/>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57" name="Group 257"/>
          <p:cNvGrpSpPr/>
          <p:nvPr/>
        </p:nvGrpSpPr>
        <p:grpSpPr>
          <a:xfrm>
            <a:off x="9292438" y="5678891"/>
            <a:ext cx="2194560" cy="356616"/>
            <a:chOff x="0" y="0"/>
            <a:chExt cx="2926080" cy="475488"/>
          </a:xfrm>
        </p:grpSpPr>
        <p:sp>
          <p:nvSpPr>
            <p:cNvPr id="258" name="Freeform 258"/>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59" name="Group 259"/>
          <p:cNvGrpSpPr/>
          <p:nvPr/>
        </p:nvGrpSpPr>
        <p:grpSpPr>
          <a:xfrm>
            <a:off x="9292438" y="5671747"/>
            <a:ext cx="2194560" cy="363760"/>
            <a:chOff x="0" y="0"/>
            <a:chExt cx="2926080" cy="485013"/>
          </a:xfrm>
        </p:grpSpPr>
        <p:sp>
          <p:nvSpPr>
            <p:cNvPr id="260" name="Freeform 260"/>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61" name="Group 261"/>
          <p:cNvGrpSpPr/>
          <p:nvPr/>
        </p:nvGrpSpPr>
        <p:grpSpPr>
          <a:xfrm>
            <a:off x="9292438" y="5664603"/>
            <a:ext cx="2194560" cy="370904"/>
            <a:chOff x="0" y="0"/>
            <a:chExt cx="2926080" cy="494538"/>
          </a:xfrm>
        </p:grpSpPr>
        <p:sp>
          <p:nvSpPr>
            <p:cNvPr id="262" name="Freeform 262"/>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63" name="TextBox 263"/>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264" name="Group 264"/>
          <p:cNvGrpSpPr/>
          <p:nvPr/>
        </p:nvGrpSpPr>
        <p:grpSpPr>
          <a:xfrm>
            <a:off x="2117656" y="9097504"/>
            <a:ext cx="14052689" cy="313448"/>
            <a:chOff x="0" y="0"/>
            <a:chExt cx="18736918" cy="417931"/>
          </a:xfrm>
        </p:grpSpPr>
        <p:grpSp>
          <p:nvGrpSpPr>
            <p:cNvPr id="265" name="Group 265"/>
            <p:cNvGrpSpPr/>
            <p:nvPr/>
          </p:nvGrpSpPr>
          <p:grpSpPr>
            <a:xfrm>
              <a:off x="0" y="0"/>
              <a:ext cx="18736918" cy="417931"/>
              <a:chOff x="0" y="0"/>
              <a:chExt cx="22117329" cy="493331"/>
            </a:xfrm>
          </p:grpSpPr>
          <p:sp>
            <p:nvSpPr>
              <p:cNvPr id="266" name="Freeform 266"/>
              <p:cNvSpPr/>
              <p:nvPr/>
            </p:nvSpPr>
            <p:spPr>
              <a:xfrm>
                <a:off x="0" y="0"/>
                <a:ext cx="22117304" cy="493332"/>
              </a:xfrm>
              <a:custGeom>
                <a:avLst/>
                <a:gdLst/>
                <a:ahLst/>
                <a:cxnLst/>
                <a:rect l="l" t="t" r="r" b="b"/>
                <a:pathLst>
                  <a:path w="22117304" h="493332">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txBody>
              <a:bodyPr/>
              <a:lstStyle/>
              <a:p>
                <a:endParaRPr lang="en-US"/>
              </a:p>
            </p:txBody>
          </p:sp>
        </p:grpSp>
        <p:sp>
          <p:nvSpPr>
            <p:cNvPr id="267" name="TextBox 267"/>
            <p:cNvSpPr txBox="1"/>
            <p:nvPr/>
          </p:nvSpPr>
          <p:spPr>
            <a:xfrm>
              <a:off x="3672151" y="69265"/>
              <a:ext cx="11392615" cy="279400"/>
            </a:xfrm>
            <a:prstGeom prst="rect">
              <a:avLst/>
            </a:prstGeom>
          </p:spPr>
          <p:txBody>
            <a:bodyPr lIns="0" tIns="0" rIns="0" bIns="0" rtlCol="0" anchor="t">
              <a:spAutoFit/>
            </a:bodyPr>
            <a:lstStyle/>
            <a:p>
              <a:pPr algn="ctr">
                <a:lnSpc>
                  <a:spcPts val="1699"/>
                </a:lnSpc>
              </a:pPr>
              <a:r>
                <a:rPr lang="en-US" sz="1416" b="1">
                  <a:solidFill>
                    <a:srgbClr val="132257"/>
                  </a:solidFill>
                  <a:latin typeface="Exo 2 Bold"/>
                  <a:ea typeface="Exo 2 Bold"/>
                  <a:cs typeface="Exo 2 Bold"/>
                  <a:sym typeface="Exo 2 Bold"/>
                </a:rPr>
                <a:t>Helpdesk is live: Client Experience no longer tracks queries in Excel</a:t>
              </a:r>
            </a:p>
          </p:txBody>
        </p:sp>
      </p:grpSp>
      <p:sp>
        <p:nvSpPr>
          <p:cNvPr id="268" name="Freeform 268"/>
          <p:cNvSpPr/>
          <p:nvPr/>
        </p:nvSpPr>
        <p:spPr>
          <a:xfrm>
            <a:off x="15576633" y="9506197"/>
            <a:ext cx="1547812" cy="550335"/>
          </a:xfrm>
          <a:custGeom>
            <a:avLst/>
            <a:gdLst/>
            <a:ahLst/>
            <a:cxnLst/>
            <a:rect l="l" t="t" r="r" b="b"/>
            <a:pathLst>
              <a:path w="1547812" h="550335">
                <a:moveTo>
                  <a:pt x="0" y="0"/>
                </a:moveTo>
                <a:lnTo>
                  <a:pt x="1547812" y="0"/>
                </a:lnTo>
                <a:lnTo>
                  <a:pt x="1547812" y="550335"/>
                </a:lnTo>
                <a:lnTo>
                  <a:pt x="0" y="550335"/>
                </a:lnTo>
                <a:lnTo>
                  <a:pt x="0" y="0"/>
                </a:lnTo>
                <a:close/>
              </a:path>
            </a:pathLst>
          </a:custGeom>
          <a:blipFill>
            <a:blip>
              <a:extLst>
                <a:ext uri="{96DAC541-7B7A-43D3-8B79-37D633B846F1}">
                  <asvg:svgBlip xmlns:asvg="http://schemas.microsoft.com/office/drawing/2016/SVG/main" r:embed="rId9"/>
                </a:ext>
              </a:extLst>
            </a:blip>
            <a:stretch>
              <a:fillRect l="-574" r="-574"/>
            </a:stretch>
          </a:blipFill>
        </p:spPr>
        <p:txBody>
          <a:bodyPr/>
          <a:lstStyle/>
          <a:p>
            <a:endParaRPr lang="en-US"/>
          </a:p>
        </p:txBody>
      </p:sp>
      <p:grpSp>
        <p:nvGrpSpPr>
          <p:cNvPr id="269" name="Group 269"/>
          <p:cNvGrpSpPr/>
          <p:nvPr/>
        </p:nvGrpSpPr>
        <p:grpSpPr>
          <a:xfrm>
            <a:off x="1028700" y="1408117"/>
            <a:ext cx="7455428" cy="688349"/>
            <a:chOff x="0" y="0"/>
            <a:chExt cx="1963570" cy="181294"/>
          </a:xfrm>
        </p:grpSpPr>
        <p:sp>
          <p:nvSpPr>
            <p:cNvPr id="270" name="Freeform 270"/>
            <p:cNvSpPr/>
            <p:nvPr/>
          </p:nvSpPr>
          <p:spPr>
            <a:xfrm>
              <a:off x="0" y="0"/>
              <a:ext cx="1963570" cy="181294"/>
            </a:xfrm>
            <a:custGeom>
              <a:avLst/>
              <a:gdLst/>
              <a:ahLst/>
              <a:cxnLst/>
              <a:rect l="l" t="t" r="r" b="b"/>
              <a:pathLst>
                <a:path w="1963570" h="181294">
                  <a:moveTo>
                    <a:pt x="90647" y="0"/>
                  </a:moveTo>
                  <a:lnTo>
                    <a:pt x="1872923" y="0"/>
                  </a:lnTo>
                  <a:cubicBezTo>
                    <a:pt x="1922986" y="0"/>
                    <a:pt x="1963570" y="40584"/>
                    <a:pt x="1963570" y="90647"/>
                  </a:cubicBezTo>
                  <a:lnTo>
                    <a:pt x="1963570" y="90647"/>
                  </a:lnTo>
                  <a:cubicBezTo>
                    <a:pt x="1963570" y="140710"/>
                    <a:pt x="1922986" y="181294"/>
                    <a:pt x="1872923" y="181294"/>
                  </a:cubicBezTo>
                  <a:lnTo>
                    <a:pt x="90647" y="181294"/>
                  </a:lnTo>
                  <a:cubicBezTo>
                    <a:pt x="40584" y="181294"/>
                    <a:pt x="0" y="140710"/>
                    <a:pt x="0" y="90647"/>
                  </a:cubicBezTo>
                  <a:lnTo>
                    <a:pt x="0" y="90647"/>
                  </a:lnTo>
                  <a:cubicBezTo>
                    <a:pt x="0" y="40584"/>
                    <a:pt x="40584" y="0"/>
                    <a:pt x="90647" y="0"/>
                  </a:cubicBezTo>
                  <a:close/>
                </a:path>
              </a:pathLst>
            </a:custGeom>
            <a:solidFill>
              <a:srgbClr val="1E2D4F"/>
            </a:solidFill>
          </p:spPr>
          <p:txBody>
            <a:bodyPr/>
            <a:lstStyle/>
            <a:p>
              <a:endParaRPr lang="en-US"/>
            </a:p>
          </p:txBody>
        </p:sp>
        <p:sp>
          <p:nvSpPr>
            <p:cNvPr id="271" name="TextBox 271"/>
            <p:cNvSpPr txBox="1"/>
            <p:nvPr/>
          </p:nvSpPr>
          <p:spPr>
            <a:xfrm>
              <a:off x="0" y="-9525"/>
              <a:ext cx="1963570" cy="190819"/>
            </a:xfrm>
            <a:prstGeom prst="rect">
              <a:avLst/>
            </a:prstGeom>
          </p:spPr>
          <p:txBody>
            <a:bodyPr lIns="50800" tIns="50800" rIns="50800" bIns="50800" rtlCol="0" anchor="ctr"/>
            <a:lstStyle/>
            <a:p>
              <a:pPr algn="ctr">
                <a:lnSpc>
                  <a:spcPts val="2802"/>
                </a:lnSpc>
              </a:pPr>
              <a:endParaRPr/>
            </a:p>
          </p:txBody>
        </p:sp>
      </p:grpSp>
      <p:sp>
        <p:nvSpPr>
          <p:cNvPr id="272" name="TextBox 272"/>
          <p:cNvSpPr txBox="1"/>
          <p:nvPr/>
        </p:nvSpPr>
        <p:spPr>
          <a:xfrm>
            <a:off x="1028700" y="3960962"/>
            <a:ext cx="4678528" cy="52616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Deployed on 17 Sep 2026, ahead of the 20 Sep target.</a:t>
            </a:r>
          </a:p>
        </p:txBody>
      </p:sp>
      <p:sp>
        <p:nvSpPr>
          <p:cNvPr id="273" name="TextBox 273"/>
          <p:cNvSpPr txBox="1"/>
          <p:nvPr/>
        </p:nvSpPr>
        <p:spPr>
          <a:xfrm>
            <a:off x="6804508"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Will bring the customer base into a single system. Starts now that Helpdesk is live.</a:t>
            </a:r>
          </a:p>
        </p:txBody>
      </p:sp>
      <p:sp>
        <p:nvSpPr>
          <p:cNvPr id="274" name="TextBox 274"/>
          <p:cNvSpPr txBox="1"/>
          <p:nvPr/>
        </p:nvSpPr>
        <p:spPr>
          <a:xfrm>
            <a:off x="12580315"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id="275" name="TextBox 275"/>
          <p:cNvSpPr txBox="1"/>
          <p:nvPr/>
        </p:nvSpPr>
        <p:spPr>
          <a:xfrm>
            <a:off x="10594315" y="7758484"/>
            <a:ext cx="6652260" cy="583121"/>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sp>
        <p:nvSpPr>
          <p:cNvPr id="276" name="TextBox 276"/>
          <p:cNvSpPr txBox="1"/>
          <p:nvPr/>
        </p:nvSpPr>
        <p:spPr>
          <a:xfrm>
            <a:off x="777240" y="9783042"/>
            <a:ext cx="10817123" cy="348072"/>
          </a:xfrm>
          <a:prstGeom prst="rect">
            <a:avLst/>
          </a:prstGeom>
        </p:spPr>
        <p:txBody>
          <a:bodyPr lIns="0" tIns="0" rIns="0" bIns="0" rtlCol="0" anchor="t">
            <a:spAutoFit/>
          </a:bodyPr>
          <a:lstStyle/>
          <a:p>
            <a:pPr algn="l">
              <a:lnSpc>
                <a:spcPts val="1140"/>
              </a:lnSpc>
            </a:pPr>
            <a:r>
              <a:rPr lang="en-US" sz="950">
                <a:solidFill>
                  <a:srgbClr val="8A93A8"/>
                </a:solidFill>
                <a:latin typeface="Exo 2"/>
                <a:ea typeface="Exo 2"/>
                <a:cs typeface="Exo 2"/>
                <a:sym typeface="Exo 2"/>
              </a:rPr>
              <a:t>eMYAA Trading Platform  |  CEO Update  |  01 Oct 2026</a:t>
            </a:r>
          </a:p>
        </p:txBody>
      </p:sp>
      <p:grpSp>
        <p:nvGrpSpPr>
          <p:cNvPr id="278" name="Group 278"/>
          <p:cNvGrpSpPr/>
          <p:nvPr/>
        </p:nvGrpSpPr>
        <p:grpSpPr>
          <a:xfrm>
            <a:off x="1201674" y="1505403"/>
            <a:ext cx="7067410" cy="493776"/>
            <a:chOff x="0" y="0"/>
            <a:chExt cx="9423214" cy="658368"/>
          </a:xfrm>
        </p:grpSpPr>
        <p:sp>
          <p:nvSpPr>
            <p:cNvPr id="279" name="Freeform 279"/>
            <p:cNvSpPr/>
            <p:nvPr/>
          </p:nvSpPr>
          <p:spPr>
            <a:xfrm>
              <a:off x="0" y="0"/>
              <a:ext cx="9423214" cy="658368"/>
            </a:xfrm>
            <a:custGeom>
              <a:avLst/>
              <a:gdLst/>
              <a:ahLst/>
              <a:cxnLst/>
              <a:rect l="l" t="t" r="r" b="b"/>
              <a:pathLst>
                <a:path w="9423214" h="658368">
                  <a:moveTo>
                    <a:pt x="0" y="0"/>
                  </a:moveTo>
                  <a:lnTo>
                    <a:pt x="9423214" y="0"/>
                  </a:lnTo>
                  <a:lnTo>
                    <a:pt x="9423214" y="658368"/>
                  </a:lnTo>
                  <a:lnTo>
                    <a:pt x="0" y="658368"/>
                  </a:lnTo>
                  <a:close/>
                </a:path>
              </a:pathLst>
            </a:custGeom>
            <a:blipFill>
              <a:blip r:embed="rId4">
                <a:alphaModFix amt="0"/>
              </a:blip>
              <a:stretch>
                <a:fillRect t="-98844" r="46629" b="-98844"/>
              </a:stretch>
            </a:blipFill>
          </p:spPr>
          <p:txBody>
            <a:bodyPr/>
            <a:lstStyle/>
            <a:p>
              <a:endParaRPr lang="en-US"/>
            </a:p>
          </p:txBody>
        </p:sp>
        <p:sp>
          <p:nvSpPr>
            <p:cNvPr id="280" name="TextBox 280"/>
            <p:cNvSpPr txBox="1"/>
            <p:nvPr/>
          </p:nvSpPr>
          <p:spPr>
            <a:xfrm>
              <a:off x="0" y="0"/>
              <a:ext cx="9423214" cy="658368"/>
            </a:xfrm>
            <a:prstGeom prst="rect">
              <a:avLst/>
            </a:prstGeom>
          </p:spPr>
          <p:txBody>
            <a:bodyPr lIns="0" tIns="0" rIns="0" bIns="0" rtlCol="0" anchor="ctr"/>
            <a:lstStyle/>
            <a:p>
              <a:pPr algn="ctr">
                <a:lnSpc>
                  <a:spcPts val="1980"/>
                </a:lnSpc>
              </a:pPr>
              <a:r>
                <a:rPr lang="en-US" sz="1650" b="1" spc="150">
                  <a:solidFill>
                    <a:srgbClr val="FFFFFF"/>
                  </a:solidFill>
                  <a:latin typeface="Exo 2 Bold"/>
                  <a:ea typeface="Exo 2 Bold"/>
                  <a:cs typeface="Exo 2 Bold"/>
                  <a:sym typeface="Exo 2 Bold"/>
                </a:rPr>
                <a:t>INTERNAL WEALTHTECH TECHNOLOGY OPERATIONS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630555" y="2087067"/>
            <a:ext cx="17026890" cy="4746077"/>
            <a:chOff x="0" y="0"/>
            <a:chExt cx="22702520" cy="6328103"/>
          </a:xfrm>
        </p:grpSpPr>
        <p:sp>
          <p:nvSpPr>
            <p:cNvPr id="11" name="Freeform 11"/>
            <p:cNvSpPr/>
            <p:nvPr/>
          </p:nvSpPr>
          <p:spPr>
            <a:xfrm>
              <a:off x="0" y="0"/>
              <a:ext cx="22702520" cy="6328103"/>
            </a:xfrm>
            <a:custGeom>
              <a:avLst/>
              <a:gdLst/>
              <a:ahLst/>
              <a:cxnLst/>
              <a:rect l="l" t="t" r="r" b="b"/>
              <a:pathLst>
                <a:path w="22702520" h="6328103">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2" name="Group 12"/>
          <p:cNvGrpSpPr/>
          <p:nvPr/>
        </p:nvGrpSpPr>
        <p:grpSpPr>
          <a:xfrm>
            <a:off x="955548" y="2312619"/>
            <a:ext cx="14813280" cy="548640"/>
            <a:chOff x="0" y="0"/>
            <a:chExt cx="19751040" cy="731520"/>
          </a:xfrm>
        </p:grpSpPr>
        <p:sp>
          <p:nvSpPr>
            <p:cNvPr id="13" name="Freeform 1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4">
                <a:alphaModFix amt="0"/>
              </a:blip>
              <a:stretch>
                <a:fillRect t="-476096" b="-476096"/>
              </a:stretch>
            </a:blipFill>
          </p:spPr>
          <p:txBody>
            <a:bodyPr/>
            <a:lstStyle/>
            <a:p>
              <a:endParaRPr lang="en-US"/>
            </a:p>
          </p:txBody>
        </p:sp>
        <p:sp>
          <p:nvSpPr>
            <p:cNvPr id="14" name="TextBox 14"/>
            <p:cNvSpPr txBox="1"/>
            <p:nvPr/>
          </p:nvSpPr>
          <p:spPr>
            <a:xfrm>
              <a:off x="0" y="-9525"/>
              <a:ext cx="19751040" cy="741045"/>
            </a:xfrm>
            <a:prstGeom prst="rect">
              <a:avLst/>
            </a:prstGeom>
          </p:spPr>
          <p:txBody>
            <a:bodyPr lIns="0" tIns="0" rIns="0" bIns="0" rtlCol="0" anchor="ctr"/>
            <a:lstStyle/>
            <a:p>
              <a:pPr marL="0" lvl="0" indent="0" algn="l">
                <a:lnSpc>
                  <a:spcPts val="2700"/>
                </a:lnSpc>
                <a:spcBef>
                  <a:spcPct val="0"/>
                </a:spcBef>
              </a:pPr>
              <a:r>
                <a:rPr lang="en-US" sz="2250" b="1">
                  <a:solidFill>
                    <a:srgbClr val="1B1B3A"/>
                  </a:solidFill>
                  <a:latin typeface="Exo 2 Bold"/>
                  <a:ea typeface="Exo 2 Bold"/>
                  <a:cs typeface="Exo 2 Bold"/>
                  <a:sym typeface="Exo 2 Bold"/>
                </a:rPr>
                <a:t>Exante - Status Update</a:t>
              </a:r>
              <a:r>
                <a:rPr lang="en-US" sz="2250" b="1" u="none" strike="noStrike">
                  <a:solidFill>
                    <a:srgbClr val="1B1B3A"/>
                  </a:solidFill>
                  <a:latin typeface="Exo 2 Bold"/>
                  <a:ea typeface="Exo 2 Bold"/>
                  <a:cs typeface="Exo 2 Bold"/>
                  <a:sym typeface="Exo 2 Bold"/>
                </a:rPr>
                <a:t/>
              </a:r>
            </a:p>
          </p:txBody>
        </p:sp>
      </p:grpSp>
      <p:grpSp>
        <p:nvGrpSpPr>
          <p:cNvPr id="15" name="Group 15"/>
          <p:cNvGrpSpPr/>
          <p:nvPr/>
        </p:nvGrpSpPr>
        <p:grpSpPr>
          <a:xfrm>
            <a:off x="937260" y="3132578"/>
            <a:ext cx="16322040" cy="622173"/>
            <a:chOff x="0" y="0"/>
            <a:chExt cx="21762720" cy="829564"/>
          </a:xfrm>
        </p:grpSpPr>
        <p:grpSp>
          <p:nvGrpSpPr>
            <p:cNvPr id="16" name="Group 16"/>
            <p:cNvGrpSpPr/>
            <p:nvPr/>
          </p:nvGrpSpPr>
          <p:grpSpPr>
            <a:xfrm>
              <a:off x="0" y="164592"/>
              <a:ext cx="329184" cy="329184"/>
              <a:chOff x="0" y="0"/>
              <a:chExt cx="329184" cy="329184"/>
            </a:xfrm>
          </p:grpSpPr>
          <p:sp>
            <p:nvSpPr>
              <p:cNvPr id="17" name="Freeform 17"/>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18" name="TextBox 18"/>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id="19" name="Group 19"/>
          <p:cNvGrpSpPr/>
          <p:nvPr/>
        </p:nvGrpSpPr>
        <p:grpSpPr>
          <a:xfrm>
            <a:off x="937260" y="4224586"/>
            <a:ext cx="16322040" cy="622173"/>
            <a:chOff x="0" y="0"/>
            <a:chExt cx="21762720" cy="829564"/>
          </a:xfrm>
        </p:grpSpPr>
        <p:grpSp>
          <p:nvGrpSpPr>
            <p:cNvPr id="20" name="Group 20"/>
            <p:cNvGrpSpPr/>
            <p:nvPr/>
          </p:nvGrpSpPr>
          <p:grpSpPr>
            <a:xfrm>
              <a:off x="0" y="164592"/>
              <a:ext cx="329184" cy="329184"/>
              <a:chOff x="0" y="0"/>
              <a:chExt cx="329184" cy="329184"/>
            </a:xfrm>
          </p:grpSpPr>
          <p:sp>
            <p:nvSpPr>
              <p:cNvPr id="21" name="Freeform 21"/>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2" name="TextBox 22"/>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First version of the Next App due 08 Oct 2026. Full release plan to be shared next week.</a:t>
              </a:r>
            </a:p>
          </p:txBody>
        </p:sp>
      </p:grpSp>
      <p:grpSp>
        <p:nvGrpSpPr>
          <p:cNvPr id="23" name="Group 23"/>
          <p:cNvGrpSpPr/>
          <p:nvPr/>
        </p:nvGrpSpPr>
        <p:grpSpPr>
          <a:xfrm>
            <a:off x="937260" y="5316594"/>
            <a:ext cx="16322040" cy="955548"/>
            <a:chOff x="0" y="0"/>
            <a:chExt cx="21762720" cy="1274064"/>
          </a:xfrm>
        </p:grpSpPr>
        <p:grpSp>
          <p:nvGrpSpPr>
            <p:cNvPr id="24" name="Group 24"/>
            <p:cNvGrpSpPr/>
            <p:nvPr/>
          </p:nvGrpSpPr>
          <p:grpSpPr>
            <a:xfrm>
              <a:off x="0" y="164592"/>
              <a:ext cx="329184" cy="329184"/>
              <a:chOff x="0" y="0"/>
              <a:chExt cx="329184" cy="329184"/>
            </a:xfrm>
          </p:grpSpPr>
          <p:sp>
            <p:nvSpPr>
              <p:cNvPr id="25" name="Freeform 25"/>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6" name="TextBox 26"/>
            <p:cNvSpPr txBox="1"/>
            <p:nvPr/>
          </p:nvSpPr>
          <p:spPr>
            <a:xfrm>
              <a:off x="548640" y="-38100"/>
              <a:ext cx="21214080" cy="13121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Sanity / Smoke Tests</a:t>
              </a:r>
            </a:p>
            <a:p>
              <a:pPr algn="l">
                <a:lnSpc>
                  <a:spcPts val="2690"/>
                </a:lnSpc>
              </a:pPr>
              <a:r>
                <a:rPr lang="en-US" sz="1950">
                  <a:solidFill>
                    <a:srgbClr val="6B7280"/>
                  </a:solidFill>
                  <a:latin typeface="Exo 2"/>
                  <a:ea typeface="Exo 2"/>
                  <a:cs typeface="Exo 2"/>
                  <a:sym typeface="Exo 2"/>
                </a:rPr>
                <a:t>The Android security update passed two internal test rounds (99.4%) and went live on Google Play on 29 Sep. Sanity test date for Next App v1: to be confirmed.</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804861" y="603559"/>
            <a:ext cx="14636945" cy="822851"/>
            <a:chOff x="0" y="0"/>
            <a:chExt cx="19515927" cy="1097134"/>
          </a:xfrm>
        </p:grpSpPr>
        <p:sp>
          <p:nvSpPr>
            <p:cNvPr id="5" name="Freeform 5"/>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6" name="TextBox 6"/>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Instagram: Standout Channel</a:t>
              </a:r>
            </a:p>
          </p:txBody>
        </p:sp>
      </p:grpSp>
      <p:sp>
        <p:nvSpPr>
          <p:cNvPr id="7" name="Freeform 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528066" y="1807409"/>
          <a:ext cx="16715422" cy="2663117"/>
        </p:xfrm>
        <a:graphic>
          <a:graphicData uri="http://schemas.openxmlformats.org/drawingml/2006/table">
            <a:tbl>
              <a:tblPr/>
              <a:tblGrid>
                <a:gridCol w="5371770">
                  <a:extLst>
                    <a:ext uri="{9D8B030D-6E8A-4147-A177-3AD203B41FA5}">
                      <a16:colId xmlns:a16="http://schemas.microsoft.com/office/drawing/2014/main" val="20000"/>
                    </a:ext>
                  </a:extLst>
                </a:gridCol>
                <a:gridCol w="5133098">
                  <a:extLst>
                    <a:ext uri="{9D8B030D-6E8A-4147-A177-3AD203B41FA5}">
                      <a16:colId xmlns:a16="http://schemas.microsoft.com/office/drawing/2014/main" val="20001"/>
                    </a:ext>
                  </a:extLst>
                </a:gridCol>
                <a:gridCol w="6210554">
                  <a:extLst>
                    <a:ext uri="{9D8B030D-6E8A-4147-A177-3AD203B41FA5}">
                      <a16:colId xmlns:a16="http://schemas.microsoft.com/office/drawing/2014/main" val="20002"/>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Metric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Value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a:solidFill>
                            <a:srgbClr val="FFFFFF"/>
                          </a:solidFill>
                          <a:latin typeface="Exo 2"/>
                          <a:ea typeface="Exo 2"/>
                          <a:cs typeface="Exo 2"/>
                          <a:sym typeface="Exo 2"/>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2,116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Views (all-time)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2,271,132</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59.</a:t>
                      </a:r>
                      <a:r>
                        <a:rPr lang="en-US" sz="2148" u="none" strike="noStrike">
                          <a:solidFill>
                            <a:srgbClr val="5A6A85"/>
                          </a:solidFill>
                          <a:latin typeface="Exo 2"/>
                          <a:ea typeface="Exo 2"/>
                          <a:cs typeface="Exo 2"/>
                          <a:sym typeface="Exo 2"/>
                        </a:rPr>
                        <a:t>2% Reels / 38.1% Stories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Interactions (all-time)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8,311</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72.4% from Reels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3" name="Table 13"/>
          <p:cNvGraphicFramePr>
            <a:graphicFrameLocks noGrp="1"/>
          </p:cNvGraphicFramePr>
          <p:nvPr/>
        </p:nvGraphicFramePr>
        <p:xfrm>
          <a:off x="528066" y="5618289"/>
          <a:ext cx="10102858" cy="3492237"/>
        </p:xfrm>
        <a:graphic>
          <a:graphicData uri="http://schemas.openxmlformats.org/drawingml/2006/table">
            <a:tbl>
              <a:tblPr/>
              <a:tblGrid>
                <a:gridCol w="3105911">
                  <a:extLst>
                    <a:ext uri="{9D8B030D-6E8A-4147-A177-3AD203B41FA5}">
                      <a16:colId xmlns:a16="http://schemas.microsoft.com/office/drawing/2014/main" val="20000"/>
                    </a:ext>
                  </a:extLst>
                </a:gridCol>
                <a:gridCol w="6996947">
                  <a:extLst>
                    <a:ext uri="{9D8B030D-6E8A-4147-A177-3AD203B41FA5}">
                      <a16:colId xmlns:a16="http://schemas.microsoft.com/office/drawing/2014/main" val="20001"/>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Content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Result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Musheera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Ali Sabeel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Mention &amp; Win $500</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186K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Saudi Market Size Infographic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515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585597" y="5080126"/>
            <a:ext cx="4326731" cy="4667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Top Performing Content</a:t>
            </a:r>
          </a:p>
        </p:txBody>
      </p:sp>
      <p:pic>
        <p:nvPicPr>
          <p:cNvPr id="17" name="Picture 16" descr="grid_content.png"/>
          <p:cNvPicPr>
            <a:picLocks noChangeAspect="1"/>
          </p:cNvPicPr>
          <p:nvPr/>
        </p:nvPicPr>
        <p:blipFill>
          <a:blip r:embed="rId5"/>
          <a:stretch>
            <a:fillRect/>
          </a:stretch>
        </p:blipFill>
        <p:spPr>
          <a:xfrm>
            <a:off x="11307846" y="4843902"/>
            <a:ext cx="5751658" cy="44143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804861" y="603559"/>
            <a:ext cx="14636945" cy="822851"/>
            <a:chOff x="0" y="0"/>
            <a:chExt cx="19515927" cy="1097134"/>
          </a:xfrm>
        </p:grpSpPr>
        <p:sp>
          <p:nvSpPr>
            <p:cNvPr id="4" name="Freeform 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5" name="TextBox 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X, LinkedIn &amp; TikTok</a:t>
              </a:r>
            </a:p>
          </p:txBody>
        </p:sp>
      </p:gr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0" name="Table 10"/>
          <p:cNvGraphicFramePr>
            <a:graphicFrameLocks noGrp="1"/>
          </p:cNvGraphicFramePr>
          <p:nvPr/>
        </p:nvGraphicFramePr>
        <p:xfrm>
          <a:off x="804861" y="1675963"/>
          <a:ext cx="16454439" cy="3425000"/>
        </p:xfrm>
        <a:graphic>
          <a:graphicData uri="http://schemas.openxmlformats.org/drawingml/2006/table">
            <a:tbl>
              <a:tblPr/>
              <a:tblGrid>
                <a:gridCol w="2988691">
                  <a:extLst>
                    <a:ext uri="{9D8B030D-6E8A-4147-A177-3AD203B41FA5}">
                      <a16:colId xmlns:a16="http://schemas.microsoft.com/office/drawing/2014/main" val="20000"/>
                    </a:ext>
                  </a:extLst>
                </a:gridCol>
                <a:gridCol w="4329431">
                  <a:extLst>
                    <a:ext uri="{9D8B030D-6E8A-4147-A177-3AD203B41FA5}">
                      <a16:colId xmlns:a16="http://schemas.microsoft.com/office/drawing/2014/main" val="20001"/>
                    </a:ext>
                  </a:extLst>
                </a:gridCol>
                <a:gridCol w="9136317">
                  <a:extLst>
                    <a:ext uri="{9D8B030D-6E8A-4147-A177-3AD203B41FA5}">
                      <a16:colId xmlns:a16="http://schemas.microsoft.com/office/drawing/2014/main" val="20002"/>
                    </a:ext>
                  </a:extLst>
                </a:gridCol>
              </a:tblGrid>
              <a:tr h="648970">
                <a:tc>
                  <a:txBody>
                    <a:bodyPr/>
                    <a:lstStyle/>
                    <a:p>
                      <a:pPr algn="ctr">
                        <a:lnSpc>
                          <a:spcPts val="2579"/>
                        </a:lnSpc>
                        <a:defRPr/>
                      </a:pPr>
                      <a:r>
                        <a:rPr lang="en-US" sz="2148" b="1">
                          <a:solidFill>
                            <a:srgbClr val="FFFFFF"/>
                          </a:solidFill>
                          <a:latin typeface="Exo 2 Bold"/>
                          <a:ea typeface="Exo 2 Bold"/>
                          <a:cs typeface="Exo 2 Bold"/>
                          <a:sym typeface="Exo 2 Bold"/>
                        </a:rPr>
                        <a:t>Platform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Metrics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455">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738 followers, 99</a:t>
                      </a:r>
                      <a:r>
                        <a:rPr lang="en-US" sz="2148" u="none" strike="noStrike">
                          <a:solidFill>
                            <a:srgbClr val="5A6A85"/>
                          </a:solidFill>
                          <a:latin typeface="Exo 2"/>
                          <a:ea typeface="Exo 2"/>
                          <a:cs typeface="Exo 2"/>
                          <a:sym typeface="Exo 2"/>
                        </a:rPr>
                        <a:t> posts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Audience quality is real: 96.4% Bahrain, 3.6% Saudi, however still Instagram is heavily outperforming 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897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LinkedIn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531 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247 new followers in 30 days (vs 4 before, +6,075%); 13-27 Sep: 559 impressions (+118%), 28 reactions (+155%)</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455">
                <a:tc>
                  <a:txBody>
                    <a:bodyPr/>
                    <a:lstStyle/>
                    <a:p>
                      <a:pPr algn="ctr">
                        <a:lnSpc>
                          <a:spcPts val="2579"/>
                        </a:lnSpc>
                        <a:defRPr/>
                      </a:pPr>
                      <a:r>
                        <a:rPr lang="en-US" sz="2148" i="1">
                          <a:solidFill>
                            <a:srgbClr val="5A6A85"/>
                          </a:solidFill>
                          <a:latin typeface="Exo 2 Italics"/>
                          <a:ea typeface="Exo 2 Italics"/>
                          <a:cs typeface="Exo 2 Italics"/>
                          <a:sym typeface="Exo 2 Italics"/>
                        </a:rPr>
                        <a:t>Tiktok</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15 followers, 176 total likes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Lowest interactions between all platform/ audience not suitable for eMYAA</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Freeform 11"/>
          <p:cNvSpPr/>
          <p:nvPr/>
        </p:nvSpPr>
        <p:spPr>
          <a:xfrm>
            <a:off x="4857757" y="5143500"/>
            <a:ext cx="8348648" cy="4752862"/>
          </a:xfrm>
          <a:custGeom>
            <a:avLst/>
            <a:gdLst/>
            <a:ahLst/>
            <a:cxnLst/>
            <a:rect l="l" t="t" r="r" b="b"/>
            <a:pathLst>
              <a:path w="8348648" h="4752862">
                <a:moveTo>
                  <a:pt x="0" y="0"/>
                </a:moveTo>
                <a:lnTo>
                  <a:pt x="8348648" y="0"/>
                </a:lnTo>
                <a:lnTo>
                  <a:pt x="8348648" y="4752862"/>
                </a:lnTo>
                <a:lnTo>
                  <a:pt x="0" y="4752862"/>
                </a:lnTo>
                <a:lnTo>
                  <a:pt x="0" y="0"/>
                </a:lnTo>
                <a:close/>
              </a:path>
            </a:pathLst>
          </a:custGeom>
          <a:blipFill>
            <a:blip r:embed="rId5"/>
            <a:stretch>
              <a:fillRect t="-48624" b="-15358"/>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TextBox 4"/>
          <p:cNvSpPr txBox="1"/>
          <p:nvPr/>
        </p:nvSpPr>
        <p:spPr>
          <a:xfrm>
            <a:off x="64008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 Sep - Ali Sabeel Recap</a:t>
            </a:r>
          </a:p>
        </p:txBody>
      </p:sp>
      <p:sp>
        <p:nvSpPr>
          <p:cNvPr id="5" name="TextBox 5"/>
          <p:cNvSpPr txBox="1"/>
          <p:nvPr/>
        </p:nvSpPr>
        <p:spPr>
          <a:xfrm>
            <a:off x="937260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23 Sep - Saudi National Day</a:t>
            </a:r>
          </a:p>
        </p:txBody>
      </p:sp>
      <p:sp>
        <p:nvSpPr>
          <p:cNvPr id="6" name="TextBox 6"/>
          <p:cNvSpPr txBox="1"/>
          <p:nvPr/>
        </p:nvSpPr>
        <p:spPr>
          <a:xfrm>
            <a:off x="64008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27 Sep - GCC Market Spotlight</a:t>
            </a:r>
          </a:p>
        </p:txBody>
      </p:sp>
      <p:sp>
        <p:nvSpPr>
          <p:cNvPr id="7" name="TextBox 7"/>
          <p:cNvSpPr txBox="1"/>
          <p:nvPr/>
        </p:nvSpPr>
        <p:spPr>
          <a:xfrm>
            <a:off x="937260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30 Sep - Market Pulse</a:t>
            </a:r>
          </a:p>
        </p:txBody>
      </p:sp>
      <p:sp>
        <p:nvSpPr>
          <p:cNvPr id="8" name="TextBox 8"/>
          <p:cNvSpPr txBox="1"/>
          <p:nvPr/>
        </p:nvSpPr>
        <p:spPr>
          <a:xfrm>
            <a:off x="1097280" y="9180957"/>
            <a:ext cx="17007840" cy="295275"/>
          </a:xfrm>
          <a:prstGeom prst="rect">
            <a:avLst/>
          </a:prstGeom>
        </p:spPr>
        <p:txBody>
          <a:bodyPr lIns="0" tIns="0" rIns="0" bIns="0" rtlCol="0" anchor="t">
            <a:spAutoFit/>
          </a:bodyPr>
          <a:lstStyle/>
          <a:p>
            <a:pPr algn="ctr">
              <a:lnSpc>
                <a:spcPts val="2399"/>
              </a:lnSpc>
            </a:pPr>
            <a:r>
              <a:rPr lang="en-US" sz="1999" b="1" i="1">
                <a:solidFill>
                  <a:srgbClr val="5A6A85"/>
                </a:solidFill>
                <a:latin typeface="Exo 2 Bold Italics"/>
                <a:ea typeface="Exo 2 Bold Italics"/>
                <a:cs typeface="Exo 2 Bold Italics"/>
                <a:sym typeface="Exo 2 Bold Italics"/>
              </a:rPr>
              <a:t>*Work in progress</a:t>
            </a:r>
          </a:p>
        </p:txBody>
      </p:sp>
      <p:grpSp>
        <p:nvGrpSpPr>
          <p:cNvPr id="9" name="Group 9"/>
          <p:cNvGrpSpPr/>
          <p:nvPr/>
        </p:nvGrpSpPr>
        <p:grpSpPr>
          <a:xfrm>
            <a:off x="1595228" y="1600200"/>
            <a:ext cx="6365015" cy="3291840"/>
            <a:chOff x="0" y="0"/>
            <a:chExt cx="8486686" cy="4389120"/>
          </a:xfrm>
        </p:grpSpPr>
        <p:sp>
          <p:nvSpPr>
            <p:cNvPr id="10" name="Freeform 10"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2"/>
              <a:stretch>
                <a:fillRect/>
              </a:stretch>
            </a:blipFill>
          </p:spPr>
          <p:txBody>
            <a:bodyPr/>
            <a:lstStyle/>
            <a:p>
              <a:endParaRPr lang="en-US"/>
            </a:p>
          </p:txBody>
        </p:sp>
      </p:grpSp>
      <p:grpSp>
        <p:nvGrpSpPr>
          <p:cNvPr id="11" name="Group 11"/>
          <p:cNvGrpSpPr/>
          <p:nvPr/>
        </p:nvGrpSpPr>
        <p:grpSpPr>
          <a:xfrm>
            <a:off x="10327748" y="1600200"/>
            <a:ext cx="6365015" cy="3291840"/>
            <a:chOff x="0" y="0"/>
            <a:chExt cx="8486686" cy="4389120"/>
          </a:xfrm>
        </p:grpSpPr>
        <p:sp>
          <p:nvSpPr>
            <p:cNvPr id="12" name="Freeform 12"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3"/>
              <a:stretch>
                <a:fillRect/>
              </a:stretch>
            </a:blipFill>
          </p:spPr>
          <p:txBody>
            <a:bodyPr/>
            <a:lstStyle/>
            <a:p>
              <a:endParaRPr lang="en-US"/>
            </a:p>
          </p:txBody>
        </p:sp>
      </p:grpSp>
      <p:grpSp>
        <p:nvGrpSpPr>
          <p:cNvPr id="13" name="Group 13"/>
          <p:cNvGrpSpPr/>
          <p:nvPr/>
        </p:nvGrpSpPr>
        <p:grpSpPr>
          <a:xfrm>
            <a:off x="1595228" y="5349240"/>
            <a:ext cx="6365015" cy="3291840"/>
            <a:chOff x="0" y="0"/>
            <a:chExt cx="8486686" cy="4389120"/>
          </a:xfrm>
        </p:grpSpPr>
        <p:sp>
          <p:nvSpPr>
            <p:cNvPr id="14" name="Freeform 14"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4"/>
              <a:stretch>
                <a:fillRect/>
              </a:stretch>
            </a:blipFill>
          </p:spPr>
          <p:txBody>
            <a:bodyPr/>
            <a:lstStyle/>
            <a:p>
              <a:endParaRPr lang="en-US"/>
            </a:p>
          </p:txBody>
        </p:sp>
      </p:grpSp>
      <p:grpSp>
        <p:nvGrpSpPr>
          <p:cNvPr id="15" name="Group 15"/>
          <p:cNvGrpSpPr/>
          <p:nvPr/>
        </p:nvGrpSpPr>
        <p:grpSpPr>
          <a:xfrm>
            <a:off x="10327748" y="5349240"/>
            <a:ext cx="6365015" cy="3291840"/>
            <a:chOff x="0" y="0"/>
            <a:chExt cx="8486686" cy="4389120"/>
          </a:xfrm>
        </p:grpSpPr>
        <p:sp>
          <p:nvSpPr>
            <p:cNvPr id="16" name="Freeform 16"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5"/>
              <a:stretch>
                <a:fillRect/>
              </a:stretch>
            </a:blipFill>
          </p:spPr>
          <p:txBody>
            <a:bodyPr/>
            <a:lstStyle/>
            <a:p>
              <a:endParaRPr lang="en-US"/>
            </a:p>
          </p:txBody>
        </p:sp>
      </p:grpSp>
      <p:sp>
        <p:nvSpPr>
          <p:cNvPr id="17" name="Freeform 1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8" name="Group 18"/>
          <p:cNvGrpSpPr/>
          <p:nvPr/>
        </p:nvGrpSpPr>
        <p:grpSpPr>
          <a:xfrm>
            <a:off x="804861" y="603559"/>
            <a:ext cx="14636945" cy="822851"/>
            <a:chOff x="0" y="0"/>
            <a:chExt cx="19515927" cy="1097134"/>
          </a:xfrm>
        </p:grpSpPr>
        <p:sp>
          <p:nvSpPr>
            <p:cNvPr id="19" name="Freeform 19"/>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7">
                <a:alphaModFix amt="0"/>
              </a:blip>
              <a:stretch>
                <a:fillRect t="-248975" r="15662" b="-235653"/>
              </a:stretch>
            </a:blipFill>
          </p:spPr>
          <p:txBody>
            <a:bodyPr/>
            <a:lstStyle/>
            <a:p>
              <a:endParaRPr lang="en-US"/>
            </a:p>
          </p:txBody>
        </p:sp>
        <p:sp>
          <p:nvSpPr>
            <p:cNvPr id="20" name="TextBox 20"/>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September Artwork Preview</a:t>
              </a:r>
            </a:p>
          </p:txBody>
        </p:sp>
      </p:grpSp>
      <p:sp>
        <p:nvSpPr>
          <p:cNvPr id="21" name="Freeform 21"/>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8"/>
            <a:stretch>
              <a:fillRect/>
            </a:stretch>
          </a:blipFill>
        </p:spPr>
        <p:txBody>
          <a:bodyPr/>
          <a:lstStyle/>
          <a:p>
            <a:endParaRPr lang="en-US"/>
          </a:p>
        </p:txBody>
      </p:sp>
      <p:grpSp>
        <p:nvGrpSpPr>
          <p:cNvPr id="22" name="Group 22"/>
          <p:cNvGrpSpPr/>
          <p:nvPr/>
        </p:nvGrpSpPr>
        <p:grpSpPr>
          <a:xfrm>
            <a:off x="470535" y="648843"/>
            <a:ext cx="115062" cy="732282"/>
            <a:chOff x="0" y="0"/>
            <a:chExt cx="153416" cy="976376"/>
          </a:xfrm>
        </p:grpSpPr>
        <p:sp>
          <p:nvSpPr>
            <p:cNvPr id="23" name="Freeform 2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4" name="Freeform 2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548640" y="1600200"/>
            <a:ext cx="5379007" cy="1487805"/>
            <a:chOff x="0" y="0"/>
            <a:chExt cx="7172009" cy="1983740"/>
          </a:xfrm>
        </p:grpSpPr>
        <p:sp>
          <p:nvSpPr>
            <p:cNvPr id="5" name="Freeform 5"/>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6" name="TextBox 6"/>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587
Visits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7" name="Group 7"/>
          <p:cNvGrpSpPr/>
          <p:nvPr/>
        </p:nvGrpSpPr>
        <p:grpSpPr>
          <a:xfrm>
            <a:off x="6351906" y="1600200"/>
            <a:ext cx="5379007" cy="1487805"/>
            <a:chOff x="0" y="0"/>
            <a:chExt cx="7172009" cy="1983740"/>
          </a:xfrm>
        </p:grpSpPr>
        <p:sp>
          <p:nvSpPr>
            <p:cNvPr id="8" name="Freeform 8"/>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9" name="TextBox 9"/>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542
Active Users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10" name="Group 10"/>
          <p:cNvGrpSpPr/>
          <p:nvPr/>
        </p:nvGrpSpPr>
        <p:grpSpPr>
          <a:xfrm>
            <a:off x="12155173" y="1600200"/>
            <a:ext cx="5379007" cy="1487805"/>
            <a:chOff x="0" y="0"/>
            <a:chExt cx="7172009" cy="1983740"/>
          </a:xfrm>
        </p:grpSpPr>
        <p:sp>
          <p:nvSpPr>
            <p:cNvPr id="11" name="Freeform 11"/>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12" name="TextBox 12"/>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558
New Users</a:t>
              </a:r>
            </a:p>
            <a:p>
              <a:pPr algn="ctr">
                <a:lnSpc>
                  <a:spcPts val="3119"/>
                </a:lnSpc>
              </a:pPr>
              <a:endParaRPr lang="en-US" sz="3999" b="1">
                <a:solidFill>
                  <a:srgbClr val="FFFFFF"/>
                </a:solidFill>
                <a:latin typeface="Exo 2 Bold"/>
                <a:ea typeface="Exo 2 Bold"/>
                <a:cs typeface="Exo 2 Bold"/>
                <a:sym typeface="Exo 2 Bold"/>
              </a:endParaRPr>
            </a:p>
          </p:txBody>
        </p:sp>
      </p:grpSp>
      <p:sp>
        <p:nvSpPr>
          <p:cNvPr id="13" name="TextBox 13"/>
          <p:cNvSpPr txBox="1"/>
          <p:nvPr/>
        </p:nvSpPr>
        <p:spPr>
          <a:xfrm>
            <a:off x="640080" y="3230880"/>
            <a:ext cx="2931001" cy="495300"/>
          </a:xfrm>
          <a:prstGeom prst="rect">
            <a:avLst/>
          </a:prstGeom>
        </p:spPr>
        <p:txBody>
          <a:bodyPr lIns="0" tIns="0" rIns="0" bIns="0" rtlCol="0" anchor="t">
            <a:spAutoFit/>
          </a:bodyPr>
          <a:lstStyle/>
          <a:p>
            <a:pPr marL="0" lvl="0" indent="0" algn="l">
              <a:lnSpc>
                <a:spcPts val="3840"/>
              </a:lnSpc>
              <a:spcBef>
                <a:spcPct val="0"/>
              </a:spcBef>
            </a:pPr>
            <a:r>
              <a:rPr lang="en-US" sz="32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Traffic Sources</a:t>
            </a:r>
          </a:p>
        </p:txBody>
      </p:sp>
      <p:graphicFrame>
        <p:nvGraphicFramePr>
          <p:cNvPr id="14" name="Table 14"/>
          <p:cNvGraphicFramePr>
            <a:graphicFrameLocks noGrp="1"/>
          </p:cNvGraphicFramePr>
          <p:nvPr/>
        </p:nvGraphicFramePr>
        <p:xfrm>
          <a:off x="548640" y="3880485"/>
          <a:ext cx="16985539" cy="4727775"/>
        </p:xfrm>
        <a:graphic>
          <a:graphicData uri="http://schemas.openxmlformats.org/drawingml/2006/table">
            <a:tbl>
              <a:tblPr/>
              <a:tblGrid>
                <a:gridCol w="3085157">
                  <a:extLst>
                    <a:ext uri="{9D8B030D-6E8A-4147-A177-3AD203B41FA5}">
                      <a16:colId xmlns:a16="http://schemas.microsoft.com/office/drawing/2014/main" val="20000"/>
                    </a:ext>
                  </a:extLst>
                </a:gridCol>
                <a:gridCol w="6950191">
                  <a:extLst>
                    <a:ext uri="{9D8B030D-6E8A-4147-A177-3AD203B41FA5}">
                      <a16:colId xmlns:a16="http://schemas.microsoft.com/office/drawing/2014/main" val="20001"/>
                    </a:ext>
                  </a:extLst>
                </a:gridCol>
                <a:gridCol w="6950191">
                  <a:extLst>
                    <a:ext uri="{9D8B030D-6E8A-4147-A177-3AD203B41FA5}">
                      <a16:colId xmlns:a16="http://schemas.microsoft.com/office/drawing/2014/main" val="20002"/>
                    </a:ext>
                  </a:extLst>
                </a:gridCol>
              </a:tblGrid>
              <a:tr h="648589">
                <a:tc>
                  <a:txBody>
                    <a:bodyPr/>
                    <a:lstStyle/>
                    <a:p>
                      <a:pPr algn="ctr">
                        <a:lnSpc>
                          <a:spcPts val="2579"/>
                        </a:lnSpc>
                        <a:defRPr/>
                      </a:pPr>
                      <a:r>
                        <a:rPr lang="en-US" sz="2148" b="1">
                          <a:solidFill>
                            <a:srgbClr val="FFFFFF"/>
                          </a:solidFill>
                          <a:latin typeface="Exo 2 Bold"/>
                          <a:ea typeface="Exo 2 Bold"/>
                          <a:cs typeface="Exo 2 Bold"/>
                          <a:sym typeface="Exo 2 Bold"/>
                        </a:rPr>
                        <a:t>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Visits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1264424">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Paid (Google Ads)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409 (69.7%)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google / cpc, campaign live since 22 Sep, already the top traffic 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555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Direct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92 (15.7%)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No campaign or referral tag - typed URL, bookmark, or app share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1091160">
                <a:tc>
                  <a:txBody>
                    <a:bodyPr/>
                    <a:lstStyle/>
                    <a:p>
                      <a:pPr algn="ctr">
                        <a:lnSpc>
                          <a:spcPts val="2579"/>
                        </a:lnSpc>
                        <a:defRPr/>
                      </a:pPr>
                      <a:r>
                        <a:rPr lang="en-US" sz="2148" i="1">
                          <a:solidFill>
                            <a:srgbClr val="5A6A85"/>
                          </a:solidFill>
                          <a:latin typeface="Exo 2 Italics"/>
                          <a:ea typeface="Exo 2 Italics"/>
                          <a:cs typeface="Exo 2 Italics"/>
                          <a:sym typeface="Exo 2 Italics"/>
                        </a:rPr>
                        <a:t>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39 (6.6%)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Organic Google 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44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Referral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32 (5.5%)</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ajyadcapital.com, Instagram, Facebook, Google Tag Assistant (7 test visits)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grpSp>
        <p:nvGrpSpPr>
          <p:cNvPr id="15" name="Group 15"/>
          <p:cNvGrpSpPr/>
          <p:nvPr/>
        </p:nvGrpSpPr>
        <p:grpSpPr>
          <a:xfrm>
            <a:off x="804861" y="603559"/>
            <a:ext cx="14636945" cy="822851"/>
            <a:chOff x="0" y="0"/>
            <a:chExt cx="19515927" cy="1097134"/>
          </a:xfrm>
        </p:grpSpPr>
        <p:sp>
          <p:nvSpPr>
            <p:cNvPr id="16" name="Freeform 1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17" name="TextBox 1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Website Analytics</a:t>
              </a:r>
            </a:p>
          </p:txBody>
        </p:sp>
      </p:grpSp>
      <p:sp>
        <p:nvSpPr>
          <p:cNvPr id="18" name="Freeform 1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20" name="Group 20"/>
          <p:cNvGrpSpPr/>
          <p:nvPr/>
        </p:nvGrpSpPr>
        <p:grpSpPr>
          <a:xfrm>
            <a:off x="470535" y="648843"/>
            <a:ext cx="115062" cy="732282"/>
            <a:chOff x="0" y="0"/>
            <a:chExt cx="153416" cy="976376"/>
          </a:xfrm>
        </p:grpSpPr>
        <p:sp>
          <p:nvSpPr>
            <p:cNvPr id="21" name="Freeform 21"/>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2" name="Freeform 22"/>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3" name="TextBox 22"/>
          <p:cNvSpPr txBox="1"/>
          <p:nvPr/>
        </p:nvSpPr>
        <p:spPr>
          <a:xfrm>
            <a:off x="548640" y="8750000"/>
            <a:ext cx="16985539" cy="300000"/>
          </a:xfrm>
          <a:prstGeom prst="rect">
            <a:avLst/>
          </a:prstGeom>
          <a:noFill/>
        </p:spPr>
        <p:txBody>
          <a:bodyPr wrap="none">
            <a:spAutoFit/>
          </a:bodyPr>
          <a:lstStyle/>
          <a:p>
            <a:r>
              <a:rPr sz="950" i="1">
                <a:solidFill>
                  <a:srgbClr val="5A6A85"/>
                </a:solidFill>
                <a:latin typeface="Calibri"/>
              </a:rPr>
              <a:t>The four sources above account for 572 of the site’s 587 sessions (97.4%); the other 15 are ChatGPT (9) and source not available (6). GA4 export, 1-28 Sep.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8528" y="2089490"/>
            <a:ext cx="4118666" cy="4334573"/>
            <a:chOff x="0" y="0"/>
            <a:chExt cx="4404525" cy="4635417"/>
          </a:xfrm>
        </p:grpSpPr>
        <p:sp>
          <p:nvSpPr>
            <p:cNvPr id="3" name="Freeform 3"/>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5" name="Group 5"/>
          <p:cNvGrpSpPr/>
          <p:nvPr/>
        </p:nvGrpSpPr>
        <p:grpSpPr>
          <a:xfrm>
            <a:off x="9270007" y="2089490"/>
            <a:ext cx="4118666" cy="4334573"/>
            <a:chOff x="0" y="0"/>
            <a:chExt cx="4404525" cy="4635417"/>
          </a:xfrm>
        </p:grpSpPr>
        <p:sp>
          <p:nvSpPr>
            <p:cNvPr id="6" name="Freeform 6"/>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8" name="Group 8"/>
          <p:cNvGrpSpPr/>
          <p:nvPr/>
        </p:nvGrpSpPr>
        <p:grpSpPr>
          <a:xfrm>
            <a:off x="13648902" y="2089490"/>
            <a:ext cx="4118666" cy="4334573"/>
            <a:chOff x="0" y="0"/>
            <a:chExt cx="4404525" cy="4635417"/>
          </a:xfrm>
        </p:grpSpPr>
        <p:sp>
          <p:nvSpPr>
            <p:cNvPr id="9" name="Freeform 9"/>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0" name="Freeform 10"/>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1" name="Group 11"/>
          <p:cNvGrpSpPr/>
          <p:nvPr/>
        </p:nvGrpSpPr>
        <p:grpSpPr>
          <a:xfrm>
            <a:off x="4854447" y="2089490"/>
            <a:ext cx="4118666" cy="4334573"/>
            <a:chOff x="0" y="0"/>
            <a:chExt cx="4404525" cy="4635417"/>
          </a:xfrm>
        </p:grpSpPr>
        <p:sp>
          <p:nvSpPr>
            <p:cNvPr id="12" name="Freeform 12"/>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3" name="Freeform 13"/>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4" name="Group 14"/>
          <p:cNvGrpSpPr/>
          <p:nvPr/>
        </p:nvGrpSpPr>
        <p:grpSpPr>
          <a:xfrm>
            <a:off x="755850" y="564284"/>
            <a:ext cx="13164593" cy="1595581"/>
            <a:chOff x="0" y="0"/>
            <a:chExt cx="17552791" cy="2127442"/>
          </a:xfrm>
        </p:grpSpPr>
        <p:sp>
          <p:nvSpPr>
            <p:cNvPr id="15" name="Freeform 15"/>
            <p:cNvSpPr/>
            <p:nvPr/>
          </p:nvSpPr>
          <p:spPr>
            <a:xfrm>
              <a:off x="0" y="0"/>
              <a:ext cx="17552791" cy="2127442"/>
            </a:xfrm>
            <a:custGeom>
              <a:avLst/>
              <a:gdLst/>
              <a:ahLst/>
              <a:cxnLst/>
              <a:rect l="l" t="t" r="r" b="b"/>
              <a:pathLst>
                <a:path w="17552791" h="2127442">
                  <a:moveTo>
                    <a:pt x="0" y="0"/>
                  </a:moveTo>
                  <a:lnTo>
                    <a:pt x="17552791" y="0"/>
                  </a:lnTo>
                  <a:lnTo>
                    <a:pt x="17552791" y="2127442"/>
                  </a:lnTo>
                  <a:lnTo>
                    <a:pt x="0" y="2127442"/>
                  </a:lnTo>
                  <a:close/>
                </a:path>
              </a:pathLst>
            </a:custGeom>
            <a:blipFill>
              <a:blip r:embed="rId2">
                <a:alphaModFix amt="0"/>
              </a:blip>
              <a:stretch>
                <a:fillRect t="-128398" r="6230" b="-73098"/>
              </a:stretch>
            </a:blipFill>
          </p:spPr>
          <p:txBody>
            <a:bodyPr/>
            <a:lstStyle/>
            <a:p>
              <a:endParaRPr lang="en-US"/>
            </a:p>
          </p:txBody>
        </p:sp>
        <p:sp>
          <p:nvSpPr>
            <p:cNvPr id="16" name="TextBox 16"/>
            <p:cNvSpPr txBox="1"/>
            <p:nvPr/>
          </p:nvSpPr>
          <p:spPr>
            <a:xfrm>
              <a:off x="0" y="-9525"/>
              <a:ext cx="17552791" cy="2136967"/>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Client Interaction Journey</a:t>
              </a:r>
            </a:p>
            <a:p>
              <a:pPr marL="0" lvl="0" indent="0" algn="l">
                <a:lnSpc>
                  <a:spcPts val="5280"/>
                </a:lnSpc>
                <a:spcBef>
                  <a:spcPct val="0"/>
                </a:spcBef>
              </a:pPr>
              <a:endPar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endParaRPr>
            </a:p>
          </p:txBody>
        </p:sp>
      </p:grpSp>
      <p:grpSp>
        <p:nvGrpSpPr>
          <p:cNvPr id="17" name="Group 17"/>
          <p:cNvGrpSpPr/>
          <p:nvPr/>
        </p:nvGrpSpPr>
        <p:grpSpPr>
          <a:xfrm>
            <a:off x="470535" y="648843"/>
            <a:ext cx="115062" cy="732282"/>
            <a:chOff x="0" y="0"/>
            <a:chExt cx="153416" cy="976376"/>
          </a:xfrm>
        </p:grpSpPr>
        <p:sp>
          <p:nvSpPr>
            <p:cNvPr id="18" name="Freeform 1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9" name="Freeform 1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0" name="Freeform 20"/>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sp>
        <p:nvSpPr>
          <p:cNvPr id="21" name="Freeform 21"/>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2" name="Group 22"/>
          <p:cNvGrpSpPr/>
          <p:nvPr/>
        </p:nvGrpSpPr>
        <p:grpSpPr>
          <a:xfrm>
            <a:off x="585597" y="2217420"/>
            <a:ext cx="2948940" cy="480060"/>
            <a:chOff x="0" y="0"/>
            <a:chExt cx="3931920" cy="640080"/>
          </a:xfrm>
        </p:grpSpPr>
        <p:sp>
          <p:nvSpPr>
            <p:cNvPr id="23" name="Freeform 23"/>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24" name="TextBox 24"/>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CALL</a:t>
              </a:r>
            </a:p>
          </p:txBody>
        </p:sp>
      </p:grpSp>
      <p:grpSp>
        <p:nvGrpSpPr>
          <p:cNvPr id="25" name="Group 25"/>
          <p:cNvGrpSpPr/>
          <p:nvPr/>
        </p:nvGrpSpPr>
        <p:grpSpPr>
          <a:xfrm>
            <a:off x="1019682" y="1381125"/>
            <a:ext cx="2948940" cy="3593452"/>
            <a:chOff x="0" y="0"/>
            <a:chExt cx="3931920" cy="4791270"/>
          </a:xfrm>
        </p:grpSpPr>
        <p:sp>
          <p:nvSpPr>
            <p:cNvPr id="26" name="Freeform 26"/>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27" name="TextBox 27"/>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1</a:t>
              </a:r>
            </a:p>
          </p:txBody>
        </p:sp>
      </p:grpSp>
      <p:grpSp>
        <p:nvGrpSpPr>
          <p:cNvPr id="28" name="Group 28"/>
          <p:cNvGrpSpPr/>
          <p:nvPr/>
        </p:nvGrpSpPr>
        <p:grpSpPr>
          <a:xfrm>
            <a:off x="1019682" y="3570976"/>
            <a:ext cx="2948940" cy="685800"/>
            <a:chOff x="0" y="0"/>
            <a:chExt cx="3931920" cy="914400"/>
          </a:xfrm>
        </p:grpSpPr>
        <p:sp>
          <p:nvSpPr>
            <p:cNvPr id="29" name="Freeform 29"/>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30" name="TextBox 30"/>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First Contact</a:t>
              </a:r>
            </a:p>
          </p:txBody>
        </p:sp>
      </p:grpSp>
      <p:grpSp>
        <p:nvGrpSpPr>
          <p:cNvPr id="31" name="Group 31"/>
          <p:cNvGrpSpPr/>
          <p:nvPr/>
        </p:nvGrpSpPr>
        <p:grpSpPr>
          <a:xfrm>
            <a:off x="1019682" y="3931791"/>
            <a:ext cx="2948940" cy="2167286"/>
            <a:chOff x="0" y="0"/>
            <a:chExt cx="3931920" cy="2889715"/>
          </a:xfrm>
        </p:grpSpPr>
        <p:sp>
          <p:nvSpPr>
            <p:cNvPr id="32" name="Freeform 32"/>
            <p:cNvSpPr/>
            <p:nvPr/>
          </p:nvSpPr>
          <p:spPr>
            <a:xfrm>
              <a:off x="0" y="0"/>
              <a:ext cx="3931920" cy="2889715"/>
            </a:xfrm>
            <a:custGeom>
              <a:avLst/>
              <a:gdLst/>
              <a:ahLst/>
              <a:cxnLst/>
              <a:rect l="l" t="t" r="r" b="b"/>
              <a:pathLst>
                <a:path w="3931920" h="2889715">
                  <a:moveTo>
                    <a:pt x="0" y="0"/>
                  </a:moveTo>
                  <a:lnTo>
                    <a:pt x="3931920" y="0"/>
                  </a:lnTo>
                  <a:lnTo>
                    <a:pt x="3931920" y="2889715"/>
                  </a:lnTo>
                  <a:lnTo>
                    <a:pt x="0" y="2889715"/>
                  </a:lnTo>
                  <a:close/>
                </a:path>
              </a:pathLst>
            </a:custGeom>
            <a:blipFill>
              <a:blip r:embed="rId2">
                <a:alphaModFix amt="0"/>
              </a:blip>
              <a:stretch>
                <a:fillRect l="-69352" r="-69352" b="-26573"/>
              </a:stretch>
            </a:blipFill>
          </p:spPr>
          <p:txBody>
            <a:bodyPr/>
            <a:lstStyle/>
            <a:p>
              <a:endParaRPr lang="en-US"/>
            </a:p>
          </p:txBody>
        </p:sp>
        <p:sp>
          <p:nvSpPr>
            <p:cNvPr id="33" name="TextBox 33"/>
            <p:cNvSpPr txBox="1"/>
            <p:nvPr/>
          </p:nvSpPr>
          <p:spPr>
            <a:xfrm>
              <a:off x="0" y="-57150"/>
              <a:ext cx="3931920" cy="294686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id="34" name="Group 34"/>
          <p:cNvGrpSpPr/>
          <p:nvPr/>
        </p:nvGrpSpPr>
        <p:grpSpPr>
          <a:xfrm>
            <a:off x="5136568" y="2292953"/>
            <a:ext cx="2948940" cy="345929"/>
            <a:chOff x="0" y="0"/>
            <a:chExt cx="3931920" cy="461239"/>
          </a:xfrm>
        </p:grpSpPr>
        <p:sp>
          <p:nvSpPr>
            <p:cNvPr id="35" name="Freeform 35"/>
            <p:cNvSpPr/>
            <p:nvPr/>
          </p:nvSpPr>
          <p:spPr>
            <a:xfrm>
              <a:off x="0" y="0"/>
              <a:ext cx="3931920" cy="461239"/>
            </a:xfrm>
            <a:custGeom>
              <a:avLst/>
              <a:gdLst/>
              <a:ahLst/>
              <a:cxnLst/>
              <a:rect l="l" t="t" r="r" b="b"/>
              <a:pathLst>
                <a:path w="3931920" h="461239">
                  <a:moveTo>
                    <a:pt x="0" y="0"/>
                  </a:moveTo>
                  <a:lnTo>
                    <a:pt x="3931920" y="0"/>
                  </a:lnTo>
                  <a:lnTo>
                    <a:pt x="3931920" y="461239"/>
                  </a:lnTo>
                  <a:lnTo>
                    <a:pt x="0" y="461239"/>
                  </a:lnTo>
                  <a:close/>
                </a:path>
              </a:pathLst>
            </a:custGeom>
            <a:blipFill>
              <a:blip r:embed="rId2">
                <a:alphaModFix amt="0"/>
              </a:blip>
              <a:stretch>
                <a:fillRect t="-96716" b="-135491"/>
              </a:stretch>
            </a:blipFill>
          </p:spPr>
          <p:txBody>
            <a:bodyPr/>
            <a:lstStyle/>
            <a:p>
              <a:endParaRPr lang="en-US"/>
            </a:p>
          </p:txBody>
        </p:sp>
        <p:sp>
          <p:nvSpPr>
            <p:cNvPr id="36" name="TextBox 36"/>
            <p:cNvSpPr txBox="1"/>
            <p:nvPr/>
          </p:nvSpPr>
          <p:spPr>
            <a:xfrm>
              <a:off x="0" y="0"/>
              <a:ext cx="3931920" cy="461239"/>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EMAIL</a:t>
              </a:r>
            </a:p>
          </p:txBody>
        </p:sp>
      </p:grpSp>
      <p:grpSp>
        <p:nvGrpSpPr>
          <p:cNvPr id="37" name="Group 37"/>
          <p:cNvGrpSpPr/>
          <p:nvPr/>
        </p:nvGrpSpPr>
        <p:grpSpPr>
          <a:xfrm>
            <a:off x="6566175" y="1362075"/>
            <a:ext cx="694851" cy="3593452"/>
            <a:chOff x="0" y="0"/>
            <a:chExt cx="926468" cy="4791270"/>
          </a:xfrm>
        </p:grpSpPr>
        <p:sp>
          <p:nvSpPr>
            <p:cNvPr id="38" name="Freeform 38"/>
            <p:cNvSpPr/>
            <p:nvPr/>
          </p:nvSpPr>
          <p:spPr>
            <a:xfrm>
              <a:off x="0" y="0"/>
              <a:ext cx="926468" cy="4791270"/>
            </a:xfrm>
            <a:custGeom>
              <a:avLst/>
              <a:gdLst/>
              <a:ahLst/>
              <a:cxnLst/>
              <a:rect l="l" t="t" r="r" b="b"/>
              <a:pathLst>
                <a:path w="926468" h="4791270">
                  <a:moveTo>
                    <a:pt x="0" y="0"/>
                  </a:moveTo>
                  <a:lnTo>
                    <a:pt x="926468" y="0"/>
                  </a:lnTo>
                  <a:lnTo>
                    <a:pt x="926468" y="4791270"/>
                  </a:lnTo>
                  <a:lnTo>
                    <a:pt x="0" y="4791270"/>
                  </a:lnTo>
                  <a:close/>
                </a:path>
              </a:pathLst>
            </a:custGeom>
            <a:blipFill>
              <a:blip r:embed="rId2">
                <a:alphaModFix amt="0"/>
              </a:blip>
              <a:stretch>
                <a:fillRect l="-15738" r="-340137" b="65647"/>
              </a:stretch>
            </a:blipFill>
          </p:spPr>
          <p:txBody>
            <a:bodyPr/>
            <a:lstStyle/>
            <a:p>
              <a:endParaRPr lang="en-US"/>
            </a:p>
          </p:txBody>
        </p:sp>
        <p:sp>
          <p:nvSpPr>
            <p:cNvPr id="39" name="TextBox 39"/>
            <p:cNvSpPr txBox="1"/>
            <p:nvPr/>
          </p:nvSpPr>
          <p:spPr>
            <a:xfrm>
              <a:off x="0" y="-9525"/>
              <a:ext cx="926468"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2</a:t>
              </a:r>
            </a:p>
          </p:txBody>
        </p:sp>
      </p:grpSp>
      <p:grpSp>
        <p:nvGrpSpPr>
          <p:cNvPr id="40" name="Group 40"/>
          <p:cNvGrpSpPr/>
          <p:nvPr/>
        </p:nvGrpSpPr>
        <p:grpSpPr>
          <a:xfrm>
            <a:off x="5439130" y="3377116"/>
            <a:ext cx="2948940" cy="1073519"/>
            <a:chOff x="0" y="0"/>
            <a:chExt cx="3931920" cy="1431358"/>
          </a:xfrm>
        </p:grpSpPr>
        <p:sp>
          <p:nvSpPr>
            <p:cNvPr id="41" name="Freeform 41"/>
            <p:cNvSpPr/>
            <p:nvPr/>
          </p:nvSpPr>
          <p:spPr>
            <a:xfrm>
              <a:off x="0" y="0"/>
              <a:ext cx="3931920" cy="1431358"/>
            </a:xfrm>
            <a:custGeom>
              <a:avLst/>
              <a:gdLst/>
              <a:ahLst/>
              <a:cxnLst/>
              <a:rect l="l" t="t" r="r" b="b"/>
              <a:pathLst>
                <a:path w="3931920" h="1431358">
                  <a:moveTo>
                    <a:pt x="0" y="0"/>
                  </a:moveTo>
                  <a:lnTo>
                    <a:pt x="3931920" y="0"/>
                  </a:lnTo>
                  <a:lnTo>
                    <a:pt x="3931920" y="1431358"/>
                  </a:lnTo>
                  <a:lnTo>
                    <a:pt x="0" y="1431358"/>
                  </a:lnTo>
                  <a:close/>
                </a:path>
              </a:pathLst>
            </a:custGeom>
            <a:blipFill>
              <a:blip r:embed="rId2">
                <a:alphaModFix amt="0"/>
              </a:blip>
              <a:stretch>
                <a:fillRect t="-21583" b="14533"/>
              </a:stretch>
            </a:blipFill>
          </p:spPr>
          <p:txBody>
            <a:bodyPr/>
            <a:lstStyle/>
            <a:p>
              <a:endParaRPr lang="en-US"/>
            </a:p>
          </p:txBody>
        </p:sp>
        <p:sp>
          <p:nvSpPr>
            <p:cNvPr id="42" name="TextBox 42"/>
            <p:cNvSpPr txBox="1"/>
            <p:nvPr/>
          </p:nvSpPr>
          <p:spPr>
            <a:xfrm>
              <a:off x="0" y="-9525"/>
              <a:ext cx="3931920" cy="1440883"/>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Email Reminder</a:t>
              </a:r>
            </a:p>
          </p:txBody>
        </p:sp>
      </p:grpSp>
      <p:grpSp>
        <p:nvGrpSpPr>
          <p:cNvPr id="43" name="Group 43"/>
          <p:cNvGrpSpPr/>
          <p:nvPr/>
        </p:nvGrpSpPr>
        <p:grpSpPr>
          <a:xfrm>
            <a:off x="5439130" y="4240574"/>
            <a:ext cx="2983151" cy="1859400"/>
            <a:chOff x="0" y="0"/>
            <a:chExt cx="3977535" cy="2479199"/>
          </a:xfrm>
        </p:grpSpPr>
        <p:sp>
          <p:nvSpPr>
            <p:cNvPr id="44" name="Freeform 44"/>
            <p:cNvSpPr/>
            <p:nvPr/>
          </p:nvSpPr>
          <p:spPr>
            <a:xfrm>
              <a:off x="0" y="0"/>
              <a:ext cx="3977535" cy="2479199"/>
            </a:xfrm>
            <a:custGeom>
              <a:avLst/>
              <a:gdLst/>
              <a:ahLst/>
              <a:cxnLst/>
              <a:rect l="l" t="t" r="r" b="b"/>
              <a:pathLst>
                <a:path w="3977535" h="2479199">
                  <a:moveTo>
                    <a:pt x="0" y="0"/>
                  </a:moveTo>
                  <a:lnTo>
                    <a:pt x="3977535" y="0"/>
                  </a:lnTo>
                  <a:lnTo>
                    <a:pt x="3977535" y="2479199"/>
                  </a:lnTo>
                  <a:lnTo>
                    <a:pt x="0" y="2479199"/>
                  </a:lnTo>
                  <a:close/>
                </a:path>
              </a:pathLst>
            </a:custGeom>
            <a:blipFill>
              <a:blip r:embed="rId2">
                <a:alphaModFix amt="0"/>
              </a:blip>
              <a:stretch>
                <a:fillRect l="-68556" r="-67409" b="-47531"/>
              </a:stretch>
            </a:blipFill>
          </p:spPr>
          <p:txBody>
            <a:bodyPr/>
            <a:lstStyle/>
            <a:p>
              <a:endParaRPr lang="en-US"/>
            </a:p>
          </p:txBody>
        </p:sp>
        <p:sp>
          <p:nvSpPr>
            <p:cNvPr id="45" name="TextBox 45"/>
            <p:cNvSpPr txBox="1"/>
            <p:nvPr/>
          </p:nvSpPr>
          <p:spPr>
            <a:xfrm>
              <a:off x="0" y="-57150"/>
              <a:ext cx="3977535" cy="2536349"/>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Send a reminder email at the end of the day outlining the steps required to progress through their current stage.</a:t>
              </a:r>
            </a:p>
          </p:txBody>
        </p:sp>
      </p:grpSp>
      <p:grpSp>
        <p:nvGrpSpPr>
          <p:cNvPr id="46" name="Group 46"/>
          <p:cNvGrpSpPr/>
          <p:nvPr/>
        </p:nvGrpSpPr>
        <p:grpSpPr>
          <a:xfrm>
            <a:off x="9554138" y="2217420"/>
            <a:ext cx="2948940" cy="480060"/>
            <a:chOff x="0" y="0"/>
            <a:chExt cx="3931920" cy="640080"/>
          </a:xfrm>
        </p:grpSpPr>
        <p:sp>
          <p:nvSpPr>
            <p:cNvPr id="47" name="Freeform 47"/>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48" name="TextBox 48"/>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3 CALL</a:t>
              </a:r>
            </a:p>
          </p:txBody>
        </p:sp>
      </p:grpSp>
      <p:grpSp>
        <p:nvGrpSpPr>
          <p:cNvPr id="49" name="Group 49"/>
          <p:cNvGrpSpPr/>
          <p:nvPr/>
        </p:nvGrpSpPr>
        <p:grpSpPr>
          <a:xfrm>
            <a:off x="9747275" y="1381125"/>
            <a:ext cx="2948940" cy="3593452"/>
            <a:chOff x="0" y="0"/>
            <a:chExt cx="3931920" cy="4791270"/>
          </a:xfrm>
        </p:grpSpPr>
        <p:sp>
          <p:nvSpPr>
            <p:cNvPr id="50" name="Freeform 50"/>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51" name="TextBox 51"/>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3</a:t>
              </a:r>
            </a:p>
          </p:txBody>
        </p:sp>
      </p:grpSp>
      <p:grpSp>
        <p:nvGrpSpPr>
          <p:cNvPr id="52" name="Group 52"/>
          <p:cNvGrpSpPr/>
          <p:nvPr/>
        </p:nvGrpSpPr>
        <p:grpSpPr>
          <a:xfrm>
            <a:off x="9747275" y="3570976"/>
            <a:ext cx="2948940" cy="685800"/>
            <a:chOff x="0" y="0"/>
            <a:chExt cx="3931920" cy="914400"/>
          </a:xfrm>
        </p:grpSpPr>
        <p:sp>
          <p:nvSpPr>
            <p:cNvPr id="53" name="Freeform 53"/>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54" name="TextBox 54"/>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Second Call</a:t>
              </a:r>
            </a:p>
          </p:txBody>
        </p:sp>
      </p:grpSp>
      <p:grpSp>
        <p:nvGrpSpPr>
          <p:cNvPr id="55" name="Group 55"/>
          <p:cNvGrpSpPr/>
          <p:nvPr/>
        </p:nvGrpSpPr>
        <p:grpSpPr>
          <a:xfrm>
            <a:off x="9836537" y="4187923"/>
            <a:ext cx="2948940" cy="1911154"/>
            <a:chOff x="0" y="0"/>
            <a:chExt cx="3931920" cy="2548205"/>
          </a:xfrm>
        </p:grpSpPr>
        <p:sp>
          <p:nvSpPr>
            <p:cNvPr id="56" name="Freeform 56"/>
            <p:cNvSpPr/>
            <p:nvPr/>
          </p:nvSpPr>
          <p:spPr>
            <a:xfrm>
              <a:off x="0" y="0"/>
              <a:ext cx="3931920" cy="2548205"/>
            </a:xfrm>
            <a:custGeom>
              <a:avLst/>
              <a:gdLst/>
              <a:ahLst/>
              <a:cxnLst/>
              <a:rect l="l" t="t" r="r" b="b"/>
              <a:pathLst>
                <a:path w="3931920" h="2548205">
                  <a:moveTo>
                    <a:pt x="0" y="0"/>
                  </a:moveTo>
                  <a:lnTo>
                    <a:pt x="3931920" y="0"/>
                  </a:lnTo>
                  <a:lnTo>
                    <a:pt x="3931920" y="2548205"/>
                  </a:lnTo>
                  <a:lnTo>
                    <a:pt x="0" y="2548205"/>
                  </a:lnTo>
                  <a:close/>
                </a:path>
              </a:pathLst>
            </a:custGeom>
            <a:blipFill>
              <a:blip r:embed="rId2">
                <a:alphaModFix amt="0"/>
              </a:blip>
              <a:stretch>
                <a:fillRect l="-69352" r="-69352" b="-43536"/>
              </a:stretch>
            </a:blipFill>
          </p:spPr>
          <p:txBody>
            <a:bodyPr/>
            <a:lstStyle/>
            <a:p>
              <a:endParaRPr lang="en-US"/>
            </a:p>
          </p:txBody>
        </p:sp>
        <p:sp>
          <p:nvSpPr>
            <p:cNvPr id="57" name="TextBox 57"/>
            <p:cNvSpPr txBox="1"/>
            <p:nvPr/>
          </p:nvSpPr>
          <p:spPr>
            <a:xfrm>
              <a:off x="0" y="-57150"/>
              <a:ext cx="3931920" cy="260535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follow up with a second call, conveying greater urgency and offering to walk the client through the process live.</a:t>
              </a:r>
            </a:p>
          </p:txBody>
        </p:sp>
      </p:grpSp>
      <p:grpSp>
        <p:nvGrpSpPr>
          <p:cNvPr id="58" name="Group 58"/>
          <p:cNvGrpSpPr/>
          <p:nvPr/>
        </p:nvGrpSpPr>
        <p:grpSpPr>
          <a:xfrm>
            <a:off x="13903223" y="2225888"/>
            <a:ext cx="2948940" cy="480060"/>
            <a:chOff x="0" y="0"/>
            <a:chExt cx="3931920" cy="640080"/>
          </a:xfrm>
        </p:grpSpPr>
        <p:sp>
          <p:nvSpPr>
            <p:cNvPr id="59" name="Freeform 59"/>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60" name="TextBox 60"/>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4F6FA"/>
                  </a:solidFill>
                  <a:latin typeface="Exo 2 Bold"/>
                  <a:ea typeface="Exo 2 Bold"/>
                  <a:cs typeface="Exo 2 Bold"/>
                  <a:sym typeface="Exo 2 Bold"/>
                </a:rPr>
                <a:t>DAY 3 EMAIL</a:t>
              </a:r>
            </a:p>
          </p:txBody>
        </p:sp>
      </p:grpSp>
      <p:grpSp>
        <p:nvGrpSpPr>
          <p:cNvPr id="61" name="Group 61"/>
          <p:cNvGrpSpPr/>
          <p:nvPr/>
        </p:nvGrpSpPr>
        <p:grpSpPr>
          <a:xfrm>
            <a:off x="14160198" y="2560631"/>
            <a:ext cx="2948940" cy="1234440"/>
            <a:chOff x="0" y="0"/>
            <a:chExt cx="3931920" cy="1645920"/>
          </a:xfrm>
        </p:grpSpPr>
        <p:sp>
          <p:nvSpPr>
            <p:cNvPr id="62" name="Freeform 62"/>
            <p:cNvSpPr/>
            <p:nvPr/>
          </p:nvSpPr>
          <p:spPr>
            <a:xfrm>
              <a:off x="0" y="0"/>
              <a:ext cx="3931920" cy="1645920"/>
            </a:xfrm>
            <a:custGeom>
              <a:avLst/>
              <a:gdLst/>
              <a:ahLst/>
              <a:cxnLst/>
              <a:rect l="l" t="t" r="r" b="b"/>
              <a:pathLst>
                <a:path w="3931920" h="1645920">
                  <a:moveTo>
                    <a:pt x="0" y="0"/>
                  </a:moveTo>
                  <a:lnTo>
                    <a:pt x="3931920" y="0"/>
                  </a:lnTo>
                  <a:lnTo>
                    <a:pt x="3931920" y="1645920"/>
                  </a:lnTo>
                  <a:lnTo>
                    <a:pt x="0" y="1645920"/>
                  </a:lnTo>
                  <a:close/>
                </a:path>
              </a:pathLst>
            </a:custGeom>
            <a:blipFill>
              <a:blip r:embed="rId2">
                <a:alphaModFix amt="0"/>
              </a:blip>
              <a:stretch>
                <a:fillRect l="-3708" r="-3708"/>
              </a:stretch>
            </a:blipFill>
          </p:spPr>
          <p:txBody>
            <a:bodyPr/>
            <a:lstStyle/>
            <a:p>
              <a:endParaRPr lang="en-US"/>
            </a:p>
          </p:txBody>
        </p:sp>
        <p:sp>
          <p:nvSpPr>
            <p:cNvPr id="63" name="TextBox 63"/>
            <p:cNvSpPr txBox="1"/>
            <p:nvPr/>
          </p:nvSpPr>
          <p:spPr>
            <a:xfrm>
              <a:off x="0" y="-9525"/>
              <a:ext cx="3931920" cy="1655445"/>
            </a:xfrm>
            <a:prstGeom prst="rect">
              <a:avLst/>
            </a:prstGeom>
          </p:spPr>
          <p:txBody>
            <a:bodyPr lIns="0" tIns="0" rIns="0" bIns="0" rtlCol="0" anchor="ctr"/>
            <a:lstStyle/>
            <a:p>
              <a:pPr algn="ctr">
                <a:lnSpc>
                  <a:spcPts val="5880"/>
                </a:lnSpc>
              </a:pPr>
              <a:r>
                <a:rPr lang="en-US" sz="4900" b="1">
                  <a:solidFill>
                    <a:srgbClr val="F4F6FA"/>
                  </a:solidFill>
                  <a:latin typeface="Exo 2 Bold"/>
                  <a:ea typeface="Exo 2 Bold"/>
                  <a:cs typeface="Exo 2 Bold"/>
                  <a:sym typeface="Exo 2 Bold"/>
                </a:rPr>
                <a:t>4</a:t>
              </a:r>
            </a:p>
          </p:txBody>
        </p:sp>
      </p:grpSp>
      <p:grpSp>
        <p:nvGrpSpPr>
          <p:cNvPr id="64" name="Group 64"/>
          <p:cNvGrpSpPr/>
          <p:nvPr/>
        </p:nvGrpSpPr>
        <p:grpSpPr>
          <a:xfrm>
            <a:off x="14233765" y="3570976"/>
            <a:ext cx="2948940" cy="685800"/>
            <a:chOff x="0" y="0"/>
            <a:chExt cx="3931920" cy="914400"/>
          </a:xfrm>
        </p:grpSpPr>
        <p:sp>
          <p:nvSpPr>
            <p:cNvPr id="65" name="Freeform 65"/>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66" name="TextBox 66"/>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4F6FA"/>
                  </a:solidFill>
                  <a:latin typeface="Exo 2 Bold"/>
                  <a:ea typeface="Exo 2 Bold"/>
                  <a:cs typeface="Exo 2 Bold"/>
                  <a:sym typeface="Exo 2 Bold"/>
                </a:rPr>
                <a:t>Follow-Up Email</a:t>
              </a:r>
            </a:p>
          </p:txBody>
        </p:sp>
      </p:grpSp>
      <p:grpSp>
        <p:nvGrpSpPr>
          <p:cNvPr id="67" name="Group 67"/>
          <p:cNvGrpSpPr/>
          <p:nvPr/>
        </p:nvGrpSpPr>
        <p:grpSpPr>
          <a:xfrm>
            <a:off x="14038807" y="3771900"/>
            <a:ext cx="3338857" cy="2743200"/>
            <a:chOff x="0" y="0"/>
            <a:chExt cx="4451809" cy="3657600"/>
          </a:xfrm>
        </p:grpSpPr>
        <p:sp>
          <p:nvSpPr>
            <p:cNvPr id="68" name="Freeform 68"/>
            <p:cNvSpPr/>
            <p:nvPr/>
          </p:nvSpPr>
          <p:spPr>
            <a:xfrm>
              <a:off x="0" y="0"/>
              <a:ext cx="4451809" cy="3657600"/>
            </a:xfrm>
            <a:custGeom>
              <a:avLst/>
              <a:gdLst/>
              <a:ahLst/>
              <a:cxnLst/>
              <a:rect l="l" t="t" r="r" b="b"/>
              <a:pathLst>
                <a:path w="4451809" h="3657600">
                  <a:moveTo>
                    <a:pt x="0" y="0"/>
                  </a:moveTo>
                  <a:lnTo>
                    <a:pt x="4451809" y="0"/>
                  </a:lnTo>
                  <a:lnTo>
                    <a:pt x="4451809" y="3657600"/>
                  </a:lnTo>
                  <a:lnTo>
                    <a:pt x="0" y="3657600"/>
                  </a:lnTo>
                  <a:close/>
                </a:path>
              </a:pathLst>
            </a:custGeom>
            <a:blipFill>
              <a:blip r:embed="rId2">
                <a:alphaModFix amt="0"/>
              </a:blip>
              <a:stretch>
                <a:fillRect l="-61253" r="-49574"/>
              </a:stretch>
            </a:blipFill>
          </p:spPr>
          <p:txBody>
            <a:bodyPr/>
            <a:lstStyle/>
            <a:p>
              <a:endParaRPr lang="en-US"/>
            </a:p>
          </p:txBody>
        </p:sp>
        <p:sp>
          <p:nvSpPr>
            <p:cNvPr id="69" name="TextBox 69"/>
            <p:cNvSpPr txBox="1"/>
            <p:nvPr/>
          </p:nvSpPr>
          <p:spPr>
            <a:xfrm>
              <a:off x="0" y="-57150"/>
              <a:ext cx="4451809" cy="3714750"/>
            </a:xfrm>
            <a:prstGeom prst="rect">
              <a:avLst/>
            </a:prstGeom>
          </p:spPr>
          <p:txBody>
            <a:bodyPr lIns="0" tIns="0" rIns="0" bIns="0" rtlCol="0" anchor="ctr"/>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id="70" name="TextBox 70"/>
          <p:cNvSpPr txBox="1"/>
          <p:nvPr/>
        </p:nvSpPr>
        <p:spPr>
          <a:xfrm>
            <a:off x="755850" y="6782377"/>
            <a:ext cx="3158133" cy="45720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Contact Channels</a:t>
            </a:r>
          </a:p>
        </p:txBody>
      </p:sp>
      <p:grpSp>
        <p:nvGrpSpPr>
          <p:cNvPr id="71" name="Group 71"/>
          <p:cNvGrpSpPr/>
          <p:nvPr/>
        </p:nvGrpSpPr>
        <p:grpSpPr>
          <a:xfrm>
            <a:off x="755850" y="7372927"/>
            <a:ext cx="16605885" cy="451910"/>
            <a:chOff x="0" y="0"/>
            <a:chExt cx="22141180" cy="602546"/>
          </a:xfrm>
        </p:grpSpPr>
        <p:grpSp>
          <p:nvGrpSpPr>
            <p:cNvPr id="72" name="Group 72"/>
            <p:cNvGrpSpPr/>
            <p:nvPr/>
          </p:nvGrpSpPr>
          <p:grpSpPr>
            <a:xfrm>
              <a:off x="524764" y="0"/>
              <a:ext cx="21616416" cy="602546"/>
              <a:chOff x="0" y="0"/>
              <a:chExt cx="21616416" cy="602546"/>
            </a:xfrm>
          </p:grpSpPr>
          <p:sp>
            <p:nvSpPr>
              <p:cNvPr id="73" name="Freeform 73"/>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74" name="TextBox 74"/>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id="75" name="Group 75"/>
            <p:cNvGrpSpPr/>
            <p:nvPr/>
          </p:nvGrpSpPr>
          <p:grpSpPr>
            <a:xfrm>
              <a:off x="0" y="164453"/>
              <a:ext cx="370790" cy="324441"/>
              <a:chOff x="0" y="0"/>
              <a:chExt cx="812800" cy="711200"/>
            </a:xfrm>
          </p:grpSpPr>
          <p:sp>
            <p:nvSpPr>
              <p:cNvPr id="76" name="Freeform 7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7" name="TextBox 77"/>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78" name="Group 78"/>
          <p:cNvGrpSpPr/>
          <p:nvPr/>
        </p:nvGrpSpPr>
        <p:grpSpPr>
          <a:xfrm>
            <a:off x="755850" y="7948662"/>
            <a:ext cx="16605885" cy="451910"/>
            <a:chOff x="0" y="0"/>
            <a:chExt cx="22141180" cy="602546"/>
          </a:xfrm>
        </p:grpSpPr>
        <p:grpSp>
          <p:nvGrpSpPr>
            <p:cNvPr id="79" name="Group 79"/>
            <p:cNvGrpSpPr/>
            <p:nvPr/>
          </p:nvGrpSpPr>
          <p:grpSpPr>
            <a:xfrm>
              <a:off x="524764" y="0"/>
              <a:ext cx="21616416" cy="602546"/>
              <a:chOff x="0" y="0"/>
              <a:chExt cx="21616416" cy="602546"/>
            </a:xfrm>
          </p:grpSpPr>
          <p:sp>
            <p:nvSpPr>
              <p:cNvPr id="80" name="Freeform 80"/>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1" name="TextBox 81"/>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id="82" name="Group 82"/>
            <p:cNvGrpSpPr/>
            <p:nvPr/>
          </p:nvGrpSpPr>
          <p:grpSpPr>
            <a:xfrm>
              <a:off x="0" y="164453"/>
              <a:ext cx="370790" cy="324441"/>
              <a:chOff x="0" y="0"/>
              <a:chExt cx="812800" cy="711200"/>
            </a:xfrm>
          </p:grpSpPr>
          <p:sp>
            <p:nvSpPr>
              <p:cNvPr id="83" name="Freeform 8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4" name="TextBox 84"/>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85" name="Group 85"/>
          <p:cNvGrpSpPr/>
          <p:nvPr/>
        </p:nvGrpSpPr>
        <p:grpSpPr>
          <a:xfrm>
            <a:off x="755850" y="8524397"/>
            <a:ext cx="16605885" cy="451910"/>
            <a:chOff x="0" y="0"/>
            <a:chExt cx="22141180" cy="602546"/>
          </a:xfrm>
        </p:grpSpPr>
        <p:grpSp>
          <p:nvGrpSpPr>
            <p:cNvPr id="86" name="Group 86"/>
            <p:cNvGrpSpPr/>
            <p:nvPr/>
          </p:nvGrpSpPr>
          <p:grpSpPr>
            <a:xfrm>
              <a:off x="524764" y="0"/>
              <a:ext cx="21616416" cy="602546"/>
              <a:chOff x="0" y="0"/>
              <a:chExt cx="21616416" cy="602546"/>
            </a:xfrm>
          </p:grpSpPr>
          <p:sp>
            <p:nvSpPr>
              <p:cNvPr id="87" name="Freeform 87"/>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8" name="TextBox 88"/>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id="89" name="Group 89"/>
            <p:cNvGrpSpPr/>
            <p:nvPr/>
          </p:nvGrpSpPr>
          <p:grpSpPr>
            <a:xfrm>
              <a:off x="0" y="164453"/>
              <a:ext cx="370790" cy="324441"/>
              <a:chOff x="0" y="0"/>
              <a:chExt cx="812800" cy="711200"/>
            </a:xfrm>
          </p:grpSpPr>
          <p:sp>
            <p:nvSpPr>
              <p:cNvPr id="90" name="Freeform 9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1" name="TextBox 9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Status at a Glance</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10" name="TextBox 9"/>
          <p:cNvSpPr txBox="1"/>
          <p:nvPr/>
        </p:nvSpPr>
        <p:spPr>
          <a:xfrm>
            <a:off x="630936" y="1572768"/>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VENDORS, PLATFORM AND INTERNAL SYSTEMS  |  AS AT 01 OCTOBER 2026</a:t>
            </a:r>
          </a:p>
        </p:txBody>
      </p:sp>
      <p:graphicFrame>
        <p:nvGraphicFramePr>
          <p:cNvPr id="11" name="Table 10"/>
          <p:cNvGraphicFramePr>
            <a:graphicFrameLocks noGrp="1"/>
          </p:cNvGraphicFramePr>
          <p:nvPr/>
        </p:nvGraphicFramePr>
        <p:xfrm>
          <a:off x="630936" y="2029968"/>
          <a:ext cx="17026128" cy="7315200"/>
        </p:xfrm>
        <a:graphic>
          <a:graphicData uri="http://schemas.openxmlformats.org/drawingml/2006/table">
            <a:tbl>
              <a:tblPr firstRow="0" bandRow="0"/>
              <a:tblGrid>
                <a:gridCol w="3566160"/>
                <a:gridCol w="8641080"/>
                <a:gridCol w="2743200"/>
                <a:gridCol w="2075688"/>
              </a:tblGrid>
              <a:tr h="731520">
                <a:tc>
                  <a:txBody>
                    <a:bodyPr wrap="square"/>
                    <a:lstStyle/>
                    <a:p>
                      <a:pPr algn="l"/>
                      <a:r>
                        <a:rPr sz="1500" b="1" i="0">
                          <a:solidFill>
                            <a:srgbClr val="FFFFFF"/>
                          </a:solidFill>
                          <a:latin typeface="Exo 2 Bold"/>
                          <a:ea typeface="Exo 2 Bold"/>
                          <a:cs typeface="Exo 2 Bold"/>
                        </a:rPr>
                        <a:t>Area</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l"/>
                      <a:r>
                        <a:rPr sz="1500" b="1" i="0">
                          <a:solidFill>
                            <a:srgbClr val="FFFFFF"/>
                          </a:solidFill>
                          <a:latin typeface="Exo 2 Bold"/>
                          <a:ea typeface="Exo 2 Bold"/>
                          <a:cs typeface="Exo 2 Bold"/>
                        </a:rPr>
                        <a:t>Update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l"/>
                      <a:r>
                        <a:rPr sz="1500" b="1" i="0">
                          <a:solidFill>
                            <a:srgbClr val="FFFFFF"/>
                          </a:solidFill>
                          <a:latin typeface="Exo 2 Bold"/>
                          <a:ea typeface="Exo 2 Bold"/>
                          <a:cs typeface="Exo 2 Bold"/>
                        </a:rPr>
                        <a:t>Target / done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Status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r>
              <a:tr h="731520">
                <a:tc>
                  <a:txBody>
                    <a:bodyPr wrap="square"/>
                    <a:lstStyle/>
                    <a:p>
                      <a:pPr algn="l"/>
                      <a:r>
                        <a:rPr sz="1400" b="1" i="0">
                          <a:solidFill>
                            <a:srgbClr val="121C36"/>
                          </a:solidFill>
                          <a:latin typeface="Exo 2 Bold"/>
                          <a:ea typeface="Exo 2 Bold"/>
                          <a:cs typeface="Exo 2 Bold"/>
                        </a:rPr>
                        <a:t>iGentech</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Invoice overrun resolved: billing cut from USD 10,750 to USD 5,625 (-48%).</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Closed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300" b="1" i="0">
                          <a:solidFill>
                            <a:srgbClr val="1E9E6B"/>
                          </a:solidFill>
                          <a:latin typeface="Exo 2 Bold"/>
                          <a:ea typeface="Exo 2 Bold"/>
                          <a:cs typeface="Exo 2 Bold"/>
                        </a:rPr>
                        <a:t>RESOLVED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31520">
                <a:tc>
                  <a:txBody>
                    <a:bodyPr wrap="square"/>
                    <a:lstStyle/>
                    <a:p>
                      <a:pPr algn="l"/>
                      <a:r>
                        <a:rPr sz="1400" b="1" i="0">
                          <a:solidFill>
                            <a:srgbClr val="121C36"/>
                          </a:solidFill>
                          <a:latin typeface="Exo 2 Bold"/>
                          <a:ea typeface="Exo 2 Bold"/>
                          <a:cs typeface="Exo 2 Bold"/>
                        </a:rPr>
                        <a:t>Shufti Pro, billing</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Duplicate KYC charges refunded (USD 9,605), plus a USD 50 production test credit given as compensation.</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Closed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300" b="1" i="0">
                          <a:solidFill>
                            <a:srgbClr val="1E9E6B"/>
                          </a:solidFill>
                          <a:latin typeface="Exo 2 Bold"/>
                          <a:ea typeface="Exo 2 Bold"/>
                          <a:cs typeface="Exo 2 Bold"/>
                        </a:rPr>
                        <a:t>RESOLVED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31520">
                <a:tc>
                  <a:txBody>
                    <a:bodyPr wrap="square"/>
                    <a:lstStyle/>
                    <a:p>
                      <a:pPr algn="l"/>
                      <a:r>
                        <a:rPr sz="1400" b="1" i="0">
                          <a:solidFill>
                            <a:srgbClr val="121C36"/>
                          </a:solidFill>
                          <a:latin typeface="Exo 2 Bold"/>
                          <a:ea typeface="Exo 2 Bold"/>
                          <a:cs typeface="Exo 2 Bold"/>
                        </a:rPr>
                        <a:t>Google Play security update (current app)</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Security API update Google requires for the current Android app. Not the Next App. 2 test rounds, 99.4% pass; live on Google Play.</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Done 29 Sep (deadline 01 Nov)</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300" b="1" i="0">
                          <a:solidFill>
                            <a:srgbClr val="1E9E6B"/>
                          </a:solidFill>
                          <a:latin typeface="Exo 2 Bold"/>
                          <a:ea typeface="Exo 2 Bold"/>
                          <a:cs typeface="Exo 2 Bold"/>
                        </a:rPr>
                        <a:t>DONE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31520">
                <a:tc>
                  <a:txBody>
                    <a:bodyPr wrap="square"/>
                    <a:lstStyle/>
                    <a:p>
                      <a:pPr algn="l"/>
                      <a:r>
                        <a:rPr sz="1400" b="1" i="0">
                          <a:solidFill>
                            <a:srgbClr val="121C36"/>
                          </a:solidFill>
                          <a:latin typeface="Exo 2 Bold"/>
                          <a:ea typeface="Exo 2 Bold"/>
                          <a:cs typeface="Exo 2 Bold"/>
                        </a:rPr>
                        <a:t>Helpdesk</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Deployed ahead of the 20 Sep target. Improvement backlog in the appendix.</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Done 17 Sep</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300" b="1" i="0">
                          <a:solidFill>
                            <a:srgbClr val="1E9E6B"/>
                          </a:solidFill>
                          <a:latin typeface="Exo 2 Bold"/>
                          <a:ea typeface="Exo 2 Bold"/>
                          <a:cs typeface="Exo 2 Bold"/>
                        </a:rPr>
                        <a:t>DONE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31520">
                <a:tc>
                  <a:txBody>
                    <a:bodyPr wrap="square"/>
                    <a:lstStyle/>
                    <a:p>
                      <a:pPr algn="l"/>
                      <a:r>
                        <a:rPr sz="1400" b="1" i="0">
                          <a:solidFill>
                            <a:srgbClr val="121C36"/>
                          </a:solidFill>
                          <a:latin typeface="Exo 2 Bold"/>
                          <a:ea typeface="Exo 2 Bold"/>
                          <a:cs typeface="Exo 2 Bold"/>
                        </a:rPr>
                        <a:t>Shufti Pro, KYC demo</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Enhanced KYC flow in the Shufti SDK demo app. Internal demo only; it will not go live.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08 Oct 2026</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300" b="1" i="0">
                          <a:solidFill>
                            <a:srgbClr val="D98C1F"/>
                          </a:solidFill>
                          <a:latin typeface="Exo 2 Bold"/>
                          <a:ea typeface="Exo 2 Bold"/>
                          <a:cs typeface="Exo 2 Bold"/>
                        </a:rPr>
                        <a:t>IN PROGRESS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DF3E4"/>
                    </a:solidFill>
                  </a:tcPr>
                </a:tc>
              </a:tr>
              <a:tr h="731520">
                <a:tc>
                  <a:txBody>
                    <a:bodyPr wrap="square"/>
                    <a:lstStyle/>
                    <a:p>
                      <a:pPr algn="l"/>
                      <a:r>
                        <a:rPr sz="1400" b="1" i="0">
                          <a:solidFill>
                            <a:srgbClr val="121C36"/>
                          </a:solidFill>
                          <a:latin typeface="Exo 2 Bold"/>
                          <a:ea typeface="Exo 2 Bold"/>
                          <a:cs typeface="Exo 2 Bold"/>
                        </a:rPr>
                        <a:t>QATestLab</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Reviewing the Next App and preparing test cases, ready for v1.</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Testing from 08 Oct</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300" b="1" i="0">
                          <a:solidFill>
                            <a:srgbClr val="D98C1F"/>
                          </a:solidFill>
                          <a:latin typeface="Exo 2 Bold"/>
                          <a:ea typeface="Exo 2 Bold"/>
                          <a:cs typeface="Exo 2 Bold"/>
                        </a:rPr>
                        <a:t>IN PROGRESS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DF3E4"/>
                    </a:solidFill>
                  </a:tcPr>
                </a:tc>
              </a:tr>
              <a:tr h="731520">
                <a:tc>
                  <a:txBody>
                    <a:bodyPr wrap="square"/>
                    <a:lstStyle/>
                    <a:p>
                      <a:pPr algn="l"/>
                      <a:r>
                        <a:rPr sz="1400" b="1" i="0">
                          <a:solidFill>
                            <a:srgbClr val="121C36"/>
                          </a:solidFill>
                          <a:latin typeface="Exo 2 Bold"/>
                          <a:ea typeface="Exo 2 Bold"/>
                          <a:cs typeface="Exo 2 Bold"/>
                        </a:rPr>
                        <a:t>Exante, Next App</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First version due 08 Oct. Full release plan to be shared next week. Sanity test date to be confirmed.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v1: 08 Oct 2026</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300" b="1" i="0">
                          <a:solidFill>
                            <a:srgbClr val="D98C1F"/>
                          </a:solidFill>
                          <a:latin typeface="Exo 2 Bold"/>
                          <a:ea typeface="Exo 2 Bold"/>
                          <a:cs typeface="Exo 2 Bold"/>
                        </a:rPr>
                        <a:t>IN PROGRESS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DF3E4"/>
                    </a:solidFill>
                  </a:tcPr>
                </a:tc>
              </a:tr>
              <a:tr h="731520">
                <a:tc>
                  <a:txBody>
                    <a:bodyPr wrap="square"/>
                    <a:lstStyle/>
                    <a:p>
                      <a:pPr algn="l"/>
                      <a:r>
                        <a:rPr sz="1400" b="1" i="0">
                          <a:solidFill>
                            <a:srgbClr val="121C36"/>
                          </a:solidFill>
                          <a:latin typeface="Exo 2 Bold"/>
                          <a:ea typeface="Exo 2 Bold"/>
                          <a:cs typeface="Exo 2 Bold"/>
                        </a:rPr>
                        <a:t>WealthTech CRM (Frappe)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One customer base in a single system. Starts now that Helpdesk is live.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l"/>
                      <a:r>
                        <a:rPr sz="1400" b="0" i="0">
                          <a:solidFill>
                            <a:srgbClr val="5A6A85"/>
                          </a:solidFill>
                          <a:latin typeface="Exo 2"/>
                          <a:ea typeface="Exo 2"/>
                          <a:cs typeface="Exo 2"/>
                        </a:rPr>
                        <a:t>29 Oct 2026</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300" b="1" i="0">
                          <a:solidFill>
                            <a:srgbClr val="3C61B6"/>
                          </a:solidFill>
                          <a:latin typeface="Exo 2 Bold"/>
                          <a:ea typeface="Exo 2 Bold"/>
                          <a:cs typeface="Exo 2 Bold"/>
                        </a:rPr>
                        <a:t>PLANNED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8EEFA"/>
                    </a:solidFill>
                  </a:tcPr>
                </a:tc>
              </a:tr>
              <a:tr h="731520">
                <a:tc>
                  <a:txBody>
                    <a:bodyPr wrap="square"/>
                    <a:lstStyle/>
                    <a:p>
                      <a:pPr algn="l"/>
                      <a:r>
                        <a:rPr sz="1400" b="1" i="0">
                          <a:solidFill>
                            <a:srgbClr val="121C36"/>
                          </a:solidFill>
                          <a:latin typeface="Exo 2 Bold"/>
                          <a:ea typeface="Exo 2 Bold"/>
                          <a:cs typeface="Exo 2 Bold"/>
                        </a:rPr>
                        <a:t>Reporting Dashboard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Real-time reporting options under review to support the business case.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l"/>
                      <a:r>
                        <a:rPr sz="1400" b="0" i="0">
                          <a:solidFill>
                            <a:srgbClr val="5A6A85"/>
                          </a:solidFill>
                          <a:latin typeface="Exo 2"/>
                          <a:ea typeface="Exo 2"/>
                          <a:cs typeface="Exo 2"/>
                        </a:rPr>
                        <a:t>TBC</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300" b="1" i="0">
                          <a:solidFill>
                            <a:srgbClr val="5A6A85"/>
                          </a:solidFill>
                          <a:latin typeface="Exo 2 Bold"/>
                          <a:ea typeface="Exo 2 Bold"/>
                          <a:cs typeface="Exo 2 Bold"/>
                        </a:rPr>
                        <a:t>EXPLORING</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EF1F6"/>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Next App: Exante and QATestLab</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10" name="TextBox 9"/>
          <p:cNvSpPr txBox="1"/>
          <p:nvPr/>
        </p:nvSpPr>
        <p:spPr>
          <a:xfrm>
            <a:off x="630936" y="1572768"/>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PLATFORM  |  NEXT APP DELIVERY</a:t>
            </a:r>
          </a:p>
        </p:txBody>
      </p:sp>
      <p:sp>
        <p:nvSpPr>
          <p:cNvPr id="11" name="Rectangle 10"/>
          <p:cNvSpPr/>
          <p:nvPr/>
        </p:nvSpPr>
        <p:spPr>
          <a:xfrm>
            <a:off x="2656332" y="2770632"/>
            <a:ext cx="12975336" cy="36576"/>
          </a:xfrm>
          <a:prstGeom prst="rect">
            <a:avLst/>
          </a:prstGeom>
          <a:solidFill>
            <a:srgbClr val="E4E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0936" y="2103120"/>
            <a:ext cx="4050792" cy="365760"/>
          </a:xfrm>
          <a:prstGeom prst="rect">
            <a:avLst/>
          </a:prstGeom>
          <a:noFill/>
        </p:spPr>
        <p:txBody>
          <a:bodyPr wrap="square" lIns="0" rIns="0" tIns="0" bIns="0" anchor="t">
            <a:spAutoFit/>
          </a:bodyPr>
          <a:lstStyle/>
          <a:p>
            <a:pPr algn="ctr"/>
            <a:r>
              <a:rPr sz="1600" b="1" i="0">
                <a:solidFill>
                  <a:srgbClr val="3C61B6"/>
                </a:solidFill>
                <a:latin typeface="Exo 2 Bold"/>
                <a:ea typeface="Exo 2 Bold"/>
                <a:cs typeface="Exo 2 Bold"/>
              </a:rPr>
              <a:t>Now</a:t>
            </a:r>
          </a:p>
        </p:txBody>
      </p:sp>
      <p:sp>
        <p:nvSpPr>
          <p:cNvPr id="13" name="Oval 12"/>
          <p:cNvSpPr/>
          <p:nvPr/>
        </p:nvSpPr>
        <p:spPr>
          <a:xfrm>
            <a:off x="2473452" y="2606039"/>
            <a:ext cx="365760" cy="365760"/>
          </a:xfrm>
          <a:prstGeom prst="ellipse">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0936" y="3246120"/>
            <a:ext cx="4050792" cy="283464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30936" y="3246120"/>
            <a:ext cx="4050792" cy="73152"/>
          </a:xfrm>
          <a:prstGeom prst="rect">
            <a:avLst/>
          </a:prstGeom>
          <a:solidFill>
            <a:srgbClr val="12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5256" y="3566160"/>
            <a:ext cx="3502152" cy="457200"/>
          </a:xfrm>
          <a:prstGeom prst="rect">
            <a:avLst/>
          </a:prstGeom>
          <a:noFill/>
        </p:spPr>
        <p:txBody>
          <a:bodyPr wrap="square" lIns="0" rIns="0" tIns="0" bIns="0" anchor="t">
            <a:spAutoFit/>
          </a:bodyPr>
          <a:lstStyle/>
          <a:p>
            <a:pPr algn="l"/>
            <a:r>
              <a:rPr sz="2300" b="1" i="0">
                <a:solidFill>
                  <a:srgbClr val="121C36"/>
                </a:solidFill>
                <a:latin typeface="Exo 2 Bold"/>
                <a:ea typeface="Exo 2 Bold"/>
                <a:cs typeface="Exo 2 Bold"/>
              </a:rPr>
              <a:t>QATestLab engaged</a:t>
            </a:r>
          </a:p>
        </p:txBody>
      </p:sp>
      <p:sp>
        <p:nvSpPr>
          <p:cNvPr id="17" name="TextBox 16"/>
          <p:cNvSpPr txBox="1"/>
          <p:nvPr/>
        </p:nvSpPr>
        <p:spPr>
          <a:xfrm>
            <a:off x="905256" y="4251960"/>
            <a:ext cx="3502152" cy="1737360"/>
          </a:xfrm>
          <a:prstGeom prst="rect">
            <a:avLst/>
          </a:prstGeom>
          <a:noFill/>
        </p:spPr>
        <p:txBody>
          <a:bodyPr wrap="square" lIns="0" rIns="0" tIns="0" bIns="0" anchor="t">
            <a:spAutoFit/>
          </a:bodyPr>
          <a:lstStyle/>
          <a:p>
            <a:pPr algn="l"/>
            <a:r>
              <a:rPr sz="1800" b="0" i="0">
                <a:solidFill>
                  <a:srgbClr val="5A6A85"/>
                </a:solidFill>
                <a:latin typeface="Exo 2"/>
                <a:ea typeface="Exo 2"/>
                <a:cs typeface="Exo 2"/>
              </a:rPr>
              <a:t>Reviewing the Next App and writing test cases while Exante builds it.</a:t>
            </a:r>
          </a:p>
        </p:txBody>
      </p:sp>
      <p:sp>
        <p:nvSpPr>
          <p:cNvPr id="18" name="TextBox 17"/>
          <p:cNvSpPr txBox="1"/>
          <p:nvPr/>
        </p:nvSpPr>
        <p:spPr>
          <a:xfrm>
            <a:off x="4956048" y="2103120"/>
            <a:ext cx="4050792" cy="365760"/>
          </a:xfrm>
          <a:prstGeom prst="rect">
            <a:avLst/>
          </a:prstGeom>
          <a:noFill/>
        </p:spPr>
        <p:txBody>
          <a:bodyPr wrap="square" lIns="0" rIns="0" tIns="0" bIns="0" anchor="t">
            <a:spAutoFit/>
          </a:bodyPr>
          <a:lstStyle/>
          <a:p>
            <a:pPr algn="ctr"/>
            <a:r>
              <a:rPr sz="1600" b="1" i="0">
                <a:solidFill>
                  <a:srgbClr val="3C61B6"/>
                </a:solidFill>
                <a:latin typeface="Exo 2 Bold"/>
                <a:ea typeface="Exo 2 Bold"/>
                <a:cs typeface="Exo 2 Bold"/>
              </a:rPr>
              <a:t>Next week</a:t>
            </a:r>
          </a:p>
        </p:txBody>
      </p:sp>
      <p:sp>
        <p:nvSpPr>
          <p:cNvPr id="19" name="Oval 18"/>
          <p:cNvSpPr/>
          <p:nvPr/>
        </p:nvSpPr>
        <p:spPr>
          <a:xfrm>
            <a:off x="6798564" y="2606039"/>
            <a:ext cx="365760" cy="365760"/>
          </a:xfrm>
          <a:prstGeom prst="ellipse">
            <a:avLst/>
          </a:prstGeom>
          <a:solidFill>
            <a:srgbClr val="FFFFFF"/>
          </a:solidFill>
          <a:ln w="31750">
            <a:solidFill>
              <a:srgbClr val="3C61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956048" y="3246120"/>
            <a:ext cx="4050792" cy="283464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956048" y="3246120"/>
            <a:ext cx="4050792" cy="73152"/>
          </a:xfrm>
          <a:prstGeom prst="rect">
            <a:avLst/>
          </a:prstGeom>
          <a:solidFill>
            <a:srgbClr val="12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0368" y="3566160"/>
            <a:ext cx="3502152" cy="457200"/>
          </a:xfrm>
          <a:prstGeom prst="rect">
            <a:avLst/>
          </a:prstGeom>
          <a:noFill/>
        </p:spPr>
        <p:txBody>
          <a:bodyPr wrap="square" lIns="0" rIns="0" tIns="0" bIns="0" anchor="t">
            <a:spAutoFit/>
          </a:bodyPr>
          <a:lstStyle/>
          <a:p>
            <a:pPr algn="l"/>
            <a:r>
              <a:rPr sz="2300" b="1" i="0">
                <a:solidFill>
                  <a:srgbClr val="121C36"/>
                </a:solidFill>
                <a:latin typeface="Exo 2 Bold"/>
                <a:ea typeface="Exo 2 Bold"/>
                <a:cs typeface="Exo 2 Bold"/>
              </a:rPr>
              <a:t>Release plan</a:t>
            </a:r>
          </a:p>
        </p:txBody>
      </p:sp>
      <p:sp>
        <p:nvSpPr>
          <p:cNvPr id="23" name="TextBox 22"/>
          <p:cNvSpPr txBox="1"/>
          <p:nvPr/>
        </p:nvSpPr>
        <p:spPr>
          <a:xfrm>
            <a:off x="5230368" y="4251960"/>
            <a:ext cx="3502152" cy="1737360"/>
          </a:xfrm>
          <a:prstGeom prst="rect">
            <a:avLst/>
          </a:prstGeom>
          <a:noFill/>
        </p:spPr>
        <p:txBody>
          <a:bodyPr wrap="square" lIns="0" rIns="0" tIns="0" bIns="0" anchor="t">
            <a:spAutoFit/>
          </a:bodyPr>
          <a:lstStyle/>
          <a:p>
            <a:pPr algn="l"/>
            <a:r>
              <a:rPr sz="1800" b="0" i="0">
                <a:solidFill>
                  <a:srgbClr val="5A6A85"/>
                </a:solidFill>
                <a:latin typeface="Exo 2"/>
                <a:ea typeface="Exo 2"/>
                <a:cs typeface="Exo 2"/>
              </a:rPr>
              <a:t>Full plan shared once QATestLab confirms its estimate.</a:t>
            </a:r>
          </a:p>
        </p:txBody>
      </p:sp>
      <p:sp>
        <p:nvSpPr>
          <p:cNvPr id="24" name="TextBox 23"/>
          <p:cNvSpPr txBox="1"/>
          <p:nvPr/>
        </p:nvSpPr>
        <p:spPr>
          <a:xfrm>
            <a:off x="9281160" y="2103120"/>
            <a:ext cx="4050792" cy="365760"/>
          </a:xfrm>
          <a:prstGeom prst="rect">
            <a:avLst/>
          </a:prstGeom>
          <a:noFill/>
        </p:spPr>
        <p:txBody>
          <a:bodyPr wrap="square" lIns="0" rIns="0" tIns="0" bIns="0" anchor="t">
            <a:spAutoFit/>
          </a:bodyPr>
          <a:lstStyle/>
          <a:p>
            <a:pPr algn="ctr"/>
            <a:r>
              <a:rPr sz="1600" b="1" i="0">
                <a:solidFill>
                  <a:srgbClr val="3C61B6"/>
                </a:solidFill>
                <a:latin typeface="Exo 2 Bold"/>
                <a:ea typeface="Exo 2 Bold"/>
                <a:cs typeface="Exo 2 Bold"/>
              </a:rPr>
              <a:t>08 Oct 2026</a:t>
            </a:r>
          </a:p>
        </p:txBody>
      </p:sp>
      <p:sp>
        <p:nvSpPr>
          <p:cNvPr id="25" name="Oval 24"/>
          <p:cNvSpPr/>
          <p:nvPr/>
        </p:nvSpPr>
        <p:spPr>
          <a:xfrm>
            <a:off x="11123676" y="2606039"/>
            <a:ext cx="365760" cy="365760"/>
          </a:xfrm>
          <a:prstGeom prst="ellipse">
            <a:avLst/>
          </a:prstGeom>
          <a:solidFill>
            <a:srgbClr val="FFFFFF"/>
          </a:solidFill>
          <a:ln w="31750">
            <a:solidFill>
              <a:srgbClr val="3C61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281160" y="3246120"/>
            <a:ext cx="4050792" cy="283464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281160" y="3246120"/>
            <a:ext cx="4050792" cy="7315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555480" y="3566160"/>
            <a:ext cx="3502152" cy="457200"/>
          </a:xfrm>
          <a:prstGeom prst="rect">
            <a:avLst/>
          </a:prstGeom>
          <a:noFill/>
        </p:spPr>
        <p:txBody>
          <a:bodyPr wrap="square" lIns="0" rIns="0" tIns="0" bIns="0" anchor="t">
            <a:spAutoFit/>
          </a:bodyPr>
          <a:lstStyle/>
          <a:p>
            <a:pPr algn="l"/>
            <a:r>
              <a:rPr sz="2300" b="1" i="0">
                <a:solidFill>
                  <a:srgbClr val="121C36"/>
                </a:solidFill>
                <a:latin typeface="Exo 2 Bold"/>
                <a:ea typeface="Exo 2 Bold"/>
                <a:cs typeface="Exo 2 Bold"/>
              </a:rPr>
              <a:t>Next App v1</a:t>
            </a:r>
          </a:p>
        </p:txBody>
      </p:sp>
      <p:sp>
        <p:nvSpPr>
          <p:cNvPr id="29" name="TextBox 28"/>
          <p:cNvSpPr txBox="1"/>
          <p:nvPr/>
        </p:nvSpPr>
        <p:spPr>
          <a:xfrm>
            <a:off x="9555480" y="4251960"/>
            <a:ext cx="3502152" cy="1737360"/>
          </a:xfrm>
          <a:prstGeom prst="rect">
            <a:avLst/>
          </a:prstGeom>
          <a:noFill/>
        </p:spPr>
        <p:txBody>
          <a:bodyPr wrap="square" lIns="0" rIns="0" tIns="0" bIns="0" anchor="t">
            <a:spAutoFit/>
          </a:bodyPr>
          <a:lstStyle/>
          <a:p>
            <a:pPr algn="l"/>
            <a:r>
              <a:rPr sz="1800" b="0" i="0">
                <a:solidFill>
                  <a:srgbClr val="5A6A85"/>
                </a:solidFill>
                <a:latin typeface="Exo 2"/>
                <a:ea typeface="Exo 2"/>
                <a:cs typeface="Exo 2"/>
              </a:rPr>
              <a:t>First version delivered by Exante.</a:t>
            </a:r>
          </a:p>
        </p:txBody>
      </p:sp>
      <p:sp>
        <p:nvSpPr>
          <p:cNvPr id="30" name="TextBox 29"/>
          <p:cNvSpPr txBox="1"/>
          <p:nvPr/>
        </p:nvSpPr>
        <p:spPr>
          <a:xfrm>
            <a:off x="13606272" y="2103120"/>
            <a:ext cx="4050792" cy="365760"/>
          </a:xfrm>
          <a:prstGeom prst="rect">
            <a:avLst/>
          </a:prstGeom>
          <a:noFill/>
        </p:spPr>
        <p:txBody>
          <a:bodyPr wrap="square" lIns="0" rIns="0" tIns="0" bIns="0" anchor="t">
            <a:spAutoFit/>
          </a:bodyPr>
          <a:lstStyle/>
          <a:p>
            <a:pPr algn="ctr"/>
            <a:r>
              <a:rPr sz="1600" b="1" i="0">
                <a:solidFill>
                  <a:srgbClr val="3C61B6"/>
                </a:solidFill>
                <a:latin typeface="Exo 2 Bold"/>
                <a:ea typeface="Exo 2 Bold"/>
                <a:cs typeface="Exo 2 Bold"/>
              </a:rPr>
              <a:t>After 08 Oct</a:t>
            </a:r>
          </a:p>
        </p:txBody>
      </p:sp>
      <p:sp>
        <p:nvSpPr>
          <p:cNvPr id="31" name="Oval 30"/>
          <p:cNvSpPr/>
          <p:nvPr/>
        </p:nvSpPr>
        <p:spPr>
          <a:xfrm>
            <a:off x="15448788" y="2606039"/>
            <a:ext cx="365760" cy="365760"/>
          </a:xfrm>
          <a:prstGeom prst="ellipse">
            <a:avLst/>
          </a:prstGeom>
          <a:solidFill>
            <a:srgbClr val="FFFFFF"/>
          </a:solidFill>
          <a:ln w="31750">
            <a:solidFill>
              <a:srgbClr val="3C61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3606272" y="3246120"/>
            <a:ext cx="4050792" cy="283464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3606272" y="3246120"/>
            <a:ext cx="4050792" cy="73152"/>
          </a:xfrm>
          <a:prstGeom prst="rect">
            <a:avLst/>
          </a:prstGeom>
          <a:solidFill>
            <a:srgbClr val="12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3880592" y="3566160"/>
            <a:ext cx="3502152" cy="457200"/>
          </a:xfrm>
          <a:prstGeom prst="rect">
            <a:avLst/>
          </a:prstGeom>
          <a:noFill/>
        </p:spPr>
        <p:txBody>
          <a:bodyPr wrap="square" lIns="0" rIns="0" tIns="0" bIns="0" anchor="t">
            <a:spAutoFit/>
          </a:bodyPr>
          <a:lstStyle/>
          <a:p>
            <a:pPr algn="l"/>
            <a:r>
              <a:rPr sz="2300" b="1" i="0">
                <a:solidFill>
                  <a:srgbClr val="121C36"/>
                </a:solidFill>
                <a:latin typeface="Exo 2 Bold"/>
                <a:ea typeface="Exo 2 Bold"/>
                <a:cs typeface="Exo 2 Bold"/>
              </a:rPr>
              <a:t>Independent QA</a:t>
            </a:r>
          </a:p>
        </p:txBody>
      </p:sp>
      <p:sp>
        <p:nvSpPr>
          <p:cNvPr id="35" name="TextBox 34"/>
          <p:cNvSpPr txBox="1"/>
          <p:nvPr/>
        </p:nvSpPr>
        <p:spPr>
          <a:xfrm>
            <a:off x="13880592" y="4251960"/>
            <a:ext cx="3502152" cy="1737360"/>
          </a:xfrm>
          <a:prstGeom prst="rect">
            <a:avLst/>
          </a:prstGeom>
          <a:noFill/>
        </p:spPr>
        <p:txBody>
          <a:bodyPr wrap="square" lIns="0" rIns="0" tIns="0" bIns="0" anchor="t">
            <a:spAutoFit/>
          </a:bodyPr>
          <a:lstStyle/>
          <a:p>
            <a:pPr algn="l"/>
            <a:r>
              <a:rPr sz="1800" b="0" i="0">
                <a:solidFill>
                  <a:srgbClr val="5A6A85"/>
                </a:solidFill>
                <a:latin typeface="Exo 2"/>
                <a:ea typeface="Exo 2"/>
                <a:cs typeface="Exo 2"/>
              </a:rPr>
              <a:t>QATestLab tests v1 against the prepared cases. Sanity test date to be confirmed.</a:t>
            </a:r>
          </a:p>
        </p:txBody>
      </p:sp>
      <p:sp>
        <p:nvSpPr>
          <p:cNvPr id="36" name="Rectangle 35"/>
          <p:cNvSpPr/>
          <p:nvPr/>
        </p:nvSpPr>
        <p:spPr>
          <a:xfrm>
            <a:off x="630936" y="6446520"/>
            <a:ext cx="17026128" cy="224028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30936" y="6446520"/>
            <a:ext cx="91440" cy="2240280"/>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5840" y="6720840"/>
            <a:ext cx="16367759" cy="365760"/>
          </a:xfrm>
          <a:prstGeom prst="rect">
            <a:avLst/>
          </a:prstGeom>
          <a:noFill/>
        </p:spPr>
        <p:txBody>
          <a:bodyPr wrap="square" lIns="0" rIns="0" tIns="0" bIns="0" anchor="t">
            <a:spAutoFit/>
          </a:bodyPr>
          <a:lstStyle/>
          <a:p>
            <a:pPr algn="l"/>
            <a:r>
              <a:rPr sz="1500" b="1" i="0">
                <a:solidFill>
                  <a:srgbClr val="3C61B6"/>
                </a:solidFill>
                <a:latin typeface="Exo 2 Bold"/>
                <a:ea typeface="Exo 2 Bold"/>
                <a:cs typeface="Exo 2 Bold"/>
              </a:rPr>
              <a:t>WHY IT MATTERS</a:t>
            </a:r>
          </a:p>
        </p:txBody>
      </p:sp>
      <p:sp>
        <p:nvSpPr>
          <p:cNvPr id="39" name="TextBox 38"/>
          <p:cNvSpPr txBox="1"/>
          <p:nvPr/>
        </p:nvSpPr>
        <p:spPr>
          <a:xfrm>
            <a:off x="1005840" y="7223760"/>
            <a:ext cx="16367759" cy="1280160"/>
          </a:xfrm>
          <a:prstGeom prst="rect">
            <a:avLst/>
          </a:prstGeom>
          <a:noFill/>
        </p:spPr>
        <p:txBody>
          <a:bodyPr wrap="square" lIns="0" rIns="0" tIns="0" bIns="0" anchor="t">
            <a:spAutoFit/>
          </a:bodyPr>
          <a:lstStyle/>
          <a:p>
            <a:pPr algn="l"/>
            <a:r>
              <a:rPr sz="2100" b="0" i="0">
                <a:solidFill>
                  <a:srgbClr val="1B1B3A"/>
                </a:solidFill>
                <a:latin typeface="Exo 2"/>
                <a:ea typeface="Exo 2"/>
                <a:cs typeface="Exo 2"/>
              </a:rPr>
              <a:t>QATestLab gives an independent quality check before the Next App reaches users. Test cases are written while Exante builds v1, so testing can start as soon as v1 arrives on 08 Oct.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Android App: Google Play Security Update</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10" name="TextBox 9"/>
          <p:cNvSpPr txBox="1"/>
          <p:nvPr/>
        </p:nvSpPr>
        <p:spPr>
          <a:xfrm>
            <a:off x="630936" y="1572768"/>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CURRENT APP  |  SECURITY COMPLIANCE  |  NOT THE NEXT APP</a:t>
            </a:r>
          </a:p>
        </p:txBody>
      </p:sp>
      <p:sp>
        <p:nvSpPr>
          <p:cNvPr id="11" name="TextBox 10"/>
          <p:cNvSpPr txBox="1"/>
          <p:nvPr/>
        </p:nvSpPr>
        <p:spPr>
          <a:xfrm>
            <a:off x="630936" y="2011680"/>
            <a:ext cx="17026128" cy="822960"/>
          </a:xfrm>
          <a:prstGeom prst="rect">
            <a:avLst/>
          </a:prstGeom>
          <a:noFill/>
        </p:spPr>
        <p:txBody>
          <a:bodyPr wrap="square" lIns="0" rIns="0" tIns="0" bIns="0" anchor="t">
            <a:spAutoFit/>
          </a:bodyPr>
          <a:lstStyle/>
          <a:p>
            <a:pPr algn="l"/>
            <a:r>
              <a:rPr sz="1700" b="0" i="0">
                <a:solidFill>
                  <a:srgbClr val="1B1B3A"/>
                </a:solidFill>
                <a:latin typeface="Exo 2"/>
                <a:ea typeface="Exo 2"/>
                <a:cs typeface="Exo 2"/>
              </a:rPr>
              <a:t>Google required a security API update, republished by 01 Nov 2026, to keep the current app on Google Play. We ran two internal test rounds and found no major bugs.</a:t>
            </a:r>
          </a:p>
        </p:txBody>
      </p:sp>
      <p:sp>
        <p:nvSpPr>
          <p:cNvPr id="12" name="Rectangle 11"/>
          <p:cNvSpPr/>
          <p:nvPr/>
        </p:nvSpPr>
        <p:spPr>
          <a:xfrm>
            <a:off x="630936" y="3017520"/>
            <a:ext cx="5120640" cy="557784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5256" y="3246120"/>
            <a:ext cx="4572000" cy="1097280"/>
          </a:xfrm>
          <a:prstGeom prst="rect">
            <a:avLst/>
          </a:prstGeom>
          <a:noFill/>
        </p:spPr>
        <p:txBody>
          <a:bodyPr wrap="square" lIns="0" rIns="0" tIns="0" bIns="0" anchor="t">
            <a:spAutoFit/>
          </a:bodyPr>
          <a:lstStyle/>
          <a:p>
            <a:pPr algn="l"/>
            <a:r>
              <a:rPr sz="6000" b="1" i="0">
                <a:solidFill>
                  <a:srgbClr val="1E9E6B"/>
                </a:solidFill>
                <a:latin typeface="Exo 2 Bold"/>
                <a:ea typeface="Exo 2 Bold"/>
                <a:cs typeface="Exo 2 Bold"/>
              </a:rPr>
              <a:t>99.4%</a:t>
            </a:r>
          </a:p>
        </p:txBody>
      </p:sp>
      <p:sp>
        <p:nvSpPr>
          <p:cNvPr id="14" name="TextBox 13"/>
          <p:cNvSpPr txBox="1"/>
          <p:nvPr/>
        </p:nvSpPr>
        <p:spPr>
          <a:xfrm>
            <a:off x="905256" y="4389120"/>
            <a:ext cx="4572000" cy="365760"/>
          </a:xfrm>
          <a:prstGeom prst="rect">
            <a:avLst/>
          </a:prstGeom>
          <a:noFill/>
        </p:spPr>
        <p:txBody>
          <a:bodyPr wrap="square" lIns="0" rIns="0" tIns="0" bIns="0" anchor="t">
            <a:spAutoFit/>
          </a:bodyPr>
          <a:lstStyle/>
          <a:p>
            <a:pPr algn="l"/>
            <a:r>
              <a:rPr sz="1600" b="0" i="0">
                <a:solidFill>
                  <a:srgbClr val="5A6A85"/>
                </a:solidFill>
                <a:latin typeface="Exo 2"/>
                <a:ea typeface="Exo 2"/>
                <a:cs typeface="Exo 2"/>
              </a:rPr>
              <a:t>pass rate (158 of 159 executed)</a:t>
            </a:r>
          </a:p>
        </p:txBody>
      </p:sp>
      <p:sp>
        <p:nvSpPr>
          <p:cNvPr id="15" name="Rectangle 14"/>
          <p:cNvSpPr/>
          <p:nvPr/>
        </p:nvSpPr>
        <p:spPr>
          <a:xfrm>
            <a:off x="905256" y="5029200"/>
            <a:ext cx="3969098" cy="457200"/>
          </a:xfrm>
          <a:prstGeom prst="rect">
            <a:avLst/>
          </a:prstGeom>
          <a:solidFill>
            <a:srgbClr val="1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874354" y="5029200"/>
            <a:ext cx="477296" cy="4572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351651" y="5029200"/>
            <a:ext cx="100483" cy="457200"/>
          </a:xfrm>
          <a:prstGeom prst="rect">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52135" y="5029200"/>
            <a:ext cx="36576"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5256" y="5833872"/>
            <a:ext cx="201168" cy="201168"/>
          </a:xfrm>
          <a:prstGeom prst="rect">
            <a:avLst/>
          </a:prstGeom>
          <a:solidFill>
            <a:srgbClr val="1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25295" y="5760720"/>
            <a:ext cx="1920240" cy="365760"/>
          </a:xfrm>
          <a:prstGeom prst="rect">
            <a:avLst/>
          </a:prstGeom>
          <a:noFill/>
        </p:spPr>
        <p:txBody>
          <a:bodyPr wrap="square" lIns="0" rIns="0" tIns="0" bIns="0" anchor="t">
            <a:spAutoFit/>
          </a:bodyPr>
          <a:lstStyle/>
          <a:p>
            <a:pPr algn="l"/>
            <a:r>
              <a:rPr sz="1600" b="0" i="0">
                <a:solidFill>
                  <a:srgbClr val="1B1B3A"/>
                </a:solidFill>
                <a:latin typeface="Exo 2"/>
                <a:ea typeface="Exo 2"/>
                <a:cs typeface="Exo 2"/>
              </a:rPr>
              <a:t>Passed 158</a:t>
            </a:r>
          </a:p>
        </p:txBody>
      </p:sp>
      <p:sp>
        <p:nvSpPr>
          <p:cNvPr id="21" name="Rectangle 20"/>
          <p:cNvSpPr/>
          <p:nvPr/>
        </p:nvSpPr>
        <p:spPr>
          <a:xfrm>
            <a:off x="3191256" y="5833872"/>
            <a:ext cx="201168" cy="201168"/>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511296" y="5760720"/>
            <a:ext cx="1920240" cy="365760"/>
          </a:xfrm>
          <a:prstGeom prst="rect">
            <a:avLst/>
          </a:prstGeom>
          <a:noFill/>
        </p:spPr>
        <p:txBody>
          <a:bodyPr wrap="square" lIns="0" rIns="0" tIns="0" bIns="0" anchor="t">
            <a:spAutoFit/>
          </a:bodyPr>
          <a:lstStyle/>
          <a:p>
            <a:pPr algn="l"/>
            <a:r>
              <a:rPr sz="1600" b="0" i="0">
                <a:solidFill>
                  <a:srgbClr val="1B1B3A"/>
                </a:solidFill>
                <a:latin typeface="Exo 2"/>
                <a:ea typeface="Exo 2"/>
                <a:cs typeface="Exo 2"/>
              </a:rPr>
              <a:t>Skipped 19</a:t>
            </a:r>
          </a:p>
        </p:txBody>
      </p:sp>
      <p:sp>
        <p:nvSpPr>
          <p:cNvPr id="23" name="Rectangle 22"/>
          <p:cNvSpPr/>
          <p:nvPr/>
        </p:nvSpPr>
        <p:spPr>
          <a:xfrm>
            <a:off x="905256" y="6336792"/>
            <a:ext cx="201168" cy="201168"/>
          </a:xfrm>
          <a:prstGeom prst="rect">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25295" y="6263640"/>
            <a:ext cx="1920240" cy="365760"/>
          </a:xfrm>
          <a:prstGeom prst="rect">
            <a:avLst/>
          </a:prstGeom>
          <a:noFill/>
        </p:spPr>
        <p:txBody>
          <a:bodyPr wrap="square" lIns="0" rIns="0" tIns="0" bIns="0" anchor="t">
            <a:spAutoFit/>
          </a:bodyPr>
          <a:lstStyle/>
          <a:p>
            <a:pPr algn="l"/>
            <a:r>
              <a:rPr sz="1600" b="0" i="0">
                <a:solidFill>
                  <a:srgbClr val="1B1B3A"/>
                </a:solidFill>
                <a:latin typeface="Exo 2"/>
                <a:ea typeface="Exo 2"/>
                <a:cs typeface="Exo 2"/>
              </a:rPr>
              <a:t>N/A 4</a:t>
            </a:r>
          </a:p>
        </p:txBody>
      </p:sp>
      <p:sp>
        <p:nvSpPr>
          <p:cNvPr id="25" name="Rectangle 24"/>
          <p:cNvSpPr/>
          <p:nvPr/>
        </p:nvSpPr>
        <p:spPr>
          <a:xfrm>
            <a:off x="3191256" y="6336792"/>
            <a:ext cx="201168" cy="2011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511296" y="6263640"/>
            <a:ext cx="1920240" cy="365760"/>
          </a:xfrm>
          <a:prstGeom prst="rect">
            <a:avLst/>
          </a:prstGeom>
          <a:noFill/>
        </p:spPr>
        <p:txBody>
          <a:bodyPr wrap="square" lIns="0" rIns="0" tIns="0" bIns="0" anchor="t">
            <a:spAutoFit/>
          </a:bodyPr>
          <a:lstStyle/>
          <a:p>
            <a:pPr algn="l"/>
            <a:r>
              <a:rPr sz="1600" b="0" i="0">
                <a:solidFill>
                  <a:srgbClr val="1B1B3A"/>
                </a:solidFill>
                <a:latin typeface="Exo 2"/>
                <a:ea typeface="Exo 2"/>
                <a:cs typeface="Exo 2"/>
              </a:rPr>
              <a:t>Failed 1</a:t>
            </a:r>
          </a:p>
        </p:txBody>
      </p:sp>
      <p:sp>
        <p:nvSpPr>
          <p:cNvPr id="27" name="TextBox 26"/>
          <p:cNvSpPr txBox="1"/>
          <p:nvPr/>
        </p:nvSpPr>
        <p:spPr>
          <a:xfrm>
            <a:off x="905256" y="6903720"/>
            <a:ext cx="4572000" cy="365760"/>
          </a:xfrm>
          <a:prstGeom prst="rect">
            <a:avLst/>
          </a:prstGeom>
          <a:noFill/>
        </p:spPr>
        <p:txBody>
          <a:bodyPr wrap="square" lIns="0" rIns="0" tIns="0" bIns="0" anchor="t">
            <a:spAutoFit/>
          </a:bodyPr>
          <a:lstStyle/>
          <a:p>
            <a:pPr algn="l"/>
            <a:r>
              <a:rPr sz="1400" b="0" i="0">
                <a:solidFill>
                  <a:srgbClr val="5A6A85"/>
                </a:solidFill>
                <a:latin typeface="Exo 2"/>
                <a:ea typeface="Exo 2"/>
                <a:cs typeface="Exo 2"/>
              </a:rPr>
              <a:t>182 cases  |  159 executed  |  158 passed</a:t>
            </a:r>
          </a:p>
        </p:txBody>
      </p:sp>
      <p:sp>
        <p:nvSpPr>
          <p:cNvPr id="28" name="Rectangle 27"/>
          <p:cNvSpPr/>
          <p:nvPr/>
        </p:nvSpPr>
        <p:spPr>
          <a:xfrm>
            <a:off x="905256" y="7498079"/>
            <a:ext cx="4572000" cy="868680"/>
          </a:xfrm>
          <a:prstGeom prst="rect">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88136" y="7543800"/>
            <a:ext cx="4297680" cy="777240"/>
          </a:xfrm>
          <a:prstGeom prst="rect">
            <a:avLst/>
          </a:prstGeom>
          <a:noFill/>
        </p:spPr>
        <p:txBody>
          <a:bodyPr wrap="square" lIns="0" rIns="0" tIns="0" bIns="0" anchor="ctr">
            <a:spAutoFit/>
          </a:bodyPr>
          <a:lstStyle/>
          <a:p>
            <a:pPr algn="l"/>
            <a:r>
              <a:rPr sz="1500" b="1" i="0">
                <a:solidFill>
                  <a:srgbClr val="1E9E6B"/>
                </a:solidFill>
                <a:latin typeface="Exo 2 Bold"/>
                <a:ea typeface="Exo 2 Bold"/>
                <a:cs typeface="Exo 2 Bold"/>
              </a:rPr>
              <a:t>Live on Google Play: 29 Sep 2026</a:t>
            </a:r>
          </a:p>
          <a:p>
            <a:pPr algn="l"/>
            <a:r>
              <a:rPr sz="1300" b="0" i="0">
                <a:solidFill>
                  <a:srgbClr val="5A6A85"/>
                </a:solidFill>
                <a:latin typeface="Exo 2"/>
                <a:ea typeface="Exo 2"/>
                <a:cs typeface="Exo 2"/>
              </a:rPr>
              <a:t>More than a month before the deadline.</a:t>
            </a:r>
          </a:p>
        </p:txBody>
      </p:sp>
      <p:graphicFrame>
        <p:nvGraphicFramePr>
          <p:cNvPr id="30" name="Table 29"/>
          <p:cNvGraphicFramePr>
            <a:graphicFrameLocks noGrp="1"/>
          </p:cNvGraphicFramePr>
          <p:nvPr/>
        </p:nvGraphicFramePr>
        <p:xfrm>
          <a:off x="6035040" y="3017520"/>
          <a:ext cx="6858000" cy="4992624"/>
        </p:xfrm>
        <a:graphic>
          <a:graphicData uri="http://schemas.openxmlformats.org/drawingml/2006/table">
            <a:tbl>
              <a:tblPr firstRow="0" bandRow="0"/>
              <a:tblGrid>
                <a:gridCol w="2834640"/>
                <a:gridCol w="1051560"/>
                <a:gridCol w="1005840"/>
                <a:gridCol w="1097280"/>
                <a:gridCol w="868680"/>
              </a:tblGrid>
              <a:tr h="713232">
                <a:tc>
                  <a:txBody>
                    <a:bodyPr wrap="square"/>
                    <a:lstStyle/>
                    <a:p>
                      <a:pPr algn="l"/>
                      <a:r>
                        <a:rPr sz="1500" b="1" i="0">
                          <a:solidFill>
                            <a:srgbClr val="FFFFFF"/>
                          </a:solidFill>
                          <a:latin typeface="Exo 2 Bold"/>
                          <a:ea typeface="Exo 2 Bold"/>
                          <a:cs typeface="Exo 2 Bold"/>
                        </a:rPr>
                        <a:t>Module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Passed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Failed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Skipped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N/A</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r>
              <a:tr h="713232">
                <a:tc>
                  <a:txBody>
                    <a:bodyPr wrap="square"/>
                    <a:lstStyle/>
                    <a:p>
                      <a:pPr algn="l"/>
                      <a:r>
                        <a:rPr sz="1500" b="1" i="0">
                          <a:solidFill>
                            <a:srgbClr val="121C36"/>
                          </a:solidFill>
                          <a:latin typeface="Exo 2 Bold"/>
                          <a:ea typeface="Exo 2 Bold"/>
                          <a:cs typeface="Exo 2 Bold"/>
                        </a:rPr>
                        <a:t>Base requirements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48</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1" i="0">
                          <a:solidFill>
                            <a:srgbClr val="C0392B"/>
                          </a:solidFill>
                          <a:latin typeface="Exo 2 Bold"/>
                          <a:ea typeface="Exo 2"/>
                          <a:cs typeface="Exo 2"/>
                        </a:rPr>
                        <a:t>1</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13</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2</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r>
              <a:tr h="713232">
                <a:tc>
                  <a:txBody>
                    <a:bodyPr wrap="square"/>
                    <a:lstStyle/>
                    <a:p>
                      <a:pPr algn="l"/>
                      <a:r>
                        <a:rPr sz="1500" b="1" i="0">
                          <a:solidFill>
                            <a:srgbClr val="121C36"/>
                          </a:solidFill>
                          <a:latin typeface="Exo 2 Bold"/>
                          <a:ea typeface="Exo 2 Bold"/>
                          <a:cs typeface="Exo 2 Bold"/>
                        </a:rPr>
                        <a:t>AI Chatbot</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31</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2</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r>
              <a:tr h="713232">
                <a:tc>
                  <a:txBody>
                    <a:bodyPr wrap="square"/>
                    <a:lstStyle/>
                    <a:p>
                      <a:pPr algn="l"/>
                      <a:r>
                        <a:rPr sz="1500" b="1" i="0">
                          <a:solidFill>
                            <a:srgbClr val="121C36"/>
                          </a:solidFill>
                          <a:latin typeface="Exo 2 Bold"/>
                          <a:ea typeface="Exo 2 Bold"/>
                          <a:cs typeface="Exo 2 Bold"/>
                        </a:rPr>
                        <a:t>T&amp;C + SCC</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12</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r>
              <a:tr h="713232">
                <a:tc>
                  <a:txBody>
                    <a:bodyPr wrap="square"/>
                    <a:lstStyle/>
                    <a:p>
                      <a:pPr algn="l"/>
                      <a:r>
                        <a:rPr sz="1500" b="1" i="0">
                          <a:solidFill>
                            <a:srgbClr val="121C36"/>
                          </a:solidFill>
                          <a:latin typeface="Exo 2 Bold"/>
                          <a:ea typeface="Exo 2 Bold"/>
                          <a:cs typeface="Exo 2 Bold"/>
                        </a:rPr>
                        <a:t>Other Q1 requirements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42</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3</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r>
              <a:tr h="713232">
                <a:tc>
                  <a:txBody>
                    <a:bodyPr wrap="square"/>
                    <a:lstStyle/>
                    <a:p>
                      <a:pPr algn="l"/>
                      <a:r>
                        <a:rPr sz="1500" b="1" i="0">
                          <a:solidFill>
                            <a:srgbClr val="121C36"/>
                          </a:solidFill>
                          <a:latin typeface="Exo 2 Bold"/>
                          <a:ea typeface="Exo 2 Bold"/>
                          <a:cs typeface="Exo 2 Bold"/>
                        </a:rPr>
                        <a:t>KYC onboarding</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25</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3</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0</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r>
              <a:tr h="713232">
                <a:tc>
                  <a:txBody>
                    <a:bodyPr wrap="square"/>
                    <a:lstStyle/>
                    <a:p>
                      <a:pPr algn="l"/>
                      <a:r>
                        <a:rPr sz="1500" b="1" i="0">
                          <a:solidFill>
                            <a:srgbClr val="121C36"/>
                          </a:solidFill>
                          <a:latin typeface="Exo 2 Bold"/>
                          <a:ea typeface="Exo 2 Bold"/>
                          <a:cs typeface="Exo 2 Bold"/>
                        </a:rPr>
                        <a:t>Total</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1" i="0">
                          <a:solidFill>
                            <a:srgbClr val="121C36"/>
                          </a:solidFill>
                          <a:latin typeface="Exo 2 Bold"/>
                          <a:ea typeface="Exo 2"/>
                          <a:cs typeface="Exo 2"/>
                        </a:rPr>
                        <a:t>158</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1" i="0">
                          <a:solidFill>
                            <a:srgbClr val="121C36"/>
                          </a:solidFill>
                          <a:latin typeface="Exo 2 Bold"/>
                          <a:ea typeface="Exo 2"/>
                          <a:cs typeface="Exo 2"/>
                        </a:rPr>
                        <a:t>1</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1" i="0">
                          <a:solidFill>
                            <a:srgbClr val="121C36"/>
                          </a:solidFill>
                          <a:latin typeface="Exo 2 Bold"/>
                          <a:ea typeface="Exo 2"/>
                          <a:cs typeface="Exo 2"/>
                        </a:rPr>
                        <a:t>19</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1" i="0">
                          <a:solidFill>
                            <a:srgbClr val="121C36"/>
                          </a:solidFill>
                          <a:latin typeface="Exo 2 Bold"/>
                          <a:ea typeface="Exo 2"/>
                          <a:cs typeface="Exo 2"/>
                        </a:rPr>
                        <a:t>4</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r>
            </a:tbl>
          </a:graphicData>
        </a:graphic>
      </p:graphicFrame>
      <p:sp>
        <p:nvSpPr>
          <p:cNvPr id="31" name="TextBox 30"/>
          <p:cNvSpPr txBox="1"/>
          <p:nvPr/>
        </p:nvSpPr>
        <p:spPr>
          <a:xfrm>
            <a:off x="6035040" y="8183879"/>
            <a:ext cx="6858000" cy="365760"/>
          </a:xfrm>
          <a:prstGeom prst="rect">
            <a:avLst/>
          </a:prstGeom>
          <a:noFill/>
        </p:spPr>
        <p:txBody>
          <a:bodyPr wrap="square" lIns="0" rIns="0" tIns="0" bIns="0" anchor="t">
            <a:spAutoFit/>
          </a:bodyPr>
          <a:lstStyle/>
          <a:p>
            <a:pPr algn="l"/>
            <a:r>
              <a:rPr sz="1300" b="0" i="0">
                <a:solidFill>
                  <a:srgbClr val="8A93A8"/>
                </a:solidFill>
                <a:latin typeface="Exo 2"/>
                <a:ea typeface="Exo 2"/>
                <a:cs typeface="Exo 2"/>
              </a:rPr>
              <a:t>Round 1 and Round 2 combined.</a:t>
            </a:r>
          </a:p>
        </p:txBody>
      </p:sp>
      <p:sp>
        <p:nvSpPr>
          <p:cNvPr id="32" name="Rectangle 31"/>
          <p:cNvSpPr/>
          <p:nvPr/>
        </p:nvSpPr>
        <p:spPr>
          <a:xfrm>
            <a:off x="13167360" y="3017520"/>
            <a:ext cx="4489704" cy="557784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395960" y="3246120"/>
            <a:ext cx="4114800" cy="365760"/>
          </a:xfrm>
          <a:prstGeom prst="rect">
            <a:avLst/>
          </a:prstGeom>
          <a:noFill/>
        </p:spPr>
        <p:txBody>
          <a:bodyPr wrap="square" lIns="0" rIns="0" tIns="0" bIns="0" anchor="t">
            <a:spAutoFit/>
          </a:bodyPr>
          <a:lstStyle/>
          <a:p>
            <a:pPr algn="l"/>
            <a:r>
              <a:rPr sz="1400" b="1" i="0">
                <a:solidFill>
                  <a:srgbClr val="3C61B6"/>
                </a:solidFill>
                <a:latin typeface="Exo 2 Bold"/>
                <a:ea typeface="Exo 2 Bold"/>
                <a:cs typeface="Exo 2 Bold"/>
              </a:rPr>
              <a:t>MINOR ISSUES, NEXT RELEASE</a:t>
            </a:r>
          </a:p>
        </p:txBody>
      </p:sp>
      <p:sp>
        <p:nvSpPr>
          <p:cNvPr id="34" name="TextBox 33"/>
          <p:cNvSpPr txBox="1"/>
          <p:nvPr/>
        </p:nvSpPr>
        <p:spPr>
          <a:xfrm>
            <a:off x="13395960" y="3749039"/>
            <a:ext cx="4069080" cy="4114800"/>
          </a:xfrm>
          <a:prstGeom prst="rect">
            <a:avLst/>
          </a:prstGeom>
          <a:noFill/>
        </p:spPr>
        <p:txBody>
          <a:bodyPr wrap="square" lIns="0" rIns="0" tIns="0" bIns="0" anchor="t">
            <a:spAutoFit/>
          </a:bodyPr>
          <a:lstStyle/>
          <a:p>
            <a:pPr algn="l">
              <a:spcAft>
                <a:spcPts val="900"/>
              </a:spcAft>
            </a:pPr>
            <a:r>
              <a:rPr sz="1500" b="1" i="0">
                <a:solidFill>
                  <a:srgbClr val="121C36"/>
                </a:solidFill>
                <a:latin typeface="Exo 2 Bold"/>
                <a:ea typeface="Exo 2 Bold"/>
                <a:cs typeface="Exo 2 Bold"/>
              </a:rPr>
              <a:t>1.  </a:t>
            </a:r>
            <a:r>
              <a:rPr sz="1500" b="0" i="0">
                <a:solidFill>
                  <a:srgbClr val="5A6A85"/>
                </a:solidFill>
                <a:latin typeface="Exo 2"/>
                <a:ea typeface="Exo 2"/>
                <a:cs typeface="Exo 2"/>
              </a:rPr>
              <a:t>Watchlist items disappear when the Shariah filter is on</a:t>
            </a:r>
          </a:p>
          <a:p>
            <a:pPr algn="l">
              <a:spcAft>
                <a:spcPts val="900"/>
              </a:spcAft>
            </a:pPr>
            <a:r>
              <a:rPr sz="1500" b="1" i="0">
                <a:solidFill>
                  <a:srgbClr val="121C36"/>
                </a:solidFill>
                <a:latin typeface="Exo 2 Bold"/>
                <a:ea typeface="Exo 2 Bold"/>
                <a:cs typeface="Exo 2 Bold"/>
              </a:rPr>
              <a:t>2.  </a:t>
            </a:r>
            <a:r>
              <a:rPr sz="1500" b="0" i="0">
                <a:solidFill>
                  <a:srgbClr val="5A6A85"/>
                </a:solidFill>
                <a:latin typeface="Exo 2"/>
                <a:ea typeface="Exo 2"/>
                <a:cs typeface="Exo 2"/>
              </a:rPr>
              <a:t>Instrument tree keeps loading on first open of the trade screen</a:t>
            </a:r>
          </a:p>
          <a:p>
            <a:pPr algn="l">
              <a:spcAft>
                <a:spcPts val="900"/>
              </a:spcAft>
            </a:pPr>
            <a:r>
              <a:rPr sz="1500" b="1" i="0">
                <a:solidFill>
                  <a:srgbClr val="121C36"/>
                </a:solidFill>
                <a:latin typeface="Exo 2 Bold"/>
                <a:ea typeface="Exo 2 Bold"/>
                <a:cs typeface="Exo 2 Bold"/>
              </a:rPr>
              <a:t>3.  </a:t>
            </a:r>
            <a:r>
              <a:rPr sz="1500" b="0" i="0">
                <a:solidFill>
                  <a:srgbClr val="5A6A85"/>
                </a:solidFill>
                <a:latin typeface="Exo 2"/>
                <a:ea typeface="Exo 2"/>
                <a:cs typeface="Exo 2"/>
              </a:rPr>
              <a:t>Withdrawal: beneficiary shows last name only</a:t>
            </a:r>
          </a:p>
          <a:p>
            <a:pPr algn="l">
              <a:spcAft>
                <a:spcPts val="900"/>
              </a:spcAft>
            </a:pPr>
            <a:r>
              <a:rPr sz="1500" b="1" i="0">
                <a:solidFill>
                  <a:srgbClr val="121C36"/>
                </a:solidFill>
                <a:latin typeface="Exo 2 Bold"/>
                <a:ea typeface="Exo 2 Bold"/>
                <a:cs typeface="Exo 2 Bold"/>
              </a:rPr>
              <a:t>4.  </a:t>
            </a:r>
            <a:r>
              <a:rPr sz="1500" b="0" i="0">
                <a:solidFill>
                  <a:srgbClr val="5A6A85"/>
                </a:solidFill>
                <a:latin typeface="Exo 2"/>
                <a:ea typeface="Exo 2"/>
                <a:cs typeface="Exo 2"/>
              </a:rPr>
              <a:t>Change display mode has no effect</a:t>
            </a:r>
          </a:p>
          <a:p>
            <a:pPr algn="l">
              <a:spcAft>
                <a:spcPts val="900"/>
              </a:spcAft>
            </a:pPr>
            <a:r>
              <a:rPr sz="1500" b="1" i="0">
                <a:solidFill>
                  <a:srgbClr val="121C36"/>
                </a:solidFill>
                <a:latin typeface="Exo 2 Bold"/>
                <a:ea typeface="Exo 2 Bold"/>
                <a:cs typeface="Exo 2 Bold"/>
              </a:rPr>
              <a:t>5.  </a:t>
            </a:r>
            <a:r>
              <a:rPr sz="1500" b="0" i="0">
                <a:solidFill>
                  <a:srgbClr val="5A6A85"/>
                </a:solidFill>
                <a:latin typeface="Exo 2"/>
                <a:ea typeface="Exo 2"/>
                <a:cs typeface="Exo 2"/>
              </a:rPr>
              <a:t>Arabic summary screen: daily P/L hard to see</a:t>
            </a:r>
          </a:p>
          <a:p>
            <a:pPr algn="l">
              <a:spcAft>
                <a:spcPts val="900"/>
              </a:spcAft>
            </a:pPr>
            <a:r>
              <a:rPr sz="1500" b="1" i="0">
                <a:solidFill>
                  <a:srgbClr val="121C36"/>
                </a:solidFill>
                <a:latin typeface="Exo 2 Bold"/>
                <a:ea typeface="Exo 2 Bold"/>
                <a:cs typeface="Exo 2 Bold"/>
              </a:rPr>
              <a:t>6.  </a:t>
            </a:r>
            <a:r>
              <a:rPr sz="1500" b="0" i="0">
                <a:solidFill>
                  <a:srgbClr val="5A6A85"/>
                </a:solidFill>
                <a:latin typeface="Exo 2"/>
                <a:ea typeface="Exo 2"/>
                <a:cs typeface="Exo 2"/>
              </a:rPr>
              <a:t>Exchange section should be hidden (USD base currency only)</a:t>
            </a:r>
          </a:p>
        </p:txBody>
      </p:sp>
      <p:sp>
        <p:nvSpPr>
          <p:cNvPr id="35" name="TextBox 34"/>
          <p:cNvSpPr txBox="1"/>
          <p:nvPr/>
        </p:nvSpPr>
        <p:spPr>
          <a:xfrm>
            <a:off x="13395960" y="8001000"/>
            <a:ext cx="4069080" cy="457200"/>
          </a:xfrm>
          <a:prstGeom prst="rect">
            <a:avLst/>
          </a:prstGeom>
          <a:noFill/>
        </p:spPr>
        <p:txBody>
          <a:bodyPr wrap="square" lIns="0" rIns="0" tIns="0" bIns="0" anchor="t">
            <a:spAutoFit/>
          </a:bodyPr>
          <a:lstStyle/>
          <a:p>
            <a:pPr algn="l"/>
            <a:r>
              <a:rPr sz="1500" b="1" i="0">
                <a:solidFill>
                  <a:srgbClr val="1E9E6B"/>
                </a:solidFill>
                <a:latin typeface="Exo 2 Bold"/>
                <a:ea typeface="Exo 2 Bold"/>
                <a:cs typeface="Exo 2 Bold"/>
              </a:rPr>
              <a:t>None of these block the release.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Helpdesk: Improvement Backlog</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10" name="TextBox 9"/>
          <p:cNvSpPr txBox="1"/>
          <p:nvPr/>
        </p:nvSpPr>
        <p:spPr>
          <a:xfrm>
            <a:off x="630936" y="1572768"/>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FEEDBACK FROM THE TEAMS SINCE GO-LIVE ON 17 SEP</a:t>
            </a:r>
          </a:p>
        </p:txBody>
      </p:sp>
      <p:sp>
        <p:nvSpPr>
          <p:cNvPr id="11" name="Rectangle 10"/>
          <p:cNvSpPr/>
          <p:nvPr/>
        </p:nvSpPr>
        <p:spPr>
          <a:xfrm>
            <a:off x="630936" y="2103120"/>
            <a:ext cx="3108960" cy="1298448"/>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30936" y="2103120"/>
            <a:ext cx="73152" cy="1298448"/>
          </a:xfrm>
          <a:prstGeom prst="rect">
            <a:avLst/>
          </a:prstGeom>
          <a:solidFill>
            <a:srgbClr val="12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212848"/>
            <a:ext cx="2743200" cy="685800"/>
          </a:xfrm>
          <a:prstGeom prst="rect">
            <a:avLst/>
          </a:prstGeom>
          <a:noFill/>
        </p:spPr>
        <p:txBody>
          <a:bodyPr wrap="square" lIns="0" rIns="0" tIns="0" bIns="0" anchor="t">
            <a:spAutoFit/>
          </a:bodyPr>
          <a:lstStyle/>
          <a:p>
            <a:pPr algn="l"/>
            <a:r>
              <a:rPr sz="3600" b="1" i="0">
                <a:solidFill>
                  <a:srgbClr val="121C36"/>
                </a:solidFill>
                <a:latin typeface="Exo 2 Bold"/>
                <a:ea typeface="Exo 2 Bold"/>
                <a:cs typeface="Exo 2 Bold"/>
              </a:rPr>
              <a:t>7</a:t>
            </a:r>
          </a:p>
        </p:txBody>
      </p:sp>
      <p:sp>
        <p:nvSpPr>
          <p:cNvPr id="14" name="TextBox 13"/>
          <p:cNvSpPr txBox="1"/>
          <p:nvPr/>
        </p:nvSpPr>
        <p:spPr>
          <a:xfrm>
            <a:off x="914400" y="2926079"/>
            <a:ext cx="2743200" cy="36576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Items logged</a:t>
            </a:r>
          </a:p>
        </p:txBody>
      </p:sp>
      <p:sp>
        <p:nvSpPr>
          <p:cNvPr id="15" name="Rectangle 14"/>
          <p:cNvSpPr/>
          <p:nvPr/>
        </p:nvSpPr>
        <p:spPr>
          <a:xfrm>
            <a:off x="630936" y="3584448"/>
            <a:ext cx="3108960" cy="1298448"/>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0936" y="3584448"/>
            <a:ext cx="73152" cy="1298448"/>
          </a:xfrm>
          <a:prstGeom prst="rect">
            <a:avLst/>
          </a:prstGeom>
          <a:solidFill>
            <a:srgbClr val="1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694176"/>
            <a:ext cx="2743200" cy="685800"/>
          </a:xfrm>
          <a:prstGeom prst="rect">
            <a:avLst/>
          </a:prstGeom>
          <a:noFill/>
        </p:spPr>
        <p:txBody>
          <a:bodyPr wrap="square" lIns="0" rIns="0" tIns="0" bIns="0" anchor="t">
            <a:spAutoFit/>
          </a:bodyPr>
          <a:lstStyle/>
          <a:p>
            <a:pPr algn="l"/>
            <a:r>
              <a:rPr sz="3600" b="1" i="0">
                <a:solidFill>
                  <a:srgbClr val="1E9E6B"/>
                </a:solidFill>
                <a:latin typeface="Exo 2 Bold"/>
                <a:ea typeface="Exo 2 Bold"/>
                <a:cs typeface="Exo 2 Bold"/>
              </a:rPr>
              <a:t>3</a:t>
            </a:r>
          </a:p>
        </p:txBody>
      </p:sp>
      <p:sp>
        <p:nvSpPr>
          <p:cNvPr id="18" name="TextBox 17"/>
          <p:cNvSpPr txBox="1"/>
          <p:nvPr/>
        </p:nvSpPr>
        <p:spPr>
          <a:xfrm>
            <a:off x="914400" y="4407408"/>
            <a:ext cx="2743200" cy="36576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Completed</a:t>
            </a:r>
          </a:p>
        </p:txBody>
      </p:sp>
      <p:sp>
        <p:nvSpPr>
          <p:cNvPr id="19" name="Rectangle 18"/>
          <p:cNvSpPr/>
          <p:nvPr/>
        </p:nvSpPr>
        <p:spPr>
          <a:xfrm>
            <a:off x="630936" y="5065776"/>
            <a:ext cx="3108960" cy="1298448"/>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0936" y="5065776"/>
            <a:ext cx="73152" cy="1298448"/>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5175504"/>
            <a:ext cx="2743200" cy="685800"/>
          </a:xfrm>
          <a:prstGeom prst="rect">
            <a:avLst/>
          </a:prstGeom>
          <a:noFill/>
        </p:spPr>
        <p:txBody>
          <a:bodyPr wrap="square" lIns="0" rIns="0" tIns="0" bIns="0" anchor="t">
            <a:spAutoFit/>
          </a:bodyPr>
          <a:lstStyle/>
          <a:p>
            <a:pPr algn="l"/>
            <a:r>
              <a:rPr sz="3600" b="1" i="0">
                <a:solidFill>
                  <a:srgbClr val="D98C1F"/>
                </a:solidFill>
                <a:latin typeface="Exo 2 Bold"/>
                <a:ea typeface="Exo 2 Bold"/>
                <a:cs typeface="Exo 2 Bold"/>
              </a:rPr>
              <a:t>1</a:t>
            </a:r>
          </a:p>
        </p:txBody>
      </p:sp>
      <p:sp>
        <p:nvSpPr>
          <p:cNvPr id="22" name="TextBox 21"/>
          <p:cNvSpPr txBox="1"/>
          <p:nvPr/>
        </p:nvSpPr>
        <p:spPr>
          <a:xfrm>
            <a:off x="914400" y="5888736"/>
            <a:ext cx="2743200" cy="36576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In progress</a:t>
            </a:r>
          </a:p>
        </p:txBody>
      </p:sp>
      <p:sp>
        <p:nvSpPr>
          <p:cNvPr id="23" name="Rectangle 22"/>
          <p:cNvSpPr/>
          <p:nvPr/>
        </p:nvSpPr>
        <p:spPr>
          <a:xfrm>
            <a:off x="630936" y="6547104"/>
            <a:ext cx="3108960" cy="1298448"/>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30936" y="6547104"/>
            <a:ext cx="73152" cy="1298448"/>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656832"/>
            <a:ext cx="2743200" cy="685800"/>
          </a:xfrm>
          <a:prstGeom prst="rect">
            <a:avLst/>
          </a:prstGeom>
          <a:noFill/>
        </p:spPr>
        <p:txBody>
          <a:bodyPr wrap="square" lIns="0" rIns="0" tIns="0" bIns="0" anchor="t">
            <a:spAutoFit/>
          </a:bodyPr>
          <a:lstStyle/>
          <a:p>
            <a:pPr algn="l"/>
            <a:r>
              <a:rPr sz="3600" b="1" i="0">
                <a:solidFill>
                  <a:srgbClr val="3C61B6"/>
                </a:solidFill>
                <a:latin typeface="Exo 2 Bold"/>
                <a:ea typeface="Exo 2 Bold"/>
                <a:cs typeface="Exo 2 Bold"/>
              </a:rPr>
              <a:t>3</a:t>
            </a:r>
          </a:p>
        </p:txBody>
      </p:sp>
      <p:sp>
        <p:nvSpPr>
          <p:cNvPr id="26" name="TextBox 25"/>
          <p:cNvSpPr txBox="1"/>
          <p:nvPr/>
        </p:nvSpPr>
        <p:spPr>
          <a:xfrm>
            <a:off x="914400" y="7370064"/>
            <a:ext cx="2743200" cy="36576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New</a:t>
            </a:r>
          </a:p>
        </p:txBody>
      </p:sp>
      <p:graphicFrame>
        <p:nvGraphicFramePr>
          <p:cNvPr id="27" name="Table 26"/>
          <p:cNvGraphicFramePr>
            <a:graphicFrameLocks noGrp="1"/>
          </p:cNvGraphicFramePr>
          <p:nvPr/>
        </p:nvGraphicFramePr>
        <p:xfrm>
          <a:off x="4069080" y="2103120"/>
          <a:ext cx="13587984" cy="5705856"/>
        </p:xfrm>
        <a:graphic>
          <a:graphicData uri="http://schemas.openxmlformats.org/drawingml/2006/table">
            <a:tbl>
              <a:tblPr firstRow="0" bandRow="0"/>
              <a:tblGrid>
                <a:gridCol w="9418320"/>
                <a:gridCol w="1737360"/>
                <a:gridCol w="2432304"/>
              </a:tblGrid>
              <a:tr h="713232">
                <a:tc>
                  <a:txBody>
                    <a:bodyPr wrap="square"/>
                    <a:lstStyle/>
                    <a:p>
                      <a:pPr algn="l"/>
                      <a:r>
                        <a:rPr sz="1500" b="1" i="0">
                          <a:solidFill>
                            <a:srgbClr val="FFFFFF"/>
                          </a:solidFill>
                          <a:latin typeface="Exo 2 Bold"/>
                          <a:ea typeface="Exo 2 Bold"/>
                          <a:cs typeface="Exo 2 Bold"/>
                        </a:rPr>
                        <a:t>Improvement</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Priority</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c>
                  <a:txBody>
                    <a:bodyPr wrap="square"/>
                    <a:lstStyle/>
                    <a:p>
                      <a:pPr algn="ctr"/>
                      <a:r>
                        <a:rPr sz="1500" b="1" i="0">
                          <a:solidFill>
                            <a:srgbClr val="FFFFFF"/>
                          </a:solidFill>
                          <a:latin typeface="Exo 2 Bold"/>
                          <a:ea typeface="Exo 2 Bold"/>
                          <a:cs typeface="Exo 2 Bold"/>
                        </a:rPr>
                        <a:t>Status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121C36"/>
                    </a:solidFill>
                  </a:tcPr>
                </a:tc>
              </a:tr>
              <a:tr h="713232">
                <a:tc>
                  <a:txBody>
                    <a:bodyPr wrap="square"/>
                    <a:lstStyle/>
                    <a:p>
                      <a:pPr algn="l"/>
                      <a:r>
                        <a:rPr sz="1500" b="0" i="0">
                          <a:solidFill>
                            <a:srgbClr val="5A6A85"/>
                          </a:solidFill>
                          <a:latin typeface="Exo 2"/>
                          <a:ea typeface="Exo 2"/>
                          <a:cs typeface="Exo 2"/>
                        </a:rPr>
                        <a:t>Standalone desktop app for Client Experience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Low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400" b="1" i="0">
                          <a:solidFill>
                            <a:srgbClr val="1E9E6B"/>
                          </a:solidFill>
                          <a:latin typeface="Exo 2 Bold"/>
                          <a:ea typeface="Exo 2 Bold"/>
                          <a:cs typeface="Exo 2 Bold"/>
                        </a:rPr>
                        <a:t>DONE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13232">
                <a:tc>
                  <a:txBody>
                    <a:bodyPr wrap="square"/>
                    <a:lstStyle/>
                    <a:p>
                      <a:pPr algn="l"/>
                      <a:r>
                        <a:rPr sz="1500" b="0" i="0">
                          <a:solidFill>
                            <a:srgbClr val="5A6A85"/>
                          </a:solidFill>
                          <a:latin typeface="Exo 2"/>
                          <a:ea typeface="Exo 2"/>
                          <a:cs typeface="Exo 2"/>
                        </a:rPr>
                        <a:t>Auto-acknowledgement email with ticket ID</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Medium</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400" b="1" i="0">
                          <a:solidFill>
                            <a:srgbClr val="1E9E6B"/>
                          </a:solidFill>
                          <a:latin typeface="Exo 2 Bold"/>
                          <a:ea typeface="Exo 2 Bold"/>
                          <a:cs typeface="Exo 2 Bold"/>
                        </a:rPr>
                        <a:t>DONE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13232">
                <a:tc>
                  <a:txBody>
                    <a:bodyPr wrap="square"/>
                    <a:lstStyle/>
                    <a:p>
                      <a:pPr algn="l"/>
                      <a:r>
                        <a:rPr sz="1500" b="0" i="0">
                          <a:solidFill>
                            <a:srgbClr val="5A6A85"/>
                          </a:solidFill>
                          <a:latin typeface="Exo 2"/>
                          <a:ea typeface="Exo 2"/>
                          <a:cs typeface="Exo 2"/>
                        </a:rPr>
                        <a:t>Notify Client Experience of new tickets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Medium</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400" b="1" i="0">
                          <a:solidFill>
                            <a:srgbClr val="1E9E6B"/>
                          </a:solidFill>
                          <a:latin typeface="Exo 2 Bold"/>
                          <a:ea typeface="Exo 2 Bold"/>
                          <a:cs typeface="Exo 2 Bold"/>
                        </a:rPr>
                        <a:t>DONE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6F5EE"/>
                    </a:solidFill>
                  </a:tcPr>
                </a:tc>
              </a:tr>
              <a:tr h="713232">
                <a:tc>
                  <a:txBody>
                    <a:bodyPr wrap="square"/>
                    <a:lstStyle/>
                    <a:p>
                      <a:pPr algn="l"/>
                      <a:r>
                        <a:rPr sz="1500" b="0" i="0">
                          <a:solidFill>
                            <a:srgbClr val="5A6A85"/>
                          </a:solidFill>
                          <a:latin typeface="Exo 2"/>
                          <a:ea typeface="Exo 2"/>
                          <a:cs typeface="Exo 2"/>
                        </a:rPr>
                        <a:t>Pause SLA timers on weekends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Low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400" b="1" i="0">
                          <a:solidFill>
                            <a:srgbClr val="D98C1F"/>
                          </a:solidFill>
                          <a:latin typeface="Exo 2 Bold"/>
                          <a:ea typeface="Exo 2 Bold"/>
                          <a:cs typeface="Exo 2 Bold"/>
                        </a:rPr>
                        <a:t>IN PROGRESS</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DF3E4"/>
                    </a:solidFill>
                  </a:tcPr>
                </a:tc>
              </a:tr>
              <a:tr h="713232">
                <a:tc>
                  <a:txBody>
                    <a:bodyPr wrap="square"/>
                    <a:lstStyle/>
                    <a:p>
                      <a:pPr algn="l"/>
                      <a:r>
                        <a:rPr sz="1500" b="0" i="0">
                          <a:solidFill>
                            <a:srgbClr val="5A6A85"/>
                          </a:solidFill>
                          <a:latin typeface="Exo 2"/>
                          <a:ea typeface="Exo 2"/>
                          <a:cs typeface="Exo 2"/>
                        </a:rPr>
                        <a:t>Knowledge base linked to the eMYAA support page</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Low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400" b="1" i="0">
                          <a:solidFill>
                            <a:srgbClr val="3C61B6"/>
                          </a:solidFill>
                          <a:latin typeface="Exo 2 Bold"/>
                          <a:ea typeface="Exo 2 Bold"/>
                          <a:cs typeface="Exo 2 Bold"/>
                        </a:rPr>
                        <a:t>NEW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8EEFA"/>
                    </a:solidFill>
                  </a:tcPr>
                </a:tc>
              </a:tr>
              <a:tr h="713232">
                <a:tc>
                  <a:txBody>
                    <a:bodyPr wrap="square"/>
                    <a:lstStyle/>
                    <a:p>
                      <a:pPr algn="l"/>
                      <a:r>
                        <a:rPr sz="1500" b="0" i="0">
                          <a:solidFill>
                            <a:srgbClr val="5A6A85"/>
                          </a:solidFill>
                          <a:latin typeface="Exo 2"/>
                          <a:ea typeface="Exo 2"/>
                          <a:cs typeface="Exo 2"/>
                        </a:rPr>
                        <a:t>Create a ticket when a chatbot user picks "Contact a Human"</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500" b="0" i="0">
                          <a:solidFill>
                            <a:srgbClr val="5A6A85"/>
                          </a:solidFill>
                          <a:latin typeface="Exo 2"/>
                          <a:ea typeface="Exo 2"/>
                          <a:cs typeface="Exo 2"/>
                        </a:rPr>
                        <a:t>Low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7F8FC"/>
                    </a:solidFill>
                  </a:tcPr>
                </a:tc>
                <a:tc>
                  <a:txBody>
                    <a:bodyPr wrap="square"/>
                    <a:lstStyle/>
                    <a:p>
                      <a:pPr algn="ctr"/>
                      <a:r>
                        <a:rPr sz="1400" b="1" i="0">
                          <a:solidFill>
                            <a:srgbClr val="3C61B6"/>
                          </a:solidFill>
                          <a:latin typeface="Exo 2 Bold"/>
                          <a:ea typeface="Exo 2 Bold"/>
                          <a:cs typeface="Exo 2 Bold"/>
                        </a:rPr>
                        <a:t>NEW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8EEFA"/>
                    </a:solidFill>
                  </a:tcPr>
                </a:tc>
              </a:tr>
              <a:tr h="713232">
                <a:tc>
                  <a:txBody>
                    <a:bodyPr wrap="square"/>
                    <a:lstStyle/>
                    <a:p>
                      <a:pPr algn="l"/>
                      <a:r>
                        <a:rPr sz="1500" b="0" i="0">
                          <a:solidFill>
                            <a:srgbClr val="5A6A85"/>
                          </a:solidFill>
                          <a:latin typeface="Exo 2"/>
                          <a:ea typeface="Exo 2"/>
                          <a:cs typeface="Exo 2"/>
                        </a:rPr>
                        <a:t>CRM link: create Helpdesk accounts for new users automatically</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500" b="0" i="0">
                          <a:solidFill>
                            <a:srgbClr val="5A6A85"/>
                          </a:solidFill>
                          <a:latin typeface="Exo 2"/>
                          <a:ea typeface="Exo 2"/>
                          <a:cs typeface="Exo 2"/>
                        </a:rPr>
                        <a:t>Low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FFFFFF"/>
                    </a:solidFill>
                  </a:tcPr>
                </a:tc>
                <a:tc>
                  <a:txBody>
                    <a:bodyPr wrap="square"/>
                    <a:lstStyle/>
                    <a:p>
                      <a:pPr algn="ctr"/>
                      <a:r>
                        <a:rPr sz="1400" b="1" i="0">
                          <a:solidFill>
                            <a:srgbClr val="3C61B6"/>
                          </a:solidFill>
                          <a:latin typeface="Exo 2 Bold"/>
                          <a:ea typeface="Exo 2 Bold"/>
                          <a:cs typeface="Exo 2 Bold"/>
                        </a:rPr>
                        <a:t>NEW</a:t>
                      </a:r>
                    </a:p>
                  </a:txBody>
                  <a:tcPr marL="128016" marR="128016" marT="54864" marB="54864" anchor="ctr">
                    <a:lnL w="6350" cap="flat" cmpd="sng" algn="ctr">
                      <a:solidFill>
                        <a:srgbClr val="C5CED8"/>
                      </a:solidFill>
                    </a:lnL>
                    <a:lnR w="6350" cap="flat" cmpd="sng" algn="ctr">
                      <a:solidFill>
                        <a:srgbClr val="C5CED8"/>
                      </a:solidFill>
                    </a:lnR>
                    <a:lnT w="6350" cap="flat" cmpd="sng" algn="ctr">
                      <a:solidFill>
                        <a:srgbClr val="C5CED8"/>
                      </a:solidFill>
                    </a:lnT>
                    <a:lnB w="6350" cap="flat" cmpd="sng" algn="ctr">
                      <a:solidFill>
                        <a:srgbClr val="C5CED8"/>
                      </a:solidFill>
                    </a:lnB>
                    <a:solidFill>
                      <a:srgbClr val="E8EEFA"/>
                    </a:solidFill>
                  </a:tcPr>
                </a:tc>
              </a:tr>
            </a:tbl>
          </a:graphicData>
        </a:graphic>
      </p:graphicFrame>
      <p:sp>
        <p:nvSpPr>
          <p:cNvPr id="28" name="Rectangle 27"/>
          <p:cNvSpPr/>
          <p:nvPr/>
        </p:nvSpPr>
        <p:spPr>
          <a:xfrm>
            <a:off x="4069080" y="8092440"/>
            <a:ext cx="13587984" cy="685800"/>
          </a:xfrm>
          <a:prstGeom prst="rect">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297680" y="8092440"/>
            <a:ext cx="13167360" cy="685800"/>
          </a:xfrm>
          <a:prstGeom prst="rect">
            <a:avLst/>
          </a:prstGeom>
          <a:noFill/>
        </p:spPr>
        <p:txBody>
          <a:bodyPr wrap="square" lIns="0" rIns="0" tIns="0" bIns="0" anchor="ctr">
            <a:spAutoFit/>
          </a:bodyPr>
          <a:lstStyle/>
          <a:p>
            <a:pPr algn="l"/>
            <a:r>
              <a:rPr sz="1500" b="0" i="0">
                <a:solidFill>
                  <a:srgbClr val="1B1B3A"/>
                </a:solidFill>
                <a:latin typeface="Exo 2"/>
                <a:ea typeface="Exo 2"/>
                <a:cs typeface="Exo 2"/>
              </a:rPr>
              <a:t>The weekend SLA pause is being built after an SLA breach on a client query raised on a Thursday.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Client Experience Overview</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10" name="TextBox 9"/>
          <p:cNvSpPr txBox="1"/>
          <p:nvPr/>
        </p:nvSpPr>
        <p:spPr>
          <a:xfrm>
            <a:off x="630936" y="1572768"/>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SINCE THE LAST CEO UPDATE  |  20 SEP TO 1 OCT 2026</a:t>
            </a:r>
          </a:p>
        </p:txBody>
      </p:sp>
      <p:sp>
        <p:nvSpPr>
          <p:cNvPr id="11" name="Rectangle 10"/>
          <p:cNvSpPr/>
          <p:nvPr/>
        </p:nvSpPr>
        <p:spPr>
          <a:xfrm>
            <a:off x="630936" y="2057400"/>
            <a:ext cx="2670048" cy="1600200"/>
          </a:xfrm>
          <a:prstGeom prst="rect">
            <a:avLst/>
          </a:prstGeom>
          <a:gradFill rotWithShape="1">
            <a:gsLst>
              <a:gs pos="0">
                <a:srgbClr val="2B4AA0"/>
              </a:gs>
              <a:gs pos="100000">
                <a:srgbClr val="121C3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0936" y="2240280"/>
            <a:ext cx="2670048" cy="731520"/>
          </a:xfrm>
          <a:prstGeom prst="rect">
            <a:avLst/>
          </a:prstGeom>
          <a:noFill/>
        </p:spPr>
        <p:txBody>
          <a:bodyPr wrap="square" lIns="0" rIns="0" tIns="0" bIns="0" anchor="t">
            <a:spAutoFit/>
          </a:bodyPr>
          <a:lstStyle/>
          <a:p>
            <a:pPr algn="ctr"/>
            <a:r>
              <a:rPr sz="3600" b="1" i="0">
                <a:solidFill>
                  <a:srgbClr val="FFFFFF"/>
                </a:solidFill>
                <a:latin typeface="Exo 2 Bold"/>
                <a:ea typeface="Exo 2 Bold"/>
                <a:cs typeface="Exo 2 Bold"/>
              </a:rPr>
              <a:t>21</a:t>
            </a:r>
          </a:p>
        </p:txBody>
      </p:sp>
      <p:sp>
        <p:nvSpPr>
          <p:cNvPr id="13" name="TextBox 12"/>
          <p:cNvSpPr txBox="1"/>
          <p:nvPr/>
        </p:nvSpPr>
        <p:spPr>
          <a:xfrm>
            <a:off x="768096" y="3017520"/>
            <a:ext cx="2395728" cy="548640"/>
          </a:xfrm>
          <a:prstGeom prst="rect">
            <a:avLst/>
          </a:prstGeom>
          <a:noFill/>
        </p:spPr>
        <p:txBody>
          <a:bodyPr wrap="square" lIns="0" rIns="0" tIns="0" bIns="0" anchor="t">
            <a:spAutoFit/>
          </a:bodyPr>
          <a:lstStyle/>
          <a:p>
            <a:pPr algn="ctr"/>
            <a:r>
              <a:rPr sz="1400" b="0" i="0">
                <a:solidFill>
                  <a:srgbClr val="FFFFFF"/>
                </a:solidFill>
                <a:latin typeface="Exo 2"/>
                <a:ea typeface="Exo 2"/>
                <a:cs typeface="Exo 2"/>
              </a:rPr>
              <a:t>Clients called</a:t>
            </a:r>
          </a:p>
        </p:txBody>
      </p:sp>
      <p:sp>
        <p:nvSpPr>
          <p:cNvPr id="14" name="Rectangle 13"/>
          <p:cNvSpPr/>
          <p:nvPr/>
        </p:nvSpPr>
        <p:spPr>
          <a:xfrm>
            <a:off x="3502152" y="2057400"/>
            <a:ext cx="2670048" cy="1600200"/>
          </a:xfrm>
          <a:prstGeom prst="rect">
            <a:avLst/>
          </a:prstGeom>
          <a:gradFill rotWithShape="1">
            <a:gsLst>
              <a:gs pos="0">
                <a:srgbClr val="2B4AA0"/>
              </a:gs>
              <a:gs pos="100000">
                <a:srgbClr val="121C3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02152" y="2240280"/>
            <a:ext cx="2670048" cy="731520"/>
          </a:xfrm>
          <a:prstGeom prst="rect">
            <a:avLst/>
          </a:prstGeom>
          <a:noFill/>
        </p:spPr>
        <p:txBody>
          <a:bodyPr wrap="square" lIns="0" rIns="0" tIns="0" bIns="0" anchor="t">
            <a:spAutoFit/>
          </a:bodyPr>
          <a:lstStyle/>
          <a:p>
            <a:pPr algn="ctr"/>
            <a:r>
              <a:rPr sz="3600" b="1" i="0">
                <a:solidFill>
                  <a:srgbClr val="FFFFFF"/>
                </a:solidFill>
                <a:latin typeface="Exo 2 Bold"/>
                <a:ea typeface="Exo 2 Bold"/>
                <a:cs typeface="Exo 2 Bold"/>
              </a:rPr>
              <a:t>72</a:t>
            </a:r>
          </a:p>
        </p:txBody>
      </p:sp>
      <p:sp>
        <p:nvSpPr>
          <p:cNvPr id="16" name="TextBox 15"/>
          <p:cNvSpPr txBox="1"/>
          <p:nvPr/>
        </p:nvSpPr>
        <p:spPr>
          <a:xfrm>
            <a:off x="3639312" y="3017520"/>
            <a:ext cx="2395728" cy="548640"/>
          </a:xfrm>
          <a:prstGeom prst="rect">
            <a:avLst/>
          </a:prstGeom>
          <a:noFill/>
        </p:spPr>
        <p:txBody>
          <a:bodyPr wrap="square" lIns="0" rIns="0" tIns="0" bIns="0" anchor="t">
            <a:spAutoFit/>
          </a:bodyPr>
          <a:lstStyle/>
          <a:p>
            <a:pPr algn="ctr"/>
            <a:r>
              <a:rPr sz="1400" b="0" i="0">
                <a:solidFill>
                  <a:srgbClr val="FFFFFF"/>
                </a:solidFill>
                <a:latin typeface="Exo 2"/>
                <a:ea typeface="Exo 2"/>
                <a:cs typeface="Exo 2"/>
              </a:rPr>
              <a:t>Clients emailed</a:t>
            </a:r>
          </a:p>
        </p:txBody>
      </p:sp>
      <p:sp>
        <p:nvSpPr>
          <p:cNvPr id="17" name="Rectangle 16"/>
          <p:cNvSpPr/>
          <p:nvPr/>
        </p:nvSpPr>
        <p:spPr>
          <a:xfrm>
            <a:off x="6373368" y="2057400"/>
            <a:ext cx="2670048" cy="1600200"/>
          </a:xfrm>
          <a:prstGeom prst="rect">
            <a:avLst/>
          </a:prstGeom>
          <a:gradFill rotWithShape="1">
            <a:gsLst>
              <a:gs pos="0">
                <a:srgbClr val="2B4AA0"/>
              </a:gs>
              <a:gs pos="100000">
                <a:srgbClr val="121C3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73368" y="2240280"/>
            <a:ext cx="2670048" cy="731520"/>
          </a:xfrm>
          <a:prstGeom prst="rect">
            <a:avLst/>
          </a:prstGeom>
          <a:noFill/>
        </p:spPr>
        <p:txBody>
          <a:bodyPr wrap="square" lIns="0" rIns="0" tIns="0" bIns="0" anchor="t">
            <a:spAutoFit/>
          </a:bodyPr>
          <a:lstStyle/>
          <a:p>
            <a:pPr algn="ctr"/>
            <a:r>
              <a:rPr sz="3600" b="1" i="0">
                <a:solidFill>
                  <a:srgbClr val="FFFFFF"/>
                </a:solidFill>
                <a:latin typeface="Exo 2 Bold"/>
                <a:ea typeface="Exo 2 Bold"/>
                <a:cs typeface="Exo 2 Bold"/>
              </a:rPr>
              <a:t>4</a:t>
            </a:r>
          </a:p>
        </p:txBody>
      </p:sp>
      <p:sp>
        <p:nvSpPr>
          <p:cNvPr id="19" name="TextBox 18"/>
          <p:cNvSpPr txBox="1"/>
          <p:nvPr/>
        </p:nvSpPr>
        <p:spPr>
          <a:xfrm>
            <a:off x="6510528" y="3017520"/>
            <a:ext cx="2395728" cy="548640"/>
          </a:xfrm>
          <a:prstGeom prst="rect">
            <a:avLst/>
          </a:prstGeom>
          <a:noFill/>
        </p:spPr>
        <p:txBody>
          <a:bodyPr wrap="square" lIns="0" rIns="0" tIns="0" bIns="0" anchor="t">
            <a:spAutoFit/>
          </a:bodyPr>
          <a:lstStyle/>
          <a:p>
            <a:pPr algn="ctr"/>
            <a:r>
              <a:rPr sz="1400" b="0" i="0">
                <a:solidFill>
                  <a:srgbClr val="FFFFFF"/>
                </a:solidFill>
                <a:latin typeface="Exo 2"/>
                <a:ea typeface="Exo 2"/>
                <a:cs typeface="Exo 2"/>
              </a:rPr>
              <a:t>WhatsApp clients</a:t>
            </a:r>
          </a:p>
        </p:txBody>
      </p:sp>
      <p:sp>
        <p:nvSpPr>
          <p:cNvPr id="20" name="Rectangle 19"/>
          <p:cNvSpPr/>
          <p:nvPr/>
        </p:nvSpPr>
        <p:spPr>
          <a:xfrm>
            <a:off x="9244584" y="2057400"/>
            <a:ext cx="2670048" cy="1600200"/>
          </a:xfrm>
          <a:prstGeom prst="rect">
            <a:avLst/>
          </a:prstGeom>
          <a:gradFill rotWithShape="1">
            <a:gsLst>
              <a:gs pos="0">
                <a:srgbClr val="2B4AA0"/>
              </a:gs>
              <a:gs pos="100000">
                <a:srgbClr val="121C3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244584" y="2240280"/>
            <a:ext cx="2670048" cy="731520"/>
          </a:xfrm>
          <a:prstGeom prst="rect">
            <a:avLst/>
          </a:prstGeom>
          <a:noFill/>
        </p:spPr>
        <p:txBody>
          <a:bodyPr wrap="square" lIns="0" rIns="0" tIns="0" bIns="0" anchor="t">
            <a:spAutoFit/>
          </a:bodyPr>
          <a:lstStyle/>
          <a:p>
            <a:pPr algn="ctr"/>
            <a:r>
              <a:rPr sz="3600" b="1" i="0">
                <a:solidFill>
                  <a:srgbClr val="4ADE9A"/>
                </a:solidFill>
                <a:latin typeface="Exo 2 Bold"/>
                <a:ea typeface="Exo 2 Bold"/>
                <a:cs typeface="Exo 2 Bold"/>
              </a:rPr>
              <a:t>6</a:t>
            </a:r>
          </a:p>
        </p:txBody>
      </p:sp>
      <p:sp>
        <p:nvSpPr>
          <p:cNvPr id="22" name="TextBox 21"/>
          <p:cNvSpPr txBox="1"/>
          <p:nvPr/>
        </p:nvSpPr>
        <p:spPr>
          <a:xfrm>
            <a:off x="9381744" y="3017520"/>
            <a:ext cx="2395728" cy="548640"/>
          </a:xfrm>
          <a:prstGeom prst="rect">
            <a:avLst/>
          </a:prstGeom>
          <a:noFill/>
        </p:spPr>
        <p:txBody>
          <a:bodyPr wrap="square" lIns="0" rIns="0" tIns="0" bIns="0" anchor="t">
            <a:spAutoFit/>
          </a:bodyPr>
          <a:lstStyle/>
          <a:p>
            <a:pPr algn="ctr"/>
            <a:r>
              <a:rPr sz="1400" b="0" i="0">
                <a:solidFill>
                  <a:srgbClr val="FFFFFF"/>
                </a:solidFill>
                <a:latin typeface="Exo 2"/>
                <a:ea typeface="Exo 2"/>
                <a:cs typeface="Exo 2"/>
              </a:rPr>
              <a:t>Completed onboarding</a:t>
            </a:r>
          </a:p>
        </p:txBody>
      </p:sp>
      <p:sp>
        <p:nvSpPr>
          <p:cNvPr id="23" name="Rectangle 22"/>
          <p:cNvSpPr/>
          <p:nvPr/>
        </p:nvSpPr>
        <p:spPr>
          <a:xfrm>
            <a:off x="12115800" y="2057400"/>
            <a:ext cx="2670048" cy="1600200"/>
          </a:xfrm>
          <a:prstGeom prst="rect">
            <a:avLst/>
          </a:prstGeom>
          <a:gradFill rotWithShape="1">
            <a:gsLst>
              <a:gs pos="0">
                <a:srgbClr val="2B4AA0"/>
              </a:gs>
              <a:gs pos="100000">
                <a:srgbClr val="121C3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115800" y="2240280"/>
            <a:ext cx="2670048" cy="731520"/>
          </a:xfrm>
          <a:prstGeom prst="rect">
            <a:avLst/>
          </a:prstGeom>
          <a:noFill/>
        </p:spPr>
        <p:txBody>
          <a:bodyPr wrap="square" lIns="0" rIns="0" tIns="0" bIns="0" anchor="t">
            <a:spAutoFit/>
          </a:bodyPr>
          <a:lstStyle/>
          <a:p>
            <a:pPr algn="ctr"/>
            <a:r>
              <a:rPr sz="3600" b="1" i="0">
                <a:solidFill>
                  <a:srgbClr val="FF7A6B"/>
                </a:solidFill>
                <a:latin typeface="Exo 2 Bold"/>
                <a:ea typeface="Exo 2 Bold"/>
                <a:cs typeface="Exo 2 Bold"/>
              </a:rPr>
              <a:t>15</a:t>
            </a:r>
          </a:p>
        </p:txBody>
      </p:sp>
      <p:sp>
        <p:nvSpPr>
          <p:cNvPr id="25" name="TextBox 24"/>
          <p:cNvSpPr txBox="1"/>
          <p:nvPr/>
        </p:nvSpPr>
        <p:spPr>
          <a:xfrm>
            <a:off x="12252960" y="3017520"/>
            <a:ext cx="2395728" cy="548640"/>
          </a:xfrm>
          <a:prstGeom prst="rect">
            <a:avLst/>
          </a:prstGeom>
          <a:noFill/>
        </p:spPr>
        <p:txBody>
          <a:bodyPr wrap="square" lIns="0" rIns="0" tIns="0" bIns="0" anchor="t">
            <a:spAutoFit/>
          </a:bodyPr>
          <a:lstStyle/>
          <a:p>
            <a:pPr algn="ctr"/>
            <a:r>
              <a:rPr sz="1400" b="0" i="0">
                <a:solidFill>
                  <a:srgbClr val="FFFFFF"/>
                </a:solidFill>
                <a:latin typeface="Exo 2"/>
                <a:ea typeface="Exo 2"/>
                <a:cs typeface="Exo 2"/>
              </a:rPr>
              <a:t>Still pending</a:t>
            </a:r>
          </a:p>
        </p:txBody>
      </p:sp>
      <p:sp>
        <p:nvSpPr>
          <p:cNvPr id="26" name="Rectangle 25"/>
          <p:cNvSpPr/>
          <p:nvPr/>
        </p:nvSpPr>
        <p:spPr>
          <a:xfrm>
            <a:off x="14987016" y="2057400"/>
            <a:ext cx="2670048" cy="1600200"/>
          </a:xfrm>
          <a:prstGeom prst="rect">
            <a:avLst/>
          </a:prstGeom>
          <a:gradFill rotWithShape="1">
            <a:gsLst>
              <a:gs pos="0">
                <a:srgbClr val="2B4AA0"/>
              </a:gs>
              <a:gs pos="100000">
                <a:srgbClr val="121C3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4987016" y="2240280"/>
            <a:ext cx="2670048" cy="731520"/>
          </a:xfrm>
          <a:prstGeom prst="rect">
            <a:avLst/>
          </a:prstGeom>
          <a:noFill/>
        </p:spPr>
        <p:txBody>
          <a:bodyPr wrap="square" lIns="0" rIns="0" tIns="0" bIns="0" anchor="t">
            <a:spAutoFit/>
          </a:bodyPr>
          <a:lstStyle/>
          <a:p>
            <a:pPr algn="ctr"/>
            <a:r>
              <a:rPr sz="3600" b="1" i="0">
                <a:solidFill>
                  <a:srgbClr val="4ADE9A"/>
                </a:solidFill>
                <a:latin typeface="Exo 2 Bold"/>
                <a:ea typeface="Exo 2 Bold"/>
                <a:cs typeface="Exo 2 Bold"/>
              </a:rPr>
              <a:t>28.6%</a:t>
            </a:r>
          </a:p>
        </p:txBody>
      </p:sp>
      <p:sp>
        <p:nvSpPr>
          <p:cNvPr id="28" name="TextBox 27"/>
          <p:cNvSpPr txBox="1"/>
          <p:nvPr/>
        </p:nvSpPr>
        <p:spPr>
          <a:xfrm>
            <a:off x="15124176" y="3017520"/>
            <a:ext cx="2395728" cy="548640"/>
          </a:xfrm>
          <a:prstGeom prst="rect">
            <a:avLst/>
          </a:prstGeom>
          <a:noFill/>
        </p:spPr>
        <p:txBody>
          <a:bodyPr wrap="square" lIns="0" rIns="0" tIns="0" bIns="0" anchor="t">
            <a:spAutoFit/>
          </a:bodyPr>
          <a:lstStyle/>
          <a:p>
            <a:pPr algn="ctr"/>
            <a:r>
              <a:rPr sz="1400" b="0" i="0">
                <a:solidFill>
                  <a:srgbClr val="FFFFFF"/>
                </a:solidFill>
                <a:latin typeface="Exo 2"/>
                <a:ea typeface="Exo 2"/>
                <a:cs typeface="Exo 2"/>
              </a:rPr>
              <a:t>Conversion (of clients called)</a:t>
            </a:r>
          </a:p>
        </p:txBody>
      </p:sp>
      <p:sp>
        <p:nvSpPr>
          <p:cNvPr id="29" name="TextBox 28"/>
          <p:cNvSpPr txBox="1"/>
          <p:nvPr/>
        </p:nvSpPr>
        <p:spPr>
          <a:xfrm>
            <a:off x="630936" y="3977639"/>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CLIENTS CALLED, BY WHERE THEY ARE NOW</a:t>
            </a:r>
          </a:p>
        </p:txBody>
      </p:sp>
      <p:sp>
        <p:nvSpPr>
          <p:cNvPr id="30" name="Rectangle 29"/>
          <p:cNvSpPr/>
          <p:nvPr/>
        </p:nvSpPr>
        <p:spPr>
          <a:xfrm>
            <a:off x="630936" y="4389120"/>
            <a:ext cx="4864608" cy="502920"/>
          </a:xfrm>
          <a:prstGeom prst="rect">
            <a:avLst/>
          </a:prstGeom>
          <a:solidFill>
            <a:srgbClr val="1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0936" y="4389120"/>
            <a:ext cx="4864608" cy="502920"/>
          </a:xfrm>
          <a:prstGeom prst="rect">
            <a:avLst/>
          </a:prstGeom>
          <a:noFill/>
        </p:spPr>
        <p:txBody>
          <a:bodyPr wrap="square" lIns="0" rIns="0" tIns="0" bIns="0" anchor="ctr">
            <a:spAutoFit/>
          </a:bodyPr>
          <a:lstStyle/>
          <a:p>
            <a:pPr algn="ctr"/>
            <a:r>
              <a:rPr sz="1400" b="1" i="0">
                <a:solidFill>
                  <a:srgbClr val="FFFFFF"/>
                </a:solidFill>
                <a:latin typeface="Exo 2 Bold"/>
                <a:ea typeface="Exo 2 Bold"/>
                <a:cs typeface="Exo 2 Bold"/>
              </a:rPr>
              <a:t>Onboarded  6</a:t>
            </a:r>
          </a:p>
        </p:txBody>
      </p:sp>
      <p:sp>
        <p:nvSpPr>
          <p:cNvPr id="32" name="Rectangle 31"/>
          <p:cNvSpPr/>
          <p:nvPr/>
        </p:nvSpPr>
        <p:spPr>
          <a:xfrm>
            <a:off x="5495544" y="4389120"/>
            <a:ext cx="8918448" cy="5029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95544" y="4389120"/>
            <a:ext cx="8918448" cy="502920"/>
          </a:xfrm>
          <a:prstGeom prst="rect">
            <a:avLst/>
          </a:prstGeom>
          <a:noFill/>
        </p:spPr>
        <p:txBody>
          <a:bodyPr wrap="square" lIns="0" rIns="0" tIns="0" bIns="0" anchor="ctr">
            <a:spAutoFit/>
          </a:bodyPr>
          <a:lstStyle/>
          <a:p>
            <a:pPr algn="ctr"/>
            <a:r>
              <a:rPr sz="1400" b="1" i="0">
                <a:solidFill>
                  <a:srgbClr val="FFFFFF"/>
                </a:solidFill>
                <a:latin typeface="Exo 2 Bold"/>
                <a:ea typeface="Exo 2 Bold"/>
                <a:cs typeface="Exo 2 Bold"/>
              </a:rPr>
              <a:t>Not onboarded  11</a:t>
            </a:r>
          </a:p>
        </p:txBody>
      </p:sp>
      <p:sp>
        <p:nvSpPr>
          <p:cNvPr id="34" name="Rectangle 33"/>
          <p:cNvSpPr/>
          <p:nvPr/>
        </p:nvSpPr>
        <p:spPr>
          <a:xfrm>
            <a:off x="14413992" y="4389120"/>
            <a:ext cx="3243072" cy="502920"/>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4413992" y="4389120"/>
            <a:ext cx="3243072" cy="502920"/>
          </a:xfrm>
          <a:prstGeom prst="rect">
            <a:avLst/>
          </a:prstGeom>
          <a:noFill/>
        </p:spPr>
        <p:txBody>
          <a:bodyPr wrap="square" lIns="0" rIns="0" tIns="0" bIns="0" anchor="ctr">
            <a:spAutoFit/>
          </a:bodyPr>
          <a:lstStyle/>
          <a:p>
            <a:pPr algn="ctr"/>
            <a:r>
              <a:rPr sz="1400" b="1" i="0">
                <a:solidFill>
                  <a:srgbClr val="FFFFFF"/>
                </a:solidFill>
                <a:latin typeface="Exo 2 Bold"/>
                <a:ea typeface="Exo 2 Bold"/>
                <a:cs typeface="Exo 2 Bold"/>
              </a:rPr>
              <a:t>Funding gap  4</a:t>
            </a:r>
          </a:p>
        </p:txBody>
      </p:sp>
      <p:sp>
        <p:nvSpPr>
          <p:cNvPr id="36" name="Rectangle 35"/>
          <p:cNvSpPr/>
          <p:nvPr/>
        </p:nvSpPr>
        <p:spPr>
          <a:xfrm>
            <a:off x="630936" y="5120640"/>
            <a:ext cx="5492496" cy="141732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30936" y="5120640"/>
            <a:ext cx="73152" cy="1417320"/>
          </a:xfrm>
          <a:prstGeom prst="rect">
            <a:avLst/>
          </a:prstGeom>
          <a:solidFill>
            <a:srgbClr val="1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50976" y="5230368"/>
            <a:ext cx="1463040" cy="731520"/>
          </a:xfrm>
          <a:prstGeom prst="rect">
            <a:avLst/>
          </a:prstGeom>
          <a:noFill/>
        </p:spPr>
        <p:txBody>
          <a:bodyPr wrap="square" lIns="0" rIns="0" tIns="0" bIns="0" anchor="t">
            <a:spAutoFit/>
          </a:bodyPr>
          <a:lstStyle/>
          <a:p>
            <a:pPr algn="l"/>
            <a:r>
              <a:rPr sz="3600" b="1" i="0">
                <a:solidFill>
                  <a:srgbClr val="1E9E6B"/>
                </a:solidFill>
                <a:latin typeface="Exo 2 Bold"/>
                <a:ea typeface="Exo 2 Bold"/>
                <a:cs typeface="Exo 2 Bold"/>
              </a:rPr>
              <a:t>6</a:t>
            </a:r>
          </a:p>
        </p:txBody>
      </p:sp>
      <p:sp>
        <p:nvSpPr>
          <p:cNvPr id="39" name="TextBox 38"/>
          <p:cNvSpPr txBox="1"/>
          <p:nvPr/>
        </p:nvSpPr>
        <p:spPr>
          <a:xfrm>
            <a:off x="2322576" y="5303520"/>
            <a:ext cx="3572256" cy="411480"/>
          </a:xfrm>
          <a:prstGeom prst="rect">
            <a:avLst/>
          </a:prstGeom>
          <a:noFill/>
        </p:spPr>
        <p:txBody>
          <a:bodyPr wrap="square" lIns="0" rIns="0" tIns="0" bIns="0" anchor="t">
            <a:spAutoFit/>
          </a:bodyPr>
          <a:lstStyle/>
          <a:p>
            <a:pPr algn="l"/>
            <a:r>
              <a:rPr sz="1800" b="1" i="0">
                <a:solidFill>
                  <a:srgbClr val="121C36"/>
                </a:solidFill>
                <a:latin typeface="Exo 2 Bold"/>
                <a:ea typeface="Exo 2 Bold"/>
                <a:cs typeface="Exo 2 Bold"/>
              </a:rPr>
              <a:t>Onboarded  (28.6%)</a:t>
            </a:r>
          </a:p>
        </p:txBody>
      </p:sp>
      <p:sp>
        <p:nvSpPr>
          <p:cNvPr id="40" name="TextBox 39"/>
          <p:cNvSpPr txBox="1"/>
          <p:nvPr/>
        </p:nvSpPr>
        <p:spPr>
          <a:xfrm>
            <a:off x="2322576" y="5760720"/>
            <a:ext cx="3572256" cy="731520"/>
          </a:xfrm>
          <a:prstGeom prst="rect">
            <a:avLst/>
          </a:prstGeom>
          <a:noFill/>
        </p:spPr>
        <p:txBody>
          <a:bodyPr wrap="square" lIns="0" rIns="0" tIns="0" bIns="0" anchor="t">
            <a:spAutoFit/>
          </a:bodyPr>
          <a:lstStyle/>
          <a:p>
            <a:pPr algn="l"/>
            <a:r>
              <a:rPr sz="1400" b="0" i="0">
                <a:solidFill>
                  <a:srgbClr val="5A6A85"/>
                </a:solidFill>
                <a:latin typeface="Exo 2"/>
                <a:ea typeface="Exo 2"/>
                <a:cs typeface="Exo 2"/>
              </a:rPr>
              <a:t>Completed onboarding after the call</a:t>
            </a:r>
          </a:p>
        </p:txBody>
      </p:sp>
      <p:sp>
        <p:nvSpPr>
          <p:cNvPr id="41" name="Rectangle 40"/>
          <p:cNvSpPr/>
          <p:nvPr/>
        </p:nvSpPr>
        <p:spPr>
          <a:xfrm>
            <a:off x="6397751" y="5120640"/>
            <a:ext cx="5492496" cy="141732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397751" y="5120640"/>
            <a:ext cx="73152" cy="14173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717791" y="5230368"/>
            <a:ext cx="1463040" cy="731520"/>
          </a:xfrm>
          <a:prstGeom prst="rect">
            <a:avLst/>
          </a:prstGeom>
          <a:noFill/>
        </p:spPr>
        <p:txBody>
          <a:bodyPr wrap="square" lIns="0" rIns="0" tIns="0" bIns="0" anchor="t">
            <a:spAutoFit/>
          </a:bodyPr>
          <a:lstStyle/>
          <a:p>
            <a:pPr algn="l"/>
            <a:r>
              <a:rPr sz="3600" b="1" i="0">
                <a:solidFill>
                  <a:srgbClr val="D98C1F"/>
                </a:solidFill>
                <a:latin typeface="Exo 2 Bold"/>
                <a:ea typeface="Exo 2 Bold"/>
                <a:cs typeface="Exo 2 Bold"/>
              </a:rPr>
              <a:t>11</a:t>
            </a:r>
          </a:p>
        </p:txBody>
      </p:sp>
      <p:sp>
        <p:nvSpPr>
          <p:cNvPr id="44" name="TextBox 43"/>
          <p:cNvSpPr txBox="1"/>
          <p:nvPr/>
        </p:nvSpPr>
        <p:spPr>
          <a:xfrm>
            <a:off x="8089391" y="5303520"/>
            <a:ext cx="3572256" cy="411480"/>
          </a:xfrm>
          <a:prstGeom prst="rect">
            <a:avLst/>
          </a:prstGeom>
          <a:noFill/>
        </p:spPr>
        <p:txBody>
          <a:bodyPr wrap="square" lIns="0" rIns="0" tIns="0" bIns="0" anchor="t">
            <a:spAutoFit/>
          </a:bodyPr>
          <a:lstStyle/>
          <a:p>
            <a:pPr algn="l"/>
            <a:r>
              <a:rPr sz="1800" b="1" i="0">
                <a:solidFill>
                  <a:srgbClr val="121C36"/>
                </a:solidFill>
                <a:latin typeface="Exo 2 Bold"/>
                <a:ea typeface="Exo 2 Bold"/>
                <a:cs typeface="Exo 2 Bold"/>
              </a:rPr>
              <a:t>Not onboarded  (52.4%)</a:t>
            </a:r>
          </a:p>
        </p:txBody>
      </p:sp>
      <p:sp>
        <p:nvSpPr>
          <p:cNvPr id="45" name="TextBox 44"/>
          <p:cNvSpPr txBox="1"/>
          <p:nvPr/>
        </p:nvSpPr>
        <p:spPr>
          <a:xfrm>
            <a:off x="8089391" y="5760720"/>
            <a:ext cx="3572256" cy="731520"/>
          </a:xfrm>
          <a:prstGeom prst="rect">
            <a:avLst/>
          </a:prstGeom>
          <a:noFill/>
        </p:spPr>
        <p:txBody>
          <a:bodyPr wrap="square" lIns="0" rIns="0" tIns="0" bIns="0" anchor="t">
            <a:spAutoFit/>
          </a:bodyPr>
          <a:lstStyle/>
          <a:p>
            <a:pPr algn="l"/>
            <a:r>
              <a:rPr sz="1400" b="0" i="0">
                <a:solidFill>
                  <a:srgbClr val="5A6A85"/>
                </a:solidFill>
                <a:latin typeface="Exo 2"/>
                <a:ea typeface="Exo 2"/>
                <a:cs typeface="Exo 2"/>
              </a:rPr>
              <a:t>KYC or documents not finished</a:t>
            </a:r>
          </a:p>
        </p:txBody>
      </p:sp>
      <p:sp>
        <p:nvSpPr>
          <p:cNvPr id="46" name="Rectangle 45"/>
          <p:cNvSpPr/>
          <p:nvPr/>
        </p:nvSpPr>
        <p:spPr>
          <a:xfrm>
            <a:off x="12164568" y="5120640"/>
            <a:ext cx="5492496" cy="141732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2164568" y="5120640"/>
            <a:ext cx="73152" cy="1417320"/>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484608" y="5230368"/>
            <a:ext cx="1463040" cy="731520"/>
          </a:xfrm>
          <a:prstGeom prst="rect">
            <a:avLst/>
          </a:prstGeom>
          <a:noFill/>
        </p:spPr>
        <p:txBody>
          <a:bodyPr wrap="square" lIns="0" rIns="0" tIns="0" bIns="0" anchor="t">
            <a:spAutoFit/>
          </a:bodyPr>
          <a:lstStyle/>
          <a:p>
            <a:pPr algn="l"/>
            <a:r>
              <a:rPr sz="3600" b="1" i="0">
                <a:solidFill>
                  <a:srgbClr val="3C61B6"/>
                </a:solidFill>
                <a:latin typeface="Exo 2 Bold"/>
                <a:ea typeface="Exo 2 Bold"/>
                <a:cs typeface="Exo 2 Bold"/>
              </a:rPr>
              <a:t>4</a:t>
            </a:r>
          </a:p>
        </p:txBody>
      </p:sp>
      <p:sp>
        <p:nvSpPr>
          <p:cNvPr id="49" name="TextBox 48"/>
          <p:cNvSpPr txBox="1"/>
          <p:nvPr/>
        </p:nvSpPr>
        <p:spPr>
          <a:xfrm>
            <a:off x="13856208" y="5303520"/>
            <a:ext cx="3572256" cy="411480"/>
          </a:xfrm>
          <a:prstGeom prst="rect">
            <a:avLst/>
          </a:prstGeom>
          <a:noFill/>
        </p:spPr>
        <p:txBody>
          <a:bodyPr wrap="square" lIns="0" rIns="0" tIns="0" bIns="0" anchor="t">
            <a:spAutoFit/>
          </a:bodyPr>
          <a:lstStyle/>
          <a:p>
            <a:pPr algn="l"/>
            <a:r>
              <a:rPr sz="1800" b="1" i="0">
                <a:solidFill>
                  <a:srgbClr val="121C36"/>
                </a:solidFill>
                <a:latin typeface="Exo 2 Bold"/>
                <a:ea typeface="Exo 2 Bold"/>
                <a:cs typeface="Exo 2 Bold"/>
              </a:rPr>
              <a:t>Funding gap  (19.0%)</a:t>
            </a:r>
          </a:p>
        </p:txBody>
      </p:sp>
      <p:sp>
        <p:nvSpPr>
          <p:cNvPr id="50" name="TextBox 49"/>
          <p:cNvSpPr txBox="1"/>
          <p:nvPr/>
        </p:nvSpPr>
        <p:spPr>
          <a:xfrm>
            <a:off x="13856208" y="5760720"/>
            <a:ext cx="3572256" cy="731520"/>
          </a:xfrm>
          <a:prstGeom prst="rect">
            <a:avLst/>
          </a:prstGeom>
          <a:noFill/>
        </p:spPr>
        <p:txBody>
          <a:bodyPr wrap="square" lIns="0" rIns="0" tIns="0" bIns="0" anchor="t">
            <a:spAutoFit/>
          </a:bodyPr>
          <a:lstStyle/>
          <a:p>
            <a:pPr algn="l"/>
            <a:r>
              <a:rPr sz="1400" b="0" i="0">
                <a:solidFill>
                  <a:srgbClr val="5A6A85"/>
                </a:solidFill>
                <a:latin typeface="Exo 2"/>
                <a:ea typeface="Exo 2"/>
                <a:cs typeface="Exo 2"/>
              </a:rPr>
              <a:t>Onboarded, not yet funded: need support to fund</a:t>
            </a:r>
          </a:p>
        </p:txBody>
      </p:sp>
      <p:sp>
        <p:nvSpPr>
          <p:cNvPr id="51" name="TextBox 50"/>
          <p:cNvSpPr txBox="1"/>
          <p:nvPr/>
        </p:nvSpPr>
        <p:spPr>
          <a:xfrm>
            <a:off x="630936" y="6812280"/>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SUMMARY</a:t>
            </a:r>
          </a:p>
        </p:txBody>
      </p:sp>
      <p:sp>
        <p:nvSpPr>
          <p:cNvPr id="52" name="TextBox 51"/>
          <p:cNvSpPr txBox="1"/>
          <p:nvPr/>
        </p:nvSpPr>
        <p:spPr>
          <a:xfrm>
            <a:off x="630936" y="7223760"/>
            <a:ext cx="17026128" cy="1463040"/>
          </a:xfrm>
          <a:prstGeom prst="rect">
            <a:avLst/>
          </a:prstGeom>
          <a:noFill/>
        </p:spPr>
        <p:txBody>
          <a:bodyPr wrap="square" lIns="0" rIns="0" tIns="0" bIns="0" anchor="t">
            <a:spAutoFit/>
          </a:bodyPr>
          <a:lstStyle/>
          <a:p>
            <a:pPr algn="l">
              <a:spcAft>
                <a:spcPts val="800"/>
              </a:spcAft>
            </a:pPr>
            <a:r>
              <a:rPr sz="1600" b="1" i="0">
                <a:solidFill>
                  <a:srgbClr val="121C36"/>
                </a:solidFill>
                <a:latin typeface="Exo 2 Bold"/>
                <a:ea typeface="Exo 2 Bold"/>
                <a:cs typeface="Exo 2 Bold"/>
              </a:rPr>
              <a:t>Out of 21 clients called, 6 completed onboarding (28.6%). </a:t>
            </a:r>
            <a:r>
              <a:rPr sz="1600" b="0" i="0">
                <a:solidFill>
                  <a:srgbClr val="5A6A85"/>
                </a:solidFill>
                <a:latin typeface="Exo 2"/>
                <a:ea typeface="Exo 2"/>
                <a:cs typeface="Exo 2"/>
              </a:rPr>
              <a:t>15 are still pending: 11 have not finished onboarding and 4 are onboarded but have not funded yet.</a:t>
            </a:r>
          </a:p>
          <a:p>
            <a:pPr algn="l">
              <a:spcAft>
                <a:spcPts val="800"/>
              </a:spcAft>
            </a:pPr>
            <a:r>
              <a:rPr sz="1600" b="1" i="0">
                <a:solidFill>
                  <a:srgbClr val="121C36"/>
                </a:solidFill>
                <a:latin typeface="Exo 2 Bold"/>
                <a:ea typeface="Exo 2 Bold"/>
                <a:cs typeface="Exo 2 Bold"/>
              </a:rPr>
              <a:t>Call results in the tracker: </a:t>
            </a:r>
            <a:r>
              <a:rPr sz="1600" b="0" i="0">
                <a:solidFill>
                  <a:srgbClr val="5A6A85"/>
                </a:solidFill>
                <a:latin typeface="Exo 2"/>
                <a:ea typeface="Exo 2"/>
                <a:cs typeface="Exo 2"/>
              </a:rPr>
              <a:t>12 reached, 2 no answer, 7 not yet logged. Email (72) and WhatsApp (4) cover clients we could not reach by phone.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Client Feedback and Next Steps</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10" name="TextBox 9"/>
          <p:cNvSpPr txBox="1"/>
          <p:nvPr/>
        </p:nvSpPr>
        <p:spPr>
          <a:xfrm>
            <a:off x="630936" y="1572768"/>
            <a:ext cx="17007840" cy="365760"/>
          </a:xfrm>
          <a:prstGeom prst="rect">
            <a:avLst/>
          </a:prstGeom>
          <a:noFill/>
        </p:spPr>
        <p:txBody>
          <a:bodyPr wrap="square" lIns="0" rIns="0" tIns="0" bIns="0" anchor="t">
            <a:spAutoFit/>
          </a:bodyPr>
          <a:lstStyle/>
          <a:p>
            <a:pPr algn="l"/>
            <a:r>
              <a:rPr sz="1300" b="1" i="0">
                <a:solidFill>
                  <a:srgbClr val="3C61B6"/>
                </a:solidFill>
                <a:latin typeface="Exo 2 Bold"/>
                <a:ea typeface="Exo 2 Bold"/>
                <a:cs typeface="Exo 2 Bold"/>
              </a:rPr>
              <a:t>WHAT CLIENTS TOLD US AND WHAT WE DO NEXT</a:t>
            </a:r>
          </a:p>
        </p:txBody>
      </p:sp>
      <p:sp>
        <p:nvSpPr>
          <p:cNvPr id="11" name="Rectangle 10"/>
          <p:cNvSpPr/>
          <p:nvPr/>
        </p:nvSpPr>
        <p:spPr>
          <a:xfrm>
            <a:off x="630936" y="2057400"/>
            <a:ext cx="8366760" cy="576072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240280"/>
            <a:ext cx="7863840" cy="365760"/>
          </a:xfrm>
          <a:prstGeom prst="rect">
            <a:avLst/>
          </a:prstGeom>
          <a:noFill/>
        </p:spPr>
        <p:txBody>
          <a:bodyPr wrap="square" lIns="0" rIns="0" tIns="0" bIns="0" anchor="t">
            <a:spAutoFit/>
          </a:bodyPr>
          <a:lstStyle/>
          <a:p>
            <a:pPr algn="l"/>
            <a:r>
              <a:rPr sz="1400" b="1" i="0">
                <a:solidFill>
                  <a:srgbClr val="3C61B6"/>
                </a:solidFill>
                <a:latin typeface="Exo 2 Bold"/>
                <a:ea typeface="Exo 2 Bold"/>
                <a:cs typeface="Exo 2 Bold"/>
              </a:rPr>
              <a:t>CLIENT FEEDBACK</a:t>
            </a:r>
          </a:p>
        </p:txBody>
      </p:sp>
      <p:sp>
        <p:nvSpPr>
          <p:cNvPr id="13" name="TextBox 12"/>
          <p:cNvSpPr txBox="1"/>
          <p:nvPr/>
        </p:nvSpPr>
        <p:spPr>
          <a:xfrm>
            <a:off x="914400" y="2697480"/>
            <a:ext cx="7818120" cy="3108960"/>
          </a:xfrm>
          <a:prstGeom prst="rect">
            <a:avLst/>
          </a:prstGeom>
          <a:noFill/>
        </p:spPr>
        <p:txBody>
          <a:bodyPr wrap="square" lIns="0" rIns="0" tIns="0" bIns="0" anchor="t">
            <a:spAutoFit/>
          </a:bodyPr>
          <a:lstStyle/>
          <a:p>
            <a:pPr algn="l">
              <a:spcAft>
                <a:spcPts val="700"/>
              </a:spcAft>
            </a:pPr>
            <a:r>
              <a:rPr sz="1500" b="1" i="0">
                <a:solidFill>
                  <a:srgbClr val="121C36"/>
                </a:solidFill>
                <a:latin typeface="Exo 2 Bold"/>
                <a:ea typeface="Exo 2 Bold"/>
                <a:cs typeface="Exo 2 Bold"/>
              </a:rPr>
              <a:t>Missing documents: </a:t>
            </a:r>
            <a:r>
              <a:rPr sz="1500" b="0" i="0">
                <a:solidFill>
                  <a:srgbClr val="5A6A85"/>
                </a:solidFill>
                <a:latin typeface="Exo 2"/>
                <a:ea typeface="Exo 2"/>
                <a:cs typeface="Exo 2"/>
              </a:rPr>
              <a:t>many clients don't have their KYC documents ready at registration, which causes delays or drop-off.</a:t>
            </a:r>
          </a:p>
          <a:p>
            <a:pPr algn="l">
              <a:spcAft>
                <a:spcPts val="700"/>
              </a:spcAft>
            </a:pPr>
            <a:r>
              <a:rPr sz="1500" b="1" i="0">
                <a:solidFill>
                  <a:srgbClr val="121C36"/>
                </a:solidFill>
                <a:latin typeface="Exo 2 Bold"/>
                <a:ea typeface="Exo 2 Bold"/>
                <a:cs typeface="Exo 2 Bold"/>
              </a:rPr>
              <a:t>KYC feels too long: </a:t>
            </a:r>
            <a:r>
              <a:rPr sz="1500" b="0" i="0">
                <a:solidFill>
                  <a:srgbClr val="5A6A85"/>
                </a:solidFill>
                <a:latin typeface="Exo 2"/>
                <a:ea typeface="Exo 2"/>
                <a:cs typeface="Exo 2"/>
              </a:rPr>
              <a:t>verification takes longer than clients expect, and some stop halfway.</a:t>
            </a:r>
          </a:p>
          <a:p>
            <a:pPr algn="l">
              <a:spcAft>
                <a:spcPts val="700"/>
              </a:spcAft>
            </a:pPr>
            <a:r>
              <a:rPr sz="1500" b="1" i="0">
                <a:solidFill>
                  <a:srgbClr val="121C36"/>
                </a:solidFill>
                <a:latin typeface="Exo 2 Bold"/>
                <a:ea typeface="Exo 2 Bold"/>
                <a:cs typeface="Exo 2 Bold"/>
              </a:rPr>
              <a:t>Fees: </a:t>
            </a:r>
            <a:r>
              <a:rPr sz="1500" b="0" i="0">
                <a:solidFill>
                  <a:srgbClr val="5A6A85"/>
                </a:solidFill>
                <a:latin typeface="Exo 2"/>
                <a:ea typeface="Exo 2"/>
                <a:cs typeface="Exo 2"/>
              </a:rPr>
              <a:t>clients asked about our commissions and fees.</a:t>
            </a:r>
          </a:p>
          <a:p>
            <a:pPr algn="l">
              <a:spcAft>
                <a:spcPts val="700"/>
              </a:spcAft>
            </a:pPr>
            <a:r>
              <a:rPr sz="1500" b="1" i="0">
                <a:solidFill>
                  <a:srgbClr val="121C36"/>
                </a:solidFill>
                <a:latin typeface="Exo 2 Bold"/>
                <a:ea typeface="Exo 2 Bold"/>
                <a:cs typeface="Exo 2 Bold"/>
              </a:rPr>
              <a:t>Deposits: </a:t>
            </a:r>
            <a:r>
              <a:rPr sz="1500" b="0" i="0">
                <a:solidFill>
                  <a:srgbClr val="5A6A85"/>
                </a:solidFill>
                <a:latin typeface="Exo 2"/>
                <a:ea typeface="Exo 2"/>
                <a:cs typeface="Exo 2"/>
              </a:rPr>
              <a:t>several clients asked how to deposit by bank transfer.</a:t>
            </a:r>
          </a:p>
          <a:p>
            <a:pPr algn="l">
              <a:spcAft>
                <a:spcPts val="700"/>
              </a:spcAft>
            </a:pPr>
            <a:r>
              <a:rPr sz="1500" b="1" i="0">
                <a:solidFill>
                  <a:srgbClr val="121C36"/>
                </a:solidFill>
                <a:latin typeface="Exo 2 Bold"/>
                <a:ea typeface="Exo 2 Bold"/>
                <a:cs typeface="Exo 2 Bold"/>
              </a:rPr>
              <a:t>Funding gap: </a:t>
            </a:r>
            <a:r>
              <a:rPr sz="1500" b="0" i="0">
                <a:solidFill>
                  <a:srgbClr val="5A6A85"/>
                </a:solidFill>
                <a:latin typeface="Exo 2"/>
                <a:ea typeface="Exo 2"/>
                <a:cs typeface="Exo 2"/>
              </a:rPr>
              <a:t>4 onboarded clients need support to fund. One asked about fees; two said they will fund soon.</a:t>
            </a:r>
          </a:p>
        </p:txBody>
      </p:sp>
      <p:sp>
        <p:nvSpPr>
          <p:cNvPr id="14" name="TextBox 13"/>
          <p:cNvSpPr txBox="1"/>
          <p:nvPr/>
        </p:nvSpPr>
        <p:spPr>
          <a:xfrm>
            <a:off x="914400" y="5669280"/>
            <a:ext cx="7863840" cy="365760"/>
          </a:xfrm>
          <a:prstGeom prst="rect">
            <a:avLst/>
          </a:prstGeom>
          <a:noFill/>
        </p:spPr>
        <p:txBody>
          <a:bodyPr wrap="square" lIns="0" rIns="0" tIns="0" bIns="0" anchor="t">
            <a:spAutoFit/>
          </a:bodyPr>
          <a:lstStyle/>
          <a:p>
            <a:pPr algn="l"/>
            <a:r>
              <a:rPr sz="1200" b="1" i="0">
                <a:solidFill>
                  <a:srgbClr val="3C61B6"/>
                </a:solidFill>
                <a:latin typeface="Exo 2 Bold"/>
                <a:ea typeface="Exo 2 Bold"/>
                <a:cs typeface="Exo 2 Bold"/>
              </a:rPr>
              <a:t>CLIENTS FOLLOWED UP PER WEEK (TRACKER)</a:t>
            </a:r>
          </a:p>
        </p:txBody>
      </p:sp>
      <p:sp>
        <p:nvSpPr>
          <p:cNvPr id="15" name="Rectangle 14"/>
          <p:cNvSpPr/>
          <p:nvPr/>
        </p:nvSpPr>
        <p:spPr>
          <a:xfrm>
            <a:off x="960120" y="6446520"/>
            <a:ext cx="658368" cy="868680"/>
          </a:xfrm>
          <a:prstGeom prst="rect">
            <a:avLst/>
          </a:prstGeom>
          <a:solidFill>
            <a:srgbClr val="A9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6172200"/>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35</a:t>
            </a:r>
          </a:p>
        </p:txBody>
      </p:sp>
      <p:sp>
        <p:nvSpPr>
          <p:cNvPr id="17" name="TextBox 16"/>
          <p:cNvSpPr txBox="1"/>
          <p:nvPr/>
        </p:nvSpPr>
        <p:spPr>
          <a:xfrm>
            <a:off x="822960"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6 Aug</a:t>
            </a:r>
          </a:p>
        </p:txBody>
      </p:sp>
      <p:sp>
        <p:nvSpPr>
          <p:cNvPr id="18" name="Rectangle 17"/>
          <p:cNvSpPr/>
          <p:nvPr/>
        </p:nvSpPr>
        <p:spPr>
          <a:xfrm>
            <a:off x="1810512" y="6446520"/>
            <a:ext cx="658368" cy="868680"/>
          </a:xfrm>
          <a:prstGeom prst="rect">
            <a:avLst/>
          </a:prstGeom>
          <a:solidFill>
            <a:srgbClr val="A9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719072" y="6172200"/>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35</a:t>
            </a:r>
          </a:p>
        </p:txBody>
      </p:sp>
      <p:sp>
        <p:nvSpPr>
          <p:cNvPr id="20" name="TextBox 19"/>
          <p:cNvSpPr txBox="1"/>
          <p:nvPr/>
        </p:nvSpPr>
        <p:spPr>
          <a:xfrm>
            <a:off x="1673352"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13 Aug</a:t>
            </a:r>
          </a:p>
        </p:txBody>
      </p:sp>
      <p:sp>
        <p:nvSpPr>
          <p:cNvPr id="21" name="Rectangle 20"/>
          <p:cNvSpPr/>
          <p:nvPr/>
        </p:nvSpPr>
        <p:spPr>
          <a:xfrm>
            <a:off x="2660904" y="7191102"/>
            <a:ext cx="658368" cy="124097"/>
          </a:xfrm>
          <a:prstGeom prst="rect">
            <a:avLst/>
          </a:prstGeom>
          <a:solidFill>
            <a:srgbClr val="A9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569464" y="6916782"/>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5</a:t>
            </a:r>
          </a:p>
        </p:txBody>
      </p:sp>
      <p:sp>
        <p:nvSpPr>
          <p:cNvPr id="23" name="TextBox 22"/>
          <p:cNvSpPr txBox="1"/>
          <p:nvPr/>
        </p:nvSpPr>
        <p:spPr>
          <a:xfrm>
            <a:off x="2523744"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20 Aug</a:t>
            </a:r>
          </a:p>
        </p:txBody>
      </p:sp>
      <p:sp>
        <p:nvSpPr>
          <p:cNvPr id="24" name="Rectangle 23"/>
          <p:cNvSpPr/>
          <p:nvPr/>
        </p:nvSpPr>
        <p:spPr>
          <a:xfrm>
            <a:off x="3511296" y="7215922"/>
            <a:ext cx="658368" cy="99277"/>
          </a:xfrm>
          <a:prstGeom prst="rect">
            <a:avLst/>
          </a:prstGeom>
          <a:solidFill>
            <a:srgbClr val="A9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419856" y="6941602"/>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4</a:t>
            </a:r>
          </a:p>
        </p:txBody>
      </p:sp>
      <p:sp>
        <p:nvSpPr>
          <p:cNvPr id="26" name="TextBox 25"/>
          <p:cNvSpPr txBox="1"/>
          <p:nvPr/>
        </p:nvSpPr>
        <p:spPr>
          <a:xfrm>
            <a:off x="3374136"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27 Aug</a:t>
            </a:r>
          </a:p>
        </p:txBody>
      </p:sp>
      <p:sp>
        <p:nvSpPr>
          <p:cNvPr id="27" name="Rectangle 26"/>
          <p:cNvSpPr/>
          <p:nvPr/>
        </p:nvSpPr>
        <p:spPr>
          <a:xfrm>
            <a:off x="4361688" y="7116644"/>
            <a:ext cx="658368" cy="198555"/>
          </a:xfrm>
          <a:prstGeom prst="rect">
            <a:avLst/>
          </a:prstGeom>
          <a:solidFill>
            <a:srgbClr val="A9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270248" y="6842324"/>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8</a:t>
            </a:r>
          </a:p>
        </p:txBody>
      </p:sp>
      <p:sp>
        <p:nvSpPr>
          <p:cNvPr id="29" name="TextBox 28"/>
          <p:cNvSpPr txBox="1"/>
          <p:nvPr/>
        </p:nvSpPr>
        <p:spPr>
          <a:xfrm>
            <a:off x="4224527"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3 Sep</a:t>
            </a:r>
          </a:p>
        </p:txBody>
      </p:sp>
      <p:sp>
        <p:nvSpPr>
          <p:cNvPr id="30" name="TextBox 29"/>
          <p:cNvSpPr txBox="1"/>
          <p:nvPr/>
        </p:nvSpPr>
        <p:spPr>
          <a:xfrm>
            <a:off x="5120640" y="7040880"/>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0</a:t>
            </a:r>
          </a:p>
        </p:txBody>
      </p:sp>
      <p:sp>
        <p:nvSpPr>
          <p:cNvPr id="31" name="TextBox 30"/>
          <p:cNvSpPr txBox="1"/>
          <p:nvPr/>
        </p:nvSpPr>
        <p:spPr>
          <a:xfrm>
            <a:off x="5074919"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10 Sep</a:t>
            </a:r>
          </a:p>
        </p:txBody>
      </p:sp>
      <p:sp>
        <p:nvSpPr>
          <p:cNvPr id="32" name="Rectangle 31"/>
          <p:cNvSpPr/>
          <p:nvPr/>
        </p:nvSpPr>
        <p:spPr>
          <a:xfrm>
            <a:off x="6062472" y="7166283"/>
            <a:ext cx="658368" cy="148916"/>
          </a:xfrm>
          <a:prstGeom prst="rect">
            <a:avLst/>
          </a:prstGeom>
          <a:solidFill>
            <a:srgbClr val="A9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971032" y="6891963"/>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6</a:t>
            </a:r>
          </a:p>
        </p:txBody>
      </p:sp>
      <p:sp>
        <p:nvSpPr>
          <p:cNvPr id="34" name="TextBox 33"/>
          <p:cNvSpPr txBox="1"/>
          <p:nvPr/>
        </p:nvSpPr>
        <p:spPr>
          <a:xfrm>
            <a:off x="5925312"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17 Sep</a:t>
            </a:r>
          </a:p>
        </p:txBody>
      </p:sp>
      <p:sp>
        <p:nvSpPr>
          <p:cNvPr id="35" name="Rectangle 34"/>
          <p:cNvSpPr/>
          <p:nvPr/>
        </p:nvSpPr>
        <p:spPr>
          <a:xfrm>
            <a:off x="6912864" y="7091825"/>
            <a:ext cx="658368" cy="223374"/>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21424" y="6817505"/>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9</a:t>
            </a:r>
          </a:p>
        </p:txBody>
      </p:sp>
      <p:sp>
        <p:nvSpPr>
          <p:cNvPr id="37" name="TextBox 36"/>
          <p:cNvSpPr txBox="1"/>
          <p:nvPr/>
        </p:nvSpPr>
        <p:spPr>
          <a:xfrm>
            <a:off x="6775703"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24 Sep</a:t>
            </a:r>
          </a:p>
        </p:txBody>
      </p:sp>
      <p:sp>
        <p:nvSpPr>
          <p:cNvPr id="38" name="Rectangle 37"/>
          <p:cNvSpPr/>
          <p:nvPr/>
        </p:nvSpPr>
        <p:spPr>
          <a:xfrm>
            <a:off x="7763256" y="7017366"/>
            <a:ext cx="658368" cy="297833"/>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671816" y="6743046"/>
            <a:ext cx="841247" cy="256032"/>
          </a:xfrm>
          <a:prstGeom prst="rect">
            <a:avLst/>
          </a:prstGeom>
          <a:noFill/>
        </p:spPr>
        <p:txBody>
          <a:bodyPr wrap="square" lIns="0" rIns="0" tIns="0" bIns="0" anchor="t">
            <a:spAutoFit/>
          </a:bodyPr>
          <a:lstStyle/>
          <a:p>
            <a:pPr algn="ctr"/>
            <a:r>
              <a:rPr sz="1100" b="1" i="0">
                <a:solidFill>
                  <a:srgbClr val="121C36"/>
                </a:solidFill>
                <a:latin typeface="Exo 2 Bold"/>
                <a:ea typeface="Exo 2 Bold"/>
                <a:cs typeface="Exo 2 Bold"/>
              </a:rPr>
              <a:t>12</a:t>
            </a:r>
          </a:p>
        </p:txBody>
      </p:sp>
      <p:sp>
        <p:nvSpPr>
          <p:cNvPr id="40" name="TextBox 39"/>
          <p:cNvSpPr txBox="1"/>
          <p:nvPr/>
        </p:nvSpPr>
        <p:spPr>
          <a:xfrm>
            <a:off x="7626096" y="7360920"/>
            <a:ext cx="932688" cy="256032"/>
          </a:xfrm>
          <a:prstGeom prst="rect">
            <a:avLst/>
          </a:prstGeom>
          <a:noFill/>
        </p:spPr>
        <p:txBody>
          <a:bodyPr wrap="square" lIns="0" rIns="0" tIns="0" bIns="0" anchor="t">
            <a:spAutoFit/>
          </a:bodyPr>
          <a:lstStyle/>
          <a:p>
            <a:pPr algn="ctr"/>
            <a:r>
              <a:rPr sz="1000" b="0" i="0">
                <a:solidFill>
                  <a:srgbClr val="5A6A85"/>
                </a:solidFill>
                <a:latin typeface="Exo 2"/>
                <a:ea typeface="Exo 2"/>
                <a:cs typeface="Exo 2"/>
              </a:rPr>
              <a:t>1 Oct</a:t>
            </a:r>
          </a:p>
        </p:txBody>
      </p:sp>
      <p:sp>
        <p:nvSpPr>
          <p:cNvPr id="41" name="Rectangle 40"/>
          <p:cNvSpPr/>
          <p:nvPr/>
        </p:nvSpPr>
        <p:spPr>
          <a:xfrm>
            <a:off x="960120" y="7315200"/>
            <a:ext cx="7680960" cy="18288"/>
          </a:xfrm>
          <a:prstGeom prst="rect">
            <a:avLst/>
          </a:prstGeom>
          <a:solidFill>
            <a:srgbClr val="C5C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4400" y="7571231"/>
            <a:ext cx="7863840" cy="256032"/>
          </a:xfrm>
          <a:prstGeom prst="rect">
            <a:avLst/>
          </a:prstGeom>
          <a:noFill/>
        </p:spPr>
        <p:txBody>
          <a:bodyPr wrap="square" lIns="0" rIns="0" tIns="0" bIns="0" anchor="t">
            <a:spAutoFit/>
          </a:bodyPr>
          <a:lstStyle/>
          <a:p>
            <a:pPr algn="l"/>
            <a:r>
              <a:rPr sz="1000" b="0" i="0">
                <a:solidFill>
                  <a:srgbClr val="8A93A8"/>
                </a:solidFill>
                <a:latin typeface="Exo 2"/>
                <a:ea typeface="Exo 2"/>
                <a:cs typeface="Exo 2"/>
              </a:rPr>
              <a:t>Week ending. Dark bars = this update (21). Early August weeks were mostly spam numbers.</a:t>
            </a:r>
          </a:p>
        </p:txBody>
      </p:sp>
      <p:sp>
        <p:nvSpPr>
          <p:cNvPr id="43" name="Rectangle 42"/>
          <p:cNvSpPr/>
          <p:nvPr/>
        </p:nvSpPr>
        <p:spPr>
          <a:xfrm>
            <a:off x="9290304" y="2057400"/>
            <a:ext cx="8366760" cy="5760720"/>
          </a:xfrm>
          <a:prstGeom prst="rect">
            <a:avLst/>
          </a:prstGeom>
          <a:solidFill>
            <a:srgbClr val="F7F8FC"/>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573768" y="2240280"/>
            <a:ext cx="7863840" cy="365760"/>
          </a:xfrm>
          <a:prstGeom prst="rect">
            <a:avLst/>
          </a:prstGeom>
          <a:noFill/>
        </p:spPr>
        <p:txBody>
          <a:bodyPr wrap="square" lIns="0" rIns="0" tIns="0" bIns="0" anchor="t">
            <a:spAutoFit/>
          </a:bodyPr>
          <a:lstStyle/>
          <a:p>
            <a:pPr algn="l"/>
            <a:r>
              <a:rPr sz="1400" b="1" i="0">
                <a:solidFill>
                  <a:srgbClr val="3C61B6"/>
                </a:solidFill>
                <a:latin typeface="Exo 2 Bold"/>
                <a:ea typeface="Exo 2 Bold"/>
                <a:cs typeface="Exo 2 Bold"/>
              </a:rPr>
              <a:t>PROPOSED NEXT STEPS, BY GROUP</a:t>
            </a:r>
          </a:p>
        </p:txBody>
      </p:sp>
      <p:sp>
        <p:nvSpPr>
          <p:cNvPr id="45" name="Rectangle 44"/>
          <p:cNvSpPr/>
          <p:nvPr/>
        </p:nvSpPr>
        <p:spPr>
          <a:xfrm>
            <a:off x="9573768" y="2743200"/>
            <a:ext cx="7799831" cy="1417320"/>
          </a:xfrm>
          <a:prstGeom prst="rect">
            <a:avLst/>
          </a:prstGeom>
          <a:solidFill>
            <a:srgbClr val="FFFFFF"/>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573768" y="2743200"/>
            <a:ext cx="73152" cy="1417320"/>
          </a:xfrm>
          <a:prstGeom prst="rect">
            <a:avLst/>
          </a:prstGeom>
          <a:solidFill>
            <a:srgbClr val="3C6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875520" y="2926080"/>
            <a:ext cx="7315200" cy="411480"/>
          </a:xfrm>
          <a:prstGeom prst="rect">
            <a:avLst/>
          </a:prstGeom>
          <a:noFill/>
        </p:spPr>
        <p:txBody>
          <a:bodyPr wrap="square" lIns="0" rIns="0" tIns="0" bIns="0" anchor="t">
            <a:spAutoFit/>
          </a:bodyPr>
          <a:lstStyle/>
          <a:p>
            <a:pPr algn="l"/>
            <a:r>
              <a:rPr sz="1800" b="1" i="0">
                <a:solidFill>
                  <a:srgbClr val="3C61B6"/>
                </a:solidFill>
                <a:latin typeface="Exo 2 Bold"/>
                <a:ea typeface="Exo 2 Bold"/>
                <a:cs typeface="Exo 2 Bold"/>
              </a:rPr>
              <a:t>Funding gap (4)</a:t>
            </a:r>
          </a:p>
        </p:txBody>
      </p:sp>
      <p:sp>
        <p:nvSpPr>
          <p:cNvPr id="48" name="TextBox 47"/>
          <p:cNvSpPr txBox="1"/>
          <p:nvPr/>
        </p:nvSpPr>
        <p:spPr>
          <a:xfrm>
            <a:off x="9875520" y="3401568"/>
            <a:ext cx="7315200" cy="73152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Send the fee schedule and bank transfer steps, then a follow-up call.</a:t>
            </a:r>
          </a:p>
        </p:txBody>
      </p:sp>
      <p:sp>
        <p:nvSpPr>
          <p:cNvPr id="49" name="Rectangle 48"/>
          <p:cNvSpPr/>
          <p:nvPr/>
        </p:nvSpPr>
        <p:spPr>
          <a:xfrm>
            <a:off x="9573768" y="4389120"/>
            <a:ext cx="7799831" cy="1417320"/>
          </a:xfrm>
          <a:prstGeom prst="rect">
            <a:avLst/>
          </a:prstGeom>
          <a:solidFill>
            <a:srgbClr val="FFFFFF"/>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573768" y="4389120"/>
            <a:ext cx="73152" cy="14173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875520" y="4572000"/>
            <a:ext cx="7315200" cy="411480"/>
          </a:xfrm>
          <a:prstGeom prst="rect">
            <a:avLst/>
          </a:prstGeom>
          <a:noFill/>
        </p:spPr>
        <p:txBody>
          <a:bodyPr wrap="square" lIns="0" rIns="0" tIns="0" bIns="0" anchor="t">
            <a:spAutoFit/>
          </a:bodyPr>
          <a:lstStyle/>
          <a:p>
            <a:pPr algn="l"/>
            <a:r>
              <a:rPr sz="1800" b="1" i="0">
                <a:solidFill>
                  <a:srgbClr val="D98C1F"/>
                </a:solidFill>
                <a:latin typeface="Exo 2 Bold"/>
                <a:ea typeface="Exo 2 Bold"/>
                <a:cs typeface="Exo 2 Bold"/>
              </a:rPr>
              <a:t>Not onboarded (11)</a:t>
            </a:r>
          </a:p>
        </p:txBody>
      </p:sp>
      <p:sp>
        <p:nvSpPr>
          <p:cNvPr id="52" name="TextBox 51"/>
          <p:cNvSpPr txBox="1"/>
          <p:nvPr/>
        </p:nvSpPr>
        <p:spPr>
          <a:xfrm>
            <a:off x="9875520" y="5047488"/>
            <a:ext cx="7315200" cy="73152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Onboarding email with the document checklist, then a second call on day 3.</a:t>
            </a:r>
          </a:p>
        </p:txBody>
      </p:sp>
      <p:sp>
        <p:nvSpPr>
          <p:cNvPr id="53" name="Rectangle 52"/>
          <p:cNvSpPr/>
          <p:nvPr/>
        </p:nvSpPr>
        <p:spPr>
          <a:xfrm>
            <a:off x="9573768" y="6035040"/>
            <a:ext cx="7799831" cy="1417320"/>
          </a:xfrm>
          <a:prstGeom prst="rect">
            <a:avLst/>
          </a:prstGeom>
          <a:solidFill>
            <a:srgbClr val="FFFFFF"/>
          </a:solidFill>
          <a:ln w="9525">
            <a:solidFill>
              <a:srgbClr val="E4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573768" y="6035040"/>
            <a:ext cx="73152" cy="1417320"/>
          </a:xfrm>
          <a:prstGeom prst="rect">
            <a:avLst/>
          </a:prstGeom>
          <a:solidFill>
            <a:srgbClr val="1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875520" y="6217920"/>
            <a:ext cx="7315200" cy="411480"/>
          </a:xfrm>
          <a:prstGeom prst="rect">
            <a:avLst/>
          </a:prstGeom>
          <a:noFill/>
        </p:spPr>
        <p:txBody>
          <a:bodyPr wrap="square" lIns="0" rIns="0" tIns="0" bIns="0" anchor="t">
            <a:spAutoFit/>
          </a:bodyPr>
          <a:lstStyle/>
          <a:p>
            <a:pPr algn="l"/>
            <a:r>
              <a:rPr sz="1800" b="1" i="0">
                <a:solidFill>
                  <a:srgbClr val="1E9E6B"/>
                </a:solidFill>
                <a:latin typeface="Exo 2 Bold"/>
                <a:ea typeface="Exo 2 Bold"/>
                <a:cs typeface="Exo 2 Bold"/>
              </a:rPr>
              <a:t>Onboarded (6)</a:t>
            </a:r>
          </a:p>
        </p:txBody>
      </p:sp>
      <p:sp>
        <p:nvSpPr>
          <p:cNvPr id="56" name="TextBox 55"/>
          <p:cNvSpPr txBox="1"/>
          <p:nvPr/>
        </p:nvSpPr>
        <p:spPr>
          <a:xfrm>
            <a:off x="9875520" y="6693407"/>
            <a:ext cx="7315200" cy="731520"/>
          </a:xfrm>
          <a:prstGeom prst="rect">
            <a:avLst/>
          </a:prstGeom>
          <a:noFill/>
        </p:spPr>
        <p:txBody>
          <a:bodyPr wrap="square" lIns="0" rIns="0" tIns="0" bIns="0" anchor="t">
            <a:spAutoFit/>
          </a:bodyPr>
          <a:lstStyle/>
          <a:p>
            <a:pPr algn="l"/>
            <a:r>
              <a:rPr sz="1500" b="0" i="0">
                <a:solidFill>
                  <a:srgbClr val="5A6A85"/>
                </a:solidFill>
                <a:latin typeface="Exo 2"/>
                <a:ea typeface="Exo 2"/>
                <a:cs typeface="Exo 2"/>
              </a:rPr>
              <a:t>Guide the first deposit by bank transfer so the account gets funded.</a:t>
            </a:r>
          </a:p>
        </p:txBody>
      </p:sp>
      <p:sp>
        <p:nvSpPr>
          <p:cNvPr id="57" name="Rectangle 56"/>
          <p:cNvSpPr/>
          <p:nvPr/>
        </p:nvSpPr>
        <p:spPr>
          <a:xfrm>
            <a:off x="630936" y="8046720"/>
            <a:ext cx="17026128"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14400" y="8046720"/>
            <a:ext cx="16550640" cy="960120"/>
          </a:xfrm>
          <a:prstGeom prst="rect">
            <a:avLst/>
          </a:prstGeom>
          <a:noFill/>
        </p:spPr>
        <p:txBody>
          <a:bodyPr wrap="square" lIns="0" rIns="0" tIns="0" bIns="0" anchor="ctr">
            <a:spAutoFit/>
          </a:bodyPr>
          <a:lstStyle/>
          <a:p>
            <a:pPr algn="l"/>
            <a:r>
              <a:rPr sz="1500" b="1" i="0">
                <a:solidFill>
                  <a:srgbClr val="121C36"/>
                </a:solidFill>
                <a:latin typeface="Exo 2 Bold"/>
                <a:ea typeface="Exo 2 Bold"/>
                <a:cs typeface="Exo 2 Bold"/>
              </a:rPr>
              <a:t>To make the weekly update faster: </a:t>
            </a:r>
            <a:r>
              <a:rPr sz="1500" b="0" i="0">
                <a:solidFill>
                  <a:srgbClr val="5A6A85"/>
                </a:solidFill>
                <a:latin typeface="Exo 2"/>
                <a:ea typeface="Exo 2"/>
                <a:cs typeface="Exo 2"/>
              </a:rPr>
              <a:t>log the result of every call (7 of 21 have none yet), and give each open client an owner, a due date and a next follow-up (none set in the last two weeks).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eMYAA Performance Analysis - 01.10.2026</dc:title>
  <cp:lastModifiedBy>Hatem Isa Hatem Abbas Hatem</cp:lastModifiedBy>
  <cp:revision>2</cp:revision>
  <dcterms:created xsi:type="dcterms:W3CDTF">2006-08-16T00:00:00Z</dcterms:created>
  <dcterms:modified xsi:type="dcterms:W3CDTF">2026-09-29T09:22:50Z</dcterms:modified>
  <dc:identifier>DAHWeaDiLTo</dc:identifier>
</cp:coreProperties>
</file>