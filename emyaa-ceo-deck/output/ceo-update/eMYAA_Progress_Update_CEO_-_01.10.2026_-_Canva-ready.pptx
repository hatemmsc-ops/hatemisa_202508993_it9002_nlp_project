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4.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x="18288000" cy="10287000"/>
  <p:notesSz cx="6858000" cy="9144000"/>
  <p:embeddedFontLst>
    <p:embeddedFont>
      <p:font typeface="Exo 2 Bold" charset="1" panose="00000000000000000000"/>
      <p:regular r:id="rId36"/>
    </p:embeddedFont>
    <p:embeddedFont>
      <p:font typeface="Exo 2" charset="1" panose="00000000000000000000"/>
      <p:regular r:id="rId37"/>
    </p:embeddedFont>
    <p:embeddedFont>
      <p:font typeface="Exo 2 Italics" charset="1" panose="00000000000000000000"/>
      <p:regular r:id="rId38"/>
    </p:embeddedFont>
    <p:embeddedFont>
      <p:font typeface="Arimo Bold" charset="1" panose="020B0704020202020204"/>
      <p:regular r:id="rId40"/>
    </p:embeddedFont>
    <p:embeddedFont>
      <p:font typeface="Calibri (MS) Bold" charset="1" panose="020F0702030404030204"/>
      <p:regular r:id="rId42"/>
    </p:embeddedFont>
    <p:embeddedFont>
      <p:font typeface="Exo 2 Bold Italics" charset="1" panose="0000000000000000000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notesMaster" Target="notesMasters/notesMaster1.xml"/><Relationship Id="rId34" Type="http://schemas.openxmlformats.org/officeDocument/2006/relationships/theme" Target="theme/theme2.xml"/><Relationship Id="rId35" Type="http://schemas.openxmlformats.org/officeDocument/2006/relationships/notesSlide" Target="notesSlides/notesSlide1.xml"/><Relationship Id="rId36" Type="http://schemas.openxmlformats.org/officeDocument/2006/relationships/font" Target="fonts/font36.fntdata"/><Relationship Id="rId37" Type="http://schemas.openxmlformats.org/officeDocument/2006/relationships/font" Target="fonts/font37.fntdata"/><Relationship Id="rId38" Type="http://schemas.openxmlformats.org/officeDocument/2006/relationships/font" Target="fonts/font38.fntdata"/><Relationship Id="rId39" Type="http://schemas.openxmlformats.org/officeDocument/2006/relationships/notesSlide" Target="notesSlides/notesSlide2.xml"/><Relationship Id="rId40" Type="http://schemas.openxmlformats.org/officeDocument/2006/relationships/font" Target="fonts/font40.fntdata"/><Relationship Id="rId41" Type="http://schemas.openxmlformats.org/officeDocument/2006/relationships/notesSlide" Target="notesSlides/notesSlide3.xml"/><Relationship Id="rId42" Type="http://schemas.openxmlformats.org/officeDocument/2006/relationships/font" Target="fonts/font42.fntdata"/><Relationship Id="rId43" Type="http://schemas.openxmlformats.org/officeDocument/2006/relationships/notesSlide" Target="notesSlides/notesSlide4.xml"/><Relationship Id="rId44" Type="http://schemas.openxmlformats.org/officeDocument/2006/relationships/font" Target="fonts/font44.fntdata"/><Relationship Id="rId45" Type="http://schemas.openxmlformats.org/officeDocument/2006/relationships/notesSlide" Target="notesSlides/notesSlide5.xml"/><Relationship Id="rId46" Type="http://schemas.openxmlformats.org/officeDocument/2006/relationships/notesSlide" Target="notesSlides/notesSlide6.xml"/><Relationship Id="rId47" Type="http://schemas.openxmlformats.org/officeDocument/2006/relationships/notesSlide" Target="notesSlides/notesSlide7.xml"/><Relationship Id="rId48" Type="http://schemas.openxmlformats.org/officeDocument/2006/relationships/notesSlide" Target="notesSlides/notesSlide8.xml"/><Relationship Id="rId49" Type="http://schemas.openxmlformats.org/officeDocument/2006/relationships/notesSlide" Target="notesSlides/notesSlide9.xml"/><Relationship Id="rId50" Type="http://schemas.openxmlformats.org/officeDocument/2006/relationships/notesSlide" Target="notesSlides/notesSlide10.xml"/><Relationship Id="rId51" Type="http://schemas.openxmlformats.org/officeDocument/2006/relationships/notesSlide" Target="notesSlides/notesSlide11.xml"/><Relationship Id="rId52" Type="http://schemas.openxmlformats.org/officeDocument/2006/relationships/notesSlide" Target="notesSlides/notesSlide12.xml"/><Relationship Id="rId53" Type="http://schemas.openxmlformats.org/officeDocument/2006/relationships/notesSlide" Target="notesSlides/notesSlide13.xml"/><Relationship Id="rId54" Type="http://schemas.openxmlformats.org/officeDocument/2006/relationships/notesSlide" Target="notesSlides/notesSlide14.xml"/><Relationship Id="rId55" Type="http://schemas.openxmlformats.org/officeDocument/2006/relationships/notesSlide" Target="notesSlides/notesSlide15.xml"/><Relationship Id="rId56" Type="http://schemas.openxmlformats.org/officeDocument/2006/relationships/notesSlide" Target="notesSlides/notesSlide16.xml"/><Relationship Id="rId57" Type="http://schemas.openxmlformats.org/officeDocument/2006/relationships/notesSlide" Target="notesSlides/notesSlide17.xml"/><Relationship Id="rId58" Type="http://schemas.openxmlformats.org/officeDocument/2006/relationships/notesSlide" Target="notesSlides/notesSlide18.xml"/><Relationship Id="rId59" Type="http://schemas.openxmlformats.org/officeDocument/2006/relationships/notesSlide" Target="notesSlides/not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IT Status Update to CEO, 01 Oct 2026, slide 2, with the review comments applied: Shufti credit shown as compensation; CRM and Reporting Dashboard added in the same format; target date column added. The Google Play item is the security update to the current app, not the Next App. The Shufti KYC flow is an internal demo and will not go live. The sanity test date for Next App v1 was left blank in the source, so it shows as to be confirmed. iGentech: 10,750 to 5,625 is -47.7%.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IT Status Update to CEO, 01 Oct 2026, slide 3. The source said testing starts when v1 arrives on 09 Oct but gives 08 Oct everywhere else; 08 Oct is used. Sanity test date not given in the source.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IT Status Update to CEO, 01 Oct 2026, slide 4. This is the security API update Google requires for the current Android app, not the Next App. 182 cases: 158 passed, 19 skipped, 4 N/A, 1 failed; 158 of 159 executed = 99.4%. Module rows add up to the totals. Chart drawn from shapes so it imports into Canva. Tester names removed, in line with the review comment on the Helpdesk slide.</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Paid media (Board plan): $30,000 Sep to Dec from the $62,477 reserve; Google Search Saudi $9K and other GCC $6K; LinkedIn Affluent Saudi $9K and other GCC $6K. Segments: Starter under $1K and Emerging $1K-5K via Google Ads; Affluent $5K-50K via LinkedIn lead gen. CAC targets Starter $167, Emerging $417, Affluent $882. GA4 shows only the two Saudi Google campaigns so far; LinkedIn lead forms keep users on LinkedIn, so no LinkedIn sessions is expected. Mention &amp; Win: monthly $500 contest in all six GCC countries (24F briefing), approved caption 'Follow, mention, and open an eMYAA account for a chance to win $500'; $3,200 prizes and ads budgeted Sep-Dec; 186K and 26.3K views on campaign posts; current round 23 Sep to 20 Oct per team. $5,000 Prize Campaign: 1 Aug to 31 Dec 2026, draw 10 Jan 2027, prize $500 to $5,000 by trading-volume tier, one entry per $500 traded; landing pages live; bilingual T&amp;Cs sent for approval 20 Jul, no sign-off on file. Creators: Musheera (Jul) 5.3M, Ali Sabeel (Aug, posted 2 Sep) 1.3M, Abdulelah Al Harbi (Sep) no view count yet, how-to video with presenter 332, Manal Talal on the October calendar for 22 Oct, Hamed Al Bloushi November per rollout. Social: Instagram 2,116 followers; LinkedIn 531 (586 in an earlier count; 247 new vs 4 in the prior 30 days); X 738 followers; TikTok 15 followers; no September exports for any channel.</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Traffic: 587 sessions 1-28 Sep; google / cpc 409 (69.7%), direct 92, organic 39, referral 32 (incl. 7 Tag Assistant test sessions), ChatGPT 9, not available 6. 403 of 542 active users (74.4%) had Google Ads as first source. The GA home card reports 384 active users for 21-27 Sep, +793% vs the previous week; the prior week (about 43) is implied, not exported, so the figure stays 'reported'. Downloads (Android + iOS) on dashboard dates: 373, 403, 423, 437, 473; onboarded 48, 49, 52, 57, 60; funded accounts 13 on 21 Sep, 15 on 27 Sep; 54 trades. English vs Arabic Google Ads (1-28 Sep): engagement 97.2% vs 86.9%, key events per session 0.94 vs 1.05; the key event is not defined, so keep both live until it is defined and costed.</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English vs Arabic, 1-28 Sep: sessions 212 vs 176 (+20.5%); active users 208 vs 175 (+18.9%); engaged sessions 206 vs 153 (+34.6%); engagement rate 97.2% vs 86.9% (+10.2 points, +11.8% relative); average engagement time per session 19.9s vs 16.0s (+24.2%); events per session 6.49 vs 5.44 (+19.2%); event count 1,376 vs 958 (+43.6%); key events 200 vs 185 (+8.1%); key events per session 0.94 vs 1.05 (Arabic ahead by 10.2%). Early data from about one week of spend, and spend per campaign is not in the export, so this compares engagement, not cost efficiency. The previous draft's claim that English leads 'on every measured metric' is not correct.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English vs Arabic, 1-28 Sep: sessions 212 vs 176 (+20.5%); active users 208 vs 175 (+18.9%); engaged sessions 206 vs 153 (+34.6%); engagement rate 97.2% vs 86.9% (+10.2 points, +11.8% relative); average engagement time per session 19.9s vs 16.0s (+24.2%); events per session 6.49 vs 5.44 (+19.2%); event count 1,376 vs 958 (+43.6%); key events 200 vs 185 (+8.1%); key events per session 0.94 vs 1.05 (Arabic ahead by 10.2%). Early data from about one week of spend, and spend per campaign is not in the export, so this compares engagement, not cost efficiency. The previous draft's claim that English leads 'on every measured metric' is not correct.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English vs Arabic, 1-28 Sep: sessions 212 vs 176 (+20.5%); active users 208 vs 175 (+18.9%); engaged sessions 206 vs 153 (+34.6%); engagement rate 97.2% vs 86.9% (+10.2 points, +11.8% relative); average engagement time per session 19.9s vs 16.0s (+24.2%); events per session 6.49 vs 5.44 (+19.2%); event count 1,376 vs 958 (+43.6%); key events 200 vs 185 (+8.1%); key events per session 0.94 vs 1.05 (Arabic ahead by 10.2%). Early data from about one week of spend, and spend per campaign is not in the export, so this compares engagement, not cost efficiency. The previous draft's claim that English leads 'on every measured metric' is not correct.</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Source: IT Status Update to CEO, 01 Oct 2026, slide 5. Names and IDs removed and slide moved to the appendix, as the review comments asked. Counts: 7 logged = 3 done + 1 in progress + 3 new.</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Installs (Android + iOS, cumulative) on dashboard report dates: 1 Sep 373, 2 Sep 389, 3 Sep 395, 8 Sep 403, 9 Sep 410, 10 Sep 414, 13 Sep 419, 14 Sep 423, 16 Sep 430, 17 Sep 432, 20 Sep 437, 21 Sep 437, 22 Sep 452, 23 Sep 454, 24 Sep 455, 27 Sep 473. Report dates are irregular, so the line is spaced by report, not by calendar day. Pace: +36 in the six days 21-27 Sep (6 a day) vs +30 in 1-8 Sep (4.3 a day, when the Ali Sabeel video and baseline sponsor ads were running) and +14 in 14-21 Sep. Split 21-27 Sep: Android +17, iOS +19. Funnel: 409 google / cpc sessions and 400 key events in GA4 (1-28 Sep); the key event is not defined in the export. Installs and onboarding come from the platform dashboard and cover all sources; there is no link yet from an ad click to an install. The app link (onelink.to/gpbwrg) already exists and can carry campaign tags. Onboarded users 57 to 60 over 21-27 Sep.</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4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9.jpe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45.png"/><Relationship Id="rId11" Type="http://schemas.openxmlformats.org/officeDocument/2006/relationships/image" Target="../media/image46.png"/><Relationship Id="rId12" Type="http://schemas.openxmlformats.org/officeDocument/2006/relationships/image" Target="../media/image4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10.jpeg"/><Relationship Id="rId8" Type="http://schemas.openxmlformats.org/officeDocument/2006/relationships/image" Target="../media/image11.png"/><Relationship Id="rId9" Type="http://schemas.openxmlformats.org/officeDocument/2006/relationships/image" Target="../media/image12.svg"/><Relationship Id="rId10" Type="http://schemas.openxmlformats.org/officeDocument/2006/relationships/image" Target="../media/image13.png"/><Relationship Id="rId11" Type="http://schemas.openxmlformats.org/officeDocument/2006/relationships/image" Target="../media/image14.svg"/><Relationship Id="rId12" Type="http://schemas.openxmlformats.org/officeDocument/2006/relationships/image" Target="../media/image18.png"/><Relationship Id="rId13" Type="http://schemas.openxmlformats.org/officeDocument/2006/relationships/image" Target="../media/image19.png"/><Relationship Id="rId14" Type="http://schemas.openxmlformats.org/officeDocument/2006/relationships/image" Target="../media/image45.png"/><Relationship Id="rId15" Type="http://schemas.openxmlformats.org/officeDocument/2006/relationships/image" Target="../media/image48.png"/><Relationship Id="rId16" Type="http://schemas.openxmlformats.org/officeDocument/2006/relationships/image" Target="../media/image4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8.png"/><Relationship Id="rId7" Type="http://schemas.openxmlformats.org/officeDocument/2006/relationships/image" Target="../media/image15.jpeg"/><Relationship Id="rId8" Type="http://schemas.openxmlformats.org/officeDocument/2006/relationships/image" Target="../media/image16.jpeg"/><Relationship Id="rId9" Type="http://schemas.openxmlformats.org/officeDocument/2006/relationships/image" Target="../media/image9.jpe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45.png"/><Relationship Id="rId13" Type="http://schemas.openxmlformats.org/officeDocument/2006/relationships/image" Target="../media/image5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4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9.jpeg"/><Relationship Id="rId5" Type="http://schemas.openxmlformats.org/officeDocument/2006/relationships/image" Target="../media/image5.jpe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4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9.jpeg"/><Relationship Id="rId5" Type="http://schemas.openxmlformats.org/officeDocument/2006/relationships/image" Target="../media/image5.jpe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4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9.jpeg"/><Relationship Id="rId5" Type="http://schemas.openxmlformats.org/officeDocument/2006/relationships/image" Target="../media/image5.jpe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4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45.png"/><Relationship Id="rId9" Type="http://schemas.openxmlformats.org/officeDocument/2006/relationships/image" Target="../media/image51.png"/><Relationship Id="rId10" Type="http://schemas.openxmlformats.org/officeDocument/2006/relationships/image" Target="../media/image52.png"/><Relationship Id="rId11" Type="http://schemas.openxmlformats.org/officeDocument/2006/relationships/image" Target="../media/image47.png"/><Relationship Id="rId12" Type="http://schemas.openxmlformats.org/officeDocument/2006/relationships/image" Target="../media/image5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45.png"/><Relationship Id="rId9" Type="http://schemas.openxmlformats.org/officeDocument/2006/relationships/image" Target="../media/image5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image" Target="../media/image8.pn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4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4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8.png"/><Relationship Id="rId4" Type="http://schemas.openxmlformats.org/officeDocument/2006/relationships/image" Target="../media/image5.jpe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17.png"/><Relationship Id="rId12" Type="http://schemas.openxmlformats.org/officeDocument/2006/relationships/image" Target="../media/image9.jpeg"/><Relationship Id="rId13" Type="http://schemas.openxmlformats.org/officeDocument/2006/relationships/image" Target="../media/image6.png"/><Relationship Id="rId14" Type="http://schemas.openxmlformats.org/officeDocument/2006/relationships/image" Target="../media/image7.svg"/><Relationship Id="rId15" Type="http://schemas.openxmlformats.org/officeDocument/2006/relationships/image" Target="../media/image4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5.jpe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7.png"/><Relationship Id="rId8" Type="http://schemas.openxmlformats.org/officeDocument/2006/relationships/image" Target="../media/image9.jpe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4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5.jpe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7.png"/><Relationship Id="rId8" Type="http://schemas.openxmlformats.org/officeDocument/2006/relationships/image" Target="../media/image9.jpe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4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8.png"/><Relationship Id="rId4" Type="http://schemas.openxmlformats.org/officeDocument/2006/relationships/image" Target="../media/image5.jpe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5.jpeg"/><Relationship Id="rId8" Type="http://schemas.openxmlformats.org/officeDocument/2006/relationships/video" Target="../media/VAHWpgKSDtM.mp4"/><Relationship Id="rId9" Type="http://schemas.microsoft.com/office/2007/relationships/media" Target="../media/VAHWpgKSDtM.mp4"/><Relationship Id="rId10" Type="http://schemas.openxmlformats.org/officeDocument/2006/relationships/image" Target="../media/image17.png"/><Relationship Id="rId11" Type="http://schemas.openxmlformats.org/officeDocument/2006/relationships/image" Target="../media/image9.jpeg"/><Relationship Id="rId12" Type="http://schemas.openxmlformats.org/officeDocument/2006/relationships/image" Target="../media/image6.png"/><Relationship Id="rId13" Type="http://schemas.openxmlformats.org/officeDocument/2006/relationships/image" Target="../media/image7.svg"/><Relationship Id="rId14" Type="http://schemas.openxmlformats.org/officeDocument/2006/relationships/image" Target="../media/image45.png"/><Relationship Id="rId15" Type="http://schemas.openxmlformats.org/officeDocument/2006/relationships/image" Target="../media/image55.png"/><Relationship Id="rId16" Type="http://schemas.openxmlformats.org/officeDocument/2006/relationships/image" Target="../media/image4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5.jpe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7.png"/><Relationship Id="rId8" Type="http://schemas.openxmlformats.org/officeDocument/2006/relationships/image" Target="../media/image9.jpe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4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4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svg"/><Relationship Id="rId7" Type="http://schemas.openxmlformats.org/officeDocument/2006/relationships/image" Target="../media/image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svg"/><Relationship Id="rId4" Type="http://schemas.openxmlformats.org/officeDocument/2006/relationships/image" Target="../media/image5.jpeg"/><Relationship Id="rId5" Type="http://schemas.openxmlformats.org/officeDocument/2006/relationships/image" Target="../media/image9.jpeg"/><Relationship Id="rId6" Type="http://schemas.openxmlformats.org/officeDocument/2006/relationships/image" Target="../media/image28.png"/><Relationship Id="rId7" Type="http://schemas.openxmlformats.org/officeDocument/2006/relationships/image" Target="../media/image29.svg"/><Relationship Id="rId8" Type="http://schemas.openxmlformats.org/officeDocument/2006/relationships/image" Target="../media/image30.png"/><Relationship Id="rId9" Type="http://schemas.openxmlformats.org/officeDocument/2006/relationships/image" Target="../media/image31.svg"/><Relationship Id="rId10" Type="http://schemas.openxmlformats.org/officeDocument/2006/relationships/image" Target="../media/image17.png"/><Relationship Id="rId11" Type="http://schemas.openxmlformats.org/officeDocument/2006/relationships/image" Target="../media/image32.png"/><Relationship Id="rId12" Type="http://schemas.openxmlformats.org/officeDocument/2006/relationships/image" Target="../media/image33.svg"/><Relationship Id="rId13" Type="http://schemas.openxmlformats.org/officeDocument/2006/relationships/image" Target="../media/image34.png"/><Relationship Id="rId14" Type="http://schemas.openxmlformats.org/officeDocument/2006/relationships/image" Target="../media/image35.svg"/><Relationship Id="rId15" Type="http://schemas.openxmlformats.org/officeDocument/2006/relationships/image" Target="../media/image6.png"/><Relationship Id="rId16" Type="http://schemas.openxmlformats.org/officeDocument/2006/relationships/image" Target="../media/image7.svg"/><Relationship Id="rId17" Type="http://schemas.openxmlformats.org/officeDocument/2006/relationships/image" Target="../media/image18.png"/><Relationship Id="rId18" Type="http://schemas.openxmlformats.org/officeDocument/2006/relationships/image" Target="../media/image19.png"/><Relationship Id="rId19" Type="http://schemas.openxmlformats.org/officeDocument/2006/relationships/image" Target="../media/image56.png"/><Relationship Id="rId20" Type="http://schemas.openxmlformats.org/officeDocument/2006/relationships/image" Target="../media/image57.png"/><Relationship Id="rId21" Type="http://schemas.openxmlformats.org/officeDocument/2006/relationships/image" Target="../media/image58.png"/><Relationship Id="rId22" Type="http://schemas.openxmlformats.org/officeDocument/2006/relationships/image" Target="../media/image59.png"/><Relationship Id="rId23" Type="http://schemas.openxmlformats.org/officeDocument/2006/relationships/image" Target="../media/image4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9.jpeg"/><Relationship Id="rId5" Type="http://schemas.openxmlformats.org/officeDocument/2006/relationships/image" Target="../media/image5.jpeg"/><Relationship Id="rId6" Type="http://schemas.openxmlformats.org/officeDocument/2006/relationships/image" Target="../media/image30.png"/><Relationship Id="rId7" Type="http://schemas.openxmlformats.org/officeDocument/2006/relationships/image" Target="../media/image31.svg"/><Relationship Id="rId8" Type="http://schemas.openxmlformats.org/officeDocument/2006/relationships/image" Target="../media/image6.png"/><Relationship Id="rId9" Type="http://schemas.openxmlformats.org/officeDocument/2006/relationships/image" Target="../media/image7.sv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4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9.jpeg"/><Relationship Id="rId4" Type="http://schemas.openxmlformats.org/officeDocument/2006/relationships/image" Target="../media/image5.jpeg"/><Relationship Id="rId5" Type="http://schemas.openxmlformats.org/officeDocument/2006/relationships/image" Target="../media/image30.png"/><Relationship Id="rId6" Type="http://schemas.openxmlformats.org/officeDocument/2006/relationships/image" Target="../media/image31.svg"/><Relationship Id="rId7" Type="http://schemas.openxmlformats.org/officeDocument/2006/relationships/image" Target="../media/image36.png"/><Relationship Id="rId8" Type="http://schemas.openxmlformats.org/officeDocument/2006/relationships/image" Target="../media/image37.sv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60.png"/><Relationship Id="rId14"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5.jpe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17.png"/><Relationship Id="rId8" Type="http://schemas.openxmlformats.org/officeDocument/2006/relationships/image" Target="../media/image9.jpe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4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eg"/><Relationship Id="rId3" Type="http://schemas.openxmlformats.org/officeDocument/2006/relationships/image" Target="../media/image39.jpeg"/><Relationship Id="rId4" Type="http://schemas.openxmlformats.org/officeDocument/2006/relationships/image" Target="../media/image5.jpe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jpeg"/><Relationship Id="rId8" Type="http://schemas.openxmlformats.org/officeDocument/2006/relationships/image" Target="../media/image43.png"/><Relationship Id="rId9" Type="http://schemas.openxmlformats.org/officeDocument/2006/relationships/image" Target="../media/image6.png"/><Relationship Id="rId10" Type="http://schemas.openxmlformats.org/officeDocument/2006/relationships/image" Target="../media/image7.svg"/><Relationship Id="rId11" Type="http://schemas.openxmlformats.org/officeDocument/2006/relationships/image" Target="../media/image18.png"/><Relationship Id="rId12" Type="http://schemas.openxmlformats.org/officeDocument/2006/relationships/image" Target="../media/image19.png"/><Relationship Id="rId13"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image" Target="../media/image8.png"/><Relationship Id="rId5" Type="http://schemas.openxmlformats.org/officeDocument/2006/relationships/image" Target="../media/image5.jpe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4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7.svg"/><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45.png"/><Relationship Id="rId9" Type="http://schemas.openxmlformats.org/officeDocument/2006/relationships/image" Target="../media/image61.png"/><Relationship Id="rId10" Type="http://schemas.openxmlformats.org/officeDocument/2006/relationships/image" Target="../media/image47.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txBody>
            <a:bodyPr/>
            <a:p/>
          </p:txBody>
        </p:sp>
      </p:grpSp>
      <p:sp>
        <p:nvSpPr>
          <p:cNvPr name="TextBox 4" id="4"/>
          <p:cNvSpPr txBox="true"/>
          <p:nvPr/>
        </p:nvSpPr>
        <p:spPr>
          <a:xfrm rot="0">
            <a:off x="1292489" y="4455364"/>
            <a:ext cx="15703023" cy="1285875"/>
          </a:xfrm>
          <a:prstGeom prst="rect">
            <a:avLst/>
          </a:prstGeom>
        </p:spPr>
        <p:txBody>
          <a:bodyPr anchor="t" rtlCol="false" tIns="0" lIns="0" bIns="0" rIns="0">
            <a:spAutoFit/>
          </a:bodyPr>
          <a:lstStyle/>
          <a:p>
            <a:pPr algn="ctr">
              <a:lnSpc>
                <a:spcPts val="10199"/>
              </a:lnSpc>
            </a:pPr>
            <a:r>
              <a:rPr lang="en-US" b="true" sz="8499">
                <a:solidFill>
                  <a:srgbClr val="FFFFFF"/>
                </a:solidFill>
                <a:latin typeface="Exo 2 Bold"/>
                <a:ea typeface="Exo 2 Bold"/>
                <a:cs typeface="Exo 2 Bold"/>
                <a:sym typeface="Exo 2 Bold"/>
              </a:rPr>
              <a:t>eMYAA Trading Platform</a:t>
            </a:r>
          </a:p>
        </p:txBody>
      </p:sp>
      <p:sp>
        <p:nvSpPr>
          <p:cNvPr name="TextBox 5" id="5"/>
          <p:cNvSpPr txBox="true"/>
          <p:nvPr/>
        </p:nvSpPr>
        <p:spPr>
          <a:xfrm rot="0">
            <a:off x="7243366" y="6305790"/>
            <a:ext cx="3801269" cy="1206288"/>
          </a:xfrm>
          <a:prstGeom prst="rect">
            <a:avLst/>
          </a:prstGeom>
        </p:spPr>
        <p:txBody>
          <a:bodyPr anchor="t" rtlCol="false" tIns="0" lIns="0" bIns="0" rIns="0">
            <a:spAutoFit/>
          </a:bodyPr>
          <a:lstStyle/>
          <a:p>
            <a:pPr algn="ctr">
              <a:lnSpc>
                <a:spcPts val="4828"/>
              </a:lnSpc>
            </a:pPr>
            <a:r>
              <a:rPr lang="en-US" sz="3376">
                <a:solidFill>
                  <a:srgbClr val="94A3B8"/>
                </a:solidFill>
                <a:latin typeface="Exo 2"/>
                <a:ea typeface="Exo 2"/>
                <a:cs typeface="Exo 2"/>
                <a:sym typeface="Exo 2"/>
              </a:rPr>
              <a:t>Progress Update</a:t>
            </a:r>
          </a:p>
          <a:p>
            <a:pPr algn="ctr">
              <a:lnSpc>
                <a:spcPts val="4828"/>
              </a:lnSpc>
            </a:pPr>
            <a:r>
              <a:rPr lang="en-US" sz="3376" i="true">
                <a:solidFill>
                  <a:srgbClr val="94A3B8"/>
                </a:solidFill>
                <a:latin typeface="Exo 2 Italics"/>
                <a:ea typeface="Exo 2 Italics"/>
                <a:cs typeface="Exo 2 Italics"/>
                <a:sym typeface="Exo 2 Italics"/>
              </a:rPr>
              <a:t> 1</a:t>
            </a:r>
            <a:r>
              <a:rPr lang="en-US" sz="3376" i="true">
                <a:solidFill>
                  <a:srgbClr val="94A3B8"/>
                </a:solidFill>
                <a:latin typeface="Exo 2 Italics"/>
                <a:ea typeface="Exo 2 Italics"/>
                <a:cs typeface="Exo 2 Italics"/>
                <a:sym typeface="Exo 2 Italics"/>
              </a:rPr>
              <a:t>st</a:t>
            </a:r>
            <a:r>
              <a:rPr lang="en-US" sz="3376" i="true">
                <a:solidFill>
                  <a:srgbClr val="94A3B8"/>
                </a:solidFill>
                <a:latin typeface="Exo 2 Italics"/>
                <a:ea typeface="Exo 2 Italics"/>
                <a:cs typeface="Exo 2 Italics"/>
                <a:sym typeface="Exo 2 Italics"/>
              </a:rPr>
              <a:t> of October, 2026</a:t>
            </a:r>
          </a:p>
        </p:txBody>
      </p:sp>
      <p:grpSp>
        <p:nvGrpSpPr>
          <p:cNvPr name="Group 6" id="6"/>
          <p:cNvGrpSpPr/>
          <p:nvPr/>
        </p:nvGrpSpPr>
        <p:grpSpPr>
          <a:xfrm rot="0">
            <a:off x="14630340" y="1028700"/>
            <a:ext cx="2628960" cy="757148"/>
            <a:chOff x="0" y="0"/>
            <a:chExt cx="6614516" cy="1905000"/>
          </a:xfrm>
        </p:grpSpPr>
        <p:sp>
          <p:nvSpPr>
            <p:cNvPr name="Freeform 7" id="7"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8" id="8"/>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7"/>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8"/>
              <a:stretch>
                <a:fillRect l="0" t="-21749" r="0" b="-21749"/>
              </a:stretch>
            </a:blipFill>
          </p:spPr>
          <p:txBody>
            <a:bodyPr/>
            <a:p/>
          </p:txBody>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txBody>
            <a:bodyPr/>
            <a:p/>
          </p:txBody>
        </p:sp>
      </p:grpSp>
      <p:sp>
        <p:nvSpPr>
          <p:cNvPr name="Freeform 8" id="7"/>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0"/>
            <a:stretch>
              <a:fillRect l="0" t="0" r="0" b="0"/>
            </a:stretch>
          </a:blipFill>
        </p:spPr>
        <p:txBody>
          <a:bodyPr/>
          <a:p/>
        </p:txBody>
      </p:sp>
      <p:grpSp>
        <p:nvGrpSpPr>
          <p:cNvPr name="Group 10" id="8"/>
          <p:cNvGrpSpPr/>
          <p:nvPr/>
        </p:nvGrpSpPr>
        <p:grpSpPr>
          <a:xfrm rot="0">
            <a:off x="492442" y="1803934"/>
            <a:ext cx="3996690" cy="1802130"/>
            <a:chOff x="0" y="0"/>
            <a:chExt cx="5328920" cy="2402840"/>
          </a:xfrm>
        </p:grpSpPr>
        <p:sp>
          <p:nvSpPr>
            <p:cNvPr name="Freeform 11" id="9"/>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1"/>
              <a:stretch>
                <a:fillRect/>
              </a:stretch>
            </a:blipFill>
          </p:spPr>
          <p:txBody>
            <a:bodyPr/>
            <a:p/>
          </p:txBody>
        </p:sp>
        <p:sp>
          <p:nvSpPr>
            <p:cNvPr name="Freeform 12" id="10"/>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p/>
          </p:txBody>
        </p:sp>
      </p:grpSp>
      <p:grpSp>
        <p:nvGrpSpPr>
          <p:cNvPr name="Group 13" id="11"/>
          <p:cNvGrpSpPr/>
          <p:nvPr/>
        </p:nvGrpSpPr>
        <p:grpSpPr>
          <a:xfrm rot="0">
            <a:off x="4881562" y="1803934"/>
            <a:ext cx="3996690" cy="1802130"/>
            <a:chOff x="0" y="0"/>
            <a:chExt cx="5328920" cy="2402840"/>
          </a:xfrm>
        </p:grpSpPr>
        <p:sp>
          <p:nvSpPr>
            <p:cNvPr name="Freeform 14" id="12"/>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1"/>
              <a:stretch>
                <a:fillRect/>
              </a:stretch>
            </a:blipFill>
          </p:spPr>
          <p:txBody>
            <a:bodyPr/>
            <a:p/>
          </p:txBody>
        </p:sp>
        <p:sp>
          <p:nvSpPr>
            <p:cNvPr name="Freeform 15" id="13"/>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p/>
          </p:txBody>
        </p:sp>
      </p:grpSp>
      <p:grpSp>
        <p:nvGrpSpPr>
          <p:cNvPr name="Group 16" id="14"/>
          <p:cNvGrpSpPr/>
          <p:nvPr/>
        </p:nvGrpSpPr>
        <p:grpSpPr>
          <a:xfrm rot="0">
            <a:off x="9270682" y="1803934"/>
            <a:ext cx="3996690" cy="1802130"/>
            <a:chOff x="0" y="0"/>
            <a:chExt cx="5328920" cy="2402840"/>
          </a:xfrm>
        </p:grpSpPr>
        <p:sp>
          <p:nvSpPr>
            <p:cNvPr name="Freeform 17" id="15"/>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1"/>
              <a:stretch>
                <a:fillRect/>
              </a:stretch>
            </a:blipFill>
          </p:spPr>
          <p:txBody>
            <a:bodyPr/>
            <a:p/>
          </p:txBody>
        </p:sp>
        <p:sp>
          <p:nvSpPr>
            <p:cNvPr name="Freeform 18" id="16"/>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p/>
          </p:txBody>
        </p:sp>
      </p:grpSp>
      <p:grpSp>
        <p:nvGrpSpPr>
          <p:cNvPr name="Group 19" id="17"/>
          <p:cNvGrpSpPr/>
          <p:nvPr/>
        </p:nvGrpSpPr>
        <p:grpSpPr>
          <a:xfrm rot="0">
            <a:off x="13659802" y="1803934"/>
            <a:ext cx="3996690" cy="1802130"/>
            <a:chOff x="0" y="0"/>
            <a:chExt cx="5328920" cy="2402840"/>
          </a:xfrm>
        </p:grpSpPr>
        <p:sp>
          <p:nvSpPr>
            <p:cNvPr name="Freeform 20" id="18"/>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1"/>
              <a:stretch>
                <a:fillRect/>
              </a:stretch>
            </a:blipFill>
          </p:spPr>
          <p:txBody>
            <a:bodyPr/>
            <a:p/>
          </p:txBody>
        </p:sp>
        <p:sp>
          <p:nvSpPr>
            <p:cNvPr name="Freeform 21" id="19"/>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p/>
          </p:txBody>
        </p:sp>
      </p:grpSp>
      <p:grpSp>
        <p:nvGrpSpPr>
          <p:cNvPr name="Group 22" id="20"/>
          <p:cNvGrpSpPr/>
          <p:nvPr/>
        </p:nvGrpSpPr>
        <p:grpSpPr>
          <a:xfrm rot="0">
            <a:off x="476726" y="3931417"/>
            <a:ext cx="3996690" cy="1802130"/>
            <a:chOff x="0" y="0"/>
            <a:chExt cx="5328920" cy="2402840"/>
          </a:xfrm>
        </p:grpSpPr>
        <p:sp>
          <p:nvSpPr>
            <p:cNvPr name="Freeform 23" id="21"/>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1"/>
              <a:stretch>
                <a:fillRect/>
              </a:stretch>
            </a:blipFill>
          </p:spPr>
          <p:txBody>
            <a:bodyPr/>
            <a:p/>
          </p:txBody>
        </p:sp>
        <p:sp>
          <p:nvSpPr>
            <p:cNvPr name="Freeform 24" id="22"/>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p/>
          </p:txBody>
        </p:sp>
      </p:grpSp>
      <p:grpSp>
        <p:nvGrpSpPr>
          <p:cNvPr name="Group 25" id="23"/>
          <p:cNvGrpSpPr/>
          <p:nvPr/>
        </p:nvGrpSpPr>
        <p:grpSpPr>
          <a:xfrm rot="0">
            <a:off x="4865846" y="3931417"/>
            <a:ext cx="3996690" cy="1802130"/>
            <a:chOff x="0" y="0"/>
            <a:chExt cx="5328920" cy="2402840"/>
          </a:xfrm>
        </p:grpSpPr>
        <p:sp>
          <p:nvSpPr>
            <p:cNvPr name="Freeform 26" id="24"/>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1"/>
              <a:stretch>
                <a:fillRect/>
              </a:stretch>
            </a:blipFill>
          </p:spPr>
          <p:txBody>
            <a:bodyPr/>
            <a:p/>
          </p:txBody>
        </p:sp>
        <p:sp>
          <p:nvSpPr>
            <p:cNvPr name="Freeform 27" id="25"/>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p/>
          </p:txBody>
        </p:sp>
      </p:grpSp>
      <p:grpSp>
        <p:nvGrpSpPr>
          <p:cNvPr name="Group 28" id="26"/>
          <p:cNvGrpSpPr/>
          <p:nvPr/>
        </p:nvGrpSpPr>
        <p:grpSpPr>
          <a:xfrm rot="0">
            <a:off x="9254966" y="3931417"/>
            <a:ext cx="3996690" cy="1802130"/>
            <a:chOff x="0" y="0"/>
            <a:chExt cx="5328920" cy="2402840"/>
          </a:xfrm>
        </p:grpSpPr>
        <p:sp>
          <p:nvSpPr>
            <p:cNvPr name="Freeform 29" id="27"/>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1"/>
              <a:stretch>
                <a:fillRect/>
              </a:stretch>
            </a:blipFill>
          </p:spPr>
          <p:txBody>
            <a:bodyPr/>
            <a:p/>
          </p:txBody>
        </p:sp>
        <p:sp>
          <p:nvSpPr>
            <p:cNvPr name="Freeform 30" id="28"/>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p/>
          </p:txBody>
        </p:sp>
      </p:grpSp>
      <p:grpSp>
        <p:nvGrpSpPr>
          <p:cNvPr name="Group 31" id="29"/>
          <p:cNvGrpSpPr/>
          <p:nvPr/>
        </p:nvGrpSpPr>
        <p:grpSpPr>
          <a:xfrm rot="0">
            <a:off x="13644086" y="3931417"/>
            <a:ext cx="3996690" cy="1802130"/>
            <a:chOff x="0" y="0"/>
            <a:chExt cx="5328920" cy="2402840"/>
          </a:xfrm>
        </p:grpSpPr>
        <p:sp>
          <p:nvSpPr>
            <p:cNvPr name="Freeform 32" id="30"/>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1"/>
              <a:stretch>
                <a:fillRect/>
              </a:stretch>
            </a:blipFill>
          </p:spPr>
          <p:txBody>
            <a:bodyPr/>
            <a:p/>
          </p:txBody>
        </p:sp>
        <p:sp>
          <p:nvSpPr>
            <p:cNvPr name="Freeform 33" id="31"/>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p/>
          </p:txBody>
        </p:sp>
      </p:grpSp>
      <p:grpSp>
        <p:nvGrpSpPr>
          <p:cNvPr name="Group 34" id="32"/>
          <p:cNvGrpSpPr/>
          <p:nvPr/>
        </p:nvGrpSpPr>
        <p:grpSpPr>
          <a:xfrm rot="0">
            <a:off x="486251" y="1800446"/>
            <a:ext cx="3996690" cy="1802130"/>
            <a:chOff x="0" y="0"/>
            <a:chExt cx="5328920" cy="2402840"/>
          </a:xfrm>
        </p:grpSpPr>
        <p:sp>
          <p:nvSpPr>
            <p:cNvPr name="Freeform 35" id="33"/>
            <p:cNvSpPr/>
            <p:nvPr/>
          </p:nvSpPr>
          <p:spPr>
            <a:xfrm flipH="false" flipV="false" rot="0">
              <a:off x="12700" y="12700"/>
              <a:ext cx="5303520" cy="2377440"/>
            </a:xfrm>
            <a:custGeom>
              <a:avLst/>
              <a:gdLst/>
              <a:ahLst/>
              <a:cxnLst/>
              <a:rect r="r" b="b" t="t" l="l"/>
              <a:pathLst>
                <a:path h="2377440" w="5303520">
                  <a:moveTo>
                    <a:pt x="0" y="0"/>
                  </a:moveTo>
                  <a:lnTo>
                    <a:pt x="5303520" y="0"/>
                  </a:lnTo>
                  <a:lnTo>
                    <a:pt x="5303520" y="2377440"/>
                  </a:lnTo>
                  <a:lnTo>
                    <a:pt x="0" y="2377440"/>
                  </a:lnTo>
                  <a:close/>
                </a:path>
              </a:pathLst>
            </a:custGeom>
            <a:blipFill>
              <a:blip r:embed="rId11"/>
              <a:stretch>
                <a:fillRect/>
              </a:stretch>
            </a:blipFill>
          </p:spPr>
          <p:txBody>
            <a:bodyPr/>
            <a:p/>
          </p:txBody>
        </p:sp>
        <p:sp>
          <p:nvSpPr>
            <p:cNvPr name="Freeform 36" id="34"/>
            <p:cNvSpPr/>
            <p:nvPr/>
          </p:nvSpPr>
          <p:spPr>
            <a:xfrm flipH="false" flipV="false" rot="0">
              <a:off x="0" y="0"/>
              <a:ext cx="5328920" cy="2402840"/>
            </a:xfrm>
            <a:custGeom>
              <a:avLst/>
              <a:gdLst/>
              <a:ahLst/>
              <a:cxnLst/>
              <a:rect r="r" b="b" t="t" l="l"/>
              <a:pathLst>
                <a:path h="2402840" w="5328920">
                  <a:moveTo>
                    <a:pt x="12700" y="0"/>
                  </a:moveTo>
                  <a:lnTo>
                    <a:pt x="5316220" y="0"/>
                  </a:lnTo>
                  <a:cubicBezTo>
                    <a:pt x="5323205" y="0"/>
                    <a:pt x="5328920" y="5715"/>
                    <a:pt x="5328920" y="12700"/>
                  </a:cubicBezTo>
                  <a:lnTo>
                    <a:pt x="5328920" y="2390140"/>
                  </a:lnTo>
                  <a:cubicBezTo>
                    <a:pt x="5328920" y="2397125"/>
                    <a:pt x="5323205" y="2402840"/>
                    <a:pt x="5316220" y="2402840"/>
                  </a:cubicBezTo>
                  <a:lnTo>
                    <a:pt x="12700" y="2402840"/>
                  </a:lnTo>
                  <a:cubicBezTo>
                    <a:pt x="5715" y="2402840"/>
                    <a:pt x="0" y="2397125"/>
                    <a:pt x="0" y="2390140"/>
                  </a:cubicBezTo>
                  <a:lnTo>
                    <a:pt x="0" y="12700"/>
                  </a:lnTo>
                  <a:cubicBezTo>
                    <a:pt x="0" y="5715"/>
                    <a:pt x="5715" y="0"/>
                    <a:pt x="12700" y="0"/>
                  </a:cubicBezTo>
                  <a:moveTo>
                    <a:pt x="12700" y="25400"/>
                  </a:moveTo>
                  <a:lnTo>
                    <a:pt x="12700" y="12700"/>
                  </a:lnTo>
                  <a:lnTo>
                    <a:pt x="25400" y="12700"/>
                  </a:lnTo>
                  <a:lnTo>
                    <a:pt x="25400" y="2390140"/>
                  </a:lnTo>
                  <a:lnTo>
                    <a:pt x="12700" y="2390140"/>
                  </a:lnTo>
                  <a:lnTo>
                    <a:pt x="12700" y="2377440"/>
                  </a:lnTo>
                  <a:lnTo>
                    <a:pt x="5316220" y="2377440"/>
                  </a:lnTo>
                  <a:lnTo>
                    <a:pt x="5316220" y="2390140"/>
                  </a:lnTo>
                  <a:lnTo>
                    <a:pt x="5303520" y="2390140"/>
                  </a:lnTo>
                  <a:lnTo>
                    <a:pt x="5303520" y="12700"/>
                  </a:lnTo>
                  <a:lnTo>
                    <a:pt x="5316220" y="12700"/>
                  </a:lnTo>
                  <a:lnTo>
                    <a:pt x="5316220" y="25400"/>
                  </a:lnTo>
                  <a:lnTo>
                    <a:pt x="12700" y="25400"/>
                  </a:lnTo>
                  <a:close/>
                </a:path>
              </a:pathLst>
            </a:custGeom>
            <a:solidFill>
              <a:srgbClr val="121A2F"/>
            </a:solidFill>
          </p:spPr>
          <p:txBody>
            <a:bodyPr/>
            <a:p/>
          </p:txBody>
        </p:sp>
      </p:grpSp>
      <p:grpSp>
        <p:nvGrpSpPr>
          <p:cNvPr name="Group 37" id="35"/>
          <p:cNvGrpSpPr/>
          <p:nvPr/>
        </p:nvGrpSpPr>
        <p:grpSpPr>
          <a:xfrm rot="0">
            <a:off x="632936" y="1800444"/>
            <a:ext cx="3703320" cy="903818"/>
            <a:chOff x="0" y="0"/>
            <a:chExt cx="4937760" cy="1205090"/>
          </a:xfrm>
        </p:grpSpPr>
        <p:sp>
          <p:nvSpPr>
            <p:cNvPr name="Freeform 38" id="36"/>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txBody>
            <a:bodyPr/>
            <a:p/>
          </p:txBody>
        </p:sp>
      </p:grpSp>
      <p:grpSp>
        <p:nvGrpSpPr>
          <p:cNvPr name="Group 39" id="37"/>
          <p:cNvGrpSpPr/>
          <p:nvPr/>
        </p:nvGrpSpPr>
        <p:grpSpPr>
          <a:xfrm rot="0">
            <a:off x="632936" y="1793300"/>
            <a:ext cx="3703320" cy="910961"/>
            <a:chOff x="0" y="0"/>
            <a:chExt cx="4937760" cy="1214615"/>
          </a:xfrm>
        </p:grpSpPr>
        <p:sp>
          <p:nvSpPr>
            <p:cNvPr name="Freeform 40" id="38"/>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txBody>
            <a:bodyPr/>
            <a:p/>
          </p:txBody>
        </p:sp>
        <p:sp>
          <p:nvSpPr>
            <p:cNvPr name="TextBox 41" id="39"/>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490</a:t>
              </a:r>
            </a:p>
          </p:txBody>
        </p:sp>
      </p:grpSp>
      <p:grpSp>
        <p:nvGrpSpPr>
          <p:cNvPr name="Group 42" id="40"/>
          <p:cNvGrpSpPr/>
          <p:nvPr/>
        </p:nvGrpSpPr>
        <p:grpSpPr>
          <a:xfrm rot="0">
            <a:off x="632936" y="2608726"/>
            <a:ext cx="3703320" cy="499262"/>
            <a:chOff x="0" y="0"/>
            <a:chExt cx="4937760" cy="665683"/>
          </a:xfrm>
        </p:grpSpPr>
        <p:sp>
          <p:nvSpPr>
            <p:cNvPr name="Freeform 43" id="41"/>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txBody>
            <a:bodyPr/>
            <a:p/>
          </p:txBody>
        </p:sp>
      </p:grpSp>
      <p:grpSp>
        <p:nvGrpSpPr>
          <p:cNvPr name="Group 44" id="42"/>
          <p:cNvGrpSpPr/>
          <p:nvPr/>
        </p:nvGrpSpPr>
        <p:grpSpPr>
          <a:xfrm rot="0">
            <a:off x="632936" y="2601582"/>
            <a:ext cx="3703320" cy="506406"/>
            <a:chOff x="0" y="0"/>
            <a:chExt cx="4937760" cy="675208"/>
          </a:xfrm>
        </p:grpSpPr>
        <p:sp>
          <p:nvSpPr>
            <p:cNvPr name="Freeform 45" id="43"/>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txBody>
            <a:bodyPr/>
            <a:p/>
          </p:txBody>
        </p:sp>
        <p:sp>
          <p:nvSpPr>
            <p:cNvPr name="TextBox 46" id="44"/>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Total Downloads</a:t>
              </a:r>
            </a:p>
          </p:txBody>
        </p:sp>
      </p:grpSp>
      <p:grpSp>
        <p:nvGrpSpPr>
          <p:cNvPr name="Group 47" id="45"/>
          <p:cNvGrpSpPr/>
          <p:nvPr/>
        </p:nvGrpSpPr>
        <p:grpSpPr>
          <a:xfrm rot="0">
            <a:off x="5022056" y="1800444"/>
            <a:ext cx="3703320" cy="903818"/>
            <a:chOff x="0" y="0"/>
            <a:chExt cx="4937760" cy="1205090"/>
          </a:xfrm>
        </p:grpSpPr>
        <p:sp>
          <p:nvSpPr>
            <p:cNvPr name="Freeform 48" id="46"/>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txBody>
            <a:bodyPr/>
            <a:p/>
          </p:txBody>
        </p:sp>
      </p:grpSp>
      <p:grpSp>
        <p:nvGrpSpPr>
          <p:cNvPr name="Group 49" id="47"/>
          <p:cNvGrpSpPr/>
          <p:nvPr/>
        </p:nvGrpSpPr>
        <p:grpSpPr>
          <a:xfrm rot="0">
            <a:off x="5022056" y="1793300"/>
            <a:ext cx="3703320" cy="910961"/>
            <a:chOff x="0" y="0"/>
            <a:chExt cx="4937760" cy="1214615"/>
          </a:xfrm>
        </p:grpSpPr>
        <p:sp>
          <p:nvSpPr>
            <p:cNvPr name="Freeform 50" id="48"/>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txBody>
            <a:bodyPr/>
            <a:p/>
          </p:txBody>
        </p:sp>
        <p:sp>
          <p:nvSpPr>
            <p:cNvPr name="TextBox 51" id="49"/>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61</a:t>
              </a:r>
            </a:p>
          </p:txBody>
        </p:sp>
      </p:grpSp>
      <p:grpSp>
        <p:nvGrpSpPr>
          <p:cNvPr name="Group 52" id="50"/>
          <p:cNvGrpSpPr/>
          <p:nvPr/>
        </p:nvGrpSpPr>
        <p:grpSpPr>
          <a:xfrm rot="0">
            <a:off x="5022056" y="2608726"/>
            <a:ext cx="3703320" cy="499262"/>
            <a:chOff x="0" y="0"/>
            <a:chExt cx="4937760" cy="665683"/>
          </a:xfrm>
        </p:grpSpPr>
        <p:sp>
          <p:nvSpPr>
            <p:cNvPr name="Freeform 53" id="51"/>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txBody>
            <a:bodyPr/>
            <a:p/>
          </p:txBody>
        </p:sp>
      </p:grpSp>
      <p:grpSp>
        <p:nvGrpSpPr>
          <p:cNvPr name="Group 54" id="52"/>
          <p:cNvGrpSpPr/>
          <p:nvPr/>
        </p:nvGrpSpPr>
        <p:grpSpPr>
          <a:xfrm rot="0">
            <a:off x="5022056" y="2601582"/>
            <a:ext cx="3703320" cy="506406"/>
            <a:chOff x="0" y="0"/>
            <a:chExt cx="4937760" cy="675208"/>
          </a:xfrm>
        </p:grpSpPr>
        <p:sp>
          <p:nvSpPr>
            <p:cNvPr name="Freeform 55" id="53"/>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txBody>
            <a:bodyPr/>
            <a:p/>
          </p:txBody>
        </p:sp>
        <p:sp>
          <p:nvSpPr>
            <p:cNvPr name="TextBox 56" id="54"/>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Users Onboarded</a:t>
              </a:r>
            </a:p>
          </p:txBody>
        </p:sp>
      </p:grpSp>
      <p:grpSp>
        <p:nvGrpSpPr>
          <p:cNvPr name="Group 57" id="55"/>
          <p:cNvGrpSpPr/>
          <p:nvPr/>
        </p:nvGrpSpPr>
        <p:grpSpPr>
          <a:xfrm rot="0">
            <a:off x="9411176" y="1800444"/>
            <a:ext cx="3703320" cy="903818"/>
            <a:chOff x="0" y="0"/>
            <a:chExt cx="4937760" cy="1205090"/>
          </a:xfrm>
        </p:grpSpPr>
        <p:sp>
          <p:nvSpPr>
            <p:cNvPr name="Freeform 58" id="56"/>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txBody>
            <a:bodyPr/>
            <a:p/>
          </p:txBody>
        </p:sp>
      </p:grpSp>
      <p:grpSp>
        <p:nvGrpSpPr>
          <p:cNvPr name="Group 59" id="57"/>
          <p:cNvGrpSpPr/>
          <p:nvPr/>
        </p:nvGrpSpPr>
        <p:grpSpPr>
          <a:xfrm rot="0">
            <a:off x="9411176" y="1793300"/>
            <a:ext cx="3703320" cy="910961"/>
            <a:chOff x="0" y="0"/>
            <a:chExt cx="4937760" cy="1214615"/>
          </a:xfrm>
        </p:grpSpPr>
        <p:sp>
          <p:nvSpPr>
            <p:cNvPr name="Freeform 60" id="58"/>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txBody>
            <a:bodyPr/>
            <a:p/>
          </p:txBody>
        </p:sp>
        <p:sp>
          <p:nvSpPr>
            <p:cNvPr name="TextBox 61" id="59"/>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70</a:t>
              </a:r>
            </a:p>
          </p:txBody>
        </p:sp>
      </p:grpSp>
      <p:grpSp>
        <p:nvGrpSpPr>
          <p:cNvPr name="Group 62" id="60"/>
          <p:cNvGrpSpPr/>
          <p:nvPr/>
        </p:nvGrpSpPr>
        <p:grpSpPr>
          <a:xfrm rot="0">
            <a:off x="9411176" y="2608726"/>
            <a:ext cx="3703320" cy="499262"/>
            <a:chOff x="0" y="0"/>
            <a:chExt cx="4937760" cy="665683"/>
          </a:xfrm>
        </p:grpSpPr>
        <p:sp>
          <p:nvSpPr>
            <p:cNvPr name="Freeform 63" id="61"/>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txBody>
            <a:bodyPr/>
            <a:p/>
          </p:txBody>
        </p:sp>
      </p:grpSp>
      <p:grpSp>
        <p:nvGrpSpPr>
          <p:cNvPr name="Group 64" id="62"/>
          <p:cNvGrpSpPr/>
          <p:nvPr/>
        </p:nvGrpSpPr>
        <p:grpSpPr>
          <a:xfrm rot="0">
            <a:off x="9411176" y="2601582"/>
            <a:ext cx="3703320" cy="506406"/>
            <a:chOff x="0" y="0"/>
            <a:chExt cx="4937760" cy="675208"/>
          </a:xfrm>
        </p:grpSpPr>
        <p:sp>
          <p:nvSpPr>
            <p:cNvPr name="Freeform 65" id="63"/>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txBody>
            <a:bodyPr/>
            <a:p/>
          </p:txBody>
        </p:sp>
        <p:sp>
          <p:nvSpPr>
            <p:cNvPr name="TextBox 66" id="64"/>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Incomplete KYC Users</a:t>
              </a:r>
            </a:p>
          </p:txBody>
        </p:sp>
      </p:grpSp>
      <p:grpSp>
        <p:nvGrpSpPr>
          <p:cNvPr name="Group 67" id="65"/>
          <p:cNvGrpSpPr/>
          <p:nvPr/>
        </p:nvGrpSpPr>
        <p:grpSpPr>
          <a:xfrm rot="0">
            <a:off x="617220" y="3927929"/>
            <a:ext cx="3703320" cy="903818"/>
            <a:chOff x="0" y="0"/>
            <a:chExt cx="4937760" cy="1205090"/>
          </a:xfrm>
        </p:grpSpPr>
        <p:sp>
          <p:nvSpPr>
            <p:cNvPr name="Freeform 68" id="66"/>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txBody>
            <a:bodyPr/>
            <a:p/>
          </p:txBody>
        </p:sp>
      </p:grpSp>
      <p:grpSp>
        <p:nvGrpSpPr>
          <p:cNvPr name="Group 69" id="67"/>
          <p:cNvGrpSpPr/>
          <p:nvPr/>
        </p:nvGrpSpPr>
        <p:grpSpPr>
          <a:xfrm rot="0">
            <a:off x="617220" y="3920785"/>
            <a:ext cx="3703320" cy="910961"/>
            <a:chOff x="0" y="0"/>
            <a:chExt cx="4937760" cy="1214615"/>
          </a:xfrm>
        </p:grpSpPr>
        <p:sp>
          <p:nvSpPr>
            <p:cNvPr name="Freeform 70" id="68"/>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txBody>
            <a:bodyPr/>
            <a:p/>
          </p:txBody>
        </p:sp>
        <p:sp>
          <p:nvSpPr>
            <p:cNvPr name="TextBox 71" id="69"/>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$12,206.00</a:t>
              </a:r>
            </a:p>
          </p:txBody>
        </p:sp>
      </p:grpSp>
      <p:grpSp>
        <p:nvGrpSpPr>
          <p:cNvPr name="Group 72" id="70"/>
          <p:cNvGrpSpPr/>
          <p:nvPr/>
        </p:nvGrpSpPr>
        <p:grpSpPr>
          <a:xfrm rot="0">
            <a:off x="617220" y="4740221"/>
            <a:ext cx="3703320" cy="499262"/>
            <a:chOff x="0" y="0"/>
            <a:chExt cx="4937760" cy="665683"/>
          </a:xfrm>
        </p:grpSpPr>
        <p:sp>
          <p:nvSpPr>
            <p:cNvPr name="Freeform 73" id="71"/>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txBody>
            <a:bodyPr/>
            <a:p/>
          </p:txBody>
        </p:sp>
      </p:grpSp>
      <p:grpSp>
        <p:nvGrpSpPr>
          <p:cNvPr name="Group 74" id="72"/>
          <p:cNvGrpSpPr/>
          <p:nvPr/>
        </p:nvGrpSpPr>
        <p:grpSpPr>
          <a:xfrm rot="0">
            <a:off x="617220" y="4733077"/>
            <a:ext cx="3703320" cy="506406"/>
            <a:chOff x="0" y="0"/>
            <a:chExt cx="4937760" cy="675208"/>
          </a:xfrm>
        </p:grpSpPr>
        <p:sp>
          <p:nvSpPr>
            <p:cNvPr name="Freeform 75" id="73"/>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txBody>
            <a:bodyPr/>
            <a:p/>
          </p:txBody>
        </p:sp>
        <p:sp>
          <p:nvSpPr>
            <p:cNvPr name="TextBox 76" id="74"/>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Total Deposits</a:t>
              </a:r>
            </a:p>
          </p:txBody>
        </p:sp>
      </p:grpSp>
      <p:grpSp>
        <p:nvGrpSpPr>
          <p:cNvPr name="Group 77" id="75"/>
          <p:cNvGrpSpPr/>
          <p:nvPr/>
        </p:nvGrpSpPr>
        <p:grpSpPr>
          <a:xfrm rot="0">
            <a:off x="864108" y="7643641"/>
            <a:ext cx="16212312" cy="775764"/>
            <a:chOff x="0" y="0"/>
            <a:chExt cx="21616416" cy="1034351"/>
          </a:xfrm>
        </p:grpSpPr>
        <p:sp>
          <p:nvSpPr>
            <p:cNvPr name="Freeform 78" id="76"/>
            <p:cNvSpPr/>
            <p:nvPr/>
          </p:nvSpPr>
          <p:spPr>
            <a:xfrm flipH="false" flipV="false" rot="0">
              <a:off x="0" y="0"/>
              <a:ext cx="21616415" cy="1034288"/>
            </a:xfrm>
            <a:custGeom>
              <a:avLst/>
              <a:gdLst/>
              <a:ahLst/>
              <a:cxnLst/>
              <a:rect r="r" b="b" t="t" l="l"/>
              <a:pathLst>
                <a:path h="1034288" w="21616415">
                  <a:moveTo>
                    <a:pt x="0" y="0"/>
                  </a:moveTo>
                  <a:lnTo>
                    <a:pt x="21616415" y="0"/>
                  </a:lnTo>
                  <a:lnTo>
                    <a:pt x="21616415" y="1034288"/>
                  </a:lnTo>
                  <a:lnTo>
                    <a:pt x="0" y="1034288"/>
                  </a:lnTo>
                  <a:close/>
                </a:path>
              </a:pathLst>
            </a:custGeom>
            <a:blipFill>
              <a:blip r:embed="rId7">
                <a:alphaModFix amt="0"/>
              </a:blip>
              <a:stretch>
                <a:fillRect l="0" t="-356947" r="0" b="-356953"/>
              </a:stretch>
            </a:blipFill>
          </p:spPr>
          <p:txBody>
            <a:bodyPr/>
            <a:p/>
          </p:txBody>
        </p:sp>
      </p:grpSp>
      <p:grpSp>
        <p:nvGrpSpPr>
          <p:cNvPr name="Group 79" id="77"/>
          <p:cNvGrpSpPr/>
          <p:nvPr/>
        </p:nvGrpSpPr>
        <p:grpSpPr>
          <a:xfrm rot="0">
            <a:off x="864108" y="7643641"/>
            <a:ext cx="16212312" cy="775760"/>
            <a:chOff x="0" y="0"/>
            <a:chExt cx="21616416" cy="1034347"/>
          </a:xfrm>
        </p:grpSpPr>
        <p:sp>
          <p:nvSpPr>
            <p:cNvPr name="Freeform 80" id="78"/>
            <p:cNvSpPr/>
            <p:nvPr/>
          </p:nvSpPr>
          <p:spPr>
            <a:xfrm flipH="false" flipV="false" rot="0">
              <a:off x="0" y="0"/>
              <a:ext cx="21616415" cy="1034342"/>
            </a:xfrm>
            <a:custGeom>
              <a:avLst/>
              <a:gdLst/>
              <a:ahLst/>
              <a:cxnLst/>
              <a:rect r="r" b="b" t="t" l="l"/>
              <a:pathLst>
                <a:path h="1034342" w="21616415">
                  <a:moveTo>
                    <a:pt x="0" y="0"/>
                  </a:moveTo>
                  <a:lnTo>
                    <a:pt x="21616415" y="0"/>
                  </a:lnTo>
                  <a:lnTo>
                    <a:pt x="21616415" y="1034342"/>
                  </a:lnTo>
                  <a:lnTo>
                    <a:pt x="0" y="1034342"/>
                  </a:lnTo>
                  <a:close/>
                </a:path>
              </a:pathLst>
            </a:custGeom>
            <a:blipFill>
              <a:blip r:embed="rId3">
                <a:alphaModFix amt="0"/>
              </a:blip>
              <a:stretch>
                <a:fillRect l="0" t="-357211" r="0" b="-357212"/>
              </a:stretch>
            </a:blipFill>
          </p:spPr>
          <p:txBody>
            <a:bodyPr/>
            <a:p/>
          </p:txBody>
        </p:sp>
        <p:sp>
          <p:nvSpPr>
            <p:cNvPr name="TextBox 81" id="79"/>
            <p:cNvSpPr txBox="true"/>
            <p:nvPr/>
          </p:nvSpPr>
          <p:spPr>
            <a:xfrm>
              <a:off x="0" y="0"/>
              <a:ext cx="21616416" cy="1034347"/>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Marketing: paid media testing, campaigns live</a:t>
              </a:r>
            </a:p>
            <a:p>
              <a:pPr algn="l">
                <a:lnSpc>
                  <a:spcPts val="2578"/>
                </a:lnSpc>
              </a:pPr>
              <a:r>
                <a:rPr lang="en-US" sz="2148">
                  <a:solidFill>
                    <a:srgbClr val="5A6A85"/>
                  </a:solidFill>
                  <a:latin typeface="Exo 2"/>
                  <a:ea typeface="Exo 2"/>
                  <a:cs typeface="Exo 2"/>
                  <a:sym typeface="Exo 2"/>
                </a:rPr>
                <a:t>Google Ads brought 70% of Sep site traffic; Mention &amp; Win, $5,000, and Abdulelah campaigns are live; Manal Talal video in October.</a:t>
              </a:r>
            </a:p>
          </p:txBody>
        </p:sp>
      </p:grpSp>
      <p:grpSp>
        <p:nvGrpSpPr>
          <p:cNvPr name="Group 82" id="80"/>
          <p:cNvGrpSpPr/>
          <p:nvPr/>
        </p:nvGrpSpPr>
        <p:grpSpPr>
          <a:xfrm rot="0">
            <a:off x="864108" y="6626714"/>
            <a:ext cx="16212312" cy="775764"/>
            <a:chOff x="0" y="0"/>
            <a:chExt cx="21616416" cy="1034351"/>
          </a:xfrm>
        </p:grpSpPr>
        <p:sp>
          <p:nvSpPr>
            <p:cNvPr name="Freeform 83" id="81"/>
            <p:cNvSpPr/>
            <p:nvPr/>
          </p:nvSpPr>
          <p:spPr>
            <a:xfrm flipH="false" flipV="false" rot="0">
              <a:off x="0" y="0"/>
              <a:ext cx="21616415" cy="1034288"/>
            </a:xfrm>
            <a:custGeom>
              <a:avLst/>
              <a:gdLst/>
              <a:ahLst/>
              <a:cxnLst/>
              <a:rect r="r" b="b" t="t" l="l"/>
              <a:pathLst>
                <a:path h="1034288" w="21616415">
                  <a:moveTo>
                    <a:pt x="0" y="0"/>
                  </a:moveTo>
                  <a:lnTo>
                    <a:pt x="21616415" y="0"/>
                  </a:lnTo>
                  <a:lnTo>
                    <a:pt x="21616415" y="1034288"/>
                  </a:lnTo>
                  <a:lnTo>
                    <a:pt x="0" y="1034288"/>
                  </a:lnTo>
                  <a:close/>
                </a:path>
              </a:pathLst>
            </a:custGeom>
            <a:blipFill>
              <a:blip r:embed="rId7">
                <a:alphaModFix amt="0"/>
              </a:blip>
              <a:stretch>
                <a:fillRect l="0" t="-356947" r="0" b="-356953"/>
              </a:stretch>
            </a:blipFill>
          </p:spPr>
          <p:txBody>
            <a:bodyPr/>
            <a:p/>
          </p:txBody>
        </p:sp>
      </p:grpSp>
      <p:grpSp>
        <p:nvGrpSpPr>
          <p:cNvPr name="Group 84" id="82"/>
          <p:cNvGrpSpPr/>
          <p:nvPr/>
        </p:nvGrpSpPr>
        <p:grpSpPr>
          <a:xfrm rot="0">
            <a:off x="864108" y="6626714"/>
            <a:ext cx="16212312" cy="775760"/>
            <a:chOff x="0" y="0"/>
            <a:chExt cx="21616416" cy="1034347"/>
          </a:xfrm>
        </p:grpSpPr>
        <p:sp>
          <p:nvSpPr>
            <p:cNvPr name="Freeform 85" id="83"/>
            <p:cNvSpPr/>
            <p:nvPr/>
          </p:nvSpPr>
          <p:spPr>
            <a:xfrm flipH="false" flipV="false" rot="0">
              <a:off x="0" y="0"/>
              <a:ext cx="21616415" cy="1034342"/>
            </a:xfrm>
            <a:custGeom>
              <a:avLst/>
              <a:gdLst/>
              <a:ahLst/>
              <a:cxnLst/>
              <a:rect r="r" b="b" t="t" l="l"/>
              <a:pathLst>
                <a:path h="1034342" w="21616415">
                  <a:moveTo>
                    <a:pt x="0" y="0"/>
                  </a:moveTo>
                  <a:lnTo>
                    <a:pt x="21616415" y="0"/>
                  </a:lnTo>
                  <a:lnTo>
                    <a:pt x="21616415" y="1034342"/>
                  </a:lnTo>
                  <a:lnTo>
                    <a:pt x="0" y="1034342"/>
                  </a:lnTo>
                  <a:close/>
                </a:path>
              </a:pathLst>
            </a:custGeom>
            <a:blipFill>
              <a:blip r:embed="rId3">
                <a:alphaModFix amt="0"/>
              </a:blip>
              <a:stretch>
                <a:fillRect l="0" t="-357211" r="0" b="-357212"/>
              </a:stretch>
            </a:blipFill>
          </p:spPr>
          <p:txBody>
            <a:bodyPr/>
            <a:p/>
          </p:txBody>
        </p:sp>
        <p:sp>
          <p:nvSpPr>
            <p:cNvPr name="TextBox 86" id="84"/>
            <p:cNvSpPr txBox="true"/>
            <p:nvPr/>
          </p:nvSpPr>
          <p:spPr>
            <a:xfrm>
              <a:off x="0" y="0"/>
              <a:ext cx="21616416" cy="1034347"/>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Platform: downloads up, onboardings to follow</a:t>
              </a:r>
            </a:p>
            <a:p>
              <a:pPr algn="l">
                <a:lnSpc>
                  <a:spcPts val="2578"/>
                </a:lnSpc>
              </a:pPr>
              <a:r>
                <a:rPr lang="en-US" sz="2148">
                  <a:solidFill>
                    <a:srgbClr val="5A6A85"/>
                  </a:solidFill>
                  <a:latin typeface="Exo 2"/>
                  <a:ea typeface="Exo 2"/>
                  <a:cs typeface="Exo 2"/>
                  <a:sym typeface="Exo 2"/>
                </a:rPr>
                <a:t>490 downloads (+18.4%), 61 clients (+19.6%); only 4 of 53 downloads since 22 Sep onboarded (Testing phase of Google Ads).</a:t>
              </a:r>
            </a:p>
          </p:txBody>
        </p:sp>
      </p:grpSp>
      <p:grpSp>
        <p:nvGrpSpPr>
          <p:cNvPr name="Group 87" id="85"/>
          <p:cNvGrpSpPr/>
          <p:nvPr/>
        </p:nvGrpSpPr>
        <p:grpSpPr>
          <a:xfrm rot="0">
            <a:off x="797528" y="3108017"/>
            <a:ext cx="1933956" cy="438912"/>
            <a:chOff x="0" y="0"/>
            <a:chExt cx="2578608" cy="585216"/>
          </a:xfrm>
        </p:grpSpPr>
        <p:sp>
          <p:nvSpPr>
            <p:cNvPr name="Freeform 88" id="86"/>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txBody>
            <a:bodyPr/>
            <a:p/>
          </p:txBody>
        </p:sp>
      </p:grpSp>
      <p:grpSp>
        <p:nvGrpSpPr>
          <p:cNvPr name="Group 89" id="87"/>
          <p:cNvGrpSpPr/>
          <p:nvPr/>
        </p:nvGrpSpPr>
        <p:grpSpPr>
          <a:xfrm rot="0">
            <a:off x="797528" y="3108017"/>
            <a:ext cx="1933956" cy="438912"/>
            <a:chOff x="0" y="0"/>
            <a:chExt cx="2578608" cy="585216"/>
          </a:xfrm>
        </p:grpSpPr>
        <p:sp>
          <p:nvSpPr>
            <p:cNvPr name="Freeform 90" id="88"/>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txBody>
            <a:bodyPr/>
            <a:p/>
          </p:txBody>
        </p:sp>
        <p:sp>
          <p:nvSpPr>
            <p:cNvPr name="TextBox 91" id="89"/>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414</a:t>
              </a:r>
            </a:p>
          </p:txBody>
        </p:sp>
      </p:grpSp>
      <p:grpSp>
        <p:nvGrpSpPr>
          <p:cNvPr name="Group 92" id="90"/>
          <p:cNvGrpSpPr/>
          <p:nvPr/>
        </p:nvGrpSpPr>
        <p:grpSpPr>
          <a:xfrm rot="0">
            <a:off x="2329882" y="3108017"/>
            <a:ext cx="1841783" cy="438912"/>
            <a:chOff x="0" y="0"/>
            <a:chExt cx="2455710" cy="585216"/>
          </a:xfrm>
        </p:grpSpPr>
        <p:sp>
          <p:nvSpPr>
            <p:cNvPr name="Freeform 93" id="91"/>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txBody>
            <a:bodyPr/>
            <a:p/>
          </p:txBody>
        </p:sp>
      </p:grpSp>
      <p:grpSp>
        <p:nvGrpSpPr>
          <p:cNvPr name="Group 94" id="92"/>
          <p:cNvGrpSpPr/>
          <p:nvPr/>
        </p:nvGrpSpPr>
        <p:grpSpPr>
          <a:xfrm rot="0">
            <a:off x="2329882" y="3108017"/>
            <a:ext cx="1841783" cy="438912"/>
            <a:chOff x="0" y="0"/>
            <a:chExt cx="2455710" cy="585216"/>
          </a:xfrm>
        </p:grpSpPr>
        <p:sp>
          <p:nvSpPr>
            <p:cNvPr name="Freeform 95" id="93"/>
            <p:cNvSpPr/>
            <p:nvPr/>
          </p:nvSpPr>
          <p:spPr>
            <a:xfrm flipH="false" flipV="false" rot="0">
              <a:off x="0" y="0"/>
              <a:ext cx="2455710" cy="585216"/>
            </a:xfrm>
            <a:custGeom>
              <a:avLst/>
              <a:gdLst/>
              <a:ahLst/>
              <a:cxnLst/>
              <a:rect r="r" b="b" t="t" l="l"/>
              <a:pathLst>
                <a:path h="585216" w="2455710">
                  <a:moveTo>
                    <a:pt x="0" y="0"/>
                  </a:moveTo>
                  <a:lnTo>
                    <a:pt x="2455710" y="0"/>
                  </a:lnTo>
                  <a:lnTo>
                    <a:pt x="2455710" y="585216"/>
                  </a:lnTo>
                  <a:lnTo>
                    <a:pt x="0" y="585216"/>
                  </a:lnTo>
                  <a:close/>
                </a:path>
              </a:pathLst>
            </a:custGeom>
            <a:blipFill>
              <a:blip r:embed="rId3">
                <a:alphaModFix amt="0"/>
              </a:blip>
              <a:stretch>
                <a:fillRect l="0" t="-31764" r="0" b="-31764"/>
              </a:stretch>
            </a:blipFill>
          </p:spPr>
          <p:txBody>
            <a:bodyPr/>
            <a:p/>
          </p:txBody>
        </p:sp>
        <p:sp>
          <p:nvSpPr>
            <p:cNvPr name="TextBox 96" id="94"/>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3DDC84"/>
                  </a:solidFill>
                  <a:latin typeface="Exo 2 Bold"/>
                  <a:ea typeface="Exo 2 Bold"/>
                  <a:cs typeface="Exo 2 Bold"/>
                  <a:sym typeface="Exo 2 Bold"/>
                </a:rPr>
                <a:t>▲ +18.4%</a:t>
              </a:r>
            </a:p>
          </p:txBody>
        </p:sp>
      </p:grpSp>
      <p:grpSp>
        <p:nvGrpSpPr>
          <p:cNvPr name="Group 97" id="95"/>
          <p:cNvGrpSpPr/>
          <p:nvPr/>
        </p:nvGrpSpPr>
        <p:grpSpPr>
          <a:xfrm rot="0">
            <a:off x="781812" y="5243522"/>
            <a:ext cx="1933956" cy="438912"/>
            <a:chOff x="0" y="0"/>
            <a:chExt cx="2578608" cy="585216"/>
          </a:xfrm>
        </p:grpSpPr>
        <p:sp>
          <p:nvSpPr>
            <p:cNvPr name="Freeform 98" id="96"/>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txBody>
            <a:bodyPr/>
            <a:p/>
          </p:txBody>
        </p:sp>
      </p:grpSp>
      <p:grpSp>
        <p:nvGrpSpPr>
          <p:cNvPr name="Group 99" id="97"/>
          <p:cNvGrpSpPr/>
          <p:nvPr/>
        </p:nvGrpSpPr>
        <p:grpSpPr>
          <a:xfrm rot="0">
            <a:off x="781812" y="5243522"/>
            <a:ext cx="1933956" cy="438912"/>
            <a:chOff x="0" y="0"/>
            <a:chExt cx="2578608" cy="585216"/>
          </a:xfrm>
        </p:grpSpPr>
        <p:sp>
          <p:nvSpPr>
            <p:cNvPr name="Freeform 100" id="98"/>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txBody>
            <a:bodyPr/>
            <a:p/>
          </p:txBody>
        </p:sp>
        <p:sp>
          <p:nvSpPr>
            <p:cNvPr name="TextBox 101" id="99"/>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a:t>
              </a:r>
              <a:r>
                <a:rPr lang="en-US" sz="1650" b="true">
                  <a:solidFill>
                    <a:srgbClr val="FFFFFF"/>
                  </a:solidFill>
                  <a:latin typeface="Exo 2 Bold"/>
                  <a:ea typeface="Exo 2 Bold"/>
                  <a:cs typeface="Exo 2 Bold"/>
                  <a:sym typeface="Exo 2 Bold"/>
                </a:rPr>
                <a:t>$10,195.88</a:t>
              </a:r>
            </a:p>
          </p:txBody>
        </p:sp>
      </p:grpSp>
      <p:grpSp>
        <p:nvGrpSpPr>
          <p:cNvPr name="Group 102" id="100"/>
          <p:cNvGrpSpPr/>
          <p:nvPr/>
        </p:nvGrpSpPr>
        <p:grpSpPr>
          <a:xfrm rot="0">
            <a:off x="2314165" y="5243522"/>
            <a:ext cx="1841783" cy="438912"/>
            <a:chOff x="0" y="0"/>
            <a:chExt cx="2455710" cy="585216"/>
          </a:xfrm>
        </p:grpSpPr>
        <p:sp>
          <p:nvSpPr>
            <p:cNvPr name="Freeform 103" id="101"/>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txBody>
            <a:bodyPr/>
            <a:p/>
          </p:txBody>
        </p:sp>
      </p:grpSp>
      <p:grpSp>
        <p:nvGrpSpPr>
          <p:cNvPr name="Group 104" id="102"/>
          <p:cNvGrpSpPr/>
          <p:nvPr/>
        </p:nvGrpSpPr>
        <p:grpSpPr>
          <a:xfrm rot="0">
            <a:off x="2314165" y="5243522"/>
            <a:ext cx="1841783" cy="438912"/>
            <a:chOff x="0" y="0"/>
            <a:chExt cx="2455710" cy="585216"/>
          </a:xfrm>
        </p:grpSpPr>
        <p:sp>
          <p:nvSpPr>
            <p:cNvPr name="Freeform 105" id="103"/>
            <p:cNvSpPr/>
            <p:nvPr/>
          </p:nvSpPr>
          <p:spPr>
            <a:xfrm flipH="false" flipV="false" rot="0">
              <a:off x="0" y="0"/>
              <a:ext cx="2455710" cy="585216"/>
            </a:xfrm>
            <a:custGeom>
              <a:avLst/>
              <a:gdLst/>
              <a:ahLst/>
              <a:cxnLst/>
              <a:rect r="r" b="b" t="t" l="l"/>
              <a:pathLst>
                <a:path h="585216" w="2455710">
                  <a:moveTo>
                    <a:pt x="0" y="0"/>
                  </a:moveTo>
                  <a:lnTo>
                    <a:pt x="2455710" y="0"/>
                  </a:lnTo>
                  <a:lnTo>
                    <a:pt x="2455710" y="585216"/>
                  </a:lnTo>
                  <a:lnTo>
                    <a:pt x="0" y="585216"/>
                  </a:lnTo>
                  <a:close/>
                </a:path>
              </a:pathLst>
            </a:custGeom>
            <a:blipFill>
              <a:blip r:embed="rId3">
                <a:alphaModFix amt="0"/>
              </a:blip>
              <a:stretch>
                <a:fillRect l="0" t="-31764" r="0" b="-31764"/>
              </a:stretch>
            </a:blipFill>
          </p:spPr>
          <p:txBody>
            <a:bodyPr/>
            <a:p/>
          </p:txBody>
        </p:sp>
        <p:sp>
          <p:nvSpPr>
            <p:cNvPr name="TextBox 106" id="104"/>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3DDC84"/>
                  </a:solidFill>
                  <a:latin typeface="Exo 2 Bold"/>
                  <a:ea typeface="Exo 2 Bold"/>
                  <a:cs typeface="Exo 2 Bold"/>
                  <a:sym typeface="Exo 2 Bold"/>
                </a:rPr>
                <a:t>▲ +19.7%</a:t>
              </a:r>
            </a:p>
          </p:txBody>
        </p:sp>
      </p:grpSp>
      <p:grpSp>
        <p:nvGrpSpPr>
          <p:cNvPr name="Group 107" id="105"/>
          <p:cNvGrpSpPr/>
          <p:nvPr/>
        </p:nvGrpSpPr>
        <p:grpSpPr>
          <a:xfrm rot="0">
            <a:off x="5186648" y="3108017"/>
            <a:ext cx="1933956" cy="438912"/>
            <a:chOff x="0" y="0"/>
            <a:chExt cx="2578608" cy="585216"/>
          </a:xfrm>
        </p:grpSpPr>
        <p:sp>
          <p:nvSpPr>
            <p:cNvPr name="Freeform 108" id="106"/>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txBody>
            <a:bodyPr/>
            <a:p/>
          </p:txBody>
        </p:sp>
      </p:grpSp>
      <p:grpSp>
        <p:nvGrpSpPr>
          <p:cNvPr name="Group 109" id="107"/>
          <p:cNvGrpSpPr/>
          <p:nvPr/>
        </p:nvGrpSpPr>
        <p:grpSpPr>
          <a:xfrm rot="0">
            <a:off x="5186648" y="3108017"/>
            <a:ext cx="1933956" cy="438912"/>
            <a:chOff x="0" y="0"/>
            <a:chExt cx="2578608" cy="585216"/>
          </a:xfrm>
        </p:grpSpPr>
        <p:sp>
          <p:nvSpPr>
            <p:cNvPr name="Freeform 110" id="108"/>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txBody>
            <a:bodyPr/>
            <a:p/>
          </p:txBody>
        </p:sp>
        <p:sp>
          <p:nvSpPr>
            <p:cNvPr name="TextBox 111" id="109"/>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51</a:t>
              </a:r>
            </a:p>
          </p:txBody>
        </p:sp>
      </p:grpSp>
      <p:grpSp>
        <p:nvGrpSpPr>
          <p:cNvPr name="Group 112" id="110"/>
          <p:cNvGrpSpPr/>
          <p:nvPr/>
        </p:nvGrpSpPr>
        <p:grpSpPr>
          <a:xfrm rot="0">
            <a:off x="6719002" y="3108017"/>
            <a:ext cx="1841783" cy="438912"/>
            <a:chOff x="0" y="0"/>
            <a:chExt cx="2455710" cy="585216"/>
          </a:xfrm>
        </p:grpSpPr>
        <p:sp>
          <p:nvSpPr>
            <p:cNvPr name="Freeform 113" id="111"/>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txBody>
            <a:bodyPr/>
            <a:p/>
          </p:txBody>
        </p:sp>
      </p:grpSp>
      <p:grpSp>
        <p:nvGrpSpPr>
          <p:cNvPr name="Group 114" id="112"/>
          <p:cNvGrpSpPr/>
          <p:nvPr/>
        </p:nvGrpSpPr>
        <p:grpSpPr>
          <a:xfrm rot="0">
            <a:off x="6719002" y="3108017"/>
            <a:ext cx="1841783" cy="438912"/>
            <a:chOff x="0" y="0"/>
            <a:chExt cx="2455710" cy="585216"/>
          </a:xfrm>
        </p:grpSpPr>
        <p:sp>
          <p:nvSpPr>
            <p:cNvPr name="Freeform 115" id="113"/>
            <p:cNvSpPr/>
            <p:nvPr/>
          </p:nvSpPr>
          <p:spPr>
            <a:xfrm flipH="false" flipV="false" rot="0">
              <a:off x="0" y="0"/>
              <a:ext cx="2455710" cy="585216"/>
            </a:xfrm>
            <a:custGeom>
              <a:avLst/>
              <a:gdLst/>
              <a:ahLst/>
              <a:cxnLst/>
              <a:rect r="r" b="b" t="t" l="l"/>
              <a:pathLst>
                <a:path h="585216" w="2455710">
                  <a:moveTo>
                    <a:pt x="0" y="0"/>
                  </a:moveTo>
                  <a:lnTo>
                    <a:pt x="2455710" y="0"/>
                  </a:lnTo>
                  <a:lnTo>
                    <a:pt x="2455710" y="585216"/>
                  </a:lnTo>
                  <a:lnTo>
                    <a:pt x="0" y="585216"/>
                  </a:lnTo>
                  <a:close/>
                </a:path>
              </a:pathLst>
            </a:custGeom>
            <a:blipFill>
              <a:blip r:embed="rId3">
                <a:alphaModFix amt="0"/>
              </a:blip>
              <a:stretch>
                <a:fillRect l="0" t="-31764" r="0" b="-31764"/>
              </a:stretch>
            </a:blipFill>
          </p:spPr>
          <p:txBody>
            <a:bodyPr/>
            <a:p/>
          </p:txBody>
        </p:sp>
        <p:sp>
          <p:nvSpPr>
            <p:cNvPr name="TextBox 116" id="114"/>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3DDC84"/>
                  </a:solidFill>
                  <a:latin typeface="Exo 2 Bold"/>
                  <a:ea typeface="Exo 2 Bold"/>
                  <a:cs typeface="Exo 2 Bold"/>
                  <a:sym typeface="Exo 2 Bold"/>
                </a:rPr>
                <a:t>▲ +19.6%</a:t>
              </a:r>
            </a:p>
          </p:txBody>
        </p:sp>
      </p:grpSp>
      <p:grpSp>
        <p:nvGrpSpPr>
          <p:cNvPr name="Group 117" id="115"/>
          <p:cNvGrpSpPr/>
          <p:nvPr/>
        </p:nvGrpSpPr>
        <p:grpSpPr>
          <a:xfrm rot="0">
            <a:off x="13800296" y="3927929"/>
            <a:ext cx="3703320" cy="903818"/>
            <a:chOff x="0" y="0"/>
            <a:chExt cx="4937760" cy="1205090"/>
          </a:xfrm>
        </p:grpSpPr>
        <p:sp>
          <p:nvSpPr>
            <p:cNvPr name="Freeform 118" id="116"/>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txBody>
            <a:bodyPr/>
            <a:p/>
          </p:txBody>
        </p:sp>
      </p:grpSp>
      <p:grpSp>
        <p:nvGrpSpPr>
          <p:cNvPr name="Group 119" id="117"/>
          <p:cNvGrpSpPr/>
          <p:nvPr/>
        </p:nvGrpSpPr>
        <p:grpSpPr>
          <a:xfrm rot="0">
            <a:off x="13800296" y="3920785"/>
            <a:ext cx="3703320" cy="910961"/>
            <a:chOff x="0" y="0"/>
            <a:chExt cx="4937760" cy="1214615"/>
          </a:xfrm>
        </p:grpSpPr>
        <p:sp>
          <p:nvSpPr>
            <p:cNvPr name="Freeform 120" id="118"/>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txBody>
            <a:bodyPr/>
            <a:p/>
          </p:txBody>
        </p:sp>
        <p:sp>
          <p:nvSpPr>
            <p:cNvPr name="TextBox 121" id="119"/>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55</a:t>
              </a:r>
            </a:p>
          </p:txBody>
        </p:sp>
      </p:grpSp>
      <p:grpSp>
        <p:nvGrpSpPr>
          <p:cNvPr name="Group 122" id="120"/>
          <p:cNvGrpSpPr/>
          <p:nvPr/>
        </p:nvGrpSpPr>
        <p:grpSpPr>
          <a:xfrm rot="0">
            <a:off x="13800296" y="4740221"/>
            <a:ext cx="3703320" cy="499262"/>
            <a:chOff x="0" y="0"/>
            <a:chExt cx="4937760" cy="665683"/>
          </a:xfrm>
        </p:grpSpPr>
        <p:sp>
          <p:nvSpPr>
            <p:cNvPr name="Freeform 123" id="121"/>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txBody>
            <a:bodyPr/>
            <a:p/>
          </p:txBody>
        </p:sp>
      </p:grpSp>
      <p:grpSp>
        <p:nvGrpSpPr>
          <p:cNvPr name="Group 124" id="122"/>
          <p:cNvGrpSpPr/>
          <p:nvPr/>
        </p:nvGrpSpPr>
        <p:grpSpPr>
          <a:xfrm rot="0">
            <a:off x="13800296" y="4733077"/>
            <a:ext cx="3703320" cy="506406"/>
            <a:chOff x="0" y="0"/>
            <a:chExt cx="4937760" cy="675208"/>
          </a:xfrm>
        </p:grpSpPr>
        <p:sp>
          <p:nvSpPr>
            <p:cNvPr name="Freeform 125" id="123"/>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txBody>
            <a:bodyPr/>
            <a:p/>
          </p:txBody>
        </p:sp>
        <p:sp>
          <p:nvSpPr>
            <p:cNvPr name="TextBox 126" id="124"/>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Total Trades</a:t>
              </a:r>
            </a:p>
          </p:txBody>
        </p:sp>
      </p:grpSp>
      <p:grpSp>
        <p:nvGrpSpPr>
          <p:cNvPr name="Group 127" id="125"/>
          <p:cNvGrpSpPr/>
          <p:nvPr/>
        </p:nvGrpSpPr>
        <p:grpSpPr>
          <a:xfrm rot="0">
            <a:off x="13964888" y="5243522"/>
            <a:ext cx="1933956" cy="438912"/>
            <a:chOff x="0" y="0"/>
            <a:chExt cx="2578608" cy="585216"/>
          </a:xfrm>
        </p:grpSpPr>
        <p:sp>
          <p:nvSpPr>
            <p:cNvPr name="Freeform 128" id="126"/>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txBody>
            <a:bodyPr/>
            <a:p/>
          </p:txBody>
        </p:sp>
      </p:grpSp>
      <p:grpSp>
        <p:nvGrpSpPr>
          <p:cNvPr name="Group 129" id="127"/>
          <p:cNvGrpSpPr/>
          <p:nvPr/>
        </p:nvGrpSpPr>
        <p:grpSpPr>
          <a:xfrm rot="0">
            <a:off x="13964888" y="5243522"/>
            <a:ext cx="1933956" cy="438912"/>
            <a:chOff x="0" y="0"/>
            <a:chExt cx="2578608" cy="585216"/>
          </a:xfrm>
        </p:grpSpPr>
        <p:sp>
          <p:nvSpPr>
            <p:cNvPr name="Freeform 130" id="128"/>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txBody>
            <a:bodyPr/>
            <a:p/>
          </p:txBody>
        </p:sp>
        <p:sp>
          <p:nvSpPr>
            <p:cNvPr name="TextBox 131" id="129"/>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47</a:t>
              </a:r>
            </a:p>
          </p:txBody>
        </p:sp>
      </p:grpSp>
      <p:grpSp>
        <p:nvGrpSpPr>
          <p:cNvPr name="Group 132" id="130"/>
          <p:cNvGrpSpPr/>
          <p:nvPr/>
        </p:nvGrpSpPr>
        <p:grpSpPr>
          <a:xfrm rot="0">
            <a:off x="15497242" y="5243522"/>
            <a:ext cx="1841783" cy="438912"/>
            <a:chOff x="0" y="0"/>
            <a:chExt cx="2455710" cy="585216"/>
          </a:xfrm>
        </p:grpSpPr>
        <p:sp>
          <p:nvSpPr>
            <p:cNvPr name="Freeform 133" id="131"/>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txBody>
            <a:bodyPr/>
            <a:p/>
          </p:txBody>
        </p:sp>
      </p:grpSp>
      <p:grpSp>
        <p:nvGrpSpPr>
          <p:cNvPr name="Group 134" id="132"/>
          <p:cNvGrpSpPr/>
          <p:nvPr/>
        </p:nvGrpSpPr>
        <p:grpSpPr>
          <a:xfrm rot="0">
            <a:off x="15497242" y="5243522"/>
            <a:ext cx="1841783" cy="438912"/>
            <a:chOff x="0" y="0"/>
            <a:chExt cx="2455710" cy="585216"/>
          </a:xfrm>
        </p:grpSpPr>
        <p:sp>
          <p:nvSpPr>
            <p:cNvPr name="Freeform 135" id="133"/>
            <p:cNvSpPr/>
            <p:nvPr/>
          </p:nvSpPr>
          <p:spPr>
            <a:xfrm flipH="false" flipV="false" rot="0">
              <a:off x="0" y="0"/>
              <a:ext cx="2455710" cy="585216"/>
            </a:xfrm>
            <a:custGeom>
              <a:avLst/>
              <a:gdLst/>
              <a:ahLst/>
              <a:cxnLst/>
              <a:rect r="r" b="b" t="t" l="l"/>
              <a:pathLst>
                <a:path h="585216" w="2455710">
                  <a:moveTo>
                    <a:pt x="0" y="0"/>
                  </a:moveTo>
                  <a:lnTo>
                    <a:pt x="2455710" y="0"/>
                  </a:lnTo>
                  <a:lnTo>
                    <a:pt x="2455710" y="585216"/>
                  </a:lnTo>
                  <a:lnTo>
                    <a:pt x="0" y="585216"/>
                  </a:lnTo>
                  <a:close/>
                </a:path>
              </a:pathLst>
            </a:custGeom>
            <a:blipFill>
              <a:blip r:embed="rId3">
                <a:alphaModFix amt="0"/>
              </a:blip>
              <a:stretch>
                <a:fillRect l="0" t="-31764" r="0" b="-31764"/>
              </a:stretch>
            </a:blipFill>
          </p:spPr>
          <p:txBody>
            <a:bodyPr/>
            <a:p/>
          </p:txBody>
        </p:sp>
        <p:sp>
          <p:nvSpPr>
            <p:cNvPr name="TextBox 136" id="134"/>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3DDC84"/>
                  </a:solidFill>
                  <a:latin typeface="Exo 2 Bold"/>
                  <a:ea typeface="Exo 2 Bold"/>
                  <a:cs typeface="Exo 2 Bold"/>
                  <a:sym typeface="Exo 2 Bold"/>
                </a:rPr>
                <a:t>▲ +17.0%</a:t>
              </a:r>
            </a:p>
          </p:txBody>
        </p:sp>
      </p:grpSp>
      <p:grpSp>
        <p:nvGrpSpPr>
          <p:cNvPr name="Group 137" id="135"/>
          <p:cNvGrpSpPr/>
          <p:nvPr/>
        </p:nvGrpSpPr>
        <p:grpSpPr>
          <a:xfrm rot="0">
            <a:off x="5022056" y="3951742"/>
            <a:ext cx="3703320" cy="903818"/>
            <a:chOff x="0" y="0"/>
            <a:chExt cx="4937760" cy="1205090"/>
          </a:xfrm>
        </p:grpSpPr>
        <p:sp>
          <p:nvSpPr>
            <p:cNvPr name="Freeform 138" id="136"/>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txBody>
            <a:bodyPr/>
            <a:p/>
          </p:txBody>
        </p:sp>
      </p:grpSp>
      <p:grpSp>
        <p:nvGrpSpPr>
          <p:cNvPr name="Group 139" id="137"/>
          <p:cNvGrpSpPr/>
          <p:nvPr/>
        </p:nvGrpSpPr>
        <p:grpSpPr>
          <a:xfrm rot="0">
            <a:off x="5022056" y="3944598"/>
            <a:ext cx="3703320" cy="910961"/>
            <a:chOff x="0" y="0"/>
            <a:chExt cx="4937760" cy="1214615"/>
          </a:xfrm>
        </p:grpSpPr>
        <p:sp>
          <p:nvSpPr>
            <p:cNvPr name="Freeform 140" id="138"/>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txBody>
            <a:bodyPr/>
            <a:p/>
          </p:txBody>
        </p:sp>
        <p:sp>
          <p:nvSpPr>
            <p:cNvPr name="TextBox 141" id="139"/>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$1,666.19</a:t>
              </a:r>
            </a:p>
          </p:txBody>
        </p:sp>
      </p:grpSp>
      <p:grpSp>
        <p:nvGrpSpPr>
          <p:cNvPr name="Group 142" id="140"/>
          <p:cNvGrpSpPr/>
          <p:nvPr/>
        </p:nvGrpSpPr>
        <p:grpSpPr>
          <a:xfrm rot="0">
            <a:off x="5022056" y="4764034"/>
            <a:ext cx="3703320" cy="499262"/>
            <a:chOff x="0" y="0"/>
            <a:chExt cx="4937760" cy="665683"/>
          </a:xfrm>
        </p:grpSpPr>
        <p:sp>
          <p:nvSpPr>
            <p:cNvPr name="Freeform 143" id="141"/>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txBody>
            <a:bodyPr/>
            <a:p/>
          </p:txBody>
        </p:sp>
      </p:grpSp>
      <p:grpSp>
        <p:nvGrpSpPr>
          <p:cNvPr name="Group 144" id="142"/>
          <p:cNvGrpSpPr/>
          <p:nvPr/>
        </p:nvGrpSpPr>
        <p:grpSpPr>
          <a:xfrm rot="0">
            <a:off x="5022056" y="4756890"/>
            <a:ext cx="3703320" cy="506406"/>
            <a:chOff x="0" y="0"/>
            <a:chExt cx="4937760" cy="675208"/>
          </a:xfrm>
        </p:grpSpPr>
        <p:sp>
          <p:nvSpPr>
            <p:cNvPr name="Freeform 145" id="143"/>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txBody>
            <a:bodyPr/>
            <a:p/>
          </p:txBody>
        </p:sp>
        <p:sp>
          <p:nvSpPr>
            <p:cNvPr name="TextBox 146" id="144"/>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Total Withdrawals</a:t>
              </a:r>
            </a:p>
          </p:txBody>
        </p:sp>
      </p:grpSp>
      <p:grpSp>
        <p:nvGrpSpPr>
          <p:cNvPr name="Group 147" id="145"/>
          <p:cNvGrpSpPr/>
          <p:nvPr/>
        </p:nvGrpSpPr>
        <p:grpSpPr>
          <a:xfrm rot="0">
            <a:off x="5186648" y="5267335"/>
            <a:ext cx="1933956" cy="438912"/>
            <a:chOff x="0" y="0"/>
            <a:chExt cx="2578608" cy="585216"/>
          </a:xfrm>
        </p:grpSpPr>
        <p:sp>
          <p:nvSpPr>
            <p:cNvPr name="Freeform 148" id="146"/>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txBody>
            <a:bodyPr/>
            <a:p/>
          </p:txBody>
        </p:sp>
      </p:grpSp>
      <p:grpSp>
        <p:nvGrpSpPr>
          <p:cNvPr name="Group 149" id="147"/>
          <p:cNvGrpSpPr/>
          <p:nvPr/>
        </p:nvGrpSpPr>
        <p:grpSpPr>
          <a:xfrm rot="0">
            <a:off x="5186648" y="5267335"/>
            <a:ext cx="1933956" cy="438912"/>
            <a:chOff x="0" y="0"/>
            <a:chExt cx="2578608" cy="585216"/>
          </a:xfrm>
        </p:grpSpPr>
        <p:sp>
          <p:nvSpPr>
            <p:cNvPr name="Freeform 150" id="148"/>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txBody>
            <a:bodyPr/>
            <a:p/>
          </p:txBody>
        </p:sp>
        <p:sp>
          <p:nvSpPr>
            <p:cNvPr name="TextBox 151" id="149"/>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a:t>
              </a:r>
              <a:r>
                <a:rPr lang="en-US" sz="1650" b="true">
                  <a:solidFill>
                    <a:srgbClr val="FFFFFF"/>
                  </a:solidFill>
                  <a:latin typeface="Exo 2 Bold"/>
                  <a:ea typeface="Exo 2 Bold"/>
                  <a:cs typeface="Exo 2 Bold"/>
                  <a:sym typeface="Exo 2 Bold"/>
                </a:rPr>
                <a:t>$1,666.19</a:t>
              </a:r>
            </a:p>
          </p:txBody>
        </p:sp>
      </p:grpSp>
      <p:grpSp>
        <p:nvGrpSpPr>
          <p:cNvPr name="Group 152" id="150"/>
          <p:cNvGrpSpPr/>
          <p:nvPr/>
        </p:nvGrpSpPr>
        <p:grpSpPr>
          <a:xfrm rot="0">
            <a:off x="9411176" y="3937435"/>
            <a:ext cx="3703320" cy="903818"/>
            <a:chOff x="0" y="0"/>
            <a:chExt cx="4937760" cy="1205090"/>
          </a:xfrm>
        </p:grpSpPr>
        <p:sp>
          <p:nvSpPr>
            <p:cNvPr name="Freeform 153" id="151"/>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txBody>
            <a:bodyPr/>
            <a:p/>
          </p:txBody>
        </p:sp>
      </p:grpSp>
      <p:grpSp>
        <p:nvGrpSpPr>
          <p:cNvPr name="Group 154" id="152"/>
          <p:cNvGrpSpPr/>
          <p:nvPr/>
        </p:nvGrpSpPr>
        <p:grpSpPr>
          <a:xfrm rot="0">
            <a:off x="9411176" y="3930291"/>
            <a:ext cx="3703320" cy="910961"/>
            <a:chOff x="0" y="0"/>
            <a:chExt cx="4937760" cy="1214615"/>
          </a:xfrm>
        </p:grpSpPr>
        <p:sp>
          <p:nvSpPr>
            <p:cNvPr name="Freeform 155" id="153"/>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txBody>
            <a:bodyPr/>
            <a:p/>
          </p:txBody>
        </p:sp>
        <p:sp>
          <p:nvSpPr>
            <p:cNvPr name="TextBox 156" id="154"/>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$10,539.81</a:t>
              </a:r>
            </a:p>
          </p:txBody>
        </p:sp>
      </p:grpSp>
      <p:grpSp>
        <p:nvGrpSpPr>
          <p:cNvPr name="Group 157" id="155"/>
          <p:cNvGrpSpPr/>
          <p:nvPr/>
        </p:nvGrpSpPr>
        <p:grpSpPr>
          <a:xfrm rot="0">
            <a:off x="9411176" y="4749727"/>
            <a:ext cx="3703320" cy="499262"/>
            <a:chOff x="0" y="0"/>
            <a:chExt cx="4937760" cy="665683"/>
          </a:xfrm>
        </p:grpSpPr>
        <p:sp>
          <p:nvSpPr>
            <p:cNvPr name="Freeform 158" id="156"/>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txBody>
            <a:bodyPr/>
            <a:p/>
          </p:txBody>
        </p:sp>
      </p:grpSp>
      <p:grpSp>
        <p:nvGrpSpPr>
          <p:cNvPr name="Group 159" id="157"/>
          <p:cNvGrpSpPr/>
          <p:nvPr/>
        </p:nvGrpSpPr>
        <p:grpSpPr>
          <a:xfrm rot="0">
            <a:off x="9411176" y="4742583"/>
            <a:ext cx="3703320" cy="506406"/>
            <a:chOff x="0" y="0"/>
            <a:chExt cx="4937760" cy="675208"/>
          </a:xfrm>
        </p:grpSpPr>
        <p:sp>
          <p:nvSpPr>
            <p:cNvPr name="Freeform 160" id="158"/>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txBody>
            <a:bodyPr/>
            <a:p/>
          </p:txBody>
        </p:sp>
        <p:sp>
          <p:nvSpPr>
            <p:cNvPr name="TextBox 161" id="159"/>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Current AUM</a:t>
              </a:r>
            </a:p>
          </p:txBody>
        </p:sp>
      </p:grpSp>
      <p:grpSp>
        <p:nvGrpSpPr>
          <p:cNvPr name="Group 162" id="160"/>
          <p:cNvGrpSpPr/>
          <p:nvPr/>
        </p:nvGrpSpPr>
        <p:grpSpPr>
          <a:xfrm rot="0">
            <a:off x="9575768" y="5253028"/>
            <a:ext cx="1933956" cy="438912"/>
            <a:chOff x="0" y="0"/>
            <a:chExt cx="2578608" cy="585216"/>
          </a:xfrm>
        </p:grpSpPr>
        <p:sp>
          <p:nvSpPr>
            <p:cNvPr name="Freeform 163" id="161"/>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7">
                <a:alphaModFix amt="0"/>
              </a:blip>
              <a:stretch>
                <a:fillRect l="0" t="-35796" r="0" b="-35796"/>
              </a:stretch>
            </a:blipFill>
          </p:spPr>
          <p:txBody>
            <a:bodyPr/>
            <a:p/>
          </p:txBody>
        </p:sp>
      </p:grpSp>
      <p:grpSp>
        <p:nvGrpSpPr>
          <p:cNvPr name="Group 164" id="162"/>
          <p:cNvGrpSpPr/>
          <p:nvPr/>
        </p:nvGrpSpPr>
        <p:grpSpPr>
          <a:xfrm rot="0">
            <a:off x="9575768" y="5253028"/>
            <a:ext cx="1933956" cy="438912"/>
            <a:chOff x="0" y="0"/>
            <a:chExt cx="2578608" cy="585216"/>
          </a:xfrm>
        </p:grpSpPr>
        <p:sp>
          <p:nvSpPr>
            <p:cNvPr name="Freeform 165" id="163"/>
            <p:cNvSpPr/>
            <p:nvPr/>
          </p:nvSpPr>
          <p:spPr>
            <a:xfrm flipH="false" flipV="false" rot="0">
              <a:off x="0" y="0"/>
              <a:ext cx="2578608" cy="585216"/>
            </a:xfrm>
            <a:custGeom>
              <a:avLst/>
              <a:gdLst/>
              <a:ahLst/>
              <a:cxnLst/>
              <a:rect r="r" b="b" t="t" l="l"/>
              <a:pathLst>
                <a:path h="585216" w="2578608">
                  <a:moveTo>
                    <a:pt x="0" y="0"/>
                  </a:moveTo>
                  <a:lnTo>
                    <a:pt x="2578608" y="0"/>
                  </a:lnTo>
                  <a:lnTo>
                    <a:pt x="2578608" y="585216"/>
                  </a:lnTo>
                  <a:lnTo>
                    <a:pt x="0" y="585216"/>
                  </a:lnTo>
                  <a:close/>
                </a:path>
              </a:pathLst>
            </a:custGeom>
            <a:blipFill>
              <a:blip r:embed="rId3">
                <a:alphaModFix amt="0"/>
              </a:blip>
              <a:stretch>
                <a:fillRect l="0" t="-35855" r="0" b="-35855"/>
              </a:stretch>
            </a:blipFill>
          </p:spPr>
          <p:txBody>
            <a:bodyPr/>
            <a:p/>
          </p:txBody>
        </p:sp>
        <p:sp>
          <p:nvSpPr>
            <p:cNvPr name="TextBox 166" id="164"/>
            <p:cNvSpPr txBox="true"/>
            <p:nvPr/>
          </p:nvSpPr>
          <p:spPr>
            <a:xfrm>
              <a:off x="0" y="0"/>
              <a:ext cx="2578608" cy="585216"/>
            </a:xfrm>
            <a:prstGeom prst="rect">
              <a:avLst/>
            </a:prstGeom>
          </p:spPr>
          <p:txBody>
            <a:bodyPr anchor="ctr" rtlCol="false" tIns="0" lIns="0" bIns="0" rIns="0"/>
            <a:lstStyle/>
            <a:p>
              <a:pPr algn="l">
                <a:lnSpc>
                  <a:spcPts val="1980"/>
                </a:lnSpc>
              </a:pPr>
              <a:r>
                <a:rPr lang="en-US" sz="1650">
                  <a:solidFill>
                    <a:srgbClr val="9AA5E0"/>
                  </a:solidFill>
                  <a:latin typeface="Exo 2"/>
                  <a:ea typeface="Exo 2"/>
                  <a:cs typeface="Exo 2"/>
                  <a:sym typeface="Exo 2"/>
                </a:rPr>
                <a:t>prev  </a:t>
              </a:r>
              <a:r>
                <a:rPr lang="en-US" sz="1650" b="true">
                  <a:solidFill>
                    <a:srgbClr val="FFFFFF"/>
                  </a:solidFill>
                  <a:latin typeface="Exo 2 Bold"/>
                  <a:ea typeface="Exo 2 Bold"/>
                  <a:cs typeface="Exo 2 Bold"/>
                  <a:sym typeface="Exo 2 Bold"/>
                </a:rPr>
                <a:t>$8,529.69</a:t>
              </a:r>
            </a:p>
          </p:txBody>
        </p:sp>
      </p:grpSp>
      <p:grpSp>
        <p:nvGrpSpPr>
          <p:cNvPr name="Group 167" id="165"/>
          <p:cNvGrpSpPr/>
          <p:nvPr/>
        </p:nvGrpSpPr>
        <p:grpSpPr>
          <a:xfrm rot="0">
            <a:off x="11108122" y="5253028"/>
            <a:ext cx="1841783" cy="438912"/>
            <a:chOff x="0" y="0"/>
            <a:chExt cx="2455710" cy="585216"/>
          </a:xfrm>
        </p:grpSpPr>
        <p:sp>
          <p:nvSpPr>
            <p:cNvPr name="Freeform 168" id="166"/>
            <p:cNvSpPr/>
            <p:nvPr/>
          </p:nvSpPr>
          <p:spPr>
            <a:xfrm flipH="false" flipV="false" rot="0">
              <a:off x="0" y="0"/>
              <a:ext cx="2455672" cy="585216"/>
            </a:xfrm>
            <a:custGeom>
              <a:avLst/>
              <a:gdLst/>
              <a:ahLst/>
              <a:cxnLst/>
              <a:rect r="r" b="b" t="t" l="l"/>
              <a:pathLst>
                <a:path h="585216" w="2455672">
                  <a:moveTo>
                    <a:pt x="0" y="0"/>
                  </a:moveTo>
                  <a:lnTo>
                    <a:pt x="2455672" y="0"/>
                  </a:lnTo>
                  <a:lnTo>
                    <a:pt x="2455672" y="585216"/>
                  </a:lnTo>
                  <a:lnTo>
                    <a:pt x="0" y="585216"/>
                  </a:lnTo>
                  <a:close/>
                </a:path>
              </a:pathLst>
            </a:custGeom>
            <a:blipFill>
              <a:blip r:embed="rId7">
                <a:alphaModFix amt="0"/>
              </a:blip>
              <a:stretch>
                <a:fillRect l="0" t="-31707" r="-1" b="-31705"/>
              </a:stretch>
            </a:blipFill>
          </p:spPr>
          <p:txBody>
            <a:bodyPr/>
            <a:p/>
          </p:txBody>
        </p:sp>
      </p:grpSp>
      <p:grpSp>
        <p:nvGrpSpPr>
          <p:cNvPr name="Group 169" id="167"/>
          <p:cNvGrpSpPr/>
          <p:nvPr/>
        </p:nvGrpSpPr>
        <p:grpSpPr>
          <a:xfrm rot="0">
            <a:off x="11108122" y="5253028"/>
            <a:ext cx="1841783" cy="438912"/>
            <a:chOff x="0" y="0"/>
            <a:chExt cx="2455710" cy="585216"/>
          </a:xfrm>
        </p:grpSpPr>
        <p:sp>
          <p:nvSpPr>
            <p:cNvPr name="Freeform 170" id="168"/>
            <p:cNvSpPr/>
            <p:nvPr/>
          </p:nvSpPr>
          <p:spPr>
            <a:xfrm flipH="false" flipV="false" rot="0">
              <a:off x="0" y="0"/>
              <a:ext cx="2455711" cy="585216"/>
            </a:xfrm>
            <a:custGeom>
              <a:avLst/>
              <a:gdLst/>
              <a:ahLst/>
              <a:cxnLst/>
              <a:rect r="r" b="b" t="t" l="l"/>
              <a:pathLst>
                <a:path h="585216" w="2455711">
                  <a:moveTo>
                    <a:pt x="0" y="0"/>
                  </a:moveTo>
                  <a:lnTo>
                    <a:pt x="2455711" y="0"/>
                  </a:lnTo>
                  <a:lnTo>
                    <a:pt x="2455711" y="585216"/>
                  </a:lnTo>
                  <a:lnTo>
                    <a:pt x="0" y="585216"/>
                  </a:lnTo>
                  <a:close/>
                </a:path>
              </a:pathLst>
            </a:custGeom>
            <a:blipFill>
              <a:blip r:embed="rId3">
                <a:alphaModFix amt="0"/>
              </a:blip>
              <a:stretch>
                <a:fillRect l="0" t="-31764" r="0" b="-31764"/>
              </a:stretch>
            </a:blipFill>
          </p:spPr>
          <p:txBody>
            <a:bodyPr/>
            <a:p/>
          </p:txBody>
        </p:sp>
        <p:sp>
          <p:nvSpPr>
            <p:cNvPr name="TextBox 171" id="169"/>
            <p:cNvSpPr txBox="true"/>
            <p:nvPr/>
          </p:nvSpPr>
          <p:spPr>
            <a:xfrm>
              <a:off x="0" y="0"/>
              <a:ext cx="2455710" cy="585216"/>
            </a:xfrm>
            <a:prstGeom prst="rect">
              <a:avLst/>
            </a:prstGeom>
          </p:spPr>
          <p:txBody>
            <a:bodyPr anchor="ctr" rtlCol="false" tIns="0" lIns="0" bIns="0" rIns="0"/>
            <a:lstStyle/>
            <a:p>
              <a:pPr algn="r">
                <a:lnSpc>
                  <a:spcPts val="2430"/>
                </a:lnSpc>
              </a:pPr>
              <a:r>
                <a:rPr lang="en-US" sz="2025" b="true">
                  <a:solidFill>
                    <a:srgbClr val="3DDC84"/>
                  </a:solidFill>
                  <a:latin typeface="Exo 2 Bold"/>
                  <a:ea typeface="Exo 2 Bold"/>
                  <a:cs typeface="Exo 2 Bold"/>
                  <a:sym typeface="Exo 2 Bold"/>
                </a:rPr>
                <a:t>▲ +23.6%</a:t>
              </a:r>
            </a:p>
          </p:txBody>
        </p:sp>
      </p:grpSp>
      <p:sp>
        <p:nvSpPr>
          <p:cNvPr name="TextBox 172" id="170"/>
          <p:cNvSpPr txBox="true"/>
          <p:nvPr/>
        </p:nvSpPr>
        <p:spPr>
          <a:xfrm rot="0">
            <a:off x="843324" y="6025315"/>
            <a:ext cx="7801575" cy="476250"/>
          </a:xfrm>
          <a:prstGeom prst="rect">
            <a:avLst/>
          </a:prstGeom>
        </p:spPr>
        <p:txBody>
          <a:bodyPr anchor="t" rtlCol="false" tIns="0" lIns="0" bIns="0" rIns="0">
            <a:spAutoFit/>
          </a:bodyPr>
          <a:lstStyle/>
          <a:p>
            <a:pPr algn="l">
              <a:lnSpc>
                <a:spcPts val="3510"/>
              </a:lnSpc>
            </a:pPr>
            <a:r>
              <a:rPr lang="en-US" b="true" sz="2925">
                <a:solidFill>
                  <a:srgbClr val="1F3B8C"/>
                </a:solidFill>
                <a:latin typeface="Arimo Bold"/>
                <a:ea typeface="Arimo Bold"/>
                <a:cs typeface="Arimo Bold"/>
                <a:sym typeface="Arimo Bold"/>
              </a:rPr>
              <a:t>Key Highlights</a:t>
            </a:r>
          </a:p>
        </p:txBody>
      </p:sp>
      <p:grpSp>
        <p:nvGrpSpPr>
          <p:cNvPr name="Group 173" id="171"/>
          <p:cNvGrpSpPr/>
          <p:nvPr/>
        </p:nvGrpSpPr>
        <p:grpSpPr>
          <a:xfrm rot="0">
            <a:off x="13784580" y="1824257"/>
            <a:ext cx="3703320" cy="903818"/>
            <a:chOff x="0" y="0"/>
            <a:chExt cx="4937760" cy="1205090"/>
          </a:xfrm>
        </p:grpSpPr>
        <p:sp>
          <p:nvSpPr>
            <p:cNvPr name="Freeform 174" id="172"/>
            <p:cNvSpPr/>
            <p:nvPr/>
          </p:nvSpPr>
          <p:spPr>
            <a:xfrm flipH="false" flipV="false" rot="0">
              <a:off x="0" y="0"/>
              <a:ext cx="4937760" cy="1205103"/>
            </a:xfrm>
            <a:custGeom>
              <a:avLst/>
              <a:gdLst/>
              <a:ahLst/>
              <a:cxnLst/>
              <a:rect r="r" b="b" t="t" l="l"/>
              <a:pathLst>
                <a:path h="1205103" w="4937760">
                  <a:moveTo>
                    <a:pt x="0" y="0"/>
                  </a:moveTo>
                  <a:lnTo>
                    <a:pt x="4937760" y="0"/>
                  </a:lnTo>
                  <a:lnTo>
                    <a:pt x="4937760" y="1205103"/>
                  </a:lnTo>
                  <a:lnTo>
                    <a:pt x="0" y="1205103"/>
                  </a:lnTo>
                  <a:close/>
                </a:path>
              </a:pathLst>
            </a:custGeom>
            <a:blipFill>
              <a:blip r:embed="rId7">
                <a:alphaModFix amt="0"/>
              </a:blip>
              <a:stretch>
                <a:fillRect l="0" t="-29781" r="0" b="-29781"/>
              </a:stretch>
            </a:blipFill>
          </p:spPr>
          <p:txBody>
            <a:bodyPr/>
            <a:p/>
          </p:txBody>
        </p:sp>
      </p:grpSp>
      <p:grpSp>
        <p:nvGrpSpPr>
          <p:cNvPr name="Group 175" id="173"/>
          <p:cNvGrpSpPr/>
          <p:nvPr/>
        </p:nvGrpSpPr>
        <p:grpSpPr>
          <a:xfrm rot="0">
            <a:off x="13784580" y="1817113"/>
            <a:ext cx="3703320" cy="910961"/>
            <a:chOff x="0" y="0"/>
            <a:chExt cx="4937760" cy="1214615"/>
          </a:xfrm>
        </p:grpSpPr>
        <p:sp>
          <p:nvSpPr>
            <p:cNvPr name="Freeform 176" id="174"/>
            <p:cNvSpPr/>
            <p:nvPr/>
          </p:nvSpPr>
          <p:spPr>
            <a:xfrm flipH="false" flipV="false" rot="0">
              <a:off x="0" y="0"/>
              <a:ext cx="4937760" cy="1214620"/>
            </a:xfrm>
            <a:custGeom>
              <a:avLst/>
              <a:gdLst/>
              <a:ahLst/>
              <a:cxnLst/>
              <a:rect r="r" b="b" t="t" l="l"/>
              <a:pathLst>
                <a:path h="1214620" w="4937760">
                  <a:moveTo>
                    <a:pt x="0" y="0"/>
                  </a:moveTo>
                  <a:lnTo>
                    <a:pt x="4937760" y="0"/>
                  </a:lnTo>
                  <a:lnTo>
                    <a:pt x="4937760" y="1214620"/>
                  </a:lnTo>
                  <a:lnTo>
                    <a:pt x="0" y="1214620"/>
                  </a:lnTo>
                  <a:close/>
                </a:path>
              </a:pathLst>
            </a:custGeom>
            <a:blipFill>
              <a:blip r:embed="rId3">
                <a:alphaModFix amt="0"/>
              </a:blip>
              <a:stretch>
                <a:fillRect l="0" t="-29212" r="0" b="-29211"/>
              </a:stretch>
            </a:blipFill>
          </p:spPr>
          <p:txBody>
            <a:bodyPr/>
            <a:p/>
          </p:txBody>
        </p:sp>
        <p:sp>
          <p:nvSpPr>
            <p:cNvPr name="TextBox 177" id="175"/>
            <p:cNvSpPr txBox="true"/>
            <p:nvPr/>
          </p:nvSpPr>
          <p:spPr>
            <a:xfrm>
              <a:off x="0" y="-9525"/>
              <a:ext cx="4937760" cy="1224140"/>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$140.21</a:t>
              </a:r>
            </a:p>
          </p:txBody>
        </p:sp>
      </p:grpSp>
      <p:grpSp>
        <p:nvGrpSpPr>
          <p:cNvPr name="Group 178" id="176"/>
          <p:cNvGrpSpPr/>
          <p:nvPr/>
        </p:nvGrpSpPr>
        <p:grpSpPr>
          <a:xfrm rot="0">
            <a:off x="13784580" y="2636549"/>
            <a:ext cx="3703320" cy="499262"/>
            <a:chOff x="0" y="0"/>
            <a:chExt cx="4937760" cy="665683"/>
          </a:xfrm>
        </p:grpSpPr>
        <p:sp>
          <p:nvSpPr>
            <p:cNvPr name="Freeform 179" id="177"/>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txBody>
            <a:bodyPr/>
            <a:p/>
          </p:txBody>
        </p:sp>
      </p:grpSp>
      <p:grpSp>
        <p:nvGrpSpPr>
          <p:cNvPr name="Group 180" id="178"/>
          <p:cNvGrpSpPr/>
          <p:nvPr/>
        </p:nvGrpSpPr>
        <p:grpSpPr>
          <a:xfrm rot="0">
            <a:off x="13784580" y="2629405"/>
            <a:ext cx="3703320" cy="506406"/>
            <a:chOff x="0" y="0"/>
            <a:chExt cx="4937760" cy="675208"/>
          </a:xfrm>
        </p:grpSpPr>
        <p:sp>
          <p:nvSpPr>
            <p:cNvPr name="Freeform 181" id="179"/>
            <p:cNvSpPr/>
            <p:nvPr/>
          </p:nvSpPr>
          <p:spPr>
            <a:xfrm flipH="false" flipV="false" rot="0">
              <a:off x="0" y="0"/>
              <a:ext cx="4937760" cy="675209"/>
            </a:xfrm>
            <a:custGeom>
              <a:avLst/>
              <a:gdLst/>
              <a:ahLst/>
              <a:cxnLst/>
              <a:rect r="r" b="b" t="t" l="l"/>
              <a:pathLst>
                <a:path h="675209" w="4937760">
                  <a:moveTo>
                    <a:pt x="0" y="0"/>
                  </a:moveTo>
                  <a:lnTo>
                    <a:pt x="4937760" y="0"/>
                  </a:lnTo>
                  <a:lnTo>
                    <a:pt x="4937760" y="675209"/>
                  </a:lnTo>
                  <a:lnTo>
                    <a:pt x="0" y="675209"/>
                  </a:lnTo>
                  <a:close/>
                </a:path>
              </a:pathLst>
            </a:custGeom>
            <a:blipFill>
              <a:blip r:embed="rId3">
                <a:alphaModFix amt="0"/>
              </a:blip>
              <a:stretch>
                <a:fillRect l="0" t="-92492" r="0" b="-92492"/>
              </a:stretch>
            </a:blipFill>
          </p:spPr>
          <p:txBody>
            <a:bodyPr/>
            <a:p/>
          </p:txBody>
        </p:sp>
        <p:sp>
          <p:nvSpPr>
            <p:cNvPr name="TextBox 182" id="180"/>
            <p:cNvSpPr txBox="true"/>
            <p:nvPr/>
          </p:nvSpPr>
          <p:spPr>
            <a:xfrm>
              <a:off x="0" y="-9525"/>
              <a:ext cx="4937760" cy="684733"/>
            </a:xfrm>
            <a:prstGeom prst="rect">
              <a:avLst/>
            </a:prstGeom>
          </p:spPr>
          <p:txBody>
            <a:bodyPr anchor="ctr" rtlCol="false" tIns="0" lIns="0" bIns="0" rIns="0"/>
            <a:lstStyle/>
            <a:p>
              <a:pPr algn="ctr">
                <a:lnSpc>
                  <a:spcPts val="2159"/>
                </a:lnSpc>
              </a:pPr>
              <a:r>
                <a:rPr lang="en-US" sz="1799">
                  <a:solidFill>
                    <a:srgbClr val="FFFFFF"/>
                  </a:solidFill>
                  <a:latin typeface="Exo 2"/>
                  <a:ea typeface="Exo 2"/>
                  <a:cs typeface="Exo 2"/>
                  <a:sym typeface="Exo 2"/>
                </a:rPr>
                <a:t>Revenue </a:t>
              </a:r>
            </a:p>
          </p:txBody>
        </p:sp>
      </p:grpSp>
      <p:grpSp>
        <p:nvGrpSpPr>
          <p:cNvPr name="Group 183" id="181"/>
          <p:cNvGrpSpPr/>
          <p:nvPr/>
        </p:nvGrpSpPr>
        <p:grpSpPr>
          <a:xfrm rot="0">
            <a:off x="13804106" y="3061449"/>
            <a:ext cx="3703320" cy="499262"/>
            <a:chOff x="0" y="0"/>
            <a:chExt cx="4937760" cy="665683"/>
          </a:xfrm>
        </p:grpSpPr>
        <p:sp>
          <p:nvSpPr>
            <p:cNvPr name="Freeform 184" id="182"/>
            <p:cNvSpPr/>
            <p:nvPr/>
          </p:nvSpPr>
          <p:spPr>
            <a:xfrm flipH="false" flipV="false" rot="0">
              <a:off x="0" y="0"/>
              <a:ext cx="4937760" cy="665734"/>
            </a:xfrm>
            <a:custGeom>
              <a:avLst/>
              <a:gdLst/>
              <a:ahLst/>
              <a:cxnLst/>
              <a:rect r="r" b="b" t="t" l="l"/>
              <a:pathLst>
                <a:path h="665734" w="4937760">
                  <a:moveTo>
                    <a:pt x="0" y="0"/>
                  </a:moveTo>
                  <a:lnTo>
                    <a:pt x="4937760" y="0"/>
                  </a:lnTo>
                  <a:lnTo>
                    <a:pt x="4937760" y="665734"/>
                  </a:lnTo>
                  <a:lnTo>
                    <a:pt x="0" y="665734"/>
                  </a:lnTo>
                  <a:close/>
                </a:path>
              </a:pathLst>
            </a:custGeom>
            <a:blipFill>
              <a:blip r:embed="rId7">
                <a:alphaModFix amt="0"/>
              </a:blip>
              <a:stretch>
                <a:fillRect l="0" t="-94423" r="0" b="-94416"/>
              </a:stretch>
            </a:blipFill>
          </p:spPr>
          <p:txBody>
            <a:bodyPr/>
            <a:p/>
          </p:txBody>
        </p:sp>
      </p:grpSp>
      <p:grpSp>
        <p:nvGrpSpPr>
          <p:cNvPr name="Group 185" id="183"/>
          <p:cNvGrpSpPr/>
          <p:nvPr/>
        </p:nvGrpSpPr>
        <p:grpSpPr>
          <a:xfrm rot="0">
            <a:off x="13804106" y="3061449"/>
            <a:ext cx="3703320" cy="499262"/>
            <a:chOff x="0" y="0"/>
            <a:chExt cx="4937760" cy="665683"/>
          </a:xfrm>
        </p:grpSpPr>
        <p:sp>
          <p:nvSpPr>
            <p:cNvPr name="Freeform 186" id="184"/>
            <p:cNvSpPr/>
            <p:nvPr/>
          </p:nvSpPr>
          <p:spPr>
            <a:xfrm flipH="false" flipV="false" rot="0">
              <a:off x="0" y="0"/>
              <a:ext cx="4937760" cy="665684"/>
            </a:xfrm>
            <a:custGeom>
              <a:avLst/>
              <a:gdLst/>
              <a:ahLst/>
              <a:cxnLst/>
              <a:rect r="r" b="b" t="t" l="l"/>
              <a:pathLst>
                <a:path h="665684" w="4937760">
                  <a:moveTo>
                    <a:pt x="0" y="0"/>
                  </a:moveTo>
                  <a:lnTo>
                    <a:pt x="4937760" y="0"/>
                  </a:lnTo>
                  <a:lnTo>
                    <a:pt x="4937760" y="665684"/>
                  </a:lnTo>
                  <a:lnTo>
                    <a:pt x="0" y="665684"/>
                  </a:lnTo>
                  <a:close/>
                </a:path>
              </a:pathLst>
            </a:custGeom>
            <a:blipFill>
              <a:blip r:embed="rId3">
                <a:alphaModFix amt="0"/>
              </a:blip>
              <a:stretch>
                <a:fillRect l="0" t="-94531" r="0" b="-94531"/>
              </a:stretch>
            </a:blipFill>
          </p:spPr>
          <p:txBody>
            <a:bodyPr/>
            <a:p/>
          </p:txBody>
        </p:sp>
        <p:sp>
          <p:nvSpPr>
            <p:cNvPr name="TextBox 187" id="185"/>
            <p:cNvSpPr txBox="true"/>
            <p:nvPr/>
          </p:nvSpPr>
          <p:spPr>
            <a:xfrm>
              <a:off x="0" y="0"/>
              <a:ext cx="4937760" cy="665683"/>
            </a:xfrm>
            <a:prstGeom prst="rect">
              <a:avLst/>
            </a:prstGeom>
          </p:spPr>
          <p:txBody>
            <a:bodyPr anchor="ctr" rtlCol="false" tIns="0" lIns="0" bIns="0" rIns="0"/>
            <a:lstStyle/>
            <a:p>
              <a:pPr algn="ctr">
                <a:lnSpc>
                  <a:spcPts val="1980"/>
                </a:lnSpc>
              </a:pPr>
              <a:r>
                <a:rPr lang="en-US" sz="1650">
                  <a:solidFill>
                    <a:srgbClr val="9AA5E0"/>
                  </a:solidFill>
                  <a:latin typeface="Exo 2"/>
                  <a:ea typeface="Exo 2"/>
                  <a:cs typeface="Exo 2"/>
                  <a:sym typeface="Exo 2"/>
                </a:rPr>
                <a:t>prev  </a:t>
              </a:r>
              <a:r>
                <a:rPr lang="en-US" sz="1650">
                  <a:solidFill>
                    <a:srgbClr val="FFFFFF"/>
                  </a:solidFill>
                  <a:latin typeface="Exo 2"/>
                  <a:ea typeface="Exo 2"/>
                  <a:cs typeface="Exo 2"/>
                  <a:sym typeface="Exo 2"/>
                </a:rPr>
                <a:t>$107.52</a:t>
              </a:r>
              <a:r>
                <a:rPr lang="en-US" sz="1650">
                  <a:solidFill>
                    <a:srgbClr val="3DDC84"/>
                  </a:solidFill>
                  <a:latin typeface="Exo 2"/>
                  <a:ea typeface="Exo 2"/>
                  <a:cs typeface="Exo 2"/>
                  <a:sym typeface="Exo 2"/>
                </a:rPr>
                <a:t>     ▲ +30.4%</a:t>
              </a:r>
            </a:p>
          </p:txBody>
        </p:sp>
      </p:grpSp>
      <p:grpSp>
        <p:nvGrpSpPr>
          <p:cNvPr name="Group 188" id="186"/>
          <p:cNvGrpSpPr/>
          <p:nvPr/>
        </p:nvGrpSpPr>
        <p:grpSpPr>
          <a:xfrm rot="0">
            <a:off x="816007" y="8660568"/>
            <a:ext cx="16212312" cy="775764"/>
            <a:chOff x="0" y="0"/>
            <a:chExt cx="21616416" cy="1034351"/>
          </a:xfrm>
        </p:grpSpPr>
        <p:sp>
          <p:nvSpPr>
            <p:cNvPr name="Freeform 189" id="187"/>
            <p:cNvSpPr/>
            <p:nvPr/>
          </p:nvSpPr>
          <p:spPr>
            <a:xfrm flipH="false" flipV="false" rot="0">
              <a:off x="0" y="0"/>
              <a:ext cx="21616415" cy="1034288"/>
            </a:xfrm>
            <a:custGeom>
              <a:avLst/>
              <a:gdLst/>
              <a:ahLst/>
              <a:cxnLst/>
              <a:rect r="r" b="b" t="t" l="l"/>
              <a:pathLst>
                <a:path h="1034288" w="21616415">
                  <a:moveTo>
                    <a:pt x="0" y="0"/>
                  </a:moveTo>
                  <a:lnTo>
                    <a:pt x="21616415" y="0"/>
                  </a:lnTo>
                  <a:lnTo>
                    <a:pt x="21616415" y="1034288"/>
                  </a:lnTo>
                  <a:lnTo>
                    <a:pt x="0" y="1034288"/>
                  </a:lnTo>
                  <a:close/>
                </a:path>
              </a:pathLst>
            </a:custGeom>
            <a:blipFill>
              <a:blip r:embed="rId7">
                <a:alphaModFix amt="0"/>
              </a:blip>
              <a:stretch>
                <a:fillRect l="0" t="-356947" r="0" b="-356953"/>
              </a:stretch>
            </a:blipFill>
          </p:spPr>
          <p:txBody>
            <a:bodyPr/>
            <a:p/>
          </p:txBody>
        </p:sp>
      </p:grpSp>
      <p:grpSp>
        <p:nvGrpSpPr>
          <p:cNvPr name="Group 190" id="188"/>
          <p:cNvGrpSpPr/>
          <p:nvPr/>
        </p:nvGrpSpPr>
        <p:grpSpPr>
          <a:xfrm rot="0">
            <a:off x="864108" y="8657530"/>
            <a:ext cx="16212312" cy="775760"/>
            <a:chOff x="0" y="0"/>
            <a:chExt cx="21616416" cy="1034347"/>
          </a:xfrm>
        </p:grpSpPr>
        <p:sp>
          <p:nvSpPr>
            <p:cNvPr name="Freeform 191" id="189"/>
            <p:cNvSpPr/>
            <p:nvPr/>
          </p:nvSpPr>
          <p:spPr>
            <a:xfrm flipH="false" flipV="false" rot="0">
              <a:off x="0" y="0"/>
              <a:ext cx="21616415" cy="1034342"/>
            </a:xfrm>
            <a:custGeom>
              <a:avLst/>
              <a:gdLst/>
              <a:ahLst/>
              <a:cxnLst/>
              <a:rect r="r" b="b" t="t" l="l"/>
              <a:pathLst>
                <a:path h="1034342" w="21616415">
                  <a:moveTo>
                    <a:pt x="0" y="0"/>
                  </a:moveTo>
                  <a:lnTo>
                    <a:pt x="21616415" y="0"/>
                  </a:lnTo>
                  <a:lnTo>
                    <a:pt x="21616415" y="1034342"/>
                  </a:lnTo>
                  <a:lnTo>
                    <a:pt x="0" y="1034342"/>
                  </a:lnTo>
                  <a:close/>
                </a:path>
              </a:pathLst>
            </a:custGeom>
            <a:blipFill>
              <a:blip r:embed="rId3">
                <a:alphaModFix amt="0"/>
              </a:blip>
              <a:stretch>
                <a:fillRect l="0" t="-357211" r="0" b="-357212"/>
              </a:stretch>
            </a:blipFill>
          </p:spPr>
          <p:txBody>
            <a:bodyPr/>
            <a:p/>
          </p:txBody>
        </p:sp>
        <p:sp>
          <p:nvSpPr>
            <p:cNvPr name="TextBox 192" id="190"/>
            <p:cNvSpPr txBox="true"/>
            <p:nvPr/>
          </p:nvSpPr>
          <p:spPr>
            <a:xfrm>
              <a:off x="0" y="0"/>
              <a:ext cx="21616416" cy="1034347"/>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Client Experience and IT: clearing onboarding blockers</a:t>
              </a:r>
            </a:p>
            <a:p>
              <a:pPr algn="l">
                <a:lnSpc>
                  <a:spcPts val="2578"/>
                </a:lnSpc>
              </a:pPr>
              <a:r>
                <a:rPr lang="en-US" sz="2148">
                  <a:solidFill>
                    <a:srgbClr val="5A6A85"/>
                  </a:solidFill>
                  <a:latin typeface="Exo 2"/>
                  <a:ea typeface="Exo 2"/>
                  <a:cs typeface="Exo 2"/>
                  <a:sym typeface="Exo 2"/>
                </a:rPr>
                <a:t>8 of 31 contacted clients onboarded (25.8%); Helpdesk launched.</a:t>
              </a:r>
            </a:p>
          </p:txBody>
        </p:sp>
      </p:grpSp>
      <p:grpSp>
        <p:nvGrpSpPr>
          <p:cNvPr name="Group 193" id="191"/>
          <p:cNvGrpSpPr/>
          <p:nvPr/>
        </p:nvGrpSpPr>
        <p:grpSpPr>
          <a:xfrm rot="0">
            <a:off x="470535" y="7766980"/>
            <a:ext cx="278092" cy="243331"/>
            <a:chOff x="0" y="0"/>
            <a:chExt cx="812800" cy="711200"/>
          </a:xfrm>
        </p:grpSpPr>
        <p:sp>
          <p:nvSpPr>
            <p:cNvPr name="Freeform 194" id="192"/>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2"/>
              <a:stretch>
                <a:fillRect/>
              </a:stretch>
            </a:blipFill>
          </p:spPr>
          <p:txBody>
            <a:bodyPr/>
            <a:p/>
          </p:txBody>
        </p:sp>
        <p:sp>
          <p:nvSpPr>
            <p:cNvPr name="TextBox 195" id="193"/>
            <p:cNvSpPr txBox="true"/>
            <p:nvPr/>
          </p:nvSpPr>
          <p:spPr>
            <a:xfrm>
              <a:off x="127000" y="41275"/>
              <a:ext cx="558800" cy="339725"/>
            </a:xfrm>
            <a:prstGeom prst="rect">
              <a:avLst/>
            </a:prstGeom>
          </p:spPr>
          <p:txBody>
            <a:bodyPr anchor="ctr" rtlCol="false" tIns="50800" lIns="50800" bIns="50800" rIns="50800"/>
            <a:lstStyle/>
            <a:p>
              <a:pPr algn="ctr">
                <a:lnSpc>
                  <a:spcPts val="1800"/>
                </a:lnSpc>
              </a:pPr>
            </a:p>
          </p:txBody>
        </p:sp>
      </p:grpSp>
      <p:grpSp>
        <p:nvGrpSpPr>
          <p:cNvPr name="Group 196" id="194"/>
          <p:cNvGrpSpPr/>
          <p:nvPr/>
        </p:nvGrpSpPr>
        <p:grpSpPr>
          <a:xfrm rot="0">
            <a:off x="470535" y="6750051"/>
            <a:ext cx="278092" cy="243331"/>
            <a:chOff x="0" y="0"/>
            <a:chExt cx="812800" cy="711200"/>
          </a:xfrm>
        </p:grpSpPr>
        <p:sp>
          <p:nvSpPr>
            <p:cNvPr name="Freeform 197" id="195"/>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2"/>
              <a:stretch>
                <a:fillRect/>
              </a:stretch>
            </a:blipFill>
          </p:spPr>
          <p:txBody>
            <a:bodyPr/>
            <a:p/>
          </p:txBody>
        </p:sp>
        <p:sp>
          <p:nvSpPr>
            <p:cNvPr name="TextBox 198" id="196"/>
            <p:cNvSpPr txBox="true"/>
            <p:nvPr/>
          </p:nvSpPr>
          <p:spPr>
            <a:xfrm>
              <a:off x="127000" y="41275"/>
              <a:ext cx="558800" cy="339725"/>
            </a:xfrm>
            <a:prstGeom prst="rect">
              <a:avLst/>
            </a:prstGeom>
          </p:spPr>
          <p:txBody>
            <a:bodyPr anchor="ctr" rtlCol="false" tIns="50800" lIns="50800" bIns="50800" rIns="50800"/>
            <a:lstStyle/>
            <a:p>
              <a:pPr algn="ctr">
                <a:lnSpc>
                  <a:spcPts val="1800"/>
                </a:lnSpc>
              </a:pPr>
            </a:p>
          </p:txBody>
        </p:sp>
      </p:grpSp>
      <p:grpSp>
        <p:nvGrpSpPr>
          <p:cNvPr name="Group 199" id="197"/>
          <p:cNvGrpSpPr/>
          <p:nvPr/>
        </p:nvGrpSpPr>
        <p:grpSpPr>
          <a:xfrm rot="0">
            <a:off x="422434" y="8783910"/>
            <a:ext cx="278092" cy="243331"/>
            <a:chOff x="0" y="0"/>
            <a:chExt cx="812800" cy="711200"/>
          </a:xfrm>
        </p:grpSpPr>
        <p:sp>
          <p:nvSpPr>
            <p:cNvPr name="Freeform 200" id="198"/>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2"/>
              <a:stretch>
                <a:fillRect/>
              </a:stretch>
            </a:blipFill>
          </p:spPr>
          <p:txBody>
            <a:bodyPr/>
            <a:p/>
          </p:txBody>
        </p:sp>
        <p:sp>
          <p:nvSpPr>
            <p:cNvPr name="TextBox 201" id="199"/>
            <p:cNvSpPr txBox="true"/>
            <p:nvPr/>
          </p:nvSpPr>
          <p:spPr>
            <a:xfrm>
              <a:off x="127000" y="41275"/>
              <a:ext cx="558800" cy="339725"/>
            </a:xfrm>
            <a:prstGeom prst="rect">
              <a:avLst/>
            </a:prstGeom>
          </p:spPr>
          <p:txBody>
            <a:bodyPr anchor="ctr" rtlCol="false" tIns="50800" lIns="50800" bIns="50800" rIns="50800"/>
            <a:lstStyle/>
            <a:p>
              <a:pPr algn="ctr">
                <a:lnSpc>
                  <a:spcPts val="1800"/>
                </a:lnSpc>
              </a:pPr>
            </a:p>
          </p:txBody>
        </p:sp>
      </p:grpSp>
      <p:grpSp>
        <p:nvGrpSpPr>
          <p:cNvPr name="Group 6" id="200"/>
          <p:cNvGrpSpPr/>
          <p:nvPr/>
        </p:nvGrpSpPr>
        <p:grpSpPr>
          <a:xfrm rot="0">
            <a:off x="850392" y="297596"/>
            <a:ext cx="13990320" cy="1124712"/>
            <a:chOff x="0" y="0"/>
            <a:chExt cx="18653760" cy="1499616"/>
          </a:xfrm>
        </p:grpSpPr>
        <p:sp>
          <p:nvSpPr>
            <p:cNvPr name="Freeform 7" id="201"/>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3">
                <a:alphaModFix amt="0"/>
              </a:blip>
              <a:stretch>
                <a:fillRect l="0" t="-192374" r="0" b="-192374"/>
              </a:stretch>
            </a:blipFill>
          </p:spPr>
          <p:txBody>
            <a:bodyPr/>
            <a:p/>
          </p:txBody>
        </p:sp>
        <p:sp>
          <p:nvSpPr>
            <p:cNvPr name="TextBox 8" id="202"/>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Performance Update</a:t>
              </a:r>
            </a:p>
          </p:txBody>
        </p:sp>
      </p:grpSp>
      <p:grpSp>
        <p:nvGrpSpPr>
          <p:cNvPr name="Group 9" id="203"/>
          <p:cNvGrpSpPr/>
          <p:nvPr/>
        </p:nvGrpSpPr>
        <p:grpSpPr>
          <a:xfrm rot="0">
            <a:off x="15457932" y="571916"/>
            <a:ext cx="1988820" cy="576072"/>
            <a:chOff x="0" y="0"/>
            <a:chExt cx="2651760" cy="768096"/>
          </a:xfrm>
        </p:grpSpPr>
        <p:sp>
          <p:nvSpPr>
            <p:cNvPr name="Freeform 10" id="204"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9"/>
              <a:stretch>
                <a:fillRect l="0" t="-26" r="0" b="-26"/>
              </a:stretch>
            </a:blipFill>
          </p:spPr>
          <p:txBody>
            <a:bodyPr/>
            <a:p/>
          </p:txBody>
        </p:sp>
      </p:grpSp>
      <p:sp>
        <p:nvSpPr>
          <p:cNvPr name="TextBox 13" id="205"/>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PERFORMANCE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12"/>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Freeform 5" id="7"/>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4"/>
            <a:stretch>
              <a:fillRect l="0" t="0" r="0" b="0"/>
            </a:stretch>
          </a:blipFill>
        </p:spPr>
      </p:sp>
      <p:grpSp>
        <p:nvGrpSpPr>
          <p:cNvPr name="Group 10" id="8"/>
          <p:cNvGrpSpPr/>
          <p:nvPr/>
        </p:nvGrpSpPr>
        <p:grpSpPr>
          <a:xfrm rot="0">
            <a:off x="839286" y="2284524"/>
            <a:ext cx="5358194" cy="1350931"/>
            <a:chOff x="0" y="0"/>
            <a:chExt cx="7144258" cy="1801241"/>
          </a:xfrm>
        </p:grpSpPr>
        <p:sp>
          <p:nvSpPr>
            <p:cNvPr name="Freeform 11" id="9"/>
            <p:cNvSpPr/>
            <p:nvPr/>
          </p:nvSpPr>
          <p:spPr>
            <a:xfrm flipH="false" flipV="false" rot="0">
              <a:off x="0" y="0"/>
              <a:ext cx="7144258" cy="1801241"/>
            </a:xfrm>
            <a:custGeom>
              <a:avLst/>
              <a:gdLst/>
              <a:ahLst/>
              <a:cxnLst/>
              <a:rect r="r" b="b" t="t" l="l"/>
              <a:pathLst>
                <a:path h="1801241" w="7144258">
                  <a:moveTo>
                    <a:pt x="0" y="0"/>
                  </a:moveTo>
                  <a:lnTo>
                    <a:pt x="7144258" y="0"/>
                  </a:lnTo>
                  <a:lnTo>
                    <a:pt x="7144258" y="1801241"/>
                  </a:lnTo>
                  <a:lnTo>
                    <a:pt x="0" y="1801241"/>
                  </a:lnTo>
                  <a:close/>
                </a:path>
              </a:pathLst>
            </a:custGeom>
            <a:solidFill>
              <a:srgbClr val="FFFFFF"/>
            </a:solidFill>
            <a:ln w="9525" cap="sq">
              <a:solidFill>
                <a:srgbClr val="E3E8F2"/>
              </a:solidFill>
              <a:prstDash val="solid"/>
              <a:miter/>
            </a:ln>
          </p:spPr>
        </p:sp>
      </p:grpSp>
      <p:grpSp>
        <p:nvGrpSpPr>
          <p:cNvPr name="Group 12" id="10"/>
          <p:cNvGrpSpPr/>
          <p:nvPr/>
        </p:nvGrpSpPr>
        <p:grpSpPr>
          <a:xfrm rot="0">
            <a:off x="856374" y="2300002"/>
            <a:ext cx="5323999" cy="50006"/>
            <a:chOff x="0" y="0"/>
            <a:chExt cx="7098665" cy="66675"/>
          </a:xfrm>
        </p:grpSpPr>
        <p:sp>
          <p:nvSpPr>
            <p:cNvPr name="Freeform 13" id="11"/>
            <p:cNvSpPr/>
            <p:nvPr/>
          </p:nvSpPr>
          <p:spPr>
            <a:xfrm flipH="false" flipV="false" rot="0">
              <a:off x="0" y="0"/>
              <a:ext cx="7098665" cy="66675"/>
            </a:xfrm>
            <a:custGeom>
              <a:avLst/>
              <a:gdLst/>
              <a:ahLst/>
              <a:cxnLst/>
              <a:rect r="r" b="b" t="t" l="l"/>
              <a:pathLst>
                <a:path h="66675" w="7098665">
                  <a:moveTo>
                    <a:pt x="0" y="0"/>
                  </a:moveTo>
                  <a:lnTo>
                    <a:pt x="7098665" y="0"/>
                  </a:lnTo>
                  <a:lnTo>
                    <a:pt x="7098665" y="66675"/>
                  </a:lnTo>
                  <a:lnTo>
                    <a:pt x="0" y="66675"/>
                  </a:lnTo>
                  <a:close/>
                </a:path>
              </a:pathLst>
            </a:custGeom>
            <a:solidFill>
              <a:srgbClr val="1BA97C"/>
            </a:solidFill>
          </p:spPr>
        </p:sp>
      </p:grpSp>
      <p:sp>
        <p:nvSpPr>
          <p:cNvPr name="TextBox 14" id="12"/>
          <p:cNvSpPr txBox="true"/>
          <p:nvPr/>
        </p:nvSpPr>
        <p:spPr>
          <a:xfrm rot="0">
            <a:off x="1257471" y="2445248"/>
            <a:ext cx="4521794" cy="561975"/>
          </a:xfrm>
          <a:prstGeom prst="rect">
            <a:avLst/>
          </a:prstGeom>
        </p:spPr>
        <p:txBody>
          <a:bodyPr anchor="t" rtlCol="false" tIns="0" lIns="0" bIns="0" rIns="0">
            <a:spAutoFit/>
          </a:bodyPr>
          <a:lstStyle/>
          <a:p>
            <a:pPr algn="l">
              <a:lnSpc>
                <a:spcPts val="4175"/>
              </a:lnSpc>
            </a:pPr>
            <a:r>
              <a:rPr lang="en-US" sz="3479" b="true">
                <a:solidFill>
                  <a:srgbClr val="1BA97C"/>
                </a:solidFill>
                <a:latin typeface="Exo 2 Bold"/>
                <a:ea typeface="Exo 2 Bold"/>
                <a:cs typeface="Exo 2 Bold"/>
                <a:sym typeface="Exo 2 Bold"/>
              </a:rPr>
              <a:t>61</a:t>
            </a:r>
          </a:p>
        </p:txBody>
      </p:sp>
      <p:sp>
        <p:nvSpPr>
          <p:cNvPr name="TextBox 15" id="13"/>
          <p:cNvSpPr txBox="true"/>
          <p:nvPr/>
        </p:nvSpPr>
        <p:spPr>
          <a:xfrm rot="0">
            <a:off x="1257471" y="3021901"/>
            <a:ext cx="4521794" cy="257175"/>
          </a:xfrm>
          <a:prstGeom prst="rect">
            <a:avLst/>
          </a:prstGeom>
        </p:spPr>
        <p:txBody>
          <a:bodyPr anchor="t" rtlCol="false" tIns="0" lIns="0" bIns="0" rIns="0">
            <a:spAutoFit/>
          </a:bodyPr>
          <a:lstStyle/>
          <a:p>
            <a:pPr algn="l">
              <a:lnSpc>
                <a:spcPts val="1739"/>
              </a:lnSpc>
            </a:pPr>
            <a:r>
              <a:rPr lang="en-US" sz="1449" b="true">
                <a:solidFill>
                  <a:srgbClr val="132257"/>
                </a:solidFill>
                <a:latin typeface="Exo 2 Bold"/>
                <a:ea typeface="Exo 2 Bold"/>
                <a:cs typeface="Exo 2 Bold"/>
                <a:sym typeface="Exo 2 Bold"/>
              </a:rPr>
              <a:t>Clients onboarded</a:t>
            </a:r>
          </a:p>
        </p:txBody>
      </p:sp>
      <p:sp>
        <p:nvSpPr>
          <p:cNvPr name="TextBox 16" id="14"/>
          <p:cNvSpPr txBox="true"/>
          <p:nvPr/>
        </p:nvSpPr>
        <p:spPr>
          <a:xfrm rot="0">
            <a:off x="1257471" y="3271904"/>
            <a:ext cx="4521794" cy="219075"/>
          </a:xfrm>
          <a:prstGeom prst="rect">
            <a:avLst/>
          </a:prstGeom>
        </p:spPr>
        <p:txBody>
          <a:bodyPr anchor="t" rtlCol="false" tIns="0" lIns="0" bIns="0" rIns="0">
            <a:spAutoFit/>
          </a:bodyPr>
          <a:lstStyle/>
          <a:p>
            <a:pPr algn="l">
              <a:lnSpc>
                <a:spcPts val="1439"/>
              </a:lnSpc>
            </a:pPr>
            <a:r>
              <a:rPr lang="en-US" sz="1200">
                <a:solidFill>
                  <a:srgbClr val="7A849C"/>
                </a:solidFill>
                <a:latin typeface="Exo 2"/>
                <a:ea typeface="Exo 2"/>
                <a:cs typeface="Exo 2"/>
                <a:sym typeface="Exo 2"/>
              </a:rPr>
              <a:t>156% of the 39 target</a:t>
            </a:r>
          </a:p>
        </p:txBody>
      </p:sp>
      <p:grpSp>
        <p:nvGrpSpPr>
          <p:cNvPr name="Group 17" id="15"/>
          <p:cNvGrpSpPr/>
          <p:nvPr/>
        </p:nvGrpSpPr>
        <p:grpSpPr>
          <a:xfrm rot="0">
            <a:off x="6477171" y="2284524"/>
            <a:ext cx="5358194" cy="1350931"/>
            <a:chOff x="0" y="0"/>
            <a:chExt cx="7144258" cy="1801241"/>
          </a:xfrm>
        </p:grpSpPr>
        <p:sp>
          <p:nvSpPr>
            <p:cNvPr name="Freeform 18" id="16"/>
            <p:cNvSpPr/>
            <p:nvPr/>
          </p:nvSpPr>
          <p:spPr>
            <a:xfrm flipH="false" flipV="false" rot="0">
              <a:off x="0" y="0"/>
              <a:ext cx="7144258" cy="1801241"/>
            </a:xfrm>
            <a:custGeom>
              <a:avLst/>
              <a:gdLst/>
              <a:ahLst/>
              <a:cxnLst/>
              <a:rect r="r" b="b" t="t" l="l"/>
              <a:pathLst>
                <a:path h="1801241" w="7144258">
                  <a:moveTo>
                    <a:pt x="0" y="0"/>
                  </a:moveTo>
                  <a:lnTo>
                    <a:pt x="7144258" y="0"/>
                  </a:lnTo>
                  <a:lnTo>
                    <a:pt x="7144258" y="1801241"/>
                  </a:lnTo>
                  <a:lnTo>
                    <a:pt x="0" y="1801241"/>
                  </a:lnTo>
                  <a:close/>
                </a:path>
              </a:pathLst>
            </a:custGeom>
            <a:solidFill>
              <a:srgbClr val="FFFFFF"/>
            </a:solidFill>
            <a:ln w="9525" cap="sq">
              <a:solidFill>
                <a:srgbClr val="E3E8F2"/>
              </a:solidFill>
              <a:prstDash val="solid"/>
              <a:miter/>
            </a:ln>
          </p:spPr>
        </p:sp>
      </p:grpSp>
      <p:grpSp>
        <p:nvGrpSpPr>
          <p:cNvPr name="Group 19" id="17"/>
          <p:cNvGrpSpPr/>
          <p:nvPr/>
        </p:nvGrpSpPr>
        <p:grpSpPr>
          <a:xfrm rot="0">
            <a:off x="6494259" y="2300002"/>
            <a:ext cx="5323999" cy="50006"/>
            <a:chOff x="0" y="0"/>
            <a:chExt cx="7098665" cy="66675"/>
          </a:xfrm>
        </p:grpSpPr>
        <p:sp>
          <p:nvSpPr>
            <p:cNvPr name="Freeform 20" id="18"/>
            <p:cNvSpPr/>
            <p:nvPr/>
          </p:nvSpPr>
          <p:spPr>
            <a:xfrm flipH="false" flipV="false" rot="0">
              <a:off x="0" y="0"/>
              <a:ext cx="7098665" cy="66675"/>
            </a:xfrm>
            <a:custGeom>
              <a:avLst/>
              <a:gdLst/>
              <a:ahLst/>
              <a:cxnLst/>
              <a:rect r="r" b="b" t="t" l="l"/>
              <a:pathLst>
                <a:path h="66675" w="7098665">
                  <a:moveTo>
                    <a:pt x="0" y="0"/>
                  </a:moveTo>
                  <a:lnTo>
                    <a:pt x="7098665" y="0"/>
                  </a:lnTo>
                  <a:lnTo>
                    <a:pt x="7098665" y="66675"/>
                  </a:lnTo>
                  <a:lnTo>
                    <a:pt x="0" y="66675"/>
                  </a:lnTo>
                  <a:close/>
                </a:path>
              </a:pathLst>
            </a:custGeom>
            <a:solidFill>
              <a:srgbClr val="9A7B1F"/>
            </a:solidFill>
          </p:spPr>
        </p:sp>
      </p:grpSp>
      <p:sp>
        <p:nvSpPr>
          <p:cNvPr name="TextBox 21" id="19"/>
          <p:cNvSpPr txBox="true"/>
          <p:nvPr/>
        </p:nvSpPr>
        <p:spPr>
          <a:xfrm rot="0">
            <a:off x="6895357" y="2445248"/>
            <a:ext cx="4521794" cy="561975"/>
          </a:xfrm>
          <a:prstGeom prst="rect">
            <a:avLst/>
          </a:prstGeom>
        </p:spPr>
        <p:txBody>
          <a:bodyPr anchor="t" rtlCol="false" tIns="0" lIns="0" bIns="0" rIns="0">
            <a:spAutoFit/>
          </a:bodyPr>
          <a:lstStyle/>
          <a:p>
            <a:pPr algn="l">
              <a:lnSpc>
                <a:spcPts val="4175"/>
              </a:lnSpc>
            </a:pPr>
            <a:r>
              <a:rPr lang="en-US" sz="3479" b="true">
                <a:solidFill>
                  <a:srgbClr val="9A7B1F"/>
                </a:solidFill>
                <a:latin typeface="Exo 2 Bold"/>
                <a:ea typeface="Exo 2 Bold"/>
                <a:cs typeface="Exo 2 Bold"/>
                <a:sym typeface="Exo 2 Bold"/>
              </a:rPr>
              <a:t>$12,206.00</a:t>
            </a:r>
          </a:p>
        </p:txBody>
      </p:sp>
      <p:sp>
        <p:nvSpPr>
          <p:cNvPr name="TextBox 22" id="20"/>
          <p:cNvSpPr txBox="true"/>
          <p:nvPr/>
        </p:nvSpPr>
        <p:spPr>
          <a:xfrm rot="0">
            <a:off x="6895357" y="3021901"/>
            <a:ext cx="4521794" cy="257175"/>
          </a:xfrm>
          <a:prstGeom prst="rect">
            <a:avLst/>
          </a:prstGeom>
        </p:spPr>
        <p:txBody>
          <a:bodyPr anchor="t" rtlCol="false" tIns="0" lIns="0" bIns="0" rIns="0">
            <a:spAutoFit/>
          </a:bodyPr>
          <a:lstStyle/>
          <a:p>
            <a:pPr algn="l">
              <a:lnSpc>
                <a:spcPts val="1739"/>
              </a:lnSpc>
            </a:pPr>
            <a:r>
              <a:rPr lang="en-US" sz="1449" b="true">
                <a:solidFill>
                  <a:srgbClr val="132257"/>
                </a:solidFill>
                <a:latin typeface="Exo 2 Bold"/>
                <a:ea typeface="Exo 2 Bold"/>
                <a:cs typeface="Exo 2 Bold"/>
                <a:sym typeface="Exo 2 Bold"/>
              </a:rPr>
              <a:t>Total deposits</a:t>
            </a:r>
          </a:p>
        </p:txBody>
      </p:sp>
      <p:sp>
        <p:nvSpPr>
          <p:cNvPr name="TextBox 23" id="21"/>
          <p:cNvSpPr txBox="true"/>
          <p:nvPr/>
        </p:nvSpPr>
        <p:spPr>
          <a:xfrm rot="0">
            <a:off x="6895357" y="3271904"/>
            <a:ext cx="4521794" cy="219075"/>
          </a:xfrm>
          <a:prstGeom prst="rect">
            <a:avLst/>
          </a:prstGeom>
        </p:spPr>
        <p:txBody>
          <a:bodyPr anchor="t" rtlCol="false" tIns="0" lIns="0" bIns="0" rIns="0">
            <a:spAutoFit/>
          </a:bodyPr>
          <a:lstStyle/>
          <a:p>
            <a:pPr algn="l">
              <a:lnSpc>
                <a:spcPts val="1439"/>
              </a:lnSpc>
            </a:pPr>
            <a:r>
              <a:rPr lang="en-US" sz="1200">
                <a:solidFill>
                  <a:srgbClr val="7A849C"/>
                </a:solidFill>
                <a:latin typeface="Exo 2"/>
                <a:ea typeface="Exo 2"/>
                <a:cs typeface="Exo 2"/>
                <a:sym typeface="Exo 2"/>
              </a:rPr>
              <a:t>5.18% of the $235,660 target</a:t>
            </a:r>
          </a:p>
        </p:txBody>
      </p:sp>
      <p:grpSp>
        <p:nvGrpSpPr>
          <p:cNvPr name="Group 24" id="22"/>
          <p:cNvGrpSpPr/>
          <p:nvPr/>
        </p:nvGrpSpPr>
        <p:grpSpPr>
          <a:xfrm rot="0">
            <a:off x="12095302" y="2284524"/>
            <a:ext cx="5358194" cy="1350931"/>
            <a:chOff x="0" y="0"/>
            <a:chExt cx="7144258" cy="1801241"/>
          </a:xfrm>
        </p:grpSpPr>
        <p:sp>
          <p:nvSpPr>
            <p:cNvPr name="Freeform 25" id="23"/>
            <p:cNvSpPr/>
            <p:nvPr/>
          </p:nvSpPr>
          <p:spPr>
            <a:xfrm flipH="false" flipV="false" rot="0">
              <a:off x="0" y="0"/>
              <a:ext cx="7144258" cy="1801241"/>
            </a:xfrm>
            <a:custGeom>
              <a:avLst/>
              <a:gdLst/>
              <a:ahLst/>
              <a:cxnLst/>
              <a:rect r="r" b="b" t="t" l="l"/>
              <a:pathLst>
                <a:path h="1801241" w="7144258">
                  <a:moveTo>
                    <a:pt x="0" y="0"/>
                  </a:moveTo>
                  <a:lnTo>
                    <a:pt x="7144258" y="0"/>
                  </a:lnTo>
                  <a:lnTo>
                    <a:pt x="7144258" y="1801241"/>
                  </a:lnTo>
                  <a:lnTo>
                    <a:pt x="0" y="1801241"/>
                  </a:lnTo>
                  <a:close/>
                </a:path>
              </a:pathLst>
            </a:custGeom>
            <a:solidFill>
              <a:srgbClr val="FFFFFF"/>
            </a:solidFill>
            <a:ln w="9525" cap="sq">
              <a:solidFill>
                <a:srgbClr val="E3E8F2"/>
              </a:solidFill>
              <a:prstDash val="solid"/>
              <a:miter/>
            </a:ln>
          </p:spPr>
        </p:sp>
      </p:grpSp>
      <p:grpSp>
        <p:nvGrpSpPr>
          <p:cNvPr name="Group 26" id="24"/>
          <p:cNvGrpSpPr/>
          <p:nvPr/>
        </p:nvGrpSpPr>
        <p:grpSpPr>
          <a:xfrm rot="0">
            <a:off x="12112390" y="2300002"/>
            <a:ext cx="5323999" cy="50006"/>
            <a:chOff x="0" y="0"/>
            <a:chExt cx="7098665" cy="66675"/>
          </a:xfrm>
        </p:grpSpPr>
        <p:sp>
          <p:nvSpPr>
            <p:cNvPr name="Freeform 27" id="25"/>
            <p:cNvSpPr/>
            <p:nvPr/>
          </p:nvSpPr>
          <p:spPr>
            <a:xfrm flipH="false" flipV="false" rot="0">
              <a:off x="0" y="0"/>
              <a:ext cx="7098665" cy="66675"/>
            </a:xfrm>
            <a:custGeom>
              <a:avLst/>
              <a:gdLst/>
              <a:ahLst/>
              <a:cxnLst/>
              <a:rect r="r" b="b" t="t" l="l"/>
              <a:pathLst>
                <a:path h="66675" w="7098665">
                  <a:moveTo>
                    <a:pt x="0" y="0"/>
                  </a:moveTo>
                  <a:lnTo>
                    <a:pt x="7098665" y="0"/>
                  </a:lnTo>
                  <a:lnTo>
                    <a:pt x="7098665" y="66675"/>
                  </a:lnTo>
                  <a:lnTo>
                    <a:pt x="0" y="66675"/>
                  </a:lnTo>
                  <a:close/>
                </a:path>
              </a:pathLst>
            </a:custGeom>
            <a:solidFill>
              <a:srgbClr val="132257"/>
            </a:solidFill>
          </p:spPr>
        </p:sp>
      </p:grpSp>
      <p:sp>
        <p:nvSpPr>
          <p:cNvPr name="TextBox 28" id="26"/>
          <p:cNvSpPr txBox="true"/>
          <p:nvPr/>
        </p:nvSpPr>
        <p:spPr>
          <a:xfrm rot="0">
            <a:off x="12513497" y="2445248"/>
            <a:ext cx="4521794" cy="561975"/>
          </a:xfrm>
          <a:prstGeom prst="rect">
            <a:avLst/>
          </a:prstGeom>
        </p:spPr>
        <p:txBody>
          <a:bodyPr anchor="t" rtlCol="false" tIns="0" lIns="0" bIns="0" rIns="0">
            <a:spAutoFit/>
          </a:bodyPr>
          <a:lstStyle/>
          <a:p>
            <a:pPr algn="l">
              <a:lnSpc>
                <a:spcPts val="4175"/>
              </a:lnSpc>
            </a:pPr>
            <a:r>
              <a:rPr lang="en-US" sz="3479" b="true">
                <a:solidFill>
                  <a:srgbClr val="132257"/>
                </a:solidFill>
                <a:latin typeface="Exo 2 Bold"/>
                <a:ea typeface="Exo 2 Bold"/>
                <a:cs typeface="Exo 2 Bold"/>
                <a:sym typeface="Exo 2 Bold"/>
              </a:rPr>
              <a:t>$200.10</a:t>
            </a:r>
          </a:p>
        </p:txBody>
      </p:sp>
      <p:sp>
        <p:nvSpPr>
          <p:cNvPr name="TextBox 29" id="27"/>
          <p:cNvSpPr txBox="true"/>
          <p:nvPr/>
        </p:nvSpPr>
        <p:spPr>
          <a:xfrm rot="0">
            <a:off x="12513497" y="3021901"/>
            <a:ext cx="4521794" cy="257175"/>
          </a:xfrm>
          <a:prstGeom prst="rect">
            <a:avLst/>
          </a:prstGeom>
        </p:spPr>
        <p:txBody>
          <a:bodyPr anchor="t" rtlCol="false" tIns="0" lIns="0" bIns="0" rIns="0">
            <a:spAutoFit/>
          </a:bodyPr>
          <a:lstStyle/>
          <a:p>
            <a:pPr algn="l">
              <a:lnSpc>
                <a:spcPts val="1739"/>
              </a:lnSpc>
            </a:pPr>
            <a:r>
              <a:rPr lang="en-US" sz="1449" b="true">
                <a:solidFill>
                  <a:srgbClr val="132257"/>
                </a:solidFill>
                <a:latin typeface="Exo 2 Bold"/>
                <a:ea typeface="Exo 2 Bold"/>
                <a:cs typeface="Exo 2 Bold"/>
                <a:sym typeface="Exo 2 Bold"/>
              </a:rPr>
              <a:t>Average deposit per client</a:t>
            </a:r>
          </a:p>
        </p:txBody>
      </p:sp>
      <p:sp>
        <p:nvSpPr>
          <p:cNvPr name="TextBox 30" id="28"/>
          <p:cNvSpPr txBox="true"/>
          <p:nvPr/>
        </p:nvSpPr>
        <p:spPr>
          <a:xfrm rot="0">
            <a:off x="12513497" y="3271904"/>
            <a:ext cx="4521794" cy="219075"/>
          </a:xfrm>
          <a:prstGeom prst="rect">
            <a:avLst/>
          </a:prstGeom>
        </p:spPr>
        <p:txBody>
          <a:bodyPr anchor="t" rtlCol="false" tIns="0" lIns="0" bIns="0" rIns="0">
            <a:spAutoFit/>
          </a:bodyPr>
          <a:lstStyle/>
          <a:p>
            <a:pPr algn="l">
              <a:lnSpc>
                <a:spcPts val="1439"/>
              </a:lnSpc>
            </a:pPr>
            <a:r>
              <a:rPr lang="en-US" sz="1200">
                <a:solidFill>
                  <a:srgbClr val="7A849C"/>
                </a:solidFill>
                <a:latin typeface="Exo 2"/>
                <a:ea typeface="Exo 2"/>
                <a:cs typeface="Exo 2"/>
                <a:sym typeface="Exo 2"/>
              </a:rPr>
              <a:t>Across all 61 onboarded clients</a:t>
            </a:r>
          </a:p>
        </p:txBody>
      </p:sp>
      <p:grpSp>
        <p:nvGrpSpPr>
          <p:cNvPr name="Group 31" id="29"/>
          <p:cNvGrpSpPr/>
          <p:nvPr/>
        </p:nvGrpSpPr>
        <p:grpSpPr>
          <a:xfrm rot="0">
            <a:off x="834523" y="4384519"/>
            <a:ext cx="8214932" cy="4880991"/>
            <a:chOff x="0" y="0"/>
            <a:chExt cx="10953242" cy="6507988"/>
          </a:xfrm>
        </p:grpSpPr>
        <p:sp>
          <p:nvSpPr>
            <p:cNvPr name="Freeform 32" id="30"/>
            <p:cNvSpPr/>
            <p:nvPr/>
          </p:nvSpPr>
          <p:spPr>
            <a:xfrm flipH="false" flipV="false" rot="0">
              <a:off x="0" y="0"/>
              <a:ext cx="10953242" cy="6507988"/>
            </a:xfrm>
            <a:custGeom>
              <a:avLst/>
              <a:gdLst/>
              <a:ahLst/>
              <a:cxnLst/>
              <a:rect r="r" b="b" t="t" l="l"/>
              <a:pathLst>
                <a:path h="6507988" w="10953242">
                  <a:moveTo>
                    <a:pt x="0" y="0"/>
                  </a:moveTo>
                  <a:lnTo>
                    <a:pt x="10953242" y="0"/>
                  </a:lnTo>
                  <a:lnTo>
                    <a:pt x="10953242" y="6507988"/>
                  </a:lnTo>
                  <a:lnTo>
                    <a:pt x="0" y="6507988"/>
                  </a:lnTo>
                  <a:close/>
                </a:path>
              </a:pathLst>
            </a:custGeom>
            <a:solidFill>
              <a:srgbClr val="FFFFFF"/>
            </a:solidFill>
            <a:ln w="9525" cap="sq">
              <a:solidFill>
                <a:srgbClr val="E3E8F2"/>
              </a:solidFill>
              <a:prstDash val="solid"/>
              <a:miter/>
            </a:ln>
          </p:spPr>
        </p:sp>
      </p:grpSp>
      <p:grpSp>
        <p:nvGrpSpPr>
          <p:cNvPr name="Group 33" id="31"/>
          <p:cNvGrpSpPr/>
          <p:nvPr/>
        </p:nvGrpSpPr>
        <p:grpSpPr>
          <a:xfrm rot="0">
            <a:off x="850001" y="4399998"/>
            <a:ext cx="8183975" cy="50006"/>
            <a:chOff x="0" y="0"/>
            <a:chExt cx="10911967" cy="66675"/>
          </a:xfrm>
        </p:grpSpPr>
        <p:sp>
          <p:nvSpPr>
            <p:cNvPr name="Freeform 34" id="32"/>
            <p:cNvSpPr/>
            <p:nvPr/>
          </p:nvSpPr>
          <p:spPr>
            <a:xfrm flipH="false" flipV="false" rot="0">
              <a:off x="0" y="0"/>
              <a:ext cx="10911967" cy="66675"/>
            </a:xfrm>
            <a:custGeom>
              <a:avLst/>
              <a:gdLst/>
              <a:ahLst/>
              <a:cxnLst/>
              <a:rect r="r" b="b" t="t" l="l"/>
              <a:pathLst>
                <a:path h="66675" w="10911967">
                  <a:moveTo>
                    <a:pt x="0" y="0"/>
                  </a:moveTo>
                  <a:lnTo>
                    <a:pt x="10911967" y="0"/>
                  </a:lnTo>
                  <a:lnTo>
                    <a:pt x="10911967" y="66675"/>
                  </a:lnTo>
                  <a:lnTo>
                    <a:pt x="0" y="66675"/>
                  </a:lnTo>
                  <a:close/>
                </a:path>
              </a:pathLst>
            </a:custGeom>
            <a:solidFill>
              <a:srgbClr val="132257"/>
            </a:solidFill>
          </p:spPr>
        </p:sp>
      </p:grpSp>
      <p:sp>
        <p:nvSpPr>
          <p:cNvPr name="TextBox 35" id="33"/>
          <p:cNvSpPr txBox="true"/>
          <p:nvPr/>
        </p:nvSpPr>
        <p:spPr>
          <a:xfrm rot="0">
            <a:off x="1150001" y="4580001"/>
            <a:ext cx="8183994" cy="299999"/>
          </a:xfrm>
          <a:prstGeom prst="rect">
            <a:avLst/>
          </a:prstGeom>
        </p:spPr>
        <p:txBody>
          <a:bodyPr anchor="t" rtlCol="false" tIns="0" lIns="0" bIns="0" rIns="0">
            <a:spAutoFit/>
          </a:bodyPr>
          <a:lstStyle/>
          <a:p>
            <a:pPr algn="l">
              <a:lnSpc>
                <a:spcPts val="1584"/>
              </a:lnSpc>
            </a:pPr>
            <a:r>
              <a:rPr lang="en-US" b="true" sz="1320" spc="140">
                <a:solidFill>
                  <a:srgbClr val="132257"/>
                </a:solidFill>
                <a:latin typeface="Exo 2 Bold"/>
                <a:ea typeface="Exo 2 Bold"/>
                <a:cs typeface="Exo 2 Bold"/>
                <a:sym typeface="Exo 2 Bold"/>
              </a:rPr>
              <a:t>CUMULATIVE CLIENTS</a:t>
            </a:r>
          </a:p>
        </p:txBody>
      </p:sp>
      <p:grpSp>
        <p:nvGrpSpPr>
          <p:cNvPr name="Group 36" id="34"/>
          <p:cNvGrpSpPr/>
          <p:nvPr/>
        </p:nvGrpSpPr>
        <p:grpSpPr>
          <a:xfrm rot="0">
            <a:off x="9238526" y="4384519"/>
            <a:ext cx="8214932" cy="4880991"/>
            <a:chOff x="0" y="0"/>
            <a:chExt cx="10953242" cy="6507988"/>
          </a:xfrm>
        </p:grpSpPr>
        <p:sp>
          <p:nvSpPr>
            <p:cNvPr name="Freeform 37" id="35"/>
            <p:cNvSpPr/>
            <p:nvPr/>
          </p:nvSpPr>
          <p:spPr>
            <a:xfrm flipH="false" flipV="false" rot="0">
              <a:off x="0" y="0"/>
              <a:ext cx="10953242" cy="6507988"/>
            </a:xfrm>
            <a:custGeom>
              <a:avLst/>
              <a:gdLst/>
              <a:ahLst/>
              <a:cxnLst/>
              <a:rect r="r" b="b" t="t" l="l"/>
              <a:pathLst>
                <a:path h="6507988" w="10953242">
                  <a:moveTo>
                    <a:pt x="0" y="0"/>
                  </a:moveTo>
                  <a:lnTo>
                    <a:pt x="10953242" y="0"/>
                  </a:lnTo>
                  <a:lnTo>
                    <a:pt x="10953242" y="6507988"/>
                  </a:lnTo>
                  <a:lnTo>
                    <a:pt x="0" y="6507988"/>
                  </a:lnTo>
                  <a:close/>
                </a:path>
              </a:pathLst>
            </a:custGeom>
            <a:solidFill>
              <a:srgbClr val="FFFFFF"/>
            </a:solidFill>
            <a:ln w="9525" cap="sq">
              <a:solidFill>
                <a:srgbClr val="E3E8F2"/>
              </a:solidFill>
              <a:prstDash val="solid"/>
              <a:miter/>
            </a:ln>
          </p:spPr>
        </p:sp>
      </p:grpSp>
      <p:grpSp>
        <p:nvGrpSpPr>
          <p:cNvPr name="Group 38" id="36"/>
          <p:cNvGrpSpPr/>
          <p:nvPr/>
        </p:nvGrpSpPr>
        <p:grpSpPr>
          <a:xfrm rot="0">
            <a:off x="9254004" y="4399998"/>
            <a:ext cx="8183975" cy="50006"/>
            <a:chOff x="0" y="0"/>
            <a:chExt cx="10911967" cy="66675"/>
          </a:xfrm>
        </p:grpSpPr>
        <p:sp>
          <p:nvSpPr>
            <p:cNvPr name="Freeform 39" id="37"/>
            <p:cNvSpPr/>
            <p:nvPr/>
          </p:nvSpPr>
          <p:spPr>
            <a:xfrm flipH="false" flipV="false" rot="0">
              <a:off x="0" y="0"/>
              <a:ext cx="10911967" cy="66675"/>
            </a:xfrm>
            <a:custGeom>
              <a:avLst/>
              <a:gdLst/>
              <a:ahLst/>
              <a:cxnLst/>
              <a:rect r="r" b="b" t="t" l="l"/>
              <a:pathLst>
                <a:path h="66675" w="10911967">
                  <a:moveTo>
                    <a:pt x="0" y="0"/>
                  </a:moveTo>
                  <a:lnTo>
                    <a:pt x="10911967" y="0"/>
                  </a:lnTo>
                  <a:lnTo>
                    <a:pt x="10911967" y="66675"/>
                  </a:lnTo>
                  <a:lnTo>
                    <a:pt x="0" y="66675"/>
                  </a:lnTo>
                  <a:close/>
                </a:path>
              </a:pathLst>
            </a:custGeom>
            <a:solidFill>
              <a:srgbClr val="132257"/>
            </a:solidFill>
          </p:spPr>
        </p:sp>
      </p:grpSp>
      <p:sp>
        <p:nvSpPr>
          <p:cNvPr name="TextBox 40" id="38"/>
          <p:cNvSpPr txBox="true"/>
          <p:nvPr/>
        </p:nvSpPr>
        <p:spPr>
          <a:xfrm rot="0">
            <a:off x="9554004" y="4580001"/>
            <a:ext cx="8183994" cy="299999"/>
          </a:xfrm>
          <a:prstGeom prst="rect">
            <a:avLst/>
          </a:prstGeom>
        </p:spPr>
        <p:txBody>
          <a:bodyPr anchor="t" rtlCol="false" tIns="0" lIns="0" bIns="0" rIns="0">
            <a:spAutoFit/>
          </a:bodyPr>
          <a:lstStyle/>
          <a:p>
            <a:pPr algn="l">
              <a:lnSpc>
                <a:spcPts val="1584"/>
              </a:lnSpc>
            </a:pPr>
            <a:r>
              <a:rPr lang="en-US" b="true" sz="1320" spc="140">
                <a:solidFill>
                  <a:srgbClr val="132257"/>
                </a:solidFill>
                <a:latin typeface="Exo 2 Bold"/>
                <a:ea typeface="Exo 2 Bold"/>
                <a:cs typeface="Exo 2 Bold"/>
                <a:sym typeface="Exo 2 Bold"/>
              </a:rPr>
              <a:t>CUMULATIVE DEPOSITS</a:t>
            </a:r>
          </a:p>
        </p:txBody>
      </p:sp>
      <p:grpSp>
        <p:nvGrpSpPr>
          <p:cNvPr name="Group 41" id="39"/>
          <p:cNvGrpSpPr/>
          <p:nvPr/>
        </p:nvGrpSpPr>
        <p:grpSpPr>
          <a:xfrm rot="0">
            <a:off x="1269997" y="8349996"/>
            <a:ext cx="7349966" cy="8954"/>
            <a:chOff x="0" y="0"/>
            <a:chExt cx="9799955" cy="11938"/>
          </a:xfrm>
        </p:grpSpPr>
        <p:sp>
          <p:nvSpPr>
            <p:cNvPr name="Freeform 42" id="40"/>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43" id="41"/>
          <p:cNvGrpSpPr/>
          <p:nvPr/>
        </p:nvGrpSpPr>
        <p:grpSpPr>
          <a:xfrm rot="0">
            <a:off x="1269997" y="6924999"/>
            <a:ext cx="7349966" cy="8954"/>
            <a:chOff x="0" y="0"/>
            <a:chExt cx="9799955" cy="11938"/>
          </a:xfrm>
        </p:grpSpPr>
        <p:sp>
          <p:nvSpPr>
            <p:cNvPr name="Freeform 44" id="42"/>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45" id="43"/>
          <p:cNvGrpSpPr/>
          <p:nvPr/>
        </p:nvGrpSpPr>
        <p:grpSpPr>
          <a:xfrm rot="0">
            <a:off x="1269997" y="5500002"/>
            <a:ext cx="7349966" cy="8954"/>
            <a:chOff x="0" y="0"/>
            <a:chExt cx="9799955" cy="11938"/>
          </a:xfrm>
        </p:grpSpPr>
        <p:sp>
          <p:nvSpPr>
            <p:cNvPr name="Freeform 46" id="44"/>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47" id="45"/>
          <p:cNvGrpSpPr/>
          <p:nvPr/>
        </p:nvGrpSpPr>
        <p:grpSpPr>
          <a:xfrm rot="0">
            <a:off x="2005003" y="5867743"/>
            <a:ext cx="5879973" cy="2482215"/>
            <a:chOff x="0" y="0"/>
            <a:chExt cx="7839964" cy="3309620"/>
          </a:xfrm>
        </p:grpSpPr>
        <p:sp>
          <p:nvSpPr>
            <p:cNvPr name="Freeform 48" id="46"/>
            <p:cNvSpPr/>
            <p:nvPr/>
          </p:nvSpPr>
          <p:spPr>
            <a:xfrm flipH="false" flipV="false" rot="0">
              <a:off x="0" y="0"/>
              <a:ext cx="7839964" cy="3309620"/>
            </a:xfrm>
            <a:custGeom>
              <a:avLst/>
              <a:gdLst/>
              <a:ahLst/>
              <a:cxnLst/>
              <a:rect r="r" b="b" t="t" l="l"/>
              <a:pathLst>
                <a:path h="3309620" w="7839964">
                  <a:moveTo>
                    <a:pt x="0" y="3309620"/>
                  </a:moveTo>
                  <a:lnTo>
                    <a:pt x="0" y="2635504"/>
                  </a:lnTo>
                  <a:lnTo>
                    <a:pt x="1959991" y="1838706"/>
                  </a:lnTo>
                  <a:lnTo>
                    <a:pt x="3919982" y="1287145"/>
                  </a:lnTo>
                  <a:lnTo>
                    <a:pt x="5879973" y="429006"/>
                  </a:lnTo>
                  <a:lnTo>
                    <a:pt x="7839964" y="0"/>
                  </a:lnTo>
                  <a:lnTo>
                    <a:pt x="7839964" y="3309620"/>
                  </a:lnTo>
                  <a:close/>
                </a:path>
              </a:pathLst>
            </a:custGeom>
            <a:solidFill>
              <a:srgbClr val="E3F4EC"/>
            </a:solidFill>
          </p:spPr>
        </p:sp>
      </p:grpSp>
      <p:grpSp>
        <p:nvGrpSpPr>
          <p:cNvPr name="Group 49" id="47"/>
          <p:cNvGrpSpPr/>
          <p:nvPr/>
        </p:nvGrpSpPr>
        <p:grpSpPr>
          <a:xfrm rot="0">
            <a:off x="1988334" y="6540589"/>
            <a:ext cx="5913310" cy="906685"/>
            <a:chOff x="0" y="0"/>
            <a:chExt cx="7884414" cy="1208913"/>
          </a:xfrm>
        </p:grpSpPr>
        <p:sp>
          <p:nvSpPr>
            <p:cNvPr name="Freeform 50" id="48"/>
            <p:cNvSpPr/>
            <p:nvPr/>
          </p:nvSpPr>
          <p:spPr>
            <a:xfrm flipH="false" flipV="false" rot="0">
              <a:off x="0" y="0"/>
              <a:ext cx="7884414" cy="1208913"/>
            </a:xfrm>
            <a:custGeom>
              <a:avLst/>
              <a:gdLst/>
              <a:ahLst/>
              <a:cxnLst/>
              <a:rect r="r" b="b" t="t" l="l"/>
              <a:pathLst>
                <a:path h="1208913" w="7884414">
                  <a:moveTo>
                    <a:pt x="0" y="1208913"/>
                  </a:moveTo>
                  <a:lnTo>
                    <a:pt x="1971167" y="954405"/>
                  </a:lnTo>
                  <a:lnTo>
                    <a:pt x="3942207" y="699897"/>
                  </a:lnTo>
                  <a:lnTo>
                    <a:pt x="5913374" y="381762"/>
                  </a:lnTo>
                  <a:lnTo>
                    <a:pt x="7884414" y="0"/>
                  </a:lnTo>
                </a:path>
              </a:pathLst>
            </a:custGeom>
            <a:blipFill>
              <a:blip r:embed="rId7">
                <a:alphaModFix amt="0"/>
              </a:blip>
              <a:stretch>
                <a:fillRect l="0" t="-76991" r="0" b="-76991"/>
              </a:stretch>
            </a:blipFill>
            <a:ln w="19050" cap="sq">
              <a:solidFill>
                <a:srgbClr val="132257"/>
              </a:solidFill>
              <a:prstDash val="solid"/>
              <a:miter/>
            </a:ln>
          </p:spPr>
        </p:sp>
      </p:grpSp>
      <p:sp>
        <p:nvSpPr>
          <p:cNvPr name="Freeform 51" id="49"/>
          <p:cNvSpPr/>
          <p:nvPr/>
        </p:nvSpPr>
        <p:spPr>
          <a:xfrm flipH="false" flipV="false" rot="0">
            <a:off x="1925755" y="7351395"/>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5"/>
            <a:stretch>
              <a:fillRect l="0" t="0" r="0" b="0"/>
            </a:stretch>
          </a:blipFill>
        </p:spPr>
      </p:sp>
      <p:sp>
        <p:nvSpPr>
          <p:cNvPr name="Freeform 52" id="50"/>
          <p:cNvSpPr/>
          <p:nvPr/>
        </p:nvSpPr>
        <p:spPr>
          <a:xfrm flipH="false" flipV="false" rot="0">
            <a:off x="3395748" y="7167524"/>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5"/>
            <a:stretch>
              <a:fillRect l="0" t="0" r="0" b="0"/>
            </a:stretch>
          </a:blipFill>
        </p:spPr>
      </p:sp>
      <p:sp>
        <p:nvSpPr>
          <p:cNvPr name="Freeform 53" id="51"/>
          <p:cNvSpPr/>
          <p:nvPr/>
        </p:nvSpPr>
        <p:spPr>
          <a:xfrm flipH="false" flipV="false" rot="0">
            <a:off x="4865751" y="6983654"/>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5"/>
            <a:stretch>
              <a:fillRect l="0" t="0" r="0" b="0"/>
            </a:stretch>
          </a:blipFill>
        </p:spPr>
      </p:sp>
      <p:sp>
        <p:nvSpPr>
          <p:cNvPr name="Freeform 54" id="52"/>
          <p:cNvSpPr/>
          <p:nvPr/>
        </p:nvSpPr>
        <p:spPr>
          <a:xfrm flipH="false" flipV="false" rot="0">
            <a:off x="6335754" y="6753816"/>
            <a:ext cx="158420" cy="158420"/>
          </a:xfrm>
          <a:custGeom>
            <a:avLst/>
            <a:gdLst/>
            <a:ahLst/>
            <a:cxnLst/>
            <a:rect r="r" b="b" t="t" l="l"/>
            <a:pathLst>
              <a:path h="158420" w="158420">
                <a:moveTo>
                  <a:pt x="0" y="0"/>
                </a:moveTo>
                <a:lnTo>
                  <a:pt x="158420" y="0"/>
                </a:lnTo>
                <a:lnTo>
                  <a:pt x="158420" y="158419"/>
                </a:lnTo>
                <a:lnTo>
                  <a:pt x="0" y="158419"/>
                </a:lnTo>
                <a:lnTo>
                  <a:pt x="0" y="0"/>
                </a:lnTo>
                <a:close/>
              </a:path>
            </a:pathLst>
          </a:custGeom>
          <a:blipFill>
            <a:blip r:embed="rId15"/>
            <a:stretch>
              <a:fillRect l="0" t="0" r="0" b="0"/>
            </a:stretch>
          </a:blipFill>
        </p:spPr>
      </p:sp>
      <p:sp>
        <p:nvSpPr>
          <p:cNvPr name="Freeform 55" id="53"/>
          <p:cNvSpPr/>
          <p:nvPr/>
        </p:nvSpPr>
        <p:spPr>
          <a:xfrm flipH="false" flipV="false" rot="0">
            <a:off x="7805747" y="6478010"/>
            <a:ext cx="158420" cy="158420"/>
          </a:xfrm>
          <a:custGeom>
            <a:avLst/>
            <a:gdLst/>
            <a:ahLst/>
            <a:cxnLst/>
            <a:rect r="r" b="b" t="t" l="l"/>
            <a:pathLst>
              <a:path h="158420" w="158420">
                <a:moveTo>
                  <a:pt x="0" y="0"/>
                </a:moveTo>
                <a:lnTo>
                  <a:pt x="158420" y="0"/>
                </a:lnTo>
                <a:lnTo>
                  <a:pt x="158420" y="158419"/>
                </a:lnTo>
                <a:lnTo>
                  <a:pt x="0" y="158419"/>
                </a:lnTo>
                <a:lnTo>
                  <a:pt x="0" y="0"/>
                </a:lnTo>
                <a:close/>
              </a:path>
            </a:pathLst>
          </a:custGeom>
          <a:blipFill>
            <a:blip r:embed="rId15"/>
            <a:stretch>
              <a:fillRect l="0" t="0" r="0" b="0"/>
            </a:stretch>
          </a:blipFill>
        </p:spPr>
      </p:sp>
      <p:sp>
        <p:nvSpPr>
          <p:cNvPr name="TextBox 56" id="54"/>
          <p:cNvSpPr txBox="true"/>
          <p:nvPr/>
        </p:nvSpPr>
        <p:spPr>
          <a:xfrm rot="0">
            <a:off x="6585004" y="6647259"/>
            <a:ext cx="1450000" cy="260004"/>
          </a:xfrm>
          <a:prstGeom prst="rect">
            <a:avLst/>
          </a:prstGeom>
        </p:spPr>
        <p:txBody>
          <a:bodyPr anchor="t" rtlCol="false" tIns="0" lIns="0" bIns="0" rIns="0">
            <a:spAutoFit/>
          </a:bodyPr>
          <a:lstStyle/>
          <a:p>
            <a:pPr algn="r">
              <a:lnSpc>
                <a:spcPts val="1584"/>
              </a:lnSpc>
            </a:pPr>
            <a:r>
              <a:rPr lang="en-US" sz="1320" b="true">
                <a:solidFill>
                  <a:srgbClr val="132257"/>
                </a:solidFill>
                <a:latin typeface="Exo 2 Bold"/>
                <a:ea typeface="Exo 2 Bold"/>
                <a:cs typeface="Exo 2 Bold"/>
                <a:sym typeface="Exo 2 Bold"/>
              </a:rPr>
              <a:t>Target 39</a:t>
            </a:r>
          </a:p>
        </p:txBody>
      </p:sp>
      <p:grpSp>
        <p:nvGrpSpPr>
          <p:cNvPr name="Group 57" id="55"/>
          <p:cNvGrpSpPr/>
          <p:nvPr/>
        </p:nvGrpSpPr>
        <p:grpSpPr>
          <a:xfrm rot="0">
            <a:off x="5919997" y="4745003"/>
            <a:ext cx="300038" cy="28004"/>
            <a:chOff x="0" y="0"/>
            <a:chExt cx="400050" cy="37338"/>
          </a:xfrm>
        </p:grpSpPr>
        <p:sp>
          <p:nvSpPr>
            <p:cNvPr name="Freeform 58" id="56"/>
            <p:cNvSpPr/>
            <p:nvPr/>
          </p:nvSpPr>
          <p:spPr>
            <a:xfrm flipH="false" flipV="false" rot="0">
              <a:off x="0" y="0"/>
              <a:ext cx="400050" cy="37338"/>
            </a:xfrm>
            <a:custGeom>
              <a:avLst/>
              <a:gdLst/>
              <a:ahLst/>
              <a:cxnLst/>
              <a:rect r="r" b="b" t="t" l="l"/>
              <a:pathLst>
                <a:path h="37338" w="400050">
                  <a:moveTo>
                    <a:pt x="0" y="0"/>
                  </a:moveTo>
                  <a:lnTo>
                    <a:pt x="400050" y="0"/>
                  </a:lnTo>
                  <a:lnTo>
                    <a:pt x="400050" y="37338"/>
                  </a:lnTo>
                  <a:lnTo>
                    <a:pt x="0" y="37338"/>
                  </a:lnTo>
                  <a:close/>
                </a:path>
              </a:pathLst>
            </a:custGeom>
            <a:solidFill>
              <a:srgbClr val="1BA97C"/>
            </a:solidFill>
          </p:spPr>
        </p:sp>
      </p:grpSp>
      <p:sp>
        <p:nvSpPr>
          <p:cNvPr name="TextBox 59" id="57"/>
          <p:cNvSpPr txBox="true"/>
          <p:nvPr/>
        </p:nvSpPr>
        <p:spPr>
          <a:xfrm rot="0">
            <a:off x="6280004" y="4620949"/>
            <a:ext cx="800005" cy="279054"/>
          </a:xfrm>
          <a:prstGeom prst="rect">
            <a:avLst/>
          </a:prstGeom>
        </p:spPr>
        <p:txBody>
          <a:bodyPr anchor="t" rtlCol="false" tIns="0" lIns="0" bIns="0" rIns="0">
            <a:spAutoFit/>
          </a:bodyPr>
          <a:lstStyle/>
          <a:p>
            <a:pPr algn="l">
              <a:lnSpc>
                <a:spcPts val="1512"/>
              </a:lnSpc>
            </a:pPr>
            <a:r>
              <a:rPr lang="en-US" sz="1260">
                <a:solidFill>
                  <a:srgbClr val="7A849C"/>
                </a:solidFill>
                <a:latin typeface="Exo 2"/>
                <a:ea typeface="Exo 2"/>
                <a:cs typeface="Exo 2"/>
                <a:sym typeface="Exo 2"/>
              </a:rPr>
              <a:t>Actual</a:t>
            </a:r>
          </a:p>
        </p:txBody>
      </p:sp>
      <p:grpSp>
        <p:nvGrpSpPr>
          <p:cNvPr name="Group 60" id="58"/>
          <p:cNvGrpSpPr/>
          <p:nvPr/>
        </p:nvGrpSpPr>
        <p:grpSpPr>
          <a:xfrm rot="0">
            <a:off x="7069998" y="4745003"/>
            <a:ext cx="300038" cy="18955"/>
            <a:chOff x="0" y="0"/>
            <a:chExt cx="400050" cy="25273"/>
          </a:xfrm>
        </p:grpSpPr>
        <p:sp>
          <p:nvSpPr>
            <p:cNvPr name="Freeform 61" id="59"/>
            <p:cNvSpPr/>
            <p:nvPr/>
          </p:nvSpPr>
          <p:spPr>
            <a:xfrm flipH="false" flipV="false" rot="0">
              <a:off x="0" y="0"/>
              <a:ext cx="400050" cy="25273"/>
            </a:xfrm>
            <a:custGeom>
              <a:avLst/>
              <a:gdLst/>
              <a:ahLst/>
              <a:cxnLst/>
              <a:rect r="r" b="b" t="t" l="l"/>
              <a:pathLst>
                <a:path h="25273" w="400050">
                  <a:moveTo>
                    <a:pt x="0" y="0"/>
                  </a:moveTo>
                  <a:lnTo>
                    <a:pt x="400050" y="0"/>
                  </a:lnTo>
                  <a:lnTo>
                    <a:pt x="400050" y="25273"/>
                  </a:lnTo>
                  <a:lnTo>
                    <a:pt x="0" y="25273"/>
                  </a:lnTo>
                  <a:close/>
                </a:path>
              </a:pathLst>
            </a:custGeom>
            <a:solidFill>
              <a:srgbClr val="132257"/>
            </a:solidFill>
          </p:spPr>
        </p:sp>
      </p:grpSp>
      <p:sp>
        <p:nvSpPr>
          <p:cNvPr name="TextBox 62" id="60"/>
          <p:cNvSpPr txBox="true"/>
          <p:nvPr/>
        </p:nvSpPr>
        <p:spPr>
          <a:xfrm rot="0">
            <a:off x="7429995" y="4620949"/>
            <a:ext cx="800005" cy="279054"/>
          </a:xfrm>
          <a:prstGeom prst="rect">
            <a:avLst/>
          </a:prstGeom>
        </p:spPr>
        <p:txBody>
          <a:bodyPr anchor="t" rtlCol="false" tIns="0" lIns="0" bIns="0" rIns="0">
            <a:spAutoFit/>
          </a:bodyPr>
          <a:lstStyle/>
          <a:p>
            <a:pPr algn="l">
              <a:lnSpc>
                <a:spcPts val="1512"/>
              </a:lnSpc>
            </a:pPr>
            <a:r>
              <a:rPr lang="en-US" sz="1260">
                <a:solidFill>
                  <a:srgbClr val="7A849C"/>
                </a:solidFill>
                <a:latin typeface="Exo 2"/>
                <a:ea typeface="Exo 2"/>
                <a:cs typeface="Exo 2"/>
                <a:sym typeface="Exo 2"/>
              </a:rPr>
              <a:t>Target</a:t>
            </a:r>
          </a:p>
        </p:txBody>
      </p:sp>
      <p:grpSp>
        <p:nvGrpSpPr>
          <p:cNvPr name="Group 63" id="61"/>
          <p:cNvGrpSpPr/>
          <p:nvPr/>
        </p:nvGrpSpPr>
        <p:grpSpPr>
          <a:xfrm rot="0">
            <a:off x="1974437" y="5837187"/>
            <a:ext cx="5941124" cy="2037778"/>
            <a:chOff x="0" y="0"/>
            <a:chExt cx="7921498" cy="2717038"/>
          </a:xfrm>
        </p:grpSpPr>
        <p:sp>
          <p:nvSpPr>
            <p:cNvPr name="Freeform 64" id="62"/>
            <p:cNvSpPr/>
            <p:nvPr/>
          </p:nvSpPr>
          <p:spPr>
            <a:xfrm flipH="false" flipV="false" rot="0">
              <a:off x="0" y="0"/>
              <a:ext cx="7921498" cy="2717038"/>
            </a:xfrm>
            <a:custGeom>
              <a:avLst/>
              <a:gdLst/>
              <a:ahLst/>
              <a:cxnLst/>
              <a:rect r="r" b="b" t="t" l="l"/>
              <a:pathLst>
                <a:path h="2717038" w="7921498">
                  <a:moveTo>
                    <a:pt x="0" y="2717038"/>
                  </a:moveTo>
                  <a:lnTo>
                    <a:pt x="1980438" y="1895602"/>
                  </a:lnTo>
                  <a:lnTo>
                    <a:pt x="3960876" y="1326896"/>
                  </a:lnTo>
                  <a:lnTo>
                    <a:pt x="5941060" y="442341"/>
                  </a:lnTo>
                  <a:lnTo>
                    <a:pt x="7921498" y="0"/>
                  </a:lnTo>
                </a:path>
              </a:pathLst>
            </a:custGeom>
            <a:blipFill>
              <a:blip r:embed="rId7">
                <a:alphaModFix amt="0"/>
              </a:blip>
              <a:stretch>
                <a:fillRect l="0" t="-6768" r="0" b="-6769"/>
              </a:stretch>
            </a:blipFill>
            <a:ln w="34925" cap="sq">
              <a:solidFill>
                <a:srgbClr val="1BA97C"/>
              </a:solidFill>
              <a:prstDash val="solid"/>
              <a:miter/>
            </a:ln>
          </p:spPr>
        </p:sp>
      </p:grpSp>
      <p:sp>
        <p:nvSpPr>
          <p:cNvPr name="Freeform 65" id="63"/>
          <p:cNvSpPr/>
          <p:nvPr/>
        </p:nvSpPr>
        <p:spPr>
          <a:xfrm flipH="false" flipV="false" rot="0">
            <a:off x="1910753" y="7750102"/>
            <a:ext cx="188519" cy="188519"/>
          </a:xfrm>
          <a:custGeom>
            <a:avLst/>
            <a:gdLst/>
            <a:ahLst/>
            <a:cxnLst/>
            <a:rect r="r" b="b" t="t" l="l"/>
            <a:pathLst>
              <a:path h="188519" w="188519">
                <a:moveTo>
                  <a:pt x="0" y="0"/>
                </a:moveTo>
                <a:lnTo>
                  <a:pt x="188519" y="0"/>
                </a:lnTo>
                <a:lnTo>
                  <a:pt x="188519" y="188519"/>
                </a:lnTo>
                <a:lnTo>
                  <a:pt x="0" y="188519"/>
                </a:lnTo>
                <a:lnTo>
                  <a:pt x="0" y="0"/>
                </a:lnTo>
                <a:close/>
              </a:path>
            </a:pathLst>
          </a:custGeom>
          <a:blipFill>
            <a:blip r:embed="rId16"/>
            <a:stretch>
              <a:fillRect l="0" t="0" r="0" b="0"/>
            </a:stretch>
          </a:blipFill>
        </p:spPr>
      </p:sp>
      <p:sp>
        <p:nvSpPr>
          <p:cNvPr name="TextBox 66" id="64"/>
          <p:cNvSpPr txBox="true"/>
          <p:nvPr/>
        </p:nvSpPr>
        <p:spPr>
          <a:xfrm rot="0">
            <a:off x="1305001" y="7954356"/>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11</a:t>
            </a:r>
          </a:p>
        </p:txBody>
      </p:sp>
      <p:sp>
        <p:nvSpPr>
          <p:cNvPr name="TextBox 67" id="65"/>
          <p:cNvSpPr txBox="true"/>
          <p:nvPr/>
        </p:nvSpPr>
        <p:spPr>
          <a:xfrm rot="0">
            <a:off x="1504998"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May</a:t>
            </a:r>
          </a:p>
        </p:txBody>
      </p:sp>
      <p:sp>
        <p:nvSpPr>
          <p:cNvPr name="Freeform 68" id="66"/>
          <p:cNvSpPr/>
          <p:nvPr/>
        </p:nvSpPr>
        <p:spPr>
          <a:xfrm flipH="false" flipV="false" rot="0">
            <a:off x="3380756" y="7152523"/>
            <a:ext cx="188519" cy="188519"/>
          </a:xfrm>
          <a:custGeom>
            <a:avLst/>
            <a:gdLst/>
            <a:ahLst/>
            <a:cxnLst/>
            <a:rect r="r" b="b" t="t" l="l"/>
            <a:pathLst>
              <a:path h="188519" w="188519">
                <a:moveTo>
                  <a:pt x="0" y="0"/>
                </a:moveTo>
                <a:lnTo>
                  <a:pt x="188519" y="0"/>
                </a:lnTo>
                <a:lnTo>
                  <a:pt x="188519" y="188518"/>
                </a:lnTo>
                <a:lnTo>
                  <a:pt x="0" y="188518"/>
                </a:lnTo>
                <a:lnTo>
                  <a:pt x="0" y="0"/>
                </a:lnTo>
                <a:close/>
              </a:path>
            </a:pathLst>
          </a:custGeom>
          <a:blipFill>
            <a:blip r:embed="rId16"/>
            <a:stretch>
              <a:fillRect l="0" t="0" r="0" b="0"/>
            </a:stretch>
          </a:blipFill>
        </p:spPr>
      </p:sp>
      <p:sp>
        <p:nvSpPr>
          <p:cNvPr name="TextBox 69" id="67"/>
          <p:cNvSpPr txBox="true"/>
          <p:nvPr/>
        </p:nvSpPr>
        <p:spPr>
          <a:xfrm rot="0">
            <a:off x="2775004" y="6886775"/>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24</a:t>
            </a:r>
          </a:p>
        </p:txBody>
      </p:sp>
      <p:grpSp>
        <p:nvGrpSpPr>
          <p:cNvPr name="Group 70" id="68"/>
          <p:cNvGrpSpPr/>
          <p:nvPr/>
        </p:nvGrpSpPr>
        <p:grpSpPr>
          <a:xfrm rot="0">
            <a:off x="3094996" y="6566773"/>
            <a:ext cx="760000" cy="250031"/>
            <a:chOff x="0" y="0"/>
            <a:chExt cx="1013333" cy="333375"/>
          </a:xfrm>
        </p:grpSpPr>
        <p:sp>
          <p:nvSpPr>
            <p:cNvPr name="Freeform 71" id="69"/>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72" id="70"/>
          <p:cNvGrpSpPr/>
          <p:nvPr/>
        </p:nvGrpSpPr>
        <p:grpSpPr>
          <a:xfrm rot="0">
            <a:off x="3094996" y="6552486"/>
            <a:ext cx="760000" cy="264290"/>
            <a:chOff x="0" y="0"/>
            <a:chExt cx="1013333" cy="352387"/>
          </a:xfrm>
        </p:grpSpPr>
        <p:sp>
          <p:nvSpPr>
            <p:cNvPr name="Freeform 73" id="71"/>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74" id="72"/>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118%</a:t>
              </a:r>
            </a:p>
          </p:txBody>
        </p:sp>
      </p:grpSp>
      <p:sp>
        <p:nvSpPr>
          <p:cNvPr name="TextBox 75" id="73"/>
          <p:cNvSpPr txBox="true"/>
          <p:nvPr/>
        </p:nvSpPr>
        <p:spPr>
          <a:xfrm rot="0">
            <a:off x="2975000"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Jun</a:t>
            </a:r>
          </a:p>
        </p:txBody>
      </p:sp>
      <p:sp>
        <p:nvSpPr>
          <p:cNvPr name="Freeform 76" id="74"/>
          <p:cNvSpPr/>
          <p:nvPr/>
        </p:nvSpPr>
        <p:spPr>
          <a:xfrm flipH="false" flipV="false" rot="0">
            <a:off x="4850749" y="6738814"/>
            <a:ext cx="188519" cy="188519"/>
          </a:xfrm>
          <a:custGeom>
            <a:avLst/>
            <a:gdLst/>
            <a:ahLst/>
            <a:cxnLst/>
            <a:rect r="r" b="b" t="t" l="l"/>
            <a:pathLst>
              <a:path h="188519" w="188519">
                <a:moveTo>
                  <a:pt x="0" y="0"/>
                </a:moveTo>
                <a:lnTo>
                  <a:pt x="188519" y="0"/>
                </a:lnTo>
                <a:lnTo>
                  <a:pt x="188519" y="188518"/>
                </a:lnTo>
                <a:lnTo>
                  <a:pt x="0" y="188518"/>
                </a:lnTo>
                <a:lnTo>
                  <a:pt x="0" y="0"/>
                </a:lnTo>
                <a:close/>
              </a:path>
            </a:pathLst>
          </a:custGeom>
          <a:blipFill>
            <a:blip r:embed="rId16"/>
            <a:stretch>
              <a:fillRect l="0" t="0" r="0" b="0"/>
            </a:stretch>
          </a:blipFill>
        </p:spPr>
      </p:sp>
      <p:sp>
        <p:nvSpPr>
          <p:cNvPr name="TextBox 77" id="75"/>
          <p:cNvSpPr txBox="true"/>
          <p:nvPr/>
        </p:nvSpPr>
        <p:spPr>
          <a:xfrm rot="0">
            <a:off x="4244997" y="6473066"/>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33</a:t>
            </a:r>
          </a:p>
        </p:txBody>
      </p:sp>
      <p:grpSp>
        <p:nvGrpSpPr>
          <p:cNvPr name="Group 78" id="76"/>
          <p:cNvGrpSpPr/>
          <p:nvPr/>
        </p:nvGrpSpPr>
        <p:grpSpPr>
          <a:xfrm rot="0">
            <a:off x="4564999" y="6153064"/>
            <a:ext cx="760000" cy="250031"/>
            <a:chOff x="0" y="0"/>
            <a:chExt cx="1013333" cy="333375"/>
          </a:xfrm>
        </p:grpSpPr>
        <p:sp>
          <p:nvSpPr>
            <p:cNvPr name="Freeform 79" id="77"/>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80" id="78"/>
          <p:cNvGrpSpPr/>
          <p:nvPr/>
        </p:nvGrpSpPr>
        <p:grpSpPr>
          <a:xfrm rot="0">
            <a:off x="4564999" y="6138777"/>
            <a:ext cx="760000" cy="264290"/>
            <a:chOff x="0" y="0"/>
            <a:chExt cx="1013333" cy="352387"/>
          </a:xfrm>
        </p:grpSpPr>
        <p:sp>
          <p:nvSpPr>
            <p:cNvPr name="Freeform 81" id="79"/>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82" id="80"/>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38%</a:t>
              </a:r>
            </a:p>
          </p:txBody>
        </p:sp>
      </p:grpSp>
      <p:sp>
        <p:nvSpPr>
          <p:cNvPr name="TextBox 83" id="81"/>
          <p:cNvSpPr txBox="true"/>
          <p:nvPr/>
        </p:nvSpPr>
        <p:spPr>
          <a:xfrm rot="0">
            <a:off x="4445003"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Jul</a:t>
            </a:r>
          </a:p>
        </p:txBody>
      </p:sp>
      <p:sp>
        <p:nvSpPr>
          <p:cNvPr name="Freeform 84" id="82"/>
          <p:cNvSpPr/>
          <p:nvPr/>
        </p:nvSpPr>
        <p:spPr>
          <a:xfrm flipH="false" flipV="false" rot="0">
            <a:off x="6320752" y="6095267"/>
            <a:ext cx="188519" cy="188519"/>
          </a:xfrm>
          <a:custGeom>
            <a:avLst/>
            <a:gdLst/>
            <a:ahLst/>
            <a:cxnLst/>
            <a:rect r="r" b="b" t="t" l="l"/>
            <a:pathLst>
              <a:path h="188519" w="188519">
                <a:moveTo>
                  <a:pt x="0" y="0"/>
                </a:moveTo>
                <a:lnTo>
                  <a:pt x="188519" y="0"/>
                </a:lnTo>
                <a:lnTo>
                  <a:pt x="188519" y="188518"/>
                </a:lnTo>
                <a:lnTo>
                  <a:pt x="0" y="188518"/>
                </a:lnTo>
                <a:lnTo>
                  <a:pt x="0" y="0"/>
                </a:lnTo>
                <a:close/>
              </a:path>
            </a:pathLst>
          </a:custGeom>
          <a:blipFill>
            <a:blip r:embed="rId16"/>
            <a:stretch>
              <a:fillRect l="0" t="0" r="0" b="0"/>
            </a:stretch>
          </a:blipFill>
        </p:spPr>
      </p:sp>
      <p:sp>
        <p:nvSpPr>
          <p:cNvPr name="TextBox 85" id="83"/>
          <p:cNvSpPr txBox="true"/>
          <p:nvPr/>
        </p:nvSpPr>
        <p:spPr>
          <a:xfrm rot="0">
            <a:off x="5715000" y="5829519"/>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47</a:t>
            </a:r>
          </a:p>
        </p:txBody>
      </p:sp>
      <p:grpSp>
        <p:nvGrpSpPr>
          <p:cNvPr name="Group 86" id="84"/>
          <p:cNvGrpSpPr/>
          <p:nvPr/>
        </p:nvGrpSpPr>
        <p:grpSpPr>
          <a:xfrm rot="0">
            <a:off x="6035002" y="5509517"/>
            <a:ext cx="760000" cy="250031"/>
            <a:chOff x="0" y="0"/>
            <a:chExt cx="1013333" cy="333375"/>
          </a:xfrm>
        </p:grpSpPr>
        <p:sp>
          <p:nvSpPr>
            <p:cNvPr name="Freeform 87" id="85"/>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88" id="86"/>
          <p:cNvGrpSpPr/>
          <p:nvPr/>
        </p:nvGrpSpPr>
        <p:grpSpPr>
          <a:xfrm rot="0">
            <a:off x="6035002" y="5495230"/>
            <a:ext cx="760000" cy="264290"/>
            <a:chOff x="0" y="0"/>
            <a:chExt cx="1013333" cy="352387"/>
          </a:xfrm>
        </p:grpSpPr>
        <p:sp>
          <p:nvSpPr>
            <p:cNvPr name="Freeform 89" id="87"/>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90" id="88"/>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42%</a:t>
              </a:r>
            </a:p>
          </p:txBody>
        </p:sp>
      </p:grpSp>
      <p:sp>
        <p:nvSpPr>
          <p:cNvPr name="TextBox 91" id="89"/>
          <p:cNvSpPr txBox="true"/>
          <p:nvPr/>
        </p:nvSpPr>
        <p:spPr>
          <a:xfrm rot="0">
            <a:off x="5914996"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Aug</a:t>
            </a:r>
          </a:p>
        </p:txBody>
      </p:sp>
      <p:sp>
        <p:nvSpPr>
          <p:cNvPr name="Freeform 92" id="90"/>
          <p:cNvSpPr/>
          <p:nvPr/>
        </p:nvSpPr>
        <p:spPr>
          <a:xfrm flipH="false" flipV="false" rot="0">
            <a:off x="7790755" y="5773493"/>
            <a:ext cx="188519" cy="188519"/>
          </a:xfrm>
          <a:custGeom>
            <a:avLst/>
            <a:gdLst/>
            <a:ahLst/>
            <a:cxnLst/>
            <a:rect r="r" b="b" t="t" l="l"/>
            <a:pathLst>
              <a:path h="188519" w="188519">
                <a:moveTo>
                  <a:pt x="0" y="0"/>
                </a:moveTo>
                <a:lnTo>
                  <a:pt x="188518" y="0"/>
                </a:lnTo>
                <a:lnTo>
                  <a:pt x="188518" y="188519"/>
                </a:lnTo>
                <a:lnTo>
                  <a:pt x="0" y="188519"/>
                </a:lnTo>
                <a:lnTo>
                  <a:pt x="0" y="0"/>
                </a:lnTo>
                <a:close/>
              </a:path>
            </a:pathLst>
          </a:custGeom>
          <a:blipFill>
            <a:blip r:embed="rId16"/>
            <a:stretch>
              <a:fillRect l="0" t="0" r="0" b="0"/>
            </a:stretch>
          </a:blipFill>
        </p:spPr>
      </p:sp>
      <p:sp>
        <p:nvSpPr>
          <p:cNvPr name="TextBox 93" id="91"/>
          <p:cNvSpPr txBox="true"/>
          <p:nvPr/>
        </p:nvSpPr>
        <p:spPr>
          <a:xfrm rot="0">
            <a:off x="7185003" y="5507746"/>
            <a:ext cx="1400004" cy="299999"/>
          </a:xfrm>
          <a:prstGeom prst="rect">
            <a:avLst/>
          </a:prstGeom>
        </p:spPr>
        <p:txBody>
          <a:bodyPr anchor="t" rtlCol="false" tIns="0" lIns="0" bIns="0" rIns="0">
            <a:spAutoFit/>
          </a:bodyPr>
          <a:lstStyle/>
          <a:p>
            <a:pPr algn="ctr">
              <a:lnSpc>
                <a:spcPts val="1836"/>
              </a:lnSpc>
            </a:pPr>
            <a:r>
              <a:rPr lang="en-US" sz="1530" b="true">
                <a:solidFill>
                  <a:srgbClr val="1BA97C"/>
                </a:solidFill>
                <a:latin typeface="Exo 2 Bold"/>
                <a:ea typeface="Exo 2 Bold"/>
                <a:cs typeface="Exo 2 Bold"/>
                <a:sym typeface="Exo 2 Bold"/>
              </a:rPr>
              <a:t>61</a:t>
            </a:r>
          </a:p>
        </p:txBody>
      </p:sp>
      <p:grpSp>
        <p:nvGrpSpPr>
          <p:cNvPr name="Group 94" id="92"/>
          <p:cNvGrpSpPr/>
          <p:nvPr/>
        </p:nvGrpSpPr>
        <p:grpSpPr>
          <a:xfrm rot="0">
            <a:off x="7505005" y="5187744"/>
            <a:ext cx="760000" cy="250031"/>
            <a:chOff x="0" y="0"/>
            <a:chExt cx="1013333" cy="333375"/>
          </a:xfrm>
        </p:grpSpPr>
        <p:sp>
          <p:nvSpPr>
            <p:cNvPr name="Freeform 95" id="93"/>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96" id="94"/>
          <p:cNvGrpSpPr/>
          <p:nvPr/>
        </p:nvGrpSpPr>
        <p:grpSpPr>
          <a:xfrm rot="0">
            <a:off x="7505005" y="5173456"/>
            <a:ext cx="760000" cy="264290"/>
            <a:chOff x="0" y="0"/>
            <a:chExt cx="1013333" cy="352387"/>
          </a:xfrm>
        </p:grpSpPr>
        <p:sp>
          <p:nvSpPr>
            <p:cNvPr name="Freeform 97" id="95"/>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98" id="96"/>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30%</a:t>
              </a:r>
            </a:p>
          </p:txBody>
        </p:sp>
      </p:grpSp>
      <p:sp>
        <p:nvSpPr>
          <p:cNvPr name="TextBox 99" id="97"/>
          <p:cNvSpPr txBox="true"/>
          <p:nvPr/>
        </p:nvSpPr>
        <p:spPr>
          <a:xfrm rot="0">
            <a:off x="7384999"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Sep</a:t>
            </a:r>
          </a:p>
        </p:txBody>
      </p:sp>
      <p:sp>
        <p:nvSpPr>
          <p:cNvPr name="TextBox 100" id="98"/>
          <p:cNvSpPr txBox="true"/>
          <p:nvPr/>
        </p:nvSpPr>
        <p:spPr>
          <a:xfrm rot="0">
            <a:off x="1269997" y="8781898"/>
            <a:ext cx="7350004" cy="298104"/>
          </a:xfrm>
          <a:prstGeom prst="rect">
            <a:avLst/>
          </a:prstGeom>
        </p:spPr>
        <p:txBody>
          <a:bodyPr anchor="t" rtlCol="false" tIns="0" lIns="0" bIns="0" rIns="0">
            <a:spAutoFit/>
          </a:bodyPr>
          <a:lstStyle/>
          <a:p>
            <a:pPr algn="l">
              <a:lnSpc>
                <a:spcPts val="1439"/>
              </a:lnSpc>
            </a:pPr>
            <a:r>
              <a:rPr lang="en-US" sz="1200" b="true">
                <a:solidFill>
                  <a:srgbClr val="1BA97C"/>
                </a:solidFill>
                <a:latin typeface="Calibri (MS) Bold"/>
                <a:ea typeface="Calibri (MS) Bold"/>
                <a:cs typeface="Calibri (MS) Bold"/>
                <a:sym typeface="Calibri (MS) Bold"/>
              </a:rPr>
              <a:t>▲ Month on month growth</a:t>
            </a:r>
          </a:p>
        </p:txBody>
      </p:sp>
      <p:grpSp>
        <p:nvGrpSpPr>
          <p:cNvPr name="Group 101" id="99"/>
          <p:cNvGrpSpPr/>
          <p:nvPr/>
        </p:nvGrpSpPr>
        <p:grpSpPr>
          <a:xfrm rot="0">
            <a:off x="9674000" y="8349996"/>
            <a:ext cx="7349966" cy="8954"/>
            <a:chOff x="0" y="0"/>
            <a:chExt cx="9799955" cy="11938"/>
          </a:xfrm>
        </p:grpSpPr>
        <p:sp>
          <p:nvSpPr>
            <p:cNvPr name="Freeform 102" id="100"/>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103" id="101"/>
          <p:cNvGrpSpPr/>
          <p:nvPr/>
        </p:nvGrpSpPr>
        <p:grpSpPr>
          <a:xfrm rot="0">
            <a:off x="9674000" y="6924999"/>
            <a:ext cx="7349966" cy="8954"/>
            <a:chOff x="0" y="0"/>
            <a:chExt cx="9799955" cy="11938"/>
          </a:xfrm>
        </p:grpSpPr>
        <p:sp>
          <p:nvSpPr>
            <p:cNvPr name="Freeform 104" id="102"/>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105" id="103"/>
          <p:cNvGrpSpPr/>
          <p:nvPr/>
        </p:nvGrpSpPr>
        <p:grpSpPr>
          <a:xfrm rot="0">
            <a:off x="9674000" y="5500002"/>
            <a:ext cx="7349966" cy="8954"/>
            <a:chOff x="0" y="0"/>
            <a:chExt cx="9799955" cy="11938"/>
          </a:xfrm>
        </p:grpSpPr>
        <p:sp>
          <p:nvSpPr>
            <p:cNvPr name="Freeform 106" id="104"/>
            <p:cNvSpPr/>
            <p:nvPr/>
          </p:nvSpPr>
          <p:spPr>
            <a:xfrm flipH="false" flipV="false" rot="0">
              <a:off x="0" y="0"/>
              <a:ext cx="9799955" cy="11938"/>
            </a:xfrm>
            <a:custGeom>
              <a:avLst/>
              <a:gdLst/>
              <a:ahLst/>
              <a:cxnLst/>
              <a:rect r="r" b="b" t="t" l="l"/>
              <a:pathLst>
                <a:path h="11938" w="9799955">
                  <a:moveTo>
                    <a:pt x="0" y="0"/>
                  </a:moveTo>
                  <a:lnTo>
                    <a:pt x="9799955" y="0"/>
                  </a:lnTo>
                  <a:lnTo>
                    <a:pt x="9799955" y="11938"/>
                  </a:lnTo>
                  <a:lnTo>
                    <a:pt x="0" y="11938"/>
                  </a:lnTo>
                  <a:close/>
                </a:path>
              </a:pathLst>
            </a:custGeom>
            <a:solidFill>
              <a:srgbClr val="E3E8F2"/>
            </a:solidFill>
          </p:spPr>
        </p:sp>
      </p:grpSp>
      <p:grpSp>
        <p:nvGrpSpPr>
          <p:cNvPr name="Group 107" id="105"/>
          <p:cNvGrpSpPr/>
          <p:nvPr/>
        </p:nvGrpSpPr>
        <p:grpSpPr>
          <a:xfrm rot="0">
            <a:off x="10408996" y="8222371"/>
            <a:ext cx="5879973" cy="127635"/>
            <a:chOff x="0" y="0"/>
            <a:chExt cx="7839964" cy="170180"/>
          </a:xfrm>
        </p:grpSpPr>
        <p:sp>
          <p:nvSpPr>
            <p:cNvPr name="Freeform 108" id="106"/>
            <p:cNvSpPr/>
            <p:nvPr/>
          </p:nvSpPr>
          <p:spPr>
            <a:xfrm flipH="false" flipV="false" rot="0">
              <a:off x="0" y="0"/>
              <a:ext cx="7839964" cy="170180"/>
            </a:xfrm>
            <a:custGeom>
              <a:avLst/>
              <a:gdLst/>
              <a:ahLst/>
              <a:cxnLst/>
              <a:rect r="r" b="b" t="t" l="l"/>
              <a:pathLst>
                <a:path h="170180" w="7839964">
                  <a:moveTo>
                    <a:pt x="0" y="170180"/>
                  </a:moveTo>
                  <a:lnTo>
                    <a:pt x="0" y="109220"/>
                  </a:lnTo>
                  <a:lnTo>
                    <a:pt x="1959991" y="50038"/>
                  </a:lnTo>
                  <a:lnTo>
                    <a:pt x="3919982" y="39116"/>
                  </a:lnTo>
                  <a:lnTo>
                    <a:pt x="5879973" y="18161"/>
                  </a:lnTo>
                  <a:lnTo>
                    <a:pt x="7839964" y="0"/>
                  </a:lnTo>
                  <a:lnTo>
                    <a:pt x="7839964" y="170180"/>
                  </a:lnTo>
                  <a:close/>
                </a:path>
              </a:pathLst>
            </a:custGeom>
            <a:solidFill>
              <a:srgbClr val="E3F4EC"/>
            </a:solidFill>
          </p:spPr>
        </p:sp>
      </p:grpSp>
      <p:grpSp>
        <p:nvGrpSpPr>
          <p:cNvPr name="Group 109" id="107"/>
          <p:cNvGrpSpPr/>
          <p:nvPr/>
        </p:nvGrpSpPr>
        <p:grpSpPr>
          <a:xfrm rot="0">
            <a:off x="10392327" y="5646811"/>
            <a:ext cx="5913310" cy="1579817"/>
            <a:chOff x="0" y="0"/>
            <a:chExt cx="7884414" cy="2106422"/>
          </a:xfrm>
        </p:grpSpPr>
        <p:sp>
          <p:nvSpPr>
            <p:cNvPr name="Freeform 110" id="108"/>
            <p:cNvSpPr/>
            <p:nvPr/>
          </p:nvSpPr>
          <p:spPr>
            <a:xfrm flipH="false" flipV="false" rot="0">
              <a:off x="0" y="0"/>
              <a:ext cx="7884414" cy="2106422"/>
            </a:xfrm>
            <a:custGeom>
              <a:avLst/>
              <a:gdLst/>
              <a:ahLst/>
              <a:cxnLst/>
              <a:rect r="r" b="b" t="t" l="l"/>
              <a:pathLst>
                <a:path h="2106422" w="7884414">
                  <a:moveTo>
                    <a:pt x="0" y="2106422"/>
                  </a:moveTo>
                  <a:lnTo>
                    <a:pt x="1971167" y="1735328"/>
                  </a:lnTo>
                  <a:lnTo>
                    <a:pt x="3942334" y="1275588"/>
                  </a:lnTo>
                  <a:lnTo>
                    <a:pt x="5913374" y="705866"/>
                  </a:lnTo>
                  <a:lnTo>
                    <a:pt x="7884414" y="0"/>
                  </a:lnTo>
                </a:path>
              </a:pathLst>
            </a:custGeom>
            <a:blipFill>
              <a:blip r:embed="rId7">
                <a:alphaModFix amt="0"/>
              </a:blip>
              <a:stretch>
                <a:fillRect l="0" t="-22882" r="0" b="-22882"/>
              </a:stretch>
            </a:blipFill>
            <a:ln w="19050" cap="sq">
              <a:solidFill>
                <a:srgbClr val="132257"/>
              </a:solidFill>
              <a:prstDash val="solid"/>
              <a:miter/>
            </a:ln>
          </p:spPr>
        </p:sp>
      </p:grpSp>
      <p:sp>
        <p:nvSpPr>
          <p:cNvPr name="Freeform 111" id="109"/>
          <p:cNvSpPr/>
          <p:nvPr/>
        </p:nvSpPr>
        <p:spPr>
          <a:xfrm flipH="false" flipV="false" rot="0">
            <a:off x="10329748" y="7130748"/>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5"/>
            <a:stretch>
              <a:fillRect l="0" t="0" r="0" b="0"/>
            </a:stretch>
          </a:blipFill>
        </p:spPr>
      </p:sp>
      <p:sp>
        <p:nvSpPr>
          <p:cNvPr name="Freeform 112" id="110"/>
          <p:cNvSpPr/>
          <p:nvPr/>
        </p:nvSpPr>
        <p:spPr>
          <a:xfrm flipH="false" flipV="false" rot="0">
            <a:off x="11799751" y="6858295"/>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5"/>
            <a:stretch>
              <a:fillRect l="0" t="0" r="0" b="0"/>
            </a:stretch>
          </a:blipFill>
        </p:spPr>
      </p:sp>
      <p:sp>
        <p:nvSpPr>
          <p:cNvPr name="Freeform 113" id="111"/>
          <p:cNvSpPr/>
          <p:nvPr/>
        </p:nvSpPr>
        <p:spPr>
          <a:xfrm flipH="false" flipV="false" rot="0">
            <a:off x="13269754" y="6520710"/>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5"/>
            <a:stretch>
              <a:fillRect l="0" t="0" r="0" b="0"/>
            </a:stretch>
          </a:blipFill>
        </p:spPr>
      </p:sp>
      <p:sp>
        <p:nvSpPr>
          <p:cNvPr name="Freeform 114" id="112"/>
          <p:cNvSpPr/>
          <p:nvPr/>
        </p:nvSpPr>
        <p:spPr>
          <a:xfrm flipH="false" flipV="false" rot="0">
            <a:off x="14739747" y="6102458"/>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5"/>
            <a:stretch>
              <a:fillRect l="0" t="0" r="0" b="0"/>
            </a:stretch>
          </a:blipFill>
        </p:spPr>
      </p:sp>
      <p:sp>
        <p:nvSpPr>
          <p:cNvPr name="Freeform 115" id="113"/>
          <p:cNvSpPr/>
          <p:nvPr/>
        </p:nvSpPr>
        <p:spPr>
          <a:xfrm flipH="false" flipV="false" rot="0">
            <a:off x="16209750" y="5584231"/>
            <a:ext cx="158420" cy="158420"/>
          </a:xfrm>
          <a:custGeom>
            <a:avLst/>
            <a:gdLst/>
            <a:ahLst/>
            <a:cxnLst/>
            <a:rect r="r" b="b" t="t" l="l"/>
            <a:pathLst>
              <a:path h="158420" w="158420">
                <a:moveTo>
                  <a:pt x="0" y="0"/>
                </a:moveTo>
                <a:lnTo>
                  <a:pt x="158420" y="0"/>
                </a:lnTo>
                <a:lnTo>
                  <a:pt x="158420" y="158420"/>
                </a:lnTo>
                <a:lnTo>
                  <a:pt x="0" y="158420"/>
                </a:lnTo>
                <a:lnTo>
                  <a:pt x="0" y="0"/>
                </a:lnTo>
                <a:close/>
              </a:path>
            </a:pathLst>
          </a:custGeom>
          <a:blipFill>
            <a:blip r:embed="rId15"/>
            <a:stretch>
              <a:fillRect l="0" t="0" r="0" b="0"/>
            </a:stretch>
          </a:blipFill>
        </p:spPr>
      </p:sp>
      <p:sp>
        <p:nvSpPr>
          <p:cNvPr name="TextBox 116" id="114"/>
          <p:cNvSpPr txBox="true"/>
          <p:nvPr/>
        </p:nvSpPr>
        <p:spPr>
          <a:xfrm rot="0">
            <a:off x="15199004" y="5843511"/>
            <a:ext cx="2000002" cy="260004"/>
          </a:xfrm>
          <a:prstGeom prst="rect">
            <a:avLst/>
          </a:prstGeom>
        </p:spPr>
        <p:txBody>
          <a:bodyPr anchor="t" rtlCol="false" tIns="0" lIns="0" bIns="0" rIns="0">
            <a:spAutoFit/>
          </a:bodyPr>
          <a:lstStyle/>
          <a:p>
            <a:pPr algn="r">
              <a:lnSpc>
                <a:spcPts val="1584"/>
              </a:lnSpc>
            </a:pPr>
            <a:r>
              <a:rPr lang="en-US" sz="1320" b="true">
                <a:solidFill>
                  <a:srgbClr val="132257"/>
                </a:solidFill>
                <a:latin typeface="Exo 2 Bold"/>
                <a:ea typeface="Exo 2 Bold"/>
                <a:cs typeface="Exo 2 Bold"/>
                <a:sym typeface="Exo 2 Bold"/>
              </a:rPr>
              <a:t>Target $235,660</a:t>
            </a:r>
          </a:p>
        </p:txBody>
      </p:sp>
      <p:grpSp>
        <p:nvGrpSpPr>
          <p:cNvPr name="Group 117" id="115"/>
          <p:cNvGrpSpPr/>
          <p:nvPr/>
        </p:nvGrpSpPr>
        <p:grpSpPr>
          <a:xfrm rot="0">
            <a:off x="14324000" y="4745003"/>
            <a:ext cx="300038" cy="28004"/>
            <a:chOff x="0" y="0"/>
            <a:chExt cx="400050" cy="37338"/>
          </a:xfrm>
        </p:grpSpPr>
        <p:sp>
          <p:nvSpPr>
            <p:cNvPr name="Freeform 118" id="116"/>
            <p:cNvSpPr/>
            <p:nvPr/>
          </p:nvSpPr>
          <p:spPr>
            <a:xfrm flipH="false" flipV="false" rot="0">
              <a:off x="0" y="0"/>
              <a:ext cx="400050" cy="37338"/>
            </a:xfrm>
            <a:custGeom>
              <a:avLst/>
              <a:gdLst/>
              <a:ahLst/>
              <a:cxnLst/>
              <a:rect r="r" b="b" t="t" l="l"/>
              <a:pathLst>
                <a:path h="37338" w="400050">
                  <a:moveTo>
                    <a:pt x="0" y="0"/>
                  </a:moveTo>
                  <a:lnTo>
                    <a:pt x="400050" y="0"/>
                  </a:lnTo>
                  <a:lnTo>
                    <a:pt x="400050" y="37338"/>
                  </a:lnTo>
                  <a:lnTo>
                    <a:pt x="0" y="37338"/>
                  </a:lnTo>
                  <a:close/>
                </a:path>
              </a:pathLst>
            </a:custGeom>
            <a:solidFill>
              <a:srgbClr val="1BA97C"/>
            </a:solidFill>
          </p:spPr>
        </p:sp>
      </p:grpSp>
      <p:sp>
        <p:nvSpPr>
          <p:cNvPr name="TextBox 119" id="117"/>
          <p:cNvSpPr txBox="true"/>
          <p:nvPr/>
        </p:nvSpPr>
        <p:spPr>
          <a:xfrm rot="0">
            <a:off x="14683997" y="4620949"/>
            <a:ext cx="800005" cy="279054"/>
          </a:xfrm>
          <a:prstGeom prst="rect">
            <a:avLst/>
          </a:prstGeom>
        </p:spPr>
        <p:txBody>
          <a:bodyPr anchor="t" rtlCol="false" tIns="0" lIns="0" bIns="0" rIns="0">
            <a:spAutoFit/>
          </a:bodyPr>
          <a:lstStyle/>
          <a:p>
            <a:pPr algn="l">
              <a:lnSpc>
                <a:spcPts val="1512"/>
              </a:lnSpc>
            </a:pPr>
            <a:r>
              <a:rPr lang="en-US" sz="1260">
                <a:solidFill>
                  <a:srgbClr val="7A849C"/>
                </a:solidFill>
                <a:latin typeface="Exo 2"/>
                <a:ea typeface="Exo 2"/>
                <a:cs typeface="Exo 2"/>
                <a:sym typeface="Exo 2"/>
              </a:rPr>
              <a:t>Actual</a:t>
            </a:r>
          </a:p>
        </p:txBody>
      </p:sp>
      <p:grpSp>
        <p:nvGrpSpPr>
          <p:cNvPr name="Group 120" id="118"/>
          <p:cNvGrpSpPr/>
          <p:nvPr/>
        </p:nvGrpSpPr>
        <p:grpSpPr>
          <a:xfrm rot="0">
            <a:off x="15474001" y="4745003"/>
            <a:ext cx="300038" cy="18955"/>
            <a:chOff x="0" y="0"/>
            <a:chExt cx="400050" cy="25273"/>
          </a:xfrm>
        </p:grpSpPr>
        <p:sp>
          <p:nvSpPr>
            <p:cNvPr name="Freeform 121" id="119"/>
            <p:cNvSpPr/>
            <p:nvPr/>
          </p:nvSpPr>
          <p:spPr>
            <a:xfrm flipH="false" flipV="false" rot="0">
              <a:off x="0" y="0"/>
              <a:ext cx="400050" cy="25273"/>
            </a:xfrm>
            <a:custGeom>
              <a:avLst/>
              <a:gdLst/>
              <a:ahLst/>
              <a:cxnLst/>
              <a:rect r="r" b="b" t="t" l="l"/>
              <a:pathLst>
                <a:path h="25273" w="400050">
                  <a:moveTo>
                    <a:pt x="0" y="0"/>
                  </a:moveTo>
                  <a:lnTo>
                    <a:pt x="400050" y="0"/>
                  </a:lnTo>
                  <a:lnTo>
                    <a:pt x="400050" y="25273"/>
                  </a:lnTo>
                  <a:lnTo>
                    <a:pt x="0" y="25273"/>
                  </a:lnTo>
                  <a:close/>
                </a:path>
              </a:pathLst>
            </a:custGeom>
            <a:solidFill>
              <a:srgbClr val="132257"/>
            </a:solidFill>
          </p:spPr>
        </p:sp>
      </p:grpSp>
      <p:sp>
        <p:nvSpPr>
          <p:cNvPr name="TextBox 122" id="120"/>
          <p:cNvSpPr txBox="true"/>
          <p:nvPr/>
        </p:nvSpPr>
        <p:spPr>
          <a:xfrm rot="0">
            <a:off x="15833998" y="4620949"/>
            <a:ext cx="800005" cy="279054"/>
          </a:xfrm>
          <a:prstGeom prst="rect">
            <a:avLst/>
          </a:prstGeom>
        </p:spPr>
        <p:txBody>
          <a:bodyPr anchor="t" rtlCol="false" tIns="0" lIns="0" bIns="0" rIns="0">
            <a:spAutoFit/>
          </a:bodyPr>
          <a:lstStyle/>
          <a:p>
            <a:pPr algn="l">
              <a:lnSpc>
                <a:spcPts val="1512"/>
              </a:lnSpc>
            </a:pPr>
            <a:r>
              <a:rPr lang="en-US" sz="1260">
                <a:solidFill>
                  <a:srgbClr val="7A849C"/>
                </a:solidFill>
                <a:latin typeface="Exo 2"/>
                <a:ea typeface="Exo 2"/>
                <a:cs typeface="Exo 2"/>
                <a:sym typeface="Exo 2"/>
              </a:rPr>
              <a:t>Target</a:t>
            </a:r>
          </a:p>
        </p:txBody>
      </p:sp>
      <p:grpSp>
        <p:nvGrpSpPr>
          <p:cNvPr name="Group 123" id="121"/>
          <p:cNvGrpSpPr/>
          <p:nvPr/>
        </p:nvGrpSpPr>
        <p:grpSpPr>
          <a:xfrm rot="0">
            <a:off x="10378440" y="8191805"/>
            <a:ext cx="5941124" cy="142970"/>
            <a:chOff x="0" y="0"/>
            <a:chExt cx="7921498" cy="190627"/>
          </a:xfrm>
        </p:grpSpPr>
        <p:sp>
          <p:nvSpPr>
            <p:cNvPr name="Freeform 124" id="122"/>
            <p:cNvSpPr/>
            <p:nvPr/>
          </p:nvSpPr>
          <p:spPr>
            <a:xfrm flipH="false" flipV="false" rot="0">
              <a:off x="0" y="0"/>
              <a:ext cx="7921498" cy="190627"/>
            </a:xfrm>
            <a:custGeom>
              <a:avLst/>
              <a:gdLst/>
              <a:ahLst/>
              <a:cxnLst/>
              <a:rect r="r" b="b" t="t" l="l"/>
              <a:pathLst>
                <a:path h="190627" w="7921498">
                  <a:moveTo>
                    <a:pt x="0" y="190627"/>
                  </a:moveTo>
                  <a:lnTo>
                    <a:pt x="1980438" y="87249"/>
                  </a:lnTo>
                  <a:lnTo>
                    <a:pt x="3960622" y="68199"/>
                  </a:lnTo>
                  <a:lnTo>
                    <a:pt x="5941060" y="31750"/>
                  </a:lnTo>
                  <a:lnTo>
                    <a:pt x="7921498" y="0"/>
                  </a:lnTo>
                </a:path>
              </a:pathLst>
            </a:custGeom>
            <a:blipFill>
              <a:blip r:embed="rId7">
                <a:alphaModFix amt="0"/>
              </a:blip>
              <a:stretch>
                <a:fillRect l="0" t="-759133" r="0" b="-759140"/>
              </a:stretch>
            </a:blipFill>
            <a:ln w="34925" cap="sq">
              <a:solidFill>
                <a:srgbClr val="1BA97C"/>
              </a:solidFill>
              <a:prstDash val="solid"/>
              <a:miter/>
            </a:ln>
          </p:spPr>
        </p:sp>
      </p:grpSp>
      <p:sp>
        <p:nvSpPr>
          <p:cNvPr name="Freeform 125" id="123"/>
          <p:cNvSpPr/>
          <p:nvPr/>
        </p:nvSpPr>
        <p:spPr>
          <a:xfrm flipH="false" flipV="false" rot="0">
            <a:off x="10314756" y="8210007"/>
            <a:ext cx="188519" cy="188519"/>
          </a:xfrm>
          <a:custGeom>
            <a:avLst/>
            <a:gdLst/>
            <a:ahLst/>
            <a:cxnLst/>
            <a:rect r="r" b="b" t="t" l="l"/>
            <a:pathLst>
              <a:path h="188519" w="188519">
                <a:moveTo>
                  <a:pt x="0" y="0"/>
                </a:moveTo>
                <a:lnTo>
                  <a:pt x="188519" y="0"/>
                </a:lnTo>
                <a:lnTo>
                  <a:pt x="188519" y="188519"/>
                </a:lnTo>
                <a:lnTo>
                  <a:pt x="0" y="188519"/>
                </a:lnTo>
                <a:lnTo>
                  <a:pt x="0" y="0"/>
                </a:lnTo>
                <a:close/>
              </a:path>
            </a:pathLst>
          </a:custGeom>
          <a:blipFill>
            <a:blip r:embed="rId16"/>
            <a:stretch>
              <a:fillRect l="0" t="0" r="0" b="0"/>
            </a:stretch>
          </a:blipFill>
        </p:spPr>
      </p:sp>
      <p:sp>
        <p:nvSpPr>
          <p:cNvPr name="TextBox 126" id="124"/>
          <p:cNvSpPr txBox="true"/>
          <p:nvPr/>
        </p:nvSpPr>
        <p:spPr>
          <a:xfrm rot="0">
            <a:off x="9709004" y="7944250"/>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$4,013</a:t>
            </a:r>
          </a:p>
        </p:txBody>
      </p:sp>
      <p:sp>
        <p:nvSpPr>
          <p:cNvPr name="TextBox 127" id="125"/>
          <p:cNvSpPr txBox="true"/>
          <p:nvPr/>
        </p:nvSpPr>
        <p:spPr>
          <a:xfrm rot="0">
            <a:off x="9909000"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May</a:t>
            </a:r>
          </a:p>
        </p:txBody>
      </p:sp>
      <p:sp>
        <p:nvSpPr>
          <p:cNvPr name="Freeform 128" id="126"/>
          <p:cNvSpPr/>
          <p:nvPr/>
        </p:nvSpPr>
        <p:spPr>
          <a:xfrm flipH="false" flipV="false" rot="0">
            <a:off x="11784749" y="8165611"/>
            <a:ext cx="188519" cy="188519"/>
          </a:xfrm>
          <a:custGeom>
            <a:avLst/>
            <a:gdLst/>
            <a:ahLst/>
            <a:cxnLst/>
            <a:rect r="r" b="b" t="t" l="l"/>
            <a:pathLst>
              <a:path h="188519" w="188519">
                <a:moveTo>
                  <a:pt x="0" y="0"/>
                </a:moveTo>
                <a:lnTo>
                  <a:pt x="188519" y="0"/>
                </a:lnTo>
                <a:lnTo>
                  <a:pt x="188519" y="188519"/>
                </a:lnTo>
                <a:lnTo>
                  <a:pt x="0" y="188519"/>
                </a:lnTo>
                <a:lnTo>
                  <a:pt x="0" y="0"/>
                </a:lnTo>
                <a:close/>
              </a:path>
            </a:pathLst>
          </a:custGeom>
          <a:blipFill>
            <a:blip r:embed="rId16"/>
            <a:stretch>
              <a:fillRect l="0" t="0" r="0" b="0"/>
            </a:stretch>
          </a:blipFill>
        </p:spPr>
      </p:sp>
      <p:sp>
        <p:nvSpPr>
          <p:cNvPr name="TextBox 129" id="127"/>
          <p:cNvSpPr txBox="true"/>
          <p:nvPr/>
        </p:nvSpPr>
        <p:spPr>
          <a:xfrm rot="0">
            <a:off x="11178997" y="7899854"/>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$7,907</a:t>
            </a:r>
          </a:p>
        </p:txBody>
      </p:sp>
      <p:grpSp>
        <p:nvGrpSpPr>
          <p:cNvPr name="Group 130" id="128"/>
          <p:cNvGrpSpPr/>
          <p:nvPr/>
        </p:nvGrpSpPr>
        <p:grpSpPr>
          <a:xfrm rot="0">
            <a:off x="11498999" y="7579862"/>
            <a:ext cx="760000" cy="250031"/>
            <a:chOff x="0" y="0"/>
            <a:chExt cx="1013333" cy="333375"/>
          </a:xfrm>
        </p:grpSpPr>
        <p:sp>
          <p:nvSpPr>
            <p:cNvPr name="Freeform 131" id="129"/>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132" id="130"/>
          <p:cNvGrpSpPr/>
          <p:nvPr/>
        </p:nvGrpSpPr>
        <p:grpSpPr>
          <a:xfrm rot="0">
            <a:off x="11498999" y="7565574"/>
            <a:ext cx="760000" cy="264290"/>
            <a:chOff x="0" y="0"/>
            <a:chExt cx="1013333" cy="352387"/>
          </a:xfrm>
        </p:grpSpPr>
        <p:sp>
          <p:nvSpPr>
            <p:cNvPr name="Freeform 133" id="131"/>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134" id="132"/>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97%</a:t>
              </a:r>
            </a:p>
          </p:txBody>
        </p:sp>
      </p:grpSp>
      <p:sp>
        <p:nvSpPr>
          <p:cNvPr name="TextBox 135" id="133"/>
          <p:cNvSpPr txBox="true"/>
          <p:nvPr/>
        </p:nvSpPr>
        <p:spPr>
          <a:xfrm rot="0">
            <a:off x="11379003"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Jun</a:t>
            </a:r>
          </a:p>
        </p:txBody>
      </p:sp>
      <p:sp>
        <p:nvSpPr>
          <p:cNvPr name="Freeform 136" id="134"/>
          <p:cNvSpPr/>
          <p:nvPr/>
        </p:nvSpPr>
        <p:spPr>
          <a:xfrm flipH="false" flipV="false" rot="0">
            <a:off x="13254752" y="8157400"/>
            <a:ext cx="188519" cy="188519"/>
          </a:xfrm>
          <a:custGeom>
            <a:avLst/>
            <a:gdLst/>
            <a:ahLst/>
            <a:cxnLst/>
            <a:rect r="r" b="b" t="t" l="l"/>
            <a:pathLst>
              <a:path h="188519" w="188519">
                <a:moveTo>
                  <a:pt x="0" y="0"/>
                </a:moveTo>
                <a:lnTo>
                  <a:pt x="188519" y="0"/>
                </a:lnTo>
                <a:lnTo>
                  <a:pt x="188519" y="188519"/>
                </a:lnTo>
                <a:lnTo>
                  <a:pt x="0" y="188519"/>
                </a:lnTo>
                <a:lnTo>
                  <a:pt x="0" y="0"/>
                </a:lnTo>
                <a:close/>
              </a:path>
            </a:pathLst>
          </a:custGeom>
          <a:blipFill>
            <a:blip r:embed="rId16"/>
            <a:stretch>
              <a:fillRect l="0" t="0" r="0" b="0"/>
            </a:stretch>
          </a:blipFill>
        </p:spPr>
      </p:sp>
      <p:sp>
        <p:nvSpPr>
          <p:cNvPr name="TextBox 137" id="135"/>
          <p:cNvSpPr txBox="true"/>
          <p:nvPr/>
        </p:nvSpPr>
        <p:spPr>
          <a:xfrm rot="0">
            <a:off x="12649000" y="7891653"/>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$8,627</a:t>
            </a:r>
          </a:p>
        </p:txBody>
      </p:sp>
      <p:grpSp>
        <p:nvGrpSpPr>
          <p:cNvPr name="Group 138" id="136"/>
          <p:cNvGrpSpPr/>
          <p:nvPr/>
        </p:nvGrpSpPr>
        <p:grpSpPr>
          <a:xfrm rot="0">
            <a:off x="12969002" y="7571651"/>
            <a:ext cx="760000" cy="250031"/>
            <a:chOff x="0" y="0"/>
            <a:chExt cx="1013333" cy="333375"/>
          </a:xfrm>
        </p:grpSpPr>
        <p:sp>
          <p:nvSpPr>
            <p:cNvPr name="Freeform 139" id="137"/>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140" id="138"/>
          <p:cNvGrpSpPr/>
          <p:nvPr/>
        </p:nvGrpSpPr>
        <p:grpSpPr>
          <a:xfrm rot="0">
            <a:off x="12969002" y="7557364"/>
            <a:ext cx="760000" cy="264290"/>
            <a:chOff x="0" y="0"/>
            <a:chExt cx="1013333" cy="352387"/>
          </a:xfrm>
        </p:grpSpPr>
        <p:sp>
          <p:nvSpPr>
            <p:cNvPr name="Freeform 141" id="139"/>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142" id="140"/>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9%</a:t>
              </a:r>
            </a:p>
          </p:txBody>
        </p:sp>
      </p:grpSp>
      <p:sp>
        <p:nvSpPr>
          <p:cNvPr name="TextBox 143" id="141"/>
          <p:cNvSpPr txBox="true"/>
          <p:nvPr/>
        </p:nvSpPr>
        <p:spPr>
          <a:xfrm rot="0">
            <a:off x="12848996"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Jul</a:t>
            </a:r>
          </a:p>
        </p:txBody>
      </p:sp>
      <p:sp>
        <p:nvSpPr>
          <p:cNvPr name="Freeform 144" id="142"/>
          <p:cNvSpPr/>
          <p:nvPr/>
        </p:nvSpPr>
        <p:spPr>
          <a:xfrm flipH="false" flipV="false" rot="0">
            <a:off x="14724755" y="8141713"/>
            <a:ext cx="188519" cy="188519"/>
          </a:xfrm>
          <a:custGeom>
            <a:avLst/>
            <a:gdLst/>
            <a:ahLst/>
            <a:cxnLst/>
            <a:rect r="r" b="b" t="t" l="l"/>
            <a:pathLst>
              <a:path h="188519" w="188519">
                <a:moveTo>
                  <a:pt x="0" y="0"/>
                </a:moveTo>
                <a:lnTo>
                  <a:pt x="188518" y="0"/>
                </a:lnTo>
                <a:lnTo>
                  <a:pt x="188518" y="188519"/>
                </a:lnTo>
                <a:lnTo>
                  <a:pt x="0" y="188519"/>
                </a:lnTo>
                <a:lnTo>
                  <a:pt x="0" y="0"/>
                </a:lnTo>
                <a:close/>
              </a:path>
            </a:pathLst>
          </a:custGeom>
          <a:blipFill>
            <a:blip r:embed="rId16"/>
            <a:stretch>
              <a:fillRect l="0" t="0" r="0" b="0"/>
            </a:stretch>
          </a:blipFill>
        </p:spPr>
      </p:sp>
      <p:sp>
        <p:nvSpPr>
          <p:cNvPr name="TextBox 145" id="143"/>
          <p:cNvSpPr txBox="true"/>
          <p:nvPr/>
        </p:nvSpPr>
        <p:spPr>
          <a:xfrm rot="0">
            <a:off x="14119003" y="7875956"/>
            <a:ext cx="1400004" cy="299999"/>
          </a:xfrm>
          <a:prstGeom prst="rect">
            <a:avLst/>
          </a:prstGeom>
        </p:spPr>
        <p:txBody>
          <a:bodyPr anchor="t" rtlCol="false" tIns="0" lIns="0" bIns="0" rIns="0">
            <a:spAutoFit/>
          </a:bodyPr>
          <a:lstStyle/>
          <a:p>
            <a:pPr algn="ctr">
              <a:lnSpc>
                <a:spcPts val="1836"/>
              </a:lnSpc>
            </a:pPr>
            <a:r>
              <a:rPr lang="en-US" sz="1530" b="true">
                <a:solidFill>
                  <a:srgbClr val="132257"/>
                </a:solidFill>
                <a:latin typeface="Exo 2 Bold"/>
                <a:ea typeface="Exo 2 Bold"/>
                <a:cs typeface="Exo 2 Bold"/>
                <a:sym typeface="Exo 2 Bold"/>
              </a:rPr>
              <a:t>$10,004</a:t>
            </a:r>
          </a:p>
        </p:txBody>
      </p:sp>
      <p:grpSp>
        <p:nvGrpSpPr>
          <p:cNvPr name="Group 146" id="144"/>
          <p:cNvGrpSpPr/>
          <p:nvPr/>
        </p:nvGrpSpPr>
        <p:grpSpPr>
          <a:xfrm rot="0">
            <a:off x="14439005" y="7555954"/>
            <a:ext cx="760000" cy="250031"/>
            <a:chOff x="0" y="0"/>
            <a:chExt cx="1013333" cy="333375"/>
          </a:xfrm>
        </p:grpSpPr>
        <p:sp>
          <p:nvSpPr>
            <p:cNvPr name="Freeform 147" id="145"/>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148" id="146"/>
          <p:cNvGrpSpPr/>
          <p:nvPr/>
        </p:nvGrpSpPr>
        <p:grpSpPr>
          <a:xfrm rot="0">
            <a:off x="14439005" y="7541666"/>
            <a:ext cx="760000" cy="264290"/>
            <a:chOff x="0" y="0"/>
            <a:chExt cx="1013333" cy="352387"/>
          </a:xfrm>
        </p:grpSpPr>
        <p:sp>
          <p:nvSpPr>
            <p:cNvPr name="Freeform 149" id="147"/>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150" id="148"/>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16%</a:t>
              </a:r>
            </a:p>
          </p:txBody>
        </p:sp>
      </p:grpSp>
      <p:sp>
        <p:nvSpPr>
          <p:cNvPr name="TextBox 151" id="149"/>
          <p:cNvSpPr txBox="true"/>
          <p:nvPr/>
        </p:nvSpPr>
        <p:spPr>
          <a:xfrm rot="0">
            <a:off x="14318999"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Aug</a:t>
            </a:r>
          </a:p>
        </p:txBody>
      </p:sp>
      <p:sp>
        <p:nvSpPr>
          <p:cNvPr name="Freeform 152" id="150"/>
          <p:cNvSpPr/>
          <p:nvPr/>
        </p:nvSpPr>
        <p:spPr>
          <a:xfrm flipH="false" flipV="false" rot="0">
            <a:off x="16194748" y="8128121"/>
            <a:ext cx="188519" cy="188519"/>
          </a:xfrm>
          <a:custGeom>
            <a:avLst/>
            <a:gdLst/>
            <a:ahLst/>
            <a:cxnLst/>
            <a:rect r="r" b="b" t="t" l="l"/>
            <a:pathLst>
              <a:path h="188519" w="188519">
                <a:moveTo>
                  <a:pt x="0" y="0"/>
                </a:moveTo>
                <a:lnTo>
                  <a:pt x="188519" y="0"/>
                </a:lnTo>
                <a:lnTo>
                  <a:pt x="188519" y="188518"/>
                </a:lnTo>
                <a:lnTo>
                  <a:pt x="0" y="188518"/>
                </a:lnTo>
                <a:lnTo>
                  <a:pt x="0" y="0"/>
                </a:lnTo>
                <a:close/>
              </a:path>
            </a:pathLst>
          </a:custGeom>
          <a:blipFill>
            <a:blip r:embed="rId16"/>
            <a:stretch>
              <a:fillRect l="0" t="0" r="0" b="0"/>
            </a:stretch>
          </a:blipFill>
        </p:spPr>
      </p:sp>
      <p:sp>
        <p:nvSpPr>
          <p:cNvPr name="TextBox 153" id="151"/>
          <p:cNvSpPr txBox="true"/>
          <p:nvPr/>
        </p:nvSpPr>
        <p:spPr>
          <a:xfrm rot="0">
            <a:off x="15588996" y="7862364"/>
            <a:ext cx="1400004" cy="299999"/>
          </a:xfrm>
          <a:prstGeom prst="rect">
            <a:avLst/>
          </a:prstGeom>
        </p:spPr>
        <p:txBody>
          <a:bodyPr anchor="t" rtlCol="false" tIns="0" lIns="0" bIns="0" rIns="0">
            <a:spAutoFit/>
          </a:bodyPr>
          <a:lstStyle/>
          <a:p>
            <a:pPr algn="ctr">
              <a:lnSpc>
                <a:spcPts val="1836"/>
              </a:lnSpc>
            </a:pPr>
            <a:r>
              <a:rPr lang="en-US" sz="1530" b="true">
                <a:solidFill>
                  <a:srgbClr val="1BA97C"/>
                </a:solidFill>
                <a:latin typeface="Exo 2 Bold"/>
                <a:ea typeface="Exo 2 Bold"/>
                <a:cs typeface="Exo 2 Bold"/>
                <a:sym typeface="Exo 2 Bold"/>
              </a:rPr>
              <a:t>$12,206</a:t>
            </a:r>
          </a:p>
        </p:txBody>
      </p:sp>
      <p:grpSp>
        <p:nvGrpSpPr>
          <p:cNvPr name="Group 154" id="152"/>
          <p:cNvGrpSpPr/>
          <p:nvPr/>
        </p:nvGrpSpPr>
        <p:grpSpPr>
          <a:xfrm rot="0">
            <a:off x="15908998" y="7542362"/>
            <a:ext cx="760000" cy="250031"/>
            <a:chOff x="0" y="0"/>
            <a:chExt cx="1013333" cy="333375"/>
          </a:xfrm>
        </p:grpSpPr>
        <p:sp>
          <p:nvSpPr>
            <p:cNvPr name="Freeform 155" id="153"/>
            <p:cNvSpPr/>
            <p:nvPr/>
          </p:nvSpPr>
          <p:spPr>
            <a:xfrm flipH="false" flipV="false" rot="0">
              <a:off x="0" y="0"/>
              <a:ext cx="1013333" cy="333375"/>
            </a:xfrm>
            <a:custGeom>
              <a:avLst/>
              <a:gdLst/>
              <a:ahLst/>
              <a:cxnLst/>
              <a:rect r="r" b="b" t="t" l="l"/>
              <a:pathLst>
                <a:path h="333375" w="1013333">
                  <a:moveTo>
                    <a:pt x="0" y="166624"/>
                  </a:moveTo>
                  <a:cubicBezTo>
                    <a:pt x="0" y="74676"/>
                    <a:pt x="74676" y="0"/>
                    <a:pt x="166624" y="0"/>
                  </a:cubicBezTo>
                  <a:lnTo>
                    <a:pt x="846709" y="0"/>
                  </a:lnTo>
                  <a:cubicBezTo>
                    <a:pt x="938784" y="0"/>
                    <a:pt x="1013333" y="74676"/>
                    <a:pt x="1013333" y="166624"/>
                  </a:cubicBezTo>
                  <a:cubicBezTo>
                    <a:pt x="1013333" y="258572"/>
                    <a:pt x="938657" y="333375"/>
                    <a:pt x="846709" y="333375"/>
                  </a:cubicBezTo>
                  <a:lnTo>
                    <a:pt x="166624" y="333375"/>
                  </a:lnTo>
                  <a:cubicBezTo>
                    <a:pt x="74676" y="333375"/>
                    <a:pt x="0" y="258699"/>
                    <a:pt x="0" y="166624"/>
                  </a:cubicBezTo>
                  <a:close/>
                </a:path>
              </a:pathLst>
            </a:custGeom>
            <a:solidFill>
              <a:srgbClr val="E3F4EC"/>
            </a:solidFill>
          </p:spPr>
        </p:sp>
      </p:grpSp>
      <p:grpSp>
        <p:nvGrpSpPr>
          <p:cNvPr name="Group 156" id="154"/>
          <p:cNvGrpSpPr/>
          <p:nvPr/>
        </p:nvGrpSpPr>
        <p:grpSpPr>
          <a:xfrm rot="0">
            <a:off x="15908998" y="7528074"/>
            <a:ext cx="760000" cy="264290"/>
            <a:chOff x="0" y="0"/>
            <a:chExt cx="1013333" cy="352387"/>
          </a:xfrm>
        </p:grpSpPr>
        <p:sp>
          <p:nvSpPr>
            <p:cNvPr name="Freeform 157" id="155"/>
            <p:cNvSpPr/>
            <p:nvPr/>
          </p:nvSpPr>
          <p:spPr>
            <a:xfrm flipH="false" flipV="false" rot="0">
              <a:off x="0" y="0"/>
              <a:ext cx="1013333" cy="352387"/>
            </a:xfrm>
            <a:custGeom>
              <a:avLst/>
              <a:gdLst/>
              <a:ahLst/>
              <a:cxnLst/>
              <a:rect r="r" b="b" t="t" l="l"/>
              <a:pathLst>
                <a:path h="352387" w="1013333">
                  <a:moveTo>
                    <a:pt x="0" y="0"/>
                  </a:moveTo>
                  <a:lnTo>
                    <a:pt x="1013333" y="0"/>
                  </a:lnTo>
                  <a:lnTo>
                    <a:pt x="1013333" y="352387"/>
                  </a:lnTo>
                  <a:lnTo>
                    <a:pt x="0" y="352387"/>
                  </a:lnTo>
                  <a:close/>
                </a:path>
              </a:pathLst>
            </a:custGeom>
            <a:blipFill>
              <a:blip r:embed="rId3">
                <a:alphaModFix amt="0"/>
              </a:blip>
              <a:stretch>
                <a:fillRect l="0" t="-6031" r="0" b="-6031"/>
              </a:stretch>
            </a:blipFill>
          </p:spPr>
        </p:sp>
        <p:sp>
          <p:nvSpPr>
            <p:cNvPr name="TextBox 158" id="156"/>
            <p:cNvSpPr txBox="true"/>
            <p:nvPr/>
          </p:nvSpPr>
          <p:spPr>
            <a:xfrm>
              <a:off x="0" y="-19050"/>
              <a:ext cx="1013333" cy="371437"/>
            </a:xfrm>
            <a:prstGeom prst="rect">
              <a:avLst/>
            </a:prstGeom>
          </p:spPr>
          <p:txBody>
            <a:bodyPr anchor="ctr" rtlCol="false" tIns="0" lIns="0" bIns="0" rIns="0"/>
            <a:lstStyle/>
            <a:p>
              <a:pPr algn="ctr">
                <a:lnSpc>
                  <a:spcPts val="1439"/>
                </a:lnSpc>
              </a:pPr>
              <a:r>
                <a:rPr lang="en-US" sz="1200" b="true">
                  <a:solidFill>
                    <a:srgbClr val="1BA97C"/>
                  </a:solidFill>
                  <a:latin typeface="Calibri (MS) Bold"/>
                  <a:ea typeface="Calibri (MS) Bold"/>
                  <a:cs typeface="Calibri (MS) Bold"/>
                  <a:sym typeface="Calibri (MS) Bold"/>
                </a:rPr>
                <a:t>▲ 22%</a:t>
              </a:r>
            </a:p>
          </p:txBody>
        </p:sp>
      </p:grpSp>
      <p:sp>
        <p:nvSpPr>
          <p:cNvPr name="TextBox 159" id="157"/>
          <p:cNvSpPr txBox="true"/>
          <p:nvPr/>
        </p:nvSpPr>
        <p:spPr>
          <a:xfrm rot="0">
            <a:off x="15789002" y="8460953"/>
            <a:ext cx="1000001" cy="299047"/>
          </a:xfrm>
          <a:prstGeom prst="rect">
            <a:avLst/>
          </a:prstGeom>
        </p:spPr>
        <p:txBody>
          <a:bodyPr anchor="t" rtlCol="false" tIns="0" lIns="0" bIns="0" rIns="0">
            <a:spAutoFit/>
          </a:bodyPr>
          <a:lstStyle/>
          <a:p>
            <a:pPr algn="ctr">
              <a:lnSpc>
                <a:spcPts val="1666"/>
              </a:lnSpc>
            </a:pPr>
            <a:r>
              <a:rPr lang="en-US" sz="1389" b="true">
                <a:solidFill>
                  <a:srgbClr val="132257"/>
                </a:solidFill>
                <a:latin typeface="Exo 2 Bold"/>
                <a:ea typeface="Exo 2 Bold"/>
                <a:cs typeface="Exo 2 Bold"/>
                <a:sym typeface="Exo 2 Bold"/>
              </a:rPr>
              <a:t>Sep</a:t>
            </a:r>
          </a:p>
        </p:txBody>
      </p:sp>
      <p:sp>
        <p:nvSpPr>
          <p:cNvPr name="TextBox 160" id="158"/>
          <p:cNvSpPr txBox="true"/>
          <p:nvPr/>
        </p:nvSpPr>
        <p:spPr>
          <a:xfrm rot="0">
            <a:off x="9674000" y="8781898"/>
            <a:ext cx="7350004" cy="298104"/>
          </a:xfrm>
          <a:prstGeom prst="rect">
            <a:avLst/>
          </a:prstGeom>
        </p:spPr>
        <p:txBody>
          <a:bodyPr anchor="t" rtlCol="false" tIns="0" lIns="0" bIns="0" rIns="0">
            <a:spAutoFit/>
          </a:bodyPr>
          <a:lstStyle/>
          <a:p>
            <a:pPr algn="l">
              <a:lnSpc>
                <a:spcPts val="1439"/>
              </a:lnSpc>
            </a:pPr>
            <a:r>
              <a:rPr lang="en-US" sz="1200" b="true">
                <a:solidFill>
                  <a:srgbClr val="1BA97C"/>
                </a:solidFill>
                <a:latin typeface="Calibri (MS) Bold"/>
                <a:ea typeface="Calibri (MS) Bold"/>
                <a:cs typeface="Calibri (MS) Bold"/>
                <a:sym typeface="Calibri (MS) Bold"/>
              </a:rPr>
              <a:t>▲ Month on month growth</a:t>
            </a:r>
          </a:p>
        </p:txBody>
      </p:sp>
      <p:grpSp>
        <p:nvGrpSpPr>
          <p:cNvPr name="Group 6" id="159"/>
          <p:cNvGrpSpPr/>
          <p:nvPr/>
        </p:nvGrpSpPr>
        <p:grpSpPr>
          <a:xfrm rot="0">
            <a:off x="850392" y="297596"/>
            <a:ext cx="13990320" cy="1124712"/>
            <a:chOff x="0" y="0"/>
            <a:chExt cx="18653760" cy="1499616"/>
          </a:xfrm>
        </p:grpSpPr>
        <p:sp>
          <p:nvSpPr>
            <p:cNvPr name="Freeform 7" id="160"/>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3">
                <a:alphaModFix amt="0"/>
              </a:blip>
              <a:stretch>
                <a:fillRect l="0" t="-192374" r="0" b="-192374"/>
              </a:stretch>
            </a:blipFill>
          </p:spPr>
        </p:sp>
        <p:sp>
          <p:nvSpPr>
            <p:cNvPr name="TextBox 8" id="161"/>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Key Performance Indicators &amp; Volume Projections</a:t>
              </a:r>
            </a:p>
          </p:txBody>
        </p:sp>
      </p:grpSp>
      <p:grpSp>
        <p:nvGrpSpPr>
          <p:cNvPr name="Group 9" id="162"/>
          <p:cNvGrpSpPr/>
          <p:nvPr/>
        </p:nvGrpSpPr>
        <p:grpSpPr>
          <a:xfrm rot="0">
            <a:off x="15457932" y="571916"/>
            <a:ext cx="1988820" cy="576072"/>
            <a:chOff x="0" y="0"/>
            <a:chExt cx="2651760" cy="768096"/>
          </a:xfrm>
        </p:grpSpPr>
        <p:sp>
          <p:nvSpPr>
            <p:cNvPr name="Freeform 10" id="163"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13"/>
              <a:stretch>
                <a:fillRect l="0" t="-26" r="0" b="-26"/>
              </a:stretch>
            </a:blipFill>
          </p:spPr>
        </p:sp>
      </p:grpSp>
      <p:sp>
        <p:nvSpPr>
          <p:cNvPr name="TextBox 13" id="164"/>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PERFORMANCE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10"/>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Freeform 5" id="7"/>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2"/>
            <a:stretch>
              <a:fillRect l="0" t="0" r="0" b="0"/>
            </a:stretch>
          </a:blipFill>
        </p:spPr>
      </p:sp>
      <p:grpSp>
        <p:nvGrpSpPr>
          <p:cNvPr name="Group 10" id="8"/>
          <p:cNvGrpSpPr/>
          <p:nvPr/>
        </p:nvGrpSpPr>
        <p:grpSpPr>
          <a:xfrm rot="0">
            <a:off x="850001" y="2300002"/>
            <a:ext cx="16587978" cy="469964"/>
            <a:chOff x="0" y="0"/>
            <a:chExt cx="22117304" cy="626618"/>
          </a:xfrm>
        </p:grpSpPr>
        <p:sp>
          <p:nvSpPr>
            <p:cNvPr name="Freeform 11" id="9"/>
            <p:cNvSpPr/>
            <p:nvPr/>
          </p:nvSpPr>
          <p:spPr>
            <a:xfrm flipH="false" flipV="false" rot="0">
              <a:off x="0" y="0"/>
              <a:ext cx="22117304" cy="626618"/>
            </a:xfrm>
            <a:custGeom>
              <a:avLst/>
              <a:gdLst/>
              <a:ahLst/>
              <a:cxnLst/>
              <a:rect r="r" b="b" t="t" l="l"/>
              <a:pathLst>
                <a:path h="626618" w="22117304">
                  <a:moveTo>
                    <a:pt x="0" y="0"/>
                  </a:moveTo>
                  <a:lnTo>
                    <a:pt x="22117304" y="0"/>
                  </a:lnTo>
                  <a:lnTo>
                    <a:pt x="22117304" y="626618"/>
                  </a:lnTo>
                  <a:lnTo>
                    <a:pt x="0" y="626618"/>
                  </a:lnTo>
                  <a:close/>
                </a:path>
              </a:pathLst>
            </a:custGeom>
            <a:blipFill>
              <a:blip r:embed="rId13"/>
              <a:stretch>
                <a:fillRect/>
              </a:stretch>
            </a:blipFill>
          </p:spPr>
        </p:sp>
      </p:grpSp>
      <p:grpSp>
        <p:nvGrpSpPr>
          <p:cNvPr name="Group 12" id="10"/>
          <p:cNvGrpSpPr/>
          <p:nvPr/>
        </p:nvGrpSpPr>
        <p:grpSpPr>
          <a:xfrm rot="0">
            <a:off x="1070000" y="2271427"/>
            <a:ext cx="2699956" cy="469964"/>
            <a:chOff x="0" y="0"/>
            <a:chExt cx="3599942" cy="626618"/>
          </a:xfrm>
        </p:grpSpPr>
        <p:sp>
          <p:nvSpPr>
            <p:cNvPr name="Freeform 13" id="11"/>
            <p:cNvSpPr/>
            <p:nvPr/>
          </p:nvSpPr>
          <p:spPr>
            <a:xfrm flipH="false" flipV="false" rot="0">
              <a:off x="0" y="0"/>
              <a:ext cx="3599942" cy="626618"/>
            </a:xfrm>
            <a:custGeom>
              <a:avLst/>
              <a:gdLst/>
              <a:ahLst/>
              <a:cxnLst/>
              <a:rect r="r" b="b" t="t" l="l"/>
              <a:pathLst>
                <a:path h="626618" w="3599942">
                  <a:moveTo>
                    <a:pt x="0" y="0"/>
                  </a:moveTo>
                  <a:lnTo>
                    <a:pt x="3599942" y="0"/>
                  </a:lnTo>
                  <a:lnTo>
                    <a:pt x="3599942" y="626618"/>
                  </a:lnTo>
                  <a:lnTo>
                    <a:pt x="0" y="626618"/>
                  </a:lnTo>
                  <a:close/>
                </a:path>
              </a:pathLst>
            </a:custGeom>
            <a:blipFill>
              <a:blip r:embed="rId7">
                <a:alphaModFix amt="0"/>
              </a:blip>
              <a:stretch>
                <a:fillRect l="0" t="-61864" r="0" b="-61864"/>
              </a:stretch>
            </a:blipFill>
          </p:spPr>
        </p:sp>
      </p:grpSp>
      <p:grpSp>
        <p:nvGrpSpPr>
          <p:cNvPr name="Group 14" id="12"/>
          <p:cNvGrpSpPr/>
          <p:nvPr/>
        </p:nvGrpSpPr>
        <p:grpSpPr>
          <a:xfrm rot="0">
            <a:off x="1070000" y="2264283"/>
            <a:ext cx="2699956" cy="477107"/>
            <a:chOff x="0" y="0"/>
            <a:chExt cx="3599942" cy="636143"/>
          </a:xfrm>
        </p:grpSpPr>
        <p:sp>
          <p:nvSpPr>
            <p:cNvPr name="Freeform 15" id="13"/>
            <p:cNvSpPr/>
            <p:nvPr/>
          </p:nvSpPr>
          <p:spPr>
            <a:xfrm flipH="false" flipV="false" rot="0">
              <a:off x="0" y="0"/>
              <a:ext cx="3599942" cy="636143"/>
            </a:xfrm>
            <a:custGeom>
              <a:avLst/>
              <a:gdLst/>
              <a:ahLst/>
              <a:cxnLst/>
              <a:rect r="r" b="b" t="t" l="l"/>
              <a:pathLst>
                <a:path h="636143" w="3599942">
                  <a:moveTo>
                    <a:pt x="0" y="0"/>
                  </a:moveTo>
                  <a:lnTo>
                    <a:pt x="3599942" y="0"/>
                  </a:lnTo>
                  <a:lnTo>
                    <a:pt x="3599942" y="636143"/>
                  </a:lnTo>
                  <a:lnTo>
                    <a:pt x="0" y="636143"/>
                  </a:lnTo>
                  <a:close/>
                </a:path>
              </a:pathLst>
            </a:custGeom>
            <a:blipFill>
              <a:blip r:embed="rId8">
                <a:alphaModFix amt="0"/>
              </a:blip>
              <a:stretch>
                <a:fillRect l="0" t="-60189" r="0" b="-60189"/>
              </a:stretch>
            </a:blipFill>
          </p:spPr>
        </p:sp>
      </p:grpSp>
      <p:grpSp>
        <p:nvGrpSpPr>
          <p:cNvPr name="Group 16" id="14"/>
          <p:cNvGrpSpPr/>
          <p:nvPr/>
        </p:nvGrpSpPr>
        <p:grpSpPr>
          <a:xfrm rot="0">
            <a:off x="1070000" y="2257139"/>
            <a:ext cx="2700004" cy="484289"/>
            <a:chOff x="0" y="0"/>
            <a:chExt cx="3600005" cy="645719"/>
          </a:xfrm>
        </p:grpSpPr>
        <p:sp>
          <p:nvSpPr>
            <p:cNvPr name="Freeform 17" id="15"/>
            <p:cNvSpPr/>
            <p:nvPr/>
          </p:nvSpPr>
          <p:spPr>
            <a:xfrm flipH="false" flipV="false" rot="0">
              <a:off x="0" y="0"/>
              <a:ext cx="3599942" cy="645668"/>
            </a:xfrm>
            <a:custGeom>
              <a:avLst/>
              <a:gdLst/>
              <a:ahLst/>
              <a:cxnLst/>
              <a:rect r="r" b="b" t="t" l="l"/>
              <a:pathLst>
                <a:path h="645668" w="3599942">
                  <a:moveTo>
                    <a:pt x="0" y="0"/>
                  </a:moveTo>
                  <a:lnTo>
                    <a:pt x="3599942" y="0"/>
                  </a:lnTo>
                  <a:lnTo>
                    <a:pt x="3599942" y="645668"/>
                  </a:lnTo>
                  <a:lnTo>
                    <a:pt x="0" y="645668"/>
                  </a:lnTo>
                  <a:close/>
                </a:path>
              </a:pathLst>
            </a:custGeom>
            <a:blipFill>
              <a:blip r:embed="rId9">
                <a:alphaModFix amt="0"/>
              </a:blip>
              <a:stretch>
                <a:fillRect l="0" t="-58562" r="-1" b="-58570"/>
              </a:stretch>
            </a:blipFill>
          </p:spPr>
        </p:sp>
      </p:grpSp>
      <p:grpSp>
        <p:nvGrpSpPr>
          <p:cNvPr name="Group 18" id="16"/>
          <p:cNvGrpSpPr/>
          <p:nvPr/>
        </p:nvGrpSpPr>
        <p:grpSpPr>
          <a:xfrm rot="0">
            <a:off x="1070000" y="2249996"/>
            <a:ext cx="2700004" cy="491433"/>
            <a:chOff x="0" y="0"/>
            <a:chExt cx="3600005" cy="655244"/>
          </a:xfrm>
        </p:grpSpPr>
        <p:sp>
          <p:nvSpPr>
            <p:cNvPr name="Freeform 19" id="17"/>
            <p:cNvSpPr/>
            <p:nvPr/>
          </p:nvSpPr>
          <p:spPr>
            <a:xfrm flipH="false" flipV="false" rot="0">
              <a:off x="0" y="0"/>
              <a:ext cx="3600005" cy="655244"/>
            </a:xfrm>
            <a:custGeom>
              <a:avLst/>
              <a:gdLst/>
              <a:ahLst/>
              <a:cxnLst/>
              <a:rect r="r" b="b" t="t" l="l"/>
              <a:pathLst>
                <a:path h="655244" w="3600005">
                  <a:moveTo>
                    <a:pt x="0" y="0"/>
                  </a:moveTo>
                  <a:lnTo>
                    <a:pt x="3600005" y="0"/>
                  </a:lnTo>
                  <a:lnTo>
                    <a:pt x="3600005" y="655244"/>
                  </a:lnTo>
                  <a:lnTo>
                    <a:pt x="0" y="655244"/>
                  </a:lnTo>
                  <a:close/>
                </a:path>
              </a:pathLst>
            </a:custGeom>
            <a:blipFill>
              <a:blip r:embed="rId3">
                <a:alphaModFix amt="0"/>
              </a:blip>
              <a:stretch>
                <a:fillRect l="0" t="-57053" r="0" b="-57053"/>
              </a:stretch>
            </a:blipFill>
          </p:spPr>
        </p:sp>
        <p:sp>
          <p:nvSpPr>
            <p:cNvPr name="TextBox 20" id="18"/>
            <p:cNvSpPr txBox="true"/>
            <p:nvPr/>
          </p:nvSpPr>
          <p:spPr>
            <a:xfrm>
              <a:off x="0" y="-9525"/>
              <a:ext cx="3600005" cy="664769"/>
            </a:xfrm>
            <a:prstGeom prst="rect">
              <a:avLst/>
            </a:prstGeom>
          </p:spPr>
          <p:txBody>
            <a:bodyPr anchor="ctr" rtlCol="false" tIns="0" lIns="0" bIns="0" rIns="0"/>
            <a:lstStyle/>
            <a:p>
              <a:pPr algn="l">
                <a:lnSpc>
                  <a:spcPts val="1907"/>
                </a:lnSpc>
              </a:pPr>
              <a:r>
                <a:rPr lang="en-US" sz="1589" b="true">
                  <a:solidFill>
                    <a:srgbClr val="FFFFFF"/>
                  </a:solidFill>
                  <a:latin typeface="Exo 2 Bold"/>
                  <a:ea typeface="Exo 2 Bold"/>
                  <a:cs typeface="Exo 2 Bold"/>
                  <a:sym typeface="Exo 2 Bold"/>
                </a:rPr>
                <a:t>KPI &amp; Performance Detail</a:t>
              </a:r>
            </a:p>
          </p:txBody>
        </p:sp>
      </p:grpSp>
      <p:grpSp>
        <p:nvGrpSpPr>
          <p:cNvPr name="Group 21" id="19"/>
          <p:cNvGrpSpPr/>
          <p:nvPr/>
        </p:nvGrpSpPr>
        <p:grpSpPr>
          <a:xfrm rot="0">
            <a:off x="3850005" y="2271427"/>
            <a:ext cx="1698498" cy="469964"/>
            <a:chOff x="0" y="0"/>
            <a:chExt cx="2264664" cy="626618"/>
          </a:xfrm>
        </p:grpSpPr>
        <p:sp>
          <p:nvSpPr>
            <p:cNvPr name="Freeform 22" id="20"/>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23" id="21"/>
          <p:cNvGrpSpPr/>
          <p:nvPr/>
        </p:nvGrpSpPr>
        <p:grpSpPr>
          <a:xfrm rot="0">
            <a:off x="3850005" y="2264283"/>
            <a:ext cx="1698498" cy="477107"/>
            <a:chOff x="0" y="0"/>
            <a:chExt cx="2264664" cy="636143"/>
          </a:xfrm>
        </p:grpSpPr>
        <p:sp>
          <p:nvSpPr>
            <p:cNvPr name="Freeform 24" id="22"/>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25" id="23"/>
          <p:cNvGrpSpPr/>
          <p:nvPr/>
        </p:nvGrpSpPr>
        <p:grpSpPr>
          <a:xfrm rot="0">
            <a:off x="3850005" y="2257139"/>
            <a:ext cx="1698498" cy="484289"/>
            <a:chOff x="0" y="0"/>
            <a:chExt cx="2264664" cy="645719"/>
          </a:xfrm>
        </p:grpSpPr>
        <p:sp>
          <p:nvSpPr>
            <p:cNvPr name="Freeform 26" id="24"/>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27" id="25"/>
          <p:cNvGrpSpPr/>
          <p:nvPr/>
        </p:nvGrpSpPr>
        <p:grpSpPr>
          <a:xfrm rot="0">
            <a:off x="3850005" y="2249996"/>
            <a:ext cx="1698498" cy="491433"/>
            <a:chOff x="0" y="0"/>
            <a:chExt cx="2264664" cy="655244"/>
          </a:xfrm>
        </p:grpSpPr>
        <p:sp>
          <p:nvSpPr>
            <p:cNvPr name="Freeform 28" id="26"/>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29" id="27"/>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May</a:t>
              </a:r>
            </a:p>
          </p:txBody>
        </p:sp>
      </p:grpSp>
      <p:grpSp>
        <p:nvGrpSpPr>
          <p:cNvPr name="Group 30" id="28"/>
          <p:cNvGrpSpPr/>
          <p:nvPr/>
        </p:nvGrpSpPr>
        <p:grpSpPr>
          <a:xfrm rot="0">
            <a:off x="5548503" y="2271427"/>
            <a:ext cx="1698498" cy="469964"/>
            <a:chOff x="0" y="0"/>
            <a:chExt cx="2264664" cy="626618"/>
          </a:xfrm>
        </p:grpSpPr>
        <p:sp>
          <p:nvSpPr>
            <p:cNvPr name="Freeform 31" id="29"/>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32" id="30"/>
          <p:cNvGrpSpPr/>
          <p:nvPr/>
        </p:nvGrpSpPr>
        <p:grpSpPr>
          <a:xfrm rot="0">
            <a:off x="5548503" y="2264283"/>
            <a:ext cx="1698498" cy="477107"/>
            <a:chOff x="0" y="0"/>
            <a:chExt cx="2264664" cy="636143"/>
          </a:xfrm>
        </p:grpSpPr>
        <p:sp>
          <p:nvSpPr>
            <p:cNvPr name="Freeform 33" id="31"/>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34" id="32"/>
          <p:cNvGrpSpPr/>
          <p:nvPr/>
        </p:nvGrpSpPr>
        <p:grpSpPr>
          <a:xfrm rot="0">
            <a:off x="5548503" y="2257139"/>
            <a:ext cx="1698498" cy="484289"/>
            <a:chOff x="0" y="0"/>
            <a:chExt cx="2264664" cy="645719"/>
          </a:xfrm>
        </p:grpSpPr>
        <p:sp>
          <p:nvSpPr>
            <p:cNvPr name="Freeform 35" id="33"/>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36" id="34"/>
          <p:cNvGrpSpPr/>
          <p:nvPr/>
        </p:nvGrpSpPr>
        <p:grpSpPr>
          <a:xfrm rot="0">
            <a:off x="5548503" y="2249996"/>
            <a:ext cx="1698498" cy="491433"/>
            <a:chOff x="0" y="0"/>
            <a:chExt cx="2264664" cy="655244"/>
          </a:xfrm>
        </p:grpSpPr>
        <p:sp>
          <p:nvSpPr>
            <p:cNvPr name="Freeform 37" id="35"/>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38" id="36"/>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June</a:t>
              </a:r>
            </a:p>
          </p:txBody>
        </p:sp>
      </p:grpSp>
      <p:grpSp>
        <p:nvGrpSpPr>
          <p:cNvPr name="Group 39" id="37"/>
          <p:cNvGrpSpPr/>
          <p:nvPr/>
        </p:nvGrpSpPr>
        <p:grpSpPr>
          <a:xfrm rot="0">
            <a:off x="7247001" y="2271427"/>
            <a:ext cx="1698498" cy="469964"/>
            <a:chOff x="0" y="0"/>
            <a:chExt cx="2264664" cy="626618"/>
          </a:xfrm>
        </p:grpSpPr>
        <p:sp>
          <p:nvSpPr>
            <p:cNvPr name="Freeform 40" id="38"/>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41" id="39"/>
          <p:cNvGrpSpPr/>
          <p:nvPr/>
        </p:nvGrpSpPr>
        <p:grpSpPr>
          <a:xfrm rot="0">
            <a:off x="7247001" y="2264283"/>
            <a:ext cx="1698498" cy="477107"/>
            <a:chOff x="0" y="0"/>
            <a:chExt cx="2264664" cy="636143"/>
          </a:xfrm>
        </p:grpSpPr>
        <p:sp>
          <p:nvSpPr>
            <p:cNvPr name="Freeform 42" id="40"/>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43" id="41"/>
          <p:cNvGrpSpPr/>
          <p:nvPr/>
        </p:nvGrpSpPr>
        <p:grpSpPr>
          <a:xfrm rot="0">
            <a:off x="7247001" y="2257139"/>
            <a:ext cx="1698498" cy="484289"/>
            <a:chOff x="0" y="0"/>
            <a:chExt cx="2264664" cy="645719"/>
          </a:xfrm>
        </p:grpSpPr>
        <p:sp>
          <p:nvSpPr>
            <p:cNvPr name="Freeform 44" id="42"/>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45" id="43"/>
          <p:cNvGrpSpPr/>
          <p:nvPr/>
        </p:nvGrpSpPr>
        <p:grpSpPr>
          <a:xfrm rot="0">
            <a:off x="7247001" y="2249996"/>
            <a:ext cx="1698498" cy="491433"/>
            <a:chOff x="0" y="0"/>
            <a:chExt cx="2264664" cy="655244"/>
          </a:xfrm>
        </p:grpSpPr>
        <p:sp>
          <p:nvSpPr>
            <p:cNvPr name="Freeform 46" id="44"/>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47" id="45"/>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July</a:t>
              </a:r>
            </a:p>
          </p:txBody>
        </p:sp>
      </p:grpSp>
      <p:grpSp>
        <p:nvGrpSpPr>
          <p:cNvPr name="Group 48" id="46"/>
          <p:cNvGrpSpPr/>
          <p:nvPr/>
        </p:nvGrpSpPr>
        <p:grpSpPr>
          <a:xfrm rot="0">
            <a:off x="8945499" y="2271427"/>
            <a:ext cx="1698498" cy="469964"/>
            <a:chOff x="0" y="0"/>
            <a:chExt cx="2264664" cy="626618"/>
          </a:xfrm>
        </p:grpSpPr>
        <p:sp>
          <p:nvSpPr>
            <p:cNvPr name="Freeform 49" id="47"/>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50" id="48"/>
          <p:cNvGrpSpPr/>
          <p:nvPr/>
        </p:nvGrpSpPr>
        <p:grpSpPr>
          <a:xfrm rot="0">
            <a:off x="8945499" y="2264283"/>
            <a:ext cx="1698498" cy="477107"/>
            <a:chOff x="0" y="0"/>
            <a:chExt cx="2264664" cy="636143"/>
          </a:xfrm>
        </p:grpSpPr>
        <p:sp>
          <p:nvSpPr>
            <p:cNvPr name="Freeform 51" id="49"/>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52" id="50"/>
          <p:cNvGrpSpPr/>
          <p:nvPr/>
        </p:nvGrpSpPr>
        <p:grpSpPr>
          <a:xfrm rot="0">
            <a:off x="8945499" y="2257139"/>
            <a:ext cx="1698498" cy="484289"/>
            <a:chOff x="0" y="0"/>
            <a:chExt cx="2264664" cy="645719"/>
          </a:xfrm>
        </p:grpSpPr>
        <p:sp>
          <p:nvSpPr>
            <p:cNvPr name="Freeform 53" id="51"/>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54" id="52"/>
          <p:cNvGrpSpPr/>
          <p:nvPr/>
        </p:nvGrpSpPr>
        <p:grpSpPr>
          <a:xfrm rot="0">
            <a:off x="8945499" y="2249996"/>
            <a:ext cx="1698498" cy="491433"/>
            <a:chOff x="0" y="0"/>
            <a:chExt cx="2264664" cy="655244"/>
          </a:xfrm>
        </p:grpSpPr>
        <p:sp>
          <p:nvSpPr>
            <p:cNvPr name="Freeform 55" id="53"/>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56" id="54"/>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August</a:t>
              </a:r>
            </a:p>
          </p:txBody>
        </p:sp>
      </p:grpSp>
      <p:grpSp>
        <p:nvGrpSpPr>
          <p:cNvPr name="Group 57" id="55"/>
          <p:cNvGrpSpPr/>
          <p:nvPr/>
        </p:nvGrpSpPr>
        <p:grpSpPr>
          <a:xfrm rot="0">
            <a:off x="10643997" y="2271427"/>
            <a:ext cx="1698498" cy="469964"/>
            <a:chOff x="0" y="0"/>
            <a:chExt cx="2264664" cy="626618"/>
          </a:xfrm>
        </p:grpSpPr>
        <p:sp>
          <p:nvSpPr>
            <p:cNvPr name="Freeform 58" id="56"/>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59" id="57"/>
          <p:cNvGrpSpPr/>
          <p:nvPr/>
        </p:nvGrpSpPr>
        <p:grpSpPr>
          <a:xfrm rot="0">
            <a:off x="10643997" y="2264283"/>
            <a:ext cx="1698498" cy="477107"/>
            <a:chOff x="0" y="0"/>
            <a:chExt cx="2264664" cy="636143"/>
          </a:xfrm>
        </p:grpSpPr>
        <p:sp>
          <p:nvSpPr>
            <p:cNvPr name="Freeform 60" id="58"/>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61" id="59"/>
          <p:cNvGrpSpPr/>
          <p:nvPr/>
        </p:nvGrpSpPr>
        <p:grpSpPr>
          <a:xfrm rot="0">
            <a:off x="10643997" y="2257139"/>
            <a:ext cx="1698498" cy="484289"/>
            <a:chOff x="0" y="0"/>
            <a:chExt cx="2264664" cy="645719"/>
          </a:xfrm>
        </p:grpSpPr>
        <p:sp>
          <p:nvSpPr>
            <p:cNvPr name="Freeform 62" id="60"/>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63" id="61"/>
          <p:cNvGrpSpPr/>
          <p:nvPr/>
        </p:nvGrpSpPr>
        <p:grpSpPr>
          <a:xfrm rot="0">
            <a:off x="10643997" y="2249996"/>
            <a:ext cx="1698498" cy="491433"/>
            <a:chOff x="0" y="0"/>
            <a:chExt cx="2264664" cy="655244"/>
          </a:xfrm>
        </p:grpSpPr>
        <p:sp>
          <p:nvSpPr>
            <p:cNvPr name="Freeform 64" id="62"/>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65" id="63"/>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D4AF37"/>
                  </a:solidFill>
                  <a:latin typeface="Exo 2 Bold"/>
                  <a:ea typeface="Exo 2 Bold"/>
                  <a:cs typeface="Exo 2 Bold"/>
                  <a:sym typeface="Exo 2 Bold"/>
                </a:rPr>
                <a:t>September</a:t>
              </a:r>
            </a:p>
          </p:txBody>
        </p:sp>
      </p:grpSp>
      <p:grpSp>
        <p:nvGrpSpPr>
          <p:cNvPr name="Group 66" id="64"/>
          <p:cNvGrpSpPr/>
          <p:nvPr/>
        </p:nvGrpSpPr>
        <p:grpSpPr>
          <a:xfrm rot="0">
            <a:off x="12342505" y="2271427"/>
            <a:ext cx="1698498" cy="469964"/>
            <a:chOff x="0" y="0"/>
            <a:chExt cx="2264664" cy="626618"/>
          </a:xfrm>
        </p:grpSpPr>
        <p:sp>
          <p:nvSpPr>
            <p:cNvPr name="Freeform 67" id="65"/>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68" id="66"/>
          <p:cNvGrpSpPr/>
          <p:nvPr/>
        </p:nvGrpSpPr>
        <p:grpSpPr>
          <a:xfrm rot="0">
            <a:off x="12342505" y="2264283"/>
            <a:ext cx="1698498" cy="477107"/>
            <a:chOff x="0" y="0"/>
            <a:chExt cx="2264664" cy="636143"/>
          </a:xfrm>
        </p:grpSpPr>
        <p:sp>
          <p:nvSpPr>
            <p:cNvPr name="Freeform 69" id="67"/>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70" id="68"/>
          <p:cNvGrpSpPr/>
          <p:nvPr/>
        </p:nvGrpSpPr>
        <p:grpSpPr>
          <a:xfrm rot="0">
            <a:off x="12342505" y="2257139"/>
            <a:ext cx="1698498" cy="484289"/>
            <a:chOff x="0" y="0"/>
            <a:chExt cx="2264664" cy="645719"/>
          </a:xfrm>
        </p:grpSpPr>
        <p:sp>
          <p:nvSpPr>
            <p:cNvPr name="Freeform 71" id="69"/>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72" id="70"/>
          <p:cNvGrpSpPr/>
          <p:nvPr/>
        </p:nvGrpSpPr>
        <p:grpSpPr>
          <a:xfrm rot="0">
            <a:off x="12342505" y="2249996"/>
            <a:ext cx="1698498" cy="491433"/>
            <a:chOff x="0" y="0"/>
            <a:chExt cx="2264664" cy="655244"/>
          </a:xfrm>
        </p:grpSpPr>
        <p:sp>
          <p:nvSpPr>
            <p:cNvPr name="Freeform 73" id="71"/>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74" id="72"/>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October</a:t>
              </a:r>
            </a:p>
          </p:txBody>
        </p:sp>
      </p:grpSp>
      <p:grpSp>
        <p:nvGrpSpPr>
          <p:cNvPr name="Group 75" id="73"/>
          <p:cNvGrpSpPr/>
          <p:nvPr/>
        </p:nvGrpSpPr>
        <p:grpSpPr>
          <a:xfrm rot="0">
            <a:off x="14041003" y="2271427"/>
            <a:ext cx="1698498" cy="469964"/>
            <a:chOff x="0" y="0"/>
            <a:chExt cx="2264664" cy="626618"/>
          </a:xfrm>
        </p:grpSpPr>
        <p:sp>
          <p:nvSpPr>
            <p:cNvPr name="Freeform 76" id="74"/>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77" id="75"/>
          <p:cNvGrpSpPr/>
          <p:nvPr/>
        </p:nvGrpSpPr>
        <p:grpSpPr>
          <a:xfrm rot="0">
            <a:off x="14041003" y="2264283"/>
            <a:ext cx="1698498" cy="477107"/>
            <a:chOff x="0" y="0"/>
            <a:chExt cx="2264664" cy="636143"/>
          </a:xfrm>
        </p:grpSpPr>
        <p:sp>
          <p:nvSpPr>
            <p:cNvPr name="Freeform 78" id="76"/>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79" id="77"/>
          <p:cNvGrpSpPr/>
          <p:nvPr/>
        </p:nvGrpSpPr>
        <p:grpSpPr>
          <a:xfrm rot="0">
            <a:off x="14041003" y="2257139"/>
            <a:ext cx="1698498" cy="484289"/>
            <a:chOff x="0" y="0"/>
            <a:chExt cx="2264664" cy="645719"/>
          </a:xfrm>
        </p:grpSpPr>
        <p:sp>
          <p:nvSpPr>
            <p:cNvPr name="Freeform 80" id="78"/>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81" id="79"/>
          <p:cNvGrpSpPr/>
          <p:nvPr/>
        </p:nvGrpSpPr>
        <p:grpSpPr>
          <a:xfrm rot="0">
            <a:off x="14041003" y="2249996"/>
            <a:ext cx="1698498" cy="491433"/>
            <a:chOff x="0" y="0"/>
            <a:chExt cx="2264664" cy="655244"/>
          </a:xfrm>
        </p:grpSpPr>
        <p:sp>
          <p:nvSpPr>
            <p:cNvPr name="Freeform 82" id="80"/>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83" id="81"/>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November</a:t>
              </a:r>
            </a:p>
          </p:txBody>
        </p:sp>
      </p:grpSp>
      <p:grpSp>
        <p:nvGrpSpPr>
          <p:cNvPr name="Group 84" id="82"/>
          <p:cNvGrpSpPr/>
          <p:nvPr/>
        </p:nvGrpSpPr>
        <p:grpSpPr>
          <a:xfrm rot="0">
            <a:off x="15739501" y="2271427"/>
            <a:ext cx="1698498" cy="469964"/>
            <a:chOff x="0" y="0"/>
            <a:chExt cx="2264664" cy="626618"/>
          </a:xfrm>
        </p:grpSpPr>
        <p:sp>
          <p:nvSpPr>
            <p:cNvPr name="Freeform 85" id="83"/>
            <p:cNvSpPr/>
            <p:nvPr/>
          </p:nvSpPr>
          <p:spPr>
            <a:xfrm flipH="false" flipV="false" rot="0">
              <a:off x="0" y="0"/>
              <a:ext cx="2264664" cy="626618"/>
            </a:xfrm>
            <a:custGeom>
              <a:avLst/>
              <a:gdLst/>
              <a:ahLst/>
              <a:cxnLst/>
              <a:rect r="r" b="b" t="t" l="l"/>
              <a:pathLst>
                <a:path h="626618" w="2264664">
                  <a:moveTo>
                    <a:pt x="0" y="0"/>
                  </a:moveTo>
                  <a:lnTo>
                    <a:pt x="2264664" y="0"/>
                  </a:lnTo>
                  <a:lnTo>
                    <a:pt x="2264664" y="626618"/>
                  </a:lnTo>
                  <a:lnTo>
                    <a:pt x="0" y="626618"/>
                  </a:lnTo>
                  <a:close/>
                </a:path>
              </a:pathLst>
            </a:custGeom>
            <a:blipFill>
              <a:blip r:embed="rId7">
                <a:alphaModFix amt="0"/>
              </a:blip>
              <a:stretch>
                <a:fillRect l="0" t="-20372" r="0" b="-20370"/>
              </a:stretch>
            </a:blipFill>
          </p:spPr>
        </p:sp>
      </p:grpSp>
      <p:grpSp>
        <p:nvGrpSpPr>
          <p:cNvPr name="Group 86" id="84"/>
          <p:cNvGrpSpPr/>
          <p:nvPr/>
        </p:nvGrpSpPr>
        <p:grpSpPr>
          <a:xfrm rot="0">
            <a:off x="15739501" y="2264283"/>
            <a:ext cx="1698498" cy="477107"/>
            <a:chOff x="0" y="0"/>
            <a:chExt cx="2264664" cy="636143"/>
          </a:xfrm>
        </p:grpSpPr>
        <p:sp>
          <p:nvSpPr>
            <p:cNvPr name="Freeform 87" id="85"/>
            <p:cNvSpPr/>
            <p:nvPr/>
          </p:nvSpPr>
          <p:spPr>
            <a:xfrm flipH="false" flipV="false" rot="0">
              <a:off x="0" y="0"/>
              <a:ext cx="2264664" cy="636143"/>
            </a:xfrm>
            <a:custGeom>
              <a:avLst/>
              <a:gdLst/>
              <a:ahLst/>
              <a:cxnLst/>
              <a:rect r="r" b="b" t="t" l="l"/>
              <a:pathLst>
                <a:path h="636143" w="2264664">
                  <a:moveTo>
                    <a:pt x="0" y="0"/>
                  </a:moveTo>
                  <a:lnTo>
                    <a:pt x="2264664" y="0"/>
                  </a:lnTo>
                  <a:lnTo>
                    <a:pt x="2264664" y="636143"/>
                  </a:lnTo>
                  <a:lnTo>
                    <a:pt x="0" y="636143"/>
                  </a:lnTo>
                  <a:close/>
                </a:path>
              </a:pathLst>
            </a:custGeom>
            <a:blipFill>
              <a:blip r:embed="rId8">
                <a:alphaModFix amt="0"/>
              </a:blip>
              <a:stretch>
                <a:fillRect l="0" t="-19319" r="0" b="-19317"/>
              </a:stretch>
            </a:blipFill>
          </p:spPr>
        </p:sp>
      </p:grpSp>
      <p:grpSp>
        <p:nvGrpSpPr>
          <p:cNvPr name="Group 88" id="86"/>
          <p:cNvGrpSpPr/>
          <p:nvPr/>
        </p:nvGrpSpPr>
        <p:grpSpPr>
          <a:xfrm rot="0">
            <a:off x="15739501" y="2257139"/>
            <a:ext cx="1698498" cy="484289"/>
            <a:chOff x="0" y="0"/>
            <a:chExt cx="2264664" cy="645719"/>
          </a:xfrm>
        </p:grpSpPr>
        <p:sp>
          <p:nvSpPr>
            <p:cNvPr name="Freeform 89" id="87"/>
            <p:cNvSpPr/>
            <p:nvPr/>
          </p:nvSpPr>
          <p:spPr>
            <a:xfrm flipH="false" flipV="false" rot="0">
              <a:off x="0" y="0"/>
              <a:ext cx="2264664" cy="645668"/>
            </a:xfrm>
            <a:custGeom>
              <a:avLst/>
              <a:gdLst/>
              <a:ahLst/>
              <a:cxnLst/>
              <a:rect r="r" b="b" t="t" l="l"/>
              <a:pathLst>
                <a:path h="645668" w="2264664">
                  <a:moveTo>
                    <a:pt x="0" y="0"/>
                  </a:moveTo>
                  <a:lnTo>
                    <a:pt x="2264664" y="0"/>
                  </a:lnTo>
                  <a:lnTo>
                    <a:pt x="2264664" y="645668"/>
                  </a:lnTo>
                  <a:lnTo>
                    <a:pt x="0" y="645668"/>
                  </a:lnTo>
                  <a:close/>
                </a:path>
              </a:pathLst>
            </a:custGeom>
            <a:blipFill>
              <a:blip r:embed="rId9">
                <a:alphaModFix amt="0"/>
              </a:blip>
              <a:stretch>
                <a:fillRect l="0" t="-18292" r="0" b="-18298"/>
              </a:stretch>
            </a:blipFill>
          </p:spPr>
        </p:sp>
      </p:grpSp>
      <p:grpSp>
        <p:nvGrpSpPr>
          <p:cNvPr name="Group 90" id="88"/>
          <p:cNvGrpSpPr/>
          <p:nvPr/>
        </p:nvGrpSpPr>
        <p:grpSpPr>
          <a:xfrm rot="0">
            <a:off x="15739501" y="2249996"/>
            <a:ext cx="1698498" cy="491433"/>
            <a:chOff x="0" y="0"/>
            <a:chExt cx="2264664" cy="655244"/>
          </a:xfrm>
        </p:grpSpPr>
        <p:sp>
          <p:nvSpPr>
            <p:cNvPr name="Freeform 91" id="89"/>
            <p:cNvSpPr/>
            <p:nvPr/>
          </p:nvSpPr>
          <p:spPr>
            <a:xfrm flipH="false" flipV="false" rot="0">
              <a:off x="0" y="0"/>
              <a:ext cx="2264664" cy="655244"/>
            </a:xfrm>
            <a:custGeom>
              <a:avLst/>
              <a:gdLst/>
              <a:ahLst/>
              <a:cxnLst/>
              <a:rect r="r" b="b" t="t" l="l"/>
              <a:pathLst>
                <a:path h="655244" w="2264664">
                  <a:moveTo>
                    <a:pt x="0" y="0"/>
                  </a:moveTo>
                  <a:lnTo>
                    <a:pt x="2264664" y="0"/>
                  </a:lnTo>
                  <a:lnTo>
                    <a:pt x="2264664" y="655244"/>
                  </a:lnTo>
                  <a:lnTo>
                    <a:pt x="0" y="655244"/>
                  </a:lnTo>
                  <a:close/>
                </a:path>
              </a:pathLst>
            </a:custGeom>
            <a:blipFill>
              <a:blip r:embed="rId3">
                <a:alphaModFix amt="0"/>
              </a:blip>
              <a:stretch>
                <a:fillRect l="0" t="-17344" r="0" b="-17344"/>
              </a:stretch>
            </a:blipFill>
          </p:spPr>
        </p:sp>
        <p:sp>
          <p:nvSpPr>
            <p:cNvPr name="TextBox 92" id="90"/>
            <p:cNvSpPr txBox="true"/>
            <p:nvPr/>
          </p:nvSpPr>
          <p:spPr>
            <a:xfrm>
              <a:off x="0" y="-9525"/>
              <a:ext cx="2264664" cy="664769"/>
            </a:xfrm>
            <a:prstGeom prst="rect">
              <a:avLst/>
            </a:prstGeom>
          </p:spPr>
          <p:txBody>
            <a:bodyPr anchor="ctr" rtlCol="false" tIns="0" lIns="0" bIns="0" rIns="0"/>
            <a:lstStyle/>
            <a:p>
              <a:pPr algn="ctr">
                <a:lnSpc>
                  <a:spcPts val="1907"/>
                </a:lnSpc>
              </a:pPr>
              <a:r>
                <a:rPr lang="en-US" sz="1589" b="true">
                  <a:solidFill>
                    <a:srgbClr val="FFFFFF"/>
                  </a:solidFill>
                  <a:latin typeface="Exo 2 Bold"/>
                  <a:ea typeface="Exo 2 Bold"/>
                  <a:cs typeface="Exo 2 Bold"/>
                  <a:sym typeface="Exo 2 Bold"/>
                </a:rPr>
                <a:t>December</a:t>
              </a:r>
            </a:p>
          </p:txBody>
        </p:sp>
      </p:grpSp>
      <p:grpSp>
        <p:nvGrpSpPr>
          <p:cNvPr name="Group 93" id="91"/>
          <p:cNvGrpSpPr/>
          <p:nvPr/>
        </p:nvGrpSpPr>
        <p:grpSpPr>
          <a:xfrm rot="0">
            <a:off x="10643997" y="2770003"/>
            <a:ext cx="1698498" cy="6320028"/>
            <a:chOff x="0" y="0"/>
            <a:chExt cx="2264664" cy="8426704"/>
          </a:xfrm>
        </p:grpSpPr>
        <p:sp>
          <p:nvSpPr>
            <p:cNvPr name="Freeform 94" id="92"/>
            <p:cNvSpPr/>
            <p:nvPr/>
          </p:nvSpPr>
          <p:spPr>
            <a:xfrm flipH="false" flipV="false" rot="0">
              <a:off x="0" y="0"/>
              <a:ext cx="2264664" cy="8426704"/>
            </a:xfrm>
            <a:custGeom>
              <a:avLst/>
              <a:gdLst/>
              <a:ahLst/>
              <a:cxnLst/>
              <a:rect r="r" b="b" t="t" l="l"/>
              <a:pathLst>
                <a:path h="8426704" w="2264664">
                  <a:moveTo>
                    <a:pt x="0" y="0"/>
                  </a:moveTo>
                  <a:lnTo>
                    <a:pt x="2264664" y="0"/>
                  </a:lnTo>
                  <a:lnTo>
                    <a:pt x="2264664" y="8426704"/>
                  </a:lnTo>
                  <a:lnTo>
                    <a:pt x="0" y="8426704"/>
                  </a:lnTo>
                  <a:close/>
                </a:path>
              </a:pathLst>
            </a:custGeom>
            <a:solidFill>
              <a:srgbClr val="FBF6E6"/>
            </a:solidFill>
          </p:spPr>
        </p:sp>
      </p:grpSp>
      <p:grpSp>
        <p:nvGrpSpPr>
          <p:cNvPr name="Group 95" id="93"/>
          <p:cNvGrpSpPr/>
          <p:nvPr/>
        </p:nvGrpSpPr>
        <p:grpSpPr>
          <a:xfrm rot="0">
            <a:off x="850001" y="2770003"/>
            <a:ext cx="16587978" cy="395002"/>
            <a:chOff x="0" y="0"/>
            <a:chExt cx="22117304" cy="526669"/>
          </a:xfrm>
        </p:grpSpPr>
        <p:sp>
          <p:nvSpPr>
            <p:cNvPr name="Freeform 96" id="94"/>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solidFill>
              <a:srgbClr val="E9EDF6"/>
            </a:solidFill>
          </p:spPr>
        </p:sp>
      </p:grpSp>
      <p:grpSp>
        <p:nvGrpSpPr>
          <p:cNvPr name="Group 97" id="95"/>
          <p:cNvGrpSpPr/>
          <p:nvPr/>
        </p:nvGrpSpPr>
        <p:grpSpPr>
          <a:xfrm rot="0">
            <a:off x="1070000" y="2770003"/>
            <a:ext cx="16587978" cy="395002"/>
            <a:chOff x="0" y="0"/>
            <a:chExt cx="22117304" cy="526669"/>
          </a:xfrm>
        </p:grpSpPr>
        <p:sp>
          <p:nvSpPr>
            <p:cNvPr name="Freeform 98" id="96"/>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blipFill>
              <a:blip r:embed="rId7">
                <a:alphaModFix amt="0"/>
              </a:blip>
              <a:stretch>
                <a:fillRect l="0" t="-767699" r="0" b="-767699"/>
              </a:stretch>
            </a:blipFill>
          </p:spPr>
        </p:sp>
      </p:grpSp>
      <p:grpSp>
        <p:nvGrpSpPr>
          <p:cNvPr name="Group 99" id="97"/>
          <p:cNvGrpSpPr/>
          <p:nvPr/>
        </p:nvGrpSpPr>
        <p:grpSpPr>
          <a:xfrm rot="0">
            <a:off x="1070000" y="2762860"/>
            <a:ext cx="16587978" cy="402146"/>
            <a:chOff x="0" y="0"/>
            <a:chExt cx="22117304" cy="536194"/>
          </a:xfrm>
        </p:grpSpPr>
        <p:sp>
          <p:nvSpPr>
            <p:cNvPr name="Freeform 100" id="98"/>
            <p:cNvSpPr/>
            <p:nvPr/>
          </p:nvSpPr>
          <p:spPr>
            <a:xfrm flipH="false" flipV="false" rot="0">
              <a:off x="0" y="0"/>
              <a:ext cx="22117304" cy="536194"/>
            </a:xfrm>
            <a:custGeom>
              <a:avLst/>
              <a:gdLst/>
              <a:ahLst/>
              <a:cxnLst/>
              <a:rect r="r" b="b" t="t" l="l"/>
              <a:pathLst>
                <a:path h="536194" w="22117304">
                  <a:moveTo>
                    <a:pt x="0" y="0"/>
                  </a:moveTo>
                  <a:lnTo>
                    <a:pt x="22117304" y="0"/>
                  </a:lnTo>
                  <a:lnTo>
                    <a:pt x="22117304" y="536194"/>
                  </a:lnTo>
                  <a:lnTo>
                    <a:pt x="0" y="536194"/>
                  </a:lnTo>
                  <a:close/>
                </a:path>
              </a:pathLst>
            </a:custGeom>
            <a:blipFill>
              <a:blip r:embed="rId8">
                <a:alphaModFix amt="0"/>
              </a:blip>
              <a:stretch>
                <a:fillRect l="0" t="-753173" r="0" b="-753173"/>
              </a:stretch>
            </a:blipFill>
          </p:spPr>
        </p:sp>
      </p:grpSp>
      <p:grpSp>
        <p:nvGrpSpPr>
          <p:cNvPr name="Group 101" id="99"/>
          <p:cNvGrpSpPr/>
          <p:nvPr/>
        </p:nvGrpSpPr>
        <p:grpSpPr>
          <a:xfrm rot="0">
            <a:off x="1070000" y="2755716"/>
            <a:ext cx="16587997" cy="409289"/>
            <a:chOff x="0" y="0"/>
            <a:chExt cx="22117329" cy="545719"/>
          </a:xfrm>
        </p:grpSpPr>
        <p:sp>
          <p:nvSpPr>
            <p:cNvPr name="Freeform 102" id="100"/>
            <p:cNvSpPr/>
            <p:nvPr/>
          </p:nvSpPr>
          <p:spPr>
            <a:xfrm flipH="false" flipV="false" rot="0">
              <a:off x="0" y="0"/>
              <a:ext cx="22117304" cy="545719"/>
            </a:xfrm>
            <a:custGeom>
              <a:avLst/>
              <a:gdLst/>
              <a:ahLst/>
              <a:cxnLst/>
              <a:rect r="r" b="b" t="t" l="l"/>
              <a:pathLst>
                <a:path h="545719" w="22117304">
                  <a:moveTo>
                    <a:pt x="0" y="0"/>
                  </a:moveTo>
                  <a:lnTo>
                    <a:pt x="22117304" y="0"/>
                  </a:lnTo>
                  <a:lnTo>
                    <a:pt x="22117304" y="545719"/>
                  </a:lnTo>
                  <a:lnTo>
                    <a:pt x="0" y="545719"/>
                  </a:lnTo>
                  <a:close/>
                </a:path>
              </a:pathLst>
            </a:custGeom>
            <a:blipFill>
              <a:blip r:embed="rId9">
                <a:alphaModFix amt="0"/>
              </a:blip>
              <a:stretch>
                <a:fillRect l="0" t="-739155" r="0" b="-739155"/>
              </a:stretch>
            </a:blipFill>
          </p:spPr>
        </p:sp>
      </p:grpSp>
      <p:grpSp>
        <p:nvGrpSpPr>
          <p:cNvPr name="Group 103" id="101"/>
          <p:cNvGrpSpPr/>
          <p:nvPr/>
        </p:nvGrpSpPr>
        <p:grpSpPr>
          <a:xfrm rot="0">
            <a:off x="1070000" y="2748572"/>
            <a:ext cx="16587997" cy="416433"/>
            <a:chOff x="0" y="0"/>
            <a:chExt cx="22117329" cy="555244"/>
          </a:xfrm>
        </p:grpSpPr>
        <p:sp>
          <p:nvSpPr>
            <p:cNvPr name="Freeform 104" id="102"/>
            <p:cNvSpPr/>
            <p:nvPr/>
          </p:nvSpPr>
          <p:spPr>
            <a:xfrm flipH="false" flipV="false" rot="0">
              <a:off x="0" y="0"/>
              <a:ext cx="22117329" cy="555244"/>
            </a:xfrm>
            <a:custGeom>
              <a:avLst/>
              <a:gdLst/>
              <a:ahLst/>
              <a:cxnLst/>
              <a:rect r="r" b="b" t="t" l="l"/>
              <a:pathLst>
                <a:path h="555244" w="22117329">
                  <a:moveTo>
                    <a:pt x="0" y="0"/>
                  </a:moveTo>
                  <a:lnTo>
                    <a:pt x="22117329" y="0"/>
                  </a:lnTo>
                  <a:lnTo>
                    <a:pt x="22117329" y="555244"/>
                  </a:lnTo>
                  <a:lnTo>
                    <a:pt x="0" y="555244"/>
                  </a:lnTo>
                  <a:close/>
                </a:path>
              </a:pathLst>
            </a:custGeom>
            <a:blipFill>
              <a:blip r:embed="rId3">
                <a:alphaModFix amt="0"/>
              </a:blip>
              <a:stretch>
                <a:fillRect l="0" t="-726158" r="0" b="-726158"/>
              </a:stretch>
            </a:blipFill>
          </p:spPr>
        </p:sp>
        <p:sp>
          <p:nvSpPr>
            <p:cNvPr name="TextBox 105" id="103"/>
            <p:cNvSpPr txBox="true"/>
            <p:nvPr/>
          </p:nvSpPr>
          <p:spPr>
            <a:xfrm>
              <a:off x="0" y="-9525"/>
              <a:ext cx="22117329" cy="564769"/>
            </a:xfrm>
            <a:prstGeom prst="rect">
              <a:avLst/>
            </a:prstGeom>
          </p:spPr>
          <p:txBody>
            <a:bodyPr anchor="ctr" rtlCol="false" tIns="0" lIns="0" bIns="0" rIns="0"/>
            <a:lstStyle/>
            <a:p>
              <a:pPr algn="l">
                <a:lnSpc>
                  <a:spcPts val="1512"/>
                </a:lnSpc>
              </a:pPr>
              <a:r>
                <a:rPr lang="en-US" b="true" sz="1260" spc="138">
                  <a:solidFill>
                    <a:srgbClr val="132257"/>
                  </a:solidFill>
                  <a:latin typeface="Exo 2 Bold"/>
                  <a:ea typeface="Exo 2 Bold"/>
                  <a:cs typeface="Exo 2 Bold"/>
                  <a:sym typeface="Exo 2 Bold"/>
                </a:rPr>
                <a:t>I.  CLIENTS, CUMULATIVE</a:t>
              </a:r>
            </a:p>
          </p:txBody>
        </p:sp>
      </p:grpSp>
      <p:grpSp>
        <p:nvGrpSpPr>
          <p:cNvPr name="Group 106" id="104"/>
          <p:cNvGrpSpPr/>
          <p:nvPr/>
        </p:nvGrpSpPr>
        <p:grpSpPr>
          <a:xfrm rot="0">
            <a:off x="1070000" y="3164996"/>
            <a:ext cx="2699956" cy="395002"/>
            <a:chOff x="0" y="0"/>
            <a:chExt cx="3599942" cy="526669"/>
          </a:xfrm>
        </p:grpSpPr>
        <p:sp>
          <p:nvSpPr>
            <p:cNvPr name="Freeform 107" id="105"/>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108" id="106"/>
          <p:cNvGrpSpPr/>
          <p:nvPr/>
        </p:nvGrpSpPr>
        <p:grpSpPr>
          <a:xfrm rot="0">
            <a:off x="1070000" y="3164996"/>
            <a:ext cx="2699956" cy="395002"/>
            <a:chOff x="0" y="0"/>
            <a:chExt cx="3599942" cy="526669"/>
          </a:xfrm>
        </p:grpSpPr>
        <p:sp>
          <p:nvSpPr>
            <p:cNvPr name="Freeform 109" id="10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110" id="108"/>
          <p:cNvGrpSpPr/>
          <p:nvPr/>
        </p:nvGrpSpPr>
        <p:grpSpPr>
          <a:xfrm rot="0">
            <a:off x="1070000" y="3164996"/>
            <a:ext cx="2700004" cy="395002"/>
            <a:chOff x="0" y="0"/>
            <a:chExt cx="3600005" cy="526669"/>
          </a:xfrm>
        </p:grpSpPr>
        <p:sp>
          <p:nvSpPr>
            <p:cNvPr name="Freeform 111" id="109"/>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112" id="110"/>
          <p:cNvGrpSpPr/>
          <p:nvPr/>
        </p:nvGrpSpPr>
        <p:grpSpPr>
          <a:xfrm rot="0">
            <a:off x="1070000" y="3164996"/>
            <a:ext cx="2700004" cy="395002"/>
            <a:chOff x="0" y="0"/>
            <a:chExt cx="3600005" cy="526669"/>
          </a:xfrm>
        </p:grpSpPr>
        <p:sp>
          <p:nvSpPr>
            <p:cNvPr name="Freeform 113" id="111"/>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114" id="112"/>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Achieved / Current</a:t>
              </a:r>
            </a:p>
          </p:txBody>
        </p:sp>
      </p:grpSp>
      <p:grpSp>
        <p:nvGrpSpPr>
          <p:cNvPr name="Group 115" id="113"/>
          <p:cNvGrpSpPr/>
          <p:nvPr/>
        </p:nvGrpSpPr>
        <p:grpSpPr>
          <a:xfrm rot="0">
            <a:off x="3850005" y="3164996"/>
            <a:ext cx="1698498" cy="395002"/>
            <a:chOff x="0" y="0"/>
            <a:chExt cx="2264664" cy="526669"/>
          </a:xfrm>
        </p:grpSpPr>
        <p:sp>
          <p:nvSpPr>
            <p:cNvPr name="Freeform 116" id="11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17" id="115"/>
          <p:cNvGrpSpPr/>
          <p:nvPr/>
        </p:nvGrpSpPr>
        <p:grpSpPr>
          <a:xfrm rot="0">
            <a:off x="3850005" y="3164996"/>
            <a:ext cx="1698498" cy="395002"/>
            <a:chOff x="0" y="0"/>
            <a:chExt cx="2264664" cy="526669"/>
          </a:xfrm>
        </p:grpSpPr>
        <p:sp>
          <p:nvSpPr>
            <p:cNvPr name="Freeform 118" id="11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19" id="117"/>
          <p:cNvGrpSpPr/>
          <p:nvPr/>
        </p:nvGrpSpPr>
        <p:grpSpPr>
          <a:xfrm rot="0">
            <a:off x="3850005" y="3164996"/>
            <a:ext cx="1698498" cy="395002"/>
            <a:chOff x="0" y="0"/>
            <a:chExt cx="2264664" cy="526669"/>
          </a:xfrm>
        </p:grpSpPr>
        <p:sp>
          <p:nvSpPr>
            <p:cNvPr name="Freeform 120" id="11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21" id="119"/>
          <p:cNvGrpSpPr/>
          <p:nvPr/>
        </p:nvGrpSpPr>
        <p:grpSpPr>
          <a:xfrm rot="0">
            <a:off x="3850005" y="3164996"/>
            <a:ext cx="1698498" cy="395002"/>
            <a:chOff x="0" y="0"/>
            <a:chExt cx="2264664" cy="526669"/>
          </a:xfrm>
        </p:grpSpPr>
        <p:sp>
          <p:nvSpPr>
            <p:cNvPr name="Freeform 122" id="12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23" id="12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11</a:t>
              </a:r>
            </a:p>
          </p:txBody>
        </p:sp>
      </p:grpSp>
      <p:grpSp>
        <p:nvGrpSpPr>
          <p:cNvPr name="Group 124" id="122"/>
          <p:cNvGrpSpPr/>
          <p:nvPr/>
        </p:nvGrpSpPr>
        <p:grpSpPr>
          <a:xfrm rot="0">
            <a:off x="5548503" y="3164996"/>
            <a:ext cx="1698498" cy="395002"/>
            <a:chOff x="0" y="0"/>
            <a:chExt cx="2264664" cy="526669"/>
          </a:xfrm>
        </p:grpSpPr>
        <p:sp>
          <p:nvSpPr>
            <p:cNvPr name="Freeform 125" id="12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26" id="124"/>
          <p:cNvGrpSpPr/>
          <p:nvPr/>
        </p:nvGrpSpPr>
        <p:grpSpPr>
          <a:xfrm rot="0">
            <a:off x="5548503" y="3164996"/>
            <a:ext cx="1698498" cy="395002"/>
            <a:chOff x="0" y="0"/>
            <a:chExt cx="2264664" cy="526669"/>
          </a:xfrm>
        </p:grpSpPr>
        <p:sp>
          <p:nvSpPr>
            <p:cNvPr name="Freeform 127" id="12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28" id="126"/>
          <p:cNvGrpSpPr/>
          <p:nvPr/>
        </p:nvGrpSpPr>
        <p:grpSpPr>
          <a:xfrm rot="0">
            <a:off x="5548503" y="3164996"/>
            <a:ext cx="1698498" cy="395002"/>
            <a:chOff x="0" y="0"/>
            <a:chExt cx="2264664" cy="526669"/>
          </a:xfrm>
        </p:grpSpPr>
        <p:sp>
          <p:nvSpPr>
            <p:cNvPr name="Freeform 129" id="12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30" id="128"/>
          <p:cNvGrpSpPr/>
          <p:nvPr/>
        </p:nvGrpSpPr>
        <p:grpSpPr>
          <a:xfrm rot="0">
            <a:off x="5548503" y="3164996"/>
            <a:ext cx="1698498" cy="395002"/>
            <a:chOff x="0" y="0"/>
            <a:chExt cx="2264664" cy="526669"/>
          </a:xfrm>
        </p:grpSpPr>
        <p:sp>
          <p:nvSpPr>
            <p:cNvPr name="Freeform 131" id="12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32" id="13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24</a:t>
              </a:r>
            </a:p>
          </p:txBody>
        </p:sp>
      </p:grpSp>
      <p:grpSp>
        <p:nvGrpSpPr>
          <p:cNvPr name="Group 133" id="131"/>
          <p:cNvGrpSpPr/>
          <p:nvPr/>
        </p:nvGrpSpPr>
        <p:grpSpPr>
          <a:xfrm rot="0">
            <a:off x="7247001" y="3164996"/>
            <a:ext cx="1698498" cy="395002"/>
            <a:chOff x="0" y="0"/>
            <a:chExt cx="2264664" cy="526669"/>
          </a:xfrm>
        </p:grpSpPr>
        <p:sp>
          <p:nvSpPr>
            <p:cNvPr name="Freeform 134" id="13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35" id="133"/>
          <p:cNvGrpSpPr/>
          <p:nvPr/>
        </p:nvGrpSpPr>
        <p:grpSpPr>
          <a:xfrm rot="0">
            <a:off x="7247001" y="3164996"/>
            <a:ext cx="1698498" cy="395002"/>
            <a:chOff x="0" y="0"/>
            <a:chExt cx="2264664" cy="526669"/>
          </a:xfrm>
        </p:grpSpPr>
        <p:sp>
          <p:nvSpPr>
            <p:cNvPr name="Freeform 136" id="13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37" id="135"/>
          <p:cNvGrpSpPr/>
          <p:nvPr/>
        </p:nvGrpSpPr>
        <p:grpSpPr>
          <a:xfrm rot="0">
            <a:off x="7247001" y="3164996"/>
            <a:ext cx="1698498" cy="395002"/>
            <a:chOff x="0" y="0"/>
            <a:chExt cx="2264664" cy="526669"/>
          </a:xfrm>
        </p:grpSpPr>
        <p:sp>
          <p:nvSpPr>
            <p:cNvPr name="Freeform 138" id="13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39" id="137"/>
          <p:cNvGrpSpPr/>
          <p:nvPr/>
        </p:nvGrpSpPr>
        <p:grpSpPr>
          <a:xfrm rot="0">
            <a:off x="7247001" y="3164996"/>
            <a:ext cx="1698498" cy="395002"/>
            <a:chOff x="0" y="0"/>
            <a:chExt cx="2264664" cy="526669"/>
          </a:xfrm>
        </p:grpSpPr>
        <p:sp>
          <p:nvSpPr>
            <p:cNvPr name="Freeform 140" id="13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41" id="13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33</a:t>
              </a:r>
            </a:p>
          </p:txBody>
        </p:sp>
      </p:grpSp>
      <p:grpSp>
        <p:nvGrpSpPr>
          <p:cNvPr name="Group 142" id="140"/>
          <p:cNvGrpSpPr/>
          <p:nvPr/>
        </p:nvGrpSpPr>
        <p:grpSpPr>
          <a:xfrm rot="0">
            <a:off x="8945499" y="3164996"/>
            <a:ext cx="1698498" cy="395002"/>
            <a:chOff x="0" y="0"/>
            <a:chExt cx="2264664" cy="526669"/>
          </a:xfrm>
        </p:grpSpPr>
        <p:sp>
          <p:nvSpPr>
            <p:cNvPr name="Freeform 143" id="14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44" id="142"/>
          <p:cNvGrpSpPr/>
          <p:nvPr/>
        </p:nvGrpSpPr>
        <p:grpSpPr>
          <a:xfrm rot="0">
            <a:off x="8945499" y="3164996"/>
            <a:ext cx="1698498" cy="395002"/>
            <a:chOff x="0" y="0"/>
            <a:chExt cx="2264664" cy="526669"/>
          </a:xfrm>
        </p:grpSpPr>
        <p:sp>
          <p:nvSpPr>
            <p:cNvPr name="Freeform 145" id="14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46" id="144"/>
          <p:cNvGrpSpPr/>
          <p:nvPr/>
        </p:nvGrpSpPr>
        <p:grpSpPr>
          <a:xfrm rot="0">
            <a:off x="8945499" y="3164996"/>
            <a:ext cx="1698498" cy="395002"/>
            <a:chOff x="0" y="0"/>
            <a:chExt cx="2264664" cy="526669"/>
          </a:xfrm>
        </p:grpSpPr>
        <p:sp>
          <p:nvSpPr>
            <p:cNvPr name="Freeform 147" id="14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48" id="146"/>
          <p:cNvGrpSpPr/>
          <p:nvPr/>
        </p:nvGrpSpPr>
        <p:grpSpPr>
          <a:xfrm rot="0">
            <a:off x="8945499" y="3164996"/>
            <a:ext cx="1698498" cy="395002"/>
            <a:chOff x="0" y="0"/>
            <a:chExt cx="2264664" cy="526669"/>
          </a:xfrm>
        </p:grpSpPr>
        <p:sp>
          <p:nvSpPr>
            <p:cNvPr name="Freeform 149" id="14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50" id="14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47</a:t>
              </a:r>
            </a:p>
          </p:txBody>
        </p:sp>
      </p:grpSp>
      <p:grpSp>
        <p:nvGrpSpPr>
          <p:cNvPr name="Group 151" id="149"/>
          <p:cNvGrpSpPr/>
          <p:nvPr/>
        </p:nvGrpSpPr>
        <p:grpSpPr>
          <a:xfrm rot="0">
            <a:off x="10643997" y="3164996"/>
            <a:ext cx="1698498" cy="395002"/>
            <a:chOff x="0" y="0"/>
            <a:chExt cx="2264664" cy="526669"/>
          </a:xfrm>
        </p:grpSpPr>
        <p:sp>
          <p:nvSpPr>
            <p:cNvPr name="Freeform 152" id="15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53" id="151"/>
          <p:cNvGrpSpPr/>
          <p:nvPr/>
        </p:nvGrpSpPr>
        <p:grpSpPr>
          <a:xfrm rot="0">
            <a:off x="10643997" y="3164996"/>
            <a:ext cx="1698498" cy="395002"/>
            <a:chOff x="0" y="0"/>
            <a:chExt cx="2264664" cy="526669"/>
          </a:xfrm>
        </p:grpSpPr>
        <p:sp>
          <p:nvSpPr>
            <p:cNvPr name="Freeform 154" id="15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55" id="153"/>
          <p:cNvGrpSpPr/>
          <p:nvPr/>
        </p:nvGrpSpPr>
        <p:grpSpPr>
          <a:xfrm rot="0">
            <a:off x="10643997" y="3164996"/>
            <a:ext cx="1698498" cy="395002"/>
            <a:chOff x="0" y="0"/>
            <a:chExt cx="2264664" cy="526669"/>
          </a:xfrm>
        </p:grpSpPr>
        <p:sp>
          <p:nvSpPr>
            <p:cNvPr name="Freeform 156" id="15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57" id="155"/>
          <p:cNvGrpSpPr/>
          <p:nvPr/>
        </p:nvGrpSpPr>
        <p:grpSpPr>
          <a:xfrm rot="0">
            <a:off x="10643997" y="3164996"/>
            <a:ext cx="1698498" cy="395002"/>
            <a:chOff x="0" y="0"/>
            <a:chExt cx="2264664" cy="526669"/>
          </a:xfrm>
        </p:grpSpPr>
        <p:sp>
          <p:nvSpPr>
            <p:cNvPr name="Freeform 158" id="15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59" id="15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61</a:t>
              </a:r>
            </a:p>
          </p:txBody>
        </p:sp>
      </p:grpSp>
      <p:grpSp>
        <p:nvGrpSpPr>
          <p:cNvPr name="Group 160" id="158"/>
          <p:cNvGrpSpPr/>
          <p:nvPr/>
        </p:nvGrpSpPr>
        <p:grpSpPr>
          <a:xfrm rot="0">
            <a:off x="850001" y="3550996"/>
            <a:ext cx="16587978" cy="8954"/>
            <a:chOff x="0" y="0"/>
            <a:chExt cx="22117304" cy="11938"/>
          </a:xfrm>
        </p:grpSpPr>
        <p:sp>
          <p:nvSpPr>
            <p:cNvPr name="Freeform 161" id="159"/>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162" id="160"/>
          <p:cNvGrpSpPr/>
          <p:nvPr/>
        </p:nvGrpSpPr>
        <p:grpSpPr>
          <a:xfrm rot="0">
            <a:off x="1070000" y="3559997"/>
            <a:ext cx="2699956" cy="395002"/>
            <a:chOff x="0" y="0"/>
            <a:chExt cx="3599942" cy="526669"/>
          </a:xfrm>
        </p:grpSpPr>
        <p:sp>
          <p:nvSpPr>
            <p:cNvPr name="Freeform 163" id="161"/>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164" id="162"/>
          <p:cNvGrpSpPr/>
          <p:nvPr/>
        </p:nvGrpSpPr>
        <p:grpSpPr>
          <a:xfrm rot="0">
            <a:off x="1070000" y="3559997"/>
            <a:ext cx="2699956" cy="395002"/>
            <a:chOff x="0" y="0"/>
            <a:chExt cx="3599942" cy="526669"/>
          </a:xfrm>
        </p:grpSpPr>
        <p:sp>
          <p:nvSpPr>
            <p:cNvPr name="Freeform 165" id="163"/>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166" id="164"/>
          <p:cNvGrpSpPr/>
          <p:nvPr/>
        </p:nvGrpSpPr>
        <p:grpSpPr>
          <a:xfrm rot="0">
            <a:off x="1070000" y="3559997"/>
            <a:ext cx="2700004" cy="395002"/>
            <a:chOff x="0" y="0"/>
            <a:chExt cx="3600005" cy="526669"/>
          </a:xfrm>
        </p:grpSpPr>
        <p:sp>
          <p:nvSpPr>
            <p:cNvPr name="Freeform 167" id="165"/>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168" id="166"/>
          <p:cNvGrpSpPr/>
          <p:nvPr/>
        </p:nvGrpSpPr>
        <p:grpSpPr>
          <a:xfrm rot="0">
            <a:off x="1070000" y="3559997"/>
            <a:ext cx="2700004" cy="395002"/>
            <a:chOff x="0" y="0"/>
            <a:chExt cx="3600005" cy="526669"/>
          </a:xfrm>
        </p:grpSpPr>
        <p:sp>
          <p:nvSpPr>
            <p:cNvPr name="Freeform 169" id="167"/>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170" id="168"/>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Target / Projected</a:t>
              </a:r>
            </a:p>
          </p:txBody>
        </p:sp>
      </p:grpSp>
      <p:grpSp>
        <p:nvGrpSpPr>
          <p:cNvPr name="Group 171" id="169"/>
          <p:cNvGrpSpPr/>
          <p:nvPr/>
        </p:nvGrpSpPr>
        <p:grpSpPr>
          <a:xfrm rot="0">
            <a:off x="3850005" y="3559997"/>
            <a:ext cx="1698498" cy="395002"/>
            <a:chOff x="0" y="0"/>
            <a:chExt cx="2264664" cy="526669"/>
          </a:xfrm>
        </p:grpSpPr>
        <p:sp>
          <p:nvSpPr>
            <p:cNvPr name="Freeform 172" id="17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73" id="171"/>
          <p:cNvGrpSpPr/>
          <p:nvPr/>
        </p:nvGrpSpPr>
        <p:grpSpPr>
          <a:xfrm rot="0">
            <a:off x="3850005" y="3559997"/>
            <a:ext cx="1698498" cy="395002"/>
            <a:chOff x="0" y="0"/>
            <a:chExt cx="2264664" cy="526669"/>
          </a:xfrm>
        </p:grpSpPr>
        <p:sp>
          <p:nvSpPr>
            <p:cNvPr name="Freeform 174" id="17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75" id="173"/>
          <p:cNvGrpSpPr/>
          <p:nvPr/>
        </p:nvGrpSpPr>
        <p:grpSpPr>
          <a:xfrm rot="0">
            <a:off x="3850005" y="3559997"/>
            <a:ext cx="1698498" cy="395002"/>
            <a:chOff x="0" y="0"/>
            <a:chExt cx="2264664" cy="526669"/>
          </a:xfrm>
        </p:grpSpPr>
        <p:sp>
          <p:nvSpPr>
            <p:cNvPr name="Freeform 176" id="17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77" id="175"/>
          <p:cNvGrpSpPr/>
          <p:nvPr/>
        </p:nvGrpSpPr>
        <p:grpSpPr>
          <a:xfrm rot="0">
            <a:off x="3850005" y="3559997"/>
            <a:ext cx="1698498" cy="395002"/>
            <a:chOff x="0" y="0"/>
            <a:chExt cx="2264664" cy="526669"/>
          </a:xfrm>
        </p:grpSpPr>
        <p:sp>
          <p:nvSpPr>
            <p:cNvPr name="Freeform 178" id="17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79" id="17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20</a:t>
              </a:r>
            </a:p>
          </p:txBody>
        </p:sp>
      </p:grpSp>
      <p:grpSp>
        <p:nvGrpSpPr>
          <p:cNvPr name="Group 180" id="178"/>
          <p:cNvGrpSpPr/>
          <p:nvPr/>
        </p:nvGrpSpPr>
        <p:grpSpPr>
          <a:xfrm rot="0">
            <a:off x="5548503" y="3559997"/>
            <a:ext cx="1698498" cy="395002"/>
            <a:chOff x="0" y="0"/>
            <a:chExt cx="2264664" cy="526669"/>
          </a:xfrm>
        </p:grpSpPr>
        <p:sp>
          <p:nvSpPr>
            <p:cNvPr name="Freeform 181" id="17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82" id="180"/>
          <p:cNvGrpSpPr/>
          <p:nvPr/>
        </p:nvGrpSpPr>
        <p:grpSpPr>
          <a:xfrm rot="0">
            <a:off x="5548503" y="3559997"/>
            <a:ext cx="1698498" cy="395002"/>
            <a:chOff x="0" y="0"/>
            <a:chExt cx="2264664" cy="526669"/>
          </a:xfrm>
        </p:grpSpPr>
        <p:sp>
          <p:nvSpPr>
            <p:cNvPr name="Freeform 183" id="18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84" id="182"/>
          <p:cNvGrpSpPr/>
          <p:nvPr/>
        </p:nvGrpSpPr>
        <p:grpSpPr>
          <a:xfrm rot="0">
            <a:off x="5548503" y="3559997"/>
            <a:ext cx="1698498" cy="395002"/>
            <a:chOff x="0" y="0"/>
            <a:chExt cx="2264664" cy="526669"/>
          </a:xfrm>
        </p:grpSpPr>
        <p:sp>
          <p:nvSpPr>
            <p:cNvPr name="Freeform 185" id="18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86" id="184"/>
          <p:cNvGrpSpPr/>
          <p:nvPr/>
        </p:nvGrpSpPr>
        <p:grpSpPr>
          <a:xfrm rot="0">
            <a:off x="5548503" y="3559997"/>
            <a:ext cx="1698498" cy="395002"/>
            <a:chOff x="0" y="0"/>
            <a:chExt cx="2264664" cy="526669"/>
          </a:xfrm>
        </p:grpSpPr>
        <p:sp>
          <p:nvSpPr>
            <p:cNvPr name="Freeform 187" id="18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88" id="18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24</a:t>
              </a:r>
            </a:p>
          </p:txBody>
        </p:sp>
      </p:grpSp>
      <p:grpSp>
        <p:nvGrpSpPr>
          <p:cNvPr name="Group 189" id="187"/>
          <p:cNvGrpSpPr/>
          <p:nvPr/>
        </p:nvGrpSpPr>
        <p:grpSpPr>
          <a:xfrm rot="0">
            <a:off x="7247001" y="3559997"/>
            <a:ext cx="1698498" cy="395002"/>
            <a:chOff x="0" y="0"/>
            <a:chExt cx="2264664" cy="526669"/>
          </a:xfrm>
        </p:grpSpPr>
        <p:sp>
          <p:nvSpPr>
            <p:cNvPr name="Freeform 190" id="18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191" id="189"/>
          <p:cNvGrpSpPr/>
          <p:nvPr/>
        </p:nvGrpSpPr>
        <p:grpSpPr>
          <a:xfrm rot="0">
            <a:off x="7247001" y="3559997"/>
            <a:ext cx="1698498" cy="395002"/>
            <a:chOff x="0" y="0"/>
            <a:chExt cx="2264664" cy="526669"/>
          </a:xfrm>
        </p:grpSpPr>
        <p:sp>
          <p:nvSpPr>
            <p:cNvPr name="Freeform 192" id="19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193" id="191"/>
          <p:cNvGrpSpPr/>
          <p:nvPr/>
        </p:nvGrpSpPr>
        <p:grpSpPr>
          <a:xfrm rot="0">
            <a:off x="7247001" y="3559997"/>
            <a:ext cx="1698498" cy="395002"/>
            <a:chOff x="0" y="0"/>
            <a:chExt cx="2264664" cy="526669"/>
          </a:xfrm>
        </p:grpSpPr>
        <p:sp>
          <p:nvSpPr>
            <p:cNvPr name="Freeform 194" id="19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195" id="193"/>
          <p:cNvGrpSpPr/>
          <p:nvPr/>
        </p:nvGrpSpPr>
        <p:grpSpPr>
          <a:xfrm rot="0">
            <a:off x="7247001" y="3559997"/>
            <a:ext cx="1698498" cy="395002"/>
            <a:chOff x="0" y="0"/>
            <a:chExt cx="2264664" cy="526669"/>
          </a:xfrm>
        </p:grpSpPr>
        <p:sp>
          <p:nvSpPr>
            <p:cNvPr name="Freeform 196" id="19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197" id="19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28</a:t>
              </a:r>
            </a:p>
          </p:txBody>
        </p:sp>
      </p:grpSp>
      <p:grpSp>
        <p:nvGrpSpPr>
          <p:cNvPr name="Group 198" id="196"/>
          <p:cNvGrpSpPr/>
          <p:nvPr/>
        </p:nvGrpSpPr>
        <p:grpSpPr>
          <a:xfrm rot="0">
            <a:off x="8945499" y="3559997"/>
            <a:ext cx="1698498" cy="395002"/>
            <a:chOff x="0" y="0"/>
            <a:chExt cx="2264664" cy="526669"/>
          </a:xfrm>
        </p:grpSpPr>
        <p:sp>
          <p:nvSpPr>
            <p:cNvPr name="Freeform 199" id="19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00" id="198"/>
          <p:cNvGrpSpPr/>
          <p:nvPr/>
        </p:nvGrpSpPr>
        <p:grpSpPr>
          <a:xfrm rot="0">
            <a:off x="8945499" y="3559997"/>
            <a:ext cx="1698498" cy="395002"/>
            <a:chOff x="0" y="0"/>
            <a:chExt cx="2264664" cy="526669"/>
          </a:xfrm>
        </p:grpSpPr>
        <p:sp>
          <p:nvSpPr>
            <p:cNvPr name="Freeform 201" id="19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02" id="200"/>
          <p:cNvGrpSpPr/>
          <p:nvPr/>
        </p:nvGrpSpPr>
        <p:grpSpPr>
          <a:xfrm rot="0">
            <a:off x="8945499" y="3559997"/>
            <a:ext cx="1698498" cy="395002"/>
            <a:chOff x="0" y="0"/>
            <a:chExt cx="2264664" cy="526669"/>
          </a:xfrm>
        </p:grpSpPr>
        <p:sp>
          <p:nvSpPr>
            <p:cNvPr name="Freeform 203" id="20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04" id="202"/>
          <p:cNvGrpSpPr/>
          <p:nvPr/>
        </p:nvGrpSpPr>
        <p:grpSpPr>
          <a:xfrm rot="0">
            <a:off x="8945499" y="3559997"/>
            <a:ext cx="1698498" cy="395002"/>
            <a:chOff x="0" y="0"/>
            <a:chExt cx="2264664" cy="526669"/>
          </a:xfrm>
        </p:grpSpPr>
        <p:sp>
          <p:nvSpPr>
            <p:cNvPr name="Freeform 205" id="20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06" id="20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33</a:t>
              </a:r>
            </a:p>
          </p:txBody>
        </p:sp>
      </p:grpSp>
      <p:grpSp>
        <p:nvGrpSpPr>
          <p:cNvPr name="Group 207" id="205"/>
          <p:cNvGrpSpPr/>
          <p:nvPr/>
        </p:nvGrpSpPr>
        <p:grpSpPr>
          <a:xfrm rot="0">
            <a:off x="10643997" y="3559997"/>
            <a:ext cx="1698498" cy="395002"/>
            <a:chOff x="0" y="0"/>
            <a:chExt cx="2264664" cy="526669"/>
          </a:xfrm>
        </p:grpSpPr>
        <p:sp>
          <p:nvSpPr>
            <p:cNvPr name="Freeform 208" id="20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09" id="207"/>
          <p:cNvGrpSpPr/>
          <p:nvPr/>
        </p:nvGrpSpPr>
        <p:grpSpPr>
          <a:xfrm rot="0">
            <a:off x="10643997" y="3559997"/>
            <a:ext cx="1698498" cy="395002"/>
            <a:chOff x="0" y="0"/>
            <a:chExt cx="2264664" cy="526669"/>
          </a:xfrm>
        </p:grpSpPr>
        <p:sp>
          <p:nvSpPr>
            <p:cNvPr name="Freeform 210" id="20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11" id="209"/>
          <p:cNvGrpSpPr/>
          <p:nvPr/>
        </p:nvGrpSpPr>
        <p:grpSpPr>
          <a:xfrm rot="0">
            <a:off x="10643997" y="3559997"/>
            <a:ext cx="1698498" cy="395002"/>
            <a:chOff x="0" y="0"/>
            <a:chExt cx="2264664" cy="526669"/>
          </a:xfrm>
        </p:grpSpPr>
        <p:sp>
          <p:nvSpPr>
            <p:cNvPr name="Freeform 212" id="21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13" id="211"/>
          <p:cNvGrpSpPr/>
          <p:nvPr/>
        </p:nvGrpSpPr>
        <p:grpSpPr>
          <a:xfrm rot="0">
            <a:off x="10643997" y="3559997"/>
            <a:ext cx="1698498" cy="395002"/>
            <a:chOff x="0" y="0"/>
            <a:chExt cx="2264664" cy="526669"/>
          </a:xfrm>
        </p:grpSpPr>
        <p:sp>
          <p:nvSpPr>
            <p:cNvPr name="Freeform 214" id="21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15" id="21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39</a:t>
              </a:r>
            </a:p>
          </p:txBody>
        </p:sp>
      </p:grpSp>
      <p:grpSp>
        <p:nvGrpSpPr>
          <p:cNvPr name="Group 216" id="214"/>
          <p:cNvGrpSpPr/>
          <p:nvPr/>
        </p:nvGrpSpPr>
        <p:grpSpPr>
          <a:xfrm rot="0">
            <a:off x="12342505" y="3559997"/>
            <a:ext cx="1698498" cy="395002"/>
            <a:chOff x="0" y="0"/>
            <a:chExt cx="2264664" cy="526669"/>
          </a:xfrm>
        </p:grpSpPr>
        <p:sp>
          <p:nvSpPr>
            <p:cNvPr name="Freeform 217" id="21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18" id="216"/>
          <p:cNvGrpSpPr/>
          <p:nvPr/>
        </p:nvGrpSpPr>
        <p:grpSpPr>
          <a:xfrm rot="0">
            <a:off x="12342505" y="3559997"/>
            <a:ext cx="1698498" cy="395002"/>
            <a:chOff x="0" y="0"/>
            <a:chExt cx="2264664" cy="526669"/>
          </a:xfrm>
        </p:grpSpPr>
        <p:sp>
          <p:nvSpPr>
            <p:cNvPr name="Freeform 219" id="21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20" id="218"/>
          <p:cNvGrpSpPr/>
          <p:nvPr/>
        </p:nvGrpSpPr>
        <p:grpSpPr>
          <a:xfrm rot="0">
            <a:off x="12342505" y="3559997"/>
            <a:ext cx="1698498" cy="395002"/>
            <a:chOff x="0" y="0"/>
            <a:chExt cx="2264664" cy="526669"/>
          </a:xfrm>
        </p:grpSpPr>
        <p:sp>
          <p:nvSpPr>
            <p:cNvPr name="Freeform 221" id="21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22" id="220"/>
          <p:cNvGrpSpPr/>
          <p:nvPr/>
        </p:nvGrpSpPr>
        <p:grpSpPr>
          <a:xfrm rot="0">
            <a:off x="12342505" y="3559997"/>
            <a:ext cx="1698498" cy="395002"/>
            <a:chOff x="0" y="0"/>
            <a:chExt cx="2264664" cy="526669"/>
          </a:xfrm>
        </p:grpSpPr>
        <p:sp>
          <p:nvSpPr>
            <p:cNvPr name="Freeform 223" id="22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24" id="22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46</a:t>
              </a:r>
            </a:p>
          </p:txBody>
        </p:sp>
      </p:grpSp>
      <p:grpSp>
        <p:nvGrpSpPr>
          <p:cNvPr name="Group 225" id="223"/>
          <p:cNvGrpSpPr/>
          <p:nvPr/>
        </p:nvGrpSpPr>
        <p:grpSpPr>
          <a:xfrm rot="0">
            <a:off x="14041003" y="3559997"/>
            <a:ext cx="1698498" cy="395002"/>
            <a:chOff x="0" y="0"/>
            <a:chExt cx="2264664" cy="526669"/>
          </a:xfrm>
        </p:grpSpPr>
        <p:sp>
          <p:nvSpPr>
            <p:cNvPr name="Freeform 226" id="22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27" id="225"/>
          <p:cNvGrpSpPr/>
          <p:nvPr/>
        </p:nvGrpSpPr>
        <p:grpSpPr>
          <a:xfrm rot="0">
            <a:off x="14041003" y="3559997"/>
            <a:ext cx="1698498" cy="395002"/>
            <a:chOff x="0" y="0"/>
            <a:chExt cx="2264664" cy="526669"/>
          </a:xfrm>
        </p:grpSpPr>
        <p:sp>
          <p:nvSpPr>
            <p:cNvPr name="Freeform 228" id="22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29" id="227"/>
          <p:cNvGrpSpPr/>
          <p:nvPr/>
        </p:nvGrpSpPr>
        <p:grpSpPr>
          <a:xfrm rot="0">
            <a:off x="14041003" y="3559997"/>
            <a:ext cx="1698498" cy="395002"/>
            <a:chOff x="0" y="0"/>
            <a:chExt cx="2264664" cy="526669"/>
          </a:xfrm>
        </p:grpSpPr>
        <p:sp>
          <p:nvSpPr>
            <p:cNvPr name="Freeform 230" id="22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31" id="229"/>
          <p:cNvGrpSpPr/>
          <p:nvPr/>
        </p:nvGrpSpPr>
        <p:grpSpPr>
          <a:xfrm rot="0">
            <a:off x="14041003" y="3559997"/>
            <a:ext cx="1698498" cy="395002"/>
            <a:chOff x="0" y="0"/>
            <a:chExt cx="2264664" cy="526669"/>
          </a:xfrm>
        </p:grpSpPr>
        <p:sp>
          <p:nvSpPr>
            <p:cNvPr name="Freeform 232" id="23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33" id="23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54</a:t>
              </a:r>
            </a:p>
          </p:txBody>
        </p:sp>
      </p:grpSp>
      <p:grpSp>
        <p:nvGrpSpPr>
          <p:cNvPr name="Group 234" id="232"/>
          <p:cNvGrpSpPr/>
          <p:nvPr/>
        </p:nvGrpSpPr>
        <p:grpSpPr>
          <a:xfrm rot="0">
            <a:off x="15739501" y="3559997"/>
            <a:ext cx="1698498" cy="395002"/>
            <a:chOff x="0" y="0"/>
            <a:chExt cx="2264664" cy="526669"/>
          </a:xfrm>
        </p:grpSpPr>
        <p:sp>
          <p:nvSpPr>
            <p:cNvPr name="Freeform 235" id="23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36" id="234"/>
          <p:cNvGrpSpPr/>
          <p:nvPr/>
        </p:nvGrpSpPr>
        <p:grpSpPr>
          <a:xfrm rot="0">
            <a:off x="15739501" y="3559997"/>
            <a:ext cx="1698498" cy="395002"/>
            <a:chOff x="0" y="0"/>
            <a:chExt cx="2264664" cy="526669"/>
          </a:xfrm>
        </p:grpSpPr>
        <p:sp>
          <p:nvSpPr>
            <p:cNvPr name="Freeform 237" id="23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38" id="236"/>
          <p:cNvGrpSpPr/>
          <p:nvPr/>
        </p:nvGrpSpPr>
        <p:grpSpPr>
          <a:xfrm rot="0">
            <a:off x="15739501" y="3559997"/>
            <a:ext cx="1698498" cy="395002"/>
            <a:chOff x="0" y="0"/>
            <a:chExt cx="2264664" cy="526669"/>
          </a:xfrm>
        </p:grpSpPr>
        <p:sp>
          <p:nvSpPr>
            <p:cNvPr name="Freeform 239" id="23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40" id="238"/>
          <p:cNvGrpSpPr/>
          <p:nvPr/>
        </p:nvGrpSpPr>
        <p:grpSpPr>
          <a:xfrm rot="0">
            <a:off x="15739501" y="3559997"/>
            <a:ext cx="1698498" cy="395002"/>
            <a:chOff x="0" y="0"/>
            <a:chExt cx="2264664" cy="526669"/>
          </a:xfrm>
        </p:grpSpPr>
        <p:sp>
          <p:nvSpPr>
            <p:cNvPr name="Freeform 241" id="23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42" id="24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64</a:t>
              </a:r>
            </a:p>
          </p:txBody>
        </p:sp>
      </p:grpSp>
      <p:grpSp>
        <p:nvGrpSpPr>
          <p:cNvPr name="Group 243" id="241"/>
          <p:cNvGrpSpPr/>
          <p:nvPr/>
        </p:nvGrpSpPr>
        <p:grpSpPr>
          <a:xfrm rot="0">
            <a:off x="850001" y="3945998"/>
            <a:ext cx="16587978" cy="8954"/>
            <a:chOff x="0" y="0"/>
            <a:chExt cx="22117304" cy="11938"/>
          </a:xfrm>
        </p:grpSpPr>
        <p:sp>
          <p:nvSpPr>
            <p:cNvPr name="Freeform 244" id="242"/>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245" id="243"/>
          <p:cNvGrpSpPr/>
          <p:nvPr/>
        </p:nvGrpSpPr>
        <p:grpSpPr>
          <a:xfrm rot="0">
            <a:off x="1070000" y="3954999"/>
            <a:ext cx="2699956" cy="395002"/>
            <a:chOff x="0" y="0"/>
            <a:chExt cx="3599942" cy="526669"/>
          </a:xfrm>
        </p:grpSpPr>
        <p:sp>
          <p:nvSpPr>
            <p:cNvPr name="Freeform 246" id="244"/>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247" id="245"/>
          <p:cNvGrpSpPr/>
          <p:nvPr/>
        </p:nvGrpSpPr>
        <p:grpSpPr>
          <a:xfrm rot="0">
            <a:off x="1070000" y="3954999"/>
            <a:ext cx="2699956" cy="395002"/>
            <a:chOff x="0" y="0"/>
            <a:chExt cx="3599942" cy="526669"/>
          </a:xfrm>
        </p:grpSpPr>
        <p:sp>
          <p:nvSpPr>
            <p:cNvPr name="Freeform 248" id="246"/>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249" id="247"/>
          <p:cNvGrpSpPr/>
          <p:nvPr/>
        </p:nvGrpSpPr>
        <p:grpSpPr>
          <a:xfrm rot="0">
            <a:off x="1070000" y="3954999"/>
            <a:ext cx="2700004" cy="395002"/>
            <a:chOff x="0" y="0"/>
            <a:chExt cx="3600005" cy="526669"/>
          </a:xfrm>
        </p:grpSpPr>
        <p:sp>
          <p:nvSpPr>
            <p:cNvPr name="Freeform 250" id="248"/>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251" id="249"/>
          <p:cNvGrpSpPr/>
          <p:nvPr/>
        </p:nvGrpSpPr>
        <p:grpSpPr>
          <a:xfrm rot="0">
            <a:off x="1070000" y="3954999"/>
            <a:ext cx="2700004" cy="395002"/>
            <a:chOff x="0" y="0"/>
            <a:chExt cx="3600005" cy="526669"/>
          </a:xfrm>
        </p:grpSpPr>
        <p:sp>
          <p:nvSpPr>
            <p:cNvPr name="Freeform 252" id="250"/>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253" id="251"/>
            <p:cNvSpPr txBox="true"/>
            <p:nvPr/>
          </p:nvSpPr>
          <p:spPr>
            <a:xfrm>
              <a:off x="0" y="0"/>
              <a:ext cx="3600005" cy="526669"/>
            </a:xfrm>
            <a:prstGeom prst="rect">
              <a:avLst/>
            </a:prstGeom>
          </p:spPr>
          <p:txBody>
            <a:bodyPr anchor="ctr" rtlCol="false" tIns="0" lIns="0" bIns="0" rIns="0"/>
            <a:lstStyle/>
            <a:p>
              <a:pPr algn="l">
                <a:lnSpc>
                  <a:spcPts val="1584"/>
                </a:lnSpc>
              </a:pPr>
              <a:r>
                <a:rPr lang="en-US" b="true" sz="1320" i="true">
                  <a:solidFill>
                    <a:srgbClr val="132257"/>
                  </a:solidFill>
                  <a:latin typeface="Exo 2 Bold Italics"/>
                  <a:ea typeface="Exo 2 Bold Italics"/>
                  <a:cs typeface="Exo 2 Bold Italics"/>
                  <a:sym typeface="Exo 2 Bold Italics"/>
                </a:rPr>
                <a:t>Performance Gap</a:t>
              </a:r>
            </a:p>
          </p:txBody>
        </p:sp>
      </p:grpSp>
      <p:grpSp>
        <p:nvGrpSpPr>
          <p:cNvPr name="Group 254" id="252"/>
          <p:cNvGrpSpPr/>
          <p:nvPr/>
        </p:nvGrpSpPr>
        <p:grpSpPr>
          <a:xfrm rot="0">
            <a:off x="3850005" y="3954999"/>
            <a:ext cx="1698498" cy="395002"/>
            <a:chOff x="0" y="0"/>
            <a:chExt cx="2264664" cy="526669"/>
          </a:xfrm>
        </p:grpSpPr>
        <p:sp>
          <p:nvSpPr>
            <p:cNvPr name="Freeform 255" id="25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56" id="254"/>
          <p:cNvGrpSpPr/>
          <p:nvPr/>
        </p:nvGrpSpPr>
        <p:grpSpPr>
          <a:xfrm rot="0">
            <a:off x="3850005" y="3954999"/>
            <a:ext cx="1698498" cy="395002"/>
            <a:chOff x="0" y="0"/>
            <a:chExt cx="2264664" cy="526669"/>
          </a:xfrm>
        </p:grpSpPr>
        <p:sp>
          <p:nvSpPr>
            <p:cNvPr name="Freeform 257" id="25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58" id="256"/>
          <p:cNvGrpSpPr/>
          <p:nvPr/>
        </p:nvGrpSpPr>
        <p:grpSpPr>
          <a:xfrm rot="0">
            <a:off x="3850005" y="3954999"/>
            <a:ext cx="1698498" cy="395002"/>
            <a:chOff x="0" y="0"/>
            <a:chExt cx="2264664" cy="526669"/>
          </a:xfrm>
        </p:grpSpPr>
        <p:sp>
          <p:nvSpPr>
            <p:cNvPr name="Freeform 259" id="25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60" id="258"/>
          <p:cNvGrpSpPr/>
          <p:nvPr/>
        </p:nvGrpSpPr>
        <p:grpSpPr>
          <a:xfrm rot="0">
            <a:off x="3850005" y="3954999"/>
            <a:ext cx="1698498" cy="395002"/>
            <a:chOff x="0" y="0"/>
            <a:chExt cx="2264664" cy="526669"/>
          </a:xfrm>
        </p:grpSpPr>
        <p:sp>
          <p:nvSpPr>
            <p:cNvPr name="Freeform 261" id="25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62" id="260"/>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-9</a:t>
              </a:r>
            </a:p>
          </p:txBody>
        </p:sp>
      </p:grpSp>
      <p:grpSp>
        <p:nvGrpSpPr>
          <p:cNvPr name="Group 263" id="261"/>
          <p:cNvGrpSpPr/>
          <p:nvPr/>
        </p:nvGrpSpPr>
        <p:grpSpPr>
          <a:xfrm rot="0">
            <a:off x="5548503" y="3954999"/>
            <a:ext cx="1698498" cy="395002"/>
            <a:chOff x="0" y="0"/>
            <a:chExt cx="2264664" cy="526669"/>
          </a:xfrm>
        </p:grpSpPr>
        <p:sp>
          <p:nvSpPr>
            <p:cNvPr name="Freeform 264" id="26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65" id="263"/>
          <p:cNvGrpSpPr/>
          <p:nvPr/>
        </p:nvGrpSpPr>
        <p:grpSpPr>
          <a:xfrm rot="0">
            <a:off x="5548503" y="3954999"/>
            <a:ext cx="1698498" cy="395002"/>
            <a:chOff x="0" y="0"/>
            <a:chExt cx="2264664" cy="526669"/>
          </a:xfrm>
        </p:grpSpPr>
        <p:sp>
          <p:nvSpPr>
            <p:cNvPr name="Freeform 266" id="26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67" id="265"/>
          <p:cNvGrpSpPr/>
          <p:nvPr/>
        </p:nvGrpSpPr>
        <p:grpSpPr>
          <a:xfrm rot="0">
            <a:off x="5548503" y="3954999"/>
            <a:ext cx="1698498" cy="395002"/>
            <a:chOff x="0" y="0"/>
            <a:chExt cx="2264664" cy="526669"/>
          </a:xfrm>
        </p:grpSpPr>
        <p:sp>
          <p:nvSpPr>
            <p:cNvPr name="Freeform 268" id="26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69" id="267"/>
          <p:cNvGrpSpPr/>
          <p:nvPr/>
        </p:nvGrpSpPr>
        <p:grpSpPr>
          <a:xfrm rot="0">
            <a:off x="5548503" y="3954999"/>
            <a:ext cx="1698498" cy="395002"/>
            <a:chOff x="0" y="0"/>
            <a:chExt cx="2264664" cy="526669"/>
          </a:xfrm>
        </p:grpSpPr>
        <p:sp>
          <p:nvSpPr>
            <p:cNvPr name="Freeform 270" id="26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71" id="269"/>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+0</a:t>
              </a:r>
            </a:p>
          </p:txBody>
        </p:sp>
      </p:grpSp>
      <p:grpSp>
        <p:nvGrpSpPr>
          <p:cNvPr name="Group 272" id="270"/>
          <p:cNvGrpSpPr/>
          <p:nvPr/>
        </p:nvGrpSpPr>
        <p:grpSpPr>
          <a:xfrm rot="0">
            <a:off x="7247001" y="3954999"/>
            <a:ext cx="1698498" cy="395002"/>
            <a:chOff x="0" y="0"/>
            <a:chExt cx="2264664" cy="526669"/>
          </a:xfrm>
        </p:grpSpPr>
        <p:sp>
          <p:nvSpPr>
            <p:cNvPr name="Freeform 273" id="27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74" id="272"/>
          <p:cNvGrpSpPr/>
          <p:nvPr/>
        </p:nvGrpSpPr>
        <p:grpSpPr>
          <a:xfrm rot="0">
            <a:off x="7247001" y="3954999"/>
            <a:ext cx="1698498" cy="395002"/>
            <a:chOff x="0" y="0"/>
            <a:chExt cx="2264664" cy="526669"/>
          </a:xfrm>
        </p:grpSpPr>
        <p:sp>
          <p:nvSpPr>
            <p:cNvPr name="Freeform 275" id="27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76" id="274"/>
          <p:cNvGrpSpPr/>
          <p:nvPr/>
        </p:nvGrpSpPr>
        <p:grpSpPr>
          <a:xfrm rot="0">
            <a:off x="7247001" y="3954999"/>
            <a:ext cx="1698498" cy="395002"/>
            <a:chOff x="0" y="0"/>
            <a:chExt cx="2264664" cy="526669"/>
          </a:xfrm>
        </p:grpSpPr>
        <p:sp>
          <p:nvSpPr>
            <p:cNvPr name="Freeform 277" id="27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78" id="276"/>
          <p:cNvGrpSpPr/>
          <p:nvPr/>
        </p:nvGrpSpPr>
        <p:grpSpPr>
          <a:xfrm rot="0">
            <a:off x="7247001" y="3954999"/>
            <a:ext cx="1698498" cy="395002"/>
            <a:chOff x="0" y="0"/>
            <a:chExt cx="2264664" cy="526669"/>
          </a:xfrm>
        </p:grpSpPr>
        <p:sp>
          <p:nvSpPr>
            <p:cNvPr name="Freeform 279" id="27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80" id="278"/>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BA97C"/>
                  </a:solidFill>
                  <a:latin typeface="Exo 2 Bold"/>
                  <a:ea typeface="Exo 2 Bold"/>
                  <a:cs typeface="Exo 2 Bold"/>
                  <a:sym typeface="Exo 2 Bold"/>
                </a:rPr>
                <a:t>+5</a:t>
              </a:r>
            </a:p>
          </p:txBody>
        </p:sp>
      </p:grpSp>
      <p:grpSp>
        <p:nvGrpSpPr>
          <p:cNvPr name="Group 281" id="279"/>
          <p:cNvGrpSpPr/>
          <p:nvPr/>
        </p:nvGrpSpPr>
        <p:grpSpPr>
          <a:xfrm rot="0">
            <a:off x="8945499" y="3954999"/>
            <a:ext cx="1698498" cy="395002"/>
            <a:chOff x="0" y="0"/>
            <a:chExt cx="2264664" cy="526669"/>
          </a:xfrm>
        </p:grpSpPr>
        <p:sp>
          <p:nvSpPr>
            <p:cNvPr name="Freeform 282" id="28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83" id="281"/>
          <p:cNvGrpSpPr/>
          <p:nvPr/>
        </p:nvGrpSpPr>
        <p:grpSpPr>
          <a:xfrm rot="0">
            <a:off x="8945499" y="3954999"/>
            <a:ext cx="1698498" cy="395002"/>
            <a:chOff x="0" y="0"/>
            <a:chExt cx="2264664" cy="526669"/>
          </a:xfrm>
        </p:grpSpPr>
        <p:sp>
          <p:nvSpPr>
            <p:cNvPr name="Freeform 284" id="28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85" id="283"/>
          <p:cNvGrpSpPr/>
          <p:nvPr/>
        </p:nvGrpSpPr>
        <p:grpSpPr>
          <a:xfrm rot="0">
            <a:off x="8945499" y="3954999"/>
            <a:ext cx="1698498" cy="395002"/>
            <a:chOff x="0" y="0"/>
            <a:chExt cx="2264664" cy="526669"/>
          </a:xfrm>
        </p:grpSpPr>
        <p:sp>
          <p:nvSpPr>
            <p:cNvPr name="Freeform 286" id="28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87" id="285"/>
          <p:cNvGrpSpPr/>
          <p:nvPr/>
        </p:nvGrpSpPr>
        <p:grpSpPr>
          <a:xfrm rot="0">
            <a:off x="8945499" y="3954999"/>
            <a:ext cx="1698498" cy="395002"/>
            <a:chOff x="0" y="0"/>
            <a:chExt cx="2264664" cy="526669"/>
          </a:xfrm>
        </p:grpSpPr>
        <p:sp>
          <p:nvSpPr>
            <p:cNvPr name="Freeform 288" id="28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89" id="287"/>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BA97C"/>
                  </a:solidFill>
                  <a:latin typeface="Exo 2 Bold"/>
                  <a:ea typeface="Exo 2 Bold"/>
                  <a:cs typeface="Exo 2 Bold"/>
                  <a:sym typeface="Exo 2 Bold"/>
                </a:rPr>
                <a:t>+14</a:t>
              </a:r>
            </a:p>
          </p:txBody>
        </p:sp>
      </p:grpSp>
      <p:grpSp>
        <p:nvGrpSpPr>
          <p:cNvPr name="Group 290" id="288"/>
          <p:cNvGrpSpPr/>
          <p:nvPr/>
        </p:nvGrpSpPr>
        <p:grpSpPr>
          <a:xfrm rot="0">
            <a:off x="10643997" y="3954999"/>
            <a:ext cx="1698498" cy="395002"/>
            <a:chOff x="0" y="0"/>
            <a:chExt cx="2264664" cy="526669"/>
          </a:xfrm>
        </p:grpSpPr>
        <p:sp>
          <p:nvSpPr>
            <p:cNvPr name="Freeform 291" id="28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292" id="290"/>
          <p:cNvGrpSpPr/>
          <p:nvPr/>
        </p:nvGrpSpPr>
        <p:grpSpPr>
          <a:xfrm rot="0">
            <a:off x="10643997" y="3954999"/>
            <a:ext cx="1698498" cy="395002"/>
            <a:chOff x="0" y="0"/>
            <a:chExt cx="2264664" cy="526669"/>
          </a:xfrm>
        </p:grpSpPr>
        <p:sp>
          <p:nvSpPr>
            <p:cNvPr name="Freeform 293" id="29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294" id="292"/>
          <p:cNvGrpSpPr/>
          <p:nvPr/>
        </p:nvGrpSpPr>
        <p:grpSpPr>
          <a:xfrm rot="0">
            <a:off x="10643997" y="3954999"/>
            <a:ext cx="1698498" cy="395002"/>
            <a:chOff x="0" y="0"/>
            <a:chExt cx="2264664" cy="526669"/>
          </a:xfrm>
        </p:grpSpPr>
        <p:sp>
          <p:nvSpPr>
            <p:cNvPr name="Freeform 295" id="29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296" id="294"/>
          <p:cNvGrpSpPr/>
          <p:nvPr/>
        </p:nvGrpSpPr>
        <p:grpSpPr>
          <a:xfrm rot="0">
            <a:off x="10643997" y="3954999"/>
            <a:ext cx="1698498" cy="395002"/>
            <a:chOff x="0" y="0"/>
            <a:chExt cx="2264664" cy="526669"/>
          </a:xfrm>
        </p:grpSpPr>
        <p:sp>
          <p:nvSpPr>
            <p:cNvPr name="Freeform 297" id="29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298" id="296"/>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BA97C"/>
                  </a:solidFill>
                  <a:latin typeface="Exo 2 Bold"/>
                  <a:ea typeface="Exo 2 Bold"/>
                  <a:cs typeface="Exo 2 Bold"/>
                  <a:sym typeface="Exo 2 Bold"/>
                </a:rPr>
                <a:t>+22</a:t>
              </a:r>
            </a:p>
          </p:txBody>
        </p:sp>
      </p:grpSp>
      <p:grpSp>
        <p:nvGrpSpPr>
          <p:cNvPr name="Group 299" id="297"/>
          <p:cNvGrpSpPr/>
          <p:nvPr/>
        </p:nvGrpSpPr>
        <p:grpSpPr>
          <a:xfrm rot="0">
            <a:off x="850001" y="4341000"/>
            <a:ext cx="16587978" cy="8954"/>
            <a:chOff x="0" y="0"/>
            <a:chExt cx="22117304" cy="11938"/>
          </a:xfrm>
        </p:grpSpPr>
        <p:sp>
          <p:nvSpPr>
            <p:cNvPr name="Freeform 300" id="298"/>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301" id="299"/>
          <p:cNvGrpSpPr/>
          <p:nvPr/>
        </p:nvGrpSpPr>
        <p:grpSpPr>
          <a:xfrm rot="0">
            <a:off x="850001" y="4350001"/>
            <a:ext cx="16587978" cy="395002"/>
            <a:chOff x="0" y="0"/>
            <a:chExt cx="22117304" cy="526669"/>
          </a:xfrm>
        </p:grpSpPr>
        <p:sp>
          <p:nvSpPr>
            <p:cNvPr name="Freeform 302" id="300"/>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solidFill>
              <a:srgbClr val="E9EDF6"/>
            </a:solidFill>
          </p:spPr>
        </p:sp>
      </p:grpSp>
      <p:grpSp>
        <p:nvGrpSpPr>
          <p:cNvPr name="Group 303" id="301"/>
          <p:cNvGrpSpPr/>
          <p:nvPr/>
        </p:nvGrpSpPr>
        <p:grpSpPr>
          <a:xfrm rot="0">
            <a:off x="1070000" y="4350001"/>
            <a:ext cx="16587978" cy="395002"/>
            <a:chOff x="0" y="0"/>
            <a:chExt cx="22117304" cy="526669"/>
          </a:xfrm>
        </p:grpSpPr>
        <p:sp>
          <p:nvSpPr>
            <p:cNvPr name="Freeform 304" id="302"/>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blipFill>
              <a:blip r:embed="rId7">
                <a:alphaModFix amt="0"/>
              </a:blip>
              <a:stretch>
                <a:fillRect l="0" t="-767699" r="0" b="-767699"/>
              </a:stretch>
            </a:blipFill>
          </p:spPr>
        </p:sp>
      </p:grpSp>
      <p:grpSp>
        <p:nvGrpSpPr>
          <p:cNvPr name="Group 305" id="303"/>
          <p:cNvGrpSpPr/>
          <p:nvPr/>
        </p:nvGrpSpPr>
        <p:grpSpPr>
          <a:xfrm rot="0">
            <a:off x="1070000" y="4342857"/>
            <a:ext cx="16587978" cy="402146"/>
            <a:chOff x="0" y="0"/>
            <a:chExt cx="22117304" cy="536194"/>
          </a:xfrm>
        </p:grpSpPr>
        <p:sp>
          <p:nvSpPr>
            <p:cNvPr name="Freeform 306" id="304"/>
            <p:cNvSpPr/>
            <p:nvPr/>
          </p:nvSpPr>
          <p:spPr>
            <a:xfrm flipH="false" flipV="false" rot="0">
              <a:off x="0" y="0"/>
              <a:ext cx="22117304" cy="536194"/>
            </a:xfrm>
            <a:custGeom>
              <a:avLst/>
              <a:gdLst/>
              <a:ahLst/>
              <a:cxnLst/>
              <a:rect r="r" b="b" t="t" l="l"/>
              <a:pathLst>
                <a:path h="536194" w="22117304">
                  <a:moveTo>
                    <a:pt x="0" y="0"/>
                  </a:moveTo>
                  <a:lnTo>
                    <a:pt x="22117304" y="0"/>
                  </a:lnTo>
                  <a:lnTo>
                    <a:pt x="22117304" y="536194"/>
                  </a:lnTo>
                  <a:lnTo>
                    <a:pt x="0" y="536194"/>
                  </a:lnTo>
                  <a:close/>
                </a:path>
              </a:pathLst>
            </a:custGeom>
            <a:blipFill>
              <a:blip r:embed="rId8">
                <a:alphaModFix amt="0"/>
              </a:blip>
              <a:stretch>
                <a:fillRect l="0" t="-753173" r="0" b="-753173"/>
              </a:stretch>
            </a:blipFill>
          </p:spPr>
        </p:sp>
      </p:grpSp>
      <p:grpSp>
        <p:nvGrpSpPr>
          <p:cNvPr name="Group 307" id="305"/>
          <p:cNvGrpSpPr/>
          <p:nvPr/>
        </p:nvGrpSpPr>
        <p:grpSpPr>
          <a:xfrm rot="0">
            <a:off x="1070000" y="4335713"/>
            <a:ext cx="16587997" cy="409289"/>
            <a:chOff x="0" y="0"/>
            <a:chExt cx="22117329" cy="545719"/>
          </a:xfrm>
        </p:grpSpPr>
        <p:sp>
          <p:nvSpPr>
            <p:cNvPr name="Freeform 308" id="306"/>
            <p:cNvSpPr/>
            <p:nvPr/>
          </p:nvSpPr>
          <p:spPr>
            <a:xfrm flipH="false" flipV="false" rot="0">
              <a:off x="0" y="0"/>
              <a:ext cx="22117304" cy="545719"/>
            </a:xfrm>
            <a:custGeom>
              <a:avLst/>
              <a:gdLst/>
              <a:ahLst/>
              <a:cxnLst/>
              <a:rect r="r" b="b" t="t" l="l"/>
              <a:pathLst>
                <a:path h="545719" w="22117304">
                  <a:moveTo>
                    <a:pt x="0" y="0"/>
                  </a:moveTo>
                  <a:lnTo>
                    <a:pt x="22117304" y="0"/>
                  </a:lnTo>
                  <a:lnTo>
                    <a:pt x="22117304" y="545719"/>
                  </a:lnTo>
                  <a:lnTo>
                    <a:pt x="0" y="545719"/>
                  </a:lnTo>
                  <a:close/>
                </a:path>
              </a:pathLst>
            </a:custGeom>
            <a:blipFill>
              <a:blip r:embed="rId9">
                <a:alphaModFix amt="0"/>
              </a:blip>
              <a:stretch>
                <a:fillRect l="0" t="-739155" r="0" b="-739155"/>
              </a:stretch>
            </a:blipFill>
          </p:spPr>
        </p:sp>
      </p:grpSp>
      <p:grpSp>
        <p:nvGrpSpPr>
          <p:cNvPr name="Group 309" id="307"/>
          <p:cNvGrpSpPr/>
          <p:nvPr/>
        </p:nvGrpSpPr>
        <p:grpSpPr>
          <a:xfrm rot="0">
            <a:off x="1070000" y="4328570"/>
            <a:ext cx="16587997" cy="416433"/>
            <a:chOff x="0" y="0"/>
            <a:chExt cx="22117329" cy="555244"/>
          </a:xfrm>
        </p:grpSpPr>
        <p:sp>
          <p:nvSpPr>
            <p:cNvPr name="Freeform 310" id="308"/>
            <p:cNvSpPr/>
            <p:nvPr/>
          </p:nvSpPr>
          <p:spPr>
            <a:xfrm flipH="false" flipV="false" rot="0">
              <a:off x="0" y="0"/>
              <a:ext cx="22117329" cy="555244"/>
            </a:xfrm>
            <a:custGeom>
              <a:avLst/>
              <a:gdLst/>
              <a:ahLst/>
              <a:cxnLst/>
              <a:rect r="r" b="b" t="t" l="l"/>
              <a:pathLst>
                <a:path h="555244" w="22117329">
                  <a:moveTo>
                    <a:pt x="0" y="0"/>
                  </a:moveTo>
                  <a:lnTo>
                    <a:pt x="22117329" y="0"/>
                  </a:lnTo>
                  <a:lnTo>
                    <a:pt x="22117329" y="555244"/>
                  </a:lnTo>
                  <a:lnTo>
                    <a:pt x="0" y="555244"/>
                  </a:lnTo>
                  <a:close/>
                </a:path>
              </a:pathLst>
            </a:custGeom>
            <a:blipFill>
              <a:blip r:embed="rId3">
                <a:alphaModFix amt="0"/>
              </a:blip>
              <a:stretch>
                <a:fillRect l="0" t="-726158" r="0" b="-726158"/>
              </a:stretch>
            </a:blipFill>
          </p:spPr>
        </p:sp>
        <p:sp>
          <p:nvSpPr>
            <p:cNvPr name="TextBox 311" id="309"/>
            <p:cNvSpPr txBox="true"/>
            <p:nvPr/>
          </p:nvSpPr>
          <p:spPr>
            <a:xfrm>
              <a:off x="0" y="-9525"/>
              <a:ext cx="22117329" cy="564769"/>
            </a:xfrm>
            <a:prstGeom prst="rect">
              <a:avLst/>
            </a:prstGeom>
          </p:spPr>
          <p:txBody>
            <a:bodyPr anchor="ctr" rtlCol="false" tIns="0" lIns="0" bIns="0" rIns="0"/>
            <a:lstStyle/>
            <a:p>
              <a:pPr algn="l">
                <a:lnSpc>
                  <a:spcPts val="1512"/>
                </a:lnSpc>
              </a:pPr>
              <a:r>
                <a:rPr lang="en-US" b="true" sz="1260" spc="138">
                  <a:solidFill>
                    <a:srgbClr val="132257"/>
                  </a:solidFill>
                  <a:latin typeface="Exo 2 Bold"/>
                  <a:ea typeface="Exo 2 Bold"/>
                  <a:cs typeface="Exo 2 Bold"/>
                  <a:sym typeface="Exo 2 Bold"/>
                </a:rPr>
                <a:t>II.  NUMBER OF TRADES</a:t>
              </a:r>
            </a:p>
          </p:txBody>
        </p:sp>
      </p:grpSp>
      <p:grpSp>
        <p:nvGrpSpPr>
          <p:cNvPr name="Group 312" id="310"/>
          <p:cNvGrpSpPr/>
          <p:nvPr/>
        </p:nvGrpSpPr>
        <p:grpSpPr>
          <a:xfrm rot="0">
            <a:off x="1070000" y="4745003"/>
            <a:ext cx="2699956" cy="395002"/>
            <a:chOff x="0" y="0"/>
            <a:chExt cx="3599942" cy="526669"/>
          </a:xfrm>
        </p:grpSpPr>
        <p:sp>
          <p:nvSpPr>
            <p:cNvPr name="Freeform 313" id="311"/>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314" id="312"/>
          <p:cNvGrpSpPr/>
          <p:nvPr/>
        </p:nvGrpSpPr>
        <p:grpSpPr>
          <a:xfrm rot="0">
            <a:off x="1070000" y="4745003"/>
            <a:ext cx="2699956" cy="395002"/>
            <a:chOff x="0" y="0"/>
            <a:chExt cx="3599942" cy="526669"/>
          </a:xfrm>
        </p:grpSpPr>
        <p:sp>
          <p:nvSpPr>
            <p:cNvPr name="Freeform 315" id="313"/>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316" id="314"/>
          <p:cNvGrpSpPr/>
          <p:nvPr/>
        </p:nvGrpSpPr>
        <p:grpSpPr>
          <a:xfrm rot="0">
            <a:off x="1070000" y="4745003"/>
            <a:ext cx="2700004" cy="395002"/>
            <a:chOff x="0" y="0"/>
            <a:chExt cx="3600005" cy="526669"/>
          </a:xfrm>
        </p:grpSpPr>
        <p:sp>
          <p:nvSpPr>
            <p:cNvPr name="Freeform 317" id="315"/>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318" id="316"/>
          <p:cNvGrpSpPr/>
          <p:nvPr/>
        </p:nvGrpSpPr>
        <p:grpSpPr>
          <a:xfrm rot="0">
            <a:off x="1070000" y="4745003"/>
            <a:ext cx="2700004" cy="395002"/>
            <a:chOff x="0" y="0"/>
            <a:chExt cx="3600005" cy="526669"/>
          </a:xfrm>
        </p:grpSpPr>
        <p:sp>
          <p:nvSpPr>
            <p:cNvPr name="Freeform 319" id="317"/>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320" id="318"/>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Achieved / Current</a:t>
              </a:r>
            </a:p>
          </p:txBody>
        </p:sp>
      </p:grpSp>
      <p:grpSp>
        <p:nvGrpSpPr>
          <p:cNvPr name="Group 321" id="319"/>
          <p:cNvGrpSpPr/>
          <p:nvPr/>
        </p:nvGrpSpPr>
        <p:grpSpPr>
          <a:xfrm rot="0">
            <a:off x="3850005" y="4745003"/>
            <a:ext cx="1698498" cy="395002"/>
            <a:chOff x="0" y="0"/>
            <a:chExt cx="2264664" cy="526669"/>
          </a:xfrm>
        </p:grpSpPr>
        <p:sp>
          <p:nvSpPr>
            <p:cNvPr name="Freeform 322" id="32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23" id="321"/>
          <p:cNvGrpSpPr/>
          <p:nvPr/>
        </p:nvGrpSpPr>
        <p:grpSpPr>
          <a:xfrm rot="0">
            <a:off x="3850005" y="4745003"/>
            <a:ext cx="1698498" cy="395002"/>
            <a:chOff x="0" y="0"/>
            <a:chExt cx="2264664" cy="526669"/>
          </a:xfrm>
        </p:grpSpPr>
        <p:sp>
          <p:nvSpPr>
            <p:cNvPr name="Freeform 324" id="32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25" id="323"/>
          <p:cNvGrpSpPr/>
          <p:nvPr/>
        </p:nvGrpSpPr>
        <p:grpSpPr>
          <a:xfrm rot="0">
            <a:off x="3850005" y="4745003"/>
            <a:ext cx="1698498" cy="395002"/>
            <a:chOff x="0" y="0"/>
            <a:chExt cx="2264664" cy="526669"/>
          </a:xfrm>
        </p:grpSpPr>
        <p:sp>
          <p:nvSpPr>
            <p:cNvPr name="Freeform 326" id="32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27" id="325"/>
          <p:cNvGrpSpPr/>
          <p:nvPr/>
        </p:nvGrpSpPr>
        <p:grpSpPr>
          <a:xfrm rot="0">
            <a:off x="3850005" y="4745003"/>
            <a:ext cx="1698498" cy="395002"/>
            <a:chOff x="0" y="0"/>
            <a:chExt cx="2264664" cy="526669"/>
          </a:xfrm>
        </p:grpSpPr>
        <p:sp>
          <p:nvSpPr>
            <p:cNvPr name="Freeform 328" id="32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29" id="32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8</a:t>
              </a:r>
            </a:p>
          </p:txBody>
        </p:sp>
      </p:grpSp>
      <p:grpSp>
        <p:nvGrpSpPr>
          <p:cNvPr name="Group 330" id="328"/>
          <p:cNvGrpSpPr/>
          <p:nvPr/>
        </p:nvGrpSpPr>
        <p:grpSpPr>
          <a:xfrm rot="0">
            <a:off x="5548503" y="4745003"/>
            <a:ext cx="1698498" cy="395002"/>
            <a:chOff x="0" y="0"/>
            <a:chExt cx="2264664" cy="526669"/>
          </a:xfrm>
        </p:grpSpPr>
        <p:sp>
          <p:nvSpPr>
            <p:cNvPr name="Freeform 331" id="32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32" id="330"/>
          <p:cNvGrpSpPr/>
          <p:nvPr/>
        </p:nvGrpSpPr>
        <p:grpSpPr>
          <a:xfrm rot="0">
            <a:off x="5548503" y="4745003"/>
            <a:ext cx="1698498" cy="395002"/>
            <a:chOff x="0" y="0"/>
            <a:chExt cx="2264664" cy="526669"/>
          </a:xfrm>
        </p:grpSpPr>
        <p:sp>
          <p:nvSpPr>
            <p:cNvPr name="Freeform 333" id="33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34" id="332"/>
          <p:cNvGrpSpPr/>
          <p:nvPr/>
        </p:nvGrpSpPr>
        <p:grpSpPr>
          <a:xfrm rot="0">
            <a:off x="5548503" y="4745003"/>
            <a:ext cx="1698498" cy="395002"/>
            <a:chOff x="0" y="0"/>
            <a:chExt cx="2264664" cy="526669"/>
          </a:xfrm>
        </p:grpSpPr>
        <p:sp>
          <p:nvSpPr>
            <p:cNvPr name="Freeform 335" id="33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36" id="334"/>
          <p:cNvGrpSpPr/>
          <p:nvPr/>
        </p:nvGrpSpPr>
        <p:grpSpPr>
          <a:xfrm rot="0">
            <a:off x="5548503" y="4745003"/>
            <a:ext cx="1698498" cy="395002"/>
            <a:chOff x="0" y="0"/>
            <a:chExt cx="2264664" cy="526669"/>
          </a:xfrm>
        </p:grpSpPr>
        <p:sp>
          <p:nvSpPr>
            <p:cNvPr name="Freeform 337" id="33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38" id="33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17</a:t>
              </a:r>
            </a:p>
          </p:txBody>
        </p:sp>
      </p:grpSp>
      <p:grpSp>
        <p:nvGrpSpPr>
          <p:cNvPr name="Group 339" id="337"/>
          <p:cNvGrpSpPr/>
          <p:nvPr/>
        </p:nvGrpSpPr>
        <p:grpSpPr>
          <a:xfrm rot="0">
            <a:off x="7247001" y="4745003"/>
            <a:ext cx="1698498" cy="395002"/>
            <a:chOff x="0" y="0"/>
            <a:chExt cx="2264664" cy="526669"/>
          </a:xfrm>
        </p:grpSpPr>
        <p:sp>
          <p:nvSpPr>
            <p:cNvPr name="Freeform 340" id="33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41" id="339"/>
          <p:cNvGrpSpPr/>
          <p:nvPr/>
        </p:nvGrpSpPr>
        <p:grpSpPr>
          <a:xfrm rot="0">
            <a:off x="7247001" y="4745003"/>
            <a:ext cx="1698498" cy="395002"/>
            <a:chOff x="0" y="0"/>
            <a:chExt cx="2264664" cy="526669"/>
          </a:xfrm>
        </p:grpSpPr>
        <p:sp>
          <p:nvSpPr>
            <p:cNvPr name="Freeform 342" id="34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43" id="341"/>
          <p:cNvGrpSpPr/>
          <p:nvPr/>
        </p:nvGrpSpPr>
        <p:grpSpPr>
          <a:xfrm rot="0">
            <a:off x="7247001" y="4745003"/>
            <a:ext cx="1698498" cy="395002"/>
            <a:chOff x="0" y="0"/>
            <a:chExt cx="2264664" cy="526669"/>
          </a:xfrm>
        </p:grpSpPr>
        <p:sp>
          <p:nvSpPr>
            <p:cNvPr name="Freeform 344" id="34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45" id="343"/>
          <p:cNvGrpSpPr/>
          <p:nvPr/>
        </p:nvGrpSpPr>
        <p:grpSpPr>
          <a:xfrm rot="0">
            <a:off x="7247001" y="4745003"/>
            <a:ext cx="1698498" cy="395002"/>
            <a:chOff x="0" y="0"/>
            <a:chExt cx="2264664" cy="526669"/>
          </a:xfrm>
        </p:grpSpPr>
        <p:sp>
          <p:nvSpPr>
            <p:cNvPr name="Freeform 346" id="34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47" id="34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a:t>
              </a:r>
            </a:p>
          </p:txBody>
        </p:sp>
      </p:grpSp>
      <p:grpSp>
        <p:nvGrpSpPr>
          <p:cNvPr name="Group 348" id="346"/>
          <p:cNvGrpSpPr/>
          <p:nvPr/>
        </p:nvGrpSpPr>
        <p:grpSpPr>
          <a:xfrm rot="0">
            <a:off x="8945499" y="4745003"/>
            <a:ext cx="1698498" cy="395002"/>
            <a:chOff x="0" y="0"/>
            <a:chExt cx="2264664" cy="526669"/>
          </a:xfrm>
        </p:grpSpPr>
        <p:sp>
          <p:nvSpPr>
            <p:cNvPr name="Freeform 349" id="34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50" id="348"/>
          <p:cNvGrpSpPr/>
          <p:nvPr/>
        </p:nvGrpSpPr>
        <p:grpSpPr>
          <a:xfrm rot="0">
            <a:off x="8945499" y="4745003"/>
            <a:ext cx="1698498" cy="395002"/>
            <a:chOff x="0" y="0"/>
            <a:chExt cx="2264664" cy="526669"/>
          </a:xfrm>
        </p:grpSpPr>
        <p:sp>
          <p:nvSpPr>
            <p:cNvPr name="Freeform 351" id="34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52" id="350"/>
          <p:cNvGrpSpPr/>
          <p:nvPr/>
        </p:nvGrpSpPr>
        <p:grpSpPr>
          <a:xfrm rot="0">
            <a:off x="8945499" y="4745003"/>
            <a:ext cx="1698498" cy="395002"/>
            <a:chOff x="0" y="0"/>
            <a:chExt cx="2264664" cy="526669"/>
          </a:xfrm>
        </p:grpSpPr>
        <p:sp>
          <p:nvSpPr>
            <p:cNvPr name="Freeform 353" id="35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54" id="352"/>
          <p:cNvGrpSpPr/>
          <p:nvPr/>
        </p:nvGrpSpPr>
        <p:grpSpPr>
          <a:xfrm rot="0">
            <a:off x="8945499" y="4745003"/>
            <a:ext cx="1698498" cy="395002"/>
            <a:chOff x="0" y="0"/>
            <a:chExt cx="2264664" cy="526669"/>
          </a:xfrm>
        </p:grpSpPr>
        <p:sp>
          <p:nvSpPr>
            <p:cNvPr name="Freeform 355" id="35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56" id="35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16</a:t>
              </a:r>
            </a:p>
          </p:txBody>
        </p:sp>
      </p:grpSp>
      <p:grpSp>
        <p:nvGrpSpPr>
          <p:cNvPr name="Group 357" id="355"/>
          <p:cNvGrpSpPr/>
          <p:nvPr/>
        </p:nvGrpSpPr>
        <p:grpSpPr>
          <a:xfrm rot="0">
            <a:off x="10643997" y="4745003"/>
            <a:ext cx="1698498" cy="395002"/>
            <a:chOff x="0" y="0"/>
            <a:chExt cx="2264664" cy="526669"/>
          </a:xfrm>
        </p:grpSpPr>
        <p:sp>
          <p:nvSpPr>
            <p:cNvPr name="Freeform 358" id="35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59" id="357"/>
          <p:cNvGrpSpPr/>
          <p:nvPr/>
        </p:nvGrpSpPr>
        <p:grpSpPr>
          <a:xfrm rot="0">
            <a:off x="10643997" y="4745003"/>
            <a:ext cx="1698498" cy="395002"/>
            <a:chOff x="0" y="0"/>
            <a:chExt cx="2264664" cy="526669"/>
          </a:xfrm>
        </p:grpSpPr>
        <p:sp>
          <p:nvSpPr>
            <p:cNvPr name="Freeform 360" id="35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61" id="359"/>
          <p:cNvGrpSpPr/>
          <p:nvPr/>
        </p:nvGrpSpPr>
        <p:grpSpPr>
          <a:xfrm rot="0">
            <a:off x="10643997" y="4745003"/>
            <a:ext cx="1698498" cy="395002"/>
            <a:chOff x="0" y="0"/>
            <a:chExt cx="2264664" cy="526669"/>
          </a:xfrm>
        </p:grpSpPr>
        <p:sp>
          <p:nvSpPr>
            <p:cNvPr name="Freeform 362" id="36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63" id="361"/>
          <p:cNvGrpSpPr/>
          <p:nvPr/>
        </p:nvGrpSpPr>
        <p:grpSpPr>
          <a:xfrm rot="0">
            <a:off x="10643997" y="4745003"/>
            <a:ext cx="1698498" cy="395002"/>
            <a:chOff x="0" y="0"/>
            <a:chExt cx="2264664" cy="526669"/>
          </a:xfrm>
        </p:grpSpPr>
        <p:sp>
          <p:nvSpPr>
            <p:cNvPr name="Freeform 364" id="36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65" id="36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9</a:t>
              </a:r>
            </a:p>
          </p:txBody>
        </p:sp>
      </p:grpSp>
      <p:grpSp>
        <p:nvGrpSpPr>
          <p:cNvPr name="Group 366" id="364"/>
          <p:cNvGrpSpPr/>
          <p:nvPr/>
        </p:nvGrpSpPr>
        <p:grpSpPr>
          <a:xfrm rot="0">
            <a:off x="850001" y="5131003"/>
            <a:ext cx="16587978" cy="8954"/>
            <a:chOff x="0" y="0"/>
            <a:chExt cx="22117304" cy="11938"/>
          </a:xfrm>
        </p:grpSpPr>
        <p:sp>
          <p:nvSpPr>
            <p:cNvPr name="Freeform 367" id="365"/>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368" id="366"/>
          <p:cNvGrpSpPr/>
          <p:nvPr/>
        </p:nvGrpSpPr>
        <p:grpSpPr>
          <a:xfrm rot="0">
            <a:off x="1070000" y="5140004"/>
            <a:ext cx="2699956" cy="395002"/>
            <a:chOff x="0" y="0"/>
            <a:chExt cx="3599942" cy="526669"/>
          </a:xfrm>
        </p:grpSpPr>
        <p:sp>
          <p:nvSpPr>
            <p:cNvPr name="Freeform 369" id="36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370" id="368"/>
          <p:cNvGrpSpPr/>
          <p:nvPr/>
        </p:nvGrpSpPr>
        <p:grpSpPr>
          <a:xfrm rot="0">
            <a:off x="1070000" y="5140004"/>
            <a:ext cx="2699956" cy="395002"/>
            <a:chOff x="0" y="0"/>
            <a:chExt cx="3599942" cy="526669"/>
          </a:xfrm>
        </p:grpSpPr>
        <p:sp>
          <p:nvSpPr>
            <p:cNvPr name="Freeform 371" id="369"/>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372" id="370"/>
          <p:cNvGrpSpPr/>
          <p:nvPr/>
        </p:nvGrpSpPr>
        <p:grpSpPr>
          <a:xfrm rot="0">
            <a:off x="1070000" y="5140004"/>
            <a:ext cx="2700004" cy="395002"/>
            <a:chOff x="0" y="0"/>
            <a:chExt cx="3600005" cy="526669"/>
          </a:xfrm>
        </p:grpSpPr>
        <p:sp>
          <p:nvSpPr>
            <p:cNvPr name="Freeform 373" id="371"/>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374" id="372"/>
          <p:cNvGrpSpPr/>
          <p:nvPr/>
        </p:nvGrpSpPr>
        <p:grpSpPr>
          <a:xfrm rot="0">
            <a:off x="1070000" y="5140004"/>
            <a:ext cx="2700004" cy="395002"/>
            <a:chOff x="0" y="0"/>
            <a:chExt cx="3600005" cy="526669"/>
          </a:xfrm>
        </p:grpSpPr>
        <p:sp>
          <p:nvSpPr>
            <p:cNvPr name="Freeform 375" id="373"/>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376" id="374"/>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Target / Projected</a:t>
              </a:r>
            </a:p>
          </p:txBody>
        </p:sp>
      </p:grpSp>
      <p:grpSp>
        <p:nvGrpSpPr>
          <p:cNvPr name="Group 377" id="375"/>
          <p:cNvGrpSpPr/>
          <p:nvPr/>
        </p:nvGrpSpPr>
        <p:grpSpPr>
          <a:xfrm rot="0">
            <a:off x="3850005" y="5140004"/>
            <a:ext cx="1698498" cy="395002"/>
            <a:chOff x="0" y="0"/>
            <a:chExt cx="2264664" cy="526669"/>
          </a:xfrm>
        </p:grpSpPr>
        <p:sp>
          <p:nvSpPr>
            <p:cNvPr name="Freeform 378" id="37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79" id="377"/>
          <p:cNvGrpSpPr/>
          <p:nvPr/>
        </p:nvGrpSpPr>
        <p:grpSpPr>
          <a:xfrm rot="0">
            <a:off x="3850005" y="5140004"/>
            <a:ext cx="1698498" cy="395002"/>
            <a:chOff x="0" y="0"/>
            <a:chExt cx="2264664" cy="526669"/>
          </a:xfrm>
        </p:grpSpPr>
        <p:sp>
          <p:nvSpPr>
            <p:cNvPr name="Freeform 380" id="37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81" id="379"/>
          <p:cNvGrpSpPr/>
          <p:nvPr/>
        </p:nvGrpSpPr>
        <p:grpSpPr>
          <a:xfrm rot="0">
            <a:off x="3850005" y="5140004"/>
            <a:ext cx="1698498" cy="395002"/>
            <a:chOff x="0" y="0"/>
            <a:chExt cx="2264664" cy="526669"/>
          </a:xfrm>
        </p:grpSpPr>
        <p:sp>
          <p:nvSpPr>
            <p:cNvPr name="Freeform 382" id="38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83" id="381"/>
          <p:cNvGrpSpPr/>
          <p:nvPr/>
        </p:nvGrpSpPr>
        <p:grpSpPr>
          <a:xfrm rot="0">
            <a:off x="3850005" y="5140004"/>
            <a:ext cx="1698498" cy="395002"/>
            <a:chOff x="0" y="0"/>
            <a:chExt cx="2264664" cy="526669"/>
          </a:xfrm>
        </p:grpSpPr>
        <p:sp>
          <p:nvSpPr>
            <p:cNvPr name="Freeform 384" id="38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85" id="38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20</a:t>
              </a:r>
            </a:p>
          </p:txBody>
        </p:sp>
      </p:grpSp>
      <p:grpSp>
        <p:nvGrpSpPr>
          <p:cNvPr name="Group 386" id="384"/>
          <p:cNvGrpSpPr/>
          <p:nvPr/>
        </p:nvGrpSpPr>
        <p:grpSpPr>
          <a:xfrm rot="0">
            <a:off x="5548503" y="5140004"/>
            <a:ext cx="1698498" cy="395002"/>
            <a:chOff x="0" y="0"/>
            <a:chExt cx="2264664" cy="526669"/>
          </a:xfrm>
        </p:grpSpPr>
        <p:sp>
          <p:nvSpPr>
            <p:cNvPr name="Freeform 387" id="38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88" id="386"/>
          <p:cNvGrpSpPr/>
          <p:nvPr/>
        </p:nvGrpSpPr>
        <p:grpSpPr>
          <a:xfrm rot="0">
            <a:off x="5548503" y="5140004"/>
            <a:ext cx="1698498" cy="395002"/>
            <a:chOff x="0" y="0"/>
            <a:chExt cx="2264664" cy="526669"/>
          </a:xfrm>
        </p:grpSpPr>
        <p:sp>
          <p:nvSpPr>
            <p:cNvPr name="Freeform 389" id="38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90" id="388"/>
          <p:cNvGrpSpPr/>
          <p:nvPr/>
        </p:nvGrpSpPr>
        <p:grpSpPr>
          <a:xfrm rot="0">
            <a:off x="5548503" y="5140004"/>
            <a:ext cx="1698498" cy="395002"/>
            <a:chOff x="0" y="0"/>
            <a:chExt cx="2264664" cy="526669"/>
          </a:xfrm>
        </p:grpSpPr>
        <p:sp>
          <p:nvSpPr>
            <p:cNvPr name="Freeform 391" id="38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392" id="390"/>
          <p:cNvGrpSpPr/>
          <p:nvPr/>
        </p:nvGrpSpPr>
        <p:grpSpPr>
          <a:xfrm rot="0">
            <a:off x="5548503" y="5140004"/>
            <a:ext cx="1698498" cy="395002"/>
            <a:chOff x="0" y="0"/>
            <a:chExt cx="2264664" cy="526669"/>
          </a:xfrm>
        </p:grpSpPr>
        <p:sp>
          <p:nvSpPr>
            <p:cNvPr name="Freeform 393" id="39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394" id="39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24</a:t>
              </a:r>
            </a:p>
          </p:txBody>
        </p:sp>
      </p:grpSp>
      <p:grpSp>
        <p:nvGrpSpPr>
          <p:cNvPr name="Group 395" id="393"/>
          <p:cNvGrpSpPr/>
          <p:nvPr/>
        </p:nvGrpSpPr>
        <p:grpSpPr>
          <a:xfrm rot="0">
            <a:off x="7247001" y="5140004"/>
            <a:ext cx="1698498" cy="395002"/>
            <a:chOff x="0" y="0"/>
            <a:chExt cx="2264664" cy="526669"/>
          </a:xfrm>
        </p:grpSpPr>
        <p:sp>
          <p:nvSpPr>
            <p:cNvPr name="Freeform 396" id="39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397" id="395"/>
          <p:cNvGrpSpPr/>
          <p:nvPr/>
        </p:nvGrpSpPr>
        <p:grpSpPr>
          <a:xfrm rot="0">
            <a:off x="7247001" y="5140004"/>
            <a:ext cx="1698498" cy="395002"/>
            <a:chOff x="0" y="0"/>
            <a:chExt cx="2264664" cy="526669"/>
          </a:xfrm>
        </p:grpSpPr>
        <p:sp>
          <p:nvSpPr>
            <p:cNvPr name="Freeform 398" id="39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399" id="397"/>
          <p:cNvGrpSpPr/>
          <p:nvPr/>
        </p:nvGrpSpPr>
        <p:grpSpPr>
          <a:xfrm rot="0">
            <a:off x="7247001" y="5140004"/>
            <a:ext cx="1698498" cy="395002"/>
            <a:chOff x="0" y="0"/>
            <a:chExt cx="2264664" cy="526669"/>
          </a:xfrm>
        </p:grpSpPr>
        <p:sp>
          <p:nvSpPr>
            <p:cNvPr name="Freeform 400" id="39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01" id="399"/>
          <p:cNvGrpSpPr/>
          <p:nvPr/>
        </p:nvGrpSpPr>
        <p:grpSpPr>
          <a:xfrm rot="0">
            <a:off x="7247001" y="5140004"/>
            <a:ext cx="1698498" cy="395002"/>
            <a:chOff x="0" y="0"/>
            <a:chExt cx="2264664" cy="526669"/>
          </a:xfrm>
        </p:grpSpPr>
        <p:sp>
          <p:nvSpPr>
            <p:cNvPr name="Freeform 402" id="40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03" id="40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28</a:t>
              </a:r>
            </a:p>
          </p:txBody>
        </p:sp>
      </p:grpSp>
      <p:grpSp>
        <p:nvGrpSpPr>
          <p:cNvPr name="Group 404" id="402"/>
          <p:cNvGrpSpPr/>
          <p:nvPr/>
        </p:nvGrpSpPr>
        <p:grpSpPr>
          <a:xfrm rot="0">
            <a:off x="8945499" y="5140004"/>
            <a:ext cx="1698498" cy="395002"/>
            <a:chOff x="0" y="0"/>
            <a:chExt cx="2264664" cy="526669"/>
          </a:xfrm>
        </p:grpSpPr>
        <p:sp>
          <p:nvSpPr>
            <p:cNvPr name="Freeform 405" id="40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06" id="404"/>
          <p:cNvGrpSpPr/>
          <p:nvPr/>
        </p:nvGrpSpPr>
        <p:grpSpPr>
          <a:xfrm rot="0">
            <a:off x="8945499" y="5140004"/>
            <a:ext cx="1698498" cy="395002"/>
            <a:chOff x="0" y="0"/>
            <a:chExt cx="2264664" cy="526669"/>
          </a:xfrm>
        </p:grpSpPr>
        <p:sp>
          <p:nvSpPr>
            <p:cNvPr name="Freeform 407" id="40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08" id="406"/>
          <p:cNvGrpSpPr/>
          <p:nvPr/>
        </p:nvGrpSpPr>
        <p:grpSpPr>
          <a:xfrm rot="0">
            <a:off x="8945499" y="5140004"/>
            <a:ext cx="1698498" cy="395002"/>
            <a:chOff x="0" y="0"/>
            <a:chExt cx="2264664" cy="526669"/>
          </a:xfrm>
        </p:grpSpPr>
        <p:sp>
          <p:nvSpPr>
            <p:cNvPr name="Freeform 409" id="40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10" id="408"/>
          <p:cNvGrpSpPr/>
          <p:nvPr/>
        </p:nvGrpSpPr>
        <p:grpSpPr>
          <a:xfrm rot="0">
            <a:off x="8945499" y="5140004"/>
            <a:ext cx="1698498" cy="395002"/>
            <a:chOff x="0" y="0"/>
            <a:chExt cx="2264664" cy="526669"/>
          </a:xfrm>
        </p:grpSpPr>
        <p:sp>
          <p:nvSpPr>
            <p:cNvPr name="Freeform 411" id="40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12" id="41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33</a:t>
              </a:r>
            </a:p>
          </p:txBody>
        </p:sp>
      </p:grpSp>
      <p:grpSp>
        <p:nvGrpSpPr>
          <p:cNvPr name="Group 413" id="411"/>
          <p:cNvGrpSpPr/>
          <p:nvPr/>
        </p:nvGrpSpPr>
        <p:grpSpPr>
          <a:xfrm rot="0">
            <a:off x="10643997" y="5140004"/>
            <a:ext cx="1698498" cy="395002"/>
            <a:chOff x="0" y="0"/>
            <a:chExt cx="2264664" cy="526669"/>
          </a:xfrm>
        </p:grpSpPr>
        <p:sp>
          <p:nvSpPr>
            <p:cNvPr name="Freeform 414" id="41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15" id="413"/>
          <p:cNvGrpSpPr/>
          <p:nvPr/>
        </p:nvGrpSpPr>
        <p:grpSpPr>
          <a:xfrm rot="0">
            <a:off x="10643997" y="5140004"/>
            <a:ext cx="1698498" cy="395002"/>
            <a:chOff x="0" y="0"/>
            <a:chExt cx="2264664" cy="526669"/>
          </a:xfrm>
        </p:grpSpPr>
        <p:sp>
          <p:nvSpPr>
            <p:cNvPr name="Freeform 416" id="41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17" id="415"/>
          <p:cNvGrpSpPr/>
          <p:nvPr/>
        </p:nvGrpSpPr>
        <p:grpSpPr>
          <a:xfrm rot="0">
            <a:off x="10643997" y="5140004"/>
            <a:ext cx="1698498" cy="395002"/>
            <a:chOff x="0" y="0"/>
            <a:chExt cx="2264664" cy="526669"/>
          </a:xfrm>
        </p:grpSpPr>
        <p:sp>
          <p:nvSpPr>
            <p:cNvPr name="Freeform 418" id="41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19" id="417"/>
          <p:cNvGrpSpPr/>
          <p:nvPr/>
        </p:nvGrpSpPr>
        <p:grpSpPr>
          <a:xfrm rot="0">
            <a:off x="10643997" y="5140004"/>
            <a:ext cx="1698498" cy="395002"/>
            <a:chOff x="0" y="0"/>
            <a:chExt cx="2264664" cy="526669"/>
          </a:xfrm>
        </p:grpSpPr>
        <p:sp>
          <p:nvSpPr>
            <p:cNvPr name="Freeform 420" id="41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21" id="41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39</a:t>
              </a:r>
            </a:p>
          </p:txBody>
        </p:sp>
      </p:grpSp>
      <p:grpSp>
        <p:nvGrpSpPr>
          <p:cNvPr name="Group 422" id="420"/>
          <p:cNvGrpSpPr/>
          <p:nvPr/>
        </p:nvGrpSpPr>
        <p:grpSpPr>
          <a:xfrm rot="0">
            <a:off x="12342505" y="5140004"/>
            <a:ext cx="1698498" cy="395002"/>
            <a:chOff x="0" y="0"/>
            <a:chExt cx="2264664" cy="526669"/>
          </a:xfrm>
        </p:grpSpPr>
        <p:sp>
          <p:nvSpPr>
            <p:cNvPr name="Freeform 423" id="42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24" id="422"/>
          <p:cNvGrpSpPr/>
          <p:nvPr/>
        </p:nvGrpSpPr>
        <p:grpSpPr>
          <a:xfrm rot="0">
            <a:off x="12342505" y="5140004"/>
            <a:ext cx="1698498" cy="395002"/>
            <a:chOff x="0" y="0"/>
            <a:chExt cx="2264664" cy="526669"/>
          </a:xfrm>
        </p:grpSpPr>
        <p:sp>
          <p:nvSpPr>
            <p:cNvPr name="Freeform 425" id="42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26" id="424"/>
          <p:cNvGrpSpPr/>
          <p:nvPr/>
        </p:nvGrpSpPr>
        <p:grpSpPr>
          <a:xfrm rot="0">
            <a:off x="12342505" y="5140004"/>
            <a:ext cx="1698498" cy="395002"/>
            <a:chOff x="0" y="0"/>
            <a:chExt cx="2264664" cy="526669"/>
          </a:xfrm>
        </p:grpSpPr>
        <p:sp>
          <p:nvSpPr>
            <p:cNvPr name="Freeform 427" id="42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28" id="426"/>
          <p:cNvGrpSpPr/>
          <p:nvPr/>
        </p:nvGrpSpPr>
        <p:grpSpPr>
          <a:xfrm rot="0">
            <a:off x="12342505" y="5140004"/>
            <a:ext cx="1698498" cy="395002"/>
            <a:chOff x="0" y="0"/>
            <a:chExt cx="2264664" cy="526669"/>
          </a:xfrm>
        </p:grpSpPr>
        <p:sp>
          <p:nvSpPr>
            <p:cNvPr name="Freeform 429" id="42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30" id="42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46</a:t>
              </a:r>
            </a:p>
          </p:txBody>
        </p:sp>
      </p:grpSp>
      <p:grpSp>
        <p:nvGrpSpPr>
          <p:cNvPr name="Group 431" id="429"/>
          <p:cNvGrpSpPr/>
          <p:nvPr/>
        </p:nvGrpSpPr>
        <p:grpSpPr>
          <a:xfrm rot="0">
            <a:off x="14041003" y="5140004"/>
            <a:ext cx="1698498" cy="395002"/>
            <a:chOff x="0" y="0"/>
            <a:chExt cx="2264664" cy="526669"/>
          </a:xfrm>
        </p:grpSpPr>
        <p:sp>
          <p:nvSpPr>
            <p:cNvPr name="Freeform 432" id="43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33" id="431"/>
          <p:cNvGrpSpPr/>
          <p:nvPr/>
        </p:nvGrpSpPr>
        <p:grpSpPr>
          <a:xfrm rot="0">
            <a:off x="14041003" y="5140004"/>
            <a:ext cx="1698498" cy="395002"/>
            <a:chOff x="0" y="0"/>
            <a:chExt cx="2264664" cy="526669"/>
          </a:xfrm>
        </p:grpSpPr>
        <p:sp>
          <p:nvSpPr>
            <p:cNvPr name="Freeform 434" id="43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35" id="433"/>
          <p:cNvGrpSpPr/>
          <p:nvPr/>
        </p:nvGrpSpPr>
        <p:grpSpPr>
          <a:xfrm rot="0">
            <a:off x="14041003" y="5140004"/>
            <a:ext cx="1698498" cy="395002"/>
            <a:chOff x="0" y="0"/>
            <a:chExt cx="2264664" cy="526669"/>
          </a:xfrm>
        </p:grpSpPr>
        <p:sp>
          <p:nvSpPr>
            <p:cNvPr name="Freeform 436" id="43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37" id="435"/>
          <p:cNvGrpSpPr/>
          <p:nvPr/>
        </p:nvGrpSpPr>
        <p:grpSpPr>
          <a:xfrm rot="0">
            <a:off x="14041003" y="5140004"/>
            <a:ext cx="1698498" cy="395002"/>
            <a:chOff x="0" y="0"/>
            <a:chExt cx="2264664" cy="526669"/>
          </a:xfrm>
        </p:grpSpPr>
        <p:sp>
          <p:nvSpPr>
            <p:cNvPr name="Freeform 438" id="43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39" id="43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54</a:t>
              </a:r>
            </a:p>
          </p:txBody>
        </p:sp>
      </p:grpSp>
      <p:grpSp>
        <p:nvGrpSpPr>
          <p:cNvPr name="Group 440" id="438"/>
          <p:cNvGrpSpPr/>
          <p:nvPr/>
        </p:nvGrpSpPr>
        <p:grpSpPr>
          <a:xfrm rot="0">
            <a:off x="15739501" y="5140004"/>
            <a:ext cx="1698498" cy="395002"/>
            <a:chOff x="0" y="0"/>
            <a:chExt cx="2264664" cy="526669"/>
          </a:xfrm>
        </p:grpSpPr>
        <p:sp>
          <p:nvSpPr>
            <p:cNvPr name="Freeform 441" id="43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42" id="440"/>
          <p:cNvGrpSpPr/>
          <p:nvPr/>
        </p:nvGrpSpPr>
        <p:grpSpPr>
          <a:xfrm rot="0">
            <a:off x="15739501" y="5140004"/>
            <a:ext cx="1698498" cy="395002"/>
            <a:chOff x="0" y="0"/>
            <a:chExt cx="2264664" cy="526669"/>
          </a:xfrm>
        </p:grpSpPr>
        <p:sp>
          <p:nvSpPr>
            <p:cNvPr name="Freeform 443" id="44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44" id="442"/>
          <p:cNvGrpSpPr/>
          <p:nvPr/>
        </p:nvGrpSpPr>
        <p:grpSpPr>
          <a:xfrm rot="0">
            <a:off x="15739501" y="5140004"/>
            <a:ext cx="1698498" cy="395002"/>
            <a:chOff x="0" y="0"/>
            <a:chExt cx="2264664" cy="526669"/>
          </a:xfrm>
        </p:grpSpPr>
        <p:sp>
          <p:nvSpPr>
            <p:cNvPr name="Freeform 445" id="44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46" id="444"/>
          <p:cNvGrpSpPr/>
          <p:nvPr/>
        </p:nvGrpSpPr>
        <p:grpSpPr>
          <a:xfrm rot="0">
            <a:off x="15739501" y="5140004"/>
            <a:ext cx="1698498" cy="395002"/>
            <a:chOff x="0" y="0"/>
            <a:chExt cx="2264664" cy="526669"/>
          </a:xfrm>
        </p:grpSpPr>
        <p:sp>
          <p:nvSpPr>
            <p:cNvPr name="Freeform 447" id="44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48" id="44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64</a:t>
              </a:r>
            </a:p>
          </p:txBody>
        </p:sp>
      </p:grpSp>
      <p:grpSp>
        <p:nvGrpSpPr>
          <p:cNvPr name="Group 449" id="447"/>
          <p:cNvGrpSpPr/>
          <p:nvPr/>
        </p:nvGrpSpPr>
        <p:grpSpPr>
          <a:xfrm rot="0">
            <a:off x="850001" y="5525995"/>
            <a:ext cx="16587978" cy="8954"/>
            <a:chOff x="0" y="0"/>
            <a:chExt cx="22117304" cy="11938"/>
          </a:xfrm>
        </p:grpSpPr>
        <p:sp>
          <p:nvSpPr>
            <p:cNvPr name="Freeform 450" id="448"/>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451" id="449"/>
          <p:cNvGrpSpPr/>
          <p:nvPr/>
        </p:nvGrpSpPr>
        <p:grpSpPr>
          <a:xfrm rot="0">
            <a:off x="1070000" y="5534997"/>
            <a:ext cx="2699956" cy="395002"/>
            <a:chOff x="0" y="0"/>
            <a:chExt cx="3599942" cy="526669"/>
          </a:xfrm>
        </p:grpSpPr>
        <p:sp>
          <p:nvSpPr>
            <p:cNvPr name="Freeform 452" id="450"/>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453" id="451"/>
          <p:cNvGrpSpPr/>
          <p:nvPr/>
        </p:nvGrpSpPr>
        <p:grpSpPr>
          <a:xfrm rot="0">
            <a:off x="1070000" y="5534997"/>
            <a:ext cx="2699956" cy="395002"/>
            <a:chOff x="0" y="0"/>
            <a:chExt cx="3599942" cy="526669"/>
          </a:xfrm>
        </p:grpSpPr>
        <p:sp>
          <p:nvSpPr>
            <p:cNvPr name="Freeform 454" id="452"/>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455" id="453"/>
          <p:cNvGrpSpPr/>
          <p:nvPr/>
        </p:nvGrpSpPr>
        <p:grpSpPr>
          <a:xfrm rot="0">
            <a:off x="1070000" y="5534997"/>
            <a:ext cx="2700004" cy="395002"/>
            <a:chOff x="0" y="0"/>
            <a:chExt cx="3600005" cy="526669"/>
          </a:xfrm>
        </p:grpSpPr>
        <p:sp>
          <p:nvSpPr>
            <p:cNvPr name="Freeform 456" id="454"/>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457" id="455"/>
          <p:cNvGrpSpPr/>
          <p:nvPr/>
        </p:nvGrpSpPr>
        <p:grpSpPr>
          <a:xfrm rot="0">
            <a:off x="1070000" y="5534997"/>
            <a:ext cx="2700004" cy="395002"/>
            <a:chOff x="0" y="0"/>
            <a:chExt cx="3600005" cy="526669"/>
          </a:xfrm>
        </p:grpSpPr>
        <p:sp>
          <p:nvSpPr>
            <p:cNvPr name="Freeform 458" id="456"/>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459" id="457"/>
            <p:cNvSpPr txBox="true"/>
            <p:nvPr/>
          </p:nvSpPr>
          <p:spPr>
            <a:xfrm>
              <a:off x="0" y="0"/>
              <a:ext cx="3600005" cy="526669"/>
            </a:xfrm>
            <a:prstGeom prst="rect">
              <a:avLst/>
            </a:prstGeom>
          </p:spPr>
          <p:txBody>
            <a:bodyPr anchor="ctr" rtlCol="false" tIns="0" lIns="0" bIns="0" rIns="0"/>
            <a:lstStyle/>
            <a:p>
              <a:pPr algn="l">
                <a:lnSpc>
                  <a:spcPts val="1584"/>
                </a:lnSpc>
              </a:pPr>
              <a:r>
                <a:rPr lang="en-US" b="true" sz="1320" i="true">
                  <a:solidFill>
                    <a:srgbClr val="132257"/>
                  </a:solidFill>
                  <a:latin typeface="Exo 2 Bold Italics"/>
                  <a:ea typeface="Exo 2 Bold Italics"/>
                  <a:cs typeface="Exo 2 Bold Italics"/>
                  <a:sym typeface="Exo 2 Bold Italics"/>
                </a:rPr>
                <a:t>Performance Gap</a:t>
              </a:r>
            </a:p>
          </p:txBody>
        </p:sp>
      </p:grpSp>
      <p:grpSp>
        <p:nvGrpSpPr>
          <p:cNvPr name="Group 460" id="458"/>
          <p:cNvGrpSpPr/>
          <p:nvPr/>
        </p:nvGrpSpPr>
        <p:grpSpPr>
          <a:xfrm rot="0">
            <a:off x="3850005" y="5534997"/>
            <a:ext cx="1698498" cy="395002"/>
            <a:chOff x="0" y="0"/>
            <a:chExt cx="2264664" cy="526669"/>
          </a:xfrm>
        </p:grpSpPr>
        <p:sp>
          <p:nvSpPr>
            <p:cNvPr name="Freeform 461" id="45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62" id="460"/>
          <p:cNvGrpSpPr/>
          <p:nvPr/>
        </p:nvGrpSpPr>
        <p:grpSpPr>
          <a:xfrm rot="0">
            <a:off x="3850005" y="5534997"/>
            <a:ext cx="1698498" cy="395002"/>
            <a:chOff x="0" y="0"/>
            <a:chExt cx="2264664" cy="526669"/>
          </a:xfrm>
        </p:grpSpPr>
        <p:sp>
          <p:nvSpPr>
            <p:cNvPr name="Freeform 463" id="46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64" id="462"/>
          <p:cNvGrpSpPr/>
          <p:nvPr/>
        </p:nvGrpSpPr>
        <p:grpSpPr>
          <a:xfrm rot="0">
            <a:off x="3850005" y="5534997"/>
            <a:ext cx="1698498" cy="395002"/>
            <a:chOff x="0" y="0"/>
            <a:chExt cx="2264664" cy="526669"/>
          </a:xfrm>
        </p:grpSpPr>
        <p:sp>
          <p:nvSpPr>
            <p:cNvPr name="Freeform 465" id="46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66" id="464"/>
          <p:cNvGrpSpPr/>
          <p:nvPr/>
        </p:nvGrpSpPr>
        <p:grpSpPr>
          <a:xfrm rot="0">
            <a:off x="3850005" y="5534997"/>
            <a:ext cx="1698498" cy="395002"/>
            <a:chOff x="0" y="0"/>
            <a:chExt cx="2264664" cy="526669"/>
          </a:xfrm>
        </p:grpSpPr>
        <p:sp>
          <p:nvSpPr>
            <p:cNvPr name="Freeform 467" id="46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68" id="466"/>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-12</a:t>
              </a:r>
            </a:p>
          </p:txBody>
        </p:sp>
      </p:grpSp>
      <p:grpSp>
        <p:nvGrpSpPr>
          <p:cNvPr name="Group 469" id="467"/>
          <p:cNvGrpSpPr/>
          <p:nvPr/>
        </p:nvGrpSpPr>
        <p:grpSpPr>
          <a:xfrm rot="0">
            <a:off x="5548503" y="5534997"/>
            <a:ext cx="1698498" cy="395002"/>
            <a:chOff x="0" y="0"/>
            <a:chExt cx="2264664" cy="526669"/>
          </a:xfrm>
        </p:grpSpPr>
        <p:sp>
          <p:nvSpPr>
            <p:cNvPr name="Freeform 470" id="46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71" id="469"/>
          <p:cNvGrpSpPr/>
          <p:nvPr/>
        </p:nvGrpSpPr>
        <p:grpSpPr>
          <a:xfrm rot="0">
            <a:off x="5548503" y="5534997"/>
            <a:ext cx="1698498" cy="395002"/>
            <a:chOff x="0" y="0"/>
            <a:chExt cx="2264664" cy="526669"/>
          </a:xfrm>
        </p:grpSpPr>
        <p:sp>
          <p:nvSpPr>
            <p:cNvPr name="Freeform 472" id="47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73" id="471"/>
          <p:cNvGrpSpPr/>
          <p:nvPr/>
        </p:nvGrpSpPr>
        <p:grpSpPr>
          <a:xfrm rot="0">
            <a:off x="5548503" y="5534997"/>
            <a:ext cx="1698498" cy="395002"/>
            <a:chOff x="0" y="0"/>
            <a:chExt cx="2264664" cy="526669"/>
          </a:xfrm>
        </p:grpSpPr>
        <p:sp>
          <p:nvSpPr>
            <p:cNvPr name="Freeform 474" id="47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75" id="473"/>
          <p:cNvGrpSpPr/>
          <p:nvPr/>
        </p:nvGrpSpPr>
        <p:grpSpPr>
          <a:xfrm rot="0">
            <a:off x="5548503" y="5534997"/>
            <a:ext cx="1698498" cy="395002"/>
            <a:chOff x="0" y="0"/>
            <a:chExt cx="2264664" cy="526669"/>
          </a:xfrm>
        </p:grpSpPr>
        <p:sp>
          <p:nvSpPr>
            <p:cNvPr name="Freeform 476" id="47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77" id="475"/>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-7</a:t>
              </a:r>
            </a:p>
          </p:txBody>
        </p:sp>
      </p:grpSp>
      <p:grpSp>
        <p:nvGrpSpPr>
          <p:cNvPr name="Group 478" id="476"/>
          <p:cNvGrpSpPr/>
          <p:nvPr/>
        </p:nvGrpSpPr>
        <p:grpSpPr>
          <a:xfrm rot="0">
            <a:off x="7247001" y="5534997"/>
            <a:ext cx="1698498" cy="395002"/>
            <a:chOff x="0" y="0"/>
            <a:chExt cx="2264664" cy="526669"/>
          </a:xfrm>
        </p:grpSpPr>
        <p:sp>
          <p:nvSpPr>
            <p:cNvPr name="Freeform 479" id="47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80" id="478"/>
          <p:cNvGrpSpPr/>
          <p:nvPr/>
        </p:nvGrpSpPr>
        <p:grpSpPr>
          <a:xfrm rot="0">
            <a:off x="7247001" y="5534997"/>
            <a:ext cx="1698498" cy="395002"/>
            <a:chOff x="0" y="0"/>
            <a:chExt cx="2264664" cy="526669"/>
          </a:xfrm>
        </p:grpSpPr>
        <p:sp>
          <p:nvSpPr>
            <p:cNvPr name="Freeform 481" id="47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82" id="480"/>
          <p:cNvGrpSpPr/>
          <p:nvPr/>
        </p:nvGrpSpPr>
        <p:grpSpPr>
          <a:xfrm rot="0">
            <a:off x="7247001" y="5534997"/>
            <a:ext cx="1698498" cy="395002"/>
            <a:chOff x="0" y="0"/>
            <a:chExt cx="2264664" cy="526669"/>
          </a:xfrm>
        </p:grpSpPr>
        <p:sp>
          <p:nvSpPr>
            <p:cNvPr name="Freeform 483" id="48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84" id="482"/>
          <p:cNvGrpSpPr/>
          <p:nvPr/>
        </p:nvGrpSpPr>
        <p:grpSpPr>
          <a:xfrm rot="0">
            <a:off x="7247001" y="5534997"/>
            <a:ext cx="1698498" cy="395002"/>
            <a:chOff x="0" y="0"/>
            <a:chExt cx="2264664" cy="526669"/>
          </a:xfrm>
        </p:grpSpPr>
        <p:sp>
          <p:nvSpPr>
            <p:cNvPr name="Freeform 485" id="48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86" id="484"/>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-23</a:t>
              </a:r>
            </a:p>
          </p:txBody>
        </p:sp>
      </p:grpSp>
      <p:grpSp>
        <p:nvGrpSpPr>
          <p:cNvPr name="Group 487" id="485"/>
          <p:cNvGrpSpPr/>
          <p:nvPr/>
        </p:nvGrpSpPr>
        <p:grpSpPr>
          <a:xfrm rot="0">
            <a:off x="8945499" y="5534997"/>
            <a:ext cx="1698498" cy="395002"/>
            <a:chOff x="0" y="0"/>
            <a:chExt cx="2264664" cy="526669"/>
          </a:xfrm>
        </p:grpSpPr>
        <p:sp>
          <p:nvSpPr>
            <p:cNvPr name="Freeform 488" id="48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89" id="487"/>
          <p:cNvGrpSpPr/>
          <p:nvPr/>
        </p:nvGrpSpPr>
        <p:grpSpPr>
          <a:xfrm rot="0">
            <a:off x="8945499" y="5534997"/>
            <a:ext cx="1698498" cy="395002"/>
            <a:chOff x="0" y="0"/>
            <a:chExt cx="2264664" cy="526669"/>
          </a:xfrm>
        </p:grpSpPr>
        <p:sp>
          <p:nvSpPr>
            <p:cNvPr name="Freeform 490" id="48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491" id="489"/>
          <p:cNvGrpSpPr/>
          <p:nvPr/>
        </p:nvGrpSpPr>
        <p:grpSpPr>
          <a:xfrm rot="0">
            <a:off x="8945499" y="5534997"/>
            <a:ext cx="1698498" cy="395002"/>
            <a:chOff x="0" y="0"/>
            <a:chExt cx="2264664" cy="526669"/>
          </a:xfrm>
        </p:grpSpPr>
        <p:sp>
          <p:nvSpPr>
            <p:cNvPr name="Freeform 492" id="49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493" id="491"/>
          <p:cNvGrpSpPr/>
          <p:nvPr/>
        </p:nvGrpSpPr>
        <p:grpSpPr>
          <a:xfrm rot="0">
            <a:off x="8945499" y="5534997"/>
            <a:ext cx="1698498" cy="395002"/>
            <a:chOff x="0" y="0"/>
            <a:chExt cx="2264664" cy="526669"/>
          </a:xfrm>
        </p:grpSpPr>
        <p:sp>
          <p:nvSpPr>
            <p:cNvPr name="Freeform 494" id="49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495" id="493"/>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-17</a:t>
              </a:r>
            </a:p>
          </p:txBody>
        </p:sp>
      </p:grpSp>
      <p:grpSp>
        <p:nvGrpSpPr>
          <p:cNvPr name="Group 496" id="494"/>
          <p:cNvGrpSpPr/>
          <p:nvPr/>
        </p:nvGrpSpPr>
        <p:grpSpPr>
          <a:xfrm rot="0">
            <a:off x="10643997" y="5534997"/>
            <a:ext cx="1698498" cy="395002"/>
            <a:chOff x="0" y="0"/>
            <a:chExt cx="2264664" cy="526669"/>
          </a:xfrm>
        </p:grpSpPr>
        <p:sp>
          <p:nvSpPr>
            <p:cNvPr name="Freeform 497" id="49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498" id="496"/>
          <p:cNvGrpSpPr/>
          <p:nvPr/>
        </p:nvGrpSpPr>
        <p:grpSpPr>
          <a:xfrm rot="0">
            <a:off x="10643997" y="5534997"/>
            <a:ext cx="1698498" cy="395002"/>
            <a:chOff x="0" y="0"/>
            <a:chExt cx="2264664" cy="526669"/>
          </a:xfrm>
        </p:grpSpPr>
        <p:sp>
          <p:nvSpPr>
            <p:cNvPr name="Freeform 499" id="49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00" id="498"/>
          <p:cNvGrpSpPr/>
          <p:nvPr/>
        </p:nvGrpSpPr>
        <p:grpSpPr>
          <a:xfrm rot="0">
            <a:off x="10643997" y="5534997"/>
            <a:ext cx="1698498" cy="395002"/>
            <a:chOff x="0" y="0"/>
            <a:chExt cx="2264664" cy="526669"/>
          </a:xfrm>
        </p:grpSpPr>
        <p:sp>
          <p:nvSpPr>
            <p:cNvPr name="Freeform 501" id="49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02" id="500"/>
          <p:cNvGrpSpPr/>
          <p:nvPr/>
        </p:nvGrpSpPr>
        <p:grpSpPr>
          <a:xfrm rot="0">
            <a:off x="10643997" y="5534997"/>
            <a:ext cx="1698498" cy="395002"/>
            <a:chOff x="0" y="0"/>
            <a:chExt cx="2264664" cy="526669"/>
          </a:xfrm>
        </p:grpSpPr>
        <p:sp>
          <p:nvSpPr>
            <p:cNvPr name="Freeform 503" id="50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04" id="502"/>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-30</a:t>
              </a:r>
            </a:p>
          </p:txBody>
        </p:sp>
      </p:grpSp>
      <p:grpSp>
        <p:nvGrpSpPr>
          <p:cNvPr name="Group 505" id="503"/>
          <p:cNvGrpSpPr/>
          <p:nvPr/>
        </p:nvGrpSpPr>
        <p:grpSpPr>
          <a:xfrm rot="0">
            <a:off x="850001" y="5920997"/>
            <a:ext cx="16587978" cy="8954"/>
            <a:chOff x="0" y="0"/>
            <a:chExt cx="22117304" cy="11938"/>
          </a:xfrm>
        </p:grpSpPr>
        <p:sp>
          <p:nvSpPr>
            <p:cNvPr name="Freeform 506" id="504"/>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507" id="505"/>
          <p:cNvGrpSpPr/>
          <p:nvPr/>
        </p:nvGrpSpPr>
        <p:grpSpPr>
          <a:xfrm rot="0">
            <a:off x="850001" y="5929998"/>
            <a:ext cx="16587978" cy="395002"/>
            <a:chOff x="0" y="0"/>
            <a:chExt cx="22117304" cy="526669"/>
          </a:xfrm>
        </p:grpSpPr>
        <p:sp>
          <p:nvSpPr>
            <p:cNvPr name="Freeform 508" id="506"/>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solidFill>
              <a:srgbClr val="E9EDF6"/>
            </a:solidFill>
          </p:spPr>
        </p:sp>
      </p:grpSp>
      <p:grpSp>
        <p:nvGrpSpPr>
          <p:cNvPr name="Group 509" id="507"/>
          <p:cNvGrpSpPr/>
          <p:nvPr/>
        </p:nvGrpSpPr>
        <p:grpSpPr>
          <a:xfrm rot="0">
            <a:off x="1070000" y="5929998"/>
            <a:ext cx="16587978" cy="395002"/>
            <a:chOff x="0" y="0"/>
            <a:chExt cx="22117304" cy="526669"/>
          </a:xfrm>
        </p:grpSpPr>
        <p:sp>
          <p:nvSpPr>
            <p:cNvPr name="Freeform 510" id="508"/>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blipFill>
              <a:blip r:embed="rId7">
                <a:alphaModFix amt="0"/>
              </a:blip>
              <a:stretch>
                <a:fillRect l="0" t="-767699" r="0" b="-767699"/>
              </a:stretch>
            </a:blipFill>
          </p:spPr>
        </p:sp>
      </p:grpSp>
      <p:grpSp>
        <p:nvGrpSpPr>
          <p:cNvPr name="Group 511" id="509"/>
          <p:cNvGrpSpPr/>
          <p:nvPr/>
        </p:nvGrpSpPr>
        <p:grpSpPr>
          <a:xfrm rot="0">
            <a:off x="1070000" y="5922855"/>
            <a:ext cx="16587978" cy="402146"/>
            <a:chOff x="0" y="0"/>
            <a:chExt cx="22117304" cy="536194"/>
          </a:xfrm>
        </p:grpSpPr>
        <p:sp>
          <p:nvSpPr>
            <p:cNvPr name="Freeform 512" id="510"/>
            <p:cNvSpPr/>
            <p:nvPr/>
          </p:nvSpPr>
          <p:spPr>
            <a:xfrm flipH="false" flipV="false" rot="0">
              <a:off x="0" y="0"/>
              <a:ext cx="22117304" cy="536194"/>
            </a:xfrm>
            <a:custGeom>
              <a:avLst/>
              <a:gdLst/>
              <a:ahLst/>
              <a:cxnLst/>
              <a:rect r="r" b="b" t="t" l="l"/>
              <a:pathLst>
                <a:path h="536194" w="22117304">
                  <a:moveTo>
                    <a:pt x="0" y="0"/>
                  </a:moveTo>
                  <a:lnTo>
                    <a:pt x="22117304" y="0"/>
                  </a:lnTo>
                  <a:lnTo>
                    <a:pt x="22117304" y="536194"/>
                  </a:lnTo>
                  <a:lnTo>
                    <a:pt x="0" y="536194"/>
                  </a:lnTo>
                  <a:close/>
                </a:path>
              </a:pathLst>
            </a:custGeom>
            <a:blipFill>
              <a:blip r:embed="rId8">
                <a:alphaModFix amt="0"/>
              </a:blip>
              <a:stretch>
                <a:fillRect l="0" t="-753173" r="0" b="-753173"/>
              </a:stretch>
            </a:blipFill>
          </p:spPr>
        </p:sp>
      </p:grpSp>
      <p:grpSp>
        <p:nvGrpSpPr>
          <p:cNvPr name="Group 513" id="511"/>
          <p:cNvGrpSpPr/>
          <p:nvPr/>
        </p:nvGrpSpPr>
        <p:grpSpPr>
          <a:xfrm rot="0">
            <a:off x="1070000" y="5915711"/>
            <a:ext cx="16587997" cy="409289"/>
            <a:chOff x="0" y="0"/>
            <a:chExt cx="22117329" cy="545719"/>
          </a:xfrm>
        </p:grpSpPr>
        <p:sp>
          <p:nvSpPr>
            <p:cNvPr name="Freeform 514" id="512"/>
            <p:cNvSpPr/>
            <p:nvPr/>
          </p:nvSpPr>
          <p:spPr>
            <a:xfrm flipH="false" flipV="false" rot="0">
              <a:off x="0" y="0"/>
              <a:ext cx="22117304" cy="545719"/>
            </a:xfrm>
            <a:custGeom>
              <a:avLst/>
              <a:gdLst/>
              <a:ahLst/>
              <a:cxnLst/>
              <a:rect r="r" b="b" t="t" l="l"/>
              <a:pathLst>
                <a:path h="545719" w="22117304">
                  <a:moveTo>
                    <a:pt x="0" y="0"/>
                  </a:moveTo>
                  <a:lnTo>
                    <a:pt x="22117304" y="0"/>
                  </a:lnTo>
                  <a:lnTo>
                    <a:pt x="22117304" y="545719"/>
                  </a:lnTo>
                  <a:lnTo>
                    <a:pt x="0" y="545719"/>
                  </a:lnTo>
                  <a:close/>
                </a:path>
              </a:pathLst>
            </a:custGeom>
            <a:blipFill>
              <a:blip r:embed="rId9">
                <a:alphaModFix amt="0"/>
              </a:blip>
              <a:stretch>
                <a:fillRect l="0" t="-739155" r="0" b="-739155"/>
              </a:stretch>
            </a:blipFill>
          </p:spPr>
        </p:sp>
      </p:grpSp>
      <p:grpSp>
        <p:nvGrpSpPr>
          <p:cNvPr name="Group 515" id="513"/>
          <p:cNvGrpSpPr/>
          <p:nvPr/>
        </p:nvGrpSpPr>
        <p:grpSpPr>
          <a:xfrm rot="0">
            <a:off x="1070000" y="5908567"/>
            <a:ext cx="16587997" cy="416433"/>
            <a:chOff x="0" y="0"/>
            <a:chExt cx="22117329" cy="555244"/>
          </a:xfrm>
        </p:grpSpPr>
        <p:sp>
          <p:nvSpPr>
            <p:cNvPr name="Freeform 516" id="514"/>
            <p:cNvSpPr/>
            <p:nvPr/>
          </p:nvSpPr>
          <p:spPr>
            <a:xfrm flipH="false" flipV="false" rot="0">
              <a:off x="0" y="0"/>
              <a:ext cx="22117329" cy="555244"/>
            </a:xfrm>
            <a:custGeom>
              <a:avLst/>
              <a:gdLst/>
              <a:ahLst/>
              <a:cxnLst/>
              <a:rect r="r" b="b" t="t" l="l"/>
              <a:pathLst>
                <a:path h="555244" w="22117329">
                  <a:moveTo>
                    <a:pt x="0" y="0"/>
                  </a:moveTo>
                  <a:lnTo>
                    <a:pt x="22117329" y="0"/>
                  </a:lnTo>
                  <a:lnTo>
                    <a:pt x="22117329" y="555244"/>
                  </a:lnTo>
                  <a:lnTo>
                    <a:pt x="0" y="555244"/>
                  </a:lnTo>
                  <a:close/>
                </a:path>
              </a:pathLst>
            </a:custGeom>
            <a:blipFill>
              <a:blip r:embed="rId3">
                <a:alphaModFix amt="0"/>
              </a:blip>
              <a:stretch>
                <a:fillRect l="0" t="-726158" r="0" b="-726158"/>
              </a:stretch>
            </a:blipFill>
          </p:spPr>
        </p:sp>
        <p:sp>
          <p:nvSpPr>
            <p:cNvPr name="TextBox 517" id="515"/>
            <p:cNvSpPr txBox="true"/>
            <p:nvPr/>
          </p:nvSpPr>
          <p:spPr>
            <a:xfrm>
              <a:off x="0" y="-9525"/>
              <a:ext cx="22117329" cy="564769"/>
            </a:xfrm>
            <a:prstGeom prst="rect">
              <a:avLst/>
            </a:prstGeom>
          </p:spPr>
          <p:txBody>
            <a:bodyPr anchor="ctr" rtlCol="false" tIns="0" lIns="0" bIns="0" rIns="0"/>
            <a:lstStyle/>
            <a:p>
              <a:pPr algn="l">
                <a:lnSpc>
                  <a:spcPts val="1512"/>
                </a:lnSpc>
              </a:pPr>
              <a:r>
                <a:rPr lang="en-US" b="true" sz="1260" spc="138">
                  <a:solidFill>
                    <a:srgbClr val="132257"/>
                  </a:solidFill>
                  <a:latin typeface="Exo 2 Bold"/>
                  <a:ea typeface="Exo 2 Bold"/>
                  <a:cs typeface="Exo 2 Bold"/>
                  <a:sym typeface="Exo 2 Bold"/>
                </a:rPr>
                <a:t>III.  AVERAGE DEPOSIT PER CLIENT</a:t>
              </a:r>
            </a:p>
          </p:txBody>
        </p:sp>
      </p:grpSp>
      <p:grpSp>
        <p:nvGrpSpPr>
          <p:cNvPr name="Group 518" id="516"/>
          <p:cNvGrpSpPr/>
          <p:nvPr/>
        </p:nvGrpSpPr>
        <p:grpSpPr>
          <a:xfrm rot="0">
            <a:off x="1070000" y="6325000"/>
            <a:ext cx="2699956" cy="395002"/>
            <a:chOff x="0" y="0"/>
            <a:chExt cx="3599942" cy="526669"/>
          </a:xfrm>
        </p:grpSpPr>
        <p:sp>
          <p:nvSpPr>
            <p:cNvPr name="Freeform 519" id="51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520" id="518"/>
          <p:cNvGrpSpPr/>
          <p:nvPr/>
        </p:nvGrpSpPr>
        <p:grpSpPr>
          <a:xfrm rot="0">
            <a:off x="1070000" y="6325000"/>
            <a:ext cx="2699956" cy="395002"/>
            <a:chOff x="0" y="0"/>
            <a:chExt cx="3599942" cy="526669"/>
          </a:xfrm>
        </p:grpSpPr>
        <p:sp>
          <p:nvSpPr>
            <p:cNvPr name="Freeform 521" id="519"/>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522" id="520"/>
          <p:cNvGrpSpPr/>
          <p:nvPr/>
        </p:nvGrpSpPr>
        <p:grpSpPr>
          <a:xfrm rot="0">
            <a:off x="1070000" y="6325000"/>
            <a:ext cx="2700004" cy="395002"/>
            <a:chOff x="0" y="0"/>
            <a:chExt cx="3600005" cy="526669"/>
          </a:xfrm>
        </p:grpSpPr>
        <p:sp>
          <p:nvSpPr>
            <p:cNvPr name="Freeform 523" id="521"/>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524" id="522"/>
          <p:cNvGrpSpPr/>
          <p:nvPr/>
        </p:nvGrpSpPr>
        <p:grpSpPr>
          <a:xfrm rot="0">
            <a:off x="1070000" y="6325000"/>
            <a:ext cx="2700004" cy="395002"/>
            <a:chOff x="0" y="0"/>
            <a:chExt cx="3600005" cy="526669"/>
          </a:xfrm>
        </p:grpSpPr>
        <p:sp>
          <p:nvSpPr>
            <p:cNvPr name="Freeform 525" id="523"/>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526" id="524"/>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Actual / Current</a:t>
              </a:r>
            </a:p>
          </p:txBody>
        </p:sp>
      </p:grpSp>
      <p:grpSp>
        <p:nvGrpSpPr>
          <p:cNvPr name="Group 527" id="525"/>
          <p:cNvGrpSpPr/>
          <p:nvPr/>
        </p:nvGrpSpPr>
        <p:grpSpPr>
          <a:xfrm rot="0">
            <a:off x="3850005" y="6325000"/>
            <a:ext cx="1698498" cy="395002"/>
            <a:chOff x="0" y="0"/>
            <a:chExt cx="2264664" cy="526669"/>
          </a:xfrm>
        </p:grpSpPr>
        <p:sp>
          <p:nvSpPr>
            <p:cNvPr name="Freeform 528" id="52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29" id="527"/>
          <p:cNvGrpSpPr/>
          <p:nvPr/>
        </p:nvGrpSpPr>
        <p:grpSpPr>
          <a:xfrm rot="0">
            <a:off x="3850005" y="6325000"/>
            <a:ext cx="1698498" cy="395002"/>
            <a:chOff x="0" y="0"/>
            <a:chExt cx="2264664" cy="526669"/>
          </a:xfrm>
        </p:grpSpPr>
        <p:sp>
          <p:nvSpPr>
            <p:cNvPr name="Freeform 530" id="52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31" id="529"/>
          <p:cNvGrpSpPr/>
          <p:nvPr/>
        </p:nvGrpSpPr>
        <p:grpSpPr>
          <a:xfrm rot="0">
            <a:off x="3850005" y="6325000"/>
            <a:ext cx="1698498" cy="395002"/>
            <a:chOff x="0" y="0"/>
            <a:chExt cx="2264664" cy="526669"/>
          </a:xfrm>
        </p:grpSpPr>
        <p:sp>
          <p:nvSpPr>
            <p:cNvPr name="Freeform 532" id="53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33" id="531"/>
          <p:cNvGrpSpPr/>
          <p:nvPr/>
        </p:nvGrpSpPr>
        <p:grpSpPr>
          <a:xfrm rot="0">
            <a:off x="3850005" y="6325000"/>
            <a:ext cx="1698498" cy="395002"/>
            <a:chOff x="0" y="0"/>
            <a:chExt cx="2264664" cy="526669"/>
          </a:xfrm>
        </p:grpSpPr>
        <p:sp>
          <p:nvSpPr>
            <p:cNvPr name="Freeform 534" id="53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35" id="53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$364.82</a:t>
              </a:r>
            </a:p>
          </p:txBody>
        </p:sp>
      </p:grpSp>
      <p:grpSp>
        <p:nvGrpSpPr>
          <p:cNvPr name="Group 536" id="534"/>
          <p:cNvGrpSpPr/>
          <p:nvPr/>
        </p:nvGrpSpPr>
        <p:grpSpPr>
          <a:xfrm rot="0">
            <a:off x="5548503" y="6325000"/>
            <a:ext cx="1698498" cy="395002"/>
            <a:chOff x="0" y="0"/>
            <a:chExt cx="2264664" cy="526669"/>
          </a:xfrm>
        </p:grpSpPr>
        <p:sp>
          <p:nvSpPr>
            <p:cNvPr name="Freeform 537" id="53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38" id="536"/>
          <p:cNvGrpSpPr/>
          <p:nvPr/>
        </p:nvGrpSpPr>
        <p:grpSpPr>
          <a:xfrm rot="0">
            <a:off x="5548503" y="6325000"/>
            <a:ext cx="1698498" cy="395002"/>
            <a:chOff x="0" y="0"/>
            <a:chExt cx="2264664" cy="526669"/>
          </a:xfrm>
        </p:grpSpPr>
        <p:sp>
          <p:nvSpPr>
            <p:cNvPr name="Freeform 539" id="53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40" id="538"/>
          <p:cNvGrpSpPr/>
          <p:nvPr/>
        </p:nvGrpSpPr>
        <p:grpSpPr>
          <a:xfrm rot="0">
            <a:off x="5548503" y="6325000"/>
            <a:ext cx="1698498" cy="395002"/>
            <a:chOff x="0" y="0"/>
            <a:chExt cx="2264664" cy="526669"/>
          </a:xfrm>
        </p:grpSpPr>
        <p:sp>
          <p:nvSpPr>
            <p:cNvPr name="Freeform 541" id="53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42" id="540"/>
          <p:cNvGrpSpPr/>
          <p:nvPr/>
        </p:nvGrpSpPr>
        <p:grpSpPr>
          <a:xfrm rot="0">
            <a:off x="5548503" y="6325000"/>
            <a:ext cx="1698498" cy="395002"/>
            <a:chOff x="0" y="0"/>
            <a:chExt cx="2264664" cy="526669"/>
          </a:xfrm>
        </p:grpSpPr>
        <p:sp>
          <p:nvSpPr>
            <p:cNvPr name="Freeform 543" id="54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44" id="54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$329.46</a:t>
              </a:r>
            </a:p>
          </p:txBody>
        </p:sp>
      </p:grpSp>
      <p:grpSp>
        <p:nvGrpSpPr>
          <p:cNvPr name="Group 545" id="543"/>
          <p:cNvGrpSpPr/>
          <p:nvPr/>
        </p:nvGrpSpPr>
        <p:grpSpPr>
          <a:xfrm rot="0">
            <a:off x="7247001" y="6325000"/>
            <a:ext cx="1698498" cy="395002"/>
            <a:chOff x="0" y="0"/>
            <a:chExt cx="2264664" cy="526669"/>
          </a:xfrm>
        </p:grpSpPr>
        <p:sp>
          <p:nvSpPr>
            <p:cNvPr name="Freeform 546" id="54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47" id="545"/>
          <p:cNvGrpSpPr/>
          <p:nvPr/>
        </p:nvGrpSpPr>
        <p:grpSpPr>
          <a:xfrm rot="0">
            <a:off x="7247001" y="6325000"/>
            <a:ext cx="1698498" cy="395002"/>
            <a:chOff x="0" y="0"/>
            <a:chExt cx="2264664" cy="526669"/>
          </a:xfrm>
        </p:grpSpPr>
        <p:sp>
          <p:nvSpPr>
            <p:cNvPr name="Freeform 548" id="54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49" id="547"/>
          <p:cNvGrpSpPr/>
          <p:nvPr/>
        </p:nvGrpSpPr>
        <p:grpSpPr>
          <a:xfrm rot="0">
            <a:off x="7247001" y="6325000"/>
            <a:ext cx="1698498" cy="395002"/>
            <a:chOff x="0" y="0"/>
            <a:chExt cx="2264664" cy="526669"/>
          </a:xfrm>
        </p:grpSpPr>
        <p:sp>
          <p:nvSpPr>
            <p:cNvPr name="Freeform 550" id="54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51" id="549"/>
          <p:cNvGrpSpPr/>
          <p:nvPr/>
        </p:nvGrpSpPr>
        <p:grpSpPr>
          <a:xfrm rot="0">
            <a:off x="7247001" y="6325000"/>
            <a:ext cx="1698498" cy="395002"/>
            <a:chOff x="0" y="0"/>
            <a:chExt cx="2264664" cy="526669"/>
          </a:xfrm>
        </p:grpSpPr>
        <p:sp>
          <p:nvSpPr>
            <p:cNvPr name="Freeform 552" id="55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53" id="55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$261.42</a:t>
              </a:r>
            </a:p>
          </p:txBody>
        </p:sp>
      </p:grpSp>
      <p:grpSp>
        <p:nvGrpSpPr>
          <p:cNvPr name="Group 554" id="552"/>
          <p:cNvGrpSpPr/>
          <p:nvPr/>
        </p:nvGrpSpPr>
        <p:grpSpPr>
          <a:xfrm rot="0">
            <a:off x="8945499" y="6325000"/>
            <a:ext cx="1698498" cy="395002"/>
            <a:chOff x="0" y="0"/>
            <a:chExt cx="2264664" cy="526669"/>
          </a:xfrm>
        </p:grpSpPr>
        <p:sp>
          <p:nvSpPr>
            <p:cNvPr name="Freeform 555" id="55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56" id="554"/>
          <p:cNvGrpSpPr/>
          <p:nvPr/>
        </p:nvGrpSpPr>
        <p:grpSpPr>
          <a:xfrm rot="0">
            <a:off x="8945499" y="6325000"/>
            <a:ext cx="1698498" cy="395002"/>
            <a:chOff x="0" y="0"/>
            <a:chExt cx="2264664" cy="526669"/>
          </a:xfrm>
        </p:grpSpPr>
        <p:sp>
          <p:nvSpPr>
            <p:cNvPr name="Freeform 557" id="55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58" id="556"/>
          <p:cNvGrpSpPr/>
          <p:nvPr/>
        </p:nvGrpSpPr>
        <p:grpSpPr>
          <a:xfrm rot="0">
            <a:off x="8945499" y="6325000"/>
            <a:ext cx="1698498" cy="395002"/>
            <a:chOff x="0" y="0"/>
            <a:chExt cx="2264664" cy="526669"/>
          </a:xfrm>
        </p:grpSpPr>
        <p:sp>
          <p:nvSpPr>
            <p:cNvPr name="Freeform 559" id="55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60" id="558"/>
          <p:cNvGrpSpPr/>
          <p:nvPr/>
        </p:nvGrpSpPr>
        <p:grpSpPr>
          <a:xfrm rot="0">
            <a:off x="8945499" y="6325000"/>
            <a:ext cx="1698498" cy="395002"/>
            <a:chOff x="0" y="0"/>
            <a:chExt cx="2264664" cy="526669"/>
          </a:xfrm>
        </p:grpSpPr>
        <p:sp>
          <p:nvSpPr>
            <p:cNvPr name="Freeform 561" id="55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62" id="56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$212.84</a:t>
              </a:r>
            </a:p>
          </p:txBody>
        </p:sp>
      </p:grpSp>
      <p:grpSp>
        <p:nvGrpSpPr>
          <p:cNvPr name="Group 563" id="561"/>
          <p:cNvGrpSpPr/>
          <p:nvPr/>
        </p:nvGrpSpPr>
        <p:grpSpPr>
          <a:xfrm rot="0">
            <a:off x="10643997" y="6325000"/>
            <a:ext cx="1698498" cy="395002"/>
            <a:chOff x="0" y="0"/>
            <a:chExt cx="2264664" cy="526669"/>
          </a:xfrm>
        </p:grpSpPr>
        <p:sp>
          <p:nvSpPr>
            <p:cNvPr name="Freeform 564" id="56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65" id="563"/>
          <p:cNvGrpSpPr/>
          <p:nvPr/>
        </p:nvGrpSpPr>
        <p:grpSpPr>
          <a:xfrm rot="0">
            <a:off x="10643997" y="6325000"/>
            <a:ext cx="1698498" cy="395002"/>
            <a:chOff x="0" y="0"/>
            <a:chExt cx="2264664" cy="526669"/>
          </a:xfrm>
        </p:grpSpPr>
        <p:sp>
          <p:nvSpPr>
            <p:cNvPr name="Freeform 566" id="56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67" id="565"/>
          <p:cNvGrpSpPr/>
          <p:nvPr/>
        </p:nvGrpSpPr>
        <p:grpSpPr>
          <a:xfrm rot="0">
            <a:off x="10643997" y="6325000"/>
            <a:ext cx="1698498" cy="395002"/>
            <a:chOff x="0" y="0"/>
            <a:chExt cx="2264664" cy="526669"/>
          </a:xfrm>
        </p:grpSpPr>
        <p:sp>
          <p:nvSpPr>
            <p:cNvPr name="Freeform 568" id="56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69" id="567"/>
          <p:cNvGrpSpPr/>
          <p:nvPr/>
        </p:nvGrpSpPr>
        <p:grpSpPr>
          <a:xfrm rot="0">
            <a:off x="10643997" y="6325000"/>
            <a:ext cx="1698498" cy="395002"/>
            <a:chOff x="0" y="0"/>
            <a:chExt cx="2264664" cy="526669"/>
          </a:xfrm>
        </p:grpSpPr>
        <p:sp>
          <p:nvSpPr>
            <p:cNvPr name="Freeform 570" id="56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71" id="56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$200.10</a:t>
              </a:r>
            </a:p>
          </p:txBody>
        </p:sp>
      </p:grpSp>
      <p:grpSp>
        <p:nvGrpSpPr>
          <p:cNvPr name="Group 572" id="570"/>
          <p:cNvGrpSpPr/>
          <p:nvPr/>
        </p:nvGrpSpPr>
        <p:grpSpPr>
          <a:xfrm rot="0">
            <a:off x="850001" y="6711001"/>
            <a:ext cx="16587978" cy="8954"/>
            <a:chOff x="0" y="0"/>
            <a:chExt cx="22117304" cy="11938"/>
          </a:xfrm>
        </p:grpSpPr>
        <p:sp>
          <p:nvSpPr>
            <p:cNvPr name="Freeform 573" id="571"/>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574" id="572"/>
          <p:cNvGrpSpPr/>
          <p:nvPr/>
        </p:nvGrpSpPr>
        <p:grpSpPr>
          <a:xfrm rot="0">
            <a:off x="1070000" y="6720002"/>
            <a:ext cx="2699956" cy="395002"/>
            <a:chOff x="0" y="0"/>
            <a:chExt cx="3599942" cy="526669"/>
          </a:xfrm>
        </p:grpSpPr>
        <p:sp>
          <p:nvSpPr>
            <p:cNvPr name="Freeform 575" id="573"/>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576" id="574"/>
          <p:cNvGrpSpPr/>
          <p:nvPr/>
        </p:nvGrpSpPr>
        <p:grpSpPr>
          <a:xfrm rot="0">
            <a:off x="1070000" y="6720002"/>
            <a:ext cx="2699956" cy="395002"/>
            <a:chOff x="0" y="0"/>
            <a:chExt cx="3599942" cy="526669"/>
          </a:xfrm>
        </p:grpSpPr>
        <p:sp>
          <p:nvSpPr>
            <p:cNvPr name="Freeform 577" id="575"/>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578" id="576"/>
          <p:cNvGrpSpPr/>
          <p:nvPr/>
        </p:nvGrpSpPr>
        <p:grpSpPr>
          <a:xfrm rot="0">
            <a:off x="1070000" y="6720002"/>
            <a:ext cx="2700004" cy="395002"/>
            <a:chOff x="0" y="0"/>
            <a:chExt cx="3600005" cy="526669"/>
          </a:xfrm>
        </p:grpSpPr>
        <p:sp>
          <p:nvSpPr>
            <p:cNvPr name="Freeform 579" id="57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580" id="578"/>
          <p:cNvGrpSpPr/>
          <p:nvPr/>
        </p:nvGrpSpPr>
        <p:grpSpPr>
          <a:xfrm rot="0">
            <a:off x="1070000" y="6720002"/>
            <a:ext cx="2700004" cy="395002"/>
            <a:chOff x="0" y="0"/>
            <a:chExt cx="3600005" cy="526669"/>
          </a:xfrm>
        </p:grpSpPr>
        <p:sp>
          <p:nvSpPr>
            <p:cNvPr name="Freeform 581" id="579"/>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582" id="580"/>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Target / Projected</a:t>
              </a:r>
            </a:p>
          </p:txBody>
        </p:sp>
      </p:grpSp>
      <p:grpSp>
        <p:nvGrpSpPr>
          <p:cNvPr name="Group 583" id="581"/>
          <p:cNvGrpSpPr/>
          <p:nvPr/>
        </p:nvGrpSpPr>
        <p:grpSpPr>
          <a:xfrm rot="0">
            <a:off x="3850005" y="6720002"/>
            <a:ext cx="1698498" cy="395002"/>
            <a:chOff x="0" y="0"/>
            <a:chExt cx="2264664" cy="526669"/>
          </a:xfrm>
        </p:grpSpPr>
        <p:sp>
          <p:nvSpPr>
            <p:cNvPr name="Freeform 584" id="58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85" id="583"/>
          <p:cNvGrpSpPr/>
          <p:nvPr/>
        </p:nvGrpSpPr>
        <p:grpSpPr>
          <a:xfrm rot="0">
            <a:off x="3850005" y="6720002"/>
            <a:ext cx="1698498" cy="395002"/>
            <a:chOff x="0" y="0"/>
            <a:chExt cx="2264664" cy="526669"/>
          </a:xfrm>
        </p:grpSpPr>
        <p:sp>
          <p:nvSpPr>
            <p:cNvPr name="Freeform 586" id="58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87" id="585"/>
          <p:cNvGrpSpPr/>
          <p:nvPr/>
        </p:nvGrpSpPr>
        <p:grpSpPr>
          <a:xfrm rot="0">
            <a:off x="3850005" y="6720002"/>
            <a:ext cx="1698498" cy="395002"/>
            <a:chOff x="0" y="0"/>
            <a:chExt cx="2264664" cy="526669"/>
          </a:xfrm>
        </p:grpSpPr>
        <p:sp>
          <p:nvSpPr>
            <p:cNvPr name="Freeform 588" id="58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89" id="587"/>
          <p:cNvGrpSpPr/>
          <p:nvPr/>
        </p:nvGrpSpPr>
        <p:grpSpPr>
          <a:xfrm rot="0">
            <a:off x="3850005" y="6720002"/>
            <a:ext cx="1698498" cy="395002"/>
            <a:chOff x="0" y="0"/>
            <a:chExt cx="2264664" cy="526669"/>
          </a:xfrm>
        </p:grpSpPr>
        <p:sp>
          <p:nvSpPr>
            <p:cNvPr name="Freeform 590" id="58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591" id="58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$5,000</a:t>
              </a:r>
            </a:p>
          </p:txBody>
        </p:sp>
      </p:grpSp>
      <p:grpSp>
        <p:nvGrpSpPr>
          <p:cNvPr name="Group 592" id="590"/>
          <p:cNvGrpSpPr/>
          <p:nvPr/>
        </p:nvGrpSpPr>
        <p:grpSpPr>
          <a:xfrm rot="0">
            <a:off x="5548503" y="6720002"/>
            <a:ext cx="1698498" cy="395002"/>
            <a:chOff x="0" y="0"/>
            <a:chExt cx="2264664" cy="526669"/>
          </a:xfrm>
        </p:grpSpPr>
        <p:sp>
          <p:nvSpPr>
            <p:cNvPr name="Freeform 593" id="59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594" id="592"/>
          <p:cNvGrpSpPr/>
          <p:nvPr/>
        </p:nvGrpSpPr>
        <p:grpSpPr>
          <a:xfrm rot="0">
            <a:off x="5548503" y="6720002"/>
            <a:ext cx="1698498" cy="395002"/>
            <a:chOff x="0" y="0"/>
            <a:chExt cx="2264664" cy="526669"/>
          </a:xfrm>
        </p:grpSpPr>
        <p:sp>
          <p:nvSpPr>
            <p:cNvPr name="Freeform 595" id="59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596" id="594"/>
          <p:cNvGrpSpPr/>
          <p:nvPr/>
        </p:nvGrpSpPr>
        <p:grpSpPr>
          <a:xfrm rot="0">
            <a:off x="5548503" y="6720002"/>
            <a:ext cx="1698498" cy="395002"/>
            <a:chOff x="0" y="0"/>
            <a:chExt cx="2264664" cy="526669"/>
          </a:xfrm>
        </p:grpSpPr>
        <p:sp>
          <p:nvSpPr>
            <p:cNvPr name="Freeform 597" id="59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598" id="596"/>
          <p:cNvGrpSpPr/>
          <p:nvPr/>
        </p:nvGrpSpPr>
        <p:grpSpPr>
          <a:xfrm rot="0">
            <a:off x="5548503" y="6720002"/>
            <a:ext cx="1698498" cy="395002"/>
            <a:chOff x="0" y="0"/>
            <a:chExt cx="2264664" cy="526669"/>
          </a:xfrm>
        </p:grpSpPr>
        <p:sp>
          <p:nvSpPr>
            <p:cNvPr name="Freeform 599" id="59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00" id="59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$5,250</a:t>
              </a:r>
            </a:p>
          </p:txBody>
        </p:sp>
      </p:grpSp>
      <p:grpSp>
        <p:nvGrpSpPr>
          <p:cNvPr name="Group 601" id="599"/>
          <p:cNvGrpSpPr/>
          <p:nvPr/>
        </p:nvGrpSpPr>
        <p:grpSpPr>
          <a:xfrm rot="0">
            <a:off x="7247001" y="6720002"/>
            <a:ext cx="1698498" cy="395002"/>
            <a:chOff x="0" y="0"/>
            <a:chExt cx="2264664" cy="526669"/>
          </a:xfrm>
        </p:grpSpPr>
        <p:sp>
          <p:nvSpPr>
            <p:cNvPr name="Freeform 602" id="60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03" id="601"/>
          <p:cNvGrpSpPr/>
          <p:nvPr/>
        </p:nvGrpSpPr>
        <p:grpSpPr>
          <a:xfrm rot="0">
            <a:off x="7247001" y="6720002"/>
            <a:ext cx="1698498" cy="395002"/>
            <a:chOff x="0" y="0"/>
            <a:chExt cx="2264664" cy="526669"/>
          </a:xfrm>
        </p:grpSpPr>
        <p:sp>
          <p:nvSpPr>
            <p:cNvPr name="Freeform 604" id="60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05" id="603"/>
          <p:cNvGrpSpPr/>
          <p:nvPr/>
        </p:nvGrpSpPr>
        <p:grpSpPr>
          <a:xfrm rot="0">
            <a:off x="7247001" y="6720002"/>
            <a:ext cx="1698498" cy="395002"/>
            <a:chOff x="0" y="0"/>
            <a:chExt cx="2264664" cy="526669"/>
          </a:xfrm>
        </p:grpSpPr>
        <p:sp>
          <p:nvSpPr>
            <p:cNvPr name="Freeform 606" id="60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07" id="605"/>
          <p:cNvGrpSpPr/>
          <p:nvPr/>
        </p:nvGrpSpPr>
        <p:grpSpPr>
          <a:xfrm rot="0">
            <a:off x="7247001" y="6720002"/>
            <a:ext cx="1698498" cy="395002"/>
            <a:chOff x="0" y="0"/>
            <a:chExt cx="2264664" cy="526669"/>
          </a:xfrm>
        </p:grpSpPr>
        <p:sp>
          <p:nvSpPr>
            <p:cNvPr name="Freeform 608" id="60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09" id="60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$5,513</a:t>
              </a:r>
            </a:p>
          </p:txBody>
        </p:sp>
      </p:grpSp>
      <p:grpSp>
        <p:nvGrpSpPr>
          <p:cNvPr name="Group 610" id="608"/>
          <p:cNvGrpSpPr/>
          <p:nvPr/>
        </p:nvGrpSpPr>
        <p:grpSpPr>
          <a:xfrm rot="0">
            <a:off x="8945499" y="6720002"/>
            <a:ext cx="1698498" cy="395002"/>
            <a:chOff x="0" y="0"/>
            <a:chExt cx="2264664" cy="526669"/>
          </a:xfrm>
        </p:grpSpPr>
        <p:sp>
          <p:nvSpPr>
            <p:cNvPr name="Freeform 611" id="60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12" id="610"/>
          <p:cNvGrpSpPr/>
          <p:nvPr/>
        </p:nvGrpSpPr>
        <p:grpSpPr>
          <a:xfrm rot="0">
            <a:off x="8945499" y="6720002"/>
            <a:ext cx="1698498" cy="395002"/>
            <a:chOff x="0" y="0"/>
            <a:chExt cx="2264664" cy="526669"/>
          </a:xfrm>
        </p:grpSpPr>
        <p:sp>
          <p:nvSpPr>
            <p:cNvPr name="Freeform 613" id="61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14" id="612"/>
          <p:cNvGrpSpPr/>
          <p:nvPr/>
        </p:nvGrpSpPr>
        <p:grpSpPr>
          <a:xfrm rot="0">
            <a:off x="8945499" y="6720002"/>
            <a:ext cx="1698498" cy="395002"/>
            <a:chOff x="0" y="0"/>
            <a:chExt cx="2264664" cy="526669"/>
          </a:xfrm>
        </p:grpSpPr>
        <p:sp>
          <p:nvSpPr>
            <p:cNvPr name="Freeform 615" id="61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16" id="614"/>
          <p:cNvGrpSpPr/>
          <p:nvPr/>
        </p:nvGrpSpPr>
        <p:grpSpPr>
          <a:xfrm rot="0">
            <a:off x="8945499" y="6720002"/>
            <a:ext cx="1698498" cy="395002"/>
            <a:chOff x="0" y="0"/>
            <a:chExt cx="2264664" cy="526669"/>
          </a:xfrm>
        </p:grpSpPr>
        <p:sp>
          <p:nvSpPr>
            <p:cNvPr name="Freeform 617" id="61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18" id="61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$5,788</a:t>
              </a:r>
            </a:p>
          </p:txBody>
        </p:sp>
      </p:grpSp>
      <p:grpSp>
        <p:nvGrpSpPr>
          <p:cNvPr name="Group 619" id="617"/>
          <p:cNvGrpSpPr/>
          <p:nvPr/>
        </p:nvGrpSpPr>
        <p:grpSpPr>
          <a:xfrm rot="0">
            <a:off x="10643997" y="6720002"/>
            <a:ext cx="1698498" cy="395002"/>
            <a:chOff x="0" y="0"/>
            <a:chExt cx="2264664" cy="526669"/>
          </a:xfrm>
        </p:grpSpPr>
        <p:sp>
          <p:nvSpPr>
            <p:cNvPr name="Freeform 620" id="61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21" id="619"/>
          <p:cNvGrpSpPr/>
          <p:nvPr/>
        </p:nvGrpSpPr>
        <p:grpSpPr>
          <a:xfrm rot="0">
            <a:off x="10643997" y="6720002"/>
            <a:ext cx="1698498" cy="395002"/>
            <a:chOff x="0" y="0"/>
            <a:chExt cx="2264664" cy="526669"/>
          </a:xfrm>
        </p:grpSpPr>
        <p:sp>
          <p:nvSpPr>
            <p:cNvPr name="Freeform 622" id="62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23" id="621"/>
          <p:cNvGrpSpPr/>
          <p:nvPr/>
        </p:nvGrpSpPr>
        <p:grpSpPr>
          <a:xfrm rot="0">
            <a:off x="10643997" y="6720002"/>
            <a:ext cx="1698498" cy="395002"/>
            <a:chOff x="0" y="0"/>
            <a:chExt cx="2264664" cy="526669"/>
          </a:xfrm>
        </p:grpSpPr>
        <p:sp>
          <p:nvSpPr>
            <p:cNvPr name="Freeform 624" id="62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25" id="623"/>
          <p:cNvGrpSpPr/>
          <p:nvPr/>
        </p:nvGrpSpPr>
        <p:grpSpPr>
          <a:xfrm rot="0">
            <a:off x="10643997" y="6720002"/>
            <a:ext cx="1698498" cy="395002"/>
            <a:chOff x="0" y="0"/>
            <a:chExt cx="2264664" cy="526669"/>
          </a:xfrm>
        </p:grpSpPr>
        <p:sp>
          <p:nvSpPr>
            <p:cNvPr name="Freeform 626" id="62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27" id="62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$6,078</a:t>
              </a:r>
            </a:p>
          </p:txBody>
        </p:sp>
      </p:grpSp>
      <p:grpSp>
        <p:nvGrpSpPr>
          <p:cNvPr name="Group 628" id="626"/>
          <p:cNvGrpSpPr/>
          <p:nvPr/>
        </p:nvGrpSpPr>
        <p:grpSpPr>
          <a:xfrm rot="0">
            <a:off x="12342505" y="6720002"/>
            <a:ext cx="1698498" cy="395002"/>
            <a:chOff x="0" y="0"/>
            <a:chExt cx="2264664" cy="526669"/>
          </a:xfrm>
        </p:grpSpPr>
        <p:sp>
          <p:nvSpPr>
            <p:cNvPr name="Freeform 629" id="62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30" id="628"/>
          <p:cNvGrpSpPr/>
          <p:nvPr/>
        </p:nvGrpSpPr>
        <p:grpSpPr>
          <a:xfrm rot="0">
            <a:off x="12342505" y="6720002"/>
            <a:ext cx="1698498" cy="395002"/>
            <a:chOff x="0" y="0"/>
            <a:chExt cx="2264664" cy="526669"/>
          </a:xfrm>
        </p:grpSpPr>
        <p:sp>
          <p:nvSpPr>
            <p:cNvPr name="Freeform 631" id="62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32" id="630"/>
          <p:cNvGrpSpPr/>
          <p:nvPr/>
        </p:nvGrpSpPr>
        <p:grpSpPr>
          <a:xfrm rot="0">
            <a:off x="12342505" y="6720002"/>
            <a:ext cx="1698498" cy="395002"/>
            <a:chOff x="0" y="0"/>
            <a:chExt cx="2264664" cy="526669"/>
          </a:xfrm>
        </p:grpSpPr>
        <p:sp>
          <p:nvSpPr>
            <p:cNvPr name="Freeform 633" id="63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34" id="632"/>
          <p:cNvGrpSpPr/>
          <p:nvPr/>
        </p:nvGrpSpPr>
        <p:grpSpPr>
          <a:xfrm rot="0">
            <a:off x="12342505" y="6720002"/>
            <a:ext cx="1698498" cy="395002"/>
            <a:chOff x="0" y="0"/>
            <a:chExt cx="2264664" cy="526669"/>
          </a:xfrm>
        </p:grpSpPr>
        <p:sp>
          <p:nvSpPr>
            <p:cNvPr name="Freeform 635" id="63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36" id="63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$6,381</a:t>
              </a:r>
            </a:p>
          </p:txBody>
        </p:sp>
      </p:grpSp>
      <p:grpSp>
        <p:nvGrpSpPr>
          <p:cNvPr name="Group 637" id="635"/>
          <p:cNvGrpSpPr/>
          <p:nvPr/>
        </p:nvGrpSpPr>
        <p:grpSpPr>
          <a:xfrm rot="0">
            <a:off x="14041003" y="6720002"/>
            <a:ext cx="1698498" cy="395002"/>
            <a:chOff x="0" y="0"/>
            <a:chExt cx="2264664" cy="526669"/>
          </a:xfrm>
        </p:grpSpPr>
        <p:sp>
          <p:nvSpPr>
            <p:cNvPr name="Freeform 638" id="63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39" id="637"/>
          <p:cNvGrpSpPr/>
          <p:nvPr/>
        </p:nvGrpSpPr>
        <p:grpSpPr>
          <a:xfrm rot="0">
            <a:off x="14041003" y="6720002"/>
            <a:ext cx="1698498" cy="395002"/>
            <a:chOff x="0" y="0"/>
            <a:chExt cx="2264664" cy="526669"/>
          </a:xfrm>
        </p:grpSpPr>
        <p:sp>
          <p:nvSpPr>
            <p:cNvPr name="Freeform 640" id="63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41" id="639"/>
          <p:cNvGrpSpPr/>
          <p:nvPr/>
        </p:nvGrpSpPr>
        <p:grpSpPr>
          <a:xfrm rot="0">
            <a:off x="14041003" y="6720002"/>
            <a:ext cx="1698498" cy="395002"/>
            <a:chOff x="0" y="0"/>
            <a:chExt cx="2264664" cy="526669"/>
          </a:xfrm>
        </p:grpSpPr>
        <p:sp>
          <p:nvSpPr>
            <p:cNvPr name="Freeform 642" id="64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43" id="641"/>
          <p:cNvGrpSpPr/>
          <p:nvPr/>
        </p:nvGrpSpPr>
        <p:grpSpPr>
          <a:xfrm rot="0">
            <a:off x="14041003" y="6720002"/>
            <a:ext cx="1698498" cy="395002"/>
            <a:chOff x="0" y="0"/>
            <a:chExt cx="2264664" cy="526669"/>
          </a:xfrm>
        </p:grpSpPr>
        <p:sp>
          <p:nvSpPr>
            <p:cNvPr name="Freeform 644" id="64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45" id="64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$6,700</a:t>
              </a:r>
            </a:p>
          </p:txBody>
        </p:sp>
      </p:grpSp>
      <p:grpSp>
        <p:nvGrpSpPr>
          <p:cNvPr name="Group 646" id="644"/>
          <p:cNvGrpSpPr/>
          <p:nvPr/>
        </p:nvGrpSpPr>
        <p:grpSpPr>
          <a:xfrm rot="0">
            <a:off x="15739501" y="6720002"/>
            <a:ext cx="1698498" cy="395002"/>
            <a:chOff x="0" y="0"/>
            <a:chExt cx="2264664" cy="526669"/>
          </a:xfrm>
        </p:grpSpPr>
        <p:sp>
          <p:nvSpPr>
            <p:cNvPr name="Freeform 647" id="64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48" id="646"/>
          <p:cNvGrpSpPr/>
          <p:nvPr/>
        </p:nvGrpSpPr>
        <p:grpSpPr>
          <a:xfrm rot="0">
            <a:off x="15739501" y="6720002"/>
            <a:ext cx="1698498" cy="395002"/>
            <a:chOff x="0" y="0"/>
            <a:chExt cx="2264664" cy="526669"/>
          </a:xfrm>
        </p:grpSpPr>
        <p:sp>
          <p:nvSpPr>
            <p:cNvPr name="Freeform 649" id="64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50" id="648"/>
          <p:cNvGrpSpPr/>
          <p:nvPr/>
        </p:nvGrpSpPr>
        <p:grpSpPr>
          <a:xfrm rot="0">
            <a:off x="15739501" y="6720002"/>
            <a:ext cx="1698498" cy="395002"/>
            <a:chOff x="0" y="0"/>
            <a:chExt cx="2264664" cy="526669"/>
          </a:xfrm>
        </p:grpSpPr>
        <p:sp>
          <p:nvSpPr>
            <p:cNvPr name="Freeform 651" id="64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52" id="650"/>
          <p:cNvGrpSpPr/>
          <p:nvPr/>
        </p:nvGrpSpPr>
        <p:grpSpPr>
          <a:xfrm rot="0">
            <a:off x="15739501" y="6720002"/>
            <a:ext cx="1698498" cy="395002"/>
            <a:chOff x="0" y="0"/>
            <a:chExt cx="2264664" cy="526669"/>
          </a:xfrm>
        </p:grpSpPr>
        <p:sp>
          <p:nvSpPr>
            <p:cNvPr name="Freeform 653" id="65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54" id="65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$7,036</a:t>
              </a:r>
            </a:p>
          </p:txBody>
        </p:sp>
      </p:grpSp>
      <p:grpSp>
        <p:nvGrpSpPr>
          <p:cNvPr name="Group 655" id="653"/>
          <p:cNvGrpSpPr/>
          <p:nvPr/>
        </p:nvGrpSpPr>
        <p:grpSpPr>
          <a:xfrm rot="0">
            <a:off x="850001" y="7106002"/>
            <a:ext cx="16587978" cy="8954"/>
            <a:chOff x="0" y="0"/>
            <a:chExt cx="22117304" cy="11938"/>
          </a:xfrm>
        </p:grpSpPr>
        <p:sp>
          <p:nvSpPr>
            <p:cNvPr name="Freeform 656" id="654"/>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657" id="655"/>
          <p:cNvGrpSpPr/>
          <p:nvPr/>
        </p:nvGrpSpPr>
        <p:grpSpPr>
          <a:xfrm rot="0">
            <a:off x="1070000" y="7115004"/>
            <a:ext cx="2699956" cy="395002"/>
            <a:chOff x="0" y="0"/>
            <a:chExt cx="3599942" cy="526669"/>
          </a:xfrm>
        </p:grpSpPr>
        <p:sp>
          <p:nvSpPr>
            <p:cNvPr name="Freeform 658" id="656"/>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659" id="657"/>
          <p:cNvGrpSpPr/>
          <p:nvPr/>
        </p:nvGrpSpPr>
        <p:grpSpPr>
          <a:xfrm rot="0">
            <a:off x="1070000" y="7115004"/>
            <a:ext cx="2699956" cy="395002"/>
            <a:chOff x="0" y="0"/>
            <a:chExt cx="3599942" cy="526669"/>
          </a:xfrm>
        </p:grpSpPr>
        <p:sp>
          <p:nvSpPr>
            <p:cNvPr name="Freeform 660" id="658"/>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661" id="659"/>
          <p:cNvGrpSpPr/>
          <p:nvPr/>
        </p:nvGrpSpPr>
        <p:grpSpPr>
          <a:xfrm rot="0">
            <a:off x="1070000" y="7115004"/>
            <a:ext cx="2700004" cy="395002"/>
            <a:chOff x="0" y="0"/>
            <a:chExt cx="3600005" cy="526669"/>
          </a:xfrm>
        </p:grpSpPr>
        <p:sp>
          <p:nvSpPr>
            <p:cNvPr name="Freeform 662" id="660"/>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663" id="661"/>
          <p:cNvGrpSpPr/>
          <p:nvPr/>
        </p:nvGrpSpPr>
        <p:grpSpPr>
          <a:xfrm rot="0">
            <a:off x="1070000" y="7115004"/>
            <a:ext cx="2700004" cy="395002"/>
            <a:chOff x="0" y="0"/>
            <a:chExt cx="3600005" cy="526669"/>
          </a:xfrm>
        </p:grpSpPr>
        <p:sp>
          <p:nvSpPr>
            <p:cNvPr name="Freeform 664" id="662"/>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665" id="663"/>
            <p:cNvSpPr txBox="true"/>
            <p:nvPr/>
          </p:nvSpPr>
          <p:spPr>
            <a:xfrm>
              <a:off x="0" y="0"/>
              <a:ext cx="3600005" cy="526669"/>
            </a:xfrm>
            <a:prstGeom prst="rect">
              <a:avLst/>
            </a:prstGeom>
          </p:spPr>
          <p:txBody>
            <a:bodyPr anchor="ctr" rtlCol="false" tIns="0" lIns="0" bIns="0" rIns="0"/>
            <a:lstStyle/>
            <a:p>
              <a:pPr algn="l">
                <a:lnSpc>
                  <a:spcPts val="1584"/>
                </a:lnSpc>
              </a:pPr>
              <a:r>
                <a:rPr lang="en-US" b="true" sz="1320" i="true">
                  <a:solidFill>
                    <a:srgbClr val="132257"/>
                  </a:solidFill>
                  <a:latin typeface="Exo 2 Bold Italics"/>
                  <a:ea typeface="Exo 2 Bold Italics"/>
                  <a:cs typeface="Exo 2 Bold Italics"/>
                  <a:sym typeface="Exo 2 Bold Italics"/>
                </a:rPr>
                <a:t>Performance Gap</a:t>
              </a:r>
            </a:p>
          </p:txBody>
        </p:sp>
      </p:grpSp>
      <p:grpSp>
        <p:nvGrpSpPr>
          <p:cNvPr name="Group 666" id="664"/>
          <p:cNvGrpSpPr/>
          <p:nvPr/>
        </p:nvGrpSpPr>
        <p:grpSpPr>
          <a:xfrm rot="0">
            <a:off x="3850005" y="7115004"/>
            <a:ext cx="1698498" cy="395002"/>
            <a:chOff x="0" y="0"/>
            <a:chExt cx="2264664" cy="526669"/>
          </a:xfrm>
        </p:grpSpPr>
        <p:sp>
          <p:nvSpPr>
            <p:cNvPr name="Freeform 667" id="66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68" id="666"/>
          <p:cNvGrpSpPr/>
          <p:nvPr/>
        </p:nvGrpSpPr>
        <p:grpSpPr>
          <a:xfrm rot="0">
            <a:off x="3850005" y="7115004"/>
            <a:ext cx="1698498" cy="395002"/>
            <a:chOff x="0" y="0"/>
            <a:chExt cx="2264664" cy="526669"/>
          </a:xfrm>
        </p:grpSpPr>
        <p:sp>
          <p:nvSpPr>
            <p:cNvPr name="Freeform 669" id="66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70" id="668"/>
          <p:cNvGrpSpPr/>
          <p:nvPr/>
        </p:nvGrpSpPr>
        <p:grpSpPr>
          <a:xfrm rot="0">
            <a:off x="3850005" y="7115004"/>
            <a:ext cx="1698498" cy="395002"/>
            <a:chOff x="0" y="0"/>
            <a:chExt cx="2264664" cy="526669"/>
          </a:xfrm>
        </p:grpSpPr>
        <p:sp>
          <p:nvSpPr>
            <p:cNvPr name="Freeform 671" id="66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72" id="670"/>
          <p:cNvGrpSpPr/>
          <p:nvPr/>
        </p:nvGrpSpPr>
        <p:grpSpPr>
          <a:xfrm rot="0">
            <a:off x="3850005" y="7115004"/>
            <a:ext cx="1698498" cy="395002"/>
            <a:chOff x="0" y="0"/>
            <a:chExt cx="2264664" cy="526669"/>
          </a:xfrm>
        </p:grpSpPr>
        <p:sp>
          <p:nvSpPr>
            <p:cNvPr name="Freeform 673" id="67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74" id="672"/>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-$4,635.18</a:t>
              </a:r>
            </a:p>
          </p:txBody>
        </p:sp>
      </p:grpSp>
      <p:grpSp>
        <p:nvGrpSpPr>
          <p:cNvPr name="Group 675" id="673"/>
          <p:cNvGrpSpPr/>
          <p:nvPr/>
        </p:nvGrpSpPr>
        <p:grpSpPr>
          <a:xfrm rot="0">
            <a:off x="5548503" y="7115004"/>
            <a:ext cx="1698498" cy="395002"/>
            <a:chOff x="0" y="0"/>
            <a:chExt cx="2264664" cy="526669"/>
          </a:xfrm>
        </p:grpSpPr>
        <p:sp>
          <p:nvSpPr>
            <p:cNvPr name="Freeform 676" id="67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77" id="675"/>
          <p:cNvGrpSpPr/>
          <p:nvPr/>
        </p:nvGrpSpPr>
        <p:grpSpPr>
          <a:xfrm rot="0">
            <a:off x="5548503" y="7115004"/>
            <a:ext cx="1698498" cy="395002"/>
            <a:chOff x="0" y="0"/>
            <a:chExt cx="2264664" cy="526669"/>
          </a:xfrm>
        </p:grpSpPr>
        <p:sp>
          <p:nvSpPr>
            <p:cNvPr name="Freeform 678" id="67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79" id="677"/>
          <p:cNvGrpSpPr/>
          <p:nvPr/>
        </p:nvGrpSpPr>
        <p:grpSpPr>
          <a:xfrm rot="0">
            <a:off x="5548503" y="7115004"/>
            <a:ext cx="1698498" cy="395002"/>
            <a:chOff x="0" y="0"/>
            <a:chExt cx="2264664" cy="526669"/>
          </a:xfrm>
        </p:grpSpPr>
        <p:sp>
          <p:nvSpPr>
            <p:cNvPr name="Freeform 680" id="67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81" id="679"/>
          <p:cNvGrpSpPr/>
          <p:nvPr/>
        </p:nvGrpSpPr>
        <p:grpSpPr>
          <a:xfrm rot="0">
            <a:off x="5548503" y="7115004"/>
            <a:ext cx="1698498" cy="395002"/>
            <a:chOff x="0" y="0"/>
            <a:chExt cx="2264664" cy="526669"/>
          </a:xfrm>
        </p:grpSpPr>
        <p:sp>
          <p:nvSpPr>
            <p:cNvPr name="Freeform 682" id="68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83" id="681"/>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-$4,920.54</a:t>
              </a:r>
            </a:p>
          </p:txBody>
        </p:sp>
      </p:grpSp>
      <p:grpSp>
        <p:nvGrpSpPr>
          <p:cNvPr name="Group 684" id="682"/>
          <p:cNvGrpSpPr/>
          <p:nvPr/>
        </p:nvGrpSpPr>
        <p:grpSpPr>
          <a:xfrm rot="0">
            <a:off x="7247001" y="7115004"/>
            <a:ext cx="1698498" cy="395002"/>
            <a:chOff x="0" y="0"/>
            <a:chExt cx="2264664" cy="526669"/>
          </a:xfrm>
        </p:grpSpPr>
        <p:sp>
          <p:nvSpPr>
            <p:cNvPr name="Freeform 685" id="68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86" id="684"/>
          <p:cNvGrpSpPr/>
          <p:nvPr/>
        </p:nvGrpSpPr>
        <p:grpSpPr>
          <a:xfrm rot="0">
            <a:off x="7247001" y="7115004"/>
            <a:ext cx="1698498" cy="395002"/>
            <a:chOff x="0" y="0"/>
            <a:chExt cx="2264664" cy="526669"/>
          </a:xfrm>
        </p:grpSpPr>
        <p:sp>
          <p:nvSpPr>
            <p:cNvPr name="Freeform 687" id="68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88" id="686"/>
          <p:cNvGrpSpPr/>
          <p:nvPr/>
        </p:nvGrpSpPr>
        <p:grpSpPr>
          <a:xfrm rot="0">
            <a:off x="7247001" y="7115004"/>
            <a:ext cx="1698498" cy="395002"/>
            <a:chOff x="0" y="0"/>
            <a:chExt cx="2264664" cy="526669"/>
          </a:xfrm>
        </p:grpSpPr>
        <p:sp>
          <p:nvSpPr>
            <p:cNvPr name="Freeform 689" id="68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90" id="688"/>
          <p:cNvGrpSpPr/>
          <p:nvPr/>
        </p:nvGrpSpPr>
        <p:grpSpPr>
          <a:xfrm rot="0">
            <a:off x="7247001" y="7115004"/>
            <a:ext cx="1698498" cy="395002"/>
            <a:chOff x="0" y="0"/>
            <a:chExt cx="2264664" cy="526669"/>
          </a:xfrm>
        </p:grpSpPr>
        <p:sp>
          <p:nvSpPr>
            <p:cNvPr name="Freeform 691" id="68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692" id="690"/>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-$5,251.58</a:t>
              </a:r>
            </a:p>
          </p:txBody>
        </p:sp>
      </p:grpSp>
      <p:grpSp>
        <p:nvGrpSpPr>
          <p:cNvPr name="Group 693" id="691"/>
          <p:cNvGrpSpPr/>
          <p:nvPr/>
        </p:nvGrpSpPr>
        <p:grpSpPr>
          <a:xfrm rot="0">
            <a:off x="8945499" y="7115004"/>
            <a:ext cx="1698498" cy="395002"/>
            <a:chOff x="0" y="0"/>
            <a:chExt cx="2264664" cy="526669"/>
          </a:xfrm>
        </p:grpSpPr>
        <p:sp>
          <p:nvSpPr>
            <p:cNvPr name="Freeform 694" id="69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695" id="693"/>
          <p:cNvGrpSpPr/>
          <p:nvPr/>
        </p:nvGrpSpPr>
        <p:grpSpPr>
          <a:xfrm rot="0">
            <a:off x="8945499" y="7115004"/>
            <a:ext cx="1698498" cy="395002"/>
            <a:chOff x="0" y="0"/>
            <a:chExt cx="2264664" cy="526669"/>
          </a:xfrm>
        </p:grpSpPr>
        <p:sp>
          <p:nvSpPr>
            <p:cNvPr name="Freeform 696" id="69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697" id="695"/>
          <p:cNvGrpSpPr/>
          <p:nvPr/>
        </p:nvGrpSpPr>
        <p:grpSpPr>
          <a:xfrm rot="0">
            <a:off x="8945499" y="7115004"/>
            <a:ext cx="1698498" cy="395002"/>
            <a:chOff x="0" y="0"/>
            <a:chExt cx="2264664" cy="526669"/>
          </a:xfrm>
        </p:grpSpPr>
        <p:sp>
          <p:nvSpPr>
            <p:cNvPr name="Freeform 698" id="69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699" id="697"/>
          <p:cNvGrpSpPr/>
          <p:nvPr/>
        </p:nvGrpSpPr>
        <p:grpSpPr>
          <a:xfrm rot="0">
            <a:off x="8945499" y="7115004"/>
            <a:ext cx="1698498" cy="395002"/>
            <a:chOff x="0" y="0"/>
            <a:chExt cx="2264664" cy="526669"/>
          </a:xfrm>
        </p:grpSpPr>
        <p:sp>
          <p:nvSpPr>
            <p:cNvPr name="Freeform 700" id="69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01" id="699"/>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-$5,575.16</a:t>
              </a:r>
            </a:p>
          </p:txBody>
        </p:sp>
      </p:grpSp>
      <p:grpSp>
        <p:nvGrpSpPr>
          <p:cNvPr name="Group 702" id="700"/>
          <p:cNvGrpSpPr/>
          <p:nvPr/>
        </p:nvGrpSpPr>
        <p:grpSpPr>
          <a:xfrm rot="0">
            <a:off x="10643997" y="7115004"/>
            <a:ext cx="1698498" cy="395002"/>
            <a:chOff x="0" y="0"/>
            <a:chExt cx="2264664" cy="526669"/>
          </a:xfrm>
        </p:grpSpPr>
        <p:sp>
          <p:nvSpPr>
            <p:cNvPr name="Freeform 703" id="70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04" id="702"/>
          <p:cNvGrpSpPr/>
          <p:nvPr/>
        </p:nvGrpSpPr>
        <p:grpSpPr>
          <a:xfrm rot="0">
            <a:off x="10643997" y="7115004"/>
            <a:ext cx="1698498" cy="395002"/>
            <a:chOff x="0" y="0"/>
            <a:chExt cx="2264664" cy="526669"/>
          </a:xfrm>
        </p:grpSpPr>
        <p:sp>
          <p:nvSpPr>
            <p:cNvPr name="Freeform 705" id="70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06" id="704"/>
          <p:cNvGrpSpPr/>
          <p:nvPr/>
        </p:nvGrpSpPr>
        <p:grpSpPr>
          <a:xfrm rot="0">
            <a:off x="10643997" y="7115004"/>
            <a:ext cx="1698498" cy="395002"/>
            <a:chOff x="0" y="0"/>
            <a:chExt cx="2264664" cy="526669"/>
          </a:xfrm>
        </p:grpSpPr>
        <p:sp>
          <p:nvSpPr>
            <p:cNvPr name="Freeform 707" id="70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08" id="706"/>
          <p:cNvGrpSpPr/>
          <p:nvPr/>
        </p:nvGrpSpPr>
        <p:grpSpPr>
          <a:xfrm rot="0">
            <a:off x="10643997" y="7115004"/>
            <a:ext cx="1698498" cy="395002"/>
            <a:chOff x="0" y="0"/>
            <a:chExt cx="2264664" cy="526669"/>
          </a:xfrm>
        </p:grpSpPr>
        <p:sp>
          <p:nvSpPr>
            <p:cNvPr name="Freeform 709" id="70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10" id="708"/>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-$5,877.90</a:t>
              </a:r>
            </a:p>
          </p:txBody>
        </p:sp>
      </p:grpSp>
      <p:grpSp>
        <p:nvGrpSpPr>
          <p:cNvPr name="Group 711" id="709"/>
          <p:cNvGrpSpPr/>
          <p:nvPr/>
        </p:nvGrpSpPr>
        <p:grpSpPr>
          <a:xfrm rot="0">
            <a:off x="850001" y="7501004"/>
            <a:ext cx="16587978" cy="8954"/>
            <a:chOff x="0" y="0"/>
            <a:chExt cx="22117304" cy="11938"/>
          </a:xfrm>
        </p:grpSpPr>
        <p:sp>
          <p:nvSpPr>
            <p:cNvPr name="Freeform 712" id="710"/>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713" id="711"/>
          <p:cNvGrpSpPr/>
          <p:nvPr/>
        </p:nvGrpSpPr>
        <p:grpSpPr>
          <a:xfrm rot="0">
            <a:off x="850001" y="7509996"/>
            <a:ext cx="16587978" cy="395002"/>
            <a:chOff x="0" y="0"/>
            <a:chExt cx="22117304" cy="526669"/>
          </a:xfrm>
        </p:grpSpPr>
        <p:sp>
          <p:nvSpPr>
            <p:cNvPr name="Freeform 714" id="712"/>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solidFill>
              <a:srgbClr val="E9EDF6"/>
            </a:solidFill>
          </p:spPr>
        </p:sp>
      </p:grpSp>
      <p:grpSp>
        <p:nvGrpSpPr>
          <p:cNvPr name="Group 715" id="713"/>
          <p:cNvGrpSpPr/>
          <p:nvPr/>
        </p:nvGrpSpPr>
        <p:grpSpPr>
          <a:xfrm rot="0">
            <a:off x="1070000" y="7509996"/>
            <a:ext cx="16587978" cy="395002"/>
            <a:chOff x="0" y="0"/>
            <a:chExt cx="22117304" cy="526669"/>
          </a:xfrm>
        </p:grpSpPr>
        <p:sp>
          <p:nvSpPr>
            <p:cNvPr name="Freeform 716" id="714"/>
            <p:cNvSpPr/>
            <p:nvPr/>
          </p:nvSpPr>
          <p:spPr>
            <a:xfrm flipH="false" flipV="false" rot="0">
              <a:off x="0" y="0"/>
              <a:ext cx="22117304" cy="526669"/>
            </a:xfrm>
            <a:custGeom>
              <a:avLst/>
              <a:gdLst/>
              <a:ahLst/>
              <a:cxnLst/>
              <a:rect r="r" b="b" t="t" l="l"/>
              <a:pathLst>
                <a:path h="526669" w="22117304">
                  <a:moveTo>
                    <a:pt x="0" y="0"/>
                  </a:moveTo>
                  <a:lnTo>
                    <a:pt x="22117304" y="0"/>
                  </a:lnTo>
                  <a:lnTo>
                    <a:pt x="22117304" y="526669"/>
                  </a:lnTo>
                  <a:lnTo>
                    <a:pt x="0" y="526669"/>
                  </a:lnTo>
                  <a:close/>
                </a:path>
              </a:pathLst>
            </a:custGeom>
            <a:blipFill>
              <a:blip r:embed="rId7">
                <a:alphaModFix amt="0"/>
              </a:blip>
              <a:stretch>
                <a:fillRect l="0" t="-767699" r="0" b="-767699"/>
              </a:stretch>
            </a:blipFill>
          </p:spPr>
        </p:sp>
      </p:grpSp>
      <p:grpSp>
        <p:nvGrpSpPr>
          <p:cNvPr name="Group 717" id="715"/>
          <p:cNvGrpSpPr/>
          <p:nvPr/>
        </p:nvGrpSpPr>
        <p:grpSpPr>
          <a:xfrm rot="0">
            <a:off x="1070000" y="7502852"/>
            <a:ext cx="16587978" cy="402146"/>
            <a:chOff x="0" y="0"/>
            <a:chExt cx="22117304" cy="536194"/>
          </a:xfrm>
        </p:grpSpPr>
        <p:sp>
          <p:nvSpPr>
            <p:cNvPr name="Freeform 718" id="716"/>
            <p:cNvSpPr/>
            <p:nvPr/>
          </p:nvSpPr>
          <p:spPr>
            <a:xfrm flipH="false" flipV="false" rot="0">
              <a:off x="0" y="0"/>
              <a:ext cx="22117304" cy="536194"/>
            </a:xfrm>
            <a:custGeom>
              <a:avLst/>
              <a:gdLst/>
              <a:ahLst/>
              <a:cxnLst/>
              <a:rect r="r" b="b" t="t" l="l"/>
              <a:pathLst>
                <a:path h="536194" w="22117304">
                  <a:moveTo>
                    <a:pt x="0" y="0"/>
                  </a:moveTo>
                  <a:lnTo>
                    <a:pt x="22117304" y="0"/>
                  </a:lnTo>
                  <a:lnTo>
                    <a:pt x="22117304" y="536194"/>
                  </a:lnTo>
                  <a:lnTo>
                    <a:pt x="0" y="536194"/>
                  </a:lnTo>
                  <a:close/>
                </a:path>
              </a:pathLst>
            </a:custGeom>
            <a:blipFill>
              <a:blip r:embed="rId8">
                <a:alphaModFix amt="0"/>
              </a:blip>
              <a:stretch>
                <a:fillRect l="0" t="-753173" r="0" b="-753173"/>
              </a:stretch>
            </a:blipFill>
          </p:spPr>
        </p:sp>
      </p:grpSp>
      <p:grpSp>
        <p:nvGrpSpPr>
          <p:cNvPr name="Group 719" id="717"/>
          <p:cNvGrpSpPr/>
          <p:nvPr/>
        </p:nvGrpSpPr>
        <p:grpSpPr>
          <a:xfrm rot="0">
            <a:off x="1070000" y="7495708"/>
            <a:ext cx="16587997" cy="409289"/>
            <a:chOff x="0" y="0"/>
            <a:chExt cx="22117329" cy="545719"/>
          </a:xfrm>
        </p:grpSpPr>
        <p:sp>
          <p:nvSpPr>
            <p:cNvPr name="Freeform 720" id="718"/>
            <p:cNvSpPr/>
            <p:nvPr/>
          </p:nvSpPr>
          <p:spPr>
            <a:xfrm flipH="false" flipV="false" rot="0">
              <a:off x="0" y="0"/>
              <a:ext cx="22117304" cy="545719"/>
            </a:xfrm>
            <a:custGeom>
              <a:avLst/>
              <a:gdLst/>
              <a:ahLst/>
              <a:cxnLst/>
              <a:rect r="r" b="b" t="t" l="l"/>
              <a:pathLst>
                <a:path h="545719" w="22117304">
                  <a:moveTo>
                    <a:pt x="0" y="0"/>
                  </a:moveTo>
                  <a:lnTo>
                    <a:pt x="22117304" y="0"/>
                  </a:lnTo>
                  <a:lnTo>
                    <a:pt x="22117304" y="545719"/>
                  </a:lnTo>
                  <a:lnTo>
                    <a:pt x="0" y="545719"/>
                  </a:lnTo>
                  <a:close/>
                </a:path>
              </a:pathLst>
            </a:custGeom>
            <a:blipFill>
              <a:blip r:embed="rId9">
                <a:alphaModFix amt="0"/>
              </a:blip>
              <a:stretch>
                <a:fillRect l="0" t="-739155" r="0" b="-739155"/>
              </a:stretch>
            </a:blipFill>
          </p:spPr>
        </p:sp>
      </p:grpSp>
      <p:grpSp>
        <p:nvGrpSpPr>
          <p:cNvPr name="Group 721" id="719"/>
          <p:cNvGrpSpPr/>
          <p:nvPr/>
        </p:nvGrpSpPr>
        <p:grpSpPr>
          <a:xfrm rot="0">
            <a:off x="1070000" y="7488565"/>
            <a:ext cx="16587997" cy="416433"/>
            <a:chOff x="0" y="0"/>
            <a:chExt cx="22117329" cy="555244"/>
          </a:xfrm>
        </p:grpSpPr>
        <p:sp>
          <p:nvSpPr>
            <p:cNvPr name="Freeform 722" id="720"/>
            <p:cNvSpPr/>
            <p:nvPr/>
          </p:nvSpPr>
          <p:spPr>
            <a:xfrm flipH="false" flipV="false" rot="0">
              <a:off x="0" y="0"/>
              <a:ext cx="22117329" cy="555244"/>
            </a:xfrm>
            <a:custGeom>
              <a:avLst/>
              <a:gdLst/>
              <a:ahLst/>
              <a:cxnLst/>
              <a:rect r="r" b="b" t="t" l="l"/>
              <a:pathLst>
                <a:path h="555244" w="22117329">
                  <a:moveTo>
                    <a:pt x="0" y="0"/>
                  </a:moveTo>
                  <a:lnTo>
                    <a:pt x="22117329" y="0"/>
                  </a:lnTo>
                  <a:lnTo>
                    <a:pt x="22117329" y="555244"/>
                  </a:lnTo>
                  <a:lnTo>
                    <a:pt x="0" y="555244"/>
                  </a:lnTo>
                  <a:close/>
                </a:path>
              </a:pathLst>
            </a:custGeom>
            <a:blipFill>
              <a:blip r:embed="rId3">
                <a:alphaModFix amt="0"/>
              </a:blip>
              <a:stretch>
                <a:fillRect l="0" t="-726158" r="0" b="-726158"/>
              </a:stretch>
            </a:blipFill>
          </p:spPr>
        </p:sp>
        <p:sp>
          <p:nvSpPr>
            <p:cNvPr name="TextBox 723" id="721"/>
            <p:cNvSpPr txBox="true"/>
            <p:nvPr/>
          </p:nvSpPr>
          <p:spPr>
            <a:xfrm>
              <a:off x="0" y="-9525"/>
              <a:ext cx="22117329" cy="564769"/>
            </a:xfrm>
            <a:prstGeom prst="rect">
              <a:avLst/>
            </a:prstGeom>
          </p:spPr>
          <p:txBody>
            <a:bodyPr anchor="ctr" rtlCol="false" tIns="0" lIns="0" bIns="0" rIns="0"/>
            <a:lstStyle/>
            <a:p>
              <a:pPr algn="l">
                <a:lnSpc>
                  <a:spcPts val="1512"/>
                </a:lnSpc>
              </a:pPr>
              <a:r>
                <a:rPr lang="en-US" b="true" sz="1260" spc="138">
                  <a:solidFill>
                    <a:srgbClr val="132257"/>
                  </a:solidFill>
                  <a:latin typeface="Exo 2 Bold"/>
                  <a:ea typeface="Exo 2 Bold"/>
                  <a:cs typeface="Exo 2 Bold"/>
                  <a:sym typeface="Exo 2 Bold"/>
                </a:rPr>
                <a:t>IV.  TOTAL DEPOSITS, CUMULATIVE</a:t>
              </a:r>
            </a:p>
          </p:txBody>
        </p:sp>
      </p:grpSp>
      <p:grpSp>
        <p:nvGrpSpPr>
          <p:cNvPr name="Group 724" id="722"/>
          <p:cNvGrpSpPr/>
          <p:nvPr/>
        </p:nvGrpSpPr>
        <p:grpSpPr>
          <a:xfrm rot="0">
            <a:off x="1070000" y="7904998"/>
            <a:ext cx="2699956" cy="395002"/>
            <a:chOff x="0" y="0"/>
            <a:chExt cx="3599942" cy="526669"/>
          </a:xfrm>
        </p:grpSpPr>
        <p:sp>
          <p:nvSpPr>
            <p:cNvPr name="Freeform 725" id="723"/>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726" id="724"/>
          <p:cNvGrpSpPr/>
          <p:nvPr/>
        </p:nvGrpSpPr>
        <p:grpSpPr>
          <a:xfrm rot="0">
            <a:off x="1070000" y="7904998"/>
            <a:ext cx="2699956" cy="395002"/>
            <a:chOff x="0" y="0"/>
            <a:chExt cx="3599942" cy="526669"/>
          </a:xfrm>
        </p:grpSpPr>
        <p:sp>
          <p:nvSpPr>
            <p:cNvPr name="Freeform 727" id="725"/>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728" id="726"/>
          <p:cNvGrpSpPr/>
          <p:nvPr/>
        </p:nvGrpSpPr>
        <p:grpSpPr>
          <a:xfrm rot="0">
            <a:off x="1070000" y="7904998"/>
            <a:ext cx="2700004" cy="395002"/>
            <a:chOff x="0" y="0"/>
            <a:chExt cx="3600005" cy="526669"/>
          </a:xfrm>
        </p:grpSpPr>
        <p:sp>
          <p:nvSpPr>
            <p:cNvPr name="Freeform 729" id="727"/>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730" id="728"/>
          <p:cNvGrpSpPr/>
          <p:nvPr/>
        </p:nvGrpSpPr>
        <p:grpSpPr>
          <a:xfrm rot="0">
            <a:off x="1070000" y="7904998"/>
            <a:ext cx="2700004" cy="395002"/>
            <a:chOff x="0" y="0"/>
            <a:chExt cx="3600005" cy="526669"/>
          </a:xfrm>
        </p:grpSpPr>
        <p:sp>
          <p:nvSpPr>
            <p:cNvPr name="Freeform 731" id="729"/>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732" id="730"/>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Achieved / Current</a:t>
              </a:r>
            </a:p>
          </p:txBody>
        </p:sp>
      </p:grpSp>
      <p:grpSp>
        <p:nvGrpSpPr>
          <p:cNvPr name="Group 733" id="731"/>
          <p:cNvGrpSpPr/>
          <p:nvPr/>
        </p:nvGrpSpPr>
        <p:grpSpPr>
          <a:xfrm rot="0">
            <a:off x="3850005" y="7904998"/>
            <a:ext cx="1698498" cy="395002"/>
            <a:chOff x="0" y="0"/>
            <a:chExt cx="2264664" cy="526669"/>
          </a:xfrm>
        </p:grpSpPr>
        <p:sp>
          <p:nvSpPr>
            <p:cNvPr name="Freeform 734" id="73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35" id="733"/>
          <p:cNvGrpSpPr/>
          <p:nvPr/>
        </p:nvGrpSpPr>
        <p:grpSpPr>
          <a:xfrm rot="0">
            <a:off x="3850005" y="7904998"/>
            <a:ext cx="1698498" cy="395002"/>
            <a:chOff x="0" y="0"/>
            <a:chExt cx="2264664" cy="526669"/>
          </a:xfrm>
        </p:grpSpPr>
        <p:sp>
          <p:nvSpPr>
            <p:cNvPr name="Freeform 736" id="73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37" id="735"/>
          <p:cNvGrpSpPr/>
          <p:nvPr/>
        </p:nvGrpSpPr>
        <p:grpSpPr>
          <a:xfrm rot="0">
            <a:off x="3850005" y="7904998"/>
            <a:ext cx="1698498" cy="395002"/>
            <a:chOff x="0" y="0"/>
            <a:chExt cx="2264664" cy="526669"/>
          </a:xfrm>
        </p:grpSpPr>
        <p:sp>
          <p:nvSpPr>
            <p:cNvPr name="Freeform 738" id="73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39" id="737"/>
          <p:cNvGrpSpPr/>
          <p:nvPr/>
        </p:nvGrpSpPr>
        <p:grpSpPr>
          <a:xfrm rot="0">
            <a:off x="3850005" y="7904998"/>
            <a:ext cx="1698498" cy="395002"/>
            <a:chOff x="0" y="0"/>
            <a:chExt cx="2264664" cy="526669"/>
          </a:xfrm>
        </p:grpSpPr>
        <p:sp>
          <p:nvSpPr>
            <p:cNvPr name="Freeform 740" id="73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41" id="73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$4,012.99</a:t>
              </a:r>
            </a:p>
          </p:txBody>
        </p:sp>
      </p:grpSp>
      <p:grpSp>
        <p:nvGrpSpPr>
          <p:cNvPr name="Group 742" id="740"/>
          <p:cNvGrpSpPr/>
          <p:nvPr/>
        </p:nvGrpSpPr>
        <p:grpSpPr>
          <a:xfrm rot="0">
            <a:off x="5548503" y="7904998"/>
            <a:ext cx="1698498" cy="395002"/>
            <a:chOff x="0" y="0"/>
            <a:chExt cx="2264664" cy="526669"/>
          </a:xfrm>
        </p:grpSpPr>
        <p:sp>
          <p:nvSpPr>
            <p:cNvPr name="Freeform 743" id="74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44" id="742"/>
          <p:cNvGrpSpPr/>
          <p:nvPr/>
        </p:nvGrpSpPr>
        <p:grpSpPr>
          <a:xfrm rot="0">
            <a:off x="5548503" y="7904998"/>
            <a:ext cx="1698498" cy="395002"/>
            <a:chOff x="0" y="0"/>
            <a:chExt cx="2264664" cy="526669"/>
          </a:xfrm>
        </p:grpSpPr>
        <p:sp>
          <p:nvSpPr>
            <p:cNvPr name="Freeform 745" id="74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46" id="744"/>
          <p:cNvGrpSpPr/>
          <p:nvPr/>
        </p:nvGrpSpPr>
        <p:grpSpPr>
          <a:xfrm rot="0">
            <a:off x="5548503" y="7904998"/>
            <a:ext cx="1698498" cy="395002"/>
            <a:chOff x="0" y="0"/>
            <a:chExt cx="2264664" cy="526669"/>
          </a:xfrm>
        </p:grpSpPr>
        <p:sp>
          <p:nvSpPr>
            <p:cNvPr name="Freeform 747" id="74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48" id="746"/>
          <p:cNvGrpSpPr/>
          <p:nvPr/>
        </p:nvGrpSpPr>
        <p:grpSpPr>
          <a:xfrm rot="0">
            <a:off x="5548503" y="7904998"/>
            <a:ext cx="1698498" cy="395002"/>
            <a:chOff x="0" y="0"/>
            <a:chExt cx="2264664" cy="526669"/>
          </a:xfrm>
        </p:grpSpPr>
        <p:sp>
          <p:nvSpPr>
            <p:cNvPr name="Freeform 749" id="74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50" id="74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$7,907.15</a:t>
              </a:r>
            </a:p>
          </p:txBody>
        </p:sp>
      </p:grpSp>
      <p:grpSp>
        <p:nvGrpSpPr>
          <p:cNvPr name="Group 751" id="749"/>
          <p:cNvGrpSpPr/>
          <p:nvPr/>
        </p:nvGrpSpPr>
        <p:grpSpPr>
          <a:xfrm rot="0">
            <a:off x="7247001" y="7904998"/>
            <a:ext cx="1698498" cy="395002"/>
            <a:chOff x="0" y="0"/>
            <a:chExt cx="2264664" cy="526669"/>
          </a:xfrm>
        </p:grpSpPr>
        <p:sp>
          <p:nvSpPr>
            <p:cNvPr name="Freeform 752" id="75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53" id="751"/>
          <p:cNvGrpSpPr/>
          <p:nvPr/>
        </p:nvGrpSpPr>
        <p:grpSpPr>
          <a:xfrm rot="0">
            <a:off x="7247001" y="7904998"/>
            <a:ext cx="1698498" cy="395002"/>
            <a:chOff x="0" y="0"/>
            <a:chExt cx="2264664" cy="526669"/>
          </a:xfrm>
        </p:grpSpPr>
        <p:sp>
          <p:nvSpPr>
            <p:cNvPr name="Freeform 754" id="75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55" id="753"/>
          <p:cNvGrpSpPr/>
          <p:nvPr/>
        </p:nvGrpSpPr>
        <p:grpSpPr>
          <a:xfrm rot="0">
            <a:off x="7247001" y="7904998"/>
            <a:ext cx="1698498" cy="395002"/>
            <a:chOff x="0" y="0"/>
            <a:chExt cx="2264664" cy="526669"/>
          </a:xfrm>
        </p:grpSpPr>
        <p:sp>
          <p:nvSpPr>
            <p:cNvPr name="Freeform 756" id="75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57" id="755"/>
          <p:cNvGrpSpPr/>
          <p:nvPr/>
        </p:nvGrpSpPr>
        <p:grpSpPr>
          <a:xfrm rot="0">
            <a:off x="7247001" y="7904998"/>
            <a:ext cx="1698498" cy="395002"/>
            <a:chOff x="0" y="0"/>
            <a:chExt cx="2264664" cy="526669"/>
          </a:xfrm>
        </p:grpSpPr>
        <p:sp>
          <p:nvSpPr>
            <p:cNvPr name="Freeform 758" id="75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59" id="757"/>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$8,626.91</a:t>
              </a:r>
            </a:p>
          </p:txBody>
        </p:sp>
      </p:grpSp>
      <p:grpSp>
        <p:nvGrpSpPr>
          <p:cNvPr name="Group 760" id="758"/>
          <p:cNvGrpSpPr/>
          <p:nvPr/>
        </p:nvGrpSpPr>
        <p:grpSpPr>
          <a:xfrm rot="0">
            <a:off x="8945499" y="7904998"/>
            <a:ext cx="1698498" cy="395002"/>
            <a:chOff x="0" y="0"/>
            <a:chExt cx="2264664" cy="526669"/>
          </a:xfrm>
        </p:grpSpPr>
        <p:sp>
          <p:nvSpPr>
            <p:cNvPr name="Freeform 761" id="75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62" id="760"/>
          <p:cNvGrpSpPr/>
          <p:nvPr/>
        </p:nvGrpSpPr>
        <p:grpSpPr>
          <a:xfrm rot="0">
            <a:off x="8945499" y="7904998"/>
            <a:ext cx="1698498" cy="395002"/>
            <a:chOff x="0" y="0"/>
            <a:chExt cx="2264664" cy="526669"/>
          </a:xfrm>
        </p:grpSpPr>
        <p:sp>
          <p:nvSpPr>
            <p:cNvPr name="Freeform 763" id="76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64" id="762"/>
          <p:cNvGrpSpPr/>
          <p:nvPr/>
        </p:nvGrpSpPr>
        <p:grpSpPr>
          <a:xfrm rot="0">
            <a:off x="8945499" y="7904998"/>
            <a:ext cx="1698498" cy="395002"/>
            <a:chOff x="0" y="0"/>
            <a:chExt cx="2264664" cy="526669"/>
          </a:xfrm>
        </p:grpSpPr>
        <p:sp>
          <p:nvSpPr>
            <p:cNvPr name="Freeform 765" id="76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66" id="764"/>
          <p:cNvGrpSpPr/>
          <p:nvPr/>
        </p:nvGrpSpPr>
        <p:grpSpPr>
          <a:xfrm rot="0">
            <a:off x="8945499" y="7904998"/>
            <a:ext cx="1698498" cy="395002"/>
            <a:chOff x="0" y="0"/>
            <a:chExt cx="2264664" cy="526669"/>
          </a:xfrm>
        </p:grpSpPr>
        <p:sp>
          <p:nvSpPr>
            <p:cNvPr name="Freeform 767" id="76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68" id="766"/>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$10,003.60</a:t>
              </a:r>
            </a:p>
          </p:txBody>
        </p:sp>
      </p:grpSp>
      <p:grpSp>
        <p:nvGrpSpPr>
          <p:cNvPr name="Group 769" id="767"/>
          <p:cNvGrpSpPr/>
          <p:nvPr/>
        </p:nvGrpSpPr>
        <p:grpSpPr>
          <a:xfrm rot="0">
            <a:off x="10643997" y="7904998"/>
            <a:ext cx="1698498" cy="395002"/>
            <a:chOff x="0" y="0"/>
            <a:chExt cx="2264664" cy="526669"/>
          </a:xfrm>
        </p:grpSpPr>
        <p:sp>
          <p:nvSpPr>
            <p:cNvPr name="Freeform 770" id="76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71" id="769"/>
          <p:cNvGrpSpPr/>
          <p:nvPr/>
        </p:nvGrpSpPr>
        <p:grpSpPr>
          <a:xfrm rot="0">
            <a:off x="10643997" y="7904998"/>
            <a:ext cx="1698498" cy="395002"/>
            <a:chOff x="0" y="0"/>
            <a:chExt cx="2264664" cy="526669"/>
          </a:xfrm>
        </p:grpSpPr>
        <p:sp>
          <p:nvSpPr>
            <p:cNvPr name="Freeform 772" id="77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73" id="771"/>
          <p:cNvGrpSpPr/>
          <p:nvPr/>
        </p:nvGrpSpPr>
        <p:grpSpPr>
          <a:xfrm rot="0">
            <a:off x="10643997" y="7904998"/>
            <a:ext cx="1698498" cy="395002"/>
            <a:chOff x="0" y="0"/>
            <a:chExt cx="2264664" cy="526669"/>
          </a:xfrm>
        </p:grpSpPr>
        <p:sp>
          <p:nvSpPr>
            <p:cNvPr name="Freeform 774" id="77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75" id="773"/>
          <p:cNvGrpSpPr/>
          <p:nvPr/>
        </p:nvGrpSpPr>
        <p:grpSpPr>
          <a:xfrm rot="0">
            <a:off x="10643997" y="7904998"/>
            <a:ext cx="1698498" cy="395002"/>
            <a:chOff x="0" y="0"/>
            <a:chExt cx="2264664" cy="526669"/>
          </a:xfrm>
        </p:grpSpPr>
        <p:sp>
          <p:nvSpPr>
            <p:cNvPr name="Freeform 776" id="77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77" id="77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$12,206.00</a:t>
              </a:r>
            </a:p>
          </p:txBody>
        </p:sp>
      </p:grpSp>
      <p:grpSp>
        <p:nvGrpSpPr>
          <p:cNvPr name="Group 778" id="776"/>
          <p:cNvGrpSpPr/>
          <p:nvPr/>
        </p:nvGrpSpPr>
        <p:grpSpPr>
          <a:xfrm rot="0">
            <a:off x="850001" y="8290998"/>
            <a:ext cx="16587978" cy="8954"/>
            <a:chOff x="0" y="0"/>
            <a:chExt cx="22117304" cy="11938"/>
          </a:xfrm>
        </p:grpSpPr>
        <p:sp>
          <p:nvSpPr>
            <p:cNvPr name="Freeform 779" id="777"/>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780" id="778"/>
          <p:cNvGrpSpPr/>
          <p:nvPr/>
        </p:nvGrpSpPr>
        <p:grpSpPr>
          <a:xfrm rot="0">
            <a:off x="1070000" y="8299999"/>
            <a:ext cx="2699956" cy="395002"/>
            <a:chOff x="0" y="0"/>
            <a:chExt cx="3599942" cy="526669"/>
          </a:xfrm>
        </p:grpSpPr>
        <p:sp>
          <p:nvSpPr>
            <p:cNvPr name="Freeform 781" id="779"/>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782" id="780"/>
          <p:cNvGrpSpPr/>
          <p:nvPr/>
        </p:nvGrpSpPr>
        <p:grpSpPr>
          <a:xfrm rot="0">
            <a:off x="1070000" y="8299999"/>
            <a:ext cx="2699956" cy="395002"/>
            <a:chOff x="0" y="0"/>
            <a:chExt cx="3599942" cy="526669"/>
          </a:xfrm>
        </p:grpSpPr>
        <p:sp>
          <p:nvSpPr>
            <p:cNvPr name="Freeform 783" id="781"/>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784" id="782"/>
          <p:cNvGrpSpPr/>
          <p:nvPr/>
        </p:nvGrpSpPr>
        <p:grpSpPr>
          <a:xfrm rot="0">
            <a:off x="1070000" y="8299999"/>
            <a:ext cx="2700004" cy="395002"/>
            <a:chOff x="0" y="0"/>
            <a:chExt cx="3600005" cy="526669"/>
          </a:xfrm>
        </p:grpSpPr>
        <p:sp>
          <p:nvSpPr>
            <p:cNvPr name="Freeform 785" id="783"/>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786" id="784"/>
          <p:cNvGrpSpPr/>
          <p:nvPr/>
        </p:nvGrpSpPr>
        <p:grpSpPr>
          <a:xfrm rot="0">
            <a:off x="1070000" y="8299999"/>
            <a:ext cx="2700004" cy="395002"/>
            <a:chOff x="0" y="0"/>
            <a:chExt cx="3600005" cy="526669"/>
          </a:xfrm>
        </p:grpSpPr>
        <p:sp>
          <p:nvSpPr>
            <p:cNvPr name="Freeform 787" id="785"/>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788" id="786"/>
            <p:cNvSpPr txBox="true"/>
            <p:nvPr/>
          </p:nvSpPr>
          <p:spPr>
            <a:xfrm>
              <a:off x="0" y="0"/>
              <a:ext cx="3600005" cy="526669"/>
            </a:xfrm>
            <a:prstGeom prst="rect">
              <a:avLst/>
            </a:prstGeom>
          </p:spPr>
          <p:txBody>
            <a:bodyPr anchor="ctr" rtlCol="false" tIns="0" lIns="0" bIns="0" rIns="0"/>
            <a:lstStyle/>
            <a:p>
              <a:pPr algn="l">
                <a:lnSpc>
                  <a:spcPts val="1584"/>
                </a:lnSpc>
              </a:pPr>
              <a:r>
                <a:rPr lang="en-US" sz="1320">
                  <a:solidFill>
                    <a:srgbClr val="545C72"/>
                  </a:solidFill>
                  <a:latin typeface="Exo 2"/>
                  <a:ea typeface="Exo 2"/>
                  <a:cs typeface="Exo 2"/>
                  <a:sym typeface="Exo 2"/>
                </a:rPr>
                <a:t>Target / Projected</a:t>
              </a:r>
            </a:p>
          </p:txBody>
        </p:sp>
      </p:grpSp>
      <p:grpSp>
        <p:nvGrpSpPr>
          <p:cNvPr name="Group 789" id="787"/>
          <p:cNvGrpSpPr/>
          <p:nvPr/>
        </p:nvGrpSpPr>
        <p:grpSpPr>
          <a:xfrm rot="0">
            <a:off x="3850005" y="8299999"/>
            <a:ext cx="1698498" cy="395002"/>
            <a:chOff x="0" y="0"/>
            <a:chExt cx="2264664" cy="526669"/>
          </a:xfrm>
        </p:grpSpPr>
        <p:sp>
          <p:nvSpPr>
            <p:cNvPr name="Freeform 790" id="78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791" id="789"/>
          <p:cNvGrpSpPr/>
          <p:nvPr/>
        </p:nvGrpSpPr>
        <p:grpSpPr>
          <a:xfrm rot="0">
            <a:off x="3850005" y="8299999"/>
            <a:ext cx="1698498" cy="395002"/>
            <a:chOff x="0" y="0"/>
            <a:chExt cx="2264664" cy="526669"/>
          </a:xfrm>
        </p:grpSpPr>
        <p:sp>
          <p:nvSpPr>
            <p:cNvPr name="Freeform 792" id="79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793" id="791"/>
          <p:cNvGrpSpPr/>
          <p:nvPr/>
        </p:nvGrpSpPr>
        <p:grpSpPr>
          <a:xfrm rot="0">
            <a:off x="3850005" y="8299999"/>
            <a:ext cx="1698498" cy="395002"/>
            <a:chOff x="0" y="0"/>
            <a:chExt cx="2264664" cy="526669"/>
          </a:xfrm>
        </p:grpSpPr>
        <p:sp>
          <p:nvSpPr>
            <p:cNvPr name="Freeform 794" id="79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795" id="793"/>
          <p:cNvGrpSpPr/>
          <p:nvPr/>
        </p:nvGrpSpPr>
        <p:grpSpPr>
          <a:xfrm rot="0">
            <a:off x="3850005" y="8299999"/>
            <a:ext cx="1698498" cy="395002"/>
            <a:chOff x="0" y="0"/>
            <a:chExt cx="2264664" cy="526669"/>
          </a:xfrm>
        </p:grpSpPr>
        <p:sp>
          <p:nvSpPr>
            <p:cNvPr name="Freeform 796" id="79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797" id="795"/>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$100,000</a:t>
              </a:r>
            </a:p>
          </p:txBody>
        </p:sp>
      </p:grpSp>
      <p:grpSp>
        <p:nvGrpSpPr>
          <p:cNvPr name="Group 798" id="796"/>
          <p:cNvGrpSpPr/>
          <p:nvPr/>
        </p:nvGrpSpPr>
        <p:grpSpPr>
          <a:xfrm rot="0">
            <a:off x="5548503" y="8299999"/>
            <a:ext cx="1698498" cy="395002"/>
            <a:chOff x="0" y="0"/>
            <a:chExt cx="2264664" cy="526669"/>
          </a:xfrm>
        </p:grpSpPr>
        <p:sp>
          <p:nvSpPr>
            <p:cNvPr name="Freeform 799" id="79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00" id="798"/>
          <p:cNvGrpSpPr/>
          <p:nvPr/>
        </p:nvGrpSpPr>
        <p:grpSpPr>
          <a:xfrm rot="0">
            <a:off x="5548503" y="8299999"/>
            <a:ext cx="1698498" cy="395002"/>
            <a:chOff x="0" y="0"/>
            <a:chExt cx="2264664" cy="526669"/>
          </a:xfrm>
        </p:grpSpPr>
        <p:sp>
          <p:nvSpPr>
            <p:cNvPr name="Freeform 801" id="79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02" id="800"/>
          <p:cNvGrpSpPr/>
          <p:nvPr/>
        </p:nvGrpSpPr>
        <p:grpSpPr>
          <a:xfrm rot="0">
            <a:off x="5548503" y="8299999"/>
            <a:ext cx="1698498" cy="395002"/>
            <a:chOff x="0" y="0"/>
            <a:chExt cx="2264664" cy="526669"/>
          </a:xfrm>
        </p:grpSpPr>
        <p:sp>
          <p:nvSpPr>
            <p:cNvPr name="Freeform 803" id="80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04" id="802"/>
          <p:cNvGrpSpPr/>
          <p:nvPr/>
        </p:nvGrpSpPr>
        <p:grpSpPr>
          <a:xfrm rot="0">
            <a:off x="5548503" y="8299999"/>
            <a:ext cx="1698498" cy="395002"/>
            <a:chOff x="0" y="0"/>
            <a:chExt cx="2264664" cy="526669"/>
          </a:xfrm>
        </p:grpSpPr>
        <p:sp>
          <p:nvSpPr>
            <p:cNvPr name="Freeform 805" id="80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06" id="804"/>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$123,900</a:t>
              </a:r>
            </a:p>
          </p:txBody>
        </p:sp>
      </p:grpSp>
      <p:grpSp>
        <p:nvGrpSpPr>
          <p:cNvPr name="Group 807" id="805"/>
          <p:cNvGrpSpPr/>
          <p:nvPr/>
        </p:nvGrpSpPr>
        <p:grpSpPr>
          <a:xfrm rot="0">
            <a:off x="7247001" y="8299999"/>
            <a:ext cx="1698498" cy="395002"/>
            <a:chOff x="0" y="0"/>
            <a:chExt cx="2264664" cy="526669"/>
          </a:xfrm>
        </p:grpSpPr>
        <p:sp>
          <p:nvSpPr>
            <p:cNvPr name="Freeform 808" id="80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09" id="807"/>
          <p:cNvGrpSpPr/>
          <p:nvPr/>
        </p:nvGrpSpPr>
        <p:grpSpPr>
          <a:xfrm rot="0">
            <a:off x="7247001" y="8299999"/>
            <a:ext cx="1698498" cy="395002"/>
            <a:chOff x="0" y="0"/>
            <a:chExt cx="2264664" cy="526669"/>
          </a:xfrm>
        </p:grpSpPr>
        <p:sp>
          <p:nvSpPr>
            <p:cNvPr name="Freeform 810" id="80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11" id="809"/>
          <p:cNvGrpSpPr/>
          <p:nvPr/>
        </p:nvGrpSpPr>
        <p:grpSpPr>
          <a:xfrm rot="0">
            <a:off x="7247001" y="8299999"/>
            <a:ext cx="1698498" cy="395002"/>
            <a:chOff x="0" y="0"/>
            <a:chExt cx="2264664" cy="526669"/>
          </a:xfrm>
        </p:grpSpPr>
        <p:sp>
          <p:nvSpPr>
            <p:cNvPr name="Freeform 812" id="81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13" id="811"/>
          <p:cNvGrpSpPr/>
          <p:nvPr/>
        </p:nvGrpSpPr>
        <p:grpSpPr>
          <a:xfrm rot="0">
            <a:off x="7247001" y="8299999"/>
            <a:ext cx="1698498" cy="395002"/>
            <a:chOff x="0" y="0"/>
            <a:chExt cx="2264664" cy="526669"/>
          </a:xfrm>
        </p:grpSpPr>
        <p:sp>
          <p:nvSpPr>
            <p:cNvPr name="Freeform 814" id="81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15" id="813"/>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$153,512</a:t>
              </a:r>
            </a:p>
          </p:txBody>
        </p:sp>
      </p:grpSp>
      <p:grpSp>
        <p:nvGrpSpPr>
          <p:cNvPr name="Group 816" id="814"/>
          <p:cNvGrpSpPr/>
          <p:nvPr/>
        </p:nvGrpSpPr>
        <p:grpSpPr>
          <a:xfrm rot="0">
            <a:off x="8945499" y="8299999"/>
            <a:ext cx="1698498" cy="395002"/>
            <a:chOff x="0" y="0"/>
            <a:chExt cx="2264664" cy="526669"/>
          </a:xfrm>
        </p:grpSpPr>
        <p:sp>
          <p:nvSpPr>
            <p:cNvPr name="Freeform 817" id="81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18" id="816"/>
          <p:cNvGrpSpPr/>
          <p:nvPr/>
        </p:nvGrpSpPr>
        <p:grpSpPr>
          <a:xfrm rot="0">
            <a:off x="8945499" y="8299999"/>
            <a:ext cx="1698498" cy="395002"/>
            <a:chOff x="0" y="0"/>
            <a:chExt cx="2264664" cy="526669"/>
          </a:xfrm>
        </p:grpSpPr>
        <p:sp>
          <p:nvSpPr>
            <p:cNvPr name="Freeform 819" id="81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20" id="818"/>
          <p:cNvGrpSpPr/>
          <p:nvPr/>
        </p:nvGrpSpPr>
        <p:grpSpPr>
          <a:xfrm rot="0">
            <a:off x="8945499" y="8299999"/>
            <a:ext cx="1698498" cy="395002"/>
            <a:chOff x="0" y="0"/>
            <a:chExt cx="2264664" cy="526669"/>
          </a:xfrm>
        </p:grpSpPr>
        <p:sp>
          <p:nvSpPr>
            <p:cNvPr name="Freeform 821" id="81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22" id="820"/>
          <p:cNvGrpSpPr/>
          <p:nvPr/>
        </p:nvGrpSpPr>
        <p:grpSpPr>
          <a:xfrm rot="0">
            <a:off x="8945499" y="8299999"/>
            <a:ext cx="1698498" cy="395002"/>
            <a:chOff x="0" y="0"/>
            <a:chExt cx="2264664" cy="526669"/>
          </a:xfrm>
        </p:grpSpPr>
        <p:sp>
          <p:nvSpPr>
            <p:cNvPr name="Freeform 823" id="82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24" id="822"/>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$190,201</a:t>
              </a:r>
            </a:p>
          </p:txBody>
        </p:sp>
      </p:grpSp>
      <p:grpSp>
        <p:nvGrpSpPr>
          <p:cNvPr name="Group 825" id="823"/>
          <p:cNvGrpSpPr/>
          <p:nvPr/>
        </p:nvGrpSpPr>
        <p:grpSpPr>
          <a:xfrm rot="0">
            <a:off x="10643997" y="8299999"/>
            <a:ext cx="1698498" cy="395002"/>
            <a:chOff x="0" y="0"/>
            <a:chExt cx="2264664" cy="526669"/>
          </a:xfrm>
        </p:grpSpPr>
        <p:sp>
          <p:nvSpPr>
            <p:cNvPr name="Freeform 826" id="82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27" id="825"/>
          <p:cNvGrpSpPr/>
          <p:nvPr/>
        </p:nvGrpSpPr>
        <p:grpSpPr>
          <a:xfrm rot="0">
            <a:off x="10643997" y="8299999"/>
            <a:ext cx="1698498" cy="395002"/>
            <a:chOff x="0" y="0"/>
            <a:chExt cx="2264664" cy="526669"/>
          </a:xfrm>
        </p:grpSpPr>
        <p:sp>
          <p:nvSpPr>
            <p:cNvPr name="Freeform 828" id="82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29" id="827"/>
          <p:cNvGrpSpPr/>
          <p:nvPr/>
        </p:nvGrpSpPr>
        <p:grpSpPr>
          <a:xfrm rot="0">
            <a:off x="10643997" y="8299999"/>
            <a:ext cx="1698498" cy="395002"/>
            <a:chOff x="0" y="0"/>
            <a:chExt cx="2264664" cy="526669"/>
          </a:xfrm>
        </p:grpSpPr>
        <p:sp>
          <p:nvSpPr>
            <p:cNvPr name="Freeform 830" id="82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31" id="829"/>
          <p:cNvGrpSpPr/>
          <p:nvPr/>
        </p:nvGrpSpPr>
        <p:grpSpPr>
          <a:xfrm rot="0">
            <a:off x="10643997" y="8299999"/>
            <a:ext cx="1698498" cy="395002"/>
            <a:chOff x="0" y="0"/>
            <a:chExt cx="2264664" cy="526669"/>
          </a:xfrm>
        </p:grpSpPr>
        <p:sp>
          <p:nvSpPr>
            <p:cNvPr name="Freeform 832" id="83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33" id="831"/>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$235,660</a:t>
              </a:r>
            </a:p>
          </p:txBody>
        </p:sp>
      </p:grpSp>
      <p:grpSp>
        <p:nvGrpSpPr>
          <p:cNvPr name="Group 834" id="832"/>
          <p:cNvGrpSpPr/>
          <p:nvPr/>
        </p:nvGrpSpPr>
        <p:grpSpPr>
          <a:xfrm rot="0">
            <a:off x="12342505" y="8299999"/>
            <a:ext cx="1698498" cy="395002"/>
            <a:chOff x="0" y="0"/>
            <a:chExt cx="2264664" cy="526669"/>
          </a:xfrm>
        </p:grpSpPr>
        <p:sp>
          <p:nvSpPr>
            <p:cNvPr name="Freeform 835" id="83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36" id="834"/>
          <p:cNvGrpSpPr/>
          <p:nvPr/>
        </p:nvGrpSpPr>
        <p:grpSpPr>
          <a:xfrm rot="0">
            <a:off x="12342505" y="8299999"/>
            <a:ext cx="1698498" cy="395002"/>
            <a:chOff x="0" y="0"/>
            <a:chExt cx="2264664" cy="526669"/>
          </a:xfrm>
        </p:grpSpPr>
        <p:sp>
          <p:nvSpPr>
            <p:cNvPr name="Freeform 837" id="83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38" id="836"/>
          <p:cNvGrpSpPr/>
          <p:nvPr/>
        </p:nvGrpSpPr>
        <p:grpSpPr>
          <a:xfrm rot="0">
            <a:off x="12342505" y="8299999"/>
            <a:ext cx="1698498" cy="395002"/>
            <a:chOff x="0" y="0"/>
            <a:chExt cx="2264664" cy="526669"/>
          </a:xfrm>
        </p:grpSpPr>
        <p:sp>
          <p:nvSpPr>
            <p:cNvPr name="Freeform 839" id="83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40" id="838"/>
          <p:cNvGrpSpPr/>
          <p:nvPr/>
        </p:nvGrpSpPr>
        <p:grpSpPr>
          <a:xfrm rot="0">
            <a:off x="12342505" y="8299999"/>
            <a:ext cx="1698498" cy="395002"/>
            <a:chOff x="0" y="0"/>
            <a:chExt cx="2264664" cy="526669"/>
          </a:xfrm>
        </p:grpSpPr>
        <p:sp>
          <p:nvSpPr>
            <p:cNvPr name="Freeform 841" id="83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42" id="840"/>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$291,982</a:t>
              </a:r>
            </a:p>
          </p:txBody>
        </p:sp>
      </p:grpSp>
      <p:grpSp>
        <p:nvGrpSpPr>
          <p:cNvPr name="Group 843" id="841"/>
          <p:cNvGrpSpPr/>
          <p:nvPr/>
        </p:nvGrpSpPr>
        <p:grpSpPr>
          <a:xfrm rot="0">
            <a:off x="14041003" y="8299999"/>
            <a:ext cx="1698498" cy="395002"/>
            <a:chOff x="0" y="0"/>
            <a:chExt cx="2264664" cy="526669"/>
          </a:xfrm>
        </p:grpSpPr>
        <p:sp>
          <p:nvSpPr>
            <p:cNvPr name="Freeform 844" id="84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45" id="843"/>
          <p:cNvGrpSpPr/>
          <p:nvPr/>
        </p:nvGrpSpPr>
        <p:grpSpPr>
          <a:xfrm rot="0">
            <a:off x="14041003" y="8299999"/>
            <a:ext cx="1698498" cy="395002"/>
            <a:chOff x="0" y="0"/>
            <a:chExt cx="2264664" cy="526669"/>
          </a:xfrm>
        </p:grpSpPr>
        <p:sp>
          <p:nvSpPr>
            <p:cNvPr name="Freeform 846" id="84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47" id="845"/>
          <p:cNvGrpSpPr/>
          <p:nvPr/>
        </p:nvGrpSpPr>
        <p:grpSpPr>
          <a:xfrm rot="0">
            <a:off x="14041003" y="8299999"/>
            <a:ext cx="1698498" cy="395002"/>
            <a:chOff x="0" y="0"/>
            <a:chExt cx="2264664" cy="526669"/>
          </a:xfrm>
        </p:grpSpPr>
        <p:sp>
          <p:nvSpPr>
            <p:cNvPr name="Freeform 848" id="84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49" id="847"/>
          <p:cNvGrpSpPr/>
          <p:nvPr/>
        </p:nvGrpSpPr>
        <p:grpSpPr>
          <a:xfrm rot="0">
            <a:off x="14041003" y="8299999"/>
            <a:ext cx="1698498" cy="395002"/>
            <a:chOff x="0" y="0"/>
            <a:chExt cx="2264664" cy="526669"/>
          </a:xfrm>
        </p:grpSpPr>
        <p:sp>
          <p:nvSpPr>
            <p:cNvPr name="Freeform 850" id="84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51" id="849"/>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$361,766</a:t>
              </a:r>
            </a:p>
          </p:txBody>
        </p:sp>
      </p:grpSp>
      <p:grpSp>
        <p:nvGrpSpPr>
          <p:cNvPr name="Group 852" id="850"/>
          <p:cNvGrpSpPr/>
          <p:nvPr/>
        </p:nvGrpSpPr>
        <p:grpSpPr>
          <a:xfrm rot="0">
            <a:off x="15739501" y="8299999"/>
            <a:ext cx="1698498" cy="395002"/>
            <a:chOff x="0" y="0"/>
            <a:chExt cx="2264664" cy="526669"/>
          </a:xfrm>
        </p:grpSpPr>
        <p:sp>
          <p:nvSpPr>
            <p:cNvPr name="Freeform 853" id="85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54" id="852"/>
          <p:cNvGrpSpPr/>
          <p:nvPr/>
        </p:nvGrpSpPr>
        <p:grpSpPr>
          <a:xfrm rot="0">
            <a:off x="15739501" y="8299999"/>
            <a:ext cx="1698498" cy="395002"/>
            <a:chOff x="0" y="0"/>
            <a:chExt cx="2264664" cy="526669"/>
          </a:xfrm>
        </p:grpSpPr>
        <p:sp>
          <p:nvSpPr>
            <p:cNvPr name="Freeform 855" id="85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56" id="854"/>
          <p:cNvGrpSpPr/>
          <p:nvPr/>
        </p:nvGrpSpPr>
        <p:grpSpPr>
          <a:xfrm rot="0">
            <a:off x="15739501" y="8299999"/>
            <a:ext cx="1698498" cy="395002"/>
            <a:chOff x="0" y="0"/>
            <a:chExt cx="2264664" cy="526669"/>
          </a:xfrm>
        </p:grpSpPr>
        <p:sp>
          <p:nvSpPr>
            <p:cNvPr name="Freeform 857" id="85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58" id="856"/>
          <p:cNvGrpSpPr/>
          <p:nvPr/>
        </p:nvGrpSpPr>
        <p:grpSpPr>
          <a:xfrm rot="0">
            <a:off x="15739501" y="8299999"/>
            <a:ext cx="1698498" cy="395002"/>
            <a:chOff x="0" y="0"/>
            <a:chExt cx="2264664" cy="526669"/>
          </a:xfrm>
        </p:grpSpPr>
        <p:sp>
          <p:nvSpPr>
            <p:cNvPr name="Freeform 859" id="85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60" id="858"/>
            <p:cNvSpPr txBox="true"/>
            <p:nvPr/>
          </p:nvSpPr>
          <p:spPr>
            <a:xfrm>
              <a:off x="0" y="0"/>
              <a:ext cx="2264664" cy="526669"/>
            </a:xfrm>
            <a:prstGeom prst="rect">
              <a:avLst/>
            </a:prstGeom>
          </p:spPr>
          <p:txBody>
            <a:bodyPr anchor="ctr" rtlCol="false" tIns="0" lIns="0" bIns="0" rIns="0"/>
            <a:lstStyle/>
            <a:p>
              <a:pPr algn="ctr">
                <a:lnSpc>
                  <a:spcPts val="1584"/>
                </a:lnSpc>
              </a:pPr>
              <a:r>
                <a:rPr lang="en-US" sz="1320">
                  <a:solidFill>
                    <a:srgbClr val="132257"/>
                  </a:solidFill>
                  <a:latin typeface="Exo 2"/>
                  <a:ea typeface="Exo 2"/>
                  <a:cs typeface="Exo 2"/>
                  <a:sym typeface="Exo 2"/>
                </a:rPr>
                <a:t>$448,228</a:t>
              </a:r>
            </a:p>
          </p:txBody>
        </p:sp>
      </p:grpSp>
      <p:grpSp>
        <p:nvGrpSpPr>
          <p:cNvPr name="Group 861" id="859"/>
          <p:cNvGrpSpPr/>
          <p:nvPr/>
        </p:nvGrpSpPr>
        <p:grpSpPr>
          <a:xfrm rot="0">
            <a:off x="850001" y="8686000"/>
            <a:ext cx="16587978" cy="8954"/>
            <a:chOff x="0" y="0"/>
            <a:chExt cx="22117304" cy="11938"/>
          </a:xfrm>
        </p:grpSpPr>
        <p:sp>
          <p:nvSpPr>
            <p:cNvPr name="Freeform 862" id="860"/>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863" id="861"/>
          <p:cNvGrpSpPr/>
          <p:nvPr/>
        </p:nvGrpSpPr>
        <p:grpSpPr>
          <a:xfrm rot="0">
            <a:off x="1070000" y="8695001"/>
            <a:ext cx="2699956" cy="395002"/>
            <a:chOff x="0" y="0"/>
            <a:chExt cx="3599942" cy="526669"/>
          </a:xfrm>
        </p:grpSpPr>
        <p:sp>
          <p:nvSpPr>
            <p:cNvPr name="Freeform 864" id="862"/>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7">
                <a:alphaModFix amt="0"/>
              </a:blip>
              <a:stretch>
                <a:fillRect l="0" t="-83093" r="0" b="-83093"/>
              </a:stretch>
            </a:blipFill>
          </p:spPr>
        </p:sp>
      </p:grpSp>
      <p:grpSp>
        <p:nvGrpSpPr>
          <p:cNvPr name="Group 865" id="863"/>
          <p:cNvGrpSpPr/>
          <p:nvPr/>
        </p:nvGrpSpPr>
        <p:grpSpPr>
          <a:xfrm rot="0">
            <a:off x="1070000" y="8695001"/>
            <a:ext cx="2699956" cy="395002"/>
            <a:chOff x="0" y="0"/>
            <a:chExt cx="3599942" cy="526669"/>
          </a:xfrm>
        </p:grpSpPr>
        <p:sp>
          <p:nvSpPr>
            <p:cNvPr name="Freeform 866" id="864"/>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8">
                <a:alphaModFix amt="0"/>
              </a:blip>
              <a:stretch>
                <a:fillRect l="0" t="-83093" r="0" b="-83093"/>
              </a:stretch>
            </a:blipFill>
          </p:spPr>
        </p:sp>
      </p:grpSp>
      <p:grpSp>
        <p:nvGrpSpPr>
          <p:cNvPr name="Group 867" id="865"/>
          <p:cNvGrpSpPr/>
          <p:nvPr/>
        </p:nvGrpSpPr>
        <p:grpSpPr>
          <a:xfrm rot="0">
            <a:off x="1070000" y="8695001"/>
            <a:ext cx="2700004" cy="395002"/>
            <a:chOff x="0" y="0"/>
            <a:chExt cx="3600005" cy="526669"/>
          </a:xfrm>
        </p:grpSpPr>
        <p:sp>
          <p:nvSpPr>
            <p:cNvPr name="Freeform 868" id="866"/>
            <p:cNvSpPr/>
            <p:nvPr/>
          </p:nvSpPr>
          <p:spPr>
            <a:xfrm flipH="false" flipV="false" rot="0">
              <a:off x="0" y="0"/>
              <a:ext cx="3599942" cy="526669"/>
            </a:xfrm>
            <a:custGeom>
              <a:avLst/>
              <a:gdLst/>
              <a:ahLst/>
              <a:cxnLst/>
              <a:rect r="r" b="b" t="t" l="l"/>
              <a:pathLst>
                <a:path h="526669" w="3599942">
                  <a:moveTo>
                    <a:pt x="0" y="0"/>
                  </a:moveTo>
                  <a:lnTo>
                    <a:pt x="3599942" y="0"/>
                  </a:lnTo>
                  <a:lnTo>
                    <a:pt x="3599942" y="526669"/>
                  </a:lnTo>
                  <a:lnTo>
                    <a:pt x="0" y="526669"/>
                  </a:lnTo>
                  <a:close/>
                </a:path>
              </a:pathLst>
            </a:custGeom>
            <a:blipFill>
              <a:blip r:embed="rId9">
                <a:alphaModFix amt="0"/>
              </a:blip>
              <a:stretch>
                <a:fillRect l="0" t="-83096" r="-1" b="-83096"/>
              </a:stretch>
            </a:blipFill>
          </p:spPr>
        </p:sp>
      </p:grpSp>
      <p:grpSp>
        <p:nvGrpSpPr>
          <p:cNvPr name="Group 869" id="867"/>
          <p:cNvGrpSpPr/>
          <p:nvPr/>
        </p:nvGrpSpPr>
        <p:grpSpPr>
          <a:xfrm rot="0">
            <a:off x="1070000" y="8695001"/>
            <a:ext cx="2700004" cy="395002"/>
            <a:chOff x="0" y="0"/>
            <a:chExt cx="3600005" cy="526669"/>
          </a:xfrm>
        </p:grpSpPr>
        <p:sp>
          <p:nvSpPr>
            <p:cNvPr name="Freeform 870" id="868"/>
            <p:cNvSpPr/>
            <p:nvPr/>
          </p:nvSpPr>
          <p:spPr>
            <a:xfrm flipH="false" flipV="false" rot="0">
              <a:off x="0" y="0"/>
              <a:ext cx="3600005" cy="526669"/>
            </a:xfrm>
            <a:custGeom>
              <a:avLst/>
              <a:gdLst/>
              <a:ahLst/>
              <a:cxnLst/>
              <a:rect r="r" b="b" t="t" l="l"/>
              <a:pathLst>
                <a:path h="526669" w="3600005">
                  <a:moveTo>
                    <a:pt x="0" y="0"/>
                  </a:moveTo>
                  <a:lnTo>
                    <a:pt x="3600005" y="0"/>
                  </a:lnTo>
                  <a:lnTo>
                    <a:pt x="3600005" y="526669"/>
                  </a:lnTo>
                  <a:lnTo>
                    <a:pt x="0" y="526669"/>
                  </a:lnTo>
                  <a:close/>
                </a:path>
              </a:pathLst>
            </a:custGeom>
            <a:blipFill>
              <a:blip r:embed="rId3">
                <a:alphaModFix amt="0"/>
              </a:blip>
              <a:stretch>
                <a:fillRect l="0" t="-83188" r="0" b="-83188"/>
              </a:stretch>
            </a:blipFill>
          </p:spPr>
        </p:sp>
        <p:sp>
          <p:nvSpPr>
            <p:cNvPr name="TextBox 871" id="869"/>
            <p:cNvSpPr txBox="true"/>
            <p:nvPr/>
          </p:nvSpPr>
          <p:spPr>
            <a:xfrm>
              <a:off x="0" y="0"/>
              <a:ext cx="3600005" cy="526669"/>
            </a:xfrm>
            <a:prstGeom prst="rect">
              <a:avLst/>
            </a:prstGeom>
          </p:spPr>
          <p:txBody>
            <a:bodyPr anchor="ctr" rtlCol="false" tIns="0" lIns="0" bIns="0" rIns="0"/>
            <a:lstStyle/>
            <a:p>
              <a:pPr algn="l">
                <a:lnSpc>
                  <a:spcPts val="1584"/>
                </a:lnSpc>
              </a:pPr>
              <a:r>
                <a:rPr lang="en-US" b="true" sz="1320" i="true">
                  <a:solidFill>
                    <a:srgbClr val="132257"/>
                  </a:solidFill>
                  <a:latin typeface="Exo 2 Bold Italics"/>
                  <a:ea typeface="Exo 2 Bold Italics"/>
                  <a:cs typeface="Exo 2 Bold Italics"/>
                  <a:sym typeface="Exo 2 Bold Italics"/>
                </a:rPr>
                <a:t>Performance Gap</a:t>
              </a:r>
            </a:p>
          </p:txBody>
        </p:sp>
      </p:grpSp>
      <p:grpSp>
        <p:nvGrpSpPr>
          <p:cNvPr name="Group 872" id="870"/>
          <p:cNvGrpSpPr/>
          <p:nvPr/>
        </p:nvGrpSpPr>
        <p:grpSpPr>
          <a:xfrm rot="0">
            <a:off x="3850005" y="8695001"/>
            <a:ext cx="1698498" cy="395002"/>
            <a:chOff x="0" y="0"/>
            <a:chExt cx="2264664" cy="526669"/>
          </a:xfrm>
        </p:grpSpPr>
        <p:sp>
          <p:nvSpPr>
            <p:cNvPr name="Freeform 873" id="87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74" id="872"/>
          <p:cNvGrpSpPr/>
          <p:nvPr/>
        </p:nvGrpSpPr>
        <p:grpSpPr>
          <a:xfrm rot="0">
            <a:off x="3850005" y="8695001"/>
            <a:ext cx="1698498" cy="395002"/>
            <a:chOff x="0" y="0"/>
            <a:chExt cx="2264664" cy="526669"/>
          </a:xfrm>
        </p:grpSpPr>
        <p:sp>
          <p:nvSpPr>
            <p:cNvPr name="Freeform 875" id="87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76" id="874"/>
          <p:cNvGrpSpPr/>
          <p:nvPr/>
        </p:nvGrpSpPr>
        <p:grpSpPr>
          <a:xfrm rot="0">
            <a:off x="3850005" y="8695001"/>
            <a:ext cx="1698498" cy="395002"/>
            <a:chOff x="0" y="0"/>
            <a:chExt cx="2264664" cy="526669"/>
          </a:xfrm>
        </p:grpSpPr>
        <p:sp>
          <p:nvSpPr>
            <p:cNvPr name="Freeform 877" id="87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78" id="876"/>
          <p:cNvGrpSpPr/>
          <p:nvPr/>
        </p:nvGrpSpPr>
        <p:grpSpPr>
          <a:xfrm rot="0">
            <a:off x="3850005" y="8695001"/>
            <a:ext cx="1698498" cy="395002"/>
            <a:chOff x="0" y="0"/>
            <a:chExt cx="2264664" cy="526669"/>
          </a:xfrm>
        </p:grpSpPr>
        <p:sp>
          <p:nvSpPr>
            <p:cNvPr name="Freeform 879" id="87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80" id="878"/>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-$95,987.01</a:t>
              </a:r>
            </a:p>
          </p:txBody>
        </p:sp>
      </p:grpSp>
      <p:grpSp>
        <p:nvGrpSpPr>
          <p:cNvPr name="Group 881" id="879"/>
          <p:cNvGrpSpPr/>
          <p:nvPr/>
        </p:nvGrpSpPr>
        <p:grpSpPr>
          <a:xfrm rot="0">
            <a:off x="5548503" y="8695001"/>
            <a:ext cx="1698498" cy="395002"/>
            <a:chOff x="0" y="0"/>
            <a:chExt cx="2264664" cy="526669"/>
          </a:xfrm>
        </p:grpSpPr>
        <p:sp>
          <p:nvSpPr>
            <p:cNvPr name="Freeform 882" id="88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83" id="881"/>
          <p:cNvGrpSpPr/>
          <p:nvPr/>
        </p:nvGrpSpPr>
        <p:grpSpPr>
          <a:xfrm rot="0">
            <a:off x="5548503" y="8695001"/>
            <a:ext cx="1698498" cy="395002"/>
            <a:chOff x="0" y="0"/>
            <a:chExt cx="2264664" cy="526669"/>
          </a:xfrm>
        </p:grpSpPr>
        <p:sp>
          <p:nvSpPr>
            <p:cNvPr name="Freeform 884" id="88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85" id="883"/>
          <p:cNvGrpSpPr/>
          <p:nvPr/>
        </p:nvGrpSpPr>
        <p:grpSpPr>
          <a:xfrm rot="0">
            <a:off x="5548503" y="8695001"/>
            <a:ext cx="1698498" cy="395002"/>
            <a:chOff x="0" y="0"/>
            <a:chExt cx="2264664" cy="526669"/>
          </a:xfrm>
        </p:grpSpPr>
        <p:sp>
          <p:nvSpPr>
            <p:cNvPr name="Freeform 886" id="88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87" id="885"/>
          <p:cNvGrpSpPr/>
          <p:nvPr/>
        </p:nvGrpSpPr>
        <p:grpSpPr>
          <a:xfrm rot="0">
            <a:off x="5548503" y="8695001"/>
            <a:ext cx="1698498" cy="395002"/>
            <a:chOff x="0" y="0"/>
            <a:chExt cx="2264664" cy="526669"/>
          </a:xfrm>
        </p:grpSpPr>
        <p:sp>
          <p:nvSpPr>
            <p:cNvPr name="Freeform 888" id="886"/>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89" id="887"/>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-$115,992.85</a:t>
              </a:r>
            </a:p>
          </p:txBody>
        </p:sp>
      </p:grpSp>
      <p:grpSp>
        <p:nvGrpSpPr>
          <p:cNvPr name="Group 890" id="888"/>
          <p:cNvGrpSpPr/>
          <p:nvPr/>
        </p:nvGrpSpPr>
        <p:grpSpPr>
          <a:xfrm rot="0">
            <a:off x="7247001" y="8695001"/>
            <a:ext cx="1698498" cy="395002"/>
            <a:chOff x="0" y="0"/>
            <a:chExt cx="2264664" cy="526669"/>
          </a:xfrm>
        </p:grpSpPr>
        <p:sp>
          <p:nvSpPr>
            <p:cNvPr name="Freeform 891" id="88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892" id="890"/>
          <p:cNvGrpSpPr/>
          <p:nvPr/>
        </p:nvGrpSpPr>
        <p:grpSpPr>
          <a:xfrm rot="0">
            <a:off x="7247001" y="8695001"/>
            <a:ext cx="1698498" cy="395002"/>
            <a:chOff x="0" y="0"/>
            <a:chExt cx="2264664" cy="526669"/>
          </a:xfrm>
        </p:grpSpPr>
        <p:sp>
          <p:nvSpPr>
            <p:cNvPr name="Freeform 893" id="89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894" id="892"/>
          <p:cNvGrpSpPr/>
          <p:nvPr/>
        </p:nvGrpSpPr>
        <p:grpSpPr>
          <a:xfrm rot="0">
            <a:off x="7247001" y="8695001"/>
            <a:ext cx="1698498" cy="395002"/>
            <a:chOff x="0" y="0"/>
            <a:chExt cx="2264664" cy="526669"/>
          </a:xfrm>
        </p:grpSpPr>
        <p:sp>
          <p:nvSpPr>
            <p:cNvPr name="Freeform 895" id="89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896" id="894"/>
          <p:cNvGrpSpPr/>
          <p:nvPr/>
        </p:nvGrpSpPr>
        <p:grpSpPr>
          <a:xfrm rot="0">
            <a:off x="7247001" y="8695001"/>
            <a:ext cx="1698498" cy="395002"/>
            <a:chOff x="0" y="0"/>
            <a:chExt cx="2264664" cy="526669"/>
          </a:xfrm>
        </p:grpSpPr>
        <p:sp>
          <p:nvSpPr>
            <p:cNvPr name="Freeform 897" id="895"/>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898" id="896"/>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-$144,885.19</a:t>
              </a:r>
            </a:p>
          </p:txBody>
        </p:sp>
      </p:grpSp>
      <p:grpSp>
        <p:nvGrpSpPr>
          <p:cNvPr name="Group 899" id="897"/>
          <p:cNvGrpSpPr/>
          <p:nvPr/>
        </p:nvGrpSpPr>
        <p:grpSpPr>
          <a:xfrm rot="0">
            <a:off x="8945499" y="8695001"/>
            <a:ext cx="1698498" cy="395002"/>
            <a:chOff x="0" y="0"/>
            <a:chExt cx="2264664" cy="526669"/>
          </a:xfrm>
        </p:grpSpPr>
        <p:sp>
          <p:nvSpPr>
            <p:cNvPr name="Freeform 900" id="898"/>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901" id="899"/>
          <p:cNvGrpSpPr/>
          <p:nvPr/>
        </p:nvGrpSpPr>
        <p:grpSpPr>
          <a:xfrm rot="0">
            <a:off x="8945499" y="8695001"/>
            <a:ext cx="1698498" cy="395002"/>
            <a:chOff x="0" y="0"/>
            <a:chExt cx="2264664" cy="526669"/>
          </a:xfrm>
        </p:grpSpPr>
        <p:sp>
          <p:nvSpPr>
            <p:cNvPr name="Freeform 902" id="900"/>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903" id="901"/>
          <p:cNvGrpSpPr/>
          <p:nvPr/>
        </p:nvGrpSpPr>
        <p:grpSpPr>
          <a:xfrm rot="0">
            <a:off x="8945499" y="8695001"/>
            <a:ext cx="1698498" cy="395002"/>
            <a:chOff x="0" y="0"/>
            <a:chExt cx="2264664" cy="526669"/>
          </a:xfrm>
        </p:grpSpPr>
        <p:sp>
          <p:nvSpPr>
            <p:cNvPr name="Freeform 904" id="902"/>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905" id="903"/>
          <p:cNvGrpSpPr/>
          <p:nvPr/>
        </p:nvGrpSpPr>
        <p:grpSpPr>
          <a:xfrm rot="0">
            <a:off x="8945499" y="8695001"/>
            <a:ext cx="1698498" cy="395002"/>
            <a:chOff x="0" y="0"/>
            <a:chExt cx="2264664" cy="526669"/>
          </a:xfrm>
        </p:grpSpPr>
        <p:sp>
          <p:nvSpPr>
            <p:cNvPr name="Freeform 906" id="904"/>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907" id="905"/>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-$180,197.89</a:t>
              </a:r>
            </a:p>
          </p:txBody>
        </p:sp>
      </p:grpSp>
      <p:grpSp>
        <p:nvGrpSpPr>
          <p:cNvPr name="Group 908" id="906"/>
          <p:cNvGrpSpPr/>
          <p:nvPr/>
        </p:nvGrpSpPr>
        <p:grpSpPr>
          <a:xfrm rot="0">
            <a:off x="10643997" y="8695001"/>
            <a:ext cx="1698498" cy="395002"/>
            <a:chOff x="0" y="0"/>
            <a:chExt cx="2264664" cy="526669"/>
          </a:xfrm>
        </p:grpSpPr>
        <p:sp>
          <p:nvSpPr>
            <p:cNvPr name="Freeform 909" id="907"/>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7">
                <a:alphaModFix amt="0"/>
              </a:blip>
              <a:stretch>
                <a:fillRect l="0" t="-33727" r="0" b="-33725"/>
              </a:stretch>
            </a:blipFill>
          </p:spPr>
        </p:sp>
      </p:grpSp>
      <p:grpSp>
        <p:nvGrpSpPr>
          <p:cNvPr name="Group 910" id="908"/>
          <p:cNvGrpSpPr/>
          <p:nvPr/>
        </p:nvGrpSpPr>
        <p:grpSpPr>
          <a:xfrm rot="0">
            <a:off x="10643997" y="8695001"/>
            <a:ext cx="1698498" cy="395002"/>
            <a:chOff x="0" y="0"/>
            <a:chExt cx="2264664" cy="526669"/>
          </a:xfrm>
        </p:grpSpPr>
        <p:sp>
          <p:nvSpPr>
            <p:cNvPr name="Freeform 911" id="909"/>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8">
                <a:alphaModFix amt="0"/>
              </a:blip>
              <a:stretch>
                <a:fillRect l="0" t="-33727" r="0" b="-33725"/>
              </a:stretch>
            </a:blipFill>
          </p:spPr>
        </p:sp>
      </p:grpSp>
      <p:grpSp>
        <p:nvGrpSpPr>
          <p:cNvPr name="Group 912" id="910"/>
          <p:cNvGrpSpPr/>
          <p:nvPr/>
        </p:nvGrpSpPr>
        <p:grpSpPr>
          <a:xfrm rot="0">
            <a:off x="10643997" y="8695001"/>
            <a:ext cx="1698498" cy="395002"/>
            <a:chOff x="0" y="0"/>
            <a:chExt cx="2264664" cy="526669"/>
          </a:xfrm>
        </p:grpSpPr>
        <p:sp>
          <p:nvSpPr>
            <p:cNvPr name="Freeform 913" id="911"/>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9">
                <a:alphaModFix amt="0"/>
              </a:blip>
              <a:stretch>
                <a:fillRect l="0" t="-33727" r="0" b="-33725"/>
              </a:stretch>
            </a:blipFill>
          </p:spPr>
        </p:sp>
      </p:grpSp>
      <p:grpSp>
        <p:nvGrpSpPr>
          <p:cNvPr name="Group 914" id="912"/>
          <p:cNvGrpSpPr/>
          <p:nvPr/>
        </p:nvGrpSpPr>
        <p:grpSpPr>
          <a:xfrm rot="0">
            <a:off x="10643997" y="8695001"/>
            <a:ext cx="1698498" cy="395002"/>
            <a:chOff x="0" y="0"/>
            <a:chExt cx="2264664" cy="526669"/>
          </a:xfrm>
        </p:grpSpPr>
        <p:sp>
          <p:nvSpPr>
            <p:cNvPr name="Freeform 915" id="913"/>
            <p:cNvSpPr/>
            <p:nvPr/>
          </p:nvSpPr>
          <p:spPr>
            <a:xfrm flipH="false" flipV="false" rot="0">
              <a:off x="0" y="0"/>
              <a:ext cx="2264664" cy="526669"/>
            </a:xfrm>
            <a:custGeom>
              <a:avLst/>
              <a:gdLst/>
              <a:ahLst/>
              <a:cxnLst/>
              <a:rect r="r" b="b" t="t" l="l"/>
              <a:pathLst>
                <a:path h="526669" w="2264664">
                  <a:moveTo>
                    <a:pt x="0" y="0"/>
                  </a:moveTo>
                  <a:lnTo>
                    <a:pt x="2264664" y="0"/>
                  </a:lnTo>
                  <a:lnTo>
                    <a:pt x="2264664" y="526669"/>
                  </a:lnTo>
                  <a:lnTo>
                    <a:pt x="0" y="526669"/>
                  </a:lnTo>
                  <a:close/>
                </a:path>
              </a:pathLst>
            </a:custGeom>
            <a:blipFill>
              <a:blip r:embed="rId3">
                <a:alphaModFix amt="0"/>
              </a:blip>
              <a:stretch>
                <a:fillRect l="0" t="-33785" r="0" b="-33785"/>
              </a:stretch>
            </a:blipFill>
          </p:spPr>
        </p:sp>
        <p:sp>
          <p:nvSpPr>
            <p:cNvPr name="TextBox 916" id="914"/>
            <p:cNvSpPr txBox="true"/>
            <p:nvPr/>
          </p:nvSpPr>
          <p:spPr>
            <a:xfrm>
              <a:off x="0" y="0"/>
              <a:ext cx="2264664" cy="526669"/>
            </a:xfrm>
            <a:prstGeom prst="rect">
              <a:avLst/>
            </a:prstGeom>
          </p:spPr>
          <p:txBody>
            <a:bodyPr anchor="ctr" rtlCol="false" tIns="0" lIns="0" bIns="0" rIns="0"/>
            <a:lstStyle/>
            <a:p>
              <a:pPr algn="ctr">
                <a:lnSpc>
                  <a:spcPts val="1584"/>
                </a:lnSpc>
              </a:pPr>
              <a:r>
                <a:rPr lang="en-US" sz="1320" b="true">
                  <a:solidFill>
                    <a:srgbClr val="132257"/>
                  </a:solidFill>
                  <a:latin typeface="Exo 2 Bold"/>
                  <a:ea typeface="Exo 2 Bold"/>
                  <a:cs typeface="Exo 2 Bold"/>
                  <a:sym typeface="Exo 2 Bold"/>
                </a:rPr>
                <a:t>-$223,454.00</a:t>
              </a:r>
            </a:p>
          </p:txBody>
        </p:sp>
      </p:grpSp>
      <p:grpSp>
        <p:nvGrpSpPr>
          <p:cNvPr name="Group 917" id="915"/>
          <p:cNvGrpSpPr/>
          <p:nvPr/>
        </p:nvGrpSpPr>
        <p:grpSpPr>
          <a:xfrm rot="0">
            <a:off x="850001" y="9081002"/>
            <a:ext cx="16587978" cy="8954"/>
            <a:chOff x="0" y="0"/>
            <a:chExt cx="22117304" cy="11938"/>
          </a:xfrm>
        </p:grpSpPr>
        <p:sp>
          <p:nvSpPr>
            <p:cNvPr name="Freeform 918" id="916"/>
            <p:cNvSpPr/>
            <p:nvPr/>
          </p:nvSpPr>
          <p:spPr>
            <a:xfrm flipH="false" flipV="false" rot="0">
              <a:off x="0" y="0"/>
              <a:ext cx="22117304" cy="11938"/>
            </a:xfrm>
            <a:custGeom>
              <a:avLst/>
              <a:gdLst/>
              <a:ahLst/>
              <a:cxnLst/>
              <a:rect r="r" b="b" t="t" l="l"/>
              <a:pathLst>
                <a:path h="11938" w="22117304">
                  <a:moveTo>
                    <a:pt x="0" y="0"/>
                  </a:moveTo>
                  <a:lnTo>
                    <a:pt x="22117304" y="0"/>
                  </a:lnTo>
                  <a:lnTo>
                    <a:pt x="22117304" y="11938"/>
                  </a:lnTo>
                  <a:lnTo>
                    <a:pt x="0" y="11938"/>
                  </a:lnTo>
                  <a:close/>
                </a:path>
              </a:pathLst>
            </a:custGeom>
            <a:solidFill>
              <a:srgbClr val="E3E8F2"/>
            </a:solidFill>
          </p:spPr>
        </p:sp>
      </p:grpSp>
      <p:grpSp>
        <p:nvGrpSpPr>
          <p:cNvPr name="Group 919" id="917"/>
          <p:cNvGrpSpPr/>
          <p:nvPr/>
        </p:nvGrpSpPr>
        <p:grpSpPr>
          <a:xfrm rot="0">
            <a:off x="850001" y="9090003"/>
            <a:ext cx="16587978" cy="26003"/>
            <a:chOff x="0" y="0"/>
            <a:chExt cx="22117304" cy="34671"/>
          </a:xfrm>
        </p:grpSpPr>
        <p:sp>
          <p:nvSpPr>
            <p:cNvPr name="Freeform 920" id="918"/>
            <p:cNvSpPr/>
            <p:nvPr/>
          </p:nvSpPr>
          <p:spPr>
            <a:xfrm flipH="false" flipV="false" rot="0">
              <a:off x="0" y="0"/>
              <a:ext cx="22117304" cy="34671"/>
            </a:xfrm>
            <a:custGeom>
              <a:avLst/>
              <a:gdLst/>
              <a:ahLst/>
              <a:cxnLst/>
              <a:rect r="r" b="b" t="t" l="l"/>
              <a:pathLst>
                <a:path h="34671" w="22117304">
                  <a:moveTo>
                    <a:pt x="0" y="0"/>
                  </a:moveTo>
                  <a:lnTo>
                    <a:pt x="22117304" y="0"/>
                  </a:lnTo>
                  <a:lnTo>
                    <a:pt x="22117304" y="34671"/>
                  </a:lnTo>
                  <a:lnTo>
                    <a:pt x="0" y="34671"/>
                  </a:lnTo>
                  <a:close/>
                </a:path>
              </a:pathLst>
            </a:custGeom>
            <a:solidFill>
              <a:srgbClr val="132257"/>
            </a:solidFill>
          </p:spPr>
        </p:sp>
      </p:grpSp>
      <p:grpSp>
        <p:nvGrpSpPr>
          <p:cNvPr name="Group 6" id="919"/>
          <p:cNvGrpSpPr/>
          <p:nvPr/>
        </p:nvGrpSpPr>
        <p:grpSpPr>
          <a:xfrm rot="0">
            <a:off x="850392" y="297596"/>
            <a:ext cx="13990320" cy="1124712"/>
            <a:chOff x="0" y="0"/>
            <a:chExt cx="18653760" cy="1499616"/>
          </a:xfrm>
        </p:grpSpPr>
        <p:sp>
          <p:nvSpPr>
            <p:cNvPr name="Freeform 7" id="920"/>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3">
                <a:alphaModFix amt="0"/>
              </a:blip>
              <a:stretch>
                <a:fillRect l="0" t="-192374" r="0" b="-192374"/>
              </a:stretch>
            </a:blipFill>
          </p:spPr>
        </p:sp>
        <p:sp>
          <p:nvSpPr>
            <p:cNvPr name="TextBox 8" id="921"/>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Key Performance Indicators &amp; Volume Projections</a:t>
              </a:r>
            </a:p>
          </p:txBody>
        </p:sp>
      </p:grpSp>
      <p:grpSp>
        <p:nvGrpSpPr>
          <p:cNvPr name="Group 9" id="922"/>
          <p:cNvGrpSpPr/>
          <p:nvPr/>
        </p:nvGrpSpPr>
        <p:grpSpPr>
          <a:xfrm rot="0">
            <a:off x="15457932" y="571916"/>
            <a:ext cx="1988820" cy="576072"/>
            <a:chOff x="0" y="0"/>
            <a:chExt cx="2651760" cy="768096"/>
          </a:xfrm>
        </p:grpSpPr>
        <p:sp>
          <p:nvSpPr>
            <p:cNvPr name="Freeform 10" id="923"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11"/>
              <a:stretch>
                <a:fillRect l="0" t="-26" r="0" b="-26"/>
              </a:stretch>
            </a:blipFill>
          </p:spPr>
        </p:sp>
      </p:grpSp>
      <p:sp>
        <p:nvSpPr>
          <p:cNvPr name="TextBox 13" id="924"/>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PERFORMANCE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txBody>
            <a:bodyPr/>
            <a:p/>
          </p:txBody>
        </p:sp>
      </p:grpSp>
      <p:sp>
        <p:nvSpPr>
          <p:cNvPr name="TextBox 4" id="4"/>
          <p:cNvSpPr txBox="true"/>
          <p:nvPr/>
        </p:nvSpPr>
        <p:spPr>
          <a:xfrm rot="0">
            <a:off x="1292489" y="4500562"/>
            <a:ext cx="15703023" cy="1285875"/>
          </a:xfrm>
          <a:prstGeom prst="rect">
            <a:avLst/>
          </a:prstGeom>
        </p:spPr>
        <p:txBody>
          <a:bodyPr anchor="t" rtlCol="false" tIns="0" lIns="0" bIns="0" rIns="0">
            <a:spAutoFit/>
          </a:bodyPr>
          <a:lstStyle/>
          <a:p>
            <a:pPr algn="ctr">
              <a:lnSpc>
                <a:spcPts val="10199"/>
              </a:lnSpc>
            </a:pPr>
            <a:r>
              <a:rPr lang="en-US" b="true" sz="8499">
                <a:solidFill>
                  <a:srgbClr val="FFFFFF"/>
                </a:solidFill>
                <a:latin typeface="Exo 2 Bold"/>
                <a:ea typeface="Exo 2 Bold"/>
                <a:cs typeface="Exo 2 Bold"/>
                <a:sym typeface="Exo 2 Bold"/>
              </a:rPr>
              <a:t>IT Progress Update</a:t>
            </a:r>
          </a:p>
        </p:txBody>
      </p:sp>
      <p:grpSp>
        <p:nvGrpSpPr>
          <p:cNvPr name="Group 5" id="5"/>
          <p:cNvGrpSpPr/>
          <p:nvPr/>
        </p:nvGrpSpPr>
        <p:grpSpPr>
          <a:xfrm rot="0">
            <a:off x="14630340" y="1028700"/>
            <a:ext cx="2628960" cy="757148"/>
            <a:chOff x="0" y="0"/>
            <a:chExt cx="6614516" cy="1905000"/>
          </a:xfrm>
        </p:grpSpPr>
        <p:sp>
          <p:nvSpPr>
            <p:cNvPr name="Freeform 6" id="6"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7" id="7"/>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7"/>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8"/>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TextBox 9" id="7"/>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VENDORS, PLATFORM AND INTERNAL SYSTEMS  |  AS AT 01 OCTOBER 2026</a:t>
            </a:r>
          </a:p>
        </p:txBody>
      </p:sp>
      <p:graphicFrame>
        <p:nvGraphicFramePr>
          <p:cNvPr name="Table 10" id="8"/>
          <p:cNvGraphicFramePr>
            <a:graphicFrameLocks noGrp="true"/>
          </p:cNvGraphicFramePr>
          <p:nvPr/>
        </p:nvGraphicFramePr>
        <p:xfrm>
          <a:off x="630936" y="2029968"/>
          <a:ext cx="17005300" cy="7239000"/>
        </p:xfrm>
        <a:graphic>
          <a:graphicData uri="http://schemas.openxmlformats.org/drawingml/2006/table">
            <a:tbl>
              <a:tblPr/>
              <a:tblGrid>
                <a:gridCol w="3563849"/>
                <a:gridCol w="8617482"/>
                <a:gridCol w="2744341"/>
                <a:gridCol w="2079628"/>
              </a:tblGrid>
              <a:tr h="723900">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Area</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Update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Target / 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Status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iGentech</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Invoice overrun resolved: billing cut from USD 10,750 to USD 5,625 (-48%).</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Closed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1E9E6B"/>
                          </a:solidFill>
                          <a:latin typeface="Exo 2 Bold"/>
                          <a:ea typeface="Exo 2 Bold"/>
                          <a:cs typeface="Exo 2 Bold"/>
                          <a:sym typeface="Exo 2 Bold"/>
                        </a:rPr>
                        <a:t>RESOLVED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Shufti Pro, billing</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Duplicate KYC charges refunded (USD 9,605), plus a USD 50 production test credit given as compensation.</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Closed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559"/>
                        </a:lnSpc>
                        <a:defRPr/>
                      </a:pPr>
                      <a:r>
                        <a:rPr lang="en-US" sz="1299" b="true">
                          <a:solidFill>
                            <a:srgbClr val="1E9E6B"/>
                          </a:solidFill>
                          <a:latin typeface="Exo 2 Bold"/>
                          <a:ea typeface="Exo 2 Bold"/>
                          <a:cs typeface="Exo 2 Bold"/>
                          <a:sym typeface="Exo 2 Bold"/>
                        </a:rPr>
                        <a:t>RESOLVED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Google Play security update (current app)</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Security API update Google requires for the current Android app. Not the Next App. 2 test rounds, 99.4% pass; live on Google Play.</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Done 29 Sep (deadline 01 Nov)</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Helpdesk</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Deployed ahead of the 20 Sep target. Improvement backlog in the appendix.</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Done 17 Sep</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559"/>
                        </a:lnSpc>
                        <a:defRPr/>
                      </a:pPr>
                      <a:r>
                        <a:rPr lang="en-US" sz="1299"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Shufti Pro, KYC demo</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Enhanced KYC flow in the Shufti SDK demo app. Internal demo only; it will not go live.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08 Oct 2026</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D98C1F"/>
                          </a:solidFill>
                          <a:latin typeface="Exo 2 Bold"/>
                          <a:ea typeface="Exo 2 Bold"/>
                          <a:cs typeface="Exo 2 Bold"/>
                          <a:sym typeface="Exo 2 Bold"/>
                        </a:rPr>
                        <a:t>IN PROGRESS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DF3E4"/>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QATestLab</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Reviewing the Next App and preparing test cases, ready for v1.</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Testing from 08 Oct</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559"/>
                        </a:lnSpc>
                        <a:defRPr/>
                      </a:pPr>
                      <a:r>
                        <a:rPr lang="en-US" sz="1299" b="true">
                          <a:solidFill>
                            <a:srgbClr val="D98C1F"/>
                          </a:solidFill>
                          <a:latin typeface="Exo 2 Bold"/>
                          <a:ea typeface="Exo 2 Bold"/>
                          <a:cs typeface="Exo 2 Bold"/>
                          <a:sym typeface="Exo 2 Bold"/>
                        </a:rPr>
                        <a:t>IN PROGRESS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DF3E4"/>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Exante, Next App</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First version due 08 Oct. Full release plan to be shared next week. Sanity test date to be confirmed.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v1: 08 Oct 2026</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D98C1F"/>
                          </a:solidFill>
                          <a:latin typeface="Exo 2 Bold"/>
                          <a:ea typeface="Exo 2 Bold"/>
                          <a:cs typeface="Exo 2 Bold"/>
                          <a:sym typeface="Exo 2 Bold"/>
                        </a:rPr>
                        <a:t>IN PROGRESS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DF3E4"/>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WealthTech CRM (Frappe)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One customer base in a single system. Starts now that Helpdesk is live.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l">
                        <a:lnSpc>
                          <a:spcPts val="1680"/>
                        </a:lnSpc>
                        <a:defRPr/>
                      </a:pPr>
                      <a:r>
                        <a:rPr lang="en-US" sz="1400">
                          <a:solidFill>
                            <a:srgbClr val="5A6A85"/>
                          </a:solidFill>
                          <a:latin typeface="Exo 2"/>
                          <a:ea typeface="Exo 2"/>
                          <a:cs typeface="Exo 2"/>
                          <a:sym typeface="Exo 2"/>
                        </a:rPr>
                        <a:t>29 Oct 2026</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559"/>
                        </a:lnSpc>
                        <a:defRPr/>
                      </a:pPr>
                      <a:r>
                        <a:rPr lang="en-US" sz="1299" b="true">
                          <a:solidFill>
                            <a:srgbClr val="3C61B6"/>
                          </a:solidFill>
                          <a:latin typeface="Exo 2 Bold"/>
                          <a:ea typeface="Exo 2 Bold"/>
                          <a:cs typeface="Exo 2 Bold"/>
                          <a:sym typeface="Exo 2 Bold"/>
                        </a:rPr>
                        <a:t>PLANNED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8EEFA"/>
                    </a:solidFill>
                  </a:tcPr>
                </a:tc>
              </a:tr>
              <a:tr h="723900">
                <a:tc>
                  <a:txBody>
                    <a:bodyPr anchor="t" rtlCol="false"/>
                    <a:lstStyle/>
                    <a:p>
                      <a:pPr algn="l">
                        <a:lnSpc>
                          <a:spcPts val="1680"/>
                        </a:lnSpc>
                        <a:defRPr/>
                      </a:pPr>
                      <a:r>
                        <a:rPr lang="en-US" sz="1400" b="true">
                          <a:solidFill>
                            <a:srgbClr val="121C36"/>
                          </a:solidFill>
                          <a:latin typeface="Exo 2 Bold"/>
                          <a:ea typeface="Exo 2 Bold"/>
                          <a:cs typeface="Exo 2 Bold"/>
                          <a:sym typeface="Exo 2 Bold"/>
                        </a:rPr>
                        <a:t>Reporting Dashboard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Real-time reporting options under review to support the business case.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5A6A85"/>
                          </a:solidFill>
                          <a:latin typeface="Exo 2"/>
                          <a:ea typeface="Exo 2"/>
                          <a:cs typeface="Exo 2"/>
                          <a:sym typeface="Exo 2"/>
                        </a:rPr>
                        <a:t>TBC</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b="true">
                          <a:solidFill>
                            <a:srgbClr val="5A6A85"/>
                          </a:solidFill>
                          <a:latin typeface="Exo 2 Bold"/>
                          <a:ea typeface="Exo 2 Bold"/>
                          <a:cs typeface="Exo 2 Bold"/>
                          <a:sym typeface="Exo 2 Bold"/>
                        </a:rPr>
                        <a:t>EXPLORING</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EF1F6"/>
                    </a:solidFill>
                  </a:tcPr>
                </a:tc>
              </a:tr>
            </a:tbl>
          </a:graphicData>
        </a:graphic>
      </p:graphicFrame>
      <p:sp>
        <p:nvSpPr>
          <p:cNvPr name="Freeform 11" id="9"/>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0"/>
            <a:stretch>
              <a:fillRect l="0" t="0" r="0" b="0"/>
            </a:stretch>
          </a:blipFill>
        </p:spPr>
      </p:sp>
      <p:grpSp>
        <p:nvGrpSpPr>
          <p:cNvPr name="Group 6" id="10"/>
          <p:cNvGrpSpPr/>
          <p:nvPr/>
        </p:nvGrpSpPr>
        <p:grpSpPr>
          <a:xfrm rot="0">
            <a:off x="850392" y="297596"/>
            <a:ext cx="13990320" cy="1124712"/>
            <a:chOff x="0" y="0"/>
            <a:chExt cx="18653760" cy="1499616"/>
          </a:xfrm>
        </p:grpSpPr>
        <p:sp>
          <p:nvSpPr>
            <p:cNvPr name="Freeform 7" id="11"/>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5">
                <a:alphaModFix amt="0"/>
              </a:blip>
              <a:stretch>
                <a:fillRect l="0" t="-192374" r="0" b="-192374"/>
              </a:stretch>
            </a:blipFill>
          </p:spPr>
        </p:sp>
        <p:sp>
          <p:nvSpPr>
            <p:cNvPr name="TextBox 8" id="12"/>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IT Status at a Glance</a:t>
              </a:r>
            </a:p>
          </p:txBody>
        </p:sp>
      </p:grpSp>
      <p:grpSp>
        <p:nvGrpSpPr>
          <p:cNvPr name="Group 9" id="13"/>
          <p:cNvGrpSpPr/>
          <p:nvPr/>
        </p:nvGrpSpPr>
        <p:grpSpPr>
          <a:xfrm rot="0">
            <a:off x="15457932" y="571916"/>
            <a:ext cx="1988820" cy="576072"/>
            <a:chOff x="0" y="0"/>
            <a:chExt cx="2651760" cy="768096"/>
          </a:xfrm>
        </p:grpSpPr>
        <p:sp>
          <p:nvSpPr>
            <p:cNvPr name="Freeform 10" id="14"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9"/>
              <a:stretch>
                <a:fillRect l="0" t="-26" r="0" b="-26"/>
              </a:stretch>
            </a:blipFill>
          </p:spPr>
        </p:sp>
      </p:grpSp>
      <p:sp>
        <p:nvSpPr>
          <p:cNvPr name="TextBox 13" id="15"/>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IT UPDATE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8"/>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TextBox 9" id="7"/>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PLATFORM  |  NEXT APP DELIVERY</a:t>
            </a:r>
          </a:p>
        </p:txBody>
      </p:sp>
      <p:grpSp>
        <p:nvGrpSpPr>
          <p:cNvPr name="Group 10" id="8"/>
          <p:cNvGrpSpPr/>
          <p:nvPr/>
        </p:nvGrpSpPr>
        <p:grpSpPr>
          <a:xfrm rot="0">
            <a:off x="2656332" y="2770632"/>
            <a:ext cx="12975336" cy="36576"/>
            <a:chOff x="0" y="0"/>
            <a:chExt cx="17300448" cy="48768"/>
          </a:xfrm>
        </p:grpSpPr>
        <p:sp>
          <p:nvSpPr>
            <p:cNvPr name="Freeform 11" id="9"/>
            <p:cNvSpPr/>
            <p:nvPr/>
          </p:nvSpPr>
          <p:spPr>
            <a:xfrm flipH="false" flipV="false" rot="0">
              <a:off x="0" y="0"/>
              <a:ext cx="17300448" cy="48768"/>
            </a:xfrm>
            <a:custGeom>
              <a:avLst/>
              <a:gdLst/>
              <a:ahLst/>
              <a:cxnLst/>
              <a:rect r="r" b="b" t="t" l="l"/>
              <a:pathLst>
                <a:path h="48768" w="17300448">
                  <a:moveTo>
                    <a:pt x="0" y="0"/>
                  </a:moveTo>
                  <a:lnTo>
                    <a:pt x="17300448" y="0"/>
                  </a:lnTo>
                  <a:lnTo>
                    <a:pt x="17300448" y="48768"/>
                  </a:lnTo>
                  <a:lnTo>
                    <a:pt x="0" y="48768"/>
                  </a:lnTo>
                  <a:close/>
                </a:path>
              </a:pathLst>
            </a:custGeom>
            <a:solidFill>
              <a:srgbClr val="E4E7F2"/>
            </a:solidFill>
          </p:spPr>
        </p:sp>
      </p:grpSp>
      <p:sp>
        <p:nvSpPr>
          <p:cNvPr name="TextBox 12" id="10"/>
          <p:cNvSpPr txBox="true"/>
          <p:nvPr/>
        </p:nvSpPr>
        <p:spPr>
          <a:xfrm rot="0">
            <a:off x="630936" y="2093595"/>
            <a:ext cx="4050792" cy="375285"/>
          </a:xfrm>
          <a:prstGeom prst="rect">
            <a:avLst/>
          </a:prstGeom>
        </p:spPr>
        <p:txBody>
          <a:bodyPr anchor="t" rtlCol="false" tIns="0" lIns="0" bIns="0" rIns="0">
            <a:spAutoFit/>
          </a:bodyPr>
          <a:lstStyle/>
          <a:p>
            <a:pPr algn="ctr">
              <a:lnSpc>
                <a:spcPts val="1919"/>
              </a:lnSpc>
            </a:pPr>
            <a:r>
              <a:rPr lang="en-US" sz="1599" b="true">
                <a:solidFill>
                  <a:srgbClr val="3C61B6"/>
                </a:solidFill>
                <a:latin typeface="Exo 2 Bold"/>
                <a:ea typeface="Exo 2 Bold"/>
                <a:cs typeface="Exo 2 Bold"/>
                <a:sym typeface="Exo 2 Bold"/>
              </a:rPr>
              <a:t>Now</a:t>
            </a:r>
          </a:p>
        </p:txBody>
      </p:sp>
      <p:grpSp>
        <p:nvGrpSpPr>
          <p:cNvPr name="Group 13" id="11"/>
          <p:cNvGrpSpPr/>
          <p:nvPr/>
        </p:nvGrpSpPr>
        <p:grpSpPr>
          <a:xfrm rot="0">
            <a:off x="2473452" y="2606040"/>
            <a:ext cx="365760" cy="365760"/>
            <a:chOff x="0" y="0"/>
            <a:chExt cx="487680" cy="487680"/>
          </a:xfrm>
        </p:grpSpPr>
        <p:sp>
          <p:nvSpPr>
            <p:cNvPr name="Freeform 14" id="12"/>
            <p:cNvSpPr/>
            <p:nvPr/>
          </p:nvSpPr>
          <p:spPr>
            <a:xfrm flipH="false" flipV="false" rot="0">
              <a:off x="0" y="0"/>
              <a:ext cx="487680" cy="487680"/>
            </a:xfrm>
            <a:custGeom>
              <a:avLst/>
              <a:gdLst/>
              <a:ahLst/>
              <a:cxnLst/>
              <a:rect r="r" b="b" t="t" l="l"/>
              <a:pathLst>
                <a:path h="487680" w="487680">
                  <a:moveTo>
                    <a:pt x="0" y="243840"/>
                  </a:moveTo>
                  <a:cubicBezTo>
                    <a:pt x="0" y="109220"/>
                    <a:pt x="109220" y="0"/>
                    <a:pt x="243840" y="0"/>
                  </a:cubicBezTo>
                  <a:cubicBezTo>
                    <a:pt x="378460" y="0"/>
                    <a:pt x="487680" y="109220"/>
                    <a:pt x="487680" y="243840"/>
                  </a:cubicBezTo>
                  <a:cubicBezTo>
                    <a:pt x="487680" y="378460"/>
                    <a:pt x="378460" y="487680"/>
                    <a:pt x="243840" y="487680"/>
                  </a:cubicBezTo>
                  <a:cubicBezTo>
                    <a:pt x="109220" y="487680"/>
                    <a:pt x="0" y="378460"/>
                    <a:pt x="0" y="243840"/>
                  </a:cubicBezTo>
                  <a:close/>
                </a:path>
              </a:pathLst>
            </a:custGeom>
            <a:solidFill>
              <a:srgbClr val="3C61B6"/>
            </a:solidFill>
          </p:spPr>
        </p:sp>
      </p:grpSp>
      <p:grpSp>
        <p:nvGrpSpPr>
          <p:cNvPr name="Group 15" id="13"/>
          <p:cNvGrpSpPr/>
          <p:nvPr/>
        </p:nvGrpSpPr>
        <p:grpSpPr>
          <a:xfrm rot="0">
            <a:off x="626173" y="3241358"/>
            <a:ext cx="4060317" cy="2844165"/>
            <a:chOff x="0" y="0"/>
            <a:chExt cx="5413756" cy="3792220"/>
          </a:xfrm>
        </p:grpSpPr>
        <p:sp>
          <p:nvSpPr>
            <p:cNvPr name="Freeform 16" id="14"/>
            <p:cNvSpPr/>
            <p:nvPr/>
          </p:nvSpPr>
          <p:spPr>
            <a:xfrm flipH="false" flipV="false" rot="0">
              <a:off x="0" y="0"/>
              <a:ext cx="5413756" cy="3792220"/>
            </a:xfrm>
            <a:custGeom>
              <a:avLst/>
              <a:gdLst/>
              <a:ahLst/>
              <a:cxnLst/>
              <a:rect r="r" b="b" t="t" l="l"/>
              <a:pathLst>
                <a:path h="3792220" w="5413756">
                  <a:moveTo>
                    <a:pt x="0" y="0"/>
                  </a:moveTo>
                  <a:lnTo>
                    <a:pt x="5413756" y="0"/>
                  </a:lnTo>
                  <a:lnTo>
                    <a:pt x="5413756" y="3792220"/>
                  </a:lnTo>
                  <a:lnTo>
                    <a:pt x="0" y="3792220"/>
                  </a:lnTo>
                  <a:close/>
                </a:path>
              </a:pathLst>
            </a:custGeom>
            <a:solidFill>
              <a:srgbClr val="F7F8FC"/>
            </a:solidFill>
            <a:ln w="9525" cap="sq">
              <a:solidFill>
                <a:srgbClr val="E4E7F2"/>
              </a:solidFill>
              <a:prstDash val="solid"/>
              <a:miter/>
            </a:ln>
          </p:spPr>
        </p:sp>
      </p:grpSp>
      <p:grpSp>
        <p:nvGrpSpPr>
          <p:cNvPr name="Group 17" id="15"/>
          <p:cNvGrpSpPr/>
          <p:nvPr/>
        </p:nvGrpSpPr>
        <p:grpSpPr>
          <a:xfrm rot="0">
            <a:off x="630936" y="3246120"/>
            <a:ext cx="4050792" cy="73152"/>
            <a:chOff x="0" y="0"/>
            <a:chExt cx="5401056" cy="97536"/>
          </a:xfrm>
        </p:grpSpPr>
        <p:sp>
          <p:nvSpPr>
            <p:cNvPr name="Freeform 18" id="16"/>
            <p:cNvSpPr/>
            <p:nvPr/>
          </p:nvSpPr>
          <p:spPr>
            <a:xfrm flipH="false" flipV="false" rot="0">
              <a:off x="0" y="0"/>
              <a:ext cx="5401056" cy="97536"/>
            </a:xfrm>
            <a:custGeom>
              <a:avLst/>
              <a:gdLst/>
              <a:ahLst/>
              <a:cxnLst/>
              <a:rect r="r" b="b" t="t" l="l"/>
              <a:pathLst>
                <a:path h="97536" w="5401056">
                  <a:moveTo>
                    <a:pt x="0" y="0"/>
                  </a:moveTo>
                  <a:lnTo>
                    <a:pt x="5401056" y="0"/>
                  </a:lnTo>
                  <a:lnTo>
                    <a:pt x="5401056" y="97536"/>
                  </a:lnTo>
                  <a:lnTo>
                    <a:pt x="0" y="97536"/>
                  </a:lnTo>
                  <a:close/>
                </a:path>
              </a:pathLst>
            </a:custGeom>
            <a:solidFill>
              <a:srgbClr val="121C36"/>
            </a:solidFill>
          </p:spPr>
        </p:sp>
      </p:grpSp>
      <p:sp>
        <p:nvSpPr>
          <p:cNvPr name="TextBox 19" id="17"/>
          <p:cNvSpPr txBox="true"/>
          <p:nvPr/>
        </p:nvSpPr>
        <p:spPr>
          <a:xfrm rot="0">
            <a:off x="905256" y="3556635"/>
            <a:ext cx="3502152" cy="466725"/>
          </a:xfrm>
          <a:prstGeom prst="rect">
            <a:avLst/>
          </a:prstGeom>
        </p:spPr>
        <p:txBody>
          <a:bodyPr anchor="t" rtlCol="false" tIns="0" lIns="0" bIns="0" rIns="0">
            <a:spAutoFit/>
          </a:bodyPr>
          <a:lstStyle/>
          <a:p>
            <a:pPr algn="l">
              <a:lnSpc>
                <a:spcPts val="2760"/>
              </a:lnSpc>
            </a:pPr>
            <a:r>
              <a:rPr lang="en-US" sz="2300" b="true">
                <a:solidFill>
                  <a:srgbClr val="121C36"/>
                </a:solidFill>
                <a:latin typeface="Exo 2 Bold"/>
                <a:ea typeface="Exo 2 Bold"/>
                <a:cs typeface="Exo 2 Bold"/>
                <a:sym typeface="Exo 2 Bold"/>
              </a:rPr>
              <a:t>QATestLab engaged</a:t>
            </a:r>
          </a:p>
        </p:txBody>
      </p:sp>
      <p:sp>
        <p:nvSpPr>
          <p:cNvPr name="TextBox 20" id="18"/>
          <p:cNvSpPr txBox="true"/>
          <p:nvPr/>
        </p:nvSpPr>
        <p:spPr>
          <a:xfrm rot="0">
            <a:off x="905256" y="4242435"/>
            <a:ext cx="3502152" cy="1746885"/>
          </a:xfrm>
          <a:prstGeom prst="rect">
            <a:avLst/>
          </a:prstGeom>
        </p:spPr>
        <p:txBody>
          <a:bodyPr anchor="t" rtlCol="false" tIns="0" lIns="0" bIns="0" rIns="0">
            <a:spAutoFit/>
          </a:bodyPr>
          <a:lstStyle/>
          <a:p>
            <a:pPr algn="l">
              <a:lnSpc>
                <a:spcPts val="2160"/>
              </a:lnSpc>
            </a:pPr>
            <a:r>
              <a:rPr lang="en-US" sz="1800">
                <a:solidFill>
                  <a:srgbClr val="5A6A85"/>
                </a:solidFill>
                <a:latin typeface="Exo 2"/>
                <a:ea typeface="Exo 2"/>
                <a:cs typeface="Exo 2"/>
                <a:sym typeface="Exo 2"/>
              </a:rPr>
              <a:t>Reviewing the Next App and writing test cases while Exante builds it.</a:t>
            </a:r>
          </a:p>
        </p:txBody>
      </p:sp>
      <p:sp>
        <p:nvSpPr>
          <p:cNvPr name="TextBox 21" id="19"/>
          <p:cNvSpPr txBox="true"/>
          <p:nvPr/>
        </p:nvSpPr>
        <p:spPr>
          <a:xfrm rot="0">
            <a:off x="4956048" y="2093595"/>
            <a:ext cx="4050792" cy="375285"/>
          </a:xfrm>
          <a:prstGeom prst="rect">
            <a:avLst/>
          </a:prstGeom>
        </p:spPr>
        <p:txBody>
          <a:bodyPr anchor="t" rtlCol="false" tIns="0" lIns="0" bIns="0" rIns="0">
            <a:spAutoFit/>
          </a:bodyPr>
          <a:lstStyle/>
          <a:p>
            <a:pPr algn="ctr">
              <a:lnSpc>
                <a:spcPts val="1919"/>
              </a:lnSpc>
            </a:pPr>
            <a:r>
              <a:rPr lang="en-US" sz="1599" b="true">
                <a:solidFill>
                  <a:srgbClr val="3C61B6"/>
                </a:solidFill>
                <a:latin typeface="Exo 2 Bold"/>
                <a:ea typeface="Exo 2 Bold"/>
                <a:cs typeface="Exo 2 Bold"/>
                <a:sym typeface="Exo 2 Bold"/>
              </a:rPr>
              <a:t>Next week</a:t>
            </a:r>
          </a:p>
        </p:txBody>
      </p:sp>
      <p:grpSp>
        <p:nvGrpSpPr>
          <p:cNvPr name="Group 22" id="20"/>
          <p:cNvGrpSpPr/>
          <p:nvPr/>
        </p:nvGrpSpPr>
        <p:grpSpPr>
          <a:xfrm rot="0">
            <a:off x="6782686" y="2590162"/>
            <a:ext cx="397507" cy="397507"/>
            <a:chOff x="0" y="0"/>
            <a:chExt cx="530009" cy="530009"/>
          </a:xfrm>
        </p:grpSpPr>
        <p:sp>
          <p:nvSpPr>
            <p:cNvPr name="Freeform 23" id="21"/>
            <p:cNvSpPr/>
            <p:nvPr/>
          </p:nvSpPr>
          <p:spPr>
            <a:xfrm flipH="false" flipV="false" rot="0">
              <a:off x="0" y="0"/>
              <a:ext cx="529971" cy="529971"/>
            </a:xfrm>
            <a:custGeom>
              <a:avLst/>
              <a:gdLst/>
              <a:ahLst/>
              <a:cxnLst/>
              <a:rect r="r" b="b" t="t" l="l"/>
              <a:pathLst>
                <a:path h="529971" w="529971">
                  <a:moveTo>
                    <a:pt x="0" y="265049"/>
                  </a:moveTo>
                  <a:cubicBezTo>
                    <a:pt x="0" y="118618"/>
                    <a:pt x="118618" y="0"/>
                    <a:pt x="265049" y="0"/>
                  </a:cubicBezTo>
                  <a:cubicBezTo>
                    <a:pt x="411480" y="0"/>
                    <a:pt x="529971" y="118618"/>
                    <a:pt x="529971" y="265049"/>
                  </a:cubicBezTo>
                  <a:cubicBezTo>
                    <a:pt x="529971" y="411480"/>
                    <a:pt x="411353" y="529971"/>
                    <a:pt x="265049" y="529971"/>
                  </a:cubicBezTo>
                  <a:cubicBezTo>
                    <a:pt x="118745" y="529971"/>
                    <a:pt x="0" y="411353"/>
                    <a:pt x="0" y="265049"/>
                  </a:cubicBezTo>
                  <a:close/>
                </a:path>
              </a:pathLst>
            </a:custGeom>
            <a:solidFill>
              <a:srgbClr val="FFFFFF"/>
            </a:solidFill>
            <a:ln w="31750" cap="sq">
              <a:solidFill>
                <a:srgbClr val="3C61B6"/>
              </a:solidFill>
              <a:prstDash val="solid"/>
              <a:miter/>
            </a:ln>
          </p:spPr>
        </p:sp>
      </p:grpSp>
      <p:grpSp>
        <p:nvGrpSpPr>
          <p:cNvPr name="Group 24" id="22"/>
          <p:cNvGrpSpPr/>
          <p:nvPr/>
        </p:nvGrpSpPr>
        <p:grpSpPr>
          <a:xfrm rot="0">
            <a:off x="4951286" y="3241358"/>
            <a:ext cx="4060317" cy="2844165"/>
            <a:chOff x="0" y="0"/>
            <a:chExt cx="5413756" cy="3792220"/>
          </a:xfrm>
        </p:grpSpPr>
        <p:sp>
          <p:nvSpPr>
            <p:cNvPr name="Freeform 25" id="23"/>
            <p:cNvSpPr/>
            <p:nvPr/>
          </p:nvSpPr>
          <p:spPr>
            <a:xfrm flipH="false" flipV="false" rot="0">
              <a:off x="0" y="0"/>
              <a:ext cx="5413756" cy="3792220"/>
            </a:xfrm>
            <a:custGeom>
              <a:avLst/>
              <a:gdLst/>
              <a:ahLst/>
              <a:cxnLst/>
              <a:rect r="r" b="b" t="t" l="l"/>
              <a:pathLst>
                <a:path h="3792220" w="5413756">
                  <a:moveTo>
                    <a:pt x="0" y="0"/>
                  </a:moveTo>
                  <a:lnTo>
                    <a:pt x="5413756" y="0"/>
                  </a:lnTo>
                  <a:lnTo>
                    <a:pt x="5413756" y="3792220"/>
                  </a:lnTo>
                  <a:lnTo>
                    <a:pt x="0" y="3792220"/>
                  </a:lnTo>
                  <a:close/>
                </a:path>
              </a:pathLst>
            </a:custGeom>
            <a:solidFill>
              <a:srgbClr val="F7F8FC"/>
            </a:solidFill>
            <a:ln w="9525" cap="sq">
              <a:solidFill>
                <a:srgbClr val="E4E7F2"/>
              </a:solidFill>
              <a:prstDash val="solid"/>
              <a:miter/>
            </a:ln>
          </p:spPr>
        </p:sp>
      </p:grpSp>
      <p:grpSp>
        <p:nvGrpSpPr>
          <p:cNvPr name="Group 26" id="24"/>
          <p:cNvGrpSpPr/>
          <p:nvPr/>
        </p:nvGrpSpPr>
        <p:grpSpPr>
          <a:xfrm rot="0">
            <a:off x="4956048" y="3246120"/>
            <a:ext cx="4050792" cy="73152"/>
            <a:chOff x="0" y="0"/>
            <a:chExt cx="5401056" cy="97536"/>
          </a:xfrm>
        </p:grpSpPr>
        <p:sp>
          <p:nvSpPr>
            <p:cNvPr name="Freeform 27" id="25"/>
            <p:cNvSpPr/>
            <p:nvPr/>
          </p:nvSpPr>
          <p:spPr>
            <a:xfrm flipH="false" flipV="false" rot="0">
              <a:off x="0" y="0"/>
              <a:ext cx="5401056" cy="97536"/>
            </a:xfrm>
            <a:custGeom>
              <a:avLst/>
              <a:gdLst/>
              <a:ahLst/>
              <a:cxnLst/>
              <a:rect r="r" b="b" t="t" l="l"/>
              <a:pathLst>
                <a:path h="97536" w="5401056">
                  <a:moveTo>
                    <a:pt x="0" y="0"/>
                  </a:moveTo>
                  <a:lnTo>
                    <a:pt x="5401056" y="0"/>
                  </a:lnTo>
                  <a:lnTo>
                    <a:pt x="5401056" y="97536"/>
                  </a:lnTo>
                  <a:lnTo>
                    <a:pt x="0" y="97536"/>
                  </a:lnTo>
                  <a:close/>
                </a:path>
              </a:pathLst>
            </a:custGeom>
            <a:solidFill>
              <a:srgbClr val="121C36"/>
            </a:solidFill>
          </p:spPr>
        </p:sp>
      </p:grpSp>
      <p:sp>
        <p:nvSpPr>
          <p:cNvPr name="TextBox 28" id="26"/>
          <p:cNvSpPr txBox="true"/>
          <p:nvPr/>
        </p:nvSpPr>
        <p:spPr>
          <a:xfrm rot="0">
            <a:off x="5230368" y="3556635"/>
            <a:ext cx="3502152" cy="466725"/>
          </a:xfrm>
          <a:prstGeom prst="rect">
            <a:avLst/>
          </a:prstGeom>
        </p:spPr>
        <p:txBody>
          <a:bodyPr anchor="t" rtlCol="false" tIns="0" lIns="0" bIns="0" rIns="0">
            <a:spAutoFit/>
          </a:bodyPr>
          <a:lstStyle/>
          <a:p>
            <a:pPr algn="l">
              <a:lnSpc>
                <a:spcPts val="2760"/>
              </a:lnSpc>
            </a:pPr>
            <a:r>
              <a:rPr lang="en-US" sz="2300" b="true">
                <a:solidFill>
                  <a:srgbClr val="121C36"/>
                </a:solidFill>
                <a:latin typeface="Exo 2 Bold"/>
                <a:ea typeface="Exo 2 Bold"/>
                <a:cs typeface="Exo 2 Bold"/>
                <a:sym typeface="Exo 2 Bold"/>
              </a:rPr>
              <a:t>Release plan</a:t>
            </a:r>
          </a:p>
        </p:txBody>
      </p:sp>
      <p:sp>
        <p:nvSpPr>
          <p:cNvPr name="TextBox 29" id="27"/>
          <p:cNvSpPr txBox="true"/>
          <p:nvPr/>
        </p:nvSpPr>
        <p:spPr>
          <a:xfrm rot="0">
            <a:off x="5230368" y="4242435"/>
            <a:ext cx="3502152" cy="1746885"/>
          </a:xfrm>
          <a:prstGeom prst="rect">
            <a:avLst/>
          </a:prstGeom>
        </p:spPr>
        <p:txBody>
          <a:bodyPr anchor="t" rtlCol="false" tIns="0" lIns="0" bIns="0" rIns="0">
            <a:spAutoFit/>
          </a:bodyPr>
          <a:lstStyle/>
          <a:p>
            <a:pPr algn="l">
              <a:lnSpc>
                <a:spcPts val="2160"/>
              </a:lnSpc>
            </a:pPr>
            <a:r>
              <a:rPr lang="en-US" sz="1800">
                <a:solidFill>
                  <a:srgbClr val="5A6A85"/>
                </a:solidFill>
                <a:latin typeface="Exo 2"/>
                <a:ea typeface="Exo 2"/>
                <a:cs typeface="Exo 2"/>
                <a:sym typeface="Exo 2"/>
              </a:rPr>
              <a:t>Full plan shared once QATestLab confirms its estimate.</a:t>
            </a:r>
          </a:p>
        </p:txBody>
      </p:sp>
      <p:sp>
        <p:nvSpPr>
          <p:cNvPr name="TextBox 30" id="28"/>
          <p:cNvSpPr txBox="true"/>
          <p:nvPr/>
        </p:nvSpPr>
        <p:spPr>
          <a:xfrm rot="0">
            <a:off x="9281160" y="2093595"/>
            <a:ext cx="4050792" cy="375285"/>
          </a:xfrm>
          <a:prstGeom prst="rect">
            <a:avLst/>
          </a:prstGeom>
        </p:spPr>
        <p:txBody>
          <a:bodyPr anchor="t" rtlCol="false" tIns="0" lIns="0" bIns="0" rIns="0">
            <a:spAutoFit/>
          </a:bodyPr>
          <a:lstStyle/>
          <a:p>
            <a:pPr algn="ctr">
              <a:lnSpc>
                <a:spcPts val="1919"/>
              </a:lnSpc>
            </a:pPr>
            <a:r>
              <a:rPr lang="en-US" sz="1599" b="true">
                <a:solidFill>
                  <a:srgbClr val="3C61B6"/>
                </a:solidFill>
                <a:latin typeface="Exo 2 Bold"/>
                <a:ea typeface="Exo 2 Bold"/>
                <a:cs typeface="Exo 2 Bold"/>
                <a:sym typeface="Exo 2 Bold"/>
              </a:rPr>
              <a:t>08 Oct 2026</a:t>
            </a:r>
          </a:p>
        </p:txBody>
      </p:sp>
      <p:grpSp>
        <p:nvGrpSpPr>
          <p:cNvPr name="Group 31" id="29"/>
          <p:cNvGrpSpPr/>
          <p:nvPr/>
        </p:nvGrpSpPr>
        <p:grpSpPr>
          <a:xfrm rot="0">
            <a:off x="11107798" y="2590162"/>
            <a:ext cx="397507" cy="397507"/>
            <a:chOff x="0" y="0"/>
            <a:chExt cx="530009" cy="530009"/>
          </a:xfrm>
        </p:grpSpPr>
        <p:sp>
          <p:nvSpPr>
            <p:cNvPr name="Freeform 32" id="30"/>
            <p:cNvSpPr/>
            <p:nvPr/>
          </p:nvSpPr>
          <p:spPr>
            <a:xfrm flipH="false" flipV="false" rot="0">
              <a:off x="0" y="0"/>
              <a:ext cx="529971" cy="529971"/>
            </a:xfrm>
            <a:custGeom>
              <a:avLst/>
              <a:gdLst/>
              <a:ahLst/>
              <a:cxnLst/>
              <a:rect r="r" b="b" t="t" l="l"/>
              <a:pathLst>
                <a:path h="529971" w="529971">
                  <a:moveTo>
                    <a:pt x="0" y="265049"/>
                  </a:moveTo>
                  <a:cubicBezTo>
                    <a:pt x="0" y="118618"/>
                    <a:pt x="118618" y="0"/>
                    <a:pt x="265049" y="0"/>
                  </a:cubicBezTo>
                  <a:cubicBezTo>
                    <a:pt x="411480" y="0"/>
                    <a:pt x="529971" y="118618"/>
                    <a:pt x="529971" y="265049"/>
                  </a:cubicBezTo>
                  <a:cubicBezTo>
                    <a:pt x="529971" y="411480"/>
                    <a:pt x="411353" y="529971"/>
                    <a:pt x="265049" y="529971"/>
                  </a:cubicBezTo>
                  <a:cubicBezTo>
                    <a:pt x="118745" y="529971"/>
                    <a:pt x="0" y="411353"/>
                    <a:pt x="0" y="265049"/>
                  </a:cubicBezTo>
                  <a:close/>
                </a:path>
              </a:pathLst>
            </a:custGeom>
            <a:solidFill>
              <a:srgbClr val="FFFFFF"/>
            </a:solidFill>
            <a:ln w="31750" cap="sq">
              <a:solidFill>
                <a:srgbClr val="3C61B6"/>
              </a:solidFill>
              <a:prstDash val="solid"/>
              <a:miter/>
            </a:ln>
          </p:spPr>
        </p:sp>
      </p:grpSp>
      <p:grpSp>
        <p:nvGrpSpPr>
          <p:cNvPr name="Group 33" id="31"/>
          <p:cNvGrpSpPr/>
          <p:nvPr/>
        </p:nvGrpSpPr>
        <p:grpSpPr>
          <a:xfrm rot="0">
            <a:off x="9276398" y="3241358"/>
            <a:ext cx="4060317" cy="2844165"/>
            <a:chOff x="0" y="0"/>
            <a:chExt cx="5413756" cy="3792220"/>
          </a:xfrm>
        </p:grpSpPr>
        <p:sp>
          <p:nvSpPr>
            <p:cNvPr name="Freeform 34" id="32"/>
            <p:cNvSpPr/>
            <p:nvPr/>
          </p:nvSpPr>
          <p:spPr>
            <a:xfrm flipH="false" flipV="false" rot="0">
              <a:off x="0" y="0"/>
              <a:ext cx="5413756" cy="3792220"/>
            </a:xfrm>
            <a:custGeom>
              <a:avLst/>
              <a:gdLst/>
              <a:ahLst/>
              <a:cxnLst/>
              <a:rect r="r" b="b" t="t" l="l"/>
              <a:pathLst>
                <a:path h="3792220" w="5413756">
                  <a:moveTo>
                    <a:pt x="0" y="0"/>
                  </a:moveTo>
                  <a:lnTo>
                    <a:pt x="5413756" y="0"/>
                  </a:lnTo>
                  <a:lnTo>
                    <a:pt x="5413756" y="3792220"/>
                  </a:lnTo>
                  <a:lnTo>
                    <a:pt x="0" y="3792220"/>
                  </a:lnTo>
                  <a:close/>
                </a:path>
              </a:pathLst>
            </a:custGeom>
            <a:solidFill>
              <a:srgbClr val="F7F8FC"/>
            </a:solidFill>
            <a:ln w="9525" cap="sq">
              <a:solidFill>
                <a:srgbClr val="E4E7F2"/>
              </a:solidFill>
              <a:prstDash val="solid"/>
              <a:miter/>
            </a:ln>
          </p:spPr>
        </p:sp>
      </p:grpSp>
      <p:grpSp>
        <p:nvGrpSpPr>
          <p:cNvPr name="Group 35" id="33"/>
          <p:cNvGrpSpPr/>
          <p:nvPr/>
        </p:nvGrpSpPr>
        <p:grpSpPr>
          <a:xfrm rot="0">
            <a:off x="9281160" y="3246120"/>
            <a:ext cx="4050792" cy="73152"/>
            <a:chOff x="0" y="0"/>
            <a:chExt cx="5401056" cy="97536"/>
          </a:xfrm>
        </p:grpSpPr>
        <p:sp>
          <p:nvSpPr>
            <p:cNvPr name="Freeform 36" id="34"/>
            <p:cNvSpPr/>
            <p:nvPr/>
          </p:nvSpPr>
          <p:spPr>
            <a:xfrm flipH="false" flipV="false" rot="0">
              <a:off x="0" y="0"/>
              <a:ext cx="5401056" cy="97536"/>
            </a:xfrm>
            <a:custGeom>
              <a:avLst/>
              <a:gdLst/>
              <a:ahLst/>
              <a:cxnLst/>
              <a:rect r="r" b="b" t="t" l="l"/>
              <a:pathLst>
                <a:path h="97536" w="5401056">
                  <a:moveTo>
                    <a:pt x="0" y="0"/>
                  </a:moveTo>
                  <a:lnTo>
                    <a:pt x="5401056" y="0"/>
                  </a:lnTo>
                  <a:lnTo>
                    <a:pt x="5401056" y="97536"/>
                  </a:lnTo>
                  <a:lnTo>
                    <a:pt x="0" y="97536"/>
                  </a:lnTo>
                  <a:close/>
                </a:path>
              </a:pathLst>
            </a:custGeom>
            <a:solidFill>
              <a:srgbClr val="D4AF37"/>
            </a:solidFill>
          </p:spPr>
        </p:sp>
      </p:grpSp>
      <p:sp>
        <p:nvSpPr>
          <p:cNvPr name="TextBox 37" id="35"/>
          <p:cNvSpPr txBox="true"/>
          <p:nvPr/>
        </p:nvSpPr>
        <p:spPr>
          <a:xfrm rot="0">
            <a:off x="9555480" y="3556635"/>
            <a:ext cx="3502152" cy="466725"/>
          </a:xfrm>
          <a:prstGeom prst="rect">
            <a:avLst/>
          </a:prstGeom>
        </p:spPr>
        <p:txBody>
          <a:bodyPr anchor="t" rtlCol="false" tIns="0" lIns="0" bIns="0" rIns="0">
            <a:spAutoFit/>
          </a:bodyPr>
          <a:lstStyle/>
          <a:p>
            <a:pPr algn="l">
              <a:lnSpc>
                <a:spcPts val="2760"/>
              </a:lnSpc>
            </a:pPr>
            <a:r>
              <a:rPr lang="en-US" sz="2300" b="true">
                <a:solidFill>
                  <a:srgbClr val="121C36"/>
                </a:solidFill>
                <a:latin typeface="Exo 2 Bold"/>
                <a:ea typeface="Exo 2 Bold"/>
                <a:cs typeface="Exo 2 Bold"/>
                <a:sym typeface="Exo 2 Bold"/>
              </a:rPr>
              <a:t>Next App v1</a:t>
            </a:r>
          </a:p>
        </p:txBody>
      </p:sp>
      <p:sp>
        <p:nvSpPr>
          <p:cNvPr name="TextBox 38" id="36"/>
          <p:cNvSpPr txBox="true"/>
          <p:nvPr/>
        </p:nvSpPr>
        <p:spPr>
          <a:xfrm rot="0">
            <a:off x="9555480" y="4242435"/>
            <a:ext cx="3502152" cy="1746885"/>
          </a:xfrm>
          <a:prstGeom prst="rect">
            <a:avLst/>
          </a:prstGeom>
        </p:spPr>
        <p:txBody>
          <a:bodyPr anchor="t" rtlCol="false" tIns="0" lIns="0" bIns="0" rIns="0">
            <a:spAutoFit/>
          </a:bodyPr>
          <a:lstStyle/>
          <a:p>
            <a:pPr algn="l">
              <a:lnSpc>
                <a:spcPts val="2160"/>
              </a:lnSpc>
            </a:pPr>
            <a:r>
              <a:rPr lang="en-US" sz="1800">
                <a:solidFill>
                  <a:srgbClr val="5A6A85"/>
                </a:solidFill>
                <a:latin typeface="Exo 2"/>
                <a:ea typeface="Exo 2"/>
                <a:cs typeface="Exo 2"/>
                <a:sym typeface="Exo 2"/>
              </a:rPr>
              <a:t>First version delivered by Exante.</a:t>
            </a:r>
          </a:p>
        </p:txBody>
      </p:sp>
      <p:sp>
        <p:nvSpPr>
          <p:cNvPr name="TextBox 39" id="37"/>
          <p:cNvSpPr txBox="true"/>
          <p:nvPr/>
        </p:nvSpPr>
        <p:spPr>
          <a:xfrm rot="0">
            <a:off x="13606272" y="2093595"/>
            <a:ext cx="4050792" cy="375285"/>
          </a:xfrm>
          <a:prstGeom prst="rect">
            <a:avLst/>
          </a:prstGeom>
        </p:spPr>
        <p:txBody>
          <a:bodyPr anchor="t" rtlCol="false" tIns="0" lIns="0" bIns="0" rIns="0">
            <a:spAutoFit/>
          </a:bodyPr>
          <a:lstStyle/>
          <a:p>
            <a:pPr algn="ctr">
              <a:lnSpc>
                <a:spcPts val="1919"/>
              </a:lnSpc>
            </a:pPr>
            <a:r>
              <a:rPr lang="en-US" sz="1599" b="true">
                <a:solidFill>
                  <a:srgbClr val="3C61B6"/>
                </a:solidFill>
                <a:latin typeface="Exo 2 Bold"/>
                <a:ea typeface="Exo 2 Bold"/>
                <a:cs typeface="Exo 2 Bold"/>
                <a:sym typeface="Exo 2 Bold"/>
              </a:rPr>
              <a:t>After 08 Oct</a:t>
            </a:r>
          </a:p>
        </p:txBody>
      </p:sp>
      <p:grpSp>
        <p:nvGrpSpPr>
          <p:cNvPr name="Group 40" id="38"/>
          <p:cNvGrpSpPr/>
          <p:nvPr/>
        </p:nvGrpSpPr>
        <p:grpSpPr>
          <a:xfrm rot="0">
            <a:off x="15432910" y="2590162"/>
            <a:ext cx="397507" cy="397507"/>
            <a:chOff x="0" y="0"/>
            <a:chExt cx="530009" cy="530009"/>
          </a:xfrm>
        </p:grpSpPr>
        <p:sp>
          <p:nvSpPr>
            <p:cNvPr name="Freeform 41" id="39"/>
            <p:cNvSpPr/>
            <p:nvPr/>
          </p:nvSpPr>
          <p:spPr>
            <a:xfrm flipH="false" flipV="false" rot="0">
              <a:off x="0" y="0"/>
              <a:ext cx="529971" cy="529971"/>
            </a:xfrm>
            <a:custGeom>
              <a:avLst/>
              <a:gdLst/>
              <a:ahLst/>
              <a:cxnLst/>
              <a:rect r="r" b="b" t="t" l="l"/>
              <a:pathLst>
                <a:path h="529971" w="529971">
                  <a:moveTo>
                    <a:pt x="0" y="265049"/>
                  </a:moveTo>
                  <a:cubicBezTo>
                    <a:pt x="0" y="118618"/>
                    <a:pt x="118618" y="0"/>
                    <a:pt x="265049" y="0"/>
                  </a:cubicBezTo>
                  <a:cubicBezTo>
                    <a:pt x="411480" y="0"/>
                    <a:pt x="529971" y="118618"/>
                    <a:pt x="529971" y="265049"/>
                  </a:cubicBezTo>
                  <a:cubicBezTo>
                    <a:pt x="529971" y="411480"/>
                    <a:pt x="411353" y="529971"/>
                    <a:pt x="265049" y="529971"/>
                  </a:cubicBezTo>
                  <a:cubicBezTo>
                    <a:pt x="118745" y="529971"/>
                    <a:pt x="0" y="411353"/>
                    <a:pt x="0" y="265049"/>
                  </a:cubicBezTo>
                  <a:close/>
                </a:path>
              </a:pathLst>
            </a:custGeom>
            <a:solidFill>
              <a:srgbClr val="FFFFFF"/>
            </a:solidFill>
            <a:ln w="31750" cap="sq">
              <a:solidFill>
                <a:srgbClr val="3C61B6"/>
              </a:solidFill>
              <a:prstDash val="solid"/>
              <a:miter/>
            </a:ln>
          </p:spPr>
        </p:sp>
      </p:grpSp>
      <p:grpSp>
        <p:nvGrpSpPr>
          <p:cNvPr name="Group 42" id="40"/>
          <p:cNvGrpSpPr/>
          <p:nvPr/>
        </p:nvGrpSpPr>
        <p:grpSpPr>
          <a:xfrm rot="0">
            <a:off x="13601510" y="3241358"/>
            <a:ext cx="4060317" cy="2844165"/>
            <a:chOff x="0" y="0"/>
            <a:chExt cx="5413756" cy="3792220"/>
          </a:xfrm>
        </p:grpSpPr>
        <p:sp>
          <p:nvSpPr>
            <p:cNvPr name="Freeform 43" id="41"/>
            <p:cNvSpPr/>
            <p:nvPr/>
          </p:nvSpPr>
          <p:spPr>
            <a:xfrm flipH="false" flipV="false" rot="0">
              <a:off x="0" y="0"/>
              <a:ext cx="5413756" cy="3792220"/>
            </a:xfrm>
            <a:custGeom>
              <a:avLst/>
              <a:gdLst/>
              <a:ahLst/>
              <a:cxnLst/>
              <a:rect r="r" b="b" t="t" l="l"/>
              <a:pathLst>
                <a:path h="3792220" w="5413756">
                  <a:moveTo>
                    <a:pt x="0" y="0"/>
                  </a:moveTo>
                  <a:lnTo>
                    <a:pt x="5413756" y="0"/>
                  </a:lnTo>
                  <a:lnTo>
                    <a:pt x="5413756" y="3792220"/>
                  </a:lnTo>
                  <a:lnTo>
                    <a:pt x="0" y="3792220"/>
                  </a:lnTo>
                  <a:close/>
                </a:path>
              </a:pathLst>
            </a:custGeom>
            <a:solidFill>
              <a:srgbClr val="F7F8FC"/>
            </a:solidFill>
            <a:ln w="9525" cap="sq">
              <a:solidFill>
                <a:srgbClr val="E4E7F2"/>
              </a:solidFill>
              <a:prstDash val="solid"/>
              <a:miter/>
            </a:ln>
          </p:spPr>
        </p:sp>
      </p:grpSp>
      <p:grpSp>
        <p:nvGrpSpPr>
          <p:cNvPr name="Group 44" id="42"/>
          <p:cNvGrpSpPr/>
          <p:nvPr/>
        </p:nvGrpSpPr>
        <p:grpSpPr>
          <a:xfrm rot="0">
            <a:off x="13606272" y="3246120"/>
            <a:ext cx="4050792" cy="73152"/>
            <a:chOff x="0" y="0"/>
            <a:chExt cx="5401056" cy="97536"/>
          </a:xfrm>
        </p:grpSpPr>
        <p:sp>
          <p:nvSpPr>
            <p:cNvPr name="Freeform 45" id="43"/>
            <p:cNvSpPr/>
            <p:nvPr/>
          </p:nvSpPr>
          <p:spPr>
            <a:xfrm flipH="false" flipV="false" rot="0">
              <a:off x="0" y="0"/>
              <a:ext cx="5401056" cy="97536"/>
            </a:xfrm>
            <a:custGeom>
              <a:avLst/>
              <a:gdLst/>
              <a:ahLst/>
              <a:cxnLst/>
              <a:rect r="r" b="b" t="t" l="l"/>
              <a:pathLst>
                <a:path h="97536" w="5401056">
                  <a:moveTo>
                    <a:pt x="0" y="0"/>
                  </a:moveTo>
                  <a:lnTo>
                    <a:pt x="5401056" y="0"/>
                  </a:lnTo>
                  <a:lnTo>
                    <a:pt x="5401056" y="97536"/>
                  </a:lnTo>
                  <a:lnTo>
                    <a:pt x="0" y="97536"/>
                  </a:lnTo>
                  <a:close/>
                </a:path>
              </a:pathLst>
            </a:custGeom>
            <a:solidFill>
              <a:srgbClr val="121C36"/>
            </a:solidFill>
          </p:spPr>
        </p:sp>
      </p:grpSp>
      <p:sp>
        <p:nvSpPr>
          <p:cNvPr name="TextBox 46" id="44"/>
          <p:cNvSpPr txBox="true"/>
          <p:nvPr/>
        </p:nvSpPr>
        <p:spPr>
          <a:xfrm rot="0">
            <a:off x="13880592" y="3556635"/>
            <a:ext cx="3502152" cy="466725"/>
          </a:xfrm>
          <a:prstGeom prst="rect">
            <a:avLst/>
          </a:prstGeom>
        </p:spPr>
        <p:txBody>
          <a:bodyPr anchor="t" rtlCol="false" tIns="0" lIns="0" bIns="0" rIns="0">
            <a:spAutoFit/>
          </a:bodyPr>
          <a:lstStyle/>
          <a:p>
            <a:pPr algn="l">
              <a:lnSpc>
                <a:spcPts val="2760"/>
              </a:lnSpc>
            </a:pPr>
            <a:r>
              <a:rPr lang="en-US" sz="2300" b="true">
                <a:solidFill>
                  <a:srgbClr val="121C36"/>
                </a:solidFill>
                <a:latin typeface="Exo 2 Bold"/>
                <a:ea typeface="Exo 2 Bold"/>
                <a:cs typeface="Exo 2 Bold"/>
                <a:sym typeface="Exo 2 Bold"/>
              </a:rPr>
              <a:t>Independent QA</a:t>
            </a:r>
          </a:p>
        </p:txBody>
      </p:sp>
      <p:sp>
        <p:nvSpPr>
          <p:cNvPr name="TextBox 47" id="45"/>
          <p:cNvSpPr txBox="true"/>
          <p:nvPr/>
        </p:nvSpPr>
        <p:spPr>
          <a:xfrm rot="0">
            <a:off x="13880592" y="4242435"/>
            <a:ext cx="3502152" cy="1746885"/>
          </a:xfrm>
          <a:prstGeom prst="rect">
            <a:avLst/>
          </a:prstGeom>
        </p:spPr>
        <p:txBody>
          <a:bodyPr anchor="t" rtlCol="false" tIns="0" lIns="0" bIns="0" rIns="0">
            <a:spAutoFit/>
          </a:bodyPr>
          <a:lstStyle/>
          <a:p>
            <a:pPr algn="l">
              <a:lnSpc>
                <a:spcPts val="2160"/>
              </a:lnSpc>
            </a:pPr>
            <a:r>
              <a:rPr lang="en-US" sz="1800">
                <a:solidFill>
                  <a:srgbClr val="5A6A85"/>
                </a:solidFill>
                <a:latin typeface="Exo 2"/>
                <a:ea typeface="Exo 2"/>
                <a:cs typeface="Exo 2"/>
                <a:sym typeface="Exo 2"/>
              </a:rPr>
              <a:t>QATestLab tests v1 against the prepared cases. Sanity test date to be confirmed.</a:t>
            </a:r>
          </a:p>
        </p:txBody>
      </p:sp>
      <p:grpSp>
        <p:nvGrpSpPr>
          <p:cNvPr name="Group 48" id="46"/>
          <p:cNvGrpSpPr/>
          <p:nvPr/>
        </p:nvGrpSpPr>
        <p:grpSpPr>
          <a:xfrm rot="0">
            <a:off x="626173" y="6441758"/>
            <a:ext cx="17035653" cy="2249805"/>
            <a:chOff x="0" y="0"/>
            <a:chExt cx="22714204" cy="2999740"/>
          </a:xfrm>
        </p:grpSpPr>
        <p:sp>
          <p:nvSpPr>
            <p:cNvPr name="Freeform 49" id="47"/>
            <p:cNvSpPr/>
            <p:nvPr/>
          </p:nvSpPr>
          <p:spPr>
            <a:xfrm flipH="false" flipV="false" rot="0">
              <a:off x="0" y="0"/>
              <a:ext cx="22714204" cy="2999740"/>
            </a:xfrm>
            <a:custGeom>
              <a:avLst/>
              <a:gdLst/>
              <a:ahLst/>
              <a:cxnLst/>
              <a:rect r="r" b="b" t="t" l="l"/>
              <a:pathLst>
                <a:path h="2999740" w="22714204">
                  <a:moveTo>
                    <a:pt x="0" y="0"/>
                  </a:moveTo>
                  <a:lnTo>
                    <a:pt x="22714204" y="0"/>
                  </a:lnTo>
                  <a:lnTo>
                    <a:pt x="22714204" y="2999740"/>
                  </a:lnTo>
                  <a:lnTo>
                    <a:pt x="0" y="2999740"/>
                  </a:lnTo>
                  <a:close/>
                </a:path>
              </a:pathLst>
            </a:custGeom>
            <a:solidFill>
              <a:srgbClr val="F7F8FC"/>
            </a:solidFill>
            <a:ln w="9525" cap="sq">
              <a:solidFill>
                <a:srgbClr val="E4E7F2"/>
              </a:solidFill>
              <a:prstDash val="solid"/>
              <a:miter/>
            </a:ln>
          </p:spPr>
        </p:sp>
      </p:grpSp>
      <p:grpSp>
        <p:nvGrpSpPr>
          <p:cNvPr name="Group 50" id="48"/>
          <p:cNvGrpSpPr/>
          <p:nvPr/>
        </p:nvGrpSpPr>
        <p:grpSpPr>
          <a:xfrm rot="0">
            <a:off x="630936" y="6446520"/>
            <a:ext cx="91440" cy="2240280"/>
            <a:chOff x="0" y="0"/>
            <a:chExt cx="121920" cy="2987040"/>
          </a:xfrm>
        </p:grpSpPr>
        <p:sp>
          <p:nvSpPr>
            <p:cNvPr name="Freeform 51" id="49"/>
            <p:cNvSpPr/>
            <p:nvPr/>
          </p:nvSpPr>
          <p:spPr>
            <a:xfrm flipH="false" flipV="false" rot="0">
              <a:off x="0" y="0"/>
              <a:ext cx="121920" cy="2987040"/>
            </a:xfrm>
            <a:custGeom>
              <a:avLst/>
              <a:gdLst/>
              <a:ahLst/>
              <a:cxnLst/>
              <a:rect r="r" b="b" t="t" l="l"/>
              <a:pathLst>
                <a:path h="2987040" w="121920">
                  <a:moveTo>
                    <a:pt x="0" y="0"/>
                  </a:moveTo>
                  <a:lnTo>
                    <a:pt x="121920" y="0"/>
                  </a:lnTo>
                  <a:lnTo>
                    <a:pt x="121920" y="2987040"/>
                  </a:lnTo>
                  <a:lnTo>
                    <a:pt x="0" y="2987040"/>
                  </a:lnTo>
                  <a:close/>
                </a:path>
              </a:pathLst>
            </a:custGeom>
            <a:solidFill>
              <a:srgbClr val="3C61B6"/>
            </a:solidFill>
          </p:spPr>
        </p:sp>
      </p:grpSp>
      <p:sp>
        <p:nvSpPr>
          <p:cNvPr name="TextBox 52" id="50"/>
          <p:cNvSpPr txBox="true"/>
          <p:nvPr/>
        </p:nvSpPr>
        <p:spPr>
          <a:xfrm rot="0">
            <a:off x="1005840" y="6711315"/>
            <a:ext cx="16367760" cy="375285"/>
          </a:xfrm>
          <a:prstGeom prst="rect">
            <a:avLst/>
          </a:prstGeom>
        </p:spPr>
        <p:txBody>
          <a:bodyPr anchor="t" rtlCol="false" tIns="0" lIns="0" bIns="0" rIns="0">
            <a:spAutoFit/>
          </a:bodyPr>
          <a:lstStyle/>
          <a:p>
            <a:pPr algn="l">
              <a:lnSpc>
                <a:spcPts val="1800"/>
              </a:lnSpc>
            </a:pPr>
            <a:r>
              <a:rPr lang="en-US" sz="1500" b="true">
                <a:solidFill>
                  <a:srgbClr val="3C61B6"/>
                </a:solidFill>
                <a:latin typeface="Exo 2 Bold"/>
                <a:ea typeface="Exo 2 Bold"/>
                <a:cs typeface="Exo 2 Bold"/>
                <a:sym typeface="Exo 2 Bold"/>
              </a:rPr>
              <a:t>WHY IT MATTERS</a:t>
            </a:r>
          </a:p>
        </p:txBody>
      </p:sp>
      <p:sp>
        <p:nvSpPr>
          <p:cNvPr name="TextBox 53" id="51"/>
          <p:cNvSpPr txBox="true"/>
          <p:nvPr/>
        </p:nvSpPr>
        <p:spPr>
          <a:xfrm rot="0">
            <a:off x="1005840" y="7214235"/>
            <a:ext cx="16367760" cy="1289685"/>
          </a:xfrm>
          <a:prstGeom prst="rect">
            <a:avLst/>
          </a:prstGeom>
        </p:spPr>
        <p:txBody>
          <a:bodyPr anchor="t" rtlCol="false" tIns="0" lIns="0" bIns="0" rIns="0">
            <a:spAutoFit/>
          </a:bodyPr>
          <a:lstStyle/>
          <a:p>
            <a:pPr algn="l">
              <a:lnSpc>
                <a:spcPts val="2520"/>
              </a:lnSpc>
            </a:pPr>
            <a:r>
              <a:rPr lang="en-US" sz="2100">
                <a:solidFill>
                  <a:srgbClr val="1B1B3A"/>
                </a:solidFill>
                <a:latin typeface="Exo 2"/>
                <a:ea typeface="Exo 2"/>
                <a:cs typeface="Exo 2"/>
                <a:sym typeface="Exo 2"/>
              </a:rPr>
              <a:t>QATestLab gives an independent quality check before the Next App reaches users. Test cases are written while Exante builds v1, so testing can start as soon as v1 arrives on 08 Oct.</a:t>
            </a:r>
          </a:p>
        </p:txBody>
      </p:sp>
      <p:sp>
        <p:nvSpPr>
          <p:cNvPr name="Freeform 54" id="52"/>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0"/>
            <a:stretch>
              <a:fillRect l="0" t="0" r="0" b="0"/>
            </a:stretch>
          </a:blipFill>
        </p:spPr>
      </p:sp>
      <p:grpSp>
        <p:nvGrpSpPr>
          <p:cNvPr name="Group 6" id="53"/>
          <p:cNvGrpSpPr/>
          <p:nvPr/>
        </p:nvGrpSpPr>
        <p:grpSpPr>
          <a:xfrm rot="0">
            <a:off x="850392" y="297596"/>
            <a:ext cx="13990320" cy="1124712"/>
            <a:chOff x="0" y="0"/>
            <a:chExt cx="18653760" cy="1499616"/>
          </a:xfrm>
        </p:grpSpPr>
        <p:sp>
          <p:nvSpPr>
            <p:cNvPr name="Freeform 7" id="54"/>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5">
                <a:alphaModFix amt="0"/>
              </a:blip>
              <a:stretch>
                <a:fillRect l="0" t="-192374" r="0" b="-192374"/>
              </a:stretch>
            </a:blipFill>
          </p:spPr>
        </p:sp>
        <p:sp>
          <p:nvSpPr>
            <p:cNvPr name="TextBox 8" id="55"/>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Next App: Exante and QATestLab</a:t>
              </a:r>
            </a:p>
          </p:txBody>
        </p:sp>
      </p:grpSp>
      <p:grpSp>
        <p:nvGrpSpPr>
          <p:cNvPr name="Group 9" id="56"/>
          <p:cNvGrpSpPr/>
          <p:nvPr/>
        </p:nvGrpSpPr>
        <p:grpSpPr>
          <a:xfrm rot="0">
            <a:off x="15457932" y="571916"/>
            <a:ext cx="1988820" cy="576072"/>
            <a:chOff x="0" y="0"/>
            <a:chExt cx="2651760" cy="768096"/>
          </a:xfrm>
        </p:grpSpPr>
        <p:sp>
          <p:nvSpPr>
            <p:cNvPr name="Freeform 10" id="57"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9"/>
              <a:stretch>
                <a:fillRect l="0" t="-26" r="0" b="-26"/>
              </a:stretch>
            </a:blipFill>
          </p:spPr>
        </p:sp>
      </p:grpSp>
      <p:sp>
        <p:nvSpPr>
          <p:cNvPr name="TextBox 13" id="58"/>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IT UPDATE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8"/>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TextBox 9" id="7"/>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CURRENT APP  |  SECURITY COMPLIANCE  |  NOT THE NEXT APP</a:t>
            </a:r>
          </a:p>
        </p:txBody>
      </p:sp>
      <p:sp>
        <p:nvSpPr>
          <p:cNvPr name="TextBox 10" id="8"/>
          <p:cNvSpPr txBox="true"/>
          <p:nvPr/>
        </p:nvSpPr>
        <p:spPr>
          <a:xfrm rot="0">
            <a:off x="630936" y="2002155"/>
            <a:ext cx="17026128" cy="832485"/>
          </a:xfrm>
          <a:prstGeom prst="rect">
            <a:avLst/>
          </a:prstGeom>
        </p:spPr>
        <p:txBody>
          <a:bodyPr anchor="t" rtlCol="false" tIns="0" lIns="0" bIns="0" rIns="0">
            <a:spAutoFit/>
          </a:bodyPr>
          <a:lstStyle/>
          <a:p>
            <a:pPr algn="l">
              <a:lnSpc>
                <a:spcPts val="2040"/>
              </a:lnSpc>
            </a:pPr>
            <a:r>
              <a:rPr lang="en-US" sz="1700">
                <a:solidFill>
                  <a:srgbClr val="1B1B3A"/>
                </a:solidFill>
                <a:latin typeface="Exo 2"/>
                <a:ea typeface="Exo 2"/>
                <a:cs typeface="Exo 2"/>
                <a:sym typeface="Exo 2"/>
              </a:rPr>
              <a:t>Google required a security API update, republished by 01 Nov 2026, to keep the current app on Google Play. We ran two internal test rounds and found no major bugs.</a:t>
            </a:r>
          </a:p>
        </p:txBody>
      </p:sp>
      <p:grpSp>
        <p:nvGrpSpPr>
          <p:cNvPr name="Group 11" id="9"/>
          <p:cNvGrpSpPr/>
          <p:nvPr/>
        </p:nvGrpSpPr>
        <p:grpSpPr>
          <a:xfrm rot="0">
            <a:off x="626173" y="3012758"/>
            <a:ext cx="5130165" cy="5587365"/>
            <a:chOff x="0" y="0"/>
            <a:chExt cx="6840220" cy="7449820"/>
          </a:xfrm>
        </p:grpSpPr>
        <p:sp>
          <p:nvSpPr>
            <p:cNvPr name="Freeform 12" id="10"/>
            <p:cNvSpPr/>
            <p:nvPr/>
          </p:nvSpPr>
          <p:spPr>
            <a:xfrm flipH="false" flipV="false" rot="0">
              <a:off x="0" y="0"/>
              <a:ext cx="6840220" cy="7449820"/>
            </a:xfrm>
            <a:custGeom>
              <a:avLst/>
              <a:gdLst/>
              <a:ahLst/>
              <a:cxnLst/>
              <a:rect r="r" b="b" t="t" l="l"/>
              <a:pathLst>
                <a:path h="7449820" w="6840220">
                  <a:moveTo>
                    <a:pt x="0" y="0"/>
                  </a:moveTo>
                  <a:lnTo>
                    <a:pt x="6840220" y="0"/>
                  </a:lnTo>
                  <a:lnTo>
                    <a:pt x="6840220" y="7449820"/>
                  </a:lnTo>
                  <a:lnTo>
                    <a:pt x="0" y="7449820"/>
                  </a:lnTo>
                  <a:close/>
                </a:path>
              </a:pathLst>
            </a:custGeom>
            <a:solidFill>
              <a:srgbClr val="F7F8FC"/>
            </a:solidFill>
            <a:ln w="9525" cap="sq">
              <a:solidFill>
                <a:srgbClr val="E4E7F2"/>
              </a:solidFill>
              <a:prstDash val="solid"/>
              <a:miter/>
            </a:ln>
          </p:spPr>
        </p:sp>
      </p:grpSp>
      <p:sp>
        <p:nvSpPr>
          <p:cNvPr name="TextBox 13" id="11"/>
          <p:cNvSpPr txBox="true"/>
          <p:nvPr/>
        </p:nvSpPr>
        <p:spPr>
          <a:xfrm rot="0">
            <a:off x="905256" y="3236595"/>
            <a:ext cx="4572000" cy="1106805"/>
          </a:xfrm>
          <a:prstGeom prst="rect">
            <a:avLst/>
          </a:prstGeom>
        </p:spPr>
        <p:txBody>
          <a:bodyPr anchor="t" rtlCol="false" tIns="0" lIns="0" bIns="0" rIns="0">
            <a:spAutoFit/>
          </a:bodyPr>
          <a:lstStyle/>
          <a:p>
            <a:pPr algn="l">
              <a:lnSpc>
                <a:spcPts val="7200"/>
              </a:lnSpc>
            </a:pPr>
            <a:r>
              <a:rPr lang="en-US" sz="6000" b="true">
                <a:solidFill>
                  <a:srgbClr val="1E9E6B"/>
                </a:solidFill>
                <a:latin typeface="Exo 2 Bold"/>
                <a:ea typeface="Exo 2 Bold"/>
                <a:cs typeface="Exo 2 Bold"/>
                <a:sym typeface="Exo 2 Bold"/>
              </a:rPr>
              <a:t>99.4%</a:t>
            </a:r>
          </a:p>
        </p:txBody>
      </p:sp>
      <p:sp>
        <p:nvSpPr>
          <p:cNvPr name="TextBox 14" id="12"/>
          <p:cNvSpPr txBox="true"/>
          <p:nvPr/>
        </p:nvSpPr>
        <p:spPr>
          <a:xfrm rot="0">
            <a:off x="905256" y="4379595"/>
            <a:ext cx="4572000" cy="375285"/>
          </a:xfrm>
          <a:prstGeom prst="rect">
            <a:avLst/>
          </a:prstGeom>
        </p:spPr>
        <p:txBody>
          <a:bodyPr anchor="t" rtlCol="false" tIns="0" lIns="0" bIns="0" rIns="0">
            <a:spAutoFit/>
          </a:bodyPr>
          <a:lstStyle/>
          <a:p>
            <a:pPr algn="l">
              <a:lnSpc>
                <a:spcPts val="1919"/>
              </a:lnSpc>
            </a:pPr>
            <a:r>
              <a:rPr lang="en-US" sz="1599">
                <a:solidFill>
                  <a:srgbClr val="5A6A85"/>
                </a:solidFill>
                <a:latin typeface="Exo 2"/>
                <a:ea typeface="Exo 2"/>
                <a:cs typeface="Exo 2"/>
                <a:sym typeface="Exo 2"/>
              </a:rPr>
              <a:t>pass rate (158 of 159 executed)</a:t>
            </a:r>
          </a:p>
        </p:txBody>
      </p:sp>
      <p:grpSp>
        <p:nvGrpSpPr>
          <p:cNvPr name="Group 15" id="13"/>
          <p:cNvGrpSpPr/>
          <p:nvPr/>
        </p:nvGrpSpPr>
        <p:grpSpPr>
          <a:xfrm rot="0">
            <a:off x="905256" y="5029200"/>
            <a:ext cx="3969096" cy="457200"/>
            <a:chOff x="0" y="0"/>
            <a:chExt cx="5292128" cy="609600"/>
          </a:xfrm>
        </p:grpSpPr>
        <p:sp>
          <p:nvSpPr>
            <p:cNvPr name="Freeform 16" id="14"/>
            <p:cNvSpPr/>
            <p:nvPr/>
          </p:nvSpPr>
          <p:spPr>
            <a:xfrm flipH="false" flipV="false" rot="0">
              <a:off x="0" y="0"/>
              <a:ext cx="5292090" cy="609600"/>
            </a:xfrm>
            <a:custGeom>
              <a:avLst/>
              <a:gdLst/>
              <a:ahLst/>
              <a:cxnLst/>
              <a:rect r="r" b="b" t="t" l="l"/>
              <a:pathLst>
                <a:path h="609600" w="5292090">
                  <a:moveTo>
                    <a:pt x="0" y="0"/>
                  </a:moveTo>
                  <a:lnTo>
                    <a:pt x="5292090" y="0"/>
                  </a:lnTo>
                  <a:lnTo>
                    <a:pt x="5292090" y="609600"/>
                  </a:lnTo>
                  <a:lnTo>
                    <a:pt x="0" y="609600"/>
                  </a:lnTo>
                  <a:close/>
                </a:path>
              </a:pathLst>
            </a:custGeom>
            <a:solidFill>
              <a:srgbClr val="1E9E6B"/>
            </a:solidFill>
          </p:spPr>
        </p:sp>
      </p:grpSp>
      <p:grpSp>
        <p:nvGrpSpPr>
          <p:cNvPr name="Group 17" id="15"/>
          <p:cNvGrpSpPr/>
          <p:nvPr/>
        </p:nvGrpSpPr>
        <p:grpSpPr>
          <a:xfrm rot="0">
            <a:off x="4874352" y="5029200"/>
            <a:ext cx="477298" cy="457200"/>
            <a:chOff x="0" y="0"/>
            <a:chExt cx="636397" cy="609600"/>
          </a:xfrm>
        </p:grpSpPr>
        <p:sp>
          <p:nvSpPr>
            <p:cNvPr name="Freeform 18" id="16"/>
            <p:cNvSpPr/>
            <p:nvPr/>
          </p:nvSpPr>
          <p:spPr>
            <a:xfrm flipH="false" flipV="false" rot="0">
              <a:off x="0" y="0"/>
              <a:ext cx="636397" cy="609600"/>
            </a:xfrm>
            <a:custGeom>
              <a:avLst/>
              <a:gdLst/>
              <a:ahLst/>
              <a:cxnLst/>
              <a:rect r="r" b="b" t="t" l="l"/>
              <a:pathLst>
                <a:path h="609600" w="636397">
                  <a:moveTo>
                    <a:pt x="0" y="0"/>
                  </a:moveTo>
                  <a:lnTo>
                    <a:pt x="636397" y="0"/>
                  </a:lnTo>
                  <a:lnTo>
                    <a:pt x="636397" y="609600"/>
                  </a:lnTo>
                  <a:lnTo>
                    <a:pt x="0" y="609600"/>
                  </a:lnTo>
                  <a:close/>
                </a:path>
              </a:pathLst>
            </a:custGeom>
            <a:solidFill>
              <a:srgbClr val="D98C1F"/>
            </a:solidFill>
          </p:spPr>
        </p:sp>
      </p:grpSp>
      <p:grpSp>
        <p:nvGrpSpPr>
          <p:cNvPr name="Group 19" id="17"/>
          <p:cNvGrpSpPr/>
          <p:nvPr/>
        </p:nvGrpSpPr>
        <p:grpSpPr>
          <a:xfrm rot="0">
            <a:off x="5351650" y="5029200"/>
            <a:ext cx="100479" cy="457200"/>
            <a:chOff x="0" y="0"/>
            <a:chExt cx="133972" cy="609600"/>
          </a:xfrm>
        </p:grpSpPr>
        <p:sp>
          <p:nvSpPr>
            <p:cNvPr name="Freeform 20" id="18"/>
            <p:cNvSpPr/>
            <p:nvPr/>
          </p:nvSpPr>
          <p:spPr>
            <a:xfrm flipH="false" flipV="false" rot="0">
              <a:off x="0" y="0"/>
              <a:ext cx="133985" cy="609600"/>
            </a:xfrm>
            <a:custGeom>
              <a:avLst/>
              <a:gdLst/>
              <a:ahLst/>
              <a:cxnLst/>
              <a:rect r="r" b="b" t="t" l="l"/>
              <a:pathLst>
                <a:path h="609600" w="133985">
                  <a:moveTo>
                    <a:pt x="0" y="0"/>
                  </a:moveTo>
                  <a:lnTo>
                    <a:pt x="133985" y="0"/>
                  </a:lnTo>
                  <a:lnTo>
                    <a:pt x="133985" y="609600"/>
                  </a:lnTo>
                  <a:lnTo>
                    <a:pt x="0" y="609600"/>
                  </a:lnTo>
                  <a:close/>
                </a:path>
              </a:pathLst>
            </a:custGeom>
            <a:solidFill>
              <a:srgbClr val="8A93A8"/>
            </a:solidFill>
          </p:spPr>
        </p:sp>
      </p:grpSp>
      <p:grpSp>
        <p:nvGrpSpPr>
          <p:cNvPr name="Group 21" id="19"/>
          <p:cNvGrpSpPr/>
          <p:nvPr/>
        </p:nvGrpSpPr>
        <p:grpSpPr>
          <a:xfrm rot="0">
            <a:off x="5452139" y="5029200"/>
            <a:ext cx="36576" cy="457200"/>
            <a:chOff x="0" y="0"/>
            <a:chExt cx="48768" cy="609600"/>
          </a:xfrm>
        </p:grpSpPr>
        <p:sp>
          <p:nvSpPr>
            <p:cNvPr name="Freeform 22" id="20"/>
            <p:cNvSpPr/>
            <p:nvPr/>
          </p:nvSpPr>
          <p:spPr>
            <a:xfrm flipH="false" flipV="false" rot="0">
              <a:off x="0" y="0"/>
              <a:ext cx="48768" cy="609600"/>
            </a:xfrm>
            <a:custGeom>
              <a:avLst/>
              <a:gdLst/>
              <a:ahLst/>
              <a:cxnLst/>
              <a:rect r="r" b="b" t="t" l="l"/>
              <a:pathLst>
                <a:path h="609600" w="48768">
                  <a:moveTo>
                    <a:pt x="0" y="0"/>
                  </a:moveTo>
                  <a:lnTo>
                    <a:pt x="48768" y="0"/>
                  </a:lnTo>
                  <a:lnTo>
                    <a:pt x="48768" y="609600"/>
                  </a:lnTo>
                  <a:lnTo>
                    <a:pt x="0" y="609600"/>
                  </a:lnTo>
                  <a:close/>
                </a:path>
              </a:pathLst>
            </a:custGeom>
            <a:solidFill>
              <a:srgbClr val="C0392B"/>
            </a:solidFill>
          </p:spPr>
        </p:sp>
      </p:grpSp>
      <p:grpSp>
        <p:nvGrpSpPr>
          <p:cNvPr name="Group 23" id="21"/>
          <p:cNvGrpSpPr/>
          <p:nvPr/>
        </p:nvGrpSpPr>
        <p:grpSpPr>
          <a:xfrm rot="0">
            <a:off x="905256" y="5833872"/>
            <a:ext cx="201168" cy="201168"/>
            <a:chOff x="0" y="0"/>
            <a:chExt cx="268224" cy="268224"/>
          </a:xfrm>
        </p:grpSpPr>
        <p:sp>
          <p:nvSpPr>
            <p:cNvPr name="Freeform 24" id="22"/>
            <p:cNvSpPr/>
            <p:nvPr/>
          </p:nvSpPr>
          <p:spPr>
            <a:xfrm flipH="false" flipV="false" rot="0">
              <a:off x="0" y="0"/>
              <a:ext cx="268224" cy="268224"/>
            </a:xfrm>
            <a:custGeom>
              <a:avLst/>
              <a:gdLst/>
              <a:ahLst/>
              <a:cxnLst/>
              <a:rect r="r" b="b" t="t" l="l"/>
              <a:pathLst>
                <a:path h="268224" w="268224">
                  <a:moveTo>
                    <a:pt x="0" y="0"/>
                  </a:moveTo>
                  <a:lnTo>
                    <a:pt x="268224" y="0"/>
                  </a:lnTo>
                  <a:lnTo>
                    <a:pt x="268224" y="268224"/>
                  </a:lnTo>
                  <a:lnTo>
                    <a:pt x="0" y="268224"/>
                  </a:lnTo>
                  <a:close/>
                </a:path>
              </a:pathLst>
            </a:custGeom>
            <a:solidFill>
              <a:srgbClr val="1E9E6B"/>
            </a:solidFill>
          </p:spPr>
        </p:sp>
      </p:grpSp>
      <p:sp>
        <p:nvSpPr>
          <p:cNvPr name="TextBox 25" id="23"/>
          <p:cNvSpPr txBox="true"/>
          <p:nvPr/>
        </p:nvSpPr>
        <p:spPr>
          <a:xfrm rot="0">
            <a:off x="1225296" y="5751195"/>
            <a:ext cx="1920240" cy="375285"/>
          </a:xfrm>
          <a:prstGeom prst="rect">
            <a:avLst/>
          </a:prstGeom>
        </p:spPr>
        <p:txBody>
          <a:bodyPr anchor="t" rtlCol="false" tIns="0" lIns="0" bIns="0" rIns="0">
            <a:spAutoFit/>
          </a:bodyPr>
          <a:lstStyle/>
          <a:p>
            <a:pPr algn="l">
              <a:lnSpc>
                <a:spcPts val="1919"/>
              </a:lnSpc>
            </a:pPr>
            <a:r>
              <a:rPr lang="en-US" sz="1599">
                <a:solidFill>
                  <a:srgbClr val="1B1B3A"/>
                </a:solidFill>
                <a:latin typeface="Exo 2"/>
                <a:ea typeface="Exo 2"/>
                <a:cs typeface="Exo 2"/>
                <a:sym typeface="Exo 2"/>
              </a:rPr>
              <a:t>Passed 158</a:t>
            </a:r>
          </a:p>
        </p:txBody>
      </p:sp>
      <p:grpSp>
        <p:nvGrpSpPr>
          <p:cNvPr name="Group 26" id="24"/>
          <p:cNvGrpSpPr/>
          <p:nvPr/>
        </p:nvGrpSpPr>
        <p:grpSpPr>
          <a:xfrm rot="0">
            <a:off x="3191256" y="5833872"/>
            <a:ext cx="201168" cy="201168"/>
            <a:chOff x="0" y="0"/>
            <a:chExt cx="268224" cy="268224"/>
          </a:xfrm>
        </p:grpSpPr>
        <p:sp>
          <p:nvSpPr>
            <p:cNvPr name="Freeform 27" id="25"/>
            <p:cNvSpPr/>
            <p:nvPr/>
          </p:nvSpPr>
          <p:spPr>
            <a:xfrm flipH="false" flipV="false" rot="0">
              <a:off x="0" y="0"/>
              <a:ext cx="268224" cy="268224"/>
            </a:xfrm>
            <a:custGeom>
              <a:avLst/>
              <a:gdLst/>
              <a:ahLst/>
              <a:cxnLst/>
              <a:rect r="r" b="b" t="t" l="l"/>
              <a:pathLst>
                <a:path h="268224" w="268224">
                  <a:moveTo>
                    <a:pt x="0" y="0"/>
                  </a:moveTo>
                  <a:lnTo>
                    <a:pt x="268224" y="0"/>
                  </a:lnTo>
                  <a:lnTo>
                    <a:pt x="268224" y="268224"/>
                  </a:lnTo>
                  <a:lnTo>
                    <a:pt x="0" y="268224"/>
                  </a:lnTo>
                  <a:close/>
                </a:path>
              </a:pathLst>
            </a:custGeom>
            <a:solidFill>
              <a:srgbClr val="D98C1F"/>
            </a:solidFill>
          </p:spPr>
        </p:sp>
      </p:grpSp>
      <p:sp>
        <p:nvSpPr>
          <p:cNvPr name="TextBox 28" id="26"/>
          <p:cNvSpPr txBox="true"/>
          <p:nvPr/>
        </p:nvSpPr>
        <p:spPr>
          <a:xfrm rot="0">
            <a:off x="3511296" y="5751195"/>
            <a:ext cx="1920240" cy="375285"/>
          </a:xfrm>
          <a:prstGeom prst="rect">
            <a:avLst/>
          </a:prstGeom>
        </p:spPr>
        <p:txBody>
          <a:bodyPr anchor="t" rtlCol="false" tIns="0" lIns="0" bIns="0" rIns="0">
            <a:spAutoFit/>
          </a:bodyPr>
          <a:lstStyle/>
          <a:p>
            <a:pPr algn="l">
              <a:lnSpc>
                <a:spcPts val="1919"/>
              </a:lnSpc>
            </a:pPr>
            <a:r>
              <a:rPr lang="en-US" sz="1599">
                <a:solidFill>
                  <a:srgbClr val="1B1B3A"/>
                </a:solidFill>
                <a:latin typeface="Exo 2"/>
                <a:ea typeface="Exo 2"/>
                <a:cs typeface="Exo 2"/>
                <a:sym typeface="Exo 2"/>
              </a:rPr>
              <a:t>Skipped 19</a:t>
            </a:r>
          </a:p>
        </p:txBody>
      </p:sp>
      <p:grpSp>
        <p:nvGrpSpPr>
          <p:cNvPr name="Group 29" id="27"/>
          <p:cNvGrpSpPr/>
          <p:nvPr/>
        </p:nvGrpSpPr>
        <p:grpSpPr>
          <a:xfrm rot="0">
            <a:off x="905256" y="6336792"/>
            <a:ext cx="201168" cy="201168"/>
            <a:chOff x="0" y="0"/>
            <a:chExt cx="268224" cy="268224"/>
          </a:xfrm>
        </p:grpSpPr>
        <p:sp>
          <p:nvSpPr>
            <p:cNvPr name="Freeform 30" id="28"/>
            <p:cNvSpPr/>
            <p:nvPr/>
          </p:nvSpPr>
          <p:spPr>
            <a:xfrm flipH="false" flipV="false" rot="0">
              <a:off x="0" y="0"/>
              <a:ext cx="268224" cy="268224"/>
            </a:xfrm>
            <a:custGeom>
              <a:avLst/>
              <a:gdLst/>
              <a:ahLst/>
              <a:cxnLst/>
              <a:rect r="r" b="b" t="t" l="l"/>
              <a:pathLst>
                <a:path h="268224" w="268224">
                  <a:moveTo>
                    <a:pt x="0" y="0"/>
                  </a:moveTo>
                  <a:lnTo>
                    <a:pt x="268224" y="0"/>
                  </a:lnTo>
                  <a:lnTo>
                    <a:pt x="268224" y="268224"/>
                  </a:lnTo>
                  <a:lnTo>
                    <a:pt x="0" y="268224"/>
                  </a:lnTo>
                  <a:close/>
                </a:path>
              </a:pathLst>
            </a:custGeom>
            <a:solidFill>
              <a:srgbClr val="8A93A8"/>
            </a:solidFill>
          </p:spPr>
        </p:sp>
      </p:grpSp>
      <p:sp>
        <p:nvSpPr>
          <p:cNvPr name="TextBox 31" id="29"/>
          <p:cNvSpPr txBox="true"/>
          <p:nvPr/>
        </p:nvSpPr>
        <p:spPr>
          <a:xfrm rot="0">
            <a:off x="1225296" y="6254115"/>
            <a:ext cx="1920240" cy="375285"/>
          </a:xfrm>
          <a:prstGeom prst="rect">
            <a:avLst/>
          </a:prstGeom>
        </p:spPr>
        <p:txBody>
          <a:bodyPr anchor="t" rtlCol="false" tIns="0" lIns="0" bIns="0" rIns="0">
            <a:spAutoFit/>
          </a:bodyPr>
          <a:lstStyle/>
          <a:p>
            <a:pPr algn="l">
              <a:lnSpc>
                <a:spcPts val="1919"/>
              </a:lnSpc>
            </a:pPr>
            <a:r>
              <a:rPr lang="en-US" sz="1599">
                <a:solidFill>
                  <a:srgbClr val="1B1B3A"/>
                </a:solidFill>
                <a:latin typeface="Exo 2"/>
                <a:ea typeface="Exo 2"/>
                <a:cs typeface="Exo 2"/>
                <a:sym typeface="Exo 2"/>
              </a:rPr>
              <a:t>N/A 4</a:t>
            </a:r>
          </a:p>
        </p:txBody>
      </p:sp>
      <p:grpSp>
        <p:nvGrpSpPr>
          <p:cNvPr name="Group 32" id="30"/>
          <p:cNvGrpSpPr/>
          <p:nvPr/>
        </p:nvGrpSpPr>
        <p:grpSpPr>
          <a:xfrm rot="0">
            <a:off x="3191256" y="6336792"/>
            <a:ext cx="201168" cy="201168"/>
            <a:chOff x="0" y="0"/>
            <a:chExt cx="268224" cy="268224"/>
          </a:xfrm>
        </p:grpSpPr>
        <p:sp>
          <p:nvSpPr>
            <p:cNvPr name="Freeform 33" id="31"/>
            <p:cNvSpPr/>
            <p:nvPr/>
          </p:nvSpPr>
          <p:spPr>
            <a:xfrm flipH="false" flipV="false" rot="0">
              <a:off x="0" y="0"/>
              <a:ext cx="268224" cy="268224"/>
            </a:xfrm>
            <a:custGeom>
              <a:avLst/>
              <a:gdLst/>
              <a:ahLst/>
              <a:cxnLst/>
              <a:rect r="r" b="b" t="t" l="l"/>
              <a:pathLst>
                <a:path h="268224" w="268224">
                  <a:moveTo>
                    <a:pt x="0" y="0"/>
                  </a:moveTo>
                  <a:lnTo>
                    <a:pt x="268224" y="0"/>
                  </a:lnTo>
                  <a:lnTo>
                    <a:pt x="268224" y="268224"/>
                  </a:lnTo>
                  <a:lnTo>
                    <a:pt x="0" y="268224"/>
                  </a:lnTo>
                  <a:close/>
                </a:path>
              </a:pathLst>
            </a:custGeom>
            <a:solidFill>
              <a:srgbClr val="C0392B"/>
            </a:solidFill>
          </p:spPr>
        </p:sp>
      </p:grpSp>
      <p:sp>
        <p:nvSpPr>
          <p:cNvPr name="TextBox 34" id="32"/>
          <p:cNvSpPr txBox="true"/>
          <p:nvPr/>
        </p:nvSpPr>
        <p:spPr>
          <a:xfrm rot="0">
            <a:off x="3511296" y="6254115"/>
            <a:ext cx="1920240" cy="375285"/>
          </a:xfrm>
          <a:prstGeom prst="rect">
            <a:avLst/>
          </a:prstGeom>
        </p:spPr>
        <p:txBody>
          <a:bodyPr anchor="t" rtlCol="false" tIns="0" lIns="0" bIns="0" rIns="0">
            <a:spAutoFit/>
          </a:bodyPr>
          <a:lstStyle/>
          <a:p>
            <a:pPr algn="l">
              <a:lnSpc>
                <a:spcPts val="1919"/>
              </a:lnSpc>
            </a:pPr>
            <a:r>
              <a:rPr lang="en-US" sz="1599">
                <a:solidFill>
                  <a:srgbClr val="1B1B3A"/>
                </a:solidFill>
                <a:latin typeface="Exo 2"/>
                <a:ea typeface="Exo 2"/>
                <a:cs typeface="Exo 2"/>
                <a:sym typeface="Exo 2"/>
              </a:rPr>
              <a:t>Failed 1</a:t>
            </a:r>
          </a:p>
        </p:txBody>
      </p:sp>
      <p:sp>
        <p:nvSpPr>
          <p:cNvPr name="TextBox 35" id="33"/>
          <p:cNvSpPr txBox="true"/>
          <p:nvPr/>
        </p:nvSpPr>
        <p:spPr>
          <a:xfrm rot="0">
            <a:off x="905256" y="6894195"/>
            <a:ext cx="4572000" cy="375285"/>
          </a:xfrm>
          <a:prstGeom prst="rect">
            <a:avLst/>
          </a:prstGeom>
        </p:spPr>
        <p:txBody>
          <a:bodyPr anchor="t" rtlCol="false" tIns="0" lIns="0" bIns="0" rIns="0">
            <a:spAutoFit/>
          </a:bodyPr>
          <a:lstStyle/>
          <a:p>
            <a:pPr algn="l">
              <a:lnSpc>
                <a:spcPts val="1680"/>
              </a:lnSpc>
            </a:pPr>
            <a:r>
              <a:rPr lang="en-US" sz="1400">
                <a:solidFill>
                  <a:srgbClr val="5A6A85"/>
                </a:solidFill>
                <a:latin typeface="Exo 2"/>
                <a:ea typeface="Exo 2"/>
                <a:cs typeface="Exo 2"/>
                <a:sym typeface="Exo 2"/>
              </a:rPr>
              <a:t>182 cases  |  159 executed  |  158 passed</a:t>
            </a:r>
          </a:p>
        </p:txBody>
      </p:sp>
      <p:grpSp>
        <p:nvGrpSpPr>
          <p:cNvPr name="Group 36" id="34"/>
          <p:cNvGrpSpPr/>
          <p:nvPr/>
        </p:nvGrpSpPr>
        <p:grpSpPr>
          <a:xfrm rot="0">
            <a:off x="905256" y="7498080"/>
            <a:ext cx="4572000" cy="868680"/>
            <a:chOff x="0" y="0"/>
            <a:chExt cx="6096000" cy="1158240"/>
          </a:xfrm>
        </p:grpSpPr>
        <p:sp>
          <p:nvSpPr>
            <p:cNvPr name="Freeform 37" id="35"/>
            <p:cNvSpPr/>
            <p:nvPr/>
          </p:nvSpPr>
          <p:spPr>
            <a:xfrm flipH="false" flipV="false" rot="0">
              <a:off x="0" y="0"/>
              <a:ext cx="6096000" cy="1158240"/>
            </a:xfrm>
            <a:custGeom>
              <a:avLst/>
              <a:gdLst/>
              <a:ahLst/>
              <a:cxnLst/>
              <a:rect r="r" b="b" t="t" l="l"/>
              <a:pathLst>
                <a:path h="1158240" w="6096000">
                  <a:moveTo>
                    <a:pt x="0" y="0"/>
                  </a:moveTo>
                  <a:lnTo>
                    <a:pt x="6096000" y="0"/>
                  </a:lnTo>
                  <a:lnTo>
                    <a:pt x="6096000" y="1158240"/>
                  </a:lnTo>
                  <a:lnTo>
                    <a:pt x="0" y="1158240"/>
                  </a:lnTo>
                  <a:close/>
                </a:path>
              </a:pathLst>
            </a:custGeom>
            <a:solidFill>
              <a:srgbClr val="E6F5EE"/>
            </a:solidFill>
          </p:spPr>
        </p:sp>
      </p:grpSp>
      <p:grpSp>
        <p:nvGrpSpPr>
          <p:cNvPr name="Group 38" id="36"/>
          <p:cNvGrpSpPr/>
          <p:nvPr/>
        </p:nvGrpSpPr>
        <p:grpSpPr>
          <a:xfrm rot="0">
            <a:off x="1088136" y="7543800"/>
            <a:ext cx="4297680" cy="777240"/>
            <a:chOff x="0" y="0"/>
            <a:chExt cx="5730240" cy="1036320"/>
          </a:xfrm>
        </p:grpSpPr>
        <p:sp>
          <p:nvSpPr>
            <p:cNvPr name="Freeform 39" id="37"/>
            <p:cNvSpPr/>
            <p:nvPr/>
          </p:nvSpPr>
          <p:spPr>
            <a:xfrm flipH="false" flipV="false" rot="0">
              <a:off x="0" y="0"/>
              <a:ext cx="5730240" cy="1036320"/>
            </a:xfrm>
            <a:custGeom>
              <a:avLst/>
              <a:gdLst/>
              <a:ahLst/>
              <a:cxnLst/>
              <a:rect r="r" b="b" t="t" l="l"/>
              <a:pathLst>
                <a:path h="1036320" w="5730240">
                  <a:moveTo>
                    <a:pt x="0" y="0"/>
                  </a:moveTo>
                  <a:lnTo>
                    <a:pt x="5730240" y="0"/>
                  </a:lnTo>
                  <a:lnTo>
                    <a:pt x="5730240" y="1036320"/>
                  </a:lnTo>
                  <a:lnTo>
                    <a:pt x="0" y="1036320"/>
                  </a:lnTo>
                  <a:close/>
                </a:path>
              </a:pathLst>
            </a:custGeom>
            <a:blipFill>
              <a:blip r:embed="rId5">
                <a:alphaModFix amt="0"/>
              </a:blip>
              <a:stretch>
                <a:fillRect l="0" t="-57740" r="0" b="-57740"/>
              </a:stretch>
            </a:blipFill>
          </p:spPr>
        </p:sp>
        <p:sp>
          <p:nvSpPr>
            <p:cNvPr name="TextBox 40" id="38"/>
            <p:cNvSpPr txBox="true"/>
            <p:nvPr/>
          </p:nvSpPr>
          <p:spPr>
            <a:xfrm>
              <a:off x="0" y="-9525"/>
              <a:ext cx="5730240" cy="1045845"/>
            </a:xfrm>
            <a:prstGeom prst="rect">
              <a:avLst/>
            </a:prstGeom>
          </p:spPr>
          <p:txBody>
            <a:bodyPr anchor="ctr" rtlCol="false" tIns="0" lIns="0" bIns="0" rIns="0"/>
            <a:lstStyle/>
            <a:p>
              <a:pPr algn="l">
                <a:lnSpc>
                  <a:spcPts val="1800"/>
                </a:lnSpc>
              </a:pPr>
              <a:r>
                <a:rPr lang="en-US" sz="1500" b="true">
                  <a:solidFill>
                    <a:srgbClr val="1E9E6B"/>
                  </a:solidFill>
                  <a:latin typeface="Exo 2 Bold"/>
                  <a:ea typeface="Exo 2 Bold"/>
                  <a:cs typeface="Exo 2 Bold"/>
                  <a:sym typeface="Exo 2 Bold"/>
                </a:rPr>
                <a:t>Live on Google Play: 29 Sep 2026</a:t>
              </a:r>
            </a:p>
            <a:p>
              <a:pPr algn="l">
                <a:lnSpc>
                  <a:spcPts val="1559"/>
                </a:lnSpc>
              </a:pPr>
              <a:r>
                <a:rPr lang="en-US" sz="1299">
                  <a:solidFill>
                    <a:srgbClr val="5A6A85"/>
                  </a:solidFill>
                  <a:latin typeface="Exo 2"/>
                  <a:ea typeface="Exo 2"/>
                  <a:cs typeface="Exo 2"/>
                  <a:sym typeface="Exo 2"/>
                </a:rPr>
                <a:t>More than a month before the deadline.</a:t>
              </a:r>
            </a:p>
          </p:txBody>
        </p:sp>
      </p:grpSp>
      <p:graphicFrame>
        <p:nvGraphicFramePr>
          <p:cNvPr name="Table 41" id="39"/>
          <p:cNvGraphicFramePr>
            <a:graphicFrameLocks noGrp="true"/>
          </p:cNvGraphicFramePr>
          <p:nvPr/>
        </p:nvGraphicFramePr>
        <p:xfrm>
          <a:off x="6035040" y="3017520"/>
          <a:ext cx="6832600" cy="4978400"/>
        </p:xfrm>
        <a:graphic>
          <a:graphicData uri="http://schemas.openxmlformats.org/drawingml/2006/table">
            <a:tbl>
              <a:tblPr/>
              <a:tblGrid>
                <a:gridCol w="2810769"/>
                <a:gridCol w="1050591"/>
                <a:gridCol w="1005458"/>
                <a:gridCol w="1095723"/>
                <a:gridCol w="870060"/>
              </a:tblGrid>
              <a:tr h="711200">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Module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Passed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Failed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Skipped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N/A</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Base requirements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48</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C0392B"/>
                          </a:solidFill>
                          <a:latin typeface="Exo 2 Bold"/>
                          <a:ea typeface="Exo 2 Bold"/>
                          <a:cs typeface="Exo 2 Bold"/>
                          <a:sym typeface="Exo 2 Bold"/>
                        </a:rPr>
                        <a:t>1</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13</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2</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AI Chatbot</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31</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2</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T&amp;C + SCC</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12</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Other Q1 requirements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42</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3</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KYC onboarding</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25</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3</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0</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r>
              <a:tr h="711200">
                <a:tc>
                  <a:txBody>
                    <a:bodyPr anchor="t" rtlCol="false"/>
                    <a:lstStyle/>
                    <a:p>
                      <a:pPr algn="l">
                        <a:lnSpc>
                          <a:spcPts val="1800"/>
                        </a:lnSpc>
                        <a:defRPr/>
                      </a:pPr>
                      <a:r>
                        <a:rPr lang="en-US" sz="1500" b="true">
                          <a:solidFill>
                            <a:srgbClr val="121C36"/>
                          </a:solidFill>
                          <a:latin typeface="Exo 2 Bold"/>
                          <a:ea typeface="Exo 2 Bold"/>
                          <a:cs typeface="Exo 2 Bold"/>
                          <a:sym typeface="Exo 2 Bold"/>
                        </a:rPr>
                        <a:t>Total</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b="true">
                          <a:solidFill>
                            <a:srgbClr val="121C36"/>
                          </a:solidFill>
                          <a:latin typeface="Exo 2 Bold"/>
                          <a:ea typeface="Exo 2 Bold"/>
                          <a:cs typeface="Exo 2 Bold"/>
                          <a:sym typeface="Exo 2 Bold"/>
                        </a:rPr>
                        <a:t>158</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b="true">
                          <a:solidFill>
                            <a:srgbClr val="121C36"/>
                          </a:solidFill>
                          <a:latin typeface="Exo 2 Bold"/>
                          <a:ea typeface="Exo 2 Bold"/>
                          <a:cs typeface="Exo 2 Bold"/>
                          <a:sym typeface="Exo 2 Bold"/>
                        </a:rPr>
                        <a:t>1</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b="true">
                          <a:solidFill>
                            <a:srgbClr val="121C36"/>
                          </a:solidFill>
                          <a:latin typeface="Exo 2 Bold"/>
                          <a:ea typeface="Exo 2 Bold"/>
                          <a:cs typeface="Exo 2 Bold"/>
                          <a:sym typeface="Exo 2 Bold"/>
                        </a:rPr>
                        <a:t>19</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b="true">
                          <a:solidFill>
                            <a:srgbClr val="121C36"/>
                          </a:solidFill>
                          <a:latin typeface="Exo 2 Bold"/>
                          <a:ea typeface="Exo 2 Bold"/>
                          <a:cs typeface="Exo 2 Bold"/>
                          <a:sym typeface="Exo 2 Bold"/>
                        </a:rPr>
                        <a:t>4</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r>
            </a:tbl>
          </a:graphicData>
        </a:graphic>
      </p:graphicFrame>
      <p:sp>
        <p:nvSpPr>
          <p:cNvPr name="TextBox 42" id="40"/>
          <p:cNvSpPr txBox="true"/>
          <p:nvPr/>
        </p:nvSpPr>
        <p:spPr>
          <a:xfrm rot="0">
            <a:off x="6035040" y="8174355"/>
            <a:ext cx="6858000" cy="375285"/>
          </a:xfrm>
          <a:prstGeom prst="rect">
            <a:avLst/>
          </a:prstGeom>
        </p:spPr>
        <p:txBody>
          <a:bodyPr anchor="t" rtlCol="false" tIns="0" lIns="0" bIns="0" rIns="0">
            <a:spAutoFit/>
          </a:bodyPr>
          <a:lstStyle/>
          <a:p>
            <a:pPr algn="l">
              <a:lnSpc>
                <a:spcPts val="1559"/>
              </a:lnSpc>
            </a:pPr>
            <a:r>
              <a:rPr lang="en-US" sz="1299">
                <a:solidFill>
                  <a:srgbClr val="8A93A8"/>
                </a:solidFill>
                <a:latin typeface="Exo 2"/>
                <a:ea typeface="Exo 2"/>
                <a:cs typeface="Exo 2"/>
                <a:sym typeface="Exo 2"/>
              </a:rPr>
              <a:t>Round 1 and Round 2 combined.</a:t>
            </a:r>
          </a:p>
        </p:txBody>
      </p:sp>
      <p:grpSp>
        <p:nvGrpSpPr>
          <p:cNvPr name="Group 43" id="41"/>
          <p:cNvGrpSpPr/>
          <p:nvPr/>
        </p:nvGrpSpPr>
        <p:grpSpPr>
          <a:xfrm rot="0">
            <a:off x="13162598" y="3012758"/>
            <a:ext cx="4499229" cy="5587365"/>
            <a:chOff x="0" y="0"/>
            <a:chExt cx="5998972" cy="7449820"/>
          </a:xfrm>
        </p:grpSpPr>
        <p:sp>
          <p:nvSpPr>
            <p:cNvPr name="Freeform 44" id="42"/>
            <p:cNvSpPr/>
            <p:nvPr/>
          </p:nvSpPr>
          <p:spPr>
            <a:xfrm flipH="false" flipV="false" rot="0">
              <a:off x="0" y="0"/>
              <a:ext cx="5998972" cy="7449820"/>
            </a:xfrm>
            <a:custGeom>
              <a:avLst/>
              <a:gdLst/>
              <a:ahLst/>
              <a:cxnLst/>
              <a:rect r="r" b="b" t="t" l="l"/>
              <a:pathLst>
                <a:path h="7449820" w="5998972">
                  <a:moveTo>
                    <a:pt x="0" y="0"/>
                  </a:moveTo>
                  <a:lnTo>
                    <a:pt x="5998972" y="0"/>
                  </a:lnTo>
                  <a:lnTo>
                    <a:pt x="5998972" y="7449820"/>
                  </a:lnTo>
                  <a:lnTo>
                    <a:pt x="0" y="7449820"/>
                  </a:lnTo>
                  <a:close/>
                </a:path>
              </a:pathLst>
            </a:custGeom>
            <a:solidFill>
              <a:srgbClr val="F7F8FC"/>
            </a:solidFill>
            <a:ln w="9525" cap="sq">
              <a:solidFill>
                <a:srgbClr val="E4E7F2"/>
              </a:solidFill>
              <a:prstDash val="solid"/>
              <a:miter/>
            </a:ln>
          </p:spPr>
        </p:sp>
      </p:grpSp>
      <p:sp>
        <p:nvSpPr>
          <p:cNvPr name="TextBox 45" id="43"/>
          <p:cNvSpPr txBox="true"/>
          <p:nvPr/>
        </p:nvSpPr>
        <p:spPr>
          <a:xfrm rot="0">
            <a:off x="13395960" y="3236595"/>
            <a:ext cx="4114800" cy="375285"/>
          </a:xfrm>
          <a:prstGeom prst="rect">
            <a:avLst/>
          </a:prstGeom>
        </p:spPr>
        <p:txBody>
          <a:bodyPr anchor="t" rtlCol="false" tIns="0" lIns="0" bIns="0" rIns="0">
            <a:spAutoFit/>
          </a:bodyPr>
          <a:lstStyle/>
          <a:p>
            <a:pPr algn="l">
              <a:lnSpc>
                <a:spcPts val="1680"/>
              </a:lnSpc>
            </a:pPr>
            <a:r>
              <a:rPr lang="en-US" sz="1400" b="true">
                <a:solidFill>
                  <a:srgbClr val="3C61B6"/>
                </a:solidFill>
                <a:latin typeface="Exo 2 Bold"/>
                <a:ea typeface="Exo 2 Bold"/>
                <a:cs typeface="Exo 2 Bold"/>
                <a:sym typeface="Exo 2 Bold"/>
              </a:rPr>
              <a:t>MINOR ISSUES, NEXT RELEASE</a:t>
            </a:r>
          </a:p>
        </p:txBody>
      </p:sp>
      <p:sp>
        <p:nvSpPr>
          <p:cNvPr name="TextBox 46" id="44"/>
          <p:cNvSpPr txBox="true"/>
          <p:nvPr/>
        </p:nvSpPr>
        <p:spPr>
          <a:xfrm rot="0">
            <a:off x="13395960" y="3739515"/>
            <a:ext cx="4069080" cy="4124325"/>
          </a:xfrm>
          <a:prstGeom prst="rect">
            <a:avLst/>
          </a:prstGeom>
        </p:spPr>
        <p:txBody>
          <a:bodyPr anchor="t" rtlCol="false" tIns="0" lIns="0" bIns="0" rIns="0">
            <a:spAutoFit/>
          </a:bodyPr>
          <a:lstStyle/>
          <a:p>
            <a:pPr algn="l">
              <a:lnSpc>
                <a:spcPts val="1800"/>
              </a:lnSpc>
            </a:pPr>
            <a:r>
              <a:rPr lang="en-US" sz="1500" b="true">
                <a:solidFill>
                  <a:srgbClr val="121C36"/>
                </a:solidFill>
                <a:latin typeface="Exo 2 Bold"/>
                <a:ea typeface="Exo 2 Bold"/>
                <a:cs typeface="Exo 2 Bold"/>
                <a:sym typeface="Exo 2 Bold"/>
              </a:rPr>
              <a:t>1.  </a:t>
            </a:r>
            <a:r>
              <a:rPr lang="en-US" sz="1500">
                <a:solidFill>
                  <a:srgbClr val="5A6A85"/>
                </a:solidFill>
                <a:latin typeface="Exo 2"/>
                <a:ea typeface="Exo 2"/>
                <a:cs typeface="Exo 2"/>
                <a:sym typeface="Exo 2"/>
              </a:rPr>
              <a:t>Watchlist items disappear when the Shariah filter is on</a:t>
            </a:r>
          </a:p>
          <a:p>
            <a:pPr algn="l">
              <a:lnSpc>
                <a:spcPts val="1800"/>
              </a:lnSpc>
            </a:pPr>
            <a:r>
              <a:rPr lang="en-US" sz="1500" b="true">
                <a:solidFill>
                  <a:srgbClr val="121C36"/>
                </a:solidFill>
                <a:latin typeface="Exo 2 Bold"/>
                <a:ea typeface="Exo 2 Bold"/>
                <a:cs typeface="Exo 2 Bold"/>
                <a:sym typeface="Exo 2 Bold"/>
              </a:rPr>
              <a:t>2.  </a:t>
            </a:r>
            <a:r>
              <a:rPr lang="en-US" sz="1500">
                <a:solidFill>
                  <a:srgbClr val="5A6A85"/>
                </a:solidFill>
                <a:latin typeface="Exo 2"/>
                <a:ea typeface="Exo 2"/>
                <a:cs typeface="Exo 2"/>
                <a:sym typeface="Exo 2"/>
              </a:rPr>
              <a:t>Instrument tree keeps loading on first open of the trade screen</a:t>
            </a:r>
          </a:p>
          <a:p>
            <a:pPr algn="l">
              <a:lnSpc>
                <a:spcPts val="1800"/>
              </a:lnSpc>
            </a:pPr>
            <a:r>
              <a:rPr lang="en-US" sz="1500" b="true">
                <a:solidFill>
                  <a:srgbClr val="121C36"/>
                </a:solidFill>
                <a:latin typeface="Exo 2 Bold"/>
                <a:ea typeface="Exo 2 Bold"/>
                <a:cs typeface="Exo 2 Bold"/>
                <a:sym typeface="Exo 2 Bold"/>
              </a:rPr>
              <a:t>3.  </a:t>
            </a:r>
            <a:r>
              <a:rPr lang="en-US" sz="1500">
                <a:solidFill>
                  <a:srgbClr val="5A6A85"/>
                </a:solidFill>
                <a:latin typeface="Exo 2"/>
                <a:ea typeface="Exo 2"/>
                <a:cs typeface="Exo 2"/>
                <a:sym typeface="Exo 2"/>
              </a:rPr>
              <a:t>Withdrawal: beneficiary shows last name only</a:t>
            </a:r>
          </a:p>
          <a:p>
            <a:pPr algn="l">
              <a:lnSpc>
                <a:spcPts val="1800"/>
              </a:lnSpc>
            </a:pPr>
            <a:r>
              <a:rPr lang="en-US" sz="1500" b="true">
                <a:solidFill>
                  <a:srgbClr val="121C36"/>
                </a:solidFill>
                <a:latin typeface="Exo 2 Bold"/>
                <a:ea typeface="Exo 2 Bold"/>
                <a:cs typeface="Exo 2 Bold"/>
                <a:sym typeface="Exo 2 Bold"/>
              </a:rPr>
              <a:t>4.  </a:t>
            </a:r>
            <a:r>
              <a:rPr lang="en-US" sz="1500">
                <a:solidFill>
                  <a:srgbClr val="5A6A85"/>
                </a:solidFill>
                <a:latin typeface="Exo 2"/>
                <a:ea typeface="Exo 2"/>
                <a:cs typeface="Exo 2"/>
                <a:sym typeface="Exo 2"/>
              </a:rPr>
              <a:t>Change display mode has no effect</a:t>
            </a:r>
          </a:p>
          <a:p>
            <a:pPr algn="l">
              <a:lnSpc>
                <a:spcPts val="1800"/>
              </a:lnSpc>
            </a:pPr>
            <a:r>
              <a:rPr lang="en-US" sz="1500" b="true">
                <a:solidFill>
                  <a:srgbClr val="121C36"/>
                </a:solidFill>
                <a:latin typeface="Exo 2 Bold"/>
                <a:ea typeface="Exo 2 Bold"/>
                <a:cs typeface="Exo 2 Bold"/>
                <a:sym typeface="Exo 2 Bold"/>
              </a:rPr>
              <a:t>5.  </a:t>
            </a:r>
            <a:r>
              <a:rPr lang="en-US" sz="1500">
                <a:solidFill>
                  <a:srgbClr val="5A6A85"/>
                </a:solidFill>
                <a:latin typeface="Exo 2"/>
                <a:ea typeface="Exo 2"/>
                <a:cs typeface="Exo 2"/>
                <a:sym typeface="Exo 2"/>
              </a:rPr>
              <a:t>Arabic summary screen: daily P/L hard to see</a:t>
            </a:r>
          </a:p>
          <a:p>
            <a:pPr algn="l">
              <a:lnSpc>
                <a:spcPts val="1800"/>
              </a:lnSpc>
            </a:pPr>
            <a:r>
              <a:rPr lang="en-US" sz="1500" b="true">
                <a:solidFill>
                  <a:srgbClr val="121C36"/>
                </a:solidFill>
                <a:latin typeface="Exo 2 Bold"/>
                <a:ea typeface="Exo 2 Bold"/>
                <a:cs typeface="Exo 2 Bold"/>
                <a:sym typeface="Exo 2 Bold"/>
              </a:rPr>
              <a:t>6.  </a:t>
            </a:r>
            <a:r>
              <a:rPr lang="en-US" sz="1500">
                <a:solidFill>
                  <a:srgbClr val="5A6A85"/>
                </a:solidFill>
                <a:latin typeface="Exo 2"/>
                <a:ea typeface="Exo 2"/>
                <a:cs typeface="Exo 2"/>
                <a:sym typeface="Exo 2"/>
              </a:rPr>
              <a:t>Exchange section should be hidden (USD base currency only)</a:t>
            </a:r>
          </a:p>
        </p:txBody>
      </p:sp>
      <p:sp>
        <p:nvSpPr>
          <p:cNvPr name="TextBox 47" id="45"/>
          <p:cNvSpPr txBox="true"/>
          <p:nvPr/>
        </p:nvSpPr>
        <p:spPr>
          <a:xfrm rot="0">
            <a:off x="13395960" y="7991475"/>
            <a:ext cx="4069080" cy="466725"/>
          </a:xfrm>
          <a:prstGeom prst="rect">
            <a:avLst/>
          </a:prstGeom>
        </p:spPr>
        <p:txBody>
          <a:bodyPr anchor="t" rtlCol="false" tIns="0" lIns="0" bIns="0" rIns="0">
            <a:spAutoFit/>
          </a:bodyPr>
          <a:lstStyle/>
          <a:p>
            <a:pPr algn="l">
              <a:lnSpc>
                <a:spcPts val="1800"/>
              </a:lnSpc>
            </a:pPr>
            <a:r>
              <a:rPr lang="en-US" sz="1500" b="true">
                <a:solidFill>
                  <a:srgbClr val="1E9E6B"/>
                </a:solidFill>
                <a:latin typeface="Exo 2 Bold"/>
                <a:ea typeface="Exo 2 Bold"/>
                <a:cs typeface="Exo 2 Bold"/>
                <a:sym typeface="Exo 2 Bold"/>
              </a:rPr>
              <a:t>None of these block the release.</a:t>
            </a:r>
          </a:p>
        </p:txBody>
      </p:sp>
      <p:sp>
        <p:nvSpPr>
          <p:cNvPr name="Freeform 48" id="46"/>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0"/>
            <a:stretch>
              <a:fillRect l="0" t="0" r="0" b="0"/>
            </a:stretch>
          </a:blipFill>
        </p:spPr>
      </p:sp>
      <p:grpSp>
        <p:nvGrpSpPr>
          <p:cNvPr name="Group 6" id="47"/>
          <p:cNvGrpSpPr/>
          <p:nvPr/>
        </p:nvGrpSpPr>
        <p:grpSpPr>
          <a:xfrm rot="0">
            <a:off x="850392" y="297596"/>
            <a:ext cx="13990320" cy="1124712"/>
            <a:chOff x="0" y="0"/>
            <a:chExt cx="18653760" cy="1499616"/>
          </a:xfrm>
        </p:grpSpPr>
        <p:sp>
          <p:nvSpPr>
            <p:cNvPr name="Freeform 7" id="48"/>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5">
                <a:alphaModFix amt="0"/>
              </a:blip>
              <a:stretch>
                <a:fillRect l="0" t="-192374" r="0" b="-192374"/>
              </a:stretch>
            </a:blipFill>
          </p:spPr>
        </p:sp>
        <p:sp>
          <p:nvSpPr>
            <p:cNvPr name="TextBox 8" id="49"/>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Android App: Google Play Security Update</a:t>
              </a:r>
            </a:p>
          </p:txBody>
        </p:sp>
      </p:grpSp>
      <p:grpSp>
        <p:nvGrpSpPr>
          <p:cNvPr name="Group 9" id="50"/>
          <p:cNvGrpSpPr/>
          <p:nvPr/>
        </p:nvGrpSpPr>
        <p:grpSpPr>
          <a:xfrm rot="0">
            <a:off x="15457932" y="571916"/>
            <a:ext cx="1988820" cy="576072"/>
            <a:chOff x="0" y="0"/>
            <a:chExt cx="2651760" cy="768096"/>
          </a:xfrm>
        </p:grpSpPr>
        <p:sp>
          <p:nvSpPr>
            <p:cNvPr name="Freeform 10" id="5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9"/>
              <a:stretch>
                <a:fillRect l="0" t="-26" r="0" b="-26"/>
              </a:stretch>
            </a:blipFill>
          </p:spPr>
        </p:sp>
      </p:grpSp>
      <p:sp>
        <p:nvSpPr>
          <p:cNvPr name="TextBox 13" id="52"/>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IT UPDATE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txBody>
            <a:bodyPr/>
            <a:p/>
          </p:txBody>
        </p:sp>
      </p:grpSp>
      <p:sp>
        <p:nvSpPr>
          <p:cNvPr name="TextBox 4" id="4"/>
          <p:cNvSpPr txBox="true"/>
          <p:nvPr/>
        </p:nvSpPr>
        <p:spPr>
          <a:xfrm rot="0">
            <a:off x="1292489" y="3857625"/>
            <a:ext cx="15703023" cy="2571750"/>
          </a:xfrm>
          <a:prstGeom prst="rect">
            <a:avLst/>
          </a:prstGeom>
        </p:spPr>
        <p:txBody>
          <a:bodyPr anchor="t" rtlCol="false" tIns="0" lIns="0" bIns="0" rIns="0">
            <a:spAutoFit/>
          </a:bodyPr>
          <a:lstStyle/>
          <a:p>
            <a:pPr algn="ctr">
              <a:lnSpc>
                <a:spcPts val="10199"/>
              </a:lnSpc>
            </a:pPr>
            <a:r>
              <a:rPr lang="en-US" sz="8499" b="true">
                <a:solidFill>
                  <a:srgbClr val="FFFFFF"/>
                </a:solidFill>
                <a:latin typeface="Exo 2 Bold"/>
                <a:ea typeface="Exo 2 Bold"/>
                <a:cs typeface="Exo 2 Bold"/>
                <a:sym typeface="Exo 2 Bold"/>
              </a:rPr>
              <a:t>Client Experience </a:t>
            </a:r>
          </a:p>
          <a:p>
            <a:pPr algn="ctr">
              <a:lnSpc>
                <a:spcPts val="10199"/>
              </a:lnSpc>
            </a:pPr>
            <a:r>
              <a:rPr lang="en-US" b="true" sz="8499">
                <a:solidFill>
                  <a:srgbClr val="FFFFFF"/>
                </a:solidFill>
                <a:latin typeface="Exo 2 Bold"/>
                <a:ea typeface="Exo 2 Bold"/>
                <a:cs typeface="Exo 2 Bold"/>
                <a:sym typeface="Exo 2 Bold"/>
              </a:rPr>
              <a:t>Progress Update</a:t>
            </a:r>
          </a:p>
        </p:txBody>
      </p:sp>
      <p:grpSp>
        <p:nvGrpSpPr>
          <p:cNvPr name="Group 5" id="5"/>
          <p:cNvGrpSpPr/>
          <p:nvPr/>
        </p:nvGrpSpPr>
        <p:grpSpPr>
          <a:xfrm rot="0">
            <a:off x="14630340" y="1028700"/>
            <a:ext cx="2628960" cy="757148"/>
            <a:chOff x="0" y="0"/>
            <a:chExt cx="6614516" cy="1905000"/>
          </a:xfrm>
        </p:grpSpPr>
        <p:sp>
          <p:nvSpPr>
            <p:cNvPr name="Freeform 6" id="6"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7" id="7"/>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7"/>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6"/>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grpSp>
        <p:nvGrpSpPr>
          <p:cNvPr name="Group 5" id="7"/>
          <p:cNvGrpSpPr/>
          <p:nvPr/>
        </p:nvGrpSpPr>
        <p:grpSpPr>
          <a:xfrm rot="0">
            <a:off x="470535" y="2089490"/>
            <a:ext cx="2709220" cy="1802130"/>
            <a:chOff x="0" y="0"/>
            <a:chExt cx="3612293" cy="2402840"/>
          </a:xfrm>
        </p:grpSpPr>
        <p:grpSp>
          <p:nvGrpSpPr>
            <p:cNvPr name="Group 6" id="8"/>
            <p:cNvGrpSpPr/>
            <p:nvPr/>
          </p:nvGrpSpPr>
          <p:grpSpPr>
            <a:xfrm rot="0">
              <a:off x="0" y="0"/>
              <a:ext cx="3612293" cy="2402840"/>
              <a:chOff x="0" y="0"/>
              <a:chExt cx="3612293" cy="2402840"/>
            </a:xfrm>
          </p:grpSpPr>
          <p:sp>
            <p:nvSpPr>
              <p:cNvPr name="Freeform 7" id="9"/>
              <p:cNvSpPr/>
              <p:nvPr/>
            </p:nvSpPr>
            <p:spPr>
              <a:xfrm flipH="false" flipV="false" rot="0">
                <a:off x="8609" y="12700"/>
                <a:ext cx="3595076" cy="2377440"/>
              </a:xfrm>
              <a:custGeom>
                <a:avLst/>
                <a:gdLst/>
                <a:ahLst/>
                <a:cxnLst/>
                <a:rect r="r" b="b" t="t" l="l"/>
                <a:pathLst>
                  <a:path h="2377440" w="3595076">
                    <a:moveTo>
                      <a:pt x="0" y="0"/>
                    </a:moveTo>
                    <a:lnTo>
                      <a:pt x="3595076" y="0"/>
                    </a:lnTo>
                    <a:lnTo>
                      <a:pt x="3595076" y="2377440"/>
                    </a:lnTo>
                    <a:lnTo>
                      <a:pt x="0" y="2377440"/>
                    </a:lnTo>
                    <a:close/>
                  </a:path>
                </a:pathLst>
              </a:custGeom>
              <a:blipFill>
                <a:blip r:embed="rId9"/>
                <a:stretch>
                  <a:fillRect/>
                </a:stretch>
              </a:blipFill>
            </p:spPr>
          </p:sp>
          <p:sp>
            <p:nvSpPr>
              <p:cNvPr name="Freeform 8" id="10"/>
              <p:cNvSpPr/>
              <p:nvPr/>
            </p:nvSpPr>
            <p:spPr>
              <a:xfrm flipH="false" flipV="false" rot="0">
                <a:off x="0" y="0"/>
                <a:ext cx="3612293" cy="2402840"/>
              </a:xfrm>
              <a:custGeom>
                <a:avLst/>
                <a:gdLst/>
                <a:ahLst/>
                <a:cxnLst/>
                <a:rect r="r" b="b" t="t" l="l"/>
                <a:pathLst>
                  <a:path h="2402840" w="3612293">
                    <a:moveTo>
                      <a:pt x="8609" y="0"/>
                    </a:moveTo>
                    <a:lnTo>
                      <a:pt x="3603685" y="0"/>
                    </a:lnTo>
                    <a:cubicBezTo>
                      <a:pt x="3608419" y="0"/>
                      <a:pt x="3612293" y="5715"/>
                      <a:pt x="3612293" y="12700"/>
                    </a:cubicBezTo>
                    <a:lnTo>
                      <a:pt x="3612293" y="2390140"/>
                    </a:lnTo>
                    <a:cubicBezTo>
                      <a:pt x="3612293" y="2397125"/>
                      <a:pt x="3608419" y="2402840"/>
                      <a:pt x="3603685" y="2402840"/>
                    </a:cubicBezTo>
                    <a:lnTo>
                      <a:pt x="8609" y="2402840"/>
                    </a:lnTo>
                    <a:cubicBezTo>
                      <a:pt x="3874" y="2402840"/>
                      <a:pt x="0" y="2397125"/>
                      <a:pt x="0" y="2390140"/>
                    </a:cubicBezTo>
                    <a:lnTo>
                      <a:pt x="0" y="12700"/>
                    </a:lnTo>
                    <a:cubicBezTo>
                      <a:pt x="0" y="5715"/>
                      <a:pt x="3874" y="0"/>
                      <a:pt x="8609" y="0"/>
                    </a:cubicBezTo>
                    <a:moveTo>
                      <a:pt x="8609" y="25400"/>
                    </a:moveTo>
                    <a:lnTo>
                      <a:pt x="8609" y="12700"/>
                    </a:lnTo>
                    <a:lnTo>
                      <a:pt x="17218" y="12700"/>
                    </a:lnTo>
                    <a:lnTo>
                      <a:pt x="17218" y="2390140"/>
                    </a:lnTo>
                    <a:lnTo>
                      <a:pt x="8609" y="2390140"/>
                    </a:lnTo>
                    <a:lnTo>
                      <a:pt x="8609" y="2377440"/>
                    </a:lnTo>
                    <a:lnTo>
                      <a:pt x="3603685" y="2377440"/>
                    </a:lnTo>
                    <a:lnTo>
                      <a:pt x="3603685" y="2390140"/>
                    </a:lnTo>
                    <a:lnTo>
                      <a:pt x="3595076" y="2390140"/>
                    </a:lnTo>
                    <a:lnTo>
                      <a:pt x="3595076" y="12700"/>
                    </a:lnTo>
                    <a:lnTo>
                      <a:pt x="3603685" y="12700"/>
                    </a:lnTo>
                    <a:lnTo>
                      <a:pt x="3603685" y="25400"/>
                    </a:lnTo>
                    <a:lnTo>
                      <a:pt x="8609" y="25400"/>
                    </a:lnTo>
                    <a:close/>
                  </a:path>
                </a:pathLst>
              </a:custGeom>
              <a:solidFill>
                <a:srgbClr val="121A2F"/>
              </a:solidFill>
            </p:spPr>
          </p:sp>
        </p:grpSp>
        <p:grpSp>
          <p:nvGrpSpPr>
            <p:cNvPr name="Group 9" id="11"/>
            <p:cNvGrpSpPr/>
            <p:nvPr/>
          </p:nvGrpSpPr>
          <p:grpSpPr>
            <a:xfrm rot="0">
              <a:off x="225553" y="139111"/>
              <a:ext cx="3161187" cy="1205094"/>
              <a:chOff x="0" y="0"/>
              <a:chExt cx="3161187" cy="1205094"/>
            </a:xfrm>
          </p:grpSpPr>
          <p:sp>
            <p:nvSpPr>
              <p:cNvPr name="Freeform 10" id="12"/>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11" id="13"/>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21</a:t>
                </a:r>
              </a:p>
            </p:txBody>
          </p:sp>
        </p:grpSp>
        <p:grpSp>
          <p:nvGrpSpPr>
            <p:cNvPr name="Group 12" id="14"/>
            <p:cNvGrpSpPr/>
            <p:nvPr/>
          </p:nvGrpSpPr>
          <p:grpSpPr>
            <a:xfrm rot="0">
              <a:off x="225553" y="1340531"/>
              <a:ext cx="3161187" cy="498551"/>
              <a:chOff x="0" y="0"/>
              <a:chExt cx="3161187" cy="498551"/>
            </a:xfrm>
          </p:grpSpPr>
          <p:sp>
            <p:nvSpPr>
              <p:cNvPr name="Freeform 13" id="15"/>
              <p:cNvSpPr/>
              <p:nvPr/>
            </p:nvSpPr>
            <p:spPr>
              <a:xfrm flipH="false" flipV="false" rot="0">
                <a:off x="0" y="0"/>
                <a:ext cx="3161187" cy="498551"/>
              </a:xfrm>
              <a:custGeom>
                <a:avLst/>
                <a:gdLst/>
                <a:ahLst/>
                <a:cxnLst/>
                <a:rect r="r" b="b" t="t" l="l"/>
                <a:pathLst>
                  <a:path h="498551" w="3161187">
                    <a:moveTo>
                      <a:pt x="0" y="0"/>
                    </a:moveTo>
                    <a:lnTo>
                      <a:pt x="3161187" y="0"/>
                    </a:lnTo>
                    <a:lnTo>
                      <a:pt x="3161187" y="498551"/>
                    </a:lnTo>
                    <a:lnTo>
                      <a:pt x="0" y="498551"/>
                    </a:lnTo>
                    <a:close/>
                  </a:path>
                </a:pathLst>
              </a:custGeom>
              <a:blipFill>
                <a:blip r:embed="rId2">
                  <a:alphaModFix amt="0"/>
                </a:blip>
                <a:stretch>
                  <a:fillRect l="0" t="-72215" r="-47521" b="-192309"/>
                </a:stretch>
              </a:blipFill>
            </p:spPr>
          </p:sp>
          <p:sp>
            <p:nvSpPr>
              <p:cNvPr name="TextBox 14" id="16"/>
              <p:cNvSpPr txBox="true"/>
              <p:nvPr/>
            </p:nvSpPr>
            <p:spPr>
              <a:xfrm>
                <a:off x="0" y="-9525"/>
                <a:ext cx="3161187" cy="508076"/>
              </a:xfrm>
              <a:prstGeom prst="rect">
                <a:avLst/>
              </a:prstGeom>
            </p:spPr>
            <p:txBody>
              <a:bodyPr anchor="ctr" rtlCol="false" tIns="0" lIns="0" bIns="0" rIns="0"/>
              <a:lstStyle/>
              <a:p>
                <a:pPr algn="ctr" marL="0" indent="0" lvl="0">
                  <a:lnSpc>
                    <a:spcPts val="2159"/>
                  </a:lnSpc>
                  <a:spcBef>
                    <a:spcPct val="0"/>
                  </a:spcBef>
                </a:pPr>
                <a:r>
                  <a:rPr lang="en-US" sz="1799" strike="noStrike" u="none">
                    <a:solidFill>
                      <a:srgbClr val="FFFFFF"/>
                    </a:solidFill>
                    <a:latin typeface="Exo 2"/>
                    <a:ea typeface="Exo 2"/>
                    <a:cs typeface="Exo 2"/>
                    <a:sym typeface="Exo 2"/>
                  </a:rPr>
                  <a:t>Clients Called</a:t>
                </a:r>
              </a:p>
            </p:txBody>
          </p:sp>
        </p:grpSp>
      </p:grpSp>
      <p:grpSp>
        <p:nvGrpSpPr>
          <p:cNvPr name="Group 15" id="17"/>
          <p:cNvGrpSpPr/>
          <p:nvPr/>
        </p:nvGrpSpPr>
        <p:grpSpPr>
          <a:xfrm rot="0">
            <a:off x="9109510" y="2089490"/>
            <a:ext cx="2709220" cy="1802130"/>
            <a:chOff x="0" y="0"/>
            <a:chExt cx="3612293" cy="2402840"/>
          </a:xfrm>
        </p:grpSpPr>
        <p:grpSp>
          <p:nvGrpSpPr>
            <p:cNvPr name="Group 16" id="18"/>
            <p:cNvGrpSpPr/>
            <p:nvPr/>
          </p:nvGrpSpPr>
          <p:grpSpPr>
            <a:xfrm rot="0">
              <a:off x="0" y="0"/>
              <a:ext cx="3612293" cy="2402840"/>
              <a:chOff x="0" y="0"/>
              <a:chExt cx="3612293" cy="2402840"/>
            </a:xfrm>
          </p:grpSpPr>
          <p:sp>
            <p:nvSpPr>
              <p:cNvPr name="Freeform 17" id="19"/>
              <p:cNvSpPr/>
              <p:nvPr/>
            </p:nvSpPr>
            <p:spPr>
              <a:xfrm flipH="false" flipV="false" rot="0">
                <a:off x="8609" y="12700"/>
                <a:ext cx="3595076" cy="2377440"/>
              </a:xfrm>
              <a:custGeom>
                <a:avLst/>
                <a:gdLst/>
                <a:ahLst/>
                <a:cxnLst/>
                <a:rect r="r" b="b" t="t" l="l"/>
                <a:pathLst>
                  <a:path h="2377440" w="3595076">
                    <a:moveTo>
                      <a:pt x="0" y="0"/>
                    </a:moveTo>
                    <a:lnTo>
                      <a:pt x="3595076" y="0"/>
                    </a:lnTo>
                    <a:lnTo>
                      <a:pt x="3595076" y="2377440"/>
                    </a:lnTo>
                    <a:lnTo>
                      <a:pt x="0" y="2377440"/>
                    </a:lnTo>
                    <a:close/>
                  </a:path>
                </a:pathLst>
              </a:custGeom>
              <a:blipFill>
                <a:blip r:embed="rId9"/>
                <a:stretch>
                  <a:fillRect/>
                </a:stretch>
              </a:blipFill>
            </p:spPr>
          </p:sp>
          <p:sp>
            <p:nvSpPr>
              <p:cNvPr name="Freeform 18" id="20"/>
              <p:cNvSpPr/>
              <p:nvPr/>
            </p:nvSpPr>
            <p:spPr>
              <a:xfrm flipH="false" flipV="false" rot="0">
                <a:off x="0" y="0"/>
                <a:ext cx="3612293" cy="2402840"/>
              </a:xfrm>
              <a:custGeom>
                <a:avLst/>
                <a:gdLst/>
                <a:ahLst/>
                <a:cxnLst/>
                <a:rect r="r" b="b" t="t" l="l"/>
                <a:pathLst>
                  <a:path h="2402840" w="3612293">
                    <a:moveTo>
                      <a:pt x="8609" y="0"/>
                    </a:moveTo>
                    <a:lnTo>
                      <a:pt x="3603685" y="0"/>
                    </a:lnTo>
                    <a:cubicBezTo>
                      <a:pt x="3608419" y="0"/>
                      <a:pt x="3612293" y="5715"/>
                      <a:pt x="3612293" y="12700"/>
                    </a:cubicBezTo>
                    <a:lnTo>
                      <a:pt x="3612293" y="2390140"/>
                    </a:lnTo>
                    <a:cubicBezTo>
                      <a:pt x="3612293" y="2397125"/>
                      <a:pt x="3608419" y="2402840"/>
                      <a:pt x="3603685" y="2402840"/>
                    </a:cubicBezTo>
                    <a:lnTo>
                      <a:pt x="8609" y="2402840"/>
                    </a:lnTo>
                    <a:cubicBezTo>
                      <a:pt x="3874" y="2402840"/>
                      <a:pt x="0" y="2397125"/>
                      <a:pt x="0" y="2390140"/>
                    </a:cubicBezTo>
                    <a:lnTo>
                      <a:pt x="0" y="12700"/>
                    </a:lnTo>
                    <a:cubicBezTo>
                      <a:pt x="0" y="5715"/>
                      <a:pt x="3874" y="0"/>
                      <a:pt x="8609" y="0"/>
                    </a:cubicBezTo>
                    <a:moveTo>
                      <a:pt x="8609" y="25400"/>
                    </a:moveTo>
                    <a:lnTo>
                      <a:pt x="8609" y="12700"/>
                    </a:lnTo>
                    <a:lnTo>
                      <a:pt x="17218" y="12700"/>
                    </a:lnTo>
                    <a:lnTo>
                      <a:pt x="17218" y="2390140"/>
                    </a:lnTo>
                    <a:lnTo>
                      <a:pt x="8609" y="2390140"/>
                    </a:lnTo>
                    <a:lnTo>
                      <a:pt x="8609" y="2377440"/>
                    </a:lnTo>
                    <a:lnTo>
                      <a:pt x="3603685" y="2377440"/>
                    </a:lnTo>
                    <a:lnTo>
                      <a:pt x="3603685" y="2390140"/>
                    </a:lnTo>
                    <a:lnTo>
                      <a:pt x="3595076" y="2390140"/>
                    </a:lnTo>
                    <a:lnTo>
                      <a:pt x="3595076" y="12700"/>
                    </a:lnTo>
                    <a:lnTo>
                      <a:pt x="3603685" y="12700"/>
                    </a:lnTo>
                    <a:lnTo>
                      <a:pt x="3603685" y="25400"/>
                    </a:lnTo>
                    <a:lnTo>
                      <a:pt x="8609" y="25400"/>
                    </a:lnTo>
                    <a:close/>
                  </a:path>
                </a:pathLst>
              </a:custGeom>
              <a:solidFill>
                <a:srgbClr val="121A2F"/>
              </a:solidFill>
            </p:spPr>
          </p:sp>
        </p:grpSp>
        <p:grpSp>
          <p:nvGrpSpPr>
            <p:cNvPr name="Group 19" id="21"/>
            <p:cNvGrpSpPr/>
            <p:nvPr/>
          </p:nvGrpSpPr>
          <p:grpSpPr>
            <a:xfrm rot="0">
              <a:off x="225553" y="139111"/>
              <a:ext cx="3161187" cy="1205094"/>
              <a:chOff x="0" y="0"/>
              <a:chExt cx="3161187" cy="1205094"/>
            </a:xfrm>
          </p:grpSpPr>
          <p:sp>
            <p:nvSpPr>
              <p:cNvPr name="Freeform 20" id="22"/>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21" id="23"/>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3DDC84"/>
                    </a:solidFill>
                    <a:latin typeface="Exo 2 Bold"/>
                    <a:ea typeface="Exo 2 Bold"/>
                    <a:cs typeface="Exo 2 Bold"/>
                    <a:sym typeface="Exo 2 Bold"/>
                  </a:rPr>
                  <a:t>6</a:t>
                </a:r>
              </a:p>
            </p:txBody>
          </p:sp>
        </p:grpSp>
        <p:grpSp>
          <p:nvGrpSpPr>
            <p:cNvPr name="Group 22" id="24"/>
            <p:cNvGrpSpPr/>
            <p:nvPr/>
          </p:nvGrpSpPr>
          <p:grpSpPr>
            <a:xfrm rot="0">
              <a:off x="225553" y="1162731"/>
              <a:ext cx="3161187" cy="854151"/>
              <a:chOff x="0" y="0"/>
              <a:chExt cx="3161187" cy="854151"/>
            </a:xfrm>
          </p:grpSpPr>
          <p:sp>
            <p:nvSpPr>
              <p:cNvPr name="Freeform 23" id="25"/>
              <p:cNvSpPr/>
              <p:nvPr/>
            </p:nvSpPr>
            <p:spPr>
              <a:xfrm flipH="false" flipV="false" rot="0">
                <a:off x="0" y="0"/>
                <a:ext cx="3161187" cy="854151"/>
              </a:xfrm>
              <a:custGeom>
                <a:avLst/>
                <a:gdLst/>
                <a:ahLst/>
                <a:cxnLst/>
                <a:rect r="r" b="b" t="t" l="l"/>
                <a:pathLst>
                  <a:path h="854151" w="3161187">
                    <a:moveTo>
                      <a:pt x="0" y="0"/>
                    </a:moveTo>
                    <a:lnTo>
                      <a:pt x="3161187" y="0"/>
                    </a:lnTo>
                    <a:lnTo>
                      <a:pt x="3161187" y="854151"/>
                    </a:lnTo>
                    <a:lnTo>
                      <a:pt x="0" y="854151"/>
                    </a:lnTo>
                    <a:close/>
                  </a:path>
                </a:pathLst>
              </a:custGeom>
              <a:blipFill>
                <a:blip r:embed="rId2">
                  <a:alphaModFix amt="0"/>
                </a:blip>
                <a:stretch>
                  <a:fillRect l="0" t="-42151" r="-47521" b="-70615"/>
                </a:stretch>
              </a:blipFill>
            </p:spPr>
          </p:sp>
          <p:sp>
            <p:nvSpPr>
              <p:cNvPr name="TextBox 24" id="26"/>
              <p:cNvSpPr txBox="true"/>
              <p:nvPr/>
            </p:nvSpPr>
            <p:spPr>
              <a:xfrm>
                <a:off x="0" y="-9525"/>
                <a:ext cx="3161187" cy="863676"/>
              </a:xfrm>
              <a:prstGeom prst="rect">
                <a:avLst/>
              </a:prstGeom>
            </p:spPr>
            <p:txBody>
              <a:bodyPr anchor="ctr" rtlCol="false" tIns="0" lIns="0" bIns="0" rIns="0"/>
              <a:lstStyle/>
              <a:p>
                <a:pPr algn="ctr" marL="0" indent="0" lvl="0">
                  <a:lnSpc>
                    <a:spcPts val="2159"/>
                  </a:lnSpc>
                  <a:spcBef>
                    <a:spcPct val="0"/>
                  </a:spcBef>
                </a:pPr>
                <a:r>
                  <a:rPr lang="en-US" sz="1799">
                    <a:solidFill>
                      <a:srgbClr val="FFFFFF"/>
                    </a:solidFill>
                    <a:latin typeface="Exo 2"/>
                    <a:ea typeface="Exo 2"/>
                    <a:cs typeface="Exo 2"/>
                    <a:sym typeface="Exo 2"/>
                  </a:rPr>
                  <a:t>Completed Onboarding</a:t>
                </a:r>
              </a:p>
            </p:txBody>
          </p:sp>
        </p:grpSp>
      </p:grpSp>
      <p:grpSp>
        <p:nvGrpSpPr>
          <p:cNvPr name="Group 25" id="27"/>
          <p:cNvGrpSpPr/>
          <p:nvPr/>
        </p:nvGrpSpPr>
        <p:grpSpPr>
          <a:xfrm rot="0">
            <a:off x="3348444" y="2089490"/>
            <a:ext cx="2709220" cy="1802130"/>
            <a:chOff x="0" y="0"/>
            <a:chExt cx="3612293" cy="2402840"/>
          </a:xfrm>
        </p:grpSpPr>
        <p:grpSp>
          <p:nvGrpSpPr>
            <p:cNvPr name="Group 26" id="28"/>
            <p:cNvGrpSpPr/>
            <p:nvPr/>
          </p:nvGrpSpPr>
          <p:grpSpPr>
            <a:xfrm rot="0">
              <a:off x="0" y="0"/>
              <a:ext cx="3612293" cy="2402840"/>
              <a:chOff x="0" y="0"/>
              <a:chExt cx="3612293" cy="2402840"/>
            </a:xfrm>
          </p:grpSpPr>
          <p:sp>
            <p:nvSpPr>
              <p:cNvPr name="Freeform 27" id="29"/>
              <p:cNvSpPr/>
              <p:nvPr/>
            </p:nvSpPr>
            <p:spPr>
              <a:xfrm flipH="false" flipV="false" rot="0">
                <a:off x="8609" y="12700"/>
                <a:ext cx="3595076" cy="2377440"/>
              </a:xfrm>
              <a:custGeom>
                <a:avLst/>
                <a:gdLst/>
                <a:ahLst/>
                <a:cxnLst/>
                <a:rect r="r" b="b" t="t" l="l"/>
                <a:pathLst>
                  <a:path h="2377440" w="3595076">
                    <a:moveTo>
                      <a:pt x="0" y="0"/>
                    </a:moveTo>
                    <a:lnTo>
                      <a:pt x="3595076" y="0"/>
                    </a:lnTo>
                    <a:lnTo>
                      <a:pt x="3595076" y="2377440"/>
                    </a:lnTo>
                    <a:lnTo>
                      <a:pt x="0" y="2377440"/>
                    </a:lnTo>
                    <a:close/>
                  </a:path>
                </a:pathLst>
              </a:custGeom>
              <a:blipFill>
                <a:blip r:embed="rId9"/>
                <a:stretch>
                  <a:fillRect/>
                </a:stretch>
              </a:blipFill>
            </p:spPr>
          </p:sp>
          <p:sp>
            <p:nvSpPr>
              <p:cNvPr name="Freeform 28" id="30"/>
              <p:cNvSpPr/>
              <p:nvPr/>
            </p:nvSpPr>
            <p:spPr>
              <a:xfrm flipH="false" flipV="false" rot="0">
                <a:off x="0" y="0"/>
                <a:ext cx="3612293" cy="2402840"/>
              </a:xfrm>
              <a:custGeom>
                <a:avLst/>
                <a:gdLst/>
                <a:ahLst/>
                <a:cxnLst/>
                <a:rect r="r" b="b" t="t" l="l"/>
                <a:pathLst>
                  <a:path h="2402840" w="3612293">
                    <a:moveTo>
                      <a:pt x="8609" y="0"/>
                    </a:moveTo>
                    <a:lnTo>
                      <a:pt x="3603685" y="0"/>
                    </a:lnTo>
                    <a:cubicBezTo>
                      <a:pt x="3608419" y="0"/>
                      <a:pt x="3612293" y="5715"/>
                      <a:pt x="3612293" y="12700"/>
                    </a:cubicBezTo>
                    <a:lnTo>
                      <a:pt x="3612293" y="2390140"/>
                    </a:lnTo>
                    <a:cubicBezTo>
                      <a:pt x="3612293" y="2397125"/>
                      <a:pt x="3608419" y="2402840"/>
                      <a:pt x="3603685" y="2402840"/>
                    </a:cubicBezTo>
                    <a:lnTo>
                      <a:pt x="8609" y="2402840"/>
                    </a:lnTo>
                    <a:cubicBezTo>
                      <a:pt x="3874" y="2402840"/>
                      <a:pt x="0" y="2397125"/>
                      <a:pt x="0" y="2390140"/>
                    </a:cubicBezTo>
                    <a:lnTo>
                      <a:pt x="0" y="12700"/>
                    </a:lnTo>
                    <a:cubicBezTo>
                      <a:pt x="0" y="5715"/>
                      <a:pt x="3874" y="0"/>
                      <a:pt x="8609" y="0"/>
                    </a:cubicBezTo>
                    <a:moveTo>
                      <a:pt x="8609" y="25400"/>
                    </a:moveTo>
                    <a:lnTo>
                      <a:pt x="8609" y="12700"/>
                    </a:lnTo>
                    <a:lnTo>
                      <a:pt x="17218" y="12700"/>
                    </a:lnTo>
                    <a:lnTo>
                      <a:pt x="17218" y="2390140"/>
                    </a:lnTo>
                    <a:lnTo>
                      <a:pt x="8609" y="2390140"/>
                    </a:lnTo>
                    <a:lnTo>
                      <a:pt x="8609" y="2377440"/>
                    </a:lnTo>
                    <a:lnTo>
                      <a:pt x="3603685" y="2377440"/>
                    </a:lnTo>
                    <a:lnTo>
                      <a:pt x="3603685" y="2390140"/>
                    </a:lnTo>
                    <a:lnTo>
                      <a:pt x="3595076" y="2390140"/>
                    </a:lnTo>
                    <a:lnTo>
                      <a:pt x="3595076" y="12700"/>
                    </a:lnTo>
                    <a:lnTo>
                      <a:pt x="3603685" y="12700"/>
                    </a:lnTo>
                    <a:lnTo>
                      <a:pt x="3603685" y="25400"/>
                    </a:lnTo>
                    <a:lnTo>
                      <a:pt x="8609" y="25400"/>
                    </a:lnTo>
                    <a:close/>
                  </a:path>
                </a:pathLst>
              </a:custGeom>
              <a:solidFill>
                <a:srgbClr val="121A2F"/>
              </a:solidFill>
            </p:spPr>
          </p:sp>
        </p:grpSp>
        <p:grpSp>
          <p:nvGrpSpPr>
            <p:cNvPr name="Group 29" id="31"/>
            <p:cNvGrpSpPr/>
            <p:nvPr/>
          </p:nvGrpSpPr>
          <p:grpSpPr>
            <a:xfrm rot="0">
              <a:off x="225553" y="139111"/>
              <a:ext cx="3161187" cy="1205094"/>
              <a:chOff x="0" y="0"/>
              <a:chExt cx="3161187" cy="1205094"/>
            </a:xfrm>
          </p:grpSpPr>
          <p:sp>
            <p:nvSpPr>
              <p:cNvPr name="Freeform 30" id="32"/>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31" id="33"/>
              <p:cNvSpPr txBox="true"/>
              <p:nvPr/>
            </p:nvSpPr>
            <p:spPr>
              <a:xfrm>
                <a:off x="0" y="-9525"/>
                <a:ext cx="3161187" cy="1214619"/>
              </a:xfrm>
              <a:prstGeom prst="rect">
                <a:avLst/>
              </a:prstGeom>
            </p:spPr>
            <p:txBody>
              <a:bodyPr anchor="ctr" rtlCol="false" tIns="0" lIns="0" bIns="0" rIns="0"/>
              <a:lstStyle/>
              <a:p>
                <a:pPr algn="ctr">
                  <a:lnSpc>
                    <a:spcPts val="5159"/>
                  </a:lnSpc>
                </a:pPr>
                <a:r>
                  <a:rPr lang="en-US" b="true" sz="4299">
                    <a:solidFill>
                      <a:srgbClr val="FFFFFF"/>
                    </a:solidFill>
                    <a:latin typeface="Exo 2 Bold"/>
                    <a:ea typeface="Exo 2 Bold"/>
                    <a:cs typeface="Exo 2 Bold"/>
                    <a:sym typeface="Exo 2 Bold"/>
                  </a:rPr>
                  <a:t>72</a:t>
                </a:r>
              </a:p>
            </p:txBody>
          </p:sp>
        </p:grpSp>
        <p:grpSp>
          <p:nvGrpSpPr>
            <p:cNvPr name="Group 32" id="34"/>
            <p:cNvGrpSpPr/>
            <p:nvPr/>
          </p:nvGrpSpPr>
          <p:grpSpPr>
            <a:xfrm rot="0">
              <a:off x="225553" y="1340531"/>
              <a:ext cx="3161187" cy="498551"/>
              <a:chOff x="0" y="0"/>
              <a:chExt cx="3161187" cy="498551"/>
            </a:xfrm>
          </p:grpSpPr>
          <p:sp>
            <p:nvSpPr>
              <p:cNvPr name="Freeform 33" id="35"/>
              <p:cNvSpPr/>
              <p:nvPr/>
            </p:nvSpPr>
            <p:spPr>
              <a:xfrm flipH="false" flipV="false" rot="0">
                <a:off x="0" y="0"/>
                <a:ext cx="3161187" cy="498551"/>
              </a:xfrm>
              <a:custGeom>
                <a:avLst/>
                <a:gdLst/>
                <a:ahLst/>
                <a:cxnLst/>
                <a:rect r="r" b="b" t="t" l="l"/>
                <a:pathLst>
                  <a:path h="498551" w="3161187">
                    <a:moveTo>
                      <a:pt x="0" y="0"/>
                    </a:moveTo>
                    <a:lnTo>
                      <a:pt x="3161187" y="0"/>
                    </a:lnTo>
                    <a:lnTo>
                      <a:pt x="3161187" y="498551"/>
                    </a:lnTo>
                    <a:lnTo>
                      <a:pt x="0" y="498551"/>
                    </a:lnTo>
                    <a:close/>
                  </a:path>
                </a:pathLst>
              </a:custGeom>
              <a:blipFill>
                <a:blip r:embed="rId2">
                  <a:alphaModFix amt="0"/>
                </a:blip>
                <a:stretch>
                  <a:fillRect l="0" t="-72215" r="-47521" b="-192309"/>
                </a:stretch>
              </a:blipFill>
            </p:spPr>
          </p:sp>
          <p:sp>
            <p:nvSpPr>
              <p:cNvPr name="TextBox 34" id="36"/>
              <p:cNvSpPr txBox="true"/>
              <p:nvPr/>
            </p:nvSpPr>
            <p:spPr>
              <a:xfrm>
                <a:off x="0" y="-9525"/>
                <a:ext cx="3161187" cy="508076"/>
              </a:xfrm>
              <a:prstGeom prst="rect">
                <a:avLst/>
              </a:prstGeom>
            </p:spPr>
            <p:txBody>
              <a:bodyPr anchor="ctr" rtlCol="false" tIns="0" lIns="0" bIns="0" rIns="0"/>
              <a:lstStyle/>
              <a:p>
                <a:pPr algn="ctr" marL="0" indent="0" lvl="0">
                  <a:lnSpc>
                    <a:spcPts val="2159"/>
                  </a:lnSpc>
                  <a:spcBef>
                    <a:spcPct val="0"/>
                  </a:spcBef>
                </a:pPr>
                <a:r>
                  <a:rPr lang="en-US" sz="1799">
                    <a:solidFill>
                      <a:srgbClr val="FFFFFF"/>
                    </a:solidFill>
                    <a:latin typeface="Exo 2"/>
                    <a:ea typeface="Exo 2"/>
                    <a:cs typeface="Exo 2"/>
                    <a:sym typeface="Exo 2"/>
                  </a:rPr>
                  <a:t>Clients Emailed </a:t>
                </a:r>
              </a:p>
            </p:txBody>
          </p:sp>
        </p:grpSp>
      </p:grpSp>
      <p:grpSp>
        <p:nvGrpSpPr>
          <p:cNvPr name="Group 35" id="37"/>
          <p:cNvGrpSpPr/>
          <p:nvPr/>
        </p:nvGrpSpPr>
        <p:grpSpPr>
          <a:xfrm rot="0">
            <a:off x="6228840" y="2089490"/>
            <a:ext cx="2709220" cy="1819519"/>
            <a:chOff x="0" y="0"/>
            <a:chExt cx="3612293" cy="2426025"/>
          </a:xfrm>
        </p:grpSpPr>
        <p:grpSp>
          <p:nvGrpSpPr>
            <p:cNvPr name="Group 36" id="38"/>
            <p:cNvGrpSpPr/>
            <p:nvPr/>
          </p:nvGrpSpPr>
          <p:grpSpPr>
            <a:xfrm rot="0">
              <a:off x="0" y="0"/>
              <a:ext cx="3612293" cy="2426025"/>
              <a:chOff x="0" y="0"/>
              <a:chExt cx="3612293" cy="2426025"/>
            </a:xfrm>
          </p:grpSpPr>
          <p:sp>
            <p:nvSpPr>
              <p:cNvPr name="Freeform 37" id="39"/>
              <p:cNvSpPr/>
              <p:nvPr/>
            </p:nvSpPr>
            <p:spPr>
              <a:xfrm flipH="false" flipV="false" rot="0">
                <a:off x="8609" y="12823"/>
                <a:ext cx="3595076" cy="2400380"/>
              </a:xfrm>
              <a:custGeom>
                <a:avLst/>
                <a:gdLst/>
                <a:ahLst/>
                <a:cxnLst/>
                <a:rect r="r" b="b" t="t" l="l"/>
                <a:pathLst>
                  <a:path h="2400380" w="3595076">
                    <a:moveTo>
                      <a:pt x="0" y="0"/>
                    </a:moveTo>
                    <a:lnTo>
                      <a:pt x="3595076" y="0"/>
                    </a:lnTo>
                    <a:lnTo>
                      <a:pt x="3595076" y="2400380"/>
                    </a:lnTo>
                    <a:lnTo>
                      <a:pt x="0" y="2400380"/>
                    </a:lnTo>
                    <a:close/>
                  </a:path>
                </a:pathLst>
              </a:custGeom>
              <a:blipFill>
                <a:blip r:embed="rId10"/>
                <a:stretch>
                  <a:fillRect/>
                </a:stretch>
              </a:blipFill>
            </p:spPr>
          </p:sp>
          <p:sp>
            <p:nvSpPr>
              <p:cNvPr name="Freeform 38" id="40"/>
              <p:cNvSpPr/>
              <p:nvPr/>
            </p:nvSpPr>
            <p:spPr>
              <a:xfrm flipH="false" flipV="false" rot="0">
                <a:off x="0" y="0"/>
                <a:ext cx="3612293" cy="2426025"/>
              </a:xfrm>
              <a:custGeom>
                <a:avLst/>
                <a:gdLst/>
                <a:ahLst/>
                <a:cxnLst/>
                <a:rect r="r" b="b" t="t" l="l"/>
                <a:pathLst>
                  <a:path h="2426025" w="3612293">
                    <a:moveTo>
                      <a:pt x="8609" y="0"/>
                    </a:moveTo>
                    <a:lnTo>
                      <a:pt x="3603685" y="0"/>
                    </a:lnTo>
                    <a:cubicBezTo>
                      <a:pt x="3608419" y="0"/>
                      <a:pt x="3612293" y="5770"/>
                      <a:pt x="3612293" y="12823"/>
                    </a:cubicBezTo>
                    <a:lnTo>
                      <a:pt x="3612293" y="2413203"/>
                    </a:lnTo>
                    <a:cubicBezTo>
                      <a:pt x="3612293" y="2420255"/>
                      <a:pt x="3608419" y="2426025"/>
                      <a:pt x="3603685" y="2426025"/>
                    </a:cubicBezTo>
                    <a:lnTo>
                      <a:pt x="8609" y="2426025"/>
                    </a:lnTo>
                    <a:cubicBezTo>
                      <a:pt x="3874" y="2426025"/>
                      <a:pt x="0" y="2420255"/>
                      <a:pt x="0" y="2413203"/>
                    </a:cubicBezTo>
                    <a:lnTo>
                      <a:pt x="0" y="12823"/>
                    </a:lnTo>
                    <a:cubicBezTo>
                      <a:pt x="0" y="5770"/>
                      <a:pt x="3874" y="0"/>
                      <a:pt x="8609" y="0"/>
                    </a:cubicBezTo>
                    <a:moveTo>
                      <a:pt x="8609" y="25645"/>
                    </a:moveTo>
                    <a:lnTo>
                      <a:pt x="8609" y="12823"/>
                    </a:lnTo>
                    <a:lnTo>
                      <a:pt x="17218" y="12823"/>
                    </a:lnTo>
                    <a:lnTo>
                      <a:pt x="17218" y="2413203"/>
                    </a:lnTo>
                    <a:lnTo>
                      <a:pt x="8609" y="2413203"/>
                    </a:lnTo>
                    <a:lnTo>
                      <a:pt x="8609" y="2400380"/>
                    </a:lnTo>
                    <a:lnTo>
                      <a:pt x="3603685" y="2400380"/>
                    </a:lnTo>
                    <a:lnTo>
                      <a:pt x="3603685" y="2413203"/>
                    </a:lnTo>
                    <a:lnTo>
                      <a:pt x="3595076" y="2413203"/>
                    </a:lnTo>
                    <a:lnTo>
                      <a:pt x="3595076" y="12823"/>
                    </a:lnTo>
                    <a:lnTo>
                      <a:pt x="3603685" y="12823"/>
                    </a:lnTo>
                    <a:lnTo>
                      <a:pt x="3603685" y="25645"/>
                    </a:lnTo>
                    <a:lnTo>
                      <a:pt x="8609" y="25645"/>
                    </a:lnTo>
                    <a:close/>
                  </a:path>
                </a:pathLst>
              </a:custGeom>
              <a:solidFill>
                <a:srgbClr val="121A2F"/>
              </a:solidFill>
            </p:spPr>
          </p:sp>
        </p:grpSp>
        <p:grpSp>
          <p:nvGrpSpPr>
            <p:cNvPr name="Group 39" id="41"/>
            <p:cNvGrpSpPr/>
            <p:nvPr/>
          </p:nvGrpSpPr>
          <p:grpSpPr>
            <a:xfrm rot="0">
              <a:off x="225553" y="139111"/>
              <a:ext cx="3161187" cy="1205094"/>
              <a:chOff x="0" y="0"/>
              <a:chExt cx="3161187" cy="1205094"/>
            </a:xfrm>
          </p:grpSpPr>
          <p:sp>
            <p:nvSpPr>
              <p:cNvPr name="Freeform 40" id="42"/>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41" id="43"/>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FFFFFF"/>
                    </a:solidFill>
                    <a:latin typeface="Exo 2 Bold"/>
                    <a:ea typeface="Exo 2 Bold"/>
                    <a:cs typeface="Exo 2 Bold"/>
                    <a:sym typeface="Exo 2 Bold"/>
                  </a:rPr>
                  <a:t>4</a:t>
                </a:r>
              </a:p>
            </p:txBody>
          </p:sp>
        </p:grpSp>
        <p:grpSp>
          <p:nvGrpSpPr>
            <p:cNvPr name="Group 42" id="44"/>
            <p:cNvGrpSpPr/>
            <p:nvPr/>
          </p:nvGrpSpPr>
          <p:grpSpPr>
            <a:xfrm rot="0">
              <a:off x="225553" y="1344206"/>
              <a:ext cx="3161187" cy="498551"/>
              <a:chOff x="0" y="0"/>
              <a:chExt cx="3161187" cy="498551"/>
            </a:xfrm>
          </p:grpSpPr>
          <p:sp>
            <p:nvSpPr>
              <p:cNvPr name="Freeform 43" id="45"/>
              <p:cNvSpPr/>
              <p:nvPr/>
            </p:nvSpPr>
            <p:spPr>
              <a:xfrm flipH="false" flipV="false" rot="0">
                <a:off x="0" y="0"/>
                <a:ext cx="3161187" cy="498551"/>
              </a:xfrm>
              <a:custGeom>
                <a:avLst/>
                <a:gdLst/>
                <a:ahLst/>
                <a:cxnLst/>
                <a:rect r="r" b="b" t="t" l="l"/>
                <a:pathLst>
                  <a:path h="498551" w="3161187">
                    <a:moveTo>
                      <a:pt x="0" y="0"/>
                    </a:moveTo>
                    <a:lnTo>
                      <a:pt x="3161187" y="0"/>
                    </a:lnTo>
                    <a:lnTo>
                      <a:pt x="3161187" y="498551"/>
                    </a:lnTo>
                    <a:lnTo>
                      <a:pt x="0" y="498551"/>
                    </a:lnTo>
                    <a:close/>
                  </a:path>
                </a:pathLst>
              </a:custGeom>
              <a:blipFill>
                <a:blip r:embed="rId2">
                  <a:alphaModFix amt="0"/>
                </a:blip>
                <a:stretch>
                  <a:fillRect l="0" t="-72215" r="-47521" b="-192309"/>
                </a:stretch>
              </a:blipFill>
            </p:spPr>
          </p:sp>
          <p:sp>
            <p:nvSpPr>
              <p:cNvPr name="TextBox 44" id="46"/>
              <p:cNvSpPr txBox="true"/>
              <p:nvPr/>
            </p:nvSpPr>
            <p:spPr>
              <a:xfrm>
                <a:off x="0" y="-9525"/>
                <a:ext cx="3161187" cy="508076"/>
              </a:xfrm>
              <a:prstGeom prst="rect">
                <a:avLst/>
              </a:prstGeom>
            </p:spPr>
            <p:txBody>
              <a:bodyPr anchor="ctr" rtlCol="false" tIns="0" lIns="0" bIns="0" rIns="0"/>
              <a:lstStyle/>
              <a:p>
                <a:pPr algn="ctr" marL="0" indent="0" lvl="0">
                  <a:lnSpc>
                    <a:spcPts val="2159"/>
                  </a:lnSpc>
                  <a:spcBef>
                    <a:spcPct val="0"/>
                  </a:spcBef>
                </a:pPr>
                <a:r>
                  <a:rPr lang="en-US" sz="1799">
                    <a:solidFill>
                      <a:srgbClr val="FFFFFF"/>
                    </a:solidFill>
                    <a:latin typeface="Exo 2"/>
                    <a:ea typeface="Exo 2"/>
                    <a:cs typeface="Exo 2"/>
                    <a:sym typeface="Exo 2"/>
                  </a:rPr>
                  <a:t>WhatsApp Clients</a:t>
                </a:r>
              </a:p>
            </p:txBody>
          </p:sp>
        </p:grpSp>
      </p:grpSp>
      <p:grpSp>
        <p:nvGrpSpPr>
          <p:cNvPr name="Group 45" id="47"/>
          <p:cNvGrpSpPr/>
          <p:nvPr/>
        </p:nvGrpSpPr>
        <p:grpSpPr>
          <a:xfrm rot="0">
            <a:off x="585597" y="4441441"/>
            <a:ext cx="16655936" cy="1386520"/>
            <a:chOff x="0" y="0"/>
            <a:chExt cx="22207915" cy="1848694"/>
          </a:xfrm>
        </p:grpSpPr>
        <p:grpSp>
          <p:nvGrpSpPr>
            <p:cNvPr name="Group 46" id="48"/>
            <p:cNvGrpSpPr/>
            <p:nvPr/>
          </p:nvGrpSpPr>
          <p:grpSpPr>
            <a:xfrm rot="0">
              <a:off x="591499" y="814347"/>
              <a:ext cx="21616416" cy="1034346"/>
              <a:chOff x="0" y="0"/>
              <a:chExt cx="21616416" cy="1034346"/>
            </a:xfrm>
          </p:grpSpPr>
          <p:sp>
            <p:nvSpPr>
              <p:cNvPr name="Freeform 47" id="49"/>
              <p:cNvSpPr/>
              <p:nvPr/>
            </p:nvSpPr>
            <p:spPr>
              <a:xfrm flipH="false" flipV="false" rot="0">
                <a:off x="0" y="0"/>
                <a:ext cx="21616415" cy="1034346"/>
              </a:xfrm>
              <a:custGeom>
                <a:avLst/>
                <a:gdLst/>
                <a:ahLst/>
                <a:cxnLst/>
                <a:rect r="r" b="b" t="t" l="l"/>
                <a:pathLst>
                  <a:path h="1034346" w="21616415">
                    <a:moveTo>
                      <a:pt x="0" y="0"/>
                    </a:moveTo>
                    <a:lnTo>
                      <a:pt x="21616415" y="0"/>
                    </a:lnTo>
                    <a:lnTo>
                      <a:pt x="21616415" y="1034346"/>
                    </a:lnTo>
                    <a:lnTo>
                      <a:pt x="0" y="1034346"/>
                    </a:lnTo>
                    <a:close/>
                  </a:path>
                </a:pathLst>
              </a:custGeom>
              <a:blipFill>
                <a:blip r:embed="rId2">
                  <a:alphaModFix amt="0"/>
                </a:blip>
                <a:stretch>
                  <a:fillRect l="0" t="-382457" r="0" b="-331963"/>
                </a:stretch>
              </a:blipFill>
            </p:spPr>
          </p:sp>
          <p:sp>
            <p:nvSpPr>
              <p:cNvPr name="TextBox 48" id="50"/>
              <p:cNvSpPr txBox="true"/>
              <p:nvPr/>
            </p:nvSpPr>
            <p:spPr>
              <a:xfrm>
                <a:off x="0" y="0"/>
                <a:ext cx="21616416" cy="10343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Out of 20 clients contact called, 6 have completed onboarding, giving a conversion rate of 20%. The remaining 14 clients (80%) are</a:t>
                </a:r>
              </a:p>
              <a:p>
                <a:pPr algn="just">
                  <a:lnSpc>
                    <a:spcPts val="2579"/>
                  </a:lnSpc>
                </a:pPr>
                <a:r>
                  <a:rPr lang="en-US" sz="2149">
                    <a:solidFill>
                      <a:srgbClr val="5A6A85"/>
                    </a:solidFill>
                    <a:latin typeface="Exo 2"/>
                    <a:ea typeface="Exo 2"/>
                    <a:cs typeface="Exo 2"/>
                    <a:sym typeface="Exo 2"/>
                  </a:rPr>
                  <a:t>still pending, representing the primary area for continued follow-up.</a:t>
                </a:r>
              </a:p>
            </p:txBody>
          </p:sp>
        </p:grpSp>
        <p:grpSp>
          <p:nvGrpSpPr>
            <p:cNvPr name="Group 49" id="51"/>
            <p:cNvGrpSpPr/>
            <p:nvPr/>
          </p:nvGrpSpPr>
          <p:grpSpPr>
            <a:xfrm rot="0">
              <a:off x="66735" y="978800"/>
              <a:ext cx="370790" cy="324441"/>
              <a:chOff x="0" y="0"/>
              <a:chExt cx="812800" cy="711200"/>
            </a:xfrm>
          </p:grpSpPr>
          <p:sp>
            <p:nvSpPr>
              <p:cNvPr name="Freeform 50" id="52"/>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1"/>
                <a:stretch>
                  <a:fillRect/>
                </a:stretch>
              </a:blipFill>
            </p:spPr>
          </p:sp>
          <p:sp>
            <p:nvSpPr>
              <p:cNvPr name="TextBox 51" id="53"/>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sp>
          <p:nvSpPr>
            <p:cNvPr name="TextBox 52" id="54"/>
            <p:cNvSpPr txBox="true"/>
            <p:nvPr/>
          </p:nvSpPr>
          <p:spPr>
            <a:xfrm rot="0">
              <a:off x="0" y="-19050"/>
              <a:ext cx="2257425" cy="603250"/>
            </a:xfrm>
            <a:prstGeom prst="rect">
              <a:avLst/>
            </a:prstGeom>
          </p:spPr>
          <p:txBody>
            <a:bodyPr anchor="t" rtlCol="false" tIns="0" lIns="0" bIns="0" rIns="0">
              <a:spAutoFit/>
            </a:bodyPr>
            <a:lstStyle/>
            <a:p>
              <a:pPr algn="l">
                <a:lnSpc>
                  <a:spcPts val="3510"/>
                </a:lnSpc>
              </a:pPr>
              <a:r>
                <a:rPr lang="en-US" b="true" sz="2925">
                  <a:solidFill>
                    <a:srgbClr val="1F3B8C"/>
                  </a:solidFill>
                  <a:latin typeface="Arimo Bold"/>
                  <a:ea typeface="Arimo Bold"/>
                  <a:cs typeface="Arimo Bold"/>
                  <a:sym typeface="Arimo Bold"/>
                </a:rPr>
                <a:t>Summary</a:t>
              </a:r>
            </a:p>
          </p:txBody>
        </p:sp>
      </p:grpSp>
      <p:sp>
        <p:nvSpPr>
          <p:cNvPr name="Freeform 56" id="55"/>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8"/>
            <a:stretch>
              <a:fillRect l="0" t="0" r="0" b="0"/>
            </a:stretch>
          </a:blipFill>
        </p:spPr>
      </p:sp>
      <p:grpSp>
        <p:nvGrpSpPr>
          <p:cNvPr name="Group 58" id="56"/>
          <p:cNvGrpSpPr/>
          <p:nvPr/>
        </p:nvGrpSpPr>
        <p:grpSpPr>
          <a:xfrm rot="0">
            <a:off x="585597" y="6024306"/>
            <a:ext cx="16655936" cy="2161119"/>
            <a:chOff x="0" y="0"/>
            <a:chExt cx="22207915" cy="2881493"/>
          </a:xfrm>
        </p:grpSpPr>
        <p:sp>
          <p:nvSpPr>
            <p:cNvPr name="TextBox 59" id="57"/>
            <p:cNvSpPr txBox="true"/>
            <p:nvPr/>
          </p:nvSpPr>
          <p:spPr>
            <a:xfrm rot="0">
              <a:off x="0" y="-19050"/>
              <a:ext cx="4211638" cy="603250"/>
            </a:xfrm>
            <a:prstGeom prst="rect">
              <a:avLst/>
            </a:prstGeom>
          </p:spPr>
          <p:txBody>
            <a:bodyPr anchor="t" rtlCol="false" tIns="0" lIns="0" bIns="0" rIns="0">
              <a:spAutoFit/>
            </a:bodyPr>
            <a:lstStyle/>
            <a:p>
              <a:pPr algn="l">
                <a:lnSpc>
                  <a:spcPts val="3510"/>
                </a:lnSpc>
              </a:pPr>
              <a:r>
                <a:rPr lang="en-US" b="true" sz="2925">
                  <a:solidFill>
                    <a:srgbClr val="1F3B8C"/>
                  </a:solidFill>
                  <a:latin typeface="Arimo Bold"/>
                  <a:ea typeface="Arimo Bold"/>
                  <a:cs typeface="Arimo Bold"/>
                  <a:sym typeface="Arimo Bold"/>
                </a:rPr>
                <a:t>Client Feedback’s</a:t>
              </a:r>
            </a:p>
          </p:txBody>
        </p:sp>
        <p:grpSp>
          <p:nvGrpSpPr>
            <p:cNvPr name="Group 60" id="58"/>
            <p:cNvGrpSpPr/>
            <p:nvPr/>
          </p:nvGrpSpPr>
          <p:grpSpPr>
            <a:xfrm rot="0">
              <a:off x="591499" y="812800"/>
              <a:ext cx="21616416" cy="1034346"/>
              <a:chOff x="0" y="0"/>
              <a:chExt cx="21616416" cy="1034346"/>
            </a:xfrm>
          </p:grpSpPr>
          <p:sp>
            <p:nvSpPr>
              <p:cNvPr name="Freeform 61" id="59"/>
              <p:cNvSpPr/>
              <p:nvPr/>
            </p:nvSpPr>
            <p:spPr>
              <a:xfrm flipH="false" flipV="false" rot="0">
                <a:off x="0" y="0"/>
                <a:ext cx="21616415" cy="1034346"/>
              </a:xfrm>
              <a:custGeom>
                <a:avLst/>
                <a:gdLst/>
                <a:ahLst/>
                <a:cxnLst/>
                <a:rect r="r" b="b" t="t" l="l"/>
                <a:pathLst>
                  <a:path h="1034346" w="21616415">
                    <a:moveTo>
                      <a:pt x="0" y="0"/>
                    </a:moveTo>
                    <a:lnTo>
                      <a:pt x="21616415" y="0"/>
                    </a:lnTo>
                    <a:lnTo>
                      <a:pt x="21616415" y="1034346"/>
                    </a:lnTo>
                    <a:lnTo>
                      <a:pt x="0" y="1034346"/>
                    </a:lnTo>
                    <a:close/>
                  </a:path>
                </a:pathLst>
              </a:custGeom>
              <a:blipFill>
                <a:blip r:embed="rId2">
                  <a:alphaModFix amt="0"/>
                </a:blip>
                <a:stretch>
                  <a:fillRect l="0" t="-382457" r="0" b="-331963"/>
                </a:stretch>
              </a:blipFill>
            </p:spPr>
          </p:sp>
          <p:sp>
            <p:nvSpPr>
              <p:cNvPr name="TextBox 62" id="60"/>
              <p:cNvSpPr txBox="true"/>
              <p:nvPr/>
            </p:nvSpPr>
            <p:spPr>
              <a:xfrm>
                <a:off x="0" y="0"/>
                <a:ext cx="21616416" cy="10343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Missing or incomplete documents: Many clients don't have the required KYC documents ready at the time of registration, causing</a:t>
                </a:r>
              </a:p>
              <a:p>
                <a:pPr algn="just">
                  <a:lnSpc>
                    <a:spcPts val="2579"/>
                  </a:lnSpc>
                </a:pPr>
                <a:r>
                  <a:rPr lang="en-US" sz="2149">
                    <a:solidFill>
                      <a:srgbClr val="5A6A85"/>
                    </a:solidFill>
                    <a:latin typeface="Exo 2"/>
                    <a:ea typeface="Exo 2"/>
                    <a:cs typeface="Exo 2"/>
                    <a:sym typeface="Exo 2"/>
                  </a:rPr>
                  <a:t>delays or drop-off</a:t>
                </a:r>
              </a:p>
            </p:txBody>
          </p:sp>
        </p:grpSp>
        <p:grpSp>
          <p:nvGrpSpPr>
            <p:cNvPr name="Group 63" id="61"/>
            <p:cNvGrpSpPr/>
            <p:nvPr/>
          </p:nvGrpSpPr>
          <p:grpSpPr>
            <a:xfrm rot="0">
              <a:off x="66735" y="977253"/>
              <a:ext cx="370790" cy="324441"/>
              <a:chOff x="0" y="0"/>
              <a:chExt cx="812800" cy="711200"/>
            </a:xfrm>
          </p:grpSpPr>
          <p:sp>
            <p:nvSpPr>
              <p:cNvPr name="Freeform 64" id="62"/>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1"/>
                <a:stretch>
                  <a:fillRect/>
                </a:stretch>
              </a:blipFill>
            </p:spPr>
          </p:sp>
          <p:sp>
            <p:nvSpPr>
              <p:cNvPr name="TextBox 65" id="63"/>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nvGrpSpPr>
            <p:cNvPr name="Group 66" id="64"/>
            <p:cNvGrpSpPr/>
            <p:nvPr/>
          </p:nvGrpSpPr>
          <p:grpSpPr>
            <a:xfrm rot="0">
              <a:off x="591499" y="1847146"/>
              <a:ext cx="21616416" cy="1034346"/>
              <a:chOff x="0" y="0"/>
              <a:chExt cx="21616416" cy="1034346"/>
            </a:xfrm>
          </p:grpSpPr>
          <p:sp>
            <p:nvSpPr>
              <p:cNvPr name="Freeform 67" id="65"/>
              <p:cNvSpPr/>
              <p:nvPr/>
            </p:nvSpPr>
            <p:spPr>
              <a:xfrm flipH="false" flipV="false" rot="0">
                <a:off x="0" y="0"/>
                <a:ext cx="21616415" cy="1034346"/>
              </a:xfrm>
              <a:custGeom>
                <a:avLst/>
                <a:gdLst/>
                <a:ahLst/>
                <a:cxnLst/>
                <a:rect r="r" b="b" t="t" l="l"/>
                <a:pathLst>
                  <a:path h="1034346" w="21616415">
                    <a:moveTo>
                      <a:pt x="0" y="0"/>
                    </a:moveTo>
                    <a:lnTo>
                      <a:pt x="21616415" y="0"/>
                    </a:lnTo>
                    <a:lnTo>
                      <a:pt x="21616415" y="1034346"/>
                    </a:lnTo>
                    <a:lnTo>
                      <a:pt x="0" y="1034346"/>
                    </a:lnTo>
                    <a:close/>
                  </a:path>
                </a:pathLst>
              </a:custGeom>
              <a:blipFill>
                <a:blip r:embed="rId2">
                  <a:alphaModFix amt="0"/>
                </a:blip>
                <a:stretch>
                  <a:fillRect l="0" t="-382457" r="0" b="-331963"/>
                </a:stretch>
              </a:blipFill>
            </p:spPr>
          </p:sp>
          <p:sp>
            <p:nvSpPr>
              <p:cNvPr name="TextBox 68" id="66"/>
              <p:cNvSpPr txBox="true"/>
              <p:nvPr/>
            </p:nvSpPr>
            <p:spPr>
              <a:xfrm>
                <a:off x="0" y="0"/>
                <a:ext cx="21616416" cy="10343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KYC process feels too long: Clients report the verification steps take longer than expected, leading to frustration and mid-process</a:t>
                </a:r>
              </a:p>
              <a:p>
                <a:pPr algn="just">
                  <a:lnSpc>
                    <a:spcPts val="2579"/>
                  </a:lnSpc>
                </a:pPr>
                <a:r>
                  <a:rPr lang="en-US" sz="2149">
                    <a:solidFill>
                      <a:srgbClr val="5A6A85"/>
                    </a:solidFill>
                    <a:latin typeface="Exo 2"/>
                    <a:ea typeface="Exo 2"/>
                    <a:cs typeface="Exo 2"/>
                    <a:sym typeface="Exo 2"/>
                  </a:rPr>
                  <a:t>abandonment</a:t>
                </a:r>
              </a:p>
            </p:txBody>
          </p:sp>
        </p:grpSp>
        <p:grpSp>
          <p:nvGrpSpPr>
            <p:cNvPr name="Group 69" id="67"/>
            <p:cNvGrpSpPr/>
            <p:nvPr/>
          </p:nvGrpSpPr>
          <p:grpSpPr>
            <a:xfrm rot="0">
              <a:off x="66735" y="2011599"/>
              <a:ext cx="370790" cy="324441"/>
              <a:chOff x="0" y="0"/>
              <a:chExt cx="812800" cy="711200"/>
            </a:xfrm>
          </p:grpSpPr>
          <p:sp>
            <p:nvSpPr>
              <p:cNvPr name="Freeform 70" id="68"/>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1"/>
                <a:stretch>
                  <a:fillRect/>
                </a:stretch>
              </a:blipFill>
            </p:spPr>
          </p:sp>
          <p:sp>
            <p:nvSpPr>
              <p:cNvPr name="TextBox 71" id="69"/>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grpSp>
        <p:nvGrpSpPr>
          <p:cNvPr name="Group 72" id="70"/>
          <p:cNvGrpSpPr/>
          <p:nvPr/>
        </p:nvGrpSpPr>
        <p:grpSpPr>
          <a:xfrm rot="0">
            <a:off x="11990180" y="2089490"/>
            <a:ext cx="2709220" cy="1789639"/>
            <a:chOff x="0" y="0"/>
            <a:chExt cx="3612293" cy="2386185"/>
          </a:xfrm>
        </p:grpSpPr>
        <p:grpSp>
          <p:nvGrpSpPr>
            <p:cNvPr name="Group 73" id="71"/>
            <p:cNvGrpSpPr/>
            <p:nvPr/>
          </p:nvGrpSpPr>
          <p:grpSpPr>
            <a:xfrm rot="0">
              <a:off x="0" y="0"/>
              <a:ext cx="3612293" cy="2386185"/>
              <a:chOff x="0" y="0"/>
              <a:chExt cx="3612293" cy="2386185"/>
            </a:xfrm>
          </p:grpSpPr>
          <p:sp>
            <p:nvSpPr>
              <p:cNvPr name="Freeform 74" id="72"/>
              <p:cNvSpPr/>
              <p:nvPr/>
            </p:nvSpPr>
            <p:spPr>
              <a:xfrm flipH="false" flipV="false" rot="0">
                <a:off x="8609" y="12612"/>
                <a:ext cx="3595076" cy="2360961"/>
              </a:xfrm>
              <a:custGeom>
                <a:avLst/>
                <a:gdLst/>
                <a:ahLst/>
                <a:cxnLst/>
                <a:rect r="r" b="b" t="t" l="l"/>
                <a:pathLst>
                  <a:path h="2360961" w="3595076">
                    <a:moveTo>
                      <a:pt x="0" y="0"/>
                    </a:moveTo>
                    <a:lnTo>
                      <a:pt x="3595076" y="0"/>
                    </a:lnTo>
                    <a:lnTo>
                      <a:pt x="3595076" y="2360961"/>
                    </a:lnTo>
                    <a:lnTo>
                      <a:pt x="0" y="2360961"/>
                    </a:lnTo>
                    <a:close/>
                  </a:path>
                </a:pathLst>
              </a:custGeom>
              <a:blipFill>
                <a:blip r:embed="rId12"/>
                <a:stretch>
                  <a:fillRect/>
                </a:stretch>
              </a:blipFill>
            </p:spPr>
          </p:sp>
          <p:sp>
            <p:nvSpPr>
              <p:cNvPr name="Freeform 75" id="73"/>
              <p:cNvSpPr/>
              <p:nvPr/>
            </p:nvSpPr>
            <p:spPr>
              <a:xfrm flipH="false" flipV="false" rot="0">
                <a:off x="0" y="0"/>
                <a:ext cx="3612293" cy="2386185"/>
              </a:xfrm>
              <a:custGeom>
                <a:avLst/>
                <a:gdLst/>
                <a:ahLst/>
                <a:cxnLst/>
                <a:rect r="r" b="b" t="t" l="l"/>
                <a:pathLst>
                  <a:path h="2386185" w="3612293">
                    <a:moveTo>
                      <a:pt x="8609" y="0"/>
                    </a:moveTo>
                    <a:lnTo>
                      <a:pt x="3603685" y="0"/>
                    </a:lnTo>
                    <a:cubicBezTo>
                      <a:pt x="3608419" y="0"/>
                      <a:pt x="3612293" y="5675"/>
                      <a:pt x="3612293" y="12612"/>
                    </a:cubicBezTo>
                    <a:lnTo>
                      <a:pt x="3612293" y="2373573"/>
                    </a:lnTo>
                    <a:cubicBezTo>
                      <a:pt x="3612293" y="2380510"/>
                      <a:pt x="3608419" y="2386185"/>
                      <a:pt x="3603685" y="2386185"/>
                    </a:cubicBezTo>
                    <a:lnTo>
                      <a:pt x="8609" y="2386185"/>
                    </a:lnTo>
                    <a:cubicBezTo>
                      <a:pt x="3874" y="2386185"/>
                      <a:pt x="0" y="2380510"/>
                      <a:pt x="0" y="2373573"/>
                    </a:cubicBezTo>
                    <a:lnTo>
                      <a:pt x="0" y="12612"/>
                    </a:lnTo>
                    <a:cubicBezTo>
                      <a:pt x="0" y="5675"/>
                      <a:pt x="3874" y="0"/>
                      <a:pt x="8609" y="0"/>
                    </a:cubicBezTo>
                    <a:moveTo>
                      <a:pt x="8609" y="25224"/>
                    </a:moveTo>
                    <a:lnTo>
                      <a:pt x="8609" y="12612"/>
                    </a:lnTo>
                    <a:lnTo>
                      <a:pt x="17218" y="12612"/>
                    </a:lnTo>
                    <a:lnTo>
                      <a:pt x="17218" y="2373573"/>
                    </a:lnTo>
                    <a:lnTo>
                      <a:pt x="8609" y="2373573"/>
                    </a:lnTo>
                    <a:lnTo>
                      <a:pt x="8609" y="2360961"/>
                    </a:lnTo>
                    <a:lnTo>
                      <a:pt x="3603685" y="2360961"/>
                    </a:lnTo>
                    <a:lnTo>
                      <a:pt x="3603685" y="2373573"/>
                    </a:lnTo>
                    <a:lnTo>
                      <a:pt x="3595076" y="2373573"/>
                    </a:lnTo>
                    <a:lnTo>
                      <a:pt x="3595076" y="12612"/>
                    </a:lnTo>
                    <a:lnTo>
                      <a:pt x="3603685" y="12612"/>
                    </a:lnTo>
                    <a:lnTo>
                      <a:pt x="3603685" y="25224"/>
                    </a:lnTo>
                    <a:lnTo>
                      <a:pt x="8609" y="25224"/>
                    </a:lnTo>
                    <a:close/>
                  </a:path>
                </a:pathLst>
              </a:custGeom>
              <a:solidFill>
                <a:srgbClr val="121A2F"/>
              </a:solidFill>
            </p:spPr>
          </p:sp>
        </p:grpSp>
        <p:grpSp>
          <p:nvGrpSpPr>
            <p:cNvPr name="Group 76" id="74"/>
            <p:cNvGrpSpPr/>
            <p:nvPr/>
          </p:nvGrpSpPr>
          <p:grpSpPr>
            <a:xfrm rot="0">
              <a:off x="225553" y="139111"/>
              <a:ext cx="3161187" cy="1205094"/>
              <a:chOff x="0" y="0"/>
              <a:chExt cx="3161187" cy="1205094"/>
            </a:xfrm>
          </p:grpSpPr>
          <p:sp>
            <p:nvSpPr>
              <p:cNvPr name="Freeform 77" id="75"/>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78" id="76"/>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C0392B"/>
                    </a:solidFill>
                    <a:latin typeface="Exo 2 Bold"/>
                    <a:ea typeface="Exo 2 Bold"/>
                    <a:cs typeface="Exo 2 Bold"/>
                    <a:sym typeface="Exo 2 Bold"/>
                  </a:rPr>
                  <a:t>14</a:t>
                </a:r>
              </a:p>
            </p:txBody>
          </p:sp>
        </p:grpSp>
        <p:grpSp>
          <p:nvGrpSpPr>
            <p:cNvPr name="Group 79" id="77"/>
            <p:cNvGrpSpPr/>
            <p:nvPr/>
          </p:nvGrpSpPr>
          <p:grpSpPr>
            <a:xfrm rot="0">
              <a:off x="225553" y="1340531"/>
              <a:ext cx="3161187" cy="820809"/>
              <a:chOff x="0" y="0"/>
              <a:chExt cx="3161187" cy="820809"/>
            </a:xfrm>
          </p:grpSpPr>
          <p:sp>
            <p:nvSpPr>
              <p:cNvPr name="Freeform 80" id="78"/>
              <p:cNvSpPr/>
              <p:nvPr/>
            </p:nvSpPr>
            <p:spPr>
              <a:xfrm flipH="false" flipV="false" rot="0">
                <a:off x="0" y="0"/>
                <a:ext cx="3161187" cy="820809"/>
              </a:xfrm>
              <a:custGeom>
                <a:avLst/>
                <a:gdLst/>
                <a:ahLst/>
                <a:cxnLst/>
                <a:rect r="r" b="b" t="t" l="l"/>
                <a:pathLst>
                  <a:path h="820809" w="3161187">
                    <a:moveTo>
                      <a:pt x="0" y="0"/>
                    </a:moveTo>
                    <a:lnTo>
                      <a:pt x="3161187" y="0"/>
                    </a:lnTo>
                    <a:lnTo>
                      <a:pt x="3161187" y="820809"/>
                    </a:lnTo>
                    <a:lnTo>
                      <a:pt x="0" y="820809"/>
                    </a:lnTo>
                    <a:close/>
                  </a:path>
                </a:pathLst>
              </a:custGeom>
              <a:blipFill>
                <a:blip r:embed="rId2">
                  <a:alphaModFix amt="0"/>
                </a:blip>
                <a:stretch>
                  <a:fillRect l="0" t="-43863" r="-47521" b="-77545"/>
                </a:stretch>
              </a:blipFill>
            </p:spPr>
          </p:sp>
          <p:sp>
            <p:nvSpPr>
              <p:cNvPr name="TextBox 81" id="79"/>
              <p:cNvSpPr txBox="true"/>
              <p:nvPr/>
            </p:nvSpPr>
            <p:spPr>
              <a:xfrm>
                <a:off x="0" y="-9525"/>
                <a:ext cx="3161187" cy="830334"/>
              </a:xfrm>
              <a:prstGeom prst="rect">
                <a:avLst/>
              </a:prstGeom>
            </p:spPr>
            <p:txBody>
              <a:bodyPr anchor="ctr" rtlCol="false" tIns="0" lIns="0" bIns="0" rIns="0"/>
              <a:lstStyle/>
              <a:p>
                <a:pPr algn="ctr" marL="0" indent="0" lvl="0">
                  <a:lnSpc>
                    <a:spcPts val="2039"/>
                  </a:lnSpc>
                  <a:spcBef>
                    <a:spcPct val="0"/>
                  </a:spcBef>
                </a:pPr>
                <a:r>
                  <a:rPr lang="en-US" sz="1699">
                    <a:solidFill>
                      <a:srgbClr val="FFFFFF"/>
                    </a:solidFill>
                    <a:latin typeface="Exo 2"/>
                    <a:ea typeface="Exo 2"/>
                    <a:cs typeface="Exo 2"/>
                    <a:sym typeface="Exo 2"/>
                  </a:rPr>
                  <a:t>Still Pending (Clients Called) </a:t>
                </a:r>
              </a:p>
            </p:txBody>
          </p:sp>
        </p:grpSp>
      </p:grpSp>
      <p:grpSp>
        <p:nvGrpSpPr>
          <p:cNvPr name="Group 82" id="80"/>
          <p:cNvGrpSpPr/>
          <p:nvPr/>
        </p:nvGrpSpPr>
        <p:grpSpPr>
          <a:xfrm rot="0">
            <a:off x="14870577" y="2089490"/>
            <a:ext cx="2709220" cy="1802130"/>
            <a:chOff x="0" y="0"/>
            <a:chExt cx="3612293" cy="2402840"/>
          </a:xfrm>
        </p:grpSpPr>
        <p:grpSp>
          <p:nvGrpSpPr>
            <p:cNvPr name="Group 83" id="81"/>
            <p:cNvGrpSpPr/>
            <p:nvPr/>
          </p:nvGrpSpPr>
          <p:grpSpPr>
            <a:xfrm rot="0">
              <a:off x="0" y="0"/>
              <a:ext cx="3612293" cy="2402840"/>
              <a:chOff x="0" y="0"/>
              <a:chExt cx="3612293" cy="2402840"/>
            </a:xfrm>
          </p:grpSpPr>
          <p:sp>
            <p:nvSpPr>
              <p:cNvPr name="Freeform 84" id="82"/>
              <p:cNvSpPr/>
              <p:nvPr/>
            </p:nvSpPr>
            <p:spPr>
              <a:xfrm flipH="false" flipV="false" rot="0">
                <a:off x="8609" y="12700"/>
                <a:ext cx="3595076" cy="2377440"/>
              </a:xfrm>
              <a:custGeom>
                <a:avLst/>
                <a:gdLst/>
                <a:ahLst/>
                <a:cxnLst/>
                <a:rect r="r" b="b" t="t" l="l"/>
                <a:pathLst>
                  <a:path h="2377440" w="3595076">
                    <a:moveTo>
                      <a:pt x="0" y="0"/>
                    </a:moveTo>
                    <a:lnTo>
                      <a:pt x="3595076" y="0"/>
                    </a:lnTo>
                    <a:lnTo>
                      <a:pt x="3595076" y="2377440"/>
                    </a:lnTo>
                    <a:lnTo>
                      <a:pt x="0" y="2377440"/>
                    </a:lnTo>
                    <a:close/>
                  </a:path>
                </a:pathLst>
              </a:custGeom>
              <a:blipFill>
                <a:blip r:embed="rId9"/>
                <a:stretch>
                  <a:fillRect/>
                </a:stretch>
              </a:blipFill>
            </p:spPr>
          </p:sp>
          <p:sp>
            <p:nvSpPr>
              <p:cNvPr name="Freeform 85" id="83"/>
              <p:cNvSpPr/>
              <p:nvPr/>
            </p:nvSpPr>
            <p:spPr>
              <a:xfrm flipH="false" flipV="false" rot="0">
                <a:off x="0" y="0"/>
                <a:ext cx="3612293" cy="2402840"/>
              </a:xfrm>
              <a:custGeom>
                <a:avLst/>
                <a:gdLst/>
                <a:ahLst/>
                <a:cxnLst/>
                <a:rect r="r" b="b" t="t" l="l"/>
                <a:pathLst>
                  <a:path h="2402840" w="3612293">
                    <a:moveTo>
                      <a:pt x="8609" y="0"/>
                    </a:moveTo>
                    <a:lnTo>
                      <a:pt x="3603685" y="0"/>
                    </a:lnTo>
                    <a:cubicBezTo>
                      <a:pt x="3608419" y="0"/>
                      <a:pt x="3612293" y="5715"/>
                      <a:pt x="3612293" y="12700"/>
                    </a:cubicBezTo>
                    <a:lnTo>
                      <a:pt x="3612293" y="2390140"/>
                    </a:lnTo>
                    <a:cubicBezTo>
                      <a:pt x="3612293" y="2397125"/>
                      <a:pt x="3608419" y="2402840"/>
                      <a:pt x="3603685" y="2402840"/>
                    </a:cubicBezTo>
                    <a:lnTo>
                      <a:pt x="8609" y="2402840"/>
                    </a:lnTo>
                    <a:cubicBezTo>
                      <a:pt x="3874" y="2402840"/>
                      <a:pt x="0" y="2397125"/>
                      <a:pt x="0" y="2390140"/>
                    </a:cubicBezTo>
                    <a:lnTo>
                      <a:pt x="0" y="12700"/>
                    </a:lnTo>
                    <a:cubicBezTo>
                      <a:pt x="0" y="5715"/>
                      <a:pt x="3874" y="0"/>
                      <a:pt x="8609" y="0"/>
                    </a:cubicBezTo>
                    <a:moveTo>
                      <a:pt x="8609" y="25400"/>
                    </a:moveTo>
                    <a:lnTo>
                      <a:pt x="8609" y="12700"/>
                    </a:lnTo>
                    <a:lnTo>
                      <a:pt x="17218" y="12700"/>
                    </a:lnTo>
                    <a:lnTo>
                      <a:pt x="17218" y="2390140"/>
                    </a:lnTo>
                    <a:lnTo>
                      <a:pt x="8609" y="2390140"/>
                    </a:lnTo>
                    <a:lnTo>
                      <a:pt x="8609" y="2377440"/>
                    </a:lnTo>
                    <a:lnTo>
                      <a:pt x="3603685" y="2377440"/>
                    </a:lnTo>
                    <a:lnTo>
                      <a:pt x="3603685" y="2390140"/>
                    </a:lnTo>
                    <a:lnTo>
                      <a:pt x="3595076" y="2390140"/>
                    </a:lnTo>
                    <a:lnTo>
                      <a:pt x="3595076" y="12700"/>
                    </a:lnTo>
                    <a:lnTo>
                      <a:pt x="3603685" y="12700"/>
                    </a:lnTo>
                    <a:lnTo>
                      <a:pt x="3603685" y="25400"/>
                    </a:lnTo>
                    <a:lnTo>
                      <a:pt x="8609" y="25400"/>
                    </a:lnTo>
                    <a:close/>
                  </a:path>
                </a:pathLst>
              </a:custGeom>
              <a:solidFill>
                <a:srgbClr val="121A2F"/>
              </a:solidFill>
            </p:spPr>
          </p:sp>
        </p:grpSp>
        <p:grpSp>
          <p:nvGrpSpPr>
            <p:cNvPr name="Group 86" id="84"/>
            <p:cNvGrpSpPr/>
            <p:nvPr/>
          </p:nvGrpSpPr>
          <p:grpSpPr>
            <a:xfrm rot="0">
              <a:off x="225553" y="139111"/>
              <a:ext cx="3161187" cy="1205094"/>
              <a:chOff x="0" y="0"/>
              <a:chExt cx="3161187" cy="1205094"/>
            </a:xfrm>
          </p:grpSpPr>
          <p:sp>
            <p:nvSpPr>
              <p:cNvPr name="Freeform 87" id="85"/>
              <p:cNvSpPr/>
              <p:nvPr/>
            </p:nvSpPr>
            <p:spPr>
              <a:xfrm flipH="false" flipV="false" rot="0">
                <a:off x="0" y="0"/>
                <a:ext cx="3161187" cy="1205094"/>
              </a:xfrm>
              <a:custGeom>
                <a:avLst/>
                <a:gdLst/>
                <a:ahLst/>
                <a:cxnLst/>
                <a:rect r="r" b="b" t="t" l="l"/>
                <a:pathLst>
                  <a:path h="1205094" w="3161187">
                    <a:moveTo>
                      <a:pt x="0" y="0"/>
                    </a:moveTo>
                    <a:lnTo>
                      <a:pt x="3161187" y="0"/>
                    </a:lnTo>
                    <a:lnTo>
                      <a:pt x="3161187" y="1205094"/>
                    </a:lnTo>
                    <a:lnTo>
                      <a:pt x="0" y="1205094"/>
                    </a:lnTo>
                    <a:close/>
                  </a:path>
                </a:pathLst>
              </a:custGeom>
              <a:blipFill>
                <a:blip r:embed="rId2">
                  <a:alphaModFix amt="0"/>
                </a:blip>
                <a:stretch>
                  <a:fillRect l="-464" t="0" r="-47986" b="-51755"/>
                </a:stretch>
              </a:blipFill>
            </p:spPr>
          </p:sp>
          <p:sp>
            <p:nvSpPr>
              <p:cNvPr name="TextBox 88" id="86"/>
              <p:cNvSpPr txBox="true"/>
              <p:nvPr/>
            </p:nvSpPr>
            <p:spPr>
              <a:xfrm>
                <a:off x="0" y="-9525"/>
                <a:ext cx="3161187" cy="1214619"/>
              </a:xfrm>
              <a:prstGeom prst="rect">
                <a:avLst/>
              </a:prstGeom>
            </p:spPr>
            <p:txBody>
              <a:bodyPr anchor="ctr" rtlCol="false" tIns="0" lIns="0" bIns="0" rIns="0"/>
              <a:lstStyle/>
              <a:p>
                <a:pPr algn="ctr">
                  <a:lnSpc>
                    <a:spcPts val="5159"/>
                  </a:lnSpc>
                </a:pPr>
                <a:r>
                  <a:rPr lang="en-US" sz="4299" b="true">
                    <a:solidFill>
                      <a:srgbClr val="3DDC84"/>
                    </a:solidFill>
                    <a:latin typeface="Exo 2 Bold"/>
                    <a:ea typeface="Exo 2 Bold"/>
                    <a:cs typeface="Exo 2 Bold"/>
                    <a:sym typeface="Exo 2 Bold"/>
                  </a:rPr>
                  <a:t>20%</a:t>
                </a:r>
              </a:p>
            </p:txBody>
          </p:sp>
        </p:grpSp>
        <p:grpSp>
          <p:nvGrpSpPr>
            <p:cNvPr name="Group 89" id="87"/>
            <p:cNvGrpSpPr/>
            <p:nvPr/>
          </p:nvGrpSpPr>
          <p:grpSpPr>
            <a:xfrm rot="0">
              <a:off x="225553" y="1162731"/>
              <a:ext cx="3161187" cy="854151"/>
              <a:chOff x="0" y="0"/>
              <a:chExt cx="3161187" cy="854151"/>
            </a:xfrm>
          </p:grpSpPr>
          <p:sp>
            <p:nvSpPr>
              <p:cNvPr name="Freeform 90" id="88"/>
              <p:cNvSpPr/>
              <p:nvPr/>
            </p:nvSpPr>
            <p:spPr>
              <a:xfrm flipH="false" flipV="false" rot="0">
                <a:off x="0" y="0"/>
                <a:ext cx="3161187" cy="854151"/>
              </a:xfrm>
              <a:custGeom>
                <a:avLst/>
                <a:gdLst/>
                <a:ahLst/>
                <a:cxnLst/>
                <a:rect r="r" b="b" t="t" l="l"/>
                <a:pathLst>
                  <a:path h="854151" w="3161187">
                    <a:moveTo>
                      <a:pt x="0" y="0"/>
                    </a:moveTo>
                    <a:lnTo>
                      <a:pt x="3161187" y="0"/>
                    </a:lnTo>
                    <a:lnTo>
                      <a:pt x="3161187" y="854151"/>
                    </a:lnTo>
                    <a:lnTo>
                      <a:pt x="0" y="854151"/>
                    </a:lnTo>
                    <a:close/>
                  </a:path>
                </a:pathLst>
              </a:custGeom>
              <a:blipFill>
                <a:blip r:embed="rId2">
                  <a:alphaModFix amt="0"/>
                </a:blip>
                <a:stretch>
                  <a:fillRect l="0" t="-42151" r="-47521" b="-70615"/>
                </a:stretch>
              </a:blipFill>
            </p:spPr>
          </p:sp>
          <p:sp>
            <p:nvSpPr>
              <p:cNvPr name="TextBox 91" id="89"/>
              <p:cNvSpPr txBox="true"/>
              <p:nvPr/>
            </p:nvSpPr>
            <p:spPr>
              <a:xfrm>
                <a:off x="0" y="-9525"/>
                <a:ext cx="3161187" cy="863676"/>
              </a:xfrm>
              <a:prstGeom prst="rect">
                <a:avLst/>
              </a:prstGeom>
            </p:spPr>
            <p:txBody>
              <a:bodyPr anchor="ctr" rtlCol="false" tIns="0" lIns="0" bIns="0" rIns="0"/>
              <a:lstStyle/>
              <a:p>
                <a:pPr algn="ctr" marL="0" indent="0" lvl="0">
                  <a:lnSpc>
                    <a:spcPts val="2159"/>
                  </a:lnSpc>
                  <a:spcBef>
                    <a:spcPct val="0"/>
                  </a:spcBef>
                </a:pPr>
                <a:r>
                  <a:rPr lang="en-US" sz="1799">
                    <a:solidFill>
                      <a:srgbClr val="FFFFFF"/>
                    </a:solidFill>
                    <a:latin typeface="Exo 2"/>
                    <a:ea typeface="Exo 2"/>
                    <a:cs typeface="Exo 2"/>
                    <a:sym typeface="Exo 2"/>
                  </a:rPr>
                  <a:t>Conversion (Client Called)</a:t>
                </a:r>
              </a:p>
            </p:txBody>
          </p:sp>
        </p:grpSp>
      </p:grpSp>
      <p:grpSp>
        <p:nvGrpSpPr>
          <p:cNvPr name="Group 92" id="90"/>
          <p:cNvGrpSpPr/>
          <p:nvPr/>
        </p:nvGrpSpPr>
        <p:grpSpPr>
          <a:xfrm rot="0">
            <a:off x="585597" y="7512556"/>
            <a:ext cx="16655936" cy="1578906"/>
            <a:chOff x="0" y="0"/>
            <a:chExt cx="22207915" cy="2105208"/>
          </a:xfrm>
        </p:grpSpPr>
        <p:sp>
          <p:nvSpPr>
            <p:cNvPr name="TextBox 93" id="91"/>
            <p:cNvSpPr txBox="true"/>
            <p:nvPr/>
          </p:nvSpPr>
          <p:spPr>
            <a:xfrm rot="0">
              <a:off x="0" y="-19050"/>
              <a:ext cx="4211638" cy="603250"/>
            </a:xfrm>
            <a:prstGeom prst="rect">
              <a:avLst/>
            </a:prstGeom>
          </p:spPr>
          <p:txBody>
            <a:bodyPr anchor="t" rtlCol="false" tIns="0" lIns="0" bIns="0" rIns="0">
              <a:spAutoFit/>
            </a:bodyPr>
            <a:lstStyle/>
            <a:p>
              <a:pPr algn="l">
                <a:lnSpc>
                  <a:spcPts val="3510"/>
                </a:lnSpc>
              </a:pPr>
            </a:p>
          </p:txBody>
        </p:sp>
        <p:grpSp>
          <p:nvGrpSpPr>
            <p:cNvPr name="Group 94" id="92"/>
            <p:cNvGrpSpPr/>
            <p:nvPr/>
          </p:nvGrpSpPr>
          <p:grpSpPr>
            <a:xfrm rot="0">
              <a:off x="591499" y="812800"/>
              <a:ext cx="21616416" cy="602546"/>
              <a:chOff x="0" y="0"/>
              <a:chExt cx="21616416" cy="602546"/>
            </a:xfrm>
          </p:grpSpPr>
          <p:sp>
            <p:nvSpPr>
              <p:cNvPr name="Freeform 95" id="93"/>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96" id="94"/>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Clients inquired about our commissions and applicable fees.</a:t>
                </a:r>
              </a:p>
            </p:txBody>
          </p:sp>
        </p:grpSp>
        <p:grpSp>
          <p:nvGrpSpPr>
            <p:cNvPr name="Group 97" id="95"/>
            <p:cNvGrpSpPr/>
            <p:nvPr/>
          </p:nvGrpSpPr>
          <p:grpSpPr>
            <a:xfrm rot="0">
              <a:off x="66735" y="977253"/>
              <a:ext cx="370790" cy="324441"/>
              <a:chOff x="0" y="0"/>
              <a:chExt cx="812800" cy="711200"/>
            </a:xfrm>
          </p:grpSpPr>
          <p:sp>
            <p:nvSpPr>
              <p:cNvPr name="Freeform 98" id="96"/>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1"/>
                <a:stretch>
                  <a:fillRect/>
                </a:stretch>
              </a:blipFill>
            </p:spPr>
          </p:sp>
          <p:sp>
            <p:nvSpPr>
              <p:cNvPr name="TextBox 99" id="97"/>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nvGrpSpPr>
            <p:cNvPr name="Group 100" id="98"/>
            <p:cNvGrpSpPr/>
            <p:nvPr/>
          </p:nvGrpSpPr>
          <p:grpSpPr>
            <a:xfrm rot="0">
              <a:off x="591499" y="1502662"/>
              <a:ext cx="21616416" cy="602546"/>
              <a:chOff x="0" y="0"/>
              <a:chExt cx="21616416" cy="602546"/>
            </a:xfrm>
          </p:grpSpPr>
          <p:sp>
            <p:nvSpPr>
              <p:cNvPr name="Freeform 101" id="99"/>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102" id="100"/>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Several clients requested guidance on how to deposit funds via bank transfer.</a:t>
                </a:r>
              </a:p>
            </p:txBody>
          </p:sp>
        </p:grpSp>
        <p:grpSp>
          <p:nvGrpSpPr>
            <p:cNvPr name="Group 103" id="101"/>
            <p:cNvGrpSpPr/>
            <p:nvPr/>
          </p:nvGrpSpPr>
          <p:grpSpPr>
            <a:xfrm rot="0">
              <a:off x="66735" y="1695394"/>
              <a:ext cx="370790" cy="324441"/>
              <a:chOff x="0" y="0"/>
              <a:chExt cx="812800" cy="711200"/>
            </a:xfrm>
          </p:grpSpPr>
          <p:sp>
            <p:nvSpPr>
              <p:cNvPr name="Freeform 104" id="102"/>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1"/>
                <a:stretch>
                  <a:fillRect/>
                </a:stretch>
              </a:blipFill>
            </p:spPr>
          </p:sp>
          <p:sp>
            <p:nvSpPr>
              <p:cNvPr name="TextBox 105" id="103"/>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grpSp>
        <p:nvGrpSpPr>
          <p:cNvPr name="Group 6" id="104"/>
          <p:cNvGrpSpPr/>
          <p:nvPr/>
        </p:nvGrpSpPr>
        <p:grpSpPr>
          <a:xfrm rot="0">
            <a:off x="850392" y="297596"/>
            <a:ext cx="13990320" cy="1124712"/>
            <a:chOff x="0" y="0"/>
            <a:chExt cx="18653760" cy="1499616"/>
          </a:xfrm>
        </p:grpSpPr>
        <p:sp>
          <p:nvSpPr>
            <p:cNvPr name="Freeform 7" id="105"/>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2">
                <a:alphaModFix amt="0"/>
              </a:blip>
              <a:stretch>
                <a:fillRect l="0" t="-192374" r="0" b="-192374"/>
              </a:stretch>
            </a:blipFill>
          </p:spPr>
        </p:sp>
        <p:sp>
          <p:nvSpPr>
            <p:cNvPr name="TextBox 8" id="106"/>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Overview</a:t>
              </a:r>
            </a:p>
          </p:txBody>
        </p:sp>
      </p:grpSp>
      <p:grpSp>
        <p:nvGrpSpPr>
          <p:cNvPr name="Group 9" id="107"/>
          <p:cNvGrpSpPr/>
          <p:nvPr/>
        </p:nvGrpSpPr>
        <p:grpSpPr>
          <a:xfrm rot="0">
            <a:off x="15457932" y="571916"/>
            <a:ext cx="1988820" cy="576072"/>
            <a:chOff x="0" y="0"/>
            <a:chExt cx="2651760" cy="768096"/>
          </a:xfrm>
        </p:grpSpPr>
        <p:sp>
          <p:nvSpPr>
            <p:cNvPr name="Freeform 10" id="108"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7"/>
              <a:stretch>
                <a:fillRect l="0" t="-26" r="0" b="-26"/>
              </a:stretch>
            </a:blipFill>
          </p:spPr>
        </p:sp>
      </p:grpSp>
      <p:sp>
        <p:nvSpPr>
          <p:cNvPr name="TextBox 13" id="109"/>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CLIENT EXPERIENCE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6"/>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Freeform 8" id="7"/>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8"/>
            <a:stretch>
              <a:fillRect l="0" t="0" r="0" b="0"/>
            </a:stretch>
          </a:blipFill>
        </p:spPr>
      </p:sp>
      <p:sp>
        <p:nvSpPr>
          <p:cNvPr name="TextBox 10" id="8"/>
          <p:cNvSpPr txBox="true"/>
          <p:nvPr/>
        </p:nvSpPr>
        <p:spPr>
          <a:xfrm rot="0">
            <a:off x="630936" y="1563243"/>
            <a:ext cx="17007840" cy="295275"/>
          </a:xfrm>
          <a:prstGeom prst="rect">
            <a:avLst/>
          </a:prstGeom>
        </p:spPr>
        <p:txBody>
          <a:bodyPr anchor="t" rtlCol="false" tIns="0" lIns="0" bIns="0" rIns="0">
            <a:spAutoFit/>
          </a:bodyPr>
          <a:lstStyle/>
          <a:p>
            <a:pPr algn="l">
              <a:lnSpc>
                <a:spcPts val="2279"/>
              </a:lnSpc>
            </a:pPr>
            <a:r>
              <a:rPr lang="en-US" sz="1299" b="true">
                <a:solidFill>
                  <a:srgbClr val="3C61B6"/>
                </a:solidFill>
                <a:latin typeface="Exo 2 Bold"/>
                <a:ea typeface="Exo 2 Bold"/>
                <a:cs typeface="Exo 2 Bold"/>
                <a:sym typeface="Exo 2 Bold"/>
              </a:rPr>
              <a:t>SINCE THE LAST CEO UPDATE  |  17 SEP TO 1 OCT 2026</a:t>
            </a:r>
          </a:p>
        </p:txBody>
      </p:sp>
      <p:grpSp>
        <p:nvGrpSpPr>
          <p:cNvPr name="Group 11" id="9"/>
          <p:cNvGrpSpPr/>
          <p:nvPr/>
        </p:nvGrpSpPr>
        <p:grpSpPr>
          <a:xfrm rot="0">
            <a:off x="630936" y="2057400"/>
            <a:ext cx="2670048" cy="1600200"/>
            <a:chOff x="0" y="0"/>
            <a:chExt cx="3560064" cy="2133600"/>
          </a:xfrm>
        </p:grpSpPr>
        <p:sp>
          <p:nvSpPr>
            <p:cNvPr name="Freeform 12" id="10"/>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blipFill>
              <a:blip r:embed="rId9"/>
              <a:stretch>
                <a:fillRect/>
              </a:stretch>
            </a:blipFill>
          </p:spPr>
        </p:sp>
      </p:grpSp>
      <p:sp>
        <p:nvSpPr>
          <p:cNvPr name="TextBox 13" id="11"/>
          <p:cNvSpPr txBox="true"/>
          <p:nvPr/>
        </p:nvSpPr>
        <p:spPr>
          <a:xfrm rot="0">
            <a:off x="630936" y="2230755"/>
            <a:ext cx="2670048" cy="741045"/>
          </a:xfrm>
          <a:prstGeom prst="rect">
            <a:avLst/>
          </a:prstGeom>
        </p:spPr>
        <p:txBody>
          <a:bodyPr anchor="t" rtlCol="false" tIns="0" lIns="0" bIns="0" rIns="0">
            <a:spAutoFit/>
          </a:bodyPr>
          <a:lstStyle/>
          <a:p>
            <a:pPr algn="ctr">
              <a:lnSpc>
                <a:spcPts val="4320"/>
              </a:lnSpc>
            </a:pPr>
            <a:r>
              <a:rPr lang="en-US" sz="3600" b="true">
                <a:solidFill>
                  <a:srgbClr val="FFFFFF"/>
                </a:solidFill>
                <a:latin typeface="Exo 2 Bold"/>
                <a:ea typeface="Exo 2 Bold"/>
                <a:cs typeface="Exo 2 Bold"/>
                <a:sym typeface="Exo 2 Bold"/>
              </a:rPr>
              <a:t>21</a:t>
            </a:r>
          </a:p>
        </p:txBody>
      </p:sp>
      <p:sp>
        <p:nvSpPr>
          <p:cNvPr name="TextBox 14" id="12"/>
          <p:cNvSpPr txBox="true"/>
          <p:nvPr/>
        </p:nvSpPr>
        <p:spPr>
          <a:xfrm rot="0">
            <a:off x="768096"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Clients called (phone)</a:t>
            </a:r>
          </a:p>
        </p:txBody>
      </p:sp>
      <p:grpSp>
        <p:nvGrpSpPr>
          <p:cNvPr name="Group 15" id="13"/>
          <p:cNvGrpSpPr/>
          <p:nvPr/>
        </p:nvGrpSpPr>
        <p:grpSpPr>
          <a:xfrm rot="0">
            <a:off x="3502152" y="2057400"/>
            <a:ext cx="2670048" cy="1600200"/>
            <a:chOff x="0" y="0"/>
            <a:chExt cx="3560064" cy="2133600"/>
          </a:xfrm>
        </p:grpSpPr>
        <p:sp>
          <p:nvSpPr>
            <p:cNvPr name="Freeform 16" id="14"/>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blipFill>
              <a:blip r:embed="rId9"/>
              <a:stretch>
                <a:fillRect/>
              </a:stretch>
            </a:blipFill>
          </p:spPr>
        </p:sp>
      </p:grpSp>
      <p:sp>
        <p:nvSpPr>
          <p:cNvPr name="TextBox 17" id="15"/>
          <p:cNvSpPr txBox="true"/>
          <p:nvPr/>
        </p:nvSpPr>
        <p:spPr>
          <a:xfrm rot="0">
            <a:off x="3502152" y="2230755"/>
            <a:ext cx="2670048" cy="741045"/>
          </a:xfrm>
          <a:prstGeom prst="rect">
            <a:avLst/>
          </a:prstGeom>
        </p:spPr>
        <p:txBody>
          <a:bodyPr anchor="t" rtlCol="false" tIns="0" lIns="0" bIns="0" rIns="0">
            <a:spAutoFit/>
          </a:bodyPr>
          <a:lstStyle/>
          <a:p>
            <a:pPr algn="ctr">
              <a:lnSpc>
                <a:spcPts val="4320"/>
              </a:lnSpc>
            </a:pPr>
            <a:r>
              <a:rPr lang="en-US" sz="3600" b="true">
                <a:solidFill>
                  <a:srgbClr val="FFFFFF"/>
                </a:solidFill>
                <a:latin typeface="Exo 2 Bold"/>
                <a:ea typeface="Exo 2 Bold"/>
                <a:cs typeface="Exo 2 Bold"/>
                <a:sym typeface="Exo 2 Bold"/>
              </a:rPr>
              <a:t>72</a:t>
            </a:r>
          </a:p>
        </p:txBody>
      </p:sp>
      <p:sp>
        <p:nvSpPr>
          <p:cNvPr name="TextBox 18" id="16"/>
          <p:cNvSpPr txBox="true"/>
          <p:nvPr/>
        </p:nvSpPr>
        <p:spPr>
          <a:xfrm rot="0">
            <a:off x="3639312"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Email contacts</a:t>
            </a:r>
          </a:p>
        </p:txBody>
      </p:sp>
      <p:grpSp>
        <p:nvGrpSpPr>
          <p:cNvPr name="Group 19" id="17"/>
          <p:cNvGrpSpPr/>
          <p:nvPr/>
        </p:nvGrpSpPr>
        <p:grpSpPr>
          <a:xfrm rot="0">
            <a:off x="6373368" y="2057400"/>
            <a:ext cx="2670048" cy="1600200"/>
            <a:chOff x="0" y="0"/>
            <a:chExt cx="3560064" cy="2133600"/>
          </a:xfrm>
        </p:grpSpPr>
        <p:sp>
          <p:nvSpPr>
            <p:cNvPr name="Freeform 20" id="18"/>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blipFill>
              <a:blip r:embed="rId9"/>
              <a:stretch>
                <a:fillRect/>
              </a:stretch>
            </a:blipFill>
          </p:spPr>
        </p:sp>
      </p:grpSp>
      <p:sp>
        <p:nvSpPr>
          <p:cNvPr name="TextBox 21" id="19"/>
          <p:cNvSpPr txBox="true"/>
          <p:nvPr/>
        </p:nvSpPr>
        <p:spPr>
          <a:xfrm rot="0">
            <a:off x="6373368" y="2230755"/>
            <a:ext cx="2670048" cy="741045"/>
          </a:xfrm>
          <a:prstGeom prst="rect">
            <a:avLst/>
          </a:prstGeom>
        </p:spPr>
        <p:txBody>
          <a:bodyPr anchor="t" rtlCol="false" tIns="0" lIns="0" bIns="0" rIns="0">
            <a:spAutoFit/>
          </a:bodyPr>
          <a:lstStyle/>
          <a:p>
            <a:pPr algn="ctr">
              <a:lnSpc>
                <a:spcPts val="4320"/>
              </a:lnSpc>
            </a:pPr>
            <a:r>
              <a:rPr lang="en-US" sz="3600" b="true">
                <a:solidFill>
                  <a:srgbClr val="FFFFFF"/>
                </a:solidFill>
                <a:latin typeface="Exo 2 Bold"/>
                <a:ea typeface="Exo 2 Bold"/>
                <a:cs typeface="Exo 2 Bold"/>
                <a:sym typeface="Exo 2 Bold"/>
              </a:rPr>
              <a:t>4</a:t>
            </a:r>
          </a:p>
        </p:txBody>
      </p:sp>
      <p:sp>
        <p:nvSpPr>
          <p:cNvPr name="TextBox 22" id="20"/>
          <p:cNvSpPr txBox="true"/>
          <p:nvPr/>
        </p:nvSpPr>
        <p:spPr>
          <a:xfrm rot="0">
            <a:off x="6510528"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WhatsApp clients</a:t>
            </a:r>
          </a:p>
        </p:txBody>
      </p:sp>
      <p:grpSp>
        <p:nvGrpSpPr>
          <p:cNvPr name="Group 23" id="21"/>
          <p:cNvGrpSpPr/>
          <p:nvPr/>
        </p:nvGrpSpPr>
        <p:grpSpPr>
          <a:xfrm rot="0">
            <a:off x="9244584" y="2057400"/>
            <a:ext cx="2670048" cy="1600200"/>
            <a:chOff x="0" y="0"/>
            <a:chExt cx="3560064" cy="2133600"/>
          </a:xfrm>
        </p:grpSpPr>
        <p:sp>
          <p:nvSpPr>
            <p:cNvPr name="Freeform 24" id="22"/>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blipFill>
              <a:blip r:embed="rId9"/>
              <a:stretch>
                <a:fillRect/>
              </a:stretch>
            </a:blipFill>
          </p:spPr>
        </p:sp>
      </p:grpSp>
      <p:sp>
        <p:nvSpPr>
          <p:cNvPr name="TextBox 25" id="23"/>
          <p:cNvSpPr txBox="true"/>
          <p:nvPr/>
        </p:nvSpPr>
        <p:spPr>
          <a:xfrm rot="0">
            <a:off x="9244584" y="2230755"/>
            <a:ext cx="2670048" cy="741045"/>
          </a:xfrm>
          <a:prstGeom prst="rect">
            <a:avLst/>
          </a:prstGeom>
        </p:spPr>
        <p:txBody>
          <a:bodyPr anchor="t" rtlCol="false" tIns="0" lIns="0" bIns="0" rIns="0">
            <a:spAutoFit/>
          </a:bodyPr>
          <a:lstStyle/>
          <a:p>
            <a:pPr algn="ctr">
              <a:lnSpc>
                <a:spcPts val="4320"/>
              </a:lnSpc>
            </a:pPr>
            <a:r>
              <a:rPr lang="en-US" sz="3600" b="true">
                <a:solidFill>
                  <a:srgbClr val="4ADE9A"/>
                </a:solidFill>
                <a:latin typeface="Exo 2 Bold"/>
                <a:ea typeface="Exo 2 Bold"/>
                <a:cs typeface="Exo 2 Bold"/>
                <a:sym typeface="Exo 2 Bold"/>
              </a:rPr>
              <a:t>6</a:t>
            </a:r>
          </a:p>
        </p:txBody>
      </p:sp>
      <p:sp>
        <p:nvSpPr>
          <p:cNvPr name="TextBox 26" id="24"/>
          <p:cNvSpPr txBox="true"/>
          <p:nvPr/>
        </p:nvSpPr>
        <p:spPr>
          <a:xfrm rot="0">
            <a:off x="9381744"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Completed onboarding</a:t>
            </a:r>
          </a:p>
        </p:txBody>
      </p:sp>
      <p:grpSp>
        <p:nvGrpSpPr>
          <p:cNvPr name="Group 27" id="25"/>
          <p:cNvGrpSpPr/>
          <p:nvPr/>
        </p:nvGrpSpPr>
        <p:grpSpPr>
          <a:xfrm rot="0">
            <a:off x="12115800" y="2057400"/>
            <a:ext cx="2670048" cy="1600200"/>
            <a:chOff x="0" y="0"/>
            <a:chExt cx="3560064" cy="2133600"/>
          </a:xfrm>
        </p:grpSpPr>
        <p:sp>
          <p:nvSpPr>
            <p:cNvPr name="Freeform 28" id="26"/>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blipFill>
              <a:blip r:embed="rId9"/>
              <a:stretch>
                <a:fillRect/>
              </a:stretch>
            </a:blipFill>
          </p:spPr>
        </p:sp>
      </p:grpSp>
      <p:sp>
        <p:nvSpPr>
          <p:cNvPr name="TextBox 29" id="27"/>
          <p:cNvSpPr txBox="true"/>
          <p:nvPr/>
        </p:nvSpPr>
        <p:spPr>
          <a:xfrm rot="0">
            <a:off x="12115800" y="2230755"/>
            <a:ext cx="2670048" cy="741045"/>
          </a:xfrm>
          <a:prstGeom prst="rect">
            <a:avLst/>
          </a:prstGeom>
        </p:spPr>
        <p:txBody>
          <a:bodyPr anchor="t" rtlCol="false" tIns="0" lIns="0" bIns="0" rIns="0">
            <a:spAutoFit/>
          </a:bodyPr>
          <a:lstStyle/>
          <a:p>
            <a:pPr algn="ctr">
              <a:lnSpc>
                <a:spcPts val="4320"/>
              </a:lnSpc>
            </a:pPr>
            <a:r>
              <a:rPr lang="en-US" sz="3600" b="true">
                <a:solidFill>
                  <a:srgbClr val="FF7A6B"/>
                </a:solidFill>
                <a:latin typeface="Exo 2 Bold"/>
                <a:ea typeface="Exo 2 Bold"/>
                <a:cs typeface="Exo 2 Bold"/>
                <a:sym typeface="Exo 2 Bold"/>
              </a:rPr>
              <a:t>15</a:t>
            </a:r>
          </a:p>
        </p:txBody>
      </p:sp>
      <p:sp>
        <p:nvSpPr>
          <p:cNvPr name="TextBox 30" id="28"/>
          <p:cNvSpPr txBox="true"/>
          <p:nvPr/>
        </p:nvSpPr>
        <p:spPr>
          <a:xfrm rot="0">
            <a:off x="12252960"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Still pending</a:t>
            </a:r>
          </a:p>
        </p:txBody>
      </p:sp>
      <p:grpSp>
        <p:nvGrpSpPr>
          <p:cNvPr name="Group 31" id="29"/>
          <p:cNvGrpSpPr/>
          <p:nvPr/>
        </p:nvGrpSpPr>
        <p:grpSpPr>
          <a:xfrm rot="0">
            <a:off x="14987016" y="2057400"/>
            <a:ext cx="2670048" cy="1600200"/>
            <a:chOff x="0" y="0"/>
            <a:chExt cx="3560064" cy="2133600"/>
          </a:xfrm>
        </p:grpSpPr>
        <p:sp>
          <p:nvSpPr>
            <p:cNvPr name="Freeform 32" id="30"/>
            <p:cNvSpPr/>
            <p:nvPr/>
          </p:nvSpPr>
          <p:spPr>
            <a:xfrm flipH="false" flipV="false" rot="0">
              <a:off x="0" y="0"/>
              <a:ext cx="3560064" cy="2133600"/>
            </a:xfrm>
            <a:custGeom>
              <a:avLst/>
              <a:gdLst/>
              <a:ahLst/>
              <a:cxnLst/>
              <a:rect r="r" b="b" t="t" l="l"/>
              <a:pathLst>
                <a:path h="2133600" w="3560064">
                  <a:moveTo>
                    <a:pt x="0" y="0"/>
                  </a:moveTo>
                  <a:lnTo>
                    <a:pt x="3560064" y="0"/>
                  </a:lnTo>
                  <a:lnTo>
                    <a:pt x="3560064" y="2133600"/>
                  </a:lnTo>
                  <a:lnTo>
                    <a:pt x="0" y="2133600"/>
                  </a:lnTo>
                  <a:close/>
                </a:path>
              </a:pathLst>
            </a:custGeom>
            <a:blipFill>
              <a:blip r:embed="rId9"/>
              <a:stretch>
                <a:fillRect/>
              </a:stretch>
            </a:blipFill>
          </p:spPr>
        </p:sp>
      </p:grpSp>
      <p:sp>
        <p:nvSpPr>
          <p:cNvPr name="TextBox 33" id="31"/>
          <p:cNvSpPr txBox="true"/>
          <p:nvPr/>
        </p:nvSpPr>
        <p:spPr>
          <a:xfrm rot="0">
            <a:off x="14987016" y="2230755"/>
            <a:ext cx="2670048" cy="741045"/>
          </a:xfrm>
          <a:prstGeom prst="rect">
            <a:avLst/>
          </a:prstGeom>
        </p:spPr>
        <p:txBody>
          <a:bodyPr anchor="t" rtlCol="false" tIns="0" lIns="0" bIns="0" rIns="0">
            <a:spAutoFit/>
          </a:bodyPr>
          <a:lstStyle/>
          <a:p>
            <a:pPr algn="ctr">
              <a:lnSpc>
                <a:spcPts val="4320"/>
              </a:lnSpc>
            </a:pPr>
            <a:r>
              <a:rPr lang="en-US" sz="3600" b="true">
                <a:solidFill>
                  <a:srgbClr val="4ADE9A"/>
                </a:solidFill>
                <a:latin typeface="Exo 2 Bold"/>
                <a:ea typeface="Exo 2 Bold"/>
                <a:cs typeface="Exo 2 Bold"/>
                <a:sym typeface="Exo 2 Bold"/>
              </a:rPr>
              <a:t>28.6%</a:t>
            </a:r>
          </a:p>
        </p:txBody>
      </p:sp>
      <p:sp>
        <p:nvSpPr>
          <p:cNvPr name="TextBox 34" id="32"/>
          <p:cNvSpPr txBox="true"/>
          <p:nvPr/>
        </p:nvSpPr>
        <p:spPr>
          <a:xfrm rot="0">
            <a:off x="15124176" y="3007995"/>
            <a:ext cx="2395728" cy="558165"/>
          </a:xfrm>
          <a:prstGeom prst="rect">
            <a:avLst/>
          </a:prstGeom>
        </p:spPr>
        <p:txBody>
          <a:bodyPr anchor="t" rtlCol="false" tIns="0" lIns="0" bIns="0" rIns="0">
            <a:spAutoFit/>
          </a:bodyPr>
          <a:lstStyle/>
          <a:p>
            <a:pPr algn="ctr">
              <a:lnSpc>
                <a:spcPts val="1680"/>
              </a:lnSpc>
            </a:pPr>
            <a:r>
              <a:rPr lang="en-US" sz="1400">
                <a:solidFill>
                  <a:srgbClr val="FFFFFF"/>
                </a:solidFill>
                <a:latin typeface="Exo 2"/>
                <a:ea typeface="Exo 2"/>
                <a:cs typeface="Exo 2"/>
                <a:sym typeface="Exo 2"/>
              </a:rPr>
              <a:t>Conversion (of clients called)</a:t>
            </a:r>
          </a:p>
        </p:txBody>
      </p:sp>
      <p:sp>
        <p:nvSpPr>
          <p:cNvPr name="TextBox 35" id="33"/>
          <p:cNvSpPr txBox="true"/>
          <p:nvPr/>
        </p:nvSpPr>
        <p:spPr>
          <a:xfrm rot="0">
            <a:off x="630936" y="4455827"/>
            <a:ext cx="17007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CLIENTS CALLED, BY WHERE THEY ARE NOW</a:t>
            </a:r>
          </a:p>
        </p:txBody>
      </p:sp>
      <p:grpSp>
        <p:nvGrpSpPr>
          <p:cNvPr name="Group 36" id="34"/>
          <p:cNvGrpSpPr/>
          <p:nvPr/>
        </p:nvGrpSpPr>
        <p:grpSpPr>
          <a:xfrm rot="0">
            <a:off x="630936" y="4876832"/>
            <a:ext cx="4864608" cy="502920"/>
            <a:chOff x="0" y="0"/>
            <a:chExt cx="6486144" cy="670560"/>
          </a:xfrm>
        </p:grpSpPr>
        <p:sp>
          <p:nvSpPr>
            <p:cNvPr name="Freeform 37" id="35"/>
            <p:cNvSpPr/>
            <p:nvPr/>
          </p:nvSpPr>
          <p:spPr>
            <a:xfrm flipH="false" flipV="false" rot="0">
              <a:off x="0" y="0"/>
              <a:ext cx="6486144" cy="670560"/>
            </a:xfrm>
            <a:custGeom>
              <a:avLst/>
              <a:gdLst/>
              <a:ahLst/>
              <a:cxnLst/>
              <a:rect r="r" b="b" t="t" l="l"/>
              <a:pathLst>
                <a:path h="670560" w="6486144">
                  <a:moveTo>
                    <a:pt x="0" y="0"/>
                  </a:moveTo>
                  <a:lnTo>
                    <a:pt x="6486144" y="0"/>
                  </a:lnTo>
                  <a:lnTo>
                    <a:pt x="6486144" y="670560"/>
                  </a:lnTo>
                  <a:lnTo>
                    <a:pt x="0" y="670560"/>
                  </a:lnTo>
                  <a:close/>
                </a:path>
              </a:pathLst>
            </a:custGeom>
            <a:solidFill>
              <a:srgbClr val="1E9E6B"/>
            </a:solidFill>
          </p:spPr>
        </p:sp>
      </p:grpSp>
      <p:grpSp>
        <p:nvGrpSpPr>
          <p:cNvPr name="Group 38" id="36"/>
          <p:cNvGrpSpPr/>
          <p:nvPr/>
        </p:nvGrpSpPr>
        <p:grpSpPr>
          <a:xfrm rot="0">
            <a:off x="630936" y="4876832"/>
            <a:ext cx="4864608" cy="502920"/>
            <a:chOff x="0" y="0"/>
            <a:chExt cx="6486144" cy="670560"/>
          </a:xfrm>
        </p:grpSpPr>
        <p:sp>
          <p:nvSpPr>
            <p:cNvPr name="Freeform 39" id="37"/>
            <p:cNvSpPr/>
            <p:nvPr/>
          </p:nvSpPr>
          <p:spPr>
            <a:xfrm flipH="false" flipV="false" rot="0">
              <a:off x="0" y="0"/>
              <a:ext cx="6486144" cy="670560"/>
            </a:xfrm>
            <a:custGeom>
              <a:avLst/>
              <a:gdLst/>
              <a:ahLst/>
              <a:cxnLst/>
              <a:rect r="r" b="b" t="t" l="l"/>
              <a:pathLst>
                <a:path h="670560" w="6486144">
                  <a:moveTo>
                    <a:pt x="0" y="0"/>
                  </a:moveTo>
                  <a:lnTo>
                    <a:pt x="6486144" y="0"/>
                  </a:lnTo>
                  <a:lnTo>
                    <a:pt x="6486144" y="670560"/>
                  </a:lnTo>
                  <a:lnTo>
                    <a:pt x="0" y="670560"/>
                  </a:lnTo>
                  <a:close/>
                </a:path>
              </a:pathLst>
            </a:custGeom>
            <a:blipFill>
              <a:blip r:embed="rId2">
                <a:alphaModFix amt="0"/>
              </a:blip>
              <a:stretch>
                <a:fillRect l="0" t="-138473" r="0" b="-138473"/>
              </a:stretch>
            </a:blipFill>
          </p:spPr>
        </p:sp>
        <p:sp>
          <p:nvSpPr>
            <p:cNvPr name="TextBox 40" id="38"/>
            <p:cNvSpPr txBox="true"/>
            <p:nvPr/>
          </p:nvSpPr>
          <p:spPr>
            <a:xfrm>
              <a:off x="0" y="-9525"/>
              <a:ext cx="6486144" cy="680085"/>
            </a:xfrm>
            <a:prstGeom prst="rect">
              <a:avLst/>
            </a:prstGeom>
          </p:spPr>
          <p:txBody>
            <a:bodyPr anchor="ctr" rtlCol="false" tIns="0" lIns="0" bIns="0" rIns="0"/>
            <a:lstStyle/>
            <a:p>
              <a:pPr algn="ctr">
                <a:lnSpc>
                  <a:spcPts val="1680"/>
                </a:lnSpc>
              </a:pPr>
              <a:r>
                <a:rPr lang="en-US" sz="1400" b="true">
                  <a:solidFill>
                    <a:srgbClr val="FFFFFF"/>
                  </a:solidFill>
                  <a:latin typeface="Exo 2 Bold"/>
                  <a:ea typeface="Exo 2 Bold"/>
                  <a:cs typeface="Exo 2 Bold"/>
                  <a:sym typeface="Exo 2 Bold"/>
                </a:rPr>
                <a:t>Onboarded  6</a:t>
              </a:r>
            </a:p>
          </p:txBody>
        </p:sp>
      </p:grpSp>
      <p:grpSp>
        <p:nvGrpSpPr>
          <p:cNvPr name="Group 41" id="39"/>
          <p:cNvGrpSpPr/>
          <p:nvPr/>
        </p:nvGrpSpPr>
        <p:grpSpPr>
          <a:xfrm rot="0">
            <a:off x="5495544" y="4876832"/>
            <a:ext cx="8918448" cy="502920"/>
            <a:chOff x="0" y="0"/>
            <a:chExt cx="11891264" cy="670560"/>
          </a:xfrm>
        </p:grpSpPr>
        <p:sp>
          <p:nvSpPr>
            <p:cNvPr name="Freeform 42" id="40"/>
            <p:cNvSpPr/>
            <p:nvPr/>
          </p:nvSpPr>
          <p:spPr>
            <a:xfrm flipH="false" flipV="false" rot="0">
              <a:off x="0" y="0"/>
              <a:ext cx="11891264" cy="670560"/>
            </a:xfrm>
            <a:custGeom>
              <a:avLst/>
              <a:gdLst/>
              <a:ahLst/>
              <a:cxnLst/>
              <a:rect r="r" b="b" t="t" l="l"/>
              <a:pathLst>
                <a:path h="670560" w="11891264">
                  <a:moveTo>
                    <a:pt x="0" y="0"/>
                  </a:moveTo>
                  <a:lnTo>
                    <a:pt x="11891264" y="0"/>
                  </a:lnTo>
                  <a:lnTo>
                    <a:pt x="11891264" y="670560"/>
                  </a:lnTo>
                  <a:lnTo>
                    <a:pt x="0" y="670560"/>
                  </a:lnTo>
                  <a:close/>
                </a:path>
              </a:pathLst>
            </a:custGeom>
            <a:solidFill>
              <a:srgbClr val="D98C1F"/>
            </a:solidFill>
          </p:spPr>
        </p:sp>
      </p:grpSp>
      <p:grpSp>
        <p:nvGrpSpPr>
          <p:cNvPr name="Group 43" id="41"/>
          <p:cNvGrpSpPr/>
          <p:nvPr/>
        </p:nvGrpSpPr>
        <p:grpSpPr>
          <a:xfrm rot="0">
            <a:off x="5495544" y="4876832"/>
            <a:ext cx="8918448" cy="502920"/>
            <a:chOff x="0" y="0"/>
            <a:chExt cx="11891264" cy="670560"/>
          </a:xfrm>
        </p:grpSpPr>
        <p:sp>
          <p:nvSpPr>
            <p:cNvPr name="Freeform 44" id="42"/>
            <p:cNvSpPr/>
            <p:nvPr/>
          </p:nvSpPr>
          <p:spPr>
            <a:xfrm flipH="false" flipV="false" rot="0">
              <a:off x="0" y="0"/>
              <a:ext cx="11891264" cy="670560"/>
            </a:xfrm>
            <a:custGeom>
              <a:avLst/>
              <a:gdLst/>
              <a:ahLst/>
              <a:cxnLst/>
              <a:rect r="r" b="b" t="t" l="l"/>
              <a:pathLst>
                <a:path h="670560" w="11891264">
                  <a:moveTo>
                    <a:pt x="0" y="0"/>
                  </a:moveTo>
                  <a:lnTo>
                    <a:pt x="11891264" y="0"/>
                  </a:lnTo>
                  <a:lnTo>
                    <a:pt x="11891264" y="670560"/>
                  </a:lnTo>
                  <a:lnTo>
                    <a:pt x="0" y="670560"/>
                  </a:lnTo>
                  <a:close/>
                </a:path>
              </a:pathLst>
            </a:custGeom>
            <a:blipFill>
              <a:blip r:embed="rId2">
                <a:alphaModFix amt="0"/>
              </a:blip>
              <a:stretch>
                <a:fillRect l="0" t="-295534" r="0" b="-295534"/>
              </a:stretch>
            </a:blipFill>
          </p:spPr>
        </p:sp>
        <p:sp>
          <p:nvSpPr>
            <p:cNvPr name="TextBox 45" id="43"/>
            <p:cNvSpPr txBox="true"/>
            <p:nvPr/>
          </p:nvSpPr>
          <p:spPr>
            <a:xfrm>
              <a:off x="0" y="-9525"/>
              <a:ext cx="11891264" cy="680085"/>
            </a:xfrm>
            <a:prstGeom prst="rect">
              <a:avLst/>
            </a:prstGeom>
          </p:spPr>
          <p:txBody>
            <a:bodyPr anchor="ctr" rtlCol="false" tIns="0" lIns="0" bIns="0" rIns="0"/>
            <a:lstStyle/>
            <a:p>
              <a:pPr algn="ctr">
                <a:lnSpc>
                  <a:spcPts val="1680"/>
                </a:lnSpc>
              </a:pPr>
              <a:r>
                <a:rPr lang="en-US" sz="1400" b="true">
                  <a:solidFill>
                    <a:srgbClr val="FFFFFF"/>
                  </a:solidFill>
                  <a:latin typeface="Exo 2 Bold"/>
                  <a:ea typeface="Exo 2 Bold"/>
                  <a:cs typeface="Exo 2 Bold"/>
                  <a:sym typeface="Exo 2 Bold"/>
                </a:rPr>
                <a:t>Not onboarded  11</a:t>
              </a:r>
            </a:p>
          </p:txBody>
        </p:sp>
      </p:grpSp>
      <p:grpSp>
        <p:nvGrpSpPr>
          <p:cNvPr name="Group 46" id="44"/>
          <p:cNvGrpSpPr/>
          <p:nvPr/>
        </p:nvGrpSpPr>
        <p:grpSpPr>
          <a:xfrm rot="0">
            <a:off x="14413992" y="4876832"/>
            <a:ext cx="3243072" cy="502920"/>
            <a:chOff x="0" y="0"/>
            <a:chExt cx="4324096" cy="670560"/>
          </a:xfrm>
        </p:grpSpPr>
        <p:sp>
          <p:nvSpPr>
            <p:cNvPr name="Freeform 47" id="45"/>
            <p:cNvSpPr/>
            <p:nvPr/>
          </p:nvSpPr>
          <p:spPr>
            <a:xfrm flipH="false" flipV="false" rot="0">
              <a:off x="0" y="0"/>
              <a:ext cx="4324096" cy="670560"/>
            </a:xfrm>
            <a:custGeom>
              <a:avLst/>
              <a:gdLst/>
              <a:ahLst/>
              <a:cxnLst/>
              <a:rect r="r" b="b" t="t" l="l"/>
              <a:pathLst>
                <a:path h="670560" w="4324096">
                  <a:moveTo>
                    <a:pt x="0" y="0"/>
                  </a:moveTo>
                  <a:lnTo>
                    <a:pt x="4324096" y="0"/>
                  </a:lnTo>
                  <a:lnTo>
                    <a:pt x="4324096" y="670560"/>
                  </a:lnTo>
                  <a:lnTo>
                    <a:pt x="0" y="670560"/>
                  </a:lnTo>
                  <a:close/>
                </a:path>
              </a:pathLst>
            </a:custGeom>
            <a:solidFill>
              <a:srgbClr val="3C61B6"/>
            </a:solidFill>
          </p:spPr>
        </p:sp>
      </p:grpSp>
      <p:grpSp>
        <p:nvGrpSpPr>
          <p:cNvPr name="Group 48" id="46"/>
          <p:cNvGrpSpPr/>
          <p:nvPr/>
        </p:nvGrpSpPr>
        <p:grpSpPr>
          <a:xfrm rot="0">
            <a:off x="14413992" y="4876832"/>
            <a:ext cx="3243072" cy="502920"/>
            <a:chOff x="0" y="0"/>
            <a:chExt cx="4324096" cy="670560"/>
          </a:xfrm>
        </p:grpSpPr>
        <p:sp>
          <p:nvSpPr>
            <p:cNvPr name="Freeform 49" id="47"/>
            <p:cNvSpPr/>
            <p:nvPr/>
          </p:nvSpPr>
          <p:spPr>
            <a:xfrm flipH="false" flipV="false" rot="0">
              <a:off x="0" y="0"/>
              <a:ext cx="4324096" cy="670560"/>
            </a:xfrm>
            <a:custGeom>
              <a:avLst/>
              <a:gdLst/>
              <a:ahLst/>
              <a:cxnLst/>
              <a:rect r="r" b="b" t="t" l="l"/>
              <a:pathLst>
                <a:path h="670560" w="4324096">
                  <a:moveTo>
                    <a:pt x="0" y="0"/>
                  </a:moveTo>
                  <a:lnTo>
                    <a:pt x="4324096" y="0"/>
                  </a:lnTo>
                  <a:lnTo>
                    <a:pt x="4324096" y="670560"/>
                  </a:lnTo>
                  <a:lnTo>
                    <a:pt x="0" y="670560"/>
                  </a:lnTo>
                  <a:close/>
                </a:path>
              </a:pathLst>
            </a:custGeom>
            <a:blipFill>
              <a:blip r:embed="rId2">
                <a:alphaModFix amt="0"/>
              </a:blip>
              <a:stretch>
                <a:fillRect l="0" t="-75648" r="0" b="-75648"/>
              </a:stretch>
            </a:blipFill>
          </p:spPr>
        </p:sp>
        <p:sp>
          <p:nvSpPr>
            <p:cNvPr name="TextBox 50" id="48"/>
            <p:cNvSpPr txBox="true"/>
            <p:nvPr/>
          </p:nvSpPr>
          <p:spPr>
            <a:xfrm>
              <a:off x="0" y="-9525"/>
              <a:ext cx="4324096" cy="680085"/>
            </a:xfrm>
            <a:prstGeom prst="rect">
              <a:avLst/>
            </a:prstGeom>
          </p:spPr>
          <p:txBody>
            <a:bodyPr anchor="ctr" rtlCol="false" tIns="0" lIns="0" bIns="0" rIns="0"/>
            <a:lstStyle/>
            <a:p>
              <a:pPr algn="ctr">
                <a:lnSpc>
                  <a:spcPts val="1680"/>
                </a:lnSpc>
              </a:pPr>
              <a:r>
                <a:rPr lang="en-US" sz="1400" b="true">
                  <a:solidFill>
                    <a:srgbClr val="FFFFFF"/>
                  </a:solidFill>
                  <a:latin typeface="Exo 2 Bold"/>
                  <a:ea typeface="Exo 2 Bold"/>
                  <a:cs typeface="Exo 2 Bold"/>
                  <a:sym typeface="Exo 2 Bold"/>
                </a:rPr>
                <a:t>Funding gap  4</a:t>
              </a:r>
            </a:p>
          </p:txBody>
        </p:sp>
      </p:grpSp>
      <p:grpSp>
        <p:nvGrpSpPr>
          <p:cNvPr name="Group 51" id="49"/>
          <p:cNvGrpSpPr/>
          <p:nvPr/>
        </p:nvGrpSpPr>
        <p:grpSpPr>
          <a:xfrm rot="0">
            <a:off x="626174" y="5603589"/>
            <a:ext cx="5502021" cy="1426845"/>
            <a:chOff x="0" y="0"/>
            <a:chExt cx="7336028" cy="1902460"/>
          </a:xfrm>
        </p:grpSpPr>
        <p:sp>
          <p:nvSpPr>
            <p:cNvPr name="Freeform 52" id="50"/>
            <p:cNvSpPr/>
            <p:nvPr/>
          </p:nvSpPr>
          <p:spPr>
            <a:xfrm flipH="false" flipV="false" rot="0">
              <a:off x="0" y="0"/>
              <a:ext cx="7336028" cy="1902460"/>
            </a:xfrm>
            <a:custGeom>
              <a:avLst/>
              <a:gdLst/>
              <a:ahLst/>
              <a:cxnLst/>
              <a:rect r="r" b="b" t="t" l="l"/>
              <a:pathLst>
                <a:path h="1902460" w="7336028">
                  <a:moveTo>
                    <a:pt x="0" y="0"/>
                  </a:moveTo>
                  <a:lnTo>
                    <a:pt x="7336028" y="0"/>
                  </a:lnTo>
                  <a:lnTo>
                    <a:pt x="7336028" y="1902460"/>
                  </a:lnTo>
                  <a:lnTo>
                    <a:pt x="0" y="1902460"/>
                  </a:lnTo>
                  <a:close/>
                </a:path>
              </a:pathLst>
            </a:custGeom>
            <a:solidFill>
              <a:srgbClr val="F7F8FC"/>
            </a:solidFill>
            <a:ln w="9525" cap="sq">
              <a:solidFill>
                <a:srgbClr val="E4E7F2"/>
              </a:solidFill>
              <a:prstDash val="solid"/>
              <a:miter/>
            </a:ln>
          </p:spPr>
        </p:sp>
      </p:grpSp>
      <p:grpSp>
        <p:nvGrpSpPr>
          <p:cNvPr name="Group 53" id="51"/>
          <p:cNvGrpSpPr/>
          <p:nvPr/>
        </p:nvGrpSpPr>
        <p:grpSpPr>
          <a:xfrm rot="0">
            <a:off x="630936" y="5608352"/>
            <a:ext cx="73152" cy="1417320"/>
            <a:chOff x="0" y="0"/>
            <a:chExt cx="97536" cy="1889760"/>
          </a:xfrm>
        </p:grpSpPr>
        <p:sp>
          <p:nvSpPr>
            <p:cNvPr name="Freeform 54" id="52"/>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1E9E6B"/>
            </a:solidFill>
          </p:spPr>
        </p:sp>
      </p:grpSp>
      <p:sp>
        <p:nvSpPr>
          <p:cNvPr name="TextBox 55" id="53"/>
          <p:cNvSpPr txBox="true"/>
          <p:nvPr/>
        </p:nvSpPr>
        <p:spPr>
          <a:xfrm rot="0">
            <a:off x="950976" y="5708555"/>
            <a:ext cx="1463040" cy="741045"/>
          </a:xfrm>
          <a:prstGeom prst="rect">
            <a:avLst/>
          </a:prstGeom>
        </p:spPr>
        <p:txBody>
          <a:bodyPr anchor="t" rtlCol="false" tIns="0" lIns="0" bIns="0" rIns="0">
            <a:spAutoFit/>
          </a:bodyPr>
          <a:lstStyle/>
          <a:p>
            <a:pPr algn="l">
              <a:lnSpc>
                <a:spcPts val="4320"/>
              </a:lnSpc>
            </a:pPr>
            <a:r>
              <a:rPr lang="en-US" sz="3600" b="true">
                <a:solidFill>
                  <a:srgbClr val="1E9E6B"/>
                </a:solidFill>
                <a:latin typeface="Exo 2 Bold"/>
                <a:ea typeface="Exo 2 Bold"/>
                <a:cs typeface="Exo 2 Bold"/>
                <a:sym typeface="Exo 2 Bold"/>
              </a:rPr>
              <a:t>6</a:t>
            </a:r>
          </a:p>
        </p:txBody>
      </p:sp>
      <p:sp>
        <p:nvSpPr>
          <p:cNvPr name="TextBox 56" id="54"/>
          <p:cNvSpPr txBox="true"/>
          <p:nvPr/>
        </p:nvSpPr>
        <p:spPr>
          <a:xfrm rot="0">
            <a:off x="2322576" y="5781707"/>
            <a:ext cx="3572256" cy="421005"/>
          </a:xfrm>
          <a:prstGeom prst="rect">
            <a:avLst/>
          </a:prstGeom>
        </p:spPr>
        <p:txBody>
          <a:bodyPr anchor="t" rtlCol="false" tIns="0" lIns="0" bIns="0" rIns="0">
            <a:spAutoFit/>
          </a:bodyPr>
          <a:lstStyle/>
          <a:p>
            <a:pPr algn="l">
              <a:lnSpc>
                <a:spcPts val="2160"/>
              </a:lnSpc>
            </a:pPr>
            <a:r>
              <a:rPr lang="en-US" sz="1800" b="true">
                <a:solidFill>
                  <a:srgbClr val="121C36"/>
                </a:solidFill>
                <a:latin typeface="Exo 2 Bold"/>
                <a:ea typeface="Exo 2 Bold"/>
                <a:cs typeface="Exo 2 Bold"/>
                <a:sym typeface="Exo 2 Bold"/>
              </a:rPr>
              <a:t>Onboarded  (28.6%)</a:t>
            </a:r>
          </a:p>
        </p:txBody>
      </p:sp>
      <p:sp>
        <p:nvSpPr>
          <p:cNvPr name="TextBox 57" id="55"/>
          <p:cNvSpPr txBox="true"/>
          <p:nvPr/>
        </p:nvSpPr>
        <p:spPr>
          <a:xfrm rot="0">
            <a:off x="2322576" y="6238907"/>
            <a:ext cx="3572256" cy="219075"/>
          </a:xfrm>
          <a:prstGeom prst="rect">
            <a:avLst/>
          </a:prstGeom>
        </p:spPr>
        <p:txBody>
          <a:bodyPr anchor="t" rtlCol="false" tIns="0" lIns="0" bIns="0" rIns="0">
            <a:spAutoFit/>
          </a:bodyPr>
          <a:lstStyle/>
          <a:p>
            <a:pPr algn="l">
              <a:lnSpc>
                <a:spcPts val="1680"/>
              </a:lnSpc>
            </a:pPr>
            <a:r>
              <a:rPr lang="en-US" sz="1400">
                <a:solidFill>
                  <a:srgbClr val="5A6A85"/>
                </a:solidFill>
                <a:latin typeface="Exo 2"/>
                <a:ea typeface="Exo 2"/>
                <a:cs typeface="Exo 2"/>
                <a:sym typeface="Exo 2"/>
              </a:rPr>
              <a:t>Completed onboarding after the call</a:t>
            </a:r>
          </a:p>
        </p:txBody>
      </p:sp>
      <p:grpSp>
        <p:nvGrpSpPr>
          <p:cNvPr name="Group 58" id="56"/>
          <p:cNvGrpSpPr/>
          <p:nvPr/>
        </p:nvGrpSpPr>
        <p:grpSpPr>
          <a:xfrm rot="0">
            <a:off x="6392990" y="5603589"/>
            <a:ext cx="5502021" cy="1426845"/>
            <a:chOff x="0" y="0"/>
            <a:chExt cx="7336028" cy="1902460"/>
          </a:xfrm>
        </p:grpSpPr>
        <p:sp>
          <p:nvSpPr>
            <p:cNvPr name="Freeform 59" id="57"/>
            <p:cNvSpPr/>
            <p:nvPr/>
          </p:nvSpPr>
          <p:spPr>
            <a:xfrm flipH="false" flipV="false" rot="0">
              <a:off x="0" y="0"/>
              <a:ext cx="7336028" cy="1902460"/>
            </a:xfrm>
            <a:custGeom>
              <a:avLst/>
              <a:gdLst/>
              <a:ahLst/>
              <a:cxnLst/>
              <a:rect r="r" b="b" t="t" l="l"/>
              <a:pathLst>
                <a:path h="1902460" w="7336028">
                  <a:moveTo>
                    <a:pt x="0" y="0"/>
                  </a:moveTo>
                  <a:lnTo>
                    <a:pt x="7336028" y="0"/>
                  </a:lnTo>
                  <a:lnTo>
                    <a:pt x="7336028" y="1902460"/>
                  </a:lnTo>
                  <a:lnTo>
                    <a:pt x="0" y="1902460"/>
                  </a:lnTo>
                  <a:close/>
                </a:path>
              </a:pathLst>
            </a:custGeom>
            <a:solidFill>
              <a:srgbClr val="F7F8FC"/>
            </a:solidFill>
            <a:ln w="9525" cap="sq">
              <a:solidFill>
                <a:srgbClr val="E4E7F2"/>
              </a:solidFill>
              <a:prstDash val="solid"/>
              <a:miter/>
            </a:ln>
          </p:spPr>
        </p:sp>
      </p:grpSp>
      <p:grpSp>
        <p:nvGrpSpPr>
          <p:cNvPr name="Group 60" id="58"/>
          <p:cNvGrpSpPr/>
          <p:nvPr/>
        </p:nvGrpSpPr>
        <p:grpSpPr>
          <a:xfrm rot="0">
            <a:off x="6397752" y="5608352"/>
            <a:ext cx="73152" cy="1417320"/>
            <a:chOff x="0" y="0"/>
            <a:chExt cx="97536" cy="1889760"/>
          </a:xfrm>
        </p:grpSpPr>
        <p:sp>
          <p:nvSpPr>
            <p:cNvPr name="Freeform 61" id="59"/>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D98C1F"/>
            </a:solidFill>
          </p:spPr>
        </p:sp>
      </p:grpSp>
      <p:sp>
        <p:nvSpPr>
          <p:cNvPr name="TextBox 62" id="60"/>
          <p:cNvSpPr txBox="true"/>
          <p:nvPr/>
        </p:nvSpPr>
        <p:spPr>
          <a:xfrm rot="0">
            <a:off x="6717792" y="5708555"/>
            <a:ext cx="1463040" cy="741045"/>
          </a:xfrm>
          <a:prstGeom prst="rect">
            <a:avLst/>
          </a:prstGeom>
        </p:spPr>
        <p:txBody>
          <a:bodyPr anchor="t" rtlCol="false" tIns="0" lIns="0" bIns="0" rIns="0">
            <a:spAutoFit/>
          </a:bodyPr>
          <a:lstStyle/>
          <a:p>
            <a:pPr algn="l">
              <a:lnSpc>
                <a:spcPts val="4320"/>
              </a:lnSpc>
            </a:pPr>
            <a:r>
              <a:rPr lang="en-US" sz="3600" b="true">
                <a:solidFill>
                  <a:srgbClr val="D98C1F"/>
                </a:solidFill>
                <a:latin typeface="Exo 2 Bold"/>
                <a:ea typeface="Exo 2 Bold"/>
                <a:cs typeface="Exo 2 Bold"/>
                <a:sym typeface="Exo 2 Bold"/>
              </a:rPr>
              <a:t>11</a:t>
            </a:r>
          </a:p>
        </p:txBody>
      </p:sp>
      <p:sp>
        <p:nvSpPr>
          <p:cNvPr name="TextBox 63" id="61"/>
          <p:cNvSpPr txBox="true"/>
          <p:nvPr/>
        </p:nvSpPr>
        <p:spPr>
          <a:xfrm rot="0">
            <a:off x="8089392" y="5781707"/>
            <a:ext cx="3572256" cy="421005"/>
          </a:xfrm>
          <a:prstGeom prst="rect">
            <a:avLst/>
          </a:prstGeom>
        </p:spPr>
        <p:txBody>
          <a:bodyPr anchor="t" rtlCol="false" tIns="0" lIns="0" bIns="0" rIns="0">
            <a:spAutoFit/>
          </a:bodyPr>
          <a:lstStyle/>
          <a:p>
            <a:pPr algn="l">
              <a:lnSpc>
                <a:spcPts val="2160"/>
              </a:lnSpc>
            </a:pPr>
            <a:r>
              <a:rPr lang="en-US" sz="1800" b="true">
                <a:solidFill>
                  <a:srgbClr val="121C36"/>
                </a:solidFill>
                <a:latin typeface="Exo 2 Bold"/>
                <a:ea typeface="Exo 2 Bold"/>
                <a:cs typeface="Exo 2 Bold"/>
                <a:sym typeface="Exo 2 Bold"/>
              </a:rPr>
              <a:t>Not onboarded  (52.4%)</a:t>
            </a:r>
          </a:p>
        </p:txBody>
      </p:sp>
      <p:sp>
        <p:nvSpPr>
          <p:cNvPr name="TextBox 64" id="62"/>
          <p:cNvSpPr txBox="true"/>
          <p:nvPr/>
        </p:nvSpPr>
        <p:spPr>
          <a:xfrm rot="0">
            <a:off x="8089392" y="6238907"/>
            <a:ext cx="3572256" cy="219075"/>
          </a:xfrm>
          <a:prstGeom prst="rect">
            <a:avLst/>
          </a:prstGeom>
        </p:spPr>
        <p:txBody>
          <a:bodyPr anchor="t" rtlCol="false" tIns="0" lIns="0" bIns="0" rIns="0">
            <a:spAutoFit/>
          </a:bodyPr>
          <a:lstStyle/>
          <a:p>
            <a:pPr algn="l">
              <a:lnSpc>
                <a:spcPts val="1680"/>
              </a:lnSpc>
            </a:pPr>
            <a:r>
              <a:rPr lang="en-US" sz="1400">
                <a:solidFill>
                  <a:srgbClr val="5A6A85"/>
                </a:solidFill>
                <a:latin typeface="Exo 2"/>
                <a:ea typeface="Exo 2"/>
                <a:cs typeface="Exo 2"/>
                <a:sym typeface="Exo 2"/>
              </a:rPr>
              <a:t>KYC or documents not finished</a:t>
            </a:r>
          </a:p>
        </p:txBody>
      </p:sp>
      <p:grpSp>
        <p:nvGrpSpPr>
          <p:cNvPr name="Group 65" id="63"/>
          <p:cNvGrpSpPr/>
          <p:nvPr/>
        </p:nvGrpSpPr>
        <p:grpSpPr>
          <a:xfrm rot="0">
            <a:off x="12159805" y="5603589"/>
            <a:ext cx="5502021" cy="1426845"/>
            <a:chOff x="0" y="0"/>
            <a:chExt cx="7336028" cy="1902460"/>
          </a:xfrm>
        </p:grpSpPr>
        <p:sp>
          <p:nvSpPr>
            <p:cNvPr name="Freeform 66" id="64"/>
            <p:cNvSpPr/>
            <p:nvPr/>
          </p:nvSpPr>
          <p:spPr>
            <a:xfrm flipH="false" flipV="false" rot="0">
              <a:off x="0" y="0"/>
              <a:ext cx="7336028" cy="1902460"/>
            </a:xfrm>
            <a:custGeom>
              <a:avLst/>
              <a:gdLst/>
              <a:ahLst/>
              <a:cxnLst/>
              <a:rect r="r" b="b" t="t" l="l"/>
              <a:pathLst>
                <a:path h="1902460" w="7336028">
                  <a:moveTo>
                    <a:pt x="0" y="0"/>
                  </a:moveTo>
                  <a:lnTo>
                    <a:pt x="7336028" y="0"/>
                  </a:lnTo>
                  <a:lnTo>
                    <a:pt x="7336028" y="1902460"/>
                  </a:lnTo>
                  <a:lnTo>
                    <a:pt x="0" y="1902460"/>
                  </a:lnTo>
                  <a:close/>
                </a:path>
              </a:pathLst>
            </a:custGeom>
            <a:solidFill>
              <a:srgbClr val="F7F8FC"/>
            </a:solidFill>
            <a:ln w="9525" cap="sq">
              <a:solidFill>
                <a:srgbClr val="E4E7F2"/>
              </a:solidFill>
              <a:prstDash val="solid"/>
              <a:miter/>
            </a:ln>
          </p:spPr>
        </p:sp>
      </p:grpSp>
      <p:grpSp>
        <p:nvGrpSpPr>
          <p:cNvPr name="Group 67" id="65"/>
          <p:cNvGrpSpPr/>
          <p:nvPr/>
        </p:nvGrpSpPr>
        <p:grpSpPr>
          <a:xfrm rot="0">
            <a:off x="12164568" y="5608352"/>
            <a:ext cx="73152" cy="1417320"/>
            <a:chOff x="0" y="0"/>
            <a:chExt cx="97536" cy="1889760"/>
          </a:xfrm>
        </p:grpSpPr>
        <p:sp>
          <p:nvSpPr>
            <p:cNvPr name="Freeform 68" id="66"/>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3C61B6"/>
            </a:solidFill>
          </p:spPr>
        </p:sp>
      </p:grpSp>
      <p:sp>
        <p:nvSpPr>
          <p:cNvPr name="TextBox 69" id="67"/>
          <p:cNvSpPr txBox="true"/>
          <p:nvPr/>
        </p:nvSpPr>
        <p:spPr>
          <a:xfrm rot="0">
            <a:off x="12484608" y="5708555"/>
            <a:ext cx="1463040" cy="741045"/>
          </a:xfrm>
          <a:prstGeom prst="rect">
            <a:avLst/>
          </a:prstGeom>
        </p:spPr>
        <p:txBody>
          <a:bodyPr anchor="t" rtlCol="false" tIns="0" lIns="0" bIns="0" rIns="0">
            <a:spAutoFit/>
          </a:bodyPr>
          <a:lstStyle/>
          <a:p>
            <a:pPr algn="l">
              <a:lnSpc>
                <a:spcPts val="4320"/>
              </a:lnSpc>
            </a:pPr>
            <a:r>
              <a:rPr lang="en-US" sz="3600" b="true">
                <a:solidFill>
                  <a:srgbClr val="3C61B6"/>
                </a:solidFill>
                <a:latin typeface="Exo 2 Bold"/>
                <a:ea typeface="Exo 2 Bold"/>
                <a:cs typeface="Exo 2 Bold"/>
                <a:sym typeface="Exo 2 Bold"/>
              </a:rPr>
              <a:t>4</a:t>
            </a:r>
          </a:p>
        </p:txBody>
      </p:sp>
      <p:sp>
        <p:nvSpPr>
          <p:cNvPr name="TextBox 70" id="68"/>
          <p:cNvSpPr txBox="true"/>
          <p:nvPr/>
        </p:nvSpPr>
        <p:spPr>
          <a:xfrm rot="0">
            <a:off x="13856208" y="5781707"/>
            <a:ext cx="3572256" cy="421005"/>
          </a:xfrm>
          <a:prstGeom prst="rect">
            <a:avLst/>
          </a:prstGeom>
        </p:spPr>
        <p:txBody>
          <a:bodyPr anchor="t" rtlCol="false" tIns="0" lIns="0" bIns="0" rIns="0">
            <a:spAutoFit/>
          </a:bodyPr>
          <a:lstStyle/>
          <a:p>
            <a:pPr algn="l">
              <a:lnSpc>
                <a:spcPts val="2160"/>
              </a:lnSpc>
            </a:pPr>
            <a:r>
              <a:rPr lang="en-US" sz="1800" b="true">
                <a:solidFill>
                  <a:srgbClr val="121C36"/>
                </a:solidFill>
                <a:latin typeface="Exo 2 Bold"/>
                <a:ea typeface="Exo 2 Bold"/>
                <a:cs typeface="Exo 2 Bold"/>
                <a:sym typeface="Exo 2 Bold"/>
              </a:rPr>
              <a:t>Funding gap  (19.0%)</a:t>
            </a:r>
          </a:p>
        </p:txBody>
      </p:sp>
      <p:sp>
        <p:nvSpPr>
          <p:cNvPr name="TextBox 71" id="69"/>
          <p:cNvSpPr txBox="true"/>
          <p:nvPr/>
        </p:nvSpPr>
        <p:spPr>
          <a:xfrm rot="0">
            <a:off x="13856208" y="6238907"/>
            <a:ext cx="3572256" cy="428625"/>
          </a:xfrm>
          <a:prstGeom prst="rect">
            <a:avLst/>
          </a:prstGeom>
        </p:spPr>
        <p:txBody>
          <a:bodyPr anchor="t" rtlCol="false" tIns="0" lIns="0" bIns="0" rIns="0">
            <a:spAutoFit/>
          </a:bodyPr>
          <a:lstStyle/>
          <a:p>
            <a:pPr algn="l">
              <a:lnSpc>
                <a:spcPts val="1680"/>
              </a:lnSpc>
            </a:pPr>
            <a:r>
              <a:rPr lang="en-US" sz="1400">
                <a:solidFill>
                  <a:srgbClr val="5A6A85"/>
                </a:solidFill>
                <a:latin typeface="Exo 2"/>
                <a:ea typeface="Exo 2"/>
                <a:cs typeface="Exo 2"/>
                <a:sym typeface="Exo 2"/>
              </a:rPr>
              <a:t>Onboarded, not yet funded: need support to fund</a:t>
            </a:r>
          </a:p>
        </p:txBody>
      </p:sp>
      <p:sp>
        <p:nvSpPr>
          <p:cNvPr name="TextBox 72" id="70"/>
          <p:cNvSpPr txBox="true"/>
          <p:nvPr/>
        </p:nvSpPr>
        <p:spPr>
          <a:xfrm rot="0">
            <a:off x="630936" y="7828661"/>
            <a:ext cx="17007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SUMMARY</a:t>
            </a:r>
          </a:p>
        </p:txBody>
      </p:sp>
      <p:sp>
        <p:nvSpPr>
          <p:cNvPr name="TextBox 73" id="71"/>
          <p:cNvSpPr txBox="true"/>
          <p:nvPr/>
        </p:nvSpPr>
        <p:spPr>
          <a:xfrm rot="0">
            <a:off x="630936" y="8182991"/>
            <a:ext cx="17026128" cy="1075309"/>
          </a:xfrm>
          <a:prstGeom prst="rect">
            <a:avLst/>
          </a:prstGeom>
        </p:spPr>
        <p:txBody>
          <a:bodyPr anchor="t" rtlCol="false" tIns="0" lIns="0" bIns="0" rIns="0">
            <a:spAutoFit/>
          </a:bodyPr>
          <a:lstStyle/>
          <a:p>
            <a:pPr algn="l" marL="410208" indent="-205104" lvl="1">
              <a:lnSpc>
                <a:spcPts val="2887"/>
              </a:lnSpc>
              <a:buFont typeface="Arial"/>
              <a:buChar char="•"/>
            </a:pPr>
            <a:r>
              <a:rPr lang="en-US" b="true" sz="1899">
                <a:solidFill>
                  <a:srgbClr val="121C36"/>
                </a:solidFill>
                <a:latin typeface="Exo 2 Bold"/>
                <a:ea typeface="Exo 2 Bold"/>
                <a:cs typeface="Exo 2 Bold"/>
                <a:sym typeface="Exo 2 Bold"/>
              </a:rPr>
              <a:t>Out of 21 clients called, 6 completed onboarding (28.6%). </a:t>
            </a:r>
            <a:r>
              <a:rPr lang="en-US" sz="1899">
                <a:solidFill>
                  <a:srgbClr val="5A6A85"/>
                </a:solidFill>
                <a:latin typeface="Exo 2"/>
                <a:ea typeface="Exo 2"/>
                <a:cs typeface="Exo 2"/>
                <a:sym typeface="Exo 2"/>
              </a:rPr>
              <a:t>15 are still pending: 11 have not finished onboarding and 4 are onboarded but have not funded yet.</a:t>
            </a:r>
          </a:p>
          <a:p>
            <a:pPr algn="l" marL="410208" indent="-205104" lvl="1">
              <a:lnSpc>
                <a:spcPts val="2887"/>
              </a:lnSpc>
              <a:buFont typeface="Arial"/>
              <a:buChar char="•"/>
            </a:pPr>
            <a:r>
              <a:rPr lang="en-US" b="true" sz="1899">
                <a:solidFill>
                  <a:srgbClr val="121C36"/>
                </a:solidFill>
                <a:latin typeface="Exo 2 Bold"/>
                <a:ea typeface="Exo 2 Bold"/>
                <a:cs typeface="Exo 2 Bold"/>
                <a:sym typeface="Exo 2 Bold"/>
              </a:rPr>
              <a:t>Call results in the tracker: </a:t>
            </a:r>
            <a:r>
              <a:rPr lang="en-US" sz="1899">
                <a:solidFill>
                  <a:srgbClr val="5A6A85"/>
                </a:solidFill>
                <a:latin typeface="Exo 2"/>
                <a:ea typeface="Exo 2"/>
                <a:cs typeface="Exo 2"/>
                <a:sym typeface="Exo 2"/>
              </a:rPr>
              <a:t>12 reached, 2 no answer, 7 not yet logged. Email (72) and WhatsApp (4) cover clients we could not reach by phone.</a:t>
            </a:r>
          </a:p>
        </p:txBody>
      </p:sp>
      <p:grpSp>
        <p:nvGrpSpPr>
          <p:cNvPr name="Group 6" id="72"/>
          <p:cNvGrpSpPr/>
          <p:nvPr/>
        </p:nvGrpSpPr>
        <p:grpSpPr>
          <a:xfrm rot="0">
            <a:off x="850392" y="297596"/>
            <a:ext cx="13990320" cy="1124712"/>
            <a:chOff x="0" y="0"/>
            <a:chExt cx="18653760" cy="1499616"/>
          </a:xfrm>
        </p:grpSpPr>
        <p:sp>
          <p:nvSpPr>
            <p:cNvPr name="Freeform 7" id="73"/>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2">
                <a:alphaModFix amt="0"/>
              </a:blip>
              <a:stretch>
                <a:fillRect l="0" t="-192374" r="0" b="-192374"/>
              </a:stretch>
            </a:blipFill>
          </p:spPr>
        </p:sp>
        <p:sp>
          <p:nvSpPr>
            <p:cNvPr name="TextBox 8" id="74"/>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Overview</a:t>
              </a:r>
            </a:p>
          </p:txBody>
        </p:sp>
      </p:grpSp>
      <p:grpSp>
        <p:nvGrpSpPr>
          <p:cNvPr name="Group 9" id="75"/>
          <p:cNvGrpSpPr/>
          <p:nvPr/>
        </p:nvGrpSpPr>
        <p:grpSpPr>
          <a:xfrm rot="0">
            <a:off x="15457932" y="571916"/>
            <a:ext cx="1988820" cy="576072"/>
            <a:chOff x="0" y="0"/>
            <a:chExt cx="2651760" cy="768096"/>
          </a:xfrm>
        </p:grpSpPr>
        <p:sp>
          <p:nvSpPr>
            <p:cNvPr name="Freeform 10" id="76"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7"/>
              <a:stretch>
                <a:fillRect l="0" t="-26" r="0" b="-26"/>
              </a:stretch>
            </a:blipFill>
          </p:spPr>
        </p:sp>
      </p:grpSp>
      <p:sp>
        <p:nvSpPr>
          <p:cNvPr name="TextBox 13" id="77"/>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CLIENT EXPERIENCE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6"/>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Freeform 8" id="7"/>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8"/>
            <a:stretch>
              <a:fillRect l="0" t="0" r="0" b="0"/>
            </a:stretch>
          </a:blipFill>
        </p:spPr>
      </p:sp>
      <p:sp>
        <p:nvSpPr>
          <p:cNvPr name="TextBox 10" id="8"/>
          <p:cNvSpPr txBox="true"/>
          <p:nvPr/>
        </p:nvSpPr>
        <p:spPr>
          <a:xfrm rot="0">
            <a:off x="630936" y="1563243"/>
            <a:ext cx="17007840" cy="295275"/>
          </a:xfrm>
          <a:prstGeom prst="rect">
            <a:avLst/>
          </a:prstGeom>
        </p:spPr>
        <p:txBody>
          <a:bodyPr anchor="t" rtlCol="false" tIns="0" lIns="0" bIns="0" rIns="0">
            <a:spAutoFit/>
          </a:bodyPr>
          <a:lstStyle/>
          <a:p>
            <a:pPr algn="l">
              <a:lnSpc>
                <a:spcPts val="2279"/>
              </a:lnSpc>
            </a:pPr>
            <a:r>
              <a:rPr lang="en-US" sz="1299" b="true">
                <a:solidFill>
                  <a:srgbClr val="3C61B6"/>
                </a:solidFill>
                <a:latin typeface="Exo 2 Bold"/>
                <a:ea typeface="Exo 2 Bold"/>
                <a:cs typeface="Exo 2 Bold"/>
                <a:sym typeface="Exo 2 Bold"/>
              </a:rPr>
              <a:t>WHAT CLIENTS TOLD US AND WHAT WE DO NEXT</a:t>
            </a:r>
          </a:p>
        </p:txBody>
      </p:sp>
      <p:grpSp>
        <p:nvGrpSpPr>
          <p:cNvPr name="Group 11" id="9"/>
          <p:cNvGrpSpPr/>
          <p:nvPr/>
        </p:nvGrpSpPr>
        <p:grpSpPr>
          <a:xfrm rot="0">
            <a:off x="626174" y="2052638"/>
            <a:ext cx="8376285" cy="6916155"/>
            <a:chOff x="0" y="0"/>
            <a:chExt cx="11168380" cy="9221539"/>
          </a:xfrm>
        </p:grpSpPr>
        <p:sp>
          <p:nvSpPr>
            <p:cNvPr name="Freeform 12" id="10"/>
            <p:cNvSpPr/>
            <p:nvPr/>
          </p:nvSpPr>
          <p:spPr>
            <a:xfrm flipH="false" flipV="false" rot="0">
              <a:off x="0" y="0"/>
              <a:ext cx="11168380" cy="9221539"/>
            </a:xfrm>
            <a:custGeom>
              <a:avLst/>
              <a:gdLst/>
              <a:ahLst/>
              <a:cxnLst/>
              <a:rect r="r" b="b" t="t" l="l"/>
              <a:pathLst>
                <a:path h="9221539" w="11168380">
                  <a:moveTo>
                    <a:pt x="0" y="0"/>
                  </a:moveTo>
                  <a:lnTo>
                    <a:pt x="11168380" y="0"/>
                  </a:lnTo>
                  <a:lnTo>
                    <a:pt x="11168380" y="9221539"/>
                  </a:lnTo>
                  <a:lnTo>
                    <a:pt x="0" y="9221539"/>
                  </a:lnTo>
                  <a:close/>
                </a:path>
              </a:pathLst>
            </a:custGeom>
            <a:solidFill>
              <a:srgbClr val="F7F8FC"/>
            </a:solidFill>
            <a:ln w="9525" cap="sq">
              <a:solidFill>
                <a:srgbClr val="E4E7F2"/>
              </a:solidFill>
              <a:prstDash val="solid"/>
              <a:miter/>
            </a:ln>
          </p:spPr>
        </p:sp>
      </p:grpSp>
      <p:sp>
        <p:nvSpPr>
          <p:cNvPr name="TextBox 13" id="11"/>
          <p:cNvSpPr txBox="true"/>
          <p:nvPr/>
        </p:nvSpPr>
        <p:spPr>
          <a:xfrm rot="0">
            <a:off x="914400" y="2230755"/>
            <a:ext cx="7863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CLIENT FEEDBACK</a:t>
            </a:r>
          </a:p>
        </p:txBody>
      </p:sp>
      <p:sp>
        <p:nvSpPr>
          <p:cNvPr name="TextBox 14" id="12"/>
          <p:cNvSpPr txBox="true"/>
          <p:nvPr/>
        </p:nvSpPr>
        <p:spPr>
          <a:xfrm rot="0">
            <a:off x="914400" y="2382392"/>
            <a:ext cx="7818120" cy="6309362"/>
          </a:xfrm>
          <a:prstGeom prst="rect">
            <a:avLst/>
          </a:prstGeom>
        </p:spPr>
        <p:txBody>
          <a:bodyPr anchor="t" rtlCol="false" tIns="0" lIns="0" bIns="0" rIns="0">
            <a:spAutoFit/>
          </a:bodyPr>
          <a:lstStyle/>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Missing documents: </a:t>
            </a:r>
            <a:r>
              <a:rPr lang="en-US" sz="2099">
                <a:solidFill>
                  <a:srgbClr val="5A6A85"/>
                </a:solidFill>
                <a:latin typeface="Exo 2"/>
                <a:ea typeface="Exo 2"/>
                <a:cs typeface="Exo 2"/>
                <a:sym typeface="Exo 2"/>
              </a:rPr>
              <a:t>many clients don't have their KYC documents ready at registration, which causes delays or drop-off.</a:t>
            </a:r>
          </a:p>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KYC feels too long: </a:t>
            </a:r>
            <a:r>
              <a:rPr lang="en-US" sz="2099">
                <a:solidFill>
                  <a:srgbClr val="5A6A85"/>
                </a:solidFill>
                <a:latin typeface="Exo 2"/>
                <a:ea typeface="Exo 2"/>
                <a:cs typeface="Exo 2"/>
                <a:sym typeface="Exo 2"/>
              </a:rPr>
              <a:t>verification takes longer than clients expect, and some stop halfway.</a:t>
            </a:r>
          </a:p>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Fees: </a:t>
            </a:r>
            <a:r>
              <a:rPr lang="en-US" sz="2099">
                <a:solidFill>
                  <a:srgbClr val="5A6A85"/>
                </a:solidFill>
                <a:latin typeface="Exo 2"/>
                <a:ea typeface="Exo 2"/>
                <a:cs typeface="Exo 2"/>
                <a:sym typeface="Exo 2"/>
              </a:rPr>
              <a:t>clients asked about our commissions and fees.</a:t>
            </a:r>
          </a:p>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Deposits: </a:t>
            </a:r>
            <a:r>
              <a:rPr lang="en-US" sz="2099">
                <a:solidFill>
                  <a:srgbClr val="5A6A85"/>
                </a:solidFill>
                <a:latin typeface="Exo 2"/>
                <a:ea typeface="Exo 2"/>
                <a:cs typeface="Exo 2"/>
                <a:sym typeface="Exo 2"/>
              </a:rPr>
              <a:t>several clients asked how to deposit by bank transfer.</a:t>
            </a:r>
          </a:p>
          <a:p>
            <a:pPr algn="l" marL="453387" indent="-226693" lvl="1">
              <a:lnSpc>
                <a:spcPts val="5039"/>
              </a:lnSpc>
              <a:buFont typeface="Arial"/>
              <a:buChar char="•"/>
            </a:pPr>
            <a:r>
              <a:rPr lang="en-US" b="true" sz="2099">
                <a:solidFill>
                  <a:srgbClr val="121C36"/>
                </a:solidFill>
                <a:latin typeface="Exo 2 Bold"/>
                <a:ea typeface="Exo 2 Bold"/>
                <a:cs typeface="Exo 2 Bold"/>
                <a:sym typeface="Exo 2 Bold"/>
              </a:rPr>
              <a:t>Funding gap: </a:t>
            </a:r>
            <a:r>
              <a:rPr lang="en-US" sz="2099">
                <a:solidFill>
                  <a:srgbClr val="5A6A85"/>
                </a:solidFill>
                <a:latin typeface="Exo 2"/>
                <a:ea typeface="Exo 2"/>
                <a:cs typeface="Exo 2"/>
                <a:sym typeface="Exo 2"/>
              </a:rPr>
              <a:t>4 onboarded clients need support to fund. One asked about fees; two said they will fund soon.</a:t>
            </a:r>
          </a:p>
        </p:txBody>
      </p:sp>
      <p:grpSp>
        <p:nvGrpSpPr>
          <p:cNvPr name="Group 15" id="13"/>
          <p:cNvGrpSpPr/>
          <p:nvPr/>
        </p:nvGrpSpPr>
        <p:grpSpPr>
          <a:xfrm rot="0">
            <a:off x="9285542" y="2052638"/>
            <a:ext cx="8376285" cy="6916155"/>
            <a:chOff x="0" y="0"/>
            <a:chExt cx="11168380" cy="9221539"/>
          </a:xfrm>
        </p:grpSpPr>
        <p:sp>
          <p:nvSpPr>
            <p:cNvPr name="Freeform 16" id="14"/>
            <p:cNvSpPr/>
            <p:nvPr/>
          </p:nvSpPr>
          <p:spPr>
            <a:xfrm flipH="false" flipV="false" rot="0">
              <a:off x="0" y="0"/>
              <a:ext cx="11168380" cy="9221539"/>
            </a:xfrm>
            <a:custGeom>
              <a:avLst/>
              <a:gdLst/>
              <a:ahLst/>
              <a:cxnLst/>
              <a:rect r="r" b="b" t="t" l="l"/>
              <a:pathLst>
                <a:path h="9221539" w="11168380">
                  <a:moveTo>
                    <a:pt x="0" y="0"/>
                  </a:moveTo>
                  <a:lnTo>
                    <a:pt x="11168380" y="0"/>
                  </a:lnTo>
                  <a:lnTo>
                    <a:pt x="11168380" y="9221539"/>
                  </a:lnTo>
                  <a:lnTo>
                    <a:pt x="0" y="9221539"/>
                  </a:lnTo>
                  <a:close/>
                </a:path>
              </a:pathLst>
            </a:custGeom>
            <a:solidFill>
              <a:srgbClr val="F7F8FC"/>
            </a:solidFill>
            <a:ln w="9525" cap="sq">
              <a:solidFill>
                <a:srgbClr val="E4E7F2"/>
              </a:solidFill>
              <a:prstDash val="solid"/>
              <a:miter/>
            </a:ln>
          </p:spPr>
        </p:sp>
      </p:grpSp>
      <p:sp>
        <p:nvSpPr>
          <p:cNvPr name="TextBox 17" id="15"/>
          <p:cNvSpPr txBox="true"/>
          <p:nvPr/>
        </p:nvSpPr>
        <p:spPr>
          <a:xfrm rot="0">
            <a:off x="9573768" y="2230755"/>
            <a:ext cx="7863840" cy="295275"/>
          </a:xfrm>
          <a:prstGeom prst="rect">
            <a:avLst/>
          </a:prstGeom>
        </p:spPr>
        <p:txBody>
          <a:bodyPr anchor="t" rtlCol="false" tIns="0" lIns="0" bIns="0" rIns="0">
            <a:spAutoFit/>
          </a:bodyPr>
          <a:lstStyle/>
          <a:p>
            <a:pPr algn="l">
              <a:lnSpc>
                <a:spcPts val="2279"/>
              </a:lnSpc>
            </a:pPr>
            <a:r>
              <a:rPr lang="en-US" sz="1899" b="true">
                <a:solidFill>
                  <a:srgbClr val="3C61B6"/>
                </a:solidFill>
                <a:latin typeface="Exo 2 Bold"/>
                <a:ea typeface="Exo 2 Bold"/>
                <a:cs typeface="Exo 2 Bold"/>
                <a:sym typeface="Exo 2 Bold"/>
              </a:rPr>
              <a:t>PROPOSED NEXT STEPS, BY GROUP</a:t>
            </a:r>
          </a:p>
        </p:txBody>
      </p:sp>
      <p:grpSp>
        <p:nvGrpSpPr>
          <p:cNvPr name="Group 18" id="16"/>
          <p:cNvGrpSpPr/>
          <p:nvPr/>
        </p:nvGrpSpPr>
        <p:grpSpPr>
          <a:xfrm rot="0">
            <a:off x="9569005" y="3002280"/>
            <a:ext cx="7809357" cy="1426845"/>
            <a:chOff x="0" y="0"/>
            <a:chExt cx="10412476" cy="1902460"/>
          </a:xfrm>
        </p:grpSpPr>
        <p:grpSp>
          <p:nvGrpSpPr>
            <p:cNvPr name="Group 19" id="17"/>
            <p:cNvGrpSpPr/>
            <p:nvPr/>
          </p:nvGrpSpPr>
          <p:grpSpPr>
            <a:xfrm rot="0">
              <a:off x="0" y="0"/>
              <a:ext cx="10412476" cy="1902460"/>
              <a:chOff x="0" y="0"/>
              <a:chExt cx="10412476" cy="1902460"/>
            </a:xfrm>
          </p:grpSpPr>
          <p:sp>
            <p:nvSpPr>
              <p:cNvPr name="Freeform 20" id="18"/>
              <p:cNvSpPr/>
              <p:nvPr/>
            </p:nvSpPr>
            <p:spPr>
              <a:xfrm flipH="false" flipV="false" rot="0">
                <a:off x="0" y="0"/>
                <a:ext cx="10412476" cy="1902460"/>
              </a:xfrm>
              <a:custGeom>
                <a:avLst/>
                <a:gdLst/>
                <a:ahLst/>
                <a:cxnLst/>
                <a:rect r="r" b="b" t="t" l="l"/>
                <a:pathLst>
                  <a:path h="1902460" w="10412476">
                    <a:moveTo>
                      <a:pt x="0" y="0"/>
                    </a:moveTo>
                    <a:lnTo>
                      <a:pt x="10412476" y="0"/>
                    </a:lnTo>
                    <a:lnTo>
                      <a:pt x="10412476" y="1902460"/>
                    </a:lnTo>
                    <a:lnTo>
                      <a:pt x="0" y="1902460"/>
                    </a:lnTo>
                    <a:close/>
                  </a:path>
                </a:pathLst>
              </a:custGeom>
              <a:solidFill>
                <a:srgbClr val="FFFFFF"/>
              </a:solidFill>
              <a:ln w="9525" cap="sq">
                <a:solidFill>
                  <a:srgbClr val="E4E7F2"/>
                </a:solidFill>
                <a:prstDash val="solid"/>
                <a:miter/>
              </a:ln>
            </p:spPr>
          </p:sp>
        </p:grpSp>
        <p:grpSp>
          <p:nvGrpSpPr>
            <p:cNvPr name="Group 21" id="19"/>
            <p:cNvGrpSpPr/>
            <p:nvPr/>
          </p:nvGrpSpPr>
          <p:grpSpPr>
            <a:xfrm rot="0">
              <a:off x="6350" y="6350"/>
              <a:ext cx="97536" cy="1889760"/>
              <a:chOff x="0" y="0"/>
              <a:chExt cx="97536" cy="1889760"/>
            </a:xfrm>
          </p:grpSpPr>
          <p:sp>
            <p:nvSpPr>
              <p:cNvPr name="Freeform 22" id="20"/>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3C61B6"/>
              </a:solidFill>
            </p:spPr>
          </p:sp>
        </p:grpSp>
        <p:sp>
          <p:nvSpPr>
            <p:cNvPr name="TextBox 23" id="21"/>
            <p:cNvSpPr txBox="true"/>
            <p:nvPr/>
          </p:nvSpPr>
          <p:spPr>
            <a:xfrm rot="0">
              <a:off x="408686" y="240665"/>
              <a:ext cx="9753600" cy="454025"/>
            </a:xfrm>
            <a:prstGeom prst="rect">
              <a:avLst/>
            </a:prstGeom>
          </p:spPr>
          <p:txBody>
            <a:bodyPr anchor="t" rtlCol="false" tIns="0" lIns="0" bIns="0" rIns="0">
              <a:spAutoFit/>
            </a:bodyPr>
            <a:lstStyle/>
            <a:p>
              <a:pPr algn="l">
                <a:lnSpc>
                  <a:spcPts val="2639"/>
                </a:lnSpc>
              </a:pPr>
              <a:r>
                <a:rPr lang="en-US" sz="2199" b="true">
                  <a:solidFill>
                    <a:srgbClr val="3C61B6"/>
                  </a:solidFill>
                  <a:latin typeface="Exo 2 Bold"/>
                  <a:ea typeface="Exo 2 Bold"/>
                  <a:cs typeface="Exo 2 Bold"/>
                  <a:sym typeface="Exo 2 Bold"/>
                </a:rPr>
                <a:t>Funding gap (4)</a:t>
              </a:r>
            </a:p>
          </p:txBody>
        </p:sp>
        <p:sp>
          <p:nvSpPr>
            <p:cNvPr name="TextBox 24" id="22"/>
            <p:cNvSpPr txBox="true"/>
            <p:nvPr/>
          </p:nvSpPr>
          <p:spPr>
            <a:xfrm rot="0">
              <a:off x="408686" y="874649"/>
              <a:ext cx="9753600" cy="771525"/>
            </a:xfrm>
            <a:prstGeom prst="rect">
              <a:avLst/>
            </a:prstGeom>
          </p:spPr>
          <p:txBody>
            <a:bodyPr anchor="t" rtlCol="false" tIns="0" lIns="0" bIns="0" rIns="0">
              <a:spAutoFit/>
            </a:bodyPr>
            <a:lstStyle/>
            <a:p>
              <a:pPr algn="l">
                <a:lnSpc>
                  <a:spcPts val="2279"/>
                </a:lnSpc>
              </a:pPr>
              <a:r>
                <a:rPr lang="en-US" sz="1899">
                  <a:solidFill>
                    <a:srgbClr val="5A6A85"/>
                  </a:solidFill>
                  <a:latin typeface="Exo 2"/>
                  <a:ea typeface="Exo 2"/>
                  <a:cs typeface="Exo 2"/>
                  <a:sym typeface="Exo 2"/>
                </a:rPr>
                <a:t>Send the fee schedule and bank transfer steps, then a follow-up call.</a:t>
              </a:r>
            </a:p>
          </p:txBody>
        </p:sp>
      </p:grpSp>
      <p:grpSp>
        <p:nvGrpSpPr>
          <p:cNvPr name="Group 25" id="23"/>
          <p:cNvGrpSpPr/>
          <p:nvPr/>
        </p:nvGrpSpPr>
        <p:grpSpPr>
          <a:xfrm rot="0">
            <a:off x="9569006" y="5164979"/>
            <a:ext cx="7809357" cy="1426845"/>
            <a:chOff x="0" y="0"/>
            <a:chExt cx="10412476" cy="1902460"/>
          </a:xfrm>
        </p:grpSpPr>
        <p:grpSp>
          <p:nvGrpSpPr>
            <p:cNvPr name="Group 26" id="24"/>
            <p:cNvGrpSpPr/>
            <p:nvPr/>
          </p:nvGrpSpPr>
          <p:grpSpPr>
            <a:xfrm rot="0">
              <a:off x="0" y="0"/>
              <a:ext cx="10412476" cy="1902460"/>
              <a:chOff x="0" y="0"/>
              <a:chExt cx="10412476" cy="1902460"/>
            </a:xfrm>
          </p:grpSpPr>
          <p:sp>
            <p:nvSpPr>
              <p:cNvPr name="Freeform 27" id="25"/>
              <p:cNvSpPr/>
              <p:nvPr/>
            </p:nvSpPr>
            <p:spPr>
              <a:xfrm flipH="false" flipV="false" rot="0">
                <a:off x="0" y="0"/>
                <a:ext cx="10412476" cy="1902460"/>
              </a:xfrm>
              <a:custGeom>
                <a:avLst/>
                <a:gdLst/>
                <a:ahLst/>
                <a:cxnLst/>
                <a:rect r="r" b="b" t="t" l="l"/>
                <a:pathLst>
                  <a:path h="1902460" w="10412476">
                    <a:moveTo>
                      <a:pt x="0" y="0"/>
                    </a:moveTo>
                    <a:lnTo>
                      <a:pt x="10412476" y="0"/>
                    </a:lnTo>
                    <a:lnTo>
                      <a:pt x="10412476" y="1902460"/>
                    </a:lnTo>
                    <a:lnTo>
                      <a:pt x="0" y="1902460"/>
                    </a:lnTo>
                    <a:close/>
                  </a:path>
                </a:pathLst>
              </a:custGeom>
              <a:solidFill>
                <a:srgbClr val="FFFFFF"/>
              </a:solidFill>
              <a:ln w="9525" cap="sq">
                <a:solidFill>
                  <a:srgbClr val="E4E7F2"/>
                </a:solidFill>
                <a:prstDash val="solid"/>
                <a:miter/>
              </a:ln>
            </p:spPr>
          </p:sp>
        </p:grpSp>
        <p:grpSp>
          <p:nvGrpSpPr>
            <p:cNvPr name="Group 28" id="26"/>
            <p:cNvGrpSpPr/>
            <p:nvPr/>
          </p:nvGrpSpPr>
          <p:grpSpPr>
            <a:xfrm rot="0">
              <a:off x="6350" y="6350"/>
              <a:ext cx="97536" cy="1889760"/>
              <a:chOff x="0" y="0"/>
              <a:chExt cx="97536" cy="1889760"/>
            </a:xfrm>
          </p:grpSpPr>
          <p:sp>
            <p:nvSpPr>
              <p:cNvPr name="Freeform 29" id="27"/>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D98C1F"/>
              </a:solidFill>
            </p:spPr>
          </p:sp>
        </p:grpSp>
        <p:sp>
          <p:nvSpPr>
            <p:cNvPr name="TextBox 30" id="28"/>
            <p:cNvSpPr txBox="true"/>
            <p:nvPr/>
          </p:nvSpPr>
          <p:spPr>
            <a:xfrm rot="0">
              <a:off x="408686" y="240665"/>
              <a:ext cx="9753600" cy="454025"/>
            </a:xfrm>
            <a:prstGeom prst="rect">
              <a:avLst/>
            </a:prstGeom>
          </p:spPr>
          <p:txBody>
            <a:bodyPr anchor="t" rtlCol="false" tIns="0" lIns="0" bIns="0" rIns="0">
              <a:spAutoFit/>
            </a:bodyPr>
            <a:lstStyle/>
            <a:p>
              <a:pPr algn="l">
                <a:lnSpc>
                  <a:spcPts val="2639"/>
                </a:lnSpc>
              </a:pPr>
              <a:r>
                <a:rPr lang="en-US" sz="2199" b="true">
                  <a:solidFill>
                    <a:srgbClr val="D98C1F"/>
                  </a:solidFill>
                  <a:latin typeface="Exo 2 Bold"/>
                  <a:ea typeface="Exo 2 Bold"/>
                  <a:cs typeface="Exo 2 Bold"/>
                  <a:sym typeface="Exo 2 Bold"/>
                </a:rPr>
                <a:t>Not onboarded (11)</a:t>
              </a:r>
            </a:p>
          </p:txBody>
        </p:sp>
        <p:sp>
          <p:nvSpPr>
            <p:cNvPr name="TextBox 31" id="29"/>
            <p:cNvSpPr txBox="true"/>
            <p:nvPr/>
          </p:nvSpPr>
          <p:spPr>
            <a:xfrm rot="0">
              <a:off x="408686" y="874649"/>
              <a:ext cx="9753600" cy="771525"/>
            </a:xfrm>
            <a:prstGeom prst="rect">
              <a:avLst/>
            </a:prstGeom>
          </p:spPr>
          <p:txBody>
            <a:bodyPr anchor="t" rtlCol="false" tIns="0" lIns="0" bIns="0" rIns="0">
              <a:spAutoFit/>
            </a:bodyPr>
            <a:lstStyle/>
            <a:p>
              <a:pPr algn="l">
                <a:lnSpc>
                  <a:spcPts val="2279"/>
                </a:lnSpc>
              </a:pPr>
              <a:r>
                <a:rPr lang="en-US" sz="1899">
                  <a:solidFill>
                    <a:srgbClr val="5A6A85"/>
                  </a:solidFill>
                  <a:latin typeface="Exo 2"/>
                  <a:ea typeface="Exo 2"/>
                  <a:cs typeface="Exo 2"/>
                  <a:sym typeface="Exo 2"/>
                </a:rPr>
                <a:t>Onboarding email with the document checklist, then a second call on day 3.</a:t>
              </a:r>
            </a:p>
          </p:txBody>
        </p:sp>
      </p:grpSp>
      <p:grpSp>
        <p:nvGrpSpPr>
          <p:cNvPr name="Group 32" id="30"/>
          <p:cNvGrpSpPr/>
          <p:nvPr/>
        </p:nvGrpSpPr>
        <p:grpSpPr>
          <a:xfrm rot="0">
            <a:off x="9569006" y="7327678"/>
            <a:ext cx="7809357" cy="1426845"/>
            <a:chOff x="0" y="0"/>
            <a:chExt cx="10412476" cy="1902460"/>
          </a:xfrm>
        </p:grpSpPr>
        <p:grpSp>
          <p:nvGrpSpPr>
            <p:cNvPr name="Group 33" id="31"/>
            <p:cNvGrpSpPr/>
            <p:nvPr/>
          </p:nvGrpSpPr>
          <p:grpSpPr>
            <a:xfrm rot="0">
              <a:off x="0" y="0"/>
              <a:ext cx="10412476" cy="1902460"/>
              <a:chOff x="0" y="0"/>
              <a:chExt cx="10412476" cy="1902460"/>
            </a:xfrm>
          </p:grpSpPr>
          <p:sp>
            <p:nvSpPr>
              <p:cNvPr name="Freeform 34" id="32"/>
              <p:cNvSpPr/>
              <p:nvPr/>
            </p:nvSpPr>
            <p:spPr>
              <a:xfrm flipH="false" flipV="false" rot="0">
                <a:off x="0" y="0"/>
                <a:ext cx="10412476" cy="1902460"/>
              </a:xfrm>
              <a:custGeom>
                <a:avLst/>
                <a:gdLst/>
                <a:ahLst/>
                <a:cxnLst/>
                <a:rect r="r" b="b" t="t" l="l"/>
                <a:pathLst>
                  <a:path h="1902460" w="10412476">
                    <a:moveTo>
                      <a:pt x="0" y="0"/>
                    </a:moveTo>
                    <a:lnTo>
                      <a:pt x="10412476" y="0"/>
                    </a:lnTo>
                    <a:lnTo>
                      <a:pt x="10412476" y="1902460"/>
                    </a:lnTo>
                    <a:lnTo>
                      <a:pt x="0" y="1902460"/>
                    </a:lnTo>
                    <a:close/>
                  </a:path>
                </a:pathLst>
              </a:custGeom>
              <a:solidFill>
                <a:srgbClr val="FFFFFF"/>
              </a:solidFill>
              <a:ln w="9525" cap="sq">
                <a:solidFill>
                  <a:srgbClr val="E4E7F2"/>
                </a:solidFill>
                <a:prstDash val="solid"/>
                <a:miter/>
              </a:ln>
            </p:spPr>
          </p:sp>
        </p:grpSp>
        <p:grpSp>
          <p:nvGrpSpPr>
            <p:cNvPr name="Group 35" id="33"/>
            <p:cNvGrpSpPr/>
            <p:nvPr/>
          </p:nvGrpSpPr>
          <p:grpSpPr>
            <a:xfrm rot="0">
              <a:off x="6350" y="6350"/>
              <a:ext cx="97536" cy="1889760"/>
              <a:chOff x="0" y="0"/>
              <a:chExt cx="97536" cy="1889760"/>
            </a:xfrm>
          </p:grpSpPr>
          <p:sp>
            <p:nvSpPr>
              <p:cNvPr name="Freeform 36" id="34"/>
              <p:cNvSpPr/>
              <p:nvPr/>
            </p:nvSpPr>
            <p:spPr>
              <a:xfrm flipH="false" flipV="false" rot="0">
                <a:off x="0" y="0"/>
                <a:ext cx="97536" cy="1889760"/>
              </a:xfrm>
              <a:custGeom>
                <a:avLst/>
                <a:gdLst/>
                <a:ahLst/>
                <a:cxnLst/>
                <a:rect r="r" b="b" t="t" l="l"/>
                <a:pathLst>
                  <a:path h="1889760" w="97536">
                    <a:moveTo>
                      <a:pt x="0" y="0"/>
                    </a:moveTo>
                    <a:lnTo>
                      <a:pt x="97536" y="0"/>
                    </a:lnTo>
                    <a:lnTo>
                      <a:pt x="97536" y="1889760"/>
                    </a:lnTo>
                    <a:lnTo>
                      <a:pt x="0" y="1889760"/>
                    </a:lnTo>
                    <a:close/>
                  </a:path>
                </a:pathLst>
              </a:custGeom>
              <a:solidFill>
                <a:srgbClr val="1E9E6B"/>
              </a:solidFill>
            </p:spPr>
          </p:sp>
        </p:grpSp>
        <p:sp>
          <p:nvSpPr>
            <p:cNvPr name="TextBox 37" id="35"/>
            <p:cNvSpPr txBox="true"/>
            <p:nvPr/>
          </p:nvSpPr>
          <p:spPr>
            <a:xfrm rot="0">
              <a:off x="408686" y="240665"/>
              <a:ext cx="9753600" cy="454025"/>
            </a:xfrm>
            <a:prstGeom prst="rect">
              <a:avLst/>
            </a:prstGeom>
          </p:spPr>
          <p:txBody>
            <a:bodyPr anchor="t" rtlCol="false" tIns="0" lIns="0" bIns="0" rIns="0">
              <a:spAutoFit/>
            </a:bodyPr>
            <a:lstStyle/>
            <a:p>
              <a:pPr algn="l">
                <a:lnSpc>
                  <a:spcPts val="2639"/>
                </a:lnSpc>
              </a:pPr>
              <a:r>
                <a:rPr lang="en-US" sz="2199" b="true">
                  <a:solidFill>
                    <a:srgbClr val="1E9E6B"/>
                  </a:solidFill>
                  <a:latin typeface="Exo 2 Bold"/>
                  <a:ea typeface="Exo 2 Bold"/>
                  <a:cs typeface="Exo 2 Bold"/>
                  <a:sym typeface="Exo 2 Bold"/>
                </a:rPr>
                <a:t>Onboarded (6)</a:t>
              </a:r>
            </a:p>
          </p:txBody>
        </p:sp>
        <p:sp>
          <p:nvSpPr>
            <p:cNvPr name="TextBox 38" id="36"/>
            <p:cNvSpPr txBox="true"/>
            <p:nvPr/>
          </p:nvSpPr>
          <p:spPr>
            <a:xfrm rot="0">
              <a:off x="408686" y="874649"/>
              <a:ext cx="9753600" cy="771525"/>
            </a:xfrm>
            <a:prstGeom prst="rect">
              <a:avLst/>
            </a:prstGeom>
          </p:spPr>
          <p:txBody>
            <a:bodyPr anchor="t" rtlCol="false" tIns="0" lIns="0" bIns="0" rIns="0">
              <a:spAutoFit/>
            </a:bodyPr>
            <a:lstStyle/>
            <a:p>
              <a:pPr algn="l">
                <a:lnSpc>
                  <a:spcPts val="2279"/>
                </a:lnSpc>
              </a:pPr>
              <a:r>
                <a:rPr lang="en-US" sz="1899">
                  <a:solidFill>
                    <a:srgbClr val="5A6A85"/>
                  </a:solidFill>
                  <a:latin typeface="Exo 2"/>
                  <a:ea typeface="Exo 2"/>
                  <a:cs typeface="Exo 2"/>
                  <a:sym typeface="Exo 2"/>
                </a:rPr>
                <a:t>Guide the first deposit by bank transfer so the account gets funded.</a:t>
              </a:r>
            </a:p>
          </p:txBody>
        </p:sp>
      </p:grpSp>
      <p:grpSp>
        <p:nvGrpSpPr>
          <p:cNvPr name="Group 6" id="37"/>
          <p:cNvGrpSpPr/>
          <p:nvPr/>
        </p:nvGrpSpPr>
        <p:grpSpPr>
          <a:xfrm rot="0">
            <a:off x="850392" y="297596"/>
            <a:ext cx="13990320" cy="1124712"/>
            <a:chOff x="0" y="0"/>
            <a:chExt cx="18653760" cy="1499616"/>
          </a:xfrm>
        </p:grpSpPr>
        <p:sp>
          <p:nvSpPr>
            <p:cNvPr name="Freeform 7" id="38"/>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2">
                <a:alphaModFix amt="0"/>
              </a:blip>
              <a:stretch>
                <a:fillRect l="0" t="-192374" r="0" b="-192374"/>
              </a:stretch>
            </a:blipFill>
          </p:spPr>
        </p:sp>
        <p:sp>
          <p:nvSpPr>
            <p:cNvPr name="TextBox 8" id="39"/>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Client Feedback and Next Steps</a:t>
              </a:r>
            </a:p>
          </p:txBody>
        </p:sp>
      </p:grpSp>
      <p:grpSp>
        <p:nvGrpSpPr>
          <p:cNvPr name="Group 9" id="40"/>
          <p:cNvGrpSpPr/>
          <p:nvPr/>
        </p:nvGrpSpPr>
        <p:grpSpPr>
          <a:xfrm rot="0">
            <a:off x="15457932" y="571916"/>
            <a:ext cx="1988820" cy="576072"/>
            <a:chOff x="0" y="0"/>
            <a:chExt cx="2651760" cy="768096"/>
          </a:xfrm>
        </p:grpSpPr>
        <p:sp>
          <p:nvSpPr>
            <p:cNvPr name="Freeform 10" id="4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7"/>
              <a:stretch>
                <a:fillRect l="0" t="-26" r="0" b="-26"/>
              </a:stretch>
            </a:blipFill>
          </p:spPr>
        </p:sp>
      </p:grpSp>
      <p:sp>
        <p:nvSpPr>
          <p:cNvPr name="TextBox 13" id="42"/>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CLIENT EXPERIENCE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txBody>
            <a:bodyPr/>
            <a:p/>
          </p:txBody>
        </p:sp>
      </p:grpSp>
      <p:sp>
        <p:nvSpPr>
          <p:cNvPr name="TextBox 4" id="4"/>
          <p:cNvSpPr txBox="true"/>
          <p:nvPr/>
        </p:nvSpPr>
        <p:spPr>
          <a:xfrm rot="0">
            <a:off x="1292489" y="4500562"/>
            <a:ext cx="15703023" cy="1285875"/>
          </a:xfrm>
          <a:prstGeom prst="rect">
            <a:avLst/>
          </a:prstGeom>
        </p:spPr>
        <p:txBody>
          <a:bodyPr anchor="t" rtlCol="false" tIns="0" lIns="0" bIns="0" rIns="0">
            <a:spAutoFit/>
          </a:bodyPr>
          <a:lstStyle/>
          <a:p>
            <a:pPr algn="ctr">
              <a:lnSpc>
                <a:spcPts val="10199"/>
              </a:lnSpc>
            </a:pPr>
            <a:r>
              <a:rPr lang="en-US" b="true" sz="8499">
                <a:solidFill>
                  <a:srgbClr val="FFFFFF"/>
                </a:solidFill>
                <a:latin typeface="Exo 2 Bold"/>
                <a:ea typeface="Exo 2 Bold"/>
                <a:cs typeface="Exo 2 Bold"/>
                <a:sym typeface="Exo 2 Bold"/>
              </a:rPr>
              <a:t>Marketing</a:t>
            </a:r>
          </a:p>
        </p:txBody>
      </p:sp>
      <p:grpSp>
        <p:nvGrpSpPr>
          <p:cNvPr name="Group 5" id="5"/>
          <p:cNvGrpSpPr/>
          <p:nvPr/>
        </p:nvGrpSpPr>
        <p:grpSpPr>
          <a:xfrm rot="0">
            <a:off x="14630340" y="1028700"/>
            <a:ext cx="2628960" cy="757148"/>
            <a:chOff x="0" y="0"/>
            <a:chExt cx="6614516" cy="1905000"/>
          </a:xfrm>
        </p:grpSpPr>
        <p:sp>
          <p:nvSpPr>
            <p:cNvPr name="Freeform 6" id="6"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7" id="7"/>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7"/>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3"/>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graphicFrame>
        <p:nvGraphicFramePr>
          <p:cNvPr name="Table 14" id="7"/>
          <p:cNvGraphicFramePr>
            <a:graphicFrameLocks noGrp="true"/>
          </p:cNvGraphicFramePr>
          <p:nvPr/>
        </p:nvGraphicFramePr>
        <p:xfrm>
          <a:off x="955167" y="2194560"/>
          <a:ext cx="11963400" cy="6474035"/>
        </p:xfrm>
        <a:graphic>
          <a:graphicData uri="http://schemas.openxmlformats.org/drawingml/2006/table">
            <a:tbl>
              <a:tblPr/>
              <a:tblGrid>
                <a:gridCol w="3007941"/>
                <a:gridCol w="2790599"/>
                <a:gridCol w="3362007"/>
                <a:gridCol w="2802854"/>
              </a:tblGrid>
              <a:tr h="738509">
                <a:tc>
                  <a:txBody>
                    <a:bodyPr anchor="t" rtlCol="false"/>
                    <a:lstStyle/>
                    <a:p>
                      <a:pPr algn="l">
                        <a:lnSpc>
                          <a:spcPts val="1889"/>
                        </a:lnSpc>
                        <a:defRPr/>
                      </a:pPr>
                      <a:r>
                        <a:rPr lang="en-US" sz="1575" b="true">
                          <a:solidFill>
                            <a:srgbClr val="FFFFFF"/>
                          </a:solidFill>
                          <a:latin typeface="Exo 2 Bold"/>
                          <a:ea typeface="Exo 2 Bold"/>
                          <a:cs typeface="Exo 2 Bold"/>
                          <a:sym typeface="Exo 2 Bold"/>
                        </a:rPr>
                        <a:t>Effort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32257"/>
                    </a:solidFill>
                  </a:tcPr>
                </a:tc>
                <a:tc>
                  <a:txBody>
                    <a:bodyPr anchor="t" rtlCol="false"/>
                    <a:lstStyle/>
                    <a:p>
                      <a:pPr algn="l">
                        <a:lnSpc>
                          <a:spcPts val="1889"/>
                        </a:lnSpc>
                        <a:defRPr/>
                      </a:pPr>
                      <a:r>
                        <a:rPr lang="en-US" sz="1575" b="true">
                          <a:solidFill>
                            <a:srgbClr val="FFFFFF"/>
                          </a:solidFill>
                          <a:latin typeface="Exo 2 Bold"/>
                          <a:ea typeface="Exo 2 Bold"/>
                          <a:cs typeface="Exo 2 Bold"/>
                          <a:sym typeface="Exo 2 Bold"/>
                        </a:rPr>
                        <a:t>Status</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32257"/>
                    </a:solidFill>
                  </a:tcPr>
                </a:tc>
                <a:tc>
                  <a:txBody>
                    <a:bodyPr anchor="t" rtlCol="false"/>
                    <a:lstStyle/>
                    <a:p>
                      <a:pPr algn="l">
                        <a:lnSpc>
                          <a:spcPts val="1889"/>
                        </a:lnSpc>
                        <a:defRPr/>
                      </a:pPr>
                      <a:r>
                        <a:rPr lang="en-US" sz="1575" b="true">
                          <a:solidFill>
                            <a:srgbClr val="FFFFFF"/>
                          </a:solidFill>
                          <a:latin typeface="Exo 2 Bold"/>
                          <a:ea typeface="Exo 2 Bold"/>
                          <a:cs typeface="Exo 2 Bold"/>
                          <a:sym typeface="Exo 2 Bold"/>
                        </a:rPr>
                        <a:t>Result so far</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32257"/>
                    </a:solidFill>
                  </a:tcPr>
                </a:tc>
                <a:tc>
                  <a:txBody>
                    <a:bodyPr anchor="t" rtlCol="false"/>
                    <a:lstStyle/>
                    <a:p>
                      <a:pPr algn="l">
                        <a:lnSpc>
                          <a:spcPts val="1889"/>
                        </a:lnSpc>
                        <a:defRPr/>
                      </a:pPr>
                      <a:r>
                        <a:rPr lang="en-US" sz="1575" b="true">
                          <a:solidFill>
                            <a:srgbClr val="FFFFFF"/>
                          </a:solidFill>
                          <a:latin typeface="Exo 2 Bold"/>
                          <a:ea typeface="Exo 2 Bold"/>
                          <a:cs typeface="Exo 2 Bold"/>
                          <a:sym typeface="Exo 2 Bold"/>
                        </a:rPr>
                        <a:t>Next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132257"/>
                    </a:solidFill>
                  </a:tcPr>
                </a:tc>
              </a:tr>
              <a:tr h="903551">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LinkedIn Ads</a:t>
                      </a:r>
                      <a:endParaRPr lang="en-US" sz="1100"/>
                    </a:p>
                    <a:p>
                      <a:pPr algn="l">
                        <a:lnSpc>
                          <a:spcPts val="1620"/>
                        </a:lnSpc>
                      </a:pPr>
                      <a:r>
                        <a:rPr lang="en-US" sz="1350">
                          <a:solidFill>
                            <a:srgbClr val="7A849C"/>
                          </a:solidFill>
                          <a:latin typeface="Exo 2"/>
                          <a:ea typeface="Exo 2"/>
                          <a:cs typeface="Exo 2"/>
                          <a:sym typeface="Exo 2"/>
                        </a:rPr>
                        <a:t>Affluent lead generation, Saudi</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C53030"/>
                          </a:solidFill>
                          <a:latin typeface="Exo 2"/>
                          <a:ea typeface="Exo 2"/>
                          <a:cs typeface="Exo 2"/>
                          <a:sym typeface="Exo 2"/>
                        </a:rPr>
                        <a:t>● </a:t>
                      </a:r>
                      <a:r>
                        <a:rPr lang="en-US" sz="1575" b="true">
                          <a:solidFill>
                            <a:srgbClr val="C53030"/>
                          </a:solidFill>
                          <a:latin typeface="Exo 2 Bold"/>
                          <a:ea typeface="Exo 2 Bold"/>
                          <a:cs typeface="Exo 2 Bold"/>
                          <a:sym typeface="Exo 2 Bold"/>
                        </a:rPr>
                        <a:t>Setup Process </a:t>
                      </a:r>
                      <a:r>
                        <a:rPr lang="en-US" sz="1575">
                          <a:solidFill>
                            <a:srgbClr val="1F2A44"/>
                          </a:solidFill>
                          <a:latin typeface="Exo 2"/>
                          <a:ea typeface="Exo 2"/>
                          <a:cs typeface="Exo 2"/>
                          <a:sym typeface="Exo 2"/>
                        </a:rPr>
                        <a:t>Requires 3 to 5 working days</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No results reported yet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Leads and cost per lead, 20 Oct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1191502">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Google Ads</a:t>
                      </a:r>
                      <a:endParaRPr lang="en-US" sz="1100"/>
                    </a:p>
                    <a:p>
                      <a:pPr algn="l">
                        <a:lnSpc>
                          <a:spcPts val="1620"/>
                        </a:lnSpc>
                      </a:pPr>
                      <a:r>
                        <a:rPr lang="en-US" sz="1350">
                          <a:solidFill>
                            <a:srgbClr val="7A849C"/>
                          </a:solidFill>
                          <a:latin typeface="Exo 2"/>
                          <a:ea typeface="Exo 2"/>
                          <a:cs typeface="Exo 2"/>
                          <a:sym typeface="Exo 2"/>
                        </a:rPr>
                        <a:t>Starter and Emerging, Saudi</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9A7B1F"/>
                          </a:solidFill>
                          <a:latin typeface="Exo 2"/>
                          <a:ea typeface="Exo 2"/>
                          <a:cs typeface="Exo 2"/>
                          <a:sym typeface="Exo 2"/>
                        </a:rPr>
                        <a:t>● </a:t>
                      </a:r>
                      <a:r>
                        <a:rPr lang="en-US" sz="1575" b="true">
                          <a:solidFill>
                            <a:srgbClr val="9A7B1F"/>
                          </a:solidFill>
                          <a:latin typeface="Exo 2 Bold"/>
                          <a:ea typeface="Exo 2 Bold"/>
                          <a:cs typeface="Exo 2 Bold"/>
                          <a:sym typeface="Exo 2 Bold"/>
                        </a:rPr>
                        <a:t>Testing</a:t>
                      </a:r>
                      <a:r>
                        <a:rPr lang="en-US" sz="1575">
                          <a:solidFill>
                            <a:srgbClr val="1F2A44"/>
                          </a:solidFill>
                          <a:latin typeface="Exo 2"/>
                          <a:ea typeface="Exo 2"/>
                          <a:cs typeface="Exo 2"/>
                          <a:sym typeface="Exo 2"/>
                        </a:rPr>
                        <a:t>  since 22 Sep</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409 website sessions, 70% increase of September site traffic</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Optimize and scale depending on best performing content and keywords</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895757">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Mention &amp; Win</a:t>
                      </a:r>
                      <a:endParaRPr lang="en-US" sz="1100"/>
                    </a:p>
                    <a:p>
                      <a:pPr algn="l">
                        <a:lnSpc>
                          <a:spcPts val="1620"/>
                        </a:lnSpc>
                      </a:pPr>
                      <a:r>
                        <a:rPr lang="en-US" sz="1350">
                          <a:solidFill>
                            <a:srgbClr val="7A849C"/>
                          </a:solidFill>
                          <a:latin typeface="Exo 2"/>
                          <a:ea typeface="Exo 2"/>
                          <a:cs typeface="Exo 2"/>
                          <a:sym typeface="Exo 2"/>
                        </a:rPr>
                        <a:t>$500 monthly contest, GCC</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BA97C"/>
                          </a:solidFill>
                          <a:latin typeface="Exo 2"/>
                          <a:ea typeface="Exo 2"/>
                          <a:cs typeface="Exo 2"/>
                          <a:sym typeface="Exo 2"/>
                        </a:rPr>
                        <a:t>● </a:t>
                      </a:r>
                      <a:r>
                        <a:rPr lang="en-US" sz="1575" b="true">
                          <a:solidFill>
                            <a:srgbClr val="1BA97C"/>
                          </a:solidFill>
                          <a:latin typeface="Exo 2 Bold"/>
                          <a:ea typeface="Exo 2 Bold"/>
                          <a:cs typeface="Exo 2 Bold"/>
                          <a:sym typeface="Exo 2 Bold"/>
                        </a:rPr>
                        <a:t>Live</a:t>
                      </a:r>
                      <a:r>
                        <a:rPr lang="en-US" sz="1575">
                          <a:solidFill>
                            <a:srgbClr val="1F2A44"/>
                          </a:solidFill>
                          <a:latin typeface="Exo 2"/>
                          <a:ea typeface="Exo 2"/>
                          <a:cs typeface="Exo 2"/>
                          <a:sym typeface="Exo 2"/>
                        </a:rPr>
                        <a:t>  until 20 Oct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186K views on the campaign post so far</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Entries and accounts opened</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895757">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$5,000 Prize Campaign</a:t>
                      </a:r>
                      <a:endParaRPr lang="en-US" sz="1100"/>
                    </a:p>
                    <a:p>
                      <a:pPr algn="l">
                        <a:lnSpc>
                          <a:spcPts val="1620"/>
                        </a:lnSpc>
                      </a:pPr>
                      <a:r>
                        <a:rPr lang="en-US" sz="1350">
                          <a:solidFill>
                            <a:srgbClr val="7A849C"/>
                          </a:solidFill>
                          <a:latin typeface="Exo 2"/>
                          <a:ea typeface="Exo 2"/>
                          <a:cs typeface="Exo 2"/>
                          <a:sym typeface="Exo 2"/>
                        </a:rPr>
                        <a:t>1 Aug to 31 Dec, draw 10 Jan</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BA97C"/>
                          </a:solidFill>
                          <a:latin typeface="Exo 2"/>
                          <a:ea typeface="Exo 2"/>
                          <a:cs typeface="Exo 2"/>
                          <a:sym typeface="Exo 2"/>
                        </a:rPr>
                        <a:t>● </a:t>
                      </a:r>
                      <a:r>
                        <a:rPr lang="en-US" sz="1575" b="true">
                          <a:solidFill>
                            <a:srgbClr val="1BA97C"/>
                          </a:solidFill>
                          <a:latin typeface="Exo 2 Bold"/>
                          <a:ea typeface="Exo 2 Bold"/>
                          <a:cs typeface="Exo 2 Bold"/>
                          <a:sym typeface="Exo 2 Bold"/>
                        </a:rPr>
                        <a:t>Live</a:t>
                      </a:r>
                      <a:r>
                        <a:rPr lang="en-US" sz="1575">
                          <a:solidFill>
                            <a:srgbClr val="1F2A44"/>
                          </a:solidFill>
                          <a:latin typeface="Exo 2"/>
                          <a:ea typeface="Exo 2"/>
                          <a:cs typeface="Exo 2"/>
                          <a:sym typeface="Exo 2"/>
                        </a:rPr>
                        <a:t>  pages up</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Additional support content in early October</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953201">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Creator videos</a:t>
                      </a:r>
                      <a:endParaRPr lang="en-US" sz="1100"/>
                    </a:p>
                    <a:p>
                      <a:pPr algn="l">
                        <a:lnSpc>
                          <a:spcPts val="1620"/>
                        </a:lnSpc>
                      </a:pPr>
                      <a:r>
                        <a:rPr lang="en-US" sz="1350">
                          <a:solidFill>
                            <a:srgbClr val="7A849C"/>
                          </a:solidFill>
                          <a:latin typeface="Exo 2"/>
                          <a:ea typeface="Exo 2"/>
                          <a:cs typeface="Exo 2"/>
                          <a:sym typeface="Exo 2"/>
                        </a:rPr>
                        <a:t>one a month</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32257"/>
                          </a:solidFill>
                          <a:latin typeface="Exo 2"/>
                          <a:ea typeface="Exo 2"/>
                          <a:cs typeface="Exo 2"/>
                          <a:sym typeface="Exo 2"/>
                        </a:rPr>
                        <a:t>● </a:t>
                      </a:r>
                      <a:r>
                        <a:rPr lang="en-US" sz="1575" b="true">
                          <a:solidFill>
                            <a:srgbClr val="132257"/>
                          </a:solidFill>
                          <a:latin typeface="Exo 2 Bold"/>
                          <a:ea typeface="Exo 2 Bold"/>
                          <a:cs typeface="Exo 2 Bold"/>
                          <a:sym typeface="Exo 2 Bold"/>
                        </a:rPr>
                        <a:t>Posted</a:t>
                      </a:r>
                      <a:r>
                        <a:rPr lang="en-US" sz="1575">
                          <a:solidFill>
                            <a:srgbClr val="1F2A44"/>
                          </a:solidFill>
                          <a:latin typeface="Exo 2"/>
                          <a:ea typeface="Exo 2"/>
                          <a:cs typeface="Exo 2"/>
                          <a:sym typeface="Exo 2"/>
                        </a:rPr>
                        <a:t>  4 so far 3 left</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5.3M and 1.3M views; Manal Talal 22 Oct, Hamed Al-Balooshi 20 Nov &amp; Ammar Alshaikh early Dec</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Manal Talal’s Video</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r h="895757">
                <a:tc>
                  <a:txBody>
                    <a:bodyPr anchor="t" rtlCol="false"/>
                    <a:lstStyle/>
                    <a:p>
                      <a:pPr algn="l">
                        <a:lnSpc>
                          <a:spcPts val="1889"/>
                        </a:lnSpc>
                        <a:defRPr/>
                      </a:pPr>
                      <a:r>
                        <a:rPr lang="en-US" sz="1575" b="true">
                          <a:solidFill>
                            <a:srgbClr val="132257"/>
                          </a:solidFill>
                          <a:latin typeface="Exo 2 Bold"/>
                          <a:ea typeface="Exo 2 Bold"/>
                          <a:cs typeface="Exo 2 Bold"/>
                          <a:sym typeface="Exo 2 Bold"/>
                        </a:rPr>
                        <a:t>Social channels</a:t>
                      </a:r>
                      <a:endParaRPr lang="en-US" sz="1100"/>
                    </a:p>
                    <a:p>
                      <a:pPr algn="l">
                        <a:lnSpc>
                          <a:spcPts val="1620"/>
                        </a:lnSpc>
                      </a:pPr>
                      <a:r>
                        <a:rPr lang="en-US" sz="1350">
                          <a:solidFill>
                            <a:srgbClr val="7A849C"/>
                          </a:solidFill>
                          <a:latin typeface="Exo 2"/>
                          <a:ea typeface="Exo 2"/>
                          <a:cs typeface="Exo 2"/>
                          <a:sym typeface="Exo 2"/>
                        </a:rPr>
                        <a:t>Instagram, LinkedIn, X, TikTok</a:t>
                      </a:r>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E9E6B"/>
                          </a:solidFill>
                          <a:latin typeface="Exo 2"/>
                          <a:ea typeface="Exo 2"/>
                          <a:cs typeface="Exo 2"/>
                          <a:sym typeface="Exo 2"/>
                        </a:rPr>
                        <a:t>● L</a:t>
                      </a:r>
                      <a:r>
                        <a:rPr lang="en-US" sz="1575">
                          <a:solidFill>
                            <a:srgbClr val="1E9E6B"/>
                          </a:solidFill>
                          <a:latin typeface="Exo 2"/>
                          <a:ea typeface="Exo 2"/>
                          <a:cs typeface="Exo 2"/>
                          <a:sym typeface="Exo 2"/>
                        </a:rPr>
                        <a:t>ive </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Followers: 2,116 / 531 / 738 / 15</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c>
                  <a:txBody>
                    <a:bodyPr anchor="t" rtlCol="false"/>
                    <a:lstStyle/>
                    <a:p>
                      <a:pPr algn="l">
                        <a:lnSpc>
                          <a:spcPts val="1889"/>
                        </a:lnSpc>
                        <a:defRPr/>
                      </a:pPr>
                      <a:r>
                        <a:rPr lang="en-US" sz="1575">
                          <a:solidFill>
                            <a:srgbClr val="1F2A44"/>
                          </a:solidFill>
                          <a:latin typeface="Exo 2"/>
                          <a:ea typeface="Exo 2"/>
                          <a:cs typeface="Exo 2"/>
                          <a:sym typeface="Exo 2"/>
                        </a:rPr>
                        <a:t>Increase focus on LinkedIn</a:t>
                      </a:r>
                      <a:endParaRPr lang="en-US" sz="1100"/>
                    </a:p>
                  </a:txBody>
                  <a:tcPr marL="63500" marR="63500" marT="63500" marB="63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D9DFEA"/>
                      </a:solidFill>
                      <a:prstDash val="solid"/>
                      <a:round/>
                      <a:headEnd type="none" w="med" len="med"/>
                      <a:tailEnd type="none" w="med" len="med"/>
                    </a:lnB>
                  </a:tcPr>
                </a:tc>
              </a:tr>
            </a:tbl>
          </a:graphicData>
        </a:graphic>
      </p:graphicFrame>
      <p:grpSp>
        <p:nvGrpSpPr>
          <p:cNvPr name="Group 15" id="8"/>
          <p:cNvGrpSpPr/>
          <p:nvPr/>
        </p:nvGrpSpPr>
        <p:grpSpPr>
          <a:xfrm rot="0">
            <a:off x="13331952" y="2631169"/>
            <a:ext cx="1851660" cy="2221992"/>
            <a:chOff x="0" y="0"/>
            <a:chExt cx="2468880" cy="2962656"/>
          </a:xfrm>
        </p:grpSpPr>
        <p:sp>
          <p:nvSpPr>
            <p:cNvPr name="Freeform 16" id="9" descr="/home/user/HatemIsa_202508993_IT9002_NLP_Project/emyaa-ceo-deck/working/charts/tile9_musheera.png"/>
            <p:cNvSpPr/>
            <p:nvPr/>
          </p:nvSpPr>
          <p:spPr>
            <a:xfrm flipH="false" flipV="false" rot="0">
              <a:off x="0" y="0"/>
              <a:ext cx="2468880" cy="2962656"/>
            </a:xfrm>
            <a:custGeom>
              <a:avLst/>
              <a:gdLst/>
              <a:ahLst/>
              <a:cxnLst/>
              <a:rect r="r" b="b" t="t" l="l"/>
              <a:pathLst>
                <a:path h="2962656" w="2468880">
                  <a:moveTo>
                    <a:pt x="0" y="0"/>
                  </a:moveTo>
                  <a:lnTo>
                    <a:pt x="2468880" y="0"/>
                  </a:lnTo>
                  <a:lnTo>
                    <a:pt x="2468880" y="2962656"/>
                  </a:lnTo>
                  <a:lnTo>
                    <a:pt x="0" y="2962656"/>
                  </a:lnTo>
                  <a:lnTo>
                    <a:pt x="0" y="0"/>
                  </a:lnTo>
                  <a:close/>
                </a:path>
              </a:pathLst>
            </a:custGeom>
            <a:blipFill>
              <a:blip r:embed="rId7"/>
              <a:stretch>
                <a:fillRect l="0" t="-3620" r="0" b="-3620"/>
              </a:stretch>
            </a:blipFill>
          </p:spPr>
        </p:sp>
      </p:grpSp>
      <p:sp>
        <p:nvSpPr>
          <p:cNvPr name="TextBox 17" id="10"/>
          <p:cNvSpPr txBox="true"/>
          <p:nvPr/>
        </p:nvSpPr>
        <p:spPr>
          <a:xfrm rot="0">
            <a:off x="13194792" y="4898500"/>
            <a:ext cx="2125980" cy="640461"/>
          </a:xfrm>
          <a:prstGeom prst="rect">
            <a:avLst/>
          </a:prstGeom>
        </p:spPr>
        <p:txBody>
          <a:bodyPr anchor="t" rtlCol="false" tIns="0" lIns="0" bIns="0" rIns="0">
            <a:spAutoFit/>
          </a:bodyPr>
          <a:lstStyle/>
          <a:p>
            <a:pPr algn="ctr">
              <a:lnSpc>
                <a:spcPts val="1620"/>
              </a:lnSpc>
            </a:pPr>
            <a:r>
              <a:rPr lang="en-US" sz="1350" b="true">
                <a:solidFill>
                  <a:srgbClr val="132257"/>
                </a:solidFill>
                <a:latin typeface="Exo 2 Bold"/>
                <a:ea typeface="Exo 2 Bold"/>
                <a:cs typeface="Exo 2 Bold"/>
                <a:sym typeface="Exo 2 Bold"/>
              </a:rPr>
              <a:t>Musheera</a:t>
            </a:r>
          </a:p>
          <a:p>
            <a:pPr algn="ctr">
              <a:lnSpc>
                <a:spcPts val="1620"/>
              </a:lnSpc>
            </a:pPr>
            <a:r>
              <a:rPr lang="en-US" sz="1350">
                <a:solidFill>
                  <a:srgbClr val="7A849C"/>
                </a:solidFill>
                <a:latin typeface="Exo 2"/>
                <a:ea typeface="Exo 2"/>
                <a:cs typeface="Exo 2"/>
                <a:sym typeface="Exo 2"/>
              </a:rPr>
              <a:t>5.3M</a:t>
            </a:r>
          </a:p>
        </p:txBody>
      </p:sp>
      <p:grpSp>
        <p:nvGrpSpPr>
          <p:cNvPr name="Group 18" id="11"/>
          <p:cNvGrpSpPr/>
          <p:nvPr/>
        </p:nvGrpSpPr>
        <p:grpSpPr>
          <a:xfrm rot="0">
            <a:off x="15457932" y="2631169"/>
            <a:ext cx="1851660" cy="2221992"/>
            <a:chOff x="0" y="0"/>
            <a:chExt cx="2468880" cy="2962656"/>
          </a:xfrm>
        </p:grpSpPr>
        <p:sp>
          <p:nvSpPr>
            <p:cNvPr name="Freeform 19" id="12" descr="/home/user/HatemIsa_202508993_IT9002_NLP_Project/emyaa-ceo-deck/working/charts/tile9_ali.png"/>
            <p:cNvSpPr/>
            <p:nvPr/>
          </p:nvSpPr>
          <p:spPr>
            <a:xfrm flipH="false" flipV="false" rot="0">
              <a:off x="0" y="0"/>
              <a:ext cx="2468880" cy="2962656"/>
            </a:xfrm>
            <a:custGeom>
              <a:avLst/>
              <a:gdLst/>
              <a:ahLst/>
              <a:cxnLst/>
              <a:rect r="r" b="b" t="t" l="l"/>
              <a:pathLst>
                <a:path h="2962656" w="2468880">
                  <a:moveTo>
                    <a:pt x="0" y="0"/>
                  </a:moveTo>
                  <a:lnTo>
                    <a:pt x="2468880" y="0"/>
                  </a:lnTo>
                  <a:lnTo>
                    <a:pt x="2468880" y="2962656"/>
                  </a:lnTo>
                  <a:lnTo>
                    <a:pt x="0" y="2962656"/>
                  </a:lnTo>
                  <a:lnTo>
                    <a:pt x="0" y="0"/>
                  </a:lnTo>
                  <a:close/>
                </a:path>
              </a:pathLst>
            </a:custGeom>
            <a:blipFill>
              <a:blip r:embed="rId8"/>
              <a:stretch>
                <a:fillRect l="0" t="-3620" r="0" b="-3620"/>
              </a:stretch>
            </a:blipFill>
          </p:spPr>
        </p:sp>
      </p:grpSp>
      <p:sp>
        <p:nvSpPr>
          <p:cNvPr name="TextBox 20" id="13"/>
          <p:cNvSpPr txBox="true"/>
          <p:nvPr/>
        </p:nvSpPr>
        <p:spPr>
          <a:xfrm rot="0">
            <a:off x="15320772" y="4898500"/>
            <a:ext cx="2125980" cy="640461"/>
          </a:xfrm>
          <a:prstGeom prst="rect">
            <a:avLst/>
          </a:prstGeom>
        </p:spPr>
        <p:txBody>
          <a:bodyPr anchor="t" rtlCol="false" tIns="0" lIns="0" bIns="0" rIns="0">
            <a:spAutoFit/>
          </a:bodyPr>
          <a:lstStyle/>
          <a:p>
            <a:pPr algn="ctr">
              <a:lnSpc>
                <a:spcPts val="1620"/>
              </a:lnSpc>
            </a:pPr>
            <a:r>
              <a:rPr lang="en-US" sz="1350" b="true">
                <a:solidFill>
                  <a:srgbClr val="132257"/>
                </a:solidFill>
                <a:latin typeface="Exo 2 Bold"/>
                <a:ea typeface="Exo 2 Bold"/>
                <a:cs typeface="Exo 2 Bold"/>
                <a:sym typeface="Exo 2 Bold"/>
              </a:rPr>
              <a:t>Ali Sabeel</a:t>
            </a:r>
          </a:p>
          <a:p>
            <a:pPr algn="ctr">
              <a:lnSpc>
                <a:spcPts val="1620"/>
              </a:lnSpc>
            </a:pPr>
            <a:r>
              <a:rPr lang="en-US" sz="1350">
                <a:solidFill>
                  <a:srgbClr val="7A849C"/>
                </a:solidFill>
                <a:latin typeface="Exo 2"/>
                <a:ea typeface="Exo 2"/>
                <a:cs typeface="Exo 2"/>
                <a:sym typeface="Exo 2"/>
              </a:rPr>
              <a:t>1.3M</a:t>
            </a:r>
          </a:p>
        </p:txBody>
      </p:sp>
      <p:grpSp>
        <p:nvGrpSpPr>
          <p:cNvPr name="Group 21" id="14"/>
          <p:cNvGrpSpPr/>
          <p:nvPr/>
        </p:nvGrpSpPr>
        <p:grpSpPr>
          <a:xfrm rot="0">
            <a:off x="13331952" y="5648689"/>
            <a:ext cx="1851660" cy="2221992"/>
            <a:chOff x="0" y="0"/>
            <a:chExt cx="2468880" cy="2962656"/>
          </a:xfrm>
        </p:grpSpPr>
        <p:sp>
          <p:nvSpPr>
            <p:cNvPr name="Freeform 22" id="15" descr="/home/user/HatemIsa_202508993_IT9002_NLP_Project/emyaa-ceo-deck/working/charts/tile9_abdulelah.png"/>
            <p:cNvSpPr/>
            <p:nvPr/>
          </p:nvSpPr>
          <p:spPr>
            <a:xfrm flipH="false" flipV="false" rot="0">
              <a:off x="0" y="0"/>
              <a:ext cx="2468880" cy="2962656"/>
            </a:xfrm>
            <a:custGeom>
              <a:avLst/>
              <a:gdLst/>
              <a:ahLst/>
              <a:cxnLst/>
              <a:rect r="r" b="b" t="t" l="l"/>
              <a:pathLst>
                <a:path h="2962656" w="2468880">
                  <a:moveTo>
                    <a:pt x="0" y="0"/>
                  </a:moveTo>
                  <a:lnTo>
                    <a:pt x="2468880" y="0"/>
                  </a:lnTo>
                  <a:lnTo>
                    <a:pt x="2468880" y="2962656"/>
                  </a:lnTo>
                  <a:lnTo>
                    <a:pt x="0" y="2962656"/>
                  </a:lnTo>
                  <a:lnTo>
                    <a:pt x="0" y="0"/>
                  </a:lnTo>
                  <a:close/>
                </a:path>
              </a:pathLst>
            </a:custGeom>
            <a:blipFill>
              <a:blip r:embed="rId9"/>
              <a:stretch>
                <a:fillRect l="0" t="-3796" r="0" b="-3795"/>
              </a:stretch>
            </a:blipFill>
          </p:spPr>
        </p:sp>
      </p:grpSp>
      <p:sp>
        <p:nvSpPr>
          <p:cNvPr name="TextBox 23" id="16"/>
          <p:cNvSpPr txBox="true"/>
          <p:nvPr/>
        </p:nvSpPr>
        <p:spPr>
          <a:xfrm rot="0">
            <a:off x="13194792" y="7916020"/>
            <a:ext cx="2125980" cy="640461"/>
          </a:xfrm>
          <a:prstGeom prst="rect">
            <a:avLst/>
          </a:prstGeom>
        </p:spPr>
        <p:txBody>
          <a:bodyPr anchor="t" rtlCol="false" tIns="0" lIns="0" bIns="0" rIns="0">
            <a:spAutoFit/>
          </a:bodyPr>
          <a:lstStyle/>
          <a:p>
            <a:pPr algn="ctr">
              <a:lnSpc>
                <a:spcPts val="1620"/>
              </a:lnSpc>
            </a:pPr>
            <a:r>
              <a:rPr lang="en-US" sz="1350" b="true">
                <a:solidFill>
                  <a:srgbClr val="132257"/>
                </a:solidFill>
                <a:latin typeface="Exo 2 Bold"/>
                <a:ea typeface="Exo 2 Bold"/>
                <a:cs typeface="Exo 2 Bold"/>
                <a:sym typeface="Exo 2 Bold"/>
              </a:rPr>
              <a:t>Abdulelah Al Harbi</a:t>
            </a:r>
          </a:p>
          <a:p>
            <a:pPr algn="ctr">
              <a:lnSpc>
                <a:spcPts val="1620"/>
              </a:lnSpc>
            </a:pPr>
            <a:r>
              <a:rPr lang="en-US" sz="1350">
                <a:solidFill>
                  <a:srgbClr val="7A849C"/>
                </a:solidFill>
                <a:latin typeface="Exo 2"/>
                <a:ea typeface="Exo 2"/>
                <a:cs typeface="Exo 2"/>
                <a:sym typeface="Exo 2"/>
              </a:rPr>
              <a:t>views pending</a:t>
            </a:r>
          </a:p>
        </p:txBody>
      </p:sp>
      <p:grpSp>
        <p:nvGrpSpPr>
          <p:cNvPr name="Group 24" id="17"/>
          <p:cNvGrpSpPr/>
          <p:nvPr/>
        </p:nvGrpSpPr>
        <p:grpSpPr>
          <a:xfrm rot="0">
            <a:off x="15457932" y="5648689"/>
            <a:ext cx="1851660" cy="2221992"/>
            <a:chOff x="0" y="0"/>
            <a:chExt cx="2468880" cy="2962656"/>
          </a:xfrm>
        </p:grpSpPr>
        <p:sp>
          <p:nvSpPr>
            <p:cNvPr name="Freeform 25" id="18" descr="/home/user/HatemIsa_202508993_IT9002_NLP_Project/emyaa-ceo-deck/working/charts/tile9_howto.png"/>
            <p:cNvSpPr/>
            <p:nvPr/>
          </p:nvSpPr>
          <p:spPr>
            <a:xfrm flipH="false" flipV="false" rot="0">
              <a:off x="0" y="0"/>
              <a:ext cx="2468880" cy="2962656"/>
            </a:xfrm>
            <a:custGeom>
              <a:avLst/>
              <a:gdLst/>
              <a:ahLst/>
              <a:cxnLst/>
              <a:rect r="r" b="b" t="t" l="l"/>
              <a:pathLst>
                <a:path h="2962656" w="2468880">
                  <a:moveTo>
                    <a:pt x="0" y="0"/>
                  </a:moveTo>
                  <a:lnTo>
                    <a:pt x="2468880" y="0"/>
                  </a:lnTo>
                  <a:lnTo>
                    <a:pt x="2468880" y="2962656"/>
                  </a:lnTo>
                  <a:lnTo>
                    <a:pt x="0" y="2962656"/>
                  </a:lnTo>
                  <a:lnTo>
                    <a:pt x="0" y="0"/>
                  </a:lnTo>
                  <a:close/>
                </a:path>
              </a:pathLst>
            </a:custGeom>
            <a:blipFill>
              <a:blip r:embed="rId10"/>
              <a:stretch>
                <a:fillRect l="0" t="-3620" r="0" b="-3620"/>
              </a:stretch>
            </a:blipFill>
          </p:spPr>
        </p:sp>
      </p:grpSp>
      <p:sp>
        <p:nvSpPr>
          <p:cNvPr name="TextBox 26" id="19"/>
          <p:cNvSpPr txBox="true"/>
          <p:nvPr/>
        </p:nvSpPr>
        <p:spPr>
          <a:xfrm rot="0">
            <a:off x="15320772" y="7916020"/>
            <a:ext cx="2125980" cy="640461"/>
          </a:xfrm>
          <a:prstGeom prst="rect">
            <a:avLst/>
          </a:prstGeom>
        </p:spPr>
        <p:txBody>
          <a:bodyPr anchor="t" rtlCol="false" tIns="0" lIns="0" bIns="0" rIns="0">
            <a:spAutoFit/>
          </a:bodyPr>
          <a:lstStyle/>
          <a:p>
            <a:pPr algn="ctr">
              <a:lnSpc>
                <a:spcPts val="1620"/>
              </a:lnSpc>
            </a:pPr>
            <a:r>
              <a:rPr lang="en-US" sz="1350" b="true">
                <a:solidFill>
                  <a:srgbClr val="132257"/>
                </a:solidFill>
                <a:latin typeface="Exo 2 Bold"/>
                <a:ea typeface="Exo 2 Bold"/>
                <a:cs typeface="Exo 2 Bold"/>
                <a:sym typeface="Exo 2 Bold"/>
              </a:rPr>
              <a:t>How-to, presenter</a:t>
            </a:r>
          </a:p>
          <a:p>
            <a:pPr algn="ctr">
              <a:lnSpc>
                <a:spcPts val="1620"/>
              </a:lnSpc>
            </a:pPr>
            <a:r>
              <a:rPr lang="en-US" sz="1350">
                <a:solidFill>
                  <a:srgbClr val="7A849C"/>
                </a:solidFill>
                <a:latin typeface="Exo 2"/>
                <a:ea typeface="Exo 2"/>
                <a:cs typeface="Exo 2"/>
                <a:sym typeface="Exo 2"/>
              </a:rPr>
              <a:t>332 views</a:t>
            </a:r>
          </a:p>
        </p:txBody>
      </p:sp>
      <p:sp>
        <p:nvSpPr>
          <p:cNvPr name="TextBox 27" id="20"/>
          <p:cNvSpPr txBox="true"/>
          <p:nvPr/>
        </p:nvSpPr>
        <p:spPr>
          <a:xfrm rot="0">
            <a:off x="13331952" y="2364469"/>
            <a:ext cx="3977640" cy="209550"/>
          </a:xfrm>
          <a:prstGeom prst="rect">
            <a:avLst/>
          </a:prstGeom>
        </p:spPr>
        <p:txBody>
          <a:bodyPr anchor="t" rtlCol="false" tIns="0" lIns="0" bIns="0" rIns="0">
            <a:spAutoFit/>
          </a:bodyPr>
          <a:lstStyle/>
          <a:p>
            <a:pPr algn="ctr">
              <a:lnSpc>
                <a:spcPts val="1620"/>
              </a:lnSpc>
            </a:pPr>
            <a:r>
              <a:rPr lang="en-US" b="true" sz="1350" spc="299">
                <a:solidFill>
                  <a:srgbClr val="9A7B1F"/>
                </a:solidFill>
                <a:latin typeface="Exo 2 Bold"/>
                <a:ea typeface="Exo 2 Bold"/>
                <a:cs typeface="Exo 2 Bold"/>
                <a:sym typeface="Exo 2 Bold"/>
              </a:rPr>
              <a:t>BEST PERFORMING REELS</a:t>
            </a:r>
          </a:p>
        </p:txBody>
      </p:sp>
      <p:sp>
        <p:nvSpPr>
          <p:cNvPr name="TextBox 9" id="21"/>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SEPTEMBER: PAID MEDIA WENT INTO TESTING, TWO CAMPAIGNS ARE LIVE AND FOUR CREATOR VIDEOS ARE OUT</a:t>
            </a:r>
          </a:p>
        </p:txBody>
      </p:sp>
      <p:sp>
        <p:nvSpPr>
          <p:cNvPr name="Freeform 54" id="22"/>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5"/>
            <a:stretch>
              <a:fillRect l="0" t="0" r="0" b="0"/>
            </a:stretch>
          </a:blipFill>
        </p:spPr>
      </p:sp>
      <p:grpSp>
        <p:nvGrpSpPr>
          <p:cNvPr name="Group 6" id="23"/>
          <p:cNvGrpSpPr/>
          <p:nvPr/>
        </p:nvGrpSpPr>
        <p:grpSpPr>
          <a:xfrm rot="0">
            <a:off x="850392" y="297596"/>
            <a:ext cx="13990320" cy="1124712"/>
            <a:chOff x="0" y="0"/>
            <a:chExt cx="18653760" cy="1499616"/>
          </a:xfrm>
        </p:grpSpPr>
        <p:sp>
          <p:nvSpPr>
            <p:cNvPr name="Freeform 7" id="24"/>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8" id="25"/>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Marketing Efforts</a:t>
              </a:r>
            </a:p>
          </p:txBody>
        </p:sp>
      </p:grpSp>
      <p:grpSp>
        <p:nvGrpSpPr>
          <p:cNvPr name="Group 9" id="26"/>
          <p:cNvGrpSpPr/>
          <p:nvPr/>
        </p:nvGrpSpPr>
        <p:grpSpPr>
          <a:xfrm rot="0">
            <a:off x="15457932" y="571916"/>
            <a:ext cx="1988820" cy="576072"/>
            <a:chOff x="0" y="0"/>
            <a:chExt cx="2651760" cy="768096"/>
          </a:xfrm>
        </p:grpSpPr>
        <p:sp>
          <p:nvSpPr>
            <p:cNvPr name="Freeform 10" id="27"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3" id="28"/>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MARKETING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3"/>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grpSp>
        <p:nvGrpSpPr>
          <p:cNvPr name="Group 14" id="7"/>
          <p:cNvGrpSpPr/>
          <p:nvPr/>
        </p:nvGrpSpPr>
        <p:grpSpPr>
          <a:xfrm rot="0">
            <a:off x="833714" y="2283429"/>
            <a:ext cx="5363528" cy="1797367"/>
            <a:chOff x="0" y="0"/>
            <a:chExt cx="7151370" cy="2396490"/>
          </a:xfrm>
        </p:grpSpPr>
        <p:sp>
          <p:nvSpPr>
            <p:cNvPr name="Freeform 15" id="8"/>
            <p:cNvSpPr/>
            <p:nvPr/>
          </p:nvSpPr>
          <p:spPr>
            <a:xfrm flipH="false" flipV="false" rot="0">
              <a:off x="0" y="0"/>
              <a:ext cx="7151370" cy="2396490"/>
            </a:xfrm>
            <a:custGeom>
              <a:avLst/>
              <a:gdLst/>
              <a:ahLst/>
              <a:cxnLst/>
              <a:rect r="r" b="b" t="t" l="l"/>
              <a:pathLst>
                <a:path h="2396490" w="7151370">
                  <a:moveTo>
                    <a:pt x="0" y="0"/>
                  </a:moveTo>
                  <a:lnTo>
                    <a:pt x="7151370" y="0"/>
                  </a:lnTo>
                  <a:lnTo>
                    <a:pt x="7151370" y="2396490"/>
                  </a:lnTo>
                  <a:lnTo>
                    <a:pt x="0" y="2396490"/>
                  </a:lnTo>
                  <a:close/>
                </a:path>
              </a:pathLst>
            </a:custGeom>
            <a:solidFill>
              <a:srgbClr val="FFFFFF"/>
            </a:solidFill>
            <a:ln w="14288" cap="sq">
              <a:solidFill>
                <a:srgbClr val="D9DFEA"/>
              </a:solidFill>
              <a:prstDash val="solid"/>
              <a:miter/>
            </a:ln>
          </p:spPr>
        </p:sp>
      </p:grpSp>
      <p:grpSp>
        <p:nvGrpSpPr>
          <p:cNvPr name="Group 16" id="9"/>
          <p:cNvGrpSpPr/>
          <p:nvPr/>
        </p:nvGrpSpPr>
        <p:grpSpPr>
          <a:xfrm rot="0">
            <a:off x="831332" y="2281047"/>
            <a:ext cx="5368290" cy="67056"/>
            <a:chOff x="0" y="0"/>
            <a:chExt cx="7157720" cy="89408"/>
          </a:xfrm>
        </p:grpSpPr>
        <p:sp>
          <p:nvSpPr>
            <p:cNvPr name="Freeform 17" id="10"/>
            <p:cNvSpPr/>
            <p:nvPr/>
          </p:nvSpPr>
          <p:spPr>
            <a:xfrm flipH="false" flipV="false" rot="0">
              <a:off x="0" y="0"/>
              <a:ext cx="7157720" cy="89408"/>
            </a:xfrm>
            <a:custGeom>
              <a:avLst/>
              <a:gdLst/>
              <a:ahLst/>
              <a:cxnLst/>
              <a:rect r="r" b="b" t="t" l="l"/>
              <a:pathLst>
                <a:path h="89408" w="7157720">
                  <a:moveTo>
                    <a:pt x="0" y="0"/>
                  </a:moveTo>
                  <a:lnTo>
                    <a:pt x="7157720" y="0"/>
                  </a:lnTo>
                  <a:lnTo>
                    <a:pt x="7157720" y="89408"/>
                  </a:lnTo>
                  <a:lnTo>
                    <a:pt x="0" y="89408"/>
                  </a:lnTo>
                  <a:close/>
                </a:path>
              </a:pathLst>
            </a:custGeom>
            <a:solidFill>
              <a:srgbClr val="D4AF37"/>
            </a:solidFill>
            <a:ln w="19050" cap="sq">
              <a:solidFill>
                <a:srgbClr val="D4AF37"/>
              </a:solidFill>
              <a:prstDash val="solid"/>
              <a:miter/>
            </a:ln>
          </p:spPr>
        </p:sp>
      </p:grpSp>
      <p:grpSp>
        <p:nvGrpSpPr>
          <p:cNvPr name="Group 18" id="11"/>
          <p:cNvGrpSpPr/>
          <p:nvPr/>
        </p:nvGrpSpPr>
        <p:grpSpPr>
          <a:xfrm rot="0">
            <a:off x="1156325" y="2537460"/>
            <a:ext cx="1783080" cy="1097280"/>
            <a:chOff x="0" y="0"/>
            <a:chExt cx="2377440" cy="1463040"/>
          </a:xfrm>
        </p:grpSpPr>
        <p:sp>
          <p:nvSpPr>
            <p:cNvPr name="Freeform 19" id="12"/>
            <p:cNvSpPr/>
            <p:nvPr/>
          </p:nvSpPr>
          <p:spPr>
            <a:xfrm flipH="false" flipV="false" rot="0">
              <a:off x="0" y="0"/>
              <a:ext cx="2377440" cy="1463040"/>
            </a:xfrm>
            <a:custGeom>
              <a:avLst/>
              <a:gdLst/>
              <a:ahLst/>
              <a:cxnLst/>
              <a:rect r="r" b="b" t="t" l="l"/>
              <a:pathLst>
                <a:path h="1463040" w="2377440">
                  <a:moveTo>
                    <a:pt x="0" y="0"/>
                  </a:moveTo>
                  <a:lnTo>
                    <a:pt x="2377440" y="0"/>
                  </a:lnTo>
                  <a:lnTo>
                    <a:pt x="2377440" y="1463040"/>
                  </a:lnTo>
                  <a:lnTo>
                    <a:pt x="0" y="1463040"/>
                  </a:lnTo>
                  <a:close/>
                </a:path>
              </a:pathLst>
            </a:custGeom>
            <a:blipFill>
              <a:blip r:embed="rId4">
                <a:alphaModFix amt="0"/>
              </a:blip>
              <a:stretch>
                <a:fillRect l="-28956" t="0" r="-28956" b="0"/>
              </a:stretch>
            </a:blipFill>
          </p:spPr>
        </p:sp>
        <p:sp>
          <p:nvSpPr>
            <p:cNvPr name="TextBox 20" id="13"/>
            <p:cNvSpPr txBox="true"/>
            <p:nvPr/>
          </p:nvSpPr>
          <p:spPr>
            <a:xfrm>
              <a:off x="0" y="-9525"/>
              <a:ext cx="2377440" cy="1472565"/>
            </a:xfrm>
            <a:prstGeom prst="rect">
              <a:avLst/>
            </a:prstGeom>
          </p:spPr>
          <p:txBody>
            <a:bodyPr anchor="ctr" rtlCol="false" tIns="0" lIns="0" bIns="0" rIns="0"/>
            <a:lstStyle/>
            <a:p>
              <a:pPr algn="l">
                <a:lnSpc>
                  <a:spcPts val="6120"/>
                </a:lnSpc>
              </a:pPr>
              <a:r>
                <a:rPr lang="en-US" sz="5100" b="true">
                  <a:solidFill>
                    <a:srgbClr val="132257"/>
                  </a:solidFill>
                  <a:latin typeface="Exo 2 Bold"/>
                  <a:ea typeface="Exo 2 Bold"/>
                  <a:cs typeface="Exo 2 Bold"/>
                  <a:sym typeface="Exo 2 Bold"/>
                </a:rPr>
                <a:t>70%</a:t>
              </a:r>
            </a:p>
          </p:txBody>
        </p:sp>
      </p:grpSp>
      <p:sp>
        <p:nvSpPr>
          <p:cNvPr name="TextBox 21" id="14"/>
          <p:cNvSpPr txBox="true"/>
          <p:nvPr/>
        </p:nvSpPr>
        <p:spPr>
          <a:xfrm rot="0">
            <a:off x="2939405" y="2564892"/>
            <a:ext cx="3086100" cy="822960"/>
          </a:xfrm>
          <a:prstGeom prst="rect">
            <a:avLst/>
          </a:prstGeom>
        </p:spPr>
        <p:txBody>
          <a:bodyPr anchor="t" rtlCol="false" tIns="0" lIns="0" bIns="0" rIns="0">
            <a:spAutoFit/>
          </a:bodyPr>
          <a:lstStyle/>
          <a:p>
            <a:pPr algn="l">
              <a:lnSpc>
                <a:spcPts val="2070"/>
              </a:lnSpc>
            </a:pPr>
            <a:r>
              <a:rPr lang="en-US" sz="1725" b="true">
                <a:solidFill>
                  <a:srgbClr val="132257"/>
                </a:solidFill>
                <a:latin typeface="Exo 2 Bold"/>
                <a:ea typeface="Exo 2 Bold"/>
                <a:cs typeface="Exo 2 Bold"/>
                <a:sym typeface="Exo 2 Bold"/>
              </a:rPr>
              <a:t>of September site sessions came from Google Ads</a:t>
            </a:r>
          </a:p>
        </p:txBody>
      </p:sp>
      <p:sp>
        <p:nvSpPr>
          <p:cNvPr name="TextBox 22" id="15"/>
          <p:cNvSpPr txBox="true"/>
          <p:nvPr/>
        </p:nvSpPr>
        <p:spPr>
          <a:xfrm rot="0">
            <a:off x="2939405" y="3405759"/>
            <a:ext cx="3086100" cy="489585"/>
          </a:xfrm>
          <a:prstGeom prst="rect">
            <a:avLst/>
          </a:prstGeom>
        </p:spPr>
        <p:txBody>
          <a:bodyPr anchor="t" rtlCol="false" tIns="0" lIns="0" bIns="0" rIns="0">
            <a:spAutoFit/>
          </a:bodyPr>
          <a:lstStyle/>
          <a:p>
            <a:pPr algn="l">
              <a:lnSpc>
                <a:spcPts val="1709"/>
              </a:lnSpc>
            </a:pPr>
            <a:r>
              <a:rPr lang="en-US" sz="1425">
                <a:solidFill>
                  <a:srgbClr val="7A849C"/>
                </a:solidFill>
                <a:latin typeface="Exo 2"/>
                <a:ea typeface="Exo 2"/>
                <a:cs typeface="Exo 2"/>
                <a:sym typeface="Exo 2"/>
              </a:rPr>
              <a:t>409 of 587 sessions, 1-28 Sep</a:t>
            </a:r>
          </a:p>
        </p:txBody>
      </p:sp>
      <p:grpSp>
        <p:nvGrpSpPr>
          <p:cNvPr name="Group 23" id="16"/>
          <p:cNvGrpSpPr/>
          <p:nvPr/>
        </p:nvGrpSpPr>
        <p:grpSpPr>
          <a:xfrm rot="0">
            <a:off x="833714" y="4299681"/>
            <a:ext cx="5363528" cy="1797367"/>
            <a:chOff x="0" y="0"/>
            <a:chExt cx="7151370" cy="2396490"/>
          </a:xfrm>
        </p:grpSpPr>
        <p:sp>
          <p:nvSpPr>
            <p:cNvPr name="Freeform 24" id="17"/>
            <p:cNvSpPr/>
            <p:nvPr/>
          </p:nvSpPr>
          <p:spPr>
            <a:xfrm flipH="false" flipV="false" rot="0">
              <a:off x="0" y="0"/>
              <a:ext cx="7151370" cy="2396490"/>
            </a:xfrm>
            <a:custGeom>
              <a:avLst/>
              <a:gdLst/>
              <a:ahLst/>
              <a:cxnLst/>
              <a:rect r="r" b="b" t="t" l="l"/>
              <a:pathLst>
                <a:path h="2396490" w="7151370">
                  <a:moveTo>
                    <a:pt x="0" y="0"/>
                  </a:moveTo>
                  <a:lnTo>
                    <a:pt x="7151370" y="0"/>
                  </a:lnTo>
                  <a:lnTo>
                    <a:pt x="7151370" y="2396490"/>
                  </a:lnTo>
                  <a:lnTo>
                    <a:pt x="0" y="2396490"/>
                  </a:lnTo>
                  <a:close/>
                </a:path>
              </a:pathLst>
            </a:custGeom>
            <a:solidFill>
              <a:srgbClr val="FFFFFF"/>
            </a:solidFill>
            <a:ln w="14288" cap="sq">
              <a:solidFill>
                <a:srgbClr val="D9DFEA"/>
              </a:solidFill>
              <a:prstDash val="solid"/>
              <a:miter/>
            </a:ln>
          </p:spPr>
        </p:sp>
      </p:grpSp>
      <p:grpSp>
        <p:nvGrpSpPr>
          <p:cNvPr name="Group 25" id="18"/>
          <p:cNvGrpSpPr/>
          <p:nvPr/>
        </p:nvGrpSpPr>
        <p:grpSpPr>
          <a:xfrm rot="0">
            <a:off x="831332" y="4297299"/>
            <a:ext cx="5368290" cy="67056"/>
            <a:chOff x="0" y="0"/>
            <a:chExt cx="7157720" cy="89408"/>
          </a:xfrm>
        </p:grpSpPr>
        <p:sp>
          <p:nvSpPr>
            <p:cNvPr name="Freeform 26" id="19"/>
            <p:cNvSpPr/>
            <p:nvPr/>
          </p:nvSpPr>
          <p:spPr>
            <a:xfrm flipH="false" flipV="false" rot="0">
              <a:off x="0" y="0"/>
              <a:ext cx="7157720" cy="89408"/>
            </a:xfrm>
            <a:custGeom>
              <a:avLst/>
              <a:gdLst/>
              <a:ahLst/>
              <a:cxnLst/>
              <a:rect r="r" b="b" t="t" l="l"/>
              <a:pathLst>
                <a:path h="89408" w="7157720">
                  <a:moveTo>
                    <a:pt x="0" y="0"/>
                  </a:moveTo>
                  <a:lnTo>
                    <a:pt x="7157720" y="0"/>
                  </a:lnTo>
                  <a:lnTo>
                    <a:pt x="7157720" y="89408"/>
                  </a:lnTo>
                  <a:lnTo>
                    <a:pt x="0" y="89408"/>
                  </a:lnTo>
                  <a:close/>
                </a:path>
              </a:pathLst>
            </a:custGeom>
            <a:solidFill>
              <a:srgbClr val="D4AF37"/>
            </a:solidFill>
            <a:ln w="19050" cap="sq">
              <a:solidFill>
                <a:srgbClr val="D4AF37"/>
              </a:solidFill>
              <a:prstDash val="solid"/>
              <a:miter/>
            </a:ln>
          </p:spPr>
        </p:sp>
      </p:grpSp>
      <p:grpSp>
        <p:nvGrpSpPr>
          <p:cNvPr name="Group 27" id="20"/>
          <p:cNvGrpSpPr/>
          <p:nvPr/>
        </p:nvGrpSpPr>
        <p:grpSpPr>
          <a:xfrm rot="0">
            <a:off x="1156325" y="4553712"/>
            <a:ext cx="1783080" cy="1097280"/>
            <a:chOff x="0" y="0"/>
            <a:chExt cx="2377440" cy="1463040"/>
          </a:xfrm>
        </p:grpSpPr>
        <p:sp>
          <p:nvSpPr>
            <p:cNvPr name="Freeform 28" id="21"/>
            <p:cNvSpPr/>
            <p:nvPr/>
          </p:nvSpPr>
          <p:spPr>
            <a:xfrm flipH="false" flipV="false" rot="0">
              <a:off x="0" y="0"/>
              <a:ext cx="2377440" cy="1463040"/>
            </a:xfrm>
            <a:custGeom>
              <a:avLst/>
              <a:gdLst/>
              <a:ahLst/>
              <a:cxnLst/>
              <a:rect r="r" b="b" t="t" l="l"/>
              <a:pathLst>
                <a:path h="1463040" w="2377440">
                  <a:moveTo>
                    <a:pt x="0" y="0"/>
                  </a:moveTo>
                  <a:lnTo>
                    <a:pt x="2377440" y="0"/>
                  </a:lnTo>
                  <a:lnTo>
                    <a:pt x="2377440" y="1463040"/>
                  </a:lnTo>
                  <a:lnTo>
                    <a:pt x="0" y="1463040"/>
                  </a:lnTo>
                  <a:close/>
                </a:path>
              </a:pathLst>
            </a:custGeom>
            <a:blipFill>
              <a:blip r:embed="rId4">
                <a:alphaModFix amt="0"/>
              </a:blip>
              <a:stretch>
                <a:fillRect l="-28956" t="0" r="-28956" b="0"/>
              </a:stretch>
            </a:blipFill>
          </p:spPr>
        </p:sp>
        <p:sp>
          <p:nvSpPr>
            <p:cNvPr name="TextBox 29" id="22"/>
            <p:cNvSpPr txBox="true"/>
            <p:nvPr/>
          </p:nvSpPr>
          <p:spPr>
            <a:xfrm>
              <a:off x="0" y="-9525"/>
              <a:ext cx="2377440" cy="1472565"/>
            </a:xfrm>
            <a:prstGeom prst="rect">
              <a:avLst/>
            </a:prstGeom>
          </p:spPr>
          <p:txBody>
            <a:bodyPr anchor="ctr" rtlCol="false" tIns="0" lIns="0" bIns="0" rIns="0"/>
            <a:lstStyle/>
            <a:p>
              <a:pPr algn="l">
                <a:lnSpc>
                  <a:spcPts val="6120"/>
                </a:lnSpc>
              </a:pPr>
              <a:r>
                <a:rPr lang="en-US" sz="5100" b="true">
                  <a:solidFill>
                    <a:srgbClr val="132257"/>
                  </a:solidFill>
                  <a:latin typeface="Exo 2 Bold"/>
                  <a:ea typeface="Exo 2 Bold"/>
                  <a:cs typeface="Exo 2 Bold"/>
                  <a:sym typeface="Exo 2 Bold"/>
                </a:rPr>
                <a:t>+53</a:t>
              </a:r>
            </a:p>
          </p:txBody>
        </p:sp>
      </p:grpSp>
      <p:sp>
        <p:nvSpPr>
          <p:cNvPr name="TextBox 30" id="23"/>
          <p:cNvSpPr txBox="true"/>
          <p:nvPr/>
        </p:nvSpPr>
        <p:spPr>
          <a:xfrm rot="0">
            <a:off x="2939405" y="4581144"/>
            <a:ext cx="3086100" cy="514350"/>
          </a:xfrm>
          <a:prstGeom prst="rect">
            <a:avLst/>
          </a:prstGeom>
        </p:spPr>
        <p:txBody>
          <a:bodyPr anchor="t" rtlCol="false" tIns="0" lIns="0" bIns="0" rIns="0">
            <a:spAutoFit/>
          </a:bodyPr>
          <a:lstStyle/>
          <a:p>
            <a:pPr algn="l">
              <a:lnSpc>
                <a:spcPts val="2070"/>
              </a:lnSpc>
            </a:pPr>
            <a:r>
              <a:rPr lang="en-US" sz="1725" b="true">
                <a:solidFill>
                  <a:srgbClr val="132257"/>
                </a:solidFill>
                <a:latin typeface="Exo 2 Bold"/>
                <a:ea typeface="Exo 2 Bold"/>
                <a:cs typeface="Exo 2 Bold"/>
                <a:sym typeface="Exo 2 Bold"/>
              </a:rPr>
              <a:t>app downloads in the eight days of Google Ads</a:t>
            </a:r>
          </a:p>
        </p:txBody>
      </p:sp>
      <p:sp>
        <p:nvSpPr>
          <p:cNvPr name="TextBox 31" id="24"/>
          <p:cNvSpPr txBox="true"/>
          <p:nvPr/>
        </p:nvSpPr>
        <p:spPr>
          <a:xfrm rot="0">
            <a:off x="2939405" y="5422011"/>
            <a:ext cx="3086100" cy="489585"/>
          </a:xfrm>
          <a:prstGeom prst="rect">
            <a:avLst/>
          </a:prstGeom>
        </p:spPr>
        <p:txBody>
          <a:bodyPr anchor="t" rtlCol="false" tIns="0" lIns="0" bIns="0" rIns="0">
            <a:spAutoFit/>
          </a:bodyPr>
          <a:lstStyle/>
          <a:p>
            <a:pPr algn="l">
              <a:lnSpc>
                <a:spcPts val="1709"/>
              </a:lnSpc>
            </a:pPr>
            <a:r>
              <a:rPr lang="en-US" sz="1425">
                <a:solidFill>
                  <a:srgbClr val="7A849C"/>
                </a:solidFill>
                <a:latin typeface="Exo 2"/>
                <a:ea typeface="Exo 2"/>
                <a:cs typeface="Exo 2"/>
                <a:sym typeface="Exo 2"/>
              </a:rPr>
              <a:t>vs +14 the week before</a:t>
            </a:r>
          </a:p>
        </p:txBody>
      </p:sp>
      <p:grpSp>
        <p:nvGrpSpPr>
          <p:cNvPr name="Group 32" id="25"/>
          <p:cNvGrpSpPr/>
          <p:nvPr/>
        </p:nvGrpSpPr>
        <p:grpSpPr>
          <a:xfrm rot="0">
            <a:off x="833714" y="6315933"/>
            <a:ext cx="5363528" cy="1797367"/>
            <a:chOff x="0" y="0"/>
            <a:chExt cx="7151370" cy="2396490"/>
          </a:xfrm>
        </p:grpSpPr>
        <p:sp>
          <p:nvSpPr>
            <p:cNvPr name="Freeform 33" id="26"/>
            <p:cNvSpPr/>
            <p:nvPr/>
          </p:nvSpPr>
          <p:spPr>
            <a:xfrm flipH="false" flipV="false" rot="0">
              <a:off x="0" y="0"/>
              <a:ext cx="7151370" cy="2396490"/>
            </a:xfrm>
            <a:custGeom>
              <a:avLst/>
              <a:gdLst/>
              <a:ahLst/>
              <a:cxnLst/>
              <a:rect r="r" b="b" t="t" l="l"/>
              <a:pathLst>
                <a:path h="2396490" w="7151370">
                  <a:moveTo>
                    <a:pt x="0" y="0"/>
                  </a:moveTo>
                  <a:lnTo>
                    <a:pt x="7151370" y="0"/>
                  </a:lnTo>
                  <a:lnTo>
                    <a:pt x="7151370" y="2396490"/>
                  </a:lnTo>
                  <a:lnTo>
                    <a:pt x="0" y="2396490"/>
                  </a:lnTo>
                  <a:close/>
                </a:path>
              </a:pathLst>
            </a:custGeom>
            <a:solidFill>
              <a:srgbClr val="FFFFFF"/>
            </a:solidFill>
            <a:ln w="14288" cap="sq">
              <a:solidFill>
                <a:srgbClr val="D9DFEA"/>
              </a:solidFill>
              <a:prstDash val="solid"/>
              <a:miter/>
            </a:ln>
          </p:spPr>
        </p:sp>
      </p:grpSp>
      <p:grpSp>
        <p:nvGrpSpPr>
          <p:cNvPr name="Group 34" id="27"/>
          <p:cNvGrpSpPr/>
          <p:nvPr/>
        </p:nvGrpSpPr>
        <p:grpSpPr>
          <a:xfrm rot="0">
            <a:off x="831332" y="6313551"/>
            <a:ext cx="5368290" cy="67056"/>
            <a:chOff x="0" y="0"/>
            <a:chExt cx="7157720" cy="89408"/>
          </a:xfrm>
        </p:grpSpPr>
        <p:sp>
          <p:nvSpPr>
            <p:cNvPr name="Freeform 35" id="28"/>
            <p:cNvSpPr/>
            <p:nvPr/>
          </p:nvSpPr>
          <p:spPr>
            <a:xfrm flipH="false" flipV="false" rot="0">
              <a:off x="0" y="0"/>
              <a:ext cx="7157720" cy="89408"/>
            </a:xfrm>
            <a:custGeom>
              <a:avLst/>
              <a:gdLst/>
              <a:ahLst/>
              <a:cxnLst/>
              <a:rect r="r" b="b" t="t" l="l"/>
              <a:pathLst>
                <a:path h="89408" w="7157720">
                  <a:moveTo>
                    <a:pt x="0" y="0"/>
                  </a:moveTo>
                  <a:lnTo>
                    <a:pt x="7157720" y="0"/>
                  </a:lnTo>
                  <a:lnTo>
                    <a:pt x="7157720" y="89408"/>
                  </a:lnTo>
                  <a:lnTo>
                    <a:pt x="0" y="89408"/>
                  </a:lnTo>
                  <a:close/>
                </a:path>
              </a:pathLst>
            </a:custGeom>
            <a:solidFill>
              <a:srgbClr val="C53030"/>
            </a:solidFill>
            <a:ln w="19050" cap="sq">
              <a:solidFill>
                <a:srgbClr val="C53030"/>
              </a:solidFill>
              <a:prstDash val="solid"/>
              <a:miter/>
            </a:ln>
          </p:spPr>
        </p:sp>
      </p:grpSp>
      <p:grpSp>
        <p:nvGrpSpPr>
          <p:cNvPr name="Group 36" id="29"/>
          <p:cNvGrpSpPr/>
          <p:nvPr/>
        </p:nvGrpSpPr>
        <p:grpSpPr>
          <a:xfrm rot="0">
            <a:off x="1156325" y="6569964"/>
            <a:ext cx="1783080" cy="1097280"/>
            <a:chOff x="0" y="0"/>
            <a:chExt cx="2377440" cy="1463040"/>
          </a:xfrm>
        </p:grpSpPr>
        <p:sp>
          <p:nvSpPr>
            <p:cNvPr name="Freeform 37" id="30"/>
            <p:cNvSpPr/>
            <p:nvPr/>
          </p:nvSpPr>
          <p:spPr>
            <a:xfrm flipH="false" flipV="false" rot="0">
              <a:off x="0" y="0"/>
              <a:ext cx="2377440" cy="1463040"/>
            </a:xfrm>
            <a:custGeom>
              <a:avLst/>
              <a:gdLst/>
              <a:ahLst/>
              <a:cxnLst/>
              <a:rect r="r" b="b" t="t" l="l"/>
              <a:pathLst>
                <a:path h="1463040" w="2377440">
                  <a:moveTo>
                    <a:pt x="0" y="0"/>
                  </a:moveTo>
                  <a:lnTo>
                    <a:pt x="2377440" y="0"/>
                  </a:lnTo>
                  <a:lnTo>
                    <a:pt x="2377440" y="1463040"/>
                  </a:lnTo>
                  <a:lnTo>
                    <a:pt x="0" y="1463040"/>
                  </a:lnTo>
                  <a:close/>
                </a:path>
              </a:pathLst>
            </a:custGeom>
            <a:blipFill>
              <a:blip r:embed="rId4">
                <a:alphaModFix amt="0"/>
              </a:blip>
              <a:stretch>
                <a:fillRect l="-28956" t="0" r="-28956" b="0"/>
              </a:stretch>
            </a:blipFill>
          </p:spPr>
        </p:sp>
        <p:sp>
          <p:nvSpPr>
            <p:cNvPr name="TextBox 38" id="31"/>
            <p:cNvSpPr txBox="true"/>
            <p:nvPr/>
          </p:nvSpPr>
          <p:spPr>
            <a:xfrm>
              <a:off x="0" y="-9525"/>
              <a:ext cx="2377440" cy="1472565"/>
            </a:xfrm>
            <a:prstGeom prst="rect">
              <a:avLst/>
            </a:prstGeom>
          </p:spPr>
          <p:txBody>
            <a:bodyPr anchor="ctr" rtlCol="false" tIns="0" lIns="0" bIns="0" rIns="0"/>
            <a:lstStyle/>
            <a:p>
              <a:pPr algn="l">
                <a:lnSpc>
                  <a:spcPts val="6120"/>
                </a:lnSpc>
              </a:pPr>
              <a:r>
                <a:rPr lang="en-US" sz="5100" b="true">
                  <a:solidFill>
                    <a:srgbClr val="C53030"/>
                  </a:solidFill>
                  <a:latin typeface="Exo 2 Bold"/>
                  <a:ea typeface="Exo 2 Bold"/>
                  <a:cs typeface="Exo 2 Bold"/>
                  <a:sym typeface="Exo 2 Bold"/>
                </a:rPr>
                <a:t>+4</a:t>
              </a:r>
            </a:p>
          </p:txBody>
        </p:sp>
      </p:grpSp>
      <p:sp>
        <p:nvSpPr>
          <p:cNvPr name="TextBox 39" id="32"/>
          <p:cNvSpPr txBox="true"/>
          <p:nvPr/>
        </p:nvSpPr>
        <p:spPr>
          <a:xfrm rot="0">
            <a:off x="2939405" y="6597396"/>
            <a:ext cx="3086100" cy="514350"/>
          </a:xfrm>
          <a:prstGeom prst="rect">
            <a:avLst/>
          </a:prstGeom>
        </p:spPr>
        <p:txBody>
          <a:bodyPr anchor="t" rtlCol="false" tIns="0" lIns="0" bIns="0" rIns="0">
            <a:spAutoFit/>
          </a:bodyPr>
          <a:lstStyle/>
          <a:p>
            <a:pPr algn="l">
              <a:lnSpc>
                <a:spcPts val="2070"/>
              </a:lnSpc>
            </a:pPr>
            <a:r>
              <a:rPr lang="en-US" sz="1725" b="true">
                <a:solidFill>
                  <a:srgbClr val="132257"/>
                </a:solidFill>
                <a:latin typeface="Exo 2 Bold"/>
                <a:ea typeface="Exo 2 Bold"/>
                <a:cs typeface="Exo 2 Bold"/>
                <a:sym typeface="Exo 2 Bold"/>
              </a:rPr>
              <a:t>users onboarded in the same eight days of Google Ads</a:t>
            </a:r>
          </a:p>
        </p:txBody>
      </p:sp>
      <p:sp>
        <p:nvSpPr>
          <p:cNvPr name="TextBox 40" id="33"/>
          <p:cNvSpPr txBox="true"/>
          <p:nvPr/>
        </p:nvSpPr>
        <p:spPr>
          <a:xfrm rot="0">
            <a:off x="2939405" y="7438263"/>
            <a:ext cx="3086100" cy="489585"/>
          </a:xfrm>
          <a:prstGeom prst="rect">
            <a:avLst/>
          </a:prstGeom>
        </p:spPr>
        <p:txBody>
          <a:bodyPr anchor="t" rtlCol="false" tIns="0" lIns="0" bIns="0" rIns="0">
            <a:spAutoFit/>
          </a:bodyPr>
          <a:lstStyle/>
          <a:p>
            <a:pPr algn="l">
              <a:lnSpc>
                <a:spcPts val="1709"/>
              </a:lnSpc>
            </a:pPr>
            <a:r>
              <a:rPr lang="en-US" sz="1425">
                <a:solidFill>
                  <a:srgbClr val="7A849C"/>
                </a:solidFill>
                <a:latin typeface="Exo 2"/>
                <a:ea typeface="Exo 2"/>
                <a:cs typeface="Exo 2"/>
                <a:sym typeface="Exo 2"/>
              </a:rPr>
              <a:t>61 onboarded, 15 funded, as of 29 Sep</a:t>
            </a:r>
          </a:p>
        </p:txBody>
      </p:sp>
      <p:sp>
        <p:nvSpPr>
          <p:cNvPr name="TextBox 41" id="34"/>
          <p:cNvSpPr txBox="true"/>
          <p:nvPr/>
        </p:nvSpPr>
        <p:spPr>
          <a:xfrm rot="0">
            <a:off x="6642725" y="2194560"/>
            <a:ext cx="10794492" cy="411480"/>
          </a:xfrm>
          <a:prstGeom prst="rect">
            <a:avLst/>
          </a:prstGeom>
        </p:spPr>
        <p:txBody>
          <a:bodyPr anchor="t" rtlCol="false" tIns="0" lIns="0" bIns="0" rIns="0">
            <a:spAutoFit/>
          </a:bodyPr>
          <a:lstStyle/>
          <a:p>
            <a:pPr algn="ctr">
              <a:lnSpc>
                <a:spcPts val="1980"/>
              </a:lnSpc>
            </a:pPr>
            <a:r>
              <a:rPr lang="en-US" sz="1650">
                <a:solidFill>
                  <a:srgbClr val="132257"/>
                </a:solidFill>
                <a:latin typeface="Exo 2"/>
                <a:ea typeface="Exo 2"/>
                <a:cs typeface="Exo 2"/>
                <a:sym typeface="Exo 2"/>
              </a:rPr>
              <a:t>Net new app downloads and onboarded users between dashboard dates</a:t>
            </a:r>
          </a:p>
        </p:txBody>
      </p:sp>
      <p:sp>
        <p:nvSpPr>
          <p:cNvPr name="AutoShape 42" id="35"/>
          <p:cNvSpPr/>
          <p:nvPr/>
        </p:nvSpPr>
        <p:spPr>
          <a:xfrm>
            <a:off x="6633199" y="7259949"/>
            <a:ext cx="10813544" cy="19062"/>
          </a:xfrm>
          <a:prstGeom prst="line">
            <a:avLst/>
          </a:prstGeom>
          <a:ln cap="rnd" w="9525">
            <a:solidFill>
              <a:srgbClr val="C6CFE4"/>
            </a:solidFill>
            <a:prstDash val="solid"/>
            <a:headEnd type="none" len="sm" w="sm"/>
            <a:tailEnd type="none" len="sm" w="sm"/>
          </a:ln>
        </p:spPr>
      </p:sp>
      <p:grpSp>
        <p:nvGrpSpPr>
          <p:cNvPr name="Group 43" id="36"/>
          <p:cNvGrpSpPr/>
          <p:nvPr/>
        </p:nvGrpSpPr>
        <p:grpSpPr>
          <a:xfrm rot="0">
            <a:off x="7173373" y="5025190"/>
            <a:ext cx="800757" cy="2253815"/>
            <a:chOff x="0" y="0"/>
            <a:chExt cx="1067676" cy="3005087"/>
          </a:xfrm>
        </p:grpSpPr>
        <p:sp>
          <p:nvSpPr>
            <p:cNvPr name="Freeform 44" id="37"/>
            <p:cNvSpPr/>
            <p:nvPr/>
          </p:nvSpPr>
          <p:spPr>
            <a:xfrm flipH="false" flipV="false" rot="0">
              <a:off x="0" y="0"/>
              <a:ext cx="1067689" cy="3005074"/>
            </a:xfrm>
            <a:custGeom>
              <a:avLst/>
              <a:gdLst/>
              <a:ahLst/>
              <a:cxnLst/>
              <a:rect r="r" b="b" t="t" l="l"/>
              <a:pathLst>
                <a:path h="3005074" w="1067689">
                  <a:moveTo>
                    <a:pt x="0" y="0"/>
                  </a:moveTo>
                  <a:lnTo>
                    <a:pt x="1067689" y="0"/>
                  </a:lnTo>
                  <a:lnTo>
                    <a:pt x="1067689" y="3005074"/>
                  </a:lnTo>
                  <a:lnTo>
                    <a:pt x="0" y="3005074"/>
                  </a:lnTo>
                  <a:close/>
                </a:path>
              </a:pathLst>
            </a:custGeom>
            <a:solidFill>
              <a:srgbClr val="132257"/>
            </a:solidFill>
            <a:ln w="19050" cap="sq">
              <a:solidFill>
                <a:srgbClr val="132257"/>
              </a:solidFill>
              <a:prstDash val="solid"/>
              <a:miter/>
            </a:ln>
          </p:spPr>
        </p:sp>
      </p:grpSp>
      <p:grpSp>
        <p:nvGrpSpPr>
          <p:cNvPr name="Group 45" id="38"/>
          <p:cNvGrpSpPr/>
          <p:nvPr/>
        </p:nvGrpSpPr>
        <p:grpSpPr>
          <a:xfrm rot="0">
            <a:off x="7018306" y="4623235"/>
            <a:ext cx="1110891" cy="384048"/>
            <a:chOff x="0" y="0"/>
            <a:chExt cx="1481188" cy="512064"/>
          </a:xfrm>
        </p:grpSpPr>
        <p:sp>
          <p:nvSpPr>
            <p:cNvPr name="Freeform 46" id="39"/>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47" id="40"/>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30</a:t>
              </a:r>
            </a:p>
          </p:txBody>
        </p:sp>
      </p:grpSp>
      <p:grpSp>
        <p:nvGrpSpPr>
          <p:cNvPr name="Group 48" id="41"/>
          <p:cNvGrpSpPr/>
          <p:nvPr/>
        </p:nvGrpSpPr>
        <p:grpSpPr>
          <a:xfrm rot="0">
            <a:off x="8009944" y="7185460"/>
            <a:ext cx="800757" cy="93545"/>
            <a:chOff x="0" y="0"/>
            <a:chExt cx="1067676" cy="124727"/>
          </a:xfrm>
        </p:grpSpPr>
        <p:sp>
          <p:nvSpPr>
            <p:cNvPr name="Freeform 49" id="42"/>
            <p:cNvSpPr/>
            <p:nvPr/>
          </p:nvSpPr>
          <p:spPr>
            <a:xfrm flipH="false" flipV="false" rot="0">
              <a:off x="0" y="0"/>
              <a:ext cx="1067689" cy="124714"/>
            </a:xfrm>
            <a:custGeom>
              <a:avLst/>
              <a:gdLst/>
              <a:ahLst/>
              <a:cxnLst/>
              <a:rect r="r" b="b" t="t" l="l"/>
              <a:pathLst>
                <a:path h="124714" w="1067689">
                  <a:moveTo>
                    <a:pt x="0" y="0"/>
                  </a:moveTo>
                  <a:lnTo>
                    <a:pt x="1067689" y="0"/>
                  </a:lnTo>
                  <a:lnTo>
                    <a:pt x="1067689" y="124714"/>
                  </a:lnTo>
                  <a:lnTo>
                    <a:pt x="0" y="124714"/>
                  </a:lnTo>
                  <a:close/>
                </a:path>
              </a:pathLst>
            </a:custGeom>
            <a:solidFill>
              <a:srgbClr val="1BA97C"/>
            </a:solidFill>
            <a:ln w="19050" cap="sq">
              <a:solidFill>
                <a:srgbClr val="1BA97C"/>
              </a:solidFill>
              <a:prstDash val="solid"/>
              <a:miter/>
            </a:ln>
          </p:spPr>
        </p:sp>
      </p:grpSp>
      <p:grpSp>
        <p:nvGrpSpPr>
          <p:cNvPr name="Group 50" id="43"/>
          <p:cNvGrpSpPr/>
          <p:nvPr/>
        </p:nvGrpSpPr>
        <p:grpSpPr>
          <a:xfrm rot="0">
            <a:off x="7854877" y="6783505"/>
            <a:ext cx="1110891" cy="384048"/>
            <a:chOff x="0" y="0"/>
            <a:chExt cx="1481188" cy="512064"/>
          </a:xfrm>
        </p:grpSpPr>
        <p:sp>
          <p:nvSpPr>
            <p:cNvPr name="Freeform 51" id="44"/>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52" id="45"/>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1</a:t>
              </a:r>
            </a:p>
          </p:txBody>
        </p:sp>
      </p:grpSp>
      <p:sp>
        <p:nvSpPr>
          <p:cNvPr name="TextBox 53" id="46"/>
          <p:cNvSpPr txBox="true"/>
          <p:nvPr/>
        </p:nvSpPr>
        <p:spPr>
          <a:xfrm rot="0">
            <a:off x="6642725" y="7379208"/>
            <a:ext cx="2698623" cy="411480"/>
          </a:xfrm>
          <a:prstGeom prst="rect">
            <a:avLst/>
          </a:prstGeom>
        </p:spPr>
        <p:txBody>
          <a:bodyPr anchor="t" rtlCol="false" tIns="0" lIns="0" bIns="0" rIns="0">
            <a:spAutoFit/>
          </a:bodyPr>
          <a:lstStyle/>
          <a:p>
            <a:pPr algn="ctr">
              <a:lnSpc>
                <a:spcPts val="1889"/>
              </a:lnSpc>
            </a:pPr>
            <a:r>
              <a:rPr lang="en-US" sz="1575">
                <a:solidFill>
                  <a:srgbClr val="1F2A44"/>
                </a:solidFill>
                <a:latin typeface="Exo 2"/>
                <a:ea typeface="Exo 2"/>
                <a:cs typeface="Exo 2"/>
                <a:sym typeface="Exo 2"/>
              </a:rPr>
              <a:t>1-8 Sep</a:t>
            </a:r>
          </a:p>
        </p:txBody>
      </p:sp>
      <p:grpSp>
        <p:nvGrpSpPr>
          <p:cNvPr name="Group 54" id="47"/>
          <p:cNvGrpSpPr/>
          <p:nvPr/>
        </p:nvGrpSpPr>
        <p:grpSpPr>
          <a:xfrm rot="0">
            <a:off x="9871996" y="5770112"/>
            <a:ext cx="800757" cy="1508893"/>
            <a:chOff x="0" y="0"/>
            <a:chExt cx="1067676" cy="2011858"/>
          </a:xfrm>
        </p:grpSpPr>
        <p:sp>
          <p:nvSpPr>
            <p:cNvPr name="Freeform 55" id="48"/>
            <p:cNvSpPr/>
            <p:nvPr/>
          </p:nvSpPr>
          <p:spPr>
            <a:xfrm flipH="false" flipV="false" rot="0">
              <a:off x="0" y="0"/>
              <a:ext cx="1067689" cy="2011807"/>
            </a:xfrm>
            <a:custGeom>
              <a:avLst/>
              <a:gdLst/>
              <a:ahLst/>
              <a:cxnLst/>
              <a:rect r="r" b="b" t="t" l="l"/>
              <a:pathLst>
                <a:path h="2011807" w="1067689">
                  <a:moveTo>
                    <a:pt x="0" y="0"/>
                  </a:moveTo>
                  <a:lnTo>
                    <a:pt x="1067689" y="0"/>
                  </a:lnTo>
                  <a:lnTo>
                    <a:pt x="1067689" y="2011807"/>
                  </a:lnTo>
                  <a:lnTo>
                    <a:pt x="0" y="2011807"/>
                  </a:lnTo>
                  <a:close/>
                </a:path>
              </a:pathLst>
            </a:custGeom>
            <a:solidFill>
              <a:srgbClr val="132257"/>
            </a:solidFill>
            <a:ln w="19050" cap="sq">
              <a:solidFill>
                <a:srgbClr val="132257"/>
              </a:solidFill>
              <a:prstDash val="solid"/>
              <a:miter/>
            </a:ln>
          </p:spPr>
        </p:sp>
      </p:grpSp>
      <p:grpSp>
        <p:nvGrpSpPr>
          <p:cNvPr name="Group 56" id="49"/>
          <p:cNvGrpSpPr/>
          <p:nvPr/>
        </p:nvGrpSpPr>
        <p:grpSpPr>
          <a:xfrm rot="0">
            <a:off x="9716929" y="5368157"/>
            <a:ext cx="1110891" cy="384048"/>
            <a:chOff x="0" y="0"/>
            <a:chExt cx="1481188" cy="512064"/>
          </a:xfrm>
        </p:grpSpPr>
        <p:sp>
          <p:nvSpPr>
            <p:cNvPr name="Freeform 57" id="50"/>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58" id="51"/>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20</a:t>
              </a:r>
            </a:p>
          </p:txBody>
        </p:sp>
      </p:grpSp>
      <p:grpSp>
        <p:nvGrpSpPr>
          <p:cNvPr name="Group 59" id="52"/>
          <p:cNvGrpSpPr/>
          <p:nvPr/>
        </p:nvGrpSpPr>
        <p:grpSpPr>
          <a:xfrm rot="0">
            <a:off x="10708567" y="7036480"/>
            <a:ext cx="800757" cy="242526"/>
            <a:chOff x="0" y="0"/>
            <a:chExt cx="1067676" cy="323367"/>
          </a:xfrm>
        </p:grpSpPr>
        <p:sp>
          <p:nvSpPr>
            <p:cNvPr name="Freeform 60" id="53"/>
            <p:cNvSpPr/>
            <p:nvPr/>
          </p:nvSpPr>
          <p:spPr>
            <a:xfrm flipH="false" flipV="false" rot="0">
              <a:off x="0" y="0"/>
              <a:ext cx="1067689" cy="323342"/>
            </a:xfrm>
            <a:custGeom>
              <a:avLst/>
              <a:gdLst/>
              <a:ahLst/>
              <a:cxnLst/>
              <a:rect r="r" b="b" t="t" l="l"/>
              <a:pathLst>
                <a:path h="323342" w="1067689">
                  <a:moveTo>
                    <a:pt x="0" y="0"/>
                  </a:moveTo>
                  <a:lnTo>
                    <a:pt x="1067689" y="0"/>
                  </a:lnTo>
                  <a:lnTo>
                    <a:pt x="1067689" y="323342"/>
                  </a:lnTo>
                  <a:lnTo>
                    <a:pt x="0" y="323342"/>
                  </a:lnTo>
                  <a:close/>
                </a:path>
              </a:pathLst>
            </a:custGeom>
            <a:solidFill>
              <a:srgbClr val="1BA97C"/>
            </a:solidFill>
            <a:ln w="19050" cap="sq">
              <a:solidFill>
                <a:srgbClr val="1BA97C"/>
              </a:solidFill>
              <a:prstDash val="solid"/>
              <a:miter/>
            </a:ln>
          </p:spPr>
        </p:sp>
      </p:grpSp>
      <p:grpSp>
        <p:nvGrpSpPr>
          <p:cNvPr name="Group 61" id="54"/>
          <p:cNvGrpSpPr/>
          <p:nvPr/>
        </p:nvGrpSpPr>
        <p:grpSpPr>
          <a:xfrm rot="0">
            <a:off x="10553500" y="6634525"/>
            <a:ext cx="1110891" cy="384048"/>
            <a:chOff x="0" y="0"/>
            <a:chExt cx="1481188" cy="512064"/>
          </a:xfrm>
        </p:grpSpPr>
        <p:sp>
          <p:nvSpPr>
            <p:cNvPr name="Freeform 62" id="55"/>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63" id="56"/>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3</a:t>
              </a:r>
            </a:p>
          </p:txBody>
        </p:sp>
      </p:grpSp>
      <p:sp>
        <p:nvSpPr>
          <p:cNvPr name="TextBox 64" id="57"/>
          <p:cNvSpPr txBox="true"/>
          <p:nvPr/>
        </p:nvSpPr>
        <p:spPr>
          <a:xfrm rot="0">
            <a:off x="9341348" y="7379208"/>
            <a:ext cx="2698623" cy="411480"/>
          </a:xfrm>
          <a:prstGeom prst="rect">
            <a:avLst/>
          </a:prstGeom>
        </p:spPr>
        <p:txBody>
          <a:bodyPr anchor="t" rtlCol="false" tIns="0" lIns="0" bIns="0" rIns="0">
            <a:spAutoFit/>
          </a:bodyPr>
          <a:lstStyle/>
          <a:p>
            <a:pPr algn="ctr">
              <a:lnSpc>
                <a:spcPts val="1889"/>
              </a:lnSpc>
            </a:pPr>
            <a:r>
              <a:rPr lang="en-US" sz="1575">
                <a:solidFill>
                  <a:srgbClr val="1F2A44"/>
                </a:solidFill>
                <a:latin typeface="Exo 2"/>
                <a:ea typeface="Exo 2"/>
                <a:cs typeface="Exo 2"/>
                <a:sym typeface="Exo 2"/>
              </a:rPr>
              <a:t>8-14 Sep</a:t>
            </a:r>
          </a:p>
        </p:txBody>
      </p:sp>
      <p:grpSp>
        <p:nvGrpSpPr>
          <p:cNvPr name="Group 65" id="58"/>
          <p:cNvGrpSpPr/>
          <p:nvPr/>
        </p:nvGrpSpPr>
        <p:grpSpPr>
          <a:xfrm rot="0">
            <a:off x="12570619" y="6217063"/>
            <a:ext cx="800757" cy="1061942"/>
            <a:chOff x="0" y="0"/>
            <a:chExt cx="1067676" cy="1415923"/>
          </a:xfrm>
        </p:grpSpPr>
        <p:sp>
          <p:nvSpPr>
            <p:cNvPr name="Freeform 66" id="59"/>
            <p:cNvSpPr/>
            <p:nvPr/>
          </p:nvSpPr>
          <p:spPr>
            <a:xfrm flipH="false" flipV="false" rot="0">
              <a:off x="0" y="0"/>
              <a:ext cx="1067689" cy="1415923"/>
            </a:xfrm>
            <a:custGeom>
              <a:avLst/>
              <a:gdLst/>
              <a:ahLst/>
              <a:cxnLst/>
              <a:rect r="r" b="b" t="t" l="l"/>
              <a:pathLst>
                <a:path h="1415923" w="1067689">
                  <a:moveTo>
                    <a:pt x="0" y="0"/>
                  </a:moveTo>
                  <a:lnTo>
                    <a:pt x="1067689" y="0"/>
                  </a:lnTo>
                  <a:lnTo>
                    <a:pt x="1067689" y="1415923"/>
                  </a:lnTo>
                  <a:lnTo>
                    <a:pt x="0" y="1415923"/>
                  </a:lnTo>
                  <a:close/>
                </a:path>
              </a:pathLst>
            </a:custGeom>
            <a:solidFill>
              <a:srgbClr val="132257"/>
            </a:solidFill>
            <a:ln w="19050" cap="sq">
              <a:solidFill>
                <a:srgbClr val="132257"/>
              </a:solidFill>
              <a:prstDash val="solid"/>
              <a:miter/>
            </a:ln>
          </p:spPr>
        </p:sp>
      </p:grpSp>
      <p:grpSp>
        <p:nvGrpSpPr>
          <p:cNvPr name="Group 67" id="60"/>
          <p:cNvGrpSpPr/>
          <p:nvPr/>
        </p:nvGrpSpPr>
        <p:grpSpPr>
          <a:xfrm rot="0">
            <a:off x="12415552" y="5815108"/>
            <a:ext cx="1110891" cy="384048"/>
            <a:chOff x="0" y="0"/>
            <a:chExt cx="1481188" cy="512064"/>
          </a:xfrm>
        </p:grpSpPr>
        <p:sp>
          <p:nvSpPr>
            <p:cNvPr name="Freeform 68" id="61"/>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69" id="62"/>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14</a:t>
              </a:r>
            </a:p>
          </p:txBody>
        </p:sp>
      </p:grpSp>
      <p:grpSp>
        <p:nvGrpSpPr>
          <p:cNvPr name="Group 70" id="63"/>
          <p:cNvGrpSpPr/>
          <p:nvPr/>
        </p:nvGrpSpPr>
        <p:grpSpPr>
          <a:xfrm rot="0">
            <a:off x="13407190" y="6887499"/>
            <a:ext cx="800757" cy="391506"/>
            <a:chOff x="0" y="0"/>
            <a:chExt cx="1067676" cy="522008"/>
          </a:xfrm>
        </p:grpSpPr>
        <p:sp>
          <p:nvSpPr>
            <p:cNvPr name="Freeform 71" id="64"/>
            <p:cNvSpPr/>
            <p:nvPr/>
          </p:nvSpPr>
          <p:spPr>
            <a:xfrm flipH="false" flipV="false" rot="0">
              <a:off x="0" y="0"/>
              <a:ext cx="1067689" cy="521970"/>
            </a:xfrm>
            <a:custGeom>
              <a:avLst/>
              <a:gdLst/>
              <a:ahLst/>
              <a:cxnLst/>
              <a:rect r="r" b="b" t="t" l="l"/>
              <a:pathLst>
                <a:path h="521970" w="1067689">
                  <a:moveTo>
                    <a:pt x="0" y="0"/>
                  </a:moveTo>
                  <a:lnTo>
                    <a:pt x="1067689" y="0"/>
                  </a:lnTo>
                  <a:lnTo>
                    <a:pt x="1067689" y="521970"/>
                  </a:lnTo>
                  <a:lnTo>
                    <a:pt x="0" y="521970"/>
                  </a:lnTo>
                  <a:close/>
                </a:path>
              </a:pathLst>
            </a:custGeom>
            <a:solidFill>
              <a:srgbClr val="1BA97C"/>
            </a:solidFill>
            <a:ln w="19050" cap="sq">
              <a:solidFill>
                <a:srgbClr val="1BA97C"/>
              </a:solidFill>
              <a:prstDash val="solid"/>
              <a:miter/>
            </a:ln>
          </p:spPr>
        </p:sp>
      </p:grpSp>
      <p:grpSp>
        <p:nvGrpSpPr>
          <p:cNvPr name="Group 72" id="65"/>
          <p:cNvGrpSpPr/>
          <p:nvPr/>
        </p:nvGrpSpPr>
        <p:grpSpPr>
          <a:xfrm rot="0">
            <a:off x="13252123" y="6485544"/>
            <a:ext cx="1110891" cy="384048"/>
            <a:chOff x="0" y="0"/>
            <a:chExt cx="1481188" cy="512064"/>
          </a:xfrm>
        </p:grpSpPr>
        <p:sp>
          <p:nvSpPr>
            <p:cNvPr name="Freeform 73" id="66"/>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74" id="67"/>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5</a:t>
              </a:r>
            </a:p>
          </p:txBody>
        </p:sp>
      </p:grpSp>
      <p:sp>
        <p:nvSpPr>
          <p:cNvPr name="TextBox 75" id="68"/>
          <p:cNvSpPr txBox="true"/>
          <p:nvPr/>
        </p:nvSpPr>
        <p:spPr>
          <a:xfrm rot="0">
            <a:off x="12039971" y="7379208"/>
            <a:ext cx="2698623" cy="411480"/>
          </a:xfrm>
          <a:prstGeom prst="rect">
            <a:avLst/>
          </a:prstGeom>
        </p:spPr>
        <p:txBody>
          <a:bodyPr anchor="t" rtlCol="false" tIns="0" lIns="0" bIns="0" rIns="0">
            <a:spAutoFit/>
          </a:bodyPr>
          <a:lstStyle/>
          <a:p>
            <a:pPr algn="ctr">
              <a:lnSpc>
                <a:spcPts val="1889"/>
              </a:lnSpc>
            </a:pPr>
            <a:r>
              <a:rPr lang="en-US" sz="1575">
                <a:solidFill>
                  <a:srgbClr val="1F2A44"/>
                </a:solidFill>
                <a:latin typeface="Exo 2"/>
                <a:ea typeface="Exo 2"/>
                <a:cs typeface="Exo 2"/>
                <a:sym typeface="Exo 2"/>
              </a:rPr>
              <a:t>14-21 Sep</a:t>
            </a:r>
          </a:p>
        </p:txBody>
      </p:sp>
      <p:grpSp>
        <p:nvGrpSpPr>
          <p:cNvPr name="Group 76" id="69"/>
          <p:cNvGrpSpPr/>
          <p:nvPr/>
        </p:nvGrpSpPr>
        <p:grpSpPr>
          <a:xfrm rot="0">
            <a:off x="15269242" y="3311871"/>
            <a:ext cx="800757" cy="3967134"/>
            <a:chOff x="0" y="0"/>
            <a:chExt cx="1067676" cy="5289512"/>
          </a:xfrm>
        </p:grpSpPr>
        <p:sp>
          <p:nvSpPr>
            <p:cNvPr name="Freeform 77" id="70"/>
            <p:cNvSpPr/>
            <p:nvPr/>
          </p:nvSpPr>
          <p:spPr>
            <a:xfrm flipH="false" flipV="false" rot="0">
              <a:off x="0" y="0"/>
              <a:ext cx="1067689" cy="5289550"/>
            </a:xfrm>
            <a:custGeom>
              <a:avLst/>
              <a:gdLst/>
              <a:ahLst/>
              <a:cxnLst/>
              <a:rect r="r" b="b" t="t" l="l"/>
              <a:pathLst>
                <a:path h="5289550" w="1067689">
                  <a:moveTo>
                    <a:pt x="0" y="0"/>
                  </a:moveTo>
                  <a:lnTo>
                    <a:pt x="1067689" y="0"/>
                  </a:lnTo>
                  <a:lnTo>
                    <a:pt x="1067689" y="5289550"/>
                  </a:lnTo>
                  <a:lnTo>
                    <a:pt x="0" y="5289550"/>
                  </a:lnTo>
                  <a:close/>
                </a:path>
              </a:pathLst>
            </a:custGeom>
            <a:solidFill>
              <a:srgbClr val="132257"/>
            </a:solidFill>
            <a:ln w="19050" cap="sq">
              <a:solidFill>
                <a:srgbClr val="132257"/>
              </a:solidFill>
              <a:prstDash val="solid"/>
              <a:miter/>
            </a:ln>
          </p:spPr>
        </p:sp>
      </p:grpSp>
      <p:grpSp>
        <p:nvGrpSpPr>
          <p:cNvPr name="Group 78" id="71"/>
          <p:cNvGrpSpPr/>
          <p:nvPr/>
        </p:nvGrpSpPr>
        <p:grpSpPr>
          <a:xfrm rot="0">
            <a:off x="15114175" y="2909916"/>
            <a:ext cx="1110891" cy="384048"/>
            <a:chOff x="0" y="0"/>
            <a:chExt cx="1481188" cy="512064"/>
          </a:xfrm>
        </p:grpSpPr>
        <p:sp>
          <p:nvSpPr>
            <p:cNvPr name="Freeform 79" id="72"/>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80" id="73"/>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53</a:t>
              </a:r>
            </a:p>
          </p:txBody>
        </p:sp>
      </p:grpSp>
      <p:grpSp>
        <p:nvGrpSpPr>
          <p:cNvPr name="Group 81" id="74"/>
          <p:cNvGrpSpPr/>
          <p:nvPr/>
        </p:nvGrpSpPr>
        <p:grpSpPr>
          <a:xfrm rot="0">
            <a:off x="16105813" y="6961985"/>
            <a:ext cx="800757" cy="317021"/>
            <a:chOff x="0" y="0"/>
            <a:chExt cx="1067676" cy="422694"/>
          </a:xfrm>
        </p:grpSpPr>
        <p:sp>
          <p:nvSpPr>
            <p:cNvPr name="Freeform 82" id="75"/>
            <p:cNvSpPr/>
            <p:nvPr/>
          </p:nvSpPr>
          <p:spPr>
            <a:xfrm flipH="false" flipV="false" rot="0">
              <a:off x="0" y="0"/>
              <a:ext cx="1067689" cy="422656"/>
            </a:xfrm>
            <a:custGeom>
              <a:avLst/>
              <a:gdLst/>
              <a:ahLst/>
              <a:cxnLst/>
              <a:rect r="r" b="b" t="t" l="l"/>
              <a:pathLst>
                <a:path h="422656" w="1067689">
                  <a:moveTo>
                    <a:pt x="0" y="0"/>
                  </a:moveTo>
                  <a:lnTo>
                    <a:pt x="1067689" y="0"/>
                  </a:lnTo>
                  <a:lnTo>
                    <a:pt x="1067689" y="422656"/>
                  </a:lnTo>
                  <a:lnTo>
                    <a:pt x="0" y="422656"/>
                  </a:lnTo>
                  <a:close/>
                </a:path>
              </a:pathLst>
            </a:custGeom>
            <a:solidFill>
              <a:srgbClr val="1BA97C"/>
            </a:solidFill>
            <a:ln w="19050" cap="sq">
              <a:solidFill>
                <a:srgbClr val="1BA97C"/>
              </a:solidFill>
              <a:prstDash val="solid"/>
              <a:miter/>
            </a:ln>
          </p:spPr>
        </p:sp>
      </p:grpSp>
      <p:grpSp>
        <p:nvGrpSpPr>
          <p:cNvPr name="Group 83" id="76"/>
          <p:cNvGrpSpPr/>
          <p:nvPr/>
        </p:nvGrpSpPr>
        <p:grpSpPr>
          <a:xfrm rot="0">
            <a:off x="15950746" y="6560030"/>
            <a:ext cx="1110891" cy="384048"/>
            <a:chOff x="0" y="0"/>
            <a:chExt cx="1481188" cy="512064"/>
          </a:xfrm>
        </p:grpSpPr>
        <p:sp>
          <p:nvSpPr>
            <p:cNvPr name="Freeform 84" id="77"/>
            <p:cNvSpPr/>
            <p:nvPr/>
          </p:nvSpPr>
          <p:spPr>
            <a:xfrm flipH="false" flipV="false" rot="0">
              <a:off x="0" y="0"/>
              <a:ext cx="1481190" cy="512064"/>
            </a:xfrm>
            <a:custGeom>
              <a:avLst/>
              <a:gdLst/>
              <a:ahLst/>
              <a:cxnLst/>
              <a:rect r="r" b="b" t="t" l="l"/>
              <a:pathLst>
                <a:path h="512064" w="1481190">
                  <a:moveTo>
                    <a:pt x="0" y="0"/>
                  </a:moveTo>
                  <a:lnTo>
                    <a:pt x="1481190" y="0"/>
                  </a:lnTo>
                  <a:lnTo>
                    <a:pt x="1481190" y="512064"/>
                  </a:lnTo>
                  <a:lnTo>
                    <a:pt x="0" y="512064"/>
                  </a:lnTo>
                  <a:close/>
                </a:path>
              </a:pathLst>
            </a:custGeom>
            <a:blipFill>
              <a:blip r:embed="rId4">
                <a:alphaModFix amt="0"/>
              </a:blip>
              <a:stretch>
                <a:fillRect l="0" t="-6362" r="0" b="-6362"/>
              </a:stretch>
            </a:blipFill>
          </p:spPr>
        </p:sp>
        <p:sp>
          <p:nvSpPr>
            <p:cNvPr name="TextBox 85" id="78"/>
            <p:cNvSpPr txBox="true"/>
            <p:nvPr/>
          </p:nvSpPr>
          <p:spPr>
            <a:xfrm>
              <a:off x="0" y="0"/>
              <a:ext cx="1481188" cy="512064"/>
            </a:xfrm>
            <a:prstGeom prst="rect">
              <a:avLst/>
            </a:prstGeom>
          </p:spPr>
          <p:txBody>
            <a:bodyPr anchor="b" rtlCol="false" tIns="0" lIns="0" bIns="0" rIns="0"/>
            <a:lstStyle/>
            <a:p>
              <a:pPr algn="ctr">
                <a:lnSpc>
                  <a:spcPts val="1980"/>
                </a:lnSpc>
              </a:pPr>
              <a:r>
                <a:rPr lang="en-US" sz="1650" b="true">
                  <a:solidFill>
                    <a:srgbClr val="132257"/>
                  </a:solidFill>
                  <a:latin typeface="Exo 2 Bold"/>
                  <a:ea typeface="Exo 2 Bold"/>
                  <a:cs typeface="Exo 2 Bold"/>
                  <a:sym typeface="Exo 2 Bold"/>
                </a:rPr>
                <a:t>4</a:t>
              </a:r>
            </a:p>
          </p:txBody>
        </p:sp>
      </p:grpSp>
      <p:sp>
        <p:nvSpPr>
          <p:cNvPr name="TextBox 86" id="79"/>
          <p:cNvSpPr txBox="true"/>
          <p:nvPr/>
        </p:nvSpPr>
        <p:spPr>
          <a:xfrm rot="0">
            <a:off x="14738594" y="7379208"/>
            <a:ext cx="2698623" cy="411480"/>
          </a:xfrm>
          <a:prstGeom prst="rect">
            <a:avLst/>
          </a:prstGeom>
        </p:spPr>
        <p:txBody>
          <a:bodyPr anchor="t" rtlCol="false" tIns="0" lIns="0" bIns="0" rIns="0">
            <a:spAutoFit/>
          </a:bodyPr>
          <a:lstStyle/>
          <a:p>
            <a:pPr algn="ctr">
              <a:lnSpc>
                <a:spcPts val="1889"/>
              </a:lnSpc>
            </a:pPr>
            <a:r>
              <a:rPr lang="en-US" sz="1575">
                <a:solidFill>
                  <a:srgbClr val="1F2A44"/>
                </a:solidFill>
                <a:latin typeface="Exo 2"/>
                <a:ea typeface="Exo 2"/>
                <a:cs typeface="Exo 2"/>
                <a:sym typeface="Exo 2"/>
              </a:rPr>
              <a:t>21-29 Sep (paid live)</a:t>
            </a:r>
          </a:p>
        </p:txBody>
      </p:sp>
      <p:grpSp>
        <p:nvGrpSpPr>
          <p:cNvPr name="Group 87" id="80"/>
          <p:cNvGrpSpPr/>
          <p:nvPr/>
        </p:nvGrpSpPr>
        <p:grpSpPr>
          <a:xfrm rot="0">
            <a:off x="9870176" y="7959471"/>
            <a:ext cx="211074" cy="211074"/>
            <a:chOff x="0" y="0"/>
            <a:chExt cx="281432" cy="281432"/>
          </a:xfrm>
        </p:grpSpPr>
        <p:sp>
          <p:nvSpPr>
            <p:cNvPr name="Freeform 88" id="81"/>
            <p:cNvSpPr/>
            <p:nvPr/>
          </p:nvSpPr>
          <p:spPr>
            <a:xfrm flipH="false" flipV="false" rot="0">
              <a:off x="0" y="0"/>
              <a:ext cx="281432" cy="281432"/>
            </a:xfrm>
            <a:custGeom>
              <a:avLst/>
              <a:gdLst/>
              <a:ahLst/>
              <a:cxnLst/>
              <a:rect r="r" b="b" t="t" l="l"/>
              <a:pathLst>
                <a:path h="281432" w="281432">
                  <a:moveTo>
                    <a:pt x="0" y="0"/>
                  </a:moveTo>
                  <a:lnTo>
                    <a:pt x="281432" y="0"/>
                  </a:lnTo>
                  <a:lnTo>
                    <a:pt x="281432" y="281432"/>
                  </a:lnTo>
                  <a:lnTo>
                    <a:pt x="0" y="281432"/>
                  </a:lnTo>
                  <a:close/>
                </a:path>
              </a:pathLst>
            </a:custGeom>
            <a:solidFill>
              <a:srgbClr val="132257"/>
            </a:solidFill>
            <a:ln w="19050" cap="sq">
              <a:solidFill>
                <a:srgbClr val="132257"/>
              </a:solidFill>
              <a:prstDash val="solid"/>
              <a:miter/>
            </a:ln>
          </p:spPr>
        </p:sp>
      </p:grpSp>
      <p:grpSp>
        <p:nvGrpSpPr>
          <p:cNvPr name="Group 89" id="82"/>
          <p:cNvGrpSpPr/>
          <p:nvPr/>
        </p:nvGrpSpPr>
        <p:grpSpPr>
          <a:xfrm rot="0">
            <a:off x="10154021" y="7859268"/>
            <a:ext cx="2091690" cy="411480"/>
            <a:chOff x="0" y="0"/>
            <a:chExt cx="2788920" cy="548640"/>
          </a:xfrm>
        </p:grpSpPr>
        <p:sp>
          <p:nvSpPr>
            <p:cNvPr name="Freeform 90" id="83"/>
            <p:cNvSpPr/>
            <p:nvPr/>
          </p:nvSpPr>
          <p:spPr>
            <a:xfrm flipH="false" flipV="false" rot="0">
              <a:off x="0" y="0"/>
              <a:ext cx="2788920" cy="548640"/>
            </a:xfrm>
            <a:custGeom>
              <a:avLst/>
              <a:gdLst/>
              <a:ahLst/>
              <a:cxnLst/>
              <a:rect r="r" b="b" t="t" l="l"/>
              <a:pathLst>
                <a:path h="548640" w="2788920">
                  <a:moveTo>
                    <a:pt x="0" y="0"/>
                  </a:moveTo>
                  <a:lnTo>
                    <a:pt x="2788920" y="0"/>
                  </a:lnTo>
                  <a:lnTo>
                    <a:pt x="2788920" y="548640"/>
                  </a:lnTo>
                  <a:lnTo>
                    <a:pt x="0" y="548640"/>
                  </a:lnTo>
                  <a:close/>
                </a:path>
              </a:pathLst>
            </a:custGeom>
            <a:blipFill>
              <a:blip r:embed="rId4">
                <a:alphaModFix amt="0"/>
              </a:blip>
              <a:stretch>
                <a:fillRect l="0" t="-49048" r="0" b="-49048"/>
              </a:stretch>
            </a:blipFill>
          </p:spPr>
        </p:sp>
        <p:sp>
          <p:nvSpPr>
            <p:cNvPr name="TextBox 91" id="84"/>
            <p:cNvSpPr txBox="true"/>
            <p:nvPr/>
          </p:nvSpPr>
          <p:spPr>
            <a:xfrm>
              <a:off x="0" y="-9525"/>
              <a:ext cx="2788920" cy="558165"/>
            </a:xfrm>
            <a:prstGeom prst="rect">
              <a:avLst/>
            </a:prstGeom>
          </p:spPr>
          <p:txBody>
            <a:bodyPr anchor="ctr" rtlCol="false" tIns="0" lIns="0" bIns="0" rIns="0"/>
            <a:lstStyle/>
            <a:p>
              <a:pPr algn="l">
                <a:lnSpc>
                  <a:spcPts val="1800"/>
                </a:lnSpc>
              </a:pPr>
              <a:r>
                <a:rPr lang="en-US" sz="1500">
                  <a:solidFill>
                    <a:srgbClr val="1F2A44"/>
                  </a:solidFill>
                  <a:latin typeface="Exo 2"/>
                  <a:ea typeface="Exo 2"/>
                  <a:cs typeface="Exo 2"/>
                  <a:sym typeface="Exo 2"/>
                </a:rPr>
                <a:t>App downloads added</a:t>
              </a:r>
            </a:p>
          </p:txBody>
        </p:sp>
      </p:grpSp>
      <p:grpSp>
        <p:nvGrpSpPr>
          <p:cNvPr name="Group 92" id="85"/>
          <p:cNvGrpSpPr/>
          <p:nvPr/>
        </p:nvGrpSpPr>
        <p:grpSpPr>
          <a:xfrm rot="0">
            <a:off x="12236186" y="7959471"/>
            <a:ext cx="211074" cy="211074"/>
            <a:chOff x="0" y="0"/>
            <a:chExt cx="281432" cy="281432"/>
          </a:xfrm>
        </p:grpSpPr>
        <p:sp>
          <p:nvSpPr>
            <p:cNvPr name="Freeform 93" id="86"/>
            <p:cNvSpPr/>
            <p:nvPr/>
          </p:nvSpPr>
          <p:spPr>
            <a:xfrm flipH="false" flipV="false" rot="0">
              <a:off x="0" y="0"/>
              <a:ext cx="281432" cy="281432"/>
            </a:xfrm>
            <a:custGeom>
              <a:avLst/>
              <a:gdLst/>
              <a:ahLst/>
              <a:cxnLst/>
              <a:rect r="r" b="b" t="t" l="l"/>
              <a:pathLst>
                <a:path h="281432" w="281432">
                  <a:moveTo>
                    <a:pt x="0" y="0"/>
                  </a:moveTo>
                  <a:lnTo>
                    <a:pt x="281432" y="0"/>
                  </a:lnTo>
                  <a:lnTo>
                    <a:pt x="281432" y="281432"/>
                  </a:lnTo>
                  <a:lnTo>
                    <a:pt x="0" y="281432"/>
                  </a:lnTo>
                  <a:close/>
                </a:path>
              </a:pathLst>
            </a:custGeom>
            <a:solidFill>
              <a:srgbClr val="1BA97C"/>
            </a:solidFill>
            <a:ln w="19050" cap="sq">
              <a:solidFill>
                <a:srgbClr val="1BA97C"/>
              </a:solidFill>
              <a:prstDash val="solid"/>
              <a:miter/>
            </a:ln>
          </p:spPr>
        </p:sp>
      </p:grpSp>
      <p:grpSp>
        <p:nvGrpSpPr>
          <p:cNvPr name="Group 94" id="87"/>
          <p:cNvGrpSpPr/>
          <p:nvPr/>
        </p:nvGrpSpPr>
        <p:grpSpPr>
          <a:xfrm rot="0">
            <a:off x="12520031" y="7859268"/>
            <a:ext cx="1680210" cy="411480"/>
            <a:chOff x="0" y="0"/>
            <a:chExt cx="2240280" cy="548640"/>
          </a:xfrm>
        </p:grpSpPr>
        <p:sp>
          <p:nvSpPr>
            <p:cNvPr name="Freeform 95" id="88"/>
            <p:cNvSpPr/>
            <p:nvPr/>
          </p:nvSpPr>
          <p:spPr>
            <a:xfrm flipH="false" flipV="false" rot="0">
              <a:off x="0" y="0"/>
              <a:ext cx="2240280" cy="548640"/>
            </a:xfrm>
            <a:custGeom>
              <a:avLst/>
              <a:gdLst/>
              <a:ahLst/>
              <a:cxnLst/>
              <a:rect r="r" b="b" t="t" l="l"/>
              <a:pathLst>
                <a:path h="548640" w="2240280">
                  <a:moveTo>
                    <a:pt x="0" y="0"/>
                  </a:moveTo>
                  <a:lnTo>
                    <a:pt x="2240280" y="0"/>
                  </a:lnTo>
                  <a:lnTo>
                    <a:pt x="2240280" y="548640"/>
                  </a:lnTo>
                  <a:lnTo>
                    <a:pt x="0" y="548640"/>
                  </a:lnTo>
                  <a:close/>
                </a:path>
              </a:pathLst>
            </a:custGeom>
            <a:blipFill>
              <a:blip r:embed="rId4">
                <a:alphaModFix amt="0"/>
              </a:blip>
              <a:stretch>
                <a:fillRect l="0" t="-29563" r="0" b="-29563"/>
              </a:stretch>
            </a:blipFill>
          </p:spPr>
        </p:sp>
        <p:sp>
          <p:nvSpPr>
            <p:cNvPr name="TextBox 96" id="89"/>
            <p:cNvSpPr txBox="true"/>
            <p:nvPr/>
          </p:nvSpPr>
          <p:spPr>
            <a:xfrm>
              <a:off x="0" y="-9525"/>
              <a:ext cx="2240280" cy="558165"/>
            </a:xfrm>
            <a:prstGeom prst="rect">
              <a:avLst/>
            </a:prstGeom>
          </p:spPr>
          <p:txBody>
            <a:bodyPr anchor="ctr" rtlCol="false" tIns="0" lIns="0" bIns="0" rIns="0"/>
            <a:lstStyle/>
            <a:p>
              <a:pPr algn="l">
                <a:lnSpc>
                  <a:spcPts val="1800"/>
                </a:lnSpc>
              </a:pPr>
              <a:r>
                <a:rPr lang="en-US" sz="1500">
                  <a:solidFill>
                    <a:srgbClr val="1F2A44"/>
                  </a:solidFill>
                  <a:latin typeface="Exo 2"/>
                  <a:ea typeface="Exo 2"/>
                  <a:cs typeface="Exo 2"/>
                  <a:sym typeface="Exo 2"/>
                </a:rPr>
                <a:t>Users onboarded</a:t>
              </a:r>
            </a:p>
          </p:txBody>
        </p:sp>
      </p:grpSp>
      <p:sp>
        <p:nvSpPr>
          <p:cNvPr name="TextBox 9" id="90"/>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PAID SEARCH LIFTED TRAFFIC AND DOWNLOADS; ONBOARDING DID NOT FOLLOW YET</a:t>
            </a:r>
          </a:p>
        </p:txBody>
      </p:sp>
      <p:sp>
        <p:nvSpPr>
          <p:cNvPr name="Freeform 54" id="91"/>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1"/>
            <a:stretch>
              <a:fillRect l="0" t="0" r="0" b="0"/>
            </a:stretch>
          </a:blipFill>
        </p:spPr>
      </p:sp>
      <p:grpSp>
        <p:nvGrpSpPr>
          <p:cNvPr name="Group 6" id="92"/>
          <p:cNvGrpSpPr/>
          <p:nvPr/>
        </p:nvGrpSpPr>
        <p:grpSpPr>
          <a:xfrm rot="0">
            <a:off x="850392" y="297596"/>
            <a:ext cx="13990320" cy="1124712"/>
            <a:chOff x="0" y="0"/>
            <a:chExt cx="18653760" cy="1499616"/>
          </a:xfrm>
        </p:grpSpPr>
        <p:sp>
          <p:nvSpPr>
            <p:cNvPr name="Freeform 7" id="93"/>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8" id="94"/>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Marketing Results</a:t>
              </a:r>
            </a:p>
          </p:txBody>
        </p:sp>
      </p:grpSp>
      <p:grpSp>
        <p:nvGrpSpPr>
          <p:cNvPr name="Group 9" id="95"/>
          <p:cNvGrpSpPr/>
          <p:nvPr/>
        </p:nvGrpSpPr>
        <p:grpSpPr>
          <a:xfrm rot="0">
            <a:off x="15457932" y="571916"/>
            <a:ext cx="1988820" cy="576072"/>
            <a:chOff x="0" y="0"/>
            <a:chExt cx="2651760" cy="768096"/>
          </a:xfrm>
        </p:grpSpPr>
        <p:sp>
          <p:nvSpPr>
            <p:cNvPr name="Freeform 10" id="96"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3" id="97"/>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MARKETING</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3"/>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grpSp>
        <p:nvGrpSpPr>
          <p:cNvPr name="Group 14" id="7"/>
          <p:cNvGrpSpPr/>
          <p:nvPr/>
        </p:nvGrpSpPr>
        <p:grpSpPr>
          <a:xfrm rot="0">
            <a:off x="852773" y="2283428"/>
            <a:ext cx="6323647" cy="2757488"/>
            <a:chOff x="0" y="0"/>
            <a:chExt cx="8431530" cy="3676650"/>
          </a:xfrm>
        </p:grpSpPr>
        <p:sp>
          <p:nvSpPr>
            <p:cNvPr name="Freeform 15" id="8"/>
            <p:cNvSpPr/>
            <p:nvPr/>
          </p:nvSpPr>
          <p:spPr>
            <a:xfrm flipH="false" flipV="false" rot="0">
              <a:off x="0" y="0"/>
              <a:ext cx="8431530" cy="3676650"/>
            </a:xfrm>
            <a:custGeom>
              <a:avLst/>
              <a:gdLst/>
              <a:ahLst/>
              <a:cxnLst/>
              <a:rect r="r" b="b" t="t" l="l"/>
              <a:pathLst>
                <a:path h="3676650" w="8431530">
                  <a:moveTo>
                    <a:pt x="0" y="0"/>
                  </a:moveTo>
                  <a:lnTo>
                    <a:pt x="8431530" y="0"/>
                  </a:lnTo>
                  <a:lnTo>
                    <a:pt x="8431530" y="3676650"/>
                  </a:lnTo>
                  <a:lnTo>
                    <a:pt x="0" y="3676650"/>
                  </a:lnTo>
                  <a:close/>
                </a:path>
              </a:pathLst>
            </a:custGeom>
            <a:solidFill>
              <a:srgbClr val="FFFFFF"/>
            </a:solidFill>
            <a:ln w="14288" cap="sq">
              <a:solidFill>
                <a:srgbClr val="D9DFEA"/>
              </a:solidFill>
              <a:prstDash val="solid"/>
              <a:miter/>
            </a:ln>
          </p:spPr>
        </p:sp>
      </p:grpSp>
      <p:grpSp>
        <p:nvGrpSpPr>
          <p:cNvPr name="Group 16" id="9"/>
          <p:cNvGrpSpPr/>
          <p:nvPr/>
        </p:nvGrpSpPr>
        <p:grpSpPr>
          <a:xfrm rot="0">
            <a:off x="850392" y="2281047"/>
            <a:ext cx="6328410" cy="67056"/>
            <a:chOff x="0" y="0"/>
            <a:chExt cx="8437880" cy="89408"/>
          </a:xfrm>
        </p:grpSpPr>
        <p:sp>
          <p:nvSpPr>
            <p:cNvPr name="Freeform 17" id="10"/>
            <p:cNvSpPr/>
            <p:nvPr/>
          </p:nvSpPr>
          <p:spPr>
            <a:xfrm flipH="false" flipV="false" rot="0">
              <a:off x="0" y="0"/>
              <a:ext cx="8437880" cy="89408"/>
            </a:xfrm>
            <a:custGeom>
              <a:avLst/>
              <a:gdLst/>
              <a:ahLst/>
              <a:cxnLst/>
              <a:rect r="r" b="b" t="t" l="l"/>
              <a:pathLst>
                <a:path h="89408" w="8437880">
                  <a:moveTo>
                    <a:pt x="0" y="0"/>
                  </a:moveTo>
                  <a:lnTo>
                    <a:pt x="8437880" y="0"/>
                  </a:lnTo>
                  <a:lnTo>
                    <a:pt x="8437880" y="89408"/>
                  </a:lnTo>
                  <a:lnTo>
                    <a:pt x="0" y="89408"/>
                  </a:lnTo>
                  <a:close/>
                </a:path>
              </a:pathLst>
            </a:custGeom>
            <a:solidFill>
              <a:srgbClr val="132257"/>
            </a:solidFill>
            <a:ln w="19050" cap="sq">
              <a:solidFill>
                <a:srgbClr val="132257"/>
              </a:solidFill>
              <a:prstDash val="solid"/>
              <a:miter/>
            </a:ln>
          </p:spPr>
        </p:sp>
      </p:grpSp>
      <p:sp>
        <p:nvSpPr>
          <p:cNvPr name="TextBox 18" id="11"/>
          <p:cNvSpPr txBox="true"/>
          <p:nvPr/>
        </p:nvSpPr>
        <p:spPr>
          <a:xfrm rot="0">
            <a:off x="1202817" y="2555367"/>
            <a:ext cx="4114800" cy="352425"/>
          </a:xfrm>
          <a:prstGeom prst="rect">
            <a:avLst/>
          </a:prstGeom>
        </p:spPr>
        <p:txBody>
          <a:bodyPr anchor="t" rtlCol="false" tIns="0" lIns="0" bIns="0" rIns="0">
            <a:spAutoFit/>
          </a:bodyPr>
          <a:lstStyle/>
          <a:p>
            <a:pPr algn="l">
              <a:lnSpc>
                <a:spcPts val="1620"/>
              </a:lnSpc>
            </a:pPr>
            <a:r>
              <a:rPr lang="en-US" b="true" sz="1350" spc="299">
                <a:solidFill>
                  <a:srgbClr val="9A7B1F"/>
                </a:solidFill>
                <a:latin typeface="Exo 2 Bold"/>
                <a:ea typeface="Exo 2 Bold"/>
                <a:cs typeface="Exo 2 Bold"/>
                <a:sym typeface="Exo 2 Bold"/>
              </a:rPr>
              <a:t>ENGLISH CAMPAIGN</a:t>
            </a:r>
          </a:p>
        </p:txBody>
      </p:sp>
      <p:sp>
        <p:nvSpPr>
          <p:cNvPr name="TextBox 19" id="12"/>
          <p:cNvSpPr txBox="true"/>
          <p:nvPr/>
        </p:nvSpPr>
        <p:spPr>
          <a:xfrm rot="0">
            <a:off x="1202817" y="3035427"/>
            <a:ext cx="2880360" cy="647700"/>
          </a:xfrm>
          <a:prstGeom prst="rect">
            <a:avLst/>
          </a:prstGeom>
        </p:spPr>
        <p:txBody>
          <a:bodyPr anchor="t" rtlCol="false" tIns="0" lIns="0" bIns="0" rIns="0">
            <a:spAutoFit/>
          </a:bodyPr>
          <a:lstStyle/>
          <a:p>
            <a:pPr algn="l">
              <a:lnSpc>
                <a:spcPts val="5039"/>
              </a:lnSpc>
            </a:pPr>
            <a:r>
              <a:rPr lang="en-US" sz="4199" b="true">
                <a:solidFill>
                  <a:srgbClr val="1BA97C"/>
                </a:solidFill>
                <a:latin typeface="Exo 2 Bold"/>
                <a:ea typeface="Exo 2 Bold"/>
                <a:cs typeface="Exo 2 Bold"/>
                <a:sym typeface="Exo 2 Bold"/>
              </a:rPr>
              <a:t>212</a:t>
            </a:r>
          </a:p>
        </p:txBody>
      </p:sp>
      <p:sp>
        <p:nvSpPr>
          <p:cNvPr name="TextBox 20" id="13"/>
          <p:cNvSpPr txBox="true"/>
          <p:nvPr/>
        </p:nvSpPr>
        <p:spPr>
          <a:xfrm rot="0">
            <a:off x="1202817" y="3538728"/>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sessions</a:t>
            </a:r>
          </a:p>
        </p:txBody>
      </p:sp>
      <p:sp>
        <p:nvSpPr>
          <p:cNvPr name="TextBox 21" id="14"/>
          <p:cNvSpPr txBox="true"/>
          <p:nvPr/>
        </p:nvSpPr>
        <p:spPr>
          <a:xfrm rot="0">
            <a:off x="4220337" y="3035427"/>
            <a:ext cx="2880360" cy="647700"/>
          </a:xfrm>
          <a:prstGeom prst="rect">
            <a:avLst/>
          </a:prstGeom>
        </p:spPr>
        <p:txBody>
          <a:bodyPr anchor="t" rtlCol="false" tIns="0" lIns="0" bIns="0" rIns="0">
            <a:spAutoFit/>
          </a:bodyPr>
          <a:lstStyle/>
          <a:p>
            <a:pPr algn="l">
              <a:lnSpc>
                <a:spcPts val="5039"/>
              </a:lnSpc>
            </a:pPr>
            <a:r>
              <a:rPr lang="en-US" sz="4199" b="true">
                <a:solidFill>
                  <a:srgbClr val="1BA97C"/>
                </a:solidFill>
                <a:latin typeface="Exo 2 Bold"/>
                <a:ea typeface="Exo 2 Bold"/>
                <a:cs typeface="Exo 2 Bold"/>
                <a:sym typeface="Exo 2 Bold"/>
              </a:rPr>
              <a:t>97.2%</a:t>
            </a:r>
          </a:p>
        </p:txBody>
      </p:sp>
      <p:sp>
        <p:nvSpPr>
          <p:cNvPr name="TextBox 22" id="15"/>
          <p:cNvSpPr txBox="true"/>
          <p:nvPr/>
        </p:nvSpPr>
        <p:spPr>
          <a:xfrm rot="0">
            <a:off x="4220337" y="3538728"/>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engagement rate</a:t>
            </a:r>
          </a:p>
        </p:txBody>
      </p:sp>
      <p:sp>
        <p:nvSpPr>
          <p:cNvPr name="TextBox 23" id="16"/>
          <p:cNvSpPr txBox="true"/>
          <p:nvPr/>
        </p:nvSpPr>
        <p:spPr>
          <a:xfrm rot="0">
            <a:off x="1202817" y="3995547"/>
            <a:ext cx="2880360" cy="647700"/>
          </a:xfrm>
          <a:prstGeom prst="rect">
            <a:avLst/>
          </a:prstGeom>
        </p:spPr>
        <p:txBody>
          <a:bodyPr anchor="t" rtlCol="false" tIns="0" lIns="0" bIns="0" rIns="0">
            <a:spAutoFit/>
          </a:bodyPr>
          <a:lstStyle/>
          <a:p>
            <a:pPr algn="l">
              <a:lnSpc>
                <a:spcPts val="5039"/>
              </a:lnSpc>
            </a:pPr>
            <a:r>
              <a:rPr lang="en-US" sz="4199" b="true">
                <a:solidFill>
                  <a:srgbClr val="1BA97C"/>
                </a:solidFill>
                <a:latin typeface="Exo 2 Bold"/>
                <a:ea typeface="Exo 2 Bold"/>
                <a:cs typeface="Exo 2 Bold"/>
                <a:sym typeface="Exo 2 Bold"/>
              </a:rPr>
              <a:t>19.9s</a:t>
            </a:r>
          </a:p>
        </p:txBody>
      </p:sp>
      <p:sp>
        <p:nvSpPr>
          <p:cNvPr name="TextBox 24" id="17"/>
          <p:cNvSpPr txBox="true"/>
          <p:nvPr/>
        </p:nvSpPr>
        <p:spPr>
          <a:xfrm rot="0">
            <a:off x="1202817" y="4498848"/>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per session</a:t>
            </a:r>
          </a:p>
        </p:txBody>
      </p:sp>
      <p:grpSp>
        <p:nvGrpSpPr>
          <p:cNvPr name="Group 25" id="18"/>
          <p:cNvGrpSpPr/>
          <p:nvPr/>
        </p:nvGrpSpPr>
        <p:grpSpPr>
          <a:xfrm rot="0">
            <a:off x="852773" y="5300948"/>
            <a:ext cx="6323647" cy="2757488"/>
            <a:chOff x="0" y="0"/>
            <a:chExt cx="8431530" cy="3676650"/>
          </a:xfrm>
        </p:grpSpPr>
        <p:sp>
          <p:nvSpPr>
            <p:cNvPr name="Freeform 26" id="19"/>
            <p:cNvSpPr/>
            <p:nvPr/>
          </p:nvSpPr>
          <p:spPr>
            <a:xfrm flipH="false" flipV="false" rot="0">
              <a:off x="0" y="0"/>
              <a:ext cx="8431530" cy="3676650"/>
            </a:xfrm>
            <a:custGeom>
              <a:avLst/>
              <a:gdLst/>
              <a:ahLst/>
              <a:cxnLst/>
              <a:rect r="r" b="b" t="t" l="l"/>
              <a:pathLst>
                <a:path h="3676650" w="8431530">
                  <a:moveTo>
                    <a:pt x="0" y="0"/>
                  </a:moveTo>
                  <a:lnTo>
                    <a:pt x="8431530" y="0"/>
                  </a:lnTo>
                  <a:lnTo>
                    <a:pt x="8431530" y="3676650"/>
                  </a:lnTo>
                  <a:lnTo>
                    <a:pt x="0" y="3676650"/>
                  </a:lnTo>
                  <a:close/>
                </a:path>
              </a:pathLst>
            </a:custGeom>
            <a:solidFill>
              <a:srgbClr val="FFFFFF"/>
            </a:solidFill>
            <a:ln w="14288" cap="sq">
              <a:solidFill>
                <a:srgbClr val="D9DFEA"/>
              </a:solidFill>
              <a:prstDash val="solid"/>
              <a:miter/>
            </a:ln>
          </p:spPr>
        </p:sp>
      </p:grpSp>
      <p:grpSp>
        <p:nvGrpSpPr>
          <p:cNvPr name="Group 27" id="20"/>
          <p:cNvGrpSpPr/>
          <p:nvPr/>
        </p:nvGrpSpPr>
        <p:grpSpPr>
          <a:xfrm rot="0">
            <a:off x="850392" y="5298567"/>
            <a:ext cx="6328410" cy="67056"/>
            <a:chOff x="0" y="0"/>
            <a:chExt cx="8437880" cy="89408"/>
          </a:xfrm>
        </p:grpSpPr>
        <p:sp>
          <p:nvSpPr>
            <p:cNvPr name="Freeform 28" id="21"/>
            <p:cNvSpPr/>
            <p:nvPr/>
          </p:nvSpPr>
          <p:spPr>
            <a:xfrm flipH="false" flipV="false" rot="0">
              <a:off x="0" y="0"/>
              <a:ext cx="8437880" cy="89408"/>
            </a:xfrm>
            <a:custGeom>
              <a:avLst/>
              <a:gdLst/>
              <a:ahLst/>
              <a:cxnLst/>
              <a:rect r="r" b="b" t="t" l="l"/>
              <a:pathLst>
                <a:path h="89408" w="8437880">
                  <a:moveTo>
                    <a:pt x="0" y="0"/>
                  </a:moveTo>
                  <a:lnTo>
                    <a:pt x="8437880" y="0"/>
                  </a:lnTo>
                  <a:lnTo>
                    <a:pt x="8437880" y="89408"/>
                  </a:lnTo>
                  <a:lnTo>
                    <a:pt x="0" y="89408"/>
                  </a:lnTo>
                  <a:close/>
                </a:path>
              </a:pathLst>
            </a:custGeom>
            <a:solidFill>
              <a:srgbClr val="D4AF37"/>
            </a:solidFill>
            <a:ln w="19050" cap="sq">
              <a:solidFill>
                <a:srgbClr val="D4AF37"/>
              </a:solidFill>
              <a:prstDash val="solid"/>
              <a:miter/>
            </a:ln>
          </p:spPr>
        </p:sp>
      </p:grpSp>
      <p:sp>
        <p:nvSpPr>
          <p:cNvPr name="TextBox 29" id="22"/>
          <p:cNvSpPr txBox="true"/>
          <p:nvPr/>
        </p:nvSpPr>
        <p:spPr>
          <a:xfrm rot="0">
            <a:off x="1202817" y="5572887"/>
            <a:ext cx="4114800" cy="352425"/>
          </a:xfrm>
          <a:prstGeom prst="rect">
            <a:avLst/>
          </a:prstGeom>
        </p:spPr>
        <p:txBody>
          <a:bodyPr anchor="t" rtlCol="false" tIns="0" lIns="0" bIns="0" rIns="0">
            <a:spAutoFit/>
          </a:bodyPr>
          <a:lstStyle/>
          <a:p>
            <a:pPr algn="l">
              <a:lnSpc>
                <a:spcPts val="1620"/>
              </a:lnSpc>
            </a:pPr>
            <a:r>
              <a:rPr lang="en-US" b="true" sz="1350" spc="299">
                <a:solidFill>
                  <a:srgbClr val="9A7B1F"/>
                </a:solidFill>
                <a:latin typeface="Exo 2 Bold"/>
                <a:ea typeface="Exo 2 Bold"/>
                <a:cs typeface="Exo 2 Bold"/>
                <a:sym typeface="Exo 2 Bold"/>
              </a:rPr>
              <a:t>ARABIC CAMPAIGN</a:t>
            </a:r>
          </a:p>
        </p:txBody>
      </p:sp>
      <p:sp>
        <p:nvSpPr>
          <p:cNvPr name="TextBox 30" id="23"/>
          <p:cNvSpPr txBox="true"/>
          <p:nvPr/>
        </p:nvSpPr>
        <p:spPr>
          <a:xfrm rot="0">
            <a:off x="1202817" y="6052947"/>
            <a:ext cx="2880360" cy="647700"/>
          </a:xfrm>
          <a:prstGeom prst="rect">
            <a:avLst/>
          </a:prstGeom>
        </p:spPr>
        <p:txBody>
          <a:bodyPr anchor="t" rtlCol="false" tIns="0" lIns="0" bIns="0" rIns="0">
            <a:spAutoFit/>
          </a:bodyPr>
          <a:lstStyle/>
          <a:p>
            <a:pPr algn="l">
              <a:lnSpc>
                <a:spcPts val="5039"/>
              </a:lnSpc>
            </a:pPr>
            <a:r>
              <a:rPr lang="en-US" sz="4199" b="true">
                <a:solidFill>
                  <a:srgbClr val="132257"/>
                </a:solidFill>
                <a:latin typeface="Exo 2 Bold"/>
                <a:ea typeface="Exo 2 Bold"/>
                <a:cs typeface="Exo 2 Bold"/>
                <a:sym typeface="Exo 2 Bold"/>
              </a:rPr>
              <a:t>176</a:t>
            </a:r>
          </a:p>
        </p:txBody>
      </p:sp>
      <p:sp>
        <p:nvSpPr>
          <p:cNvPr name="TextBox 31" id="24"/>
          <p:cNvSpPr txBox="true"/>
          <p:nvPr/>
        </p:nvSpPr>
        <p:spPr>
          <a:xfrm rot="0">
            <a:off x="1202817" y="6556248"/>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sessions</a:t>
            </a:r>
          </a:p>
        </p:txBody>
      </p:sp>
      <p:sp>
        <p:nvSpPr>
          <p:cNvPr name="TextBox 32" id="25"/>
          <p:cNvSpPr txBox="true"/>
          <p:nvPr/>
        </p:nvSpPr>
        <p:spPr>
          <a:xfrm rot="0">
            <a:off x="4220337" y="6052947"/>
            <a:ext cx="2880360" cy="647700"/>
          </a:xfrm>
          <a:prstGeom prst="rect">
            <a:avLst/>
          </a:prstGeom>
        </p:spPr>
        <p:txBody>
          <a:bodyPr anchor="t" rtlCol="false" tIns="0" lIns="0" bIns="0" rIns="0">
            <a:spAutoFit/>
          </a:bodyPr>
          <a:lstStyle/>
          <a:p>
            <a:pPr algn="l">
              <a:lnSpc>
                <a:spcPts val="5039"/>
              </a:lnSpc>
            </a:pPr>
            <a:r>
              <a:rPr lang="en-US" sz="4199" b="true">
                <a:solidFill>
                  <a:srgbClr val="132257"/>
                </a:solidFill>
                <a:latin typeface="Exo 2 Bold"/>
                <a:ea typeface="Exo 2 Bold"/>
                <a:cs typeface="Exo 2 Bold"/>
                <a:sym typeface="Exo 2 Bold"/>
              </a:rPr>
              <a:t>86.9%</a:t>
            </a:r>
          </a:p>
        </p:txBody>
      </p:sp>
      <p:sp>
        <p:nvSpPr>
          <p:cNvPr name="TextBox 33" id="26"/>
          <p:cNvSpPr txBox="true"/>
          <p:nvPr/>
        </p:nvSpPr>
        <p:spPr>
          <a:xfrm rot="0">
            <a:off x="4220337" y="6556248"/>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engagement rate</a:t>
            </a:r>
          </a:p>
        </p:txBody>
      </p:sp>
      <p:sp>
        <p:nvSpPr>
          <p:cNvPr name="TextBox 34" id="27"/>
          <p:cNvSpPr txBox="true"/>
          <p:nvPr/>
        </p:nvSpPr>
        <p:spPr>
          <a:xfrm rot="0">
            <a:off x="1202817" y="7013067"/>
            <a:ext cx="2880360" cy="647700"/>
          </a:xfrm>
          <a:prstGeom prst="rect">
            <a:avLst/>
          </a:prstGeom>
        </p:spPr>
        <p:txBody>
          <a:bodyPr anchor="t" rtlCol="false" tIns="0" lIns="0" bIns="0" rIns="0">
            <a:spAutoFit/>
          </a:bodyPr>
          <a:lstStyle/>
          <a:p>
            <a:pPr algn="l">
              <a:lnSpc>
                <a:spcPts val="5039"/>
              </a:lnSpc>
            </a:pPr>
            <a:r>
              <a:rPr lang="en-US" sz="4199" b="true">
                <a:solidFill>
                  <a:srgbClr val="132257"/>
                </a:solidFill>
                <a:latin typeface="Exo 2 Bold"/>
                <a:ea typeface="Exo 2 Bold"/>
                <a:cs typeface="Exo 2 Bold"/>
                <a:sym typeface="Exo 2 Bold"/>
              </a:rPr>
              <a:t>16.0s</a:t>
            </a:r>
          </a:p>
        </p:txBody>
      </p:sp>
      <p:sp>
        <p:nvSpPr>
          <p:cNvPr name="TextBox 35" id="28"/>
          <p:cNvSpPr txBox="true"/>
          <p:nvPr/>
        </p:nvSpPr>
        <p:spPr>
          <a:xfrm rot="0">
            <a:off x="1202817" y="7516368"/>
            <a:ext cx="2880360" cy="381000"/>
          </a:xfrm>
          <a:prstGeom prst="rect">
            <a:avLst/>
          </a:prstGeom>
        </p:spPr>
        <p:txBody>
          <a:bodyPr anchor="t" rtlCol="false" tIns="0" lIns="0" bIns="0" rIns="0">
            <a:spAutoFit/>
          </a:bodyPr>
          <a:lstStyle/>
          <a:p>
            <a:pPr algn="l">
              <a:lnSpc>
                <a:spcPts val="3059"/>
              </a:lnSpc>
            </a:pPr>
            <a:r>
              <a:rPr lang="en-US" sz="2549">
                <a:solidFill>
                  <a:srgbClr val="7A849C"/>
                </a:solidFill>
                <a:latin typeface="Exo 2"/>
                <a:ea typeface="Exo 2"/>
                <a:cs typeface="Exo 2"/>
                <a:sym typeface="Exo 2"/>
              </a:rPr>
              <a:t>per session</a:t>
            </a:r>
          </a:p>
        </p:txBody>
      </p:sp>
      <p:sp>
        <p:nvSpPr>
          <p:cNvPr name="TextBox 36" id="29"/>
          <p:cNvSpPr txBox="true"/>
          <p:nvPr/>
        </p:nvSpPr>
        <p:spPr>
          <a:xfrm rot="0">
            <a:off x="7621905" y="2194560"/>
            <a:ext cx="9834372" cy="411480"/>
          </a:xfrm>
          <a:prstGeom prst="rect">
            <a:avLst/>
          </a:prstGeom>
        </p:spPr>
        <p:txBody>
          <a:bodyPr anchor="t" rtlCol="false" tIns="0" lIns="0" bIns="0" rIns="0">
            <a:spAutoFit/>
          </a:bodyPr>
          <a:lstStyle/>
          <a:p>
            <a:pPr algn="ctr">
              <a:lnSpc>
                <a:spcPts val="1980"/>
              </a:lnSpc>
            </a:pPr>
            <a:r>
              <a:rPr lang="en-US" sz="1650">
                <a:solidFill>
                  <a:srgbClr val="132257"/>
                </a:solidFill>
                <a:latin typeface="Exo 2"/>
                <a:ea typeface="Exo 2"/>
                <a:cs typeface="Exo 2"/>
                <a:sym typeface="Exo 2"/>
              </a:rPr>
              <a:t>English relative to Arabic, % difference, 1-28 Sep</a:t>
            </a:r>
          </a:p>
        </p:txBody>
      </p:sp>
      <p:sp>
        <p:nvSpPr>
          <p:cNvPr name="AutoShape 37" id="30"/>
          <p:cNvSpPr/>
          <p:nvPr/>
        </p:nvSpPr>
        <p:spPr>
          <a:xfrm>
            <a:off x="12278572" y="2733674"/>
            <a:ext cx="0" cy="4406266"/>
          </a:xfrm>
          <a:prstGeom prst="line">
            <a:avLst/>
          </a:prstGeom>
          <a:ln cap="rnd" w="9525">
            <a:solidFill>
              <a:srgbClr val="C6CFE4"/>
            </a:solidFill>
            <a:prstDash val="solid"/>
            <a:headEnd type="none" len="sm" w="sm"/>
            <a:tailEnd type="none" len="sm" w="sm"/>
          </a:ln>
        </p:spPr>
      </p:sp>
      <p:grpSp>
        <p:nvGrpSpPr>
          <p:cNvPr name="Group 38" id="31"/>
          <p:cNvGrpSpPr/>
          <p:nvPr/>
        </p:nvGrpSpPr>
        <p:grpSpPr>
          <a:xfrm rot="0">
            <a:off x="7621905" y="2811780"/>
            <a:ext cx="2674620" cy="541020"/>
            <a:chOff x="0" y="0"/>
            <a:chExt cx="3566160" cy="721360"/>
          </a:xfrm>
        </p:grpSpPr>
        <p:sp>
          <p:nvSpPr>
            <p:cNvPr name="Freeform 39" id="32"/>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40" id="33"/>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Sessions</a:t>
              </a:r>
            </a:p>
          </p:txBody>
        </p:sp>
      </p:grpSp>
      <p:grpSp>
        <p:nvGrpSpPr>
          <p:cNvPr name="Group 41" id="34"/>
          <p:cNvGrpSpPr/>
          <p:nvPr/>
        </p:nvGrpSpPr>
        <p:grpSpPr>
          <a:xfrm rot="0">
            <a:off x="12278563" y="2905049"/>
            <a:ext cx="1919811" cy="354482"/>
            <a:chOff x="0" y="0"/>
            <a:chExt cx="2559748" cy="472643"/>
          </a:xfrm>
        </p:grpSpPr>
        <p:sp>
          <p:nvSpPr>
            <p:cNvPr name="Freeform 42" id="35"/>
            <p:cNvSpPr/>
            <p:nvPr/>
          </p:nvSpPr>
          <p:spPr>
            <a:xfrm flipH="false" flipV="false" rot="0">
              <a:off x="0" y="0"/>
              <a:ext cx="2559812" cy="472694"/>
            </a:xfrm>
            <a:custGeom>
              <a:avLst/>
              <a:gdLst/>
              <a:ahLst/>
              <a:cxnLst/>
              <a:rect r="r" b="b" t="t" l="l"/>
              <a:pathLst>
                <a:path h="472694" w="2559812">
                  <a:moveTo>
                    <a:pt x="0" y="0"/>
                  </a:moveTo>
                  <a:lnTo>
                    <a:pt x="2559812" y="0"/>
                  </a:lnTo>
                  <a:lnTo>
                    <a:pt x="2559812" y="472694"/>
                  </a:lnTo>
                  <a:lnTo>
                    <a:pt x="0" y="472694"/>
                  </a:lnTo>
                  <a:close/>
                </a:path>
              </a:pathLst>
            </a:custGeom>
            <a:solidFill>
              <a:srgbClr val="132257"/>
            </a:solidFill>
            <a:ln w="19050" cap="sq">
              <a:solidFill>
                <a:srgbClr val="132257"/>
              </a:solidFill>
              <a:prstDash val="solid"/>
              <a:miter/>
            </a:ln>
          </p:spPr>
        </p:sp>
      </p:grpSp>
      <p:grpSp>
        <p:nvGrpSpPr>
          <p:cNvPr name="Group 43" id="36"/>
          <p:cNvGrpSpPr/>
          <p:nvPr/>
        </p:nvGrpSpPr>
        <p:grpSpPr>
          <a:xfrm rot="0">
            <a:off x="14257430" y="2914574"/>
            <a:ext cx="1097280" cy="335432"/>
            <a:chOff x="0" y="0"/>
            <a:chExt cx="1463040" cy="447243"/>
          </a:xfrm>
        </p:grpSpPr>
        <p:sp>
          <p:nvSpPr>
            <p:cNvPr name="Freeform 44" id="37"/>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45" id="38"/>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+20.5%</a:t>
              </a:r>
            </a:p>
          </p:txBody>
        </p:sp>
      </p:grpSp>
      <p:grpSp>
        <p:nvGrpSpPr>
          <p:cNvPr name="Group 46" id="39"/>
          <p:cNvGrpSpPr/>
          <p:nvPr/>
        </p:nvGrpSpPr>
        <p:grpSpPr>
          <a:xfrm rot="0">
            <a:off x="7621905" y="3352800"/>
            <a:ext cx="2674620" cy="541020"/>
            <a:chOff x="0" y="0"/>
            <a:chExt cx="3566160" cy="721360"/>
          </a:xfrm>
        </p:grpSpPr>
        <p:sp>
          <p:nvSpPr>
            <p:cNvPr name="Freeform 47" id="40"/>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48" id="41"/>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Active users</a:t>
              </a:r>
            </a:p>
          </p:txBody>
        </p:sp>
      </p:grpSp>
      <p:grpSp>
        <p:nvGrpSpPr>
          <p:cNvPr name="Group 49" id="42"/>
          <p:cNvGrpSpPr/>
          <p:nvPr/>
        </p:nvGrpSpPr>
        <p:grpSpPr>
          <a:xfrm rot="0">
            <a:off x="12278563" y="3446069"/>
            <a:ext cx="1771459" cy="354482"/>
            <a:chOff x="0" y="0"/>
            <a:chExt cx="2361946" cy="472643"/>
          </a:xfrm>
        </p:grpSpPr>
        <p:sp>
          <p:nvSpPr>
            <p:cNvPr name="Freeform 50" id="43"/>
            <p:cNvSpPr/>
            <p:nvPr/>
          </p:nvSpPr>
          <p:spPr>
            <a:xfrm flipH="false" flipV="false" rot="0">
              <a:off x="0" y="0"/>
              <a:ext cx="2361946" cy="472694"/>
            </a:xfrm>
            <a:custGeom>
              <a:avLst/>
              <a:gdLst/>
              <a:ahLst/>
              <a:cxnLst/>
              <a:rect r="r" b="b" t="t" l="l"/>
              <a:pathLst>
                <a:path h="472694" w="2361946">
                  <a:moveTo>
                    <a:pt x="0" y="0"/>
                  </a:moveTo>
                  <a:lnTo>
                    <a:pt x="2361946" y="0"/>
                  </a:lnTo>
                  <a:lnTo>
                    <a:pt x="2361946" y="472694"/>
                  </a:lnTo>
                  <a:lnTo>
                    <a:pt x="0" y="472694"/>
                  </a:lnTo>
                  <a:close/>
                </a:path>
              </a:pathLst>
            </a:custGeom>
            <a:solidFill>
              <a:srgbClr val="132257"/>
            </a:solidFill>
            <a:ln w="19050" cap="sq">
              <a:solidFill>
                <a:srgbClr val="132257"/>
              </a:solidFill>
              <a:prstDash val="solid"/>
              <a:miter/>
            </a:ln>
          </p:spPr>
        </p:sp>
      </p:grpSp>
      <p:grpSp>
        <p:nvGrpSpPr>
          <p:cNvPr name="Group 51" id="44"/>
          <p:cNvGrpSpPr/>
          <p:nvPr/>
        </p:nvGrpSpPr>
        <p:grpSpPr>
          <a:xfrm rot="0">
            <a:off x="14109078" y="3455594"/>
            <a:ext cx="1097280" cy="335432"/>
            <a:chOff x="0" y="0"/>
            <a:chExt cx="1463040" cy="447243"/>
          </a:xfrm>
        </p:grpSpPr>
        <p:sp>
          <p:nvSpPr>
            <p:cNvPr name="Freeform 52" id="45"/>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53" id="46"/>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+18.9%</a:t>
              </a:r>
            </a:p>
          </p:txBody>
        </p:sp>
      </p:grpSp>
      <p:grpSp>
        <p:nvGrpSpPr>
          <p:cNvPr name="Group 54" id="47"/>
          <p:cNvGrpSpPr/>
          <p:nvPr/>
        </p:nvGrpSpPr>
        <p:grpSpPr>
          <a:xfrm rot="0">
            <a:off x="7621905" y="3893820"/>
            <a:ext cx="2674620" cy="541020"/>
            <a:chOff x="0" y="0"/>
            <a:chExt cx="3566160" cy="721360"/>
          </a:xfrm>
        </p:grpSpPr>
        <p:sp>
          <p:nvSpPr>
            <p:cNvPr name="Freeform 55" id="48"/>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56" id="49"/>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Engaged sessions</a:t>
              </a:r>
            </a:p>
          </p:txBody>
        </p:sp>
      </p:grpSp>
      <p:grpSp>
        <p:nvGrpSpPr>
          <p:cNvPr name="Group 57" id="50"/>
          <p:cNvGrpSpPr/>
          <p:nvPr/>
        </p:nvGrpSpPr>
        <p:grpSpPr>
          <a:xfrm rot="0">
            <a:off x="12278563" y="3987089"/>
            <a:ext cx="3227165" cy="354482"/>
            <a:chOff x="0" y="0"/>
            <a:chExt cx="4302887" cy="472643"/>
          </a:xfrm>
        </p:grpSpPr>
        <p:sp>
          <p:nvSpPr>
            <p:cNvPr name="Freeform 58" id="51"/>
            <p:cNvSpPr/>
            <p:nvPr/>
          </p:nvSpPr>
          <p:spPr>
            <a:xfrm flipH="false" flipV="false" rot="0">
              <a:off x="0" y="0"/>
              <a:ext cx="4302887" cy="472694"/>
            </a:xfrm>
            <a:custGeom>
              <a:avLst/>
              <a:gdLst/>
              <a:ahLst/>
              <a:cxnLst/>
              <a:rect r="r" b="b" t="t" l="l"/>
              <a:pathLst>
                <a:path h="472694" w="4302887">
                  <a:moveTo>
                    <a:pt x="0" y="0"/>
                  </a:moveTo>
                  <a:lnTo>
                    <a:pt x="4302887" y="0"/>
                  </a:lnTo>
                  <a:lnTo>
                    <a:pt x="4302887" y="472694"/>
                  </a:lnTo>
                  <a:lnTo>
                    <a:pt x="0" y="472694"/>
                  </a:lnTo>
                  <a:close/>
                </a:path>
              </a:pathLst>
            </a:custGeom>
            <a:solidFill>
              <a:srgbClr val="132257"/>
            </a:solidFill>
            <a:ln w="19050" cap="sq">
              <a:solidFill>
                <a:srgbClr val="132257"/>
              </a:solidFill>
              <a:prstDash val="solid"/>
              <a:miter/>
            </a:ln>
          </p:spPr>
        </p:sp>
      </p:grpSp>
      <p:grpSp>
        <p:nvGrpSpPr>
          <p:cNvPr name="Group 59" id="52"/>
          <p:cNvGrpSpPr/>
          <p:nvPr/>
        </p:nvGrpSpPr>
        <p:grpSpPr>
          <a:xfrm rot="0">
            <a:off x="15564783" y="3996614"/>
            <a:ext cx="1097280" cy="335432"/>
            <a:chOff x="0" y="0"/>
            <a:chExt cx="1463040" cy="447243"/>
          </a:xfrm>
        </p:grpSpPr>
        <p:sp>
          <p:nvSpPr>
            <p:cNvPr name="Freeform 60" id="53"/>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61" id="54"/>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+34.6%</a:t>
              </a:r>
            </a:p>
          </p:txBody>
        </p:sp>
      </p:grpSp>
      <p:grpSp>
        <p:nvGrpSpPr>
          <p:cNvPr name="Group 62" id="55"/>
          <p:cNvGrpSpPr/>
          <p:nvPr/>
        </p:nvGrpSpPr>
        <p:grpSpPr>
          <a:xfrm rot="0">
            <a:off x="7621905" y="4434840"/>
            <a:ext cx="2674620" cy="541020"/>
            <a:chOff x="0" y="0"/>
            <a:chExt cx="3566160" cy="721360"/>
          </a:xfrm>
        </p:grpSpPr>
        <p:sp>
          <p:nvSpPr>
            <p:cNvPr name="Freeform 63" id="56"/>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64" id="57"/>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Engagement rate</a:t>
              </a:r>
            </a:p>
          </p:txBody>
        </p:sp>
      </p:grpSp>
      <p:grpSp>
        <p:nvGrpSpPr>
          <p:cNvPr name="Group 65" id="58"/>
          <p:cNvGrpSpPr/>
          <p:nvPr/>
        </p:nvGrpSpPr>
        <p:grpSpPr>
          <a:xfrm rot="0">
            <a:off x="12278563" y="4528109"/>
            <a:ext cx="1113149" cy="354482"/>
            <a:chOff x="0" y="0"/>
            <a:chExt cx="1484198" cy="472643"/>
          </a:xfrm>
        </p:grpSpPr>
        <p:sp>
          <p:nvSpPr>
            <p:cNvPr name="Freeform 66" id="59"/>
            <p:cNvSpPr/>
            <p:nvPr/>
          </p:nvSpPr>
          <p:spPr>
            <a:xfrm flipH="false" flipV="false" rot="0">
              <a:off x="0" y="0"/>
              <a:ext cx="1484249" cy="472694"/>
            </a:xfrm>
            <a:custGeom>
              <a:avLst/>
              <a:gdLst/>
              <a:ahLst/>
              <a:cxnLst/>
              <a:rect r="r" b="b" t="t" l="l"/>
              <a:pathLst>
                <a:path h="472694" w="1484249">
                  <a:moveTo>
                    <a:pt x="0" y="0"/>
                  </a:moveTo>
                  <a:lnTo>
                    <a:pt x="1484249" y="0"/>
                  </a:lnTo>
                  <a:lnTo>
                    <a:pt x="1484249" y="472694"/>
                  </a:lnTo>
                  <a:lnTo>
                    <a:pt x="0" y="472694"/>
                  </a:lnTo>
                  <a:close/>
                </a:path>
              </a:pathLst>
            </a:custGeom>
            <a:solidFill>
              <a:srgbClr val="132257"/>
            </a:solidFill>
            <a:ln w="19050" cap="sq">
              <a:solidFill>
                <a:srgbClr val="132257"/>
              </a:solidFill>
              <a:prstDash val="solid"/>
              <a:miter/>
            </a:ln>
          </p:spPr>
        </p:sp>
      </p:grpSp>
      <p:grpSp>
        <p:nvGrpSpPr>
          <p:cNvPr name="Group 67" id="60"/>
          <p:cNvGrpSpPr/>
          <p:nvPr/>
        </p:nvGrpSpPr>
        <p:grpSpPr>
          <a:xfrm rot="0">
            <a:off x="13450767" y="4537634"/>
            <a:ext cx="1097280" cy="335432"/>
            <a:chOff x="0" y="0"/>
            <a:chExt cx="1463040" cy="447243"/>
          </a:xfrm>
        </p:grpSpPr>
        <p:sp>
          <p:nvSpPr>
            <p:cNvPr name="Freeform 68" id="61"/>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69" id="62"/>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+11.8%</a:t>
              </a:r>
            </a:p>
          </p:txBody>
        </p:sp>
      </p:grpSp>
      <p:grpSp>
        <p:nvGrpSpPr>
          <p:cNvPr name="Group 70" id="63"/>
          <p:cNvGrpSpPr/>
          <p:nvPr/>
        </p:nvGrpSpPr>
        <p:grpSpPr>
          <a:xfrm rot="0">
            <a:off x="7621905" y="4975860"/>
            <a:ext cx="2674620" cy="541020"/>
            <a:chOff x="0" y="0"/>
            <a:chExt cx="3566160" cy="721360"/>
          </a:xfrm>
        </p:grpSpPr>
        <p:sp>
          <p:nvSpPr>
            <p:cNvPr name="Freeform 71" id="64"/>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72" id="65"/>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Time per session</a:t>
              </a:r>
            </a:p>
          </p:txBody>
        </p:sp>
      </p:grpSp>
      <p:grpSp>
        <p:nvGrpSpPr>
          <p:cNvPr name="Group 73" id="66"/>
          <p:cNvGrpSpPr/>
          <p:nvPr/>
        </p:nvGrpSpPr>
        <p:grpSpPr>
          <a:xfrm rot="0">
            <a:off x="12278563" y="5069129"/>
            <a:ext cx="2262873" cy="354482"/>
            <a:chOff x="0" y="0"/>
            <a:chExt cx="3017164" cy="472643"/>
          </a:xfrm>
        </p:grpSpPr>
        <p:sp>
          <p:nvSpPr>
            <p:cNvPr name="Freeform 74" id="67"/>
            <p:cNvSpPr/>
            <p:nvPr/>
          </p:nvSpPr>
          <p:spPr>
            <a:xfrm flipH="false" flipV="false" rot="0">
              <a:off x="0" y="0"/>
              <a:ext cx="3017139" cy="472694"/>
            </a:xfrm>
            <a:custGeom>
              <a:avLst/>
              <a:gdLst/>
              <a:ahLst/>
              <a:cxnLst/>
              <a:rect r="r" b="b" t="t" l="l"/>
              <a:pathLst>
                <a:path h="472694" w="3017139">
                  <a:moveTo>
                    <a:pt x="0" y="0"/>
                  </a:moveTo>
                  <a:lnTo>
                    <a:pt x="3017139" y="0"/>
                  </a:lnTo>
                  <a:lnTo>
                    <a:pt x="3017139" y="472694"/>
                  </a:lnTo>
                  <a:lnTo>
                    <a:pt x="0" y="472694"/>
                  </a:lnTo>
                  <a:close/>
                </a:path>
              </a:pathLst>
            </a:custGeom>
            <a:solidFill>
              <a:srgbClr val="132257"/>
            </a:solidFill>
            <a:ln w="19050" cap="sq">
              <a:solidFill>
                <a:srgbClr val="132257"/>
              </a:solidFill>
              <a:prstDash val="solid"/>
              <a:miter/>
            </a:ln>
          </p:spPr>
        </p:sp>
      </p:grpSp>
      <p:grpSp>
        <p:nvGrpSpPr>
          <p:cNvPr name="Group 75" id="68"/>
          <p:cNvGrpSpPr/>
          <p:nvPr/>
        </p:nvGrpSpPr>
        <p:grpSpPr>
          <a:xfrm rot="0">
            <a:off x="14600492" y="5078654"/>
            <a:ext cx="1097280" cy="335432"/>
            <a:chOff x="0" y="0"/>
            <a:chExt cx="1463040" cy="447243"/>
          </a:xfrm>
        </p:grpSpPr>
        <p:sp>
          <p:nvSpPr>
            <p:cNvPr name="Freeform 76" id="69"/>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77" id="70"/>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+24.2%</a:t>
              </a:r>
            </a:p>
          </p:txBody>
        </p:sp>
      </p:grpSp>
      <p:grpSp>
        <p:nvGrpSpPr>
          <p:cNvPr name="Group 78" id="71"/>
          <p:cNvGrpSpPr/>
          <p:nvPr/>
        </p:nvGrpSpPr>
        <p:grpSpPr>
          <a:xfrm rot="0">
            <a:off x="7621905" y="5516880"/>
            <a:ext cx="2674620" cy="541020"/>
            <a:chOff x="0" y="0"/>
            <a:chExt cx="3566160" cy="721360"/>
          </a:xfrm>
        </p:grpSpPr>
        <p:sp>
          <p:nvSpPr>
            <p:cNvPr name="Freeform 79" id="72"/>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80" id="73"/>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Events per session</a:t>
              </a:r>
            </a:p>
          </p:txBody>
        </p:sp>
      </p:grpSp>
      <p:grpSp>
        <p:nvGrpSpPr>
          <p:cNvPr name="Group 81" id="74"/>
          <p:cNvGrpSpPr/>
          <p:nvPr/>
        </p:nvGrpSpPr>
        <p:grpSpPr>
          <a:xfrm rot="0">
            <a:off x="12278563" y="5610149"/>
            <a:ext cx="1799273" cy="354482"/>
            <a:chOff x="0" y="0"/>
            <a:chExt cx="2399030" cy="472643"/>
          </a:xfrm>
        </p:grpSpPr>
        <p:sp>
          <p:nvSpPr>
            <p:cNvPr name="Freeform 82" id="75"/>
            <p:cNvSpPr/>
            <p:nvPr/>
          </p:nvSpPr>
          <p:spPr>
            <a:xfrm flipH="false" flipV="false" rot="0">
              <a:off x="0" y="0"/>
              <a:ext cx="2399030" cy="472694"/>
            </a:xfrm>
            <a:custGeom>
              <a:avLst/>
              <a:gdLst/>
              <a:ahLst/>
              <a:cxnLst/>
              <a:rect r="r" b="b" t="t" l="l"/>
              <a:pathLst>
                <a:path h="472694" w="2399030">
                  <a:moveTo>
                    <a:pt x="0" y="0"/>
                  </a:moveTo>
                  <a:lnTo>
                    <a:pt x="2399030" y="0"/>
                  </a:lnTo>
                  <a:lnTo>
                    <a:pt x="2399030" y="472694"/>
                  </a:lnTo>
                  <a:lnTo>
                    <a:pt x="0" y="472694"/>
                  </a:lnTo>
                  <a:close/>
                </a:path>
              </a:pathLst>
            </a:custGeom>
            <a:solidFill>
              <a:srgbClr val="132257"/>
            </a:solidFill>
            <a:ln w="19050" cap="sq">
              <a:solidFill>
                <a:srgbClr val="132257"/>
              </a:solidFill>
              <a:prstDash val="solid"/>
              <a:miter/>
            </a:ln>
          </p:spPr>
        </p:sp>
      </p:grpSp>
      <p:grpSp>
        <p:nvGrpSpPr>
          <p:cNvPr name="Group 83" id="76"/>
          <p:cNvGrpSpPr/>
          <p:nvPr/>
        </p:nvGrpSpPr>
        <p:grpSpPr>
          <a:xfrm rot="0">
            <a:off x="14136900" y="5619674"/>
            <a:ext cx="1097280" cy="335432"/>
            <a:chOff x="0" y="0"/>
            <a:chExt cx="1463040" cy="447243"/>
          </a:xfrm>
        </p:grpSpPr>
        <p:sp>
          <p:nvSpPr>
            <p:cNvPr name="Freeform 84" id="77"/>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85" id="78"/>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+19.2%</a:t>
              </a:r>
            </a:p>
          </p:txBody>
        </p:sp>
      </p:grpSp>
      <p:grpSp>
        <p:nvGrpSpPr>
          <p:cNvPr name="Group 86" id="79"/>
          <p:cNvGrpSpPr/>
          <p:nvPr/>
        </p:nvGrpSpPr>
        <p:grpSpPr>
          <a:xfrm rot="0">
            <a:off x="7621905" y="6057900"/>
            <a:ext cx="2674620" cy="541020"/>
            <a:chOff x="0" y="0"/>
            <a:chExt cx="3566160" cy="721360"/>
          </a:xfrm>
        </p:grpSpPr>
        <p:sp>
          <p:nvSpPr>
            <p:cNvPr name="Freeform 87" id="80"/>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88" id="81"/>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Total events</a:t>
              </a:r>
            </a:p>
          </p:txBody>
        </p:sp>
      </p:grpSp>
      <p:grpSp>
        <p:nvGrpSpPr>
          <p:cNvPr name="Group 89" id="82"/>
          <p:cNvGrpSpPr/>
          <p:nvPr/>
        </p:nvGrpSpPr>
        <p:grpSpPr>
          <a:xfrm rot="0">
            <a:off x="12278563" y="6151169"/>
            <a:ext cx="4061650" cy="354482"/>
            <a:chOff x="0" y="0"/>
            <a:chExt cx="5415534" cy="472643"/>
          </a:xfrm>
        </p:grpSpPr>
        <p:sp>
          <p:nvSpPr>
            <p:cNvPr name="Freeform 90" id="83"/>
            <p:cNvSpPr/>
            <p:nvPr/>
          </p:nvSpPr>
          <p:spPr>
            <a:xfrm flipH="false" flipV="false" rot="0">
              <a:off x="0" y="0"/>
              <a:ext cx="5415534" cy="472694"/>
            </a:xfrm>
            <a:custGeom>
              <a:avLst/>
              <a:gdLst/>
              <a:ahLst/>
              <a:cxnLst/>
              <a:rect r="r" b="b" t="t" l="l"/>
              <a:pathLst>
                <a:path h="472694" w="5415534">
                  <a:moveTo>
                    <a:pt x="0" y="0"/>
                  </a:moveTo>
                  <a:lnTo>
                    <a:pt x="5415534" y="0"/>
                  </a:lnTo>
                  <a:lnTo>
                    <a:pt x="5415534" y="472694"/>
                  </a:lnTo>
                  <a:lnTo>
                    <a:pt x="0" y="472694"/>
                  </a:lnTo>
                  <a:close/>
                </a:path>
              </a:pathLst>
            </a:custGeom>
            <a:solidFill>
              <a:srgbClr val="132257"/>
            </a:solidFill>
            <a:ln w="19050" cap="sq">
              <a:solidFill>
                <a:srgbClr val="132257"/>
              </a:solidFill>
              <a:prstDash val="solid"/>
              <a:miter/>
            </a:ln>
          </p:spPr>
        </p:sp>
      </p:grpSp>
      <p:grpSp>
        <p:nvGrpSpPr>
          <p:cNvPr name="Group 91" id="84"/>
          <p:cNvGrpSpPr/>
          <p:nvPr/>
        </p:nvGrpSpPr>
        <p:grpSpPr>
          <a:xfrm rot="0">
            <a:off x="16399269" y="6160694"/>
            <a:ext cx="1097280" cy="335432"/>
            <a:chOff x="0" y="0"/>
            <a:chExt cx="1463040" cy="447243"/>
          </a:xfrm>
        </p:grpSpPr>
        <p:sp>
          <p:nvSpPr>
            <p:cNvPr name="Freeform 92" id="85"/>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93" id="86"/>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+43.6%</a:t>
              </a:r>
            </a:p>
          </p:txBody>
        </p:sp>
      </p:grpSp>
      <p:grpSp>
        <p:nvGrpSpPr>
          <p:cNvPr name="Group 94" id="87"/>
          <p:cNvGrpSpPr/>
          <p:nvPr/>
        </p:nvGrpSpPr>
        <p:grpSpPr>
          <a:xfrm rot="0">
            <a:off x="7621905" y="6598920"/>
            <a:ext cx="2674620" cy="541020"/>
            <a:chOff x="0" y="0"/>
            <a:chExt cx="3566160" cy="721360"/>
          </a:xfrm>
        </p:grpSpPr>
        <p:sp>
          <p:nvSpPr>
            <p:cNvPr name="Freeform 95" id="88"/>
            <p:cNvSpPr/>
            <p:nvPr/>
          </p:nvSpPr>
          <p:spPr>
            <a:xfrm flipH="false" flipV="false" rot="0">
              <a:off x="0" y="0"/>
              <a:ext cx="3566160" cy="721360"/>
            </a:xfrm>
            <a:custGeom>
              <a:avLst/>
              <a:gdLst/>
              <a:ahLst/>
              <a:cxnLst/>
              <a:rect r="r" b="b" t="t" l="l"/>
              <a:pathLst>
                <a:path h="721360" w="3566160">
                  <a:moveTo>
                    <a:pt x="0" y="0"/>
                  </a:moveTo>
                  <a:lnTo>
                    <a:pt x="3566160" y="0"/>
                  </a:lnTo>
                  <a:lnTo>
                    <a:pt x="3566160" y="721360"/>
                  </a:lnTo>
                  <a:lnTo>
                    <a:pt x="0" y="721360"/>
                  </a:lnTo>
                  <a:close/>
                </a:path>
              </a:pathLst>
            </a:custGeom>
            <a:blipFill>
              <a:blip r:embed="rId4">
                <a:alphaModFix amt="0"/>
              </a:blip>
              <a:stretch>
                <a:fillRect l="0" t="-46327" r="0" b="-46327"/>
              </a:stretch>
            </a:blipFill>
          </p:spPr>
        </p:sp>
        <p:sp>
          <p:nvSpPr>
            <p:cNvPr name="TextBox 96" id="89"/>
            <p:cNvSpPr txBox="true"/>
            <p:nvPr/>
          </p:nvSpPr>
          <p:spPr>
            <a:xfrm>
              <a:off x="0" y="0"/>
              <a:ext cx="3566160" cy="721360"/>
            </a:xfrm>
            <a:prstGeom prst="rect">
              <a:avLst/>
            </a:prstGeom>
          </p:spPr>
          <p:txBody>
            <a:bodyPr anchor="ctr" rtlCol="false" tIns="0" lIns="0" bIns="0" rIns="0"/>
            <a:lstStyle/>
            <a:p>
              <a:pPr algn="r">
                <a:lnSpc>
                  <a:spcPts val="1889"/>
                </a:lnSpc>
              </a:pPr>
              <a:r>
                <a:rPr lang="en-US" sz="1575">
                  <a:solidFill>
                    <a:srgbClr val="1F2A44"/>
                  </a:solidFill>
                  <a:latin typeface="Exo 2"/>
                  <a:ea typeface="Exo 2"/>
                  <a:cs typeface="Exo 2"/>
                  <a:sym typeface="Exo 2"/>
                </a:rPr>
                <a:t>Key events</a:t>
              </a:r>
            </a:p>
          </p:txBody>
        </p:sp>
      </p:grpSp>
      <p:grpSp>
        <p:nvGrpSpPr>
          <p:cNvPr name="Group 97" id="90"/>
          <p:cNvGrpSpPr/>
          <p:nvPr/>
        </p:nvGrpSpPr>
        <p:grpSpPr>
          <a:xfrm rot="0">
            <a:off x="12278563" y="6692189"/>
            <a:ext cx="770087" cy="354482"/>
            <a:chOff x="0" y="0"/>
            <a:chExt cx="1026782" cy="472643"/>
          </a:xfrm>
        </p:grpSpPr>
        <p:sp>
          <p:nvSpPr>
            <p:cNvPr name="Freeform 98" id="91"/>
            <p:cNvSpPr/>
            <p:nvPr/>
          </p:nvSpPr>
          <p:spPr>
            <a:xfrm flipH="false" flipV="false" rot="0">
              <a:off x="0" y="0"/>
              <a:ext cx="1026795" cy="472694"/>
            </a:xfrm>
            <a:custGeom>
              <a:avLst/>
              <a:gdLst/>
              <a:ahLst/>
              <a:cxnLst/>
              <a:rect r="r" b="b" t="t" l="l"/>
              <a:pathLst>
                <a:path h="472694" w="1026795">
                  <a:moveTo>
                    <a:pt x="0" y="0"/>
                  </a:moveTo>
                  <a:lnTo>
                    <a:pt x="1026795" y="0"/>
                  </a:lnTo>
                  <a:lnTo>
                    <a:pt x="1026795" y="472694"/>
                  </a:lnTo>
                  <a:lnTo>
                    <a:pt x="0" y="472694"/>
                  </a:lnTo>
                  <a:close/>
                </a:path>
              </a:pathLst>
            </a:custGeom>
            <a:solidFill>
              <a:srgbClr val="132257"/>
            </a:solidFill>
            <a:ln w="19050" cap="sq">
              <a:solidFill>
                <a:srgbClr val="132257"/>
              </a:solidFill>
              <a:prstDash val="solid"/>
              <a:miter/>
            </a:ln>
          </p:spPr>
        </p:sp>
      </p:grpSp>
      <p:grpSp>
        <p:nvGrpSpPr>
          <p:cNvPr name="Group 99" id="92"/>
          <p:cNvGrpSpPr/>
          <p:nvPr/>
        </p:nvGrpSpPr>
        <p:grpSpPr>
          <a:xfrm rot="0">
            <a:off x="13107705" y="6701714"/>
            <a:ext cx="1097280" cy="335432"/>
            <a:chOff x="0" y="0"/>
            <a:chExt cx="1463040" cy="447243"/>
          </a:xfrm>
        </p:grpSpPr>
        <p:sp>
          <p:nvSpPr>
            <p:cNvPr name="Freeform 100" id="93"/>
            <p:cNvSpPr/>
            <p:nvPr/>
          </p:nvSpPr>
          <p:spPr>
            <a:xfrm flipH="false" flipV="false" rot="0">
              <a:off x="0" y="0"/>
              <a:ext cx="1463040" cy="447244"/>
            </a:xfrm>
            <a:custGeom>
              <a:avLst/>
              <a:gdLst/>
              <a:ahLst/>
              <a:cxnLst/>
              <a:rect r="r" b="b" t="t" l="l"/>
              <a:pathLst>
                <a:path h="447244" w="1463040">
                  <a:moveTo>
                    <a:pt x="0" y="0"/>
                  </a:moveTo>
                  <a:lnTo>
                    <a:pt x="1463040" y="0"/>
                  </a:lnTo>
                  <a:lnTo>
                    <a:pt x="1463040" y="447244"/>
                  </a:lnTo>
                  <a:lnTo>
                    <a:pt x="0" y="447244"/>
                  </a:lnTo>
                  <a:close/>
                </a:path>
              </a:pathLst>
            </a:custGeom>
            <a:blipFill>
              <a:blip r:embed="rId4">
                <a:alphaModFix amt="0"/>
              </a:blip>
              <a:stretch>
                <a:fillRect l="0" t="-13740" r="0" b="-13740"/>
              </a:stretch>
            </a:blipFill>
          </p:spPr>
        </p:sp>
        <p:sp>
          <p:nvSpPr>
            <p:cNvPr name="TextBox 101" id="94"/>
            <p:cNvSpPr txBox="true"/>
            <p:nvPr/>
          </p:nvSpPr>
          <p:spPr>
            <a:xfrm>
              <a:off x="0" y="-9525"/>
              <a:ext cx="1463040" cy="456768"/>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+8.1%</a:t>
              </a:r>
            </a:p>
          </p:txBody>
        </p:sp>
      </p:grpSp>
      <p:grpSp>
        <p:nvGrpSpPr>
          <p:cNvPr name="Group 102" id="95"/>
          <p:cNvGrpSpPr/>
          <p:nvPr/>
        </p:nvGrpSpPr>
        <p:grpSpPr>
          <a:xfrm rot="0">
            <a:off x="10016916" y="7547588"/>
            <a:ext cx="280459" cy="280459"/>
            <a:chOff x="0" y="0"/>
            <a:chExt cx="281432" cy="281432"/>
          </a:xfrm>
        </p:grpSpPr>
        <p:sp>
          <p:nvSpPr>
            <p:cNvPr name="Freeform 103" id="96"/>
            <p:cNvSpPr/>
            <p:nvPr/>
          </p:nvSpPr>
          <p:spPr>
            <a:xfrm flipH="false" flipV="false" rot="0">
              <a:off x="0" y="0"/>
              <a:ext cx="281432" cy="281432"/>
            </a:xfrm>
            <a:custGeom>
              <a:avLst/>
              <a:gdLst/>
              <a:ahLst/>
              <a:cxnLst/>
              <a:rect r="r" b="b" t="t" l="l"/>
              <a:pathLst>
                <a:path h="281432" w="281432">
                  <a:moveTo>
                    <a:pt x="0" y="0"/>
                  </a:moveTo>
                  <a:lnTo>
                    <a:pt x="281432" y="0"/>
                  </a:lnTo>
                  <a:lnTo>
                    <a:pt x="281432" y="281432"/>
                  </a:lnTo>
                  <a:lnTo>
                    <a:pt x="0" y="281432"/>
                  </a:lnTo>
                  <a:close/>
                </a:path>
              </a:pathLst>
            </a:custGeom>
            <a:solidFill>
              <a:srgbClr val="132257"/>
            </a:solidFill>
            <a:ln w="19050" cap="sq">
              <a:solidFill>
                <a:srgbClr val="132257"/>
              </a:solidFill>
              <a:prstDash val="solid"/>
              <a:miter/>
            </a:ln>
          </p:spPr>
        </p:sp>
      </p:grpSp>
      <p:grpSp>
        <p:nvGrpSpPr>
          <p:cNvPr name="Group 104" id="97"/>
          <p:cNvGrpSpPr/>
          <p:nvPr/>
        </p:nvGrpSpPr>
        <p:grpSpPr>
          <a:xfrm rot="0">
            <a:off x="10394068" y="7414446"/>
            <a:ext cx="1959167" cy="546744"/>
            <a:chOff x="0" y="0"/>
            <a:chExt cx="1965960" cy="548640"/>
          </a:xfrm>
        </p:grpSpPr>
        <p:sp>
          <p:nvSpPr>
            <p:cNvPr name="Freeform 105" id="98"/>
            <p:cNvSpPr/>
            <p:nvPr/>
          </p:nvSpPr>
          <p:spPr>
            <a:xfrm flipH="false" flipV="false" rot="0">
              <a:off x="0" y="0"/>
              <a:ext cx="1965960" cy="548640"/>
            </a:xfrm>
            <a:custGeom>
              <a:avLst/>
              <a:gdLst/>
              <a:ahLst/>
              <a:cxnLst/>
              <a:rect r="r" b="b" t="t" l="l"/>
              <a:pathLst>
                <a:path h="548640" w="1965960">
                  <a:moveTo>
                    <a:pt x="0" y="0"/>
                  </a:moveTo>
                  <a:lnTo>
                    <a:pt x="1965960" y="0"/>
                  </a:lnTo>
                  <a:lnTo>
                    <a:pt x="1965960" y="548640"/>
                  </a:lnTo>
                  <a:lnTo>
                    <a:pt x="0" y="548640"/>
                  </a:lnTo>
                  <a:close/>
                </a:path>
              </a:pathLst>
            </a:custGeom>
            <a:blipFill>
              <a:blip r:embed="rId4">
                <a:alphaModFix amt="0"/>
              </a:blip>
              <a:stretch>
                <a:fillRect l="0" t="-19821" r="0" b="-19821"/>
              </a:stretch>
            </a:blipFill>
          </p:spPr>
        </p:sp>
        <p:sp>
          <p:nvSpPr>
            <p:cNvPr name="TextBox 106" id="99"/>
            <p:cNvSpPr txBox="true"/>
            <p:nvPr/>
          </p:nvSpPr>
          <p:spPr>
            <a:xfrm>
              <a:off x="0" y="-9525"/>
              <a:ext cx="1965960" cy="558165"/>
            </a:xfrm>
            <a:prstGeom prst="rect">
              <a:avLst/>
            </a:prstGeom>
          </p:spPr>
          <p:txBody>
            <a:bodyPr anchor="ctr" rtlCol="false" tIns="0" lIns="0" bIns="0" rIns="0"/>
            <a:lstStyle/>
            <a:p>
              <a:pPr algn="l">
                <a:lnSpc>
                  <a:spcPts val="1800"/>
                </a:lnSpc>
              </a:pPr>
              <a:r>
                <a:rPr lang="en-US" sz="1500">
                  <a:solidFill>
                    <a:srgbClr val="1F2A44"/>
                  </a:solidFill>
                  <a:latin typeface="Exo 2"/>
                  <a:ea typeface="Exo 2"/>
                  <a:cs typeface="Exo 2"/>
                  <a:sym typeface="Exo 2"/>
                </a:rPr>
                <a:t>English ahead</a:t>
              </a:r>
            </a:p>
          </p:txBody>
        </p:sp>
      </p:grpSp>
      <p:grpSp>
        <p:nvGrpSpPr>
          <p:cNvPr name="Group 107" id="100"/>
          <p:cNvGrpSpPr/>
          <p:nvPr/>
        </p:nvGrpSpPr>
        <p:grpSpPr>
          <a:xfrm rot="0">
            <a:off x="12340578" y="7547588"/>
            <a:ext cx="280459" cy="280459"/>
            <a:chOff x="0" y="0"/>
            <a:chExt cx="281432" cy="281432"/>
          </a:xfrm>
        </p:grpSpPr>
        <p:sp>
          <p:nvSpPr>
            <p:cNvPr name="Freeform 108" id="101"/>
            <p:cNvSpPr/>
            <p:nvPr/>
          </p:nvSpPr>
          <p:spPr>
            <a:xfrm flipH="false" flipV="false" rot="0">
              <a:off x="0" y="0"/>
              <a:ext cx="281432" cy="281432"/>
            </a:xfrm>
            <a:custGeom>
              <a:avLst/>
              <a:gdLst/>
              <a:ahLst/>
              <a:cxnLst/>
              <a:rect r="r" b="b" t="t" l="l"/>
              <a:pathLst>
                <a:path h="281432" w="281432">
                  <a:moveTo>
                    <a:pt x="0" y="0"/>
                  </a:moveTo>
                  <a:lnTo>
                    <a:pt x="281432" y="0"/>
                  </a:lnTo>
                  <a:lnTo>
                    <a:pt x="281432" y="281432"/>
                  </a:lnTo>
                  <a:lnTo>
                    <a:pt x="0" y="281432"/>
                  </a:lnTo>
                  <a:close/>
                </a:path>
              </a:pathLst>
            </a:custGeom>
            <a:solidFill>
              <a:srgbClr val="D4AF37"/>
            </a:solidFill>
            <a:ln w="19050" cap="sq">
              <a:solidFill>
                <a:srgbClr val="D4AF37"/>
              </a:solidFill>
              <a:prstDash val="solid"/>
              <a:miter/>
            </a:ln>
          </p:spPr>
        </p:sp>
      </p:grpSp>
      <p:grpSp>
        <p:nvGrpSpPr>
          <p:cNvPr name="Group 109" id="102"/>
          <p:cNvGrpSpPr/>
          <p:nvPr/>
        </p:nvGrpSpPr>
        <p:grpSpPr>
          <a:xfrm rot="0">
            <a:off x="12717730" y="7414446"/>
            <a:ext cx="1822480" cy="546744"/>
            <a:chOff x="0" y="0"/>
            <a:chExt cx="1828800" cy="548640"/>
          </a:xfrm>
        </p:grpSpPr>
        <p:sp>
          <p:nvSpPr>
            <p:cNvPr name="Freeform 110" id="103"/>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111" id="104"/>
            <p:cNvSpPr txBox="true"/>
            <p:nvPr/>
          </p:nvSpPr>
          <p:spPr>
            <a:xfrm>
              <a:off x="0" y="-9525"/>
              <a:ext cx="1828800" cy="558165"/>
            </a:xfrm>
            <a:prstGeom prst="rect">
              <a:avLst/>
            </a:prstGeom>
          </p:spPr>
          <p:txBody>
            <a:bodyPr anchor="ctr" rtlCol="false" tIns="0" lIns="0" bIns="0" rIns="0"/>
            <a:lstStyle/>
            <a:p>
              <a:pPr algn="l">
                <a:lnSpc>
                  <a:spcPts val="1800"/>
                </a:lnSpc>
              </a:pPr>
              <a:r>
                <a:rPr lang="en-US" sz="1500">
                  <a:solidFill>
                    <a:srgbClr val="1F2A44"/>
                  </a:solidFill>
                  <a:latin typeface="Exo 2"/>
                  <a:ea typeface="Exo 2"/>
                  <a:cs typeface="Exo 2"/>
                  <a:sym typeface="Exo 2"/>
                </a:rPr>
                <a:t>Arabic ahead</a:t>
              </a:r>
            </a:p>
          </p:txBody>
        </p:sp>
      </p:grpSp>
      <p:sp>
        <p:nvSpPr>
          <p:cNvPr name="TextBox 9" id="105"/>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ENGLISH ADS LEAD ARABIC ON TRAFFIC AND ENGAGEMENT</a:t>
            </a:r>
          </a:p>
        </p:txBody>
      </p:sp>
      <p:sp>
        <p:nvSpPr>
          <p:cNvPr name="Freeform 54" id="106"/>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1"/>
            <a:stretch>
              <a:fillRect l="0" t="0" r="0" b="0"/>
            </a:stretch>
          </a:blipFill>
        </p:spPr>
      </p:sp>
      <p:grpSp>
        <p:nvGrpSpPr>
          <p:cNvPr name="Group 6" id="107"/>
          <p:cNvGrpSpPr/>
          <p:nvPr/>
        </p:nvGrpSpPr>
        <p:grpSpPr>
          <a:xfrm rot="0">
            <a:off x="850392" y="297596"/>
            <a:ext cx="13990320" cy="1124712"/>
            <a:chOff x="0" y="0"/>
            <a:chExt cx="18653760" cy="1499616"/>
          </a:xfrm>
        </p:grpSpPr>
        <p:sp>
          <p:nvSpPr>
            <p:cNvPr name="Freeform 7" id="108"/>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8" id="109"/>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English vs Arabic</a:t>
              </a:r>
            </a:p>
          </p:txBody>
        </p:sp>
      </p:grpSp>
      <p:grpSp>
        <p:nvGrpSpPr>
          <p:cNvPr name="Group 9" id="110"/>
          <p:cNvGrpSpPr/>
          <p:nvPr/>
        </p:nvGrpSpPr>
        <p:grpSpPr>
          <a:xfrm rot="0">
            <a:off x="15457932" y="571916"/>
            <a:ext cx="1988820" cy="576072"/>
            <a:chOff x="0" y="0"/>
            <a:chExt cx="2651760" cy="768096"/>
          </a:xfrm>
        </p:grpSpPr>
        <p:sp>
          <p:nvSpPr>
            <p:cNvPr name="Freeform 10" id="111"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3" id="112"/>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MARKETING</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3"/>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pic>
        <p:nvPicPr>
          <p:cNvPr name="Picture 13" id="7">
            <a:hlinkClick action="ppaction://media"/>
          </p:cNvPr>
          <p:cNvPicPr>
            <a:picLocks noChangeAspect="true"/>
          </p:cNvPicPr>
          <p:nvPr>
            <a:videoFile r:link="rId8"/>
            <p:extLst>
              <p:ext uri="{DAA4B4D4-6D71-4841-9C94-3DE7FCFB9230}">
                <p14:media xmlns:p14="http://schemas.microsoft.com/office/powerpoint/2010/main" r:embed="rId9"/>
              </p:ext>
            </p:extLst>
          </p:nvPr>
        </p:nvPicPr>
        <p:blipFill>
          <a:blip r:embed="rId7"/>
          <a:srcRect l="0" t="0" r="0" b="0"/>
          <a:stretch>
            <a:fillRect/>
          </a:stretch>
        </p:blipFill>
        <p:spPr>
          <a:xfrm flipH="false" flipV="false" rot="0">
            <a:off x="2238272" y="2148840"/>
            <a:ext cx="4011930" cy="7132320"/>
          </a:xfrm>
          <a:prstGeom prst="rect">
            <a:avLst/>
          </a:prstGeom>
        </p:spPr>
      </p:pic>
      <p:grpSp>
        <p:nvGrpSpPr>
          <p:cNvPr name="Group 15" id="8"/>
          <p:cNvGrpSpPr/>
          <p:nvPr/>
        </p:nvGrpSpPr>
        <p:grpSpPr>
          <a:xfrm rot="5400000">
            <a:off x="5300415" y="5279523"/>
            <a:ext cx="7687990" cy="258744"/>
            <a:chOff x="0" y="0"/>
            <a:chExt cx="10250654" cy="344992"/>
          </a:xfrm>
        </p:grpSpPr>
        <p:sp>
          <p:nvSpPr>
            <p:cNvPr name="Freeform 16" id="9"/>
            <p:cNvSpPr/>
            <p:nvPr/>
          </p:nvSpPr>
          <p:spPr>
            <a:xfrm flipH="false" flipV="false" rot="0">
              <a:off x="0" y="0"/>
              <a:ext cx="10250643" cy="345017"/>
            </a:xfrm>
            <a:custGeom>
              <a:avLst/>
              <a:gdLst/>
              <a:ahLst/>
              <a:cxnLst/>
              <a:rect r="r" b="b" t="t" l="l"/>
              <a:pathLst>
                <a:path h="345017" w="10250643">
                  <a:moveTo>
                    <a:pt x="0" y="0"/>
                  </a:moveTo>
                  <a:lnTo>
                    <a:pt x="10250643" y="0"/>
                  </a:lnTo>
                  <a:lnTo>
                    <a:pt x="10250643" y="345017"/>
                  </a:lnTo>
                  <a:lnTo>
                    <a:pt x="0" y="345017"/>
                  </a:lnTo>
                  <a:close/>
                </a:path>
              </a:pathLst>
            </a:custGeom>
            <a:solidFill>
              <a:srgbClr val="D4AF37"/>
            </a:solidFill>
            <a:ln w="19050" cap="sq">
              <a:solidFill>
                <a:srgbClr val="D4AF37"/>
              </a:solidFill>
              <a:prstDash val="solid"/>
              <a:miter/>
            </a:ln>
          </p:spPr>
        </p:sp>
      </p:grpSp>
      <p:sp>
        <p:nvSpPr>
          <p:cNvPr name="TextBox 17" id="10"/>
          <p:cNvSpPr txBox="true"/>
          <p:nvPr/>
        </p:nvSpPr>
        <p:spPr>
          <a:xfrm rot="0">
            <a:off x="10035357" y="2194560"/>
            <a:ext cx="5448895" cy="457200"/>
          </a:xfrm>
          <a:prstGeom prst="rect">
            <a:avLst/>
          </a:prstGeom>
        </p:spPr>
        <p:txBody>
          <a:bodyPr anchor="t" rtlCol="false" tIns="0" lIns="0" bIns="0" rIns="0">
            <a:spAutoFit/>
          </a:bodyPr>
          <a:lstStyle/>
          <a:p>
            <a:pPr algn="l">
              <a:lnSpc>
                <a:spcPts val="3510"/>
              </a:lnSpc>
            </a:pPr>
            <a:r>
              <a:rPr lang="en-US" b="true" sz="2925">
                <a:solidFill>
                  <a:srgbClr val="1F3B8C"/>
                </a:solidFill>
                <a:latin typeface="Arimo Bold"/>
                <a:ea typeface="Arimo Bold"/>
                <a:cs typeface="Arimo Bold"/>
                <a:sym typeface="Arimo Bold"/>
              </a:rPr>
              <a:t>Campaign Updat</a:t>
            </a:r>
            <a:r>
              <a:rPr lang="en-US" b="true" sz="2925">
                <a:solidFill>
                  <a:srgbClr val="1F3B8C"/>
                </a:solidFill>
                <a:latin typeface="Arimo Bold"/>
                <a:ea typeface="Arimo Bold"/>
                <a:cs typeface="Arimo Bold"/>
                <a:sym typeface="Arimo Bold"/>
              </a:rPr>
              <a:t>e, Google Ads</a:t>
            </a:r>
          </a:p>
        </p:txBody>
      </p:sp>
      <p:grpSp>
        <p:nvGrpSpPr>
          <p:cNvPr name="Group 18" id="11"/>
          <p:cNvGrpSpPr/>
          <p:nvPr/>
        </p:nvGrpSpPr>
        <p:grpSpPr>
          <a:xfrm rot="0">
            <a:off x="9614466" y="4850788"/>
            <a:ext cx="7945074" cy="1423376"/>
            <a:chOff x="0" y="0"/>
            <a:chExt cx="10593432" cy="1897835"/>
          </a:xfrm>
        </p:grpSpPr>
        <p:grpSp>
          <p:nvGrpSpPr>
            <p:cNvPr name="Group 19" id="12"/>
            <p:cNvGrpSpPr/>
            <p:nvPr/>
          </p:nvGrpSpPr>
          <p:grpSpPr>
            <a:xfrm rot="0">
              <a:off x="527960" y="0"/>
              <a:ext cx="10065471" cy="1897835"/>
              <a:chOff x="0" y="0"/>
              <a:chExt cx="10065471" cy="1897835"/>
            </a:xfrm>
          </p:grpSpPr>
          <p:sp>
            <p:nvSpPr>
              <p:cNvPr name="Freeform 20" id="13"/>
              <p:cNvSpPr/>
              <p:nvPr/>
            </p:nvSpPr>
            <p:spPr>
              <a:xfrm flipH="false" flipV="false" rot="0">
                <a:off x="0" y="0"/>
                <a:ext cx="10065471" cy="1897826"/>
              </a:xfrm>
              <a:custGeom>
                <a:avLst/>
                <a:gdLst/>
                <a:ahLst/>
                <a:cxnLst/>
                <a:rect r="r" b="b" t="t" l="l"/>
                <a:pathLst>
                  <a:path h="1897826" w="10065471">
                    <a:moveTo>
                      <a:pt x="0" y="0"/>
                    </a:moveTo>
                    <a:lnTo>
                      <a:pt x="10065471" y="0"/>
                    </a:lnTo>
                    <a:lnTo>
                      <a:pt x="10065471" y="1897826"/>
                    </a:lnTo>
                    <a:lnTo>
                      <a:pt x="0" y="1897826"/>
                    </a:lnTo>
                    <a:close/>
                  </a:path>
                </a:pathLst>
              </a:custGeom>
              <a:blipFill>
                <a:blip r:embed="rId4">
                  <a:alphaModFix amt="0"/>
                </a:blip>
                <a:stretch>
                  <a:fillRect l="0" t="-194685" r="-114758" b="-149187"/>
                </a:stretch>
              </a:blipFill>
            </p:spPr>
          </p:sp>
          <p:sp>
            <p:nvSpPr>
              <p:cNvPr name="TextBox 21" id="14"/>
              <p:cNvSpPr txBox="true"/>
              <p:nvPr/>
            </p:nvSpPr>
            <p:spPr>
              <a:xfrm>
                <a:off x="0" y="0"/>
                <a:ext cx="10065471" cy="1897835"/>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Keyword Report:</a:t>
                </a:r>
              </a:p>
              <a:p>
                <a:pPr algn="l">
                  <a:lnSpc>
                    <a:spcPts val="2578"/>
                  </a:lnSpc>
                </a:pPr>
                <a:r>
                  <a:rPr lang="en-US" sz="2148">
                    <a:solidFill>
                      <a:srgbClr val="5A6A85"/>
                    </a:solidFill>
                    <a:latin typeface="Exo 2"/>
                    <a:ea typeface="Exo 2"/>
                    <a:cs typeface="Exo 2"/>
                    <a:sym typeface="Exo 2"/>
                  </a:rPr>
                  <a:t>Terence will share a full keyword performance report by Sunday. This will give the team more data to work with before any next decisions.</a:t>
                </a:r>
              </a:p>
            </p:txBody>
          </p:sp>
        </p:grpSp>
        <p:grpSp>
          <p:nvGrpSpPr>
            <p:cNvPr name="Group 22" id="15"/>
            <p:cNvGrpSpPr/>
            <p:nvPr/>
          </p:nvGrpSpPr>
          <p:grpSpPr>
            <a:xfrm rot="0">
              <a:off x="0" y="164452"/>
              <a:ext cx="373049" cy="324441"/>
              <a:chOff x="0" y="0"/>
              <a:chExt cx="817751" cy="711200"/>
            </a:xfrm>
          </p:grpSpPr>
          <p:sp>
            <p:nvSpPr>
              <p:cNvPr name="Freeform 23" id="16"/>
              <p:cNvSpPr/>
              <p:nvPr/>
            </p:nvSpPr>
            <p:spPr>
              <a:xfrm flipH="false" flipV="false" rot="0">
                <a:off x="0" y="0"/>
                <a:ext cx="817751" cy="711200"/>
              </a:xfrm>
              <a:custGeom>
                <a:avLst/>
                <a:gdLst/>
                <a:ahLst/>
                <a:cxnLst/>
                <a:rect r="r" b="b" t="t" l="l"/>
                <a:pathLst>
                  <a:path h="711200" w="817751">
                    <a:moveTo>
                      <a:pt x="408875" y="711200"/>
                    </a:moveTo>
                    <a:lnTo>
                      <a:pt x="817751" y="0"/>
                    </a:lnTo>
                    <a:lnTo>
                      <a:pt x="0" y="0"/>
                    </a:lnTo>
                    <a:lnTo>
                      <a:pt x="408875" y="711200"/>
                    </a:lnTo>
                    <a:close/>
                  </a:path>
                </a:pathLst>
              </a:custGeom>
              <a:blipFill>
                <a:blip r:embed="rId15"/>
                <a:stretch>
                  <a:fillRect/>
                </a:stretch>
              </a:blipFill>
            </p:spPr>
          </p:sp>
          <p:sp>
            <p:nvSpPr>
              <p:cNvPr name="TextBox 24" id="17"/>
              <p:cNvSpPr txBox="true"/>
              <p:nvPr/>
            </p:nvSpPr>
            <p:spPr>
              <a:xfrm>
                <a:off x="127774" y="41275"/>
                <a:ext cx="562204" cy="339725"/>
              </a:xfrm>
              <a:prstGeom prst="rect">
                <a:avLst/>
              </a:prstGeom>
            </p:spPr>
            <p:txBody>
              <a:bodyPr anchor="ctr" rtlCol="false" tIns="50800" lIns="50800" bIns="50800" rIns="50800"/>
              <a:lstStyle/>
              <a:p>
                <a:pPr algn="ctr">
                  <a:lnSpc>
                    <a:spcPts val="1800"/>
                  </a:lnSpc>
                </a:pPr>
              </a:p>
            </p:txBody>
          </p:sp>
        </p:grpSp>
      </p:grpSp>
      <p:grpSp>
        <p:nvGrpSpPr>
          <p:cNvPr name="Group 25" id="18"/>
          <p:cNvGrpSpPr/>
          <p:nvPr/>
        </p:nvGrpSpPr>
        <p:grpSpPr>
          <a:xfrm rot="0">
            <a:off x="9614466" y="3090501"/>
            <a:ext cx="7945074" cy="1099526"/>
            <a:chOff x="0" y="0"/>
            <a:chExt cx="10593432" cy="1466035"/>
          </a:xfrm>
        </p:grpSpPr>
        <p:grpSp>
          <p:nvGrpSpPr>
            <p:cNvPr name="Group 26" id="19"/>
            <p:cNvGrpSpPr/>
            <p:nvPr/>
          </p:nvGrpSpPr>
          <p:grpSpPr>
            <a:xfrm rot="0">
              <a:off x="527960" y="0"/>
              <a:ext cx="10065471" cy="1466035"/>
              <a:chOff x="0" y="0"/>
              <a:chExt cx="10065471" cy="1466035"/>
            </a:xfrm>
          </p:grpSpPr>
          <p:sp>
            <p:nvSpPr>
              <p:cNvPr name="Freeform 27" id="20"/>
              <p:cNvSpPr/>
              <p:nvPr/>
            </p:nvSpPr>
            <p:spPr>
              <a:xfrm flipH="false" flipV="false" rot="0">
                <a:off x="0" y="0"/>
                <a:ext cx="10065471" cy="1466028"/>
              </a:xfrm>
              <a:custGeom>
                <a:avLst/>
                <a:gdLst/>
                <a:ahLst/>
                <a:cxnLst/>
                <a:rect r="r" b="b" t="t" l="l"/>
                <a:pathLst>
                  <a:path h="1466028" w="10065471">
                    <a:moveTo>
                      <a:pt x="0" y="0"/>
                    </a:moveTo>
                    <a:lnTo>
                      <a:pt x="10065471" y="0"/>
                    </a:lnTo>
                    <a:lnTo>
                      <a:pt x="10065471" y="1466028"/>
                    </a:lnTo>
                    <a:lnTo>
                      <a:pt x="0" y="1466028"/>
                    </a:lnTo>
                    <a:close/>
                  </a:path>
                </a:pathLst>
              </a:custGeom>
              <a:blipFill>
                <a:blip r:embed="rId4">
                  <a:alphaModFix amt="0"/>
                </a:blip>
                <a:stretch>
                  <a:fillRect l="0" t="-252027" r="-114758" b="-222582"/>
                </a:stretch>
              </a:blipFill>
            </p:spPr>
          </p:sp>
          <p:sp>
            <p:nvSpPr>
              <p:cNvPr name="TextBox 28" id="21"/>
              <p:cNvSpPr txBox="true"/>
              <p:nvPr/>
            </p:nvSpPr>
            <p:spPr>
              <a:xfrm>
                <a:off x="0" y="0"/>
                <a:ext cx="10065471" cy="1466035"/>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Learning Phase</a:t>
                </a:r>
              </a:p>
              <a:p>
                <a:pPr algn="l">
                  <a:lnSpc>
                    <a:spcPts val="2578"/>
                  </a:lnSpc>
                </a:pPr>
                <a:r>
                  <a:rPr lang="en-US" sz="2148">
                    <a:solidFill>
                      <a:srgbClr val="5A6A85"/>
                    </a:solidFill>
                    <a:latin typeface="Exo 2"/>
                    <a:ea typeface="Exo 2"/>
                    <a:cs typeface="Exo 2"/>
                    <a:sym typeface="Exo 2"/>
                  </a:rPr>
                  <a:t>No reset required. The current learning phase does not need to be repeated.</a:t>
                </a:r>
              </a:p>
            </p:txBody>
          </p:sp>
        </p:grpSp>
        <p:grpSp>
          <p:nvGrpSpPr>
            <p:cNvPr name="Group 29" id="22"/>
            <p:cNvGrpSpPr/>
            <p:nvPr/>
          </p:nvGrpSpPr>
          <p:grpSpPr>
            <a:xfrm rot="0">
              <a:off x="0" y="164449"/>
              <a:ext cx="373049" cy="324441"/>
              <a:chOff x="0" y="0"/>
              <a:chExt cx="817751" cy="711200"/>
            </a:xfrm>
          </p:grpSpPr>
          <p:sp>
            <p:nvSpPr>
              <p:cNvPr name="Freeform 30" id="23"/>
              <p:cNvSpPr/>
              <p:nvPr/>
            </p:nvSpPr>
            <p:spPr>
              <a:xfrm flipH="false" flipV="false" rot="0">
                <a:off x="0" y="0"/>
                <a:ext cx="817751" cy="711200"/>
              </a:xfrm>
              <a:custGeom>
                <a:avLst/>
                <a:gdLst/>
                <a:ahLst/>
                <a:cxnLst/>
                <a:rect r="r" b="b" t="t" l="l"/>
                <a:pathLst>
                  <a:path h="711200" w="817751">
                    <a:moveTo>
                      <a:pt x="408875" y="711200"/>
                    </a:moveTo>
                    <a:lnTo>
                      <a:pt x="817751" y="0"/>
                    </a:lnTo>
                    <a:lnTo>
                      <a:pt x="0" y="0"/>
                    </a:lnTo>
                    <a:lnTo>
                      <a:pt x="408875" y="711200"/>
                    </a:lnTo>
                    <a:close/>
                  </a:path>
                </a:pathLst>
              </a:custGeom>
              <a:blipFill>
                <a:blip r:embed="rId15"/>
                <a:stretch>
                  <a:fillRect/>
                </a:stretch>
              </a:blipFill>
            </p:spPr>
          </p:sp>
          <p:sp>
            <p:nvSpPr>
              <p:cNvPr name="TextBox 31" id="24"/>
              <p:cNvSpPr txBox="true"/>
              <p:nvPr/>
            </p:nvSpPr>
            <p:spPr>
              <a:xfrm>
                <a:off x="127774" y="41275"/>
                <a:ext cx="562204" cy="339725"/>
              </a:xfrm>
              <a:prstGeom prst="rect">
                <a:avLst/>
              </a:prstGeom>
            </p:spPr>
            <p:txBody>
              <a:bodyPr anchor="ctr" rtlCol="false" tIns="50800" lIns="50800" bIns="50800" rIns="50800"/>
              <a:lstStyle/>
              <a:p>
                <a:pPr algn="ctr">
                  <a:lnSpc>
                    <a:spcPts val="1800"/>
                  </a:lnSpc>
                </a:pPr>
              </a:p>
            </p:txBody>
          </p:sp>
        </p:grpSp>
      </p:grpSp>
      <p:grpSp>
        <p:nvGrpSpPr>
          <p:cNvPr name="Group 32" id="25"/>
          <p:cNvGrpSpPr/>
          <p:nvPr/>
        </p:nvGrpSpPr>
        <p:grpSpPr>
          <a:xfrm rot="0">
            <a:off x="9614466" y="6934926"/>
            <a:ext cx="7945074" cy="2071076"/>
            <a:chOff x="0" y="0"/>
            <a:chExt cx="10593432" cy="2761435"/>
          </a:xfrm>
        </p:grpSpPr>
        <p:grpSp>
          <p:nvGrpSpPr>
            <p:cNvPr name="Group 33" id="26"/>
            <p:cNvGrpSpPr/>
            <p:nvPr/>
          </p:nvGrpSpPr>
          <p:grpSpPr>
            <a:xfrm rot="0">
              <a:off x="588899" y="0"/>
              <a:ext cx="10004533" cy="2761435"/>
              <a:chOff x="0" y="0"/>
              <a:chExt cx="10004533" cy="2761435"/>
            </a:xfrm>
          </p:grpSpPr>
          <p:sp>
            <p:nvSpPr>
              <p:cNvPr name="Freeform 34" id="27"/>
              <p:cNvSpPr/>
              <p:nvPr/>
            </p:nvSpPr>
            <p:spPr>
              <a:xfrm flipH="false" flipV="false" rot="0">
                <a:off x="0" y="0"/>
                <a:ext cx="10004533" cy="2761422"/>
              </a:xfrm>
              <a:custGeom>
                <a:avLst/>
                <a:gdLst/>
                <a:ahLst/>
                <a:cxnLst/>
                <a:rect r="r" b="b" t="t" l="l"/>
                <a:pathLst>
                  <a:path h="2761422" w="10004533">
                    <a:moveTo>
                      <a:pt x="0" y="0"/>
                    </a:moveTo>
                    <a:lnTo>
                      <a:pt x="10004533" y="0"/>
                    </a:lnTo>
                    <a:lnTo>
                      <a:pt x="10004533" y="2761422"/>
                    </a:lnTo>
                    <a:lnTo>
                      <a:pt x="0" y="2761422"/>
                    </a:lnTo>
                    <a:close/>
                  </a:path>
                </a:pathLst>
              </a:custGeom>
              <a:blipFill>
                <a:blip r:embed="rId4">
                  <a:alphaModFix amt="0"/>
                </a:blip>
                <a:stretch>
                  <a:fillRect l="0" t="-133800" r="-116066" b="-71257"/>
                </a:stretch>
              </a:blipFill>
            </p:spPr>
          </p:sp>
          <p:sp>
            <p:nvSpPr>
              <p:cNvPr name="TextBox 35" id="28"/>
              <p:cNvSpPr txBox="true"/>
              <p:nvPr/>
            </p:nvSpPr>
            <p:spPr>
              <a:xfrm>
                <a:off x="0" y="0"/>
                <a:ext cx="10004533" cy="2761435"/>
              </a:xfrm>
              <a:prstGeom prst="rect">
                <a:avLst/>
              </a:prstGeom>
            </p:spPr>
            <p:txBody>
              <a:bodyPr anchor="ctr" rtlCol="false" tIns="0" lIns="0" bIns="0" rIns="0"/>
              <a:lstStyle/>
              <a:p>
                <a:pPr algn="l">
                  <a:lnSpc>
                    <a:spcPts val="2578"/>
                  </a:lnSpc>
                </a:pPr>
                <a:r>
                  <a:rPr lang="en-US" sz="2148" b="true">
                    <a:solidFill>
                      <a:srgbClr val="5A6A85"/>
                    </a:solidFill>
                    <a:latin typeface="Exo 2 Bold"/>
                    <a:ea typeface="Exo 2 Bold"/>
                    <a:cs typeface="Exo 2 Bold"/>
                    <a:sym typeface="Exo 2 Bold"/>
                  </a:rPr>
                  <a:t>Conversion Tracking Issue:</a:t>
                </a:r>
              </a:p>
              <a:p>
                <a:pPr algn="l">
                  <a:lnSpc>
                    <a:spcPts val="2578"/>
                  </a:lnSpc>
                </a:pPr>
                <a:r>
                  <a:rPr lang="en-US" sz="2148">
                    <a:solidFill>
                      <a:srgbClr val="5A6A85"/>
                    </a:solidFill>
                    <a:latin typeface="Exo 2"/>
                    <a:ea typeface="Exo 2"/>
                    <a:cs typeface="Exo 2"/>
                    <a:sym typeface="Exo 2"/>
                  </a:rPr>
                  <a:t>An issue has been identified with Android Firebase conversion tracking. Despite over 62,000 impressions and 3,000 clicks, zero conversions were recorded. Terence is investigating and has advised holding off on scaling the campaign until this is resolved.</a:t>
                </a:r>
              </a:p>
            </p:txBody>
          </p:sp>
        </p:grpSp>
        <p:grpSp>
          <p:nvGrpSpPr>
            <p:cNvPr name="Group 36" id="29"/>
            <p:cNvGrpSpPr/>
            <p:nvPr/>
          </p:nvGrpSpPr>
          <p:grpSpPr>
            <a:xfrm rot="0">
              <a:off x="0" y="164455"/>
              <a:ext cx="370790" cy="324441"/>
              <a:chOff x="0" y="0"/>
              <a:chExt cx="812800" cy="711200"/>
            </a:xfrm>
          </p:grpSpPr>
          <p:sp>
            <p:nvSpPr>
              <p:cNvPr name="Freeform 37" id="30"/>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6"/>
                <a:stretch>
                  <a:fillRect/>
                </a:stretch>
              </a:blipFill>
            </p:spPr>
          </p:sp>
          <p:sp>
            <p:nvSpPr>
              <p:cNvPr name="TextBox 38" id="31"/>
              <p:cNvSpPr txBox="true"/>
              <p:nvPr/>
            </p:nvSpPr>
            <p:spPr>
              <a:xfrm>
                <a:off x="127000" y="41275"/>
                <a:ext cx="558800" cy="339725"/>
              </a:xfrm>
              <a:prstGeom prst="rect">
                <a:avLst/>
              </a:prstGeom>
            </p:spPr>
            <p:txBody>
              <a:bodyPr anchor="ctr" rtlCol="false" tIns="50800" lIns="50800" bIns="50800" rIns="50800"/>
              <a:lstStyle/>
              <a:p>
                <a:pPr algn="ctr">
                  <a:lnSpc>
                    <a:spcPts val="1800"/>
                  </a:lnSpc>
                </a:pPr>
              </a:p>
            </p:txBody>
          </p:sp>
        </p:grpSp>
      </p:grpSp>
      <p:sp>
        <p:nvSpPr>
          <p:cNvPr name="TextBox 9" id="32"/>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INFLUENCER VIDEO AND CAMPAIGN UPDATE  |  FOR WEALTHTECH ONLY</a:t>
            </a:r>
          </a:p>
        </p:txBody>
      </p:sp>
      <p:sp>
        <p:nvSpPr>
          <p:cNvPr name="Freeform 54" id="33"/>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4"/>
            <a:stretch>
              <a:fillRect l="0" t="0" r="0" b="0"/>
            </a:stretch>
          </a:blipFill>
        </p:spPr>
      </p:sp>
      <p:grpSp>
        <p:nvGrpSpPr>
          <p:cNvPr name="Group 6" id="34"/>
          <p:cNvGrpSpPr/>
          <p:nvPr/>
        </p:nvGrpSpPr>
        <p:grpSpPr>
          <a:xfrm rot="0">
            <a:off x="850392" y="297596"/>
            <a:ext cx="13990320" cy="1124712"/>
            <a:chOff x="0" y="0"/>
            <a:chExt cx="18653760" cy="1499616"/>
          </a:xfrm>
        </p:grpSpPr>
        <p:sp>
          <p:nvSpPr>
            <p:cNvPr name="Freeform 7" id="35"/>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8" id="36"/>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Abdulelah Masterclass &amp; Google Ads</a:t>
              </a:r>
            </a:p>
          </p:txBody>
        </p:sp>
      </p:grpSp>
      <p:grpSp>
        <p:nvGrpSpPr>
          <p:cNvPr name="Group 9" id="37"/>
          <p:cNvGrpSpPr/>
          <p:nvPr/>
        </p:nvGrpSpPr>
        <p:grpSpPr>
          <a:xfrm rot="0">
            <a:off x="15457932" y="571916"/>
            <a:ext cx="1988820" cy="576072"/>
            <a:chOff x="0" y="0"/>
            <a:chExt cx="2651760" cy="768096"/>
          </a:xfrm>
        </p:grpSpPr>
        <p:sp>
          <p:nvSpPr>
            <p:cNvPr name="Freeform 10" id="38"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3" id="39"/>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MARKETING</a:t>
            </a:r>
          </a:p>
        </p:txBody>
      </p:sp>
    </p:spTree>
  </p:cSld>
  <p:clrMapOvr>
    <a:masterClrMapping/>
  </p:clrMapOvr>
  <p:timing>
    <p:tnLst>
      <p:par>
        <p:cTn dur="indefinite" restart="never" nodeType="tmRoot">
          <p:childTnLst>
            <p:video>
              <p:cMediaNode vol="100000">
                <p:cTn fill="hold" display="false">
                  <p:stCondLst>
                    <p:cond delay="indefinite"/>
                  </p:stCondLst>
                </p:cTn>
                <p:tgtEl>
                  <p:spTgt spid="13"/>
                </p:tgtEl>
              </p:cMediaNode>
            </p:video>
          </p:childTnLst>
        </p:cTn>
      </p:par>
    </p:tnLst>
  </p:timing>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3"/>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TextBox 9" id="7"/>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SCREENSHOT OF THE GOOGLE ADS RANKING</a:t>
            </a:r>
          </a:p>
        </p:txBody>
      </p:sp>
      <p:sp>
        <p:nvSpPr>
          <p:cNvPr name="Freeform 54" id="8"/>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1"/>
            <a:stretch>
              <a:fillRect l="0" t="0" r="0" b="0"/>
            </a:stretch>
          </a:blipFill>
        </p:spPr>
      </p:sp>
      <p:grpSp>
        <p:nvGrpSpPr>
          <p:cNvPr name="Group 6" id="9"/>
          <p:cNvGrpSpPr/>
          <p:nvPr/>
        </p:nvGrpSpPr>
        <p:grpSpPr>
          <a:xfrm rot="0">
            <a:off x="850392" y="297596"/>
            <a:ext cx="13990320" cy="1124712"/>
            <a:chOff x="0" y="0"/>
            <a:chExt cx="18653760" cy="1499616"/>
          </a:xfrm>
        </p:grpSpPr>
        <p:sp>
          <p:nvSpPr>
            <p:cNvPr name="Freeform 7" id="10"/>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8" id="11"/>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Google Ads SEO Ranking</a:t>
              </a:r>
            </a:p>
          </p:txBody>
        </p:sp>
      </p:grpSp>
      <p:grpSp>
        <p:nvGrpSpPr>
          <p:cNvPr name="Group 9" id="12"/>
          <p:cNvGrpSpPr/>
          <p:nvPr/>
        </p:nvGrpSpPr>
        <p:grpSpPr>
          <a:xfrm rot="0">
            <a:off x="15457932" y="571916"/>
            <a:ext cx="1988820" cy="576072"/>
            <a:chOff x="0" y="0"/>
            <a:chExt cx="2651760" cy="768096"/>
          </a:xfrm>
        </p:grpSpPr>
        <p:sp>
          <p:nvSpPr>
            <p:cNvPr name="Freeform 10" id="13"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3" id="14"/>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MARKETING</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txBody>
            <a:bodyPr/>
            <a:p/>
          </p:txBody>
        </p:sp>
      </p:grpSp>
      <p:grpSp>
        <p:nvGrpSpPr>
          <p:cNvPr name="Group 4" id="4"/>
          <p:cNvGrpSpPr/>
          <p:nvPr/>
        </p:nvGrpSpPr>
        <p:grpSpPr>
          <a:xfrm rot="0">
            <a:off x="14630340" y="1028700"/>
            <a:ext cx="2628960" cy="757148"/>
            <a:chOff x="0" y="0"/>
            <a:chExt cx="6614516" cy="1905000"/>
          </a:xfrm>
        </p:grpSpPr>
        <p:sp>
          <p:nvSpPr>
            <p:cNvPr name="Freeform 5" id="5"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6" id="6"/>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7"/>
            <a:stretch>
              <a:fillRect l="0" t="0" r="0" b="0"/>
            </a:stretch>
          </a:blipFill>
        </p:spPr>
      </p:sp>
      <p:sp>
        <p:nvSpPr>
          <p:cNvPr name="TextBox 7" id="7"/>
          <p:cNvSpPr txBox="true"/>
          <p:nvPr/>
        </p:nvSpPr>
        <p:spPr>
          <a:xfrm rot="0">
            <a:off x="1292489" y="3780565"/>
            <a:ext cx="15703023" cy="1285875"/>
          </a:xfrm>
          <a:prstGeom prst="rect">
            <a:avLst/>
          </a:prstGeom>
        </p:spPr>
        <p:txBody>
          <a:bodyPr anchor="t" rtlCol="false" tIns="0" lIns="0" bIns="0" rIns="0">
            <a:spAutoFit/>
          </a:bodyPr>
          <a:lstStyle/>
          <a:p>
            <a:pPr algn="ctr">
              <a:lnSpc>
                <a:spcPts val="10079"/>
              </a:lnSpc>
            </a:pPr>
            <a:r>
              <a:rPr lang="en-US" b="true" sz="8399">
                <a:solidFill>
                  <a:srgbClr val="FFFFFF"/>
                </a:solidFill>
                <a:latin typeface="Exo 2 Bold"/>
                <a:ea typeface="Exo 2 Bold"/>
                <a:cs typeface="Exo 2 Bold"/>
                <a:sym typeface="Exo 2 Bold"/>
              </a:rPr>
              <a:t>Thank You</a:t>
            </a:r>
          </a:p>
        </p:txBody>
      </p:sp>
      <p:sp>
        <p:nvSpPr>
          <p:cNvPr name="TextBox 8" id="8"/>
          <p:cNvSpPr txBox="true"/>
          <p:nvPr/>
        </p:nvSpPr>
        <p:spPr>
          <a:xfrm rot="0">
            <a:off x="6321387" y="5649399"/>
            <a:ext cx="5555060" cy="485775"/>
          </a:xfrm>
          <a:prstGeom prst="rect">
            <a:avLst/>
          </a:prstGeom>
        </p:spPr>
        <p:txBody>
          <a:bodyPr anchor="t" rtlCol="false" tIns="0" lIns="0" bIns="0" rIns="0">
            <a:spAutoFit/>
          </a:bodyPr>
          <a:lstStyle/>
          <a:p>
            <a:pPr algn="ctr">
              <a:lnSpc>
                <a:spcPts val="3812"/>
              </a:lnSpc>
            </a:pPr>
            <a:r>
              <a:rPr lang="en-US" sz="3176">
                <a:solidFill>
                  <a:srgbClr val="94A3B8"/>
                </a:solidFill>
                <a:latin typeface="Exo 2"/>
                <a:ea typeface="Exo 2"/>
                <a:cs typeface="Exo 2"/>
                <a:sym typeface="Exo 2"/>
              </a:rPr>
              <a:t>Invest Wisely. Trade Precisely.</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48014" y="-252008"/>
            <a:ext cx="19093861" cy="10853442"/>
            <a:chOff x="0" y="0"/>
            <a:chExt cx="24384000" cy="13860493"/>
          </a:xfrm>
        </p:grpSpPr>
        <p:sp>
          <p:nvSpPr>
            <p:cNvPr name="Freeform 3" id="3" descr="image.png"/>
            <p:cNvSpPr/>
            <p:nvPr/>
          </p:nvSpPr>
          <p:spPr>
            <a:xfrm flipH="false" flipV="false" rot="0">
              <a:off x="0" y="0"/>
              <a:ext cx="24384000" cy="13860494"/>
            </a:xfrm>
            <a:custGeom>
              <a:avLst/>
              <a:gdLst/>
              <a:ahLst/>
              <a:cxnLst/>
              <a:rect r="r" b="b" t="t" l="l"/>
              <a:pathLst>
                <a:path h="13860494" w="24384000">
                  <a:moveTo>
                    <a:pt x="0" y="0"/>
                  </a:moveTo>
                  <a:lnTo>
                    <a:pt x="24384000" y="0"/>
                  </a:lnTo>
                  <a:lnTo>
                    <a:pt x="24384000" y="13860494"/>
                  </a:lnTo>
                  <a:lnTo>
                    <a:pt x="0" y="13860494"/>
                  </a:lnTo>
                  <a:lnTo>
                    <a:pt x="0" y="0"/>
                  </a:lnTo>
                  <a:close/>
                </a:path>
              </a:pathLst>
            </a:custGeom>
            <a:blipFill>
              <a:blip r:embed="rId3"/>
              <a:stretch>
                <a:fillRect l="-526" t="0" r="-526" b="0"/>
              </a:stretch>
            </a:blipFill>
          </p:spPr>
          <p:txBody>
            <a:bodyPr/>
            <a:p/>
          </p:txBody>
        </p:sp>
      </p:grpSp>
      <p:sp>
        <p:nvSpPr>
          <p:cNvPr name="TextBox 4" id="4"/>
          <p:cNvSpPr txBox="true"/>
          <p:nvPr/>
        </p:nvSpPr>
        <p:spPr>
          <a:xfrm rot="0">
            <a:off x="1292489" y="4500562"/>
            <a:ext cx="15703023" cy="1285875"/>
          </a:xfrm>
          <a:prstGeom prst="rect">
            <a:avLst/>
          </a:prstGeom>
        </p:spPr>
        <p:txBody>
          <a:bodyPr anchor="t" rtlCol="false" tIns="0" lIns="0" bIns="0" rIns="0">
            <a:spAutoFit/>
          </a:bodyPr>
          <a:lstStyle/>
          <a:p>
            <a:pPr algn="ctr">
              <a:lnSpc>
                <a:spcPts val="10199"/>
              </a:lnSpc>
            </a:pPr>
            <a:r>
              <a:rPr lang="en-US" b="true" sz="8499">
                <a:solidFill>
                  <a:srgbClr val="FFFFFF"/>
                </a:solidFill>
                <a:latin typeface="Exo 2 Bold"/>
                <a:ea typeface="Exo 2 Bold"/>
                <a:cs typeface="Exo 2 Bold"/>
                <a:sym typeface="Exo 2 Bold"/>
              </a:rPr>
              <a:t>Appendix</a:t>
            </a:r>
          </a:p>
        </p:txBody>
      </p:sp>
      <p:grpSp>
        <p:nvGrpSpPr>
          <p:cNvPr name="Group 5" id="5"/>
          <p:cNvGrpSpPr/>
          <p:nvPr/>
        </p:nvGrpSpPr>
        <p:grpSpPr>
          <a:xfrm rot="0">
            <a:off x="14630340" y="1028700"/>
            <a:ext cx="2628960" cy="757148"/>
            <a:chOff x="0" y="0"/>
            <a:chExt cx="6614516" cy="1905000"/>
          </a:xfrm>
        </p:grpSpPr>
        <p:sp>
          <p:nvSpPr>
            <p:cNvPr name="Freeform 6" id="6" descr="image.png"/>
            <p:cNvSpPr/>
            <p:nvPr/>
          </p:nvSpPr>
          <p:spPr>
            <a:xfrm flipH="false" flipV="false" rot="0">
              <a:off x="0" y="0"/>
              <a:ext cx="6614541" cy="1905000"/>
            </a:xfrm>
            <a:custGeom>
              <a:avLst/>
              <a:gdLst/>
              <a:ahLst/>
              <a:cxnLst/>
              <a:rect r="r" b="b" t="t" l="l"/>
              <a:pathLst>
                <a:path h="1905000" w="6614541">
                  <a:moveTo>
                    <a:pt x="0" y="0"/>
                  </a:moveTo>
                  <a:lnTo>
                    <a:pt x="6614541" y="0"/>
                  </a:lnTo>
                  <a:lnTo>
                    <a:pt x="6614541" y="1905000"/>
                  </a:lnTo>
                  <a:lnTo>
                    <a:pt x="0" y="1905000"/>
                  </a:lnTo>
                  <a:lnTo>
                    <a:pt x="0" y="0"/>
                  </a:lnTo>
                  <a:close/>
                </a:path>
              </a:pathLst>
            </a:custGeom>
            <a:blipFill>
              <a:blip r:embed="rId4"/>
              <a:stretch>
                <a:fillRect l="0" t="0" r="0" b="-773"/>
              </a:stretch>
            </a:blipFill>
          </p:spPr>
        </p:sp>
      </p:grpSp>
      <p:sp>
        <p:nvSpPr>
          <p:cNvPr name="Freeform 7" id="7"/>
          <p:cNvSpPr/>
          <p:nvPr/>
        </p:nvSpPr>
        <p:spPr>
          <a:xfrm flipH="false" flipV="false" rot="0">
            <a:off x="1028700" y="1028700"/>
            <a:ext cx="2400300" cy="853440"/>
          </a:xfrm>
          <a:custGeom>
            <a:avLst/>
            <a:gdLst/>
            <a:ahLst/>
            <a:cxnLst/>
            <a:rect r="r" b="b" t="t" l="l"/>
            <a:pathLst>
              <a:path h="853440" w="2400300">
                <a:moveTo>
                  <a:pt x="0" y="0"/>
                </a:moveTo>
                <a:lnTo>
                  <a:pt x="2400300" y="0"/>
                </a:lnTo>
                <a:lnTo>
                  <a:pt x="2400300" y="853440"/>
                </a:lnTo>
                <a:lnTo>
                  <a:pt x="0" y="853440"/>
                </a:lnTo>
                <a:lnTo>
                  <a:pt x="0" y="0"/>
                </a:lnTo>
                <a:close/>
              </a:path>
            </a:pathLst>
          </a:custGeom>
          <a:blipFill>
            <a:blip r:embed="rId7"/>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17"/>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Freeform 2" id="7"/>
          <p:cNvSpPr/>
          <p:nvPr/>
        </p:nvSpPr>
        <p:spPr>
          <a:xfrm flipH="false" flipV="false" rot="0">
            <a:off x="600551" y="1766411"/>
            <a:ext cx="17041177" cy="2071688"/>
          </a:xfrm>
          <a:custGeom>
            <a:avLst/>
            <a:gdLst/>
            <a:ahLst/>
            <a:cxnLst/>
            <a:rect r="r" b="b" t="t" l="l"/>
            <a:pathLst>
              <a:path h="2071688" w="17041177">
                <a:moveTo>
                  <a:pt x="0" y="0"/>
                </a:moveTo>
                <a:lnTo>
                  <a:pt x="17041178" y="0"/>
                </a:lnTo>
                <a:lnTo>
                  <a:pt x="17041178" y="2071688"/>
                </a:lnTo>
                <a:lnTo>
                  <a:pt x="0" y="2071688"/>
                </a:lnTo>
                <a:lnTo>
                  <a:pt x="0" y="0"/>
                </a:lnTo>
                <a:close/>
              </a:path>
            </a:pathLst>
          </a:custGeom>
          <a:blipFill>
            <a:blip r:embed="rId19"/>
            <a:stretch>
              <a:fillRect l="0" t="0" r="0" b="0"/>
            </a:stretch>
          </a:blipFill>
        </p:spPr>
        <p:txBody>
          <a:bodyPr/>
          <a:p/>
        </p:txBody>
      </p:sp>
      <p:grpSp>
        <p:nvGrpSpPr>
          <p:cNvPr name="Group 3" id="8"/>
          <p:cNvGrpSpPr/>
          <p:nvPr/>
        </p:nvGrpSpPr>
        <p:grpSpPr>
          <a:xfrm rot="0">
            <a:off x="932688" y="2057400"/>
            <a:ext cx="2057400" cy="438912"/>
            <a:chOff x="0" y="0"/>
            <a:chExt cx="2743200" cy="585216"/>
          </a:xfrm>
        </p:grpSpPr>
        <p:sp>
          <p:nvSpPr>
            <p:cNvPr name="Freeform 4" id="9"/>
            <p:cNvSpPr/>
            <p:nvPr/>
          </p:nvSpPr>
          <p:spPr>
            <a:xfrm flipH="false" flipV="false" rot="0">
              <a:off x="0" y="0"/>
              <a:ext cx="2743200" cy="585216"/>
            </a:xfrm>
            <a:custGeom>
              <a:avLst/>
              <a:gdLst/>
              <a:ahLst/>
              <a:cxnLst/>
              <a:rect r="r" b="b" t="t" l="l"/>
              <a:pathLst>
                <a:path h="585216" w="2743200">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2B4A9E">
                <a:alpha val="65098"/>
              </a:srgbClr>
            </a:solidFill>
          </p:spPr>
        </p:sp>
      </p:grpSp>
      <p:grpSp>
        <p:nvGrpSpPr>
          <p:cNvPr name="Group 5" id="10"/>
          <p:cNvGrpSpPr/>
          <p:nvPr/>
        </p:nvGrpSpPr>
        <p:grpSpPr>
          <a:xfrm rot="0">
            <a:off x="932688" y="2057400"/>
            <a:ext cx="2057400" cy="438912"/>
            <a:chOff x="0" y="0"/>
            <a:chExt cx="2743200" cy="585216"/>
          </a:xfrm>
        </p:grpSpPr>
        <p:sp>
          <p:nvSpPr>
            <p:cNvPr name="Freeform 6" id="11"/>
            <p:cNvSpPr/>
            <p:nvPr/>
          </p:nvSpPr>
          <p:spPr>
            <a:xfrm flipH="false" flipV="false" rot="0">
              <a:off x="0" y="0"/>
              <a:ext cx="2743200" cy="585216"/>
            </a:xfrm>
            <a:custGeom>
              <a:avLst/>
              <a:gdLst/>
              <a:ahLst/>
              <a:cxnLst/>
              <a:rect r="r" b="b" t="t" l="l"/>
              <a:pathLst>
                <a:path h="585216" w="2743200">
                  <a:moveTo>
                    <a:pt x="0" y="0"/>
                  </a:moveTo>
                  <a:lnTo>
                    <a:pt x="2743200" y="0"/>
                  </a:lnTo>
                  <a:lnTo>
                    <a:pt x="2743200" y="585216"/>
                  </a:lnTo>
                  <a:lnTo>
                    <a:pt x="0" y="585216"/>
                  </a:lnTo>
                  <a:close/>
                </a:path>
              </a:pathLst>
            </a:custGeom>
            <a:solidFill>
              <a:srgbClr val="1E9E6B"/>
            </a:solidFill>
          </p:spPr>
        </p:sp>
      </p:grpSp>
      <p:grpSp>
        <p:nvGrpSpPr>
          <p:cNvPr name="Group 7" id="12"/>
          <p:cNvGrpSpPr/>
          <p:nvPr/>
        </p:nvGrpSpPr>
        <p:grpSpPr>
          <a:xfrm rot="0">
            <a:off x="932688" y="2050256"/>
            <a:ext cx="2057400" cy="446056"/>
            <a:chOff x="0" y="0"/>
            <a:chExt cx="2743200" cy="594741"/>
          </a:xfrm>
        </p:grpSpPr>
        <p:sp>
          <p:nvSpPr>
            <p:cNvPr name="Freeform 8" id="13"/>
            <p:cNvSpPr/>
            <p:nvPr/>
          </p:nvSpPr>
          <p:spPr>
            <a:xfrm flipH="false" flipV="false" rot="0">
              <a:off x="0" y="0"/>
              <a:ext cx="2743200" cy="594741"/>
            </a:xfrm>
            <a:custGeom>
              <a:avLst/>
              <a:gdLst/>
              <a:ahLst/>
              <a:cxnLst/>
              <a:rect r="r" b="b" t="t" l="l"/>
              <a:pathLst>
                <a:path h="594741" w="2743200">
                  <a:moveTo>
                    <a:pt x="0" y="0"/>
                  </a:moveTo>
                  <a:lnTo>
                    <a:pt x="2743200" y="0"/>
                  </a:lnTo>
                  <a:lnTo>
                    <a:pt x="2743200" y="594741"/>
                  </a:lnTo>
                  <a:lnTo>
                    <a:pt x="0" y="594741"/>
                  </a:lnTo>
                  <a:close/>
                </a:path>
              </a:pathLst>
            </a:custGeom>
            <a:blipFill>
              <a:blip r:embed="rId4">
                <a:alphaModFix amt="0"/>
              </a:blip>
              <a:stretch>
                <a:fillRect l="0" t="-39873" r="0" b="-39873"/>
              </a:stretch>
            </a:blipFill>
          </p:spPr>
        </p:sp>
        <p:sp>
          <p:nvSpPr>
            <p:cNvPr name="TextBox 9" id="14"/>
            <p:cNvSpPr txBox="true"/>
            <p:nvPr/>
          </p:nvSpPr>
          <p:spPr>
            <a:xfrm>
              <a:off x="0" y="-9525"/>
              <a:ext cx="2743200" cy="604266"/>
            </a:xfrm>
            <a:prstGeom prst="rect">
              <a:avLst/>
            </a:prstGeom>
          </p:spPr>
          <p:txBody>
            <a:bodyPr anchor="ctr" rtlCol="false" tIns="0" lIns="0" bIns="0" rIns="0"/>
            <a:lstStyle/>
            <a:p>
              <a:pPr algn="ctr">
                <a:lnSpc>
                  <a:spcPts val="1709"/>
                </a:lnSpc>
              </a:pPr>
              <a:r>
                <a:rPr lang="en-US" sz="1425" b="true">
                  <a:solidFill>
                    <a:srgbClr val="FFFFFF"/>
                  </a:solidFill>
                  <a:latin typeface="Exo 2 Bold"/>
                  <a:ea typeface="Exo 2 Bold"/>
                  <a:cs typeface="Exo 2 Bold"/>
                  <a:sym typeface="Exo 2 Bold"/>
                </a:rPr>
                <a:t>DONE</a:t>
              </a:r>
            </a:p>
          </p:txBody>
        </p:sp>
      </p:grpSp>
      <p:grpSp>
        <p:nvGrpSpPr>
          <p:cNvPr name="Group 10" id="15"/>
          <p:cNvGrpSpPr/>
          <p:nvPr/>
        </p:nvGrpSpPr>
        <p:grpSpPr>
          <a:xfrm rot="0">
            <a:off x="3223260" y="2002536"/>
            <a:ext cx="13441680" cy="548640"/>
            <a:chOff x="0" y="0"/>
            <a:chExt cx="17922240" cy="731520"/>
          </a:xfrm>
        </p:grpSpPr>
        <p:sp>
          <p:nvSpPr>
            <p:cNvPr name="Freeform 11" id="16"/>
            <p:cNvSpPr/>
            <p:nvPr/>
          </p:nvSpPr>
          <p:spPr>
            <a:xfrm flipH="false" flipV="false" rot="0">
              <a:off x="0" y="0"/>
              <a:ext cx="17922239" cy="731520"/>
            </a:xfrm>
            <a:custGeom>
              <a:avLst/>
              <a:gdLst/>
              <a:ahLst/>
              <a:cxnLst/>
              <a:rect r="r" b="b" t="t" l="l"/>
              <a:pathLst>
                <a:path h="731520" w="17922239">
                  <a:moveTo>
                    <a:pt x="0" y="0"/>
                  </a:moveTo>
                  <a:lnTo>
                    <a:pt x="17922239" y="0"/>
                  </a:lnTo>
                  <a:lnTo>
                    <a:pt x="17922239" y="731520"/>
                  </a:lnTo>
                  <a:lnTo>
                    <a:pt x="0" y="731520"/>
                  </a:lnTo>
                  <a:close/>
                </a:path>
              </a:pathLst>
            </a:custGeom>
            <a:blipFill>
              <a:blip r:embed="rId5">
                <a:alphaModFix amt="0"/>
              </a:blip>
              <a:stretch>
                <a:fillRect l="0" t="-427052" r="0" b="-427050"/>
              </a:stretch>
            </a:blipFill>
          </p:spPr>
        </p:sp>
      </p:grpSp>
      <p:grpSp>
        <p:nvGrpSpPr>
          <p:cNvPr name="Group 12" id="17"/>
          <p:cNvGrpSpPr/>
          <p:nvPr/>
        </p:nvGrpSpPr>
        <p:grpSpPr>
          <a:xfrm rot="0">
            <a:off x="3223260" y="1995392"/>
            <a:ext cx="13441680" cy="555784"/>
            <a:chOff x="0" y="0"/>
            <a:chExt cx="17922240" cy="741045"/>
          </a:xfrm>
        </p:grpSpPr>
        <p:sp>
          <p:nvSpPr>
            <p:cNvPr name="Freeform 13" id="18"/>
            <p:cNvSpPr/>
            <p:nvPr/>
          </p:nvSpPr>
          <p:spPr>
            <a:xfrm flipH="false" flipV="false" rot="0">
              <a:off x="0" y="0"/>
              <a:ext cx="17922239" cy="741045"/>
            </a:xfrm>
            <a:custGeom>
              <a:avLst/>
              <a:gdLst/>
              <a:ahLst/>
              <a:cxnLst/>
              <a:rect r="r" b="b" t="t" l="l"/>
              <a:pathLst>
                <a:path h="741045" w="17922239">
                  <a:moveTo>
                    <a:pt x="0" y="0"/>
                  </a:moveTo>
                  <a:lnTo>
                    <a:pt x="17922239" y="0"/>
                  </a:lnTo>
                  <a:lnTo>
                    <a:pt x="17922239" y="741045"/>
                  </a:lnTo>
                  <a:lnTo>
                    <a:pt x="0" y="741045"/>
                  </a:lnTo>
                  <a:close/>
                </a:path>
              </a:pathLst>
            </a:custGeom>
            <a:blipFill>
              <a:blip r:embed="rId4">
                <a:alphaModFix amt="0"/>
              </a:blip>
              <a:stretch>
                <a:fillRect l="0" t="-421247" r="0" b="-421247"/>
              </a:stretch>
            </a:blipFill>
          </p:spPr>
        </p:sp>
        <p:sp>
          <p:nvSpPr>
            <p:cNvPr name="TextBox 14" id="19"/>
            <p:cNvSpPr txBox="true"/>
            <p:nvPr/>
          </p:nvSpPr>
          <p:spPr>
            <a:xfrm>
              <a:off x="0" y="-9525"/>
              <a:ext cx="17922240" cy="750570"/>
            </a:xfrm>
            <a:prstGeom prst="rect">
              <a:avLst/>
            </a:prstGeom>
          </p:spPr>
          <p:txBody>
            <a:bodyPr anchor="ctr" rtlCol="false" tIns="0" lIns="0" bIns="0" rIns="0"/>
            <a:lstStyle/>
            <a:p>
              <a:pPr algn="l">
                <a:lnSpc>
                  <a:spcPts val="2610"/>
                </a:lnSpc>
              </a:pPr>
              <a:r>
                <a:rPr lang="en-US" sz="2175" b="true">
                  <a:solidFill>
                    <a:srgbClr val="1B1B3A"/>
                  </a:solidFill>
                  <a:latin typeface="Exo 2 Bold"/>
                  <a:ea typeface="Exo 2 Bold"/>
                  <a:cs typeface="Exo 2 Bold"/>
                  <a:sym typeface="Exo 2 Bold"/>
                </a:rPr>
                <a:t>Helpdesk Deployment - Frappe Helpdesk</a:t>
              </a:r>
            </a:p>
          </p:txBody>
        </p:sp>
      </p:grpSp>
      <p:grpSp>
        <p:nvGrpSpPr>
          <p:cNvPr name="Group 15" id="20"/>
          <p:cNvGrpSpPr/>
          <p:nvPr/>
        </p:nvGrpSpPr>
        <p:grpSpPr>
          <a:xfrm rot="0">
            <a:off x="932688" y="2633472"/>
            <a:ext cx="16322040" cy="822960"/>
            <a:chOff x="0" y="0"/>
            <a:chExt cx="21762720" cy="1097280"/>
          </a:xfrm>
        </p:grpSpPr>
        <p:sp>
          <p:nvSpPr>
            <p:cNvPr name="Freeform 16" id="21"/>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5">
                <a:alphaModFix amt="0"/>
              </a:blip>
              <a:stretch>
                <a:fillRect l="0" t="-336184" r="0" b="-336185"/>
              </a:stretch>
            </a:blipFill>
          </p:spPr>
        </p:sp>
      </p:grpSp>
      <p:grpSp>
        <p:nvGrpSpPr>
          <p:cNvPr name="Group 17" id="22"/>
          <p:cNvGrpSpPr/>
          <p:nvPr/>
        </p:nvGrpSpPr>
        <p:grpSpPr>
          <a:xfrm rot="0">
            <a:off x="932688" y="2612041"/>
            <a:ext cx="16322040" cy="844391"/>
            <a:chOff x="0" y="0"/>
            <a:chExt cx="21762720" cy="1125855"/>
          </a:xfrm>
        </p:grpSpPr>
        <p:sp>
          <p:nvSpPr>
            <p:cNvPr name="Freeform 18" id="23"/>
            <p:cNvSpPr/>
            <p:nvPr/>
          </p:nvSpPr>
          <p:spPr>
            <a:xfrm flipH="false" flipV="false" rot="0">
              <a:off x="0" y="0"/>
              <a:ext cx="21762720" cy="1125855"/>
            </a:xfrm>
            <a:custGeom>
              <a:avLst/>
              <a:gdLst/>
              <a:ahLst/>
              <a:cxnLst/>
              <a:rect r="r" b="b" t="t" l="l"/>
              <a:pathLst>
                <a:path h="1125855" w="21762720">
                  <a:moveTo>
                    <a:pt x="0" y="0"/>
                  </a:moveTo>
                  <a:lnTo>
                    <a:pt x="21762720" y="0"/>
                  </a:lnTo>
                  <a:lnTo>
                    <a:pt x="21762720" y="1125855"/>
                  </a:lnTo>
                  <a:lnTo>
                    <a:pt x="0" y="1125855"/>
                  </a:lnTo>
                  <a:close/>
                </a:path>
              </a:pathLst>
            </a:custGeom>
            <a:blipFill>
              <a:blip r:embed="rId4">
                <a:alphaModFix amt="0"/>
              </a:blip>
              <a:stretch>
                <a:fillRect l="0" t="-326644" r="0" b="-326644"/>
              </a:stretch>
            </a:blipFill>
          </p:spPr>
        </p:sp>
        <p:sp>
          <p:nvSpPr>
            <p:cNvPr name="TextBox 19" id="24"/>
            <p:cNvSpPr txBox="true"/>
            <p:nvPr/>
          </p:nvSpPr>
          <p:spPr>
            <a:xfrm>
              <a:off x="0" y="-28575"/>
              <a:ext cx="21762720" cy="1154430"/>
            </a:xfrm>
            <a:prstGeom prst="rect">
              <a:avLst/>
            </a:prstGeom>
          </p:spPr>
          <p:txBody>
            <a:bodyPr anchor="ctr" rtlCol="false" tIns="0" lIns="0" bIns="0" rIns="0"/>
            <a:lstStyle/>
            <a:p>
              <a:pPr algn="l">
                <a:lnSpc>
                  <a:spcPts val="2277"/>
                </a:lnSpc>
              </a:pPr>
              <a:r>
                <a:rPr lang="en-US" sz="1650">
                  <a:solidFill>
                    <a:srgbClr val="6B7280"/>
                  </a:solidFill>
                  <a:latin typeface="Exo 2"/>
                  <a:ea typeface="Exo 2"/>
                  <a:cs typeface="Exo 2"/>
                  <a:sym typeface="Exo 2"/>
                </a:rPr>
                <a:t>Deployed by WealthTech IT on 17 Sep 2026, ahead of the 20 Sep target. Cybersecurity approval was received on 20 August.</a:t>
              </a:r>
            </a:p>
          </p:txBody>
        </p:sp>
      </p:grpSp>
      <p:sp>
        <p:nvSpPr>
          <p:cNvPr name="Freeform 20" id="25"/>
          <p:cNvSpPr/>
          <p:nvPr/>
        </p:nvSpPr>
        <p:spPr>
          <a:xfrm flipH="false" flipV="false" rot="0">
            <a:off x="600551" y="4161377"/>
            <a:ext cx="17041177" cy="1816417"/>
          </a:xfrm>
          <a:custGeom>
            <a:avLst/>
            <a:gdLst/>
            <a:ahLst/>
            <a:cxnLst/>
            <a:rect r="r" b="b" t="t" l="l"/>
            <a:pathLst>
              <a:path h="1816417" w="17041177">
                <a:moveTo>
                  <a:pt x="0" y="0"/>
                </a:moveTo>
                <a:lnTo>
                  <a:pt x="17041178" y="0"/>
                </a:lnTo>
                <a:lnTo>
                  <a:pt x="17041178" y="1816418"/>
                </a:lnTo>
                <a:lnTo>
                  <a:pt x="0" y="1816418"/>
                </a:lnTo>
                <a:lnTo>
                  <a:pt x="0" y="0"/>
                </a:lnTo>
                <a:close/>
              </a:path>
            </a:pathLst>
          </a:custGeom>
          <a:blipFill>
            <a:blip r:embed="rId20"/>
            <a:stretch>
              <a:fillRect l="0" t="0" r="0" b="0"/>
            </a:stretch>
          </a:blipFill>
        </p:spPr>
      </p:sp>
      <p:grpSp>
        <p:nvGrpSpPr>
          <p:cNvPr name="Group 21" id="26"/>
          <p:cNvGrpSpPr/>
          <p:nvPr/>
        </p:nvGrpSpPr>
        <p:grpSpPr>
          <a:xfrm rot="0">
            <a:off x="932688" y="4452366"/>
            <a:ext cx="2057400" cy="438912"/>
            <a:chOff x="0" y="0"/>
            <a:chExt cx="2743200" cy="585216"/>
          </a:xfrm>
        </p:grpSpPr>
        <p:sp>
          <p:nvSpPr>
            <p:cNvPr name="Freeform 22" id="27"/>
            <p:cNvSpPr/>
            <p:nvPr/>
          </p:nvSpPr>
          <p:spPr>
            <a:xfrm flipH="false" flipV="false" rot="0">
              <a:off x="0" y="0"/>
              <a:ext cx="2743200" cy="585216"/>
            </a:xfrm>
            <a:custGeom>
              <a:avLst/>
              <a:gdLst/>
              <a:ahLst/>
              <a:cxnLst/>
              <a:rect r="r" b="b" t="t" l="l"/>
              <a:pathLst>
                <a:path h="585216" w="2743200">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8A93B8">
                <a:alpha val="65098"/>
              </a:srgbClr>
            </a:solidFill>
          </p:spPr>
        </p:sp>
      </p:grpSp>
      <p:grpSp>
        <p:nvGrpSpPr>
          <p:cNvPr name="Group 23" id="28"/>
          <p:cNvGrpSpPr/>
          <p:nvPr/>
        </p:nvGrpSpPr>
        <p:grpSpPr>
          <a:xfrm rot="0">
            <a:off x="932688" y="4452366"/>
            <a:ext cx="2057400" cy="438912"/>
            <a:chOff x="0" y="0"/>
            <a:chExt cx="2743200" cy="585216"/>
          </a:xfrm>
        </p:grpSpPr>
        <p:sp>
          <p:nvSpPr>
            <p:cNvPr name="Freeform 24" id="29"/>
            <p:cNvSpPr/>
            <p:nvPr/>
          </p:nvSpPr>
          <p:spPr>
            <a:xfrm flipH="false" flipV="false" rot="0">
              <a:off x="0" y="0"/>
              <a:ext cx="2743200" cy="585216"/>
            </a:xfrm>
            <a:custGeom>
              <a:avLst/>
              <a:gdLst/>
              <a:ahLst/>
              <a:cxnLst/>
              <a:rect r="r" b="b" t="t" l="l"/>
              <a:pathLst>
                <a:path h="585216" w="2743200">
                  <a:moveTo>
                    <a:pt x="0" y="0"/>
                  </a:moveTo>
                  <a:lnTo>
                    <a:pt x="2743200" y="0"/>
                  </a:lnTo>
                  <a:lnTo>
                    <a:pt x="2743200" y="585216"/>
                  </a:lnTo>
                  <a:lnTo>
                    <a:pt x="0" y="585216"/>
                  </a:lnTo>
                  <a:close/>
                </a:path>
              </a:pathLst>
            </a:custGeom>
            <a:blipFill>
              <a:blip r:embed="rId5">
                <a:alphaModFix amt="0"/>
              </a:blip>
              <a:stretch>
                <a:fillRect l="0" t="-41271" r="0" b="-41273"/>
              </a:stretch>
            </a:blipFill>
          </p:spPr>
        </p:sp>
      </p:grpSp>
      <p:grpSp>
        <p:nvGrpSpPr>
          <p:cNvPr name="Group 25" id="30"/>
          <p:cNvGrpSpPr/>
          <p:nvPr/>
        </p:nvGrpSpPr>
        <p:grpSpPr>
          <a:xfrm rot="0">
            <a:off x="932688" y="4445222"/>
            <a:ext cx="2057400" cy="446056"/>
            <a:chOff x="0" y="0"/>
            <a:chExt cx="2743200" cy="594741"/>
          </a:xfrm>
        </p:grpSpPr>
        <p:sp>
          <p:nvSpPr>
            <p:cNvPr name="Freeform 26" id="31"/>
            <p:cNvSpPr/>
            <p:nvPr/>
          </p:nvSpPr>
          <p:spPr>
            <a:xfrm flipH="false" flipV="false" rot="0">
              <a:off x="0" y="0"/>
              <a:ext cx="2743200" cy="594741"/>
            </a:xfrm>
            <a:custGeom>
              <a:avLst/>
              <a:gdLst/>
              <a:ahLst/>
              <a:cxnLst/>
              <a:rect r="r" b="b" t="t" l="l"/>
              <a:pathLst>
                <a:path h="594741" w="2743200">
                  <a:moveTo>
                    <a:pt x="0" y="0"/>
                  </a:moveTo>
                  <a:lnTo>
                    <a:pt x="2743200" y="0"/>
                  </a:lnTo>
                  <a:lnTo>
                    <a:pt x="2743200" y="594741"/>
                  </a:lnTo>
                  <a:lnTo>
                    <a:pt x="0" y="594741"/>
                  </a:lnTo>
                  <a:close/>
                </a:path>
              </a:pathLst>
            </a:custGeom>
            <a:blipFill>
              <a:blip r:embed="rId4">
                <a:alphaModFix amt="0"/>
              </a:blip>
              <a:stretch>
                <a:fillRect l="0" t="-39873" r="0" b="-39873"/>
              </a:stretch>
            </a:blipFill>
          </p:spPr>
        </p:sp>
        <p:sp>
          <p:nvSpPr>
            <p:cNvPr name="TextBox 27" id="32"/>
            <p:cNvSpPr txBox="true"/>
            <p:nvPr/>
          </p:nvSpPr>
          <p:spPr>
            <a:xfrm>
              <a:off x="0" y="-9525"/>
              <a:ext cx="2743200" cy="604266"/>
            </a:xfrm>
            <a:prstGeom prst="rect">
              <a:avLst/>
            </a:prstGeom>
          </p:spPr>
          <p:txBody>
            <a:bodyPr anchor="ctr" rtlCol="false" tIns="0" lIns="0" bIns="0" rIns="0"/>
            <a:lstStyle/>
            <a:p>
              <a:pPr algn="ctr">
                <a:lnSpc>
                  <a:spcPts val="1709"/>
                </a:lnSpc>
              </a:pPr>
              <a:r>
                <a:rPr lang="en-US" sz="1425" b="true">
                  <a:solidFill>
                    <a:srgbClr val="FFFFFF"/>
                  </a:solidFill>
                  <a:latin typeface="Exo 2 Bold"/>
                  <a:ea typeface="Exo 2 Bold"/>
                  <a:cs typeface="Exo 2 Bold"/>
                  <a:sym typeface="Exo 2 Bold"/>
                </a:rPr>
                <a:t>PLANNED</a:t>
              </a:r>
            </a:p>
          </p:txBody>
        </p:sp>
      </p:grpSp>
      <p:grpSp>
        <p:nvGrpSpPr>
          <p:cNvPr name="Group 28" id="33"/>
          <p:cNvGrpSpPr/>
          <p:nvPr/>
        </p:nvGrpSpPr>
        <p:grpSpPr>
          <a:xfrm rot="0">
            <a:off x="3223260" y="4397502"/>
            <a:ext cx="13441680" cy="548640"/>
            <a:chOff x="0" y="0"/>
            <a:chExt cx="17922240" cy="731520"/>
          </a:xfrm>
        </p:grpSpPr>
        <p:sp>
          <p:nvSpPr>
            <p:cNvPr name="Freeform 29" id="34"/>
            <p:cNvSpPr/>
            <p:nvPr/>
          </p:nvSpPr>
          <p:spPr>
            <a:xfrm flipH="false" flipV="false" rot="0">
              <a:off x="0" y="0"/>
              <a:ext cx="17922239" cy="731520"/>
            </a:xfrm>
            <a:custGeom>
              <a:avLst/>
              <a:gdLst/>
              <a:ahLst/>
              <a:cxnLst/>
              <a:rect r="r" b="b" t="t" l="l"/>
              <a:pathLst>
                <a:path h="731520" w="17922239">
                  <a:moveTo>
                    <a:pt x="0" y="0"/>
                  </a:moveTo>
                  <a:lnTo>
                    <a:pt x="17922239" y="0"/>
                  </a:lnTo>
                  <a:lnTo>
                    <a:pt x="17922239" y="731520"/>
                  </a:lnTo>
                  <a:lnTo>
                    <a:pt x="0" y="731520"/>
                  </a:lnTo>
                  <a:close/>
                </a:path>
              </a:pathLst>
            </a:custGeom>
            <a:blipFill>
              <a:blip r:embed="rId5">
                <a:alphaModFix amt="0"/>
              </a:blip>
              <a:stretch>
                <a:fillRect l="0" t="-427052" r="0" b="-427050"/>
              </a:stretch>
            </a:blipFill>
          </p:spPr>
        </p:sp>
      </p:grpSp>
      <p:grpSp>
        <p:nvGrpSpPr>
          <p:cNvPr name="Group 30" id="35"/>
          <p:cNvGrpSpPr/>
          <p:nvPr/>
        </p:nvGrpSpPr>
        <p:grpSpPr>
          <a:xfrm rot="0">
            <a:off x="3223260" y="4390358"/>
            <a:ext cx="13441680" cy="555784"/>
            <a:chOff x="0" y="0"/>
            <a:chExt cx="17922240" cy="741045"/>
          </a:xfrm>
        </p:grpSpPr>
        <p:sp>
          <p:nvSpPr>
            <p:cNvPr name="Freeform 31" id="36"/>
            <p:cNvSpPr/>
            <p:nvPr/>
          </p:nvSpPr>
          <p:spPr>
            <a:xfrm flipH="false" flipV="false" rot="0">
              <a:off x="0" y="0"/>
              <a:ext cx="17922239" cy="741045"/>
            </a:xfrm>
            <a:custGeom>
              <a:avLst/>
              <a:gdLst/>
              <a:ahLst/>
              <a:cxnLst/>
              <a:rect r="r" b="b" t="t" l="l"/>
              <a:pathLst>
                <a:path h="741045" w="17922239">
                  <a:moveTo>
                    <a:pt x="0" y="0"/>
                  </a:moveTo>
                  <a:lnTo>
                    <a:pt x="17922239" y="0"/>
                  </a:lnTo>
                  <a:lnTo>
                    <a:pt x="17922239" y="741045"/>
                  </a:lnTo>
                  <a:lnTo>
                    <a:pt x="0" y="741045"/>
                  </a:lnTo>
                  <a:close/>
                </a:path>
              </a:pathLst>
            </a:custGeom>
            <a:blipFill>
              <a:blip r:embed="rId4">
                <a:alphaModFix amt="0"/>
              </a:blip>
              <a:stretch>
                <a:fillRect l="0" t="-421247" r="0" b="-421247"/>
              </a:stretch>
            </a:blipFill>
          </p:spPr>
        </p:sp>
        <p:sp>
          <p:nvSpPr>
            <p:cNvPr name="TextBox 32" id="37"/>
            <p:cNvSpPr txBox="true"/>
            <p:nvPr/>
          </p:nvSpPr>
          <p:spPr>
            <a:xfrm>
              <a:off x="0" y="-9525"/>
              <a:ext cx="17922240" cy="750570"/>
            </a:xfrm>
            <a:prstGeom prst="rect">
              <a:avLst/>
            </a:prstGeom>
          </p:spPr>
          <p:txBody>
            <a:bodyPr anchor="ctr" rtlCol="false" tIns="0" lIns="0" bIns="0" rIns="0"/>
            <a:lstStyle/>
            <a:p>
              <a:pPr algn="l">
                <a:lnSpc>
                  <a:spcPts val="2610"/>
                </a:lnSpc>
              </a:pPr>
              <a:r>
                <a:rPr lang="en-US" sz="2175" b="true">
                  <a:solidFill>
                    <a:srgbClr val="1B1B3A"/>
                  </a:solidFill>
                  <a:latin typeface="Exo 2 Bold"/>
                  <a:ea typeface="Exo 2 Bold"/>
                  <a:cs typeface="Exo 2 Bold"/>
                  <a:sym typeface="Exo 2 Bold"/>
                </a:rPr>
                <a:t>WealthTech CRM - Frappe CRM</a:t>
              </a:r>
            </a:p>
          </p:txBody>
        </p:sp>
      </p:grpSp>
      <p:grpSp>
        <p:nvGrpSpPr>
          <p:cNvPr name="Group 33" id="38"/>
          <p:cNvGrpSpPr/>
          <p:nvPr/>
        </p:nvGrpSpPr>
        <p:grpSpPr>
          <a:xfrm rot="0">
            <a:off x="932688" y="5028438"/>
            <a:ext cx="16322040" cy="822960"/>
            <a:chOff x="0" y="0"/>
            <a:chExt cx="21762720" cy="1097280"/>
          </a:xfrm>
        </p:grpSpPr>
        <p:sp>
          <p:nvSpPr>
            <p:cNvPr name="Freeform 34" id="39"/>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5">
                <a:alphaModFix amt="0"/>
              </a:blip>
              <a:stretch>
                <a:fillRect l="0" t="-336184" r="0" b="-336185"/>
              </a:stretch>
            </a:blipFill>
          </p:spPr>
        </p:sp>
      </p:grpSp>
      <p:grpSp>
        <p:nvGrpSpPr>
          <p:cNvPr name="Group 35" id="40"/>
          <p:cNvGrpSpPr/>
          <p:nvPr/>
        </p:nvGrpSpPr>
        <p:grpSpPr>
          <a:xfrm rot="0">
            <a:off x="932688" y="5007007"/>
            <a:ext cx="16322040" cy="844391"/>
            <a:chOff x="0" y="0"/>
            <a:chExt cx="21762720" cy="1125855"/>
          </a:xfrm>
        </p:grpSpPr>
        <p:sp>
          <p:nvSpPr>
            <p:cNvPr name="Freeform 36" id="41"/>
            <p:cNvSpPr/>
            <p:nvPr/>
          </p:nvSpPr>
          <p:spPr>
            <a:xfrm flipH="false" flipV="false" rot="0">
              <a:off x="0" y="0"/>
              <a:ext cx="21762720" cy="1125855"/>
            </a:xfrm>
            <a:custGeom>
              <a:avLst/>
              <a:gdLst/>
              <a:ahLst/>
              <a:cxnLst/>
              <a:rect r="r" b="b" t="t" l="l"/>
              <a:pathLst>
                <a:path h="1125855" w="21762720">
                  <a:moveTo>
                    <a:pt x="0" y="0"/>
                  </a:moveTo>
                  <a:lnTo>
                    <a:pt x="21762720" y="0"/>
                  </a:lnTo>
                  <a:lnTo>
                    <a:pt x="21762720" y="1125855"/>
                  </a:lnTo>
                  <a:lnTo>
                    <a:pt x="0" y="1125855"/>
                  </a:lnTo>
                  <a:close/>
                </a:path>
              </a:pathLst>
            </a:custGeom>
            <a:blipFill>
              <a:blip r:embed="rId4">
                <a:alphaModFix amt="0"/>
              </a:blip>
              <a:stretch>
                <a:fillRect l="0" t="-326644" r="0" b="-326644"/>
              </a:stretch>
            </a:blipFill>
          </p:spPr>
        </p:sp>
        <p:sp>
          <p:nvSpPr>
            <p:cNvPr name="TextBox 37" id="42"/>
            <p:cNvSpPr txBox="true"/>
            <p:nvPr/>
          </p:nvSpPr>
          <p:spPr>
            <a:xfrm>
              <a:off x="0" y="-28575"/>
              <a:ext cx="21762720" cy="1154430"/>
            </a:xfrm>
            <a:prstGeom prst="rect">
              <a:avLst/>
            </a:prstGeom>
          </p:spPr>
          <p:txBody>
            <a:bodyPr anchor="ctr" rtlCol="false" tIns="0" lIns="0" bIns="0" rIns="0"/>
            <a:lstStyle/>
            <a:p>
              <a:pPr algn="l">
                <a:lnSpc>
                  <a:spcPts val="2277"/>
                </a:lnSpc>
              </a:pPr>
              <a:r>
                <a:rPr lang="en-US" sz="1650">
                  <a:solidFill>
                    <a:srgbClr val="6B7280"/>
                  </a:solidFill>
                  <a:latin typeface="Exo 2"/>
                  <a:ea typeface="Exo 2"/>
                  <a:cs typeface="Exo 2"/>
                  <a:sym typeface="Exo 2"/>
                </a:rPr>
                <a:t>Cybersecurity has approved Frappe applications. Frappe's CRM module will hold one customer base. Starts now that Helpdesk is live.</a:t>
              </a:r>
            </a:p>
          </p:txBody>
        </p:sp>
      </p:grpSp>
      <p:sp>
        <p:nvSpPr>
          <p:cNvPr name="Freeform 38" id="43"/>
          <p:cNvSpPr/>
          <p:nvPr/>
        </p:nvSpPr>
        <p:spPr>
          <a:xfrm flipH="false" flipV="false" rot="0">
            <a:off x="600551" y="6218777"/>
            <a:ext cx="17041177" cy="1816417"/>
          </a:xfrm>
          <a:custGeom>
            <a:avLst/>
            <a:gdLst/>
            <a:ahLst/>
            <a:cxnLst/>
            <a:rect r="r" b="b" t="t" l="l"/>
            <a:pathLst>
              <a:path h="1816417" w="17041177">
                <a:moveTo>
                  <a:pt x="0" y="0"/>
                </a:moveTo>
                <a:lnTo>
                  <a:pt x="17041178" y="0"/>
                </a:lnTo>
                <a:lnTo>
                  <a:pt x="17041178" y="1816418"/>
                </a:lnTo>
                <a:lnTo>
                  <a:pt x="0" y="1816418"/>
                </a:lnTo>
                <a:lnTo>
                  <a:pt x="0" y="0"/>
                </a:lnTo>
                <a:close/>
              </a:path>
            </a:pathLst>
          </a:custGeom>
          <a:blipFill>
            <a:blip r:embed="rId20"/>
            <a:stretch>
              <a:fillRect l="0" t="0" r="0" b="0"/>
            </a:stretch>
          </a:blipFill>
        </p:spPr>
      </p:sp>
      <p:grpSp>
        <p:nvGrpSpPr>
          <p:cNvPr name="Group 39" id="44"/>
          <p:cNvGrpSpPr/>
          <p:nvPr/>
        </p:nvGrpSpPr>
        <p:grpSpPr>
          <a:xfrm rot="0">
            <a:off x="932688" y="6509766"/>
            <a:ext cx="2057400" cy="438912"/>
            <a:chOff x="0" y="0"/>
            <a:chExt cx="2743200" cy="585216"/>
          </a:xfrm>
        </p:grpSpPr>
        <p:sp>
          <p:nvSpPr>
            <p:cNvPr name="Freeform 40" id="45"/>
            <p:cNvSpPr/>
            <p:nvPr/>
          </p:nvSpPr>
          <p:spPr>
            <a:xfrm flipH="false" flipV="false" rot="0">
              <a:off x="0" y="0"/>
              <a:ext cx="2743200" cy="585216"/>
            </a:xfrm>
            <a:custGeom>
              <a:avLst/>
              <a:gdLst/>
              <a:ahLst/>
              <a:cxnLst/>
              <a:rect r="r" b="b" t="t" l="l"/>
              <a:pathLst>
                <a:path h="585216" w="2743200">
                  <a:moveTo>
                    <a:pt x="0" y="292608"/>
                  </a:moveTo>
                  <a:cubicBezTo>
                    <a:pt x="0" y="131064"/>
                    <a:pt x="131064" y="0"/>
                    <a:pt x="292608" y="0"/>
                  </a:cubicBezTo>
                  <a:lnTo>
                    <a:pt x="2450592" y="0"/>
                  </a:lnTo>
                  <a:cubicBezTo>
                    <a:pt x="2612136" y="0"/>
                    <a:pt x="2743200" y="131064"/>
                    <a:pt x="2743200" y="292608"/>
                  </a:cubicBezTo>
                  <a:cubicBezTo>
                    <a:pt x="2743200" y="454152"/>
                    <a:pt x="2612136" y="585216"/>
                    <a:pt x="2450592" y="585216"/>
                  </a:cubicBezTo>
                  <a:lnTo>
                    <a:pt x="292608" y="585216"/>
                  </a:lnTo>
                  <a:cubicBezTo>
                    <a:pt x="131064" y="585216"/>
                    <a:pt x="0" y="454152"/>
                    <a:pt x="0" y="292608"/>
                  </a:cubicBezTo>
                  <a:close/>
                </a:path>
              </a:pathLst>
            </a:custGeom>
            <a:solidFill>
              <a:srgbClr val="6B7280">
                <a:alpha val="65098"/>
              </a:srgbClr>
            </a:solidFill>
          </p:spPr>
        </p:sp>
      </p:grpSp>
      <p:grpSp>
        <p:nvGrpSpPr>
          <p:cNvPr name="Group 41" id="46"/>
          <p:cNvGrpSpPr/>
          <p:nvPr/>
        </p:nvGrpSpPr>
        <p:grpSpPr>
          <a:xfrm rot="0">
            <a:off x="932688" y="6509766"/>
            <a:ext cx="2057400" cy="438912"/>
            <a:chOff x="0" y="0"/>
            <a:chExt cx="2743200" cy="585216"/>
          </a:xfrm>
        </p:grpSpPr>
        <p:sp>
          <p:nvSpPr>
            <p:cNvPr name="Freeform 42" id="47"/>
            <p:cNvSpPr/>
            <p:nvPr/>
          </p:nvSpPr>
          <p:spPr>
            <a:xfrm flipH="false" flipV="false" rot="0">
              <a:off x="0" y="0"/>
              <a:ext cx="2743200" cy="585216"/>
            </a:xfrm>
            <a:custGeom>
              <a:avLst/>
              <a:gdLst/>
              <a:ahLst/>
              <a:cxnLst/>
              <a:rect r="r" b="b" t="t" l="l"/>
              <a:pathLst>
                <a:path h="585216" w="2743200">
                  <a:moveTo>
                    <a:pt x="0" y="0"/>
                  </a:moveTo>
                  <a:lnTo>
                    <a:pt x="2743200" y="0"/>
                  </a:lnTo>
                  <a:lnTo>
                    <a:pt x="2743200" y="585216"/>
                  </a:lnTo>
                  <a:lnTo>
                    <a:pt x="0" y="585216"/>
                  </a:lnTo>
                  <a:close/>
                </a:path>
              </a:pathLst>
            </a:custGeom>
            <a:blipFill>
              <a:blip r:embed="rId5">
                <a:alphaModFix amt="0"/>
              </a:blip>
              <a:stretch>
                <a:fillRect l="0" t="-41271" r="0" b="-41273"/>
              </a:stretch>
            </a:blipFill>
          </p:spPr>
        </p:sp>
      </p:grpSp>
      <p:grpSp>
        <p:nvGrpSpPr>
          <p:cNvPr name="Group 43" id="48"/>
          <p:cNvGrpSpPr/>
          <p:nvPr/>
        </p:nvGrpSpPr>
        <p:grpSpPr>
          <a:xfrm rot="0">
            <a:off x="932688" y="6502622"/>
            <a:ext cx="2057400" cy="446056"/>
            <a:chOff x="0" y="0"/>
            <a:chExt cx="2743200" cy="594741"/>
          </a:xfrm>
        </p:grpSpPr>
        <p:sp>
          <p:nvSpPr>
            <p:cNvPr name="Freeform 44" id="49"/>
            <p:cNvSpPr/>
            <p:nvPr/>
          </p:nvSpPr>
          <p:spPr>
            <a:xfrm flipH="false" flipV="false" rot="0">
              <a:off x="0" y="0"/>
              <a:ext cx="2743200" cy="594741"/>
            </a:xfrm>
            <a:custGeom>
              <a:avLst/>
              <a:gdLst/>
              <a:ahLst/>
              <a:cxnLst/>
              <a:rect r="r" b="b" t="t" l="l"/>
              <a:pathLst>
                <a:path h="594741" w="2743200">
                  <a:moveTo>
                    <a:pt x="0" y="0"/>
                  </a:moveTo>
                  <a:lnTo>
                    <a:pt x="2743200" y="0"/>
                  </a:lnTo>
                  <a:lnTo>
                    <a:pt x="2743200" y="594741"/>
                  </a:lnTo>
                  <a:lnTo>
                    <a:pt x="0" y="594741"/>
                  </a:lnTo>
                  <a:close/>
                </a:path>
              </a:pathLst>
            </a:custGeom>
            <a:blipFill>
              <a:blip r:embed="rId4">
                <a:alphaModFix amt="0"/>
              </a:blip>
              <a:stretch>
                <a:fillRect l="0" t="-39873" r="0" b="-39873"/>
              </a:stretch>
            </a:blipFill>
          </p:spPr>
        </p:sp>
        <p:sp>
          <p:nvSpPr>
            <p:cNvPr name="TextBox 45" id="50"/>
            <p:cNvSpPr txBox="true"/>
            <p:nvPr/>
          </p:nvSpPr>
          <p:spPr>
            <a:xfrm>
              <a:off x="0" y="-9525"/>
              <a:ext cx="2743200" cy="604266"/>
            </a:xfrm>
            <a:prstGeom prst="rect">
              <a:avLst/>
            </a:prstGeom>
          </p:spPr>
          <p:txBody>
            <a:bodyPr anchor="ctr" rtlCol="false" tIns="0" lIns="0" bIns="0" rIns="0"/>
            <a:lstStyle/>
            <a:p>
              <a:pPr algn="ctr">
                <a:lnSpc>
                  <a:spcPts val="1709"/>
                </a:lnSpc>
              </a:pPr>
              <a:r>
                <a:rPr lang="en-US" sz="1425" b="true">
                  <a:solidFill>
                    <a:srgbClr val="FFFFFF"/>
                  </a:solidFill>
                  <a:latin typeface="Exo 2 Bold"/>
                  <a:ea typeface="Exo 2 Bold"/>
                  <a:cs typeface="Exo 2 Bold"/>
                  <a:sym typeface="Exo 2 Bold"/>
                </a:rPr>
                <a:t>EXPLORING</a:t>
              </a:r>
            </a:p>
          </p:txBody>
        </p:sp>
      </p:grpSp>
      <p:grpSp>
        <p:nvGrpSpPr>
          <p:cNvPr name="Group 46" id="51"/>
          <p:cNvGrpSpPr/>
          <p:nvPr/>
        </p:nvGrpSpPr>
        <p:grpSpPr>
          <a:xfrm rot="0">
            <a:off x="3223260" y="6454902"/>
            <a:ext cx="13441680" cy="548640"/>
            <a:chOff x="0" y="0"/>
            <a:chExt cx="17922240" cy="731520"/>
          </a:xfrm>
        </p:grpSpPr>
        <p:sp>
          <p:nvSpPr>
            <p:cNvPr name="Freeform 47" id="52"/>
            <p:cNvSpPr/>
            <p:nvPr/>
          </p:nvSpPr>
          <p:spPr>
            <a:xfrm flipH="false" flipV="false" rot="0">
              <a:off x="0" y="0"/>
              <a:ext cx="17922239" cy="731520"/>
            </a:xfrm>
            <a:custGeom>
              <a:avLst/>
              <a:gdLst/>
              <a:ahLst/>
              <a:cxnLst/>
              <a:rect r="r" b="b" t="t" l="l"/>
              <a:pathLst>
                <a:path h="731520" w="17922239">
                  <a:moveTo>
                    <a:pt x="0" y="0"/>
                  </a:moveTo>
                  <a:lnTo>
                    <a:pt x="17922239" y="0"/>
                  </a:lnTo>
                  <a:lnTo>
                    <a:pt x="17922239" y="731520"/>
                  </a:lnTo>
                  <a:lnTo>
                    <a:pt x="0" y="731520"/>
                  </a:lnTo>
                  <a:close/>
                </a:path>
              </a:pathLst>
            </a:custGeom>
            <a:blipFill>
              <a:blip r:embed="rId5">
                <a:alphaModFix amt="0"/>
              </a:blip>
              <a:stretch>
                <a:fillRect l="0" t="-427052" r="0" b="-427050"/>
              </a:stretch>
            </a:blipFill>
          </p:spPr>
        </p:sp>
      </p:grpSp>
      <p:grpSp>
        <p:nvGrpSpPr>
          <p:cNvPr name="Group 48" id="53"/>
          <p:cNvGrpSpPr/>
          <p:nvPr/>
        </p:nvGrpSpPr>
        <p:grpSpPr>
          <a:xfrm rot="0">
            <a:off x="3223260" y="6447758"/>
            <a:ext cx="13441680" cy="555784"/>
            <a:chOff x="0" y="0"/>
            <a:chExt cx="17922240" cy="741045"/>
          </a:xfrm>
        </p:grpSpPr>
        <p:sp>
          <p:nvSpPr>
            <p:cNvPr name="Freeform 49" id="54"/>
            <p:cNvSpPr/>
            <p:nvPr/>
          </p:nvSpPr>
          <p:spPr>
            <a:xfrm flipH="false" flipV="false" rot="0">
              <a:off x="0" y="0"/>
              <a:ext cx="17922239" cy="741045"/>
            </a:xfrm>
            <a:custGeom>
              <a:avLst/>
              <a:gdLst/>
              <a:ahLst/>
              <a:cxnLst/>
              <a:rect r="r" b="b" t="t" l="l"/>
              <a:pathLst>
                <a:path h="741045" w="17922239">
                  <a:moveTo>
                    <a:pt x="0" y="0"/>
                  </a:moveTo>
                  <a:lnTo>
                    <a:pt x="17922239" y="0"/>
                  </a:lnTo>
                  <a:lnTo>
                    <a:pt x="17922239" y="741045"/>
                  </a:lnTo>
                  <a:lnTo>
                    <a:pt x="0" y="741045"/>
                  </a:lnTo>
                  <a:close/>
                </a:path>
              </a:pathLst>
            </a:custGeom>
            <a:blipFill>
              <a:blip r:embed="rId4">
                <a:alphaModFix amt="0"/>
              </a:blip>
              <a:stretch>
                <a:fillRect l="0" t="-421247" r="0" b="-421247"/>
              </a:stretch>
            </a:blipFill>
          </p:spPr>
        </p:sp>
        <p:sp>
          <p:nvSpPr>
            <p:cNvPr name="TextBox 50" id="55"/>
            <p:cNvSpPr txBox="true"/>
            <p:nvPr/>
          </p:nvSpPr>
          <p:spPr>
            <a:xfrm>
              <a:off x="0" y="-9525"/>
              <a:ext cx="17922240" cy="750570"/>
            </a:xfrm>
            <a:prstGeom prst="rect">
              <a:avLst/>
            </a:prstGeom>
          </p:spPr>
          <p:txBody>
            <a:bodyPr anchor="ctr" rtlCol="false" tIns="0" lIns="0" bIns="0" rIns="0"/>
            <a:lstStyle/>
            <a:p>
              <a:pPr algn="l">
                <a:lnSpc>
                  <a:spcPts val="2610"/>
                </a:lnSpc>
              </a:pPr>
              <a:r>
                <a:rPr lang="en-US" sz="2175" b="true">
                  <a:solidFill>
                    <a:srgbClr val="1B1B3A"/>
                  </a:solidFill>
                  <a:latin typeface="Exo 2 Bold"/>
                  <a:ea typeface="Exo 2 Bold"/>
                  <a:cs typeface="Exo 2 Bold"/>
                  <a:sym typeface="Exo 2 Bold"/>
                </a:rPr>
                <a:t>Reporting Dashboard</a:t>
              </a:r>
            </a:p>
          </p:txBody>
        </p:sp>
      </p:grpSp>
      <p:grpSp>
        <p:nvGrpSpPr>
          <p:cNvPr name="Group 51" id="56"/>
          <p:cNvGrpSpPr/>
          <p:nvPr/>
        </p:nvGrpSpPr>
        <p:grpSpPr>
          <a:xfrm rot="0">
            <a:off x="932688" y="7085838"/>
            <a:ext cx="16322040" cy="822960"/>
            <a:chOff x="0" y="0"/>
            <a:chExt cx="21762720" cy="1097280"/>
          </a:xfrm>
        </p:grpSpPr>
        <p:sp>
          <p:nvSpPr>
            <p:cNvPr name="Freeform 52" id="57"/>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5">
                <a:alphaModFix amt="0"/>
              </a:blip>
              <a:stretch>
                <a:fillRect l="0" t="-336184" r="0" b="-336185"/>
              </a:stretch>
            </a:blipFill>
          </p:spPr>
        </p:sp>
      </p:grpSp>
      <p:grpSp>
        <p:nvGrpSpPr>
          <p:cNvPr name="Group 53" id="58"/>
          <p:cNvGrpSpPr/>
          <p:nvPr/>
        </p:nvGrpSpPr>
        <p:grpSpPr>
          <a:xfrm rot="0">
            <a:off x="932688" y="7064407"/>
            <a:ext cx="16322040" cy="844391"/>
            <a:chOff x="0" y="0"/>
            <a:chExt cx="21762720" cy="1125855"/>
          </a:xfrm>
        </p:grpSpPr>
        <p:sp>
          <p:nvSpPr>
            <p:cNvPr name="Freeform 54" id="59"/>
            <p:cNvSpPr/>
            <p:nvPr/>
          </p:nvSpPr>
          <p:spPr>
            <a:xfrm flipH="false" flipV="false" rot="0">
              <a:off x="0" y="0"/>
              <a:ext cx="21762720" cy="1125855"/>
            </a:xfrm>
            <a:custGeom>
              <a:avLst/>
              <a:gdLst/>
              <a:ahLst/>
              <a:cxnLst/>
              <a:rect r="r" b="b" t="t" l="l"/>
              <a:pathLst>
                <a:path h="1125855" w="21762720">
                  <a:moveTo>
                    <a:pt x="0" y="0"/>
                  </a:moveTo>
                  <a:lnTo>
                    <a:pt x="21762720" y="0"/>
                  </a:lnTo>
                  <a:lnTo>
                    <a:pt x="21762720" y="1125855"/>
                  </a:lnTo>
                  <a:lnTo>
                    <a:pt x="0" y="1125855"/>
                  </a:lnTo>
                  <a:close/>
                </a:path>
              </a:pathLst>
            </a:custGeom>
            <a:blipFill>
              <a:blip r:embed="rId4">
                <a:alphaModFix amt="0"/>
              </a:blip>
              <a:stretch>
                <a:fillRect l="0" t="-326644" r="0" b="-326644"/>
              </a:stretch>
            </a:blipFill>
          </p:spPr>
        </p:sp>
        <p:sp>
          <p:nvSpPr>
            <p:cNvPr name="TextBox 55" id="60"/>
            <p:cNvSpPr txBox="true"/>
            <p:nvPr/>
          </p:nvSpPr>
          <p:spPr>
            <a:xfrm>
              <a:off x="0" y="-28575"/>
              <a:ext cx="21762720" cy="1154430"/>
            </a:xfrm>
            <a:prstGeom prst="rect">
              <a:avLst/>
            </a:prstGeom>
          </p:spPr>
          <p:txBody>
            <a:bodyPr anchor="ctr" rtlCol="false" tIns="0" lIns="0" bIns="0" rIns="0"/>
            <a:lstStyle/>
            <a:p>
              <a:pPr algn="l">
                <a:lnSpc>
                  <a:spcPts val="2277"/>
                </a:lnSpc>
              </a:pPr>
              <a:r>
                <a:rPr lang="en-US" sz="1650">
                  <a:solidFill>
                    <a:srgbClr val="6B7280"/>
                  </a:solidFill>
                  <a:latin typeface="Exo 2"/>
                  <a:ea typeface="Exo 2"/>
                  <a:cs typeface="Exo 2"/>
                  <a:sym typeface="Exo 2"/>
                </a:rPr>
                <a:t>Exploring options for a real-time analytics dashboard for eMYAA. Looking into different modules to support our Business Case.</a:t>
              </a:r>
            </a:p>
          </p:txBody>
        </p:sp>
      </p:grpSp>
      <p:sp>
        <p:nvSpPr>
          <p:cNvPr name="Freeform 64" id="61"/>
          <p:cNvSpPr/>
          <p:nvPr/>
        </p:nvSpPr>
        <p:spPr>
          <a:xfrm flipH="false" flipV="false" rot="0">
            <a:off x="13573477" y="1976342"/>
            <a:ext cx="3736658" cy="527114"/>
          </a:xfrm>
          <a:custGeom>
            <a:avLst/>
            <a:gdLst/>
            <a:ahLst/>
            <a:cxnLst/>
            <a:rect r="r" b="b" t="t" l="l"/>
            <a:pathLst>
              <a:path h="527114" w="3736658">
                <a:moveTo>
                  <a:pt x="0" y="0"/>
                </a:moveTo>
                <a:lnTo>
                  <a:pt x="3736658" y="0"/>
                </a:lnTo>
                <a:lnTo>
                  <a:pt x="3736658" y="527114"/>
                </a:lnTo>
                <a:lnTo>
                  <a:pt x="0" y="527114"/>
                </a:lnTo>
                <a:lnTo>
                  <a:pt x="0" y="0"/>
                </a:lnTo>
                <a:close/>
              </a:path>
            </a:pathLst>
          </a:custGeom>
          <a:blipFill>
            <a:blip r:embed="rId21"/>
            <a:stretch>
              <a:fillRect l="0" t="0" r="0" b="0"/>
            </a:stretch>
          </a:blipFill>
        </p:spPr>
        <p:txBody>
          <a:bodyPr/>
          <a:p/>
        </p:txBody>
      </p:sp>
      <p:grpSp>
        <p:nvGrpSpPr>
          <p:cNvPr name="Group 65" id="62"/>
          <p:cNvGrpSpPr/>
          <p:nvPr/>
        </p:nvGrpSpPr>
        <p:grpSpPr>
          <a:xfrm rot="0">
            <a:off x="13590146" y="1993011"/>
            <a:ext cx="3703320" cy="493776"/>
            <a:chOff x="0" y="0"/>
            <a:chExt cx="4937760" cy="658368"/>
          </a:xfrm>
        </p:grpSpPr>
        <p:sp>
          <p:nvSpPr>
            <p:cNvPr name="Freeform 66" id="63"/>
            <p:cNvSpPr/>
            <p:nvPr/>
          </p:nvSpPr>
          <p:spPr>
            <a:xfrm flipH="false" flipV="false" rot="0">
              <a:off x="0" y="0"/>
              <a:ext cx="4937760" cy="658368"/>
            </a:xfrm>
            <a:custGeom>
              <a:avLst/>
              <a:gdLst/>
              <a:ahLst/>
              <a:cxnLst/>
              <a:rect r="r" b="b" t="t" l="l"/>
              <a:pathLst>
                <a:path h="658368" w="4937760">
                  <a:moveTo>
                    <a:pt x="0" y="0"/>
                  </a:moveTo>
                  <a:lnTo>
                    <a:pt x="4937760" y="0"/>
                  </a:lnTo>
                  <a:lnTo>
                    <a:pt x="4937760" y="658368"/>
                  </a:lnTo>
                  <a:lnTo>
                    <a:pt x="0" y="658368"/>
                  </a:lnTo>
                  <a:close/>
                </a:path>
              </a:pathLst>
            </a:custGeom>
            <a:blipFill>
              <a:blip r:embed="rId5">
                <a:alphaModFix amt="0"/>
              </a:blip>
              <a:stretch>
                <a:fillRect l="0" t="-96035" r="0" b="-96035"/>
              </a:stretch>
            </a:blipFill>
          </p:spPr>
        </p:sp>
      </p:grpSp>
      <p:grpSp>
        <p:nvGrpSpPr>
          <p:cNvPr name="Group 67" id="64"/>
          <p:cNvGrpSpPr/>
          <p:nvPr/>
        </p:nvGrpSpPr>
        <p:grpSpPr>
          <a:xfrm rot="0">
            <a:off x="13590146" y="1985867"/>
            <a:ext cx="3703320" cy="500920"/>
            <a:chOff x="0" y="0"/>
            <a:chExt cx="4937760" cy="667893"/>
          </a:xfrm>
        </p:grpSpPr>
        <p:sp>
          <p:nvSpPr>
            <p:cNvPr name="Freeform 68" id="65"/>
            <p:cNvSpPr/>
            <p:nvPr/>
          </p:nvSpPr>
          <p:spPr>
            <a:xfrm flipH="false" flipV="false" rot="0">
              <a:off x="0" y="0"/>
              <a:ext cx="4937760" cy="667893"/>
            </a:xfrm>
            <a:custGeom>
              <a:avLst/>
              <a:gdLst/>
              <a:ahLst/>
              <a:cxnLst/>
              <a:rect r="r" b="b" t="t" l="l"/>
              <a:pathLst>
                <a:path h="667893" w="4937760">
                  <a:moveTo>
                    <a:pt x="0" y="0"/>
                  </a:moveTo>
                  <a:lnTo>
                    <a:pt x="4937760" y="0"/>
                  </a:lnTo>
                  <a:lnTo>
                    <a:pt x="4937760" y="667893"/>
                  </a:lnTo>
                  <a:lnTo>
                    <a:pt x="0" y="667893"/>
                  </a:lnTo>
                  <a:close/>
                </a:path>
              </a:pathLst>
            </a:custGeom>
            <a:blipFill>
              <a:blip r:embed="rId4">
                <a:alphaModFix amt="0"/>
              </a:blip>
              <a:stretch>
                <a:fillRect l="0" t="-94053" r="0" b="-94053"/>
              </a:stretch>
            </a:blipFill>
          </p:spPr>
        </p:sp>
        <p:sp>
          <p:nvSpPr>
            <p:cNvPr name="TextBox 69" id="66"/>
            <p:cNvSpPr txBox="true"/>
            <p:nvPr/>
          </p:nvSpPr>
          <p:spPr>
            <a:xfrm>
              <a:off x="0" y="-9525"/>
              <a:ext cx="4937760" cy="677418"/>
            </a:xfrm>
            <a:prstGeom prst="rect">
              <a:avLst/>
            </a:prstGeom>
          </p:spPr>
          <p:txBody>
            <a:bodyPr anchor="ctr" rtlCol="false" tIns="0" lIns="0" bIns="0" rIns="0"/>
            <a:lstStyle/>
            <a:p>
              <a:pPr algn="ctr">
                <a:lnSpc>
                  <a:spcPts val="1800"/>
                </a:lnSpc>
              </a:pPr>
              <a:r>
                <a:rPr lang="en-US" sz="1500" b="true">
                  <a:solidFill>
                    <a:srgbClr val="1A2A57"/>
                  </a:solidFill>
                  <a:latin typeface="Exo 2 Bold"/>
                  <a:ea typeface="Exo 2 Bold"/>
                  <a:cs typeface="Exo 2 Bold"/>
                  <a:sym typeface="Exo 2 Bold"/>
                </a:rPr>
                <a:t>Target: 20 Sep 2026</a:t>
              </a:r>
            </a:p>
          </p:txBody>
        </p:sp>
      </p:grpSp>
      <p:sp>
        <p:nvSpPr>
          <p:cNvPr name="Freeform 70" id="67"/>
          <p:cNvSpPr/>
          <p:nvPr/>
        </p:nvSpPr>
        <p:spPr>
          <a:xfrm flipH="false" flipV="false" rot="0">
            <a:off x="13573477" y="4390358"/>
            <a:ext cx="3736658" cy="527114"/>
          </a:xfrm>
          <a:custGeom>
            <a:avLst/>
            <a:gdLst/>
            <a:ahLst/>
            <a:cxnLst/>
            <a:rect r="r" b="b" t="t" l="l"/>
            <a:pathLst>
              <a:path h="527114" w="3736658">
                <a:moveTo>
                  <a:pt x="0" y="0"/>
                </a:moveTo>
                <a:lnTo>
                  <a:pt x="3736658" y="0"/>
                </a:lnTo>
                <a:lnTo>
                  <a:pt x="3736658" y="527114"/>
                </a:lnTo>
                <a:lnTo>
                  <a:pt x="0" y="527114"/>
                </a:lnTo>
                <a:lnTo>
                  <a:pt x="0" y="0"/>
                </a:lnTo>
                <a:close/>
              </a:path>
            </a:pathLst>
          </a:custGeom>
          <a:blipFill>
            <a:blip r:embed="rId21"/>
            <a:stretch>
              <a:fillRect l="0" t="0" r="0" b="0"/>
            </a:stretch>
          </a:blipFill>
        </p:spPr>
      </p:sp>
      <p:grpSp>
        <p:nvGrpSpPr>
          <p:cNvPr name="Group 71" id="68"/>
          <p:cNvGrpSpPr/>
          <p:nvPr/>
        </p:nvGrpSpPr>
        <p:grpSpPr>
          <a:xfrm rot="0">
            <a:off x="13590146" y="4407027"/>
            <a:ext cx="3703320" cy="493776"/>
            <a:chOff x="0" y="0"/>
            <a:chExt cx="4937760" cy="658368"/>
          </a:xfrm>
        </p:grpSpPr>
        <p:sp>
          <p:nvSpPr>
            <p:cNvPr name="Freeform 72" id="69"/>
            <p:cNvSpPr/>
            <p:nvPr/>
          </p:nvSpPr>
          <p:spPr>
            <a:xfrm flipH="false" flipV="false" rot="0">
              <a:off x="0" y="0"/>
              <a:ext cx="4937760" cy="658368"/>
            </a:xfrm>
            <a:custGeom>
              <a:avLst/>
              <a:gdLst/>
              <a:ahLst/>
              <a:cxnLst/>
              <a:rect r="r" b="b" t="t" l="l"/>
              <a:pathLst>
                <a:path h="658368" w="4937760">
                  <a:moveTo>
                    <a:pt x="0" y="0"/>
                  </a:moveTo>
                  <a:lnTo>
                    <a:pt x="4937760" y="0"/>
                  </a:lnTo>
                  <a:lnTo>
                    <a:pt x="4937760" y="658368"/>
                  </a:lnTo>
                  <a:lnTo>
                    <a:pt x="0" y="658368"/>
                  </a:lnTo>
                  <a:close/>
                </a:path>
              </a:pathLst>
            </a:custGeom>
            <a:blipFill>
              <a:blip r:embed="rId5">
                <a:alphaModFix amt="0"/>
              </a:blip>
              <a:stretch>
                <a:fillRect l="0" t="-96035" r="0" b="-96035"/>
              </a:stretch>
            </a:blipFill>
          </p:spPr>
        </p:sp>
      </p:grpSp>
      <p:grpSp>
        <p:nvGrpSpPr>
          <p:cNvPr name="Group 73" id="70"/>
          <p:cNvGrpSpPr/>
          <p:nvPr/>
        </p:nvGrpSpPr>
        <p:grpSpPr>
          <a:xfrm rot="0">
            <a:off x="13590146" y="4399883"/>
            <a:ext cx="3703320" cy="500920"/>
            <a:chOff x="0" y="0"/>
            <a:chExt cx="4937760" cy="667893"/>
          </a:xfrm>
        </p:grpSpPr>
        <p:sp>
          <p:nvSpPr>
            <p:cNvPr name="Freeform 74" id="71"/>
            <p:cNvSpPr/>
            <p:nvPr/>
          </p:nvSpPr>
          <p:spPr>
            <a:xfrm flipH="false" flipV="false" rot="0">
              <a:off x="0" y="0"/>
              <a:ext cx="4937760" cy="667893"/>
            </a:xfrm>
            <a:custGeom>
              <a:avLst/>
              <a:gdLst/>
              <a:ahLst/>
              <a:cxnLst/>
              <a:rect r="r" b="b" t="t" l="l"/>
              <a:pathLst>
                <a:path h="667893" w="4937760">
                  <a:moveTo>
                    <a:pt x="0" y="0"/>
                  </a:moveTo>
                  <a:lnTo>
                    <a:pt x="4937760" y="0"/>
                  </a:lnTo>
                  <a:lnTo>
                    <a:pt x="4937760" y="667893"/>
                  </a:lnTo>
                  <a:lnTo>
                    <a:pt x="0" y="667893"/>
                  </a:lnTo>
                  <a:close/>
                </a:path>
              </a:pathLst>
            </a:custGeom>
            <a:blipFill>
              <a:blip r:embed="rId4">
                <a:alphaModFix amt="0"/>
              </a:blip>
              <a:stretch>
                <a:fillRect l="0" t="-94053" r="0" b="-94053"/>
              </a:stretch>
            </a:blipFill>
          </p:spPr>
        </p:sp>
        <p:sp>
          <p:nvSpPr>
            <p:cNvPr name="TextBox 75" id="72"/>
            <p:cNvSpPr txBox="true"/>
            <p:nvPr/>
          </p:nvSpPr>
          <p:spPr>
            <a:xfrm>
              <a:off x="0" y="-9525"/>
              <a:ext cx="4937760" cy="677418"/>
            </a:xfrm>
            <a:prstGeom prst="rect">
              <a:avLst/>
            </a:prstGeom>
          </p:spPr>
          <p:txBody>
            <a:bodyPr anchor="ctr" rtlCol="false" tIns="0" lIns="0" bIns="0" rIns="0"/>
            <a:lstStyle/>
            <a:p>
              <a:pPr algn="ctr">
                <a:lnSpc>
                  <a:spcPts val="1800"/>
                </a:lnSpc>
              </a:pPr>
              <a:r>
                <a:rPr lang="en-US" sz="1500" b="true">
                  <a:solidFill>
                    <a:srgbClr val="1A2A57"/>
                  </a:solidFill>
                  <a:latin typeface="Exo 2 Bold"/>
                  <a:ea typeface="Exo 2 Bold"/>
                  <a:cs typeface="Exo 2 Bold"/>
                  <a:sym typeface="Exo 2 Bold"/>
                </a:rPr>
                <a:t>Target: 29 Oct 2026</a:t>
              </a:r>
            </a:p>
          </p:txBody>
        </p:sp>
      </p:grpSp>
      <p:sp>
        <p:nvSpPr>
          <p:cNvPr name="Freeform 76" id="73"/>
          <p:cNvSpPr/>
          <p:nvPr/>
        </p:nvSpPr>
        <p:spPr>
          <a:xfrm flipH="false" flipV="false" rot="0">
            <a:off x="13573477" y="6447758"/>
            <a:ext cx="3736658" cy="527114"/>
          </a:xfrm>
          <a:custGeom>
            <a:avLst/>
            <a:gdLst/>
            <a:ahLst/>
            <a:cxnLst/>
            <a:rect r="r" b="b" t="t" l="l"/>
            <a:pathLst>
              <a:path h="527114" w="3736658">
                <a:moveTo>
                  <a:pt x="0" y="0"/>
                </a:moveTo>
                <a:lnTo>
                  <a:pt x="3736658" y="0"/>
                </a:lnTo>
                <a:lnTo>
                  <a:pt x="3736658" y="527114"/>
                </a:lnTo>
                <a:lnTo>
                  <a:pt x="0" y="527114"/>
                </a:lnTo>
                <a:lnTo>
                  <a:pt x="0" y="0"/>
                </a:lnTo>
                <a:close/>
              </a:path>
            </a:pathLst>
          </a:custGeom>
          <a:blipFill>
            <a:blip r:embed="rId22"/>
            <a:stretch>
              <a:fillRect l="0" t="0" r="0" b="0"/>
            </a:stretch>
          </a:blipFill>
        </p:spPr>
      </p:sp>
      <p:grpSp>
        <p:nvGrpSpPr>
          <p:cNvPr name="Group 77" id="74"/>
          <p:cNvGrpSpPr/>
          <p:nvPr/>
        </p:nvGrpSpPr>
        <p:grpSpPr>
          <a:xfrm rot="0">
            <a:off x="13590146" y="6464427"/>
            <a:ext cx="3703320" cy="493776"/>
            <a:chOff x="0" y="0"/>
            <a:chExt cx="4937760" cy="658368"/>
          </a:xfrm>
        </p:grpSpPr>
        <p:sp>
          <p:nvSpPr>
            <p:cNvPr name="Freeform 78" id="75"/>
            <p:cNvSpPr/>
            <p:nvPr/>
          </p:nvSpPr>
          <p:spPr>
            <a:xfrm flipH="false" flipV="false" rot="0">
              <a:off x="0" y="0"/>
              <a:ext cx="4937760" cy="658368"/>
            </a:xfrm>
            <a:custGeom>
              <a:avLst/>
              <a:gdLst/>
              <a:ahLst/>
              <a:cxnLst/>
              <a:rect r="r" b="b" t="t" l="l"/>
              <a:pathLst>
                <a:path h="658368" w="4937760">
                  <a:moveTo>
                    <a:pt x="0" y="0"/>
                  </a:moveTo>
                  <a:lnTo>
                    <a:pt x="4937760" y="0"/>
                  </a:lnTo>
                  <a:lnTo>
                    <a:pt x="4937760" y="658368"/>
                  </a:lnTo>
                  <a:lnTo>
                    <a:pt x="0" y="658368"/>
                  </a:lnTo>
                  <a:close/>
                </a:path>
              </a:pathLst>
            </a:custGeom>
            <a:blipFill>
              <a:blip r:embed="rId5">
                <a:alphaModFix amt="0"/>
              </a:blip>
              <a:stretch>
                <a:fillRect l="0" t="-96035" r="0" b="-96035"/>
              </a:stretch>
            </a:blipFill>
          </p:spPr>
        </p:sp>
      </p:grpSp>
      <p:grpSp>
        <p:nvGrpSpPr>
          <p:cNvPr name="Group 79" id="76"/>
          <p:cNvGrpSpPr/>
          <p:nvPr/>
        </p:nvGrpSpPr>
        <p:grpSpPr>
          <a:xfrm rot="0">
            <a:off x="13590146" y="6457283"/>
            <a:ext cx="3703320" cy="500920"/>
            <a:chOff x="0" y="0"/>
            <a:chExt cx="4937760" cy="667893"/>
          </a:xfrm>
        </p:grpSpPr>
        <p:sp>
          <p:nvSpPr>
            <p:cNvPr name="Freeform 80" id="77"/>
            <p:cNvSpPr/>
            <p:nvPr/>
          </p:nvSpPr>
          <p:spPr>
            <a:xfrm flipH="false" flipV="false" rot="0">
              <a:off x="0" y="0"/>
              <a:ext cx="4937760" cy="667893"/>
            </a:xfrm>
            <a:custGeom>
              <a:avLst/>
              <a:gdLst/>
              <a:ahLst/>
              <a:cxnLst/>
              <a:rect r="r" b="b" t="t" l="l"/>
              <a:pathLst>
                <a:path h="667893" w="4937760">
                  <a:moveTo>
                    <a:pt x="0" y="0"/>
                  </a:moveTo>
                  <a:lnTo>
                    <a:pt x="4937760" y="0"/>
                  </a:lnTo>
                  <a:lnTo>
                    <a:pt x="4937760" y="667893"/>
                  </a:lnTo>
                  <a:lnTo>
                    <a:pt x="0" y="667893"/>
                  </a:lnTo>
                  <a:close/>
                </a:path>
              </a:pathLst>
            </a:custGeom>
            <a:blipFill>
              <a:blip r:embed="rId4">
                <a:alphaModFix amt="0"/>
              </a:blip>
              <a:stretch>
                <a:fillRect l="0" t="-94053" r="0" b="-94053"/>
              </a:stretch>
            </a:blipFill>
          </p:spPr>
        </p:sp>
        <p:sp>
          <p:nvSpPr>
            <p:cNvPr name="TextBox 81" id="78"/>
            <p:cNvSpPr txBox="true"/>
            <p:nvPr/>
          </p:nvSpPr>
          <p:spPr>
            <a:xfrm>
              <a:off x="0" y="-9525"/>
              <a:ext cx="4937760" cy="677418"/>
            </a:xfrm>
            <a:prstGeom prst="rect">
              <a:avLst/>
            </a:prstGeom>
          </p:spPr>
          <p:txBody>
            <a:bodyPr anchor="ctr" rtlCol="false" tIns="0" lIns="0" bIns="0" rIns="0"/>
            <a:lstStyle/>
            <a:p>
              <a:pPr algn="ctr">
                <a:lnSpc>
                  <a:spcPts val="1800"/>
                </a:lnSpc>
              </a:pPr>
              <a:r>
                <a:rPr lang="en-US" sz="1500" b="true">
                  <a:solidFill>
                    <a:srgbClr val="8A7530"/>
                  </a:solidFill>
                  <a:latin typeface="Exo 2 Bold"/>
                  <a:ea typeface="Exo 2 Bold"/>
                  <a:cs typeface="Exo 2 Bold"/>
                  <a:sym typeface="Exo 2 Bold"/>
                </a:rPr>
                <a:t>Under R&amp;D - date TBC</a:t>
              </a:r>
            </a:p>
          </p:txBody>
        </p:sp>
      </p:grpSp>
      <p:grpSp>
        <p:nvGrpSpPr>
          <p:cNvPr name="Group 82" id="79"/>
          <p:cNvGrpSpPr/>
          <p:nvPr/>
        </p:nvGrpSpPr>
        <p:grpSpPr>
          <a:xfrm rot="0">
            <a:off x="932688" y="3122676"/>
            <a:ext cx="16322040" cy="822960"/>
            <a:chOff x="0" y="0"/>
            <a:chExt cx="21762720" cy="1097280"/>
          </a:xfrm>
        </p:grpSpPr>
        <p:sp>
          <p:nvSpPr>
            <p:cNvPr name="Freeform 83" id="80"/>
            <p:cNvSpPr/>
            <p:nvPr/>
          </p:nvSpPr>
          <p:spPr>
            <a:xfrm flipH="false" flipV="false" rot="0">
              <a:off x="0" y="0"/>
              <a:ext cx="21762720" cy="1097280"/>
            </a:xfrm>
            <a:custGeom>
              <a:avLst/>
              <a:gdLst/>
              <a:ahLst/>
              <a:cxnLst/>
              <a:rect r="r" b="b" t="t" l="l"/>
              <a:pathLst>
                <a:path h="1097280" w="21762720">
                  <a:moveTo>
                    <a:pt x="0" y="0"/>
                  </a:moveTo>
                  <a:lnTo>
                    <a:pt x="21762720" y="0"/>
                  </a:lnTo>
                  <a:lnTo>
                    <a:pt x="21762720" y="1097280"/>
                  </a:lnTo>
                  <a:lnTo>
                    <a:pt x="0" y="1097280"/>
                  </a:lnTo>
                  <a:close/>
                </a:path>
              </a:pathLst>
            </a:custGeom>
            <a:blipFill>
              <a:blip r:embed="rId5">
                <a:alphaModFix amt="0"/>
              </a:blip>
              <a:stretch>
                <a:fillRect l="0" t="-336184" r="0" b="-336185"/>
              </a:stretch>
            </a:blipFill>
          </p:spPr>
        </p:sp>
      </p:grpSp>
      <p:grpSp>
        <p:nvGrpSpPr>
          <p:cNvPr name="Group 84" id="81"/>
          <p:cNvGrpSpPr/>
          <p:nvPr/>
        </p:nvGrpSpPr>
        <p:grpSpPr>
          <a:xfrm rot="0">
            <a:off x="932688" y="3101245"/>
            <a:ext cx="16322040" cy="844391"/>
            <a:chOff x="0" y="0"/>
            <a:chExt cx="21762720" cy="1125855"/>
          </a:xfrm>
        </p:grpSpPr>
        <p:sp>
          <p:nvSpPr>
            <p:cNvPr name="Freeform 85" id="82"/>
            <p:cNvSpPr/>
            <p:nvPr/>
          </p:nvSpPr>
          <p:spPr>
            <a:xfrm flipH="false" flipV="false" rot="0">
              <a:off x="0" y="0"/>
              <a:ext cx="21762720" cy="1125855"/>
            </a:xfrm>
            <a:custGeom>
              <a:avLst/>
              <a:gdLst/>
              <a:ahLst/>
              <a:cxnLst/>
              <a:rect r="r" b="b" t="t" l="l"/>
              <a:pathLst>
                <a:path h="1125855" w="21762720">
                  <a:moveTo>
                    <a:pt x="0" y="0"/>
                  </a:moveTo>
                  <a:lnTo>
                    <a:pt x="21762720" y="0"/>
                  </a:lnTo>
                  <a:lnTo>
                    <a:pt x="21762720" y="1125855"/>
                  </a:lnTo>
                  <a:lnTo>
                    <a:pt x="0" y="1125855"/>
                  </a:lnTo>
                  <a:close/>
                </a:path>
              </a:pathLst>
            </a:custGeom>
            <a:blipFill>
              <a:blip r:embed="rId4">
                <a:alphaModFix amt="0"/>
              </a:blip>
              <a:stretch>
                <a:fillRect l="0" t="-326644" r="0" b="-326644"/>
              </a:stretch>
            </a:blipFill>
          </p:spPr>
        </p:sp>
        <p:sp>
          <p:nvSpPr>
            <p:cNvPr name="TextBox 86" id="83"/>
            <p:cNvSpPr txBox="true"/>
            <p:nvPr/>
          </p:nvSpPr>
          <p:spPr>
            <a:xfrm>
              <a:off x="0" y="-28575"/>
              <a:ext cx="21762720" cy="1154430"/>
            </a:xfrm>
            <a:prstGeom prst="rect">
              <a:avLst/>
            </a:prstGeom>
          </p:spPr>
          <p:txBody>
            <a:bodyPr anchor="ctr" rtlCol="false" tIns="0" lIns="0" bIns="0" rIns="0"/>
            <a:lstStyle/>
            <a:p>
              <a:pPr algn="l">
                <a:lnSpc>
                  <a:spcPts val="2277"/>
                </a:lnSpc>
              </a:pPr>
              <a:r>
                <a:rPr lang="en-US" b="true" sz="1650" i="true">
                  <a:solidFill>
                    <a:srgbClr val="1E9E6B"/>
                  </a:solidFill>
                  <a:latin typeface="Exo 2 Bold Italics"/>
                  <a:ea typeface="Exo 2 Bold Italics"/>
                  <a:cs typeface="Exo 2 Bold Italics"/>
                  <a:sym typeface="Exo 2 Bold Italics"/>
                </a:rPr>
                <a:t>Live since 17 Sep 2026</a:t>
              </a:r>
            </a:p>
          </p:txBody>
        </p:sp>
      </p:grpSp>
      <p:sp>
        <p:nvSpPr>
          <p:cNvPr name="Freeform 87" id="84"/>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23"/>
            <a:stretch>
              <a:fillRect l="0" t="0" r="0" b="0"/>
            </a:stretch>
          </a:blipFill>
        </p:spPr>
      </p:sp>
      <p:grpSp>
        <p:nvGrpSpPr>
          <p:cNvPr name="Group 6" id="85"/>
          <p:cNvGrpSpPr/>
          <p:nvPr/>
        </p:nvGrpSpPr>
        <p:grpSpPr>
          <a:xfrm rot="0">
            <a:off x="850392" y="297596"/>
            <a:ext cx="13990320" cy="1124712"/>
            <a:chOff x="0" y="0"/>
            <a:chExt cx="18653760" cy="1499616"/>
          </a:xfrm>
        </p:grpSpPr>
        <p:sp>
          <p:nvSpPr>
            <p:cNvPr name="Freeform 7" id="86"/>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8" id="87"/>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Platform Initiatives Roadmap</a:t>
              </a:r>
            </a:p>
          </p:txBody>
        </p:sp>
      </p:grpSp>
      <p:grpSp>
        <p:nvGrpSpPr>
          <p:cNvPr name="Group 9" id="88"/>
          <p:cNvGrpSpPr/>
          <p:nvPr/>
        </p:nvGrpSpPr>
        <p:grpSpPr>
          <a:xfrm rot="0">
            <a:off x="15457932" y="571916"/>
            <a:ext cx="1988820" cy="576072"/>
            <a:chOff x="0" y="0"/>
            <a:chExt cx="2651760" cy="768096"/>
          </a:xfrm>
        </p:grpSpPr>
        <p:sp>
          <p:nvSpPr>
            <p:cNvPr name="Freeform 10" id="89"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18"/>
              <a:stretch>
                <a:fillRect l="0" t="-26" r="0" b="-26"/>
              </a:stretch>
            </a:blipFill>
          </p:spPr>
        </p:sp>
      </p:grpSp>
      <p:sp>
        <p:nvSpPr>
          <p:cNvPr name="TextBox 13" id="90"/>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APPENDIX  |  IT</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10"/>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TextBox 10" id="7"/>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FEEDBACK FROM THE TEAMS SINCE GO-LIVE ON 17 SEP</a:t>
            </a:r>
          </a:p>
        </p:txBody>
      </p:sp>
      <p:grpSp>
        <p:nvGrpSpPr>
          <p:cNvPr name="Group 11" id="8"/>
          <p:cNvGrpSpPr/>
          <p:nvPr/>
        </p:nvGrpSpPr>
        <p:grpSpPr>
          <a:xfrm rot="0">
            <a:off x="626173" y="2098358"/>
            <a:ext cx="3118485" cy="1307973"/>
            <a:chOff x="0" y="0"/>
            <a:chExt cx="4157980" cy="1743964"/>
          </a:xfrm>
        </p:grpSpPr>
        <p:sp>
          <p:nvSpPr>
            <p:cNvPr name="Freeform 12" id="9"/>
            <p:cNvSpPr/>
            <p:nvPr/>
          </p:nvSpPr>
          <p:spPr>
            <a:xfrm flipH="false" flipV="false" rot="0">
              <a:off x="0" y="0"/>
              <a:ext cx="4157980" cy="1743964"/>
            </a:xfrm>
            <a:custGeom>
              <a:avLst/>
              <a:gdLst/>
              <a:ahLst/>
              <a:cxnLst/>
              <a:rect r="r" b="b" t="t" l="l"/>
              <a:pathLst>
                <a:path h="1743964" w="4157980">
                  <a:moveTo>
                    <a:pt x="0" y="0"/>
                  </a:moveTo>
                  <a:lnTo>
                    <a:pt x="4157980" y="0"/>
                  </a:lnTo>
                  <a:lnTo>
                    <a:pt x="4157980" y="1743964"/>
                  </a:lnTo>
                  <a:lnTo>
                    <a:pt x="0" y="1743964"/>
                  </a:lnTo>
                  <a:close/>
                </a:path>
              </a:pathLst>
            </a:custGeom>
            <a:solidFill>
              <a:srgbClr val="F7F8FC"/>
            </a:solidFill>
            <a:ln w="9525" cap="sq">
              <a:solidFill>
                <a:srgbClr val="E4E7F2"/>
              </a:solidFill>
              <a:prstDash val="solid"/>
              <a:miter/>
            </a:ln>
          </p:spPr>
        </p:sp>
      </p:grpSp>
      <p:grpSp>
        <p:nvGrpSpPr>
          <p:cNvPr name="Group 13" id="10"/>
          <p:cNvGrpSpPr/>
          <p:nvPr/>
        </p:nvGrpSpPr>
        <p:grpSpPr>
          <a:xfrm rot="0">
            <a:off x="630936" y="2103120"/>
            <a:ext cx="73152" cy="1298448"/>
            <a:chOff x="0" y="0"/>
            <a:chExt cx="97536" cy="1731264"/>
          </a:xfrm>
        </p:grpSpPr>
        <p:sp>
          <p:nvSpPr>
            <p:cNvPr name="Freeform 14" id="11"/>
            <p:cNvSpPr/>
            <p:nvPr/>
          </p:nvSpPr>
          <p:spPr>
            <a:xfrm flipH="false" flipV="false" rot="0">
              <a:off x="0" y="0"/>
              <a:ext cx="97536" cy="1731264"/>
            </a:xfrm>
            <a:custGeom>
              <a:avLst/>
              <a:gdLst/>
              <a:ahLst/>
              <a:cxnLst/>
              <a:rect r="r" b="b" t="t" l="l"/>
              <a:pathLst>
                <a:path h="1731264" w="97536">
                  <a:moveTo>
                    <a:pt x="0" y="0"/>
                  </a:moveTo>
                  <a:lnTo>
                    <a:pt x="97536" y="0"/>
                  </a:lnTo>
                  <a:lnTo>
                    <a:pt x="97536" y="1731264"/>
                  </a:lnTo>
                  <a:lnTo>
                    <a:pt x="0" y="1731264"/>
                  </a:lnTo>
                  <a:close/>
                </a:path>
              </a:pathLst>
            </a:custGeom>
            <a:solidFill>
              <a:srgbClr val="121C36"/>
            </a:solidFill>
          </p:spPr>
        </p:sp>
      </p:grpSp>
      <p:sp>
        <p:nvSpPr>
          <p:cNvPr name="TextBox 15" id="12"/>
          <p:cNvSpPr txBox="true"/>
          <p:nvPr/>
        </p:nvSpPr>
        <p:spPr>
          <a:xfrm rot="0">
            <a:off x="914400" y="2203323"/>
            <a:ext cx="2743200" cy="695325"/>
          </a:xfrm>
          <a:prstGeom prst="rect">
            <a:avLst/>
          </a:prstGeom>
        </p:spPr>
        <p:txBody>
          <a:bodyPr anchor="t" rtlCol="false" tIns="0" lIns="0" bIns="0" rIns="0">
            <a:spAutoFit/>
          </a:bodyPr>
          <a:lstStyle/>
          <a:p>
            <a:pPr algn="l">
              <a:lnSpc>
                <a:spcPts val="4320"/>
              </a:lnSpc>
            </a:pPr>
            <a:r>
              <a:rPr lang="en-US" sz="3600" b="true">
                <a:solidFill>
                  <a:srgbClr val="121C36"/>
                </a:solidFill>
                <a:latin typeface="Exo 2 Bold"/>
                <a:ea typeface="Exo 2 Bold"/>
                <a:cs typeface="Exo 2 Bold"/>
                <a:sym typeface="Exo 2 Bold"/>
              </a:rPr>
              <a:t>7</a:t>
            </a:r>
          </a:p>
        </p:txBody>
      </p:sp>
      <p:sp>
        <p:nvSpPr>
          <p:cNvPr name="TextBox 16" id="13"/>
          <p:cNvSpPr txBox="true"/>
          <p:nvPr/>
        </p:nvSpPr>
        <p:spPr>
          <a:xfrm rot="0">
            <a:off x="914400" y="2916555"/>
            <a:ext cx="2743200" cy="375285"/>
          </a:xfrm>
          <a:prstGeom prst="rect">
            <a:avLst/>
          </a:prstGeom>
        </p:spPr>
        <p:txBody>
          <a:bodyPr anchor="t" rtlCol="false" tIns="0" lIns="0" bIns="0" rIns="0">
            <a:spAutoFit/>
          </a:bodyPr>
          <a:lstStyle/>
          <a:p>
            <a:pPr algn="l">
              <a:lnSpc>
                <a:spcPts val="1800"/>
              </a:lnSpc>
            </a:pPr>
            <a:r>
              <a:rPr lang="en-US" sz="1500">
                <a:solidFill>
                  <a:srgbClr val="5A6A85"/>
                </a:solidFill>
                <a:latin typeface="Exo 2"/>
                <a:ea typeface="Exo 2"/>
                <a:cs typeface="Exo 2"/>
                <a:sym typeface="Exo 2"/>
              </a:rPr>
              <a:t>Items logged</a:t>
            </a:r>
          </a:p>
        </p:txBody>
      </p:sp>
      <p:grpSp>
        <p:nvGrpSpPr>
          <p:cNvPr name="Group 17" id="14"/>
          <p:cNvGrpSpPr/>
          <p:nvPr/>
        </p:nvGrpSpPr>
        <p:grpSpPr>
          <a:xfrm rot="0">
            <a:off x="626173" y="3579686"/>
            <a:ext cx="3118485" cy="1307973"/>
            <a:chOff x="0" y="0"/>
            <a:chExt cx="4157980" cy="1743964"/>
          </a:xfrm>
        </p:grpSpPr>
        <p:sp>
          <p:nvSpPr>
            <p:cNvPr name="Freeform 18" id="15"/>
            <p:cNvSpPr/>
            <p:nvPr/>
          </p:nvSpPr>
          <p:spPr>
            <a:xfrm flipH="false" flipV="false" rot="0">
              <a:off x="0" y="0"/>
              <a:ext cx="4157980" cy="1743964"/>
            </a:xfrm>
            <a:custGeom>
              <a:avLst/>
              <a:gdLst/>
              <a:ahLst/>
              <a:cxnLst/>
              <a:rect r="r" b="b" t="t" l="l"/>
              <a:pathLst>
                <a:path h="1743964" w="4157980">
                  <a:moveTo>
                    <a:pt x="0" y="0"/>
                  </a:moveTo>
                  <a:lnTo>
                    <a:pt x="4157980" y="0"/>
                  </a:lnTo>
                  <a:lnTo>
                    <a:pt x="4157980" y="1743964"/>
                  </a:lnTo>
                  <a:lnTo>
                    <a:pt x="0" y="1743964"/>
                  </a:lnTo>
                  <a:close/>
                </a:path>
              </a:pathLst>
            </a:custGeom>
            <a:solidFill>
              <a:srgbClr val="F7F8FC"/>
            </a:solidFill>
            <a:ln w="9525" cap="sq">
              <a:solidFill>
                <a:srgbClr val="E4E7F2"/>
              </a:solidFill>
              <a:prstDash val="solid"/>
              <a:miter/>
            </a:ln>
          </p:spPr>
        </p:sp>
      </p:grpSp>
      <p:grpSp>
        <p:nvGrpSpPr>
          <p:cNvPr name="Group 19" id="16"/>
          <p:cNvGrpSpPr/>
          <p:nvPr/>
        </p:nvGrpSpPr>
        <p:grpSpPr>
          <a:xfrm rot="0">
            <a:off x="630936" y="3584448"/>
            <a:ext cx="73152" cy="1298448"/>
            <a:chOff x="0" y="0"/>
            <a:chExt cx="97536" cy="1731264"/>
          </a:xfrm>
        </p:grpSpPr>
        <p:sp>
          <p:nvSpPr>
            <p:cNvPr name="Freeform 20" id="17"/>
            <p:cNvSpPr/>
            <p:nvPr/>
          </p:nvSpPr>
          <p:spPr>
            <a:xfrm flipH="false" flipV="false" rot="0">
              <a:off x="0" y="0"/>
              <a:ext cx="97536" cy="1731264"/>
            </a:xfrm>
            <a:custGeom>
              <a:avLst/>
              <a:gdLst/>
              <a:ahLst/>
              <a:cxnLst/>
              <a:rect r="r" b="b" t="t" l="l"/>
              <a:pathLst>
                <a:path h="1731264" w="97536">
                  <a:moveTo>
                    <a:pt x="0" y="0"/>
                  </a:moveTo>
                  <a:lnTo>
                    <a:pt x="97536" y="0"/>
                  </a:lnTo>
                  <a:lnTo>
                    <a:pt x="97536" y="1731264"/>
                  </a:lnTo>
                  <a:lnTo>
                    <a:pt x="0" y="1731264"/>
                  </a:lnTo>
                  <a:close/>
                </a:path>
              </a:pathLst>
            </a:custGeom>
            <a:solidFill>
              <a:srgbClr val="1E9E6B"/>
            </a:solidFill>
          </p:spPr>
        </p:sp>
      </p:grpSp>
      <p:sp>
        <p:nvSpPr>
          <p:cNvPr name="TextBox 21" id="18"/>
          <p:cNvSpPr txBox="true"/>
          <p:nvPr/>
        </p:nvSpPr>
        <p:spPr>
          <a:xfrm rot="0">
            <a:off x="914400" y="3684651"/>
            <a:ext cx="2743200" cy="695325"/>
          </a:xfrm>
          <a:prstGeom prst="rect">
            <a:avLst/>
          </a:prstGeom>
        </p:spPr>
        <p:txBody>
          <a:bodyPr anchor="t" rtlCol="false" tIns="0" lIns="0" bIns="0" rIns="0">
            <a:spAutoFit/>
          </a:bodyPr>
          <a:lstStyle/>
          <a:p>
            <a:pPr algn="l">
              <a:lnSpc>
                <a:spcPts val="4320"/>
              </a:lnSpc>
            </a:pPr>
            <a:r>
              <a:rPr lang="en-US" sz="3600" b="true">
                <a:solidFill>
                  <a:srgbClr val="1E9E6B"/>
                </a:solidFill>
                <a:latin typeface="Exo 2 Bold"/>
                <a:ea typeface="Exo 2 Bold"/>
                <a:cs typeface="Exo 2 Bold"/>
                <a:sym typeface="Exo 2 Bold"/>
              </a:rPr>
              <a:t>3</a:t>
            </a:r>
          </a:p>
        </p:txBody>
      </p:sp>
      <p:sp>
        <p:nvSpPr>
          <p:cNvPr name="TextBox 22" id="19"/>
          <p:cNvSpPr txBox="true"/>
          <p:nvPr/>
        </p:nvSpPr>
        <p:spPr>
          <a:xfrm rot="0">
            <a:off x="914400" y="4397883"/>
            <a:ext cx="2743200" cy="375285"/>
          </a:xfrm>
          <a:prstGeom prst="rect">
            <a:avLst/>
          </a:prstGeom>
        </p:spPr>
        <p:txBody>
          <a:bodyPr anchor="t" rtlCol="false" tIns="0" lIns="0" bIns="0" rIns="0">
            <a:spAutoFit/>
          </a:bodyPr>
          <a:lstStyle/>
          <a:p>
            <a:pPr algn="l">
              <a:lnSpc>
                <a:spcPts val="1800"/>
              </a:lnSpc>
            </a:pPr>
            <a:r>
              <a:rPr lang="en-US" sz="1500">
                <a:solidFill>
                  <a:srgbClr val="5A6A85"/>
                </a:solidFill>
                <a:latin typeface="Exo 2"/>
                <a:ea typeface="Exo 2"/>
                <a:cs typeface="Exo 2"/>
                <a:sym typeface="Exo 2"/>
              </a:rPr>
              <a:t>Completed</a:t>
            </a:r>
          </a:p>
        </p:txBody>
      </p:sp>
      <p:grpSp>
        <p:nvGrpSpPr>
          <p:cNvPr name="Group 23" id="20"/>
          <p:cNvGrpSpPr/>
          <p:nvPr/>
        </p:nvGrpSpPr>
        <p:grpSpPr>
          <a:xfrm rot="0">
            <a:off x="626173" y="5061014"/>
            <a:ext cx="3118485" cy="1307973"/>
            <a:chOff x="0" y="0"/>
            <a:chExt cx="4157980" cy="1743964"/>
          </a:xfrm>
        </p:grpSpPr>
        <p:sp>
          <p:nvSpPr>
            <p:cNvPr name="Freeform 24" id="21"/>
            <p:cNvSpPr/>
            <p:nvPr/>
          </p:nvSpPr>
          <p:spPr>
            <a:xfrm flipH="false" flipV="false" rot="0">
              <a:off x="0" y="0"/>
              <a:ext cx="4157980" cy="1743964"/>
            </a:xfrm>
            <a:custGeom>
              <a:avLst/>
              <a:gdLst/>
              <a:ahLst/>
              <a:cxnLst/>
              <a:rect r="r" b="b" t="t" l="l"/>
              <a:pathLst>
                <a:path h="1743964" w="4157980">
                  <a:moveTo>
                    <a:pt x="0" y="0"/>
                  </a:moveTo>
                  <a:lnTo>
                    <a:pt x="4157980" y="0"/>
                  </a:lnTo>
                  <a:lnTo>
                    <a:pt x="4157980" y="1743964"/>
                  </a:lnTo>
                  <a:lnTo>
                    <a:pt x="0" y="1743964"/>
                  </a:lnTo>
                  <a:close/>
                </a:path>
              </a:pathLst>
            </a:custGeom>
            <a:solidFill>
              <a:srgbClr val="F7F8FC"/>
            </a:solidFill>
            <a:ln w="9525" cap="sq">
              <a:solidFill>
                <a:srgbClr val="E4E7F2"/>
              </a:solidFill>
              <a:prstDash val="solid"/>
              <a:miter/>
            </a:ln>
          </p:spPr>
        </p:sp>
      </p:grpSp>
      <p:grpSp>
        <p:nvGrpSpPr>
          <p:cNvPr name="Group 25" id="22"/>
          <p:cNvGrpSpPr/>
          <p:nvPr/>
        </p:nvGrpSpPr>
        <p:grpSpPr>
          <a:xfrm rot="0">
            <a:off x="630936" y="5065776"/>
            <a:ext cx="73152" cy="1298448"/>
            <a:chOff x="0" y="0"/>
            <a:chExt cx="97536" cy="1731264"/>
          </a:xfrm>
        </p:grpSpPr>
        <p:sp>
          <p:nvSpPr>
            <p:cNvPr name="Freeform 26" id="23"/>
            <p:cNvSpPr/>
            <p:nvPr/>
          </p:nvSpPr>
          <p:spPr>
            <a:xfrm flipH="false" flipV="false" rot="0">
              <a:off x="0" y="0"/>
              <a:ext cx="97536" cy="1731264"/>
            </a:xfrm>
            <a:custGeom>
              <a:avLst/>
              <a:gdLst/>
              <a:ahLst/>
              <a:cxnLst/>
              <a:rect r="r" b="b" t="t" l="l"/>
              <a:pathLst>
                <a:path h="1731264" w="97536">
                  <a:moveTo>
                    <a:pt x="0" y="0"/>
                  </a:moveTo>
                  <a:lnTo>
                    <a:pt x="97536" y="0"/>
                  </a:lnTo>
                  <a:lnTo>
                    <a:pt x="97536" y="1731264"/>
                  </a:lnTo>
                  <a:lnTo>
                    <a:pt x="0" y="1731264"/>
                  </a:lnTo>
                  <a:close/>
                </a:path>
              </a:pathLst>
            </a:custGeom>
            <a:solidFill>
              <a:srgbClr val="D98C1F"/>
            </a:solidFill>
          </p:spPr>
        </p:sp>
      </p:grpSp>
      <p:sp>
        <p:nvSpPr>
          <p:cNvPr name="TextBox 27" id="24"/>
          <p:cNvSpPr txBox="true"/>
          <p:nvPr/>
        </p:nvSpPr>
        <p:spPr>
          <a:xfrm rot="0">
            <a:off x="914400" y="5165979"/>
            <a:ext cx="2743200" cy="695325"/>
          </a:xfrm>
          <a:prstGeom prst="rect">
            <a:avLst/>
          </a:prstGeom>
        </p:spPr>
        <p:txBody>
          <a:bodyPr anchor="t" rtlCol="false" tIns="0" lIns="0" bIns="0" rIns="0">
            <a:spAutoFit/>
          </a:bodyPr>
          <a:lstStyle/>
          <a:p>
            <a:pPr algn="l">
              <a:lnSpc>
                <a:spcPts val="4320"/>
              </a:lnSpc>
            </a:pPr>
            <a:r>
              <a:rPr lang="en-US" sz="3600" b="true">
                <a:solidFill>
                  <a:srgbClr val="D98C1F"/>
                </a:solidFill>
                <a:latin typeface="Exo 2 Bold"/>
                <a:ea typeface="Exo 2 Bold"/>
                <a:cs typeface="Exo 2 Bold"/>
                <a:sym typeface="Exo 2 Bold"/>
              </a:rPr>
              <a:t>1</a:t>
            </a:r>
          </a:p>
        </p:txBody>
      </p:sp>
      <p:sp>
        <p:nvSpPr>
          <p:cNvPr name="TextBox 28" id="25"/>
          <p:cNvSpPr txBox="true"/>
          <p:nvPr/>
        </p:nvSpPr>
        <p:spPr>
          <a:xfrm rot="0">
            <a:off x="914400" y="5879211"/>
            <a:ext cx="2743200" cy="375285"/>
          </a:xfrm>
          <a:prstGeom prst="rect">
            <a:avLst/>
          </a:prstGeom>
        </p:spPr>
        <p:txBody>
          <a:bodyPr anchor="t" rtlCol="false" tIns="0" lIns="0" bIns="0" rIns="0">
            <a:spAutoFit/>
          </a:bodyPr>
          <a:lstStyle/>
          <a:p>
            <a:pPr algn="l">
              <a:lnSpc>
                <a:spcPts val="1800"/>
              </a:lnSpc>
            </a:pPr>
            <a:r>
              <a:rPr lang="en-US" sz="1500">
                <a:solidFill>
                  <a:srgbClr val="5A6A85"/>
                </a:solidFill>
                <a:latin typeface="Exo 2"/>
                <a:ea typeface="Exo 2"/>
                <a:cs typeface="Exo 2"/>
                <a:sym typeface="Exo 2"/>
              </a:rPr>
              <a:t>In progress</a:t>
            </a:r>
          </a:p>
        </p:txBody>
      </p:sp>
      <p:grpSp>
        <p:nvGrpSpPr>
          <p:cNvPr name="Group 29" id="26"/>
          <p:cNvGrpSpPr/>
          <p:nvPr/>
        </p:nvGrpSpPr>
        <p:grpSpPr>
          <a:xfrm rot="0">
            <a:off x="626173" y="6542342"/>
            <a:ext cx="3118485" cy="1307973"/>
            <a:chOff x="0" y="0"/>
            <a:chExt cx="4157980" cy="1743964"/>
          </a:xfrm>
        </p:grpSpPr>
        <p:sp>
          <p:nvSpPr>
            <p:cNvPr name="Freeform 30" id="27"/>
            <p:cNvSpPr/>
            <p:nvPr/>
          </p:nvSpPr>
          <p:spPr>
            <a:xfrm flipH="false" flipV="false" rot="0">
              <a:off x="0" y="0"/>
              <a:ext cx="4157980" cy="1743964"/>
            </a:xfrm>
            <a:custGeom>
              <a:avLst/>
              <a:gdLst/>
              <a:ahLst/>
              <a:cxnLst/>
              <a:rect r="r" b="b" t="t" l="l"/>
              <a:pathLst>
                <a:path h="1743964" w="4157980">
                  <a:moveTo>
                    <a:pt x="0" y="0"/>
                  </a:moveTo>
                  <a:lnTo>
                    <a:pt x="4157980" y="0"/>
                  </a:lnTo>
                  <a:lnTo>
                    <a:pt x="4157980" y="1743964"/>
                  </a:lnTo>
                  <a:lnTo>
                    <a:pt x="0" y="1743964"/>
                  </a:lnTo>
                  <a:close/>
                </a:path>
              </a:pathLst>
            </a:custGeom>
            <a:solidFill>
              <a:srgbClr val="F7F8FC"/>
            </a:solidFill>
            <a:ln w="9525" cap="sq">
              <a:solidFill>
                <a:srgbClr val="E4E7F2"/>
              </a:solidFill>
              <a:prstDash val="solid"/>
              <a:miter/>
            </a:ln>
          </p:spPr>
        </p:sp>
      </p:grpSp>
      <p:grpSp>
        <p:nvGrpSpPr>
          <p:cNvPr name="Group 31" id="28"/>
          <p:cNvGrpSpPr/>
          <p:nvPr/>
        </p:nvGrpSpPr>
        <p:grpSpPr>
          <a:xfrm rot="0">
            <a:off x="630936" y="6547104"/>
            <a:ext cx="73152" cy="1298448"/>
            <a:chOff x="0" y="0"/>
            <a:chExt cx="97536" cy="1731264"/>
          </a:xfrm>
        </p:grpSpPr>
        <p:sp>
          <p:nvSpPr>
            <p:cNvPr name="Freeform 32" id="29"/>
            <p:cNvSpPr/>
            <p:nvPr/>
          </p:nvSpPr>
          <p:spPr>
            <a:xfrm flipH="false" flipV="false" rot="0">
              <a:off x="0" y="0"/>
              <a:ext cx="97536" cy="1731264"/>
            </a:xfrm>
            <a:custGeom>
              <a:avLst/>
              <a:gdLst/>
              <a:ahLst/>
              <a:cxnLst/>
              <a:rect r="r" b="b" t="t" l="l"/>
              <a:pathLst>
                <a:path h="1731264" w="97536">
                  <a:moveTo>
                    <a:pt x="0" y="0"/>
                  </a:moveTo>
                  <a:lnTo>
                    <a:pt x="97536" y="0"/>
                  </a:lnTo>
                  <a:lnTo>
                    <a:pt x="97536" y="1731264"/>
                  </a:lnTo>
                  <a:lnTo>
                    <a:pt x="0" y="1731264"/>
                  </a:lnTo>
                  <a:close/>
                </a:path>
              </a:pathLst>
            </a:custGeom>
            <a:solidFill>
              <a:srgbClr val="3C61B6"/>
            </a:solidFill>
          </p:spPr>
        </p:sp>
      </p:grpSp>
      <p:sp>
        <p:nvSpPr>
          <p:cNvPr name="TextBox 33" id="30"/>
          <p:cNvSpPr txBox="true"/>
          <p:nvPr/>
        </p:nvSpPr>
        <p:spPr>
          <a:xfrm rot="0">
            <a:off x="914400" y="6647307"/>
            <a:ext cx="2743200" cy="695325"/>
          </a:xfrm>
          <a:prstGeom prst="rect">
            <a:avLst/>
          </a:prstGeom>
        </p:spPr>
        <p:txBody>
          <a:bodyPr anchor="t" rtlCol="false" tIns="0" lIns="0" bIns="0" rIns="0">
            <a:spAutoFit/>
          </a:bodyPr>
          <a:lstStyle/>
          <a:p>
            <a:pPr algn="l">
              <a:lnSpc>
                <a:spcPts val="4320"/>
              </a:lnSpc>
            </a:pPr>
            <a:r>
              <a:rPr lang="en-US" sz="3600" b="true">
                <a:solidFill>
                  <a:srgbClr val="3C61B6"/>
                </a:solidFill>
                <a:latin typeface="Exo 2 Bold"/>
                <a:ea typeface="Exo 2 Bold"/>
                <a:cs typeface="Exo 2 Bold"/>
                <a:sym typeface="Exo 2 Bold"/>
              </a:rPr>
              <a:t>3</a:t>
            </a:r>
          </a:p>
        </p:txBody>
      </p:sp>
      <p:sp>
        <p:nvSpPr>
          <p:cNvPr name="TextBox 34" id="31"/>
          <p:cNvSpPr txBox="true"/>
          <p:nvPr/>
        </p:nvSpPr>
        <p:spPr>
          <a:xfrm rot="0">
            <a:off x="914400" y="7360539"/>
            <a:ext cx="2743200" cy="375285"/>
          </a:xfrm>
          <a:prstGeom prst="rect">
            <a:avLst/>
          </a:prstGeom>
        </p:spPr>
        <p:txBody>
          <a:bodyPr anchor="t" rtlCol="false" tIns="0" lIns="0" bIns="0" rIns="0">
            <a:spAutoFit/>
          </a:bodyPr>
          <a:lstStyle/>
          <a:p>
            <a:pPr algn="l">
              <a:lnSpc>
                <a:spcPts val="1800"/>
              </a:lnSpc>
            </a:pPr>
            <a:r>
              <a:rPr lang="en-US" sz="1500">
                <a:solidFill>
                  <a:srgbClr val="5A6A85"/>
                </a:solidFill>
                <a:latin typeface="Exo 2"/>
                <a:ea typeface="Exo 2"/>
                <a:cs typeface="Exo 2"/>
                <a:sym typeface="Exo 2"/>
              </a:rPr>
              <a:t>New</a:t>
            </a:r>
          </a:p>
        </p:txBody>
      </p:sp>
      <p:graphicFrame>
        <p:nvGraphicFramePr>
          <p:cNvPr name="Table 35" id="32"/>
          <p:cNvGraphicFramePr>
            <a:graphicFrameLocks noGrp="true"/>
          </p:cNvGraphicFramePr>
          <p:nvPr/>
        </p:nvGraphicFramePr>
        <p:xfrm>
          <a:off x="4069080" y="2103120"/>
          <a:ext cx="13563600" cy="5689600"/>
        </p:xfrm>
        <a:graphic>
          <a:graphicData uri="http://schemas.openxmlformats.org/drawingml/2006/table">
            <a:tbl>
              <a:tblPr/>
              <a:tblGrid>
                <a:gridCol w="9387773"/>
                <a:gridCol w="1742035"/>
                <a:gridCol w="2433792"/>
              </a:tblGrid>
              <a:tr h="711200">
                <a:tc>
                  <a:txBody>
                    <a:bodyPr anchor="t" rtlCol="false"/>
                    <a:lstStyle/>
                    <a:p>
                      <a:pPr algn="l">
                        <a:lnSpc>
                          <a:spcPts val="1800"/>
                        </a:lnSpc>
                        <a:defRPr/>
                      </a:pPr>
                      <a:r>
                        <a:rPr lang="en-US" sz="1500" b="true">
                          <a:solidFill>
                            <a:srgbClr val="FFFFFF"/>
                          </a:solidFill>
                          <a:latin typeface="Exo 2 Bold"/>
                          <a:ea typeface="Exo 2 Bold"/>
                          <a:cs typeface="Exo 2 Bold"/>
                          <a:sym typeface="Exo 2 Bold"/>
                        </a:rPr>
                        <a:t>Improvement</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Priority</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c>
                  <a:txBody>
                    <a:bodyPr anchor="t" rtlCol="false"/>
                    <a:lstStyle/>
                    <a:p>
                      <a:pPr algn="ctr">
                        <a:lnSpc>
                          <a:spcPts val="1800"/>
                        </a:lnSpc>
                        <a:defRPr/>
                      </a:pPr>
                      <a:r>
                        <a:rPr lang="en-US" sz="1500" b="true">
                          <a:solidFill>
                            <a:srgbClr val="FFFFFF"/>
                          </a:solidFill>
                          <a:latin typeface="Exo 2 Bold"/>
                          <a:ea typeface="Exo 2 Bold"/>
                          <a:cs typeface="Exo 2 Bold"/>
                          <a:sym typeface="Exo 2 Bold"/>
                        </a:rPr>
                        <a:t>Status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121C36"/>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Standalone desktop app for Client Experience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Auto-acknowledgement email with ticket ID</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Medium</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680"/>
                        </a:lnSpc>
                        <a:defRPr/>
                      </a:pPr>
                      <a:r>
                        <a:rPr lang="en-US" sz="1400"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Notify Client Experience of new tickets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Medium</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b="true">
                          <a:solidFill>
                            <a:srgbClr val="1E9E6B"/>
                          </a:solidFill>
                          <a:latin typeface="Exo 2 Bold"/>
                          <a:ea typeface="Exo 2 Bold"/>
                          <a:cs typeface="Exo 2 Bold"/>
                          <a:sym typeface="Exo 2 Bold"/>
                        </a:rPr>
                        <a:t>DONE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6F5EE"/>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Pause SLA timers on weekends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680"/>
                        </a:lnSpc>
                        <a:defRPr/>
                      </a:pPr>
                      <a:r>
                        <a:rPr lang="en-US" sz="1400" b="true">
                          <a:solidFill>
                            <a:srgbClr val="D98C1F"/>
                          </a:solidFill>
                          <a:latin typeface="Exo 2 Bold"/>
                          <a:ea typeface="Exo 2 Bold"/>
                          <a:cs typeface="Exo 2 Bold"/>
                          <a:sym typeface="Exo 2 Bold"/>
                        </a:rPr>
                        <a:t>IN PROGRESS</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DF3E4"/>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Knowledge base linked to the eMYAA support page</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b="true">
                          <a:solidFill>
                            <a:srgbClr val="3C61B6"/>
                          </a:solidFill>
                          <a:latin typeface="Exo 2 Bold"/>
                          <a:ea typeface="Exo 2 Bold"/>
                          <a:cs typeface="Exo 2 Bold"/>
                          <a:sym typeface="Exo 2 Bold"/>
                        </a:rPr>
                        <a:t>NEW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8EEFA"/>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Create a ticket when a chatbot user picks "Contact a Human"</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7F8FC"/>
                    </a:solidFill>
                  </a:tcPr>
                </a:tc>
                <a:tc>
                  <a:txBody>
                    <a:bodyPr anchor="t" rtlCol="false"/>
                    <a:lstStyle/>
                    <a:p>
                      <a:pPr algn="ctr">
                        <a:lnSpc>
                          <a:spcPts val="1680"/>
                        </a:lnSpc>
                        <a:defRPr/>
                      </a:pPr>
                      <a:r>
                        <a:rPr lang="en-US" sz="1400" b="true">
                          <a:solidFill>
                            <a:srgbClr val="3C61B6"/>
                          </a:solidFill>
                          <a:latin typeface="Exo 2 Bold"/>
                          <a:ea typeface="Exo 2 Bold"/>
                          <a:cs typeface="Exo 2 Bold"/>
                          <a:sym typeface="Exo 2 Bold"/>
                        </a:rPr>
                        <a:t>NEW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8EEFA"/>
                    </a:solidFill>
                  </a:tcPr>
                </a:tc>
              </a:tr>
              <a:tr h="711200">
                <a:tc>
                  <a:txBody>
                    <a:bodyPr anchor="t" rtlCol="false"/>
                    <a:lstStyle/>
                    <a:p>
                      <a:pPr algn="l">
                        <a:lnSpc>
                          <a:spcPts val="1800"/>
                        </a:lnSpc>
                        <a:defRPr/>
                      </a:pPr>
                      <a:r>
                        <a:rPr lang="en-US" sz="1500">
                          <a:solidFill>
                            <a:srgbClr val="5A6A85"/>
                          </a:solidFill>
                          <a:latin typeface="Exo 2"/>
                          <a:ea typeface="Exo 2"/>
                          <a:cs typeface="Exo 2"/>
                          <a:sym typeface="Exo 2"/>
                        </a:rPr>
                        <a:t>CRM link: create Helpdesk accounts for new users automatically</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5A6A85"/>
                          </a:solidFill>
                          <a:latin typeface="Exo 2"/>
                          <a:ea typeface="Exo 2"/>
                          <a:cs typeface="Exo 2"/>
                          <a:sym typeface="Exo 2"/>
                        </a:rPr>
                        <a:t>Low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b="true">
                          <a:solidFill>
                            <a:srgbClr val="3C61B6"/>
                          </a:solidFill>
                          <a:latin typeface="Exo 2 Bold"/>
                          <a:ea typeface="Exo 2 Bold"/>
                          <a:cs typeface="Exo 2 Bold"/>
                          <a:sym typeface="Exo 2 Bold"/>
                        </a:rPr>
                        <a:t>NEW</a:t>
                      </a:r>
                      <a:endParaRPr lang="en-US" sz="1100"/>
                    </a:p>
                  </a:txBody>
                  <a:tcPr marL="128016" marR="128016" marT="128016" marB="128016" anchor="ctr">
                    <a:lnL cmpd="sng" algn="ctr" cap="flat" w="6350">
                      <a:solidFill>
                        <a:srgbClr val="C5CED8"/>
                      </a:solidFill>
                      <a:prstDash val="solid"/>
                      <a:round/>
                      <a:headEnd type="none" w="med" len="med"/>
                      <a:tailEnd type="none" w="med" len="med"/>
                    </a:lnL>
                    <a:lnR cmpd="sng" algn="ctr" cap="flat" w="6350">
                      <a:solidFill>
                        <a:srgbClr val="C5CED8"/>
                      </a:solidFill>
                      <a:prstDash val="solid"/>
                      <a:round/>
                      <a:headEnd type="none" w="med" len="med"/>
                      <a:tailEnd type="none" w="med" len="med"/>
                    </a:lnR>
                    <a:lnT cmpd="sng" algn="ctr" cap="flat" w="6350">
                      <a:solidFill>
                        <a:srgbClr val="C5CED8"/>
                      </a:solidFill>
                      <a:prstDash val="solid"/>
                      <a:round/>
                      <a:headEnd type="none" w="med" len="med"/>
                      <a:tailEnd type="none" w="med" len="med"/>
                    </a:lnT>
                    <a:lnB cmpd="sng" algn="ctr" cap="flat" w="6350">
                      <a:solidFill>
                        <a:srgbClr val="C5CED8"/>
                      </a:solidFill>
                      <a:prstDash val="solid"/>
                      <a:round/>
                      <a:headEnd type="none" w="med" len="med"/>
                      <a:tailEnd type="none" w="med" len="med"/>
                    </a:lnB>
                    <a:solidFill>
                      <a:srgbClr val="E8EEFA"/>
                    </a:solidFill>
                  </a:tcPr>
                </a:tc>
              </a:tr>
            </a:tbl>
          </a:graphicData>
        </a:graphic>
      </p:graphicFrame>
      <p:sp>
        <p:nvSpPr>
          <p:cNvPr name="Freeform 36" id="33"/>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2"/>
            <a:stretch>
              <a:fillRect l="0" t="0" r="0" b="0"/>
            </a:stretch>
          </a:blipFill>
        </p:spPr>
      </p:sp>
      <p:grpSp>
        <p:nvGrpSpPr>
          <p:cNvPr name="Group 6" id="34"/>
          <p:cNvGrpSpPr/>
          <p:nvPr/>
        </p:nvGrpSpPr>
        <p:grpSpPr>
          <a:xfrm rot="0">
            <a:off x="850392" y="297596"/>
            <a:ext cx="13990320" cy="1124712"/>
            <a:chOff x="0" y="0"/>
            <a:chExt cx="18653760" cy="1499616"/>
          </a:xfrm>
        </p:grpSpPr>
        <p:sp>
          <p:nvSpPr>
            <p:cNvPr name="Freeform 7" id="35"/>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5">
                <a:alphaModFix amt="0"/>
              </a:blip>
              <a:stretch>
                <a:fillRect l="0" t="-192374" r="0" b="-192374"/>
              </a:stretch>
            </a:blipFill>
          </p:spPr>
        </p:sp>
        <p:sp>
          <p:nvSpPr>
            <p:cNvPr name="TextBox 8" id="36"/>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Helpdesk: Improvement Backlog</a:t>
              </a:r>
            </a:p>
          </p:txBody>
        </p:sp>
      </p:grpSp>
      <p:grpSp>
        <p:nvGrpSpPr>
          <p:cNvPr name="Group 9" id="37"/>
          <p:cNvGrpSpPr/>
          <p:nvPr/>
        </p:nvGrpSpPr>
        <p:grpSpPr>
          <a:xfrm rot="0">
            <a:off x="15457932" y="571916"/>
            <a:ext cx="1988820" cy="576072"/>
            <a:chOff x="0" y="0"/>
            <a:chExt cx="2651760" cy="768096"/>
          </a:xfrm>
        </p:grpSpPr>
        <p:sp>
          <p:nvSpPr>
            <p:cNvPr name="Freeform 10" id="38"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11"/>
              <a:stretch>
                <a:fillRect l="0" t="-26" r="0" b="-26"/>
              </a:stretch>
            </a:blipFill>
          </p:spPr>
        </p:sp>
      </p:grpSp>
      <p:sp>
        <p:nvSpPr>
          <p:cNvPr name="TextBox 13" id="39"/>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APPENDIX  |  IT</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11"/>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Freeform 10" id="7"/>
          <p:cNvSpPr/>
          <p:nvPr/>
        </p:nvSpPr>
        <p:spPr>
          <a:xfrm flipH="false" flipV="false" rot="0">
            <a:off x="623411" y="2079927"/>
            <a:ext cx="17041177" cy="4760366"/>
          </a:xfrm>
          <a:custGeom>
            <a:avLst/>
            <a:gdLst/>
            <a:ahLst/>
            <a:cxnLst/>
            <a:rect r="r" b="b" t="t" l="l"/>
            <a:pathLst>
              <a:path h="4760366" w="17041177">
                <a:moveTo>
                  <a:pt x="0" y="0"/>
                </a:moveTo>
                <a:lnTo>
                  <a:pt x="17041178" y="0"/>
                </a:lnTo>
                <a:lnTo>
                  <a:pt x="17041178" y="4760366"/>
                </a:lnTo>
                <a:lnTo>
                  <a:pt x="0" y="4760366"/>
                </a:lnTo>
                <a:lnTo>
                  <a:pt x="0" y="0"/>
                </a:lnTo>
                <a:close/>
              </a:path>
            </a:pathLst>
          </a:custGeom>
          <a:blipFill>
            <a:blip r:embed="rId13"/>
            <a:stretch>
              <a:fillRect l="0" t="0" r="0" b="0"/>
            </a:stretch>
          </a:blipFill>
        </p:spPr>
      </p:sp>
      <p:grpSp>
        <p:nvGrpSpPr>
          <p:cNvPr name="Group 11" id="8"/>
          <p:cNvGrpSpPr/>
          <p:nvPr/>
        </p:nvGrpSpPr>
        <p:grpSpPr>
          <a:xfrm rot="0">
            <a:off x="955548" y="2312622"/>
            <a:ext cx="14813280" cy="548640"/>
            <a:chOff x="0" y="0"/>
            <a:chExt cx="19751040" cy="731520"/>
          </a:xfrm>
        </p:grpSpPr>
        <p:sp>
          <p:nvSpPr>
            <p:cNvPr name="Freeform 12" id="9"/>
            <p:cNvSpPr/>
            <p:nvPr/>
          </p:nvSpPr>
          <p:spPr>
            <a:xfrm flipH="false" flipV="false" rot="0">
              <a:off x="0" y="0"/>
              <a:ext cx="19751039" cy="731520"/>
            </a:xfrm>
            <a:custGeom>
              <a:avLst/>
              <a:gdLst/>
              <a:ahLst/>
              <a:cxnLst/>
              <a:rect r="r" b="b" t="t" l="l"/>
              <a:pathLst>
                <a:path h="731520" w="19751039">
                  <a:moveTo>
                    <a:pt x="0" y="0"/>
                  </a:moveTo>
                  <a:lnTo>
                    <a:pt x="19751039" y="0"/>
                  </a:lnTo>
                  <a:lnTo>
                    <a:pt x="19751039" y="731520"/>
                  </a:lnTo>
                  <a:lnTo>
                    <a:pt x="0" y="731520"/>
                  </a:lnTo>
                  <a:close/>
                </a:path>
              </a:pathLst>
            </a:custGeom>
            <a:blipFill>
              <a:blip r:embed="rId3">
                <a:alphaModFix amt="0"/>
              </a:blip>
              <a:stretch>
                <a:fillRect l="0" t="-475730" r="0" b="-475729"/>
              </a:stretch>
            </a:blipFill>
          </p:spPr>
        </p:sp>
      </p:grpSp>
      <p:grpSp>
        <p:nvGrpSpPr>
          <p:cNvPr name="Group 13" id="10"/>
          <p:cNvGrpSpPr/>
          <p:nvPr/>
        </p:nvGrpSpPr>
        <p:grpSpPr>
          <a:xfrm rot="0">
            <a:off x="955548" y="2305479"/>
            <a:ext cx="14813280" cy="555784"/>
            <a:chOff x="0" y="0"/>
            <a:chExt cx="19751040" cy="741045"/>
          </a:xfrm>
        </p:grpSpPr>
        <p:sp>
          <p:nvSpPr>
            <p:cNvPr name="Freeform 14" id="11"/>
            <p:cNvSpPr/>
            <p:nvPr/>
          </p:nvSpPr>
          <p:spPr>
            <a:xfrm flipH="false" flipV="false" rot="0">
              <a:off x="0" y="0"/>
              <a:ext cx="19751039" cy="741045"/>
            </a:xfrm>
            <a:custGeom>
              <a:avLst/>
              <a:gdLst/>
              <a:ahLst/>
              <a:cxnLst/>
              <a:rect r="r" b="b" t="t" l="l"/>
              <a:pathLst>
                <a:path h="741045" w="19751039">
                  <a:moveTo>
                    <a:pt x="0" y="0"/>
                  </a:moveTo>
                  <a:lnTo>
                    <a:pt x="19751039" y="0"/>
                  </a:lnTo>
                  <a:lnTo>
                    <a:pt x="19751039" y="741045"/>
                  </a:lnTo>
                  <a:lnTo>
                    <a:pt x="0" y="741045"/>
                  </a:lnTo>
                  <a:close/>
                </a:path>
              </a:pathLst>
            </a:custGeom>
            <a:blipFill>
              <a:blip r:embed="rId4">
                <a:alphaModFix amt="0"/>
              </a:blip>
              <a:stretch>
                <a:fillRect l="0" t="-469333" r="0" b="-469333"/>
              </a:stretch>
            </a:blipFill>
          </p:spPr>
        </p:sp>
        <p:sp>
          <p:nvSpPr>
            <p:cNvPr name="TextBox 15" id="12"/>
            <p:cNvSpPr txBox="true"/>
            <p:nvPr/>
          </p:nvSpPr>
          <p:spPr>
            <a:xfrm>
              <a:off x="0" y="-9525"/>
              <a:ext cx="19751040" cy="750570"/>
            </a:xfrm>
            <a:prstGeom prst="rect">
              <a:avLst/>
            </a:prstGeom>
          </p:spPr>
          <p:txBody>
            <a:bodyPr anchor="ctr" rtlCol="false" tIns="0" lIns="0" bIns="0" rIns="0"/>
            <a:lstStyle/>
            <a:p>
              <a:pPr algn="l">
                <a:lnSpc>
                  <a:spcPts val="2700"/>
                </a:lnSpc>
              </a:pPr>
              <a:r>
                <a:rPr lang="en-US" sz="2250" b="true">
                  <a:solidFill>
                    <a:srgbClr val="1B1B3A"/>
                  </a:solidFill>
                  <a:latin typeface="Exo 2 Bold"/>
                  <a:ea typeface="Exo 2 Bold"/>
                  <a:cs typeface="Exo 2 Bold"/>
                  <a:sym typeface="Exo 2 Bold"/>
                </a:rPr>
                <a:t>Exante - Status Update</a:t>
              </a:r>
            </a:p>
          </p:txBody>
        </p:sp>
      </p:grpSp>
      <p:grpSp>
        <p:nvGrpSpPr>
          <p:cNvPr name="Group 16" id="13"/>
          <p:cNvGrpSpPr/>
          <p:nvPr/>
        </p:nvGrpSpPr>
        <p:grpSpPr>
          <a:xfrm rot="0">
            <a:off x="937260" y="3256026"/>
            <a:ext cx="246888" cy="246888"/>
            <a:chOff x="0" y="0"/>
            <a:chExt cx="329184" cy="329184"/>
          </a:xfrm>
        </p:grpSpPr>
        <p:sp>
          <p:nvSpPr>
            <p:cNvPr name="Freeform 17" id="14"/>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59608"/>
              </a:srgbClr>
            </a:solidFill>
          </p:spPr>
        </p:sp>
      </p:grpSp>
      <p:sp>
        <p:nvSpPr>
          <p:cNvPr name="TextBox 18" id="15"/>
          <p:cNvSpPr txBox="true"/>
          <p:nvPr/>
        </p:nvSpPr>
        <p:spPr>
          <a:xfrm rot="0">
            <a:off x="1348740" y="3065907"/>
            <a:ext cx="15910560" cy="688848"/>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Corporate Client Onboarding</a:t>
            </a:r>
          </a:p>
          <a:p>
            <a:pPr algn="l">
              <a:lnSpc>
                <a:spcPts val="2690"/>
              </a:lnSpc>
            </a:pPr>
            <a:r>
              <a:rPr lang="en-US" sz="1950">
                <a:solidFill>
                  <a:srgbClr val="6B7280"/>
                </a:solidFill>
                <a:latin typeface="Exo 2"/>
                <a:ea typeface="Exo 2"/>
                <a:cs typeface="Exo 2"/>
                <a:sym typeface="Exo 2"/>
              </a:rPr>
              <a:t>Aligned with the Exante team on the end-to-end process for onboarding corporate clients.</a:t>
            </a:r>
          </a:p>
        </p:txBody>
      </p:sp>
      <p:grpSp>
        <p:nvGrpSpPr>
          <p:cNvPr name="Group 19" id="16"/>
          <p:cNvGrpSpPr/>
          <p:nvPr/>
        </p:nvGrpSpPr>
        <p:grpSpPr>
          <a:xfrm rot="0">
            <a:off x="937260" y="4348029"/>
            <a:ext cx="246888" cy="246888"/>
            <a:chOff x="0" y="0"/>
            <a:chExt cx="329184" cy="329184"/>
          </a:xfrm>
        </p:grpSpPr>
        <p:sp>
          <p:nvSpPr>
            <p:cNvPr name="Freeform 20" id="17"/>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59608"/>
              </a:srgbClr>
            </a:solidFill>
          </p:spPr>
        </p:sp>
      </p:grpSp>
      <p:sp>
        <p:nvSpPr>
          <p:cNvPr name="TextBox 21" id="18"/>
          <p:cNvSpPr txBox="true"/>
          <p:nvPr/>
        </p:nvSpPr>
        <p:spPr>
          <a:xfrm rot="0">
            <a:off x="1348740" y="4157910"/>
            <a:ext cx="15910560" cy="688848"/>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New Application Release</a:t>
            </a:r>
          </a:p>
          <a:p>
            <a:pPr algn="l">
              <a:lnSpc>
                <a:spcPts val="2690"/>
              </a:lnSpc>
            </a:pPr>
            <a:r>
              <a:rPr lang="en-US" sz="1950">
                <a:solidFill>
                  <a:srgbClr val="6B7280"/>
                </a:solidFill>
                <a:latin typeface="Exo 2"/>
                <a:ea typeface="Exo 2"/>
                <a:cs typeface="Exo 2"/>
                <a:sym typeface="Exo 2"/>
              </a:rPr>
              <a:t>First version of the Next App due 08 Oct 2026. Full release plan to be shared next week.</a:t>
            </a:r>
          </a:p>
        </p:txBody>
      </p:sp>
      <p:grpSp>
        <p:nvGrpSpPr>
          <p:cNvPr name="Group 22" id="19"/>
          <p:cNvGrpSpPr/>
          <p:nvPr/>
        </p:nvGrpSpPr>
        <p:grpSpPr>
          <a:xfrm rot="0">
            <a:off x="937260" y="5440042"/>
            <a:ext cx="246888" cy="246888"/>
            <a:chOff x="0" y="0"/>
            <a:chExt cx="329184" cy="329184"/>
          </a:xfrm>
        </p:grpSpPr>
        <p:sp>
          <p:nvSpPr>
            <p:cNvPr name="Freeform 23" id="20"/>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59608"/>
              </a:srgbClr>
            </a:solidFill>
          </p:spPr>
        </p:sp>
      </p:grpSp>
      <p:sp>
        <p:nvSpPr>
          <p:cNvPr name="TextBox 24" id="21"/>
          <p:cNvSpPr txBox="true"/>
          <p:nvPr/>
        </p:nvSpPr>
        <p:spPr>
          <a:xfrm rot="0">
            <a:off x="1348740" y="5249923"/>
            <a:ext cx="15910560" cy="1022223"/>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Sanity / Smoke Tests</a:t>
            </a:r>
          </a:p>
          <a:p>
            <a:pPr algn="l">
              <a:lnSpc>
                <a:spcPts val="2690"/>
              </a:lnSpc>
            </a:pPr>
            <a:r>
              <a:rPr lang="en-US" sz="1950">
                <a:solidFill>
                  <a:srgbClr val="6B7280"/>
                </a:solidFill>
                <a:latin typeface="Exo 2"/>
                <a:ea typeface="Exo 2"/>
                <a:cs typeface="Exo 2"/>
                <a:sym typeface="Exo 2"/>
              </a:rPr>
              <a:t>The Android security update passed two internal test rounds (99.4%) and went live on Google Play on 29 Sep. Sanity test date for Next App v1: to be confirmed.</a:t>
            </a:r>
          </a:p>
        </p:txBody>
      </p:sp>
      <p:sp>
        <p:nvSpPr>
          <p:cNvPr name="Freeform 25" id="22"/>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4"/>
            <a:stretch>
              <a:fillRect l="0" t="0" r="0" b="0"/>
            </a:stretch>
          </a:blipFill>
        </p:spPr>
      </p:sp>
      <p:grpSp>
        <p:nvGrpSpPr>
          <p:cNvPr name="Group 6" id="23"/>
          <p:cNvGrpSpPr/>
          <p:nvPr/>
        </p:nvGrpSpPr>
        <p:grpSpPr>
          <a:xfrm rot="0">
            <a:off x="850392" y="297596"/>
            <a:ext cx="13990320" cy="1124712"/>
            <a:chOff x="0" y="0"/>
            <a:chExt cx="18653760" cy="1499616"/>
          </a:xfrm>
        </p:grpSpPr>
        <p:sp>
          <p:nvSpPr>
            <p:cNvPr name="Freeform 7" id="24"/>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8" id="25"/>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IT Progress Update</a:t>
              </a:r>
            </a:p>
          </p:txBody>
        </p:sp>
      </p:grpSp>
      <p:grpSp>
        <p:nvGrpSpPr>
          <p:cNvPr name="Group 9" id="26"/>
          <p:cNvGrpSpPr/>
          <p:nvPr/>
        </p:nvGrpSpPr>
        <p:grpSpPr>
          <a:xfrm rot="0">
            <a:off x="15457932" y="571916"/>
            <a:ext cx="1988820" cy="576072"/>
            <a:chOff x="0" y="0"/>
            <a:chExt cx="2651760" cy="768096"/>
          </a:xfrm>
        </p:grpSpPr>
        <p:sp>
          <p:nvSpPr>
            <p:cNvPr name="Freeform 10" id="27"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12"/>
              <a:stretch>
                <a:fillRect l="0" t="-26" r="0" b="-26"/>
              </a:stretch>
            </a:blipFill>
          </p:spPr>
        </p:sp>
      </p:grpSp>
      <p:sp>
        <p:nvSpPr>
          <p:cNvPr name="TextBox 13" id="28"/>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APPENDIX  |  IT</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3"/>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TextBox 14" id="7"/>
          <p:cNvSpPr txBox="true"/>
          <p:nvPr/>
        </p:nvSpPr>
        <p:spPr>
          <a:xfrm rot="0">
            <a:off x="836104" y="2245233"/>
            <a:ext cx="10081260" cy="247650"/>
          </a:xfrm>
          <a:prstGeom prst="rect">
            <a:avLst/>
          </a:prstGeom>
        </p:spPr>
        <p:txBody>
          <a:bodyPr anchor="t" rtlCol="false" tIns="0" lIns="0" bIns="0" rIns="0">
            <a:spAutoFit/>
          </a:bodyPr>
          <a:lstStyle/>
          <a:p>
            <a:pPr algn="ctr">
              <a:lnSpc>
                <a:spcPts val="1980"/>
              </a:lnSpc>
            </a:pPr>
            <a:r>
              <a:rPr lang="en-US" sz="1650">
                <a:solidFill>
                  <a:srgbClr val="132257"/>
                </a:solidFill>
                <a:latin typeface="Exo 2"/>
                <a:ea typeface="Exo 2"/>
                <a:cs typeface="Exo 2"/>
                <a:sym typeface="Exo 2"/>
              </a:rPr>
              <a:t>App installs, cumulative (Android + iOS)</a:t>
            </a:r>
          </a:p>
        </p:txBody>
      </p:sp>
      <p:sp>
        <p:nvSpPr>
          <p:cNvPr name="AutoShape 15" id="8"/>
          <p:cNvSpPr/>
          <p:nvPr/>
        </p:nvSpPr>
        <p:spPr>
          <a:xfrm>
            <a:off x="1512380" y="7516340"/>
            <a:ext cx="9277349" cy="19107"/>
          </a:xfrm>
          <a:prstGeom prst="line">
            <a:avLst/>
          </a:prstGeom>
          <a:ln cap="rnd" w="9525">
            <a:solidFill>
              <a:srgbClr val="C6CFE4"/>
            </a:solidFill>
            <a:prstDash val="solid"/>
            <a:headEnd type="none" len="sm" w="sm"/>
            <a:tailEnd type="none" len="sm" w="sm"/>
          </a:ln>
        </p:spPr>
      </p:sp>
      <p:grpSp>
        <p:nvGrpSpPr>
          <p:cNvPr name="Group 16" id="9"/>
          <p:cNvGrpSpPr/>
          <p:nvPr/>
        </p:nvGrpSpPr>
        <p:grpSpPr>
          <a:xfrm rot="0">
            <a:off x="836105" y="7361301"/>
            <a:ext cx="576072" cy="329184"/>
            <a:chOff x="0" y="0"/>
            <a:chExt cx="768096" cy="438912"/>
          </a:xfrm>
        </p:grpSpPr>
        <p:sp>
          <p:nvSpPr>
            <p:cNvPr name="Freeform 17" id="10"/>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18" id="11"/>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360</a:t>
              </a:r>
            </a:p>
          </p:txBody>
        </p:sp>
      </p:grpSp>
      <p:sp>
        <p:nvSpPr>
          <p:cNvPr name="AutoShape 19" id="12"/>
          <p:cNvSpPr/>
          <p:nvPr/>
        </p:nvSpPr>
        <p:spPr>
          <a:xfrm>
            <a:off x="1514757" y="6599801"/>
            <a:ext cx="9272586" cy="14242"/>
          </a:xfrm>
          <a:prstGeom prst="line">
            <a:avLst/>
          </a:prstGeom>
          <a:ln cap="rnd" w="9525">
            <a:solidFill>
              <a:srgbClr val="E6EAF2"/>
            </a:solidFill>
            <a:prstDash val="solid"/>
            <a:headEnd type="none" len="sm" w="sm"/>
            <a:tailEnd type="none" len="sm" w="sm"/>
          </a:ln>
        </p:spPr>
      </p:sp>
      <p:grpSp>
        <p:nvGrpSpPr>
          <p:cNvPr name="Group 20" id="13"/>
          <p:cNvGrpSpPr/>
          <p:nvPr/>
        </p:nvGrpSpPr>
        <p:grpSpPr>
          <a:xfrm rot="0">
            <a:off x="836105" y="6442329"/>
            <a:ext cx="576072" cy="329184"/>
            <a:chOff x="0" y="0"/>
            <a:chExt cx="768096" cy="438912"/>
          </a:xfrm>
        </p:grpSpPr>
        <p:sp>
          <p:nvSpPr>
            <p:cNvPr name="Freeform 21" id="14"/>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22" id="15"/>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390</a:t>
              </a:r>
            </a:p>
          </p:txBody>
        </p:sp>
      </p:grpSp>
      <p:sp>
        <p:nvSpPr>
          <p:cNvPr name="AutoShape 23" id="16"/>
          <p:cNvSpPr/>
          <p:nvPr/>
        </p:nvSpPr>
        <p:spPr>
          <a:xfrm>
            <a:off x="1514757" y="5680829"/>
            <a:ext cx="9272586" cy="14242"/>
          </a:xfrm>
          <a:prstGeom prst="line">
            <a:avLst/>
          </a:prstGeom>
          <a:ln cap="rnd" w="9525">
            <a:solidFill>
              <a:srgbClr val="E6EAF2"/>
            </a:solidFill>
            <a:prstDash val="solid"/>
            <a:headEnd type="none" len="sm" w="sm"/>
            <a:tailEnd type="none" len="sm" w="sm"/>
          </a:ln>
        </p:spPr>
      </p:sp>
      <p:grpSp>
        <p:nvGrpSpPr>
          <p:cNvPr name="Group 24" id="17"/>
          <p:cNvGrpSpPr/>
          <p:nvPr/>
        </p:nvGrpSpPr>
        <p:grpSpPr>
          <a:xfrm rot="0">
            <a:off x="836105" y="5523357"/>
            <a:ext cx="576072" cy="329184"/>
            <a:chOff x="0" y="0"/>
            <a:chExt cx="768096" cy="438912"/>
          </a:xfrm>
        </p:grpSpPr>
        <p:sp>
          <p:nvSpPr>
            <p:cNvPr name="Freeform 25" id="18"/>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26" id="19"/>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420</a:t>
              </a:r>
            </a:p>
          </p:txBody>
        </p:sp>
      </p:grpSp>
      <p:sp>
        <p:nvSpPr>
          <p:cNvPr name="AutoShape 27" id="20"/>
          <p:cNvSpPr/>
          <p:nvPr/>
        </p:nvSpPr>
        <p:spPr>
          <a:xfrm>
            <a:off x="1514757" y="4761857"/>
            <a:ext cx="9272586" cy="14242"/>
          </a:xfrm>
          <a:prstGeom prst="line">
            <a:avLst/>
          </a:prstGeom>
          <a:ln cap="rnd" w="9525">
            <a:solidFill>
              <a:srgbClr val="E6EAF2"/>
            </a:solidFill>
            <a:prstDash val="solid"/>
            <a:headEnd type="none" len="sm" w="sm"/>
            <a:tailEnd type="none" len="sm" w="sm"/>
          </a:ln>
        </p:spPr>
      </p:sp>
      <p:grpSp>
        <p:nvGrpSpPr>
          <p:cNvPr name="Group 28" id="21"/>
          <p:cNvGrpSpPr/>
          <p:nvPr/>
        </p:nvGrpSpPr>
        <p:grpSpPr>
          <a:xfrm rot="0">
            <a:off x="836105" y="4604385"/>
            <a:ext cx="576072" cy="329184"/>
            <a:chOff x="0" y="0"/>
            <a:chExt cx="768096" cy="438912"/>
          </a:xfrm>
        </p:grpSpPr>
        <p:sp>
          <p:nvSpPr>
            <p:cNvPr name="Freeform 29" id="22"/>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30" id="23"/>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450</a:t>
              </a:r>
            </a:p>
          </p:txBody>
        </p:sp>
      </p:grpSp>
      <p:sp>
        <p:nvSpPr>
          <p:cNvPr name="AutoShape 31" id="24"/>
          <p:cNvSpPr/>
          <p:nvPr/>
        </p:nvSpPr>
        <p:spPr>
          <a:xfrm>
            <a:off x="1514757" y="3842885"/>
            <a:ext cx="9272586" cy="14242"/>
          </a:xfrm>
          <a:prstGeom prst="line">
            <a:avLst/>
          </a:prstGeom>
          <a:ln cap="rnd" w="9525">
            <a:solidFill>
              <a:srgbClr val="E6EAF2"/>
            </a:solidFill>
            <a:prstDash val="solid"/>
            <a:headEnd type="none" len="sm" w="sm"/>
            <a:tailEnd type="none" len="sm" w="sm"/>
          </a:ln>
        </p:spPr>
      </p:sp>
      <p:grpSp>
        <p:nvGrpSpPr>
          <p:cNvPr name="Group 32" id="25"/>
          <p:cNvGrpSpPr/>
          <p:nvPr/>
        </p:nvGrpSpPr>
        <p:grpSpPr>
          <a:xfrm rot="0">
            <a:off x="836105" y="3685413"/>
            <a:ext cx="576072" cy="329184"/>
            <a:chOff x="0" y="0"/>
            <a:chExt cx="768096" cy="438912"/>
          </a:xfrm>
        </p:grpSpPr>
        <p:sp>
          <p:nvSpPr>
            <p:cNvPr name="Freeform 33" id="26"/>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34" id="27"/>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480</a:t>
              </a:r>
            </a:p>
          </p:txBody>
        </p:sp>
      </p:grpSp>
      <p:sp>
        <p:nvSpPr>
          <p:cNvPr name="AutoShape 35" id="28"/>
          <p:cNvSpPr/>
          <p:nvPr/>
        </p:nvSpPr>
        <p:spPr>
          <a:xfrm>
            <a:off x="1514757" y="2923913"/>
            <a:ext cx="9272586" cy="14242"/>
          </a:xfrm>
          <a:prstGeom prst="line">
            <a:avLst/>
          </a:prstGeom>
          <a:ln cap="rnd" w="9525">
            <a:solidFill>
              <a:srgbClr val="E6EAF2"/>
            </a:solidFill>
            <a:prstDash val="solid"/>
            <a:headEnd type="none" len="sm" w="sm"/>
            <a:tailEnd type="none" len="sm" w="sm"/>
          </a:ln>
        </p:spPr>
      </p:sp>
      <p:grpSp>
        <p:nvGrpSpPr>
          <p:cNvPr name="Group 36" id="29"/>
          <p:cNvGrpSpPr/>
          <p:nvPr/>
        </p:nvGrpSpPr>
        <p:grpSpPr>
          <a:xfrm rot="0">
            <a:off x="836105" y="2766441"/>
            <a:ext cx="576072" cy="329184"/>
            <a:chOff x="0" y="0"/>
            <a:chExt cx="768096" cy="438912"/>
          </a:xfrm>
        </p:grpSpPr>
        <p:sp>
          <p:nvSpPr>
            <p:cNvPr name="Freeform 37" id="30"/>
            <p:cNvSpPr/>
            <p:nvPr/>
          </p:nvSpPr>
          <p:spPr>
            <a:xfrm flipH="false" flipV="false" rot="0">
              <a:off x="0" y="0"/>
              <a:ext cx="768096" cy="438912"/>
            </a:xfrm>
            <a:custGeom>
              <a:avLst/>
              <a:gdLst/>
              <a:ahLst/>
              <a:cxnLst/>
              <a:rect r="r" b="b" t="t" l="l"/>
              <a:pathLst>
                <a:path h="438912" w="768096">
                  <a:moveTo>
                    <a:pt x="0" y="0"/>
                  </a:moveTo>
                  <a:lnTo>
                    <a:pt x="768096" y="0"/>
                  </a:lnTo>
                  <a:lnTo>
                    <a:pt x="768096" y="438912"/>
                  </a:lnTo>
                  <a:lnTo>
                    <a:pt x="0" y="438912"/>
                  </a:lnTo>
                  <a:close/>
                </a:path>
              </a:pathLst>
            </a:custGeom>
            <a:blipFill>
              <a:blip r:embed="rId4">
                <a:alphaModFix amt="0"/>
              </a:blip>
              <a:stretch>
                <a:fillRect l="-23316" t="0" r="-23316" b="0"/>
              </a:stretch>
            </a:blipFill>
          </p:spPr>
        </p:sp>
        <p:sp>
          <p:nvSpPr>
            <p:cNvPr name="TextBox 38" id="31"/>
            <p:cNvSpPr txBox="true"/>
            <p:nvPr/>
          </p:nvSpPr>
          <p:spPr>
            <a:xfrm>
              <a:off x="0" y="-9525"/>
              <a:ext cx="768096" cy="448437"/>
            </a:xfrm>
            <a:prstGeom prst="rect">
              <a:avLst/>
            </a:prstGeom>
          </p:spPr>
          <p:txBody>
            <a:bodyPr anchor="ctr" rtlCol="false" tIns="0" lIns="0" bIns="0" rIns="0"/>
            <a:lstStyle/>
            <a:p>
              <a:pPr algn="r">
                <a:lnSpc>
                  <a:spcPts val="1620"/>
                </a:lnSpc>
              </a:pPr>
              <a:r>
                <a:rPr lang="en-US" sz="1350">
                  <a:solidFill>
                    <a:srgbClr val="7A849C"/>
                  </a:solidFill>
                  <a:latin typeface="Exo 2"/>
                  <a:ea typeface="Exo 2"/>
                  <a:cs typeface="Exo 2"/>
                  <a:sym typeface="Exo 2"/>
                </a:rPr>
                <a:t>510</a:t>
              </a:r>
            </a:p>
          </p:txBody>
        </p:sp>
      </p:grpSp>
      <p:sp>
        <p:nvSpPr>
          <p:cNvPr name="AutoShape 39" id="32"/>
          <p:cNvSpPr/>
          <p:nvPr/>
        </p:nvSpPr>
        <p:spPr>
          <a:xfrm>
            <a:off x="7960550" y="2850549"/>
            <a:ext cx="23806" cy="4687249"/>
          </a:xfrm>
          <a:prstGeom prst="line">
            <a:avLst/>
          </a:prstGeom>
          <a:ln cap="rnd" w="9525">
            <a:solidFill>
              <a:srgbClr val="D4AF37"/>
            </a:solidFill>
            <a:prstDash val="solid"/>
            <a:headEnd type="none" len="sm" w="sm"/>
            <a:tailEnd type="none" len="sm" w="sm"/>
          </a:ln>
        </p:spPr>
      </p:sp>
      <p:sp>
        <p:nvSpPr>
          <p:cNvPr name="AutoShape 40" id="33"/>
          <p:cNvSpPr/>
          <p:nvPr/>
        </p:nvSpPr>
        <p:spPr>
          <a:xfrm flipV="true">
            <a:off x="1703833" y="6613742"/>
            <a:ext cx="568031" cy="537742"/>
          </a:xfrm>
          <a:prstGeom prst="line">
            <a:avLst/>
          </a:prstGeom>
          <a:ln cap="rnd" w="28575">
            <a:solidFill>
              <a:srgbClr val="132257"/>
            </a:solidFill>
            <a:prstDash val="solid"/>
            <a:headEnd type="none" len="sm" w="sm"/>
            <a:tailEnd type="none" len="sm" w="sm"/>
          </a:ln>
        </p:spPr>
      </p:sp>
      <p:sp>
        <p:nvSpPr>
          <p:cNvPr name="AutoShape 41" id="34"/>
          <p:cNvSpPr/>
          <p:nvPr/>
        </p:nvSpPr>
        <p:spPr>
          <a:xfrm flipV="true">
            <a:off x="2224238" y="6429944"/>
            <a:ext cx="568028" cy="231426"/>
          </a:xfrm>
          <a:prstGeom prst="line">
            <a:avLst/>
          </a:prstGeom>
          <a:ln cap="rnd" w="28575">
            <a:solidFill>
              <a:srgbClr val="132257"/>
            </a:solidFill>
            <a:prstDash val="solid"/>
            <a:headEnd type="none" len="sm" w="sm"/>
            <a:tailEnd type="none" len="sm" w="sm"/>
          </a:ln>
        </p:spPr>
      </p:sp>
      <p:sp>
        <p:nvSpPr>
          <p:cNvPr name="AutoShape 42" id="35"/>
          <p:cNvSpPr/>
          <p:nvPr/>
        </p:nvSpPr>
        <p:spPr>
          <a:xfrm flipV="true">
            <a:off x="2744635" y="6184886"/>
            <a:ext cx="568021" cy="292688"/>
          </a:xfrm>
          <a:prstGeom prst="line">
            <a:avLst/>
          </a:prstGeom>
          <a:ln cap="rnd" w="28575">
            <a:solidFill>
              <a:srgbClr val="132257"/>
            </a:solidFill>
            <a:prstDash val="solid"/>
            <a:headEnd type="none" len="sm" w="sm"/>
            <a:tailEnd type="none" len="sm" w="sm"/>
          </a:ln>
        </p:spPr>
      </p:sp>
      <p:sp>
        <p:nvSpPr>
          <p:cNvPr name="AutoShape 43" id="36"/>
          <p:cNvSpPr/>
          <p:nvPr/>
        </p:nvSpPr>
        <p:spPr>
          <a:xfrm flipV="true">
            <a:off x="3265039" y="5970458"/>
            <a:ext cx="568028" cy="262057"/>
          </a:xfrm>
          <a:prstGeom prst="line">
            <a:avLst/>
          </a:prstGeom>
          <a:ln cap="rnd" w="28575">
            <a:solidFill>
              <a:srgbClr val="132257"/>
            </a:solidFill>
            <a:prstDash val="solid"/>
            <a:headEnd type="none" len="sm" w="sm"/>
            <a:tailEnd type="none" len="sm" w="sm"/>
          </a:ln>
        </p:spPr>
      </p:sp>
      <p:sp>
        <p:nvSpPr>
          <p:cNvPr name="AutoShape 44" id="37"/>
          <p:cNvSpPr/>
          <p:nvPr/>
        </p:nvSpPr>
        <p:spPr>
          <a:xfrm flipV="true">
            <a:off x="3785436" y="5847931"/>
            <a:ext cx="568022" cy="170155"/>
          </a:xfrm>
          <a:prstGeom prst="line">
            <a:avLst/>
          </a:prstGeom>
          <a:ln cap="rnd" w="28575">
            <a:solidFill>
              <a:srgbClr val="132257"/>
            </a:solidFill>
            <a:prstDash val="solid"/>
            <a:headEnd type="none" len="sm" w="sm"/>
            <a:tailEnd type="none" len="sm" w="sm"/>
          </a:ln>
        </p:spPr>
      </p:sp>
      <p:sp>
        <p:nvSpPr>
          <p:cNvPr name="AutoShape 45" id="38"/>
          <p:cNvSpPr/>
          <p:nvPr/>
        </p:nvSpPr>
        <p:spPr>
          <a:xfrm flipV="true">
            <a:off x="4305844" y="5694768"/>
            <a:ext cx="568021" cy="200790"/>
          </a:xfrm>
          <a:prstGeom prst="line">
            <a:avLst/>
          </a:prstGeom>
          <a:ln cap="rnd" w="28575">
            <a:solidFill>
              <a:srgbClr val="132257"/>
            </a:solidFill>
            <a:prstDash val="solid"/>
            <a:headEnd type="none" len="sm" w="sm"/>
            <a:tailEnd type="none" len="sm" w="sm"/>
          </a:ln>
        </p:spPr>
      </p:sp>
      <p:sp>
        <p:nvSpPr>
          <p:cNvPr name="AutoShape 46" id="39"/>
          <p:cNvSpPr/>
          <p:nvPr/>
        </p:nvSpPr>
        <p:spPr>
          <a:xfrm flipV="true">
            <a:off x="4826242" y="5572239"/>
            <a:ext cx="568022" cy="170155"/>
          </a:xfrm>
          <a:prstGeom prst="line">
            <a:avLst/>
          </a:prstGeom>
          <a:ln cap="rnd" w="28575">
            <a:solidFill>
              <a:srgbClr val="132257"/>
            </a:solidFill>
            <a:prstDash val="solid"/>
            <a:headEnd type="none" len="sm" w="sm"/>
            <a:tailEnd type="none" len="sm" w="sm"/>
          </a:ln>
        </p:spPr>
      </p:sp>
      <p:sp>
        <p:nvSpPr>
          <p:cNvPr name="AutoShape 47" id="40"/>
          <p:cNvSpPr/>
          <p:nvPr/>
        </p:nvSpPr>
        <p:spPr>
          <a:xfrm flipV="true">
            <a:off x="5346642" y="5357810"/>
            <a:ext cx="568028" cy="262057"/>
          </a:xfrm>
          <a:prstGeom prst="line">
            <a:avLst/>
          </a:prstGeom>
          <a:ln cap="rnd" w="28575">
            <a:solidFill>
              <a:srgbClr val="132257"/>
            </a:solidFill>
            <a:prstDash val="solid"/>
            <a:headEnd type="none" len="sm" w="sm"/>
            <a:tailEnd type="none" len="sm" w="sm"/>
          </a:ln>
        </p:spPr>
      </p:sp>
      <p:sp>
        <p:nvSpPr>
          <p:cNvPr name="AutoShape 48" id="41"/>
          <p:cNvSpPr/>
          <p:nvPr/>
        </p:nvSpPr>
        <p:spPr>
          <a:xfrm flipV="true">
            <a:off x="5867038" y="5296548"/>
            <a:ext cx="568024" cy="108891"/>
          </a:xfrm>
          <a:prstGeom prst="line">
            <a:avLst/>
          </a:prstGeom>
          <a:ln cap="rnd" w="28575">
            <a:solidFill>
              <a:srgbClr val="132257"/>
            </a:solidFill>
            <a:prstDash val="solid"/>
            <a:headEnd type="none" len="sm" w="sm"/>
            <a:tailEnd type="none" len="sm" w="sm"/>
          </a:ln>
        </p:spPr>
      </p:sp>
      <p:sp>
        <p:nvSpPr>
          <p:cNvPr name="AutoShape 49" id="42"/>
          <p:cNvSpPr/>
          <p:nvPr/>
        </p:nvSpPr>
        <p:spPr>
          <a:xfrm flipV="true">
            <a:off x="6387447" y="5143385"/>
            <a:ext cx="568021" cy="200790"/>
          </a:xfrm>
          <a:prstGeom prst="line">
            <a:avLst/>
          </a:prstGeom>
          <a:ln cap="rnd" w="28575">
            <a:solidFill>
              <a:srgbClr val="132257"/>
            </a:solidFill>
            <a:prstDash val="solid"/>
            <a:headEnd type="none" len="sm" w="sm"/>
            <a:tailEnd type="none" len="sm" w="sm"/>
          </a:ln>
        </p:spPr>
      </p:sp>
      <p:sp>
        <p:nvSpPr>
          <p:cNvPr name="AutoShape 50" id="43"/>
          <p:cNvSpPr/>
          <p:nvPr/>
        </p:nvSpPr>
        <p:spPr>
          <a:xfrm>
            <a:off x="6907841" y="5143384"/>
            <a:ext cx="568030" cy="47629"/>
          </a:xfrm>
          <a:prstGeom prst="line">
            <a:avLst/>
          </a:prstGeom>
          <a:ln cap="rnd" w="28575">
            <a:solidFill>
              <a:srgbClr val="132257"/>
            </a:solidFill>
            <a:prstDash val="solid"/>
            <a:headEnd type="none" len="sm" w="sm"/>
            <a:tailEnd type="none" len="sm" w="sm"/>
          </a:ln>
        </p:spPr>
      </p:sp>
      <p:sp>
        <p:nvSpPr>
          <p:cNvPr name="AutoShape 51" id="44"/>
          <p:cNvSpPr/>
          <p:nvPr/>
        </p:nvSpPr>
        <p:spPr>
          <a:xfrm flipV="true">
            <a:off x="7428240" y="4683901"/>
            <a:ext cx="568029" cy="507110"/>
          </a:xfrm>
          <a:prstGeom prst="line">
            <a:avLst/>
          </a:prstGeom>
          <a:ln cap="rnd" w="28575">
            <a:solidFill>
              <a:srgbClr val="132257"/>
            </a:solidFill>
            <a:prstDash val="solid"/>
            <a:headEnd type="none" len="sm" w="sm"/>
            <a:tailEnd type="none" len="sm" w="sm"/>
          </a:ln>
        </p:spPr>
      </p:sp>
      <p:sp>
        <p:nvSpPr>
          <p:cNvPr name="AutoShape 52" id="45"/>
          <p:cNvSpPr/>
          <p:nvPr/>
        </p:nvSpPr>
        <p:spPr>
          <a:xfrm flipV="true">
            <a:off x="7948650" y="4622635"/>
            <a:ext cx="568024" cy="108891"/>
          </a:xfrm>
          <a:prstGeom prst="line">
            <a:avLst/>
          </a:prstGeom>
          <a:ln cap="rnd" w="28575">
            <a:solidFill>
              <a:srgbClr val="132257"/>
            </a:solidFill>
            <a:prstDash val="solid"/>
            <a:headEnd type="none" len="sm" w="sm"/>
            <a:tailEnd type="none" len="sm" w="sm"/>
          </a:ln>
        </p:spPr>
      </p:sp>
      <p:sp>
        <p:nvSpPr>
          <p:cNvPr name="AutoShape 53" id="46"/>
          <p:cNvSpPr/>
          <p:nvPr/>
        </p:nvSpPr>
        <p:spPr>
          <a:xfrm flipV="true">
            <a:off x="8469045" y="4592004"/>
            <a:ext cx="568030" cy="78255"/>
          </a:xfrm>
          <a:prstGeom prst="line">
            <a:avLst/>
          </a:prstGeom>
          <a:ln cap="rnd" w="28575">
            <a:solidFill>
              <a:srgbClr val="132257"/>
            </a:solidFill>
            <a:prstDash val="solid"/>
            <a:headEnd type="none" len="sm" w="sm"/>
            <a:tailEnd type="none" len="sm" w="sm"/>
          </a:ln>
        </p:spPr>
      </p:sp>
      <p:sp>
        <p:nvSpPr>
          <p:cNvPr name="AutoShape 54" id="47"/>
          <p:cNvSpPr/>
          <p:nvPr/>
        </p:nvSpPr>
        <p:spPr>
          <a:xfrm flipV="true">
            <a:off x="8989451" y="4040617"/>
            <a:ext cx="568026" cy="599014"/>
          </a:xfrm>
          <a:prstGeom prst="line">
            <a:avLst/>
          </a:prstGeom>
          <a:ln cap="rnd" w="28575">
            <a:solidFill>
              <a:srgbClr val="132257"/>
            </a:solidFill>
            <a:prstDash val="solid"/>
            <a:headEnd type="none" len="sm" w="sm"/>
            <a:tailEnd type="none" len="sm" w="sm"/>
          </a:ln>
        </p:spPr>
      </p:sp>
      <p:sp>
        <p:nvSpPr>
          <p:cNvPr name="AutoShape 55" id="48"/>
          <p:cNvSpPr/>
          <p:nvPr/>
        </p:nvSpPr>
        <p:spPr>
          <a:xfrm flipV="true">
            <a:off x="9509848" y="3826190"/>
            <a:ext cx="568028" cy="262057"/>
          </a:xfrm>
          <a:prstGeom prst="line">
            <a:avLst/>
          </a:prstGeom>
          <a:ln cap="rnd" w="28575">
            <a:solidFill>
              <a:srgbClr val="132257"/>
            </a:solidFill>
            <a:prstDash val="solid"/>
            <a:headEnd type="none" len="sm" w="sm"/>
            <a:tailEnd type="none" len="sm" w="sm"/>
          </a:ln>
        </p:spPr>
      </p:sp>
      <p:sp>
        <p:nvSpPr>
          <p:cNvPr name="AutoShape 56" id="49"/>
          <p:cNvSpPr/>
          <p:nvPr/>
        </p:nvSpPr>
        <p:spPr>
          <a:xfrm flipV="true">
            <a:off x="10030254" y="3519870"/>
            <a:ext cx="568022" cy="353948"/>
          </a:xfrm>
          <a:prstGeom prst="line">
            <a:avLst/>
          </a:prstGeom>
          <a:ln cap="rnd" w="28575">
            <a:solidFill>
              <a:srgbClr val="132257"/>
            </a:solidFill>
            <a:prstDash val="solid"/>
            <a:headEnd type="none" len="sm" w="sm"/>
            <a:tailEnd type="none" len="sm" w="sm"/>
          </a:ln>
        </p:spPr>
      </p:sp>
      <p:grpSp>
        <p:nvGrpSpPr>
          <p:cNvPr name="Group 57" id="50"/>
          <p:cNvGrpSpPr/>
          <p:nvPr/>
        </p:nvGrpSpPr>
        <p:grpSpPr>
          <a:xfrm rot="0">
            <a:off x="1649540" y="7049567"/>
            <a:ext cx="156210" cy="156210"/>
            <a:chOff x="0" y="0"/>
            <a:chExt cx="208280" cy="208280"/>
          </a:xfrm>
        </p:grpSpPr>
        <p:sp>
          <p:nvSpPr>
            <p:cNvPr name="Freeform 58" id="5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59" id="52"/>
          <p:cNvSpPr txBox="true"/>
          <p:nvPr/>
        </p:nvSpPr>
        <p:spPr>
          <a:xfrm rot="0">
            <a:off x="1316164"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 Sep</a:t>
            </a:r>
          </a:p>
        </p:txBody>
      </p:sp>
      <p:grpSp>
        <p:nvGrpSpPr>
          <p:cNvPr name="Group 60" id="53"/>
          <p:cNvGrpSpPr/>
          <p:nvPr/>
        </p:nvGrpSpPr>
        <p:grpSpPr>
          <a:xfrm rot="0">
            <a:off x="2169938" y="6559449"/>
            <a:ext cx="156210" cy="156210"/>
            <a:chOff x="0" y="0"/>
            <a:chExt cx="208280" cy="208280"/>
          </a:xfrm>
        </p:grpSpPr>
        <p:sp>
          <p:nvSpPr>
            <p:cNvPr name="Freeform 61" id="54"/>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62" id="55"/>
          <p:cNvSpPr txBox="true"/>
          <p:nvPr/>
        </p:nvSpPr>
        <p:spPr>
          <a:xfrm rot="0">
            <a:off x="1836563"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a:t>
            </a:r>
          </a:p>
        </p:txBody>
      </p:sp>
      <p:grpSp>
        <p:nvGrpSpPr>
          <p:cNvPr name="Group 63" id="56"/>
          <p:cNvGrpSpPr/>
          <p:nvPr/>
        </p:nvGrpSpPr>
        <p:grpSpPr>
          <a:xfrm rot="0">
            <a:off x="2690346" y="6375654"/>
            <a:ext cx="156210" cy="156210"/>
            <a:chOff x="0" y="0"/>
            <a:chExt cx="208280" cy="208280"/>
          </a:xfrm>
        </p:grpSpPr>
        <p:sp>
          <p:nvSpPr>
            <p:cNvPr name="Freeform 64" id="5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65" id="58"/>
          <p:cNvSpPr txBox="true"/>
          <p:nvPr/>
        </p:nvSpPr>
        <p:spPr>
          <a:xfrm rot="0">
            <a:off x="2356971"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3</a:t>
            </a:r>
          </a:p>
        </p:txBody>
      </p:sp>
      <p:grpSp>
        <p:nvGrpSpPr>
          <p:cNvPr name="Group 66" id="59"/>
          <p:cNvGrpSpPr/>
          <p:nvPr/>
        </p:nvGrpSpPr>
        <p:grpSpPr>
          <a:xfrm rot="0">
            <a:off x="3210744" y="6130595"/>
            <a:ext cx="156210" cy="156210"/>
            <a:chOff x="0" y="0"/>
            <a:chExt cx="208280" cy="208280"/>
          </a:xfrm>
        </p:grpSpPr>
        <p:sp>
          <p:nvSpPr>
            <p:cNvPr name="Freeform 67" id="60"/>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68" id="61"/>
          <p:cNvSpPr txBox="true"/>
          <p:nvPr/>
        </p:nvSpPr>
        <p:spPr>
          <a:xfrm rot="0">
            <a:off x="2877369"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8</a:t>
            </a:r>
          </a:p>
        </p:txBody>
      </p:sp>
      <p:grpSp>
        <p:nvGrpSpPr>
          <p:cNvPr name="Group 69" id="62"/>
          <p:cNvGrpSpPr/>
          <p:nvPr/>
        </p:nvGrpSpPr>
        <p:grpSpPr>
          <a:xfrm rot="0">
            <a:off x="3731143" y="5916168"/>
            <a:ext cx="156210" cy="156210"/>
            <a:chOff x="0" y="0"/>
            <a:chExt cx="208280" cy="208280"/>
          </a:xfrm>
        </p:grpSpPr>
        <p:sp>
          <p:nvSpPr>
            <p:cNvPr name="Freeform 70" id="6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71" id="64"/>
          <p:cNvSpPr txBox="true"/>
          <p:nvPr/>
        </p:nvSpPr>
        <p:spPr>
          <a:xfrm rot="0">
            <a:off x="3397768"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9</a:t>
            </a:r>
          </a:p>
        </p:txBody>
      </p:sp>
      <p:grpSp>
        <p:nvGrpSpPr>
          <p:cNvPr name="Group 72" id="65"/>
          <p:cNvGrpSpPr/>
          <p:nvPr/>
        </p:nvGrpSpPr>
        <p:grpSpPr>
          <a:xfrm rot="0">
            <a:off x="4251550" y="5793639"/>
            <a:ext cx="156210" cy="156210"/>
            <a:chOff x="0" y="0"/>
            <a:chExt cx="208280" cy="208280"/>
          </a:xfrm>
        </p:grpSpPr>
        <p:sp>
          <p:nvSpPr>
            <p:cNvPr name="Freeform 73" id="66"/>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74" id="67"/>
          <p:cNvSpPr txBox="true"/>
          <p:nvPr/>
        </p:nvSpPr>
        <p:spPr>
          <a:xfrm rot="0">
            <a:off x="3918175"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10</a:t>
            </a:r>
          </a:p>
        </p:txBody>
      </p:sp>
      <p:grpSp>
        <p:nvGrpSpPr>
          <p:cNvPr name="Group 75" id="68"/>
          <p:cNvGrpSpPr/>
          <p:nvPr/>
        </p:nvGrpSpPr>
        <p:grpSpPr>
          <a:xfrm rot="0">
            <a:off x="4771949" y="5640477"/>
            <a:ext cx="156210" cy="156210"/>
            <a:chOff x="0" y="0"/>
            <a:chExt cx="208280" cy="208280"/>
          </a:xfrm>
        </p:grpSpPr>
        <p:sp>
          <p:nvSpPr>
            <p:cNvPr name="Freeform 76" id="6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77" id="70"/>
          <p:cNvSpPr txBox="true"/>
          <p:nvPr/>
        </p:nvSpPr>
        <p:spPr>
          <a:xfrm rot="0">
            <a:off x="4438574"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13</a:t>
            </a:r>
          </a:p>
        </p:txBody>
      </p:sp>
      <p:grpSp>
        <p:nvGrpSpPr>
          <p:cNvPr name="Group 78" id="71"/>
          <p:cNvGrpSpPr/>
          <p:nvPr/>
        </p:nvGrpSpPr>
        <p:grpSpPr>
          <a:xfrm rot="0">
            <a:off x="5292347" y="5517947"/>
            <a:ext cx="156210" cy="156210"/>
            <a:chOff x="0" y="0"/>
            <a:chExt cx="208280" cy="208280"/>
          </a:xfrm>
        </p:grpSpPr>
        <p:sp>
          <p:nvSpPr>
            <p:cNvPr name="Freeform 79" id="72"/>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80" id="73"/>
          <p:cNvSpPr txBox="true"/>
          <p:nvPr/>
        </p:nvSpPr>
        <p:spPr>
          <a:xfrm rot="0">
            <a:off x="4958972"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14</a:t>
            </a:r>
          </a:p>
        </p:txBody>
      </p:sp>
      <p:grpSp>
        <p:nvGrpSpPr>
          <p:cNvPr name="Group 81" id="74"/>
          <p:cNvGrpSpPr/>
          <p:nvPr/>
        </p:nvGrpSpPr>
        <p:grpSpPr>
          <a:xfrm rot="0">
            <a:off x="5812746" y="5303520"/>
            <a:ext cx="156210" cy="156210"/>
            <a:chOff x="0" y="0"/>
            <a:chExt cx="208280" cy="208280"/>
          </a:xfrm>
        </p:grpSpPr>
        <p:sp>
          <p:nvSpPr>
            <p:cNvPr name="Freeform 82" id="75"/>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83" id="76"/>
          <p:cNvSpPr txBox="true"/>
          <p:nvPr/>
        </p:nvSpPr>
        <p:spPr>
          <a:xfrm rot="0">
            <a:off x="5479371"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16</a:t>
            </a:r>
          </a:p>
        </p:txBody>
      </p:sp>
      <p:grpSp>
        <p:nvGrpSpPr>
          <p:cNvPr name="Group 84" id="77"/>
          <p:cNvGrpSpPr/>
          <p:nvPr/>
        </p:nvGrpSpPr>
        <p:grpSpPr>
          <a:xfrm rot="0">
            <a:off x="6333153" y="5242256"/>
            <a:ext cx="156210" cy="156210"/>
            <a:chOff x="0" y="0"/>
            <a:chExt cx="208280" cy="208280"/>
          </a:xfrm>
        </p:grpSpPr>
        <p:sp>
          <p:nvSpPr>
            <p:cNvPr name="Freeform 85" id="78"/>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86" id="79"/>
          <p:cNvSpPr txBox="true"/>
          <p:nvPr/>
        </p:nvSpPr>
        <p:spPr>
          <a:xfrm rot="0">
            <a:off x="5999778"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17</a:t>
            </a:r>
          </a:p>
        </p:txBody>
      </p:sp>
      <p:grpSp>
        <p:nvGrpSpPr>
          <p:cNvPr name="Group 87" id="80"/>
          <p:cNvGrpSpPr/>
          <p:nvPr/>
        </p:nvGrpSpPr>
        <p:grpSpPr>
          <a:xfrm rot="0">
            <a:off x="6853552" y="5089094"/>
            <a:ext cx="156210" cy="156210"/>
            <a:chOff x="0" y="0"/>
            <a:chExt cx="208280" cy="208280"/>
          </a:xfrm>
        </p:grpSpPr>
        <p:sp>
          <p:nvSpPr>
            <p:cNvPr name="Freeform 88" id="81"/>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89" id="82"/>
          <p:cNvSpPr txBox="true"/>
          <p:nvPr/>
        </p:nvSpPr>
        <p:spPr>
          <a:xfrm rot="0">
            <a:off x="6520177"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20</a:t>
            </a:r>
          </a:p>
        </p:txBody>
      </p:sp>
      <p:grpSp>
        <p:nvGrpSpPr>
          <p:cNvPr name="Group 90" id="83"/>
          <p:cNvGrpSpPr/>
          <p:nvPr/>
        </p:nvGrpSpPr>
        <p:grpSpPr>
          <a:xfrm rot="0">
            <a:off x="7373950" y="5089094"/>
            <a:ext cx="156210" cy="156210"/>
            <a:chOff x="0" y="0"/>
            <a:chExt cx="208280" cy="208280"/>
          </a:xfrm>
        </p:grpSpPr>
        <p:sp>
          <p:nvSpPr>
            <p:cNvPr name="Freeform 91" id="84"/>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92" id="85"/>
          <p:cNvSpPr txBox="true"/>
          <p:nvPr/>
        </p:nvSpPr>
        <p:spPr>
          <a:xfrm rot="0">
            <a:off x="7040575"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21</a:t>
            </a:r>
          </a:p>
        </p:txBody>
      </p:sp>
      <p:grpSp>
        <p:nvGrpSpPr>
          <p:cNvPr name="Group 93" id="86"/>
          <p:cNvGrpSpPr/>
          <p:nvPr/>
        </p:nvGrpSpPr>
        <p:grpSpPr>
          <a:xfrm rot="0">
            <a:off x="7894349" y="4629608"/>
            <a:ext cx="156210" cy="156210"/>
            <a:chOff x="0" y="0"/>
            <a:chExt cx="208280" cy="208280"/>
          </a:xfrm>
        </p:grpSpPr>
        <p:sp>
          <p:nvSpPr>
            <p:cNvPr name="Freeform 94" id="87"/>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95" id="88"/>
          <p:cNvSpPr txBox="true"/>
          <p:nvPr/>
        </p:nvSpPr>
        <p:spPr>
          <a:xfrm rot="0">
            <a:off x="7560974" y="7598664"/>
            <a:ext cx="822960" cy="338709"/>
          </a:xfrm>
          <a:prstGeom prst="rect">
            <a:avLst/>
          </a:prstGeom>
        </p:spPr>
        <p:txBody>
          <a:bodyPr anchor="t" rtlCol="false" tIns="0" lIns="0" bIns="0" rIns="0">
            <a:spAutoFit/>
          </a:bodyPr>
          <a:lstStyle/>
          <a:p>
            <a:pPr algn="ctr">
              <a:lnSpc>
                <a:spcPts val="1530"/>
              </a:lnSpc>
            </a:pPr>
            <a:r>
              <a:rPr lang="en-US" sz="1275" b="true">
                <a:solidFill>
                  <a:srgbClr val="9A7B1F"/>
                </a:solidFill>
                <a:latin typeface="Exo 2 Bold"/>
                <a:ea typeface="Exo 2 Bold"/>
                <a:cs typeface="Exo 2 Bold"/>
                <a:sym typeface="Exo 2 Bold"/>
              </a:rPr>
              <a:t>22 Sep</a:t>
            </a:r>
          </a:p>
        </p:txBody>
      </p:sp>
      <p:grpSp>
        <p:nvGrpSpPr>
          <p:cNvPr name="Group 96" id="89"/>
          <p:cNvGrpSpPr/>
          <p:nvPr/>
        </p:nvGrpSpPr>
        <p:grpSpPr>
          <a:xfrm rot="0">
            <a:off x="8414756" y="4568343"/>
            <a:ext cx="156210" cy="156210"/>
            <a:chOff x="0" y="0"/>
            <a:chExt cx="208280" cy="208280"/>
          </a:xfrm>
        </p:grpSpPr>
        <p:sp>
          <p:nvSpPr>
            <p:cNvPr name="Freeform 97" id="90"/>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98" id="91"/>
          <p:cNvSpPr txBox="true"/>
          <p:nvPr/>
        </p:nvSpPr>
        <p:spPr>
          <a:xfrm rot="0">
            <a:off x="8081381"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23</a:t>
            </a:r>
          </a:p>
        </p:txBody>
      </p:sp>
      <p:grpSp>
        <p:nvGrpSpPr>
          <p:cNvPr name="Group 99" id="92"/>
          <p:cNvGrpSpPr/>
          <p:nvPr/>
        </p:nvGrpSpPr>
        <p:grpSpPr>
          <a:xfrm rot="0">
            <a:off x="8935155" y="4537710"/>
            <a:ext cx="156210" cy="156210"/>
            <a:chOff x="0" y="0"/>
            <a:chExt cx="208280" cy="208280"/>
          </a:xfrm>
        </p:grpSpPr>
        <p:sp>
          <p:nvSpPr>
            <p:cNvPr name="Freeform 100" id="93"/>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101" id="94"/>
          <p:cNvSpPr txBox="true"/>
          <p:nvPr/>
        </p:nvSpPr>
        <p:spPr>
          <a:xfrm rot="0">
            <a:off x="8601780"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24</a:t>
            </a:r>
          </a:p>
        </p:txBody>
      </p:sp>
      <p:grpSp>
        <p:nvGrpSpPr>
          <p:cNvPr name="Group 102" id="95"/>
          <p:cNvGrpSpPr/>
          <p:nvPr/>
        </p:nvGrpSpPr>
        <p:grpSpPr>
          <a:xfrm rot="0">
            <a:off x="9455553" y="3986327"/>
            <a:ext cx="156210" cy="156210"/>
            <a:chOff x="0" y="0"/>
            <a:chExt cx="208280" cy="208280"/>
          </a:xfrm>
        </p:grpSpPr>
        <p:sp>
          <p:nvSpPr>
            <p:cNvPr name="Freeform 103" id="96"/>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104" id="97"/>
          <p:cNvSpPr txBox="true"/>
          <p:nvPr/>
        </p:nvSpPr>
        <p:spPr>
          <a:xfrm rot="0">
            <a:off x="9122178"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27</a:t>
            </a:r>
          </a:p>
        </p:txBody>
      </p:sp>
      <p:grpSp>
        <p:nvGrpSpPr>
          <p:cNvPr name="Group 105" id="98"/>
          <p:cNvGrpSpPr/>
          <p:nvPr/>
        </p:nvGrpSpPr>
        <p:grpSpPr>
          <a:xfrm rot="0">
            <a:off x="9975961" y="3771900"/>
            <a:ext cx="156210" cy="156210"/>
            <a:chOff x="0" y="0"/>
            <a:chExt cx="208280" cy="208280"/>
          </a:xfrm>
        </p:grpSpPr>
        <p:sp>
          <p:nvSpPr>
            <p:cNvPr name="Freeform 106" id="99"/>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107" id="100"/>
          <p:cNvSpPr txBox="true"/>
          <p:nvPr/>
        </p:nvSpPr>
        <p:spPr>
          <a:xfrm rot="0">
            <a:off x="9642586"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28</a:t>
            </a:r>
          </a:p>
        </p:txBody>
      </p:sp>
      <p:grpSp>
        <p:nvGrpSpPr>
          <p:cNvPr name="Group 108" id="101"/>
          <p:cNvGrpSpPr/>
          <p:nvPr/>
        </p:nvGrpSpPr>
        <p:grpSpPr>
          <a:xfrm rot="0">
            <a:off x="10496360" y="3465576"/>
            <a:ext cx="156210" cy="156210"/>
            <a:chOff x="0" y="0"/>
            <a:chExt cx="208280" cy="208280"/>
          </a:xfrm>
        </p:grpSpPr>
        <p:sp>
          <p:nvSpPr>
            <p:cNvPr name="Freeform 109" id="102"/>
            <p:cNvSpPr/>
            <p:nvPr/>
          </p:nvSpPr>
          <p:spPr>
            <a:xfrm flipH="false" flipV="false" rot="0">
              <a:off x="0" y="0"/>
              <a:ext cx="208280" cy="208280"/>
            </a:xfrm>
            <a:custGeom>
              <a:avLst/>
              <a:gdLst/>
              <a:ahLst/>
              <a:cxnLst/>
              <a:rect r="r" b="b" t="t" l="l"/>
              <a:pathLst>
                <a:path h="208280" w="208280">
                  <a:moveTo>
                    <a:pt x="0" y="104140"/>
                  </a:moveTo>
                  <a:cubicBezTo>
                    <a:pt x="0" y="46609"/>
                    <a:pt x="46609" y="0"/>
                    <a:pt x="104140" y="0"/>
                  </a:cubicBezTo>
                  <a:cubicBezTo>
                    <a:pt x="161671" y="0"/>
                    <a:pt x="208280" y="46609"/>
                    <a:pt x="208280" y="104140"/>
                  </a:cubicBezTo>
                  <a:cubicBezTo>
                    <a:pt x="208280" y="161671"/>
                    <a:pt x="161671" y="208280"/>
                    <a:pt x="104140" y="208280"/>
                  </a:cubicBezTo>
                  <a:cubicBezTo>
                    <a:pt x="46609" y="208280"/>
                    <a:pt x="0" y="161671"/>
                    <a:pt x="0" y="104140"/>
                  </a:cubicBezTo>
                  <a:close/>
                </a:path>
              </a:pathLst>
            </a:custGeom>
            <a:solidFill>
              <a:srgbClr val="132257"/>
            </a:solidFill>
            <a:ln w="19050" cap="sq">
              <a:solidFill>
                <a:srgbClr val="132257"/>
              </a:solidFill>
              <a:prstDash val="solid"/>
              <a:miter/>
            </a:ln>
          </p:spPr>
        </p:sp>
      </p:grpSp>
      <p:sp>
        <p:nvSpPr>
          <p:cNvPr name="TextBox 110" id="103"/>
          <p:cNvSpPr txBox="true"/>
          <p:nvPr/>
        </p:nvSpPr>
        <p:spPr>
          <a:xfrm rot="0">
            <a:off x="10162984" y="7598664"/>
            <a:ext cx="822960" cy="338709"/>
          </a:xfrm>
          <a:prstGeom prst="rect">
            <a:avLst/>
          </a:prstGeom>
        </p:spPr>
        <p:txBody>
          <a:bodyPr anchor="t" rtlCol="false" tIns="0" lIns="0" bIns="0" rIns="0">
            <a:spAutoFit/>
          </a:bodyPr>
          <a:lstStyle/>
          <a:p>
            <a:pPr algn="ctr">
              <a:lnSpc>
                <a:spcPts val="1530"/>
              </a:lnSpc>
            </a:pPr>
            <a:r>
              <a:rPr lang="en-US" sz="1275">
                <a:solidFill>
                  <a:srgbClr val="7A849C"/>
                </a:solidFill>
                <a:latin typeface="Exo 2"/>
                <a:ea typeface="Exo 2"/>
                <a:cs typeface="Exo 2"/>
                <a:sym typeface="Exo 2"/>
              </a:rPr>
              <a:t>29 Sep</a:t>
            </a:r>
          </a:p>
        </p:txBody>
      </p:sp>
      <p:sp>
        <p:nvSpPr>
          <p:cNvPr name="TextBox 111" id="104"/>
          <p:cNvSpPr txBox="true"/>
          <p:nvPr/>
        </p:nvSpPr>
        <p:spPr>
          <a:xfrm rot="0">
            <a:off x="7286654" y="7900416"/>
            <a:ext cx="1371600" cy="311277"/>
          </a:xfrm>
          <a:prstGeom prst="rect">
            <a:avLst/>
          </a:prstGeom>
        </p:spPr>
        <p:txBody>
          <a:bodyPr anchor="t" rtlCol="false" tIns="0" lIns="0" bIns="0" rIns="0">
            <a:spAutoFit/>
          </a:bodyPr>
          <a:lstStyle/>
          <a:p>
            <a:pPr algn="ctr">
              <a:lnSpc>
                <a:spcPts val="1530"/>
              </a:lnSpc>
            </a:pPr>
            <a:r>
              <a:rPr lang="en-US" sz="1275" b="true">
                <a:solidFill>
                  <a:srgbClr val="9A7B1F"/>
                </a:solidFill>
                <a:latin typeface="Exo 2 Bold"/>
                <a:ea typeface="Exo 2 Bold"/>
                <a:cs typeface="Exo 2 Bold"/>
                <a:sym typeface="Exo 2 Bold"/>
              </a:rPr>
              <a:t>Ads live</a:t>
            </a:r>
          </a:p>
        </p:txBody>
      </p:sp>
      <p:sp>
        <p:nvSpPr>
          <p:cNvPr name="TextBox 112" id="105"/>
          <p:cNvSpPr txBox="true"/>
          <p:nvPr/>
        </p:nvSpPr>
        <p:spPr>
          <a:xfrm rot="0">
            <a:off x="9038272" y="4714113"/>
            <a:ext cx="1851660" cy="960120"/>
          </a:xfrm>
          <a:prstGeom prst="rect">
            <a:avLst/>
          </a:prstGeom>
        </p:spPr>
        <p:txBody>
          <a:bodyPr anchor="t" rtlCol="false" tIns="0" lIns="0" bIns="0" rIns="0">
            <a:spAutoFit/>
          </a:bodyPr>
          <a:lstStyle/>
          <a:p>
            <a:pPr algn="l">
              <a:lnSpc>
                <a:spcPts val="1889"/>
              </a:lnSpc>
            </a:pPr>
            <a:r>
              <a:rPr lang="en-US" sz="1575" b="true">
                <a:solidFill>
                  <a:srgbClr val="1BA97C"/>
                </a:solidFill>
                <a:latin typeface="Exo 2 Bold"/>
                <a:ea typeface="Exo 2 Bold"/>
                <a:cs typeface="Exo 2 Bold"/>
                <a:sym typeface="Exo 2 Bold"/>
              </a:rPr>
              <a:t>+53 in 8 days</a:t>
            </a:r>
          </a:p>
          <a:p>
            <a:pPr algn="l">
              <a:lnSpc>
                <a:spcPts val="1889"/>
              </a:lnSpc>
            </a:pPr>
            <a:r>
              <a:rPr lang="en-US" sz="1575">
                <a:solidFill>
                  <a:srgbClr val="7A849C"/>
                </a:solidFill>
                <a:latin typeface="Exo 2"/>
                <a:ea typeface="Exo 2"/>
                <a:cs typeface="Exo 2"/>
                <a:sym typeface="Exo 2"/>
              </a:rPr>
              <a:t>21-29 Sep, after launch</a:t>
            </a:r>
          </a:p>
        </p:txBody>
      </p:sp>
      <p:sp>
        <p:nvSpPr>
          <p:cNvPr name="TextBox 113" id="106"/>
          <p:cNvSpPr txBox="true"/>
          <p:nvPr/>
        </p:nvSpPr>
        <p:spPr>
          <a:xfrm rot="0">
            <a:off x="6089332" y="5537073"/>
            <a:ext cx="3154680" cy="685800"/>
          </a:xfrm>
          <a:prstGeom prst="rect">
            <a:avLst/>
          </a:prstGeom>
        </p:spPr>
        <p:txBody>
          <a:bodyPr anchor="t" rtlCol="false" tIns="0" lIns="0" bIns="0" rIns="0">
            <a:spAutoFit/>
          </a:bodyPr>
          <a:lstStyle/>
          <a:p>
            <a:pPr algn="l">
              <a:lnSpc>
                <a:spcPts val="1889"/>
              </a:lnSpc>
            </a:pPr>
            <a:r>
              <a:rPr lang="en-US" sz="1575" b="true">
                <a:solidFill>
                  <a:srgbClr val="132257"/>
                </a:solidFill>
                <a:latin typeface="Exo 2 Bold"/>
                <a:ea typeface="Exo 2 Bold"/>
                <a:cs typeface="Exo 2 Bold"/>
                <a:sym typeface="Exo 2 Bold"/>
              </a:rPr>
              <a:t>+14 in 7 days</a:t>
            </a:r>
          </a:p>
          <a:p>
            <a:pPr algn="l">
              <a:lnSpc>
                <a:spcPts val="1889"/>
              </a:lnSpc>
            </a:pPr>
            <a:r>
              <a:rPr lang="en-US" sz="1575">
                <a:solidFill>
                  <a:srgbClr val="7A849C"/>
                </a:solidFill>
                <a:latin typeface="Exo 2"/>
                <a:ea typeface="Exo 2"/>
                <a:cs typeface="Exo 2"/>
                <a:sym typeface="Exo 2"/>
              </a:rPr>
              <a:t>14-21 Sep, before launch</a:t>
            </a:r>
          </a:p>
        </p:txBody>
      </p:sp>
      <p:sp>
        <p:nvSpPr>
          <p:cNvPr name="TextBox 114" id="107"/>
          <p:cNvSpPr txBox="true"/>
          <p:nvPr/>
        </p:nvSpPr>
        <p:spPr>
          <a:xfrm rot="0">
            <a:off x="11369993" y="2194560"/>
            <a:ext cx="6062472" cy="352425"/>
          </a:xfrm>
          <a:prstGeom prst="rect">
            <a:avLst/>
          </a:prstGeom>
        </p:spPr>
        <p:txBody>
          <a:bodyPr anchor="t" rtlCol="false" tIns="0" lIns="0" bIns="0" rIns="0">
            <a:spAutoFit/>
          </a:bodyPr>
          <a:lstStyle/>
          <a:p>
            <a:pPr algn="l">
              <a:lnSpc>
                <a:spcPts val="1620"/>
              </a:lnSpc>
            </a:pPr>
            <a:r>
              <a:rPr lang="en-US" b="true" sz="1350" spc="299">
                <a:solidFill>
                  <a:srgbClr val="9A7B1F"/>
                </a:solidFill>
                <a:latin typeface="Exo 2 Bold"/>
                <a:ea typeface="Exo 2 Bold"/>
                <a:cs typeface="Exo 2 Bold"/>
                <a:sym typeface="Exo 2 Bold"/>
              </a:rPr>
              <a:t>FROM AD TO ACCOUNT</a:t>
            </a:r>
          </a:p>
        </p:txBody>
      </p:sp>
      <p:grpSp>
        <p:nvGrpSpPr>
          <p:cNvPr name="Group 115" id="108"/>
          <p:cNvGrpSpPr/>
          <p:nvPr/>
        </p:nvGrpSpPr>
        <p:grpSpPr>
          <a:xfrm rot="0">
            <a:off x="11355705" y="2683574"/>
            <a:ext cx="6091047" cy="1098423"/>
            <a:chOff x="0" y="0"/>
            <a:chExt cx="8121396" cy="1464564"/>
          </a:xfrm>
        </p:grpSpPr>
        <p:sp>
          <p:nvSpPr>
            <p:cNvPr name="Freeform 116" id="109"/>
            <p:cNvSpPr/>
            <p:nvPr/>
          </p:nvSpPr>
          <p:spPr>
            <a:xfrm flipH="false" flipV="false" rot="0">
              <a:off x="0" y="0"/>
              <a:ext cx="8121396" cy="1464564"/>
            </a:xfrm>
            <a:custGeom>
              <a:avLst/>
              <a:gdLst/>
              <a:ahLst/>
              <a:cxnLst/>
              <a:rect r="r" b="b" t="t" l="l"/>
              <a:pathLst>
                <a:path h="1464564" w="8121396">
                  <a:moveTo>
                    <a:pt x="0" y="0"/>
                  </a:moveTo>
                  <a:lnTo>
                    <a:pt x="8121396" y="0"/>
                  </a:lnTo>
                  <a:lnTo>
                    <a:pt x="8121396" y="1464564"/>
                  </a:lnTo>
                  <a:lnTo>
                    <a:pt x="0" y="1464564"/>
                  </a:lnTo>
                  <a:close/>
                </a:path>
              </a:pathLst>
            </a:custGeom>
            <a:solidFill>
              <a:srgbClr val="132257"/>
            </a:solidFill>
            <a:ln w="28575" cap="sq">
              <a:solidFill>
                <a:srgbClr val="132257"/>
              </a:solidFill>
              <a:prstDash val="solid"/>
              <a:miter/>
            </a:ln>
          </p:spPr>
        </p:sp>
      </p:grpSp>
      <p:grpSp>
        <p:nvGrpSpPr>
          <p:cNvPr name="Group 117" id="110"/>
          <p:cNvGrpSpPr/>
          <p:nvPr/>
        </p:nvGrpSpPr>
        <p:grpSpPr>
          <a:xfrm rot="0">
            <a:off x="11575732" y="2697861"/>
            <a:ext cx="1303020" cy="1069848"/>
            <a:chOff x="0" y="0"/>
            <a:chExt cx="1737360" cy="1426464"/>
          </a:xfrm>
        </p:grpSpPr>
        <p:sp>
          <p:nvSpPr>
            <p:cNvPr name="Freeform 118" id="111"/>
            <p:cNvSpPr/>
            <p:nvPr/>
          </p:nvSpPr>
          <p:spPr>
            <a:xfrm flipH="false" flipV="false" rot="0">
              <a:off x="0" y="0"/>
              <a:ext cx="1737360" cy="1426464"/>
            </a:xfrm>
            <a:custGeom>
              <a:avLst/>
              <a:gdLst/>
              <a:ahLst/>
              <a:cxnLst/>
              <a:rect r="r" b="b" t="t" l="l"/>
              <a:pathLst>
                <a:path h="1426464" w="1737360">
                  <a:moveTo>
                    <a:pt x="0" y="0"/>
                  </a:moveTo>
                  <a:lnTo>
                    <a:pt x="1737360" y="0"/>
                  </a:lnTo>
                  <a:lnTo>
                    <a:pt x="1737360" y="1426464"/>
                  </a:lnTo>
                  <a:lnTo>
                    <a:pt x="0" y="1426464"/>
                  </a:lnTo>
                  <a:close/>
                </a:path>
              </a:pathLst>
            </a:custGeom>
            <a:blipFill>
              <a:blip r:embed="rId4">
                <a:alphaModFix amt="0"/>
              </a:blip>
              <a:stretch>
                <a:fillRect l="-55343" t="0" r="-55343" b="0"/>
              </a:stretch>
            </a:blipFill>
          </p:spPr>
        </p:sp>
        <p:sp>
          <p:nvSpPr>
            <p:cNvPr name="TextBox 119" id="112"/>
            <p:cNvSpPr txBox="true"/>
            <p:nvPr/>
          </p:nvSpPr>
          <p:spPr>
            <a:xfrm>
              <a:off x="0" y="-9525"/>
              <a:ext cx="1737360" cy="1435989"/>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409</a:t>
              </a:r>
            </a:p>
          </p:txBody>
        </p:sp>
      </p:grpSp>
      <p:grpSp>
        <p:nvGrpSpPr>
          <p:cNvPr name="Group 120" id="113"/>
          <p:cNvGrpSpPr/>
          <p:nvPr/>
        </p:nvGrpSpPr>
        <p:grpSpPr>
          <a:xfrm rot="0">
            <a:off x="12878752" y="2697861"/>
            <a:ext cx="4416552" cy="1069848"/>
            <a:chOff x="0" y="0"/>
            <a:chExt cx="5888736" cy="1426464"/>
          </a:xfrm>
        </p:grpSpPr>
        <p:sp>
          <p:nvSpPr>
            <p:cNvPr name="Freeform 121" id="114"/>
            <p:cNvSpPr/>
            <p:nvPr/>
          </p:nvSpPr>
          <p:spPr>
            <a:xfrm flipH="false" flipV="false" rot="0">
              <a:off x="0" y="0"/>
              <a:ext cx="5888736" cy="1426464"/>
            </a:xfrm>
            <a:custGeom>
              <a:avLst/>
              <a:gdLst/>
              <a:ahLst/>
              <a:cxnLst/>
              <a:rect r="r" b="b" t="t" l="l"/>
              <a:pathLst>
                <a:path h="1426464" w="5888736">
                  <a:moveTo>
                    <a:pt x="0" y="0"/>
                  </a:moveTo>
                  <a:lnTo>
                    <a:pt x="5888736" y="0"/>
                  </a:lnTo>
                  <a:lnTo>
                    <a:pt x="5888736" y="1426464"/>
                  </a:lnTo>
                  <a:lnTo>
                    <a:pt x="0" y="1426464"/>
                  </a:lnTo>
                  <a:close/>
                </a:path>
              </a:pathLst>
            </a:custGeom>
            <a:blipFill>
              <a:blip r:embed="rId4">
                <a:alphaModFix amt="0"/>
              </a:blip>
              <a:stretch>
                <a:fillRect l="0" t="-30438" r="0" b="-30438"/>
              </a:stretch>
            </a:blipFill>
          </p:spPr>
        </p:sp>
        <p:sp>
          <p:nvSpPr>
            <p:cNvPr name="TextBox 122" id="115"/>
            <p:cNvSpPr txBox="true"/>
            <p:nvPr/>
          </p:nvSpPr>
          <p:spPr>
            <a:xfrm>
              <a:off x="0" y="-9525"/>
              <a:ext cx="5888736" cy="1435989"/>
            </a:xfrm>
            <a:prstGeom prst="rect">
              <a:avLst/>
            </a:prstGeom>
          </p:spPr>
          <p:txBody>
            <a:bodyPr anchor="ctr" rtlCol="false" tIns="0" lIns="0" bIns="0" rIns="0"/>
            <a:lstStyle/>
            <a:p>
              <a:pPr algn="l">
                <a:lnSpc>
                  <a:spcPts val="1800"/>
                </a:lnSpc>
              </a:pPr>
              <a:r>
                <a:rPr lang="en-US" sz="1500" b="true">
                  <a:solidFill>
                    <a:srgbClr val="FFFFFF"/>
                  </a:solidFill>
                  <a:latin typeface="Exo 2 Bold"/>
                  <a:ea typeface="Exo 2 Bold"/>
                  <a:cs typeface="Exo 2 Bold"/>
                  <a:sym typeface="Exo 2 Bold"/>
                </a:rPr>
                <a:t>Google Ads sessions</a:t>
              </a:r>
            </a:p>
            <a:p>
              <a:pPr algn="l">
                <a:lnSpc>
                  <a:spcPts val="1530"/>
                </a:lnSpc>
              </a:pPr>
              <a:r>
                <a:rPr lang="en-US" sz="1275">
                  <a:solidFill>
                    <a:srgbClr val="FFFFFF"/>
                  </a:solidFill>
                  <a:latin typeface="Exo 2"/>
                  <a:ea typeface="Exo 2"/>
                  <a:cs typeface="Exo 2"/>
                  <a:sym typeface="Exo 2"/>
                </a:rPr>
                <a:t>GA4, 1-28 Sep</a:t>
              </a:r>
            </a:p>
          </p:txBody>
        </p:sp>
      </p:grpSp>
      <p:grpSp>
        <p:nvGrpSpPr>
          <p:cNvPr name="Group 123" id="116"/>
          <p:cNvGrpSpPr/>
          <p:nvPr/>
        </p:nvGrpSpPr>
        <p:grpSpPr>
          <a:xfrm rot="0">
            <a:off x="11712321" y="4027742"/>
            <a:ext cx="5377815" cy="1098423"/>
            <a:chOff x="0" y="0"/>
            <a:chExt cx="7170420" cy="1464564"/>
          </a:xfrm>
        </p:grpSpPr>
        <p:sp>
          <p:nvSpPr>
            <p:cNvPr name="Freeform 124" id="117"/>
            <p:cNvSpPr/>
            <p:nvPr/>
          </p:nvSpPr>
          <p:spPr>
            <a:xfrm flipH="false" flipV="false" rot="0">
              <a:off x="0" y="0"/>
              <a:ext cx="7170420" cy="1464564"/>
            </a:xfrm>
            <a:custGeom>
              <a:avLst/>
              <a:gdLst/>
              <a:ahLst/>
              <a:cxnLst/>
              <a:rect r="r" b="b" t="t" l="l"/>
              <a:pathLst>
                <a:path h="1464564" w="7170420">
                  <a:moveTo>
                    <a:pt x="0" y="0"/>
                  </a:moveTo>
                  <a:lnTo>
                    <a:pt x="7170420" y="0"/>
                  </a:lnTo>
                  <a:lnTo>
                    <a:pt x="7170420" y="1464564"/>
                  </a:lnTo>
                  <a:lnTo>
                    <a:pt x="0" y="1464564"/>
                  </a:lnTo>
                  <a:close/>
                </a:path>
              </a:pathLst>
            </a:custGeom>
            <a:solidFill>
              <a:srgbClr val="132257"/>
            </a:solidFill>
            <a:ln w="28575" cap="sq">
              <a:solidFill>
                <a:srgbClr val="132257"/>
              </a:solidFill>
              <a:prstDash val="solid"/>
              <a:miter/>
            </a:ln>
          </p:spPr>
        </p:sp>
      </p:grpSp>
      <p:grpSp>
        <p:nvGrpSpPr>
          <p:cNvPr name="Group 125" id="118"/>
          <p:cNvGrpSpPr/>
          <p:nvPr/>
        </p:nvGrpSpPr>
        <p:grpSpPr>
          <a:xfrm rot="0">
            <a:off x="11932348" y="4042029"/>
            <a:ext cx="1303020" cy="1069848"/>
            <a:chOff x="0" y="0"/>
            <a:chExt cx="1737360" cy="1426464"/>
          </a:xfrm>
        </p:grpSpPr>
        <p:sp>
          <p:nvSpPr>
            <p:cNvPr name="Freeform 126" id="119"/>
            <p:cNvSpPr/>
            <p:nvPr/>
          </p:nvSpPr>
          <p:spPr>
            <a:xfrm flipH="false" flipV="false" rot="0">
              <a:off x="0" y="0"/>
              <a:ext cx="1737360" cy="1426464"/>
            </a:xfrm>
            <a:custGeom>
              <a:avLst/>
              <a:gdLst/>
              <a:ahLst/>
              <a:cxnLst/>
              <a:rect r="r" b="b" t="t" l="l"/>
              <a:pathLst>
                <a:path h="1426464" w="1737360">
                  <a:moveTo>
                    <a:pt x="0" y="0"/>
                  </a:moveTo>
                  <a:lnTo>
                    <a:pt x="1737360" y="0"/>
                  </a:lnTo>
                  <a:lnTo>
                    <a:pt x="1737360" y="1426464"/>
                  </a:lnTo>
                  <a:lnTo>
                    <a:pt x="0" y="1426464"/>
                  </a:lnTo>
                  <a:close/>
                </a:path>
              </a:pathLst>
            </a:custGeom>
            <a:blipFill>
              <a:blip r:embed="rId4">
                <a:alphaModFix amt="0"/>
              </a:blip>
              <a:stretch>
                <a:fillRect l="-55343" t="0" r="-55343" b="0"/>
              </a:stretch>
            </a:blipFill>
          </p:spPr>
        </p:sp>
        <p:sp>
          <p:nvSpPr>
            <p:cNvPr name="TextBox 127" id="120"/>
            <p:cNvSpPr txBox="true"/>
            <p:nvPr/>
          </p:nvSpPr>
          <p:spPr>
            <a:xfrm>
              <a:off x="0" y="-9525"/>
              <a:ext cx="1737360" cy="1435989"/>
            </a:xfrm>
            <a:prstGeom prst="rect">
              <a:avLst/>
            </a:prstGeom>
          </p:spPr>
          <p:txBody>
            <a:bodyPr anchor="ctr" rtlCol="false" tIns="0" lIns="0" bIns="0" rIns="0"/>
            <a:lstStyle/>
            <a:p>
              <a:pPr algn="l">
                <a:lnSpc>
                  <a:spcPts val="3960"/>
                </a:lnSpc>
              </a:pPr>
              <a:r>
                <a:rPr lang="en-US" sz="3300" b="true">
                  <a:solidFill>
                    <a:srgbClr val="FFFFFF"/>
                  </a:solidFill>
                  <a:latin typeface="Exo 2 Bold"/>
                  <a:ea typeface="Exo 2 Bold"/>
                  <a:cs typeface="Exo 2 Bold"/>
                  <a:sym typeface="Exo 2 Bold"/>
                </a:rPr>
                <a:t>400</a:t>
              </a:r>
            </a:p>
          </p:txBody>
        </p:sp>
      </p:grpSp>
      <p:grpSp>
        <p:nvGrpSpPr>
          <p:cNvPr name="Group 128" id="121"/>
          <p:cNvGrpSpPr/>
          <p:nvPr/>
        </p:nvGrpSpPr>
        <p:grpSpPr>
          <a:xfrm rot="0">
            <a:off x="13235368" y="4042029"/>
            <a:ext cx="3703320" cy="1069848"/>
            <a:chOff x="0" y="0"/>
            <a:chExt cx="4937760" cy="1426464"/>
          </a:xfrm>
        </p:grpSpPr>
        <p:sp>
          <p:nvSpPr>
            <p:cNvPr name="Freeform 129" id="122"/>
            <p:cNvSpPr/>
            <p:nvPr/>
          </p:nvSpPr>
          <p:spPr>
            <a:xfrm flipH="false" flipV="false" rot="0">
              <a:off x="0" y="0"/>
              <a:ext cx="4937760" cy="1426464"/>
            </a:xfrm>
            <a:custGeom>
              <a:avLst/>
              <a:gdLst/>
              <a:ahLst/>
              <a:cxnLst/>
              <a:rect r="r" b="b" t="t" l="l"/>
              <a:pathLst>
                <a:path h="1426464" w="4937760">
                  <a:moveTo>
                    <a:pt x="0" y="0"/>
                  </a:moveTo>
                  <a:lnTo>
                    <a:pt x="4937760" y="0"/>
                  </a:lnTo>
                  <a:lnTo>
                    <a:pt x="4937760" y="1426464"/>
                  </a:lnTo>
                  <a:lnTo>
                    <a:pt x="0" y="1426464"/>
                  </a:lnTo>
                  <a:close/>
                </a:path>
              </a:pathLst>
            </a:custGeom>
            <a:blipFill>
              <a:blip r:embed="rId4">
                <a:alphaModFix amt="0"/>
              </a:blip>
              <a:stretch>
                <a:fillRect l="0" t="-17448" r="0" b="-17448"/>
              </a:stretch>
            </a:blipFill>
          </p:spPr>
        </p:sp>
        <p:sp>
          <p:nvSpPr>
            <p:cNvPr name="TextBox 130" id="123"/>
            <p:cNvSpPr txBox="true"/>
            <p:nvPr/>
          </p:nvSpPr>
          <p:spPr>
            <a:xfrm>
              <a:off x="0" y="-9525"/>
              <a:ext cx="4937760" cy="1435989"/>
            </a:xfrm>
            <a:prstGeom prst="rect">
              <a:avLst/>
            </a:prstGeom>
          </p:spPr>
          <p:txBody>
            <a:bodyPr anchor="ctr" rtlCol="false" tIns="0" lIns="0" bIns="0" rIns="0"/>
            <a:lstStyle/>
            <a:p>
              <a:pPr algn="l">
                <a:lnSpc>
                  <a:spcPts val="1800"/>
                </a:lnSpc>
              </a:pPr>
              <a:r>
                <a:rPr lang="en-US" sz="1500" b="true">
                  <a:solidFill>
                    <a:srgbClr val="FFFFFF"/>
                  </a:solidFill>
                  <a:latin typeface="Exo 2 Bold"/>
                  <a:ea typeface="Exo 2 Bold"/>
                  <a:cs typeface="Exo 2 Bold"/>
                  <a:sym typeface="Exo 2 Bold"/>
                </a:rPr>
                <a:t>key events on those sessions</a:t>
              </a:r>
            </a:p>
            <a:p>
              <a:pPr algn="l">
                <a:lnSpc>
                  <a:spcPts val="1530"/>
                </a:lnSpc>
              </a:pPr>
              <a:r>
                <a:rPr lang="en-US" sz="1275">
                  <a:solidFill>
                    <a:srgbClr val="FFFFFF"/>
                  </a:solidFill>
                  <a:latin typeface="Exo 2"/>
                  <a:ea typeface="Exo 2"/>
                  <a:cs typeface="Exo 2"/>
                  <a:sym typeface="Exo 2"/>
                </a:rPr>
                <a:t>event not yet defined</a:t>
              </a:r>
            </a:p>
          </p:txBody>
        </p:sp>
      </p:grpSp>
      <p:grpSp>
        <p:nvGrpSpPr>
          <p:cNvPr name="Group 131" id="124"/>
          <p:cNvGrpSpPr/>
          <p:nvPr/>
        </p:nvGrpSpPr>
        <p:grpSpPr>
          <a:xfrm rot="0">
            <a:off x="12068937" y="5402390"/>
            <a:ext cx="4664583" cy="1098423"/>
            <a:chOff x="0" y="0"/>
            <a:chExt cx="6219444" cy="1464564"/>
          </a:xfrm>
        </p:grpSpPr>
        <p:sp>
          <p:nvSpPr>
            <p:cNvPr name="Freeform 132" id="125"/>
            <p:cNvSpPr/>
            <p:nvPr/>
          </p:nvSpPr>
          <p:spPr>
            <a:xfrm flipH="false" flipV="false" rot="0">
              <a:off x="0" y="0"/>
              <a:ext cx="6219444" cy="1464564"/>
            </a:xfrm>
            <a:custGeom>
              <a:avLst/>
              <a:gdLst/>
              <a:ahLst/>
              <a:cxnLst/>
              <a:rect r="r" b="b" t="t" l="l"/>
              <a:pathLst>
                <a:path h="1464564" w="6219444">
                  <a:moveTo>
                    <a:pt x="0" y="0"/>
                  </a:moveTo>
                  <a:lnTo>
                    <a:pt x="6219444" y="0"/>
                  </a:lnTo>
                  <a:lnTo>
                    <a:pt x="6219444" y="1464564"/>
                  </a:lnTo>
                  <a:lnTo>
                    <a:pt x="0" y="1464564"/>
                  </a:lnTo>
                  <a:close/>
                </a:path>
              </a:pathLst>
            </a:custGeom>
            <a:solidFill>
              <a:srgbClr val="FFFFFF"/>
            </a:solidFill>
            <a:ln w="28575" cap="sq">
              <a:solidFill>
                <a:srgbClr val="D4AF37"/>
              </a:solidFill>
              <a:prstDash val="solid"/>
              <a:miter/>
            </a:ln>
          </p:spPr>
        </p:sp>
      </p:grpSp>
      <p:grpSp>
        <p:nvGrpSpPr>
          <p:cNvPr name="Group 133" id="126"/>
          <p:cNvGrpSpPr/>
          <p:nvPr/>
        </p:nvGrpSpPr>
        <p:grpSpPr>
          <a:xfrm rot="0">
            <a:off x="12288964" y="5416677"/>
            <a:ext cx="1303020" cy="1069848"/>
            <a:chOff x="0" y="0"/>
            <a:chExt cx="1737360" cy="1426464"/>
          </a:xfrm>
        </p:grpSpPr>
        <p:sp>
          <p:nvSpPr>
            <p:cNvPr name="Freeform 134" id="127"/>
            <p:cNvSpPr/>
            <p:nvPr/>
          </p:nvSpPr>
          <p:spPr>
            <a:xfrm flipH="false" flipV="false" rot="0">
              <a:off x="0" y="0"/>
              <a:ext cx="1737360" cy="1426464"/>
            </a:xfrm>
            <a:custGeom>
              <a:avLst/>
              <a:gdLst/>
              <a:ahLst/>
              <a:cxnLst/>
              <a:rect r="r" b="b" t="t" l="l"/>
              <a:pathLst>
                <a:path h="1426464" w="1737360">
                  <a:moveTo>
                    <a:pt x="0" y="0"/>
                  </a:moveTo>
                  <a:lnTo>
                    <a:pt x="1737360" y="0"/>
                  </a:lnTo>
                  <a:lnTo>
                    <a:pt x="1737360" y="1426464"/>
                  </a:lnTo>
                  <a:lnTo>
                    <a:pt x="0" y="1426464"/>
                  </a:lnTo>
                  <a:close/>
                </a:path>
              </a:pathLst>
            </a:custGeom>
            <a:blipFill>
              <a:blip r:embed="rId4">
                <a:alphaModFix amt="0"/>
              </a:blip>
              <a:stretch>
                <a:fillRect l="-55343" t="0" r="-55343" b="0"/>
              </a:stretch>
            </a:blipFill>
          </p:spPr>
        </p:sp>
        <p:sp>
          <p:nvSpPr>
            <p:cNvPr name="TextBox 135" id="128"/>
            <p:cNvSpPr txBox="true"/>
            <p:nvPr/>
          </p:nvSpPr>
          <p:spPr>
            <a:xfrm>
              <a:off x="0" y="-9525"/>
              <a:ext cx="1737360" cy="1435989"/>
            </a:xfrm>
            <a:prstGeom prst="rect">
              <a:avLst/>
            </a:prstGeom>
          </p:spPr>
          <p:txBody>
            <a:bodyPr anchor="ctr" rtlCol="false" tIns="0" lIns="0" bIns="0" rIns="0"/>
            <a:lstStyle/>
            <a:p>
              <a:pPr algn="l">
                <a:lnSpc>
                  <a:spcPts val="3960"/>
                </a:lnSpc>
              </a:pPr>
              <a:r>
                <a:rPr lang="en-US" sz="3300" b="true">
                  <a:solidFill>
                    <a:srgbClr val="D4AF37"/>
                  </a:solidFill>
                  <a:latin typeface="Exo 2 Bold"/>
                  <a:ea typeface="Exo 2 Bold"/>
                  <a:cs typeface="Exo 2 Bold"/>
                  <a:sym typeface="Exo 2 Bold"/>
                </a:rPr>
                <a:t>+53</a:t>
              </a:r>
            </a:p>
          </p:txBody>
        </p:sp>
      </p:grpSp>
      <p:grpSp>
        <p:nvGrpSpPr>
          <p:cNvPr name="Group 136" id="129"/>
          <p:cNvGrpSpPr/>
          <p:nvPr/>
        </p:nvGrpSpPr>
        <p:grpSpPr>
          <a:xfrm rot="0">
            <a:off x="13591985" y="5416677"/>
            <a:ext cx="2990088" cy="1069848"/>
            <a:chOff x="0" y="0"/>
            <a:chExt cx="3986784" cy="1426464"/>
          </a:xfrm>
        </p:grpSpPr>
        <p:sp>
          <p:nvSpPr>
            <p:cNvPr name="Freeform 137" id="130"/>
            <p:cNvSpPr/>
            <p:nvPr/>
          </p:nvSpPr>
          <p:spPr>
            <a:xfrm flipH="false" flipV="false" rot="0">
              <a:off x="0" y="0"/>
              <a:ext cx="3986784" cy="1426464"/>
            </a:xfrm>
            <a:custGeom>
              <a:avLst/>
              <a:gdLst/>
              <a:ahLst/>
              <a:cxnLst/>
              <a:rect r="r" b="b" t="t" l="l"/>
              <a:pathLst>
                <a:path h="1426464" w="3986784">
                  <a:moveTo>
                    <a:pt x="0" y="0"/>
                  </a:moveTo>
                  <a:lnTo>
                    <a:pt x="3986784" y="0"/>
                  </a:lnTo>
                  <a:lnTo>
                    <a:pt x="3986784" y="1426464"/>
                  </a:lnTo>
                  <a:lnTo>
                    <a:pt x="0" y="1426464"/>
                  </a:lnTo>
                  <a:close/>
                </a:path>
              </a:pathLst>
            </a:custGeom>
            <a:blipFill>
              <a:blip r:embed="rId4">
                <a:alphaModFix amt="0"/>
              </a:blip>
              <a:stretch>
                <a:fillRect l="0" t="-4458" r="0" b="-4458"/>
              </a:stretch>
            </a:blipFill>
          </p:spPr>
        </p:sp>
        <p:sp>
          <p:nvSpPr>
            <p:cNvPr name="TextBox 138" id="131"/>
            <p:cNvSpPr txBox="true"/>
            <p:nvPr/>
          </p:nvSpPr>
          <p:spPr>
            <a:xfrm>
              <a:off x="0" y="-9525"/>
              <a:ext cx="3986784" cy="1435989"/>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app installs, 21-29 Sep</a:t>
              </a:r>
            </a:p>
            <a:p>
              <a:pPr algn="l">
                <a:lnSpc>
                  <a:spcPts val="1530"/>
                </a:lnSpc>
              </a:pPr>
              <a:r>
                <a:rPr lang="en-US" sz="1275">
                  <a:solidFill>
                    <a:srgbClr val="132257"/>
                  </a:solidFill>
                  <a:latin typeface="Exo 2"/>
                  <a:ea typeface="Exo 2"/>
                  <a:cs typeface="Exo 2"/>
                  <a:sym typeface="Exo 2"/>
                </a:rPr>
                <a:t>all sources</a:t>
              </a:r>
            </a:p>
          </p:txBody>
        </p:sp>
      </p:grpSp>
      <p:grpSp>
        <p:nvGrpSpPr>
          <p:cNvPr name="Group 139" id="132"/>
          <p:cNvGrpSpPr/>
          <p:nvPr/>
        </p:nvGrpSpPr>
        <p:grpSpPr>
          <a:xfrm rot="0">
            <a:off x="12425553" y="6746558"/>
            <a:ext cx="3951351" cy="1098423"/>
            <a:chOff x="0" y="0"/>
            <a:chExt cx="5268468" cy="1464564"/>
          </a:xfrm>
        </p:grpSpPr>
        <p:sp>
          <p:nvSpPr>
            <p:cNvPr name="Freeform 140" id="133"/>
            <p:cNvSpPr/>
            <p:nvPr/>
          </p:nvSpPr>
          <p:spPr>
            <a:xfrm flipH="false" flipV="false" rot="0">
              <a:off x="0" y="0"/>
              <a:ext cx="5268468" cy="1464564"/>
            </a:xfrm>
            <a:custGeom>
              <a:avLst/>
              <a:gdLst/>
              <a:ahLst/>
              <a:cxnLst/>
              <a:rect r="r" b="b" t="t" l="l"/>
              <a:pathLst>
                <a:path h="1464564" w="5268468">
                  <a:moveTo>
                    <a:pt x="0" y="0"/>
                  </a:moveTo>
                  <a:lnTo>
                    <a:pt x="5268468" y="0"/>
                  </a:lnTo>
                  <a:lnTo>
                    <a:pt x="5268468" y="1464564"/>
                  </a:lnTo>
                  <a:lnTo>
                    <a:pt x="0" y="1464564"/>
                  </a:lnTo>
                  <a:close/>
                </a:path>
              </a:pathLst>
            </a:custGeom>
            <a:solidFill>
              <a:srgbClr val="FFFFFF"/>
            </a:solidFill>
            <a:ln w="28575" cap="sq">
              <a:solidFill>
                <a:srgbClr val="C53030"/>
              </a:solidFill>
              <a:prstDash val="solid"/>
              <a:miter/>
            </a:ln>
          </p:spPr>
        </p:sp>
      </p:grpSp>
      <p:grpSp>
        <p:nvGrpSpPr>
          <p:cNvPr name="Group 141" id="134"/>
          <p:cNvGrpSpPr/>
          <p:nvPr/>
        </p:nvGrpSpPr>
        <p:grpSpPr>
          <a:xfrm rot="0">
            <a:off x="12645580" y="6760845"/>
            <a:ext cx="1303020" cy="1069848"/>
            <a:chOff x="0" y="0"/>
            <a:chExt cx="1737360" cy="1426464"/>
          </a:xfrm>
        </p:grpSpPr>
        <p:sp>
          <p:nvSpPr>
            <p:cNvPr name="Freeform 142" id="135"/>
            <p:cNvSpPr/>
            <p:nvPr/>
          </p:nvSpPr>
          <p:spPr>
            <a:xfrm flipH="false" flipV="false" rot="0">
              <a:off x="0" y="0"/>
              <a:ext cx="1737360" cy="1426464"/>
            </a:xfrm>
            <a:custGeom>
              <a:avLst/>
              <a:gdLst/>
              <a:ahLst/>
              <a:cxnLst/>
              <a:rect r="r" b="b" t="t" l="l"/>
              <a:pathLst>
                <a:path h="1426464" w="1737360">
                  <a:moveTo>
                    <a:pt x="0" y="0"/>
                  </a:moveTo>
                  <a:lnTo>
                    <a:pt x="1737360" y="0"/>
                  </a:lnTo>
                  <a:lnTo>
                    <a:pt x="1737360" y="1426464"/>
                  </a:lnTo>
                  <a:lnTo>
                    <a:pt x="0" y="1426464"/>
                  </a:lnTo>
                  <a:close/>
                </a:path>
              </a:pathLst>
            </a:custGeom>
            <a:blipFill>
              <a:blip r:embed="rId4">
                <a:alphaModFix amt="0"/>
              </a:blip>
              <a:stretch>
                <a:fillRect l="-55343" t="0" r="-55343" b="0"/>
              </a:stretch>
            </a:blipFill>
          </p:spPr>
        </p:sp>
        <p:sp>
          <p:nvSpPr>
            <p:cNvPr name="TextBox 143" id="136"/>
            <p:cNvSpPr txBox="true"/>
            <p:nvPr/>
          </p:nvSpPr>
          <p:spPr>
            <a:xfrm>
              <a:off x="0" y="-9525"/>
              <a:ext cx="1737360" cy="1435989"/>
            </a:xfrm>
            <a:prstGeom prst="rect">
              <a:avLst/>
            </a:prstGeom>
          </p:spPr>
          <p:txBody>
            <a:bodyPr anchor="ctr" rtlCol="false" tIns="0" lIns="0" bIns="0" rIns="0"/>
            <a:lstStyle/>
            <a:p>
              <a:pPr algn="l">
                <a:lnSpc>
                  <a:spcPts val="3960"/>
                </a:lnSpc>
              </a:pPr>
              <a:r>
                <a:rPr lang="en-US" sz="3300" b="true">
                  <a:solidFill>
                    <a:srgbClr val="C53030"/>
                  </a:solidFill>
                  <a:latin typeface="Exo 2 Bold"/>
                  <a:ea typeface="Exo 2 Bold"/>
                  <a:cs typeface="Exo 2 Bold"/>
                  <a:sym typeface="Exo 2 Bold"/>
                </a:rPr>
                <a:t>+4</a:t>
              </a:r>
            </a:p>
          </p:txBody>
        </p:sp>
      </p:grpSp>
      <p:grpSp>
        <p:nvGrpSpPr>
          <p:cNvPr name="Group 144" id="137"/>
          <p:cNvGrpSpPr/>
          <p:nvPr/>
        </p:nvGrpSpPr>
        <p:grpSpPr>
          <a:xfrm rot="0">
            <a:off x="13948600" y="6760845"/>
            <a:ext cx="2276856" cy="1069848"/>
            <a:chOff x="0" y="0"/>
            <a:chExt cx="3035808" cy="1426464"/>
          </a:xfrm>
        </p:grpSpPr>
        <p:sp>
          <p:nvSpPr>
            <p:cNvPr name="Freeform 145" id="138"/>
            <p:cNvSpPr/>
            <p:nvPr/>
          </p:nvSpPr>
          <p:spPr>
            <a:xfrm flipH="false" flipV="false" rot="0">
              <a:off x="0" y="0"/>
              <a:ext cx="3035808" cy="1426464"/>
            </a:xfrm>
            <a:custGeom>
              <a:avLst/>
              <a:gdLst/>
              <a:ahLst/>
              <a:cxnLst/>
              <a:rect r="r" b="b" t="t" l="l"/>
              <a:pathLst>
                <a:path h="1426464" w="3035808">
                  <a:moveTo>
                    <a:pt x="0" y="0"/>
                  </a:moveTo>
                  <a:lnTo>
                    <a:pt x="3035808" y="0"/>
                  </a:lnTo>
                  <a:lnTo>
                    <a:pt x="3035808" y="1426464"/>
                  </a:lnTo>
                  <a:lnTo>
                    <a:pt x="0" y="1426464"/>
                  </a:lnTo>
                  <a:close/>
                </a:path>
              </a:pathLst>
            </a:custGeom>
            <a:blipFill>
              <a:blip r:embed="rId4">
                <a:alphaModFix amt="0"/>
              </a:blip>
              <a:stretch>
                <a:fillRect l="-10287" t="0" r="-10287" b="0"/>
              </a:stretch>
            </a:blipFill>
          </p:spPr>
        </p:sp>
        <p:sp>
          <p:nvSpPr>
            <p:cNvPr name="TextBox 146" id="139"/>
            <p:cNvSpPr txBox="true"/>
            <p:nvPr/>
          </p:nvSpPr>
          <p:spPr>
            <a:xfrm>
              <a:off x="0" y="-9525"/>
              <a:ext cx="3035808" cy="1435989"/>
            </a:xfrm>
            <a:prstGeom prst="rect">
              <a:avLst/>
            </a:prstGeom>
          </p:spPr>
          <p:txBody>
            <a:bodyPr anchor="ctr" rtlCol="false" tIns="0" lIns="0" bIns="0" rIns="0"/>
            <a:lstStyle/>
            <a:p>
              <a:pPr algn="l">
                <a:lnSpc>
                  <a:spcPts val="1800"/>
                </a:lnSpc>
              </a:pPr>
              <a:r>
                <a:rPr lang="en-US" sz="1500" b="true">
                  <a:solidFill>
                    <a:srgbClr val="132257"/>
                  </a:solidFill>
                  <a:latin typeface="Exo 2 Bold"/>
                  <a:ea typeface="Exo 2 Bold"/>
                  <a:cs typeface="Exo 2 Bold"/>
                  <a:sym typeface="Exo 2 Bold"/>
                </a:rPr>
                <a:t>onboarded, 21-29 Sep</a:t>
              </a:r>
            </a:p>
            <a:p>
              <a:pPr algn="l">
                <a:lnSpc>
                  <a:spcPts val="1530"/>
                </a:lnSpc>
              </a:pPr>
              <a:r>
                <a:rPr lang="en-US" sz="1275">
                  <a:solidFill>
                    <a:srgbClr val="132257"/>
                  </a:solidFill>
                  <a:latin typeface="Exo 2"/>
                  <a:ea typeface="Exo 2"/>
                  <a:cs typeface="Exo 2"/>
                  <a:sym typeface="Exo 2"/>
                </a:rPr>
                <a:t>all sources</a:t>
              </a:r>
            </a:p>
          </p:txBody>
        </p:sp>
      </p:grpSp>
      <p:sp>
        <p:nvSpPr>
          <p:cNvPr name="TextBox 9" id="140"/>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GOOGLE ADS WENT LIVE ON 22 SEPTEMBER; INSTALLS THEN GREW AT THEIR FASTEST WEEKLY PACE OF THE MONTH</a:t>
            </a:r>
          </a:p>
        </p:txBody>
      </p:sp>
      <p:sp>
        <p:nvSpPr>
          <p:cNvPr name="Freeform 54" id="141"/>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11"/>
            <a:stretch>
              <a:fillRect l="0" t="0" r="0" b="0"/>
            </a:stretch>
          </a:blipFill>
        </p:spPr>
      </p:sp>
      <p:grpSp>
        <p:nvGrpSpPr>
          <p:cNvPr name="Group 6" id="142"/>
          <p:cNvGrpSpPr/>
          <p:nvPr/>
        </p:nvGrpSpPr>
        <p:grpSpPr>
          <a:xfrm rot="0">
            <a:off x="850392" y="297596"/>
            <a:ext cx="13990320" cy="1124712"/>
            <a:chOff x="0" y="0"/>
            <a:chExt cx="18653760" cy="1499616"/>
          </a:xfrm>
        </p:grpSpPr>
        <p:sp>
          <p:nvSpPr>
            <p:cNvPr name="Freeform 7" id="143"/>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8" id="144"/>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Google Ads and Installs</a:t>
              </a:r>
            </a:p>
          </p:txBody>
        </p:sp>
      </p:grpSp>
      <p:grpSp>
        <p:nvGrpSpPr>
          <p:cNvPr name="Group 9" id="145"/>
          <p:cNvGrpSpPr/>
          <p:nvPr/>
        </p:nvGrpSpPr>
        <p:grpSpPr>
          <a:xfrm rot="0">
            <a:off x="15457932" y="571916"/>
            <a:ext cx="1988820" cy="576072"/>
            <a:chOff x="0" y="0"/>
            <a:chExt cx="2651760" cy="768096"/>
          </a:xfrm>
        </p:grpSpPr>
        <p:sp>
          <p:nvSpPr>
            <p:cNvPr name="Freeform 10" id="146"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5"/>
              <a:stretch>
                <a:fillRect l="0" t="-26" r="0" b="-26"/>
              </a:stretch>
            </a:blipFill>
          </p:spPr>
        </p:sp>
      </p:grpSp>
      <p:sp>
        <p:nvSpPr>
          <p:cNvPr name="TextBox 13" id="147"/>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APPENDIX  |  MARKETING</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11"/>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grpSp>
        <p:nvGrpSpPr>
          <p:cNvPr name="Group 2" id="7"/>
          <p:cNvGrpSpPr/>
          <p:nvPr/>
        </p:nvGrpSpPr>
        <p:grpSpPr>
          <a:xfrm rot="0">
            <a:off x="685800" y="2291039"/>
            <a:ext cx="5364290" cy="4472940"/>
            <a:chOff x="0" y="0"/>
            <a:chExt cx="7152386" cy="5963920"/>
          </a:xfrm>
        </p:grpSpPr>
        <p:sp>
          <p:nvSpPr>
            <p:cNvPr name="Freeform 3" id="8"/>
            <p:cNvSpPr/>
            <p:nvPr/>
          </p:nvSpPr>
          <p:spPr>
            <a:xfrm flipH="false" flipV="false" rot="0">
              <a:off x="0" y="0"/>
              <a:ext cx="7152386" cy="5963920"/>
            </a:xfrm>
            <a:custGeom>
              <a:avLst/>
              <a:gdLst/>
              <a:ahLst/>
              <a:cxnLst/>
              <a:rect r="r" b="b" t="t" l="l"/>
              <a:pathLst>
                <a:path h="5963920" w="7152386">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sp>
      </p:grpSp>
      <p:grpSp>
        <p:nvGrpSpPr>
          <p:cNvPr name="Group 4" id="9"/>
          <p:cNvGrpSpPr/>
          <p:nvPr/>
        </p:nvGrpSpPr>
        <p:grpSpPr>
          <a:xfrm rot="0">
            <a:off x="1028700" y="2633939"/>
            <a:ext cx="685800" cy="685800"/>
            <a:chOff x="0" y="0"/>
            <a:chExt cx="914400" cy="914400"/>
          </a:xfrm>
        </p:grpSpPr>
        <p:sp>
          <p:nvSpPr>
            <p:cNvPr name="Freeform 5" id="1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6" id="11"/>
          <p:cNvGrpSpPr/>
          <p:nvPr/>
        </p:nvGrpSpPr>
        <p:grpSpPr>
          <a:xfrm rot="0">
            <a:off x="1028700" y="2633939"/>
            <a:ext cx="685800" cy="685800"/>
            <a:chOff x="0" y="0"/>
            <a:chExt cx="914400" cy="914400"/>
          </a:xfrm>
        </p:grpSpPr>
        <p:sp>
          <p:nvSpPr>
            <p:cNvPr name="Freeform 7" id="1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93" t="0" r="-78393" b="0"/>
              </a:stretch>
            </a:blipFill>
          </p:spPr>
        </p:sp>
      </p:grpSp>
      <p:grpSp>
        <p:nvGrpSpPr>
          <p:cNvPr name="Group 8" id="13"/>
          <p:cNvGrpSpPr/>
          <p:nvPr/>
        </p:nvGrpSpPr>
        <p:grpSpPr>
          <a:xfrm rot="0">
            <a:off x="1028700" y="2626795"/>
            <a:ext cx="685800" cy="692944"/>
            <a:chOff x="0" y="0"/>
            <a:chExt cx="914400" cy="923925"/>
          </a:xfrm>
        </p:grpSpPr>
        <p:sp>
          <p:nvSpPr>
            <p:cNvPr name="Freeform 9" id="14"/>
            <p:cNvSpPr/>
            <p:nvPr/>
          </p:nvSpPr>
          <p:spPr>
            <a:xfrm flipH="false" flipV="false" rot="0">
              <a:off x="0" y="0"/>
              <a:ext cx="914400" cy="923925"/>
            </a:xfrm>
            <a:custGeom>
              <a:avLst/>
              <a:gdLst/>
              <a:ahLst/>
              <a:cxnLst/>
              <a:rect r="r" b="b" t="t" l="l"/>
              <a:pathLst>
                <a:path h="923925" w="914400">
                  <a:moveTo>
                    <a:pt x="0" y="0"/>
                  </a:moveTo>
                  <a:lnTo>
                    <a:pt x="914400" y="0"/>
                  </a:lnTo>
                  <a:lnTo>
                    <a:pt x="914400" y="923925"/>
                  </a:lnTo>
                  <a:lnTo>
                    <a:pt x="0" y="923925"/>
                  </a:lnTo>
                  <a:close/>
                </a:path>
              </a:pathLst>
            </a:custGeom>
            <a:blipFill>
              <a:blip r:embed="rId3">
                <a:alphaModFix amt="0"/>
              </a:blip>
              <a:stretch>
                <a:fillRect l="-79730" t="0" r="-79730" b="0"/>
              </a:stretch>
            </a:blipFill>
          </p:spPr>
        </p:sp>
      </p:grpSp>
      <p:grpSp>
        <p:nvGrpSpPr>
          <p:cNvPr name="Group 10" id="15"/>
          <p:cNvGrpSpPr/>
          <p:nvPr/>
        </p:nvGrpSpPr>
        <p:grpSpPr>
          <a:xfrm rot="0">
            <a:off x="1028700" y="2619651"/>
            <a:ext cx="685800" cy="700088"/>
            <a:chOff x="0" y="0"/>
            <a:chExt cx="914400" cy="933450"/>
          </a:xfrm>
        </p:grpSpPr>
        <p:sp>
          <p:nvSpPr>
            <p:cNvPr name="Freeform 11" id="16"/>
            <p:cNvSpPr/>
            <p:nvPr/>
          </p:nvSpPr>
          <p:spPr>
            <a:xfrm flipH="false" flipV="false" rot="0">
              <a:off x="0" y="0"/>
              <a:ext cx="914400" cy="933450"/>
            </a:xfrm>
            <a:custGeom>
              <a:avLst/>
              <a:gdLst/>
              <a:ahLst/>
              <a:cxnLst/>
              <a:rect r="r" b="b" t="t" l="l"/>
              <a:pathLst>
                <a:path h="933450" w="914400">
                  <a:moveTo>
                    <a:pt x="0" y="0"/>
                  </a:moveTo>
                  <a:lnTo>
                    <a:pt x="914400" y="0"/>
                  </a:lnTo>
                  <a:lnTo>
                    <a:pt x="914400" y="933450"/>
                  </a:lnTo>
                  <a:lnTo>
                    <a:pt x="0" y="933450"/>
                  </a:lnTo>
                  <a:close/>
                </a:path>
              </a:pathLst>
            </a:custGeom>
            <a:blipFill>
              <a:blip r:embed="rId4">
                <a:alphaModFix amt="0"/>
              </a:blip>
              <a:stretch>
                <a:fillRect l="-80976" t="0" r="-80976" b="0"/>
              </a:stretch>
            </a:blipFill>
          </p:spPr>
        </p:sp>
        <p:sp>
          <p:nvSpPr>
            <p:cNvPr name="TextBox 12" id="17"/>
            <p:cNvSpPr txBox="true"/>
            <p:nvPr/>
          </p:nvSpPr>
          <p:spPr>
            <a:xfrm>
              <a:off x="0" y="-9525"/>
              <a:ext cx="914400" cy="942975"/>
            </a:xfrm>
            <a:prstGeom prst="rect">
              <a:avLst/>
            </a:prstGeom>
          </p:spPr>
          <p:txBody>
            <a:bodyPr anchor="ctr" rtlCol="false" tIns="0" lIns="0" bIns="0" rIns="0"/>
            <a:lstStyle/>
            <a:p>
              <a:pPr algn="ctr">
                <a:lnSpc>
                  <a:spcPts val="2520"/>
                </a:lnSpc>
              </a:pPr>
              <a:r>
                <a:rPr lang="en-US" sz="2100" b="true">
                  <a:solidFill>
                    <a:srgbClr val="FFFFFF"/>
                  </a:solidFill>
                  <a:latin typeface="Exo 2 Bold"/>
                  <a:ea typeface="Exo 2 Bold"/>
                  <a:cs typeface="Exo 2 Bold"/>
                  <a:sym typeface="Exo 2 Bold"/>
                </a:rPr>
                <a:t>01</a:t>
              </a:r>
            </a:p>
          </p:txBody>
        </p:sp>
      </p:grpSp>
      <p:grpSp>
        <p:nvGrpSpPr>
          <p:cNvPr name="Group 13" id="18"/>
          <p:cNvGrpSpPr/>
          <p:nvPr/>
        </p:nvGrpSpPr>
        <p:grpSpPr>
          <a:xfrm rot="0">
            <a:off x="1920240" y="2592791"/>
            <a:ext cx="3855529" cy="685800"/>
            <a:chOff x="0" y="0"/>
            <a:chExt cx="5140706" cy="914400"/>
          </a:xfrm>
        </p:grpSpPr>
        <p:sp>
          <p:nvSpPr>
            <p:cNvPr name="Freeform 14" id="19"/>
            <p:cNvSpPr/>
            <p:nvPr/>
          </p:nvSpPr>
          <p:spPr>
            <a:xfrm flipH="false" flipV="false" rot="0">
              <a:off x="0" y="0"/>
              <a:ext cx="5140706" cy="914400"/>
            </a:xfrm>
            <a:custGeom>
              <a:avLst/>
              <a:gdLst/>
              <a:ahLst/>
              <a:cxnLst/>
              <a:rect r="r" b="b" t="t" l="l"/>
              <a:pathLst>
                <a:path h="914400" w="5140706">
                  <a:moveTo>
                    <a:pt x="0" y="0"/>
                  </a:moveTo>
                  <a:lnTo>
                    <a:pt x="5140706" y="0"/>
                  </a:lnTo>
                  <a:lnTo>
                    <a:pt x="5140706" y="914400"/>
                  </a:lnTo>
                  <a:lnTo>
                    <a:pt x="0" y="914400"/>
                  </a:lnTo>
                  <a:close/>
                </a:path>
              </a:pathLst>
            </a:custGeom>
            <a:blipFill>
              <a:blip r:embed="rId2">
                <a:alphaModFix amt="0"/>
              </a:blip>
              <a:stretch>
                <a:fillRect l="0" t="-59468" r="0" b="-59466"/>
              </a:stretch>
            </a:blipFill>
          </p:spPr>
        </p:sp>
      </p:grpSp>
      <p:grpSp>
        <p:nvGrpSpPr>
          <p:cNvPr name="Group 15" id="20"/>
          <p:cNvGrpSpPr/>
          <p:nvPr/>
        </p:nvGrpSpPr>
        <p:grpSpPr>
          <a:xfrm rot="0">
            <a:off x="1920240" y="2585647"/>
            <a:ext cx="3855568" cy="692944"/>
            <a:chOff x="0" y="0"/>
            <a:chExt cx="5140757" cy="923925"/>
          </a:xfrm>
        </p:grpSpPr>
        <p:sp>
          <p:nvSpPr>
            <p:cNvPr name="Freeform 16" id="21"/>
            <p:cNvSpPr/>
            <p:nvPr/>
          </p:nvSpPr>
          <p:spPr>
            <a:xfrm flipH="false" flipV="false" rot="0">
              <a:off x="0" y="0"/>
              <a:ext cx="5140706" cy="923925"/>
            </a:xfrm>
            <a:custGeom>
              <a:avLst/>
              <a:gdLst/>
              <a:ahLst/>
              <a:cxnLst/>
              <a:rect r="r" b="b" t="t" l="l"/>
              <a:pathLst>
                <a:path h="923925" w="5140706">
                  <a:moveTo>
                    <a:pt x="0" y="0"/>
                  </a:moveTo>
                  <a:lnTo>
                    <a:pt x="5140706" y="0"/>
                  </a:lnTo>
                  <a:lnTo>
                    <a:pt x="5140706" y="923925"/>
                  </a:lnTo>
                  <a:lnTo>
                    <a:pt x="0" y="923925"/>
                  </a:lnTo>
                  <a:close/>
                </a:path>
              </a:pathLst>
            </a:custGeom>
            <a:blipFill>
              <a:blip r:embed="rId3">
                <a:alphaModFix amt="0"/>
              </a:blip>
              <a:stretch>
                <a:fillRect l="0" t="-58339" r="0" b="-58340"/>
              </a:stretch>
            </a:blipFill>
          </p:spPr>
        </p:sp>
      </p:grpSp>
      <p:grpSp>
        <p:nvGrpSpPr>
          <p:cNvPr name="Group 17" id="22"/>
          <p:cNvGrpSpPr/>
          <p:nvPr/>
        </p:nvGrpSpPr>
        <p:grpSpPr>
          <a:xfrm rot="0">
            <a:off x="1920240" y="2578503"/>
            <a:ext cx="3855568" cy="700088"/>
            <a:chOff x="0" y="0"/>
            <a:chExt cx="5140757" cy="933450"/>
          </a:xfrm>
        </p:grpSpPr>
        <p:sp>
          <p:nvSpPr>
            <p:cNvPr name="Freeform 18" id="23"/>
            <p:cNvSpPr/>
            <p:nvPr/>
          </p:nvSpPr>
          <p:spPr>
            <a:xfrm flipH="false" flipV="false" rot="0">
              <a:off x="0" y="0"/>
              <a:ext cx="5140758" cy="933450"/>
            </a:xfrm>
            <a:custGeom>
              <a:avLst/>
              <a:gdLst/>
              <a:ahLst/>
              <a:cxnLst/>
              <a:rect r="r" b="b" t="t" l="l"/>
              <a:pathLst>
                <a:path h="933450" w="5140758">
                  <a:moveTo>
                    <a:pt x="0" y="0"/>
                  </a:moveTo>
                  <a:lnTo>
                    <a:pt x="5140758" y="0"/>
                  </a:lnTo>
                  <a:lnTo>
                    <a:pt x="5140758" y="933450"/>
                  </a:lnTo>
                  <a:lnTo>
                    <a:pt x="0" y="933450"/>
                  </a:lnTo>
                  <a:close/>
                </a:path>
              </a:pathLst>
            </a:custGeom>
            <a:blipFill>
              <a:blip r:embed="rId4">
                <a:alphaModFix amt="0"/>
              </a:blip>
              <a:stretch>
                <a:fillRect l="0" t="-57309" r="0" b="-57309"/>
              </a:stretch>
            </a:blipFill>
          </p:spPr>
        </p:sp>
        <p:sp>
          <p:nvSpPr>
            <p:cNvPr name="TextBox 19" id="24"/>
            <p:cNvSpPr txBox="true"/>
            <p:nvPr/>
          </p:nvSpPr>
          <p:spPr>
            <a:xfrm>
              <a:off x="0" y="-9525"/>
              <a:ext cx="5140757" cy="942975"/>
            </a:xfrm>
            <a:prstGeom prst="rect">
              <a:avLst/>
            </a:prstGeom>
          </p:spPr>
          <p:txBody>
            <a:bodyPr anchor="ctr" rtlCol="false" tIns="0" lIns="0" bIns="0" rIns="0"/>
            <a:lstStyle/>
            <a:p>
              <a:pPr algn="l">
                <a:lnSpc>
                  <a:spcPts val="2610"/>
                </a:lnSpc>
              </a:pPr>
              <a:r>
                <a:rPr lang="en-US" sz="2175" b="true">
                  <a:solidFill>
                    <a:srgbClr val="1E2761"/>
                  </a:solidFill>
                  <a:latin typeface="Exo 2 Bold"/>
                  <a:ea typeface="Exo 2 Bold"/>
                  <a:cs typeface="Exo 2 Bold"/>
                  <a:sym typeface="Exo 2 Bold"/>
                </a:rPr>
                <a:t>Helpdesk Deployment</a:t>
              </a:r>
            </a:p>
          </p:txBody>
        </p:sp>
      </p:grpSp>
      <p:grpSp>
        <p:nvGrpSpPr>
          <p:cNvPr name="Group 20" id="25"/>
          <p:cNvGrpSpPr/>
          <p:nvPr/>
        </p:nvGrpSpPr>
        <p:grpSpPr>
          <a:xfrm rot="0">
            <a:off x="1028700" y="3456899"/>
            <a:ext cx="4678490" cy="411480"/>
            <a:chOff x="0" y="0"/>
            <a:chExt cx="6237986" cy="548640"/>
          </a:xfrm>
        </p:grpSpPr>
        <p:sp>
          <p:nvSpPr>
            <p:cNvPr name="Freeform 21" id="26"/>
            <p:cNvSpPr/>
            <p:nvPr/>
          </p:nvSpPr>
          <p:spPr>
            <a:xfrm flipH="false" flipV="false" rot="0">
              <a:off x="0" y="0"/>
              <a:ext cx="6237986" cy="548640"/>
            </a:xfrm>
            <a:custGeom>
              <a:avLst/>
              <a:gdLst/>
              <a:ahLst/>
              <a:cxnLst/>
              <a:rect r="r" b="b" t="t" l="l"/>
              <a:pathLst>
                <a:path h="548640" w="6237986">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sp>
      </p:grpSp>
      <p:grpSp>
        <p:nvGrpSpPr>
          <p:cNvPr name="Group 22" id="27"/>
          <p:cNvGrpSpPr/>
          <p:nvPr/>
        </p:nvGrpSpPr>
        <p:grpSpPr>
          <a:xfrm rot="0">
            <a:off x="1028700" y="3456899"/>
            <a:ext cx="4678490" cy="411480"/>
            <a:chOff x="0" y="0"/>
            <a:chExt cx="6237986" cy="548640"/>
          </a:xfrm>
        </p:grpSpPr>
        <p:sp>
          <p:nvSpPr>
            <p:cNvPr name="Freeform 23" id="28"/>
            <p:cNvSpPr/>
            <p:nvPr/>
          </p:nvSpPr>
          <p:spPr>
            <a:xfrm flipH="false" flipV="false" rot="0">
              <a:off x="0" y="0"/>
              <a:ext cx="6237986" cy="548640"/>
            </a:xfrm>
            <a:custGeom>
              <a:avLst/>
              <a:gdLst/>
              <a:ahLst/>
              <a:cxnLst/>
              <a:rect r="r" b="b" t="t" l="l"/>
              <a:pathLst>
                <a:path h="548640" w="6237986">
                  <a:moveTo>
                    <a:pt x="0" y="0"/>
                  </a:moveTo>
                  <a:lnTo>
                    <a:pt x="6237986" y="0"/>
                  </a:lnTo>
                  <a:lnTo>
                    <a:pt x="6237986" y="548640"/>
                  </a:lnTo>
                  <a:lnTo>
                    <a:pt x="0" y="548640"/>
                  </a:lnTo>
                  <a:close/>
                </a:path>
              </a:pathLst>
            </a:custGeom>
            <a:blipFill>
              <a:blip r:embed="rId2">
                <a:alphaModFix amt="0"/>
              </a:blip>
              <a:stretch>
                <a:fillRect l="0" t="-171388" r="0" b="-171388"/>
              </a:stretch>
            </a:blipFill>
          </p:spPr>
        </p:sp>
      </p:grpSp>
      <p:grpSp>
        <p:nvGrpSpPr>
          <p:cNvPr name="Group 24" id="29"/>
          <p:cNvGrpSpPr/>
          <p:nvPr/>
        </p:nvGrpSpPr>
        <p:grpSpPr>
          <a:xfrm rot="0">
            <a:off x="1028700" y="3449755"/>
            <a:ext cx="4678528" cy="418624"/>
            <a:chOff x="0" y="0"/>
            <a:chExt cx="6238037" cy="558165"/>
          </a:xfrm>
        </p:grpSpPr>
        <p:sp>
          <p:nvSpPr>
            <p:cNvPr name="Freeform 25" id="30"/>
            <p:cNvSpPr/>
            <p:nvPr/>
          </p:nvSpPr>
          <p:spPr>
            <a:xfrm flipH="false" flipV="false" rot="0">
              <a:off x="0" y="0"/>
              <a:ext cx="6237986" cy="558165"/>
            </a:xfrm>
            <a:custGeom>
              <a:avLst/>
              <a:gdLst/>
              <a:ahLst/>
              <a:cxnLst/>
              <a:rect r="r" b="b" t="t" l="l"/>
              <a:pathLst>
                <a:path h="558165" w="6237986">
                  <a:moveTo>
                    <a:pt x="0" y="0"/>
                  </a:moveTo>
                  <a:lnTo>
                    <a:pt x="6237986" y="0"/>
                  </a:lnTo>
                  <a:lnTo>
                    <a:pt x="6237986" y="558165"/>
                  </a:lnTo>
                  <a:lnTo>
                    <a:pt x="0" y="558165"/>
                  </a:lnTo>
                  <a:close/>
                </a:path>
              </a:pathLst>
            </a:custGeom>
            <a:blipFill>
              <a:blip r:embed="rId3">
                <a:alphaModFix amt="0"/>
              </a:blip>
              <a:stretch>
                <a:fillRect l="0" t="-167613" r="0" b="-167613"/>
              </a:stretch>
            </a:blipFill>
          </p:spPr>
        </p:sp>
      </p:grpSp>
      <p:grpSp>
        <p:nvGrpSpPr>
          <p:cNvPr name="Group 26" id="31"/>
          <p:cNvGrpSpPr/>
          <p:nvPr/>
        </p:nvGrpSpPr>
        <p:grpSpPr>
          <a:xfrm rot="0">
            <a:off x="1028700" y="3442611"/>
            <a:ext cx="4678528" cy="425768"/>
            <a:chOff x="0" y="0"/>
            <a:chExt cx="6238037" cy="567690"/>
          </a:xfrm>
        </p:grpSpPr>
        <p:sp>
          <p:nvSpPr>
            <p:cNvPr name="Freeform 27" id="32"/>
            <p:cNvSpPr/>
            <p:nvPr/>
          </p:nvSpPr>
          <p:spPr>
            <a:xfrm flipH="false" flipV="false" rot="0">
              <a:off x="0" y="0"/>
              <a:ext cx="6238037" cy="567690"/>
            </a:xfrm>
            <a:custGeom>
              <a:avLst/>
              <a:gdLst/>
              <a:ahLst/>
              <a:cxnLst/>
              <a:rect r="r" b="b" t="t" l="l"/>
              <a:pathLst>
                <a:path h="567690" w="6238037">
                  <a:moveTo>
                    <a:pt x="0" y="0"/>
                  </a:moveTo>
                  <a:lnTo>
                    <a:pt x="6238037" y="0"/>
                  </a:lnTo>
                  <a:lnTo>
                    <a:pt x="6238037" y="567690"/>
                  </a:lnTo>
                  <a:lnTo>
                    <a:pt x="0" y="567690"/>
                  </a:lnTo>
                  <a:close/>
                </a:path>
              </a:pathLst>
            </a:custGeom>
            <a:blipFill>
              <a:blip r:embed="rId4">
                <a:alphaModFix amt="0"/>
              </a:blip>
              <a:stretch>
                <a:fillRect l="0" t="-164110" r="0" b="-164110"/>
              </a:stretch>
            </a:blipFill>
          </p:spPr>
        </p:sp>
        <p:sp>
          <p:nvSpPr>
            <p:cNvPr name="TextBox 28" id="33"/>
            <p:cNvSpPr txBox="true"/>
            <p:nvPr/>
          </p:nvSpPr>
          <p:spPr>
            <a:xfrm>
              <a:off x="0" y="-9525"/>
              <a:ext cx="6238037" cy="577215"/>
            </a:xfrm>
            <a:prstGeom prst="rect">
              <a:avLst/>
            </a:prstGeom>
          </p:spPr>
          <p:txBody>
            <a:bodyPr anchor="ctr" rtlCol="false" tIns="0" lIns="0" bIns="0" rIns="0"/>
            <a:lstStyle/>
            <a:p>
              <a:pPr algn="ctr">
                <a:lnSpc>
                  <a:spcPts val="1709"/>
                </a:lnSpc>
              </a:pPr>
              <a:r>
                <a:rPr lang="en-US" b="true" sz="1425" spc="75">
                  <a:solidFill>
                    <a:srgbClr val="1E2761"/>
                  </a:solidFill>
                  <a:latin typeface="Exo 2 Bold"/>
                  <a:ea typeface="Exo 2 Bold"/>
                  <a:cs typeface="Exo 2 Bold"/>
                  <a:sym typeface="Exo 2 Bold"/>
                </a:rPr>
                <a:t>TARGET  20 Sep 2026</a:t>
              </a:r>
            </a:p>
          </p:txBody>
        </p:sp>
      </p:grpSp>
      <p:grpSp>
        <p:nvGrpSpPr>
          <p:cNvPr name="Group 29" id="34"/>
          <p:cNvGrpSpPr/>
          <p:nvPr/>
        </p:nvGrpSpPr>
        <p:grpSpPr>
          <a:xfrm rot="0">
            <a:off x="1028700" y="5143967"/>
            <a:ext cx="2125980" cy="384048"/>
            <a:chOff x="0" y="0"/>
            <a:chExt cx="2834640" cy="512064"/>
          </a:xfrm>
        </p:grpSpPr>
        <p:sp>
          <p:nvSpPr>
            <p:cNvPr name="Freeform 30" id="35"/>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31" id="36"/>
          <p:cNvGrpSpPr/>
          <p:nvPr/>
        </p:nvGrpSpPr>
        <p:grpSpPr>
          <a:xfrm rot="0">
            <a:off x="1028700" y="5136823"/>
            <a:ext cx="2125980" cy="391192"/>
            <a:chOff x="0" y="0"/>
            <a:chExt cx="2834640" cy="521589"/>
          </a:xfrm>
        </p:grpSpPr>
        <p:sp>
          <p:nvSpPr>
            <p:cNvPr name="Freeform 32" id="37"/>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33" id="38"/>
          <p:cNvGrpSpPr/>
          <p:nvPr/>
        </p:nvGrpSpPr>
        <p:grpSpPr>
          <a:xfrm rot="0">
            <a:off x="1028700" y="5129679"/>
            <a:ext cx="2125980" cy="398336"/>
            <a:chOff x="0" y="0"/>
            <a:chExt cx="2834640" cy="531114"/>
          </a:xfrm>
        </p:grpSpPr>
        <p:sp>
          <p:nvSpPr>
            <p:cNvPr name="Freeform 34" id="39"/>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35" id="40"/>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EXPLORING</a:t>
              </a:r>
            </a:p>
          </p:txBody>
        </p:sp>
      </p:grpSp>
      <p:grpSp>
        <p:nvGrpSpPr>
          <p:cNvPr name="Group 36" id="41"/>
          <p:cNvGrpSpPr/>
          <p:nvPr/>
        </p:nvGrpSpPr>
        <p:grpSpPr>
          <a:xfrm rot="0">
            <a:off x="3512668" y="5157683"/>
            <a:ext cx="2194560" cy="356616"/>
            <a:chOff x="0" y="0"/>
            <a:chExt cx="2926080" cy="475488"/>
          </a:xfrm>
        </p:grpSpPr>
        <p:sp>
          <p:nvSpPr>
            <p:cNvPr name="Freeform 37" id="42"/>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sp>
      </p:grpSp>
      <p:grpSp>
        <p:nvGrpSpPr>
          <p:cNvPr name="Group 38" id="43"/>
          <p:cNvGrpSpPr/>
          <p:nvPr/>
        </p:nvGrpSpPr>
        <p:grpSpPr>
          <a:xfrm rot="0">
            <a:off x="3512668" y="5157683"/>
            <a:ext cx="2194560" cy="356616"/>
            <a:chOff x="0" y="0"/>
            <a:chExt cx="2926080" cy="475488"/>
          </a:xfrm>
        </p:grpSpPr>
        <p:sp>
          <p:nvSpPr>
            <p:cNvPr name="Freeform 39" id="44"/>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40" id="45"/>
          <p:cNvGrpSpPr/>
          <p:nvPr/>
        </p:nvGrpSpPr>
        <p:grpSpPr>
          <a:xfrm rot="0">
            <a:off x="3512668" y="5150539"/>
            <a:ext cx="2194560" cy="363760"/>
            <a:chOff x="0" y="0"/>
            <a:chExt cx="2926080" cy="485013"/>
          </a:xfrm>
        </p:grpSpPr>
        <p:sp>
          <p:nvSpPr>
            <p:cNvPr name="Freeform 41" id="46"/>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42" id="47"/>
          <p:cNvGrpSpPr/>
          <p:nvPr/>
        </p:nvGrpSpPr>
        <p:grpSpPr>
          <a:xfrm rot="0">
            <a:off x="3512668" y="5143395"/>
            <a:ext cx="2194560" cy="370904"/>
            <a:chOff x="0" y="0"/>
            <a:chExt cx="2926080" cy="494538"/>
          </a:xfrm>
        </p:grpSpPr>
        <p:sp>
          <p:nvSpPr>
            <p:cNvPr name="Freeform 43" id="48"/>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44" id="49"/>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1E9E6B"/>
                  </a:solidFill>
                  <a:latin typeface="Exo 2 Bold"/>
                  <a:ea typeface="Exo 2 Bold"/>
                  <a:cs typeface="Exo 2 Bold"/>
                  <a:sym typeface="Exo 2 Bold"/>
                </a:rPr>
                <a:t>DONE</a:t>
              </a:r>
            </a:p>
          </p:txBody>
        </p:sp>
      </p:grpSp>
      <p:grpSp>
        <p:nvGrpSpPr>
          <p:cNvPr name="Group 45" id="50"/>
          <p:cNvGrpSpPr/>
          <p:nvPr/>
        </p:nvGrpSpPr>
        <p:grpSpPr>
          <a:xfrm rot="0">
            <a:off x="1028700" y="5651459"/>
            <a:ext cx="2125980" cy="384048"/>
            <a:chOff x="0" y="0"/>
            <a:chExt cx="2834640" cy="512064"/>
          </a:xfrm>
        </p:grpSpPr>
        <p:sp>
          <p:nvSpPr>
            <p:cNvPr name="Freeform 46" id="51"/>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47" id="52"/>
          <p:cNvGrpSpPr/>
          <p:nvPr/>
        </p:nvGrpSpPr>
        <p:grpSpPr>
          <a:xfrm rot="0">
            <a:off x="1028700" y="5644315"/>
            <a:ext cx="2125980" cy="391192"/>
            <a:chOff x="0" y="0"/>
            <a:chExt cx="2834640" cy="521589"/>
          </a:xfrm>
        </p:grpSpPr>
        <p:sp>
          <p:nvSpPr>
            <p:cNvPr name="Freeform 48" id="53"/>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49" id="54"/>
          <p:cNvGrpSpPr/>
          <p:nvPr/>
        </p:nvGrpSpPr>
        <p:grpSpPr>
          <a:xfrm rot="0">
            <a:off x="1028700" y="5637171"/>
            <a:ext cx="2125980" cy="398336"/>
            <a:chOff x="0" y="0"/>
            <a:chExt cx="2834640" cy="531114"/>
          </a:xfrm>
        </p:grpSpPr>
        <p:sp>
          <p:nvSpPr>
            <p:cNvPr name="Freeform 50" id="55"/>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51" id="56"/>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PLANNING</a:t>
              </a:r>
            </a:p>
          </p:txBody>
        </p:sp>
      </p:grpSp>
      <p:grpSp>
        <p:nvGrpSpPr>
          <p:cNvPr name="Group 52" id="57"/>
          <p:cNvGrpSpPr/>
          <p:nvPr/>
        </p:nvGrpSpPr>
        <p:grpSpPr>
          <a:xfrm rot="0">
            <a:off x="3512668" y="5665175"/>
            <a:ext cx="2194560" cy="356616"/>
            <a:chOff x="0" y="0"/>
            <a:chExt cx="2926080" cy="475488"/>
          </a:xfrm>
        </p:grpSpPr>
        <p:sp>
          <p:nvSpPr>
            <p:cNvPr name="Freeform 53" id="58"/>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sp>
      </p:grpSp>
      <p:grpSp>
        <p:nvGrpSpPr>
          <p:cNvPr name="Group 54" id="59"/>
          <p:cNvGrpSpPr/>
          <p:nvPr/>
        </p:nvGrpSpPr>
        <p:grpSpPr>
          <a:xfrm rot="0">
            <a:off x="3512668" y="5665175"/>
            <a:ext cx="2194560" cy="356616"/>
            <a:chOff x="0" y="0"/>
            <a:chExt cx="2926080" cy="475488"/>
          </a:xfrm>
        </p:grpSpPr>
        <p:sp>
          <p:nvSpPr>
            <p:cNvPr name="Freeform 55" id="60"/>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56" id="61"/>
          <p:cNvGrpSpPr/>
          <p:nvPr/>
        </p:nvGrpSpPr>
        <p:grpSpPr>
          <a:xfrm rot="0">
            <a:off x="3512668" y="5658031"/>
            <a:ext cx="2194560" cy="363760"/>
            <a:chOff x="0" y="0"/>
            <a:chExt cx="2926080" cy="485013"/>
          </a:xfrm>
        </p:grpSpPr>
        <p:sp>
          <p:nvSpPr>
            <p:cNvPr name="Freeform 57" id="62"/>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58" id="63"/>
          <p:cNvGrpSpPr/>
          <p:nvPr/>
        </p:nvGrpSpPr>
        <p:grpSpPr>
          <a:xfrm rot="0">
            <a:off x="3512668" y="5650887"/>
            <a:ext cx="2194560" cy="370904"/>
            <a:chOff x="0" y="0"/>
            <a:chExt cx="2926080" cy="494538"/>
          </a:xfrm>
        </p:grpSpPr>
        <p:sp>
          <p:nvSpPr>
            <p:cNvPr name="Freeform 59" id="64"/>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60" id="65"/>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1E9E6B"/>
                  </a:solidFill>
                  <a:latin typeface="Exo 2 Bold"/>
                  <a:ea typeface="Exo 2 Bold"/>
                  <a:cs typeface="Exo 2 Bold"/>
                  <a:sym typeface="Exo 2 Bold"/>
                </a:rPr>
                <a:t>DONE</a:t>
              </a:r>
            </a:p>
          </p:txBody>
        </p:sp>
      </p:grpSp>
      <p:grpSp>
        <p:nvGrpSpPr>
          <p:cNvPr name="Group 61" id="66"/>
          <p:cNvGrpSpPr/>
          <p:nvPr/>
        </p:nvGrpSpPr>
        <p:grpSpPr>
          <a:xfrm rot="0">
            <a:off x="1028700" y="6158951"/>
            <a:ext cx="2125980" cy="384048"/>
            <a:chOff x="0" y="0"/>
            <a:chExt cx="2834640" cy="512064"/>
          </a:xfrm>
        </p:grpSpPr>
        <p:sp>
          <p:nvSpPr>
            <p:cNvPr name="Freeform 62" id="67"/>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63" id="68"/>
          <p:cNvGrpSpPr/>
          <p:nvPr/>
        </p:nvGrpSpPr>
        <p:grpSpPr>
          <a:xfrm rot="0">
            <a:off x="1028700" y="6151807"/>
            <a:ext cx="2125980" cy="391192"/>
            <a:chOff x="0" y="0"/>
            <a:chExt cx="2834640" cy="521589"/>
          </a:xfrm>
        </p:grpSpPr>
        <p:sp>
          <p:nvSpPr>
            <p:cNvPr name="Freeform 64" id="69"/>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65" id="70"/>
          <p:cNvGrpSpPr/>
          <p:nvPr/>
        </p:nvGrpSpPr>
        <p:grpSpPr>
          <a:xfrm rot="0">
            <a:off x="1028700" y="6144663"/>
            <a:ext cx="2125980" cy="398336"/>
            <a:chOff x="0" y="0"/>
            <a:chExt cx="2834640" cy="531114"/>
          </a:xfrm>
        </p:grpSpPr>
        <p:sp>
          <p:nvSpPr>
            <p:cNvPr name="Freeform 66" id="71"/>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67" id="72"/>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DEPLOYMENT</a:t>
              </a:r>
            </a:p>
          </p:txBody>
        </p:sp>
      </p:grpSp>
      <p:grpSp>
        <p:nvGrpSpPr>
          <p:cNvPr name="Group 68" id="73"/>
          <p:cNvGrpSpPr/>
          <p:nvPr/>
        </p:nvGrpSpPr>
        <p:grpSpPr>
          <a:xfrm rot="0">
            <a:off x="3512668" y="6172667"/>
            <a:ext cx="2194560" cy="356616"/>
            <a:chOff x="0" y="0"/>
            <a:chExt cx="2926080" cy="475488"/>
          </a:xfrm>
        </p:grpSpPr>
        <p:sp>
          <p:nvSpPr>
            <p:cNvPr name="Freeform 69" id="74"/>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sp>
      </p:grpSp>
      <p:grpSp>
        <p:nvGrpSpPr>
          <p:cNvPr name="Group 70" id="75"/>
          <p:cNvGrpSpPr/>
          <p:nvPr/>
        </p:nvGrpSpPr>
        <p:grpSpPr>
          <a:xfrm rot="0">
            <a:off x="3512668" y="6172667"/>
            <a:ext cx="2194560" cy="356616"/>
            <a:chOff x="0" y="0"/>
            <a:chExt cx="2926080" cy="475488"/>
          </a:xfrm>
        </p:grpSpPr>
        <p:sp>
          <p:nvSpPr>
            <p:cNvPr name="Freeform 71" id="76"/>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72" id="77"/>
          <p:cNvGrpSpPr/>
          <p:nvPr/>
        </p:nvGrpSpPr>
        <p:grpSpPr>
          <a:xfrm rot="0">
            <a:off x="3512668" y="6165523"/>
            <a:ext cx="2194560" cy="363760"/>
            <a:chOff x="0" y="0"/>
            <a:chExt cx="2926080" cy="485013"/>
          </a:xfrm>
        </p:grpSpPr>
        <p:sp>
          <p:nvSpPr>
            <p:cNvPr name="Freeform 73" id="78"/>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74" id="79"/>
          <p:cNvGrpSpPr/>
          <p:nvPr/>
        </p:nvGrpSpPr>
        <p:grpSpPr>
          <a:xfrm rot="0">
            <a:off x="3512668" y="6158379"/>
            <a:ext cx="2194560" cy="370904"/>
            <a:chOff x="0" y="0"/>
            <a:chExt cx="2926080" cy="494538"/>
          </a:xfrm>
        </p:grpSpPr>
        <p:sp>
          <p:nvSpPr>
            <p:cNvPr name="Freeform 75" id="80"/>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76" id="81"/>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D98C1F"/>
                  </a:solidFill>
                  <a:latin typeface="Exo 2 Bold"/>
                  <a:ea typeface="Exo 2 Bold"/>
                  <a:cs typeface="Exo 2 Bold"/>
                  <a:sym typeface="Exo 2 Bold"/>
                </a:rPr>
                <a:t>IN PROGRESS</a:t>
              </a:r>
            </a:p>
          </p:txBody>
        </p:sp>
      </p:grpSp>
      <p:grpSp>
        <p:nvGrpSpPr>
          <p:cNvPr name="Group 77" id="82"/>
          <p:cNvGrpSpPr/>
          <p:nvPr/>
        </p:nvGrpSpPr>
        <p:grpSpPr>
          <a:xfrm rot="0">
            <a:off x="6461608" y="2291039"/>
            <a:ext cx="5364290" cy="4472940"/>
            <a:chOff x="0" y="0"/>
            <a:chExt cx="7152386" cy="5963920"/>
          </a:xfrm>
        </p:grpSpPr>
        <p:sp>
          <p:nvSpPr>
            <p:cNvPr name="Freeform 78" id="83"/>
            <p:cNvSpPr/>
            <p:nvPr/>
          </p:nvSpPr>
          <p:spPr>
            <a:xfrm flipH="false" flipV="false" rot="0">
              <a:off x="0" y="0"/>
              <a:ext cx="7152386" cy="5963920"/>
            </a:xfrm>
            <a:custGeom>
              <a:avLst/>
              <a:gdLst/>
              <a:ahLst/>
              <a:cxnLst/>
              <a:rect r="r" b="b" t="t" l="l"/>
              <a:pathLst>
                <a:path h="5963920" w="7152386">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sp>
      </p:grpSp>
      <p:grpSp>
        <p:nvGrpSpPr>
          <p:cNvPr name="Group 79" id="84"/>
          <p:cNvGrpSpPr/>
          <p:nvPr/>
        </p:nvGrpSpPr>
        <p:grpSpPr>
          <a:xfrm rot="0">
            <a:off x="6804508" y="2633939"/>
            <a:ext cx="685800" cy="685800"/>
            <a:chOff x="0" y="0"/>
            <a:chExt cx="914400" cy="914400"/>
          </a:xfrm>
        </p:grpSpPr>
        <p:sp>
          <p:nvSpPr>
            <p:cNvPr name="Freeform 80" id="8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81" id="86"/>
          <p:cNvGrpSpPr/>
          <p:nvPr/>
        </p:nvGrpSpPr>
        <p:grpSpPr>
          <a:xfrm rot="0">
            <a:off x="6804508" y="2633939"/>
            <a:ext cx="685800" cy="685800"/>
            <a:chOff x="0" y="0"/>
            <a:chExt cx="914400" cy="914400"/>
          </a:xfrm>
        </p:grpSpPr>
        <p:sp>
          <p:nvSpPr>
            <p:cNvPr name="Freeform 82" id="8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93" t="0" r="-78393" b="0"/>
              </a:stretch>
            </a:blipFill>
          </p:spPr>
        </p:sp>
      </p:grpSp>
      <p:grpSp>
        <p:nvGrpSpPr>
          <p:cNvPr name="Group 83" id="88"/>
          <p:cNvGrpSpPr/>
          <p:nvPr/>
        </p:nvGrpSpPr>
        <p:grpSpPr>
          <a:xfrm rot="0">
            <a:off x="6804508" y="2626795"/>
            <a:ext cx="685800" cy="692944"/>
            <a:chOff x="0" y="0"/>
            <a:chExt cx="914400" cy="923925"/>
          </a:xfrm>
        </p:grpSpPr>
        <p:sp>
          <p:nvSpPr>
            <p:cNvPr name="Freeform 84" id="89"/>
            <p:cNvSpPr/>
            <p:nvPr/>
          </p:nvSpPr>
          <p:spPr>
            <a:xfrm flipH="false" flipV="false" rot="0">
              <a:off x="0" y="0"/>
              <a:ext cx="914400" cy="923925"/>
            </a:xfrm>
            <a:custGeom>
              <a:avLst/>
              <a:gdLst/>
              <a:ahLst/>
              <a:cxnLst/>
              <a:rect r="r" b="b" t="t" l="l"/>
              <a:pathLst>
                <a:path h="923925" w="914400">
                  <a:moveTo>
                    <a:pt x="0" y="0"/>
                  </a:moveTo>
                  <a:lnTo>
                    <a:pt x="914400" y="0"/>
                  </a:lnTo>
                  <a:lnTo>
                    <a:pt x="914400" y="923925"/>
                  </a:lnTo>
                  <a:lnTo>
                    <a:pt x="0" y="923925"/>
                  </a:lnTo>
                  <a:close/>
                </a:path>
              </a:pathLst>
            </a:custGeom>
            <a:blipFill>
              <a:blip r:embed="rId3">
                <a:alphaModFix amt="0"/>
              </a:blip>
              <a:stretch>
                <a:fillRect l="-79730" t="0" r="-79730" b="0"/>
              </a:stretch>
            </a:blipFill>
          </p:spPr>
        </p:sp>
      </p:grpSp>
      <p:grpSp>
        <p:nvGrpSpPr>
          <p:cNvPr name="Group 85" id="90"/>
          <p:cNvGrpSpPr/>
          <p:nvPr/>
        </p:nvGrpSpPr>
        <p:grpSpPr>
          <a:xfrm rot="0">
            <a:off x="6804508" y="2619651"/>
            <a:ext cx="685800" cy="700088"/>
            <a:chOff x="0" y="0"/>
            <a:chExt cx="914400" cy="933450"/>
          </a:xfrm>
        </p:grpSpPr>
        <p:sp>
          <p:nvSpPr>
            <p:cNvPr name="Freeform 86" id="91"/>
            <p:cNvSpPr/>
            <p:nvPr/>
          </p:nvSpPr>
          <p:spPr>
            <a:xfrm flipH="false" flipV="false" rot="0">
              <a:off x="0" y="0"/>
              <a:ext cx="914400" cy="933450"/>
            </a:xfrm>
            <a:custGeom>
              <a:avLst/>
              <a:gdLst/>
              <a:ahLst/>
              <a:cxnLst/>
              <a:rect r="r" b="b" t="t" l="l"/>
              <a:pathLst>
                <a:path h="933450" w="914400">
                  <a:moveTo>
                    <a:pt x="0" y="0"/>
                  </a:moveTo>
                  <a:lnTo>
                    <a:pt x="914400" y="0"/>
                  </a:lnTo>
                  <a:lnTo>
                    <a:pt x="914400" y="933450"/>
                  </a:lnTo>
                  <a:lnTo>
                    <a:pt x="0" y="933450"/>
                  </a:lnTo>
                  <a:close/>
                </a:path>
              </a:pathLst>
            </a:custGeom>
            <a:blipFill>
              <a:blip r:embed="rId4">
                <a:alphaModFix amt="0"/>
              </a:blip>
              <a:stretch>
                <a:fillRect l="-80976" t="0" r="-80976" b="0"/>
              </a:stretch>
            </a:blipFill>
          </p:spPr>
        </p:sp>
        <p:sp>
          <p:nvSpPr>
            <p:cNvPr name="TextBox 87" id="92"/>
            <p:cNvSpPr txBox="true"/>
            <p:nvPr/>
          </p:nvSpPr>
          <p:spPr>
            <a:xfrm>
              <a:off x="0" y="-9525"/>
              <a:ext cx="914400" cy="942975"/>
            </a:xfrm>
            <a:prstGeom prst="rect">
              <a:avLst/>
            </a:prstGeom>
          </p:spPr>
          <p:txBody>
            <a:bodyPr anchor="ctr" rtlCol="false" tIns="0" lIns="0" bIns="0" rIns="0"/>
            <a:lstStyle/>
            <a:p>
              <a:pPr algn="ctr">
                <a:lnSpc>
                  <a:spcPts val="2520"/>
                </a:lnSpc>
              </a:pPr>
              <a:r>
                <a:rPr lang="en-US" sz="2100" b="true">
                  <a:solidFill>
                    <a:srgbClr val="FFFFFF"/>
                  </a:solidFill>
                  <a:latin typeface="Exo 2 Bold"/>
                  <a:ea typeface="Exo 2 Bold"/>
                  <a:cs typeface="Exo 2 Bold"/>
                  <a:sym typeface="Exo 2 Bold"/>
                </a:rPr>
                <a:t>02</a:t>
              </a:r>
            </a:p>
          </p:txBody>
        </p:sp>
      </p:grpSp>
      <p:grpSp>
        <p:nvGrpSpPr>
          <p:cNvPr name="Group 88" id="93"/>
          <p:cNvGrpSpPr/>
          <p:nvPr/>
        </p:nvGrpSpPr>
        <p:grpSpPr>
          <a:xfrm rot="0">
            <a:off x="7696048" y="2592791"/>
            <a:ext cx="3855529" cy="685800"/>
            <a:chOff x="0" y="0"/>
            <a:chExt cx="5140706" cy="914400"/>
          </a:xfrm>
        </p:grpSpPr>
        <p:sp>
          <p:nvSpPr>
            <p:cNvPr name="Freeform 89" id="94"/>
            <p:cNvSpPr/>
            <p:nvPr/>
          </p:nvSpPr>
          <p:spPr>
            <a:xfrm flipH="false" flipV="false" rot="0">
              <a:off x="0" y="0"/>
              <a:ext cx="5140706" cy="914400"/>
            </a:xfrm>
            <a:custGeom>
              <a:avLst/>
              <a:gdLst/>
              <a:ahLst/>
              <a:cxnLst/>
              <a:rect r="r" b="b" t="t" l="l"/>
              <a:pathLst>
                <a:path h="914400" w="5140706">
                  <a:moveTo>
                    <a:pt x="0" y="0"/>
                  </a:moveTo>
                  <a:lnTo>
                    <a:pt x="5140706" y="0"/>
                  </a:lnTo>
                  <a:lnTo>
                    <a:pt x="5140706" y="914400"/>
                  </a:lnTo>
                  <a:lnTo>
                    <a:pt x="0" y="914400"/>
                  </a:lnTo>
                  <a:close/>
                </a:path>
              </a:pathLst>
            </a:custGeom>
            <a:blipFill>
              <a:blip r:embed="rId2">
                <a:alphaModFix amt="0"/>
              </a:blip>
              <a:stretch>
                <a:fillRect l="0" t="-59468" r="0" b="-59466"/>
              </a:stretch>
            </a:blipFill>
          </p:spPr>
        </p:sp>
      </p:grpSp>
      <p:grpSp>
        <p:nvGrpSpPr>
          <p:cNvPr name="Group 90" id="95"/>
          <p:cNvGrpSpPr/>
          <p:nvPr/>
        </p:nvGrpSpPr>
        <p:grpSpPr>
          <a:xfrm rot="0">
            <a:off x="7696048" y="2585647"/>
            <a:ext cx="3855568" cy="692944"/>
            <a:chOff x="0" y="0"/>
            <a:chExt cx="5140757" cy="923925"/>
          </a:xfrm>
        </p:grpSpPr>
        <p:sp>
          <p:nvSpPr>
            <p:cNvPr name="Freeform 91" id="96"/>
            <p:cNvSpPr/>
            <p:nvPr/>
          </p:nvSpPr>
          <p:spPr>
            <a:xfrm flipH="false" flipV="false" rot="0">
              <a:off x="0" y="0"/>
              <a:ext cx="5140706" cy="923925"/>
            </a:xfrm>
            <a:custGeom>
              <a:avLst/>
              <a:gdLst/>
              <a:ahLst/>
              <a:cxnLst/>
              <a:rect r="r" b="b" t="t" l="l"/>
              <a:pathLst>
                <a:path h="923925" w="5140706">
                  <a:moveTo>
                    <a:pt x="0" y="0"/>
                  </a:moveTo>
                  <a:lnTo>
                    <a:pt x="5140706" y="0"/>
                  </a:lnTo>
                  <a:lnTo>
                    <a:pt x="5140706" y="923925"/>
                  </a:lnTo>
                  <a:lnTo>
                    <a:pt x="0" y="923925"/>
                  </a:lnTo>
                  <a:close/>
                </a:path>
              </a:pathLst>
            </a:custGeom>
            <a:blipFill>
              <a:blip r:embed="rId3">
                <a:alphaModFix amt="0"/>
              </a:blip>
              <a:stretch>
                <a:fillRect l="0" t="-58339" r="0" b="-58340"/>
              </a:stretch>
            </a:blipFill>
          </p:spPr>
        </p:sp>
      </p:grpSp>
      <p:grpSp>
        <p:nvGrpSpPr>
          <p:cNvPr name="Group 92" id="97"/>
          <p:cNvGrpSpPr/>
          <p:nvPr/>
        </p:nvGrpSpPr>
        <p:grpSpPr>
          <a:xfrm rot="0">
            <a:off x="7696048" y="2578503"/>
            <a:ext cx="3855568" cy="700088"/>
            <a:chOff x="0" y="0"/>
            <a:chExt cx="5140757" cy="933450"/>
          </a:xfrm>
        </p:grpSpPr>
        <p:sp>
          <p:nvSpPr>
            <p:cNvPr name="Freeform 93" id="98"/>
            <p:cNvSpPr/>
            <p:nvPr/>
          </p:nvSpPr>
          <p:spPr>
            <a:xfrm flipH="false" flipV="false" rot="0">
              <a:off x="0" y="0"/>
              <a:ext cx="5140758" cy="933450"/>
            </a:xfrm>
            <a:custGeom>
              <a:avLst/>
              <a:gdLst/>
              <a:ahLst/>
              <a:cxnLst/>
              <a:rect r="r" b="b" t="t" l="l"/>
              <a:pathLst>
                <a:path h="933450" w="5140758">
                  <a:moveTo>
                    <a:pt x="0" y="0"/>
                  </a:moveTo>
                  <a:lnTo>
                    <a:pt x="5140758" y="0"/>
                  </a:lnTo>
                  <a:lnTo>
                    <a:pt x="5140758" y="933450"/>
                  </a:lnTo>
                  <a:lnTo>
                    <a:pt x="0" y="933450"/>
                  </a:lnTo>
                  <a:close/>
                </a:path>
              </a:pathLst>
            </a:custGeom>
            <a:blipFill>
              <a:blip r:embed="rId4">
                <a:alphaModFix amt="0"/>
              </a:blip>
              <a:stretch>
                <a:fillRect l="0" t="-57309" r="0" b="-57309"/>
              </a:stretch>
            </a:blipFill>
          </p:spPr>
        </p:sp>
        <p:sp>
          <p:nvSpPr>
            <p:cNvPr name="TextBox 94" id="99"/>
            <p:cNvSpPr txBox="true"/>
            <p:nvPr/>
          </p:nvSpPr>
          <p:spPr>
            <a:xfrm>
              <a:off x="0" y="-9525"/>
              <a:ext cx="5140757" cy="942975"/>
            </a:xfrm>
            <a:prstGeom prst="rect">
              <a:avLst/>
            </a:prstGeom>
          </p:spPr>
          <p:txBody>
            <a:bodyPr anchor="ctr" rtlCol="false" tIns="0" lIns="0" bIns="0" rIns="0"/>
            <a:lstStyle/>
            <a:p>
              <a:pPr algn="l">
                <a:lnSpc>
                  <a:spcPts val="2610"/>
                </a:lnSpc>
              </a:pPr>
              <a:r>
                <a:rPr lang="en-US" sz="2175" b="true">
                  <a:solidFill>
                    <a:srgbClr val="1E2761"/>
                  </a:solidFill>
                  <a:latin typeface="Exo 2 Bold"/>
                  <a:ea typeface="Exo 2 Bold"/>
                  <a:cs typeface="Exo 2 Bold"/>
                  <a:sym typeface="Exo 2 Bold"/>
                </a:rPr>
                <a:t>WealthTech CRM Rollout</a:t>
              </a:r>
            </a:p>
          </p:txBody>
        </p:sp>
      </p:grpSp>
      <p:grpSp>
        <p:nvGrpSpPr>
          <p:cNvPr name="Group 95" id="100"/>
          <p:cNvGrpSpPr/>
          <p:nvPr/>
        </p:nvGrpSpPr>
        <p:grpSpPr>
          <a:xfrm rot="0">
            <a:off x="6804508" y="3456899"/>
            <a:ext cx="4678490" cy="411480"/>
            <a:chOff x="0" y="0"/>
            <a:chExt cx="6237986" cy="548640"/>
          </a:xfrm>
        </p:grpSpPr>
        <p:sp>
          <p:nvSpPr>
            <p:cNvPr name="Freeform 96" id="101"/>
            <p:cNvSpPr/>
            <p:nvPr/>
          </p:nvSpPr>
          <p:spPr>
            <a:xfrm flipH="false" flipV="false" rot="0">
              <a:off x="0" y="0"/>
              <a:ext cx="6237986" cy="548640"/>
            </a:xfrm>
            <a:custGeom>
              <a:avLst/>
              <a:gdLst/>
              <a:ahLst/>
              <a:cxnLst/>
              <a:rect r="r" b="b" t="t" l="l"/>
              <a:pathLst>
                <a:path h="548640" w="6237986">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sp>
      </p:grpSp>
      <p:grpSp>
        <p:nvGrpSpPr>
          <p:cNvPr name="Group 97" id="102"/>
          <p:cNvGrpSpPr/>
          <p:nvPr/>
        </p:nvGrpSpPr>
        <p:grpSpPr>
          <a:xfrm rot="0">
            <a:off x="6804508" y="3456899"/>
            <a:ext cx="4678490" cy="411480"/>
            <a:chOff x="0" y="0"/>
            <a:chExt cx="6237986" cy="548640"/>
          </a:xfrm>
        </p:grpSpPr>
        <p:sp>
          <p:nvSpPr>
            <p:cNvPr name="Freeform 98" id="103"/>
            <p:cNvSpPr/>
            <p:nvPr/>
          </p:nvSpPr>
          <p:spPr>
            <a:xfrm flipH="false" flipV="false" rot="0">
              <a:off x="0" y="0"/>
              <a:ext cx="6237986" cy="548640"/>
            </a:xfrm>
            <a:custGeom>
              <a:avLst/>
              <a:gdLst/>
              <a:ahLst/>
              <a:cxnLst/>
              <a:rect r="r" b="b" t="t" l="l"/>
              <a:pathLst>
                <a:path h="548640" w="6237986">
                  <a:moveTo>
                    <a:pt x="0" y="0"/>
                  </a:moveTo>
                  <a:lnTo>
                    <a:pt x="6237986" y="0"/>
                  </a:lnTo>
                  <a:lnTo>
                    <a:pt x="6237986" y="548640"/>
                  </a:lnTo>
                  <a:lnTo>
                    <a:pt x="0" y="548640"/>
                  </a:lnTo>
                  <a:close/>
                </a:path>
              </a:pathLst>
            </a:custGeom>
            <a:blipFill>
              <a:blip r:embed="rId2">
                <a:alphaModFix amt="0"/>
              </a:blip>
              <a:stretch>
                <a:fillRect l="0" t="-171388" r="0" b="-171388"/>
              </a:stretch>
            </a:blipFill>
          </p:spPr>
        </p:sp>
      </p:grpSp>
      <p:grpSp>
        <p:nvGrpSpPr>
          <p:cNvPr name="Group 99" id="104"/>
          <p:cNvGrpSpPr/>
          <p:nvPr/>
        </p:nvGrpSpPr>
        <p:grpSpPr>
          <a:xfrm rot="0">
            <a:off x="6804508" y="3449755"/>
            <a:ext cx="4678528" cy="418624"/>
            <a:chOff x="0" y="0"/>
            <a:chExt cx="6238037" cy="558165"/>
          </a:xfrm>
        </p:grpSpPr>
        <p:sp>
          <p:nvSpPr>
            <p:cNvPr name="Freeform 100" id="105"/>
            <p:cNvSpPr/>
            <p:nvPr/>
          </p:nvSpPr>
          <p:spPr>
            <a:xfrm flipH="false" flipV="false" rot="0">
              <a:off x="0" y="0"/>
              <a:ext cx="6237986" cy="558165"/>
            </a:xfrm>
            <a:custGeom>
              <a:avLst/>
              <a:gdLst/>
              <a:ahLst/>
              <a:cxnLst/>
              <a:rect r="r" b="b" t="t" l="l"/>
              <a:pathLst>
                <a:path h="558165" w="6237986">
                  <a:moveTo>
                    <a:pt x="0" y="0"/>
                  </a:moveTo>
                  <a:lnTo>
                    <a:pt x="6237986" y="0"/>
                  </a:lnTo>
                  <a:lnTo>
                    <a:pt x="6237986" y="558165"/>
                  </a:lnTo>
                  <a:lnTo>
                    <a:pt x="0" y="558165"/>
                  </a:lnTo>
                  <a:close/>
                </a:path>
              </a:pathLst>
            </a:custGeom>
            <a:blipFill>
              <a:blip r:embed="rId3">
                <a:alphaModFix amt="0"/>
              </a:blip>
              <a:stretch>
                <a:fillRect l="0" t="-167613" r="0" b="-167613"/>
              </a:stretch>
            </a:blipFill>
          </p:spPr>
        </p:sp>
      </p:grpSp>
      <p:grpSp>
        <p:nvGrpSpPr>
          <p:cNvPr name="Group 101" id="106"/>
          <p:cNvGrpSpPr/>
          <p:nvPr/>
        </p:nvGrpSpPr>
        <p:grpSpPr>
          <a:xfrm rot="0">
            <a:off x="6804508" y="3442611"/>
            <a:ext cx="4678528" cy="425768"/>
            <a:chOff x="0" y="0"/>
            <a:chExt cx="6238037" cy="567690"/>
          </a:xfrm>
        </p:grpSpPr>
        <p:sp>
          <p:nvSpPr>
            <p:cNvPr name="Freeform 102" id="107"/>
            <p:cNvSpPr/>
            <p:nvPr/>
          </p:nvSpPr>
          <p:spPr>
            <a:xfrm flipH="false" flipV="false" rot="0">
              <a:off x="0" y="0"/>
              <a:ext cx="6238037" cy="567690"/>
            </a:xfrm>
            <a:custGeom>
              <a:avLst/>
              <a:gdLst/>
              <a:ahLst/>
              <a:cxnLst/>
              <a:rect r="r" b="b" t="t" l="l"/>
              <a:pathLst>
                <a:path h="567690" w="6238037">
                  <a:moveTo>
                    <a:pt x="0" y="0"/>
                  </a:moveTo>
                  <a:lnTo>
                    <a:pt x="6238037" y="0"/>
                  </a:lnTo>
                  <a:lnTo>
                    <a:pt x="6238037" y="567690"/>
                  </a:lnTo>
                  <a:lnTo>
                    <a:pt x="0" y="567690"/>
                  </a:lnTo>
                  <a:close/>
                </a:path>
              </a:pathLst>
            </a:custGeom>
            <a:blipFill>
              <a:blip r:embed="rId4">
                <a:alphaModFix amt="0"/>
              </a:blip>
              <a:stretch>
                <a:fillRect l="0" t="-164110" r="0" b="-164110"/>
              </a:stretch>
            </a:blipFill>
          </p:spPr>
        </p:sp>
        <p:sp>
          <p:nvSpPr>
            <p:cNvPr name="TextBox 103" id="108"/>
            <p:cNvSpPr txBox="true"/>
            <p:nvPr/>
          </p:nvSpPr>
          <p:spPr>
            <a:xfrm>
              <a:off x="0" y="-9525"/>
              <a:ext cx="6238037" cy="577215"/>
            </a:xfrm>
            <a:prstGeom prst="rect">
              <a:avLst/>
            </a:prstGeom>
          </p:spPr>
          <p:txBody>
            <a:bodyPr anchor="ctr" rtlCol="false" tIns="0" lIns="0" bIns="0" rIns="0"/>
            <a:lstStyle/>
            <a:p>
              <a:pPr algn="ctr">
                <a:lnSpc>
                  <a:spcPts val="1709"/>
                </a:lnSpc>
              </a:pPr>
              <a:r>
                <a:rPr lang="en-US" b="true" sz="1425" spc="75">
                  <a:solidFill>
                    <a:srgbClr val="1E2761"/>
                  </a:solidFill>
                  <a:latin typeface="Exo 2 Bold"/>
                  <a:ea typeface="Exo 2 Bold"/>
                  <a:cs typeface="Exo 2 Bold"/>
                  <a:sym typeface="Exo 2 Bold"/>
                </a:rPr>
                <a:t>TARGET  29 Oct 2026</a:t>
              </a:r>
            </a:p>
          </p:txBody>
        </p:sp>
      </p:grpSp>
      <p:grpSp>
        <p:nvGrpSpPr>
          <p:cNvPr name="Group 104" id="109"/>
          <p:cNvGrpSpPr/>
          <p:nvPr/>
        </p:nvGrpSpPr>
        <p:grpSpPr>
          <a:xfrm rot="0">
            <a:off x="6804508" y="5143967"/>
            <a:ext cx="2125980" cy="384048"/>
            <a:chOff x="0" y="0"/>
            <a:chExt cx="2834640" cy="512064"/>
          </a:xfrm>
        </p:grpSpPr>
        <p:sp>
          <p:nvSpPr>
            <p:cNvPr name="Freeform 105" id="110"/>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06" id="111"/>
          <p:cNvGrpSpPr/>
          <p:nvPr/>
        </p:nvGrpSpPr>
        <p:grpSpPr>
          <a:xfrm rot="0">
            <a:off x="6804508" y="5136823"/>
            <a:ext cx="2125980" cy="391192"/>
            <a:chOff x="0" y="0"/>
            <a:chExt cx="2834640" cy="521589"/>
          </a:xfrm>
        </p:grpSpPr>
        <p:sp>
          <p:nvSpPr>
            <p:cNvPr name="Freeform 107" id="112"/>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08" id="113"/>
          <p:cNvGrpSpPr/>
          <p:nvPr/>
        </p:nvGrpSpPr>
        <p:grpSpPr>
          <a:xfrm rot="0">
            <a:off x="6804508" y="5129679"/>
            <a:ext cx="2125980" cy="398336"/>
            <a:chOff x="0" y="0"/>
            <a:chExt cx="2834640" cy="531114"/>
          </a:xfrm>
        </p:grpSpPr>
        <p:sp>
          <p:nvSpPr>
            <p:cNvPr name="Freeform 109" id="114"/>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110" id="115"/>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EXPLORING</a:t>
              </a:r>
            </a:p>
          </p:txBody>
        </p:sp>
      </p:grpSp>
      <p:grpSp>
        <p:nvGrpSpPr>
          <p:cNvPr name="Group 111" id="116"/>
          <p:cNvGrpSpPr/>
          <p:nvPr/>
        </p:nvGrpSpPr>
        <p:grpSpPr>
          <a:xfrm rot="0">
            <a:off x="9288475" y="5157683"/>
            <a:ext cx="2194560" cy="356616"/>
            <a:chOff x="0" y="0"/>
            <a:chExt cx="2926080" cy="475488"/>
          </a:xfrm>
        </p:grpSpPr>
        <p:sp>
          <p:nvSpPr>
            <p:cNvPr name="Freeform 112" id="117"/>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sp>
      </p:grpSp>
      <p:grpSp>
        <p:nvGrpSpPr>
          <p:cNvPr name="Group 113" id="118"/>
          <p:cNvGrpSpPr/>
          <p:nvPr/>
        </p:nvGrpSpPr>
        <p:grpSpPr>
          <a:xfrm rot="0">
            <a:off x="9288475" y="5157683"/>
            <a:ext cx="2194560" cy="356616"/>
            <a:chOff x="0" y="0"/>
            <a:chExt cx="2926080" cy="475488"/>
          </a:xfrm>
        </p:grpSpPr>
        <p:sp>
          <p:nvSpPr>
            <p:cNvPr name="Freeform 114" id="119"/>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115" id="120"/>
          <p:cNvGrpSpPr/>
          <p:nvPr/>
        </p:nvGrpSpPr>
        <p:grpSpPr>
          <a:xfrm rot="0">
            <a:off x="9288475" y="5150539"/>
            <a:ext cx="2194560" cy="363760"/>
            <a:chOff x="0" y="0"/>
            <a:chExt cx="2926080" cy="485013"/>
          </a:xfrm>
        </p:grpSpPr>
        <p:sp>
          <p:nvSpPr>
            <p:cNvPr name="Freeform 116" id="121"/>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117" id="122"/>
          <p:cNvGrpSpPr/>
          <p:nvPr/>
        </p:nvGrpSpPr>
        <p:grpSpPr>
          <a:xfrm rot="0">
            <a:off x="9288475" y="5143395"/>
            <a:ext cx="2194560" cy="370904"/>
            <a:chOff x="0" y="0"/>
            <a:chExt cx="2926080" cy="494538"/>
          </a:xfrm>
        </p:grpSpPr>
        <p:sp>
          <p:nvSpPr>
            <p:cNvPr name="Freeform 118" id="123"/>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119" id="124"/>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1E9E6B"/>
                  </a:solidFill>
                  <a:latin typeface="Exo 2 Bold"/>
                  <a:ea typeface="Exo 2 Bold"/>
                  <a:cs typeface="Exo 2 Bold"/>
                  <a:sym typeface="Exo 2 Bold"/>
                </a:rPr>
                <a:t>DONE</a:t>
              </a:r>
            </a:p>
          </p:txBody>
        </p:sp>
      </p:grpSp>
      <p:grpSp>
        <p:nvGrpSpPr>
          <p:cNvPr name="Group 120" id="125"/>
          <p:cNvGrpSpPr/>
          <p:nvPr/>
        </p:nvGrpSpPr>
        <p:grpSpPr>
          <a:xfrm rot="0">
            <a:off x="6804508" y="5651459"/>
            <a:ext cx="2125980" cy="384048"/>
            <a:chOff x="0" y="0"/>
            <a:chExt cx="2834640" cy="512064"/>
          </a:xfrm>
        </p:grpSpPr>
        <p:sp>
          <p:nvSpPr>
            <p:cNvPr name="Freeform 121" id="126"/>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22" id="127"/>
          <p:cNvGrpSpPr/>
          <p:nvPr/>
        </p:nvGrpSpPr>
        <p:grpSpPr>
          <a:xfrm rot="0">
            <a:off x="6804508" y="5644315"/>
            <a:ext cx="2125980" cy="391192"/>
            <a:chOff x="0" y="0"/>
            <a:chExt cx="2834640" cy="521589"/>
          </a:xfrm>
        </p:grpSpPr>
        <p:sp>
          <p:nvSpPr>
            <p:cNvPr name="Freeform 123" id="128"/>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24" id="129"/>
          <p:cNvGrpSpPr/>
          <p:nvPr/>
        </p:nvGrpSpPr>
        <p:grpSpPr>
          <a:xfrm rot="0">
            <a:off x="6804508" y="5637171"/>
            <a:ext cx="2125980" cy="398336"/>
            <a:chOff x="0" y="0"/>
            <a:chExt cx="2834640" cy="531114"/>
          </a:xfrm>
        </p:grpSpPr>
        <p:sp>
          <p:nvSpPr>
            <p:cNvPr name="Freeform 125" id="130"/>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126" id="131"/>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PLANNING</a:t>
              </a:r>
            </a:p>
          </p:txBody>
        </p:sp>
      </p:grpSp>
      <p:grpSp>
        <p:nvGrpSpPr>
          <p:cNvPr name="Group 127" id="132"/>
          <p:cNvGrpSpPr/>
          <p:nvPr/>
        </p:nvGrpSpPr>
        <p:grpSpPr>
          <a:xfrm rot="0">
            <a:off x="9288475" y="5665175"/>
            <a:ext cx="2194560" cy="356616"/>
            <a:chOff x="0" y="0"/>
            <a:chExt cx="2926080" cy="475488"/>
          </a:xfrm>
        </p:grpSpPr>
        <p:sp>
          <p:nvSpPr>
            <p:cNvPr name="Freeform 128" id="133"/>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4F5EC"/>
            </a:solidFill>
          </p:spPr>
        </p:sp>
      </p:grpSp>
      <p:grpSp>
        <p:nvGrpSpPr>
          <p:cNvPr name="Group 129" id="134"/>
          <p:cNvGrpSpPr/>
          <p:nvPr/>
        </p:nvGrpSpPr>
        <p:grpSpPr>
          <a:xfrm rot="0">
            <a:off x="9288475" y="5665175"/>
            <a:ext cx="2194560" cy="356616"/>
            <a:chOff x="0" y="0"/>
            <a:chExt cx="2926080" cy="475488"/>
          </a:xfrm>
        </p:grpSpPr>
        <p:sp>
          <p:nvSpPr>
            <p:cNvPr name="Freeform 130" id="135"/>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131" id="136"/>
          <p:cNvGrpSpPr/>
          <p:nvPr/>
        </p:nvGrpSpPr>
        <p:grpSpPr>
          <a:xfrm rot="0">
            <a:off x="9288475" y="5658031"/>
            <a:ext cx="2194560" cy="363760"/>
            <a:chOff x="0" y="0"/>
            <a:chExt cx="2926080" cy="485013"/>
          </a:xfrm>
        </p:grpSpPr>
        <p:sp>
          <p:nvSpPr>
            <p:cNvPr name="Freeform 132" id="137"/>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133" id="138"/>
          <p:cNvGrpSpPr/>
          <p:nvPr/>
        </p:nvGrpSpPr>
        <p:grpSpPr>
          <a:xfrm rot="0">
            <a:off x="9288475" y="5650887"/>
            <a:ext cx="2194560" cy="370904"/>
            <a:chOff x="0" y="0"/>
            <a:chExt cx="2926080" cy="494538"/>
          </a:xfrm>
        </p:grpSpPr>
        <p:sp>
          <p:nvSpPr>
            <p:cNvPr name="Freeform 134" id="139"/>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135" id="140"/>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1E9E6B"/>
                  </a:solidFill>
                  <a:latin typeface="Exo 2 Bold"/>
                  <a:ea typeface="Exo 2 Bold"/>
                  <a:cs typeface="Exo 2 Bold"/>
                  <a:sym typeface="Exo 2 Bold"/>
                </a:rPr>
                <a:t>DONE</a:t>
              </a:r>
            </a:p>
          </p:txBody>
        </p:sp>
      </p:grpSp>
      <p:grpSp>
        <p:nvGrpSpPr>
          <p:cNvPr name="Group 136" id="141"/>
          <p:cNvGrpSpPr/>
          <p:nvPr/>
        </p:nvGrpSpPr>
        <p:grpSpPr>
          <a:xfrm rot="0">
            <a:off x="6804508" y="6158951"/>
            <a:ext cx="2125980" cy="384048"/>
            <a:chOff x="0" y="0"/>
            <a:chExt cx="2834640" cy="512064"/>
          </a:xfrm>
        </p:grpSpPr>
        <p:sp>
          <p:nvSpPr>
            <p:cNvPr name="Freeform 137" id="142"/>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38" id="143"/>
          <p:cNvGrpSpPr/>
          <p:nvPr/>
        </p:nvGrpSpPr>
        <p:grpSpPr>
          <a:xfrm rot="0">
            <a:off x="6804508" y="6151807"/>
            <a:ext cx="2125980" cy="391192"/>
            <a:chOff x="0" y="0"/>
            <a:chExt cx="2834640" cy="521589"/>
          </a:xfrm>
        </p:grpSpPr>
        <p:sp>
          <p:nvSpPr>
            <p:cNvPr name="Freeform 139" id="144"/>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40" id="145"/>
          <p:cNvGrpSpPr/>
          <p:nvPr/>
        </p:nvGrpSpPr>
        <p:grpSpPr>
          <a:xfrm rot="0">
            <a:off x="6804508" y="6144663"/>
            <a:ext cx="2125980" cy="398336"/>
            <a:chOff x="0" y="0"/>
            <a:chExt cx="2834640" cy="531114"/>
          </a:xfrm>
        </p:grpSpPr>
        <p:sp>
          <p:nvSpPr>
            <p:cNvPr name="Freeform 141" id="146"/>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142" id="147"/>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DEPLOYMENT</a:t>
              </a:r>
            </a:p>
          </p:txBody>
        </p:sp>
      </p:grpSp>
      <p:grpSp>
        <p:nvGrpSpPr>
          <p:cNvPr name="Group 143" id="148"/>
          <p:cNvGrpSpPr/>
          <p:nvPr/>
        </p:nvGrpSpPr>
        <p:grpSpPr>
          <a:xfrm rot="0">
            <a:off x="9288475" y="6172667"/>
            <a:ext cx="2194560" cy="356616"/>
            <a:chOff x="0" y="0"/>
            <a:chExt cx="2926080" cy="475488"/>
          </a:xfrm>
        </p:grpSpPr>
        <p:sp>
          <p:nvSpPr>
            <p:cNvPr name="Freeform 144" id="149"/>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sp>
      </p:grpSp>
      <p:grpSp>
        <p:nvGrpSpPr>
          <p:cNvPr name="Group 145" id="150"/>
          <p:cNvGrpSpPr/>
          <p:nvPr/>
        </p:nvGrpSpPr>
        <p:grpSpPr>
          <a:xfrm rot="0">
            <a:off x="9288475" y="6172667"/>
            <a:ext cx="2194560" cy="356616"/>
            <a:chOff x="0" y="0"/>
            <a:chExt cx="2926080" cy="475488"/>
          </a:xfrm>
        </p:grpSpPr>
        <p:sp>
          <p:nvSpPr>
            <p:cNvPr name="Freeform 146" id="151"/>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147" id="152"/>
          <p:cNvGrpSpPr/>
          <p:nvPr/>
        </p:nvGrpSpPr>
        <p:grpSpPr>
          <a:xfrm rot="0">
            <a:off x="9288475" y="6165523"/>
            <a:ext cx="2194560" cy="363760"/>
            <a:chOff x="0" y="0"/>
            <a:chExt cx="2926080" cy="485013"/>
          </a:xfrm>
        </p:grpSpPr>
        <p:sp>
          <p:nvSpPr>
            <p:cNvPr name="Freeform 148" id="153"/>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149" id="154"/>
          <p:cNvGrpSpPr/>
          <p:nvPr/>
        </p:nvGrpSpPr>
        <p:grpSpPr>
          <a:xfrm rot="0">
            <a:off x="9288475" y="6158379"/>
            <a:ext cx="2194560" cy="370904"/>
            <a:chOff x="0" y="0"/>
            <a:chExt cx="2926080" cy="494538"/>
          </a:xfrm>
        </p:grpSpPr>
        <p:sp>
          <p:nvSpPr>
            <p:cNvPr name="Freeform 150" id="155"/>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151" id="156"/>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9AA3B2"/>
                  </a:solidFill>
                  <a:latin typeface="Exo 2 Bold"/>
                  <a:ea typeface="Exo 2 Bold"/>
                  <a:cs typeface="Exo 2 Bold"/>
                  <a:sym typeface="Exo 2 Bold"/>
                </a:rPr>
                <a:t>NOT STARTED</a:t>
              </a:r>
            </a:p>
          </p:txBody>
        </p:sp>
      </p:grpSp>
      <p:grpSp>
        <p:nvGrpSpPr>
          <p:cNvPr name="Group 152" id="157"/>
          <p:cNvGrpSpPr/>
          <p:nvPr/>
        </p:nvGrpSpPr>
        <p:grpSpPr>
          <a:xfrm rot="0">
            <a:off x="12237415" y="2291039"/>
            <a:ext cx="5364290" cy="4472940"/>
            <a:chOff x="0" y="0"/>
            <a:chExt cx="7152386" cy="5963920"/>
          </a:xfrm>
        </p:grpSpPr>
        <p:sp>
          <p:nvSpPr>
            <p:cNvPr name="Freeform 153" id="158"/>
            <p:cNvSpPr/>
            <p:nvPr/>
          </p:nvSpPr>
          <p:spPr>
            <a:xfrm flipH="false" flipV="false" rot="0">
              <a:off x="0" y="0"/>
              <a:ext cx="7152386" cy="5963920"/>
            </a:xfrm>
            <a:custGeom>
              <a:avLst/>
              <a:gdLst/>
              <a:ahLst/>
              <a:cxnLst/>
              <a:rect r="r" b="b" t="t" l="l"/>
              <a:pathLst>
                <a:path h="5963920" w="7152386">
                  <a:moveTo>
                    <a:pt x="0" y="156464"/>
                  </a:moveTo>
                  <a:cubicBezTo>
                    <a:pt x="0" y="70104"/>
                    <a:pt x="65532" y="0"/>
                    <a:pt x="146304" y="0"/>
                  </a:cubicBezTo>
                  <a:lnTo>
                    <a:pt x="7006082" y="0"/>
                  </a:lnTo>
                  <a:cubicBezTo>
                    <a:pt x="7086853" y="0"/>
                    <a:pt x="7152386" y="70104"/>
                    <a:pt x="7152386" y="156464"/>
                  </a:cubicBezTo>
                  <a:lnTo>
                    <a:pt x="7152386" y="5807456"/>
                  </a:lnTo>
                  <a:cubicBezTo>
                    <a:pt x="7152386" y="5893816"/>
                    <a:pt x="7086853" y="5963920"/>
                    <a:pt x="7006082" y="5963920"/>
                  </a:cubicBezTo>
                  <a:lnTo>
                    <a:pt x="146304" y="5963920"/>
                  </a:lnTo>
                  <a:cubicBezTo>
                    <a:pt x="65532" y="5963920"/>
                    <a:pt x="0" y="5893816"/>
                    <a:pt x="0" y="5807456"/>
                  </a:cubicBezTo>
                  <a:close/>
                </a:path>
              </a:pathLst>
            </a:custGeom>
            <a:solidFill>
              <a:srgbClr val="F3F6FC"/>
            </a:solidFill>
          </p:spPr>
        </p:sp>
      </p:grpSp>
      <p:grpSp>
        <p:nvGrpSpPr>
          <p:cNvPr name="Group 154" id="159"/>
          <p:cNvGrpSpPr/>
          <p:nvPr/>
        </p:nvGrpSpPr>
        <p:grpSpPr>
          <a:xfrm rot="0">
            <a:off x="12580315" y="2633939"/>
            <a:ext cx="685800" cy="685800"/>
            <a:chOff x="0" y="0"/>
            <a:chExt cx="914400" cy="914400"/>
          </a:xfrm>
        </p:grpSpPr>
        <p:sp>
          <p:nvSpPr>
            <p:cNvPr name="Freeform 155" id="16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1E2761"/>
            </a:solidFill>
          </p:spPr>
        </p:sp>
      </p:grpSp>
      <p:grpSp>
        <p:nvGrpSpPr>
          <p:cNvPr name="Group 156" id="161"/>
          <p:cNvGrpSpPr/>
          <p:nvPr/>
        </p:nvGrpSpPr>
        <p:grpSpPr>
          <a:xfrm rot="0">
            <a:off x="12580315" y="2633939"/>
            <a:ext cx="685800" cy="685800"/>
            <a:chOff x="0" y="0"/>
            <a:chExt cx="914400" cy="914400"/>
          </a:xfrm>
        </p:grpSpPr>
        <p:sp>
          <p:nvSpPr>
            <p:cNvPr name="Freeform 157" id="16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2">
                <a:alphaModFix amt="0"/>
              </a:blip>
              <a:stretch>
                <a:fillRect l="-78393" t="0" r="-78393" b="0"/>
              </a:stretch>
            </a:blipFill>
          </p:spPr>
        </p:sp>
      </p:grpSp>
      <p:grpSp>
        <p:nvGrpSpPr>
          <p:cNvPr name="Group 158" id="163"/>
          <p:cNvGrpSpPr/>
          <p:nvPr/>
        </p:nvGrpSpPr>
        <p:grpSpPr>
          <a:xfrm rot="0">
            <a:off x="12580315" y="2626795"/>
            <a:ext cx="685800" cy="692944"/>
            <a:chOff x="0" y="0"/>
            <a:chExt cx="914400" cy="923925"/>
          </a:xfrm>
        </p:grpSpPr>
        <p:sp>
          <p:nvSpPr>
            <p:cNvPr name="Freeform 159" id="164"/>
            <p:cNvSpPr/>
            <p:nvPr/>
          </p:nvSpPr>
          <p:spPr>
            <a:xfrm flipH="false" flipV="false" rot="0">
              <a:off x="0" y="0"/>
              <a:ext cx="914400" cy="923925"/>
            </a:xfrm>
            <a:custGeom>
              <a:avLst/>
              <a:gdLst/>
              <a:ahLst/>
              <a:cxnLst/>
              <a:rect r="r" b="b" t="t" l="l"/>
              <a:pathLst>
                <a:path h="923925" w="914400">
                  <a:moveTo>
                    <a:pt x="0" y="0"/>
                  </a:moveTo>
                  <a:lnTo>
                    <a:pt x="914400" y="0"/>
                  </a:lnTo>
                  <a:lnTo>
                    <a:pt x="914400" y="923925"/>
                  </a:lnTo>
                  <a:lnTo>
                    <a:pt x="0" y="923925"/>
                  </a:lnTo>
                  <a:close/>
                </a:path>
              </a:pathLst>
            </a:custGeom>
            <a:blipFill>
              <a:blip r:embed="rId3">
                <a:alphaModFix amt="0"/>
              </a:blip>
              <a:stretch>
                <a:fillRect l="-79730" t="0" r="-79730" b="0"/>
              </a:stretch>
            </a:blipFill>
          </p:spPr>
        </p:sp>
      </p:grpSp>
      <p:grpSp>
        <p:nvGrpSpPr>
          <p:cNvPr name="Group 160" id="165"/>
          <p:cNvGrpSpPr/>
          <p:nvPr/>
        </p:nvGrpSpPr>
        <p:grpSpPr>
          <a:xfrm rot="0">
            <a:off x="12580315" y="2619651"/>
            <a:ext cx="685800" cy="700088"/>
            <a:chOff x="0" y="0"/>
            <a:chExt cx="914400" cy="933450"/>
          </a:xfrm>
        </p:grpSpPr>
        <p:sp>
          <p:nvSpPr>
            <p:cNvPr name="Freeform 161" id="166"/>
            <p:cNvSpPr/>
            <p:nvPr/>
          </p:nvSpPr>
          <p:spPr>
            <a:xfrm flipH="false" flipV="false" rot="0">
              <a:off x="0" y="0"/>
              <a:ext cx="914400" cy="933450"/>
            </a:xfrm>
            <a:custGeom>
              <a:avLst/>
              <a:gdLst/>
              <a:ahLst/>
              <a:cxnLst/>
              <a:rect r="r" b="b" t="t" l="l"/>
              <a:pathLst>
                <a:path h="933450" w="914400">
                  <a:moveTo>
                    <a:pt x="0" y="0"/>
                  </a:moveTo>
                  <a:lnTo>
                    <a:pt x="914400" y="0"/>
                  </a:lnTo>
                  <a:lnTo>
                    <a:pt x="914400" y="933450"/>
                  </a:lnTo>
                  <a:lnTo>
                    <a:pt x="0" y="933450"/>
                  </a:lnTo>
                  <a:close/>
                </a:path>
              </a:pathLst>
            </a:custGeom>
            <a:blipFill>
              <a:blip r:embed="rId4">
                <a:alphaModFix amt="0"/>
              </a:blip>
              <a:stretch>
                <a:fillRect l="-80976" t="0" r="-80976" b="0"/>
              </a:stretch>
            </a:blipFill>
          </p:spPr>
        </p:sp>
        <p:sp>
          <p:nvSpPr>
            <p:cNvPr name="TextBox 162" id="167"/>
            <p:cNvSpPr txBox="true"/>
            <p:nvPr/>
          </p:nvSpPr>
          <p:spPr>
            <a:xfrm>
              <a:off x="0" y="-9525"/>
              <a:ext cx="914400" cy="942975"/>
            </a:xfrm>
            <a:prstGeom prst="rect">
              <a:avLst/>
            </a:prstGeom>
          </p:spPr>
          <p:txBody>
            <a:bodyPr anchor="ctr" rtlCol="false" tIns="0" lIns="0" bIns="0" rIns="0"/>
            <a:lstStyle/>
            <a:p>
              <a:pPr algn="ctr">
                <a:lnSpc>
                  <a:spcPts val="2520"/>
                </a:lnSpc>
              </a:pPr>
              <a:r>
                <a:rPr lang="en-US" sz="2100" b="true">
                  <a:solidFill>
                    <a:srgbClr val="FFFFFF"/>
                  </a:solidFill>
                  <a:latin typeface="Exo 2 Bold"/>
                  <a:ea typeface="Exo 2 Bold"/>
                  <a:cs typeface="Exo 2 Bold"/>
                  <a:sym typeface="Exo 2 Bold"/>
                </a:rPr>
                <a:t>03</a:t>
              </a:r>
            </a:p>
          </p:txBody>
        </p:sp>
      </p:grpSp>
      <p:grpSp>
        <p:nvGrpSpPr>
          <p:cNvPr name="Group 163" id="168"/>
          <p:cNvGrpSpPr/>
          <p:nvPr/>
        </p:nvGrpSpPr>
        <p:grpSpPr>
          <a:xfrm rot="0">
            <a:off x="13471855" y="2592791"/>
            <a:ext cx="3855529" cy="685800"/>
            <a:chOff x="0" y="0"/>
            <a:chExt cx="5140706" cy="914400"/>
          </a:xfrm>
        </p:grpSpPr>
        <p:sp>
          <p:nvSpPr>
            <p:cNvPr name="Freeform 164" id="169"/>
            <p:cNvSpPr/>
            <p:nvPr/>
          </p:nvSpPr>
          <p:spPr>
            <a:xfrm flipH="false" flipV="false" rot="0">
              <a:off x="0" y="0"/>
              <a:ext cx="5140706" cy="914400"/>
            </a:xfrm>
            <a:custGeom>
              <a:avLst/>
              <a:gdLst/>
              <a:ahLst/>
              <a:cxnLst/>
              <a:rect r="r" b="b" t="t" l="l"/>
              <a:pathLst>
                <a:path h="914400" w="5140706">
                  <a:moveTo>
                    <a:pt x="0" y="0"/>
                  </a:moveTo>
                  <a:lnTo>
                    <a:pt x="5140706" y="0"/>
                  </a:lnTo>
                  <a:lnTo>
                    <a:pt x="5140706" y="914400"/>
                  </a:lnTo>
                  <a:lnTo>
                    <a:pt x="0" y="914400"/>
                  </a:lnTo>
                  <a:close/>
                </a:path>
              </a:pathLst>
            </a:custGeom>
            <a:blipFill>
              <a:blip r:embed="rId2">
                <a:alphaModFix amt="0"/>
              </a:blip>
              <a:stretch>
                <a:fillRect l="0" t="-59468" r="0" b="-59466"/>
              </a:stretch>
            </a:blipFill>
          </p:spPr>
        </p:sp>
      </p:grpSp>
      <p:grpSp>
        <p:nvGrpSpPr>
          <p:cNvPr name="Group 165" id="170"/>
          <p:cNvGrpSpPr/>
          <p:nvPr/>
        </p:nvGrpSpPr>
        <p:grpSpPr>
          <a:xfrm rot="0">
            <a:off x="13471855" y="2585647"/>
            <a:ext cx="3855568" cy="692944"/>
            <a:chOff x="0" y="0"/>
            <a:chExt cx="5140757" cy="923925"/>
          </a:xfrm>
        </p:grpSpPr>
        <p:sp>
          <p:nvSpPr>
            <p:cNvPr name="Freeform 166" id="171"/>
            <p:cNvSpPr/>
            <p:nvPr/>
          </p:nvSpPr>
          <p:spPr>
            <a:xfrm flipH="false" flipV="false" rot="0">
              <a:off x="0" y="0"/>
              <a:ext cx="5140706" cy="923925"/>
            </a:xfrm>
            <a:custGeom>
              <a:avLst/>
              <a:gdLst/>
              <a:ahLst/>
              <a:cxnLst/>
              <a:rect r="r" b="b" t="t" l="l"/>
              <a:pathLst>
                <a:path h="923925" w="5140706">
                  <a:moveTo>
                    <a:pt x="0" y="0"/>
                  </a:moveTo>
                  <a:lnTo>
                    <a:pt x="5140706" y="0"/>
                  </a:lnTo>
                  <a:lnTo>
                    <a:pt x="5140706" y="923925"/>
                  </a:lnTo>
                  <a:lnTo>
                    <a:pt x="0" y="923925"/>
                  </a:lnTo>
                  <a:close/>
                </a:path>
              </a:pathLst>
            </a:custGeom>
            <a:blipFill>
              <a:blip r:embed="rId3">
                <a:alphaModFix amt="0"/>
              </a:blip>
              <a:stretch>
                <a:fillRect l="0" t="-58339" r="0" b="-58340"/>
              </a:stretch>
            </a:blipFill>
          </p:spPr>
        </p:sp>
      </p:grpSp>
      <p:grpSp>
        <p:nvGrpSpPr>
          <p:cNvPr name="Group 167" id="172"/>
          <p:cNvGrpSpPr/>
          <p:nvPr/>
        </p:nvGrpSpPr>
        <p:grpSpPr>
          <a:xfrm rot="0">
            <a:off x="13471855" y="2578503"/>
            <a:ext cx="3855568" cy="700088"/>
            <a:chOff x="0" y="0"/>
            <a:chExt cx="5140757" cy="933450"/>
          </a:xfrm>
        </p:grpSpPr>
        <p:sp>
          <p:nvSpPr>
            <p:cNvPr name="Freeform 168" id="173"/>
            <p:cNvSpPr/>
            <p:nvPr/>
          </p:nvSpPr>
          <p:spPr>
            <a:xfrm flipH="false" flipV="false" rot="0">
              <a:off x="0" y="0"/>
              <a:ext cx="5140758" cy="933450"/>
            </a:xfrm>
            <a:custGeom>
              <a:avLst/>
              <a:gdLst/>
              <a:ahLst/>
              <a:cxnLst/>
              <a:rect r="r" b="b" t="t" l="l"/>
              <a:pathLst>
                <a:path h="933450" w="5140758">
                  <a:moveTo>
                    <a:pt x="0" y="0"/>
                  </a:moveTo>
                  <a:lnTo>
                    <a:pt x="5140758" y="0"/>
                  </a:lnTo>
                  <a:lnTo>
                    <a:pt x="5140758" y="933450"/>
                  </a:lnTo>
                  <a:lnTo>
                    <a:pt x="0" y="933450"/>
                  </a:lnTo>
                  <a:close/>
                </a:path>
              </a:pathLst>
            </a:custGeom>
            <a:blipFill>
              <a:blip r:embed="rId4">
                <a:alphaModFix amt="0"/>
              </a:blip>
              <a:stretch>
                <a:fillRect l="0" t="-57309" r="0" b="-57309"/>
              </a:stretch>
            </a:blipFill>
          </p:spPr>
        </p:sp>
        <p:sp>
          <p:nvSpPr>
            <p:cNvPr name="TextBox 169" id="174"/>
            <p:cNvSpPr txBox="true"/>
            <p:nvPr/>
          </p:nvSpPr>
          <p:spPr>
            <a:xfrm>
              <a:off x="0" y="-9525"/>
              <a:ext cx="5140757" cy="942975"/>
            </a:xfrm>
            <a:prstGeom prst="rect">
              <a:avLst/>
            </a:prstGeom>
          </p:spPr>
          <p:txBody>
            <a:bodyPr anchor="ctr" rtlCol="false" tIns="0" lIns="0" bIns="0" rIns="0"/>
            <a:lstStyle/>
            <a:p>
              <a:pPr algn="l">
                <a:lnSpc>
                  <a:spcPts val="2610"/>
                </a:lnSpc>
              </a:pPr>
              <a:r>
                <a:rPr lang="en-US" sz="2175" b="true">
                  <a:solidFill>
                    <a:srgbClr val="1E2761"/>
                  </a:solidFill>
                  <a:latin typeface="Exo 2 Bold"/>
                  <a:ea typeface="Exo 2 Bold"/>
                  <a:cs typeface="Exo 2 Bold"/>
                  <a:sym typeface="Exo 2 Bold"/>
                </a:rPr>
                <a:t>Reporting Dashboard</a:t>
              </a:r>
            </a:p>
          </p:txBody>
        </p:sp>
      </p:grpSp>
      <p:grpSp>
        <p:nvGrpSpPr>
          <p:cNvPr name="Group 170" id="175"/>
          <p:cNvGrpSpPr/>
          <p:nvPr/>
        </p:nvGrpSpPr>
        <p:grpSpPr>
          <a:xfrm rot="0">
            <a:off x="12580315" y="3456899"/>
            <a:ext cx="4678490" cy="411480"/>
            <a:chOff x="0" y="0"/>
            <a:chExt cx="6237986" cy="548640"/>
          </a:xfrm>
        </p:grpSpPr>
        <p:sp>
          <p:nvSpPr>
            <p:cNvPr name="Freeform 171" id="176"/>
            <p:cNvSpPr/>
            <p:nvPr/>
          </p:nvSpPr>
          <p:spPr>
            <a:xfrm flipH="false" flipV="false" rot="0">
              <a:off x="0" y="0"/>
              <a:ext cx="6237986" cy="548640"/>
            </a:xfrm>
            <a:custGeom>
              <a:avLst/>
              <a:gdLst/>
              <a:ahLst/>
              <a:cxnLst/>
              <a:rect r="r" b="b" t="t" l="l"/>
              <a:pathLst>
                <a:path h="548640" w="6237986">
                  <a:moveTo>
                    <a:pt x="0" y="109728"/>
                  </a:moveTo>
                  <a:cubicBezTo>
                    <a:pt x="0" y="49149"/>
                    <a:pt x="49149" y="0"/>
                    <a:pt x="109728" y="0"/>
                  </a:cubicBezTo>
                  <a:lnTo>
                    <a:pt x="6128258" y="0"/>
                  </a:lnTo>
                  <a:cubicBezTo>
                    <a:pt x="6188837" y="0"/>
                    <a:pt x="6237986" y="49149"/>
                    <a:pt x="6237986" y="109728"/>
                  </a:cubicBezTo>
                  <a:lnTo>
                    <a:pt x="6237986" y="438912"/>
                  </a:lnTo>
                  <a:cubicBezTo>
                    <a:pt x="6237986" y="499491"/>
                    <a:pt x="6188837" y="548640"/>
                    <a:pt x="6128258" y="548640"/>
                  </a:cubicBezTo>
                  <a:lnTo>
                    <a:pt x="109728" y="548640"/>
                  </a:lnTo>
                  <a:cubicBezTo>
                    <a:pt x="49149" y="548640"/>
                    <a:pt x="0" y="499491"/>
                    <a:pt x="0" y="438912"/>
                  </a:cubicBezTo>
                  <a:close/>
                </a:path>
              </a:pathLst>
            </a:custGeom>
            <a:solidFill>
              <a:srgbClr val="CADCFC"/>
            </a:solidFill>
          </p:spPr>
        </p:sp>
      </p:grpSp>
      <p:grpSp>
        <p:nvGrpSpPr>
          <p:cNvPr name="Group 172" id="177"/>
          <p:cNvGrpSpPr/>
          <p:nvPr/>
        </p:nvGrpSpPr>
        <p:grpSpPr>
          <a:xfrm rot="0">
            <a:off x="12580315" y="3456899"/>
            <a:ext cx="4678490" cy="411480"/>
            <a:chOff x="0" y="0"/>
            <a:chExt cx="6237986" cy="548640"/>
          </a:xfrm>
        </p:grpSpPr>
        <p:sp>
          <p:nvSpPr>
            <p:cNvPr name="Freeform 173" id="178"/>
            <p:cNvSpPr/>
            <p:nvPr/>
          </p:nvSpPr>
          <p:spPr>
            <a:xfrm flipH="false" flipV="false" rot="0">
              <a:off x="0" y="0"/>
              <a:ext cx="6237986" cy="548640"/>
            </a:xfrm>
            <a:custGeom>
              <a:avLst/>
              <a:gdLst/>
              <a:ahLst/>
              <a:cxnLst/>
              <a:rect r="r" b="b" t="t" l="l"/>
              <a:pathLst>
                <a:path h="548640" w="6237986">
                  <a:moveTo>
                    <a:pt x="0" y="0"/>
                  </a:moveTo>
                  <a:lnTo>
                    <a:pt x="6237986" y="0"/>
                  </a:lnTo>
                  <a:lnTo>
                    <a:pt x="6237986" y="548640"/>
                  </a:lnTo>
                  <a:lnTo>
                    <a:pt x="0" y="548640"/>
                  </a:lnTo>
                  <a:close/>
                </a:path>
              </a:pathLst>
            </a:custGeom>
            <a:blipFill>
              <a:blip r:embed="rId2">
                <a:alphaModFix amt="0"/>
              </a:blip>
              <a:stretch>
                <a:fillRect l="0" t="-171388" r="0" b="-171388"/>
              </a:stretch>
            </a:blipFill>
          </p:spPr>
        </p:sp>
      </p:grpSp>
      <p:grpSp>
        <p:nvGrpSpPr>
          <p:cNvPr name="Group 174" id="179"/>
          <p:cNvGrpSpPr/>
          <p:nvPr/>
        </p:nvGrpSpPr>
        <p:grpSpPr>
          <a:xfrm rot="0">
            <a:off x="12580315" y="3449755"/>
            <a:ext cx="4678528" cy="418624"/>
            <a:chOff x="0" y="0"/>
            <a:chExt cx="6238037" cy="558165"/>
          </a:xfrm>
        </p:grpSpPr>
        <p:sp>
          <p:nvSpPr>
            <p:cNvPr name="Freeform 175" id="180"/>
            <p:cNvSpPr/>
            <p:nvPr/>
          </p:nvSpPr>
          <p:spPr>
            <a:xfrm flipH="false" flipV="false" rot="0">
              <a:off x="0" y="0"/>
              <a:ext cx="6237986" cy="558165"/>
            </a:xfrm>
            <a:custGeom>
              <a:avLst/>
              <a:gdLst/>
              <a:ahLst/>
              <a:cxnLst/>
              <a:rect r="r" b="b" t="t" l="l"/>
              <a:pathLst>
                <a:path h="558165" w="6237986">
                  <a:moveTo>
                    <a:pt x="0" y="0"/>
                  </a:moveTo>
                  <a:lnTo>
                    <a:pt x="6237986" y="0"/>
                  </a:lnTo>
                  <a:lnTo>
                    <a:pt x="6237986" y="558165"/>
                  </a:lnTo>
                  <a:lnTo>
                    <a:pt x="0" y="558165"/>
                  </a:lnTo>
                  <a:close/>
                </a:path>
              </a:pathLst>
            </a:custGeom>
            <a:blipFill>
              <a:blip r:embed="rId3">
                <a:alphaModFix amt="0"/>
              </a:blip>
              <a:stretch>
                <a:fillRect l="0" t="-167613" r="0" b="-167613"/>
              </a:stretch>
            </a:blipFill>
          </p:spPr>
        </p:sp>
      </p:grpSp>
      <p:grpSp>
        <p:nvGrpSpPr>
          <p:cNvPr name="Group 176" id="181"/>
          <p:cNvGrpSpPr/>
          <p:nvPr/>
        </p:nvGrpSpPr>
        <p:grpSpPr>
          <a:xfrm rot="0">
            <a:off x="12580315" y="3442611"/>
            <a:ext cx="4678528" cy="425768"/>
            <a:chOff x="0" y="0"/>
            <a:chExt cx="6238037" cy="567690"/>
          </a:xfrm>
        </p:grpSpPr>
        <p:sp>
          <p:nvSpPr>
            <p:cNvPr name="Freeform 177" id="182"/>
            <p:cNvSpPr/>
            <p:nvPr/>
          </p:nvSpPr>
          <p:spPr>
            <a:xfrm flipH="false" flipV="false" rot="0">
              <a:off x="0" y="0"/>
              <a:ext cx="6238037" cy="567690"/>
            </a:xfrm>
            <a:custGeom>
              <a:avLst/>
              <a:gdLst/>
              <a:ahLst/>
              <a:cxnLst/>
              <a:rect r="r" b="b" t="t" l="l"/>
              <a:pathLst>
                <a:path h="567690" w="6238037">
                  <a:moveTo>
                    <a:pt x="0" y="0"/>
                  </a:moveTo>
                  <a:lnTo>
                    <a:pt x="6238037" y="0"/>
                  </a:lnTo>
                  <a:lnTo>
                    <a:pt x="6238037" y="567690"/>
                  </a:lnTo>
                  <a:lnTo>
                    <a:pt x="0" y="567690"/>
                  </a:lnTo>
                  <a:close/>
                </a:path>
              </a:pathLst>
            </a:custGeom>
            <a:blipFill>
              <a:blip r:embed="rId4">
                <a:alphaModFix amt="0"/>
              </a:blip>
              <a:stretch>
                <a:fillRect l="0" t="-164110" r="0" b="-164110"/>
              </a:stretch>
            </a:blipFill>
          </p:spPr>
        </p:sp>
        <p:sp>
          <p:nvSpPr>
            <p:cNvPr name="TextBox 178" id="183"/>
            <p:cNvSpPr txBox="true"/>
            <p:nvPr/>
          </p:nvSpPr>
          <p:spPr>
            <a:xfrm>
              <a:off x="0" y="-9525"/>
              <a:ext cx="6238037" cy="577215"/>
            </a:xfrm>
            <a:prstGeom prst="rect">
              <a:avLst/>
            </a:prstGeom>
          </p:spPr>
          <p:txBody>
            <a:bodyPr anchor="ctr" rtlCol="false" tIns="0" lIns="0" bIns="0" rIns="0"/>
            <a:lstStyle/>
            <a:p>
              <a:pPr algn="ctr">
                <a:lnSpc>
                  <a:spcPts val="1709"/>
                </a:lnSpc>
              </a:pPr>
              <a:r>
                <a:rPr lang="en-US" b="true" sz="1425" spc="75">
                  <a:solidFill>
                    <a:srgbClr val="1E2761"/>
                  </a:solidFill>
                  <a:latin typeface="Exo 2 Bold"/>
                  <a:ea typeface="Exo 2 Bold"/>
                  <a:cs typeface="Exo 2 Bold"/>
                  <a:sym typeface="Exo 2 Bold"/>
                </a:rPr>
                <a:t>TARGET  TBC</a:t>
              </a:r>
            </a:p>
          </p:txBody>
        </p:sp>
      </p:grpSp>
      <p:grpSp>
        <p:nvGrpSpPr>
          <p:cNvPr name="Group 179" id="184"/>
          <p:cNvGrpSpPr/>
          <p:nvPr/>
        </p:nvGrpSpPr>
        <p:grpSpPr>
          <a:xfrm rot="0">
            <a:off x="12580315" y="5143967"/>
            <a:ext cx="2125980" cy="384048"/>
            <a:chOff x="0" y="0"/>
            <a:chExt cx="2834640" cy="512064"/>
          </a:xfrm>
        </p:grpSpPr>
        <p:sp>
          <p:nvSpPr>
            <p:cNvPr name="Freeform 180" id="185"/>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81" id="186"/>
          <p:cNvGrpSpPr/>
          <p:nvPr/>
        </p:nvGrpSpPr>
        <p:grpSpPr>
          <a:xfrm rot="0">
            <a:off x="12580315" y="5136823"/>
            <a:ext cx="2125980" cy="391192"/>
            <a:chOff x="0" y="0"/>
            <a:chExt cx="2834640" cy="521589"/>
          </a:xfrm>
        </p:grpSpPr>
        <p:sp>
          <p:nvSpPr>
            <p:cNvPr name="Freeform 182" id="187"/>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83" id="188"/>
          <p:cNvGrpSpPr/>
          <p:nvPr/>
        </p:nvGrpSpPr>
        <p:grpSpPr>
          <a:xfrm rot="0">
            <a:off x="12580315" y="5129679"/>
            <a:ext cx="2125980" cy="398336"/>
            <a:chOff x="0" y="0"/>
            <a:chExt cx="2834640" cy="531114"/>
          </a:xfrm>
        </p:grpSpPr>
        <p:sp>
          <p:nvSpPr>
            <p:cNvPr name="Freeform 184" id="189"/>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185" id="190"/>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EXPLORING</a:t>
              </a:r>
            </a:p>
          </p:txBody>
        </p:sp>
      </p:grpSp>
      <p:grpSp>
        <p:nvGrpSpPr>
          <p:cNvPr name="Group 186" id="191"/>
          <p:cNvGrpSpPr/>
          <p:nvPr/>
        </p:nvGrpSpPr>
        <p:grpSpPr>
          <a:xfrm rot="0">
            <a:off x="15064283" y="5157683"/>
            <a:ext cx="2194560" cy="356616"/>
            <a:chOff x="0" y="0"/>
            <a:chExt cx="2926080" cy="475488"/>
          </a:xfrm>
        </p:grpSpPr>
        <p:sp>
          <p:nvSpPr>
            <p:cNvPr name="Freeform 187" id="192"/>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sp>
      </p:grpSp>
      <p:grpSp>
        <p:nvGrpSpPr>
          <p:cNvPr name="Group 188" id="193"/>
          <p:cNvGrpSpPr/>
          <p:nvPr/>
        </p:nvGrpSpPr>
        <p:grpSpPr>
          <a:xfrm rot="0">
            <a:off x="15064283" y="5157683"/>
            <a:ext cx="2194560" cy="356616"/>
            <a:chOff x="0" y="0"/>
            <a:chExt cx="2926080" cy="475488"/>
          </a:xfrm>
        </p:grpSpPr>
        <p:sp>
          <p:nvSpPr>
            <p:cNvPr name="Freeform 189" id="194"/>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190" id="195"/>
          <p:cNvGrpSpPr/>
          <p:nvPr/>
        </p:nvGrpSpPr>
        <p:grpSpPr>
          <a:xfrm rot="0">
            <a:off x="15064283" y="5150539"/>
            <a:ext cx="2194560" cy="363760"/>
            <a:chOff x="0" y="0"/>
            <a:chExt cx="2926080" cy="485013"/>
          </a:xfrm>
        </p:grpSpPr>
        <p:sp>
          <p:nvSpPr>
            <p:cNvPr name="Freeform 191" id="196"/>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192" id="197"/>
          <p:cNvGrpSpPr/>
          <p:nvPr/>
        </p:nvGrpSpPr>
        <p:grpSpPr>
          <a:xfrm rot="0">
            <a:off x="15064283" y="5143395"/>
            <a:ext cx="2194560" cy="370904"/>
            <a:chOff x="0" y="0"/>
            <a:chExt cx="2926080" cy="494538"/>
          </a:xfrm>
        </p:grpSpPr>
        <p:sp>
          <p:nvSpPr>
            <p:cNvPr name="Freeform 193" id="198"/>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194" id="199"/>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D98C1F"/>
                  </a:solidFill>
                  <a:latin typeface="Exo 2 Bold"/>
                  <a:ea typeface="Exo 2 Bold"/>
                  <a:cs typeface="Exo 2 Bold"/>
                  <a:sym typeface="Exo 2 Bold"/>
                </a:rPr>
                <a:t>IN PROGRESS</a:t>
              </a:r>
            </a:p>
          </p:txBody>
        </p:sp>
      </p:grpSp>
      <p:grpSp>
        <p:nvGrpSpPr>
          <p:cNvPr name="Group 195" id="200"/>
          <p:cNvGrpSpPr/>
          <p:nvPr/>
        </p:nvGrpSpPr>
        <p:grpSpPr>
          <a:xfrm rot="0">
            <a:off x="12580315" y="5651459"/>
            <a:ext cx="2125980" cy="384048"/>
            <a:chOff x="0" y="0"/>
            <a:chExt cx="2834640" cy="512064"/>
          </a:xfrm>
        </p:grpSpPr>
        <p:sp>
          <p:nvSpPr>
            <p:cNvPr name="Freeform 196" id="201"/>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197" id="202"/>
          <p:cNvGrpSpPr/>
          <p:nvPr/>
        </p:nvGrpSpPr>
        <p:grpSpPr>
          <a:xfrm rot="0">
            <a:off x="12580315" y="5644315"/>
            <a:ext cx="2125980" cy="391192"/>
            <a:chOff x="0" y="0"/>
            <a:chExt cx="2834640" cy="521589"/>
          </a:xfrm>
        </p:grpSpPr>
        <p:sp>
          <p:nvSpPr>
            <p:cNvPr name="Freeform 198" id="203"/>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199" id="204"/>
          <p:cNvGrpSpPr/>
          <p:nvPr/>
        </p:nvGrpSpPr>
        <p:grpSpPr>
          <a:xfrm rot="0">
            <a:off x="12580315" y="5637171"/>
            <a:ext cx="2125980" cy="398336"/>
            <a:chOff x="0" y="0"/>
            <a:chExt cx="2834640" cy="531114"/>
          </a:xfrm>
        </p:grpSpPr>
        <p:sp>
          <p:nvSpPr>
            <p:cNvPr name="Freeform 200" id="205"/>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201" id="206"/>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PLANNING</a:t>
              </a:r>
            </a:p>
          </p:txBody>
        </p:sp>
      </p:grpSp>
      <p:grpSp>
        <p:nvGrpSpPr>
          <p:cNvPr name="Group 202" id="207"/>
          <p:cNvGrpSpPr/>
          <p:nvPr/>
        </p:nvGrpSpPr>
        <p:grpSpPr>
          <a:xfrm rot="0">
            <a:off x="15064283" y="5665175"/>
            <a:ext cx="2194560" cy="356616"/>
            <a:chOff x="0" y="0"/>
            <a:chExt cx="2926080" cy="475488"/>
          </a:xfrm>
        </p:grpSpPr>
        <p:sp>
          <p:nvSpPr>
            <p:cNvPr name="Freeform 203" id="208"/>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sp>
      </p:grpSp>
      <p:grpSp>
        <p:nvGrpSpPr>
          <p:cNvPr name="Group 204" id="209"/>
          <p:cNvGrpSpPr/>
          <p:nvPr/>
        </p:nvGrpSpPr>
        <p:grpSpPr>
          <a:xfrm rot="0">
            <a:off x="15064283" y="5665175"/>
            <a:ext cx="2194560" cy="356616"/>
            <a:chOff x="0" y="0"/>
            <a:chExt cx="2926080" cy="475488"/>
          </a:xfrm>
        </p:grpSpPr>
        <p:sp>
          <p:nvSpPr>
            <p:cNvPr name="Freeform 205" id="210"/>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206" id="211"/>
          <p:cNvGrpSpPr/>
          <p:nvPr/>
        </p:nvGrpSpPr>
        <p:grpSpPr>
          <a:xfrm rot="0">
            <a:off x="15064283" y="5658031"/>
            <a:ext cx="2194560" cy="363760"/>
            <a:chOff x="0" y="0"/>
            <a:chExt cx="2926080" cy="485013"/>
          </a:xfrm>
        </p:grpSpPr>
        <p:sp>
          <p:nvSpPr>
            <p:cNvPr name="Freeform 207" id="212"/>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208" id="213"/>
          <p:cNvGrpSpPr/>
          <p:nvPr/>
        </p:nvGrpSpPr>
        <p:grpSpPr>
          <a:xfrm rot="0">
            <a:off x="15064283" y="5650887"/>
            <a:ext cx="2194560" cy="370904"/>
            <a:chOff x="0" y="0"/>
            <a:chExt cx="2926080" cy="494538"/>
          </a:xfrm>
        </p:grpSpPr>
        <p:sp>
          <p:nvSpPr>
            <p:cNvPr name="Freeform 209" id="214"/>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210" id="215"/>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9AA3B2"/>
                  </a:solidFill>
                  <a:latin typeface="Exo 2 Bold"/>
                  <a:ea typeface="Exo 2 Bold"/>
                  <a:cs typeface="Exo 2 Bold"/>
                  <a:sym typeface="Exo 2 Bold"/>
                </a:rPr>
                <a:t>NOT STARTED</a:t>
              </a:r>
            </a:p>
          </p:txBody>
        </p:sp>
      </p:grpSp>
      <p:grpSp>
        <p:nvGrpSpPr>
          <p:cNvPr name="Group 211" id="216"/>
          <p:cNvGrpSpPr/>
          <p:nvPr/>
        </p:nvGrpSpPr>
        <p:grpSpPr>
          <a:xfrm rot="0">
            <a:off x="12580315" y="6158951"/>
            <a:ext cx="2125980" cy="384048"/>
            <a:chOff x="0" y="0"/>
            <a:chExt cx="2834640" cy="512064"/>
          </a:xfrm>
        </p:grpSpPr>
        <p:sp>
          <p:nvSpPr>
            <p:cNvPr name="Freeform 212" id="217"/>
            <p:cNvSpPr/>
            <p:nvPr/>
          </p:nvSpPr>
          <p:spPr>
            <a:xfrm flipH="false" flipV="false" rot="0">
              <a:off x="0" y="0"/>
              <a:ext cx="2834640" cy="512064"/>
            </a:xfrm>
            <a:custGeom>
              <a:avLst/>
              <a:gdLst/>
              <a:ahLst/>
              <a:cxnLst/>
              <a:rect r="r" b="b" t="t" l="l"/>
              <a:pathLst>
                <a:path h="512064" w="2834640">
                  <a:moveTo>
                    <a:pt x="0" y="0"/>
                  </a:moveTo>
                  <a:lnTo>
                    <a:pt x="2834640" y="0"/>
                  </a:lnTo>
                  <a:lnTo>
                    <a:pt x="2834640" y="512064"/>
                  </a:lnTo>
                  <a:lnTo>
                    <a:pt x="0" y="512064"/>
                  </a:lnTo>
                  <a:close/>
                </a:path>
              </a:pathLst>
            </a:custGeom>
            <a:blipFill>
              <a:blip r:embed="rId2">
                <a:alphaModFix amt="0"/>
              </a:blip>
              <a:stretch>
                <a:fillRect l="0" t="-57787" r="0" b="-57790"/>
              </a:stretch>
            </a:blipFill>
          </p:spPr>
        </p:sp>
      </p:grpSp>
      <p:grpSp>
        <p:nvGrpSpPr>
          <p:cNvPr name="Group 213" id="218"/>
          <p:cNvGrpSpPr/>
          <p:nvPr/>
        </p:nvGrpSpPr>
        <p:grpSpPr>
          <a:xfrm rot="0">
            <a:off x="12580315" y="6151807"/>
            <a:ext cx="2125980" cy="391192"/>
            <a:chOff x="0" y="0"/>
            <a:chExt cx="2834640" cy="521589"/>
          </a:xfrm>
        </p:grpSpPr>
        <p:sp>
          <p:nvSpPr>
            <p:cNvPr name="Freeform 214" id="219"/>
            <p:cNvSpPr/>
            <p:nvPr/>
          </p:nvSpPr>
          <p:spPr>
            <a:xfrm flipH="false" flipV="false" rot="0">
              <a:off x="0" y="0"/>
              <a:ext cx="2834640" cy="521589"/>
            </a:xfrm>
            <a:custGeom>
              <a:avLst/>
              <a:gdLst/>
              <a:ahLst/>
              <a:cxnLst/>
              <a:rect r="r" b="b" t="t" l="l"/>
              <a:pathLst>
                <a:path h="521589" w="2834640">
                  <a:moveTo>
                    <a:pt x="0" y="0"/>
                  </a:moveTo>
                  <a:lnTo>
                    <a:pt x="2834640" y="0"/>
                  </a:lnTo>
                  <a:lnTo>
                    <a:pt x="2834640" y="521589"/>
                  </a:lnTo>
                  <a:lnTo>
                    <a:pt x="0" y="521589"/>
                  </a:lnTo>
                  <a:close/>
                </a:path>
              </a:pathLst>
            </a:custGeom>
            <a:blipFill>
              <a:blip r:embed="rId3">
                <a:alphaModFix amt="0"/>
              </a:blip>
              <a:stretch>
                <a:fillRect l="0" t="-55819" r="0" b="-55821"/>
              </a:stretch>
            </a:blipFill>
          </p:spPr>
        </p:sp>
      </p:grpSp>
      <p:grpSp>
        <p:nvGrpSpPr>
          <p:cNvPr name="Group 215" id="220"/>
          <p:cNvGrpSpPr/>
          <p:nvPr/>
        </p:nvGrpSpPr>
        <p:grpSpPr>
          <a:xfrm rot="0">
            <a:off x="12580315" y="6144663"/>
            <a:ext cx="2125980" cy="398336"/>
            <a:chOff x="0" y="0"/>
            <a:chExt cx="2834640" cy="531114"/>
          </a:xfrm>
        </p:grpSpPr>
        <p:sp>
          <p:nvSpPr>
            <p:cNvPr name="Freeform 216" id="221"/>
            <p:cNvSpPr/>
            <p:nvPr/>
          </p:nvSpPr>
          <p:spPr>
            <a:xfrm flipH="false" flipV="false" rot="0">
              <a:off x="0" y="0"/>
              <a:ext cx="2834640" cy="531114"/>
            </a:xfrm>
            <a:custGeom>
              <a:avLst/>
              <a:gdLst/>
              <a:ahLst/>
              <a:cxnLst/>
              <a:rect r="r" b="b" t="t" l="l"/>
              <a:pathLst>
                <a:path h="531114" w="2834640">
                  <a:moveTo>
                    <a:pt x="0" y="0"/>
                  </a:moveTo>
                  <a:lnTo>
                    <a:pt x="2834640" y="0"/>
                  </a:lnTo>
                  <a:lnTo>
                    <a:pt x="2834640" y="531114"/>
                  </a:lnTo>
                  <a:lnTo>
                    <a:pt x="0" y="531114"/>
                  </a:lnTo>
                  <a:close/>
                </a:path>
              </a:pathLst>
            </a:custGeom>
            <a:blipFill>
              <a:blip r:embed="rId4">
                <a:alphaModFix amt="0"/>
              </a:blip>
              <a:stretch>
                <a:fillRect l="0" t="-53994" r="0" b="-53994"/>
              </a:stretch>
            </a:blipFill>
          </p:spPr>
        </p:sp>
        <p:sp>
          <p:nvSpPr>
            <p:cNvPr name="TextBox 217" id="222"/>
            <p:cNvSpPr txBox="true"/>
            <p:nvPr/>
          </p:nvSpPr>
          <p:spPr>
            <a:xfrm>
              <a:off x="0" y="-9525"/>
              <a:ext cx="2834640" cy="540639"/>
            </a:xfrm>
            <a:prstGeom prst="rect">
              <a:avLst/>
            </a:prstGeom>
          </p:spPr>
          <p:txBody>
            <a:bodyPr anchor="ctr" rtlCol="false" tIns="0" lIns="0" bIns="0" rIns="0"/>
            <a:lstStyle/>
            <a:p>
              <a:pPr algn="l">
                <a:lnSpc>
                  <a:spcPts val="1709"/>
                </a:lnSpc>
              </a:pPr>
              <a:r>
                <a:rPr lang="en-US" sz="1425" b="true">
                  <a:solidFill>
                    <a:srgbClr val="5B6472"/>
                  </a:solidFill>
                  <a:latin typeface="Exo 2 Bold"/>
                  <a:ea typeface="Exo 2 Bold"/>
                  <a:cs typeface="Exo 2 Bold"/>
                  <a:sym typeface="Exo 2 Bold"/>
                </a:rPr>
                <a:t>DEPLOYMENT</a:t>
              </a:r>
            </a:p>
          </p:txBody>
        </p:sp>
      </p:grpSp>
      <p:grpSp>
        <p:nvGrpSpPr>
          <p:cNvPr name="Group 218" id="223"/>
          <p:cNvGrpSpPr/>
          <p:nvPr/>
        </p:nvGrpSpPr>
        <p:grpSpPr>
          <a:xfrm rot="0">
            <a:off x="15064283" y="6172667"/>
            <a:ext cx="2194560" cy="356616"/>
            <a:chOff x="0" y="0"/>
            <a:chExt cx="2926080" cy="475488"/>
          </a:xfrm>
        </p:grpSpPr>
        <p:sp>
          <p:nvSpPr>
            <p:cNvPr name="Freeform 219" id="224"/>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EDEFF3"/>
            </a:solidFill>
          </p:spPr>
        </p:sp>
      </p:grpSp>
      <p:grpSp>
        <p:nvGrpSpPr>
          <p:cNvPr name="Group 220" id="225"/>
          <p:cNvGrpSpPr/>
          <p:nvPr/>
        </p:nvGrpSpPr>
        <p:grpSpPr>
          <a:xfrm rot="0">
            <a:off x="15064283" y="6172667"/>
            <a:ext cx="2194560" cy="356616"/>
            <a:chOff x="0" y="0"/>
            <a:chExt cx="2926080" cy="475488"/>
          </a:xfrm>
        </p:grpSpPr>
        <p:sp>
          <p:nvSpPr>
            <p:cNvPr name="Freeform 221" id="226"/>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222" id="227"/>
          <p:cNvGrpSpPr/>
          <p:nvPr/>
        </p:nvGrpSpPr>
        <p:grpSpPr>
          <a:xfrm rot="0">
            <a:off x="15064283" y="6165523"/>
            <a:ext cx="2194560" cy="363760"/>
            <a:chOff x="0" y="0"/>
            <a:chExt cx="2926080" cy="485013"/>
          </a:xfrm>
        </p:grpSpPr>
        <p:sp>
          <p:nvSpPr>
            <p:cNvPr name="Freeform 223" id="228"/>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224" id="229"/>
          <p:cNvGrpSpPr/>
          <p:nvPr/>
        </p:nvGrpSpPr>
        <p:grpSpPr>
          <a:xfrm rot="0">
            <a:off x="15064283" y="6158379"/>
            <a:ext cx="2194560" cy="370904"/>
            <a:chOff x="0" y="0"/>
            <a:chExt cx="2926080" cy="494538"/>
          </a:xfrm>
        </p:grpSpPr>
        <p:sp>
          <p:nvSpPr>
            <p:cNvPr name="Freeform 225" id="230"/>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226" id="231"/>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9AA3B2"/>
                  </a:solidFill>
                  <a:latin typeface="Exo 2 Bold"/>
                  <a:ea typeface="Exo 2 Bold"/>
                  <a:cs typeface="Exo 2 Bold"/>
                  <a:sym typeface="Exo 2 Bold"/>
                </a:rPr>
                <a:t>NOT STARTED</a:t>
              </a:r>
            </a:p>
          </p:txBody>
        </p:sp>
      </p:grpSp>
      <p:grpSp>
        <p:nvGrpSpPr>
          <p:cNvPr name="Group 227" id="232"/>
          <p:cNvGrpSpPr/>
          <p:nvPr/>
        </p:nvGrpSpPr>
        <p:grpSpPr>
          <a:xfrm rot="0">
            <a:off x="685800" y="6954479"/>
            <a:ext cx="16915924" cy="2047780"/>
            <a:chOff x="0" y="0"/>
            <a:chExt cx="22554565" cy="2730373"/>
          </a:xfrm>
        </p:grpSpPr>
        <p:sp>
          <p:nvSpPr>
            <p:cNvPr name="Freeform 228" id="233"/>
            <p:cNvSpPr/>
            <p:nvPr/>
          </p:nvSpPr>
          <p:spPr>
            <a:xfrm flipH="false" flipV="false" rot="0">
              <a:off x="0" y="0"/>
              <a:ext cx="22554564" cy="2730373"/>
            </a:xfrm>
            <a:custGeom>
              <a:avLst/>
              <a:gdLst/>
              <a:ahLst/>
              <a:cxnLst/>
              <a:rect r="r" b="b" t="t" l="l"/>
              <a:pathLst>
                <a:path h="2730373" w="22554564">
                  <a:moveTo>
                    <a:pt x="0" y="158496"/>
                  </a:moveTo>
                  <a:cubicBezTo>
                    <a:pt x="0" y="70993"/>
                    <a:pt x="73660" y="0"/>
                    <a:pt x="164592" y="0"/>
                  </a:cubicBezTo>
                  <a:lnTo>
                    <a:pt x="22389973" y="0"/>
                  </a:lnTo>
                  <a:cubicBezTo>
                    <a:pt x="22480905" y="0"/>
                    <a:pt x="22554564" y="70993"/>
                    <a:pt x="22554564" y="158496"/>
                  </a:cubicBezTo>
                  <a:lnTo>
                    <a:pt x="22554564" y="2571877"/>
                  </a:lnTo>
                  <a:cubicBezTo>
                    <a:pt x="22554564" y="2659507"/>
                    <a:pt x="22480905" y="2730373"/>
                    <a:pt x="22389973" y="2730373"/>
                  </a:cubicBezTo>
                  <a:lnTo>
                    <a:pt x="164592" y="2730373"/>
                  </a:lnTo>
                  <a:cubicBezTo>
                    <a:pt x="73660" y="2730373"/>
                    <a:pt x="0" y="2659380"/>
                    <a:pt x="0" y="2571877"/>
                  </a:cubicBezTo>
                  <a:close/>
                </a:path>
              </a:pathLst>
            </a:custGeom>
            <a:solidFill>
              <a:srgbClr val="1E2761"/>
            </a:solidFill>
          </p:spPr>
        </p:sp>
      </p:grpSp>
      <p:grpSp>
        <p:nvGrpSpPr>
          <p:cNvPr name="Group 229" id="234"/>
          <p:cNvGrpSpPr/>
          <p:nvPr/>
        </p:nvGrpSpPr>
        <p:grpSpPr>
          <a:xfrm rot="0">
            <a:off x="1097280" y="7201367"/>
            <a:ext cx="8229600" cy="411480"/>
            <a:chOff x="0" y="0"/>
            <a:chExt cx="10972800" cy="548640"/>
          </a:xfrm>
        </p:grpSpPr>
        <p:sp>
          <p:nvSpPr>
            <p:cNvPr name="Freeform 230" id="235"/>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2">
                <a:alphaModFix amt="0"/>
              </a:blip>
              <a:stretch>
                <a:fillRect l="0" t="-339430" r="0" b="-339428"/>
              </a:stretch>
            </a:blipFill>
          </p:spPr>
        </p:sp>
      </p:grpSp>
      <p:grpSp>
        <p:nvGrpSpPr>
          <p:cNvPr name="Group 231" id="236"/>
          <p:cNvGrpSpPr/>
          <p:nvPr/>
        </p:nvGrpSpPr>
        <p:grpSpPr>
          <a:xfrm rot="0">
            <a:off x="1097280" y="7194223"/>
            <a:ext cx="8229600" cy="418624"/>
            <a:chOff x="0" y="0"/>
            <a:chExt cx="10972800" cy="558165"/>
          </a:xfrm>
        </p:grpSpPr>
        <p:sp>
          <p:nvSpPr>
            <p:cNvPr name="Freeform 232" id="237"/>
            <p:cNvSpPr/>
            <p:nvPr/>
          </p:nvSpPr>
          <p:spPr>
            <a:xfrm flipH="false" flipV="false" rot="0">
              <a:off x="0" y="0"/>
              <a:ext cx="10972800" cy="558165"/>
            </a:xfrm>
            <a:custGeom>
              <a:avLst/>
              <a:gdLst/>
              <a:ahLst/>
              <a:cxnLst/>
              <a:rect r="r" b="b" t="t" l="l"/>
              <a:pathLst>
                <a:path h="558165" w="10972800">
                  <a:moveTo>
                    <a:pt x="0" y="0"/>
                  </a:moveTo>
                  <a:lnTo>
                    <a:pt x="10972800" y="0"/>
                  </a:lnTo>
                  <a:lnTo>
                    <a:pt x="10972800" y="558165"/>
                  </a:lnTo>
                  <a:lnTo>
                    <a:pt x="0" y="558165"/>
                  </a:lnTo>
                  <a:close/>
                </a:path>
              </a:pathLst>
            </a:custGeom>
            <a:blipFill>
              <a:blip r:embed="rId3">
                <a:alphaModFix amt="0"/>
              </a:blip>
              <a:stretch>
                <a:fillRect l="0" t="-332784" r="0" b="-332782"/>
              </a:stretch>
            </a:blipFill>
          </p:spPr>
        </p:sp>
      </p:grpSp>
      <p:grpSp>
        <p:nvGrpSpPr>
          <p:cNvPr name="Group 233" id="238"/>
          <p:cNvGrpSpPr/>
          <p:nvPr/>
        </p:nvGrpSpPr>
        <p:grpSpPr>
          <a:xfrm rot="0">
            <a:off x="1097280" y="7187079"/>
            <a:ext cx="8229600" cy="425768"/>
            <a:chOff x="0" y="0"/>
            <a:chExt cx="10972800" cy="567690"/>
          </a:xfrm>
        </p:grpSpPr>
        <p:sp>
          <p:nvSpPr>
            <p:cNvPr name="Freeform 234" id="239"/>
            <p:cNvSpPr/>
            <p:nvPr/>
          </p:nvSpPr>
          <p:spPr>
            <a:xfrm flipH="false" flipV="false" rot="0">
              <a:off x="0" y="0"/>
              <a:ext cx="10972800" cy="567690"/>
            </a:xfrm>
            <a:custGeom>
              <a:avLst/>
              <a:gdLst/>
              <a:ahLst/>
              <a:cxnLst/>
              <a:rect r="r" b="b" t="t" l="l"/>
              <a:pathLst>
                <a:path h="567690" w="10972800">
                  <a:moveTo>
                    <a:pt x="0" y="0"/>
                  </a:moveTo>
                  <a:lnTo>
                    <a:pt x="10972800" y="0"/>
                  </a:lnTo>
                  <a:lnTo>
                    <a:pt x="10972800" y="567690"/>
                  </a:lnTo>
                  <a:lnTo>
                    <a:pt x="0" y="567690"/>
                  </a:lnTo>
                  <a:close/>
                </a:path>
              </a:pathLst>
            </a:custGeom>
            <a:blipFill>
              <a:blip r:embed="rId4">
                <a:alphaModFix amt="0"/>
              </a:blip>
              <a:stretch>
                <a:fillRect l="0" t="-326623" r="0" b="-326623"/>
              </a:stretch>
            </a:blipFill>
          </p:spPr>
        </p:sp>
        <p:sp>
          <p:nvSpPr>
            <p:cNvPr name="TextBox 235" id="240"/>
            <p:cNvSpPr txBox="true"/>
            <p:nvPr/>
          </p:nvSpPr>
          <p:spPr>
            <a:xfrm>
              <a:off x="0" y="-9525"/>
              <a:ext cx="10972800" cy="577215"/>
            </a:xfrm>
            <a:prstGeom prst="rect">
              <a:avLst/>
            </a:prstGeom>
          </p:spPr>
          <p:txBody>
            <a:bodyPr anchor="ctr" rtlCol="false" tIns="0" lIns="0" bIns="0" rIns="0"/>
            <a:lstStyle/>
            <a:p>
              <a:pPr algn="l">
                <a:lnSpc>
                  <a:spcPts val="2250"/>
                </a:lnSpc>
              </a:pPr>
              <a:r>
                <a:rPr lang="en-US" b="true" sz="1875" spc="179">
                  <a:solidFill>
                    <a:srgbClr val="CADCFC"/>
                  </a:solidFill>
                  <a:latin typeface="Exo 2 Bold"/>
                  <a:ea typeface="Exo 2 Bold"/>
                  <a:cs typeface="Exo 2 Bold"/>
                  <a:sym typeface="Exo 2 Bold"/>
                </a:rPr>
                <a:t>HELPDESK SOLUTION</a:t>
              </a:r>
            </a:p>
          </p:txBody>
        </p:sp>
      </p:grpSp>
      <p:grpSp>
        <p:nvGrpSpPr>
          <p:cNvPr name="Group 236" id="241"/>
          <p:cNvGrpSpPr/>
          <p:nvPr/>
        </p:nvGrpSpPr>
        <p:grpSpPr>
          <a:xfrm rot="0">
            <a:off x="1097280" y="7804871"/>
            <a:ext cx="576072" cy="576072"/>
            <a:chOff x="0" y="0"/>
            <a:chExt cx="768096" cy="768096"/>
          </a:xfrm>
        </p:grpSpPr>
        <p:sp>
          <p:nvSpPr>
            <p:cNvPr name="Freeform 237" id="242" descr="icons/dollar_white.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5"/>
              <a:stretch>
                <a:fillRect l="0" t="0" r="0" b="0"/>
              </a:stretch>
            </a:blipFill>
          </p:spPr>
        </p:sp>
      </p:grpSp>
      <p:sp>
        <p:nvSpPr>
          <p:cNvPr name="TextBox 238" id="243"/>
          <p:cNvSpPr txBox="true"/>
          <p:nvPr/>
        </p:nvSpPr>
        <p:spPr>
          <a:xfrm rot="0">
            <a:off x="1792615" y="7758484"/>
            <a:ext cx="7066588" cy="849820"/>
          </a:xfrm>
          <a:prstGeom prst="rect">
            <a:avLst/>
          </a:prstGeom>
        </p:spPr>
        <p:txBody>
          <a:bodyPr anchor="t" rtlCol="false" tIns="0" lIns="0" bIns="0" rIns="0">
            <a:spAutoFit/>
          </a:bodyPr>
          <a:lstStyle/>
          <a:p>
            <a:pPr algn="l">
              <a:lnSpc>
                <a:spcPts val="2172"/>
              </a:lnSpc>
            </a:pPr>
            <a:r>
              <a:rPr lang="en-US" sz="1575" b="true">
                <a:solidFill>
                  <a:srgbClr val="FFFFFF"/>
                </a:solidFill>
                <a:latin typeface="Exo 2 Bold"/>
                <a:ea typeface="Exo 2 Bold"/>
                <a:cs typeface="Exo 2 Bold"/>
                <a:sym typeface="Exo 2 Bold"/>
              </a:rPr>
              <a:t>Cost-Effective  </a:t>
            </a:r>
            <a:r>
              <a:rPr lang="en-US" sz="1575">
                <a:solidFill>
                  <a:srgbClr val="CADCFC"/>
                </a:solidFill>
                <a:latin typeface="Exo 2"/>
                <a:ea typeface="Exo 2"/>
                <a:cs typeface="Exo 2"/>
                <a:sym typeface="Exo 2"/>
              </a:rPr>
              <a:t>Annual cost of USD 600–1,000 (hosting only), delivering approximately 83%–90% savings versus comparable vendor solutions at USD 6,000–10,000.</a:t>
            </a:r>
          </a:p>
        </p:txBody>
      </p:sp>
      <p:sp>
        <p:nvSpPr>
          <p:cNvPr name="AutoShape 239" id="244"/>
          <p:cNvSpPr/>
          <p:nvPr/>
        </p:nvSpPr>
        <p:spPr>
          <a:xfrm rot="24420">
            <a:off x="8724729" y="7907179"/>
            <a:ext cx="1341463" cy="0"/>
          </a:xfrm>
          <a:prstGeom prst="line">
            <a:avLst/>
          </a:prstGeom>
          <a:ln cap="rnd" w="9525">
            <a:solidFill>
              <a:srgbClr val="3A4482"/>
            </a:solidFill>
            <a:prstDash val="solid"/>
            <a:headEnd type="none" len="sm" w="sm"/>
            <a:tailEnd type="none" len="sm" w="sm"/>
          </a:ln>
        </p:spPr>
      </p:sp>
      <p:grpSp>
        <p:nvGrpSpPr>
          <p:cNvPr name="Group 240" id="245"/>
          <p:cNvGrpSpPr/>
          <p:nvPr/>
        </p:nvGrpSpPr>
        <p:grpSpPr>
          <a:xfrm rot="0">
            <a:off x="9806940" y="7804871"/>
            <a:ext cx="576072" cy="576072"/>
            <a:chOff x="0" y="0"/>
            <a:chExt cx="768096" cy="768096"/>
          </a:xfrm>
        </p:grpSpPr>
        <p:sp>
          <p:nvSpPr>
            <p:cNvPr name="Freeform 241" id="246" descr="icons/code_white.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6"/>
              <a:stretch>
                <a:fillRect l="0" t="0" r="0" b="0"/>
              </a:stretch>
            </a:blipFill>
          </p:spPr>
        </p:sp>
      </p:grpSp>
      <p:grpSp>
        <p:nvGrpSpPr>
          <p:cNvPr name="Group 255" id="247"/>
          <p:cNvGrpSpPr/>
          <p:nvPr/>
        </p:nvGrpSpPr>
        <p:grpSpPr>
          <a:xfrm rot="0">
            <a:off x="9292438" y="5678891"/>
            <a:ext cx="2194560" cy="356616"/>
            <a:chOff x="0" y="0"/>
            <a:chExt cx="2926080" cy="475488"/>
          </a:xfrm>
        </p:grpSpPr>
        <p:sp>
          <p:nvSpPr>
            <p:cNvPr name="Freeform 256" id="248"/>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sp>
      </p:grpSp>
      <p:grpSp>
        <p:nvGrpSpPr>
          <p:cNvPr name="Group 257" id="249"/>
          <p:cNvGrpSpPr/>
          <p:nvPr/>
        </p:nvGrpSpPr>
        <p:grpSpPr>
          <a:xfrm rot="0">
            <a:off x="9292438" y="5678891"/>
            <a:ext cx="2194560" cy="356616"/>
            <a:chOff x="0" y="0"/>
            <a:chExt cx="2926080" cy="475488"/>
          </a:xfrm>
        </p:grpSpPr>
        <p:sp>
          <p:nvSpPr>
            <p:cNvPr name="Freeform 258" id="250"/>
            <p:cNvSpPr/>
            <p:nvPr/>
          </p:nvSpPr>
          <p:spPr>
            <a:xfrm flipH="false" flipV="false" rot="0">
              <a:off x="0" y="0"/>
              <a:ext cx="2926080" cy="475488"/>
            </a:xfrm>
            <a:custGeom>
              <a:avLst/>
              <a:gdLst/>
              <a:ahLst/>
              <a:cxnLst/>
              <a:rect r="r" b="b" t="t" l="l"/>
              <a:pathLst>
                <a:path h="475488" w="2926080">
                  <a:moveTo>
                    <a:pt x="0" y="0"/>
                  </a:moveTo>
                  <a:lnTo>
                    <a:pt x="2926080" y="0"/>
                  </a:lnTo>
                  <a:lnTo>
                    <a:pt x="2926080" y="475488"/>
                  </a:lnTo>
                  <a:lnTo>
                    <a:pt x="0" y="475488"/>
                  </a:lnTo>
                  <a:close/>
                </a:path>
              </a:pathLst>
            </a:custGeom>
            <a:blipFill>
              <a:blip r:embed="rId2">
                <a:alphaModFix amt="0"/>
              </a:blip>
              <a:stretch>
                <a:fillRect l="0" t="-69823" r="0" b="-69826"/>
              </a:stretch>
            </a:blipFill>
          </p:spPr>
        </p:sp>
      </p:grpSp>
      <p:grpSp>
        <p:nvGrpSpPr>
          <p:cNvPr name="Group 259" id="251"/>
          <p:cNvGrpSpPr/>
          <p:nvPr/>
        </p:nvGrpSpPr>
        <p:grpSpPr>
          <a:xfrm rot="0">
            <a:off x="9292438" y="5671747"/>
            <a:ext cx="2194560" cy="363760"/>
            <a:chOff x="0" y="0"/>
            <a:chExt cx="2926080" cy="485013"/>
          </a:xfrm>
        </p:grpSpPr>
        <p:sp>
          <p:nvSpPr>
            <p:cNvPr name="Freeform 260" id="252"/>
            <p:cNvSpPr/>
            <p:nvPr/>
          </p:nvSpPr>
          <p:spPr>
            <a:xfrm flipH="false" flipV="false" rot="0">
              <a:off x="0" y="0"/>
              <a:ext cx="2926080" cy="485013"/>
            </a:xfrm>
            <a:custGeom>
              <a:avLst/>
              <a:gdLst/>
              <a:ahLst/>
              <a:cxnLst/>
              <a:rect r="r" b="b" t="t" l="l"/>
              <a:pathLst>
                <a:path h="485013" w="2926080">
                  <a:moveTo>
                    <a:pt x="0" y="0"/>
                  </a:moveTo>
                  <a:lnTo>
                    <a:pt x="2926080" y="0"/>
                  </a:lnTo>
                  <a:lnTo>
                    <a:pt x="2926080" y="485013"/>
                  </a:lnTo>
                  <a:lnTo>
                    <a:pt x="0" y="485013"/>
                  </a:lnTo>
                  <a:close/>
                </a:path>
              </a:pathLst>
            </a:custGeom>
            <a:blipFill>
              <a:blip r:embed="rId3">
                <a:alphaModFix amt="0"/>
              </a:blip>
              <a:stretch>
                <a:fillRect l="0" t="-67470" r="0" b="-67473"/>
              </a:stretch>
            </a:blipFill>
          </p:spPr>
        </p:sp>
      </p:grpSp>
      <p:grpSp>
        <p:nvGrpSpPr>
          <p:cNvPr name="Group 261" id="253"/>
          <p:cNvGrpSpPr/>
          <p:nvPr/>
        </p:nvGrpSpPr>
        <p:grpSpPr>
          <a:xfrm rot="0">
            <a:off x="9292438" y="5664603"/>
            <a:ext cx="2194560" cy="370904"/>
            <a:chOff x="0" y="0"/>
            <a:chExt cx="2926080" cy="494538"/>
          </a:xfrm>
        </p:grpSpPr>
        <p:sp>
          <p:nvSpPr>
            <p:cNvPr name="Freeform 262" id="254"/>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263" id="255"/>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D98C1F"/>
                  </a:solidFill>
                  <a:latin typeface="Exo 2 Bold"/>
                  <a:ea typeface="Exo 2 Bold"/>
                  <a:cs typeface="Exo 2 Bold"/>
                  <a:sym typeface="Exo 2 Bold"/>
                </a:rPr>
                <a:t>IN PROGRESS</a:t>
              </a:r>
            </a:p>
          </p:txBody>
        </p:sp>
      </p:grpSp>
      <p:grpSp>
        <p:nvGrpSpPr>
          <p:cNvPr name="Group 264" id="256"/>
          <p:cNvGrpSpPr/>
          <p:nvPr/>
        </p:nvGrpSpPr>
        <p:grpSpPr>
          <a:xfrm rot="0">
            <a:off x="2117656" y="9097504"/>
            <a:ext cx="14052689" cy="313448"/>
            <a:chOff x="0" y="0"/>
            <a:chExt cx="18736918" cy="417931"/>
          </a:xfrm>
        </p:grpSpPr>
        <p:grpSp>
          <p:nvGrpSpPr>
            <p:cNvPr name="Group 265" id="257"/>
            <p:cNvGrpSpPr/>
            <p:nvPr/>
          </p:nvGrpSpPr>
          <p:grpSpPr>
            <a:xfrm rot="0">
              <a:off x="0" y="0"/>
              <a:ext cx="18736918" cy="417931"/>
              <a:chOff x="0" y="0"/>
              <a:chExt cx="22117329" cy="493331"/>
            </a:xfrm>
          </p:grpSpPr>
          <p:sp>
            <p:nvSpPr>
              <p:cNvPr name="Freeform 266" id="258"/>
              <p:cNvSpPr/>
              <p:nvPr/>
            </p:nvSpPr>
            <p:spPr>
              <a:xfrm flipH="false" flipV="false" rot="0">
                <a:off x="0" y="0"/>
                <a:ext cx="22117304" cy="493332"/>
              </a:xfrm>
              <a:custGeom>
                <a:avLst/>
                <a:gdLst/>
                <a:ahLst/>
                <a:cxnLst/>
                <a:rect r="r" b="b" t="t" l="l"/>
                <a:pathLst>
                  <a:path h="493332" w="22117304">
                    <a:moveTo>
                      <a:pt x="59965" y="0"/>
                    </a:moveTo>
                    <a:lnTo>
                      <a:pt x="22057339" y="0"/>
                    </a:lnTo>
                    <a:cubicBezTo>
                      <a:pt x="22073243" y="0"/>
                      <a:pt x="22088495" y="6318"/>
                      <a:pt x="22099741" y="17563"/>
                    </a:cubicBezTo>
                    <a:cubicBezTo>
                      <a:pt x="22110987" y="28809"/>
                      <a:pt x="22117304" y="44061"/>
                      <a:pt x="22117304" y="59965"/>
                    </a:cubicBezTo>
                    <a:lnTo>
                      <a:pt x="22117304" y="433366"/>
                    </a:lnTo>
                    <a:cubicBezTo>
                      <a:pt x="22117304" y="449270"/>
                      <a:pt x="22110987" y="464523"/>
                      <a:pt x="22099741" y="475768"/>
                    </a:cubicBezTo>
                    <a:cubicBezTo>
                      <a:pt x="22088495" y="487014"/>
                      <a:pt x="22073243" y="493332"/>
                      <a:pt x="22057339" y="493332"/>
                    </a:cubicBezTo>
                    <a:lnTo>
                      <a:pt x="59965" y="493332"/>
                    </a:lnTo>
                    <a:cubicBezTo>
                      <a:pt x="44061" y="493332"/>
                      <a:pt x="28809" y="487014"/>
                      <a:pt x="17563" y="475768"/>
                    </a:cubicBezTo>
                    <a:cubicBezTo>
                      <a:pt x="6318" y="464523"/>
                      <a:pt x="0" y="449270"/>
                      <a:pt x="0" y="433366"/>
                    </a:cubicBezTo>
                    <a:lnTo>
                      <a:pt x="0" y="59965"/>
                    </a:lnTo>
                    <a:cubicBezTo>
                      <a:pt x="0" y="44061"/>
                      <a:pt x="6318" y="28809"/>
                      <a:pt x="17563" y="17563"/>
                    </a:cubicBezTo>
                    <a:cubicBezTo>
                      <a:pt x="28809" y="6318"/>
                      <a:pt x="44061" y="0"/>
                      <a:pt x="59965" y="0"/>
                    </a:cubicBezTo>
                    <a:close/>
                  </a:path>
                </a:pathLst>
              </a:custGeom>
              <a:solidFill>
                <a:srgbClr val="EEF1F8"/>
              </a:solidFill>
            </p:spPr>
          </p:sp>
        </p:grpSp>
        <p:sp>
          <p:nvSpPr>
            <p:cNvPr name="TextBox 267" id="259"/>
            <p:cNvSpPr txBox="true"/>
            <p:nvPr/>
          </p:nvSpPr>
          <p:spPr>
            <a:xfrm rot="0">
              <a:off x="3672151" y="69265"/>
              <a:ext cx="11392615" cy="279400"/>
            </a:xfrm>
            <a:prstGeom prst="rect">
              <a:avLst/>
            </a:prstGeom>
          </p:spPr>
          <p:txBody>
            <a:bodyPr anchor="t" rtlCol="false" tIns="0" lIns="0" bIns="0" rIns="0">
              <a:spAutoFit/>
            </a:bodyPr>
            <a:lstStyle/>
            <a:p>
              <a:pPr algn="ctr">
                <a:lnSpc>
                  <a:spcPts val="1699"/>
                </a:lnSpc>
              </a:pPr>
              <a:r>
                <a:rPr lang="en-US" sz="1416" b="true">
                  <a:solidFill>
                    <a:srgbClr val="132257"/>
                  </a:solidFill>
                  <a:latin typeface="Exo 2 Bold"/>
                  <a:ea typeface="Exo 2 Bold"/>
                  <a:cs typeface="Exo 2 Bold"/>
                  <a:sym typeface="Exo 2 Bold"/>
                </a:rPr>
                <a:t>Helpdesk operations are currently managed manually via Excel by Client Experience</a:t>
              </a:r>
            </a:p>
          </p:txBody>
        </p:sp>
      </p:grpSp>
      <p:sp>
        <p:nvSpPr>
          <p:cNvPr name="Freeform 268" id="260"/>
          <p:cNvSpPr/>
          <p:nvPr/>
        </p:nvSpPr>
        <p:spPr>
          <a:xfrm flipH="false" flipV="false" rot="0">
            <a:off x="15576633" y="9506197"/>
            <a:ext cx="1547812" cy="550335"/>
          </a:xfrm>
          <a:custGeom>
            <a:avLst/>
            <a:gdLst/>
            <a:ahLst/>
            <a:cxnLst/>
            <a:rect r="r" b="b" t="t" l="l"/>
            <a:pathLst>
              <a:path h="550335" w="1547812">
                <a:moveTo>
                  <a:pt x="0" y="0"/>
                </a:moveTo>
                <a:lnTo>
                  <a:pt x="1547812" y="0"/>
                </a:lnTo>
                <a:lnTo>
                  <a:pt x="1547812" y="550335"/>
                </a:lnTo>
                <a:lnTo>
                  <a:pt x="0" y="550335"/>
                </a:lnTo>
                <a:lnTo>
                  <a:pt x="0" y="0"/>
                </a:lnTo>
                <a:close/>
              </a:path>
            </a:pathLst>
          </a:custGeom>
          <a:blipFill>
            <a:blip r:embed="rId13"/>
            <a:stretch>
              <a:fillRect l="-574" t="0" r="-574" b="0"/>
            </a:stretch>
          </a:blipFill>
        </p:spPr>
      </p:sp>
      <p:sp>
        <p:nvSpPr>
          <p:cNvPr name="TextBox 272" id="261"/>
          <p:cNvSpPr txBox="true"/>
          <p:nvPr/>
        </p:nvSpPr>
        <p:spPr>
          <a:xfrm rot="0">
            <a:off x="1028700" y="3960962"/>
            <a:ext cx="4678528" cy="526161"/>
          </a:xfrm>
          <a:prstGeom prst="rect">
            <a:avLst/>
          </a:prstGeom>
        </p:spPr>
        <p:txBody>
          <a:bodyPr anchor="t" rtlCol="false" tIns="0" lIns="0" bIns="0" rIns="0">
            <a:spAutoFit/>
          </a:bodyPr>
          <a:lstStyle/>
          <a:p>
            <a:pPr algn="l">
              <a:lnSpc>
                <a:spcPts val="2172"/>
              </a:lnSpc>
            </a:pPr>
            <a:r>
              <a:rPr lang="en-US" sz="1575">
                <a:solidFill>
                  <a:srgbClr val="5B6472"/>
                </a:solidFill>
                <a:latin typeface="Exo 2"/>
                <a:ea typeface="Exo 2"/>
                <a:cs typeface="Exo 2"/>
                <a:sym typeface="Exo 2"/>
              </a:rPr>
              <a:t>Under review by the Compliance team since 07.09.2026</a:t>
            </a:r>
          </a:p>
        </p:txBody>
      </p:sp>
      <p:sp>
        <p:nvSpPr>
          <p:cNvPr name="TextBox 273" id="262"/>
          <p:cNvSpPr txBox="true"/>
          <p:nvPr/>
        </p:nvSpPr>
        <p:spPr>
          <a:xfrm rot="0">
            <a:off x="6804508" y="3960962"/>
            <a:ext cx="4678528" cy="583121"/>
          </a:xfrm>
          <a:prstGeom prst="rect">
            <a:avLst/>
          </a:prstGeom>
        </p:spPr>
        <p:txBody>
          <a:bodyPr anchor="t" rtlCol="false" tIns="0" lIns="0" bIns="0" rIns="0">
            <a:spAutoFit/>
          </a:bodyPr>
          <a:lstStyle/>
          <a:p>
            <a:pPr algn="l">
              <a:lnSpc>
                <a:spcPts val="2172"/>
              </a:lnSpc>
            </a:pPr>
            <a:r>
              <a:rPr lang="en-US" sz="1575">
                <a:solidFill>
                  <a:srgbClr val="5B6472"/>
                </a:solidFill>
                <a:latin typeface="Exo 2"/>
                <a:ea typeface="Exo 2"/>
                <a:cs typeface="Exo 2"/>
                <a:sym typeface="Exo 2"/>
              </a:rPr>
              <a:t>Will consolidate the customer base into a single, unified system after Helpdesk deployment.</a:t>
            </a:r>
          </a:p>
        </p:txBody>
      </p:sp>
      <p:sp>
        <p:nvSpPr>
          <p:cNvPr name="TextBox 274" id="263"/>
          <p:cNvSpPr txBox="true"/>
          <p:nvPr/>
        </p:nvSpPr>
        <p:spPr>
          <a:xfrm rot="0">
            <a:off x="12580315" y="3960962"/>
            <a:ext cx="4678528" cy="583121"/>
          </a:xfrm>
          <a:prstGeom prst="rect">
            <a:avLst/>
          </a:prstGeom>
        </p:spPr>
        <p:txBody>
          <a:bodyPr anchor="t" rtlCol="false" tIns="0" lIns="0" bIns="0" rIns="0">
            <a:spAutoFit/>
          </a:bodyPr>
          <a:lstStyle/>
          <a:p>
            <a:pPr algn="l">
              <a:lnSpc>
                <a:spcPts val="2172"/>
              </a:lnSpc>
            </a:pPr>
            <a:r>
              <a:rPr lang="en-US" sz="1575">
                <a:solidFill>
                  <a:srgbClr val="5B6472"/>
                </a:solidFill>
                <a:latin typeface="Exo 2"/>
                <a:ea typeface="Exo 2"/>
                <a:cs typeface="Exo 2"/>
                <a:sym typeface="Exo 2"/>
              </a:rPr>
              <a:t>Real-time reporting capability under evaluation, to support the business case.</a:t>
            </a:r>
          </a:p>
        </p:txBody>
      </p:sp>
      <p:sp>
        <p:nvSpPr>
          <p:cNvPr name="TextBox 275" id="264"/>
          <p:cNvSpPr txBox="true"/>
          <p:nvPr/>
        </p:nvSpPr>
        <p:spPr>
          <a:xfrm rot="0">
            <a:off x="10594315" y="7758484"/>
            <a:ext cx="6652260" cy="583121"/>
          </a:xfrm>
          <a:prstGeom prst="rect">
            <a:avLst/>
          </a:prstGeom>
        </p:spPr>
        <p:txBody>
          <a:bodyPr anchor="t" rtlCol="false" tIns="0" lIns="0" bIns="0" rIns="0">
            <a:spAutoFit/>
          </a:bodyPr>
          <a:lstStyle/>
          <a:p>
            <a:pPr algn="l">
              <a:lnSpc>
                <a:spcPts val="2172"/>
              </a:lnSpc>
            </a:pPr>
            <a:r>
              <a:rPr lang="en-US" sz="1575" b="true">
                <a:solidFill>
                  <a:srgbClr val="FFFFFF"/>
                </a:solidFill>
                <a:latin typeface="Exo 2 Bold"/>
                <a:ea typeface="Exo 2 Bold"/>
                <a:cs typeface="Exo 2 Bold"/>
                <a:sym typeface="Exo 2 Bold"/>
              </a:rPr>
              <a:t>In-House &amp; Fully Customizable  </a:t>
            </a:r>
            <a:r>
              <a:rPr lang="en-US" sz="1575">
                <a:solidFill>
                  <a:srgbClr val="CADCFC"/>
                </a:solidFill>
                <a:latin typeface="Exo 2"/>
                <a:ea typeface="Exo 2"/>
                <a:cs typeface="Exo 2"/>
                <a:sym typeface="Exo 2"/>
              </a:rPr>
              <a:t>Full control over the source code, database, and future enhancements.</a:t>
            </a:r>
          </a:p>
        </p:txBody>
      </p:sp>
      <p:grpSp>
        <p:nvGrpSpPr>
          <p:cNvPr name="Group 279" id="265"/>
          <p:cNvGrpSpPr/>
          <p:nvPr/>
        </p:nvGrpSpPr>
        <p:grpSpPr>
          <a:xfrm rot="0">
            <a:off x="3514573" y="5658031"/>
            <a:ext cx="2194560" cy="356616"/>
            <a:chOff x="0" y="0"/>
            <a:chExt cx="2926080" cy="475488"/>
          </a:xfrm>
        </p:grpSpPr>
        <p:sp>
          <p:nvSpPr>
            <p:cNvPr name="Freeform 280" id="266"/>
            <p:cNvSpPr/>
            <p:nvPr/>
          </p:nvSpPr>
          <p:spPr>
            <a:xfrm flipH="false" flipV="false" rot="0">
              <a:off x="0" y="0"/>
              <a:ext cx="2926080" cy="475488"/>
            </a:xfrm>
            <a:custGeom>
              <a:avLst/>
              <a:gdLst/>
              <a:ahLst/>
              <a:cxnLst/>
              <a:rect r="r" b="b" t="t" l="l"/>
              <a:pathLst>
                <a:path h="475488" w="2926080">
                  <a:moveTo>
                    <a:pt x="0" y="91440"/>
                  </a:moveTo>
                  <a:cubicBezTo>
                    <a:pt x="0" y="40894"/>
                    <a:pt x="40894" y="0"/>
                    <a:pt x="91440" y="0"/>
                  </a:cubicBezTo>
                  <a:lnTo>
                    <a:pt x="2834640" y="0"/>
                  </a:lnTo>
                  <a:cubicBezTo>
                    <a:pt x="2885186" y="0"/>
                    <a:pt x="2926080" y="40894"/>
                    <a:pt x="2926080" y="91440"/>
                  </a:cubicBezTo>
                  <a:lnTo>
                    <a:pt x="2926080" y="384048"/>
                  </a:lnTo>
                  <a:cubicBezTo>
                    <a:pt x="2926080" y="434594"/>
                    <a:pt x="2885186" y="475488"/>
                    <a:pt x="2834640" y="475488"/>
                  </a:cubicBezTo>
                  <a:lnTo>
                    <a:pt x="91440" y="475488"/>
                  </a:lnTo>
                  <a:cubicBezTo>
                    <a:pt x="40894" y="475488"/>
                    <a:pt x="0" y="434594"/>
                    <a:pt x="0" y="384048"/>
                  </a:cubicBezTo>
                  <a:close/>
                </a:path>
              </a:pathLst>
            </a:custGeom>
            <a:solidFill>
              <a:srgbClr val="FBF0DE"/>
            </a:solidFill>
          </p:spPr>
        </p:sp>
      </p:grpSp>
      <p:grpSp>
        <p:nvGrpSpPr>
          <p:cNvPr name="Group 281" id="267"/>
          <p:cNvGrpSpPr/>
          <p:nvPr/>
        </p:nvGrpSpPr>
        <p:grpSpPr>
          <a:xfrm rot="0">
            <a:off x="3514573" y="5644315"/>
            <a:ext cx="1697507" cy="363760"/>
            <a:chOff x="0" y="0"/>
            <a:chExt cx="2263343" cy="485013"/>
          </a:xfrm>
        </p:grpSpPr>
        <p:sp>
          <p:nvSpPr>
            <p:cNvPr name="Freeform 282" id="268"/>
            <p:cNvSpPr/>
            <p:nvPr/>
          </p:nvSpPr>
          <p:spPr>
            <a:xfrm flipH="false" flipV="false" rot="0">
              <a:off x="0" y="0"/>
              <a:ext cx="2263343" cy="485013"/>
            </a:xfrm>
            <a:custGeom>
              <a:avLst/>
              <a:gdLst/>
              <a:ahLst/>
              <a:cxnLst/>
              <a:rect r="r" b="b" t="t" l="l"/>
              <a:pathLst>
                <a:path h="485013" w="2263343">
                  <a:moveTo>
                    <a:pt x="0" y="0"/>
                  </a:moveTo>
                  <a:lnTo>
                    <a:pt x="2263343" y="0"/>
                  </a:lnTo>
                  <a:lnTo>
                    <a:pt x="2263343" y="485013"/>
                  </a:lnTo>
                  <a:lnTo>
                    <a:pt x="0" y="485013"/>
                  </a:lnTo>
                  <a:close/>
                </a:path>
              </a:pathLst>
            </a:custGeom>
            <a:blipFill>
              <a:blip r:embed="rId3">
                <a:alphaModFix amt="0"/>
              </a:blip>
              <a:stretch>
                <a:fillRect l="0" t="-40864" r="0" b="-40866"/>
              </a:stretch>
            </a:blipFill>
          </p:spPr>
        </p:sp>
      </p:grpSp>
      <p:grpSp>
        <p:nvGrpSpPr>
          <p:cNvPr name="Group 283" id="269"/>
          <p:cNvGrpSpPr/>
          <p:nvPr/>
        </p:nvGrpSpPr>
        <p:grpSpPr>
          <a:xfrm rot="0">
            <a:off x="3512630" y="5637171"/>
            <a:ext cx="2194560" cy="370904"/>
            <a:chOff x="0" y="0"/>
            <a:chExt cx="2926080" cy="494538"/>
          </a:xfrm>
        </p:grpSpPr>
        <p:sp>
          <p:nvSpPr>
            <p:cNvPr name="Freeform 284" id="270"/>
            <p:cNvSpPr/>
            <p:nvPr/>
          </p:nvSpPr>
          <p:spPr>
            <a:xfrm flipH="false" flipV="false" rot="0">
              <a:off x="0" y="0"/>
              <a:ext cx="2926080" cy="494538"/>
            </a:xfrm>
            <a:custGeom>
              <a:avLst/>
              <a:gdLst/>
              <a:ahLst/>
              <a:cxnLst/>
              <a:rect r="r" b="b" t="t" l="l"/>
              <a:pathLst>
                <a:path h="494538" w="2926080">
                  <a:moveTo>
                    <a:pt x="0" y="0"/>
                  </a:moveTo>
                  <a:lnTo>
                    <a:pt x="2926080" y="0"/>
                  </a:lnTo>
                  <a:lnTo>
                    <a:pt x="2926080" y="494538"/>
                  </a:lnTo>
                  <a:lnTo>
                    <a:pt x="0" y="494538"/>
                  </a:lnTo>
                  <a:close/>
                </a:path>
              </a:pathLst>
            </a:custGeom>
            <a:blipFill>
              <a:blip r:embed="rId4">
                <a:alphaModFix amt="0"/>
              </a:blip>
              <a:stretch>
                <a:fillRect l="0" t="-65288" r="0" b="-65288"/>
              </a:stretch>
            </a:blipFill>
          </p:spPr>
        </p:sp>
        <p:sp>
          <p:nvSpPr>
            <p:cNvPr name="TextBox 285" id="271"/>
            <p:cNvSpPr txBox="true"/>
            <p:nvPr/>
          </p:nvSpPr>
          <p:spPr>
            <a:xfrm>
              <a:off x="0" y="-9525"/>
              <a:ext cx="2926080" cy="504063"/>
            </a:xfrm>
            <a:prstGeom prst="rect">
              <a:avLst/>
            </a:prstGeom>
          </p:spPr>
          <p:txBody>
            <a:bodyPr anchor="ctr" rtlCol="false" tIns="0" lIns="0" bIns="0" rIns="0"/>
            <a:lstStyle/>
            <a:p>
              <a:pPr algn="ctr">
                <a:lnSpc>
                  <a:spcPts val="1530"/>
                </a:lnSpc>
              </a:pPr>
              <a:r>
                <a:rPr lang="en-US" b="true" sz="1275" spc="43">
                  <a:solidFill>
                    <a:srgbClr val="D98C1F"/>
                  </a:solidFill>
                  <a:latin typeface="Exo 2 Bold"/>
                  <a:ea typeface="Exo 2 Bold"/>
                  <a:cs typeface="Exo 2 Bold"/>
                  <a:sym typeface="Exo 2 Bold"/>
                </a:rPr>
                <a:t>IN PROGRESS</a:t>
              </a:r>
            </a:p>
          </p:txBody>
        </p:sp>
      </p:grpSp>
      <p:sp>
        <p:nvSpPr>
          <p:cNvPr name="TextBox 9" id="272"/>
          <p:cNvSpPr txBox="true"/>
          <p:nvPr/>
        </p:nvSpPr>
        <p:spPr>
          <a:xfrm rot="0">
            <a:off x="630936" y="1563243"/>
            <a:ext cx="17007840" cy="375285"/>
          </a:xfrm>
          <a:prstGeom prst="rect">
            <a:avLst/>
          </a:prstGeom>
        </p:spPr>
        <p:txBody>
          <a:bodyPr anchor="t" rtlCol="false" tIns="0" lIns="0" bIns="0" rIns="0">
            <a:spAutoFit/>
          </a:bodyPr>
          <a:lstStyle/>
          <a:p>
            <a:pPr algn="l">
              <a:lnSpc>
                <a:spcPts val="1559"/>
              </a:lnSpc>
            </a:pPr>
            <a:r>
              <a:rPr lang="en-US" sz="1299" b="true">
                <a:solidFill>
                  <a:srgbClr val="3C61B6"/>
                </a:solidFill>
                <a:latin typeface="Exo 2 Bold"/>
                <a:ea typeface="Exo 2 Bold"/>
                <a:cs typeface="Exo 2 Bold"/>
                <a:sym typeface="Exo 2 Bold"/>
              </a:rPr>
              <a:t>INTERNAL WEALTHTECH TECHNOLOGY OPERATIONS</a:t>
            </a:r>
          </a:p>
        </p:txBody>
      </p:sp>
      <p:grpSp>
        <p:nvGrpSpPr>
          <p:cNvPr name="Group 6" id="273"/>
          <p:cNvGrpSpPr/>
          <p:nvPr/>
        </p:nvGrpSpPr>
        <p:grpSpPr>
          <a:xfrm rot="0">
            <a:off x="850392" y="297596"/>
            <a:ext cx="13990320" cy="1124712"/>
            <a:chOff x="0" y="0"/>
            <a:chExt cx="18653760" cy="1499616"/>
          </a:xfrm>
        </p:grpSpPr>
        <p:sp>
          <p:nvSpPr>
            <p:cNvPr name="Freeform 7" id="274"/>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4">
                <a:alphaModFix amt="0"/>
              </a:blip>
              <a:stretch>
                <a:fillRect l="0" t="-192374" r="0" b="-192374"/>
              </a:stretch>
            </a:blipFill>
          </p:spPr>
        </p:sp>
        <p:sp>
          <p:nvSpPr>
            <p:cNvPr name="TextBox 8" id="275"/>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Systems Planning &amp; Deployment</a:t>
              </a:r>
            </a:p>
          </p:txBody>
        </p:sp>
      </p:grpSp>
      <p:grpSp>
        <p:nvGrpSpPr>
          <p:cNvPr name="Group 9" id="276"/>
          <p:cNvGrpSpPr/>
          <p:nvPr/>
        </p:nvGrpSpPr>
        <p:grpSpPr>
          <a:xfrm rot="0">
            <a:off x="15457932" y="571916"/>
            <a:ext cx="1988820" cy="576072"/>
            <a:chOff x="0" y="0"/>
            <a:chExt cx="2651760" cy="768096"/>
          </a:xfrm>
        </p:grpSpPr>
        <p:sp>
          <p:nvSpPr>
            <p:cNvPr name="Freeform 10" id="277"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12"/>
              <a:stretch>
                <a:fillRect l="0" t="-26" r="0" b="-26"/>
              </a:stretch>
            </a:blipFill>
          </p:spPr>
        </p:sp>
      </p:grpSp>
      <p:sp>
        <p:nvSpPr>
          <p:cNvPr name="TextBox 13" id="278"/>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APPENDIX  |  IT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6"/>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sp>
        <p:nvSpPr>
          <p:cNvPr name="Freeform 2" id="7"/>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8"/>
            <a:stretch>
              <a:fillRect l="0" t="0" r="0" b="0"/>
            </a:stretch>
          </a:blipFill>
        </p:spPr>
      </p:sp>
      <p:grpSp>
        <p:nvGrpSpPr>
          <p:cNvPr name="Group 10" id="8"/>
          <p:cNvGrpSpPr/>
          <p:nvPr/>
        </p:nvGrpSpPr>
        <p:grpSpPr>
          <a:xfrm rot="0">
            <a:off x="630555" y="2087067"/>
            <a:ext cx="17026890" cy="4746077"/>
            <a:chOff x="0" y="0"/>
            <a:chExt cx="22702520" cy="6328103"/>
          </a:xfrm>
        </p:grpSpPr>
        <p:sp>
          <p:nvSpPr>
            <p:cNvPr name="Freeform 11" id="9"/>
            <p:cNvSpPr/>
            <p:nvPr/>
          </p:nvSpPr>
          <p:spPr>
            <a:xfrm flipH="false" flipV="false" rot="0">
              <a:off x="0" y="0"/>
              <a:ext cx="22702520" cy="6328103"/>
            </a:xfrm>
            <a:custGeom>
              <a:avLst/>
              <a:gdLst/>
              <a:ahLst/>
              <a:cxnLst/>
              <a:rect r="r" b="b" t="t" l="l"/>
              <a:pathLst>
                <a:path h="6328103" w="22702520">
                  <a:moveTo>
                    <a:pt x="0" y="305064"/>
                  </a:moveTo>
                  <a:cubicBezTo>
                    <a:pt x="0" y="136517"/>
                    <a:pt x="66040" y="0"/>
                    <a:pt x="147574" y="0"/>
                  </a:cubicBezTo>
                  <a:lnTo>
                    <a:pt x="22554946" y="0"/>
                  </a:lnTo>
                  <a:cubicBezTo>
                    <a:pt x="22636480" y="0"/>
                    <a:pt x="22702520" y="136517"/>
                    <a:pt x="22702520" y="305064"/>
                  </a:cubicBezTo>
                  <a:lnTo>
                    <a:pt x="22702520" y="6023039"/>
                  </a:lnTo>
                  <a:cubicBezTo>
                    <a:pt x="22702520" y="6191586"/>
                    <a:pt x="22636480" y="6328103"/>
                    <a:pt x="22554946" y="6328103"/>
                  </a:cubicBezTo>
                  <a:lnTo>
                    <a:pt x="147574" y="6328103"/>
                  </a:lnTo>
                  <a:cubicBezTo>
                    <a:pt x="66040" y="6328103"/>
                    <a:pt x="0" y="6191586"/>
                    <a:pt x="0" y="6023039"/>
                  </a:cubicBezTo>
                  <a:close/>
                </a:path>
              </a:pathLst>
            </a:custGeom>
            <a:solidFill>
              <a:srgbClr val="F7F8FC"/>
            </a:solidFill>
            <a:ln w="19050" cap="sq">
              <a:solidFill>
                <a:srgbClr val="E4E7F2"/>
              </a:solidFill>
              <a:prstDash val="solid"/>
              <a:miter/>
            </a:ln>
          </p:spPr>
        </p:sp>
      </p:grpSp>
      <p:grpSp>
        <p:nvGrpSpPr>
          <p:cNvPr name="Group 12" id="10"/>
          <p:cNvGrpSpPr/>
          <p:nvPr/>
        </p:nvGrpSpPr>
        <p:grpSpPr>
          <a:xfrm rot="0">
            <a:off x="955548" y="2312619"/>
            <a:ext cx="14813280" cy="548640"/>
            <a:chOff x="0" y="0"/>
            <a:chExt cx="19751040" cy="731520"/>
          </a:xfrm>
        </p:grpSpPr>
        <p:sp>
          <p:nvSpPr>
            <p:cNvPr name="Freeform 13" id="11"/>
            <p:cNvSpPr/>
            <p:nvPr/>
          </p:nvSpPr>
          <p:spPr>
            <a:xfrm flipH="false" flipV="false" rot="0">
              <a:off x="0" y="0"/>
              <a:ext cx="19751039" cy="731520"/>
            </a:xfrm>
            <a:custGeom>
              <a:avLst/>
              <a:gdLst/>
              <a:ahLst/>
              <a:cxnLst/>
              <a:rect r="r" b="b" t="t" l="l"/>
              <a:pathLst>
                <a:path h="731520" w="19751039">
                  <a:moveTo>
                    <a:pt x="0" y="0"/>
                  </a:moveTo>
                  <a:lnTo>
                    <a:pt x="19751039" y="0"/>
                  </a:lnTo>
                  <a:lnTo>
                    <a:pt x="19751039" y="731520"/>
                  </a:lnTo>
                  <a:lnTo>
                    <a:pt x="0" y="731520"/>
                  </a:lnTo>
                  <a:close/>
                </a:path>
              </a:pathLst>
            </a:custGeom>
            <a:blipFill>
              <a:blip r:embed="rId5">
                <a:alphaModFix amt="0"/>
              </a:blip>
              <a:stretch>
                <a:fillRect l="0" t="-476096" r="0" b="-476096"/>
              </a:stretch>
            </a:blipFill>
          </p:spPr>
        </p:sp>
        <p:sp>
          <p:nvSpPr>
            <p:cNvPr name="TextBox 14" id="12"/>
            <p:cNvSpPr txBox="true"/>
            <p:nvPr/>
          </p:nvSpPr>
          <p:spPr>
            <a:xfrm>
              <a:off x="0" y="-9525"/>
              <a:ext cx="19751040" cy="741045"/>
            </a:xfrm>
            <a:prstGeom prst="rect">
              <a:avLst/>
            </a:prstGeom>
          </p:spPr>
          <p:txBody>
            <a:bodyPr anchor="ctr" rtlCol="false" tIns="0" lIns="0" bIns="0" rIns="0"/>
            <a:lstStyle/>
            <a:p>
              <a:pPr algn="l" marL="0" indent="0" lvl="0">
                <a:lnSpc>
                  <a:spcPts val="2700"/>
                </a:lnSpc>
                <a:spcBef>
                  <a:spcPct val="0"/>
                </a:spcBef>
              </a:pPr>
              <a:r>
                <a:rPr lang="en-US" b="true" sz="2250">
                  <a:solidFill>
                    <a:srgbClr val="1B1B3A"/>
                  </a:solidFill>
                  <a:latin typeface="Exo 2 Bold"/>
                  <a:ea typeface="Exo 2 Bold"/>
                  <a:cs typeface="Exo 2 Bold"/>
                  <a:sym typeface="Exo 2 Bold"/>
                </a:rPr>
                <a:t>Exa</a:t>
              </a:r>
              <a:r>
                <a:rPr lang="en-US" b="true" sz="2250" strike="noStrike" u="none">
                  <a:solidFill>
                    <a:srgbClr val="1B1B3A"/>
                  </a:solidFill>
                  <a:latin typeface="Exo 2 Bold"/>
                  <a:ea typeface="Exo 2 Bold"/>
                  <a:cs typeface="Exo 2 Bold"/>
                  <a:sym typeface="Exo 2 Bold"/>
                </a:rPr>
                <a:t>nte — </a:t>
              </a:r>
              <a:r>
                <a:rPr lang="en-US" b="true" sz="2250" strike="noStrike" u="none">
                  <a:solidFill>
                    <a:srgbClr val="1B1B3A"/>
                  </a:solidFill>
                  <a:latin typeface="Exo 2 Bold"/>
                  <a:ea typeface="Exo 2 Bold"/>
                  <a:cs typeface="Exo 2 Bold"/>
                  <a:sym typeface="Exo 2 Bold"/>
                </a:rPr>
                <a:t>St</a:t>
              </a:r>
              <a:r>
                <a:rPr lang="en-US" b="true" sz="2250" strike="noStrike" u="none">
                  <a:solidFill>
                    <a:srgbClr val="1B1B3A"/>
                  </a:solidFill>
                  <a:latin typeface="Exo 2 Bold"/>
                  <a:ea typeface="Exo 2 Bold"/>
                  <a:cs typeface="Exo 2 Bold"/>
                  <a:sym typeface="Exo 2 Bold"/>
                </a:rPr>
                <a:t>a</a:t>
              </a:r>
              <a:r>
                <a:rPr lang="en-US" b="true" sz="2250" strike="noStrike" u="none">
                  <a:solidFill>
                    <a:srgbClr val="1B1B3A"/>
                  </a:solidFill>
                  <a:latin typeface="Exo 2 Bold"/>
                  <a:ea typeface="Exo 2 Bold"/>
                  <a:cs typeface="Exo 2 Bold"/>
                  <a:sym typeface="Exo 2 Bold"/>
                </a:rPr>
                <a:t>tu</a:t>
              </a:r>
              <a:r>
                <a:rPr lang="en-US" b="true" sz="2250" strike="noStrike" u="none">
                  <a:solidFill>
                    <a:srgbClr val="1B1B3A"/>
                  </a:solidFill>
                  <a:latin typeface="Exo 2 Bold"/>
                  <a:ea typeface="Exo 2 Bold"/>
                  <a:cs typeface="Exo 2 Bold"/>
                  <a:sym typeface="Exo 2 Bold"/>
                </a:rPr>
                <a:t>s </a:t>
              </a:r>
              <a:r>
                <a:rPr lang="en-US" b="true" sz="2250" strike="noStrike" u="none">
                  <a:solidFill>
                    <a:srgbClr val="1B1B3A"/>
                  </a:solidFill>
                  <a:latin typeface="Exo 2 Bold"/>
                  <a:ea typeface="Exo 2 Bold"/>
                  <a:cs typeface="Exo 2 Bold"/>
                  <a:sym typeface="Exo 2 Bold"/>
                </a:rPr>
                <a:t>Up</a:t>
              </a:r>
              <a:r>
                <a:rPr lang="en-US" b="true" sz="2250" strike="noStrike" u="none">
                  <a:solidFill>
                    <a:srgbClr val="1B1B3A"/>
                  </a:solidFill>
                  <a:latin typeface="Exo 2 Bold"/>
                  <a:ea typeface="Exo 2 Bold"/>
                  <a:cs typeface="Exo 2 Bold"/>
                  <a:sym typeface="Exo 2 Bold"/>
                </a:rPr>
                <a:t>d</a:t>
              </a:r>
              <a:r>
                <a:rPr lang="en-US" b="true" sz="2250" strike="noStrike" u="none">
                  <a:solidFill>
                    <a:srgbClr val="1B1B3A"/>
                  </a:solidFill>
                  <a:latin typeface="Exo 2 Bold"/>
                  <a:ea typeface="Exo 2 Bold"/>
                  <a:cs typeface="Exo 2 Bold"/>
                  <a:sym typeface="Exo 2 Bold"/>
                </a:rPr>
                <a:t>at</a:t>
              </a:r>
              <a:r>
                <a:rPr lang="en-US" b="true" sz="2250" strike="noStrike" u="none">
                  <a:solidFill>
                    <a:srgbClr val="1B1B3A"/>
                  </a:solidFill>
                  <a:latin typeface="Exo 2 Bold"/>
                  <a:ea typeface="Exo 2 Bold"/>
                  <a:cs typeface="Exo 2 Bold"/>
                  <a:sym typeface="Exo 2 Bold"/>
                </a:rPr>
                <a:t>e</a:t>
              </a:r>
            </a:p>
          </p:txBody>
        </p:sp>
      </p:grpSp>
      <p:grpSp>
        <p:nvGrpSpPr>
          <p:cNvPr name="Group 15" id="13"/>
          <p:cNvGrpSpPr/>
          <p:nvPr/>
        </p:nvGrpSpPr>
        <p:grpSpPr>
          <a:xfrm rot="0">
            <a:off x="937260" y="3132578"/>
            <a:ext cx="16322040" cy="622173"/>
            <a:chOff x="0" y="0"/>
            <a:chExt cx="21762720" cy="829564"/>
          </a:xfrm>
        </p:grpSpPr>
        <p:grpSp>
          <p:nvGrpSpPr>
            <p:cNvPr name="Group 16" id="14"/>
            <p:cNvGrpSpPr/>
            <p:nvPr/>
          </p:nvGrpSpPr>
          <p:grpSpPr>
            <a:xfrm rot="0">
              <a:off x="0" y="164592"/>
              <a:ext cx="329184" cy="329184"/>
              <a:chOff x="0" y="0"/>
              <a:chExt cx="329184" cy="329184"/>
            </a:xfrm>
          </p:grpSpPr>
          <p:sp>
            <p:nvSpPr>
              <p:cNvPr name="Freeform 17" id="15"/>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sp>
        </p:grpSp>
        <p:sp>
          <p:nvSpPr>
            <p:cNvPr name="TextBox 18" id="16"/>
            <p:cNvSpPr txBox="true"/>
            <p:nvPr/>
          </p:nvSpPr>
          <p:spPr>
            <a:xfrm rot="0">
              <a:off x="548640" y="-38100"/>
              <a:ext cx="21214080" cy="867664"/>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Corporate Client Onboarding</a:t>
              </a:r>
            </a:p>
            <a:p>
              <a:pPr algn="l">
                <a:lnSpc>
                  <a:spcPts val="2690"/>
                </a:lnSpc>
              </a:pPr>
              <a:r>
                <a:rPr lang="en-US" sz="1950">
                  <a:solidFill>
                    <a:srgbClr val="6B7280"/>
                  </a:solidFill>
                  <a:latin typeface="Exo 2"/>
                  <a:ea typeface="Exo 2"/>
                  <a:cs typeface="Exo 2"/>
                  <a:sym typeface="Exo 2"/>
                </a:rPr>
                <a:t>Aligned with the Exante team on the end-to-end process for onboarding corporate clients.</a:t>
              </a:r>
            </a:p>
          </p:txBody>
        </p:sp>
      </p:grpSp>
      <p:grpSp>
        <p:nvGrpSpPr>
          <p:cNvPr name="Group 19" id="17"/>
          <p:cNvGrpSpPr/>
          <p:nvPr/>
        </p:nvGrpSpPr>
        <p:grpSpPr>
          <a:xfrm rot="0">
            <a:off x="937260" y="4224586"/>
            <a:ext cx="16322040" cy="622173"/>
            <a:chOff x="0" y="0"/>
            <a:chExt cx="21762720" cy="829564"/>
          </a:xfrm>
        </p:grpSpPr>
        <p:grpSp>
          <p:nvGrpSpPr>
            <p:cNvPr name="Group 20" id="18"/>
            <p:cNvGrpSpPr/>
            <p:nvPr/>
          </p:nvGrpSpPr>
          <p:grpSpPr>
            <a:xfrm rot="0">
              <a:off x="0" y="164592"/>
              <a:ext cx="329184" cy="329184"/>
              <a:chOff x="0" y="0"/>
              <a:chExt cx="329184" cy="329184"/>
            </a:xfrm>
          </p:grpSpPr>
          <p:sp>
            <p:nvSpPr>
              <p:cNvPr name="Freeform 21" id="19"/>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sp>
        </p:grpSp>
        <p:sp>
          <p:nvSpPr>
            <p:cNvPr name="TextBox 22" id="20"/>
            <p:cNvSpPr txBox="true"/>
            <p:nvPr/>
          </p:nvSpPr>
          <p:spPr>
            <a:xfrm rot="0">
              <a:off x="548640" y="-38100"/>
              <a:ext cx="21214080" cy="867664"/>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New Application Release</a:t>
              </a:r>
            </a:p>
            <a:p>
              <a:pPr algn="l">
                <a:lnSpc>
                  <a:spcPts val="2690"/>
                </a:lnSpc>
              </a:pPr>
              <a:r>
                <a:rPr lang="en-US" sz="1950">
                  <a:solidFill>
                    <a:srgbClr val="6B7280"/>
                  </a:solidFill>
                  <a:latin typeface="Exo 2"/>
                  <a:ea typeface="Exo 2"/>
                  <a:cs typeface="Exo 2"/>
                  <a:sym typeface="Exo 2"/>
                </a:rPr>
                <a:t>Following up with the Exante team on the release of the new version of the application.</a:t>
              </a:r>
            </a:p>
          </p:txBody>
        </p:sp>
      </p:grpSp>
      <p:grpSp>
        <p:nvGrpSpPr>
          <p:cNvPr name="Group 23" id="21"/>
          <p:cNvGrpSpPr/>
          <p:nvPr/>
        </p:nvGrpSpPr>
        <p:grpSpPr>
          <a:xfrm rot="0">
            <a:off x="937260" y="5316594"/>
            <a:ext cx="16322040" cy="955548"/>
            <a:chOff x="0" y="0"/>
            <a:chExt cx="21762720" cy="1274064"/>
          </a:xfrm>
        </p:grpSpPr>
        <p:grpSp>
          <p:nvGrpSpPr>
            <p:cNvPr name="Group 24" id="22"/>
            <p:cNvGrpSpPr/>
            <p:nvPr/>
          </p:nvGrpSpPr>
          <p:grpSpPr>
            <a:xfrm rot="0">
              <a:off x="0" y="164592"/>
              <a:ext cx="329184" cy="329184"/>
              <a:chOff x="0" y="0"/>
              <a:chExt cx="329184" cy="329184"/>
            </a:xfrm>
          </p:grpSpPr>
          <p:sp>
            <p:nvSpPr>
              <p:cNvPr name="Freeform 25" id="23"/>
              <p:cNvSpPr/>
              <p:nvPr/>
            </p:nvSpPr>
            <p:spPr>
              <a:xfrm flipH="false" flipV="false" rot="0">
                <a:off x="0" y="0"/>
                <a:ext cx="329184" cy="329184"/>
              </a:xfrm>
              <a:custGeom>
                <a:avLst/>
                <a:gdLst/>
                <a:ahLst/>
                <a:cxnLst/>
                <a:rect r="r" b="b" t="t" l="l"/>
                <a:pathLst>
                  <a:path h="329184" w="329184">
                    <a:moveTo>
                      <a:pt x="0" y="164592"/>
                    </a:moveTo>
                    <a:cubicBezTo>
                      <a:pt x="0" y="73660"/>
                      <a:pt x="73660" y="0"/>
                      <a:pt x="164592" y="0"/>
                    </a:cubicBezTo>
                    <a:cubicBezTo>
                      <a:pt x="255524" y="0"/>
                      <a:pt x="329184" y="73660"/>
                      <a:pt x="329184" y="164592"/>
                    </a:cubicBezTo>
                    <a:cubicBezTo>
                      <a:pt x="329184" y="255524"/>
                      <a:pt x="255524" y="329184"/>
                      <a:pt x="164592" y="329184"/>
                    </a:cubicBezTo>
                    <a:cubicBezTo>
                      <a:pt x="73660" y="329184"/>
                      <a:pt x="0" y="255524"/>
                      <a:pt x="0" y="164592"/>
                    </a:cubicBezTo>
                    <a:close/>
                  </a:path>
                </a:pathLst>
              </a:custGeom>
              <a:solidFill>
                <a:srgbClr val="1F3B8C">
                  <a:alpha val="77255"/>
                </a:srgbClr>
              </a:solidFill>
            </p:spPr>
          </p:sp>
        </p:grpSp>
        <p:sp>
          <p:nvSpPr>
            <p:cNvPr name="TextBox 26" id="24"/>
            <p:cNvSpPr txBox="true"/>
            <p:nvPr/>
          </p:nvSpPr>
          <p:spPr>
            <a:xfrm rot="0">
              <a:off x="548640" y="-38100"/>
              <a:ext cx="21214080" cy="1312164"/>
            </a:xfrm>
            <a:prstGeom prst="rect">
              <a:avLst/>
            </a:prstGeom>
          </p:spPr>
          <p:txBody>
            <a:bodyPr anchor="t" rtlCol="false" tIns="0" lIns="0" bIns="0" rIns="0">
              <a:spAutoFit/>
            </a:bodyPr>
            <a:lstStyle/>
            <a:p>
              <a:pPr algn="l">
                <a:lnSpc>
                  <a:spcPts val="2690"/>
                </a:lnSpc>
              </a:pPr>
              <a:r>
                <a:rPr lang="en-US" sz="1950" b="true">
                  <a:solidFill>
                    <a:srgbClr val="1B1B3A"/>
                  </a:solidFill>
                  <a:latin typeface="Exo 2 Bold"/>
                  <a:ea typeface="Exo 2 Bold"/>
                  <a:cs typeface="Exo 2 Bold"/>
                  <a:sym typeface="Exo 2 Bold"/>
                </a:rPr>
                <a:t>Sanity / Smoke Test Results</a:t>
              </a:r>
            </a:p>
            <a:p>
              <a:pPr algn="l">
                <a:lnSpc>
                  <a:spcPts val="2690"/>
                </a:lnSpc>
              </a:pPr>
              <a:r>
                <a:rPr lang="en-US" sz="1950">
                  <a:solidFill>
                    <a:srgbClr val="6B7280"/>
                  </a:solidFill>
                  <a:latin typeface="Exo 2"/>
                  <a:ea typeface="Exo 2"/>
                  <a:cs typeface="Exo 2"/>
                  <a:sym typeface="Exo 2"/>
                </a:rPr>
                <a:t>Following up with the team to receive sanity and smoke test results for the patched builds, required before we can publish the new builds to the app stores.</a:t>
              </a:r>
            </a:p>
          </p:txBody>
        </p:sp>
      </p:grpSp>
      <p:grpSp>
        <p:nvGrpSpPr>
          <p:cNvPr name="Group 6" id="25"/>
          <p:cNvGrpSpPr/>
          <p:nvPr/>
        </p:nvGrpSpPr>
        <p:grpSpPr>
          <a:xfrm rot="0">
            <a:off x="850392" y="297596"/>
            <a:ext cx="13990320" cy="1124712"/>
            <a:chOff x="0" y="0"/>
            <a:chExt cx="18653760" cy="1499616"/>
          </a:xfrm>
        </p:grpSpPr>
        <p:sp>
          <p:nvSpPr>
            <p:cNvPr name="Freeform 7" id="26"/>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5">
                <a:alphaModFix amt="0"/>
              </a:blip>
              <a:stretch>
                <a:fillRect l="0" t="-192374" r="0" b="-192374"/>
              </a:stretch>
            </a:blipFill>
          </p:spPr>
        </p:sp>
        <p:sp>
          <p:nvSpPr>
            <p:cNvPr name="TextBox 8" id="27"/>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IT Progress Update</a:t>
              </a:r>
            </a:p>
          </p:txBody>
        </p:sp>
      </p:grpSp>
      <p:grpSp>
        <p:nvGrpSpPr>
          <p:cNvPr name="Group 9" id="28"/>
          <p:cNvGrpSpPr/>
          <p:nvPr/>
        </p:nvGrpSpPr>
        <p:grpSpPr>
          <a:xfrm rot="0">
            <a:off x="15457932" y="571916"/>
            <a:ext cx="1988820" cy="576072"/>
            <a:chOff x="0" y="0"/>
            <a:chExt cx="2651760" cy="768096"/>
          </a:xfrm>
        </p:grpSpPr>
        <p:sp>
          <p:nvSpPr>
            <p:cNvPr name="Freeform 10" id="29"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7"/>
              <a:stretch>
                <a:fillRect l="0" t="-26" r="0" b="-26"/>
              </a:stretch>
            </a:blipFill>
          </p:spPr>
        </p:sp>
      </p:grpSp>
      <p:sp>
        <p:nvSpPr>
          <p:cNvPr name="TextBox 13" id="30"/>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APPENDIX  |  IT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2" name=""/>
        <p:cNvGrpSpPr/>
        <p:nvPr/>
      </p:nvGrpSpPr>
      <p:grpSpPr>
        <a:xfrm>
          <a:off x="0" y="0"/>
          <a:ext cx="0" cy="0"/>
          <a:chOff x="0" y="0"/>
          <a:chExt cx="0" cy="0"/>
        </a:xfrm>
      </p:grpSpPr>
      <p:grpSp>
        <p:nvGrpSpPr>
          <p:cNvPr name="Group 2" id="3"/>
          <p:cNvGrpSpPr/>
          <p:nvPr/>
        </p:nvGrpSpPr>
        <p:grpSpPr>
          <a:xfrm rot="0">
            <a:off x="0" y="0"/>
            <a:ext cx="18287543" cy="1389102"/>
            <a:chOff x="0" y="0"/>
            <a:chExt cx="24383390" cy="1852136"/>
          </a:xfrm>
        </p:grpSpPr>
        <p:sp>
          <p:nvSpPr>
            <p:cNvPr name="Freeform 3" id="4" descr="/home/user/HatemIsa_202508993_IT9002_NLP_Project/emyaa-ceo-deck/working/charts/board_header.png"/>
            <p:cNvSpPr/>
            <p:nvPr/>
          </p:nvSpPr>
          <p:spPr>
            <a:xfrm flipH="false" flipV="false" rot="0">
              <a:off x="0" y="0"/>
              <a:ext cx="24383364" cy="1852136"/>
            </a:xfrm>
            <a:custGeom>
              <a:avLst/>
              <a:gdLst/>
              <a:ahLst/>
              <a:cxnLst/>
              <a:rect r="r" b="b" t="t" l="l"/>
              <a:pathLst>
                <a:path h="1852136" w="24383364">
                  <a:moveTo>
                    <a:pt x="0" y="0"/>
                  </a:moveTo>
                  <a:lnTo>
                    <a:pt x="24383364" y="0"/>
                  </a:lnTo>
                  <a:lnTo>
                    <a:pt x="24383364" y="1852136"/>
                  </a:lnTo>
                  <a:lnTo>
                    <a:pt x="0" y="1852136"/>
                  </a:lnTo>
                  <a:lnTo>
                    <a:pt x="0" y="0"/>
                  </a:lnTo>
                  <a:close/>
                </a:path>
              </a:pathLst>
            </a:custGeom>
            <a:blipFill>
              <a:blip r:embed="rId6"/>
              <a:stretch>
                <a:fillRect l="0" t="-21749" r="0" b="-21749"/>
              </a:stretch>
            </a:blipFill>
          </p:spPr>
        </p:sp>
      </p:grpSp>
      <p:grpSp>
        <p:nvGrpSpPr>
          <p:cNvPr name="Group 4" id="5"/>
          <p:cNvGrpSpPr/>
          <p:nvPr/>
        </p:nvGrpSpPr>
        <p:grpSpPr>
          <a:xfrm rot="0">
            <a:off x="-9525" y="1374683"/>
            <a:ext cx="18306593" cy="47625"/>
            <a:chOff x="0" y="0"/>
            <a:chExt cx="24408790" cy="63500"/>
          </a:xfrm>
        </p:grpSpPr>
        <p:sp>
          <p:nvSpPr>
            <p:cNvPr name="Freeform 5" id="6"/>
            <p:cNvSpPr/>
            <p:nvPr/>
          </p:nvSpPr>
          <p:spPr>
            <a:xfrm flipH="false" flipV="false" rot="0">
              <a:off x="0" y="0"/>
              <a:ext cx="24408764" cy="63525"/>
            </a:xfrm>
            <a:custGeom>
              <a:avLst/>
              <a:gdLst/>
              <a:ahLst/>
              <a:cxnLst/>
              <a:rect r="r" b="b" t="t" l="l"/>
              <a:pathLst>
                <a:path h="63525" w="24408764">
                  <a:moveTo>
                    <a:pt x="0" y="0"/>
                  </a:moveTo>
                  <a:lnTo>
                    <a:pt x="24408764" y="0"/>
                  </a:lnTo>
                  <a:lnTo>
                    <a:pt x="24408764" y="63525"/>
                  </a:lnTo>
                  <a:lnTo>
                    <a:pt x="0" y="63525"/>
                  </a:lnTo>
                  <a:close/>
                </a:path>
              </a:pathLst>
            </a:custGeom>
            <a:solidFill>
              <a:srgbClr val="D4AF37"/>
            </a:solidFill>
            <a:ln w="19050" cap="sq">
              <a:solidFill>
                <a:srgbClr val="D4AF37"/>
              </a:solidFill>
              <a:prstDash val="solid"/>
              <a:miter/>
            </a:ln>
          </p:spPr>
        </p:sp>
      </p:grpSp>
      <p:grpSp>
        <p:nvGrpSpPr>
          <p:cNvPr name="Group 2" id="7"/>
          <p:cNvGrpSpPr/>
          <p:nvPr/>
        </p:nvGrpSpPr>
        <p:grpSpPr>
          <a:xfrm rot="0">
            <a:off x="438528" y="2089490"/>
            <a:ext cx="4118666" cy="4334573"/>
            <a:chOff x="0" y="0"/>
            <a:chExt cx="4404525" cy="4635417"/>
          </a:xfrm>
        </p:grpSpPr>
        <p:sp>
          <p:nvSpPr>
            <p:cNvPr name="Freeform 3" id="8"/>
            <p:cNvSpPr/>
            <p:nvPr/>
          </p:nvSpPr>
          <p:spPr>
            <a:xfrm flipH="false" flipV="false" rot="0">
              <a:off x="10497" y="24500"/>
              <a:ext cx="4383531" cy="4586417"/>
            </a:xfrm>
            <a:custGeom>
              <a:avLst/>
              <a:gdLst/>
              <a:ahLst/>
              <a:cxnLst/>
              <a:rect r="r" b="b" t="t" l="l"/>
              <a:pathLst>
                <a:path h="4586417" w="4383531">
                  <a:moveTo>
                    <a:pt x="0" y="0"/>
                  </a:moveTo>
                  <a:lnTo>
                    <a:pt x="4383531" y="0"/>
                  </a:lnTo>
                  <a:lnTo>
                    <a:pt x="4383531" y="4586417"/>
                  </a:lnTo>
                  <a:lnTo>
                    <a:pt x="0" y="4586417"/>
                  </a:lnTo>
                  <a:close/>
                </a:path>
              </a:pathLst>
            </a:custGeom>
            <a:blipFill>
              <a:blip r:embed="rId9"/>
              <a:stretch>
                <a:fillRect/>
              </a:stretch>
            </a:blipFill>
          </p:spPr>
        </p:sp>
        <p:sp>
          <p:nvSpPr>
            <p:cNvPr name="Freeform 4" id="9"/>
            <p:cNvSpPr/>
            <p:nvPr/>
          </p:nvSpPr>
          <p:spPr>
            <a:xfrm flipH="false" flipV="false" rot="0">
              <a:off x="0" y="0"/>
              <a:ext cx="4404525" cy="4635417"/>
            </a:xfrm>
            <a:custGeom>
              <a:avLst/>
              <a:gdLst/>
              <a:ahLst/>
              <a:cxnLst/>
              <a:rect r="r" b="b" t="t" l="l"/>
              <a:pathLst>
                <a:path h="4635417" w="4404525">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sp>
      </p:grpSp>
      <p:grpSp>
        <p:nvGrpSpPr>
          <p:cNvPr name="Group 5" id="10"/>
          <p:cNvGrpSpPr/>
          <p:nvPr/>
        </p:nvGrpSpPr>
        <p:grpSpPr>
          <a:xfrm rot="0">
            <a:off x="9270007" y="2089490"/>
            <a:ext cx="4118666" cy="4334573"/>
            <a:chOff x="0" y="0"/>
            <a:chExt cx="4404525" cy="4635417"/>
          </a:xfrm>
        </p:grpSpPr>
        <p:sp>
          <p:nvSpPr>
            <p:cNvPr name="Freeform 6" id="11"/>
            <p:cNvSpPr/>
            <p:nvPr/>
          </p:nvSpPr>
          <p:spPr>
            <a:xfrm flipH="false" flipV="false" rot="0">
              <a:off x="10497" y="24500"/>
              <a:ext cx="4383531" cy="4586417"/>
            </a:xfrm>
            <a:custGeom>
              <a:avLst/>
              <a:gdLst/>
              <a:ahLst/>
              <a:cxnLst/>
              <a:rect r="r" b="b" t="t" l="l"/>
              <a:pathLst>
                <a:path h="4586417" w="4383531">
                  <a:moveTo>
                    <a:pt x="0" y="0"/>
                  </a:moveTo>
                  <a:lnTo>
                    <a:pt x="4383531" y="0"/>
                  </a:lnTo>
                  <a:lnTo>
                    <a:pt x="4383531" y="4586417"/>
                  </a:lnTo>
                  <a:lnTo>
                    <a:pt x="0" y="4586417"/>
                  </a:lnTo>
                  <a:close/>
                </a:path>
              </a:pathLst>
            </a:custGeom>
            <a:blipFill>
              <a:blip r:embed="rId9"/>
              <a:stretch>
                <a:fillRect/>
              </a:stretch>
            </a:blipFill>
          </p:spPr>
        </p:sp>
        <p:sp>
          <p:nvSpPr>
            <p:cNvPr name="Freeform 7" id="12"/>
            <p:cNvSpPr/>
            <p:nvPr/>
          </p:nvSpPr>
          <p:spPr>
            <a:xfrm flipH="false" flipV="false" rot="0">
              <a:off x="0" y="0"/>
              <a:ext cx="4404525" cy="4635417"/>
            </a:xfrm>
            <a:custGeom>
              <a:avLst/>
              <a:gdLst/>
              <a:ahLst/>
              <a:cxnLst/>
              <a:rect r="r" b="b" t="t" l="l"/>
              <a:pathLst>
                <a:path h="4635417" w="4404525">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sp>
      </p:grpSp>
      <p:grpSp>
        <p:nvGrpSpPr>
          <p:cNvPr name="Group 8" id="13"/>
          <p:cNvGrpSpPr/>
          <p:nvPr/>
        </p:nvGrpSpPr>
        <p:grpSpPr>
          <a:xfrm rot="0">
            <a:off x="13648902" y="2089490"/>
            <a:ext cx="4118666" cy="4334573"/>
            <a:chOff x="0" y="0"/>
            <a:chExt cx="4404525" cy="4635417"/>
          </a:xfrm>
        </p:grpSpPr>
        <p:sp>
          <p:nvSpPr>
            <p:cNvPr name="Freeform 9" id="14"/>
            <p:cNvSpPr/>
            <p:nvPr/>
          </p:nvSpPr>
          <p:spPr>
            <a:xfrm flipH="false" flipV="false" rot="0">
              <a:off x="10497" y="24500"/>
              <a:ext cx="4383531" cy="4586417"/>
            </a:xfrm>
            <a:custGeom>
              <a:avLst/>
              <a:gdLst/>
              <a:ahLst/>
              <a:cxnLst/>
              <a:rect r="r" b="b" t="t" l="l"/>
              <a:pathLst>
                <a:path h="4586417" w="4383531">
                  <a:moveTo>
                    <a:pt x="0" y="0"/>
                  </a:moveTo>
                  <a:lnTo>
                    <a:pt x="4383531" y="0"/>
                  </a:lnTo>
                  <a:lnTo>
                    <a:pt x="4383531" y="4586417"/>
                  </a:lnTo>
                  <a:lnTo>
                    <a:pt x="0" y="4586417"/>
                  </a:lnTo>
                  <a:close/>
                </a:path>
              </a:pathLst>
            </a:custGeom>
            <a:blipFill>
              <a:blip r:embed="rId9"/>
              <a:stretch>
                <a:fillRect/>
              </a:stretch>
            </a:blipFill>
          </p:spPr>
        </p:sp>
        <p:sp>
          <p:nvSpPr>
            <p:cNvPr name="Freeform 10" id="15"/>
            <p:cNvSpPr/>
            <p:nvPr/>
          </p:nvSpPr>
          <p:spPr>
            <a:xfrm flipH="false" flipV="false" rot="0">
              <a:off x="0" y="0"/>
              <a:ext cx="4404525" cy="4635417"/>
            </a:xfrm>
            <a:custGeom>
              <a:avLst/>
              <a:gdLst/>
              <a:ahLst/>
              <a:cxnLst/>
              <a:rect r="r" b="b" t="t" l="l"/>
              <a:pathLst>
                <a:path h="4635417" w="4404525">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sp>
      </p:grpSp>
      <p:grpSp>
        <p:nvGrpSpPr>
          <p:cNvPr name="Group 11" id="16"/>
          <p:cNvGrpSpPr/>
          <p:nvPr/>
        </p:nvGrpSpPr>
        <p:grpSpPr>
          <a:xfrm rot="0">
            <a:off x="4854447" y="2089490"/>
            <a:ext cx="4118666" cy="4334573"/>
            <a:chOff x="0" y="0"/>
            <a:chExt cx="4404525" cy="4635417"/>
          </a:xfrm>
        </p:grpSpPr>
        <p:sp>
          <p:nvSpPr>
            <p:cNvPr name="Freeform 12" id="17"/>
            <p:cNvSpPr/>
            <p:nvPr/>
          </p:nvSpPr>
          <p:spPr>
            <a:xfrm flipH="false" flipV="false" rot="0">
              <a:off x="10497" y="24500"/>
              <a:ext cx="4383531" cy="4586417"/>
            </a:xfrm>
            <a:custGeom>
              <a:avLst/>
              <a:gdLst/>
              <a:ahLst/>
              <a:cxnLst/>
              <a:rect r="r" b="b" t="t" l="l"/>
              <a:pathLst>
                <a:path h="4586417" w="4383531">
                  <a:moveTo>
                    <a:pt x="0" y="0"/>
                  </a:moveTo>
                  <a:lnTo>
                    <a:pt x="4383531" y="0"/>
                  </a:lnTo>
                  <a:lnTo>
                    <a:pt x="4383531" y="4586417"/>
                  </a:lnTo>
                  <a:lnTo>
                    <a:pt x="0" y="4586417"/>
                  </a:lnTo>
                  <a:close/>
                </a:path>
              </a:pathLst>
            </a:custGeom>
            <a:blipFill>
              <a:blip r:embed="rId9"/>
              <a:stretch>
                <a:fillRect/>
              </a:stretch>
            </a:blipFill>
          </p:spPr>
        </p:sp>
        <p:sp>
          <p:nvSpPr>
            <p:cNvPr name="Freeform 13" id="18"/>
            <p:cNvSpPr/>
            <p:nvPr/>
          </p:nvSpPr>
          <p:spPr>
            <a:xfrm flipH="false" flipV="false" rot="0">
              <a:off x="0" y="0"/>
              <a:ext cx="4404525" cy="4635417"/>
            </a:xfrm>
            <a:custGeom>
              <a:avLst/>
              <a:gdLst/>
              <a:ahLst/>
              <a:cxnLst/>
              <a:rect r="r" b="b" t="t" l="l"/>
              <a:pathLst>
                <a:path h="4635417" w="4404525">
                  <a:moveTo>
                    <a:pt x="10497" y="0"/>
                  </a:moveTo>
                  <a:lnTo>
                    <a:pt x="4394028" y="0"/>
                  </a:lnTo>
                  <a:cubicBezTo>
                    <a:pt x="4399802" y="0"/>
                    <a:pt x="4404525" y="11025"/>
                    <a:pt x="4404525" y="24500"/>
                  </a:cubicBezTo>
                  <a:lnTo>
                    <a:pt x="4404525" y="4610917"/>
                  </a:lnTo>
                  <a:cubicBezTo>
                    <a:pt x="4404525" y="4624392"/>
                    <a:pt x="4399802" y="4635417"/>
                    <a:pt x="4394028" y="4635417"/>
                  </a:cubicBezTo>
                  <a:lnTo>
                    <a:pt x="10497" y="4635417"/>
                  </a:lnTo>
                  <a:cubicBezTo>
                    <a:pt x="4724" y="4635417"/>
                    <a:pt x="0" y="4624392"/>
                    <a:pt x="0" y="4610917"/>
                  </a:cubicBezTo>
                  <a:lnTo>
                    <a:pt x="0" y="24500"/>
                  </a:lnTo>
                  <a:cubicBezTo>
                    <a:pt x="0" y="11025"/>
                    <a:pt x="4724" y="0"/>
                    <a:pt x="10497" y="0"/>
                  </a:cubicBezTo>
                  <a:moveTo>
                    <a:pt x="10497" y="49000"/>
                  </a:moveTo>
                  <a:lnTo>
                    <a:pt x="10497" y="24500"/>
                  </a:lnTo>
                  <a:lnTo>
                    <a:pt x="20994" y="24500"/>
                  </a:lnTo>
                  <a:lnTo>
                    <a:pt x="20994" y="4610917"/>
                  </a:lnTo>
                  <a:lnTo>
                    <a:pt x="10497" y="4610917"/>
                  </a:lnTo>
                  <a:lnTo>
                    <a:pt x="10497" y="4586417"/>
                  </a:lnTo>
                  <a:lnTo>
                    <a:pt x="4394028" y="4586417"/>
                  </a:lnTo>
                  <a:lnTo>
                    <a:pt x="4394028" y="4610917"/>
                  </a:lnTo>
                  <a:lnTo>
                    <a:pt x="4383531" y="4610917"/>
                  </a:lnTo>
                  <a:lnTo>
                    <a:pt x="4383531" y="24500"/>
                  </a:lnTo>
                  <a:lnTo>
                    <a:pt x="4394028" y="24500"/>
                  </a:lnTo>
                  <a:lnTo>
                    <a:pt x="4394028" y="49000"/>
                  </a:lnTo>
                  <a:lnTo>
                    <a:pt x="10497" y="49000"/>
                  </a:lnTo>
                  <a:close/>
                </a:path>
              </a:pathLst>
            </a:custGeom>
            <a:solidFill>
              <a:srgbClr val="121A2F"/>
            </a:solidFill>
          </p:spPr>
        </p:sp>
      </p:grpSp>
      <p:sp>
        <p:nvSpPr>
          <p:cNvPr name="Freeform 21" id="19"/>
          <p:cNvSpPr/>
          <p:nvPr/>
        </p:nvSpPr>
        <p:spPr>
          <a:xfrm flipH="false" flipV="false" rot="0">
            <a:off x="15711491" y="9398509"/>
            <a:ext cx="1547809" cy="550332"/>
          </a:xfrm>
          <a:custGeom>
            <a:avLst/>
            <a:gdLst/>
            <a:ahLst/>
            <a:cxnLst/>
            <a:rect r="r" b="b" t="t" l="l"/>
            <a:pathLst>
              <a:path h="550332" w="1547809">
                <a:moveTo>
                  <a:pt x="0" y="0"/>
                </a:moveTo>
                <a:lnTo>
                  <a:pt x="1547809" y="0"/>
                </a:lnTo>
                <a:lnTo>
                  <a:pt x="1547809" y="550332"/>
                </a:lnTo>
                <a:lnTo>
                  <a:pt x="0" y="550332"/>
                </a:lnTo>
                <a:lnTo>
                  <a:pt x="0" y="0"/>
                </a:lnTo>
                <a:close/>
              </a:path>
            </a:pathLst>
          </a:custGeom>
          <a:blipFill>
            <a:blip r:embed="rId8"/>
            <a:stretch>
              <a:fillRect l="0" t="0" r="0" b="0"/>
            </a:stretch>
          </a:blipFill>
        </p:spPr>
      </p:sp>
      <p:grpSp>
        <p:nvGrpSpPr>
          <p:cNvPr name="Group 22" id="20"/>
          <p:cNvGrpSpPr/>
          <p:nvPr/>
        </p:nvGrpSpPr>
        <p:grpSpPr>
          <a:xfrm rot="0">
            <a:off x="585597" y="2217420"/>
            <a:ext cx="2948940" cy="480060"/>
            <a:chOff x="0" y="0"/>
            <a:chExt cx="3931920" cy="640080"/>
          </a:xfrm>
        </p:grpSpPr>
        <p:sp>
          <p:nvSpPr>
            <p:cNvPr name="Freeform 23" id="21"/>
            <p:cNvSpPr/>
            <p:nvPr/>
          </p:nvSpPr>
          <p:spPr>
            <a:xfrm flipH="false" flipV="false" rot="0">
              <a:off x="0" y="0"/>
              <a:ext cx="3931920" cy="640080"/>
            </a:xfrm>
            <a:custGeom>
              <a:avLst/>
              <a:gdLst/>
              <a:ahLst/>
              <a:cxnLst/>
              <a:rect r="r" b="b" t="t" l="l"/>
              <a:pathLst>
                <a:path h="640080" w="3931920">
                  <a:moveTo>
                    <a:pt x="0" y="0"/>
                  </a:moveTo>
                  <a:lnTo>
                    <a:pt x="3931920" y="0"/>
                  </a:lnTo>
                  <a:lnTo>
                    <a:pt x="3931920" y="640080"/>
                  </a:lnTo>
                  <a:lnTo>
                    <a:pt x="0" y="640080"/>
                  </a:lnTo>
                  <a:close/>
                </a:path>
              </a:pathLst>
            </a:custGeom>
            <a:blipFill>
              <a:blip r:embed="rId2">
                <a:alphaModFix amt="0"/>
              </a:blip>
              <a:stretch>
                <a:fillRect l="0" t="-69693" r="0" b="-69693"/>
              </a:stretch>
            </a:blipFill>
          </p:spPr>
        </p:sp>
        <p:sp>
          <p:nvSpPr>
            <p:cNvPr name="TextBox 24" id="22"/>
            <p:cNvSpPr txBox="true"/>
            <p:nvPr/>
          </p:nvSpPr>
          <p:spPr>
            <a:xfrm>
              <a:off x="0" y="0"/>
              <a:ext cx="3931920" cy="640080"/>
            </a:xfrm>
            <a:prstGeom prst="rect">
              <a:avLst/>
            </a:prstGeom>
          </p:spPr>
          <p:txBody>
            <a:bodyPr anchor="ctr" rtlCol="false" tIns="0" lIns="0" bIns="0" rIns="0"/>
            <a:lstStyle/>
            <a:p>
              <a:pPr algn="l">
                <a:lnSpc>
                  <a:spcPts val="1980"/>
                </a:lnSpc>
              </a:pPr>
              <a:r>
                <a:rPr lang="en-US" b="true" sz="1650" spc="150">
                  <a:solidFill>
                    <a:srgbClr val="FFFFFF"/>
                  </a:solidFill>
                  <a:latin typeface="Exo 2 Bold"/>
                  <a:ea typeface="Exo 2 Bold"/>
                  <a:cs typeface="Exo 2 Bold"/>
                  <a:sym typeface="Exo 2 Bold"/>
                </a:rPr>
                <a:t>DAY 1 CALL</a:t>
              </a:r>
            </a:p>
          </p:txBody>
        </p:sp>
      </p:grpSp>
      <p:grpSp>
        <p:nvGrpSpPr>
          <p:cNvPr name="Group 25" id="23"/>
          <p:cNvGrpSpPr/>
          <p:nvPr/>
        </p:nvGrpSpPr>
        <p:grpSpPr>
          <a:xfrm rot="0">
            <a:off x="1019682" y="1381125"/>
            <a:ext cx="2948940" cy="3593452"/>
            <a:chOff x="0" y="0"/>
            <a:chExt cx="3931920" cy="4791270"/>
          </a:xfrm>
        </p:grpSpPr>
        <p:sp>
          <p:nvSpPr>
            <p:cNvPr name="Freeform 26" id="24"/>
            <p:cNvSpPr/>
            <p:nvPr/>
          </p:nvSpPr>
          <p:spPr>
            <a:xfrm flipH="false" flipV="false" rot="0">
              <a:off x="0" y="0"/>
              <a:ext cx="3931920" cy="4791270"/>
            </a:xfrm>
            <a:custGeom>
              <a:avLst/>
              <a:gdLst/>
              <a:ahLst/>
              <a:cxnLst/>
              <a:rect r="r" b="b" t="t" l="l"/>
              <a:pathLst>
                <a:path h="4791270" w="3931920">
                  <a:moveTo>
                    <a:pt x="0" y="0"/>
                  </a:moveTo>
                  <a:lnTo>
                    <a:pt x="3931920" y="0"/>
                  </a:lnTo>
                  <a:lnTo>
                    <a:pt x="3931920" y="4791270"/>
                  </a:lnTo>
                  <a:lnTo>
                    <a:pt x="0" y="4791270"/>
                  </a:lnTo>
                  <a:close/>
                </a:path>
              </a:pathLst>
            </a:custGeom>
            <a:blipFill>
              <a:blip r:embed="rId2">
                <a:alphaModFix amt="0"/>
              </a:blip>
              <a:stretch>
                <a:fillRect l="-3708" t="0" r="-3708" b="65647"/>
              </a:stretch>
            </a:blipFill>
          </p:spPr>
          <p:txBody>
            <a:bodyPr/>
            <a:p/>
          </p:txBody>
        </p:sp>
        <p:sp>
          <p:nvSpPr>
            <p:cNvPr name="TextBox 27" id="25"/>
            <p:cNvSpPr txBox="true"/>
            <p:nvPr/>
          </p:nvSpPr>
          <p:spPr>
            <a:xfrm>
              <a:off x="0" y="-9525"/>
              <a:ext cx="3931920" cy="4800795"/>
            </a:xfrm>
            <a:prstGeom prst="rect">
              <a:avLst/>
            </a:prstGeom>
          </p:spPr>
          <p:txBody>
            <a:bodyPr anchor="ctr" rtlCol="false" tIns="0" lIns="0" bIns="0" rIns="0"/>
            <a:lstStyle/>
            <a:p>
              <a:pPr algn="ctr">
                <a:lnSpc>
                  <a:spcPts val="5880"/>
                </a:lnSpc>
              </a:pPr>
              <a:r>
                <a:rPr lang="en-US" b="true" sz="4900">
                  <a:solidFill>
                    <a:srgbClr val="FFFFFF"/>
                  </a:solidFill>
                  <a:latin typeface="Exo 2 Bold"/>
                  <a:ea typeface="Exo 2 Bold"/>
                  <a:cs typeface="Exo 2 Bold"/>
                  <a:sym typeface="Exo 2 Bold"/>
                </a:rPr>
                <a:t>1</a:t>
              </a:r>
            </a:p>
          </p:txBody>
        </p:sp>
      </p:grpSp>
      <p:grpSp>
        <p:nvGrpSpPr>
          <p:cNvPr name="Group 28" id="26"/>
          <p:cNvGrpSpPr/>
          <p:nvPr/>
        </p:nvGrpSpPr>
        <p:grpSpPr>
          <a:xfrm rot="0">
            <a:off x="1019682" y="3570976"/>
            <a:ext cx="2948940" cy="685800"/>
            <a:chOff x="0" y="0"/>
            <a:chExt cx="3931920" cy="914400"/>
          </a:xfrm>
        </p:grpSpPr>
        <p:sp>
          <p:nvSpPr>
            <p:cNvPr name="Freeform 29" id="27"/>
            <p:cNvSpPr/>
            <p:nvPr/>
          </p:nvSpPr>
          <p:spPr>
            <a:xfrm flipH="false" flipV="false" rot="0">
              <a:off x="0" y="0"/>
              <a:ext cx="3931920" cy="914400"/>
            </a:xfrm>
            <a:custGeom>
              <a:avLst/>
              <a:gdLst/>
              <a:ahLst/>
              <a:cxnLst/>
              <a:rect r="r" b="b" t="t" l="l"/>
              <a:pathLst>
                <a:path h="914400" w="3931920">
                  <a:moveTo>
                    <a:pt x="0" y="0"/>
                  </a:moveTo>
                  <a:lnTo>
                    <a:pt x="3931920" y="0"/>
                  </a:lnTo>
                  <a:lnTo>
                    <a:pt x="3931920" y="914400"/>
                  </a:lnTo>
                  <a:lnTo>
                    <a:pt x="0" y="914400"/>
                  </a:lnTo>
                  <a:close/>
                </a:path>
              </a:pathLst>
            </a:custGeom>
            <a:blipFill>
              <a:blip r:embed="rId2">
                <a:alphaModFix amt="0"/>
              </a:blip>
              <a:stretch>
                <a:fillRect l="0" t="-33785" r="0" b="-33785"/>
              </a:stretch>
            </a:blipFill>
          </p:spPr>
        </p:sp>
        <p:sp>
          <p:nvSpPr>
            <p:cNvPr name="TextBox 30" id="28"/>
            <p:cNvSpPr txBox="true"/>
            <p:nvPr/>
          </p:nvSpPr>
          <p:spPr>
            <a:xfrm>
              <a:off x="0" y="-9525"/>
              <a:ext cx="3931920" cy="923925"/>
            </a:xfrm>
            <a:prstGeom prst="rect">
              <a:avLst/>
            </a:prstGeom>
          </p:spPr>
          <p:txBody>
            <a:bodyPr anchor="ctr" rtlCol="false" tIns="0" lIns="0" bIns="0" rIns="0"/>
            <a:lstStyle/>
            <a:p>
              <a:pPr algn="ctr">
                <a:lnSpc>
                  <a:spcPts val="3240"/>
                </a:lnSpc>
              </a:pPr>
              <a:r>
                <a:rPr lang="en-US" b="true" sz="2700">
                  <a:solidFill>
                    <a:srgbClr val="FFFFFF"/>
                  </a:solidFill>
                  <a:latin typeface="Exo 2 Bold"/>
                  <a:ea typeface="Exo 2 Bold"/>
                  <a:cs typeface="Exo 2 Bold"/>
                  <a:sym typeface="Exo 2 Bold"/>
                </a:rPr>
                <a:t>First Contact</a:t>
              </a:r>
            </a:p>
          </p:txBody>
        </p:sp>
      </p:grpSp>
      <p:grpSp>
        <p:nvGrpSpPr>
          <p:cNvPr name="Group 31" id="29"/>
          <p:cNvGrpSpPr/>
          <p:nvPr/>
        </p:nvGrpSpPr>
        <p:grpSpPr>
          <a:xfrm rot="0">
            <a:off x="1019682" y="3931791"/>
            <a:ext cx="2948940" cy="2167286"/>
            <a:chOff x="0" y="0"/>
            <a:chExt cx="3931920" cy="2889715"/>
          </a:xfrm>
        </p:grpSpPr>
        <p:sp>
          <p:nvSpPr>
            <p:cNvPr name="Freeform 32" id="30"/>
            <p:cNvSpPr/>
            <p:nvPr/>
          </p:nvSpPr>
          <p:spPr>
            <a:xfrm flipH="false" flipV="false" rot="0">
              <a:off x="0" y="0"/>
              <a:ext cx="3931920" cy="2889715"/>
            </a:xfrm>
            <a:custGeom>
              <a:avLst/>
              <a:gdLst/>
              <a:ahLst/>
              <a:cxnLst/>
              <a:rect r="r" b="b" t="t" l="l"/>
              <a:pathLst>
                <a:path h="2889715" w="3931920">
                  <a:moveTo>
                    <a:pt x="0" y="0"/>
                  </a:moveTo>
                  <a:lnTo>
                    <a:pt x="3931920" y="0"/>
                  </a:lnTo>
                  <a:lnTo>
                    <a:pt x="3931920" y="2889715"/>
                  </a:lnTo>
                  <a:lnTo>
                    <a:pt x="0" y="2889715"/>
                  </a:lnTo>
                  <a:close/>
                </a:path>
              </a:pathLst>
            </a:custGeom>
            <a:blipFill>
              <a:blip r:embed="rId2">
                <a:alphaModFix amt="0"/>
              </a:blip>
              <a:stretch>
                <a:fillRect l="-69352" t="0" r="-69352" b="-26573"/>
              </a:stretch>
            </a:blipFill>
          </p:spPr>
        </p:sp>
        <p:sp>
          <p:nvSpPr>
            <p:cNvPr name="TextBox 33" id="31"/>
            <p:cNvSpPr txBox="true"/>
            <p:nvPr/>
          </p:nvSpPr>
          <p:spPr>
            <a:xfrm>
              <a:off x="0" y="-57150"/>
              <a:ext cx="3931920" cy="2946865"/>
            </a:xfrm>
            <a:prstGeom prst="rect">
              <a:avLst/>
            </a:prstGeom>
          </p:spPr>
          <p:txBody>
            <a:bodyPr anchor="ctr" rtlCol="false" tIns="0" lIns="0" bIns="0" rIns="0"/>
            <a:lstStyle/>
            <a:p>
              <a:pPr algn="ctr">
                <a:lnSpc>
                  <a:spcPts val="2700"/>
                </a:lnSpc>
              </a:pPr>
              <a:r>
                <a:rPr lang="en-US" sz="1875">
                  <a:solidFill>
                    <a:srgbClr val="FFFFFF"/>
                  </a:solidFill>
                  <a:latin typeface="Exo 2"/>
                  <a:ea typeface="Exo 2"/>
                  <a:cs typeface="Exo 2"/>
                  <a:sym typeface="Exo 2"/>
                </a:rPr>
                <a:t>Reach out directly by phone. Guide the client through whatever step they're stuck on.</a:t>
              </a:r>
            </a:p>
          </p:txBody>
        </p:sp>
      </p:grpSp>
      <p:grpSp>
        <p:nvGrpSpPr>
          <p:cNvPr name="Group 34" id="32"/>
          <p:cNvGrpSpPr/>
          <p:nvPr/>
        </p:nvGrpSpPr>
        <p:grpSpPr>
          <a:xfrm rot="0">
            <a:off x="5136568" y="2292953"/>
            <a:ext cx="2948940" cy="345929"/>
            <a:chOff x="0" y="0"/>
            <a:chExt cx="3931920" cy="461239"/>
          </a:xfrm>
        </p:grpSpPr>
        <p:sp>
          <p:nvSpPr>
            <p:cNvPr name="Freeform 35" id="33"/>
            <p:cNvSpPr/>
            <p:nvPr/>
          </p:nvSpPr>
          <p:spPr>
            <a:xfrm flipH="false" flipV="false" rot="0">
              <a:off x="0" y="0"/>
              <a:ext cx="3931920" cy="461239"/>
            </a:xfrm>
            <a:custGeom>
              <a:avLst/>
              <a:gdLst/>
              <a:ahLst/>
              <a:cxnLst/>
              <a:rect r="r" b="b" t="t" l="l"/>
              <a:pathLst>
                <a:path h="461239" w="3931920">
                  <a:moveTo>
                    <a:pt x="0" y="0"/>
                  </a:moveTo>
                  <a:lnTo>
                    <a:pt x="3931920" y="0"/>
                  </a:lnTo>
                  <a:lnTo>
                    <a:pt x="3931920" y="461239"/>
                  </a:lnTo>
                  <a:lnTo>
                    <a:pt x="0" y="461239"/>
                  </a:lnTo>
                  <a:close/>
                </a:path>
              </a:pathLst>
            </a:custGeom>
            <a:blipFill>
              <a:blip r:embed="rId2">
                <a:alphaModFix amt="0"/>
              </a:blip>
              <a:stretch>
                <a:fillRect l="0" t="-96716" r="0" b="-135491"/>
              </a:stretch>
            </a:blipFill>
          </p:spPr>
        </p:sp>
        <p:sp>
          <p:nvSpPr>
            <p:cNvPr name="TextBox 36" id="34"/>
            <p:cNvSpPr txBox="true"/>
            <p:nvPr/>
          </p:nvSpPr>
          <p:spPr>
            <a:xfrm>
              <a:off x="0" y="0"/>
              <a:ext cx="3931920" cy="461239"/>
            </a:xfrm>
            <a:prstGeom prst="rect">
              <a:avLst/>
            </a:prstGeom>
          </p:spPr>
          <p:txBody>
            <a:bodyPr anchor="ctr" rtlCol="false" tIns="0" lIns="0" bIns="0" rIns="0"/>
            <a:lstStyle/>
            <a:p>
              <a:pPr algn="l">
                <a:lnSpc>
                  <a:spcPts val="1980"/>
                </a:lnSpc>
              </a:pPr>
              <a:r>
                <a:rPr lang="en-US" b="true" sz="1650" spc="150">
                  <a:solidFill>
                    <a:srgbClr val="FFFFFF"/>
                  </a:solidFill>
                  <a:latin typeface="Exo 2 Bold"/>
                  <a:ea typeface="Exo 2 Bold"/>
                  <a:cs typeface="Exo 2 Bold"/>
                  <a:sym typeface="Exo 2 Bold"/>
                </a:rPr>
                <a:t>DAY 1 EMAIL</a:t>
              </a:r>
            </a:p>
          </p:txBody>
        </p:sp>
      </p:grpSp>
      <p:grpSp>
        <p:nvGrpSpPr>
          <p:cNvPr name="Group 37" id="35"/>
          <p:cNvGrpSpPr/>
          <p:nvPr/>
        </p:nvGrpSpPr>
        <p:grpSpPr>
          <a:xfrm rot="0">
            <a:off x="6566175" y="1362075"/>
            <a:ext cx="694851" cy="3593452"/>
            <a:chOff x="0" y="0"/>
            <a:chExt cx="926468" cy="4791270"/>
          </a:xfrm>
        </p:grpSpPr>
        <p:sp>
          <p:nvSpPr>
            <p:cNvPr name="Freeform 38" id="36"/>
            <p:cNvSpPr/>
            <p:nvPr/>
          </p:nvSpPr>
          <p:spPr>
            <a:xfrm flipH="false" flipV="false" rot="0">
              <a:off x="0" y="0"/>
              <a:ext cx="926468" cy="4791270"/>
            </a:xfrm>
            <a:custGeom>
              <a:avLst/>
              <a:gdLst/>
              <a:ahLst/>
              <a:cxnLst/>
              <a:rect r="r" b="b" t="t" l="l"/>
              <a:pathLst>
                <a:path h="4791270" w="926468">
                  <a:moveTo>
                    <a:pt x="0" y="0"/>
                  </a:moveTo>
                  <a:lnTo>
                    <a:pt x="926468" y="0"/>
                  </a:lnTo>
                  <a:lnTo>
                    <a:pt x="926468" y="4791270"/>
                  </a:lnTo>
                  <a:lnTo>
                    <a:pt x="0" y="4791270"/>
                  </a:lnTo>
                  <a:close/>
                </a:path>
              </a:pathLst>
            </a:custGeom>
            <a:blipFill>
              <a:blip r:embed="rId2">
                <a:alphaModFix amt="0"/>
              </a:blip>
              <a:stretch>
                <a:fillRect l="-15738" t="0" r="-340137" b="65647"/>
              </a:stretch>
            </a:blipFill>
          </p:spPr>
        </p:sp>
        <p:sp>
          <p:nvSpPr>
            <p:cNvPr name="TextBox 39" id="37"/>
            <p:cNvSpPr txBox="true"/>
            <p:nvPr/>
          </p:nvSpPr>
          <p:spPr>
            <a:xfrm>
              <a:off x="0" y="-9525"/>
              <a:ext cx="926468" cy="4800795"/>
            </a:xfrm>
            <a:prstGeom prst="rect">
              <a:avLst/>
            </a:prstGeom>
          </p:spPr>
          <p:txBody>
            <a:bodyPr anchor="ctr" rtlCol="false" tIns="0" lIns="0" bIns="0" rIns="0"/>
            <a:lstStyle/>
            <a:p>
              <a:pPr algn="ctr">
                <a:lnSpc>
                  <a:spcPts val="5880"/>
                </a:lnSpc>
              </a:pPr>
              <a:r>
                <a:rPr lang="en-US" b="true" sz="4900">
                  <a:solidFill>
                    <a:srgbClr val="FFFFFF"/>
                  </a:solidFill>
                  <a:latin typeface="Exo 2 Bold"/>
                  <a:ea typeface="Exo 2 Bold"/>
                  <a:cs typeface="Exo 2 Bold"/>
                  <a:sym typeface="Exo 2 Bold"/>
                </a:rPr>
                <a:t>2</a:t>
              </a:r>
            </a:p>
          </p:txBody>
        </p:sp>
      </p:grpSp>
      <p:grpSp>
        <p:nvGrpSpPr>
          <p:cNvPr name="Group 40" id="38"/>
          <p:cNvGrpSpPr/>
          <p:nvPr/>
        </p:nvGrpSpPr>
        <p:grpSpPr>
          <a:xfrm rot="0">
            <a:off x="5439130" y="3377116"/>
            <a:ext cx="2948940" cy="1073519"/>
            <a:chOff x="0" y="0"/>
            <a:chExt cx="3931920" cy="1431358"/>
          </a:xfrm>
        </p:grpSpPr>
        <p:sp>
          <p:nvSpPr>
            <p:cNvPr name="Freeform 41" id="39"/>
            <p:cNvSpPr/>
            <p:nvPr/>
          </p:nvSpPr>
          <p:spPr>
            <a:xfrm flipH="false" flipV="false" rot="0">
              <a:off x="0" y="0"/>
              <a:ext cx="3931920" cy="1431358"/>
            </a:xfrm>
            <a:custGeom>
              <a:avLst/>
              <a:gdLst/>
              <a:ahLst/>
              <a:cxnLst/>
              <a:rect r="r" b="b" t="t" l="l"/>
              <a:pathLst>
                <a:path h="1431358" w="3931920">
                  <a:moveTo>
                    <a:pt x="0" y="0"/>
                  </a:moveTo>
                  <a:lnTo>
                    <a:pt x="3931920" y="0"/>
                  </a:lnTo>
                  <a:lnTo>
                    <a:pt x="3931920" y="1431358"/>
                  </a:lnTo>
                  <a:lnTo>
                    <a:pt x="0" y="1431358"/>
                  </a:lnTo>
                  <a:close/>
                </a:path>
              </a:pathLst>
            </a:custGeom>
            <a:blipFill>
              <a:blip r:embed="rId2">
                <a:alphaModFix amt="0"/>
              </a:blip>
              <a:stretch>
                <a:fillRect l="0" t="-21583" r="0" b="14533"/>
              </a:stretch>
            </a:blipFill>
          </p:spPr>
        </p:sp>
        <p:sp>
          <p:nvSpPr>
            <p:cNvPr name="TextBox 42" id="40"/>
            <p:cNvSpPr txBox="true"/>
            <p:nvPr/>
          </p:nvSpPr>
          <p:spPr>
            <a:xfrm>
              <a:off x="0" y="-9525"/>
              <a:ext cx="3931920" cy="1440883"/>
            </a:xfrm>
            <a:prstGeom prst="rect">
              <a:avLst/>
            </a:prstGeom>
          </p:spPr>
          <p:txBody>
            <a:bodyPr anchor="ctr" rtlCol="false" tIns="0" lIns="0" bIns="0" rIns="0"/>
            <a:lstStyle/>
            <a:p>
              <a:pPr algn="ctr">
                <a:lnSpc>
                  <a:spcPts val="3240"/>
                </a:lnSpc>
              </a:pPr>
              <a:r>
                <a:rPr lang="en-US" b="true" sz="2700">
                  <a:solidFill>
                    <a:srgbClr val="FFFFFF"/>
                  </a:solidFill>
                  <a:latin typeface="Exo 2 Bold"/>
                  <a:ea typeface="Exo 2 Bold"/>
                  <a:cs typeface="Exo 2 Bold"/>
                  <a:sym typeface="Exo 2 Bold"/>
                </a:rPr>
                <a:t>Email Reminder</a:t>
              </a:r>
            </a:p>
          </p:txBody>
        </p:sp>
      </p:grpSp>
      <p:grpSp>
        <p:nvGrpSpPr>
          <p:cNvPr name="Group 43" id="41"/>
          <p:cNvGrpSpPr/>
          <p:nvPr/>
        </p:nvGrpSpPr>
        <p:grpSpPr>
          <a:xfrm rot="0">
            <a:off x="5439130" y="4240574"/>
            <a:ext cx="2983151" cy="1859400"/>
            <a:chOff x="0" y="0"/>
            <a:chExt cx="3977535" cy="2479199"/>
          </a:xfrm>
        </p:grpSpPr>
        <p:sp>
          <p:nvSpPr>
            <p:cNvPr name="Freeform 44" id="42"/>
            <p:cNvSpPr/>
            <p:nvPr/>
          </p:nvSpPr>
          <p:spPr>
            <a:xfrm flipH="false" flipV="false" rot="0">
              <a:off x="0" y="0"/>
              <a:ext cx="3977535" cy="2479199"/>
            </a:xfrm>
            <a:custGeom>
              <a:avLst/>
              <a:gdLst/>
              <a:ahLst/>
              <a:cxnLst/>
              <a:rect r="r" b="b" t="t" l="l"/>
              <a:pathLst>
                <a:path h="2479199" w="3977535">
                  <a:moveTo>
                    <a:pt x="0" y="0"/>
                  </a:moveTo>
                  <a:lnTo>
                    <a:pt x="3977535" y="0"/>
                  </a:lnTo>
                  <a:lnTo>
                    <a:pt x="3977535" y="2479199"/>
                  </a:lnTo>
                  <a:lnTo>
                    <a:pt x="0" y="2479199"/>
                  </a:lnTo>
                  <a:close/>
                </a:path>
              </a:pathLst>
            </a:custGeom>
            <a:blipFill>
              <a:blip r:embed="rId2">
                <a:alphaModFix amt="0"/>
              </a:blip>
              <a:stretch>
                <a:fillRect l="-68556" t="0" r="-67409" b="-47531"/>
              </a:stretch>
            </a:blipFill>
          </p:spPr>
        </p:sp>
        <p:sp>
          <p:nvSpPr>
            <p:cNvPr name="TextBox 45" id="43"/>
            <p:cNvSpPr txBox="true"/>
            <p:nvPr/>
          </p:nvSpPr>
          <p:spPr>
            <a:xfrm>
              <a:off x="0" y="-57150"/>
              <a:ext cx="3977535" cy="2536349"/>
            </a:xfrm>
            <a:prstGeom prst="rect">
              <a:avLst/>
            </a:prstGeom>
          </p:spPr>
          <p:txBody>
            <a:bodyPr anchor="ctr" rtlCol="false" tIns="0" lIns="0" bIns="0" rIns="0"/>
            <a:lstStyle/>
            <a:p>
              <a:pPr algn="ctr">
                <a:lnSpc>
                  <a:spcPts val="2700"/>
                </a:lnSpc>
              </a:pPr>
              <a:r>
                <a:rPr lang="en-US" sz="1875">
                  <a:solidFill>
                    <a:srgbClr val="FFFFFF"/>
                  </a:solidFill>
                  <a:latin typeface="Exo 2"/>
                  <a:ea typeface="Exo 2"/>
                  <a:cs typeface="Exo 2"/>
                  <a:sym typeface="Exo 2"/>
                </a:rPr>
                <a:t>Se</a:t>
              </a:r>
              <a:r>
                <a:rPr lang="en-US" sz="1875">
                  <a:solidFill>
                    <a:srgbClr val="FFFFFF"/>
                  </a:solidFill>
                  <a:latin typeface="Exo 2"/>
                  <a:ea typeface="Exo 2"/>
                  <a:cs typeface="Exo 2"/>
                  <a:sym typeface="Exo 2"/>
                </a:rPr>
                <a:t>nd a reminder email at the end of the day outlining the steps required to progress through their current stage.</a:t>
              </a:r>
            </a:p>
          </p:txBody>
        </p:sp>
      </p:grpSp>
      <p:grpSp>
        <p:nvGrpSpPr>
          <p:cNvPr name="Group 46" id="44"/>
          <p:cNvGrpSpPr/>
          <p:nvPr/>
        </p:nvGrpSpPr>
        <p:grpSpPr>
          <a:xfrm rot="0">
            <a:off x="9554138" y="2217420"/>
            <a:ext cx="2948940" cy="480060"/>
            <a:chOff x="0" y="0"/>
            <a:chExt cx="3931920" cy="640080"/>
          </a:xfrm>
        </p:grpSpPr>
        <p:sp>
          <p:nvSpPr>
            <p:cNvPr name="Freeform 47" id="45"/>
            <p:cNvSpPr/>
            <p:nvPr/>
          </p:nvSpPr>
          <p:spPr>
            <a:xfrm flipH="false" flipV="false" rot="0">
              <a:off x="0" y="0"/>
              <a:ext cx="3931920" cy="640080"/>
            </a:xfrm>
            <a:custGeom>
              <a:avLst/>
              <a:gdLst/>
              <a:ahLst/>
              <a:cxnLst/>
              <a:rect r="r" b="b" t="t" l="l"/>
              <a:pathLst>
                <a:path h="640080" w="3931920">
                  <a:moveTo>
                    <a:pt x="0" y="0"/>
                  </a:moveTo>
                  <a:lnTo>
                    <a:pt x="3931920" y="0"/>
                  </a:lnTo>
                  <a:lnTo>
                    <a:pt x="3931920" y="640080"/>
                  </a:lnTo>
                  <a:lnTo>
                    <a:pt x="0" y="640080"/>
                  </a:lnTo>
                  <a:close/>
                </a:path>
              </a:pathLst>
            </a:custGeom>
            <a:blipFill>
              <a:blip r:embed="rId2">
                <a:alphaModFix amt="0"/>
              </a:blip>
              <a:stretch>
                <a:fillRect l="0" t="-69693" r="0" b="-69693"/>
              </a:stretch>
            </a:blipFill>
          </p:spPr>
        </p:sp>
        <p:sp>
          <p:nvSpPr>
            <p:cNvPr name="TextBox 48" id="46"/>
            <p:cNvSpPr txBox="true"/>
            <p:nvPr/>
          </p:nvSpPr>
          <p:spPr>
            <a:xfrm>
              <a:off x="0" y="0"/>
              <a:ext cx="3931920" cy="640080"/>
            </a:xfrm>
            <a:prstGeom prst="rect">
              <a:avLst/>
            </a:prstGeom>
          </p:spPr>
          <p:txBody>
            <a:bodyPr anchor="ctr" rtlCol="false" tIns="0" lIns="0" bIns="0" rIns="0"/>
            <a:lstStyle/>
            <a:p>
              <a:pPr algn="l">
                <a:lnSpc>
                  <a:spcPts val="1980"/>
                </a:lnSpc>
              </a:pPr>
              <a:r>
                <a:rPr lang="en-US" b="true" sz="1650" spc="150">
                  <a:solidFill>
                    <a:srgbClr val="FFFFFF"/>
                  </a:solidFill>
                  <a:latin typeface="Exo 2 Bold"/>
                  <a:ea typeface="Exo 2 Bold"/>
                  <a:cs typeface="Exo 2 Bold"/>
                  <a:sym typeface="Exo 2 Bold"/>
                </a:rPr>
                <a:t>DAY 3 CALL</a:t>
              </a:r>
            </a:p>
          </p:txBody>
        </p:sp>
      </p:grpSp>
      <p:grpSp>
        <p:nvGrpSpPr>
          <p:cNvPr name="Group 49" id="47"/>
          <p:cNvGrpSpPr/>
          <p:nvPr/>
        </p:nvGrpSpPr>
        <p:grpSpPr>
          <a:xfrm rot="0">
            <a:off x="9747275" y="1381125"/>
            <a:ext cx="2948940" cy="3593452"/>
            <a:chOff x="0" y="0"/>
            <a:chExt cx="3931920" cy="4791270"/>
          </a:xfrm>
        </p:grpSpPr>
        <p:sp>
          <p:nvSpPr>
            <p:cNvPr name="Freeform 50" id="48"/>
            <p:cNvSpPr/>
            <p:nvPr/>
          </p:nvSpPr>
          <p:spPr>
            <a:xfrm flipH="false" flipV="false" rot="0">
              <a:off x="0" y="0"/>
              <a:ext cx="3931920" cy="4791270"/>
            </a:xfrm>
            <a:custGeom>
              <a:avLst/>
              <a:gdLst/>
              <a:ahLst/>
              <a:cxnLst/>
              <a:rect r="r" b="b" t="t" l="l"/>
              <a:pathLst>
                <a:path h="4791270" w="3931920">
                  <a:moveTo>
                    <a:pt x="0" y="0"/>
                  </a:moveTo>
                  <a:lnTo>
                    <a:pt x="3931920" y="0"/>
                  </a:lnTo>
                  <a:lnTo>
                    <a:pt x="3931920" y="4791270"/>
                  </a:lnTo>
                  <a:lnTo>
                    <a:pt x="0" y="4791270"/>
                  </a:lnTo>
                  <a:close/>
                </a:path>
              </a:pathLst>
            </a:custGeom>
            <a:blipFill>
              <a:blip r:embed="rId2">
                <a:alphaModFix amt="0"/>
              </a:blip>
              <a:stretch>
                <a:fillRect l="-3708" t="0" r="-3708" b="65647"/>
              </a:stretch>
            </a:blipFill>
          </p:spPr>
        </p:sp>
        <p:sp>
          <p:nvSpPr>
            <p:cNvPr name="TextBox 51" id="49"/>
            <p:cNvSpPr txBox="true"/>
            <p:nvPr/>
          </p:nvSpPr>
          <p:spPr>
            <a:xfrm>
              <a:off x="0" y="-9525"/>
              <a:ext cx="3931920" cy="4800795"/>
            </a:xfrm>
            <a:prstGeom prst="rect">
              <a:avLst/>
            </a:prstGeom>
          </p:spPr>
          <p:txBody>
            <a:bodyPr anchor="ctr" rtlCol="false" tIns="0" lIns="0" bIns="0" rIns="0"/>
            <a:lstStyle/>
            <a:p>
              <a:pPr algn="ctr">
                <a:lnSpc>
                  <a:spcPts val="5880"/>
                </a:lnSpc>
              </a:pPr>
              <a:r>
                <a:rPr lang="en-US" b="true" sz="4900">
                  <a:solidFill>
                    <a:srgbClr val="FFFFFF"/>
                  </a:solidFill>
                  <a:latin typeface="Exo 2 Bold"/>
                  <a:ea typeface="Exo 2 Bold"/>
                  <a:cs typeface="Exo 2 Bold"/>
                  <a:sym typeface="Exo 2 Bold"/>
                </a:rPr>
                <a:t>3</a:t>
              </a:r>
            </a:p>
          </p:txBody>
        </p:sp>
      </p:grpSp>
      <p:grpSp>
        <p:nvGrpSpPr>
          <p:cNvPr name="Group 52" id="50"/>
          <p:cNvGrpSpPr/>
          <p:nvPr/>
        </p:nvGrpSpPr>
        <p:grpSpPr>
          <a:xfrm rot="0">
            <a:off x="9747275" y="3570976"/>
            <a:ext cx="2948940" cy="685800"/>
            <a:chOff x="0" y="0"/>
            <a:chExt cx="3931920" cy="914400"/>
          </a:xfrm>
        </p:grpSpPr>
        <p:sp>
          <p:nvSpPr>
            <p:cNvPr name="Freeform 53" id="51"/>
            <p:cNvSpPr/>
            <p:nvPr/>
          </p:nvSpPr>
          <p:spPr>
            <a:xfrm flipH="false" flipV="false" rot="0">
              <a:off x="0" y="0"/>
              <a:ext cx="3931920" cy="914400"/>
            </a:xfrm>
            <a:custGeom>
              <a:avLst/>
              <a:gdLst/>
              <a:ahLst/>
              <a:cxnLst/>
              <a:rect r="r" b="b" t="t" l="l"/>
              <a:pathLst>
                <a:path h="914400" w="3931920">
                  <a:moveTo>
                    <a:pt x="0" y="0"/>
                  </a:moveTo>
                  <a:lnTo>
                    <a:pt x="3931920" y="0"/>
                  </a:lnTo>
                  <a:lnTo>
                    <a:pt x="3931920" y="914400"/>
                  </a:lnTo>
                  <a:lnTo>
                    <a:pt x="0" y="914400"/>
                  </a:lnTo>
                  <a:close/>
                </a:path>
              </a:pathLst>
            </a:custGeom>
            <a:blipFill>
              <a:blip r:embed="rId2">
                <a:alphaModFix amt="0"/>
              </a:blip>
              <a:stretch>
                <a:fillRect l="0" t="-33785" r="0" b="-33785"/>
              </a:stretch>
            </a:blipFill>
          </p:spPr>
        </p:sp>
        <p:sp>
          <p:nvSpPr>
            <p:cNvPr name="TextBox 54" id="52"/>
            <p:cNvSpPr txBox="true"/>
            <p:nvPr/>
          </p:nvSpPr>
          <p:spPr>
            <a:xfrm>
              <a:off x="0" y="-9525"/>
              <a:ext cx="3931920" cy="923925"/>
            </a:xfrm>
            <a:prstGeom prst="rect">
              <a:avLst/>
            </a:prstGeom>
          </p:spPr>
          <p:txBody>
            <a:bodyPr anchor="ctr" rtlCol="false" tIns="0" lIns="0" bIns="0" rIns="0"/>
            <a:lstStyle/>
            <a:p>
              <a:pPr algn="ctr">
                <a:lnSpc>
                  <a:spcPts val="3240"/>
                </a:lnSpc>
              </a:pPr>
              <a:r>
                <a:rPr lang="en-US" b="true" sz="2700">
                  <a:solidFill>
                    <a:srgbClr val="FFFFFF"/>
                  </a:solidFill>
                  <a:latin typeface="Exo 2 Bold"/>
                  <a:ea typeface="Exo 2 Bold"/>
                  <a:cs typeface="Exo 2 Bold"/>
                  <a:sym typeface="Exo 2 Bold"/>
                </a:rPr>
                <a:t>Second Call</a:t>
              </a:r>
            </a:p>
          </p:txBody>
        </p:sp>
      </p:grpSp>
      <p:grpSp>
        <p:nvGrpSpPr>
          <p:cNvPr name="Group 55" id="53"/>
          <p:cNvGrpSpPr/>
          <p:nvPr/>
        </p:nvGrpSpPr>
        <p:grpSpPr>
          <a:xfrm rot="0">
            <a:off x="9836537" y="4187923"/>
            <a:ext cx="2948940" cy="1911154"/>
            <a:chOff x="0" y="0"/>
            <a:chExt cx="3931920" cy="2548205"/>
          </a:xfrm>
        </p:grpSpPr>
        <p:sp>
          <p:nvSpPr>
            <p:cNvPr name="Freeform 56" id="54"/>
            <p:cNvSpPr/>
            <p:nvPr/>
          </p:nvSpPr>
          <p:spPr>
            <a:xfrm flipH="false" flipV="false" rot="0">
              <a:off x="0" y="0"/>
              <a:ext cx="3931920" cy="2548205"/>
            </a:xfrm>
            <a:custGeom>
              <a:avLst/>
              <a:gdLst/>
              <a:ahLst/>
              <a:cxnLst/>
              <a:rect r="r" b="b" t="t" l="l"/>
              <a:pathLst>
                <a:path h="2548205" w="3931920">
                  <a:moveTo>
                    <a:pt x="0" y="0"/>
                  </a:moveTo>
                  <a:lnTo>
                    <a:pt x="3931920" y="0"/>
                  </a:lnTo>
                  <a:lnTo>
                    <a:pt x="3931920" y="2548205"/>
                  </a:lnTo>
                  <a:lnTo>
                    <a:pt x="0" y="2548205"/>
                  </a:lnTo>
                  <a:close/>
                </a:path>
              </a:pathLst>
            </a:custGeom>
            <a:blipFill>
              <a:blip r:embed="rId2">
                <a:alphaModFix amt="0"/>
              </a:blip>
              <a:stretch>
                <a:fillRect l="-69352" t="0" r="-69352" b="-43536"/>
              </a:stretch>
            </a:blipFill>
          </p:spPr>
        </p:sp>
        <p:sp>
          <p:nvSpPr>
            <p:cNvPr name="TextBox 57" id="55"/>
            <p:cNvSpPr txBox="true"/>
            <p:nvPr/>
          </p:nvSpPr>
          <p:spPr>
            <a:xfrm>
              <a:off x="0" y="-57150"/>
              <a:ext cx="3931920" cy="2605355"/>
            </a:xfrm>
            <a:prstGeom prst="rect">
              <a:avLst/>
            </a:prstGeom>
          </p:spPr>
          <p:txBody>
            <a:bodyPr anchor="ctr" rtlCol="false" tIns="0" lIns="0" bIns="0" rIns="0"/>
            <a:lstStyle/>
            <a:p>
              <a:pPr algn="ctr">
                <a:lnSpc>
                  <a:spcPts val="2700"/>
                </a:lnSpc>
              </a:pPr>
              <a:r>
                <a:rPr lang="en-US" sz="1875">
                  <a:solidFill>
                    <a:srgbClr val="FFFFFF"/>
                  </a:solidFill>
                  <a:latin typeface="Exo 2"/>
                  <a:ea typeface="Exo 2"/>
                  <a:cs typeface="Exo 2"/>
                  <a:sym typeface="Exo 2"/>
                </a:rPr>
                <a:t>fo</a:t>
              </a:r>
              <a:r>
                <a:rPr lang="en-US" sz="1875">
                  <a:solidFill>
                    <a:srgbClr val="FFFFFF"/>
                  </a:solidFill>
                  <a:latin typeface="Exo 2"/>
                  <a:ea typeface="Exo 2"/>
                  <a:cs typeface="Exo 2"/>
                  <a:sym typeface="Exo 2"/>
                </a:rPr>
                <a:t>llow up with a second call, conveying greater urgency and offering to walk the client through the process live.</a:t>
              </a:r>
            </a:p>
          </p:txBody>
        </p:sp>
      </p:grpSp>
      <p:grpSp>
        <p:nvGrpSpPr>
          <p:cNvPr name="Group 58" id="56"/>
          <p:cNvGrpSpPr/>
          <p:nvPr/>
        </p:nvGrpSpPr>
        <p:grpSpPr>
          <a:xfrm rot="0">
            <a:off x="13903223" y="2225888"/>
            <a:ext cx="2948940" cy="480060"/>
            <a:chOff x="0" y="0"/>
            <a:chExt cx="3931920" cy="640080"/>
          </a:xfrm>
        </p:grpSpPr>
        <p:sp>
          <p:nvSpPr>
            <p:cNvPr name="Freeform 59" id="57"/>
            <p:cNvSpPr/>
            <p:nvPr/>
          </p:nvSpPr>
          <p:spPr>
            <a:xfrm flipH="false" flipV="false" rot="0">
              <a:off x="0" y="0"/>
              <a:ext cx="3931920" cy="640080"/>
            </a:xfrm>
            <a:custGeom>
              <a:avLst/>
              <a:gdLst/>
              <a:ahLst/>
              <a:cxnLst/>
              <a:rect r="r" b="b" t="t" l="l"/>
              <a:pathLst>
                <a:path h="640080" w="3931920">
                  <a:moveTo>
                    <a:pt x="0" y="0"/>
                  </a:moveTo>
                  <a:lnTo>
                    <a:pt x="3931920" y="0"/>
                  </a:lnTo>
                  <a:lnTo>
                    <a:pt x="3931920" y="640080"/>
                  </a:lnTo>
                  <a:lnTo>
                    <a:pt x="0" y="640080"/>
                  </a:lnTo>
                  <a:close/>
                </a:path>
              </a:pathLst>
            </a:custGeom>
            <a:blipFill>
              <a:blip r:embed="rId2">
                <a:alphaModFix amt="0"/>
              </a:blip>
              <a:stretch>
                <a:fillRect l="0" t="-69693" r="0" b="-69693"/>
              </a:stretch>
            </a:blipFill>
          </p:spPr>
        </p:sp>
        <p:sp>
          <p:nvSpPr>
            <p:cNvPr name="TextBox 60" id="58"/>
            <p:cNvSpPr txBox="true"/>
            <p:nvPr/>
          </p:nvSpPr>
          <p:spPr>
            <a:xfrm>
              <a:off x="0" y="0"/>
              <a:ext cx="3931920" cy="640080"/>
            </a:xfrm>
            <a:prstGeom prst="rect">
              <a:avLst/>
            </a:prstGeom>
          </p:spPr>
          <p:txBody>
            <a:bodyPr anchor="ctr" rtlCol="false" tIns="0" lIns="0" bIns="0" rIns="0"/>
            <a:lstStyle/>
            <a:p>
              <a:pPr algn="l">
                <a:lnSpc>
                  <a:spcPts val="1980"/>
                </a:lnSpc>
              </a:pPr>
              <a:r>
                <a:rPr lang="en-US" b="true" sz="1650" spc="150">
                  <a:solidFill>
                    <a:srgbClr val="F4F6FA"/>
                  </a:solidFill>
                  <a:latin typeface="Exo 2 Bold"/>
                  <a:ea typeface="Exo 2 Bold"/>
                  <a:cs typeface="Exo 2 Bold"/>
                  <a:sym typeface="Exo 2 Bold"/>
                </a:rPr>
                <a:t>DAY 3 EMAIL</a:t>
              </a:r>
            </a:p>
          </p:txBody>
        </p:sp>
      </p:grpSp>
      <p:grpSp>
        <p:nvGrpSpPr>
          <p:cNvPr name="Group 61" id="59"/>
          <p:cNvGrpSpPr/>
          <p:nvPr/>
        </p:nvGrpSpPr>
        <p:grpSpPr>
          <a:xfrm rot="0">
            <a:off x="14160198" y="2560631"/>
            <a:ext cx="2948940" cy="1234440"/>
            <a:chOff x="0" y="0"/>
            <a:chExt cx="3931920" cy="1645920"/>
          </a:xfrm>
        </p:grpSpPr>
        <p:sp>
          <p:nvSpPr>
            <p:cNvPr name="Freeform 62" id="60"/>
            <p:cNvSpPr/>
            <p:nvPr/>
          </p:nvSpPr>
          <p:spPr>
            <a:xfrm flipH="false" flipV="false" rot="0">
              <a:off x="0" y="0"/>
              <a:ext cx="3931920" cy="1645920"/>
            </a:xfrm>
            <a:custGeom>
              <a:avLst/>
              <a:gdLst/>
              <a:ahLst/>
              <a:cxnLst/>
              <a:rect r="r" b="b" t="t" l="l"/>
              <a:pathLst>
                <a:path h="1645920" w="3931920">
                  <a:moveTo>
                    <a:pt x="0" y="0"/>
                  </a:moveTo>
                  <a:lnTo>
                    <a:pt x="3931920" y="0"/>
                  </a:lnTo>
                  <a:lnTo>
                    <a:pt x="3931920" y="1645920"/>
                  </a:lnTo>
                  <a:lnTo>
                    <a:pt x="0" y="1645920"/>
                  </a:lnTo>
                  <a:close/>
                </a:path>
              </a:pathLst>
            </a:custGeom>
            <a:blipFill>
              <a:blip r:embed="rId2">
                <a:alphaModFix amt="0"/>
              </a:blip>
              <a:stretch>
                <a:fillRect l="-3708" t="0" r="-3708" b="0"/>
              </a:stretch>
            </a:blipFill>
          </p:spPr>
        </p:sp>
        <p:sp>
          <p:nvSpPr>
            <p:cNvPr name="TextBox 63" id="61"/>
            <p:cNvSpPr txBox="true"/>
            <p:nvPr/>
          </p:nvSpPr>
          <p:spPr>
            <a:xfrm>
              <a:off x="0" y="-9525"/>
              <a:ext cx="3931920" cy="1655445"/>
            </a:xfrm>
            <a:prstGeom prst="rect">
              <a:avLst/>
            </a:prstGeom>
          </p:spPr>
          <p:txBody>
            <a:bodyPr anchor="ctr" rtlCol="false" tIns="0" lIns="0" bIns="0" rIns="0"/>
            <a:lstStyle/>
            <a:p>
              <a:pPr algn="ctr">
                <a:lnSpc>
                  <a:spcPts val="5880"/>
                </a:lnSpc>
              </a:pPr>
              <a:r>
                <a:rPr lang="en-US" b="true" sz="4900">
                  <a:solidFill>
                    <a:srgbClr val="F4F6FA"/>
                  </a:solidFill>
                  <a:latin typeface="Exo 2 Bold"/>
                  <a:ea typeface="Exo 2 Bold"/>
                  <a:cs typeface="Exo 2 Bold"/>
                  <a:sym typeface="Exo 2 Bold"/>
                </a:rPr>
                <a:t>4</a:t>
              </a:r>
            </a:p>
          </p:txBody>
        </p:sp>
      </p:grpSp>
      <p:grpSp>
        <p:nvGrpSpPr>
          <p:cNvPr name="Group 64" id="62"/>
          <p:cNvGrpSpPr/>
          <p:nvPr/>
        </p:nvGrpSpPr>
        <p:grpSpPr>
          <a:xfrm rot="0">
            <a:off x="14233765" y="3570976"/>
            <a:ext cx="2948940" cy="685800"/>
            <a:chOff x="0" y="0"/>
            <a:chExt cx="3931920" cy="914400"/>
          </a:xfrm>
        </p:grpSpPr>
        <p:sp>
          <p:nvSpPr>
            <p:cNvPr name="Freeform 65" id="63"/>
            <p:cNvSpPr/>
            <p:nvPr/>
          </p:nvSpPr>
          <p:spPr>
            <a:xfrm flipH="false" flipV="false" rot="0">
              <a:off x="0" y="0"/>
              <a:ext cx="3931920" cy="914400"/>
            </a:xfrm>
            <a:custGeom>
              <a:avLst/>
              <a:gdLst/>
              <a:ahLst/>
              <a:cxnLst/>
              <a:rect r="r" b="b" t="t" l="l"/>
              <a:pathLst>
                <a:path h="914400" w="3931920">
                  <a:moveTo>
                    <a:pt x="0" y="0"/>
                  </a:moveTo>
                  <a:lnTo>
                    <a:pt x="3931920" y="0"/>
                  </a:lnTo>
                  <a:lnTo>
                    <a:pt x="3931920" y="914400"/>
                  </a:lnTo>
                  <a:lnTo>
                    <a:pt x="0" y="914400"/>
                  </a:lnTo>
                  <a:close/>
                </a:path>
              </a:pathLst>
            </a:custGeom>
            <a:blipFill>
              <a:blip r:embed="rId2">
                <a:alphaModFix amt="0"/>
              </a:blip>
              <a:stretch>
                <a:fillRect l="0" t="-33785" r="0" b="-33785"/>
              </a:stretch>
            </a:blipFill>
          </p:spPr>
        </p:sp>
        <p:sp>
          <p:nvSpPr>
            <p:cNvPr name="TextBox 66" id="64"/>
            <p:cNvSpPr txBox="true"/>
            <p:nvPr/>
          </p:nvSpPr>
          <p:spPr>
            <a:xfrm>
              <a:off x="0" y="-9525"/>
              <a:ext cx="3931920" cy="923925"/>
            </a:xfrm>
            <a:prstGeom prst="rect">
              <a:avLst/>
            </a:prstGeom>
          </p:spPr>
          <p:txBody>
            <a:bodyPr anchor="ctr" rtlCol="false" tIns="0" lIns="0" bIns="0" rIns="0"/>
            <a:lstStyle/>
            <a:p>
              <a:pPr algn="ctr">
                <a:lnSpc>
                  <a:spcPts val="3240"/>
                </a:lnSpc>
              </a:pPr>
              <a:r>
                <a:rPr lang="en-US" b="true" sz="2700">
                  <a:solidFill>
                    <a:srgbClr val="F4F6FA"/>
                  </a:solidFill>
                  <a:latin typeface="Exo 2 Bold"/>
                  <a:ea typeface="Exo 2 Bold"/>
                  <a:cs typeface="Exo 2 Bold"/>
                  <a:sym typeface="Exo 2 Bold"/>
                </a:rPr>
                <a:t>Follow-Up Email</a:t>
              </a:r>
            </a:p>
          </p:txBody>
        </p:sp>
      </p:grpSp>
      <p:grpSp>
        <p:nvGrpSpPr>
          <p:cNvPr name="Group 67" id="65"/>
          <p:cNvGrpSpPr/>
          <p:nvPr/>
        </p:nvGrpSpPr>
        <p:grpSpPr>
          <a:xfrm rot="0">
            <a:off x="14038807" y="3771900"/>
            <a:ext cx="3338857" cy="2743200"/>
            <a:chOff x="0" y="0"/>
            <a:chExt cx="4451809" cy="3657600"/>
          </a:xfrm>
        </p:grpSpPr>
        <p:sp>
          <p:nvSpPr>
            <p:cNvPr name="Freeform 68" id="66"/>
            <p:cNvSpPr/>
            <p:nvPr/>
          </p:nvSpPr>
          <p:spPr>
            <a:xfrm flipH="false" flipV="false" rot="0">
              <a:off x="0" y="0"/>
              <a:ext cx="4451809" cy="3657600"/>
            </a:xfrm>
            <a:custGeom>
              <a:avLst/>
              <a:gdLst/>
              <a:ahLst/>
              <a:cxnLst/>
              <a:rect r="r" b="b" t="t" l="l"/>
              <a:pathLst>
                <a:path h="3657600" w="4451809">
                  <a:moveTo>
                    <a:pt x="0" y="0"/>
                  </a:moveTo>
                  <a:lnTo>
                    <a:pt x="4451809" y="0"/>
                  </a:lnTo>
                  <a:lnTo>
                    <a:pt x="4451809" y="3657600"/>
                  </a:lnTo>
                  <a:lnTo>
                    <a:pt x="0" y="3657600"/>
                  </a:lnTo>
                  <a:close/>
                </a:path>
              </a:pathLst>
            </a:custGeom>
            <a:blipFill>
              <a:blip r:embed="rId2">
                <a:alphaModFix amt="0"/>
              </a:blip>
              <a:stretch>
                <a:fillRect l="-61253" t="0" r="-49574" b="0"/>
              </a:stretch>
            </a:blipFill>
          </p:spPr>
        </p:sp>
        <p:sp>
          <p:nvSpPr>
            <p:cNvPr name="TextBox 69" id="67"/>
            <p:cNvSpPr txBox="true"/>
            <p:nvPr/>
          </p:nvSpPr>
          <p:spPr>
            <a:xfrm>
              <a:off x="0" y="-57150"/>
              <a:ext cx="4451809" cy="3714750"/>
            </a:xfrm>
            <a:prstGeom prst="rect">
              <a:avLst/>
            </a:prstGeom>
          </p:spPr>
          <p:txBody>
            <a:bodyPr anchor="ctr" rtlCol="false" tIns="0" lIns="0" bIns="0" rIns="0"/>
            <a:lstStyle/>
            <a:p>
              <a:pPr algn="ctr">
                <a:lnSpc>
                  <a:spcPts val="2700"/>
                </a:lnSpc>
              </a:pPr>
              <a:r>
                <a:rPr lang="en-US" sz="1875">
                  <a:solidFill>
                    <a:srgbClr val="F4F6FA"/>
                  </a:solidFill>
                  <a:latin typeface="Exo 2"/>
                  <a:ea typeface="Exo 2"/>
                  <a:cs typeface="Exo 2"/>
                  <a:sym typeface="Exo 2"/>
                </a:rPr>
                <a:t>Send campaign emails to re-engage clients who remain stuck mid-onboarding or have not yet funded their account</a:t>
              </a:r>
            </a:p>
          </p:txBody>
        </p:sp>
      </p:grpSp>
      <p:sp>
        <p:nvSpPr>
          <p:cNvPr name="TextBox 70" id="68"/>
          <p:cNvSpPr txBox="true"/>
          <p:nvPr/>
        </p:nvSpPr>
        <p:spPr>
          <a:xfrm rot="0">
            <a:off x="755850" y="6782377"/>
            <a:ext cx="3158133" cy="457200"/>
          </a:xfrm>
          <a:prstGeom prst="rect">
            <a:avLst/>
          </a:prstGeom>
        </p:spPr>
        <p:txBody>
          <a:bodyPr anchor="t" rtlCol="false" tIns="0" lIns="0" bIns="0" rIns="0">
            <a:spAutoFit/>
          </a:bodyPr>
          <a:lstStyle/>
          <a:p>
            <a:pPr algn="l">
              <a:lnSpc>
                <a:spcPts val="3510"/>
              </a:lnSpc>
            </a:pPr>
            <a:r>
              <a:rPr lang="en-US" b="true" sz="2925">
                <a:solidFill>
                  <a:srgbClr val="1F3B8C"/>
                </a:solidFill>
                <a:latin typeface="Arimo Bold"/>
                <a:ea typeface="Arimo Bold"/>
                <a:cs typeface="Arimo Bold"/>
                <a:sym typeface="Arimo Bold"/>
              </a:rPr>
              <a:t>Contact Channels</a:t>
            </a:r>
          </a:p>
        </p:txBody>
      </p:sp>
      <p:grpSp>
        <p:nvGrpSpPr>
          <p:cNvPr name="Group 71" id="69"/>
          <p:cNvGrpSpPr/>
          <p:nvPr/>
        </p:nvGrpSpPr>
        <p:grpSpPr>
          <a:xfrm rot="0">
            <a:off x="755850" y="7372927"/>
            <a:ext cx="16605885" cy="451910"/>
            <a:chOff x="0" y="0"/>
            <a:chExt cx="22141180" cy="602546"/>
          </a:xfrm>
        </p:grpSpPr>
        <p:grpSp>
          <p:nvGrpSpPr>
            <p:cNvPr name="Group 72" id="70"/>
            <p:cNvGrpSpPr/>
            <p:nvPr/>
          </p:nvGrpSpPr>
          <p:grpSpPr>
            <a:xfrm rot="0">
              <a:off x="524764" y="0"/>
              <a:ext cx="21616416" cy="602546"/>
              <a:chOff x="0" y="0"/>
              <a:chExt cx="21616416" cy="602546"/>
            </a:xfrm>
          </p:grpSpPr>
          <p:sp>
            <p:nvSpPr>
              <p:cNvPr name="Freeform 73" id="71"/>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74" id="72"/>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Phone Calls: direct phone outreach for onboarding guidance and follow-ups</a:t>
                </a:r>
              </a:p>
            </p:txBody>
          </p:sp>
        </p:grpSp>
        <p:grpSp>
          <p:nvGrpSpPr>
            <p:cNvPr name="Group 75" id="73"/>
            <p:cNvGrpSpPr/>
            <p:nvPr/>
          </p:nvGrpSpPr>
          <p:grpSpPr>
            <a:xfrm rot="0">
              <a:off x="0" y="164453"/>
              <a:ext cx="370790" cy="324441"/>
              <a:chOff x="0" y="0"/>
              <a:chExt cx="812800" cy="711200"/>
            </a:xfrm>
          </p:grpSpPr>
          <p:sp>
            <p:nvSpPr>
              <p:cNvPr name="Freeform 76" id="74"/>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0"/>
                <a:stretch>
                  <a:fillRect/>
                </a:stretch>
              </a:blipFill>
            </p:spPr>
          </p:sp>
          <p:sp>
            <p:nvSpPr>
              <p:cNvPr name="TextBox 77" id="75"/>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grpSp>
        <p:nvGrpSpPr>
          <p:cNvPr name="Group 78" id="76"/>
          <p:cNvGrpSpPr/>
          <p:nvPr/>
        </p:nvGrpSpPr>
        <p:grpSpPr>
          <a:xfrm rot="0">
            <a:off x="755850" y="7948662"/>
            <a:ext cx="16605885" cy="451910"/>
            <a:chOff x="0" y="0"/>
            <a:chExt cx="22141180" cy="602546"/>
          </a:xfrm>
        </p:grpSpPr>
        <p:grpSp>
          <p:nvGrpSpPr>
            <p:cNvPr name="Group 79" id="77"/>
            <p:cNvGrpSpPr/>
            <p:nvPr/>
          </p:nvGrpSpPr>
          <p:grpSpPr>
            <a:xfrm rot="0">
              <a:off x="524764" y="0"/>
              <a:ext cx="21616416" cy="602546"/>
              <a:chOff x="0" y="0"/>
              <a:chExt cx="21616416" cy="602546"/>
            </a:xfrm>
          </p:grpSpPr>
          <p:sp>
            <p:nvSpPr>
              <p:cNvPr name="Freeform 80" id="78"/>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81" id="79"/>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Emails: reminders, document lists, and campaign follow-ups</a:t>
                </a:r>
              </a:p>
            </p:txBody>
          </p:sp>
        </p:grpSp>
        <p:grpSp>
          <p:nvGrpSpPr>
            <p:cNvPr name="Group 82" id="80"/>
            <p:cNvGrpSpPr/>
            <p:nvPr/>
          </p:nvGrpSpPr>
          <p:grpSpPr>
            <a:xfrm rot="0">
              <a:off x="0" y="164453"/>
              <a:ext cx="370790" cy="324441"/>
              <a:chOff x="0" y="0"/>
              <a:chExt cx="812800" cy="711200"/>
            </a:xfrm>
          </p:grpSpPr>
          <p:sp>
            <p:nvSpPr>
              <p:cNvPr name="Freeform 83" id="81"/>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0"/>
                <a:stretch>
                  <a:fillRect/>
                </a:stretch>
              </a:blipFill>
            </p:spPr>
          </p:sp>
          <p:sp>
            <p:nvSpPr>
              <p:cNvPr name="TextBox 84" id="82"/>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grpSp>
        <p:nvGrpSpPr>
          <p:cNvPr name="Group 85" id="83"/>
          <p:cNvGrpSpPr/>
          <p:nvPr/>
        </p:nvGrpSpPr>
        <p:grpSpPr>
          <a:xfrm rot="0">
            <a:off x="755850" y="8524397"/>
            <a:ext cx="16605885" cy="451910"/>
            <a:chOff x="0" y="0"/>
            <a:chExt cx="22141180" cy="602546"/>
          </a:xfrm>
        </p:grpSpPr>
        <p:grpSp>
          <p:nvGrpSpPr>
            <p:cNvPr name="Group 86" id="84"/>
            <p:cNvGrpSpPr/>
            <p:nvPr/>
          </p:nvGrpSpPr>
          <p:grpSpPr>
            <a:xfrm rot="0">
              <a:off x="524764" y="0"/>
              <a:ext cx="21616416" cy="602546"/>
              <a:chOff x="0" y="0"/>
              <a:chExt cx="21616416" cy="602546"/>
            </a:xfrm>
          </p:grpSpPr>
          <p:sp>
            <p:nvSpPr>
              <p:cNvPr name="Freeform 87" id="85"/>
              <p:cNvSpPr/>
              <p:nvPr/>
            </p:nvSpPr>
            <p:spPr>
              <a:xfrm flipH="false" flipV="false" rot="0">
                <a:off x="0" y="0"/>
                <a:ext cx="21616415" cy="602546"/>
              </a:xfrm>
              <a:custGeom>
                <a:avLst/>
                <a:gdLst/>
                <a:ahLst/>
                <a:cxnLst/>
                <a:rect r="r" b="b" t="t" l="l"/>
                <a:pathLst>
                  <a:path h="602546" w="21616415">
                    <a:moveTo>
                      <a:pt x="0" y="0"/>
                    </a:moveTo>
                    <a:lnTo>
                      <a:pt x="21616415" y="0"/>
                    </a:lnTo>
                    <a:lnTo>
                      <a:pt x="21616415" y="602546"/>
                    </a:lnTo>
                    <a:lnTo>
                      <a:pt x="0" y="602546"/>
                    </a:lnTo>
                    <a:close/>
                  </a:path>
                </a:pathLst>
              </a:custGeom>
              <a:blipFill>
                <a:blip r:embed="rId2">
                  <a:alphaModFix amt="0"/>
                </a:blip>
                <a:stretch>
                  <a:fillRect l="0" t="-656536" r="0" b="-641519"/>
                </a:stretch>
              </a:blipFill>
            </p:spPr>
          </p:sp>
          <p:sp>
            <p:nvSpPr>
              <p:cNvPr name="TextBox 88" id="86"/>
              <p:cNvSpPr txBox="true"/>
              <p:nvPr/>
            </p:nvSpPr>
            <p:spPr>
              <a:xfrm>
                <a:off x="0" y="0"/>
                <a:ext cx="21616416" cy="602546"/>
              </a:xfrm>
              <a:prstGeom prst="rect">
                <a:avLst/>
              </a:prstGeom>
            </p:spPr>
            <p:txBody>
              <a:bodyPr anchor="ctr" rtlCol="false" tIns="0" lIns="0" bIns="0" rIns="0"/>
              <a:lstStyle/>
              <a:p>
                <a:pPr algn="just">
                  <a:lnSpc>
                    <a:spcPts val="2579"/>
                  </a:lnSpc>
                </a:pPr>
                <a:r>
                  <a:rPr lang="en-US" sz="2149">
                    <a:solidFill>
                      <a:srgbClr val="5A6A85"/>
                    </a:solidFill>
                    <a:latin typeface="Exo 2"/>
                    <a:ea typeface="Exo 2"/>
                    <a:cs typeface="Exo 2"/>
                    <a:sym typeface="Exo 2"/>
                  </a:rPr>
                  <a:t>Business WhatsApp (In Progress): planned addition to reach clients faster and more directly</a:t>
                </a:r>
              </a:p>
            </p:txBody>
          </p:sp>
        </p:grpSp>
        <p:grpSp>
          <p:nvGrpSpPr>
            <p:cNvPr name="Group 89" id="87"/>
            <p:cNvGrpSpPr/>
            <p:nvPr/>
          </p:nvGrpSpPr>
          <p:grpSpPr>
            <a:xfrm rot="0">
              <a:off x="0" y="164453"/>
              <a:ext cx="370790" cy="324441"/>
              <a:chOff x="0" y="0"/>
              <a:chExt cx="812800" cy="711200"/>
            </a:xfrm>
          </p:grpSpPr>
          <p:sp>
            <p:nvSpPr>
              <p:cNvPr name="Freeform 90" id="88"/>
              <p:cNvSpPr/>
              <p:nvPr/>
            </p:nvSpPr>
            <p:spPr>
              <a:xfrm flipH="false" flipV="false" rot="0">
                <a:off x="0" y="0"/>
                <a:ext cx="812800" cy="711200"/>
              </a:xfrm>
              <a:custGeom>
                <a:avLst/>
                <a:gdLst/>
                <a:ahLst/>
                <a:cxnLst/>
                <a:rect r="r" b="b" t="t" l="l"/>
                <a:pathLst>
                  <a:path h="711200" w="812800">
                    <a:moveTo>
                      <a:pt x="406400" y="711200"/>
                    </a:moveTo>
                    <a:lnTo>
                      <a:pt x="812800" y="0"/>
                    </a:lnTo>
                    <a:lnTo>
                      <a:pt x="0" y="0"/>
                    </a:lnTo>
                    <a:lnTo>
                      <a:pt x="406400" y="711200"/>
                    </a:lnTo>
                    <a:close/>
                  </a:path>
                </a:pathLst>
              </a:custGeom>
              <a:blipFill>
                <a:blip r:embed="rId10"/>
                <a:stretch>
                  <a:fillRect/>
                </a:stretch>
              </a:blipFill>
            </p:spPr>
          </p:sp>
          <p:sp>
            <p:nvSpPr>
              <p:cNvPr name="TextBox 91" id="89"/>
              <p:cNvSpPr txBox="true"/>
              <p:nvPr/>
            </p:nvSpPr>
            <p:spPr>
              <a:xfrm>
                <a:off x="127000" y="41275"/>
                <a:ext cx="558800" cy="339725"/>
              </a:xfrm>
              <a:prstGeom prst="rect">
                <a:avLst/>
              </a:prstGeom>
            </p:spPr>
            <p:txBody>
              <a:bodyPr anchor="ctr" rtlCol="false" tIns="50800" lIns="50800" bIns="50800" rIns="50800"/>
              <a:lstStyle/>
              <a:p>
                <a:pPr algn="just">
                  <a:lnSpc>
                    <a:spcPts val="1800"/>
                  </a:lnSpc>
                </a:pPr>
              </a:p>
            </p:txBody>
          </p:sp>
        </p:grpSp>
      </p:grpSp>
      <p:grpSp>
        <p:nvGrpSpPr>
          <p:cNvPr name="Group 6" id="90"/>
          <p:cNvGrpSpPr/>
          <p:nvPr/>
        </p:nvGrpSpPr>
        <p:grpSpPr>
          <a:xfrm rot="0">
            <a:off x="850392" y="297596"/>
            <a:ext cx="13990320" cy="1124712"/>
            <a:chOff x="0" y="0"/>
            <a:chExt cx="18653760" cy="1499616"/>
          </a:xfrm>
        </p:grpSpPr>
        <p:sp>
          <p:nvSpPr>
            <p:cNvPr name="Freeform 7" id="91"/>
            <p:cNvSpPr/>
            <p:nvPr/>
          </p:nvSpPr>
          <p:spPr>
            <a:xfrm flipH="false" flipV="false" rot="0">
              <a:off x="0" y="0"/>
              <a:ext cx="18653761" cy="1499616"/>
            </a:xfrm>
            <a:custGeom>
              <a:avLst/>
              <a:gdLst/>
              <a:ahLst/>
              <a:cxnLst/>
              <a:rect r="r" b="b" t="t" l="l"/>
              <a:pathLst>
                <a:path h="1499616" w="18653761">
                  <a:moveTo>
                    <a:pt x="0" y="0"/>
                  </a:moveTo>
                  <a:lnTo>
                    <a:pt x="18653761" y="0"/>
                  </a:lnTo>
                  <a:lnTo>
                    <a:pt x="18653761" y="1499616"/>
                  </a:lnTo>
                  <a:lnTo>
                    <a:pt x="0" y="1499616"/>
                  </a:lnTo>
                  <a:close/>
                </a:path>
              </a:pathLst>
            </a:custGeom>
            <a:blipFill>
              <a:blip r:embed="rId2">
                <a:alphaModFix amt="0"/>
              </a:blip>
              <a:stretch>
                <a:fillRect l="0" t="-192374" r="0" b="-192374"/>
              </a:stretch>
            </a:blipFill>
          </p:spPr>
        </p:sp>
        <p:sp>
          <p:nvSpPr>
            <p:cNvPr name="TextBox 8" id="92"/>
            <p:cNvSpPr txBox="true"/>
            <p:nvPr/>
          </p:nvSpPr>
          <p:spPr>
            <a:xfrm>
              <a:off x="0" y="-9525"/>
              <a:ext cx="18653760" cy="1509141"/>
            </a:xfrm>
            <a:prstGeom prst="rect">
              <a:avLst/>
            </a:prstGeom>
          </p:spPr>
          <p:txBody>
            <a:bodyPr anchor="ctr" rtlCol="false" tIns="0" lIns="0" bIns="0" rIns="0"/>
            <a:lstStyle/>
            <a:p>
              <a:pPr algn="l">
                <a:lnSpc>
                  <a:spcPts val="3600"/>
                </a:lnSpc>
              </a:pPr>
              <a:r>
                <a:rPr lang="en-US" sz="3000" b="true">
                  <a:solidFill>
                    <a:srgbClr val="FFFFFF"/>
                  </a:solidFill>
                  <a:latin typeface="Exo 2 Bold"/>
                  <a:ea typeface="Exo 2 Bold"/>
                  <a:cs typeface="Exo 2 Bold"/>
                  <a:sym typeface="Exo 2 Bold"/>
                </a:rPr>
                <a:t>Client Interaction Journey</a:t>
              </a:r>
            </a:p>
          </p:txBody>
        </p:sp>
      </p:grpSp>
      <p:grpSp>
        <p:nvGrpSpPr>
          <p:cNvPr name="Group 9" id="93"/>
          <p:cNvGrpSpPr/>
          <p:nvPr/>
        </p:nvGrpSpPr>
        <p:grpSpPr>
          <a:xfrm rot="0">
            <a:off x="15457932" y="571916"/>
            <a:ext cx="1988820" cy="576072"/>
            <a:chOff x="0" y="0"/>
            <a:chExt cx="2651760" cy="768096"/>
          </a:xfrm>
        </p:grpSpPr>
        <p:sp>
          <p:nvSpPr>
            <p:cNvPr name="Freeform 10" id="94" descr="/home/user/HatemIsa_202508993_IT9002_NLP_Project/emyaa-ceo-deck/working/charts/ajyad_white.png"/>
            <p:cNvSpPr/>
            <p:nvPr/>
          </p:nvSpPr>
          <p:spPr>
            <a:xfrm flipH="false" flipV="false" rot="0">
              <a:off x="0" y="0"/>
              <a:ext cx="2651760" cy="768096"/>
            </a:xfrm>
            <a:custGeom>
              <a:avLst/>
              <a:gdLst/>
              <a:ahLst/>
              <a:cxnLst/>
              <a:rect r="r" b="b" t="t" l="l"/>
              <a:pathLst>
                <a:path h="768096" w="2651760">
                  <a:moveTo>
                    <a:pt x="0" y="0"/>
                  </a:moveTo>
                  <a:lnTo>
                    <a:pt x="2651760" y="0"/>
                  </a:lnTo>
                  <a:lnTo>
                    <a:pt x="2651760" y="768096"/>
                  </a:lnTo>
                  <a:lnTo>
                    <a:pt x="0" y="768096"/>
                  </a:lnTo>
                  <a:lnTo>
                    <a:pt x="0" y="0"/>
                  </a:lnTo>
                  <a:close/>
                </a:path>
              </a:pathLst>
            </a:custGeom>
            <a:blipFill>
              <a:blip r:embed="rId7"/>
              <a:stretch>
                <a:fillRect l="0" t="-26" r="0" b="-26"/>
              </a:stretch>
            </a:blipFill>
          </p:spPr>
        </p:sp>
      </p:grpSp>
      <p:sp>
        <p:nvSpPr>
          <p:cNvPr name="TextBox 13" id="95"/>
          <p:cNvSpPr txBox="true"/>
          <p:nvPr/>
        </p:nvSpPr>
        <p:spPr>
          <a:xfrm rot="0">
            <a:off x="850392" y="401955"/>
            <a:ext cx="13716000" cy="209550"/>
          </a:xfrm>
          <a:prstGeom prst="rect">
            <a:avLst/>
          </a:prstGeom>
        </p:spPr>
        <p:txBody>
          <a:bodyPr anchor="t" rtlCol="false" tIns="0" lIns="0" bIns="0" rIns="0">
            <a:spAutoFit/>
          </a:bodyPr>
          <a:lstStyle/>
          <a:p>
            <a:pPr algn="l">
              <a:lnSpc>
                <a:spcPts val="1620"/>
              </a:lnSpc>
            </a:pPr>
            <a:r>
              <a:rPr lang="en-US" b="true" sz="1350" spc="299">
                <a:solidFill>
                  <a:srgbClr val="D4AF37"/>
                </a:solidFill>
                <a:latin typeface="Exo 2 Bold"/>
                <a:ea typeface="Exo 2 Bold"/>
                <a:cs typeface="Exo 2 Bold"/>
                <a:sym typeface="Exo 2 Bold"/>
              </a:rPr>
              <a:t>APPENDIX  |  CLIENT EXPERIENCE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DAHWeaDiLTo</dc:identifier>
  <dcterms:modified xsi:type="dcterms:W3CDTF">2011-08-01T06:04:30Z</dcterms:modified>
  <cp:revision>1</cp:revision>
  <dc:title>eMYAA Progress Update CEO - 01.10.2026</dc:title>
</cp:coreProperties>
</file>