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embeddedFontLst>
    <p:embeddedFont>
      <p:font typeface="Exo 2" charset="0"/>
      <p:regular r:id="rId19"/>
      <p:bold r:id="rId20"/>
      <p:italic r:id="rId21"/>
      <p:boldItalic r:id="rId2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font" Target="fonts/emyaa-font1.fntdata"/><Relationship Id="rId20" Type="http://schemas.openxmlformats.org/officeDocument/2006/relationships/font" Target="fonts/emyaa-font2.fntdata"/><Relationship Id="rId21" Type="http://schemas.openxmlformats.org/officeDocument/2006/relationships/font" Target="fonts/emyaa-font3.fntdata"/><Relationship Id="rId22" Type="http://schemas.openxmlformats.org/officeDocument/2006/relationships/font" Target="fonts/emyaa-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facts from the eMYAA Board pack (17 and 29 Sep 2026). Ajyad Capital is licensed by the Central Bank of Bahrain as an Islamic investment firm, Category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signal: Google Ads targeted at Saudi residents went live on 22 Sep 2026 and brought 70% of eMYAA website sessions in September (409 of 587, GA4, 1-28 Sep). Budgets are not shown in this external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Segments and hooks from the eMYAA Board pack (29 Sep 2026). Customer acquisition cost targets are internal and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Rollout phases from the paid media plan with Ignite (Sep 2026) and the Board runway (Sep to Dec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Ads live since 22 Sep 2026, targeting Saudi Arabia and Riyadh, restricted to Saudi residents (Ignite). LinkedIn lead generation targets the Affluent segment; launch being confirmed with Ignite in October. GA4: 409 of 587 September sessions from google / cpc; English ads 212 sessions (97.2% engagement), Arabic 176 (86.9%), 1-28 Sep.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Creator programme: one creator video a month (24F and eMYAA content calendars). Musheera 5.3M and Ali Sabeel 1.3M views on Instagram (profile screenshot). Abdulelah Al Harbi masterclass posted on Instagram in October and sponsored through Ignite. Manal Talal scheduled for 22 Oct (October calendar V2). Mention &amp; Win: monthly $500 contest across the GCC.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proposed by Nadher Media (Sep 2026): elevator screens in 83 commercial towers in Riyadh and the Eastern Province (e.g. Al Nakhlah Tower, Tamkeen Tower, Faseelah Square, Laysen Valley) and 8 prime LED screens at The Zone, Riyadh. Frequency per Nadher: 2,490 plays an hour, about 1.67 million plays in four weeks (ad plays, not unique viewers). Rates are confidential to eMYAA and not shown. Status: under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Jodel facts from Nadher Media's proposal (Sep 2026): 2.5M active users in KSA, 800,000 monthly unique users, 192M monthly ad impressions, average CTR 0.44%, audience students and young professionals aged 21 to 35. Proposed 7-day eMYAA campaign: 525,000 display and video impressions plus a 24-hour takeover poll of about 2M impressions. Peer case: Bahrain Islamic Bank (BISB), 7 days over Saudi National Day: 4.15M impressions, 8,973 clicks (0.43% CTR), poll 2.68M impressions and 6,739 votes, 700+ downloads and 240 accounts. Price confidential,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Google Ads (since 22 Sep). Planned: LinkedIn (October), creator videos (monthly). Proposed and under evaluation: Jodel burst and outdoor media (Phase 2). GCC expansion after the one-month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topics only; nothing here is agreed. Purpose of the meeting: learn from Vision Bank's experience of the Saudi market and explore areas of collaboration.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14600"/>
            <a:ext cx="10881360" cy="868680"/>
          </a:xfrm>
          <a:prstGeom prst="rect">
            <a:avLst/>
          </a:prstGeom>
          <a:noFill/>
          <a:ln/>
        </p:spPr>
        <p:txBody>
          <a:bodyPr wrap="square" lIns="0" tIns="0" rIns="0" bIns="0" rtlCol="0" anchor="t"/>
          <a:lstStyle/>
          <a:p>
            <a:pPr indent="0" marL="0">
              <a:buNone/>
            </a:pPr>
            <a:r>
              <a:rPr lang="en-US" sz="4200" b="1" dirty="0">
                <a:solidFill>
                  <a:srgbClr val="FFFFFF"/>
                </a:solidFill>
                <a:latin typeface="Exo 2" pitchFamily="34" charset="0"/>
                <a:ea typeface="Exo 2" pitchFamily="34" charset="-122"/>
                <a:cs typeface="Exo 2" pitchFamily="34" charset="-120"/>
              </a:rPr>
              <a:t>eMYAA in Saudi Arabia</a:t>
            </a:r>
            <a:endParaRPr lang="en-US" sz="4200" dirty="0"/>
          </a:p>
        </p:txBody>
      </p:sp>
      <p:sp>
        <p:nvSpPr>
          <p:cNvPr id="5" name="Text 1"/>
          <p:cNvSpPr txBox="1"/>
          <p:nvPr/>
        </p:nvSpPr>
        <p:spPr>
          <a:xfrm>
            <a:off x="685800" y="342900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MARKET ENTRY PLAN</a:t>
            </a:r>
            <a:endParaRPr lang="en-US" sz="2000" dirty="0"/>
          </a:p>
        </p:txBody>
      </p:sp>
      <p:sp>
        <p:nvSpPr>
          <p:cNvPr id="6" name="Text 2"/>
          <p:cNvSpPr txBox="1"/>
          <p:nvPr/>
        </p:nvSpPr>
        <p:spPr>
          <a:xfrm>
            <a:off x="685800" y="393192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Introductory meeting with Vision Bank  |  October 2026</a:t>
            </a:r>
            <a:endParaRPr lang="en-US" sz="1600" dirty="0"/>
          </a:p>
        </p:txBody>
      </p:sp>
      <p:sp>
        <p:nvSpPr>
          <p:cNvPr id="7" name="Text 3"/>
          <p:cNvSpPr txBox="1"/>
          <p:nvPr/>
        </p:nvSpPr>
        <p:spPr>
          <a:xfrm>
            <a:off x="685800" y="6172200"/>
            <a:ext cx="1005840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Confidential. Prepared by eMYAA Marketing, Ajyad Capital.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WHO WE ARE</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A Shari'ah-compliant trading app built for GCC investors</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Text 5"/>
          <p:cNvSpPr txBox="1"/>
          <p:nvPr/>
        </p:nvSpPr>
        <p:spPr>
          <a:xfrm>
            <a:off x="566928" y="1600200"/>
            <a:ext cx="11064240" cy="548640"/>
          </a:xfrm>
          <a:prstGeom prst="rect">
            <a:avLst/>
          </a:prstGeom>
          <a:noFill/>
          <a:ln/>
        </p:spPr>
        <p:txBody>
          <a:bodyPr wrap="square" lIns="0" tIns="0" rIns="0" bIns="0" rtlCol="0" anchor="t"/>
          <a:lstStyle/>
          <a:p>
            <a:pPr indent="0" marL="0">
              <a:buNone/>
            </a:pPr>
            <a:r>
              <a:rPr lang="en-US" sz="1350" dirty="0">
                <a:solidFill>
                  <a:srgbClr val="1F2A44"/>
                </a:solidFill>
                <a:latin typeface="Exo 2" pitchFamily="34" charset="0"/>
                <a:ea typeface="Exo 2" pitchFamily="34" charset="-122"/>
                <a:cs typeface="Exo 2" pitchFamily="34" charset="-120"/>
              </a:rPr>
              <a:t>eMYAA is the digital trading platform of Ajyad Capital, an Islamic investment firm (Category 1) licensed by the Central Bank of Bahrain. It went live in May 2026.</a:t>
            </a:r>
            <a:endParaRPr lang="en-US" sz="1350" dirty="0"/>
          </a:p>
        </p:txBody>
      </p:sp>
      <p:sp>
        <p:nvSpPr>
          <p:cNvPr id="12" name="Shape 6"/>
          <p:cNvSpPr/>
          <p:nvPr/>
        </p:nvSpPr>
        <p:spPr>
          <a:xfrm>
            <a:off x="566928" y="2377440"/>
            <a:ext cx="5440680" cy="1234440"/>
          </a:xfrm>
          <a:prstGeom prst="rect">
            <a:avLst/>
          </a:prstGeom>
          <a:solidFill>
            <a:srgbClr val="FFFFFF"/>
          </a:solidFill>
          <a:ln w="9525">
            <a:solidFill>
              <a:srgbClr val="D9DFEA"/>
            </a:solidFill>
            <a:prstDash val="solid"/>
          </a:ln>
        </p:spPr>
      </p:sp>
      <p:sp>
        <p:nvSpPr>
          <p:cNvPr id="13" name="Shape 7"/>
          <p:cNvSpPr/>
          <p:nvPr/>
        </p:nvSpPr>
        <p:spPr>
          <a:xfrm>
            <a:off x="566928" y="2377440"/>
            <a:ext cx="5440680" cy="41148"/>
          </a:xfrm>
          <a:prstGeom prst="rect">
            <a:avLst/>
          </a:prstGeom>
          <a:solidFill>
            <a:srgbClr val="132257"/>
          </a:solidFill>
          <a:ln w="12700">
            <a:solidFill>
              <a:srgbClr val="132257"/>
            </a:solidFill>
            <a:prstDash val="solid"/>
          </a:ln>
        </p:spPr>
      </p:sp>
      <p:sp>
        <p:nvSpPr>
          <p:cNvPr id="14" name="Text 8"/>
          <p:cNvSpPr txBox="1"/>
          <p:nvPr/>
        </p:nvSpPr>
        <p:spPr>
          <a:xfrm>
            <a:off x="841248" y="2606040"/>
            <a:ext cx="4937760" cy="36576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Shari'ah compliant</a:t>
            </a:r>
            <a:endParaRPr lang="en-US" sz="1600" dirty="0"/>
          </a:p>
        </p:txBody>
      </p:sp>
      <p:sp>
        <p:nvSpPr>
          <p:cNvPr id="15" name="Text 9"/>
          <p:cNvSpPr txBox="1"/>
          <p:nvPr/>
        </p:nvSpPr>
        <p:spPr>
          <a:xfrm>
            <a:off x="841248" y="3035808"/>
            <a:ext cx="4937760" cy="457200"/>
          </a:xfrm>
          <a:prstGeom prst="rect">
            <a:avLst/>
          </a:prstGeom>
          <a:noFill/>
          <a:ln/>
        </p:spPr>
        <p:txBody>
          <a:bodyPr wrap="square" lIns="0" tIns="0" rIns="0" bIns="0" rtlCol="0" anchor="t"/>
          <a:lstStyle/>
          <a:p>
            <a:pPr indent="0" marL="0">
              <a:buNone/>
            </a:pPr>
            <a:r>
              <a:rPr lang="en-US" sz="1200" dirty="0">
                <a:solidFill>
                  <a:srgbClr val="6B7590"/>
                </a:solidFill>
                <a:latin typeface="Exo 2" pitchFamily="34" charset="0"/>
                <a:ea typeface="Exo 2" pitchFamily="34" charset="-122"/>
                <a:cs typeface="Exo 2" pitchFamily="34" charset="-120"/>
              </a:rPr>
              <a:t>Automated Shari'ah screening and a purification calculator</a:t>
            </a:r>
            <a:endParaRPr lang="en-US" sz="1200" dirty="0"/>
          </a:p>
        </p:txBody>
      </p:sp>
      <p:sp>
        <p:nvSpPr>
          <p:cNvPr id="16" name="Shape 10"/>
          <p:cNvSpPr/>
          <p:nvPr/>
        </p:nvSpPr>
        <p:spPr>
          <a:xfrm>
            <a:off x="6144768" y="2377440"/>
            <a:ext cx="5440680" cy="1234440"/>
          </a:xfrm>
          <a:prstGeom prst="rect">
            <a:avLst/>
          </a:prstGeom>
          <a:solidFill>
            <a:srgbClr val="FFFFFF"/>
          </a:solidFill>
          <a:ln w="9525">
            <a:solidFill>
              <a:srgbClr val="D9DFEA"/>
            </a:solidFill>
            <a:prstDash val="solid"/>
          </a:ln>
        </p:spPr>
      </p:sp>
      <p:sp>
        <p:nvSpPr>
          <p:cNvPr id="17" name="Shape 11"/>
          <p:cNvSpPr/>
          <p:nvPr/>
        </p:nvSpPr>
        <p:spPr>
          <a:xfrm>
            <a:off x="6144768" y="2377440"/>
            <a:ext cx="5440680" cy="41148"/>
          </a:xfrm>
          <a:prstGeom prst="rect">
            <a:avLst/>
          </a:prstGeom>
          <a:solidFill>
            <a:srgbClr val="D4AF37"/>
          </a:solidFill>
          <a:ln w="12700">
            <a:solidFill>
              <a:srgbClr val="D4AF37"/>
            </a:solidFill>
            <a:prstDash val="solid"/>
          </a:ln>
        </p:spPr>
      </p:sp>
      <p:sp>
        <p:nvSpPr>
          <p:cNvPr id="18" name="Text 12"/>
          <p:cNvSpPr txBox="1"/>
          <p:nvPr/>
        </p:nvSpPr>
        <p:spPr>
          <a:xfrm>
            <a:off x="6419088" y="2606040"/>
            <a:ext cx="4937760" cy="36576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Bilingual</a:t>
            </a:r>
            <a:endParaRPr lang="en-US" sz="1600" dirty="0"/>
          </a:p>
        </p:txBody>
      </p:sp>
      <p:sp>
        <p:nvSpPr>
          <p:cNvPr id="19" name="Text 13"/>
          <p:cNvSpPr txBox="1"/>
          <p:nvPr/>
        </p:nvSpPr>
        <p:spPr>
          <a:xfrm>
            <a:off x="6419088" y="3035808"/>
            <a:ext cx="4937760" cy="457200"/>
          </a:xfrm>
          <a:prstGeom prst="rect">
            <a:avLst/>
          </a:prstGeom>
          <a:noFill/>
          <a:ln/>
        </p:spPr>
        <p:txBody>
          <a:bodyPr wrap="square" lIns="0" tIns="0" rIns="0" bIns="0" rtlCol="0" anchor="t"/>
          <a:lstStyle/>
          <a:p>
            <a:pPr indent="0" marL="0">
              <a:buNone/>
            </a:pPr>
            <a:r>
              <a:rPr lang="en-US" sz="1200" dirty="0">
                <a:solidFill>
                  <a:srgbClr val="6B7590"/>
                </a:solidFill>
                <a:latin typeface="Exo 2" pitchFamily="34" charset="0"/>
                <a:ea typeface="Exo 2" pitchFamily="34" charset="-122"/>
                <a:cs typeface="Exo 2" pitchFamily="34" charset="-120"/>
              </a:rPr>
              <a:t>Full Arabic and English app, with AI support built in</a:t>
            </a:r>
            <a:endParaRPr lang="en-US" sz="1200" dirty="0"/>
          </a:p>
        </p:txBody>
      </p:sp>
      <p:sp>
        <p:nvSpPr>
          <p:cNvPr id="20" name="Shape 14"/>
          <p:cNvSpPr/>
          <p:nvPr/>
        </p:nvSpPr>
        <p:spPr>
          <a:xfrm>
            <a:off x="566928" y="3794760"/>
            <a:ext cx="5440680" cy="1234440"/>
          </a:xfrm>
          <a:prstGeom prst="rect">
            <a:avLst/>
          </a:prstGeom>
          <a:solidFill>
            <a:srgbClr val="FFFFFF"/>
          </a:solidFill>
          <a:ln w="9525">
            <a:solidFill>
              <a:srgbClr val="D9DFEA"/>
            </a:solidFill>
            <a:prstDash val="solid"/>
          </a:ln>
        </p:spPr>
      </p:sp>
      <p:sp>
        <p:nvSpPr>
          <p:cNvPr id="21" name="Shape 15"/>
          <p:cNvSpPr/>
          <p:nvPr/>
        </p:nvSpPr>
        <p:spPr>
          <a:xfrm>
            <a:off x="566928" y="3794760"/>
            <a:ext cx="5440680" cy="41148"/>
          </a:xfrm>
          <a:prstGeom prst="rect">
            <a:avLst/>
          </a:prstGeom>
          <a:solidFill>
            <a:srgbClr val="132257"/>
          </a:solidFill>
          <a:ln w="12700">
            <a:solidFill>
              <a:srgbClr val="132257"/>
            </a:solidFill>
            <a:prstDash val="solid"/>
          </a:ln>
        </p:spPr>
      </p:sp>
      <p:sp>
        <p:nvSpPr>
          <p:cNvPr id="22" name="Text 16"/>
          <p:cNvSpPr txBox="1"/>
          <p:nvPr/>
        </p:nvSpPr>
        <p:spPr>
          <a:xfrm>
            <a:off x="841248" y="4023360"/>
            <a:ext cx="4937760" cy="36576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Easy to start</a:t>
            </a:r>
            <a:endParaRPr lang="en-US" sz="1600" dirty="0"/>
          </a:p>
        </p:txBody>
      </p:sp>
      <p:sp>
        <p:nvSpPr>
          <p:cNvPr id="23" name="Text 17"/>
          <p:cNvSpPr txBox="1"/>
          <p:nvPr/>
        </p:nvSpPr>
        <p:spPr>
          <a:xfrm>
            <a:off x="841248" y="4453128"/>
            <a:ext cx="4937760" cy="457200"/>
          </a:xfrm>
          <a:prstGeom prst="rect">
            <a:avLst/>
          </a:prstGeom>
          <a:noFill/>
          <a:ln/>
        </p:spPr>
        <p:txBody>
          <a:bodyPr wrap="square" lIns="0" tIns="0" rIns="0" bIns="0" rtlCol="0" anchor="t"/>
          <a:lstStyle/>
          <a:p>
            <a:pPr indent="0" marL="0">
              <a:buNone/>
            </a:pPr>
            <a:r>
              <a:rPr lang="en-US" sz="1200" dirty="0">
                <a:solidFill>
                  <a:srgbClr val="6B7590"/>
                </a:solidFill>
                <a:latin typeface="Exo 2" pitchFamily="34" charset="0"/>
                <a:ea typeface="Exo 2" pitchFamily="34" charset="-122"/>
                <a:cs typeface="Exo 2" pitchFamily="34" charset="-120"/>
              </a:rPr>
              <a:t>No account fees and a minimum deposit of just USD 50</a:t>
            </a:r>
            <a:endParaRPr lang="en-US" sz="1200" dirty="0"/>
          </a:p>
        </p:txBody>
      </p:sp>
      <p:sp>
        <p:nvSpPr>
          <p:cNvPr id="24" name="Shape 18"/>
          <p:cNvSpPr/>
          <p:nvPr/>
        </p:nvSpPr>
        <p:spPr>
          <a:xfrm>
            <a:off x="6144768" y="3794760"/>
            <a:ext cx="5440680" cy="1234440"/>
          </a:xfrm>
          <a:prstGeom prst="rect">
            <a:avLst/>
          </a:prstGeom>
          <a:solidFill>
            <a:srgbClr val="FFFFFF"/>
          </a:solidFill>
          <a:ln w="9525">
            <a:solidFill>
              <a:srgbClr val="D9DFEA"/>
            </a:solidFill>
            <a:prstDash val="solid"/>
          </a:ln>
        </p:spPr>
      </p:sp>
      <p:sp>
        <p:nvSpPr>
          <p:cNvPr id="25" name="Shape 19"/>
          <p:cNvSpPr/>
          <p:nvPr/>
        </p:nvSpPr>
        <p:spPr>
          <a:xfrm>
            <a:off x="6144768" y="3794760"/>
            <a:ext cx="5440680" cy="41148"/>
          </a:xfrm>
          <a:prstGeom prst="rect">
            <a:avLst/>
          </a:prstGeom>
          <a:solidFill>
            <a:srgbClr val="D4AF37"/>
          </a:solidFill>
          <a:ln w="12700">
            <a:solidFill>
              <a:srgbClr val="D4AF37"/>
            </a:solidFill>
            <a:prstDash val="solid"/>
          </a:ln>
        </p:spPr>
      </p:sp>
      <p:sp>
        <p:nvSpPr>
          <p:cNvPr id="26" name="Text 20"/>
          <p:cNvSpPr txBox="1"/>
          <p:nvPr/>
        </p:nvSpPr>
        <p:spPr>
          <a:xfrm>
            <a:off x="6419088" y="4023360"/>
            <a:ext cx="4937760" cy="36576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Global and regional markets</a:t>
            </a:r>
            <a:endParaRPr lang="en-US" sz="1600" dirty="0"/>
          </a:p>
        </p:txBody>
      </p:sp>
      <p:sp>
        <p:nvSpPr>
          <p:cNvPr id="27" name="Text 21"/>
          <p:cNvSpPr txBox="1"/>
          <p:nvPr/>
        </p:nvSpPr>
        <p:spPr>
          <a:xfrm>
            <a:off x="6419088" y="4453128"/>
            <a:ext cx="4937760" cy="457200"/>
          </a:xfrm>
          <a:prstGeom prst="rect">
            <a:avLst/>
          </a:prstGeom>
          <a:noFill/>
          <a:ln/>
        </p:spPr>
        <p:txBody>
          <a:bodyPr wrap="square" lIns="0" tIns="0" rIns="0" bIns="0" rtlCol="0" anchor="t"/>
          <a:lstStyle/>
          <a:p>
            <a:pPr indent="0" marL="0">
              <a:buNone/>
            </a:pPr>
            <a:r>
              <a:rPr lang="en-US" sz="1200" dirty="0">
                <a:solidFill>
                  <a:srgbClr val="6B7590"/>
                </a:solidFill>
                <a:latin typeface="Exo 2" pitchFamily="34" charset="0"/>
                <a:ea typeface="Exo 2" pitchFamily="34" charset="-122"/>
                <a:cs typeface="Exo 2" pitchFamily="34" charset="-120"/>
              </a:rPr>
              <a:t>US, Saudi (Tadawul), Dubai (DFM) and Hong Kong in one app</a:t>
            </a:r>
            <a:endParaRPr lang="en-US" sz="1200" dirty="0"/>
          </a:p>
        </p:txBody>
      </p:sp>
      <p:sp>
        <p:nvSpPr>
          <p:cNvPr id="28" name="Shape 22"/>
          <p:cNvSpPr/>
          <p:nvPr/>
        </p:nvSpPr>
        <p:spPr>
          <a:xfrm>
            <a:off x="566928" y="5349240"/>
            <a:ext cx="11064240" cy="685800"/>
          </a:xfrm>
          <a:prstGeom prst="rect">
            <a:avLst/>
          </a:prstGeom>
          <a:solidFill>
            <a:srgbClr val="EEF1F8"/>
          </a:solidFill>
          <a:ln w="12700">
            <a:solidFill>
              <a:srgbClr val="EEF1F8"/>
            </a:solidFill>
            <a:prstDash val="solid"/>
          </a:ln>
        </p:spPr>
      </p:sp>
      <p:sp>
        <p:nvSpPr>
          <p:cNvPr id="29" name="Shape 23"/>
          <p:cNvSpPr/>
          <p:nvPr/>
        </p:nvSpPr>
        <p:spPr>
          <a:xfrm>
            <a:off x="566928" y="5349240"/>
            <a:ext cx="54864" cy="685800"/>
          </a:xfrm>
          <a:prstGeom prst="rect">
            <a:avLst/>
          </a:prstGeom>
          <a:solidFill>
            <a:srgbClr val="D4AF37"/>
          </a:solidFill>
          <a:ln w="12700">
            <a:solidFill>
              <a:srgbClr val="D4AF37"/>
            </a:solidFill>
            <a:prstDash val="solid"/>
          </a:ln>
        </p:spPr>
      </p:sp>
      <p:sp>
        <p:nvSpPr>
          <p:cNvPr id="30" name="Text 24"/>
          <p:cNvSpPr txBox="1"/>
          <p:nvPr/>
        </p:nvSpPr>
        <p:spPr>
          <a:xfrm>
            <a:off x="822960" y="5349240"/>
            <a:ext cx="10698480" cy="685800"/>
          </a:xfrm>
          <a:prstGeom prst="rect">
            <a:avLst/>
          </a:prstGeom>
          <a:noFill/>
          <a:ln/>
        </p:spPr>
        <p:txBody>
          <a:bodyPr wrap="square" lIns="0" tIns="0" rIns="0" bIns="0" rtlCol="0" anchor="ctr"/>
          <a:lstStyle/>
          <a:p>
            <a:pPr indent="0" marL="0">
              <a:buNone/>
            </a:pPr>
            <a:r>
              <a:rPr lang="en-US" sz="1250" b="1" dirty="0">
                <a:solidFill>
                  <a:srgbClr val="132257"/>
                </a:solidFill>
                <a:latin typeface="Exo 2" pitchFamily="34" charset="0"/>
                <a:ea typeface="Exo 2" pitchFamily="34" charset="-122"/>
                <a:cs typeface="Exo 2" pitchFamily="34" charset="-120"/>
              </a:rPr>
              <a:t>Products  </a:t>
            </a:r>
            <a:pPr indent="0" marL="0">
              <a:buNone/>
            </a:pPr>
            <a:r>
              <a:rPr lang="en-US" sz="1250" dirty="0">
                <a:solidFill>
                  <a:srgbClr val="1F2A44"/>
                </a:solidFill>
                <a:latin typeface="Exo 2" pitchFamily="34" charset="0"/>
                <a:ea typeface="Exo 2" pitchFamily="34" charset="-122"/>
                <a:cs typeface="Exo 2" pitchFamily="34" charset="-120"/>
              </a:rPr>
              <a:t>Shari'ah-compliant stocks, Sukuk and ETFs, with a full app experience from onboarding to trading.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WHY SAUDI ARABIA</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Saudi Arabia is our first priority market in the GCC</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45920"/>
            <a:ext cx="3566160" cy="1828800"/>
          </a:xfrm>
          <a:prstGeom prst="rect">
            <a:avLst/>
          </a:prstGeom>
          <a:solidFill>
            <a:srgbClr val="FFFFFF"/>
          </a:solidFill>
          <a:ln w="9525">
            <a:solidFill>
              <a:srgbClr val="D9DFEA"/>
            </a:solidFill>
            <a:prstDash val="solid"/>
          </a:ln>
        </p:spPr>
      </p:sp>
      <p:sp>
        <p:nvSpPr>
          <p:cNvPr id="12" name="Shape 6"/>
          <p:cNvSpPr/>
          <p:nvPr/>
        </p:nvSpPr>
        <p:spPr>
          <a:xfrm>
            <a:off x="566928" y="1645920"/>
            <a:ext cx="3566160" cy="41148"/>
          </a:xfrm>
          <a:prstGeom prst="rect">
            <a:avLst/>
          </a:prstGeom>
          <a:solidFill>
            <a:srgbClr val="132257"/>
          </a:solidFill>
          <a:ln w="12700">
            <a:solidFill>
              <a:srgbClr val="132257"/>
            </a:solidFill>
            <a:prstDash val="solid"/>
          </a:ln>
        </p:spPr>
      </p:sp>
      <p:sp>
        <p:nvSpPr>
          <p:cNvPr id="13" name="Text 7"/>
          <p:cNvSpPr txBox="1"/>
          <p:nvPr/>
        </p:nvSpPr>
        <p:spPr>
          <a:xfrm>
            <a:off x="841248" y="1874520"/>
            <a:ext cx="3017520" cy="36576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The audience</a:t>
            </a:r>
            <a:endParaRPr lang="en-US" sz="1600" dirty="0"/>
          </a:p>
        </p:txBody>
      </p:sp>
      <p:sp>
        <p:nvSpPr>
          <p:cNvPr id="14" name="Text 8"/>
          <p:cNvSpPr txBox="1"/>
          <p:nvPr/>
        </p:nvSpPr>
        <p:spPr>
          <a:xfrm>
            <a:off x="841248" y="2331720"/>
            <a:ext cx="3017520" cy="100584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A young, mobile-first population that is open to investing through apps.</a:t>
            </a:r>
            <a:endParaRPr lang="en-US" sz="1200" dirty="0"/>
          </a:p>
        </p:txBody>
      </p:sp>
      <p:sp>
        <p:nvSpPr>
          <p:cNvPr id="15" name="Shape 9"/>
          <p:cNvSpPr/>
          <p:nvPr/>
        </p:nvSpPr>
        <p:spPr>
          <a:xfrm>
            <a:off x="4315968" y="1645920"/>
            <a:ext cx="3566160" cy="1828800"/>
          </a:xfrm>
          <a:prstGeom prst="rect">
            <a:avLst/>
          </a:prstGeom>
          <a:solidFill>
            <a:srgbClr val="FFFFFF"/>
          </a:solidFill>
          <a:ln w="9525">
            <a:solidFill>
              <a:srgbClr val="D9DFEA"/>
            </a:solidFill>
            <a:prstDash val="solid"/>
          </a:ln>
        </p:spPr>
      </p:sp>
      <p:sp>
        <p:nvSpPr>
          <p:cNvPr id="16" name="Shape 10"/>
          <p:cNvSpPr/>
          <p:nvPr/>
        </p:nvSpPr>
        <p:spPr>
          <a:xfrm>
            <a:off x="4315968" y="1645920"/>
            <a:ext cx="3566160" cy="41148"/>
          </a:xfrm>
          <a:prstGeom prst="rect">
            <a:avLst/>
          </a:prstGeom>
          <a:solidFill>
            <a:srgbClr val="D4AF37"/>
          </a:solidFill>
          <a:ln w="12700">
            <a:solidFill>
              <a:srgbClr val="D4AF37"/>
            </a:solidFill>
            <a:prstDash val="solid"/>
          </a:ln>
        </p:spPr>
      </p:sp>
      <p:sp>
        <p:nvSpPr>
          <p:cNvPr id="17" name="Text 11"/>
          <p:cNvSpPr txBox="1"/>
          <p:nvPr/>
        </p:nvSpPr>
        <p:spPr>
          <a:xfrm>
            <a:off x="4590288" y="1874520"/>
            <a:ext cx="3017520" cy="36576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The demand</a:t>
            </a:r>
            <a:endParaRPr lang="en-US" sz="1600" dirty="0"/>
          </a:p>
        </p:txBody>
      </p:sp>
      <p:sp>
        <p:nvSpPr>
          <p:cNvPr id="18" name="Text 12"/>
          <p:cNvSpPr txBox="1"/>
          <p:nvPr/>
        </p:nvSpPr>
        <p:spPr>
          <a:xfrm>
            <a:off x="4590288" y="2331720"/>
            <a:ext cx="3017520" cy="100584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Strong interest in Shari'ah-compliant products, which is where eMYAA starts.</a:t>
            </a:r>
            <a:endParaRPr lang="en-US" sz="1200" dirty="0"/>
          </a:p>
        </p:txBody>
      </p:sp>
      <p:sp>
        <p:nvSpPr>
          <p:cNvPr id="19" name="Shape 13"/>
          <p:cNvSpPr/>
          <p:nvPr/>
        </p:nvSpPr>
        <p:spPr>
          <a:xfrm>
            <a:off x="8065008" y="1645920"/>
            <a:ext cx="3566160" cy="1828800"/>
          </a:xfrm>
          <a:prstGeom prst="rect">
            <a:avLst/>
          </a:prstGeom>
          <a:solidFill>
            <a:srgbClr val="FFFFFF"/>
          </a:solidFill>
          <a:ln w="9525">
            <a:solidFill>
              <a:srgbClr val="D9DFEA"/>
            </a:solidFill>
            <a:prstDash val="solid"/>
          </a:ln>
        </p:spPr>
      </p:sp>
      <p:sp>
        <p:nvSpPr>
          <p:cNvPr id="20" name="Shape 14"/>
          <p:cNvSpPr/>
          <p:nvPr/>
        </p:nvSpPr>
        <p:spPr>
          <a:xfrm>
            <a:off x="8065008" y="1645920"/>
            <a:ext cx="3566160" cy="41148"/>
          </a:xfrm>
          <a:prstGeom prst="rect">
            <a:avLst/>
          </a:prstGeom>
          <a:solidFill>
            <a:srgbClr val="1BA97C"/>
          </a:solidFill>
          <a:ln w="12700">
            <a:solidFill>
              <a:srgbClr val="1BA97C"/>
            </a:solidFill>
            <a:prstDash val="solid"/>
          </a:ln>
        </p:spPr>
      </p:sp>
      <p:sp>
        <p:nvSpPr>
          <p:cNvPr id="21" name="Text 15"/>
          <p:cNvSpPr txBox="1"/>
          <p:nvPr/>
        </p:nvSpPr>
        <p:spPr>
          <a:xfrm>
            <a:off x="8339328" y="1874520"/>
            <a:ext cx="3017520" cy="36576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The fit</a:t>
            </a:r>
            <a:endParaRPr lang="en-US" sz="1600" dirty="0"/>
          </a:p>
        </p:txBody>
      </p:sp>
      <p:sp>
        <p:nvSpPr>
          <p:cNvPr id="22" name="Text 16"/>
          <p:cNvSpPr txBox="1"/>
          <p:nvPr/>
        </p:nvSpPr>
        <p:spPr>
          <a:xfrm>
            <a:off x="8339328" y="2331720"/>
            <a:ext cx="3017520" cy="100584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Arabic-first app, Tadawul access and a low USD 50 entry point.</a:t>
            </a:r>
            <a:endParaRPr lang="en-US" sz="1200" dirty="0"/>
          </a:p>
        </p:txBody>
      </p:sp>
      <p:sp>
        <p:nvSpPr>
          <p:cNvPr id="23" name="Text 17"/>
          <p:cNvSpPr txBox="1"/>
          <p:nvPr/>
        </p:nvSpPr>
        <p:spPr>
          <a:xfrm>
            <a:off x="566928" y="3794760"/>
            <a:ext cx="73152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WHAT WE HAVE SEEN SO FAR</a:t>
            </a:r>
            <a:endParaRPr lang="en-US" sz="1000" dirty="0"/>
          </a:p>
        </p:txBody>
      </p:sp>
      <p:sp>
        <p:nvSpPr>
          <p:cNvPr id="24" name="Shape 18"/>
          <p:cNvSpPr/>
          <p:nvPr/>
        </p:nvSpPr>
        <p:spPr>
          <a:xfrm>
            <a:off x="566928" y="4160520"/>
            <a:ext cx="3566160" cy="1234440"/>
          </a:xfrm>
          <a:prstGeom prst="rect">
            <a:avLst/>
          </a:prstGeom>
          <a:solidFill>
            <a:srgbClr val="FFFFFF"/>
          </a:solidFill>
          <a:ln w="9525">
            <a:solidFill>
              <a:srgbClr val="D9DFEA"/>
            </a:solidFill>
            <a:prstDash val="solid"/>
          </a:ln>
        </p:spPr>
      </p:sp>
      <p:sp>
        <p:nvSpPr>
          <p:cNvPr id="25" name="Shape 19"/>
          <p:cNvSpPr/>
          <p:nvPr/>
        </p:nvSpPr>
        <p:spPr>
          <a:xfrm>
            <a:off x="566928" y="4160520"/>
            <a:ext cx="3566160" cy="41148"/>
          </a:xfrm>
          <a:prstGeom prst="rect">
            <a:avLst/>
          </a:prstGeom>
          <a:solidFill>
            <a:srgbClr val="132257"/>
          </a:solidFill>
          <a:ln w="12700">
            <a:solidFill>
              <a:srgbClr val="132257"/>
            </a:solidFill>
            <a:prstDash val="solid"/>
          </a:ln>
        </p:spPr>
      </p:sp>
      <p:sp>
        <p:nvSpPr>
          <p:cNvPr id="26" name="Text 20"/>
          <p:cNvSpPr txBox="1"/>
          <p:nvPr/>
        </p:nvSpPr>
        <p:spPr>
          <a:xfrm>
            <a:off x="749808" y="4325112"/>
            <a:ext cx="32004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70%</a:t>
            </a:r>
            <a:endParaRPr lang="en-US" sz="2600" dirty="0"/>
          </a:p>
        </p:txBody>
      </p:sp>
      <p:sp>
        <p:nvSpPr>
          <p:cNvPr id="27" name="Text 21"/>
          <p:cNvSpPr txBox="1"/>
          <p:nvPr/>
        </p:nvSpPr>
        <p:spPr>
          <a:xfrm>
            <a:off x="749808" y="4846320"/>
            <a:ext cx="32004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of September website visits</a:t>
            </a:r>
            <a:endParaRPr lang="en-US" sz="1100" dirty="0"/>
          </a:p>
        </p:txBody>
      </p:sp>
      <p:sp>
        <p:nvSpPr>
          <p:cNvPr id="28" name="Text 22"/>
          <p:cNvSpPr txBox="1"/>
          <p:nvPr/>
        </p:nvSpPr>
        <p:spPr>
          <a:xfrm>
            <a:off x="749808" y="5093208"/>
            <a:ext cx="32004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came from Saudi-targeted Google Ads</a:t>
            </a:r>
            <a:endParaRPr lang="en-US" sz="900" dirty="0"/>
          </a:p>
        </p:txBody>
      </p:sp>
      <p:sp>
        <p:nvSpPr>
          <p:cNvPr id="29" name="Shape 23"/>
          <p:cNvSpPr/>
          <p:nvPr/>
        </p:nvSpPr>
        <p:spPr>
          <a:xfrm>
            <a:off x="4315968" y="4160520"/>
            <a:ext cx="3566160" cy="1234440"/>
          </a:xfrm>
          <a:prstGeom prst="rect">
            <a:avLst/>
          </a:prstGeom>
          <a:solidFill>
            <a:srgbClr val="FFFFFF"/>
          </a:solidFill>
          <a:ln w="9525">
            <a:solidFill>
              <a:srgbClr val="D9DFEA"/>
            </a:solidFill>
            <a:prstDash val="solid"/>
          </a:ln>
        </p:spPr>
      </p:sp>
      <p:sp>
        <p:nvSpPr>
          <p:cNvPr id="30" name="Shape 24"/>
          <p:cNvSpPr/>
          <p:nvPr/>
        </p:nvSpPr>
        <p:spPr>
          <a:xfrm>
            <a:off x="4315968" y="4160520"/>
            <a:ext cx="3566160" cy="41148"/>
          </a:xfrm>
          <a:prstGeom prst="rect">
            <a:avLst/>
          </a:prstGeom>
          <a:solidFill>
            <a:srgbClr val="9A7B1F"/>
          </a:solidFill>
          <a:ln w="12700">
            <a:solidFill>
              <a:srgbClr val="9A7B1F"/>
            </a:solidFill>
            <a:prstDash val="solid"/>
          </a:ln>
        </p:spPr>
      </p:sp>
      <p:sp>
        <p:nvSpPr>
          <p:cNvPr id="31" name="Text 25"/>
          <p:cNvSpPr txBox="1"/>
          <p:nvPr/>
        </p:nvSpPr>
        <p:spPr>
          <a:xfrm>
            <a:off x="4498848" y="4325112"/>
            <a:ext cx="3200400" cy="502920"/>
          </a:xfrm>
          <a:prstGeom prst="rect">
            <a:avLst/>
          </a:prstGeom>
          <a:noFill/>
          <a:ln/>
        </p:spPr>
        <p:txBody>
          <a:bodyPr wrap="square" lIns="0" tIns="0" rIns="0" bIns="0" rtlCol="0" anchor="t"/>
          <a:lstStyle/>
          <a:p>
            <a:pPr indent="0" marL="0">
              <a:buNone/>
            </a:pPr>
            <a:r>
              <a:rPr lang="en-US" sz="2600" b="1" dirty="0">
                <a:solidFill>
                  <a:srgbClr val="9A7B1F"/>
                </a:solidFill>
                <a:latin typeface="Exo 2" pitchFamily="34" charset="0"/>
                <a:ea typeface="Exo 2" pitchFamily="34" charset="-122"/>
                <a:cs typeface="Exo 2" pitchFamily="34" charset="-120"/>
              </a:rPr>
              <a:t>22 Sep</a:t>
            </a:r>
            <a:endParaRPr lang="en-US" sz="2600" dirty="0"/>
          </a:p>
        </p:txBody>
      </p:sp>
      <p:sp>
        <p:nvSpPr>
          <p:cNvPr id="32" name="Text 26"/>
          <p:cNvSpPr txBox="1"/>
          <p:nvPr/>
        </p:nvSpPr>
        <p:spPr>
          <a:xfrm>
            <a:off x="4498848" y="4846320"/>
            <a:ext cx="32004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Saudi paid media went live</a:t>
            </a:r>
            <a:endParaRPr lang="en-US" sz="1100" dirty="0"/>
          </a:p>
        </p:txBody>
      </p:sp>
      <p:sp>
        <p:nvSpPr>
          <p:cNvPr id="33" name="Text 27"/>
          <p:cNvSpPr txBox="1"/>
          <p:nvPr/>
        </p:nvSpPr>
        <p:spPr>
          <a:xfrm>
            <a:off x="4498848" y="5093208"/>
            <a:ext cx="32004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Google Search, Arabic and English</a:t>
            </a:r>
            <a:endParaRPr lang="en-US" sz="900" dirty="0"/>
          </a:p>
        </p:txBody>
      </p:sp>
      <p:sp>
        <p:nvSpPr>
          <p:cNvPr id="34" name="Shape 28"/>
          <p:cNvSpPr/>
          <p:nvPr/>
        </p:nvSpPr>
        <p:spPr>
          <a:xfrm>
            <a:off x="8065008" y="4160520"/>
            <a:ext cx="3566160" cy="1234440"/>
          </a:xfrm>
          <a:prstGeom prst="rect">
            <a:avLst/>
          </a:prstGeom>
          <a:solidFill>
            <a:srgbClr val="FFFFFF"/>
          </a:solidFill>
          <a:ln w="9525">
            <a:solidFill>
              <a:srgbClr val="D9DFEA"/>
            </a:solidFill>
            <a:prstDash val="solid"/>
          </a:ln>
        </p:spPr>
      </p:sp>
      <p:sp>
        <p:nvSpPr>
          <p:cNvPr id="35" name="Shape 29"/>
          <p:cNvSpPr/>
          <p:nvPr/>
        </p:nvSpPr>
        <p:spPr>
          <a:xfrm>
            <a:off x="8065008" y="4160520"/>
            <a:ext cx="3566160" cy="41148"/>
          </a:xfrm>
          <a:prstGeom prst="rect">
            <a:avLst/>
          </a:prstGeom>
          <a:solidFill>
            <a:srgbClr val="1BA97C"/>
          </a:solidFill>
          <a:ln w="12700">
            <a:solidFill>
              <a:srgbClr val="1BA97C"/>
            </a:solidFill>
            <a:prstDash val="solid"/>
          </a:ln>
        </p:spPr>
      </p:sp>
      <p:sp>
        <p:nvSpPr>
          <p:cNvPr id="36" name="Text 30"/>
          <p:cNvSpPr txBox="1"/>
          <p:nvPr/>
        </p:nvSpPr>
        <p:spPr>
          <a:xfrm>
            <a:off x="8247888" y="4325112"/>
            <a:ext cx="3200400" cy="502920"/>
          </a:xfrm>
          <a:prstGeom prst="rect">
            <a:avLst/>
          </a:prstGeom>
          <a:noFill/>
          <a:ln/>
        </p:spPr>
        <p:txBody>
          <a:bodyPr wrap="square" lIns="0" tIns="0" rIns="0" bIns="0" rtlCol="0" anchor="t"/>
          <a:lstStyle/>
          <a:p>
            <a:pPr indent="0" marL="0">
              <a:buNone/>
            </a:pPr>
            <a:r>
              <a:rPr lang="en-US" sz="2600" b="1" dirty="0">
                <a:solidFill>
                  <a:srgbClr val="1BA97C"/>
                </a:solidFill>
                <a:latin typeface="Exo 2" pitchFamily="34" charset="0"/>
                <a:ea typeface="Exo 2" pitchFamily="34" charset="-122"/>
                <a:cs typeface="Exo 2" pitchFamily="34" charset="-120"/>
              </a:rPr>
              <a:t>Riyadh</a:t>
            </a:r>
            <a:endParaRPr lang="en-US" sz="2600" dirty="0"/>
          </a:p>
        </p:txBody>
      </p:sp>
      <p:sp>
        <p:nvSpPr>
          <p:cNvPr id="37" name="Text 31"/>
          <p:cNvSpPr txBox="1"/>
          <p:nvPr/>
        </p:nvSpPr>
        <p:spPr>
          <a:xfrm>
            <a:off x="8247888" y="4846320"/>
            <a:ext cx="32004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core city in our targeting</a:t>
            </a:r>
            <a:endParaRPr lang="en-US" sz="1100" dirty="0"/>
          </a:p>
        </p:txBody>
      </p:sp>
      <p:sp>
        <p:nvSpPr>
          <p:cNvPr id="38" name="Text 32"/>
          <p:cNvSpPr txBox="1"/>
          <p:nvPr/>
        </p:nvSpPr>
        <p:spPr>
          <a:xfrm>
            <a:off x="8247888" y="5093208"/>
            <a:ext cx="32004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ads shown to Saudi residents only</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SEGMENTS</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Four investor segments, each with its own channel and message</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00200"/>
            <a:ext cx="1737360" cy="411480"/>
          </a:xfrm>
          <a:prstGeom prst="rect">
            <a:avLst/>
          </a:prstGeom>
          <a:solidFill>
            <a:srgbClr val="132257"/>
          </a:solidFill>
          <a:ln w="12700">
            <a:solidFill>
              <a:srgbClr val="132257"/>
            </a:solidFill>
            <a:prstDash val="solid"/>
          </a:ln>
        </p:spPr>
      </p:sp>
      <p:sp>
        <p:nvSpPr>
          <p:cNvPr id="12" name="Text 6"/>
          <p:cNvSpPr txBox="1"/>
          <p:nvPr/>
        </p:nvSpPr>
        <p:spPr>
          <a:xfrm>
            <a:off x="676656" y="1600200"/>
            <a:ext cx="1554480" cy="411480"/>
          </a:xfrm>
          <a:prstGeom prst="rect">
            <a:avLst/>
          </a:prstGeom>
          <a:noFill/>
          <a:ln/>
        </p:spPr>
        <p:txBody>
          <a:bodyPr wrap="square" lIns="0" tIns="0" rIns="0" bIns="0" rtlCol="0" anchor="ctr"/>
          <a:lstStyle/>
          <a:p>
            <a:pPr indent="0" marL="0">
              <a:buNone/>
            </a:pPr>
            <a:r>
              <a:rPr lang="en-US" sz="1100" b="1" dirty="0">
                <a:solidFill>
                  <a:srgbClr val="FFFFFF"/>
                </a:solidFill>
                <a:latin typeface="Exo 2" pitchFamily="34" charset="0"/>
                <a:ea typeface="Exo 2" pitchFamily="34" charset="-122"/>
                <a:cs typeface="Exo 2" pitchFamily="34" charset="-120"/>
              </a:rPr>
              <a:t>Segment</a:t>
            </a:r>
            <a:endParaRPr lang="en-US" sz="1100" dirty="0"/>
          </a:p>
        </p:txBody>
      </p:sp>
      <p:sp>
        <p:nvSpPr>
          <p:cNvPr id="13" name="Shape 7"/>
          <p:cNvSpPr/>
          <p:nvPr/>
        </p:nvSpPr>
        <p:spPr>
          <a:xfrm>
            <a:off x="2331720" y="1600200"/>
            <a:ext cx="1965960" cy="411480"/>
          </a:xfrm>
          <a:prstGeom prst="rect">
            <a:avLst/>
          </a:prstGeom>
          <a:solidFill>
            <a:srgbClr val="132257"/>
          </a:solidFill>
          <a:ln w="12700">
            <a:solidFill>
              <a:srgbClr val="132257"/>
            </a:solidFill>
            <a:prstDash val="solid"/>
          </a:ln>
        </p:spPr>
      </p:sp>
      <p:sp>
        <p:nvSpPr>
          <p:cNvPr id="14" name="Text 8"/>
          <p:cNvSpPr txBox="1"/>
          <p:nvPr/>
        </p:nvSpPr>
        <p:spPr>
          <a:xfrm>
            <a:off x="2441448" y="1600200"/>
            <a:ext cx="1783080" cy="411480"/>
          </a:xfrm>
          <a:prstGeom prst="rect">
            <a:avLst/>
          </a:prstGeom>
          <a:noFill/>
          <a:ln/>
        </p:spPr>
        <p:txBody>
          <a:bodyPr wrap="square" lIns="0" tIns="0" rIns="0" bIns="0" rtlCol="0" anchor="ctr"/>
          <a:lstStyle/>
          <a:p>
            <a:pPr indent="0" marL="0">
              <a:buNone/>
            </a:pPr>
            <a:r>
              <a:rPr lang="en-US" sz="1100" b="1" dirty="0">
                <a:solidFill>
                  <a:srgbClr val="FFFFFF"/>
                </a:solidFill>
                <a:latin typeface="Exo 2" pitchFamily="34" charset="0"/>
                <a:ea typeface="Exo 2" pitchFamily="34" charset="-122"/>
                <a:cs typeface="Exo 2" pitchFamily="34" charset="-120"/>
              </a:rPr>
              <a:t>Deposit size</a:t>
            </a:r>
            <a:endParaRPr lang="en-US" sz="1100" dirty="0"/>
          </a:p>
        </p:txBody>
      </p:sp>
      <p:sp>
        <p:nvSpPr>
          <p:cNvPr id="15" name="Shape 9"/>
          <p:cNvSpPr/>
          <p:nvPr/>
        </p:nvSpPr>
        <p:spPr>
          <a:xfrm>
            <a:off x="4343400" y="1600200"/>
            <a:ext cx="2423160" cy="411480"/>
          </a:xfrm>
          <a:prstGeom prst="rect">
            <a:avLst/>
          </a:prstGeom>
          <a:solidFill>
            <a:srgbClr val="132257"/>
          </a:solidFill>
          <a:ln w="12700">
            <a:solidFill>
              <a:srgbClr val="132257"/>
            </a:solidFill>
            <a:prstDash val="solid"/>
          </a:ln>
        </p:spPr>
      </p:sp>
      <p:sp>
        <p:nvSpPr>
          <p:cNvPr id="16" name="Text 10"/>
          <p:cNvSpPr txBox="1"/>
          <p:nvPr/>
        </p:nvSpPr>
        <p:spPr>
          <a:xfrm>
            <a:off x="4453128" y="1600200"/>
            <a:ext cx="2240280" cy="411480"/>
          </a:xfrm>
          <a:prstGeom prst="rect">
            <a:avLst/>
          </a:prstGeom>
          <a:noFill/>
          <a:ln/>
        </p:spPr>
        <p:txBody>
          <a:bodyPr wrap="square" lIns="0" tIns="0" rIns="0" bIns="0" rtlCol="0" anchor="ctr"/>
          <a:lstStyle/>
          <a:p>
            <a:pPr indent="0" marL="0">
              <a:buNone/>
            </a:pPr>
            <a:r>
              <a:rPr lang="en-US" sz="1100" b="1" dirty="0">
                <a:solidFill>
                  <a:srgbClr val="FFFFFF"/>
                </a:solidFill>
                <a:latin typeface="Exo 2" pitchFamily="34" charset="0"/>
                <a:ea typeface="Exo 2" pitchFamily="34" charset="-122"/>
                <a:cs typeface="Exo 2" pitchFamily="34" charset="-120"/>
              </a:rPr>
              <a:t>Who they are</a:t>
            </a:r>
            <a:endParaRPr lang="en-US" sz="1100" dirty="0"/>
          </a:p>
        </p:txBody>
      </p:sp>
      <p:sp>
        <p:nvSpPr>
          <p:cNvPr id="17" name="Shape 11"/>
          <p:cNvSpPr/>
          <p:nvPr/>
        </p:nvSpPr>
        <p:spPr>
          <a:xfrm>
            <a:off x="6812280" y="1600200"/>
            <a:ext cx="2286000" cy="411480"/>
          </a:xfrm>
          <a:prstGeom prst="rect">
            <a:avLst/>
          </a:prstGeom>
          <a:solidFill>
            <a:srgbClr val="132257"/>
          </a:solidFill>
          <a:ln w="12700">
            <a:solidFill>
              <a:srgbClr val="132257"/>
            </a:solidFill>
            <a:prstDash val="solid"/>
          </a:ln>
        </p:spPr>
      </p:sp>
      <p:sp>
        <p:nvSpPr>
          <p:cNvPr id="18" name="Text 12"/>
          <p:cNvSpPr txBox="1"/>
          <p:nvPr/>
        </p:nvSpPr>
        <p:spPr>
          <a:xfrm>
            <a:off x="6922008" y="1600200"/>
            <a:ext cx="2103120" cy="411480"/>
          </a:xfrm>
          <a:prstGeom prst="rect">
            <a:avLst/>
          </a:prstGeom>
          <a:noFill/>
          <a:ln/>
        </p:spPr>
        <p:txBody>
          <a:bodyPr wrap="square" lIns="0" tIns="0" rIns="0" bIns="0" rtlCol="0" anchor="ctr"/>
          <a:lstStyle/>
          <a:p>
            <a:pPr indent="0" marL="0">
              <a:buNone/>
            </a:pPr>
            <a:r>
              <a:rPr lang="en-US" sz="1100" b="1" dirty="0">
                <a:solidFill>
                  <a:srgbClr val="FFFFFF"/>
                </a:solidFill>
                <a:latin typeface="Exo 2" pitchFamily="34" charset="0"/>
                <a:ea typeface="Exo 2" pitchFamily="34" charset="-122"/>
                <a:cs typeface="Exo 2" pitchFamily="34" charset="-120"/>
              </a:rPr>
              <a:t>How we reach them</a:t>
            </a:r>
            <a:endParaRPr lang="en-US" sz="1100" dirty="0"/>
          </a:p>
        </p:txBody>
      </p:sp>
      <p:sp>
        <p:nvSpPr>
          <p:cNvPr id="19" name="Shape 13"/>
          <p:cNvSpPr/>
          <p:nvPr/>
        </p:nvSpPr>
        <p:spPr>
          <a:xfrm>
            <a:off x="9144000" y="1600200"/>
            <a:ext cx="2487168" cy="411480"/>
          </a:xfrm>
          <a:prstGeom prst="rect">
            <a:avLst/>
          </a:prstGeom>
          <a:solidFill>
            <a:srgbClr val="132257"/>
          </a:solidFill>
          <a:ln w="12700">
            <a:solidFill>
              <a:srgbClr val="132257"/>
            </a:solidFill>
            <a:prstDash val="solid"/>
          </a:ln>
        </p:spPr>
      </p:sp>
      <p:sp>
        <p:nvSpPr>
          <p:cNvPr id="20" name="Text 14"/>
          <p:cNvSpPr txBox="1"/>
          <p:nvPr/>
        </p:nvSpPr>
        <p:spPr>
          <a:xfrm>
            <a:off x="9253728" y="1600200"/>
            <a:ext cx="2304288" cy="411480"/>
          </a:xfrm>
          <a:prstGeom prst="rect">
            <a:avLst/>
          </a:prstGeom>
          <a:noFill/>
          <a:ln/>
        </p:spPr>
        <p:txBody>
          <a:bodyPr wrap="square" lIns="0" tIns="0" rIns="0" bIns="0" rtlCol="0" anchor="ctr"/>
          <a:lstStyle/>
          <a:p>
            <a:pPr indent="0" marL="0">
              <a:buNone/>
            </a:pPr>
            <a:r>
              <a:rPr lang="en-US" sz="1100" b="1" dirty="0">
                <a:solidFill>
                  <a:srgbClr val="FFFFFF"/>
                </a:solidFill>
                <a:latin typeface="Exo 2" pitchFamily="34" charset="0"/>
                <a:ea typeface="Exo 2" pitchFamily="34" charset="-122"/>
                <a:cs typeface="Exo 2" pitchFamily="34" charset="-120"/>
              </a:rPr>
              <a:t>Why eMYAA</a:t>
            </a:r>
            <a:endParaRPr lang="en-US" sz="1100" dirty="0"/>
          </a:p>
        </p:txBody>
      </p:sp>
      <p:sp>
        <p:nvSpPr>
          <p:cNvPr id="21" name="Shape 15"/>
          <p:cNvSpPr/>
          <p:nvPr/>
        </p:nvSpPr>
        <p:spPr>
          <a:xfrm>
            <a:off x="566928" y="2011680"/>
            <a:ext cx="1737360" cy="987552"/>
          </a:xfrm>
          <a:prstGeom prst="rect">
            <a:avLst/>
          </a:prstGeom>
          <a:solidFill>
            <a:srgbClr val="EEF1F8"/>
          </a:solidFill>
          <a:ln w="9525">
            <a:solidFill>
              <a:srgbClr val="D9DFEA"/>
            </a:solidFill>
            <a:prstDash val="solid"/>
          </a:ln>
        </p:spPr>
      </p:sp>
      <p:sp>
        <p:nvSpPr>
          <p:cNvPr id="22" name="Text 16"/>
          <p:cNvSpPr txBox="1"/>
          <p:nvPr/>
        </p:nvSpPr>
        <p:spPr>
          <a:xfrm>
            <a:off x="676656" y="2011680"/>
            <a:ext cx="1536192" cy="987552"/>
          </a:xfrm>
          <a:prstGeom prst="rect">
            <a:avLst/>
          </a:prstGeom>
          <a:noFill/>
          <a:ln/>
        </p:spPr>
        <p:txBody>
          <a:bodyPr wrap="square" lIns="0" tIns="0" rIns="0" bIns="0" rtlCol="0" anchor="ctr"/>
          <a:lstStyle/>
          <a:p>
            <a:pPr indent="0" marL="0">
              <a:buNone/>
            </a:pPr>
            <a:r>
              <a:rPr lang="en-US" sz="1300" b="1" dirty="0">
                <a:solidFill>
                  <a:srgbClr val="132257"/>
                </a:solidFill>
                <a:latin typeface="Exo 2" pitchFamily="34" charset="0"/>
                <a:ea typeface="Exo 2" pitchFamily="34" charset="-122"/>
                <a:cs typeface="Exo 2" pitchFamily="34" charset="-120"/>
              </a:rPr>
              <a:t>Starter</a:t>
            </a:r>
            <a:endParaRPr lang="en-US" sz="1300" dirty="0"/>
          </a:p>
        </p:txBody>
      </p:sp>
      <p:sp>
        <p:nvSpPr>
          <p:cNvPr id="23" name="Shape 17"/>
          <p:cNvSpPr/>
          <p:nvPr/>
        </p:nvSpPr>
        <p:spPr>
          <a:xfrm>
            <a:off x="2331720" y="2011680"/>
            <a:ext cx="1965960" cy="987552"/>
          </a:xfrm>
          <a:prstGeom prst="rect">
            <a:avLst/>
          </a:prstGeom>
          <a:solidFill>
            <a:srgbClr val="EEF1F8"/>
          </a:solidFill>
          <a:ln w="9525">
            <a:solidFill>
              <a:srgbClr val="D9DFEA"/>
            </a:solidFill>
            <a:prstDash val="solid"/>
          </a:ln>
        </p:spPr>
      </p:sp>
      <p:sp>
        <p:nvSpPr>
          <p:cNvPr id="24" name="Text 18"/>
          <p:cNvSpPr txBox="1"/>
          <p:nvPr/>
        </p:nvSpPr>
        <p:spPr>
          <a:xfrm>
            <a:off x="2441448" y="2011680"/>
            <a:ext cx="176479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Under USD 1,000</a:t>
            </a:r>
            <a:endParaRPr lang="en-US" sz="1100" dirty="0"/>
          </a:p>
        </p:txBody>
      </p:sp>
      <p:sp>
        <p:nvSpPr>
          <p:cNvPr id="25" name="Shape 19"/>
          <p:cNvSpPr/>
          <p:nvPr/>
        </p:nvSpPr>
        <p:spPr>
          <a:xfrm>
            <a:off x="4343400" y="2011680"/>
            <a:ext cx="2423160" cy="987552"/>
          </a:xfrm>
          <a:prstGeom prst="rect">
            <a:avLst/>
          </a:prstGeom>
          <a:solidFill>
            <a:srgbClr val="EEF1F8"/>
          </a:solidFill>
          <a:ln w="9525">
            <a:solidFill>
              <a:srgbClr val="D9DFEA"/>
            </a:solidFill>
            <a:prstDash val="solid"/>
          </a:ln>
        </p:spPr>
      </p:sp>
      <p:sp>
        <p:nvSpPr>
          <p:cNvPr id="26" name="Text 20"/>
          <p:cNvSpPr txBox="1"/>
          <p:nvPr/>
        </p:nvSpPr>
        <p:spPr>
          <a:xfrm>
            <a:off x="4453128" y="2011680"/>
            <a:ext cx="222199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21 to 35, salaried, often a first investment product</a:t>
            </a:r>
            <a:endParaRPr lang="en-US" sz="1100" dirty="0"/>
          </a:p>
        </p:txBody>
      </p:sp>
      <p:sp>
        <p:nvSpPr>
          <p:cNvPr id="27" name="Shape 21"/>
          <p:cNvSpPr/>
          <p:nvPr/>
        </p:nvSpPr>
        <p:spPr>
          <a:xfrm>
            <a:off x="6812280" y="2011680"/>
            <a:ext cx="2286000" cy="987552"/>
          </a:xfrm>
          <a:prstGeom prst="rect">
            <a:avLst/>
          </a:prstGeom>
          <a:solidFill>
            <a:srgbClr val="EEF1F8"/>
          </a:solidFill>
          <a:ln w="9525">
            <a:solidFill>
              <a:srgbClr val="D9DFEA"/>
            </a:solidFill>
            <a:prstDash val="solid"/>
          </a:ln>
        </p:spPr>
      </p:sp>
      <p:sp>
        <p:nvSpPr>
          <p:cNvPr id="28" name="Text 22"/>
          <p:cNvSpPr txBox="1"/>
          <p:nvPr/>
        </p:nvSpPr>
        <p:spPr>
          <a:xfrm>
            <a:off x="6922008" y="2011680"/>
            <a:ext cx="208483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Social media, sponsored ads and creators</a:t>
            </a:r>
            <a:endParaRPr lang="en-US" sz="1100" dirty="0"/>
          </a:p>
        </p:txBody>
      </p:sp>
      <p:sp>
        <p:nvSpPr>
          <p:cNvPr id="29" name="Shape 23"/>
          <p:cNvSpPr/>
          <p:nvPr/>
        </p:nvSpPr>
        <p:spPr>
          <a:xfrm>
            <a:off x="9144000" y="2011680"/>
            <a:ext cx="2487168" cy="987552"/>
          </a:xfrm>
          <a:prstGeom prst="rect">
            <a:avLst/>
          </a:prstGeom>
          <a:solidFill>
            <a:srgbClr val="EEF1F8"/>
          </a:solidFill>
          <a:ln w="9525">
            <a:solidFill>
              <a:srgbClr val="D9DFEA"/>
            </a:solidFill>
            <a:prstDash val="solid"/>
          </a:ln>
        </p:spPr>
      </p:sp>
      <p:sp>
        <p:nvSpPr>
          <p:cNvPr id="30" name="Text 24"/>
          <p:cNvSpPr txBox="1"/>
          <p:nvPr/>
        </p:nvSpPr>
        <p:spPr>
          <a:xfrm>
            <a:off x="9253728" y="2011680"/>
            <a:ext cx="2286000"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Simple bilingual app, no account fees, USD 50 to start</a:t>
            </a:r>
            <a:endParaRPr lang="en-US" sz="1100" dirty="0"/>
          </a:p>
        </p:txBody>
      </p:sp>
      <p:sp>
        <p:nvSpPr>
          <p:cNvPr id="31" name="Shape 25"/>
          <p:cNvSpPr/>
          <p:nvPr/>
        </p:nvSpPr>
        <p:spPr>
          <a:xfrm>
            <a:off x="566928" y="2999232"/>
            <a:ext cx="1737360" cy="987552"/>
          </a:xfrm>
          <a:prstGeom prst="rect">
            <a:avLst/>
          </a:prstGeom>
          <a:solidFill>
            <a:srgbClr val="FFFFFF"/>
          </a:solidFill>
          <a:ln w="9525">
            <a:solidFill>
              <a:srgbClr val="D9DFEA"/>
            </a:solidFill>
            <a:prstDash val="solid"/>
          </a:ln>
        </p:spPr>
      </p:sp>
      <p:sp>
        <p:nvSpPr>
          <p:cNvPr id="32" name="Text 26"/>
          <p:cNvSpPr txBox="1"/>
          <p:nvPr/>
        </p:nvSpPr>
        <p:spPr>
          <a:xfrm>
            <a:off x="676656" y="2999232"/>
            <a:ext cx="1536192" cy="987552"/>
          </a:xfrm>
          <a:prstGeom prst="rect">
            <a:avLst/>
          </a:prstGeom>
          <a:noFill/>
          <a:ln/>
        </p:spPr>
        <p:txBody>
          <a:bodyPr wrap="square" lIns="0" tIns="0" rIns="0" bIns="0" rtlCol="0" anchor="ctr"/>
          <a:lstStyle/>
          <a:p>
            <a:pPr indent="0" marL="0">
              <a:buNone/>
            </a:pPr>
            <a:r>
              <a:rPr lang="en-US" sz="1300" b="1" dirty="0">
                <a:solidFill>
                  <a:srgbClr val="132257"/>
                </a:solidFill>
                <a:latin typeface="Exo 2" pitchFamily="34" charset="0"/>
                <a:ea typeface="Exo 2" pitchFamily="34" charset="-122"/>
                <a:cs typeface="Exo 2" pitchFamily="34" charset="-120"/>
              </a:rPr>
              <a:t>Emerging</a:t>
            </a:r>
            <a:endParaRPr lang="en-US" sz="1300" dirty="0"/>
          </a:p>
        </p:txBody>
      </p:sp>
      <p:sp>
        <p:nvSpPr>
          <p:cNvPr id="33" name="Shape 27"/>
          <p:cNvSpPr/>
          <p:nvPr/>
        </p:nvSpPr>
        <p:spPr>
          <a:xfrm>
            <a:off x="2331720" y="2999232"/>
            <a:ext cx="1965960" cy="987552"/>
          </a:xfrm>
          <a:prstGeom prst="rect">
            <a:avLst/>
          </a:prstGeom>
          <a:solidFill>
            <a:srgbClr val="FFFFFF"/>
          </a:solidFill>
          <a:ln w="9525">
            <a:solidFill>
              <a:srgbClr val="D9DFEA"/>
            </a:solidFill>
            <a:prstDash val="solid"/>
          </a:ln>
        </p:spPr>
      </p:sp>
      <p:sp>
        <p:nvSpPr>
          <p:cNvPr id="34" name="Text 28"/>
          <p:cNvSpPr txBox="1"/>
          <p:nvPr/>
        </p:nvSpPr>
        <p:spPr>
          <a:xfrm>
            <a:off x="2441448" y="2999232"/>
            <a:ext cx="176479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USD 1,000 to 5,000</a:t>
            </a:r>
            <a:endParaRPr lang="en-US" sz="1100" dirty="0"/>
          </a:p>
        </p:txBody>
      </p:sp>
      <p:sp>
        <p:nvSpPr>
          <p:cNvPr id="35" name="Shape 29"/>
          <p:cNvSpPr/>
          <p:nvPr/>
        </p:nvSpPr>
        <p:spPr>
          <a:xfrm>
            <a:off x="4343400" y="2999232"/>
            <a:ext cx="2423160" cy="987552"/>
          </a:xfrm>
          <a:prstGeom prst="rect">
            <a:avLst/>
          </a:prstGeom>
          <a:solidFill>
            <a:srgbClr val="FFFFFF"/>
          </a:solidFill>
          <a:ln w="9525">
            <a:solidFill>
              <a:srgbClr val="D9DFEA"/>
            </a:solidFill>
            <a:prstDash val="solid"/>
          </a:ln>
        </p:spPr>
      </p:sp>
      <p:sp>
        <p:nvSpPr>
          <p:cNvPr id="36" name="Text 30"/>
          <p:cNvSpPr txBox="1"/>
          <p:nvPr/>
        </p:nvSpPr>
        <p:spPr>
          <a:xfrm>
            <a:off x="4453128" y="2999232"/>
            <a:ext cx="222199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Young professionals building a regular saving habit</a:t>
            </a:r>
            <a:endParaRPr lang="en-US" sz="1100" dirty="0"/>
          </a:p>
        </p:txBody>
      </p:sp>
      <p:sp>
        <p:nvSpPr>
          <p:cNvPr id="37" name="Shape 31"/>
          <p:cNvSpPr/>
          <p:nvPr/>
        </p:nvSpPr>
        <p:spPr>
          <a:xfrm>
            <a:off x="6812280" y="2999232"/>
            <a:ext cx="2286000" cy="987552"/>
          </a:xfrm>
          <a:prstGeom prst="rect">
            <a:avLst/>
          </a:prstGeom>
          <a:solidFill>
            <a:srgbClr val="FFFFFF"/>
          </a:solidFill>
          <a:ln w="9525">
            <a:solidFill>
              <a:srgbClr val="D9DFEA"/>
            </a:solidFill>
            <a:prstDash val="solid"/>
          </a:ln>
        </p:spPr>
      </p:sp>
      <p:sp>
        <p:nvSpPr>
          <p:cNvPr id="38" name="Text 32"/>
          <p:cNvSpPr txBox="1"/>
          <p:nvPr/>
        </p:nvSpPr>
        <p:spPr>
          <a:xfrm>
            <a:off x="6922008" y="2999232"/>
            <a:ext cx="208483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Google Search and app install ads</a:t>
            </a:r>
            <a:endParaRPr lang="en-US" sz="1100" dirty="0"/>
          </a:p>
        </p:txBody>
      </p:sp>
      <p:sp>
        <p:nvSpPr>
          <p:cNvPr id="39" name="Shape 33"/>
          <p:cNvSpPr/>
          <p:nvPr/>
        </p:nvSpPr>
        <p:spPr>
          <a:xfrm>
            <a:off x="9144000" y="2999232"/>
            <a:ext cx="2487168" cy="987552"/>
          </a:xfrm>
          <a:prstGeom prst="rect">
            <a:avLst/>
          </a:prstGeom>
          <a:solidFill>
            <a:srgbClr val="FFFFFF"/>
          </a:solidFill>
          <a:ln w="9525">
            <a:solidFill>
              <a:srgbClr val="D9DFEA"/>
            </a:solidFill>
            <a:prstDash val="solid"/>
          </a:ln>
        </p:spPr>
      </p:sp>
      <p:sp>
        <p:nvSpPr>
          <p:cNvPr id="40" name="Text 34"/>
          <p:cNvSpPr txBox="1"/>
          <p:nvPr/>
        </p:nvSpPr>
        <p:spPr>
          <a:xfrm>
            <a:off x="9253728" y="2999232"/>
            <a:ext cx="2286000"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Low-cost access to US and Saudi markets in one place</a:t>
            </a:r>
            <a:endParaRPr lang="en-US" sz="1100" dirty="0"/>
          </a:p>
        </p:txBody>
      </p:sp>
      <p:sp>
        <p:nvSpPr>
          <p:cNvPr id="41" name="Shape 35"/>
          <p:cNvSpPr/>
          <p:nvPr/>
        </p:nvSpPr>
        <p:spPr>
          <a:xfrm>
            <a:off x="566928" y="3986784"/>
            <a:ext cx="1737360" cy="987552"/>
          </a:xfrm>
          <a:prstGeom prst="rect">
            <a:avLst/>
          </a:prstGeom>
          <a:solidFill>
            <a:srgbClr val="EEF1F8"/>
          </a:solidFill>
          <a:ln w="9525">
            <a:solidFill>
              <a:srgbClr val="D9DFEA"/>
            </a:solidFill>
            <a:prstDash val="solid"/>
          </a:ln>
        </p:spPr>
      </p:sp>
      <p:sp>
        <p:nvSpPr>
          <p:cNvPr id="42" name="Text 36"/>
          <p:cNvSpPr txBox="1"/>
          <p:nvPr/>
        </p:nvSpPr>
        <p:spPr>
          <a:xfrm>
            <a:off x="676656" y="3986784"/>
            <a:ext cx="1536192" cy="987552"/>
          </a:xfrm>
          <a:prstGeom prst="rect">
            <a:avLst/>
          </a:prstGeom>
          <a:noFill/>
          <a:ln/>
        </p:spPr>
        <p:txBody>
          <a:bodyPr wrap="square" lIns="0" tIns="0" rIns="0" bIns="0" rtlCol="0" anchor="ctr"/>
          <a:lstStyle/>
          <a:p>
            <a:pPr indent="0" marL="0">
              <a:buNone/>
            </a:pPr>
            <a:r>
              <a:rPr lang="en-US" sz="1300" b="1" dirty="0">
                <a:solidFill>
                  <a:srgbClr val="132257"/>
                </a:solidFill>
                <a:latin typeface="Exo 2" pitchFamily="34" charset="0"/>
                <a:ea typeface="Exo 2" pitchFamily="34" charset="-122"/>
                <a:cs typeface="Exo 2" pitchFamily="34" charset="-120"/>
              </a:rPr>
              <a:t>Affluent</a:t>
            </a:r>
            <a:endParaRPr lang="en-US" sz="1300" dirty="0"/>
          </a:p>
        </p:txBody>
      </p:sp>
      <p:sp>
        <p:nvSpPr>
          <p:cNvPr id="43" name="Shape 37"/>
          <p:cNvSpPr/>
          <p:nvPr/>
        </p:nvSpPr>
        <p:spPr>
          <a:xfrm>
            <a:off x="2331720" y="3986784"/>
            <a:ext cx="1965960" cy="987552"/>
          </a:xfrm>
          <a:prstGeom prst="rect">
            <a:avLst/>
          </a:prstGeom>
          <a:solidFill>
            <a:srgbClr val="EEF1F8"/>
          </a:solidFill>
          <a:ln w="9525">
            <a:solidFill>
              <a:srgbClr val="D9DFEA"/>
            </a:solidFill>
            <a:prstDash val="solid"/>
          </a:ln>
        </p:spPr>
      </p:sp>
      <p:sp>
        <p:nvSpPr>
          <p:cNvPr id="44" name="Text 38"/>
          <p:cNvSpPr txBox="1"/>
          <p:nvPr/>
        </p:nvSpPr>
        <p:spPr>
          <a:xfrm>
            <a:off x="2441448" y="3986784"/>
            <a:ext cx="176479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USD 5,000 to 50,000</a:t>
            </a:r>
            <a:endParaRPr lang="en-US" sz="1100" dirty="0"/>
          </a:p>
        </p:txBody>
      </p:sp>
      <p:sp>
        <p:nvSpPr>
          <p:cNvPr id="45" name="Shape 39"/>
          <p:cNvSpPr/>
          <p:nvPr/>
        </p:nvSpPr>
        <p:spPr>
          <a:xfrm>
            <a:off x="4343400" y="3986784"/>
            <a:ext cx="2423160" cy="987552"/>
          </a:xfrm>
          <a:prstGeom prst="rect">
            <a:avLst/>
          </a:prstGeom>
          <a:solidFill>
            <a:srgbClr val="EEF1F8"/>
          </a:solidFill>
          <a:ln w="9525">
            <a:solidFill>
              <a:srgbClr val="D9DFEA"/>
            </a:solidFill>
            <a:prstDash val="solid"/>
          </a:ln>
        </p:spPr>
      </p:sp>
      <p:sp>
        <p:nvSpPr>
          <p:cNvPr id="46" name="Text 40"/>
          <p:cNvSpPr txBox="1"/>
          <p:nvPr/>
        </p:nvSpPr>
        <p:spPr>
          <a:xfrm>
            <a:off x="4453128" y="3986784"/>
            <a:ext cx="222199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Professionals and business owners</a:t>
            </a:r>
            <a:endParaRPr lang="en-US" sz="1100" dirty="0"/>
          </a:p>
        </p:txBody>
      </p:sp>
      <p:sp>
        <p:nvSpPr>
          <p:cNvPr id="47" name="Shape 41"/>
          <p:cNvSpPr/>
          <p:nvPr/>
        </p:nvSpPr>
        <p:spPr>
          <a:xfrm>
            <a:off x="6812280" y="3986784"/>
            <a:ext cx="2286000" cy="987552"/>
          </a:xfrm>
          <a:prstGeom prst="rect">
            <a:avLst/>
          </a:prstGeom>
          <a:solidFill>
            <a:srgbClr val="EEF1F8"/>
          </a:solidFill>
          <a:ln w="9525">
            <a:solidFill>
              <a:srgbClr val="D9DFEA"/>
            </a:solidFill>
            <a:prstDash val="solid"/>
          </a:ln>
        </p:spPr>
      </p:sp>
      <p:sp>
        <p:nvSpPr>
          <p:cNvPr id="48" name="Text 42"/>
          <p:cNvSpPr txBox="1"/>
          <p:nvPr/>
        </p:nvSpPr>
        <p:spPr>
          <a:xfrm>
            <a:off x="6922008" y="3986784"/>
            <a:ext cx="208483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LinkedIn lead generation</a:t>
            </a:r>
            <a:endParaRPr lang="en-US" sz="1100" dirty="0"/>
          </a:p>
        </p:txBody>
      </p:sp>
      <p:sp>
        <p:nvSpPr>
          <p:cNvPr id="49" name="Shape 43"/>
          <p:cNvSpPr/>
          <p:nvPr/>
        </p:nvSpPr>
        <p:spPr>
          <a:xfrm>
            <a:off x="9144000" y="3986784"/>
            <a:ext cx="2487168" cy="987552"/>
          </a:xfrm>
          <a:prstGeom prst="rect">
            <a:avLst/>
          </a:prstGeom>
          <a:solidFill>
            <a:srgbClr val="EEF1F8"/>
          </a:solidFill>
          <a:ln w="9525">
            <a:solidFill>
              <a:srgbClr val="D9DFEA"/>
            </a:solidFill>
            <a:prstDash val="solid"/>
          </a:ln>
        </p:spPr>
      </p:sp>
      <p:sp>
        <p:nvSpPr>
          <p:cNvPr id="50" name="Text 44"/>
          <p:cNvSpPr txBox="1"/>
          <p:nvPr/>
        </p:nvSpPr>
        <p:spPr>
          <a:xfrm>
            <a:off x="9253728" y="3986784"/>
            <a:ext cx="2286000"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Licensed Islamic firm, wide product range, personal service</a:t>
            </a:r>
            <a:endParaRPr lang="en-US" sz="1100" dirty="0"/>
          </a:p>
        </p:txBody>
      </p:sp>
      <p:sp>
        <p:nvSpPr>
          <p:cNvPr id="51" name="Shape 45"/>
          <p:cNvSpPr/>
          <p:nvPr/>
        </p:nvSpPr>
        <p:spPr>
          <a:xfrm>
            <a:off x="566928" y="4974336"/>
            <a:ext cx="1737360" cy="987552"/>
          </a:xfrm>
          <a:prstGeom prst="rect">
            <a:avLst/>
          </a:prstGeom>
          <a:solidFill>
            <a:srgbClr val="FFFFFF"/>
          </a:solidFill>
          <a:ln w="9525">
            <a:solidFill>
              <a:srgbClr val="D9DFEA"/>
            </a:solidFill>
            <a:prstDash val="solid"/>
          </a:ln>
        </p:spPr>
      </p:sp>
      <p:sp>
        <p:nvSpPr>
          <p:cNvPr id="52" name="Text 46"/>
          <p:cNvSpPr txBox="1"/>
          <p:nvPr/>
        </p:nvSpPr>
        <p:spPr>
          <a:xfrm>
            <a:off x="676656" y="4974336"/>
            <a:ext cx="1536192" cy="987552"/>
          </a:xfrm>
          <a:prstGeom prst="rect">
            <a:avLst/>
          </a:prstGeom>
          <a:noFill/>
          <a:ln/>
        </p:spPr>
        <p:txBody>
          <a:bodyPr wrap="square" lIns="0" tIns="0" rIns="0" bIns="0" rtlCol="0" anchor="ctr"/>
          <a:lstStyle/>
          <a:p>
            <a:pPr indent="0" marL="0">
              <a:buNone/>
            </a:pPr>
            <a:r>
              <a:rPr lang="en-US" sz="1300" b="1" dirty="0">
                <a:solidFill>
                  <a:srgbClr val="132257"/>
                </a:solidFill>
                <a:latin typeface="Exo 2" pitchFamily="34" charset="0"/>
                <a:ea typeface="Exo 2" pitchFamily="34" charset="-122"/>
                <a:cs typeface="Exo 2" pitchFamily="34" charset="-120"/>
              </a:rPr>
              <a:t>High net worth</a:t>
            </a:r>
            <a:endParaRPr lang="en-US" sz="1300" dirty="0"/>
          </a:p>
        </p:txBody>
      </p:sp>
      <p:sp>
        <p:nvSpPr>
          <p:cNvPr id="53" name="Shape 47"/>
          <p:cNvSpPr/>
          <p:nvPr/>
        </p:nvSpPr>
        <p:spPr>
          <a:xfrm>
            <a:off x="2331720" y="4974336"/>
            <a:ext cx="1965960" cy="987552"/>
          </a:xfrm>
          <a:prstGeom prst="rect">
            <a:avLst/>
          </a:prstGeom>
          <a:solidFill>
            <a:srgbClr val="FFFFFF"/>
          </a:solidFill>
          <a:ln w="9525">
            <a:solidFill>
              <a:srgbClr val="D9DFEA"/>
            </a:solidFill>
            <a:prstDash val="solid"/>
          </a:ln>
        </p:spPr>
      </p:sp>
      <p:sp>
        <p:nvSpPr>
          <p:cNvPr id="54" name="Text 48"/>
          <p:cNvSpPr txBox="1"/>
          <p:nvPr/>
        </p:nvSpPr>
        <p:spPr>
          <a:xfrm>
            <a:off x="2441448" y="4974336"/>
            <a:ext cx="176479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Over USD 50,000</a:t>
            </a:r>
            <a:endParaRPr lang="en-US" sz="1100" dirty="0"/>
          </a:p>
        </p:txBody>
      </p:sp>
      <p:sp>
        <p:nvSpPr>
          <p:cNvPr id="55" name="Shape 49"/>
          <p:cNvSpPr/>
          <p:nvPr/>
        </p:nvSpPr>
        <p:spPr>
          <a:xfrm>
            <a:off x="4343400" y="4974336"/>
            <a:ext cx="2423160" cy="987552"/>
          </a:xfrm>
          <a:prstGeom prst="rect">
            <a:avLst/>
          </a:prstGeom>
          <a:solidFill>
            <a:srgbClr val="FFFFFF"/>
          </a:solidFill>
          <a:ln w="9525">
            <a:solidFill>
              <a:srgbClr val="D9DFEA"/>
            </a:solidFill>
            <a:prstDash val="solid"/>
          </a:ln>
        </p:spPr>
      </p:sp>
      <p:sp>
        <p:nvSpPr>
          <p:cNvPr id="56" name="Text 50"/>
          <p:cNvSpPr txBox="1"/>
          <p:nvPr/>
        </p:nvSpPr>
        <p:spPr>
          <a:xfrm>
            <a:off x="4453128" y="4974336"/>
            <a:ext cx="222199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Senior decision makers</a:t>
            </a:r>
            <a:endParaRPr lang="en-US" sz="1100" dirty="0"/>
          </a:p>
        </p:txBody>
      </p:sp>
      <p:sp>
        <p:nvSpPr>
          <p:cNvPr id="57" name="Shape 51"/>
          <p:cNvSpPr/>
          <p:nvPr/>
        </p:nvSpPr>
        <p:spPr>
          <a:xfrm>
            <a:off x="6812280" y="4974336"/>
            <a:ext cx="2286000" cy="987552"/>
          </a:xfrm>
          <a:prstGeom prst="rect">
            <a:avLst/>
          </a:prstGeom>
          <a:solidFill>
            <a:srgbClr val="FFFFFF"/>
          </a:solidFill>
          <a:ln w="9525">
            <a:solidFill>
              <a:srgbClr val="D9DFEA"/>
            </a:solidFill>
            <a:prstDash val="solid"/>
          </a:ln>
        </p:spPr>
      </p:sp>
      <p:sp>
        <p:nvSpPr>
          <p:cNvPr id="58" name="Text 52"/>
          <p:cNvSpPr txBox="1"/>
          <p:nvPr/>
        </p:nvSpPr>
        <p:spPr>
          <a:xfrm>
            <a:off x="6922008" y="4974336"/>
            <a:ext cx="2084832"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Ajyad placement team, in person</a:t>
            </a:r>
            <a:endParaRPr lang="en-US" sz="1100" dirty="0"/>
          </a:p>
        </p:txBody>
      </p:sp>
      <p:sp>
        <p:nvSpPr>
          <p:cNvPr id="59" name="Shape 53"/>
          <p:cNvSpPr/>
          <p:nvPr/>
        </p:nvSpPr>
        <p:spPr>
          <a:xfrm>
            <a:off x="9144000" y="4974336"/>
            <a:ext cx="2487168" cy="987552"/>
          </a:xfrm>
          <a:prstGeom prst="rect">
            <a:avLst/>
          </a:prstGeom>
          <a:solidFill>
            <a:srgbClr val="FFFFFF"/>
          </a:solidFill>
          <a:ln w="9525">
            <a:solidFill>
              <a:srgbClr val="D9DFEA"/>
            </a:solidFill>
            <a:prstDash val="solid"/>
          </a:ln>
        </p:spPr>
      </p:sp>
      <p:sp>
        <p:nvSpPr>
          <p:cNvPr id="60" name="Text 54"/>
          <p:cNvSpPr txBox="1"/>
          <p:nvPr/>
        </p:nvSpPr>
        <p:spPr>
          <a:xfrm>
            <a:off x="9253728" y="4974336"/>
            <a:ext cx="2286000" cy="987552"/>
          </a:xfrm>
          <a:prstGeom prst="rect">
            <a:avLst/>
          </a:prstGeom>
          <a:noFill/>
          <a:ln/>
        </p:spPr>
        <p:txBody>
          <a:bodyPr wrap="square" lIns="0" tIns="0" rIns="0" bIns="0" rtlCol="0" anchor="ctr"/>
          <a:lstStyle/>
          <a:p>
            <a:pPr indent="0" marL="0">
              <a:buNone/>
            </a:pPr>
            <a:r>
              <a:rPr lang="en-US" sz="1100" dirty="0">
                <a:solidFill>
                  <a:srgbClr val="1F2A44"/>
                </a:solidFill>
                <a:latin typeface="Exo 2" pitchFamily="34" charset="0"/>
                <a:ea typeface="Exo 2" pitchFamily="34" charset="-122"/>
                <a:cs typeface="Exo 2" pitchFamily="34" charset="-120"/>
              </a:rPr>
              <a:t>Relationship-led, with the app as the daily tool</a:t>
            </a:r>
            <a:endParaRPr lang="en-US" sz="1100" dirty="0"/>
          </a:p>
        </p:txBody>
      </p:sp>
      <p:sp>
        <p:nvSpPr>
          <p:cNvPr id="61" name="Text 55"/>
          <p:cNvSpPr txBox="1"/>
          <p:nvPr/>
        </p:nvSpPr>
        <p:spPr>
          <a:xfrm>
            <a:off x="566928" y="6035040"/>
            <a:ext cx="11064240" cy="320040"/>
          </a:xfrm>
          <a:prstGeom prst="rect">
            <a:avLst/>
          </a:prstGeom>
          <a:noFill/>
          <a:ln/>
        </p:spPr>
        <p:txBody>
          <a:bodyPr wrap="square" lIns="0" tIns="0" rIns="0" bIns="0" rtlCol="0" anchor="t"/>
          <a:lstStyle/>
          <a:p>
            <a:pPr indent="0" marL="0">
              <a:buNone/>
            </a:pPr>
            <a:r>
              <a:rPr lang="en-US" sz="1050" i="1" dirty="0">
                <a:solidFill>
                  <a:srgbClr val="6B7590"/>
                </a:solidFill>
                <a:latin typeface="Exo 2" pitchFamily="34" charset="0"/>
                <a:ea typeface="Exo 2" pitchFamily="34" charset="-122"/>
                <a:cs typeface="Exo 2" pitchFamily="34" charset="-120"/>
              </a:rPr>
              <a:t>WealthTech reaches the first three segments at scale through digital channels. The Ajyad placement team closes high net worth relationships one at a time.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OUR APPROACH</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Launch in Saudi Arabia, learn fast, then expand across the GCC</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45920"/>
            <a:ext cx="3566160" cy="4343400"/>
          </a:xfrm>
          <a:prstGeom prst="rect">
            <a:avLst/>
          </a:prstGeom>
          <a:solidFill>
            <a:srgbClr val="FFFFFF"/>
          </a:solidFill>
          <a:ln w="9525">
            <a:solidFill>
              <a:srgbClr val="D9DFEA"/>
            </a:solidFill>
            <a:prstDash val="solid"/>
          </a:ln>
        </p:spPr>
      </p:sp>
      <p:sp>
        <p:nvSpPr>
          <p:cNvPr id="12" name="Shape 6"/>
          <p:cNvSpPr/>
          <p:nvPr/>
        </p:nvSpPr>
        <p:spPr>
          <a:xfrm>
            <a:off x="566928" y="1645920"/>
            <a:ext cx="3566160" cy="41148"/>
          </a:xfrm>
          <a:prstGeom prst="rect">
            <a:avLst/>
          </a:prstGeom>
          <a:solidFill>
            <a:srgbClr val="132257"/>
          </a:solidFill>
          <a:ln w="12700">
            <a:solidFill>
              <a:srgbClr val="132257"/>
            </a:solidFill>
            <a:prstDash val="solid"/>
          </a:ln>
        </p:spPr>
      </p:sp>
      <p:sp>
        <p:nvSpPr>
          <p:cNvPr id="13" name="Text 7"/>
          <p:cNvSpPr txBox="1"/>
          <p:nvPr/>
        </p:nvSpPr>
        <p:spPr>
          <a:xfrm>
            <a:off x="841248" y="1828800"/>
            <a:ext cx="3017520" cy="274320"/>
          </a:xfrm>
          <a:prstGeom prst="rect">
            <a:avLst/>
          </a:prstGeom>
          <a:noFill/>
          <a:ln/>
        </p:spPr>
        <p:txBody>
          <a:bodyPr wrap="square" lIns="0" tIns="0" rIns="0" bIns="0" rtlCol="0" anchor="t"/>
          <a:lstStyle/>
          <a:p>
            <a:pPr indent="0" marL="0">
              <a:buNone/>
            </a:pPr>
            <a:r>
              <a:rPr lang="en-US" sz="1000" b="1" spc="100" kern="0" dirty="0">
                <a:solidFill>
                  <a:srgbClr val="132257"/>
                </a:solidFill>
                <a:latin typeface="Exo 2" pitchFamily="34" charset="0"/>
                <a:ea typeface="Exo 2" pitchFamily="34" charset="-122"/>
                <a:cs typeface="Exo 2" pitchFamily="34" charset="-120"/>
              </a:rPr>
              <a:t>PHASE 1</a:t>
            </a:r>
            <a:endParaRPr lang="en-US" sz="1000" dirty="0"/>
          </a:p>
        </p:txBody>
      </p:sp>
      <p:sp>
        <p:nvSpPr>
          <p:cNvPr id="14" name="Text 8"/>
          <p:cNvSpPr txBox="1"/>
          <p:nvPr/>
        </p:nvSpPr>
        <p:spPr>
          <a:xfrm>
            <a:off x="841248" y="2121408"/>
            <a:ext cx="3017520" cy="411480"/>
          </a:xfrm>
          <a:prstGeom prst="rect">
            <a:avLst/>
          </a:prstGeom>
          <a:noFill/>
          <a:ln/>
        </p:spPr>
        <p:txBody>
          <a:bodyPr wrap="square" lIns="0" tIns="0" rIns="0" bIns="0" rtlCol="0" anchor="t"/>
          <a:lstStyle/>
          <a:p>
            <a:pPr indent="0" marL="0">
              <a:buNone/>
            </a:pPr>
            <a:r>
              <a:rPr lang="en-US" sz="1700" b="1" dirty="0">
                <a:solidFill>
                  <a:srgbClr val="132257"/>
                </a:solidFill>
                <a:latin typeface="Exo 2" pitchFamily="34" charset="0"/>
                <a:ea typeface="Exo 2" pitchFamily="34" charset="-122"/>
                <a:cs typeface="Exo 2" pitchFamily="34" charset="-120"/>
              </a:rPr>
              <a:t>Launch in Saudi Arabia</a:t>
            </a:r>
            <a:endParaRPr lang="en-US" sz="1700" dirty="0"/>
          </a:p>
        </p:txBody>
      </p:sp>
      <p:sp>
        <p:nvSpPr>
          <p:cNvPr id="15" name="Text 9"/>
          <p:cNvSpPr txBox="1"/>
          <p:nvPr/>
        </p:nvSpPr>
        <p:spPr>
          <a:xfrm>
            <a:off x="841248" y="2560320"/>
            <a:ext cx="301752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Sep to Oct 2026</a:t>
            </a:r>
            <a:endParaRPr lang="en-US" sz="1100" dirty="0"/>
          </a:p>
        </p:txBody>
      </p:sp>
      <p:sp>
        <p:nvSpPr>
          <p:cNvPr id="16" name="Shape 10"/>
          <p:cNvSpPr/>
          <p:nvPr/>
        </p:nvSpPr>
        <p:spPr>
          <a:xfrm>
            <a:off x="841248" y="2926080"/>
            <a:ext cx="3017520" cy="18288"/>
          </a:xfrm>
          <a:prstGeom prst="rect">
            <a:avLst/>
          </a:prstGeom>
          <a:solidFill>
            <a:srgbClr val="D9DFEA"/>
          </a:solidFill>
          <a:ln w="12700">
            <a:solidFill>
              <a:srgbClr val="D9DFEA"/>
            </a:solidFill>
            <a:prstDash val="solid"/>
          </a:ln>
        </p:spPr>
      </p:sp>
      <p:sp>
        <p:nvSpPr>
          <p:cNvPr id="17" name="Text 11"/>
          <p:cNvSpPr txBox="1"/>
          <p:nvPr/>
        </p:nvSpPr>
        <p:spPr>
          <a:xfrm>
            <a:off x="841248" y="3063240"/>
            <a:ext cx="3063240" cy="27432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Google Search and app ads live</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LinkedIn lead generation for Affluent investors</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First Saudi creator video</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Arabic and English ads tested side by side</a:t>
            </a:r>
            <a:endParaRPr lang="en-US" sz="1350" dirty="0"/>
          </a:p>
        </p:txBody>
      </p:sp>
      <p:sp>
        <p:nvSpPr>
          <p:cNvPr id="18" name="Shape 12"/>
          <p:cNvSpPr/>
          <p:nvPr/>
        </p:nvSpPr>
        <p:spPr>
          <a:xfrm>
            <a:off x="4315968" y="1645920"/>
            <a:ext cx="3566160" cy="4343400"/>
          </a:xfrm>
          <a:prstGeom prst="rect">
            <a:avLst/>
          </a:prstGeom>
          <a:solidFill>
            <a:srgbClr val="FFFFFF"/>
          </a:solidFill>
          <a:ln w="9525">
            <a:solidFill>
              <a:srgbClr val="D9DFEA"/>
            </a:solidFill>
            <a:prstDash val="solid"/>
          </a:ln>
        </p:spPr>
      </p:sp>
      <p:sp>
        <p:nvSpPr>
          <p:cNvPr id="19" name="Shape 13"/>
          <p:cNvSpPr/>
          <p:nvPr/>
        </p:nvSpPr>
        <p:spPr>
          <a:xfrm>
            <a:off x="4315968" y="1645920"/>
            <a:ext cx="3566160" cy="41148"/>
          </a:xfrm>
          <a:prstGeom prst="rect">
            <a:avLst/>
          </a:prstGeom>
          <a:solidFill>
            <a:srgbClr val="9A7B1F"/>
          </a:solidFill>
          <a:ln w="12700">
            <a:solidFill>
              <a:srgbClr val="9A7B1F"/>
            </a:solidFill>
            <a:prstDash val="solid"/>
          </a:ln>
        </p:spPr>
      </p:sp>
      <p:sp>
        <p:nvSpPr>
          <p:cNvPr id="20" name="Text 14"/>
          <p:cNvSpPr txBox="1"/>
          <p:nvPr/>
        </p:nvSpPr>
        <p:spPr>
          <a:xfrm>
            <a:off x="4590288" y="1828800"/>
            <a:ext cx="3017520" cy="274320"/>
          </a:xfrm>
          <a:prstGeom prst="rect">
            <a:avLst/>
          </a:prstGeom>
          <a:noFill/>
          <a:ln/>
        </p:spPr>
        <p:txBody>
          <a:bodyPr wrap="square" lIns="0" tIns="0" rIns="0" bIns="0" rtlCol="0" anchor="t"/>
          <a:lstStyle/>
          <a:p>
            <a:pPr indent="0" marL="0">
              <a:buNone/>
            </a:pPr>
            <a:r>
              <a:rPr lang="en-US" sz="1000" b="1" spc="100" kern="0" dirty="0">
                <a:solidFill>
                  <a:srgbClr val="9A7B1F"/>
                </a:solidFill>
                <a:latin typeface="Exo 2" pitchFamily="34" charset="0"/>
                <a:ea typeface="Exo 2" pitchFamily="34" charset="-122"/>
                <a:cs typeface="Exo 2" pitchFamily="34" charset="-120"/>
              </a:rPr>
              <a:t>PHASE 2</a:t>
            </a:r>
            <a:endParaRPr lang="en-US" sz="1000" dirty="0"/>
          </a:p>
        </p:txBody>
      </p:sp>
      <p:sp>
        <p:nvSpPr>
          <p:cNvPr id="21" name="Text 15"/>
          <p:cNvSpPr txBox="1"/>
          <p:nvPr/>
        </p:nvSpPr>
        <p:spPr>
          <a:xfrm>
            <a:off x="4590288" y="2121408"/>
            <a:ext cx="3017520" cy="411480"/>
          </a:xfrm>
          <a:prstGeom prst="rect">
            <a:avLst/>
          </a:prstGeom>
          <a:noFill/>
          <a:ln/>
        </p:spPr>
        <p:txBody>
          <a:bodyPr wrap="square" lIns="0" tIns="0" rIns="0" bIns="0" rtlCol="0" anchor="t"/>
          <a:lstStyle/>
          <a:p>
            <a:pPr indent="0" marL="0">
              <a:buNone/>
            </a:pPr>
            <a:r>
              <a:rPr lang="en-US" sz="1700" b="1" dirty="0">
                <a:solidFill>
                  <a:srgbClr val="132257"/>
                </a:solidFill>
                <a:latin typeface="Exo 2" pitchFamily="34" charset="0"/>
                <a:ea typeface="Exo 2" pitchFamily="34" charset="-122"/>
                <a:cs typeface="Exo 2" pitchFamily="34" charset="-120"/>
              </a:rPr>
              <a:t>Measure and refine</a:t>
            </a:r>
            <a:endParaRPr lang="en-US" sz="1700" dirty="0"/>
          </a:p>
        </p:txBody>
      </p:sp>
      <p:sp>
        <p:nvSpPr>
          <p:cNvPr id="22" name="Text 16"/>
          <p:cNvSpPr txBox="1"/>
          <p:nvPr/>
        </p:nvSpPr>
        <p:spPr>
          <a:xfrm>
            <a:off x="4590288" y="2560320"/>
            <a:ext cx="301752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Oct to Nov 2026</a:t>
            </a:r>
            <a:endParaRPr lang="en-US" sz="1100" dirty="0"/>
          </a:p>
        </p:txBody>
      </p:sp>
      <p:sp>
        <p:nvSpPr>
          <p:cNvPr id="23" name="Shape 17"/>
          <p:cNvSpPr/>
          <p:nvPr/>
        </p:nvSpPr>
        <p:spPr>
          <a:xfrm>
            <a:off x="4590288" y="2926080"/>
            <a:ext cx="3017520" cy="18288"/>
          </a:xfrm>
          <a:prstGeom prst="rect">
            <a:avLst/>
          </a:prstGeom>
          <a:solidFill>
            <a:srgbClr val="D9DFEA"/>
          </a:solidFill>
          <a:ln w="12700">
            <a:solidFill>
              <a:srgbClr val="D9DFEA"/>
            </a:solidFill>
            <a:prstDash val="solid"/>
          </a:ln>
        </p:spPr>
      </p:sp>
      <p:sp>
        <p:nvSpPr>
          <p:cNvPr id="24" name="Text 18"/>
          <p:cNvSpPr txBox="1"/>
          <p:nvPr/>
        </p:nvSpPr>
        <p:spPr>
          <a:xfrm>
            <a:off x="4590288" y="3063240"/>
            <a:ext cx="3063240" cy="27432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One-month test results by channel</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Keep what converts, cut what does not</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Add brand awareness: outdoor and Jodel bursts</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Tighten onboarding for Saudi users</a:t>
            </a:r>
            <a:endParaRPr lang="en-US" sz="1350" dirty="0"/>
          </a:p>
        </p:txBody>
      </p:sp>
      <p:sp>
        <p:nvSpPr>
          <p:cNvPr id="25" name="Shape 19"/>
          <p:cNvSpPr/>
          <p:nvPr/>
        </p:nvSpPr>
        <p:spPr>
          <a:xfrm>
            <a:off x="8065008" y="1645920"/>
            <a:ext cx="3566160" cy="4343400"/>
          </a:xfrm>
          <a:prstGeom prst="rect">
            <a:avLst/>
          </a:prstGeom>
          <a:solidFill>
            <a:srgbClr val="FFFFFF"/>
          </a:solidFill>
          <a:ln w="9525">
            <a:solidFill>
              <a:srgbClr val="D9DFEA"/>
            </a:solidFill>
            <a:prstDash val="solid"/>
          </a:ln>
        </p:spPr>
      </p:sp>
      <p:sp>
        <p:nvSpPr>
          <p:cNvPr id="26" name="Shape 20"/>
          <p:cNvSpPr/>
          <p:nvPr/>
        </p:nvSpPr>
        <p:spPr>
          <a:xfrm>
            <a:off x="8065008" y="1645920"/>
            <a:ext cx="3566160" cy="41148"/>
          </a:xfrm>
          <a:prstGeom prst="rect">
            <a:avLst/>
          </a:prstGeom>
          <a:solidFill>
            <a:srgbClr val="1BA97C"/>
          </a:solidFill>
          <a:ln w="12700">
            <a:solidFill>
              <a:srgbClr val="1BA97C"/>
            </a:solidFill>
            <a:prstDash val="solid"/>
          </a:ln>
        </p:spPr>
      </p:sp>
      <p:sp>
        <p:nvSpPr>
          <p:cNvPr id="27" name="Text 21"/>
          <p:cNvSpPr txBox="1"/>
          <p:nvPr/>
        </p:nvSpPr>
        <p:spPr>
          <a:xfrm>
            <a:off x="8339328" y="1828800"/>
            <a:ext cx="3017520" cy="274320"/>
          </a:xfrm>
          <a:prstGeom prst="rect">
            <a:avLst/>
          </a:prstGeom>
          <a:noFill/>
          <a:ln/>
        </p:spPr>
        <p:txBody>
          <a:bodyPr wrap="square" lIns="0" tIns="0" rIns="0" bIns="0" rtlCol="0" anchor="t"/>
          <a:lstStyle/>
          <a:p>
            <a:pPr indent="0" marL="0">
              <a:buNone/>
            </a:pPr>
            <a:r>
              <a:rPr lang="en-US" sz="1000" b="1" spc="100" kern="0" dirty="0">
                <a:solidFill>
                  <a:srgbClr val="1BA97C"/>
                </a:solidFill>
                <a:latin typeface="Exo 2" pitchFamily="34" charset="0"/>
                <a:ea typeface="Exo 2" pitchFamily="34" charset="-122"/>
                <a:cs typeface="Exo 2" pitchFamily="34" charset="-120"/>
              </a:rPr>
              <a:t>PHASE 3</a:t>
            </a:r>
            <a:endParaRPr lang="en-US" sz="1000" dirty="0"/>
          </a:p>
        </p:txBody>
      </p:sp>
      <p:sp>
        <p:nvSpPr>
          <p:cNvPr id="28" name="Text 22"/>
          <p:cNvSpPr txBox="1"/>
          <p:nvPr/>
        </p:nvSpPr>
        <p:spPr>
          <a:xfrm>
            <a:off x="8339328" y="2121408"/>
            <a:ext cx="3017520" cy="411480"/>
          </a:xfrm>
          <a:prstGeom prst="rect">
            <a:avLst/>
          </a:prstGeom>
          <a:noFill/>
          <a:ln/>
        </p:spPr>
        <p:txBody>
          <a:bodyPr wrap="square" lIns="0" tIns="0" rIns="0" bIns="0" rtlCol="0" anchor="t"/>
          <a:lstStyle/>
          <a:p>
            <a:pPr indent="0" marL="0">
              <a:buNone/>
            </a:pPr>
            <a:r>
              <a:rPr lang="en-US" sz="1700" b="1" dirty="0">
                <a:solidFill>
                  <a:srgbClr val="132257"/>
                </a:solidFill>
                <a:latin typeface="Exo 2" pitchFamily="34" charset="0"/>
                <a:ea typeface="Exo 2" pitchFamily="34" charset="-122"/>
                <a:cs typeface="Exo 2" pitchFamily="34" charset="-120"/>
              </a:rPr>
              <a:t>Scale and expand</a:t>
            </a:r>
            <a:endParaRPr lang="en-US" sz="1700" dirty="0"/>
          </a:p>
        </p:txBody>
      </p:sp>
      <p:sp>
        <p:nvSpPr>
          <p:cNvPr id="29" name="Text 23"/>
          <p:cNvSpPr txBox="1"/>
          <p:nvPr/>
        </p:nvSpPr>
        <p:spPr>
          <a:xfrm>
            <a:off x="8339328" y="2560320"/>
            <a:ext cx="301752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Nov to Dec 2026</a:t>
            </a:r>
            <a:endParaRPr lang="en-US" sz="1100" dirty="0"/>
          </a:p>
        </p:txBody>
      </p:sp>
      <p:sp>
        <p:nvSpPr>
          <p:cNvPr id="30" name="Shape 24"/>
          <p:cNvSpPr/>
          <p:nvPr/>
        </p:nvSpPr>
        <p:spPr>
          <a:xfrm>
            <a:off x="8339328" y="2926080"/>
            <a:ext cx="3017520" cy="18288"/>
          </a:xfrm>
          <a:prstGeom prst="rect">
            <a:avLst/>
          </a:prstGeom>
          <a:solidFill>
            <a:srgbClr val="D9DFEA"/>
          </a:solidFill>
          <a:ln w="12700">
            <a:solidFill>
              <a:srgbClr val="D9DFEA"/>
            </a:solidFill>
            <a:prstDash val="solid"/>
          </a:ln>
        </p:spPr>
      </p:sp>
      <p:sp>
        <p:nvSpPr>
          <p:cNvPr id="31" name="Text 25"/>
          <p:cNvSpPr txBox="1"/>
          <p:nvPr/>
        </p:nvSpPr>
        <p:spPr>
          <a:xfrm>
            <a:off x="8339328" y="3063240"/>
            <a:ext cx="3063240" cy="27432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Scale the best Saudi channels</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Extend to Qatar, UAE, Kuwait, Bahrain and Oman</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Monthly creator content across the GCC</a:t>
            </a:r>
            <a:endParaRPr lang="en-US" sz="1350" dirty="0"/>
          </a:p>
          <a:p>
            <a:pPr marL="177800" indent="-177800">
              <a:spcAft>
                <a:spcPts val="600"/>
              </a:spcAft>
              <a:buSzPct val="100000"/>
              <a:buChar char="•"/>
            </a:pPr>
            <a:r>
              <a:rPr lang="en-US" sz="1350" dirty="0">
                <a:solidFill>
                  <a:srgbClr val="1F2A44"/>
                </a:solidFill>
                <a:latin typeface="Exo 2" pitchFamily="34" charset="0"/>
                <a:ea typeface="Exo 2" pitchFamily="34" charset="-122"/>
                <a:cs typeface="Exo 2" pitchFamily="34" charset="-120"/>
              </a:rPr>
              <a:t>Partnerships with regional institutions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DIGITAL PERFORMANCE CHANNELS</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Google Ads and LinkedIn: reaching investors when they are looking</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45920"/>
            <a:ext cx="5440680" cy="3657600"/>
          </a:xfrm>
          <a:prstGeom prst="rect">
            <a:avLst/>
          </a:prstGeom>
          <a:solidFill>
            <a:srgbClr val="FFFFFF"/>
          </a:solidFill>
          <a:ln w="9525">
            <a:solidFill>
              <a:srgbClr val="D9DFEA"/>
            </a:solidFill>
            <a:prstDash val="solid"/>
          </a:ln>
        </p:spPr>
      </p:sp>
      <p:sp>
        <p:nvSpPr>
          <p:cNvPr id="12" name="Shape 6"/>
          <p:cNvSpPr/>
          <p:nvPr/>
        </p:nvSpPr>
        <p:spPr>
          <a:xfrm>
            <a:off x="566928" y="1645920"/>
            <a:ext cx="5440680" cy="41148"/>
          </a:xfrm>
          <a:prstGeom prst="rect">
            <a:avLst/>
          </a:prstGeom>
          <a:solidFill>
            <a:srgbClr val="1BA97C"/>
          </a:solidFill>
          <a:ln w="12700">
            <a:solidFill>
              <a:srgbClr val="1BA97C"/>
            </a:solidFill>
            <a:prstDash val="solid"/>
          </a:ln>
        </p:spPr>
      </p:sp>
      <p:sp>
        <p:nvSpPr>
          <p:cNvPr id="13" name="Text 7"/>
          <p:cNvSpPr txBox="1"/>
          <p:nvPr/>
        </p:nvSpPr>
        <p:spPr>
          <a:xfrm>
            <a:off x="841248" y="1847088"/>
            <a:ext cx="3200400" cy="411480"/>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Google Ads</a:t>
            </a:r>
            <a:endParaRPr lang="en-US" sz="2000" dirty="0"/>
          </a:p>
        </p:txBody>
      </p:sp>
      <p:sp>
        <p:nvSpPr>
          <p:cNvPr id="14" name="Shape 8"/>
          <p:cNvSpPr/>
          <p:nvPr/>
        </p:nvSpPr>
        <p:spPr>
          <a:xfrm>
            <a:off x="3813048" y="1901952"/>
            <a:ext cx="1920240" cy="329184"/>
          </a:xfrm>
          <a:prstGeom prst="rect">
            <a:avLst/>
          </a:prstGeom>
          <a:solidFill>
            <a:srgbClr val="EEF1F8"/>
          </a:solidFill>
          <a:ln w="12700">
            <a:solidFill>
              <a:srgbClr val="EEF1F8"/>
            </a:solidFill>
            <a:prstDash val="solid"/>
          </a:ln>
        </p:spPr>
      </p:sp>
      <p:sp>
        <p:nvSpPr>
          <p:cNvPr id="15" name="Text 9"/>
          <p:cNvSpPr txBox="1"/>
          <p:nvPr/>
        </p:nvSpPr>
        <p:spPr>
          <a:xfrm>
            <a:off x="3813048" y="1901952"/>
            <a:ext cx="1920240" cy="329184"/>
          </a:xfrm>
          <a:prstGeom prst="rect">
            <a:avLst/>
          </a:prstGeom>
          <a:noFill/>
          <a:ln/>
        </p:spPr>
        <p:txBody>
          <a:bodyPr wrap="square" lIns="0" tIns="0" rIns="0" bIns="0" rtlCol="0" anchor="ctr"/>
          <a:lstStyle/>
          <a:p>
            <a:pPr algn="ctr" indent="0" marL="0">
              <a:buNone/>
            </a:pPr>
            <a:r>
              <a:rPr lang="en-US" sz="950" b="1" dirty="0">
                <a:solidFill>
                  <a:srgbClr val="1BA97C"/>
                </a:solidFill>
                <a:latin typeface="Exo 2" pitchFamily="34" charset="0"/>
                <a:ea typeface="Exo 2" pitchFamily="34" charset="-122"/>
                <a:cs typeface="Exo 2" pitchFamily="34" charset="-120"/>
              </a:rPr>
              <a:t>Live since 22 Sep 2026</a:t>
            </a:r>
            <a:endParaRPr lang="en-US" sz="950" dirty="0"/>
          </a:p>
        </p:txBody>
      </p:sp>
      <p:sp>
        <p:nvSpPr>
          <p:cNvPr id="16" name="Text 10"/>
          <p:cNvSpPr txBox="1"/>
          <p:nvPr/>
        </p:nvSpPr>
        <p:spPr>
          <a:xfrm>
            <a:off x="841248" y="2514600"/>
            <a:ext cx="4937760" cy="2651760"/>
          </a:xfrm>
          <a:prstGeom prst="rect">
            <a:avLst/>
          </a:prstGeom>
          <a:noFill/>
          <a:ln/>
        </p:spPr>
        <p:txBody>
          <a:bodyPr wrap="square" lIns="0" tIns="0" rIns="0" bIns="0" rtlCol="0" anchor="t"/>
          <a:lstStyle/>
          <a:p>
            <a:pPr marL="177800" indent="-177800">
              <a:spcAft>
                <a:spcPts val="600"/>
              </a:spcAft>
              <a:buSzPct val="100000"/>
              <a:buChar char="•"/>
            </a:pPr>
            <a:r>
              <a:rPr lang="en-US" sz="1450" b="1" dirty="0">
                <a:solidFill>
                  <a:srgbClr val="132257"/>
                </a:solidFill>
                <a:latin typeface="Exo 2" pitchFamily="34" charset="0"/>
                <a:ea typeface="Exo 2" pitchFamily="34" charset="-122"/>
                <a:cs typeface="Exo 2" pitchFamily="34" charset="-120"/>
              </a:rPr>
              <a:t>Who: </a:t>
            </a:r>
            <a:pPr indent="0" marL="0">
              <a:spcAft>
                <a:spcPts val="600"/>
              </a:spcAft>
              <a:buNone/>
            </a:pPr>
            <a:r>
              <a:rPr lang="en-US" sz="1450" dirty="0">
                <a:solidFill>
                  <a:srgbClr val="1F2A44"/>
                </a:solidFill>
                <a:latin typeface="Exo 2" pitchFamily="34" charset="0"/>
                <a:ea typeface="Exo 2" pitchFamily="34" charset="-122"/>
                <a:cs typeface="Exo 2" pitchFamily="34" charset="-120"/>
              </a:rPr>
              <a:t>Starter and Emerging investors searching for ways to invest</a:t>
            </a:r>
            <a:endParaRPr lang="en-US" sz="1450" dirty="0"/>
          </a:p>
          <a:p>
            <a:pPr marL="177800" indent="-177800">
              <a:spcAft>
                <a:spcPts val="600"/>
              </a:spcAft>
              <a:buSzPct val="100000"/>
              <a:buChar char="•"/>
            </a:pPr>
            <a:r>
              <a:rPr lang="en-US" sz="1450" b="1" dirty="0">
                <a:solidFill>
                  <a:srgbClr val="132257"/>
                </a:solidFill>
                <a:latin typeface="Exo 2" pitchFamily="34" charset="0"/>
                <a:ea typeface="Exo 2" pitchFamily="34" charset="-122"/>
                <a:cs typeface="Exo 2" pitchFamily="34" charset="-120"/>
              </a:rPr>
              <a:t>Where: </a:t>
            </a:r>
            <a:pPr indent="0" marL="0">
              <a:spcAft>
                <a:spcPts val="600"/>
              </a:spcAft>
              <a:buNone/>
            </a:pPr>
            <a:r>
              <a:rPr lang="en-US" sz="1450" dirty="0">
                <a:solidFill>
                  <a:srgbClr val="1F2A44"/>
                </a:solidFill>
                <a:latin typeface="Exo 2" pitchFamily="34" charset="0"/>
                <a:ea typeface="Exo 2" pitchFamily="34" charset="-122"/>
                <a:cs typeface="Exo 2" pitchFamily="34" charset="-120"/>
              </a:rPr>
              <a:t>Saudi Arabia, with Riyadh as the core, Saudi residents only</a:t>
            </a:r>
            <a:endParaRPr lang="en-US" sz="1450" dirty="0"/>
          </a:p>
          <a:p>
            <a:pPr marL="177800" indent="-177800">
              <a:spcAft>
                <a:spcPts val="600"/>
              </a:spcAft>
              <a:buSzPct val="100000"/>
              <a:buChar char="•"/>
            </a:pPr>
            <a:r>
              <a:rPr lang="en-US" sz="1450" b="1" dirty="0">
                <a:solidFill>
                  <a:srgbClr val="132257"/>
                </a:solidFill>
                <a:latin typeface="Exo 2" pitchFamily="34" charset="0"/>
                <a:ea typeface="Exo 2" pitchFamily="34" charset="-122"/>
                <a:cs typeface="Exo 2" pitchFamily="34" charset="-120"/>
              </a:rPr>
              <a:t>How: </a:t>
            </a:r>
            <a:pPr indent="0" marL="0">
              <a:spcAft>
                <a:spcPts val="600"/>
              </a:spcAft>
              <a:buNone/>
            </a:pPr>
            <a:r>
              <a:rPr lang="en-US" sz="1450" dirty="0">
                <a:solidFill>
                  <a:srgbClr val="1F2A44"/>
                </a:solidFill>
                <a:latin typeface="Exo 2" pitchFamily="34" charset="0"/>
                <a:ea typeface="Exo 2" pitchFamily="34" charset="-122"/>
                <a:cs typeface="Exo 2" pitchFamily="34" charset="-120"/>
              </a:rPr>
              <a:t>Search ads in Arabic and English, plus app install and video ads</a:t>
            </a:r>
            <a:endParaRPr lang="en-US" sz="1450" dirty="0"/>
          </a:p>
          <a:p>
            <a:pPr marL="177800" indent="-177800">
              <a:spcAft>
                <a:spcPts val="600"/>
              </a:spcAft>
              <a:buSzPct val="100000"/>
              <a:buChar char="•"/>
            </a:pPr>
            <a:r>
              <a:rPr lang="en-US" sz="1450" b="1" dirty="0">
                <a:solidFill>
                  <a:srgbClr val="132257"/>
                </a:solidFill>
                <a:latin typeface="Exo 2" pitchFamily="34" charset="0"/>
                <a:ea typeface="Exo 2" pitchFamily="34" charset="-122"/>
                <a:cs typeface="Exo 2" pitchFamily="34" charset="-120"/>
              </a:rPr>
              <a:t>So far: </a:t>
            </a:r>
            <a:pPr indent="0" marL="0">
              <a:spcAft>
                <a:spcPts val="600"/>
              </a:spcAft>
              <a:buNone/>
            </a:pPr>
            <a:r>
              <a:rPr lang="en-US" sz="1450" dirty="0">
                <a:solidFill>
                  <a:srgbClr val="1F2A44"/>
                </a:solidFill>
                <a:latin typeface="Exo 2" pitchFamily="34" charset="0"/>
                <a:ea typeface="Exo 2" pitchFamily="34" charset="-122"/>
                <a:cs typeface="Exo 2" pitchFamily="34" charset="-120"/>
              </a:rPr>
              <a:t>70% of September website visits, and both languages engaging well</a:t>
            </a:r>
            <a:endParaRPr lang="en-US" sz="1450" dirty="0"/>
          </a:p>
        </p:txBody>
      </p:sp>
      <p:sp>
        <p:nvSpPr>
          <p:cNvPr id="17" name="Shape 11"/>
          <p:cNvSpPr/>
          <p:nvPr/>
        </p:nvSpPr>
        <p:spPr>
          <a:xfrm>
            <a:off x="6144768" y="1645920"/>
            <a:ext cx="5440680" cy="3657600"/>
          </a:xfrm>
          <a:prstGeom prst="rect">
            <a:avLst/>
          </a:prstGeom>
          <a:solidFill>
            <a:srgbClr val="FFFFFF"/>
          </a:solidFill>
          <a:ln w="9525">
            <a:solidFill>
              <a:srgbClr val="D9DFEA"/>
            </a:solidFill>
            <a:prstDash val="solid"/>
          </a:ln>
        </p:spPr>
      </p:sp>
      <p:sp>
        <p:nvSpPr>
          <p:cNvPr id="18" name="Shape 12"/>
          <p:cNvSpPr/>
          <p:nvPr/>
        </p:nvSpPr>
        <p:spPr>
          <a:xfrm>
            <a:off x="6144768" y="1645920"/>
            <a:ext cx="5440680" cy="41148"/>
          </a:xfrm>
          <a:prstGeom prst="rect">
            <a:avLst/>
          </a:prstGeom>
          <a:solidFill>
            <a:srgbClr val="9A7B1F"/>
          </a:solidFill>
          <a:ln w="12700">
            <a:solidFill>
              <a:srgbClr val="9A7B1F"/>
            </a:solidFill>
            <a:prstDash val="solid"/>
          </a:ln>
        </p:spPr>
      </p:sp>
      <p:sp>
        <p:nvSpPr>
          <p:cNvPr id="19" name="Text 13"/>
          <p:cNvSpPr txBox="1"/>
          <p:nvPr/>
        </p:nvSpPr>
        <p:spPr>
          <a:xfrm>
            <a:off x="6419088" y="1847088"/>
            <a:ext cx="3200400" cy="411480"/>
          </a:xfrm>
          <a:prstGeom prst="rect">
            <a:avLst/>
          </a:prstGeom>
          <a:noFill/>
          <a:ln/>
        </p:spPr>
        <p:txBody>
          <a:bodyPr wrap="square" lIns="0" tIns="0" rIns="0" bIns="0" rtlCol="0" anchor="t"/>
          <a:lstStyle/>
          <a:p>
            <a:pPr indent="0" marL="0">
              <a:buNone/>
            </a:pPr>
            <a:r>
              <a:rPr lang="en-US" sz="2000" b="1" dirty="0">
                <a:solidFill>
                  <a:srgbClr val="132257"/>
                </a:solidFill>
                <a:latin typeface="Exo 2" pitchFamily="34" charset="0"/>
                <a:ea typeface="Exo 2" pitchFamily="34" charset="-122"/>
                <a:cs typeface="Exo 2" pitchFamily="34" charset="-120"/>
              </a:rPr>
              <a:t>LinkedIn</a:t>
            </a:r>
            <a:endParaRPr lang="en-US" sz="2000" dirty="0"/>
          </a:p>
        </p:txBody>
      </p:sp>
      <p:sp>
        <p:nvSpPr>
          <p:cNvPr id="20" name="Shape 14"/>
          <p:cNvSpPr/>
          <p:nvPr/>
        </p:nvSpPr>
        <p:spPr>
          <a:xfrm>
            <a:off x="9390888" y="1901952"/>
            <a:ext cx="1920240" cy="329184"/>
          </a:xfrm>
          <a:prstGeom prst="rect">
            <a:avLst/>
          </a:prstGeom>
          <a:solidFill>
            <a:srgbClr val="EEF1F8"/>
          </a:solidFill>
          <a:ln w="12700">
            <a:solidFill>
              <a:srgbClr val="EEF1F8"/>
            </a:solidFill>
            <a:prstDash val="solid"/>
          </a:ln>
        </p:spPr>
      </p:sp>
      <p:sp>
        <p:nvSpPr>
          <p:cNvPr id="21" name="Text 15"/>
          <p:cNvSpPr txBox="1"/>
          <p:nvPr/>
        </p:nvSpPr>
        <p:spPr>
          <a:xfrm>
            <a:off x="9390888" y="1901952"/>
            <a:ext cx="1920240" cy="329184"/>
          </a:xfrm>
          <a:prstGeom prst="rect">
            <a:avLst/>
          </a:prstGeom>
          <a:noFill/>
          <a:ln/>
        </p:spPr>
        <p:txBody>
          <a:bodyPr wrap="square" lIns="0" tIns="0" rIns="0" bIns="0" rtlCol="0" anchor="ctr"/>
          <a:lstStyle/>
          <a:p>
            <a:pPr algn="ctr" indent="0" marL="0">
              <a:buNone/>
            </a:pPr>
            <a:r>
              <a:rPr lang="en-US" sz="950" b="1" dirty="0">
                <a:solidFill>
                  <a:srgbClr val="9A7B1F"/>
                </a:solidFill>
                <a:latin typeface="Exo 2" pitchFamily="34" charset="0"/>
                <a:ea typeface="Exo 2" pitchFamily="34" charset="-122"/>
                <a:cs typeface="Exo 2" pitchFamily="34" charset="-120"/>
              </a:rPr>
              <a:t>Launching in October 2026</a:t>
            </a:r>
            <a:endParaRPr lang="en-US" sz="950" dirty="0"/>
          </a:p>
        </p:txBody>
      </p:sp>
      <p:sp>
        <p:nvSpPr>
          <p:cNvPr id="22" name="Text 16"/>
          <p:cNvSpPr txBox="1"/>
          <p:nvPr/>
        </p:nvSpPr>
        <p:spPr>
          <a:xfrm>
            <a:off x="6419088" y="2514600"/>
            <a:ext cx="4937760" cy="2651760"/>
          </a:xfrm>
          <a:prstGeom prst="rect">
            <a:avLst/>
          </a:prstGeom>
          <a:noFill/>
          <a:ln/>
        </p:spPr>
        <p:txBody>
          <a:bodyPr wrap="square" lIns="0" tIns="0" rIns="0" bIns="0" rtlCol="0" anchor="t"/>
          <a:lstStyle/>
          <a:p>
            <a:pPr marL="177800" indent="-177800">
              <a:spcAft>
                <a:spcPts val="600"/>
              </a:spcAft>
              <a:buSzPct val="100000"/>
              <a:buChar char="•"/>
            </a:pPr>
            <a:r>
              <a:rPr lang="en-US" sz="1450" b="1" dirty="0">
                <a:solidFill>
                  <a:srgbClr val="132257"/>
                </a:solidFill>
                <a:latin typeface="Exo 2" pitchFamily="34" charset="0"/>
                <a:ea typeface="Exo 2" pitchFamily="34" charset="-122"/>
                <a:cs typeface="Exo 2" pitchFamily="34" charset="-120"/>
              </a:rPr>
              <a:t>Who: </a:t>
            </a:r>
            <a:pPr indent="0" marL="0">
              <a:spcAft>
                <a:spcPts val="600"/>
              </a:spcAft>
              <a:buNone/>
            </a:pPr>
            <a:r>
              <a:rPr lang="en-US" sz="1450" dirty="0">
                <a:solidFill>
                  <a:srgbClr val="1F2A44"/>
                </a:solidFill>
                <a:latin typeface="Exo 2" pitchFamily="34" charset="0"/>
                <a:ea typeface="Exo 2" pitchFamily="34" charset="-122"/>
                <a:cs typeface="Exo 2" pitchFamily="34" charset="-120"/>
              </a:rPr>
              <a:t>Affluent professionals, business owners and senior managers</a:t>
            </a:r>
            <a:endParaRPr lang="en-US" sz="1450" dirty="0"/>
          </a:p>
          <a:p>
            <a:pPr marL="177800" indent="-177800">
              <a:spcAft>
                <a:spcPts val="600"/>
              </a:spcAft>
              <a:buSzPct val="100000"/>
              <a:buChar char="•"/>
            </a:pPr>
            <a:r>
              <a:rPr lang="en-US" sz="1450" b="1" dirty="0">
                <a:solidFill>
                  <a:srgbClr val="132257"/>
                </a:solidFill>
                <a:latin typeface="Exo 2" pitchFamily="34" charset="0"/>
                <a:ea typeface="Exo 2" pitchFamily="34" charset="-122"/>
                <a:cs typeface="Exo 2" pitchFamily="34" charset="-120"/>
              </a:rPr>
              <a:t>Where: </a:t>
            </a:r>
            <a:pPr indent="0" marL="0">
              <a:spcAft>
                <a:spcPts val="600"/>
              </a:spcAft>
              <a:buNone/>
            </a:pPr>
            <a:r>
              <a:rPr lang="en-US" sz="1450" dirty="0">
                <a:solidFill>
                  <a:srgbClr val="1F2A44"/>
                </a:solidFill>
                <a:latin typeface="Exo 2" pitchFamily="34" charset="0"/>
                <a:ea typeface="Exo 2" pitchFamily="34" charset="-122"/>
                <a:cs typeface="Exo 2" pitchFamily="34" charset="-120"/>
              </a:rPr>
              <a:t>Saudi Arabia first, then the wider GCC</a:t>
            </a:r>
            <a:endParaRPr lang="en-US" sz="1450" dirty="0"/>
          </a:p>
          <a:p>
            <a:pPr marL="177800" indent="-177800">
              <a:spcAft>
                <a:spcPts val="600"/>
              </a:spcAft>
              <a:buSzPct val="100000"/>
              <a:buChar char="•"/>
            </a:pPr>
            <a:r>
              <a:rPr lang="en-US" sz="1450" b="1" dirty="0">
                <a:solidFill>
                  <a:srgbClr val="132257"/>
                </a:solidFill>
                <a:latin typeface="Exo 2" pitchFamily="34" charset="0"/>
                <a:ea typeface="Exo 2" pitchFamily="34" charset="-122"/>
                <a:cs typeface="Exo 2" pitchFamily="34" charset="-120"/>
              </a:rPr>
              <a:t>How: </a:t>
            </a:r>
            <a:pPr indent="0" marL="0">
              <a:spcAft>
                <a:spcPts val="600"/>
              </a:spcAft>
              <a:buNone/>
            </a:pPr>
            <a:r>
              <a:rPr lang="en-US" sz="1450" dirty="0">
                <a:solidFill>
                  <a:srgbClr val="1F2A44"/>
                </a:solidFill>
                <a:latin typeface="Exo 2" pitchFamily="34" charset="0"/>
                <a:ea typeface="Exo 2" pitchFamily="34" charset="-122"/>
                <a:cs typeface="Exo 2" pitchFamily="34" charset="-120"/>
              </a:rPr>
              <a:t>Lead generation forms, so interested investors can ask to be contacted</a:t>
            </a:r>
            <a:endParaRPr lang="en-US" sz="1450" dirty="0"/>
          </a:p>
          <a:p>
            <a:pPr marL="177800" indent="-177800">
              <a:spcAft>
                <a:spcPts val="600"/>
              </a:spcAft>
              <a:buSzPct val="100000"/>
              <a:buChar char="•"/>
            </a:pPr>
            <a:r>
              <a:rPr lang="en-US" sz="1450" b="1" dirty="0">
                <a:solidFill>
                  <a:srgbClr val="132257"/>
                </a:solidFill>
                <a:latin typeface="Exo 2" pitchFamily="34" charset="0"/>
                <a:ea typeface="Exo 2" pitchFamily="34" charset="-122"/>
                <a:cs typeface="Exo 2" pitchFamily="34" charset="-120"/>
              </a:rPr>
              <a:t>Next: </a:t>
            </a:r>
            <a:pPr indent="0" marL="0">
              <a:spcAft>
                <a:spcPts val="600"/>
              </a:spcAft>
              <a:buNone/>
            </a:pPr>
            <a:r>
              <a:rPr lang="en-US" sz="1450" dirty="0">
                <a:solidFill>
                  <a:srgbClr val="1F2A44"/>
                </a:solidFill>
                <a:latin typeface="Exo 2" pitchFamily="34" charset="0"/>
                <a:ea typeface="Exo 2" pitchFamily="34" charset="-122"/>
                <a:cs typeface="Exo 2" pitchFamily="34" charset="-120"/>
              </a:rPr>
              <a:t>Our sales team follows up every lead personally</a:t>
            </a:r>
            <a:endParaRPr lang="en-US" sz="1450" dirty="0"/>
          </a:p>
        </p:txBody>
      </p:sp>
      <p:sp>
        <p:nvSpPr>
          <p:cNvPr id="23" name="Shape 17"/>
          <p:cNvSpPr/>
          <p:nvPr/>
        </p:nvSpPr>
        <p:spPr>
          <a:xfrm>
            <a:off x="566928" y="5486400"/>
            <a:ext cx="11064240" cy="640080"/>
          </a:xfrm>
          <a:prstGeom prst="rect">
            <a:avLst/>
          </a:prstGeom>
          <a:solidFill>
            <a:srgbClr val="EEF1F8"/>
          </a:solidFill>
          <a:ln w="12700">
            <a:solidFill>
              <a:srgbClr val="EEF1F8"/>
            </a:solidFill>
            <a:prstDash val="solid"/>
          </a:ln>
        </p:spPr>
      </p:sp>
      <p:sp>
        <p:nvSpPr>
          <p:cNvPr id="24" name="Shape 18"/>
          <p:cNvSpPr/>
          <p:nvPr/>
        </p:nvSpPr>
        <p:spPr>
          <a:xfrm>
            <a:off x="566928" y="5486400"/>
            <a:ext cx="54864" cy="640080"/>
          </a:xfrm>
          <a:prstGeom prst="rect">
            <a:avLst/>
          </a:prstGeom>
          <a:solidFill>
            <a:srgbClr val="D4AF37"/>
          </a:solidFill>
          <a:ln w="12700">
            <a:solidFill>
              <a:srgbClr val="D4AF37"/>
            </a:solidFill>
            <a:prstDash val="solid"/>
          </a:ln>
        </p:spPr>
      </p:sp>
      <p:sp>
        <p:nvSpPr>
          <p:cNvPr id="25" name="Text 19"/>
          <p:cNvSpPr txBox="1"/>
          <p:nvPr/>
        </p:nvSpPr>
        <p:spPr>
          <a:xfrm>
            <a:off x="822960" y="5486400"/>
            <a:ext cx="10698480" cy="640080"/>
          </a:xfrm>
          <a:prstGeom prst="rect">
            <a:avLst/>
          </a:prstGeom>
          <a:noFill/>
          <a:ln/>
        </p:spPr>
        <p:txBody>
          <a:bodyPr wrap="square" lIns="0" tIns="0" rIns="0" bIns="0" rtlCol="0" anchor="ctr"/>
          <a:lstStyle/>
          <a:p>
            <a:pPr indent="0" marL="0">
              <a:buNone/>
            </a:pPr>
            <a:r>
              <a:rPr lang="en-US" sz="1200" b="1" dirty="0">
                <a:solidFill>
                  <a:srgbClr val="132257"/>
                </a:solidFill>
                <a:latin typeface="Exo 2" pitchFamily="34" charset="0"/>
                <a:ea typeface="Exo 2" pitchFamily="34" charset="-122"/>
                <a:cs typeface="Exo 2" pitchFamily="34" charset="-120"/>
              </a:rPr>
              <a:t>One-month test  </a:t>
            </a:r>
            <a:pPr indent="0" marL="0">
              <a:buNone/>
            </a:pPr>
            <a:r>
              <a:rPr lang="en-US" sz="1200" dirty="0">
                <a:solidFill>
                  <a:srgbClr val="1F2A44"/>
                </a:solidFill>
                <a:latin typeface="Exo 2" pitchFamily="34" charset="0"/>
                <a:ea typeface="Exo 2" pitchFamily="34" charset="-122"/>
                <a:cs typeface="Exo 2" pitchFamily="34" charset="-120"/>
              </a:rPr>
              <a:t>Results for both channels (traffic, installs, onboarding and cost per client) will guide the November scale-up.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CREATORS AND COMMUNITY</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Trusted Saudi and GCC voices to explain investing simply</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7</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pic>
        <p:nvPicPr>
          <p:cNvPr id="11" name="Image 3" descr="/home/user/HatemIsa_202508993_IT9002_NLP_Project/emyaa-ceo-deck/working/charts/tile9_abdulelah.png">    </p:cNvPr>
          <p:cNvPicPr>
            <a:picLocks noChangeAspect="1"/>
          </p:cNvPicPr>
          <p:nvPr/>
        </p:nvPicPr>
        <p:blipFill>
          <a:blip r:embed="rId4"/>
          <a:stretch>
            <a:fillRect/>
          </a:stretch>
        </p:blipFill>
        <p:spPr>
          <a:xfrm>
            <a:off x="566928" y="1645920"/>
            <a:ext cx="3017520" cy="3895344"/>
          </a:xfrm>
          <a:prstGeom prst="rect">
            <a:avLst/>
          </a:prstGeom>
        </p:spPr>
      </p:pic>
      <p:sp>
        <p:nvSpPr>
          <p:cNvPr id="12" name="Text 5"/>
          <p:cNvSpPr txBox="1"/>
          <p:nvPr/>
        </p:nvSpPr>
        <p:spPr>
          <a:xfrm>
            <a:off x="566928" y="5596128"/>
            <a:ext cx="3017520" cy="548640"/>
          </a:xfrm>
          <a:prstGeom prst="rect">
            <a:avLst/>
          </a:prstGeom>
          <a:noFill/>
          <a:ln/>
        </p:spPr>
        <p:txBody>
          <a:bodyPr wrap="square" lIns="0" tIns="0" rIns="0" bIns="0" rtlCol="0" anchor="t"/>
          <a:lstStyle/>
          <a:p>
            <a:pPr algn="ctr" indent="0" marL="0">
              <a:buNone/>
            </a:pPr>
            <a:r>
              <a:rPr lang="en-US" sz="1050" b="1" dirty="0">
                <a:solidFill>
                  <a:srgbClr val="132257"/>
                </a:solidFill>
                <a:latin typeface="Exo 2" pitchFamily="34" charset="0"/>
                <a:ea typeface="Exo 2" pitchFamily="34" charset="-122"/>
                <a:cs typeface="Exo 2" pitchFamily="34" charset="-120"/>
              </a:rPr>
              <a:t>Abdulelah Al Harbi</a:t>
            </a:r>
            <a:endParaRPr lang="en-US" sz="1050" dirty="0"/>
          </a:p>
          <a:p>
            <a:pPr algn="ctr" indent="0" marL="0">
              <a:buNone/>
            </a:pPr>
            <a:r>
              <a:rPr lang="en-US" sz="1050" dirty="0">
                <a:solidFill>
                  <a:srgbClr val="6B7590"/>
                </a:solidFill>
                <a:latin typeface="Exo 2" pitchFamily="34" charset="0"/>
                <a:ea typeface="Exo 2" pitchFamily="34" charset="-122"/>
                <a:cs typeface="Exo 2" pitchFamily="34" charset="-120"/>
              </a:rPr>
              <a:t>Saudi creator, investing masterclass, October 2026</a:t>
            </a:r>
            <a:endParaRPr lang="en-US" sz="1050" dirty="0"/>
          </a:p>
        </p:txBody>
      </p:sp>
      <p:sp>
        <p:nvSpPr>
          <p:cNvPr id="13" name="Text 6"/>
          <p:cNvSpPr txBox="1"/>
          <p:nvPr/>
        </p:nvSpPr>
        <p:spPr>
          <a:xfrm>
            <a:off x="3931920" y="1645920"/>
            <a:ext cx="73152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HOW WE WORK WITH CREATORS</a:t>
            </a:r>
            <a:endParaRPr lang="en-US" sz="1000" dirty="0"/>
          </a:p>
        </p:txBody>
      </p:sp>
      <p:sp>
        <p:nvSpPr>
          <p:cNvPr id="14" name="Text 7"/>
          <p:cNvSpPr txBox="1"/>
          <p:nvPr/>
        </p:nvSpPr>
        <p:spPr>
          <a:xfrm>
            <a:off x="3931920" y="2011680"/>
            <a:ext cx="7680960" cy="2103120"/>
          </a:xfrm>
          <a:prstGeom prst="rect">
            <a:avLst/>
          </a:prstGeom>
          <a:noFill/>
          <a:ln/>
        </p:spPr>
        <p:txBody>
          <a:bodyPr wrap="square" lIns="0" tIns="0" rIns="0" bIns="0" rtlCol="0" anchor="t"/>
          <a:lstStyle/>
          <a:p>
            <a:pPr marL="177800" indent="-177800">
              <a:spcAft>
                <a:spcPts val="600"/>
              </a:spcAft>
              <a:buSzPct val="100000"/>
              <a:buChar char="•"/>
            </a:pPr>
            <a:r>
              <a:rPr lang="en-US" sz="1300" b="1" dirty="0">
                <a:solidFill>
                  <a:srgbClr val="132257"/>
                </a:solidFill>
                <a:latin typeface="Exo 2" pitchFamily="34" charset="0"/>
                <a:ea typeface="Exo 2" pitchFamily="34" charset="-122"/>
                <a:cs typeface="Exo 2" pitchFamily="34" charset="-120"/>
              </a:rPr>
              <a:t>One creator a month: </a:t>
            </a:r>
            <a:pPr indent="0" marL="0">
              <a:spcAft>
                <a:spcPts val="600"/>
              </a:spcAft>
              <a:buNone/>
            </a:pPr>
            <a:r>
              <a:rPr lang="en-US" sz="1300" dirty="0">
                <a:solidFill>
                  <a:srgbClr val="1F2A44"/>
                </a:solidFill>
                <a:latin typeface="Exo 2" pitchFamily="34" charset="0"/>
                <a:ea typeface="Exo 2" pitchFamily="34" charset="-122"/>
                <a:cs typeface="Exo 2" pitchFamily="34" charset="-120"/>
              </a:rPr>
              <a:t>short, practical videos on how to start investing the Shari'ah-compliant way</a:t>
            </a:r>
            <a:endParaRPr lang="en-US" sz="1300" dirty="0"/>
          </a:p>
          <a:p>
            <a:pPr marL="177800" indent="-177800">
              <a:spcAft>
                <a:spcPts val="600"/>
              </a:spcAft>
              <a:buSzPct val="100000"/>
              <a:buChar char="•"/>
            </a:pPr>
            <a:r>
              <a:rPr lang="en-US" sz="1300" b="1" dirty="0">
                <a:solidFill>
                  <a:srgbClr val="132257"/>
                </a:solidFill>
                <a:latin typeface="Exo 2" pitchFamily="34" charset="0"/>
                <a:ea typeface="Exo 2" pitchFamily="34" charset="-122"/>
                <a:cs typeface="Exo 2" pitchFamily="34" charset="-120"/>
              </a:rPr>
              <a:t>Saudi voices first: </a:t>
            </a:r>
            <a:pPr indent="0" marL="0">
              <a:spcAft>
                <a:spcPts val="600"/>
              </a:spcAft>
              <a:buNone/>
            </a:pPr>
            <a:r>
              <a:rPr lang="en-US" sz="1300" dirty="0">
                <a:solidFill>
                  <a:srgbClr val="1F2A44"/>
                </a:solidFill>
                <a:latin typeface="Exo 2" pitchFamily="34" charset="0"/>
                <a:ea typeface="Exo 2" pitchFamily="34" charset="-122"/>
                <a:cs typeface="Exo 2" pitchFamily="34" charset="-120"/>
              </a:rPr>
              <a:t>Saudi creators lead the launch, with GCC creators to follow</a:t>
            </a:r>
            <a:endParaRPr lang="en-US" sz="1300" dirty="0"/>
          </a:p>
          <a:p>
            <a:pPr marL="177800" indent="-177800">
              <a:spcAft>
                <a:spcPts val="600"/>
              </a:spcAft>
              <a:buSzPct val="100000"/>
              <a:buChar char="•"/>
            </a:pPr>
            <a:r>
              <a:rPr lang="en-US" sz="1300" b="1" dirty="0">
                <a:solidFill>
                  <a:srgbClr val="132257"/>
                </a:solidFill>
                <a:latin typeface="Exo 2" pitchFamily="34" charset="0"/>
                <a:ea typeface="Exo 2" pitchFamily="34" charset="-122"/>
                <a:cs typeface="Exo 2" pitchFamily="34" charset="-120"/>
              </a:rPr>
              <a:t>Paid boost: </a:t>
            </a:r>
            <a:pPr indent="0" marL="0">
              <a:spcAft>
                <a:spcPts val="600"/>
              </a:spcAft>
              <a:buNone/>
            </a:pPr>
            <a:r>
              <a:rPr lang="en-US" sz="1300" dirty="0">
                <a:solidFill>
                  <a:srgbClr val="1F2A44"/>
                </a:solidFill>
                <a:latin typeface="Exo 2" pitchFamily="34" charset="0"/>
                <a:ea typeface="Exo 2" pitchFamily="34" charset="-122"/>
                <a:cs typeface="Exo 2" pitchFamily="34" charset="-120"/>
              </a:rPr>
              <a:t>each video is sponsored to reach the right age groups and cities</a:t>
            </a:r>
            <a:endParaRPr lang="en-US" sz="1300" dirty="0"/>
          </a:p>
          <a:p>
            <a:pPr marL="177800" indent="-177800">
              <a:spcAft>
                <a:spcPts val="600"/>
              </a:spcAft>
              <a:buSzPct val="100000"/>
              <a:buChar char="•"/>
            </a:pPr>
            <a:r>
              <a:rPr lang="en-US" sz="1300" b="1" dirty="0">
                <a:solidFill>
                  <a:srgbClr val="132257"/>
                </a:solidFill>
                <a:latin typeface="Exo 2" pitchFamily="34" charset="0"/>
                <a:ea typeface="Exo 2" pitchFamily="34" charset="-122"/>
                <a:cs typeface="Exo 2" pitchFamily="34" charset="-120"/>
              </a:rPr>
              <a:t>Community: </a:t>
            </a:r>
            <a:pPr indent="0" marL="0">
              <a:spcAft>
                <a:spcPts val="600"/>
              </a:spcAft>
              <a:buNone/>
            </a:pPr>
            <a:r>
              <a:rPr lang="en-US" sz="1300" dirty="0">
                <a:solidFill>
                  <a:srgbClr val="1F2A44"/>
                </a:solidFill>
                <a:latin typeface="Exo 2" pitchFamily="34" charset="0"/>
                <a:ea typeface="Exo 2" pitchFamily="34" charset="-122"/>
                <a:cs typeface="Exo 2" pitchFamily="34" charset="-120"/>
              </a:rPr>
              <a:t>a monthly Mention &amp; Win contest with a USD 500 prize across the GCC</a:t>
            </a:r>
            <a:endParaRPr lang="en-US" sz="1300" dirty="0"/>
          </a:p>
        </p:txBody>
      </p:sp>
      <p:sp>
        <p:nvSpPr>
          <p:cNvPr id="15" name="Text 8"/>
          <p:cNvSpPr txBox="1"/>
          <p:nvPr/>
        </p:nvSpPr>
        <p:spPr>
          <a:xfrm>
            <a:off x="3931920" y="4160520"/>
            <a:ext cx="73152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CREATOR VIDEOS SO FAR (INSTAGRAM VIEWS)</a:t>
            </a:r>
            <a:endParaRPr lang="en-US" sz="1000" dirty="0"/>
          </a:p>
        </p:txBody>
      </p:sp>
      <p:sp>
        <p:nvSpPr>
          <p:cNvPr id="16" name="Shape 9"/>
          <p:cNvSpPr/>
          <p:nvPr/>
        </p:nvSpPr>
        <p:spPr>
          <a:xfrm>
            <a:off x="3931920" y="4526280"/>
            <a:ext cx="2468880" cy="1234440"/>
          </a:xfrm>
          <a:prstGeom prst="rect">
            <a:avLst/>
          </a:prstGeom>
          <a:solidFill>
            <a:srgbClr val="FFFFFF"/>
          </a:solidFill>
          <a:ln w="9525">
            <a:solidFill>
              <a:srgbClr val="D9DFEA"/>
            </a:solidFill>
            <a:prstDash val="solid"/>
          </a:ln>
        </p:spPr>
      </p:sp>
      <p:sp>
        <p:nvSpPr>
          <p:cNvPr id="17" name="Shape 10"/>
          <p:cNvSpPr/>
          <p:nvPr/>
        </p:nvSpPr>
        <p:spPr>
          <a:xfrm>
            <a:off x="3931920" y="4526280"/>
            <a:ext cx="2468880" cy="41148"/>
          </a:xfrm>
          <a:prstGeom prst="rect">
            <a:avLst/>
          </a:prstGeom>
          <a:solidFill>
            <a:srgbClr val="132257"/>
          </a:solidFill>
          <a:ln w="12700">
            <a:solidFill>
              <a:srgbClr val="132257"/>
            </a:solidFill>
            <a:prstDash val="solid"/>
          </a:ln>
        </p:spPr>
      </p:sp>
      <p:sp>
        <p:nvSpPr>
          <p:cNvPr id="18" name="Text 11"/>
          <p:cNvSpPr txBox="1"/>
          <p:nvPr/>
        </p:nvSpPr>
        <p:spPr>
          <a:xfrm>
            <a:off x="4114800" y="4690872"/>
            <a:ext cx="210312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5.3M</a:t>
            </a:r>
            <a:endParaRPr lang="en-US" sz="2600" dirty="0"/>
          </a:p>
        </p:txBody>
      </p:sp>
      <p:sp>
        <p:nvSpPr>
          <p:cNvPr id="19" name="Text 12"/>
          <p:cNvSpPr txBox="1"/>
          <p:nvPr/>
        </p:nvSpPr>
        <p:spPr>
          <a:xfrm>
            <a:off x="4114800" y="5212080"/>
            <a:ext cx="210312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Musheera</a:t>
            </a:r>
            <a:endParaRPr lang="en-US" sz="1100" dirty="0"/>
          </a:p>
        </p:txBody>
      </p:sp>
      <p:sp>
        <p:nvSpPr>
          <p:cNvPr id="20" name="Text 13"/>
          <p:cNvSpPr txBox="1"/>
          <p:nvPr/>
        </p:nvSpPr>
        <p:spPr>
          <a:xfrm>
            <a:off x="4114800" y="5458968"/>
            <a:ext cx="210312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July 2026</a:t>
            </a:r>
            <a:endParaRPr lang="en-US" sz="900" dirty="0"/>
          </a:p>
        </p:txBody>
      </p:sp>
      <p:sp>
        <p:nvSpPr>
          <p:cNvPr id="21" name="Shape 14"/>
          <p:cNvSpPr/>
          <p:nvPr/>
        </p:nvSpPr>
        <p:spPr>
          <a:xfrm>
            <a:off x="6537960" y="4526280"/>
            <a:ext cx="2468880" cy="1234440"/>
          </a:xfrm>
          <a:prstGeom prst="rect">
            <a:avLst/>
          </a:prstGeom>
          <a:solidFill>
            <a:srgbClr val="FFFFFF"/>
          </a:solidFill>
          <a:ln w="9525">
            <a:solidFill>
              <a:srgbClr val="D9DFEA"/>
            </a:solidFill>
            <a:prstDash val="solid"/>
          </a:ln>
        </p:spPr>
      </p:sp>
      <p:sp>
        <p:nvSpPr>
          <p:cNvPr id="22" name="Shape 15"/>
          <p:cNvSpPr/>
          <p:nvPr/>
        </p:nvSpPr>
        <p:spPr>
          <a:xfrm>
            <a:off x="6537960" y="4526280"/>
            <a:ext cx="2468880" cy="41148"/>
          </a:xfrm>
          <a:prstGeom prst="rect">
            <a:avLst/>
          </a:prstGeom>
          <a:solidFill>
            <a:srgbClr val="132257"/>
          </a:solidFill>
          <a:ln w="12700">
            <a:solidFill>
              <a:srgbClr val="132257"/>
            </a:solidFill>
            <a:prstDash val="solid"/>
          </a:ln>
        </p:spPr>
      </p:sp>
      <p:sp>
        <p:nvSpPr>
          <p:cNvPr id="23" name="Text 16"/>
          <p:cNvSpPr txBox="1"/>
          <p:nvPr/>
        </p:nvSpPr>
        <p:spPr>
          <a:xfrm>
            <a:off x="6720840" y="4690872"/>
            <a:ext cx="210312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1.3M</a:t>
            </a:r>
            <a:endParaRPr lang="en-US" sz="2600" dirty="0"/>
          </a:p>
        </p:txBody>
      </p:sp>
      <p:sp>
        <p:nvSpPr>
          <p:cNvPr id="24" name="Text 17"/>
          <p:cNvSpPr txBox="1"/>
          <p:nvPr/>
        </p:nvSpPr>
        <p:spPr>
          <a:xfrm>
            <a:off x="6720840" y="5212080"/>
            <a:ext cx="210312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Ali Sabeel</a:t>
            </a:r>
            <a:endParaRPr lang="en-US" sz="1100" dirty="0"/>
          </a:p>
        </p:txBody>
      </p:sp>
      <p:sp>
        <p:nvSpPr>
          <p:cNvPr id="25" name="Text 18"/>
          <p:cNvSpPr txBox="1"/>
          <p:nvPr/>
        </p:nvSpPr>
        <p:spPr>
          <a:xfrm>
            <a:off x="6720840" y="5458968"/>
            <a:ext cx="210312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August 2026</a:t>
            </a:r>
            <a:endParaRPr lang="en-US" sz="900" dirty="0"/>
          </a:p>
        </p:txBody>
      </p:sp>
      <p:sp>
        <p:nvSpPr>
          <p:cNvPr id="26" name="Shape 19"/>
          <p:cNvSpPr/>
          <p:nvPr/>
        </p:nvSpPr>
        <p:spPr>
          <a:xfrm>
            <a:off x="9144000" y="4526280"/>
            <a:ext cx="2487168" cy="1234440"/>
          </a:xfrm>
          <a:prstGeom prst="rect">
            <a:avLst/>
          </a:prstGeom>
          <a:solidFill>
            <a:srgbClr val="FFFFFF"/>
          </a:solidFill>
          <a:ln w="9525">
            <a:solidFill>
              <a:srgbClr val="D9DFEA"/>
            </a:solidFill>
            <a:prstDash val="solid"/>
          </a:ln>
        </p:spPr>
      </p:sp>
      <p:sp>
        <p:nvSpPr>
          <p:cNvPr id="27" name="Shape 20"/>
          <p:cNvSpPr/>
          <p:nvPr/>
        </p:nvSpPr>
        <p:spPr>
          <a:xfrm>
            <a:off x="9144000" y="4526280"/>
            <a:ext cx="2487168" cy="41148"/>
          </a:xfrm>
          <a:prstGeom prst="rect">
            <a:avLst/>
          </a:prstGeom>
          <a:solidFill>
            <a:srgbClr val="9A7B1F"/>
          </a:solidFill>
          <a:ln w="12700">
            <a:solidFill>
              <a:srgbClr val="9A7B1F"/>
            </a:solidFill>
            <a:prstDash val="solid"/>
          </a:ln>
        </p:spPr>
      </p:sp>
      <p:sp>
        <p:nvSpPr>
          <p:cNvPr id="28" name="Text 21"/>
          <p:cNvSpPr txBox="1"/>
          <p:nvPr/>
        </p:nvSpPr>
        <p:spPr>
          <a:xfrm>
            <a:off x="9326880" y="4690872"/>
            <a:ext cx="2121408" cy="502920"/>
          </a:xfrm>
          <a:prstGeom prst="rect">
            <a:avLst/>
          </a:prstGeom>
          <a:noFill/>
          <a:ln/>
        </p:spPr>
        <p:txBody>
          <a:bodyPr wrap="square" lIns="0" tIns="0" rIns="0" bIns="0" rtlCol="0" anchor="t"/>
          <a:lstStyle/>
          <a:p>
            <a:pPr indent="0" marL="0">
              <a:buNone/>
            </a:pPr>
            <a:r>
              <a:rPr lang="en-US" sz="2600" b="1" dirty="0">
                <a:solidFill>
                  <a:srgbClr val="9A7B1F"/>
                </a:solidFill>
                <a:latin typeface="Exo 2" pitchFamily="34" charset="0"/>
                <a:ea typeface="Exo 2" pitchFamily="34" charset="-122"/>
                <a:cs typeface="Exo 2" pitchFamily="34" charset="-120"/>
              </a:rPr>
              <a:t>22 Oct</a:t>
            </a:r>
            <a:endParaRPr lang="en-US" sz="2600" dirty="0"/>
          </a:p>
        </p:txBody>
      </p:sp>
      <p:sp>
        <p:nvSpPr>
          <p:cNvPr id="29" name="Text 22"/>
          <p:cNvSpPr txBox="1"/>
          <p:nvPr/>
        </p:nvSpPr>
        <p:spPr>
          <a:xfrm>
            <a:off x="9326880" y="5212080"/>
            <a:ext cx="2121408"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Manal Talal</a:t>
            </a:r>
            <a:endParaRPr lang="en-US" sz="1100" dirty="0"/>
          </a:p>
        </p:txBody>
      </p:sp>
      <p:sp>
        <p:nvSpPr>
          <p:cNvPr id="30" name="Text 23"/>
          <p:cNvSpPr txBox="1"/>
          <p:nvPr/>
        </p:nvSpPr>
        <p:spPr>
          <a:xfrm>
            <a:off x="9326880" y="5458968"/>
            <a:ext cx="2121408"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next creator video</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OUTDOOR AND INDOOR MEDIA</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Being seen where Saudi professionals work and spend time</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8</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pic>
        <p:nvPicPr>
          <p:cNvPr id="11" name="Image 3" descr="/home/user/HatemIsa_202508993_IT9002_NLP_Project/emyaa-ceo-deck/working/charts/vb_elevator_gallery.png">    </p:cNvPr>
          <p:cNvPicPr>
            <a:picLocks noChangeAspect="1"/>
          </p:cNvPicPr>
          <p:nvPr/>
        </p:nvPicPr>
        <p:blipFill>
          <a:blip r:embed="rId4"/>
          <a:stretch>
            <a:fillRect/>
          </a:stretch>
        </p:blipFill>
        <p:spPr>
          <a:xfrm>
            <a:off x="566928" y="1600200"/>
            <a:ext cx="6949440" cy="3913632"/>
          </a:xfrm>
          <a:prstGeom prst="rect">
            <a:avLst/>
          </a:prstGeom>
        </p:spPr>
      </p:pic>
      <p:sp>
        <p:nvSpPr>
          <p:cNvPr id="12" name="Text 5"/>
          <p:cNvSpPr txBox="1"/>
          <p:nvPr/>
        </p:nvSpPr>
        <p:spPr>
          <a:xfrm>
            <a:off x="566928" y="5559552"/>
            <a:ext cx="6949440" cy="274320"/>
          </a:xfrm>
          <a:prstGeom prst="rect">
            <a:avLst/>
          </a:prstGeom>
          <a:noFill/>
          <a:ln/>
        </p:spPr>
        <p:txBody>
          <a:bodyPr wrap="square" lIns="0" tIns="0" rIns="0" bIns="0" rtlCol="0" anchor="t"/>
          <a:lstStyle/>
          <a:p>
            <a:pPr indent="0" marL="0">
              <a:buNone/>
            </a:pPr>
            <a:r>
              <a:rPr lang="en-US" sz="1000" i="1" dirty="0">
                <a:solidFill>
                  <a:srgbClr val="6B7590"/>
                </a:solidFill>
                <a:latin typeface="Exo 2" pitchFamily="34" charset="0"/>
                <a:ea typeface="Exo 2" pitchFamily="34" charset="-122"/>
                <a:cs typeface="Exo 2" pitchFamily="34" charset="-120"/>
              </a:rPr>
              <a:t>Elevator screens in business towers across Riyadh and the Eastern Province</a:t>
            </a:r>
            <a:endParaRPr lang="en-US" sz="1000" dirty="0"/>
          </a:p>
        </p:txBody>
      </p:sp>
      <p:pic>
        <p:nvPicPr>
          <p:cNvPr id="13" name="Image 4" descr="/home/user/HatemIsa_202508993_IT9002_NLP_Project/emyaa-ceo-deck/working/charts/vb_zone_mockup.png">    </p:cNvPr>
          <p:cNvPicPr>
            <a:picLocks noChangeAspect="1"/>
          </p:cNvPicPr>
          <p:nvPr/>
        </p:nvPicPr>
        <p:blipFill>
          <a:blip r:embed="rId5"/>
          <a:stretch>
            <a:fillRect/>
          </a:stretch>
        </p:blipFill>
        <p:spPr>
          <a:xfrm>
            <a:off x="7772400" y="1600200"/>
            <a:ext cx="1874520" cy="2194560"/>
          </a:xfrm>
          <a:prstGeom prst="rect">
            <a:avLst/>
          </a:prstGeom>
        </p:spPr>
      </p:pic>
      <p:sp>
        <p:nvSpPr>
          <p:cNvPr id="14" name="Text 6"/>
          <p:cNvSpPr txBox="1"/>
          <p:nvPr/>
        </p:nvSpPr>
        <p:spPr>
          <a:xfrm>
            <a:off x="9784080" y="1645920"/>
            <a:ext cx="1874520" cy="2103120"/>
          </a:xfrm>
          <a:prstGeom prst="rect">
            <a:avLst/>
          </a:prstGeom>
          <a:noFill/>
          <a:ln/>
        </p:spPr>
        <p:txBody>
          <a:bodyPr wrap="square" lIns="0" tIns="0" rIns="0" bIns="0" rtlCol="0" anchor="t"/>
          <a:lstStyle/>
          <a:p>
            <a:pPr indent="0" marL="0">
              <a:buNone/>
            </a:pPr>
            <a:r>
              <a:rPr lang="en-US" sz="1050" b="1" dirty="0">
                <a:solidFill>
                  <a:srgbClr val="132257"/>
                </a:solidFill>
                <a:latin typeface="Exo 2" pitchFamily="34" charset="0"/>
                <a:ea typeface="Exo 2" pitchFamily="34" charset="-122"/>
                <a:cs typeface="Exo 2" pitchFamily="34" charset="-120"/>
              </a:rPr>
              <a:t>The Zone, Riyadh</a:t>
            </a:r>
            <a:endParaRPr lang="en-US" sz="1050" dirty="0"/>
          </a:p>
          <a:p>
            <a:pPr indent="0" marL="0">
              <a:buNone/>
            </a:pPr>
            <a:r>
              <a:rPr lang="en-US" sz="1050" dirty="0">
                <a:solidFill>
                  <a:srgbClr val="6B7590"/>
                </a:solidFill>
                <a:latin typeface="Exo 2" pitchFamily="34" charset="0"/>
                <a:ea typeface="Exo 2" pitchFamily="34" charset="-122"/>
                <a:cs typeface="Exo 2" pitchFamily="34" charset="-120"/>
              </a:rPr>
              <a:t>8 prime LED screens at a high-end lifestyle destination (eMYAA mock-up)</a:t>
            </a:r>
            <a:endParaRPr lang="en-US" sz="1050" dirty="0"/>
          </a:p>
        </p:txBody>
      </p:sp>
      <p:sp>
        <p:nvSpPr>
          <p:cNvPr id="15" name="Shape 7"/>
          <p:cNvSpPr/>
          <p:nvPr/>
        </p:nvSpPr>
        <p:spPr>
          <a:xfrm>
            <a:off x="7772400" y="3931920"/>
            <a:ext cx="1874520" cy="1234440"/>
          </a:xfrm>
          <a:prstGeom prst="rect">
            <a:avLst/>
          </a:prstGeom>
          <a:solidFill>
            <a:srgbClr val="FFFFFF"/>
          </a:solidFill>
          <a:ln w="9525">
            <a:solidFill>
              <a:srgbClr val="D9DFEA"/>
            </a:solidFill>
            <a:prstDash val="solid"/>
          </a:ln>
        </p:spPr>
      </p:sp>
      <p:sp>
        <p:nvSpPr>
          <p:cNvPr id="16" name="Shape 8"/>
          <p:cNvSpPr/>
          <p:nvPr/>
        </p:nvSpPr>
        <p:spPr>
          <a:xfrm>
            <a:off x="7772400" y="3931920"/>
            <a:ext cx="1874520" cy="41148"/>
          </a:xfrm>
          <a:prstGeom prst="rect">
            <a:avLst/>
          </a:prstGeom>
          <a:solidFill>
            <a:srgbClr val="132257"/>
          </a:solidFill>
          <a:ln w="12700">
            <a:solidFill>
              <a:srgbClr val="132257"/>
            </a:solidFill>
            <a:prstDash val="solid"/>
          </a:ln>
        </p:spPr>
      </p:sp>
      <p:sp>
        <p:nvSpPr>
          <p:cNvPr id="17" name="Text 9"/>
          <p:cNvSpPr txBox="1"/>
          <p:nvPr/>
        </p:nvSpPr>
        <p:spPr>
          <a:xfrm>
            <a:off x="7955280" y="4096512"/>
            <a:ext cx="150876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83</a:t>
            </a:r>
            <a:endParaRPr lang="en-US" sz="2600" dirty="0"/>
          </a:p>
        </p:txBody>
      </p:sp>
      <p:sp>
        <p:nvSpPr>
          <p:cNvPr id="18" name="Text 10"/>
          <p:cNvSpPr txBox="1"/>
          <p:nvPr/>
        </p:nvSpPr>
        <p:spPr>
          <a:xfrm>
            <a:off x="7955280" y="4617720"/>
            <a:ext cx="150876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towers</a:t>
            </a:r>
            <a:endParaRPr lang="en-US" sz="1100" dirty="0"/>
          </a:p>
        </p:txBody>
      </p:sp>
      <p:sp>
        <p:nvSpPr>
          <p:cNvPr id="19" name="Text 11"/>
          <p:cNvSpPr txBox="1"/>
          <p:nvPr/>
        </p:nvSpPr>
        <p:spPr>
          <a:xfrm>
            <a:off x="7955280" y="4864608"/>
            <a:ext cx="150876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elevator screens</a:t>
            </a:r>
            <a:endParaRPr lang="en-US" sz="900" dirty="0"/>
          </a:p>
        </p:txBody>
      </p:sp>
      <p:sp>
        <p:nvSpPr>
          <p:cNvPr id="20" name="Shape 12"/>
          <p:cNvSpPr/>
          <p:nvPr/>
        </p:nvSpPr>
        <p:spPr>
          <a:xfrm>
            <a:off x="9756648" y="3931920"/>
            <a:ext cx="1874520" cy="1234440"/>
          </a:xfrm>
          <a:prstGeom prst="rect">
            <a:avLst/>
          </a:prstGeom>
          <a:solidFill>
            <a:srgbClr val="FFFFFF"/>
          </a:solidFill>
          <a:ln w="9525">
            <a:solidFill>
              <a:srgbClr val="D9DFEA"/>
            </a:solidFill>
            <a:prstDash val="solid"/>
          </a:ln>
        </p:spPr>
      </p:sp>
      <p:sp>
        <p:nvSpPr>
          <p:cNvPr id="21" name="Shape 13"/>
          <p:cNvSpPr/>
          <p:nvPr/>
        </p:nvSpPr>
        <p:spPr>
          <a:xfrm>
            <a:off x="9756648" y="3931920"/>
            <a:ext cx="1874520" cy="41148"/>
          </a:xfrm>
          <a:prstGeom prst="rect">
            <a:avLst/>
          </a:prstGeom>
          <a:solidFill>
            <a:srgbClr val="9A7B1F"/>
          </a:solidFill>
          <a:ln w="12700">
            <a:solidFill>
              <a:srgbClr val="9A7B1F"/>
            </a:solidFill>
            <a:prstDash val="solid"/>
          </a:ln>
        </p:spPr>
      </p:sp>
      <p:sp>
        <p:nvSpPr>
          <p:cNvPr id="22" name="Text 14"/>
          <p:cNvSpPr txBox="1"/>
          <p:nvPr/>
        </p:nvSpPr>
        <p:spPr>
          <a:xfrm>
            <a:off x="9939528" y="4096512"/>
            <a:ext cx="1508760" cy="502920"/>
          </a:xfrm>
          <a:prstGeom prst="rect">
            <a:avLst/>
          </a:prstGeom>
          <a:noFill/>
          <a:ln/>
        </p:spPr>
        <p:txBody>
          <a:bodyPr wrap="square" lIns="0" tIns="0" rIns="0" bIns="0" rtlCol="0" anchor="t"/>
          <a:lstStyle/>
          <a:p>
            <a:pPr indent="0" marL="0">
              <a:buNone/>
            </a:pPr>
            <a:r>
              <a:rPr lang="en-US" sz="2600" b="1" dirty="0">
                <a:solidFill>
                  <a:srgbClr val="9A7B1F"/>
                </a:solidFill>
                <a:latin typeface="Exo 2" pitchFamily="34" charset="0"/>
                <a:ea typeface="Exo 2" pitchFamily="34" charset="-122"/>
                <a:cs typeface="Exo 2" pitchFamily="34" charset="-120"/>
              </a:rPr>
              <a:t>1.67M</a:t>
            </a:r>
            <a:endParaRPr lang="en-US" sz="2600" dirty="0"/>
          </a:p>
        </p:txBody>
      </p:sp>
      <p:sp>
        <p:nvSpPr>
          <p:cNvPr id="23" name="Text 15"/>
          <p:cNvSpPr txBox="1"/>
          <p:nvPr/>
        </p:nvSpPr>
        <p:spPr>
          <a:xfrm>
            <a:off x="9939528" y="4617720"/>
            <a:ext cx="150876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ad plays</a:t>
            </a:r>
            <a:endParaRPr lang="en-US" sz="1100" dirty="0"/>
          </a:p>
        </p:txBody>
      </p:sp>
      <p:sp>
        <p:nvSpPr>
          <p:cNvPr id="24" name="Text 16"/>
          <p:cNvSpPr txBox="1"/>
          <p:nvPr/>
        </p:nvSpPr>
        <p:spPr>
          <a:xfrm>
            <a:off x="9939528" y="4864608"/>
            <a:ext cx="150876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in four weeks</a:t>
            </a:r>
            <a:endParaRPr lang="en-US" sz="900" dirty="0"/>
          </a:p>
        </p:txBody>
      </p:sp>
      <p:sp>
        <p:nvSpPr>
          <p:cNvPr id="25" name="Shape 17"/>
          <p:cNvSpPr/>
          <p:nvPr/>
        </p:nvSpPr>
        <p:spPr>
          <a:xfrm>
            <a:off x="7772400" y="5303520"/>
            <a:ext cx="3858768" cy="548640"/>
          </a:xfrm>
          <a:prstGeom prst="rect">
            <a:avLst/>
          </a:prstGeom>
          <a:solidFill>
            <a:srgbClr val="EEF1F8"/>
          </a:solidFill>
          <a:ln w="12700">
            <a:solidFill>
              <a:srgbClr val="EEF1F8"/>
            </a:solidFill>
            <a:prstDash val="solid"/>
          </a:ln>
        </p:spPr>
      </p:sp>
      <p:sp>
        <p:nvSpPr>
          <p:cNvPr id="26" name="Text 18"/>
          <p:cNvSpPr txBox="1"/>
          <p:nvPr/>
        </p:nvSpPr>
        <p:spPr>
          <a:xfrm>
            <a:off x="7863840" y="5303520"/>
            <a:ext cx="3657600" cy="548640"/>
          </a:xfrm>
          <a:prstGeom prst="rect">
            <a:avLst/>
          </a:prstGeom>
          <a:noFill/>
          <a:ln/>
        </p:spPr>
        <p:txBody>
          <a:bodyPr wrap="square" lIns="0" tIns="0" rIns="0" bIns="0" rtlCol="0" anchor="ctr"/>
          <a:lstStyle/>
          <a:p>
            <a:pPr algn="ctr" indent="0" marL="0">
              <a:buNone/>
            </a:pPr>
            <a:r>
              <a:rPr lang="en-US" sz="1100" b="1" dirty="0">
                <a:solidFill>
                  <a:srgbClr val="132257"/>
                </a:solidFill>
                <a:latin typeface="Exo 2" pitchFamily="34" charset="0"/>
                <a:ea typeface="Exo 2" pitchFamily="34" charset="-122"/>
                <a:cs typeface="Exo 2" pitchFamily="34" charset="-120"/>
              </a:rPr>
              <a:t>Status: under evaluation for Phase 2</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REACHING YOUNG SAUDIS</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Jodel: a short, high-impact burst to build awareness fast</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9</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Text 5"/>
          <p:cNvSpPr txBox="1"/>
          <p:nvPr/>
        </p:nvSpPr>
        <p:spPr>
          <a:xfrm>
            <a:off x="566928" y="1600200"/>
            <a:ext cx="54864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JODEL IN SAUDI ARABIA</a:t>
            </a:r>
            <a:endParaRPr lang="en-US" sz="1000" dirty="0"/>
          </a:p>
        </p:txBody>
      </p:sp>
      <p:sp>
        <p:nvSpPr>
          <p:cNvPr id="12" name="Shape 6"/>
          <p:cNvSpPr/>
          <p:nvPr/>
        </p:nvSpPr>
        <p:spPr>
          <a:xfrm>
            <a:off x="566928" y="1938528"/>
            <a:ext cx="2651760" cy="1234440"/>
          </a:xfrm>
          <a:prstGeom prst="rect">
            <a:avLst/>
          </a:prstGeom>
          <a:solidFill>
            <a:srgbClr val="FFFFFF"/>
          </a:solidFill>
          <a:ln w="9525">
            <a:solidFill>
              <a:srgbClr val="D9DFEA"/>
            </a:solidFill>
            <a:prstDash val="solid"/>
          </a:ln>
        </p:spPr>
      </p:sp>
      <p:sp>
        <p:nvSpPr>
          <p:cNvPr id="13" name="Shape 7"/>
          <p:cNvSpPr/>
          <p:nvPr/>
        </p:nvSpPr>
        <p:spPr>
          <a:xfrm>
            <a:off x="566928" y="1938528"/>
            <a:ext cx="2651760" cy="41148"/>
          </a:xfrm>
          <a:prstGeom prst="rect">
            <a:avLst/>
          </a:prstGeom>
          <a:solidFill>
            <a:srgbClr val="132257"/>
          </a:solidFill>
          <a:ln w="12700">
            <a:solidFill>
              <a:srgbClr val="132257"/>
            </a:solidFill>
            <a:prstDash val="solid"/>
          </a:ln>
        </p:spPr>
      </p:sp>
      <p:sp>
        <p:nvSpPr>
          <p:cNvPr id="14" name="Text 8"/>
          <p:cNvSpPr txBox="1"/>
          <p:nvPr/>
        </p:nvSpPr>
        <p:spPr>
          <a:xfrm>
            <a:off x="749808" y="2103120"/>
            <a:ext cx="22860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2.5M</a:t>
            </a:r>
            <a:endParaRPr lang="en-US" sz="2600" dirty="0"/>
          </a:p>
        </p:txBody>
      </p:sp>
      <p:sp>
        <p:nvSpPr>
          <p:cNvPr id="15" name="Text 9"/>
          <p:cNvSpPr txBox="1"/>
          <p:nvPr/>
        </p:nvSpPr>
        <p:spPr>
          <a:xfrm>
            <a:off x="749808" y="2624328"/>
            <a:ext cx="22860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active users in KSA</a:t>
            </a:r>
            <a:endParaRPr lang="en-US" sz="1100" dirty="0"/>
          </a:p>
        </p:txBody>
      </p:sp>
      <p:sp>
        <p:nvSpPr>
          <p:cNvPr id="16" name="Text 10"/>
          <p:cNvSpPr txBox="1"/>
          <p:nvPr/>
        </p:nvSpPr>
        <p:spPr>
          <a:xfrm>
            <a:off x="749808" y="2871216"/>
            <a:ext cx="22860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students and young professionals</a:t>
            </a:r>
            <a:endParaRPr lang="en-US" sz="900" dirty="0"/>
          </a:p>
        </p:txBody>
      </p:sp>
      <p:sp>
        <p:nvSpPr>
          <p:cNvPr id="17" name="Shape 11"/>
          <p:cNvSpPr/>
          <p:nvPr/>
        </p:nvSpPr>
        <p:spPr>
          <a:xfrm>
            <a:off x="3337560" y="1938528"/>
            <a:ext cx="2651760" cy="1234440"/>
          </a:xfrm>
          <a:prstGeom prst="rect">
            <a:avLst/>
          </a:prstGeom>
          <a:solidFill>
            <a:srgbClr val="FFFFFF"/>
          </a:solidFill>
          <a:ln w="9525">
            <a:solidFill>
              <a:srgbClr val="D9DFEA"/>
            </a:solidFill>
            <a:prstDash val="solid"/>
          </a:ln>
        </p:spPr>
      </p:sp>
      <p:sp>
        <p:nvSpPr>
          <p:cNvPr id="18" name="Shape 12"/>
          <p:cNvSpPr/>
          <p:nvPr/>
        </p:nvSpPr>
        <p:spPr>
          <a:xfrm>
            <a:off x="3337560" y="1938528"/>
            <a:ext cx="2651760" cy="41148"/>
          </a:xfrm>
          <a:prstGeom prst="rect">
            <a:avLst/>
          </a:prstGeom>
          <a:solidFill>
            <a:srgbClr val="132257"/>
          </a:solidFill>
          <a:ln w="12700">
            <a:solidFill>
              <a:srgbClr val="132257"/>
            </a:solidFill>
            <a:prstDash val="solid"/>
          </a:ln>
        </p:spPr>
      </p:sp>
      <p:sp>
        <p:nvSpPr>
          <p:cNvPr id="19" name="Text 13"/>
          <p:cNvSpPr txBox="1"/>
          <p:nvPr/>
        </p:nvSpPr>
        <p:spPr>
          <a:xfrm>
            <a:off x="3520440" y="2103120"/>
            <a:ext cx="2286000" cy="502920"/>
          </a:xfrm>
          <a:prstGeom prst="rect">
            <a:avLst/>
          </a:prstGeom>
          <a:noFill/>
          <a:ln/>
        </p:spPr>
        <p:txBody>
          <a:bodyPr wrap="square" lIns="0" tIns="0" rIns="0" bIns="0" rtlCol="0" anchor="t"/>
          <a:lstStyle/>
          <a:p>
            <a:pPr indent="0" marL="0">
              <a:buNone/>
            </a:pPr>
            <a:r>
              <a:rPr lang="en-US" sz="2600" b="1" dirty="0">
                <a:solidFill>
                  <a:srgbClr val="132257"/>
                </a:solidFill>
                <a:latin typeface="Exo 2" pitchFamily="34" charset="0"/>
                <a:ea typeface="Exo 2" pitchFamily="34" charset="-122"/>
                <a:cs typeface="Exo 2" pitchFamily="34" charset="-120"/>
              </a:rPr>
              <a:t>21 to 35</a:t>
            </a:r>
            <a:endParaRPr lang="en-US" sz="2600" dirty="0"/>
          </a:p>
        </p:txBody>
      </p:sp>
      <p:sp>
        <p:nvSpPr>
          <p:cNvPr id="20" name="Text 14"/>
          <p:cNvSpPr txBox="1"/>
          <p:nvPr/>
        </p:nvSpPr>
        <p:spPr>
          <a:xfrm>
            <a:off x="3520440" y="2624328"/>
            <a:ext cx="2286000" cy="27432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core age group</a:t>
            </a:r>
            <a:endParaRPr lang="en-US" sz="1100" dirty="0"/>
          </a:p>
        </p:txBody>
      </p:sp>
      <p:sp>
        <p:nvSpPr>
          <p:cNvPr id="21" name="Text 15"/>
          <p:cNvSpPr txBox="1"/>
          <p:nvPr/>
        </p:nvSpPr>
        <p:spPr>
          <a:xfrm>
            <a:off x="3520440" y="2871216"/>
            <a:ext cx="2286000" cy="256032"/>
          </a:xfrm>
          <a:prstGeom prst="rect">
            <a:avLst/>
          </a:prstGeom>
          <a:noFill/>
          <a:ln/>
        </p:spPr>
        <p:txBody>
          <a:bodyPr wrap="square" lIns="0" tIns="0" rIns="0" bIns="0" rtlCol="0" anchor="t"/>
          <a:lstStyle/>
          <a:p>
            <a:pPr indent="0" marL="0">
              <a:buNone/>
            </a:pPr>
            <a:r>
              <a:rPr lang="en-US" sz="900" dirty="0">
                <a:solidFill>
                  <a:srgbClr val="6B7590"/>
                </a:solidFill>
                <a:latin typeface="Exo 2" pitchFamily="34" charset="0"/>
                <a:ea typeface="Exo 2" pitchFamily="34" charset="-122"/>
                <a:cs typeface="Exo 2" pitchFamily="34" charset="-120"/>
              </a:rPr>
              <a:t>matches our Starter segment</a:t>
            </a:r>
            <a:endParaRPr lang="en-US" sz="900" dirty="0"/>
          </a:p>
        </p:txBody>
      </p:sp>
      <p:sp>
        <p:nvSpPr>
          <p:cNvPr id="22" name="Text 16"/>
          <p:cNvSpPr txBox="1"/>
          <p:nvPr/>
        </p:nvSpPr>
        <p:spPr>
          <a:xfrm>
            <a:off x="566928" y="3429000"/>
            <a:ext cx="5486400" cy="274320"/>
          </a:xfrm>
          <a:prstGeom prst="rect">
            <a:avLst/>
          </a:prstGeom>
          <a:noFill/>
          <a:ln/>
        </p:spPr>
        <p:txBody>
          <a:bodyPr wrap="square" lIns="0" tIns="0" rIns="0" bIns="0" rtlCol="0" anchor="t"/>
          <a:lstStyle/>
          <a:p>
            <a:pPr indent="0" marL="0">
              <a:buNone/>
            </a:pPr>
            <a:r>
              <a:rPr lang="en-US" sz="1000" b="1" spc="100" kern="0" dirty="0">
                <a:solidFill>
                  <a:srgbClr val="3C61B6"/>
                </a:solidFill>
                <a:latin typeface="Exo 2" pitchFamily="34" charset="0"/>
                <a:ea typeface="Exo 2" pitchFamily="34" charset="-122"/>
                <a:cs typeface="Exo 2" pitchFamily="34" charset="-120"/>
              </a:rPr>
              <a:t>A PROPOSED 7-DAY LAUNCH BURST</a:t>
            </a:r>
            <a:endParaRPr lang="en-US" sz="1000" dirty="0"/>
          </a:p>
        </p:txBody>
      </p:sp>
      <p:sp>
        <p:nvSpPr>
          <p:cNvPr id="23" name="Text 17"/>
          <p:cNvSpPr txBox="1"/>
          <p:nvPr/>
        </p:nvSpPr>
        <p:spPr>
          <a:xfrm>
            <a:off x="566928" y="3749040"/>
            <a:ext cx="5440680" cy="1554480"/>
          </a:xfrm>
          <a:prstGeom prst="rect">
            <a:avLst/>
          </a:prstGeom>
          <a:noFill/>
          <a:ln/>
        </p:spPr>
        <p:txBody>
          <a:bodyPr wrap="square" lIns="0" tIns="0" rIns="0" bIns="0" rtlCol="0" anchor="t"/>
          <a:lstStyle/>
          <a:p>
            <a:pPr marL="177800" indent="-177800">
              <a:spcAft>
                <a:spcPts val="600"/>
              </a:spcAft>
              <a:buSzPct val="100000"/>
              <a:buChar char="•"/>
            </a:pPr>
            <a:r>
              <a:rPr lang="en-US" sz="1250" b="1" dirty="0">
                <a:solidFill>
                  <a:srgbClr val="132257"/>
                </a:solidFill>
                <a:latin typeface="Exo 2" pitchFamily="34" charset="0"/>
                <a:ea typeface="Exo 2" pitchFamily="34" charset="-122"/>
                <a:cs typeface="Exo 2" pitchFamily="34" charset="-120"/>
              </a:rPr>
              <a:t>Display and video ads: </a:t>
            </a:r>
            <a:pPr indent="0" marL="0">
              <a:spcAft>
                <a:spcPts val="600"/>
              </a:spcAft>
              <a:buNone/>
            </a:pPr>
            <a:r>
              <a:rPr lang="en-US" sz="1250" dirty="0">
                <a:solidFill>
                  <a:srgbClr val="1F2A44"/>
                </a:solidFill>
                <a:latin typeface="Exo 2" pitchFamily="34" charset="0"/>
                <a:ea typeface="Exo 2" pitchFamily="34" charset="-122"/>
                <a:cs typeface="Exo 2" pitchFamily="34" charset="-120"/>
              </a:rPr>
              <a:t>full-screen ads across the Kingdom</a:t>
            </a:r>
            <a:endParaRPr lang="en-US" sz="1250" dirty="0"/>
          </a:p>
          <a:p>
            <a:pPr marL="177800" indent="-177800">
              <a:spcAft>
                <a:spcPts val="600"/>
              </a:spcAft>
              <a:buSzPct val="100000"/>
              <a:buChar char="•"/>
            </a:pPr>
            <a:r>
              <a:rPr lang="en-US" sz="1250" b="1" dirty="0">
                <a:solidFill>
                  <a:srgbClr val="132257"/>
                </a:solidFill>
                <a:latin typeface="Exo 2" pitchFamily="34" charset="0"/>
                <a:ea typeface="Exo 2" pitchFamily="34" charset="-122"/>
                <a:cs typeface="Exo 2" pitchFamily="34" charset="-120"/>
              </a:rPr>
              <a:t>24-hour takeover poll: </a:t>
            </a:r>
            <a:pPr indent="0" marL="0">
              <a:spcAft>
                <a:spcPts val="600"/>
              </a:spcAft>
              <a:buNone/>
            </a:pPr>
            <a:r>
              <a:rPr lang="en-US" sz="1250" dirty="0">
                <a:solidFill>
                  <a:srgbClr val="1F2A44"/>
                </a:solidFill>
                <a:latin typeface="Exo 2" pitchFamily="34" charset="0"/>
                <a:ea typeface="Exo 2" pitchFamily="34" charset="-122"/>
                <a:cs typeface="Exo 2" pitchFamily="34" charset="-120"/>
              </a:rPr>
              <a:t>an interactive question every user sees for a day</a:t>
            </a:r>
            <a:endParaRPr lang="en-US" sz="1250" dirty="0"/>
          </a:p>
          <a:p>
            <a:pPr marL="177800" indent="-177800">
              <a:spcAft>
                <a:spcPts val="600"/>
              </a:spcAft>
              <a:buSzPct val="100000"/>
              <a:buChar char="•"/>
            </a:pPr>
            <a:r>
              <a:rPr lang="en-US" sz="1250" b="1" dirty="0">
                <a:solidFill>
                  <a:srgbClr val="132257"/>
                </a:solidFill>
                <a:latin typeface="Exo 2" pitchFamily="34" charset="0"/>
                <a:ea typeface="Exo 2" pitchFamily="34" charset="-122"/>
                <a:cs typeface="Exo 2" pitchFamily="34" charset="-120"/>
              </a:rPr>
              <a:t>About 2.5 million impressions </a:t>
            </a:r>
            <a:pPr indent="0" marL="0">
              <a:spcAft>
                <a:spcPts val="600"/>
              </a:spcAft>
              <a:buNone/>
            </a:pPr>
            <a:r>
              <a:rPr lang="en-US" sz="1250" dirty="0">
                <a:solidFill>
                  <a:srgbClr val="1F2A44"/>
                </a:solidFill>
                <a:latin typeface="Exo 2" pitchFamily="34" charset="0"/>
                <a:ea typeface="Exo 2" pitchFamily="34" charset="-122"/>
                <a:cs typeface="Exo 2" pitchFamily="34" charset="-120"/>
              </a:rPr>
              <a:t>in one week</a:t>
            </a:r>
            <a:endParaRPr lang="en-US" sz="1250" dirty="0"/>
          </a:p>
        </p:txBody>
      </p:sp>
      <p:sp>
        <p:nvSpPr>
          <p:cNvPr id="24" name="Shape 18"/>
          <p:cNvSpPr/>
          <p:nvPr/>
        </p:nvSpPr>
        <p:spPr>
          <a:xfrm>
            <a:off x="6355080" y="1645920"/>
            <a:ext cx="5276088" cy="4206240"/>
          </a:xfrm>
          <a:prstGeom prst="rect">
            <a:avLst/>
          </a:prstGeom>
          <a:solidFill>
            <a:srgbClr val="FFFFFF"/>
          </a:solidFill>
          <a:ln w="9525">
            <a:solidFill>
              <a:srgbClr val="D9DFEA"/>
            </a:solidFill>
            <a:prstDash val="solid"/>
          </a:ln>
        </p:spPr>
      </p:sp>
      <p:sp>
        <p:nvSpPr>
          <p:cNvPr id="25" name="Shape 19"/>
          <p:cNvSpPr/>
          <p:nvPr/>
        </p:nvSpPr>
        <p:spPr>
          <a:xfrm>
            <a:off x="6355080" y="1645920"/>
            <a:ext cx="5276088" cy="41148"/>
          </a:xfrm>
          <a:prstGeom prst="rect">
            <a:avLst/>
          </a:prstGeom>
          <a:solidFill>
            <a:srgbClr val="D4AF37"/>
          </a:solidFill>
          <a:ln w="12700">
            <a:solidFill>
              <a:srgbClr val="D4AF37"/>
            </a:solidFill>
            <a:prstDash val="solid"/>
          </a:ln>
        </p:spPr>
      </p:sp>
      <p:sp>
        <p:nvSpPr>
          <p:cNvPr id="26" name="Text 20"/>
          <p:cNvSpPr txBox="1"/>
          <p:nvPr/>
        </p:nvSpPr>
        <p:spPr>
          <a:xfrm>
            <a:off x="6629400" y="1828800"/>
            <a:ext cx="4572000" cy="274320"/>
          </a:xfrm>
          <a:prstGeom prst="rect">
            <a:avLst/>
          </a:prstGeom>
          <a:noFill/>
          <a:ln/>
        </p:spPr>
        <p:txBody>
          <a:bodyPr wrap="square" lIns="0" tIns="0" rIns="0" bIns="0" rtlCol="0" anchor="t"/>
          <a:lstStyle/>
          <a:p>
            <a:pPr indent="0" marL="0">
              <a:buNone/>
            </a:pPr>
            <a:r>
              <a:rPr lang="en-US" sz="1000" b="1" spc="100" kern="0" dirty="0">
                <a:solidFill>
                  <a:srgbClr val="9A7B1F"/>
                </a:solidFill>
                <a:latin typeface="Exo 2" pitchFamily="34" charset="0"/>
                <a:ea typeface="Exo 2" pitchFamily="34" charset="-122"/>
                <a:cs typeface="Exo 2" pitchFamily="34" charset="-120"/>
              </a:rPr>
              <a:t>PEER EXAMPLE</a:t>
            </a:r>
            <a:endParaRPr lang="en-US" sz="1000" dirty="0"/>
          </a:p>
        </p:txBody>
      </p:sp>
      <p:sp>
        <p:nvSpPr>
          <p:cNvPr id="27" name="Text 21"/>
          <p:cNvSpPr txBox="1"/>
          <p:nvPr/>
        </p:nvSpPr>
        <p:spPr>
          <a:xfrm>
            <a:off x="6629400" y="2103120"/>
            <a:ext cx="4754880" cy="640080"/>
          </a:xfrm>
          <a:prstGeom prst="rect">
            <a:avLst/>
          </a:prstGeom>
          <a:noFill/>
          <a:ln/>
        </p:spPr>
        <p:txBody>
          <a:bodyPr wrap="square" lIns="0" tIns="0" rIns="0" bIns="0" rtlCol="0" anchor="t"/>
          <a:lstStyle/>
          <a:p>
            <a:pPr indent="0" marL="0">
              <a:buNone/>
            </a:pPr>
            <a:r>
              <a:rPr lang="en-US" sz="1500" b="1" dirty="0">
                <a:solidFill>
                  <a:srgbClr val="132257"/>
                </a:solidFill>
                <a:latin typeface="Exo 2" pitchFamily="34" charset="0"/>
                <a:ea typeface="Exo 2" pitchFamily="34" charset="-122"/>
                <a:cs typeface="Exo 2" pitchFamily="34" charset="-120"/>
              </a:rPr>
              <a:t>Bahrain Islamic Bank in Saudi Arabia, 7 days over National Day</a:t>
            </a:r>
            <a:endParaRPr lang="en-US" sz="1500" dirty="0"/>
          </a:p>
        </p:txBody>
      </p:sp>
      <p:sp>
        <p:nvSpPr>
          <p:cNvPr id="28" name="Text 22"/>
          <p:cNvSpPr txBox="1"/>
          <p:nvPr/>
        </p:nvSpPr>
        <p:spPr>
          <a:xfrm>
            <a:off x="6629400" y="2880360"/>
            <a:ext cx="228600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4.15M</a:t>
            </a:r>
            <a:endParaRPr lang="en-US" sz="2800" dirty="0"/>
          </a:p>
        </p:txBody>
      </p:sp>
      <p:sp>
        <p:nvSpPr>
          <p:cNvPr id="29" name="Text 23"/>
          <p:cNvSpPr txBox="1"/>
          <p:nvPr/>
        </p:nvSpPr>
        <p:spPr>
          <a:xfrm>
            <a:off x="6629400" y="3429000"/>
            <a:ext cx="228600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impressions</a:t>
            </a:r>
            <a:endParaRPr lang="en-US" sz="1100" dirty="0"/>
          </a:p>
        </p:txBody>
      </p:sp>
      <p:sp>
        <p:nvSpPr>
          <p:cNvPr id="30" name="Text 24"/>
          <p:cNvSpPr txBox="1"/>
          <p:nvPr/>
        </p:nvSpPr>
        <p:spPr>
          <a:xfrm>
            <a:off x="9098280" y="2880360"/>
            <a:ext cx="228600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0.43%</a:t>
            </a:r>
            <a:endParaRPr lang="en-US" sz="2800" dirty="0"/>
          </a:p>
        </p:txBody>
      </p:sp>
      <p:sp>
        <p:nvSpPr>
          <p:cNvPr id="31" name="Text 25"/>
          <p:cNvSpPr txBox="1"/>
          <p:nvPr/>
        </p:nvSpPr>
        <p:spPr>
          <a:xfrm>
            <a:off x="9098280" y="3429000"/>
            <a:ext cx="228600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click rate</a:t>
            </a:r>
            <a:endParaRPr lang="en-US" sz="1100" dirty="0"/>
          </a:p>
        </p:txBody>
      </p:sp>
      <p:sp>
        <p:nvSpPr>
          <p:cNvPr id="32" name="Text 26"/>
          <p:cNvSpPr txBox="1"/>
          <p:nvPr/>
        </p:nvSpPr>
        <p:spPr>
          <a:xfrm>
            <a:off x="6629400" y="4114800"/>
            <a:ext cx="228600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700+</a:t>
            </a:r>
            <a:endParaRPr lang="en-US" sz="2800" dirty="0"/>
          </a:p>
        </p:txBody>
      </p:sp>
      <p:sp>
        <p:nvSpPr>
          <p:cNvPr id="33" name="Text 27"/>
          <p:cNvSpPr txBox="1"/>
          <p:nvPr/>
        </p:nvSpPr>
        <p:spPr>
          <a:xfrm>
            <a:off x="6629400" y="4663440"/>
            <a:ext cx="228600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app downloads</a:t>
            </a:r>
            <a:endParaRPr lang="en-US" sz="1100" dirty="0"/>
          </a:p>
        </p:txBody>
      </p:sp>
      <p:sp>
        <p:nvSpPr>
          <p:cNvPr id="34" name="Text 28"/>
          <p:cNvSpPr txBox="1"/>
          <p:nvPr/>
        </p:nvSpPr>
        <p:spPr>
          <a:xfrm>
            <a:off x="9098280" y="4114800"/>
            <a:ext cx="2286000" cy="548640"/>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240</a:t>
            </a:r>
            <a:endParaRPr lang="en-US" sz="2800" dirty="0"/>
          </a:p>
        </p:txBody>
      </p:sp>
      <p:sp>
        <p:nvSpPr>
          <p:cNvPr id="35" name="Text 29"/>
          <p:cNvSpPr txBox="1"/>
          <p:nvPr/>
        </p:nvSpPr>
        <p:spPr>
          <a:xfrm>
            <a:off x="9098280" y="4663440"/>
            <a:ext cx="2286000" cy="274320"/>
          </a:xfrm>
          <a:prstGeom prst="rect">
            <a:avLst/>
          </a:prstGeom>
          <a:noFill/>
          <a:ln/>
        </p:spPr>
        <p:txBody>
          <a:bodyPr wrap="square" lIns="0" tIns="0" rIns="0" bIns="0" rtlCol="0" anchor="t"/>
          <a:lstStyle/>
          <a:p>
            <a:pPr indent="0" marL="0">
              <a:buNone/>
            </a:pPr>
            <a:r>
              <a:rPr lang="en-US" sz="1100" dirty="0">
                <a:solidFill>
                  <a:srgbClr val="6B7590"/>
                </a:solidFill>
                <a:latin typeface="Exo 2" pitchFamily="34" charset="0"/>
                <a:ea typeface="Exo 2" pitchFamily="34" charset="-122"/>
                <a:cs typeface="Exo 2" pitchFamily="34" charset="-120"/>
              </a:rPr>
              <a:t>accounts opened</a:t>
            </a:r>
            <a:endParaRPr lang="en-US" sz="1100" dirty="0"/>
          </a:p>
        </p:txBody>
      </p:sp>
      <p:sp>
        <p:nvSpPr>
          <p:cNvPr id="36" name="Text 30"/>
          <p:cNvSpPr txBox="1"/>
          <p:nvPr/>
        </p:nvSpPr>
        <p:spPr>
          <a:xfrm>
            <a:off x="6629400" y="5440680"/>
            <a:ext cx="4754880" cy="274320"/>
          </a:xfrm>
          <a:prstGeom prst="rect">
            <a:avLst/>
          </a:prstGeom>
          <a:noFill/>
          <a:ln/>
        </p:spPr>
        <p:txBody>
          <a:bodyPr wrap="square" lIns="0" tIns="0" rIns="0" bIns="0" rtlCol="0" anchor="t"/>
          <a:lstStyle/>
          <a:p>
            <a:pPr indent="0" marL="0">
              <a:buNone/>
            </a:pPr>
            <a:r>
              <a:rPr lang="en-US" sz="900" i="1" dirty="0">
                <a:solidFill>
                  <a:srgbClr val="6B7590"/>
                </a:solidFill>
                <a:latin typeface="Exo 2" pitchFamily="34" charset="0"/>
                <a:ea typeface="Exo 2" pitchFamily="34" charset="-122"/>
                <a:cs typeface="Exo 2" pitchFamily="34" charset="-120"/>
              </a:rPr>
              <a:t>Source: Nadher Media case study, October 2025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THE PLAN AHEAD</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What runs when, October to December 2026</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10</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3291840" y="1600200"/>
            <a:ext cx="2724912" cy="384048"/>
          </a:xfrm>
          <a:prstGeom prst="rect">
            <a:avLst/>
          </a:prstGeom>
          <a:solidFill>
            <a:srgbClr val="132257"/>
          </a:solidFill>
          <a:ln w="12700">
            <a:solidFill>
              <a:srgbClr val="132257"/>
            </a:solidFill>
            <a:prstDash val="solid"/>
          </a:ln>
        </p:spPr>
      </p:sp>
      <p:sp>
        <p:nvSpPr>
          <p:cNvPr id="12" name="Text 6"/>
          <p:cNvSpPr txBox="1"/>
          <p:nvPr/>
        </p:nvSpPr>
        <p:spPr>
          <a:xfrm>
            <a:off x="3291840" y="1600200"/>
            <a:ext cx="27249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Exo 2" pitchFamily="34" charset="0"/>
                <a:ea typeface="Exo 2" pitchFamily="34" charset="-122"/>
                <a:cs typeface="Exo 2" pitchFamily="34" charset="-120"/>
              </a:rPr>
              <a:t>October</a:t>
            </a:r>
            <a:endParaRPr lang="en-US" sz="1100" dirty="0"/>
          </a:p>
        </p:txBody>
      </p:sp>
      <p:sp>
        <p:nvSpPr>
          <p:cNvPr id="13" name="Shape 7"/>
          <p:cNvSpPr/>
          <p:nvPr/>
        </p:nvSpPr>
        <p:spPr>
          <a:xfrm>
            <a:off x="6071616" y="1600200"/>
            <a:ext cx="2724912" cy="384048"/>
          </a:xfrm>
          <a:prstGeom prst="rect">
            <a:avLst/>
          </a:prstGeom>
          <a:solidFill>
            <a:srgbClr val="132257"/>
          </a:solidFill>
          <a:ln w="12700">
            <a:solidFill>
              <a:srgbClr val="132257"/>
            </a:solidFill>
            <a:prstDash val="solid"/>
          </a:ln>
        </p:spPr>
      </p:sp>
      <p:sp>
        <p:nvSpPr>
          <p:cNvPr id="14" name="Text 8"/>
          <p:cNvSpPr txBox="1"/>
          <p:nvPr/>
        </p:nvSpPr>
        <p:spPr>
          <a:xfrm>
            <a:off x="6071616" y="1600200"/>
            <a:ext cx="27249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Exo 2" pitchFamily="34" charset="0"/>
                <a:ea typeface="Exo 2" pitchFamily="34" charset="-122"/>
                <a:cs typeface="Exo 2" pitchFamily="34" charset="-120"/>
              </a:rPr>
              <a:t>November</a:t>
            </a:r>
            <a:endParaRPr lang="en-US" sz="1100" dirty="0"/>
          </a:p>
        </p:txBody>
      </p:sp>
      <p:sp>
        <p:nvSpPr>
          <p:cNvPr id="15" name="Shape 9"/>
          <p:cNvSpPr/>
          <p:nvPr/>
        </p:nvSpPr>
        <p:spPr>
          <a:xfrm>
            <a:off x="8851392" y="1600200"/>
            <a:ext cx="2724912" cy="384048"/>
          </a:xfrm>
          <a:prstGeom prst="rect">
            <a:avLst/>
          </a:prstGeom>
          <a:solidFill>
            <a:srgbClr val="132257"/>
          </a:solidFill>
          <a:ln w="12700">
            <a:solidFill>
              <a:srgbClr val="132257"/>
            </a:solidFill>
            <a:prstDash val="solid"/>
          </a:ln>
        </p:spPr>
      </p:sp>
      <p:sp>
        <p:nvSpPr>
          <p:cNvPr id="16" name="Text 10"/>
          <p:cNvSpPr txBox="1"/>
          <p:nvPr/>
        </p:nvSpPr>
        <p:spPr>
          <a:xfrm>
            <a:off x="8851392" y="1600200"/>
            <a:ext cx="272491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Exo 2" pitchFamily="34" charset="0"/>
                <a:ea typeface="Exo 2" pitchFamily="34" charset="-122"/>
                <a:cs typeface="Exo 2" pitchFamily="34" charset="-120"/>
              </a:rPr>
              <a:t>December</a:t>
            </a:r>
            <a:endParaRPr lang="en-US" sz="1100" dirty="0"/>
          </a:p>
        </p:txBody>
      </p:sp>
      <p:sp>
        <p:nvSpPr>
          <p:cNvPr id="17" name="Shape 11"/>
          <p:cNvSpPr/>
          <p:nvPr/>
        </p:nvSpPr>
        <p:spPr>
          <a:xfrm>
            <a:off x="566928" y="2148840"/>
            <a:ext cx="11064240" cy="475488"/>
          </a:xfrm>
          <a:prstGeom prst="rect">
            <a:avLst/>
          </a:prstGeom>
          <a:solidFill>
            <a:srgbClr val="EEF1F8"/>
          </a:solidFill>
          <a:ln w="12700">
            <a:solidFill>
              <a:srgbClr val="EEF1F8"/>
            </a:solidFill>
            <a:prstDash val="solid"/>
          </a:ln>
        </p:spPr>
      </p:sp>
      <p:sp>
        <p:nvSpPr>
          <p:cNvPr id="18" name="Text 12"/>
          <p:cNvSpPr txBox="1"/>
          <p:nvPr/>
        </p:nvSpPr>
        <p:spPr>
          <a:xfrm>
            <a:off x="685800" y="2148840"/>
            <a:ext cx="2011680" cy="475488"/>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Google Ads, Saudi</a:t>
            </a:r>
            <a:endParaRPr lang="en-US" sz="1100" dirty="0"/>
          </a:p>
        </p:txBody>
      </p:sp>
      <p:sp>
        <p:nvSpPr>
          <p:cNvPr id="19" name="Text 13"/>
          <p:cNvSpPr txBox="1"/>
          <p:nvPr/>
        </p:nvSpPr>
        <p:spPr>
          <a:xfrm>
            <a:off x="2514600" y="2148840"/>
            <a:ext cx="731520" cy="475488"/>
          </a:xfrm>
          <a:prstGeom prst="rect">
            <a:avLst/>
          </a:prstGeom>
          <a:noFill/>
          <a:ln/>
        </p:spPr>
        <p:txBody>
          <a:bodyPr wrap="square" lIns="0" tIns="0" rIns="0" bIns="0" rtlCol="0" anchor="ctr"/>
          <a:lstStyle/>
          <a:p>
            <a:pPr indent="0" marL="0">
              <a:buNone/>
            </a:pPr>
            <a:r>
              <a:rPr lang="en-US" sz="900" dirty="0">
                <a:solidFill>
                  <a:srgbClr val="6B7590"/>
                </a:solidFill>
                <a:latin typeface="Exo 2" pitchFamily="34" charset="0"/>
                <a:ea typeface="Exo 2" pitchFamily="34" charset="-122"/>
                <a:cs typeface="Exo 2" pitchFamily="34" charset="-120"/>
              </a:rPr>
              <a:t>Live</a:t>
            </a:r>
            <a:endParaRPr lang="en-US" sz="900" dirty="0"/>
          </a:p>
        </p:txBody>
      </p:sp>
      <p:sp>
        <p:nvSpPr>
          <p:cNvPr id="20" name="Shape 14"/>
          <p:cNvSpPr/>
          <p:nvPr/>
        </p:nvSpPr>
        <p:spPr>
          <a:xfrm>
            <a:off x="3291840" y="2267712"/>
            <a:ext cx="8266176" cy="237744"/>
          </a:xfrm>
          <a:prstGeom prst="roundRect">
            <a:avLst>
              <a:gd name="adj" fmla="val 50000"/>
            </a:avLst>
          </a:prstGeom>
          <a:solidFill>
            <a:srgbClr val="1BA97C"/>
          </a:solidFill>
          <a:ln w="12700">
            <a:solidFill>
              <a:srgbClr val="1BA97C"/>
            </a:solidFill>
            <a:prstDash val="solid"/>
          </a:ln>
        </p:spPr>
      </p:sp>
      <p:sp>
        <p:nvSpPr>
          <p:cNvPr id="21" name="Shape 15"/>
          <p:cNvSpPr/>
          <p:nvPr/>
        </p:nvSpPr>
        <p:spPr>
          <a:xfrm>
            <a:off x="566928" y="2697480"/>
            <a:ext cx="11064240" cy="475488"/>
          </a:xfrm>
          <a:prstGeom prst="rect">
            <a:avLst/>
          </a:prstGeom>
          <a:solidFill>
            <a:srgbClr val="FFFFFF"/>
          </a:solidFill>
          <a:ln w="12700">
            <a:solidFill>
              <a:srgbClr val="FFFFFF"/>
            </a:solidFill>
            <a:prstDash val="solid"/>
          </a:ln>
        </p:spPr>
      </p:sp>
      <p:sp>
        <p:nvSpPr>
          <p:cNvPr id="22" name="Text 16"/>
          <p:cNvSpPr txBox="1"/>
          <p:nvPr/>
        </p:nvSpPr>
        <p:spPr>
          <a:xfrm>
            <a:off x="685800" y="2697480"/>
            <a:ext cx="2011680" cy="475488"/>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LinkedIn, Affluent</a:t>
            </a:r>
            <a:endParaRPr lang="en-US" sz="1100" dirty="0"/>
          </a:p>
        </p:txBody>
      </p:sp>
      <p:sp>
        <p:nvSpPr>
          <p:cNvPr id="23" name="Text 17"/>
          <p:cNvSpPr txBox="1"/>
          <p:nvPr/>
        </p:nvSpPr>
        <p:spPr>
          <a:xfrm>
            <a:off x="2514600" y="2697480"/>
            <a:ext cx="731520" cy="475488"/>
          </a:xfrm>
          <a:prstGeom prst="rect">
            <a:avLst/>
          </a:prstGeom>
          <a:noFill/>
          <a:ln/>
        </p:spPr>
        <p:txBody>
          <a:bodyPr wrap="square" lIns="0" tIns="0" rIns="0" bIns="0" rtlCol="0" anchor="ctr"/>
          <a:lstStyle/>
          <a:p>
            <a:pPr indent="0" marL="0">
              <a:buNone/>
            </a:pPr>
            <a:r>
              <a:rPr lang="en-US" sz="900" dirty="0">
                <a:solidFill>
                  <a:srgbClr val="6B7590"/>
                </a:solidFill>
                <a:latin typeface="Exo 2" pitchFamily="34" charset="0"/>
                <a:ea typeface="Exo 2" pitchFamily="34" charset="-122"/>
                <a:cs typeface="Exo 2" pitchFamily="34" charset="-120"/>
              </a:rPr>
              <a:t>Planned</a:t>
            </a:r>
            <a:endParaRPr lang="en-US" sz="900" dirty="0"/>
          </a:p>
        </p:txBody>
      </p:sp>
      <p:sp>
        <p:nvSpPr>
          <p:cNvPr id="24" name="Shape 18"/>
          <p:cNvSpPr/>
          <p:nvPr/>
        </p:nvSpPr>
        <p:spPr>
          <a:xfrm>
            <a:off x="4125773" y="2816352"/>
            <a:ext cx="7432243" cy="237744"/>
          </a:xfrm>
          <a:prstGeom prst="roundRect">
            <a:avLst>
              <a:gd name="adj" fmla="val 50000"/>
            </a:avLst>
          </a:prstGeom>
          <a:solidFill>
            <a:srgbClr val="132257"/>
          </a:solidFill>
          <a:ln w="12700">
            <a:solidFill>
              <a:srgbClr val="132257"/>
            </a:solidFill>
            <a:prstDash val="solid"/>
          </a:ln>
        </p:spPr>
      </p:sp>
      <p:sp>
        <p:nvSpPr>
          <p:cNvPr id="25" name="Shape 19"/>
          <p:cNvSpPr/>
          <p:nvPr/>
        </p:nvSpPr>
        <p:spPr>
          <a:xfrm>
            <a:off x="566928" y="3246120"/>
            <a:ext cx="11064240" cy="475488"/>
          </a:xfrm>
          <a:prstGeom prst="rect">
            <a:avLst/>
          </a:prstGeom>
          <a:solidFill>
            <a:srgbClr val="EEF1F8"/>
          </a:solidFill>
          <a:ln w="12700">
            <a:solidFill>
              <a:srgbClr val="EEF1F8"/>
            </a:solidFill>
            <a:prstDash val="solid"/>
          </a:ln>
        </p:spPr>
      </p:sp>
      <p:sp>
        <p:nvSpPr>
          <p:cNvPr id="26" name="Text 20"/>
          <p:cNvSpPr txBox="1"/>
          <p:nvPr/>
        </p:nvSpPr>
        <p:spPr>
          <a:xfrm>
            <a:off x="685800" y="3246120"/>
            <a:ext cx="2011680" cy="475488"/>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Saudi creator videos</a:t>
            </a:r>
            <a:endParaRPr lang="en-US" sz="1100" dirty="0"/>
          </a:p>
        </p:txBody>
      </p:sp>
      <p:sp>
        <p:nvSpPr>
          <p:cNvPr id="27" name="Text 21"/>
          <p:cNvSpPr txBox="1"/>
          <p:nvPr/>
        </p:nvSpPr>
        <p:spPr>
          <a:xfrm>
            <a:off x="2514600" y="3246120"/>
            <a:ext cx="731520" cy="475488"/>
          </a:xfrm>
          <a:prstGeom prst="rect">
            <a:avLst/>
          </a:prstGeom>
          <a:noFill/>
          <a:ln/>
        </p:spPr>
        <p:txBody>
          <a:bodyPr wrap="square" lIns="0" tIns="0" rIns="0" bIns="0" rtlCol="0" anchor="ctr"/>
          <a:lstStyle/>
          <a:p>
            <a:pPr indent="0" marL="0">
              <a:buNone/>
            </a:pPr>
            <a:r>
              <a:rPr lang="en-US" sz="900" dirty="0">
                <a:solidFill>
                  <a:srgbClr val="6B7590"/>
                </a:solidFill>
                <a:latin typeface="Exo 2" pitchFamily="34" charset="0"/>
                <a:ea typeface="Exo 2" pitchFamily="34" charset="-122"/>
                <a:cs typeface="Exo 2" pitchFamily="34" charset="-120"/>
              </a:rPr>
              <a:t>Planned</a:t>
            </a:r>
            <a:endParaRPr lang="en-US" sz="900" dirty="0"/>
          </a:p>
        </p:txBody>
      </p:sp>
      <p:sp>
        <p:nvSpPr>
          <p:cNvPr id="28" name="Shape 22"/>
          <p:cNvSpPr/>
          <p:nvPr/>
        </p:nvSpPr>
        <p:spPr>
          <a:xfrm>
            <a:off x="3291840" y="3364992"/>
            <a:ext cx="8266176" cy="237744"/>
          </a:xfrm>
          <a:prstGeom prst="roundRect">
            <a:avLst>
              <a:gd name="adj" fmla="val 50000"/>
            </a:avLst>
          </a:prstGeom>
          <a:solidFill>
            <a:srgbClr val="132257"/>
          </a:solidFill>
          <a:ln w="12700">
            <a:solidFill>
              <a:srgbClr val="132257"/>
            </a:solidFill>
            <a:prstDash val="solid"/>
          </a:ln>
        </p:spPr>
      </p:sp>
      <p:sp>
        <p:nvSpPr>
          <p:cNvPr id="29" name="Shape 23"/>
          <p:cNvSpPr/>
          <p:nvPr/>
        </p:nvSpPr>
        <p:spPr>
          <a:xfrm>
            <a:off x="566928" y="3794760"/>
            <a:ext cx="11064240" cy="475488"/>
          </a:xfrm>
          <a:prstGeom prst="rect">
            <a:avLst/>
          </a:prstGeom>
          <a:solidFill>
            <a:srgbClr val="FFFFFF"/>
          </a:solidFill>
          <a:ln w="12700">
            <a:solidFill>
              <a:srgbClr val="FFFFFF"/>
            </a:solidFill>
            <a:prstDash val="solid"/>
          </a:ln>
        </p:spPr>
      </p:sp>
      <p:sp>
        <p:nvSpPr>
          <p:cNvPr id="30" name="Text 24"/>
          <p:cNvSpPr txBox="1"/>
          <p:nvPr/>
        </p:nvSpPr>
        <p:spPr>
          <a:xfrm>
            <a:off x="685800" y="3794760"/>
            <a:ext cx="2011680" cy="475488"/>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Jodel launch burst</a:t>
            </a:r>
            <a:endParaRPr lang="en-US" sz="1100" dirty="0"/>
          </a:p>
        </p:txBody>
      </p:sp>
      <p:sp>
        <p:nvSpPr>
          <p:cNvPr id="31" name="Text 25"/>
          <p:cNvSpPr txBox="1"/>
          <p:nvPr/>
        </p:nvSpPr>
        <p:spPr>
          <a:xfrm>
            <a:off x="2514600" y="3794760"/>
            <a:ext cx="731520" cy="475488"/>
          </a:xfrm>
          <a:prstGeom prst="rect">
            <a:avLst/>
          </a:prstGeom>
          <a:noFill/>
          <a:ln/>
        </p:spPr>
        <p:txBody>
          <a:bodyPr wrap="square" lIns="0" tIns="0" rIns="0" bIns="0" rtlCol="0" anchor="ctr"/>
          <a:lstStyle/>
          <a:p>
            <a:pPr indent="0" marL="0">
              <a:buNone/>
            </a:pPr>
            <a:r>
              <a:rPr lang="en-US" sz="900" dirty="0">
                <a:solidFill>
                  <a:srgbClr val="6B7590"/>
                </a:solidFill>
                <a:latin typeface="Exo 2" pitchFamily="34" charset="0"/>
                <a:ea typeface="Exo 2" pitchFamily="34" charset="-122"/>
                <a:cs typeface="Exo 2" pitchFamily="34" charset="-120"/>
              </a:rPr>
              <a:t>Proposed</a:t>
            </a:r>
            <a:endParaRPr lang="en-US" sz="900" dirty="0"/>
          </a:p>
        </p:txBody>
      </p:sp>
      <p:sp>
        <p:nvSpPr>
          <p:cNvPr id="32" name="Shape 26"/>
          <p:cNvSpPr/>
          <p:nvPr/>
        </p:nvSpPr>
        <p:spPr>
          <a:xfrm>
            <a:off x="6071616" y="3913632"/>
            <a:ext cx="621792" cy="237744"/>
          </a:xfrm>
          <a:prstGeom prst="roundRect">
            <a:avLst>
              <a:gd name="adj" fmla="val 50000"/>
            </a:avLst>
          </a:prstGeom>
          <a:solidFill>
            <a:srgbClr val="D4AF37"/>
          </a:solidFill>
          <a:ln w="12700">
            <a:solidFill>
              <a:srgbClr val="D4AF37"/>
            </a:solidFill>
            <a:prstDash val="solid"/>
          </a:ln>
        </p:spPr>
      </p:sp>
      <p:sp>
        <p:nvSpPr>
          <p:cNvPr id="33" name="Shape 27"/>
          <p:cNvSpPr/>
          <p:nvPr/>
        </p:nvSpPr>
        <p:spPr>
          <a:xfrm>
            <a:off x="566928" y="4343400"/>
            <a:ext cx="11064240" cy="475488"/>
          </a:xfrm>
          <a:prstGeom prst="rect">
            <a:avLst/>
          </a:prstGeom>
          <a:solidFill>
            <a:srgbClr val="EEF1F8"/>
          </a:solidFill>
          <a:ln w="12700">
            <a:solidFill>
              <a:srgbClr val="EEF1F8"/>
            </a:solidFill>
            <a:prstDash val="solid"/>
          </a:ln>
        </p:spPr>
      </p:sp>
      <p:sp>
        <p:nvSpPr>
          <p:cNvPr id="34" name="Text 28"/>
          <p:cNvSpPr txBox="1"/>
          <p:nvPr/>
        </p:nvSpPr>
        <p:spPr>
          <a:xfrm>
            <a:off x="685800" y="4343400"/>
            <a:ext cx="2011680" cy="475488"/>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Outdoor media, Riyadh</a:t>
            </a:r>
            <a:endParaRPr lang="en-US" sz="1100" dirty="0"/>
          </a:p>
        </p:txBody>
      </p:sp>
      <p:sp>
        <p:nvSpPr>
          <p:cNvPr id="35" name="Text 29"/>
          <p:cNvSpPr txBox="1"/>
          <p:nvPr/>
        </p:nvSpPr>
        <p:spPr>
          <a:xfrm>
            <a:off x="2514600" y="4343400"/>
            <a:ext cx="731520" cy="475488"/>
          </a:xfrm>
          <a:prstGeom prst="rect">
            <a:avLst/>
          </a:prstGeom>
          <a:noFill/>
          <a:ln/>
        </p:spPr>
        <p:txBody>
          <a:bodyPr wrap="square" lIns="0" tIns="0" rIns="0" bIns="0" rtlCol="0" anchor="ctr"/>
          <a:lstStyle/>
          <a:p>
            <a:pPr indent="0" marL="0">
              <a:buNone/>
            </a:pPr>
            <a:r>
              <a:rPr lang="en-US" sz="900" dirty="0">
                <a:solidFill>
                  <a:srgbClr val="6B7590"/>
                </a:solidFill>
                <a:latin typeface="Exo 2" pitchFamily="34" charset="0"/>
                <a:ea typeface="Exo 2" pitchFamily="34" charset="-122"/>
                <a:cs typeface="Exo 2" pitchFamily="34" charset="-120"/>
              </a:rPr>
              <a:t>Proposed</a:t>
            </a:r>
            <a:endParaRPr lang="en-US" sz="900" dirty="0"/>
          </a:p>
        </p:txBody>
      </p:sp>
      <p:sp>
        <p:nvSpPr>
          <p:cNvPr id="36" name="Shape 30"/>
          <p:cNvSpPr/>
          <p:nvPr/>
        </p:nvSpPr>
        <p:spPr>
          <a:xfrm>
            <a:off x="6071616" y="4462272"/>
            <a:ext cx="2706624" cy="237744"/>
          </a:xfrm>
          <a:prstGeom prst="roundRect">
            <a:avLst>
              <a:gd name="adj" fmla="val 50000"/>
            </a:avLst>
          </a:prstGeom>
          <a:solidFill>
            <a:srgbClr val="D4AF37"/>
          </a:solidFill>
          <a:ln w="12700">
            <a:solidFill>
              <a:srgbClr val="D4AF37"/>
            </a:solidFill>
            <a:prstDash val="solid"/>
          </a:ln>
        </p:spPr>
      </p:sp>
      <p:sp>
        <p:nvSpPr>
          <p:cNvPr id="37" name="Shape 31"/>
          <p:cNvSpPr/>
          <p:nvPr/>
        </p:nvSpPr>
        <p:spPr>
          <a:xfrm>
            <a:off x="566928" y="4892040"/>
            <a:ext cx="11064240" cy="475488"/>
          </a:xfrm>
          <a:prstGeom prst="rect">
            <a:avLst/>
          </a:prstGeom>
          <a:solidFill>
            <a:srgbClr val="FFFFFF"/>
          </a:solidFill>
          <a:ln w="12700">
            <a:solidFill>
              <a:srgbClr val="FFFFFF"/>
            </a:solidFill>
            <a:prstDash val="solid"/>
          </a:ln>
        </p:spPr>
      </p:sp>
      <p:sp>
        <p:nvSpPr>
          <p:cNvPr id="38" name="Text 32"/>
          <p:cNvSpPr txBox="1"/>
          <p:nvPr/>
        </p:nvSpPr>
        <p:spPr>
          <a:xfrm>
            <a:off x="685800" y="4892040"/>
            <a:ext cx="2011680" cy="475488"/>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One-month test review</a:t>
            </a:r>
            <a:endParaRPr lang="en-US" sz="1100" dirty="0"/>
          </a:p>
        </p:txBody>
      </p:sp>
      <p:sp>
        <p:nvSpPr>
          <p:cNvPr id="39" name="Text 33"/>
          <p:cNvSpPr txBox="1"/>
          <p:nvPr/>
        </p:nvSpPr>
        <p:spPr>
          <a:xfrm>
            <a:off x="2514600" y="4892040"/>
            <a:ext cx="731520" cy="475488"/>
          </a:xfrm>
          <a:prstGeom prst="rect">
            <a:avLst/>
          </a:prstGeom>
          <a:noFill/>
          <a:ln/>
        </p:spPr>
        <p:txBody>
          <a:bodyPr wrap="square" lIns="0" tIns="0" rIns="0" bIns="0" rtlCol="0" anchor="ctr"/>
          <a:lstStyle/>
          <a:p>
            <a:pPr indent="0" marL="0">
              <a:buNone/>
            </a:pPr>
            <a:r>
              <a:rPr lang="en-US" sz="900" dirty="0">
                <a:solidFill>
                  <a:srgbClr val="6B7590"/>
                </a:solidFill>
                <a:latin typeface="Exo 2" pitchFamily="34" charset="0"/>
                <a:ea typeface="Exo 2" pitchFamily="34" charset="-122"/>
                <a:cs typeface="Exo 2" pitchFamily="34" charset="-120"/>
              </a:rPr>
              <a:t>Planned</a:t>
            </a:r>
            <a:endParaRPr lang="en-US" sz="900" dirty="0"/>
          </a:p>
        </p:txBody>
      </p:sp>
      <p:sp>
        <p:nvSpPr>
          <p:cNvPr id="40" name="Shape 34"/>
          <p:cNvSpPr/>
          <p:nvPr/>
        </p:nvSpPr>
        <p:spPr>
          <a:xfrm>
            <a:off x="6071616" y="5010912"/>
            <a:ext cx="899770" cy="237744"/>
          </a:xfrm>
          <a:prstGeom prst="roundRect">
            <a:avLst>
              <a:gd name="adj" fmla="val 50000"/>
            </a:avLst>
          </a:prstGeom>
          <a:solidFill>
            <a:srgbClr val="3C61B6"/>
          </a:solidFill>
          <a:ln w="12700">
            <a:solidFill>
              <a:srgbClr val="3C61B6"/>
            </a:solidFill>
            <a:prstDash val="solid"/>
          </a:ln>
        </p:spPr>
      </p:sp>
      <p:sp>
        <p:nvSpPr>
          <p:cNvPr id="41" name="Shape 35"/>
          <p:cNvSpPr/>
          <p:nvPr/>
        </p:nvSpPr>
        <p:spPr>
          <a:xfrm>
            <a:off x="566928" y="5440680"/>
            <a:ext cx="11064240" cy="475488"/>
          </a:xfrm>
          <a:prstGeom prst="rect">
            <a:avLst/>
          </a:prstGeom>
          <a:solidFill>
            <a:srgbClr val="EEF1F8"/>
          </a:solidFill>
          <a:ln w="12700">
            <a:solidFill>
              <a:srgbClr val="EEF1F8"/>
            </a:solidFill>
            <a:prstDash val="solid"/>
          </a:ln>
        </p:spPr>
      </p:sp>
      <p:sp>
        <p:nvSpPr>
          <p:cNvPr id="42" name="Text 36"/>
          <p:cNvSpPr txBox="1"/>
          <p:nvPr/>
        </p:nvSpPr>
        <p:spPr>
          <a:xfrm>
            <a:off x="685800" y="5440680"/>
            <a:ext cx="2011680" cy="475488"/>
          </a:xfrm>
          <a:prstGeom prst="rect">
            <a:avLst/>
          </a:prstGeom>
          <a:noFill/>
          <a:ln/>
        </p:spPr>
        <p:txBody>
          <a:bodyPr wrap="square" lIns="0" tIns="0" rIns="0" bIns="0" rtlCol="0" anchor="ctr"/>
          <a:lstStyle/>
          <a:p>
            <a:pPr indent="0" marL="0">
              <a:buNone/>
            </a:pPr>
            <a:r>
              <a:rPr lang="en-US" sz="1100" b="1" dirty="0">
                <a:solidFill>
                  <a:srgbClr val="132257"/>
                </a:solidFill>
                <a:latin typeface="Exo 2" pitchFamily="34" charset="0"/>
                <a:ea typeface="Exo 2" pitchFamily="34" charset="-122"/>
                <a:cs typeface="Exo 2" pitchFamily="34" charset="-120"/>
              </a:rPr>
              <a:t>Expand to the wider GCC</a:t>
            </a:r>
            <a:endParaRPr lang="en-US" sz="1100" dirty="0"/>
          </a:p>
        </p:txBody>
      </p:sp>
      <p:sp>
        <p:nvSpPr>
          <p:cNvPr id="43" name="Text 37"/>
          <p:cNvSpPr txBox="1"/>
          <p:nvPr/>
        </p:nvSpPr>
        <p:spPr>
          <a:xfrm>
            <a:off x="2514600" y="5440680"/>
            <a:ext cx="731520" cy="475488"/>
          </a:xfrm>
          <a:prstGeom prst="rect">
            <a:avLst/>
          </a:prstGeom>
          <a:noFill/>
          <a:ln/>
        </p:spPr>
        <p:txBody>
          <a:bodyPr wrap="square" lIns="0" tIns="0" rIns="0" bIns="0" rtlCol="0" anchor="ctr"/>
          <a:lstStyle/>
          <a:p>
            <a:pPr indent="0" marL="0">
              <a:buNone/>
            </a:pPr>
            <a:r>
              <a:rPr lang="en-US" sz="900" dirty="0">
                <a:solidFill>
                  <a:srgbClr val="6B7590"/>
                </a:solidFill>
                <a:latin typeface="Exo 2" pitchFamily="34" charset="0"/>
                <a:ea typeface="Exo 2" pitchFamily="34" charset="-122"/>
                <a:cs typeface="Exo 2" pitchFamily="34" charset="-120"/>
              </a:rPr>
              <a:t>Planned</a:t>
            </a:r>
            <a:endParaRPr lang="en-US" sz="900" dirty="0"/>
          </a:p>
        </p:txBody>
      </p:sp>
      <p:sp>
        <p:nvSpPr>
          <p:cNvPr id="44" name="Shape 38"/>
          <p:cNvSpPr/>
          <p:nvPr/>
        </p:nvSpPr>
        <p:spPr>
          <a:xfrm>
            <a:off x="7739482" y="5559552"/>
            <a:ext cx="3818534" cy="237744"/>
          </a:xfrm>
          <a:prstGeom prst="roundRect">
            <a:avLst>
              <a:gd name="adj" fmla="val 50000"/>
            </a:avLst>
          </a:prstGeom>
          <a:solidFill>
            <a:srgbClr val="1BA97C"/>
          </a:solidFill>
          <a:ln w="12700">
            <a:solidFill>
              <a:srgbClr val="1BA97C"/>
            </a:solidFill>
            <a:prstDash val="solid"/>
          </a:ln>
        </p:spPr>
      </p:sp>
      <p:sp>
        <p:nvSpPr>
          <p:cNvPr id="45" name="Shape 39"/>
          <p:cNvSpPr/>
          <p:nvPr/>
        </p:nvSpPr>
        <p:spPr>
          <a:xfrm>
            <a:off x="566928" y="6080760"/>
            <a:ext cx="164592" cy="164592"/>
          </a:xfrm>
          <a:prstGeom prst="rect">
            <a:avLst/>
          </a:prstGeom>
          <a:solidFill>
            <a:srgbClr val="1BA97C"/>
          </a:solidFill>
          <a:ln w="12700">
            <a:solidFill>
              <a:srgbClr val="1BA97C"/>
            </a:solidFill>
            <a:prstDash val="solid"/>
          </a:ln>
        </p:spPr>
      </p:sp>
      <p:sp>
        <p:nvSpPr>
          <p:cNvPr id="46" name="Text 40"/>
          <p:cNvSpPr txBox="1"/>
          <p:nvPr/>
        </p:nvSpPr>
        <p:spPr>
          <a:xfrm>
            <a:off x="804672" y="6035040"/>
            <a:ext cx="1097280" cy="256032"/>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Live</a:t>
            </a:r>
            <a:endParaRPr lang="en-US" sz="1000" dirty="0"/>
          </a:p>
        </p:txBody>
      </p:sp>
      <p:sp>
        <p:nvSpPr>
          <p:cNvPr id="47" name="Shape 41"/>
          <p:cNvSpPr/>
          <p:nvPr/>
        </p:nvSpPr>
        <p:spPr>
          <a:xfrm>
            <a:off x="2029968" y="6080760"/>
            <a:ext cx="164592" cy="164592"/>
          </a:xfrm>
          <a:prstGeom prst="rect">
            <a:avLst/>
          </a:prstGeom>
          <a:solidFill>
            <a:srgbClr val="132257"/>
          </a:solidFill>
          <a:ln w="12700">
            <a:solidFill>
              <a:srgbClr val="132257"/>
            </a:solidFill>
            <a:prstDash val="solid"/>
          </a:ln>
        </p:spPr>
      </p:sp>
      <p:sp>
        <p:nvSpPr>
          <p:cNvPr id="48" name="Text 42"/>
          <p:cNvSpPr txBox="1"/>
          <p:nvPr/>
        </p:nvSpPr>
        <p:spPr>
          <a:xfrm>
            <a:off x="2267712" y="6035040"/>
            <a:ext cx="1097280" cy="256032"/>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Planned</a:t>
            </a:r>
            <a:endParaRPr lang="en-US" sz="1000" dirty="0"/>
          </a:p>
        </p:txBody>
      </p:sp>
      <p:sp>
        <p:nvSpPr>
          <p:cNvPr id="49" name="Shape 43"/>
          <p:cNvSpPr/>
          <p:nvPr/>
        </p:nvSpPr>
        <p:spPr>
          <a:xfrm>
            <a:off x="3493008" y="6080760"/>
            <a:ext cx="164592" cy="164592"/>
          </a:xfrm>
          <a:prstGeom prst="rect">
            <a:avLst/>
          </a:prstGeom>
          <a:solidFill>
            <a:srgbClr val="D4AF37"/>
          </a:solidFill>
          <a:ln w="12700">
            <a:solidFill>
              <a:srgbClr val="D4AF37"/>
            </a:solidFill>
            <a:prstDash val="solid"/>
          </a:ln>
        </p:spPr>
      </p:sp>
      <p:sp>
        <p:nvSpPr>
          <p:cNvPr id="50" name="Text 44"/>
          <p:cNvSpPr txBox="1"/>
          <p:nvPr/>
        </p:nvSpPr>
        <p:spPr>
          <a:xfrm>
            <a:off x="3730752" y="6035040"/>
            <a:ext cx="1097280" cy="256032"/>
          </a:xfrm>
          <a:prstGeom prst="rect">
            <a:avLst/>
          </a:prstGeom>
          <a:noFill/>
          <a:ln/>
        </p:spPr>
        <p:txBody>
          <a:bodyPr wrap="square" lIns="0" tIns="0" rIns="0" bIns="0" rtlCol="0" anchor="ctr"/>
          <a:lstStyle/>
          <a:p>
            <a:pPr indent="0" marL="0">
              <a:buNone/>
            </a:pPr>
            <a:r>
              <a:rPr lang="en-US" sz="1000" dirty="0">
                <a:solidFill>
                  <a:srgbClr val="1F2A44"/>
                </a:solidFill>
                <a:latin typeface="Exo 2" pitchFamily="34" charset="0"/>
                <a:ea typeface="Exo 2" pitchFamily="34" charset="-122"/>
                <a:cs typeface="Exo 2" pitchFamily="34" charset="-120"/>
              </a:rPr>
              <a:t>Proposed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7432"/>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201168"/>
          </a:xfrm>
          <a:prstGeom prst="rect">
            <a:avLst/>
          </a:prstGeom>
          <a:noFill/>
          <a:ln/>
        </p:spPr>
        <p:txBody>
          <a:bodyPr wrap="square" lIns="0" tIns="0" rIns="0" bIns="0" rtlCol="0" anchor="t"/>
          <a:lstStyle/>
          <a:p>
            <a:pPr indent="0" marL="0">
              <a:buNone/>
            </a:pPr>
            <a:r>
              <a:rPr lang="en-US" sz="950" b="1" spc="200" kern="0" dirty="0">
                <a:solidFill>
                  <a:srgbClr val="D4AF37"/>
                </a:solidFill>
                <a:latin typeface="Exo 2" pitchFamily="34" charset="0"/>
                <a:ea typeface="Exo 2" pitchFamily="34" charset="-122"/>
                <a:cs typeface="Exo 2" pitchFamily="34" charset="-120"/>
              </a:rPr>
              <a:t>FOR DISCUSSION</a:t>
            </a:r>
            <a:endParaRPr lang="en-US" sz="950" dirty="0"/>
          </a:p>
        </p:txBody>
      </p:sp>
      <p:sp>
        <p:nvSpPr>
          <p:cNvPr id="5" name="Text 2"/>
          <p:cNvSpPr txBox="1"/>
          <p:nvPr/>
        </p:nvSpPr>
        <p:spPr>
          <a:xfrm>
            <a:off x="566928" y="475488"/>
            <a:ext cx="9418320" cy="749808"/>
          </a:xfrm>
          <a:prstGeom prst="rect">
            <a:avLst/>
          </a:prstGeom>
          <a:noFill/>
          <a:ln/>
        </p:spPr>
        <p:txBody>
          <a:bodyPr wrap="square" lIns="0" tIns="0" rIns="0" bIns="0" rtlCol="0" anchor="ctr"/>
          <a:lstStyle/>
          <a:p>
            <a:pPr indent="0" marL="0">
              <a:buNone/>
            </a:pPr>
            <a:r>
              <a:rPr lang="en-US" sz="2200" b="1" dirty="0">
                <a:solidFill>
                  <a:srgbClr val="FFFFFF"/>
                </a:solidFill>
                <a:latin typeface="Exo 2" pitchFamily="34" charset="0"/>
                <a:ea typeface="Exo 2" pitchFamily="34" charset="-122"/>
                <a:cs typeface="Exo 2" pitchFamily="34" charset="-120"/>
              </a:rPr>
              <a:t>Where eMYAA and Vision Bank could work together</a:t>
            </a:r>
            <a:endParaRPr lang="en-US" sz="22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Text 3"/>
          <p:cNvSpPr txBox="1"/>
          <p:nvPr/>
        </p:nvSpPr>
        <p:spPr>
          <a:xfrm>
            <a:off x="566928" y="6492240"/>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Saudi Market Plan</a:t>
            </a:r>
            <a:endParaRPr lang="en-US" sz="800" dirty="0"/>
          </a:p>
        </p:txBody>
      </p:sp>
      <p:sp>
        <p:nvSpPr>
          <p:cNvPr id="8" name="Text 4"/>
          <p:cNvSpPr txBox="1"/>
          <p:nvPr/>
        </p:nvSpPr>
        <p:spPr>
          <a:xfrm>
            <a:off x="9802368" y="6492240"/>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11</a:t>
            </a:r>
            <a:endParaRPr lang="en-US" sz="800" dirty="0"/>
          </a:p>
        </p:txBody>
      </p:sp>
      <p:pic>
        <p:nvPicPr>
          <p:cNvPr id="9" name="Image 2" descr="/home/user/HatemIsa_202508993_IT9002_NLP_Project/emyaa-ceo-deck/working/charts/emyaa_navy.png">    </p:cNvPr>
          <p:cNvPicPr>
            <a:picLocks noChangeAspect="1"/>
          </p:cNvPicPr>
          <p:nvPr/>
        </p:nvPicPr>
        <p:blipFill>
          <a:blip r:embed="rId3"/>
          <a:stretch>
            <a:fillRect/>
          </a:stretch>
        </p:blipFill>
        <p:spPr>
          <a:xfrm>
            <a:off x="10607040" y="6327648"/>
            <a:ext cx="1024128" cy="365760"/>
          </a:xfrm>
          <a:prstGeom prst="rect">
            <a:avLst/>
          </a:prstGeom>
        </p:spPr>
      </p:pic>
      <p:sp>
        <p:nvSpPr>
          <p:cNvPr id="11" name="Shape 5"/>
          <p:cNvSpPr/>
          <p:nvPr/>
        </p:nvSpPr>
        <p:spPr>
          <a:xfrm>
            <a:off x="566928" y="1645920"/>
            <a:ext cx="5440680" cy="1783080"/>
          </a:xfrm>
          <a:prstGeom prst="rect">
            <a:avLst/>
          </a:prstGeom>
          <a:solidFill>
            <a:srgbClr val="FFFFFF"/>
          </a:solidFill>
          <a:ln w="9525">
            <a:solidFill>
              <a:srgbClr val="D9DFEA"/>
            </a:solidFill>
            <a:prstDash val="solid"/>
          </a:ln>
        </p:spPr>
      </p:sp>
      <p:sp>
        <p:nvSpPr>
          <p:cNvPr id="12" name="Shape 6"/>
          <p:cNvSpPr/>
          <p:nvPr/>
        </p:nvSpPr>
        <p:spPr>
          <a:xfrm>
            <a:off x="566928" y="1645920"/>
            <a:ext cx="5440680" cy="41148"/>
          </a:xfrm>
          <a:prstGeom prst="rect">
            <a:avLst/>
          </a:prstGeom>
          <a:solidFill>
            <a:srgbClr val="132257"/>
          </a:solidFill>
          <a:ln w="12700">
            <a:solidFill>
              <a:srgbClr val="132257"/>
            </a:solidFill>
            <a:prstDash val="solid"/>
          </a:ln>
        </p:spPr>
      </p:sp>
      <p:sp>
        <p:nvSpPr>
          <p:cNvPr id="13" name="Text 7"/>
          <p:cNvSpPr txBox="1"/>
          <p:nvPr/>
        </p:nvSpPr>
        <p:spPr>
          <a:xfrm>
            <a:off x="841248" y="1874520"/>
            <a:ext cx="731520" cy="548640"/>
          </a:xfrm>
          <a:prstGeom prst="rect">
            <a:avLst/>
          </a:prstGeom>
          <a:noFill/>
          <a:ln/>
        </p:spPr>
        <p:txBody>
          <a:bodyPr wrap="square" lIns="0" tIns="0" rIns="0" bIns="0" rtlCol="0" anchor="t"/>
          <a:lstStyle/>
          <a:p>
            <a:pPr indent="0" marL="0">
              <a:buNone/>
            </a:pPr>
            <a:r>
              <a:rPr lang="en-US" sz="2600" b="1" dirty="0">
                <a:solidFill>
                  <a:srgbClr val="3C61B6"/>
                </a:solidFill>
                <a:latin typeface="Exo 2" pitchFamily="34" charset="0"/>
                <a:ea typeface="Exo 2" pitchFamily="34" charset="-122"/>
                <a:cs typeface="Exo 2" pitchFamily="34" charset="-120"/>
              </a:rPr>
              <a:t>01</a:t>
            </a:r>
            <a:endParaRPr lang="en-US" sz="2600" dirty="0"/>
          </a:p>
        </p:txBody>
      </p:sp>
      <p:sp>
        <p:nvSpPr>
          <p:cNvPr id="14" name="Text 8"/>
          <p:cNvSpPr txBox="1"/>
          <p:nvPr/>
        </p:nvSpPr>
        <p:spPr>
          <a:xfrm>
            <a:off x="1618488" y="1920240"/>
            <a:ext cx="4114800" cy="411480"/>
          </a:xfrm>
          <a:prstGeom prst="rect">
            <a:avLst/>
          </a:prstGeom>
          <a:noFill/>
          <a:ln/>
        </p:spPr>
        <p:txBody>
          <a:bodyPr wrap="square" lIns="0" tIns="0" rIns="0" bIns="0" rtlCol="0" anchor="t"/>
          <a:lstStyle/>
          <a:p>
            <a:pPr indent="0" marL="0">
              <a:buNone/>
            </a:pPr>
            <a:r>
              <a:rPr lang="en-US" sz="1700" b="1" dirty="0">
                <a:solidFill>
                  <a:srgbClr val="132257"/>
                </a:solidFill>
                <a:latin typeface="Exo 2" pitchFamily="34" charset="0"/>
                <a:ea typeface="Exo 2" pitchFamily="34" charset="-122"/>
                <a:cs typeface="Exo 2" pitchFamily="34" charset="-120"/>
              </a:rPr>
              <a:t>Market insight</a:t>
            </a:r>
            <a:endParaRPr lang="en-US" sz="1700" dirty="0"/>
          </a:p>
        </p:txBody>
      </p:sp>
      <p:sp>
        <p:nvSpPr>
          <p:cNvPr id="15" name="Text 9"/>
          <p:cNvSpPr txBox="1"/>
          <p:nvPr/>
        </p:nvSpPr>
        <p:spPr>
          <a:xfrm>
            <a:off x="1618488" y="2395728"/>
            <a:ext cx="4160520" cy="91440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Your view on what Saudi digital customers expect from an investing app, and what has worked in your own marketing.</a:t>
            </a:r>
            <a:endParaRPr lang="en-US" sz="1200" dirty="0"/>
          </a:p>
        </p:txBody>
      </p:sp>
      <p:sp>
        <p:nvSpPr>
          <p:cNvPr id="16" name="Shape 10"/>
          <p:cNvSpPr/>
          <p:nvPr/>
        </p:nvSpPr>
        <p:spPr>
          <a:xfrm>
            <a:off x="6144768" y="1645920"/>
            <a:ext cx="5440680" cy="1783080"/>
          </a:xfrm>
          <a:prstGeom prst="rect">
            <a:avLst/>
          </a:prstGeom>
          <a:solidFill>
            <a:srgbClr val="FFFFFF"/>
          </a:solidFill>
          <a:ln w="9525">
            <a:solidFill>
              <a:srgbClr val="D9DFEA"/>
            </a:solidFill>
            <a:prstDash val="solid"/>
          </a:ln>
        </p:spPr>
      </p:sp>
      <p:sp>
        <p:nvSpPr>
          <p:cNvPr id="17" name="Shape 11"/>
          <p:cNvSpPr/>
          <p:nvPr/>
        </p:nvSpPr>
        <p:spPr>
          <a:xfrm>
            <a:off x="6144768" y="1645920"/>
            <a:ext cx="5440680" cy="41148"/>
          </a:xfrm>
          <a:prstGeom prst="rect">
            <a:avLst/>
          </a:prstGeom>
          <a:solidFill>
            <a:srgbClr val="D4AF37"/>
          </a:solidFill>
          <a:ln w="12700">
            <a:solidFill>
              <a:srgbClr val="D4AF37"/>
            </a:solidFill>
            <a:prstDash val="solid"/>
          </a:ln>
        </p:spPr>
      </p:sp>
      <p:sp>
        <p:nvSpPr>
          <p:cNvPr id="18" name="Text 12"/>
          <p:cNvSpPr txBox="1"/>
          <p:nvPr/>
        </p:nvSpPr>
        <p:spPr>
          <a:xfrm>
            <a:off x="6419088" y="1874520"/>
            <a:ext cx="731520" cy="548640"/>
          </a:xfrm>
          <a:prstGeom prst="rect">
            <a:avLst/>
          </a:prstGeom>
          <a:noFill/>
          <a:ln/>
        </p:spPr>
        <p:txBody>
          <a:bodyPr wrap="square" lIns="0" tIns="0" rIns="0" bIns="0" rtlCol="0" anchor="t"/>
          <a:lstStyle/>
          <a:p>
            <a:pPr indent="0" marL="0">
              <a:buNone/>
            </a:pPr>
            <a:r>
              <a:rPr lang="en-US" sz="2600" b="1" dirty="0">
                <a:solidFill>
                  <a:srgbClr val="9A7B1F"/>
                </a:solidFill>
                <a:latin typeface="Exo 2" pitchFamily="34" charset="0"/>
                <a:ea typeface="Exo 2" pitchFamily="34" charset="-122"/>
                <a:cs typeface="Exo 2" pitchFamily="34" charset="-120"/>
              </a:rPr>
              <a:t>02</a:t>
            </a:r>
            <a:endParaRPr lang="en-US" sz="2600" dirty="0"/>
          </a:p>
        </p:txBody>
      </p:sp>
      <p:sp>
        <p:nvSpPr>
          <p:cNvPr id="19" name="Text 13"/>
          <p:cNvSpPr txBox="1"/>
          <p:nvPr/>
        </p:nvSpPr>
        <p:spPr>
          <a:xfrm>
            <a:off x="7196328" y="1920240"/>
            <a:ext cx="4114800" cy="411480"/>
          </a:xfrm>
          <a:prstGeom prst="rect">
            <a:avLst/>
          </a:prstGeom>
          <a:noFill/>
          <a:ln/>
        </p:spPr>
        <p:txBody>
          <a:bodyPr wrap="square" lIns="0" tIns="0" rIns="0" bIns="0" rtlCol="0" anchor="t"/>
          <a:lstStyle/>
          <a:p>
            <a:pPr indent="0" marL="0">
              <a:buNone/>
            </a:pPr>
            <a:r>
              <a:rPr lang="en-US" sz="1700" b="1" dirty="0">
                <a:solidFill>
                  <a:srgbClr val="132257"/>
                </a:solidFill>
                <a:latin typeface="Exo 2" pitchFamily="34" charset="0"/>
                <a:ea typeface="Exo 2" pitchFamily="34" charset="-122"/>
                <a:cs typeface="Exo 2" pitchFamily="34" charset="-120"/>
              </a:rPr>
              <a:t>Easy funding</a:t>
            </a:r>
            <a:endParaRPr lang="en-US" sz="1700" dirty="0"/>
          </a:p>
        </p:txBody>
      </p:sp>
      <p:sp>
        <p:nvSpPr>
          <p:cNvPr id="20" name="Text 14"/>
          <p:cNvSpPr txBox="1"/>
          <p:nvPr/>
        </p:nvSpPr>
        <p:spPr>
          <a:xfrm>
            <a:off x="7196328" y="2395728"/>
            <a:ext cx="4160520" cy="91440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Simple ways for Saudi customers to move money between their bank account and their eMYAA account.</a:t>
            </a:r>
            <a:endParaRPr lang="en-US" sz="1200" dirty="0"/>
          </a:p>
        </p:txBody>
      </p:sp>
      <p:sp>
        <p:nvSpPr>
          <p:cNvPr id="21" name="Shape 15"/>
          <p:cNvSpPr/>
          <p:nvPr/>
        </p:nvSpPr>
        <p:spPr>
          <a:xfrm>
            <a:off x="566928" y="3611880"/>
            <a:ext cx="5440680" cy="1783080"/>
          </a:xfrm>
          <a:prstGeom prst="rect">
            <a:avLst/>
          </a:prstGeom>
          <a:solidFill>
            <a:srgbClr val="FFFFFF"/>
          </a:solidFill>
          <a:ln w="9525">
            <a:solidFill>
              <a:srgbClr val="D9DFEA"/>
            </a:solidFill>
            <a:prstDash val="solid"/>
          </a:ln>
        </p:spPr>
      </p:sp>
      <p:sp>
        <p:nvSpPr>
          <p:cNvPr id="22" name="Shape 16"/>
          <p:cNvSpPr/>
          <p:nvPr/>
        </p:nvSpPr>
        <p:spPr>
          <a:xfrm>
            <a:off x="566928" y="3611880"/>
            <a:ext cx="5440680" cy="41148"/>
          </a:xfrm>
          <a:prstGeom prst="rect">
            <a:avLst/>
          </a:prstGeom>
          <a:solidFill>
            <a:srgbClr val="132257"/>
          </a:solidFill>
          <a:ln w="12700">
            <a:solidFill>
              <a:srgbClr val="132257"/>
            </a:solidFill>
            <a:prstDash val="solid"/>
          </a:ln>
        </p:spPr>
      </p:sp>
      <p:sp>
        <p:nvSpPr>
          <p:cNvPr id="23" name="Text 17"/>
          <p:cNvSpPr txBox="1"/>
          <p:nvPr/>
        </p:nvSpPr>
        <p:spPr>
          <a:xfrm>
            <a:off x="841248" y="3840480"/>
            <a:ext cx="731520" cy="548640"/>
          </a:xfrm>
          <a:prstGeom prst="rect">
            <a:avLst/>
          </a:prstGeom>
          <a:noFill/>
          <a:ln/>
        </p:spPr>
        <p:txBody>
          <a:bodyPr wrap="square" lIns="0" tIns="0" rIns="0" bIns="0" rtlCol="0" anchor="t"/>
          <a:lstStyle/>
          <a:p>
            <a:pPr indent="0" marL="0">
              <a:buNone/>
            </a:pPr>
            <a:r>
              <a:rPr lang="en-US" sz="2600" b="1" dirty="0">
                <a:solidFill>
                  <a:srgbClr val="3C61B6"/>
                </a:solidFill>
                <a:latin typeface="Exo 2" pitchFamily="34" charset="0"/>
                <a:ea typeface="Exo 2" pitchFamily="34" charset="-122"/>
                <a:cs typeface="Exo 2" pitchFamily="34" charset="-120"/>
              </a:rPr>
              <a:t>03</a:t>
            </a:r>
            <a:endParaRPr lang="en-US" sz="2600" dirty="0"/>
          </a:p>
        </p:txBody>
      </p:sp>
      <p:sp>
        <p:nvSpPr>
          <p:cNvPr id="24" name="Text 18"/>
          <p:cNvSpPr txBox="1"/>
          <p:nvPr/>
        </p:nvSpPr>
        <p:spPr>
          <a:xfrm>
            <a:off x="1618488" y="3886200"/>
            <a:ext cx="4114800" cy="411480"/>
          </a:xfrm>
          <a:prstGeom prst="rect">
            <a:avLst/>
          </a:prstGeom>
          <a:noFill/>
          <a:ln/>
        </p:spPr>
        <p:txBody>
          <a:bodyPr wrap="square" lIns="0" tIns="0" rIns="0" bIns="0" rtlCol="0" anchor="t"/>
          <a:lstStyle/>
          <a:p>
            <a:pPr indent="0" marL="0">
              <a:buNone/>
            </a:pPr>
            <a:r>
              <a:rPr lang="en-US" sz="1700" b="1" dirty="0">
                <a:solidFill>
                  <a:srgbClr val="132257"/>
                </a:solidFill>
                <a:latin typeface="Exo 2" pitchFamily="34" charset="0"/>
                <a:ea typeface="Exo 2" pitchFamily="34" charset="-122"/>
                <a:cs typeface="Exo 2" pitchFamily="34" charset="-120"/>
              </a:rPr>
              <a:t>Joint campaigns</a:t>
            </a:r>
            <a:endParaRPr lang="en-US" sz="1700" dirty="0"/>
          </a:p>
        </p:txBody>
      </p:sp>
      <p:sp>
        <p:nvSpPr>
          <p:cNvPr id="25" name="Text 19"/>
          <p:cNvSpPr txBox="1"/>
          <p:nvPr/>
        </p:nvSpPr>
        <p:spPr>
          <a:xfrm>
            <a:off x="1618488" y="4361688"/>
            <a:ext cx="4160520" cy="91440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Co-branded content and offers that help customers start saving and investing the Shari'ah-compliant way.</a:t>
            </a:r>
            <a:endParaRPr lang="en-US" sz="1200" dirty="0"/>
          </a:p>
        </p:txBody>
      </p:sp>
      <p:sp>
        <p:nvSpPr>
          <p:cNvPr id="26" name="Shape 20"/>
          <p:cNvSpPr/>
          <p:nvPr/>
        </p:nvSpPr>
        <p:spPr>
          <a:xfrm>
            <a:off x="6144768" y="3611880"/>
            <a:ext cx="5440680" cy="1783080"/>
          </a:xfrm>
          <a:prstGeom prst="rect">
            <a:avLst/>
          </a:prstGeom>
          <a:solidFill>
            <a:srgbClr val="FFFFFF"/>
          </a:solidFill>
          <a:ln w="9525">
            <a:solidFill>
              <a:srgbClr val="D9DFEA"/>
            </a:solidFill>
            <a:prstDash val="solid"/>
          </a:ln>
        </p:spPr>
      </p:sp>
      <p:sp>
        <p:nvSpPr>
          <p:cNvPr id="27" name="Shape 21"/>
          <p:cNvSpPr/>
          <p:nvPr/>
        </p:nvSpPr>
        <p:spPr>
          <a:xfrm>
            <a:off x="6144768" y="3611880"/>
            <a:ext cx="5440680" cy="41148"/>
          </a:xfrm>
          <a:prstGeom prst="rect">
            <a:avLst/>
          </a:prstGeom>
          <a:solidFill>
            <a:srgbClr val="D4AF37"/>
          </a:solidFill>
          <a:ln w="12700">
            <a:solidFill>
              <a:srgbClr val="D4AF37"/>
            </a:solidFill>
            <a:prstDash val="solid"/>
          </a:ln>
        </p:spPr>
      </p:sp>
      <p:sp>
        <p:nvSpPr>
          <p:cNvPr id="28" name="Text 22"/>
          <p:cNvSpPr txBox="1"/>
          <p:nvPr/>
        </p:nvSpPr>
        <p:spPr>
          <a:xfrm>
            <a:off x="6419088" y="3840480"/>
            <a:ext cx="731520" cy="548640"/>
          </a:xfrm>
          <a:prstGeom prst="rect">
            <a:avLst/>
          </a:prstGeom>
          <a:noFill/>
          <a:ln/>
        </p:spPr>
        <p:txBody>
          <a:bodyPr wrap="square" lIns="0" tIns="0" rIns="0" bIns="0" rtlCol="0" anchor="t"/>
          <a:lstStyle/>
          <a:p>
            <a:pPr indent="0" marL="0">
              <a:buNone/>
            </a:pPr>
            <a:r>
              <a:rPr lang="en-US" sz="2600" b="1" dirty="0">
                <a:solidFill>
                  <a:srgbClr val="9A7B1F"/>
                </a:solidFill>
                <a:latin typeface="Exo 2" pitchFamily="34" charset="0"/>
                <a:ea typeface="Exo 2" pitchFamily="34" charset="-122"/>
                <a:cs typeface="Exo 2" pitchFamily="34" charset="-120"/>
              </a:rPr>
              <a:t>04</a:t>
            </a:r>
            <a:endParaRPr lang="en-US" sz="2600" dirty="0"/>
          </a:p>
        </p:txBody>
      </p:sp>
      <p:sp>
        <p:nvSpPr>
          <p:cNvPr id="29" name="Text 23"/>
          <p:cNvSpPr txBox="1"/>
          <p:nvPr/>
        </p:nvSpPr>
        <p:spPr>
          <a:xfrm>
            <a:off x="7196328" y="3886200"/>
            <a:ext cx="4114800" cy="411480"/>
          </a:xfrm>
          <a:prstGeom prst="rect">
            <a:avLst/>
          </a:prstGeom>
          <a:noFill/>
          <a:ln/>
        </p:spPr>
        <p:txBody>
          <a:bodyPr wrap="square" lIns="0" tIns="0" rIns="0" bIns="0" rtlCol="0" anchor="t"/>
          <a:lstStyle/>
          <a:p>
            <a:pPr indent="0" marL="0">
              <a:buNone/>
            </a:pPr>
            <a:r>
              <a:rPr lang="en-US" sz="1700" b="1" dirty="0">
                <a:solidFill>
                  <a:srgbClr val="132257"/>
                </a:solidFill>
                <a:latin typeface="Exo 2" pitchFamily="34" charset="0"/>
                <a:ea typeface="Exo 2" pitchFamily="34" charset="-122"/>
                <a:cs typeface="Exo 2" pitchFamily="34" charset="-120"/>
              </a:rPr>
              <a:t>Events and education</a:t>
            </a:r>
            <a:endParaRPr lang="en-US" sz="1700" dirty="0"/>
          </a:p>
        </p:txBody>
      </p:sp>
      <p:sp>
        <p:nvSpPr>
          <p:cNvPr id="30" name="Text 24"/>
          <p:cNvSpPr txBox="1"/>
          <p:nvPr/>
        </p:nvSpPr>
        <p:spPr>
          <a:xfrm>
            <a:off x="7196328" y="4361688"/>
            <a:ext cx="4160520" cy="914400"/>
          </a:xfrm>
          <a:prstGeom prst="rect">
            <a:avLst/>
          </a:prstGeom>
          <a:noFill/>
          <a:ln/>
        </p:spPr>
        <p:txBody>
          <a:bodyPr wrap="square" lIns="0" tIns="0" rIns="0" bIns="0" rtlCol="0" anchor="t"/>
          <a:lstStyle/>
          <a:p>
            <a:pPr indent="0" marL="0">
              <a:buNone/>
            </a:pPr>
            <a:r>
              <a:rPr lang="en-US" sz="1200" dirty="0">
                <a:solidFill>
                  <a:srgbClr val="1F2A44"/>
                </a:solidFill>
                <a:latin typeface="Exo 2" pitchFamily="34" charset="0"/>
                <a:ea typeface="Exo 2" pitchFamily="34" charset="-122"/>
                <a:cs typeface="Exo 2" pitchFamily="34" charset="-120"/>
              </a:rPr>
              <a:t>Joint sessions on investing basics for young professionals, in Arabic and English.</a:t>
            </a:r>
            <a:endParaRPr lang="en-US" sz="1200" dirty="0"/>
          </a:p>
        </p:txBody>
      </p:sp>
      <p:sp>
        <p:nvSpPr>
          <p:cNvPr id="31" name="Shape 25"/>
          <p:cNvSpPr/>
          <p:nvPr/>
        </p:nvSpPr>
        <p:spPr>
          <a:xfrm>
            <a:off x="566928" y="5623560"/>
            <a:ext cx="11064240" cy="502920"/>
          </a:xfrm>
          <a:prstGeom prst="rect">
            <a:avLst/>
          </a:prstGeom>
          <a:solidFill>
            <a:srgbClr val="EEF1F8"/>
          </a:solidFill>
          <a:ln w="12700">
            <a:solidFill>
              <a:srgbClr val="EEF1F8"/>
            </a:solidFill>
            <a:prstDash val="solid"/>
          </a:ln>
        </p:spPr>
      </p:sp>
      <p:sp>
        <p:nvSpPr>
          <p:cNvPr id="32" name="Shape 26"/>
          <p:cNvSpPr/>
          <p:nvPr/>
        </p:nvSpPr>
        <p:spPr>
          <a:xfrm>
            <a:off x="566928" y="5623560"/>
            <a:ext cx="54864" cy="502920"/>
          </a:xfrm>
          <a:prstGeom prst="rect">
            <a:avLst/>
          </a:prstGeom>
          <a:solidFill>
            <a:srgbClr val="D4AF37"/>
          </a:solidFill>
          <a:ln w="12700">
            <a:solidFill>
              <a:srgbClr val="D4AF37"/>
            </a:solidFill>
            <a:prstDash val="solid"/>
          </a:ln>
        </p:spPr>
      </p:sp>
      <p:sp>
        <p:nvSpPr>
          <p:cNvPr id="33" name="Text 27"/>
          <p:cNvSpPr txBox="1"/>
          <p:nvPr/>
        </p:nvSpPr>
        <p:spPr>
          <a:xfrm>
            <a:off x="822960" y="5623560"/>
            <a:ext cx="10698480" cy="502920"/>
          </a:xfrm>
          <a:prstGeom prst="rect">
            <a:avLst/>
          </a:prstGeom>
          <a:noFill/>
          <a:ln/>
        </p:spPr>
        <p:txBody>
          <a:bodyPr wrap="square" lIns="0" tIns="0" rIns="0" bIns="0" rtlCol="0" anchor="ctr"/>
          <a:lstStyle/>
          <a:p>
            <a:pPr indent="0" marL="0">
              <a:buNone/>
            </a:pPr>
            <a:r>
              <a:rPr lang="en-US" sz="1200" i="1" dirty="0">
                <a:solidFill>
                  <a:srgbClr val="132257"/>
                </a:solidFill>
                <a:latin typeface="Exo 2" pitchFamily="34" charset="0"/>
                <a:ea typeface="Exo 2" pitchFamily="34" charset="-122"/>
                <a:cs typeface="Exo 2" pitchFamily="34" charset="-120"/>
              </a:rPr>
              <a:t>We would value your advice as we enter the Saudi market, and we are open to ideas on your side.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14600"/>
            <a:ext cx="10881360" cy="868680"/>
          </a:xfrm>
          <a:prstGeom prst="rect">
            <a:avLst/>
          </a:prstGeom>
          <a:noFill/>
          <a:ln/>
        </p:spPr>
        <p:txBody>
          <a:bodyPr wrap="square" lIns="0" tIns="0" rIns="0" bIns="0" rtlCol="0" anchor="t"/>
          <a:lstStyle/>
          <a:p>
            <a:pPr algn="ctr" indent="0" marL="0">
              <a:buNone/>
            </a:pPr>
            <a:r>
              <a:rPr lang="en-US" sz="4200" b="1" dirty="0">
                <a:solidFill>
                  <a:srgbClr val="FFFFFF"/>
                </a:solidFill>
                <a:latin typeface="Exo 2" pitchFamily="34" charset="0"/>
                <a:ea typeface="Exo 2" pitchFamily="34" charset="-122"/>
                <a:cs typeface="Exo 2" pitchFamily="34" charset="-120"/>
              </a:rPr>
              <a:t>Thank You</a:t>
            </a:r>
            <a:endParaRPr lang="en-US" sz="4200" dirty="0"/>
          </a:p>
        </p:txBody>
      </p:sp>
      <p:sp>
        <p:nvSpPr>
          <p:cNvPr id="5" name="Text 1"/>
          <p:cNvSpPr txBox="1"/>
          <p:nvPr/>
        </p:nvSpPr>
        <p:spPr>
          <a:xfrm>
            <a:off x="685800" y="3383280"/>
            <a:ext cx="10881360" cy="411480"/>
          </a:xfrm>
          <a:prstGeom prst="rect">
            <a:avLst/>
          </a:prstGeom>
          <a:noFill/>
          <a:ln/>
        </p:spPr>
        <p:txBody>
          <a:bodyPr wrap="square" lIns="0" tIns="0" rIns="0" bIns="0" rtlCol="0" anchor="t"/>
          <a:lstStyle/>
          <a:p>
            <a:pPr algn="ctr" indent="0" marL="0">
              <a:buNone/>
            </a:pPr>
            <a:r>
              <a:rPr lang="en-US" sz="1800" dirty="0">
                <a:solidFill>
                  <a:srgbClr val="D4AF37"/>
                </a:solidFill>
                <a:latin typeface="Exo 2" pitchFamily="34" charset="0"/>
                <a:ea typeface="Exo 2" pitchFamily="34" charset="-122"/>
                <a:cs typeface="Exo 2" pitchFamily="34" charset="-120"/>
              </a:rPr>
              <a:t>Invest Wisely. Trade Precisely.</a:t>
            </a:r>
            <a:endParaRPr lang="en-US" sz="1800" dirty="0"/>
          </a:p>
        </p:txBody>
      </p:sp>
      <p:sp>
        <p:nvSpPr>
          <p:cNvPr id="6" name="Text 2"/>
          <p:cNvSpPr txBox="1"/>
          <p:nvPr/>
        </p:nvSpPr>
        <p:spPr>
          <a:xfrm>
            <a:off x="685800" y="4343400"/>
            <a:ext cx="10881360" cy="914400"/>
          </a:xfrm>
          <a:prstGeom prst="rect">
            <a:avLst/>
          </a:prstGeom>
          <a:noFill/>
          <a:ln/>
        </p:spPr>
        <p:txBody>
          <a:bodyPr wrap="square" lIns="0" tIns="0" rIns="0" bIns="0" rtlCol="0" anchor="t"/>
          <a:lstStyle/>
          <a:p>
            <a:pPr algn="ctr" indent="0" marL="0">
              <a:buNone/>
            </a:pPr>
            <a:r>
              <a:rPr lang="en-US" sz="1200" dirty="0">
                <a:solidFill>
                  <a:srgbClr val="FFFFFF"/>
                </a:solidFill>
                <a:latin typeface="Exo 2" pitchFamily="34" charset="0"/>
                <a:ea typeface="Exo 2" pitchFamily="34" charset="-122"/>
                <a:cs typeface="Exo 2" pitchFamily="34" charset="-120"/>
              </a:rPr>
              <a:t>Hatem Isa Hatem  |  Marketing Officer, WealthTech</a:t>
            </a:r>
            <a:endParaRPr lang="en-US" sz="1200" dirty="0"/>
          </a:p>
          <a:p>
            <a:pPr algn="ctr" indent="0" marL="0">
              <a:buNone/>
            </a:pPr>
            <a:r>
              <a:rPr lang="en-US" sz="1200" dirty="0">
                <a:solidFill>
                  <a:srgbClr val="FFFFFF"/>
                </a:solidFill>
                <a:latin typeface="Exo 2" pitchFamily="34" charset="0"/>
                <a:ea typeface="Exo 2" pitchFamily="34" charset="-122"/>
                <a:cs typeface="Exo 2" pitchFamily="34" charset="-120"/>
              </a:rPr>
              <a:t>hhatem@ajyadcapital.com  |  +973 17 565 007</a:t>
            </a:r>
            <a:endParaRPr lang="en-US" sz="1200" dirty="0"/>
          </a:p>
          <a:p>
            <a:pPr algn="ctr" indent="0" marL="0">
              <a:buNone/>
            </a:pPr>
            <a:r>
              <a:rPr lang="en-US" sz="1200" dirty="0">
                <a:solidFill>
                  <a:srgbClr val="FFFFFF"/>
                </a:solidFill>
                <a:latin typeface="Exo 2" pitchFamily="34" charset="0"/>
                <a:ea typeface="Exo 2" pitchFamily="34" charset="-122"/>
                <a:cs typeface="Exo 2" pitchFamily="34" charset="-120"/>
              </a:rPr>
              <a:t>Ajyad Capital, 37th Floor, Almoayyed Tower, Manama, Kingdom of Bahrain</a:t>
            </a:r>
            <a:endParaRPr lang="en-US" sz="1200" dirty="0"/>
          </a:p>
        </p:txBody>
      </p:sp>
      <p:sp>
        <p:nvSpPr>
          <p:cNvPr id="7" name="Text 3"/>
          <p:cNvSpPr txBox="1"/>
          <p:nvPr/>
        </p:nvSpPr>
        <p:spPr>
          <a:xfrm>
            <a:off x="685800" y="6172200"/>
            <a:ext cx="10881360" cy="274320"/>
          </a:xfrm>
          <a:prstGeom prst="rect">
            <a:avLst/>
          </a:prstGeom>
          <a:noFill/>
          <a:ln/>
        </p:spPr>
        <p:txBody>
          <a:bodyPr wrap="square" lIns="0" tIns="0" rIns="0" bIns="0" rtlCol="0" anchor="t"/>
          <a:lstStyle/>
          <a:p>
            <a:pPr algn="ctr" indent="0" marL="0">
              <a:buNone/>
            </a:pPr>
            <a:r>
              <a:rPr lang="en-US" sz="950" dirty="0">
                <a:solidFill>
                  <a:srgbClr val="C6CFE4"/>
                </a:solidFill>
                <a:latin typeface="Exo 2" pitchFamily="34" charset="0"/>
                <a:ea typeface="Exo 2" pitchFamily="34" charset="-122"/>
                <a:cs typeface="Exo 2" pitchFamily="34" charset="-120"/>
              </a:rPr>
              <a:t>Ajyad Capital is an Islamic investment firm (Category 1) licensed by the Central Bank of Bahrain.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eMYAA in Saudi Arabia - Market Entry Plan</dc:title>
  <dc:subject>PptxGenJS Presentation</dc:subject>
  <dc:creator>eMYAA Marketing, Ajyad Capital</dc:creator>
  <cp:lastModifiedBy>eMYAA Marketing, Ajyad Capital</cp:lastModifiedBy>
  <cp:revision>1</cp:revision>
  <dcterms:created xsi:type="dcterms:W3CDTF">2026-10-04T08:51:56Z</dcterms:created>
  <dcterms:modified xsi:type="dcterms:W3CDTF">2026-10-04T08:51:56Z</dcterms:modified>
</cp:coreProperties>
</file>