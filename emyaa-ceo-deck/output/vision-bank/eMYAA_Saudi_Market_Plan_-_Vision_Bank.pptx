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embeddedFontLst>
    <p:embeddedFont>
      <p:font typeface="Exo 2" charset="0"/>
      <p:regular r:id="rId15"/>
      <p:bold r:id="rId16"/>
      <p:italic r:id="rId17"/>
      <p:boldItalic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emyaa-font1.fntdata"/><Relationship Id="rId16" Type="http://schemas.openxmlformats.org/officeDocument/2006/relationships/font" Target="fonts/emyaa-font2.fntdata"/><Relationship Id="rId17" Type="http://schemas.openxmlformats.org/officeDocument/2006/relationships/font" Target="fonts/emyaa-font3.fntdata"/><Relationship Id="rId18" Type="http://schemas.openxmlformats.org/officeDocument/2006/relationships/font" Target="fonts/emyaa-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Ajyad Capital is licensed by the Central Bank of Bahrain as an Islamic investment firm, Category 1. eMYAA went live in May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Ads and LinkedIn: $30,000 approved for Sep to Dec 2026 from the reserved budget (Board update, 17 Sep 2026): Google Search Saudi $9,000, LinkedIn Affluent Saudi $9,000, Google and LinkedIn for Qatar, UAE, Kuwait, Bahrain and Oman $6,000 each. Jodel: Nadher Media proposal, 16 Sep 2026, USD 3,862.50 + VAT. Outdoor: Nadher Media proposal, 23 Sep 2026, 8 weeks, USD 44,800 + VAT (quoted in SAR, converted at 3.75). Jodel and outdoor are proposals and not yet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Ads targets Saudi Arabia and Riyadh, Saudi residents only (Ignite). GA4, 1-28 Sep: 409 of 587 site sessions (70%) from google / cpc; English ads 212 sessions (97.2% engagement), Arabic 176 (86.9%).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Nadher Media proposals 16 and 23 Sep 2026, Saudi screens only (the Al Liwan Bahrain weekend screens in the 16 Sep offer are left out). Elevator screens in 83 commercial towers (Al Nakhlah, Tamkeen, Faseelah Square, Laysen Valley and others in Riyadh and the Eastern Province) and 8 LED screens at The Zone, Riyadh. Plays per Nadher: 2,490 an hour (ad plays, not unique viewers). 2-week rate has no original price in the offer. USD at 3.75.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Nadher Media proposal for eMYAA, 16 Sep 2026: USD 3,862.50 + VAT, 7 days, all KSA: 525,000 display and video impressions plus a 24-hour takeover poll of 2,000,000 impressions, one round of ad consulting, unlimited creatives. Cost per 1,000 impressions: about USD 1.53. Jodel KSA: 2.5M active users, 800,000 monthly unique users, average CTR 0.44%. BISB case study (Nadher Media, Oct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topics only; nothing here is agreed.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user/HatemIsa_202508993_IT9002_NLP_Project/emyaa-ceo-deck/working/charts/emyaa_white.png">    </p:cNvPr>
          <p:cNvPicPr>
            <a:picLocks noChangeAspect="1"/>
          </p:cNvPicPr>
          <p:nvPr/>
        </p:nvPicPr>
        <p:blipFill>
          <a:blip r:embed="rId2"/>
          <a:stretch>
            <a:fillRect/>
          </a:stretch>
        </p:blipFill>
        <p:spPr>
          <a:xfrm>
            <a:off x="685800" y="685800"/>
            <a:ext cx="1600200" cy="566928"/>
          </a:xfrm>
          <a:prstGeom prst="rect">
            <a:avLst/>
          </a:prstGeom>
        </p:spPr>
      </p:pic>
      <p:pic>
        <p:nvPicPr>
          <p:cNvPr id="3" name="Image 1" descr="/home/user/HatemIsa_202508993_IT9002_NLP_Project/emyaa-ceo-deck/working/charts/ajyad_white.png">    </p:cNvPr>
          <p:cNvPicPr>
            <a:picLocks noChangeAspect="1"/>
          </p:cNvPicPr>
          <p:nvPr/>
        </p:nvPicPr>
        <p:blipFill>
          <a:blip r:embed="rId3"/>
          <a:stretch>
            <a:fillRect/>
          </a:stretch>
        </p:blipFill>
        <p:spPr>
          <a:xfrm>
            <a:off x="9756648" y="685800"/>
            <a:ext cx="1755648" cy="512064"/>
          </a:xfrm>
          <a:prstGeom prst="rect">
            <a:avLst/>
          </a:prstGeom>
        </p:spPr>
      </p:pic>
      <p:sp>
        <p:nvSpPr>
          <p:cNvPr id="4" name="Text 0"/>
          <p:cNvSpPr txBox="1"/>
          <p:nvPr/>
        </p:nvSpPr>
        <p:spPr>
          <a:xfrm>
            <a:off x="685800" y="2514600"/>
            <a:ext cx="10881360" cy="868680"/>
          </a:xfrm>
          <a:prstGeom prst="rect">
            <a:avLst/>
          </a:prstGeom>
          <a:noFill/>
          <a:ln/>
        </p:spPr>
        <p:txBody>
          <a:bodyPr wrap="square" lIns="0" tIns="0" rIns="0" bIns="0" rtlCol="0" anchor="t"/>
          <a:lstStyle/>
          <a:p>
            <a:pPr indent="0" marL="0">
              <a:buNone/>
            </a:pPr>
            <a:r>
              <a:rPr lang="en-US" sz="4200" b="1" dirty="0">
                <a:solidFill>
                  <a:srgbClr val="FFFFFF"/>
                </a:solidFill>
                <a:latin typeface="Exo 2" pitchFamily="34" charset="0"/>
                <a:ea typeface="Exo 2" pitchFamily="34" charset="-122"/>
                <a:cs typeface="Exo 2" pitchFamily="34" charset="-120"/>
              </a:rPr>
              <a:t>eMYAA in Saudi Arabia</a:t>
            </a:r>
            <a:endParaRPr lang="en-US" sz="4200" dirty="0"/>
          </a:p>
        </p:txBody>
      </p:sp>
      <p:sp>
        <p:nvSpPr>
          <p:cNvPr id="5" name="Text 1"/>
          <p:cNvSpPr txBox="1"/>
          <p:nvPr/>
        </p:nvSpPr>
        <p:spPr>
          <a:xfrm>
            <a:off x="685800" y="3429000"/>
            <a:ext cx="10058400" cy="411480"/>
          </a:xfrm>
          <a:prstGeom prst="rect">
            <a:avLst/>
          </a:prstGeom>
          <a:noFill/>
          <a:ln/>
        </p:spPr>
        <p:txBody>
          <a:bodyPr wrap="square" lIns="0" tIns="0" rIns="0" bIns="0" rtlCol="0" anchor="t"/>
          <a:lstStyle/>
          <a:p>
            <a:pPr indent="0" marL="0">
              <a:buNone/>
            </a:pPr>
            <a:r>
              <a:rPr lang="en-US" sz="2000" b="1" spc="100" kern="0" dirty="0">
                <a:solidFill>
                  <a:srgbClr val="D4AF37"/>
                </a:solidFill>
                <a:latin typeface="Exo 2" pitchFamily="34" charset="0"/>
                <a:ea typeface="Exo 2" pitchFamily="34" charset="-122"/>
                <a:cs typeface="Exo 2" pitchFamily="34" charset="-120"/>
              </a:rPr>
              <a:t>MARKET ENTRY PLAN</a:t>
            </a:r>
            <a:endParaRPr lang="en-US" sz="2000" dirty="0"/>
          </a:p>
        </p:txBody>
      </p:sp>
      <p:sp>
        <p:nvSpPr>
          <p:cNvPr id="6" name="Text 2"/>
          <p:cNvSpPr txBox="1"/>
          <p:nvPr/>
        </p:nvSpPr>
        <p:spPr>
          <a:xfrm>
            <a:off x="685800" y="3931920"/>
            <a:ext cx="10058400" cy="365760"/>
          </a:xfrm>
          <a:prstGeom prst="rect">
            <a:avLst/>
          </a:prstGeom>
          <a:noFill/>
          <a:ln/>
        </p:spPr>
        <p:txBody>
          <a:bodyPr wrap="square" lIns="0" tIns="0" rIns="0" bIns="0" rtlCol="0" anchor="t"/>
          <a:lstStyle/>
          <a:p>
            <a:pPr indent="0" marL="0">
              <a:buNone/>
            </a:pPr>
            <a:r>
              <a:rPr lang="en-US" sz="1600" dirty="0">
                <a:solidFill>
                  <a:srgbClr val="FFFFFF"/>
                </a:solidFill>
                <a:latin typeface="Exo 2" pitchFamily="34" charset="0"/>
                <a:ea typeface="Exo 2" pitchFamily="34" charset="-122"/>
                <a:cs typeface="Exo 2" pitchFamily="34" charset="-120"/>
              </a:rPr>
              <a:t>Channels, timing and cost  |  Vision Bank  |  October 2026</a:t>
            </a:r>
            <a:endParaRPr lang="en-US" sz="1600" dirty="0"/>
          </a:p>
        </p:txBody>
      </p:sp>
      <p:sp>
        <p:nvSpPr>
          <p:cNvPr id="7" name="Text 3"/>
          <p:cNvSpPr txBox="1"/>
          <p:nvPr/>
        </p:nvSpPr>
        <p:spPr>
          <a:xfrm>
            <a:off x="685800" y="6172200"/>
            <a:ext cx="10058400" cy="274320"/>
          </a:xfrm>
          <a:prstGeom prst="rect">
            <a:avLst/>
          </a:prstGeom>
          <a:noFill/>
          <a:ln/>
        </p:spPr>
        <p:txBody>
          <a:bodyPr wrap="square" lIns="0" tIns="0" rIns="0" bIns="0" rtlCol="0" anchor="t"/>
          <a:lstStyle/>
          <a:p>
            <a:pPr indent="0" marL="0">
              <a:buNone/>
            </a:pPr>
            <a:r>
              <a:rPr lang="en-US" sz="1000" dirty="0">
                <a:solidFill>
                  <a:srgbClr val="C6CFE4"/>
                </a:solidFill>
                <a:latin typeface="Exo 2" pitchFamily="34" charset="0"/>
                <a:ea typeface="Exo 2" pitchFamily="34" charset="-122"/>
                <a:cs typeface="Exo 2" pitchFamily="34" charset="-120"/>
              </a:rPr>
              <a:t>Confidential. Prepared by eMYAA Marketing, Ajyad Capital.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user/HatemIsa_202508993_IT9002_NLP_Project/emyaa-ceo-deck/working/charts/board_header.png">    </p:cNvPr>
          <p:cNvPicPr>
            <a:picLocks noChangeAspect="1"/>
          </p:cNvPicPr>
          <p:nvPr/>
        </p:nvPicPr>
        <p:blipFill>
          <a:blip r:embed="rId1"/>
          <a:stretch>
            <a:fillRect/>
          </a:stretch>
        </p:blipFill>
        <p:spPr>
          <a:xfrm>
            <a:off x="0" y="0"/>
            <a:ext cx="12191695" cy="1298448"/>
          </a:xfrm>
          <a:prstGeom prst="rect">
            <a:avLst/>
          </a:prstGeom>
        </p:spPr>
      </p:pic>
      <p:sp>
        <p:nvSpPr>
          <p:cNvPr id="3" name="Shape 0"/>
          <p:cNvSpPr/>
          <p:nvPr/>
        </p:nvSpPr>
        <p:spPr>
          <a:xfrm>
            <a:off x="0" y="1298448"/>
            <a:ext cx="12191695" cy="27432"/>
          </a:xfrm>
          <a:prstGeom prst="rect">
            <a:avLst/>
          </a:prstGeom>
          <a:solidFill>
            <a:srgbClr val="D4AF37"/>
          </a:solidFill>
          <a:ln w="12700">
            <a:solidFill>
              <a:srgbClr val="D4AF37"/>
            </a:solidFill>
            <a:prstDash val="solid"/>
          </a:ln>
        </p:spPr>
      </p:sp>
      <p:sp>
        <p:nvSpPr>
          <p:cNvPr id="4" name="Text 1"/>
          <p:cNvSpPr txBox="1"/>
          <p:nvPr/>
        </p:nvSpPr>
        <p:spPr>
          <a:xfrm>
            <a:off x="566928" y="274320"/>
            <a:ext cx="9144000" cy="201168"/>
          </a:xfrm>
          <a:prstGeom prst="rect">
            <a:avLst/>
          </a:prstGeom>
          <a:noFill/>
          <a:ln/>
        </p:spPr>
        <p:txBody>
          <a:bodyPr wrap="square" lIns="0" tIns="0" rIns="0" bIns="0" rtlCol="0" anchor="t"/>
          <a:lstStyle/>
          <a:p>
            <a:pPr indent="0" marL="0">
              <a:buNone/>
            </a:pPr>
            <a:r>
              <a:rPr lang="en-US" sz="950" b="1" spc="200" kern="0" dirty="0">
                <a:solidFill>
                  <a:srgbClr val="D4AF37"/>
                </a:solidFill>
                <a:latin typeface="Exo 2" pitchFamily="34" charset="0"/>
                <a:ea typeface="Exo 2" pitchFamily="34" charset="-122"/>
                <a:cs typeface="Exo 2" pitchFamily="34" charset="-120"/>
              </a:rPr>
              <a:t>WHO WE ARE</a:t>
            </a:r>
            <a:endParaRPr lang="en-US" sz="950" dirty="0"/>
          </a:p>
        </p:txBody>
      </p:sp>
      <p:sp>
        <p:nvSpPr>
          <p:cNvPr id="5" name="Text 2"/>
          <p:cNvSpPr txBox="1"/>
          <p:nvPr/>
        </p:nvSpPr>
        <p:spPr>
          <a:xfrm>
            <a:off x="566928" y="475488"/>
            <a:ext cx="9418320" cy="749808"/>
          </a:xfrm>
          <a:prstGeom prst="rect">
            <a:avLst/>
          </a:prstGeom>
          <a:noFill/>
          <a:ln/>
        </p:spPr>
        <p:txBody>
          <a:bodyPr wrap="square" lIns="0" tIns="0" rIns="0" bIns="0" rtlCol="0" anchor="ctr"/>
          <a:lstStyle/>
          <a:p>
            <a:pPr indent="0" marL="0">
              <a:buNone/>
            </a:pPr>
            <a:r>
              <a:rPr lang="en-US" sz="2200" b="1" dirty="0">
                <a:solidFill>
                  <a:srgbClr val="FFFFFF"/>
                </a:solidFill>
                <a:latin typeface="Exo 2" pitchFamily="34" charset="0"/>
                <a:ea typeface="Exo 2" pitchFamily="34" charset="-122"/>
                <a:cs typeface="Exo 2" pitchFamily="34" charset="-120"/>
              </a:rPr>
              <a:t>eMYAA: a Shari'ah-compliant trading app for GCC investors</a:t>
            </a:r>
            <a:endParaRPr lang="en-US" sz="2200" dirty="0"/>
          </a:p>
        </p:txBody>
      </p:sp>
      <p:pic>
        <p:nvPicPr>
          <p:cNvPr id="6" name="Image 1" descr="/home/user/HatemIsa_202508993_IT9002_NLP_Project/emyaa-ceo-deck/working/charts/ajyad_white.png">    </p:cNvPr>
          <p:cNvPicPr>
            <a:picLocks noChangeAspect="1"/>
          </p:cNvPicPr>
          <p:nvPr/>
        </p:nvPicPr>
        <p:blipFill>
          <a:blip r:embed="rId2"/>
          <a:stretch>
            <a:fillRect/>
          </a:stretch>
        </p:blipFill>
        <p:spPr>
          <a:xfrm>
            <a:off x="10305288" y="457200"/>
            <a:ext cx="1325880" cy="384048"/>
          </a:xfrm>
          <a:prstGeom prst="rect">
            <a:avLst/>
          </a:prstGeom>
        </p:spPr>
      </p:pic>
      <p:sp>
        <p:nvSpPr>
          <p:cNvPr id="7" name="Text 3"/>
          <p:cNvSpPr txBox="1"/>
          <p:nvPr/>
        </p:nvSpPr>
        <p:spPr>
          <a:xfrm>
            <a:off x="566928" y="6492240"/>
            <a:ext cx="5486400" cy="201168"/>
          </a:xfrm>
          <a:prstGeom prst="rect">
            <a:avLst/>
          </a:prstGeom>
          <a:noFill/>
          <a:ln/>
        </p:spPr>
        <p:txBody>
          <a:bodyPr wrap="square" lIns="0" tIns="0" rIns="0" bIns="0" rtlCol="0" anchor="t"/>
          <a:lstStyle/>
          <a:p>
            <a:pPr indent="0" marL="0">
              <a:buNone/>
            </a:pPr>
            <a:r>
              <a:rPr lang="en-US" sz="800" dirty="0">
                <a:solidFill>
                  <a:srgbClr val="8A93A8"/>
                </a:solidFill>
                <a:latin typeface="Exo 2" pitchFamily="34" charset="0"/>
                <a:ea typeface="Exo 2" pitchFamily="34" charset="-122"/>
                <a:cs typeface="Exo 2" pitchFamily="34" charset="-120"/>
              </a:rPr>
              <a:t>eMYAA Trading Platform  |  Saudi Market Plan</a:t>
            </a:r>
            <a:endParaRPr lang="en-US" sz="800" dirty="0"/>
          </a:p>
        </p:txBody>
      </p:sp>
      <p:sp>
        <p:nvSpPr>
          <p:cNvPr id="8" name="Text 4"/>
          <p:cNvSpPr txBox="1"/>
          <p:nvPr/>
        </p:nvSpPr>
        <p:spPr>
          <a:xfrm>
            <a:off x="9802368" y="6492240"/>
            <a:ext cx="457200" cy="201168"/>
          </a:xfrm>
          <a:prstGeom prst="rect">
            <a:avLst/>
          </a:prstGeom>
          <a:noFill/>
          <a:ln/>
        </p:spPr>
        <p:txBody>
          <a:bodyPr wrap="square" lIns="0" tIns="0" rIns="0" bIns="0" rtlCol="0" anchor="t"/>
          <a:lstStyle/>
          <a:p>
            <a:pPr algn="r" indent="0" marL="0">
              <a:buNone/>
            </a:pPr>
            <a:r>
              <a:rPr lang="en-US" sz="800" dirty="0">
                <a:solidFill>
                  <a:srgbClr val="8A93A8"/>
                </a:solidFill>
                <a:latin typeface="Exo 2" pitchFamily="34" charset="0"/>
                <a:ea typeface="Exo 2" pitchFamily="34" charset="-122"/>
                <a:cs typeface="Exo 2" pitchFamily="34" charset="-120"/>
              </a:rPr>
              <a:t>2</a:t>
            </a:r>
            <a:endParaRPr lang="en-US" sz="800" dirty="0"/>
          </a:p>
        </p:txBody>
      </p:sp>
      <p:pic>
        <p:nvPicPr>
          <p:cNvPr id="9" name="Image 2" descr="/home/user/HatemIsa_202508993_IT9002_NLP_Project/emyaa-ceo-deck/working/charts/emyaa_navy.png">    </p:cNvPr>
          <p:cNvPicPr>
            <a:picLocks noChangeAspect="1"/>
          </p:cNvPicPr>
          <p:nvPr/>
        </p:nvPicPr>
        <p:blipFill>
          <a:blip r:embed="rId3"/>
          <a:stretch>
            <a:fillRect/>
          </a:stretch>
        </p:blipFill>
        <p:spPr>
          <a:xfrm>
            <a:off x="10607040" y="6327648"/>
            <a:ext cx="1024128" cy="365760"/>
          </a:xfrm>
          <a:prstGeom prst="rect">
            <a:avLst/>
          </a:prstGeom>
        </p:spPr>
      </p:pic>
      <p:sp>
        <p:nvSpPr>
          <p:cNvPr id="11" name="Shape 5"/>
          <p:cNvSpPr/>
          <p:nvPr/>
        </p:nvSpPr>
        <p:spPr>
          <a:xfrm>
            <a:off x="566928" y="1691640"/>
            <a:ext cx="5440680" cy="1280160"/>
          </a:xfrm>
          <a:prstGeom prst="rect">
            <a:avLst/>
          </a:prstGeom>
          <a:solidFill>
            <a:srgbClr val="FFFFFF"/>
          </a:solidFill>
          <a:ln w="9525">
            <a:solidFill>
              <a:srgbClr val="D9DFEA"/>
            </a:solidFill>
            <a:prstDash val="solid"/>
          </a:ln>
        </p:spPr>
      </p:sp>
      <p:sp>
        <p:nvSpPr>
          <p:cNvPr id="12" name="Shape 6"/>
          <p:cNvSpPr/>
          <p:nvPr/>
        </p:nvSpPr>
        <p:spPr>
          <a:xfrm>
            <a:off x="566928" y="1691640"/>
            <a:ext cx="5440680" cy="41148"/>
          </a:xfrm>
          <a:prstGeom prst="rect">
            <a:avLst/>
          </a:prstGeom>
          <a:solidFill>
            <a:srgbClr val="132257"/>
          </a:solidFill>
          <a:ln w="12700">
            <a:solidFill>
              <a:srgbClr val="132257"/>
            </a:solidFill>
            <a:prstDash val="solid"/>
          </a:ln>
        </p:spPr>
      </p:sp>
      <p:sp>
        <p:nvSpPr>
          <p:cNvPr id="13" name="Text 7"/>
          <p:cNvSpPr txBox="1"/>
          <p:nvPr/>
        </p:nvSpPr>
        <p:spPr>
          <a:xfrm>
            <a:off x="841248" y="1947672"/>
            <a:ext cx="4937760" cy="411480"/>
          </a:xfrm>
          <a:prstGeom prst="rect">
            <a:avLst/>
          </a:prstGeom>
          <a:noFill/>
          <a:ln/>
        </p:spPr>
        <p:txBody>
          <a:bodyPr wrap="square" lIns="0" tIns="0" rIns="0" bIns="0" rtlCol="0" anchor="t"/>
          <a:lstStyle/>
          <a:p>
            <a:pPr indent="0" marL="0">
              <a:buNone/>
            </a:pPr>
            <a:r>
              <a:rPr lang="en-US" sz="1900" b="1" dirty="0">
                <a:solidFill>
                  <a:srgbClr val="132257"/>
                </a:solidFill>
                <a:latin typeface="Exo 2" pitchFamily="34" charset="0"/>
                <a:ea typeface="Exo 2" pitchFamily="34" charset="-122"/>
                <a:cs typeface="Exo 2" pitchFamily="34" charset="-120"/>
              </a:rPr>
              <a:t>Shari'ah compliant</a:t>
            </a:r>
            <a:endParaRPr lang="en-US" sz="1900" dirty="0"/>
          </a:p>
        </p:txBody>
      </p:sp>
      <p:sp>
        <p:nvSpPr>
          <p:cNvPr id="14" name="Text 8"/>
          <p:cNvSpPr txBox="1"/>
          <p:nvPr/>
        </p:nvSpPr>
        <p:spPr>
          <a:xfrm>
            <a:off x="841248" y="2423160"/>
            <a:ext cx="4937760" cy="365760"/>
          </a:xfrm>
          <a:prstGeom prst="rect">
            <a:avLst/>
          </a:prstGeom>
          <a:noFill/>
          <a:ln/>
        </p:spPr>
        <p:txBody>
          <a:bodyPr wrap="square" lIns="0" tIns="0" rIns="0" bIns="0" rtlCol="0" anchor="t"/>
          <a:lstStyle/>
          <a:p>
            <a:pPr indent="0" marL="0">
              <a:buNone/>
            </a:pPr>
            <a:r>
              <a:rPr lang="en-US" sz="1300" dirty="0">
                <a:solidFill>
                  <a:srgbClr val="6B7590"/>
                </a:solidFill>
                <a:latin typeface="Exo 2" pitchFamily="34" charset="0"/>
                <a:ea typeface="Exo 2" pitchFamily="34" charset="-122"/>
                <a:cs typeface="Exo 2" pitchFamily="34" charset="-120"/>
              </a:rPr>
              <a:t>Automated Shari'ah screening and purification calculator</a:t>
            </a:r>
            <a:endParaRPr lang="en-US" sz="1300" dirty="0"/>
          </a:p>
        </p:txBody>
      </p:sp>
      <p:sp>
        <p:nvSpPr>
          <p:cNvPr id="15" name="Shape 9"/>
          <p:cNvSpPr/>
          <p:nvPr/>
        </p:nvSpPr>
        <p:spPr>
          <a:xfrm>
            <a:off x="6144768" y="1691640"/>
            <a:ext cx="5440680" cy="1280160"/>
          </a:xfrm>
          <a:prstGeom prst="rect">
            <a:avLst/>
          </a:prstGeom>
          <a:solidFill>
            <a:srgbClr val="FFFFFF"/>
          </a:solidFill>
          <a:ln w="9525">
            <a:solidFill>
              <a:srgbClr val="D9DFEA"/>
            </a:solidFill>
            <a:prstDash val="solid"/>
          </a:ln>
        </p:spPr>
      </p:sp>
      <p:sp>
        <p:nvSpPr>
          <p:cNvPr id="16" name="Shape 10"/>
          <p:cNvSpPr/>
          <p:nvPr/>
        </p:nvSpPr>
        <p:spPr>
          <a:xfrm>
            <a:off x="6144768" y="1691640"/>
            <a:ext cx="5440680" cy="41148"/>
          </a:xfrm>
          <a:prstGeom prst="rect">
            <a:avLst/>
          </a:prstGeom>
          <a:solidFill>
            <a:srgbClr val="D4AF37"/>
          </a:solidFill>
          <a:ln w="12700">
            <a:solidFill>
              <a:srgbClr val="D4AF37"/>
            </a:solidFill>
            <a:prstDash val="solid"/>
          </a:ln>
        </p:spPr>
      </p:sp>
      <p:sp>
        <p:nvSpPr>
          <p:cNvPr id="17" name="Text 11"/>
          <p:cNvSpPr txBox="1"/>
          <p:nvPr/>
        </p:nvSpPr>
        <p:spPr>
          <a:xfrm>
            <a:off x="6419088" y="1947672"/>
            <a:ext cx="4937760" cy="411480"/>
          </a:xfrm>
          <a:prstGeom prst="rect">
            <a:avLst/>
          </a:prstGeom>
          <a:noFill/>
          <a:ln/>
        </p:spPr>
        <p:txBody>
          <a:bodyPr wrap="square" lIns="0" tIns="0" rIns="0" bIns="0" rtlCol="0" anchor="t"/>
          <a:lstStyle/>
          <a:p>
            <a:pPr indent="0" marL="0">
              <a:buNone/>
            </a:pPr>
            <a:r>
              <a:rPr lang="en-US" sz="1900" b="1" dirty="0">
                <a:solidFill>
                  <a:srgbClr val="132257"/>
                </a:solidFill>
                <a:latin typeface="Exo 2" pitchFamily="34" charset="0"/>
                <a:ea typeface="Exo 2" pitchFamily="34" charset="-122"/>
                <a:cs typeface="Exo 2" pitchFamily="34" charset="-120"/>
              </a:rPr>
              <a:t>Arabic and English</a:t>
            </a:r>
            <a:endParaRPr lang="en-US" sz="1900" dirty="0"/>
          </a:p>
        </p:txBody>
      </p:sp>
      <p:sp>
        <p:nvSpPr>
          <p:cNvPr id="18" name="Text 12"/>
          <p:cNvSpPr txBox="1"/>
          <p:nvPr/>
        </p:nvSpPr>
        <p:spPr>
          <a:xfrm>
            <a:off x="6419088" y="2423160"/>
            <a:ext cx="4937760" cy="365760"/>
          </a:xfrm>
          <a:prstGeom prst="rect">
            <a:avLst/>
          </a:prstGeom>
          <a:noFill/>
          <a:ln/>
        </p:spPr>
        <p:txBody>
          <a:bodyPr wrap="square" lIns="0" tIns="0" rIns="0" bIns="0" rtlCol="0" anchor="t"/>
          <a:lstStyle/>
          <a:p>
            <a:pPr indent="0" marL="0">
              <a:buNone/>
            </a:pPr>
            <a:r>
              <a:rPr lang="en-US" sz="1300" dirty="0">
                <a:solidFill>
                  <a:srgbClr val="6B7590"/>
                </a:solidFill>
                <a:latin typeface="Exo 2" pitchFamily="34" charset="0"/>
                <a:ea typeface="Exo 2" pitchFamily="34" charset="-122"/>
                <a:cs typeface="Exo 2" pitchFamily="34" charset="-120"/>
              </a:rPr>
              <a:t>Full bilingual app with AI support</a:t>
            </a:r>
            <a:endParaRPr lang="en-US" sz="1300" dirty="0"/>
          </a:p>
        </p:txBody>
      </p:sp>
      <p:sp>
        <p:nvSpPr>
          <p:cNvPr id="19" name="Shape 13"/>
          <p:cNvSpPr/>
          <p:nvPr/>
        </p:nvSpPr>
        <p:spPr>
          <a:xfrm>
            <a:off x="566928" y="3154680"/>
            <a:ext cx="5440680" cy="1280160"/>
          </a:xfrm>
          <a:prstGeom prst="rect">
            <a:avLst/>
          </a:prstGeom>
          <a:solidFill>
            <a:srgbClr val="FFFFFF"/>
          </a:solidFill>
          <a:ln w="9525">
            <a:solidFill>
              <a:srgbClr val="D9DFEA"/>
            </a:solidFill>
            <a:prstDash val="solid"/>
          </a:ln>
        </p:spPr>
      </p:sp>
      <p:sp>
        <p:nvSpPr>
          <p:cNvPr id="20" name="Shape 14"/>
          <p:cNvSpPr/>
          <p:nvPr/>
        </p:nvSpPr>
        <p:spPr>
          <a:xfrm>
            <a:off x="566928" y="3154680"/>
            <a:ext cx="5440680" cy="41148"/>
          </a:xfrm>
          <a:prstGeom prst="rect">
            <a:avLst/>
          </a:prstGeom>
          <a:solidFill>
            <a:srgbClr val="132257"/>
          </a:solidFill>
          <a:ln w="12700">
            <a:solidFill>
              <a:srgbClr val="132257"/>
            </a:solidFill>
            <a:prstDash val="solid"/>
          </a:ln>
        </p:spPr>
      </p:sp>
      <p:sp>
        <p:nvSpPr>
          <p:cNvPr id="21" name="Text 15"/>
          <p:cNvSpPr txBox="1"/>
          <p:nvPr/>
        </p:nvSpPr>
        <p:spPr>
          <a:xfrm>
            <a:off x="841248" y="3410712"/>
            <a:ext cx="4937760" cy="411480"/>
          </a:xfrm>
          <a:prstGeom prst="rect">
            <a:avLst/>
          </a:prstGeom>
          <a:noFill/>
          <a:ln/>
        </p:spPr>
        <p:txBody>
          <a:bodyPr wrap="square" lIns="0" tIns="0" rIns="0" bIns="0" rtlCol="0" anchor="t"/>
          <a:lstStyle/>
          <a:p>
            <a:pPr indent="0" marL="0">
              <a:buNone/>
            </a:pPr>
            <a:r>
              <a:rPr lang="en-US" sz="1900" b="1" dirty="0">
                <a:solidFill>
                  <a:srgbClr val="132257"/>
                </a:solidFill>
                <a:latin typeface="Exo 2" pitchFamily="34" charset="0"/>
                <a:ea typeface="Exo 2" pitchFamily="34" charset="-122"/>
                <a:cs typeface="Exo 2" pitchFamily="34" charset="-120"/>
              </a:rPr>
              <a:t>USD 50 to start</a:t>
            </a:r>
            <a:endParaRPr lang="en-US" sz="1900" dirty="0"/>
          </a:p>
        </p:txBody>
      </p:sp>
      <p:sp>
        <p:nvSpPr>
          <p:cNvPr id="22" name="Text 16"/>
          <p:cNvSpPr txBox="1"/>
          <p:nvPr/>
        </p:nvSpPr>
        <p:spPr>
          <a:xfrm>
            <a:off x="841248" y="3886200"/>
            <a:ext cx="4937760" cy="365760"/>
          </a:xfrm>
          <a:prstGeom prst="rect">
            <a:avLst/>
          </a:prstGeom>
          <a:noFill/>
          <a:ln/>
        </p:spPr>
        <p:txBody>
          <a:bodyPr wrap="square" lIns="0" tIns="0" rIns="0" bIns="0" rtlCol="0" anchor="t"/>
          <a:lstStyle/>
          <a:p>
            <a:pPr indent="0" marL="0">
              <a:buNone/>
            </a:pPr>
            <a:r>
              <a:rPr lang="en-US" sz="1300" dirty="0">
                <a:solidFill>
                  <a:srgbClr val="6B7590"/>
                </a:solidFill>
                <a:latin typeface="Exo 2" pitchFamily="34" charset="0"/>
                <a:ea typeface="Exo 2" pitchFamily="34" charset="-122"/>
                <a:cs typeface="Exo 2" pitchFamily="34" charset="-120"/>
              </a:rPr>
              <a:t>No account fees</a:t>
            </a:r>
            <a:endParaRPr lang="en-US" sz="1300" dirty="0"/>
          </a:p>
        </p:txBody>
      </p:sp>
      <p:sp>
        <p:nvSpPr>
          <p:cNvPr id="23" name="Shape 17"/>
          <p:cNvSpPr/>
          <p:nvPr/>
        </p:nvSpPr>
        <p:spPr>
          <a:xfrm>
            <a:off x="6144768" y="3154680"/>
            <a:ext cx="5440680" cy="1280160"/>
          </a:xfrm>
          <a:prstGeom prst="rect">
            <a:avLst/>
          </a:prstGeom>
          <a:solidFill>
            <a:srgbClr val="FFFFFF"/>
          </a:solidFill>
          <a:ln w="9525">
            <a:solidFill>
              <a:srgbClr val="D9DFEA"/>
            </a:solidFill>
            <a:prstDash val="solid"/>
          </a:ln>
        </p:spPr>
      </p:sp>
      <p:sp>
        <p:nvSpPr>
          <p:cNvPr id="24" name="Shape 18"/>
          <p:cNvSpPr/>
          <p:nvPr/>
        </p:nvSpPr>
        <p:spPr>
          <a:xfrm>
            <a:off x="6144768" y="3154680"/>
            <a:ext cx="5440680" cy="41148"/>
          </a:xfrm>
          <a:prstGeom prst="rect">
            <a:avLst/>
          </a:prstGeom>
          <a:solidFill>
            <a:srgbClr val="D4AF37"/>
          </a:solidFill>
          <a:ln w="12700">
            <a:solidFill>
              <a:srgbClr val="D4AF37"/>
            </a:solidFill>
            <a:prstDash val="solid"/>
          </a:ln>
        </p:spPr>
      </p:sp>
      <p:sp>
        <p:nvSpPr>
          <p:cNvPr id="25" name="Text 19"/>
          <p:cNvSpPr txBox="1"/>
          <p:nvPr/>
        </p:nvSpPr>
        <p:spPr>
          <a:xfrm>
            <a:off x="6419088" y="3410712"/>
            <a:ext cx="4937760" cy="411480"/>
          </a:xfrm>
          <a:prstGeom prst="rect">
            <a:avLst/>
          </a:prstGeom>
          <a:noFill/>
          <a:ln/>
        </p:spPr>
        <p:txBody>
          <a:bodyPr wrap="square" lIns="0" tIns="0" rIns="0" bIns="0" rtlCol="0" anchor="t"/>
          <a:lstStyle/>
          <a:p>
            <a:pPr indent="0" marL="0">
              <a:buNone/>
            </a:pPr>
            <a:r>
              <a:rPr lang="en-US" sz="1900" b="1" dirty="0">
                <a:solidFill>
                  <a:srgbClr val="132257"/>
                </a:solidFill>
                <a:latin typeface="Exo 2" pitchFamily="34" charset="0"/>
                <a:ea typeface="Exo 2" pitchFamily="34" charset="-122"/>
                <a:cs typeface="Exo 2" pitchFamily="34" charset="-120"/>
              </a:rPr>
              <a:t>Four markets</a:t>
            </a:r>
            <a:endParaRPr lang="en-US" sz="1900" dirty="0"/>
          </a:p>
        </p:txBody>
      </p:sp>
      <p:sp>
        <p:nvSpPr>
          <p:cNvPr id="26" name="Text 20"/>
          <p:cNvSpPr txBox="1"/>
          <p:nvPr/>
        </p:nvSpPr>
        <p:spPr>
          <a:xfrm>
            <a:off x="6419088" y="3886200"/>
            <a:ext cx="4937760" cy="365760"/>
          </a:xfrm>
          <a:prstGeom prst="rect">
            <a:avLst/>
          </a:prstGeom>
          <a:noFill/>
          <a:ln/>
        </p:spPr>
        <p:txBody>
          <a:bodyPr wrap="square" lIns="0" tIns="0" rIns="0" bIns="0" rtlCol="0" anchor="t"/>
          <a:lstStyle/>
          <a:p>
            <a:pPr indent="0" marL="0">
              <a:buNone/>
            </a:pPr>
            <a:r>
              <a:rPr lang="en-US" sz="1300" dirty="0">
                <a:solidFill>
                  <a:srgbClr val="6B7590"/>
                </a:solidFill>
                <a:latin typeface="Exo 2" pitchFamily="34" charset="0"/>
                <a:ea typeface="Exo 2" pitchFamily="34" charset="-122"/>
                <a:cs typeface="Exo 2" pitchFamily="34" charset="-120"/>
              </a:rPr>
              <a:t>US, Saudi (Tadawul), Dubai (DFM), Hong Kong</a:t>
            </a:r>
            <a:endParaRPr lang="en-US" sz="1300" dirty="0"/>
          </a:p>
        </p:txBody>
      </p:sp>
      <p:sp>
        <p:nvSpPr>
          <p:cNvPr id="27" name="Shape 21"/>
          <p:cNvSpPr/>
          <p:nvPr/>
        </p:nvSpPr>
        <p:spPr>
          <a:xfrm>
            <a:off x="566928" y="4800600"/>
            <a:ext cx="11064240" cy="731520"/>
          </a:xfrm>
          <a:prstGeom prst="rect">
            <a:avLst/>
          </a:prstGeom>
          <a:solidFill>
            <a:srgbClr val="EEF1F8"/>
          </a:solidFill>
          <a:ln w="12700">
            <a:solidFill>
              <a:srgbClr val="EEF1F8"/>
            </a:solidFill>
            <a:prstDash val="solid"/>
          </a:ln>
        </p:spPr>
      </p:sp>
      <p:sp>
        <p:nvSpPr>
          <p:cNvPr id="28" name="Shape 22"/>
          <p:cNvSpPr/>
          <p:nvPr/>
        </p:nvSpPr>
        <p:spPr>
          <a:xfrm>
            <a:off x="566928" y="4800600"/>
            <a:ext cx="54864" cy="731520"/>
          </a:xfrm>
          <a:prstGeom prst="rect">
            <a:avLst/>
          </a:prstGeom>
          <a:solidFill>
            <a:srgbClr val="D4AF37"/>
          </a:solidFill>
          <a:ln w="12700">
            <a:solidFill>
              <a:srgbClr val="D4AF37"/>
            </a:solidFill>
            <a:prstDash val="solid"/>
          </a:ln>
        </p:spPr>
      </p:sp>
      <p:sp>
        <p:nvSpPr>
          <p:cNvPr id="29" name="Text 23"/>
          <p:cNvSpPr txBox="1"/>
          <p:nvPr/>
        </p:nvSpPr>
        <p:spPr>
          <a:xfrm>
            <a:off x="822960" y="4800600"/>
            <a:ext cx="10698480" cy="731520"/>
          </a:xfrm>
          <a:prstGeom prst="rect">
            <a:avLst/>
          </a:prstGeom>
          <a:noFill/>
          <a:ln/>
        </p:spPr>
        <p:txBody>
          <a:bodyPr wrap="square" lIns="0" tIns="0" rIns="0" bIns="0" rtlCol="0" anchor="ctr"/>
          <a:lstStyle/>
          <a:p>
            <a:pPr indent="0" marL="0">
              <a:buNone/>
            </a:pPr>
            <a:r>
              <a:rPr lang="en-US" sz="1300" b="1" dirty="0">
                <a:solidFill>
                  <a:srgbClr val="132257"/>
                </a:solidFill>
                <a:latin typeface="Exo 2" pitchFamily="34" charset="0"/>
                <a:ea typeface="Exo 2" pitchFamily="34" charset="-122"/>
                <a:cs typeface="Exo 2" pitchFamily="34" charset="-120"/>
              </a:rPr>
              <a:t>Licensed  </a:t>
            </a:r>
            <a:pPr indent="0" marL="0">
              <a:buNone/>
            </a:pPr>
            <a:r>
              <a:rPr lang="en-US" sz="1300" dirty="0">
                <a:solidFill>
                  <a:srgbClr val="1F2A44"/>
                </a:solidFill>
                <a:latin typeface="Exo 2" pitchFamily="34" charset="0"/>
                <a:ea typeface="Exo 2" pitchFamily="34" charset="-122"/>
                <a:cs typeface="Exo 2" pitchFamily="34" charset="-120"/>
              </a:rPr>
              <a:t>Powered by Ajyad Capital, an Islamic investment firm (Category 1) regulated by the Central Bank of Bahrain. Live since May 2026.</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user/HatemIsa_202508993_IT9002_NLP_Project/emyaa-ceo-deck/working/charts/board_header.png">    </p:cNvPr>
          <p:cNvPicPr>
            <a:picLocks noChangeAspect="1"/>
          </p:cNvPicPr>
          <p:nvPr/>
        </p:nvPicPr>
        <p:blipFill>
          <a:blip r:embed="rId1"/>
          <a:stretch>
            <a:fillRect/>
          </a:stretch>
        </p:blipFill>
        <p:spPr>
          <a:xfrm>
            <a:off x="0" y="0"/>
            <a:ext cx="12191695" cy="1298448"/>
          </a:xfrm>
          <a:prstGeom prst="rect">
            <a:avLst/>
          </a:prstGeom>
        </p:spPr>
      </p:pic>
      <p:sp>
        <p:nvSpPr>
          <p:cNvPr id="3" name="Shape 0"/>
          <p:cNvSpPr/>
          <p:nvPr/>
        </p:nvSpPr>
        <p:spPr>
          <a:xfrm>
            <a:off x="0" y="1298448"/>
            <a:ext cx="12191695" cy="27432"/>
          </a:xfrm>
          <a:prstGeom prst="rect">
            <a:avLst/>
          </a:prstGeom>
          <a:solidFill>
            <a:srgbClr val="D4AF37"/>
          </a:solidFill>
          <a:ln w="12700">
            <a:solidFill>
              <a:srgbClr val="D4AF37"/>
            </a:solidFill>
            <a:prstDash val="solid"/>
          </a:ln>
        </p:spPr>
      </p:sp>
      <p:sp>
        <p:nvSpPr>
          <p:cNvPr id="4" name="Text 1"/>
          <p:cNvSpPr txBox="1"/>
          <p:nvPr/>
        </p:nvSpPr>
        <p:spPr>
          <a:xfrm>
            <a:off x="566928" y="274320"/>
            <a:ext cx="9144000" cy="201168"/>
          </a:xfrm>
          <a:prstGeom prst="rect">
            <a:avLst/>
          </a:prstGeom>
          <a:noFill/>
          <a:ln/>
        </p:spPr>
        <p:txBody>
          <a:bodyPr wrap="square" lIns="0" tIns="0" rIns="0" bIns="0" rtlCol="0" anchor="t"/>
          <a:lstStyle/>
          <a:p>
            <a:pPr indent="0" marL="0">
              <a:buNone/>
            </a:pPr>
            <a:r>
              <a:rPr lang="en-US" sz="950" b="1" spc="200" kern="0" dirty="0">
                <a:solidFill>
                  <a:srgbClr val="D4AF37"/>
                </a:solidFill>
                <a:latin typeface="Exo 2" pitchFamily="34" charset="0"/>
                <a:ea typeface="Exo 2" pitchFamily="34" charset="-122"/>
                <a:cs typeface="Exo 2" pitchFamily="34" charset="-120"/>
              </a:rPr>
              <a:t>SAUDI MARKET PLAN</a:t>
            </a:r>
            <a:endParaRPr lang="en-US" sz="950" dirty="0"/>
          </a:p>
        </p:txBody>
      </p:sp>
      <p:sp>
        <p:nvSpPr>
          <p:cNvPr id="5" name="Text 2"/>
          <p:cNvSpPr txBox="1"/>
          <p:nvPr/>
        </p:nvSpPr>
        <p:spPr>
          <a:xfrm>
            <a:off x="566928" y="475488"/>
            <a:ext cx="9418320" cy="749808"/>
          </a:xfrm>
          <a:prstGeom prst="rect">
            <a:avLst/>
          </a:prstGeom>
          <a:noFill/>
          <a:ln/>
        </p:spPr>
        <p:txBody>
          <a:bodyPr wrap="square" lIns="0" tIns="0" rIns="0" bIns="0" rtlCol="0" anchor="ctr"/>
          <a:lstStyle/>
          <a:p>
            <a:pPr indent="0" marL="0">
              <a:buNone/>
            </a:pPr>
            <a:r>
              <a:rPr lang="en-US" sz="2200" b="1" dirty="0">
                <a:solidFill>
                  <a:srgbClr val="FFFFFF"/>
                </a:solidFill>
                <a:latin typeface="Exo 2" pitchFamily="34" charset="0"/>
                <a:ea typeface="Exo 2" pitchFamily="34" charset="-122"/>
                <a:cs typeface="Exo 2" pitchFamily="34" charset="-120"/>
              </a:rPr>
              <a:t>The Saudi plan at a glance: channels, timing and cost</a:t>
            </a:r>
            <a:endParaRPr lang="en-US" sz="2200" dirty="0"/>
          </a:p>
        </p:txBody>
      </p:sp>
      <p:pic>
        <p:nvPicPr>
          <p:cNvPr id="6" name="Image 1" descr="/home/user/HatemIsa_202508993_IT9002_NLP_Project/emyaa-ceo-deck/working/charts/ajyad_white.png">    </p:cNvPr>
          <p:cNvPicPr>
            <a:picLocks noChangeAspect="1"/>
          </p:cNvPicPr>
          <p:nvPr/>
        </p:nvPicPr>
        <p:blipFill>
          <a:blip r:embed="rId2"/>
          <a:stretch>
            <a:fillRect/>
          </a:stretch>
        </p:blipFill>
        <p:spPr>
          <a:xfrm>
            <a:off x="10305288" y="457200"/>
            <a:ext cx="1325880" cy="384048"/>
          </a:xfrm>
          <a:prstGeom prst="rect">
            <a:avLst/>
          </a:prstGeom>
        </p:spPr>
      </p:pic>
      <p:sp>
        <p:nvSpPr>
          <p:cNvPr id="7" name="Text 3"/>
          <p:cNvSpPr txBox="1"/>
          <p:nvPr/>
        </p:nvSpPr>
        <p:spPr>
          <a:xfrm>
            <a:off x="566928" y="6492240"/>
            <a:ext cx="5486400" cy="201168"/>
          </a:xfrm>
          <a:prstGeom prst="rect">
            <a:avLst/>
          </a:prstGeom>
          <a:noFill/>
          <a:ln/>
        </p:spPr>
        <p:txBody>
          <a:bodyPr wrap="square" lIns="0" tIns="0" rIns="0" bIns="0" rtlCol="0" anchor="t"/>
          <a:lstStyle/>
          <a:p>
            <a:pPr indent="0" marL="0">
              <a:buNone/>
            </a:pPr>
            <a:r>
              <a:rPr lang="en-US" sz="800" dirty="0">
                <a:solidFill>
                  <a:srgbClr val="8A93A8"/>
                </a:solidFill>
                <a:latin typeface="Exo 2" pitchFamily="34" charset="0"/>
                <a:ea typeface="Exo 2" pitchFamily="34" charset="-122"/>
                <a:cs typeface="Exo 2" pitchFamily="34" charset="-120"/>
              </a:rPr>
              <a:t>eMYAA Trading Platform  |  Saudi Market Plan</a:t>
            </a:r>
            <a:endParaRPr lang="en-US" sz="800" dirty="0"/>
          </a:p>
        </p:txBody>
      </p:sp>
      <p:sp>
        <p:nvSpPr>
          <p:cNvPr id="8" name="Text 4"/>
          <p:cNvSpPr txBox="1"/>
          <p:nvPr/>
        </p:nvSpPr>
        <p:spPr>
          <a:xfrm>
            <a:off x="9802368" y="6492240"/>
            <a:ext cx="457200" cy="201168"/>
          </a:xfrm>
          <a:prstGeom prst="rect">
            <a:avLst/>
          </a:prstGeom>
          <a:noFill/>
          <a:ln/>
        </p:spPr>
        <p:txBody>
          <a:bodyPr wrap="square" lIns="0" tIns="0" rIns="0" bIns="0" rtlCol="0" anchor="t"/>
          <a:lstStyle/>
          <a:p>
            <a:pPr algn="r" indent="0" marL="0">
              <a:buNone/>
            </a:pPr>
            <a:r>
              <a:rPr lang="en-US" sz="800" dirty="0">
                <a:solidFill>
                  <a:srgbClr val="8A93A8"/>
                </a:solidFill>
                <a:latin typeface="Exo 2" pitchFamily="34" charset="0"/>
                <a:ea typeface="Exo 2" pitchFamily="34" charset="-122"/>
                <a:cs typeface="Exo 2" pitchFamily="34" charset="-120"/>
              </a:rPr>
              <a:t>3</a:t>
            </a:r>
            <a:endParaRPr lang="en-US" sz="800" dirty="0"/>
          </a:p>
        </p:txBody>
      </p:sp>
      <p:pic>
        <p:nvPicPr>
          <p:cNvPr id="9" name="Image 2" descr="/home/user/HatemIsa_202508993_IT9002_NLP_Project/emyaa-ceo-deck/working/charts/emyaa_navy.png">    </p:cNvPr>
          <p:cNvPicPr>
            <a:picLocks noChangeAspect="1"/>
          </p:cNvPicPr>
          <p:nvPr/>
        </p:nvPicPr>
        <p:blipFill>
          <a:blip r:embed="rId3"/>
          <a:stretch>
            <a:fillRect/>
          </a:stretch>
        </p:blipFill>
        <p:spPr>
          <a:xfrm>
            <a:off x="10607040" y="6327648"/>
            <a:ext cx="1024128" cy="365760"/>
          </a:xfrm>
          <a:prstGeom prst="rect">
            <a:avLst/>
          </a:prstGeom>
        </p:spPr>
      </p:pic>
      <p:sp>
        <p:nvSpPr>
          <p:cNvPr id="11" name="Shape 5"/>
          <p:cNvSpPr/>
          <p:nvPr/>
        </p:nvSpPr>
        <p:spPr>
          <a:xfrm>
            <a:off x="566928" y="1600200"/>
            <a:ext cx="2926080" cy="411480"/>
          </a:xfrm>
          <a:prstGeom prst="rect">
            <a:avLst/>
          </a:prstGeom>
          <a:solidFill>
            <a:srgbClr val="132257"/>
          </a:solidFill>
          <a:ln w="12700">
            <a:solidFill>
              <a:srgbClr val="132257"/>
            </a:solidFill>
            <a:prstDash val="solid"/>
          </a:ln>
        </p:spPr>
      </p:sp>
      <p:sp>
        <p:nvSpPr>
          <p:cNvPr id="12" name="Text 6"/>
          <p:cNvSpPr txBox="1"/>
          <p:nvPr/>
        </p:nvSpPr>
        <p:spPr>
          <a:xfrm>
            <a:off x="676656" y="1600200"/>
            <a:ext cx="2724912" cy="411480"/>
          </a:xfrm>
          <a:prstGeom prst="rect">
            <a:avLst/>
          </a:prstGeom>
          <a:noFill/>
          <a:ln/>
        </p:spPr>
        <p:txBody>
          <a:bodyPr wrap="square" lIns="0" tIns="0" rIns="0" bIns="0" rtlCol="0" anchor="ctr"/>
          <a:lstStyle/>
          <a:p>
            <a:pPr algn="l" indent="0" marL="0">
              <a:buNone/>
            </a:pPr>
            <a:r>
              <a:rPr lang="en-US" sz="1050" b="1" dirty="0">
                <a:solidFill>
                  <a:srgbClr val="FFFFFF"/>
                </a:solidFill>
                <a:latin typeface="Exo 2" pitchFamily="34" charset="0"/>
                <a:ea typeface="Exo 2" pitchFamily="34" charset="-122"/>
                <a:cs typeface="Exo 2" pitchFamily="34" charset="-120"/>
              </a:rPr>
              <a:t>Channel</a:t>
            </a:r>
            <a:endParaRPr lang="en-US" sz="1050" dirty="0"/>
          </a:p>
        </p:txBody>
      </p:sp>
      <p:sp>
        <p:nvSpPr>
          <p:cNvPr id="13" name="Shape 7"/>
          <p:cNvSpPr/>
          <p:nvPr/>
        </p:nvSpPr>
        <p:spPr>
          <a:xfrm>
            <a:off x="3493008" y="1600200"/>
            <a:ext cx="2377440" cy="411480"/>
          </a:xfrm>
          <a:prstGeom prst="rect">
            <a:avLst/>
          </a:prstGeom>
          <a:solidFill>
            <a:srgbClr val="132257"/>
          </a:solidFill>
          <a:ln w="12700">
            <a:solidFill>
              <a:srgbClr val="132257"/>
            </a:solidFill>
            <a:prstDash val="solid"/>
          </a:ln>
        </p:spPr>
      </p:sp>
      <p:sp>
        <p:nvSpPr>
          <p:cNvPr id="14" name="Text 8"/>
          <p:cNvSpPr txBox="1"/>
          <p:nvPr/>
        </p:nvSpPr>
        <p:spPr>
          <a:xfrm>
            <a:off x="3602736" y="1600200"/>
            <a:ext cx="2176272" cy="411480"/>
          </a:xfrm>
          <a:prstGeom prst="rect">
            <a:avLst/>
          </a:prstGeom>
          <a:noFill/>
          <a:ln/>
        </p:spPr>
        <p:txBody>
          <a:bodyPr wrap="square" lIns="0" tIns="0" rIns="0" bIns="0" rtlCol="0" anchor="ctr"/>
          <a:lstStyle/>
          <a:p>
            <a:pPr algn="l" indent="0" marL="0">
              <a:buNone/>
            </a:pPr>
            <a:r>
              <a:rPr lang="en-US" sz="1050" b="1" dirty="0">
                <a:solidFill>
                  <a:srgbClr val="FFFFFF"/>
                </a:solidFill>
                <a:latin typeface="Exo 2" pitchFamily="34" charset="0"/>
                <a:ea typeface="Exo 2" pitchFamily="34" charset="-122"/>
                <a:cs typeface="Exo 2" pitchFamily="34" charset="-120"/>
              </a:rPr>
              <a:t>Target</a:t>
            </a:r>
            <a:endParaRPr lang="en-US" sz="1050" dirty="0"/>
          </a:p>
        </p:txBody>
      </p:sp>
      <p:sp>
        <p:nvSpPr>
          <p:cNvPr id="15" name="Shape 9"/>
          <p:cNvSpPr/>
          <p:nvPr/>
        </p:nvSpPr>
        <p:spPr>
          <a:xfrm>
            <a:off x="5870448" y="1600200"/>
            <a:ext cx="1737360" cy="411480"/>
          </a:xfrm>
          <a:prstGeom prst="rect">
            <a:avLst/>
          </a:prstGeom>
          <a:solidFill>
            <a:srgbClr val="132257"/>
          </a:solidFill>
          <a:ln w="12700">
            <a:solidFill>
              <a:srgbClr val="132257"/>
            </a:solidFill>
            <a:prstDash val="solid"/>
          </a:ln>
        </p:spPr>
      </p:sp>
      <p:sp>
        <p:nvSpPr>
          <p:cNvPr id="16" name="Text 10"/>
          <p:cNvSpPr txBox="1"/>
          <p:nvPr/>
        </p:nvSpPr>
        <p:spPr>
          <a:xfrm>
            <a:off x="5980176" y="1600200"/>
            <a:ext cx="1536192" cy="411480"/>
          </a:xfrm>
          <a:prstGeom prst="rect">
            <a:avLst/>
          </a:prstGeom>
          <a:noFill/>
          <a:ln/>
        </p:spPr>
        <p:txBody>
          <a:bodyPr wrap="square" lIns="0" tIns="0" rIns="0" bIns="0" rtlCol="0" anchor="ctr"/>
          <a:lstStyle/>
          <a:p>
            <a:pPr algn="l" indent="0" marL="0">
              <a:buNone/>
            </a:pPr>
            <a:r>
              <a:rPr lang="en-US" sz="1050" b="1" dirty="0">
                <a:solidFill>
                  <a:srgbClr val="FFFFFF"/>
                </a:solidFill>
                <a:latin typeface="Exo 2" pitchFamily="34" charset="0"/>
                <a:ea typeface="Exo 2" pitchFamily="34" charset="-122"/>
                <a:cs typeface="Exo 2" pitchFamily="34" charset="-120"/>
              </a:rPr>
              <a:t>Timing</a:t>
            </a:r>
            <a:endParaRPr lang="en-US" sz="1050" dirty="0"/>
          </a:p>
        </p:txBody>
      </p:sp>
      <p:sp>
        <p:nvSpPr>
          <p:cNvPr id="17" name="Shape 11"/>
          <p:cNvSpPr/>
          <p:nvPr/>
        </p:nvSpPr>
        <p:spPr>
          <a:xfrm>
            <a:off x="7607808" y="1600200"/>
            <a:ext cx="2194560" cy="411480"/>
          </a:xfrm>
          <a:prstGeom prst="rect">
            <a:avLst/>
          </a:prstGeom>
          <a:solidFill>
            <a:srgbClr val="132257"/>
          </a:solidFill>
          <a:ln w="12700">
            <a:solidFill>
              <a:srgbClr val="132257"/>
            </a:solidFill>
            <a:prstDash val="solid"/>
          </a:ln>
        </p:spPr>
      </p:sp>
      <p:sp>
        <p:nvSpPr>
          <p:cNvPr id="18" name="Text 12"/>
          <p:cNvSpPr txBox="1"/>
          <p:nvPr/>
        </p:nvSpPr>
        <p:spPr>
          <a:xfrm>
            <a:off x="7717536" y="1600200"/>
            <a:ext cx="1993392" cy="411480"/>
          </a:xfrm>
          <a:prstGeom prst="rect">
            <a:avLst/>
          </a:prstGeom>
          <a:noFill/>
          <a:ln/>
        </p:spPr>
        <p:txBody>
          <a:bodyPr wrap="square" lIns="0" tIns="0" rIns="0" bIns="0" rtlCol="0" anchor="ctr"/>
          <a:lstStyle/>
          <a:p>
            <a:pPr algn="l" indent="0" marL="0">
              <a:buNone/>
            </a:pPr>
            <a:r>
              <a:rPr lang="en-US" sz="1050" b="1" dirty="0">
                <a:solidFill>
                  <a:srgbClr val="FFFFFF"/>
                </a:solidFill>
                <a:latin typeface="Exo 2" pitchFamily="34" charset="0"/>
                <a:ea typeface="Exo 2" pitchFamily="34" charset="-122"/>
                <a:cs typeface="Exo 2" pitchFamily="34" charset="-120"/>
              </a:rPr>
              <a:t>Cost</a:t>
            </a:r>
            <a:endParaRPr lang="en-US" sz="1050" dirty="0"/>
          </a:p>
        </p:txBody>
      </p:sp>
      <p:sp>
        <p:nvSpPr>
          <p:cNvPr id="19" name="Shape 13"/>
          <p:cNvSpPr/>
          <p:nvPr/>
        </p:nvSpPr>
        <p:spPr>
          <a:xfrm>
            <a:off x="9802368" y="1600200"/>
            <a:ext cx="1828800" cy="411480"/>
          </a:xfrm>
          <a:prstGeom prst="rect">
            <a:avLst/>
          </a:prstGeom>
          <a:solidFill>
            <a:srgbClr val="132257"/>
          </a:solidFill>
          <a:ln w="12700">
            <a:solidFill>
              <a:srgbClr val="132257"/>
            </a:solidFill>
            <a:prstDash val="solid"/>
          </a:ln>
        </p:spPr>
      </p:sp>
      <p:sp>
        <p:nvSpPr>
          <p:cNvPr id="20" name="Text 14"/>
          <p:cNvSpPr txBox="1"/>
          <p:nvPr/>
        </p:nvSpPr>
        <p:spPr>
          <a:xfrm>
            <a:off x="9912096" y="1600200"/>
            <a:ext cx="1627632" cy="411480"/>
          </a:xfrm>
          <a:prstGeom prst="rect">
            <a:avLst/>
          </a:prstGeom>
          <a:noFill/>
          <a:ln/>
        </p:spPr>
        <p:txBody>
          <a:bodyPr wrap="square" lIns="0" tIns="0" rIns="0" bIns="0" rtlCol="0" anchor="ctr"/>
          <a:lstStyle/>
          <a:p>
            <a:pPr algn="l" indent="0" marL="0">
              <a:buNone/>
            </a:pPr>
            <a:r>
              <a:rPr lang="en-US" sz="1050" b="1" dirty="0">
                <a:solidFill>
                  <a:srgbClr val="FFFFFF"/>
                </a:solidFill>
                <a:latin typeface="Exo 2" pitchFamily="34" charset="0"/>
                <a:ea typeface="Exo 2" pitchFamily="34" charset="-122"/>
                <a:cs typeface="Exo 2" pitchFamily="34" charset="-120"/>
              </a:rPr>
              <a:t>Status</a:t>
            </a:r>
            <a:endParaRPr lang="en-US" sz="1050" dirty="0"/>
          </a:p>
        </p:txBody>
      </p:sp>
      <p:sp>
        <p:nvSpPr>
          <p:cNvPr id="21" name="Shape 15"/>
          <p:cNvSpPr/>
          <p:nvPr/>
        </p:nvSpPr>
        <p:spPr>
          <a:xfrm>
            <a:off x="566928" y="2011680"/>
            <a:ext cx="2926080" cy="548640"/>
          </a:xfrm>
          <a:prstGeom prst="rect">
            <a:avLst/>
          </a:prstGeom>
          <a:solidFill>
            <a:srgbClr val="FFFFFF"/>
          </a:solidFill>
          <a:ln w="9525">
            <a:solidFill>
              <a:srgbClr val="D9DFEA"/>
            </a:solidFill>
            <a:prstDash val="solid"/>
          </a:ln>
        </p:spPr>
      </p:sp>
      <p:sp>
        <p:nvSpPr>
          <p:cNvPr id="22" name="Text 16"/>
          <p:cNvSpPr txBox="1"/>
          <p:nvPr/>
        </p:nvSpPr>
        <p:spPr>
          <a:xfrm>
            <a:off x="676656" y="2011680"/>
            <a:ext cx="2724912" cy="548640"/>
          </a:xfrm>
          <a:prstGeom prst="rect">
            <a:avLst/>
          </a:prstGeom>
          <a:noFill/>
          <a:ln/>
        </p:spPr>
        <p:txBody>
          <a:bodyPr wrap="square" lIns="0" tIns="0" rIns="0" bIns="0" rtlCol="0" anchor="ctr"/>
          <a:lstStyle/>
          <a:p>
            <a:pPr algn="l" indent="0" marL="0">
              <a:buNone/>
            </a:pPr>
            <a:r>
              <a:rPr lang="en-US" sz="1200" b="1" dirty="0">
                <a:solidFill>
                  <a:srgbClr val="132257"/>
                </a:solidFill>
                <a:latin typeface="Exo 2" pitchFamily="34" charset="0"/>
                <a:ea typeface="Exo 2" pitchFamily="34" charset="-122"/>
                <a:cs typeface="Exo 2" pitchFamily="34" charset="-120"/>
              </a:rPr>
              <a:t>Google Search ads, Saudi</a:t>
            </a:r>
            <a:endParaRPr lang="en-US" sz="1200" dirty="0"/>
          </a:p>
        </p:txBody>
      </p:sp>
      <p:sp>
        <p:nvSpPr>
          <p:cNvPr id="23" name="Shape 17"/>
          <p:cNvSpPr/>
          <p:nvPr/>
        </p:nvSpPr>
        <p:spPr>
          <a:xfrm>
            <a:off x="3493008" y="2011680"/>
            <a:ext cx="2377440" cy="548640"/>
          </a:xfrm>
          <a:prstGeom prst="rect">
            <a:avLst/>
          </a:prstGeom>
          <a:solidFill>
            <a:srgbClr val="FFFFFF"/>
          </a:solidFill>
          <a:ln w="9525">
            <a:solidFill>
              <a:srgbClr val="D9DFEA"/>
            </a:solidFill>
            <a:prstDash val="solid"/>
          </a:ln>
        </p:spPr>
      </p:sp>
      <p:sp>
        <p:nvSpPr>
          <p:cNvPr id="24" name="Text 18"/>
          <p:cNvSpPr txBox="1"/>
          <p:nvPr/>
        </p:nvSpPr>
        <p:spPr>
          <a:xfrm>
            <a:off x="3602736" y="2011680"/>
            <a:ext cx="2176272" cy="548640"/>
          </a:xfrm>
          <a:prstGeom prst="rect">
            <a:avLst/>
          </a:prstGeom>
          <a:noFill/>
          <a:ln/>
        </p:spPr>
        <p:txBody>
          <a:bodyPr wrap="square" lIns="0" tIns="0" rIns="0" bIns="0" rtlCol="0" anchor="ctr"/>
          <a:lstStyle/>
          <a:p>
            <a:pPr algn="l" indent="0" marL="0">
              <a:buNone/>
            </a:pPr>
            <a:r>
              <a:rPr lang="en-US" sz="1200" dirty="0">
                <a:solidFill>
                  <a:srgbClr val="1F2A44"/>
                </a:solidFill>
                <a:latin typeface="Exo 2" pitchFamily="34" charset="0"/>
                <a:ea typeface="Exo 2" pitchFamily="34" charset="-122"/>
                <a:cs typeface="Exo 2" pitchFamily="34" charset="-120"/>
              </a:rPr>
              <a:t>Starter and Emerging</a:t>
            </a:r>
            <a:endParaRPr lang="en-US" sz="1200" dirty="0"/>
          </a:p>
        </p:txBody>
      </p:sp>
      <p:sp>
        <p:nvSpPr>
          <p:cNvPr id="25" name="Shape 19"/>
          <p:cNvSpPr/>
          <p:nvPr/>
        </p:nvSpPr>
        <p:spPr>
          <a:xfrm>
            <a:off x="5870448" y="2011680"/>
            <a:ext cx="1737360" cy="548640"/>
          </a:xfrm>
          <a:prstGeom prst="rect">
            <a:avLst/>
          </a:prstGeom>
          <a:solidFill>
            <a:srgbClr val="FFFFFF"/>
          </a:solidFill>
          <a:ln w="9525">
            <a:solidFill>
              <a:srgbClr val="D9DFEA"/>
            </a:solidFill>
            <a:prstDash val="solid"/>
          </a:ln>
        </p:spPr>
      </p:sp>
      <p:sp>
        <p:nvSpPr>
          <p:cNvPr id="26" name="Text 20"/>
          <p:cNvSpPr txBox="1"/>
          <p:nvPr/>
        </p:nvSpPr>
        <p:spPr>
          <a:xfrm>
            <a:off x="5980176" y="2011680"/>
            <a:ext cx="1536192" cy="548640"/>
          </a:xfrm>
          <a:prstGeom prst="rect">
            <a:avLst/>
          </a:prstGeom>
          <a:noFill/>
          <a:ln/>
        </p:spPr>
        <p:txBody>
          <a:bodyPr wrap="square" lIns="0" tIns="0" rIns="0" bIns="0" rtlCol="0" anchor="ctr"/>
          <a:lstStyle/>
          <a:p>
            <a:pPr algn="l" indent="0" marL="0">
              <a:buNone/>
            </a:pPr>
            <a:r>
              <a:rPr lang="en-US" sz="1200" dirty="0">
                <a:solidFill>
                  <a:srgbClr val="1F2A44"/>
                </a:solidFill>
                <a:latin typeface="Exo 2" pitchFamily="34" charset="0"/>
                <a:ea typeface="Exo 2" pitchFamily="34" charset="-122"/>
                <a:cs typeface="Exo 2" pitchFamily="34" charset="-120"/>
              </a:rPr>
              <a:t>Sep to Dec</a:t>
            </a:r>
            <a:endParaRPr lang="en-US" sz="1200" dirty="0"/>
          </a:p>
        </p:txBody>
      </p:sp>
      <p:sp>
        <p:nvSpPr>
          <p:cNvPr id="27" name="Shape 21"/>
          <p:cNvSpPr/>
          <p:nvPr/>
        </p:nvSpPr>
        <p:spPr>
          <a:xfrm>
            <a:off x="7607808" y="2011680"/>
            <a:ext cx="2194560" cy="548640"/>
          </a:xfrm>
          <a:prstGeom prst="rect">
            <a:avLst/>
          </a:prstGeom>
          <a:solidFill>
            <a:srgbClr val="FFFFFF"/>
          </a:solidFill>
          <a:ln w="9525">
            <a:solidFill>
              <a:srgbClr val="D9DFEA"/>
            </a:solidFill>
            <a:prstDash val="solid"/>
          </a:ln>
        </p:spPr>
      </p:sp>
      <p:sp>
        <p:nvSpPr>
          <p:cNvPr id="28" name="Text 22"/>
          <p:cNvSpPr txBox="1"/>
          <p:nvPr/>
        </p:nvSpPr>
        <p:spPr>
          <a:xfrm>
            <a:off x="7717536" y="2011680"/>
            <a:ext cx="1993392" cy="548640"/>
          </a:xfrm>
          <a:prstGeom prst="rect">
            <a:avLst/>
          </a:prstGeom>
          <a:noFill/>
          <a:ln/>
        </p:spPr>
        <p:txBody>
          <a:bodyPr wrap="square" lIns="0" tIns="0" rIns="0" bIns="0" rtlCol="0" anchor="ctr"/>
          <a:lstStyle/>
          <a:p>
            <a:pPr algn="l" indent="0" marL="0">
              <a:buNone/>
            </a:pPr>
            <a:r>
              <a:rPr lang="en-US" sz="1200" b="1" dirty="0">
                <a:solidFill>
                  <a:srgbClr val="1F2A44"/>
                </a:solidFill>
                <a:latin typeface="Exo 2" pitchFamily="34" charset="0"/>
                <a:ea typeface="Exo 2" pitchFamily="34" charset="-122"/>
                <a:cs typeface="Exo 2" pitchFamily="34" charset="-120"/>
              </a:rPr>
              <a:t>USD 9,000</a:t>
            </a:r>
            <a:endParaRPr lang="en-US" sz="1200" dirty="0"/>
          </a:p>
        </p:txBody>
      </p:sp>
      <p:sp>
        <p:nvSpPr>
          <p:cNvPr id="29" name="Shape 23"/>
          <p:cNvSpPr/>
          <p:nvPr/>
        </p:nvSpPr>
        <p:spPr>
          <a:xfrm>
            <a:off x="9802368" y="2011680"/>
            <a:ext cx="1828800" cy="548640"/>
          </a:xfrm>
          <a:prstGeom prst="rect">
            <a:avLst/>
          </a:prstGeom>
          <a:solidFill>
            <a:srgbClr val="FFFFFF"/>
          </a:solidFill>
          <a:ln w="9525">
            <a:solidFill>
              <a:srgbClr val="D9DFEA"/>
            </a:solidFill>
            <a:prstDash val="solid"/>
          </a:ln>
        </p:spPr>
      </p:sp>
      <p:sp>
        <p:nvSpPr>
          <p:cNvPr id="30" name="Text 24"/>
          <p:cNvSpPr txBox="1"/>
          <p:nvPr/>
        </p:nvSpPr>
        <p:spPr>
          <a:xfrm>
            <a:off x="9912096" y="2011680"/>
            <a:ext cx="1627632" cy="548640"/>
          </a:xfrm>
          <a:prstGeom prst="rect">
            <a:avLst/>
          </a:prstGeom>
          <a:noFill/>
          <a:ln/>
        </p:spPr>
        <p:txBody>
          <a:bodyPr wrap="square" lIns="0" tIns="0" rIns="0" bIns="0" rtlCol="0" anchor="ctr"/>
          <a:lstStyle/>
          <a:p>
            <a:pPr algn="l" indent="0" marL="0">
              <a:buNone/>
            </a:pPr>
            <a:r>
              <a:rPr lang="en-US" sz="1200" b="1" dirty="0">
                <a:solidFill>
                  <a:srgbClr val="1BA97C"/>
                </a:solidFill>
                <a:latin typeface="Exo 2" pitchFamily="34" charset="0"/>
                <a:ea typeface="Exo 2" pitchFamily="34" charset="-122"/>
                <a:cs typeface="Exo 2" pitchFamily="34" charset="-120"/>
              </a:rPr>
              <a:t>Live since 22 Sep</a:t>
            </a:r>
            <a:endParaRPr lang="en-US" sz="1200" dirty="0"/>
          </a:p>
        </p:txBody>
      </p:sp>
      <p:sp>
        <p:nvSpPr>
          <p:cNvPr id="31" name="Shape 25"/>
          <p:cNvSpPr/>
          <p:nvPr/>
        </p:nvSpPr>
        <p:spPr>
          <a:xfrm>
            <a:off x="566928" y="2560320"/>
            <a:ext cx="2926080" cy="548640"/>
          </a:xfrm>
          <a:prstGeom prst="rect">
            <a:avLst/>
          </a:prstGeom>
          <a:solidFill>
            <a:srgbClr val="EEF1F8"/>
          </a:solidFill>
          <a:ln w="9525">
            <a:solidFill>
              <a:srgbClr val="D9DFEA"/>
            </a:solidFill>
            <a:prstDash val="solid"/>
          </a:ln>
        </p:spPr>
      </p:sp>
      <p:sp>
        <p:nvSpPr>
          <p:cNvPr id="32" name="Text 26"/>
          <p:cNvSpPr txBox="1"/>
          <p:nvPr/>
        </p:nvSpPr>
        <p:spPr>
          <a:xfrm>
            <a:off x="676656" y="2560320"/>
            <a:ext cx="2724912" cy="548640"/>
          </a:xfrm>
          <a:prstGeom prst="rect">
            <a:avLst/>
          </a:prstGeom>
          <a:noFill/>
          <a:ln/>
        </p:spPr>
        <p:txBody>
          <a:bodyPr wrap="square" lIns="0" tIns="0" rIns="0" bIns="0" rtlCol="0" anchor="ctr"/>
          <a:lstStyle/>
          <a:p>
            <a:pPr algn="l" indent="0" marL="0">
              <a:buNone/>
            </a:pPr>
            <a:r>
              <a:rPr lang="en-US" sz="1200" b="1" dirty="0">
                <a:solidFill>
                  <a:srgbClr val="132257"/>
                </a:solidFill>
                <a:latin typeface="Exo 2" pitchFamily="34" charset="0"/>
                <a:ea typeface="Exo 2" pitchFamily="34" charset="-122"/>
                <a:cs typeface="Exo 2" pitchFamily="34" charset="-120"/>
              </a:rPr>
              <a:t>LinkedIn lead generation, Saudi</a:t>
            </a:r>
            <a:endParaRPr lang="en-US" sz="1200" dirty="0"/>
          </a:p>
        </p:txBody>
      </p:sp>
      <p:sp>
        <p:nvSpPr>
          <p:cNvPr id="33" name="Shape 27"/>
          <p:cNvSpPr/>
          <p:nvPr/>
        </p:nvSpPr>
        <p:spPr>
          <a:xfrm>
            <a:off x="3493008" y="2560320"/>
            <a:ext cx="2377440" cy="548640"/>
          </a:xfrm>
          <a:prstGeom prst="rect">
            <a:avLst/>
          </a:prstGeom>
          <a:solidFill>
            <a:srgbClr val="EEF1F8"/>
          </a:solidFill>
          <a:ln w="9525">
            <a:solidFill>
              <a:srgbClr val="D9DFEA"/>
            </a:solidFill>
            <a:prstDash val="solid"/>
          </a:ln>
        </p:spPr>
      </p:sp>
      <p:sp>
        <p:nvSpPr>
          <p:cNvPr id="34" name="Text 28"/>
          <p:cNvSpPr txBox="1"/>
          <p:nvPr/>
        </p:nvSpPr>
        <p:spPr>
          <a:xfrm>
            <a:off x="3602736" y="2560320"/>
            <a:ext cx="2176272" cy="548640"/>
          </a:xfrm>
          <a:prstGeom prst="rect">
            <a:avLst/>
          </a:prstGeom>
          <a:noFill/>
          <a:ln/>
        </p:spPr>
        <p:txBody>
          <a:bodyPr wrap="square" lIns="0" tIns="0" rIns="0" bIns="0" rtlCol="0" anchor="ctr"/>
          <a:lstStyle/>
          <a:p>
            <a:pPr algn="l" indent="0" marL="0">
              <a:buNone/>
            </a:pPr>
            <a:r>
              <a:rPr lang="en-US" sz="1200" dirty="0">
                <a:solidFill>
                  <a:srgbClr val="1F2A44"/>
                </a:solidFill>
                <a:latin typeface="Exo 2" pitchFamily="34" charset="0"/>
                <a:ea typeface="Exo 2" pitchFamily="34" charset="-122"/>
                <a:cs typeface="Exo 2" pitchFamily="34" charset="-120"/>
              </a:rPr>
              <a:t>Affluent</a:t>
            </a:r>
            <a:endParaRPr lang="en-US" sz="1200" dirty="0"/>
          </a:p>
        </p:txBody>
      </p:sp>
      <p:sp>
        <p:nvSpPr>
          <p:cNvPr id="35" name="Shape 29"/>
          <p:cNvSpPr/>
          <p:nvPr/>
        </p:nvSpPr>
        <p:spPr>
          <a:xfrm>
            <a:off x="5870448" y="2560320"/>
            <a:ext cx="1737360" cy="548640"/>
          </a:xfrm>
          <a:prstGeom prst="rect">
            <a:avLst/>
          </a:prstGeom>
          <a:solidFill>
            <a:srgbClr val="EEF1F8"/>
          </a:solidFill>
          <a:ln w="9525">
            <a:solidFill>
              <a:srgbClr val="D9DFEA"/>
            </a:solidFill>
            <a:prstDash val="solid"/>
          </a:ln>
        </p:spPr>
      </p:sp>
      <p:sp>
        <p:nvSpPr>
          <p:cNvPr id="36" name="Text 30"/>
          <p:cNvSpPr txBox="1"/>
          <p:nvPr/>
        </p:nvSpPr>
        <p:spPr>
          <a:xfrm>
            <a:off x="5980176" y="2560320"/>
            <a:ext cx="1536192" cy="548640"/>
          </a:xfrm>
          <a:prstGeom prst="rect">
            <a:avLst/>
          </a:prstGeom>
          <a:noFill/>
          <a:ln/>
        </p:spPr>
        <p:txBody>
          <a:bodyPr wrap="square" lIns="0" tIns="0" rIns="0" bIns="0" rtlCol="0" anchor="ctr"/>
          <a:lstStyle/>
          <a:p>
            <a:pPr algn="l" indent="0" marL="0">
              <a:buNone/>
            </a:pPr>
            <a:r>
              <a:rPr lang="en-US" sz="1200" dirty="0">
                <a:solidFill>
                  <a:srgbClr val="1F2A44"/>
                </a:solidFill>
                <a:latin typeface="Exo 2" pitchFamily="34" charset="0"/>
                <a:ea typeface="Exo 2" pitchFamily="34" charset="-122"/>
                <a:cs typeface="Exo 2" pitchFamily="34" charset="-120"/>
              </a:rPr>
              <a:t>Oct to Dec</a:t>
            </a:r>
            <a:endParaRPr lang="en-US" sz="1200" dirty="0"/>
          </a:p>
        </p:txBody>
      </p:sp>
      <p:sp>
        <p:nvSpPr>
          <p:cNvPr id="37" name="Shape 31"/>
          <p:cNvSpPr/>
          <p:nvPr/>
        </p:nvSpPr>
        <p:spPr>
          <a:xfrm>
            <a:off x="7607808" y="2560320"/>
            <a:ext cx="2194560" cy="548640"/>
          </a:xfrm>
          <a:prstGeom prst="rect">
            <a:avLst/>
          </a:prstGeom>
          <a:solidFill>
            <a:srgbClr val="EEF1F8"/>
          </a:solidFill>
          <a:ln w="9525">
            <a:solidFill>
              <a:srgbClr val="D9DFEA"/>
            </a:solidFill>
            <a:prstDash val="solid"/>
          </a:ln>
        </p:spPr>
      </p:sp>
      <p:sp>
        <p:nvSpPr>
          <p:cNvPr id="38" name="Text 32"/>
          <p:cNvSpPr txBox="1"/>
          <p:nvPr/>
        </p:nvSpPr>
        <p:spPr>
          <a:xfrm>
            <a:off x="7717536" y="2560320"/>
            <a:ext cx="1993392" cy="548640"/>
          </a:xfrm>
          <a:prstGeom prst="rect">
            <a:avLst/>
          </a:prstGeom>
          <a:noFill/>
          <a:ln/>
        </p:spPr>
        <p:txBody>
          <a:bodyPr wrap="square" lIns="0" tIns="0" rIns="0" bIns="0" rtlCol="0" anchor="ctr"/>
          <a:lstStyle/>
          <a:p>
            <a:pPr algn="l" indent="0" marL="0">
              <a:buNone/>
            </a:pPr>
            <a:r>
              <a:rPr lang="en-US" sz="1200" b="1" dirty="0">
                <a:solidFill>
                  <a:srgbClr val="1F2A44"/>
                </a:solidFill>
                <a:latin typeface="Exo 2" pitchFamily="34" charset="0"/>
                <a:ea typeface="Exo 2" pitchFamily="34" charset="-122"/>
                <a:cs typeface="Exo 2" pitchFamily="34" charset="-120"/>
              </a:rPr>
              <a:t>USD 9,000</a:t>
            </a:r>
            <a:endParaRPr lang="en-US" sz="1200" dirty="0"/>
          </a:p>
        </p:txBody>
      </p:sp>
      <p:sp>
        <p:nvSpPr>
          <p:cNvPr id="39" name="Shape 33"/>
          <p:cNvSpPr/>
          <p:nvPr/>
        </p:nvSpPr>
        <p:spPr>
          <a:xfrm>
            <a:off x="9802368" y="2560320"/>
            <a:ext cx="1828800" cy="548640"/>
          </a:xfrm>
          <a:prstGeom prst="rect">
            <a:avLst/>
          </a:prstGeom>
          <a:solidFill>
            <a:srgbClr val="EEF1F8"/>
          </a:solidFill>
          <a:ln w="9525">
            <a:solidFill>
              <a:srgbClr val="D9DFEA"/>
            </a:solidFill>
            <a:prstDash val="solid"/>
          </a:ln>
        </p:spPr>
      </p:sp>
      <p:sp>
        <p:nvSpPr>
          <p:cNvPr id="40" name="Text 34"/>
          <p:cNvSpPr txBox="1"/>
          <p:nvPr/>
        </p:nvSpPr>
        <p:spPr>
          <a:xfrm>
            <a:off x="9912096" y="2560320"/>
            <a:ext cx="1627632" cy="548640"/>
          </a:xfrm>
          <a:prstGeom prst="rect">
            <a:avLst/>
          </a:prstGeom>
          <a:noFill/>
          <a:ln/>
        </p:spPr>
        <p:txBody>
          <a:bodyPr wrap="square" lIns="0" tIns="0" rIns="0" bIns="0" rtlCol="0" anchor="ctr"/>
          <a:lstStyle/>
          <a:p>
            <a:pPr algn="l" indent="0" marL="0">
              <a:buNone/>
            </a:pPr>
            <a:r>
              <a:rPr lang="en-US" sz="1200" b="1" dirty="0">
                <a:solidFill>
                  <a:srgbClr val="132257"/>
                </a:solidFill>
                <a:latin typeface="Exo 2" pitchFamily="34" charset="0"/>
                <a:ea typeface="Exo 2" pitchFamily="34" charset="-122"/>
                <a:cs typeface="Exo 2" pitchFamily="34" charset="-120"/>
              </a:rPr>
              <a:t>Launching Oct</a:t>
            </a:r>
            <a:endParaRPr lang="en-US" sz="1200" dirty="0"/>
          </a:p>
        </p:txBody>
      </p:sp>
      <p:sp>
        <p:nvSpPr>
          <p:cNvPr id="41" name="Shape 35"/>
          <p:cNvSpPr/>
          <p:nvPr/>
        </p:nvSpPr>
        <p:spPr>
          <a:xfrm>
            <a:off x="566928" y="3108960"/>
            <a:ext cx="2926080" cy="548640"/>
          </a:xfrm>
          <a:prstGeom prst="rect">
            <a:avLst/>
          </a:prstGeom>
          <a:solidFill>
            <a:srgbClr val="FFFFFF"/>
          </a:solidFill>
          <a:ln w="9525">
            <a:solidFill>
              <a:srgbClr val="D9DFEA"/>
            </a:solidFill>
            <a:prstDash val="solid"/>
          </a:ln>
        </p:spPr>
      </p:sp>
      <p:sp>
        <p:nvSpPr>
          <p:cNvPr id="42" name="Text 36"/>
          <p:cNvSpPr txBox="1"/>
          <p:nvPr/>
        </p:nvSpPr>
        <p:spPr>
          <a:xfrm>
            <a:off x="676656" y="3108960"/>
            <a:ext cx="2724912" cy="548640"/>
          </a:xfrm>
          <a:prstGeom prst="rect">
            <a:avLst/>
          </a:prstGeom>
          <a:noFill/>
          <a:ln/>
        </p:spPr>
        <p:txBody>
          <a:bodyPr wrap="square" lIns="0" tIns="0" rIns="0" bIns="0" rtlCol="0" anchor="ctr"/>
          <a:lstStyle/>
          <a:p>
            <a:pPr algn="l" indent="0" marL="0">
              <a:buNone/>
            </a:pPr>
            <a:r>
              <a:rPr lang="en-US" sz="1200" b="1" dirty="0">
                <a:solidFill>
                  <a:srgbClr val="132257"/>
                </a:solidFill>
                <a:latin typeface="Exo 2" pitchFamily="34" charset="0"/>
                <a:ea typeface="Exo 2" pitchFamily="34" charset="-122"/>
                <a:cs typeface="Exo 2" pitchFamily="34" charset="-120"/>
              </a:rPr>
              <a:t>Google and LinkedIn, rest of GCC</a:t>
            </a:r>
            <a:endParaRPr lang="en-US" sz="1200" dirty="0"/>
          </a:p>
        </p:txBody>
      </p:sp>
      <p:sp>
        <p:nvSpPr>
          <p:cNvPr id="43" name="Shape 37"/>
          <p:cNvSpPr/>
          <p:nvPr/>
        </p:nvSpPr>
        <p:spPr>
          <a:xfrm>
            <a:off x="3493008" y="3108960"/>
            <a:ext cx="2377440" cy="548640"/>
          </a:xfrm>
          <a:prstGeom prst="rect">
            <a:avLst/>
          </a:prstGeom>
          <a:solidFill>
            <a:srgbClr val="FFFFFF"/>
          </a:solidFill>
          <a:ln w="9525">
            <a:solidFill>
              <a:srgbClr val="D9DFEA"/>
            </a:solidFill>
            <a:prstDash val="solid"/>
          </a:ln>
        </p:spPr>
      </p:sp>
      <p:sp>
        <p:nvSpPr>
          <p:cNvPr id="44" name="Text 38"/>
          <p:cNvSpPr txBox="1"/>
          <p:nvPr/>
        </p:nvSpPr>
        <p:spPr>
          <a:xfrm>
            <a:off x="3602736" y="3108960"/>
            <a:ext cx="2176272" cy="548640"/>
          </a:xfrm>
          <a:prstGeom prst="rect">
            <a:avLst/>
          </a:prstGeom>
          <a:noFill/>
          <a:ln/>
        </p:spPr>
        <p:txBody>
          <a:bodyPr wrap="square" lIns="0" tIns="0" rIns="0" bIns="0" rtlCol="0" anchor="ctr"/>
          <a:lstStyle/>
          <a:p>
            <a:pPr algn="l" indent="0" marL="0">
              <a:buNone/>
            </a:pPr>
            <a:r>
              <a:rPr lang="en-US" sz="1200" dirty="0">
                <a:solidFill>
                  <a:srgbClr val="1F2A44"/>
                </a:solidFill>
                <a:latin typeface="Exo 2" pitchFamily="34" charset="0"/>
                <a:ea typeface="Exo 2" pitchFamily="34" charset="-122"/>
                <a:cs typeface="Exo 2" pitchFamily="34" charset="-120"/>
              </a:rPr>
              <a:t>All segments</a:t>
            </a:r>
            <a:endParaRPr lang="en-US" sz="1200" dirty="0"/>
          </a:p>
        </p:txBody>
      </p:sp>
      <p:sp>
        <p:nvSpPr>
          <p:cNvPr id="45" name="Shape 39"/>
          <p:cNvSpPr/>
          <p:nvPr/>
        </p:nvSpPr>
        <p:spPr>
          <a:xfrm>
            <a:off x="5870448" y="3108960"/>
            <a:ext cx="1737360" cy="548640"/>
          </a:xfrm>
          <a:prstGeom prst="rect">
            <a:avLst/>
          </a:prstGeom>
          <a:solidFill>
            <a:srgbClr val="FFFFFF"/>
          </a:solidFill>
          <a:ln w="9525">
            <a:solidFill>
              <a:srgbClr val="D9DFEA"/>
            </a:solidFill>
            <a:prstDash val="solid"/>
          </a:ln>
        </p:spPr>
      </p:sp>
      <p:sp>
        <p:nvSpPr>
          <p:cNvPr id="46" name="Text 40"/>
          <p:cNvSpPr txBox="1"/>
          <p:nvPr/>
        </p:nvSpPr>
        <p:spPr>
          <a:xfrm>
            <a:off x="5980176" y="3108960"/>
            <a:ext cx="1536192" cy="548640"/>
          </a:xfrm>
          <a:prstGeom prst="rect">
            <a:avLst/>
          </a:prstGeom>
          <a:noFill/>
          <a:ln/>
        </p:spPr>
        <p:txBody>
          <a:bodyPr wrap="square" lIns="0" tIns="0" rIns="0" bIns="0" rtlCol="0" anchor="ctr"/>
          <a:lstStyle/>
          <a:p>
            <a:pPr algn="l" indent="0" marL="0">
              <a:buNone/>
            </a:pPr>
            <a:r>
              <a:rPr lang="en-US" sz="1200" dirty="0">
                <a:solidFill>
                  <a:srgbClr val="1F2A44"/>
                </a:solidFill>
                <a:latin typeface="Exo 2" pitchFamily="34" charset="0"/>
                <a:ea typeface="Exo 2" pitchFamily="34" charset="-122"/>
                <a:cs typeface="Exo 2" pitchFamily="34" charset="-120"/>
              </a:rPr>
              <a:t>Nov to Dec</a:t>
            </a:r>
            <a:endParaRPr lang="en-US" sz="1200" dirty="0"/>
          </a:p>
        </p:txBody>
      </p:sp>
      <p:sp>
        <p:nvSpPr>
          <p:cNvPr id="47" name="Shape 41"/>
          <p:cNvSpPr/>
          <p:nvPr/>
        </p:nvSpPr>
        <p:spPr>
          <a:xfrm>
            <a:off x="7607808" y="3108960"/>
            <a:ext cx="2194560" cy="548640"/>
          </a:xfrm>
          <a:prstGeom prst="rect">
            <a:avLst/>
          </a:prstGeom>
          <a:solidFill>
            <a:srgbClr val="FFFFFF"/>
          </a:solidFill>
          <a:ln w="9525">
            <a:solidFill>
              <a:srgbClr val="D9DFEA"/>
            </a:solidFill>
            <a:prstDash val="solid"/>
          </a:ln>
        </p:spPr>
      </p:sp>
      <p:sp>
        <p:nvSpPr>
          <p:cNvPr id="48" name="Text 42"/>
          <p:cNvSpPr txBox="1"/>
          <p:nvPr/>
        </p:nvSpPr>
        <p:spPr>
          <a:xfrm>
            <a:off x="7717536" y="3108960"/>
            <a:ext cx="1993392" cy="548640"/>
          </a:xfrm>
          <a:prstGeom prst="rect">
            <a:avLst/>
          </a:prstGeom>
          <a:noFill/>
          <a:ln/>
        </p:spPr>
        <p:txBody>
          <a:bodyPr wrap="square" lIns="0" tIns="0" rIns="0" bIns="0" rtlCol="0" anchor="ctr"/>
          <a:lstStyle/>
          <a:p>
            <a:pPr algn="l" indent="0" marL="0">
              <a:buNone/>
            </a:pPr>
            <a:r>
              <a:rPr lang="en-US" sz="1200" b="1" dirty="0">
                <a:solidFill>
                  <a:srgbClr val="1F2A44"/>
                </a:solidFill>
                <a:latin typeface="Exo 2" pitchFamily="34" charset="0"/>
                <a:ea typeface="Exo 2" pitchFamily="34" charset="-122"/>
                <a:cs typeface="Exo 2" pitchFamily="34" charset="-120"/>
              </a:rPr>
              <a:t>USD 12,000</a:t>
            </a:r>
            <a:endParaRPr lang="en-US" sz="1200" dirty="0"/>
          </a:p>
        </p:txBody>
      </p:sp>
      <p:sp>
        <p:nvSpPr>
          <p:cNvPr id="49" name="Shape 43"/>
          <p:cNvSpPr/>
          <p:nvPr/>
        </p:nvSpPr>
        <p:spPr>
          <a:xfrm>
            <a:off x="9802368" y="3108960"/>
            <a:ext cx="1828800" cy="548640"/>
          </a:xfrm>
          <a:prstGeom prst="rect">
            <a:avLst/>
          </a:prstGeom>
          <a:solidFill>
            <a:srgbClr val="FFFFFF"/>
          </a:solidFill>
          <a:ln w="9525">
            <a:solidFill>
              <a:srgbClr val="D9DFEA"/>
            </a:solidFill>
            <a:prstDash val="solid"/>
          </a:ln>
        </p:spPr>
      </p:sp>
      <p:sp>
        <p:nvSpPr>
          <p:cNvPr id="50" name="Text 44"/>
          <p:cNvSpPr txBox="1"/>
          <p:nvPr/>
        </p:nvSpPr>
        <p:spPr>
          <a:xfrm>
            <a:off x="9912096" y="3108960"/>
            <a:ext cx="1627632" cy="548640"/>
          </a:xfrm>
          <a:prstGeom prst="rect">
            <a:avLst/>
          </a:prstGeom>
          <a:noFill/>
          <a:ln/>
        </p:spPr>
        <p:txBody>
          <a:bodyPr wrap="square" lIns="0" tIns="0" rIns="0" bIns="0" rtlCol="0" anchor="ctr"/>
          <a:lstStyle/>
          <a:p>
            <a:pPr algn="l" indent="0" marL="0">
              <a:buNone/>
            </a:pPr>
            <a:r>
              <a:rPr lang="en-US" sz="1200" b="1" dirty="0">
                <a:solidFill>
                  <a:srgbClr val="132257"/>
                </a:solidFill>
                <a:latin typeface="Exo 2" pitchFamily="34" charset="0"/>
                <a:ea typeface="Exo 2" pitchFamily="34" charset="-122"/>
                <a:cs typeface="Exo 2" pitchFamily="34" charset="-120"/>
              </a:rPr>
              <a:t>Planned</a:t>
            </a:r>
            <a:endParaRPr lang="en-US" sz="1200" dirty="0"/>
          </a:p>
        </p:txBody>
      </p:sp>
      <p:sp>
        <p:nvSpPr>
          <p:cNvPr id="51" name="Shape 45"/>
          <p:cNvSpPr/>
          <p:nvPr/>
        </p:nvSpPr>
        <p:spPr>
          <a:xfrm>
            <a:off x="566928" y="3657600"/>
            <a:ext cx="2926080" cy="548640"/>
          </a:xfrm>
          <a:prstGeom prst="rect">
            <a:avLst/>
          </a:prstGeom>
          <a:solidFill>
            <a:srgbClr val="EEF1F8"/>
          </a:solidFill>
          <a:ln w="9525">
            <a:solidFill>
              <a:srgbClr val="D9DFEA"/>
            </a:solidFill>
            <a:prstDash val="solid"/>
          </a:ln>
        </p:spPr>
      </p:sp>
      <p:sp>
        <p:nvSpPr>
          <p:cNvPr id="52" name="Text 46"/>
          <p:cNvSpPr txBox="1"/>
          <p:nvPr/>
        </p:nvSpPr>
        <p:spPr>
          <a:xfrm>
            <a:off x="676656" y="3657600"/>
            <a:ext cx="2724912" cy="548640"/>
          </a:xfrm>
          <a:prstGeom prst="rect">
            <a:avLst/>
          </a:prstGeom>
          <a:noFill/>
          <a:ln/>
        </p:spPr>
        <p:txBody>
          <a:bodyPr wrap="square" lIns="0" tIns="0" rIns="0" bIns="0" rtlCol="0" anchor="ctr"/>
          <a:lstStyle/>
          <a:p>
            <a:pPr algn="l" indent="0" marL="0">
              <a:buNone/>
            </a:pPr>
            <a:r>
              <a:rPr lang="en-US" sz="1200" b="1" dirty="0">
                <a:solidFill>
                  <a:srgbClr val="132257"/>
                </a:solidFill>
                <a:latin typeface="Exo 2" pitchFamily="34" charset="0"/>
                <a:ea typeface="Exo 2" pitchFamily="34" charset="-122"/>
                <a:cs typeface="Exo 2" pitchFamily="34" charset="-120"/>
              </a:rPr>
              <a:t>Jodel launch burst, all KSA</a:t>
            </a:r>
            <a:endParaRPr lang="en-US" sz="1200" dirty="0"/>
          </a:p>
        </p:txBody>
      </p:sp>
      <p:sp>
        <p:nvSpPr>
          <p:cNvPr id="53" name="Shape 47"/>
          <p:cNvSpPr/>
          <p:nvPr/>
        </p:nvSpPr>
        <p:spPr>
          <a:xfrm>
            <a:off x="3493008" y="3657600"/>
            <a:ext cx="2377440" cy="548640"/>
          </a:xfrm>
          <a:prstGeom prst="rect">
            <a:avLst/>
          </a:prstGeom>
          <a:solidFill>
            <a:srgbClr val="EEF1F8"/>
          </a:solidFill>
          <a:ln w="9525">
            <a:solidFill>
              <a:srgbClr val="D9DFEA"/>
            </a:solidFill>
            <a:prstDash val="solid"/>
          </a:ln>
        </p:spPr>
      </p:sp>
      <p:sp>
        <p:nvSpPr>
          <p:cNvPr id="54" name="Text 48"/>
          <p:cNvSpPr txBox="1"/>
          <p:nvPr/>
        </p:nvSpPr>
        <p:spPr>
          <a:xfrm>
            <a:off x="3602736" y="3657600"/>
            <a:ext cx="2176272" cy="548640"/>
          </a:xfrm>
          <a:prstGeom prst="rect">
            <a:avLst/>
          </a:prstGeom>
          <a:noFill/>
          <a:ln/>
        </p:spPr>
        <p:txBody>
          <a:bodyPr wrap="square" lIns="0" tIns="0" rIns="0" bIns="0" rtlCol="0" anchor="ctr"/>
          <a:lstStyle/>
          <a:p>
            <a:pPr algn="l" indent="0" marL="0">
              <a:buNone/>
            </a:pPr>
            <a:r>
              <a:rPr lang="en-US" sz="1200" dirty="0">
                <a:solidFill>
                  <a:srgbClr val="1F2A44"/>
                </a:solidFill>
                <a:latin typeface="Exo 2" pitchFamily="34" charset="0"/>
                <a:ea typeface="Exo 2" pitchFamily="34" charset="-122"/>
                <a:cs typeface="Exo 2" pitchFamily="34" charset="-120"/>
              </a:rPr>
              <a:t>Students, ages 21 to 35</a:t>
            </a:r>
            <a:endParaRPr lang="en-US" sz="1200" dirty="0"/>
          </a:p>
        </p:txBody>
      </p:sp>
      <p:sp>
        <p:nvSpPr>
          <p:cNvPr id="55" name="Shape 49"/>
          <p:cNvSpPr/>
          <p:nvPr/>
        </p:nvSpPr>
        <p:spPr>
          <a:xfrm>
            <a:off x="5870448" y="3657600"/>
            <a:ext cx="1737360" cy="548640"/>
          </a:xfrm>
          <a:prstGeom prst="rect">
            <a:avLst/>
          </a:prstGeom>
          <a:solidFill>
            <a:srgbClr val="EEF1F8"/>
          </a:solidFill>
          <a:ln w="9525">
            <a:solidFill>
              <a:srgbClr val="D9DFEA"/>
            </a:solidFill>
            <a:prstDash val="solid"/>
          </a:ln>
        </p:spPr>
      </p:sp>
      <p:sp>
        <p:nvSpPr>
          <p:cNvPr id="56" name="Text 50"/>
          <p:cNvSpPr txBox="1"/>
          <p:nvPr/>
        </p:nvSpPr>
        <p:spPr>
          <a:xfrm>
            <a:off x="5980176" y="3657600"/>
            <a:ext cx="1536192" cy="548640"/>
          </a:xfrm>
          <a:prstGeom prst="rect">
            <a:avLst/>
          </a:prstGeom>
          <a:noFill/>
          <a:ln/>
        </p:spPr>
        <p:txBody>
          <a:bodyPr wrap="square" lIns="0" tIns="0" rIns="0" bIns="0" rtlCol="0" anchor="ctr"/>
          <a:lstStyle/>
          <a:p>
            <a:pPr algn="l" indent="0" marL="0">
              <a:buNone/>
            </a:pPr>
            <a:r>
              <a:rPr lang="en-US" sz="1200" dirty="0">
                <a:solidFill>
                  <a:srgbClr val="1F2A44"/>
                </a:solidFill>
                <a:latin typeface="Exo 2" pitchFamily="34" charset="0"/>
                <a:ea typeface="Exo 2" pitchFamily="34" charset="-122"/>
                <a:cs typeface="Exo 2" pitchFamily="34" charset="-120"/>
              </a:rPr>
              <a:t>7 days</a:t>
            </a:r>
            <a:endParaRPr lang="en-US" sz="1200" dirty="0"/>
          </a:p>
        </p:txBody>
      </p:sp>
      <p:sp>
        <p:nvSpPr>
          <p:cNvPr id="57" name="Shape 51"/>
          <p:cNvSpPr/>
          <p:nvPr/>
        </p:nvSpPr>
        <p:spPr>
          <a:xfrm>
            <a:off x="7607808" y="3657600"/>
            <a:ext cx="2194560" cy="548640"/>
          </a:xfrm>
          <a:prstGeom prst="rect">
            <a:avLst/>
          </a:prstGeom>
          <a:solidFill>
            <a:srgbClr val="EEF1F8"/>
          </a:solidFill>
          <a:ln w="9525">
            <a:solidFill>
              <a:srgbClr val="D9DFEA"/>
            </a:solidFill>
            <a:prstDash val="solid"/>
          </a:ln>
        </p:spPr>
      </p:sp>
      <p:sp>
        <p:nvSpPr>
          <p:cNvPr id="58" name="Text 52"/>
          <p:cNvSpPr txBox="1"/>
          <p:nvPr/>
        </p:nvSpPr>
        <p:spPr>
          <a:xfrm>
            <a:off x="7717536" y="3657600"/>
            <a:ext cx="1993392" cy="548640"/>
          </a:xfrm>
          <a:prstGeom prst="rect">
            <a:avLst/>
          </a:prstGeom>
          <a:noFill/>
          <a:ln/>
        </p:spPr>
        <p:txBody>
          <a:bodyPr wrap="square" lIns="0" tIns="0" rIns="0" bIns="0" rtlCol="0" anchor="ctr"/>
          <a:lstStyle/>
          <a:p>
            <a:pPr algn="l" indent="0" marL="0">
              <a:buNone/>
            </a:pPr>
            <a:r>
              <a:rPr lang="en-US" sz="1200" b="1" dirty="0">
                <a:solidFill>
                  <a:srgbClr val="1F2A44"/>
                </a:solidFill>
                <a:latin typeface="Exo 2" pitchFamily="34" charset="0"/>
                <a:ea typeface="Exo 2" pitchFamily="34" charset="-122"/>
                <a:cs typeface="Exo 2" pitchFamily="34" charset="-120"/>
              </a:rPr>
              <a:t>USD 3,862.50 + VAT</a:t>
            </a:r>
            <a:endParaRPr lang="en-US" sz="1200" dirty="0"/>
          </a:p>
        </p:txBody>
      </p:sp>
      <p:sp>
        <p:nvSpPr>
          <p:cNvPr id="59" name="Shape 53"/>
          <p:cNvSpPr/>
          <p:nvPr/>
        </p:nvSpPr>
        <p:spPr>
          <a:xfrm>
            <a:off x="9802368" y="3657600"/>
            <a:ext cx="1828800" cy="548640"/>
          </a:xfrm>
          <a:prstGeom prst="rect">
            <a:avLst/>
          </a:prstGeom>
          <a:solidFill>
            <a:srgbClr val="EEF1F8"/>
          </a:solidFill>
          <a:ln w="9525">
            <a:solidFill>
              <a:srgbClr val="D9DFEA"/>
            </a:solidFill>
            <a:prstDash val="solid"/>
          </a:ln>
        </p:spPr>
      </p:sp>
      <p:sp>
        <p:nvSpPr>
          <p:cNvPr id="60" name="Text 54"/>
          <p:cNvSpPr txBox="1"/>
          <p:nvPr/>
        </p:nvSpPr>
        <p:spPr>
          <a:xfrm>
            <a:off x="9912096" y="3657600"/>
            <a:ext cx="1627632" cy="548640"/>
          </a:xfrm>
          <a:prstGeom prst="rect">
            <a:avLst/>
          </a:prstGeom>
          <a:noFill/>
          <a:ln/>
        </p:spPr>
        <p:txBody>
          <a:bodyPr wrap="square" lIns="0" tIns="0" rIns="0" bIns="0" rtlCol="0" anchor="ctr"/>
          <a:lstStyle/>
          <a:p>
            <a:pPr algn="l" indent="0" marL="0">
              <a:buNone/>
            </a:pPr>
            <a:r>
              <a:rPr lang="en-US" sz="1200" b="1" dirty="0">
                <a:solidFill>
                  <a:srgbClr val="9A7B1F"/>
                </a:solidFill>
                <a:latin typeface="Exo 2" pitchFamily="34" charset="0"/>
                <a:ea typeface="Exo 2" pitchFamily="34" charset="-122"/>
                <a:cs typeface="Exo 2" pitchFamily="34" charset="-120"/>
              </a:rPr>
              <a:t>Proposed</a:t>
            </a:r>
            <a:endParaRPr lang="en-US" sz="1200" dirty="0"/>
          </a:p>
        </p:txBody>
      </p:sp>
      <p:sp>
        <p:nvSpPr>
          <p:cNvPr id="61" name="Shape 55"/>
          <p:cNvSpPr/>
          <p:nvPr/>
        </p:nvSpPr>
        <p:spPr>
          <a:xfrm>
            <a:off x="566928" y="4206240"/>
            <a:ext cx="2926080" cy="548640"/>
          </a:xfrm>
          <a:prstGeom prst="rect">
            <a:avLst/>
          </a:prstGeom>
          <a:solidFill>
            <a:srgbClr val="FFFFFF"/>
          </a:solidFill>
          <a:ln w="9525">
            <a:solidFill>
              <a:srgbClr val="D9DFEA"/>
            </a:solidFill>
            <a:prstDash val="solid"/>
          </a:ln>
        </p:spPr>
      </p:sp>
      <p:sp>
        <p:nvSpPr>
          <p:cNvPr id="62" name="Text 56"/>
          <p:cNvSpPr txBox="1"/>
          <p:nvPr/>
        </p:nvSpPr>
        <p:spPr>
          <a:xfrm>
            <a:off x="676656" y="4206240"/>
            <a:ext cx="2724912" cy="548640"/>
          </a:xfrm>
          <a:prstGeom prst="rect">
            <a:avLst/>
          </a:prstGeom>
          <a:noFill/>
          <a:ln/>
        </p:spPr>
        <p:txBody>
          <a:bodyPr wrap="square" lIns="0" tIns="0" rIns="0" bIns="0" rtlCol="0" anchor="ctr"/>
          <a:lstStyle/>
          <a:p>
            <a:pPr algn="l" indent="0" marL="0">
              <a:buNone/>
            </a:pPr>
            <a:r>
              <a:rPr lang="en-US" sz="1200" b="1" dirty="0">
                <a:solidFill>
                  <a:srgbClr val="132257"/>
                </a:solidFill>
                <a:latin typeface="Exo 2" pitchFamily="34" charset="0"/>
                <a:ea typeface="Exo 2" pitchFamily="34" charset="-122"/>
                <a:cs typeface="Exo 2" pitchFamily="34" charset="-120"/>
              </a:rPr>
              <a:t>Outdoor and elevator screens, KSA</a:t>
            </a:r>
            <a:endParaRPr lang="en-US" sz="1200" dirty="0"/>
          </a:p>
        </p:txBody>
      </p:sp>
      <p:sp>
        <p:nvSpPr>
          <p:cNvPr id="63" name="Shape 57"/>
          <p:cNvSpPr/>
          <p:nvPr/>
        </p:nvSpPr>
        <p:spPr>
          <a:xfrm>
            <a:off x="3493008" y="4206240"/>
            <a:ext cx="2377440" cy="548640"/>
          </a:xfrm>
          <a:prstGeom prst="rect">
            <a:avLst/>
          </a:prstGeom>
          <a:solidFill>
            <a:srgbClr val="FFFFFF"/>
          </a:solidFill>
          <a:ln w="9525">
            <a:solidFill>
              <a:srgbClr val="D9DFEA"/>
            </a:solidFill>
            <a:prstDash val="solid"/>
          </a:ln>
        </p:spPr>
      </p:sp>
      <p:sp>
        <p:nvSpPr>
          <p:cNvPr id="64" name="Text 58"/>
          <p:cNvSpPr txBox="1"/>
          <p:nvPr/>
        </p:nvSpPr>
        <p:spPr>
          <a:xfrm>
            <a:off x="3602736" y="4206240"/>
            <a:ext cx="2176272" cy="548640"/>
          </a:xfrm>
          <a:prstGeom prst="rect">
            <a:avLst/>
          </a:prstGeom>
          <a:noFill/>
          <a:ln/>
        </p:spPr>
        <p:txBody>
          <a:bodyPr wrap="square" lIns="0" tIns="0" rIns="0" bIns="0" rtlCol="0" anchor="ctr"/>
          <a:lstStyle/>
          <a:p>
            <a:pPr algn="l" indent="0" marL="0">
              <a:buNone/>
            </a:pPr>
            <a:r>
              <a:rPr lang="en-US" sz="1200" dirty="0">
                <a:solidFill>
                  <a:srgbClr val="1F2A44"/>
                </a:solidFill>
                <a:latin typeface="Exo 2" pitchFamily="34" charset="0"/>
                <a:ea typeface="Exo 2" pitchFamily="34" charset="-122"/>
                <a:cs typeface="Exo 2" pitchFamily="34" charset="-120"/>
              </a:rPr>
              <a:t>Professionals, high-end</a:t>
            </a:r>
            <a:endParaRPr lang="en-US" sz="1200" dirty="0"/>
          </a:p>
        </p:txBody>
      </p:sp>
      <p:sp>
        <p:nvSpPr>
          <p:cNvPr id="65" name="Shape 59"/>
          <p:cNvSpPr/>
          <p:nvPr/>
        </p:nvSpPr>
        <p:spPr>
          <a:xfrm>
            <a:off x="5870448" y="4206240"/>
            <a:ext cx="1737360" cy="548640"/>
          </a:xfrm>
          <a:prstGeom prst="rect">
            <a:avLst/>
          </a:prstGeom>
          <a:solidFill>
            <a:srgbClr val="FFFFFF"/>
          </a:solidFill>
          <a:ln w="9525">
            <a:solidFill>
              <a:srgbClr val="D9DFEA"/>
            </a:solidFill>
            <a:prstDash val="solid"/>
          </a:ln>
        </p:spPr>
      </p:sp>
      <p:sp>
        <p:nvSpPr>
          <p:cNvPr id="66" name="Text 60"/>
          <p:cNvSpPr txBox="1"/>
          <p:nvPr/>
        </p:nvSpPr>
        <p:spPr>
          <a:xfrm>
            <a:off x="5980176" y="4206240"/>
            <a:ext cx="1536192" cy="548640"/>
          </a:xfrm>
          <a:prstGeom prst="rect">
            <a:avLst/>
          </a:prstGeom>
          <a:noFill/>
          <a:ln/>
        </p:spPr>
        <p:txBody>
          <a:bodyPr wrap="square" lIns="0" tIns="0" rIns="0" bIns="0" rtlCol="0" anchor="ctr"/>
          <a:lstStyle/>
          <a:p>
            <a:pPr algn="l" indent="0" marL="0">
              <a:buNone/>
            </a:pPr>
            <a:r>
              <a:rPr lang="en-US" sz="1200" dirty="0">
                <a:solidFill>
                  <a:srgbClr val="1F2A44"/>
                </a:solidFill>
                <a:latin typeface="Exo 2" pitchFamily="34" charset="0"/>
                <a:ea typeface="Exo 2" pitchFamily="34" charset="-122"/>
                <a:cs typeface="Exo 2" pitchFamily="34" charset="-120"/>
              </a:rPr>
              <a:t>8 weeks</a:t>
            </a:r>
            <a:endParaRPr lang="en-US" sz="1200" dirty="0"/>
          </a:p>
        </p:txBody>
      </p:sp>
      <p:sp>
        <p:nvSpPr>
          <p:cNvPr id="67" name="Shape 61"/>
          <p:cNvSpPr/>
          <p:nvPr/>
        </p:nvSpPr>
        <p:spPr>
          <a:xfrm>
            <a:off x="7607808" y="4206240"/>
            <a:ext cx="2194560" cy="548640"/>
          </a:xfrm>
          <a:prstGeom prst="rect">
            <a:avLst/>
          </a:prstGeom>
          <a:solidFill>
            <a:srgbClr val="FFFFFF"/>
          </a:solidFill>
          <a:ln w="9525">
            <a:solidFill>
              <a:srgbClr val="D9DFEA"/>
            </a:solidFill>
            <a:prstDash val="solid"/>
          </a:ln>
        </p:spPr>
      </p:sp>
      <p:sp>
        <p:nvSpPr>
          <p:cNvPr id="68" name="Text 62"/>
          <p:cNvSpPr txBox="1"/>
          <p:nvPr/>
        </p:nvSpPr>
        <p:spPr>
          <a:xfrm>
            <a:off x="7717536" y="4206240"/>
            <a:ext cx="1993392" cy="548640"/>
          </a:xfrm>
          <a:prstGeom prst="rect">
            <a:avLst/>
          </a:prstGeom>
          <a:noFill/>
          <a:ln/>
        </p:spPr>
        <p:txBody>
          <a:bodyPr wrap="square" lIns="0" tIns="0" rIns="0" bIns="0" rtlCol="0" anchor="ctr"/>
          <a:lstStyle/>
          <a:p>
            <a:pPr algn="l" indent="0" marL="0">
              <a:buNone/>
            </a:pPr>
            <a:r>
              <a:rPr lang="en-US" sz="1200" b="1" dirty="0">
                <a:solidFill>
                  <a:srgbClr val="1F2A44"/>
                </a:solidFill>
                <a:latin typeface="Exo 2" pitchFamily="34" charset="0"/>
                <a:ea typeface="Exo 2" pitchFamily="34" charset="-122"/>
                <a:cs typeface="Exo 2" pitchFamily="34" charset="-120"/>
              </a:rPr>
              <a:t>USD 44,800 + VAT</a:t>
            </a:r>
            <a:endParaRPr lang="en-US" sz="1200" dirty="0"/>
          </a:p>
        </p:txBody>
      </p:sp>
      <p:sp>
        <p:nvSpPr>
          <p:cNvPr id="69" name="Shape 63"/>
          <p:cNvSpPr/>
          <p:nvPr/>
        </p:nvSpPr>
        <p:spPr>
          <a:xfrm>
            <a:off x="9802368" y="4206240"/>
            <a:ext cx="1828800" cy="548640"/>
          </a:xfrm>
          <a:prstGeom prst="rect">
            <a:avLst/>
          </a:prstGeom>
          <a:solidFill>
            <a:srgbClr val="FFFFFF"/>
          </a:solidFill>
          <a:ln w="9525">
            <a:solidFill>
              <a:srgbClr val="D9DFEA"/>
            </a:solidFill>
            <a:prstDash val="solid"/>
          </a:ln>
        </p:spPr>
      </p:sp>
      <p:sp>
        <p:nvSpPr>
          <p:cNvPr id="70" name="Text 64"/>
          <p:cNvSpPr txBox="1"/>
          <p:nvPr/>
        </p:nvSpPr>
        <p:spPr>
          <a:xfrm>
            <a:off x="9912096" y="4206240"/>
            <a:ext cx="1627632" cy="548640"/>
          </a:xfrm>
          <a:prstGeom prst="rect">
            <a:avLst/>
          </a:prstGeom>
          <a:noFill/>
          <a:ln/>
        </p:spPr>
        <p:txBody>
          <a:bodyPr wrap="square" lIns="0" tIns="0" rIns="0" bIns="0" rtlCol="0" anchor="ctr"/>
          <a:lstStyle/>
          <a:p>
            <a:pPr algn="l" indent="0" marL="0">
              <a:buNone/>
            </a:pPr>
            <a:r>
              <a:rPr lang="en-US" sz="1200" b="1" dirty="0">
                <a:solidFill>
                  <a:srgbClr val="9A7B1F"/>
                </a:solidFill>
                <a:latin typeface="Exo 2" pitchFamily="34" charset="0"/>
                <a:ea typeface="Exo 2" pitchFamily="34" charset="-122"/>
                <a:cs typeface="Exo 2" pitchFamily="34" charset="-120"/>
              </a:rPr>
              <a:t>Proposed</a:t>
            </a:r>
            <a:endParaRPr lang="en-US" sz="1200" dirty="0"/>
          </a:p>
        </p:txBody>
      </p:sp>
      <p:sp>
        <p:nvSpPr>
          <p:cNvPr id="71" name="Shape 65"/>
          <p:cNvSpPr/>
          <p:nvPr/>
        </p:nvSpPr>
        <p:spPr>
          <a:xfrm>
            <a:off x="566928" y="4754880"/>
            <a:ext cx="2926080" cy="548640"/>
          </a:xfrm>
          <a:prstGeom prst="rect">
            <a:avLst/>
          </a:prstGeom>
          <a:solidFill>
            <a:srgbClr val="EEF1F8"/>
          </a:solidFill>
          <a:ln w="9525">
            <a:solidFill>
              <a:srgbClr val="D9DFEA"/>
            </a:solidFill>
            <a:prstDash val="solid"/>
          </a:ln>
        </p:spPr>
      </p:sp>
      <p:sp>
        <p:nvSpPr>
          <p:cNvPr id="72" name="Text 66"/>
          <p:cNvSpPr txBox="1"/>
          <p:nvPr/>
        </p:nvSpPr>
        <p:spPr>
          <a:xfrm>
            <a:off x="676656" y="4754880"/>
            <a:ext cx="2724912" cy="548640"/>
          </a:xfrm>
          <a:prstGeom prst="rect">
            <a:avLst/>
          </a:prstGeom>
          <a:noFill/>
          <a:ln/>
        </p:spPr>
        <p:txBody>
          <a:bodyPr wrap="square" lIns="0" tIns="0" rIns="0" bIns="0" rtlCol="0" anchor="ctr"/>
          <a:lstStyle/>
          <a:p>
            <a:pPr algn="l" indent="0" marL="0">
              <a:buNone/>
            </a:pPr>
            <a:r>
              <a:rPr lang="en-US" sz="1200" b="1" dirty="0">
                <a:solidFill>
                  <a:srgbClr val="132257"/>
                </a:solidFill>
                <a:latin typeface="Exo 2" pitchFamily="34" charset="0"/>
                <a:ea typeface="Exo 2" pitchFamily="34" charset="-122"/>
                <a:cs typeface="Exo 2" pitchFamily="34" charset="-120"/>
              </a:rPr>
              <a:t>Saudi creator videos</a:t>
            </a:r>
            <a:endParaRPr lang="en-US" sz="1200" dirty="0"/>
          </a:p>
        </p:txBody>
      </p:sp>
      <p:sp>
        <p:nvSpPr>
          <p:cNvPr id="73" name="Shape 67"/>
          <p:cNvSpPr/>
          <p:nvPr/>
        </p:nvSpPr>
        <p:spPr>
          <a:xfrm>
            <a:off x="3493008" y="4754880"/>
            <a:ext cx="2377440" cy="548640"/>
          </a:xfrm>
          <a:prstGeom prst="rect">
            <a:avLst/>
          </a:prstGeom>
          <a:solidFill>
            <a:srgbClr val="EEF1F8"/>
          </a:solidFill>
          <a:ln w="9525">
            <a:solidFill>
              <a:srgbClr val="D9DFEA"/>
            </a:solidFill>
            <a:prstDash val="solid"/>
          </a:ln>
        </p:spPr>
      </p:sp>
      <p:sp>
        <p:nvSpPr>
          <p:cNvPr id="74" name="Text 68"/>
          <p:cNvSpPr txBox="1"/>
          <p:nvPr/>
        </p:nvSpPr>
        <p:spPr>
          <a:xfrm>
            <a:off x="3602736" y="4754880"/>
            <a:ext cx="2176272" cy="548640"/>
          </a:xfrm>
          <a:prstGeom prst="rect">
            <a:avLst/>
          </a:prstGeom>
          <a:noFill/>
          <a:ln/>
        </p:spPr>
        <p:txBody>
          <a:bodyPr wrap="square" lIns="0" tIns="0" rIns="0" bIns="0" rtlCol="0" anchor="ctr"/>
          <a:lstStyle/>
          <a:p>
            <a:pPr algn="l" indent="0" marL="0">
              <a:buNone/>
            </a:pPr>
            <a:r>
              <a:rPr lang="en-US" sz="1200" dirty="0">
                <a:solidFill>
                  <a:srgbClr val="1F2A44"/>
                </a:solidFill>
                <a:latin typeface="Exo 2" pitchFamily="34" charset="0"/>
                <a:ea typeface="Exo 2" pitchFamily="34" charset="-122"/>
                <a:cs typeface="Exo 2" pitchFamily="34" charset="-120"/>
              </a:rPr>
              <a:t>Starter</a:t>
            </a:r>
            <a:endParaRPr lang="en-US" sz="1200" dirty="0"/>
          </a:p>
        </p:txBody>
      </p:sp>
      <p:sp>
        <p:nvSpPr>
          <p:cNvPr id="75" name="Shape 69"/>
          <p:cNvSpPr/>
          <p:nvPr/>
        </p:nvSpPr>
        <p:spPr>
          <a:xfrm>
            <a:off x="5870448" y="4754880"/>
            <a:ext cx="1737360" cy="548640"/>
          </a:xfrm>
          <a:prstGeom prst="rect">
            <a:avLst/>
          </a:prstGeom>
          <a:solidFill>
            <a:srgbClr val="EEF1F8"/>
          </a:solidFill>
          <a:ln w="9525">
            <a:solidFill>
              <a:srgbClr val="D9DFEA"/>
            </a:solidFill>
            <a:prstDash val="solid"/>
          </a:ln>
        </p:spPr>
      </p:sp>
      <p:sp>
        <p:nvSpPr>
          <p:cNvPr id="76" name="Text 70"/>
          <p:cNvSpPr txBox="1"/>
          <p:nvPr/>
        </p:nvSpPr>
        <p:spPr>
          <a:xfrm>
            <a:off x="5980176" y="4754880"/>
            <a:ext cx="1536192" cy="548640"/>
          </a:xfrm>
          <a:prstGeom prst="rect">
            <a:avLst/>
          </a:prstGeom>
          <a:noFill/>
          <a:ln/>
        </p:spPr>
        <p:txBody>
          <a:bodyPr wrap="square" lIns="0" tIns="0" rIns="0" bIns="0" rtlCol="0" anchor="ctr"/>
          <a:lstStyle/>
          <a:p>
            <a:pPr algn="l" indent="0" marL="0">
              <a:buNone/>
            </a:pPr>
            <a:r>
              <a:rPr lang="en-US" sz="1200" dirty="0">
                <a:solidFill>
                  <a:srgbClr val="1F2A44"/>
                </a:solidFill>
                <a:latin typeface="Exo 2" pitchFamily="34" charset="0"/>
                <a:ea typeface="Exo 2" pitchFamily="34" charset="-122"/>
                <a:cs typeface="Exo 2" pitchFamily="34" charset="-120"/>
              </a:rPr>
              <a:t>Monthly</a:t>
            </a:r>
            <a:endParaRPr lang="en-US" sz="1200" dirty="0"/>
          </a:p>
        </p:txBody>
      </p:sp>
      <p:sp>
        <p:nvSpPr>
          <p:cNvPr id="77" name="Shape 71"/>
          <p:cNvSpPr/>
          <p:nvPr/>
        </p:nvSpPr>
        <p:spPr>
          <a:xfrm>
            <a:off x="7607808" y="4754880"/>
            <a:ext cx="2194560" cy="548640"/>
          </a:xfrm>
          <a:prstGeom prst="rect">
            <a:avLst/>
          </a:prstGeom>
          <a:solidFill>
            <a:srgbClr val="EEF1F8"/>
          </a:solidFill>
          <a:ln w="9525">
            <a:solidFill>
              <a:srgbClr val="D9DFEA"/>
            </a:solidFill>
            <a:prstDash val="solid"/>
          </a:ln>
        </p:spPr>
      </p:sp>
      <p:sp>
        <p:nvSpPr>
          <p:cNvPr id="78" name="Text 72"/>
          <p:cNvSpPr txBox="1"/>
          <p:nvPr/>
        </p:nvSpPr>
        <p:spPr>
          <a:xfrm>
            <a:off x="7717536" y="4754880"/>
            <a:ext cx="1993392" cy="548640"/>
          </a:xfrm>
          <a:prstGeom prst="rect">
            <a:avLst/>
          </a:prstGeom>
          <a:noFill/>
          <a:ln/>
        </p:spPr>
        <p:txBody>
          <a:bodyPr wrap="square" lIns="0" tIns="0" rIns="0" bIns="0" rtlCol="0" anchor="ctr"/>
          <a:lstStyle/>
          <a:p>
            <a:pPr algn="l" indent="0" marL="0">
              <a:buNone/>
            </a:pPr>
            <a:r>
              <a:rPr lang="en-US" sz="1200" dirty="0">
                <a:solidFill>
                  <a:srgbClr val="1F2A44"/>
                </a:solidFill>
                <a:latin typeface="Exo 2" pitchFamily="34" charset="0"/>
                <a:ea typeface="Exo 2" pitchFamily="34" charset="-122"/>
                <a:cs typeface="Exo 2" pitchFamily="34" charset="-120"/>
              </a:rPr>
              <a:t>Per creator</a:t>
            </a:r>
            <a:endParaRPr lang="en-US" sz="1200" dirty="0"/>
          </a:p>
        </p:txBody>
      </p:sp>
      <p:sp>
        <p:nvSpPr>
          <p:cNvPr id="79" name="Shape 73"/>
          <p:cNvSpPr/>
          <p:nvPr/>
        </p:nvSpPr>
        <p:spPr>
          <a:xfrm>
            <a:off x="9802368" y="4754880"/>
            <a:ext cx="1828800" cy="548640"/>
          </a:xfrm>
          <a:prstGeom prst="rect">
            <a:avLst/>
          </a:prstGeom>
          <a:solidFill>
            <a:srgbClr val="EEF1F8"/>
          </a:solidFill>
          <a:ln w="9525">
            <a:solidFill>
              <a:srgbClr val="D9DFEA"/>
            </a:solidFill>
            <a:prstDash val="solid"/>
          </a:ln>
        </p:spPr>
      </p:sp>
      <p:sp>
        <p:nvSpPr>
          <p:cNvPr id="80" name="Text 74"/>
          <p:cNvSpPr txBox="1"/>
          <p:nvPr/>
        </p:nvSpPr>
        <p:spPr>
          <a:xfrm>
            <a:off x="9912096" y="4754880"/>
            <a:ext cx="1627632" cy="548640"/>
          </a:xfrm>
          <a:prstGeom prst="rect">
            <a:avLst/>
          </a:prstGeom>
          <a:noFill/>
          <a:ln/>
        </p:spPr>
        <p:txBody>
          <a:bodyPr wrap="square" lIns="0" tIns="0" rIns="0" bIns="0" rtlCol="0" anchor="ctr"/>
          <a:lstStyle/>
          <a:p>
            <a:pPr algn="l" indent="0" marL="0">
              <a:buNone/>
            </a:pPr>
            <a:r>
              <a:rPr lang="en-US" sz="1200" b="1" dirty="0">
                <a:solidFill>
                  <a:srgbClr val="1BA97C"/>
                </a:solidFill>
                <a:latin typeface="Exo 2" pitchFamily="34" charset="0"/>
                <a:ea typeface="Exo 2" pitchFamily="34" charset="-122"/>
                <a:cs typeface="Exo 2" pitchFamily="34" charset="-120"/>
              </a:rPr>
              <a:t>Live</a:t>
            </a:r>
            <a:endParaRPr lang="en-US" sz="1200" dirty="0"/>
          </a:p>
        </p:txBody>
      </p:sp>
      <p:sp>
        <p:nvSpPr>
          <p:cNvPr id="81" name="Shape 75"/>
          <p:cNvSpPr/>
          <p:nvPr/>
        </p:nvSpPr>
        <p:spPr>
          <a:xfrm>
            <a:off x="566928" y="5440680"/>
            <a:ext cx="3566160" cy="777240"/>
          </a:xfrm>
          <a:prstGeom prst="rect">
            <a:avLst/>
          </a:prstGeom>
          <a:solidFill>
            <a:srgbClr val="FFFFFF"/>
          </a:solidFill>
          <a:ln w="9525">
            <a:solidFill>
              <a:srgbClr val="D9DFEA"/>
            </a:solidFill>
            <a:prstDash val="solid"/>
          </a:ln>
        </p:spPr>
      </p:sp>
      <p:sp>
        <p:nvSpPr>
          <p:cNvPr id="82" name="Shape 76"/>
          <p:cNvSpPr/>
          <p:nvPr/>
        </p:nvSpPr>
        <p:spPr>
          <a:xfrm>
            <a:off x="566928" y="5440680"/>
            <a:ext cx="3566160" cy="41148"/>
          </a:xfrm>
          <a:prstGeom prst="rect">
            <a:avLst/>
          </a:prstGeom>
          <a:solidFill>
            <a:srgbClr val="1BA97C"/>
          </a:solidFill>
          <a:ln w="12700">
            <a:solidFill>
              <a:srgbClr val="1BA97C"/>
            </a:solidFill>
            <a:prstDash val="solid"/>
          </a:ln>
        </p:spPr>
      </p:sp>
      <p:sp>
        <p:nvSpPr>
          <p:cNvPr id="83" name="Text 77"/>
          <p:cNvSpPr txBox="1"/>
          <p:nvPr/>
        </p:nvSpPr>
        <p:spPr>
          <a:xfrm>
            <a:off x="777240" y="5513832"/>
            <a:ext cx="3291840" cy="685800"/>
          </a:xfrm>
          <a:prstGeom prst="rect">
            <a:avLst/>
          </a:prstGeom>
          <a:noFill/>
          <a:ln/>
        </p:spPr>
        <p:txBody>
          <a:bodyPr wrap="square" lIns="0" tIns="0" rIns="0" bIns="0" rtlCol="0" anchor="t"/>
          <a:lstStyle/>
          <a:p>
            <a:pPr indent="0" marL="0">
              <a:buNone/>
            </a:pPr>
            <a:r>
              <a:rPr lang="en-US" sz="1800" b="1" dirty="0">
                <a:solidFill>
                  <a:srgbClr val="132257"/>
                </a:solidFill>
                <a:latin typeface="Exo 2" pitchFamily="34" charset="0"/>
                <a:ea typeface="Exo 2" pitchFamily="34" charset="-122"/>
                <a:cs typeface="Exo 2" pitchFamily="34" charset="-120"/>
              </a:rPr>
              <a:t>USD 30,000</a:t>
            </a:r>
            <a:endParaRPr lang="en-US" sz="1800" dirty="0"/>
          </a:p>
          <a:p>
            <a:pPr indent="0" marL="0">
              <a:buNone/>
            </a:pPr>
            <a:r>
              <a:rPr lang="en-US" sz="1000" dirty="0">
                <a:solidFill>
                  <a:srgbClr val="6B7590"/>
                </a:solidFill>
                <a:latin typeface="Exo 2" pitchFamily="34" charset="0"/>
                <a:ea typeface="Exo 2" pitchFamily="34" charset="-122"/>
                <a:cs typeface="Exo 2" pitchFamily="34" charset="-120"/>
              </a:rPr>
              <a:t>Approved: Google and LinkedIn, Sep to Dec</a:t>
            </a:r>
            <a:endParaRPr lang="en-US" sz="1800" dirty="0"/>
          </a:p>
        </p:txBody>
      </p:sp>
      <p:sp>
        <p:nvSpPr>
          <p:cNvPr id="84" name="Shape 78"/>
          <p:cNvSpPr/>
          <p:nvPr/>
        </p:nvSpPr>
        <p:spPr>
          <a:xfrm>
            <a:off x="4315968" y="5440680"/>
            <a:ext cx="3566160" cy="777240"/>
          </a:xfrm>
          <a:prstGeom prst="rect">
            <a:avLst/>
          </a:prstGeom>
          <a:solidFill>
            <a:srgbClr val="FFFFFF"/>
          </a:solidFill>
          <a:ln w="9525">
            <a:solidFill>
              <a:srgbClr val="D9DFEA"/>
            </a:solidFill>
            <a:prstDash val="solid"/>
          </a:ln>
        </p:spPr>
      </p:sp>
      <p:sp>
        <p:nvSpPr>
          <p:cNvPr id="85" name="Shape 79"/>
          <p:cNvSpPr/>
          <p:nvPr/>
        </p:nvSpPr>
        <p:spPr>
          <a:xfrm>
            <a:off x="4315968" y="5440680"/>
            <a:ext cx="3566160" cy="41148"/>
          </a:xfrm>
          <a:prstGeom prst="rect">
            <a:avLst/>
          </a:prstGeom>
          <a:solidFill>
            <a:srgbClr val="D4AF37"/>
          </a:solidFill>
          <a:ln w="12700">
            <a:solidFill>
              <a:srgbClr val="D4AF37"/>
            </a:solidFill>
            <a:prstDash val="solid"/>
          </a:ln>
        </p:spPr>
      </p:sp>
      <p:sp>
        <p:nvSpPr>
          <p:cNvPr id="86" name="Text 80"/>
          <p:cNvSpPr txBox="1"/>
          <p:nvPr/>
        </p:nvSpPr>
        <p:spPr>
          <a:xfrm>
            <a:off x="4526280" y="5513832"/>
            <a:ext cx="3291840" cy="685800"/>
          </a:xfrm>
          <a:prstGeom prst="rect">
            <a:avLst/>
          </a:prstGeom>
          <a:noFill/>
          <a:ln/>
        </p:spPr>
        <p:txBody>
          <a:bodyPr wrap="square" lIns="0" tIns="0" rIns="0" bIns="0" rtlCol="0" anchor="t"/>
          <a:lstStyle/>
          <a:p>
            <a:pPr indent="0" marL="0">
              <a:buNone/>
            </a:pPr>
            <a:r>
              <a:rPr lang="en-US" sz="1800" b="1" dirty="0">
                <a:solidFill>
                  <a:srgbClr val="132257"/>
                </a:solidFill>
                <a:latin typeface="Exo 2" pitchFamily="34" charset="0"/>
                <a:ea typeface="Exo 2" pitchFamily="34" charset="-122"/>
                <a:cs typeface="Exo 2" pitchFamily="34" charset="-120"/>
              </a:rPr>
              <a:t>About USD 48,700</a:t>
            </a:r>
            <a:endParaRPr lang="en-US" sz="1800" dirty="0"/>
          </a:p>
          <a:p>
            <a:pPr indent="0" marL="0">
              <a:buNone/>
            </a:pPr>
            <a:r>
              <a:rPr lang="en-US" sz="1000" dirty="0">
                <a:solidFill>
                  <a:srgbClr val="6B7590"/>
                </a:solidFill>
                <a:latin typeface="Exo 2" pitchFamily="34" charset="0"/>
                <a:ea typeface="Exo 2" pitchFamily="34" charset="-122"/>
                <a:cs typeface="Exo 2" pitchFamily="34" charset="-120"/>
              </a:rPr>
              <a:t>Proposed: Jodel and outdoor, before VAT</a:t>
            </a:r>
            <a:endParaRPr lang="en-US" sz="1800" dirty="0"/>
          </a:p>
        </p:txBody>
      </p:sp>
      <p:sp>
        <p:nvSpPr>
          <p:cNvPr id="87" name="Text 81"/>
          <p:cNvSpPr txBox="1"/>
          <p:nvPr/>
        </p:nvSpPr>
        <p:spPr>
          <a:xfrm>
            <a:off x="8065008" y="5486400"/>
            <a:ext cx="3566160" cy="731520"/>
          </a:xfrm>
          <a:prstGeom prst="rect">
            <a:avLst/>
          </a:prstGeom>
          <a:noFill/>
          <a:ln/>
        </p:spPr>
        <p:txBody>
          <a:bodyPr wrap="square" lIns="0" tIns="0" rIns="0" bIns="0" rtlCol="0" anchor="ctr"/>
          <a:lstStyle/>
          <a:p>
            <a:pPr indent="0" marL="0">
              <a:buNone/>
            </a:pPr>
            <a:r>
              <a:rPr lang="en-US" sz="1000" i="1" dirty="0">
                <a:solidFill>
                  <a:srgbClr val="6B7590"/>
                </a:solidFill>
                <a:latin typeface="Exo 2" pitchFamily="34" charset="0"/>
                <a:ea typeface="Exo 2" pitchFamily="34" charset="-122"/>
                <a:cs typeface="Exo 2" pitchFamily="34" charset="-120"/>
              </a:rPr>
              <a:t>All prices in USD (SAR converted at 3.75). Outdoor and Jodel are vendor proposals, not yet approved.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home/user/HatemIsa_202508993_IT9002_NLP_Project/emyaa-ceo-deck/working/charts/board_header.png">    </p:cNvPr>
          <p:cNvPicPr>
            <a:picLocks noChangeAspect="1"/>
          </p:cNvPicPr>
          <p:nvPr/>
        </p:nvPicPr>
        <p:blipFill>
          <a:blip r:embed="rId1"/>
          <a:stretch>
            <a:fillRect/>
          </a:stretch>
        </p:blipFill>
        <p:spPr>
          <a:xfrm>
            <a:off x="0" y="0"/>
            <a:ext cx="12191695" cy="1298448"/>
          </a:xfrm>
          <a:prstGeom prst="rect">
            <a:avLst/>
          </a:prstGeom>
        </p:spPr>
      </p:pic>
      <p:sp>
        <p:nvSpPr>
          <p:cNvPr id="3" name="Shape 0"/>
          <p:cNvSpPr/>
          <p:nvPr/>
        </p:nvSpPr>
        <p:spPr>
          <a:xfrm>
            <a:off x="0" y="1298448"/>
            <a:ext cx="12191695" cy="27432"/>
          </a:xfrm>
          <a:prstGeom prst="rect">
            <a:avLst/>
          </a:prstGeom>
          <a:solidFill>
            <a:srgbClr val="D4AF37"/>
          </a:solidFill>
          <a:ln w="12700">
            <a:solidFill>
              <a:srgbClr val="D4AF37"/>
            </a:solidFill>
            <a:prstDash val="solid"/>
          </a:ln>
        </p:spPr>
      </p:sp>
      <p:sp>
        <p:nvSpPr>
          <p:cNvPr id="4" name="Text 1"/>
          <p:cNvSpPr txBox="1"/>
          <p:nvPr/>
        </p:nvSpPr>
        <p:spPr>
          <a:xfrm>
            <a:off x="566928" y="274320"/>
            <a:ext cx="9144000" cy="201168"/>
          </a:xfrm>
          <a:prstGeom prst="rect">
            <a:avLst/>
          </a:prstGeom>
          <a:noFill/>
          <a:ln/>
        </p:spPr>
        <p:txBody>
          <a:bodyPr wrap="square" lIns="0" tIns="0" rIns="0" bIns="0" rtlCol="0" anchor="t"/>
          <a:lstStyle/>
          <a:p>
            <a:pPr indent="0" marL="0">
              <a:buNone/>
            </a:pPr>
            <a:r>
              <a:rPr lang="en-US" sz="950" b="1" spc="200" kern="0" dirty="0">
                <a:solidFill>
                  <a:srgbClr val="D4AF37"/>
                </a:solidFill>
                <a:latin typeface="Exo 2" pitchFamily="34" charset="0"/>
                <a:ea typeface="Exo 2" pitchFamily="34" charset="-122"/>
                <a:cs typeface="Exo 2" pitchFamily="34" charset="-120"/>
              </a:rPr>
              <a:t>DIGITAL PERFORMANCE CHANNELS</a:t>
            </a:r>
            <a:endParaRPr lang="en-US" sz="950" dirty="0"/>
          </a:p>
        </p:txBody>
      </p:sp>
      <p:sp>
        <p:nvSpPr>
          <p:cNvPr id="5" name="Text 2"/>
          <p:cNvSpPr txBox="1"/>
          <p:nvPr/>
        </p:nvSpPr>
        <p:spPr>
          <a:xfrm>
            <a:off x="566928" y="475488"/>
            <a:ext cx="9418320" cy="749808"/>
          </a:xfrm>
          <a:prstGeom prst="rect">
            <a:avLst/>
          </a:prstGeom>
          <a:noFill/>
          <a:ln/>
        </p:spPr>
        <p:txBody>
          <a:bodyPr wrap="square" lIns="0" tIns="0" rIns="0" bIns="0" rtlCol="0" anchor="ctr"/>
          <a:lstStyle/>
          <a:p>
            <a:pPr indent="0" marL="0">
              <a:buNone/>
            </a:pPr>
            <a:r>
              <a:rPr lang="en-US" sz="2200" b="1" dirty="0">
                <a:solidFill>
                  <a:srgbClr val="FFFFFF"/>
                </a:solidFill>
                <a:latin typeface="Exo 2" pitchFamily="34" charset="0"/>
                <a:ea typeface="Exo 2" pitchFamily="34" charset="-122"/>
                <a:cs typeface="Exo 2" pitchFamily="34" charset="-120"/>
              </a:rPr>
              <a:t>Google Ads and LinkedIn: USD 30,000, Saudi first</a:t>
            </a:r>
            <a:endParaRPr lang="en-US" sz="2200" dirty="0"/>
          </a:p>
        </p:txBody>
      </p:sp>
      <p:pic>
        <p:nvPicPr>
          <p:cNvPr id="6" name="Image 1" descr="/home/user/HatemIsa_202508993_IT9002_NLP_Project/emyaa-ceo-deck/working/charts/ajyad_white.png">    </p:cNvPr>
          <p:cNvPicPr>
            <a:picLocks noChangeAspect="1"/>
          </p:cNvPicPr>
          <p:nvPr/>
        </p:nvPicPr>
        <p:blipFill>
          <a:blip r:embed="rId2"/>
          <a:stretch>
            <a:fillRect/>
          </a:stretch>
        </p:blipFill>
        <p:spPr>
          <a:xfrm>
            <a:off x="10305288" y="457200"/>
            <a:ext cx="1325880" cy="384048"/>
          </a:xfrm>
          <a:prstGeom prst="rect">
            <a:avLst/>
          </a:prstGeom>
        </p:spPr>
      </p:pic>
      <p:sp>
        <p:nvSpPr>
          <p:cNvPr id="7" name="Text 3"/>
          <p:cNvSpPr txBox="1"/>
          <p:nvPr/>
        </p:nvSpPr>
        <p:spPr>
          <a:xfrm>
            <a:off x="566928" y="6492240"/>
            <a:ext cx="5486400" cy="201168"/>
          </a:xfrm>
          <a:prstGeom prst="rect">
            <a:avLst/>
          </a:prstGeom>
          <a:noFill/>
          <a:ln/>
        </p:spPr>
        <p:txBody>
          <a:bodyPr wrap="square" lIns="0" tIns="0" rIns="0" bIns="0" rtlCol="0" anchor="t"/>
          <a:lstStyle/>
          <a:p>
            <a:pPr indent="0" marL="0">
              <a:buNone/>
            </a:pPr>
            <a:r>
              <a:rPr lang="en-US" sz="800" dirty="0">
                <a:solidFill>
                  <a:srgbClr val="8A93A8"/>
                </a:solidFill>
                <a:latin typeface="Exo 2" pitchFamily="34" charset="0"/>
                <a:ea typeface="Exo 2" pitchFamily="34" charset="-122"/>
                <a:cs typeface="Exo 2" pitchFamily="34" charset="-120"/>
              </a:rPr>
              <a:t>eMYAA Trading Platform  |  Saudi Market Plan</a:t>
            </a:r>
            <a:endParaRPr lang="en-US" sz="800" dirty="0"/>
          </a:p>
        </p:txBody>
      </p:sp>
      <p:sp>
        <p:nvSpPr>
          <p:cNvPr id="8" name="Text 4"/>
          <p:cNvSpPr txBox="1"/>
          <p:nvPr/>
        </p:nvSpPr>
        <p:spPr>
          <a:xfrm>
            <a:off x="9802368" y="6492240"/>
            <a:ext cx="457200" cy="201168"/>
          </a:xfrm>
          <a:prstGeom prst="rect">
            <a:avLst/>
          </a:prstGeom>
          <a:noFill/>
          <a:ln/>
        </p:spPr>
        <p:txBody>
          <a:bodyPr wrap="square" lIns="0" tIns="0" rIns="0" bIns="0" rtlCol="0" anchor="t"/>
          <a:lstStyle/>
          <a:p>
            <a:pPr algn="r" indent="0" marL="0">
              <a:buNone/>
            </a:pPr>
            <a:r>
              <a:rPr lang="en-US" sz="800" dirty="0">
                <a:solidFill>
                  <a:srgbClr val="8A93A8"/>
                </a:solidFill>
                <a:latin typeface="Exo 2" pitchFamily="34" charset="0"/>
                <a:ea typeface="Exo 2" pitchFamily="34" charset="-122"/>
                <a:cs typeface="Exo 2" pitchFamily="34" charset="-120"/>
              </a:rPr>
              <a:t>4</a:t>
            </a:r>
            <a:endParaRPr lang="en-US" sz="800" dirty="0"/>
          </a:p>
        </p:txBody>
      </p:sp>
      <p:pic>
        <p:nvPicPr>
          <p:cNvPr id="9" name="Image 2" descr="/home/user/HatemIsa_202508993_IT9002_NLP_Project/emyaa-ceo-deck/working/charts/emyaa_navy.png">    </p:cNvPr>
          <p:cNvPicPr>
            <a:picLocks noChangeAspect="1"/>
          </p:cNvPicPr>
          <p:nvPr/>
        </p:nvPicPr>
        <p:blipFill>
          <a:blip r:embed="rId3"/>
          <a:stretch>
            <a:fillRect/>
          </a:stretch>
        </p:blipFill>
        <p:spPr>
          <a:xfrm>
            <a:off x="10607040" y="6327648"/>
            <a:ext cx="1024128" cy="365760"/>
          </a:xfrm>
          <a:prstGeom prst="rect">
            <a:avLst/>
          </a:prstGeom>
        </p:spPr>
      </p:pic>
      <p:sp>
        <p:nvSpPr>
          <p:cNvPr id="11" name="Shape 5"/>
          <p:cNvSpPr/>
          <p:nvPr/>
        </p:nvSpPr>
        <p:spPr>
          <a:xfrm>
            <a:off x="566928" y="1600200"/>
            <a:ext cx="2743200" cy="411480"/>
          </a:xfrm>
          <a:prstGeom prst="rect">
            <a:avLst/>
          </a:prstGeom>
          <a:solidFill>
            <a:srgbClr val="132257"/>
          </a:solidFill>
          <a:ln w="12700">
            <a:solidFill>
              <a:srgbClr val="132257"/>
            </a:solidFill>
            <a:prstDash val="solid"/>
          </a:ln>
        </p:spPr>
      </p:sp>
      <p:sp>
        <p:nvSpPr>
          <p:cNvPr id="12" name="Text 6"/>
          <p:cNvSpPr txBox="1"/>
          <p:nvPr/>
        </p:nvSpPr>
        <p:spPr>
          <a:xfrm>
            <a:off x="676656" y="1600200"/>
            <a:ext cx="2542032" cy="411480"/>
          </a:xfrm>
          <a:prstGeom prst="rect">
            <a:avLst/>
          </a:prstGeom>
          <a:noFill/>
          <a:ln/>
        </p:spPr>
        <p:txBody>
          <a:bodyPr wrap="square" lIns="0" tIns="0" rIns="0" bIns="0" rtlCol="0" anchor="ctr"/>
          <a:lstStyle/>
          <a:p>
            <a:pPr algn="l" indent="0" marL="0">
              <a:buNone/>
            </a:pPr>
            <a:r>
              <a:rPr lang="en-US" sz="1050" b="1" dirty="0">
                <a:solidFill>
                  <a:srgbClr val="FFFFFF"/>
                </a:solidFill>
                <a:latin typeface="Exo 2" pitchFamily="34" charset="0"/>
                <a:ea typeface="Exo 2" pitchFamily="34" charset="-122"/>
                <a:cs typeface="Exo 2" pitchFamily="34" charset="-120"/>
              </a:rPr>
              <a:t>Channel and market</a:t>
            </a:r>
            <a:endParaRPr lang="en-US" sz="1050" dirty="0"/>
          </a:p>
        </p:txBody>
      </p:sp>
      <p:sp>
        <p:nvSpPr>
          <p:cNvPr id="13" name="Shape 7"/>
          <p:cNvSpPr/>
          <p:nvPr/>
        </p:nvSpPr>
        <p:spPr>
          <a:xfrm>
            <a:off x="3310128" y="1600200"/>
            <a:ext cx="2286000" cy="411480"/>
          </a:xfrm>
          <a:prstGeom prst="rect">
            <a:avLst/>
          </a:prstGeom>
          <a:solidFill>
            <a:srgbClr val="132257"/>
          </a:solidFill>
          <a:ln w="12700">
            <a:solidFill>
              <a:srgbClr val="132257"/>
            </a:solidFill>
            <a:prstDash val="solid"/>
          </a:ln>
        </p:spPr>
      </p:sp>
      <p:sp>
        <p:nvSpPr>
          <p:cNvPr id="14" name="Text 8"/>
          <p:cNvSpPr txBox="1"/>
          <p:nvPr/>
        </p:nvSpPr>
        <p:spPr>
          <a:xfrm>
            <a:off x="3419856" y="1600200"/>
            <a:ext cx="2084832" cy="411480"/>
          </a:xfrm>
          <a:prstGeom prst="rect">
            <a:avLst/>
          </a:prstGeom>
          <a:noFill/>
          <a:ln/>
        </p:spPr>
        <p:txBody>
          <a:bodyPr wrap="square" lIns="0" tIns="0" rIns="0" bIns="0" rtlCol="0" anchor="ctr"/>
          <a:lstStyle/>
          <a:p>
            <a:pPr algn="l" indent="0" marL="0">
              <a:buNone/>
            </a:pPr>
            <a:r>
              <a:rPr lang="en-US" sz="1050" b="1" dirty="0">
                <a:solidFill>
                  <a:srgbClr val="FFFFFF"/>
                </a:solidFill>
                <a:latin typeface="Exo 2" pitchFamily="34" charset="0"/>
                <a:ea typeface="Exo 2" pitchFamily="34" charset="-122"/>
                <a:cs typeface="Exo 2" pitchFamily="34" charset="-120"/>
              </a:rPr>
              <a:t>Budget, Sep to Dec</a:t>
            </a:r>
            <a:endParaRPr lang="en-US" sz="1050" dirty="0"/>
          </a:p>
        </p:txBody>
      </p:sp>
      <p:sp>
        <p:nvSpPr>
          <p:cNvPr id="15" name="Shape 9"/>
          <p:cNvSpPr/>
          <p:nvPr/>
        </p:nvSpPr>
        <p:spPr>
          <a:xfrm>
            <a:off x="5596128" y="1600200"/>
            <a:ext cx="3017520" cy="411480"/>
          </a:xfrm>
          <a:prstGeom prst="rect">
            <a:avLst/>
          </a:prstGeom>
          <a:solidFill>
            <a:srgbClr val="132257"/>
          </a:solidFill>
          <a:ln w="12700">
            <a:solidFill>
              <a:srgbClr val="132257"/>
            </a:solidFill>
            <a:prstDash val="solid"/>
          </a:ln>
        </p:spPr>
      </p:sp>
      <p:sp>
        <p:nvSpPr>
          <p:cNvPr id="16" name="Text 10"/>
          <p:cNvSpPr txBox="1"/>
          <p:nvPr/>
        </p:nvSpPr>
        <p:spPr>
          <a:xfrm>
            <a:off x="5705856" y="1600200"/>
            <a:ext cx="2816352" cy="411480"/>
          </a:xfrm>
          <a:prstGeom prst="rect">
            <a:avLst/>
          </a:prstGeom>
          <a:noFill/>
          <a:ln/>
        </p:spPr>
        <p:txBody>
          <a:bodyPr wrap="square" lIns="0" tIns="0" rIns="0" bIns="0" rtlCol="0" anchor="ctr"/>
          <a:lstStyle/>
          <a:p>
            <a:pPr algn="l" indent="0" marL="0">
              <a:buNone/>
            </a:pPr>
            <a:r>
              <a:rPr lang="en-US" sz="1050" b="1" dirty="0">
                <a:solidFill>
                  <a:srgbClr val="FFFFFF"/>
                </a:solidFill>
                <a:latin typeface="Exo 2" pitchFamily="34" charset="0"/>
                <a:ea typeface="Exo 2" pitchFamily="34" charset="-122"/>
                <a:cs typeface="Exo 2" pitchFamily="34" charset="-120"/>
              </a:rPr>
              <a:t>Target</a:t>
            </a:r>
            <a:endParaRPr lang="en-US" sz="1050" dirty="0"/>
          </a:p>
        </p:txBody>
      </p:sp>
      <p:sp>
        <p:nvSpPr>
          <p:cNvPr id="17" name="Shape 11"/>
          <p:cNvSpPr/>
          <p:nvPr/>
        </p:nvSpPr>
        <p:spPr>
          <a:xfrm>
            <a:off x="8613648" y="1600200"/>
            <a:ext cx="3017520" cy="411480"/>
          </a:xfrm>
          <a:prstGeom prst="rect">
            <a:avLst/>
          </a:prstGeom>
          <a:solidFill>
            <a:srgbClr val="132257"/>
          </a:solidFill>
          <a:ln w="12700">
            <a:solidFill>
              <a:srgbClr val="132257"/>
            </a:solidFill>
            <a:prstDash val="solid"/>
          </a:ln>
        </p:spPr>
      </p:sp>
      <p:sp>
        <p:nvSpPr>
          <p:cNvPr id="18" name="Text 12"/>
          <p:cNvSpPr txBox="1"/>
          <p:nvPr/>
        </p:nvSpPr>
        <p:spPr>
          <a:xfrm>
            <a:off x="8723376" y="1600200"/>
            <a:ext cx="2816352" cy="411480"/>
          </a:xfrm>
          <a:prstGeom prst="rect">
            <a:avLst/>
          </a:prstGeom>
          <a:noFill/>
          <a:ln/>
        </p:spPr>
        <p:txBody>
          <a:bodyPr wrap="square" lIns="0" tIns="0" rIns="0" bIns="0" rtlCol="0" anchor="ctr"/>
          <a:lstStyle/>
          <a:p>
            <a:pPr algn="l" indent="0" marL="0">
              <a:buNone/>
            </a:pPr>
            <a:r>
              <a:rPr lang="en-US" sz="1050" b="1" dirty="0">
                <a:solidFill>
                  <a:srgbClr val="FFFFFF"/>
                </a:solidFill>
                <a:latin typeface="Exo 2" pitchFamily="34" charset="0"/>
                <a:ea typeface="Exo 2" pitchFamily="34" charset="-122"/>
                <a:cs typeface="Exo 2" pitchFamily="34" charset="-120"/>
              </a:rPr>
              <a:t>Status</a:t>
            </a:r>
            <a:endParaRPr lang="en-US" sz="1050" dirty="0"/>
          </a:p>
        </p:txBody>
      </p:sp>
      <p:sp>
        <p:nvSpPr>
          <p:cNvPr id="19" name="Shape 13"/>
          <p:cNvSpPr/>
          <p:nvPr/>
        </p:nvSpPr>
        <p:spPr>
          <a:xfrm>
            <a:off x="566928" y="2011680"/>
            <a:ext cx="2743200" cy="530352"/>
          </a:xfrm>
          <a:prstGeom prst="rect">
            <a:avLst/>
          </a:prstGeom>
          <a:solidFill>
            <a:srgbClr val="FFFFFF"/>
          </a:solidFill>
          <a:ln w="9525">
            <a:solidFill>
              <a:srgbClr val="D9DFEA"/>
            </a:solidFill>
            <a:prstDash val="solid"/>
          </a:ln>
        </p:spPr>
      </p:sp>
      <p:sp>
        <p:nvSpPr>
          <p:cNvPr id="20" name="Text 14"/>
          <p:cNvSpPr txBox="1"/>
          <p:nvPr/>
        </p:nvSpPr>
        <p:spPr>
          <a:xfrm>
            <a:off x="676656" y="2011680"/>
            <a:ext cx="2542032" cy="530352"/>
          </a:xfrm>
          <a:prstGeom prst="rect">
            <a:avLst/>
          </a:prstGeom>
          <a:noFill/>
          <a:ln/>
        </p:spPr>
        <p:txBody>
          <a:bodyPr wrap="square" lIns="0" tIns="0" rIns="0" bIns="0" rtlCol="0" anchor="ctr"/>
          <a:lstStyle/>
          <a:p>
            <a:pPr algn="l" indent="0" marL="0">
              <a:buNone/>
            </a:pPr>
            <a:r>
              <a:rPr lang="en-US" sz="1250" b="1" dirty="0">
                <a:solidFill>
                  <a:srgbClr val="132257"/>
                </a:solidFill>
                <a:latin typeface="Exo 2" pitchFamily="34" charset="0"/>
                <a:ea typeface="Exo 2" pitchFamily="34" charset="-122"/>
                <a:cs typeface="Exo 2" pitchFamily="34" charset="-120"/>
              </a:rPr>
              <a:t>Google Search, Saudi</a:t>
            </a:r>
            <a:endParaRPr lang="en-US" sz="1250" dirty="0"/>
          </a:p>
        </p:txBody>
      </p:sp>
      <p:sp>
        <p:nvSpPr>
          <p:cNvPr id="21" name="Shape 15"/>
          <p:cNvSpPr/>
          <p:nvPr/>
        </p:nvSpPr>
        <p:spPr>
          <a:xfrm>
            <a:off x="3310128" y="2011680"/>
            <a:ext cx="2286000" cy="530352"/>
          </a:xfrm>
          <a:prstGeom prst="rect">
            <a:avLst/>
          </a:prstGeom>
          <a:solidFill>
            <a:srgbClr val="FFFFFF"/>
          </a:solidFill>
          <a:ln w="9525">
            <a:solidFill>
              <a:srgbClr val="D9DFEA"/>
            </a:solidFill>
            <a:prstDash val="solid"/>
          </a:ln>
        </p:spPr>
      </p:sp>
      <p:sp>
        <p:nvSpPr>
          <p:cNvPr id="22" name="Text 16"/>
          <p:cNvSpPr txBox="1"/>
          <p:nvPr/>
        </p:nvSpPr>
        <p:spPr>
          <a:xfrm>
            <a:off x="3419856" y="2011680"/>
            <a:ext cx="2084832" cy="530352"/>
          </a:xfrm>
          <a:prstGeom prst="rect">
            <a:avLst/>
          </a:prstGeom>
          <a:noFill/>
          <a:ln/>
        </p:spPr>
        <p:txBody>
          <a:bodyPr wrap="square" lIns="0" tIns="0" rIns="0" bIns="0" rtlCol="0" anchor="ctr"/>
          <a:lstStyle/>
          <a:p>
            <a:pPr algn="l" indent="0" marL="0">
              <a:buNone/>
            </a:pPr>
            <a:r>
              <a:rPr lang="en-US" sz="1250" b="1" dirty="0">
                <a:solidFill>
                  <a:srgbClr val="1F2A44"/>
                </a:solidFill>
                <a:latin typeface="Exo 2" pitchFamily="34" charset="0"/>
                <a:ea typeface="Exo 2" pitchFamily="34" charset="-122"/>
                <a:cs typeface="Exo 2" pitchFamily="34" charset="-120"/>
              </a:rPr>
              <a:t>USD 9,000</a:t>
            </a:r>
            <a:endParaRPr lang="en-US" sz="1250" dirty="0"/>
          </a:p>
        </p:txBody>
      </p:sp>
      <p:sp>
        <p:nvSpPr>
          <p:cNvPr id="23" name="Shape 17"/>
          <p:cNvSpPr/>
          <p:nvPr/>
        </p:nvSpPr>
        <p:spPr>
          <a:xfrm>
            <a:off x="5596128" y="2011680"/>
            <a:ext cx="3017520" cy="530352"/>
          </a:xfrm>
          <a:prstGeom prst="rect">
            <a:avLst/>
          </a:prstGeom>
          <a:solidFill>
            <a:srgbClr val="FFFFFF"/>
          </a:solidFill>
          <a:ln w="9525">
            <a:solidFill>
              <a:srgbClr val="D9DFEA"/>
            </a:solidFill>
            <a:prstDash val="solid"/>
          </a:ln>
        </p:spPr>
      </p:sp>
      <p:sp>
        <p:nvSpPr>
          <p:cNvPr id="24" name="Text 18"/>
          <p:cNvSpPr txBox="1"/>
          <p:nvPr/>
        </p:nvSpPr>
        <p:spPr>
          <a:xfrm>
            <a:off x="5705856" y="2011680"/>
            <a:ext cx="2816352" cy="530352"/>
          </a:xfrm>
          <a:prstGeom prst="rect">
            <a:avLst/>
          </a:prstGeom>
          <a:noFill/>
          <a:ln/>
        </p:spPr>
        <p:txBody>
          <a:bodyPr wrap="square" lIns="0" tIns="0" rIns="0" bIns="0" rtlCol="0" anchor="ctr"/>
          <a:lstStyle/>
          <a:p>
            <a:pPr algn="l" indent="0" marL="0">
              <a:buNone/>
            </a:pPr>
            <a:r>
              <a:rPr lang="en-US" sz="1250" dirty="0">
                <a:solidFill>
                  <a:srgbClr val="1F2A44"/>
                </a:solidFill>
                <a:latin typeface="Exo 2" pitchFamily="34" charset="0"/>
                <a:ea typeface="Exo 2" pitchFamily="34" charset="-122"/>
                <a:cs typeface="Exo 2" pitchFamily="34" charset="-120"/>
              </a:rPr>
              <a:t>Starter and Emerging, Riyadh first</a:t>
            </a:r>
            <a:endParaRPr lang="en-US" sz="1250" dirty="0"/>
          </a:p>
        </p:txBody>
      </p:sp>
      <p:sp>
        <p:nvSpPr>
          <p:cNvPr id="25" name="Shape 19"/>
          <p:cNvSpPr/>
          <p:nvPr/>
        </p:nvSpPr>
        <p:spPr>
          <a:xfrm>
            <a:off x="8613648" y="2011680"/>
            <a:ext cx="3017520" cy="530352"/>
          </a:xfrm>
          <a:prstGeom prst="rect">
            <a:avLst/>
          </a:prstGeom>
          <a:solidFill>
            <a:srgbClr val="FFFFFF"/>
          </a:solidFill>
          <a:ln w="9525">
            <a:solidFill>
              <a:srgbClr val="D9DFEA"/>
            </a:solidFill>
            <a:prstDash val="solid"/>
          </a:ln>
        </p:spPr>
      </p:sp>
      <p:sp>
        <p:nvSpPr>
          <p:cNvPr id="26" name="Text 20"/>
          <p:cNvSpPr txBox="1"/>
          <p:nvPr/>
        </p:nvSpPr>
        <p:spPr>
          <a:xfrm>
            <a:off x="8723376" y="2011680"/>
            <a:ext cx="2816352" cy="530352"/>
          </a:xfrm>
          <a:prstGeom prst="rect">
            <a:avLst/>
          </a:prstGeom>
          <a:noFill/>
          <a:ln/>
        </p:spPr>
        <p:txBody>
          <a:bodyPr wrap="square" lIns="0" tIns="0" rIns="0" bIns="0" rtlCol="0" anchor="ctr"/>
          <a:lstStyle/>
          <a:p>
            <a:pPr algn="l" indent="0" marL="0">
              <a:buNone/>
            </a:pPr>
            <a:r>
              <a:rPr lang="en-US" sz="1250" b="1" dirty="0">
                <a:solidFill>
                  <a:srgbClr val="1BA97C"/>
                </a:solidFill>
                <a:latin typeface="Exo 2" pitchFamily="34" charset="0"/>
                <a:ea typeface="Exo 2" pitchFamily="34" charset="-122"/>
                <a:cs typeface="Exo 2" pitchFamily="34" charset="-120"/>
              </a:rPr>
              <a:t>Live since 22 Sep</a:t>
            </a:r>
            <a:endParaRPr lang="en-US" sz="1250" dirty="0"/>
          </a:p>
        </p:txBody>
      </p:sp>
      <p:sp>
        <p:nvSpPr>
          <p:cNvPr id="27" name="Shape 21"/>
          <p:cNvSpPr/>
          <p:nvPr/>
        </p:nvSpPr>
        <p:spPr>
          <a:xfrm>
            <a:off x="566928" y="2542032"/>
            <a:ext cx="2743200" cy="530352"/>
          </a:xfrm>
          <a:prstGeom prst="rect">
            <a:avLst/>
          </a:prstGeom>
          <a:solidFill>
            <a:srgbClr val="EEF1F8"/>
          </a:solidFill>
          <a:ln w="9525">
            <a:solidFill>
              <a:srgbClr val="D9DFEA"/>
            </a:solidFill>
            <a:prstDash val="solid"/>
          </a:ln>
        </p:spPr>
      </p:sp>
      <p:sp>
        <p:nvSpPr>
          <p:cNvPr id="28" name="Text 22"/>
          <p:cNvSpPr txBox="1"/>
          <p:nvPr/>
        </p:nvSpPr>
        <p:spPr>
          <a:xfrm>
            <a:off x="676656" y="2542032"/>
            <a:ext cx="2542032" cy="530352"/>
          </a:xfrm>
          <a:prstGeom prst="rect">
            <a:avLst/>
          </a:prstGeom>
          <a:noFill/>
          <a:ln/>
        </p:spPr>
        <p:txBody>
          <a:bodyPr wrap="square" lIns="0" tIns="0" rIns="0" bIns="0" rtlCol="0" anchor="ctr"/>
          <a:lstStyle/>
          <a:p>
            <a:pPr algn="l" indent="0" marL="0">
              <a:buNone/>
            </a:pPr>
            <a:r>
              <a:rPr lang="en-US" sz="1250" b="1" dirty="0">
                <a:solidFill>
                  <a:srgbClr val="132257"/>
                </a:solidFill>
                <a:latin typeface="Exo 2" pitchFamily="34" charset="0"/>
                <a:ea typeface="Exo 2" pitchFamily="34" charset="-122"/>
                <a:cs typeface="Exo 2" pitchFamily="34" charset="-120"/>
              </a:rPr>
              <a:t>LinkedIn, Saudi</a:t>
            </a:r>
            <a:endParaRPr lang="en-US" sz="1250" dirty="0"/>
          </a:p>
        </p:txBody>
      </p:sp>
      <p:sp>
        <p:nvSpPr>
          <p:cNvPr id="29" name="Shape 23"/>
          <p:cNvSpPr/>
          <p:nvPr/>
        </p:nvSpPr>
        <p:spPr>
          <a:xfrm>
            <a:off x="3310128" y="2542032"/>
            <a:ext cx="2286000" cy="530352"/>
          </a:xfrm>
          <a:prstGeom prst="rect">
            <a:avLst/>
          </a:prstGeom>
          <a:solidFill>
            <a:srgbClr val="EEF1F8"/>
          </a:solidFill>
          <a:ln w="9525">
            <a:solidFill>
              <a:srgbClr val="D9DFEA"/>
            </a:solidFill>
            <a:prstDash val="solid"/>
          </a:ln>
        </p:spPr>
      </p:sp>
      <p:sp>
        <p:nvSpPr>
          <p:cNvPr id="30" name="Text 24"/>
          <p:cNvSpPr txBox="1"/>
          <p:nvPr/>
        </p:nvSpPr>
        <p:spPr>
          <a:xfrm>
            <a:off x="3419856" y="2542032"/>
            <a:ext cx="2084832" cy="530352"/>
          </a:xfrm>
          <a:prstGeom prst="rect">
            <a:avLst/>
          </a:prstGeom>
          <a:noFill/>
          <a:ln/>
        </p:spPr>
        <p:txBody>
          <a:bodyPr wrap="square" lIns="0" tIns="0" rIns="0" bIns="0" rtlCol="0" anchor="ctr"/>
          <a:lstStyle/>
          <a:p>
            <a:pPr algn="l" indent="0" marL="0">
              <a:buNone/>
            </a:pPr>
            <a:r>
              <a:rPr lang="en-US" sz="1250" b="1" dirty="0">
                <a:solidFill>
                  <a:srgbClr val="1F2A44"/>
                </a:solidFill>
                <a:latin typeface="Exo 2" pitchFamily="34" charset="0"/>
                <a:ea typeface="Exo 2" pitchFamily="34" charset="-122"/>
                <a:cs typeface="Exo 2" pitchFamily="34" charset="-120"/>
              </a:rPr>
              <a:t>USD 9,000</a:t>
            </a:r>
            <a:endParaRPr lang="en-US" sz="1250" dirty="0"/>
          </a:p>
        </p:txBody>
      </p:sp>
      <p:sp>
        <p:nvSpPr>
          <p:cNvPr id="31" name="Shape 25"/>
          <p:cNvSpPr/>
          <p:nvPr/>
        </p:nvSpPr>
        <p:spPr>
          <a:xfrm>
            <a:off x="5596128" y="2542032"/>
            <a:ext cx="3017520" cy="530352"/>
          </a:xfrm>
          <a:prstGeom prst="rect">
            <a:avLst/>
          </a:prstGeom>
          <a:solidFill>
            <a:srgbClr val="EEF1F8"/>
          </a:solidFill>
          <a:ln w="9525">
            <a:solidFill>
              <a:srgbClr val="D9DFEA"/>
            </a:solidFill>
            <a:prstDash val="solid"/>
          </a:ln>
        </p:spPr>
      </p:sp>
      <p:sp>
        <p:nvSpPr>
          <p:cNvPr id="32" name="Text 26"/>
          <p:cNvSpPr txBox="1"/>
          <p:nvPr/>
        </p:nvSpPr>
        <p:spPr>
          <a:xfrm>
            <a:off x="5705856" y="2542032"/>
            <a:ext cx="2816352" cy="530352"/>
          </a:xfrm>
          <a:prstGeom prst="rect">
            <a:avLst/>
          </a:prstGeom>
          <a:noFill/>
          <a:ln/>
        </p:spPr>
        <p:txBody>
          <a:bodyPr wrap="square" lIns="0" tIns="0" rIns="0" bIns="0" rtlCol="0" anchor="ctr"/>
          <a:lstStyle/>
          <a:p>
            <a:pPr algn="l" indent="0" marL="0">
              <a:buNone/>
            </a:pPr>
            <a:r>
              <a:rPr lang="en-US" sz="1250" dirty="0">
                <a:solidFill>
                  <a:srgbClr val="1F2A44"/>
                </a:solidFill>
                <a:latin typeface="Exo 2" pitchFamily="34" charset="0"/>
                <a:ea typeface="Exo 2" pitchFamily="34" charset="-122"/>
                <a:cs typeface="Exo 2" pitchFamily="34" charset="-120"/>
              </a:rPr>
              <a:t>Affluent, lead generation forms</a:t>
            </a:r>
            <a:endParaRPr lang="en-US" sz="1250" dirty="0"/>
          </a:p>
        </p:txBody>
      </p:sp>
      <p:sp>
        <p:nvSpPr>
          <p:cNvPr id="33" name="Shape 27"/>
          <p:cNvSpPr/>
          <p:nvPr/>
        </p:nvSpPr>
        <p:spPr>
          <a:xfrm>
            <a:off x="8613648" y="2542032"/>
            <a:ext cx="3017520" cy="530352"/>
          </a:xfrm>
          <a:prstGeom prst="rect">
            <a:avLst/>
          </a:prstGeom>
          <a:solidFill>
            <a:srgbClr val="EEF1F8"/>
          </a:solidFill>
          <a:ln w="9525">
            <a:solidFill>
              <a:srgbClr val="D9DFEA"/>
            </a:solidFill>
            <a:prstDash val="solid"/>
          </a:ln>
        </p:spPr>
      </p:sp>
      <p:sp>
        <p:nvSpPr>
          <p:cNvPr id="34" name="Text 28"/>
          <p:cNvSpPr txBox="1"/>
          <p:nvPr/>
        </p:nvSpPr>
        <p:spPr>
          <a:xfrm>
            <a:off x="8723376" y="2542032"/>
            <a:ext cx="2816352" cy="530352"/>
          </a:xfrm>
          <a:prstGeom prst="rect">
            <a:avLst/>
          </a:prstGeom>
          <a:noFill/>
          <a:ln/>
        </p:spPr>
        <p:txBody>
          <a:bodyPr wrap="square" lIns="0" tIns="0" rIns="0" bIns="0" rtlCol="0" anchor="ctr"/>
          <a:lstStyle/>
          <a:p>
            <a:pPr algn="l" indent="0" marL="0">
              <a:buNone/>
            </a:pPr>
            <a:r>
              <a:rPr lang="en-US" sz="1250" b="1" dirty="0">
                <a:solidFill>
                  <a:srgbClr val="132257"/>
                </a:solidFill>
                <a:latin typeface="Exo 2" pitchFamily="34" charset="0"/>
                <a:ea typeface="Exo 2" pitchFamily="34" charset="-122"/>
                <a:cs typeface="Exo 2" pitchFamily="34" charset="-120"/>
              </a:rPr>
              <a:t>Launching October</a:t>
            </a:r>
            <a:endParaRPr lang="en-US" sz="1250" dirty="0"/>
          </a:p>
        </p:txBody>
      </p:sp>
      <p:sp>
        <p:nvSpPr>
          <p:cNvPr id="35" name="Shape 29"/>
          <p:cNvSpPr/>
          <p:nvPr/>
        </p:nvSpPr>
        <p:spPr>
          <a:xfrm>
            <a:off x="566928" y="3072384"/>
            <a:ext cx="2743200" cy="530352"/>
          </a:xfrm>
          <a:prstGeom prst="rect">
            <a:avLst/>
          </a:prstGeom>
          <a:solidFill>
            <a:srgbClr val="FFFFFF"/>
          </a:solidFill>
          <a:ln w="9525">
            <a:solidFill>
              <a:srgbClr val="D9DFEA"/>
            </a:solidFill>
            <a:prstDash val="solid"/>
          </a:ln>
        </p:spPr>
      </p:sp>
      <p:sp>
        <p:nvSpPr>
          <p:cNvPr id="36" name="Text 30"/>
          <p:cNvSpPr txBox="1"/>
          <p:nvPr/>
        </p:nvSpPr>
        <p:spPr>
          <a:xfrm>
            <a:off x="676656" y="3072384"/>
            <a:ext cx="2542032" cy="530352"/>
          </a:xfrm>
          <a:prstGeom prst="rect">
            <a:avLst/>
          </a:prstGeom>
          <a:noFill/>
          <a:ln/>
        </p:spPr>
        <p:txBody>
          <a:bodyPr wrap="square" lIns="0" tIns="0" rIns="0" bIns="0" rtlCol="0" anchor="ctr"/>
          <a:lstStyle/>
          <a:p>
            <a:pPr algn="l" indent="0" marL="0">
              <a:buNone/>
            </a:pPr>
            <a:r>
              <a:rPr lang="en-US" sz="1250" b="1" dirty="0">
                <a:solidFill>
                  <a:srgbClr val="132257"/>
                </a:solidFill>
                <a:latin typeface="Exo 2" pitchFamily="34" charset="0"/>
                <a:ea typeface="Exo 2" pitchFamily="34" charset="-122"/>
                <a:cs typeface="Exo 2" pitchFamily="34" charset="-120"/>
              </a:rPr>
              <a:t>Google Search, rest of GCC</a:t>
            </a:r>
            <a:endParaRPr lang="en-US" sz="1250" dirty="0"/>
          </a:p>
        </p:txBody>
      </p:sp>
      <p:sp>
        <p:nvSpPr>
          <p:cNvPr id="37" name="Shape 31"/>
          <p:cNvSpPr/>
          <p:nvPr/>
        </p:nvSpPr>
        <p:spPr>
          <a:xfrm>
            <a:off x="3310128" y="3072384"/>
            <a:ext cx="2286000" cy="530352"/>
          </a:xfrm>
          <a:prstGeom prst="rect">
            <a:avLst/>
          </a:prstGeom>
          <a:solidFill>
            <a:srgbClr val="FFFFFF"/>
          </a:solidFill>
          <a:ln w="9525">
            <a:solidFill>
              <a:srgbClr val="D9DFEA"/>
            </a:solidFill>
            <a:prstDash val="solid"/>
          </a:ln>
        </p:spPr>
      </p:sp>
      <p:sp>
        <p:nvSpPr>
          <p:cNvPr id="38" name="Text 32"/>
          <p:cNvSpPr txBox="1"/>
          <p:nvPr/>
        </p:nvSpPr>
        <p:spPr>
          <a:xfrm>
            <a:off x="3419856" y="3072384"/>
            <a:ext cx="2084832" cy="530352"/>
          </a:xfrm>
          <a:prstGeom prst="rect">
            <a:avLst/>
          </a:prstGeom>
          <a:noFill/>
          <a:ln/>
        </p:spPr>
        <p:txBody>
          <a:bodyPr wrap="square" lIns="0" tIns="0" rIns="0" bIns="0" rtlCol="0" anchor="ctr"/>
          <a:lstStyle/>
          <a:p>
            <a:pPr algn="l" indent="0" marL="0">
              <a:buNone/>
            </a:pPr>
            <a:r>
              <a:rPr lang="en-US" sz="1250" b="1" dirty="0">
                <a:solidFill>
                  <a:srgbClr val="1F2A44"/>
                </a:solidFill>
                <a:latin typeface="Exo 2" pitchFamily="34" charset="0"/>
                <a:ea typeface="Exo 2" pitchFamily="34" charset="-122"/>
                <a:cs typeface="Exo 2" pitchFamily="34" charset="-120"/>
              </a:rPr>
              <a:t>USD 6,000</a:t>
            </a:r>
            <a:endParaRPr lang="en-US" sz="1250" dirty="0"/>
          </a:p>
        </p:txBody>
      </p:sp>
      <p:sp>
        <p:nvSpPr>
          <p:cNvPr id="39" name="Shape 33"/>
          <p:cNvSpPr/>
          <p:nvPr/>
        </p:nvSpPr>
        <p:spPr>
          <a:xfrm>
            <a:off x="5596128" y="3072384"/>
            <a:ext cx="3017520" cy="530352"/>
          </a:xfrm>
          <a:prstGeom prst="rect">
            <a:avLst/>
          </a:prstGeom>
          <a:solidFill>
            <a:srgbClr val="FFFFFF"/>
          </a:solidFill>
          <a:ln w="9525">
            <a:solidFill>
              <a:srgbClr val="D9DFEA"/>
            </a:solidFill>
            <a:prstDash val="solid"/>
          </a:ln>
        </p:spPr>
      </p:sp>
      <p:sp>
        <p:nvSpPr>
          <p:cNvPr id="40" name="Text 34"/>
          <p:cNvSpPr txBox="1"/>
          <p:nvPr/>
        </p:nvSpPr>
        <p:spPr>
          <a:xfrm>
            <a:off x="5705856" y="3072384"/>
            <a:ext cx="2816352" cy="530352"/>
          </a:xfrm>
          <a:prstGeom prst="rect">
            <a:avLst/>
          </a:prstGeom>
          <a:noFill/>
          <a:ln/>
        </p:spPr>
        <p:txBody>
          <a:bodyPr wrap="square" lIns="0" tIns="0" rIns="0" bIns="0" rtlCol="0" anchor="ctr"/>
          <a:lstStyle/>
          <a:p>
            <a:pPr algn="l" indent="0" marL="0">
              <a:buNone/>
            </a:pPr>
            <a:r>
              <a:rPr lang="en-US" sz="1250" dirty="0">
                <a:solidFill>
                  <a:srgbClr val="1F2A44"/>
                </a:solidFill>
                <a:latin typeface="Exo 2" pitchFamily="34" charset="0"/>
                <a:ea typeface="Exo 2" pitchFamily="34" charset="-122"/>
                <a:cs typeface="Exo 2" pitchFamily="34" charset="-120"/>
              </a:rPr>
              <a:t>Qatar, UAE, Kuwait, Bahrain, Oman</a:t>
            </a:r>
            <a:endParaRPr lang="en-US" sz="1250" dirty="0"/>
          </a:p>
        </p:txBody>
      </p:sp>
      <p:sp>
        <p:nvSpPr>
          <p:cNvPr id="41" name="Shape 35"/>
          <p:cNvSpPr/>
          <p:nvPr/>
        </p:nvSpPr>
        <p:spPr>
          <a:xfrm>
            <a:off x="8613648" y="3072384"/>
            <a:ext cx="3017520" cy="530352"/>
          </a:xfrm>
          <a:prstGeom prst="rect">
            <a:avLst/>
          </a:prstGeom>
          <a:solidFill>
            <a:srgbClr val="FFFFFF"/>
          </a:solidFill>
          <a:ln w="9525">
            <a:solidFill>
              <a:srgbClr val="D9DFEA"/>
            </a:solidFill>
            <a:prstDash val="solid"/>
          </a:ln>
        </p:spPr>
      </p:sp>
      <p:sp>
        <p:nvSpPr>
          <p:cNvPr id="42" name="Text 36"/>
          <p:cNvSpPr txBox="1"/>
          <p:nvPr/>
        </p:nvSpPr>
        <p:spPr>
          <a:xfrm>
            <a:off x="8723376" y="3072384"/>
            <a:ext cx="2816352" cy="530352"/>
          </a:xfrm>
          <a:prstGeom prst="rect">
            <a:avLst/>
          </a:prstGeom>
          <a:noFill/>
          <a:ln/>
        </p:spPr>
        <p:txBody>
          <a:bodyPr wrap="square" lIns="0" tIns="0" rIns="0" bIns="0" rtlCol="0" anchor="ctr"/>
          <a:lstStyle/>
          <a:p>
            <a:pPr algn="l" indent="0" marL="0">
              <a:buNone/>
            </a:pPr>
            <a:r>
              <a:rPr lang="en-US" sz="1250" b="1" dirty="0">
                <a:solidFill>
                  <a:srgbClr val="132257"/>
                </a:solidFill>
                <a:latin typeface="Exo 2" pitchFamily="34" charset="0"/>
                <a:ea typeface="Exo 2" pitchFamily="34" charset="-122"/>
                <a:cs typeface="Exo 2" pitchFamily="34" charset="-120"/>
              </a:rPr>
              <a:t>After the Saudi test</a:t>
            </a:r>
            <a:endParaRPr lang="en-US" sz="1250" dirty="0"/>
          </a:p>
        </p:txBody>
      </p:sp>
      <p:sp>
        <p:nvSpPr>
          <p:cNvPr id="43" name="Shape 37"/>
          <p:cNvSpPr/>
          <p:nvPr/>
        </p:nvSpPr>
        <p:spPr>
          <a:xfrm>
            <a:off x="566928" y="3602736"/>
            <a:ext cx="2743200" cy="530352"/>
          </a:xfrm>
          <a:prstGeom prst="rect">
            <a:avLst/>
          </a:prstGeom>
          <a:solidFill>
            <a:srgbClr val="EEF1F8"/>
          </a:solidFill>
          <a:ln w="9525">
            <a:solidFill>
              <a:srgbClr val="D9DFEA"/>
            </a:solidFill>
            <a:prstDash val="solid"/>
          </a:ln>
        </p:spPr>
      </p:sp>
      <p:sp>
        <p:nvSpPr>
          <p:cNvPr id="44" name="Text 38"/>
          <p:cNvSpPr txBox="1"/>
          <p:nvPr/>
        </p:nvSpPr>
        <p:spPr>
          <a:xfrm>
            <a:off x="676656" y="3602736"/>
            <a:ext cx="2542032" cy="530352"/>
          </a:xfrm>
          <a:prstGeom prst="rect">
            <a:avLst/>
          </a:prstGeom>
          <a:noFill/>
          <a:ln/>
        </p:spPr>
        <p:txBody>
          <a:bodyPr wrap="square" lIns="0" tIns="0" rIns="0" bIns="0" rtlCol="0" anchor="ctr"/>
          <a:lstStyle/>
          <a:p>
            <a:pPr algn="l" indent="0" marL="0">
              <a:buNone/>
            </a:pPr>
            <a:r>
              <a:rPr lang="en-US" sz="1250" b="1" dirty="0">
                <a:solidFill>
                  <a:srgbClr val="132257"/>
                </a:solidFill>
                <a:latin typeface="Exo 2" pitchFamily="34" charset="0"/>
                <a:ea typeface="Exo 2" pitchFamily="34" charset="-122"/>
                <a:cs typeface="Exo 2" pitchFamily="34" charset="-120"/>
              </a:rPr>
              <a:t>LinkedIn, rest of GCC</a:t>
            </a:r>
            <a:endParaRPr lang="en-US" sz="1250" dirty="0"/>
          </a:p>
        </p:txBody>
      </p:sp>
      <p:sp>
        <p:nvSpPr>
          <p:cNvPr id="45" name="Shape 39"/>
          <p:cNvSpPr/>
          <p:nvPr/>
        </p:nvSpPr>
        <p:spPr>
          <a:xfrm>
            <a:off x="3310128" y="3602736"/>
            <a:ext cx="2286000" cy="530352"/>
          </a:xfrm>
          <a:prstGeom prst="rect">
            <a:avLst/>
          </a:prstGeom>
          <a:solidFill>
            <a:srgbClr val="EEF1F8"/>
          </a:solidFill>
          <a:ln w="9525">
            <a:solidFill>
              <a:srgbClr val="D9DFEA"/>
            </a:solidFill>
            <a:prstDash val="solid"/>
          </a:ln>
        </p:spPr>
      </p:sp>
      <p:sp>
        <p:nvSpPr>
          <p:cNvPr id="46" name="Text 40"/>
          <p:cNvSpPr txBox="1"/>
          <p:nvPr/>
        </p:nvSpPr>
        <p:spPr>
          <a:xfrm>
            <a:off x="3419856" y="3602736"/>
            <a:ext cx="2084832" cy="530352"/>
          </a:xfrm>
          <a:prstGeom prst="rect">
            <a:avLst/>
          </a:prstGeom>
          <a:noFill/>
          <a:ln/>
        </p:spPr>
        <p:txBody>
          <a:bodyPr wrap="square" lIns="0" tIns="0" rIns="0" bIns="0" rtlCol="0" anchor="ctr"/>
          <a:lstStyle/>
          <a:p>
            <a:pPr algn="l" indent="0" marL="0">
              <a:buNone/>
            </a:pPr>
            <a:r>
              <a:rPr lang="en-US" sz="1250" b="1" dirty="0">
                <a:solidFill>
                  <a:srgbClr val="1F2A44"/>
                </a:solidFill>
                <a:latin typeface="Exo 2" pitchFamily="34" charset="0"/>
                <a:ea typeface="Exo 2" pitchFamily="34" charset="-122"/>
                <a:cs typeface="Exo 2" pitchFamily="34" charset="-120"/>
              </a:rPr>
              <a:t>USD 6,000</a:t>
            </a:r>
            <a:endParaRPr lang="en-US" sz="1250" dirty="0"/>
          </a:p>
        </p:txBody>
      </p:sp>
      <p:sp>
        <p:nvSpPr>
          <p:cNvPr id="47" name="Shape 41"/>
          <p:cNvSpPr/>
          <p:nvPr/>
        </p:nvSpPr>
        <p:spPr>
          <a:xfrm>
            <a:off x="5596128" y="3602736"/>
            <a:ext cx="3017520" cy="530352"/>
          </a:xfrm>
          <a:prstGeom prst="rect">
            <a:avLst/>
          </a:prstGeom>
          <a:solidFill>
            <a:srgbClr val="EEF1F8"/>
          </a:solidFill>
          <a:ln w="9525">
            <a:solidFill>
              <a:srgbClr val="D9DFEA"/>
            </a:solidFill>
            <a:prstDash val="solid"/>
          </a:ln>
        </p:spPr>
      </p:sp>
      <p:sp>
        <p:nvSpPr>
          <p:cNvPr id="48" name="Text 42"/>
          <p:cNvSpPr txBox="1"/>
          <p:nvPr/>
        </p:nvSpPr>
        <p:spPr>
          <a:xfrm>
            <a:off x="5705856" y="3602736"/>
            <a:ext cx="2816352" cy="530352"/>
          </a:xfrm>
          <a:prstGeom prst="rect">
            <a:avLst/>
          </a:prstGeom>
          <a:noFill/>
          <a:ln/>
        </p:spPr>
        <p:txBody>
          <a:bodyPr wrap="square" lIns="0" tIns="0" rIns="0" bIns="0" rtlCol="0" anchor="ctr"/>
          <a:lstStyle/>
          <a:p>
            <a:pPr algn="l" indent="0" marL="0">
              <a:buNone/>
            </a:pPr>
            <a:r>
              <a:rPr lang="en-US" sz="1250" dirty="0">
                <a:solidFill>
                  <a:srgbClr val="1F2A44"/>
                </a:solidFill>
                <a:latin typeface="Exo 2" pitchFamily="34" charset="0"/>
                <a:ea typeface="Exo 2" pitchFamily="34" charset="-122"/>
                <a:cs typeface="Exo 2" pitchFamily="34" charset="-120"/>
              </a:rPr>
              <a:t>Qatar, UAE, Kuwait, Bahrain, Oman</a:t>
            </a:r>
            <a:endParaRPr lang="en-US" sz="1250" dirty="0"/>
          </a:p>
        </p:txBody>
      </p:sp>
      <p:sp>
        <p:nvSpPr>
          <p:cNvPr id="49" name="Shape 43"/>
          <p:cNvSpPr/>
          <p:nvPr/>
        </p:nvSpPr>
        <p:spPr>
          <a:xfrm>
            <a:off x="8613648" y="3602736"/>
            <a:ext cx="3017520" cy="530352"/>
          </a:xfrm>
          <a:prstGeom prst="rect">
            <a:avLst/>
          </a:prstGeom>
          <a:solidFill>
            <a:srgbClr val="EEF1F8"/>
          </a:solidFill>
          <a:ln w="9525">
            <a:solidFill>
              <a:srgbClr val="D9DFEA"/>
            </a:solidFill>
            <a:prstDash val="solid"/>
          </a:ln>
        </p:spPr>
      </p:sp>
      <p:sp>
        <p:nvSpPr>
          <p:cNvPr id="50" name="Text 44"/>
          <p:cNvSpPr txBox="1"/>
          <p:nvPr/>
        </p:nvSpPr>
        <p:spPr>
          <a:xfrm>
            <a:off x="8723376" y="3602736"/>
            <a:ext cx="2816352" cy="530352"/>
          </a:xfrm>
          <a:prstGeom prst="rect">
            <a:avLst/>
          </a:prstGeom>
          <a:noFill/>
          <a:ln/>
        </p:spPr>
        <p:txBody>
          <a:bodyPr wrap="square" lIns="0" tIns="0" rIns="0" bIns="0" rtlCol="0" anchor="ctr"/>
          <a:lstStyle/>
          <a:p>
            <a:pPr algn="l" indent="0" marL="0">
              <a:buNone/>
            </a:pPr>
            <a:r>
              <a:rPr lang="en-US" sz="1250" b="1" dirty="0">
                <a:solidFill>
                  <a:srgbClr val="132257"/>
                </a:solidFill>
                <a:latin typeface="Exo 2" pitchFamily="34" charset="0"/>
                <a:ea typeface="Exo 2" pitchFamily="34" charset="-122"/>
                <a:cs typeface="Exo 2" pitchFamily="34" charset="-120"/>
              </a:rPr>
              <a:t>After the Saudi test</a:t>
            </a:r>
            <a:endParaRPr lang="en-US" sz="1250" dirty="0"/>
          </a:p>
        </p:txBody>
      </p:sp>
      <p:sp>
        <p:nvSpPr>
          <p:cNvPr id="51" name="Shape 45"/>
          <p:cNvSpPr/>
          <p:nvPr/>
        </p:nvSpPr>
        <p:spPr>
          <a:xfrm>
            <a:off x="566928" y="4133088"/>
            <a:ext cx="2743200" cy="530352"/>
          </a:xfrm>
          <a:prstGeom prst="rect">
            <a:avLst/>
          </a:prstGeom>
          <a:solidFill>
            <a:srgbClr val="FFFFFF"/>
          </a:solidFill>
          <a:ln w="9525">
            <a:solidFill>
              <a:srgbClr val="D9DFEA"/>
            </a:solidFill>
            <a:prstDash val="solid"/>
          </a:ln>
        </p:spPr>
      </p:sp>
      <p:sp>
        <p:nvSpPr>
          <p:cNvPr id="52" name="Text 46"/>
          <p:cNvSpPr txBox="1"/>
          <p:nvPr/>
        </p:nvSpPr>
        <p:spPr>
          <a:xfrm>
            <a:off x="676656" y="4133088"/>
            <a:ext cx="2542032" cy="530352"/>
          </a:xfrm>
          <a:prstGeom prst="rect">
            <a:avLst/>
          </a:prstGeom>
          <a:noFill/>
          <a:ln/>
        </p:spPr>
        <p:txBody>
          <a:bodyPr wrap="square" lIns="0" tIns="0" rIns="0" bIns="0" rtlCol="0" anchor="ctr"/>
          <a:lstStyle/>
          <a:p>
            <a:pPr algn="l" indent="0" marL="0">
              <a:buNone/>
            </a:pPr>
            <a:r>
              <a:rPr lang="en-US" sz="1250" b="1" dirty="0">
                <a:solidFill>
                  <a:srgbClr val="132257"/>
                </a:solidFill>
                <a:latin typeface="Exo 2" pitchFamily="34" charset="0"/>
                <a:ea typeface="Exo 2" pitchFamily="34" charset="-122"/>
                <a:cs typeface="Exo 2" pitchFamily="34" charset="-120"/>
              </a:rPr>
              <a:t>Total</a:t>
            </a:r>
            <a:endParaRPr lang="en-US" sz="1250" dirty="0"/>
          </a:p>
        </p:txBody>
      </p:sp>
      <p:sp>
        <p:nvSpPr>
          <p:cNvPr id="53" name="Shape 47"/>
          <p:cNvSpPr/>
          <p:nvPr/>
        </p:nvSpPr>
        <p:spPr>
          <a:xfrm>
            <a:off x="3310128" y="4133088"/>
            <a:ext cx="2286000" cy="530352"/>
          </a:xfrm>
          <a:prstGeom prst="rect">
            <a:avLst/>
          </a:prstGeom>
          <a:solidFill>
            <a:srgbClr val="FFFFFF"/>
          </a:solidFill>
          <a:ln w="9525">
            <a:solidFill>
              <a:srgbClr val="D9DFEA"/>
            </a:solidFill>
            <a:prstDash val="solid"/>
          </a:ln>
        </p:spPr>
      </p:sp>
      <p:sp>
        <p:nvSpPr>
          <p:cNvPr id="54" name="Text 48"/>
          <p:cNvSpPr txBox="1"/>
          <p:nvPr/>
        </p:nvSpPr>
        <p:spPr>
          <a:xfrm>
            <a:off x="3419856" y="4133088"/>
            <a:ext cx="2084832" cy="530352"/>
          </a:xfrm>
          <a:prstGeom prst="rect">
            <a:avLst/>
          </a:prstGeom>
          <a:noFill/>
          <a:ln/>
        </p:spPr>
        <p:txBody>
          <a:bodyPr wrap="square" lIns="0" tIns="0" rIns="0" bIns="0" rtlCol="0" anchor="ctr"/>
          <a:lstStyle/>
          <a:p>
            <a:pPr algn="l" indent="0" marL="0">
              <a:buNone/>
            </a:pPr>
            <a:r>
              <a:rPr lang="en-US" sz="1250" b="1" dirty="0">
                <a:solidFill>
                  <a:srgbClr val="132257"/>
                </a:solidFill>
                <a:latin typeface="Exo 2" pitchFamily="34" charset="0"/>
                <a:ea typeface="Exo 2" pitchFamily="34" charset="-122"/>
                <a:cs typeface="Exo 2" pitchFamily="34" charset="-120"/>
              </a:rPr>
              <a:t>USD 30,000</a:t>
            </a:r>
            <a:endParaRPr lang="en-US" sz="1250" dirty="0"/>
          </a:p>
        </p:txBody>
      </p:sp>
      <p:sp>
        <p:nvSpPr>
          <p:cNvPr id="55" name="Shape 49"/>
          <p:cNvSpPr/>
          <p:nvPr/>
        </p:nvSpPr>
        <p:spPr>
          <a:xfrm>
            <a:off x="5596128" y="4133088"/>
            <a:ext cx="3017520" cy="530352"/>
          </a:xfrm>
          <a:prstGeom prst="rect">
            <a:avLst/>
          </a:prstGeom>
          <a:solidFill>
            <a:srgbClr val="FFFFFF"/>
          </a:solidFill>
          <a:ln w="9525">
            <a:solidFill>
              <a:srgbClr val="D9DFEA"/>
            </a:solidFill>
            <a:prstDash val="solid"/>
          </a:ln>
        </p:spPr>
      </p:sp>
      <p:sp>
        <p:nvSpPr>
          <p:cNvPr id="56" name="Text 50"/>
          <p:cNvSpPr txBox="1"/>
          <p:nvPr/>
        </p:nvSpPr>
        <p:spPr>
          <a:xfrm>
            <a:off x="5705856" y="4133088"/>
            <a:ext cx="2816352" cy="530352"/>
          </a:xfrm>
          <a:prstGeom prst="rect">
            <a:avLst/>
          </a:prstGeom>
          <a:noFill/>
          <a:ln/>
        </p:spPr>
        <p:txBody>
          <a:bodyPr wrap="square" lIns="0" tIns="0" rIns="0" bIns="0" rtlCol="0" anchor="ctr"/>
          <a:lstStyle/>
          <a:p>
            <a:pPr algn="l" indent="0" marL="0">
              <a:buNone/>
            </a:pPr>
            <a:endParaRPr lang="en-US" sz="1250" dirty="0"/>
          </a:p>
        </p:txBody>
      </p:sp>
      <p:sp>
        <p:nvSpPr>
          <p:cNvPr id="57" name="Shape 51"/>
          <p:cNvSpPr/>
          <p:nvPr/>
        </p:nvSpPr>
        <p:spPr>
          <a:xfrm>
            <a:off x="8613648" y="4133088"/>
            <a:ext cx="3017520" cy="530352"/>
          </a:xfrm>
          <a:prstGeom prst="rect">
            <a:avLst/>
          </a:prstGeom>
          <a:solidFill>
            <a:srgbClr val="FFFFFF"/>
          </a:solidFill>
          <a:ln w="9525">
            <a:solidFill>
              <a:srgbClr val="D9DFEA"/>
            </a:solidFill>
            <a:prstDash val="solid"/>
          </a:ln>
        </p:spPr>
      </p:sp>
      <p:sp>
        <p:nvSpPr>
          <p:cNvPr id="58" name="Text 52"/>
          <p:cNvSpPr txBox="1"/>
          <p:nvPr/>
        </p:nvSpPr>
        <p:spPr>
          <a:xfrm>
            <a:off x="8723376" y="4133088"/>
            <a:ext cx="2816352" cy="530352"/>
          </a:xfrm>
          <a:prstGeom prst="rect">
            <a:avLst/>
          </a:prstGeom>
          <a:noFill/>
          <a:ln/>
        </p:spPr>
        <p:txBody>
          <a:bodyPr wrap="square" lIns="0" tIns="0" rIns="0" bIns="0" rtlCol="0" anchor="ctr"/>
          <a:lstStyle/>
          <a:p>
            <a:pPr algn="l" indent="0" marL="0">
              <a:buNone/>
            </a:pPr>
            <a:endParaRPr lang="en-US" sz="1250" dirty="0"/>
          </a:p>
        </p:txBody>
      </p:sp>
      <p:sp>
        <p:nvSpPr>
          <p:cNvPr id="59" name="Text 53"/>
          <p:cNvSpPr txBox="1"/>
          <p:nvPr/>
        </p:nvSpPr>
        <p:spPr>
          <a:xfrm>
            <a:off x="566928" y="4800600"/>
            <a:ext cx="5486400" cy="274320"/>
          </a:xfrm>
          <a:prstGeom prst="rect">
            <a:avLst/>
          </a:prstGeom>
          <a:noFill/>
          <a:ln/>
        </p:spPr>
        <p:txBody>
          <a:bodyPr wrap="square" lIns="0" tIns="0" rIns="0" bIns="0" rtlCol="0" anchor="t"/>
          <a:lstStyle/>
          <a:p>
            <a:pPr indent="0" marL="0">
              <a:buNone/>
            </a:pPr>
            <a:r>
              <a:rPr lang="en-US" sz="1000" b="1" spc="100" kern="0" dirty="0">
                <a:solidFill>
                  <a:srgbClr val="3C61B6"/>
                </a:solidFill>
                <a:latin typeface="Exo 2" pitchFamily="34" charset="0"/>
                <a:ea typeface="Exo 2" pitchFamily="34" charset="-122"/>
                <a:cs typeface="Exo 2" pitchFamily="34" charset="-120"/>
              </a:rPr>
              <a:t>FIRST RESULTS, SEPTEMBER</a:t>
            </a:r>
            <a:endParaRPr lang="en-US" sz="1000" dirty="0"/>
          </a:p>
        </p:txBody>
      </p:sp>
      <p:sp>
        <p:nvSpPr>
          <p:cNvPr id="60" name="Shape 54"/>
          <p:cNvSpPr/>
          <p:nvPr/>
        </p:nvSpPr>
        <p:spPr>
          <a:xfrm>
            <a:off x="566928" y="5120640"/>
            <a:ext cx="3566160" cy="1234440"/>
          </a:xfrm>
          <a:prstGeom prst="rect">
            <a:avLst/>
          </a:prstGeom>
          <a:solidFill>
            <a:srgbClr val="FFFFFF"/>
          </a:solidFill>
          <a:ln w="9525">
            <a:solidFill>
              <a:srgbClr val="D9DFEA"/>
            </a:solidFill>
            <a:prstDash val="solid"/>
          </a:ln>
        </p:spPr>
      </p:sp>
      <p:sp>
        <p:nvSpPr>
          <p:cNvPr id="61" name="Shape 55"/>
          <p:cNvSpPr/>
          <p:nvPr/>
        </p:nvSpPr>
        <p:spPr>
          <a:xfrm>
            <a:off x="566928" y="5120640"/>
            <a:ext cx="3566160" cy="41148"/>
          </a:xfrm>
          <a:prstGeom prst="rect">
            <a:avLst/>
          </a:prstGeom>
          <a:solidFill>
            <a:srgbClr val="132257"/>
          </a:solidFill>
          <a:ln w="12700">
            <a:solidFill>
              <a:srgbClr val="132257"/>
            </a:solidFill>
            <a:prstDash val="solid"/>
          </a:ln>
        </p:spPr>
      </p:sp>
      <p:sp>
        <p:nvSpPr>
          <p:cNvPr id="62" name="Text 56"/>
          <p:cNvSpPr txBox="1"/>
          <p:nvPr/>
        </p:nvSpPr>
        <p:spPr>
          <a:xfrm>
            <a:off x="749808" y="5285232"/>
            <a:ext cx="3200400" cy="502920"/>
          </a:xfrm>
          <a:prstGeom prst="rect">
            <a:avLst/>
          </a:prstGeom>
          <a:noFill/>
          <a:ln/>
        </p:spPr>
        <p:txBody>
          <a:bodyPr wrap="square" lIns="0" tIns="0" rIns="0" bIns="0" rtlCol="0" anchor="t"/>
          <a:lstStyle/>
          <a:p>
            <a:pPr indent="0" marL="0">
              <a:buNone/>
            </a:pPr>
            <a:r>
              <a:rPr lang="en-US" sz="2600" b="1" dirty="0">
                <a:solidFill>
                  <a:srgbClr val="132257"/>
                </a:solidFill>
                <a:latin typeface="Exo 2" pitchFamily="34" charset="0"/>
                <a:ea typeface="Exo 2" pitchFamily="34" charset="-122"/>
                <a:cs typeface="Exo 2" pitchFamily="34" charset="-120"/>
              </a:rPr>
              <a:t>70%</a:t>
            </a:r>
            <a:endParaRPr lang="en-US" sz="2600" dirty="0"/>
          </a:p>
        </p:txBody>
      </p:sp>
      <p:sp>
        <p:nvSpPr>
          <p:cNvPr id="63" name="Text 57"/>
          <p:cNvSpPr txBox="1"/>
          <p:nvPr/>
        </p:nvSpPr>
        <p:spPr>
          <a:xfrm>
            <a:off x="749808" y="5806440"/>
            <a:ext cx="3200400" cy="274320"/>
          </a:xfrm>
          <a:prstGeom prst="rect">
            <a:avLst/>
          </a:prstGeom>
          <a:noFill/>
          <a:ln/>
        </p:spPr>
        <p:txBody>
          <a:bodyPr wrap="square" lIns="0" tIns="0" rIns="0" bIns="0" rtlCol="0" anchor="t"/>
          <a:lstStyle/>
          <a:p>
            <a:pPr indent="0" marL="0">
              <a:buNone/>
            </a:pPr>
            <a:r>
              <a:rPr lang="en-US" sz="1100" b="1" dirty="0">
                <a:solidFill>
                  <a:srgbClr val="132257"/>
                </a:solidFill>
                <a:latin typeface="Exo 2" pitchFamily="34" charset="0"/>
                <a:ea typeface="Exo 2" pitchFamily="34" charset="-122"/>
                <a:cs typeface="Exo 2" pitchFamily="34" charset="-120"/>
              </a:rPr>
              <a:t>of website visits</a:t>
            </a:r>
            <a:endParaRPr lang="en-US" sz="1100" dirty="0"/>
          </a:p>
        </p:txBody>
      </p:sp>
      <p:sp>
        <p:nvSpPr>
          <p:cNvPr id="64" name="Text 58"/>
          <p:cNvSpPr txBox="1"/>
          <p:nvPr/>
        </p:nvSpPr>
        <p:spPr>
          <a:xfrm>
            <a:off x="749808" y="6053328"/>
            <a:ext cx="3200400" cy="256032"/>
          </a:xfrm>
          <a:prstGeom prst="rect">
            <a:avLst/>
          </a:prstGeom>
          <a:noFill/>
          <a:ln/>
        </p:spPr>
        <p:txBody>
          <a:bodyPr wrap="square" lIns="0" tIns="0" rIns="0" bIns="0" rtlCol="0" anchor="t"/>
          <a:lstStyle/>
          <a:p>
            <a:pPr indent="0" marL="0">
              <a:buNone/>
            </a:pPr>
            <a:r>
              <a:rPr lang="en-US" sz="900" dirty="0">
                <a:solidFill>
                  <a:srgbClr val="6B7590"/>
                </a:solidFill>
                <a:latin typeface="Exo 2" pitchFamily="34" charset="0"/>
                <a:ea typeface="Exo 2" pitchFamily="34" charset="-122"/>
                <a:cs typeface="Exo 2" pitchFamily="34" charset="-120"/>
              </a:rPr>
              <a:t>came from Saudi Google Ads</a:t>
            </a:r>
            <a:endParaRPr lang="en-US" sz="900" dirty="0"/>
          </a:p>
        </p:txBody>
      </p:sp>
      <p:sp>
        <p:nvSpPr>
          <p:cNvPr id="65" name="Shape 59"/>
          <p:cNvSpPr/>
          <p:nvPr/>
        </p:nvSpPr>
        <p:spPr>
          <a:xfrm>
            <a:off x="4315968" y="5120640"/>
            <a:ext cx="3566160" cy="1234440"/>
          </a:xfrm>
          <a:prstGeom prst="rect">
            <a:avLst/>
          </a:prstGeom>
          <a:solidFill>
            <a:srgbClr val="FFFFFF"/>
          </a:solidFill>
          <a:ln w="9525">
            <a:solidFill>
              <a:srgbClr val="D9DFEA"/>
            </a:solidFill>
            <a:prstDash val="solid"/>
          </a:ln>
        </p:spPr>
      </p:sp>
      <p:sp>
        <p:nvSpPr>
          <p:cNvPr id="66" name="Shape 60"/>
          <p:cNvSpPr/>
          <p:nvPr/>
        </p:nvSpPr>
        <p:spPr>
          <a:xfrm>
            <a:off x="4315968" y="5120640"/>
            <a:ext cx="3566160" cy="41148"/>
          </a:xfrm>
          <a:prstGeom prst="rect">
            <a:avLst/>
          </a:prstGeom>
          <a:solidFill>
            <a:srgbClr val="132257"/>
          </a:solidFill>
          <a:ln w="12700">
            <a:solidFill>
              <a:srgbClr val="132257"/>
            </a:solidFill>
            <a:prstDash val="solid"/>
          </a:ln>
        </p:spPr>
      </p:sp>
      <p:sp>
        <p:nvSpPr>
          <p:cNvPr id="67" name="Text 61"/>
          <p:cNvSpPr txBox="1"/>
          <p:nvPr/>
        </p:nvSpPr>
        <p:spPr>
          <a:xfrm>
            <a:off x="4498848" y="5285232"/>
            <a:ext cx="3200400" cy="502920"/>
          </a:xfrm>
          <a:prstGeom prst="rect">
            <a:avLst/>
          </a:prstGeom>
          <a:noFill/>
          <a:ln/>
        </p:spPr>
        <p:txBody>
          <a:bodyPr wrap="square" lIns="0" tIns="0" rIns="0" bIns="0" rtlCol="0" anchor="t"/>
          <a:lstStyle/>
          <a:p>
            <a:pPr indent="0" marL="0">
              <a:buNone/>
            </a:pPr>
            <a:r>
              <a:rPr lang="en-US" sz="2600" b="1" dirty="0">
                <a:solidFill>
                  <a:srgbClr val="132257"/>
                </a:solidFill>
                <a:latin typeface="Exo 2" pitchFamily="34" charset="0"/>
                <a:ea typeface="Exo 2" pitchFamily="34" charset="-122"/>
                <a:cs typeface="Exo 2" pitchFamily="34" charset="-120"/>
              </a:rPr>
              <a:t>97% / 87%</a:t>
            </a:r>
            <a:endParaRPr lang="en-US" sz="2600" dirty="0"/>
          </a:p>
        </p:txBody>
      </p:sp>
      <p:sp>
        <p:nvSpPr>
          <p:cNvPr id="68" name="Text 62"/>
          <p:cNvSpPr txBox="1"/>
          <p:nvPr/>
        </p:nvSpPr>
        <p:spPr>
          <a:xfrm>
            <a:off x="4498848" y="5806440"/>
            <a:ext cx="3200400" cy="274320"/>
          </a:xfrm>
          <a:prstGeom prst="rect">
            <a:avLst/>
          </a:prstGeom>
          <a:noFill/>
          <a:ln/>
        </p:spPr>
        <p:txBody>
          <a:bodyPr wrap="square" lIns="0" tIns="0" rIns="0" bIns="0" rtlCol="0" anchor="t"/>
          <a:lstStyle/>
          <a:p>
            <a:pPr indent="0" marL="0">
              <a:buNone/>
            </a:pPr>
            <a:r>
              <a:rPr lang="en-US" sz="1100" b="1" dirty="0">
                <a:solidFill>
                  <a:srgbClr val="132257"/>
                </a:solidFill>
                <a:latin typeface="Exo 2" pitchFamily="34" charset="0"/>
                <a:ea typeface="Exo 2" pitchFamily="34" charset="-122"/>
                <a:cs typeface="Exo 2" pitchFamily="34" charset="-120"/>
              </a:rPr>
              <a:t>engagement rate</a:t>
            </a:r>
            <a:endParaRPr lang="en-US" sz="1100" dirty="0"/>
          </a:p>
        </p:txBody>
      </p:sp>
      <p:sp>
        <p:nvSpPr>
          <p:cNvPr id="69" name="Text 63"/>
          <p:cNvSpPr txBox="1"/>
          <p:nvPr/>
        </p:nvSpPr>
        <p:spPr>
          <a:xfrm>
            <a:off x="4498848" y="6053328"/>
            <a:ext cx="3200400" cy="256032"/>
          </a:xfrm>
          <a:prstGeom prst="rect">
            <a:avLst/>
          </a:prstGeom>
          <a:noFill/>
          <a:ln/>
        </p:spPr>
        <p:txBody>
          <a:bodyPr wrap="square" lIns="0" tIns="0" rIns="0" bIns="0" rtlCol="0" anchor="t"/>
          <a:lstStyle/>
          <a:p>
            <a:pPr indent="0" marL="0">
              <a:buNone/>
            </a:pPr>
            <a:r>
              <a:rPr lang="en-US" sz="900" dirty="0">
                <a:solidFill>
                  <a:srgbClr val="6B7590"/>
                </a:solidFill>
                <a:latin typeface="Exo 2" pitchFamily="34" charset="0"/>
                <a:ea typeface="Exo 2" pitchFamily="34" charset="-122"/>
                <a:cs typeface="Exo 2" pitchFamily="34" charset="-120"/>
              </a:rPr>
              <a:t>English ads / Arabic ads</a:t>
            </a:r>
            <a:endParaRPr lang="en-US" sz="900" dirty="0"/>
          </a:p>
        </p:txBody>
      </p:sp>
      <p:sp>
        <p:nvSpPr>
          <p:cNvPr id="70" name="Shape 64"/>
          <p:cNvSpPr/>
          <p:nvPr/>
        </p:nvSpPr>
        <p:spPr>
          <a:xfrm>
            <a:off x="8065008" y="5120640"/>
            <a:ext cx="3566160" cy="1234440"/>
          </a:xfrm>
          <a:prstGeom prst="rect">
            <a:avLst/>
          </a:prstGeom>
          <a:solidFill>
            <a:srgbClr val="EEF1F8"/>
          </a:solidFill>
          <a:ln w="12700">
            <a:solidFill>
              <a:srgbClr val="EEF1F8"/>
            </a:solidFill>
            <a:prstDash val="solid"/>
          </a:ln>
        </p:spPr>
      </p:sp>
      <p:sp>
        <p:nvSpPr>
          <p:cNvPr id="71" name="Text 65"/>
          <p:cNvSpPr txBox="1"/>
          <p:nvPr/>
        </p:nvSpPr>
        <p:spPr>
          <a:xfrm>
            <a:off x="8229600" y="5120640"/>
            <a:ext cx="3291840" cy="1234440"/>
          </a:xfrm>
          <a:prstGeom prst="rect">
            <a:avLst/>
          </a:prstGeom>
          <a:noFill/>
          <a:ln/>
        </p:spPr>
        <p:txBody>
          <a:bodyPr wrap="square" lIns="0" tIns="0" rIns="0" bIns="0" rtlCol="0" anchor="ctr"/>
          <a:lstStyle/>
          <a:p>
            <a:pPr indent="0" marL="0">
              <a:buNone/>
            </a:pPr>
            <a:r>
              <a:rPr lang="en-US" sz="1200" b="1" dirty="0">
                <a:solidFill>
                  <a:srgbClr val="132257"/>
                </a:solidFill>
                <a:latin typeface="Exo 2" pitchFamily="34" charset="0"/>
                <a:ea typeface="Exo 2" pitchFamily="34" charset="-122"/>
                <a:cs typeface="Exo 2" pitchFamily="34" charset="-120"/>
              </a:rPr>
              <a:t>A one-month test result for each channel will decide where the budget goes next.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home/user/HatemIsa_202508993_IT9002_NLP_Project/emyaa-ceo-deck/working/charts/board_header.png">    </p:cNvPr>
          <p:cNvPicPr>
            <a:picLocks noChangeAspect="1"/>
          </p:cNvPicPr>
          <p:nvPr/>
        </p:nvPicPr>
        <p:blipFill>
          <a:blip r:embed="rId1"/>
          <a:stretch>
            <a:fillRect/>
          </a:stretch>
        </p:blipFill>
        <p:spPr>
          <a:xfrm>
            <a:off x="0" y="0"/>
            <a:ext cx="12191695" cy="1298448"/>
          </a:xfrm>
          <a:prstGeom prst="rect">
            <a:avLst/>
          </a:prstGeom>
        </p:spPr>
      </p:pic>
      <p:sp>
        <p:nvSpPr>
          <p:cNvPr id="3" name="Shape 0"/>
          <p:cNvSpPr/>
          <p:nvPr/>
        </p:nvSpPr>
        <p:spPr>
          <a:xfrm>
            <a:off x="0" y="1298448"/>
            <a:ext cx="12191695" cy="27432"/>
          </a:xfrm>
          <a:prstGeom prst="rect">
            <a:avLst/>
          </a:prstGeom>
          <a:solidFill>
            <a:srgbClr val="D4AF37"/>
          </a:solidFill>
          <a:ln w="12700">
            <a:solidFill>
              <a:srgbClr val="D4AF37"/>
            </a:solidFill>
            <a:prstDash val="solid"/>
          </a:ln>
        </p:spPr>
      </p:sp>
      <p:sp>
        <p:nvSpPr>
          <p:cNvPr id="4" name="Text 1"/>
          <p:cNvSpPr txBox="1"/>
          <p:nvPr/>
        </p:nvSpPr>
        <p:spPr>
          <a:xfrm>
            <a:off x="566928" y="274320"/>
            <a:ext cx="9144000" cy="201168"/>
          </a:xfrm>
          <a:prstGeom prst="rect">
            <a:avLst/>
          </a:prstGeom>
          <a:noFill/>
          <a:ln/>
        </p:spPr>
        <p:txBody>
          <a:bodyPr wrap="square" lIns="0" tIns="0" rIns="0" bIns="0" rtlCol="0" anchor="t"/>
          <a:lstStyle/>
          <a:p>
            <a:pPr indent="0" marL="0">
              <a:buNone/>
            </a:pPr>
            <a:r>
              <a:rPr lang="en-US" sz="950" b="1" spc="200" kern="0" dirty="0">
                <a:solidFill>
                  <a:srgbClr val="D4AF37"/>
                </a:solidFill>
                <a:latin typeface="Exo 2" pitchFamily="34" charset="0"/>
                <a:ea typeface="Exo 2" pitchFamily="34" charset="-122"/>
                <a:cs typeface="Exo 2" pitchFamily="34" charset="-120"/>
              </a:rPr>
              <a:t>OUTDOOR AND ELEVATOR MEDIA, SAUDI ARABIA</a:t>
            </a:r>
            <a:endParaRPr lang="en-US" sz="950" dirty="0"/>
          </a:p>
        </p:txBody>
      </p:sp>
      <p:sp>
        <p:nvSpPr>
          <p:cNvPr id="5" name="Text 2"/>
          <p:cNvSpPr txBox="1"/>
          <p:nvPr/>
        </p:nvSpPr>
        <p:spPr>
          <a:xfrm>
            <a:off x="566928" y="475488"/>
            <a:ext cx="9418320" cy="749808"/>
          </a:xfrm>
          <a:prstGeom prst="rect">
            <a:avLst/>
          </a:prstGeom>
          <a:noFill/>
          <a:ln/>
        </p:spPr>
        <p:txBody>
          <a:bodyPr wrap="square" lIns="0" tIns="0" rIns="0" bIns="0" rtlCol="0" anchor="ctr"/>
          <a:lstStyle/>
          <a:p>
            <a:pPr indent="0" marL="0">
              <a:buNone/>
            </a:pPr>
            <a:r>
              <a:rPr lang="en-US" sz="2200" b="1" dirty="0">
                <a:solidFill>
                  <a:srgbClr val="FFFFFF"/>
                </a:solidFill>
                <a:latin typeface="Exo 2" pitchFamily="34" charset="0"/>
                <a:ea typeface="Exo 2" pitchFamily="34" charset="-122"/>
                <a:cs typeface="Exo 2" pitchFamily="34" charset="-120"/>
              </a:rPr>
              <a:t>Outdoor options from Nadher Media: 91 screens in Saudi Arabia</a:t>
            </a:r>
            <a:endParaRPr lang="en-US" sz="2200" dirty="0"/>
          </a:p>
        </p:txBody>
      </p:sp>
      <p:pic>
        <p:nvPicPr>
          <p:cNvPr id="6" name="Image 1" descr="/home/user/HatemIsa_202508993_IT9002_NLP_Project/emyaa-ceo-deck/working/charts/ajyad_white.png">    </p:cNvPr>
          <p:cNvPicPr>
            <a:picLocks noChangeAspect="1"/>
          </p:cNvPicPr>
          <p:nvPr/>
        </p:nvPicPr>
        <p:blipFill>
          <a:blip r:embed="rId2"/>
          <a:stretch>
            <a:fillRect/>
          </a:stretch>
        </p:blipFill>
        <p:spPr>
          <a:xfrm>
            <a:off x="10305288" y="457200"/>
            <a:ext cx="1325880" cy="384048"/>
          </a:xfrm>
          <a:prstGeom prst="rect">
            <a:avLst/>
          </a:prstGeom>
        </p:spPr>
      </p:pic>
      <p:sp>
        <p:nvSpPr>
          <p:cNvPr id="7" name="Text 3"/>
          <p:cNvSpPr txBox="1"/>
          <p:nvPr/>
        </p:nvSpPr>
        <p:spPr>
          <a:xfrm>
            <a:off x="566928" y="6492240"/>
            <a:ext cx="5486400" cy="201168"/>
          </a:xfrm>
          <a:prstGeom prst="rect">
            <a:avLst/>
          </a:prstGeom>
          <a:noFill/>
          <a:ln/>
        </p:spPr>
        <p:txBody>
          <a:bodyPr wrap="square" lIns="0" tIns="0" rIns="0" bIns="0" rtlCol="0" anchor="t"/>
          <a:lstStyle/>
          <a:p>
            <a:pPr indent="0" marL="0">
              <a:buNone/>
            </a:pPr>
            <a:r>
              <a:rPr lang="en-US" sz="800" dirty="0">
                <a:solidFill>
                  <a:srgbClr val="8A93A8"/>
                </a:solidFill>
                <a:latin typeface="Exo 2" pitchFamily="34" charset="0"/>
                <a:ea typeface="Exo 2" pitchFamily="34" charset="-122"/>
                <a:cs typeface="Exo 2" pitchFamily="34" charset="-120"/>
              </a:rPr>
              <a:t>eMYAA Trading Platform  |  Saudi Market Plan</a:t>
            </a:r>
            <a:endParaRPr lang="en-US" sz="800" dirty="0"/>
          </a:p>
        </p:txBody>
      </p:sp>
      <p:sp>
        <p:nvSpPr>
          <p:cNvPr id="8" name="Text 4"/>
          <p:cNvSpPr txBox="1"/>
          <p:nvPr/>
        </p:nvSpPr>
        <p:spPr>
          <a:xfrm>
            <a:off x="9802368" y="6492240"/>
            <a:ext cx="457200" cy="201168"/>
          </a:xfrm>
          <a:prstGeom prst="rect">
            <a:avLst/>
          </a:prstGeom>
          <a:noFill/>
          <a:ln/>
        </p:spPr>
        <p:txBody>
          <a:bodyPr wrap="square" lIns="0" tIns="0" rIns="0" bIns="0" rtlCol="0" anchor="t"/>
          <a:lstStyle/>
          <a:p>
            <a:pPr algn="r" indent="0" marL="0">
              <a:buNone/>
            </a:pPr>
            <a:r>
              <a:rPr lang="en-US" sz="800" dirty="0">
                <a:solidFill>
                  <a:srgbClr val="8A93A8"/>
                </a:solidFill>
                <a:latin typeface="Exo 2" pitchFamily="34" charset="0"/>
                <a:ea typeface="Exo 2" pitchFamily="34" charset="-122"/>
                <a:cs typeface="Exo 2" pitchFamily="34" charset="-120"/>
              </a:rPr>
              <a:t>5</a:t>
            </a:r>
            <a:endParaRPr lang="en-US" sz="800" dirty="0"/>
          </a:p>
        </p:txBody>
      </p:sp>
      <p:pic>
        <p:nvPicPr>
          <p:cNvPr id="9" name="Image 2" descr="/home/user/HatemIsa_202508993_IT9002_NLP_Project/emyaa-ceo-deck/working/charts/emyaa_navy.png">    </p:cNvPr>
          <p:cNvPicPr>
            <a:picLocks noChangeAspect="1"/>
          </p:cNvPicPr>
          <p:nvPr/>
        </p:nvPicPr>
        <p:blipFill>
          <a:blip r:embed="rId3"/>
          <a:stretch>
            <a:fillRect/>
          </a:stretch>
        </p:blipFill>
        <p:spPr>
          <a:xfrm>
            <a:off x="10607040" y="6327648"/>
            <a:ext cx="1024128" cy="365760"/>
          </a:xfrm>
          <a:prstGeom prst="rect">
            <a:avLst/>
          </a:prstGeom>
        </p:spPr>
      </p:pic>
      <p:pic>
        <p:nvPicPr>
          <p:cNvPr id="11" name="Image 3" descr="/home/user/HatemIsa_202508993_IT9002_NLP_Project/emyaa-ceo-deck/working/charts/vb_elevator_gallery.png">    </p:cNvPr>
          <p:cNvPicPr>
            <a:picLocks noChangeAspect="1"/>
          </p:cNvPicPr>
          <p:nvPr/>
        </p:nvPicPr>
        <p:blipFill>
          <a:blip r:embed="rId4"/>
          <a:stretch>
            <a:fillRect/>
          </a:stretch>
        </p:blipFill>
        <p:spPr>
          <a:xfrm>
            <a:off x="566928" y="1600200"/>
            <a:ext cx="4663440" cy="2624328"/>
          </a:xfrm>
          <a:prstGeom prst="rect">
            <a:avLst/>
          </a:prstGeom>
        </p:spPr>
      </p:pic>
      <p:pic>
        <p:nvPicPr>
          <p:cNvPr id="12" name="Image 4" descr="/home/user/HatemIsa_202508993_IT9002_NLP_Project/emyaa-ceo-deck/working/charts/vb_zone_mockup.png">    </p:cNvPr>
          <p:cNvPicPr>
            <a:picLocks noChangeAspect="1"/>
          </p:cNvPicPr>
          <p:nvPr/>
        </p:nvPicPr>
        <p:blipFill>
          <a:blip r:embed="rId5"/>
          <a:stretch>
            <a:fillRect/>
          </a:stretch>
        </p:blipFill>
        <p:spPr>
          <a:xfrm>
            <a:off x="5394960" y="1600200"/>
            <a:ext cx="2240280" cy="2624328"/>
          </a:xfrm>
          <a:prstGeom prst="rect">
            <a:avLst/>
          </a:prstGeom>
        </p:spPr>
      </p:pic>
      <p:sp>
        <p:nvSpPr>
          <p:cNvPr id="13" name="Text 5"/>
          <p:cNvSpPr txBox="1"/>
          <p:nvPr/>
        </p:nvSpPr>
        <p:spPr>
          <a:xfrm>
            <a:off x="566928" y="4261104"/>
            <a:ext cx="7132320" cy="256032"/>
          </a:xfrm>
          <a:prstGeom prst="rect">
            <a:avLst/>
          </a:prstGeom>
          <a:noFill/>
          <a:ln/>
        </p:spPr>
        <p:txBody>
          <a:bodyPr wrap="square" lIns="0" tIns="0" rIns="0" bIns="0" rtlCol="0" anchor="t"/>
          <a:lstStyle/>
          <a:p>
            <a:pPr indent="0" marL="0">
              <a:buNone/>
            </a:pPr>
            <a:r>
              <a:rPr lang="en-US" sz="950" i="1" dirty="0">
                <a:solidFill>
                  <a:srgbClr val="6B7590"/>
                </a:solidFill>
                <a:latin typeface="Exo 2" pitchFamily="34" charset="0"/>
                <a:ea typeface="Exo 2" pitchFamily="34" charset="-122"/>
                <a:cs typeface="Exo 2" pitchFamily="34" charset="-120"/>
              </a:rPr>
              <a:t>Elevator screens, 83 towers  |  The Zone LED screens, 8 faces (eMYAA mock-up)</a:t>
            </a:r>
            <a:endParaRPr lang="en-US" sz="950" dirty="0"/>
          </a:p>
        </p:txBody>
      </p:sp>
      <p:sp>
        <p:nvSpPr>
          <p:cNvPr id="14" name="Shape 6"/>
          <p:cNvSpPr/>
          <p:nvPr/>
        </p:nvSpPr>
        <p:spPr>
          <a:xfrm>
            <a:off x="566928" y="4572000"/>
            <a:ext cx="1371600" cy="411480"/>
          </a:xfrm>
          <a:prstGeom prst="rect">
            <a:avLst/>
          </a:prstGeom>
          <a:solidFill>
            <a:srgbClr val="132257"/>
          </a:solidFill>
          <a:ln w="12700">
            <a:solidFill>
              <a:srgbClr val="132257"/>
            </a:solidFill>
            <a:prstDash val="solid"/>
          </a:ln>
        </p:spPr>
      </p:sp>
      <p:sp>
        <p:nvSpPr>
          <p:cNvPr id="15" name="Text 7"/>
          <p:cNvSpPr txBox="1"/>
          <p:nvPr/>
        </p:nvSpPr>
        <p:spPr>
          <a:xfrm>
            <a:off x="676656" y="4572000"/>
            <a:ext cx="1170432" cy="411480"/>
          </a:xfrm>
          <a:prstGeom prst="rect">
            <a:avLst/>
          </a:prstGeom>
          <a:noFill/>
          <a:ln/>
        </p:spPr>
        <p:txBody>
          <a:bodyPr wrap="square" lIns="0" tIns="0" rIns="0" bIns="0" rtlCol="0" anchor="ctr"/>
          <a:lstStyle/>
          <a:p>
            <a:pPr algn="l" indent="0" marL="0">
              <a:buNone/>
            </a:pPr>
            <a:r>
              <a:rPr lang="en-US" sz="1050" b="1" dirty="0">
                <a:solidFill>
                  <a:srgbClr val="FFFFFF"/>
                </a:solidFill>
                <a:latin typeface="Exo 2" pitchFamily="34" charset="0"/>
                <a:ea typeface="Exo 2" pitchFamily="34" charset="-122"/>
                <a:cs typeface="Exo 2" pitchFamily="34" charset="-120"/>
              </a:rPr>
              <a:t>Duration</a:t>
            </a:r>
            <a:endParaRPr lang="en-US" sz="1050" dirty="0"/>
          </a:p>
        </p:txBody>
      </p:sp>
      <p:sp>
        <p:nvSpPr>
          <p:cNvPr id="16" name="Shape 8"/>
          <p:cNvSpPr/>
          <p:nvPr/>
        </p:nvSpPr>
        <p:spPr>
          <a:xfrm>
            <a:off x="1938528" y="4572000"/>
            <a:ext cx="2011680" cy="411480"/>
          </a:xfrm>
          <a:prstGeom prst="rect">
            <a:avLst/>
          </a:prstGeom>
          <a:solidFill>
            <a:srgbClr val="132257"/>
          </a:solidFill>
          <a:ln w="12700">
            <a:solidFill>
              <a:srgbClr val="132257"/>
            </a:solidFill>
            <a:prstDash val="solid"/>
          </a:ln>
        </p:spPr>
      </p:sp>
      <p:sp>
        <p:nvSpPr>
          <p:cNvPr id="17" name="Text 9"/>
          <p:cNvSpPr txBox="1"/>
          <p:nvPr/>
        </p:nvSpPr>
        <p:spPr>
          <a:xfrm>
            <a:off x="2048256" y="4572000"/>
            <a:ext cx="1810512" cy="411480"/>
          </a:xfrm>
          <a:prstGeom prst="rect">
            <a:avLst/>
          </a:prstGeom>
          <a:noFill/>
          <a:ln/>
        </p:spPr>
        <p:txBody>
          <a:bodyPr wrap="square" lIns="0" tIns="0" rIns="0" bIns="0" rtlCol="0" anchor="ctr"/>
          <a:lstStyle/>
          <a:p>
            <a:pPr algn="l" indent="0" marL="0">
              <a:buNone/>
            </a:pPr>
            <a:r>
              <a:rPr lang="en-US" sz="1050" b="1" dirty="0">
                <a:solidFill>
                  <a:srgbClr val="FFFFFF"/>
                </a:solidFill>
                <a:latin typeface="Exo 2" pitchFamily="34" charset="0"/>
                <a:ea typeface="Exo 2" pitchFamily="34" charset="-122"/>
                <a:cs typeface="Exo 2" pitchFamily="34" charset="-120"/>
              </a:rPr>
              <a:t>Original rate</a:t>
            </a:r>
            <a:endParaRPr lang="en-US" sz="1050" dirty="0"/>
          </a:p>
        </p:txBody>
      </p:sp>
      <p:sp>
        <p:nvSpPr>
          <p:cNvPr id="18" name="Shape 10"/>
          <p:cNvSpPr/>
          <p:nvPr/>
        </p:nvSpPr>
        <p:spPr>
          <a:xfrm>
            <a:off x="3950208" y="4572000"/>
            <a:ext cx="2011680" cy="411480"/>
          </a:xfrm>
          <a:prstGeom prst="rect">
            <a:avLst/>
          </a:prstGeom>
          <a:solidFill>
            <a:srgbClr val="132257"/>
          </a:solidFill>
          <a:ln w="12700">
            <a:solidFill>
              <a:srgbClr val="132257"/>
            </a:solidFill>
            <a:prstDash val="solid"/>
          </a:ln>
        </p:spPr>
      </p:sp>
      <p:sp>
        <p:nvSpPr>
          <p:cNvPr id="19" name="Text 11"/>
          <p:cNvSpPr txBox="1"/>
          <p:nvPr/>
        </p:nvSpPr>
        <p:spPr>
          <a:xfrm>
            <a:off x="4059936" y="4572000"/>
            <a:ext cx="1810512" cy="411480"/>
          </a:xfrm>
          <a:prstGeom prst="rect">
            <a:avLst/>
          </a:prstGeom>
          <a:noFill/>
          <a:ln/>
        </p:spPr>
        <p:txBody>
          <a:bodyPr wrap="square" lIns="0" tIns="0" rIns="0" bIns="0" rtlCol="0" anchor="ctr"/>
          <a:lstStyle/>
          <a:p>
            <a:pPr algn="l" indent="0" marL="0">
              <a:buNone/>
            </a:pPr>
            <a:r>
              <a:rPr lang="en-US" sz="1050" b="1" dirty="0">
                <a:solidFill>
                  <a:srgbClr val="FFFFFF"/>
                </a:solidFill>
                <a:latin typeface="Exo 2" pitchFamily="34" charset="0"/>
                <a:ea typeface="Exo 2" pitchFamily="34" charset="-122"/>
                <a:cs typeface="Exo 2" pitchFamily="34" charset="-120"/>
              </a:rPr>
              <a:t>eMYAA rate</a:t>
            </a:r>
            <a:endParaRPr lang="en-US" sz="1050" dirty="0"/>
          </a:p>
        </p:txBody>
      </p:sp>
      <p:sp>
        <p:nvSpPr>
          <p:cNvPr id="20" name="Shape 12"/>
          <p:cNvSpPr/>
          <p:nvPr/>
        </p:nvSpPr>
        <p:spPr>
          <a:xfrm>
            <a:off x="5961888" y="4572000"/>
            <a:ext cx="1737360" cy="411480"/>
          </a:xfrm>
          <a:prstGeom prst="rect">
            <a:avLst/>
          </a:prstGeom>
          <a:solidFill>
            <a:srgbClr val="132257"/>
          </a:solidFill>
          <a:ln w="12700">
            <a:solidFill>
              <a:srgbClr val="132257"/>
            </a:solidFill>
            <a:prstDash val="solid"/>
          </a:ln>
        </p:spPr>
      </p:sp>
      <p:sp>
        <p:nvSpPr>
          <p:cNvPr id="21" name="Text 13"/>
          <p:cNvSpPr txBox="1"/>
          <p:nvPr/>
        </p:nvSpPr>
        <p:spPr>
          <a:xfrm>
            <a:off x="6071616" y="4572000"/>
            <a:ext cx="1536192" cy="411480"/>
          </a:xfrm>
          <a:prstGeom prst="rect">
            <a:avLst/>
          </a:prstGeom>
          <a:noFill/>
          <a:ln/>
        </p:spPr>
        <p:txBody>
          <a:bodyPr wrap="square" lIns="0" tIns="0" rIns="0" bIns="0" rtlCol="0" anchor="ctr"/>
          <a:lstStyle/>
          <a:p>
            <a:pPr algn="l" indent="0" marL="0">
              <a:buNone/>
            </a:pPr>
            <a:r>
              <a:rPr lang="en-US" sz="1050" b="1" dirty="0">
                <a:solidFill>
                  <a:srgbClr val="FFFFFF"/>
                </a:solidFill>
                <a:latin typeface="Exo 2" pitchFamily="34" charset="0"/>
                <a:ea typeface="Exo 2" pitchFamily="34" charset="-122"/>
                <a:cs typeface="Exo 2" pitchFamily="34" charset="-120"/>
              </a:rPr>
              <a:t>Ad plays</a:t>
            </a:r>
            <a:endParaRPr lang="en-US" sz="1050" dirty="0"/>
          </a:p>
        </p:txBody>
      </p:sp>
      <p:sp>
        <p:nvSpPr>
          <p:cNvPr id="22" name="Shape 14"/>
          <p:cNvSpPr/>
          <p:nvPr/>
        </p:nvSpPr>
        <p:spPr>
          <a:xfrm>
            <a:off x="566928" y="4983480"/>
            <a:ext cx="1371600" cy="347472"/>
          </a:xfrm>
          <a:prstGeom prst="rect">
            <a:avLst/>
          </a:prstGeom>
          <a:solidFill>
            <a:srgbClr val="FFFFFF"/>
          </a:solidFill>
          <a:ln w="9525">
            <a:solidFill>
              <a:srgbClr val="D9DFEA"/>
            </a:solidFill>
            <a:prstDash val="solid"/>
          </a:ln>
        </p:spPr>
      </p:sp>
      <p:sp>
        <p:nvSpPr>
          <p:cNvPr id="23" name="Text 15"/>
          <p:cNvSpPr txBox="1"/>
          <p:nvPr/>
        </p:nvSpPr>
        <p:spPr>
          <a:xfrm>
            <a:off x="676656" y="4983480"/>
            <a:ext cx="1170432" cy="347472"/>
          </a:xfrm>
          <a:prstGeom prst="rect">
            <a:avLst/>
          </a:prstGeom>
          <a:noFill/>
          <a:ln/>
        </p:spPr>
        <p:txBody>
          <a:bodyPr wrap="square" lIns="0" tIns="0" rIns="0" bIns="0" rtlCol="0" anchor="ctr"/>
          <a:lstStyle/>
          <a:p>
            <a:pPr algn="l" indent="0" marL="0">
              <a:buNone/>
            </a:pPr>
            <a:r>
              <a:rPr lang="en-US" sz="1100" b="1" dirty="0">
                <a:solidFill>
                  <a:srgbClr val="132257"/>
                </a:solidFill>
                <a:latin typeface="Exo 2" pitchFamily="34" charset="0"/>
                <a:ea typeface="Exo 2" pitchFamily="34" charset="-122"/>
                <a:cs typeface="Exo 2" pitchFamily="34" charset="-120"/>
              </a:rPr>
              <a:t>2 weeks</a:t>
            </a:r>
            <a:endParaRPr lang="en-US" sz="1100" dirty="0"/>
          </a:p>
        </p:txBody>
      </p:sp>
      <p:sp>
        <p:nvSpPr>
          <p:cNvPr id="24" name="Shape 16"/>
          <p:cNvSpPr/>
          <p:nvPr/>
        </p:nvSpPr>
        <p:spPr>
          <a:xfrm>
            <a:off x="1938528" y="4983480"/>
            <a:ext cx="2011680" cy="347472"/>
          </a:xfrm>
          <a:prstGeom prst="rect">
            <a:avLst/>
          </a:prstGeom>
          <a:solidFill>
            <a:srgbClr val="FFFFFF"/>
          </a:solidFill>
          <a:ln w="9525">
            <a:solidFill>
              <a:srgbClr val="D9DFEA"/>
            </a:solidFill>
            <a:prstDash val="solid"/>
          </a:ln>
        </p:spPr>
      </p:sp>
      <p:sp>
        <p:nvSpPr>
          <p:cNvPr id="25" name="Text 17"/>
          <p:cNvSpPr txBox="1"/>
          <p:nvPr/>
        </p:nvSpPr>
        <p:spPr>
          <a:xfrm>
            <a:off x="2048256" y="4983480"/>
            <a:ext cx="1810512" cy="347472"/>
          </a:xfrm>
          <a:prstGeom prst="rect">
            <a:avLst/>
          </a:prstGeom>
          <a:noFill/>
          <a:ln/>
        </p:spPr>
        <p:txBody>
          <a:bodyPr wrap="square" lIns="0" tIns="0" rIns="0" bIns="0" rtlCol="0" anchor="ctr"/>
          <a:lstStyle/>
          <a:p>
            <a:pPr algn="l" indent="0" marL="0">
              <a:buNone/>
            </a:pPr>
            <a:r>
              <a:rPr lang="en-US" sz="1100" dirty="0">
                <a:solidFill>
                  <a:srgbClr val="1F2A44"/>
                </a:solidFill>
                <a:latin typeface="Exo 2" pitchFamily="34" charset="0"/>
                <a:ea typeface="Exo 2" pitchFamily="34" charset="-122"/>
                <a:cs typeface="Exo 2" pitchFamily="34" charset="-120"/>
              </a:rPr>
              <a:t>-</a:t>
            </a:r>
            <a:endParaRPr lang="en-US" sz="1100" dirty="0"/>
          </a:p>
        </p:txBody>
      </p:sp>
      <p:sp>
        <p:nvSpPr>
          <p:cNvPr id="26" name="Shape 18"/>
          <p:cNvSpPr/>
          <p:nvPr/>
        </p:nvSpPr>
        <p:spPr>
          <a:xfrm>
            <a:off x="3950208" y="4983480"/>
            <a:ext cx="2011680" cy="347472"/>
          </a:xfrm>
          <a:prstGeom prst="rect">
            <a:avLst/>
          </a:prstGeom>
          <a:solidFill>
            <a:srgbClr val="FFFFFF"/>
          </a:solidFill>
          <a:ln w="9525">
            <a:solidFill>
              <a:srgbClr val="D9DFEA"/>
            </a:solidFill>
            <a:prstDash val="solid"/>
          </a:ln>
        </p:spPr>
      </p:sp>
      <p:sp>
        <p:nvSpPr>
          <p:cNvPr id="27" name="Text 19"/>
          <p:cNvSpPr txBox="1"/>
          <p:nvPr/>
        </p:nvSpPr>
        <p:spPr>
          <a:xfrm>
            <a:off x="4059936" y="4983480"/>
            <a:ext cx="1810512" cy="347472"/>
          </a:xfrm>
          <a:prstGeom prst="rect">
            <a:avLst/>
          </a:prstGeom>
          <a:noFill/>
          <a:ln/>
        </p:spPr>
        <p:txBody>
          <a:bodyPr wrap="square" lIns="0" tIns="0" rIns="0" bIns="0" rtlCol="0" anchor="ctr"/>
          <a:lstStyle/>
          <a:p>
            <a:pPr algn="l" indent="0" marL="0">
              <a:buNone/>
            </a:pPr>
            <a:r>
              <a:rPr lang="en-US" sz="1100" b="1" dirty="0">
                <a:solidFill>
                  <a:srgbClr val="1F2A44"/>
                </a:solidFill>
                <a:latin typeface="Exo 2" pitchFamily="34" charset="0"/>
                <a:ea typeface="Exo 2" pitchFamily="34" charset="-122"/>
                <a:cs typeface="Exo 2" pitchFamily="34" charset="-120"/>
              </a:rPr>
              <a:t>USD 16,000</a:t>
            </a:r>
            <a:endParaRPr lang="en-US" sz="1100" dirty="0"/>
          </a:p>
        </p:txBody>
      </p:sp>
      <p:sp>
        <p:nvSpPr>
          <p:cNvPr id="28" name="Shape 20"/>
          <p:cNvSpPr/>
          <p:nvPr/>
        </p:nvSpPr>
        <p:spPr>
          <a:xfrm>
            <a:off x="5961888" y="4983480"/>
            <a:ext cx="1737360" cy="347472"/>
          </a:xfrm>
          <a:prstGeom prst="rect">
            <a:avLst/>
          </a:prstGeom>
          <a:solidFill>
            <a:srgbClr val="FFFFFF"/>
          </a:solidFill>
          <a:ln w="9525">
            <a:solidFill>
              <a:srgbClr val="D9DFEA"/>
            </a:solidFill>
            <a:prstDash val="solid"/>
          </a:ln>
        </p:spPr>
      </p:sp>
      <p:sp>
        <p:nvSpPr>
          <p:cNvPr id="29" name="Text 21"/>
          <p:cNvSpPr txBox="1"/>
          <p:nvPr/>
        </p:nvSpPr>
        <p:spPr>
          <a:xfrm>
            <a:off x="6071616" y="4983480"/>
            <a:ext cx="1536192" cy="347472"/>
          </a:xfrm>
          <a:prstGeom prst="rect">
            <a:avLst/>
          </a:prstGeom>
          <a:noFill/>
          <a:ln/>
        </p:spPr>
        <p:txBody>
          <a:bodyPr wrap="square" lIns="0" tIns="0" rIns="0" bIns="0" rtlCol="0" anchor="ctr"/>
          <a:lstStyle/>
          <a:p>
            <a:pPr algn="l" indent="0" marL="0">
              <a:buNone/>
            </a:pPr>
            <a:r>
              <a:rPr lang="en-US" sz="1100" dirty="0">
                <a:solidFill>
                  <a:srgbClr val="1F2A44"/>
                </a:solidFill>
                <a:latin typeface="Exo 2" pitchFamily="34" charset="0"/>
                <a:ea typeface="Exo 2" pitchFamily="34" charset="-122"/>
                <a:cs typeface="Exo 2" pitchFamily="34" charset="-120"/>
              </a:rPr>
              <a:t>0.84M</a:t>
            </a:r>
            <a:endParaRPr lang="en-US" sz="1100" dirty="0"/>
          </a:p>
        </p:txBody>
      </p:sp>
      <p:sp>
        <p:nvSpPr>
          <p:cNvPr id="30" name="Shape 22"/>
          <p:cNvSpPr/>
          <p:nvPr/>
        </p:nvSpPr>
        <p:spPr>
          <a:xfrm>
            <a:off x="566928" y="5330952"/>
            <a:ext cx="1371600" cy="347472"/>
          </a:xfrm>
          <a:prstGeom prst="rect">
            <a:avLst/>
          </a:prstGeom>
          <a:solidFill>
            <a:srgbClr val="EEF1F8"/>
          </a:solidFill>
          <a:ln w="9525">
            <a:solidFill>
              <a:srgbClr val="D9DFEA"/>
            </a:solidFill>
            <a:prstDash val="solid"/>
          </a:ln>
        </p:spPr>
      </p:sp>
      <p:sp>
        <p:nvSpPr>
          <p:cNvPr id="31" name="Text 23"/>
          <p:cNvSpPr txBox="1"/>
          <p:nvPr/>
        </p:nvSpPr>
        <p:spPr>
          <a:xfrm>
            <a:off x="676656" y="5330952"/>
            <a:ext cx="1170432" cy="347472"/>
          </a:xfrm>
          <a:prstGeom prst="rect">
            <a:avLst/>
          </a:prstGeom>
          <a:noFill/>
          <a:ln/>
        </p:spPr>
        <p:txBody>
          <a:bodyPr wrap="square" lIns="0" tIns="0" rIns="0" bIns="0" rtlCol="0" anchor="ctr"/>
          <a:lstStyle/>
          <a:p>
            <a:pPr algn="l" indent="0" marL="0">
              <a:buNone/>
            </a:pPr>
            <a:r>
              <a:rPr lang="en-US" sz="1100" b="1" dirty="0">
                <a:solidFill>
                  <a:srgbClr val="132257"/>
                </a:solidFill>
                <a:latin typeface="Exo 2" pitchFamily="34" charset="0"/>
                <a:ea typeface="Exo 2" pitchFamily="34" charset="-122"/>
                <a:cs typeface="Exo 2" pitchFamily="34" charset="-120"/>
              </a:rPr>
              <a:t>4 weeks</a:t>
            </a:r>
            <a:endParaRPr lang="en-US" sz="1100" dirty="0"/>
          </a:p>
        </p:txBody>
      </p:sp>
      <p:sp>
        <p:nvSpPr>
          <p:cNvPr id="32" name="Shape 24"/>
          <p:cNvSpPr/>
          <p:nvPr/>
        </p:nvSpPr>
        <p:spPr>
          <a:xfrm>
            <a:off x="1938528" y="5330952"/>
            <a:ext cx="2011680" cy="347472"/>
          </a:xfrm>
          <a:prstGeom prst="rect">
            <a:avLst/>
          </a:prstGeom>
          <a:solidFill>
            <a:srgbClr val="EEF1F8"/>
          </a:solidFill>
          <a:ln w="9525">
            <a:solidFill>
              <a:srgbClr val="D9DFEA"/>
            </a:solidFill>
            <a:prstDash val="solid"/>
          </a:ln>
        </p:spPr>
      </p:sp>
      <p:sp>
        <p:nvSpPr>
          <p:cNvPr id="33" name="Text 25"/>
          <p:cNvSpPr txBox="1"/>
          <p:nvPr/>
        </p:nvSpPr>
        <p:spPr>
          <a:xfrm>
            <a:off x="2048256" y="5330952"/>
            <a:ext cx="1810512" cy="347472"/>
          </a:xfrm>
          <a:prstGeom prst="rect">
            <a:avLst/>
          </a:prstGeom>
          <a:noFill/>
          <a:ln/>
        </p:spPr>
        <p:txBody>
          <a:bodyPr wrap="square" lIns="0" tIns="0" rIns="0" bIns="0" rtlCol="0" anchor="ctr"/>
          <a:lstStyle/>
          <a:p>
            <a:pPr algn="l" indent="0" marL="0">
              <a:buNone/>
            </a:pPr>
            <a:r>
              <a:rPr lang="en-US" sz="1100" dirty="0">
                <a:solidFill>
                  <a:srgbClr val="1F2A44"/>
                </a:solidFill>
                <a:latin typeface="Exo 2" pitchFamily="34" charset="0"/>
                <a:ea typeface="Exo 2" pitchFamily="34" charset="-122"/>
                <a:cs typeface="Exo 2" pitchFamily="34" charset="-120"/>
              </a:rPr>
              <a:t>USD 32,000</a:t>
            </a:r>
            <a:endParaRPr lang="en-US" sz="1100" dirty="0"/>
          </a:p>
        </p:txBody>
      </p:sp>
      <p:sp>
        <p:nvSpPr>
          <p:cNvPr id="34" name="Shape 26"/>
          <p:cNvSpPr/>
          <p:nvPr/>
        </p:nvSpPr>
        <p:spPr>
          <a:xfrm>
            <a:off x="3950208" y="5330952"/>
            <a:ext cx="2011680" cy="347472"/>
          </a:xfrm>
          <a:prstGeom prst="rect">
            <a:avLst/>
          </a:prstGeom>
          <a:solidFill>
            <a:srgbClr val="EEF1F8"/>
          </a:solidFill>
          <a:ln w="9525">
            <a:solidFill>
              <a:srgbClr val="D9DFEA"/>
            </a:solidFill>
            <a:prstDash val="solid"/>
          </a:ln>
        </p:spPr>
      </p:sp>
      <p:sp>
        <p:nvSpPr>
          <p:cNvPr id="35" name="Text 27"/>
          <p:cNvSpPr txBox="1"/>
          <p:nvPr/>
        </p:nvSpPr>
        <p:spPr>
          <a:xfrm>
            <a:off x="4059936" y="5330952"/>
            <a:ext cx="1810512" cy="347472"/>
          </a:xfrm>
          <a:prstGeom prst="rect">
            <a:avLst/>
          </a:prstGeom>
          <a:noFill/>
          <a:ln/>
        </p:spPr>
        <p:txBody>
          <a:bodyPr wrap="square" lIns="0" tIns="0" rIns="0" bIns="0" rtlCol="0" anchor="ctr"/>
          <a:lstStyle/>
          <a:p>
            <a:pPr algn="l" indent="0" marL="0">
              <a:buNone/>
            </a:pPr>
            <a:r>
              <a:rPr lang="en-US" sz="1100" b="1" dirty="0">
                <a:solidFill>
                  <a:srgbClr val="1F2A44"/>
                </a:solidFill>
                <a:latin typeface="Exo 2" pitchFamily="34" charset="0"/>
                <a:ea typeface="Exo 2" pitchFamily="34" charset="-122"/>
                <a:cs typeface="Exo 2" pitchFamily="34" charset="-120"/>
              </a:rPr>
              <a:t>USD 27,200</a:t>
            </a:r>
            <a:endParaRPr lang="en-US" sz="1100" dirty="0"/>
          </a:p>
        </p:txBody>
      </p:sp>
      <p:sp>
        <p:nvSpPr>
          <p:cNvPr id="36" name="Shape 28"/>
          <p:cNvSpPr/>
          <p:nvPr/>
        </p:nvSpPr>
        <p:spPr>
          <a:xfrm>
            <a:off x="5961888" y="5330952"/>
            <a:ext cx="1737360" cy="347472"/>
          </a:xfrm>
          <a:prstGeom prst="rect">
            <a:avLst/>
          </a:prstGeom>
          <a:solidFill>
            <a:srgbClr val="EEF1F8"/>
          </a:solidFill>
          <a:ln w="9525">
            <a:solidFill>
              <a:srgbClr val="D9DFEA"/>
            </a:solidFill>
            <a:prstDash val="solid"/>
          </a:ln>
        </p:spPr>
      </p:sp>
      <p:sp>
        <p:nvSpPr>
          <p:cNvPr id="37" name="Text 29"/>
          <p:cNvSpPr txBox="1"/>
          <p:nvPr/>
        </p:nvSpPr>
        <p:spPr>
          <a:xfrm>
            <a:off x="6071616" y="5330952"/>
            <a:ext cx="1536192" cy="347472"/>
          </a:xfrm>
          <a:prstGeom prst="rect">
            <a:avLst/>
          </a:prstGeom>
          <a:noFill/>
          <a:ln/>
        </p:spPr>
        <p:txBody>
          <a:bodyPr wrap="square" lIns="0" tIns="0" rIns="0" bIns="0" rtlCol="0" anchor="ctr"/>
          <a:lstStyle/>
          <a:p>
            <a:pPr algn="l" indent="0" marL="0">
              <a:buNone/>
            </a:pPr>
            <a:r>
              <a:rPr lang="en-US" sz="1100" dirty="0">
                <a:solidFill>
                  <a:srgbClr val="1F2A44"/>
                </a:solidFill>
                <a:latin typeface="Exo 2" pitchFamily="34" charset="0"/>
                <a:ea typeface="Exo 2" pitchFamily="34" charset="-122"/>
                <a:cs typeface="Exo 2" pitchFamily="34" charset="-120"/>
              </a:rPr>
              <a:t>1.67M</a:t>
            </a:r>
            <a:endParaRPr lang="en-US" sz="1100" dirty="0"/>
          </a:p>
        </p:txBody>
      </p:sp>
      <p:sp>
        <p:nvSpPr>
          <p:cNvPr id="38" name="Shape 30"/>
          <p:cNvSpPr/>
          <p:nvPr/>
        </p:nvSpPr>
        <p:spPr>
          <a:xfrm>
            <a:off x="566928" y="5678424"/>
            <a:ext cx="1371600" cy="347472"/>
          </a:xfrm>
          <a:prstGeom prst="rect">
            <a:avLst/>
          </a:prstGeom>
          <a:solidFill>
            <a:srgbClr val="FFFFFF"/>
          </a:solidFill>
          <a:ln w="9525">
            <a:solidFill>
              <a:srgbClr val="D9DFEA"/>
            </a:solidFill>
            <a:prstDash val="solid"/>
          </a:ln>
        </p:spPr>
      </p:sp>
      <p:sp>
        <p:nvSpPr>
          <p:cNvPr id="39" name="Text 31"/>
          <p:cNvSpPr txBox="1"/>
          <p:nvPr/>
        </p:nvSpPr>
        <p:spPr>
          <a:xfrm>
            <a:off x="676656" y="5678424"/>
            <a:ext cx="1170432" cy="347472"/>
          </a:xfrm>
          <a:prstGeom prst="rect">
            <a:avLst/>
          </a:prstGeom>
          <a:noFill/>
          <a:ln/>
        </p:spPr>
        <p:txBody>
          <a:bodyPr wrap="square" lIns="0" tIns="0" rIns="0" bIns="0" rtlCol="0" anchor="ctr"/>
          <a:lstStyle/>
          <a:p>
            <a:pPr algn="l" indent="0" marL="0">
              <a:buNone/>
            </a:pPr>
            <a:r>
              <a:rPr lang="en-US" sz="1100" b="1" dirty="0">
                <a:solidFill>
                  <a:srgbClr val="132257"/>
                </a:solidFill>
                <a:latin typeface="Exo 2" pitchFamily="34" charset="0"/>
                <a:ea typeface="Exo 2" pitchFamily="34" charset="-122"/>
                <a:cs typeface="Exo 2" pitchFamily="34" charset="-120"/>
              </a:rPr>
              <a:t>8 weeks</a:t>
            </a:r>
            <a:endParaRPr lang="en-US" sz="1100" dirty="0"/>
          </a:p>
        </p:txBody>
      </p:sp>
      <p:sp>
        <p:nvSpPr>
          <p:cNvPr id="40" name="Shape 32"/>
          <p:cNvSpPr/>
          <p:nvPr/>
        </p:nvSpPr>
        <p:spPr>
          <a:xfrm>
            <a:off x="1938528" y="5678424"/>
            <a:ext cx="2011680" cy="347472"/>
          </a:xfrm>
          <a:prstGeom prst="rect">
            <a:avLst/>
          </a:prstGeom>
          <a:solidFill>
            <a:srgbClr val="FFFFFF"/>
          </a:solidFill>
          <a:ln w="9525">
            <a:solidFill>
              <a:srgbClr val="D9DFEA"/>
            </a:solidFill>
            <a:prstDash val="solid"/>
          </a:ln>
        </p:spPr>
      </p:sp>
      <p:sp>
        <p:nvSpPr>
          <p:cNvPr id="41" name="Text 33"/>
          <p:cNvSpPr txBox="1"/>
          <p:nvPr/>
        </p:nvSpPr>
        <p:spPr>
          <a:xfrm>
            <a:off x="2048256" y="5678424"/>
            <a:ext cx="1810512" cy="347472"/>
          </a:xfrm>
          <a:prstGeom prst="rect">
            <a:avLst/>
          </a:prstGeom>
          <a:noFill/>
          <a:ln/>
        </p:spPr>
        <p:txBody>
          <a:bodyPr wrap="square" lIns="0" tIns="0" rIns="0" bIns="0" rtlCol="0" anchor="ctr"/>
          <a:lstStyle/>
          <a:p>
            <a:pPr algn="l" indent="0" marL="0">
              <a:buNone/>
            </a:pPr>
            <a:r>
              <a:rPr lang="en-US" sz="1100" dirty="0">
                <a:solidFill>
                  <a:srgbClr val="1F2A44"/>
                </a:solidFill>
                <a:latin typeface="Exo 2" pitchFamily="34" charset="0"/>
                <a:ea typeface="Exo 2" pitchFamily="34" charset="-122"/>
                <a:cs typeface="Exo 2" pitchFamily="34" charset="-120"/>
              </a:rPr>
              <a:t>USD 64,000</a:t>
            </a:r>
            <a:endParaRPr lang="en-US" sz="1100" dirty="0"/>
          </a:p>
        </p:txBody>
      </p:sp>
      <p:sp>
        <p:nvSpPr>
          <p:cNvPr id="42" name="Shape 34"/>
          <p:cNvSpPr/>
          <p:nvPr/>
        </p:nvSpPr>
        <p:spPr>
          <a:xfrm>
            <a:off x="3950208" y="5678424"/>
            <a:ext cx="2011680" cy="347472"/>
          </a:xfrm>
          <a:prstGeom prst="rect">
            <a:avLst/>
          </a:prstGeom>
          <a:solidFill>
            <a:srgbClr val="FFFFFF"/>
          </a:solidFill>
          <a:ln w="9525">
            <a:solidFill>
              <a:srgbClr val="D9DFEA"/>
            </a:solidFill>
            <a:prstDash val="solid"/>
          </a:ln>
        </p:spPr>
      </p:sp>
      <p:sp>
        <p:nvSpPr>
          <p:cNvPr id="43" name="Text 35"/>
          <p:cNvSpPr txBox="1"/>
          <p:nvPr/>
        </p:nvSpPr>
        <p:spPr>
          <a:xfrm>
            <a:off x="4059936" y="5678424"/>
            <a:ext cx="1810512" cy="347472"/>
          </a:xfrm>
          <a:prstGeom prst="rect">
            <a:avLst/>
          </a:prstGeom>
          <a:noFill/>
          <a:ln/>
        </p:spPr>
        <p:txBody>
          <a:bodyPr wrap="square" lIns="0" tIns="0" rIns="0" bIns="0" rtlCol="0" anchor="ctr"/>
          <a:lstStyle/>
          <a:p>
            <a:pPr algn="l" indent="0" marL="0">
              <a:buNone/>
            </a:pPr>
            <a:r>
              <a:rPr lang="en-US" sz="1100" b="1" dirty="0">
                <a:solidFill>
                  <a:srgbClr val="9A7B1F"/>
                </a:solidFill>
                <a:latin typeface="Exo 2" pitchFamily="34" charset="0"/>
                <a:ea typeface="Exo 2" pitchFamily="34" charset="-122"/>
                <a:cs typeface="Exo 2" pitchFamily="34" charset="-120"/>
              </a:rPr>
              <a:t>USD 44,800</a:t>
            </a:r>
            <a:endParaRPr lang="en-US" sz="1100" dirty="0"/>
          </a:p>
        </p:txBody>
      </p:sp>
      <p:sp>
        <p:nvSpPr>
          <p:cNvPr id="44" name="Shape 36"/>
          <p:cNvSpPr/>
          <p:nvPr/>
        </p:nvSpPr>
        <p:spPr>
          <a:xfrm>
            <a:off x="5961888" y="5678424"/>
            <a:ext cx="1737360" cy="347472"/>
          </a:xfrm>
          <a:prstGeom prst="rect">
            <a:avLst/>
          </a:prstGeom>
          <a:solidFill>
            <a:srgbClr val="FFFFFF"/>
          </a:solidFill>
          <a:ln w="9525">
            <a:solidFill>
              <a:srgbClr val="D9DFEA"/>
            </a:solidFill>
            <a:prstDash val="solid"/>
          </a:ln>
        </p:spPr>
      </p:sp>
      <p:sp>
        <p:nvSpPr>
          <p:cNvPr id="45" name="Text 37"/>
          <p:cNvSpPr txBox="1"/>
          <p:nvPr/>
        </p:nvSpPr>
        <p:spPr>
          <a:xfrm>
            <a:off x="6071616" y="5678424"/>
            <a:ext cx="1536192" cy="347472"/>
          </a:xfrm>
          <a:prstGeom prst="rect">
            <a:avLst/>
          </a:prstGeom>
          <a:noFill/>
          <a:ln/>
        </p:spPr>
        <p:txBody>
          <a:bodyPr wrap="square" lIns="0" tIns="0" rIns="0" bIns="0" rtlCol="0" anchor="ctr"/>
          <a:lstStyle/>
          <a:p>
            <a:pPr algn="l" indent="0" marL="0">
              <a:buNone/>
            </a:pPr>
            <a:r>
              <a:rPr lang="en-US" sz="1100" dirty="0">
                <a:solidFill>
                  <a:srgbClr val="1F2A44"/>
                </a:solidFill>
                <a:latin typeface="Exo 2" pitchFamily="34" charset="0"/>
                <a:ea typeface="Exo 2" pitchFamily="34" charset="-122"/>
                <a:cs typeface="Exo 2" pitchFamily="34" charset="-120"/>
              </a:rPr>
              <a:t>3.35M</a:t>
            </a:r>
            <a:endParaRPr lang="en-US" sz="1100" dirty="0"/>
          </a:p>
        </p:txBody>
      </p:sp>
      <p:sp>
        <p:nvSpPr>
          <p:cNvPr id="46" name="Shape 38"/>
          <p:cNvSpPr/>
          <p:nvPr/>
        </p:nvSpPr>
        <p:spPr>
          <a:xfrm>
            <a:off x="566928" y="6025896"/>
            <a:ext cx="1371600" cy="347472"/>
          </a:xfrm>
          <a:prstGeom prst="rect">
            <a:avLst/>
          </a:prstGeom>
          <a:solidFill>
            <a:srgbClr val="EEF1F8"/>
          </a:solidFill>
          <a:ln w="9525">
            <a:solidFill>
              <a:srgbClr val="D9DFEA"/>
            </a:solidFill>
            <a:prstDash val="solid"/>
          </a:ln>
        </p:spPr>
      </p:sp>
      <p:sp>
        <p:nvSpPr>
          <p:cNvPr id="47" name="Text 39"/>
          <p:cNvSpPr txBox="1"/>
          <p:nvPr/>
        </p:nvSpPr>
        <p:spPr>
          <a:xfrm>
            <a:off x="676656" y="6025896"/>
            <a:ext cx="1170432" cy="347472"/>
          </a:xfrm>
          <a:prstGeom prst="rect">
            <a:avLst/>
          </a:prstGeom>
          <a:noFill/>
          <a:ln/>
        </p:spPr>
        <p:txBody>
          <a:bodyPr wrap="square" lIns="0" tIns="0" rIns="0" bIns="0" rtlCol="0" anchor="ctr"/>
          <a:lstStyle/>
          <a:p>
            <a:pPr algn="l" indent="0" marL="0">
              <a:buNone/>
            </a:pPr>
            <a:r>
              <a:rPr lang="en-US" sz="1100" b="1" dirty="0">
                <a:solidFill>
                  <a:srgbClr val="132257"/>
                </a:solidFill>
                <a:latin typeface="Exo 2" pitchFamily="34" charset="0"/>
                <a:ea typeface="Exo 2" pitchFamily="34" charset="-122"/>
                <a:cs typeface="Exo 2" pitchFamily="34" charset="-120"/>
              </a:rPr>
              <a:t>12 weeks</a:t>
            </a:r>
            <a:endParaRPr lang="en-US" sz="1100" dirty="0"/>
          </a:p>
        </p:txBody>
      </p:sp>
      <p:sp>
        <p:nvSpPr>
          <p:cNvPr id="48" name="Shape 40"/>
          <p:cNvSpPr/>
          <p:nvPr/>
        </p:nvSpPr>
        <p:spPr>
          <a:xfrm>
            <a:off x="1938528" y="6025896"/>
            <a:ext cx="2011680" cy="347472"/>
          </a:xfrm>
          <a:prstGeom prst="rect">
            <a:avLst/>
          </a:prstGeom>
          <a:solidFill>
            <a:srgbClr val="EEF1F8"/>
          </a:solidFill>
          <a:ln w="9525">
            <a:solidFill>
              <a:srgbClr val="D9DFEA"/>
            </a:solidFill>
            <a:prstDash val="solid"/>
          </a:ln>
        </p:spPr>
      </p:sp>
      <p:sp>
        <p:nvSpPr>
          <p:cNvPr id="49" name="Text 41"/>
          <p:cNvSpPr txBox="1"/>
          <p:nvPr/>
        </p:nvSpPr>
        <p:spPr>
          <a:xfrm>
            <a:off x="2048256" y="6025896"/>
            <a:ext cx="1810512" cy="347472"/>
          </a:xfrm>
          <a:prstGeom prst="rect">
            <a:avLst/>
          </a:prstGeom>
          <a:noFill/>
          <a:ln/>
        </p:spPr>
        <p:txBody>
          <a:bodyPr wrap="square" lIns="0" tIns="0" rIns="0" bIns="0" rtlCol="0" anchor="ctr"/>
          <a:lstStyle/>
          <a:p>
            <a:pPr algn="l" indent="0" marL="0">
              <a:buNone/>
            </a:pPr>
            <a:r>
              <a:rPr lang="en-US" sz="1100" dirty="0">
                <a:solidFill>
                  <a:srgbClr val="1F2A44"/>
                </a:solidFill>
                <a:latin typeface="Exo 2" pitchFamily="34" charset="0"/>
                <a:ea typeface="Exo 2" pitchFamily="34" charset="-122"/>
                <a:cs typeface="Exo 2" pitchFamily="34" charset="-120"/>
              </a:rPr>
              <a:t>USD 96,000</a:t>
            </a:r>
            <a:endParaRPr lang="en-US" sz="1100" dirty="0"/>
          </a:p>
        </p:txBody>
      </p:sp>
      <p:sp>
        <p:nvSpPr>
          <p:cNvPr id="50" name="Shape 42"/>
          <p:cNvSpPr/>
          <p:nvPr/>
        </p:nvSpPr>
        <p:spPr>
          <a:xfrm>
            <a:off x="3950208" y="6025896"/>
            <a:ext cx="2011680" cy="347472"/>
          </a:xfrm>
          <a:prstGeom prst="rect">
            <a:avLst/>
          </a:prstGeom>
          <a:solidFill>
            <a:srgbClr val="EEF1F8"/>
          </a:solidFill>
          <a:ln w="9525">
            <a:solidFill>
              <a:srgbClr val="D9DFEA"/>
            </a:solidFill>
            <a:prstDash val="solid"/>
          </a:ln>
        </p:spPr>
      </p:sp>
      <p:sp>
        <p:nvSpPr>
          <p:cNvPr id="51" name="Text 43"/>
          <p:cNvSpPr txBox="1"/>
          <p:nvPr/>
        </p:nvSpPr>
        <p:spPr>
          <a:xfrm>
            <a:off x="4059936" y="6025896"/>
            <a:ext cx="1810512" cy="347472"/>
          </a:xfrm>
          <a:prstGeom prst="rect">
            <a:avLst/>
          </a:prstGeom>
          <a:noFill/>
          <a:ln/>
        </p:spPr>
        <p:txBody>
          <a:bodyPr wrap="square" lIns="0" tIns="0" rIns="0" bIns="0" rtlCol="0" anchor="ctr"/>
          <a:lstStyle/>
          <a:p>
            <a:pPr algn="l" indent="0" marL="0">
              <a:buNone/>
            </a:pPr>
            <a:r>
              <a:rPr lang="en-US" sz="1100" b="1" dirty="0">
                <a:solidFill>
                  <a:srgbClr val="1F2A44"/>
                </a:solidFill>
                <a:latin typeface="Exo 2" pitchFamily="34" charset="0"/>
                <a:ea typeface="Exo 2" pitchFamily="34" charset="-122"/>
                <a:cs typeface="Exo 2" pitchFamily="34" charset="-120"/>
              </a:rPr>
              <a:t>USD 67,200</a:t>
            </a:r>
            <a:endParaRPr lang="en-US" sz="1100" dirty="0"/>
          </a:p>
        </p:txBody>
      </p:sp>
      <p:sp>
        <p:nvSpPr>
          <p:cNvPr id="52" name="Shape 44"/>
          <p:cNvSpPr/>
          <p:nvPr/>
        </p:nvSpPr>
        <p:spPr>
          <a:xfrm>
            <a:off x="5961888" y="6025896"/>
            <a:ext cx="1737360" cy="347472"/>
          </a:xfrm>
          <a:prstGeom prst="rect">
            <a:avLst/>
          </a:prstGeom>
          <a:solidFill>
            <a:srgbClr val="EEF1F8"/>
          </a:solidFill>
          <a:ln w="9525">
            <a:solidFill>
              <a:srgbClr val="D9DFEA"/>
            </a:solidFill>
            <a:prstDash val="solid"/>
          </a:ln>
        </p:spPr>
      </p:sp>
      <p:sp>
        <p:nvSpPr>
          <p:cNvPr id="53" name="Text 45"/>
          <p:cNvSpPr txBox="1"/>
          <p:nvPr/>
        </p:nvSpPr>
        <p:spPr>
          <a:xfrm>
            <a:off x="6071616" y="6025896"/>
            <a:ext cx="1536192" cy="347472"/>
          </a:xfrm>
          <a:prstGeom prst="rect">
            <a:avLst/>
          </a:prstGeom>
          <a:noFill/>
          <a:ln/>
        </p:spPr>
        <p:txBody>
          <a:bodyPr wrap="square" lIns="0" tIns="0" rIns="0" bIns="0" rtlCol="0" anchor="ctr"/>
          <a:lstStyle/>
          <a:p>
            <a:pPr algn="l" indent="0" marL="0">
              <a:buNone/>
            </a:pPr>
            <a:r>
              <a:rPr lang="en-US" sz="1100" dirty="0">
                <a:solidFill>
                  <a:srgbClr val="1F2A44"/>
                </a:solidFill>
                <a:latin typeface="Exo 2" pitchFamily="34" charset="0"/>
                <a:ea typeface="Exo 2" pitchFamily="34" charset="-122"/>
                <a:cs typeface="Exo 2" pitchFamily="34" charset="-120"/>
              </a:rPr>
              <a:t>5.02M</a:t>
            </a:r>
            <a:endParaRPr lang="en-US" sz="1100" dirty="0"/>
          </a:p>
        </p:txBody>
      </p:sp>
      <p:sp>
        <p:nvSpPr>
          <p:cNvPr id="54" name="Shape 46"/>
          <p:cNvSpPr/>
          <p:nvPr/>
        </p:nvSpPr>
        <p:spPr>
          <a:xfrm>
            <a:off x="7863840" y="1600200"/>
            <a:ext cx="3767328" cy="2011680"/>
          </a:xfrm>
          <a:prstGeom prst="rect">
            <a:avLst/>
          </a:prstGeom>
          <a:solidFill>
            <a:srgbClr val="FFFFFF"/>
          </a:solidFill>
          <a:ln w="9525">
            <a:solidFill>
              <a:srgbClr val="D9DFEA"/>
            </a:solidFill>
            <a:prstDash val="solid"/>
          </a:ln>
        </p:spPr>
      </p:sp>
      <p:sp>
        <p:nvSpPr>
          <p:cNvPr id="55" name="Shape 47"/>
          <p:cNvSpPr/>
          <p:nvPr/>
        </p:nvSpPr>
        <p:spPr>
          <a:xfrm>
            <a:off x="7863840" y="1600200"/>
            <a:ext cx="3767328" cy="41148"/>
          </a:xfrm>
          <a:prstGeom prst="rect">
            <a:avLst/>
          </a:prstGeom>
          <a:solidFill>
            <a:srgbClr val="D4AF37"/>
          </a:solidFill>
          <a:ln w="12700">
            <a:solidFill>
              <a:srgbClr val="D4AF37"/>
            </a:solidFill>
            <a:prstDash val="solid"/>
          </a:ln>
        </p:spPr>
      </p:sp>
      <p:sp>
        <p:nvSpPr>
          <p:cNvPr id="56" name="Text 48"/>
          <p:cNvSpPr txBox="1"/>
          <p:nvPr/>
        </p:nvSpPr>
        <p:spPr>
          <a:xfrm>
            <a:off x="8092440" y="1783080"/>
            <a:ext cx="3383280" cy="274320"/>
          </a:xfrm>
          <a:prstGeom prst="rect">
            <a:avLst/>
          </a:prstGeom>
          <a:noFill/>
          <a:ln/>
        </p:spPr>
        <p:txBody>
          <a:bodyPr wrap="square" lIns="0" tIns="0" rIns="0" bIns="0" rtlCol="0" anchor="t"/>
          <a:lstStyle/>
          <a:p>
            <a:pPr indent="0" marL="0">
              <a:buNone/>
            </a:pPr>
            <a:r>
              <a:rPr lang="en-US" sz="1000" b="1" spc="100" kern="0" dirty="0">
                <a:solidFill>
                  <a:srgbClr val="9A7B1F"/>
                </a:solidFill>
                <a:latin typeface="Exo 2" pitchFamily="34" charset="0"/>
                <a:ea typeface="Exo 2" pitchFamily="34" charset="-122"/>
                <a:cs typeface="Exo 2" pitchFamily="34" charset="-120"/>
              </a:rPr>
              <a:t>LATEST OFFER, 23 SEP</a:t>
            </a:r>
            <a:endParaRPr lang="en-US" sz="1000" dirty="0"/>
          </a:p>
        </p:txBody>
      </p:sp>
      <p:sp>
        <p:nvSpPr>
          <p:cNvPr id="57" name="Text 49"/>
          <p:cNvSpPr txBox="1"/>
          <p:nvPr/>
        </p:nvSpPr>
        <p:spPr>
          <a:xfrm>
            <a:off x="8092440" y="2103120"/>
            <a:ext cx="3383280" cy="502920"/>
          </a:xfrm>
          <a:prstGeom prst="rect">
            <a:avLst/>
          </a:prstGeom>
          <a:noFill/>
          <a:ln/>
        </p:spPr>
        <p:txBody>
          <a:bodyPr wrap="square" lIns="0" tIns="0" rIns="0" bIns="0" rtlCol="0" anchor="t"/>
          <a:lstStyle/>
          <a:p>
            <a:pPr indent="0" marL="0">
              <a:buNone/>
            </a:pPr>
            <a:r>
              <a:rPr lang="en-US" sz="2400" b="1" dirty="0">
                <a:solidFill>
                  <a:srgbClr val="132257"/>
                </a:solidFill>
                <a:latin typeface="Exo 2" pitchFamily="34" charset="0"/>
                <a:ea typeface="Exo 2" pitchFamily="34" charset="-122"/>
                <a:cs typeface="Exo 2" pitchFamily="34" charset="-120"/>
              </a:rPr>
              <a:t>USD 44,800 + VAT</a:t>
            </a:r>
            <a:endParaRPr lang="en-US" sz="2400" dirty="0"/>
          </a:p>
        </p:txBody>
      </p:sp>
      <p:sp>
        <p:nvSpPr>
          <p:cNvPr id="58" name="Text 50"/>
          <p:cNvSpPr txBox="1"/>
          <p:nvPr/>
        </p:nvSpPr>
        <p:spPr>
          <a:xfrm>
            <a:off x="8092440" y="2651760"/>
            <a:ext cx="3383280" cy="822960"/>
          </a:xfrm>
          <a:prstGeom prst="rect">
            <a:avLst/>
          </a:prstGeom>
          <a:noFill/>
          <a:ln/>
        </p:spPr>
        <p:txBody>
          <a:bodyPr wrap="square" lIns="0" tIns="0" rIns="0" bIns="0" rtlCol="0" anchor="t"/>
          <a:lstStyle/>
          <a:p>
            <a:pPr indent="0" marL="0">
              <a:buNone/>
            </a:pPr>
            <a:r>
              <a:rPr lang="en-US" sz="1200" dirty="0">
                <a:solidFill>
                  <a:srgbClr val="1F2A44"/>
                </a:solidFill>
                <a:latin typeface="Exo 2" pitchFamily="34" charset="0"/>
                <a:ea typeface="Exo 2" pitchFamily="34" charset="-122"/>
                <a:cs typeface="Exo 2" pitchFamily="34" charset="-120"/>
              </a:rPr>
              <a:t>8 weeks, 91 screens, 30% below the original rate of USD 64,000.</a:t>
            </a:r>
            <a:endParaRPr lang="en-US" sz="1200" dirty="0"/>
          </a:p>
        </p:txBody>
      </p:sp>
      <p:sp>
        <p:nvSpPr>
          <p:cNvPr id="59" name="Shape 51"/>
          <p:cNvSpPr/>
          <p:nvPr/>
        </p:nvSpPr>
        <p:spPr>
          <a:xfrm>
            <a:off x="7863840" y="3794760"/>
            <a:ext cx="1828800" cy="1234440"/>
          </a:xfrm>
          <a:prstGeom prst="rect">
            <a:avLst/>
          </a:prstGeom>
          <a:solidFill>
            <a:srgbClr val="FFFFFF"/>
          </a:solidFill>
          <a:ln w="9525">
            <a:solidFill>
              <a:srgbClr val="D9DFEA"/>
            </a:solidFill>
            <a:prstDash val="solid"/>
          </a:ln>
        </p:spPr>
      </p:sp>
      <p:sp>
        <p:nvSpPr>
          <p:cNvPr id="60" name="Shape 52"/>
          <p:cNvSpPr/>
          <p:nvPr/>
        </p:nvSpPr>
        <p:spPr>
          <a:xfrm>
            <a:off x="7863840" y="3794760"/>
            <a:ext cx="1828800" cy="41148"/>
          </a:xfrm>
          <a:prstGeom prst="rect">
            <a:avLst/>
          </a:prstGeom>
          <a:solidFill>
            <a:srgbClr val="132257"/>
          </a:solidFill>
          <a:ln w="12700">
            <a:solidFill>
              <a:srgbClr val="132257"/>
            </a:solidFill>
            <a:prstDash val="solid"/>
          </a:ln>
        </p:spPr>
      </p:sp>
      <p:sp>
        <p:nvSpPr>
          <p:cNvPr id="61" name="Text 53"/>
          <p:cNvSpPr txBox="1"/>
          <p:nvPr/>
        </p:nvSpPr>
        <p:spPr>
          <a:xfrm>
            <a:off x="8046720" y="3959352"/>
            <a:ext cx="1463040" cy="502920"/>
          </a:xfrm>
          <a:prstGeom prst="rect">
            <a:avLst/>
          </a:prstGeom>
          <a:noFill/>
          <a:ln/>
        </p:spPr>
        <p:txBody>
          <a:bodyPr wrap="square" lIns="0" tIns="0" rIns="0" bIns="0" rtlCol="0" anchor="t"/>
          <a:lstStyle/>
          <a:p>
            <a:pPr indent="0" marL="0">
              <a:buNone/>
            </a:pPr>
            <a:r>
              <a:rPr lang="en-US" sz="2600" b="1" dirty="0">
                <a:solidFill>
                  <a:srgbClr val="132257"/>
                </a:solidFill>
                <a:latin typeface="Exo 2" pitchFamily="34" charset="0"/>
                <a:ea typeface="Exo 2" pitchFamily="34" charset="-122"/>
                <a:cs typeface="Exo 2" pitchFamily="34" charset="-120"/>
              </a:rPr>
              <a:t>83</a:t>
            </a:r>
            <a:endParaRPr lang="en-US" sz="2600" dirty="0"/>
          </a:p>
        </p:txBody>
      </p:sp>
      <p:sp>
        <p:nvSpPr>
          <p:cNvPr id="62" name="Text 54"/>
          <p:cNvSpPr txBox="1"/>
          <p:nvPr/>
        </p:nvSpPr>
        <p:spPr>
          <a:xfrm>
            <a:off x="8046720" y="4480560"/>
            <a:ext cx="1463040" cy="274320"/>
          </a:xfrm>
          <a:prstGeom prst="rect">
            <a:avLst/>
          </a:prstGeom>
          <a:noFill/>
          <a:ln/>
        </p:spPr>
        <p:txBody>
          <a:bodyPr wrap="square" lIns="0" tIns="0" rIns="0" bIns="0" rtlCol="0" anchor="t"/>
          <a:lstStyle/>
          <a:p>
            <a:pPr indent="0" marL="0">
              <a:buNone/>
            </a:pPr>
            <a:r>
              <a:rPr lang="en-US" sz="1100" b="1" dirty="0">
                <a:solidFill>
                  <a:srgbClr val="132257"/>
                </a:solidFill>
                <a:latin typeface="Exo 2" pitchFamily="34" charset="0"/>
                <a:ea typeface="Exo 2" pitchFamily="34" charset="-122"/>
                <a:cs typeface="Exo 2" pitchFamily="34" charset="-120"/>
              </a:rPr>
              <a:t>towers</a:t>
            </a:r>
            <a:endParaRPr lang="en-US" sz="1100" dirty="0"/>
          </a:p>
        </p:txBody>
      </p:sp>
      <p:sp>
        <p:nvSpPr>
          <p:cNvPr id="63" name="Text 55"/>
          <p:cNvSpPr txBox="1"/>
          <p:nvPr/>
        </p:nvSpPr>
        <p:spPr>
          <a:xfrm>
            <a:off x="8046720" y="4727448"/>
            <a:ext cx="1463040" cy="256032"/>
          </a:xfrm>
          <a:prstGeom prst="rect">
            <a:avLst/>
          </a:prstGeom>
          <a:noFill/>
          <a:ln/>
        </p:spPr>
        <p:txBody>
          <a:bodyPr wrap="square" lIns="0" tIns="0" rIns="0" bIns="0" rtlCol="0" anchor="t"/>
          <a:lstStyle/>
          <a:p>
            <a:pPr indent="0" marL="0">
              <a:buNone/>
            </a:pPr>
            <a:r>
              <a:rPr lang="en-US" sz="900" dirty="0">
                <a:solidFill>
                  <a:srgbClr val="6B7590"/>
                </a:solidFill>
                <a:latin typeface="Exo 2" pitchFamily="34" charset="0"/>
                <a:ea typeface="Exo 2" pitchFamily="34" charset="-122"/>
                <a:cs typeface="Exo 2" pitchFamily="34" charset="-120"/>
              </a:rPr>
              <a:t>elevator screens</a:t>
            </a:r>
            <a:endParaRPr lang="en-US" sz="900" dirty="0"/>
          </a:p>
        </p:txBody>
      </p:sp>
      <p:sp>
        <p:nvSpPr>
          <p:cNvPr id="64" name="Shape 56"/>
          <p:cNvSpPr/>
          <p:nvPr/>
        </p:nvSpPr>
        <p:spPr>
          <a:xfrm>
            <a:off x="9802368" y="3794760"/>
            <a:ext cx="1828800" cy="1234440"/>
          </a:xfrm>
          <a:prstGeom prst="rect">
            <a:avLst/>
          </a:prstGeom>
          <a:solidFill>
            <a:srgbClr val="FFFFFF"/>
          </a:solidFill>
          <a:ln w="9525">
            <a:solidFill>
              <a:srgbClr val="D9DFEA"/>
            </a:solidFill>
            <a:prstDash val="solid"/>
          </a:ln>
        </p:spPr>
      </p:sp>
      <p:sp>
        <p:nvSpPr>
          <p:cNvPr id="65" name="Shape 57"/>
          <p:cNvSpPr/>
          <p:nvPr/>
        </p:nvSpPr>
        <p:spPr>
          <a:xfrm>
            <a:off x="9802368" y="3794760"/>
            <a:ext cx="1828800" cy="41148"/>
          </a:xfrm>
          <a:prstGeom prst="rect">
            <a:avLst/>
          </a:prstGeom>
          <a:solidFill>
            <a:srgbClr val="132257"/>
          </a:solidFill>
          <a:ln w="12700">
            <a:solidFill>
              <a:srgbClr val="132257"/>
            </a:solidFill>
            <a:prstDash val="solid"/>
          </a:ln>
        </p:spPr>
      </p:sp>
      <p:sp>
        <p:nvSpPr>
          <p:cNvPr id="66" name="Text 58"/>
          <p:cNvSpPr txBox="1"/>
          <p:nvPr/>
        </p:nvSpPr>
        <p:spPr>
          <a:xfrm>
            <a:off x="9985248" y="3959352"/>
            <a:ext cx="1463040" cy="502920"/>
          </a:xfrm>
          <a:prstGeom prst="rect">
            <a:avLst/>
          </a:prstGeom>
          <a:noFill/>
          <a:ln/>
        </p:spPr>
        <p:txBody>
          <a:bodyPr wrap="square" lIns="0" tIns="0" rIns="0" bIns="0" rtlCol="0" anchor="t"/>
          <a:lstStyle/>
          <a:p>
            <a:pPr indent="0" marL="0">
              <a:buNone/>
            </a:pPr>
            <a:r>
              <a:rPr lang="en-US" sz="2600" b="1" dirty="0">
                <a:solidFill>
                  <a:srgbClr val="132257"/>
                </a:solidFill>
                <a:latin typeface="Exo 2" pitchFamily="34" charset="0"/>
                <a:ea typeface="Exo 2" pitchFamily="34" charset="-122"/>
                <a:cs typeface="Exo 2" pitchFamily="34" charset="-120"/>
              </a:rPr>
              <a:t>8</a:t>
            </a:r>
            <a:endParaRPr lang="en-US" sz="2600" dirty="0"/>
          </a:p>
        </p:txBody>
      </p:sp>
      <p:sp>
        <p:nvSpPr>
          <p:cNvPr id="67" name="Text 59"/>
          <p:cNvSpPr txBox="1"/>
          <p:nvPr/>
        </p:nvSpPr>
        <p:spPr>
          <a:xfrm>
            <a:off x="9985248" y="4480560"/>
            <a:ext cx="1463040" cy="274320"/>
          </a:xfrm>
          <a:prstGeom prst="rect">
            <a:avLst/>
          </a:prstGeom>
          <a:noFill/>
          <a:ln/>
        </p:spPr>
        <p:txBody>
          <a:bodyPr wrap="square" lIns="0" tIns="0" rIns="0" bIns="0" rtlCol="0" anchor="t"/>
          <a:lstStyle/>
          <a:p>
            <a:pPr indent="0" marL="0">
              <a:buNone/>
            </a:pPr>
            <a:r>
              <a:rPr lang="en-US" sz="1100" b="1" dirty="0">
                <a:solidFill>
                  <a:srgbClr val="132257"/>
                </a:solidFill>
                <a:latin typeface="Exo 2" pitchFamily="34" charset="0"/>
                <a:ea typeface="Exo 2" pitchFamily="34" charset="-122"/>
                <a:cs typeface="Exo 2" pitchFamily="34" charset="-120"/>
              </a:rPr>
              <a:t>LED faces</a:t>
            </a:r>
            <a:endParaRPr lang="en-US" sz="1100" dirty="0"/>
          </a:p>
        </p:txBody>
      </p:sp>
      <p:sp>
        <p:nvSpPr>
          <p:cNvPr id="68" name="Text 60"/>
          <p:cNvSpPr txBox="1"/>
          <p:nvPr/>
        </p:nvSpPr>
        <p:spPr>
          <a:xfrm>
            <a:off x="9985248" y="4727448"/>
            <a:ext cx="1463040" cy="256032"/>
          </a:xfrm>
          <a:prstGeom prst="rect">
            <a:avLst/>
          </a:prstGeom>
          <a:noFill/>
          <a:ln/>
        </p:spPr>
        <p:txBody>
          <a:bodyPr wrap="square" lIns="0" tIns="0" rIns="0" bIns="0" rtlCol="0" anchor="t"/>
          <a:lstStyle/>
          <a:p>
            <a:pPr indent="0" marL="0">
              <a:buNone/>
            </a:pPr>
            <a:r>
              <a:rPr lang="en-US" sz="900" dirty="0">
                <a:solidFill>
                  <a:srgbClr val="6B7590"/>
                </a:solidFill>
                <a:latin typeface="Exo 2" pitchFamily="34" charset="0"/>
                <a:ea typeface="Exo 2" pitchFamily="34" charset="-122"/>
                <a:cs typeface="Exo 2" pitchFamily="34" charset="-120"/>
              </a:rPr>
              <a:t>The Zone, Riyadh</a:t>
            </a:r>
            <a:endParaRPr lang="en-US" sz="900" dirty="0"/>
          </a:p>
        </p:txBody>
      </p:sp>
      <p:sp>
        <p:nvSpPr>
          <p:cNvPr id="69" name="Shape 61"/>
          <p:cNvSpPr/>
          <p:nvPr/>
        </p:nvSpPr>
        <p:spPr>
          <a:xfrm>
            <a:off x="7863840" y="5212080"/>
            <a:ext cx="3767328" cy="868680"/>
          </a:xfrm>
          <a:prstGeom prst="rect">
            <a:avLst/>
          </a:prstGeom>
          <a:solidFill>
            <a:srgbClr val="EEF1F8"/>
          </a:solidFill>
          <a:ln w="12700">
            <a:solidFill>
              <a:srgbClr val="EEF1F8"/>
            </a:solidFill>
            <a:prstDash val="solid"/>
          </a:ln>
        </p:spPr>
      </p:sp>
      <p:sp>
        <p:nvSpPr>
          <p:cNvPr id="70" name="Text 62"/>
          <p:cNvSpPr txBox="1"/>
          <p:nvPr/>
        </p:nvSpPr>
        <p:spPr>
          <a:xfrm>
            <a:off x="8001000" y="5212080"/>
            <a:ext cx="3520440" cy="868680"/>
          </a:xfrm>
          <a:prstGeom prst="rect">
            <a:avLst/>
          </a:prstGeom>
          <a:noFill/>
          <a:ln/>
        </p:spPr>
        <p:txBody>
          <a:bodyPr wrap="square" lIns="0" tIns="0" rIns="0" bIns="0" rtlCol="0" anchor="ctr"/>
          <a:lstStyle/>
          <a:p>
            <a:pPr indent="0" marL="0">
              <a:buNone/>
            </a:pPr>
            <a:r>
              <a:rPr lang="en-US" sz="1100" b="1" dirty="0">
                <a:solidFill>
                  <a:srgbClr val="132257"/>
                </a:solidFill>
                <a:latin typeface="Exo 2" pitchFamily="34" charset="0"/>
                <a:ea typeface="Exo 2" pitchFamily="34" charset="-122"/>
                <a:cs typeface="Exo 2" pitchFamily="34" charset="-120"/>
              </a:rPr>
              <a:t>All prices in USD + VAT. Proposal only, not yet approved.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home/user/HatemIsa_202508993_IT9002_NLP_Project/emyaa-ceo-deck/working/charts/board_header.png">    </p:cNvPr>
          <p:cNvPicPr>
            <a:picLocks noChangeAspect="1"/>
          </p:cNvPicPr>
          <p:nvPr/>
        </p:nvPicPr>
        <p:blipFill>
          <a:blip r:embed="rId1"/>
          <a:stretch>
            <a:fillRect/>
          </a:stretch>
        </p:blipFill>
        <p:spPr>
          <a:xfrm>
            <a:off x="0" y="0"/>
            <a:ext cx="12191695" cy="1298448"/>
          </a:xfrm>
          <a:prstGeom prst="rect">
            <a:avLst/>
          </a:prstGeom>
        </p:spPr>
      </p:pic>
      <p:sp>
        <p:nvSpPr>
          <p:cNvPr id="3" name="Shape 0"/>
          <p:cNvSpPr/>
          <p:nvPr/>
        </p:nvSpPr>
        <p:spPr>
          <a:xfrm>
            <a:off x="0" y="1298448"/>
            <a:ext cx="12191695" cy="27432"/>
          </a:xfrm>
          <a:prstGeom prst="rect">
            <a:avLst/>
          </a:prstGeom>
          <a:solidFill>
            <a:srgbClr val="D4AF37"/>
          </a:solidFill>
          <a:ln w="12700">
            <a:solidFill>
              <a:srgbClr val="D4AF37"/>
            </a:solidFill>
            <a:prstDash val="solid"/>
          </a:ln>
        </p:spPr>
      </p:sp>
      <p:sp>
        <p:nvSpPr>
          <p:cNvPr id="4" name="Text 1"/>
          <p:cNvSpPr txBox="1"/>
          <p:nvPr/>
        </p:nvSpPr>
        <p:spPr>
          <a:xfrm>
            <a:off x="566928" y="274320"/>
            <a:ext cx="9144000" cy="201168"/>
          </a:xfrm>
          <a:prstGeom prst="rect">
            <a:avLst/>
          </a:prstGeom>
          <a:noFill/>
          <a:ln/>
        </p:spPr>
        <p:txBody>
          <a:bodyPr wrap="square" lIns="0" tIns="0" rIns="0" bIns="0" rtlCol="0" anchor="t"/>
          <a:lstStyle/>
          <a:p>
            <a:pPr indent="0" marL="0">
              <a:buNone/>
            </a:pPr>
            <a:r>
              <a:rPr lang="en-US" sz="950" b="1" spc="200" kern="0" dirty="0">
                <a:solidFill>
                  <a:srgbClr val="D4AF37"/>
                </a:solidFill>
                <a:latin typeface="Exo 2" pitchFamily="34" charset="0"/>
                <a:ea typeface="Exo 2" pitchFamily="34" charset="-122"/>
                <a:cs typeface="Exo 2" pitchFamily="34" charset="-120"/>
              </a:rPr>
              <a:t>JODEL, SAUDI ARABIA</a:t>
            </a:r>
            <a:endParaRPr lang="en-US" sz="950" dirty="0"/>
          </a:p>
        </p:txBody>
      </p:sp>
      <p:sp>
        <p:nvSpPr>
          <p:cNvPr id="5" name="Text 2"/>
          <p:cNvSpPr txBox="1"/>
          <p:nvPr/>
        </p:nvSpPr>
        <p:spPr>
          <a:xfrm>
            <a:off x="566928" y="475488"/>
            <a:ext cx="9418320" cy="749808"/>
          </a:xfrm>
          <a:prstGeom prst="rect">
            <a:avLst/>
          </a:prstGeom>
          <a:noFill/>
          <a:ln/>
        </p:spPr>
        <p:txBody>
          <a:bodyPr wrap="square" lIns="0" tIns="0" rIns="0" bIns="0" rtlCol="0" anchor="ctr"/>
          <a:lstStyle/>
          <a:p>
            <a:pPr indent="0" marL="0">
              <a:buNone/>
            </a:pPr>
            <a:r>
              <a:rPr lang="en-US" sz="2200" b="1" dirty="0">
                <a:solidFill>
                  <a:srgbClr val="FFFFFF"/>
                </a:solidFill>
                <a:latin typeface="Exo 2" pitchFamily="34" charset="0"/>
                <a:ea typeface="Exo 2" pitchFamily="34" charset="-122"/>
                <a:cs typeface="Exo 2" pitchFamily="34" charset="-120"/>
              </a:rPr>
              <a:t>Jodel: 2.5 million impressions in 7 days for USD 3,862.50</a:t>
            </a:r>
            <a:endParaRPr lang="en-US" sz="2200" dirty="0"/>
          </a:p>
        </p:txBody>
      </p:sp>
      <p:pic>
        <p:nvPicPr>
          <p:cNvPr id="6" name="Image 1" descr="/home/user/HatemIsa_202508993_IT9002_NLP_Project/emyaa-ceo-deck/working/charts/ajyad_white.png">    </p:cNvPr>
          <p:cNvPicPr>
            <a:picLocks noChangeAspect="1"/>
          </p:cNvPicPr>
          <p:nvPr/>
        </p:nvPicPr>
        <p:blipFill>
          <a:blip r:embed="rId2"/>
          <a:stretch>
            <a:fillRect/>
          </a:stretch>
        </p:blipFill>
        <p:spPr>
          <a:xfrm>
            <a:off x="10305288" y="457200"/>
            <a:ext cx="1325880" cy="384048"/>
          </a:xfrm>
          <a:prstGeom prst="rect">
            <a:avLst/>
          </a:prstGeom>
        </p:spPr>
      </p:pic>
      <p:sp>
        <p:nvSpPr>
          <p:cNvPr id="7" name="Text 3"/>
          <p:cNvSpPr txBox="1"/>
          <p:nvPr/>
        </p:nvSpPr>
        <p:spPr>
          <a:xfrm>
            <a:off x="566928" y="6492240"/>
            <a:ext cx="5486400" cy="201168"/>
          </a:xfrm>
          <a:prstGeom prst="rect">
            <a:avLst/>
          </a:prstGeom>
          <a:noFill/>
          <a:ln/>
        </p:spPr>
        <p:txBody>
          <a:bodyPr wrap="square" lIns="0" tIns="0" rIns="0" bIns="0" rtlCol="0" anchor="t"/>
          <a:lstStyle/>
          <a:p>
            <a:pPr indent="0" marL="0">
              <a:buNone/>
            </a:pPr>
            <a:r>
              <a:rPr lang="en-US" sz="800" dirty="0">
                <a:solidFill>
                  <a:srgbClr val="8A93A8"/>
                </a:solidFill>
                <a:latin typeface="Exo 2" pitchFamily="34" charset="0"/>
                <a:ea typeface="Exo 2" pitchFamily="34" charset="-122"/>
                <a:cs typeface="Exo 2" pitchFamily="34" charset="-120"/>
              </a:rPr>
              <a:t>eMYAA Trading Platform  |  Saudi Market Plan</a:t>
            </a:r>
            <a:endParaRPr lang="en-US" sz="800" dirty="0"/>
          </a:p>
        </p:txBody>
      </p:sp>
      <p:sp>
        <p:nvSpPr>
          <p:cNvPr id="8" name="Text 4"/>
          <p:cNvSpPr txBox="1"/>
          <p:nvPr/>
        </p:nvSpPr>
        <p:spPr>
          <a:xfrm>
            <a:off x="9802368" y="6492240"/>
            <a:ext cx="457200" cy="201168"/>
          </a:xfrm>
          <a:prstGeom prst="rect">
            <a:avLst/>
          </a:prstGeom>
          <a:noFill/>
          <a:ln/>
        </p:spPr>
        <p:txBody>
          <a:bodyPr wrap="square" lIns="0" tIns="0" rIns="0" bIns="0" rtlCol="0" anchor="t"/>
          <a:lstStyle/>
          <a:p>
            <a:pPr algn="r" indent="0" marL="0">
              <a:buNone/>
            </a:pPr>
            <a:r>
              <a:rPr lang="en-US" sz="800" dirty="0">
                <a:solidFill>
                  <a:srgbClr val="8A93A8"/>
                </a:solidFill>
                <a:latin typeface="Exo 2" pitchFamily="34" charset="0"/>
                <a:ea typeface="Exo 2" pitchFamily="34" charset="-122"/>
                <a:cs typeface="Exo 2" pitchFamily="34" charset="-120"/>
              </a:rPr>
              <a:t>6</a:t>
            </a:r>
            <a:endParaRPr lang="en-US" sz="800" dirty="0"/>
          </a:p>
        </p:txBody>
      </p:sp>
      <p:pic>
        <p:nvPicPr>
          <p:cNvPr id="9" name="Image 2" descr="/home/user/HatemIsa_202508993_IT9002_NLP_Project/emyaa-ceo-deck/working/charts/emyaa_navy.png">    </p:cNvPr>
          <p:cNvPicPr>
            <a:picLocks noChangeAspect="1"/>
          </p:cNvPicPr>
          <p:nvPr/>
        </p:nvPicPr>
        <p:blipFill>
          <a:blip r:embed="rId3"/>
          <a:stretch>
            <a:fillRect/>
          </a:stretch>
        </p:blipFill>
        <p:spPr>
          <a:xfrm>
            <a:off x="10607040" y="6327648"/>
            <a:ext cx="1024128" cy="365760"/>
          </a:xfrm>
          <a:prstGeom prst="rect">
            <a:avLst/>
          </a:prstGeom>
        </p:spPr>
      </p:pic>
      <p:sp>
        <p:nvSpPr>
          <p:cNvPr id="11" name="Shape 5"/>
          <p:cNvSpPr/>
          <p:nvPr/>
        </p:nvSpPr>
        <p:spPr>
          <a:xfrm>
            <a:off x="566928" y="1645920"/>
            <a:ext cx="5440680" cy="2377440"/>
          </a:xfrm>
          <a:prstGeom prst="rect">
            <a:avLst/>
          </a:prstGeom>
          <a:solidFill>
            <a:srgbClr val="FFFFFF"/>
          </a:solidFill>
          <a:ln w="9525">
            <a:solidFill>
              <a:srgbClr val="D9DFEA"/>
            </a:solidFill>
            <a:prstDash val="solid"/>
          </a:ln>
        </p:spPr>
      </p:sp>
      <p:sp>
        <p:nvSpPr>
          <p:cNvPr id="12" name="Shape 6"/>
          <p:cNvSpPr/>
          <p:nvPr/>
        </p:nvSpPr>
        <p:spPr>
          <a:xfrm>
            <a:off x="566928" y="1645920"/>
            <a:ext cx="5440680" cy="41148"/>
          </a:xfrm>
          <a:prstGeom prst="rect">
            <a:avLst/>
          </a:prstGeom>
          <a:solidFill>
            <a:srgbClr val="132257"/>
          </a:solidFill>
          <a:ln w="12700">
            <a:solidFill>
              <a:srgbClr val="132257"/>
            </a:solidFill>
            <a:prstDash val="solid"/>
          </a:ln>
        </p:spPr>
      </p:sp>
      <p:sp>
        <p:nvSpPr>
          <p:cNvPr id="13" name="Text 7"/>
          <p:cNvSpPr txBox="1"/>
          <p:nvPr/>
        </p:nvSpPr>
        <p:spPr>
          <a:xfrm>
            <a:off x="822960" y="1828800"/>
            <a:ext cx="4572000" cy="274320"/>
          </a:xfrm>
          <a:prstGeom prst="rect">
            <a:avLst/>
          </a:prstGeom>
          <a:noFill/>
          <a:ln/>
        </p:spPr>
        <p:txBody>
          <a:bodyPr wrap="square" lIns="0" tIns="0" rIns="0" bIns="0" rtlCol="0" anchor="t"/>
          <a:lstStyle/>
          <a:p>
            <a:pPr indent="0" marL="0">
              <a:buNone/>
            </a:pPr>
            <a:r>
              <a:rPr lang="en-US" sz="1000" b="1" spc="100" kern="0" dirty="0">
                <a:solidFill>
                  <a:srgbClr val="3C61B6"/>
                </a:solidFill>
                <a:latin typeface="Exo 2" pitchFamily="34" charset="0"/>
                <a:ea typeface="Exo 2" pitchFamily="34" charset="-122"/>
                <a:cs typeface="Exo 2" pitchFamily="34" charset="-120"/>
              </a:rPr>
              <a:t>THE OFFER</a:t>
            </a:r>
            <a:endParaRPr lang="en-US" sz="1000" dirty="0"/>
          </a:p>
        </p:txBody>
      </p:sp>
      <p:sp>
        <p:nvSpPr>
          <p:cNvPr id="14" name="Text 8"/>
          <p:cNvSpPr txBox="1"/>
          <p:nvPr/>
        </p:nvSpPr>
        <p:spPr>
          <a:xfrm>
            <a:off x="822960" y="2148840"/>
            <a:ext cx="4937760" cy="548640"/>
          </a:xfrm>
          <a:prstGeom prst="rect">
            <a:avLst/>
          </a:prstGeom>
          <a:noFill/>
          <a:ln/>
        </p:spPr>
        <p:txBody>
          <a:bodyPr wrap="square" lIns="0" tIns="0" rIns="0" bIns="0" rtlCol="0" anchor="t"/>
          <a:lstStyle/>
          <a:p>
            <a:pPr indent="0" marL="0">
              <a:buNone/>
            </a:pPr>
            <a:r>
              <a:rPr lang="en-US" sz="2800" b="1" dirty="0">
                <a:solidFill>
                  <a:srgbClr val="132257"/>
                </a:solidFill>
                <a:latin typeface="Exo 2" pitchFamily="34" charset="0"/>
                <a:ea typeface="Exo 2" pitchFamily="34" charset="-122"/>
                <a:cs typeface="Exo 2" pitchFamily="34" charset="-120"/>
              </a:rPr>
              <a:t>USD 3,862.50 + VAT</a:t>
            </a:r>
            <a:endParaRPr lang="en-US" sz="2800" dirty="0"/>
          </a:p>
        </p:txBody>
      </p:sp>
      <p:sp>
        <p:nvSpPr>
          <p:cNvPr id="15" name="Text 9"/>
          <p:cNvSpPr txBox="1"/>
          <p:nvPr/>
        </p:nvSpPr>
        <p:spPr>
          <a:xfrm>
            <a:off x="822960" y="2743200"/>
            <a:ext cx="4937760" cy="274320"/>
          </a:xfrm>
          <a:prstGeom prst="rect">
            <a:avLst/>
          </a:prstGeom>
          <a:noFill/>
          <a:ln/>
        </p:spPr>
        <p:txBody>
          <a:bodyPr wrap="square" lIns="0" tIns="0" rIns="0" bIns="0" rtlCol="0" anchor="t"/>
          <a:lstStyle/>
          <a:p>
            <a:pPr indent="0" marL="0">
              <a:buNone/>
            </a:pPr>
            <a:r>
              <a:rPr lang="en-US" sz="1200" dirty="0">
                <a:solidFill>
                  <a:srgbClr val="6B7590"/>
                </a:solidFill>
                <a:latin typeface="Exo 2" pitchFamily="34" charset="0"/>
                <a:ea typeface="Exo 2" pitchFamily="34" charset="-122"/>
                <a:cs typeface="Exo 2" pitchFamily="34" charset="-120"/>
              </a:rPr>
              <a:t>7 days  |  all of Saudi Arabia</a:t>
            </a:r>
            <a:endParaRPr lang="en-US" sz="1200" dirty="0"/>
          </a:p>
        </p:txBody>
      </p:sp>
      <p:sp>
        <p:nvSpPr>
          <p:cNvPr id="16" name="Text 10"/>
          <p:cNvSpPr txBox="1"/>
          <p:nvPr/>
        </p:nvSpPr>
        <p:spPr>
          <a:xfrm>
            <a:off x="822960" y="3108960"/>
            <a:ext cx="4937760" cy="731520"/>
          </a:xfrm>
          <a:prstGeom prst="rect">
            <a:avLst/>
          </a:prstGeom>
          <a:noFill/>
          <a:ln/>
        </p:spPr>
        <p:txBody>
          <a:bodyPr wrap="square" lIns="0" tIns="0" rIns="0" bIns="0" rtlCol="0" anchor="t"/>
          <a:lstStyle/>
          <a:p>
            <a:pPr indent="0" marL="0">
              <a:buNone/>
            </a:pPr>
            <a:r>
              <a:rPr lang="en-US" sz="1200" dirty="0">
                <a:solidFill>
                  <a:srgbClr val="1F2A44"/>
                </a:solidFill>
                <a:latin typeface="Exo 2" pitchFamily="34" charset="0"/>
                <a:ea typeface="Exo 2" pitchFamily="34" charset="-122"/>
                <a:cs typeface="Exo 2" pitchFamily="34" charset="-120"/>
              </a:rPr>
              <a:t>525,000 display and video impressions + 24-hour takeover poll (2,000,000 impressions)</a:t>
            </a:r>
            <a:endParaRPr lang="en-US" sz="1200" dirty="0"/>
          </a:p>
        </p:txBody>
      </p:sp>
      <p:sp>
        <p:nvSpPr>
          <p:cNvPr id="17" name="Shape 11"/>
          <p:cNvSpPr/>
          <p:nvPr/>
        </p:nvSpPr>
        <p:spPr>
          <a:xfrm>
            <a:off x="566928" y="4206240"/>
            <a:ext cx="1737360" cy="1234440"/>
          </a:xfrm>
          <a:prstGeom prst="rect">
            <a:avLst/>
          </a:prstGeom>
          <a:solidFill>
            <a:srgbClr val="FFFFFF"/>
          </a:solidFill>
          <a:ln w="9525">
            <a:solidFill>
              <a:srgbClr val="D9DFEA"/>
            </a:solidFill>
            <a:prstDash val="solid"/>
          </a:ln>
        </p:spPr>
      </p:sp>
      <p:sp>
        <p:nvSpPr>
          <p:cNvPr id="18" name="Shape 12"/>
          <p:cNvSpPr/>
          <p:nvPr/>
        </p:nvSpPr>
        <p:spPr>
          <a:xfrm>
            <a:off x="566928" y="4206240"/>
            <a:ext cx="1737360" cy="41148"/>
          </a:xfrm>
          <a:prstGeom prst="rect">
            <a:avLst/>
          </a:prstGeom>
          <a:solidFill>
            <a:srgbClr val="132257"/>
          </a:solidFill>
          <a:ln w="12700">
            <a:solidFill>
              <a:srgbClr val="132257"/>
            </a:solidFill>
            <a:prstDash val="solid"/>
          </a:ln>
        </p:spPr>
      </p:sp>
      <p:sp>
        <p:nvSpPr>
          <p:cNvPr id="19" name="Text 13"/>
          <p:cNvSpPr txBox="1"/>
          <p:nvPr/>
        </p:nvSpPr>
        <p:spPr>
          <a:xfrm>
            <a:off x="749808" y="4370832"/>
            <a:ext cx="1371600" cy="502920"/>
          </a:xfrm>
          <a:prstGeom prst="rect">
            <a:avLst/>
          </a:prstGeom>
          <a:noFill/>
          <a:ln/>
        </p:spPr>
        <p:txBody>
          <a:bodyPr wrap="square" lIns="0" tIns="0" rIns="0" bIns="0" rtlCol="0" anchor="t"/>
          <a:lstStyle/>
          <a:p>
            <a:pPr indent="0" marL="0">
              <a:buNone/>
            </a:pPr>
            <a:r>
              <a:rPr lang="en-US" sz="2600" b="1" dirty="0">
                <a:solidFill>
                  <a:srgbClr val="132257"/>
                </a:solidFill>
                <a:latin typeface="Exo 2" pitchFamily="34" charset="0"/>
                <a:ea typeface="Exo 2" pitchFamily="34" charset="-122"/>
                <a:cs typeface="Exo 2" pitchFamily="34" charset="-120"/>
              </a:rPr>
              <a:t>2.5M</a:t>
            </a:r>
            <a:endParaRPr lang="en-US" sz="2600" dirty="0"/>
          </a:p>
        </p:txBody>
      </p:sp>
      <p:sp>
        <p:nvSpPr>
          <p:cNvPr id="20" name="Text 14"/>
          <p:cNvSpPr txBox="1"/>
          <p:nvPr/>
        </p:nvSpPr>
        <p:spPr>
          <a:xfrm>
            <a:off x="749808" y="4892040"/>
            <a:ext cx="1371600" cy="274320"/>
          </a:xfrm>
          <a:prstGeom prst="rect">
            <a:avLst/>
          </a:prstGeom>
          <a:noFill/>
          <a:ln/>
        </p:spPr>
        <p:txBody>
          <a:bodyPr wrap="square" lIns="0" tIns="0" rIns="0" bIns="0" rtlCol="0" anchor="t"/>
          <a:lstStyle/>
          <a:p>
            <a:pPr indent="0" marL="0">
              <a:buNone/>
            </a:pPr>
            <a:r>
              <a:rPr lang="en-US" sz="1100" b="1" dirty="0">
                <a:solidFill>
                  <a:srgbClr val="132257"/>
                </a:solidFill>
                <a:latin typeface="Exo 2" pitchFamily="34" charset="0"/>
                <a:ea typeface="Exo 2" pitchFamily="34" charset="-122"/>
                <a:cs typeface="Exo 2" pitchFamily="34" charset="-120"/>
              </a:rPr>
              <a:t>impressions</a:t>
            </a:r>
            <a:endParaRPr lang="en-US" sz="1100" dirty="0"/>
          </a:p>
        </p:txBody>
      </p:sp>
      <p:sp>
        <p:nvSpPr>
          <p:cNvPr id="21" name="Text 15"/>
          <p:cNvSpPr txBox="1"/>
          <p:nvPr/>
        </p:nvSpPr>
        <p:spPr>
          <a:xfrm>
            <a:off x="749808" y="5138928"/>
            <a:ext cx="1371600" cy="256032"/>
          </a:xfrm>
          <a:prstGeom prst="rect">
            <a:avLst/>
          </a:prstGeom>
          <a:noFill/>
          <a:ln/>
        </p:spPr>
        <p:txBody>
          <a:bodyPr wrap="square" lIns="0" tIns="0" rIns="0" bIns="0" rtlCol="0" anchor="t"/>
          <a:lstStyle/>
          <a:p>
            <a:pPr indent="0" marL="0">
              <a:buNone/>
            </a:pPr>
            <a:r>
              <a:rPr lang="en-US" sz="900" dirty="0">
                <a:solidFill>
                  <a:srgbClr val="6B7590"/>
                </a:solidFill>
                <a:latin typeface="Exo 2" pitchFamily="34" charset="0"/>
                <a:ea typeface="Exo 2" pitchFamily="34" charset="-122"/>
                <a:cs typeface="Exo 2" pitchFamily="34" charset="-120"/>
              </a:rPr>
              <a:t>in 7 days</a:t>
            </a:r>
            <a:endParaRPr lang="en-US" sz="900" dirty="0"/>
          </a:p>
        </p:txBody>
      </p:sp>
      <p:sp>
        <p:nvSpPr>
          <p:cNvPr id="22" name="Shape 16"/>
          <p:cNvSpPr/>
          <p:nvPr/>
        </p:nvSpPr>
        <p:spPr>
          <a:xfrm>
            <a:off x="2423160" y="4206240"/>
            <a:ext cx="1737360" cy="1234440"/>
          </a:xfrm>
          <a:prstGeom prst="rect">
            <a:avLst/>
          </a:prstGeom>
          <a:solidFill>
            <a:srgbClr val="FFFFFF"/>
          </a:solidFill>
          <a:ln w="9525">
            <a:solidFill>
              <a:srgbClr val="D9DFEA"/>
            </a:solidFill>
            <a:prstDash val="solid"/>
          </a:ln>
        </p:spPr>
      </p:sp>
      <p:sp>
        <p:nvSpPr>
          <p:cNvPr id="23" name="Shape 17"/>
          <p:cNvSpPr/>
          <p:nvPr/>
        </p:nvSpPr>
        <p:spPr>
          <a:xfrm>
            <a:off x="2423160" y="4206240"/>
            <a:ext cx="1737360" cy="41148"/>
          </a:xfrm>
          <a:prstGeom prst="rect">
            <a:avLst/>
          </a:prstGeom>
          <a:solidFill>
            <a:srgbClr val="9A7B1F"/>
          </a:solidFill>
          <a:ln w="12700">
            <a:solidFill>
              <a:srgbClr val="9A7B1F"/>
            </a:solidFill>
            <a:prstDash val="solid"/>
          </a:ln>
        </p:spPr>
      </p:sp>
      <p:sp>
        <p:nvSpPr>
          <p:cNvPr id="24" name="Text 18"/>
          <p:cNvSpPr txBox="1"/>
          <p:nvPr/>
        </p:nvSpPr>
        <p:spPr>
          <a:xfrm>
            <a:off x="2606040" y="4370832"/>
            <a:ext cx="1371600" cy="502920"/>
          </a:xfrm>
          <a:prstGeom prst="rect">
            <a:avLst/>
          </a:prstGeom>
          <a:noFill/>
          <a:ln/>
        </p:spPr>
        <p:txBody>
          <a:bodyPr wrap="square" lIns="0" tIns="0" rIns="0" bIns="0" rtlCol="0" anchor="t"/>
          <a:lstStyle/>
          <a:p>
            <a:pPr indent="0" marL="0">
              <a:buNone/>
            </a:pPr>
            <a:r>
              <a:rPr lang="en-US" sz="2600" b="1" dirty="0">
                <a:solidFill>
                  <a:srgbClr val="9A7B1F"/>
                </a:solidFill>
                <a:latin typeface="Exo 2" pitchFamily="34" charset="0"/>
                <a:ea typeface="Exo 2" pitchFamily="34" charset="-122"/>
                <a:cs typeface="Exo 2" pitchFamily="34" charset="-120"/>
              </a:rPr>
              <a:t>USD 1.53</a:t>
            </a:r>
            <a:endParaRPr lang="en-US" sz="2600" dirty="0"/>
          </a:p>
        </p:txBody>
      </p:sp>
      <p:sp>
        <p:nvSpPr>
          <p:cNvPr id="25" name="Text 19"/>
          <p:cNvSpPr txBox="1"/>
          <p:nvPr/>
        </p:nvSpPr>
        <p:spPr>
          <a:xfrm>
            <a:off x="2606040" y="4892040"/>
            <a:ext cx="1371600" cy="274320"/>
          </a:xfrm>
          <a:prstGeom prst="rect">
            <a:avLst/>
          </a:prstGeom>
          <a:noFill/>
          <a:ln/>
        </p:spPr>
        <p:txBody>
          <a:bodyPr wrap="square" lIns="0" tIns="0" rIns="0" bIns="0" rtlCol="0" anchor="t"/>
          <a:lstStyle/>
          <a:p>
            <a:pPr indent="0" marL="0">
              <a:buNone/>
            </a:pPr>
            <a:r>
              <a:rPr lang="en-US" sz="1100" b="1" dirty="0">
                <a:solidFill>
                  <a:srgbClr val="132257"/>
                </a:solidFill>
                <a:latin typeface="Exo 2" pitchFamily="34" charset="0"/>
                <a:ea typeface="Exo 2" pitchFamily="34" charset="-122"/>
                <a:cs typeface="Exo 2" pitchFamily="34" charset="-120"/>
              </a:rPr>
              <a:t>per 1,000</a:t>
            </a:r>
            <a:endParaRPr lang="en-US" sz="1100" dirty="0"/>
          </a:p>
        </p:txBody>
      </p:sp>
      <p:sp>
        <p:nvSpPr>
          <p:cNvPr id="26" name="Text 20"/>
          <p:cNvSpPr txBox="1"/>
          <p:nvPr/>
        </p:nvSpPr>
        <p:spPr>
          <a:xfrm>
            <a:off x="2606040" y="5138928"/>
            <a:ext cx="1371600" cy="256032"/>
          </a:xfrm>
          <a:prstGeom prst="rect">
            <a:avLst/>
          </a:prstGeom>
          <a:noFill/>
          <a:ln/>
        </p:spPr>
        <p:txBody>
          <a:bodyPr wrap="square" lIns="0" tIns="0" rIns="0" bIns="0" rtlCol="0" anchor="t"/>
          <a:lstStyle/>
          <a:p>
            <a:pPr indent="0" marL="0">
              <a:buNone/>
            </a:pPr>
            <a:r>
              <a:rPr lang="en-US" sz="900" dirty="0">
                <a:solidFill>
                  <a:srgbClr val="6B7590"/>
                </a:solidFill>
                <a:latin typeface="Exo 2" pitchFamily="34" charset="0"/>
                <a:ea typeface="Exo 2" pitchFamily="34" charset="-122"/>
                <a:cs typeface="Exo 2" pitchFamily="34" charset="-120"/>
              </a:rPr>
              <a:t>impressions</a:t>
            </a:r>
            <a:endParaRPr lang="en-US" sz="900" dirty="0"/>
          </a:p>
        </p:txBody>
      </p:sp>
      <p:sp>
        <p:nvSpPr>
          <p:cNvPr id="27" name="Shape 21"/>
          <p:cNvSpPr/>
          <p:nvPr/>
        </p:nvSpPr>
        <p:spPr>
          <a:xfrm>
            <a:off x="4279392" y="4206240"/>
            <a:ext cx="1737360" cy="1234440"/>
          </a:xfrm>
          <a:prstGeom prst="rect">
            <a:avLst/>
          </a:prstGeom>
          <a:solidFill>
            <a:srgbClr val="FFFFFF"/>
          </a:solidFill>
          <a:ln w="9525">
            <a:solidFill>
              <a:srgbClr val="D9DFEA"/>
            </a:solidFill>
            <a:prstDash val="solid"/>
          </a:ln>
        </p:spPr>
      </p:sp>
      <p:sp>
        <p:nvSpPr>
          <p:cNvPr id="28" name="Shape 22"/>
          <p:cNvSpPr/>
          <p:nvPr/>
        </p:nvSpPr>
        <p:spPr>
          <a:xfrm>
            <a:off x="4279392" y="4206240"/>
            <a:ext cx="1737360" cy="41148"/>
          </a:xfrm>
          <a:prstGeom prst="rect">
            <a:avLst/>
          </a:prstGeom>
          <a:solidFill>
            <a:srgbClr val="132257"/>
          </a:solidFill>
          <a:ln w="12700">
            <a:solidFill>
              <a:srgbClr val="132257"/>
            </a:solidFill>
            <a:prstDash val="solid"/>
          </a:ln>
        </p:spPr>
      </p:sp>
      <p:sp>
        <p:nvSpPr>
          <p:cNvPr id="29" name="Text 23"/>
          <p:cNvSpPr txBox="1"/>
          <p:nvPr/>
        </p:nvSpPr>
        <p:spPr>
          <a:xfrm>
            <a:off x="4462272" y="4370832"/>
            <a:ext cx="1371600" cy="502920"/>
          </a:xfrm>
          <a:prstGeom prst="rect">
            <a:avLst/>
          </a:prstGeom>
          <a:noFill/>
          <a:ln/>
        </p:spPr>
        <p:txBody>
          <a:bodyPr wrap="square" lIns="0" tIns="0" rIns="0" bIns="0" rtlCol="0" anchor="t"/>
          <a:lstStyle/>
          <a:p>
            <a:pPr indent="0" marL="0">
              <a:buNone/>
            </a:pPr>
            <a:r>
              <a:rPr lang="en-US" sz="2600" b="1" dirty="0">
                <a:solidFill>
                  <a:srgbClr val="132257"/>
                </a:solidFill>
                <a:latin typeface="Exo 2" pitchFamily="34" charset="0"/>
                <a:ea typeface="Exo 2" pitchFamily="34" charset="-122"/>
                <a:cs typeface="Exo 2" pitchFamily="34" charset="-120"/>
              </a:rPr>
              <a:t>21 to 35</a:t>
            </a:r>
            <a:endParaRPr lang="en-US" sz="2600" dirty="0"/>
          </a:p>
        </p:txBody>
      </p:sp>
      <p:sp>
        <p:nvSpPr>
          <p:cNvPr id="30" name="Text 24"/>
          <p:cNvSpPr txBox="1"/>
          <p:nvPr/>
        </p:nvSpPr>
        <p:spPr>
          <a:xfrm>
            <a:off x="4462272" y="4892040"/>
            <a:ext cx="1371600" cy="274320"/>
          </a:xfrm>
          <a:prstGeom prst="rect">
            <a:avLst/>
          </a:prstGeom>
          <a:noFill/>
          <a:ln/>
        </p:spPr>
        <p:txBody>
          <a:bodyPr wrap="square" lIns="0" tIns="0" rIns="0" bIns="0" rtlCol="0" anchor="t"/>
          <a:lstStyle/>
          <a:p>
            <a:pPr indent="0" marL="0">
              <a:buNone/>
            </a:pPr>
            <a:r>
              <a:rPr lang="en-US" sz="1100" b="1" dirty="0">
                <a:solidFill>
                  <a:srgbClr val="132257"/>
                </a:solidFill>
                <a:latin typeface="Exo 2" pitchFamily="34" charset="0"/>
                <a:ea typeface="Exo 2" pitchFamily="34" charset="-122"/>
                <a:cs typeface="Exo 2" pitchFamily="34" charset="-120"/>
              </a:rPr>
              <a:t>audience age</a:t>
            </a:r>
            <a:endParaRPr lang="en-US" sz="1100" dirty="0"/>
          </a:p>
        </p:txBody>
      </p:sp>
      <p:sp>
        <p:nvSpPr>
          <p:cNvPr id="31" name="Text 25"/>
          <p:cNvSpPr txBox="1"/>
          <p:nvPr/>
        </p:nvSpPr>
        <p:spPr>
          <a:xfrm>
            <a:off x="4462272" y="5138928"/>
            <a:ext cx="1371600" cy="256032"/>
          </a:xfrm>
          <a:prstGeom prst="rect">
            <a:avLst/>
          </a:prstGeom>
          <a:noFill/>
          <a:ln/>
        </p:spPr>
        <p:txBody>
          <a:bodyPr wrap="square" lIns="0" tIns="0" rIns="0" bIns="0" rtlCol="0" anchor="t"/>
          <a:lstStyle/>
          <a:p>
            <a:pPr indent="0" marL="0">
              <a:buNone/>
            </a:pPr>
            <a:r>
              <a:rPr lang="en-US" sz="900" dirty="0">
                <a:solidFill>
                  <a:srgbClr val="6B7590"/>
                </a:solidFill>
                <a:latin typeface="Exo 2" pitchFamily="34" charset="0"/>
                <a:ea typeface="Exo 2" pitchFamily="34" charset="-122"/>
                <a:cs typeface="Exo 2" pitchFamily="34" charset="-120"/>
              </a:rPr>
              <a:t>2.5M users in KSA</a:t>
            </a:r>
            <a:endParaRPr lang="en-US" sz="900" dirty="0"/>
          </a:p>
        </p:txBody>
      </p:sp>
      <p:sp>
        <p:nvSpPr>
          <p:cNvPr id="32" name="Shape 26"/>
          <p:cNvSpPr/>
          <p:nvPr/>
        </p:nvSpPr>
        <p:spPr>
          <a:xfrm>
            <a:off x="6355080" y="1645920"/>
            <a:ext cx="5276088" cy="3794760"/>
          </a:xfrm>
          <a:prstGeom prst="rect">
            <a:avLst/>
          </a:prstGeom>
          <a:solidFill>
            <a:srgbClr val="FFFFFF"/>
          </a:solidFill>
          <a:ln w="9525">
            <a:solidFill>
              <a:srgbClr val="D9DFEA"/>
            </a:solidFill>
            <a:prstDash val="solid"/>
          </a:ln>
        </p:spPr>
      </p:sp>
      <p:sp>
        <p:nvSpPr>
          <p:cNvPr id="33" name="Shape 27"/>
          <p:cNvSpPr/>
          <p:nvPr/>
        </p:nvSpPr>
        <p:spPr>
          <a:xfrm>
            <a:off x="6355080" y="1645920"/>
            <a:ext cx="5276088" cy="41148"/>
          </a:xfrm>
          <a:prstGeom prst="rect">
            <a:avLst/>
          </a:prstGeom>
          <a:solidFill>
            <a:srgbClr val="D4AF37"/>
          </a:solidFill>
          <a:ln w="12700">
            <a:solidFill>
              <a:srgbClr val="D4AF37"/>
            </a:solidFill>
            <a:prstDash val="solid"/>
          </a:ln>
        </p:spPr>
      </p:sp>
      <p:sp>
        <p:nvSpPr>
          <p:cNvPr id="34" name="Text 28"/>
          <p:cNvSpPr txBox="1"/>
          <p:nvPr/>
        </p:nvSpPr>
        <p:spPr>
          <a:xfrm>
            <a:off x="6629400" y="1828800"/>
            <a:ext cx="4846320" cy="274320"/>
          </a:xfrm>
          <a:prstGeom prst="rect">
            <a:avLst/>
          </a:prstGeom>
          <a:noFill/>
          <a:ln/>
        </p:spPr>
        <p:txBody>
          <a:bodyPr wrap="square" lIns="0" tIns="0" rIns="0" bIns="0" rtlCol="0" anchor="t"/>
          <a:lstStyle/>
          <a:p>
            <a:pPr indent="0" marL="0">
              <a:buNone/>
            </a:pPr>
            <a:r>
              <a:rPr lang="en-US" sz="1000" b="1" spc="100" kern="0" dirty="0">
                <a:solidFill>
                  <a:srgbClr val="9A7B1F"/>
                </a:solidFill>
                <a:latin typeface="Exo 2" pitchFamily="34" charset="0"/>
                <a:ea typeface="Exo 2" pitchFamily="34" charset="-122"/>
                <a:cs typeface="Exo 2" pitchFamily="34" charset="-120"/>
              </a:rPr>
              <a:t>PEER RESULT: BAHRAIN ISLAMIC BANK IN KSA</a:t>
            </a:r>
            <a:endParaRPr lang="en-US" sz="1000" dirty="0"/>
          </a:p>
        </p:txBody>
      </p:sp>
      <p:sp>
        <p:nvSpPr>
          <p:cNvPr id="35" name="Text 29"/>
          <p:cNvSpPr txBox="1"/>
          <p:nvPr/>
        </p:nvSpPr>
        <p:spPr>
          <a:xfrm>
            <a:off x="6629400" y="2121408"/>
            <a:ext cx="4754880" cy="365760"/>
          </a:xfrm>
          <a:prstGeom prst="rect">
            <a:avLst/>
          </a:prstGeom>
          <a:noFill/>
          <a:ln/>
        </p:spPr>
        <p:txBody>
          <a:bodyPr wrap="square" lIns="0" tIns="0" rIns="0" bIns="0" rtlCol="0" anchor="t"/>
          <a:lstStyle/>
          <a:p>
            <a:pPr indent="0" marL="0">
              <a:buNone/>
            </a:pPr>
            <a:r>
              <a:rPr lang="en-US" sz="1500" b="1" dirty="0">
                <a:solidFill>
                  <a:srgbClr val="132257"/>
                </a:solidFill>
                <a:latin typeface="Exo 2" pitchFamily="34" charset="0"/>
                <a:ea typeface="Exo 2" pitchFamily="34" charset="-122"/>
                <a:cs typeface="Exo 2" pitchFamily="34" charset="-120"/>
              </a:rPr>
              <a:t>7 days over Saudi National Day</a:t>
            </a:r>
            <a:endParaRPr lang="en-US" sz="1500" dirty="0"/>
          </a:p>
        </p:txBody>
      </p:sp>
      <p:sp>
        <p:nvSpPr>
          <p:cNvPr id="36" name="Text 30"/>
          <p:cNvSpPr txBox="1"/>
          <p:nvPr/>
        </p:nvSpPr>
        <p:spPr>
          <a:xfrm>
            <a:off x="6629400" y="2697480"/>
            <a:ext cx="2286000" cy="548640"/>
          </a:xfrm>
          <a:prstGeom prst="rect">
            <a:avLst/>
          </a:prstGeom>
          <a:noFill/>
          <a:ln/>
        </p:spPr>
        <p:txBody>
          <a:bodyPr wrap="square" lIns="0" tIns="0" rIns="0" bIns="0" rtlCol="0" anchor="t"/>
          <a:lstStyle/>
          <a:p>
            <a:pPr indent="0" marL="0">
              <a:buNone/>
            </a:pPr>
            <a:r>
              <a:rPr lang="en-US" sz="2800" b="1" dirty="0">
                <a:solidFill>
                  <a:srgbClr val="132257"/>
                </a:solidFill>
                <a:latin typeface="Exo 2" pitchFamily="34" charset="0"/>
                <a:ea typeface="Exo 2" pitchFamily="34" charset="-122"/>
                <a:cs typeface="Exo 2" pitchFamily="34" charset="-120"/>
              </a:rPr>
              <a:t>4.15M</a:t>
            </a:r>
            <a:endParaRPr lang="en-US" sz="2800" dirty="0"/>
          </a:p>
        </p:txBody>
      </p:sp>
      <p:sp>
        <p:nvSpPr>
          <p:cNvPr id="37" name="Text 31"/>
          <p:cNvSpPr txBox="1"/>
          <p:nvPr/>
        </p:nvSpPr>
        <p:spPr>
          <a:xfrm>
            <a:off x="6629400" y="3246120"/>
            <a:ext cx="2286000" cy="274320"/>
          </a:xfrm>
          <a:prstGeom prst="rect">
            <a:avLst/>
          </a:prstGeom>
          <a:noFill/>
          <a:ln/>
        </p:spPr>
        <p:txBody>
          <a:bodyPr wrap="square" lIns="0" tIns="0" rIns="0" bIns="0" rtlCol="0" anchor="t"/>
          <a:lstStyle/>
          <a:p>
            <a:pPr indent="0" marL="0">
              <a:buNone/>
            </a:pPr>
            <a:r>
              <a:rPr lang="en-US" sz="1100" dirty="0">
                <a:solidFill>
                  <a:srgbClr val="6B7590"/>
                </a:solidFill>
                <a:latin typeface="Exo 2" pitchFamily="34" charset="0"/>
                <a:ea typeface="Exo 2" pitchFamily="34" charset="-122"/>
                <a:cs typeface="Exo 2" pitchFamily="34" charset="-120"/>
              </a:rPr>
              <a:t>impressions</a:t>
            </a:r>
            <a:endParaRPr lang="en-US" sz="1100" dirty="0"/>
          </a:p>
        </p:txBody>
      </p:sp>
      <p:sp>
        <p:nvSpPr>
          <p:cNvPr id="38" name="Text 32"/>
          <p:cNvSpPr txBox="1"/>
          <p:nvPr/>
        </p:nvSpPr>
        <p:spPr>
          <a:xfrm>
            <a:off x="9098280" y="2697480"/>
            <a:ext cx="2286000" cy="548640"/>
          </a:xfrm>
          <a:prstGeom prst="rect">
            <a:avLst/>
          </a:prstGeom>
          <a:noFill/>
          <a:ln/>
        </p:spPr>
        <p:txBody>
          <a:bodyPr wrap="square" lIns="0" tIns="0" rIns="0" bIns="0" rtlCol="0" anchor="t"/>
          <a:lstStyle/>
          <a:p>
            <a:pPr indent="0" marL="0">
              <a:buNone/>
            </a:pPr>
            <a:r>
              <a:rPr lang="en-US" sz="2800" b="1" dirty="0">
                <a:solidFill>
                  <a:srgbClr val="132257"/>
                </a:solidFill>
                <a:latin typeface="Exo 2" pitchFamily="34" charset="0"/>
                <a:ea typeface="Exo 2" pitchFamily="34" charset="-122"/>
                <a:cs typeface="Exo 2" pitchFamily="34" charset="-120"/>
              </a:rPr>
              <a:t>0.43%</a:t>
            </a:r>
            <a:endParaRPr lang="en-US" sz="2800" dirty="0"/>
          </a:p>
        </p:txBody>
      </p:sp>
      <p:sp>
        <p:nvSpPr>
          <p:cNvPr id="39" name="Text 33"/>
          <p:cNvSpPr txBox="1"/>
          <p:nvPr/>
        </p:nvSpPr>
        <p:spPr>
          <a:xfrm>
            <a:off x="9098280" y="3246120"/>
            <a:ext cx="2286000" cy="274320"/>
          </a:xfrm>
          <a:prstGeom prst="rect">
            <a:avLst/>
          </a:prstGeom>
          <a:noFill/>
          <a:ln/>
        </p:spPr>
        <p:txBody>
          <a:bodyPr wrap="square" lIns="0" tIns="0" rIns="0" bIns="0" rtlCol="0" anchor="t"/>
          <a:lstStyle/>
          <a:p>
            <a:pPr indent="0" marL="0">
              <a:buNone/>
            </a:pPr>
            <a:r>
              <a:rPr lang="en-US" sz="1100" dirty="0">
                <a:solidFill>
                  <a:srgbClr val="6B7590"/>
                </a:solidFill>
                <a:latin typeface="Exo 2" pitchFamily="34" charset="0"/>
                <a:ea typeface="Exo 2" pitchFamily="34" charset="-122"/>
                <a:cs typeface="Exo 2" pitchFamily="34" charset="-120"/>
              </a:rPr>
              <a:t>click rate</a:t>
            </a:r>
            <a:endParaRPr lang="en-US" sz="1100" dirty="0"/>
          </a:p>
        </p:txBody>
      </p:sp>
      <p:sp>
        <p:nvSpPr>
          <p:cNvPr id="40" name="Text 34"/>
          <p:cNvSpPr txBox="1"/>
          <p:nvPr/>
        </p:nvSpPr>
        <p:spPr>
          <a:xfrm>
            <a:off x="6629400" y="3931920"/>
            <a:ext cx="2286000" cy="548640"/>
          </a:xfrm>
          <a:prstGeom prst="rect">
            <a:avLst/>
          </a:prstGeom>
          <a:noFill/>
          <a:ln/>
        </p:spPr>
        <p:txBody>
          <a:bodyPr wrap="square" lIns="0" tIns="0" rIns="0" bIns="0" rtlCol="0" anchor="t"/>
          <a:lstStyle/>
          <a:p>
            <a:pPr indent="0" marL="0">
              <a:buNone/>
            </a:pPr>
            <a:r>
              <a:rPr lang="en-US" sz="2800" b="1" dirty="0">
                <a:solidFill>
                  <a:srgbClr val="132257"/>
                </a:solidFill>
                <a:latin typeface="Exo 2" pitchFamily="34" charset="0"/>
                <a:ea typeface="Exo 2" pitchFamily="34" charset="-122"/>
                <a:cs typeface="Exo 2" pitchFamily="34" charset="-120"/>
              </a:rPr>
              <a:t>700+</a:t>
            </a:r>
            <a:endParaRPr lang="en-US" sz="2800" dirty="0"/>
          </a:p>
        </p:txBody>
      </p:sp>
      <p:sp>
        <p:nvSpPr>
          <p:cNvPr id="41" name="Text 35"/>
          <p:cNvSpPr txBox="1"/>
          <p:nvPr/>
        </p:nvSpPr>
        <p:spPr>
          <a:xfrm>
            <a:off x="6629400" y="4480560"/>
            <a:ext cx="2286000" cy="274320"/>
          </a:xfrm>
          <a:prstGeom prst="rect">
            <a:avLst/>
          </a:prstGeom>
          <a:noFill/>
          <a:ln/>
        </p:spPr>
        <p:txBody>
          <a:bodyPr wrap="square" lIns="0" tIns="0" rIns="0" bIns="0" rtlCol="0" anchor="t"/>
          <a:lstStyle/>
          <a:p>
            <a:pPr indent="0" marL="0">
              <a:buNone/>
            </a:pPr>
            <a:r>
              <a:rPr lang="en-US" sz="1100" dirty="0">
                <a:solidFill>
                  <a:srgbClr val="6B7590"/>
                </a:solidFill>
                <a:latin typeface="Exo 2" pitchFamily="34" charset="0"/>
                <a:ea typeface="Exo 2" pitchFamily="34" charset="-122"/>
                <a:cs typeface="Exo 2" pitchFamily="34" charset="-120"/>
              </a:rPr>
              <a:t>app downloads</a:t>
            </a:r>
            <a:endParaRPr lang="en-US" sz="1100" dirty="0"/>
          </a:p>
        </p:txBody>
      </p:sp>
      <p:sp>
        <p:nvSpPr>
          <p:cNvPr id="42" name="Text 36"/>
          <p:cNvSpPr txBox="1"/>
          <p:nvPr/>
        </p:nvSpPr>
        <p:spPr>
          <a:xfrm>
            <a:off x="9098280" y="3931920"/>
            <a:ext cx="2286000" cy="548640"/>
          </a:xfrm>
          <a:prstGeom prst="rect">
            <a:avLst/>
          </a:prstGeom>
          <a:noFill/>
          <a:ln/>
        </p:spPr>
        <p:txBody>
          <a:bodyPr wrap="square" lIns="0" tIns="0" rIns="0" bIns="0" rtlCol="0" anchor="t"/>
          <a:lstStyle/>
          <a:p>
            <a:pPr indent="0" marL="0">
              <a:buNone/>
            </a:pPr>
            <a:r>
              <a:rPr lang="en-US" sz="2800" b="1" dirty="0">
                <a:solidFill>
                  <a:srgbClr val="132257"/>
                </a:solidFill>
                <a:latin typeface="Exo 2" pitchFamily="34" charset="0"/>
                <a:ea typeface="Exo 2" pitchFamily="34" charset="-122"/>
                <a:cs typeface="Exo 2" pitchFamily="34" charset="-120"/>
              </a:rPr>
              <a:t>240</a:t>
            </a:r>
            <a:endParaRPr lang="en-US" sz="2800" dirty="0"/>
          </a:p>
        </p:txBody>
      </p:sp>
      <p:sp>
        <p:nvSpPr>
          <p:cNvPr id="43" name="Text 37"/>
          <p:cNvSpPr txBox="1"/>
          <p:nvPr/>
        </p:nvSpPr>
        <p:spPr>
          <a:xfrm>
            <a:off x="9098280" y="4480560"/>
            <a:ext cx="2286000" cy="274320"/>
          </a:xfrm>
          <a:prstGeom prst="rect">
            <a:avLst/>
          </a:prstGeom>
          <a:noFill/>
          <a:ln/>
        </p:spPr>
        <p:txBody>
          <a:bodyPr wrap="square" lIns="0" tIns="0" rIns="0" bIns="0" rtlCol="0" anchor="t"/>
          <a:lstStyle/>
          <a:p>
            <a:pPr indent="0" marL="0">
              <a:buNone/>
            </a:pPr>
            <a:r>
              <a:rPr lang="en-US" sz="1100" dirty="0">
                <a:solidFill>
                  <a:srgbClr val="6B7590"/>
                </a:solidFill>
                <a:latin typeface="Exo 2" pitchFamily="34" charset="0"/>
                <a:ea typeface="Exo 2" pitchFamily="34" charset="-122"/>
                <a:cs typeface="Exo 2" pitchFamily="34" charset="-120"/>
              </a:rPr>
              <a:t>accounts opened</a:t>
            </a:r>
            <a:endParaRPr lang="en-US" sz="1100" dirty="0"/>
          </a:p>
        </p:txBody>
      </p:sp>
      <p:sp>
        <p:nvSpPr>
          <p:cNvPr id="44" name="Shape 38"/>
          <p:cNvSpPr/>
          <p:nvPr/>
        </p:nvSpPr>
        <p:spPr>
          <a:xfrm>
            <a:off x="566928" y="5669280"/>
            <a:ext cx="11064240" cy="502920"/>
          </a:xfrm>
          <a:prstGeom prst="rect">
            <a:avLst/>
          </a:prstGeom>
          <a:solidFill>
            <a:srgbClr val="EEF1F8"/>
          </a:solidFill>
          <a:ln w="12700">
            <a:solidFill>
              <a:srgbClr val="EEF1F8"/>
            </a:solidFill>
            <a:prstDash val="solid"/>
          </a:ln>
        </p:spPr>
      </p:sp>
      <p:sp>
        <p:nvSpPr>
          <p:cNvPr id="45" name="Text 39"/>
          <p:cNvSpPr txBox="1"/>
          <p:nvPr/>
        </p:nvSpPr>
        <p:spPr>
          <a:xfrm>
            <a:off x="777240" y="5669280"/>
            <a:ext cx="10789920" cy="502920"/>
          </a:xfrm>
          <a:prstGeom prst="rect">
            <a:avLst/>
          </a:prstGeom>
          <a:noFill/>
          <a:ln/>
        </p:spPr>
        <p:txBody>
          <a:bodyPr wrap="square" lIns="0" tIns="0" rIns="0" bIns="0" rtlCol="0" anchor="ctr"/>
          <a:lstStyle/>
          <a:p>
            <a:pPr indent="0" marL="0">
              <a:buNone/>
            </a:pPr>
            <a:r>
              <a:rPr lang="en-US" sz="1150" b="1" dirty="0">
                <a:solidFill>
                  <a:srgbClr val="132257"/>
                </a:solidFill>
                <a:latin typeface="Exo 2" pitchFamily="34" charset="0"/>
                <a:ea typeface="Exo 2" pitchFamily="34" charset="-122"/>
                <a:cs typeface="Exo 2" pitchFamily="34" charset="-120"/>
              </a:rPr>
              <a:t>Proposal only, not yet approved. Best timed with a salary week, as in the BISB campaign.</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home/user/HatemIsa_202508993_IT9002_NLP_Project/emyaa-ceo-deck/working/charts/board_header.png">    </p:cNvPr>
          <p:cNvPicPr>
            <a:picLocks noChangeAspect="1"/>
          </p:cNvPicPr>
          <p:nvPr/>
        </p:nvPicPr>
        <p:blipFill>
          <a:blip r:embed="rId1"/>
          <a:stretch>
            <a:fillRect/>
          </a:stretch>
        </p:blipFill>
        <p:spPr>
          <a:xfrm>
            <a:off x="0" y="0"/>
            <a:ext cx="12191695" cy="1298448"/>
          </a:xfrm>
          <a:prstGeom prst="rect">
            <a:avLst/>
          </a:prstGeom>
        </p:spPr>
      </p:pic>
      <p:sp>
        <p:nvSpPr>
          <p:cNvPr id="3" name="Shape 0"/>
          <p:cNvSpPr/>
          <p:nvPr/>
        </p:nvSpPr>
        <p:spPr>
          <a:xfrm>
            <a:off x="0" y="1298448"/>
            <a:ext cx="12191695" cy="27432"/>
          </a:xfrm>
          <a:prstGeom prst="rect">
            <a:avLst/>
          </a:prstGeom>
          <a:solidFill>
            <a:srgbClr val="D4AF37"/>
          </a:solidFill>
          <a:ln w="12700">
            <a:solidFill>
              <a:srgbClr val="D4AF37"/>
            </a:solidFill>
            <a:prstDash val="solid"/>
          </a:ln>
        </p:spPr>
      </p:sp>
      <p:sp>
        <p:nvSpPr>
          <p:cNvPr id="4" name="Text 1"/>
          <p:cNvSpPr txBox="1"/>
          <p:nvPr/>
        </p:nvSpPr>
        <p:spPr>
          <a:xfrm>
            <a:off x="566928" y="274320"/>
            <a:ext cx="9144000" cy="201168"/>
          </a:xfrm>
          <a:prstGeom prst="rect">
            <a:avLst/>
          </a:prstGeom>
          <a:noFill/>
          <a:ln/>
        </p:spPr>
        <p:txBody>
          <a:bodyPr wrap="square" lIns="0" tIns="0" rIns="0" bIns="0" rtlCol="0" anchor="t"/>
          <a:lstStyle/>
          <a:p>
            <a:pPr indent="0" marL="0">
              <a:buNone/>
            </a:pPr>
            <a:r>
              <a:rPr lang="en-US" sz="950" b="1" spc="200" kern="0" dirty="0">
                <a:solidFill>
                  <a:srgbClr val="D4AF37"/>
                </a:solidFill>
                <a:latin typeface="Exo 2" pitchFamily="34" charset="0"/>
                <a:ea typeface="Exo 2" pitchFamily="34" charset="-122"/>
                <a:cs typeface="Exo 2" pitchFamily="34" charset="-120"/>
              </a:rPr>
              <a:t>FOR DISCUSSION</a:t>
            </a:r>
            <a:endParaRPr lang="en-US" sz="950" dirty="0"/>
          </a:p>
        </p:txBody>
      </p:sp>
      <p:sp>
        <p:nvSpPr>
          <p:cNvPr id="5" name="Text 2"/>
          <p:cNvSpPr txBox="1"/>
          <p:nvPr/>
        </p:nvSpPr>
        <p:spPr>
          <a:xfrm>
            <a:off x="566928" y="475488"/>
            <a:ext cx="9418320" cy="749808"/>
          </a:xfrm>
          <a:prstGeom prst="rect">
            <a:avLst/>
          </a:prstGeom>
          <a:noFill/>
          <a:ln/>
        </p:spPr>
        <p:txBody>
          <a:bodyPr wrap="square" lIns="0" tIns="0" rIns="0" bIns="0" rtlCol="0" anchor="ctr"/>
          <a:lstStyle/>
          <a:p>
            <a:pPr indent="0" marL="0">
              <a:buNone/>
            </a:pPr>
            <a:r>
              <a:rPr lang="en-US" sz="2200" b="1" dirty="0">
                <a:solidFill>
                  <a:srgbClr val="FFFFFF"/>
                </a:solidFill>
                <a:latin typeface="Exo 2" pitchFamily="34" charset="0"/>
                <a:ea typeface="Exo 2" pitchFamily="34" charset="-122"/>
                <a:cs typeface="Exo 2" pitchFamily="34" charset="-120"/>
              </a:rPr>
              <a:t>Where eMYAA and Vision Bank could work together</a:t>
            </a:r>
            <a:endParaRPr lang="en-US" sz="2200" dirty="0"/>
          </a:p>
        </p:txBody>
      </p:sp>
      <p:pic>
        <p:nvPicPr>
          <p:cNvPr id="6" name="Image 1" descr="/home/user/HatemIsa_202508993_IT9002_NLP_Project/emyaa-ceo-deck/working/charts/ajyad_white.png">    </p:cNvPr>
          <p:cNvPicPr>
            <a:picLocks noChangeAspect="1"/>
          </p:cNvPicPr>
          <p:nvPr/>
        </p:nvPicPr>
        <p:blipFill>
          <a:blip r:embed="rId2"/>
          <a:stretch>
            <a:fillRect/>
          </a:stretch>
        </p:blipFill>
        <p:spPr>
          <a:xfrm>
            <a:off x="10305288" y="457200"/>
            <a:ext cx="1325880" cy="384048"/>
          </a:xfrm>
          <a:prstGeom prst="rect">
            <a:avLst/>
          </a:prstGeom>
        </p:spPr>
      </p:pic>
      <p:sp>
        <p:nvSpPr>
          <p:cNvPr id="7" name="Text 3"/>
          <p:cNvSpPr txBox="1"/>
          <p:nvPr/>
        </p:nvSpPr>
        <p:spPr>
          <a:xfrm>
            <a:off x="566928" y="6492240"/>
            <a:ext cx="5486400" cy="201168"/>
          </a:xfrm>
          <a:prstGeom prst="rect">
            <a:avLst/>
          </a:prstGeom>
          <a:noFill/>
          <a:ln/>
        </p:spPr>
        <p:txBody>
          <a:bodyPr wrap="square" lIns="0" tIns="0" rIns="0" bIns="0" rtlCol="0" anchor="t"/>
          <a:lstStyle/>
          <a:p>
            <a:pPr indent="0" marL="0">
              <a:buNone/>
            </a:pPr>
            <a:r>
              <a:rPr lang="en-US" sz="800" dirty="0">
                <a:solidFill>
                  <a:srgbClr val="8A93A8"/>
                </a:solidFill>
                <a:latin typeface="Exo 2" pitchFamily="34" charset="0"/>
                <a:ea typeface="Exo 2" pitchFamily="34" charset="-122"/>
                <a:cs typeface="Exo 2" pitchFamily="34" charset="-120"/>
              </a:rPr>
              <a:t>eMYAA Trading Platform  |  Saudi Market Plan</a:t>
            </a:r>
            <a:endParaRPr lang="en-US" sz="800" dirty="0"/>
          </a:p>
        </p:txBody>
      </p:sp>
      <p:sp>
        <p:nvSpPr>
          <p:cNvPr id="8" name="Text 4"/>
          <p:cNvSpPr txBox="1"/>
          <p:nvPr/>
        </p:nvSpPr>
        <p:spPr>
          <a:xfrm>
            <a:off x="9802368" y="6492240"/>
            <a:ext cx="457200" cy="201168"/>
          </a:xfrm>
          <a:prstGeom prst="rect">
            <a:avLst/>
          </a:prstGeom>
          <a:noFill/>
          <a:ln/>
        </p:spPr>
        <p:txBody>
          <a:bodyPr wrap="square" lIns="0" tIns="0" rIns="0" bIns="0" rtlCol="0" anchor="t"/>
          <a:lstStyle/>
          <a:p>
            <a:pPr algn="r" indent="0" marL="0">
              <a:buNone/>
            </a:pPr>
            <a:r>
              <a:rPr lang="en-US" sz="800" dirty="0">
                <a:solidFill>
                  <a:srgbClr val="8A93A8"/>
                </a:solidFill>
                <a:latin typeface="Exo 2" pitchFamily="34" charset="0"/>
                <a:ea typeface="Exo 2" pitchFamily="34" charset="-122"/>
                <a:cs typeface="Exo 2" pitchFamily="34" charset="-120"/>
              </a:rPr>
              <a:t>7</a:t>
            </a:r>
            <a:endParaRPr lang="en-US" sz="800" dirty="0"/>
          </a:p>
        </p:txBody>
      </p:sp>
      <p:pic>
        <p:nvPicPr>
          <p:cNvPr id="9" name="Image 2" descr="/home/user/HatemIsa_202508993_IT9002_NLP_Project/emyaa-ceo-deck/working/charts/emyaa_navy.png">    </p:cNvPr>
          <p:cNvPicPr>
            <a:picLocks noChangeAspect="1"/>
          </p:cNvPicPr>
          <p:nvPr/>
        </p:nvPicPr>
        <p:blipFill>
          <a:blip r:embed="rId3"/>
          <a:stretch>
            <a:fillRect/>
          </a:stretch>
        </p:blipFill>
        <p:spPr>
          <a:xfrm>
            <a:off x="10607040" y="6327648"/>
            <a:ext cx="1024128" cy="365760"/>
          </a:xfrm>
          <a:prstGeom prst="rect">
            <a:avLst/>
          </a:prstGeom>
        </p:spPr>
      </p:pic>
      <p:sp>
        <p:nvSpPr>
          <p:cNvPr id="11" name="Shape 5"/>
          <p:cNvSpPr/>
          <p:nvPr/>
        </p:nvSpPr>
        <p:spPr>
          <a:xfrm>
            <a:off x="566928" y="1691640"/>
            <a:ext cx="3566160" cy="2743200"/>
          </a:xfrm>
          <a:prstGeom prst="rect">
            <a:avLst/>
          </a:prstGeom>
          <a:solidFill>
            <a:srgbClr val="FFFFFF"/>
          </a:solidFill>
          <a:ln w="9525">
            <a:solidFill>
              <a:srgbClr val="D9DFEA"/>
            </a:solidFill>
            <a:prstDash val="solid"/>
          </a:ln>
        </p:spPr>
      </p:sp>
      <p:sp>
        <p:nvSpPr>
          <p:cNvPr id="12" name="Shape 6"/>
          <p:cNvSpPr/>
          <p:nvPr/>
        </p:nvSpPr>
        <p:spPr>
          <a:xfrm>
            <a:off x="566928" y="1691640"/>
            <a:ext cx="3566160" cy="41148"/>
          </a:xfrm>
          <a:prstGeom prst="rect">
            <a:avLst/>
          </a:prstGeom>
          <a:solidFill>
            <a:srgbClr val="132257"/>
          </a:solidFill>
          <a:ln w="12700">
            <a:solidFill>
              <a:srgbClr val="132257"/>
            </a:solidFill>
            <a:prstDash val="solid"/>
          </a:ln>
        </p:spPr>
      </p:sp>
      <p:sp>
        <p:nvSpPr>
          <p:cNvPr id="13" name="Text 7"/>
          <p:cNvSpPr txBox="1"/>
          <p:nvPr/>
        </p:nvSpPr>
        <p:spPr>
          <a:xfrm>
            <a:off x="841248" y="1920240"/>
            <a:ext cx="914400" cy="548640"/>
          </a:xfrm>
          <a:prstGeom prst="rect">
            <a:avLst/>
          </a:prstGeom>
          <a:noFill/>
          <a:ln/>
        </p:spPr>
        <p:txBody>
          <a:bodyPr wrap="square" lIns="0" tIns="0" rIns="0" bIns="0" rtlCol="0" anchor="t"/>
          <a:lstStyle/>
          <a:p>
            <a:pPr indent="0" marL="0">
              <a:buNone/>
            </a:pPr>
            <a:r>
              <a:rPr lang="en-US" sz="2800" b="1" dirty="0">
                <a:solidFill>
                  <a:srgbClr val="3C61B6"/>
                </a:solidFill>
                <a:latin typeface="Exo 2" pitchFamily="34" charset="0"/>
                <a:ea typeface="Exo 2" pitchFamily="34" charset="-122"/>
                <a:cs typeface="Exo 2" pitchFamily="34" charset="-120"/>
              </a:rPr>
              <a:t>01</a:t>
            </a:r>
            <a:endParaRPr lang="en-US" sz="2800" dirty="0"/>
          </a:p>
        </p:txBody>
      </p:sp>
      <p:sp>
        <p:nvSpPr>
          <p:cNvPr id="14" name="Text 8"/>
          <p:cNvSpPr txBox="1"/>
          <p:nvPr/>
        </p:nvSpPr>
        <p:spPr>
          <a:xfrm>
            <a:off x="841248" y="2560320"/>
            <a:ext cx="3017520" cy="411480"/>
          </a:xfrm>
          <a:prstGeom prst="rect">
            <a:avLst/>
          </a:prstGeom>
          <a:noFill/>
          <a:ln/>
        </p:spPr>
        <p:txBody>
          <a:bodyPr wrap="square" lIns="0" tIns="0" rIns="0" bIns="0" rtlCol="0" anchor="t"/>
          <a:lstStyle/>
          <a:p>
            <a:pPr indent="0" marL="0">
              <a:buNone/>
            </a:pPr>
            <a:r>
              <a:rPr lang="en-US" sz="1900" b="1" dirty="0">
                <a:solidFill>
                  <a:srgbClr val="132257"/>
                </a:solidFill>
                <a:latin typeface="Exo 2" pitchFamily="34" charset="0"/>
                <a:ea typeface="Exo 2" pitchFamily="34" charset="-122"/>
                <a:cs typeface="Exo 2" pitchFamily="34" charset="-120"/>
              </a:rPr>
              <a:t>Market insight</a:t>
            </a:r>
            <a:endParaRPr lang="en-US" sz="1900" dirty="0"/>
          </a:p>
        </p:txBody>
      </p:sp>
      <p:sp>
        <p:nvSpPr>
          <p:cNvPr id="15" name="Text 9"/>
          <p:cNvSpPr txBox="1"/>
          <p:nvPr/>
        </p:nvSpPr>
        <p:spPr>
          <a:xfrm>
            <a:off x="841248" y="3063240"/>
            <a:ext cx="3017520" cy="1188720"/>
          </a:xfrm>
          <a:prstGeom prst="rect">
            <a:avLst/>
          </a:prstGeom>
          <a:noFill/>
          <a:ln/>
        </p:spPr>
        <p:txBody>
          <a:bodyPr wrap="square" lIns="0" tIns="0" rIns="0" bIns="0" rtlCol="0" anchor="t"/>
          <a:lstStyle/>
          <a:p>
            <a:pPr indent="0" marL="0">
              <a:buNone/>
            </a:pPr>
            <a:r>
              <a:rPr lang="en-US" sz="1300" dirty="0">
                <a:solidFill>
                  <a:srgbClr val="1F2A44"/>
                </a:solidFill>
                <a:latin typeface="Exo 2" pitchFamily="34" charset="0"/>
                <a:ea typeface="Exo 2" pitchFamily="34" charset="-122"/>
                <a:cs typeface="Exo 2" pitchFamily="34" charset="-120"/>
              </a:rPr>
              <a:t>What Saudi digital customers expect, and what has worked in your marketing.</a:t>
            </a:r>
            <a:endParaRPr lang="en-US" sz="1300" dirty="0"/>
          </a:p>
        </p:txBody>
      </p:sp>
      <p:sp>
        <p:nvSpPr>
          <p:cNvPr id="16" name="Shape 10"/>
          <p:cNvSpPr/>
          <p:nvPr/>
        </p:nvSpPr>
        <p:spPr>
          <a:xfrm>
            <a:off x="4315968" y="1691640"/>
            <a:ext cx="3566160" cy="2743200"/>
          </a:xfrm>
          <a:prstGeom prst="rect">
            <a:avLst/>
          </a:prstGeom>
          <a:solidFill>
            <a:srgbClr val="FFFFFF"/>
          </a:solidFill>
          <a:ln w="9525">
            <a:solidFill>
              <a:srgbClr val="D9DFEA"/>
            </a:solidFill>
            <a:prstDash val="solid"/>
          </a:ln>
        </p:spPr>
      </p:sp>
      <p:sp>
        <p:nvSpPr>
          <p:cNvPr id="17" name="Shape 11"/>
          <p:cNvSpPr/>
          <p:nvPr/>
        </p:nvSpPr>
        <p:spPr>
          <a:xfrm>
            <a:off x="4315968" y="1691640"/>
            <a:ext cx="3566160" cy="41148"/>
          </a:xfrm>
          <a:prstGeom prst="rect">
            <a:avLst/>
          </a:prstGeom>
          <a:solidFill>
            <a:srgbClr val="D4AF37"/>
          </a:solidFill>
          <a:ln w="12700">
            <a:solidFill>
              <a:srgbClr val="D4AF37"/>
            </a:solidFill>
            <a:prstDash val="solid"/>
          </a:ln>
        </p:spPr>
      </p:sp>
      <p:sp>
        <p:nvSpPr>
          <p:cNvPr id="18" name="Text 12"/>
          <p:cNvSpPr txBox="1"/>
          <p:nvPr/>
        </p:nvSpPr>
        <p:spPr>
          <a:xfrm>
            <a:off x="4590288" y="1920240"/>
            <a:ext cx="914400" cy="548640"/>
          </a:xfrm>
          <a:prstGeom prst="rect">
            <a:avLst/>
          </a:prstGeom>
          <a:noFill/>
          <a:ln/>
        </p:spPr>
        <p:txBody>
          <a:bodyPr wrap="square" lIns="0" tIns="0" rIns="0" bIns="0" rtlCol="0" anchor="t"/>
          <a:lstStyle/>
          <a:p>
            <a:pPr indent="0" marL="0">
              <a:buNone/>
            </a:pPr>
            <a:r>
              <a:rPr lang="en-US" sz="2800" b="1" dirty="0">
                <a:solidFill>
                  <a:srgbClr val="3C61B6"/>
                </a:solidFill>
                <a:latin typeface="Exo 2" pitchFamily="34" charset="0"/>
                <a:ea typeface="Exo 2" pitchFamily="34" charset="-122"/>
                <a:cs typeface="Exo 2" pitchFamily="34" charset="-120"/>
              </a:rPr>
              <a:t>02</a:t>
            </a:r>
            <a:endParaRPr lang="en-US" sz="2800" dirty="0"/>
          </a:p>
        </p:txBody>
      </p:sp>
      <p:sp>
        <p:nvSpPr>
          <p:cNvPr id="19" name="Text 13"/>
          <p:cNvSpPr txBox="1"/>
          <p:nvPr/>
        </p:nvSpPr>
        <p:spPr>
          <a:xfrm>
            <a:off x="4590288" y="2560320"/>
            <a:ext cx="3017520" cy="411480"/>
          </a:xfrm>
          <a:prstGeom prst="rect">
            <a:avLst/>
          </a:prstGeom>
          <a:noFill/>
          <a:ln/>
        </p:spPr>
        <p:txBody>
          <a:bodyPr wrap="square" lIns="0" tIns="0" rIns="0" bIns="0" rtlCol="0" anchor="t"/>
          <a:lstStyle/>
          <a:p>
            <a:pPr indent="0" marL="0">
              <a:buNone/>
            </a:pPr>
            <a:r>
              <a:rPr lang="en-US" sz="1900" b="1" dirty="0">
                <a:solidFill>
                  <a:srgbClr val="132257"/>
                </a:solidFill>
                <a:latin typeface="Exo 2" pitchFamily="34" charset="0"/>
                <a:ea typeface="Exo 2" pitchFamily="34" charset="-122"/>
                <a:cs typeface="Exo 2" pitchFamily="34" charset="-120"/>
              </a:rPr>
              <a:t>Easy funding</a:t>
            </a:r>
            <a:endParaRPr lang="en-US" sz="1900" dirty="0"/>
          </a:p>
        </p:txBody>
      </p:sp>
      <p:sp>
        <p:nvSpPr>
          <p:cNvPr id="20" name="Text 14"/>
          <p:cNvSpPr txBox="1"/>
          <p:nvPr/>
        </p:nvSpPr>
        <p:spPr>
          <a:xfrm>
            <a:off x="4590288" y="3063240"/>
            <a:ext cx="3017520" cy="1188720"/>
          </a:xfrm>
          <a:prstGeom prst="rect">
            <a:avLst/>
          </a:prstGeom>
          <a:noFill/>
          <a:ln/>
        </p:spPr>
        <p:txBody>
          <a:bodyPr wrap="square" lIns="0" tIns="0" rIns="0" bIns="0" rtlCol="0" anchor="t"/>
          <a:lstStyle/>
          <a:p>
            <a:pPr indent="0" marL="0">
              <a:buNone/>
            </a:pPr>
            <a:r>
              <a:rPr lang="en-US" sz="1300" dirty="0">
                <a:solidFill>
                  <a:srgbClr val="1F2A44"/>
                </a:solidFill>
                <a:latin typeface="Exo 2" pitchFamily="34" charset="0"/>
                <a:ea typeface="Exo 2" pitchFamily="34" charset="-122"/>
                <a:cs typeface="Exo 2" pitchFamily="34" charset="-120"/>
              </a:rPr>
              <a:t>Simple transfers between Saudi bank accounts and eMYAA.</a:t>
            </a:r>
            <a:endParaRPr lang="en-US" sz="1300" dirty="0"/>
          </a:p>
        </p:txBody>
      </p:sp>
      <p:sp>
        <p:nvSpPr>
          <p:cNvPr id="21" name="Shape 15"/>
          <p:cNvSpPr/>
          <p:nvPr/>
        </p:nvSpPr>
        <p:spPr>
          <a:xfrm>
            <a:off x="8065008" y="1691640"/>
            <a:ext cx="3566160" cy="2743200"/>
          </a:xfrm>
          <a:prstGeom prst="rect">
            <a:avLst/>
          </a:prstGeom>
          <a:solidFill>
            <a:srgbClr val="FFFFFF"/>
          </a:solidFill>
          <a:ln w="9525">
            <a:solidFill>
              <a:srgbClr val="D9DFEA"/>
            </a:solidFill>
            <a:prstDash val="solid"/>
          </a:ln>
        </p:spPr>
      </p:sp>
      <p:sp>
        <p:nvSpPr>
          <p:cNvPr id="22" name="Shape 16"/>
          <p:cNvSpPr/>
          <p:nvPr/>
        </p:nvSpPr>
        <p:spPr>
          <a:xfrm>
            <a:off x="8065008" y="1691640"/>
            <a:ext cx="3566160" cy="41148"/>
          </a:xfrm>
          <a:prstGeom prst="rect">
            <a:avLst/>
          </a:prstGeom>
          <a:solidFill>
            <a:srgbClr val="1BA97C"/>
          </a:solidFill>
          <a:ln w="12700">
            <a:solidFill>
              <a:srgbClr val="1BA97C"/>
            </a:solidFill>
            <a:prstDash val="solid"/>
          </a:ln>
        </p:spPr>
      </p:sp>
      <p:sp>
        <p:nvSpPr>
          <p:cNvPr id="23" name="Text 17"/>
          <p:cNvSpPr txBox="1"/>
          <p:nvPr/>
        </p:nvSpPr>
        <p:spPr>
          <a:xfrm>
            <a:off x="8339328" y="1920240"/>
            <a:ext cx="914400" cy="548640"/>
          </a:xfrm>
          <a:prstGeom prst="rect">
            <a:avLst/>
          </a:prstGeom>
          <a:noFill/>
          <a:ln/>
        </p:spPr>
        <p:txBody>
          <a:bodyPr wrap="square" lIns="0" tIns="0" rIns="0" bIns="0" rtlCol="0" anchor="t"/>
          <a:lstStyle/>
          <a:p>
            <a:pPr indent="0" marL="0">
              <a:buNone/>
            </a:pPr>
            <a:r>
              <a:rPr lang="en-US" sz="2800" b="1" dirty="0">
                <a:solidFill>
                  <a:srgbClr val="3C61B6"/>
                </a:solidFill>
                <a:latin typeface="Exo 2" pitchFamily="34" charset="0"/>
                <a:ea typeface="Exo 2" pitchFamily="34" charset="-122"/>
                <a:cs typeface="Exo 2" pitchFamily="34" charset="-120"/>
              </a:rPr>
              <a:t>03</a:t>
            </a:r>
            <a:endParaRPr lang="en-US" sz="2800" dirty="0"/>
          </a:p>
        </p:txBody>
      </p:sp>
      <p:sp>
        <p:nvSpPr>
          <p:cNvPr id="24" name="Text 18"/>
          <p:cNvSpPr txBox="1"/>
          <p:nvPr/>
        </p:nvSpPr>
        <p:spPr>
          <a:xfrm>
            <a:off x="8339328" y="2560320"/>
            <a:ext cx="3017520" cy="411480"/>
          </a:xfrm>
          <a:prstGeom prst="rect">
            <a:avLst/>
          </a:prstGeom>
          <a:noFill/>
          <a:ln/>
        </p:spPr>
        <p:txBody>
          <a:bodyPr wrap="square" lIns="0" tIns="0" rIns="0" bIns="0" rtlCol="0" anchor="t"/>
          <a:lstStyle/>
          <a:p>
            <a:pPr indent="0" marL="0">
              <a:buNone/>
            </a:pPr>
            <a:r>
              <a:rPr lang="en-US" sz="1900" b="1" dirty="0">
                <a:solidFill>
                  <a:srgbClr val="132257"/>
                </a:solidFill>
                <a:latin typeface="Exo 2" pitchFamily="34" charset="0"/>
                <a:ea typeface="Exo 2" pitchFamily="34" charset="-122"/>
                <a:cs typeface="Exo 2" pitchFamily="34" charset="-120"/>
              </a:rPr>
              <a:t>Joint campaigns</a:t>
            </a:r>
            <a:endParaRPr lang="en-US" sz="1900" dirty="0"/>
          </a:p>
        </p:txBody>
      </p:sp>
      <p:sp>
        <p:nvSpPr>
          <p:cNvPr id="25" name="Text 19"/>
          <p:cNvSpPr txBox="1"/>
          <p:nvPr/>
        </p:nvSpPr>
        <p:spPr>
          <a:xfrm>
            <a:off x="8339328" y="3063240"/>
            <a:ext cx="3017520" cy="1188720"/>
          </a:xfrm>
          <a:prstGeom prst="rect">
            <a:avLst/>
          </a:prstGeom>
          <a:noFill/>
          <a:ln/>
        </p:spPr>
        <p:txBody>
          <a:bodyPr wrap="square" lIns="0" tIns="0" rIns="0" bIns="0" rtlCol="0" anchor="t"/>
          <a:lstStyle/>
          <a:p>
            <a:pPr indent="0" marL="0">
              <a:buNone/>
            </a:pPr>
            <a:r>
              <a:rPr lang="en-US" sz="1300" dirty="0">
                <a:solidFill>
                  <a:srgbClr val="1F2A44"/>
                </a:solidFill>
                <a:latin typeface="Exo 2" pitchFamily="34" charset="0"/>
                <a:ea typeface="Exo 2" pitchFamily="34" charset="-122"/>
                <a:cs typeface="Exo 2" pitchFamily="34" charset="-120"/>
              </a:rPr>
              <a:t>Co-branded content and offers for first-time investors.</a:t>
            </a:r>
            <a:endParaRPr lang="en-US" sz="1300" dirty="0"/>
          </a:p>
        </p:txBody>
      </p:sp>
      <p:sp>
        <p:nvSpPr>
          <p:cNvPr id="26" name="Shape 20"/>
          <p:cNvSpPr/>
          <p:nvPr/>
        </p:nvSpPr>
        <p:spPr>
          <a:xfrm>
            <a:off x="566928" y="4754880"/>
            <a:ext cx="11064240" cy="640080"/>
          </a:xfrm>
          <a:prstGeom prst="rect">
            <a:avLst/>
          </a:prstGeom>
          <a:solidFill>
            <a:srgbClr val="EEF1F8"/>
          </a:solidFill>
          <a:ln w="12700">
            <a:solidFill>
              <a:srgbClr val="EEF1F8"/>
            </a:solidFill>
            <a:prstDash val="solid"/>
          </a:ln>
        </p:spPr>
      </p:sp>
      <p:sp>
        <p:nvSpPr>
          <p:cNvPr id="27" name="Shape 21"/>
          <p:cNvSpPr/>
          <p:nvPr/>
        </p:nvSpPr>
        <p:spPr>
          <a:xfrm>
            <a:off x="566928" y="4754880"/>
            <a:ext cx="54864" cy="640080"/>
          </a:xfrm>
          <a:prstGeom prst="rect">
            <a:avLst/>
          </a:prstGeom>
          <a:solidFill>
            <a:srgbClr val="D4AF37"/>
          </a:solidFill>
          <a:ln w="12700">
            <a:solidFill>
              <a:srgbClr val="D4AF37"/>
            </a:solidFill>
            <a:prstDash val="solid"/>
          </a:ln>
        </p:spPr>
      </p:sp>
      <p:sp>
        <p:nvSpPr>
          <p:cNvPr id="28" name="Text 22"/>
          <p:cNvSpPr txBox="1"/>
          <p:nvPr/>
        </p:nvSpPr>
        <p:spPr>
          <a:xfrm>
            <a:off x="822960" y="4754880"/>
            <a:ext cx="10698480" cy="640080"/>
          </a:xfrm>
          <a:prstGeom prst="rect">
            <a:avLst/>
          </a:prstGeom>
          <a:noFill/>
          <a:ln/>
        </p:spPr>
        <p:txBody>
          <a:bodyPr wrap="square" lIns="0" tIns="0" rIns="0" bIns="0" rtlCol="0" anchor="ctr"/>
          <a:lstStyle/>
          <a:p>
            <a:pPr indent="0" marL="0">
              <a:buNone/>
            </a:pPr>
            <a:r>
              <a:rPr lang="en-US" sz="1300" i="1" dirty="0">
                <a:solidFill>
                  <a:srgbClr val="132257"/>
                </a:solidFill>
                <a:latin typeface="Exo 2" pitchFamily="34" charset="0"/>
                <a:ea typeface="Exo 2" pitchFamily="34" charset="-122"/>
                <a:cs typeface="Exo 2" pitchFamily="34" charset="-120"/>
              </a:rPr>
              <a:t>We would value your advice as we enter the Saudi market.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user/HatemIsa_202508993_IT9002_NLP_Project/emyaa-ceo-deck/working/charts/emyaa_white.png">    </p:cNvPr>
          <p:cNvPicPr>
            <a:picLocks noChangeAspect="1"/>
          </p:cNvPicPr>
          <p:nvPr/>
        </p:nvPicPr>
        <p:blipFill>
          <a:blip r:embed="rId2"/>
          <a:stretch>
            <a:fillRect/>
          </a:stretch>
        </p:blipFill>
        <p:spPr>
          <a:xfrm>
            <a:off x="685800" y="685800"/>
            <a:ext cx="1600200" cy="566928"/>
          </a:xfrm>
          <a:prstGeom prst="rect">
            <a:avLst/>
          </a:prstGeom>
        </p:spPr>
      </p:pic>
      <p:pic>
        <p:nvPicPr>
          <p:cNvPr id="3" name="Image 1" descr="/home/user/HatemIsa_202508993_IT9002_NLP_Project/emyaa-ceo-deck/working/charts/ajyad_white.png">    </p:cNvPr>
          <p:cNvPicPr>
            <a:picLocks noChangeAspect="1"/>
          </p:cNvPicPr>
          <p:nvPr/>
        </p:nvPicPr>
        <p:blipFill>
          <a:blip r:embed="rId3"/>
          <a:stretch>
            <a:fillRect/>
          </a:stretch>
        </p:blipFill>
        <p:spPr>
          <a:xfrm>
            <a:off x="9756648" y="685800"/>
            <a:ext cx="1755648" cy="512064"/>
          </a:xfrm>
          <a:prstGeom prst="rect">
            <a:avLst/>
          </a:prstGeom>
        </p:spPr>
      </p:pic>
      <p:sp>
        <p:nvSpPr>
          <p:cNvPr id="4" name="Text 0"/>
          <p:cNvSpPr txBox="1"/>
          <p:nvPr/>
        </p:nvSpPr>
        <p:spPr>
          <a:xfrm>
            <a:off x="685800" y="2514600"/>
            <a:ext cx="10881360" cy="868680"/>
          </a:xfrm>
          <a:prstGeom prst="rect">
            <a:avLst/>
          </a:prstGeom>
          <a:noFill/>
          <a:ln/>
        </p:spPr>
        <p:txBody>
          <a:bodyPr wrap="square" lIns="0" tIns="0" rIns="0" bIns="0" rtlCol="0" anchor="t"/>
          <a:lstStyle/>
          <a:p>
            <a:pPr algn="ctr" indent="0" marL="0">
              <a:buNone/>
            </a:pPr>
            <a:r>
              <a:rPr lang="en-US" sz="4200" b="1" dirty="0">
                <a:solidFill>
                  <a:srgbClr val="FFFFFF"/>
                </a:solidFill>
                <a:latin typeface="Exo 2" pitchFamily="34" charset="0"/>
                <a:ea typeface="Exo 2" pitchFamily="34" charset="-122"/>
                <a:cs typeface="Exo 2" pitchFamily="34" charset="-120"/>
              </a:rPr>
              <a:t>Thank You</a:t>
            </a:r>
            <a:endParaRPr lang="en-US" sz="4200" dirty="0"/>
          </a:p>
        </p:txBody>
      </p:sp>
      <p:sp>
        <p:nvSpPr>
          <p:cNvPr id="5" name="Text 1"/>
          <p:cNvSpPr txBox="1"/>
          <p:nvPr/>
        </p:nvSpPr>
        <p:spPr>
          <a:xfrm>
            <a:off x="685800" y="3383280"/>
            <a:ext cx="10881360" cy="411480"/>
          </a:xfrm>
          <a:prstGeom prst="rect">
            <a:avLst/>
          </a:prstGeom>
          <a:noFill/>
          <a:ln/>
        </p:spPr>
        <p:txBody>
          <a:bodyPr wrap="square" lIns="0" tIns="0" rIns="0" bIns="0" rtlCol="0" anchor="t"/>
          <a:lstStyle/>
          <a:p>
            <a:pPr algn="ctr" indent="0" marL="0">
              <a:buNone/>
            </a:pPr>
            <a:r>
              <a:rPr lang="en-US" sz="1800" dirty="0">
                <a:solidFill>
                  <a:srgbClr val="D4AF37"/>
                </a:solidFill>
                <a:latin typeface="Exo 2" pitchFamily="34" charset="0"/>
                <a:ea typeface="Exo 2" pitchFamily="34" charset="-122"/>
                <a:cs typeface="Exo 2" pitchFamily="34" charset="-120"/>
              </a:rPr>
              <a:t>Invest Wisely. Trade Precisely.</a:t>
            </a:r>
            <a:endParaRPr lang="en-US" sz="1800" dirty="0"/>
          </a:p>
        </p:txBody>
      </p:sp>
      <p:sp>
        <p:nvSpPr>
          <p:cNvPr id="6" name="Text 2"/>
          <p:cNvSpPr txBox="1"/>
          <p:nvPr/>
        </p:nvSpPr>
        <p:spPr>
          <a:xfrm>
            <a:off x="685800" y="4343400"/>
            <a:ext cx="10881360" cy="914400"/>
          </a:xfrm>
          <a:prstGeom prst="rect">
            <a:avLst/>
          </a:prstGeom>
          <a:noFill/>
          <a:ln/>
        </p:spPr>
        <p:txBody>
          <a:bodyPr wrap="square" lIns="0" tIns="0" rIns="0" bIns="0" rtlCol="0" anchor="t"/>
          <a:lstStyle/>
          <a:p>
            <a:pPr algn="ctr" indent="0" marL="0">
              <a:buNone/>
            </a:pPr>
            <a:r>
              <a:rPr lang="en-US" sz="1200" dirty="0">
                <a:solidFill>
                  <a:srgbClr val="FFFFFF"/>
                </a:solidFill>
                <a:latin typeface="Exo 2" pitchFamily="34" charset="0"/>
                <a:ea typeface="Exo 2" pitchFamily="34" charset="-122"/>
                <a:cs typeface="Exo 2" pitchFamily="34" charset="-120"/>
              </a:rPr>
              <a:t>Hatem Isa Hatem  |  Marketing Officer, WealthTech</a:t>
            </a:r>
            <a:endParaRPr lang="en-US" sz="1200" dirty="0"/>
          </a:p>
          <a:p>
            <a:pPr algn="ctr" indent="0" marL="0">
              <a:buNone/>
            </a:pPr>
            <a:r>
              <a:rPr lang="en-US" sz="1200" dirty="0">
                <a:solidFill>
                  <a:srgbClr val="FFFFFF"/>
                </a:solidFill>
                <a:latin typeface="Exo 2" pitchFamily="34" charset="0"/>
                <a:ea typeface="Exo 2" pitchFamily="34" charset="-122"/>
                <a:cs typeface="Exo 2" pitchFamily="34" charset="-120"/>
              </a:rPr>
              <a:t>hhatem@ajyadcapital.com  |  +973 17 565 007</a:t>
            </a:r>
            <a:endParaRPr lang="en-US" sz="1200" dirty="0"/>
          </a:p>
          <a:p>
            <a:pPr algn="ctr" indent="0" marL="0">
              <a:buNone/>
            </a:pPr>
            <a:r>
              <a:rPr lang="en-US" sz="1200" dirty="0">
                <a:solidFill>
                  <a:srgbClr val="FFFFFF"/>
                </a:solidFill>
                <a:latin typeface="Exo 2" pitchFamily="34" charset="0"/>
                <a:ea typeface="Exo 2" pitchFamily="34" charset="-122"/>
                <a:cs typeface="Exo 2" pitchFamily="34" charset="-120"/>
              </a:rPr>
              <a:t>Ajyad Capital, 37th Floor, Almoayyed Tower, Manama, Kingdom of Bahrain</a:t>
            </a:r>
            <a:endParaRPr lang="en-US" sz="1200" dirty="0"/>
          </a:p>
        </p:txBody>
      </p:sp>
      <p:sp>
        <p:nvSpPr>
          <p:cNvPr id="7" name="Text 3"/>
          <p:cNvSpPr txBox="1"/>
          <p:nvPr/>
        </p:nvSpPr>
        <p:spPr>
          <a:xfrm>
            <a:off x="685800" y="6172200"/>
            <a:ext cx="10881360" cy="274320"/>
          </a:xfrm>
          <a:prstGeom prst="rect">
            <a:avLst/>
          </a:prstGeom>
          <a:noFill/>
          <a:ln/>
        </p:spPr>
        <p:txBody>
          <a:bodyPr wrap="square" lIns="0" tIns="0" rIns="0" bIns="0" rtlCol="0" anchor="t"/>
          <a:lstStyle/>
          <a:p>
            <a:pPr algn="ctr" indent="0" marL="0">
              <a:buNone/>
            </a:pPr>
            <a:r>
              <a:rPr lang="en-US" sz="950" dirty="0">
                <a:solidFill>
                  <a:srgbClr val="C6CFE4"/>
                </a:solidFill>
                <a:latin typeface="Exo 2" pitchFamily="34" charset="0"/>
                <a:ea typeface="Exo 2" pitchFamily="34" charset="-122"/>
                <a:cs typeface="Exo 2" pitchFamily="34" charset="-120"/>
              </a:rPr>
              <a:t>Ajyad Capital is an Islamic investment firm (Category 1) licensed by the Central Bank of Bahrain.</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eMYAA in Saudi Arabia - Market Entry Plan</dc:title>
  <dc:subject>PptxGenJS Presentation</dc:subject>
  <dc:creator>eMYAA Marketing, Ajyad Capital</dc:creator>
  <cp:lastModifiedBy>eMYAA Marketing, Ajyad Capital</cp:lastModifiedBy>
  <cp:revision>1</cp:revision>
  <dcterms:created xsi:type="dcterms:W3CDTF">2026-10-04T09:38:43Z</dcterms:created>
  <dcterms:modified xsi:type="dcterms:W3CDTF">2026-10-04T09:38:43Z</dcterms:modified>
</cp:coreProperties>
</file>