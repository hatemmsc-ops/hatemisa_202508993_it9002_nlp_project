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3"/>
  </p:notesMasterIdLst>
  <p:sldIdLst>
    <p:sldId id="256" r:id="rId6"/>
    <p:sldId id="257" r:id="rId7"/>
    <p:sldId id="263" r:id="rId25"/>
    <p:sldId id="258" r:id="rId8"/>
    <p:sldId id="259" r:id="rId9"/>
    <p:sldId id="260" r:id="rId10"/>
    <p:sldId id="264" r:id="rId26"/>
    <p:sldId id="261" r:id="rId11"/>
    <p:sldId id="262" r:id="rId12"/>
  </p:sldIdLst>
  <p:sldSz cx="18288000" cy="10287000"/>
  <p:notesSz cx="6858000" cy="9144000"/>
  <p:embeddedFontLst>
    <p:embeddedFont>
      <p:font typeface="Exo 2 Bold" charset="1" panose="00000000000000000000"/>
      <p:regular r:id="rId16"/>
    </p:embeddedFont>
    <p:embeddedFont>
      <p:font typeface="Exo 2" charset="1" panose="00000000000000000000"/>
      <p:regular r:id="rId17"/>
    </p:embeddedFont>
    <p:embeddedFont>
      <p:font typeface="Exo 2 Italics" charset="1" panose="00000000000000000000"/>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notesMaster" Target="notesMasters/notesMaster1.xml"/><Relationship Id="rId14" Type="http://schemas.openxmlformats.org/officeDocument/2006/relationships/theme" Target="theme/theme2.xml"/><Relationship Id="rId15" Type="http://schemas.openxmlformats.org/officeDocument/2006/relationships/notesSlide" Target="notesSlides/notesSlide1.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notesSlide" Target="notesSlides/notesSlide2.xml"/><Relationship Id="rId19" Type="http://schemas.openxmlformats.org/officeDocument/2006/relationships/notesSlide" Target="notesSlides/notesSlide3.xml"/><Relationship Id="rId20" Type="http://schemas.openxmlformats.org/officeDocument/2006/relationships/notesSlide" Target="notesSlides/notesSlide4.xml"/><Relationship Id="rId21" Type="http://schemas.openxmlformats.org/officeDocument/2006/relationships/font" Target="fonts/font21.fntdata"/><Relationship Id="rId22" Type="http://schemas.openxmlformats.org/officeDocument/2006/relationships/notesSlide" Target="notesSlides/notesSlide5.xml"/><Relationship Id="rId23" Type="http://schemas.openxmlformats.org/officeDocument/2006/relationships/notesSlide" Target="notesSlides/notesSlide6.xml"/><Relationship Id="rId24" Type="http://schemas.openxmlformats.org/officeDocument/2006/relationships/notesSlide" Target="notesSlides/notesSlide7.xml"/><Relationship Id="rId25" Type="http://schemas.openxmlformats.org/officeDocument/2006/relationships/slide" Target="slides/slide8.xml"/><Relationship Id="rId2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Ajyad Capital is licensed by the Central Bank of Bahrain as an Islamic investment firm, Category 1. eMYAA went live in May 2026.</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Google Ads targets Saudi Arabia and Riyadh, Saudi residents only (Ignite). GA4, 1-28 Sep: 409 of 587 site sessions (70%) from google / cpc; English ads 212 sessions (97.2% engagement), Arabic 176 (86.9%).</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Nadher Media proposals 16 and 23 Sep 2026, Saudi screens only (the Al Liwan Bahrain weekend screens in the 16 Sep offer are left out). Elevator screens in 83 commercial towers (Al Nakhlah, Tamkeen, Faseelah Square, Laysen Valley and others in Riyadh and the Eastern Province) and 8 LED screens at The Zone, Riyadh. Plays per Nadher: 2,490 an hour (ad plays, not unique viewers). 2-week rate has no original price in the offer. USD at 3.75.</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Nadher Media proposal for eMYAA, 16 Sep 2026: USD 3,862.50 + VAT, 7 days, all KSA: 525,000 display and video impressions plus a 24-hour takeover poll of 2,000,000 impressions, one round of ad consulting, unlimited creatives. Cost per 1,000 impressions: about USD 1.53. Jodel KSA: 2.5M active users, 800,000 monthly unique users, average CTR 0.44%. BISB case study (Nadher Media, Oct 2025).</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Discussion topics only; nothing here is agreed.</a:t>
            </a:r>
          </a:p>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copy for a Jodel 24-hour takeover poll (Nadher Media offer, 16 Sep 2026: about 2,000,000 poll impressions). Arabic in Saudi dialect. To be reviewed by compliance before use: no promise of returns, and the debt option should not suggest borrowing to invest.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Instagram Professional Dashboard (Aug 2026 report: 1,765 followers, 2,271,132 views in 90 days, 72.4% of interactions from Reels; Musheera and Ali Sabeel views are paid boosted); Instagram followers 2,116 (Sep); June 2026 report (TRACCS / Sprout Social): Instagram 774 followers at 30 Jun, X engagement -41.8%; Mention &amp; Win pilot 11-18 Jun: USD 600, 266,218 views, 22,580 clicks, 6 accounts; X: 738 followers, 96.4% Bahrain, 3.6% Saudi, App Screens Saudi tests (Jeddah, Dammam and Khobar) 4-13 Jun, paid support lapsed July; TikTok: 15 followers, 176 likes, Pangle bot clicks 706,445 in May, paid TikTok removed 22 Jun, zero Pangle clicks July and August.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3.png"/><Relationship Id="rId6"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e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e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notesSlide" Target="../notesSlides/notesSlide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440980" y="-248051"/>
            <a:ext cx="19159976" cy="10777486"/>
          </a:xfrm>
          <a:custGeom>
            <a:avLst/>
            <a:gdLst/>
            <a:ahLst/>
            <a:cxnLst/>
            <a:rect r="r" b="b" t="t" l="l"/>
            <a:pathLst>
              <a:path h="10777486" w="19159976">
                <a:moveTo>
                  <a:pt x="0" y="0"/>
                </a:moveTo>
                <a:lnTo>
                  <a:pt x="19159976" y="0"/>
                </a:lnTo>
                <a:lnTo>
                  <a:pt x="19159976" y="10777486"/>
                </a:lnTo>
                <a:lnTo>
                  <a:pt x="0" y="10777486"/>
                </a:lnTo>
                <a:lnTo>
                  <a:pt x="0" y="0"/>
                </a:lnTo>
                <a:close/>
              </a:path>
            </a:pathLst>
          </a:custGeom>
          <a:blipFill>
            <a:blip r:embed="rId3"/>
            <a:stretch>
              <a:fillRect l="0" t="0" r="0" b="0"/>
            </a:stretch>
          </a:blipFill>
        </p:spPr>
        <p:txBody>
          <a:bodyPr/>
          <a:p/>
        </p:txBody>
      </p:sp>
      <p:grpSp>
        <p:nvGrpSpPr>
          <p:cNvPr name="Group 3" id="3"/>
          <p:cNvGrpSpPr/>
          <p:nvPr/>
        </p:nvGrpSpPr>
        <p:grpSpPr>
          <a:xfrm rot="0">
            <a:off x="1028700" y="1028700"/>
            <a:ext cx="2400300" cy="850392"/>
            <a:chOff x="0" y="0"/>
            <a:chExt cx="3200400" cy="1133856"/>
          </a:xfrm>
        </p:grpSpPr>
        <p:sp>
          <p:nvSpPr>
            <p:cNvPr name="Freeform 4" id="4" descr="/home/user/HatemIsa_202508993_IT9002_NLP_Project/emyaa-ceo-deck/working/charts/emyaa_white.png"/>
            <p:cNvSpPr/>
            <p:nvPr/>
          </p:nvSpPr>
          <p:spPr>
            <a:xfrm flipH="false" flipV="false" rot="0">
              <a:off x="0" y="0"/>
              <a:ext cx="3200400" cy="1133856"/>
            </a:xfrm>
            <a:custGeom>
              <a:avLst/>
              <a:gdLst/>
              <a:ahLst/>
              <a:cxnLst/>
              <a:rect r="r" b="b" t="t" l="l"/>
              <a:pathLst>
                <a:path h="1133856" w="3200400">
                  <a:moveTo>
                    <a:pt x="0" y="0"/>
                  </a:moveTo>
                  <a:lnTo>
                    <a:pt x="3200400" y="0"/>
                  </a:lnTo>
                  <a:lnTo>
                    <a:pt x="3200400" y="1133856"/>
                  </a:lnTo>
                  <a:lnTo>
                    <a:pt x="0" y="1133856"/>
                  </a:lnTo>
                  <a:lnTo>
                    <a:pt x="0" y="0"/>
                  </a:lnTo>
                  <a:close/>
                </a:path>
              </a:pathLst>
            </a:custGeom>
            <a:blipFill>
              <a:blip r:embed="rId4"/>
              <a:stretch>
                <a:fillRect l="0" t="-179" r="0" b="-179"/>
              </a:stretch>
            </a:blipFill>
          </p:spPr>
        </p:sp>
      </p:grpSp>
      <p:grpSp>
        <p:nvGrpSpPr>
          <p:cNvPr name="Group 5" id="5"/>
          <p:cNvGrpSpPr/>
          <p:nvPr/>
        </p:nvGrpSpPr>
        <p:grpSpPr>
          <a:xfrm rot="0">
            <a:off x="14634972" y="1028700"/>
            <a:ext cx="2633472" cy="768096"/>
            <a:chOff x="0" y="0"/>
            <a:chExt cx="3511296" cy="1024128"/>
          </a:xfrm>
        </p:grpSpPr>
        <p:sp>
          <p:nvSpPr>
            <p:cNvPr name="Freeform 6" id="6" descr="/home/user/HatemIsa_202508993_IT9002_NLP_Project/emyaa-ceo-deck/working/charts/ajyad_white.png"/>
            <p:cNvSpPr/>
            <p:nvPr/>
          </p:nvSpPr>
          <p:spPr>
            <a:xfrm flipH="false" flipV="false" rot="0">
              <a:off x="0" y="0"/>
              <a:ext cx="3511296" cy="1024128"/>
            </a:xfrm>
            <a:custGeom>
              <a:avLst/>
              <a:gdLst/>
              <a:ahLst/>
              <a:cxnLst/>
              <a:rect r="r" b="b" t="t" l="l"/>
              <a:pathLst>
                <a:path h="1024128" w="3511296">
                  <a:moveTo>
                    <a:pt x="0" y="0"/>
                  </a:moveTo>
                  <a:lnTo>
                    <a:pt x="3511296" y="0"/>
                  </a:lnTo>
                  <a:lnTo>
                    <a:pt x="3511296" y="1024128"/>
                  </a:lnTo>
                  <a:lnTo>
                    <a:pt x="0" y="1024128"/>
                  </a:lnTo>
                  <a:lnTo>
                    <a:pt x="0" y="0"/>
                  </a:lnTo>
                  <a:close/>
                </a:path>
              </a:pathLst>
            </a:custGeom>
            <a:blipFill>
              <a:blip r:embed="rId5"/>
              <a:stretch>
                <a:fillRect l="-320" t="0" r="-320" b="0"/>
              </a:stretch>
            </a:blipFill>
          </p:spPr>
        </p:sp>
      </p:grpSp>
      <p:sp>
        <p:nvSpPr>
          <p:cNvPr name="TextBox 7" id="7"/>
          <p:cNvSpPr txBox="true"/>
          <p:nvPr/>
        </p:nvSpPr>
        <p:spPr>
          <a:xfrm rot="0">
            <a:off x="1028700" y="3762375"/>
            <a:ext cx="16322040" cy="1312545"/>
          </a:xfrm>
          <a:prstGeom prst="rect">
            <a:avLst/>
          </a:prstGeom>
        </p:spPr>
        <p:txBody>
          <a:bodyPr anchor="t" rtlCol="false" tIns="0" lIns="0" bIns="0" rIns="0">
            <a:spAutoFit/>
          </a:bodyPr>
          <a:lstStyle/>
          <a:p>
            <a:pPr algn="l">
              <a:lnSpc>
                <a:spcPts val="7559"/>
              </a:lnSpc>
            </a:pPr>
            <a:r>
              <a:rPr lang="en-US" sz="6300" b="true">
                <a:solidFill>
                  <a:srgbClr val="FFFFFF"/>
                </a:solidFill>
                <a:latin typeface="Exo 2 Bold"/>
                <a:ea typeface="Exo 2 Bold"/>
                <a:cs typeface="Exo 2 Bold"/>
                <a:sym typeface="Exo 2 Bold"/>
              </a:rPr>
              <a:t>eMYAA in Saudi Arabia</a:t>
            </a:r>
          </a:p>
        </p:txBody>
      </p:sp>
      <p:sp>
        <p:nvSpPr>
          <p:cNvPr name="TextBox 8" id="8"/>
          <p:cNvSpPr txBox="true"/>
          <p:nvPr/>
        </p:nvSpPr>
        <p:spPr>
          <a:xfrm rot="0">
            <a:off x="1028700" y="5133975"/>
            <a:ext cx="15087600" cy="466725"/>
          </a:xfrm>
          <a:prstGeom prst="rect">
            <a:avLst/>
          </a:prstGeom>
        </p:spPr>
        <p:txBody>
          <a:bodyPr anchor="t" rtlCol="false" tIns="0" lIns="0" bIns="0" rIns="0">
            <a:spAutoFit/>
          </a:bodyPr>
          <a:lstStyle/>
          <a:p>
            <a:pPr algn="l">
              <a:lnSpc>
                <a:spcPts val="3600"/>
              </a:lnSpc>
            </a:pPr>
            <a:r>
              <a:rPr lang="en-US" b="true" sz="3000" spc="150">
                <a:solidFill>
                  <a:srgbClr val="D4AF37"/>
                </a:solidFill>
                <a:latin typeface="Exo 2 Bold"/>
                <a:ea typeface="Exo 2 Bold"/>
                <a:cs typeface="Exo 2 Bold"/>
                <a:sym typeface="Exo 2 Bold"/>
              </a:rPr>
              <a:t>MARKET ENTRY DISCUSSION</a:t>
            </a:r>
          </a:p>
        </p:txBody>
      </p:sp>
      <p:sp>
        <p:nvSpPr>
          <p:cNvPr name="TextBox 9" id="9"/>
          <p:cNvSpPr txBox="true"/>
          <p:nvPr/>
        </p:nvSpPr>
        <p:spPr>
          <a:xfrm rot="0">
            <a:off x="1028700" y="5888355"/>
            <a:ext cx="15087600" cy="371475"/>
          </a:xfrm>
          <a:prstGeom prst="rect">
            <a:avLst/>
          </a:prstGeom>
        </p:spPr>
        <p:txBody>
          <a:bodyPr anchor="t" rtlCol="false" tIns="0" lIns="0" bIns="0" rIns="0">
            <a:spAutoFit/>
          </a:bodyPr>
          <a:lstStyle/>
          <a:p>
            <a:pPr algn="l">
              <a:lnSpc>
                <a:spcPts val="2879"/>
              </a:lnSpc>
            </a:pPr>
            <a:r>
              <a:rPr lang="en-US" sz="2400">
                <a:solidFill>
                  <a:srgbClr val="FFFFFF"/>
                </a:solidFill>
                <a:latin typeface="Exo 2"/>
                <a:ea typeface="Exo 2"/>
                <a:cs typeface="Exo 2"/>
                <a:sym typeface="Exo 2"/>
              </a:rPr>
              <a:t>Channels, timing and cost  |  October 2026</a:t>
            </a:r>
          </a:p>
        </p:txBody>
      </p:sp>
      <p:sp>
        <p:nvSpPr>
          <p:cNvPr name="TextBox 10" id="10"/>
          <p:cNvSpPr txBox="true"/>
          <p:nvPr/>
        </p:nvSpPr>
        <p:spPr>
          <a:xfrm rot="0">
            <a:off x="1028700" y="9248775"/>
            <a:ext cx="15087600" cy="421005"/>
          </a:xfrm>
          <a:prstGeom prst="rect">
            <a:avLst/>
          </a:prstGeom>
        </p:spPr>
        <p:txBody>
          <a:bodyPr anchor="t" rtlCol="false" tIns="0" lIns="0" bIns="0" rIns="0">
            <a:spAutoFit/>
          </a:bodyPr>
          <a:lstStyle/>
          <a:p>
            <a:pPr algn="l">
              <a:lnSpc>
                <a:spcPts val="1800"/>
              </a:lnSpc>
            </a:pPr>
            <a:r>
              <a:rPr lang="en-US" sz="1500">
                <a:solidFill>
                  <a:srgbClr val="C6CFE4"/>
                </a:solidFill>
                <a:latin typeface="Exo 2"/>
                <a:ea typeface="Exo 2"/>
                <a:cs typeface="Exo 2"/>
                <a:sym typeface="Exo 2"/>
              </a:rPr>
              <a:t>Confidential. Prepared by eMYAA Marketing, Ajyad Capital.</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9899824" cy="1947672"/>
            <a:chOff x="0" y="0"/>
            <a:chExt cx="26533099" cy="2596896"/>
          </a:xfrm>
        </p:grpSpPr>
        <p:sp>
          <p:nvSpPr>
            <p:cNvPr name="Freeform 3" id="3" descr="/home/user/HatemIsa_202508993_IT9002_NLP_Project/emyaa-ceo-deck/working/charts/board_header.png"/>
            <p:cNvSpPr/>
            <p:nvPr/>
          </p:nvSpPr>
          <p:spPr>
            <a:xfrm flipH="false" flipV="false" rot="0">
              <a:off x="0" y="0"/>
              <a:ext cx="26533069" cy="2596896"/>
            </a:xfrm>
            <a:custGeom>
              <a:avLst/>
              <a:gdLst/>
              <a:ahLst/>
              <a:cxnLst/>
              <a:rect r="r" b="b" t="t" l="l"/>
              <a:pathLst>
                <a:path h="2596896" w="26533069">
                  <a:moveTo>
                    <a:pt x="0" y="0"/>
                  </a:moveTo>
                  <a:lnTo>
                    <a:pt x="26533069" y="0"/>
                  </a:lnTo>
                  <a:lnTo>
                    <a:pt x="26533069" y="2596896"/>
                  </a:lnTo>
                  <a:lnTo>
                    <a:pt x="0" y="2596896"/>
                  </a:lnTo>
                  <a:lnTo>
                    <a:pt x="0" y="0"/>
                  </a:lnTo>
                  <a:close/>
                </a:path>
              </a:pathLst>
            </a:custGeom>
            <a:blipFill>
              <a:blip r:embed="rId3"/>
              <a:stretch>
                <a:fillRect l="0" t="-5683" r="0" b="-5684"/>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WHO WE ARE</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eMYAA: a Shari'ah-compliant trading app for GCC investors</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311277"/>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2</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6" id="16"/>
          <p:cNvGrpSpPr/>
          <p:nvPr/>
        </p:nvGrpSpPr>
        <p:grpSpPr>
          <a:xfrm rot="0">
            <a:off x="843248" y="2530316"/>
            <a:ext cx="8175307" cy="1934527"/>
            <a:chOff x="0" y="0"/>
            <a:chExt cx="10900410" cy="2579370"/>
          </a:xfrm>
        </p:grpSpPr>
        <p:sp>
          <p:nvSpPr>
            <p:cNvPr name="Freeform 17" id="17"/>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18" id="18"/>
          <p:cNvGrpSpPr/>
          <p:nvPr/>
        </p:nvGrpSpPr>
        <p:grpSpPr>
          <a:xfrm rot="0">
            <a:off x="840867" y="2527935"/>
            <a:ext cx="8180070" cy="80772"/>
            <a:chOff x="0" y="0"/>
            <a:chExt cx="10906760" cy="107696"/>
          </a:xfrm>
        </p:grpSpPr>
        <p:sp>
          <p:nvSpPr>
            <p:cNvPr name="Freeform 19" id="19"/>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132257"/>
            </a:solidFill>
            <a:ln w="19050" cap="sq">
              <a:solidFill>
                <a:srgbClr val="132257"/>
              </a:solidFill>
              <a:prstDash val="solid"/>
              <a:miter/>
            </a:ln>
          </p:spPr>
        </p:sp>
      </p:grpSp>
      <p:sp>
        <p:nvSpPr>
          <p:cNvPr name="TextBox 20" id="20"/>
          <p:cNvSpPr txBox="true"/>
          <p:nvPr/>
        </p:nvSpPr>
        <p:spPr>
          <a:xfrm rot="0">
            <a:off x="1261872" y="291198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Shari'ah compliant</a:t>
            </a:r>
          </a:p>
        </p:txBody>
      </p:sp>
      <p:sp>
        <p:nvSpPr>
          <p:cNvPr name="TextBox 21" id="21"/>
          <p:cNvSpPr txBox="true"/>
          <p:nvPr/>
        </p:nvSpPr>
        <p:spPr>
          <a:xfrm rot="0">
            <a:off x="1261872" y="3625215"/>
            <a:ext cx="7406640" cy="558165"/>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Automated Shari'ah screening and purification calculator</a:t>
            </a:r>
          </a:p>
        </p:txBody>
      </p:sp>
      <p:grpSp>
        <p:nvGrpSpPr>
          <p:cNvPr name="Group 22" id="22"/>
          <p:cNvGrpSpPr/>
          <p:nvPr/>
        </p:nvGrpSpPr>
        <p:grpSpPr>
          <a:xfrm rot="0">
            <a:off x="9210008" y="2530316"/>
            <a:ext cx="8175307" cy="1934527"/>
            <a:chOff x="0" y="0"/>
            <a:chExt cx="10900410" cy="2579370"/>
          </a:xfrm>
        </p:grpSpPr>
        <p:sp>
          <p:nvSpPr>
            <p:cNvPr name="Freeform 23" id="23"/>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24" id="24"/>
          <p:cNvGrpSpPr/>
          <p:nvPr/>
        </p:nvGrpSpPr>
        <p:grpSpPr>
          <a:xfrm rot="0">
            <a:off x="9207627" y="2527935"/>
            <a:ext cx="8180070" cy="80772"/>
            <a:chOff x="0" y="0"/>
            <a:chExt cx="10906760" cy="107696"/>
          </a:xfrm>
        </p:grpSpPr>
        <p:sp>
          <p:nvSpPr>
            <p:cNvPr name="Freeform 25" id="25"/>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D4AF37"/>
            </a:solidFill>
            <a:ln w="19050" cap="sq">
              <a:solidFill>
                <a:srgbClr val="D4AF37"/>
              </a:solidFill>
              <a:prstDash val="solid"/>
              <a:miter/>
            </a:ln>
          </p:spPr>
        </p:sp>
      </p:grpSp>
      <p:sp>
        <p:nvSpPr>
          <p:cNvPr name="TextBox 26" id="26"/>
          <p:cNvSpPr txBox="true"/>
          <p:nvPr/>
        </p:nvSpPr>
        <p:spPr>
          <a:xfrm rot="0">
            <a:off x="9628632" y="291198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Arabic and English</a:t>
            </a:r>
          </a:p>
        </p:txBody>
      </p:sp>
      <p:sp>
        <p:nvSpPr>
          <p:cNvPr name="TextBox 27" id="27"/>
          <p:cNvSpPr txBox="true"/>
          <p:nvPr/>
        </p:nvSpPr>
        <p:spPr>
          <a:xfrm rot="0">
            <a:off x="9628632" y="3625215"/>
            <a:ext cx="7406640" cy="558165"/>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Full bilingual app with AI support</a:t>
            </a:r>
          </a:p>
        </p:txBody>
      </p:sp>
      <p:grpSp>
        <p:nvGrpSpPr>
          <p:cNvPr name="Group 28" id="28"/>
          <p:cNvGrpSpPr/>
          <p:nvPr/>
        </p:nvGrpSpPr>
        <p:grpSpPr>
          <a:xfrm rot="0">
            <a:off x="843248" y="4724876"/>
            <a:ext cx="8175307" cy="1934527"/>
            <a:chOff x="0" y="0"/>
            <a:chExt cx="10900410" cy="2579370"/>
          </a:xfrm>
        </p:grpSpPr>
        <p:sp>
          <p:nvSpPr>
            <p:cNvPr name="Freeform 29" id="29"/>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30" id="30"/>
          <p:cNvGrpSpPr/>
          <p:nvPr/>
        </p:nvGrpSpPr>
        <p:grpSpPr>
          <a:xfrm rot="0">
            <a:off x="840867" y="4722495"/>
            <a:ext cx="8180070" cy="80772"/>
            <a:chOff x="0" y="0"/>
            <a:chExt cx="10906760" cy="107696"/>
          </a:xfrm>
        </p:grpSpPr>
        <p:sp>
          <p:nvSpPr>
            <p:cNvPr name="Freeform 31" id="31"/>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132257"/>
            </a:solidFill>
            <a:ln w="19050" cap="sq">
              <a:solidFill>
                <a:srgbClr val="132257"/>
              </a:solidFill>
              <a:prstDash val="solid"/>
              <a:miter/>
            </a:ln>
          </p:spPr>
        </p:sp>
      </p:grpSp>
      <p:sp>
        <p:nvSpPr>
          <p:cNvPr name="TextBox 32" id="32"/>
          <p:cNvSpPr txBox="true"/>
          <p:nvPr/>
        </p:nvSpPr>
        <p:spPr>
          <a:xfrm rot="0">
            <a:off x="1261872" y="510654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USD 50 to start</a:t>
            </a:r>
          </a:p>
        </p:txBody>
      </p:sp>
      <p:sp>
        <p:nvSpPr>
          <p:cNvPr name="TextBox 33" id="33"/>
          <p:cNvSpPr txBox="true"/>
          <p:nvPr/>
        </p:nvSpPr>
        <p:spPr>
          <a:xfrm rot="0">
            <a:off x="1261872" y="5819775"/>
            <a:ext cx="7406640" cy="304800"/>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No account opening fees, and very competitive trading fees.</a:t>
            </a:r>
          </a:p>
        </p:txBody>
      </p:sp>
      <p:grpSp>
        <p:nvGrpSpPr>
          <p:cNvPr name="Group 34" id="34"/>
          <p:cNvGrpSpPr/>
          <p:nvPr/>
        </p:nvGrpSpPr>
        <p:grpSpPr>
          <a:xfrm rot="0">
            <a:off x="9210008" y="4724876"/>
            <a:ext cx="8175307" cy="1934527"/>
            <a:chOff x="0" y="0"/>
            <a:chExt cx="10900410" cy="2579370"/>
          </a:xfrm>
        </p:grpSpPr>
        <p:sp>
          <p:nvSpPr>
            <p:cNvPr name="Freeform 35" id="35"/>
            <p:cNvSpPr/>
            <p:nvPr/>
          </p:nvSpPr>
          <p:spPr>
            <a:xfrm flipH="false" flipV="false" rot="0">
              <a:off x="0" y="0"/>
              <a:ext cx="10900410" cy="2579370"/>
            </a:xfrm>
            <a:custGeom>
              <a:avLst/>
              <a:gdLst/>
              <a:ahLst/>
              <a:cxnLst/>
              <a:rect r="r" b="b" t="t" l="l"/>
              <a:pathLst>
                <a:path h="2579370" w="10900410">
                  <a:moveTo>
                    <a:pt x="0" y="0"/>
                  </a:moveTo>
                  <a:lnTo>
                    <a:pt x="10900410" y="0"/>
                  </a:lnTo>
                  <a:lnTo>
                    <a:pt x="10900410" y="2579370"/>
                  </a:lnTo>
                  <a:lnTo>
                    <a:pt x="0" y="2579370"/>
                  </a:lnTo>
                  <a:close/>
                </a:path>
              </a:pathLst>
            </a:custGeom>
            <a:solidFill>
              <a:srgbClr val="FFFFFF"/>
            </a:solidFill>
            <a:ln w="14288" cap="sq">
              <a:solidFill>
                <a:srgbClr val="D9DFEA"/>
              </a:solidFill>
              <a:prstDash val="solid"/>
              <a:miter/>
            </a:ln>
          </p:spPr>
        </p:sp>
      </p:grpSp>
      <p:grpSp>
        <p:nvGrpSpPr>
          <p:cNvPr name="Group 36" id="36"/>
          <p:cNvGrpSpPr/>
          <p:nvPr/>
        </p:nvGrpSpPr>
        <p:grpSpPr>
          <a:xfrm rot="0">
            <a:off x="9207627" y="4722495"/>
            <a:ext cx="8180070" cy="80772"/>
            <a:chOff x="0" y="0"/>
            <a:chExt cx="10906760" cy="107696"/>
          </a:xfrm>
        </p:grpSpPr>
        <p:sp>
          <p:nvSpPr>
            <p:cNvPr name="Freeform 37" id="37"/>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D4AF37"/>
            </a:solidFill>
            <a:ln w="19050" cap="sq">
              <a:solidFill>
                <a:srgbClr val="D4AF37"/>
              </a:solidFill>
              <a:prstDash val="solid"/>
              <a:miter/>
            </a:ln>
          </p:spPr>
        </p:sp>
      </p:grpSp>
      <p:sp>
        <p:nvSpPr>
          <p:cNvPr name="TextBox 38" id="38"/>
          <p:cNvSpPr txBox="true"/>
          <p:nvPr/>
        </p:nvSpPr>
        <p:spPr>
          <a:xfrm rot="0">
            <a:off x="9628632" y="5106543"/>
            <a:ext cx="740664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Four markets</a:t>
            </a:r>
          </a:p>
        </p:txBody>
      </p:sp>
      <p:sp>
        <p:nvSpPr>
          <p:cNvPr name="TextBox 39" id="39"/>
          <p:cNvSpPr txBox="true"/>
          <p:nvPr/>
        </p:nvSpPr>
        <p:spPr>
          <a:xfrm rot="0">
            <a:off x="9628632" y="5819775"/>
            <a:ext cx="7406640" cy="304800"/>
          </a:xfrm>
          <a:prstGeom prst="rect">
            <a:avLst/>
          </a:prstGeom>
        </p:spPr>
        <p:txBody>
          <a:bodyPr anchor="t" rtlCol="false" tIns="0" lIns="0" bIns="0" rIns="0">
            <a:spAutoFit/>
          </a:bodyPr>
          <a:lstStyle/>
          <a:p>
            <a:pPr algn="l">
              <a:lnSpc>
                <a:spcPts val="2340"/>
              </a:lnSpc>
            </a:pPr>
            <a:r>
              <a:rPr lang="en-US" sz="1950">
                <a:solidFill>
                  <a:srgbClr val="6B7590"/>
                </a:solidFill>
                <a:latin typeface="Exo 2"/>
                <a:ea typeface="Exo 2"/>
                <a:cs typeface="Exo 2"/>
                <a:sym typeface="Exo 2"/>
              </a:rPr>
              <a:t>US, Saudi (Tadawul), Dubai (DFM), Hong Kong</a:t>
            </a:r>
          </a:p>
        </p:txBody>
      </p:sp>
      <p:grpSp>
        <p:nvGrpSpPr>
          <p:cNvPr name="Group 40" id="40"/>
          <p:cNvGrpSpPr/>
          <p:nvPr/>
        </p:nvGrpSpPr>
        <p:grpSpPr>
          <a:xfrm rot="0">
            <a:off x="840867" y="7191375"/>
            <a:ext cx="16615410" cy="1116330"/>
            <a:chOff x="0" y="0"/>
            <a:chExt cx="22153880" cy="1488440"/>
          </a:xfrm>
        </p:grpSpPr>
        <p:sp>
          <p:nvSpPr>
            <p:cNvPr name="Freeform 41" id="41"/>
            <p:cNvSpPr/>
            <p:nvPr/>
          </p:nvSpPr>
          <p:spPr>
            <a:xfrm flipH="false" flipV="false" rot="0">
              <a:off x="0" y="0"/>
              <a:ext cx="22153880" cy="1488440"/>
            </a:xfrm>
            <a:custGeom>
              <a:avLst/>
              <a:gdLst/>
              <a:ahLst/>
              <a:cxnLst/>
              <a:rect r="r" b="b" t="t" l="l"/>
              <a:pathLst>
                <a:path h="1488440" w="22153880">
                  <a:moveTo>
                    <a:pt x="0" y="0"/>
                  </a:moveTo>
                  <a:lnTo>
                    <a:pt x="22153880" y="0"/>
                  </a:lnTo>
                  <a:lnTo>
                    <a:pt x="22153880" y="1488440"/>
                  </a:lnTo>
                  <a:lnTo>
                    <a:pt x="0" y="1488440"/>
                  </a:lnTo>
                  <a:close/>
                </a:path>
              </a:pathLst>
            </a:custGeom>
            <a:solidFill>
              <a:srgbClr val="EEF1F8"/>
            </a:solidFill>
            <a:ln w="19050" cap="sq">
              <a:solidFill>
                <a:srgbClr val="EEF1F8"/>
              </a:solidFill>
              <a:prstDash val="solid"/>
              <a:miter/>
            </a:ln>
          </p:spPr>
        </p:sp>
      </p:grpSp>
      <p:grpSp>
        <p:nvGrpSpPr>
          <p:cNvPr name="Group 42" id="42"/>
          <p:cNvGrpSpPr/>
          <p:nvPr/>
        </p:nvGrpSpPr>
        <p:grpSpPr>
          <a:xfrm rot="0">
            <a:off x="840867" y="7191375"/>
            <a:ext cx="101346" cy="1116330"/>
            <a:chOff x="0" y="0"/>
            <a:chExt cx="135128" cy="1488440"/>
          </a:xfrm>
        </p:grpSpPr>
        <p:sp>
          <p:nvSpPr>
            <p:cNvPr name="Freeform 43" id="43"/>
            <p:cNvSpPr/>
            <p:nvPr/>
          </p:nvSpPr>
          <p:spPr>
            <a:xfrm flipH="false" flipV="false" rot="0">
              <a:off x="0" y="0"/>
              <a:ext cx="135128" cy="1488440"/>
            </a:xfrm>
            <a:custGeom>
              <a:avLst/>
              <a:gdLst/>
              <a:ahLst/>
              <a:cxnLst/>
              <a:rect r="r" b="b" t="t" l="l"/>
              <a:pathLst>
                <a:path h="1488440" w="135128">
                  <a:moveTo>
                    <a:pt x="0" y="0"/>
                  </a:moveTo>
                  <a:lnTo>
                    <a:pt x="135128" y="0"/>
                  </a:lnTo>
                  <a:lnTo>
                    <a:pt x="135128" y="1488440"/>
                  </a:lnTo>
                  <a:lnTo>
                    <a:pt x="0" y="1488440"/>
                  </a:lnTo>
                  <a:close/>
                </a:path>
              </a:pathLst>
            </a:custGeom>
            <a:solidFill>
              <a:srgbClr val="D4AF37"/>
            </a:solidFill>
            <a:ln w="19050" cap="sq">
              <a:solidFill>
                <a:srgbClr val="D4AF37"/>
              </a:solidFill>
              <a:prstDash val="solid"/>
              <a:miter/>
            </a:ln>
          </p:spPr>
        </p:sp>
      </p:grpSp>
      <p:grpSp>
        <p:nvGrpSpPr>
          <p:cNvPr name="Group 44" id="44"/>
          <p:cNvGrpSpPr/>
          <p:nvPr/>
        </p:nvGrpSpPr>
        <p:grpSpPr>
          <a:xfrm rot="0">
            <a:off x="1234440" y="7200900"/>
            <a:ext cx="16047720" cy="1097280"/>
            <a:chOff x="0" y="0"/>
            <a:chExt cx="21396960" cy="1463040"/>
          </a:xfrm>
        </p:grpSpPr>
        <p:sp>
          <p:nvSpPr>
            <p:cNvPr name="Freeform 45" id="45"/>
            <p:cNvSpPr/>
            <p:nvPr/>
          </p:nvSpPr>
          <p:spPr>
            <a:xfrm flipH="false" flipV="false" rot="0">
              <a:off x="0" y="0"/>
              <a:ext cx="21396961" cy="1463040"/>
            </a:xfrm>
            <a:custGeom>
              <a:avLst/>
              <a:gdLst/>
              <a:ahLst/>
              <a:cxnLst/>
              <a:rect r="r" b="b" t="t" l="l"/>
              <a:pathLst>
                <a:path h="1463040" w="21396961">
                  <a:moveTo>
                    <a:pt x="0" y="0"/>
                  </a:moveTo>
                  <a:lnTo>
                    <a:pt x="21396961" y="0"/>
                  </a:lnTo>
                  <a:lnTo>
                    <a:pt x="21396961" y="1463040"/>
                  </a:lnTo>
                  <a:lnTo>
                    <a:pt x="0" y="1463040"/>
                  </a:lnTo>
                  <a:close/>
                </a:path>
              </a:pathLst>
            </a:custGeom>
            <a:blipFill>
              <a:blip r:embed="rId4">
                <a:alphaModFix amt="0"/>
              </a:blip>
              <a:stretch>
                <a:fillRect l="0" t="-234968" r="0" b="-234968"/>
              </a:stretch>
            </a:blipFill>
          </p:spPr>
        </p:sp>
        <p:sp>
          <p:nvSpPr>
            <p:cNvPr name="TextBox 46" id="46"/>
            <p:cNvSpPr txBox="true"/>
            <p:nvPr/>
          </p:nvSpPr>
          <p:spPr>
            <a:xfrm>
              <a:off x="0" y="-9525"/>
              <a:ext cx="21396960" cy="1472565"/>
            </a:xfrm>
            <a:prstGeom prst="rect">
              <a:avLst/>
            </a:prstGeom>
          </p:spPr>
          <p:txBody>
            <a:bodyPr anchor="ctr" rtlCol="false" tIns="0" lIns="0" bIns="0" rIns="0"/>
            <a:lstStyle/>
            <a:p>
              <a:pPr algn="l">
                <a:lnSpc>
                  <a:spcPts val="2340"/>
                </a:lnSpc>
              </a:pPr>
              <a:r>
                <a:rPr lang="en-US" sz="1950" b="true">
                  <a:solidFill>
                    <a:srgbClr val="132257"/>
                  </a:solidFill>
                  <a:latin typeface="Exo 2 Bold"/>
                  <a:ea typeface="Exo 2 Bold"/>
                  <a:cs typeface="Exo 2 Bold"/>
                  <a:sym typeface="Exo 2 Bold"/>
                </a:rPr>
                <a:t>Licensed  </a:t>
              </a:r>
              <a:r>
                <a:rPr lang="en-US" sz="1950">
                  <a:solidFill>
                    <a:srgbClr val="1F2A44"/>
                  </a:solidFill>
                  <a:latin typeface="Exo 2"/>
                  <a:ea typeface="Exo 2"/>
                  <a:cs typeface="Exo 2"/>
                  <a:sym typeface="Exo 2"/>
                </a:rPr>
                <a:t>Powered by Ajyad Capital, an Islamic investment firm (Category 1) regulated by the Central Bank of Bahrain. Live since May 2026.</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DIGITAL PERFORMANCE CHANNELS</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Two New Channels Targeting the Saudi Market</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4</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sp>
        <p:nvSpPr>
          <p:cNvPr name="TextBox 130" id="130"/>
          <p:cNvSpPr txBox="true"/>
          <p:nvPr/>
        </p:nvSpPr>
        <p:spPr>
          <a:xfrm rot="0">
            <a:off x="850392" y="7269480"/>
            <a:ext cx="8229600" cy="238125"/>
          </a:xfrm>
          <a:prstGeom prst="rect">
            <a:avLst/>
          </a:prstGeom>
        </p:spPr>
        <p:txBody>
          <a:bodyPr anchor="t" rtlCol="false" tIns="0" lIns="0" bIns="0" rIns="0">
            <a:spAutoFit/>
          </a:bodyPr>
          <a:lstStyle/>
          <a:p>
            <a:pPr algn="l">
              <a:lnSpc>
                <a:spcPts val="1800"/>
              </a:lnSpc>
            </a:pPr>
            <a:r>
              <a:rPr lang="en-US" b="true" sz="1500" spc="150">
                <a:solidFill>
                  <a:srgbClr val="3C61B6"/>
                </a:solidFill>
                <a:latin typeface="Exo 2 Bold"/>
                <a:ea typeface="Exo 2 Bold"/>
                <a:cs typeface="Exo 2 Bold"/>
                <a:sym typeface="Exo 2 Bold"/>
              </a:rPr>
              <a:t>INITIAL RESULTS</a:t>
            </a:r>
          </a:p>
        </p:txBody>
      </p:sp>
      <p:grpSp>
        <p:nvGrpSpPr>
          <p:cNvPr name="Group 131" id="131"/>
          <p:cNvGrpSpPr/>
          <p:nvPr/>
        </p:nvGrpSpPr>
        <p:grpSpPr>
          <a:xfrm rot="0">
            <a:off x="843248" y="7673816"/>
            <a:ext cx="5363528" cy="1865948"/>
            <a:chOff x="0" y="0"/>
            <a:chExt cx="7151370" cy="2487930"/>
          </a:xfrm>
        </p:grpSpPr>
        <p:sp>
          <p:nvSpPr>
            <p:cNvPr name="Freeform 132" id="132"/>
            <p:cNvSpPr/>
            <p:nvPr/>
          </p:nvSpPr>
          <p:spPr>
            <a:xfrm flipH="false" flipV="false" rot="0">
              <a:off x="0" y="0"/>
              <a:ext cx="7151370" cy="2487930"/>
            </a:xfrm>
            <a:custGeom>
              <a:avLst/>
              <a:gdLst/>
              <a:ahLst/>
              <a:cxnLst/>
              <a:rect r="r" b="b" t="t" l="l"/>
              <a:pathLst>
                <a:path h="2487930" w="7151370">
                  <a:moveTo>
                    <a:pt x="0" y="0"/>
                  </a:moveTo>
                  <a:lnTo>
                    <a:pt x="7151370" y="0"/>
                  </a:lnTo>
                  <a:lnTo>
                    <a:pt x="7151370" y="2487930"/>
                  </a:lnTo>
                  <a:lnTo>
                    <a:pt x="0" y="2487930"/>
                  </a:lnTo>
                  <a:close/>
                </a:path>
              </a:pathLst>
            </a:custGeom>
            <a:solidFill>
              <a:srgbClr val="FFFFFF"/>
            </a:solidFill>
            <a:ln w="14288" cap="sq">
              <a:solidFill>
                <a:srgbClr val="D9DFEA"/>
              </a:solidFill>
              <a:prstDash val="solid"/>
              <a:miter/>
            </a:ln>
          </p:spPr>
        </p:sp>
      </p:grpSp>
      <p:grpSp>
        <p:nvGrpSpPr>
          <p:cNvPr name="Group 133" id="133"/>
          <p:cNvGrpSpPr/>
          <p:nvPr/>
        </p:nvGrpSpPr>
        <p:grpSpPr>
          <a:xfrm rot="0">
            <a:off x="840867" y="7671435"/>
            <a:ext cx="5368290" cy="80772"/>
            <a:chOff x="0" y="0"/>
            <a:chExt cx="7157720" cy="107696"/>
          </a:xfrm>
        </p:grpSpPr>
        <p:sp>
          <p:nvSpPr>
            <p:cNvPr name="Freeform 134" id="134"/>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32257"/>
            </a:solidFill>
            <a:ln w="19050" cap="sq">
              <a:solidFill>
                <a:srgbClr val="132257"/>
              </a:solidFill>
              <a:prstDash val="solid"/>
              <a:miter/>
            </a:ln>
          </p:spPr>
        </p:sp>
      </p:grpSp>
      <p:sp>
        <p:nvSpPr>
          <p:cNvPr name="TextBox 135" id="135"/>
          <p:cNvSpPr txBox="true"/>
          <p:nvPr/>
        </p:nvSpPr>
        <p:spPr>
          <a:xfrm rot="0">
            <a:off x="1124712" y="7918323"/>
            <a:ext cx="48006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70%</a:t>
            </a:r>
          </a:p>
        </p:txBody>
      </p:sp>
      <p:sp>
        <p:nvSpPr>
          <p:cNvPr name="TextBox 136" id="136"/>
          <p:cNvSpPr txBox="true"/>
          <p:nvPr/>
        </p:nvSpPr>
        <p:spPr>
          <a:xfrm rot="0">
            <a:off x="1124712" y="8709660"/>
            <a:ext cx="48006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of website visits</a:t>
            </a:r>
          </a:p>
        </p:txBody>
      </p:sp>
      <p:sp>
        <p:nvSpPr>
          <p:cNvPr name="TextBox 137" id="137"/>
          <p:cNvSpPr txBox="true"/>
          <p:nvPr/>
        </p:nvSpPr>
        <p:spPr>
          <a:xfrm rot="0">
            <a:off x="1124712" y="9070467"/>
            <a:ext cx="48006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came from Saudi Google Ads</a:t>
            </a:r>
          </a:p>
        </p:txBody>
      </p:sp>
      <p:grpSp>
        <p:nvGrpSpPr>
          <p:cNvPr name="Group 138" id="138"/>
          <p:cNvGrpSpPr/>
          <p:nvPr/>
        </p:nvGrpSpPr>
        <p:grpSpPr>
          <a:xfrm rot="0">
            <a:off x="6466808" y="7673816"/>
            <a:ext cx="5363528" cy="1865948"/>
            <a:chOff x="0" y="0"/>
            <a:chExt cx="7151370" cy="2487930"/>
          </a:xfrm>
        </p:grpSpPr>
        <p:sp>
          <p:nvSpPr>
            <p:cNvPr name="Freeform 139" id="139"/>
            <p:cNvSpPr/>
            <p:nvPr/>
          </p:nvSpPr>
          <p:spPr>
            <a:xfrm flipH="false" flipV="false" rot="0">
              <a:off x="0" y="0"/>
              <a:ext cx="7151370" cy="2487930"/>
            </a:xfrm>
            <a:custGeom>
              <a:avLst/>
              <a:gdLst/>
              <a:ahLst/>
              <a:cxnLst/>
              <a:rect r="r" b="b" t="t" l="l"/>
              <a:pathLst>
                <a:path h="2487930" w="7151370">
                  <a:moveTo>
                    <a:pt x="0" y="0"/>
                  </a:moveTo>
                  <a:lnTo>
                    <a:pt x="7151370" y="0"/>
                  </a:lnTo>
                  <a:lnTo>
                    <a:pt x="7151370" y="2487930"/>
                  </a:lnTo>
                  <a:lnTo>
                    <a:pt x="0" y="2487930"/>
                  </a:lnTo>
                  <a:close/>
                </a:path>
              </a:pathLst>
            </a:custGeom>
            <a:solidFill>
              <a:srgbClr val="FFFFFF"/>
            </a:solidFill>
            <a:ln w="14288" cap="sq">
              <a:solidFill>
                <a:srgbClr val="D9DFEA"/>
              </a:solidFill>
              <a:prstDash val="solid"/>
              <a:miter/>
            </a:ln>
          </p:spPr>
        </p:sp>
      </p:grpSp>
      <p:grpSp>
        <p:nvGrpSpPr>
          <p:cNvPr name="Group 140" id="140"/>
          <p:cNvGrpSpPr/>
          <p:nvPr/>
        </p:nvGrpSpPr>
        <p:grpSpPr>
          <a:xfrm rot="0">
            <a:off x="6464427" y="7671435"/>
            <a:ext cx="5368290" cy="80772"/>
            <a:chOff x="0" y="0"/>
            <a:chExt cx="7157720" cy="107696"/>
          </a:xfrm>
        </p:grpSpPr>
        <p:sp>
          <p:nvSpPr>
            <p:cNvPr name="Freeform 141" id="141"/>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32257"/>
            </a:solidFill>
            <a:ln w="19050" cap="sq">
              <a:solidFill>
                <a:srgbClr val="132257"/>
              </a:solidFill>
              <a:prstDash val="solid"/>
              <a:miter/>
            </a:ln>
          </p:spPr>
        </p:sp>
      </p:grpSp>
      <p:sp>
        <p:nvSpPr>
          <p:cNvPr name="TextBox 142" id="142"/>
          <p:cNvSpPr txBox="true"/>
          <p:nvPr/>
        </p:nvSpPr>
        <p:spPr>
          <a:xfrm rot="0">
            <a:off x="6748272" y="7918323"/>
            <a:ext cx="48006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97% / 87%</a:t>
            </a:r>
          </a:p>
        </p:txBody>
      </p:sp>
      <p:sp>
        <p:nvSpPr>
          <p:cNvPr name="TextBox 143" id="143"/>
          <p:cNvSpPr txBox="true"/>
          <p:nvPr/>
        </p:nvSpPr>
        <p:spPr>
          <a:xfrm rot="0">
            <a:off x="6748272" y="8709660"/>
            <a:ext cx="48006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engagement rate</a:t>
            </a:r>
          </a:p>
        </p:txBody>
      </p:sp>
      <p:sp>
        <p:nvSpPr>
          <p:cNvPr name="TextBox 144" id="144"/>
          <p:cNvSpPr txBox="true"/>
          <p:nvPr/>
        </p:nvSpPr>
        <p:spPr>
          <a:xfrm rot="0">
            <a:off x="6748272" y="9070467"/>
            <a:ext cx="48006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English ads / Arabic ads</a:t>
            </a:r>
          </a:p>
        </p:txBody>
      </p:sp>
      <p:grpSp>
        <p:nvGrpSpPr>
          <p:cNvPr name="Group 145" id="145"/>
          <p:cNvGrpSpPr/>
          <p:nvPr/>
        </p:nvGrpSpPr>
        <p:grpSpPr>
          <a:xfrm rot="0">
            <a:off x="12087987" y="7671435"/>
            <a:ext cx="5368290" cy="1870710"/>
            <a:chOff x="0" y="0"/>
            <a:chExt cx="7157720" cy="2494280"/>
          </a:xfrm>
        </p:grpSpPr>
        <p:sp>
          <p:nvSpPr>
            <p:cNvPr name="Freeform 146" id="146"/>
            <p:cNvSpPr/>
            <p:nvPr/>
          </p:nvSpPr>
          <p:spPr>
            <a:xfrm flipH="false" flipV="false" rot="0">
              <a:off x="0" y="0"/>
              <a:ext cx="7157720" cy="2494280"/>
            </a:xfrm>
            <a:custGeom>
              <a:avLst/>
              <a:gdLst/>
              <a:ahLst/>
              <a:cxnLst/>
              <a:rect r="r" b="b" t="t" l="l"/>
              <a:pathLst>
                <a:path h="2494280" w="7157720">
                  <a:moveTo>
                    <a:pt x="0" y="0"/>
                  </a:moveTo>
                  <a:lnTo>
                    <a:pt x="7157720" y="0"/>
                  </a:lnTo>
                  <a:lnTo>
                    <a:pt x="7157720" y="2494280"/>
                  </a:lnTo>
                  <a:lnTo>
                    <a:pt x="0" y="2494280"/>
                  </a:lnTo>
                  <a:close/>
                </a:path>
              </a:pathLst>
            </a:custGeom>
            <a:solidFill>
              <a:srgbClr val="EEF1F8"/>
            </a:solidFill>
            <a:ln w="19050" cap="sq">
              <a:solidFill>
                <a:srgbClr val="EEF1F8"/>
              </a:solidFill>
              <a:prstDash val="solid"/>
              <a:miter/>
            </a:ln>
          </p:spPr>
        </p:sp>
      </p:grpSp>
      <p:grpSp>
        <p:nvGrpSpPr>
          <p:cNvPr name="Group 147" id="147"/>
          <p:cNvGrpSpPr/>
          <p:nvPr/>
        </p:nvGrpSpPr>
        <p:grpSpPr>
          <a:xfrm rot="0">
            <a:off x="12344400" y="7680960"/>
            <a:ext cx="4937760" cy="1851660"/>
            <a:chOff x="0" y="0"/>
            <a:chExt cx="6583680" cy="2468880"/>
          </a:xfrm>
        </p:grpSpPr>
        <p:sp>
          <p:nvSpPr>
            <p:cNvPr name="Freeform 148" id="148"/>
            <p:cNvSpPr/>
            <p:nvPr/>
          </p:nvSpPr>
          <p:spPr>
            <a:xfrm flipH="false" flipV="false" rot="0">
              <a:off x="0" y="0"/>
              <a:ext cx="6583680" cy="2468880"/>
            </a:xfrm>
            <a:custGeom>
              <a:avLst/>
              <a:gdLst/>
              <a:ahLst/>
              <a:cxnLst/>
              <a:rect r="r" b="b" t="t" l="l"/>
              <a:pathLst>
                <a:path h="2468880" w="6583680">
                  <a:moveTo>
                    <a:pt x="0" y="0"/>
                  </a:moveTo>
                  <a:lnTo>
                    <a:pt x="6583680" y="0"/>
                  </a:lnTo>
                  <a:lnTo>
                    <a:pt x="6583680" y="2468880"/>
                  </a:lnTo>
                  <a:lnTo>
                    <a:pt x="0" y="2468880"/>
                  </a:lnTo>
                  <a:close/>
                </a:path>
              </a:pathLst>
            </a:custGeom>
            <a:blipFill>
              <a:blip r:embed="rId4">
                <a:alphaModFix amt="0"/>
              </a:blip>
              <a:stretch>
                <a:fillRect l="0" t="-1960" r="0" b="-1960"/>
              </a:stretch>
            </a:blipFill>
          </p:spPr>
        </p:sp>
        <p:sp>
          <p:nvSpPr>
            <p:cNvPr name="TextBox 149" id="149"/>
            <p:cNvSpPr txBox="true"/>
            <p:nvPr/>
          </p:nvSpPr>
          <p:spPr>
            <a:xfrm>
              <a:off x="0" y="-9525"/>
              <a:ext cx="6583680" cy="2478405"/>
            </a:xfrm>
            <a:prstGeom prst="rect">
              <a:avLst/>
            </a:prstGeom>
          </p:spPr>
          <p:txBody>
            <a:bodyPr anchor="ctr" rtlCol="false" tIns="0" lIns="0" bIns="0" rIns="0"/>
            <a:lstStyle/>
            <a:p>
              <a:pPr algn="l">
                <a:lnSpc>
                  <a:spcPts val="2160"/>
                </a:lnSpc>
              </a:pPr>
              <a:r>
                <a:rPr lang="en-US" sz="1800" b="true">
                  <a:solidFill>
                    <a:srgbClr val="132257"/>
                  </a:solidFill>
                  <a:latin typeface="Exo 2 Bold"/>
                  <a:ea typeface="Exo 2 Bold"/>
                  <a:cs typeface="Exo 2 Bold"/>
                  <a:sym typeface="Exo 2 Bold"/>
                </a:rPr>
                <a:t>A one-month test result for each channel will decide where the budget goes next.</a:t>
              </a:r>
            </a:p>
          </p:txBody>
        </p:sp>
      </p:grpSp>
      <p:sp>
        <p:nvSpPr>
          <p:cNvPr id="150" name="Rectangle 149"/>
          <p:cNvSpPr/>
          <p:nvPr/>
        </p:nvSpPr>
        <p:spPr>
          <a:xfrm>
            <a:off x="841248" y="2386584"/>
            <a:ext cx="352044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24128" y="2386584"/>
            <a:ext cx="3246120"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Channel and market</a:t>
            </a:r>
          </a:p>
        </p:txBody>
      </p:sp>
      <p:sp>
        <p:nvSpPr>
          <p:cNvPr id="152" name="Rectangle 151"/>
          <p:cNvSpPr/>
          <p:nvPr/>
        </p:nvSpPr>
        <p:spPr>
          <a:xfrm>
            <a:off x="4361688" y="2386584"/>
            <a:ext cx="210312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544568" y="2386584"/>
            <a:ext cx="1828799"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Budget</a:t>
            </a:r>
          </a:p>
        </p:txBody>
      </p:sp>
      <p:sp>
        <p:nvSpPr>
          <p:cNvPr id="154" name="Rectangle 153"/>
          <p:cNvSpPr/>
          <p:nvPr/>
        </p:nvSpPr>
        <p:spPr>
          <a:xfrm>
            <a:off x="6464808" y="2386584"/>
            <a:ext cx="461772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647688" y="2386584"/>
            <a:ext cx="4343400"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Target</a:t>
            </a:r>
          </a:p>
        </p:txBody>
      </p:sp>
      <p:sp>
        <p:nvSpPr>
          <p:cNvPr id="156" name="Rectangle 155"/>
          <p:cNvSpPr/>
          <p:nvPr/>
        </p:nvSpPr>
        <p:spPr>
          <a:xfrm>
            <a:off x="11082528" y="2386584"/>
            <a:ext cx="3246120"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1265408" y="2386584"/>
            <a:ext cx="2971800"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Dates</a:t>
            </a:r>
          </a:p>
        </p:txBody>
      </p:sp>
      <p:sp>
        <p:nvSpPr>
          <p:cNvPr id="158" name="Rectangle 157"/>
          <p:cNvSpPr/>
          <p:nvPr/>
        </p:nvSpPr>
        <p:spPr>
          <a:xfrm>
            <a:off x="14328648" y="2386584"/>
            <a:ext cx="3127248" cy="64008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4511528" y="2386584"/>
            <a:ext cx="2852928" cy="640080"/>
          </a:xfrm>
          <a:prstGeom prst="rect">
            <a:avLst/>
          </a:prstGeom>
          <a:noFill/>
        </p:spPr>
        <p:txBody>
          <a:bodyPr wrap="square" anchor="ctr" lIns="0" rIns="0" tIns="0" bIns="0">
            <a:spAutoFit/>
          </a:bodyPr>
          <a:lstStyle/>
          <a:p>
            <a:pPr algn="l"/>
            <a:r>
              <a:rPr sz="1575" b="1" i="0">
                <a:solidFill>
                  <a:srgbClr val="FFFFFF"/>
                </a:solidFill>
                <a:latin typeface="Exo 2 Bold"/>
                <a:ea typeface="Exo 2 Bold"/>
                <a:cs typeface="Exo 2 Bold"/>
              </a:rPr>
              <a:t>Status</a:t>
            </a:r>
          </a:p>
        </p:txBody>
      </p:sp>
      <p:sp>
        <p:nvSpPr>
          <p:cNvPr id="160" name="Rectangle 159"/>
          <p:cNvSpPr/>
          <p:nvPr/>
        </p:nvSpPr>
        <p:spPr>
          <a:xfrm>
            <a:off x="841248" y="3026663"/>
            <a:ext cx="352044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024128" y="3026663"/>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Google Search, Saudi</a:t>
            </a:r>
          </a:p>
        </p:txBody>
      </p:sp>
      <p:sp>
        <p:nvSpPr>
          <p:cNvPr id="162" name="Rectangle 161"/>
          <p:cNvSpPr/>
          <p:nvPr/>
        </p:nvSpPr>
        <p:spPr>
          <a:xfrm>
            <a:off x="4361688" y="3026663"/>
            <a:ext cx="2103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544568" y="3026663"/>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9,000</a:t>
            </a:r>
          </a:p>
        </p:txBody>
      </p:sp>
      <p:sp>
        <p:nvSpPr>
          <p:cNvPr id="164" name="Rectangle 163"/>
          <p:cNvSpPr/>
          <p:nvPr/>
        </p:nvSpPr>
        <p:spPr>
          <a:xfrm>
            <a:off x="6464808" y="3026663"/>
            <a:ext cx="46177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647688" y="3026663"/>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Riyadh first</a:t>
            </a:r>
          </a:p>
        </p:txBody>
      </p:sp>
      <p:sp>
        <p:nvSpPr>
          <p:cNvPr id="166" name="Rectangle 165"/>
          <p:cNvSpPr/>
          <p:nvPr/>
        </p:nvSpPr>
        <p:spPr>
          <a:xfrm>
            <a:off x="11082528" y="3026663"/>
            <a:ext cx="3246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1265408" y="3026663"/>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22 Sep to 31 Dec</a:t>
            </a:r>
          </a:p>
        </p:txBody>
      </p:sp>
      <p:sp>
        <p:nvSpPr>
          <p:cNvPr id="168" name="Rectangle 167"/>
          <p:cNvSpPr/>
          <p:nvPr/>
        </p:nvSpPr>
        <p:spPr>
          <a:xfrm>
            <a:off x="14328648" y="3026663"/>
            <a:ext cx="3127248"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14511528" y="3026663"/>
            <a:ext cx="2852928" cy="795528"/>
          </a:xfrm>
          <a:prstGeom prst="rect">
            <a:avLst/>
          </a:prstGeom>
          <a:noFill/>
        </p:spPr>
        <p:txBody>
          <a:bodyPr wrap="square" anchor="ctr" lIns="0" rIns="0" tIns="0" bIns="0">
            <a:spAutoFit/>
          </a:bodyPr>
          <a:lstStyle/>
          <a:p>
            <a:pPr algn="l"/>
            <a:r>
              <a:rPr sz="1875" b="1" i="0">
                <a:solidFill>
                  <a:srgbClr val="1BA97C"/>
                </a:solidFill>
                <a:latin typeface="Exo 2 Bold"/>
                <a:ea typeface="Exo 2 Bold"/>
                <a:cs typeface="Exo 2 Bold"/>
              </a:rPr>
              <a:t>Live</a:t>
            </a:r>
          </a:p>
        </p:txBody>
      </p:sp>
      <p:sp>
        <p:nvSpPr>
          <p:cNvPr id="170" name="Rectangle 169"/>
          <p:cNvSpPr/>
          <p:nvPr/>
        </p:nvSpPr>
        <p:spPr>
          <a:xfrm>
            <a:off x="841248" y="3822191"/>
            <a:ext cx="352044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024128" y="3822191"/>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LinkedIn, Saudi</a:t>
            </a:r>
          </a:p>
        </p:txBody>
      </p:sp>
      <p:sp>
        <p:nvSpPr>
          <p:cNvPr id="172" name="Rectangle 171"/>
          <p:cNvSpPr/>
          <p:nvPr/>
        </p:nvSpPr>
        <p:spPr>
          <a:xfrm>
            <a:off x="4361688" y="3822191"/>
            <a:ext cx="2103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544568" y="3822191"/>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9,000</a:t>
            </a:r>
          </a:p>
        </p:txBody>
      </p:sp>
      <p:sp>
        <p:nvSpPr>
          <p:cNvPr id="174" name="Rectangle 173"/>
          <p:cNvSpPr/>
          <p:nvPr/>
        </p:nvSpPr>
        <p:spPr>
          <a:xfrm>
            <a:off x="6464808" y="3822191"/>
            <a:ext cx="46177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647688" y="3822191"/>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Lead generation forms</a:t>
            </a:r>
          </a:p>
        </p:txBody>
      </p:sp>
      <p:sp>
        <p:nvSpPr>
          <p:cNvPr id="176" name="Rectangle 175"/>
          <p:cNvSpPr/>
          <p:nvPr/>
        </p:nvSpPr>
        <p:spPr>
          <a:xfrm>
            <a:off x="11082528" y="3822191"/>
            <a:ext cx="3246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1265408" y="3822191"/>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6 Oct to 31 Dec</a:t>
            </a:r>
          </a:p>
        </p:txBody>
      </p:sp>
      <p:sp>
        <p:nvSpPr>
          <p:cNvPr id="178" name="Rectangle 177"/>
          <p:cNvSpPr/>
          <p:nvPr/>
        </p:nvSpPr>
        <p:spPr>
          <a:xfrm>
            <a:off x="14328648" y="3822191"/>
            <a:ext cx="3127248"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4511528" y="3822191"/>
            <a:ext cx="2852928" cy="795528"/>
          </a:xfrm>
          <a:prstGeom prst="rect">
            <a:avLst/>
          </a:prstGeom>
          <a:noFill/>
        </p:spPr>
        <p:txBody>
          <a:bodyPr wrap="square" anchor="ctr" lIns="0" rIns="0" tIns="0" bIns="0">
            <a:spAutoFit/>
          </a:bodyPr>
          <a:lstStyle/>
          <a:p>
            <a:pPr algn="l"/>
            <a:r>
              <a:rPr sz="1875" b="1" i="0">
                <a:solidFill>
                  <a:srgbClr val="1BA97C"/>
                </a:solidFill>
                <a:latin typeface="Exo 2 Bold"/>
                <a:ea typeface="Exo 2 Bold"/>
                <a:cs typeface="Exo 2 Bold"/>
              </a:rPr>
              <a:t>Live</a:t>
            </a:r>
          </a:p>
        </p:txBody>
      </p:sp>
      <p:sp>
        <p:nvSpPr>
          <p:cNvPr id="180" name="Rectangle 179"/>
          <p:cNvSpPr/>
          <p:nvPr/>
        </p:nvSpPr>
        <p:spPr>
          <a:xfrm>
            <a:off x="841248" y="4617720"/>
            <a:ext cx="352044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024128" y="4617720"/>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Google Search, rest of GCC</a:t>
            </a:r>
          </a:p>
        </p:txBody>
      </p:sp>
      <p:sp>
        <p:nvSpPr>
          <p:cNvPr id="182" name="Rectangle 181"/>
          <p:cNvSpPr/>
          <p:nvPr/>
        </p:nvSpPr>
        <p:spPr>
          <a:xfrm>
            <a:off x="4361688" y="4617720"/>
            <a:ext cx="2103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4544568" y="4617720"/>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6,000</a:t>
            </a:r>
          </a:p>
        </p:txBody>
      </p:sp>
      <p:sp>
        <p:nvSpPr>
          <p:cNvPr id="184" name="Rectangle 183"/>
          <p:cNvSpPr/>
          <p:nvPr/>
        </p:nvSpPr>
        <p:spPr>
          <a:xfrm>
            <a:off x="6464808" y="4617720"/>
            <a:ext cx="46177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6647688" y="4617720"/>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Qatar, UAE, Kuwait, Bahrain, Oman</a:t>
            </a:r>
          </a:p>
        </p:txBody>
      </p:sp>
      <p:sp>
        <p:nvSpPr>
          <p:cNvPr id="186" name="Rectangle 185"/>
          <p:cNvSpPr/>
          <p:nvPr/>
        </p:nvSpPr>
        <p:spPr>
          <a:xfrm>
            <a:off x="11082528" y="4617720"/>
            <a:ext cx="3246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11265408" y="4617720"/>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Early Oct to 31 Dec</a:t>
            </a:r>
          </a:p>
        </p:txBody>
      </p:sp>
      <p:sp>
        <p:nvSpPr>
          <p:cNvPr id="188" name="Rectangle 187"/>
          <p:cNvSpPr/>
          <p:nvPr/>
        </p:nvSpPr>
        <p:spPr>
          <a:xfrm>
            <a:off x="14328648" y="4617720"/>
            <a:ext cx="3127248"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4511528" y="4617720"/>
            <a:ext cx="2852928"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To be live</a:t>
            </a:r>
          </a:p>
        </p:txBody>
      </p:sp>
      <p:sp>
        <p:nvSpPr>
          <p:cNvPr id="190" name="Rectangle 189"/>
          <p:cNvSpPr/>
          <p:nvPr/>
        </p:nvSpPr>
        <p:spPr>
          <a:xfrm>
            <a:off x="841248" y="5413248"/>
            <a:ext cx="352044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024128" y="5413248"/>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LinkedIn, rest of GCC</a:t>
            </a:r>
          </a:p>
        </p:txBody>
      </p:sp>
      <p:sp>
        <p:nvSpPr>
          <p:cNvPr id="192" name="Rectangle 191"/>
          <p:cNvSpPr/>
          <p:nvPr/>
        </p:nvSpPr>
        <p:spPr>
          <a:xfrm>
            <a:off x="4361688" y="5413248"/>
            <a:ext cx="2103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4544568" y="5413248"/>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6,000</a:t>
            </a:r>
          </a:p>
        </p:txBody>
      </p:sp>
      <p:sp>
        <p:nvSpPr>
          <p:cNvPr id="194" name="Rectangle 193"/>
          <p:cNvSpPr/>
          <p:nvPr/>
        </p:nvSpPr>
        <p:spPr>
          <a:xfrm>
            <a:off x="6464808" y="5413248"/>
            <a:ext cx="46177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6647688" y="5413248"/>
            <a:ext cx="4343400" cy="795528"/>
          </a:xfrm>
          <a:prstGeom prst="rect">
            <a:avLst/>
          </a:prstGeom>
          <a:noFill/>
        </p:spPr>
        <p:txBody>
          <a:bodyPr wrap="square" anchor="ctr" lIns="0" rIns="0" tIns="0" bIns="0">
            <a:spAutoFit/>
          </a:bodyPr>
          <a:lstStyle/>
          <a:p>
            <a:pPr algn="l"/>
            <a:r>
              <a:rPr sz="1875" b="0" i="0">
                <a:solidFill>
                  <a:srgbClr val="1F2A44"/>
                </a:solidFill>
                <a:latin typeface="Exo 2"/>
                <a:ea typeface="Exo 2"/>
                <a:cs typeface="Exo 2"/>
              </a:rPr>
              <a:t>Qatar, UAE, Kuwait, Bahrain, Oman</a:t>
            </a:r>
          </a:p>
        </p:txBody>
      </p:sp>
      <p:sp>
        <p:nvSpPr>
          <p:cNvPr id="196" name="Rectangle 195"/>
          <p:cNvSpPr/>
          <p:nvPr/>
        </p:nvSpPr>
        <p:spPr>
          <a:xfrm>
            <a:off x="11082528" y="5413248"/>
            <a:ext cx="3246120"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265408" y="5413248"/>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Early Oct to 31 Dec</a:t>
            </a:r>
          </a:p>
        </p:txBody>
      </p:sp>
      <p:sp>
        <p:nvSpPr>
          <p:cNvPr id="198" name="Rectangle 197"/>
          <p:cNvSpPr/>
          <p:nvPr/>
        </p:nvSpPr>
        <p:spPr>
          <a:xfrm>
            <a:off x="14328648" y="5413248"/>
            <a:ext cx="3127248" cy="795528"/>
          </a:xfrm>
          <a:prstGeom prst="rect">
            <a:avLst/>
          </a:prstGeom>
          <a:solidFill>
            <a:srgbClr val="EEF1F8"/>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TextBox 198"/>
          <p:cNvSpPr txBox="1"/>
          <p:nvPr/>
        </p:nvSpPr>
        <p:spPr>
          <a:xfrm>
            <a:off x="14511528" y="5413248"/>
            <a:ext cx="2852928"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To be live</a:t>
            </a:r>
          </a:p>
        </p:txBody>
      </p:sp>
      <p:sp>
        <p:nvSpPr>
          <p:cNvPr id="200" name="Rectangle 199"/>
          <p:cNvSpPr/>
          <p:nvPr/>
        </p:nvSpPr>
        <p:spPr>
          <a:xfrm>
            <a:off x="841248" y="6208776"/>
            <a:ext cx="352044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1024128" y="6208776"/>
            <a:ext cx="3246120" cy="795528"/>
          </a:xfrm>
          <a:prstGeom prst="rect">
            <a:avLst/>
          </a:prstGeom>
          <a:noFill/>
        </p:spPr>
        <p:txBody>
          <a:bodyPr wrap="square" anchor="ctr" lIns="0" rIns="0" tIns="0" bIns="0">
            <a:spAutoFit/>
          </a:bodyPr>
          <a:lstStyle/>
          <a:p>
            <a:pPr algn="l"/>
            <a:r>
              <a:rPr sz="1875" b="1" i="0">
                <a:solidFill>
                  <a:srgbClr val="132257"/>
                </a:solidFill>
                <a:latin typeface="Exo 2 Bold"/>
                <a:ea typeface="Exo 2 Bold"/>
                <a:cs typeface="Exo 2 Bold"/>
              </a:rPr>
              <a:t>Total</a:t>
            </a:r>
          </a:p>
        </p:txBody>
      </p:sp>
      <p:sp>
        <p:nvSpPr>
          <p:cNvPr id="202" name="Rectangle 201"/>
          <p:cNvSpPr/>
          <p:nvPr/>
        </p:nvSpPr>
        <p:spPr>
          <a:xfrm>
            <a:off x="4361688" y="6208776"/>
            <a:ext cx="2103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TextBox 202"/>
          <p:cNvSpPr txBox="1"/>
          <p:nvPr/>
        </p:nvSpPr>
        <p:spPr>
          <a:xfrm>
            <a:off x="4544568" y="6208776"/>
            <a:ext cx="1828799"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USD 30,000</a:t>
            </a:r>
          </a:p>
        </p:txBody>
      </p:sp>
      <p:sp>
        <p:nvSpPr>
          <p:cNvPr id="204" name="Rectangle 203"/>
          <p:cNvSpPr/>
          <p:nvPr/>
        </p:nvSpPr>
        <p:spPr>
          <a:xfrm>
            <a:off x="6464808" y="6208776"/>
            <a:ext cx="46177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6647688" y="6208776"/>
            <a:ext cx="4343400"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
            </a:r>
          </a:p>
        </p:txBody>
      </p:sp>
      <p:sp>
        <p:nvSpPr>
          <p:cNvPr id="206" name="Rectangle 205"/>
          <p:cNvSpPr/>
          <p:nvPr/>
        </p:nvSpPr>
        <p:spPr>
          <a:xfrm>
            <a:off x="11082528" y="6208776"/>
            <a:ext cx="3246120"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1265408" y="6208776"/>
            <a:ext cx="2971800" cy="795528"/>
          </a:xfrm>
          <a:prstGeom prst="rect">
            <a:avLst/>
          </a:prstGeom>
          <a:noFill/>
        </p:spPr>
        <p:txBody>
          <a:bodyPr wrap="square" anchor="ctr" lIns="0" rIns="0" tIns="0" bIns="0">
            <a:spAutoFit/>
          </a:bodyPr>
          <a:lstStyle/>
          <a:p>
            <a:pPr algn="l"/>
            <a:r>
              <a:rPr sz="1950" b="1" i="0">
                <a:solidFill>
                  <a:srgbClr val="132257"/>
                </a:solidFill>
                <a:latin typeface="Exo 2 Bold"/>
                <a:ea typeface="Exo 2 Bold"/>
                <a:cs typeface="Exo 2 Bold"/>
              </a:rPr>
              <a:t>22 Sep to 31 Dec</a:t>
            </a:r>
          </a:p>
        </p:txBody>
      </p:sp>
      <p:sp>
        <p:nvSpPr>
          <p:cNvPr id="208" name="Rectangle 207"/>
          <p:cNvSpPr/>
          <p:nvPr/>
        </p:nvSpPr>
        <p:spPr>
          <a:xfrm>
            <a:off x="14328648" y="6208776"/>
            <a:ext cx="3127248" cy="795528"/>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14511528" y="6208776"/>
            <a:ext cx="2852928" cy="795528"/>
          </a:xfrm>
          <a:prstGeom prst="rect">
            <a:avLst/>
          </a:prstGeom>
          <a:noFill/>
        </p:spPr>
        <p:txBody>
          <a:bodyPr wrap="square" anchor="ctr" lIns="0" rIns="0" tIns="0" bIns="0">
            <a:spAutoFit/>
          </a:bodyPr>
          <a:lstStyle/>
          <a:p>
            <a:pPr algn="l"/>
            <a:r>
              <a:rPr sz="1875" b="1" i="0">
                <a:solidFill>
                  <a:srgbClr val="1F2A44"/>
                </a:solidFill>
                <a:latin typeface="Exo 2 Bold"/>
                <a:ea typeface="Exo 2 Bold"/>
                <a:cs typeface="Exo 2 Bold"/>
              </a:rPr>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OUTDOOR AND ELEVATOR MEDIA, SAUDI ARABIA</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Outdoor options from Nadher Media: 91 screens in Saudi Arabia</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5</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6" id="16"/>
          <p:cNvGrpSpPr/>
          <p:nvPr/>
        </p:nvGrpSpPr>
        <p:grpSpPr>
          <a:xfrm rot="0">
            <a:off x="850392" y="2400300"/>
            <a:ext cx="6995160" cy="3936492"/>
            <a:chOff x="0" y="0"/>
            <a:chExt cx="9326880" cy="5248656"/>
          </a:xfrm>
        </p:grpSpPr>
        <p:sp>
          <p:nvSpPr>
            <p:cNvPr name="Freeform 17" id="17" descr="/home/user/HatemIsa_202508993_IT9002_NLP_Project/emyaa-ceo-deck/working/charts/vb_elevator_gallery.png"/>
            <p:cNvSpPr/>
            <p:nvPr/>
          </p:nvSpPr>
          <p:spPr>
            <a:xfrm flipH="false" flipV="false" rot="0">
              <a:off x="0" y="0"/>
              <a:ext cx="9326880" cy="5248656"/>
            </a:xfrm>
            <a:custGeom>
              <a:avLst/>
              <a:gdLst/>
              <a:ahLst/>
              <a:cxnLst/>
              <a:rect r="r" b="b" t="t" l="l"/>
              <a:pathLst>
                <a:path h="5248656" w="9326880">
                  <a:moveTo>
                    <a:pt x="0" y="0"/>
                  </a:moveTo>
                  <a:lnTo>
                    <a:pt x="9326880" y="0"/>
                  </a:lnTo>
                  <a:lnTo>
                    <a:pt x="9326880" y="5248656"/>
                  </a:lnTo>
                  <a:lnTo>
                    <a:pt x="0" y="5248656"/>
                  </a:lnTo>
                  <a:lnTo>
                    <a:pt x="0" y="0"/>
                  </a:lnTo>
                  <a:close/>
                </a:path>
              </a:pathLst>
            </a:custGeom>
            <a:blipFill>
              <a:blip r:embed="rId7"/>
              <a:stretch>
                <a:fillRect l="-21" t="0" r="-21" b="0"/>
              </a:stretch>
            </a:blipFill>
          </p:spPr>
        </p:sp>
      </p:grpSp>
      <p:grpSp>
        <p:nvGrpSpPr>
          <p:cNvPr name="Group 18" id="18"/>
          <p:cNvGrpSpPr/>
          <p:nvPr/>
        </p:nvGrpSpPr>
        <p:grpSpPr>
          <a:xfrm rot="0">
            <a:off x="8092440" y="2400300"/>
            <a:ext cx="3360420" cy="3936492"/>
            <a:chOff x="0" y="0"/>
            <a:chExt cx="4480560" cy="5248656"/>
          </a:xfrm>
        </p:grpSpPr>
        <p:sp>
          <p:nvSpPr>
            <p:cNvPr name="Freeform 19" id="19" descr="/home/user/HatemIsa_202508993_IT9002_NLP_Project/emyaa-ceo-deck/working/charts/vb_zone_mockup.png"/>
            <p:cNvSpPr/>
            <p:nvPr/>
          </p:nvSpPr>
          <p:spPr>
            <a:xfrm flipH="false" flipV="false" rot="0">
              <a:off x="0" y="0"/>
              <a:ext cx="4480560" cy="5248656"/>
            </a:xfrm>
            <a:custGeom>
              <a:avLst/>
              <a:gdLst/>
              <a:ahLst/>
              <a:cxnLst/>
              <a:rect r="r" b="b" t="t" l="l"/>
              <a:pathLst>
                <a:path h="5248656" w="4480560">
                  <a:moveTo>
                    <a:pt x="0" y="0"/>
                  </a:moveTo>
                  <a:lnTo>
                    <a:pt x="4480560" y="0"/>
                  </a:lnTo>
                  <a:lnTo>
                    <a:pt x="4480560" y="5248656"/>
                  </a:lnTo>
                  <a:lnTo>
                    <a:pt x="0" y="5248656"/>
                  </a:lnTo>
                  <a:lnTo>
                    <a:pt x="0" y="0"/>
                  </a:lnTo>
                  <a:close/>
                </a:path>
              </a:pathLst>
            </a:custGeom>
            <a:blipFill>
              <a:blip r:embed="rId8"/>
              <a:stretch>
                <a:fillRect l="0" t="-33" r="0" b="-33"/>
              </a:stretch>
            </a:blipFill>
          </p:spPr>
        </p:sp>
      </p:grpSp>
      <p:sp>
        <p:nvSpPr>
          <p:cNvPr name="TextBox 20" id="20"/>
          <p:cNvSpPr txBox="true"/>
          <p:nvPr/>
        </p:nvSpPr>
        <p:spPr>
          <a:xfrm rot="0">
            <a:off x="850392" y="6382131"/>
            <a:ext cx="10698480" cy="393573"/>
          </a:xfrm>
          <a:prstGeom prst="rect">
            <a:avLst/>
          </a:prstGeom>
        </p:spPr>
        <p:txBody>
          <a:bodyPr anchor="t" rtlCol="false" tIns="0" lIns="0" bIns="0" rIns="0">
            <a:spAutoFit/>
          </a:bodyPr>
          <a:lstStyle/>
          <a:p>
            <a:pPr algn="l">
              <a:lnSpc>
                <a:spcPts val="1709"/>
              </a:lnSpc>
            </a:pPr>
            <a:r>
              <a:rPr lang="en-US" sz="1425" i="true">
                <a:solidFill>
                  <a:srgbClr val="6B7590"/>
                </a:solidFill>
                <a:latin typeface="Exo 2 Italics"/>
                <a:ea typeface="Exo 2 Italics"/>
                <a:cs typeface="Exo 2 Italics"/>
                <a:sym typeface="Exo 2 Italics"/>
              </a:rPr>
              <a:t>Elevator screens, 83 towers  |  The Zone LED screens, 8 faces (eMYAA mock-up)</a:t>
            </a:r>
          </a:p>
        </p:txBody>
      </p:sp>
      <p:grpSp>
        <p:nvGrpSpPr>
          <p:cNvPr name="Group 21" id="21"/>
          <p:cNvGrpSpPr/>
          <p:nvPr/>
        </p:nvGrpSpPr>
        <p:grpSpPr>
          <a:xfrm rot="0">
            <a:off x="840867" y="6848475"/>
            <a:ext cx="2076450" cy="636270"/>
            <a:chOff x="0" y="0"/>
            <a:chExt cx="2768600" cy="848360"/>
          </a:xfrm>
        </p:grpSpPr>
        <p:sp>
          <p:nvSpPr>
            <p:cNvPr name="Freeform 22" id="22"/>
            <p:cNvSpPr/>
            <p:nvPr/>
          </p:nvSpPr>
          <p:spPr>
            <a:xfrm flipH="false" flipV="false" rot="0">
              <a:off x="0" y="0"/>
              <a:ext cx="2768600" cy="848360"/>
            </a:xfrm>
            <a:custGeom>
              <a:avLst/>
              <a:gdLst/>
              <a:ahLst/>
              <a:cxnLst/>
              <a:rect r="r" b="b" t="t" l="l"/>
              <a:pathLst>
                <a:path h="848360" w="2768600">
                  <a:moveTo>
                    <a:pt x="0" y="0"/>
                  </a:moveTo>
                  <a:lnTo>
                    <a:pt x="2768600" y="0"/>
                  </a:lnTo>
                  <a:lnTo>
                    <a:pt x="2768600" y="848360"/>
                  </a:lnTo>
                  <a:lnTo>
                    <a:pt x="0" y="848360"/>
                  </a:lnTo>
                  <a:close/>
                </a:path>
              </a:pathLst>
            </a:custGeom>
            <a:solidFill>
              <a:srgbClr val="132257"/>
            </a:solidFill>
            <a:ln w="19050" cap="sq">
              <a:solidFill>
                <a:srgbClr val="132257"/>
              </a:solidFill>
              <a:prstDash val="solid"/>
              <a:miter/>
            </a:ln>
          </p:spPr>
        </p:sp>
      </p:grpSp>
      <p:grpSp>
        <p:nvGrpSpPr>
          <p:cNvPr name="Group 23" id="23"/>
          <p:cNvGrpSpPr/>
          <p:nvPr/>
        </p:nvGrpSpPr>
        <p:grpSpPr>
          <a:xfrm rot="0">
            <a:off x="1014984" y="6858000"/>
            <a:ext cx="1755648" cy="617220"/>
            <a:chOff x="0" y="0"/>
            <a:chExt cx="2340864" cy="822960"/>
          </a:xfrm>
        </p:grpSpPr>
        <p:sp>
          <p:nvSpPr>
            <p:cNvPr name="Freeform 24" id="24"/>
            <p:cNvSpPr/>
            <p:nvPr/>
          </p:nvSpPr>
          <p:spPr>
            <a:xfrm flipH="false" flipV="false" rot="0">
              <a:off x="0" y="0"/>
              <a:ext cx="2340864" cy="822960"/>
            </a:xfrm>
            <a:custGeom>
              <a:avLst/>
              <a:gdLst/>
              <a:ahLst/>
              <a:cxnLst/>
              <a:rect r="r" b="b" t="t" l="l"/>
              <a:pathLst>
                <a:path h="822960" w="2340864">
                  <a:moveTo>
                    <a:pt x="0" y="0"/>
                  </a:moveTo>
                  <a:lnTo>
                    <a:pt x="2340864" y="0"/>
                  </a:lnTo>
                  <a:lnTo>
                    <a:pt x="2340864" y="822960"/>
                  </a:lnTo>
                  <a:lnTo>
                    <a:pt x="0" y="822960"/>
                  </a:lnTo>
                  <a:close/>
                </a:path>
              </a:pathLst>
            </a:custGeom>
            <a:blipFill>
              <a:blip r:embed="rId4">
                <a:alphaModFix amt="0"/>
              </a:blip>
              <a:stretch>
                <a:fillRect l="0" t="-5424" r="0" b="-5424"/>
              </a:stretch>
            </a:blipFill>
          </p:spPr>
        </p:sp>
        <p:sp>
          <p:nvSpPr>
            <p:cNvPr name="TextBox 25" id="25"/>
            <p:cNvSpPr txBox="true"/>
            <p:nvPr/>
          </p:nvSpPr>
          <p:spPr>
            <a:xfrm>
              <a:off x="0" y="0"/>
              <a:ext cx="234086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Duration</a:t>
              </a:r>
            </a:p>
          </p:txBody>
        </p:sp>
      </p:grpSp>
      <p:grpSp>
        <p:nvGrpSpPr>
          <p:cNvPr name="Group 26" id="26"/>
          <p:cNvGrpSpPr/>
          <p:nvPr/>
        </p:nvGrpSpPr>
        <p:grpSpPr>
          <a:xfrm rot="0">
            <a:off x="2898267" y="6848475"/>
            <a:ext cx="3036570" cy="636270"/>
            <a:chOff x="0" y="0"/>
            <a:chExt cx="4048760" cy="848360"/>
          </a:xfrm>
        </p:grpSpPr>
        <p:sp>
          <p:nvSpPr>
            <p:cNvPr name="Freeform 27" id="27"/>
            <p:cNvSpPr/>
            <p:nvPr/>
          </p:nvSpPr>
          <p:spPr>
            <a:xfrm flipH="false" flipV="false" rot="0">
              <a:off x="0" y="0"/>
              <a:ext cx="4048760" cy="848360"/>
            </a:xfrm>
            <a:custGeom>
              <a:avLst/>
              <a:gdLst/>
              <a:ahLst/>
              <a:cxnLst/>
              <a:rect r="r" b="b" t="t" l="l"/>
              <a:pathLst>
                <a:path h="848360" w="4048760">
                  <a:moveTo>
                    <a:pt x="0" y="0"/>
                  </a:moveTo>
                  <a:lnTo>
                    <a:pt x="4048760" y="0"/>
                  </a:lnTo>
                  <a:lnTo>
                    <a:pt x="4048760" y="848360"/>
                  </a:lnTo>
                  <a:lnTo>
                    <a:pt x="0" y="848360"/>
                  </a:lnTo>
                  <a:close/>
                </a:path>
              </a:pathLst>
            </a:custGeom>
            <a:solidFill>
              <a:srgbClr val="132257"/>
            </a:solidFill>
            <a:ln w="19050" cap="sq">
              <a:solidFill>
                <a:srgbClr val="132257"/>
              </a:solidFill>
              <a:prstDash val="solid"/>
              <a:miter/>
            </a:ln>
          </p:spPr>
        </p:sp>
      </p:grpSp>
      <p:grpSp>
        <p:nvGrpSpPr>
          <p:cNvPr name="Group 28" id="28"/>
          <p:cNvGrpSpPr/>
          <p:nvPr/>
        </p:nvGrpSpPr>
        <p:grpSpPr>
          <a:xfrm rot="0">
            <a:off x="3072384" y="6858000"/>
            <a:ext cx="2715768" cy="617220"/>
            <a:chOff x="0" y="0"/>
            <a:chExt cx="3621024" cy="822960"/>
          </a:xfrm>
        </p:grpSpPr>
        <p:sp>
          <p:nvSpPr>
            <p:cNvPr name="Freeform 29" id="29"/>
            <p:cNvSpPr/>
            <p:nvPr/>
          </p:nvSpPr>
          <p:spPr>
            <a:xfrm flipH="false" flipV="false" rot="0">
              <a:off x="0" y="0"/>
              <a:ext cx="3621024" cy="822960"/>
            </a:xfrm>
            <a:custGeom>
              <a:avLst/>
              <a:gdLst/>
              <a:ahLst/>
              <a:cxnLst/>
              <a:rect r="r" b="b" t="t" l="l"/>
              <a:pathLst>
                <a:path h="822960" w="3621024">
                  <a:moveTo>
                    <a:pt x="0" y="0"/>
                  </a:moveTo>
                  <a:lnTo>
                    <a:pt x="3621024" y="0"/>
                  </a:lnTo>
                  <a:lnTo>
                    <a:pt x="3621024" y="822960"/>
                  </a:lnTo>
                  <a:lnTo>
                    <a:pt x="0" y="822960"/>
                  </a:lnTo>
                  <a:close/>
                </a:path>
              </a:pathLst>
            </a:custGeom>
            <a:blipFill>
              <a:blip r:embed="rId4">
                <a:alphaModFix amt="0"/>
              </a:blip>
              <a:stretch>
                <a:fillRect l="0" t="-35734" r="0" b="-35734"/>
              </a:stretch>
            </a:blipFill>
          </p:spPr>
        </p:sp>
        <p:sp>
          <p:nvSpPr>
            <p:cNvPr name="TextBox 30" id="30"/>
            <p:cNvSpPr txBox="true"/>
            <p:nvPr/>
          </p:nvSpPr>
          <p:spPr>
            <a:xfrm>
              <a:off x="0" y="0"/>
              <a:ext cx="362102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Original rate</a:t>
              </a:r>
            </a:p>
          </p:txBody>
        </p:sp>
      </p:grpSp>
      <p:grpSp>
        <p:nvGrpSpPr>
          <p:cNvPr name="Group 31" id="31"/>
          <p:cNvGrpSpPr/>
          <p:nvPr/>
        </p:nvGrpSpPr>
        <p:grpSpPr>
          <a:xfrm rot="0">
            <a:off x="5915787" y="6848475"/>
            <a:ext cx="3036570" cy="636270"/>
            <a:chOff x="0" y="0"/>
            <a:chExt cx="4048760" cy="848360"/>
          </a:xfrm>
        </p:grpSpPr>
        <p:sp>
          <p:nvSpPr>
            <p:cNvPr name="Freeform 32" id="32"/>
            <p:cNvSpPr/>
            <p:nvPr/>
          </p:nvSpPr>
          <p:spPr>
            <a:xfrm flipH="false" flipV="false" rot="0">
              <a:off x="0" y="0"/>
              <a:ext cx="4048760" cy="848360"/>
            </a:xfrm>
            <a:custGeom>
              <a:avLst/>
              <a:gdLst/>
              <a:ahLst/>
              <a:cxnLst/>
              <a:rect r="r" b="b" t="t" l="l"/>
              <a:pathLst>
                <a:path h="848360" w="4048760">
                  <a:moveTo>
                    <a:pt x="0" y="0"/>
                  </a:moveTo>
                  <a:lnTo>
                    <a:pt x="4048760" y="0"/>
                  </a:lnTo>
                  <a:lnTo>
                    <a:pt x="4048760" y="848360"/>
                  </a:lnTo>
                  <a:lnTo>
                    <a:pt x="0" y="848360"/>
                  </a:lnTo>
                  <a:close/>
                </a:path>
              </a:pathLst>
            </a:custGeom>
            <a:solidFill>
              <a:srgbClr val="132257"/>
            </a:solidFill>
            <a:ln w="19050" cap="sq">
              <a:solidFill>
                <a:srgbClr val="132257"/>
              </a:solidFill>
              <a:prstDash val="solid"/>
              <a:miter/>
            </a:ln>
          </p:spPr>
        </p:sp>
      </p:grpSp>
      <p:grpSp>
        <p:nvGrpSpPr>
          <p:cNvPr name="Group 33" id="33"/>
          <p:cNvGrpSpPr/>
          <p:nvPr/>
        </p:nvGrpSpPr>
        <p:grpSpPr>
          <a:xfrm rot="0">
            <a:off x="6089904" y="6858000"/>
            <a:ext cx="2715768" cy="617220"/>
            <a:chOff x="0" y="0"/>
            <a:chExt cx="3621024" cy="822960"/>
          </a:xfrm>
        </p:grpSpPr>
        <p:sp>
          <p:nvSpPr>
            <p:cNvPr name="Freeform 34" id="34"/>
            <p:cNvSpPr/>
            <p:nvPr/>
          </p:nvSpPr>
          <p:spPr>
            <a:xfrm flipH="false" flipV="false" rot="0">
              <a:off x="0" y="0"/>
              <a:ext cx="3621024" cy="822960"/>
            </a:xfrm>
            <a:custGeom>
              <a:avLst/>
              <a:gdLst/>
              <a:ahLst/>
              <a:cxnLst/>
              <a:rect r="r" b="b" t="t" l="l"/>
              <a:pathLst>
                <a:path h="822960" w="3621024">
                  <a:moveTo>
                    <a:pt x="0" y="0"/>
                  </a:moveTo>
                  <a:lnTo>
                    <a:pt x="3621024" y="0"/>
                  </a:lnTo>
                  <a:lnTo>
                    <a:pt x="3621024" y="822960"/>
                  </a:lnTo>
                  <a:lnTo>
                    <a:pt x="0" y="822960"/>
                  </a:lnTo>
                  <a:close/>
                </a:path>
              </a:pathLst>
            </a:custGeom>
            <a:blipFill>
              <a:blip r:embed="rId4">
                <a:alphaModFix amt="0"/>
              </a:blip>
              <a:stretch>
                <a:fillRect l="0" t="-35734" r="0" b="-35734"/>
              </a:stretch>
            </a:blipFill>
          </p:spPr>
        </p:sp>
        <p:sp>
          <p:nvSpPr>
            <p:cNvPr name="TextBox 35" id="35"/>
            <p:cNvSpPr txBox="true"/>
            <p:nvPr/>
          </p:nvSpPr>
          <p:spPr>
            <a:xfrm>
              <a:off x="0" y="0"/>
              <a:ext cx="362102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eMYAA rate</a:t>
              </a:r>
            </a:p>
          </p:txBody>
        </p:sp>
      </p:grpSp>
      <p:grpSp>
        <p:nvGrpSpPr>
          <p:cNvPr name="Group 36" id="36"/>
          <p:cNvGrpSpPr/>
          <p:nvPr/>
        </p:nvGrpSpPr>
        <p:grpSpPr>
          <a:xfrm rot="0">
            <a:off x="8933307" y="6848475"/>
            <a:ext cx="2625090" cy="636270"/>
            <a:chOff x="0" y="0"/>
            <a:chExt cx="3500120" cy="848360"/>
          </a:xfrm>
        </p:grpSpPr>
        <p:sp>
          <p:nvSpPr>
            <p:cNvPr name="Freeform 37" id="37"/>
            <p:cNvSpPr/>
            <p:nvPr/>
          </p:nvSpPr>
          <p:spPr>
            <a:xfrm flipH="false" flipV="false" rot="0">
              <a:off x="0" y="0"/>
              <a:ext cx="3500120" cy="848360"/>
            </a:xfrm>
            <a:custGeom>
              <a:avLst/>
              <a:gdLst/>
              <a:ahLst/>
              <a:cxnLst/>
              <a:rect r="r" b="b" t="t" l="l"/>
              <a:pathLst>
                <a:path h="848360" w="3500120">
                  <a:moveTo>
                    <a:pt x="0" y="0"/>
                  </a:moveTo>
                  <a:lnTo>
                    <a:pt x="3500120" y="0"/>
                  </a:lnTo>
                  <a:lnTo>
                    <a:pt x="3500120" y="848360"/>
                  </a:lnTo>
                  <a:lnTo>
                    <a:pt x="0" y="848360"/>
                  </a:lnTo>
                  <a:close/>
                </a:path>
              </a:pathLst>
            </a:custGeom>
            <a:solidFill>
              <a:srgbClr val="132257"/>
            </a:solidFill>
            <a:ln w="19050" cap="sq">
              <a:solidFill>
                <a:srgbClr val="132257"/>
              </a:solidFill>
              <a:prstDash val="solid"/>
              <a:miter/>
            </a:ln>
          </p:spPr>
        </p:sp>
      </p:grpSp>
      <p:grpSp>
        <p:nvGrpSpPr>
          <p:cNvPr name="Group 38" id="38"/>
          <p:cNvGrpSpPr/>
          <p:nvPr/>
        </p:nvGrpSpPr>
        <p:grpSpPr>
          <a:xfrm rot="0">
            <a:off x="9107424" y="6858000"/>
            <a:ext cx="2304288" cy="617220"/>
            <a:chOff x="0" y="0"/>
            <a:chExt cx="3072384" cy="822960"/>
          </a:xfrm>
        </p:grpSpPr>
        <p:sp>
          <p:nvSpPr>
            <p:cNvPr name="Freeform 39" id="39"/>
            <p:cNvSpPr/>
            <p:nvPr/>
          </p:nvSpPr>
          <p:spPr>
            <a:xfrm flipH="false" flipV="false" rot="0">
              <a:off x="0" y="0"/>
              <a:ext cx="3072384" cy="822960"/>
            </a:xfrm>
            <a:custGeom>
              <a:avLst/>
              <a:gdLst/>
              <a:ahLst/>
              <a:cxnLst/>
              <a:rect r="r" b="b" t="t" l="l"/>
              <a:pathLst>
                <a:path h="822960" w="3072384">
                  <a:moveTo>
                    <a:pt x="0" y="0"/>
                  </a:moveTo>
                  <a:lnTo>
                    <a:pt x="3072384" y="0"/>
                  </a:lnTo>
                  <a:lnTo>
                    <a:pt x="3072384" y="822960"/>
                  </a:lnTo>
                  <a:lnTo>
                    <a:pt x="0" y="822960"/>
                  </a:lnTo>
                  <a:close/>
                </a:path>
              </a:pathLst>
            </a:custGeom>
            <a:blipFill>
              <a:blip r:embed="rId4">
                <a:alphaModFix amt="0"/>
              </a:blip>
              <a:stretch>
                <a:fillRect l="0" t="-22744" r="0" b="-22744"/>
              </a:stretch>
            </a:blipFill>
          </p:spPr>
        </p:sp>
        <p:sp>
          <p:nvSpPr>
            <p:cNvPr name="TextBox 40" id="40"/>
            <p:cNvSpPr txBox="true"/>
            <p:nvPr/>
          </p:nvSpPr>
          <p:spPr>
            <a:xfrm>
              <a:off x="0" y="0"/>
              <a:ext cx="3072384" cy="822960"/>
            </a:xfrm>
            <a:prstGeom prst="rect">
              <a:avLst/>
            </a:prstGeom>
          </p:spPr>
          <p:txBody>
            <a:bodyPr anchor="ctr" rtlCol="false" tIns="0" lIns="0" bIns="0" rIns="0"/>
            <a:lstStyle/>
            <a:p>
              <a:pPr algn="l">
                <a:lnSpc>
                  <a:spcPts val="1889"/>
                </a:lnSpc>
              </a:pPr>
              <a:r>
                <a:rPr lang="en-US" sz="1575" b="true">
                  <a:solidFill>
                    <a:srgbClr val="FFFFFF"/>
                  </a:solidFill>
                  <a:latin typeface="Exo 2 Bold"/>
                  <a:ea typeface="Exo 2 Bold"/>
                  <a:cs typeface="Exo 2 Bold"/>
                  <a:sym typeface="Exo 2 Bold"/>
                </a:rPr>
                <a:t>Ad plays</a:t>
              </a:r>
            </a:p>
          </p:txBody>
        </p:sp>
      </p:grpSp>
      <p:grpSp>
        <p:nvGrpSpPr>
          <p:cNvPr name="Group 41" id="41"/>
          <p:cNvGrpSpPr/>
          <p:nvPr/>
        </p:nvGrpSpPr>
        <p:grpSpPr>
          <a:xfrm rot="0">
            <a:off x="843248" y="7468076"/>
            <a:ext cx="2071688" cy="535496"/>
            <a:chOff x="0" y="0"/>
            <a:chExt cx="2762250" cy="713994"/>
          </a:xfrm>
        </p:grpSpPr>
        <p:sp>
          <p:nvSpPr>
            <p:cNvPr name="Freeform 42" id="4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FFFFFF"/>
            </a:solidFill>
            <a:ln w="14288" cap="sq">
              <a:solidFill>
                <a:srgbClr val="D9DFEA"/>
              </a:solidFill>
              <a:prstDash val="solid"/>
              <a:miter/>
            </a:ln>
          </p:spPr>
        </p:sp>
      </p:grpSp>
      <p:grpSp>
        <p:nvGrpSpPr>
          <p:cNvPr name="Group 43" id="43"/>
          <p:cNvGrpSpPr/>
          <p:nvPr/>
        </p:nvGrpSpPr>
        <p:grpSpPr>
          <a:xfrm rot="0">
            <a:off x="1014984" y="7475220"/>
            <a:ext cx="1755648" cy="521208"/>
            <a:chOff x="0" y="0"/>
            <a:chExt cx="2340864" cy="694944"/>
          </a:xfrm>
        </p:grpSpPr>
        <p:sp>
          <p:nvSpPr>
            <p:cNvPr name="Freeform 44" id="4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45" id="4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2 weeks</a:t>
              </a:r>
            </a:p>
          </p:txBody>
        </p:sp>
      </p:grpSp>
      <p:grpSp>
        <p:nvGrpSpPr>
          <p:cNvPr name="Group 46" id="46"/>
          <p:cNvGrpSpPr/>
          <p:nvPr/>
        </p:nvGrpSpPr>
        <p:grpSpPr>
          <a:xfrm rot="0">
            <a:off x="2900648" y="7468076"/>
            <a:ext cx="3031808" cy="535496"/>
            <a:chOff x="0" y="0"/>
            <a:chExt cx="4042410" cy="713994"/>
          </a:xfrm>
        </p:grpSpPr>
        <p:sp>
          <p:nvSpPr>
            <p:cNvPr name="Freeform 47" id="4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48" id="48"/>
          <p:cNvGrpSpPr/>
          <p:nvPr/>
        </p:nvGrpSpPr>
        <p:grpSpPr>
          <a:xfrm rot="0">
            <a:off x="3072384" y="7475220"/>
            <a:ext cx="2715768" cy="521208"/>
            <a:chOff x="0" y="0"/>
            <a:chExt cx="3621024" cy="694944"/>
          </a:xfrm>
        </p:grpSpPr>
        <p:sp>
          <p:nvSpPr>
            <p:cNvPr name="Freeform 49" id="4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50" id="5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a:t>
              </a:r>
            </a:p>
          </p:txBody>
        </p:sp>
      </p:grpSp>
      <p:grpSp>
        <p:nvGrpSpPr>
          <p:cNvPr name="Group 51" id="51"/>
          <p:cNvGrpSpPr/>
          <p:nvPr/>
        </p:nvGrpSpPr>
        <p:grpSpPr>
          <a:xfrm rot="0">
            <a:off x="5918168" y="7468076"/>
            <a:ext cx="3031808" cy="535496"/>
            <a:chOff x="0" y="0"/>
            <a:chExt cx="4042410" cy="713994"/>
          </a:xfrm>
        </p:grpSpPr>
        <p:sp>
          <p:nvSpPr>
            <p:cNvPr name="Freeform 52" id="5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53" id="53"/>
          <p:cNvGrpSpPr/>
          <p:nvPr/>
        </p:nvGrpSpPr>
        <p:grpSpPr>
          <a:xfrm rot="0">
            <a:off x="6089904" y="7475220"/>
            <a:ext cx="2715768" cy="521208"/>
            <a:chOff x="0" y="0"/>
            <a:chExt cx="3621024" cy="694944"/>
          </a:xfrm>
        </p:grpSpPr>
        <p:sp>
          <p:nvSpPr>
            <p:cNvPr name="Freeform 54" id="5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55" id="5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1F2A44"/>
                  </a:solidFill>
                  <a:latin typeface="Exo 2 Bold"/>
                  <a:ea typeface="Exo 2 Bold"/>
                  <a:cs typeface="Exo 2 Bold"/>
                  <a:sym typeface="Exo 2 Bold"/>
                </a:rPr>
                <a:t>USD 16,000</a:t>
              </a:r>
            </a:p>
          </p:txBody>
        </p:sp>
      </p:grpSp>
      <p:grpSp>
        <p:nvGrpSpPr>
          <p:cNvPr name="Group 56" id="56"/>
          <p:cNvGrpSpPr/>
          <p:nvPr/>
        </p:nvGrpSpPr>
        <p:grpSpPr>
          <a:xfrm rot="0">
            <a:off x="8935688" y="7468076"/>
            <a:ext cx="2620328" cy="535496"/>
            <a:chOff x="0" y="0"/>
            <a:chExt cx="3493770" cy="713994"/>
          </a:xfrm>
        </p:grpSpPr>
        <p:sp>
          <p:nvSpPr>
            <p:cNvPr name="Freeform 57" id="5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FFFFFF"/>
            </a:solidFill>
            <a:ln w="14288" cap="sq">
              <a:solidFill>
                <a:srgbClr val="D9DFEA"/>
              </a:solidFill>
              <a:prstDash val="solid"/>
              <a:miter/>
            </a:ln>
          </p:spPr>
        </p:sp>
      </p:grpSp>
      <p:grpSp>
        <p:nvGrpSpPr>
          <p:cNvPr name="Group 58" id="58"/>
          <p:cNvGrpSpPr/>
          <p:nvPr/>
        </p:nvGrpSpPr>
        <p:grpSpPr>
          <a:xfrm rot="0">
            <a:off x="9107424" y="7475220"/>
            <a:ext cx="2304288" cy="521208"/>
            <a:chOff x="0" y="0"/>
            <a:chExt cx="3072384" cy="694944"/>
          </a:xfrm>
        </p:grpSpPr>
        <p:sp>
          <p:nvSpPr>
            <p:cNvPr name="Freeform 59" id="5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60" id="6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0.84M</a:t>
              </a:r>
            </a:p>
          </p:txBody>
        </p:sp>
      </p:grpSp>
      <p:grpSp>
        <p:nvGrpSpPr>
          <p:cNvPr name="Group 61" id="61"/>
          <p:cNvGrpSpPr/>
          <p:nvPr/>
        </p:nvGrpSpPr>
        <p:grpSpPr>
          <a:xfrm rot="0">
            <a:off x="843248" y="7989284"/>
            <a:ext cx="2071688" cy="535496"/>
            <a:chOff x="0" y="0"/>
            <a:chExt cx="2762250" cy="713994"/>
          </a:xfrm>
        </p:grpSpPr>
        <p:sp>
          <p:nvSpPr>
            <p:cNvPr name="Freeform 62" id="6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EEF1F8"/>
            </a:solidFill>
            <a:ln w="14288" cap="sq">
              <a:solidFill>
                <a:srgbClr val="D9DFEA"/>
              </a:solidFill>
              <a:prstDash val="solid"/>
              <a:miter/>
            </a:ln>
          </p:spPr>
        </p:sp>
      </p:grpSp>
      <p:grpSp>
        <p:nvGrpSpPr>
          <p:cNvPr name="Group 63" id="63"/>
          <p:cNvGrpSpPr/>
          <p:nvPr/>
        </p:nvGrpSpPr>
        <p:grpSpPr>
          <a:xfrm rot="0">
            <a:off x="1014984" y="7996428"/>
            <a:ext cx="1755648" cy="521208"/>
            <a:chOff x="0" y="0"/>
            <a:chExt cx="2340864" cy="694944"/>
          </a:xfrm>
        </p:grpSpPr>
        <p:sp>
          <p:nvSpPr>
            <p:cNvPr name="Freeform 64" id="6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65" id="6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4 weeks</a:t>
              </a:r>
            </a:p>
          </p:txBody>
        </p:sp>
      </p:grpSp>
      <p:grpSp>
        <p:nvGrpSpPr>
          <p:cNvPr name="Group 66" id="66"/>
          <p:cNvGrpSpPr/>
          <p:nvPr/>
        </p:nvGrpSpPr>
        <p:grpSpPr>
          <a:xfrm rot="0">
            <a:off x="2900648" y="7989284"/>
            <a:ext cx="3031808" cy="535496"/>
            <a:chOff x="0" y="0"/>
            <a:chExt cx="4042410" cy="713994"/>
          </a:xfrm>
        </p:grpSpPr>
        <p:sp>
          <p:nvSpPr>
            <p:cNvPr name="Freeform 67" id="6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68" id="68"/>
          <p:cNvGrpSpPr/>
          <p:nvPr/>
        </p:nvGrpSpPr>
        <p:grpSpPr>
          <a:xfrm rot="0">
            <a:off x="3072384" y="7996428"/>
            <a:ext cx="2715768" cy="521208"/>
            <a:chOff x="0" y="0"/>
            <a:chExt cx="3621024" cy="694944"/>
          </a:xfrm>
        </p:grpSpPr>
        <p:sp>
          <p:nvSpPr>
            <p:cNvPr name="Freeform 69" id="6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70" id="7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USD 32,000</a:t>
              </a:r>
            </a:p>
          </p:txBody>
        </p:sp>
      </p:grpSp>
      <p:grpSp>
        <p:nvGrpSpPr>
          <p:cNvPr name="Group 71" id="71"/>
          <p:cNvGrpSpPr/>
          <p:nvPr/>
        </p:nvGrpSpPr>
        <p:grpSpPr>
          <a:xfrm rot="0">
            <a:off x="5918168" y="7989284"/>
            <a:ext cx="3031808" cy="535496"/>
            <a:chOff x="0" y="0"/>
            <a:chExt cx="4042410" cy="713994"/>
          </a:xfrm>
        </p:grpSpPr>
        <p:sp>
          <p:nvSpPr>
            <p:cNvPr name="Freeform 72" id="7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73" id="73"/>
          <p:cNvGrpSpPr/>
          <p:nvPr/>
        </p:nvGrpSpPr>
        <p:grpSpPr>
          <a:xfrm rot="0">
            <a:off x="6089904" y="7996428"/>
            <a:ext cx="2715768" cy="521208"/>
            <a:chOff x="0" y="0"/>
            <a:chExt cx="3621024" cy="694944"/>
          </a:xfrm>
        </p:grpSpPr>
        <p:sp>
          <p:nvSpPr>
            <p:cNvPr name="Freeform 74" id="7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75" id="7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1F2A44"/>
                  </a:solidFill>
                  <a:latin typeface="Exo 2 Bold"/>
                  <a:ea typeface="Exo 2 Bold"/>
                  <a:cs typeface="Exo 2 Bold"/>
                  <a:sym typeface="Exo 2 Bold"/>
                </a:rPr>
                <a:t>USD 27,200</a:t>
              </a:r>
            </a:p>
          </p:txBody>
        </p:sp>
      </p:grpSp>
      <p:grpSp>
        <p:nvGrpSpPr>
          <p:cNvPr name="Group 76" id="76"/>
          <p:cNvGrpSpPr/>
          <p:nvPr/>
        </p:nvGrpSpPr>
        <p:grpSpPr>
          <a:xfrm rot="0">
            <a:off x="8935688" y="7989284"/>
            <a:ext cx="2620328" cy="535496"/>
            <a:chOff x="0" y="0"/>
            <a:chExt cx="3493770" cy="713994"/>
          </a:xfrm>
        </p:grpSpPr>
        <p:sp>
          <p:nvSpPr>
            <p:cNvPr name="Freeform 77" id="7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EEF1F8"/>
            </a:solidFill>
            <a:ln w="14288" cap="sq">
              <a:solidFill>
                <a:srgbClr val="D9DFEA"/>
              </a:solidFill>
              <a:prstDash val="solid"/>
              <a:miter/>
            </a:ln>
          </p:spPr>
        </p:sp>
      </p:grpSp>
      <p:grpSp>
        <p:nvGrpSpPr>
          <p:cNvPr name="Group 78" id="78"/>
          <p:cNvGrpSpPr/>
          <p:nvPr/>
        </p:nvGrpSpPr>
        <p:grpSpPr>
          <a:xfrm rot="0">
            <a:off x="9107424" y="7996428"/>
            <a:ext cx="2304288" cy="521208"/>
            <a:chOff x="0" y="0"/>
            <a:chExt cx="3072384" cy="694944"/>
          </a:xfrm>
        </p:grpSpPr>
        <p:sp>
          <p:nvSpPr>
            <p:cNvPr name="Freeform 79" id="7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80" id="8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1.67M</a:t>
              </a:r>
            </a:p>
          </p:txBody>
        </p:sp>
      </p:grpSp>
      <p:grpSp>
        <p:nvGrpSpPr>
          <p:cNvPr name="Group 81" id="81"/>
          <p:cNvGrpSpPr/>
          <p:nvPr/>
        </p:nvGrpSpPr>
        <p:grpSpPr>
          <a:xfrm rot="0">
            <a:off x="843248" y="8510492"/>
            <a:ext cx="2071688" cy="535496"/>
            <a:chOff x="0" y="0"/>
            <a:chExt cx="2762250" cy="713994"/>
          </a:xfrm>
        </p:grpSpPr>
        <p:sp>
          <p:nvSpPr>
            <p:cNvPr name="Freeform 82" id="8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FFFFFF"/>
            </a:solidFill>
            <a:ln w="14288" cap="sq">
              <a:solidFill>
                <a:srgbClr val="D9DFEA"/>
              </a:solidFill>
              <a:prstDash val="solid"/>
              <a:miter/>
            </a:ln>
          </p:spPr>
        </p:sp>
      </p:grpSp>
      <p:grpSp>
        <p:nvGrpSpPr>
          <p:cNvPr name="Group 83" id="83"/>
          <p:cNvGrpSpPr/>
          <p:nvPr/>
        </p:nvGrpSpPr>
        <p:grpSpPr>
          <a:xfrm rot="0">
            <a:off x="1014984" y="8517636"/>
            <a:ext cx="1755648" cy="521208"/>
            <a:chOff x="0" y="0"/>
            <a:chExt cx="2340864" cy="694944"/>
          </a:xfrm>
        </p:grpSpPr>
        <p:sp>
          <p:nvSpPr>
            <p:cNvPr name="Freeform 84" id="8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85" id="8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8 weeks</a:t>
              </a:r>
            </a:p>
          </p:txBody>
        </p:sp>
      </p:grpSp>
      <p:grpSp>
        <p:nvGrpSpPr>
          <p:cNvPr name="Group 86" id="86"/>
          <p:cNvGrpSpPr/>
          <p:nvPr/>
        </p:nvGrpSpPr>
        <p:grpSpPr>
          <a:xfrm rot="0">
            <a:off x="2900648" y="8510492"/>
            <a:ext cx="3031808" cy="535496"/>
            <a:chOff x="0" y="0"/>
            <a:chExt cx="4042410" cy="713994"/>
          </a:xfrm>
        </p:grpSpPr>
        <p:sp>
          <p:nvSpPr>
            <p:cNvPr name="Freeform 87" id="8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88" id="88"/>
          <p:cNvGrpSpPr/>
          <p:nvPr/>
        </p:nvGrpSpPr>
        <p:grpSpPr>
          <a:xfrm rot="0">
            <a:off x="3072384" y="8517636"/>
            <a:ext cx="2715768" cy="521208"/>
            <a:chOff x="0" y="0"/>
            <a:chExt cx="3621024" cy="694944"/>
          </a:xfrm>
        </p:grpSpPr>
        <p:sp>
          <p:nvSpPr>
            <p:cNvPr name="Freeform 89" id="8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90" id="9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USD 64,000</a:t>
              </a:r>
            </a:p>
          </p:txBody>
        </p:sp>
      </p:grpSp>
      <p:grpSp>
        <p:nvGrpSpPr>
          <p:cNvPr name="Group 91" id="91"/>
          <p:cNvGrpSpPr/>
          <p:nvPr/>
        </p:nvGrpSpPr>
        <p:grpSpPr>
          <a:xfrm rot="0">
            <a:off x="5918168" y="8510492"/>
            <a:ext cx="3031808" cy="535496"/>
            <a:chOff x="0" y="0"/>
            <a:chExt cx="4042410" cy="713994"/>
          </a:xfrm>
        </p:grpSpPr>
        <p:sp>
          <p:nvSpPr>
            <p:cNvPr name="Freeform 92" id="9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FFFFFF"/>
            </a:solidFill>
            <a:ln w="14288" cap="sq">
              <a:solidFill>
                <a:srgbClr val="D9DFEA"/>
              </a:solidFill>
              <a:prstDash val="solid"/>
              <a:miter/>
            </a:ln>
          </p:spPr>
        </p:sp>
      </p:grpSp>
      <p:grpSp>
        <p:nvGrpSpPr>
          <p:cNvPr name="Group 93" id="93"/>
          <p:cNvGrpSpPr/>
          <p:nvPr/>
        </p:nvGrpSpPr>
        <p:grpSpPr>
          <a:xfrm rot="0">
            <a:off x="6089904" y="8517636"/>
            <a:ext cx="2715768" cy="521208"/>
            <a:chOff x="0" y="0"/>
            <a:chExt cx="3621024" cy="694944"/>
          </a:xfrm>
        </p:grpSpPr>
        <p:sp>
          <p:nvSpPr>
            <p:cNvPr name="Freeform 94" id="9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95" id="9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9A7B1F"/>
                  </a:solidFill>
                  <a:latin typeface="Exo 2 Bold"/>
                  <a:ea typeface="Exo 2 Bold"/>
                  <a:cs typeface="Exo 2 Bold"/>
                  <a:sym typeface="Exo 2 Bold"/>
                </a:rPr>
                <a:t>USD 44,800</a:t>
              </a:r>
            </a:p>
          </p:txBody>
        </p:sp>
      </p:grpSp>
      <p:grpSp>
        <p:nvGrpSpPr>
          <p:cNvPr name="Group 96" id="96"/>
          <p:cNvGrpSpPr/>
          <p:nvPr/>
        </p:nvGrpSpPr>
        <p:grpSpPr>
          <a:xfrm rot="0">
            <a:off x="8935688" y="8510492"/>
            <a:ext cx="2620328" cy="535496"/>
            <a:chOff x="0" y="0"/>
            <a:chExt cx="3493770" cy="713994"/>
          </a:xfrm>
        </p:grpSpPr>
        <p:sp>
          <p:nvSpPr>
            <p:cNvPr name="Freeform 97" id="9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FFFFFF"/>
            </a:solidFill>
            <a:ln w="14288" cap="sq">
              <a:solidFill>
                <a:srgbClr val="D9DFEA"/>
              </a:solidFill>
              <a:prstDash val="solid"/>
              <a:miter/>
            </a:ln>
          </p:spPr>
        </p:sp>
      </p:grpSp>
      <p:grpSp>
        <p:nvGrpSpPr>
          <p:cNvPr name="Group 98" id="98"/>
          <p:cNvGrpSpPr/>
          <p:nvPr/>
        </p:nvGrpSpPr>
        <p:grpSpPr>
          <a:xfrm rot="0">
            <a:off x="9107424" y="8517636"/>
            <a:ext cx="2304288" cy="521208"/>
            <a:chOff x="0" y="0"/>
            <a:chExt cx="3072384" cy="694944"/>
          </a:xfrm>
        </p:grpSpPr>
        <p:sp>
          <p:nvSpPr>
            <p:cNvPr name="Freeform 99" id="9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100" id="10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3.35M</a:t>
              </a:r>
            </a:p>
          </p:txBody>
        </p:sp>
      </p:grpSp>
      <p:grpSp>
        <p:nvGrpSpPr>
          <p:cNvPr name="Group 101" id="101"/>
          <p:cNvGrpSpPr/>
          <p:nvPr/>
        </p:nvGrpSpPr>
        <p:grpSpPr>
          <a:xfrm rot="0">
            <a:off x="843248" y="9031700"/>
            <a:ext cx="2071688" cy="535496"/>
            <a:chOff x="0" y="0"/>
            <a:chExt cx="2762250" cy="713994"/>
          </a:xfrm>
        </p:grpSpPr>
        <p:sp>
          <p:nvSpPr>
            <p:cNvPr name="Freeform 102" id="102"/>
            <p:cNvSpPr/>
            <p:nvPr/>
          </p:nvSpPr>
          <p:spPr>
            <a:xfrm flipH="false" flipV="false" rot="0">
              <a:off x="0" y="0"/>
              <a:ext cx="2762250" cy="713994"/>
            </a:xfrm>
            <a:custGeom>
              <a:avLst/>
              <a:gdLst/>
              <a:ahLst/>
              <a:cxnLst/>
              <a:rect r="r" b="b" t="t" l="l"/>
              <a:pathLst>
                <a:path h="713994" w="2762250">
                  <a:moveTo>
                    <a:pt x="0" y="0"/>
                  </a:moveTo>
                  <a:lnTo>
                    <a:pt x="2762250" y="0"/>
                  </a:lnTo>
                  <a:lnTo>
                    <a:pt x="2762250" y="713994"/>
                  </a:lnTo>
                  <a:lnTo>
                    <a:pt x="0" y="713994"/>
                  </a:lnTo>
                  <a:close/>
                </a:path>
              </a:pathLst>
            </a:custGeom>
            <a:solidFill>
              <a:srgbClr val="EEF1F8"/>
            </a:solidFill>
            <a:ln w="14288" cap="sq">
              <a:solidFill>
                <a:srgbClr val="D9DFEA"/>
              </a:solidFill>
              <a:prstDash val="solid"/>
              <a:miter/>
            </a:ln>
          </p:spPr>
        </p:sp>
      </p:grpSp>
      <p:grpSp>
        <p:nvGrpSpPr>
          <p:cNvPr name="Group 103" id="103"/>
          <p:cNvGrpSpPr/>
          <p:nvPr/>
        </p:nvGrpSpPr>
        <p:grpSpPr>
          <a:xfrm rot="0">
            <a:off x="1014984" y="9038844"/>
            <a:ext cx="1755648" cy="521208"/>
            <a:chOff x="0" y="0"/>
            <a:chExt cx="2340864" cy="694944"/>
          </a:xfrm>
        </p:grpSpPr>
        <p:sp>
          <p:nvSpPr>
            <p:cNvPr name="Freeform 104" id="104"/>
            <p:cNvSpPr/>
            <p:nvPr/>
          </p:nvSpPr>
          <p:spPr>
            <a:xfrm flipH="false" flipV="false" rot="0">
              <a:off x="0" y="0"/>
              <a:ext cx="2340864" cy="694944"/>
            </a:xfrm>
            <a:custGeom>
              <a:avLst/>
              <a:gdLst/>
              <a:ahLst/>
              <a:cxnLst/>
              <a:rect r="r" b="b" t="t" l="l"/>
              <a:pathLst>
                <a:path h="694944" w="2340864">
                  <a:moveTo>
                    <a:pt x="0" y="0"/>
                  </a:moveTo>
                  <a:lnTo>
                    <a:pt x="2340864" y="0"/>
                  </a:lnTo>
                  <a:lnTo>
                    <a:pt x="2340864" y="694944"/>
                  </a:lnTo>
                  <a:lnTo>
                    <a:pt x="0" y="694944"/>
                  </a:lnTo>
                  <a:close/>
                </a:path>
              </a:pathLst>
            </a:custGeom>
            <a:blipFill>
              <a:blip r:embed="rId4">
                <a:alphaModFix amt="0"/>
              </a:blip>
              <a:stretch>
                <a:fillRect l="0" t="-15633" r="0" b="-15633"/>
              </a:stretch>
            </a:blipFill>
          </p:spPr>
        </p:sp>
        <p:sp>
          <p:nvSpPr>
            <p:cNvPr name="TextBox 105" id="105"/>
            <p:cNvSpPr txBox="true"/>
            <p:nvPr/>
          </p:nvSpPr>
          <p:spPr>
            <a:xfrm>
              <a:off x="0" y="0"/>
              <a:ext cx="2340864" cy="694944"/>
            </a:xfrm>
            <a:prstGeom prst="rect">
              <a:avLst/>
            </a:prstGeom>
          </p:spPr>
          <p:txBody>
            <a:bodyPr anchor="ctr" rtlCol="false" tIns="0" lIns="0" bIns="0" rIns="0"/>
            <a:lstStyle/>
            <a:p>
              <a:pPr algn="l">
                <a:lnSpc>
                  <a:spcPts val="1980"/>
                </a:lnSpc>
              </a:pPr>
              <a:r>
                <a:rPr lang="en-US" sz="1650" b="true">
                  <a:solidFill>
                    <a:srgbClr val="132257"/>
                  </a:solidFill>
                  <a:latin typeface="Exo 2 Bold"/>
                  <a:ea typeface="Exo 2 Bold"/>
                  <a:cs typeface="Exo 2 Bold"/>
                  <a:sym typeface="Exo 2 Bold"/>
                </a:rPr>
                <a:t>12 weeks</a:t>
              </a:r>
            </a:p>
          </p:txBody>
        </p:sp>
      </p:grpSp>
      <p:grpSp>
        <p:nvGrpSpPr>
          <p:cNvPr name="Group 106" id="106"/>
          <p:cNvGrpSpPr/>
          <p:nvPr/>
        </p:nvGrpSpPr>
        <p:grpSpPr>
          <a:xfrm rot="0">
            <a:off x="2900648" y="9031700"/>
            <a:ext cx="3031808" cy="535496"/>
            <a:chOff x="0" y="0"/>
            <a:chExt cx="4042410" cy="713994"/>
          </a:xfrm>
        </p:grpSpPr>
        <p:sp>
          <p:nvSpPr>
            <p:cNvPr name="Freeform 107" id="107"/>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108" id="108"/>
          <p:cNvGrpSpPr/>
          <p:nvPr/>
        </p:nvGrpSpPr>
        <p:grpSpPr>
          <a:xfrm rot="0">
            <a:off x="3072384" y="9038844"/>
            <a:ext cx="2715768" cy="521208"/>
            <a:chOff x="0" y="0"/>
            <a:chExt cx="3621024" cy="694944"/>
          </a:xfrm>
        </p:grpSpPr>
        <p:sp>
          <p:nvSpPr>
            <p:cNvPr name="Freeform 109" id="109"/>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110" id="110"/>
            <p:cNvSpPr txBox="true"/>
            <p:nvPr/>
          </p:nvSpPr>
          <p:spPr>
            <a:xfrm>
              <a:off x="0" y="0"/>
              <a:ext cx="362102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USD 96,000</a:t>
              </a:r>
            </a:p>
          </p:txBody>
        </p:sp>
      </p:grpSp>
      <p:grpSp>
        <p:nvGrpSpPr>
          <p:cNvPr name="Group 111" id="111"/>
          <p:cNvGrpSpPr/>
          <p:nvPr/>
        </p:nvGrpSpPr>
        <p:grpSpPr>
          <a:xfrm rot="0">
            <a:off x="5918168" y="9031700"/>
            <a:ext cx="3031808" cy="535496"/>
            <a:chOff x="0" y="0"/>
            <a:chExt cx="4042410" cy="713994"/>
          </a:xfrm>
        </p:grpSpPr>
        <p:sp>
          <p:nvSpPr>
            <p:cNvPr name="Freeform 112" id="112"/>
            <p:cNvSpPr/>
            <p:nvPr/>
          </p:nvSpPr>
          <p:spPr>
            <a:xfrm flipH="false" flipV="false" rot="0">
              <a:off x="0" y="0"/>
              <a:ext cx="4042410" cy="713994"/>
            </a:xfrm>
            <a:custGeom>
              <a:avLst/>
              <a:gdLst/>
              <a:ahLst/>
              <a:cxnLst/>
              <a:rect r="r" b="b" t="t" l="l"/>
              <a:pathLst>
                <a:path h="713994" w="4042410">
                  <a:moveTo>
                    <a:pt x="0" y="0"/>
                  </a:moveTo>
                  <a:lnTo>
                    <a:pt x="4042410" y="0"/>
                  </a:lnTo>
                  <a:lnTo>
                    <a:pt x="4042410" y="713994"/>
                  </a:lnTo>
                  <a:lnTo>
                    <a:pt x="0" y="713994"/>
                  </a:lnTo>
                  <a:close/>
                </a:path>
              </a:pathLst>
            </a:custGeom>
            <a:solidFill>
              <a:srgbClr val="EEF1F8"/>
            </a:solidFill>
            <a:ln w="14288" cap="sq">
              <a:solidFill>
                <a:srgbClr val="D9DFEA"/>
              </a:solidFill>
              <a:prstDash val="solid"/>
              <a:miter/>
            </a:ln>
          </p:spPr>
        </p:sp>
      </p:grpSp>
      <p:grpSp>
        <p:nvGrpSpPr>
          <p:cNvPr name="Group 113" id="113"/>
          <p:cNvGrpSpPr/>
          <p:nvPr/>
        </p:nvGrpSpPr>
        <p:grpSpPr>
          <a:xfrm rot="0">
            <a:off x="6089904" y="9038844"/>
            <a:ext cx="2715768" cy="521208"/>
            <a:chOff x="0" y="0"/>
            <a:chExt cx="3621024" cy="694944"/>
          </a:xfrm>
        </p:grpSpPr>
        <p:sp>
          <p:nvSpPr>
            <p:cNvPr name="Freeform 114" id="114"/>
            <p:cNvSpPr/>
            <p:nvPr/>
          </p:nvSpPr>
          <p:spPr>
            <a:xfrm flipH="false" flipV="false" rot="0">
              <a:off x="0" y="0"/>
              <a:ext cx="3621024" cy="694944"/>
            </a:xfrm>
            <a:custGeom>
              <a:avLst/>
              <a:gdLst/>
              <a:ahLst/>
              <a:cxnLst/>
              <a:rect r="r" b="b" t="t" l="l"/>
              <a:pathLst>
                <a:path h="694944" w="3621024">
                  <a:moveTo>
                    <a:pt x="0" y="0"/>
                  </a:moveTo>
                  <a:lnTo>
                    <a:pt x="3621024" y="0"/>
                  </a:lnTo>
                  <a:lnTo>
                    <a:pt x="3621024" y="694944"/>
                  </a:lnTo>
                  <a:lnTo>
                    <a:pt x="0" y="694944"/>
                  </a:lnTo>
                  <a:close/>
                </a:path>
              </a:pathLst>
            </a:custGeom>
            <a:blipFill>
              <a:blip r:embed="rId4">
                <a:alphaModFix amt="0"/>
              </a:blip>
              <a:stretch>
                <a:fillRect l="0" t="-51527" r="0" b="-51527"/>
              </a:stretch>
            </a:blipFill>
          </p:spPr>
        </p:sp>
        <p:sp>
          <p:nvSpPr>
            <p:cNvPr name="TextBox 115" id="115"/>
            <p:cNvSpPr txBox="true"/>
            <p:nvPr/>
          </p:nvSpPr>
          <p:spPr>
            <a:xfrm>
              <a:off x="0" y="0"/>
              <a:ext cx="3621024" cy="694944"/>
            </a:xfrm>
            <a:prstGeom prst="rect">
              <a:avLst/>
            </a:prstGeom>
          </p:spPr>
          <p:txBody>
            <a:bodyPr anchor="ctr" rtlCol="false" tIns="0" lIns="0" bIns="0" rIns="0"/>
            <a:lstStyle/>
            <a:p>
              <a:pPr algn="l">
                <a:lnSpc>
                  <a:spcPts val="1980"/>
                </a:lnSpc>
              </a:pPr>
              <a:r>
                <a:rPr lang="en-US" sz="1650" b="true">
                  <a:solidFill>
                    <a:srgbClr val="1F2A44"/>
                  </a:solidFill>
                  <a:latin typeface="Exo 2 Bold"/>
                  <a:ea typeface="Exo 2 Bold"/>
                  <a:cs typeface="Exo 2 Bold"/>
                  <a:sym typeface="Exo 2 Bold"/>
                </a:rPr>
                <a:t>USD 67,200</a:t>
              </a:r>
            </a:p>
          </p:txBody>
        </p:sp>
      </p:grpSp>
      <p:grpSp>
        <p:nvGrpSpPr>
          <p:cNvPr name="Group 116" id="116"/>
          <p:cNvGrpSpPr/>
          <p:nvPr/>
        </p:nvGrpSpPr>
        <p:grpSpPr>
          <a:xfrm rot="0">
            <a:off x="8935688" y="9031700"/>
            <a:ext cx="2620328" cy="535496"/>
            <a:chOff x="0" y="0"/>
            <a:chExt cx="3493770" cy="713994"/>
          </a:xfrm>
        </p:grpSpPr>
        <p:sp>
          <p:nvSpPr>
            <p:cNvPr name="Freeform 117" id="117"/>
            <p:cNvSpPr/>
            <p:nvPr/>
          </p:nvSpPr>
          <p:spPr>
            <a:xfrm flipH="false" flipV="false" rot="0">
              <a:off x="0" y="0"/>
              <a:ext cx="3493770" cy="713994"/>
            </a:xfrm>
            <a:custGeom>
              <a:avLst/>
              <a:gdLst/>
              <a:ahLst/>
              <a:cxnLst/>
              <a:rect r="r" b="b" t="t" l="l"/>
              <a:pathLst>
                <a:path h="713994" w="3493770">
                  <a:moveTo>
                    <a:pt x="0" y="0"/>
                  </a:moveTo>
                  <a:lnTo>
                    <a:pt x="3493770" y="0"/>
                  </a:lnTo>
                  <a:lnTo>
                    <a:pt x="3493770" y="713994"/>
                  </a:lnTo>
                  <a:lnTo>
                    <a:pt x="0" y="713994"/>
                  </a:lnTo>
                  <a:close/>
                </a:path>
              </a:pathLst>
            </a:custGeom>
            <a:solidFill>
              <a:srgbClr val="EEF1F8"/>
            </a:solidFill>
            <a:ln w="14288" cap="sq">
              <a:solidFill>
                <a:srgbClr val="D9DFEA"/>
              </a:solidFill>
              <a:prstDash val="solid"/>
              <a:miter/>
            </a:ln>
          </p:spPr>
        </p:sp>
      </p:grpSp>
      <p:grpSp>
        <p:nvGrpSpPr>
          <p:cNvPr name="Group 118" id="118"/>
          <p:cNvGrpSpPr/>
          <p:nvPr/>
        </p:nvGrpSpPr>
        <p:grpSpPr>
          <a:xfrm rot="0">
            <a:off x="9107424" y="9038844"/>
            <a:ext cx="2304288" cy="521208"/>
            <a:chOff x="0" y="0"/>
            <a:chExt cx="3072384" cy="694944"/>
          </a:xfrm>
        </p:grpSpPr>
        <p:sp>
          <p:nvSpPr>
            <p:cNvPr name="Freeform 119" id="119"/>
            <p:cNvSpPr/>
            <p:nvPr/>
          </p:nvSpPr>
          <p:spPr>
            <a:xfrm flipH="false" flipV="false" rot="0">
              <a:off x="0" y="0"/>
              <a:ext cx="3072384" cy="694944"/>
            </a:xfrm>
            <a:custGeom>
              <a:avLst/>
              <a:gdLst/>
              <a:ahLst/>
              <a:cxnLst/>
              <a:rect r="r" b="b" t="t" l="l"/>
              <a:pathLst>
                <a:path h="694944" w="3072384">
                  <a:moveTo>
                    <a:pt x="0" y="0"/>
                  </a:moveTo>
                  <a:lnTo>
                    <a:pt x="3072384" y="0"/>
                  </a:lnTo>
                  <a:lnTo>
                    <a:pt x="3072384" y="694944"/>
                  </a:lnTo>
                  <a:lnTo>
                    <a:pt x="0" y="694944"/>
                  </a:lnTo>
                  <a:close/>
                </a:path>
              </a:pathLst>
            </a:custGeom>
            <a:blipFill>
              <a:blip r:embed="rId4">
                <a:alphaModFix amt="0"/>
              </a:blip>
              <a:stretch>
                <a:fillRect l="0" t="-36144" r="0" b="-36144"/>
              </a:stretch>
            </a:blipFill>
          </p:spPr>
        </p:sp>
        <p:sp>
          <p:nvSpPr>
            <p:cNvPr name="TextBox 120" id="120"/>
            <p:cNvSpPr txBox="true"/>
            <p:nvPr/>
          </p:nvSpPr>
          <p:spPr>
            <a:xfrm>
              <a:off x="0" y="0"/>
              <a:ext cx="3072384" cy="694944"/>
            </a:xfrm>
            <a:prstGeom prst="rect">
              <a:avLst/>
            </a:prstGeom>
          </p:spPr>
          <p:txBody>
            <a:bodyPr anchor="ctr" rtlCol="false" tIns="0" lIns="0" bIns="0" rIns="0"/>
            <a:lstStyle/>
            <a:p>
              <a:pPr algn="l">
                <a:lnSpc>
                  <a:spcPts val="1980"/>
                </a:lnSpc>
              </a:pPr>
              <a:r>
                <a:rPr lang="en-US" sz="1650">
                  <a:solidFill>
                    <a:srgbClr val="1F2A44"/>
                  </a:solidFill>
                  <a:latin typeface="Exo 2"/>
                  <a:ea typeface="Exo 2"/>
                  <a:cs typeface="Exo 2"/>
                  <a:sym typeface="Exo 2"/>
                </a:rPr>
                <a:t>5.02M</a:t>
              </a:r>
            </a:p>
          </p:txBody>
        </p:sp>
      </p:grpSp>
      <p:grpSp>
        <p:nvGrpSpPr>
          <p:cNvPr name="Group 121" id="121"/>
          <p:cNvGrpSpPr/>
          <p:nvPr/>
        </p:nvGrpSpPr>
        <p:grpSpPr>
          <a:xfrm rot="0">
            <a:off x="11788616" y="2393156"/>
            <a:ext cx="5665280" cy="3943636"/>
            <a:chOff x="0" y="0"/>
            <a:chExt cx="7553706" cy="5258181"/>
          </a:xfrm>
        </p:grpSpPr>
        <p:sp>
          <p:nvSpPr>
            <p:cNvPr name="Freeform 122" id="122"/>
            <p:cNvSpPr/>
            <p:nvPr/>
          </p:nvSpPr>
          <p:spPr>
            <a:xfrm flipH="false" flipV="false" rot="0">
              <a:off x="0" y="0"/>
              <a:ext cx="7553706" cy="5258181"/>
            </a:xfrm>
            <a:custGeom>
              <a:avLst/>
              <a:gdLst/>
              <a:ahLst/>
              <a:cxnLst/>
              <a:rect r="r" b="b" t="t" l="l"/>
              <a:pathLst>
                <a:path h="5258181" w="7553706">
                  <a:moveTo>
                    <a:pt x="0" y="0"/>
                  </a:moveTo>
                  <a:lnTo>
                    <a:pt x="7553706" y="0"/>
                  </a:lnTo>
                  <a:lnTo>
                    <a:pt x="7553706" y="5258181"/>
                  </a:lnTo>
                  <a:lnTo>
                    <a:pt x="0" y="5258181"/>
                  </a:lnTo>
                  <a:close/>
                </a:path>
              </a:pathLst>
            </a:custGeom>
            <a:solidFill>
              <a:srgbClr val="FFFFFF"/>
            </a:solidFill>
            <a:ln w="14288" cap="sq">
              <a:solidFill>
                <a:srgbClr val="D9DFEA"/>
              </a:solidFill>
              <a:prstDash val="solid"/>
              <a:miter/>
            </a:ln>
          </p:spPr>
        </p:sp>
      </p:grpSp>
      <p:grpSp>
        <p:nvGrpSpPr>
          <p:cNvPr name="Group 123" id="123"/>
          <p:cNvGrpSpPr/>
          <p:nvPr/>
        </p:nvGrpSpPr>
        <p:grpSpPr>
          <a:xfrm rot="0">
            <a:off x="11786235" y="2390775"/>
            <a:ext cx="5670042" cy="80772"/>
            <a:chOff x="0" y="0"/>
            <a:chExt cx="7560056" cy="107696"/>
          </a:xfrm>
        </p:grpSpPr>
        <p:sp>
          <p:nvSpPr>
            <p:cNvPr name="Freeform 124" id="124"/>
            <p:cNvSpPr/>
            <p:nvPr/>
          </p:nvSpPr>
          <p:spPr>
            <a:xfrm flipH="false" flipV="false" rot="0">
              <a:off x="0" y="0"/>
              <a:ext cx="7560056" cy="107696"/>
            </a:xfrm>
            <a:custGeom>
              <a:avLst/>
              <a:gdLst/>
              <a:ahLst/>
              <a:cxnLst/>
              <a:rect r="r" b="b" t="t" l="l"/>
              <a:pathLst>
                <a:path h="107696" w="7560056">
                  <a:moveTo>
                    <a:pt x="0" y="0"/>
                  </a:moveTo>
                  <a:lnTo>
                    <a:pt x="7560056" y="0"/>
                  </a:lnTo>
                  <a:lnTo>
                    <a:pt x="7560056" y="107696"/>
                  </a:lnTo>
                  <a:lnTo>
                    <a:pt x="0" y="107696"/>
                  </a:lnTo>
                  <a:close/>
                </a:path>
              </a:pathLst>
            </a:custGeom>
            <a:solidFill>
              <a:srgbClr val="D4AF37"/>
            </a:solidFill>
            <a:ln w="19050" cap="sq">
              <a:solidFill>
                <a:srgbClr val="D4AF37"/>
              </a:solidFill>
              <a:prstDash val="solid"/>
              <a:miter/>
            </a:ln>
          </p:spPr>
        </p:sp>
      </p:grpSp>
      <p:sp>
        <p:nvSpPr>
          <p:cNvPr name="TextBox 125" id="125"/>
          <p:cNvSpPr txBox="true"/>
          <p:nvPr/>
        </p:nvSpPr>
        <p:spPr>
          <a:xfrm rot="0">
            <a:off x="12138660" y="2674620"/>
            <a:ext cx="5074920" cy="371475"/>
          </a:xfrm>
          <a:prstGeom prst="rect">
            <a:avLst/>
          </a:prstGeom>
        </p:spPr>
        <p:txBody>
          <a:bodyPr anchor="t" rtlCol="false" tIns="0" lIns="0" bIns="0" rIns="0">
            <a:spAutoFit/>
          </a:bodyPr>
          <a:lstStyle/>
          <a:p>
            <a:pPr algn="l">
              <a:lnSpc>
                <a:spcPts val="2999"/>
              </a:lnSpc>
            </a:pPr>
            <a:r>
              <a:rPr lang="en-US" b="true" sz="2499" spc="249">
                <a:solidFill>
                  <a:srgbClr val="9A7B1F"/>
                </a:solidFill>
                <a:latin typeface="Exo 2 Bold"/>
                <a:ea typeface="Exo 2 Bold"/>
                <a:cs typeface="Exo 2 Bold"/>
                <a:sym typeface="Exo 2 Bold"/>
              </a:rPr>
              <a:t>LATEST OFFER, 23 SEP</a:t>
            </a:r>
          </a:p>
        </p:txBody>
      </p:sp>
      <p:sp>
        <p:nvSpPr>
          <p:cNvPr name="TextBox 126" id="126"/>
          <p:cNvSpPr txBox="true"/>
          <p:nvPr/>
        </p:nvSpPr>
        <p:spPr>
          <a:xfrm rot="0">
            <a:off x="12138660" y="3509963"/>
            <a:ext cx="5074920" cy="704850"/>
          </a:xfrm>
          <a:prstGeom prst="rect">
            <a:avLst/>
          </a:prstGeom>
        </p:spPr>
        <p:txBody>
          <a:bodyPr anchor="t" rtlCol="false" tIns="0" lIns="0" bIns="0" rIns="0">
            <a:spAutoFit/>
          </a:bodyPr>
          <a:lstStyle/>
          <a:p>
            <a:pPr algn="l">
              <a:lnSpc>
                <a:spcPts val="5519"/>
              </a:lnSpc>
            </a:pPr>
            <a:r>
              <a:rPr lang="en-US" sz="4599" b="true">
                <a:solidFill>
                  <a:srgbClr val="132257"/>
                </a:solidFill>
                <a:latin typeface="Exo 2 Bold"/>
                <a:ea typeface="Exo 2 Bold"/>
                <a:cs typeface="Exo 2 Bold"/>
                <a:sym typeface="Exo 2 Bold"/>
              </a:rPr>
              <a:t>USD 44,800 + VAT</a:t>
            </a:r>
          </a:p>
        </p:txBody>
      </p:sp>
      <p:sp>
        <p:nvSpPr>
          <p:cNvPr name="TextBox 127" id="127"/>
          <p:cNvSpPr txBox="true"/>
          <p:nvPr/>
        </p:nvSpPr>
        <p:spPr>
          <a:xfrm rot="0">
            <a:off x="12138660" y="4678680"/>
            <a:ext cx="5074920" cy="1266825"/>
          </a:xfrm>
          <a:prstGeom prst="rect">
            <a:avLst/>
          </a:prstGeom>
        </p:spPr>
        <p:txBody>
          <a:bodyPr anchor="t" rtlCol="false" tIns="0" lIns="0" bIns="0" rIns="0">
            <a:spAutoFit/>
          </a:bodyPr>
          <a:lstStyle/>
          <a:p>
            <a:pPr algn="l">
              <a:lnSpc>
                <a:spcPts val="3359"/>
              </a:lnSpc>
            </a:pPr>
            <a:r>
              <a:rPr lang="en-US" sz="2799">
                <a:solidFill>
                  <a:srgbClr val="1F2A44"/>
                </a:solidFill>
                <a:latin typeface="Exo 2"/>
                <a:ea typeface="Exo 2"/>
                <a:cs typeface="Exo 2"/>
                <a:sym typeface="Exo 2"/>
              </a:rPr>
              <a:t>8 weeks, 91 screens, 30% below the original rate of USD 64,000.</a:t>
            </a:r>
          </a:p>
        </p:txBody>
      </p:sp>
      <p:grpSp>
        <p:nvGrpSpPr>
          <p:cNvPr name="Group 128" id="128"/>
          <p:cNvGrpSpPr/>
          <p:nvPr/>
        </p:nvGrpSpPr>
        <p:grpSpPr>
          <a:xfrm rot="0">
            <a:off x="11790998" y="6860381"/>
            <a:ext cx="2757488" cy="1865948"/>
            <a:chOff x="0" y="0"/>
            <a:chExt cx="3676650" cy="2487930"/>
          </a:xfrm>
        </p:grpSpPr>
        <p:sp>
          <p:nvSpPr>
            <p:cNvPr name="Freeform 129" id="129"/>
            <p:cNvSpPr/>
            <p:nvPr/>
          </p:nvSpPr>
          <p:spPr>
            <a:xfrm flipH="false" flipV="false" rot="0">
              <a:off x="0" y="0"/>
              <a:ext cx="3676650" cy="2487930"/>
            </a:xfrm>
            <a:custGeom>
              <a:avLst/>
              <a:gdLst/>
              <a:ahLst/>
              <a:cxnLst/>
              <a:rect r="r" b="b" t="t" l="l"/>
              <a:pathLst>
                <a:path h="2487930" w="3676650">
                  <a:moveTo>
                    <a:pt x="0" y="0"/>
                  </a:moveTo>
                  <a:lnTo>
                    <a:pt x="3676650" y="0"/>
                  </a:lnTo>
                  <a:lnTo>
                    <a:pt x="3676650" y="2487930"/>
                  </a:lnTo>
                  <a:lnTo>
                    <a:pt x="0" y="2487930"/>
                  </a:lnTo>
                  <a:close/>
                </a:path>
              </a:pathLst>
            </a:custGeom>
            <a:solidFill>
              <a:srgbClr val="FFFFFF"/>
            </a:solidFill>
            <a:ln w="14288" cap="sq">
              <a:solidFill>
                <a:srgbClr val="D9DFEA"/>
              </a:solidFill>
              <a:prstDash val="solid"/>
              <a:miter/>
            </a:ln>
          </p:spPr>
        </p:sp>
      </p:grpSp>
      <p:grpSp>
        <p:nvGrpSpPr>
          <p:cNvPr name="Group 130" id="130"/>
          <p:cNvGrpSpPr/>
          <p:nvPr/>
        </p:nvGrpSpPr>
        <p:grpSpPr>
          <a:xfrm rot="0">
            <a:off x="11788616" y="6858000"/>
            <a:ext cx="2762250" cy="80772"/>
            <a:chOff x="0" y="0"/>
            <a:chExt cx="3683000" cy="107696"/>
          </a:xfrm>
        </p:grpSpPr>
        <p:sp>
          <p:nvSpPr>
            <p:cNvPr name="Freeform 131" id="131"/>
            <p:cNvSpPr/>
            <p:nvPr/>
          </p:nvSpPr>
          <p:spPr>
            <a:xfrm flipH="false" flipV="false" rot="0">
              <a:off x="0" y="0"/>
              <a:ext cx="3683000" cy="107696"/>
            </a:xfrm>
            <a:custGeom>
              <a:avLst/>
              <a:gdLst/>
              <a:ahLst/>
              <a:cxnLst/>
              <a:rect r="r" b="b" t="t" l="l"/>
              <a:pathLst>
                <a:path h="107696" w="3683000">
                  <a:moveTo>
                    <a:pt x="0" y="0"/>
                  </a:moveTo>
                  <a:lnTo>
                    <a:pt x="3683000" y="0"/>
                  </a:lnTo>
                  <a:lnTo>
                    <a:pt x="3683000" y="107696"/>
                  </a:lnTo>
                  <a:lnTo>
                    <a:pt x="0" y="107696"/>
                  </a:lnTo>
                  <a:close/>
                </a:path>
              </a:pathLst>
            </a:custGeom>
            <a:solidFill>
              <a:srgbClr val="132257"/>
            </a:solidFill>
            <a:ln w="19050" cap="sq">
              <a:solidFill>
                <a:srgbClr val="132257"/>
              </a:solidFill>
              <a:prstDash val="solid"/>
              <a:miter/>
            </a:ln>
          </p:spPr>
        </p:sp>
      </p:grpSp>
      <p:sp>
        <p:nvSpPr>
          <p:cNvPr name="TextBox 132" id="132"/>
          <p:cNvSpPr txBox="true"/>
          <p:nvPr/>
        </p:nvSpPr>
        <p:spPr>
          <a:xfrm rot="0">
            <a:off x="12072461" y="7104888"/>
            <a:ext cx="219456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83</a:t>
            </a:r>
          </a:p>
        </p:txBody>
      </p:sp>
      <p:sp>
        <p:nvSpPr>
          <p:cNvPr name="TextBox 133" id="133"/>
          <p:cNvSpPr txBox="true"/>
          <p:nvPr/>
        </p:nvSpPr>
        <p:spPr>
          <a:xfrm rot="0">
            <a:off x="12072461" y="7896225"/>
            <a:ext cx="219456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towers</a:t>
            </a:r>
          </a:p>
        </p:txBody>
      </p:sp>
      <p:sp>
        <p:nvSpPr>
          <p:cNvPr name="TextBox 134" id="134"/>
          <p:cNvSpPr txBox="true"/>
          <p:nvPr/>
        </p:nvSpPr>
        <p:spPr>
          <a:xfrm rot="0">
            <a:off x="12072461" y="8257032"/>
            <a:ext cx="219456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elevator screens</a:t>
            </a:r>
          </a:p>
        </p:txBody>
      </p:sp>
      <p:grpSp>
        <p:nvGrpSpPr>
          <p:cNvPr name="Group 135" id="135"/>
          <p:cNvGrpSpPr/>
          <p:nvPr/>
        </p:nvGrpSpPr>
        <p:grpSpPr>
          <a:xfrm rot="0">
            <a:off x="14698790" y="6860381"/>
            <a:ext cx="2757488" cy="1865948"/>
            <a:chOff x="0" y="0"/>
            <a:chExt cx="3676650" cy="2487930"/>
          </a:xfrm>
        </p:grpSpPr>
        <p:sp>
          <p:nvSpPr>
            <p:cNvPr name="Freeform 136" id="136"/>
            <p:cNvSpPr/>
            <p:nvPr/>
          </p:nvSpPr>
          <p:spPr>
            <a:xfrm flipH="false" flipV="false" rot="0">
              <a:off x="0" y="0"/>
              <a:ext cx="3676650" cy="2487930"/>
            </a:xfrm>
            <a:custGeom>
              <a:avLst/>
              <a:gdLst/>
              <a:ahLst/>
              <a:cxnLst/>
              <a:rect r="r" b="b" t="t" l="l"/>
              <a:pathLst>
                <a:path h="2487930" w="3676650">
                  <a:moveTo>
                    <a:pt x="0" y="0"/>
                  </a:moveTo>
                  <a:lnTo>
                    <a:pt x="3676650" y="0"/>
                  </a:lnTo>
                  <a:lnTo>
                    <a:pt x="3676650" y="2487930"/>
                  </a:lnTo>
                  <a:lnTo>
                    <a:pt x="0" y="2487930"/>
                  </a:lnTo>
                  <a:close/>
                </a:path>
              </a:pathLst>
            </a:custGeom>
            <a:solidFill>
              <a:srgbClr val="FFFFFF"/>
            </a:solidFill>
            <a:ln w="14288" cap="sq">
              <a:solidFill>
                <a:srgbClr val="D9DFEA"/>
              </a:solidFill>
              <a:prstDash val="solid"/>
              <a:miter/>
            </a:ln>
          </p:spPr>
        </p:sp>
      </p:grpSp>
      <p:grpSp>
        <p:nvGrpSpPr>
          <p:cNvPr name="Group 137" id="137"/>
          <p:cNvGrpSpPr/>
          <p:nvPr/>
        </p:nvGrpSpPr>
        <p:grpSpPr>
          <a:xfrm rot="0">
            <a:off x="14696408" y="6858000"/>
            <a:ext cx="2762250" cy="80772"/>
            <a:chOff x="0" y="0"/>
            <a:chExt cx="3683000" cy="107696"/>
          </a:xfrm>
        </p:grpSpPr>
        <p:sp>
          <p:nvSpPr>
            <p:cNvPr name="Freeform 138" id="138"/>
            <p:cNvSpPr/>
            <p:nvPr/>
          </p:nvSpPr>
          <p:spPr>
            <a:xfrm flipH="false" flipV="false" rot="0">
              <a:off x="0" y="0"/>
              <a:ext cx="3683000" cy="107696"/>
            </a:xfrm>
            <a:custGeom>
              <a:avLst/>
              <a:gdLst/>
              <a:ahLst/>
              <a:cxnLst/>
              <a:rect r="r" b="b" t="t" l="l"/>
              <a:pathLst>
                <a:path h="107696" w="3683000">
                  <a:moveTo>
                    <a:pt x="0" y="0"/>
                  </a:moveTo>
                  <a:lnTo>
                    <a:pt x="3683000" y="0"/>
                  </a:lnTo>
                  <a:lnTo>
                    <a:pt x="3683000" y="107696"/>
                  </a:lnTo>
                  <a:lnTo>
                    <a:pt x="0" y="107696"/>
                  </a:lnTo>
                  <a:close/>
                </a:path>
              </a:pathLst>
            </a:custGeom>
            <a:solidFill>
              <a:srgbClr val="132257"/>
            </a:solidFill>
            <a:ln w="19050" cap="sq">
              <a:solidFill>
                <a:srgbClr val="132257"/>
              </a:solidFill>
              <a:prstDash val="solid"/>
              <a:miter/>
            </a:ln>
          </p:spPr>
        </p:sp>
      </p:grpSp>
      <p:sp>
        <p:nvSpPr>
          <p:cNvPr name="TextBox 139" id="139"/>
          <p:cNvSpPr txBox="true"/>
          <p:nvPr/>
        </p:nvSpPr>
        <p:spPr>
          <a:xfrm rot="0">
            <a:off x="14980253" y="7104888"/>
            <a:ext cx="219456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8</a:t>
            </a:r>
          </a:p>
        </p:txBody>
      </p:sp>
      <p:sp>
        <p:nvSpPr>
          <p:cNvPr name="TextBox 140" id="140"/>
          <p:cNvSpPr txBox="true"/>
          <p:nvPr/>
        </p:nvSpPr>
        <p:spPr>
          <a:xfrm rot="0">
            <a:off x="14980253" y="7896225"/>
            <a:ext cx="219456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LED faces</a:t>
            </a:r>
          </a:p>
        </p:txBody>
      </p:sp>
      <p:sp>
        <p:nvSpPr>
          <p:cNvPr name="TextBox 141" id="141"/>
          <p:cNvSpPr txBox="true"/>
          <p:nvPr/>
        </p:nvSpPr>
        <p:spPr>
          <a:xfrm rot="0">
            <a:off x="14980253" y="8257032"/>
            <a:ext cx="219456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The Zone, Riyadh</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grpSp>
        <p:nvGrpSpPr>
          <p:cNvPr name="Group 6" id="6"/>
          <p:cNvGrpSpPr/>
          <p:nvPr/>
        </p:nvGrpSpPr>
        <p:grpSpPr>
          <a:xfrm rot="0">
            <a:off x="850392" y="713232"/>
            <a:ext cx="14127480" cy="1124712"/>
            <a:chOff x="0" y="0"/>
            <a:chExt cx="18836640" cy="1499616"/>
          </a:xfrm>
        </p:grpSpPr>
        <p:sp>
          <p:nvSpPr>
            <p:cNvPr name="Freeform 7" id="7"/>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8" id="8"/>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Jodel: 2.5 million impressions in 7 days for USD 3,862.50</a:t>
              </a:r>
            </a:p>
          </p:txBody>
        </p:sp>
      </p:grpSp>
      <p:grpSp>
        <p:nvGrpSpPr>
          <p:cNvPr name="Group 9" id="9"/>
          <p:cNvGrpSpPr/>
          <p:nvPr/>
        </p:nvGrpSpPr>
        <p:grpSpPr>
          <a:xfrm rot="0">
            <a:off x="15457932" y="685800"/>
            <a:ext cx="1988820" cy="576072"/>
            <a:chOff x="0" y="0"/>
            <a:chExt cx="2651760" cy="768096"/>
          </a:xfrm>
        </p:grpSpPr>
        <p:sp>
          <p:nvSpPr>
            <p:cNvPr name="Freeform 10" id="10"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grpSp>
        <p:nvGrpSpPr>
          <p:cNvPr name="Group 11" id="11"/>
          <p:cNvGrpSpPr/>
          <p:nvPr/>
        </p:nvGrpSpPr>
        <p:grpSpPr>
          <a:xfrm rot="0">
            <a:off x="15910560" y="9491472"/>
            <a:ext cx="1536192" cy="548640"/>
            <a:chOff x="0" y="0"/>
            <a:chExt cx="2048256" cy="731520"/>
          </a:xfrm>
        </p:grpSpPr>
        <p:sp>
          <p:nvSpPr>
            <p:cNvPr name="Freeform 12" id="12"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3" id="13"/>
          <p:cNvGrpSpPr/>
          <p:nvPr/>
        </p:nvGrpSpPr>
        <p:grpSpPr>
          <a:xfrm rot="0">
            <a:off x="852773" y="2400157"/>
            <a:ext cx="8175307" cy="3580447"/>
            <a:chOff x="0" y="0"/>
            <a:chExt cx="10900410" cy="4773930"/>
          </a:xfrm>
        </p:grpSpPr>
        <p:sp>
          <p:nvSpPr>
            <p:cNvPr name="Freeform 14" id="14"/>
            <p:cNvSpPr/>
            <p:nvPr/>
          </p:nvSpPr>
          <p:spPr>
            <a:xfrm flipH="false" flipV="false" rot="0">
              <a:off x="0" y="0"/>
              <a:ext cx="10900410" cy="4773930"/>
            </a:xfrm>
            <a:custGeom>
              <a:avLst/>
              <a:gdLst/>
              <a:ahLst/>
              <a:cxnLst/>
              <a:rect r="r" b="b" t="t" l="l"/>
              <a:pathLst>
                <a:path h="4773930" w="10900410">
                  <a:moveTo>
                    <a:pt x="0" y="0"/>
                  </a:moveTo>
                  <a:lnTo>
                    <a:pt x="10900410" y="0"/>
                  </a:lnTo>
                  <a:lnTo>
                    <a:pt x="10900410" y="4773930"/>
                  </a:lnTo>
                  <a:lnTo>
                    <a:pt x="0" y="4773930"/>
                  </a:lnTo>
                  <a:close/>
                </a:path>
              </a:pathLst>
            </a:custGeom>
            <a:solidFill>
              <a:srgbClr val="FFFFFF"/>
            </a:solidFill>
            <a:ln w="14288" cap="sq">
              <a:solidFill>
                <a:srgbClr val="D9DFEA"/>
              </a:solidFill>
              <a:prstDash val="solid"/>
              <a:miter/>
            </a:ln>
          </p:spPr>
        </p:sp>
      </p:grpSp>
      <p:grpSp>
        <p:nvGrpSpPr>
          <p:cNvPr name="Group 15" id="15"/>
          <p:cNvGrpSpPr/>
          <p:nvPr/>
        </p:nvGrpSpPr>
        <p:grpSpPr>
          <a:xfrm rot="0">
            <a:off x="850392" y="2397776"/>
            <a:ext cx="8180070" cy="80772"/>
            <a:chOff x="0" y="0"/>
            <a:chExt cx="10906760" cy="107696"/>
          </a:xfrm>
        </p:grpSpPr>
        <p:sp>
          <p:nvSpPr>
            <p:cNvPr name="Freeform 16" id="16"/>
            <p:cNvSpPr/>
            <p:nvPr/>
          </p:nvSpPr>
          <p:spPr>
            <a:xfrm flipH="false" flipV="false" rot="0">
              <a:off x="0" y="0"/>
              <a:ext cx="10906760" cy="107696"/>
            </a:xfrm>
            <a:custGeom>
              <a:avLst/>
              <a:gdLst/>
              <a:ahLst/>
              <a:cxnLst/>
              <a:rect r="r" b="b" t="t" l="l"/>
              <a:pathLst>
                <a:path h="107696" w="10906760">
                  <a:moveTo>
                    <a:pt x="0" y="0"/>
                  </a:moveTo>
                  <a:lnTo>
                    <a:pt x="10906760" y="0"/>
                  </a:lnTo>
                  <a:lnTo>
                    <a:pt x="10906760" y="107696"/>
                  </a:lnTo>
                  <a:lnTo>
                    <a:pt x="0" y="107696"/>
                  </a:lnTo>
                  <a:close/>
                </a:path>
              </a:pathLst>
            </a:custGeom>
            <a:solidFill>
              <a:srgbClr val="132257"/>
            </a:solidFill>
            <a:ln w="19050" cap="sq">
              <a:solidFill>
                <a:srgbClr val="132257"/>
              </a:solidFill>
              <a:prstDash val="solid"/>
              <a:miter/>
            </a:ln>
          </p:spPr>
        </p:sp>
      </p:grpSp>
      <p:grpSp>
        <p:nvGrpSpPr>
          <p:cNvPr name="Group 17" id="17"/>
          <p:cNvGrpSpPr/>
          <p:nvPr/>
        </p:nvGrpSpPr>
        <p:grpSpPr>
          <a:xfrm rot="0">
            <a:off x="852773" y="7554611"/>
            <a:ext cx="2620328" cy="1865948"/>
            <a:chOff x="0" y="0"/>
            <a:chExt cx="3493770" cy="2487930"/>
          </a:xfrm>
        </p:grpSpPr>
        <p:sp>
          <p:nvSpPr>
            <p:cNvPr name="Freeform 18" id="18"/>
            <p:cNvSpPr/>
            <p:nvPr/>
          </p:nvSpPr>
          <p:spPr>
            <a:xfrm flipH="false" flipV="false" rot="0">
              <a:off x="0" y="0"/>
              <a:ext cx="3493770" cy="2487930"/>
            </a:xfrm>
            <a:custGeom>
              <a:avLst/>
              <a:gdLst/>
              <a:ahLst/>
              <a:cxnLst/>
              <a:rect r="r" b="b" t="t" l="l"/>
              <a:pathLst>
                <a:path h="2487930" w="3493770">
                  <a:moveTo>
                    <a:pt x="0" y="0"/>
                  </a:moveTo>
                  <a:lnTo>
                    <a:pt x="3493770" y="0"/>
                  </a:lnTo>
                  <a:lnTo>
                    <a:pt x="3493770" y="2487930"/>
                  </a:lnTo>
                  <a:lnTo>
                    <a:pt x="0" y="2487930"/>
                  </a:lnTo>
                  <a:close/>
                </a:path>
              </a:pathLst>
            </a:custGeom>
            <a:solidFill>
              <a:srgbClr val="FFFFFF"/>
            </a:solidFill>
            <a:ln w="14288" cap="sq">
              <a:solidFill>
                <a:srgbClr val="D9DFEA"/>
              </a:solidFill>
              <a:prstDash val="solid"/>
              <a:miter/>
            </a:ln>
          </p:spPr>
        </p:sp>
      </p:grpSp>
      <p:grpSp>
        <p:nvGrpSpPr>
          <p:cNvPr name="Group 19" id="19"/>
          <p:cNvGrpSpPr/>
          <p:nvPr/>
        </p:nvGrpSpPr>
        <p:grpSpPr>
          <a:xfrm rot="0">
            <a:off x="850392" y="7552230"/>
            <a:ext cx="2625090" cy="80772"/>
            <a:chOff x="0" y="0"/>
            <a:chExt cx="3500120" cy="107696"/>
          </a:xfrm>
        </p:grpSpPr>
        <p:sp>
          <p:nvSpPr>
            <p:cNvPr name="Freeform 20" id="20"/>
            <p:cNvSpPr/>
            <p:nvPr/>
          </p:nvSpPr>
          <p:spPr>
            <a:xfrm flipH="false" flipV="false" rot="0">
              <a:off x="0" y="0"/>
              <a:ext cx="3500120" cy="107696"/>
            </a:xfrm>
            <a:custGeom>
              <a:avLst/>
              <a:gdLst/>
              <a:ahLst/>
              <a:cxnLst/>
              <a:rect r="r" b="b" t="t" l="l"/>
              <a:pathLst>
                <a:path h="107696" w="3500120">
                  <a:moveTo>
                    <a:pt x="0" y="0"/>
                  </a:moveTo>
                  <a:lnTo>
                    <a:pt x="3500120" y="0"/>
                  </a:lnTo>
                  <a:lnTo>
                    <a:pt x="3500120" y="107696"/>
                  </a:lnTo>
                  <a:lnTo>
                    <a:pt x="0" y="107696"/>
                  </a:lnTo>
                  <a:close/>
                </a:path>
              </a:pathLst>
            </a:custGeom>
            <a:solidFill>
              <a:srgbClr val="132257"/>
            </a:solidFill>
            <a:ln w="19050" cap="sq">
              <a:solidFill>
                <a:srgbClr val="132257"/>
              </a:solidFill>
              <a:prstDash val="solid"/>
              <a:miter/>
            </a:ln>
          </p:spPr>
        </p:sp>
      </p:grpSp>
      <p:grpSp>
        <p:nvGrpSpPr>
          <p:cNvPr name="Group 21" id="21"/>
          <p:cNvGrpSpPr/>
          <p:nvPr/>
        </p:nvGrpSpPr>
        <p:grpSpPr>
          <a:xfrm rot="0">
            <a:off x="3637121" y="7554611"/>
            <a:ext cx="2620328" cy="1865948"/>
            <a:chOff x="0" y="0"/>
            <a:chExt cx="3493770" cy="2487930"/>
          </a:xfrm>
        </p:grpSpPr>
        <p:sp>
          <p:nvSpPr>
            <p:cNvPr name="Freeform 22" id="22"/>
            <p:cNvSpPr/>
            <p:nvPr/>
          </p:nvSpPr>
          <p:spPr>
            <a:xfrm flipH="false" flipV="false" rot="0">
              <a:off x="0" y="0"/>
              <a:ext cx="3493770" cy="2487930"/>
            </a:xfrm>
            <a:custGeom>
              <a:avLst/>
              <a:gdLst/>
              <a:ahLst/>
              <a:cxnLst/>
              <a:rect r="r" b="b" t="t" l="l"/>
              <a:pathLst>
                <a:path h="2487930" w="3493770">
                  <a:moveTo>
                    <a:pt x="0" y="0"/>
                  </a:moveTo>
                  <a:lnTo>
                    <a:pt x="3493770" y="0"/>
                  </a:lnTo>
                  <a:lnTo>
                    <a:pt x="3493770" y="2487930"/>
                  </a:lnTo>
                  <a:lnTo>
                    <a:pt x="0" y="2487930"/>
                  </a:lnTo>
                  <a:close/>
                </a:path>
              </a:pathLst>
            </a:custGeom>
            <a:solidFill>
              <a:srgbClr val="FFFFFF"/>
            </a:solidFill>
            <a:ln w="14288" cap="sq">
              <a:solidFill>
                <a:srgbClr val="D9DFEA"/>
              </a:solidFill>
              <a:prstDash val="solid"/>
              <a:miter/>
            </a:ln>
          </p:spPr>
        </p:sp>
      </p:grpSp>
      <p:grpSp>
        <p:nvGrpSpPr>
          <p:cNvPr name="Group 23" id="23"/>
          <p:cNvGrpSpPr/>
          <p:nvPr/>
        </p:nvGrpSpPr>
        <p:grpSpPr>
          <a:xfrm rot="0">
            <a:off x="3634740" y="7552230"/>
            <a:ext cx="2625090" cy="80772"/>
            <a:chOff x="0" y="0"/>
            <a:chExt cx="3500120" cy="107696"/>
          </a:xfrm>
        </p:grpSpPr>
        <p:sp>
          <p:nvSpPr>
            <p:cNvPr name="Freeform 24" id="24"/>
            <p:cNvSpPr/>
            <p:nvPr/>
          </p:nvSpPr>
          <p:spPr>
            <a:xfrm flipH="false" flipV="false" rot="0">
              <a:off x="0" y="0"/>
              <a:ext cx="3500120" cy="107696"/>
            </a:xfrm>
            <a:custGeom>
              <a:avLst/>
              <a:gdLst/>
              <a:ahLst/>
              <a:cxnLst/>
              <a:rect r="r" b="b" t="t" l="l"/>
              <a:pathLst>
                <a:path h="107696" w="3500120">
                  <a:moveTo>
                    <a:pt x="0" y="0"/>
                  </a:moveTo>
                  <a:lnTo>
                    <a:pt x="3500120" y="0"/>
                  </a:lnTo>
                  <a:lnTo>
                    <a:pt x="3500120" y="107696"/>
                  </a:lnTo>
                  <a:lnTo>
                    <a:pt x="0" y="107696"/>
                  </a:lnTo>
                  <a:close/>
                </a:path>
              </a:pathLst>
            </a:custGeom>
            <a:solidFill>
              <a:srgbClr val="9A7B1F"/>
            </a:solidFill>
            <a:ln w="19050" cap="sq">
              <a:solidFill>
                <a:srgbClr val="9A7B1F"/>
              </a:solidFill>
              <a:prstDash val="solid"/>
              <a:miter/>
            </a:ln>
          </p:spPr>
        </p:sp>
      </p:grpSp>
      <p:grpSp>
        <p:nvGrpSpPr>
          <p:cNvPr name="Group 25" id="25"/>
          <p:cNvGrpSpPr/>
          <p:nvPr/>
        </p:nvGrpSpPr>
        <p:grpSpPr>
          <a:xfrm rot="0">
            <a:off x="6421469" y="7554611"/>
            <a:ext cx="2620328" cy="1865948"/>
            <a:chOff x="0" y="0"/>
            <a:chExt cx="3493770" cy="2487930"/>
          </a:xfrm>
        </p:grpSpPr>
        <p:sp>
          <p:nvSpPr>
            <p:cNvPr name="Freeform 26" id="26"/>
            <p:cNvSpPr/>
            <p:nvPr/>
          </p:nvSpPr>
          <p:spPr>
            <a:xfrm flipH="false" flipV="false" rot="0">
              <a:off x="0" y="0"/>
              <a:ext cx="3493770" cy="2487930"/>
            </a:xfrm>
            <a:custGeom>
              <a:avLst/>
              <a:gdLst/>
              <a:ahLst/>
              <a:cxnLst/>
              <a:rect r="r" b="b" t="t" l="l"/>
              <a:pathLst>
                <a:path h="2487930" w="3493770">
                  <a:moveTo>
                    <a:pt x="0" y="0"/>
                  </a:moveTo>
                  <a:lnTo>
                    <a:pt x="3493770" y="0"/>
                  </a:lnTo>
                  <a:lnTo>
                    <a:pt x="3493770" y="2487930"/>
                  </a:lnTo>
                  <a:lnTo>
                    <a:pt x="0" y="2487930"/>
                  </a:lnTo>
                  <a:close/>
                </a:path>
              </a:pathLst>
            </a:custGeom>
            <a:solidFill>
              <a:srgbClr val="FFFFFF"/>
            </a:solidFill>
            <a:ln w="14288" cap="sq">
              <a:solidFill>
                <a:srgbClr val="D9DFEA"/>
              </a:solidFill>
              <a:prstDash val="solid"/>
              <a:miter/>
            </a:ln>
          </p:spPr>
        </p:sp>
      </p:grpSp>
      <p:grpSp>
        <p:nvGrpSpPr>
          <p:cNvPr name="Group 27" id="27"/>
          <p:cNvGrpSpPr/>
          <p:nvPr/>
        </p:nvGrpSpPr>
        <p:grpSpPr>
          <a:xfrm rot="0">
            <a:off x="6419088" y="7552230"/>
            <a:ext cx="2625090" cy="80772"/>
            <a:chOff x="0" y="0"/>
            <a:chExt cx="3500120" cy="107696"/>
          </a:xfrm>
        </p:grpSpPr>
        <p:sp>
          <p:nvSpPr>
            <p:cNvPr name="Freeform 28" id="28"/>
            <p:cNvSpPr/>
            <p:nvPr/>
          </p:nvSpPr>
          <p:spPr>
            <a:xfrm flipH="false" flipV="false" rot="0">
              <a:off x="0" y="0"/>
              <a:ext cx="3500120" cy="107696"/>
            </a:xfrm>
            <a:custGeom>
              <a:avLst/>
              <a:gdLst/>
              <a:ahLst/>
              <a:cxnLst/>
              <a:rect r="r" b="b" t="t" l="l"/>
              <a:pathLst>
                <a:path h="107696" w="3500120">
                  <a:moveTo>
                    <a:pt x="0" y="0"/>
                  </a:moveTo>
                  <a:lnTo>
                    <a:pt x="3500120" y="0"/>
                  </a:lnTo>
                  <a:lnTo>
                    <a:pt x="3500120" y="107696"/>
                  </a:lnTo>
                  <a:lnTo>
                    <a:pt x="0" y="107696"/>
                  </a:lnTo>
                  <a:close/>
                </a:path>
              </a:pathLst>
            </a:custGeom>
            <a:solidFill>
              <a:srgbClr val="132257"/>
            </a:solidFill>
            <a:ln w="19050" cap="sq">
              <a:solidFill>
                <a:srgbClr val="132257"/>
              </a:solidFill>
              <a:prstDash val="solid"/>
              <a:miter/>
            </a:ln>
          </p:spPr>
        </p:sp>
      </p:grpSp>
      <p:sp>
        <p:nvSpPr>
          <p:cNvPr name="Freeform 29" id="29"/>
          <p:cNvSpPr/>
          <p:nvPr/>
        </p:nvSpPr>
        <p:spPr>
          <a:xfrm flipH="false" flipV="false" rot="0">
            <a:off x="9206103" y="2397776"/>
            <a:ext cx="7119550" cy="7022782"/>
          </a:xfrm>
          <a:custGeom>
            <a:avLst/>
            <a:gdLst/>
            <a:ahLst/>
            <a:cxnLst/>
            <a:rect r="r" b="b" t="t" l="l"/>
            <a:pathLst>
              <a:path h="7022782" w="7119550">
                <a:moveTo>
                  <a:pt x="0" y="0"/>
                </a:moveTo>
                <a:lnTo>
                  <a:pt x="7119550" y="0"/>
                </a:lnTo>
                <a:lnTo>
                  <a:pt x="7119550" y="7022782"/>
                </a:lnTo>
                <a:lnTo>
                  <a:pt x="0" y="7022782"/>
                </a:lnTo>
                <a:lnTo>
                  <a:pt x="0" y="0"/>
                </a:lnTo>
                <a:close/>
              </a:path>
            </a:pathLst>
          </a:custGeom>
          <a:blipFill>
            <a:blip r:embed="rId7"/>
            <a:stretch>
              <a:fillRect l="-1459" t="0" r="-2592" b="0"/>
            </a:stretch>
          </a:blipFill>
        </p:spPr>
        <p:txBody>
          <a:bodyPr/>
          <a:p/>
        </p:txBody>
      </p:sp>
      <p:sp>
        <p:nvSpPr>
          <p:cNvPr name="Freeform 30" id="30"/>
          <p:cNvSpPr/>
          <p:nvPr/>
        </p:nvSpPr>
        <p:spPr>
          <a:xfrm flipH="false" flipV="false" rot="0">
            <a:off x="2874690" y="6047280"/>
            <a:ext cx="4442112" cy="1429995"/>
          </a:xfrm>
          <a:custGeom>
            <a:avLst/>
            <a:gdLst/>
            <a:ahLst/>
            <a:cxnLst/>
            <a:rect r="r" b="b" t="t" l="l"/>
            <a:pathLst>
              <a:path h="1429995" w="4442112">
                <a:moveTo>
                  <a:pt x="0" y="0"/>
                </a:moveTo>
                <a:lnTo>
                  <a:pt x="4442112" y="0"/>
                </a:lnTo>
                <a:lnTo>
                  <a:pt x="4442112" y="1429994"/>
                </a:lnTo>
                <a:lnTo>
                  <a:pt x="0" y="1429994"/>
                </a:lnTo>
                <a:lnTo>
                  <a:pt x="0" y="0"/>
                </a:lnTo>
                <a:close/>
              </a:path>
            </a:pathLst>
          </a:custGeom>
          <a:blipFill>
            <a:blip r:embed="rId8"/>
            <a:stretch>
              <a:fillRect l="0" t="0" r="0" b="0"/>
            </a:stretch>
          </a:blipFill>
        </p:spPr>
        <p:txBody>
          <a:bodyPr/>
          <a:p/>
        </p:txBody>
      </p:sp>
      <p:sp>
        <p:nvSpPr>
          <p:cNvPr name="TextBox 31" id="31"/>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JODEL, SAUDI ARABIA</a:t>
            </a:r>
          </a:p>
        </p:txBody>
      </p:sp>
      <p:sp>
        <p:nvSpPr>
          <p:cNvPr name="TextBox 32" id="3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33" id="3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6</a:t>
            </a:r>
          </a:p>
        </p:txBody>
      </p:sp>
      <p:sp>
        <p:nvSpPr>
          <p:cNvPr name="TextBox 34" id="34"/>
          <p:cNvSpPr txBox="true"/>
          <p:nvPr/>
        </p:nvSpPr>
        <p:spPr>
          <a:xfrm rot="0">
            <a:off x="1243965" y="2672096"/>
            <a:ext cx="6858000" cy="421005"/>
          </a:xfrm>
          <a:prstGeom prst="rect">
            <a:avLst/>
          </a:prstGeom>
        </p:spPr>
        <p:txBody>
          <a:bodyPr anchor="t" rtlCol="false" tIns="0" lIns="0" bIns="0" rIns="0">
            <a:spAutoFit/>
          </a:bodyPr>
          <a:lstStyle/>
          <a:p>
            <a:pPr algn="l">
              <a:lnSpc>
                <a:spcPts val="1800"/>
              </a:lnSpc>
            </a:pPr>
            <a:r>
              <a:rPr lang="en-US" b="true" sz="1500" spc="150">
                <a:solidFill>
                  <a:srgbClr val="3C61B6"/>
                </a:solidFill>
                <a:latin typeface="Exo 2 Bold"/>
                <a:ea typeface="Exo 2 Bold"/>
                <a:cs typeface="Exo 2 Bold"/>
                <a:sym typeface="Exo 2 Bold"/>
              </a:rPr>
              <a:t>THE OFFER</a:t>
            </a:r>
          </a:p>
        </p:txBody>
      </p:sp>
      <p:sp>
        <p:nvSpPr>
          <p:cNvPr name="TextBox 35" id="35"/>
          <p:cNvSpPr txBox="true"/>
          <p:nvPr/>
        </p:nvSpPr>
        <p:spPr>
          <a:xfrm rot="0">
            <a:off x="1243965" y="3152156"/>
            <a:ext cx="7406640" cy="832485"/>
          </a:xfrm>
          <a:prstGeom prst="rect">
            <a:avLst/>
          </a:prstGeom>
        </p:spPr>
        <p:txBody>
          <a:bodyPr anchor="t" rtlCol="false" tIns="0" lIns="0" bIns="0" rIns="0">
            <a:spAutoFit/>
          </a:bodyPr>
          <a:lstStyle/>
          <a:p>
            <a:pPr algn="l">
              <a:lnSpc>
                <a:spcPts val="5040"/>
              </a:lnSpc>
            </a:pPr>
            <a:r>
              <a:rPr lang="en-US" sz="4200" b="true">
                <a:solidFill>
                  <a:srgbClr val="132257"/>
                </a:solidFill>
                <a:latin typeface="Exo 2 Bold"/>
                <a:ea typeface="Exo 2 Bold"/>
                <a:cs typeface="Exo 2 Bold"/>
                <a:sym typeface="Exo 2 Bold"/>
              </a:rPr>
              <a:t>USD 3,862.50 + VAT</a:t>
            </a:r>
          </a:p>
        </p:txBody>
      </p:sp>
      <p:sp>
        <p:nvSpPr>
          <p:cNvPr name="TextBox 36" id="36"/>
          <p:cNvSpPr txBox="true"/>
          <p:nvPr/>
        </p:nvSpPr>
        <p:spPr>
          <a:xfrm rot="0">
            <a:off x="1243965" y="4043696"/>
            <a:ext cx="7406640" cy="421005"/>
          </a:xfrm>
          <a:prstGeom prst="rect">
            <a:avLst/>
          </a:prstGeom>
        </p:spPr>
        <p:txBody>
          <a:bodyPr anchor="t" rtlCol="false" tIns="0" lIns="0" bIns="0" rIns="0">
            <a:spAutoFit/>
          </a:bodyPr>
          <a:lstStyle/>
          <a:p>
            <a:pPr algn="l">
              <a:lnSpc>
                <a:spcPts val="2160"/>
              </a:lnSpc>
            </a:pPr>
            <a:r>
              <a:rPr lang="en-US" sz="1800">
                <a:solidFill>
                  <a:srgbClr val="6B7590"/>
                </a:solidFill>
                <a:latin typeface="Exo 2"/>
                <a:ea typeface="Exo 2"/>
                <a:cs typeface="Exo 2"/>
                <a:sym typeface="Exo 2"/>
              </a:rPr>
              <a:t>7 days  |  all of Saudi Arabia</a:t>
            </a:r>
          </a:p>
        </p:txBody>
      </p:sp>
      <p:sp>
        <p:nvSpPr>
          <p:cNvPr name="TextBox 37" id="37"/>
          <p:cNvSpPr txBox="true"/>
          <p:nvPr/>
        </p:nvSpPr>
        <p:spPr>
          <a:xfrm rot="0">
            <a:off x="1243965" y="4592336"/>
            <a:ext cx="7406640" cy="1106805"/>
          </a:xfrm>
          <a:prstGeom prst="rect">
            <a:avLst/>
          </a:prstGeom>
        </p:spPr>
        <p:txBody>
          <a:bodyPr anchor="t" rtlCol="false" tIns="0" lIns="0" bIns="0" rIns="0">
            <a:spAutoFit/>
          </a:bodyPr>
          <a:lstStyle/>
          <a:p>
            <a:pPr algn="l">
              <a:lnSpc>
                <a:spcPts val="2160"/>
              </a:lnSpc>
            </a:pPr>
            <a:r>
              <a:rPr lang="en-US" sz="1800">
                <a:solidFill>
                  <a:srgbClr val="1F2A44"/>
                </a:solidFill>
                <a:latin typeface="Exo 2"/>
                <a:ea typeface="Exo 2"/>
                <a:cs typeface="Exo 2"/>
                <a:sym typeface="Exo 2"/>
              </a:rPr>
              <a:t>525,000 display and video impressions + 24-hour takeover poll (2,000,000 impressions)</a:t>
            </a:r>
          </a:p>
        </p:txBody>
      </p:sp>
      <p:sp>
        <p:nvSpPr>
          <p:cNvPr name="TextBox 38" id="38"/>
          <p:cNvSpPr txBox="true"/>
          <p:nvPr/>
        </p:nvSpPr>
        <p:spPr>
          <a:xfrm rot="0">
            <a:off x="1134237" y="7799118"/>
            <a:ext cx="20574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2.5M</a:t>
            </a:r>
          </a:p>
        </p:txBody>
      </p:sp>
      <p:sp>
        <p:nvSpPr>
          <p:cNvPr name="TextBox 39" id="39"/>
          <p:cNvSpPr txBox="true"/>
          <p:nvPr/>
        </p:nvSpPr>
        <p:spPr>
          <a:xfrm rot="0">
            <a:off x="1134237" y="8590455"/>
            <a:ext cx="20574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impressions</a:t>
            </a:r>
          </a:p>
        </p:txBody>
      </p:sp>
      <p:sp>
        <p:nvSpPr>
          <p:cNvPr name="TextBox 40" id="40"/>
          <p:cNvSpPr txBox="true"/>
          <p:nvPr/>
        </p:nvSpPr>
        <p:spPr>
          <a:xfrm rot="0">
            <a:off x="1134237" y="8951262"/>
            <a:ext cx="20574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in 7 days</a:t>
            </a:r>
          </a:p>
        </p:txBody>
      </p:sp>
      <p:sp>
        <p:nvSpPr>
          <p:cNvPr name="TextBox 41" id="41"/>
          <p:cNvSpPr txBox="true"/>
          <p:nvPr/>
        </p:nvSpPr>
        <p:spPr>
          <a:xfrm rot="0">
            <a:off x="3918585" y="7799118"/>
            <a:ext cx="2057400" cy="763905"/>
          </a:xfrm>
          <a:prstGeom prst="rect">
            <a:avLst/>
          </a:prstGeom>
        </p:spPr>
        <p:txBody>
          <a:bodyPr anchor="t" rtlCol="false" tIns="0" lIns="0" bIns="0" rIns="0">
            <a:spAutoFit/>
          </a:bodyPr>
          <a:lstStyle/>
          <a:p>
            <a:pPr algn="l">
              <a:lnSpc>
                <a:spcPts val="4680"/>
              </a:lnSpc>
            </a:pPr>
            <a:r>
              <a:rPr lang="en-US" sz="3900" b="true">
                <a:solidFill>
                  <a:srgbClr val="9A7B1F"/>
                </a:solidFill>
                <a:latin typeface="Exo 2 Bold"/>
                <a:ea typeface="Exo 2 Bold"/>
                <a:cs typeface="Exo 2 Bold"/>
                <a:sym typeface="Exo 2 Bold"/>
              </a:rPr>
              <a:t>USD 1.53</a:t>
            </a:r>
          </a:p>
        </p:txBody>
      </p:sp>
      <p:sp>
        <p:nvSpPr>
          <p:cNvPr name="TextBox 42" id="42"/>
          <p:cNvSpPr txBox="true"/>
          <p:nvPr/>
        </p:nvSpPr>
        <p:spPr>
          <a:xfrm rot="0">
            <a:off x="3918585" y="8590455"/>
            <a:ext cx="20574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per 1,000</a:t>
            </a:r>
          </a:p>
        </p:txBody>
      </p:sp>
      <p:sp>
        <p:nvSpPr>
          <p:cNvPr name="TextBox 43" id="43"/>
          <p:cNvSpPr txBox="true"/>
          <p:nvPr/>
        </p:nvSpPr>
        <p:spPr>
          <a:xfrm rot="0">
            <a:off x="3918585" y="8951262"/>
            <a:ext cx="20574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impressions</a:t>
            </a:r>
          </a:p>
        </p:txBody>
      </p:sp>
      <p:sp>
        <p:nvSpPr>
          <p:cNvPr name="TextBox 44" id="44"/>
          <p:cNvSpPr txBox="true"/>
          <p:nvPr/>
        </p:nvSpPr>
        <p:spPr>
          <a:xfrm rot="0">
            <a:off x="6702933" y="7799118"/>
            <a:ext cx="2057400" cy="763905"/>
          </a:xfrm>
          <a:prstGeom prst="rect">
            <a:avLst/>
          </a:prstGeom>
        </p:spPr>
        <p:txBody>
          <a:bodyPr anchor="t" rtlCol="false" tIns="0" lIns="0" bIns="0" rIns="0">
            <a:spAutoFit/>
          </a:bodyPr>
          <a:lstStyle/>
          <a:p>
            <a:pPr algn="l">
              <a:lnSpc>
                <a:spcPts val="4680"/>
              </a:lnSpc>
            </a:pPr>
            <a:r>
              <a:rPr lang="en-US" sz="3900" b="true">
                <a:solidFill>
                  <a:srgbClr val="132257"/>
                </a:solidFill>
                <a:latin typeface="Exo 2 Bold"/>
                <a:ea typeface="Exo 2 Bold"/>
                <a:cs typeface="Exo 2 Bold"/>
                <a:sym typeface="Exo 2 Bold"/>
              </a:rPr>
              <a:t>21 to 35</a:t>
            </a:r>
          </a:p>
        </p:txBody>
      </p:sp>
      <p:sp>
        <p:nvSpPr>
          <p:cNvPr name="TextBox 45" id="45"/>
          <p:cNvSpPr txBox="true"/>
          <p:nvPr/>
        </p:nvSpPr>
        <p:spPr>
          <a:xfrm rot="0">
            <a:off x="6702933" y="8590455"/>
            <a:ext cx="2057400" cy="411480"/>
          </a:xfrm>
          <a:prstGeom prst="rect">
            <a:avLst/>
          </a:prstGeom>
        </p:spPr>
        <p:txBody>
          <a:bodyPr anchor="t" rtlCol="false" tIns="0" lIns="0" bIns="0" rIns="0">
            <a:spAutoFit/>
          </a:bodyPr>
          <a:lstStyle/>
          <a:p>
            <a:pPr algn="l">
              <a:lnSpc>
                <a:spcPts val="1980"/>
              </a:lnSpc>
            </a:pPr>
            <a:r>
              <a:rPr lang="en-US" sz="1650" b="true">
                <a:solidFill>
                  <a:srgbClr val="132257"/>
                </a:solidFill>
                <a:latin typeface="Exo 2 Bold"/>
                <a:ea typeface="Exo 2 Bold"/>
                <a:cs typeface="Exo 2 Bold"/>
                <a:sym typeface="Exo 2 Bold"/>
              </a:rPr>
              <a:t>audience age</a:t>
            </a:r>
          </a:p>
        </p:txBody>
      </p:sp>
      <p:sp>
        <p:nvSpPr>
          <p:cNvPr name="TextBox 46" id="46"/>
          <p:cNvSpPr txBox="true"/>
          <p:nvPr/>
        </p:nvSpPr>
        <p:spPr>
          <a:xfrm rot="0">
            <a:off x="6702933" y="8951262"/>
            <a:ext cx="2057400" cy="393573"/>
          </a:xfrm>
          <a:prstGeom prst="rect">
            <a:avLst/>
          </a:prstGeom>
        </p:spPr>
        <p:txBody>
          <a:bodyPr anchor="t" rtlCol="false" tIns="0" lIns="0" bIns="0" rIns="0">
            <a:spAutoFit/>
          </a:bodyPr>
          <a:lstStyle/>
          <a:p>
            <a:pPr algn="l">
              <a:lnSpc>
                <a:spcPts val="1620"/>
              </a:lnSpc>
            </a:pPr>
            <a:r>
              <a:rPr lang="en-US" sz="1350">
                <a:solidFill>
                  <a:srgbClr val="6B7590"/>
                </a:solidFill>
                <a:latin typeface="Exo 2"/>
                <a:ea typeface="Exo 2"/>
                <a:cs typeface="Exo 2"/>
                <a:sym typeface="Exo 2"/>
              </a:rPr>
              <a:t>2.5M users in KSA</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3"/>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FOR DISCUSSION</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4">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Where eMYAA and Vision Bank could work together</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5"/>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8</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6"/>
              <a:stretch>
                <a:fillRect l="-301" t="0" r="-301" b="0"/>
              </a:stretch>
            </a:blipFill>
          </p:spPr>
        </p:sp>
      </p:grpSp>
      <p:grpSp>
        <p:nvGrpSpPr>
          <p:cNvPr name="Group 16" id="16"/>
          <p:cNvGrpSpPr/>
          <p:nvPr/>
        </p:nvGrpSpPr>
        <p:grpSpPr>
          <a:xfrm rot="0">
            <a:off x="843248" y="2530316"/>
            <a:ext cx="5363528" cy="4129088"/>
            <a:chOff x="0" y="0"/>
            <a:chExt cx="7151370" cy="5505450"/>
          </a:xfrm>
        </p:grpSpPr>
        <p:sp>
          <p:nvSpPr>
            <p:cNvPr name="Freeform 17" id="17"/>
            <p:cNvSpPr/>
            <p:nvPr/>
          </p:nvSpPr>
          <p:spPr>
            <a:xfrm flipH="false" flipV="false" rot="0">
              <a:off x="0" y="0"/>
              <a:ext cx="7151370" cy="5505450"/>
            </a:xfrm>
            <a:custGeom>
              <a:avLst/>
              <a:gdLst/>
              <a:ahLst/>
              <a:cxnLst/>
              <a:rect r="r" b="b" t="t" l="l"/>
              <a:pathLst>
                <a:path h="5505450" w="7151370">
                  <a:moveTo>
                    <a:pt x="0" y="0"/>
                  </a:moveTo>
                  <a:lnTo>
                    <a:pt x="7151370" y="0"/>
                  </a:lnTo>
                  <a:lnTo>
                    <a:pt x="7151370" y="5505450"/>
                  </a:lnTo>
                  <a:lnTo>
                    <a:pt x="0" y="5505450"/>
                  </a:lnTo>
                  <a:close/>
                </a:path>
              </a:pathLst>
            </a:custGeom>
            <a:solidFill>
              <a:srgbClr val="FFFFFF"/>
            </a:solidFill>
            <a:ln w="14288" cap="sq">
              <a:solidFill>
                <a:srgbClr val="D9DFEA"/>
              </a:solidFill>
              <a:prstDash val="solid"/>
              <a:miter/>
            </a:ln>
          </p:spPr>
        </p:sp>
      </p:grpSp>
      <p:grpSp>
        <p:nvGrpSpPr>
          <p:cNvPr name="Group 18" id="18"/>
          <p:cNvGrpSpPr/>
          <p:nvPr/>
        </p:nvGrpSpPr>
        <p:grpSpPr>
          <a:xfrm rot="0">
            <a:off x="840867" y="2527935"/>
            <a:ext cx="5368290" cy="80772"/>
            <a:chOff x="0" y="0"/>
            <a:chExt cx="7157720" cy="107696"/>
          </a:xfrm>
        </p:grpSpPr>
        <p:sp>
          <p:nvSpPr>
            <p:cNvPr name="Freeform 19" id="19"/>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32257"/>
            </a:solidFill>
            <a:ln w="19050" cap="sq">
              <a:solidFill>
                <a:srgbClr val="132257"/>
              </a:solidFill>
              <a:prstDash val="solid"/>
              <a:miter/>
            </a:ln>
          </p:spPr>
        </p:sp>
      </p:grpSp>
      <p:sp>
        <p:nvSpPr>
          <p:cNvPr name="TextBox 20" id="20"/>
          <p:cNvSpPr txBox="true"/>
          <p:nvPr/>
        </p:nvSpPr>
        <p:spPr>
          <a:xfrm rot="0">
            <a:off x="1261872" y="2870835"/>
            <a:ext cx="1371600" cy="832485"/>
          </a:xfrm>
          <a:prstGeom prst="rect">
            <a:avLst/>
          </a:prstGeom>
        </p:spPr>
        <p:txBody>
          <a:bodyPr anchor="t" rtlCol="false" tIns="0" lIns="0" bIns="0" rIns="0">
            <a:spAutoFit/>
          </a:bodyPr>
          <a:lstStyle/>
          <a:p>
            <a:pPr algn="l">
              <a:lnSpc>
                <a:spcPts val="5040"/>
              </a:lnSpc>
            </a:pPr>
            <a:r>
              <a:rPr lang="en-US" sz="4200" b="true">
                <a:solidFill>
                  <a:srgbClr val="3C61B6"/>
                </a:solidFill>
                <a:latin typeface="Exo 2 Bold"/>
                <a:ea typeface="Exo 2 Bold"/>
                <a:cs typeface="Exo 2 Bold"/>
                <a:sym typeface="Exo 2 Bold"/>
              </a:rPr>
              <a:t>01</a:t>
            </a:r>
          </a:p>
        </p:txBody>
      </p:sp>
      <p:sp>
        <p:nvSpPr>
          <p:cNvPr name="TextBox 21" id="21"/>
          <p:cNvSpPr txBox="true"/>
          <p:nvPr/>
        </p:nvSpPr>
        <p:spPr>
          <a:xfrm rot="0">
            <a:off x="1261872" y="3830955"/>
            <a:ext cx="4526280" cy="626745"/>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Market insight</a:t>
            </a:r>
          </a:p>
        </p:txBody>
      </p:sp>
      <p:sp>
        <p:nvSpPr>
          <p:cNvPr name="TextBox 22" id="22"/>
          <p:cNvSpPr txBox="true"/>
          <p:nvPr/>
        </p:nvSpPr>
        <p:spPr>
          <a:xfrm rot="0">
            <a:off x="1261872" y="4585335"/>
            <a:ext cx="4526280" cy="895350"/>
          </a:xfrm>
          <a:prstGeom prst="rect">
            <a:avLst/>
          </a:prstGeom>
        </p:spPr>
        <p:txBody>
          <a:bodyPr anchor="t" rtlCol="false" tIns="0" lIns="0" bIns="0" rIns="0">
            <a:spAutoFit/>
          </a:bodyPr>
          <a:lstStyle/>
          <a:p>
            <a:pPr algn="l">
              <a:lnSpc>
                <a:spcPts val="2340"/>
              </a:lnSpc>
            </a:pPr>
            <a:r>
              <a:rPr lang="en-US" sz="1950">
                <a:solidFill>
                  <a:srgbClr val="1F2A44"/>
                </a:solidFill>
                <a:latin typeface="Exo 2"/>
                <a:ea typeface="Exo 2"/>
                <a:cs typeface="Exo 2"/>
                <a:sym typeface="Exo 2"/>
              </a:rPr>
              <a:t>What Saudi digital customers expect, and what has worked in your marketing strategy the most.</a:t>
            </a:r>
          </a:p>
        </p:txBody>
      </p:sp>
      <p:grpSp>
        <p:nvGrpSpPr>
          <p:cNvPr name="Group 23" id="23"/>
          <p:cNvGrpSpPr/>
          <p:nvPr/>
        </p:nvGrpSpPr>
        <p:grpSpPr>
          <a:xfrm rot="0">
            <a:off x="6466808" y="2530316"/>
            <a:ext cx="5363528" cy="4129088"/>
            <a:chOff x="0" y="0"/>
            <a:chExt cx="7151370" cy="5505450"/>
          </a:xfrm>
        </p:grpSpPr>
        <p:sp>
          <p:nvSpPr>
            <p:cNvPr name="Freeform 24" id="24"/>
            <p:cNvSpPr/>
            <p:nvPr/>
          </p:nvSpPr>
          <p:spPr>
            <a:xfrm flipH="false" flipV="false" rot="0">
              <a:off x="0" y="0"/>
              <a:ext cx="7151370" cy="5505450"/>
            </a:xfrm>
            <a:custGeom>
              <a:avLst/>
              <a:gdLst/>
              <a:ahLst/>
              <a:cxnLst/>
              <a:rect r="r" b="b" t="t" l="l"/>
              <a:pathLst>
                <a:path h="5505450" w="7151370">
                  <a:moveTo>
                    <a:pt x="0" y="0"/>
                  </a:moveTo>
                  <a:lnTo>
                    <a:pt x="7151370" y="0"/>
                  </a:lnTo>
                  <a:lnTo>
                    <a:pt x="7151370" y="5505450"/>
                  </a:lnTo>
                  <a:lnTo>
                    <a:pt x="0" y="5505450"/>
                  </a:lnTo>
                  <a:close/>
                </a:path>
              </a:pathLst>
            </a:custGeom>
            <a:solidFill>
              <a:srgbClr val="FFFFFF"/>
            </a:solidFill>
            <a:ln w="14288" cap="sq">
              <a:solidFill>
                <a:srgbClr val="D9DFEA"/>
              </a:solidFill>
              <a:prstDash val="solid"/>
              <a:miter/>
            </a:ln>
          </p:spPr>
        </p:sp>
      </p:grpSp>
      <p:grpSp>
        <p:nvGrpSpPr>
          <p:cNvPr name="Group 25" id="25"/>
          <p:cNvGrpSpPr/>
          <p:nvPr/>
        </p:nvGrpSpPr>
        <p:grpSpPr>
          <a:xfrm rot="0">
            <a:off x="6464427" y="2527935"/>
            <a:ext cx="5368290" cy="80772"/>
            <a:chOff x="0" y="0"/>
            <a:chExt cx="7157720" cy="107696"/>
          </a:xfrm>
        </p:grpSpPr>
        <p:sp>
          <p:nvSpPr>
            <p:cNvPr name="Freeform 26" id="26"/>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D4AF37"/>
            </a:solidFill>
            <a:ln w="19050" cap="sq">
              <a:solidFill>
                <a:srgbClr val="D4AF37"/>
              </a:solidFill>
              <a:prstDash val="solid"/>
              <a:miter/>
            </a:ln>
          </p:spPr>
        </p:sp>
      </p:grpSp>
      <p:sp>
        <p:nvSpPr>
          <p:cNvPr name="TextBox 27" id="27"/>
          <p:cNvSpPr txBox="true"/>
          <p:nvPr/>
        </p:nvSpPr>
        <p:spPr>
          <a:xfrm rot="0">
            <a:off x="6885432" y="2870835"/>
            <a:ext cx="1371600" cy="832485"/>
          </a:xfrm>
          <a:prstGeom prst="rect">
            <a:avLst/>
          </a:prstGeom>
        </p:spPr>
        <p:txBody>
          <a:bodyPr anchor="t" rtlCol="false" tIns="0" lIns="0" bIns="0" rIns="0">
            <a:spAutoFit/>
          </a:bodyPr>
          <a:lstStyle/>
          <a:p>
            <a:pPr algn="l">
              <a:lnSpc>
                <a:spcPts val="5040"/>
              </a:lnSpc>
            </a:pPr>
            <a:r>
              <a:rPr lang="en-US" sz="4200" b="true">
                <a:solidFill>
                  <a:srgbClr val="3C61B6"/>
                </a:solidFill>
                <a:latin typeface="Exo 2 Bold"/>
                <a:ea typeface="Exo 2 Bold"/>
                <a:cs typeface="Exo 2 Bold"/>
                <a:sym typeface="Exo 2 Bold"/>
              </a:rPr>
              <a:t>02</a:t>
            </a:r>
          </a:p>
        </p:txBody>
      </p:sp>
      <p:sp>
        <p:nvSpPr>
          <p:cNvPr name="TextBox 28" id="28"/>
          <p:cNvSpPr txBox="true"/>
          <p:nvPr/>
        </p:nvSpPr>
        <p:spPr>
          <a:xfrm rot="0">
            <a:off x="6885432" y="3830955"/>
            <a:ext cx="4526280" cy="438150"/>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Influencer Marketing</a:t>
            </a:r>
          </a:p>
        </p:txBody>
      </p:sp>
      <p:sp>
        <p:nvSpPr>
          <p:cNvPr name="TextBox 29" id="29"/>
          <p:cNvSpPr txBox="true"/>
          <p:nvPr/>
        </p:nvSpPr>
        <p:spPr>
          <a:xfrm rot="0">
            <a:off x="6885432" y="4585335"/>
            <a:ext cx="4526280" cy="1485900"/>
          </a:xfrm>
          <a:prstGeom prst="rect">
            <a:avLst/>
          </a:prstGeom>
        </p:spPr>
        <p:txBody>
          <a:bodyPr anchor="t" rtlCol="false" tIns="0" lIns="0" bIns="0" rIns="0">
            <a:spAutoFit/>
          </a:bodyPr>
          <a:lstStyle/>
          <a:p>
            <a:pPr algn="l">
              <a:lnSpc>
                <a:spcPts val="2340"/>
              </a:lnSpc>
            </a:pPr>
            <a:r>
              <a:rPr lang="en-US" sz="1950">
                <a:solidFill>
                  <a:srgbClr val="1F2A44"/>
                </a:solidFill>
                <a:latin typeface="Exo 2"/>
                <a:ea typeface="Exo 2"/>
                <a:cs typeface="Exo 2"/>
                <a:sym typeface="Exo 2"/>
              </a:rPr>
              <a:t>Which influencer categories, platforms, and audience profiles deliver the strongest engagement and customer acquisition results for financial services in Saudi Arabia?</a:t>
            </a:r>
          </a:p>
        </p:txBody>
      </p:sp>
      <p:grpSp>
        <p:nvGrpSpPr>
          <p:cNvPr name="Group 30" id="30"/>
          <p:cNvGrpSpPr/>
          <p:nvPr/>
        </p:nvGrpSpPr>
        <p:grpSpPr>
          <a:xfrm rot="0">
            <a:off x="12090368" y="2530316"/>
            <a:ext cx="5363528" cy="4129088"/>
            <a:chOff x="0" y="0"/>
            <a:chExt cx="7151370" cy="5505450"/>
          </a:xfrm>
        </p:grpSpPr>
        <p:sp>
          <p:nvSpPr>
            <p:cNvPr name="Freeform 31" id="31"/>
            <p:cNvSpPr/>
            <p:nvPr/>
          </p:nvSpPr>
          <p:spPr>
            <a:xfrm flipH="false" flipV="false" rot="0">
              <a:off x="0" y="0"/>
              <a:ext cx="7151370" cy="5505450"/>
            </a:xfrm>
            <a:custGeom>
              <a:avLst/>
              <a:gdLst/>
              <a:ahLst/>
              <a:cxnLst/>
              <a:rect r="r" b="b" t="t" l="l"/>
              <a:pathLst>
                <a:path h="5505450" w="7151370">
                  <a:moveTo>
                    <a:pt x="0" y="0"/>
                  </a:moveTo>
                  <a:lnTo>
                    <a:pt x="7151370" y="0"/>
                  </a:lnTo>
                  <a:lnTo>
                    <a:pt x="7151370" y="5505450"/>
                  </a:lnTo>
                  <a:lnTo>
                    <a:pt x="0" y="5505450"/>
                  </a:lnTo>
                  <a:close/>
                </a:path>
              </a:pathLst>
            </a:custGeom>
            <a:solidFill>
              <a:srgbClr val="FFFFFF"/>
            </a:solidFill>
            <a:ln w="14288" cap="sq">
              <a:solidFill>
                <a:srgbClr val="D9DFEA"/>
              </a:solidFill>
              <a:prstDash val="solid"/>
              <a:miter/>
            </a:ln>
          </p:spPr>
        </p:sp>
      </p:grpSp>
      <p:grpSp>
        <p:nvGrpSpPr>
          <p:cNvPr name="Group 32" id="32"/>
          <p:cNvGrpSpPr/>
          <p:nvPr/>
        </p:nvGrpSpPr>
        <p:grpSpPr>
          <a:xfrm rot="0">
            <a:off x="12087987" y="2527935"/>
            <a:ext cx="5368290" cy="80772"/>
            <a:chOff x="0" y="0"/>
            <a:chExt cx="7157720" cy="107696"/>
          </a:xfrm>
        </p:grpSpPr>
        <p:sp>
          <p:nvSpPr>
            <p:cNvPr name="Freeform 33" id="33"/>
            <p:cNvSpPr/>
            <p:nvPr/>
          </p:nvSpPr>
          <p:spPr>
            <a:xfrm flipH="false" flipV="false" rot="0">
              <a:off x="0" y="0"/>
              <a:ext cx="7157720" cy="107696"/>
            </a:xfrm>
            <a:custGeom>
              <a:avLst/>
              <a:gdLst/>
              <a:ahLst/>
              <a:cxnLst/>
              <a:rect r="r" b="b" t="t" l="l"/>
              <a:pathLst>
                <a:path h="107696" w="7157720">
                  <a:moveTo>
                    <a:pt x="0" y="0"/>
                  </a:moveTo>
                  <a:lnTo>
                    <a:pt x="7157720" y="0"/>
                  </a:lnTo>
                  <a:lnTo>
                    <a:pt x="7157720" y="107696"/>
                  </a:lnTo>
                  <a:lnTo>
                    <a:pt x="0" y="107696"/>
                  </a:lnTo>
                  <a:close/>
                </a:path>
              </a:pathLst>
            </a:custGeom>
            <a:solidFill>
              <a:srgbClr val="1BA97C"/>
            </a:solidFill>
            <a:ln w="19050" cap="sq">
              <a:solidFill>
                <a:srgbClr val="1BA97C"/>
              </a:solidFill>
              <a:prstDash val="solid"/>
              <a:miter/>
            </a:ln>
          </p:spPr>
        </p:sp>
      </p:grpSp>
      <p:sp>
        <p:nvSpPr>
          <p:cNvPr name="TextBox 34" id="34"/>
          <p:cNvSpPr txBox="true"/>
          <p:nvPr/>
        </p:nvSpPr>
        <p:spPr>
          <a:xfrm rot="0">
            <a:off x="12508992" y="2870835"/>
            <a:ext cx="1371600" cy="832485"/>
          </a:xfrm>
          <a:prstGeom prst="rect">
            <a:avLst/>
          </a:prstGeom>
        </p:spPr>
        <p:txBody>
          <a:bodyPr anchor="t" rtlCol="false" tIns="0" lIns="0" bIns="0" rIns="0">
            <a:spAutoFit/>
          </a:bodyPr>
          <a:lstStyle/>
          <a:p>
            <a:pPr algn="l">
              <a:lnSpc>
                <a:spcPts val="5040"/>
              </a:lnSpc>
            </a:pPr>
            <a:r>
              <a:rPr lang="en-US" sz="4200" b="true">
                <a:solidFill>
                  <a:srgbClr val="3C61B6"/>
                </a:solidFill>
                <a:latin typeface="Exo 2 Bold"/>
                <a:ea typeface="Exo 2 Bold"/>
                <a:cs typeface="Exo 2 Bold"/>
                <a:sym typeface="Exo 2 Bold"/>
              </a:rPr>
              <a:t>03</a:t>
            </a:r>
          </a:p>
        </p:txBody>
      </p:sp>
      <p:sp>
        <p:nvSpPr>
          <p:cNvPr name="TextBox 35" id="35"/>
          <p:cNvSpPr txBox="true"/>
          <p:nvPr/>
        </p:nvSpPr>
        <p:spPr>
          <a:xfrm rot="0">
            <a:off x="12508992" y="3830955"/>
            <a:ext cx="4526280" cy="438150"/>
          </a:xfrm>
          <a:prstGeom prst="rect">
            <a:avLst/>
          </a:prstGeom>
        </p:spPr>
        <p:txBody>
          <a:bodyPr anchor="t" rtlCol="false" tIns="0" lIns="0" bIns="0" rIns="0">
            <a:spAutoFit/>
          </a:bodyPr>
          <a:lstStyle/>
          <a:p>
            <a:pPr algn="l">
              <a:lnSpc>
                <a:spcPts val="3419"/>
              </a:lnSpc>
            </a:pPr>
            <a:r>
              <a:rPr lang="en-US" sz="2850" b="true">
                <a:solidFill>
                  <a:srgbClr val="132257"/>
                </a:solidFill>
                <a:latin typeface="Exo 2 Bold"/>
                <a:ea typeface="Exo 2 Bold"/>
                <a:cs typeface="Exo 2 Bold"/>
                <a:sym typeface="Exo 2 Bold"/>
              </a:rPr>
              <a:t>Sponsor Ad</a:t>
            </a:r>
          </a:p>
        </p:txBody>
      </p:sp>
      <p:sp>
        <p:nvSpPr>
          <p:cNvPr name="TextBox 36" id="36"/>
          <p:cNvSpPr txBox="true"/>
          <p:nvPr/>
        </p:nvSpPr>
        <p:spPr>
          <a:xfrm rot="0">
            <a:off x="12508992" y="4585335"/>
            <a:ext cx="4526280" cy="1485900"/>
          </a:xfrm>
          <a:prstGeom prst="rect">
            <a:avLst/>
          </a:prstGeom>
        </p:spPr>
        <p:txBody>
          <a:bodyPr anchor="t" rtlCol="false" tIns="0" lIns="0" bIns="0" rIns="0">
            <a:spAutoFit/>
          </a:bodyPr>
          <a:lstStyle/>
          <a:p>
            <a:pPr algn="l">
              <a:lnSpc>
                <a:spcPts val="2340"/>
              </a:lnSpc>
            </a:pPr>
            <a:r>
              <a:rPr lang="en-US" sz="1950">
                <a:solidFill>
                  <a:srgbClr val="1F2A44"/>
                </a:solidFill>
                <a:latin typeface="Exo 2"/>
                <a:ea typeface="Exo 2"/>
                <a:cs typeface="Exo 2"/>
                <a:sym typeface="Exo 2"/>
              </a:rPr>
              <a:t>What budget is required for sponsorship advertising, which locations should we prioritise beyond Riyadh, and where can we achieve the most efficient cost per click?</a:t>
            </a:r>
          </a:p>
        </p:txBody>
      </p:sp>
      <p:grpSp>
        <p:nvGrpSpPr>
          <p:cNvPr name="Group 37" id="37"/>
          <p:cNvGrpSpPr/>
          <p:nvPr/>
        </p:nvGrpSpPr>
        <p:grpSpPr>
          <a:xfrm rot="0">
            <a:off x="840867" y="7122795"/>
            <a:ext cx="16615410" cy="979170"/>
            <a:chOff x="0" y="0"/>
            <a:chExt cx="22153880" cy="1305560"/>
          </a:xfrm>
        </p:grpSpPr>
        <p:sp>
          <p:nvSpPr>
            <p:cNvPr name="Freeform 38" id="38"/>
            <p:cNvSpPr/>
            <p:nvPr/>
          </p:nvSpPr>
          <p:spPr>
            <a:xfrm flipH="false" flipV="false" rot="0">
              <a:off x="0" y="0"/>
              <a:ext cx="22153880" cy="1305560"/>
            </a:xfrm>
            <a:custGeom>
              <a:avLst/>
              <a:gdLst/>
              <a:ahLst/>
              <a:cxnLst/>
              <a:rect r="r" b="b" t="t" l="l"/>
              <a:pathLst>
                <a:path h="1305560" w="22153880">
                  <a:moveTo>
                    <a:pt x="0" y="0"/>
                  </a:moveTo>
                  <a:lnTo>
                    <a:pt x="22153880" y="0"/>
                  </a:lnTo>
                  <a:lnTo>
                    <a:pt x="22153880" y="1305560"/>
                  </a:lnTo>
                  <a:lnTo>
                    <a:pt x="0" y="1305560"/>
                  </a:lnTo>
                  <a:close/>
                </a:path>
              </a:pathLst>
            </a:custGeom>
            <a:solidFill>
              <a:srgbClr val="EEF1F8"/>
            </a:solidFill>
            <a:ln w="19050" cap="sq">
              <a:solidFill>
                <a:srgbClr val="EEF1F8"/>
              </a:solidFill>
              <a:prstDash val="solid"/>
              <a:miter/>
            </a:ln>
          </p:spPr>
        </p:sp>
      </p:grpSp>
      <p:grpSp>
        <p:nvGrpSpPr>
          <p:cNvPr name="Group 39" id="39"/>
          <p:cNvGrpSpPr/>
          <p:nvPr/>
        </p:nvGrpSpPr>
        <p:grpSpPr>
          <a:xfrm rot="0">
            <a:off x="840867" y="7122795"/>
            <a:ext cx="101346" cy="979170"/>
            <a:chOff x="0" y="0"/>
            <a:chExt cx="135128" cy="1305560"/>
          </a:xfrm>
        </p:grpSpPr>
        <p:sp>
          <p:nvSpPr>
            <p:cNvPr name="Freeform 40" id="40"/>
            <p:cNvSpPr/>
            <p:nvPr/>
          </p:nvSpPr>
          <p:spPr>
            <a:xfrm flipH="false" flipV="false" rot="0">
              <a:off x="0" y="0"/>
              <a:ext cx="135128" cy="1305560"/>
            </a:xfrm>
            <a:custGeom>
              <a:avLst/>
              <a:gdLst/>
              <a:ahLst/>
              <a:cxnLst/>
              <a:rect r="r" b="b" t="t" l="l"/>
              <a:pathLst>
                <a:path h="1305560" w="135128">
                  <a:moveTo>
                    <a:pt x="0" y="0"/>
                  </a:moveTo>
                  <a:lnTo>
                    <a:pt x="135128" y="0"/>
                  </a:lnTo>
                  <a:lnTo>
                    <a:pt x="135128" y="1305560"/>
                  </a:lnTo>
                  <a:lnTo>
                    <a:pt x="0" y="1305560"/>
                  </a:lnTo>
                  <a:close/>
                </a:path>
              </a:pathLst>
            </a:custGeom>
            <a:solidFill>
              <a:srgbClr val="D4AF37"/>
            </a:solidFill>
            <a:ln w="19050" cap="sq">
              <a:solidFill>
                <a:srgbClr val="D4AF37"/>
              </a:solidFill>
              <a:prstDash val="solid"/>
              <a:miter/>
            </a:ln>
          </p:spPr>
        </p:sp>
      </p:grpSp>
      <p:grpSp>
        <p:nvGrpSpPr>
          <p:cNvPr name="Group 41" id="41"/>
          <p:cNvGrpSpPr/>
          <p:nvPr/>
        </p:nvGrpSpPr>
        <p:grpSpPr>
          <a:xfrm rot="0">
            <a:off x="1234440" y="7132320"/>
            <a:ext cx="16047720" cy="960120"/>
            <a:chOff x="0" y="0"/>
            <a:chExt cx="21396960" cy="1280160"/>
          </a:xfrm>
        </p:grpSpPr>
        <p:sp>
          <p:nvSpPr>
            <p:cNvPr name="Freeform 42" id="42"/>
            <p:cNvSpPr/>
            <p:nvPr/>
          </p:nvSpPr>
          <p:spPr>
            <a:xfrm flipH="false" flipV="false" rot="0">
              <a:off x="0" y="0"/>
              <a:ext cx="21396961" cy="1280160"/>
            </a:xfrm>
            <a:custGeom>
              <a:avLst/>
              <a:gdLst/>
              <a:ahLst/>
              <a:cxnLst/>
              <a:rect r="r" b="b" t="t" l="l"/>
              <a:pathLst>
                <a:path h="1280160" w="21396961">
                  <a:moveTo>
                    <a:pt x="0" y="0"/>
                  </a:moveTo>
                  <a:lnTo>
                    <a:pt x="21396961" y="0"/>
                  </a:lnTo>
                  <a:lnTo>
                    <a:pt x="21396961" y="1280160"/>
                  </a:lnTo>
                  <a:lnTo>
                    <a:pt x="0" y="1280160"/>
                  </a:lnTo>
                  <a:close/>
                </a:path>
              </a:pathLst>
            </a:custGeom>
            <a:blipFill>
              <a:blip r:embed="rId4">
                <a:alphaModFix amt="0"/>
              </a:blip>
              <a:stretch>
                <a:fillRect l="0" t="-275678" r="0" b="-275678"/>
              </a:stretch>
            </a:blipFill>
          </p:spPr>
        </p:sp>
        <p:sp>
          <p:nvSpPr>
            <p:cNvPr name="TextBox 43" id="43"/>
            <p:cNvSpPr txBox="true"/>
            <p:nvPr/>
          </p:nvSpPr>
          <p:spPr>
            <a:xfrm>
              <a:off x="0" y="-9525"/>
              <a:ext cx="21396960" cy="1289685"/>
            </a:xfrm>
            <a:prstGeom prst="rect">
              <a:avLst/>
            </a:prstGeom>
          </p:spPr>
          <p:txBody>
            <a:bodyPr anchor="ctr" rtlCol="false" tIns="0" lIns="0" bIns="0" rIns="0"/>
            <a:lstStyle/>
            <a:p>
              <a:pPr algn="l">
                <a:lnSpc>
                  <a:spcPts val="2340"/>
                </a:lnSpc>
              </a:pPr>
              <a:r>
                <a:rPr lang="en-US" sz="1950" i="true">
                  <a:solidFill>
                    <a:srgbClr val="132257"/>
                  </a:solidFill>
                  <a:latin typeface="Exo 2 Italics"/>
                  <a:ea typeface="Exo 2 Italics"/>
                  <a:cs typeface="Exo 2 Italics"/>
                  <a:sym typeface="Exo 2 Italics"/>
                </a:rPr>
                <a:t>We would value your advice as we enter the Saudi market.</a:t>
              </a:r>
            </a:p>
          </p:txBody>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5149" y="0"/>
            <a:ext cx="18456905" cy="10287000"/>
          </a:xfrm>
          <a:custGeom>
            <a:avLst/>
            <a:gdLst/>
            <a:ahLst/>
            <a:cxnLst/>
            <a:rect r="r" b="b" t="t" l="l"/>
            <a:pathLst>
              <a:path h="10287000" w="18456905">
                <a:moveTo>
                  <a:pt x="0" y="0"/>
                </a:moveTo>
                <a:lnTo>
                  <a:pt x="18456905" y="0"/>
                </a:lnTo>
                <a:lnTo>
                  <a:pt x="18456905" y="10287000"/>
                </a:lnTo>
                <a:lnTo>
                  <a:pt x="0" y="10287000"/>
                </a:lnTo>
                <a:lnTo>
                  <a:pt x="0" y="0"/>
                </a:lnTo>
                <a:close/>
              </a:path>
            </a:pathLst>
          </a:custGeom>
          <a:blipFill>
            <a:blip r:embed="rId3"/>
            <a:stretch>
              <a:fillRect l="-6741" t="-4120" r="-509" b="-4120"/>
            </a:stretch>
          </a:blipFill>
        </p:spPr>
        <p:txBody>
          <a:bodyPr/>
          <a:p/>
        </p:txBody>
      </p:sp>
      <p:grpSp>
        <p:nvGrpSpPr>
          <p:cNvPr name="Group 3" id="3"/>
          <p:cNvGrpSpPr/>
          <p:nvPr/>
        </p:nvGrpSpPr>
        <p:grpSpPr>
          <a:xfrm rot="0">
            <a:off x="1028700" y="1028700"/>
            <a:ext cx="2400300" cy="850392"/>
            <a:chOff x="0" y="0"/>
            <a:chExt cx="3200400" cy="1133856"/>
          </a:xfrm>
        </p:grpSpPr>
        <p:sp>
          <p:nvSpPr>
            <p:cNvPr name="Freeform 4" id="4" descr="/home/user/HatemIsa_202508993_IT9002_NLP_Project/emyaa-ceo-deck/working/charts/emyaa_white.png"/>
            <p:cNvSpPr/>
            <p:nvPr/>
          </p:nvSpPr>
          <p:spPr>
            <a:xfrm flipH="false" flipV="false" rot="0">
              <a:off x="0" y="0"/>
              <a:ext cx="3200400" cy="1133856"/>
            </a:xfrm>
            <a:custGeom>
              <a:avLst/>
              <a:gdLst/>
              <a:ahLst/>
              <a:cxnLst/>
              <a:rect r="r" b="b" t="t" l="l"/>
              <a:pathLst>
                <a:path h="1133856" w="3200400">
                  <a:moveTo>
                    <a:pt x="0" y="0"/>
                  </a:moveTo>
                  <a:lnTo>
                    <a:pt x="3200400" y="0"/>
                  </a:lnTo>
                  <a:lnTo>
                    <a:pt x="3200400" y="1133856"/>
                  </a:lnTo>
                  <a:lnTo>
                    <a:pt x="0" y="1133856"/>
                  </a:lnTo>
                  <a:lnTo>
                    <a:pt x="0" y="0"/>
                  </a:lnTo>
                  <a:close/>
                </a:path>
              </a:pathLst>
            </a:custGeom>
            <a:blipFill>
              <a:blip r:embed="rId4"/>
              <a:stretch>
                <a:fillRect l="0" t="-179" r="0" b="-179"/>
              </a:stretch>
            </a:blipFill>
          </p:spPr>
        </p:sp>
      </p:grpSp>
      <p:grpSp>
        <p:nvGrpSpPr>
          <p:cNvPr name="Group 5" id="5"/>
          <p:cNvGrpSpPr/>
          <p:nvPr/>
        </p:nvGrpSpPr>
        <p:grpSpPr>
          <a:xfrm rot="0">
            <a:off x="14634972" y="1028700"/>
            <a:ext cx="2633472" cy="768096"/>
            <a:chOff x="0" y="0"/>
            <a:chExt cx="3511296" cy="1024128"/>
          </a:xfrm>
        </p:grpSpPr>
        <p:sp>
          <p:nvSpPr>
            <p:cNvPr name="Freeform 6" id="6" descr="/home/user/HatemIsa_202508993_IT9002_NLP_Project/emyaa-ceo-deck/working/charts/ajyad_white.png"/>
            <p:cNvSpPr/>
            <p:nvPr/>
          </p:nvSpPr>
          <p:spPr>
            <a:xfrm flipH="false" flipV="false" rot="0">
              <a:off x="0" y="0"/>
              <a:ext cx="3511296" cy="1024128"/>
            </a:xfrm>
            <a:custGeom>
              <a:avLst/>
              <a:gdLst/>
              <a:ahLst/>
              <a:cxnLst/>
              <a:rect r="r" b="b" t="t" l="l"/>
              <a:pathLst>
                <a:path h="1024128" w="3511296">
                  <a:moveTo>
                    <a:pt x="0" y="0"/>
                  </a:moveTo>
                  <a:lnTo>
                    <a:pt x="3511296" y="0"/>
                  </a:lnTo>
                  <a:lnTo>
                    <a:pt x="3511296" y="1024128"/>
                  </a:lnTo>
                  <a:lnTo>
                    <a:pt x="0" y="1024128"/>
                  </a:lnTo>
                  <a:lnTo>
                    <a:pt x="0" y="0"/>
                  </a:lnTo>
                  <a:close/>
                </a:path>
              </a:pathLst>
            </a:custGeom>
            <a:blipFill>
              <a:blip r:embed="rId5"/>
              <a:stretch>
                <a:fillRect l="-320" t="0" r="-320" b="0"/>
              </a:stretch>
            </a:blipFill>
          </p:spPr>
        </p:sp>
      </p:grpSp>
      <p:sp>
        <p:nvSpPr>
          <p:cNvPr name="TextBox 7" id="7"/>
          <p:cNvSpPr txBox="true"/>
          <p:nvPr/>
        </p:nvSpPr>
        <p:spPr>
          <a:xfrm rot="0">
            <a:off x="1028700" y="3762375"/>
            <a:ext cx="16322040" cy="1312545"/>
          </a:xfrm>
          <a:prstGeom prst="rect">
            <a:avLst/>
          </a:prstGeom>
        </p:spPr>
        <p:txBody>
          <a:bodyPr anchor="t" rtlCol="false" tIns="0" lIns="0" bIns="0" rIns="0">
            <a:spAutoFit/>
          </a:bodyPr>
          <a:lstStyle/>
          <a:p>
            <a:pPr algn="ctr">
              <a:lnSpc>
                <a:spcPts val="7559"/>
              </a:lnSpc>
            </a:pPr>
            <a:r>
              <a:rPr lang="en-US" sz="6300" b="true">
                <a:solidFill>
                  <a:srgbClr val="FFFFFF"/>
                </a:solidFill>
                <a:latin typeface="Exo 2 Bold"/>
                <a:ea typeface="Exo 2 Bold"/>
                <a:cs typeface="Exo 2 Bold"/>
                <a:sym typeface="Exo 2 Bold"/>
              </a:rPr>
              <a:t>Thank You</a:t>
            </a:r>
          </a:p>
        </p:txBody>
      </p:sp>
      <p:sp>
        <p:nvSpPr>
          <p:cNvPr name="TextBox 8" id="8"/>
          <p:cNvSpPr txBox="true"/>
          <p:nvPr/>
        </p:nvSpPr>
        <p:spPr>
          <a:xfrm rot="0">
            <a:off x="1028700" y="5065395"/>
            <a:ext cx="16322040" cy="626745"/>
          </a:xfrm>
          <a:prstGeom prst="rect">
            <a:avLst/>
          </a:prstGeom>
        </p:spPr>
        <p:txBody>
          <a:bodyPr anchor="t" rtlCol="false" tIns="0" lIns="0" bIns="0" rIns="0">
            <a:spAutoFit/>
          </a:bodyPr>
          <a:lstStyle/>
          <a:p>
            <a:pPr algn="ctr">
              <a:lnSpc>
                <a:spcPts val="3240"/>
              </a:lnSpc>
            </a:pPr>
            <a:r>
              <a:rPr lang="en-US" sz="2700">
                <a:solidFill>
                  <a:srgbClr val="D4AF37"/>
                </a:solidFill>
                <a:latin typeface="Exo 2"/>
                <a:ea typeface="Exo 2"/>
                <a:cs typeface="Exo 2"/>
                <a:sym typeface="Exo 2"/>
              </a:rPr>
              <a:t>Invest Wisely. Trade Precisely.</a:t>
            </a:r>
          </a:p>
        </p:txBody>
      </p:sp>
      <p:sp>
        <p:nvSpPr>
          <p:cNvPr name="TextBox 9" id="9"/>
          <p:cNvSpPr txBox="true"/>
          <p:nvPr/>
        </p:nvSpPr>
        <p:spPr>
          <a:xfrm rot="0">
            <a:off x="1028700" y="6505575"/>
            <a:ext cx="16322040" cy="1381125"/>
          </a:xfrm>
          <a:prstGeom prst="rect">
            <a:avLst/>
          </a:prstGeom>
        </p:spPr>
        <p:txBody>
          <a:bodyPr anchor="t" rtlCol="false" tIns="0" lIns="0" bIns="0" rIns="0">
            <a:spAutoFit/>
          </a:bodyPr>
          <a:lstStyle/>
          <a:p>
            <a:pPr algn="ctr">
              <a:lnSpc>
                <a:spcPts val="2160"/>
              </a:lnSpc>
            </a:pPr>
            <a:r>
              <a:rPr lang="en-US" sz="1800">
                <a:solidFill>
                  <a:srgbClr val="FFFFFF"/>
                </a:solidFill>
                <a:latin typeface="Exo 2"/>
                <a:ea typeface="Exo 2"/>
                <a:cs typeface="Exo 2"/>
                <a:sym typeface="Exo 2"/>
              </a:rPr>
              <a:t>Hatem Isa Hatem  |  Marketing Officer, WealthTech</a:t>
            </a:r>
          </a:p>
          <a:p>
            <a:pPr algn="ctr">
              <a:lnSpc>
                <a:spcPts val="2160"/>
              </a:lnSpc>
            </a:pPr>
            <a:r>
              <a:rPr lang="en-US" sz="1800">
                <a:solidFill>
                  <a:srgbClr val="FFFFFF"/>
                </a:solidFill>
                <a:latin typeface="Exo 2"/>
                <a:ea typeface="Exo 2"/>
                <a:cs typeface="Exo 2"/>
                <a:sym typeface="Exo 2"/>
              </a:rPr>
              <a:t>hhatem@ajyadcapital.com  |  +973 17 565 007</a:t>
            </a:r>
          </a:p>
          <a:p>
            <a:pPr algn="ctr">
              <a:lnSpc>
                <a:spcPts val="2160"/>
              </a:lnSpc>
            </a:pPr>
            <a:r>
              <a:rPr lang="en-US" sz="1800">
                <a:solidFill>
                  <a:srgbClr val="FFFFFF"/>
                </a:solidFill>
                <a:latin typeface="Exo 2"/>
                <a:ea typeface="Exo 2"/>
                <a:cs typeface="Exo 2"/>
                <a:sym typeface="Exo 2"/>
              </a:rPr>
              <a:t>Ajyad Capital, 37th Floor, Almoayyed Tower, Manama, Kingdom of Bahrain</a:t>
            </a:r>
          </a:p>
        </p:txBody>
      </p:sp>
      <p:sp>
        <p:nvSpPr>
          <p:cNvPr name="TextBox 10" id="10"/>
          <p:cNvSpPr txBox="true"/>
          <p:nvPr/>
        </p:nvSpPr>
        <p:spPr>
          <a:xfrm rot="0">
            <a:off x="1028700" y="9248775"/>
            <a:ext cx="16322040" cy="421005"/>
          </a:xfrm>
          <a:prstGeom prst="rect">
            <a:avLst/>
          </a:prstGeom>
        </p:spPr>
        <p:txBody>
          <a:bodyPr anchor="t" rtlCol="false" tIns="0" lIns="0" bIns="0" rIns="0">
            <a:spAutoFit/>
          </a:bodyPr>
          <a:lstStyle/>
          <a:p>
            <a:pPr algn="ctr">
              <a:lnSpc>
                <a:spcPts val="1709"/>
              </a:lnSpc>
            </a:pPr>
            <a:r>
              <a:rPr lang="en-US" sz="1425">
                <a:solidFill>
                  <a:srgbClr val="C6CFE4"/>
                </a:solidFill>
                <a:latin typeface="Exo 2"/>
                <a:ea typeface="Exo 2"/>
                <a:cs typeface="Exo 2"/>
                <a:sym typeface="Exo 2"/>
              </a:rPr>
              <a:t>Ajyad Capital is an Islamic investment firm (Category 1) licensed by the Central Bank of Bahrain.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2"/>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WHAT WE HAVE LEARNED SO FAR</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3">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Instagram, X and TikTok: What Worked and Why</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4"/>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3</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5"/>
              <a:stretch>
                <a:fillRect l="-301" t="0" r="-301" b="0"/>
              </a:stretch>
            </a:blipFill>
          </p:spPr>
        </p:sp>
      </p:grpSp>
      <p:sp>
        <p:nvSpPr>
          <p:cNvPr id="16" name="Rectangle 15"/>
          <p:cNvSpPr/>
          <p:nvPr/>
        </p:nvSpPr>
        <p:spPr>
          <a:xfrm>
            <a:off x="841248" y="2377440"/>
            <a:ext cx="5440680" cy="4572000"/>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1248" y="2377440"/>
            <a:ext cx="5440680" cy="82296"/>
          </a:xfrm>
          <a:prstGeom prst="rect">
            <a:avLst/>
          </a:prstGeom>
          <a:solidFill>
            <a:srgbClr val="1BA9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07008" y="2697480"/>
            <a:ext cx="4754880" cy="548640"/>
          </a:xfrm>
          <a:prstGeom prst="rect">
            <a:avLst/>
          </a:prstGeom>
          <a:noFill/>
        </p:spPr>
        <p:txBody>
          <a:bodyPr wrap="square" anchor="t" lIns="0" rIns="0" tIns="0" bIns="0">
            <a:spAutoFit/>
          </a:bodyPr>
          <a:lstStyle/>
          <a:p>
            <a:pPr algn="l"/>
            <a:r>
              <a:rPr sz="2600" b="1" i="0">
                <a:solidFill>
                  <a:srgbClr val="132257"/>
                </a:solidFill>
                <a:latin typeface="Exo 2 Bold"/>
                <a:ea typeface="Exo 2 Bold"/>
                <a:cs typeface="Exo 2 Bold"/>
              </a:rPr>
              <a:t>Instagram</a:t>
            </a:r>
          </a:p>
        </p:txBody>
      </p:sp>
      <p:sp>
        <p:nvSpPr>
          <p:cNvPr id="19" name="TextBox 18"/>
          <p:cNvSpPr txBox="1"/>
          <p:nvPr/>
        </p:nvSpPr>
        <p:spPr>
          <a:xfrm>
            <a:off x="1207008" y="3246120"/>
            <a:ext cx="4754880" cy="411480"/>
          </a:xfrm>
          <a:prstGeom prst="rect">
            <a:avLst/>
          </a:prstGeom>
          <a:noFill/>
        </p:spPr>
        <p:txBody>
          <a:bodyPr wrap="square" anchor="t" lIns="0" rIns="0" tIns="0" bIns="0">
            <a:spAutoFit/>
          </a:bodyPr>
          <a:lstStyle/>
          <a:p>
            <a:pPr algn="l"/>
            <a:r>
              <a:rPr sz="1400" b="1" i="0">
                <a:solidFill>
                  <a:srgbClr val="1BA97C"/>
                </a:solidFill>
                <a:latin typeface="Exo 2 Bold"/>
                <a:ea typeface="Exo 2 Bold"/>
                <a:cs typeface="Exo 2 Bold"/>
              </a:rPr>
              <a:t>OUR STRONGEST CHANNEL</a:t>
            </a:r>
          </a:p>
        </p:txBody>
      </p:sp>
      <p:sp>
        <p:nvSpPr>
          <p:cNvPr id="20" name="TextBox 19"/>
          <p:cNvSpPr txBox="1"/>
          <p:nvPr/>
        </p:nvSpPr>
        <p:spPr>
          <a:xfrm>
            <a:off x="1207008" y="3840480"/>
            <a:ext cx="4754880" cy="3017520"/>
          </a:xfrm>
          <a:prstGeom prst="rect">
            <a:avLst/>
          </a:prstGeom>
          <a:noFill/>
        </p:spPr>
        <p:txBody>
          <a:bodyPr wrap="square" anchor="t" lIns="0" rIns="0" tIns="0" bIns="0">
            <a:spAutoFit/>
          </a:bodyPr>
          <a:lstStyle/>
          <a:p>
            <a:pPr algn="l">
              <a:spcAft>
                <a:spcPts val="1200"/>
              </a:spcAft>
            </a:pPr>
            <a:r>
              <a:rPr sz="1750" b="1" i="0">
                <a:solidFill>
                  <a:srgbClr val="132257"/>
                </a:solidFill>
                <a:latin typeface="Exo 2 Bold"/>
                <a:ea typeface="Exo 2 Bold"/>
                <a:cs typeface="Exo 2 Bold"/>
              </a:rPr>
              <a:t>2,116 followers</a:t>
            </a:r>
            <a:r>
              <a:rPr sz="1750" b="0" i="0">
                <a:solidFill>
                  <a:srgbClr val="1F2A44"/>
                </a:solidFill>
                <a:latin typeface="Exo 2"/>
                <a:ea typeface="Exo 2"/>
                <a:cs typeface="Exo 2"/>
              </a:rPr>
              <a:t>, up from 774 at the end of June</a:t>
            </a:r>
          </a:p>
          <a:p>
            <a:pPr algn="l">
              <a:spcAft>
                <a:spcPts val="1200"/>
              </a:spcAft>
            </a:pPr>
            <a:r>
              <a:rPr sz="1750" b="1" i="0">
                <a:solidFill>
                  <a:srgbClr val="132257"/>
                </a:solidFill>
                <a:latin typeface="Exo 2 Bold"/>
                <a:ea typeface="Exo 2 Bold"/>
                <a:cs typeface="Exo 2 Bold"/>
              </a:rPr>
              <a:t>2.27M views in 90 days</a:t>
            </a:r>
            <a:r>
              <a:rPr sz="1750" b="0" i="0">
                <a:solidFill>
                  <a:srgbClr val="1F2A44"/>
                </a:solidFill>
                <a:latin typeface="Exo 2"/>
                <a:ea typeface="Exo 2"/>
                <a:cs typeface="Exo 2"/>
              </a:rPr>
              <a:t>, 72% of interactions from Reels</a:t>
            </a:r>
          </a:p>
          <a:p>
            <a:pPr algn="l">
              <a:spcAft>
                <a:spcPts val="1200"/>
              </a:spcAft>
            </a:pPr>
            <a:r>
              <a:rPr sz="1750" b="1" i="0">
                <a:solidFill>
                  <a:srgbClr val="132257"/>
                </a:solidFill>
                <a:latin typeface="Exo 2 Bold"/>
                <a:ea typeface="Exo 2 Bold"/>
                <a:cs typeface="Exo 2 Bold"/>
              </a:rPr>
              <a:t>Creator reels: </a:t>
            </a:r>
            <a:r>
              <a:rPr sz="1750" b="0" i="0">
                <a:solidFill>
                  <a:srgbClr val="1F2A44"/>
                </a:solidFill>
                <a:latin typeface="Exo 2"/>
                <a:ea typeface="Exo 2"/>
                <a:cs typeface="Exo 2"/>
              </a:rPr>
              <a:t>Musheera 5.3M and Ali Sabeel 1.3M views (paid boost)</a:t>
            </a:r>
          </a:p>
          <a:p>
            <a:pPr algn="l">
              <a:spcAft>
                <a:spcPts val="1200"/>
              </a:spcAft>
            </a:pPr>
            <a:r>
              <a:rPr sz="1750" b="1" i="0">
                <a:solidFill>
                  <a:srgbClr val="132257"/>
                </a:solidFill>
                <a:latin typeface="Exo 2 Bold"/>
                <a:ea typeface="Exo 2 Bold"/>
                <a:cs typeface="Exo 2 Bold"/>
              </a:rPr>
              <a:t>Mention &amp; Win: </a:t>
            </a:r>
            <a:r>
              <a:rPr sz="1750" b="0" i="0">
                <a:solidFill>
                  <a:srgbClr val="1F2A44"/>
                </a:solidFill>
                <a:latin typeface="Exo 2"/>
                <a:ea typeface="Exo 2"/>
                <a:cs typeface="Exo 2"/>
              </a:rPr>
              <a:t>266K views and 22,580 clicks for USD 600, 6 new accounts</a:t>
            </a:r>
          </a:p>
        </p:txBody>
      </p:sp>
      <p:sp>
        <p:nvSpPr>
          <p:cNvPr id="21" name="Rectangle 20"/>
          <p:cNvSpPr/>
          <p:nvPr/>
        </p:nvSpPr>
        <p:spPr>
          <a:xfrm>
            <a:off x="6464808" y="2377440"/>
            <a:ext cx="5440680" cy="4572000"/>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64808" y="2377440"/>
            <a:ext cx="5440680" cy="82296"/>
          </a:xfrm>
          <a:prstGeom prst="rect">
            <a:avLst/>
          </a:prstGeom>
          <a:solidFill>
            <a:srgbClr val="9A7B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30568" y="2697480"/>
            <a:ext cx="4754880" cy="548640"/>
          </a:xfrm>
          <a:prstGeom prst="rect">
            <a:avLst/>
          </a:prstGeom>
          <a:noFill/>
        </p:spPr>
        <p:txBody>
          <a:bodyPr wrap="square" anchor="t" lIns="0" rIns="0" tIns="0" bIns="0">
            <a:spAutoFit/>
          </a:bodyPr>
          <a:lstStyle/>
          <a:p>
            <a:pPr algn="l"/>
            <a:r>
              <a:rPr sz="2600" b="1" i="0">
                <a:solidFill>
                  <a:srgbClr val="132257"/>
                </a:solidFill>
                <a:latin typeface="Exo 2 Bold"/>
                <a:ea typeface="Exo 2 Bold"/>
                <a:cs typeface="Exo 2 Bold"/>
              </a:rPr>
              <a:t>X (Twitter)</a:t>
            </a:r>
          </a:p>
        </p:txBody>
      </p:sp>
      <p:sp>
        <p:nvSpPr>
          <p:cNvPr id="24" name="TextBox 23"/>
          <p:cNvSpPr txBox="1"/>
          <p:nvPr/>
        </p:nvSpPr>
        <p:spPr>
          <a:xfrm>
            <a:off x="6830568" y="3246120"/>
            <a:ext cx="4754880" cy="411480"/>
          </a:xfrm>
          <a:prstGeom prst="rect">
            <a:avLst/>
          </a:prstGeom>
          <a:noFill/>
        </p:spPr>
        <p:txBody>
          <a:bodyPr wrap="square" anchor="t" lIns="0" rIns="0" tIns="0" bIns="0">
            <a:spAutoFit/>
          </a:bodyPr>
          <a:lstStyle/>
          <a:p>
            <a:pPr algn="l"/>
            <a:r>
              <a:rPr sz="1400" b="1" i="0">
                <a:solidFill>
                  <a:srgbClr val="9A7B1F"/>
                </a:solidFill>
                <a:latin typeface="Exo 2 Bold"/>
                <a:ea typeface="Exo 2 Bold"/>
                <a:cs typeface="Exo 2 Bold"/>
              </a:rPr>
              <a:t>REACH, BUT NOT IN SAUDI</a:t>
            </a:r>
          </a:p>
        </p:txBody>
      </p:sp>
      <p:sp>
        <p:nvSpPr>
          <p:cNvPr id="25" name="TextBox 24"/>
          <p:cNvSpPr txBox="1"/>
          <p:nvPr/>
        </p:nvSpPr>
        <p:spPr>
          <a:xfrm>
            <a:off x="6830568" y="3840480"/>
            <a:ext cx="4754880" cy="3017520"/>
          </a:xfrm>
          <a:prstGeom prst="rect">
            <a:avLst/>
          </a:prstGeom>
          <a:noFill/>
        </p:spPr>
        <p:txBody>
          <a:bodyPr wrap="square" anchor="t" lIns="0" rIns="0" tIns="0" bIns="0">
            <a:spAutoFit/>
          </a:bodyPr>
          <a:lstStyle/>
          <a:p>
            <a:pPr algn="l">
              <a:spcAft>
                <a:spcPts val="1200"/>
              </a:spcAft>
            </a:pPr>
            <a:r>
              <a:rPr sz="1750" b="1" i="0">
                <a:solidFill>
                  <a:srgbClr val="132257"/>
                </a:solidFill>
                <a:latin typeface="Exo 2 Bold"/>
                <a:ea typeface="Exo 2 Bold"/>
                <a:cs typeface="Exo 2 Bold"/>
              </a:rPr>
              <a:t>738 followers</a:t>
            </a:r>
            <a:r>
              <a:rPr sz="1750" b="0" i="0">
                <a:solidFill>
                  <a:srgbClr val="1F2A44"/>
                </a:solidFill>
                <a:latin typeface="Exo 2"/>
                <a:ea typeface="Exo 2"/>
                <a:cs typeface="Exo 2"/>
              </a:rPr>
              <a:t>, 96% in Bahrain and only 4% in Saudi</a:t>
            </a:r>
          </a:p>
          <a:p>
            <a:pPr algn="l">
              <a:spcAft>
                <a:spcPts val="1200"/>
              </a:spcAft>
            </a:pPr>
            <a:r>
              <a:rPr sz="1750" b="1" i="0">
                <a:solidFill>
                  <a:srgbClr val="132257"/>
                </a:solidFill>
                <a:latin typeface="Exo 2 Bold"/>
                <a:ea typeface="Exo 2 Bold"/>
                <a:cs typeface="Exo 2 Bold"/>
              </a:rPr>
              <a:t>Saudi city tests </a:t>
            </a:r>
            <a:r>
              <a:rPr sz="1750" b="0" i="0">
                <a:solidFill>
                  <a:srgbClr val="1F2A44"/>
                </a:solidFill>
                <a:latin typeface="Exo 2"/>
                <a:ea typeface="Exo 2"/>
                <a:cs typeface="Exo 2"/>
              </a:rPr>
              <a:t>in Jeddah, Dammam and Khobar in June</a:t>
            </a:r>
          </a:p>
          <a:p>
            <a:pPr algn="l">
              <a:spcAft>
                <a:spcPts val="1200"/>
              </a:spcAft>
            </a:pPr>
            <a:r>
              <a:rPr sz="1750" b="1" i="0">
                <a:solidFill>
                  <a:srgbClr val="132257"/>
                </a:solidFill>
                <a:latin typeface="Exo 2 Bold"/>
                <a:ea typeface="Exo 2 Bold"/>
                <a:cs typeface="Exo 2 Bold"/>
              </a:rPr>
              <a:t>Engagement fell 42% </a:t>
            </a:r>
            <a:r>
              <a:rPr sz="1750" b="0" i="0">
                <a:solidFill>
                  <a:srgbClr val="1F2A44"/>
                </a:solidFill>
                <a:latin typeface="Exo 2"/>
                <a:ea typeface="Exo 2"/>
                <a:cs typeface="Exo 2"/>
              </a:rPr>
              <a:t>in June while followers grew</a:t>
            </a:r>
          </a:p>
          <a:p>
            <a:pPr algn="l">
              <a:spcAft>
                <a:spcPts val="1200"/>
              </a:spcAft>
            </a:pPr>
            <a:r>
              <a:rPr sz="1750" b="1" i="0">
                <a:solidFill>
                  <a:srgbClr val="132257"/>
                </a:solidFill>
                <a:latin typeface="Exo 2 Bold"/>
                <a:ea typeface="Exo 2 Bold"/>
                <a:cs typeface="Exo 2 Bold"/>
              </a:rPr>
              <a:t>Paid support paused </a:t>
            </a:r>
            <a:r>
              <a:rPr sz="1750" b="0" i="0">
                <a:solidFill>
                  <a:srgbClr val="1F2A44"/>
                </a:solidFill>
                <a:latin typeface="Exo 2"/>
                <a:ea typeface="Exo 2"/>
                <a:cs typeface="Exo 2"/>
              </a:rPr>
              <a:t>since July</a:t>
            </a:r>
          </a:p>
        </p:txBody>
      </p:sp>
      <p:sp>
        <p:nvSpPr>
          <p:cNvPr id="26" name="Rectangle 25"/>
          <p:cNvSpPr/>
          <p:nvPr/>
        </p:nvSpPr>
        <p:spPr>
          <a:xfrm>
            <a:off x="12088368" y="2377440"/>
            <a:ext cx="5440680" cy="4572000"/>
          </a:xfrm>
          <a:prstGeom prst="rect">
            <a:avLst/>
          </a:prstGeom>
          <a:solidFill>
            <a:srgbClr val="FFFFFF"/>
          </a:solidFill>
          <a:ln w="9525">
            <a:solidFill>
              <a:srgbClr val="D9DF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088368" y="2377440"/>
            <a:ext cx="5440680" cy="82296"/>
          </a:xfrm>
          <a:prstGeom prst="rect">
            <a:avLst/>
          </a:prstGeom>
          <a:solidFill>
            <a:srgbClr val="C530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454128" y="2697480"/>
            <a:ext cx="4754880" cy="548640"/>
          </a:xfrm>
          <a:prstGeom prst="rect">
            <a:avLst/>
          </a:prstGeom>
          <a:noFill/>
        </p:spPr>
        <p:txBody>
          <a:bodyPr wrap="square" anchor="t" lIns="0" rIns="0" tIns="0" bIns="0">
            <a:spAutoFit/>
          </a:bodyPr>
          <a:lstStyle/>
          <a:p>
            <a:pPr algn="l"/>
            <a:r>
              <a:rPr sz="2600" b="1" i="0">
                <a:solidFill>
                  <a:srgbClr val="132257"/>
                </a:solidFill>
                <a:latin typeface="Exo 2 Bold"/>
                <a:ea typeface="Exo 2 Bold"/>
                <a:cs typeface="Exo 2 Bold"/>
              </a:rPr>
              <a:t>TikTok</a:t>
            </a:r>
          </a:p>
        </p:txBody>
      </p:sp>
      <p:sp>
        <p:nvSpPr>
          <p:cNvPr id="29" name="TextBox 28"/>
          <p:cNvSpPr txBox="1"/>
          <p:nvPr/>
        </p:nvSpPr>
        <p:spPr>
          <a:xfrm>
            <a:off x="12454128" y="3246120"/>
            <a:ext cx="4754880" cy="411480"/>
          </a:xfrm>
          <a:prstGeom prst="rect">
            <a:avLst/>
          </a:prstGeom>
          <a:noFill/>
        </p:spPr>
        <p:txBody>
          <a:bodyPr wrap="square" anchor="t" lIns="0" rIns="0" tIns="0" bIns="0">
            <a:spAutoFit/>
          </a:bodyPr>
          <a:lstStyle/>
          <a:p>
            <a:pPr algn="l"/>
            <a:r>
              <a:rPr sz="1400" b="1" i="0">
                <a:solidFill>
                  <a:srgbClr val="C53030"/>
                </a:solidFill>
                <a:latin typeface="Exo 2 Bold"/>
                <a:ea typeface="Exo 2 Bold"/>
                <a:cs typeface="Exo 2 Bold"/>
              </a:rPr>
              <a:t>PAUSED</a:t>
            </a:r>
          </a:p>
        </p:txBody>
      </p:sp>
      <p:sp>
        <p:nvSpPr>
          <p:cNvPr id="30" name="TextBox 29"/>
          <p:cNvSpPr txBox="1"/>
          <p:nvPr/>
        </p:nvSpPr>
        <p:spPr>
          <a:xfrm>
            <a:off x="12454128" y="3840480"/>
            <a:ext cx="4754880" cy="3017520"/>
          </a:xfrm>
          <a:prstGeom prst="rect">
            <a:avLst/>
          </a:prstGeom>
          <a:noFill/>
        </p:spPr>
        <p:txBody>
          <a:bodyPr wrap="square" anchor="t" lIns="0" rIns="0" tIns="0" bIns="0">
            <a:spAutoFit/>
          </a:bodyPr>
          <a:lstStyle/>
          <a:p>
            <a:pPr algn="l">
              <a:spcAft>
                <a:spcPts val="1200"/>
              </a:spcAft>
            </a:pPr>
            <a:r>
              <a:rPr sz="1750" b="1" i="0">
                <a:solidFill>
                  <a:srgbClr val="132257"/>
                </a:solidFill>
                <a:latin typeface="Exo 2 Bold"/>
                <a:ea typeface="Exo 2 Bold"/>
                <a:cs typeface="Exo 2 Bold"/>
              </a:rPr>
              <a:t>15 followers</a:t>
            </a:r>
            <a:r>
              <a:rPr sz="1750" b="0" i="0">
                <a:solidFill>
                  <a:srgbClr val="1F2A44"/>
                </a:solidFill>
                <a:latin typeface="Exo 2"/>
                <a:ea typeface="Exo 2"/>
                <a:cs typeface="Exo 2"/>
              </a:rPr>
              <a:t>, 176 total likes</a:t>
            </a:r>
          </a:p>
          <a:p>
            <a:pPr algn="l">
              <a:spcAft>
                <a:spcPts val="1200"/>
              </a:spcAft>
            </a:pPr>
            <a:r>
              <a:rPr sz="1750" b="1" i="0">
                <a:solidFill>
                  <a:srgbClr val="132257"/>
                </a:solidFill>
                <a:latin typeface="Exo 2 Bold"/>
                <a:ea typeface="Exo 2 Bold"/>
                <a:cs typeface="Exo 2 Bold"/>
              </a:rPr>
              <a:t>Bot traffic found </a:t>
            </a:r>
            <a:r>
              <a:rPr sz="1750" b="0" i="0">
                <a:solidFill>
                  <a:srgbClr val="1F2A44"/>
                </a:solidFill>
                <a:latin typeface="Exo 2"/>
                <a:ea typeface="Exo 2"/>
                <a:cs typeface="Exo 2"/>
              </a:rPr>
              <a:t>in May: 706K fake clicks through a partner ad network</a:t>
            </a:r>
          </a:p>
          <a:p>
            <a:pPr algn="l">
              <a:spcAft>
                <a:spcPts val="1200"/>
              </a:spcAft>
            </a:pPr>
            <a:r>
              <a:rPr sz="1750" b="1" i="0">
                <a:solidFill>
                  <a:srgbClr val="132257"/>
                </a:solidFill>
                <a:latin typeface="Exo 2 Bold"/>
                <a:ea typeface="Exo 2 Bold"/>
                <a:cs typeface="Exo 2 Bold"/>
              </a:rPr>
              <a:t>Paid ads stopped </a:t>
            </a:r>
            <a:r>
              <a:rPr sz="1750" b="0" i="0">
                <a:solidFill>
                  <a:srgbClr val="1F2A44"/>
                </a:solidFill>
                <a:latin typeface="Exo 2"/>
                <a:ea typeface="Exo 2"/>
                <a:cs typeface="Exo 2"/>
              </a:rPr>
              <a:t>on 22 June; traffic has been clean since</a:t>
            </a:r>
          </a:p>
          <a:p>
            <a:pPr algn="l">
              <a:spcAft>
                <a:spcPts val="1200"/>
              </a:spcAft>
            </a:pPr>
            <a:r>
              <a:rPr sz="1750" b="1" i="0">
                <a:solidFill>
                  <a:srgbClr val="132257"/>
                </a:solidFill>
                <a:latin typeface="Exo 2 Bold"/>
                <a:ea typeface="Exo 2 Bold"/>
                <a:cs typeface="Exo 2 Bold"/>
              </a:rPr>
              <a:t>Audience </a:t>
            </a:r>
            <a:r>
              <a:rPr sz="1750" b="0" i="0">
                <a:solidFill>
                  <a:srgbClr val="1F2A44"/>
                </a:solidFill>
                <a:latin typeface="Exo 2"/>
                <a:ea typeface="Exo 2"/>
                <a:cs typeface="Exo 2"/>
              </a:rPr>
              <a:t>not yet a fit for investing content</a:t>
            </a:r>
          </a:p>
        </p:txBody>
      </p:sp>
      <p:sp>
        <p:nvSpPr>
          <p:cNvPr id="31" name="Rectangle 30"/>
          <p:cNvSpPr/>
          <p:nvPr/>
        </p:nvSpPr>
        <p:spPr>
          <a:xfrm>
            <a:off x="841248" y="7178040"/>
            <a:ext cx="16642080" cy="22402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41248" y="7178040"/>
            <a:ext cx="100584" cy="2240280"/>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34440" y="7360920"/>
            <a:ext cx="5486400" cy="365760"/>
          </a:xfrm>
          <a:prstGeom prst="rect">
            <a:avLst/>
          </a:prstGeom>
          <a:noFill/>
        </p:spPr>
        <p:txBody>
          <a:bodyPr wrap="square" anchor="t" lIns="0" rIns="0" tIns="0" bIns="0">
            <a:spAutoFit/>
          </a:bodyPr>
          <a:lstStyle/>
          <a:p>
            <a:pPr algn="l"/>
            <a:r>
              <a:rPr sz="1400" b="1" i="0">
                <a:solidFill>
                  <a:srgbClr val="3C61B6"/>
                </a:solidFill>
                <a:latin typeface="Exo 2 Bold"/>
                <a:ea typeface="Exo 2 Bold"/>
                <a:cs typeface="Exo 2 Bold"/>
              </a:rPr>
              <a:t>WHY INSTAGRAM OUTPERFORMED</a:t>
            </a:r>
          </a:p>
        </p:txBody>
      </p:sp>
      <p:sp>
        <p:nvSpPr>
          <p:cNvPr id="34" name="TextBox 33"/>
          <p:cNvSpPr txBox="1"/>
          <p:nvPr/>
        </p:nvSpPr>
        <p:spPr>
          <a:xfrm>
            <a:off x="1234440" y="7818120"/>
            <a:ext cx="9601200" cy="1554480"/>
          </a:xfrm>
          <a:prstGeom prst="rect">
            <a:avLst/>
          </a:prstGeom>
          <a:noFill/>
        </p:spPr>
        <p:txBody>
          <a:bodyPr wrap="square" anchor="t" lIns="0" rIns="0" tIns="0" bIns="0">
            <a:spAutoFit/>
          </a:bodyPr>
          <a:lstStyle/>
          <a:p>
            <a:pPr algn="l">
              <a:spcAft>
                <a:spcPts val="800"/>
              </a:spcAft>
            </a:pPr>
            <a:r>
              <a:rPr sz="1550" b="1" i="0">
                <a:solidFill>
                  <a:srgbClr val="132257"/>
                </a:solidFill>
                <a:latin typeface="Exo 2 Bold"/>
                <a:ea typeface="Exo 2 Bold"/>
                <a:cs typeface="Exo 2 Bold"/>
              </a:rPr>
              <a:t>Real people, not animation: </a:t>
            </a:r>
            <a:r>
              <a:rPr sz="1550" b="0" i="0">
                <a:solidFill>
                  <a:srgbClr val="1F2A44"/>
                </a:solidFill>
                <a:latin typeface="Exo 2"/>
                <a:ea typeface="Exo 2"/>
                <a:cs typeface="Exo 2"/>
              </a:rPr>
              <a:t>presenter-led creator videos built more trust than graphic explainers.</a:t>
            </a:r>
          </a:p>
          <a:p>
            <a:pPr algn="l">
              <a:spcAft>
                <a:spcPts val="800"/>
              </a:spcAft>
            </a:pPr>
            <a:r>
              <a:rPr sz="1550" b="1" i="0">
                <a:solidFill>
                  <a:srgbClr val="132257"/>
                </a:solidFill>
                <a:latin typeface="Exo 2 Bold"/>
                <a:ea typeface="Exo 2 Bold"/>
                <a:cs typeface="Exo 2 Bold"/>
              </a:rPr>
              <a:t>Paid boost on every key video: </a:t>
            </a:r>
            <a:r>
              <a:rPr sz="1550" b="0" i="0">
                <a:solidFill>
                  <a:srgbClr val="1F2A44"/>
                </a:solidFill>
                <a:latin typeface="Exo 2"/>
                <a:ea typeface="Exo 2"/>
                <a:cs typeface="Exo 2"/>
              </a:rPr>
              <a:t>reach came from sponsoring creator content to the right GCC cities and ages.</a:t>
            </a:r>
          </a:p>
          <a:p>
            <a:pPr algn="l">
              <a:spcAft>
                <a:spcPts val="800"/>
              </a:spcAft>
            </a:pPr>
            <a:r>
              <a:rPr sz="1550" b="1" i="0">
                <a:solidFill>
                  <a:srgbClr val="132257"/>
                </a:solidFill>
                <a:latin typeface="Exo 2 Bold"/>
                <a:ea typeface="Exo 2 Bold"/>
                <a:cs typeface="Exo 2 Bold"/>
              </a:rPr>
              <a:t>Contests that ask for action: </a:t>
            </a:r>
            <a:r>
              <a:rPr sz="1550" b="0" i="0">
                <a:solidFill>
                  <a:srgbClr val="1F2A44"/>
                </a:solidFill>
                <a:latin typeface="Exo 2"/>
                <a:ea typeface="Exo 2"/>
                <a:cs typeface="Exo 2"/>
              </a:rPr>
              <a:t>Mention &amp; Win turns views into follows and new accounts.</a:t>
            </a:r>
          </a:p>
        </p:txBody>
      </p:sp>
      <p:pic>
        <p:nvPicPr>
          <p:cNvPr id="35" name="Picture 34" descr="tile9_musheera.png"/>
          <p:cNvPicPr>
            <a:picLocks noChangeAspect="1"/>
          </p:cNvPicPr>
          <p:nvPr/>
        </p:nvPicPr>
        <p:blipFill>
          <a:blip r:embed="rId6"/>
          <a:stretch>
            <a:fillRect/>
          </a:stretch>
        </p:blipFill>
        <p:spPr>
          <a:xfrm>
            <a:off x="10933661" y="7296912"/>
            <a:ext cx="1527688" cy="1965960"/>
          </a:xfrm>
          <a:prstGeom prst="rect">
            <a:avLst/>
          </a:prstGeom>
        </p:spPr>
      </p:pic>
      <p:sp>
        <p:nvSpPr>
          <p:cNvPr id="36" name="Rectangle 35"/>
          <p:cNvSpPr/>
          <p:nvPr/>
        </p:nvSpPr>
        <p:spPr>
          <a:xfrm>
            <a:off x="10933661" y="8759952"/>
            <a:ext cx="1527688" cy="50292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006813" y="8759952"/>
            <a:ext cx="1381384" cy="502920"/>
          </a:xfrm>
          <a:prstGeom prst="rect">
            <a:avLst/>
          </a:prstGeom>
          <a:noFill/>
        </p:spPr>
        <p:txBody>
          <a:bodyPr wrap="square" anchor="ctr" lIns="0" rIns="0" tIns="0" bIns="0">
            <a:spAutoFit/>
          </a:bodyPr>
          <a:lstStyle/>
          <a:p>
            <a:pPr algn="ctr"/>
            <a:r>
              <a:rPr sz="1050" b="1" i="0">
                <a:solidFill>
                  <a:srgbClr val="FFFFFF"/>
                </a:solidFill>
                <a:latin typeface="Exo 2 Bold"/>
                <a:ea typeface="Exo 2 Bold"/>
                <a:cs typeface="Exo 2 Bold"/>
              </a:rPr>
              <a:t>Musheera</a:t>
            </a:r>
          </a:p>
          <a:p>
            <a:pPr algn="ctr"/>
            <a:r>
              <a:rPr sz="1000" b="0" i="0">
                <a:solidFill>
                  <a:srgbClr val="D4AF37"/>
                </a:solidFill>
                <a:latin typeface="Exo 2"/>
                <a:ea typeface="Exo 2"/>
                <a:cs typeface="Exo 2"/>
              </a:rPr>
              <a:t>5.3M views</a:t>
            </a:r>
          </a:p>
        </p:txBody>
      </p:sp>
      <p:pic>
        <p:nvPicPr>
          <p:cNvPr id="38" name="Picture 37" descr="tile9_ali.png"/>
          <p:cNvPicPr>
            <a:picLocks noChangeAspect="1"/>
          </p:cNvPicPr>
          <p:nvPr/>
        </p:nvPicPr>
        <p:blipFill>
          <a:blip r:embed="rId7"/>
          <a:stretch>
            <a:fillRect/>
          </a:stretch>
        </p:blipFill>
        <p:spPr>
          <a:xfrm>
            <a:off x="12571078" y="7296912"/>
            <a:ext cx="1527688" cy="1965960"/>
          </a:xfrm>
          <a:prstGeom prst="rect">
            <a:avLst/>
          </a:prstGeom>
        </p:spPr>
      </p:pic>
      <p:sp>
        <p:nvSpPr>
          <p:cNvPr id="39" name="Rectangle 38"/>
          <p:cNvSpPr/>
          <p:nvPr/>
        </p:nvSpPr>
        <p:spPr>
          <a:xfrm>
            <a:off x="12571078" y="8759952"/>
            <a:ext cx="1527688" cy="50292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44230" y="8759952"/>
            <a:ext cx="1381384" cy="502920"/>
          </a:xfrm>
          <a:prstGeom prst="rect">
            <a:avLst/>
          </a:prstGeom>
          <a:noFill/>
        </p:spPr>
        <p:txBody>
          <a:bodyPr wrap="square" anchor="ctr" lIns="0" rIns="0" tIns="0" bIns="0">
            <a:spAutoFit/>
          </a:bodyPr>
          <a:lstStyle/>
          <a:p>
            <a:pPr algn="ctr"/>
            <a:r>
              <a:rPr sz="1050" b="1" i="0">
                <a:solidFill>
                  <a:srgbClr val="FFFFFF"/>
                </a:solidFill>
                <a:latin typeface="Exo 2 Bold"/>
                <a:ea typeface="Exo 2 Bold"/>
                <a:cs typeface="Exo 2 Bold"/>
              </a:rPr>
              <a:t>Ali Sabeel</a:t>
            </a:r>
          </a:p>
          <a:p>
            <a:pPr algn="ctr"/>
            <a:r>
              <a:rPr sz="1000" b="0" i="0">
                <a:solidFill>
                  <a:srgbClr val="D4AF37"/>
                </a:solidFill>
                <a:latin typeface="Exo 2"/>
                <a:ea typeface="Exo 2"/>
                <a:cs typeface="Exo 2"/>
              </a:rPr>
              <a:t>1.3M views</a:t>
            </a:r>
          </a:p>
        </p:txBody>
      </p:sp>
      <p:pic>
        <p:nvPicPr>
          <p:cNvPr id="41" name="Picture 40" descr="ksa_reel_mw.png"/>
          <p:cNvPicPr>
            <a:picLocks noChangeAspect="1"/>
          </p:cNvPicPr>
          <p:nvPr/>
        </p:nvPicPr>
        <p:blipFill>
          <a:blip r:embed="rId8"/>
          <a:stretch>
            <a:fillRect/>
          </a:stretch>
        </p:blipFill>
        <p:spPr>
          <a:xfrm>
            <a:off x="14208494" y="7296912"/>
            <a:ext cx="1527688" cy="1965960"/>
          </a:xfrm>
          <a:prstGeom prst="rect">
            <a:avLst/>
          </a:prstGeom>
        </p:spPr>
      </p:pic>
      <p:sp>
        <p:nvSpPr>
          <p:cNvPr id="42" name="Rectangle 41"/>
          <p:cNvSpPr/>
          <p:nvPr/>
        </p:nvSpPr>
        <p:spPr>
          <a:xfrm>
            <a:off x="14208494" y="8759952"/>
            <a:ext cx="1527688" cy="50292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281646" y="8759952"/>
            <a:ext cx="1381384" cy="502920"/>
          </a:xfrm>
          <a:prstGeom prst="rect">
            <a:avLst/>
          </a:prstGeom>
          <a:noFill/>
        </p:spPr>
        <p:txBody>
          <a:bodyPr wrap="square" anchor="ctr" lIns="0" rIns="0" tIns="0" bIns="0">
            <a:spAutoFit/>
          </a:bodyPr>
          <a:lstStyle/>
          <a:p>
            <a:pPr algn="ctr"/>
            <a:r>
              <a:rPr sz="1050" b="1" i="0">
                <a:solidFill>
                  <a:srgbClr val="FFFFFF"/>
                </a:solidFill>
                <a:latin typeface="Exo 2 Bold"/>
                <a:ea typeface="Exo 2 Bold"/>
                <a:cs typeface="Exo 2 Bold"/>
              </a:rPr>
              <a:t>Mention &amp; Win</a:t>
            </a:r>
          </a:p>
          <a:p>
            <a:pPr algn="ctr"/>
            <a:r>
              <a:rPr sz="1000" b="0" i="0">
                <a:solidFill>
                  <a:srgbClr val="D4AF37"/>
                </a:solidFill>
                <a:latin typeface="Exo 2"/>
                <a:ea typeface="Exo 2"/>
                <a:cs typeface="Exo 2"/>
              </a:rPr>
              <a:t>186K views</a:t>
            </a:r>
          </a:p>
        </p:txBody>
      </p:sp>
      <p:pic>
        <p:nvPicPr>
          <p:cNvPr id="44" name="Picture 43" descr="tile9_abdulelah.png"/>
          <p:cNvPicPr>
            <a:picLocks noChangeAspect="1"/>
          </p:cNvPicPr>
          <p:nvPr/>
        </p:nvPicPr>
        <p:blipFill>
          <a:blip r:embed="rId9"/>
          <a:stretch>
            <a:fillRect/>
          </a:stretch>
        </p:blipFill>
        <p:spPr>
          <a:xfrm>
            <a:off x="15845911" y="7296912"/>
            <a:ext cx="1527688" cy="1965960"/>
          </a:xfrm>
          <a:prstGeom prst="rect">
            <a:avLst/>
          </a:prstGeom>
        </p:spPr>
      </p:pic>
      <p:sp>
        <p:nvSpPr>
          <p:cNvPr id="45" name="Rectangle 44"/>
          <p:cNvSpPr/>
          <p:nvPr/>
        </p:nvSpPr>
        <p:spPr>
          <a:xfrm>
            <a:off x="15845911" y="8759952"/>
            <a:ext cx="1527688" cy="502920"/>
          </a:xfrm>
          <a:prstGeom prst="rect">
            <a:avLst/>
          </a:prstGeom>
          <a:solidFill>
            <a:srgbClr val="1322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5919063" y="8759952"/>
            <a:ext cx="1381384" cy="502920"/>
          </a:xfrm>
          <a:prstGeom prst="rect">
            <a:avLst/>
          </a:prstGeom>
          <a:noFill/>
        </p:spPr>
        <p:txBody>
          <a:bodyPr wrap="square" anchor="ctr" lIns="0" rIns="0" tIns="0" bIns="0">
            <a:spAutoFit/>
          </a:bodyPr>
          <a:lstStyle/>
          <a:p>
            <a:pPr algn="ctr"/>
            <a:r>
              <a:rPr sz="1050" b="1" i="0">
                <a:solidFill>
                  <a:srgbClr val="FFFFFF"/>
                </a:solidFill>
                <a:latin typeface="Exo 2 Bold"/>
                <a:ea typeface="Exo 2 Bold"/>
                <a:cs typeface="Exo 2 Bold"/>
              </a:rPr>
              <a:t>Abdulelah Al Harbi</a:t>
            </a:r>
          </a:p>
          <a:p>
            <a:pPr algn="ctr"/>
            <a:r>
              <a:rPr sz="1000" b="0" i="0">
                <a:solidFill>
                  <a:srgbClr val="D4AF37"/>
                </a:solidFill>
                <a:latin typeface="Exo 2"/>
                <a:ea typeface="Exo 2"/>
                <a:cs typeface="Exo 2"/>
              </a:rPr>
              <a:t>October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name="Group 2" id="2"/>
          <p:cNvGrpSpPr/>
          <p:nvPr/>
        </p:nvGrpSpPr>
        <p:grpSpPr>
          <a:xfrm rot="0">
            <a:off x="0" y="0"/>
            <a:ext cx="18287543" cy="1947672"/>
            <a:chOff x="0" y="0"/>
            <a:chExt cx="24383390" cy="2596896"/>
          </a:xfrm>
        </p:grpSpPr>
        <p:sp>
          <p:nvSpPr>
            <p:cNvPr name="Freeform 3" id="3" descr="/home/user/HatemIsa_202508993_IT9002_NLP_Project/emyaa-ceo-deck/working/charts/board_header.png"/>
            <p:cNvSpPr/>
            <p:nvPr/>
          </p:nvSpPr>
          <p:spPr>
            <a:xfrm flipH="false" flipV="false" rot="0">
              <a:off x="0" y="0"/>
              <a:ext cx="24383364" cy="2596896"/>
            </a:xfrm>
            <a:custGeom>
              <a:avLst/>
              <a:gdLst/>
              <a:ahLst/>
              <a:cxnLst/>
              <a:rect r="r" b="b" t="t" l="l"/>
              <a:pathLst>
                <a:path h="2596896" w="24383364">
                  <a:moveTo>
                    <a:pt x="0" y="0"/>
                  </a:moveTo>
                  <a:lnTo>
                    <a:pt x="24383364" y="0"/>
                  </a:lnTo>
                  <a:lnTo>
                    <a:pt x="24383364" y="2596896"/>
                  </a:lnTo>
                  <a:lnTo>
                    <a:pt x="0" y="2596896"/>
                  </a:lnTo>
                  <a:lnTo>
                    <a:pt x="0" y="0"/>
                  </a:lnTo>
                  <a:close/>
                </a:path>
              </a:pathLst>
            </a:custGeom>
            <a:blipFill>
              <a:blip r:embed="rId2"/>
              <a:stretch>
                <a:fillRect l="0" t="-1172" r="0" b="-1172"/>
              </a:stretch>
            </a:blipFill>
          </p:spPr>
        </p:sp>
      </p:grpSp>
      <p:grpSp>
        <p:nvGrpSpPr>
          <p:cNvPr name="Group 4" id="4"/>
          <p:cNvGrpSpPr/>
          <p:nvPr/>
        </p:nvGrpSpPr>
        <p:grpSpPr>
          <a:xfrm rot="0">
            <a:off x="-9525" y="1938147"/>
            <a:ext cx="18306593" cy="60198"/>
            <a:chOff x="0" y="0"/>
            <a:chExt cx="24408790" cy="80264"/>
          </a:xfrm>
        </p:grpSpPr>
        <p:sp>
          <p:nvSpPr>
            <p:cNvPr name="Freeform 5" id="5"/>
            <p:cNvSpPr/>
            <p:nvPr/>
          </p:nvSpPr>
          <p:spPr>
            <a:xfrm flipH="false" flipV="false" rot="0">
              <a:off x="0" y="0"/>
              <a:ext cx="24408764" cy="80264"/>
            </a:xfrm>
            <a:custGeom>
              <a:avLst/>
              <a:gdLst/>
              <a:ahLst/>
              <a:cxnLst/>
              <a:rect r="r" b="b" t="t" l="l"/>
              <a:pathLst>
                <a:path h="80264" w="24408764">
                  <a:moveTo>
                    <a:pt x="0" y="0"/>
                  </a:moveTo>
                  <a:lnTo>
                    <a:pt x="24408764" y="0"/>
                  </a:lnTo>
                  <a:lnTo>
                    <a:pt x="24408764" y="80264"/>
                  </a:lnTo>
                  <a:lnTo>
                    <a:pt x="0" y="80264"/>
                  </a:lnTo>
                  <a:close/>
                </a:path>
              </a:pathLst>
            </a:custGeom>
            <a:solidFill>
              <a:srgbClr val="D4AF37"/>
            </a:solidFill>
            <a:ln w="19050" cap="sq">
              <a:solidFill>
                <a:srgbClr val="D4AF37"/>
              </a:solidFill>
              <a:prstDash val="solid"/>
              <a:miter/>
            </a:ln>
          </p:spPr>
        </p:sp>
      </p:grpSp>
      <p:sp>
        <p:nvSpPr>
          <p:cNvPr name="TextBox 6" id="6"/>
          <p:cNvSpPr txBox="true"/>
          <p:nvPr/>
        </p:nvSpPr>
        <p:spPr>
          <a:xfrm rot="0">
            <a:off x="850392" y="401955"/>
            <a:ext cx="13716000" cy="311277"/>
          </a:xfrm>
          <a:prstGeom prst="rect">
            <a:avLst/>
          </a:prstGeom>
        </p:spPr>
        <p:txBody>
          <a:bodyPr anchor="t" rtlCol="false" tIns="0" lIns="0" bIns="0" rIns="0">
            <a:spAutoFit/>
          </a:bodyPr>
          <a:lstStyle/>
          <a:p>
            <a:pPr algn="l">
              <a:lnSpc>
                <a:spcPts val="1709"/>
              </a:lnSpc>
            </a:pPr>
            <a:r>
              <a:rPr lang="en-US" b="true" sz="1425" spc="299">
                <a:solidFill>
                  <a:srgbClr val="D4AF37"/>
                </a:solidFill>
                <a:latin typeface="Exo 2 Bold"/>
                <a:ea typeface="Exo 2 Bold"/>
                <a:cs typeface="Exo 2 Bold"/>
                <a:sym typeface="Exo 2 Bold"/>
              </a:rPr>
              <a:t>JODEL TAKEOVER POLL, EXAMPLE</a:t>
            </a:r>
          </a:p>
        </p:txBody>
      </p:sp>
      <p:grpSp>
        <p:nvGrpSpPr>
          <p:cNvPr name="Group 7" id="7"/>
          <p:cNvGrpSpPr/>
          <p:nvPr/>
        </p:nvGrpSpPr>
        <p:grpSpPr>
          <a:xfrm rot="0">
            <a:off x="850392" y="713232"/>
            <a:ext cx="14127480" cy="1124712"/>
            <a:chOff x="0" y="0"/>
            <a:chExt cx="18836640" cy="1499616"/>
          </a:xfrm>
        </p:grpSpPr>
        <p:sp>
          <p:nvSpPr>
            <p:cNvPr name="Freeform 8" id="8"/>
            <p:cNvSpPr/>
            <p:nvPr/>
          </p:nvSpPr>
          <p:spPr>
            <a:xfrm flipH="false" flipV="false" rot="0">
              <a:off x="0" y="0"/>
              <a:ext cx="18836639" cy="1499616"/>
            </a:xfrm>
            <a:custGeom>
              <a:avLst/>
              <a:gdLst/>
              <a:ahLst/>
              <a:cxnLst/>
              <a:rect r="r" b="b" t="t" l="l"/>
              <a:pathLst>
                <a:path h="1499616" w="18836639">
                  <a:moveTo>
                    <a:pt x="0" y="0"/>
                  </a:moveTo>
                  <a:lnTo>
                    <a:pt x="18836639" y="0"/>
                  </a:lnTo>
                  <a:lnTo>
                    <a:pt x="18836639" y="1499616"/>
                  </a:lnTo>
                  <a:lnTo>
                    <a:pt x="0" y="1499616"/>
                  </a:lnTo>
                  <a:close/>
                </a:path>
              </a:pathLst>
            </a:custGeom>
            <a:blipFill>
              <a:blip r:embed="rId3">
                <a:alphaModFix amt="0"/>
              </a:blip>
              <a:stretch>
                <a:fillRect l="0" t="-194751" r="0" b="-194751"/>
              </a:stretch>
            </a:blipFill>
          </p:spPr>
        </p:sp>
        <p:sp>
          <p:nvSpPr>
            <p:cNvPr name="TextBox 9" id="9"/>
            <p:cNvSpPr txBox="true"/>
            <p:nvPr/>
          </p:nvSpPr>
          <p:spPr>
            <a:xfrm>
              <a:off x="0" y="-9525"/>
              <a:ext cx="18836640" cy="1509141"/>
            </a:xfrm>
            <a:prstGeom prst="rect">
              <a:avLst/>
            </a:prstGeom>
          </p:spPr>
          <p:txBody>
            <a:bodyPr anchor="ctr" rtlCol="false" tIns="0" lIns="0" bIns="0" rIns="0"/>
            <a:lstStyle/>
            <a:p>
              <a:pPr algn="l">
                <a:lnSpc>
                  <a:spcPts val="3960"/>
                </a:lnSpc>
              </a:pPr>
              <a:r>
                <a:rPr lang="en-US" sz="3300" b="true">
                  <a:solidFill>
                    <a:srgbClr val="FFFFFF"/>
                  </a:solidFill>
                  <a:latin typeface="Exo 2 Bold"/>
                  <a:ea typeface="Exo 2 Bold"/>
                  <a:cs typeface="Exo 2 Bold"/>
                  <a:sym typeface="Exo 2 Bold"/>
                </a:rPr>
                <a:t>An eMYAA Poll Built on Personal Goals</a:t>
              </a:r>
            </a:p>
          </p:txBody>
        </p:sp>
      </p:grpSp>
      <p:grpSp>
        <p:nvGrpSpPr>
          <p:cNvPr name="Group 10" id="10"/>
          <p:cNvGrpSpPr/>
          <p:nvPr/>
        </p:nvGrpSpPr>
        <p:grpSpPr>
          <a:xfrm rot="0">
            <a:off x="15457932" y="685800"/>
            <a:ext cx="1988820" cy="576072"/>
            <a:chOff x="0" y="0"/>
            <a:chExt cx="2651760" cy="768096"/>
          </a:xfrm>
        </p:grpSpPr>
        <p:sp>
          <p:nvSpPr>
            <p:cNvPr name="Freeform 11" id="11" descr="/home/user/HatemIsa_202508993_IT9002_NLP_Project/emyaa-ceo-deck/working/charts/ajyad_white.png"/>
            <p:cNvSpPr/>
            <p:nvPr/>
          </p:nvSpPr>
          <p:spPr>
            <a:xfrm flipH="false" flipV="false" rot="0">
              <a:off x="0" y="0"/>
              <a:ext cx="2651760" cy="768096"/>
            </a:xfrm>
            <a:custGeom>
              <a:avLst/>
              <a:gdLst/>
              <a:ahLst/>
              <a:cxnLst/>
              <a:rect r="r" b="b" t="t" l="l"/>
              <a:pathLst>
                <a:path h="768096" w="2651760">
                  <a:moveTo>
                    <a:pt x="0" y="0"/>
                  </a:moveTo>
                  <a:lnTo>
                    <a:pt x="2651760" y="0"/>
                  </a:lnTo>
                  <a:lnTo>
                    <a:pt x="2651760" y="768096"/>
                  </a:lnTo>
                  <a:lnTo>
                    <a:pt x="0" y="768096"/>
                  </a:lnTo>
                  <a:lnTo>
                    <a:pt x="0" y="0"/>
                  </a:lnTo>
                  <a:close/>
                </a:path>
              </a:pathLst>
            </a:custGeom>
            <a:blipFill>
              <a:blip r:embed="rId4"/>
              <a:stretch>
                <a:fillRect l="0" t="-26" r="0" b="-26"/>
              </a:stretch>
            </a:blipFill>
          </p:spPr>
        </p:sp>
      </p:grpSp>
      <p:sp>
        <p:nvSpPr>
          <p:cNvPr name="TextBox 12" id="12"/>
          <p:cNvSpPr txBox="true"/>
          <p:nvPr/>
        </p:nvSpPr>
        <p:spPr>
          <a:xfrm rot="0">
            <a:off x="850392" y="9728835"/>
            <a:ext cx="8229600" cy="311277"/>
          </a:xfrm>
          <a:prstGeom prst="rect">
            <a:avLst/>
          </a:prstGeom>
        </p:spPr>
        <p:txBody>
          <a:bodyPr anchor="t" rtlCol="false" tIns="0" lIns="0" bIns="0" rIns="0">
            <a:spAutoFit/>
          </a:bodyPr>
          <a:lstStyle/>
          <a:p>
            <a:pPr algn="l">
              <a:lnSpc>
                <a:spcPts val="1439"/>
              </a:lnSpc>
            </a:pPr>
            <a:r>
              <a:rPr lang="en-US" sz="1200">
                <a:solidFill>
                  <a:srgbClr val="8A93A8"/>
                </a:solidFill>
                <a:latin typeface="Exo 2"/>
                <a:ea typeface="Exo 2"/>
                <a:cs typeface="Exo 2"/>
                <a:sym typeface="Exo 2"/>
              </a:rPr>
              <a:t>eMYAA Trading Platform  |  Saudi Market Plan</a:t>
            </a:r>
          </a:p>
        </p:txBody>
      </p:sp>
      <p:sp>
        <p:nvSpPr>
          <p:cNvPr name="TextBox 13" id="13"/>
          <p:cNvSpPr txBox="true"/>
          <p:nvPr/>
        </p:nvSpPr>
        <p:spPr>
          <a:xfrm rot="0">
            <a:off x="14703552" y="9728835"/>
            <a:ext cx="685800" cy="190500"/>
          </a:xfrm>
          <a:prstGeom prst="rect">
            <a:avLst/>
          </a:prstGeom>
        </p:spPr>
        <p:txBody>
          <a:bodyPr anchor="t" rtlCol="false" tIns="0" lIns="0" bIns="0" rIns="0">
            <a:spAutoFit/>
          </a:bodyPr>
          <a:lstStyle/>
          <a:p>
            <a:pPr algn="r">
              <a:lnSpc>
                <a:spcPts val="1439"/>
              </a:lnSpc>
            </a:pPr>
            <a:r>
              <a:rPr lang="en-US" sz="1200">
                <a:solidFill>
                  <a:srgbClr val="8A93A8"/>
                </a:solidFill>
                <a:latin typeface="Exo 2"/>
                <a:ea typeface="Exo 2"/>
                <a:cs typeface="Exo 2"/>
                <a:sym typeface="Exo 2"/>
              </a:rPr>
              <a:t>7</a:t>
            </a:r>
          </a:p>
        </p:txBody>
      </p:sp>
      <p:grpSp>
        <p:nvGrpSpPr>
          <p:cNvPr name="Group 14" id="14"/>
          <p:cNvGrpSpPr/>
          <p:nvPr/>
        </p:nvGrpSpPr>
        <p:grpSpPr>
          <a:xfrm rot="0">
            <a:off x="15910560" y="9491472"/>
            <a:ext cx="1536192" cy="548640"/>
            <a:chOff x="0" y="0"/>
            <a:chExt cx="2048256" cy="731520"/>
          </a:xfrm>
        </p:grpSpPr>
        <p:sp>
          <p:nvSpPr>
            <p:cNvPr name="Freeform 15" id="15" descr="/home/user/HatemIsa_202508993_IT9002_NLP_Project/emyaa-ceo-deck/working/charts/emyaa_navy.png"/>
            <p:cNvSpPr/>
            <p:nvPr/>
          </p:nvSpPr>
          <p:spPr>
            <a:xfrm flipH="false" flipV="false" rot="0">
              <a:off x="0" y="0"/>
              <a:ext cx="2048256" cy="731520"/>
            </a:xfrm>
            <a:custGeom>
              <a:avLst/>
              <a:gdLst/>
              <a:ahLst/>
              <a:cxnLst/>
              <a:rect r="r" b="b" t="t" l="l"/>
              <a:pathLst>
                <a:path h="731520" w="2048256">
                  <a:moveTo>
                    <a:pt x="0" y="0"/>
                  </a:moveTo>
                  <a:lnTo>
                    <a:pt x="2048256" y="0"/>
                  </a:lnTo>
                  <a:lnTo>
                    <a:pt x="2048256" y="731520"/>
                  </a:lnTo>
                  <a:lnTo>
                    <a:pt x="0" y="731520"/>
                  </a:lnTo>
                  <a:lnTo>
                    <a:pt x="0" y="0"/>
                  </a:lnTo>
                  <a:close/>
                </a:path>
              </a:pathLst>
            </a:custGeom>
            <a:blipFill>
              <a:blip r:embed="rId5"/>
              <a:stretch>
                <a:fillRect l="-301" t="0" r="-301" b="0"/>
              </a:stretch>
            </a:blipFill>
          </p:spPr>
        </p:sp>
      </p:grpSp>
      <p:sp>
        <p:nvSpPr>
          <p:cNvPr id="16" name="Rounded Rectangle 15"/>
          <p:cNvSpPr/>
          <p:nvPr/>
        </p:nvSpPr>
        <p:spPr>
          <a:xfrm>
            <a:off x="1078992" y="2221991"/>
            <a:ext cx="4151376" cy="7123176"/>
          </a:xfrm>
          <a:prstGeom prst="roundRect">
            <a:avLst>
              <a:gd name="adj" fmla="val 8000"/>
            </a:avLst>
          </a:prstGeom>
          <a:solidFill>
            <a:srgbClr val="1B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188720" y="2331720"/>
            <a:ext cx="3931920" cy="6903720"/>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88720" y="2560320"/>
            <a:ext cx="3931920" cy="68580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17320" y="2560320"/>
            <a:ext cx="2286000" cy="685800"/>
          </a:xfrm>
          <a:prstGeom prst="rect">
            <a:avLst/>
          </a:prstGeom>
          <a:noFill/>
        </p:spPr>
        <p:txBody>
          <a:bodyPr wrap="square" anchor="ctr" lIns="0" rIns="0" tIns="0" bIns="0">
            <a:spAutoFit/>
          </a:bodyPr>
          <a:lstStyle/>
          <a:p>
            <a:pPr algn="l"/>
            <a:r>
              <a:rPr sz="1500" b="1" i="0">
                <a:solidFill>
                  <a:srgbClr val="FFFFFF"/>
                </a:solidFill>
                <a:latin typeface="Exo 2 Bold"/>
                <a:ea typeface="Exo 2 Bold"/>
                <a:cs typeface="Exo 2 Bold"/>
              </a:rPr>
              <a:t>Jodel  |  Riyadh</a:t>
            </a:r>
          </a:p>
        </p:txBody>
      </p:sp>
      <p:sp>
        <p:nvSpPr>
          <p:cNvPr id="20" name="TextBox 19"/>
          <p:cNvSpPr txBox="1"/>
          <p:nvPr/>
        </p:nvSpPr>
        <p:spPr>
          <a:xfrm>
            <a:off x="3657599" y="2560320"/>
            <a:ext cx="1280160" cy="685800"/>
          </a:xfrm>
          <a:prstGeom prst="rect">
            <a:avLst/>
          </a:prstGeom>
          <a:noFill/>
        </p:spPr>
        <p:txBody>
          <a:bodyPr wrap="square" anchor="ctr" lIns="0" rIns="0" tIns="0" bIns="0">
            <a:spAutoFit/>
          </a:bodyPr>
          <a:lstStyle/>
          <a:p>
            <a:pPr algn="r"/>
            <a:r>
              <a:rPr sz="1100" b="0" i="0">
                <a:solidFill>
                  <a:srgbClr val="FFFFFF"/>
                </a:solidFill>
                <a:latin typeface="Exo 2"/>
                <a:ea typeface="Exo 2"/>
                <a:cs typeface="Exo 2"/>
              </a:rPr>
              <a:t>Sponsored</a:t>
            </a:r>
          </a:p>
        </p:txBody>
      </p:sp>
      <p:sp>
        <p:nvSpPr>
          <p:cNvPr id="21" name="Rounded Rectangle 20"/>
          <p:cNvSpPr/>
          <p:nvPr/>
        </p:nvSpPr>
        <p:spPr>
          <a:xfrm>
            <a:off x="1371600" y="3429000"/>
            <a:ext cx="3566160" cy="5532120"/>
          </a:xfrm>
          <a:prstGeom prst="roundRect">
            <a:avLst>
              <a:gd name="adj" fmla="val 4000"/>
            </a:avLst>
          </a:prstGeom>
          <a:solidFill>
            <a:srgbClr val="3C8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554480" y="3566160"/>
            <a:ext cx="3200400" cy="320040"/>
          </a:xfrm>
          <a:prstGeom prst="rect">
            <a:avLst/>
          </a:prstGeom>
          <a:noFill/>
        </p:spPr>
        <p:txBody>
          <a:bodyPr wrap="square" anchor="t" lIns="0" rIns="0" tIns="0" bIns="0">
            <a:spAutoFit/>
          </a:bodyPr>
          <a:lstStyle/>
          <a:p>
            <a:pPr algn="l"/>
            <a:r>
              <a:rPr sz="1050" b="1" i="0">
                <a:solidFill>
                  <a:srgbClr val="FFFFFF"/>
                </a:solidFill>
                <a:latin typeface="Exo 2 Bold"/>
                <a:ea typeface="Exo 2 Bold"/>
                <a:cs typeface="Exo 2 Bold"/>
              </a:rPr>
              <a:t>eMYAA  |  Shari'ah-compliant investing</a:t>
            </a:r>
          </a:p>
        </p:txBody>
      </p:sp>
      <p:sp>
        <p:nvSpPr>
          <p:cNvPr id="23" name="TextBox 22"/>
          <p:cNvSpPr txBox="1"/>
          <p:nvPr/>
        </p:nvSpPr>
        <p:spPr>
          <a:xfrm>
            <a:off x="1554480" y="3977639"/>
            <a:ext cx="3200400" cy="1280160"/>
          </a:xfrm>
          <a:prstGeom prst="rect">
            <a:avLst/>
          </a:prstGeom>
          <a:noFill/>
        </p:spPr>
        <p:txBody>
          <a:bodyPr wrap="square" anchor="t" lIns="0" rIns="0" tIns="0" bIns="0">
            <a:spAutoFit/>
          </a:bodyPr>
          <a:lstStyle/>
          <a:p>
            <a:pPr algn="r" rtl="1"/>
            <a:r>
              <a:rPr sz="1900" b="1" i="0" lang="ar-SA">
                <a:solidFill>
                  <a:srgbClr val="FFFFFF"/>
                </a:solidFill>
                <a:latin typeface="Exo 2 Bold"/>
                <a:ea typeface="Exo 2 Bold"/>
                <a:cs typeface="Tajawal"/>
              </a:rPr>
              <a:t>لو بديت تستثمر من اليوم، وش أول هدف تبي تحققه؟</a:t>
            </a:r>
          </a:p>
        </p:txBody>
      </p:sp>
      <p:sp>
        <p:nvSpPr>
          <p:cNvPr id="24" name="Rounded Rectangle 23"/>
          <p:cNvSpPr/>
          <p:nvPr/>
        </p:nvSpPr>
        <p:spPr>
          <a:xfrm>
            <a:off x="1554480" y="5166360"/>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737360" y="5166360"/>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أسدد ديوني</a:t>
            </a:r>
          </a:p>
        </p:txBody>
      </p:sp>
      <p:sp>
        <p:nvSpPr>
          <p:cNvPr id="26" name="Rounded Rectangle 25"/>
          <p:cNvSpPr/>
          <p:nvPr/>
        </p:nvSpPr>
        <p:spPr>
          <a:xfrm>
            <a:off x="1554480" y="5916168"/>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5916168"/>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أشتري سيارة</a:t>
            </a:r>
          </a:p>
        </p:txBody>
      </p:sp>
      <p:sp>
        <p:nvSpPr>
          <p:cNvPr id="28" name="Rounded Rectangle 27"/>
          <p:cNvSpPr/>
          <p:nvPr/>
        </p:nvSpPr>
        <p:spPr>
          <a:xfrm>
            <a:off x="1554480" y="6665976"/>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37360" y="6665976"/>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أكمل دراستي</a:t>
            </a:r>
          </a:p>
        </p:txBody>
      </p:sp>
      <p:sp>
        <p:nvSpPr>
          <p:cNvPr id="30" name="Rounded Rectangle 29"/>
          <p:cNvSpPr/>
          <p:nvPr/>
        </p:nvSpPr>
        <p:spPr>
          <a:xfrm>
            <a:off x="1554480" y="7415783"/>
            <a:ext cx="3200400" cy="594360"/>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7415783"/>
            <a:ext cx="2834639" cy="594360"/>
          </a:xfrm>
          <a:prstGeom prst="rect">
            <a:avLst/>
          </a:prstGeom>
          <a:noFill/>
        </p:spPr>
        <p:txBody>
          <a:bodyPr wrap="square" anchor="ctr" lIns="0" rIns="0" tIns="0" bIns="0">
            <a:spAutoFit/>
          </a:bodyPr>
          <a:lstStyle/>
          <a:p>
            <a:pPr algn="r" rtl="1"/>
            <a:r>
              <a:rPr sz="1600" b="1" i="0" lang="ar-SA">
                <a:solidFill>
                  <a:srgbClr val="132257"/>
                </a:solidFill>
                <a:latin typeface="Exo 2 Bold"/>
                <a:ea typeface="Exo 2 Bold"/>
                <a:cs typeface="Tajawal"/>
              </a:rPr>
              <a:t>أتزوج</a:t>
            </a:r>
          </a:p>
        </p:txBody>
      </p:sp>
      <p:sp>
        <p:nvSpPr>
          <p:cNvPr id="32" name="TextBox 31"/>
          <p:cNvSpPr txBox="1"/>
          <p:nvPr/>
        </p:nvSpPr>
        <p:spPr>
          <a:xfrm>
            <a:off x="1554480" y="8366759"/>
            <a:ext cx="3200400" cy="365760"/>
          </a:xfrm>
          <a:prstGeom prst="rect">
            <a:avLst/>
          </a:prstGeom>
          <a:noFill/>
        </p:spPr>
        <p:txBody>
          <a:bodyPr wrap="square" anchor="t" lIns="0" rIns="0" tIns="0" bIns="0">
            <a:spAutoFit/>
          </a:bodyPr>
          <a:lstStyle/>
          <a:p>
            <a:pPr algn="ctr"/>
            <a:r>
              <a:rPr sz="1050" b="0" i="0">
                <a:solidFill>
                  <a:srgbClr val="FFFFFF"/>
                </a:solidFill>
                <a:latin typeface="Exo 2"/>
                <a:ea typeface="Exo 2"/>
                <a:cs typeface="Exo 2"/>
              </a:rPr>
              <a:t>Live for 24 hours  |  tap to vote</a:t>
            </a:r>
          </a:p>
        </p:txBody>
      </p:sp>
      <p:sp>
        <p:nvSpPr>
          <p:cNvPr id="33" name="TextBox 32"/>
          <p:cNvSpPr txBox="1"/>
          <p:nvPr/>
        </p:nvSpPr>
        <p:spPr>
          <a:xfrm>
            <a:off x="5852160" y="2331720"/>
            <a:ext cx="11430000" cy="365760"/>
          </a:xfrm>
          <a:prstGeom prst="rect">
            <a:avLst/>
          </a:prstGeom>
          <a:noFill/>
        </p:spPr>
        <p:txBody>
          <a:bodyPr wrap="square" anchor="t" lIns="0" rIns="0" tIns="0" bIns="0">
            <a:spAutoFit/>
          </a:bodyPr>
          <a:lstStyle/>
          <a:p>
            <a:pPr algn="l"/>
            <a:r>
              <a:rPr sz="1400" b="1" i="0">
                <a:solidFill>
                  <a:srgbClr val="3C61B6"/>
                </a:solidFill>
                <a:latin typeface="Exo 2 Bold"/>
                <a:ea typeface="Exo 2 Bold"/>
                <a:cs typeface="Exo 2 Bold"/>
              </a:rPr>
              <a:t>THE POLL, IN ENGLISH</a:t>
            </a:r>
          </a:p>
        </p:txBody>
      </p:sp>
      <p:sp>
        <p:nvSpPr>
          <p:cNvPr id="34" name="TextBox 33"/>
          <p:cNvSpPr txBox="1"/>
          <p:nvPr/>
        </p:nvSpPr>
        <p:spPr>
          <a:xfrm>
            <a:off x="5852160" y="2743200"/>
            <a:ext cx="11430000" cy="548640"/>
          </a:xfrm>
          <a:prstGeom prst="rect">
            <a:avLst/>
          </a:prstGeom>
          <a:noFill/>
        </p:spPr>
        <p:txBody>
          <a:bodyPr wrap="square" anchor="t" lIns="0" rIns="0" tIns="0" bIns="0">
            <a:spAutoFit/>
          </a:bodyPr>
          <a:lstStyle/>
          <a:p>
            <a:pPr algn="l"/>
            <a:r>
              <a:rPr sz="2100" b="1" i="0">
                <a:solidFill>
                  <a:srgbClr val="132257"/>
                </a:solidFill>
                <a:latin typeface="Exo 2 Bold"/>
                <a:ea typeface="Exo 2 Bold"/>
                <a:cs typeface="Exo 2 Bold"/>
              </a:rPr>
              <a:t>"If you started investing today, what is the first goal you would want to reach?"</a:t>
            </a:r>
          </a:p>
        </p:txBody>
      </p:sp>
      <p:sp>
        <p:nvSpPr>
          <p:cNvPr id="35" name="Rectangle 34"/>
          <p:cNvSpPr/>
          <p:nvPr/>
        </p:nvSpPr>
        <p:spPr>
          <a:xfrm>
            <a:off x="5852160" y="35204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52160" y="35204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0" y="35204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Pay off my debts</a:t>
            </a:r>
          </a:p>
        </p:txBody>
      </p:sp>
      <p:sp>
        <p:nvSpPr>
          <p:cNvPr id="38" name="Rectangle 37"/>
          <p:cNvSpPr/>
          <p:nvPr/>
        </p:nvSpPr>
        <p:spPr>
          <a:xfrm>
            <a:off x="11567160" y="35204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1567160" y="35204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841480" y="35204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Buy a car</a:t>
            </a:r>
          </a:p>
        </p:txBody>
      </p:sp>
      <p:sp>
        <p:nvSpPr>
          <p:cNvPr id="41" name="Rectangle 40"/>
          <p:cNvSpPr/>
          <p:nvPr/>
        </p:nvSpPr>
        <p:spPr>
          <a:xfrm>
            <a:off x="5852160" y="42062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52160" y="42062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0" y="42062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Finish my studies</a:t>
            </a:r>
          </a:p>
        </p:txBody>
      </p:sp>
      <p:sp>
        <p:nvSpPr>
          <p:cNvPr id="44" name="Rectangle 43"/>
          <p:cNvSpPr/>
          <p:nvPr/>
        </p:nvSpPr>
        <p:spPr>
          <a:xfrm>
            <a:off x="11567160" y="4206240"/>
            <a:ext cx="5486400" cy="548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567160" y="4206240"/>
            <a:ext cx="82296" cy="548640"/>
          </a:xfrm>
          <a:prstGeom prst="rect">
            <a:avLst/>
          </a:prstGeom>
          <a:solidFill>
            <a:srgbClr val="FF99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841480" y="4206240"/>
            <a:ext cx="5120640" cy="548640"/>
          </a:xfrm>
          <a:prstGeom prst="rect">
            <a:avLst/>
          </a:prstGeom>
          <a:noFill/>
        </p:spPr>
        <p:txBody>
          <a:bodyPr wrap="square" anchor="ctr" lIns="0" rIns="0" tIns="0" bIns="0">
            <a:spAutoFit/>
          </a:bodyPr>
          <a:lstStyle/>
          <a:p>
            <a:pPr algn="l"/>
            <a:r>
              <a:rPr sz="1700" b="1" i="0">
                <a:solidFill>
                  <a:srgbClr val="132257"/>
                </a:solidFill>
                <a:latin typeface="Exo 2 Bold"/>
                <a:ea typeface="Exo 2 Bold"/>
                <a:cs typeface="Exo 2 Bold"/>
              </a:rPr>
              <a:t>Get married</a:t>
            </a:r>
          </a:p>
        </p:txBody>
      </p:sp>
      <p:sp>
        <p:nvSpPr>
          <p:cNvPr id="47" name="TextBox 46"/>
          <p:cNvSpPr txBox="1"/>
          <p:nvPr/>
        </p:nvSpPr>
        <p:spPr>
          <a:xfrm>
            <a:off x="5852160" y="5074920"/>
            <a:ext cx="11430000" cy="365760"/>
          </a:xfrm>
          <a:prstGeom prst="rect">
            <a:avLst/>
          </a:prstGeom>
          <a:noFill/>
        </p:spPr>
        <p:txBody>
          <a:bodyPr wrap="square" anchor="t" lIns="0" rIns="0" tIns="0" bIns="0">
            <a:spAutoFit/>
          </a:bodyPr>
          <a:lstStyle/>
          <a:p>
            <a:pPr algn="l"/>
            <a:r>
              <a:rPr sz="1400" b="1" i="0">
                <a:solidFill>
                  <a:srgbClr val="3C61B6"/>
                </a:solidFill>
                <a:latin typeface="Exo 2 Bold"/>
                <a:ea typeface="Exo 2 Bold"/>
                <a:cs typeface="Exo 2 Bold"/>
              </a:rPr>
              <a:t>WHY IT WORKS</a:t>
            </a:r>
          </a:p>
        </p:txBody>
      </p:sp>
      <p:sp>
        <p:nvSpPr>
          <p:cNvPr id="48" name="TextBox 47"/>
          <p:cNvSpPr txBox="1"/>
          <p:nvPr/>
        </p:nvSpPr>
        <p:spPr>
          <a:xfrm>
            <a:off x="5852160" y="5486400"/>
            <a:ext cx="11430000" cy="2011680"/>
          </a:xfrm>
          <a:prstGeom prst="rect">
            <a:avLst/>
          </a:prstGeom>
          <a:noFill/>
        </p:spPr>
        <p:txBody>
          <a:bodyPr wrap="square" anchor="t" lIns="0" rIns="0" tIns="0" bIns="0">
            <a:spAutoFit/>
          </a:bodyPr>
          <a:lstStyle/>
          <a:p>
            <a:pPr algn="l">
              <a:spcAft>
                <a:spcPts val="800"/>
              </a:spcAft>
            </a:pPr>
            <a:r>
              <a:rPr sz="1600" b="1" i="0">
                <a:solidFill>
                  <a:srgbClr val="132257"/>
                </a:solidFill>
                <a:latin typeface="Exo 2 Bold"/>
                <a:ea typeface="Exo 2 Bold"/>
                <a:cs typeface="Exo 2 Bold"/>
              </a:rPr>
              <a:t>Personal, not technical: </a:t>
            </a:r>
            <a:r>
              <a:rPr sz="1600" b="0" i="0">
                <a:solidFill>
                  <a:srgbClr val="1F2A44"/>
                </a:solidFill>
                <a:latin typeface="Exo 2"/>
                <a:ea typeface="Exo 2"/>
                <a:cs typeface="Exo 2"/>
              </a:rPr>
              <a:t>it links investing to goals young Saudis already think about every day.</a:t>
            </a:r>
          </a:p>
          <a:p>
            <a:pPr algn="l">
              <a:spcAft>
                <a:spcPts val="800"/>
              </a:spcAft>
            </a:pPr>
            <a:r>
              <a:rPr sz="1600" b="1" i="0">
                <a:solidFill>
                  <a:srgbClr val="132257"/>
                </a:solidFill>
                <a:latin typeface="Exo 2 Bold"/>
                <a:ea typeface="Exo 2 Bold"/>
                <a:cs typeface="Exo 2 Bold"/>
              </a:rPr>
              <a:t>Everyone sees it: </a:t>
            </a:r>
            <a:r>
              <a:rPr sz="1600" b="0" i="0">
                <a:solidFill>
                  <a:srgbClr val="1F2A44"/>
                </a:solidFill>
                <a:latin typeface="Exo 2"/>
                <a:ea typeface="Exo 2"/>
                <a:cs typeface="Exo 2"/>
              </a:rPr>
              <a:t>a 24-hour takeover poll reaches about 2 million impressions across the Kingdom.</a:t>
            </a:r>
          </a:p>
          <a:p>
            <a:pPr algn="l">
              <a:spcAft>
                <a:spcPts val="800"/>
              </a:spcAft>
            </a:pPr>
            <a:r>
              <a:rPr sz="1600" b="1" i="0">
                <a:solidFill>
                  <a:srgbClr val="132257"/>
                </a:solidFill>
                <a:latin typeface="Exo 2 Bold"/>
                <a:ea typeface="Exo 2 Bold"/>
                <a:cs typeface="Exo 2 Bold"/>
              </a:rPr>
              <a:t>Easy to answer, easy to share: </a:t>
            </a:r>
            <a:r>
              <a:rPr sz="1600" b="0" i="0">
                <a:solidFill>
                  <a:srgbClr val="1F2A44"/>
                </a:solidFill>
                <a:latin typeface="Exo 2"/>
                <a:ea typeface="Exo 2"/>
                <a:cs typeface="Exo 2"/>
              </a:rPr>
              <a:t>one tap to vote, and results and comments are live.</a:t>
            </a:r>
          </a:p>
          <a:p>
            <a:pPr algn="l">
              <a:spcAft>
                <a:spcPts val="800"/>
              </a:spcAft>
            </a:pPr>
            <a:r>
              <a:rPr sz="1600" b="1" i="0">
                <a:solidFill>
                  <a:srgbClr val="132257"/>
                </a:solidFill>
                <a:latin typeface="Exo 2 Bold"/>
                <a:ea typeface="Exo 2 Bold"/>
                <a:cs typeface="Exo 2 Bold"/>
              </a:rPr>
              <a:t>A clear next step: </a:t>
            </a:r>
            <a:r>
              <a:rPr sz="1600" b="0" i="0">
                <a:solidFill>
                  <a:srgbClr val="1F2A44"/>
                </a:solidFill>
                <a:latin typeface="Exo 2"/>
                <a:ea typeface="Exo 2"/>
                <a:cs typeface="Exo 2"/>
              </a:rPr>
              <a:t>the display ads that follow point voters to eMYAA.</a:t>
            </a:r>
          </a:p>
        </p:txBody>
      </p:sp>
      <p:sp>
        <p:nvSpPr>
          <p:cNvPr id="49" name="Rectangle 48"/>
          <p:cNvSpPr/>
          <p:nvPr/>
        </p:nvSpPr>
        <p:spPr>
          <a:xfrm>
            <a:off x="5852160" y="7726679"/>
            <a:ext cx="11612880" cy="169164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52160" y="7726679"/>
            <a:ext cx="100584" cy="1691640"/>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0" y="7863840"/>
            <a:ext cx="10972800" cy="320040"/>
          </a:xfrm>
          <a:prstGeom prst="rect">
            <a:avLst/>
          </a:prstGeom>
          <a:noFill/>
        </p:spPr>
        <p:txBody>
          <a:bodyPr wrap="square" anchor="t" lIns="0" rIns="0" tIns="0" bIns="0">
            <a:spAutoFit/>
          </a:bodyPr>
          <a:lstStyle/>
          <a:p>
            <a:pPr algn="l"/>
            <a:r>
              <a:rPr sz="1300" b="1" i="0">
                <a:solidFill>
                  <a:srgbClr val="3C61B6"/>
                </a:solidFill>
                <a:latin typeface="Exo 2 Bold"/>
                <a:ea typeface="Exo 2 Bold"/>
                <a:cs typeface="Exo 2 Bold"/>
              </a:rPr>
              <a:t>FOLLOW-UP AD AFTER THE POLL</a:t>
            </a:r>
          </a:p>
        </p:txBody>
      </p:sp>
      <p:sp>
        <p:nvSpPr>
          <p:cNvPr id="52" name="TextBox 51"/>
          <p:cNvSpPr txBox="1"/>
          <p:nvPr/>
        </p:nvSpPr>
        <p:spPr>
          <a:xfrm>
            <a:off x="6217920" y="8229600"/>
            <a:ext cx="10972800" cy="548640"/>
          </a:xfrm>
          <a:prstGeom prst="rect">
            <a:avLst/>
          </a:prstGeom>
          <a:noFill/>
        </p:spPr>
        <p:txBody>
          <a:bodyPr wrap="square" anchor="t" lIns="0" rIns="0" tIns="0" bIns="0">
            <a:spAutoFit/>
          </a:bodyPr>
          <a:lstStyle/>
          <a:p>
            <a:pPr algn="r" rtl="1"/>
            <a:r>
              <a:rPr sz="1700" b="1" i="0" lang="ar-SA">
                <a:solidFill>
                  <a:srgbClr val="132257"/>
                </a:solidFill>
                <a:latin typeface="Exo 2 Bold"/>
                <a:ea typeface="Exo 2 Bold"/>
                <a:cs typeface="Tajawal"/>
              </a:rPr>
              <a:t>كل هدف يبدأ بخطوة. ابدأ استثمارك المتوافق مع الشريعة من 50 دولار مع eMYAA</a:t>
            </a:r>
          </a:p>
        </p:txBody>
      </p:sp>
      <p:sp>
        <p:nvSpPr>
          <p:cNvPr id="53" name="TextBox 52"/>
          <p:cNvSpPr txBox="1"/>
          <p:nvPr/>
        </p:nvSpPr>
        <p:spPr>
          <a:xfrm>
            <a:off x="6217920" y="8778240"/>
            <a:ext cx="10972800" cy="457200"/>
          </a:xfrm>
          <a:prstGeom prst="rect">
            <a:avLst/>
          </a:prstGeom>
          <a:noFill/>
        </p:spPr>
        <p:txBody>
          <a:bodyPr wrap="square" anchor="t" lIns="0" rIns="0" tIns="0" bIns="0">
            <a:spAutoFit/>
          </a:bodyPr>
          <a:lstStyle/>
          <a:p>
            <a:pPr algn="l"/>
            <a:r>
              <a:rPr sz="1500" b="0" i="1">
                <a:solidFill>
                  <a:srgbClr val="1F2A44"/>
                </a:solidFill>
                <a:latin typeface="Exo 2"/>
                <a:ea typeface="Exo 2"/>
                <a:cs typeface="Exo 2"/>
              </a:rPr>
              <a:t>Every goal starts with a step. Start investing the Shari'ah-compliant way from USD 50 with eMYAA.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DAHXDdVXvpo</dc:identifier>
  <dcterms:modified xsi:type="dcterms:W3CDTF">2011-08-01T06:04:30Z</dcterms:modified>
  <cp:revision>1</cp:revision>
  <dc:title>eMYAA KSA Market Discussion</dc:title>
</cp:coreProperties>
</file>