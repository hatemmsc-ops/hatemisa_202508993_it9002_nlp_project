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3"/>
  </p:notesMasterIdLst>
  <p:sldIdLst>
    <p:sldId id="256" r:id="rId6"/>
    <p:sldId id="257" r:id="rId7"/>
    <p:sldId id="263" r:id="rId25"/>
    <p:sldId id="265" r:id="rId27"/>
    <p:sldId id="258" r:id="rId8"/>
    <p:sldId id="259" r:id="rId9"/>
    <p:sldId id="260" r:id="rId10"/>
    <p:sldId id="264" r:id="rId26"/>
    <p:sldId id="261" r:id="rId11"/>
    <p:sldId id="262" r:id="rId12"/>
  </p:sldIdLst>
  <p:sldSz cx="18288000" cy="10287000"/>
  <p:notesSz cx="6858000" cy="9144000"/>
  <p:embeddedFontLst>
    <p:embeddedFont>
      <p:font typeface="Exo 2 Bold" charset="1" panose="00000000000000000000"/>
      <p:regular r:id="rId16"/>
    </p:embeddedFont>
    <p:embeddedFont>
      <p:font typeface="Exo 2" charset="1" panose="00000000000000000000"/>
      <p:regular r:id="rId17"/>
    </p:embeddedFont>
    <p:embeddedFont>
      <p:font typeface="Exo 2 Italics" charset="1" panose="0000000000000000000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notesMaster" Target="notesMasters/notesMaster1.xml"/><Relationship Id="rId14" Type="http://schemas.openxmlformats.org/officeDocument/2006/relationships/theme" Target="theme/theme2.xml"/><Relationship Id="rId15" Type="http://schemas.openxmlformats.org/officeDocument/2006/relationships/notesSlide" Target="notesSlides/notesSlide1.xml"/><Relationship Id="rId16" Type="http://schemas.openxmlformats.org/officeDocument/2006/relationships/font" Target="fonts/font16.fntdata"/><Relationship Id="rId17" Type="http://schemas.openxmlformats.org/officeDocument/2006/relationships/font" Target="fonts/font17.fntdata"/><Relationship Id="rId18" Type="http://schemas.openxmlformats.org/officeDocument/2006/relationships/notesSlide" Target="notesSlides/notesSlide2.xml"/><Relationship Id="rId19" Type="http://schemas.openxmlformats.org/officeDocument/2006/relationships/notesSlide" Target="notesSlides/notesSlide3.xml"/><Relationship Id="rId20" Type="http://schemas.openxmlformats.org/officeDocument/2006/relationships/notesSlide" Target="notesSlides/notesSlide4.xml"/><Relationship Id="rId21" Type="http://schemas.openxmlformats.org/officeDocument/2006/relationships/font" Target="fonts/font21.fntdata"/><Relationship Id="rId22" Type="http://schemas.openxmlformats.org/officeDocument/2006/relationships/notesSlide" Target="notesSlides/notesSlide5.xml"/><Relationship Id="rId23" Type="http://schemas.openxmlformats.org/officeDocument/2006/relationships/notesSlide" Target="notesSlides/notesSlide6.xml"/><Relationship Id="rId24" Type="http://schemas.openxmlformats.org/officeDocument/2006/relationships/notesSlide" Target="notesSlides/notesSlide7.xml"/><Relationship Id="rId25" Type="http://schemas.openxmlformats.org/officeDocument/2006/relationships/slide" Target="slides/slide8.xml"/><Relationship Id="rId26" Type="http://schemas.openxmlformats.org/officeDocument/2006/relationships/slide" Target="slides/slide9.xml"/><Relationship Id="rId2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Ajyad Capital is licensed by the Central Bank of Bahrain as an Islamic investment firm, Category 1. eMYAA went live in May 2026.</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Google Ads targets Saudi Arabia and Riyadh, Saudi residents only (Ignite). GA4, 1-28 Sep: 409 of 587 site sessions (70%) from google / cpc; English ads 212 sessions (97.2% engagement), Arabic 176 (86.9%).</a:t>
            </a:r>
          </a:p>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Nadher Media proposals 16 and 23 Sep 2026, Saudi screens only (the Al Liwan Bahrain weekend screens in the 16 Sep offer are left out). Elevator screens in 83 commercial towers (Al Nakhlah, Tamkeen, Faseelah Square, Laysen Valley and others in Riyadh and the Eastern Province) and 8 LED screens at The Zone, Riyadh. Plays per Nadher: 2,490 an hour (ad plays, not unique viewers). 2-week rate has no original price in the offer. USD at 3.75.</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Nadher Media proposal for eMYAA, 16 Sep 2026: USD 3,862.50 + VAT, 7 days, all KSA: 525,000 display and video impressions plus a 24-hour takeover poll of 2,000,000 impressions, one round of ad consulting, unlimited creatives. Cost per 1,000 impressions: about USD 1.53. Jodel KSA: 2.5M active users, 800,000 monthly unique users, average CTR 0.44%. BISB case study (Nadher Media, Oct 2025).</a:t>
            </a:r>
          </a:p>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Discussion topics only; nothing here is agreed.</a:t>
            </a:r>
          </a:p>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copy for a Jodel 24-hour takeover poll (Nadher Media offer, 16 Sep 2026: about 2,000,000 poll impressions). Arabic in Saudi dialect. To be reviewed by compliance before use: no promise of returns, and the debt option should not suggest borrowing to invest.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Instagram Professional Dashboard (Aug 2026 report: 1,765 followers, 2,271,132 views in 90 days, 72.4% of interactions from Reels; Musheera and Ali Sabeel views are paid boosted); Instagram followers 2,116 (Sep); June 2026 report (TRACCS / Sprout Social): Instagram 774 followers at 30 Jun, X engagement -41.8%; Mention &amp; Win pilot 11-18 Jun: USD 600, 266,218 views, 22,580 clicks, 6 accounts; X: 738 followers, 96.4% Bahrain, 3.6% Saudi, App Screens Saudi tests (Jeddah, Dammam and Khobar) 4-13 Jun, paid support lapsed July; TikTok: 15 followers, 176 likes, Pangle bot clicks 706,445 in May, paid TikTok removed 22 Jun, zero Pangle clicks July and August.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July 2026 monthly report (sponsored ads May to July: Long Form Launch, Astronaut, App Screens, GCC Relaunch, Mention &amp; Win pilot); Board update 17 Sep 2026 (marketing budget: USD 80,000 allocated, USD 34,482 spent 14 May to 6 Sep, influencer programme USD 9,037; USD 30,000 Google Ads and LinkedIn Sep to Dec); USD 5,000 campaign T&amp;Cs; GA4 1-28 Sep. GCC Relaunch results were not reported separately.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5.jpeg"/><Relationship Id="rId5" Type="http://schemas.openxmlformats.org/officeDocument/2006/relationships/image" Target="../media/image3.png"/><Relationship Id="rId6"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5.jpeg"/><Relationship Id="rId5" Type="http://schemas.openxmlformats.org/officeDocument/2006/relationships/image" Target="../media/image3.png"/><Relationship Id="rId6"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5.jpeg"/><Relationship Id="rId5" Type="http://schemas.openxmlformats.org/officeDocument/2006/relationships/image" Target="../media/image3.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5.jpeg"/><Relationship Id="rId5" Type="http://schemas.openxmlformats.org/officeDocument/2006/relationships/image" Target="../media/image3.png"/><Relationship Id="rId6" Type="http://schemas.openxmlformats.org/officeDocument/2006/relationships/image" Target="../media/image6.png"/><Relationship Id="rId7" Type="http://schemas.openxmlformats.org/officeDocument/2006/relationships/image" Target="../media/image9.png"/><Relationship Id="rId8"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5.jpeg"/><Relationship Id="rId5" Type="http://schemas.openxmlformats.org/officeDocument/2006/relationships/image" Target="../media/image3.png"/><Relationship Id="rId6"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jpe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notesSlide" Target="../notesSlides/notes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jpe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jpe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notesSlide" Target="../notesSlides/notesSlide10.xml"/></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40980" y="-248051"/>
            <a:ext cx="19159976" cy="10777486"/>
          </a:xfrm>
          <a:custGeom>
            <a:avLst/>
            <a:gdLst/>
            <a:ahLst/>
            <a:cxnLst/>
            <a:rect r="r" b="b" t="t" l="l"/>
            <a:pathLst>
              <a:path h="10777486" w="19159976">
                <a:moveTo>
                  <a:pt x="0" y="0"/>
                </a:moveTo>
                <a:lnTo>
                  <a:pt x="19159976" y="0"/>
                </a:lnTo>
                <a:lnTo>
                  <a:pt x="19159976" y="10777486"/>
                </a:lnTo>
                <a:lnTo>
                  <a:pt x="0" y="10777486"/>
                </a:lnTo>
                <a:lnTo>
                  <a:pt x="0" y="0"/>
                </a:lnTo>
                <a:close/>
              </a:path>
            </a:pathLst>
          </a:custGeom>
          <a:blipFill>
            <a:blip r:embed="rId3"/>
            <a:stretch>
              <a:fillRect l="0" t="0" r="0" b="0"/>
            </a:stretch>
          </a:blipFill>
        </p:spPr>
        <p:txBody>
          <a:bodyPr/>
          <a:p/>
        </p:txBody>
      </p:sp>
      <p:grpSp>
        <p:nvGrpSpPr>
          <p:cNvPr name="Group 3" id="3"/>
          <p:cNvGrpSpPr/>
          <p:nvPr/>
        </p:nvGrpSpPr>
        <p:grpSpPr>
          <a:xfrm rot="0">
            <a:off x="1028700" y="1028700"/>
            <a:ext cx="2400300" cy="850392"/>
            <a:chOff x="0" y="0"/>
            <a:chExt cx="3200400" cy="1133856"/>
          </a:xfrm>
        </p:grpSpPr>
        <p:sp>
          <p:nvSpPr>
            <p:cNvPr name="Freeform 4" id="4" descr="/home/user/HatemIsa_202508993_IT9002_NLP_Project/emyaa-ceo-deck/working/charts/emyaa_white.png"/>
            <p:cNvSpPr/>
            <p:nvPr/>
          </p:nvSpPr>
          <p:spPr>
            <a:xfrm flipH="false" flipV="false" rot="0">
              <a:off x="0" y="0"/>
              <a:ext cx="3200400" cy="1133856"/>
            </a:xfrm>
            <a:custGeom>
              <a:avLst/>
              <a:gdLst/>
              <a:ahLst/>
              <a:cxnLst/>
              <a:rect r="r" b="b" t="t" l="l"/>
              <a:pathLst>
                <a:path h="1133856" w="3200400">
                  <a:moveTo>
                    <a:pt x="0" y="0"/>
                  </a:moveTo>
                  <a:lnTo>
                    <a:pt x="3200400" y="0"/>
                  </a:lnTo>
                  <a:lnTo>
                    <a:pt x="3200400" y="1133856"/>
                  </a:lnTo>
                  <a:lnTo>
                    <a:pt x="0" y="1133856"/>
                  </a:lnTo>
                  <a:lnTo>
                    <a:pt x="0" y="0"/>
                  </a:lnTo>
                  <a:close/>
                </a:path>
              </a:pathLst>
            </a:custGeom>
            <a:blipFill>
              <a:blip r:embed="rId4"/>
              <a:stretch>
                <a:fillRect l="0" t="-179" r="0" b="-179"/>
              </a:stretch>
            </a:blipFill>
          </p:spPr>
        </p:sp>
      </p:grpSp>
      <p:grpSp>
        <p:nvGrpSpPr>
          <p:cNvPr name="Group 5" id="5"/>
          <p:cNvGrpSpPr/>
          <p:nvPr/>
        </p:nvGrpSpPr>
        <p:grpSpPr>
          <a:xfrm rot="0">
            <a:off x="14634972" y="1028700"/>
            <a:ext cx="2633472" cy="768096"/>
            <a:chOff x="0" y="0"/>
            <a:chExt cx="3511296" cy="1024128"/>
          </a:xfrm>
        </p:grpSpPr>
        <p:sp>
          <p:nvSpPr>
            <p:cNvPr name="Freeform 6" id="6" descr="/home/user/HatemIsa_202508993_IT9002_NLP_Project/emyaa-ceo-deck/working/charts/ajyad_white.png"/>
            <p:cNvSpPr/>
            <p:nvPr/>
          </p:nvSpPr>
          <p:spPr>
            <a:xfrm flipH="false" flipV="false" rot="0">
              <a:off x="0" y="0"/>
              <a:ext cx="3511296" cy="1024128"/>
            </a:xfrm>
            <a:custGeom>
              <a:avLst/>
              <a:gdLst/>
              <a:ahLst/>
              <a:cxnLst/>
              <a:rect r="r" b="b" t="t" l="l"/>
              <a:pathLst>
                <a:path h="1024128" w="3511296">
                  <a:moveTo>
                    <a:pt x="0" y="0"/>
                  </a:moveTo>
                  <a:lnTo>
                    <a:pt x="3511296" y="0"/>
                  </a:lnTo>
                  <a:lnTo>
                    <a:pt x="3511296" y="1024128"/>
                  </a:lnTo>
                  <a:lnTo>
                    <a:pt x="0" y="1024128"/>
                  </a:lnTo>
                  <a:lnTo>
                    <a:pt x="0" y="0"/>
                  </a:lnTo>
                  <a:close/>
                </a:path>
              </a:pathLst>
            </a:custGeom>
            <a:blipFill>
              <a:blip r:embed="rId5"/>
              <a:stretch>
                <a:fillRect l="-320" t="0" r="-320" b="0"/>
              </a:stretch>
            </a:blipFill>
          </p:spPr>
        </p:sp>
      </p:grpSp>
      <p:sp>
        <p:nvSpPr>
          <p:cNvPr name="TextBox 7" id="7"/>
          <p:cNvSpPr txBox="true"/>
          <p:nvPr/>
        </p:nvSpPr>
        <p:spPr>
          <a:xfrm rot="0">
            <a:off x="1028700" y="3762375"/>
            <a:ext cx="16322040" cy="1312545"/>
          </a:xfrm>
          <a:prstGeom prst="rect">
            <a:avLst/>
          </a:prstGeom>
        </p:spPr>
        <p:txBody>
          <a:bodyPr anchor="t" rtlCol="false" tIns="0" lIns="0" bIns="0" rIns="0">
            <a:spAutoFit/>
          </a:bodyPr>
          <a:lstStyle/>
          <a:p>
            <a:pPr algn="l">
              <a:lnSpc>
                <a:spcPts val="7559"/>
              </a:lnSpc>
            </a:pPr>
            <a:r>
              <a:rPr lang="en-US" sz="6300" b="true">
                <a:solidFill>
                  <a:srgbClr val="FFFFFF"/>
                </a:solidFill>
                <a:latin typeface="Exo 2 Bold"/>
                <a:ea typeface="Exo 2 Bold"/>
                <a:cs typeface="Exo 2 Bold"/>
                <a:sym typeface="Exo 2 Bold"/>
              </a:rPr>
              <a:t>eMYAA in Saudi Arabia</a:t>
            </a:r>
          </a:p>
        </p:txBody>
      </p:sp>
      <p:sp>
        <p:nvSpPr>
          <p:cNvPr name="TextBox 8" id="8"/>
          <p:cNvSpPr txBox="true"/>
          <p:nvPr/>
        </p:nvSpPr>
        <p:spPr>
          <a:xfrm rot="0">
            <a:off x="1028700" y="5133975"/>
            <a:ext cx="15087600" cy="466725"/>
          </a:xfrm>
          <a:prstGeom prst="rect">
            <a:avLst/>
          </a:prstGeom>
        </p:spPr>
        <p:txBody>
          <a:bodyPr anchor="t" rtlCol="false" tIns="0" lIns="0" bIns="0" rIns="0">
            <a:spAutoFit/>
          </a:bodyPr>
          <a:lstStyle/>
          <a:p>
            <a:pPr algn="l">
              <a:lnSpc>
                <a:spcPts val="3600"/>
              </a:lnSpc>
            </a:pPr>
            <a:r>
              <a:rPr lang="en-US" b="true" sz="3000" spc="150">
                <a:solidFill>
                  <a:srgbClr val="D4AF37"/>
                </a:solidFill>
                <a:latin typeface="Exo 2 Bold"/>
                <a:ea typeface="Exo 2 Bold"/>
                <a:cs typeface="Exo 2 Bold"/>
                <a:sym typeface="Exo 2 Bold"/>
              </a:rPr>
              <a:t>MARKET ENTRY DISCUSSION</a:t>
            </a:r>
          </a:p>
        </p:txBody>
      </p:sp>
      <p:sp>
        <p:nvSpPr>
          <p:cNvPr name="TextBox 9" id="9"/>
          <p:cNvSpPr txBox="true"/>
          <p:nvPr/>
        </p:nvSpPr>
        <p:spPr>
          <a:xfrm rot="0">
            <a:off x="1028700" y="5888355"/>
            <a:ext cx="15087600" cy="371475"/>
          </a:xfrm>
          <a:prstGeom prst="rect">
            <a:avLst/>
          </a:prstGeom>
        </p:spPr>
        <p:txBody>
          <a:bodyPr anchor="t" rtlCol="false" tIns="0" lIns="0" bIns="0" rIns="0">
            <a:spAutoFit/>
          </a:bodyPr>
          <a:lstStyle/>
          <a:p>
            <a:pPr algn="l">
              <a:lnSpc>
                <a:spcPts val="2879"/>
              </a:lnSpc>
            </a:pPr>
            <a:r>
              <a:rPr lang="en-US" sz="2400">
                <a:solidFill>
                  <a:srgbClr val="FFFFFF"/>
                </a:solidFill>
                <a:latin typeface="Exo 2"/>
                <a:ea typeface="Exo 2"/>
                <a:cs typeface="Exo 2"/>
                <a:sym typeface="Exo 2"/>
              </a:rPr>
              <a:t>Channels, timing and cost  |  October 2026</a:t>
            </a:r>
          </a:p>
        </p:txBody>
      </p:sp>
      <p:sp>
        <p:nvSpPr>
          <p:cNvPr name="TextBox 10" id="10"/>
          <p:cNvSpPr txBox="true"/>
          <p:nvPr/>
        </p:nvSpPr>
        <p:spPr>
          <a:xfrm rot="0">
            <a:off x="1028700" y="9248775"/>
            <a:ext cx="15087600" cy="421005"/>
          </a:xfrm>
          <a:prstGeom prst="rect">
            <a:avLst/>
          </a:prstGeom>
        </p:spPr>
        <p:txBody>
          <a:bodyPr anchor="t" rtlCol="false" tIns="0" lIns="0" bIns="0" rIns="0">
            <a:spAutoFit/>
          </a:bodyPr>
          <a:lstStyle/>
          <a:p>
            <a:pPr algn="l">
              <a:lnSpc>
                <a:spcPts val="1800"/>
              </a:lnSpc>
            </a:pPr>
            <a:r>
              <a:rPr lang="en-US" sz="1500">
                <a:solidFill>
                  <a:srgbClr val="C6CFE4"/>
                </a:solidFill>
                <a:latin typeface="Exo 2"/>
                <a:ea typeface="Exo 2"/>
                <a:cs typeface="Exo 2"/>
                <a:sym typeface="Exo 2"/>
              </a:rPr>
              <a:t>Confidential. Prepared by eMYAA Marketing, Ajyad Capital.</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9899824" cy="1947672"/>
            <a:chOff x="0" y="0"/>
            <a:chExt cx="26533099" cy="2596896"/>
          </a:xfrm>
        </p:grpSpPr>
        <p:sp>
          <p:nvSpPr>
            <p:cNvPr name="Freeform 3" id="3" descr="/home/user/HatemIsa_202508993_IT9002_NLP_Project/emyaa-ceo-deck/working/charts/board_header.png"/>
            <p:cNvSpPr/>
            <p:nvPr/>
          </p:nvSpPr>
          <p:spPr>
            <a:xfrm flipH="false" flipV="false" rot="0">
              <a:off x="0" y="0"/>
              <a:ext cx="26533069" cy="2596896"/>
            </a:xfrm>
            <a:custGeom>
              <a:avLst/>
              <a:gdLst/>
              <a:ahLst/>
              <a:cxnLst/>
              <a:rect r="r" b="b" t="t" l="l"/>
              <a:pathLst>
                <a:path h="2596896" w="26533069">
                  <a:moveTo>
                    <a:pt x="0" y="0"/>
                  </a:moveTo>
                  <a:lnTo>
                    <a:pt x="26533069" y="0"/>
                  </a:lnTo>
                  <a:lnTo>
                    <a:pt x="26533069" y="2596896"/>
                  </a:lnTo>
                  <a:lnTo>
                    <a:pt x="0" y="2596896"/>
                  </a:lnTo>
                  <a:lnTo>
                    <a:pt x="0" y="0"/>
                  </a:lnTo>
                  <a:close/>
                </a:path>
              </a:pathLst>
            </a:custGeom>
            <a:blipFill>
              <a:blip r:embed="rId3"/>
              <a:stretch>
                <a:fillRect l="0" t="-5683" r="0" b="-5684"/>
              </a:stretch>
            </a:blipFill>
          </p:spPr>
        </p:sp>
      </p:grpSp>
      <p:grpSp>
        <p:nvGrpSpPr>
          <p:cNvPr name="Group 4" id="4"/>
          <p:cNvGrpSpPr/>
          <p:nvPr/>
        </p:nvGrpSpPr>
        <p:grpSpPr>
          <a:xfrm rot="0">
            <a:off x="-9525" y="1938147"/>
            <a:ext cx="18306593" cy="60198"/>
            <a:chOff x="0" y="0"/>
            <a:chExt cx="24408790" cy="80264"/>
          </a:xfrm>
        </p:grpSpPr>
        <p:sp>
          <p:nvSpPr>
            <p:cNvPr name="Freeform 5" id="5"/>
            <p:cNvSpPr/>
            <p:nvPr/>
          </p:nvSpPr>
          <p:spPr>
            <a:xfrm flipH="false" flipV="false" rot="0">
              <a:off x="0" y="0"/>
              <a:ext cx="24408764" cy="80264"/>
            </a:xfrm>
            <a:custGeom>
              <a:avLst/>
              <a:gdLst/>
              <a:ahLst/>
              <a:cxnLst/>
              <a:rect r="r" b="b" t="t" l="l"/>
              <a:pathLst>
                <a:path h="80264" w="24408764">
                  <a:moveTo>
                    <a:pt x="0" y="0"/>
                  </a:moveTo>
                  <a:lnTo>
                    <a:pt x="24408764" y="0"/>
                  </a:lnTo>
                  <a:lnTo>
                    <a:pt x="24408764" y="80264"/>
                  </a:lnTo>
                  <a:lnTo>
                    <a:pt x="0" y="80264"/>
                  </a:lnTo>
                  <a:close/>
                </a:path>
              </a:pathLst>
            </a:custGeom>
            <a:solidFill>
              <a:srgbClr val="D4AF37"/>
            </a:solidFill>
            <a:ln w="19050" cap="sq">
              <a:solidFill>
                <a:srgbClr val="D4AF37"/>
              </a:solidFill>
              <a:prstDash val="solid"/>
              <a:miter/>
            </a:ln>
          </p:spPr>
        </p:sp>
      </p:grpSp>
      <p:sp>
        <p:nvSpPr>
          <p:cNvPr name="TextBox 6" id="6"/>
          <p:cNvSpPr txBox="true"/>
          <p:nvPr/>
        </p:nvSpPr>
        <p:spPr>
          <a:xfrm rot="0">
            <a:off x="850392" y="401955"/>
            <a:ext cx="13716000" cy="311277"/>
          </a:xfrm>
          <a:prstGeom prst="rect">
            <a:avLst/>
          </a:prstGeom>
        </p:spPr>
        <p:txBody>
          <a:bodyPr anchor="t" rtlCol="false" tIns="0" lIns="0" bIns="0" rIns="0">
            <a:spAutoFit/>
          </a:bodyPr>
          <a:lstStyle/>
          <a:p>
            <a:pPr algn="l">
              <a:lnSpc>
                <a:spcPts val="1709"/>
              </a:lnSpc>
            </a:pPr>
            <a:r>
              <a:rPr lang="en-US" b="true" sz="1425" spc="299">
                <a:solidFill>
                  <a:srgbClr val="D4AF37"/>
                </a:solidFill>
                <a:latin typeface="Exo 2 Bold"/>
                <a:ea typeface="Exo 2 Bold"/>
                <a:cs typeface="Exo 2 Bold"/>
                <a:sym typeface="Exo 2 Bold"/>
              </a:rPr>
              <a:t>WHO WE ARE</a:t>
            </a:r>
          </a:p>
        </p:txBody>
      </p:sp>
      <p:grpSp>
        <p:nvGrpSpPr>
          <p:cNvPr name="Group 7" id="7"/>
          <p:cNvGrpSpPr/>
          <p:nvPr/>
        </p:nvGrpSpPr>
        <p:grpSpPr>
          <a:xfrm rot="0">
            <a:off x="850392" y="713232"/>
            <a:ext cx="14127480" cy="1124712"/>
            <a:chOff x="0" y="0"/>
            <a:chExt cx="18836640" cy="1499616"/>
          </a:xfrm>
        </p:grpSpPr>
        <p:sp>
          <p:nvSpPr>
            <p:cNvPr name="Freeform 8" id="8"/>
            <p:cNvSpPr/>
            <p:nvPr/>
          </p:nvSpPr>
          <p:spPr>
            <a:xfrm flipH="false" flipV="false" rot="0">
              <a:off x="0" y="0"/>
              <a:ext cx="18836639" cy="1499616"/>
            </a:xfrm>
            <a:custGeom>
              <a:avLst/>
              <a:gdLst/>
              <a:ahLst/>
              <a:cxnLst/>
              <a:rect r="r" b="b" t="t" l="l"/>
              <a:pathLst>
                <a:path h="1499616" w="18836639">
                  <a:moveTo>
                    <a:pt x="0" y="0"/>
                  </a:moveTo>
                  <a:lnTo>
                    <a:pt x="18836639" y="0"/>
                  </a:lnTo>
                  <a:lnTo>
                    <a:pt x="18836639" y="1499616"/>
                  </a:lnTo>
                  <a:lnTo>
                    <a:pt x="0" y="1499616"/>
                  </a:lnTo>
                  <a:close/>
                </a:path>
              </a:pathLst>
            </a:custGeom>
            <a:blipFill>
              <a:blip r:embed="rId4">
                <a:alphaModFix amt="0"/>
              </a:blip>
              <a:stretch>
                <a:fillRect l="0" t="-194751" r="0" b="-194751"/>
              </a:stretch>
            </a:blipFill>
          </p:spPr>
        </p:sp>
        <p:sp>
          <p:nvSpPr>
            <p:cNvPr name="TextBox 9" id="9"/>
            <p:cNvSpPr txBox="true"/>
            <p:nvPr/>
          </p:nvSpPr>
          <p:spPr>
            <a:xfrm>
              <a:off x="0" y="-9525"/>
              <a:ext cx="18836640" cy="1509141"/>
            </a:xfrm>
            <a:prstGeom prst="rect">
              <a:avLst/>
            </a:prstGeom>
          </p:spPr>
          <p:txBody>
            <a:bodyPr anchor="ctr" rtlCol="false" tIns="0" lIns="0" bIns="0" rIns="0"/>
            <a:lstStyle/>
            <a:p>
              <a:pPr algn="l">
                <a:lnSpc>
                  <a:spcPts val="3960"/>
                </a:lnSpc>
              </a:pPr>
              <a:r>
                <a:rPr lang="en-US" sz="3300" b="true">
                  <a:solidFill>
                    <a:srgbClr val="FFFFFF"/>
                  </a:solidFill>
                  <a:latin typeface="Exo 2 Bold"/>
                  <a:ea typeface="Exo 2 Bold"/>
                  <a:cs typeface="Exo 2 Bold"/>
                  <a:sym typeface="Exo 2 Bold"/>
                </a:rPr>
                <a:t>eMYAA: a Shari'ah-compliant trading app for GCC investors</a:t>
              </a:r>
            </a:p>
          </p:txBody>
        </p:sp>
      </p:grpSp>
      <p:grpSp>
        <p:nvGrpSpPr>
          <p:cNvPr name="Group 10" id="10"/>
          <p:cNvGrpSpPr/>
          <p:nvPr/>
        </p:nvGrpSpPr>
        <p:grpSpPr>
          <a:xfrm rot="0">
            <a:off x="15457932" y="685800"/>
            <a:ext cx="1988820" cy="576072"/>
            <a:chOff x="0" y="0"/>
            <a:chExt cx="2651760" cy="768096"/>
          </a:xfrm>
        </p:grpSpPr>
        <p:sp>
          <p:nvSpPr>
            <p:cNvPr name="Freeform 11" id="11" descr="/home/user/HatemIsa_202508993_IT9002_NLP_Project/emyaa-ceo-deck/working/charts/ajyad_white.png"/>
            <p:cNvSpPr/>
            <p:nvPr/>
          </p:nvSpPr>
          <p:spPr>
            <a:xfrm flipH="false" flipV="false" rot="0">
              <a:off x="0" y="0"/>
              <a:ext cx="2651760" cy="768096"/>
            </a:xfrm>
            <a:custGeom>
              <a:avLst/>
              <a:gdLst/>
              <a:ahLst/>
              <a:cxnLst/>
              <a:rect r="r" b="b" t="t" l="l"/>
              <a:pathLst>
                <a:path h="768096" w="2651760">
                  <a:moveTo>
                    <a:pt x="0" y="0"/>
                  </a:moveTo>
                  <a:lnTo>
                    <a:pt x="2651760" y="0"/>
                  </a:lnTo>
                  <a:lnTo>
                    <a:pt x="2651760" y="768096"/>
                  </a:lnTo>
                  <a:lnTo>
                    <a:pt x="0" y="768096"/>
                  </a:lnTo>
                  <a:lnTo>
                    <a:pt x="0" y="0"/>
                  </a:lnTo>
                  <a:close/>
                </a:path>
              </a:pathLst>
            </a:custGeom>
            <a:blipFill>
              <a:blip r:embed="rId5"/>
              <a:stretch>
                <a:fillRect l="0" t="-26" r="0" b="-26"/>
              </a:stretch>
            </a:blipFill>
          </p:spPr>
        </p:sp>
      </p:grpSp>
      <p:sp>
        <p:nvSpPr>
          <p:cNvPr name="TextBox 12" id="12"/>
          <p:cNvSpPr txBox="true"/>
          <p:nvPr/>
        </p:nvSpPr>
        <p:spPr>
          <a:xfrm rot="0">
            <a:off x="850392" y="9728835"/>
            <a:ext cx="8229600" cy="311277"/>
          </a:xfrm>
          <a:prstGeom prst="rect">
            <a:avLst/>
          </a:prstGeom>
        </p:spPr>
        <p:txBody>
          <a:bodyPr anchor="t" rtlCol="false" tIns="0" lIns="0" bIns="0" rIns="0">
            <a:spAutoFit/>
          </a:bodyPr>
          <a:lstStyle/>
          <a:p>
            <a:pPr algn="l">
              <a:lnSpc>
                <a:spcPts val="1439"/>
              </a:lnSpc>
            </a:pPr>
            <a:r>
              <a:rPr lang="en-US" sz="1200">
                <a:solidFill>
                  <a:srgbClr val="8A93A8"/>
                </a:solidFill>
                <a:latin typeface="Exo 2"/>
                <a:ea typeface="Exo 2"/>
                <a:cs typeface="Exo 2"/>
                <a:sym typeface="Exo 2"/>
              </a:rPr>
              <a:t>eMYAA Trading Platform  |  Saudi Market Plan</a:t>
            </a:r>
          </a:p>
        </p:txBody>
      </p:sp>
      <p:sp>
        <p:nvSpPr>
          <p:cNvPr name="TextBox 13" id="13"/>
          <p:cNvSpPr txBox="true"/>
          <p:nvPr/>
        </p:nvSpPr>
        <p:spPr>
          <a:xfrm rot="0">
            <a:off x="14703552" y="9728835"/>
            <a:ext cx="685800" cy="311277"/>
          </a:xfrm>
          <a:prstGeom prst="rect">
            <a:avLst/>
          </a:prstGeom>
        </p:spPr>
        <p:txBody>
          <a:bodyPr anchor="t" rtlCol="false" tIns="0" lIns="0" bIns="0" rIns="0">
            <a:spAutoFit/>
          </a:bodyPr>
          <a:lstStyle/>
          <a:p>
            <a:pPr algn="r">
              <a:lnSpc>
                <a:spcPts val="1439"/>
              </a:lnSpc>
            </a:pPr>
            <a:r>
              <a:rPr lang="en-US" sz="1200">
                <a:solidFill>
                  <a:srgbClr val="8A93A8"/>
                </a:solidFill>
                <a:latin typeface="Exo 2"/>
                <a:ea typeface="Exo 2"/>
                <a:cs typeface="Exo 2"/>
                <a:sym typeface="Exo 2"/>
              </a:rPr>
              <a:t>2</a:t>
            </a:r>
          </a:p>
        </p:txBody>
      </p:sp>
      <p:grpSp>
        <p:nvGrpSpPr>
          <p:cNvPr name="Group 14" id="14"/>
          <p:cNvGrpSpPr/>
          <p:nvPr/>
        </p:nvGrpSpPr>
        <p:grpSpPr>
          <a:xfrm rot="0">
            <a:off x="15910560" y="9491472"/>
            <a:ext cx="1536192" cy="548640"/>
            <a:chOff x="0" y="0"/>
            <a:chExt cx="2048256" cy="731520"/>
          </a:xfrm>
        </p:grpSpPr>
        <p:sp>
          <p:nvSpPr>
            <p:cNvPr name="Freeform 15" id="15" descr="/home/user/HatemIsa_202508993_IT9002_NLP_Project/emyaa-ceo-deck/working/charts/emyaa_navy.png"/>
            <p:cNvSpPr/>
            <p:nvPr/>
          </p:nvSpPr>
          <p:spPr>
            <a:xfrm flipH="false" flipV="false" rot="0">
              <a:off x="0" y="0"/>
              <a:ext cx="2048256" cy="731520"/>
            </a:xfrm>
            <a:custGeom>
              <a:avLst/>
              <a:gdLst/>
              <a:ahLst/>
              <a:cxnLst/>
              <a:rect r="r" b="b" t="t" l="l"/>
              <a:pathLst>
                <a:path h="731520" w="2048256">
                  <a:moveTo>
                    <a:pt x="0" y="0"/>
                  </a:moveTo>
                  <a:lnTo>
                    <a:pt x="2048256" y="0"/>
                  </a:lnTo>
                  <a:lnTo>
                    <a:pt x="2048256" y="731520"/>
                  </a:lnTo>
                  <a:lnTo>
                    <a:pt x="0" y="731520"/>
                  </a:lnTo>
                  <a:lnTo>
                    <a:pt x="0" y="0"/>
                  </a:lnTo>
                  <a:close/>
                </a:path>
              </a:pathLst>
            </a:custGeom>
            <a:blipFill>
              <a:blip r:embed="rId6"/>
              <a:stretch>
                <a:fillRect l="-301" t="0" r="-301" b="0"/>
              </a:stretch>
            </a:blipFill>
          </p:spPr>
        </p:sp>
      </p:grpSp>
      <p:grpSp>
        <p:nvGrpSpPr>
          <p:cNvPr name="Group 16" id="16"/>
          <p:cNvGrpSpPr/>
          <p:nvPr/>
        </p:nvGrpSpPr>
        <p:grpSpPr>
          <a:xfrm rot="0">
            <a:off x="843248" y="2530316"/>
            <a:ext cx="8175307" cy="1934527"/>
            <a:chOff x="0" y="0"/>
            <a:chExt cx="10900410" cy="2579370"/>
          </a:xfrm>
        </p:grpSpPr>
        <p:sp>
          <p:nvSpPr>
            <p:cNvPr name="Freeform 17" id="17"/>
            <p:cNvSpPr/>
            <p:nvPr/>
          </p:nvSpPr>
          <p:spPr>
            <a:xfrm flipH="false" flipV="false" rot="0">
              <a:off x="0" y="0"/>
              <a:ext cx="10900410" cy="2579370"/>
            </a:xfrm>
            <a:custGeom>
              <a:avLst/>
              <a:gdLst/>
              <a:ahLst/>
              <a:cxnLst/>
              <a:rect r="r" b="b" t="t" l="l"/>
              <a:pathLst>
                <a:path h="2579370" w="10900410">
                  <a:moveTo>
                    <a:pt x="0" y="0"/>
                  </a:moveTo>
                  <a:lnTo>
                    <a:pt x="10900410" y="0"/>
                  </a:lnTo>
                  <a:lnTo>
                    <a:pt x="10900410" y="2579370"/>
                  </a:lnTo>
                  <a:lnTo>
                    <a:pt x="0" y="2579370"/>
                  </a:lnTo>
                  <a:close/>
                </a:path>
              </a:pathLst>
            </a:custGeom>
            <a:solidFill>
              <a:srgbClr val="FFFFFF"/>
            </a:solidFill>
            <a:ln w="14288" cap="sq">
              <a:solidFill>
                <a:srgbClr val="D9DFEA"/>
              </a:solidFill>
              <a:prstDash val="solid"/>
              <a:miter/>
            </a:ln>
          </p:spPr>
        </p:sp>
      </p:grpSp>
      <p:grpSp>
        <p:nvGrpSpPr>
          <p:cNvPr name="Group 18" id="18"/>
          <p:cNvGrpSpPr/>
          <p:nvPr/>
        </p:nvGrpSpPr>
        <p:grpSpPr>
          <a:xfrm rot="0">
            <a:off x="840867" y="2527935"/>
            <a:ext cx="8180070" cy="80772"/>
            <a:chOff x="0" y="0"/>
            <a:chExt cx="10906760" cy="107696"/>
          </a:xfrm>
        </p:grpSpPr>
        <p:sp>
          <p:nvSpPr>
            <p:cNvPr name="Freeform 19" id="19"/>
            <p:cNvSpPr/>
            <p:nvPr/>
          </p:nvSpPr>
          <p:spPr>
            <a:xfrm flipH="false" flipV="false" rot="0">
              <a:off x="0" y="0"/>
              <a:ext cx="10906760" cy="107696"/>
            </a:xfrm>
            <a:custGeom>
              <a:avLst/>
              <a:gdLst/>
              <a:ahLst/>
              <a:cxnLst/>
              <a:rect r="r" b="b" t="t" l="l"/>
              <a:pathLst>
                <a:path h="107696" w="10906760">
                  <a:moveTo>
                    <a:pt x="0" y="0"/>
                  </a:moveTo>
                  <a:lnTo>
                    <a:pt x="10906760" y="0"/>
                  </a:lnTo>
                  <a:lnTo>
                    <a:pt x="10906760" y="107696"/>
                  </a:lnTo>
                  <a:lnTo>
                    <a:pt x="0" y="107696"/>
                  </a:lnTo>
                  <a:close/>
                </a:path>
              </a:pathLst>
            </a:custGeom>
            <a:solidFill>
              <a:srgbClr val="132257"/>
            </a:solidFill>
            <a:ln w="19050" cap="sq">
              <a:solidFill>
                <a:srgbClr val="132257"/>
              </a:solidFill>
              <a:prstDash val="solid"/>
              <a:miter/>
            </a:ln>
          </p:spPr>
        </p:sp>
      </p:grpSp>
      <p:sp>
        <p:nvSpPr>
          <p:cNvPr name="TextBox 20" id="20"/>
          <p:cNvSpPr txBox="true"/>
          <p:nvPr/>
        </p:nvSpPr>
        <p:spPr>
          <a:xfrm rot="0">
            <a:off x="1261872" y="2911983"/>
            <a:ext cx="7406640" cy="626745"/>
          </a:xfrm>
          <a:prstGeom prst="rect">
            <a:avLst/>
          </a:prstGeom>
        </p:spPr>
        <p:txBody>
          <a:bodyPr anchor="t" rtlCol="false" tIns="0" lIns="0" bIns="0" rIns="0">
            <a:spAutoFit/>
          </a:bodyPr>
          <a:lstStyle/>
          <a:p>
            <a:pPr algn="l">
              <a:lnSpc>
                <a:spcPts val="3419"/>
              </a:lnSpc>
            </a:pPr>
            <a:r>
              <a:rPr lang="en-US" sz="2850" b="true">
                <a:solidFill>
                  <a:srgbClr val="132257"/>
                </a:solidFill>
                <a:latin typeface="Exo 2 Bold"/>
                <a:ea typeface="Exo 2 Bold"/>
                <a:cs typeface="Exo 2 Bold"/>
                <a:sym typeface="Exo 2 Bold"/>
              </a:rPr>
              <a:t>Shari'ah compliant</a:t>
            </a:r>
          </a:p>
        </p:txBody>
      </p:sp>
      <p:sp>
        <p:nvSpPr>
          <p:cNvPr name="TextBox 21" id="21"/>
          <p:cNvSpPr txBox="true"/>
          <p:nvPr/>
        </p:nvSpPr>
        <p:spPr>
          <a:xfrm rot="0">
            <a:off x="1261872" y="3625215"/>
            <a:ext cx="7406640" cy="558165"/>
          </a:xfrm>
          <a:prstGeom prst="rect">
            <a:avLst/>
          </a:prstGeom>
        </p:spPr>
        <p:txBody>
          <a:bodyPr anchor="t" rtlCol="false" tIns="0" lIns="0" bIns="0" rIns="0">
            <a:spAutoFit/>
          </a:bodyPr>
          <a:lstStyle/>
          <a:p>
            <a:pPr algn="l">
              <a:lnSpc>
                <a:spcPts val="2340"/>
              </a:lnSpc>
            </a:pPr>
            <a:r>
              <a:rPr lang="en-US" sz="1950">
                <a:solidFill>
                  <a:srgbClr val="6B7590"/>
                </a:solidFill>
                <a:latin typeface="Exo 2"/>
                <a:ea typeface="Exo 2"/>
                <a:cs typeface="Exo 2"/>
                <a:sym typeface="Exo 2"/>
              </a:rPr>
              <a:t>Automated Shari'ah screening and purification calculator</a:t>
            </a:r>
          </a:p>
        </p:txBody>
      </p:sp>
      <p:grpSp>
        <p:nvGrpSpPr>
          <p:cNvPr name="Group 22" id="22"/>
          <p:cNvGrpSpPr/>
          <p:nvPr/>
        </p:nvGrpSpPr>
        <p:grpSpPr>
          <a:xfrm rot="0">
            <a:off x="9210008" y="2530316"/>
            <a:ext cx="8175307" cy="1934527"/>
            <a:chOff x="0" y="0"/>
            <a:chExt cx="10900410" cy="2579370"/>
          </a:xfrm>
        </p:grpSpPr>
        <p:sp>
          <p:nvSpPr>
            <p:cNvPr name="Freeform 23" id="23"/>
            <p:cNvSpPr/>
            <p:nvPr/>
          </p:nvSpPr>
          <p:spPr>
            <a:xfrm flipH="false" flipV="false" rot="0">
              <a:off x="0" y="0"/>
              <a:ext cx="10900410" cy="2579370"/>
            </a:xfrm>
            <a:custGeom>
              <a:avLst/>
              <a:gdLst/>
              <a:ahLst/>
              <a:cxnLst/>
              <a:rect r="r" b="b" t="t" l="l"/>
              <a:pathLst>
                <a:path h="2579370" w="10900410">
                  <a:moveTo>
                    <a:pt x="0" y="0"/>
                  </a:moveTo>
                  <a:lnTo>
                    <a:pt x="10900410" y="0"/>
                  </a:lnTo>
                  <a:lnTo>
                    <a:pt x="10900410" y="2579370"/>
                  </a:lnTo>
                  <a:lnTo>
                    <a:pt x="0" y="2579370"/>
                  </a:lnTo>
                  <a:close/>
                </a:path>
              </a:pathLst>
            </a:custGeom>
            <a:solidFill>
              <a:srgbClr val="FFFFFF"/>
            </a:solidFill>
            <a:ln w="14288" cap="sq">
              <a:solidFill>
                <a:srgbClr val="D9DFEA"/>
              </a:solidFill>
              <a:prstDash val="solid"/>
              <a:miter/>
            </a:ln>
          </p:spPr>
        </p:sp>
      </p:grpSp>
      <p:grpSp>
        <p:nvGrpSpPr>
          <p:cNvPr name="Group 24" id="24"/>
          <p:cNvGrpSpPr/>
          <p:nvPr/>
        </p:nvGrpSpPr>
        <p:grpSpPr>
          <a:xfrm rot="0">
            <a:off x="9207627" y="2527935"/>
            <a:ext cx="8180070" cy="80772"/>
            <a:chOff x="0" y="0"/>
            <a:chExt cx="10906760" cy="107696"/>
          </a:xfrm>
        </p:grpSpPr>
        <p:sp>
          <p:nvSpPr>
            <p:cNvPr name="Freeform 25" id="25"/>
            <p:cNvSpPr/>
            <p:nvPr/>
          </p:nvSpPr>
          <p:spPr>
            <a:xfrm flipH="false" flipV="false" rot="0">
              <a:off x="0" y="0"/>
              <a:ext cx="10906760" cy="107696"/>
            </a:xfrm>
            <a:custGeom>
              <a:avLst/>
              <a:gdLst/>
              <a:ahLst/>
              <a:cxnLst/>
              <a:rect r="r" b="b" t="t" l="l"/>
              <a:pathLst>
                <a:path h="107696" w="10906760">
                  <a:moveTo>
                    <a:pt x="0" y="0"/>
                  </a:moveTo>
                  <a:lnTo>
                    <a:pt x="10906760" y="0"/>
                  </a:lnTo>
                  <a:lnTo>
                    <a:pt x="10906760" y="107696"/>
                  </a:lnTo>
                  <a:lnTo>
                    <a:pt x="0" y="107696"/>
                  </a:lnTo>
                  <a:close/>
                </a:path>
              </a:pathLst>
            </a:custGeom>
            <a:solidFill>
              <a:srgbClr val="D4AF37"/>
            </a:solidFill>
            <a:ln w="19050" cap="sq">
              <a:solidFill>
                <a:srgbClr val="D4AF37"/>
              </a:solidFill>
              <a:prstDash val="solid"/>
              <a:miter/>
            </a:ln>
          </p:spPr>
        </p:sp>
      </p:grpSp>
      <p:sp>
        <p:nvSpPr>
          <p:cNvPr name="TextBox 26" id="26"/>
          <p:cNvSpPr txBox="true"/>
          <p:nvPr/>
        </p:nvSpPr>
        <p:spPr>
          <a:xfrm rot="0">
            <a:off x="9628632" y="2911983"/>
            <a:ext cx="7406640" cy="626745"/>
          </a:xfrm>
          <a:prstGeom prst="rect">
            <a:avLst/>
          </a:prstGeom>
        </p:spPr>
        <p:txBody>
          <a:bodyPr anchor="t" rtlCol="false" tIns="0" lIns="0" bIns="0" rIns="0">
            <a:spAutoFit/>
          </a:bodyPr>
          <a:lstStyle/>
          <a:p>
            <a:pPr algn="l">
              <a:lnSpc>
                <a:spcPts val="3419"/>
              </a:lnSpc>
            </a:pPr>
            <a:r>
              <a:rPr lang="en-US" sz="2850" b="true">
                <a:solidFill>
                  <a:srgbClr val="132257"/>
                </a:solidFill>
                <a:latin typeface="Exo 2 Bold"/>
                <a:ea typeface="Exo 2 Bold"/>
                <a:cs typeface="Exo 2 Bold"/>
                <a:sym typeface="Exo 2 Bold"/>
              </a:rPr>
              <a:t>Arabic and English</a:t>
            </a:r>
          </a:p>
        </p:txBody>
      </p:sp>
      <p:sp>
        <p:nvSpPr>
          <p:cNvPr name="TextBox 27" id="27"/>
          <p:cNvSpPr txBox="true"/>
          <p:nvPr/>
        </p:nvSpPr>
        <p:spPr>
          <a:xfrm rot="0">
            <a:off x="9628632" y="3625215"/>
            <a:ext cx="7406640" cy="558165"/>
          </a:xfrm>
          <a:prstGeom prst="rect">
            <a:avLst/>
          </a:prstGeom>
        </p:spPr>
        <p:txBody>
          <a:bodyPr anchor="t" rtlCol="false" tIns="0" lIns="0" bIns="0" rIns="0">
            <a:spAutoFit/>
          </a:bodyPr>
          <a:lstStyle/>
          <a:p>
            <a:pPr algn="l">
              <a:lnSpc>
                <a:spcPts val="2340"/>
              </a:lnSpc>
            </a:pPr>
            <a:r>
              <a:rPr lang="en-US" sz="1950">
                <a:solidFill>
                  <a:srgbClr val="6B7590"/>
                </a:solidFill>
                <a:latin typeface="Exo 2"/>
                <a:ea typeface="Exo 2"/>
                <a:cs typeface="Exo 2"/>
                <a:sym typeface="Exo 2"/>
              </a:rPr>
              <a:t>Full bilingual app with AI support</a:t>
            </a:r>
          </a:p>
        </p:txBody>
      </p:sp>
      <p:grpSp>
        <p:nvGrpSpPr>
          <p:cNvPr name="Group 28" id="28"/>
          <p:cNvGrpSpPr/>
          <p:nvPr/>
        </p:nvGrpSpPr>
        <p:grpSpPr>
          <a:xfrm rot="0">
            <a:off x="843248" y="4724876"/>
            <a:ext cx="8175307" cy="1934527"/>
            <a:chOff x="0" y="0"/>
            <a:chExt cx="10900410" cy="2579370"/>
          </a:xfrm>
        </p:grpSpPr>
        <p:sp>
          <p:nvSpPr>
            <p:cNvPr name="Freeform 29" id="29"/>
            <p:cNvSpPr/>
            <p:nvPr/>
          </p:nvSpPr>
          <p:spPr>
            <a:xfrm flipH="false" flipV="false" rot="0">
              <a:off x="0" y="0"/>
              <a:ext cx="10900410" cy="2579370"/>
            </a:xfrm>
            <a:custGeom>
              <a:avLst/>
              <a:gdLst/>
              <a:ahLst/>
              <a:cxnLst/>
              <a:rect r="r" b="b" t="t" l="l"/>
              <a:pathLst>
                <a:path h="2579370" w="10900410">
                  <a:moveTo>
                    <a:pt x="0" y="0"/>
                  </a:moveTo>
                  <a:lnTo>
                    <a:pt x="10900410" y="0"/>
                  </a:lnTo>
                  <a:lnTo>
                    <a:pt x="10900410" y="2579370"/>
                  </a:lnTo>
                  <a:lnTo>
                    <a:pt x="0" y="2579370"/>
                  </a:lnTo>
                  <a:close/>
                </a:path>
              </a:pathLst>
            </a:custGeom>
            <a:solidFill>
              <a:srgbClr val="FFFFFF"/>
            </a:solidFill>
            <a:ln w="14288" cap="sq">
              <a:solidFill>
                <a:srgbClr val="D9DFEA"/>
              </a:solidFill>
              <a:prstDash val="solid"/>
              <a:miter/>
            </a:ln>
          </p:spPr>
        </p:sp>
      </p:grpSp>
      <p:grpSp>
        <p:nvGrpSpPr>
          <p:cNvPr name="Group 30" id="30"/>
          <p:cNvGrpSpPr/>
          <p:nvPr/>
        </p:nvGrpSpPr>
        <p:grpSpPr>
          <a:xfrm rot="0">
            <a:off x="840867" y="4722495"/>
            <a:ext cx="8180070" cy="80772"/>
            <a:chOff x="0" y="0"/>
            <a:chExt cx="10906760" cy="107696"/>
          </a:xfrm>
        </p:grpSpPr>
        <p:sp>
          <p:nvSpPr>
            <p:cNvPr name="Freeform 31" id="31"/>
            <p:cNvSpPr/>
            <p:nvPr/>
          </p:nvSpPr>
          <p:spPr>
            <a:xfrm flipH="false" flipV="false" rot="0">
              <a:off x="0" y="0"/>
              <a:ext cx="10906760" cy="107696"/>
            </a:xfrm>
            <a:custGeom>
              <a:avLst/>
              <a:gdLst/>
              <a:ahLst/>
              <a:cxnLst/>
              <a:rect r="r" b="b" t="t" l="l"/>
              <a:pathLst>
                <a:path h="107696" w="10906760">
                  <a:moveTo>
                    <a:pt x="0" y="0"/>
                  </a:moveTo>
                  <a:lnTo>
                    <a:pt x="10906760" y="0"/>
                  </a:lnTo>
                  <a:lnTo>
                    <a:pt x="10906760" y="107696"/>
                  </a:lnTo>
                  <a:lnTo>
                    <a:pt x="0" y="107696"/>
                  </a:lnTo>
                  <a:close/>
                </a:path>
              </a:pathLst>
            </a:custGeom>
            <a:solidFill>
              <a:srgbClr val="132257"/>
            </a:solidFill>
            <a:ln w="19050" cap="sq">
              <a:solidFill>
                <a:srgbClr val="132257"/>
              </a:solidFill>
              <a:prstDash val="solid"/>
              <a:miter/>
            </a:ln>
          </p:spPr>
        </p:sp>
      </p:grpSp>
      <p:sp>
        <p:nvSpPr>
          <p:cNvPr name="TextBox 32" id="32"/>
          <p:cNvSpPr txBox="true"/>
          <p:nvPr/>
        </p:nvSpPr>
        <p:spPr>
          <a:xfrm rot="0">
            <a:off x="1261872" y="5106543"/>
            <a:ext cx="7406640" cy="626745"/>
          </a:xfrm>
          <a:prstGeom prst="rect">
            <a:avLst/>
          </a:prstGeom>
        </p:spPr>
        <p:txBody>
          <a:bodyPr anchor="t" rtlCol="false" tIns="0" lIns="0" bIns="0" rIns="0">
            <a:spAutoFit/>
          </a:bodyPr>
          <a:lstStyle/>
          <a:p>
            <a:pPr algn="l">
              <a:lnSpc>
                <a:spcPts val="3419"/>
              </a:lnSpc>
            </a:pPr>
            <a:r>
              <a:rPr lang="en-US" sz="2850" b="true">
                <a:solidFill>
                  <a:srgbClr val="132257"/>
                </a:solidFill>
                <a:latin typeface="Exo 2 Bold"/>
                <a:ea typeface="Exo 2 Bold"/>
                <a:cs typeface="Exo 2 Bold"/>
                <a:sym typeface="Exo 2 Bold"/>
              </a:rPr>
              <a:t>USD 50 to start</a:t>
            </a:r>
          </a:p>
        </p:txBody>
      </p:sp>
      <p:sp>
        <p:nvSpPr>
          <p:cNvPr name="TextBox 33" id="33"/>
          <p:cNvSpPr txBox="true"/>
          <p:nvPr/>
        </p:nvSpPr>
        <p:spPr>
          <a:xfrm rot="0">
            <a:off x="1261872" y="5819775"/>
            <a:ext cx="7406640" cy="304800"/>
          </a:xfrm>
          <a:prstGeom prst="rect">
            <a:avLst/>
          </a:prstGeom>
        </p:spPr>
        <p:txBody>
          <a:bodyPr anchor="t" rtlCol="false" tIns="0" lIns="0" bIns="0" rIns="0">
            <a:spAutoFit/>
          </a:bodyPr>
          <a:lstStyle/>
          <a:p>
            <a:pPr algn="l">
              <a:lnSpc>
                <a:spcPts val="2340"/>
              </a:lnSpc>
            </a:pPr>
            <a:r>
              <a:rPr lang="en-US" sz="1950">
                <a:solidFill>
                  <a:srgbClr val="6B7590"/>
                </a:solidFill>
                <a:latin typeface="Exo 2"/>
                <a:ea typeface="Exo 2"/>
                <a:cs typeface="Exo 2"/>
                <a:sym typeface="Exo 2"/>
              </a:rPr>
              <a:t>No account opening fees, and very competitive trading fees.</a:t>
            </a:r>
          </a:p>
        </p:txBody>
      </p:sp>
      <p:grpSp>
        <p:nvGrpSpPr>
          <p:cNvPr name="Group 34" id="34"/>
          <p:cNvGrpSpPr/>
          <p:nvPr/>
        </p:nvGrpSpPr>
        <p:grpSpPr>
          <a:xfrm rot="0">
            <a:off x="9210008" y="4724876"/>
            <a:ext cx="8175307" cy="1934527"/>
            <a:chOff x="0" y="0"/>
            <a:chExt cx="10900410" cy="2579370"/>
          </a:xfrm>
        </p:grpSpPr>
        <p:sp>
          <p:nvSpPr>
            <p:cNvPr name="Freeform 35" id="35"/>
            <p:cNvSpPr/>
            <p:nvPr/>
          </p:nvSpPr>
          <p:spPr>
            <a:xfrm flipH="false" flipV="false" rot="0">
              <a:off x="0" y="0"/>
              <a:ext cx="10900410" cy="2579370"/>
            </a:xfrm>
            <a:custGeom>
              <a:avLst/>
              <a:gdLst/>
              <a:ahLst/>
              <a:cxnLst/>
              <a:rect r="r" b="b" t="t" l="l"/>
              <a:pathLst>
                <a:path h="2579370" w="10900410">
                  <a:moveTo>
                    <a:pt x="0" y="0"/>
                  </a:moveTo>
                  <a:lnTo>
                    <a:pt x="10900410" y="0"/>
                  </a:lnTo>
                  <a:lnTo>
                    <a:pt x="10900410" y="2579370"/>
                  </a:lnTo>
                  <a:lnTo>
                    <a:pt x="0" y="2579370"/>
                  </a:lnTo>
                  <a:close/>
                </a:path>
              </a:pathLst>
            </a:custGeom>
            <a:solidFill>
              <a:srgbClr val="FFFFFF"/>
            </a:solidFill>
            <a:ln w="14288" cap="sq">
              <a:solidFill>
                <a:srgbClr val="D9DFEA"/>
              </a:solidFill>
              <a:prstDash val="solid"/>
              <a:miter/>
            </a:ln>
          </p:spPr>
        </p:sp>
      </p:grpSp>
      <p:grpSp>
        <p:nvGrpSpPr>
          <p:cNvPr name="Group 36" id="36"/>
          <p:cNvGrpSpPr/>
          <p:nvPr/>
        </p:nvGrpSpPr>
        <p:grpSpPr>
          <a:xfrm rot="0">
            <a:off x="9207627" y="4722495"/>
            <a:ext cx="8180070" cy="80772"/>
            <a:chOff x="0" y="0"/>
            <a:chExt cx="10906760" cy="107696"/>
          </a:xfrm>
        </p:grpSpPr>
        <p:sp>
          <p:nvSpPr>
            <p:cNvPr name="Freeform 37" id="37"/>
            <p:cNvSpPr/>
            <p:nvPr/>
          </p:nvSpPr>
          <p:spPr>
            <a:xfrm flipH="false" flipV="false" rot="0">
              <a:off x="0" y="0"/>
              <a:ext cx="10906760" cy="107696"/>
            </a:xfrm>
            <a:custGeom>
              <a:avLst/>
              <a:gdLst/>
              <a:ahLst/>
              <a:cxnLst/>
              <a:rect r="r" b="b" t="t" l="l"/>
              <a:pathLst>
                <a:path h="107696" w="10906760">
                  <a:moveTo>
                    <a:pt x="0" y="0"/>
                  </a:moveTo>
                  <a:lnTo>
                    <a:pt x="10906760" y="0"/>
                  </a:lnTo>
                  <a:lnTo>
                    <a:pt x="10906760" y="107696"/>
                  </a:lnTo>
                  <a:lnTo>
                    <a:pt x="0" y="107696"/>
                  </a:lnTo>
                  <a:close/>
                </a:path>
              </a:pathLst>
            </a:custGeom>
            <a:solidFill>
              <a:srgbClr val="D4AF37"/>
            </a:solidFill>
            <a:ln w="19050" cap="sq">
              <a:solidFill>
                <a:srgbClr val="D4AF37"/>
              </a:solidFill>
              <a:prstDash val="solid"/>
              <a:miter/>
            </a:ln>
          </p:spPr>
        </p:sp>
      </p:grpSp>
      <p:sp>
        <p:nvSpPr>
          <p:cNvPr name="TextBox 38" id="38"/>
          <p:cNvSpPr txBox="true"/>
          <p:nvPr/>
        </p:nvSpPr>
        <p:spPr>
          <a:xfrm rot="0">
            <a:off x="9628632" y="5106543"/>
            <a:ext cx="7406640" cy="626745"/>
          </a:xfrm>
          <a:prstGeom prst="rect">
            <a:avLst/>
          </a:prstGeom>
        </p:spPr>
        <p:txBody>
          <a:bodyPr anchor="t" rtlCol="false" tIns="0" lIns="0" bIns="0" rIns="0">
            <a:spAutoFit/>
          </a:bodyPr>
          <a:lstStyle/>
          <a:p>
            <a:pPr algn="l">
              <a:lnSpc>
                <a:spcPts val="3419"/>
              </a:lnSpc>
            </a:pPr>
            <a:r>
              <a:rPr lang="en-US" sz="2850" b="true">
                <a:solidFill>
                  <a:srgbClr val="132257"/>
                </a:solidFill>
                <a:latin typeface="Exo 2 Bold"/>
                <a:ea typeface="Exo 2 Bold"/>
                <a:cs typeface="Exo 2 Bold"/>
                <a:sym typeface="Exo 2 Bold"/>
              </a:rPr>
              <a:t>Four markets</a:t>
            </a:r>
          </a:p>
        </p:txBody>
      </p:sp>
      <p:sp>
        <p:nvSpPr>
          <p:cNvPr name="TextBox 39" id="39"/>
          <p:cNvSpPr txBox="true"/>
          <p:nvPr/>
        </p:nvSpPr>
        <p:spPr>
          <a:xfrm rot="0">
            <a:off x="9628632" y="5819775"/>
            <a:ext cx="7406640" cy="304800"/>
          </a:xfrm>
          <a:prstGeom prst="rect">
            <a:avLst/>
          </a:prstGeom>
        </p:spPr>
        <p:txBody>
          <a:bodyPr anchor="t" rtlCol="false" tIns="0" lIns="0" bIns="0" rIns="0">
            <a:spAutoFit/>
          </a:bodyPr>
          <a:lstStyle/>
          <a:p>
            <a:pPr algn="l">
              <a:lnSpc>
                <a:spcPts val="2340"/>
              </a:lnSpc>
            </a:pPr>
            <a:r>
              <a:rPr lang="en-US" sz="1950">
                <a:solidFill>
                  <a:srgbClr val="6B7590"/>
                </a:solidFill>
                <a:latin typeface="Exo 2"/>
                <a:ea typeface="Exo 2"/>
                <a:cs typeface="Exo 2"/>
                <a:sym typeface="Exo 2"/>
              </a:rPr>
              <a:t>US, Saudi (Tadawul), Dubai (DFM), Hong Kong</a:t>
            </a:r>
          </a:p>
        </p:txBody>
      </p:sp>
      <p:grpSp>
        <p:nvGrpSpPr>
          <p:cNvPr name="Group 40" id="40"/>
          <p:cNvGrpSpPr/>
          <p:nvPr/>
        </p:nvGrpSpPr>
        <p:grpSpPr>
          <a:xfrm rot="0">
            <a:off x="840867" y="7191375"/>
            <a:ext cx="16615410" cy="1116330"/>
            <a:chOff x="0" y="0"/>
            <a:chExt cx="22153880" cy="1488440"/>
          </a:xfrm>
        </p:grpSpPr>
        <p:sp>
          <p:nvSpPr>
            <p:cNvPr name="Freeform 41" id="41"/>
            <p:cNvSpPr/>
            <p:nvPr/>
          </p:nvSpPr>
          <p:spPr>
            <a:xfrm flipH="false" flipV="false" rot="0">
              <a:off x="0" y="0"/>
              <a:ext cx="22153880" cy="1488440"/>
            </a:xfrm>
            <a:custGeom>
              <a:avLst/>
              <a:gdLst/>
              <a:ahLst/>
              <a:cxnLst/>
              <a:rect r="r" b="b" t="t" l="l"/>
              <a:pathLst>
                <a:path h="1488440" w="22153880">
                  <a:moveTo>
                    <a:pt x="0" y="0"/>
                  </a:moveTo>
                  <a:lnTo>
                    <a:pt x="22153880" y="0"/>
                  </a:lnTo>
                  <a:lnTo>
                    <a:pt x="22153880" y="1488440"/>
                  </a:lnTo>
                  <a:lnTo>
                    <a:pt x="0" y="1488440"/>
                  </a:lnTo>
                  <a:close/>
                </a:path>
              </a:pathLst>
            </a:custGeom>
            <a:solidFill>
              <a:srgbClr val="EEF1F8"/>
            </a:solidFill>
            <a:ln w="19050" cap="sq">
              <a:solidFill>
                <a:srgbClr val="EEF1F8"/>
              </a:solidFill>
              <a:prstDash val="solid"/>
              <a:miter/>
            </a:ln>
          </p:spPr>
        </p:sp>
      </p:grpSp>
      <p:grpSp>
        <p:nvGrpSpPr>
          <p:cNvPr name="Group 42" id="42"/>
          <p:cNvGrpSpPr/>
          <p:nvPr/>
        </p:nvGrpSpPr>
        <p:grpSpPr>
          <a:xfrm rot="0">
            <a:off x="840867" y="7191375"/>
            <a:ext cx="101346" cy="1116330"/>
            <a:chOff x="0" y="0"/>
            <a:chExt cx="135128" cy="1488440"/>
          </a:xfrm>
        </p:grpSpPr>
        <p:sp>
          <p:nvSpPr>
            <p:cNvPr name="Freeform 43" id="43"/>
            <p:cNvSpPr/>
            <p:nvPr/>
          </p:nvSpPr>
          <p:spPr>
            <a:xfrm flipH="false" flipV="false" rot="0">
              <a:off x="0" y="0"/>
              <a:ext cx="135128" cy="1488440"/>
            </a:xfrm>
            <a:custGeom>
              <a:avLst/>
              <a:gdLst/>
              <a:ahLst/>
              <a:cxnLst/>
              <a:rect r="r" b="b" t="t" l="l"/>
              <a:pathLst>
                <a:path h="1488440" w="135128">
                  <a:moveTo>
                    <a:pt x="0" y="0"/>
                  </a:moveTo>
                  <a:lnTo>
                    <a:pt x="135128" y="0"/>
                  </a:lnTo>
                  <a:lnTo>
                    <a:pt x="135128" y="1488440"/>
                  </a:lnTo>
                  <a:lnTo>
                    <a:pt x="0" y="1488440"/>
                  </a:lnTo>
                  <a:close/>
                </a:path>
              </a:pathLst>
            </a:custGeom>
            <a:solidFill>
              <a:srgbClr val="D4AF37"/>
            </a:solidFill>
            <a:ln w="19050" cap="sq">
              <a:solidFill>
                <a:srgbClr val="D4AF37"/>
              </a:solidFill>
              <a:prstDash val="solid"/>
              <a:miter/>
            </a:ln>
          </p:spPr>
        </p:sp>
      </p:grpSp>
      <p:grpSp>
        <p:nvGrpSpPr>
          <p:cNvPr name="Group 44" id="44"/>
          <p:cNvGrpSpPr/>
          <p:nvPr/>
        </p:nvGrpSpPr>
        <p:grpSpPr>
          <a:xfrm rot="0">
            <a:off x="1234440" y="7200900"/>
            <a:ext cx="16047720" cy="1097280"/>
            <a:chOff x="0" y="0"/>
            <a:chExt cx="21396960" cy="1463040"/>
          </a:xfrm>
        </p:grpSpPr>
        <p:sp>
          <p:nvSpPr>
            <p:cNvPr name="Freeform 45" id="45"/>
            <p:cNvSpPr/>
            <p:nvPr/>
          </p:nvSpPr>
          <p:spPr>
            <a:xfrm flipH="false" flipV="false" rot="0">
              <a:off x="0" y="0"/>
              <a:ext cx="21396961" cy="1463040"/>
            </a:xfrm>
            <a:custGeom>
              <a:avLst/>
              <a:gdLst/>
              <a:ahLst/>
              <a:cxnLst/>
              <a:rect r="r" b="b" t="t" l="l"/>
              <a:pathLst>
                <a:path h="1463040" w="21396961">
                  <a:moveTo>
                    <a:pt x="0" y="0"/>
                  </a:moveTo>
                  <a:lnTo>
                    <a:pt x="21396961" y="0"/>
                  </a:lnTo>
                  <a:lnTo>
                    <a:pt x="21396961" y="1463040"/>
                  </a:lnTo>
                  <a:lnTo>
                    <a:pt x="0" y="1463040"/>
                  </a:lnTo>
                  <a:close/>
                </a:path>
              </a:pathLst>
            </a:custGeom>
            <a:blipFill>
              <a:blip r:embed="rId4">
                <a:alphaModFix amt="0"/>
              </a:blip>
              <a:stretch>
                <a:fillRect l="0" t="-234968" r="0" b="-234968"/>
              </a:stretch>
            </a:blipFill>
          </p:spPr>
        </p:sp>
        <p:sp>
          <p:nvSpPr>
            <p:cNvPr name="TextBox 46" id="46"/>
            <p:cNvSpPr txBox="true"/>
            <p:nvPr/>
          </p:nvSpPr>
          <p:spPr>
            <a:xfrm>
              <a:off x="0" y="-9525"/>
              <a:ext cx="21396960" cy="1472565"/>
            </a:xfrm>
            <a:prstGeom prst="rect">
              <a:avLst/>
            </a:prstGeom>
          </p:spPr>
          <p:txBody>
            <a:bodyPr anchor="ctr" rtlCol="false" tIns="0" lIns="0" bIns="0" rIns="0"/>
            <a:lstStyle/>
            <a:p>
              <a:pPr algn="l">
                <a:lnSpc>
                  <a:spcPts val="2340"/>
                </a:lnSpc>
              </a:pPr>
              <a:r>
                <a:rPr lang="en-US" sz="1950" b="true">
                  <a:solidFill>
                    <a:srgbClr val="132257"/>
                  </a:solidFill>
                  <a:latin typeface="Exo 2 Bold"/>
                  <a:ea typeface="Exo 2 Bold"/>
                  <a:cs typeface="Exo 2 Bold"/>
                  <a:sym typeface="Exo 2 Bold"/>
                </a:rPr>
                <a:t>Licensed  </a:t>
              </a:r>
              <a:r>
                <a:rPr lang="en-US" sz="1950">
                  <a:solidFill>
                    <a:srgbClr val="1F2A44"/>
                  </a:solidFill>
                  <a:latin typeface="Exo 2"/>
                  <a:ea typeface="Exo 2"/>
                  <a:cs typeface="Exo 2"/>
                  <a:sym typeface="Exo 2"/>
                </a:rPr>
                <a:t>Powered by Ajyad Capital, an Islamic investment firm (Category 1) regulated by the Central Bank of Bahrain. Live since May 2026.</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7543" cy="1947672"/>
            <a:chOff x="0" y="0"/>
            <a:chExt cx="24383390" cy="2596896"/>
          </a:xfrm>
        </p:grpSpPr>
        <p:sp>
          <p:nvSpPr>
            <p:cNvPr name="Freeform 3" id="3" descr="/home/user/HatemIsa_202508993_IT9002_NLP_Project/emyaa-ceo-deck/working/charts/board_header.png"/>
            <p:cNvSpPr/>
            <p:nvPr/>
          </p:nvSpPr>
          <p:spPr>
            <a:xfrm flipH="false" flipV="false" rot="0">
              <a:off x="0" y="0"/>
              <a:ext cx="24383364" cy="2596896"/>
            </a:xfrm>
            <a:custGeom>
              <a:avLst/>
              <a:gdLst/>
              <a:ahLst/>
              <a:cxnLst/>
              <a:rect r="r" b="b" t="t" l="l"/>
              <a:pathLst>
                <a:path h="2596896" w="24383364">
                  <a:moveTo>
                    <a:pt x="0" y="0"/>
                  </a:moveTo>
                  <a:lnTo>
                    <a:pt x="24383364" y="0"/>
                  </a:lnTo>
                  <a:lnTo>
                    <a:pt x="24383364" y="2596896"/>
                  </a:lnTo>
                  <a:lnTo>
                    <a:pt x="0" y="2596896"/>
                  </a:lnTo>
                  <a:lnTo>
                    <a:pt x="0" y="0"/>
                  </a:lnTo>
                  <a:close/>
                </a:path>
              </a:pathLst>
            </a:custGeom>
            <a:blipFill>
              <a:blip r:embed="rId3"/>
              <a:stretch>
                <a:fillRect l="0" t="-1172" r="0" b="-1172"/>
              </a:stretch>
            </a:blipFill>
          </p:spPr>
        </p:sp>
      </p:grpSp>
      <p:grpSp>
        <p:nvGrpSpPr>
          <p:cNvPr name="Group 4" id="4"/>
          <p:cNvGrpSpPr/>
          <p:nvPr/>
        </p:nvGrpSpPr>
        <p:grpSpPr>
          <a:xfrm rot="0">
            <a:off x="-9525" y="1938147"/>
            <a:ext cx="18306593" cy="60198"/>
            <a:chOff x="0" y="0"/>
            <a:chExt cx="24408790" cy="80264"/>
          </a:xfrm>
        </p:grpSpPr>
        <p:sp>
          <p:nvSpPr>
            <p:cNvPr name="Freeform 5" id="5"/>
            <p:cNvSpPr/>
            <p:nvPr/>
          </p:nvSpPr>
          <p:spPr>
            <a:xfrm flipH="false" flipV="false" rot="0">
              <a:off x="0" y="0"/>
              <a:ext cx="24408764" cy="80264"/>
            </a:xfrm>
            <a:custGeom>
              <a:avLst/>
              <a:gdLst/>
              <a:ahLst/>
              <a:cxnLst/>
              <a:rect r="r" b="b" t="t" l="l"/>
              <a:pathLst>
                <a:path h="80264" w="24408764">
                  <a:moveTo>
                    <a:pt x="0" y="0"/>
                  </a:moveTo>
                  <a:lnTo>
                    <a:pt x="24408764" y="0"/>
                  </a:lnTo>
                  <a:lnTo>
                    <a:pt x="24408764" y="80264"/>
                  </a:lnTo>
                  <a:lnTo>
                    <a:pt x="0" y="80264"/>
                  </a:lnTo>
                  <a:close/>
                </a:path>
              </a:pathLst>
            </a:custGeom>
            <a:solidFill>
              <a:srgbClr val="D4AF37"/>
            </a:solidFill>
            <a:ln w="19050" cap="sq">
              <a:solidFill>
                <a:srgbClr val="D4AF37"/>
              </a:solidFill>
              <a:prstDash val="solid"/>
              <a:miter/>
            </a:ln>
          </p:spPr>
        </p:sp>
      </p:grpSp>
      <p:sp>
        <p:nvSpPr>
          <p:cNvPr name="TextBox 6" id="6"/>
          <p:cNvSpPr txBox="true"/>
          <p:nvPr/>
        </p:nvSpPr>
        <p:spPr>
          <a:xfrm rot="0">
            <a:off x="850392" y="401955"/>
            <a:ext cx="13716000" cy="311277"/>
          </a:xfrm>
          <a:prstGeom prst="rect">
            <a:avLst/>
          </a:prstGeom>
        </p:spPr>
        <p:txBody>
          <a:bodyPr anchor="t" rtlCol="false" tIns="0" lIns="0" bIns="0" rIns="0">
            <a:spAutoFit/>
          </a:bodyPr>
          <a:lstStyle/>
          <a:p>
            <a:pPr algn="l">
              <a:lnSpc>
                <a:spcPts val="1709"/>
              </a:lnSpc>
            </a:pPr>
            <a:r>
              <a:rPr lang="en-US" b="true" sz="1425" spc="299">
                <a:solidFill>
                  <a:srgbClr val="D4AF37"/>
                </a:solidFill>
                <a:latin typeface="Exo 2 Bold"/>
                <a:ea typeface="Exo 2 Bold"/>
                <a:cs typeface="Exo 2 Bold"/>
                <a:sym typeface="Exo 2 Bold"/>
              </a:rPr>
              <a:t>DIGITAL PERFORMANCE CHANNELS</a:t>
            </a:r>
          </a:p>
        </p:txBody>
      </p:sp>
      <p:grpSp>
        <p:nvGrpSpPr>
          <p:cNvPr name="Group 7" id="7"/>
          <p:cNvGrpSpPr/>
          <p:nvPr/>
        </p:nvGrpSpPr>
        <p:grpSpPr>
          <a:xfrm rot="0">
            <a:off x="850392" y="713232"/>
            <a:ext cx="14127480" cy="1124712"/>
            <a:chOff x="0" y="0"/>
            <a:chExt cx="18836640" cy="1499616"/>
          </a:xfrm>
        </p:grpSpPr>
        <p:sp>
          <p:nvSpPr>
            <p:cNvPr name="Freeform 8" id="8"/>
            <p:cNvSpPr/>
            <p:nvPr/>
          </p:nvSpPr>
          <p:spPr>
            <a:xfrm flipH="false" flipV="false" rot="0">
              <a:off x="0" y="0"/>
              <a:ext cx="18836639" cy="1499616"/>
            </a:xfrm>
            <a:custGeom>
              <a:avLst/>
              <a:gdLst/>
              <a:ahLst/>
              <a:cxnLst/>
              <a:rect r="r" b="b" t="t" l="l"/>
              <a:pathLst>
                <a:path h="1499616" w="18836639">
                  <a:moveTo>
                    <a:pt x="0" y="0"/>
                  </a:moveTo>
                  <a:lnTo>
                    <a:pt x="18836639" y="0"/>
                  </a:lnTo>
                  <a:lnTo>
                    <a:pt x="18836639" y="1499616"/>
                  </a:lnTo>
                  <a:lnTo>
                    <a:pt x="0" y="1499616"/>
                  </a:lnTo>
                  <a:close/>
                </a:path>
              </a:pathLst>
            </a:custGeom>
            <a:blipFill>
              <a:blip r:embed="rId4">
                <a:alphaModFix amt="0"/>
              </a:blip>
              <a:stretch>
                <a:fillRect l="0" t="-194751" r="0" b="-194751"/>
              </a:stretch>
            </a:blipFill>
          </p:spPr>
        </p:sp>
        <p:sp>
          <p:nvSpPr>
            <p:cNvPr name="TextBox 9" id="9"/>
            <p:cNvSpPr txBox="true"/>
            <p:nvPr/>
          </p:nvSpPr>
          <p:spPr>
            <a:xfrm>
              <a:off x="0" y="-9525"/>
              <a:ext cx="18836640" cy="1509141"/>
            </a:xfrm>
            <a:prstGeom prst="rect">
              <a:avLst/>
            </a:prstGeom>
          </p:spPr>
          <p:txBody>
            <a:bodyPr anchor="ctr" rtlCol="false" tIns="0" lIns="0" bIns="0" rIns="0"/>
            <a:lstStyle/>
            <a:p>
              <a:pPr algn="l">
                <a:lnSpc>
                  <a:spcPts val="3960"/>
                </a:lnSpc>
              </a:pPr>
              <a:r>
                <a:rPr lang="en-US" sz="3300" b="true">
                  <a:solidFill>
                    <a:srgbClr val="FFFFFF"/>
                  </a:solidFill>
                  <a:latin typeface="Exo 2 Bold"/>
                  <a:ea typeface="Exo 2 Bold"/>
                  <a:cs typeface="Exo 2 Bold"/>
                  <a:sym typeface="Exo 2 Bold"/>
                </a:rPr>
                <a:t>Two New Channels Targeting the Saudi Market</a:t>
              </a:r>
            </a:p>
          </p:txBody>
        </p:sp>
      </p:grpSp>
      <p:grpSp>
        <p:nvGrpSpPr>
          <p:cNvPr name="Group 10" id="10"/>
          <p:cNvGrpSpPr/>
          <p:nvPr/>
        </p:nvGrpSpPr>
        <p:grpSpPr>
          <a:xfrm rot="0">
            <a:off x="15457932" y="685800"/>
            <a:ext cx="1988820" cy="576072"/>
            <a:chOff x="0" y="0"/>
            <a:chExt cx="2651760" cy="768096"/>
          </a:xfrm>
        </p:grpSpPr>
        <p:sp>
          <p:nvSpPr>
            <p:cNvPr name="Freeform 11" id="11" descr="/home/user/HatemIsa_202508993_IT9002_NLP_Project/emyaa-ceo-deck/working/charts/ajyad_white.png"/>
            <p:cNvSpPr/>
            <p:nvPr/>
          </p:nvSpPr>
          <p:spPr>
            <a:xfrm flipH="false" flipV="false" rot="0">
              <a:off x="0" y="0"/>
              <a:ext cx="2651760" cy="768096"/>
            </a:xfrm>
            <a:custGeom>
              <a:avLst/>
              <a:gdLst/>
              <a:ahLst/>
              <a:cxnLst/>
              <a:rect r="r" b="b" t="t" l="l"/>
              <a:pathLst>
                <a:path h="768096" w="2651760">
                  <a:moveTo>
                    <a:pt x="0" y="0"/>
                  </a:moveTo>
                  <a:lnTo>
                    <a:pt x="2651760" y="0"/>
                  </a:lnTo>
                  <a:lnTo>
                    <a:pt x="2651760" y="768096"/>
                  </a:lnTo>
                  <a:lnTo>
                    <a:pt x="0" y="768096"/>
                  </a:lnTo>
                  <a:lnTo>
                    <a:pt x="0" y="0"/>
                  </a:lnTo>
                  <a:close/>
                </a:path>
              </a:pathLst>
            </a:custGeom>
            <a:blipFill>
              <a:blip r:embed="rId5"/>
              <a:stretch>
                <a:fillRect l="0" t="-26" r="0" b="-26"/>
              </a:stretch>
            </a:blipFill>
          </p:spPr>
        </p:sp>
      </p:grpSp>
      <p:sp>
        <p:nvSpPr>
          <p:cNvPr name="TextBox 12" id="12"/>
          <p:cNvSpPr txBox="true"/>
          <p:nvPr/>
        </p:nvSpPr>
        <p:spPr>
          <a:xfrm rot="0">
            <a:off x="850392" y="9728835"/>
            <a:ext cx="8229600" cy="311277"/>
          </a:xfrm>
          <a:prstGeom prst="rect">
            <a:avLst/>
          </a:prstGeom>
        </p:spPr>
        <p:txBody>
          <a:bodyPr anchor="t" rtlCol="false" tIns="0" lIns="0" bIns="0" rIns="0">
            <a:spAutoFit/>
          </a:bodyPr>
          <a:lstStyle/>
          <a:p>
            <a:pPr algn="l">
              <a:lnSpc>
                <a:spcPts val="1439"/>
              </a:lnSpc>
            </a:pPr>
            <a:r>
              <a:rPr lang="en-US" sz="1200">
                <a:solidFill>
                  <a:srgbClr val="8A93A8"/>
                </a:solidFill>
                <a:latin typeface="Exo 2"/>
                <a:ea typeface="Exo 2"/>
                <a:cs typeface="Exo 2"/>
                <a:sym typeface="Exo 2"/>
              </a:rPr>
              <a:t>eMYAA Trading Platform  |  Saudi Market Plan</a:t>
            </a:r>
          </a:p>
        </p:txBody>
      </p:sp>
      <p:sp>
        <p:nvSpPr>
          <p:cNvPr name="TextBox 13" id="13"/>
          <p:cNvSpPr txBox="true"/>
          <p:nvPr/>
        </p:nvSpPr>
        <p:spPr>
          <a:xfrm rot="0">
            <a:off x="14703552" y="9728835"/>
            <a:ext cx="685800" cy="190500"/>
          </a:xfrm>
          <a:prstGeom prst="rect">
            <a:avLst/>
          </a:prstGeom>
        </p:spPr>
        <p:txBody>
          <a:bodyPr anchor="t" rtlCol="false" tIns="0" lIns="0" bIns="0" rIns="0">
            <a:spAutoFit/>
          </a:bodyPr>
          <a:lstStyle/>
          <a:p>
            <a:pPr algn="r">
              <a:lnSpc>
                <a:spcPts val="1439"/>
              </a:lnSpc>
            </a:pPr>
            <a:r>
              <a:rPr lang="en-US" sz="1200">
                <a:solidFill>
                  <a:srgbClr val="8A93A8"/>
                </a:solidFill>
                <a:latin typeface="Exo 2"/>
                <a:ea typeface="Exo 2"/>
                <a:cs typeface="Exo 2"/>
                <a:sym typeface="Exo 2"/>
              </a:rPr>
              <a:t>5</a:t>
            </a:r>
          </a:p>
        </p:txBody>
      </p:sp>
      <p:grpSp>
        <p:nvGrpSpPr>
          <p:cNvPr name="Group 14" id="14"/>
          <p:cNvGrpSpPr/>
          <p:nvPr/>
        </p:nvGrpSpPr>
        <p:grpSpPr>
          <a:xfrm rot="0">
            <a:off x="15910560" y="9491472"/>
            <a:ext cx="1536192" cy="548640"/>
            <a:chOff x="0" y="0"/>
            <a:chExt cx="2048256" cy="731520"/>
          </a:xfrm>
        </p:grpSpPr>
        <p:sp>
          <p:nvSpPr>
            <p:cNvPr name="Freeform 15" id="15" descr="/home/user/HatemIsa_202508993_IT9002_NLP_Project/emyaa-ceo-deck/working/charts/emyaa_navy.png"/>
            <p:cNvSpPr/>
            <p:nvPr/>
          </p:nvSpPr>
          <p:spPr>
            <a:xfrm flipH="false" flipV="false" rot="0">
              <a:off x="0" y="0"/>
              <a:ext cx="2048256" cy="731520"/>
            </a:xfrm>
            <a:custGeom>
              <a:avLst/>
              <a:gdLst/>
              <a:ahLst/>
              <a:cxnLst/>
              <a:rect r="r" b="b" t="t" l="l"/>
              <a:pathLst>
                <a:path h="731520" w="2048256">
                  <a:moveTo>
                    <a:pt x="0" y="0"/>
                  </a:moveTo>
                  <a:lnTo>
                    <a:pt x="2048256" y="0"/>
                  </a:lnTo>
                  <a:lnTo>
                    <a:pt x="2048256" y="731520"/>
                  </a:lnTo>
                  <a:lnTo>
                    <a:pt x="0" y="731520"/>
                  </a:lnTo>
                  <a:lnTo>
                    <a:pt x="0" y="0"/>
                  </a:lnTo>
                  <a:close/>
                </a:path>
              </a:pathLst>
            </a:custGeom>
            <a:blipFill>
              <a:blip r:embed="rId6"/>
              <a:stretch>
                <a:fillRect l="-301" t="0" r="-301" b="0"/>
              </a:stretch>
            </a:blipFill>
          </p:spPr>
        </p:sp>
      </p:grpSp>
      <p:sp>
        <p:nvSpPr>
          <p:cNvPr name="TextBox 130" id="130"/>
          <p:cNvSpPr txBox="true"/>
          <p:nvPr/>
        </p:nvSpPr>
        <p:spPr>
          <a:xfrm rot="0">
            <a:off x="850392" y="7269480"/>
            <a:ext cx="8229600" cy="238125"/>
          </a:xfrm>
          <a:prstGeom prst="rect">
            <a:avLst/>
          </a:prstGeom>
        </p:spPr>
        <p:txBody>
          <a:bodyPr anchor="t" rtlCol="false" tIns="0" lIns="0" bIns="0" rIns="0">
            <a:spAutoFit/>
          </a:bodyPr>
          <a:lstStyle/>
          <a:p>
            <a:pPr algn="l">
              <a:lnSpc>
                <a:spcPts val="1800"/>
              </a:lnSpc>
            </a:pPr>
            <a:r>
              <a:rPr lang="en-US" b="true" sz="1500" spc="150">
                <a:solidFill>
                  <a:srgbClr val="3C61B6"/>
                </a:solidFill>
                <a:latin typeface="Exo 2 Bold"/>
                <a:ea typeface="Exo 2 Bold"/>
                <a:cs typeface="Exo 2 Bold"/>
                <a:sym typeface="Exo 2 Bold"/>
              </a:rPr>
              <a:t>INITIAL RESULTS</a:t>
            </a:r>
          </a:p>
        </p:txBody>
      </p:sp>
      <p:grpSp>
        <p:nvGrpSpPr>
          <p:cNvPr name="Group 131" id="131"/>
          <p:cNvGrpSpPr/>
          <p:nvPr/>
        </p:nvGrpSpPr>
        <p:grpSpPr>
          <a:xfrm rot="0">
            <a:off x="843248" y="7673816"/>
            <a:ext cx="5363528" cy="1865948"/>
            <a:chOff x="0" y="0"/>
            <a:chExt cx="7151370" cy="2487930"/>
          </a:xfrm>
        </p:grpSpPr>
        <p:sp>
          <p:nvSpPr>
            <p:cNvPr name="Freeform 132" id="132"/>
            <p:cNvSpPr/>
            <p:nvPr/>
          </p:nvSpPr>
          <p:spPr>
            <a:xfrm flipH="false" flipV="false" rot="0">
              <a:off x="0" y="0"/>
              <a:ext cx="7151370" cy="2487930"/>
            </a:xfrm>
            <a:custGeom>
              <a:avLst/>
              <a:gdLst/>
              <a:ahLst/>
              <a:cxnLst/>
              <a:rect r="r" b="b" t="t" l="l"/>
              <a:pathLst>
                <a:path h="2487930" w="7151370">
                  <a:moveTo>
                    <a:pt x="0" y="0"/>
                  </a:moveTo>
                  <a:lnTo>
                    <a:pt x="7151370" y="0"/>
                  </a:lnTo>
                  <a:lnTo>
                    <a:pt x="7151370" y="2487930"/>
                  </a:lnTo>
                  <a:lnTo>
                    <a:pt x="0" y="2487930"/>
                  </a:lnTo>
                  <a:close/>
                </a:path>
              </a:pathLst>
            </a:custGeom>
            <a:solidFill>
              <a:srgbClr val="FFFFFF"/>
            </a:solidFill>
            <a:ln w="14288" cap="sq">
              <a:solidFill>
                <a:srgbClr val="D9DFEA"/>
              </a:solidFill>
              <a:prstDash val="solid"/>
              <a:miter/>
            </a:ln>
          </p:spPr>
        </p:sp>
      </p:grpSp>
      <p:grpSp>
        <p:nvGrpSpPr>
          <p:cNvPr name="Group 133" id="133"/>
          <p:cNvGrpSpPr/>
          <p:nvPr/>
        </p:nvGrpSpPr>
        <p:grpSpPr>
          <a:xfrm rot="0">
            <a:off x="840867" y="7671435"/>
            <a:ext cx="5368290" cy="80772"/>
            <a:chOff x="0" y="0"/>
            <a:chExt cx="7157720" cy="107696"/>
          </a:xfrm>
        </p:grpSpPr>
        <p:sp>
          <p:nvSpPr>
            <p:cNvPr name="Freeform 134" id="134"/>
            <p:cNvSpPr/>
            <p:nvPr/>
          </p:nvSpPr>
          <p:spPr>
            <a:xfrm flipH="false" flipV="false" rot="0">
              <a:off x="0" y="0"/>
              <a:ext cx="7157720" cy="107696"/>
            </a:xfrm>
            <a:custGeom>
              <a:avLst/>
              <a:gdLst/>
              <a:ahLst/>
              <a:cxnLst/>
              <a:rect r="r" b="b" t="t" l="l"/>
              <a:pathLst>
                <a:path h="107696" w="7157720">
                  <a:moveTo>
                    <a:pt x="0" y="0"/>
                  </a:moveTo>
                  <a:lnTo>
                    <a:pt x="7157720" y="0"/>
                  </a:lnTo>
                  <a:lnTo>
                    <a:pt x="7157720" y="107696"/>
                  </a:lnTo>
                  <a:lnTo>
                    <a:pt x="0" y="107696"/>
                  </a:lnTo>
                  <a:close/>
                </a:path>
              </a:pathLst>
            </a:custGeom>
            <a:solidFill>
              <a:srgbClr val="132257"/>
            </a:solidFill>
            <a:ln w="19050" cap="sq">
              <a:solidFill>
                <a:srgbClr val="132257"/>
              </a:solidFill>
              <a:prstDash val="solid"/>
              <a:miter/>
            </a:ln>
          </p:spPr>
        </p:sp>
      </p:grpSp>
      <p:sp>
        <p:nvSpPr>
          <p:cNvPr name="TextBox 135" id="135"/>
          <p:cNvSpPr txBox="true"/>
          <p:nvPr/>
        </p:nvSpPr>
        <p:spPr>
          <a:xfrm rot="0">
            <a:off x="1124712" y="7918323"/>
            <a:ext cx="4800600" cy="763905"/>
          </a:xfrm>
          <a:prstGeom prst="rect">
            <a:avLst/>
          </a:prstGeom>
        </p:spPr>
        <p:txBody>
          <a:bodyPr anchor="t" rtlCol="false" tIns="0" lIns="0" bIns="0" rIns="0">
            <a:spAutoFit/>
          </a:bodyPr>
          <a:lstStyle/>
          <a:p>
            <a:pPr algn="l">
              <a:lnSpc>
                <a:spcPts val="4680"/>
              </a:lnSpc>
            </a:pPr>
            <a:r>
              <a:rPr lang="en-US" sz="3900" b="true">
                <a:solidFill>
                  <a:srgbClr val="132257"/>
                </a:solidFill>
                <a:latin typeface="Exo 2 Bold"/>
                <a:ea typeface="Exo 2 Bold"/>
                <a:cs typeface="Exo 2 Bold"/>
                <a:sym typeface="Exo 2 Bold"/>
              </a:rPr>
              <a:t>70%</a:t>
            </a:r>
          </a:p>
        </p:txBody>
      </p:sp>
      <p:sp>
        <p:nvSpPr>
          <p:cNvPr name="TextBox 136" id="136"/>
          <p:cNvSpPr txBox="true"/>
          <p:nvPr/>
        </p:nvSpPr>
        <p:spPr>
          <a:xfrm rot="0">
            <a:off x="1124712" y="8709660"/>
            <a:ext cx="4800600" cy="411480"/>
          </a:xfrm>
          <a:prstGeom prst="rect">
            <a:avLst/>
          </a:prstGeom>
        </p:spPr>
        <p:txBody>
          <a:bodyPr anchor="t" rtlCol="false" tIns="0" lIns="0" bIns="0" rIns="0">
            <a:spAutoFit/>
          </a:bodyPr>
          <a:lstStyle/>
          <a:p>
            <a:pPr algn="l">
              <a:lnSpc>
                <a:spcPts val="1980"/>
              </a:lnSpc>
            </a:pPr>
            <a:r>
              <a:rPr lang="en-US" sz="1650" b="true">
                <a:solidFill>
                  <a:srgbClr val="132257"/>
                </a:solidFill>
                <a:latin typeface="Exo 2 Bold"/>
                <a:ea typeface="Exo 2 Bold"/>
                <a:cs typeface="Exo 2 Bold"/>
                <a:sym typeface="Exo 2 Bold"/>
              </a:rPr>
              <a:t>of website visits</a:t>
            </a:r>
          </a:p>
        </p:txBody>
      </p:sp>
      <p:sp>
        <p:nvSpPr>
          <p:cNvPr name="TextBox 137" id="137"/>
          <p:cNvSpPr txBox="true"/>
          <p:nvPr/>
        </p:nvSpPr>
        <p:spPr>
          <a:xfrm rot="0">
            <a:off x="1124712" y="9070467"/>
            <a:ext cx="4800600" cy="393573"/>
          </a:xfrm>
          <a:prstGeom prst="rect">
            <a:avLst/>
          </a:prstGeom>
        </p:spPr>
        <p:txBody>
          <a:bodyPr anchor="t" rtlCol="false" tIns="0" lIns="0" bIns="0" rIns="0">
            <a:spAutoFit/>
          </a:bodyPr>
          <a:lstStyle/>
          <a:p>
            <a:pPr algn="l">
              <a:lnSpc>
                <a:spcPts val="1620"/>
              </a:lnSpc>
            </a:pPr>
            <a:r>
              <a:rPr lang="en-US" sz="1350">
                <a:solidFill>
                  <a:srgbClr val="6B7590"/>
                </a:solidFill>
                <a:latin typeface="Exo 2"/>
                <a:ea typeface="Exo 2"/>
                <a:cs typeface="Exo 2"/>
                <a:sym typeface="Exo 2"/>
              </a:rPr>
              <a:t>came from Saudi Google Ads</a:t>
            </a:r>
          </a:p>
        </p:txBody>
      </p:sp>
      <p:grpSp>
        <p:nvGrpSpPr>
          <p:cNvPr name="Group 138" id="138"/>
          <p:cNvGrpSpPr/>
          <p:nvPr/>
        </p:nvGrpSpPr>
        <p:grpSpPr>
          <a:xfrm rot="0">
            <a:off x="6466808" y="7673816"/>
            <a:ext cx="5363528" cy="1865948"/>
            <a:chOff x="0" y="0"/>
            <a:chExt cx="7151370" cy="2487930"/>
          </a:xfrm>
        </p:grpSpPr>
        <p:sp>
          <p:nvSpPr>
            <p:cNvPr name="Freeform 139" id="139"/>
            <p:cNvSpPr/>
            <p:nvPr/>
          </p:nvSpPr>
          <p:spPr>
            <a:xfrm flipH="false" flipV="false" rot="0">
              <a:off x="0" y="0"/>
              <a:ext cx="7151370" cy="2487930"/>
            </a:xfrm>
            <a:custGeom>
              <a:avLst/>
              <a:gdLst/>
              <a:ahLst/>
              <a:cxnLst/>
              <a:rect r="r" b="b" t="t" l="l"/>
              <a:pathLst>
                <a:path h="2487930" w="7151370">
                  <a:moveTo>
                    <a:pt x="0" y="0"/>
                  </a:moveTo>
                  <a:lnTo>
                    <a:pt x="7151370" y="0"/>
                  </a:lnTo>
                  <a:lnTo>
                    <a:pt x="7151370" y="2487930"/>
                  </a:lnTo>
                  <a:lnTo>
                    <a:pt x="0" y="2487930"/>
                  </a:lnTo>
                  <a:close/>
                </a:path>
              </a:pathLst>
            </a:custGeom>
            <a:solidFill>
              <a:srgbClr val="FFFFFF"/>
            </a:solidFill>
            <a:ln w="14288" cap="sq">
              <a:solidFill>
                <a:srgbClr val="D9DFEA"/>
              </a:solidFill>
              <a:prstDash val="solid"/>
              <a:miter/>
            </a:ln>
          </p:spPr>
        </p:sp>
      </p:grpSp>
      <p:grpSp>
        <p:nvGrpSpPr>
          <p:cNvPr name="Group 140" id="140"/>
          <p:cNvGrpSpPr/>
          <p:nvPr/>
        </p:nvGrpSpPr>
        <p:grpSpPr>
          <a:xfrm rot="0">
            <a:off x="6464427" y="7671435"/>
            <a:ext cx="5368290" cy="80772"/>
            <a:chOff x="0" y="0"/>
            <a:chExt cx="7157720" cy="107696"/>
          </a:xfrm>
        </p:grpSpPr>
        <p:sp>
          <p:nvSpPr>
            <p:cNvPr name="Freeform 141" id="141"/>
            <p:cNvSpPr/>
            <p:nvPr/>
          </p:nvSpPr>
          <p:spPr>
            <a:xfrm flipH="false" flipV="false" rot="0">
              <a:off x="0" y="0"/>
              <a:ext cx="7157720" cy="107696"/>
            </a:xfrm>
            <a:custGeom>
              <a:avLst/>
              <a:gdLst/>
              <a:ahLst/>
              <a:cxnLst/>
              <a:rect r="r" b="b" t="t" l="l"/>
              <a:pathLst>
                <a:path h="107696" w="7157720">
                  <a:moveTo>
                    <a:pt x="0" y="0"/>
                  </a:moveTo>
                  <a:lnTo>
                    <a:pt x="7157720" y="0"/>
                  </a:lnTo>
                  <a:lnTo>
                    <a:pt x="7157720" y="107696"/>
                  </a:lnTo>
                  <a:lnTo>
                    <a:pt x="0" y="107696"/>
                  </a:lnTo>
                  <a:close/>
                </a:path>
              </a:pathLst>
            </a:custGeom>
            <a:solidFill>
              <a:srgbClr val="132257"/>
            </a:solidFill>
            <a:ln w="19050" cap="sq">
              <a:solidFill>
                <a:srgbClr val="132257"/>
              </a:solidFill>
              <a:prstDash val="solid"/>
              <a:miter/>
            </a:ln>
          </p:spPr>
        </p:sp>
      </p:grpSp>
      <p:sp>
        <p:nvSpPr>
          <p:cNvPr name="TextBox 142" id="142"/>
          <p:cNvSpPr txBox="true"/>
          <p:nvPr/>
        </p:nvSpPr>
        <p:spPr>
          <a:xfrm rot="0">
            <a:off x="6748272" y="7918323"/>
            <a:ext cx="4800600" cy="763905"/>
          </a:xfrm>
          <a:prstGeom prst="rect">
            <a:avLst/>
          </a:prstGeom>
        </p:spPr>
        <p:txBody>
          <a:bodyPr anchor="t" rtlCol="false" tIns="0" lIns="0" bIns="0" rIns="0">
            <a:spAutoFit/>
          </a:bodyPr>
          <a:lstStyle/>
          <a:p>
            <a:pPr algn="l">
              <a:lnSpc>
                <a:spcPts val="4680"/>
              </a:lnSpc>
            </a:pPr>
            <a:r>
              <a:rPr lang="en-US" sz="3900" b="true">
                <a:solidFill>
                  <a:srgbClr val="132257"/>
                </a:solidFill>
                <a:latin typeface="Exo 2 Bold"/>
                <a:ea typeface="Exo 2 Bold"/>
                <a:cs typeface="Exo 2 Bold"/>
                <a:sym typeface="Exo 2 Bold"/>
              </a:rPr>
              <a:t>97% / 87%</a:t>
            </a:r>
          </a:p>
        </p:txBody>
      </p:sp>
      <p:sp>
        <p:nvSpPr>
          <p:cNvPr name="TextBox 143" id="143"/>
          <p:cNvSpPr txBox="true"/>
          <p:nvPr/>
        </p:nvSpPr>
        <p:spPr>
          <a:xfrm rot="0">
            <a:off x="6748272" y="8709660"/>
            <a:ext cx="4800600" cy="411480"/>
          </a:xfrm>
          <a:prstGeom prst="rect">
            <a:avLst/>
          </a:prstGeom>
        </p:spPr>
        <p:txBody>
          <a:bodyPr anchor="t" rtlCol="false" tIns="0" lIns="0" bIns="0" rIns="0">
            <a:spAutoFit/>
          </a:bodyPr>
          <a:lstStyle/>
          <a:p>
            <a:pPr algn="l">
              <a:lnSpc>
                <a:spcPts val="1980"/>
              </a:lnSpc>
            </a:pPr>
            <a:r>
              <a:rPr lang="en-US" sz="1650" b="true">
                <a:solidFill>
                  <a:srgbClr val="132257"/>
                </a:solidFill>
                <a:latin typeface="Exo 2 Bold"/>
                <a:ea typeface="Exo 2 Bold"/>
                <a:cs typeface="Exo 2 Bold"/>
                <a:sym typeface="Exo 2 Bold"/>
              </a:rPr>
              <a:t>engagement rate</a:t>
            </a:r>
          </a:p>
        </p:txBody>
      </p:sp>
      <p:sp>
        <p:nvSpPr>
          <p:cNvPr name="TextBox 144" id="144"/>
          <p:cNvSpPr txBox="true"/>
          <p:nvPr/>
        </p:nvSpPr>
        <p:spPr>
          <a:xfrm rot="0">
            <a:off x="6748272" y="9070467"/>
            <a:ext cx="4800600" cy="393573"/>
          </a:xfrm>
          <a:prstGeom prst="rect">
            <a:avLst/>
          </a:prstGeom>
        </p:spPr>
        <p:txBody>
          <a:bodyPr anchor="t" rtlCol="false" tIns="0" lIns="0" bIns="0" rIns="0">
            <a:spAutoFit/>
          </a:bodyPr>
          <a:lstStyle/>
          <a:p>
            <a:pPr algn="l">
              <a:lnSpc>
                <a:spcPts val="1620"/>
              </a:lnSpc>
            </a:pPr>
            <a:r>
              <a:rPr lang="en-US" sz="1350">
                <a:solidFill>
                  <a:srgbClr val="6B7590"/>
                </a:solidFill>
                <a:latin typeface="Exo 2"/>
                <a:ea typeface="Exo 2"/>
                <a:cs typeface="Exo 2"/>
                <a:sym typeface="Exo 2"/>
              </a:rPr>
              <a:t>English ads / Arabic ads</a:t>
            </a:r>
          </a:p>
        </p:txBody>
      </p:sp>
      <p:grpSp>
        <p:nvGrpSpPr>
          <p:cNvPr name="Group 145" id="145"/>
          <p:cNvGrpSpPr/>
          <p:nvPr/>
        </p:nvGrpSpPr>
        <p:grpSpPr>
          <a:xfrm rot="0">
            <a:off x="12087987" y="7671435"/>
            <a:ext cx="5368290" cy="1870710"/>
            <a:chOff x="0" y="0"/>
            <a:chExt cx="7157720" cy="2494280"/>
          </a:xfrm>
        </p:grpSpPr>
        <p:sp>
          <p:nvSpPr>
            <p:cNvPr name="Freeform 146" id="146"/>
            <p:cNvSpPr/>
            <p:nvPr/>
          </p:nvSpPr>
          <p:spPr>
            <a:xfrm flipH="false" flipV="false" rot="0">
              <a:off x="0" y="0"/>
              <a:ext cx="7157720" cy="2494280"/>
            </a:xfrm>
            <a:custGeom>
              <a:avLst/>
              <a:gdLst/>
              <a:ahLst/>
              <a:cxnLst/>
              <a:rect r="r" b="b" t="t" l="l"/>
              <a:pathLst>
                <a:path h="2494280" w="7157720">
                  <a:moveTo>
                    <a:pt x="0" y="0"/>
                  </a:moveTo>
                  <a:lnTo>
                    <a:pt x="7157720" y="0"/>
                  </a:lnTo>
                  <a:lnTo>
                    <a:pt x="7157720" y="2494280"/>
                  </a:lnTo>
                  <a:lnTo>
                    <a:pt x="0" y="2494280"/>
                  </a:lnTo>
                  <a:close/>
                </a:path>
              </a:pathLst>
            </a:custGeom>
            <a:solidFill>
              <a:srgbClr val="EEF1F8"/>
            </a:solidFill>
            <a:ln w="19050" cap="sq">
              <a:solidFill>
                <a:srgbClr val="EEF1F8"/>
              </a:solidFill>
              <a:prstDash val="solid"/>
              <a:miter/>
            </a:ln>
          </p:spPr>
        </p:sp>
      </p:grpSp>
      <p:grpSp>
        <p:nvGrpSpPr>
          <p:cNvPr name="Group 147" id="147"/>
          <p:cNvGrpSpPr/>
          <p:nvPr/>
        </p:nvGrpSpPr>
        <p:grpSpPr>
          <a:xfrm rot="0">
            <a:off x="12344400" y="7680960"/>
            <a:ext cx="4937760" cy="1851660"/>
            <a:chOff x="0" y="0"/>
            <a:chExt cx="6583680" cy="2468880"/>
          </a:xfrm>
        </p:grpSpPr>
        <p:sp>
          <p:nvSpPr>
            <p:cNvPr name="Freeform 148" id="148"/>
            <p:cNvSpPr/>
            <p:nvPr/>
          </p:nvSpPr>
          <p:spPr>
            <a:xfrm flipH="false" flipV="false" rot="0">
              <a:off x="0" y="0"/>
              <a:ext cx="6583680" cy="2468880"/>
            </a:xfrm>
            <a:custGeom>
              <a:avLst/>
              <a:gdLst/>
              <a:ahLst/>
              <a:cxnLst/>
              <a:rect r="r" b="b" t="t" l="l"/>
              <a:pathLst>
                <a:path h="2468880" w="6583680">
                  <a:moveTo>
                    <a:pt x="0" y="0"/>
                  </a:moveTo>
                  <a:lnTo>
                    <a:pt x="6583680" y="0"/>
                  </a:lnTo>
                  <a:lnTo>
                    <a:pt x="6583680" y="2468880"/>
                  </a:lnTo>
                  <a:lnTo>
                    <a:pt x="0" y="2468880"/>
                  </a:lnTo>
                  <a:close/>
                </a:path>
              </a:pathLst>
            </a:custGeom>
            <a:blipFill>
              <a:blip r:embed="rId4">
                <a:alphaModFix amt="0"/>
              </a:blip>
              <a:stretch>
                <a:fillRect l="0" t="-1960" r="0" b="-1960"/>
              </a:stretch>
            </a:blipFill>
          </p:spPr>
        </p:sp>
        <p:sp>
          <p:nvSpPr>
            <p:cNvPr name="TextBox 149" id="149"/>
            <p:cNvSpPr txBox="true"/>
            <p:nvPr/>
          </p:nvSpPr>
          <p:spPr>
            <a:xfrm>
              <a:off x="0" y="-9525"/>
              <a:ext cx="6583680" cy="2478405"/>
            </a:xfrm>
            <a:prstGeom prst="rect">
              <a:avLst/>
            </a:prstGeom>
          </p:spPr>
          <p:txBody>
            <a:bodyPr anchor="ctr" rtlCol="false" tIns="0" lIns="0" bIns="0" rIns="0"/>
            <a:lstStyle/>
            <a:p>
              <a:pPr algn="l">
                <a:lnSpc>
                  <a:spcPts val="2160"/>
                </a:lnSpc>
              </a:pPr>
              <a:r>
                <a:rPr lang="en-US" sz="1800" b="true">
                  <a:solidFill>
                    <a:srgbClr val="132257"/>
                  </a:solidFill>
                  <a:latin typeface="Exo 2 Bold"/>
                  <a:ea typeface="Exo 2 Bold"/>
                  <a:cs typeface="Exo 2 Bold"/>
                  <a:sym typeface="Exo 2 Bold"/>
                </a:rPr>
                <a:t>A one-month test result for each channel will decide where the budget goes next.</a:t>
              </a:r>
            </a:p>
          </p:txBody>
        </p:sp>
      </p:grpSp>
      <p:sp>
        <p:nvSpPr>
          <p:cNvPr id="150" name="Rectangle 149"/>
          <p:cNvSpPr/>
          <p:nvPr/>
        </p:nvSpPr>
        <p:spPr>
          <a:xfrm>
            <a:off x="841248" y="2386584"/>
            <a:ext cx="3520440" cy="640080"/>
          </a:xfrm>
          <a:prstGeom prst="rect">
            <a:avLst/>
          </a:prstGeom>
          <a:solidFill>
            <a:srgbClr val="132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1024128" y="2386584"/>
            <a:ext cx="3246120" cy="640080"/>
          </a:xfrm>
          <a:prstGeom prst="rect">
            <a:avLst/>
          </a:prstGeom>
          <a:noFill/>
        </p:spPr>
        <p:txBody>
          <a:bodyPr wrap="square" anchor="ctr" lIns="0" rIns="0" tIns="0" bIns="0">
            <a:spAutoFit/>
          </a:bodyPr>
          <a:lstStyle/>
          <a:p>
            <a:pPr algn="l"/>
            <a:r>
              <a:rPr sz="1575" b="1" i="0">
                <a:solidFill>
                  <a:srgbClr val="FFFFFF"/>
                </a:solidFill>
                <a:latin typeface="Exo 2 Bold"/>
                <a:ea typeface="Exo 2 Bold"/>
                <a:cs typeface="Exo 2 Bold"/>
              </a:rPr>
              <a:t>Channel and market</a:t>
            </a:r>
          </a:p>
        </p:txBody>
      </p:sp>
      <p:sp>
        <p:nvSpPr>
          <p:cNvPr id="152" name="Rectangle 151"/>
          <p:cNvSpPr/>
          <p:nvPr/>
        </p:nvSpPr>
        <p:spPr>
          <a:xfrm>
            <a:off x="4361688" y="2386584"/>
            <a:ext cx="2103120" cy="640080"/>
          </a:xfrm>
          <a:prstGeom prst="rect">
            <a:avLst/>
          </a:prstGeom>
          <a:solidFill>
            <a:srgbClr val="132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4544568" y="2386584"/>
            <a:ext cx="1828799" cy="640080"/>
          </a:xfrm>
          <a:prstGeom prst="rect">
            <a:avLst/>
          </a:prstGeom>
          <a:noFill/>
        </p:spPr>
        <p:txBody>
          <a:bodyPr wrap="square" anchor="ctr" lIns="0" rIns="0" tIns="0" bIns="0">
            <a:spAutoFit/>
          </a:bodyPr>
          <a:lstStyle/>
          <a:p>
            <a:pPr algn="l"/>
            <a:r>
              <a:rPr sz="1575" b="1" i="0">
                <a:solidFill>
                  <a:srgbClr val="FFFFFF"/>
                </a:solidFill>
                <a:latin typeface="Exo 2 Bold"/>
                <a:ea typeface="Exo 2 Bold"/>
                <a:cs typeface="Exo 2 Bold"/>
              </a:rPr>
              <a:t>Budget</a:t>
            </a:r>
          </a:p>
        </p:txBody>
      </p:sp>
      <p:sp>
        <p:nvSpPr>
          <p:cNvPr id="154" name="Rectangle 153"/>
          <p:cNvSpPr/>
          <p:nvPr/>
        </p:nvSpPr>
        <p:spPr>
          <a:xfrm>
            <a:off x="6464808" y="2386584"/>
            <a:ext cx="4617720" cy="640080"/>
          </a:xfrm>
          <a:prstGeom prst="rect">
            <a:avLst/>
          </a:prstGeom>
          <a:solidFill>
            <a:srgbClr val="132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6647688" y="2386584"/>
            <a:ext cx="4343400" cy="640080"/>
          </a:xfrm>
          <a:prstGeom prst="rect">
            <a:avLst/>
          </a:prstGeom>
          <a:noFill/>
        </p:spPr>
        <p:txBody>
          <a:bodyPr wrap="square" anchor="ctr" lIns="0" rIns="0" tIns="0" bIns="0">
            <a:spAutoFit/>
          </a:bodyPr>
          <a:lstStyle/>
          <a:p>
            <a:pPr algn="l"/>
            <a:r>
              <a:rPr sz="1575" b="1" i="0">
                <a:solidFill>
                  <a:srgbClr val="FFFFFF"/>
                </a:solidFill>
                <a:latin typeface="Exo 2 Bold"/>
                <a:ea typeface="Exo 2 Bold"/>
                <a:cs typeface="Exo 2 Bold"/>
              </a:rPr>
              <a:t>Target</a:t>
            </a:r>
          </a:p>
        </p:txBody>
      </p:sp>
      <p:sp>
        <p:nvSpPr>
          <p:cNvPr id="156" name="Rectangle 155"/>
          <p:cNvSpPr/>
          <p:nvPr/>
        </p:nvSpPr>
        <p:spPr>
          <a:xfrm>
            <a:off x="11082528" y="2386584"/>
            <a:ext cx="3246120" cy="640080"/>
          </a:xfrm>
          <a:prstGeom prst="rect">
            <a:avLst/>
          </a:prstGeom>
          <a:solidFill>
            <a:srgbClr val="132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11265408" y="2386584"/>
            <a:ext cx="2971800" cy="640080"/>
          </a:xfrm>
          <a:prstGeom prst="rect">
            <a:avLst/>
          </a:prstGeom>
          <a:noFill/>
        </p:spPr>
        <p:txBody>
          <a:bodyPr wrap="square" anchor="ctr" lIns="0" rIns="0" tIns="0" bIns="0">
            <a:spAutoFit/>
          </a:bodyPr>
          <a:lstStyle/>
          <a:p>
            <a:pPr algn="l"/>
            <a:r>
              <a:rPr sz="1575" b="1" i="0">
                <a:solidFill>
                  <a:srgbClr val="FFFFFF"/>
                </a:solidFill>
                <a:latin typeface="Exo 2 Bold"/>
                <a:ea typeface="Exo 2 Bold"/>
                <a:cs typeface="Exo 2 Bold"/>
              </a:rPr>
              <a:t>Dates</a:t>
            </a:r>
          </a:p>
        </p:txBody>
      </p:sp>
      <p:sp>
        <p:nvSpPr>
          <p:cNvPr id="158" name="Rectangle 157"/>
          <p:cNvSpPr/>
          <p:nvPr/>
        </p:nvSpPr>
        <p:spPr>
          <a:xfrm>
            <a:off x="14328648" y="2386584"/>
            <a:ext cx="3127248" cy="640080"/>
          </a:xfrm>
          <a:prstGeom prst="rect">
            <a:avLst/>
          </a:prstGeom>
          <a:solidFill>
            <a:srgbClr val="132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14511528" y="2386584"/>
            <a:ext cx="2852928" cy="640080"/>
          </a:xfrm>
          <a:prstGeom prst="rect">
            <a:avLst/>
          </a:prstGeom>
          <a:noFill/>
        </p:spPr>
        <p:txBody>
          <a:bodyPr wrap="square" anchor="ctr" lIns="0" rIns="0" tIns="0" bIns="0">
            <a:spAutoFit/>
          </a:bodyPr>
          <a:lstStyle/>
          <a:p>
            <a:pPr algn="l"/>
            <a:r>
              <a:rPr sz="1575" b="1" i="0">
                <a:solidFill>
                  <a:srgbClr val="FFFFFF"/>
                </a:solidFill>
                <a:latin typeface="Exo 2 Bold"/>
                <a:ea typeface="Exo 2 Bold"/>
                <a:cs typeface="Exo 2 Bold"/>
              </a:rPr>
              <a:t>Status</a:t>
            </a:r>
          </a:p>
        </p:txBody>
      </p:sp>
      <p:sp>
        <p:nvSpPr>
          <p:cNvPr id="160" name="Rectangle 159"/>
          <p:cNvSpPr/>
          <p:nvPr/>
        </p:nvSpPr>
        <p:spPr>
          <a:xfrm>
            <a:off x="841248" y="3026663"/>
            <a:ext cx="3520440" cy="795528"/>
          </a:xfrm>
          <a:prstGeom prst="rect">
            <a:avLst/>
          </a:prstGeom>
          <a:solidFill>
            <a:srgbClr val="FFFFFF"/>
          </a:solidFill>
          <a:ln w="9525">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1024128" y="3026663"/>
            <a:ext cx="3246120" cy="795528"/>
          </a:xfrm>
          <a:prstGeom prst="rect">
            <a:avLst/>
          </a:prstGeom>
          <a:noFill/>
        </p:spPr>
        <p:txBody>
          <a:bodyPr wrap="square" anchor="ctr" lIns="0" rIns="0" tIns="0" bIns="0">
            <a:spAutoFit/>
          </a:bodyPr>
          <a:lstStyle/>
          <a:p>
            <a:pPr algn="l"/>
            <a:r>
              <a:rPr sz="1875" b="1" i="0">
                <a:solidFill>
                  <a:srgbClr val="132257"/>
                </a:solidFill>
                <a:latin typeface="Exo 2 Bold"/>
                <a:ea typeface="Exo 2 Bold"/>
                <a:cs typeface="Exo 2 Bold"/>
              </a:rPr>
              <a:t>Google Search, Saudi</a:t>
            </a:r>
          </a:p>
        </p:txBody>
      </p:sp>
      <p:sp>
        <p:nvSpPr>
          <p:cNvPr id="162" name="Rectangle 161"/>
          <p:cNvSpPr/>
          <p:nvPr/>
        </p:nvSpPr>
        <p:spPr>
          <a:xfrm>
            <a:off x="4361688" y="3026663"/>
            <a:ext cx="2103120" cy="795528"/>
          </a:xfrm>
          <a:prstGeom prst="rect">
            <a:avLst/>
          </a:prstGeom>
          <a:solidFill>
            <a:srgbClr val="FFFFFF"/>
          </a:solidFill>
          <a:ln w="9525">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4544568" y="3026663"/>
            <a:ext cx="1828799" cy="795528"/>
          </a:xfrm>
          <a:prstGeom prst="rect">
            <a:avLst/>
          </a:prstGeom>
          <a:noFill/>
        </p:spPr>
        <p:txBody>
          <a:bodyPr wrap="square" anchor="ctr" lIns="0" rIns="0" tIns="0" bIns="0">
            <a:spAutoFit/>
          </a:bodyPr>
          <a:lstStyle/>
          <a:p>
            <a:pPr algn="l"/>
            <a:r>
              <a:rPr sz="1875" b="1" i="0">
                <a:solidFill>
                  <a:srgbClr val="1F2A44"/>
                </a:solidFill>
                <a:latin typeface="Exo 2 Bold"/>
                <a:ea typeface="Exo 2 Bold"/>
                <a:cs typeface="Exo 2 Bold"/>
              </a:rPr>
              <a:t>USD 9,000</a:t>
            </a:r>
          </a:p>
        </p:txBody>
      </p:sp>
      <p:sp>
        <p:nvSpPr>
          <p:cNvPr id="164" name="Rectangle 163"/>
          <p:cNvSpPr/>
          <p:nvPr/>
        </p:nvSpPr>
        <p:spPr>
          <a:xfrm>
            <a:off x="6464808" y="3026663"/>
            <a:ext cx="4617720" cy="795528"/>
          </a:xfrm>
          <a:prstGeom prst="rect">
            <a:avLst/>
          </a:prstGeom>
          <a:solidFill>
            <a:srgbClr val="FFFFFF"/>
          </a:solidFill>
          <a:ln w="9525">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TextBox 164"/>
          <p:cNvSpPr txBox="1"/>
          <p:nvPr/>
        </p:nvSpPr>
        <p:spPr>
          <a:xfrm>
            <a:off x="6647688" y="3026663"/>
            <a:ext cx="4343400" cy="795528"/>
          </a:xfrm>
          <a:prstGeom prst="rect">
            <a:avLst/>
          </a:prstGeom>
          <a:noFill/>
        </p:spPr>
        <p:txBody>
          <a:bodyPr wrap="square" anchor="ctr" lIns="0" rIns="0" tIns="0" bIns="0">
            <a:spAutoFit/>
          </a:bodyPr>
          <a:lstStyle/>
          <a:p>
            <a:pPr algn="l"/>
            <a:r>
              <a:rPr sz="1875" b="0" i="0">
                <a:solidFill>
                  <a:srgbClr val="1F2A44"/>
                </a:solidFill>
                <a:latin typeface="Exo 2"/>
                <a:ea typeface="Exo 2"/>
                <a:cs typeface="Exo 2"/>
              </a:rPr>
              <a:t>Riyadh first</a:t>
            </a:r>
          </a:p>
        </p:txBody>
      </p:sp>
      <p:sp>
        <p:nvSpPr>
          <p:cNvPr id="166" name="Rectangle 165"/>
          <p:cNvSpPr/>
          <p:nvPr/>
        </p:nvSpPr>
        <p:spPr>
          <a:xfrm>
            <a:off x="11082528" y="3026663"/>
            <a:ext cx="3246120" cy="795528"/>
          </a:xfrm>
          <a:prstGeom prst="rect">
            <a:avLst/>
          </a:prstGeom>
          <a:solidFill>
            <a:srgbClr val="FFFFFF"/>
          </a:solidFill>
          <a:ln w="9525">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11265408" y="3026663"/>
            <a:ext cx="2971800" cy="795528"/>
          </a:xfrm>
          <a:prstGeom prst="rect">
            <a:avLst/>
          </a:prstGeom>
          <a:noFill/>
        </p:spPr>
        <p:txBody>
          <a:bodyPr wrap="square" anchor="ctr" lIns="0" rIns="0" tIns="0" bIns="0">
            <a:spAutoFit/>
          </a:bodyPr>
          <a:lstStyle/>
          <a:p>
            <a:pPr algn="l"/>
            <a:r>
              <a:rPr sz="1950" b="1" i="0">
                <a:solidFill>
                  <a:srgbClr val="132257"/>
                </a:solidFill>
                <a:latin typeface="Exo 2 Bold"/>
                <a:ea typeface="Exo 2 Bold"/>
                <a:cs typeface="Exo 2 Bold"/>
              </a:rPr>
              <a:t>22 Sep to 31 Dec</a:t>
            </a:r>
          </a:p>
        </p:txBody>
      </p:sp>
      <p:sp>
        <p:nvSpPr>
          <p:cNvPr id="168" name="Rectangle 167"/>
          <p:cNvSpPr/>
          <p:nvPr/>
        </p:nvSpPr>
        <p:spPr>
          <a:xfrm>
            <a:off x="14328648" y="3026663"/>
            <a:ext cx="3127248" cy="795528"/>
          </a:xfrm>
          <a:prstGeom prst="rect">
            <a:avLst/>
          </a:prstGeom>
          <a:solidFill>
            <a:srgbClr val="FFFFFF"/>
          </a:solidFill>
          <a:ln w="9525">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14511528" y="3026663"/>
            <a:ext cx="2852928" cy="795528"/>
          </a:xfrm>
          <a:prstGeom prst="rect">
            <a:avLst/>
          </a:prstGeom>
          <a:noFill/>
        </p:spPr>
        <p:txBody>
          <a:bodyPr wrap="square" anchor="ctr" lIns="0" rIns="0" tIns="0" bIns="0">
            <a:spAutoFit/>
          </a:bodyPr>
          <a:lstStyle/>
          <a:p>
            <a:pPr algn="l"/>
            <a:r>
              <a:rPr sz="1875" b="1" i="0">
                <a:solidFill>
                  <a:srgbClr val="1BA97C"/>
                </a:solidFill>
                <a:latin typeface="Exo 2 Bold"/>
                <a:ea typeface="Exo 2 Bold"/>
                <a:cs typeface="Exo 2 Bold"/>
              </a:rPr>
              <a:t>Live</a:t>
            </a:r>
          </a:p>
        </p:txBody>
      </p:sp>
      <p:sp>
        <p:nvSpPr>
          <p:cNvPr id="170" name="Rectangle 169"/>
          <p:cNvSpPr/>
          <p:nvPr/>
        </p:nvSpPr>
        <p:spPr>
          <a:xfrm>
            <a:off x="841248" y="3822191"/>
            <a:ext cx="3520440" cy="795528"/>
          </a:xfrm>
          <a:prstGeom prst="rect">
            <a:avLst/>
          </a:prstGeom>
          <a:solidFill>
            <a:srgbClr val="EEF1F8"/>
          </a:solidFill>
          <a:ln w="9525">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TextBox 170"/>
          <p:cNvSpPr txBox="1"/>
          <p:nvPr/>
        </p:nvSpPr>
        <p:spPr>
          <a:xfrm>
            <a:off x="1024128" y="3822191"/>
            <a:ext cx="3246120" cy="795528"/>
          </a:xfrm>
          <a:prstGeom prst="rect">
            <a:avLst/>
          </a:prstGeom>
          <a:noFill/>
        </p:spPr>
        <p:txBody>
          <a:bodyPr wrap="square" anchor="ctr" lIns="0" rIns="0" tIns="0" bIns="0">
            <a:spAutoFit/>
          </a:bodyPr>
          <a:lstStyle/>
          <a:p>
            <a:pPr algn="l"/>
            <a:r>
              <a:rPr sz="1875" b="1" i="0">
                <a:solidFill>
                  <a:srgbClr val="132257"/>
                </a:solidFill>
                <a:latin typeface="Exo 2 Bold"/>
                <a:ea typeface="Exo 2 Bold"/>
                <a:cs typeface="Exo 2 Bold"/>
              </a:rPr>
              <a:t>LinkedIn, Saudi</a:t>
            </a:r>
          </a:p>
        </p:txBody>
      </p:sp>
      <p:sp>
        <p:nvSpPr>
          <p:cNvPr id="172" name="Rectangle 171"/>
          <p:cNvSpPr/>
          <p:nvPr/>
        </p:nvSpPr>
        <p:spPr>
          <a:xfrm>
            <a:off x="4361688" y="3822191"/>
            <a:ext cx="2103120" cy="795528"/>
          </a:xfrm>
          <a:prstGeom prst="rect">
            <a:avLst/>
          </a:prstGeom>
          <a:solidFill>
            <a:srgbClr val="EEF1F8"/>
          </a:solidFill>
          <a:ln w="9525">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TextBox 172"/>
          <p:cNvSpPr txBox="1"/>
          <p:nvPr/>
        </p:nvSpPr>
        <p:spPr>
          <a:xfrm>
            <a:off x="4544568" y="3822191"/>
            <a:ext cx="1828799" cy="795528"/>
          </a:xfrm>
          <a:prstGeom prst="rect">
            <a:avLst/>
          </a:prstGeom>
          <a:noFill/>
        </p:spPr>
        <p:txBody>
          <a:bodyPr wrap="square" anchor="ctr" lIns="0" rIns="0" tIns="0" bIns="0">
            <a:spAutoFit/>
          </a:bodyPr>
          <a:lstStyle/>
          <a:p>
            <a:pPr algn="l"/>
            <a:r>
              <a:rPr sz="1875" b="1" i="0">
                <a:solidFill>
                  <a:srgbClr val="1F2A44"/>
                </a:solidFill>
                <a:latin typeface="Exo 2 Bold"/>
                <a:ea typeface="Exo 2 Bold"/>
                <a:cs typeface="Exo 2 Bold"/>
              </a:rPr>
              <a:t>USD 9,000</a:t>
            </a:r>
          </a:p>
        </p:txBody>
      </p:sp>
      <p:sp>
        <p:nvSpPr>
          <p:cNvPr id="174" name="Rectangle 173"/>
          <p:cNvSpPr/>
          <p:nvPr/>
        </p:nvSpPr>
        <p:spPr>
          <a:xfrm>
            <a:off x="6464808" y="3822191"/>
            <a:ext cx="4617720" cy="795528"/>
          </a:xfrm>
          <a:prstGeom prst="rect">
            <a:avLst/>
          </a:prstGeom>
          <a:solidFill>
            <a:srgbClr val="EEF1F8"/>
          </a:solidFill>
          <a:ln w="9525">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TextBox 174"/>
          <p:cNvSpPr txBox="1"/>
          <p:nvPr/>
        </p:nvSpPr>
        <p:spPr>
          <a:xfrm>
            <a:off x="6647688" y="3822191"/>
            <a:ext cx="4343400" cy="795528"/>
          </a:xfrm>
          <a:prstGeom prst="rect">
            <a:avLst/>
          </a:prstGeom>
          <a:noFill/>
        </p:spPr>
        <p:txBody>
          <a:bodyPr wrap="square" anchor="ctr" lIns="0" rIns="0" tIns="0" bIns="0">
            <a:spAutoFit/>
          </a:bodyPr>
          <a:lstStyle/>
          <a:p>
            <a:pPr algn="l"/>
            <a:r>
              <a:rPr sz="1875" b="0" i="0">
                <a:solidFill>
                  <a:srgbClr val="1F2A44"/>
                </a:solidFill>
                <a:latin typeface="Exo 2"/>
                <a:ea typeface="Exo 2"/>
                <a:cs typeface="Exo 2"/>
              </a:rPr>
              <a:t>Lead generation forms</a:t>
            </a:r>
          </a:p>
        </p:txBody>
      </p:sp>
      <p:sp>
        <p:nvSpPr>
          <p:cNvPr id="176" name="Rectangle 175"/>
          <p:cNvSpPr/>
          <p:nvPr/>
        </p:nvSpPr>
        <p:spPr>
          <a:xfrm>
            <a:off x="11082528" y="3822191"/>
            <a:ext cx="3246120" cy="795528"/>
          </a:xfrm>
          <a:prstGeom prst="rect">
            <a:avLst/>
          </a:prstGeom>
          <a:solidFill>
            <a:srgbClr val="EEF1F8"/>
          </a:solidFill>
          <a:ln w="9525">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TextBox 176"/>
          <p:cNvSpPr txBox="1"/>
          <p:nvPr/>
        </p:nvSpPr>
        <p:spPr>
          <a:xfrm>
            <a:off x="11265408" y="3822191"/>
            <a:ext cx="2971800" cy="795528"/>
          </a:xfrm>
          <a:prstGeom prst="rect">
            <a:avLst/>
          </a:prstGeom>
          <a:noFill/>
        </p:spPr>
        <p:txBody>
          <a:bodyPr wrap="square" anchor="ctr" lIns="0" rIns="0" tIns="0" bIns="0">
            <a:spAutoFit/>
          </a:bodyPr>
          <a:lstStyle/>
          <a:p>
            <a:pPr algn="l"/>
            <a:r>
              <a:rPr sz="1950" b="1" i="0">
                <a:solidFill>
                  <a:srgbClr val="132257"/>
                </a:solidFill>
                <a:latin typeface="Exo 2 Bold"/>
                <a:ea typeface="Exo 2 Bold"/>
                <a:cs typeface="Exo 2 Bold"/>
              </a:rPr>
              <a:t>6 Oct to 31 Dec</a:t>
            </a:r>
          </a:p>
        </p:txBody>
      </p:sp>
      <p:sp>
        <p:nvSpPr>
          <p:cNvPr id="178" name="Rectangle 177"/>
          <p:cNvSpPr/>
          <p:nvPr/>
        </p:nvSpPr>
        <p:spPr>
          <a:xfrm>
            <a:off x="14328648" y="3822191"/>
            <a:ext cx="3127248" cy="795528"/>
          </a:xfrm>
          <a:prstGeom prst="rect">
            <a:avLst/>
          </a:prstGeom>
          <a:solidFill>
            <a:srgbClr val="EEF1F8"/>
          </a:solidFill>
          <a:ln w="9525">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TextBox 178"/>
          <p:cNvSpPr txBox="1"/>
          <p:nvPr/>
        </p:nvSpPr>
        <p:spPr>
          <a:xfrm>
            <a:off x="14511528" y="3822191"/>
            <a:ext cx="2852928" cy="795528"/>
          </a:xfrm>
          <a:prstGeom prst="rect">
            <a:avLst/>
          </a:prstGeom>
          <a:noFill/>
        </p:spPr>
        <p:txBody>
          <a:bodyPr wrap="square" anchor="ctr" lIns="0" rIns="0" tIns="0" bIns="0">
            <a:spAutoFit/>
          </a:bodyPr>
          <a:lstStyle/>
          <a:p>
            <a:pPr algn="l"/>
            <a:r>
              <a:rPr sz="1875" b="1" i="0">
                <a:solidFill>
                  <a:srgbClr val="1BA97C"/>
                </a:solidFill>
                <a:latin typeface="Exo 2 Bold"/>
                <a:ea typeface="Exo 2 Bold"/>
                <a:cs typeface="Exo 2 Bold"/>
              </a:rPr>
              <a:t>Live</a:t>
            </a:r>
          </a:p>
        </p:txBody>
      </p:sp>
      <p:sp>
        <p:nvSpPr>
          <p:cNvPr id="180" name="Rectangle 179"/>
          <p:cNvSpPr/>
          <p:nvPr/>
        </p:nvSpPr>
        <p:spPr>
          <a:xfrm>
            <a:off x="841248" y="4617720"/>
            <a:ext cx="3520440" cy="795528"/>
          </a:xfrm>
          <a:prstGeom prst="rect">
            <a:avLst/>
          </a:prstGeom>
          <a:solidFill>
            <a:srgbClr val="FFFFFF"/>
          </a:solidFill>
          <a:ln w="9525">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TextBox 180"/>
          <p:cNvSpPr txBox="1"/>
          <p:nvPr/>
        </p:nvSpPr>
        <p:spPr>
          <a:xfrm>
            <a:off x="1024128" y="4617720"/>
            <a:ext cx="3246120" cy="795528"/>
          </a:xfrm>
          <a:prstGeom prst="rect">
            <a:avLst/>
          </a:prstGeom>
          <a:noFill/>
        </p:spPr>
        <p:txBody>
          <a:bodyPr wrap="square" anchor="ctr" lIns="0" rIns="0" tIns="0" bIns="0">
            <a:spAutoFit/>
          </a:bodyPr>
          <a:lstStyle/>
          <a:p>
            <a:pPr algn="l"/>
            <a:r>
              <a:rPr sz="1875" b="1" i="0">
                <a:solidFill>
                  <a:srgbClr val="132257"/>
                </a:solidFill>
                <a:latin typeface="Exo 2 Bold"/>
                <a:ea typeface="Exo 2 Bold"/>
                <a:cs typeface="Exo 2 Bold"/>
              </a:rPr>
              <a:t>Google Search, rest of GCC</a:t>
            </a:r>
          </a:p>
        </p:txBody>
      </p:sp>
      <p:sp>
        <p:nvSpPr>
          <p:cNvPr id="182" name="Rectangle 181"/>
          <p:cNvSpPr/>
          <p:nvPr/>
        </p:nvSpPr>
        <p:spPr>
          <a:xfrm>
            <a:off x="4361688" y="4617720"/>
            <a:ext cx="2103120" cy="795528"/>
          </a:xfrm>
          <a:prstGeom prst="rect">
            <a:avLst/>
          </a:prstGeom>
          <a:solidFill>
            <a:srgbClr val="FFFFFF"/>
          </a:solidFill>
          <a:ln w="9525">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TextBox 182"/>
          <p:cNvSpPr txBox="1"/>
          <p:nvPr/>
        </p:nvSpPr>
        <p:spPr>
          <a:xfrm>
            <a:off x="4544568" y="4617720"/>
            <a:ext cx="1828799" cy="795528"/>
          </a:xfrm>
          <a:prstGeom prst="rect">
            <a:avLst/>
          </a:prstGeom>
          <a:noFill/>
        </p:spPr>
        <p:txBody>
          <a:bodyPr wrap="square" anchor="ctr" lIns="0" rIns="0" tIns="0" bIns="0">
            <a:spAutoFit/>
          </a:bodyPr>
          <a:lstStyle/>
          <a:p>
            <a:pPr algn="l"/>
            <a:r>
              <a:rPr sz="1875" b="1" i="0">
                <a:solidFill>
                  <a:srgbClr val="1F2A44"/>
                </a:solidFill>
                <a:latin typeface="Exo 2 Bold"/>
                <a:ea typeface="Exo 2 Bold"/>
                <a:cs typeface="Exo 2 Bold"/>
              </a:rPr>
              <a:t>USD 6,000</a:t>
            </a:r>
          </a:p>
        </p:txBody>
      </p:sp>
      <p:sp>
        <p:nvSpPr>
          <p:cNvPr id="184" name="Rectangle 183"/>
          <p:cNvSpPr/>
          <p:nvPr/>
        </p:nvSpPr>
        <p:spPr>
          <a:xfrm>
            <a:off x="6464808" y="4617720"/>
            <a:ext cx="4617720" cy="795528"/>
          </a:xfrm>
          <a:prstGeom prst="rect">
            <a:avLst/>
          </a:prstGeom>
          <a:solidFill>
            <a:srgbClr val="FFFFFF"/>
          </a:solidFill>
          <a:ln w="9525">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TextBox 184"/>
          <p:cNvSpPr txBox="1"/>
          <p:nvPr/>
        </p:nvSpPr>
        <p:spPr>
          <a:xfrm>
            <a:off x="6647688" y="4617720"/>
            <a:ext cx="4343400" cy="795528"/>
          </a:xfrm>
          <a:prstGeom prst="rect">
            <a:avLst/>
          </a:prstGeom>
          <a:noFill/>
        </p:spPr>
        <p:txBody>
          <a:bodyPr wrap="square" anchor="ctr" lIns="0" rIns="0" tIns="0" bIns="0">
            <a:spAutoFit/>
          </a:bodyPr>
          <a:lstStyle/>
          <a:p>
            <a:pPr algn="l"/>
            <a:r>
              <a:rPr sz="1875" b="0" i="0">
                <a:solidFill>
                  <a:srgbClr val="1F2A44"/>
                </a:solidFill>
                <a:latin typeface="Exo 2"/>
                <a:ea typeface="Exo 2"/>
                <a:cs typeface="Exo 2"/>
              </a:rPr>
              <a:t>Qatar, UAE, Kuwait, Bahrain, Oman</a:t>
            </a:r>
          </a:p>
        </p:txBody>
      </p:sp>
      <p:sp>
        <p:nvSpPr>
          <p:cNvPr id="186" name="Rectangle 185"/>
          <p:cNvSpPr/>
          <p:nvPr/>
        </p:nvSpPr>
        <p:spPr>
          <a:xfrm>
            <a:off x="11082528" y="4617720"/>
            <a:ext cx="3246120" cy="795528"/>
          </a:xfrm>
          <a:prstGeom prst="rect">
            <a:avLst/>
          </a:prstGeom>
          <a:solidFill>
            <a:srgbClr val="FFFFFF"/>
          </a:solidFill>
          <a:ln w="9525">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11265408" y="4617720"/>
            <a:ext cx="2971800" cy="795528"/>
          </a:xfrm>
          <a:prstGeom prst="rect">
            <a:avLst/>
          </a:prstGeom>
          <a:noFill/>
        </p:spPr>
        <p:txBody>
          <a:bodyPr wrap="square" anchor="ctr" lIns="0" rIns="0" tIns="0" bIns="0">
            <a:spAutoFit/>
          </a:bodyPr>
          <a:lstStyle/>
          <a:p>
            <a:pPr algn="l"/>
            <a:r>
              <a:rPr sz="1950" b="1" i="0">
                <a:solidFill>
                  <a:srgbClr val="132257"/>
                </a:solidFill>
                <a:latin typeface="Exo 2 Bold"/>
                <a:ea typeface="Exo 2 Bold"/>
                <a:cs typeface="Exo 2 Bold"/>
              </a:rPr>
              <a:t>Early Oct to 31 Dec</a:t>
            </a:r>
          </a:p>
        </p:txBody>
      </p:sp>
      <p:sp>
        <p:nvSpPr>
          <p:cNvPr id="188" name="Rectangle 187"/>
          <p:cNvSpPr/>
          <p:nvPr/>
        </p:nvSpPr>
        <p:spPr>
          <a:xfrm>
            <a:off x="14328648" y="4617720"/>
            <a:ext cx="3127248" cy="795528"/>
          </a:xfrm>
          <a:prstGeom prst="rect">
            <a:avLst/>
          </a:prstGeom>
          <a:solidFill>
            <a:srgbClr val="FFFFFF"/>
          </a:solidFill>
          <a:ln w="9525">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TextBox 188"/>
          <p:cNvSpPr txBox="1"/>
          <p:nvPr/>
        </p:nvSpPr>
        <p:spPr>
          <a:xfrm>
            <a:off x="14511528" y="4617720"/>
            <a:ext cx="2852928" cy="795528"/>
          </a:xfrm>
          <a:prstGeom prst="rect">
            <a:avLst/>
          </a:prstGeom>
          <a:noFill/>
        </p:spPr>
        <p:txBody>
          <a:bodyPr wrap="square" anchor="ctr" lIns="0" rIns="0" tIns="0" bIns="0">
            <a:spAutoFit/>
          </a:bodyPr>
          <a:lstStyle/>
          <a:p>
            <a:pPr algn="l"/>
            <a:r>
              <a:rPr sz="1875" b="1" i="0">
                <a:solidFill>
                  <a:srgbClr val="132257"/>
                </a:solidFill>
                <a:latin typeface="Exo 2 Bold"/>
                <a:ea typeface="Exo 2 Bold"/>
                <a:cs typeface="Exo 2 Bold"/>
              </a:rPr>
              <a:t>To be live</a:t>
            </a:r>
          </a:p>
        </p:txBody>
      </p:sp>
      <p:sp>
        <p:nvSpPr>
          <p:cNvPr id="190" name="Rectangle 189"/>
          <p:cNvSpPr/>
          <p:nvPr/>
        </p:nvSpPr>
        <p:spPr>
          <a:xfrm>
            <a:off x="841248" y="5413248"/>
            <a:ext cx="3520440" cy="795528"/>
          </a:xfrm>
          <a:prstGeom prst="rect">
            <a:avLst/>
          </a:prstGeom>
          <a:solidFill>
            <a:srgbClr val="EEF1F8"/>
          </a:solidFill>
          <a:ln w="9525">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TextBox 190"/>
          <p:cNvSpPr txBox="1"/>
          <p:nvPr/>
        </p:nvSpPr>
        <p:spPr>
          <a:xfrm>
            <a:off x="1024128" y="5413248"/>
            <a:ext cx="3246120" cy="795528"/>
          </a:xfrm>
          <a:prstGeom prst="rect">
            <a:avLst/>
          </a:prstGeom>
          <a:noFill/>
        </p:spPr>
        <p:txBody>
          <a:bodyPr wrap="square" anchor="ctr" lIns="0" rIns="0" tIns="0" bIns="0">
            <a:spAutoFit/>
          </a:bodyPr>
          <a:lstStyle/>
          <a:p>
            <a:pPr algn="l"/>
            <a:r>
              <a:rPr sz="1875" b="1" i="0">
                <a:solidFill>
                  <a:srgbClr val="132257"/>
                </a:solidFill>
                <a:latin typeface="Exo 2 Bold"/>
                <a:ea typeface="Exo 2 Bold"/>
                <a:cs typeface="Exo 2 Bold"/>
              </a:rPr>
              <a:t>LinkedIn, rest of GCC</a:t>
            </a:r>
          </a:p>
        </p:txBody>
      </p:sp>
      <p:sp>
        <p:nvSpPr>
          <p:cNvPr id="192" name="Rectangle 191"/>
          <p:cNvSpPr/>
          <p:nvPr/>
        </p:nvSpPr>
        <p:spPr>
          <a:xfrm>
            <a:off x="4361688" y="5413248"/>
            <a:ext cx="2103120" cy="795528"/>
          </a:xfrm>
          <a:prstGeom prst="rect">
            <a:avLst/>
          </a:prstGeom>
          <a:solidFill>
            <a:srgbClr val="EEF1F8"/>
          </a:solidFill>
          <a:ln w="9525">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TextBox 192"/>
          <p:cNvSpPr txBox="1"/>
          <p:nvPr/>
        </p:nvSpPr>
        <p:spPr>
          <a:xfrm>
            <a:off x="4544568" y="5413248"/>
            <a:ext cx="1828799" cy="795528"/>
          </a:xfrm>
          <a:prstGeom prst="rect">
            <a:avLst/>
          </a:prstGeom>
          <a:noFill/>
        </p:spPr>
        <p:txBody>
          <a:bodyPr wrap="square" anchor="ctr" lIns="0" rIns="0" tIns="0" bIns="0">
            <a:spAutoFit/>
          </a:bodyPr>
          <a:lstStyle/>
          <a:p>
            <a:pPr algn="l"/>
            <a:r>
              <a:rPr sz="1875" b="1" i="0">
                <a:solidFill>
                  <a:srgbClr val="1F2A44"/>
                </a:solidFill>
                <a:latin typeface="Exo 2 Bold"/>
                <a:ea typeface="Exo 2 Bold"/>
                <a:cs typeface="Exo 2 Bold"/>
              </a:rPr>
              <a:t>USD 6,000</a:t>
            </a:r>
          </a:p>
        </p:txBody>
      </p:sp>
      <p:sp>
        <p:nvSpPr>
          <p:cNvPr id="194" name="Rectangle 193"/>
          <p:cNvSpPr/>
          <p:nvPr/>
        </p:nvSpPr>
        <p:spPr>
          <a:xfrm>
            <a:off x="6464808" y="5413248"/>
            <a:ext cx="4617720" cy="795528"/>
          </a:xfrm>
          <a:prstGeom prst="rect">
            <a:avLst/>
          </a:prstGeom>
          <a:solidFill>
            <a:srgbClr val="EEF1F8"/>
          </a:solidFill>
          <a:ln w="9525">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TextBox 194"/>
          <p:cNvSpPr txBox="1"/>
          <p:nvPr/>
        </p:nvSpPr>
        <p:spPr>
          <a:xfrm>
            <a:off x="6647688" y="5413248"/>
            <a:ext cx="4343400" cy="795528"/>
          </a:xfrm>
          <a:prstGeom prst="rect">
            <a:avLst/>
          </a:prstGeom>
          <a:noFill/>
        </p:spPr>
        <p:txBody>
          <a:bodyPr wrap="square" anchor="ctr" lIns="0" rIns="0" tIns="0" bIns="0">
            <a:spAutoFit/>
          </a:bodyPr>
          <a:lstStyle/>
          <a:p>
            <a:pPr algn="l"/>
            <a:r>
              <a:rPr sz="1875" b="0" i="0">
                <a:solidFill>
                  <a:srgbClr val="1F2A44"/>
                </a:solidFill>
                <a:latin typeface="Exo 2"/>
                <a:ea typeface="Exo 2"/>
                <a:cs typeface="Exo 2"/>
              </a:rPr>
              <a:t>Qatar, UAE, Kuwait, Bahrain, Oman</a:t>
            </a:r>
          </a:p>
        </p:txBody>
      </p:sp>
      <p:sp>
        <p:nvSpPr>
          <p:cNvPr id="196" name="Rectangle 195"/>
          <p:cNvSpPr/>
          <p:nvPr/>
        </p:nvSpPr>
        <p:spPr>
          <a:xfrm>
            <a:off x="11082528" y="5413248"/>
            <a:ext cx="3246120" cy="795528"/>
          </a:xfrm>
          <a:prstGeom prst="rect">
            <a:avLst/>
          </a:prstGeom>
          <a:solidFill>
            <a:srgbClr val="EEF1F8"/>
          </a:solidFill>
          <a:ln w="9525">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TextBox 196"/>
          <p:cNvSpPr txBox="1"/>
          <p:nvPr/>
        </p:nvSpPr>
        <p:spPr>
          <a:xfrm>
            <a:off x="11265408" y="5413248"/>
            <a:ext cx="2971800" cy="795528"/>
          </a:xfrm>
          <a:prstGeom prst="rect">
            <a:avLst/>
          </a:prstGeom>
          <a:noFill/>
        </p:spPr>
        <p:txBody>
          <a:bodyPr wrap="square" anchor="ctr" lIns="0" rIns="0" tIns="0" bIns="0">
            <a:spAutoFit/>
          </a:bodyPr>
          <a:lstStyle/>
          <a:p>
            <a:pPr algn="l"/>
            <a:r>
              <a:rPr sz="1950" b="1" i="0">
                <a:solidFill>
                  <a:srgbClr val="132257"/>
                </a:solidFill>
                <a:latin typeface="Exo 2 Bold"/>
                <a:ea typeface="Exo 2 Bold"/>
                <a:cs typeface="Exo 2 Bold"/>
              </a:rPr>
              <a:t>Early Oct to 31 Dec</a:t>
            </a:r>
          </a:p>
        </p:txBody>
      </p:sp>
      <p:sp>
        <p:nvSpPr>
          <p:cNvPr id="198" name="Rectangle 197"/>
          <p:cNvSpPr/>
          <p:nvPr/>
        </p:nvSpPr>
        <p:spPr>
          <a:xfrm>
            <a:off x="14328648" y="5413248"/>
            <a:ext cx="3127248" cy="795528"/>
          </a:xfrm>
          <a:prstGeom prst="rect">
            <a:avLst/>
          </a:prstGeom>
          <a:solidFill>
            <a:srgbClr val="EEF1F8"/>
          </a:solidFill>
          <a:ln w="9525">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TextBox 198"/>
          <p:cNvSpPr txBox="1"/>
          <p:nvPr/>
        </p:nvSpPr>
        <p:spPr>
          <a:xfrm>
            <a:off x="14511528" y="5413248"/>
            <a:ext cx="2852928" cy="795528"/>
          </a:xfrm>
          <a:prstGeom prst="rect">
            <a:avLst/>
          </a:prstGeom>
          <a:noFill/>
        </p:spPr>
        <p:txBody>
          <a:bodyPr wrap="square" anchor="ctr" lIns="0" rIns="0" tIns="0" bIns="0">
            <a:spAutoFit/>
          </a:bodyPr>
          <a:lstStyle/>
          <a:p>
            <a:pPr algn="l"/>
            <a:r>
              <a:rPr sz="1875" b="1" i="0">
                <a:solidFill>
                  <a:srgbClr val="132257"/>
                </a:solidFill>
                <a:latin typeface="Exo 2 Bold"/>
                <a:ea typeface="Exo 2 Bold"/>
                <a:cs typeface="Exo 2 Bold"/>
              </a:rPr>
              <a:t>To be live</a:t>
            </a:r>
          </a:p>
        </p:txBody>
      </p:sp>
      <p:sp>
        <p:nvSpPr>
          <p:cNvPr id="200" name="Rectangle 199"/>
          <p:cNvSpPr/>
          <p:nvPr/>
        </p:nvSpPr>
        <p:spPr>
          <a:xfrm>
            <a:off x="841248" y="6208776"/>
            <a:ext cx="3520440" cy="795528"/>
          </a:xfrm>
          <a:prstGeom prst="rect">
            <a:avLst/>
          </a:prstGeom>
          <a:solidFill>
            <a:srgbClr val="FFFFFF"/>
          </a:solidFill>
          <a:ln w="9525">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TextBox 200"/>
          <p:cNvSpPr txBox="1"/>
          <p:nvPr/>
        </p:nvSpPr>
        <p:spPr>
          <a:xfrm>
            <a:off x="1024128" y="6208776"/>
            <a:ext cx="3246120" cy="795528"/>
          </a:xfrm>
          <a:prstGeom prst="rect">
            <a:avLst/>
          </a:prstGeom>
          <a:noFill/>
        </p:spPr>
        <p:txBody>
          <a:bodyPr wrap="square" anchor="ctr" lIns="0" rIns="0" tIns="0" bIns="0">
            <a:spAutoFit/>
          </a:bodyPr>
          <a:lstStyle/>
          <a:p>
            <a:pPr algn="l"/>
            <a:r>
              <a:rPr sz="1875" b="1" i="0">
                <a:solidFill>
                  <a:srgbClr val="132257"/>
                </a:solidFill>
                <a:latin typeface="Exo 2 Bold"/>
                <a:ea typeface="Exo 2 Bold"/>
                <a:cs typeface="Exo 2 Bold"/>
              </a:rPr>
              <a:t>Total</a:t>
            </a:r>
          </a:p>
        </p:txBody>
      </p:sp>
      <p:sp>
        <p:nvSpPr>
          <p:cNvPr id="202" name="Rectangle 201"/>
          <p:cNvSpPr/>
          <p:nvPr/>
        </p:nvSpPr>
        <p:spPr>
          <a:xfrm>
            <a:off x="4361688" y="6208776"/>
            <a:ext cx="2103120" cy="795528"/>
          </a:xfrm>
          <a:prstGeom prst="rect">
            <a:avLst/>
          </a:prstGeom>
          <a:solidFill>
            <a:srgbClr val="FFFFFF"/>
          </a:solidFill>
          <a:ln w="9525">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TextBox 202"/>
          <p:cNvSpPr txBox="1"/>
          <p:nvPr/>
        </p:nvSpPr>
        <p:spPr>
          <a:xfrm>
            <a:off x="4544568" y="6208776"/>
            <a:ext cx="1828799" cy="795528"/>
          </a:xfrm>
          <a:prstGeom prst="rect">
            <a:avLst/>
          </a:prstGeom>
          <a:noFill/>
        </p:spPr>
        <p:txBody>
          <a:bodyPr wrap="square" anchor="ctr" lIns="0" rIns="0" tIns="0" bIns="0">
            <a:spAutoFit/>
          </a:bodyPr>
          <a:lstStyle/>
          <a:p>
            <a:pPr algn="l"/>
            <a:r>
              <a:rPr sz="1875" b="1" i="0">
                <a:solidFill>
                  <a:srgbClr val="1F2A44"/>
                </a:solidFill>
                <a:latin typeface="Exo 2 Bold"/>
                <a:ea typeface="Exo 2 Bold"/>
                <a:cs typeface="Exo 2 Bold"/>
              </a:rPr>
              <a:t>USD 30,000</a:t>
            </a:r>
          </a:p>
        </p:txBody>
      </p:sp>
      <p:sp>
        <p:nvSpPr>
          <p:cNvPr id="204" name="Rectangle 203"/>
          <p:cNvSpPr/>
          <p:nvPr/>
        </p:nvSpPr>
        <p:spPr>
          <a:xfrm>
            <a:off x="6464808" y="6208776"/>
            <a:ext cx="4617720" cy="795528"/>
          </a:xfrm>
          <a:prstGeom prst="rect">
            <a:avLst/>
          </a:prstGeom>
          <a:solidFill>
            <a:srgbClr val="FFFFFF"/>
          </a:solidFill>
          <a:ln w="9525">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TextBox 204"/>
          <p:cNvSpPr txBox="1"/>
          <p:nvPr/>
        </p:nvSpPr>
        <p:spPr>
          <a:xfrm>
            <a:off x="6647688" y="6208776"/>
            <a:ext cx="4343400" cy="795528"/>
          </a:xfrm>
          <a:prstGeom prst="rect">
            <a:avLst/>
          </a:prstGeom>
          <a:noFill/>
        </p:spPr>
        <p:txBody>
          <a:bodyPr wrap="square" anchor="ctr" lIns="0" rIns="0" tIns="0" bIns="0">
            <a:spAutoFit/>
          </a:bodyPr>
          <a:lstStyle/>
          <a:p>
            <a:pPr algn="l"/>
            <a:r>
              <a:rPr sz="1875" b="1" i="0">
                <a:solidFill>
                  <a:srgbClr val="1F2A44"/>
                </a:solidFill>
                <a:latin typeface="Exo 2 Bold"/>
                <a:ea typeface="Exo 2 Bold"/>
                <a:cs typeface="Exo 2 Bold"/>
              </a:rPr>
              <a:t/>
            </a:r>
          </a:p>
        </p:txBody>
      </p:sp>
      <p:sp>
        <p:nvSpPr>
          <p:cNvPr id="206" name="Rectangle 205"/>
          <p:cNvSpPr/>
          <p:nvPr/>
        </p:nvSpPr>
        <p:spPr>
          <a:xfrm>
            <a:off x="11082528" y="6208776"/>
            <a:ext cx="3246120" cy="795528"/>
          </a:xfrm>
          <a:prstGeom prst="rect">
            <a:avLst/>
          </a:prstGeom>
          <a:solidFill>
            <a:srgbClr val="FFFFFF"/>
          </a:solidFill>
          <a:ln w="9525">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TextBox 206"/>
          <p:cNvSpPr txBox="1"/>
          <p:nvPr/>
        </p:nvSpPr>
        <p:spPr>
          <a:xfrm>
            <a:off x="11265408" y="6208776"/>
            <a:ext cx="2971800" cy="795528"/>
          </a:xfrm>
          <a:prstGeom prst="rect">
            <a:avLst/>
          </a:prstGeom>
          <a:noFill/>
        </p:spPr>
        <p:txBody>
          <a:bodyPr wrap="square" anchor="ctr" lIns="0" rIns="0" tIns="0" bIns="0">
            <a:spAutoFit/>
          </a:bodyPr>
          <a:lstStyle/>
          <a:p>
            <a:pPr algn="l"/>
            <a:r>
              <a:rPr sz="1950" b="1" i="0">
                <a:solidFill>
                  <a:srgbClr val="132257"/>
                </a:solidFill>
                <a:latin typeface="Exo 2 Bold"/>
                <a:ea typeface="Exo 2 Bold"/>
                <a:cs typeface="Exo 2 Bold"/>
              </a:rPr>
              <a:t>22 Sep to 31 Dec</a:t>
            </a:r>
          </a:p>
        </p:txBody>
      </p:sp>
      <p:sp>
        <p:nvSpPr>
          <p:cNvPr id="208" name="Rectangle 207"/>
          <p:cNvSpPr/>
          <p:nvPr/>
        </p:nvSpPr>
        <p:spPr>
          <a:xfrm>
            <a:off x="14328648" y="6208776"/>
            <a:ext cx="3127248" cy="795528"/>
          </a:xfrm>
          <a:prstGeom prst="rect">
            <a:avLst/>
          </a:prstGeom>
          <a:solidFill>
            <a:srgbClr val="FFFFFF"/>
          </a:solidFill>
          <a:ln w="9525">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TextBox 208"/>
          <p:cNvSpPr txBox="1"/>
          <p:nvPr/>
        </p:nvSpPr>
        <p:spPr>
          <a:xfrm>
            <a:off x="14511528" y="6208776"/>
            <a:ext cx="2852928" cy="795528"/>
          </a:xfrm>
          <a:prstGeom prst="rect">
            <a:avLst/>
          </a:prstGeom>
          <a:noFill/>
        </p:spPr>
        <p:txBody>
          <a:bodyPr wrap="square" anchor="ctr" lIns="0" rIns="0" tIns="0" bIns="0">
            <a:spAutoFit/>
          </a:bodyPr>
          <a:lstStyle/>
          <a:p>
            <a:pPr algn="l"/>
            <a:r>
              <a:rPr sz="1875" b="1" i="0">
                <a:solidFill>
                  <a:srgbClr val="1F2A44"/>
                </a:solidFill>
                <a:latin typeface="Exo 2 Bold"/>
                <a:ea typeface="Exo 2 Bold"/>
                <a:cs typeface="Exo 2 Bold"/>
              </a:rPr>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7543" cy="1947672"/>
            <a:chOff x="0" y="0"/>
            <a:chExt cx="24383390" cy="2596896"/>
          </a:xfrm>
        </p:grpSpPr>
        <p:sp>
          <p:nvSpPr>
            <p:cNvPr name="Freeform 3" id="3" descr="/home/user/HatemIsa_202508993_IT9002_NLP_Project/emyaa-ceo-deck/working/charts/board_header.png"/>
            <p:cNvSpPr/>
            <p:nvPr/>
          </p:nvSpPr>
          <p:spPr>
            <a:xfrm flipH="false" flipV="false" rot="0">
              <a:off x="0" y="0"/>
              <a:ext cx="24383364" cy="2596896"/>
            </a:xfrm>
            <a:custGeom>
              <a:avLst/>
              <a:gdLst/>
              <a:ahLst/>
              <a:cxnLst/>
              <a:rect r="r" b="b" t="t" l="l"/>
              <a:pathLst>
                <a:path h="2596896" w="24383364">
                  <a:moveTo>
                    <a:pt x="0" y="0"/>
                  </a:moveTo>
                  <a:lnTo>
                    <a:pt x="24383364" y="0"/>
                  </a:lnTo>
                  <a:lnTo>
                    <a:pt x="24383364" y="2596896"/>
                  </a:lnTo>
                  <a:lnTo>
                    <a:pt x="0" y="2596896"/>
                  </a:lnTo>
                  <a:lnTo>
                    <a:pt x="0" y="0"/>
                  </a:lnTo>
                  <a:close/>
                </a:path>
              </a:pathLst>
            </a:custGeom>
            <a:blipFill>
              <a:blip r:embed="rId3"/>
              <a:stretch>
                <a:fillRect l="0" t="-1172" r="0" b="-1172"/>
              </a:stretch>
            </a:blipFill>
          </p:spPr>
        </p:sp>
      </p:grpSp>
      <p:grpSp>
        <p:nvGrpSpPr>
          <p:cNvPr name="Group 4" id="4"/>
          <p:cNvGrpSpPr/>
          <p:nvPr/>
        </p:nvGrpSpPr>
        <p:grpSpPr>
          <a:xfrm rot="0">
            <a:off x="-9525" y="1938147"/>
            <a:ext cx="18306593" cy="60198"/>
            <a:chOff x="0" y="0"/>
            <a:chExt cx="24408790" cy="80264"/>
          </a:xfrm>
        </p:grpSpPr>
        <p:sp>
          <p:nvSpPr>
            <p:cNvPr name="Freeform 5" id="5"/>
            <p:cNvSpPr/>
            <p:nvPr/>
          </p:nvSpPr>
          <p:spPr>
            <a:xfrm flipH="false" flipV="false" rot="0">
              <a:off x="0" y="0"/>
              <a:ext cx="24408764" cy="80264"/>
            </a:xfrm>
            <a:custGeom>
              <a:avLst/>
              <a:gdLst/>
              <a:ahLst/>
              <a:cxnLst/>
              <a:rect r="r" b="b" t="t" l="l"/>
              <a:pathLst>
                <a:path h="80264" w="24408764">
                  <a:moveTo>
                    <a:pt x="0" y="0"/>
                  </a:moveTo>
                  <a:lnTo>
                    <a:pt x="24408764" y="0"/>
                  </a:lnTo>
                  <a:lnTo>
                    <a:pt x="24408764" y="80264"/>
                  </a:lnTo>
                  <a:lnTo>
                    <a:pt x="0" y="80264"/>
                  </a:lnTo>
                  <a:close/>
                </a:path>
              </a:pathLst>
            </a:custGeom>
            <a:solidFill>
              <a:srgbClr val="D4AF37"/>
            </a:solidFill>
            <a:ln w="19050" cap="sq">
              <a:solidFill>
                <a:srgbClr val="D4AF37"/>
              </a:solidFill>
              <a:prstDash val="solid"/>
              <a:miter/>
            </a:ln>
          </p:spPr>
        </p:sp>
      </p:grpSp>
      <p:sp>
        <p:nvSpPr>
          <p:cNvPr name="TextBox 6" id="6"/>
          <p:cNvSpPr txBox="true"/>
          <p:nvPr/>
        </p:nvSpPr>
        <p:spPr>
          <a:xfrm rot="0">
            <a:off x="850392" y="401955"/>
            <a:ext cx="13716000" cy="311277"/>
          </a:xfrm>
          <a:prstGeom prst="rect">
            <a:avLst/>
          </a:prstGeom>
        </p:spPr>
        <p:txBody>
          <a:bodyPr anchor="t" rtlCol="false" tIns="0" lIns="0" bIns="0" rIns="0">
            <a:spAutoFit/>
          </a:bodyPr>
          <a:lstStyle/>
          <a:p>
            <a:pPr algn="l">
              <a:lnSpc>
                <a:spcPts val="1709"/>
              </a:lnSpc>
            </a:pPr>
            <a:r>
              <a:rPr lang="en-US" b="true" sz="1425" spc="299">
                <a:solidFill>
                  <a:srgbClr val="D4AF37"/>
                </a:solidFill>
                <a:latin typeface="Exo 2 Bold"/>
                <a:ea typeface="Exo 2 Bold"/>
                <a:cs typeface="Exo 2 Bold"/>
                <a:sym typeface="Exo 2 Bold"/>
              </a:rPr>
              <a:t>OUTDOOR AND ELEVATOR MEDIA, SAUDI ARABIA</a:t>
            </a:r>
          </a:p>
        </p:txBody>
      </p:sp>
      <p:grpSp>
        <p:nvGrpSpPr>
          <p:cNvPr name="Group 7" id="7"/>
          <p:cNvGrpSpPr/>
          <p:nvPr/>
        </p:nvGrpSpPr>
        <p:grpSpPr>
          <a:xfrm rot="0">
            <a:off x="850392" y="713232"/>
            <a:ext cx="14127480" cy="1124712"/>
            <a:chOff x="0" y="0"/>
            <a:chExt cx="18836640" cy="1499616"/>
          </a:xfrm>
        </p:grpSpPr>
        <p:sp>
          <p:nvSpPr>
            <p:cNvPr name="Freeform 8" id="8"/>
            <p:cNvSpPr/>
            <p:nvPr/>
          </p:nvSpPr>
          <p:spPr>
            <a:xfrm flipH="false" flipV="false" rot="0">
              <a:off x="0" y="0"/>
              <a:ext cx="18836639" cy="1499616"/>
            </a:xfrm>
            <a:custGeom>
              <a:avLst/>
              <a:gdLst/>
              <a:ahLst/>
              <a:cxnLst/>
              <a:rect r="r" b="b" t="t" l="l"/>
              <a:pathLst>
                <a:path h="1499616" w="18836639">
                  <a:moveTo>
                    <a:pt x="0" y="0"/>
                  </a:moveTo>
                  <a:lnTo>
                    <a:pt x="18836639" y="0"/>
                  </a:lnTo>
                  <a:lnTo>
                    <a:pt x="18836639" y="1499616"/>
                  </a:lnTo>
                  <a:lnTo>
                    <a:pt x="0" y="1499616"/>
                  </a:lnTo>
                  <a:close/>
                </a:path>
              </a:pathLst>
            </a:custGeom>
            <a:blipFill>
              <a:blip r:embed="rId4">
                <a:alphaModFix amt="0"/>
              </a:blip>
              <a:stretch>
                <a:fillRect l="0" t="-194751" r="0" b="-194751"/>
              </a:stretch>
            </a:blipFill>
          </p:spPr>
        </p:sp>
        <p:sp>
          <p:nvSpPr>
            <p:cNvPr name="TextBox 9" id="9"/>
            <p:cNvSpPr txBox="true"/>
            <p:nvPr/>
          </p:nvSpPr>
          <p:spPr>
            <a:xfrm>
              <a:off x="0" y="-9525"/>
              <a:ext cx="18836640" cy="1509141"/>
            </a:xfrm>
            <a:prstGeom prst="rect">
              <a:avLst/>
            </a:prstGeom>
          </p:spPr>
          <p:txBody>
            <a:bodyPr anchor="ctr" rtlCol="false" tIns="0" lIns="0" bIns="0" rIns="0"/>
            <a:lstStyle/>
            <a:p>
              <a:pPr algn="l">
                <a:lnSpc>
                  <a:spcPts val="3960"/>
                </a:lnSpc>
              </a:pPr>
              <a:r>
                <a:rPr lang="en-US" sz="3300" b="true">
                  <a:solidFill>
                    <a:srgbClr val="FFFFFF"/>
                  </a:solidFill>
                  <a:latin typeface="Exo 2 Bold"/>
                  <a:ea typeface="Exo 2 Bold"/>
                  <a:cs typeface="Exo 2 Bold"/>
                  <a:sym typeface="Exo 2 Bold"/>
                </a:rPr>
                <a:t>Outdoor options from Nadher Media: 91 screens in Saudi Arabia</a:t>
              </a:r>
            </a:p>
          </p:txBody>
        </p:sp>
      </p:grpSp>
      <p:grpSp>
        <p:nvGrpSpPr>
          <p:cNvPr name="Group 10" id="10"/>
          <p:cNvGrpSpPr/>
          <p:nvPr/>
        </p:nvGrpSpPr>
        <p:grpSpPr>
          <a:xfrm rot="0">
            <a:off x="15457932" y="685800"/>
            <a:ext cx="1988820" cy="576072"/>
            <a:chOff x="0" y="0"/>
            <a:chExt cx="2651760" cy="768096"/>
          </a:xfrm>
        </p:grpSpPr>
        <p:sp>
          <p:nvSpPr>
            <p:cNvPr name="Freeform 11" id="11" descr="/home/user/HatemIsa_202508993_IT9002_NLP_Project/emyaa-ceo-deck/working/charts/ajyad_white.png"/>
            <p:cNvSpPr/>
            <p:nvPr/>
          </p:nvSpPr>
          <p:spPr>
            <a:xfrm flipH="false" flipV="false" rot="0">
              <a:off x="0" y="0"/>
              <a:ext cx="2651760" cy="768096"/>
            </a:xfrm>
            <a:custGeom>
              <a:avLst/>
              <a:gdLst/>
              <a:ahLst/>
              <a:cxnLst/>
              <a:rect r="r" b="b" t="t" l="l"/>
              <a:pathLst>
                <a:path h="768096" w="2651760">
                  <a:moveTo>
                    <a:pt x="0" y="0"/>
                  </a:moveTo>
                  <a:lnTo>
                    <a:pt x="2651760" y="0"/>
                  </a:lnTo>
                  <a:lnTo>
                    <a:pt x="2651760" y="768096"/>
                  </a:lnTo>
                  <a:lnTo>
                    <a:pt x="0" y="768096"/>
                  </a:lnTo>
                  <a:lnTo>
                    <a:pt x="0" y="0"/>
                  </a:lnTo>
                  <a:close/>
                </a:path>
              </a:pathLst>
            </a:custGeom>
            <a:blipFill>
              <a:blip r:embed="rId5"/>
              <a:stretch>
                <a:fillRect l="0" t="-26" r="0" b="-26"/>
              </a:stretch>
            </a:blipFill>
          </p:spPr>
        </p:sp>
      </p:grpSp>
      <p:sp>
        <p:nvSpPr>
          <p:cNvPr name="TextBox 12" id="12"/>
          <p:cNvSpPr txBox="true"/>
          <p:nvPr/>
        </p:nvSpPr>
        <p:spPr>
          <a:xfrm rot="0">
            <a:off x="850392" y="9728835"/>
            <a:ext cx="8229600" cy="311277"/>
          </a:xfrm>
          <a:prstGeom prst="rect">
            <a:avLst/>
          </a:prstGeom>
        </p:spPr>
        <p:txBody>
          <a:bodyPr anchor="t" rtlCol="false" tIns="0" lIns="0" bIns="0" rIns="0">
            <a:spAutoFit/>
          </a:bodyPr>
          <a:lstStyle/>
          <a:p>
            <a:pPr algn="l">
              <a:lnSpc>
                <a:spcPts val="1439"/>
              </a:lnSpc>
            </a:pPr>
            <a:r>
              <a:rPr lang="en-US" sz="1200">
                <a:solidFill>
                  <a:srgbClr val="8A93A8"/>
                </a:solidFill>
                <a:latin typeface="Exo 2"/>
                <a:ea typeface="Exo 2"/>
                <a:cs typeface="Exo 2"/>
                <a:sym typeface="Exo 2"/>
              </a:rPr>
              <a:t>eMYAA Trading Platform  |  Saudi Market Plan</a:t>
            </a:r>
          </a:p>
        </p:txBody>
      </p:sp>
      <p:sp>
        <p:nvSpPr>
          <p:cNvPr name="TextBox 13" id="13"/>
          <p:cNvSpPr txBox="true"/>
          <p:nvPr/>
        </p:nvSpPr>
        <p:spPr>
          <a:xfrm rot="0">
            <a:off x="14703552" y="9728835"/>
            <a:ext cx="685800" cy="190500"/>
          </a:xfrm>
          <a:prstGeom prst="rect">
            <a:avLst/>
          </a:prstGeom>
        </p:spPr>
        <p:txBody>
          <a:bodyPr anchor="t" rtlCol="false" tIns="0" lIns="0" bIns="0" rIns="0">
            <a:spAutoFit/>
          </a:bodyPr>
          <a:lstStyle/>
          <a:p>
            <a:pPr algn="r">
              <a:lnSpc>
                <a:spcPts val="1439"/>
              </a:lnSpc>
            </a:pPr>
            <a:r>
              <a:rPr lang="en-US" sz="1200">
                <a:solidFill>
                  <a:srgbClr val="8A93A8"/>
                </a:solidFill>
                <a:latin typeface="Exo 2"/>
                <a:ea typeface="Exo 2"/>
                <a:cs typeface="Exo 2"/>
                <a:sym typeface="Exo 2"/>
              </a:rPr>
              <a:t>6</a:t>
            </a:r>
          </a:p>
        </p:txBody>
      </p:sp>
      <p:grpSp>
        <p:nvGrpSpPr>
          <p:cNvPr name="Group 14" id="14"/>
          <p:cNvGrpSpPr/>
          <p:nvPr/>
        </p:nvGrpSpPr>
        <p:grpSpPr>
          <a:xfrm rot="0">
            <a:off x="15910560" y="9491472"/>
            <a:ext cx="1536192" cy="548640"/>
            <a:chOff x="0" y="0"/>
            <a:chExt cx="2048256" cy="731520"/>
          </a:xfrm>
        </p:grpSpPr>
        <p:sp>
          <p:nvSpPr>
            <p:cNvPr name="Freeform 15" id="15" descr="/home/user/HatemIsa_202508993_IT9002_NLP_Project/emyaa-ceo-deck/working/charts/emyaa_navy.png"/>
            <p:cNvSpPr/>
            <p:nvPr/>
          </p:nvSpPr>
          <p:spPr>
            <a:xfrm flipH="false" flipV="false" rot="0">
              <a:off x="0" y="0"/>
              <a:ext cx="2048256" cy="731520"/>
            </a:xfrm>
            <a:custGeom>
              <a:avLst/>
              <a:gdLst/>
              <a:ahLst/>
              <a:cxnLst/>
              <a:rect r="r" b="b" t="t" l="l"/>
              <a:pathLst>
                <a:path h="731520" w="2048256">
                  <a:moveTo>
                    <a:pt x="0" y="0"/>
                  </a:moveTo>
                  <a:lnTo>
                    <a:pt x="2048256" y="0"/>
                  </a:lnTo>
                  <a:lnTo>
                    <a:pt x="2048256" y="731520"/>
                  </a:lnTo>
                  <a:lnTo>
                    <a:pt x="0" y="731520"/>
                  </a:lnTo>
                  <a:lnTo>
                    <a:pt x="0" y="0"/>
                  </a:lnTo>
                  <a:close/>
                </a:path>
              </a:pathLst>
            </a:custGeom>
            <a:blipFill>
              <a:blip r:embed="rId6"/>
              <a:stretch>
                <a:fillRect l="-301" t="0" r="-301" b="0"/>
              </a:stretch>
            </a:blipFill>
          </p:spPr>
        </p:sp>
      </p:grpSp>
      <p:grpSp>
        <p:nvGrpSpPr>
          <p:cNvPr name="Group 16" id="16"/>
          <p:cNvGrpSpPr/>
          <p:nvPr/>
        </p:nvGrpSpPr>
        <p:grpSpPr>
          <a:xfrm rot="0">
            <a:off x="850392" y="2400300"/>
            <a:ext cx="6995160" cy="3936492"/>
            <a:chOff x="0" y="0"/>
            <a:chExt cx="9326880" cy="5248656"/>
          </a:xfrm>
        </p:grpSpPr>
        <p:sp>
          <p:nvSpPr>
            <p:cNvPr name="Freeform 17" id="17" descr="/home/user/HatemIsa_202508993_IT9002_NLP_Project/emyaa-ceo-deck/working/charts/vb_elevator_gallery.png"/>
            <p:cNvSpPr/>
            <p:nvPr/>
          </p:nvSpPr>
          <p:spPr>
            <a:xfrm flipH="false" flipV="false" rot="0">
              <a:off x="0" y="0"/>
              <a:ext cx="9326880" cy="5248656"/>
            </a:xfrm>
            <a:custGeom>
              <a:avLst/>
              <a:gdLst/>
              <a:ahLst/>
              <a:cxnLst/>
              <a:rect r="r" b="b" t="t" l="l"/>
              <a:pathLst>
                <a:path h="5248656" w="9326880">
                  <a:moveTo>
                    <a:pt x="0" y="0"/>
                  </a:moveTo>
                  <a:lnTo>
                    <a:pt x="9326880" y="0"/>
                  </a:lnTo>
                  <a:lnTo>
                    <a:pt x="9326880" y="5248656"/>
                  </a:lnTo>
                  <a:lnTo>
                    <a:pt x="0" y="5248656"/>
                  </a:lnTo>
                  <a:lnTo>
                    <a:pt x="0" y="0"/>
                  </a:lnTo>
                  <a:close/>
                </a:path>
              </a:pathLst>
            </a:custGeom>
            <a:blipFill>
              <a:blip r:embed="rId7"/>
              <a:stretch>
                <a:fillRect l="-21" t="0" r="-21" b="0"/>
              </a:stretch>
            </a:blipFill>
          </p:spPr>
        </p:sp>
      </p:grpSp>
      <p:grpSp>
        <p:nvGrpSpPr>
          <p:cNvPr name="Group 18" id="18"/>
          <p:cNvGrpSpPr/>
          <p:nvPr/>
        </p:nvGrpSpPr>
        <p:grpSpPr>
          <a:xfrm rot="0">
            <a:off x="8092440" y="2400300"/>
            <a:ext cx="3360420" cy="3936492"/>
            <a:chOff x="0" y="0"/>
            <a:chExt cx="4480560" cy="5248656"/>
          </a:xfrm>
        </p:grpSpPr>
        <p:sp>
          <p:nvSpPr>
            <p:cNvPr name="Freeform 19" id="19" descr="/home/user/HatemIsa_202508993_IT9002_NLP_Project/emyaa-ceo-deck/working/charts/vb_zone_mockup.png"/>
            <p:cNvSpPr/>
            <p:nvPr/>
          </p:nvSpPr>
          <p:spPr>
            <a:xfrm flipH="false" flipV="false" rot="0">
              <a:off x="0" y="0"/>
              <a:ext cx="4480560" cy="5248656"/>
            </a:xfrm>
            <a:custGeom>
              <a:avLst/>
              <a:gdLst/>
              <a:ahLst/>
              <a:cxnLst/>
              <a:rect r="r" b="b" t="t" l="l"/>
              <a:pathLst>
                <a:path h="5248656" w="4480560">
                  <a:moveTo>
                    <a:pt x="0" y="0"/>
                  </a:moveTo>
                  <a:lnTo>
                    <a:pt x="4480560" y="0"/>
                  </a:lnTo>
                  <a:lnTo>
                    <a:pt x="4480560" y="5248656"/>
                  </a:lnTo>
                  <a:lnTo>
                    <a:pt x="0" y="5248656"/>
                  </a:lnTo>
                  <a:lnTo>
                    <a:pt x="0" y="0"/>
                  </a:lnTo>
                  <a:close/>
                </a:path>
              </a:pathLst>
            </a:custGeom>
            <a:blipFill>
              <a:blip r:embed="rId8"/>
              <a:stretch>
                <a:fillRect l="0" t="-33" r="0" b="-33"/>
              </a:stretch>
            </a:blipFill>
          </p:spPr>
        </p:sp>
      </p:grpSp>
      <p:sp>
        <p:nvSpPr>
          <p:cNvPr name="TextBox 20" id="20"/>
          <p:cNvSpPr txBox="true"/>
          <p:nvPr/>
        </p:nvSpPr>
        <p:spPr>
          <a:xfrm rot="0">
            <a:off x="850392" y="6382131"/>
            <a:ext cx="10698480" cy="393573"/>
          </a:xfrm>
          <a:prstGeom prst="rect">
            <a:avLst/>
          </a:prstGeom>
        </p:spPr>
        <p:txBody>
          <a:bodyPr anchor="t" rtlCol="false" tIns="0" lIns="0" bIns="0" rIns="0">
            <a:spAutoFit/>
          </a:bodyPr>
          <a:lstStyle/>
          <a:p>
            <a:pPr algn="l">
              <a:lnSpc>
                <a:spcPts val="1709"/>
              </a:lnSpc>
            </a:pPr>
            <a:r>
              <a:rPr lang="en-US" sz="1425" i="true">
                <a:solidFill>
                  <a:srgbClr val="6B7590"/>
                </a:solidFill>
                <a:latin typeface="Exo 2 Italics"/>
                <a:ea typeface="Exo 2 Italics"/>
                <a:cs typeface="Exo 2 Italics"/>
                <a:sym typeface="Exo 2 Italics"/>
              </a:rPr>
              <a:t>Elevator screens, 83 towers  |  The Zone LED screens, 8 faces (eMYAA mock-up)</a:t>
            </a:r>
          </a:p>
        </p:txBody>
      </p:sp>
      <p:grpSp>
        <p:nvGrpSpPr>
          <p:cNvPr name="Group 21" id="21"/>
          <p:cNvGrpSpPr/>
          <p:nvPr/>
        </p:nvGrpSpPr>
        <p:grpSpPr>
          <a:xfrm rot="0">
            <a:off x="840867" y="6848475"/>
            <a:ext cx="2076450" cy="636270"/>
            <a:chOff x="0" y="0"/>
            <a:chExt cx="2768600" cy="848360"/>
          </a:xfrm>
        </p:grpSpPr>
        <p:sp>
          <p:nvSpPr>
            <p:cNvPr name="Freeform 22" id="22"/>
            <p:cNvSpPr/>
            <p:nvPr/>
          </p:nvSpPr>
          <p:spPr>
            <a:xfrm flipH="false" flipV="false" rot="0">
              <a:off x="0" y="0"/>
              <a:ext cx="2768600" cy="848360"/>
            </a:xfrm>
            <a:custGeom>
              <a:avLst/>
              <a:gdLst/>
              <a:ahLst/>
              <a:cxnLst/>
              <a:rect r="r" b="b" t="t" l="l"/>
              <a:pathLst>
                <a:path h="848360" w="2768600">
                  <a:moveTo>
                    <a:pt x="0" y="0"/>
                  </a:moveTo>
                  <a:lnTo>
                    <a:pt x="2768600" y="0"/>
                  </a:lnTo>
                  <a:lnTo>
                    <a:pt x="2768600" y="848360"/>
                  </a:lnTo>
                  <a:lnTo>
                    <a:pt x="0" y="848360"/>
                  </a:lnTo>
                  <a:close/>
                </a:path>
              </a:pathLst>
            </a:custGeom>
            <a:solidFill>
              <a:srgbClr val="132257"/>
            </a:solidFill>
            <a:ln w="19050" cap="sq">
              <a:solidFill>
                <a:srgbClr val="132257"/>
              </a:solidFill>
              <a:prstDash val="solid"/>
              <a:miter/>
            </a:ln>
          </p:spPr>
        </p:sp>
      </p:grpSp>
      <p:grpSp>
        <p:nvGrpSpPr>
          <p:cNvPr name="Group 23" id="23"/>
          <p:cNvGrpSpPr/>
          <p:nvPr/>
        </p:nvGrpSpPr>
        <p:grpSpPr>
          <a:xfrm rot="0">
            <a:off x="1014984" y="6858000"/>
            <a:ext cx="1755648" cy="617220"/>
            <a:chOff x="0" y="0"/>
            <a:chExt cx="2340864" cy="822960"/>
          </a:xfrm>
        </p:grpSpPr>
        <p:sp>
          <p:nvSpPr>
            <p:cNvPr name="Freeform 24" id="24"/>
            <p:cNvSpPr/>
            <p:nvPr/>
          </p:nvSpPr>
          <p:spPr>
            <a:xfrm flipH="false" flipV="false" rot="0">
              <a:off x="0" y="0"/>
              <a:ext cx="2340864" cy="822960"/>
            </a:xfrm>
            <a:custGeom>
              <a:avLst/>
              <a:gdLst/>
              <a:ahLst/>
              <a:cxnLst/>
              <a:rect r="r" b="b" t="t" l="l"/>
              <a:pathLst>
                <a:path h="822960" w="2340864">
                  <a:moveTo>
                    <a:pt x="0" y="0"/>
                  </a:moveTo>
                  <a:lnTo>
                    <a:pt x="2340864" y="0"/>
                  </a:lnTo>
                  <a:lnTo>
                    <a:pt x="2340864" y="822960"/>
                  </a:lnTo>
                  <a:lnTo>
                    <a:pt x="0" y="822960"/>
                  </a:lnTo>
                  <a:close/>
                </a:path>
              </a:pathLst>
            </a:custGeom>
            <a:blipFill>
              <a:blip r:embed="rId4">
                <a:alphaModFix amt="0"/>
              </a:blip>
              <a:stretch>
                <a:fillRect l="0" t="-5424" r="0" b="-5424"/>
              </a:stretch>
            </a:blipFill>
          </p:spPr>
        </p:sp>
        <p:sp>
          <p:nvSpPr>
            <p:cNvPr name="TextBox 25" id="25"/>
            <p:cNvSpPr txBox="true"/>
            <p:nvPr/>
          </p:nvSpPr>
          <p:spPr>
            <a:xfrm>
              <a:off x="0" y="0"/>
              <a:ext cx="2340864" cy="822960"/>
            </a:xfrm>
            <a:prstGeom prst="rect">
              <a:avLst/>
            </a:prstGeom>
          </p:spPr>
          <p:txBody>
            <a:bodyPr anchor="ctr" rtlCol="false" tIns="0" lIns="0" bIns="0" rIns="0"/>
            <a:lstStyle/>
            <a:p>
              <a:pPr algn="l">
                <a:lnSpc>
                  <a:spcPts val="1889"/>
                </a:lnSpc>
              </a:pPr>
              <a:r>
                <a:rPr lang="en-US" sz="1575" b="true">
                  <a:solidFill>
                    <a:srgbClr val="FFFFFF"/>
                  </a:solidFill>
                  <a:latin typeface="Exo 2 Bold"/>
                  <a:ea typeface="Exo 2 Bold"/>
                  <a:cs typeface="Exo 2 Bold"/>
                  <a:sym typeface="Exo 2 Bold"/>
                </a:rPr>
                <a:t>Duration</a:t>
              </a:r>
            </a:p>
          </p:txBody>
        </p:sp>
      </p:grpSp>
      <p:grpSp>
        <p:nvGrpSpPr>
          <p:cNvPr name="Group 26" id="26"/>
          <p:cNvGrpSpPr/>
          <p:nvPr/>
        </p:nvGrpSpPr>
        <p:grpSpPr>
          <a:xfrm rot="0">
            <a:off x="2898267" y="6848475"/>
            <a:ext cx="3036570" cy="636270"/>
            <a:chOff x="0" y="0"/>
            <a:chExt cx="4048760" cy="848360"/>
          </a:xfrm>
        </p:grpSpPr>
        <p:sp>
          <p:nvSpPr>
            <p:cNvPr name="Freeform 27" id="27"/>
            <p:cNvSpPr/>
            <p:nvPr/>
          </p:nvSpPr>
          <p:spPr>
            <a:xfrm flipH="false" flipV="false" rot="0">
              <a:off x="0" y="0"/>
              <a:ext cx="4048760" cy="848360"/>
            </a:xfrm>
            <a:custGeom>
              <a:avLst/>
              <a:gdLst/>
              <a:ahLst/>
              <a:cxnLst/>
              <a:rect r="r" b="b" t="t" l="l"/>
              <a:pathLst>
                <a:path h="848360" w="4048760">
                  <a:moveTo>
                    <a:pt x="0" y="0"/>
                  </a:moveTo>
                  <a:lnTo>
                    <a:pt x="4048760" y="0"/>
                  </a:lnTo>
                  <a:lnTo>
                    <a:pt x="4048760" y="848360"/>
                  </a:lnTo>
                  <a:lnTo>
                    <a:pt x="0" y="848360"/>
                  </a:lnTo>
                  <a:close/>
                </a:path>
              </a:pathLst>
            </a:custGeom>
            <a:solidFill>
              <a:srgbClr val="132257"/>
            </a:solidFill>
            <a:ln w="19050" cap="sq">
              <a:solidFill>
                <a:srgbClr val="132257"/>
              </a:solidFill>
              <a:prstDash val="solid"/>
              <a:miter/>
            </a:ln>
          </p:spPr>
        </p:sp>
      </p:grpSp>
      <p:grpSp>
        <p:nvGrpSpPr>
          <p:cNvPr name="Group 28" id="28"/>
          <p:cNvGrpSpPr/>
          <p:nvPr/>
        </p:nvGrpSpPr>
        <p:grpSpPr>
          <a:xfrm rot="0">
            <a:off x="3072384" y="6858000"/>
            <a:ext cx="2715768" cy="617220"/>
            <a:chOff x="0" y="0"/>
            <a:chExt cx="3621024" cy="822960"/>
          </a:xfrm>
        </p:grpSpPr>
        <p:sp>
          <p:nvSpPr>
            <p:cNvPr name="Freeform 29" id="29"/>
            <p:cNvSpPr/>
            <p:nvPr/>
          </p:nvSpPr>
          <p:spPr>
            <a:xfrm flipH="false" flipV="false" rot="0">
              <a:off x="0" y="0"/>
              <a:ext cx="3621024" cy="822960"/>
            </a:xfrm>
            <a:custGeom>
              <a:avLst/>
              <a:gdLst/>
              <a:ahLst/>
              <a:cxnLst/>
              <a:rect r="r" b="b" t="t" l="l"/>
              <a:pathLst>
                <a:path h="822960" w="3621024">
                  <a:moveTo>
                    <a:pt x="0" y="0"/>
                  </a:moveTo>
                  <a:lnTo>
                    <a:pt x="3621024" y="0"/>
                  </a:lnTo>
                  <a:lnTo>
                    <a:pt x="3621024" y="822960"/>
                  </a:lnTo>
                  <a:lnTo>
                    <a:pt x="0" y="822960"/>
                  </a:lnTo>
                  <a:close/>
                </a:path>
              </a:pathLst>
            </a:custGeom>
            <a:blipFill>
              <a:blip r:embed="rId4">
                <a:alphaModFix amt="0"/>
              </a:blip>
              <a:stretch>
                <a:fillRect l="0" t="-35734" r="0" b="-35734"/>
              </a:stretch>
            </a:blipFill>
          </p:spPr>
        </p:sp>
        <p:sp>
          <p:nvSpPr>
            <p:cNvPr name="TextBox 30" id="30"/>
            <p:cNvSpPr txBox="true"/>
            <p:nvPr/>
          </p:nvSpPr>
          <p:spPr>
            <a:xfrm>
              <a:off x="0" y="0"/>
              <a:ext cx="3621024" cy="822960"/>
            </a:xfrm>
            <a:prstGeom prst="rect">
              <a:avLst/>
            </a:prstGeom>
          </p:spPr>
          <p:txBody>
            <a:bodyPr anchor="ctr" rtlCol="false" tIns="0" lIns="0" bIns="0" rIns="0"/>
            <a:lstStyle/>
            <a:p>
              <a:pPr algn="l">
                <a:lnSpc>
                  <a:spcPts val="1889"/>
                </a:lnSpc>
              </a:pPr>
              <a:r>
                <a:rPr lang="en-US" sz="1575" b="true">
                  <a:solidFill>
                    <a:srgbClr val="FFFFFF"/>
                  </a:solidFill>
                  <a:latin typeface="Exo 2 Bold"/>
                  <a:ea typeface="Exo 2 Bold"/>
                  <a:cs typeface="Exo 2 Bold"/>
                  <a:sym typeface="Exo 2 Bold"/>
                </a:rPr>
                <a:t>Original rate</a:t>
              </a:r>
            </a:p>
          </p:txBody>
        </p:sp>
      </p:grpSp>
      <p:grpSp>
        <p:nvGrpSpPr>
          <p:cNvPr name="Group 31" id="31"/>
          <p:cNvGrpSpPr/>
          <p:nvPr/>
        </p:nvGrpSpPr>
        <p:grpSpPr>
          <a:xfrm rot="0">
            <a:off x="5915787" y="6848475"/>
            <a:ext cx="3036570" cy="636270"/>
            <a:chOff x="0" y="0"/>
            <a:chExt cx="4048760" cy="848360"/>
          </a:xfrm>
        </p:grpSpPr>
        <p:sp>
          <p:nvSpPr>
            <p:cNvPr name="Freeform 32" id="32"/>
            <p:cNvSpPr/>
            <p:nvPr/>
          </p:nvSpPr>
          <p:spPr>
            <a:xfrm flipH="false" flipV="false" rot="0">
              <a:off x="0" y="0"/>
              <a:ext cx="4048760" cy="848360"/>
            </a:xfrm>
            <a:custGeom>
              <a:avLst/>
              <a:gdLst/>
              <a:ahLst/>
              <a:cxnLst/>
              <a:rect r="r" b="b" t="t" l="l"/>
              <a:pathLst>
                <a:path h="848360" w="4048760">
                  <a:moveTo>
                    <a:pt x="0" y="0"/>
                  </a:moveTo>
                  <a:lnTo>
                    <a:pt x="4048760" y="0"/>
                  </a:lnTo>
                  <a:lnTo>
                    <a:pt x="4048760" y="848360"/>
                  </a:lnTo>
                  <a:lnTo>
                    <a:pt x="0" y="848360"/>
                  </a:lnTo>
                  <a:close/>
                </a:path>
              </a:pathLst>
            </a:custGeom>
            <a:solidFill>
              <a:srgbClr val="132257"/>
            </a:solidFill>
            <a:ln w="19050" cap="sq">
              <a:solidFill>
                <a:srgbClr val="132257"/>
              </a:solidFill>
              <a:prstDash val="solid"/>
              <a:miter/>
            </a:ln>
          </p:spPr>
        </p:sp>
      </p:grpSp>
      <p:grpSp>
        <p:nvGrpSpPr>
          <p:cNvPr name="Group 33" id="33"/>
          <p:cNvGrpSpPr/>
          <p:nvPr/>
        </p:nvGrpSpPr>
        <p:grpSpPr>
          <a:xfrm rot="0">
            <a:off x="6089904" y="6858000"/>
            <a:ext cx="2715768" cy="617220"/>
            <a:chOff x="0" y="0"/>
            <a:chExt cx="3621024" cy="822960"/>
          </a:xfrm>
        </p:grpSpPr>
        <p:sp>
          <p:nvSpPr>
            <p:cNvPr name="Freeform 34" id="34"/>
            <p:cNvSpPr/>
            <p:nvPr/>
          </p:nvSpPr>
          <p:spPr>
            <a:xfrm flipH="false" flipV="false" rot="0">
              <a:off x="0" y="0"/>
              <a:ext cx="3621024" cy="822960"/>
            </a:xfrm>
            <a:custGeom>
              <a:avLst/>
              <a:gdLst/>
              <a:ahLst/>
              <a:cxnLst/>
              <a:rect r="r" b="b" t="t" l="l"/>
              <a:pathLst>
                <a:path h="822960" w="3621024">
                  <a:moveTo>
                    <a:pt x="0" y="0"/>
                  </a:moveTo>
                  <a:lnTo>
                    <a:pt x="3621024" y="0"/>
                  </a:lnTo>
                  <a:lnTo>
                    <a:pt x="3621024" y="822960"/>
                  </a:lnTo>
                  <a:lnTo>
                    <a:pt x="0" y="822960"/>
                  </a:lnTo>
                  <a:close/>
                </a:path>
              </a:pathLst>
            </a:custGeom>
            <a:blipFill>
              <a:blip r:embed="rId4">
                <a:alphaModFix amt="0"/>
              </a:blip>
              <a:stretch>
                <a:fillRect l="0" t="-35734" r="0" b="-35734"/>
              </a:stretch>
            </a:blipFill>
          </p:spPr>
        </p:sp>
        <p:sp>
          <p:nvSpPr>
            <p:cNvPr name="TextBox 35" id="35"/>
            <p:cNvSpPr txBox="true"/>
            <p:nvPr/>
          </p:nvSpPr>
          <p:spPr>
            <a:xfrm>
              <a:off x="0" y="0"/>
              <a:ext cx="3621024" cy="822960"/>
            </a:xfrm>
            <a:prstGeom prst="rect">
              <a:avLst/>
            </a:prstGeom>
          </p:spPr>
          <p:txBody>
            <a:bodyPr anchor="ctr" rtlCol="false" tIns="0" lIns="0" bIns="0" rIns="0"/>
            <a:lstStyle/>
            <a:p>
              <a:pPr algn="l">
                <a:lnSpc>
                  <a:spcPts val="1889"/>
                </a:lnSpc>
              </a:pPr>
              <a:r>
                <a:rPr lang="en-US" sz="1575" b="true">
                  <a:solidFill>
                    <a:srgbClr val="FFFFFF"/>
                  </a:solidFill>
                  <a:latin typeface="Exo 2 Bold"/>
                  <a:ea typeface="Exo 2 Bold"/>
                  <a:cs typeface="Exo 2 Bold"/>
                  <a:sym typeface="Exo 2 Bold"/>
                </a:rPr>
                <a:t>eMYAA rate</a:t>
              </a:r>
            </a:p>
          </p:txBody>
        </p:sp>
      </p:grpSp>
      <p:grpSp>
        <p:nvGrpSpPr>
          <p:cNvPr name="Group 36" id="36"/>
          <p:cNvGrpSpPr/>
          <p:nvPr/>
        </p:nvGrpSpPr>
        <p:grpSpPr>
          <a:xfrm rot="0">
            <a:off x="8933307" y="6848475"/>
            <a:ext cx="2625090" cy="636270"/>
            <a:chOff x="0" y="0"/>
            <a:chExt cx="3500120" cy="848360"/>
          </a:xfrm>
        </p:grpSpPr>
        <p:sp>
          <p:nvSpPr>
            <p:cNvPr name="Freeform 37" id="37"/>
            <p:cNvSpPr/>
            <p:nvPr/>
          </p:nvSpPr>
          <p:spPr>
            <a:xfrm flipH="false" flipV="false" rot="0">
              <a:off x="0" y="0"/>
              <a:ext cx="3500120" cy="848360"/>
            </a:xfrm>
            <a:custGeom>
              <a:avLst/>
              <a:gdLst/>
              <a:ahLst/>
              <a:cxnLst/>
              <a:rect r="r" b="b" t="t" l="l"/>
              <a:pathLst>
                <a:path h="848360" w="3500120">
                  <a:moveTo>
                    <a:pt x="0" y="0"/>
                  </a:moveTo>
                  <a:lnTo>
                    <a:pt x="3500120" y="0"/>
                  </a:lnTo>
                  <a:lnTo>
                    <a:pt x="3500120" y="848360"/>
                  </a:lnTo>
                  <a:lnTo>
                    <a:pt x="0" y="848360"/>
                  </a:lnTo>
                  <a:close/>
                </a:path>
              </a:pathLst>
            </a:custGeom>
            <a:solidFill>
              <a:srgbClr val="132257"/>
            </a:solidFill>
            <a:ln w="19050" cap="sq">
              <a:solidFill>
                <a:srgbClr val="132257"/>
              </a:solidFill>
              <a:prstDash val="solid"/>
              <a:miter/>
            </a:ln>
          </p:spPr>
        </p:sp>
      </p:grpSp>
      <p:grpSp>
        <p:nvGrpSpPr>
          <p:cNvPr name="Group 38" id="38"/>
          <p:cNvGrpSpPr/>
          <p:nvPr/>
        </p:nvGrpSpPr>
        <p:grpSpPr>
          <a:xfrm rot="0">
            <a:off x="9107424" y="6858000"/>
            <a:ext cx="2304288" cy="617220"/>
            <a:chOff x="0" y="0"/>
            <a:chExt cx="3072384" cy="822960"/>
          </a:xfrm>
        </p:grpSpPr>
        <p:sp>
          <p:nvSpPr>
            <p:cNvPr name="Freeform 39" id="39"/>
            <p:cNvSpPr/>
            <p:nvPr/>
          </p:nvSpPr>
          <p:spPr>
            <a:xfrm flipH="false" flipV="false" rot="0">
              <a:off x="0" y="0"/>
              <a:ext cx="3072384" cy="822960"/>
            </a:xfrm>
            <a:custGeom>
              <a:avLst/>
              <a:gdLst/>
              <a:ahLst/>
              <a:cxnLst/>
              <a:rect r="r" b="b" t="t" l="l"/>
              <a:pathLst>
                <a:path h="822960" w="3072384">
                  <a:moveTo>
                    <a:pt x="0" y="0"/>
                  </a:moveTo>
                  <a:lnTo>
                    <a:pt x="3072384" y="0"/>
                  </a:lnTo>
                  <a:lnTo>
                    <a:pt x="3072384" y="822960"/>
                  </a:lnTo>
                  <a:lnTo>
                    <a:pt x="0" y="822960"/>
                  </a:lnTo>
                  <a:close/>
                </a:path>
              </a:pathLst>
            </a:custGeom>
            <a:blipFill>
              <a:blip r:embed="rId4">
                <a:alphaModFix amt="0"/>
              </a:blip>
              <a:stretch>
                <a:fillRect l="0" t="-22744" r="0" b="-22744"/>
              </a:stretch>
            </a:blipFill>
          </p:spPr>
        </p:sp>
        <p:sp>
          <p:nvSpPr>
            <p:cNvPr name="TextBox 40" id="40"/>
            <p:cNvSpPr txBox="true"/>
            <p:nvPr/>
          </p:nvSpPr>
          <p:spPr>
            <a:xfrm>
              <a:off x="0" y="0"/>
              <a:ext cx="3072384" cy="822960"/>
            </a:xfrm>
            <a:prstGeom prst="rect">
              <a:avLst/>
            </a:prstGeom>
          </p:spPr>
          <p:txBody>
            <a:bodyPr anchor="ctr" rtlCol="false" tIns="0" lIns="0" bIns="0" rIns="0"/>
            <a:lstStyle/>
            <a:p>
              <a:pPr algn="l">
                <a:lnSpc>
                  <a:spcPts val="1889"/>
                </a:lnSpc>
              </a:pPr>
              <a:r>
                <a:rPr lang="en-US" sz="1575" b="true">
                  <a:solidFill>
                    <a:srgbClr val="FFFFFF"/>
                  </a:solidFill>
                  <a:latin typeface="Exo 2 Bold"/>
                  <a:ea typeface="Exo 2 Bold"/>
                  <a:cs typeface="Exo 2 Bold"/>
                  <a:sym typeface="Exo 2 Bold"/>
                </a:rPr>
                <a:t>Ad plays</a:t>
              </a:r>
            </a:p>
          </p:txBody>
        </p:sp>
      </p:grpSp>
      <p:grpSp>
        <p:nvGrpSpPr>
          <p:cNvPr name="Group 41" id="41"/>
          <p:cNvGrpSpPr/>
          <p:nvPr/>
        </p:nvGrpSpPr>
        <p:grpSpPr>
          <a:xfrm rot="0">
            <a:off x="843248" y="7468076"/>
            <a:ext cx="2071688" cy="535496"/>
            <a:chOff x="0" y="0"/>
            <a:chExt cx="2762250" cy="713994"/>
          </a:xfrm>
        </p:grpSpPr>
        <p:sp>
          <p:nvSpPr>
            <p:cNvPr name="Freeform 42" id="42"/>
            <p:cNvSpPr/>
            <p:nvPr/>
          </p:nvSpPr>
          <p:spPr>
            <a:xfrm flipH="false" flipV="false" rot="0">
              <a:off x="0" y="0"/>
              <a:ext cx="2762250" cy="713994"/>
            </a:xfrm>
            <a:custGeom>
              <a:avLst/>
              <a:gdLst/>
              <a:ahLst/>
              <a:cxnLst/>
              <a:rect r="r" b="b" t="t" l="l"/>
              <a:pathLst>
                <a:path h="713994" w="2762250">
                  <a:moveTo>
                    <a:pt x="0" y="0"/>
                  </a:moveTo>
                  <a:lnTo>
                    <a:pt x="2762250" y="0"/>
                  </a:lnTo>
                  <a:lnTo>
                    <a:pt x="2762250" y="713994"/>
                  </a:lnTo>
                  <a:lnTo>
                    <a:pt x="0" y="713994"/>
                  </a:lnTo>
                  <a:close/>
                </a:path>
              </a:pathLst>
            </a:custGeom>
            <a:solidFill>
              <a:srgbClr val="FFFFFF"/>
            </a:solidFill>
            <a:ln w="14288" cap="sq">
              <a:solidFill>
                <a:srgbClr val="D9DFEA"/>
              </a:solidFill>
              <a:prstDash val="solid"/>
              <a:miter/>
            </a:ln>
          </p:spPr>
        </p:sp>
      </p:grpSp>
      <p:grpSp>
        <p:nvGrpSpPr>
          <p:cNvPr name="Group 43" id="43"/>
          <p:cNvGrpSpPr/>
          <p:nvPr/>
        </p:nvGrpSpPr>
        <p:grpSpPr>
          <a:xfrm rot="0">
            <a:off x="1014984" y="7475220"/>
            <a:ext cx="1755648" cy="521208"/>
            <a:chOff x="0" y="0"/>
            <a:chExt cx="2340864" cy="694944"/>
          </a:xfrm>
        </p:grpSpPr>
        <p:sp>
          <p:nvSpPr>
            <p:cNvPr name="Freeform 44" id="44"/>
            <p:cNvSpPr/>
            <p:nvPr/>
          </p:nvSpPr>
          <p:spPr>
            <a:xfrm flipH="false" flipV="false" rot="0">
              <a:off x="0" y="0"/>
              <a:ext cx="2340864" cy="694944"/>
            </a:xfrm>
            <a:custGeom>
              <a:avLst/>
              <a:gdLst/>
              <a:ahLst/>
              <a:cxnLst/>
              <a:rect r="r" b="b" t="t" l="l"/>
              <a:pathLst>
                <a:path h="694944" w="2340864">
                  <a:moveTo>
                    <a:pt x="0" y="0"/>
                  </a:moveTo>
                  <a:lnTo>
                    <a:pt x="2340864" y="0"/>
                  </a:lnTo>
                  <a:lnTo>
                    <a:pt x="2340864" y="694944"/>
                  </a:lnTo>
                  <a:lnTo>
                    <a:pt x="0" y="694944"/>
                  </a:lnTo>
                  <a:close/>
                </a:path>
              </a:pathLst>
            </a:custGeom>
            <a:blipFill>
              <a:blip r:embed="rId4">
                <a:alphaModFix amt="0"/>
              </a:blip>
              <a:stretch>
                <a:fillRect l="0" t="-15633" r="0" b="-15633"/>
              </a:stretch>
            </a:blipFill>
          </p:spPr>
        </p:sp>
        <p:sp>
          <p:nvSpPr>
            <p:cNvPr name="TextBox 45" id="45"/>
            <p:cNvSpPr txBox="true"/>
            <p:nvPr/>
          </p:nvSpPr>
          <p:spPr>
            <a:xfrm>
              <a:off x="0" y="0"/>
              <a:ext cx="2340864" cy="694944"/>
            </a:xfrm>
            <a:prstGeom prst="rect">
              <a:avLst/>
            </a:prstGeom>
          </p:spPr>
          <p:txBody>
            <a:bodyPr anchor="ctr" rtlCol="false" tIns="0" lIns="0" bIns="0" rIns="0"/>
            <a:lstStyle/>
            <a:p>
              <a:pPr algn="l">
                <a:lnSpc>
                  <a:spcPts val="1980"/>
                </a:lnSpc>
              </a:pPr>
              <a:r>
                <a:rPr lang="en-US" sz="1650" b="true">
                  <a:solidFill>
                    <a:srgbClr val="132257"/>
                  </a:solidFill>
                  <a:latin typeface="Exo 2 Bold"/>
                  <a:ea typeface="Exo 2 Bold"/>
                  <a:cs typeface="Exo 2 Bold"/>
                  <a:sym typeface="Exo 2 Bold"/>
                </a:rPr>
                <a:t>2 weeks</a:t>
              </a:r>
            </a:p>
          </p:txBody>
        </p:sp>
      </p:grpSp>
      <p:grpSp>
        <p:nvGrpSpPr>
          <p:cNvPr name="Group 46" id="46"/>
          <p:cNvGrpSpPr/>
          <p:nvPr/>
        </p:nvGrpSpPr>
        <p:grpSpPr>
          <a:xfrm rot="0">
            <a:off x="2900648" y="7468076"/>
            <a:ext cx="3031808" cy="535496"/>
            <a:chOff x="0" y="0"/>
            <a:chExt cx="4042410" cy="713994"/>
          </a:xfrm>
        </p:grpSpPr>
        <p:sp>
          <p:nvSpPr>
            <p:cNvPr name="Freeform 47" id="47"/>
            <p:cNvSpPr/>
            <p:nvPr/>
          </p:nvSpPr>
          <p:spPr>
            <a:xfrm flipH="false" flipV="false" rot="0">
              <a:off x="0" y="0"/>
              <a:ext cx="4042410" cy="713994"/>
            </a:xfrm>
            <a:custGeom>
              <a:avLst/>
              <a:gdLst/>
              <a:ahLst/>
              <a:cxnLst/>
              <a:rect r="r" b="b" t="t" l="l"/>
              <a:pathLst>
                <a:path h="713994" w="4042410">
                  <a:moveTo>
                    <a:pt x="0" y="0"/>
                  </a:moveTo>
                  <a:lnTo>
                    <a:pt x="4042410" y="0"/>
                  </a:lnTo>
                  <a:lnTo>
                    <a:pt x="4042410" y="713994"/>
                  </a:lnTo>
                  <a:lnTo>
                    <a:pt x="0" y="713994"/>
                  </a:lnTo>
                  <a:close/>
                </a:path>
              </a:pathLst>
            </a:custGeom>
            <a:solidFill>
              <a:srgbClr val="FFFFFF"/>
            </a:solidFill>
            <a:ln w="14288" cap="sq">
              <a:solidFill>
                <a:srgbClr val="D9DFEA"/>
              </a:solidFill>
              <a:prstDash val="solid"/>
              <a:miter/>
            </a:ln>
          </p:spPr>
        </p:sp>
      </p:grpSp>
      <p:grpSp>
        <p:nvGrpSpPr>
          <p:cNvPr name="Group 48" id="48"/>
          <p:cNvGrpSpPr/>
          <p:nvPr/>
        </p:nvGrpSpPr>
        <p:grpSpPr>
          <a:xfrm rot="0">
            <a:off x="3072384" y="7475220"/>
            <a:ext cx="2715768" cy="521208"/>
            <a:chOff x="0" y="0"/>
            <a:chExt cx="3621024" cy="694944"/>
          </a:xfrm>
        </p:grpSpPr>
        <p:sp>
          <p:nvSpPr>
            <p:cNvPr name="Freeform 49" id="49"/>
            <p:cNvSpPr/>
            <p:nvPr/>
          </p:nvSpPr>
          <p:spPr>
            <a:xfrm flipH="false" flipV="false" rot="0">
              <a:off x="0" y="0"/>
              <a:ext cx="3621024" cy="694944"/>
            </a:xfrm>
            <a:custGeom>
              <a:avLst/>
              <a:gdLst/>
              <a:ahLst/>
              <a:cxnLst/>
              <a:rect r="r" b="b" t="t" l="l"/>
              <a:pathLst>
                <a:path h="694944" w="3621024">
                  <a:moveTo>
                    <a:pt x="0" y="0"/>
                  </a:moveTo>
                  <a:lnTo>
                    <a:pt x="3621024" y="0"/>
                  </a:lnTo>
                  <a:lnTo>
                    <a:pt x="3621024" y="694944"/>
                  </a:lnTo>
                  <a:lnTo>
                    <a:pt x="0" y="694944"/>
                  </a:lnTo>
                  <a:close/>
                </a:path>
              </a:pathLst>
            </a:custGeom>
            <a:blipFill>
              <a:blip r:embed="rId4">
                <a:alphaModFix amt="0"/>
              </a:blip>
              <a:stretch>
                <a:fillRect l="0" t="-51527" r="0" b="-51527"/>
              </a:stretch>
            </a:blipFill>
          </p:spPr>
        </p:sp>
        <p:sp>
          <p:nvSpPr>
            <p:cNvPr name="TextBox 50" id="50"/>
            <p:cNvSpPr txBox="true"/>
            <p:nvPr/>
          </p:nvSpPr>
          <p:spPr>
            <a:xfrm>
              <a:off x="0" y="0"/>
              <a:ext cx="3621024" cy="694944"/>
            </a:xfrm>
            <a:prstGeom prst="rect">
              <a:avLst/>
            </a:prstGeom>
          </p:spPr>
          <p:txBody>
            <a:bodyPr anchor="ctr" rtlCol="false" tIns="0" lIns="0" bIns="0" rIns="0"/>
            <a:lstStyle/>
            <a:p>
              <a:pPr algn="l">
                <a:lnSpc>
                  <a:spcPts val="1980"/>
                </a:lnSpc>
              </a:pPr>
              <a:r>
                <a:rPr lang="en-US" sz="1650">
                  <a:solidFill>
                    <a:srgbClr val="1F2A44"/>
                  </a:solidFill>
                  <a:latin typeface="Exo 2"/>
                  <a:ea typeface="Exo 2"/>
                  <a:cs typeface="Exo 2"/>
                  <a:sym typeface="Exo 2"/>
                </a:rPr>
                <a:t>-</a:t>
              </a:r>
            </a:p>
          </p:txBody>
        </p:sp>
      </p:grpSp>
      <p:grpSp>
        <p:nvGrpSpPr>
          <p:cNvPr name="Group 51" id="51"/>
          <p:cNvGrpSpPr/>
          <p:nvPr/>
        </p:nvGrpSpPr>
        <p:grpSpPr>
          <a:xfrm rot="0">
            <a:off x="5918168" y="7468076"/>
            <a:ext cx="3031808" cy="535496"/>
            <a:chOff x="0" y="0"/>
            <a:chExt cx="4042410" cy="713994"/>
          </a:xfrm>
        </p:grpSpPr>
        <p:sp>
          <p:nvSpPr>
            <p:cNvPr name="Freeform 52" id="52"/>
            <p:cNvSpPr/>
            <p:nvPr/>
          </p:nvSpPr>
          <p:spPr>
            <a:xfrm flipH="false" flipV="false" rot="0">
              <a:off x="0" y="0"/>
              <a:ext cx="4042410" cy="713994"/>
            </a:xfrm>
            <a:custGeom>
              <a:avLst/>
              <a:gdLst/>
              <a:ahLst/>
              <a:cxnLst/>
              <a:rect r="r" b="b" t="t" l="l"/>
              <a:pathLst>
                <a:path h="713994" w="4042410">
                  <a:moveTo>
                    <a:pt x="0" y="0"/>
                  </a:moveTo>
                  <a:lnTo>
                    <a:pt x="4042410" y="0"/>
                  </a:lnTo>
                  <a:lnTo>
                    <a:pt x="4042410" y="713994"/>
                  </a:lnTo>
                  <a:lnTo>
                    <a:pt x="0" y="713994"/>
                  </a:lnTo>
                  <a:close/>
                </a:path>
              </a:pathLst>
            </a:custGeom>
            <a:solidFill>
              <a:srgbClr val="FFFFFF"/>
            </a:solidFill>
            <a:ln w="14288" cap="sq">
              <a:solidFill>
                <a:srgbClr val="D9DFEA"/>
              </a:solidFill>
              <a:prstDash val="solid"/>
              <a:miter/>
            </a:ln>
          </p:spPr>
        </p:sp>
      </p:grpSp>
      <p:grpSp>
        <p:nvGrpSpPr>
          <p:cNvPr name="Group 53" id="53"/>
          <p:cNvGrpSpPr/>
          <p:nvPr/>
        </p:nvGrpSpPr>
        <p:grpSpPr>
          <a:xfrm rot="0">
            <a:off x="6089904" y="7475220"/>
            <a:ext cx="2715768" cy="521208"/>
            <a:chOff x="0" y="0"/>
            <a:chExt cx="3621024" cy="694944"/>
          </a:xfrm>
        </p:grpSpPr>
        <p:sp>
          <p:nvSpPr>
            <p:cNvPr name="Freeform 54" id="54"/>
            <p:cNvSpPr/>
            <p:nvPr/>
          </p:nvSpPr>
          <p:spPr>
            <a:xfrm flipH="false" flipV="false" rot="0">
              <a:off x="0" y="0"/>
              <a:ext cx="3621024" cy="694944"/>
            </a:xfrm>
            <a:custGeom>
              <a:avLst/>
              <a:gdLst/>
              <a:ahLst/>
              <a:cxnLst/>
              <a:rect r="r" b="b" t="t" l="l"/>
              <a:pathLst>
                <a:path h="694944" w="3621024">
                  <a:moveTo>
                    <a:pt x="0" y="0"/>
                  </a:moveTo>
                  <a:lnTo>
                    <a:pt x="3621024" y="0"/>
                  </a:lnTo>
                  <a:lnTo>
                    <a:pt x="3621024" y="694944"/>
                  </a:lnTo>
                  <a:lnTo>
                    <a:pt x="0" y="694944"/>
                  </a:lnTo>
                  <a:close/>
                </a:path>
              </a:pathLst>
            </a:custGeom>
            <a:blipFill>
              <a:blip r:embed="rId4">
                <a:alphaModFix amt="0"/>
              </a:blip>
              <a:stretch>
                <a:fillRect l="0" t="-51527" r="0" b="-51527"/>
              </a:stretch>
            </a:blipFill>
          </p:spPr>
        </p:sp>
        <p:sp>
          <p:nvSpPr>
            <p:cNvPr name="TextBox 55" id="55"/>
            <p:cNvSpPr txBox="true"/>
            <p:nvPr/>
          </p:nvSpPr>
          <p:spPr>
            <a:xfrm>
              <a:off x="0" y="0"/>
              <a:ext cx="3621024" cy="694944"/>
            </a:xfrm>
            <a:prstGeom prst="rect">
              <a:avLst/>
            </a:prstGeom>
          </p:spPr>
          <p:txBody>
            <a:bodyPr anchor="ctr" rtlCol="false" tIns="0" lIns="0" bIns="0" rIns="0"/>
            <a:lstStyle/>
            <a:p>
              <a:pPr algn="l">
                <a:lnSpc>
                  <a:spcPts val="1980"/>
                </a:lnSpc>
              </a:pPr>
              <a:r>
                <a:rPr lang="en-US" sz="1650" b="true">
                  <a:solidFill>
                    <a:srgbClr val="1F2A44"/>
                  </a:solidFill>
                  <a:latin typeface="Exo 2 Bold"/>
                  <a:ea typeface="Exo 2 Bold"/>
                  <a:cs typeface="Exo 2 Bold"/>
                  <a:sym typeface="Exo 2 Bold"/>
                </a:rPr>
                <a:t>USD 16,000</a:t>
              </a:r>
            </a:p>
          </p:txBody>
        </p:sp>
      </p:grpSp>
      <p:grpSp>
        <p:nvGrpSpPr>
          <p:cNvPr name="Group 56" id="56"/>
          <p:cNvGrpSpPr/>
          <p:nvPr/>
        </p:nvGrpSpPr>
        <p:grpSpPr>
          <a:xfrm rot="0">
            <a:off x="8935688" y="7468076"/>
            <a:ext cx="2620328" cy="535496"/>
            <a:chOff x="0" y="0"/>
            <a:chExt cx="3493770" cy="713994"/>
          </a:xfrm>
        </p:grpSpPr>
        <p:sp>
          <p:nvSpPr>
            <p:cNvPr name="Freeform 57" id="57"/>
            <p:cNvSpPr/>
            <p:nvPr/>
          </p:nvSpPr>
          <p:spPr>
            <a:xfrm flipH="false" flipV="false" rot="0">
              <a:off x="0" y="0"/>
              <a:ext cx="3493770" cy="713994"/>
            </a:xfrm>
            <a:custGeom>
              <a:avLst/>
              <a:gdLst/>
              <a:ahLst/>
              <a:cxnLst/>
              <a:rect r="r" b="b" t="t" l="l"/>
              <a:pathLst>
                <a:path h="713994" w="3493770">
                  <a:moveTo>
                    <a:pt x="0" y="0"/>
                  </a:moveTo>
                  <a:lnTo>
                    <a:pt x="3493770" y="0"/>
                  </a:lnTo>
                  <a:lnTo>
                    <a:pt x="3493770" y="713994"/>
                  </a:lnTo>
                  <a:lnTo>
                    <a:pt x="0" y="713994"/>
                  </a:lnTo>
                  <a:close/>
                </a:path>
              </a:pathLst>
            </a:custGeom>
            <a:solidFill>
              <a:srgbClr val="FFFFFF"/>
            </a:solidFill>
            <a:ln w="14288" cap="sq">
              <a:solidFill>
                <a:srgbClr val="D9DFEA"/>
              </a:solidFill>
              <a:prstDash val="solid"/>
              <a:miter/>
            </a:ln>
          </p:spPr>
        </p:sp>
      </p:grpSp>
      <p:grpSp>
        <p:nvGrpSpPr>
          <p:cNvPr name="Group 58" id="58"/>
          <p:cNvGrpSpPr/>
          <p:nvPr/>
        </p:nvGrpSpPr>
        <p:grpSpPr>
          <a:xfrm rot="0">
            <a:off x="9107424" y="7475220"/>
            <a:ext cx="2304288" cy="521208"/>
            <a:chOff x="0" y="0"/>
            <a:chExt cx="3072384" cy="694944"/>
          </a:xfrm>
        </p:grpSpPr>
        <p:sp>
          <p:nvSpPr>
            <p:cNvPr name="Freeform 59" id="59"/>
            <p:cNvSpPr/>
            <p:nvPr/>
          </p:nvSpPr>
          <p:spPr>
            <a:xfrm flipH="false" flipV="false" rot="0">
              <a:off x="0" y="0"/>
              <a:ext cx="3072384" cy="694944"/>
            </a:xfrm>
            <a:custGeom>
              <a:avLst/>
              <a:gdLst/>
              <a:ahLst/>
              <a:cxnLst/>
              <a:rect r="r" b="b" t="t" l="l"/>
              <a:pathLst>
                <a:path h="694944" w="3072384">
                  <a:moveTo>
                    <a:pt x="0" y="0"/>
                  </a:moveTo>
                  <a:lnTo>
                    <a:pt x="3072384" y="0"/>
                  </a:lnTo>
                  <a:lnTo>
                    <a:pt x="3072384" y="694944"/>
                  </a:lnTo>
                  <a:lnTo>
                    <a:pt x="0" y="694944"/>
                  </a:lnTo>
                  <a:close/>
                </a:path>
              </a:pathLst>
            </a:custGeom>
            <a:blipFill>
              <a:blip r:embed="rId4">
                <a:alphaModFix amt="0"/>
              </a:blip>
              <a:stretch>
                <a:fillRect l="0" t="-36144" r="0" b="-36144"/>
              </a:stretch>
            </a:blipFill>
          </p:spPr>
        </p:sp>
        <p:sp>
          <p:nvSpPr>
            <p:cNvPr name="TextBox 60" id="60"/>
            <p:cNvSpPr txBox="true"/>
            <p:nvPr/>
          </p:nvSpPr>
          <p:spPr>
            <a:xfrm>
              <a:off x="0" y="0"/>
              <a:ext cx="3072384" cy="694944"/>
            </a:xfrm>
            <a:prstGeom prst="rect">
              <a:avLst/>
            </a:prstGeom>
          </p:spPr>
          <p:txBody>
            <a:bodyPr anchor="ctr" rtlCol="false" tIns="0" lIns="0" bIns="0" rIns="0"/>
            <a:lstStyle/>
            <a:p>
              <a:pPr algn="l">
                <a:lnSpc>
                  <a:spcPts val="1980"/>
                </a:lnSpc>
              </a:pPr>
              <a:r>
                <a:rPr lang="en-US" sz="1650">
                  <a:solidFill>
                    <a:srgbClr val="1F2A44"/>
                  </a:solidFill>
                  <a:latin typeface="Exo 2"/>
                  <a:ea typeface="Exo 2"/>
                  <a:cs typeface="Exo 2"/>
                  <a:sym typeface="Exo 2"/>
                </a:rPr>
                <a:t>0.84M</a:t>
              </a:r>
            </a:p>
          </p:txBody>
        </p:sp>
      </p:grpSp>
      <p:grpSp>
        <p:nvGrpSpPr>
          <p:cNvPr name="Group 61" id="61"/>
          <p:cNvGrpSpPr/>
          <p:nvPr/>
        </p:nvGrpSpPr>
        <p:grpSpPr>
          <a:xfrm rot="0">
            <a:off x="843248" y="7989284"/>
            <a:ext cx="2071688" cy="535496"/>
            <a:chOff x="0" y="0"/>
            <a:chExt cx="2762250" cy="713994"/>
          </a:xfrm>
        </p:grpSpPr>
        <p:sp>
          <p:nvSpPr>
            <p:cNvPr name="Freeform 62" id="62"/>
            <p:cNvSpPr/>
            <p:nvPr/>
          </p:nvSpPr>
          <p:spPr>
            <a:xfrm flipH="false" flipV="false" rot="0">
              <a:off x="0" y="0"/>
              <a:ext cx="2762250" cy="713994"/>
            </a:xfrm>
            <a:custGeom>
              <a:avLst/>
              <a:gdLst/>
              <a:ahLst/>
              <a:cxnLst/>
              <a:rect r="r" b="b" t="t" l="l"/>
              <a:pathLst>
                <a:path h="713994" w="2762250">
                  <a:moveTo>
                    <a:pt x="0" y="0"/>
                  </a:moveTo>
                  <a:lnTo>
                    <a:pt x="2762250" y="0"/>
                  </a:lnTo>
                  <a:lnTo>
                    <a:pt x="2762250" y="713994"/>
                  </a:lnTo>
                  <a:lnTo>
                    <a:pt x="0" y="713994"/>
                  </a:lnTo>
                  <a:close/>
                </a:path>
              </a:pathLst>
            </a:custGeom>
            <a:solidFill>
              <a:srgbClr val="EEF1F8"/>
            </a:solidFill>
            <a:ln w="14288" cap="sq">
              <a:solidFill>
                <a:srgbClr val="D9DFEA"/>
              </a:solidFill>
              <a:prstDash val="solid"/>
              <a:miter/>
            </a:ln>
          </p:spPr>
        </p:sp>
      </p:grpSp>
      <p:grpSp>
        <p:nvGrpSpPr>
          <p:cNvPr name="Group 63" id="63"/>
          <p:cNvGrpSpPr/>
          <p:nvPr/>
        </p:nvGrpSpPr>
        <p:grpSpPr>
          <a:xfrm rot="0">
            <a:off x="1014984" y="7996428"/>
            <a:ext cx="1755648" cy="521208"/>
            <a:chOff x="0" y="0"/>
            <a:chExt cx="2340864" cy="694944"/>
          </a:xfrm>
        </p:grpSpPr>
        <p:sp>
          <p:nvSpPr>
            <p:cNvPr name="Freeform 64" id="64"/>
            <p:cNvSpPr/>
            <p:nvPr/>
          </p:nvSpPr>
          <p:spPr>
            <a:xfrm flipH="false" flipV="false" rot="0">
              <a:off x="0" y="0"/>
              <a:ext cx="2340864" cy="694944"/>
            </a:xfrm>
            <a:custGeom>
              <a:avLst/>
              <a:gdLst/>
              <a:ahLst/>
              <a:cxnLst/>
              <a:rect r="r" b="b" t="t" l="l"/>
              <a:pathLst>
                <a:path h="694944" w="2340864">
                  <a:moveTo>
                    <a:pt x="0" y="0"/>
                  </a:moveTo>
                  <a:lnTo>
                    <a:pt x="2340864" y="0"/>
                  </a:lnTo>
                  <a:lnTo>
                    <a:pt x="2340864" y="694944"/>
                  </a:lnTo>
                  <a:lnTo>
                    <a:pt x="0" y="694944"/>
                  </a:lnTo>
                  <a:close/>
                </a:path>
              </a:pathLst>
            </a:custGeom>
            <a:blipFill>
              <a:blip r:embed="rId4">
                <a:alphaModFix amt="0"/>
              </a:blip>
              <a:stretch>
                <a:fillRect l="0" t="-15633" r="0" b="-15633"/>
              </a:stretch>
            </a:blipFill>
          </p:spPr>
        </p:sp>
        <p:sp>
          <p:nvSpPr>
            <p:cNvPr name="TextBox 65" id="65"/>
            <p:cNvSpPr txBox="true"/>
            <p:nvPr/>
          </p:nvSpPr>
          <p:spPr>
            <a:xfrm>
              <a:off x="0" y="0"/>
              <a:ext cx="2340864" cy="694944"/>
            </a:xfrm>
            <a:prstGeom prst="rect">
              <a:avLst/>
            </a:prstGeom>
          </p:spPr>
          <p:txBody>
            <a:bodyPr anchor="ctr" rtlCol="false" tIns="0" lIns="0" bIns="0" rIns="0"/>
            <a:lstStyle/>
            <a:p>
              <a:pPr algn="l">
                <a:lnSpc>
                  <a:spcPts val="1980"/>
                </a:lnSpc>
              </a:pPr>
              <a:r>
                <a:rPr lang="en-US" sz="1650" b="true">
                  <a:solidFill>
                    <a:srgbClr val="132257"/>
                  </a:solidFill>
                  <a:latin typeface="Exo 2 Bold"/>
                  <a:ea typeface="Exo 2 Bold"/>
                  <a:cs typeface="Exo 2 Bold"/>
                  <a:sym typeface="Exo 2 Bold"/>
                </a:rPr>
                <a:t>4 weeks</a:t>
              </a:r>
            </a:p>
          </p:txBody>
        </p:sp>
      </p:grpSp>
      <p:grpSp>
        <p:nvGrpSpPr>
          <p:cNvPr name="Group 66" id="66"/>
          <p:cNvGrpSpPr/>
          <p:nvPr/>
        </p:nvGrpSpPr>
        <p:grpSpPr>
          <a:xfrm rot="0">
            <a:off x="2900648" y="7989284"/>
            <a:ext cx="3031808" cy="535496"/>
            <a:chOff x="0" y="0"/>
            <a:chExt cx="4042410" cy="713994"/>
          </a:xfrm>
        </p:grpSpPr>
        <p:sp>
          <p:nvSpPr>
            <p:cNvPr name="Freeform 67" id="67"/>
            <p:cNvSpPr/>
            <p:nvPr/>
          </p:nvSpPr>
          <p:spPr>
            <a:xfrm flipH="false" flipV="false" rot="0">
              <a:off x="0" y="0"/>
              <a:ext cx="4042410" cy="713994"/>
            </a:xfrm>
            <a:custGeom>
              <a:avLst/>
              <a:gdLst/>
              <a:ahLst/>
              <a:cxnLst/>
              <a:rect r="r" b="b" t="t" l="l"/>
              <a:pathLst>
                <a:path h="713994" w="4042410">
                  <a:moveTo>
                    <a:pt x="0" y="0"/>
                  </a:moveTo>
                  <a:lnTo>
                    <a:pt x="4042410" y="0"/>
                  </a:lnTo>
                  <a:lnTo>
                    <a:pt x="4042410" y="713994"/>
                  </a:lnTo>
                  <a:lnTo>
                    <a:pt x="0" y="713994"/>
                  </a:lnTo>
                  <a:close/>
                </a:path>
              </a:pathLst>
            </a:custGeom>
            <a:solidFill>
              <a:srgbClr val="EEF1F8"/>
            </a:solidFill>
            <a:ln w="14288" cap="sq">
              <a:solidFill>
                <a:srgbClr val="D9DFEA"/>
              </a:solidFill>
              <a:prstDash val="solid"/>
              <a:miter/>
            </a:ln>
          </p:spPr>
        </p:sp>
      </p:grpSp>
      <p:grpSp>
        <p:nvGrpSpPr>
          <p:cNvPr name="Group 68" id="68"/>
          <p:cNvGrpSpPr/>
          <p:nvPr/>
        </p:nvGrpSpPr>
        <p:grpSpPr>
          <a:xfrm rot="0">
            <a:off x="3072384" y="7996428"/>
            <a:ext cx="2715768" cy="521208"/>
            <a:chOff x="0" y="0"/>
            <a:chExt cx="3621024" cy="694944"/>
          </a:xfrm>
        </p:grpSpPr>
        <p:sp>
          <p:nvSpPr>
            <p:cNvPr name="Freeform 69" id="69"/>
            <p:cNvSpPr/>
            <p:nvPr/>
          </p:nvSpPr>
          <p:spPr>
            <a:xfrm flipH="false" flipV="false" rot="0">
              <a:off x="0" y="0"/>
              <a:ext cx="3621024" cy="694944"/>
            </a:xfrm>
            <a:custGeom>
              <a:avLst/>
              <a:gdLst/>
              <a:ahLst/>
              <a:cxnLst/>
              <a:rect r="r" b="b" t="t" l="l"/>
              <a:pathLst>
                <a:path h="694944" w="3621024">
                  <a:moveTo>
                    <a:pt x="0" y="0"/>
                  </a:moveTo>
                  <a:lnTo>
                    <a:pt x="3621024" y="0"/>
                  </a:lnTo>
                  <a:lnTo>
                    <a:pt x="3621024" y="694944"/>
                  </a:lnTo>
                  <a:lnTo>
                    <a:pt x="0" y="694944"/>
                  </a:lnTo>
                  <a:close/>
                </a:path>
              </a:pathLst>
            </a:custGeom>
            <a:blipFill>
              <a:blip r:embed="rId4">
                <a:alphaModFix amt="0"/>
              </a:blip>
              <a:stretch>
                <a:fillRect l="0" t="-51527" r="0" b="-51527"/>
              </a:stretch>
            </a:blipFill>
          </p:spPr>
        </p:sp>
        <p:sp>
          <p:nvSpPr>
            <p:cNvPr name="TextBox 70" id="70"/>
            <p:cNvSpPr txBox="true"/>
            <p:nvPr/>
          </p:nvSpPr>
          <p:spPr>
            <a:xfrm>
              <a:off x="0" y="0"/>
              <a:ext cx="3621024" cy="694944"/>
            </a:xfrm>
            <a:prstGeom prst="rect">
              <a:avLst/>
            </a:prstGeom>
          </p:spPr>
          <p:txBody>
            <a:bodyPr anchor="ctr" rtlCol="false" tIns="0" lIns="0" bIns="0" rIns="0"/>
            <a:lstStyle/>
            <a:p>
              <a:pPr algn="l">
                <a:lnSpc>
                  <a:spcPts val="1980"/>
                </a:lnSpc>
              </a:pPr>
              <a:r>
                <a:rPr lang="en-US" sz="1650">
                  <a:solidFill>
                    <a:srgbClr val="1F2A44"/>
                  </a:solidFill>
                  <a:latin typeface="Exo 2"/>
                  <a:ea typeface="Exo 2"/>
                  <a:cs typeface="Exo 2"/>
                  <a:sym typeface="Exo 2"/>
                </a:rPr>
                <a:t>USD 32,000</a:t>
              </a:r>
            </a:p>
          </p:txBody>
        </p:sp>
      </p:grpSp>
      <p:grpSp>
        <p:nvGrpSpPr>
          <p:cNvPr name="Group 71" id="71"/>
          <p:cNvGrpSpPr/>
          <p:nvPr/>
        </p:nvGrpSpPr>
        <p:grpSpPr>
          <a:xfrm rot="0">
            <a:off x="5918168" y="7989284"/>
            <a:ext cx="3031808" cy="535496"/>
            <a:chOff x="0" y="0"/>
            <a:chExt cx="4042410" cy="713994"/>
          </a:xfrm>
        </p:grpSpPr>
        <p:sp>
          <p:nvSpPr>
            <p:cNvPr name="Freeform 72" id="72"/>
            <p:cNvSpPr/>
            <p:nvPr/>
          </p:nvSpPr>
          <p:spPr>
            <a:xfrm flipH="false" flipV="false" rot="0">
              <a:off x="0" y="0"/>
              <a:ext cx="4042410" cy="713994"/>
            </a:xfrm>
            <a:custGeom>
              <a:avLst/>
              <a:gdLst/>
              <a:ahLst/>
              <a:cxnLst/>
              <a:rect r="r" b="b" t="t" l="l"/>
              <a:pathLst>
                <a:path h="713994" w="4042410">
                  <a:moveTo>
                    <a:pt x="0" y="0"/>
                  </a:moveTo>
                  <a:lnTo>
                    <a:pt x="4042410" y="0"/>
                  </a:lnTo>
                  <a:lnTo>
                    <a:pt x="4042410" y="713994"/>
                  </a:lnTo>
                  <a:lnTo>
                    <a:pt x="0" y="713994"/>
                  </a:lnTo>
                  <a:close/>
                </a:path>
              </a:pathLst>
            </a:custGeom>
            <a:solidFill>
              <a:srgbClr val="EEF1F8"/>
            </a:solidFill>
            <a:ln w="14288" cap="sq">
              <a:solidFill>
                <a:srgbClr val="D9DFEA"/>
              </a:solidFill>
              <a:prstDash val="solid"/>
              <a:miter/>
            </a:ln>
          </p:spPr>
        </p:sp>
      </p:grpSp>
      <p:grpSp>
        <p:nvGrpSpPr>
          <p:cNvPr name="Group 73" id="73"/>
          <p:cNvGrpSpPr/>
          <p:nvPr/>
        </p:nvGrpSpPr>
        <p:grpSpPr>
          <a:xfrm rot="0">
            <a:off x="6089904" y="7996428"/>
            <a:ext cx="2715768" cy="521208"/>
            <a:chOff x="0" y="0"/>
            <a:chExt cx="3621024" cy="694944"/>
          </a:xfrm>
        </p:grpSpPr>
        <p:sp>
          <p:nvSpPr>
            <p:cNvPr name="Freeform 74" id="74"/>
            <p:cNvSpPr/>
            <p:nvPr/>
          </p:nvSpPr>
          <p:spPr>
            <a:xfrm flipH="false" flipV="false" rot="0">
              <a:off x="0" y="0"/>
              <a:ext cx="3621024" cy="694944"/>
            </a:xfrm>
            <a:custGeom>
              <a:avLst/>
              <a:gdLst/>
              <a:ahLst/>
              <a:cxnLst/>
              <a:rect r="r" b="b" t="t" l="l"/>
              <a:pathLst>
                <a:path h="694944" w="3621024">
                  <a:moveTo>
                    <a:pt x="0" y="0"/>
                  </a:moveTo>
                  <a:lnTo>
                    <a:pt x="3621024" y="0"/>
                  </a:lnTo>
                  <a:lnTo>
                    <a:pt x="3621024" y="694944"/>
                  </a:lnTo>
                  <a:lnTo>
                    <a:pt x="0" y="694944"/>
                  </a:lnTo>
                  <a:close/>
                </a:path>
              </a:pathLst>
            </a:custGeom>
            <a:blipFill>
              <a:blip r:embed="rId4">
                <a:alphaModFix amt="0"/>
              </a:blip>
              <a:stretch>
                <a:fillRect l="0" t="-51527" r="0" b="-51527"/>
              </a:stretch>
            </a:blipFill>
          </p:spPr>
        </p:sp>
        <p:sp>
          <p:nvSpPr>
            <p:cNvPr name="TextBox 75" id="75"/>
            <p:cNvSpPr txBox="true"/>
            <p:nvPr/>
          </p:nvSpPr>
          <p:spPr>
            <a:xfrm>
              <a:off x="0" y="0"/>
              <a:ext cx="3621024" cy="694944"/>
            </a:xfrm>
            <a:prstGeom prst="rect">
              <a:avLst/>
            </a:prstGeom>
          </p:spPr>
          <p:txBody>
            <a:bodyPr anchor="ctr" rtlCol="false" tIns="0" lIns="0" bIns="0" rIns="0"/>
            <a:lstStyle/>
            <a:p>
              <a:pPr algn="l">
                <a:lnSpc>
                  <a:spcPts val="1980"/>
                </a:lnSpc>
              </a:pPr>
              <a:r>
                <a:rPr lang="en-US" sz="1650" b="true">
                  <a:solidFill>
                    <a:srgbClr val="1F2A44"/>
                  </a:solidFill>
                  <a:latin typeface="Exo 2 Bold"/>
                  <a:ea typeface="Exo 2 Bold"/>
                  <a:cs typeface="Exo 2 Bold"/>
                  <a:sym typeface="Exo 2 Bold"/>
                </a:rPr>
                <a:t>USD 27,200</a:t>
              </a:r>
            </a:p>
          </p:txBody>
        </p:sp>
      </p:grpSp>
      <p:grpSp>
        <p:nvGrpSpPr>
          <p:cNvPr name="Group 76" id="76"/>
          <p:cNvGrpSpPr/>
          <p:nvPr/>
        </p:nvGrpSpPr>
        <p:grpSpPr>
          <a:xfrm rot="0">
            <a:off x="8935688" y="7989284"/>
            <a:ext cx="2620328" cy="535496"/>
            <a:chOff x="0" y="0"/>
            <a:chExt cx="3493770" cy="713994"/>
          </a:xfrm>
        </p:grpSpPr>
        <p:sp>
          <p:nvSpPr>
            <p:cNvPr name="Freeform 77" id="77"/>
            <p:cNvSpPr/>
            <p:nvPr/>
          </p:nvSpPr>
          <p:spPr>
            <a:xfrm flipH="false" flipV="false" rot="0">
              <a:off x="0" y="0"/>
              <a:ext cx="3493770" cy="713994"/>
            </a:xfrm>
            <a:custGeom>
              <a:avLst/>
              <a:gdLst/>
              <a:ahLst/>
              <a:cxnLst/>
              <a:rect r="r" b="b" t="t" l="l"/>
              <a:pathLst>
                <a:path h="713994" w="3493770">
                  <a:moveTo>
                    <a:pt x="0" y="0"/>
                  </a:moveTo>
                  <a:lnTo>
                    <a:pt x="3493770" y="0"/>
                  </a:lnTo>
                  <a:lnTo>
                    <a:pt x="3493770" y="713994"/>
                  </a:lnTo>
                  <a:lnTo>
                    <a:pt x="0" y="713994"/>
                  </a:lnTo>
                  <a:close/>
                </a:path>
              </a:pathLst>
            </a:custGeom>
            <a:solidFill>
              <a:srgbClr val="EEF1F8"/>
            </a:solidFill>
            <a:ln w="14288" cap="sq">
              <a:solidFill>
                <a:srgbClr val="D9DFEA"/>
              </a:solidFill>
              <a:prstDash val="solid"/>
              <a:miter/>
            </a:ln>
          </p:spPr>
        </p:sp>
      </p:grpSp>
      <p:grpSp>
        <p:nvGrpSpPr>
          <p:cNvPr name="Group 78" id="78"/>
          <p:cNvGrpSpPr/>
          <p:nvPr/>
        </p:nvGrpSpPr>
        <p:grpSpPr>
          <a:xfrm rot="0">
            <a:off x="9107424" y="7996428"/>
            <a:ext cx="2304288" cy="521208"/>
            <a:chOff x="0" y="0"/>
            <a:chExt cx="3072384" cy="694944"/>
          </a:xfrm>
        </p:grpSpPr>
        <p:sp>
          <p:nvSpPr>
            <p:cNvPr name="Freeform 79" id="79"/>
            <p:cNvSpPr/>
            <p:nvPr/>
          </p:nvSpPr>
          <p:spPr>
            <a:xfrm flipH="false" flipV="false" rot="0">
              <a:off x="0" y="0"/>
              <a:ext cx="3072384" cy="694944"/>
            </a:xfrm>
            <a:custGeom>
              <a:avLst/>
              <a:gdLst/>
              <a:ahLst/>
              <a:cxnLst/>
              <a:rect r="r" b="b" t="t" l="l"/>
              <a:pathLst>
                <a:path h="694944" w="3072384">
                  <a:moveTo>
                    <a:pt x="0" y="0"/>
                  </a:moveTo>
                  <a:lnTo>
                    <a:pt x="3072384" y="0"/>
                  </a:lnTo>
                  <a:lnTo>
                    <a:pt x="3072384" y="694944"/>
                  </a:lnTo>
                  <a:lnTo>
                    <a:pt x="0" y="694944"/>
                  </a:lnTo>
                  <a:close/>
                </a:path>
              </a:pathLst>
            </a:custGeom>
            <a:blipFill>
              <a:blip r:embed="rId4">
                <a:alphaModFix amt="0"/>
              </a:blip>
              <a:stretch>
                <a:fillRect l="0" t="-36144" r="0" b="-36144"/>
              </a:stretch>
            </a:blipFill>
          </p:spPr>
        </p:sp>
        <p:sp>
          <p:nvSpPr>
            <p:cNvPr name="TextBox 80" id="80"/>
            <p:cNvSpPr txBox="true"/>
            <p:nvPr/>
          </p:nvSpPr>
          <p:spPr>
            <a:xfrm>
              <a:off x="0" y="0"/>
              <a:ext cx="3072384" cy="694944"/>
            </a:xfrm>
            <a:prstGeom prst="rect">
              <a:avLst/>
            </a:prstGeom>
          </p:spPr>
          <p:txBody>
            <a:bodyPr anchor="ctr" rtlCol="false" tIns="0" lIns="0" bIns="0" rIns="0"/>
            <a:lstStyle/>
            <a:p>
              <a:pPr algn="l">
                <a:lnSpc>
                  <a:spcPts val="1980"/>
                </a:lnSpc>
              </a:pPr>
              <a:r>
                <a:rPr lang="en-US" sz="1650">
                  <a:solidFill>
                    <a:srgbClr val="1F2A44"/>
                  </a:solidFill>
                  <a:latin typeface="Exo 2"/>
                  <a:ea typeface="Exo 2"/>
                  <a:cs typeface="Exo 2"/>
                  <a:sym typeface="Exo 2"/>
                </a:rPr>
                <a:t>1.67M</a:t>
              </a:r>
            </a:p>
          </p:txBody>
        </p:sp>
      </p:grpSp>
      <p:grpSp>
        <p:nvGrpSpPr>
          <p:cNvPr name="Group 81" id="81"/>
          <p:cNvGrpSpPr/>
          <p:nvPr/>
        </p:nvGrpSpPr>
        <p:grpSpPr>
          <a:xfrm rot="0">
            <a:off x="843248" y="8510492"/>
            <a:ext cx="2071688" cy="535496"/>
            <a:chOff x="0" y="0"/>
            <a:chExt cx="2762250" cy="713994"/>
          </a:xfrm>
        </p:grpSpPr>
        <p:sp>
          <p:nvSpPr>
            <p:cNvPr name="Freeform 82" id="82"/>
            <p:cNvSpPr/>
            <p:nvPr/>
          </p:nvSpPr>
          <p:spPr>
            <a:xfrm flipH="false" flipV="false" rot="0">
              <a:off x="0" y="0"/>
              <a:ext cx="2762250" cy="713994"/>
            </a:xfrm>
            <a:custGeom>
              <a:avLst/>
              <a:gdLst/>
              <a:ahLst/>
              <a:cxnLst/>
              <a:rect r="r" b="b" t="t" l="l"/>
              <a:pathLst>
                <a:path h="713994" w="2762250">
                  <a:moveTo>
                    <a:pt x="0" y="0"/>
                  </a:moveTo>
                  <a:lnTo>
                    <a:pt x="2762250" y="0"/>
                  </a:lnTo>
                  <a:lnTo>
                    <a:pt x="2762250" y="713994"/>
                  </a:lnTo>
                  <a:lnTo>
                    <a:pt x="0" y="713994"/>
                  </a:lnTo>
                  <a:close/>
                </a:path>
              </a:pathLst>
            </a:custGeom>
            <a:solidFill>
              <a:srgbClr val="FFFFFF"/>
            </a:solidFill>
            <a:ln w="14288" cap="sq">
              <a:solidFill>
                <a:srgbClr val="D9DFEA"/>
              </a:solidFill>
              <a:prstDash val="solid"/>
              <a:miter/>
            </a:ln>
          </p:spPr>
        </p:sp>
      </p:grpSp>
      <p:grpSp>
        <p:nvGrpSpPr>
          <p:cNvPr name="Group 83" id="83"/>
          <p:cNvGrpSpPr/>
          <p:nvPr/>
        </p:nvGrpSpPr>
        <p:grpSpPr>
          <a:xfrm rot="0">
            <a:off x="1014984" y="8517636"/>
            <a:ext cx="1755648" cy="521208"/>
            <a:chOff x="0" y="0"/>
            <a:chExt cx="2340864" cy="694944"/>
          </a:xfrm>
        </p:grpSpPr>
        <p:sp>
          <p:nvSpPr>
            <p:cNvPr name="Freeform 84" id="84"/>
            <p:cNvSpPr/>
            <p:nvPr/>
          </p:nvSpPr>
          <p:spPr>
            <a:xfrm flipH="false" flipV="false" rot="0">
              <a:off x="0" y="0"/>
              <a:ext cx="2340864" cy="694944"/>
            </a:xfrm>
            <a:custGeom>
              <a:avLst/>
              <a:gdLst/>
              <a:ahLst/>
              <a:cxnLst/>
              <a:rect r="r" b="b" t="t" l="l"/>
              <a:pathLst>
                <a:path h="694944" w="2340864">
                  <a:moveTo>
                    <a:pt x="0" y="0"/>
                  </a:moveTo>
                  <a:lnTo>
                    <a:pt x="2340864" y="0"/>
                  </a:lnTo>
                  <a:lnTo>
                    <a:pt x="2340864" y="694944"/>
                  </a:lnTo>
                  <a:lnTo>
                    <a:pt x="0" y="694944"/>
                  </a:lnTo>
                  <a:close/>
                </a:path>
              </a:pathLst>
            </a:custGeom>
            <a:blipFill>
              <a:blip r:embed="rId4">
                <a:alphaModFix amt="0"/>
              </a:blip>
              <a:stretch>
                <a:fillRect l="0" t="-15633" r="0" b="-15633"/>
              </a:stretch>
            </a:blipFill>
          </p:spPr>
        </p:sp>
        <p:sp>
          <p:nvSpPr>
            <p:cNvPr name="TextBox 85" id="85"/>
            <p:cNvSpPr txBox="true"/>
            <p:nvPr/>
          </p:nvSpPr>
          <p:spPr>
            <a:xfrm>
              <a:off x="0" y="0"/>
              <a:ext cx="2340864" cy="694944"/>
            </a:xfrm>
            <a:prstGeom prst="rect">
              <a:avLst/>
            </a:prstGeom>
          </p:spPr>
          <p:txBody>
            <a:bodyPr anchor="ctr" rtlCol="false" tIns="0" lIns="0" bIns="0" rIns="0"/>
            <a:lstStyle/>
            <a:p>
              <a:pPr algn="l">
                <a:lnSpc>
                  <a:spcPts val="1980"/>
                </a:lnSpc>
              </a:pPr>
              <a:r>
                <a:rPr lang="en-US" sz="1650" b="true">
                  <a:solidFill>
                    <a:srgbClr val="132257"/>
                  </a:solidFill>
                  <a:latin typeface="Exo 2 Bold"/>
                  <a:ea typeface="Exo 2 Bold"/>
                  <a:cs typeface="Exo 2 Bold"/>
                  <a:sym typeface="Exo 2 Bold"/>
                </a:rPr>
                <a:t>8 weeks</a:t>
              </a:r>
            </a:p>
          </p:txBody>
        </p:sp>
      </p:grpSp>
      <p:grpSp>
        <p:nvGrpSpPr>
          <p:cNvPr name="Group 86" id="86"/>
          <p:cNvGrpSpPr/>
          <p:nvPr/>
        </p:nvGrpSpPr>
        <p:grpSpPr>
          <a:xfrm rot="0">
            <a:off x="2900648" y="8510492"/>
            <a:ext cx="3031808" cy="535496"/>
            <a:chOff x="0" y="0"/>
            <a:chExt cx="4042410" cy="713994"/>
          </a:xfrm>
        </p:grpSpPr>
        <p:sp>
          <p:nvSpPr>
            <p:cNvPr name="Freeform 87" id="87"/>
            <p:cNvSpPr/>
            <p:nvPr/>
          </p:nvSpPr>
          <p:spPr>
            <a:xfrm flipH="false" flipV="false" rot="0">
              <a:off x="0" y="0"/>
              <a:ext cx="4042410" cy="713994"/>
            </a:xfrm>
            <a:custGeom>
              <a:avLst/>
              <a:gdLst/>
              <a:ahLst/>
              <a:cxnLst/>
              <a:rect r="r" b="b" t="t" l="l"/>
              <a:pathLst>
                <a:path h="713994" w="4042410">
                  <a:moveTo>
                    <a:pt x="0" y="0"/>
                  </a:moveTo>
                  <a:lnTo>
                    <a:pt x="4042410" y="0"/>
                  </a:lnTo>
                  <a:lnTo>
                    <a:pt x="4042410" y="713994"/>
                  </a:lnTo>
                  <a:lnTo>
                    <a:pt x="0" y="713994"/>
                  </a:lnTo>
                  <a:close/>
                </a:path>
              </a:pathLst>
            </a:custGeom>
            <a:solidFill>
              <a:srgbClr val="FFFFFF"/>
            </a:solidFill>
            <a:ln w="14288" cap="sq">
              <a:solidFill>
                <a:srgbClr val="D9DFEA"/>
              </a:solidFill>
              <a:prstDash val="solid"/>
              <a:miter/>
            </a:ln>
          </p:spPr>
        </p:sp>
      </p:grpSp>
      <p:grpSp>
        <p:nvGrpSpPr>
          <p:cNvPr name="Group 88" id="88"/>
          <p:cNvGrpSpPr/>
          <p:nvPr/>
        </p:nvGrpSpPr>
        <p:grpSpPr>
          <a:xfrm rot="0">
            <a:off x="3072384" y="8517636"/>
            <a:ext cx="2715768" cy="521208"/>
            <a:chOff x="0" y="0"/>
            <a:chExt cx="3621024" cy="694944"/>
          </a:xfrm>
        </p:grpSpPr>
        <p:sp>
          <p:nvSpPr>
            <p:cNvPr name="Freeform 89" id="89"/>
            <p:cNvSpPr/>
            <p:nvPr/>
          </p:nvSpPr>
          <p:spPr>
            <a:xfrm flipH="false" flipV="false" rot="0">
              <a:off x="0" y="0"/>
              <a:ext cx="3621024" cy="694944"/>
            </a:xfrm>
            <a:custGeom>
              <a:avLst/>
              <a:gdLst/>
              <a:ahLst/>
              <a:cxnLst/>
              <a:rect r="r" b="b" t="t" l="l"/>
              <a:pathLst>
                <a:path h="694944" w="3621024">
                  <a:moveTo>
                    <a:pt x="0" y="0"/>
                  </a:moveTo>
                  <a:lnTo>
                    <a:pt x="3621024" y="0"/>
                  </a:lnTo>
                  <a:lnTo>
                    <a:pt x="3621024" y="694944"/>
                  </a:lnTo>
                  <a:lnTo>
                    <a:pt x="0" y="694944"/>
                  </a:lnTo>
                  <a:close/>
                </a:path>
              </a:pathLst>
            </a:custGeom>
            <a:blipFill>
              <a:blip r:embed="rId4">
                <a:alphaModFix amt="0"/>
              </a:blip>
              <a:stretch>
                <a:fillRect l="0" t="-51527" r="0" b="-51527"/>
              </a:stretch>
            </a:blipFill>
          </p:spPr>
        </p:sp>
        <p:sp>
          <p:nvSpPr>
            <p:cNvPr name="TextBox 90" id="90"/>
            <p:cNvSpPr txBox="true"/>
            <p:nvPr/>
          </p:nvSpPr>
          <p:spPr>
            <a:xfrm>
              <a:off x="0" y="0"/>
              <a:ext cx="3621024" cy="694944"/>
            </a:xfrm>
            <a:prstGeom prst="rect">
              <a:avLst/>
            </a:prstGeom>
          </p:spPr>
          <p:txBody>
            <a:bodyPr anchor="ctr" rtlCol="false" tIns="0" lIns="0" bIns="0" rIns="0"/>
            <a:lstStyle/>
            <a:p>
              <a:pPr algn="l">
                <a:lnSpc>
                  <a:spcPts val="1980"/>
                </a:lnSpc>
              </a:pPr>
              <a:r>
                <a:rPr lang="en-US" sz="1650">
                  <a:solidFill>
                    <a:srgbClr val="1F2A44"/>
                  </a:solidFill>
                  <a:latin typeface="Exo 2"/>
                  <a:ea typeface="Exo 2"/>
                  <a:cs typeface="Exo 2"/>
                  <a:sym typeface="Exo 2"/>
                </a:rPr>
                <a:t>USD 64,000</a:t>
              </a:r>
            </a:p>
          </p:txBody>
        </p:sp>
      </p:grpSp>
      <p:grpSp>
        <p:nvGrpSpPr>
          <p:cNvPr name="Group 91" id="91"/>
          <p:cNvGrpSpPr/>
          <p:nvPr/>
        </p:nvGrpSpPr>
        <p:grpSpPr>
          <a:xfrm rot="0">
            <a:off x="5918168" y="8510492"/>
            <a:ext cx="3031808" cy="535496"/>
            <a:chOff x="0" y="0"/>
            <a:chExt cx="4042410" cy="713994"/>
          </a:xfrm>
        </p:grpSpPr>
        <p:sp>
          <p:nvSpPr>
            <p:cNvPr name="Freeform 92" id="92"/>
            <p:cNvSpPr/>
            <p:nvPr/>
          </p:nvSpPr>
          <p:spPr>
            <a:xfrm flipH="false" flipV="false" rot="0">
              <a:off x="0" y="0"/>
              <a:ext cx="4042410" cy="713994"/>
            </a:xfrm>
            <a:custGeom>
              <a:avLst/>
              <a:gdLst/>
              <a:ahLst/>
              <a:cxnLst/>
              <a:rect r="r" b="b" t="t" l="l"/>
              <a:pathLst>
                <a:path h="713994" w="4042410">
                  <a:moveTo>
                    <a:pt x="0" y="0"/>
                  </a:moveTo>
                  <a:lnTo>
                    <a:pt x="4042410" y="0"/>
                  </a:lnTo>
                  <a:lnTo>
                    <a:pt x="4042410" y="713994"/>
                  </a:lnTo>
                  <a:lnTo>
                    <a:pt x="0" y="713994"/>
                  </a:lnTo>
                  <a:close/>
                </a:path>
              </a:pathLst>
            </a:custGeom>
            <a:solidFill>
              <a:srgbClr val="FFFFFF"/>
            </a:solidFill>
            <a:ln w="14288" cap="sq">
              <a:solidFill>
                <a:srgbClr val="D9DFEA"/>
              </a:solidFill>
              <a:prstDash val="solid"/>
              <a:miter/>
            </a:ln>
          </p:spPr>
        </p:sp>
      </p:grpSp>
      <p:grpSp>
        <p:nvGrpSpPr>
          <p:cNvPr name="Group 93" id="93"/>
          <p:cNvGrpSpPr/>
          <p:nvPr/>
        </p:nvGrpSpPr>
        <p:grpSpPr>
          <a:xfrm rot="0">
            <a:off x="6089904" y="8517636"/>
            <a:ext cx="2715768" cy="521208"/>
            <a:chOff x="0" y="0"/>
            <a:chExt cx="3621024" cy="694944"/>
          </a:xfrm>
        </p:grpSpPr>
        <p:sp>
          <p:nvSpPr>
            <p:cNvPr name="Freeform 94" id="94"/>
            <p:cNvSpPr/>
            <p:nvPr/>
          </p:nvSpPr>
          <p:spPr>
            <a:xfrm flipH="false" flipV="false" rot="0">
              <a:off x="0" y="0"/>
              <a:ext cx="3621024" cy="694944"/>
            </a:xfrm>
            <a:custGeom>
              <a:avLst/>
              <a:gdLst/>
              <a:ahLst/>
              <a:cxnLst/>
              <a:rect r="r" b="b" t="t" l="l"/>
              <a:pathLst>
                <a:path h="694944" w="3621024">
                  <a:moveTo>
                    <a:pt x="0" y="0"/>
                  </a:moveTo>
                  <a:lnTo>
                    <a:pt x="3621024" y="0"/>
                  </a:lnTo>
                  <a:lnTo>
                    <a:pt x="3621024" y="694944"/>
                  </a:lnTo>
                  <a:lnTo>
                    <a:pt x="0" y="694944"/>
                  </a:lnTo>
                  <a:close/>
                </a:path>
              </a:pathLst>
            </a:custGeom>
            <a:blipFill>
              <a:blip r:embed="rId4">
                <a:alphaModFix amt="0"/>
              </a:blip>
              <a:stretch>
                <a:fillRect l="0" t="-51527" r="0" b="-51527"/>
              </a:stretch>
            </a:blipFill>
          </p:spPr>
        </p:sp>
        <p:sp>
          <p:nvSpPr>
            <p:cNvPr name="TextBox 95" id="95"/>
            <p:cNvSpPr txBox="true"/>
            <p:nvPr/>
          </p:nvSpPr>
          <p:spPr>
            <a:xfrm>
              <a:off x="0" y="0"/>
              <a:ext cx="3621024" cy="694944"/>
            </a:xfrm>
            <a:prstGeom prst="rect">
              <a:avLst/>
            </a:prstGeom>
          </p:spPr>
          <p:txBody>
            <a:bodyPr anchor="ctr" rtlCol="false" tIns="0" lIns="0" bIns="0" rIns="0"/>
            <a:lstStyle/>
            <a:p>
              <a:pPr algn="l">
                <a:lnSpc>
                  <a:spcPts val="1980"/>
                </a:lnSpc>
              </a:pPr>
              <a:r>
                <a:rPr lang="en-US" sz="1650" b="true">
                  <a:solidFill>
                    <a:srgbClr val="9A7B1F"/>
                  </a:solidFill>
                  <a:latin typeface="Exo 2 Bold"/>
                  <a:ea typeface="Exo 2 Bold"/>
                  <a:cs typeface="Exo 2 Bold"/>
                  <a:sym typeface="Exo 2 Bold"/>
                </a:rPr>
                <a:t>USD 44,800</a:t>
              </a:r>
            </a:p>
          </p:txBody>
        </p:sp>
      </p:grpSp>
      <p:grpSp>
        <p:nvGrpSpPr>
          <p:cNvPr name="Group 96" id="96"/>
          <p:cNvGrpSpPr/>
          <p:nvPr/>
        </p:nvGrpSpPr>
        <p:grpSpPr>
          <a:xfrm rot="0">
            <a:off x="8935688" y="8510492"/>
            <a:ext cx="2620328" cy="535496"/>
            <a:chOff x="0" y="0"/>
            <a:chExt cx="3493770" cy="713994"/>
          </a:xfrm>
        </p:grpSpPr>
        <p:sp>
          <p:nvSpPr>
            <p:cNvPr name="Freeform 97" id="97"/>
            <p:cNvSpPr/>
            <p:nvPr/>
          </p:nvSpPr>
          <p:spPr>
            <a:xfrm flipH="false" flipV="false" rot="0">
              <a:off x="0" y="0"/>
              <a:ext cx="3493770" cy="713994"/>
            </a:xfrm>
            <a:custGeom>
              <a:avLst/>
              <a:gdLst/>
              <a:ahLst/>
              <a:cxnLst/>
              <a:rect r="r" b="b" t="t" l="l"/>
              <a:pathLst>
                <a:path h="713994" w="3493770">
                  <a:moveTo>
                    <a:pt x="0" y="0"/>
                  </a:moveTo>
                  <a:lnTo>
                    <a:pt x="3493770" y="0"/>
                  </a:lnTo>
                  <a:lnTo>
                    <a:pt x="3493770" y="713994"/>
                  </a:lnTo>
                  <a:lnTo>
                    <a:pt x="0" y="713994"/>
                  </a:lnTo>
                  <a:close/>
                </a:path>
              </a:pathLst>
            </a:custGeom>
            <a:solidFill>
              <a:srgbClr val="FFFFFF"/>
            </a:solidFill>
            <a:ln w="14288" cap="sq">
              <a:solidFill>
                <a:srgbClr val="D9DFEA"/>
              </a:solidFill>
              <a:prstDash val="solid"/>
              <a:miter/>
            </a:ln>
          </p:spPr>
        </p:sp>
      </p:grpSp>
      <p:grpSp>
        <p:nvGrpSpPr>
          <p:cNvPr name="Group 98" id="98"/>
          <p:cNvGrpSpPr/>
          <p:nvPr/>
        </p:nvGrpSpPr>
        <p:grpSpPr>
          <a:xfrm rot="0">
            <a:off x="9107424" y="8517636"/>
            <a:ext cx="2304288" cy="521208"/>
            <a:chOff x="0" y="0"/>
            <a:chExt cx="3072384" cy="694944"/>
          </a:xfrm>
        </p:grpSpPr>
        <p:sp>
          <p:nvSpPr>
            <p:cNvPr name="Freeform 99" id="99"/>
            <p:cNvSpPr/>
            <p:nvPr/>
          </p:nvSpPr>
          <p:spPr>
            <a:xfrm flipH="false" flipV="false" rot="0">
              <a:off x="0" y="0"/>
              <a:ext cx="3072384" cy="694944"/>
            </a:xfrm>
            <a:custGeom>
              <a:avLst/>
              <a:gdLst/>
              <a:ahLst/>
              <a:cxnLst/>
              <a:rect r="r" b="b" t="t" l="l"/>
              <a:pathLst>
                <a:path h="694944" w="3072384">
                  <a:moveTo>
                    <a:pt x="0" y="0"/>
                  </a:moveTo>
                  <a:lnTo>
                    <a:pt x="3072384" y="0"/>
                  </a:lnTo>
                  <a:lnTo>
                    <a:pt x="3072384" y="694944"/>
                  </a:lnTo>
                  <a:lnTo>
                    <a:pt x="0" y="694944"/>
                  </a:lnTo>
                  <a:close/>
                </a:path>
              </a:pathLst>
            </a:custGeom>
            <a:blipFill>
              <a:blip r:embed="rId4">
                <a:alphaModFix amt="0"/>
              </a:blip>
              <a:stretch>
                <a:fillRect l="0" t="-36144" r="0" b="-36144"/>
              </a:stretch>
            </a:blipFill>
          </p:spPr>
        </p:sp>
        <p:sp>
          <p:nvSpPr>
            <p:cNvPr name="TextBox 100" id="100"/>
            <p:cNvSpPr txBox="true"/>
            <p:nvPr/>
          </p:nvSpPr>
          <p:spPr>
            <a:xfrm>
              <a:off x="0" y="0"/>
              <a:ext cx="3072384" cy="694944"/>
            </a:xfrm>
            <a:prstGeom prst="rect">
              <a:avLst/>
            </a:prstGeom>
          </p:spPr>
          <p:txBody>
            <a:bodyPr anchor="ctr" rtlCol="false" tIns="0" lIns="0" bIns="0" rIns="0"/>
            <a:lstStyle/>
            <a:p>
              <a:pPr algn="l">
                <a:lnSpc>
                  <a:spcPts val="1980"/>
                </a:lnSpc>
              </a:pPr>
              <a:r>
                <a:rPr lang="en-US" sz="1650">
                  <a:solidFill>
                    <a:srgbClr val="1F2A44"/>
                  </a:solidFill>
                  <a:latin typeface="Exo 2"/>
                  <a:ea typeface="Exo 2"/>
                  <a:cs typeface="Exo 2"/>
                  <a:sym typeface="Exo 2"/>
                </a:rPr>
                <a:t>3.35M</a:t>
              </a:r>
            </a:p>
          </p:txBody>
        </p:sp>
      </p:grpSp>
      <p:grpSp>
        <p:nvGrpSpPr>
          <p:cNvPr name="Group 101" id="101"/>
          <p:cNvGrpSpPr/>
          <p:nvPr/>
        </p:nvGrpSpPr>
        <p:grpSpPr>
          <a:xfrm rot="0">
            <a:off x="843248" y="9031700"/>
            <a:ext cx="2071688" cy="535496"/>
            <a:chOff x="0" y="0"/>
            <a:chExt cx="2762250" cy="713994"/>
          </a:xfrm>
        </p:grpSpPr>
        <p:sp>
          <p:nvSpPr>
            <p:cNvPr name="Freeform 102" id="102"/>
            <p:cNvSpPr/>
            <p:nvPr/>
          </p:nvSpPr>
          <p:spPr>
            <a:xfrm flipH="false" flipV="false" rot="0">
              <a:off x="0" y="0"/>
              <a:ext cx="2762250" cy="713994"/>
            </a:xfrm>
            <a:custGeom>
              <a:avLst/>
              <a:gdLst/>
              <a:ahLst/>
              <a:cxnLst/>
              <a:rect r="r" b="b" t="t" l="l"/>
              <a:pathLst>
                <a:path h="713994" w="2762250">
                  <a:moveTo>
                    <a:pt x="0" y="0"/>
                  </a:moveTo>
                  <a:lnTo>
                    <a:pt x="2762250" y="0"/>
                  </a:lnTo>
                  <a:lnTo>
                    <a:pt x="2762250" y="713994"/>
                  </a:lnTo>
                  <a:lnTo>
                    <a:pt x="0" y="713994"/>
                  </a:lnTo>
                  <a:close/>
                </a:path>
              </a:pathLst>
            </a:custGeom>
            <a:solidFill>
              <a:srgbClr val="EEF1F8"/>
            </a:solidFill>
            <a:ln w="14288" cap="sq">
              <a:solidFill>
                <a:srgbClr val="D9DFEA"/>
              </a:solidFill>
              <a:prstDash val="solid"/>
              <a:miter/>
            </a:ln>
          </p:spPr>
        </p:sp>
      </p:grpSp>
      <p:grpSp>
        <p:nvGrpSpPr>
          <p:cNvPr name="Group 103" id="103"/>
          <p:cNvGrpSpPr/>
          <p:nvPr/>
        </p:nvGrpSpPr>
        <p:grpSpPr>
          <a:xfrm rot="0">
            <a:off x="1014984" y="9038844"/>
            <a:ext cx="1755648" cy="521208"/>
            <a:chOff x="0" y="0"/>
            <a:chExt cx="2340864" cy="694944"/>
          </a:xfrm>
        </p:grpSpPr>
        <p:sp>
          <p:nvSpPr>
            <p:cNvPr name="Freeform 104" id="104"/>
            <p:cNvSpPr/>
            <p:nvPr/>
          </p:nvSpPr>
          <p:spPr>
            <a:xfrm flipH="false" flipV="false" rot="0">
              <a:off x="0" y="0"/>
              <a:ext cx="2340864" cy="694944"/>
            </a:xfrm>
            <a:custGeom>
              <a:avLst/>
              <a:gdLst/>
              <a:ahLst/>
              <a:cxnLst/>
              <a:rect r="r" b="b" t="t" l="l"/>
              <a:pathLst>
                <a:path h="694944" w="2340864">
                  <a:moveTo>
                    <a:pt x="0" y="0"/>
                  </a:moveTo>
                  <a:lnTo>
                    <a:pt x="2340864" y="0"/>
                  </a:lnTo>
                  <a:lnTo>
                    <a:pt x="2340864" y="694944"/>
                  </a:lnTo>
                  <a:lnTo>
                    <a:pt x="0" y="694944"/>
                  </a:lnTo>
                  <a:close/>
                </a:path>
              </a:pathLst>
            </a:custGeom>
            <a:blipFill>
              <a:blip r:embed="rId4">
                <a:alphaModFix amt="0"/>
              </a:blip>
              <a:stretch>
                <a:fillRect l="0" t="-15633" r="0" b="-15633"/>
              </a:stretch>
            </a:blipFill>
          </p:spPr>
        </p:sp>
        <p:sp>
          <p:nvSpPr>
            <p:cNvPr name="TextBox 105" id="105"/>
            <p:cNvSpPr txBox="true"/>
            <p:nvPr/>
          </p:nvSpPr>
          <p:spPr>
            <a:xfrm>
              <a:off x="0" y="0"/>
              <a:ext cx="2340864" cy="694944"/>
            </a:xfrm>
            <a:prstGeom prst="rect">
              <a:avLst/>
            </a:prstGeom>
          </p:spPr>
          <p:txBody>
            <a:bodyPr anchor="ctr" rtlCol="false" tIns="0" lIns="0" bIns="0" rIns="0"/>
            <a:lstStyle/>
            <a:p>
              <a:pPr algn="l">
                <a:lnSpc>
                  <a:spcPts val="1980"/>
                </a:lnSpc>
              </a:pPr>
              <a:r>
                <a:rPr lang="en-US" sz="1650" b="true">
                  <a:solidFill>
                    <a:srgbClr val="132257"/>
                  </a:solidFill>
                  <a:latin typeface="Exo 2 Bold"/>
                  <a:ea typeface="Exo 2 Bold"/>
                  <a:cs typeface="Exo 2 Bold"/>
                  <a:sym typeface="Exo 2 Bold"/>
                </a:rPr>
                <a:t>12 weeks</a:t>
              </a:r>
            </a:p>
          </p:txBody>
        </p:sp>
      </p:grpSp>
      <p:grpSp>
        <p:nvGrpSpPr>
          <p:cNvPr name="Group 106" id="106"/>
          <p:cNvGrpSpPr/>
          <p:nvPr/>
        </p:nvGrpSpPr>
        <p:grpSpPr>
          <a:xfrm rot="0">
            <a:off x="2900648" y="9031700"/>
            <a:ext cx="3031808" cy="535496"/>
            <a:chOff x="0" y="0"/>
            <a:chExt cx="4042410" cy="713994"/>
          </a:xfrm>
        </p:grpSpPr>
        <p:sp>
          <p:nvSpPr>
            <p:cNvPr name="Freeform 107" id="107"/>
            <p:cNvSpPr/>
            <p:nvPr/>
          </p:nvSpPr>
          <p:spPr>
            <a:xfrm flipH="false" flipV="false" rot="0">
              <a:off x="0" y="0"/>
              <a:ext cx="4042410" cy="713994"/>
            </a:xfrm>
            <a:custGeom>
              <a:avLst/>
              <a:gdLst/>
              <a:ahLst/>
              <a:cxnLst/>
              <a:rect r="r" b="b" t="t" l="l"/>
              <a:pathLst>
                <a:path h="713994" w="4042410">
                  <a:moveTo>
                    <a:pt x="0" y="0"/>
                  </a:moveTo>
                  <a:lnTo>
                    <a:pt x="4042410" y="0"/>
                  </a:lnTo>
                  <a:lnTo>
                    <a:pt x="4042410" y="713994"/>
                  </a:lnTo>
                  <a:lnTo>
                    <a:pt x="0" y="713994"/>
                  </a:lnTo>
                  <a:close/>
                </a:path>
              </a:pathLst>
            </a:custGeom>
            <a:solidFill>
              <a:srgbClr val="EEF1F8"/>
            </a:solidFill>
            <a:ln w="14288" cap="sq">
              <a:solidFill>
                <a:srgbClr val="D9DFEA"/>
              </a:solidFill>
              <a:prstDash val="solid"/>
              <a:miter/>
            </a:ln>
          </p:spPr>
        </p:sp>
      </p:grpSp>
      <p:grpSp>
        <p:nvGrpSpPr>
          <p:cNvPr name="Group 108" id="108"/>
          <p:cNvGrpSpPr/>
          <p:nvPr/>
        </p:nvGrpSpPr>
        <p:grpSpPr>
          <a:xfrm rot="0">
            <a:off x="3072384" y="9038844"/>
            <a:ext cx="2715768" cy="521208"/>
            <a:chOff x="0" y="0"/>
            <a:chExt cx="3621024" cy="694944"/>
          </a:xfrm>
        </p:grpSpPr>
        <p:sp>
          <p:nvSpPr>
            <p:cNvPr name="Freeform 109" id="109"/>
            <p:cNvSpPr/>
            <p:nvPr/>
          </p:nvSpPr>
          <p:spPr>
            <a:xfrm flipH="false" flipV="false" rot="0">
              <a:off x="0" y="0"/>
              <a:ext cx="3621024" cy="694944"/>
            </a:xfrm>
            <a:custGeom>
              <a:avLst/>
              <a:gdLst/>
              <a:ahLst/>
              <a:cxnLst/>
              <a:rect r="r" b="b" t="t" l="l"/>
              <a:pathLst>
                <a:path h="694944" w="3621024">
                  <a:moveTo>
                    <a:pt x="0" y="0"/>
                  </a:moveTo>
                  <a:lnTo>
                    <a:pt x="3621024" y="0"/>
                  </a:lnTo>
                  <a:lnTo>
                    <a:pt x="3621024" y="694944"/>
                  </a:lnTo>
                  <a:lnTo>
                    <a:pt x="0" y="694944"/>
                  </a:lnTo>
                  <a:close/>
                </a:path>
              </a:pathLst>
            </a:custGeom>
            <a:blipFill>
              <a:blip r:embed="rId4">
                <a:alphaModFix amt="0"/>
              </a:blip>
              <a:stretch>
                <a:fillRect l="0" t="-51527" r="0" b="-51527"/>
              </a:stretch>
            </a:blipFill>
          </p:spPr>
        </p:sp>
        <p:sp>
          <p:nvSpPr>
            <p:cNvPr name="TextBox 110" id="110"/>
            <p:cNvSpPr txBox="true"/>
            <p:nvPr/>
          </p:nvSpPr>
          <p:spPr>
            <a:xfrm>
              <a:off x="0" y="0"/>
              <a:ext cx="3621024" cy="694944"/>
            </a:xfrm>
            <a:prstGeom prst="rect">
              <a:avLst/>
            </a:prstGeom>
          </p:spPr>
          <p:txBody>
            <a:bodyPr anchor="ctr" rtlCol="false" tIns="0" lIns="0" bIns="0" rIns="0"/>
            <a:lstStyle/>
            <a:p>
              <a:pPr algn="l">
                <a:lnSpc>
                  <a:spcPts val="1980"/>
                </a:lnSpc>
              </a:pPr>
              <a:r>
                <a:rPr lang="en-US" sz="1650">
                  <a:solidFill>
                    <a:srgbClr val="1F2A44"/>
                  </a:solidFill>
                  <a:latin typeface="Exo 2"/>
                  <a:ea typeface="Exo 2"/>
                  <a:cs typeface="Exo 2"/>
                  <a:sym typeface="Exo 2"/>
                </a:rPr>
                <a:t>USD 96,000</a:t>
              </a:r>
            </a:p>
          </p:txBody>
        </p:sp>
      </p:grpSp>
      <p:grpSp>
        <p:nvGrpSpPr>
          <p:cNvPr name="Group 111" id="111"/>
          <p:cNvGrpSpPr/>
          <p:nvPr/>
        </p:nvGrpSpPr>
        <p:grpSpPr>
          <a:xfrm rot="0">
            <a:off x="5918168" y="9031700"/>
            <a:ext cx="3031808" cy="535496"/>
            <a:chOff x="0" y="0"/>
            <a:chExt cx="4042410" cy="713994"/>
          </a:xfrm>
        </p:grpSpPr>
        <p:sp>
          <p:nvSpPr>
            <p:cNvPr name="Freeform 112" id="112"/>
            <p:cNvSpPr/>
            <p:nvPr/>
          </p:nvSpPr>
          <p:spPr>
            <a:xfrm flipH="false" flipV="false" rot="0">
              <a:off x="0" y="0"/>
              <a:ext cx="4042410" cy="713994"/>
            </a:xfrm>
            <a:custGeom>
              <a:avLst/>
              <a:gdLst/>
              <a:ahLst/>
              <a:cxnLst/>
              <a:rect r="r" b="b" t="t" l="l"/>
              <a:pathLst>
                <a:path h="713994" w="4042410">
                  <a:moveTo>
                    <a:pt x="0" y="0"/>
                  </a:moveTo>
                  <a:lnTo>
                    <a:pt x="4042410" y="0"/>
                  </a:lnTo>
                  <a:lnTo>
                    <a:pt x="4042410" y="713994"/>
                  </a:lnTo>
                  <a:lnTo>
                    <a:pt x="0" y="713994"/>
                  </a:lnTo>
                  <a:close/>
                </a:path>
              </a:pathLst>
            </a:custGeom>
            <a:solidFill>
              <a:srgbClr val="EEF1F8"/>
            </a:solidFill>
            <a:ln w="14288" cap="sq">
              <a:solidFill>
                <a:srgbClr val="D9DFEA"/>
              </a:solidFill>
              <a:prstDash val="solid"/>
              <a:miter/>
            </a:ln>
          </p:spPr>
        </p:sp>
      </p:grpSp>
      <p:grpSp>
        <p:nvGrpSpPr>
          <p:cNvPr name="Group 113" id="113"/>
          <p:cNvGrpSpPr/>
          <p:nvPr/>
        </p:nvGrpSpPr>
        <p:grpSpPr>
          <a:xfrm rot="0">
            <a:off x="6089904" y="9038844"/>
            <a:ext cx="2715768" cy="521208"/>
            <a:chOff x="0" y="0"/>
            <a:chExt cx="3621024" cy="694944"/>
          </a:xfrm>
        </p:grpSpPr>
        <p:sp>
          <p:nvSpPr>
            <p:cNvPr name="Freeform 114" id="114"/>
            <p:cNvSpPr/>
            <p:nvPr/>
          </p:nvSpPr>
          <p:spPr>
            <a:xfrm flipH="false" flipV="false" rot="0">
              <a:off x="0" y="0"/>
              <a:ext cx="3621024" cy="694944"/>
            </a:xfrm>
            <a:custGeom>
              <a:avLst/>
              <a:gdLst/>
              <a:ahLst/>
              <a:cxnLst/>
              <a:rect r="r" b="b" t="t" l="l"/>
              <a:pathLst>
                <a:path h="694944" w="3621024">
                  <a:moveTo>
                    <a:pt x="0" y="0"/>
                  </a:moveTo>
                  <a:lnTo>
                    <a:pt x="3621024" y="0"/>
                  </a:lnTo>
                  <a:lnTo>
                    <a:pt x="3621024" y="694944"/>
                  </a:lnTo>
                  <a:lnTo>
                    <a:pt x="0" y="694944"/>
                  </a:lnTo>
                  <a:close/>
                </a:path>
              </a:pathLst>
            </a:custGeom>
            <a:blipFill>
              <a:blip r:embed="rId4">
                <a:alphaModFix amt="0"/>
              </a:blip>
              <a:stretch>
                <a:fillRect l="0" t="-51527" r="0" b="-51527"/>
              </a:stretch>
            </a:blipFill>
          </p:spPr>
        </p:sp>
        <p:sp>
          <p:nvSpPr>
            <p:cNvPr name="TextBox 115" id="115"/>
            <p:cNvSpPr txBox="true"/>
            <p:nvPr/>
          </p:nvSpPr>
          <p:spPr>
            <a:xfrm>
              <a:off x="0" y="0"/>
              <a:ext cx="3621024" cy="694944"/>
            </a:xfrm>
            <a:prstGeom prst="rect">
              <a:avLst/>
            </a:prstGeom>
          </p:spPr>
          <p:txBody>
            <a:bodyPr anchor="ctr" rtlCol="false" tIns="0" lIns="0" bIns="0" rIns="0"/>
            <a:lstStyle/>
            <a:p>
              <a:pPr algn="l">
                <a:lnSpc>
                  <a:spcPts val="1980"/>
                </a:lnSpc>
              </a:pPr>
              <a:r>
                <a:rPr lang="en-US" sz="1650" b="true">
                  <a:solidFill>
                    <a:srgbClr val="1F2A44"/>
                  </a:solidFill>
                  <a:latin typeface="Exo 2 Bold"/>
                  <a:ea typeface="Exo 2 Bold"/>
                  <a:cs typeface="Exo 2 Bold"/>
                  <a:sym typeface="Exo 2 Bold"/>
                </a:rPr>
                <a:t>USD 67,200</a:t>
              </a:r>
            </a:p>
          </p:txBody>
        </p:sp>
      </p:grpSp>
      <p:grpSp>
        <p:nvGrpSpPr>
          <p:cNvPr name="Group 116" id="116"/>
          <p:cNvGrpSpPr/>
          <p:nvPr/>
        </p:nvGrpSpPr>
        <p:grpSpPr>
          <a:xfrm rot="0">
            <a:off x="8935688" y="9031700"/>
            <a:ext cx="2620328" cy="535496"/>
            <a:chOff x="0" y="0"/>
            <a:chExt cx="3493770" cy="713994"/>
          </a:xfrm>
        </p:grpSpPr>
        <p:sp>
          <p:nvSpPr>
            <p:cNvPr name="Freeform 117" id="117"/>
            <p:cNvSpPr/>
            <p:nvPr/>
          </p:nvSpPr>
          <p:spPr>
            <a:xfrm flipH="false" flipV="false" rot="0">
              <a:off x="0" y="0"/>
              <a:ext cx="3493770" cy="713994"/>
            </a:xfrm>
            <a:custGeom>
              <a:avLst/>
              <a:gdLst/>
              <a:ahLst/>
              <a:cxnLst/>
              <a:rect r="r" b="b" t="t" l="l"/>
              <a:pathLst>
                <a:path h="713994" w="3493770">
                  <a:moveTo>
                    <a:pt x="0" y="0"/>
                  </a:moveTo>
                  <a:lnTo>
                    <a:pt x="3493770" y="0"/>
                  </a:lnTo>
                  <a:lnTo>
                    <a:pt x="3493770" y="713994"/>
                  </a:lnTo>
                  <a:lnTo>
                    <a:pt x="0" y="713994"/>
                  </a:lnTo>
                  <a:close/>
                </a:path>
              </a:pathLst>
            </a:custGeom>
            <a:solidFill>
              <a:srgbClr val="EEF1F8"/>
            </a:solidFill>
            <a:ln w="14288" cap="sq">
              <a:solidFill>
                <a:srgbClr val="D9DFEA"/>
              </a:solidFill>
              <a:prstDash val="solid"/>
              <a:miter/>
            </a:ln>
          </p:spPr>
        </p:sp>
      </p:grpSp>
      <p:grpSp>
        <p:nvGrpSpPr>
          <p:cNvPr name="Group 118" id="118"/>
          <p:cNvGrpSpPr/>
          <p:nvPr/>
        </p:nvGrpSpPr>
        <p:grpSpPr>
          <a:xfrm rot="0">
            <a:off x="9107424" y="9038844"/>
            <a:ext cx="2304288" cy="521208"/>
            <a:chOff x="0" y="0"/>
            <a:chExt cx="3072384" cy="694944"/>
          </a:xfrm>
        </p:grpSpPr>
        <p:sp>
          <p:nvSpPr>
            <p:cNvPr name="Freeform 119" id="119"/>
            <p:cNvSpPr/>
            <p:nvPr/>
          </p:nvSpPr>
          <p:spPr>
            <a:xfrm flipH="false" flipV="false" rot="0">
              <a:off x="0" y="0"/>
              <a:ext cx="3072384" cy="694944"/>
            </a:xfrm>
            <a:custGeom>
              <a:avLst/>
              <a:gdLst/>
              <a:ahLst/>
              <a:cxnLst/>
              <a:rect r="r" b="b" t="t" l="l"/>
              <a:pathLst>
                <a:path h="694944" w="3072384">
                  <a:moveTo>
                    <a:pt x="0" y="0"/>
                  </a:moveTo>
                  <a:lnTo>
                    <a:pt x="3072384" y="0"/>
                  </a:lnTo>
                  <a:lnTo>
                    <a:pt x="3072384" y="694944"/>
                  </a:lnTo>
                  <a:lnTo>
                    <a:pt x="0" y="694944"/>
                  </a:lnTo>
                  <a:close/>
                </a:path>
              </a:pathLst>
            </a:custGeom>
            <a:blipFill>
              <a:blip r:embed="rId4">
                <a:alphaModFix amt="0"/>
              </a:blip>
              <a:stretch>
                <a:fillRect l="0" t="-36144" r="0" b="-36144"/>
              </a:stretch>
            </a:blipFill>
          </p:spPr>
        </p:sp>
        <p:sp>
          <p:nvSpPr>
            <p:cNvPr name="TextBox 120" id="120"/>
            <p:cNvSpPr txBox="true"/>
            <p:nvPr/>
          </p:nvSpPr>
          <p:spPr>
            <a:xfrm>
              <a:off x="0" y="0"/>
              <a:ext cx="3072384" cy="694944"/>
            </a:xfrm>
            <a:prstGeom prst="rect">
              <a:avLst/>
            </a:prstGeom>
          </p:spPr>
          <p:txBody>
            <a:bodyPr anchor="ctr" rtlCol="false" tIns="0" lIns="0" bIns="0" rIns="0"/>
            <a:lstStyle/>
            <a:p>
              <a:pPr algn="l">
                <a:lnSpc>
                  <a:spcPts val="1980"/>
                </a:lnSpc>
              </a:pPr>
              <a:r>
                <a:rPr lang="en-US" sz="1650">
                  <a:solidFill>
                    <a:srgbClr val="1F2A44"/>
                  </a:solidFill>
                  <a:latin typeface="Exo 2"/>
                  <a:ea typeface="Exo 2"/>
                  <a:cs typeface="Exo 2"/>
                  <a:sym typeface="Exo 2"/>
                </a:rPr>
                <a:t>5.02M</a:t>
              </a:r>
            </a:p>
          </p:txBody>
        </p:sp>
      </p:grpSp>
      <p:grpSp>
        <p:nvGrpSpPr>
          <p:cNvPr name="Group 121" id="121"/>
          <p:cNvGrpSpPr/>
          <p:nvPr/>
        </p:nvGrpSpPr>
        <p:grpSpPr>
          <a:xfrm rot="0">
            <a:off x="11788616" y="2393156"/>
            <a:ext cx="5665280" cy="3943636"/>
            <a:chOff x="0" y="0"/>
            <a:chExt cx="7553706" cy="5258181"/>
          </a:xfrm>
        </p:grpSpPr>
        <p:sp>
          <p:nvSpPr>
            <p:cNvPr name="Freeform 122" id="122"/>
            <p:cNvSpPr/>
            <p:nvPr/>
          </p:nvSpPr>
          <p:spPr>
            <a:xfrm flipH="false" flipV="false" rot="0">
              <a:off x="0" y="0"/>
              <a:ext cx="7553706" cy="5258181"/>
            </a:xfrm>
            <a:custGeom>
              <a:avLst/>
              <a:gdLst/>
              <a:ahLst/>
              <a:cxnLst/>
              <a:rect r="r" b="b" t="t" l="l"/>
              <a:pathLst>
                <a:path h="5258181" w="7553706">
                  <a:moveTo>
                    <a:pt x="0" y="0"/>
                  </a:moveTo>
                  <a:lnTo>
                    <a:pt x="7553706" y="0"/>
                  </a:lnTo>
                  <a:lnTo>
                    <a:pt x="7553706" y="5258181"/>
                  </a:lnTo>
                  <a:lnTo>
                    <a:pt x="0" y="5258181"/>
                  </a:lnTo>
                  <a:close/>
                </a:path>
              </a:pathLst>
            </a:custGeom>
            <a:solidFill>
              <a:srgbClr val="FFFFFF"/>
            </a:solidFill>
            <a:ln w="14288" cap="sq">
              <a:solidFill>
                <a:srgbClr val="D9DFEA"/>
              </a:solidFill>
              <a:prstDash val="solid"/>
              <a:miter/>
            </a:ln>
          </p:spPr>
        </p:sp>
      </p:grpSp>
      <p:grpSp>
        <p:nvGrpSpPr>
          <p:cNvPr name="Group 123" id="123"/>
          <p:cNvGrpSpPr/>
          <p:nvPr/>
        </p:nvGrpSpPr>
        <p:grpSpPr>
          <a:xfrm rot="0">
            <a:off x="11786235" y="2390775"/>
            <a:ext cx="5670042" cy="80772"/>
            <a:chOff x="0" y="0"/>
            <a:chExt cx="7560056" cy="107696"/>
          </a:xfrm>
        </p:grpSpPr>
        <p:sp>
          <p:nvSpPr>
            <p:cNvPr name="Freeform 124" id="124"/>
            <p:cNvSpPr/>
            <p:nvPr/>
          </p:nvSpPr>
          <p:spPr>
            <a:xfrm flipH="false" flipV="false" rot="0">
              <a:off x="0" y="0"/>
              <a:ext cx="7560056" cy="107696"/>
            </a:xfrm>
            <a:custGeom>
              <a:avLst/>
              <a:gdLst/>
              <a:ahLst/>
              <a:cxnLst/>
              <a:rect r="r" b="b" t="t" l="l"/>
              <a:pathLst>
                <a:path h="107696" w="7560056">
                  <a:moveTo>
                    <a:pt x="0" y="0"/>
                  </a:moveTo>
                  <a:lnTo>
                    <a:pt x="7560056" y="0"/>
                  </a:lnTo>
                  <a:lnTo>
                    <a:pt x="7560056" y="107696"/>
                  </a:lnTo>
                  <a:lnTo>
                    <a:pt x="0" y="107696"/>
                  </a:lnTo>
                  <a:close/>
                </a:path>
              </a:pathLst>
            </a:custGeom>
            <a:solidFill>
              <a:srgbClr val="D4AF37"/>
            </a:solidFill>
            <a:ln w="19050" cap="sq">
              <a:solidFill>
                <a:srgbClr val="D4AF37"/>
              </a:solidFill>
              <a:prstDash val="solid"/>
              <a:miter/>
            </a:ln>
          </p:spPr>
        </p:sp>
      </p:grpSp>
      <p:sp>
        <p:nvSpPr>
          <p:cNvPr name="TextBox 125" id="125"/>
          <p:cNvSpPr txBox="true"/>
          <p:nvPr/>
        </p:nvSpPr>
        <p:spPr>
          <a:xfrm rot="0">
            <a:off x="12138660" y="2674620"/>
            <a:ext cx="5074920" cy="371475"/>
          </a:xfrm>
          <a:prstGeom prst="rect">
            <a:avLst/>
          </a:prstGeom>
        </p:spPr>
        <p:txBody>
          <a:bodyPr anchor="t" rtlCol="false" tIns="0" lIns="0" bIns="0" rIns="0">
            <a:spAutoFit/>
          </a:bodyPr>
          <a:lstStyle/>
          <a:p>
            <a:pPr algn="l">
              <a:lnSpc>
                <a:spcPts val="2999"/>
              </a:lnSpc>
            </a:pPr>
            <a:r>
              <a:rPr lang="en-US" b="true" sz="2499" spc="249">
                <a:solidFill>
                  <a:srgbClr val="9A7B1F"/>
                </a:solidFill>
                <a:latin typeface="Exo 2 Bold"/>
                <a:ea typeface="Exo 2 Bold"/>
                <a:cs typeface="Exo 2 Bold"/>
                <a:sym typeface="Exo 2 Bold"/>
              </a:rPr>
              <a:t>LATEST OFFER, 23 SEP</a:t>
            </a:r>
          </a:p>
        </p:txBody>
      </p:sp>
      <p:sp>
        <p:nvSpPr>
          <p:cNvPr name="TextBox 126" id="126"/>
          <p:cNvSpPr txBox="true"/>
          <p:nvPr/>
        </p:nvSpPr>
        <p:spPr>
          <a:xfrm rot="0">
            <a:off x="12138660" y="3509963"/>
            <a:ext cx="5074920" cy="704850"/>
          </a:xfrm>
          <a:prstGeom prst="rect">
            <a:avLst/>
          </a:prstGeom>
        </p:spPr>
        <p:txBody>
          <a:bodyPr anchor="t" rtlCol="false" tIns="0" lIns="0" bIns="0" rIns="0">
            <a:spAutoFit/>
          </a:bodyPr>
          <a:lstStyle/>
          <a:p>
            <a:pPr algn="l">
              <a:lnSpc>
                <a:spcPts val="5519"/>
              </a:lnSpc>
            </a:pPr>
            <a:r>
              <a:rPr lang="en-US" sz="4599" b="true">
                <a:solidFill>
                  <a:srgbClr val="132257"/>
                </a:solidFill>
                <a:latin typeface="Exo 2 Bold"/>
                <a:ea typeface="Exo 2 Bold"/>
                <a:cs typeface="Exo 2 Bold"/>
                <a:sym typeface="Exo 2 Bold"/>
              </a:rPr>
              <a:t>USD 44,800 + VAT</a:t>
            </a:r>
          </a:p>
        </p:txBody>
      </p:sp>
      <p:sp>
        <p:nvSpPr>
          <p:cNvPr name="TextBox 127" id="127"/>
          <p:cNvSpPr txBox="true"/>
          <p:nvPr/>
        </p:nvSpPr>
        <p:spPr>
          <a:xfrm rot="0">
            <a:off x="12138660" y="4678680"/>
            <a:ext cx="5074920" cy="1266825"/>
          </a:xfrm>
          <a:prstGeom prst="rect">
            <a:avLst/>
          </a:prstGeom>
        </p:spPr>
        <p:txBody>
          <a:bodyPr anchor="t" rtlCol="false" tIns="0" lIns="0" bIns="0" rIns="0">
            <a:spAutoFit/>
          </a:bodyPr>
          <a:lstStyle/>
          <a:p>
            <a:pPr algn="l">
              <a:lnSpc>
                <a:spcPts val="3359"/>
              </a:lnSpc>
            </a:pPr>
            <a:r>
              <a:rPr lang="en-US" sz="2799">
                <a:solidFill>
                  <a:srgbClr val="1F2A44"/>
                </a:solidFill>
                <a:latin typeface="Exo 2"/>
                <a:ea typeface="Exo 2"/>
                <a:cs typeface="Exo 2"/>
                <a:sym typeface="Exo 2"/>
              </a:rPr>
              <a:t>8 weeks, 91 screens, 30% below the original rate of USD 64,000.</a:t>
            </a:r>
          </a:p>
        </p:txBody>
      </p:sp>
      <p:grpSp>
        <p:nvGrpSpPr>
          <p:cNvPr name="Group 128" id="128"/>
          <p:cNvGrpSpPr/>
          <p:nvPr/>
        </p:nvGrpSpPr>
        <p:grpSpPr>
          <a:xfrm rot="0">
            <a:off x="11790998" y="6860381"/>
            <a:ext cx="2757488" cy="1865948"/>
            <a:chOff x="0" y="0"/>
            <a:chExt cx="3676650" cy="2487930"/>
          </a:xfrm>
        </p:grpSpPr>
        <p:sp>
          <p:nvSpPr>
            <p:cNvPr name="Freeform 129" id="129"/>
            <p:cNvSpPr/>
            <p:nvPr/>
          </p:nvSpPr>
          <p:spPr>
            <a:xfrm flipH="false" flipV="false" rot="0">
              <a:off x="0" y="0"/>
              <a:ext cx="3676650" cy="2487930"/>
            </a:xfrm>
            <a:custGeom>
              <a:avLst/>
              <a:gdLst/>
              <a:ahLst/>
              <a:cxnLst/>
              <a:rect r="r" b="b" t="t" l="l"/>
              <a:pathLst>
                <a:path h="2487930" w="3676650">
                  <a:moveTo>
                    <a:pt x="0" y="0"/>
                  </a:moveTo>
                  <a:lnTo>
                    <a:pt x="3676650" y="0"/>
                  </a:lnTo>
                  <a:lnTo>
                    <a:pt x="3676650" y="2487930"/>
                  </a:lnTo>
                  <a:lnTo>
                    <a:pt x="0" y="2487930"/>
                  </a:lnTo>
                  <a:close/>
                </a:path>
              </a:pathLst>
            </a:custGeom>
            <a:solidFill>
              <a:srgbClr val="FFFFFF"/>
            </a:solidFill>
            <a:ln w="14288" cap="sq">
              <a:solidFill>
                <a:srgbClr val="D9DFEA"/>
              </a:solidFill>
              <a:prstDash val="solid"/>
              <a:miter/>
            </a:ln>
          </p:spPr>
        </p:sp>
      </p:grpSp>
      <p:grpSp>
        <p:nvGrpSpPr>
          <p:cNvPr name="Group 130" id="130"/>
          <p:cNvGrpSpPr/>
          <p:nvPr/>
        </p:nvGrpSpPr>
        <p:grpSpPr>
          <a:xfrm rot="0">
            <a:off x="11788616" y="6858000"/>
            <a:ext cx="2762250" cy="80772"/>
            <a:chOff x="0" y="0"/>
            <a:chExt cx="3683000" cy="107696"/>
          </a:xfrm>
        </p:grpSpPr>
        <p:sp>
          <p:nvSpPr>
            <p:cNvPr name="Freeform 131" id="131"/>
            <p:cNvSpPr/>
            <p:nvPr/>
          </p:nvSpPr>
          <p:spPr>
            <a:xfrm flipH="false" flipV="false" rot="0">
              <a:off x="0" y="0"/>
              <a:ext cx="3683000" cy="107696"/>
            </a:xfrm>
            <a:custGeom>
              <a:avLst/>
              <a:gdLst/>
              <a:ahLst/>
              <a:cxnLst/>
              <a:rect r="r" b="b" t="t" l="l"/>
              <a:pathLst>
                <a:path h="107696" w="3683000">
                  <a:moveTo>
                    <a:pt x="0" y="0"/>
                  </a:moveTo>
                  <a:lnTo>
                    <a:pt x="3683000" y="0"/>
                  </a:lnTo>
                  <a:lnTo>
                    <a:pt x="3683000" y="107696"/>
                  </a:lnTo>
                  <a:lnTo>
                    <a:pt x="0" y="107696"/>
                  </a:lnTo>
                  <a:close/>
                </a:path>
              </a:pathLst>
            </a:custGeom>
            <a:solidFill>
              <a:srgbClr val="132257"/>
            </a:solidFill>
            <a:ln w="19050" cap="sq">
              <a:solidFill>
                <a:srgbClr val="132257"/>
              </a:solidFill>
              <a:prstDash val="solid"/>
              <a:miter/>
            </a:ln>
          </p:spPr>
        </p:sp>
      </p:grpSp>
      <p:sp>
        <p:nvSpPr>
          <p:cNvPr name="TextBox 132" id="132"/>
          <p:cNvSpPr txBox="true"/>
          <p:nvPr/>
        </p:nvSpPr>
        <p:spPr>
          <a:xfrm rot="0">
            <a:off x="12072461" y="7104888"/>
            <a:ext cx="2194560" cy="763905"/>
          </a:xfrm>
          <a:prstGeom prst="rect">
            <a:avLst/>
          </a:prstGeom>
        </p:spPr>
        <p:txBody>
          <a:bodyPr anchor="t" rtlCol="false" tIns="0" lIns="0" bIns="0" rIns="0">
            <a:spAutoFit/>
          </a:bodyPr>
          <a:lstStyle/>
          <a:p>
            <a:pPr algn="l">
              <a:lnSpc>
                <a:spcPts val="4680"/>
              </a:lnSpc>
            </a:pPr>
            <a:r>
              <a:rPr lang="en-US" sz="3900" b="true">
                <a:solidFill>
                  <a:srgbClr val="132257"/>
                </a:solidFill>
                <a:latin typeface="Exo 2 Bold"/>
                <a:ea typeface="Exo 2 Bold"/>
                <a:cs typeface="Exo 2 Bold"/>
                <a:sym typeface="Exo 2 Bold"/>
              </a:rPr>
              <a:t>83</a:t>
            </a:r>
          </a:p>
        </p:txBody>
      </p:sp>
      <p:sp>
        <p:nvSpPr>
          <p:cNvPr name="TextBox 133" id="133"/>
          <p:cNvSpPr txBox="true"/>
          <p:nvPr/>
        </p:nvSpPr>
        <p:spPr>
          <a:xfrm rot="0">
            <a:off x="12072461" y="7896225"/>
            <a:ext cx="2194560" cy="411480"/>
          </a:xfrm>
          <a:prstGeom prst="rect">
            <a:avLst/>
          </a:prstGeom>
        </p:spPr>
        <p:txBody>
          <a:bodyPr anchor="t" rtlCol="false" tIns="0" lIns="0" bIns="0" rIns="0">
            <a:spAutoFit/>
          </a:bodyPr>
          <a:lstStyle/>
          <a:p>
            <a:pPr algn="l">
              <a:lnSpc>
                <a:spcPts val="1980"/>
              </a:lnSpc>
            </a:pPr>
            <a:r>
              <a:rPr lang="en-US" sz="1650" b="true">
                <a:solidFill>
                  <a:srgbClr val="132257"/>
                </a:solidFill>
                <a:latin typeface="Exo 2 Bold"/>
                <a:ea typeface="Exo 2 Bold"/>
                <a:cs typeface="Exo 2 Bold"/>
                <a:sym typeface="Exo 2 Bold"/>
              </a:rPr>
              <a:t>towers</a:t>
            </a:r>
          </a:p>
        </p:txBody>
      </p:sp>
      <p:sp>
        <p:nvSpPr>
          <p:cNvPr name="TextBox 134" id="134"/>
          <p:cNvSpPr txBox="true"/>
          <p:nvPr/>
        </p:nvSpPr>
        <p:spPr>
          <a:xfrm rot="0">
            <a:off x="12072461" y="8257032"/>
            <a:ext cx="2194560" cy="393573"/>
          </a:xfrm>
          <a:prstGeom prst="rect">
            <a:avLst/>
          </a:prstGeom>
        </p:spPr>
        <p:txBody>
          <a:bodyPr anchor="t" rtlCol="false" tIns="0" lIns="0" bIns="0" rIns="0">
            <a:spAutoFit/>
          </a:bodyPr>
          <a:lstStyle/>
          <a:p>
            <a:pPr algn="l">
              <a:lnSpc>
                <a:spcPts val="1620"/>
              </a:lnSpc>
            </a:pPr>
            <a:r>
              <a:rPr lang="en-US" sz="1350">
                <a:solidFill>
                  <a:srgbClr val="6B7590"/>
                </a:solidFill>
                <a:latin typeface="Exo 2"/>
                <a:ea typeface="Exo 2"/>
                <a:cs typeface="Exo 2"/>
                <a:sym typeface="Exo 2"/>
              </a:rPr>
              <a:t>elevator screens</a:t>
            </a:r>
          </a:p>
        </p:txBody>
      </p:sp>
      <p:grpSp>
        <p:nvGrpSpPr>
          <p:cNvPr name="Group 135" id="135"/>
          <p:cNvGrpSpPr/>
          <p:nvPr/>
        </p:nvGrpSpPr>
        <p:grpSpPr>
          <a:xfrm rot="0">
            <a:off x="14698790" y="6860381"/>
            <a:ext cx="2757488" cy="1865948"/>
            <a:chOff x="0" y="0"/>
            <a:chExt cx="3676650" cy="2487930"/>
          </a:xfrm>
        </p:grpSpPr>
        <p:sp>
          <p:nvSpPr>
            <p:cNvPr name="Freeform 136" id="136"/>
            <p:cNvSpPr/>
            <p:nvPr/>
          </p:nvSpPr>
          <p:spPr>
            <a:xfrm flipH="false" flipV="false" rot="0">
              <a:off x="0" y="0"/>
              <a:ext cx="3676650" cy="2487930"/>
            </a:xfrm>
            <a:custGeom>
              <a:avLst/>
              <a:gdLst/>
              <a:ahLst/>
              <a:cxnLst/>
              <a:rect r="r" b="b" t="t" l="l"/>
              <a:pathLst>
                <a:path h="2487930" w="3676650">
                  <a:moveTo>
                    <a:pt x="0" y="0"/>
                  </a:moveTo>
                  <a:lnTo>
                    <a:pt x="3676650" y="0"/>
                  </a:lnTo>
                  <a:lnTo>
                    <a:pt x="3676650" y="2487930"/>
                  </a:lnTo>
                  <a:lnTo>
                    <a:pt x="0" y="2487930"/>
                  </a:lnTo>
                  <a:close/>
                </a:path>
              </a:pathLst>
            </a:custGeom>
            <a:solidFill>
              <a:srgbClr val="FFFFFF"/>
            </a:solidFill>
            <a:ln w="14288" cap="sq">
              <a:solidFill>
                <a:srgbClr val="D9DFEA"/>
              </a:solidFill>
              <a:prstDash val="solid"/>
              <a:miter/>
            </a:ln>
          </p:spPr>
        </p:sp>
      </p:grpSp>
      <p:grpSp>
        <p:nvGrpSpPr>
          <p:cNvPr name="Group 137" id="137"/>
          <p:cNvGrpSpPr/>
          <p:nvPr/>
        </p:nvGrpSpPr>
        <p:grpSpPr>
          <a:xfrm rot="0">
            <a:off x="14696408" y="6858000"/>
            <a:ext cx="2762250" cy="80772"/>
            <a:chOff x="0" y="0"/>
            <a:chExt cx="3683000" cy="107696"/>
          </a:xfrm>
        </p:grpSpPr>
        <p:sp>
          <p:nvSpPr>
            <p:cNvPr name="Freeform 138" id="138"/>
            <p:cNvSpPr/>
            <p:nvPr/>
          </p:nvSpPr>
          <p:spPr>
            <a:xfrm flipH="false" flipV="false" rot="0">
              <a:off x="0" y="0"/>
              <a:ext cx="3683000" cy="107696"/>
            </a:xfrm>
            <a:custGeom>
              <a:avLst/>
              <a:gdLst/>
              <a:ahLst/>
              <a:cxnLst/>
              <a:rect r="r" b="b" t="t" l="l"/>
              <a:pathLst>
                <a:path h="107696" w="3683000">
                  <a:moveTo>
                    <a:pt x="0" y="0"/>
                  </a:moveTo>
                  <a:lnTo>
                    <a:pt x="3683000" y="0"/>
                  </a:lnTo>
                  <a:lnTo>
                    <a:pt x="3683000" y="107696"/>
                  </a:lnTo>
                  <a:lnTo>
                    <a:pt x="0" y="107696"/>
                  </a:lnTo>
                  <a:close/>
                </a:path>
              </a:pathLst>
            </a:custGeom>
            <a:solidFill>
              <a:srgbClr val="132257"/>
            </a:solidFill>
            <a:ln w="19050" cap="sq">
              <a:solidFill>
                <a:srgbClr val="132257"/>
              </a:solidFill>
              <a:prstDash val="solid"/>
              <a:miter/>
            </a:ln>
          </p:spPr>
        </p:sp>
      </p:grpSp>
      <p:sp>
        <p:nvSpPr>
          <p:cNvPr name="TextBox 139" id="139"/>
          <p:cNvSpPr txBox="true"/>
          <p:nvPr/>
        </p:nvSpPr>
        <p:spPr>
          <a:xfrm rot="0">
            <a:off x="14980253" y="7104888"/>
            <a:ext cx="2194560" cy="763905"/>
          </a:xfrm>
          <a:prstGeom prst="rect">
            <a:avLst/>
          </a:prstGeom>
        </p:spPr>
        <p:txBody>
          <a:bodyPr anchor="t" rtlCol="false" tIns="0" lIns="0" bIns="0" rIns="0">
            <a:spAutoFit/>
          </a:bodyPr>
          <a:lstStyle/>
          <a:p>
            <a:pPr algn="l">
              <a:lnSpc>
                <a:spcPts val="4680"/>
              </a:lnSpc>
            </a:pPr>
            <a:r>
              <a:rPr lang="en-US" sz="3900" b="true">
                <a:solidFill>
                  <a:srgbClr val="132257"/>
                </a:solidFill>
                <a:latin typeface="Exo 2 Bold"/>
                <a:ea typeface="Exo 2 Bold"/>
                <a:cs typeface="Exo 2 Bold"/>
                <a:sym typeface="Exo 2 Bold"/>
              </a:rPr>
              <a:t>8</a:t>
            </a:r>
          </a:p>
        </p:txBody>
      </p:sp>
      <p:sp>
        <p:nvSpPr>
          <p:cNvPr name="TextBox 140" id="140"/>
          <p:cNvSpPr txBox="true"/>
          <p:nvPr/>
        </p:nvSpPr>
        <p:spPr>
          <a:xfrm rot="0">
            <a:off x="14980253" y="7896225"/>
            <a:ext cx="2194560" cy="411480"/>
          </a:xfrm>
          <a:prstGeom prst="rect">
            <a:avLst/>
          </a:prstGeom>
        </p:spPr>
        <p:txBody>
          <a:bodyPr anchor="t" rtlCol="false" tIns="0" lIns="0" bIns="0" rIns="0">
            <a:spAutoFit/>
          </a:bodyPr>
          <a:lstStyle/>
          <a:p>
            <a:pPr algn="l">
              <a:lnSpc>
                <a:spcPts val="1980"/>
              </a:lnSpc>
            </a:pPr>
            <a:r>
              <a:rPr lang="en-US" sz="1650" b="true">
                <a:solidFill>
                  <a:srgbClr val="132257"/>
                </a:solidFill>
                <a:latin typeface="Exo 2 Bold"/>
                <a:ea typeface="Exo 2 Bold"/>
                <a:cs typeface="Exo 2 Bold"/>
                <a:sym typeface="Exo 2 Bold"/>
              </a:rPr>
              <a:t>LED faces</a:t>
            </a:r>
          </a:p>
        </p:txBody>
      </p:sp>
      <p:sp>
        <p:nvSpPr>
          <p:cNvPr name="TextBox 141" id="141"/>
          <p:cNvSpPr txBox="true"/>
          <p:nvPr/>
        </p:nvSpPr>
        <p:spPr>
          <a:xfrm rot="0">
            <a:off x="14980253" y="8257032"/>
            <a:ext cx="2194560" cy="393573"/>
          </a:xfrm>
          <a:prstGeom prst="rect">
            <a:avLst/>
          </a:prstGeom>
        </p:spPr>
        <p:txBody>
          <a:bodyPr anchor="t" rtlCol="false" tIns="0" lIns="0" bIns="0" rIns="0">
            <a:spAutoFit/>
          </a:bodyPr>
          <a:lstStyle/>
          <a:p>
            <a:pPr algn="l">
              <a:lnSpc>
                <a:spcPts val="1620"/>
              </a:lnSpc>
            </a:pPr>
            <a:r>
              <a:rPr lang="en-US" sz="1350">
                <a:solidFill>
                  <a:srgbClr val="6B7590"/>
                </a:solidFill>
                <a:latin typeface="Exo 2"/>
                <a:ea typeface="Exo 2"/>
                <a:cs typeface="Exo 2"/>
                <a:sym typeface="Exo 2"/>
              </a:rPr>
              <a:t>The Zone, Riyadh</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7543" cy="1947672"/>
            <a:chOff x="0" y="0"/>
            <a:chExt cx="24383390" cy="2596896"/>
          </a:xfrm>
        </p:grpSpPr>
        <p:sp>
          <p:nvSpPr>
            <p:cNvPr name="Freeform 3" id="3" descr="/home/user/HatemIsa_202508993_IT9002_NLP_Project/emyaa-ceo-deck/working/charts/board_header.png"/>
            <p:cNvSpPr/>
            <p:nvPr/>
          </p:nvSpPr>
          <p:spPr>
            <a:xfrm flipH="false" flipV="false" rot="0">
              <a:off x="0" y="0"/>
              <a:ext cx="24383364" cy="2596896"/>
            </a:xfrm>
            <a:custGeom>
              <a:avLst/>
              <a:gdLst/>
              <a:ahLst/>
              <a:cxnLst/>
              <a:rect r="r" b="b" t="t" l="l"/>
              <a:pathLst>
                <a:path h="2596896" w="24383364">
                  <a:moveTo>
                    <a:pt x="0" y="0"/>
                  </a:moveTo>
                  <a:lnTo>
                    <a:pt x="24383364" y="0"/>
                  </a:lnTo>
                  <a:lnTo>
                    <a:pt x="24383364" y="2596896"/>
                  </a:lnTo>
                  <a:lnTo>
                    <a:pt x="0" y="2596896"/>
                  </a:lnTo>
                  <a:lnTo>
                    <a:pt x="0" y="0"/>
                  </a:lnTo>
                  <a:close/>
                </a:path>
              </a:pathLst>
            </a:custGeom>
            <a:blipFill>
              <a:blip r:embed="rId3"/>
              <a:stretch>
                <a:fillRect l="0" t="-1172" r="0" b="-1172"/>
              </a:stretch>
            </a:blipFill>
          </p:spPr>
        </p:sp>
      </p:grpSp>
      <p:grpSp>
        <p:nvGrpSpPr>
          <p:cNvPr name="Group 4" id="4"/>
          <p:cNvGrpSpPr/>
          <p:nvPr/>
        </p:nvGrpSpPr>
        <p:grpSpPr>
          <a:xfrm rot="0">
            <a:off x="-9525" y="1938147"/>
            <a:ext cx="18306593" cy="60198"/>
            <a:chOff x="0" y="0"/>
            <a:chExt cx="24408790" cy="80264"/>
          </a:xfrm>
        </p:grpSpPr>
        <p:sp>
          <p:nvSpPr>
            <p:cNvPr name="Freeform 5" id="5"/>
            <p:cNvSpPr/>
            <p:nvPr/>
          </p:nvSpPr>
          <p:spPr>
            <a:xfrm flipH="false" flipV="false" rot="0">
              <a:off x="0" y="0"/>
              <a:ext cx="24408764" cy="80264"/>
            </a:xfrm>
            <a:custGeom>
              <a:avLst/>
              <a:gdLst/>
              <a:ahLst/>
              <a:cxnLst/>
              <a:rect r="r" b="b" t="t" l="l"/>
              <a:pathLst>
                <a:path h="80264" w="24408764">
                  <a:moveTo>
                    <a:pt x="0" y="0"/>
                  </a:moveTo>
                  <a:lnTo>
                    <a:pt x="24408764" y="0"/>
                  </a:lnTo>
                  <a:lnTo>
                    <a:pt x="24408764" y="80264"/>
                  </a:lnTo>
                  <a:lnTo>
                    <a:pt x="0" y="80264"/>
                  </a:lnTo>
                  <a:close/>
                </a:path>
              </a:pathLst>
            </a:custGeom>
            <a:solidFill>
              <a:srgbClr val="D4AF37"/>
            </a:solidFill>
            <a:ln w="19050" cap="sq">
              <a:solidFill>
                <a:srgbClr val="D4AF37"/>
              </a:solidFill>
              <a:prstDash val="solid"/>
              <a:miter/>
            </a:ln>
          </p:spPr>
        </p:sp>
      </p:grpSp>
      <p:grpSp>
        <p:nvGrpSpPr>
          <p:cNvPr name="Group 6" id="6"/>
          <p:cNvGrpSpPr/>
          <p:nvPr/>
        </p:nvGrpSpPr>
        <p:grpSpPr>
          <a:xfrm rot="0">
            <a:off x="850392" y="713232"/>
            <a:ext cx="14127480" cy="1124712"/>
            <a:chOff x="0" y="0"/>
            <a:chExt cx="18836640" cy="1499616"/>
          </a:xfrm>
        </p:grpSpPr>
        <p:sp>
          <p:nvSpPr>
            <p:cNvPr name="Freeform 7" id="7"/>
            <p:cNvSpPr/>
            <p:nvPr/>
          </p:nvSpPr>
          <p:spPr>
            <a:xfrm flipH="false" flipV="false" rot="0">
              <a:off x="0" y="0"/>
              <a:ext cx="18836639" cy="1499616"/>
            </a:xfrm>
            <a:custGeom>
              <a:avLst/>
              <a:gdLst/>
              <a:ahLst/>
              <a:cxnLst/>
              <a:rect r="r" b="b" t="t" l="l"/>
              <a:pathLst>
                <a:path h="1499616" w="18836639">
                  <a:moveTo>
                    <a:pt x="0" y="0"/>
                  </a:moveTo>
                  <a:lnTo>
                    <a:pt x="18836639" y="0"/>
                  </a:lnTo>
                  <a:lnTo>
                    <a:pt x="18836639" y="1499616"/>
                  </a:lnTo>
                  <a:lnTo>
                    <a:pt x="0" y="1499616"/>
                  </a:lnTo>
                  <a:close/>
                </a:path>
              </a:pathLst>
            </a:custGeom>
            <a:blipFill>
              <a:blip r:embed="rId4">
                <a:alphaModFix amt="0"/>
              </a:blip>
              <a:stretch>
                <a:fillRect l="0" t="-194751" r="0" b="-194751"/>
              </a:stretch>
            </a:blipFill>
          </p:spPr>
        </p:sp>
        <p:sp>
          <p:nvSpPr>
            <p:cNvPr name="TextBox 8" id="8"/>
            <p:cNvSpPr txBox="true"/>
            <p:nvPr/>
          </p:nvSpPr>
          <p:spPr>
            <a:xfrm>
              <a:off x="0" y="-9525"/>
              <a:ext cx="18836640" cy="1509141"/>
            </a:xfrm>
            <a:prstGeom prst="rect">
              <a:avLst/>
            </a:prstGeom>
          </p:spPr>
          <p:txBody>
            <a:bodyPr anchor="ctr" rtlCol="false" tIns="0" lIns="0" bIns="0" rIns="0"/>
            <a:lstStyle/>
            <a:p>
              <a:pPr algn="l">
                <a:lnSpc>
                  <a:spcPts val="3960"/>
                </a:lnSpc>
              </a:pPr>
              <a:r>
                <a:rPr lang="en-US" sz="3300" b="true">
                  <a:solidFill>
                    <a:srgbClr val="FFFFFF"/>
                  </a:solidFill>
                  <a:latin typeface="Exo 2 Bold"/>
                  <a:ea typeface="Exo 2 Bold"/>
                  <a:cs typeface="Exo 2 Bold"/>
                  <a:sym typeface="Exo 2 Bold"/>
                </a:rPr>
                <a:t>Jodel: 2.5 million impressions in 7 days for USD 3,862.50</a:t>
              </a:r>
            </a:p>
          </p:txBody>
        </p:sp>
      </p:grpSp>
      <p:grpSp>
        <p:nvGrpSpPr>
          <p:cNvPr name="Group 9" id="9"/>
          <p:cNvGrpSpPr/>
          <p:nvPr/>
        </p:nvGrpSpPr>
        <p:grpSpPr>
          <a:xfrm rot="0">
            <a:off x="15457932" y="685800"/>
            <a:ext cx="1988820" cy="576072"/>
            <a:chOff x="0" y="0"/>
            <a:chExt cx="2651760" cy="768096"/>
          </a:xfrm>
        </p:grpSpPr>
        <p:sp>
          <p:nvSpPr>
            <p:cNvPr name="Freeform 10" id="10" descr="/home/user/HatemIsa_202508993_IT9002_NLP_Project/emyaa-ceo-deck/working/charts/ajyad_white.png"/>
            <p:cNvSpPr/>
            <p:nvPr/>
          </p:nvSpPr>
          <p:spPr>
            <a:xfrm flipH="false" flipV="false" rot="0">
              <a:off x="0" y="0"/>
              <a:ext cx="2651760" cy="768096"/>
            </a:xfrm>
            <a:custGeom>
              <a:avLst/>
              <a:gdLst/>
              <a:ahLst/>
              <a:cxnLst/>
              <a:rect r="r" b="b" t="t" l="l"/>
              <a:pathLst>
                <a:path h="768096" w="2651760">
                  <a:moveTo>
                    <a:pt x="0" y="0"/>
                  </a:moveTo>
                  <a:lnTo>
                    <a:pt x="2651760" y="0"/>
                  </a:lnTo>
                  <a:lnTo>
                    <a:pt x="2651760" y="768096"/>
                  </a:lnTo>
                  <a:lnTo>
                    <a:pt x="0" y="768096"/>
                  </a:lnTo>
                  <a:lnTo>
                    <a:pt x="0" y="0"/>
                  </a:lnTo>
                  <a:close/>
                </a:path>
              </a:pathLst>
            </a:custGeom>
            <a:blipFill>
              <a:blip r:embed="rId5"/>
              <a:stretch>
                <a:fillRect l="0" t="-26" r="0" b="-26"/>
              </a:stretch>
            </a:blipFill>
          </p:spPr>
        </p:sp>
      </p:grpSp>
      <p:grpSp>
        <p:nvGrpSpPr>
          <p:cNvPr name="Group 11" id="11"/>
          <p:cNvGrpSpPr/>
          <p:nvPr/>
        </p:nvGrpSpPr>
        <p:grpSpPr>
          <a:xfrm rot="0">
            <a:off x="15910560" y="9491472"/>
            <a:ext cx="1536192" cy="548640"/>
            <a:chOff x="0" y="0"/>
            <a:chExt cx="2048256" cy="731520"/>
          </a:xfrm>
        </p:grpSpPr>
        <p:sp>
          <p:nvSpPr>
            <p:cNvPr name="Freeform 12" id="12" descr="/home/user/HatemIsa_202508993_IT9002_NLP_Project/emyaa-ceo-deck/working/charts/emyaa_navy.png"/>
            <p:cNvSpPr/>
            <p:nvPr/>
          </p:nvSpPr>
          <p:spPr>
            <a:xfrm flipH="false" flipV="false" rot="0">
              <a:off x="0" y="0"/>
              <a:ext cx="2048256" cy="731520"/>
            </a:xfrm>
            <a:custGeom>
              <a:avLst/>
              <a:gdLst/>
              <a:ahLst/>
              <a:cxnLst/>
              <a:rect r="r" b="b" t="t" l="l"/>
              <a:pathLst>
                <a:path h="731520" w="2048256">
                  <a:moveTo>
                    <a:pt x="0" y="0"/>
                  </a:moveTo>
                  <a:lnTo>
                    <a:pt x="2048256" y="0"/>
                  </a:lnTo>
                  <a:lnTo>
                    <a:pt x="2048256" y="731520"/>
                  </a:lnTo>
                  <a:lnTo>
                    <a:pt x="0" y="731520"/>
                  </a:lnTo>
                  <a:lnTo>
                    <a:pt x="0" y="0"/>
                  </a:lnTo>
                  <a:close/>
                </a:path>
              </a:pathLst>
            </a:custGeom>
            <a:blipFill>
              <a:blip r:embed="rId6"/>
              <a:stretch>
                <a:fillRect l="-301" t="0" r="-301" b="0"/>
              </a:stretch>
            </a:blipFill>
          </p:spPr>
        </p:sp>
      </p:grpSp>
      <p:grpSp>
        <p:nvGrpSpPr>
          <p:cNvPr name="Group 13" id="13"/>
          <p:cNvGrpSpPr/>
          <p:nvPr/>
        </p:nvGrpSpPr>
        <p:grpSpPr>
          <a:xfrm rot="0">
            <a:off x="852773" y="2400157"/>
            <a:ext cx="8175307" cy="3580447"/>
            <a:chOff x="0" y="0"/>
            <a:chExt cx="10900410" cy="4773930"/>
          </a:xfrm>
        </p:grpSpPr>
        <p:sp>
          <p:nvSpPr>
            <p:cNvPr name="Freeform 14" id="14"/>
            <p:cNvSpPr/>
            <p:nvPr/>
          </p:nvSpPr>
          <p:spPr>
            <a:xfrm flipH="false" flipV="false" rot="0">
              <a:off x="0" y="0"/>
              <a:ext cx="10900410" cy="4773930"/>
            </a:xfrm>
            <a:custGeom>
              <a:avLst/>
              <a:gdLst/>
              <a:ahLst/>
              <a:cxnLst/>
              <a:rect r="r" b="b" t="t" l="l"/>
              <a:pathLst>
                <a:path h="4773930" w="10900410">
                  <a:moveTo>
                    <a:pt x="0" y="0"/>
                  </a:moveTo>
                  <a:lnTo>
                    <a:pt x="10900410" y="0"/>
                  </a:lnTo>
                  <a:lnTo>
                    <a:pt x="10900410" y="4773930"/>
                  </a:lnTo>
                  <a:lnTo>
                    <a:pt x="0" y="4773930"/>
                  </a:lnTo>
                  <a:close/>
                </a:path>
              </a:pathLst>
            </a:custGeom>
            <a:solidFill>
              <a:srgbClr val="FFFFFF"/>
            </a:solidFill>
            <a:ln w="14288" cap="sq">
              <a:solidFill>
                <a:srgbClr val="D9DFEA"/>
              </a:solidFill>
              <a:prstDash val="solid"/>
              <a:miter/>
            </a:ln>
          </p:spPr>
        </p:sp>
      </p:grpSp>
      <p:grpSp>
        <p:nvGrpSpPr>
          <p:cNvPr name="Group 15" id="15"/>
          <p:cNvGrpSpPr/>
          <p:nvPr/>
        </p:nvGrpSpPr>
        <p:grpSpPr>
          <a:xfrm rot="0">
            <a:off x="850392" y="2397776"/>
            <a:ext cx="8180070" cy="80772"/>
            <a:chOff x="0" y="0"/>
            <a:chExt cx="10906760" cy="107696"/>
          </a:xfrm>
        </p:grpSpPr>
        <p:sp>
          <p:nvSpPr>
            <p:cNvPr name="Freeform 16" id="16"/>
            <p:cNvSpPr/>
            <p:nvPr/>
          </p:nvSpPr>
          <p:spPr>
            <a:xfrm flipH="false" flipV="false" rot="0">
              <a:off x="0" y="0"/>
              <a:ext cx="10906760" cy="107696"/>
            </a:xfrm>
            <a:custGeom>
              <a:avLst/>
              <a:gdLst/>
              <a:ahLst/>
              <a:cxnLst/>
              <a:rect r="r" b="b" t="t" l="l"/>
              <a:pathLst>
                <a:path h="107696" w="10906760">
                  <a:moveTo>
                    <a:pt x="0" y="0"/>
                  </a:moveTo>
                  <a:lnTo>
                    <a:pt x="10906760" y="0"/>
                  </a:lnTo>
                  <a:lnTo>
                    <a:pt x="10906760" y="107696"/>
                  </a:lnTo>
                  <a:lnTo>
                    <a:pt x="0" y="107696"/>
                  </a:lnTo>
                  <a:close/>
                </a:path>
              </a:pathLst>
            </a:custGeom>
            <a:solidFill>
              <a:srgbClr val="132257"/>
            </a:solidFill>
            <a:ln w="19050" cap="sq">
              <a:solidFill>
                <a:srgbClr val="132257"/>
              </a:solidFill>
              <a:prstDash val="solid"/>
              <a:miter/>
            </a:ln>
          </p:spPr>
        </p:sp>
      </p:grpSp>
      <p:grpSp>
        <p:nvGrpSpPr>
          <p:cNvPr name="Group 17" id="17"/>
          <p:cNvGrpSpPr/>
          <p:nvPr/>
        </p:nvGrpSpPr>
        <p:grpSpPr>
          <a:xfrm rot="0">
            <a:off x="852773" y="7554611"/>
            <a:ext cx="2620328" cy="1865948"/>
            <a:chOff x="0" y="0"/>
            <a:chExt cx="3493770" cy="2487930"/>
          </a:xfrm>
        </p:grpSpPr>
        <p:sp>
          <p:nvSpPr>
            <p:cNvPr name="Freeform 18" id="18"/>
            <p:cNvSpPr/>
            <p:nvPr/>
          </p:nvSpPr>
          <p:spPr>
            <a:xfrm flipH="false" flipV="false" rot="0">
              <a:off x="0" y="0"/>
              <a:ext cx="3493770" cy="2487930"/>
            </a:xfrm>
            <a:custGeom>
              <a:avLst/>
              <a:gdLst/>
              <a:ahLst/>
              <a:cxnLst/>
              <a:rect r="r" b="b" t="t" l="l"/>
              <a:pathLst>
                <a:path h="2487930" w="3493770">
                  <a:moveTo>
                    <a:pt x="0" y="0"/>
                  </a:moveTo>
                  <a:lnTo>
                    <a:pt x="3493770" y="0"/>
                  </a:lnTo>
                  <a:lnTo>
                    <a:pt x="3493770" y="2487930"/>
                  </a:lnTo>
                  <a:lnTo>
                    <a:pt x="0" y="2487930"/>
                  </a:lnTo>
                  <a:close/>
                </a:path>
              </a:pathLst>
            </a:custGeom>
            <a:solidFill>
              <a:srgbClr val="FFFFFF"/>
            </a:solidFill>
            <a:ln w="14288" cap="sq">
              <a:solidFill>
                <a:srgbClr val="D9DFEA"/>
              </a:solidFill>
              <a:prstDash val="solid"/>
              <a:miter/>
            </a:ln>
          </p:spPr>
        </p:sp>
      </p:grpSp>
      <p:grpSp>
        <p:nvGrpSpPr>
          <p:cNvPr name="Group 19" id="19"/>
          <p:cNvGrpSpPr/>
          <p:nvPr/>
        </p:nvGrpSpPr>
        <p:grpSpPr>
          <a:xfrm rot="0">
            <a:off x="850392" y="7552230"/>
            <a:ext cx="2625090" cy="80772"/>
            <a:chOff x="0" y="0"/>
            <a:chExt cx="3500120" cy="107696"/>
          </a:xfrm>
        </p:grpSpPr>
        <p:sp>
          <p:nvSpPr>
            <p:cNvPr name="Freeform 20" id="20"/>
            <p:cNvSpPr/>
            <p:nvPr/>
          </p:nvSpPr>
          <p:spPr>
            <a:xfrm flipH="false" flipV="false" rot="0">
              <a:off x="0" y="0"/>
              <a:ext cx="3500120" cy="107696"/>
            </a:xfrm>
            <a:custGeom>
              <a:avLst/>
              <a:gdLst/>
              <a:ahLst/>
              <a:cxnLst/>
              <a:rect r="r" b="b" t="t" l="l"/>
              <a:pathLst>
                <a:path h="107696" w="3500120">
                  <a:moveTo>
                    <a:pt x="0" y="0"/>
                  </a:moveTo>
                  <a:lnTo>
                    <a:pt x="3500120" y="0"/>
                  </a:lnTo>
                  <a:lnTo>
                    <a:pt x="3500120" y="107696"/>
                  </a:lnTo>
                  <a:lnTo>
                    <a:pt x="0" y="107696"/>
                  </a:lnTo>
                  <a:close/>
                </a:path>
              </a:pathLst>
            </a:custGeom>
            <a:solidFill>
              <a:srgbClr val="132257"/>
            </a:solidFill>
            <a:ln w="19050" cap="sq">
              <a:solidFill>
                <a:srgbClr val="132257"/>
              </a:solidFill>
              <a:prstDash val="solid"/>
              <a:miter/>
            </a:ln>
          </p:spPr>
        </p:sp>
      </p:grpSp>
      <p:grpSp>
        <p:nvGrpSpPr>
          <p:cNvPr name="Group 21" id="21"/>
          <p:cNvGrpSpPr/>
          <p:nvPr/>
        </p:nvGrpSpPr>
        <p:grpSpPr>
          <a:xfrm rot="0">
            <a:off x="3637121" y="7554611"/>
            <a:ext cx="2620328" cy="1865948"/>
            <a:chOff x="0" y="0"/>
            <a:chExt cx="3493770" cy="2487930"/>
          </a:xfrm>
        </p:grpSpPr>
        <p:sp>
          <p:nvSpPr>
            <p:cNvPr name="Freeform 22" id="22"/>
            <p:cNvSpPr/>
            <p:nvPr/>
          </p:nvSpPr>
          <p:spPr>
            <a:xfrm flipH="false" flipV="false" rot="0">
              <a:off x="0" y="0"/>
              <a:ext cx="3493770" cy="2487930"/>
            </a:xfrm>
            <a:custGeom>
              <a:avLst/>
              <a:gdLst/>
              <a:ahLst/>
              <a:cxnLst/>
              <a:rect r="r" b="b" t="t" l="l"/>
              <a:pathLst>
                <a:path h="2487930" w="3493770">
                  <a:moveTo>
                    <a:pt x="0" y="0"/>
                  </a:moveTo>
                  <a:lnTo>
                    <a:pt x="3493770" y="0"/>
                  </a:lnTo>
                  <a:lnTo>
                    <a:pt x="3493770" y="2487930"/>
                  </a:lnTo>
                  <a:lnTo>
                    <a:pt x="0" y="2487930"/>
                  </a:lnTo>
                  <a:close/>
                </a:path>
              </a:pathLst>
            </a:custGeom>
            <a:solidFill>
              <a:srgbClr val="FFFFFF"/>
            </a:solidFill>
            <a:ln w="14288" cap="sq">
              <a:solidFill>
                <a:srgbClr val="D9DFEA"/>
              </a:solidFill>
              <a:prstDash val="solid"/>
              <a:miter/>
            </a:ln>
          </p:spPr>
        </p:sp>
      </p:grpSp>
      <p:grpSp>
        <p:nvGrpSpPr>
          <p:cNvPr name="Group 23" id="23"/>
          <p:cNvGrpSpPr/>
          <p:nvPr/>
        </p:nvGrpSpPr>
        <p:grpSpPr>
          <a:xfrm rot="0">
            <a:off x="3634740" y="7552230"/>
            <a:ext cx="2625090" cy="80772"/>
            <a:chOff x="0" y="0"/>
            <a:chExt cx="3500120" cy="107696"/>
          </a:xfrm>
        </p:grpSpPr>
        <p:sp>
          <p:nvSpPr>
            <p:cNvPr name="Freeform 24" id="24"/>
            <p:cNvSpPr/>
            <p:nvPr/>
          </p:nvSpPr>
          <p:spPr>
            <a:xfrm flipH="false" flipV="false" rot="0">
              <a:off x="0" y="0"/>
              <a:ext cx="3500120" cy="107696"/>
            </a:xfrm>
            <a:custGeom>
              <a:avLst/>
              <a:gdLst/>
              <a:ahLst/>
              <a:cxnLst/>
              <a:rect r="r" b="b" t="t" l="l"/>
              <a:pathLst>
                <a:path h="107696" w="3500120">
                  <a:moveTo>
                    <a:pt x="0" y="0"/>
                  </a:moveTo>
                  <a:lnTo>
                    <a:pt x="3500120" y="0"/>
                  </a:lnTo>
                  <a:lnTo>
                    <a:pt x="3500120" y="107696"/>
                  </a:lnTo>
                  <a:lnTo>
                    <a:pt x="0" y="107696"/>
                  </a:lnTo>
                  <a:close/>
                </a:path>
              </a:pathLst>
            </a:custGeom>
            <a:solidFill>
              <a:srgbClr val="9A7B1F"/>
            </a:solidFill>
            <a:ln w="19050" cap="sq">
              <a:solidFill>
                <a:srgbClr val="9A7B1F"/>
              </a:solidFill>
              <a:prstDash val="solid"/>
              <a:miter/>
            </a:ln>
          </p:spPr>
        </p:sp>
      </p:grpSp>
      <p:grpSp>
        <p:nvGrpSpPr>
          <p:cNvPr name="Group 25" id="25"/>
          <p:cNvGrpSpPr/>
          <p:nvPr/>
        </p:nvGrpSpPr>
        <p:grpSpPr>
          <a:xfrm rot="0">
            <a:off x="6421469" y="7554611"/>
            <a:ext cx="2620328" cy="1865948"/>
            <a:chOff x="0" y="0"/>
            <a:chExt cx="3493770" cy="2487930"/>
          </a:xfrm>
        </p:grpSpPr>
        <p:sp>
          <p:nvSpPr>
            <p:cNvPr name="Freeform 26" id="26"/>
            <p:cNvSpPr/>
            <p:nvPr/>
          </p:nvSpPr>
          <p:spPr>
            <a:xfrm flipH="false" flipV="false" rot="0">
              <a:off x="0" y="0"/>
              <a:ext cx="3493770" cy="2487930"/>
            </a:xfrm>
            <a:custGeom>
              <a:avLst/>
              <a:gdLst/>
              <a:ahLst/>
              <a:cxnLst/>
              <a:rect r="r" b="b" t="t" l="l"/>
              <a:pathLst>
                <a:path h="2487930" w="3493770">
                  <a:moveTo>
                    <a:pt x="0" y="0"/>
                  </a:moveTo>
                  <a:lnTo>
                    <a:pt x="3493770" y="0"/>
                  </a:lnTo>
                  <a:lnTo>
                    <a:pt x="3493770" y="2487930"/>
                  </a:lnTo>
                  <a:lnTo>
                    <a:pt x="0" y="2487930"/>
                  </a:lnTo>
                  <a:close/>
                </a:path>
              </a:pathLst>
            </a:custGeom>
            <a:solidFill>
              <a:srgbClr val="FFFFFF"/>
            </a:solidFill>
            <a:ln w="14288" cap="sq">
              <a:solidFill>
                <a:srgbClr val="D9DFEA"/>
              </a:solidFill>
              <a:prstDash val="solid"/>
              <a:miter/>
            </a:ln>
          </p:spPr>
        </p:sp>
      </p:grpSp>
      <p:grpSp>
        <p:nvGrpSpPr>
          <p:cNvPr name="Group 27" id="27"/>
          <p:cNvGrpSpPr/>
          <p:nvPr/>
        </p:nvGrpSpPr>
        <p:grpSpPr>
          <a:xfrm rot="0">
            <a:off x="6419088" y="7552230"/>
            <a:ext cx="2625090" cy="80772"/>
            <a:chOff x="0" y="0"/>
            <a:chExt cx="3500120" cy="107696"/>
          </a:xfrm>
        </p:grpSpPr>
        <p:sp>
          <p:nvSpPr>
            <p:cNvPr name="Freeform 28" id="28"/>
            <p:cNvSpPr/>
            <p:nvPr/>
          </p:nvSpPr>
          <p:spPr>
            <a:xfrm flipH="false" flipV="false" rot="0">
              <a:off x="0" y="0"/>
              <a:ext cx="3500120" cy="107696"/>
            </a:xfrm>
            <a:custGeom>
              <a:avLst/>
              <a:gdLst/>
              <a:ahLst/>
              <a:cxnLst/>
              <a:rect r="r" b="b" t="t" l="l"/>
              <a:pathLst>
                <a:path h="107696" w="3500120">
                  <a:moveTo>
                    <a:pt x="0" y="0"/>
                  </a:moveTo>
                  <a:lnTo>
                    <a:pt x="3500120" y="0"/>
                  </a:lnTo>
                  <a:lnTo>
                    <a:pt x="3500120" y="107696"/>
                  </a:lnTo>
                  <a:lnTo>
                    <a:pt x="0" y="107696"/>
                  </a:lnTo>
                  <a:close/>
                </a:path>
              </a:pathLst>
            </a:custGeom>
            <a:solidFill>
              <a:srgbClr val="132257"/>
            </a:solidFill>
            <a:ln w="19050" cap="sq">
              <a:solidFill>
                <a:srgbClr val="132257"/>
              </a:solidFill>
              <a:prstDash val="solid"/>
              <a:miter/>
            </a:ln>
          </p:spPr>
        </p:sp>
      </p:grpSp>
      <p:sp>
        <p:nvSpPr>
          <p:cNvPr name="Freeform 29" id="29"/>
          <p:cNvSpPr/>
          <p:nvPr/>
        </p:nvSpPr>
        <p:spPr>
          <a:xfrm flipH="false" flipV="false" rot="0">
            <a:off x="9206103" y="2397776"/>
            <a:ext cx="7119550" cy="7022782"/>
          </a:xfrm>
          <a:custGeom>
            <a:avLst/>
            <a:gdLst/>
            <a:ahLst/>
            <a:cxnLst/>
            <a:rect r="r" b="b" t="t" l="l"/>
            <a:pathLst>
              <a:path h="7022782" w="7119550">
                <a:moveTo>
                  <a:pt x="0" y="0"/>
                </a:moveTo>
                <a:lnTo>
                  <a:pt x="7119550" y="0"/>
                </a:lnTo>
                <a:lnTo>
                  <a:pt x="7119550" y="7022782"/>
                </a:lnTo>
                <a:lnTo>
                  <a:pt x="0" y="7022782"/>
                </a:lnTo>
                <a:lnTo>
                  <a:pt x="0" y="0"/>
                </a:lnTo>
                <a:close/>
              </a:path>
            </a:pathLst>
          </a:custGeom>
          <a:blipFill>
            <a:blip r:embed="rId7"/>
            <a:stretch>
              <a:fillRect l="-1459" t="0" r="-2592" b="0"/>
            </a:stretch>
          </a:blipFill>
        </p:spPr>
        <p:txBody>
          <a:bodyPr/>
          <a:p/>
        </p:txBody>
      </p:sp>
      <p:sp>
        <p:nvSpPr>
          <p:cNvPr name="Freeform 30" id="30"/>
          <p:cNvSpPr/>
          <p:nvPr/>
        </p:nvSpPr>
        <p:spPr>
          <a:xfrm flipH="false" flipV="false" rot="0">
            <a:off x="2874690" y="6047280"/>
            <a:ext cx="4442112" cy="1429995"/>
          </a:xfrm>
          <a:custGeom>
            <a:avLst/>
            <a:gdLst/>
            <a:ahLst/>
            <a:cxnLst/>
            <a:rect r="r" b="b" t="t" l="l"/>
            <a:pathLst>
              <a:path h="1429995" w="4442112">
                <a:moveTo>
                  <a:pt x="0" y="0"/>
                </a:moveTo>
                <a:lnTo>
                  <a:pt x="4442112" y="0"/>
                </a:lnTo>
                <a:lnTo>
                  <a:pt x="4442112" y="1429994"/>
                </a:lnTo>
                <a:lnTo>
                  <a:pt x="0" y="1429994"/>
                </a:lnTo>
                <a:lnTo>
                  <a:pt x="0" y="0"/>
                </a:lnTo>
                <a:close/>
              </a:path>
            </a:pathLst>
          </a:custGeom>
          <a:blipFill>
            <a:blip r:embed="rId8"/>
            <a:stretch>
              <a:fillRect l="0" t="0" r="0" b="0"/>
            </a:stretch>
          </a:blipFill>
        </p:spPr>
        <p:txBody>
          <a:bodyPr/>
          <a:p/>
        </p:txBody>
      </p:sp>
      <p:sp>
        <p:nvSpPr>
          <p:cNvPr name="TextBox 31" id="31"/>
          <p:cNvSpPr txBox="true"/>
          <p:nvPr/>
        </p:nvSpPr>
        <p:spPr>
          <a:xfrm rot="0">
            <a:off x="850392" y="401955"/>
            <a:ext cx="13716000" cy="311277"/>
          </a:xfrm>
          <a:prstGeom prst="rect">
            <a:avLst/>
          </a:prstGeom>
        </p:spPr>
        <p:txBody>
          <a:bodyPr anchor="t" rtlCol="false" tIns="0" lIns="0" bIns="0" rIns="0">
            <a:spAutoFit/>
          </a:bodyPr>
          <a:lstStyle/>
          <a:p>
            <a:pPr algn="l">
              <a:lnSpc>
                <a:spcPts val="1709"/>
              </a:lnSpc>
            </a:pPr>
            <a:r>
              <a:rPr lang="en-US" b="true" sz="1425" spc="299">
                <a:solidFill>
                  <a:srgbClr val="D4AF37"/>
                </a:solidFill>
                <a:latin typeface="Exo 2 Bold"/>
                <a:ea typeface="Exo 2 Bold"/>
                <a:cs typeface="Exo 2 Bold"/>
                <a:sym typeface="Exo 2 Bold"/>
              </a:rPr>
              <a:t>JODEL, SAUDI ARABIA</a:t>
            </a:r>
          </a:p>
        </p:txBody>
      </p:sp>
      <p:sp>
        <p:nvSpPr>
          <p:cNvPr name="TextBox 32" id="32"/>
          <p:cNvSpPr txBox="true"/>
          <p:nvPr/>
        </p:nvSpPr>
        <p:spPr>
          <a:xfrm rot="0">
            <a:off x="850392" y="9728835"/>
            <a:ext cx="8229600" cy="311277"/>
          </a:xfrm>
          <a:prstGeom prst="rect">
            <a:avLst/>
          </a:prstGeom>
        </p:spPr>
        <p:txBody>
          <a:bodyPr anchor="t" rtlCol="false" tIns="0" lIns="0" bIns="0" rIns="0">
            <a:spAutoFit/>
          </a:bodyPr>
          <a:lstStyle/>
          <a:p>
            <a:pPr algn="l">
              <a:lnSpc>
                <a:spcPts val="1439"/>
              </a:lnSpc>
            </a:pPr>
            <a:r>
              <a:rPr lang="en-US" sz="1200">
                <a:solidFill>
                  <a:srgbClr val="8A93A8"/>
                </a:solidFill>
                <a:latin typeface="Exo 2"/>
                <a:ea typeface="Exo 2"/>
                <a:cs typeface="Exo 2"/>
                <a:sym typeface="Exo 2"/>
              </a:rPr>
              <a:t>eMYAA Trading Platform  |  Saudi Market Plan</a:t>
            </a:r>
          </a:p>
        </p:txBody>
      </p:sp>
      <p:sp>
        <p:nvSpPr>
          <p:cNvPr name="TextBox 33" id="33"/>
          <p:cNvSpPr txBox="true"/>
          <p:nvPr/>
        </p:nvSpPr>
        <p:spPr>
          <a:xfrm rot="0">
            <a:off x="14703552" y="9728835"/>
            <a:ext cx="685800" cy="190500"/>
          </a:xfrm>
          <a:prstGeom prst="rect">
            <a:avLst/>
          </a:prstGeom>
        </p:spPr>
        <p:txBody>
          <a:bodyPr anchor="t" rtlCol="false" tIns="0" lIns="0" bIns="0" rIns="0">
            <a:spAutoFit/>
          </a:bodyPr>
          <a:lstStyle/>
          <a:p>
            <a:pPr algn="r">
              <a:lnSpc>
                <a:spcPts val="1439"/>
              </a:lnSpc>
            </a:pPr>
            <a:r>
              <a:rPr lang="en-US" sz="1200">
                <a:solidFill>
                  <a:srgbClr val="8A93A8"/>
                </a:solidFill>
                <a:latin typeface="Exo 2"/>
                <a:ea typeface="Exo 2"/>
                <a:cs typeface="Exo 2"/>
                <a:sym typeface="Exo 2"/>
              </a:rPr>
              <a:t>7</a:t>
            </a:r>
          </a:p>
        </p:txBody>
      </p:sp>
      <p:sp>
        <p:nvSpPr>
          <p:cNvPr name="TextBox 34" id="34"/>
          <p:cNvSpPr txBox="true"/>
          <p:nvPr/>
        </p:nvSpPr>
        <p:spPr>
          <a:xfrm rot="0">
            <a:off x="1243965" y="2672096"/>
            <a:ext cx="6858000" cy="421005"/>
          </a:xfrm>
          <a:prstGeom prst="rect">
            <a:avLst/>
          </a:prstGeom>
        </p:spPr>
        <p:txBody>
          <a:bodyPr anchor="t" rtlCol="false" tIns="0" lIns="0" bIns="0" rIns="0">
            <a:spAutoFit/>
          </a:bodyPr>
          <a:lstStyle/>
          <a:p>
            <a:pPr algn="l">
              <a:lnSpc>
                <a:spcPts val="1800"/>
              </a:lnSpc>
            </a:pPr>
            <a:r>
              <a:rPr lang="en-US" b="true" sz="1500" spc="150">
                <a:solidFill>
                  <a:srgbClr val="3C61B6"/>
                </a:solidFill>
                <a:latin typeface="Exo 2 Bold"/>
                <a:ea typeface="Exo 2 Bold"/>
                <a:cs typeface="Exo 2 Bold"/>
                <a:sym typeface="Exo 2 Bold"/>
              </a:rPr>
              <a:t>THE OFFER</a:t>
            </a:r>
          </a:p>
        </p:txBody>
      </p:sp>
      <p:sp>
        <p:nvSpPr>
          <p:cNvPr name="TextBox 35" id="35"/>
          <p:cNvSpPr txBox="true"/>
          <p:nvPr/>
        </p:nvSpPr>
        <p:spPr>
          <a:xfrm rot="0">
            <a:off x="1243965" y="3152156"/>
            <a:ext cx="7406640" cy="832485"/>
          </a:xfrm>
          <a:prstGeom prst="rect">
            <a:avLst/>
          </a:prstGeom>
        </p:spPr>
        <p:txBody>
          <a:bodyPr anchor="t" rtlCol="false" tIns="0" lIns="0" bIns="0" rIns="0">
            <a:spAutoFit/>
          </a:bodyPr>
          <a:lstStyle/>
          <a:p>
            <a:pPr algn="l">
              <a:lnSpc>
                <a:spcPts val="5040"/>
              </a:lnSpc>
            </a:pPr>
            <a:r>
              <a:rPr lang="en-US" sz="4200" b="true">
                <a:solidFill>
                  <a:srgbClr val="132257"/>
                </a:solidFill>
                <a:latin typeface="Exo 2 Bold"/>
                <a:ea typeface="Exo 2 Bold"/>
                <a:cs typeface="Exo 2 Bold"/>
                <a:sym typeface="Exo 2 Bold"/>
              </a:rPr>
              <a:t>USD 3,862.50 + VAT</a:t>
            </a:r>
          </a:p>
        </p:txBody>
      </p:sp>
      <p:sp>
        <p:nvSpPr>
          <p:cNvPr name="TextBox 36" id="36"/>
          <p:cNvSpPr txBox="true"/>
          <p:nvPr/>
        </p:nvSpPr>
        <p:spPr>
          <a:xfrm rot="0">
            <a:off x="1243965" y="4043696"/>
            <a:ext cx="7406640" cy="421005"/>
          </a:xfrm>
          <a:prstGeom prst="rect">
            <a:avLst/>
          </a:prstGeom>
        </p:spPr>
        <p:txBody>
          <a:bodyPr anchor="t" rtlCol="false" tIns="0" lIns="0" bIns="0" rIns="0">
            <a:spAutoFit/>
          </a:bodyPr>
          <a:lstStyle/>
          <a:p>
            <a:pPr algn="l">
              <a:lnSpc>
                <a:spcPts val="2160"/>
              </a:lnSpc>
            </a:pPr>
            <a:r>
              <a:rPr lang="en-US" sz="1800">
                <a:solidFill>
                  <a:srgbClr val="6B7590"/>
                </a:solidFill>
                <a:latin typeface="Exo 2"/>
                <a:ea typeface="Exo 2"/>
                <a:cs typeface="Exo 2"/>
                <a:sym typeface="Exo 2"/>
              </a:rPr>
              <a:t>7 days  |  all of Saudi Arabia</a:t>
            </a:r>
          </a:p>
        </p:txBody>
      </p:sp>
      <p:sp>
        <p:nvSpPr>
          <p:cNvPr name="TextBox 37" id="37"/>
          <p:cNvSpPr txBox="true"/>
          <p:nvPr/>
        </p:nvSpPr>
        <p:spPr>
          <a:xfrm rot="0">
            <a:off x="1243965" y="4592336"/>
            <a:ext cx="7406640" cy="1106805"/>
          </a:xfrm>
          <a:prstGeom prst="rect">
            <a:avLst/>
          </a:prstGeom>
        </p:spPr>
        <p:txBody>
          <a:bodyPr anchor="t" rtlCol="false" tIns="0" lIns="0" bIns="0" rIns="0">
            <a:spAutoFit/>
          </a:bodyPr>
          <a:lstStyle/>
          <a:p>
            <a:pPr algn="l">
              <a:lnSpc>
                <a:spcPts val="2160"/>
              </a:lnSpc>
            </a:pPr>
            <a:r>
              <a:rPr lang="en-US" sz="1800">
                <a:solidFill>
                  <a:srgbClr val="1F2A44"/>
                </a:solidFill>
                <a:latin typeface="Exo 2"/>
                <a:ea typeface="Exo 2"/>
                <a:cs typeface="Exo 2"/>
                <a:sym typeface="Exo 2"/>
              </a:rPr>
              <a:t>525,000 display and video impressions + 24-hour takeover poll (2,000,000 impressions)</a:t>
            </a:r>
          </a:p>
        </p:txBody>
      </p:sp>
      <p:sp>
        <p:nvSpPr>
          <p:cNvPr name="TextBox 38" id="38"/>
          <p:cNvSpPr txBox="true"/>
          <p:nvPr/>
        </p:nvSpPr>
        <p:spPr>
          <a:xfrm rot="0">
            <a:off x="1134237" y="7799118"/>
            <a:ext cx="2057400" cy="763905"/>
          </a:xfrm>
          <a:prstGeom prst="rect">
            <a:avLst/>
          </a:prstGeom>
        </p:spPr>
        <p:txBody>
          <a:bodyPr anchor="t" rtlCol="false" tIns="0" lIns="0" bIns="0" rIns="0">
            <a:spAutoFit/>
          </a:bodyPr>
          <a:lstStyle/>
          <a:p>
            <a:pPr algn="l">
              <a:lnSpc>
                <a:spcPts val="4680"/>
              </a:lnSpc>
            </a:pPr>
            <a:r>
              <a:rPr lang="en-US" sz="3900" b="true">
                <a:solidFill>
                  <a:srgbClr val="132257"/>
                </a:solidFill>
                <a:latin typeface="Exo 2 Bold"/>
                <a:ea typeface="Exo 2 Bold"/>
                <a:cs typeface="Exo 2 Bold"/>
                <a:sym typeface="Exo 2 Bold"/>
              </a:rPr>
              <a:t>2.5M</a:t>
            </a:r>
          </a:p>
        </p:txBody>
      </p:sp>
      <p:sp>
        <p:nvSpPr>
          <p:cNvPr name="TextBox 39" id="39"/>
          <p:cNvSpPr txBox="true"/>
          <p:nvPr/>
        </p:nvSpPr>
        <p:spPr>
          <a:xfrm rot="0">
            <a:off x="1134237" y="8590455"/>
            <a:ext cx="2057400" cy="411480"/>
          </a:xfrm>
          <a:prstGeom prst="rect">
            <a:avLst/>
          </a:prstGeom>
        </p:spPr>
        <p:txBody>
          <a:bodyPr anchor="t" rtlCol="false" tIns="0" lIns="0" bIns="0" rIns="0">
            <a:spAutoFit/>
          </a:bodyPr>
          <a:lstStyle/>
          <a:p>
            <a:pPr algn="l">
              <a:lnSpc>
                <a:spcPts val="1980"/>
              </a:lnSpc>
            </a:pPr>
            <a:r>
              <a:rPr lang="en-US" sz="1650" b="true">
                <a:solidFill>
                  <a:srgbClr val="132257"/>
                </a:solidFill>
                <a:latin typeface="Exo 2 Bold"/>
                <a:ea typeface="Exo 2 Bold"/>
                <a:cs typeface="Exo 2 Bold"/>
                <a:sym typeface="Exo 2 Bold"/>
              </a:rPr>
              <a:t>impressions</a:t>
            </a:r>
          </a:p>
        </p:txBody>
      </p:sp>
      <p:sp>
        <p:nvSpPr>
          <p:cNvPr name="TextBox 40" id="40"/>
          <p:cNvSpPr txBox="true"/>
          <p:nvPr/>
        </p:nvSpPr>
        <p:spPr>
          <a:xfrm rot="0">
            <a:off x="1134237" y="8951262"/>
            <a:ext cx="2057400" cy="393573"/>
          </a:xfrm>
          <a:prstGeom prst="rect">
            <a:avLst/>
          </a:prstGeom>
        </p:spPr>
        <p:txBody>
          <a:bodyPr anchor="t" rtlCol="false" tIns="0" lIns="0" bIns="0" rIns="0">
            <a:spAutoFit/>
          </a:bodyPr>
          <a:lstStyle/>
          <a:p>
            <a:pPr algn="l">
              <a:lnSpc>
                <a:spcPts val="1620"/>
              </a:lnSpc>
            </a:pPr>
            <a:r>
              <a:rPr lang="en-US" sz="1350">
                <a:solidFill>
                  <a:srgbClr val="6B7590"/>
                </a:solidFill>
                <a:latin typeface="Exo 2"/>
                <a:ea typeface="Exo 2"/>
                <a:cs typeface="Exo 2"/>
                <a:sym typeface="Exo 2"/>
              </a:rPr>
              <a:t>in 7 days</a:t>
            </a:r>
          </a:p>
        </p:txBody>
      </p:sp>
      <p:sp>
        <p:nvSpPr>
          <p:cNvPr name="TextBox 41" id="41"/>
          <p:cNvSpPr txBox="true"/>
          <p:nvPr/>
        </p:nvSpPr>
        <p:spPr>
          <a:xfrm rot="0">
            <a:off x="3918585" y="7799118"/>
            <a:ext cx="2057400" cy="763905"/>
          </a:xfrm>
          <a:prstGeom prst="rect">
            <a:avLst/>
          </a:prstGeom>
        </p:spPr>
        <p:txBody>
          <a:bodyPr anchor="t" rtlCol="false" tIns="0" lIns="0" bIns="0" rIns="0">
            <a:spAutoFit/>
          </a:bodyPr>
          <a:lstStyle/>
          <a:p>
            <a:pPr algn="l">
              <a:lnSpc>
                <a:spcPts val="4680"/>
              </a:lnSpc>
            </a:pPr>
            <a:r>
              <a:rPr lang="en-US" sz="3900" b="true">
                <a:solidFill>
                  <a:srgbClr val="9A7B1F"/>
                </a:solidFill>
                <a:latin typeface="Exo 2 Bold"/>
                <a:ea typeface="Exo 2 Bold"/>
                <a:cs typeface="Exo 2 Bold"/>
                <a:sym typeface="Exo 2 Bold"/>
              </a:rPr>
              <a:t>USD 1.53</a:t>
            </a:r>
          </a:p>
        </p:txBody>
      </p:sp>
      <p:sp>
        <p:nvSpPr>
          <p:cNvPr name="TextBox 42" id="42"/>
          <p:cNvSpPr txBox="true"/>
          <p:nvPr/>
        </p:nvSpPr>
        <p:spPr>
          <a:xfrm rot="0">
            <a:off x="3918585" y="8590455"/>
            <a:ext cx="2057400" cy="411480"/>
          </a:xfrm>
          <a:prstGeom prst="rect">
            <a:avLst/>
          </a:prstGeom>
        </p:spPr>
        <p:txBody>
          <a:bodyPr anchor="t" rtlCol="false" tIns="0" lIns="0" bIns="0" rIns="0">
            <a:spAutoFit/>
          </a:bodyPr>
          <a:lstStyle/>
          <a:p>
            <a:pPr algn="l">
              <a:lnSpc>
                <a:spcPts val="1980"/>
              </a:lnSpc>
            </a:pPr>
            <a:r>
              <a:rPr lang="en-US" sz="1650" b="true">
                <a:solidFill>
                  <a:srgbClr val="132257"/>
                </a:solidFill>
                <a:latin typeface="Exo 2 Bold"/>
                <a:ea typeface="Exo 2 Bold"/>
                <a:cs typeface="Exo 2 Bold"/>
                <a:sym typeface="Exo 2 Bold"/>
              </a:rPr>
              <a:t>per 1,000</a:t>
            </a:r>
          </a:p>
        </p:txBody>
      </p:sp>
      <p:sp>
        <p:nvSpPr>
          <p:cNvPr name="TextBox 43" id="43"/>
          <p:cNvSpPr txBox="true"/>
          <p:nvPr/>
        </p:nvSpPr>
        <p:spPr>
          <a:xfrm rot="0">
            <a:off x="3918585" y="8951262"/>
            <a:ext cx="2057400" cy="393573"/>
          </a:xfrm>
          <a:prstGeom prst="rect">
            <a:avLst/>
          </a:prstGeom>
        </p:spPr>
        <p:txBody>
          <a:bodyPr anchor="t" rtlCol="false" tIns="0" lIns="0" bIns="0" rIns="0">
            <a:spAutoFit/>
          </a:bodyPr>
          <a:lstStyle/>
          <a:p>
            <a:pPr algn="l">
              <a:lnSpc>
                <a:spcPts val="1620"/>
              </a:lnSpc>
            </a:pPr>
            <a:r>
              <a:rPr lang="en-US" sz="1350">
                <a:solidFill>
                  <a:srgbClr val="6B7590"/>
                </a:solidFill>
                <a:latin typeface="Exo 2"/>
                <a:ea typeface="Exo 2"/>
                <a:cs typeface="Exo 2"/>
                <a:sym typeface="Exo 2"/>
              </a:rPr>
              <a:t>impressions</a:t>
            </a:r>
          </a:p>
        </p:txBody>
      </p:sp>
      <p:sp>
        <p:nvSpPr>
          <p:cNvPr name="TextBox 44" id="44"/>
          <p:cNvSpPr txBox="true"/>
          <p:nvPr/>
        </p:nvSpPr>
        <p:spPr>
          <a:xfrm rot="0">
            <a:off x="6702933" y="7799118"/>
            <a:ext cx="2057400" cy="763905"/>
          </a:xfrm>
          <a:prstGeom prst="rect">
            <a:avLst/>
          </a:prstGeom>
        </p:spPr>
        <p:txBody>
          <a:bodyPr anchor="t" rtlCol="false" tIns="0" lIns="0" bIns="0" rIns="0">
            <a:spAutoFit/>
          </a:bodyPr>
          <a:lstStyle/>
          <a:p>
            <a:pPr algn="l">
              <a:lnSpc>
                <a:spcPts val="4680"/>
              </a:lnSpc>
            </a:pPr>
            <a:r>
              <a:rPr lang="en-US" sz="3900" b="true">
                <a:solidFill>
                  <a:srgbClr val="132257"/>
                </a:solidFill>
                <a:latin typeface="Exo 2 Bold"/>
                <a:ea typeface="Exo 2 Bold"/>
                <a:cs typeface="Exo 2 Bold"/>
                <a:sym typeface="Exo 2 Bold"/>
              </a:rPr>
              <a:t>21 to 35</a:t>
            </a:r>
          </a:p>
        </p:txBody>
      </p:sp>
      <p:sp>
        <p:nvSpPr>
          <p:cNvPr name="TextBox 45" id="45"/>
          <p:cNvSpPr txBox="true"/>
          <p:nvPr/>
        </p:nvSpPr>
        <p:spPr>
          <a:xfrm rot="0">
            <a:off x="6702933" y="8590455"/>
            <a:ext cx="2057400" cy="411480"/>
          </a:xfrm>
          <a:prstGeom prst="rect">
            <a:avLst/>
          </a:prstGeom>
        </p:spPr>
        <p:txBody>
          <a:bodyPr anchor="t" rtlCol="false" tIns="0" lIns="0" bIns="0" rIns="0">
            <a:spAutoFit/>
          </a:bodyPr>
          <a:lstStyle/>
          <a:p>
            <a:pPr algn="l">
              <a:lnSpc>
                <a:spcPts val="1980"/>
              </a:lnSpc>
            </a:pPr>
            <a:r>
              <a:rPr lang="en-US" sz="1650" b="true">
                <a:solidFill>
                  <a:srgbClr val="132257"/>
                </a:solidFill>
                <a:latin typeface="Exo 2 Bold"/>
                <a:ea typeface="Exo 2 Bold"/>
                <a:cs typeface="Exo 2 Bold"/>
                <a:sym typeface="Exo 2 Bold"/>
              </a:rPr>
              <a:t>audience age</a:t>
            </a:r>
          </a:p>
        </p:txBody>
      </p:sp>
      <p:sp>
        <p:nvSpPr>
          <p:cNvPr name="TextBox 46" id="46"/>
          <p:cNvSpPr txBox="true"/>
          <p:nvPr/>
        </p:nvSpPr>
        <p:spPr>
          <a:xfrm rot="0">
            <a:off x="6702933" y="8951262"/>
            <a:ext cx="2057400" cy="393573"/>
          </a:xfrm>
          <a:prstGeom prst="rect">
            <a:avLst/>
          </a:prstGeom>
        </p:spPr>
        <p:txBody>
          <a:bodyPr anchor="t" rtlCol="false" tIns="0" lIns="0" bIns="0" rIns="0">
            <a:spAutoFit/>
          </a:bodyPr>
          <a:lstStyle/>
          <a:p>
            <a:pPr algn="l">
              <a:lnSpc>
                <a:spcPts val="1620"/>
              </a:lnSpc>
            </a:pPr>
            <a:r>
              <a:rPr lang="en-US" sz="1350">
                <a:solidFill>
                  <a:srgbClr val="6B7590"/>
                </a:solidFill>
                <a:latin typeface="Exo 2"/>
                <a:ea typeface="Exo 2"/>
                <a:cs typeface="Exo 2"/>
                <a:sym typeface="Exo 2"/>
              </a:rPr>
              <a:t>2.5M users in KSA</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7543" cy="1947672"/>
            <a:chOff x="0" y="0"/>
            <a:chExt cx="24383390" cy="2596896"/>
          </a:xfrm>
        </p:grpSpPr>
        <p:sp>
          <p:nvSpPr>
            <p:cNvPr name="Freeform 3" id="3" descr="/home/user/HatemIsa_202508993_IT9002_NLP_Project/emyaa-ceo-deck/working/charts/board_header.png"/>
            <p:cNvSpPr/>
            <p:nvPr/>
          </p:nvSpPr>
          <p:spPr>
            <a:xfrm flipH="false" flipV="false" rot="0">
              <a:off x="0" y="0"/>
              <a:ext cx="24383364" cy="2596896"/>
            </a:xfrm>
            <a:custGeom>
              <a:avLst/>
              <a:gdLst/>
              <a:ahLst/>
              <a:cxnLst/>
              <a:rect r="r" b="b" t="t" l="l"/>
              <a:pathLst>
                <a:path h="2596896" w="24383364">
                  <a:moveTo>
                    <a:pt x="0" y="0"/>
                  </a:moveTo>
                  <a:lnTo>
                    <a:pt x="24383364" y="0"/>
                  </a:lnTo>
                  <a:lnTo>
                    <a:pt x="24383364" y="2596896"/>
                  </a:lnTo>
                  <a:lnTo>
                    <a:pt x="0" y="2596896"/>
                  </a:lnTo>
                  <a:lnTo>
                    <a:pt x="0" y="0"/>
                  </a:lnTo>
                  <a:close/>
                </a:path>
              </a:pathLst>
            </a:custGeom>
            <a:blipFill>
              <a:blip r:embed="rId3"/>
              <a:stretch>
                <a:fillRect l="0" t="-1172" r="0" b="-1172"/>
              </a:stretch>
            </a:blipFill>
          </p:spPr>
        </p:sp>
      </p:grpSp>
      <p:grpSp>
        <p:nvGrpSpPr>
          <p:cNvPr name="Group 4" id="4"/>
          <p:cNvGrpSpPr/>
          <p:nvPr/>
        </p:nvGrpSpPr>
        <p:grpSpPr>
          <a:xfrm rot="0">
            <a:off x="-9525" y="1938147"/>
            <a:ext cx="18306593" cy="60198"/>
            <a:chOff x="0" y="0"/>
            <a:chExt cx="24408790" cy="80264"/>
          </a:xfrm>
        </p:grpSpPr>
        <p:sp>
          <p:nvSpPr>
            <p:cNvPr name="Freeform 5" id="5"/>
            <p:cNvSpPr/>
            <p:nvPr/>
          </p:nvSpPr>
          <p:spPr>
            <a:xfrm flipH="false" flipV="false" rot="0">
              <a:off x="0" y="0"/>
              <a:ext cx="24408764" cy="80264"/>
            </a:xfrm>
            <a:custGeom>
              <a:avLst/>
              <a:gdLst/>
              <a:ahLst/>
              <a:cxnLst/>
              <a:rect r="r" b="b" t="t" l="l"/>
              <a:pathLst>
                <a:path h="80264" w="24408764">
                  <a:moveTo>
                    <a:pt x="0" y="0"/>
                  </a:moveTo>
                  <a:lnTo>
                    <a:pt x="24408764" y="0"/>
                  </a:lnTo>
                  <a:lnTo>
                    <a:pt x="24408764" y="80264"/>
                  </a:lnTo>
                  <a:lnTo>
                    <a:pt x="0" y="80264"/>
                  </a:lnTo>
                  <a:close/>
                </a:path>
              </a:pathLst>
            </a:custGeom>
            <a:solidFill>
              <a:srgbClr val="D4AF37"/>
            </a:solidFill>
            <a:ln w="19050" cap="sq">
              <a:solidFill>
                <a:srgbClr val="D4AF37"/>
              </a:solidFill>
              <a:prstDash val="solid"/>
              <a:miter/>
            </a:ln>
          </p:spPr>
        </p:sp>
      </p:grpSp>
      <p:sp>
        <p:nvSpPr>
          <p:cNvPr name="TextBox 6" id="6"/>
          <p:cNvSpPr txBox="true"/>
          <p:nvPr/>
        </p:nvSpPr>
        <p:spPr>
          <a:xfrm rot="0">
            <a:off x="850392" y="401955"/>
            <a:ext cx="13716000" cy="311277"/>
          </a:xfrm>
          <a:prstGeom prst="rect">
            <a:avLst/>
          </a:prstGeom>
        </p:spPr>
        <p:txBody>
          <a:bodyPr anchor="t" rtlCol="false" tIns="0" lIns="0" bIns="0" rIns="0">
            <a:spAutoFit/>
          </a:bodyPr>
          <a:lstStyle/>
          <a:p>
            <a:pPr algn="l">
              <a:lnSpc>
                <a:spcPts val="1709"/>
              </a:lnSpc>
            </a:pPr>
            <a:r>
              <a:rPr lang="en-US" b="true" sz="1425" spc="299">
                <a:solidFill>
                  <a:srgbClr val="D4AF37"/>
                </a:solidFill>
                <a:latin typeface="Exo 2 Bold"/>
                <a:ea typeface="Exo 2 Bold"/>
                <a:cs typeface="Exo 2 Bold"/>
                <a:sym typeface="Exo 2 Bold"/>
              </a:rPr>
              <a:t>FOR DISCUSSION</a:t>
            </a:r>
          </a:p>
        </p:txBody>
      </p:sp>
      <p:grpSp>
        <p:nvGrpSpPr>
          <p:cNvPr name="Group 7" id="7"/>
          <p:cNvGrpSpPr/>
          <p:nvPr/>
        </p:nvGrpSpPr>
        <p:grpSpPr>
          <a:xfrm rot="0">
            <a:off x="850392" y="713232"/>
            <a:ext cx="14127480" cy="1124712"/>
            <a:chOff x="0" y="0"/>
            <a:chExt cx="18836640" cy="1499616"/>
          </a:xfrm>
        </p:grpSpPr>
        <p:sp>
          <p:nvSpPr>
            <p:cNvPr name="Freeform 8" id="8"/>
            <p:cNvSpPr/>
            <p:nvPr/>
          </p:nvSpPr>
          <p:spPr>
            <a:xfrm flipH="false" flipV="false" rot="0">
              <a:off x="0" y="0"/>
              <a:ext cx="18836639" cy="1499616"/>
            </a:xfrm>
            <a:custGeom>
              <a:avLst/>
              <a:gdLst/>
              <a:ahLst/>
              <a:cxnLst/>
              <a:rect r="r" b="b" t="t" l="l"/>
              <a:pathLst>
                <a:path h="1499616" w="18836639">
                  <a:moveTo>
                    <a:pt x="0" y="0"/>
                  </a:moveTo>
                  <a:lnTo>
                    <a:pt x="18836639" y="0"/>
                  </a:lnTo>
                  <a:lnTo>
                    <a:pt x="18836639" y="1499616"/>
                  </a:lnTo>
                  <a:lnTo>
                    <a:pt x="0" y="1499616"/>
                  </a:lnTo>
                  <a:close/>
                </a:path>
              </a:pathLst>
            </a:custGeom>
            <a:blipFill>
              <a:blip r:embed="rId4">
                <a:alphaModFix amt="0"/>
              </a:blip>
              <a:stretch>
                <a:fillRect l="0" t="-194751" r="0" b="-194751"/>
              </a:stretch>
            </a:blipFill>
          </p:spPr>
        </p:sp>
        <p:sp>
          <p:nvSpPr>
            <p:cNvPr name="TextBox 9" id="9"/>
            <p:cNvSpPr txBox="true"/>
            <p:nvPr/>
          </p:nvSpPr>
          <p:spPr>
            <a:xfrm>
              <a:off x="0" y="-9525"/>
              <a:ext cx="18836640" cy="1509141"/>
            </a:xfrm>
            <a:prstGeom prst="rect">
              <a:avLst/>
            </a:prstGeom>
          </p:spPr>
          <p:txBody>
            <a:bodyPr anchor="ctr" rtlCol="false" tIns="0" lIns="0" bIns="0" rIns="0"/>
            <a:lstStyle/>
            <a:p>
              <a:pPr algn="l">
                <a:lnSpc>
                  <a:spcPts val="3960"/>
                </a:lnSpc>
              </a:pPr>
              <a:r>
                <a:rPr lang="en-US" sz="3300" b="true">
                  <a:solidFill>
                    <a:srgbClr val="FFFFFF"/>
                  </a:solidFill>
                  <a:latin typeface="Exo 2 Bold"/>
                  <a:ea typeface="Exo 2 Bold"/>
                  <a:cs typeface="Exo 2 Bold"/>
                  <a:sym typeface="Exo 2 Bold"/>
                </a:rPr>
                <a:t>Where eMYAA and Vision Bank could work together</a:t>
              </a:r>
            </a:p>
          </p:txBody>
        </p:sp>
      </p:grpSp>
      <p:grpSp>
        <p:nvGrpSpPr>
          <p:cNvPr name="Group 10" id="10"/>
          <p:cNvGrpSpPr/>
          <p:nvPr/>
        </p:nvGrpSpPr>
        <p:grpSpPr>
          <a:xfrm rot="0">
            <a:off x="15457932" y="685800"/>
            <a:ext cx="1988820" cy="576072"/>
            <a:chOff x="0" y="0"/>
            <a:chExt cx="2651760" cy="768096"/>
          </a:xfrm>
        </p:grpSpPr>
        <p:sp>
          <p:nvSpPr>
            <p:cNvPr name="Freeform 11" id="11" descr="/home/user/HatemIsa_202508993_IT9002_NLP_Project/emyaa-ceo-deck/working/charts/ajyad_white.png"/>
            <p:cNvSpPr/>
            <p:nvPr/>
          </p:nvSpPr>
          <p:spPr>
            <a:xfrm flipH="false" flipV="false" rot="0">
              <a:off x="0" y="0"/>
              <a:ext cx="2651760" cy="768096"/>
            </a:xfrm>
            <a:custGeom>
              <a:avLst/>
              <a:gdLst/>
              <a:ahLst/>
              <a:cxnLst/>
              <a:rect r="r" b="b" t="t" l="l"/>
              <a:pathLst>
                <a:path h="768096" w="2651760">
                  <a:moveTo>
                    <a:pt x="0" y="0"/>
                  </a:moveTo>
                  <a:lnTo>
                    <a:pt x="2651760" y="0"/>
                  </a:lnTo>
                  <a:lnTo>
                    <a:pt x="2651760" y="768096"/>
                  </a:lnTo>
                  <a:lnTo>
                    <a:pt x="0" y="768096"/>
                  </a:lnTo>
                  <a:lnTo>
                    <a:pt x="0" y="0"/>
                  </a:lnTo>
                  <a:close/>
                </a:path>
              </a:pathLst>
            </a:custGeom>
            <a:blipFill>
              <a:blip r:embed="rId5"/>
              <a:stretch>
                <a:fillRect l="0" t="-26" r="0" b="-26"/>
              </a:stretch>
            </a:blipFill>
          </p:spPr>
        </p:sp>
      </p:grpSp>
      <p:sp>
        <p:nvSpPr>
          <p:cNvPr name="TextBox 12" id="12"/>
          <p:cNvSpPr txBox="true"/>
          <p:nvPr/>
        </p:nvSpPr>
        <p:spPr>
          <a:xfrm rot="0">
            <a:off x="850392" y="9728835"/>
            <a:ext cx="8229600" cy="311277"/>
          </a:xfrm>
          <a:prstGeom prst="rect">
            <a:avLst/>
          </a:prstGeom>
        </p:spPr>
        <p:txBody>
          <a:bodyPr anchor="t" rtlCol="false" tIns="0" lIns="0" bIns="0" rIns="0">
            <a:spAutoFit/>
          </a:bodyPr>
          <a:lstStyle/>
          <a:p>
            <a:pPr algn="l">
              <a:lnSpc>
                <a:spcPts val="1439"/>
              </a:lnSpc>
            </a:pPr>
            <a:r>
              <a:rPr lang="en-US" sz="1200">
                <a:solidFill>
                  <a:srgbClr val="8A93A8"/>
                </a:solidFill>
                <a:latin typeface="Exo 2"/>
                <a:ea typeface="Exo 2"/>
                <a:cs typeface="Exo 2"/>
                <a:sym typeface="Exo 2"/>
              </a:rPr>
              <a:t>eMYAA Trading Platform  |  Saudi Market Plan</a:t>
            </a:r>
          </a:p>
        </p:txBody>
      </p:sp>
      <p:sp>
        <p:nvSpPr>
          <p:cNvPr name="TextBox 13" id="13"/>
          <p:cNvSpPr txBox="true"/>
          <p:nvPr/>
        </p:nvSpPr>
        <p:spPr>
          <a:xfrm rot="0">
            <a:off x="14703552" y="9728835"/>
            <a:ext cx="685800" cy="190500"/>
          </a:xfrm>
          <a:prstGeom prst="rect">
            <a:avLst/>
          </a:prstGeom>
        </p:spPr>
        <p:txBody>
          <a:bodyPr anchor="t" rtlCol="false" tIns="0" lIns="0" bIns="0" rIns="0">
            <a:spAutoFit/>
          </a:bodyPr>
          <a:lstStyle/>
          <a:p>
            <a:pPr algn="r">
              <a:lnSpc>
                <a:spcPts val="1439"/>
              </a:lnSpc>
            </a:pPr>
            <a:r>
              <a:rPr lang="en-US" sz="1200">
                <a:solidFill>
                  <a:srgbClr val="8A93A8"/>
                </a:solidFill>
                <a:latin typeface="Exo 2"/>
                <a:ea typeface="Exo 2"/>
                <a:cs typeface="Exo 2"/>
                <a:sym typeface="Exo 2"/>
              </a:rPr>
              <a:t>9</a:t>
            </a:r>
          </a:p>
        </p:txBody>
      </p:sp>
      <p:grpSp>
        <p:nvGrpSpPr>
          <p:cNvPr name="Group 14" id="14"/>
          <p:cNvGrpSpPr/>
          <p:nvPr/>
        </p:nvGrpSpPr>
        <p:grpSpPr>
          <a:xfrm rot="0">
            <a:off x="15910560" y="9491472"/>
            <a:ext cx="1536192" cy="548640"/>
            <a:chOff x="0" y="0"/>
            <a:chExt cx="2048256" cy="731520"/>
          </a:xfrm>
        </p:grpSpPr>
        <p:sp>
          <p:nvSpPr>
            <p:cNvPr name="Freeform 15" id="15" descr="/home/user/HatemIsa_202508993_IT9002_NLP_Project/emyaa-ceo-deck/working/charts/emyaa_navy.png"/>
            <p:cNvSpPr/>
            <p:nvPr/>
          </p:nvSpPr>
          <p:spPr>
            <a:xfrm flipH="false" flipV="false" rot="0">
              <a:off x="0" y="0"/>
              <a:ext cx="2048256" cy="731520"/>
            </a:xfrm>
            <a:custGeom>
              <a:avLst/>
              <a:gdLst/>
              <a:ahLst/>
              <a:cxnLst/>
              <a:rect r="r" b="b" t="t" l="l"/>
              <a:pathLst>
                <a:path h="731520" w="2048256">
                  <a:moveTo>
                    <a:pt x="0" y="0"/>
                  </a:moveTo>
                  <a:lnTo>
                    <a:pt x="2048256" y="0"/>
                  </a:lnTo>
                  <a:lnTo>
                    <a:pt x="2048256" y="731520"/>
                  </a:lnTo>
                  <a:lnTo>
                    <a:pt x="0" y="731520"/>
                  </a:lnTo>
                  <a:lnTo>
                    <a:pt x="0" y="0"/>
                  </a:lnTo>
                  <a:close/>
                </a:path>
              </a:pathLst>
            </a:custGeom>
            <a:blipFill>
              <a:blip r:embed="rId6"/>
              <a:stretch>
                <a:fillRect l="-301" t="0" r="-301" b="0"/>
              </a:stretch>
            </a:blipFill>
          </p:spPr>
        </p:sp>
      </p:grpSp>
      <p:grpSp>
        <p:nvGrpSpPr>
          <p:cNvPr name="Group 16" id="16"/>
          <p:cNvGrpSpPr/>
          <p:nvPr/>
        </p:nvGrpSpPr>
        <p:grpSpPr>
          <a:xfrm rot="0">
            <a:off x="843248" y="2530316"/>
            <a:ext cx="5363528" cy="4129088"/>
            <a:chOff x="0" y="0"/>
            <a:chExt cx="7151370" cy="5505450"/>
          </a:xfrm>
        </p:grpSpPr>
        <p:sp>
          <p:nvSpPr>
            <p:cNvPr name="Freeform 17" id="17"/>
            <p:cNvSpPr/>
            <p:nvPr/>
          </p:nvSpPr>
          <p:spPr>
            <a:xfrm flipH="false" flipV="false" rot="0">
              <a:off x="0" y="0"/>
              <a:ext cx="7151370" cy="5505450"/>
            </a:xfrm>
            <a:custGeom>
              <a:avLst/>
              <a:gdLst/>
              <a:ahLst/>
              <a:cxnLst/>
              <a:rect r="r" b="b" t="t" l="l"/>
              <a:pathLst>
                <a:path h="5505450" w="7151370">
                  <a:moveTo>
                    <a:pt x="0" y="0"/>
                  </a:moveTo>
                  <a:lnTo>
                    <a:pt x="7151370" y="0"/>
                  </a:lnTo>
                  <a:lnTo>
                    <a:pt x="7151370" y="5505450"/>
                  </a:lnTo>
                  <a:lnTo>
                    <a:pt x="0" y="5505450"/>
                  </a:lnTo>
                  <a:close/>
                </a:path>
              </a:pathLst>
            </a:custGeom>
            <a:solidFill>
              <a:srgbClr val="FFFFFF"/>
            </a:solidFill>
            <a:ln w="14288" cap="sq">
              <a:solidFill>
                <a:srgbClr val="D9DFEA"/>
              </a:solidFill>
              <a:prstDash val="solid"/>
              <a:miter/>
            </a:ln>
          </p:spPr>
        </p:sp>
      </p:grpSp>
      <p:grpSp>
        <p:nvGrpSpPr>
          <p:cNvPr name="Group 18" id="18"/>
          <p:cNvGrpSpPr/>
          <p:nvPr/>
        </p:nvGrpSpPr>
        <p:grpSpPr>
          <a:xfrm rot="0">
            <a:off x="840867" y="2527935"/>
            <a:ext cx="5368290" cy="80772"/>
            <a:chOff x="0" y="0"/>
            <a:chExt cx="7157720" cy="107696"/>
          </a:xfrm>
        </p:grpSpPr>
        <p:sp>
          <p:nvSpPr>
            <p:cNvPr name="Freeform 19" id="19"/>
            <p:cNvSpPr/>
            <p:nvPr/>
          </p:nvSpPr>
          <p:spPr>
            <a:xfrm flipH="false" flipV="false" rot="0">
              <a:off x="0" y="0"/>
              <a:ext cx="7157720" cy="107696"/>
            </a:xfrm>
            <a:custGeom>
              <a:avLst/>
              <a:gdLst/>
              <a:ahLst/>
              <a:cxnLst/>
              <a:rect r="r" b="b" t="t" l="l"/>
              <a:pathLst>
                <a:path h="107696" w="7157720">
                  <a:moveTo>
                    <a:pt x="0" y="0"/>
                  </a:moveTo>
                  <a:lnTo>
                    <a:pt x="7157720" y="0"/>
                  </a:lnTo>
                  <a:lnTo>
                    <a:pt x="7157720" y="107696"/>
                  </a:lnTo>
                  <a:lnTo>
                    <a:pt x="0" y="107696"/>
                  </a:lnTo>
                  <a:close/>
                </a:path>
              </a:pathLst>
            </a:custGeom>
            <a:solidFill>
              <a:srgbClr val="132257"/>
            </a:solidFill>
            <a:ln w="19050" cap="sq">
              <a:solidFill>
                <a:srgbClr val="132257"/>
              </a:solidFill>
              <a:prstDash val="solid"/>
              <a:miter/>
            </a:ln>
          </p:spPr>
        </p:sp>
      </p:grpSp>
      <p:sp>
        <p:nvSpPr>
          <p:cNvPr name="TextBox 20" id="20"/>
          <p:cNvSpPr txBox="true"/>
          <p:nvPr/>
        </p:nvSpPr>
        <p:spPr>
          <a:xfrm rot="0">
            <a:off x="1261872" y="2870835"/>
            <a:ext cx="1371600" cy="832485"/>
          </a:xfrm>
          <a:prstGeom prst="rect">
            <a:avLst/>
          </a:prstGeom>
        </p:spPr>
        <p:txBody>
          <a:bodyPr anchor="t" rtlCol="false" tIns="0" lIns="0" bIns="0" rIns="0">
            <a:spAutoFit/>
          </a:bodyPr>
          <a:lstStyle/>
          <a:p>
            <a:pPr algn="l">
              <a:lnSpc>
                <a:spcPts val="5040"/>
              </a:lnSpc>
            </a:pPr>
            <a:r>
              <a:rPr lang="en-US" sz="4200" b="true">
                <a:solidFill>
                  <a:srgbClr val="3C61B6"/>
                </a:solidFill>
                <a:latin typeface="Exo 2 Bold"/>
                <a:ea typeface="Exo 2 Bold"/>
                <a:cs typeface="Exo 2 Bold"/>
                <a:sym typeface="Exo 2 Bold"/>
              </a:rPr>
              <a:t>01</a:t>
            </a:r>
          </a:p>
        </p:txBody>
      </p:sp>
      <p:sp>
        <p:nvSpPr>
          <p:cNvPr name="TextBox 21" id="21"/>
          <p:cNvSpPr txBox="true"/>
          <p:nvPr/>
        </p:nvSpPr>
        <p:spPr>
          <a:xfrm rot="0">
            <a:off x="1261872" y="3830955"/>
            <a:ext cx="4526280" cy="626745"/>
          </a:xfrm>
          <a:prstGeom prst="rect">
            <a:avLst/>
          </a:prstGeom>
        </p:spPr>
        <p:txBody>
          <a:bodyPr anchor="t" rtlCol="false" tIns="0" lIns="0" bIns="0" rIns="0">
            <a:spAutoFit/>
          </a:bodyPr>
          <a:lstStyle/>
          <a:p>
            <a:pPr algn="l">
              <a:lnSpc>
                <a:spcPts val="3419"/>
              </a:lnSpc>
            </a:pPr>
            <a:r>
              <a:rPr lang="en-US" sz="2850" b="true">
                <a:solidFill>
                  <a:srgbClr val="132257"/>
                </a:solidFill>
                <a:latin typeface="Exo 2 Bold"/>
                <a:ea typeface="Exo 2 Bold"/>
                <a:cs typeface="Exo 2 Bold"/>
                <a:sym typeface="Exo 2 Bold"/>
              </a:rPr>
              <a:t>Market insight</a:t>
            </a:r>
          </a:p>
        </p:txBody>
      </p:sp>
      <p:sp>
        <p:nvSpPr>
          <p:cNvPr name="TextBox 22" id="22"/>
          <p:cNvSpPr txBox="true"/>
          <p:nvPr/>
        </p:nvSpPr>
        <p:spPr>
          <a:xfrm rot="0">
            <a:off x="1261872" y="4585335"/>
            <a:ext cx="4526280" cy="895350"/>
          </a:xfrm>
          <a:prstGeom prst="rect">
            <a:avLst/>
          </a:prstGeom>
        </p:spPr>
        <p:txBody>
          <a:bodyPr anchor="t" rtlCol="false" tIns="0" lIns="0" bIns="0" rIns="0">
            <a:spAutoFit/>
          </a:bodyPr>
          <a:lstStyle/>
          <a:p>
            <a:pPr algn="l">
              <a:lnSpc>
                <a:spcPts val="2340"/>
              </a:lnSpc>
            </a:pPr>
            <a:r>
              <a:rPr lang="en-US" sz="1950">
                <a:solidFill>
                  <a:srgbClr val="1F2A44"/>
                </a:solidFill>
                <a:latin typeface="Exo 2"/>
                <a:ea typeface="Exo 2"/>
                <a:cs typeface="Exo 2"/>
                <a:sym typeface="Exo 2"/>
              </a:rPr>
              <a:t>What Saudi digital customers expect, and what has worked in your marketing strategy the most.</a:t>
            </a:r>
          </a:p>
        </p:txBody>
      </p:sp>
      <p:grpSp>
        <p:nvGrpSpPr>
          <p:cNvPr name="Group 23" id="23"/>
          <p:cNvGrpSpPr/>
          <p:nvPr/>
        </p:nvGrpSpPr>
        <p:grpSpPr>
          <a:xfrm rot="0">
            <a:off x="6466808" y="2530316"/>
            <a:ext cx="5363528" cy="4129088"/>
            <a:chOff x="0" y="0"/>
            <a:chExt cx="7151370" cy="5505450"/>
          </a:xfrm>
        </p:grpSpPr>
        <p:sp>
          <p:nvSpPr>
            <p:cNvPr name="Freeform 24" id="24"/>
            <p:cNvSpPr/>
            <p:nvPr/>
          </p:nvSpPr>
          <p:spPr>
            <a:xfrm flipH="false" flipV="false" rot="0">
              <a:off x="0" y="0"/>
              <a:ext cx="7151370" cy="5505450"/>
            </a:xfrm>
            <a:custGeom>
              <a:avLst/>
              <a:gdLst/>
              <a:ahLst/>
              <a:cxnLst/>
              <a:rect r="r" b="b" t="t" l="l"/>
              <a:pathLst>
                <a:path h="5505450" w="7151370">
                  <a:moveTo>
                    <a:pt x="0" y="0"/>
                  </a:moveTo>
                  <a:lnTo>
                    <a:pt x="7151370" y="0"/>
                  </a:lnTo>
                  <a:lnTo>
                    <a:pt x="7151370" y="5505450"/>
                  </a:lnTo>
                  <a:lnTo>
                    <a:pt x="0" y="5505450"/>
                  </a:lnTo>
                  <a:close/>
                </a:path>
              </a:pathLst>
            </a:custGeom>
            <a:solidFill>
              <a:srgbClr val="FFFFFF"/>
            </a:solidFill>
            <a:ln w="14288" cap="sq">
              <a:solidFill>
                <a:srgbClr val="D9DFEA"/>
              </a:solidFill>
              <a:prstDash val="solid"/>
              <a:miter/>
            </a:ln>
          </p:spPr>
        </p:sp>
      </p:grpSp>
      <p:grpSp>
        <p:nvGrpSpPr>
          <p:cNvPr name="Group 25" id="25"/>
          <p:cNvGrpSpPr/>
          <p:nvPr/>
        </p:nvGrpSpPr>
        <p:grpSpPr>
          <a:xfrm rot="0">
            <a:off x="6464427" y="2527935"/>
            <a:ext cx="5368290" cy="80772"/>
            <a:chOff x="0" y="0"/>
            <a:chExt cx="7157720" cy="107696"/>
          </a:xfrm>
        </p:grpSpPr>
        <p:sp>
          <p:nvSpPr>
            <p:cNvPr name="Freeform 26" id="26"/>
            <p:cNvSpPr/>
            <p:nvPr/>
          </p:nvSpPr>
          <p:spPr>
            <a:xfrm flipH="false" flipV="false" rot="0">
              <a:off x="0" y="0"/>
              <a:ext cx="7157720" cy="107696"/>
            </a:xfrm>
            <a:custGeom>
              <a:avLst/>
              <a:gdLst/>
              <a:ahLst/>
              <a:cxnLst/>
              <a:rect r="r" b="b" t="t" l="l"/>
              <a:pathLst>
                <a:path h="107696" w="7157720">
                  <a:moveTo>
                    <a:pt x="0" y="0"/>
                  </a:moveTo>
                  <a:lnTo>
                    <a:pt x="7157720" y="0"/>
                  </a:lnTo>
                  <a:lnTo>
                    <a:pt x="7157720" y="107696"/>
                  </a:lnTo>
                  <a:lnTo>
                    <a:pt x="0" y="107696"/>
                  </a:lnTo>
                  <a:close/>
                </a:path>
              </a:pathLst>
            </a:custGeom>
            <a:solidFill>
              <a:srgbClr val="D4AF37"/>
            </a:solidFill>
            <a:ln w="19050" cap="sq">
              <a:solidFill>
                <a:srgbClr val="D4AF37"/>
              </a:solidFill>
              <a:prstDash val="solid"/>
              <a:miter/>
            </a:ln>
          </p:spPr>
        </p:sp>
      </p:grpSp>
      <p:sp>
        <p:nvSpPr>
          <p:cNvPr name="TextBox 27" id="27"/>
          <p:cNvSpPr txBox="true"/>
          <p:nvPr/>
        </p:nvSpPr>
        <p:spPr>
          <a:xfrm rot="0">
            <a:off x="6885432" y="2870835"/>
            <a:ext cx="1371600" cy="832485"/>
          </a:xfrm>
          <a:prstGeom prst="rect">
            <a:avLst/>
          </a:prstGeom>
        </p:spPr>
        <p:txBody>
          <a:bodyPr anchor="t" rtlCol="false" tIns="0" lIns="0" bIns="0" rIns="0">
            <a:spAutoFit/>
          </a:bodyPr>
          <a:lstStyle/>
          <a:p>
            <a:pPr algn="l">
              <a:lnSpc>
                <a:spcPts val="5040"/>
              </a:lnSpc>
            </a:pPr>
            <a:r>
              <a:rPr lang="en-US" sz="4200" b="true">
                <a:solidFill>
                  <a:srgbClr val="3C61B6"/>
                </a:solidFill>
                <a:latin typeface="Exo 2 Bold"/>
                <a:ea typeface="Exo 2 Bold"/>
                <a:cs typeface="Exo 2 Bold"/>
                <a:sym typeface="Exo 2 Bold"/>
              </a:rPr>
              <a:t>02</a:t>
            </a:r>
          </a:p>
        </p:txBody>
      </p:sp>
      <p:sp>
        <p:nvSpPr>
          <p:cNvPr name="TextBox 28" id="28"/>
          <p:cNvSpPr txBox="true"/>
          <p:nvPr/>
        </p:nvSpPr>
        <p:spPr>
          <a:xfrm rot="0">
            <a:off x="6885432" y="3830955"/>
            <a:ext cx="4526280" cy="438150"/>
          </a:xfrm>
          <a:prstGeom prst="rect">
            <a:avLst/>
          </a:prstGeom>
        </p:spPr>
        <p:txBody>
          <a:bodyPr anchor="t" rtlCol="false" tIns="0" lIns="0" bIns="0" rIns="0">
            <a:spAutoFit/>
          </a:bodyPr>
          <a:lstStyle/>
          <a:p>
            <a:pPr algn="l">
              <a:lnSpc>
                <a:spcPts val="3419"/>
              </a:lnSpc>
            </a:pPr>
            <a:r>
              <a:rPr lang="en-US" sz="2850" b="true">
                <a:solidFill>
                  <a:srgbClr val="132257"/>
                </a:solidFill>
                <a:latin typeface="Exo 2 Bold"/>
                <a:ea typeface="Exo 2 Bold"/>
                <a:cs typeface="Exo 2 Bold"/>
                <a:sym typeface="Exo 2 Bold"/>
              </a:rPr>
              <a:t>Influencer Marketing</a:t>
            </a:r>
          </a:p>
        </p:txBody>
      </p:sp>
      <p:sp>
        <p:nvSpPr>
          <p:cNvPr name="TextBox 29" id="29"/>
          <p:cNvSpPr txBox="true"/>
          <p:nvPr/>
        </p:nvSpPr>
        <p:spPr>
          <a:xfrm rot="0">
            <a:off x="6885432" y="4585335"/>
            <a:ext cx="4526280" cy="1485900"/>
          </a:xfrm>
          <a:prstGeom prst="rect">
            <a:avLst/>
          </a:prstGeom>
        </p:spPr>
        <p:txBody>
          <a:bodyPr anchor="t" rtlCol="false" tIns="0" lIns="0" bIns="0" rIns="0">
            <a:spAutoFit/>
          </a:bodyPr>
          <a:lstStyle/>
          <a:p>
            <a:pPr algn="l">
              <a:lnSpc>
                <a:spcPts val="2340"/>
              </a:lnSpc>
            </a:pPr>
            <a:r>
              <a:rPr lang="en-US" sz="1950">
                <a:solidFill>
                  <a:srgbClr val="1F2A44"/>
                </a:solidFill>
                <a:latin typeface="Exo 2"/>
                <a:ea typeface="Exo 2"/>
                <a:cs typeface="Exo 2"/>
                <a:sym typeface="Exo 2"/>
              </a:rPr>
              <a:t>Which influencer categories, platforms, and audience profiles deliver the strongest engagement and customer acquisition results for financial services in Saudi Arabia?</a:t>
            </a:r>
          </a:p>
        </p:txBody>
      </p:sp>
      <p:grpSp>
        <p:nvGrpSpPr>
          <p:cNvPr name="Group 30" id="30"/>
          <p:cNvGrpSpPr/>
          <p:nvPr/>
        </p:nvGrpSpPr>
        <p:grpSpPr>
          <a:xfrm rot="0">
            <a:off x="12090368" y="2530316"/>
            <a:ext cx="5363528" cy="4129088"/>
            <a:chOff x="0" y="0"/>
            <a:chExt cx="7151370" cy="5505450"/>
          </a:xfrm>
        </p:grpSpPr>
        <p:sp>
          <p:nvSpPr>
            <p:cNvPr name="Freeform 31" id="31"/>
            <p:cNvSpPr/>
            <p:nvPr/>
          </p:nvSpPr>
          <p:spPr>
            <a:xfrm flipH="false" flipV="false" rot="0">
              <a:off x="0" y="0"/>
              <a:ext cx="7151370" cy="5505450"/>
            </a:xfrm>
            <a:custGeom>
              <a:avLst/>
              <a:gdLst/>
              <a:ahLst/>
              <a:cxnLst/>
              <a:rect r="r" b="b" t="t" l="l"/>
              <a:pathLst>
                <a:path h="5505450" w="7151370">
                  <a:moveTo>
                    <a:pt x="0" y="0"/>
                  </a:moveTo>
                  <a:lnTo>
                    <a:pt x="7151370" y="0"/>
                  </a:lnTo>
                  <a:lnTo>
                    <a:pt x="7151370" y="5505450"/>
                  </a:lnTo>
                  <a:lnTo>
                    <a:pt x="0" y="5505450"/>
                  </a:lnTo>
                  <a:close/>
                </a:path>
              </a:pathLst>
            </a:custGeom>
            <a:solidFill>
              <a:srgbClr val="FFFFFF"/>
            </a:solidFill>
            <a:ln w="14288" cap="sq">
              <a:solidFill>
                <a:srgbClr val="D9DFEA"/>
              </a:solidFill>
              <a:prstDash val="solid"/>
              <a:miter/>
            </a:ln>
          </p:spPr>
        </p:sp>
      </p:grpSp>
      <p:grpSp>
        <p:nvGrpSpPr>
          <p:cNvPr name="Group 32" id="32"/>
          <p:cNvGrpSpPr/>
          <p:nvPr/>
        </p:nvGrpSpPr>
        <p:grpSpPr>
          <a:xfrm rot="0">
            <a:off x="12087987" y="2527935"/>
            <a:ext cx="5368290" cy="80772"/>
            <a:chOff x="0" y="0"/>
            <a:chExt cx="7157720" cy="107696"/>
          </a:xfrm>
        </p:grpSpPr>
        <p:sp>
          <p:nvSpPr>
            <p:cNvPr name="Freeform 33" id="33"/>
            <p:cNvSpPr/>
            <p:nvPr/>
          </p:nvSpPr>
          <p:spPr>
            <a:xfrm flipH="false" flipV="false" rot="0">
              <a:off x="0" y="0"/>
              <a:ext cx="7157720" cy="107696"/>
            </a:xfrm>
            <a:custGeom>
              <a:avLst/>
              <a:gdLst/>
              <a:ahLst/>
              <a:cxnLst/>
              <a:rect r="r" b="b" t="t" l="l"/>
              <a:pathLst>
                <a:path h="107696" w="7157720">
                  <a:moveTo>
                    <a:pt x="0" y="0"/>
                  </a:moveTo>
                  <a:lnTo>
                    <a:pt x="7157720" y="0"/>
                  </a:lnTo>
                  <a:lnTo>
                    <a:pt x="7157720" y="107696"/>
                  </a:lnTo>
                  <a:lnTo>
                    <a:pt x="0" y="107696"/>
                  </a:lnTo>
                  <a:close/>
                </a:path>
              </a:pathLst>
            </a:custGeom>
            <a:solidFill>
              <a:srgbClr val="1BA97C"/>
            </a:solidFill>
            <a:ln w="19050" cap="sq">
              <a:solidFill>
                <a:srgbClr val="1BA97C"/>
              </a:solidFill>
              <a:prstDash val="solid"/>
              <a:miter/>
            </a:ln>
          </p:spPr>
        </p:sp>
      </p:grpSp>
      <p:sp>
        <p:nvSpPr>
          <p:cNvPr name="TextBox 34" id="34"/>
          <p:cNvSpPr txBox="true"/>
          <p:nvPr/>
        </p:nvSpPr>
        <p:spPr>
          <a:xfrm rot="0">
            <a:off x="12508992" y="2870835"/>
            <a:ext cx="1371600" cy="832485"/>
          </a:xfrm>
          <a:prstGeom prst="rect">
            <a:avLst/>
          </a:prstGeom>
        </p:spPr>
        <p:txBody>
          <a:bodyPr anchor="t" rtlCol="false" tIns="0" lIns="0" bIns="0" rIns="0">
            <a:spAutoFit/>
          </a:bodyPr>
          <a:lstStyle/>
          <a:p>
            <a:pPr algn="l">
              <a:lnSpc>
                <a:spcPts val="5040"/>
              </a:lnSpc>
            </a:pPr>
            <a:r>
              <a:rPr lang="en-US" sz="4200" b="true">
                <a:solidFill>
                  <a:srgbClr val="3C61B6"/>
                </a:solidFill>
                <a:latin typeface="Exo 2 Bold"/>
                <a:ea typeface="Exo 2 Bold"/>
                <a:cs typeface="Exo 2 Bold"/>
                <a:sym typeface="Exo 2 Bold"/>
              </a:rPr>
              <a:t>03</a:t>
            </a:r>
          </a:p>
        </p:txBody>
      </p:sp>
      <p:sp>
        <p:nvSpPr>
          <p:cNvPr name="TextBox 35" id="35"/>
          <p:cNvSpPr txBox="true"/>
          <p:nvPr/>
        </p:nvSpPr>
        <p:spPr>
          <a:xfrm rot="0">
            <a:off x="12508992" y="3830955"/>
            <a:ext cx="4526280" cy="438150"/>
          </a:xfrm>
          <a:prstGeom prst="rect">
            <a:avLst/>
          </a:prstGeom>
        </p:spPr>
        <p:txBody>
          <a:bodyPr anchor="t" rtlCol="false" tIns="0" lIns="0" bIns="0" rIns="0">
            <a:spAutoFit/>
          </a:bodyPr>
          <a:lstStyle/>
          <a:p>
            <a:pPr algn="l">
              <a:lnSpc>
                <a:spcPts val="3419"/>
              </a:lnSpc>
            </a:pPr>
            <a:r>
              <a:rPr lang="en-US" sz="2850" b="true">
                <a:solidFill>
                  <a:srgbClr val="132257"/>
                </a:solidFill>
                <a:latin typeface="Exo 2 Bold"/>
                <a:ea typeface="Exo 2 Bold"/>
                <a:cs typeface="Exo 2 Bold"/>
                <a:sym typeface="Exo 2 Bold"/>
              </a:rPr>
              <a:t>Sponsor Ad</a:t>
            </a:r>
          </a:p>
        </p:txBody>
      </p:sp>
      <p:sp>
        <p:nvSpPr>
          <p:cNvPr name="TextBox 36" id="36"/>
          <p:cNvSpPr txBox="true"/>
          <p:nvPr/>
        </p:nvSpPr>
        <p:spPr>
          <a:xfrm rot="0">
            <a:off x="12508992" y="4585335"/>
            <a:ext cx="4526280" cy="1485900"/>
          </a:xfrm>
          <a:prstGeom prst="rect">
            <a:avLst/>
          </a:prstGeom>
        </p:spPr>
        <p:txBody>
          <a:bodyPr anchor="t" rtlCol="false" tIns="0" lIns="0" bIns="0" rIns="0">
            <a:spAutoFit/>
          </a:bodyPr>
          <a:lstStyle/>
          <a:p>
            <a:pPr algn="l">
              <a:lnSpc>
                <a:spcPts val="2340"/>
              </a:lnSpc>
            </a:pPr>
            <a:r>
              <a:rPr lang="en-US" sz="1950">
                <a:solidFill>
                  <a:srgbClr val="1F2A44"/>
                </a:solidFill>
                <a:latin typeface="Exo 2"/>
                <a:ea typeface="Exo 2"/>
                <a:cs typeface="Exo 2"/>
                <a:sym typeface="Exo 2"/>
              </a:rPr>
              <a:t>What budget is required for sponsorship advertising, which locations should we prioritise beyond Riyadh, and where can we achieve the most efficient cost per click?</a:t>
            </a:r>
          </a:p>
        </p:txBody>
      </p:sp>
      <p:grpSp>
        <p:nvGrpSpPr>
          <p:cNvPr name="Group 37" id="37"/>
          <p:cNvGrpSpPr/>
          <p:nvPr/>
        </p:nvGrpSpPr>
        <p:grpSpPr>
          <a:xfrm rot="0">
            <a:off x="840867" y="7122795"/>
            <a:ext cx="16615410" cy="979170"/>
            <a:chOff x="0" y="0"/>
            <a:chExt cx="22153880" cy="1305560"/>
          </a:xfrm>
        </p:grpSpPr>
        <p:sp>
          <p:nvSpPr>
            <p:cNvPr name="Freeform 38" id="38"/>
            <p:cNvSpPr/>
            <p:nvPr/>
          </p:nvSpPr>
          <p:spPr>
            <a:xfrm flipH="false" flipV="false" rot="0">
              <a:off x="0" y="0"/>
              <a:ext cx="22153880" cy="1305560"/>
            </a:xfrm>
            <a:custGeom>
              <a:avLst/>
              <a:gdLst/>
              <a:ahLst/>
              <a:cxnLst/>
              <a:rect r="r" b="b" t="t" l="l"/>
              <a:pathLst>
                <a:path h="1305560" w="22153880">
                  <a:moveTo>
                    <a:pt x="0" y="0"/>
                  </a:moveTo>
                  <a:lnTo>
                    <a:pt x="22153880" y="0"/>
                  </a:lnTo>
                  <a:lnTo>
                    <a:pt x="22153880" y="1305560"/>
                  </a:lnTo>
                  <a:lnTo>
                    <a:pt x="0" y="1305560"/>
                  </a:lnTo>
                  <a:close/>
                </a:path>
              </a:pathLst>
            </a:custGeom>
            <a:solidFill>
              <a:srgbClr val="EEF1F8"/>
            </a:solidFill>
            <a:ln w="19050" cap="sq">
              <a:solidFill>
                <a:srgbClr val="EEF1F8"/>
              </a:solidFill>
              <a:prstDash val="solid"/>
              <a:miter/>
            </a:ln>
          </p:spPr>
        </p:sp>
      </p:grpSp>
      <p:grpSp>
        <p:nvGrpSpPr>
          <p:cNvPr name="Group 39" id="39"/>
          <p:cNvGrpSpPr/>
          <p:nvPr/>
        </p:nvGrpSpPr>
        <p:grpSpPr>
          <a:xfrm rot="0">
            <a:off x="840867" y="7122795"/>
            <a:ext cx="101346" cy="979170"/>
            <a:chOff x="0" y="0"/>
            <a:chExt cx="135128" cy="1305560"/>
          </a:xfrm>
        </p:grpSpPr>
        <p:sp>
          <p:nvSpPr>
            <p:cNvPr name="Freeform 40" id="40"/>
            <p:cNvSpPr/>
            <p:nvPr/>
          </p:nvSpPr>
          <p:spPr>
            <a:xfrm flipH="false" flipV="false" rot="0">
              <a:off x="0" y="0"/>
              <a:ext cx="135128" cy="1305560"/>
            </a:xfrm>
            <a:custGeom>
              <a:avLst/>
              <a:gdLst/>
              <a:ahLst/>
              <a:cxnLst/>
              <a:rect r="r" b="b" t="t" l="l"/>
              <a:pathLst>
                <a:path h="1305560" w="135128">
                  <a:moveTo>
                    <a:pt x="0" y="0"/>
                  </a:moveTo>
                  <a:lnTo>
                    <a:pt x="135128" y="0"/>
                  </a:lnTo>
                  <a:lnTo>
                    <a:pt x="135128" y="1305560"/>
                  </a:lnTo>
                  <a:lnTo>
                    <a:pt x="0" y="1305560"/>
                  </a:lnTo>
                  <a:close/>
                </a:path>
              </a:pathLst>
            </a:custGeom>
            <a:solidFill>
              <a:srgbClr val="D4AF37"/>
            </a:solidFill>
            <a:ln w="19050" cap="sq">
              <a:solidFill>
                <a:srgbClr val="D4AF37"/>
              </a:solidFill>
              <a:prstDash val="solid"/>
              <a:miter/>
            </a:ln>
          </p:spPr>
        </p:sp>
      </p:grpSp>
      <p:grpSp>
        <p:nvGrpSpPr>
          <p:cNvPr name="Group 41" id="41"/>
          <p:cNvGrpSpPr/>
          <p:nvPr/>
        </p:nvGrpSpPr>
        <p:grpSpPr>
          <a:xfrm rot="0">
            <a:off x="1234440" y="7132320"/>
            <a:ext cx="16047720" cy="960120"/>
            <a:chOff x="0" y="0"/>
            <a:chExt cx="21396960" cy="1280160"/>
          </a:xfrm>
        </p:grpSpPr>
        <p:sp>
          <p:nvSpPr>
            <p:cNvPr name="Freeform 42" id="42"/>
            <p:cNvSpPr/>
            <p:nvPr/>
          </p:nvSpPr>
          <p:spPr>
            <a:xfrm flipH="false" flipV="false" rot="0">
              <a:off x="0" y="0"/>
              <a:ext cx="21396961" cy="1280160"/>
            </a:xfrm>
            <a:custGeom>
              <a:avLst/>
              <a:gdLst/>
              <a:ahLst/>
              <a:cxnLst/>
              <a:rect r="r" b="b" t="t" l="l"/>
              <a:pathLst>
                <a:path h="1280160" w="21396961">
                  <a:moveTo>
                    <a:pt x="0" y="0"/>
                  </a:moveTo>
                  <a:lnTo>
                    <a:pt x="21396961" y="0"/>
                  </a:lnTo>
                  <a:lnTo>
                    <a:pt x="21396961" y="1280160"/>
                  </a:lnTo>
                  <a:lnTo>
                    <a:pt x="0" y="1280160"/>
                  </a:lnTo>
                  <a:close/>
                </a:path>
              </a:pathLst>
            </a:custGeom>
            <a:blipFill>
              <a:blip r:embed="rId4">
                <a:alphaModFix amt="0"/>
              </a:blip>
              <a:stretch>
                <a:fillRect l="0" t="-275678" r="0" b="-275678"/>
              </a:stretch>
            </a:blipFill>
          </p:spPr>
        </p:sp>
        <p:sp>
          <p:nvSpPr>
            <p:cNvPr name="TextBox 43" id="43"/>
            <p:cNvSpPr txBox="true"/>
            <p:nvPr/>
          </p:nvSpPr>
          <p:spPr>
            <a:xfrm>
              <a:off x="0" y="-9525"/>
              <a:ext cx="21396960" cy="1289685"/>
            </a:xfrm>
            <a:prstGeom prst="rect">
              <a:avLst/>
            </a:prstGeom>
          </p:spPr>
          <p:txBody>
            <a:bodyPr anchor="ctr" rtlCol="false" tIns="0" lIns="0" bIns="0" rIns="0"/>
            <a:lstStyle/>
            <a:p>
              <a:pPr algn="l">
                <a:lnSpc>
                  <a:spcPts val="2340"/>
                </a:lnSpc>
              </a:pPr>
              <a:r>
                <a:rPr lang="en-US" sz="1950" i="true">
                  <a:solidFill>
                    <a:srgbClr val="132257"/>
                  </a:solidFill>
                  <a:latin typeface="Exo 2 Italics"/>
                  <a:ea typeface="Exo 2 Italics"/>
                  <a:cs typeface="Exo 2 Italics"/>
                  <a:sym typeface="Exo 2 Italics"/>
                </a:rPr>
                <a:t>We would value your advice as we enter the Saudi market.</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5149" y="0"/>
            <a:ext cx="18456905" cy="10287000"/>
          </a:xfrm>
          <a:custGeom>
            <a:avLst/>
            <a:gdLst/>
            <a:ahLst/>
            <a:cxnLst/>
            <a:rect r="r" b="b" t="t" l="l"/>
            <a:pathLst>
              <a:path h="10287000" w="18456905">
                <a:moveTo>
                  <a:pt x="0" y="0"/>
                </a:moveTo>
                <a:lnTo>
                  <a:pt x="18456905" y="0"/>
                </a:lnTo>
                <a:lnTo>
                  <a:pt x="18456905" y="10287000"/>
                </a:lnTo>
                <a:lnTo>
                  <a:pt x="0" y="10287000"/>
                </a:lnTo>
                <a:lnTo>
                  <a:pt x="0" y="0"/>
                </a:lnTo>
                <a:close/>
              </a:path>
            </a:pathLst>
          </a:custGeom>
          <a:blipFill>
            <a:blip r:embed="rId3"/>
            <a:stretch>
              <a:fillRect l="-6741" t="-4120" r="-509" b="-4120"/>
            </a:stretch>
          </a:blipFill>
        </p:spPr>
        <p:txBody>
          <a:bodyPr/>
          <a:p/>
        </p:txBody>
      </p:sp>
      <p:grpSp>
        <p:nvGrpSpPr>
          <p:cNvPr name="Group 3" id="3"/>
          <p:cNvGrpSpPr/>
          <p:nvPr/>
        </p:nvGrpSpPr>
        <p:grpSpPr>
          <a:xfrm rot="0">
            <a:off x="1028700" y="1028700"/>
            <a:ext cx="2400300" cy="850392"/>
            <a:chOff x="0" y="0"/>
            <a:chExt cx="3200400" cy="1133856"/>
          </a:xfrm>
        </p:grpSpPr>
        <p:sp>
          <p:nvSpPr>
            <p:cNvPr name="Freeform 4" id="4" descr="/home/user/HatemIsa_202508993_IT9002_NLP_Project/emyaa-ceo-deck/working/charts/emyaa_white.png"/>
            <p:cNvSpPr/>
            <p:nvPr/>
          </p:nvSpPr>
          <p:spPr>
            <a:xfrm flipH="false" flipV="false" rot="0">
              <a:off x="0" y="0"/>
              <a:ext cx="3200400" cy="1133856"/>
            </a:xfrm>
            <a:custGeom>
              <a:avLst/>
              <a:gdLst/>
              <a:ahLst/>
              <a:cxnLst/>
              <a:rect r="r" b="b" t="t" l="l"/>
              <a:pathLst>
                <a:path h="1133856" w="3200400">
                  <a:moveTo>
                    <a:pt x="0" y="0"/>
                  </a:moveTo>
                  <a:lnTo>
                    <a:pt x="3200400" y="0"/>
                  </a:lnTo>
                  <a:lnTo>
                    <a:pt x="3200400" y="1133856"/>
                  </a:lnTo>
                  <a:lnTo>
                    <a:pt x="0" y="1133856"/>
                  </a:lnTo>
                  <a:lnTo>
                    <a:pt x="0" y="0"/>
                  </a:lnTo>
                  <a:close/>
                </a:path>
              </a:pathLst>
            </a:custGeom>
            <a:blipFill>
              <a:blip r:embed="rId4"/>
              <a:stretch>
                <a:fillRect l="0" t="-179" r="0" b="-179"/>
              </a:stretch>
            </a:blipFill>
          </p:spPr>
        </p:sp>
      </p:grpSp>
      <p:grpSp>
        <p:nvGrpSpPr>
          <p:cNvPr name="Group 5" id="5"/>
          <p:cNvGrpSpPr/>
          <p:nvPr/>
        </p:nvGrpSpPr>
        <p:grpSpPr>
          <a:xfrm rot="0">
            <a:off x="14634972" y="1028700"/>
            <a:ext cx="2633472" cy="768096"/>
            <a:chOff x="0" y="0"/>
            <a:chExt cx="3511296" cy="1024128"/>
          </a:xfrm>
        </p:grpSpPr>
        <p:sp>
          <p:nvSpPr>
            <p:cNvPr name="Freeform 6" id="6" descr="/home/user/HatemIsa_202508993_IT9002_NLP_Project/emyaa-ceo-deck/working/charts/ajyad_white.png"/>
            <p:cNvSpPr/>
            <p:nvPr/>
          </p:nvSpPr>
          <p:spPr>
            <a:xfrm flipH="false" flipV="false" rot="0">
              <a:off x="0" y="0"/>
              <a:ext cx="3511296" cy="1024128"/>
            </a:xfrm>
            <a:custGeom>
              <a:avLst/>
              <a:gdLst/>
              <a:ahLst/>
              <a:cxnLst/>
              <a:rect r="r" b="b" t="t" l="l"/>
              <a:pathLst>
                <a:path h="1024128" w="3511296">
                  <a:moveTo>
                    <a:pt x="0" y="0"/>
                  </a:moveTo>
                  <a:lnTo>
                    <a:pt x="3511296" y="0"/>
                  </a:lnTo>
                  <a:lnTo>
                    <a:pt x="3511296" y="1024128"/>
                  </a:lnTo>
                  <a:lnTo>
                    <a:pt x="0" y="1024128"/>
                  </a:lnTo>
                  <a:lnTo>
                    <a:pt x="0" y="0"/>
                  </a:lnTo>
                  <a:close/>
                </a:path>
              </a:pathLst>
            </a:custGeom>
            <a:blipFill>
              <a:blip r:embed="rId5"/>
              <a:stretch>
                <a:fillRect l="-320" t="0" r="-320" b="0"/>
              </a:stretch>
            </a:blipFill>
          </p:spPr>
        </p:sp>
      </p:grpSp>
      <p:sp>
        <p:nvSpPr>
          <p:cNvPr name="TextBox 7" id="7"/>
          <p:cNvSpPr txBox="true"/>
          <p:nvPr/>
        </p:nvSpPr>
        <p:spPr>
          <a:xfrm rot="0">
            <a:off x="1028700" y="3762375"/>
            <a:ext cx="16322040" cy="1312545"/>
          </a:xfrm>
          <a:prstGeom prst="rect">
            <a:avLst/>
          </a:prstGeom>
        </p:spPr>
        <p:txBody>
          <a:bodyPr anchor="t" rtlCol="false" tIns="0" lIns="0" bIns="0" rIns="0">
            <a:spAutoFit/>
          </a:bodyPr>
          <a:lstStyle/>
          <a:p>
            <a:pPr algn="ctr">
              <a:lnSpc>
                <a:spcPts val="7559"/>
              </a:lnSpc>
            </a:pPr>
            <a:r>
              <a:rPr lang="en-US" sz="6300" b="true">
                <a:solidFill>
                  <a:srgbClr val="FFFFFF"/>
                </a:solidFill>
                <a:latin typeface="Exo 2 Bold"/>
                <a:ea typeface="Exo 2 Bold"/>
                <a:cs typeface="Exo 2 Bold"/>
                <a:sym typeface="Exo 2 Bold"/>
              </a:rPr>
              <a:t>Thank You</a:t>
            </a:r>
          </a:p>
        </p:txBody>
      </p:sp>
      <p:sp>
        <p:nvSpPr>
          <p:cNvPr name="TextBox 8" id="8"/>
          <p:cNvSpPr txBox="true"/>
          <p:nvPr/>
        </p:nvSpPr>
        <p:spPr>
          <a:xfrm rot="0">
            <a:off x="1028700" y="5065395"/>
            <a:ext cx="16322040" cy="626745"/>
          </a:xfrm>
          <a:prstGeom prst="rect">
            <a:avLst/>
          </a:prstGeom>
        </p:spPr>
        <p:txBody>
          <a:bodyPr anchor="t" rtlCol="false" tIns="0" lIns="0" bIns="0" rIns="0">
            <a:spAutoFit/>
          </a:bodyPr>
          <a:lstStyle/>
          <a:p>
            <a:pPr algn="ctr">
              <a:lnSpc>
                <a:spcPts val="3240"/>
              </a:lnSpc>
            </a:pPr>
            <a:r>
              <a:rPr lang="en-US" sz="2700">
                <a:solidFill>
                  <a:srgbClr val="D4AF37"/>
                </a:solidFill>
                <a:latin typeface="Exo 2"/>
                <a:ea typeface="Exo 2"/>
                <a:cs typeface="Exo 2"/>
                <a:sym typeface="Exo 2"/>
              </a:rPr>
              <a:t>Invest Wisely. Trade Precisely.</a:t>
            </a:r>
          </a:p>
        </p:txBody>
      </p:sp>
      <p:sp>
        <p:nvSpPr>
          <p:cNvPr name="TextBox 9" id="9"/>
          <p:cNvSpPr txBox="true"/>
          <p:nvPr/>
        </p:nvSpPr>
        <p:spPr>
          <a:xfrm rot="0">
            <a:off x="1028700" y="6505575"/>
            <a:ext cx="16322040" cy="1381125"/>
          </a:xfrm>
          <a:prstGeom prst="rect">
            <a:avLst/>
          </a:prstGeom>
        </p:spPr>
        <p:txBody>
          <a:bodyPr anchor="t" rtlCol="false" tIns="0" lIns="0" bIns="0" rIns="0">
            <a:spAutoFit/>
          </a:bodyPr>
          <a:lstStyle/>
          <a:p>
            <a:pPr algn="ctr">
              <a:lnSpc>
                <a:spcPts val="2160"/>
              </a:lnSpc>
            </a:pPr>
            <a:r>
              <a:rPr lang="en-US" sz="1800">
                <a:solidFill>
                  <a:srgbClr val="FFFFFF"/>
                </a:solidFill>
                <a:latin typeface="Exo 2"/>
                <a:ea typeface="Exo 2"/>
                <a:cs typeface="Exo 2"/>
                <a:sym typeface="Exo 2"/>
              </a:rPr>
              <a:t>Hatem Isa Hatem  |  Marketing Officer, WealthTech</a:t>
            </a:r>
          </a:p>
          <a:p>
            <a:pPr algn="ctr">
              <a:lnSpc>
                <a:spcPts val="2160"/>
              </a:lnSpc>
            </a:pPr>
            <a:r>
              <a:rPr lang="en-US" sz="1800">
                <a:solidFill>
                  <a:srgbClr val="FFFFFF"/>
                </a:solidFill>
                <a:latin typeface="Exo 2"/>
                <a:ea typeface="Exo 2"/>
                <a:cs typeface="Exo 2"/>
                <a:sym typeface="Exo 2"/>
              </a:rPr>
              <a:t>hhatem@ajyadcapital.com  |  +973 17 565 007</a:t>
            </a:r>
          </a:p>
          <a:p>
            <a:pPr algn="ctr">
              <a:lnSpc>
                <a:spcPts val="2160"/>
              </a:lnSpc>
            </a:pPr>
            <a:r>
              <a:rPr lang="en-US" sz="1800">
                <a:solidFill>
                  <a:srgbClr val="FFFFFF"/>
                </a:solidFill>
                <a:latin typeface="Exo 2"/>
                <a:ea typeface="Exo 2"/>
                <a:cs typeface="Exo 2"/>
                <a:sym typeface="Exo 2"/>
              </a:rPr>
              <a:t>Ajyad Capital, 37th Floor, Almoayyed Tower, Manama, Kingdom of Bahrain</a:t>
            </a:r>
          </a:p>
        </p:txBody>
      </p:sp>
      <p:sp>
        <p:nvSpPr>
          <p:cNvPr name="TextBox 10" id="10"/>
          <p:cNvSpPr txBox="true"/>
          <p:nvPr/>
        </p:nvSpPr>
        <p:spPr>
          <a:xfrm rot="0">
            <a:off x="1028700" y="9248775"/>
            <a:ext cx="16322040" cy="421005"/>
          </a:xfrm>
          <a:prstGeom prst="rect">
            <a:avLst/>
          </a:prstGeom>
        </p:spPr>
        <p:txBody>
          <a:bodyPr anchor="t" rtlCol="false" tIns="0" lIns="0" bIns="0" rIns="0">
            <a:spAutoFit/>
          </a:bodyPr>
          <a:lstStyle/>
          <a:p>
            <a:pPr algn="ctr">
              <a:lnSpc>
                <a:spcPts val="1709"/>
              </a:lnSpc>
            </a:pPr>
            <a:r>
              <a:rPr lang="en-US" sz="1425">
                <a:solidFill>
                  <a:srgbClr val="C6CFE4"/>
                </a:solidFill>
                <a:latin typeface="Exo 2"/>
                <a:ea typeface="Exo 2"/>
                <a:cs typeface="Exo 2"/>
                <a:sym typeface="Exo 2"/>
              </a:rPr>
              <a:t>Ajyad Capital is an Islamic investment firm (Category 1) licensed by the Central Bank of Bahrain.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0" y="0"/>
            <a:ext cx="18287543" cy="1947672"/>
            <a:chOff x="0" y="0"/>
            <a:chExt cx="24383390" cy="2596896"/>
          </a:xfrm>
        </p:grpSpPr>
        <p:sp>
          <p:nvSpPr>
            <p:cNvPr name="Freeform 3" id="3" descr="/home/user/HatemIsa_202508993_IT9002_NLP_Project/emyaa-ceo-deck/working/charts/board_header.png"/>
            <p:cNvSpPr/>
            <p:nvPr/>
          </p:nvSpPr>
          <p:spPr>
            <a:xfrm flipH="false" flipV="false" rot="0">
              <a:off x="0" y="0"/>
              <a:ext cx="24383364" cy="2596896"/>
            </a:xfrm>
            <a:custGeom>
              <a:avLst/>
              <a:gdLst/>
              <a:ahLst/>
              <a:cxnLst/>
              <a:rect r="r" b="b" t="t" l="l"/>
              <a:pathLst>
                <a:path h="2596896" w="24383364">
                  <a:moveTo>
                    <a:pt x="0" y="0"/>
                  </a:moveTo>
                  <a:lnTo>
                    <a:pt x="24383364" y="0"/>
                  </a:lnTo>
                  <a:lnTo>
                    <a:pt x="24383364" y="2596896"/>
                  </a:lnTo>
                  <a:lnTo>
                    <a:pt x="0" y="2596896"/>
                  </a:lnTo>
                  <a:lnTo>
                    <a:pt x="0" y="0"/>
                  </a:lnTo>
                  <a:close/>
                </a:path>
              </a:pathLst>
            </a:custGeom>
            <a:blipFill>
              <a:blip r:embed="rId2"/>
              <a:stretch>
                <a:fillRect l="0" t="-1172" r="0" b="-1172"/>
              </a:stretch>
            </a:blipFill>
          </p:spPr>
        </p:sp>
      </p:grpSp>
      <p:grpSp>
        <p:nvGrpSpPr>
          <p:cNvPr name="Group 4" id="4"/>
          <p:cNvGrpSpPr/>
          <p:nvPr/>
        </p:nvGrpSpPr>
        <p:grpSpPr>
          <a:xfrm rot="0">
            <a:off x="-9525" y="1938147"/>
            <a:ext cx="18306593" cy="60198"/>
            <a:chOff x="0" y="0"/>
            <a:chExt cx="24408790" cy="80264"/>
          </a:xfrm>
        </p:grpSpPr>
        <p:sp>
          <p:nvSpPr>
            <p:cNvPr name="Freeform 5" id="5"/>
            <p:cNvSpPr/>
            <p:nvPr/>
          </p:nvSpPr>
          <p:spPr>
            <a:xfrm flipH="false" flipV="false" rot="0">
              <a:off x="0" y="0"/>
              <a:ext cx="24408764" cy="80264"/>
            </a:xfrm>
            <a:custGeom>
              <a:avLst/>
              <a:gdLst/>
              <a:ahLst/>
              <a:cxnLst/>
              <a:rect r="r" b="b" t="t" l="l"/>
              <a:pathLst>
                <a:path h="80264" w="24408764">
                  <a:moveTo>
                    <a:pt x="0" y="0"/>
                  </a:moveTo>
                  <a:lnTo>
                    <a:pt x="24408764" y="0"/>
                  </a:lnTo>
                  <a:lnTo>
                    <a:pt x="24408764" y="80264"/>
                  </a:lnTo>
                  <a:lnTo>
                    <a:pt x="0" y="80264"/>
                  </a:lnTo>
                  <a:close/>
                </a:path>
              </a:pathLst>
            </a:custGeom>
            <a:solidFill>
              <a:srgbClr val="D4AF37"/>
            </a:solidFill>
            <a:ln w="19050" cap="sq">
              <a:solidFill>
                <a:srgbClr val="D4AF37"/>
              </a:solidFill>
              <a:prstDash val="solid"/>
              <a:miter/>
            </a:ln>
          </p:spPr>
        </p:sp>
      </p:grpSp>
      <p:sp>
        <p:nvSpPr>
          <p:cNvPr name="TextBox 6" id="6"/>
          <p:cNvSpPr txBox="true"/>
          <p:nvPr/>
        </p:nvSpPr>
        <p:spPr>
          <a:xfrm rot="0">
            <a:off x="850392" y="401955"/>
            <a:ext cx="13716000" cy="311277"/>
          </a:xfrm>
          <a:prstGeom prst="rect">
            <a:avLst/>
          </a:prstGeom>
        </p:spPr>
        <p:txBody>
          <a:bodyPr anchor="t" rtlCol="false" tIns="0" lIns="0" bIns="0" rIns="0">
            <a:spAutoFit/>
          </a:bodyPr>
          <a:lstStyle/>
          <a:p>
            <a:pPr algn="l">
              <a:lnSpc>
                <a:spcPts val="1709"/>
              </a:lnSpc>
            </a:pPr>
            <a:r>
              <a:rPr lang="en-US" b="true" sz="1425" spc="299">
                <a:solidFill>
                  <a:srgbClr val="D4AF37"/>
                </a:solidFill>
                <a:latin typeface="Exo 2 Bold"/>
                <a:ea typeface="Exo 2 Bold"/>
                <a:cs typeface="Exo 2 Bold"/>
                <a:sym typeface="Exo 2 Bold"/>
              </a:rPr>
              <a:t>WHAT WE HAVE LEARNED SO FAR</a:t>
            </a:r>
          </a:p>
        </p:txBody>
      </p:sp>
      <p:grpSp>
        <p:nvGrpSpPr>
          <p:cNvPr name="Group 7" id="7"/>
          <p:cNvGrpSpPr/>
          <p:nvPr/>
        </p:nvGrpSpPr>
        <p:grpSpPr>
          <a:xfrm rot="0">
            <a:off x="850392" y="713232"/>
            <a:ext cx="14127480" cy="1124712"/>
            <a:chOff x="0" y="0"/>
            <a:chExt cx="18836640" cy="1499616"/>
          </a:xfrm>
        </p:grpSpPr>
        <p:sp>
          <p:nvSpPr>
            <p:cNvPr name="Freeform 8" id="8"/>
            <p:cNvSpPr/>
            <p:nvPr/>
          </p:nvSpPr>
          <p:spPr>
            <a:xfrm flipH="false" flipV="false" rot="0">
              <a:off x="0" y="0"/>
              <a:ext cx="18836639" cy="1499616"/>
            </a:xfrm>
            <a:custGeom>
              <a:avLst/>
              <a:gdLst/>
              <a:ahLst/>
              <a:cxnLst/>
              <a:rect r="r" b="b" t="t" l="l"/>
              <a:pathLst>
                <a:path h="1499616" w="18836639">
                  <a:moveTo>
                    <a:pt x="0" y="0"/>
                  </a:moveTo>
                  <a:lnTo>
                    <a:pt x="18836639" y="0"/>
                  </a:lnTo>
                  <a:lnTo>
                    <a:pt x="18836639" y="1499616"/>
                  </a:lnTo>
                  <a:lnTo>
                    <a:pt x="0" y="1499616"/>
                  </a:lnTo>
                  <a:close/>
                </a:path>
              </a:pathLst>
            </a:custGeom>
            <a:blipFill>
              <a:blip r:embed="rId3">
                <a:alphaModFix amt="0"/>
              </a:blip>
              <a:stretch>
                <a:fillRect l="0" t="-194751" r="0" b="-194751"/>
              </a:stretch>
            </a:blipFill>
          </p:spPr>
        </p:sp>
        <p:sp>
          <p:nvSpPr>
            <p:cNvPr name="TextBox 9" id="9"/>
            <p:cNvSpPr txBox="true"/>
            <p:nvPr/>
          </p:nvSpPr>
          <p:spPr>
            <a:xfrm>
              <a:off x="0" y="-9525"/>
              <a:ext cx="18836640" cy="1509141"/>
            </a:xfrm>
            <a:prstGeom prst="rect">
              <a:avLst/>
            </a:prstGeom>
          </p:spPr>
          <p:txBody>
            <a:bodyPr anchor="ctr" rtlCol="false" tIns="0" lIns="0" bIns="0" rIns="0"/>
            <a:lstStyle/>
            <a:p>
              <a:pPr algn="l">
                <a:lnSpc>
                  <a:spcPts val="3960"/>
                </a:lnSpc>
              </a:pPr>
              <a:r>
                <a:rPr lang="en-US" sz="3300" b="true">
                  <a:solidFill>
                    <a:srgbClr val="FFFFFF"/>
                  </a:solidFill>
                  <a:latin typeface="Exo 2 Bold"/>
                  <a:ea typeface="Exo 2 Bold"/>
                  <a:cs typeface="Exo 2 Bold"/>
                  <a:sym typeface="Exo 2 Bold"/>
                </a:rPr>
                <a:t>Instagram, X and TikTok: What Worked and Why</a:t>
              </a:r>
            </a:p>
          </p:txBody>
        </p:sp>
      </p:grpSp>
      <p:grpSp>
        <p:nvGrpSpPr>
          <p:cNvPr name="Group 10" id="10"/>
          <p:cNvGrpSpPr/>
          <p:nvPr/>
        </p:nvGrpSpPr>
        <p:grpSpPr>
          <a:xfrm rot="0">
            <a:off x="15457932" y="685800"/>
            <a:ext cx="1988820" cy="576072"/>
            <a:chOff x="0" y="0"/>
            <a:chExt cx="2651760" cy="768096"/>
          </a:xfrm>
        </p:grpSpPr>
        <p:sp>
          <p:nvSpPr>
            <p:cNvPr name="Freeform 11" id="11" descr="/home/user/HatemIsa_202508993_IT9002_NLP_Project/emyaa-ceo-deck/working/charts/ajyad_white.png"/>
            <p:cNvSpPr/>
            <p:nvPr/>
          </p:nvSpPr>
          <p:spPr>
            <a:xfrm flipH="false" flipV="false" rot="0">
              <a:off x="0" y="0"/>
              <a:ext cx="2651760" cy="768096"/>
            </a:xfrm>
            <a:custGeom>
              <a:avLst/>
              <a:gdLst/>
              <a:ahLst/>
              <a:cxnLst/>
              <a:rect r="r" b="b" t="t" l="l"/>
              <a:pathLst>
                <a:path h="768096" w="2651760">
                  <a:moveTo>
                    <a:pt x="0" y="0"/>
                  </a:moveTo>
                  <a:lnTo>
                    <a:pt x="2651760" y="0"/>
                  </a:lnTo>
                  <a:lnTo>
                    <a:pt x="2651760" y="768096"/>
                  </a:lnTo>
                  <a:lnTo>
                    <a:pt x="0" y="768096"/>
                  </a:lnTo>
                  <a:lnTo>
                    <a:pt x="0" y="0"/>
                  </a:lnTo>
                  <a:close/>
                </a:path>
              </a:pathLst>
            </a:custGeom>
            <a:blipFill>
              <a:blip r:embed="rId4"/>
              <a:stretch>
                <a:fillRect l="0" t="-26" r="0" b="-26"/>
              </a:stretch>
            </a:blipFill>
          </p:spPr>
        </p:sp>
      </p:grpSp>
      <p:sp>
        <p:nvSpPr>
          <p:cNvPr name="TextBox 12" id="12"/>
          <p:cNvSpPr txBox="true"/>
          <p:nvPr/>
        </p:nvSpPr>
        <p:spPr>
          <a:xfrm rot="0">
            <a:off x="850392" y="9728835"/>
            <a:ext cx="8229600" cy="311277"/>
          </a:xfrm>
          <a:prstGeom prst="rect">
            <a:avLst/>
          </a:prstGeom>
        </p:spPr>
        <p:txBody>
          <a:bodyPr anchor="t" rtlCol="false" tIns="0" lIns="0" bIns="0" rIns="0">
            <a:spAutoFit/>
          </a:bodyPr>
          <a:lstStyle/>
          <a:p>
            <a:pPr algn="l">
              <a:lnSpc>
                <a:spcPts val="1439"/>
              </a:lnSpc>
            </a:pPr>
            <a:r>
              <a:rPr lang="en-US" sz="1200">
                <a:solidFill>
                  <a:srgbClr val="8A93A8"/>
                </a:solidFill>
                <a:latin typeface="Exo 2"/>
                <a:ea typeface="Exo 2"/>
                <a:cs typeface="Exo 2"/>
                <a:sym typeface="Exo 2"/>
              </a:rPr>
              <a:t>eMYAA Trading Platform  |  Saudi Market Plan</a:t>
            </a:r>
          </a:p>
        </p:txBody>
      </p:sp>
      <p:sp>
        <p:nvSpPr>
          <p:cNvPr name="TextBox 13" id="13"/>
          <p:cNvSpPr txBox="true"/>
          <p:nvPr/>
        </p:nvSpPr>
        <p:spPr>
          <a:xfrm rot="0">
            <a:off x="14703552" y="9728835"/>
            <a:ext cx="685800" cy="190500"/>
          </a:xfrm>
          <a:prstGeom prst="rect">
            <a:avLst/>
          </a:prstGeom>
        </p:spPr>
        <p:txBody>
          <a:bodyPr anchor="t" rtlCol="false" tIns="0" lIns="0" bIns="0" rIns="0">
            <a:spAutoFit/>
          </a:bodyPr>
          <a:lstStyle/>
          <a:p>
            <a:pPr algn="r">
              <a:lnSpc>
                <a:spcPts val="1439"/>
              </a:lnSpc>
            </a:pPr>
            <a:r>
              <a:rPr lang="en-US" sz="1200">
                <a:solidFill>
                  <a:srgbClr val="8A93A8"/>
                </a:solidFill>
                <a:latin typeface="Exo 2"/>
                <a:ea typeface="Exo 2"/>
                <a:cs typeface="Exo 2"/>
                <a:sym typeface="Exo 2"/>
              </a:rPr>
              <a:t>3</a:t>
            </a:r>
          </a:p>
        </p:txBody>
      </p:sp>
      <p:grpSp>
        <p:nvGrpSpPr>
          <p:cNvPr name="Group 14" id="14"/>
          <p:cNvGrpSpPr/>
          <p:nvPr/>
        </p:nvGrpSpPr>
        <p:grpSpPr>
          <a:xfrm rot="0">
            <a:off x="15910560" y="9491472"/>
            <a:ext cx="1536192" cy="548640"/>
            <a:chOff x="0" y="0"/>
            <a:chExt cx="2048256" cy="731520"/>
          </a:xfrm>
        </p:grpSpPr>
        <p:sp>
          <p:nvSpPr>
            <p:cNvPr name="Freeform 15" id="15" descr="/home/user/HatemIsa_202508993_IT9002_NLP_Project/emyaa-ceo-deck/working/charts/emyaa_navy.png"/>
            <p:cNvSpPr/>
            <p:nvPr/>
          </p:nvSpPr>
          <p:spPr>
            <a:xfrm flipH="false" flipV="false" rot="0">
              <a:off x="0" y="0"/>
              <a:ext cx="2048256" cy="731520"/>
            </a:xfrm>
            <a:custGeom>
              <a:avLst/>
              <a:gdLst/>
              <a:ahLst/>
              <a:cxnLst/>
              <a:rect r="r" b="b" t="t" l="l"/>
              <a:pathLst>
                <a:path h="731520" w="2048256">
                  <a:moveTo>
                    <a:pt x="0" y="0"/>
                  </a:moveTo>
                  <a:lnTo>
                    <a:pt x="2048256" y="0"/>
                  </a:lnTo>
                  <a:lnTo>
                    <a:pt x="2048256" y="731520"/>
                  </a:lnTo>
                  <a:lnTo>
                    <a:pt x="0" y="731520"/>
                  </a:lnTo>
                  <a:lnTo>
                    <a:pt x="0" y="0"/>
                  </a:lnTo>
                  <a:close/>
                </a:path>
              </a:pathLst>
            </a:custGeom>
            <a:blipFill>
              <a:blip r:embed="rId5"/>
              <a:stretch>
                <a:fillRect l="-301" t="0" r="-301" b="0"/>
              </a:stretch>
            </a:blipFill>
          </p:spPr>
        </p:sp>
      </p:grpSp>
      <p:sp>
        <p:nvSpPr>
          <p:cNvPr id="16" name="Rectangle 15"/>
          <p:cNvSpPr/>
          <p:nvPr/>
        </p:nvSpPr>
        <p:spPr>
          <a:xfrm>
            <a:off x="841248" y="2377440"/>
            <a:ext cx="5440680" cy="4572000"/>
          </a:xfrm>
          <a:prstGeom prst="rect">
            <a:avLst/>
          </a:prstGeom>
          <a:solidFill>
            <a:srgbClr val="FFFFFF"/>
          </a:solidFill>
          <a:ln w="9525">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41248" y="2377440"/>
            <a:ext cx="5440680" cy="82296"/>
          </a:xfrm>
          <a:prstGeom prst="rect">
            <a:avLst/>
          </a:prstGeom>
          <a:solidFill>
            <a:srgbClr val="1BA9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07008" y="2697480"/>
            <a:ext cx="4754880" cy="548640"/>
          </a:xfrm>
          <a:prstGeom prst="rect">
            <a:avLst/>
          </a:prstGeom>
          <a:noFill/>
        </p:spPr>
        <p:txBody>
          <a:bodyPr wrap="square" anchor="t" lIns="0" rIns="0" tIns="0" bIns="0">
            <a:spAutoFit/>
          </a:bodyPr>
          <a:lstStyle/>
          <a:p>
            <a:pPr algn="l"/>
            <a:r>
              <a:rPr sz="2600" b="1" i="0">
                <a:solidFill>
                  <a:srgbClr val="132257"/>
                </a:solidFill>
                <a:latin typeface="Exo 2 Bold"/>
                <a:ea typeface="Exo 2 Bold"/>
                <a:cs typeface="Exo 2 Bold"/>
              </a:rPr>
              <a:t>Instagram</a:t>
            </a:r>
          </a:p>
        </p:txBody>
      </p:sp>
      <p:sp>
        <p:nvSpPr>
          <p:cNvPr id="19" name="TextBox 18"/>
          <p:cNvSpPr txBox="1"/>
          <p:nvPr/>
        </p:nvSpPr>
        <p:spPr>
          <a:xfrm>
            <a:off x="1207008" y="3246120"/>
            <a:ext cx="4754880" cy="411480"/>
          </a:xfrm>
          <a:prstGeom prst="rect">
            <a:avLst/>
          </a:prstGeom>
          <a:noFill/>
        </p:spPr>
        <p:txBody>
          <a:bodyPr wrap="square" anchor="t" lIns="0" rIns="0" tIns="0" bIns="0">
            <a:spAutoFit/>
          </a:bodyPr>
          <a:lstStyle/>
          <a:p>
            <a:pPr algn="l"/>
            <a:r>
              <a:rPr sz="1400" b="1" i="0">
                <a:solidFill>
                  <a:srgbClr val="1BA97C"/>
                </a:solidFill>
                <a:latin typeface="Exo 2 Bold"/>
                <a:ea typeface="Exo 2 Bold"/>
                <a:cs typeface="Exo 2 Bold"/>
              </a:rPr>
              <a:t>OUR STRONGEST CHANNEL</a:t>
            </a:r>
          </a:p>
        </p:txBody>
      </p:sp>
      <p:sp>
        <p:nvSpPr>
          <p:cNvPr id="20" name="TextBox 19"/>
          <p:cNvSpPr txBox="1"/>
          <p:nvPr/>
        </p:nvSpPr>
        <p:spPr>
          <a:xfrm>
            <a:off x="1207008" y="3840480"/>
            <a:ext cx="4754880" cy="3017520"/>
          </a:xfrm>
          <a:prstGeom prst="rect">
            <a:avLst/>
          </a:prstGeom>
          <a:noFill/>
        </p:spPr>
        <p:txBody>
          <a:bodyPr wrap="square" anchor="t" lIns="0" rIns="0" tIns="0" bIns="0">
            <a:spAutoFit/>
          </a:bodyPr>
          <a:lstStyle/>
          <a:p>
            <a:pPr algn="l">
              <a:spcAft>
                <a:spcPts val="1200"/>
              </a:spcAft>
            </a:pPr>
            <a:r>
              <a:rPr sz="1750" b="1" i="0">
                <a:solidFill>
                  <a:srgbClr val="132257"/>
                </a:solidFill>
                <a:latin typeface="Exo 2 Bold"/>
                <a:ea typeface="Exo 2 Bold"/>
                <a:cs typeface="Exo 2 Bold"/>
              </a:rPr>
              <a:t>2,116 followers</a:t>
            </a:r>
            <a:r>
              <a:rPr sz="1750" b="0" i="0">
                <a:solidFill>
                  <a:srgbClr val="1F2A44"/>
                </a:solidFill>
                <a:latin typeface="Exo 2"/>
                <a:ea typeface="Exo 2"/>
                <a:cs typeface="Exo 2"/>
              </a:rPr>
              <a:t>, up from 774 at the end of June</a:t>
            </a:r>
          </a:p>
          <a:p>
            <a:pPr algn="l">
              <a:spcAft>
                <a:spcPts val="1200"/>
              </a:spcAft>
            </a:pPr>
            <a:r>
              <a:rPr sz="1750" b="1" i="0">
                <a:solidFill>
                  <a:srgbClr val="132257"/>
                </a:solidFill>
                <a:latin typeface="Exo 2 Bold"/>
                <a:ea typeface="Exo 2 Bold"/>
                <a:cs typeface="Exo 2 Bold"/>
              </a:rPr>
              <a:t>2.27M views in 90 days</a:t>
            </a:r>
            <a:r>
              <a:rPr sz="1750" b="0" i="0">
                <a:solidFill>
                  <a:srgbClr val="1F2A44"/>
                </a:solidFill>
                <a:latin typeface="Exo 2"/>
                <a:ea typeface="Exo 2"/>
                <a:cs typeface="Exo 2"/>
              </a:rPr>
              <a:t>, 72% of interactions from Reels</a:t>
            </a:r>
          </a:p>
          <a:p>
            <a:pPr algn="l">
              <a:spcAft>
                <a:spcPts val="1200"/>
              </a:spcAft>
            </a:pPr>
            <a:r>
              <a:rPr sz="1750" b="1" i="0">
                <a:solidFill>
                  <a:srgbClr val="132257"/>
                </a:solidFill>
                <a:latin typeface="Exo 2 Bold"/>
                <a:ea typeface="Exo 2 Bold"/>
                <a:cs typeface="Exo 2 Bold"/>
              </a:rPr>
              <a:t>Creator reels: </a:t>
            </a:r>
            <a:r>
              <a:rPr sz="1750" b="0" i="0">
                <a:solidFill>
                  <a:srgbClr val="1F2A44"/>
                </a:solidFill>
                <a:latin typeface="Exo 2"/>
                <a:ea typeface="Exo 2"/>
                <a:cs typeface="Exo 2"/>
              </a:rPr>
              <a:t>Musheera 5.3M and Ali Sabeel 1.3M views (paid boost)</a:t>
            </a:r>
          </a:p>
          <a:p>
            <a:pPr algn="l">
              <a:spcAft>
                <a:spcPts val="1200"/>
              </a:spcAft>
            </a:pPr>
            <a:r>
              <a:rPr sz="1750" b="1" i="0">
                <a:solidFill>
                  <a:srgbClr val="132257"/>
                </a:solidFill>
                <a:latin typeface="Exo 2 Bold"/>
                <a:ea typeface="Exo 2 Bold"/>
                <a:cs typeface="Exo 2 Bold"/>
              </a:rPr>
              <a:t>Mention &amp; Win: </a:t>
            </a:r>
            <a:r>
              <a:rPr sz="1750" b="0" i="0">
                <a:solidFill>
                  <a:srgbClr val="1F2A44"/>
                </a:solidFill>
                <a:latin typeface="Exo 2"/>
                <a:ea typeface="Exo 2"/>
                <a:cs typeface="Exo 2"/>
              </a:rPr>
              <a:t>266K views and 22,580 clicks for USD 600, 6 new accounts</a:t>
            </a:r>
          </a:p>
        </p:txBody>
      </p:sp>
      <p:sp>
        <p:nvSpPr>
          <p:cNvPr id="21" name="Rectangle 20"/>
          <p:cNvSpPr/>
          <p:nvPr/>
        </p:nvSpPr>
        <p:spPr>
          <a:xfrm>
            <a:off x="6464808" y="2377440"/>
            <a:ext cx="5440680" cy="4572000"/>
          </a:xfrm>
          <a:prstGeom prst="rect">
            <a:avLst/>
          </a:prstGeom>
          <a:solidFill>
            <a:srgbClr val="FFFFFF"/>
          </a:solidFill>
          <a:ln w="9525">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64808" y="2377440"/>
            <a:ext cx="5440680" cy="82296"/>
          </a:xfrm>
          <a:prstGeom prst="rect">
            <a:avLst/>
          </a:prstGeom>
          <a:solidFill>
            <a:srgbClr val="9A7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30568" y="2697480"/>
            <a:ext cx="4754880" cy="548640"/>
          </a:xfrm>
          <a:prstGeom prst="rect">
            <a:avLst/>
          </a:prstGeom>
          <a:noFill/>
        </p:spPr>
        <p:txBody>
          <a:bodyPr wrap="square" anchor="t" lIns="0" rIns="0" tIns="0" bIns="0">
            <a:spAutoFit/>
          </a:bodyPr>
          <a:lstStyle/>
          <a:p>
            <a:pPr algn="l"/>
            <a:r>
              <a:rPr sz="2600" b="1" i="0">
                <a:solidFill>
                  <a:srgbClr val="132257"/>
                </a:solidFill>
                <a:latin typeface="Exo 2 Bold"/>
                <a:ea typeface="Exo 2 Bold"/>
                <a:cs typeface="Exo 2 Bold"/>
              </a:rPr>
              <a:t>X (Twitter)</a:t>
            </a:r>
          </a:p>
        </p:txBody>
      </p:sp>
      <p:sp>
        <p:nvSpPr>
          <p:cNvPr id="24" name="TextBox 23"/>
          <p:cNvSpPr txBox="1"/>
          <p:nvPr/>
        </p:nvSpPr>
        <p:spPr>
          <a:xfrm>
            <a:off x="6830568" y="3246120"/>
            <a:ext cx="4754880" cy="411480"/>
          </a:xfrm>
          <a:prstGeom prst="rect">
            <a:avLst/>
          </a:prstGeom>
          <a:noFill/>
        </p:spPr>
        <p:txBody>
          <a:bodyPr wrap="square" anchor="t" lIns="0" rIns="0" tIns="0" bIns="0">
            <a:spAutoFit/>
          </a:bodyPr>
          <a:lstStyle/>
          <a:p>
            <a:pPr algn="l"/>
            <a:r>
              <a:rPr sz="1400" b="1" i="0">
                <a:solidFill>
                  <a:srgbClr val="9A7B1F"/>
                </a:solidFill>
                <a:latin typeface="Exo 2 Bold"/>
                <a:ea typeface="Exo 2 Bold"/>
                <a:cs typeface="Exo 2 Bold"/>
              </a:rPr>
              <a:t>REACH, BUT NOT IN SAUDI</a:t>
            </a:r>
          </a:p>
        </p:txBody>
      </p:sp>
      <p:sp>
        <p:nvSpPr>
          <p:cNvPr id="25" name="TextBox 24"/>
          <p:cNvSpPr txBox="1"/>
          <p:nvPr/>
        </p:nvSpPr>
        <p:spPr>
          <a:xfrm>
            <a:off x="6830568" y="3840480"/>
            <a:ext cx="4754880" cy="3017520"/>
          </a:xfrm>
          <a:prstGeom prst="rect">
            <a:avLst/>
          </a:prstGeom>
          <a:noFill/>
        </p:spPr>
        <p:txBody>
          <a:bodyPr wrap="square" anchor="t" lIns="0" rIns="0" tIns="0" bIns="0">
            <a:spAutoFit/>
          </a:bodyPr>
          <a:lstStyle/>
          <a:p>
            <a:pPr algn="l">
              <a:spcAft>
                <a:spcPts val="1200"/>
              </a:spcAft>
            </a:pPr>
            <a:r>
              <a:rPr sz="1750" b="1" i="0">
                <a:solidFill>
                  <a:srgbClr val="132257"/>
                </a:solidFill>
                <a:latin typeface="Exo 2 Bold"/>
                <a:ea typeface="Exo 2 Bold"/>
                <a:cs typeface="Exo 2 Bold"/>
              </a:rPr>
              <a:t>738 followers</a:t>
            </a:r>
            <a:r>
              <a:rPr sz="1750" b="0" i="0">
                <a:solidFill>
                  <a:srgbClr val="1F2A44"/>
                </a:solidFill>
                <a:latin typeface="Exo 2"/>
                <a:ea typeface="Exo 2"/>
                <a:cs typeface="Exo 2"/>
              </a:rPr>
              <a:t>, 96% in Bahrain and only 4% in Saudi</a:t>
            </a:r>
          </a:p>
          <a:p>
            <a:pPr algn="l">
              <a:spcAft>
                <a:spcPts val="1200"/>
              </a:spcAft>
            </a:pPr>
            <a:r>
              <a:rPr sz="1750" b="1" i="0">
                <a:solidFill>
                  <a:srgbClr val="132257"/>
                </a:solidFill>
                <a:latin typeface="Exo 2 Bold"/>
                <a:ea typeface="Exo 2 Bold"/>
                <a:cs typeface="Exo 2 Bold"/>
              </a:rPr>
              <a:t>Saudi city tests </a:t>
            </a:r>
            <a:r>
              <a:rPr sz="1750" b="0" i="0">
                <a:solidFill>
                  <a:srgbClr val="1F2A44"/>
                </a:solidFill>
                <a:latin typeface="Exo 2"/>
                <a:ea typeface="Exo 2"/>
                <a:cs typeface="Exo 2"/>
              </a:rPr>
              <a:t>in Jeddah, Dammam and Khobar in June</a:t>
            </a:r>
          </a:p>
          <a:p>
            <a:pPr algn="l">
              <a:spcAft>
                <a:spcPts val="1200"/>
              </a:spcAft>
            </a:pPr>
            <a:r>
              <a:rPr sz="1750" b="1" i="0">
                <a:solidFill>
                  <a:srgbClr val="132257"/>
                </a:solidFill>
                <a:latin typeface="Exo 2 Bold"/>
                <a:ea typeface="Exo 2 Bold"/>
                <a:cs typeface="Exo 2 Bold"/>
              </a:rPr>
              <a:t>Engagement fell 42% </a:t>
            </a:r>
            <a:r>
              <a:rPr sz="1750" b="0" i="0">
                <a:solidFill>
                  <a:srgbClr val="1F2A44"/>
                </a:solidFill>
                <a:latin typeface="Exo 2"/>
                <a:ea typeface="Exo 2"/>
                <a:cs typeface="Exo 2"/>
              </a:rPr>
              <a:t>in June while followers grew</a:t>
            </a:r>
          </a:p>
          <a:p>
            <a:pPr algn="l">
              <a:spcAft>
                <a:spcPts val="1200"/>
              </a:spcAft>
            </a:pPr>
            <a:r>
              <a:rPr sz="1750" b="1" i="0">
                <a:solidFill>
                  <a:srgbClr val="132257"/>
                </a:solidFill>
                <a:latin typeface="Exo 2 Bold"/>
                <a:ea typeface="Exo 2 Bold"/>
                <a:cs typeface="Exo 2 Bold"/>
              </a:rPr>
              <a:t>Paid support paused </a:t>
            </a:r>
            <a:r>
              <a:rPr sz="1750" b="0" i="0">
                <a:solidFill>
                  <a:srgbClr val="1F2A44"/>
                </a:solidFill>
                <a:latin typeface="Exo 2"/>
                <a:ea typeface="Exo 2"/>
                <a:cs typeface="Exo 2"/>
              </a:rPr>
              <a:t>since July</a:t>
            </a:r>
          </a:p>
        </p:txBody>
      </p:sp>
      <p:sp>
        <p:nvSpPr>
          <p:cNvPr id="26" name="Rectangle 25"/>
          <p:cNvSpPr/>
          <p:nvPr/>
        </p:nvSpPr>
        <p:spPr>
          <a:xfrm>
            <a:off x="12088368" y="2377440"/>
            <a:ext cx="5440680" cy="4572000"/>
          </a:xfrm>
          <a:prstGeom prst="rect">
            <a:avLst/>
          </a:prstGeom>
          <a:solidFill>
            <a:srgbClr val="FFFFFF"/>
          </a:solidFill>
          <a:ln w="9525">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2088368" y="2377440"/>
            <a:ext cx="5440680" cy="82296"/>
          </a:xfrm>
          <a:prstGeom prst="rect">
            <a:avLst/>
          </a:prstGeom>
          <a:solidFill>
            <a:srgbClr val="C53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2454128" y="2697480"/>
            <a:ext cx="4754880" cy="548640"/>
          </a:xfrm>
          <a:prstGeom prst="rect">
            <a:avLst/>
          </a:prstGeom>
          <a:noFill/>
        </p:spPr>
        <p:txBody>
          <a:bodyPr wrap="square" anchor="t" lIns="0" rIns="0" tIns="0" bIns="0">
            <a:spAutoFit/>
          </a:bodyPr>
          <a:lstStyle/>
          <a:p>
            <a:pPr algn="l"/>
            <a:r>
              <a:rPr sz="2600" b="1" i="0">
                <a:solidFill>
                  <a:srgbClr val="132257"/>
                </a:solidFill>
                <a:latin typeface="Exo 2 Bold"/>
                <a:ea typeface="Exo 2 Bold"/>
                <a:cs typeface="Exo 2 Bold"/>
              </a:rPr>
              <a:t>TikTok</a:t>
            </a:r>
          </a:p>
        </p:txBody>
      </p:sp>
      <p:sp>
        <p:nvSpPr>
          <p:cNvPr id="29" name="TextBox 28"/>
          <p:cNvSpPr txBox="1"/>
          <p:nvPr/>
        </p:nvSpPr>
        <p:spPr>
          <a:xfrm>
            <a:off x="12454128" y="3246120"/>
            <a:ext cx="4754880" cy="411480"/>
          </a:xfrm>
          <a:prstGeom prst="rect">
            <a:avLst/>
          </a:prstGeom>
          <a:noFill/>
        </p:spPr>
        <p:txBody>
          <a:bodyPr wrap="square" anchor="t" lIns="0" rIns="0" tIns="0" bIns="0">
            <a:spAutoFit/>
          </a:bodyPr>
          <a:lstStyle/>
          <a:p>
            <a:pPr algn="l"/>
            <a:r>
              <a:rPr sz="1400" b="1" i="0">
                <a:solidFill>
                  <a:srgbClr val="C53030"/>
                </a:solidFill>
                <a:latin typeface="Exo 2 Bold"/>
                <a:ea typeface="Exo 2 Bold"/>
                <a:cs typeface="Exo 2 Bold"/>
              </a:rPr>
              <a:t>PAUSED</a:t>
            </a:r>
          </a:p>
        </p:txBody>
      </p:sp>
      <p:sp>
        <p:nvSpPr>
          <p:cNvPr id="30" name="TextBox 29"/>
          <p:cNvSpPr txBox="1"/>
          <p:nvPr/>
        </p:nvSpPr>
        <p:spPr>
          <a:xfrm>
            <a:off x="12454128" y="3840480"/>
            <a:ext cx="4754880" cy="3017520"/>
          </a:xfrm>
          <a:prstGeom prst="rect">
            <a:avLst/>
          </a:prstGeom>
          <a:noFill/>
        </p:spPr>
        <p:txBody>
          <a:bodyPr wrap="square" anchor="t" lIns="0" rIns="0" tIns="0" bIns="0">
            <a:spAutoFit/>
          </a:bodyPr>
          <a:lstStyle/>
          <a:p>
            <a:pPr algn="l">
              <a:spcAft>
                <a:spcPts val="1200"/>
              </a:spcAft>
            </a:pPr>
            <a:r>
              <a:rPr sz="1750" b="1" i="0">
                <a:solidFill>
                  <a:srgbClr val="132257"/>
                </a:solidFill>
                <a:latin typeface="Exo 2 Bold"/>
                <a:ea typeface="Exo 2 Bold"/>
                <a:cs typeface="Exo 2 Bold"/>
              </a:rPr>
              <a:t>15 followers</a:t>
            </a:r>
            <a:r>
              <a:rPr sz="1750" b="0" i="0">
                <a:solidFill>
                  <a:srgbClr val="1F2A44"/>
                </a:solidFill>
                <a:latin typeface="Exo 2"/>
                <a:ea typeface="Exo 2"/>
                <a:cs typeface="Exo 2"/>
              </a:rPr>
              <a:t>, 176 total likes</a:t>
            </a:r>
          </a:p>
          <a:p>
            <a:pPr algn="l">
              <a:spcAft>
                <a:spcPts val="1200"/>
              </a:spcAft>
            </a:pPr>
            <a:r>
              <a:rPr sz="1750" b="1" i="0">
                <a:solidFill>
                  <a:srgbClr val="132257"/>
                </a:solidFill>
                <a:latin typeface="Exo 2 Bold"/>
                <a:ea typeface="Exo 2 Bold"/>
                <a:cs typeface="Exo 2 Bold"/>
              </a:rPr>
              <a:t>Bot traffic found </a:t>
            </a:r>
            <a:r>
              <a:rPr sz="1750" b="0" i="0">
                <a:solidFill>
                  <a:srgbClr val="1F2A44"/>
                </a:solidFill>
                <a:latin typeface="Exo 2"/>
                <a:ea typeface="Exo 2"/>
                <a:cs typeface="Exo 2"/>
              </a:rPr>
              <a:t>in May: 706K fake clicks through a partner ad network</a:t>
            </a:r>
          </a:p>
          <a:p>
            <a:pPr algn="l">
              <a:spcAft>
                <a:spcPts val="1200"/>
              </a:spcAft>
            </a:pPr>
            <a:r>
              <a:rPr sz="1750" b="1" i="0">
                <a:solidFill>
                  <a:srgbClr val="132257"/>
                </a:solidFill>
                <a:latin typeface="Exo 2 Bold"/>
                <a:ea typeface="Exo 2 Bold"/>
                <a:cs typeface="Exo 2 Bold"/>
              </a:rPr>
              <a:t>Paid ads stopped </a:t>
            </a:r>
            <a:r>
              <a:rPr sz="1750" b="0" i="0">
                <a:solidFill>
                  <a:srgbClr val="1F2A44"/>
                </a:solidFill>
                <a:latin typeface="Exo 2"/>
                <a:ea typeface="Exo 2"/>
                <a:cs typeface="Exo 2"/>
              </a:rPr>
              <a:t>on 22 June; traffic has been clean since</a:t>
            </a:r>
          </a:p>
          <a:p>
            <a:pPr algn="l">
              <a:spcAft>
                <a:spcPts val="1200"/>
              </a:spcAft>
            </a:pPr>
            <a:r>
              <a:rPr sz="1750" b="1" i="0">
                <a:solidFill>
                  <a:srgbClr val="132257"/>
                </a:solidFill>
                <a:latin typeface="Exo 2 Bold"/>
                <a:ea typeface="Exo 2 Bold"/>
                <a:cs typeface="Exo 2 Bold"/>
              </a:rPr>
              <a:t>Audience </a:t>
            </a:r>
            <a:r>
              <a:rPr sz="1750" b="0" i="0">
                <a:solidFill>
                  <a:srgbClr val="1F2A44"/>
                </a:solidFill>
                <a:latin typeface="Exo 2"/>
                <a:ea typeface="Exo 2"/>
                <a:cs typeface="Exo 2"/>
              </a:rPr>
              <a:t>not yet a fit for investing content</a:t>
            </a:r>
          </a:p>
        </p:txBody>
      </p:sp>
      <p:sp>
        <p:nvSpPr>
          <p:cNvPr id="31" name="Rectangle 30"/>
          <p:cNvSpPr/>
          <p:nvPr/>
        </p:nvSpPr>
        <p:spPr>
          <a:xfrm>
            <a:off x="841248" y="7178040"/>
            <a:ext cx="16642080" cy="22402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41248" y="7178040"/>
            <a:ext cx="100584" cy="2240280"/>
          </a:xfrm>
          <a:prstGeom prst="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234440" y="7360920"/>
            <a:ext cx="5486400" cy="365760"/>
          </a:xfrm>
          <a:prstGeom prst="rect">
            <a:avLst/>
          </a:prstGeom>
          <a:noFill/>
        </p:spPr>
        <p:txBody>
          <a:bodyPr wrap="square" anchor="t" lIns="0" rIns="0" tIns="0" bIns="0">
            <a:spAutoFit/>
          </a:bodyPr>
          <a:lstStyle/>
          <a:p>
            <a:pPr algn="l"/>
            <a:r>
              <a:rPr sz="1400" b="1" i="0">
                <a:solidFill>
                  <a:srgbClr val="3C61B6"/>
                </a:solidFill>
                <a:latin typeface="Exo 2 Bold"/>
                <a:ea typeface="Exo 2 Bold"/>
                <a:cs typeface="Exo 2 Bold"/>
              </a:rPr>
              <a:t>WHY INSTAGRAM OUTPERFORMED</a:t>
            </a:r>
          </a:p>
        </p:txBody>
      </p:sp>
      <p:sp>
        <p:nvSpPr>
          <p:cNvPr id="34" name="TextBox 33"/>
          <p:cNvSpPr txBox="1"/>
          <p:nvPr/>
        </p:nvSpPr>
        <p:spPr>
          <a:xfrm>
            <a:off x="1234440" y="7818120"/>
            <a:ext cx="9601200" cy="1554480"/>
          </a:xfrm>
          <a:prstGeom prst="rect">
            <a:avLst/>
          </a:prstGeom>
          <a:noFill/>
        </p:spPr>
        <p:txBody>
          <a:bodyPr wrap="square" anchor="t" lIns="0" rIns="0" tIns="0" bIns="0">
            <a:spAutoFit/>
          </a:bodyPr>
          <a:lstStyle/>
          <a:p>
            <a:pPr algn="l">
              <a:spcAft>
                <a:spcPts val="800"/>
              </a:spcAft>
            </a:pPr>
            <a:r>
              <a:rPr sz="1550" b="1" i="0">
                <a:solidFill>
                  <a:srgbClr val="132257"/>
                </a:solidFill>
                <a:latin typeface="Exo 2 Bold"/>
                <a:ea typeface="Exo 2 Bold"/>
                <a:cs typeface="Exo 2 Bold"/>
              </a:rPr>
              <a:t>Real people, not animation: </a:t>
            </a:r>
            <a:r>
              <a:rPr sz="1550" b="0" i="0">
                <a:solidFill>
                  <a:srgbClr val="1F2A44"/>
                </a:solidFill>
                <a:latin typeface="Exo 2"/>
                <a:ea typeface="Exo 2"/>
                <a:cs typeface="Exo 2"/>
              </a:rPr>
              <a:t>presenter-led creator videos built more trust than graphic explainers.</a:t>
            </a:r>
          </a:p>
          <a:p>
            <a:pPr algn="l">
              <a:spcAft>
                <a:spcPts val="800"/>
              </a:spcAft>
            </a:pPr>
            <a:r>
              <a:rPr sz="1550" b="1" i="0">
                <a:solidFill>
                  <a:srgbClr val="132257"/>
                </a:solidFill>
                <a:latin typeface="Exo 2 Bold"/>
                <a:ea typeface="Exo 2 Bold"/>
                <a:cs typeface="Exo 2 Bold"/>
              </a:rPr>
              <a:t>Paid boost on every key video: </a:t>
            </a:r>
            <a:r>
              <a:rPr sz="1550" b="0" i="0">
                <a:solidFill>
                  <a:srgbClr val="1F2A44"/>
                </a:solidFill>
                <a:latin typeface="Exo 2"/>
                <a:ea typeface="Exo 2"/>
                <a:cs typeface="Exo 2"/>
              </a:rPr>
              <a:t>reach came from sponsoring creator content to the right GCC cities and ages.</a:t>
            </a:r>
          </a:p>
          <a:p>
            <a:pPr algn="l">
              <a:spcAft>
                <a:spcPts val="800"/>
              </a:spcAft>
            </a:pPr>
            <a:r>
              <a:rPr sz="1550" b="1" i="0">
                <a:solidFill>
                  <a:srgbClr val="132257"/>
                </a:solidFill>
                <a:latin typeface="Exo 2 Bold"/>
                <a:ea typeface="Exo 2 Bold"/>
                <a:cs typeface="Exo 2 Bold"/>
              </a:rPr>
              <a:t>Contests that ask for action: </a:t>
            </a:r>
            <a:r>
              <a:rPr sz="1550" b="0" i="0">
                <a:solidFill>
                  <a:srgbClr val="1F2A44"/>
                </a:solidFill>
                <a:latin typeface="Exo 2"/>
                <a:ea typeface="Exo 2"/>
                <a:cs typeface="Exo 2"/>
              </a:rPr>
              <a:t>Mention &amp; Win turns views into follows and new accounts.</a:t>
            </a:r>
          </a:p>
        </p:txBody>
      </p:sp>
      <p:pic>
        <p:nvPicPr>
          <p:cNvPr id="35" name="Picture 34" descr="tile9_musheera.png"/>
          <p:cNvPicPr>
            <a:picLocks noChangeAspect="1"/>
          </p:cNvPicPr>
          <p:nvPr/>
        </p:nvPicPr>
        <p:blipFill>
          <a:blip r:embed="rId6"/>
          <a:stretch>
            <a:fillRect/>
          </a:stretch>
        </p:blipFill>
        <p:spPr>
          <a:xfrm>
            <a:off x="10933661" y="7296912"/>
            <a:ext cx="1527688" cy="1965960"/>
          </a:xfrm>
          <a:prstGeom prst="rect">
            <a:avLst/>
          </a:prstGeom>
        </p:spPr>
      </p:pic>
      <p:sp>
        <p:nvSpPr>
          <p:cNvPr id="36" name="Rectangle 35"/>
          <p:cNvSpPr/>
          <p:nvPr/>
        </p:nvSpPr>
        <p:spPr>
          <a:xfrm>
            <a:off x="10933661" y="8759952"/>
            <a:ext cx="1527688" cy="502920"/>
          </a:xfrm>
          <a:prstGeom prst="rect">
            <a:avLst/>
          </a:prstGeom>
          <a:solidFill>
            <a:srgbClr val="132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1006813" y="8759952"/>
            <a:ext cx="1381384" cy="502920"/>
          </a:xfrm>
          <a:prstGeom prst="rect">
            <a:avLst/>
          </a:prstGeom>
          <a:noFill/>
        </p:spPr>
        <p:txBody>
          <a:bodyPr wrap="square" anchor="ctr" lIns="0" rIns="0" tIns="0" bIns="0">
            <a:spAutoFit/>
          </a:bodyPr>
          <a:lstStyle/>
          <a:p>
            <a:pPr algn="ctr"/>
            <a:r>
              <a:rPr sz="1050" b="1" i="0">
                <a:solidFill>
                  <a:srgbClr val="FFFFFF"/>
                </a:solidFill>
                <a:latin typeface="Exo 2 Bold"/>
                <a:ea typeface="Exo 2 Bold"/>
                <a:cs typeface="Exo 2 Bold"/>
              </a:rPr>
              <a:t>Musheera</a:t>
            </a:r>
          </a:p>
          <a:p>
            <a:pPr algn="ctr"/>
            <a:r>
              <a:rPr sz="1000" b="0" i="0">
                <a:solidFill>
                  <a:srgbClr val="D4AF37"/>
                </a:solidFill>
                <a:latin typeface="Exo 2"/>
                <a:ea typeface="Exo 2"/>
                <a:cs typeface="Exo 2"/>
              </a:rPr>
              <a:t>5.3M views</a:t>
            </a:r>
          </a:p>
        </p:txBody>
      </p:sp>
      <p:pic>
        <p:nvPicPr>
          <p:cNvPr id="38" name="Picture 37" descr="tile9_ali.png"/>
          <p:cNvPicPr>
            <a:picLocks noChangeAspect="1"/>
          </p:cNvPicPr>
          <p:nvPr/>
        </p:nvPicPr>
        <p:blipFill>
          <a:blip r:embed="rId7"/>
          <a:stretch>
            <a:fillRect/>
          </a:stretch>
        </p:blipFill>
        <p:spPr>
          <a:xfrm>
            <a:off x="12571078" y="7296912"/>
            <a:ext cx="1527688" cy="1965960"/>
          </a:xfrm>
          <a:prstGeom prst="rect">
            <a:avLst/>
          </a:prstGeom>
        </p:spPr>
      </p:pic>
      <p:sp>
        <p:nvSpPr>
          <p:cNvPr id="39" name="Rectangle 38"/>
          <p:cNvSpPr/>
          <p:nvPr/>
        </p:nvSpPr>
        <p:spPr>
          <a:xfrm>
            <a:off x="12571078" y="8759952"/>
            <a:ext cx="1527688" cy="502920"/>
          </a:xfrm>
          <a:prstGeom prst="rect">
            <a:avLst/>
          </a:prstGeom>
          <a:solidFill>
            <a:srgbClr val="132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2644230" y="8759952"/>
            <a:ext cx="1381384" cy="502920"/>
          </a:xfrm>
          <a:prstGeom prst="rect">
            <a:avLst/>
          </a:prstGeom>
          <a:noFill/>
        </p:spPr>
        <p:txBody>
          <a:bodyPr wrap="square" anchor="ctr" lIns="0" rIns="0" tIns="0" bIns="0">
            <a:spAutoFit/>
          </a:bodyPr>
          <a:lstStyle/>
          <a:p>
            <a:pPr algn="ctr"/>
            <a:r>
              <a:rPr sz="1050" b="1" i="0">
                <a:solidFill>
                  <a:srgbClr val="FFFFFF"/>
                </a:solidFill>
                <a:latin typeface="Exo 2 Bold"/>
                <a:ea typeface="Exo 2 Bold"/>
                <a:cs typeface="Exo 2 Bold"/>
              </a:rPr>
              <a:t>Ali Sabeel</a:t>
            </a:r>
          </a:p>
          <a:p>
            <a:pPr algn="ctr"/>
            <a:r>
              <a:rPr sz="1000" b="0" i="0">
                <a:solidFill>
                  <a:srgbClr val="D4AF37"/>
                </a:solidFill>
                <a:latin typeface="Exo 2"/>
                <a:ea typeface="Exo 2"/>
                <a:cs typeface="Exo 2"/>
              </a:rPr>
              <a:t>1.3M views</a:t>
            </a:r>
          </a:p>
        </p:txBody>
      </p:sp>
      <p:pic>
        <p:nvPicPr>
          <p:cNvPr id="41" name="Picture 40" descr="ksa_reel_mw.png"/>
          <p:cNvPicPr>
            <a:picLocks noChangeAspect="1"/>
          </p:cNvPicPr>
          <p:nvPr/>
        </p:nvPicPr>
        <p:blipFill>
          <a:blip r:embed="rId8"/>
          <a:stretch>
            <a:fillRect/>
          </a:stretch>
        </p:blipFill>
        <p:spPr>
          <a:xfrm>
            <a:off x="14208494" y="7296912"/>
            <a:ext cx="1527688" cy="1965960"/>
          </a:xfrm>
          <a:prstGeom prst="rect">
            <a:avLst/>
          </a:prstGeom>
        </p:spPr>
      </p:pic>
      <p:sp>
        <p:nvSpPr>
          <p:cNvPr id="42" name="Rectangle 41"/>
          <p:cNvSpPr/>
          <p:nvPr/>
        </p:nvSpPr>
        <p:spPr>
          <a:xfrm>
            <a:off x="14208494" y="8759952"/>
            <a:ext cx="1527688" cy="502920"/>
          </a:xfrm>
          <a:prstGeom prst="rect">
            <a:avLst/>
          </a:prstGeom>
          <a:solidFill>
            <a:srgbClr val="132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4281646" y="8759952"/>
            <a:ext cx="1381384" cy="502920"/>
          </a:xfrm>
          <a:prstGeom prst="rect">
            <a:avLst/>
          </a:prstGeom>
          <a:noFill/>
        </p:spPr>
        <p:txBody>
          <a:bodyPr wrap="square" anchor="ctr" lIns="0" rIns="0" tIns="0" bIns="0">
            <a:spAutoFit/>
          </a:bodyPr>
          <a:lstStyle/>
          <a:p>
            <a:pPr algn="ctr"/>
            <a:r>
              <a:rPr sz="1050" b="1" i="0">
                <a:solidFill>
                  <a:srgbClr val="FFFFFF"/>
                </a:solidFill>
                <a:latin typeface="Exo 2 Bold"/>
                <a:ea typeface="Exo 2 Bold"/>
                <a:cs typeface="Exo 2 Bold"/>
              </a:rPr>
              <a:t>Mention &amp; Win</a:t>
            </a:r>
          </a:p>
          <a:p>
            <a:pPr algn="ctr"/>
            <a:r>
              <a:rPr sz="1000" b="0" i="0">
                <a:solidFill>
                  <a:srgbClr val="D4AF37"/>
                </a:solidFill>
                <a:latin typeface="Exo 2"/>
                <a:ea typeface="Exo 2"/>
                <a:cs typeface="Exo 2"/>
              </a:rPr>
              <a:t>186K views</a:t>
            </a:r>
          </a:p>
        </p:txBody>
      </p:sp>
      <p:pic>
        <p:nvPicPr>
          <p:cNvPr id="44" name="Picture 43" descr="tile9_abdulelah.png"/>
          <p:cNvPicPr>
            <a:picLocks noChangeAspect="1"/>
          </p:cNvPicPr>
          <p:nvPr/>
        </p:nvPicPr>
        <p:blipFill>
          <a:blip r:embed="rId9"/>
          <a:stretch>
            <a:fillRect/>
          </a:stretch>
        </p:blipFill>
        <p:spPr>
          <a:xfrm>
            <a:off x="15845911" y="7296912"/>
            <a:ext cx="1527688" cy="1965960"/>
          </a:xfrm>
          <a:prstGeom prst="rect">
            <a:avLst/>
          </a:prstGeom>
        </p:spPr>
      </p:pic>
      <p:sp>
        <p:nvSpPr>
          <p:cNvPr id="45" name="Rectangle 44"/>
          <p:cNvSpPr/>
          <p:nvPr/>
        </p:nvSpPr>
        <p:spPr>
          <a:xfrm>
            <a:off x="15845911" y="8759952"/>
            <a:ext cx="1527688" cy="502920"/>
          </a:xfrm>
          <a:prstGeom prst="rect">
            <a:avLst/>
          </a:prstGeom>
          <a:solidFill>
            <a:srgbClr val="132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5919063" y="8759952"/>
            <a:ext cx="1381384" cy="502920"/>
          </a:xfrm>
          <a:prstGeom prst="rect">
            <a:avLst/>
          </a:prstGeom>
          <a:noFill/>
        </p:spPr>
        <p:txBody>
          <a:bodyPr wrap="square" anchor="ctr" lIns="0" rIns="0" tIns="0" bIns="0">
            <a:spAutoFit/>
          </a:bodyPr>
          <a:lstStyle/>
          <a:p>
            <a:pPr algn="ctr"/>
            <a:r>
              <a:rPr sz="1050" b="1" i="0">
                <a:solidFill>
                  <a:srgbClr val="FFFFFF"/>
                </a:solidFill>
                <a:latin typeface="Exo 2 Bold"/>
                <a:ea typeface="Exo 2 Bold"/>
                <a:cs typeface="Exo 2 Bold"/>
              </a:rPr>
              <a:t>Abdulelah Al Harbi</a:t>
            </a:r>
          </a:p>
          <a:p>
            <a:pPr algn="ctr"/>
            <a:r>
              <a:rPr sz="1000" b="0" i="0">
                <a:solidFill>
                  <a:srgbClr val="D4AF37"/>
                </a:solidFill>
                <a:latin typeface="Exo 2"/>
                <a:ea typeface="Exo 2"/>
                <a:cs typeface="Exo 2"/>
              </a:rPr>
              <a:t>October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0" y="0"/>
            <a:ext cx="18287543" cy="1947672"/>
            <a:chOff x="0" y="0"/>
            <a:chExt cx="24383390" cy="2596896"/>
          </a:xfrm>
        </p:grpSpPr>
        <p:sp>
          <p:nvSpPr>
            <p:cNvPr name="Freeform 3" id="3" descr="/home/user/HatemIsa_202508993_IT9002_NLP_Project/emyaa-ceo-deck/working/charts/board_header.png"/>
            <p:cNvSpPr/>
            <p:nvPr/>
          </p:nvSpPr>
          <p:spPr>
            <a:xfrm flipH="false" flipV="false" rot="0">
              <a:off x="0" y="0"/>
              <a:ext cx="24383364" cy="2596896"/>
            </a:xfrm>
            <a:custGeom>
              <a:avLst/>
              <a:gdLst/>
              <a:ahLst/>
              <a:cxnLst/>
              <a:rect r="r" b="b" t="t" l="l"/>
              <a:pathLst>
                <a:path h="2596896" w="24383364">
                  <a:moveTo>
                    <a:pt x="0" y="0"/>
                  </a:moveTo>
                  <a:lnTo>
                    <a:pt x="24383364" y="0"/>
                  </a:lnTo>
                  <a:lnTo>
                    <a:pt x="24383364" y="2596896"/>
                  </a:lnTo>
                  <a:lnTo>
                    <a:pt x="0" y="2596896"/>
                  </a:lnTo>
                  <a:lnTo>
                    <a:pt x="0" y="0"/>
                  </a:lnTo>
                  <a:close/>
                </a:path>
              </a:pathLst>
            </a:custGeom>
            <a:blipFill>
              <a:blip r:embed="rId2"/>
              <a:stretch>
                <a:fillRect l="0" t="-1172" r="0" b="-1172"/>
              </a:stretch>
            </a:blipFill>
          </p:spPr>
        </p:sp>
      </p:grpSp>
      <p:grpSp>
        <p:nvGrpSpPr>
          <p:cNvPr name="Group 4" id="4"/>
          <p:cNvGrpSpPr/>
          <p:nvPr/>
        </p:nvGrpSpPr>
        <p:grpSpPr>
          <a:xfrm rot="0">
            <a:off x="-9525" y="1938147"/>
            <a:ext cx="18306593" cy="60198"/>
            <a:chOff x="0" y="0"/>
            <a:chExt cx="24408790" cy="80264"/>
          </a:xfrm>
        </p:grpSpPr>
        <p:sp>
          <p:nvSpPr>
            <p:cNvPr name="Freeform 5" id="5"/>
            <p:cNvSpPr/>
            <p:nvPr/>
          </p:nvSpPr>
          <p:spPr>
            <a:xfrm flipH="false" flipV="false" rot="0">
              <a:off x="0" y="0"/>
              <a:ext cx="24408764" cy="80264"/>
            </a:xfrm>
            <a:custGeom>
              <a:avLst/>
              <a:gdLst/>
              <a:ahLst/>
              <a:cxnLst/>
              <a:rect r="r" b="b" t="t" l="l"/>
              <a:pathLst>
                <a:path h="80264" w="24408764">
                  <a:moveTo>
                    <a:pt x="0" y="0"/>
                  </a:moveTo>
                  <a:lnTo>
                    <a:pt x="24408764" y="0"/>
                  </a:lnTo>
                  <a:lnTo>
                    <a:pt x="24408764" y="80264"/>
                  </a:lnTo>
                  <a:lnTo>
                    <a:pt x="0" y="80264"/>
                  </a:lnTo>
                  <a:close/>
                </a:path>
              </a:pathLst>
            </a:custGeom>
            <a:solidFill>
              <a:srgbClr val="D4AF37"/>
            </a:solidFill>
            <a:ln w="19050" cap="sq">
              <a:solidFill>
                <a:srgbClr val="D4AF37"/>
              </a:solidFill>
              <a:prstDash val="solid"/>
              <a:miter/>
            </a:ln>
          </p:spPr>
        </p:sp>
      </p:grpSp>
      <p:sp>
        <p:nvSpPr>
          <p:cNvPr name="TextBox 6" id="6"/>
          <p:cNvSpPr txBox="true"/>
          <p:nvPr/>
        </p:nvSpPr>
        <p:spPr>
          <a:xfrm rot="0">
            <a:off x="850392" y="401955"/>
            <a:ext cx="13716000" cy="311277"/>
          </a:xfrm>
          <a:prstGeom prst="rect">
            <a:avLst/>
          </a:prstGeom>
        </p:spPr>
        <p:txBody>
          <a:bodyPr anchor="t" rtlCol="false" tIns="0" lIns="0" bIns="0" rIns="0">
            <a:spAutoFit/>
          </a:bodyPr>
          <a:lstStyle/>
          <a:p>
            <a:pPr algn="l">
              <a:lnSpc>
                <a:spcPts val="1709"/>
              </a:lnSpc>
            </a:pPr>
            <a:r>
              <a:rPr lang="en-US" b="true" sz="1425" spc="299">
                <a:solidFill>
                  <a:srgbClr val="D4AF37"/>
                </a:solidFill>
                <a:latin typeface="Exo 2 Bold"/>
                <a:ea typeface="Exo 2 Bold"/>
                <a:cs typeface="Exo 2 Bold"/>
                <a:sym typeface="Exo 2 Bold"/>
              </a:rPr>
              <a:t>JODEL TAKEOVER POLL, EXAMPLE</a:t>
            </a:r>
          </a:p>
        </p:txBody>
      </p:sp>
      <p:grpSp>
        <p:nvGrpSpPr>
          <p:cNvPr name="Group 7" id="7"/>
          <p:cNvGrpSpPr/>
          <p:nvPr/>
        </p:nvGrpSpPr>
        <p:grpSpPr>
          <a:xfrm rot="0">
            <a:off x="850392" y="713232"/>
            <a:ext cx="14127480" cy="1124712"/>
            <a:chOff x="0" y="0"/>
            <a:chExt cx="18836640" cy="1499616"/>
          </a:xfrm>
        </p:grpSpPr>
        <p:sp>
          <p:nvSpPr>
            <p:cNvPr name="Freeform 8" id="8"/>
            <p:cNvSpPr/>
            <p:nvPr/>
          </p:nvSpPr>
          <p:spPr>
            <a:xfrm flipH="false" flipV="false" rot="0">
              <a:off x="0" y="0"/>
              <a:ext cx="18836639" cy="1499616"/>
            </a:xfrm>
            <a:custGeom>
              <a:avLst/>
              <a:gdLst/>
              <a:ahLst/>
              <a:cxnLst/>
              <a:rect r="r" b="b" t="t" l="l"/>
              <a:pathLst>
                <a:path h="1499616" w="18836639">
                  <a:moveTo>
                    <a:pt x="0" y="0"/>
                  </a:moveTo>
                  <a:lnTo>
                    <a:pt x="18836639" y="0"/>
                  </a:lnTo>
                  <a:lnTo>
                    <a:pt x="18836639" y="1499616"/>
                  </a:lnTo>
                  <a:lnTo>
                    <a:pt x="0" y="1499616"/>
                  </a:lnTo>
                  <a:close/>
                </a:path>
              </a:pathLst>
            </a:custGeom>
            <a:blipFill>
              <a:blip r:embed="rId3">
                <a:alphaModFix amt="0"/>
              </a:blip>
              <a:stretch>
                <a:fillRect l="0" t="-194751" r="0" b="-194751"/>
              </a:stretch>
            </a:blipFill>
          </p:spPr>
        </p:sp>
        <p:sp>
          <p:nvSpPr>
            <p:cNvPr name="TextBox 9" id="9"/>
            <p:cNvSpPr txBox="true"/>
            <p:nvPr/>
          </p:nvSpPr>
          <p:spPr>
            <a:xfrm>
              <a:off x="0" y="-9525"/>
              <a:ext cx="18836640" cy="1509141"/>
            </a:xfrm>
            <a:prstGeom prst="rect">
              <a:avLst/>
            </a:prstGeom>
          </p:spPr>
          <p:txBody>
            <a:bodyPr anchor="ctr" rtlCol="false" tIns="0" lIns="0" bIns="0" rIns="0"/>
            <a:lstStyle/>
            <a:p>
              <a:pPr algn="l">
                <a:lnSpc>
                  <a:spcPts val="3960"/>
                </a:lnSpc>
              </a:pPr>
              <a:r>
                <a:rPr lang="en-US" sz="3300" b="true">
                  <a:solidFill>
                    <a:srgbClr val="FFFFFF"/>
                  </a:solidFill>
                  <a:latin typeface="Exo 2 Bold"/>
                  <a:ea typeface="Exo 2 Bold"/>
                  <a:cs typeface="Exo 2 Bold"/>
                  <a:sym typeface="Exo 2 Bold"/>
                </a:rPr>
                <a:t>An eMYAA Poll Built on Personal Goals</a:t>
              </a:r>
            </a:p>
          </p:txBody>
        </p:sp>
      </p:grpSp>
      <p:grpSp>
        <p:nvGrpSpPr>
          <p:cNvPr name="Group 10" id="10"/>
          <p:cNvGrpSpPr/>
          <p:nvPr/>
        </p:nvGrpSpPr>
        <p:grpSpPr>
          <a:xfrm rot="0">
            <a:off x="15457932" y="685800"/>
            <a:ext cx="1988820" cy="576072"/>
            <a:chOff x="0" y="0"/>
            <a:chExt cx="2651760" cy="768096"/>
          </a:xfrm>
        </p:grpSpPr>
        <p:sp>
          <p:nvSpPr>
            <p:cNvPr name="Freeform 11" id="11" descr="/home/user/HatemIsa_202508993_IT9002_NLP_Project/emyaa-ceo-deck/working/charts/ajyad_white.png"/>
            <p:cNvSpPr/>
            <p:nvPr/>
          </p:nvSpPr>
          <p:spPr>
            <a:xfrm flipH="false" flipV="false" rot="0">
              <a:off x="0" y="0"/>
              <a:ext cx="2651760" cy="768096"/>
            </a:xfrm>
            <a:custGeom>
              <a:avLst/>
              <a:gdLst/>
              <a:ahLst/>
              <a:cxnLst/>
              <a:rect r="r" b="b" t="t" l="l"/>
              <a:pathLst>
                <a:path h="768096" w="2651760">
                  <a:moveTo>
                    <a:pt x="0" y="0"/>
                  </a:moveTo>
                  <a:lnTo>
                    <a:pt x="2651760" y="0"/>
                  </a:lnTo>
                  <a:lnTo>
                    <a:pt x="2651760" y="768096"/>
                  </a:lnTo>
                  <a:lnTo>
                    <a:pt x="0" y="768096"/>
                  </a:lnTo>
                  <a:lnTo>
                    <a:pt x="0" y="0"/>
                  </a:lnTo>
                  <a:close/>
                </a:path>
              </a:pathLst>
            </a:custGeom>
            <a:blipFill>
              <a:blip r:embed="rId4"/>
              <a:stretch>
                <a:fillRect l="0" t="-26" r="0" b="-26"/>
              </a:stretch>
            </a:blipFill>
          </p:spPr>
        </p:sp>
      </p:grpSp>
      <p:sp>
        <p:nvSpPr>
          <p:cNvPr name="TextBox 12" id="12"/>
          <p:cNvSpPr txBox="true"/>
          <p:nvPr/>
        </p:nvSpPr>
        <p:spPr>
          <a:xfrm rot="0">
            <a:off x="850392" y="9728835"/>
            <a:ext cx="8229600" cy="311277"/>
          </a:xfrm>
          <a:prstGeom prst="rect">
            <a:avLst/>
          </a:prstGeom>
        </p:spPr>
        <p:txBody>
          <a:bodyPr anchor="t" rtlCol="false" tIns="0" lIns="0" bIns="0" rIns="0">
            <a:spAutoFit/>
          </a:bodyPr>
          <a:lstStyle/>
          <a:p>
            <a:pPr algn="l">
              <a:lnSpc>
                <a:spcPts val="1439"/>
              </a:lnSpc>
            </a:pPr>
            <a:r>
              <a:rPr lang="en-US" sz="1200">
                <a:solidFill>
                  <a:srgbClr val="8A93A8"/>
                </a:solidFill>
                <a:latin typeface="Exo 2"/>
                <a:ea typeface="Exo 2"/>
                <a:cs typeface="Exo 2"/>
                <a:sym typeface="Exo 2"/>
              </a:rPr>
              <a:t>eMYAA Trading Platform  |  Saudi Market Plan</a:t>
            </a:r>
          </a:p>
        </p:txBody>
      </p:sp>
      <p:sp>
        <p:nvSpPr>
          <p:cNvPr name="TextBox 13" id="13"/>
          <p:cNvSpPr txBox="true"/>
          <p:nvPr/>
        </p:nvSpPr>
        <p:spPr>
          <a:xfrm rot="0">
            <a:off x="14703552" y="9728835"/>
            <a:ext cx="685800" cy="190500"/>
          </a:xfrm>
          <a:prstGeom prst="rect">
            <a:avLst/>
          </a:prstGeom>
        </p:spPr>
        <p:txBody>
          <a:bodyPr anchor="t" rtlCol="false" tIns="0" lIns="0" bIns="0" rIns="0">
            <a:spAutoFit/>
          </a:bodyPr>
          <a:lstStyle/>
          <a:p>
            <a:pPr algn="r">
              <a:lnSpc>
                <a:spcPts val="1439"/>
              </a:lnSpc>
            </a:pPr>
            <a:r>
              <a:rPr lang="en-US" sz="1200">
                <a:solidFill>
                  <a:srgbClr val="8A93A8"/>
                </a:solidFill>
                <a:latin typeface="Exo 2"/>
                <a:ea typeface="Exo 2"/>
                <a:cs typeface="Exo 2"/>
                <a:sym typeface="Exo 2"/>
              </a:rPr>
              <a:t>8</a:t>
            </a:r>
          </a:p>
        </p:txBody>
      </p:sp>
      <p:grpSp>
        <p:nvGrpSpPr>
          <p:cNvPr name="Group 14" id="14"/>
          <p:cNvGrpSpPr/>
          <p:nvPr/>
        </p:nvGrpSpPr>
        <p:grpSpPr>
          <a:xfrm rot="0">
            <a:off x="15910560" y="9491472"/>
            <a:ext cx="1536192" cy="548640"/>
            <a:chOff x="0" y="0"/>
            <a:chExt cx="2048256" cy="731520"/>
          </a:xfrm>
        </p:grpSpPr>
        <p:sp>
          <p:nvSpPr>
            <p:cNvPr name="Freeform 15" id="15" descr="/home/user/HatemIsa_202508993_IT9002_NLP_Project/emyaa-ceo-deck/working/charts/emyaa_navy.png"/>
            <p:cNvSpPr/>
            <p:nvPr/>
          </p:nvSpPr>
          <p:spPr>
            <a:xfrm flipH="false" flipV="false" rot="0">
              <a:off x="0" y="0"/>
              <a:ext cx="2048256" cy="731520"/>
            </a:xfrm>
            <a:custGeom>
              <a:avLst/>
              <a:gdLst/>
              <a:ahLst/>
              <a:cxnLst/>
              <a:rect r="r" b="b" t="t" l="l"/>
              <a:pathLst>
                <a:path h="731520" w="2048256">
                  <a:moveTo>
                    <a:pt x="0" y="0"/>
                  </a:moveTo>
                  <a:lnTo>
                    <a:pt x="2048256" y="0"/>
                  </a:lnTo>
                  <a:lnTo>
                    <a:pt x="2048256" y="731520"/>
                  </a:lnTo>
                  <a:lnTo>
                    <a:pt x="0" y="731520"/>
                  </a:lnTo>
                  <a:lnTo>
                    <a:pt x="0" y="0"/>
                  </a:lnTo>
                  <a:close/>
                </a:path>
              </a:pathLst>
            </a:custGeom>
            <a:blipFill>
              <a:blip r:embed="rId5"/>
              <a:stretch>
                <a:fillRect l="-301" t="0" r="-301" b="0"/>
              </a:stretch>
            </a:blipFill>
          </p:spPr>
        </p:sp>
      </p:grpSp>
      <p:sp>
        <p:nvSpPr>
          <p:cNvPr id="16" name="Rounded Rectangle 15"/>
          <p:cNvSpPr/>
          <p:nvPr/>
        </p:nvSpPr>
        <p:spPr>
          <a:xfrm>
            <a:off x="1078992" y="2221991"/>
            <a:ext cx="4151376" cy="7123176"/>
          </a:xfrm>
          <a:prstGeom prst="roundRect">
            <a:avLst>
              <a:gd name="adj" fmla="val 8000"/>
            </a:avLst>
          </a:prstGeom>
          <a:solidFill>
            <a:srgbClr val="1B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188720" y="2331720"/>
            <a:ext cx="3931920" cy="6903720"/>
          </a:xfrm>
          <a:prstGeom prst="roundRect">
            <a:avLst>
              <a:gd name="adj" fmla="val 6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188720" y="2560320"/>
            <a:ext cx="3931920" cy="685800"/>
          </a:xfrm>
          <a:prstGeom prst="rect">
            <a:avLst/>
          </a:prstGeom>
          <a:solidFill>
            <a:srgbClr val="FF99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417320" y="2560320"/>
            <a:ext cx="2286000" cy="685800"/>
          </a:xfrm>
          <a:prstGeom prst="rect">
            <a:avLst/>
          </a:prstGeom>
          <a:noFill/>
        </p:spPr>
        <p:txBody>
          <a:bodyPr wrap="square" anchor="ctr" lIns="0" rIns="0" tIns="0" bIns="0">
            <a:spAutoFit/>
          </a:bodyPr>
          <a:lstStyle/>
          <a:p>
            <a:pPr algn="l"/>
            <a:r>
              <a:rPr sz="1500" b="1" i="0">
                <a:solidFill>
                  <a:srgbClr val="FFFFFF"/>
                </a:solidFill>
                <a:latin typeface="Exo 2 Bold"/>
                <a:ea typeface="Exo 2 Bold"/>
                <a:cs typeface="Exo 2 Bold"/>
              </a:rPr>
              <a:t>Jodel  |  Riyadh</a:t>
            </a:r>
          </a:p>
        </p:txBody>
      </p:sp>
      <p:sp>
        <p:nvSpPr>
          <p:cNvPr id="20" name="TextBox 19"/>
          <p:cNvSpPr txBox="1"/>
          <p:nvPr/>
        </p:nvSpPr>
        <p:spPr>
          <a:xfrm>
            <a:off x="3657599" y="2560320"/>
            <a:ext cx="1280160" cy="685800"/>
          </a:xfrm>
          <a:prstGeom prst="rect">
            <a:avLst/>
          </a:prstGeom>
          <a:noFill/>
        </p:spPr>
        <p:txBody>
          <a:bodyPr wrap="square" anchor="ctr" lIns="0" rIns="0" tIns="0" bIns="0">
            <a:spAutoFit/>
          </a:bodyPr>
          <a:lstStyle/>
          <a:p>
            <a:pPr algn="r"/>
            <a:r>
              <a:rPr sz="1100" b="0" i="0">
                <a:solidFill>
                  <a:srgbClr val="FFFFFF"/>
                </a:solidFill>
                <a:latin typeface="Exo 2"/>
                <a:ea typeface="Exo 2"/>
                <a:cs typeface="Exo 2"/>
              </a:rPr>
              <a:t>Sponsored</a:t>
            </a:r>
          </a:p>
        </p:txBody>
      </p:sp>
      <p:sp>
        <p:nvSpPr>
          <p:cNvPr id="21" name="Rounded Rectangle 20"/>
          <p:cNvSpPr/>
          <p:nvPr/>
        </p:nvSpPr>
        <p:spPr>
          <a:xfrm>
            <a:off x="1371600" y="3429000"/>
            <a:ext cx="3566160" cy="5532120"/>
          </a:xfrm>
          <a:prstGeom prst="roundRect">
            <a:avLst>
              <a:gd name="adj" fmla="val 4000"/>
            </a:avLst>
          </a:prstGeom>
          <a:solidFill>
            <a:srgbClr val="3C8B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54480" y="3566160"/>
            <a:ext cx="3200400" cy="320040"/>
          </a:xfrm>
          <a:prstGeom prst="rect">
            <a:avLst/>
          </a:prstGeom>
          <a:noFill/>
        </p:spPr>
        <p:txBody>
          <a:bodyPr wrap="square" anchor="t" lIns="0" rIns="0" tIns="0" bIns="0">
            <a:spAutoFit/>
          </a:bodyPr>
          <a:lstStyle/>
          <a:p>
            <a:pPr algn="l"/>
            <a:r>
              <a:rPr sz="1050" b="1" i="0">
                <a:solidFill>
                  <a:srgbClr val="FFFFFF"/>
                </a:solidFill>
                <a:latin typeface="Exo 2 Bold"/>
                <a:ea typeface="Exo 2 Bold"/>
                <a:cs typeface="Exo 2 Bold"/>
              </a:rPr>
              <a:t>eMYAA  |  Shari'ah-compliant investing</a:t>
            </a:r>
          </a:p>
        </p:txBody>
      </p:sp>
      <p:sp>
        <p:nvSpPr>
          <p:cNvPr id="23" name="TextBox 22"/>
          <p:cNvSpPr txBox="1"/>
          <p:nvPr/>
        </p:nvSpPr>
        <p:spPr>
          <a:xfrm>
            <a:off x="1554480" y="3977639"/>
            <a:ext cx="3200400" cy="1280160"/>
          </a:xfrm>
          <a:prstGeom prst="rect">
            <a:avLst/>
          </a:prstGeom>
          <a:noFill/>
        </p:spPr>
        <p:txBody>
          <a:bodyPr wrap="square" anchor="t" lIns="0" rIns="0" tIns="0" bIns="0">
            <a:spAutoFit/>
          </a:bodyPr>
          <a:lstStyle/>
          <a:p>
            <a:pPr algn="r" rtl="1"/>
            <a:r>
              <a:rPr sz="1900" b="1" i="0" lang="ar-SA">
                <a:solidFill>
                  <a:srgbClr val="FFFFFF"/>
                </a:solidFill>
                <a:latin typeface="Exo 2 Bold"/>
                <a:ea typeface="Exo 2 Bold"/>
                <a:cs typeface="Tajawal"/>
              </a:rPr>
              <a:t>لو بديت تستثمر من اليوم، وش أول هدف تبي تحققه؟</a:t>
            </a:r>
          </a:p>
        </p:txBody>
      </p:sp>
      <p:sp>
        <p:nvSpPr>
          <p:cNvPr id="24" name="Rounded Rectangle 23"/>
          <p:cNvSpPr/>
          <p:nvPr/>
        </p:nvSpPr>
        <p:spPr>
          <a:xfrm>
            <a:off x="1554480" y="5166360"/>
            <a:ext cx="3200400" cy="594360"/>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737360" y="5166360"/>
            <a:ext cx="2834639" cy="594360"/>
          </a:xfrm>
          <a:prstGeom prst="rect">
            <a:avLst/>
          </a:prstGeom>
          <a:noFill/>
        </p:spPr>
        <p:txBody>
          <a:bodyPr wrap="square" anchor="ctr" lIns="0" rIns="0" tIns="0" bIns="0">
            <a:spAutoFit/>
          </a:bodyPr>
          <a:lstStyle/>
          <a:p>
            <a:pPr algn="r" rtl="1"/>
            <a:r>
              <a:rPr sz="1600" b="1" i="0" lang="ar-SA">
                <a:solidFill>
                  <a:srgbClr val="132257"/>
                </a:solidFill>
                <a:latin typeface="Exo 2 Bold"/>
                <a:ea typeface="Exo 2 Bold"/>
                <a:cs typeface="Tajawal"/>
              </a:rPr>
              <a:t>أسدد ديوني</a:t>
            </a:r>
          </a:p>
        </p:txBody>
      </p:sp>
      <p:sp>
        <p:nvSpPr>
          <p:cNvPr id="26" name="Rounded Rectangle 25"/>
          <p:cNvSpPr/>
          <p:nvPr/>
        </p:nvSpPr>
        <p:spPr>
          <a:xfrm>
            <a:off x="1554480" y="5916168"/>
            <a:ext cx="3200400" cy="594360"/>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737360" y="5916168"/>
            <a:ext cx="2834639" cy="594360"/>
          </a:xfrm>
          <a:prstGeom prst="rect">
            <a:avLst/>
          </a:prstGeom>
          <a:noFill/>
        </p:spPr>
        <p:txBody>
          <a:bodyPr wrap="square" anchor="ctr" lIns="0" rIns="0" tIns="0" bIns="0">
            <a:spAutoFit/>
          </a:bodyPr>
          <a:lstStyle/>
          <a:p>
            <a:pPr algn="r" rtl="1"/>
            <a:r>
              <a:rPr sz="1600" b="1" i="0" lang="ar-SA">
                <a:solidFill>
                  <a:srgbClr val="132257"/>
                </a:solidFill>
                <a:latin typeface="Exo 2 Bold"/>
                <a:ea typeface="Exo 2 Bold"/>
                <a:cs typeface="Tajawal"/>
              </a:rPr>
              <a:t>أشتري سيارة</a:t>
            </a:r>
          </a:p>
        </p:txBody>
      </p:sp>
      <p:sp>
        <p:nvSpPr>
          <p:cNvPr id="28" name="Rounded Rectangle 27"/>
          <p:cNvSpPr/>
          <p:nvPr/>
        </p:nvSpPr>
        <p:spPr>
          <a:xfrm>
            <a:off x="1554480" y="6665976"/>
            <a:ext cx="3200400" cy="594360"/>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737360" y="6665976"/>
            <a:ext cx="2834639" cy="594360"/>
          </a:xfrm>
          <a:prstGeom prst="rect">
            <a:avLst/>
          </a:prstGeom>
          <a:noFill/>
        </p:spPr>
        <p:txBody>
          <a:bodyPr wrap="square" anchor="ctr" lIns="0" rIns="0" tIns="0" bIns="0">
            <a:spAutoFit/>
          </a:bodyPr>
          <a:lstStyle/>
          <a:p>
            <a:pPr algn="r" rtl="1"/>
            <a:r>
              <a:rPr sz="1600" b="1" i="0" lang="ar-SA">
                <a:solidFill>
                  <a:srgbClr val="132257"/>
                </a:solidFill>
                <a:latin typeface="Exo 2 Bold"/>
                <a:ea typeface="Exo 2 Bold"/>
                <a:cs typeface="Tajawal"/>
              </a:rPr>
              <a:t>أكمل دراستي</a:t>
            </a:r>
          </a:p>
        </p:txBody>
      </p:sp>
      <p:sp>
        <p:nvSpPr>
          <p:cNvPr id="30" name="Rounded Rectangle 29"/>
          <p:cNvSpPr/>
          <p:nvPr/>
        </p:nvSpPr>
        <p:spPr>
          <a:xfrm>
            <a:off x="1554480" y="7415783"/>
            <a:ext cx="3200400" cy="594360"/>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737360" y="7415783"/>
            <a:ext cx="2834639" cy="594360"/>
          </a:xfrm>
          <a:prstGeom prst="rect">
            <a:avLst/>
          </a:prstGeom>
          <a:noFill/>
        </p:spPr>
        <p:txBody>
          <a:bodyPr wrap="square" anchor="ctr" lIns="0" rIns="0" tIns="0" bIns="0">
            <a:spAutoFit/>
          </a:bodyPr>
          <a:lstStyle/>
          <a:p>
            <a:pPr algn="r" rtl="1"/>
            <a:r>
              <a:rPr sz="1600" b="1" i="0" lang="ar-SA">
                <a:solidFill>
                  <a:srgbClr val="132257"/>
                </a:solidFill>
                <a:latin typeface="Exo 2 Bold"/>
                <a:ea typeface="Exo 2 Bold"/>
                <a:cs typeface="Tajawal"/>
              </a:rPr>
              <a:t>أتزوج</a:t>
            </a:r>
          </a:p>
        </p:txBody>
      </p:sp>
      <p:sp>
        <p:nvSpPr>
          <p:cNvPr id="32" name="TextBox 31"/>
          <p:cNvSpPr txBox="1"/>
          <p:nvPr/>
        </p:nvSpPr>
        <p:spPr>
          <a:xfrm>
            <a:off x="1554480" y="8366759"/>
            <a:ext cx="3200400" cy="365760"/>
          </a:xfrm>
          <a:prstGeom prst="rect">
            <a:avLst/>
          </a:prstGeom>
          <a:noFill/>
        </p:spPr>
        <p:txBody>
          <a:bodyPr wrap="square" anchor="t" lIns="0" rIns="0" tIns="0" bIns="0">
            <a:spAutoFit/>
          </a:bodyPr>
          <a:lstStyle/>
          <a:p>
            <a:pPr algn="ctr"/>
            <a:r>
              <a:rPr sz="1050" b="0" i="0">
                <a:solidFill>
                  <a:srgbClr val="FFFFFF"/>
                </a:solidFill>
                <a:latin typeface="Exo 2"/>
                <a:ea typeface="Exo 2"/>
                <a:cs typeface="Exo 2"/>
              </a:rPr>
              <a:t>Live for 24 hours  |  tap to vote</a:t>
            </a:r>
          </a:p>
        </p:txBody>
      </p:sp>
      <p:sp>
        <p:nvSpPr>
          <p:cNvPr id="33" name="TextBox 32"/>
          <p:cNvSpPr txBox="1"/>
          <p:nvPr/>
        </p:nvSpPr>
        <p:spPr>
          <a:xfrm>
            <a:off x="5852160" y="2331720"/>
            <a:ext cx="11430000" cy="365760"/>
          </a:xfrm>
          <a:prstGeom prst="rect">
            <a:avLst/>
          </a:prstGeom>
          <a:noFill/>
        </p:spPr>
        <p:txBody>
          <a:bodyPr wrap="square" anchor="t" lIns="0" rIns="0" tIns="0" bIns="0">
            <a:spAutoFit/>
          </a:bodyPr>
          <a:lstStyle/>
          <a:p>
            <a:pPr algn="l"/>
            <a:r>
              <a:rPr sz="1400" b="1" i="0">
                <a:solidFill>
                  <a:srgbClr val="3C61B6"/>
                </a:solidFill>
                <a:latin typeface="Exo 2 Bold"/>
                <a:ea typeface="Exo 2 Bold"/>
                <a:cs typeface="Exo 2 Bold"/>
              </a:rPr>
              <a:t>THE POLL, IN ENGLISH</a:t>
            </a:r>
          </a:p>
        </p:txBody>
      </p:sp>
      <p:sp>
        <p:nvSpPr>
          <p:cNvPr id="34" name="TextBox 33"/>
          <p:cNvSpPr txBox="1"/>
          <p:nvPr/>
        </p:nvSpPr>
        <p:spPr>
          <a:xfrm>
            <a:off x="5852160" y="2743200"/>
            <a:ext cx="11430000" cy="548640"/>
          </a:xfrm>
          <a:prstGeom prst="rect">
            <a:avLst/>
          </a:prstGeom>
          <a:noFill/>
        </p:spPr>
        <p:txBody>
          <a:bodyPr wrap="square" anchor="t" lIns="0" rIns="0" tIns="0" bIns="0">
            <a:spAutoFit/>
          </a:bodyPr>
          <a:lstStyle/>
          <a:p>
            <a:pPr algn="l"/>
            <a:r>
              <a:rPr sz="2100" b="1" i="0">
                <a:solidFill>
                  <a:srgbClr val="132257"/>
                </a:solidFill>
                <a:latin typeface="Exo 2 Bold"/>
                <a:ea typeface="Exo 2 Bold"/>
                <a:cs typeface="Exo 2 Bold"/>
              </a:rPr>
              <a:t>"If you started investing today, what is the first goal you would want to reach?"</a:t>
            </a:r>
          </a:p>
        </p:txBody>
      </p:sp>
      <p:sp>
        <p:nvSpPr>
          <p:cNvPr id="35" name="Rectangle 34"/>
          <p:cNvSpPr/>
          <p:nvPr/>
        </p:nvSpPr>
        <p:spPr>
          <a:xfrm>
            <a:off x="5852160" y="3520440"/>
            <a:ext cx="5486400" cy="54864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852160" y="3520440"/>
            <a:ext cx="82296" cy="548640"/>
          </a:xfrm>
          <a:prstGeom prst="rect">
            <a:avLst/>
          </a:prstGeom>
          <a:solidFill>
            <a:srgbClr val="FF99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126480" y="3520440"/>
            <a:ext cx="5120640" cy="548640"/>
          </a:xfrm>
          <a:prstGeom prst="rect">
            <a:avLst/>
          </a:prstGeom>
          <a:noFill/>
        </p:spPr>
        <p:txBody>
          <a:bodyPr wrap="square" anchor="ctr" lIns="0" rIns="0" tIns="0" bIns="0">
            <a:spAutoFit/>
          </a:bodyPr>
          <a:lstStyle/>
          <a:p>
            <a:pPr algn="l"/>
            <a:r>
              <a:rPr sz="1700" b="1" i="0">
                <a:solidFill>
                  <a:srgbClr val="132257"/>
                </a:solidFill>
                <a:latin typeface="Exo 2 Bold"/>
                <a:ea typeface="Exo 2 Bold"/>
                <a:cs typeface="Exo 2 Bold"/>
              </a:rPr>
              <a:t>Pay off my debts</a:t>
            </a:r>
          </a:p>
        </p:txBody>
      </p:sp>
      <p:sp>
        <p:nvSpPr>
          <p:cNvPr id="38" name="Rectangle 37"/>
          <p:cNvSpPr/>
          <p:nvPr/>
        </p:nvSpPr>
        <p:spPr>
          <a:xfrm>
            <a:off x="11567160" y="3520440"/>
            <a:ext cx="5486400" cy="54864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1567160" y="3520440"/>
            <a:ext cx="82296" cy="548640"/>
          </a:xfrm>
          <a:prstGeom prst="rect">
            <a:avLst/>
          </a:prstGeom>
          <a:solidFill>
            <a:srgbClr val="FF99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1841480" y="3520440"/>
            <a:ext cx="5120640" cy="548640"/>
          </a:xfrm>
          <a:prstGeom prst="rect">
            <a:avLst/>
          </a:prstGeom>
          <a:noFill/>
        </p:spPr>
        <p:txBody>
          <a:bodyPr wrap="square" anchor="ctr" lIns="0" rIns="0" tIns="0" bIns="0">
            <a:spAutoFit/>
          </a:bodyPr>
          <a:lstStyle/>
          <a:p>
            <a:pPr algn="l"/>
            <a:r>
              <a:rPr sz="1700" b="1" i="0">
                <a:solidFill>
                  <a:srgbClr val="132257"/>
                </a:solidFill>
                <a:latin typeface="Exo 2 Bold"/>
                <a:ea typeface="Exo 2 Bold"/>
                <a:cs typeface="Exo 2 Bold"/>
              </a:rPr>
              <a:t>Buy a car</a:t>
            </a:r>
          </a:p>
        </p:txBody>
      </p:sp>
      <p:sp>
        <p:nvSpPr>
          <p:cNvPr id="41" name="Rectangle 40"/>
          <p:cNvSpPr/>
          <p:nvPr/>
        </p:nvSpPr>
        <p:spPr>
          <a:xfrm>
            <a:off x="5852160" y="4206240"/>
            <a:ext cx="5486400" cy="54864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852160" y="4206240"/>
            <a:ext cx="82296" cy="548640"/>
          </a:xfrm>
          <a:prstGeom prst="rect">
            <a:avLst/>
          </a:prstGeom>
          <a:solidFill>
            <a:srgbClr val="FF99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126480" y="4206240"/>
            <a:ext cx="5120640" cy="548640"/>
          </a:xfrm>
          <a:prstGeom prst="rect">
            <a:avLst/>
          </a:prstGeom>
          <a:noFill/>
        </p:spPr>
        <p:txBody>
          <a:bodyPr wrap="square" anchor="ctr" lIns="0" rIns="0" tIns="0" bIns="0">
            <a:spAutoFit/>
          </a:bodyPr>
          <a:lstStyle/>
          <a:p>
            <a:pPr algn="l"/>
            <a:r>
              <a:rPr sz="1700" b="1" i="0">
                <a:solidFill>
                  <a:srgbClr val="132257"/>
                </a:solidFill>
                <a:latin typeface="Exo 2 Bold"/>
                <a:ea typeface="Exo 2 Bold"/>
                <a:cs typeface="Exo 2 Bold"/>
              </a:rPr>
              <a:t>Finish my studies</a:t>
            </a:r>
          </a:p>
        </p:txBody>
      </p:sp>
      <p:sp>
        <p:nvSpPr>
          <p:cNvPr id="44" name="Rectangle 43"/>
          <p:cNvSpPr/>
          <p:nvPr/>
        </p:nvSpPr>
        <p:spPr>
          <a:xfrm>
            <a:off x="11567160" y="4206240"/>
            <a:ext cx="5486400" cy="54864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1567160" y="4206240"/>
            <a:ext cx="82296" cy="548640"/>
          </a:xfrm>
          <a:prstGeom prst="rect">
            <a:avLst/>
          </a:prstGeom>
          <a:solidFill>
            <a:srgbClr val="FF99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1841480" y="4206240"/>
            <a:ext cx="5120640" cy="548640"/>
          </a:xfrm>
          <a:prstGeom prst="rect">
            <a:avLst/>
          </a:prstGeom>
          <a:noFill/>
        </p:spPr>
        <p:txBody>
          <a:bodyPr wrap="square" anchor="ctr" lIns="0" rIns="0" tIns="0" bIns="0">
            <a:spAutoFit/>
          </a:bodyPr>
          <a:lstStyle/>
          <a:p>
            <a:pPr algn="l"/>
            <a:r>
              <a:rPr sz="1700" b="1" i="0">
                <a:solidFill>
                  <a:srgbClr val="132257"/>
                </a:solidFill>
                <a:latin typeface="Exo 2 Bold"/>
                <a:ea typeface="Exo 2 Bold"/>
                <a:cs typeface="Exo 2 Bold"/>
              </a:rPr>
              <a:t>Get married</a:t>
            </a:r>
          </a:p>
        </p:txBody>
      </p:sp>
      <p:sp>
        <p:nvSpPr>
          <p:cNvPr id="47" name="TextBox 46"/>
          <p:cNvSpPr txBox="1"/>
          <p:nvPr/>
        </p:nvSpPr>
        <p:spPr>
          <a:xfrm>
            <a:off x="5852160" y="5074920"/>
            <a:ext cx="11430000" cy="365760"/>
          </a:xfrm>
          <a:prstGeom prst="rect">
            <a:avLst/>
          </a:prstGeom>
          <a:noFill/>
        </p:spPr>
        <p:txBody>
          <a:bodyPr wrap="square" anchor="t" lIns="0" rIns="0" tIns="0" bIns="0">
            <a:spAutoFit/>
          </a:bodyPr>
          <a:lstStyle/>
          <a:p>
            <a:pPr algn="l"/>
            <a:r>
              <a:rPr sz="1400" b="1" i="0">
                <a:solidFill>
                  <a:srgbClr val="3C61B6"/>
                </a:solidFill>
                <a:latin typeface="Exo 2 Bold"/>
                <a:ea typeface="Exo 2 Bold"/>
                <a:cs typeface="Exo 2 Bold"/>
              </a:rPr>
              <a:t>WHY IT WORKS</a:t>
            </a:r>
          </a:p>
        </p:txBody>
      </p:sp>
      <p:sp>
        <p:nvSpPr>
          <p:cNvPr id="48" name="TextBox 47"/>
          <p:cNvSpPr txBox="1"/>
          <p:nvPr/>
        </p:nvSpPr>
        <p:spPr>
          <a:xfrm>
            <a:off x="5852160" y="5486400"/>
            <a:ext cx="11430000" cy="2011680"/>
          </a:xfrm>
          <a:prstGeom prst="rect">
            <a:avLst/>
          </a:prstGeom>
          <a:noFill/>
        </p:spPr>
        <p:txBody>
          <a:bodyPr wrap="square" anchor="t" lIns="0" rIns="0" tIns="0" bIns="0">
            <a:spAutoFit/>
          </a:bodyPr>
          <a:lstStyle/>
          <a:p>
            <a:pPr algn="l">
              <a:spcAft>
                <a:spcPts val="800"/>
              </a:spcAft>
            </a:pPr>
            <a:r>
              <a:rPr sz="1600" b="1" i="0">
                <a:solidFill>
                  <a:srgbClr val="132257"/>
                </a:solidFill>
                <a:latin typeface="Exo 2 Bold"/>
                <a:ea typeface="Exo 2 Bold"/>
                <a:cs typeface="Exo 2 Bold"/>
              </a:rPr>
              <a:t>Personal, not technical: </a:t>
            </a:r>
            <a:r>
              <a:rPr sz="1600" b="0" i="0">
                <a:solidFill>
                  <a:srgbClr val="1F2A44"/>
                </a:solidFill>
                <a:latin typeface="Exo 2"/>
                <a:ea typeface="Exo 2"/>
                <a:cs typeface="Exo 2"/>
              </a:rPr>
              <a:t>it links investing to goals young Saudis already think about every day.</a:t>
            </a:r>
          </a:p>
          <a:p>
            <a:pPr algn="l">
              <a:spcAft>
                <a:spcPts val="800"/>
              </a:spcAft>
            </a:pPr>
            <a:r>
              <a:rPr sz="1600" b="1" i="0">
                <a:solidFill>
                  <a:srgbClr val="132257"/>
                </a:solidFill>
                <a:latin typeface="Exo 2 Bold"/>
                <a:ea typeface="Exo 2 Bold"/>
                <a:cs typeface="Exo 2 Bold"/>
              </a:rPr>
              <a:t>Everyone sees it: </a:t>
            </a:r>
            <a:r>
              <a:rPr sz="1600" b="0" i="0">
                <a:solidFill>
                  <a:srgbClr val="1F2A44"/>
                </a:solidFill>
                <a:latin typeface="Exo 2"/>
                <a:ea typeface="Exo 2"/>
                <a:cs typeface="Exo 2"/>
              </a:rPr>
              <a:t>a 24-hour takeover poll reaches about 2 million impressions across the Kingdom.</a:t>
            </a:r>
          </a:p>
          <a:p>
            <a:pPr algn="l">
              <a:spcAft>
                <a:spcPts val="800"/>
              </a:spcAft>
            </a:pPr>
            <a:r>
              <a:rPr sz="1600" b="1" i="0">
                <a:solidFill>
                  <a:srgbClr val="132257"/>
                </a:solidFill>
                <a:latin typeface="Exo 2 Bold"/>
                <a:ea typeface="Exo 2 Bold"/>
                <a:cs typeface="Exo 2 Bold"/>
              </a:rPr>
              <a:t>Easy to answer, easy to share: </a:t>
            </a:r>
            <a:r>
              <a:rPr sz="1600" b="0" i="0">
                <a:solidFill>
                  <a:srgbClr val="1F2A44"/>
                </a:solidFill>
                <a:latin typeface="Exo 2"/>
                <a:ea typeface="Exo 2"/>
                <a:cs typeface="Exo 2"/>
              </a:rPr>
              <a:t>one tap to vote, and results and comments are live.</a:t>
            </a:r>
          </a:p>
          <a:p>
            <a:pPr algn="l">
              <a:spcAft>
                <a:spcPts val="800"/>
              </a:spcAft>
            </a:pPr>
            <a:r>
              <a:rPr sz="1600" b="1" i="0">
                <a:solidFill>
                  <a:srgbClr val="132257"/>
                </a:solidFill>
                <a:latin typeface="Exo 2 Bold"/>
                <a:ea typeface="Exo 2 Bold"/>
                <a:cs typeface="Exo 2 Bold"/>
              </a:rPr>
              <a:t>A clear next step: </a:t>
            </a:r>
            <a:r>
              <a:rPr sz="1600" b="0" i="0">
                <a:solidFill>
                  <a:srgbClr val="1F2A44"/>
                </a:solidFill>
                <a:latin typeface="Exo 2"/>
                <a:ea typeface="Exo 2"/>
                <a:cs typeface="Exo 2"/>
              </a:rPr>
              <a:t>the display ads that follow point voters to eMYAA.</a:t>
            </a:r>
          </a:p>
        </p:txBody>
      </p:sp>
      <p:sp>
        <p:nvSpPr>
          <p:cNvPr id="49" name="Rectangle 48"/>
          <p:cNvSpPr/>
          <p:nvPr/>
        </p:nvSpPr>
        <p:spPr>
          <a:xfrm>
            <a:off x="5852160" y="7726679"/>
            <a:ext cx="11612880" cy="169164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5852160" y="7726679"/>
            <a:ext cx="100584" cy="1691640"/>
          </a:xfrm>
          <a:prstGeom prst="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217920" y="7863840"/>
            <a:ext cx="10972800" cy="320040"/>
          </a:xfrm>
          <a:prstGeom prst="rect">
            <a:avLst/>
          </a:prstGeom>
          <a:noFill/>
        </p:spPr>
        <p:txBody>
          <a:bodyPr wrap="square" anchor="t" lIns="0" rIns="0" tIns="0" bIns="0">
            <a:spAutoFit/>
          </a:bodyPr>
          <a:lstStyle/>
          <a:p>
            <a:pPr algn="l"/>
            <a:r>
              <a:rPr sz="1300" b="1" i="0">
                <a:solidFill>
                  <a:srgbClr val="3C61B6"/>
                </a:solidFill>
                <a:latin typeface="Exo 2 Bold"/>
                <a:ea typeface="Exo 2 Bold"/>
                <a:cs typeface="Exo 2 Bold"/>
              </a:rPr>
              <a:t>FOLLOW-UP AD AFTER THE POLL</a:t>
            </a:r>
          </a:p>
        </p:txBody>
      </p:sp>
      <p:sp>
        <p:nvSpPr>
          <p:cNvPr id="52" name="TextBox 51"/>
          <p:cNvSpPr txBox="1"/>
          <p:nvPr/>
        </p:nvSpPr>
        <p:spPr>
          <a:xfrm>
            <a:off x="6217920" y="8229600"/>
            <a:ext cx="10972800" cy="548640"/>
          </a:xfrm>
          <a:prstGeom prst="rect">
            <a:avLst/>
          </a:prstGeom>
          <a:noFill/>
        </p:spPr>
        <p:txBody>
          <a:bodyPr wrap="square" anchor="t" lIns="0" rIns="0" tIns="0" bIns="0">
            <a:spAutoFit/>
          </a:bodyPr>
          <a:lstStyle/>
          <a:p>
            <a:pPr algn="r" rtl="1"/>
            <a:r>
              <a:rPr sz="1700" b="1" i="0" lang="ar-SA">
                <a:solidFill>
                  <a:srgbClr val="132257"/>
                </a:solidFill>
                <a:latin typeface="Exo 2 Bold"/>
                <a:ea typeface="Exo 2 Bold"/>
                <a:cs typeface="Tajawal"/>
              </a:rPr>
              <a:t>كل هدف يبدأ بخطوة. ابدأ استثمارك المتوافق مع الشريعة من 50 دولار مع eMYAA</a:t>
            </a:r>
          </a:p>
        </p:txBody>
      </p:sp>
      <p:sp>
        <p:nvSpPr>
          <p:cNvPr id="53" name="TextBox 52"/>
          <p:cNvSpPr txBox="1"/>
          <p:nvPr/>
        </p:nvSpPr>
        <p:spPr>
          <a:xfrm>
            <a:off x="6217920" y="8778240"/>
            <a:ext cx="10972800" cy="457200"/>
          </a:xfrm>
          <a:prstGeom prst="rect">
            <a:avLst/>
          </a:prstGeom>
          <a:noFill/>
        </p:spPr>
        <p:txBody>
          <a:bodyPr wrap="square" anchor="t" lIns="0" rIns="0" tIns="0" bIns="0">
            <a:spAutoFit/>
          </a:bodyPr>
          <a:lstStyle/>
          <a:p>
            <a:pPr algn="l"/>
            <a:r>
              <a:rPr sz="1500" b="0" i="1">
                <a:solidFill>
                  <a:srgbClr val="1F2A44"/>
                </a:solidFill>
                <a:latin typeface="Exo 2"/>
                <a:ea typeface="Exo 2"/>
                <a:cs typeface="Exo 2"/>
              </a:rPr>
              <a:t>Every goal starts with a step. Start investing the Shari'ah-compliant way from USD 50 with eMYAA.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0" y="0"/>
            <a:ext cx="18287543" cy="1947672"/>
            <a:chOff x="0" y="0"/>
            <a:chExt cx="24383390" cy="2596896"/>
          </a:xfrm>
        </p:grpSpPr>
        <p:sp>
          <p:nvSpPr>
            <p:cNvPr name="Freeform 3" id="3" descr="/home/user/HatemIsa_202508993_IT9002_NLP_Project/emyaa-ceo-deck/working/charts/board_header.png"/>
            <p:cNvSpPr/>
            <p:nvPr/>
          </p:nvSpPr>
          <p:spPr>
            <a:xfrm flipH="false" flipV="false" rot="0">
              <a:off x="0" y="0"/>
              <a:ext cx="24383364" cy="2596896"/>
            </a:xfrm>
            <a:custGeom>
              <a:avLst/>
              <a:gdLst/>
              <a:ahLst/>
              <a:cxnLst/>
              <a:rect r="r" b="b" t="t" l="l"/>
              <a:pathLst>
                <a:path h="2596896" w="24383364">
                  <a:moveTo>
                    <a:pt x="0" y="0"/>
                  </a:moveTo>
                  <a:lnTo>
                    <a:pt x="24383364" y="0"/>
                  </a:lnTo>
                  <a:lnTo>
                    <a:pt x="24383364" y="2596896"/>
                  </a:lnTo>
                  <a:lnTo>
                    <a:pt x="0" y="2596896"/>
                  </a:lnTo>
                  <a:lnTo>
                    <a:pt x="0" y="0"/>
                  </a:lnTo>
                  <a:close/>
                </a:path>
              </a:pathLst>
            </a:custGeom>
            <a:blipFill>
              <a:blip r:embed="rId2"/>
              <a:stretch>
                <a:fillRect l="0" t="-1172" r="0" b="-1172"/>
              </a:stretch>
            </a:blipFill>
          </p:spPr>
        </p:sp>
      </p:grpSp>
      <p:grpSp>
        <p:nvGrpSpPr>
          <p:cNvPr name="Group 4" id="4"/>
          <p:cNvGrpSpPr/>
          <p:nvPr/>
        </p:nvGrpSpPr>
        <p:grpSpPr>
          <a:xfrm rot="0">
            <a:off x="-9525" y="1938147"/>
            <a:ext cx="18306593" cy="60198"/>
            <a:chOff x="0" y="0"/>
            <a:chExt cx="24408790" cy="80264"/>
          </a:xfrm>
        </p:grpSpPr>
        <p:sp>
          <p:nvSpPr>
            <p:cNvPr name="Freeform 5" id="5"/>
            <p:cNvSpPr/>
            <p:nvPr/>
          </p:nvSpPr>
          <p:spPr>
            <a:xfrm flipH="false" flipV="false" rot="0">
              <a:off x="0" y="0"/>
              <a:ext cx="24408764" cy="80264"/>
            </a:xfrm>
            <a:custGeom>
              <a:avLst/>
              <a:gdLst/>
              <a:ahLst/>
              <a:cxnLst/>
              <a:rect r="r" b="b" t="t" l="l"/>
              <a:pathLst>
                <a:path h="80264" w="24408764">
                  <a:moveTo>
                    <a:pt x="0" y="0"/>
                  </a:moveTo>
                  <a:lnTo>
                    <a:pt x="24408764" y="0"/>
                  </a:lnTo>
                  <a:lnTo>
                    <a:pt x="24408764" y="80264"/>
                  </a:lnTo>
                  <a:lnTo>
                    <a:pt x="0" y="80264"/>
                  </a:lnTo>
                  <a:close/>
                </a:path>
              </a:pathLst>
            </a:custGeom>
            <a:solidFill>
              <a:srgbClr val="D4AF37"/>
            </a:solidFill>
            <a:ln w="19050" cap="sq">
              <a:solidFill>
                <a:srgbClr val="D4AF37"/>
              </a:solidFill>
              <a:prstDash val="solid"/>
              <a:miter/>
            </a:ln>
          </p:spPr>
        </p:sp>
      </p:grpSp>
      <p:sp>
        <p:nvSpPr>
          <p:cNvPr name="TextBox 6" id="6"/>
          <p:cNvSpPr txBox="true"/>
          <p:nvPr/>
        </p:nvSpPr>
        <p:spPr>
          <a:xfrm rot="0">
            <a:off x="850392" y="401955"/>
            <a:ext cx="13716000" cy="311277"/>
          </a:xfrm>
          <a:prstGeom prst="rect">
            <a:avLst/>
          </a:prstGeom>
        </p:spPr>
        <p:txBody>
          <a:bodyPr anchor="t" rtlCol="false" tIns="0" lIns="0" bIns="0" rIns="0">
            <a:spAutoFit/>
          </a:bodyPr>
          <a:lstStyle/>
          <a:p>
            <a:pPr algn="l">
              <a:lnSpc>
                <a:spcPts val="1709"/>
              </a:lnSpc>
            </a:pPr>
            <a:r>
              <a:rPr lang="en-US" b="true" sz="1425" spc="299">
                <a:solidFill>
                  <a:srgbClr val="D4AF37"/>
                </a:solidFill>
                <a:latin typeface="Exo 2 Bold"/>
                <a:ea typeface="Exo 2 Bold"/>
                <a:cs typeface="Exo 2 Bold"/>
                <a:sym typeface="Exo 2 Bold"/>
              </a:rPr>
              <a:t>WHAT WE HAVE DONE SO FAR</a:t>
            </a:r>
          </a:p>
        </p:txBody>
      </p:sp>
      <p:grpSp>
        <p:nvGrpSpPr>
          <p:cNvPr name="Group 7" id="7"/>
          <p:cNvGrpSpPr/>
          <p:nvPr/>
        </p:nvGrpSpPr>
        <p:grpSpPr>
          <a:xfrm rot="0">
            <a:off x="850392" y="713232"/>
            <a:ext cx="14127480" cy="1124712"/>
            <a:chOff x="0" y="0"/>
            <a:chExt cx="18836640" cy="1499616"/>
          </a:xfrm>
        </p:grpSpPr>
        <p:sp>
          <p:nvSpPr>
            <p:cNvPr name="Freeform 8" id="8"/>
            <p:cNvSpPr/>
            <p:nvPr/>
          </p:nvSpPr>
          <p:spPr>
            <a:xfrm flipH="false" flipV="false" rot="0">
              <a:off x="0" y="0"/>
              <a:ext cx="18836639" cy="1499616"/>
            </a:xfrm>
            <a:custGeom>
              <a:avLst/>
              <a:gdLst/>
              <a:ahLst/>
              <a:cxnLst/>
              <a:rect r="r" b="b" t="t" l="l"/>
              <a:pathLst>
                <a:path h="1499616" w="18836639">
                  <a:moveTo>
                    <a:pt x="0" y="0"/>
                  </a:moveTo>
                  <a:lnTo>
                    <a:pt x="18836639" y="0"/>
                  </a:lnTo>
                  <a:lnTo>
                    <a:pt x="18836639" y="1499616"/>
                  </a:lnTo>
                  <a:lnTo>
                    <a:pt x="0" y="1499616"/>
                  </a:lnTo>
                  <a:close/>
                </a:path>
              </a:pathLst>
            </a:custGeom>
            <a:blipFill>
              <a:blip r:embed="rId3">
                <a:alphaModFix amt="0"/>
              </a:blip>
              <a:stretch>
                <a:fillRect l="0" t="-194751" r="0" b="-194751"/>
              </a:stretch>
            </a:blipFill>
          </p:spPr>
        </p:sp>
        <p:sp>
          <p:nvSpPr>
            <p:cNvPr name="TextBox 9" id="9"/>
            <p:cNvSpPr txBox="true"/>
            <p:nvPr/>
          </p:nvSpPr>
          <p:spPr>
            <a:xfrm>
              <a:off x="0" y="-9525"/>
              <a:ext cx="18836640" cy="1509141"/>
            </a:xfrm>
            <a:prstGeom prst="rect">
              <a:avLst/>
            </a:prstGeom>
          </p:spPr>
          <p:txBody>
            <a:bodyPr anchor="ctr" rtlCol="false" tIns="0" lIns="0" bIns="0" rIns="0"/>
            <a:lstStyle/>
            <a:p>
              <a:pPr algn="l">
                <a:lnSpc>
                  <a:spcPts val="3960"/>
                </a:lnSpc>
              </a:pPr>
              <a:r>
                <a:rPr lang="en-US" sz="3300" b="true">
                  <a:solidFill>
                    <a:srgbClr val="FFFFFF"/>
                  </a:solidFill>
                  <a:latin typeface="Exo 2 Bold"/>
                  <a:ea typeface="Exo 2 Bold"/>
                  <a:cs typeface="Exo 2 Bold"/>
                  <a:sym typeface="Exo 2 Bold"/>
                </a:rPr>
                <a:t>Marketing Activity Since Launch, May to October 2026</a:t>
              </a:r>
            </a:p>
          </p:txBody>
        </p:sp>
      </p:grpSp>
      <p:grpSp>
        <p:nvGrpSpPr>
          <p:cNvPr name="Group 10" id="10"/>
          <p:cNvGrpSpPr/>
          <p:nvPr/>
        </p:nvGrpSpPr>
        <p:grpSpPr>
          <a:xfrm rot="0">
            <a:off x="15457932" y="685800"/>
            <a:ext cx="1988820" cy="576072"/>
            <a:chOff x="0" y="0"/>
            <a:chExt cx="2651760" cy="768096"/>
          </a:xfrm>
        </p:grpSpPr>
        <p:sp>
          <p:nvSpPr>
            <p:cNvPr name="Freeform 11" id="11" descr="/home/user/HatemIsa_202508993_IT9002_NLP_Project/emyaa-ceo-deck/working/charts/ajyad_white.png"/>
            <p:cNvSpPr/>
            <p:nvPr/>
          </p:nvSpPr>
          <p:spPr>
            <a:xfrm flipH="false" flipV="false" rot="0">
              <a:off x="0" y="0"/>
              <a:ext cx="2651760" cy="768096"/>
            </a:xfrm>
            <a:custGeom>
              <a:avLst/>
              <a:gdLst/>
              <a:ahLst/>
              <a:cxnLst/>
              <a:rect r="r" b="b" t="t" l="l"/>
              <a:pathLst>
                <a:path h="768096" w="2651760">
                  <a:moveTo>
                    <a:pt x="0" y="0"/>
                  </a:moveTo>
                  <a:lnTo>
                    <a:pt x="2651760" y="0"/>
                  </a:lnTo>
                  <a:lnTo>
                    <a:pt x="2651760" y="768096"/>
                  </a:lnTo>
                  <a:lnTo>
                    <a:pt x="0" y="768096"/>
                  </a:lnTo>
                  <a:lnTo>
                    <a:pt x="0" y="0"/>
                  </a:lnTo>
                  <a:close/>
                </a:path>
              </a:pathLst>
            </a:custGeom>
            <a:blipFill>
              <a:blip r:embed="rId4"/>
              <a:stretch>
                <a:fillRect l="0" t="-26" r="0" b="-26"/>
              </a:stretch>
            </a:blipFill>
          </p:spPr>
        </p:sp>
      </p:grpSp>
      <p:sp>
        <p:nvSpPr>
          <p:cNvPr name="TextBox 12" id="12"/>
          <p:cNvSpPr txBox="true"/>
          <p:nvPr/>
        </p:nvSpPr>
        <p:spPr>
          <a:xfrm rot="0">
            <a:off x="850392" y="9728835"/>
            <a:ext cx="8229600" cy="311277"/>
          </a:xfrm>
          <a:prstGeom prst="rect">
            <a:avLst/>
          </a:prstGeom>
        </p:spPr>
        <p:txBody>
          <a:bodyPr anchor="t" rtlCol="false" tIns="0" lIns="0" bIns="0" rIns="0">
            <a:spAutoFit/>
          </a:bodyPr>
          <a:lstStyle/>
          <a:p>
            <a:pPr algn="l">
              <a:lnSpc>
                <a:spcPts val="1439"/>
              </a:lnSpc>
            </a:pPr>
            <a:r>
              <a:rPr lang="en-US" sz="1200">
                <a:solidFill>
                  <a:srgbClr val="8A93A8"/>
                </a:solidFill>
                <a:latin typeface="Exo 2"/>
                <a:ea typeface="Exo 2"/>
                <a:cs typeface="Exo 2"/>
                <a:sym typeface="Exo 2"/>
              </a:rPr>
              <a:t>eMYAA Trading Platform  |  Saudi Market Plan</a:t>
            </a:r>
          </a:p>
        </p:txBody>
      </p:sp>
      <p:sp>
        <p:nvSpPr>
          <p:cNvPr name="TextBox 13" id="13"/>
          <p:cNvSpPr txBox="true"/>
          <p:nvPr/>
        </p:nvSpPr>
        <p:spPr>
          <a:xfrm rot="0">
            <a:off x="14703552" y="9728835"/>
            <a:ext cx="685800" cy="190500"/>
          </a:xfrm>
          <a:prstGeom prst="rect">
            <a:avLst/>
          </a:prstGeom>
        </p:spPr>
        <p:txBody>
          <a:bodyPr anchor="t" rtlCol="false" tIns="0" lIns="0" bIns="0" rIns="0">
            <a:spAutoFit/>
          </a:bodyPr>
          <a:lstStyle/>
          <a:p>
            <a:pPr algn="r">
              <a:lnSpc>
                <a:spcPts val="1439"/>
              </a:lnSpc>
            </a:pPr>
            <a:r>
              <a:rPr lang="en-US" sz="1200">
                <a:solidFill>
                  <a:srgbClr val="8A93A8"/>
                </a:solidFill>
                <a:latin typeface="Exo 2"/>
                <a:ea typeface="Exo 2"/>
                <a:cs typeface="Exo 2"/>
                <a:sym typeface="Exo 2"/>
              </a:rPr>
              <a:t>4</a:t>
            </a:r>
          </a:p>
        </p:txBody>
      </p:sp>
      <p:grpSp>
        <p:nvGrpSpPr>
          <p:cNvPr name="Group 14" id="14"/>
          <p:cNvGrpSpPr/>
          <p:nvPr/>
        </p:nvGrpSpPr>
        <p:grpSpPr>
          <a:xfrm rot="0">
            <a:off x="15910560" y="9491472"/>
            <a:ext cx="1536192" cy="548640"/>
            <a:chOff x="0" y="0"/>
            <a:chExt cx="2048256" cy="731520"/>
          </a:xfrm>
        </p:grpSpPr>
        <p:sp>
          <p:nvSpPr>
            <p:cNvPr name="Freeform 15" id="15" descr="/home/user/HatemIsa_202508993_IT9002_NLP_Project/emyaa-ceo-deck/working/charts/emyaa_navy.png"/>
            <p:cNvSpPr/>
            <p:nvPr/>
          </p:nvSpPr>
          <p:spPr>
            <a:xfrm flipH="false" flipV="false" rot="0">
              <a:off x="0" y="0"/>
              <a:ext cx="2048256" cy="731520"/>
            </a:xfrm>
            <a:custGeom>
              <a:avLst/>
              <a:gdLst/>
              <a:ahLst/>
              <a:cxnLst/>
              <a:rect r="r" b="b" t="t" l="l"/>
              <a:pathLst>
                <a:path h="731520" w="2048256">
                  <a:moveTo>
                    <a:pt x="0" y="0"/>
                  </a:moveTo>
                  <a:lnTo>
                    <a:pt x="2048256" y="0"/>
                  </a:lnTo>
                  <a:lnTo>
                    <a:pt x="2048256" y="731520"/>
                  </a:lnTo>
                  <a:lnTo>
                    <a:pt x="0" y="731520"/>
                  </a:lnTo>
                  <a:lnTo>
                    <a:pt x="0" y="0"/>
                  </a:lnTo>
                  <a:close/>
                </a:path>
              </a:pathLst>
            </a:custGeom>
            <a:blipFill>
              <a:blip r:embed="rId5"/>
              <a:stretch>
                <a:fillRect l="-301" t="0" r="-301" b="0"/>
              </a:stretch>
            </a:blipFill>
          </p:spPr>
        </p:sp>
      </p:grpSp>
      <p:sp>
        <p:nvSpPr>
          <p:cNvPr id="16" name="Rectangle 15"/>
          <p:cNvSpPr/>
          <p:nvPr/>
        </p:nvSpPr>
        <p:spPr>
          <a:xfrm>
            <a:off x="841248" y="2331720"/>
            <a:ext cx="3291840" cy="566928"/>
          </a:xfrm>
          <a:prstGeom prst="rect">
            <a:avLst/>
          </a:prstGeom>
          <a:solidFill>
            <a:srgbClr val="132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2331720"/>
            <a:ext cx="3017520" cy="566928"/>
          </a:xfrm>
          <a:prstGeom prst="rect">
            <a:avLst/>
          </a:prstGeom>
          <a:noFill/>
        </p:spPr>
        <p:txBody>
          <a:bodyPr wrap="square" anchor="ctr" lIns="0" rIns="0" tIns="0" bIns="0">
            <a:spAutoFit/>
          </a:bodyPr>
          <a:lstStyle/>
          <a:p>
            <a:pPr algn="l"/>
            <a:r>
              <a:rPr sz="1500" b="1" i="0">
                <a:solidFill>
                  <a:srgbClr val="FFFFFF"/>
                </a:solidFill>
                <a:latin typeface="Exo 2 Bold"/>
                <a:ea typeface="Exo 2 Bold"/>
                <a:cs typeface="Exo 2 Bold"/>
              </a:rPr>
              <a:t>Campaign</a:t>
            </a:r>
          </a:p>
        </p:txBody>
      </p:sp>
      <p:sp>
        <p:nvSpPr>
          <p:cNvPr id="18" name="Rectangle 17"/>
          <p:cNvSpPr/>
          <p:nvPr/>
        </p:nvSpPr>
        <p:spPr>
          <a:xfrm>
            <a:off x="4133088" y="2331720"/>
            <a:ext cx="2743200" cy="566928"/>
          </a:xfrm>
          <a:prstGeom prst="rect">
            <a:avLst/>
          </a:prstGeom>
          <a:solidFill>
            <a:srgbClr val="132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297680" y="2331720"/>
            <a:ext cx="2468880" cy="566928"/>
          </a:xfrm>
          <a:prstGeom prst="rect">
            <a:avLst/>
          </a:prstGeom>
          <a:noFill/>
        </p:spPr>
        <p:txBody>
          <a:bodyPr wrap="square" anchor="ctr" lIns="0" rIns="0" tIns="0" bIns="0">
            <a:spAutoFit/>
          </a:bodyPr>
          <a:lstStyle/>
          <a:p>
            <a:pPr algn="l"/>
            <a:r>
              <a:rPr sz="1500" b="1" i="0">
                <a:solidFill>
                  <a:srgbClr val="FFFFFF"/>
                </a:solidFill>
                <a:latin typeface="Exo 2 Bold"/>
                <a:ea typeface="Exo 2 Bold"/>
                <a:cs typeface="Exo 2 Bold"/>
              </a:rPr>
              <a:t>Platform</a:t>
            </a:r>
          </a:p>
        </p:txBody>
      </p:sp>
      <p:sp>
        <p:nvSpPr>
          <p:cNvPr id="20" name="Rectangle 19"/>
          <p:cNvSpPr/>
          <p:nvPr/>
        </p:nvSpPr>
        <p:spPr>
          <a:xfrm>
            <a:off x="6876288" y="2331720"/>
            <a:ext cx="2377440" cy="566928"/>
          </a:xfrm>
          <a:prstGeom prst="rect">
            <a:avLst/>
          </a:prstGeom>
          <a:solidFill>
            <a:srgbClr val="132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40880" y="2331720"/>
            <a:ext cx="2103120" cy="566928"/>
          </a:xfrm>
          <a:prstGeom prst="rect">
            <a:avLst/>
          </a:prstGeom>
          <a:noFill/>
        </p:spPr>
        <p:txBody>
          <a:bodyPr wrap="square" anchor="ctr" lIns="0" rIns="0" tIns="0" bIns="0">
            <a:spAutoFit/>
          </a:bodyPr>
          <a:lstStyle/>
          <a:p>
            <a:pPr algn="l"/>
            <a:r>
              <a:rPr sz="1500" b="1" i="0">
                <a:solidFill>
                  <a:srgbClr val="FFFFFF"/>
                </a:solidFill>
                <a:latin typeface="Exo 2 Bold"/>
                <a:ea typeface="Exo 2 Bold"/>
                <a:cs typeface="Exo 2 Bold"/>
              </a:rPr>
              <a:t>When</a:t>
            </a:r>
          </a:p>
        </p:txBody>
      </p:sp>
      <p:sp>
        <p:nvSpPr>
          <p:cNvPr id="22" name="Rectangle 21"/>
          <p:cNvSpPr/>
          <p:nvPr/>
        </p:nvSpPr>
        <p:spPr>
          <a:xfrm>
            <a:off x="9253728" y="2331720"/>
            <a:ext cx="2148840" cy="566928"/>
          </a:xfrm>
          <a:prstGeom prst="rect">
            <a:avLst/>
          </a:prstGeom>
          <a:solidFill>
            <a:srgbClr val="132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18320" y="2331720"/>
            <a:ext cx="1874520" cy="566928"/>
          </a:xfrm>
          <a:prstGeom prst="rect">
            <a:avLst/>
          </a:prstGeom>
          <a:noFill/>
        </p:spPr>
        <p:txBody>
          <a:bodyPr wrap="square" anchor="ctr" lIns="0" rIns="0" tIns="0" bIns="0">
            <a:spAutoFit/>
          </a:bodyPr>
          <a:lstStyle/>
          <a:p>
            <a:pPr algn="l"/>
            <a:r>
              <a:rPr sz="1500" b="1" i="0">
                <a:solidFill>
                  <a:srgbClr val="FFFFFF"/>
                </a:solidFill>
                <a:latin typeface="Exo 2 Bold"/>
                <a:ea typeface="Exo 2 Bold"/>
                <a:cs typeface="Exo 2 Bold"/>
              </a:rPr>
              <a:t>Spend (USD)</a:t>
            </a:r>
          </a:p>
        </p:txBody>
      </p:sp>
      <p:sp>
        <p:nvSpPr>
          <p:cNvPr id="24" name="Rectangle 23"/>
          <p:cNvSpPr/>
          <p:nvPr/>
        </p:nvSpPr>
        <p:spPr>
          <a:xfrm>
            <a:off x="11402568" y="2331720"/>
            <a:ext cx="6053328" cy="566928"/>
          </a:xfrm>
          <a:prstGeom prst="rect">
            <a:avLst/>
          </a:prstGeom>
          <a:solidFill>
            <a:srgbClr val="132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567160" y="2331720"/>
            <a:ext cx="5779008" cy="566928"/>
          </a:xfrm>
          <a:prstGeom prst="rect">
            <a:avLst/>
          </a:prstGeom>
          <a:noFill/>
        </p:spPr>
        <p:txBody>
          <a:bodyPr wrap="square" anchor="ctr" lIns="0" rIns="0" tIns="0" bIns="0">
            <a:spAutoFit/>
          </a:bodyPr>
          <a:lstStyle/>
          <a:p>
            <a:pPr algn="l"/>
            <a:r>
              <a:rPr sz="1500" b="1" i="0">
                <a:solidFill>
                  <a:srgbClr val="FFFFFF"/>
                </a:solidFill>
                <a:latin typeface="Exo 2 Bold"/>
                <a:ea typeface="Exo 2 Bold"/>
                <a:cs typeface="Exo 2 Bold"/>
              </a:rPr>
              <a:t>Result</a:t>
            </a:r>
          </a:p>
        </p:txBody>
      </p:sp>
      <p:sp>
        <p:nvSpPr>
          <p:cNvPr id="26" name="Rectangle 25"/>
          <p:cNvSpPr/>
          <p:nvPr/>
        </p:nvSpPr>
        <p:spPr>
          <a:xfrm>
            <a:off x="841248" y="2898648"/>
            <a:ext cx="3291840" cy="731520"/>
          </a:xfrm>
          <a:prstGeom prst="rect">
            <a:avLst/>
          </a:prstGeom>
          <a:solidFill>
            <a:srgbClr val="FFFFFF"/>
          </a:solidFill>
          <a:ln w="9525">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05840" y="2898648"/>
            <a:ext cx="3017520" cy="731520"/>
          </a:xfrm>
          <a:prstGeom prst="rect">
            <a:avLst/>
          </a:prstGeom>
          <a:noFill/>
        </p:spPr>
        <p:txBody>
          <a:bodyPr wrap="square" anchor="ctr" lIns="0" rIns="0" tIns="0" bIns="0">
            <a:spAutoFit/>
          </a:bodyPr>
          <a:lstStyle/>
          <a:p>
            <a:pPr algn="l"/>
            <a:r>
              <a:rPr sz="1550" b="1" i="0">
                <a:solidFill>
                  <a:srgbClr val="132257"/>
                </a:solidFill>
                <a:latin typeface="Exo 2 Bold"/>
                <a:ea typeface="Exo 2 Bold"/>
                <a:cs typeface="Exo 2 Bold"/>
              </a:rPr>
              <a:t>Long Form Launch</a:t>
            </a:r>
          </a:p>
        </p:txBody>
      </p:sp>
      <p:sp>
        <p:nvSpPr>
          <p:cNvPr id="28" name="Rectangle 27"/>
          <p:cNvSpPr/>
          <p:nvPr/>
        </p:nvSpPr>
        <p:spPr>
          <a:xfrm>
            <a:off x="4133088" y="2898648"/>
            <a:ext cx="2743200" cy="731520"/>
          </a:xfrm>
          <a:prstGeom prst="rect">
            <a:avLst/>
          </a:prstGeom>
          <a:solidFill>
            <a:srgbClr val="FFFFFF"/>
          </a:solidFill>
          <a:ln w="9525">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7680" y="2898648"/>
            <a:ext cx="2468880" cy="731520"/>
          </a:xfrm>
          <a:prstGeom prst="rect">
            <a:avLst/>
          </a:prstGeom>
          <a:noFill/>
        </p:spPr>
        <p:txBody>
          <a:bodyPr wrap="square" anchor="ctr" lIns="0" rIns="0" tIns="0" bIns="0">
            <a:spAutoFit/>
          </a:bodyPr>
          <a:lstStyle/>
          <a:p>
            <a:pPr algn="l"/>
            <a:r>
              <a:rPr sz="1550" b="0" i="0">
                <a:solidFill>
                  <a:srgbClr val="1F2A44"/>
                </a:solidFill>
                <a:latin typeface="Exo 2"/>
                <a:ea typeface="Exo 2"/>
                <a:cs typeface="Exo 2"/>
              </a:rPr>
              <a:t>Instagram, LinkedIn</a:t>
            </a:r>
          </a:p>
        </p:txBody>
      </p:sp>
      <p:sp>
        <p:nvSpPr>
          <p:cNvPr id="30" name="Rectangle 29"/>
          <p:cNvSpPr/>
          <p:nvPr/>
        </p:nvSpPr>
        <p:spPr>
          <a:xfrm>
            <a:off x="6876288" y="2898648"/>
            <a:ext cx="2377440" cy="731520"/>
          </a:xfrm>
          <a:prstGeom prst="rect">
            <a:avLst/>
          </a:prstGeom>
          <a:solidFill>
            <a:srgbClr val="FFFFFF"/>
          </a:solidFill>
          <a:ln w="9525">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040880" y="2898648"/>
            <a:ext cx="2103120" cy="731520"/>
          </a:xfrm>
          <a:prstGeom prst="rect">
            <a:avLst/>
          </a:prstGeom>
          <a:noFill/>
        </p:spPr>
        <p:txBody>
          <a:bodyPr wrap="square" anchor="ctr" lIns="0" rIns="0" tIns="0" bIns="0">
            <a:spAutoFit/>
          </a:bodyPr>
          <a:lstStyle/>
          <a:p>
            <a:pPr algn="l"/>
            <a:r>
              <a:rPr sz="1550" b="0" i="0">
                <a:solidFill>
                  <a:srgbClr val="1F2A44"/>
                </a:solidFill>
                <a:latin typeface="Exo 2"/>
                <a:ea typeface="Exo 2"/>
                <a:cs typeface="Exo 2"/>
              </a:rPr>
              <a:t>19 May to 1 Jun</a:t>
            </a:r>
          </a:p>
        </p:txBody>
      </p:sp>
      <p:sp>
        <p:nvSpPr>
          <p:cNvPr id="32" name="Rectangle 31"/>
          <p:cNvSpPr/>
          <p:nvPr/>
        </p:nvSpPr>
        <p:spPr>
          <a:xfrm>
            <a:off x="9253728" y="2898648"/>
            <a:ext cx="2148840" cy="731520"/>
          </a:xfrm>
          <a:prstGeom prst="rect">
            <a:avLst/>
          </a:prstGeom>
          <a:solidFill>
            <a:srgbClr val="FFFFFF"/>
          </a:solidFill>
          <a:ln w="9525">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418320" y="2898648"/>
            <a:ext cx="1874520" cy="731520"/>
          </a:xfrm>
          <a:prstGeom prst="rect">
            <a:avLst/>
          </a:prstGeom>
          <a:noFill/>
        </p:spPr>
        <p:txBody>
          <a:bodyPr wrap="square" anchor="ctr" lIns="0" rIns="0" tIns="0" bIns="0">
            <a:spAutoFit/>
          </a:bodyPr>
          <a:lstStyle/>
          <a:p>
            <a:pPr algn="l"/>
            <a:r>
              <a:rPr sz="1550" b="1" i="0">
                <a:solidFill>
                  <a:srgbClr val="132257"/>
                </a:solidFill>
                <a:latin typeface="Exo 2 Bold"/>
                <a:ea typeface="Exo 2 Bold"/>
                <a:cs typeface="Exo 2 Bold"/>
              </a:rPr>
              <a:t>1,700</a:t>
            </a:r>
          </a:p>
        </p:txBody>
      </p:sp>
      <p:sp>
        <p:nvSpPr>
          <p:cNvPr id="34" name="Rectangle 33"/>
          <p:cNvSpPr/>
          <p:nvPr/>
        </p:nvSpPr>
        <p:spPr>
          <a:xfrm>
            <a:off x="11402568" y="2898648"/>
            <a:ext cx="6053328" cy="731520"/>
          </a:xfrm>
          <a:prstGeom prst="rect">
            <a:avLst/>
          </a:prstGeom>
          <a:solidFill>
            <a:srgbClr val="FFFFFF"/>
          </a:solidFill>
          <a:ln w="9525">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1567160" y="2898648"/>
            <a:ext cx="5779008" cy="731520"/>
          </a:xfrm>
          <a:prstGeom prst="rect">
            <a:avLst/>
          </a:prstGeom>
          <a:noFill/>
        </p:spPr>
        <p:txBody>
          <a:bodyPr wrap="square" anchor="ctr" lIns="0" rIns="0" tIns="0" bIns="0">
            <a:spAutoFit/>
          </a:bodyPr>
          <a:lstStyle/>
          <a:p>
            <a:pPr algn="l"/>
            <a:r>
              <a:rPr sz="1450" b="0" i="0">
                <a:solidFill>
                  <a:srgbClr val="1F2A44"/>
                </a:solidFill>
                <a:latin typeface="Exo 2"/>
                <a:ea typeface="Exo 2"/>
                <a:cs typeface="Exo 2"/>
              </a:rPr>
              <a:t>231,850 impressions and 3,471 clicks across KSA, Bahrain, Oman, Kuwait</a:t>
            </a:r>
          </a:p>
        </p:txBody>
      </p:sp>
      <p:sp>
        <p:nvSpPr>
          <p:cNvPr id="36" name="Rectangle 35"/>
          <p:cNvSpPr/>
          <p:nvPr/>
        </p:nvSpPr>
        <p:spPr>
          <a:xfrm>
            <a:off x="841248" y="3630168"/>
            <a:ext cx="3291840" cy="731520"/>
          </a:xfrm>
          <a:prstGeom prst="rect">
            <a:avLst/>
          </a:prstGeom>
          <a:solidFill>
            <a:srgbClr val="EEF1F8"/>
          </a:solidFill>
          <a:ln w="9525">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05840" y="3630168"/>
            <a:ext cx="3017520" cy="731520"/>
          </a:xfrm>
          <a:prstGeom prst="rect">
            <a:avLst/>
          </a:prstGeom>
          <a:noFill/>
        </p:spPr>
        <p:txBody>
          <a:bodyPr wrap="square" anchor="ctr" lIns="0" rIns="0" tIns="0" bIns="0">
            <a:spAutoFit/>
          </a:bodyPr>
          <a:lstStyle/>
          <a:p>
            <a:pPr algn="l"/>
            <a:r>
              <a:rPr sz="1550" b="1" i="0">
                <a:solidFill>
                  <a:srgbClr val="132257"/>
                </a:solidFill>
                <a:latin typeface="Exo 2 Bold"/>
                <a:ea typeface="Exo 2 Bold"/>
                <a:cs typeface="Exo 2 Bold"/>
              </a:rPr>
              <a:t>Astronaut (animation)</a:t>
            </a:r>
          </a:p>
        </p:txBody>
      </p:sp>
      <p:sp>
        <p:nvSpPr>
          <p:cNvPr id="38" name="Rectangle 37"/>
          <p:cNvSpPr/>
          <p:nvPr/>
        </p:nvSpPr>
        <p:spPr>
          <a:xfrm>
            <a:off x="4133088" y="3630168"/>
            <a:ext cx="2743200" cy="731520"/>
          </a:xfrm>
          <a:prstGeom prst="rect">
            <a:avLst/>
          </a:prstGeom>
          <a:solidFill>
            <a:srgbClr val="EEF1F8"/>
          </a:solidFill>
          <a:ln w="9525">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297680" y="3630168"/>
            <a:ext cx="2468880" cy="731520"/>
          </a:xfrm>
          <a:prstGeom prst="rect">
            <a:avLst/>
          </a:prstGeom>
          <a:noFill/>
        </p:spPr>
        <p:txBody>
          <a:bodyPr wrap="square" anchor="ctr" lIns="0" rIns="0" tIns="0" bIns="0">
            <a:spAutoFit/>
          </a:bodyPr>
          <a:lstStyle/>
          <a:p>
            <a:pPr algn="l"/>
            <a:r>
              <a:rPr sz="1550" b="0" i="0">
                <a:solidFill>
                  <a:srgbClr val="1F2A44"/>
                </a:solidFill>
                <a:latin typeface="Exo 2"/>
                <a:ea typeface="Exo 2"/>
                <a:cs typeface="Exo 2"/>
              </a:rPr>
              <a:t>Instagram, TikTok, X</a:t>
            </a:r>
          </a:p>
        </p:txBody>
      </p:sp>
      <p:sp>
        <p:nvSpPr>
          <p:cNvPr id="40" name="Rectangle 39"/>
          <p:cNvSpPr/>
          <p:nvPr/>
        </p:nvSpPr>
        <p:spPr>
          <a:xfrm>
            <a:off x="6876288" y="3630168"/>
            <a:ext cx="2377440" cy="731520"/>
          </a:xfrm>
          <a:prstGeom prst="rect">
            <a:avLst/>
          </a:prstGeom>
          <a:solidFill>
            <a:srgbClr val="EEF1F8"/>
          </a:solidFill>
          <a:ln w="9525">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040880" y="3630168"/>
            <a:ext cx="2103120" cy="731520"/>
          </a:xfrm>
          <a:prstGeom prst="rect">
            <a:avLst/>
          </a:prstGeom>
          <a:noFill/>
        </p:spPr>
        <p:txBody>
          <a:bodyPr wrap="square" anchor="ctr" lIns="0" rIns="0" tIns="0" bIns="0">
            <a:spAutoFit/>
          </a:bodyPr>
          <a:lstStyle/>
          <a:p>
            <a:pPr algn="l"/>
            <a:r>
              <a:rPr sz="1550" b="0" i="0">
                <a:solidFill>
                  <a:srgbClr val="1F2A44"/>
                </a:solidFill>
                <a:latin typeface="Exo 2"/>
                <a:ea typeface="Exo 2"/>
                <a:cs typeface="Exo 2"/>
              </a:rPr>
              <a:t>19 May to 1 Jun</a:t>
            </a:r>
          </a:p>
        </p:txBody>
      </p:sp>
      <p:sp>
        <p:nvSpPr>
          <p:cNvPr id="42" name="Rectangle 41"/>
          <p:cNvSpPr/>
          <p:nvPr/>
        </p:nvSpPr>
        <p:spPr>
          <a:xfrm>
            <a:off x="9253728" y="3630168"/>
            <a:ext cx="2148840" cy="731520"/>
          </a:xfrm>
          <a:prstGeom prst="rect">
            <a:avLst/>
          </a:prstGeom>
          <a:solidFill>
            <a:srgbClr val="EEF1F8"/>
          </a:solidFill>
          <a:ln w="9525">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418320" y="3630168"/>
            <a:ext cx="1874520" cy="731520"/>
          </a:xfrm>
          <a:prstGeom prst="rect">
            <a:avLst/>
          </a:prstGeom>
          <a:noFill/>
        </p:spPr>
        <p:txBody>
          <a:bodyPr wrap="square" anchor="ctr" lIns="0" rIns="0" tIns="0" bIns="0">
            <a:spAutoFit/>
          </a:bodyPr>
          <a:lstStyle/>
          <a:p>
            <a:pPr algn="l"/>
            <a:r>
              <a:rPr sz="1550" b="1" i="0">
                <a:solidFill>
                  <a:srgbClr val="132257"/>
                </a:solidFill>
                <a:latin typeface="Exo 2 Bold"/>
                <a:ea typeface="Exo 2 Bold"/>
                <a:cs typeface="Exo 2 Bold"/>
              </a:rPr>
              <a:t>3,700</a:t>
            </a:r>
          </a:p>
        </p:txBody>
      </p:sp>
      <p:sp>
        <p:nvSpPr>
          <p:cNvPr id="44" name="Rectangle 43"/>
          <p:cNvSpPr/>
          <p:nvPr/>
        </p:nvSpPr>
        <p:spPr>
          <a:xfrm>
            <a:off x="11402568" y="3630168"/>
            <a:ext cx="6053328" cy="731520"/>
          </a:xfrm>
          <a:prstGeom prst="rect">
            <a:avLst/>
          </a:prstGeom>
          <a:solidFill>
            <a:srgbClr val="EEF1F8"/>
          </a:solidFill>
          <a:ln w="9525">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1567160" y="3630168"/>
            <a:ext cx="5779008" cy="731520"/>
          </a:xfrm>
          <a:prstGeom prst="rect">
            <a:avLst/>
          </a:prstGeom>
          <a:noFill/>
        </p:spPr>
        <p:txBody>
          <a:bodyPr wrap="square" anchor="ctr" lIns="0" rIns="0" tIns="0" bIns="0">
            <a:spAutoFit/>
          </a:bodyPr>
          <a:lstStyle/>
          <a:p>
            <a:pPr algn="l"/>
            <a:r>
              <a:rPr sz="1450" b="0" i="0">
                <a:solidFill>
                  <a:srgbClr val="1F2A44"/>
                </a:solidFill>
                <a:latin typeface="Exo 2"/>
                <a:ea typeface="Exo 2"/>
                <a:cs typeface="Exo 2"/>
              </a:rPr>
              <a:t>Highest reach in May, but TikTok traffic was bots</a:t>
            </a:r>
          </a:p>
        </p:txBody>
      </p:sp>
      <p:sp>
        <p:nvSpPr>
          <p:cNvPr id="46" name="Rectangle 45"/>
          <p:cNvSpPr/>
          <p:nvPr/>
        </p:nvSpPr>
        <p:spPr>
          <a:xfrm>
            <a:off x="841248" y="4361688"/>
            <a:ext cx="3291840" cy="731520"/>
          </a:xfrm>
          <a:prstGeom prst="rect">
            <a:avLst/>
          </a:prstGeom>
          <a:solidFill>
            <a:srgbClr val="FFFFFF"/>
          </a:solidFill>
          <a:ln w="9525">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05840" y="4361688"/>
            <a:ext cx="3017520" cy="731520"/>
          </a:xfrm>
          <a:prstGeom prst="rect">
            <a:avLst/>
          </a:prstGeom>
          <a:noFill/>
        </p:spPr>
        <p:txBody>
          <a:bodyPr wrap="square" anchor="ctr" lIns="0" rIns="0" tIns="0" bIns="0">
            <a:spAutoFit/>
          </a:bodyPr>
          <a:lstStyle/>
          <a:p>
            <a:pPr algn="l"/>
            <a:r>
              <a:rPr sz="1550" b="1" i="0">
                <a:solidFill>
                  <a:srgbClr val="132257"/>
                </a:solidFill>
                <a:latin typeface="Exo 2 Bold"/>
                <a:ea typeface="Exo 2 Bold"/>
                <a:cs typeface="Exo 2 Bold"/>
              </a:rPr>
              <a:t>App Screens</a:t>
            </a:r>
          </a:p>
        </p:txBody>
      </p:sp>
      <p:sp>
        <p:nvSpPr>
          <p:cNvPr id="48" name="Rectangle 47"/>
          <p:cNvSpPr/>
          <p:nvPr/>
        </p:nvSpPr>
        <p:spPr>
          <a:xfrm>
            <a:off x="4133088" y="4361688"/>
            <a:ext cx="2743200" cy="731520"/>
          </a:xfrm>
          <a:prstGeom prst="rect">
            <a:avLst/>
          </a:prstGeom>
          <a:solidFill>
            <a:srgbClr val="FFFFFF"/>
          </a:solidFill>
          <a:ln w="9525">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297680" y="4361688"/>
            <a:ext cx="2468880" cy="731520"/>
          </a:xfrm>
          <a:prstGeom prst="rect">
            <a:avLst/>
          </a:prstGeom>
          <a:noFill/>
        </p:spPr>
        <p:txBody>
          <a:bodyPr wrap="square" anchor="ctr" lIns="0" rIns="0" tIns="0" bIns="0">
            <a:spAutoFit/>
          </a:bodyPr>
          <a:lstStyle/>
          <a:p>
            <a:pPr algn="l"/>
            <a:r>
              <a:rPr sz="1550" b="0" i="0">
                <a:solidFill>
                  <a:srgbClr val="1F2A44"/>
                </a:solidFill>
                <a:latin typeface="Exo 2"/>
                <a:ea typeface="Exo 2"/>
                <a:cs typeface="Exo 2"/>
              </a:rPr>
              <a:t>X, Saudi only</a:t>
            </a:r>
          </a:p>
        </p:txBody>
      </p:sp>
      <p:sp>
        <p:nvSpPr>
          <p:cNvPr id="50" name="Rectangle 49"/>
          <p:cNvSpPr/>
          <p:nvPr/>
        </p:nvSpPr>
        <p:spPr>
          <a:xfrm>
            <a:off x="6876288" y="4361688"/>
            <a:ext cx="2377440" cy="731520"/>
          </a:xfrm>
          <a:prstGeom prst="rect">
            <a:avLst/>
          </a:prstGeom>
          <a:solidFill>
            <a:srgbClr val="FFFFFF"/>
          </a:solidFill>
          <a:ln w="9525">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040880" y="4361688"/>
            <a:ext cx="2103120" cy="731520"/>
          </a:xfrm>
          <a:prstGeom prst="rect">
            <a:avLst/>
          </a:prstGeom>
          <a:noFill/>
        </p:spPr>
        <p:txBody>
          <a:bodyPr wrap="square" anchor="ctr" lIns="0" rIns="0" tIns="0" bIns="0">
            <a:spAutoFit/>
          </a:bodyPr>
          <a:lstStyle/>
          <a:p>
            <a:pPr algn="l"/>
            <a:r>
              <a:rPr sz="1550" b="0" i="0">
                <a:solidFill>
                  <a:srgbClr val="1F2A44"/>
                </a:solidFill>
                <a:latin typeface="Exo 2"/>
                <a:ea typeface="Exo 2"/>
                <a:cs typeface="Exo 2"/>
              </a:rPr>
              <a:t>4 to 13 Jun</a:t>
            </a:r>
          </a:p>
        </p:txBody>
      </p:sp>
      <p:sp>
        <p:nvSpPr>
          <p:cNvPr id="52" name="Rectangle 51"/>
          <p:cNvSpPr/>
          <p:nvPr/>
        </p:nvSpPr>
        <p:spPr>
          <a:xfrm>
            <a:off x="9253728" y="4361688"/>
            <a:ext cx="2148840" cy="731520"/>
          </a:xfrm>
          <a:prstGeom prst="rect">
            <a:avLst/>
          </a:prstGeom>
          <a:solidFill>
            <a:srgbClr val="FFFFFF"/>
          </a:solidFill>
          <a:ln w="9525">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418320" y="4361688"/>
            <a:ext cx="1874520" cy="731520"/>
          </a:xfrm>
          <a:prstGeom prst="rect">
            <a:avLst/>
          </a:prstGeom>
          <a:noFill/>
        </p:spPr>
        <p:txBody>
          <a:bodyPr wrap="square" anchor="ctr" lIns="0" rIns="0" tIns="0" bIns="0">
            <a:spAutoFit/>
          </a:bodyPr>
          <a:lstStyle/>
          <a:p>
            <a:pPr algn="l"/>
            <a:r>
              <a:rPr sz="1550" b="1" i="0">
                <a:solidFill>
                  <a:srgbClr val="132257"/>
                </a:solidFill>
                <a:latin typeface="Exo 2 Bold"/>
                <a:ea typeface="Exo 2 Bold"/>
                <a:cs typeface="Exo 2 Bold"/>
              </a:rPr>
              <a:t>500</a:t>
            </a:r>
          </a:p>
        </p:txBody>
      </p:sp>
      <p:sp>
        <p:nvSpPr>
          <p:cNvPr id="54" name="Rectangle 53"/>
          <p:cNvSpPr/>
          <p:nvPr/>
        </p:nvSpPr>
        <p:spPr>
          <a:xfrm>
            <a:off x="11402568" y="4361688"/>
            <a:ext cx="6053328" cy="731520"/>
          </a:xfrm>
          <a:prstGeom prst="rect">
            <a:avLst/>
          </a:prstGeom>
          <a:solidFill>
            <a:srgbClr val="FFFFFF"/>
          </a:solidFill>
          <a:ln w="9525">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1567160" y="4361688"/>
            <a:ext cx="5779008" cy="731520"/>
          </a:xfrm>
          <a:prstGeom prst="rect">
            <a:avLst/>
          </a:prstGeom>
          <a:noFill/>
        </p:spPr>
        <p:txBody>
          <a:bodyPr wrap="square" anchor="ctr" lIns="0" rIns="0" tIns="0" bIns="0">
            <a:spAutoFit/>
          </a:bodyPr>
          <a:lstStyle/>
          <a:p>
            <a:pPr algn="l"/>
            <a:r>
              <a:rPr sz="1450" b="0" i="0">
                <a:solidFill>
                  <a:srgbClr val="1F2A44"/>
                </a:solidFill>
                <a:latin typeface="Exo 2"/>
                <a:ea typeface="Exo 2"/>
                <a:cs typeface="Exo 2"/>
              </a:rPr>
              <a:t>Product test in Jeddah, Dammam and Khobar</a:t>
            </a:r>
          </a:p>
        </p:txBody>
      </p:sp>
      <p:sp>
        <p:nvSpPr>
          <p:cNvPr id="56" name="Rectangle 55"/>
          <p:cNvSpPr/>
          <p:nvPr/>
        </p:nvSpPr>
        <p:spPr>
          <a:xfrm>
            <a:off x="841248" y="5093207"/>
            <a:ext cx="3291840" cy="731520"/>
          </a:xfrm>
          <a:prstGeom prst="rect">
            <a:avLst/>
          </a:prstGeom>
          <a:solidFill>
            <a:srgbClr val="EEF1F8"/>
          </a:solidFill>
          <a:ln w="9525">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05840" y="5093207"/>
            <a:ext cx="3017520" cy="731520"/>
          </a:xfrm>
          <a:prstGeom prst="rect">
            <a:avLst/>
          </a:prstGeom>
          <a:noFill/>
        </p:spPr>
        <p:txBody>
          <a:bodyPr wrap="square" anchor="ctr" lIns="0" rIns="0" tIns="0" bIns="0">
            <a:spAutoFit/>
          </a:bodyPr>
          <a:lstStyle/>
          <a:p>
            <a:pPr algn="l"/>
            <a:r>
              <a:rPr sz="1550" b="1" i="0">
                <a:solidFill>
                  <a:srgbClr val="132257"/>
                </a:solidFill>
                <a:latin typeface="Exo 2 Bold"/>
                <a:ea typeface="Exo 2 Bold"/>
                <a:cs typeface="Exo 2 Bold"/>
              </a:rPr>
              <a:t>GCC Relaunch</a:t>
            </a:r>
          </a:p>
        </p:txBody>
      </p:sp>
      <p:sp>
        <p:nvSpPr>
          <p:cNvPr id="58" name="Rectangle 57"/>
          <p:cNvSpPr/>
          <p:nvPr/>
        </p:nvSpPr>
        <p:spPr>
          <a:xfrm>
            <a:off x="4133088" y="5093207"/>
            <a:ext cx="2743200" cy="731520"/>
          </a:xfrm>
          <a:prstGeom prst="rect">
            <a:avLst/>
          </a:prstGeom>
          <a:solidFill>
            <a:srgbClr val="EEF1F8"/>
          </a:solidFill>
          <a:ln w="9525">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297680" y="5093207"/>
            <a:ext cx="2468880" cy="731520"/>
          </a:xfrm>
          <a:prstGeom prst="rect">
            <a:avLst/>
          </a:prstGeom>
          <a:noFill/>
        </p:spPr>
        <p:txBody>
          <a:bodyPr wrap="square" anchor="ctr" lIns="0" rIns="0" tIns="0" bIns="0">
            <a:spAutoFit/>
          </a:bodyPr>
          <a:lstStyle/>
          <a:p>
            <a:pPr algn="l"/>
            <a:r>
              <a:rPr sz="1550" b="0" i="0">
                <a:solidFill>
                  <a:srgbClr val="1F2A44"/>
                </a:solidFill>
                <a:latin typeface="Exo 2"/>
                <a:ea typeface="Exo 2"/>
                <a:cs typeface="Exo 2"/>
              </a:rPr>
              <a:t>Instagram, X, LinkedIn</a:t>
            </a:r>
          </a:p>
        </p:txBody>
      </p:sp>
      <p:sp>
        <p:nvSpPr>
          <p:cNvPr id="60" name="Rectangle 59"/>
          <p:cNvSpPr/>
          <p:nvPr/>
        </p:nvSpPr>
        <p:spPr>
          <a:xfrm>
            <a:off x="6876288" y="5093207"/>
            <a:ext cx="2377440" cy="731520"/>
          </a:xfrm>
          <a:prstGeom prst="rect">
            <a:avLst/>
          </a:prstGeom>
          <a:solidFill>
            <a:srgbClr val="EEF1F8"/>
          </a:solidFill>
          <a:ln w="9525">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040880" y="5093207"/>
            <a:ext cx="2103120" cy="731520"/>
          </a:xfrm>
          <a:prstGeom prst="rect">
            <a:avLst/>
          </a:prstGeom>
          <a:noFill/>
        </p:spPr>
        <p:txBody>
          <a:bodyPr wrap="square" anchor="ctr" lIns="0" rIns="0" tIns="0" bIns="0">
            <a:spAutoFit/>
          </a:bodyPr>
          <a:lstStyle/>
          <a:p>
            <a:pPr algn="l"/>
            <a:r>
              <a:rPr sz="1550" b="0" i="0">
                <a:solidFill>
                  <a:srgbClr val="1F2A44"/>
                </a:solidFill>
                <a:latin typeface="Exo 2"/>
                <a:ea typeface="Exo 2"/>
                <a:cs typeface="Exo 2"/>
              </a:rPr>
              <a:t>8 Jun to 8 Jul</a:t>
            </a:r>
          </a:p>
        </p:txBody>
      </p:sp>
      <p:sp>
        <p:nvSpPr>
          <p:cNvPr id="62" name="Rectangle 61"/>
          <p:cNvSpPr/>
          <p:nvPr/>
        </p:nvSpPr>
        <p:spPr>
          <a:xfrm>
            <a:off x="9253728" y="5093207"/>
            <a:ext cx="2148840" cy="731520"/>
          </a:xfrm>
          <a:prstGeom prst="rect">
            <a:avLst/>
          </a:prstGeom>
          <a:solidFill>
            <a:srgbClr val="EEF1F8"/>
          </a:solidFill>
          <a:ln w="9525">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418320" y="5093207"/>
            <a:ext cx="1874520" cy="731520"/>
          </a:xfrm>
          <a:prstGeom prst="rect">
            <a:avLst/>
          </a:prstGeom>
          <a:noFill/>
        </p:spPr>
        <p:txBody>
          <a:bodyPr wrap="square" anchor="ctr" lIns="0" rIns="0" tIns="0" bIns="0">
            <a:spAutoFit/>
          </a:bodyPr>
          <a:lstStyle/>
          <a:p>
            <a:pPr algn="l"/>
            <a:r>
              <a:rPr sz="1550" b="1" i="0">
                <a:solidFill>
                  <a:srgbClr val="132257"/>
                </a:solidFill>
                <a:latin typeface="Exo 2 Bold"/>
                <a:ea typeface="Exo 2 Bold"/>
                <a:cs typeface="Exo 2 Bold"/>
              </a:rPr>
              <a:t>6,700</a:t>
            </a:r>
          </a:p>
        </p:txBody>
      </p:sp>
      <p:sp>
        <p:nvSpPr>
          <p:cNvPr id="64" name="Rectangle 63"/>
          <p:cNvSpPr/>
          <p:nvPr/>
        </p:nvSpPr>
        <p:spPr>
          <a:xfrm>
            <a:off x="11402568" y="5093207"/>
            <a:ext cx="6053328" cy="731520"/>
          </a:xfrm>
          <a:prstGeom prst="rect">
            <a:avLst/>
          </a:prstGeom>
          <a:solidFill>
            <a:srgbClr val="EEF1F8"/>
          </a:solidFill>
          <a:ln w="9525">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1567160" y="5093207"/>
            <a:ext cx="5779008" cy="731520"/>
          </a:xfrm>
          <a:prstGeom prst="rect">
            <a:avLst/>
          </a:prstGeom>
          <a:noFill/>
        </p:spPr>
        <p:txBody>
          <a:bodyPr wrap="square" anchor="ctr" lIns="0" rIns="0" tIns="0" bIns="0">
            <a:spAutoFit/>
          </a:bodyPr>
          <a:lstStyle/>
          <a:p>
            <a:pPr algn="l"/>
            <a:r>
              <a:rPr sz="1450" b="0" i="0">
                <a:solidFill>
                  <a:srgbClr val="1F2A44"/>
                </a:solidFill>
                <a:latin typeface="Exo 2"/>
                <a:ea typeface="Exo 2"/>
                <a:cs typeface="Exo 2"/>
              </a:rPr>
              <a:t>Followers grew on every channel in June</a:t>
            </a:r>
          </a:p>
        </p:txBody>
      </p:sp>
      <p:sp>
        <p:nvSpPr>
          <p:cNvPr id="66" name="Rectangle 65"/>
          <p:cNvSpPr/>
          <p:nvPr/>
        </p:nvSpPr>
        <p:spPr>
          <a:xfrm>
            <a:off x="841248" y="5824727"/>
            <a:ext cx="3291840" cy="731520"/>
          </a:xfrm>
          <a:prstGeom prst="rect">
            <a:avLst/>
          </a:prstGeom>
          <a:solidFill>
            <a:srgbClr val="FFFFFF"/>
          </a:solidFill>
          <a:ln w="9525">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005840" y="5824727"/>
            <a:ext cx="3017520" cy="731520"/>
          </a:xfrm>
          <a:prstGeom prst="rect">
            <a:avLst/>
          </a:prstGeom>
          <a:noFill/>
        </p:spPr>
        <p:txBody>
          <a:bodyPr wrap="square" anchor="ctr" lIns="0" rIns="0" tIns="0" bIns="0">
            <a:spAutoFit/>
          </a:bodyPr>
          <a:lstStyle/>
          <a:p>
            <a:pPr algn="l"/>
            <a:r>
              <a:rPr sz="1550" b="1" i="0">
                <a:solidFill>
                  <a:srgbClr val="132257"/>
                </a:solidFill>
                <a:latin typeface="Exo 2 Bold"/>
                <a:ea typeface="Exo 2 Bold"/>
                <a:cs typeface="Exo 2 Bold"/>
              </a:rPr>
              <a:t>Mention &amp; Win</a:t>
            </a:r>
          </a:p>
        </p:txBody>
      </p:sp>
      <p:sp>
        <p:nvSpPr>
          <p:cNvPr id="68" name="Rectangle 67"/>
          <p:cNvSpPr/>
          <p:nvPr/>
        </p:nvSpPr>
        <p:spPr>
          <a:xfrm>
            <a:off x="4133088" y="5824727"/>
            <a:ext cx="2743200" cy="731520"/>
          </a:xfrm>
          <a:prstGeom prst="rect">
            <a:avLst/>
          </a:prstGeom>
          <a:solidFill>
            <a:srgbClr val="FFFFFF"/>
          </a:solidFill>
          <a:ln w="9525">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297680" y="5824727"/>
            <a:ext cx="2468880" cy="731520"/>
          </a:xfrm>
          <a:prstGeom prst="rect">
            <a:avLst/>
          </a:prstGeom>
          <a:noFill/>
        </p:spPr>
        <p:txBody>
          <a:bodyPr wrap="square" anchor="ctr" lIns="0" rIns="0" tIns="0" bIns="0">
            <a:spAutoFit/>
          </a:bodyPr>
          <a:lstStyle/>
          <a:p>
            <a:pPr algn="l"/>
            <a:r>
              <a:rPr sz="1550" b="0" i="0">
                <a:solidFill>
                  <a:srgbClr val="1F2A44"/>
                </a:solidFill>
                <a:latin typeface="Exo 2"/>
                <a:ea typeface="Exo 2"/>
                <a:cs typeface="Exo 2"/>
              </a:rPr>
              <a:t>Instagram, GCC</a:t>
            </a:r>
          </a:p>
        </p:txBody>
      </p:sp>
      <p:sp>
        <p:nvSpPr>
          <p:cNvPr id="70" name="Rectangle 69"/>
          <p:cNvSpPr/>
          <p:nvPr/>
        </p:nvSpPr>
        <p:spPr>
          <a:xfrm>
            <a:off x="6876288" y="5824727"/>
            <a:ext cx="2377440" cy="731520"/>
          </a:xfrm>
          <a:prstGeom prst="rect">
            <a:avLst/>
          </a:prstGeom>
          <a:solidFill>
            <a:srgbClr val="FFFFFF"/>
          </a:solidFill>
          <a:ln w="9525">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040880" y="5824727"/>
            <a:ext cx="2103120" cy="731520"/>
          </a:xfrm>
          <a:prstGeom prst="rect">
            <a:avLst/>
          </a:prstGeom>
          <a:noFill/>
        </p:spPr>
        <p:txBody>
          <a:bodyPr wrap="square" anchor="ctr" lIns="0" rIns="0" tIns="0" bIns="0">
            <a:spAutoFit/>
          </a:bodyPr>
          <a:lstStyle/>
          <a:p>
            <a:pPr algn="l"/>
            <a:r>
              <a:rPr sz="1550" b="0" i="0">
                <a:solidFill>
                  <a:srgbClr val="1F2A44"/>
                </a:solidFill>
                <a:latin typeface="Exo 2"/>
                <a:ea typeface="Exo 2"/>
                <a:cs typeface="Exo 2"/>
              </a:rPr>
              <a:t>Monthly since Jun</a:t>
            </a:r>
          </a:p>
        </p:txBody>
      </p:sp>
      <p:sp>
        <p:nvSpPr>
          <p:cNvPr id="72" name="Rectangle 71"/>
          <p:cNvSpPr/>
          <p:nvPr/>
        </p:nvSpPr>
        <p:spPr>
          <a:xfrm>
            <a:off x="9253728" y="5824727"/>
            <a:ext cx="2148840" cy="731520"/>
          </a:xfrm>
          <a:prstGeom prst="rect">
            <a:avLst/>
          </a:prstGeom>
          <a:solidFill>
            <a:srgbClr val="FFFFFF"/>
          </a:solidFill>
          <a:ln w="9525">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418320" y="5824727"/>
            <a:ext cx="1874520" cy="731520"/>
          </a:xfrm>
          <a:prstGeom prst="rect">
            <a:avLst/>
          </a:prstGeom>
          <a:noFill/>
        </p:spPr>
        <p:txBody>
          <a:bodyPr wrap="square" anchor="ctr" lIns="0" rIns="0" tIns="0" bIns="0">
            <a:spAutoFit/>
          </a:bodyPr>
          <a:lstStyle/>
          <a:p>
            <a:pPr algn="l"/>
            <a:r>
              <a:rPr sz="1550" b="1" i="0">
                <a:solidFill>
                  <a:srgbClr val="132257"/>
                </a:solidFill>
                <a:latin typeface="Exo 2 Bold"/>
                <a:ea typeface="Exo 2 Bold"/>
                <a:cs typeface="Exo 2 Bold"/>
              </a:rPr>
              <a:t>500 prize + ads</a:t>
            </a:r>
          </a:p>
        </p:txBody>
      </p:sp>
      <p:sp>
        <p:nvSpPr>
          <p:cNvPr id="74" name="Rectangle 73"/>
          <p:cNvSpPr/>
          <p:nvPr/>
        </p:nvSpPr>
        <p:spPr>
          <a:xfrm>
            <a:off x="11402568" y="5824727"/>
            <a:ext cx="6053328" cy="731520"/>
          </a:xfrm>
          <a:prstGeom prst="rect">
            <a:avLst/>
          </a:prstGeom>
          <a:solidFill>
            <a:srgbClr val="FFFFFF"/>
          </a:solidFill>
          <a:ln w="9525">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1567160" y="5824727"/>
            <a:ext cx="5779008" cy="731520"/>
          </a:xfrm>
          <a:prstGeom prst="rect">
            <a:avLst/>
          </a:prstGeom>
          <a:noFill/>
        </p:spPr>
        <p:txBody>
          <a:bodyPr wrap="square" anchor="ctr" lIns="0" rIns="0" tIns="0" bIns="0">
            <a:spAutoFit/>
          </a:bodyPr>
          <a:lstStyle/>
          <a:p>
            <a:pPr algn="l"/>
            <a:r>
              <a:rPr sz="1450" b="0" i="0">
                <a:solidFill>
                  <a:srgbClr val="1F2A44"/>
                </a:solidFill>
                <a:latin typeface="Exo 2"/>
                <a:ea typeface="Exo 2"/>
                <a:cs typeface="Exo 2"/>
              </a:rPr>
              <a:t>Pilot: 266K views, 22,580 clicks, 6 new accounts for USD 600</a:t>
            </a:r>
          </a:p>
        </p:txBody>
      </p:sp>
      <p:sp>
        <p:nvSpPr>
          <p:cNvPr id="76" name="Rectangle 75"/>
          <p:cNvSpPr/>
          <p:nvPr/>
        </p:nvSpPr>
        <p:spPr>
          <a:xfrm>
            <a:off x="841248" y="6556247"/>
            <a:ext cx="3291840" cy="731520"/>
          </a:xfrm>
          <a:prstGeom prst="rect">
            <a:avLst/>
          </a:prstGeom>
          <a:solidFill>
            <a:srgbClr val="EEF1F8"/>
          </a:solidFill>
          <a:ln w="9525">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1005840" y="6556247"/>
            <a:ext cx="3017520" cy="731520"/>
          </a:xfrm>
          <a:prstGeom prst="rect">
            <a:avLst/>
          </a:prstGeom>
          <a:noFill/>
        </p:spPr>
        <p:txBody>
          <a:bodyPr wrap="square" anchor="ctr" lIns="0" rIns="0" tIns="0" bIns="0">
            <a:spAutoFit/>
          </a:bodyPr>
          <a:lstStyle/>
          <a:p>
            <a:pPr algn="l"/>
            <a:r>
              <a:rPr sz="1550" b="1" i="0">
                <a:solidFill>
                  <a:srgbClr val="132257"/>
                </a:solidFill>
                <a:latin typeface="Exo 2 Bold"/>
                <a:ea typeface="Exo 2 Bold"/>
                <a:cs typeface="Exo 2 Bold"/>
              </a:rPr>
              <a:t>Creator videos</a:t>
            </a:r>
          </a:p>
        </p:txBody>
      </p:sp>
      <p:sp>
        <p:nvSpPr>
          <p:cNvPr id="78" name="Rectangle 77"/>
          <p:cNvSpPr/>
          <p:nvPr/>
        </p:nvSpPr>
        <p:spPr>
          <a:xfrm>
            <a:off x="4133088" y="6556247"/>
            <a:ext cx="2743200" cy="731520"/>
          </a:xfrm>
          <a:prstGeom prst="rect">
            <a:avLst/>
          </a:prstGeom>
          <a:solidFill>
            <a:srgbClr val="EEF1F8"/>
          </a:solidFill>
          <a:ln w="9525">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4297680" y="6556247"/>
            <a:ext cx="2468880" cy="731520"/>
          </a:xfrm>
          <a:prstGeom prst="rect">
            <a:avLst/>
          </a:prstGeom>
          <a:noFill/>
        </p:spPr>
        <p:txBody>
          <a:bodyPr wrap="square" anchor="ctr" lIns="0" rIns="0" tIns="0" bIns="0">
            <a:spAutoFit/>
          </a:bodyPr>
          <a:lstStyle/>
          <a:p>
            <a:pPr algn="l"/>
            <a:r>
              <a:rPr sz="1550" b="0" i="0">
                <a:solidFill>
                  <a:srgbClr val="1F2A44"/>
                </a:solidFill>
                <a:latin typeface="Exo 2"/>
                <a:ea typeface="Exo 2"/>
                <a:cs typeface="Exo 2"/>
              </a:rPr>
              <a:t>Instagram</a:t>
            </a:r>
          </a:p>
        </p:txBody>
      </p:sp>
      <p:sp>
        <p:nvSpPr>
          <p:cNvPr id="80" name="Rectangle 79"/>
          <p:cNvSpPr/>
          <p:nvPr/>
        </p:nvSpPr>
        <p:spPr>
          <a:xfrm>
            <a:off x="6876288" y="6556247"/>
            <a:ext cx="2377440" cy="731520"/>
          </a:xfrm>
          <a:prstGeom prst="rect">
            <a:avLst/>
          </a:prstGeom>
          <a:solidFill>
            <a:srgbClr val="EEF1F8"/>
          </a:solidFill>
          <a:ln w="9525">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7040880" y="6556247"/>
            <a:ext cx="2103120" cy="731520"/>
          </a:xfrm>
          <a:prstGeom prst="rect">
            <a:avLst/>
          </a:prstGeom>
          <a:noFill/>
        </p:spPr>
        <p:txBody>
          <a:bodyPr wrap="square" anchor="ctr" lIns="0" rIns="0" tIns="0" bIns="0">
            <a:spAutoFit/>
          </a:bodyPr>
          <a:lstStyle/>
          <a:p>
            <a:pPr algn="l"/>
            <a:r>
              <a:rPr sz="1550" b="0" i="0">
                <a:solidFill>
                  <a:srgbClr val="1F2A44"/>
                </a:solidFill>
                <a:latin typeface="Exo 2"/>
                <a:ea typeface="Exo 2"/>
                <a:cs typeface="Exo 2"/>
              </a:rPr>
              <a:t>Jul to Oct</a:t>
            </a:r>
          </a:p>
        </p:txBody>
      </p:sp>
      <p:sp>
        <p:nvSpPr>
          <p:cNvPr id="82" name="Rectangle 81"/>
          <p:cNvSpPr/>
          <p:nvPr/>
        </p:nvSpPr>
        <p:spPr>
          <a:xfrm>
            <a:off x="9253728" y="6556247"/>
            <a:ext cx="2148840" cy="731520"/>
          </a:xfrm>
          <a:prstGeom prst="rect">
            <a:avLst/>
          </a:prstGeom>
          <a:solidFill>
            <a:srgbClr val="EEF1F8"/>
          </a:solidFill>
          <a:ln w="9525">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9418320" y="6556247"/>
            <a:ext cx="1874520" cy="731520"/>
          </a:xfrm>
          <a:prstGeom prst="rect">
            <a:avLst/>
          </a:prstGeom>
          <a:noFill/>
        </p:spPr>
        <p:txBody>
          <a:bodyPr wrap="square" anchor="ctr" lIns="0" rIns="0" tIns="0" bIns="0">
            <a:spAutoFit/>
          </a:bodyPr>
          <a:lstStyle/>
          <a:p>
            <a:pPr algn="l"/>
            <a:r>
              <a:rPr sz="1550" b="1" i="0">
                <a:solidFill>
                  <a:srgbClr val="132257"/>
                </a:solidFill>
                <a:latin typeface="Exo 2 Bold"/>
                <a:ea typeface="Exo 2 Bold"/>
                <a:cs typeface="Exo 2 Bold"/>
              </a:rPr>
              <a:t>9,037</a:t>
            </a:r>
          </a:p>
        </p:txBody>
      </p:sp>
      <p:sp>
        <p:nvSpPr>
          <p:cNvPr id="84" name="Rectangle 83"/>
          <p:cNvSpPr/>
          <p:nvPr/>
        </p:nvSpPr>
        <p:spPr>
          <a:xfrm>
            <a:off x="11402568" y="6556247"/>
            <a:ext cx="6053328" cy="731520"/>
          </a:xfrm>
          <a:prstGeom prst="rect">
            <a:avLst/>
          </a:prstGeom>
          <a:solidFill>
            <a:srgbClr val="EEF1F8"/>
          </a:solidFill>
          <a:ln w="9525">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11567160" y="6556247"/>
            <a:ext cx="5779008" cy="731520"/>
          </a:xfrm>
          <a:prstGeom prst="rect">
            <a:avLst/>
          </a:prstGeom>
          <a:noFill/>
        </p:spPr>
        <p:txBody>
          <a:bodyPr wrap="square" anchor="ctr" lIns="0" rIns="0" tIns="0" bIns="0">
            <a:spAutoFit/>
          </a:bodyPr>
          <a:lstStyle/>
          <a:p>
            <a:pPr algn="l"/>
            <a:r>
              <a:rPr sz="1450" b="0" i="0">
                <a:solidFill>
                  <a:srgbClr val="1F2A44"/>
                </a:solidFill>
                <a:latin typeface="Exo 2"/>
                <a:ea typeface="Exo 2"/>
                <a:cs typeface="Exo 2"/>
              </a:rPr>
              <a:t>Musheera 5.3M and Ali Sabeel 1.3M views; Abdulelah in October</a:t>
            </a:r>
          </a:p>
        </p:txBody>
      </p:sp>
      <p:sp>
        <p:nvSpPr>
          <p:cNvPr id="86" name="Rectangle 85"/>
          <p:cNvSpPr/>
          <p:nvPr/>
        </p:nvSpPr>
        <p:spPr>
          <a:xfrm>
            <a:off x="841248" y="7287767"/>
            <a:ext cx="3291840" cy="731520"/>
          </a:xfrm>
          <a:prstGeom prst="rect">
            <a:avLst/>
          </a:prstGeom>
          <a:solidFill>
            <a:srgbClr val="FFFFFF"/>
          </a:solidFill>
          <a:ln w="9525">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1005840" y="7287767"/>
            <a:ext cx="3017520" cy="731520"/>
          </a:xfrm>
          <a:prstGeom prst="rect">
            <a:avLst/>
          </a:prstGeom>
          <a:noFill/>
        </p:spPr>
        <p:txBody>
          <a:bodyPr wrap="square" anchor="ctr" lIns="0" rIns="0" tIns="0" bIns="0">
            <a:spAutoFit/>
          </a:bodyPr>
          <a:lstStyle/>
          <a:p>
            <a:pPr algn="l"/>
            <a:r>
              <a:rPr sz="1550" b="1" i="0">
                <a:solidFill>
                  <a:srgbClr val="132257"/>
                </a:solidFill>
                <a:latin typeface="Exo 2 Bold"/>
                <a:ea typeface="Exo 2 Bold"/>
                <a:cs typeface="Exo 2 Bold"/>
              </a:rPr>
              <a:t>USD 5,000 Prize Campaign</a:t>
            </a:r>
          </a:p>
        </p:txBody>
      </p:sp>
      <p:sp>
        <p:nvSpPr>
          <p:cNvPr id="88" name="Rectangle 87"/>
          <p:cNvSpPr/>
          <p:nvPr/>
        </p:nvSpPr>
        <p:spPr>
          <a:xfrm>
            <a:off x="4133088" y="7287767"/>
            <a:ext cx="2743200" cy="731520"/>
          </a:xfrm>
          <a:prstGeom prst="rect">
            <a:avLst/>
          </a:prstGeom>
          <a:solidFill>
            <a:srgbClr val="FFFFFF"/>
          </a:solidFill>
          <a:ln w="9525">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4297680" y="7287767"/>
            <a:ext cx="2468880" cy="731520"/>
          </a:xfrm>
          <a:prstGeom prst="rect">
            <a:avLst/>
          </a:prstGeom>
          <a:noFill/>
        </p:spPr>
        <p:txBody>
          <a:bodyPr wrap="square" anchor="ctr" lIns="0" rIns="0" tIns="0" bIns="0">
            <a:spAutoFit/>
          </a:bodyPr>
          <a:lstStyle/>
          <a:p>
            <a:pPr algn="l"/>
            <a:r>
              <a:rPr sz="1550" b="0" i="0">
                <a:solidFill>
                  <a:srgbClr val="1F2A44"/>
                </a:solidFill>
                <a:latin typeface="Exo 2"/>
                <a:ea typeface="Exo 2"/>
                <a:cs typeface="Exo 2"/>
              </a:rPr>
              <a:t>Instagram, landing pages</a:t>
            </a:r>
          </a:p>
        </p:txBody>
      </p:sp>
      <p:sp>
        <p:nvSpPr>
          <p:cNvPr id="90" name="Rectangle 89"/>
          <p:cNvSpPr/>
          <p:nvPr/>
        </p:nvSpPr>
        <p:spPr>
          <a:xfrm>
            <a:off x="6876288" y="7287767"/>
            <a:ext cx="2377440" cy="731520"/>
          </a:xfrm>
          <a:prstGeom prst="rect">
            <a:avLst/>
          </a:prstGeom>
          <a:solidFill>
            <a:srgbClr val="FFFFFF"/>
          </a:solidFill>
          <a:ln w="9525">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7040880" y="7287767"/>
            <a:ext cx="2103120" cy="731520"/>
          </a:xfrm>
          <a:prstGeom prst="rect">
            <a:avLst/>
          </a:prstGeom>
          <a:noFill/>
        </p:spPr>
        <p:txBody>
          <a:bodyPr wrap="square" anchor="ctr" lIns="0" rIns="0" tIns="0" bIns="0">
            <a:spAutoFit/>
          </a:bodyPr>
          <a:lstStyle/>
          <a:p>
            <a:pPr algn="l"/>
            <a:r>
              <a:rPr sz="1550" b="0" i="0">
                <a:solidFill>
                  <a:srgbClr val="1F2A44"/>
                </a:solidFill>
                <a:latin typeface="Exo 2"/>
                <a:ea typeface="Exo 2"/>
                <a:cs typeface="Exo 2"/>
              </a:rPr>
              <a:t>1 Aug to 31 Dec</a:t>
            </a:r>
          </a:p>
        </p:txBody>
      </p:sp>
      <p:sp>
        <p:nvSpPr>
          <p:cNvPr id="92" name="Rectangle 91"/>
          <p:cNvSpPr/>
          <p:nvPr/>
        </p:nvSpPr>
        <p:spPr>
          <a:xfrm>
            <a:off x="9253728" y="7287767"/>
            <a:ext cx="2148840" cy="731520"/>
          </a:xfrm>
          <a:prstGeom prst="rect">
            <a:avLst/>
          </a:prstGeom>
          <a:solidFill>
            <a:srgbClr val="FFFFFF"/>
          </a:solidFill>
          <a:ln w="9525">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9418320" y="7287767"/>
            <a:ext cx="1874520" cy="731520"/>
          </a:xfrm>
          <a:prstGeom prst="rect">
            <a:avLst/>
          </a:prstGeom>
          <a:noFill/>
        </p:spPr>
        <p:txBody>
          <a:bodyPr wrap="square" anchor="ctr" lIns="0" rIns="0" tIns="0" bIns="0">
            <a:spAutoFit/>
          </a:bodyPr>
          <a:lstStyle/>
          <a:p>
            <a:pPr algn="l"/>
            <a:r>
              <a:rPr sz="1550" b="1" i="0">
                <a:solidFill>
                  <a:srgbClr val="132257"/>
                </a:solidFill>
                <a:latin typeface="Exo 2 Bold"/>
                <a:ea typeface="Exo 2 Bold"/>
                <a:cs typeface="Exo 2 Bold"/>
              </a:rPr>
              <a:t>Prizes up to 5,000</a:t>
            </a:r>
          </a:p>
        </p:txBody>
      </p:sp>
      <p:sp>
        <p:nvSpPr>
          <p:cNvPr id="94" name="Rectangle 93"/>
          <p:cNvSpPr/>
          <p:nvPr/>
        </p:nvSpPr>
        <p:spPr>
          <a:xfrm>
            <a:off x="11402568" y="7287767"/>
            <a:ext cx="6053328" cy="731520"/>
          </a:xfrm>
          <a:prstGeom prst="rect">
            <a:avLst/>
          </a:prstGeom>
          <a:solidFill>
            <a:srgbClr val="FFFFFF"/>
          </a:solidFill>
          <a:ln w="9525">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11567160" y="7287767"/>
            <a:ext cx="5779008" cy="731520"/>
          </a:xfrm>
          <a:prstGeom prst="rect">
            <a:avLst/>
          </a:prstGeom>
          <a:noFill/>
        </p:spPr>
        <p:txBody>
          <a:bodyPr wrap="square" anchor="ctr" lIns="0" rIns="0" tIns="0" bIns="0">
            <a:spAutoFit/>
          </a:bodyPr>
          <a:lstStyle/>
          <a:p>
            <a:pPr algn="l"/>
            <a:r>
              <a:rPr sz="1450" b="0" i="0">
                <a:solidFill>
                  <a:srgbClr val="1F2A44"/>
                </a:solidFill>
                <a:latin typeface="Exo 2"/>
                <a:ea typeface="Exo 2"/>
                <a:cs typeface="Exo 2"/>
              </a:rPr>
              <a:t>Live; draw on 10 Jan 2027</a:t>
            </a:r>
          </a:p>
        </p:txBody>
      </p:sp>
      <p:sp>
        <p:nvSpPr>
          <p:cNvPr id="96" name="Rectangle 95"/>
          <p:cNvSpPr/>
          <p:nvPr/>
        </p:nvSpPr>
        <p:spPr>
          <a:xfrm>
            <a:off x="841248" y="8019288"/>
            <a:ext cx="3291840" cy="731520"/>
          </a:xfrm>
          <a:prstGeom prst="rect">
            <a:avLst/>
          </a:prstGeom>
          <a:solidFill>
            <a:srgbClr val="EEF1F8"/>
          </a:solidFill>
          <a:ln w="9525">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1005840" y="8019288"/>
            <a:ext cx="3017520" cy="731520"/>
          </a:xfrm>
          <a:prstGeom prst="rect">
            <a:avLst/>
          </a:prstGeom>
          <a:noFill/>
        </p:spPr>
        <p:txBody>
          <a:bodyPr wrap="square" anchor="ctr" lIns="0" rIns="0" tIns="0" bIns="0">
            <a:spAutoFit/>
          </a:bodyPr>
          <a:lstStyle/>
          <a:p>
            <a:pPr algn="l"/>
            <a:r>
              <a:rPr sz="1550" b="1" i="0">
                <a:solidFill>
                  <a:srgbClr val="132257"/>
                </a:solidFill>
                <a:latin typeface="Exo 2 Bold"/>
                <a:ea typeface="Exo 2 Bold"/>
                <a:cs typeface="Exo 2 Bold"/>
              </a:rPr>
              <a:t>Google Ads and LinkedIn</a:t>
            </a:r>
          </a:p>
        </p:txBody>
      </p:sp>
      <p:sp>
        <p:nvSpPr>
          <p:cNvPr id="98" name="Rectangle 97"/>
          <p:cNvSpPr/>
          <p:nvPr/>
        </p:nvSpPr>
        <p:spPr>
          <a:xfrm>
            <a:off x="4133088" y="8019288"/>
            <a:ext cx="2743200" cy="731520"/>
          </a:xfrm>
          <a:prstGeom prst="rect">
            <a:avLst/>
          </a:prstGeom>
          <a:solidFill>
            <a:srgbClr val="EEF1F8"/>
          </a:solidFill>
          <a:ln w="9525">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4297680" y="8019288"/>
            <a:ext cx="2468880" cy="731520"/>
          </a:xfrm>
          <a:prstGeom prst="rect">
            <a:avLst/>
          </a:prstGeom>
          <a:noFill/>
        </p:spPr>
        <p:txBody>
          <a:bodyPr wrap="square" anchor="ctr" lIns="0" rIns="0" tIns="0" bIns="0">
            <a:spAutoFit/>
          </a:bodyPr>
          <a:lstStyle/>
          <a:p>
            <a:pPr algn="l"/>
            <a:r>
              <a:rPr sz="1550" b="0" i="0">
                <a:solidFill>
                  <a:srgbClr val="1F2A44"/>
                </a:solidFill>
                <a:latin typeface="Exo 2"/>
                <a:ea typeface="Exo 2"/>
                <a:cs typeface="Exo 2"/>
              </a:rPr>
              <a:t>Saudi, then GCC</a:t>
            </a:r>
          </a:p>
        </p:txBody>
      </p:sp>
      <p:sp>
        <p:nvSpPr>
          <p:cNvPr id="100" name="Rectangle 99"/>
          <p:cNvSpPr/>
          <p:nvPr/>
        </p:nvSpPr>
        <p:spPr>
          <a:xfrm>
            <a:off x="6876288" y="8019288"/>
            <a:ext cx="2377440" cy="731520"/>
          </a:xfrm>
          <a:prstGeom prst="rect">
            <a:avLst/>
          </a:prstGeom>
          <a:solidFill>
            <a:srgbClr val="EEF1F8"/>
          </a:solidFill>
          <a:ln w="9525">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7040880" y="8019288"/>
            <a:ext cx="2103120" cy="731520"/>
          </a:xfrm>
          <a:prstGeom prst="rect">
            <a:avLst/>
          </a:prstGeom>
          <a:noFill/>
        </p:spPr>
        <p:txBody>
          <a:bodyPr wrap="square" anchor="ctr" lIns="0" rIns="0" tIns="0" bIns="0">
            <a:spAutoFit/>
          </a:bodyPr>
          <a:lstStyle/>
          <a:p>
            <a:pPr algn="l"/>
            <a:r>
              <a:rPr sz="1550" b="0" i="0">
                <a:solidFill>
                  <a:srgbClr val="1F2A44"/>
                </a:solidFill>
                <a:latin typeface="Exo 2"/>
                <a:ea typeface="Exo 2"/>
                <a:cs typeface="Exo 2"/>
              </a:rPr>
              <a:t>From 22 Sep</a:t>
            </a:r>
          </a:p>
        </p:txBody>
      </p:sp>
      <p:sp>
        <p:nvSpPr>
          <p:cNvPr id="102" name="Rectangle 101"/>
          <p:cNvSpPr/>
          <p:nvPr/>
        </p:nvSpPr>
        <p:spPr>
          <a:xfrm>
            <a:off x="9253728" y="8019288"/>
            <a:ext cx="2148840" cy="731520"/>
          </a:xfrm>
          <a:prstGeom prst="rect">
            <a:avLst/>
          </a:prstGeom>
          <a:solidFill>
            <a:srgbClr val="EEF1F8"/>
          </a:solidFill>
          <a:ln w="9525">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9418320" y="8019288"/>
            <a:ext cx="1874520" cy="731520"/>
          </a:xfrm>
          <a:prstGeom prst="rect">
            <a:avLst/>
          </a:prstGeom>
          <a:noFill/>
        </p:spPr>
        <p:txBody>
          <a:bodyPr wrap="square" anchor="ctr" lIns="0" rIns="0" tIns="0" bIns="0">
            <a:spAutoFit/>
          </a:bodyPr>
          <a:lstStyle/>
          <a:p>
            <a:pPr algn="l"/>
            <a:r>
              <a:rPr sz="1550" b="1" i="0">
                <a:solidFill>
                  <a:srgbClr val="132257"/>
                </a:solidFill>
                <a:latin typeface="Exo 2 Bold"/>
                <a:ea typeface="Exo 2 Bold"/>
                <a:cs typeface="Exo 2 Bold"/>
              </a:rPr>
              <a:t>30,000</a:t>
            </a:r>
          </a:p>
        </p:txBody>
      </p:sp>
      <p:sp>
        <p:nvSpPr>
          <p:cNvPr id="104" name="Rectangle 103"/>
          <p:cNvSpPr/>
          <p:nvPr/>
        </p:nvSpPr>
        <p:spPr>
          <a:xfrm>
            <a:off x="11402568" y="8019288"/>
            <a:ext cx="6053328" cy="731520"/>
          </a:xfrm>
          <a:prstGeom prst="rect">
            <a:avLst/>
          </a:prstGeom>
          <a:solidFill>
            <a:srgbClr val="EEF1F8"/>
          </a:solidFill>
          <a:ln w="9525">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11567160" y="8019288"/>
            <a:ext cx="5779008" cy="731520"/>
          </a:xfrm>
          <a:prstGeom prst="rect">
            <a:avLst/>
          </a:prstGeom>
          <a:noFill/>
        </p:spPr>
        <p:txBody>
          <a:bodyPr wrap="square" anchor="ctr" lIns="0" rIns="0" tIns="0" bIns="0">
            <a:spAutoFit/>
          </a:bodyPr>
          <a:lstStyle/>
          <a:p>
            <a:pPr algn="l"/>
            <a:r>
              <a:rPr sz="1450" b="0" i="0">
                <a:solidFill>
                  <a:srgbClr val="1F2A44"/>
                </a:solidFill>
                <a:latin typeface="Exo 2"/>
                <a:ea typeface="Exo 2"/>
                <a:cs typeface="Exo 2"/>
              </a:rPr>
              <a:t>70% of September website visits (see next slides)</a:t>
            </a:r>
          </a:p>
        </p:txBody>
      </p:sp>
      <p:sp>
        <p:nvSpPr>
          <p:cNvPr id="106" name="Rectangle 105"/>
          <p:cNvSpPr/>
          <p:nvPr/>
        </p:nvSpPr>
        <p:spPr>
          <a:xfrm>
            <a:off x="841248" y="8915400"/>
            <a:ext cx="16614648" cy="54864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841248" y="8915400"/>
            <a:ext cx="100584" cy="548640"/>
          </a:xfrm>
          <a:prstGeom prst="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1188720" y="8915400"/>
            <a:ext cx="16093440" cy="548640"/>
          </a:xfrm>
          <a:prstGeom prst="rect">
            <a:avLst/>
          </a:prstGeom>
          <a:noFill/>
        </p:spPr>
        <p:txBody>
          <a:bodyPr wrap="square" anchor="ctr" lIns="0" rIns="0" tIns="0" bIns="0">
            <a:spAutoFit/>
          </a:bodyPr>
          <a:lstStyle/>
          <a:p>
            <a:pPr algn="l"/>
            <a:r>
              <a:rPr sz="1450" b="1" i="0">
                <a:solidFill>
                  <a:srgbClr val="132257"/>
                </a:solidFill>
                <a:latin typeface="Exo 2 Bold"/>
                <a:ea typeface="Exo 2 Bold"/>
                <a:cs typeface="Exo 2 Bold"/>
              </a:rPr>
              <a:t>Spent to date: USD 34,482 </a:t>
            </a:r>
            <a:r>
              <a:rPr sz="1450" b="0" i="0">
                <a:solidFill>
                  <a:srgbClr val="1F2A44"/>
                </a:solidFill>
                <a:latin typeface="Exo 2"/>
                <a:ea typeface="Exo 2"/>
                <a:cs typeface="Exo 2"/>
              </a:rPr>
              <a:t>(14 May to 6 Sep, from a USD 80,000 allocated budget), plus USD 30,000 for Google Ads and LinkedIn from Sep to Dec.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DAHXDdVXvpo</dc:identifier>
  <dcterms:modified xsi:type="dcterms:W3CDTF">2011-08-01T06:04:30Z</dcterms:modified>
  <cp:revision>1</cp:revision>
  <dc:title>eMYAA KSA Market Discussion</dc:title>
</cp:coreProperties>
</file>