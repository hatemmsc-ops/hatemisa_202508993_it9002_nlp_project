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Exo 2 Bold" charset="1" panose="00000000000000000000"/>
      <p:regular r:id="rId43"/>
    </p:embeddedFont>
    <p:embeddedFont>
      <p:font typeface="Exo 2" charset="1" panose="00000000000000000000"/>
      <p:regular r:id="rId44"/>
    </p:embeddedFont>
    <p:embeddedFont>
      <p:font typeface="Exo 2 Bold Italics" charset="1" panose="00000000000000000000"/>
      <p:regular r:id="rId49"/>
    </p:embeddedFont>
    <p:embeddedFont>
      <p:font typeface="Exo 2 Italics" charset="1" panose="000000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notesMasters/notesMaster1.xml" Type="http://schemas.openxmlformats.org/officeDocument/2006/relationships/notesMaster"/><Relationship Id="rId41" Target="theme/theme2.xml" Type="http://schemas.openxmlformats.org/officeDocument/2006/relationships/theme"/><Relationship Id="rId42" Target="notesSlides/notesSlide1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2.xml" Type="http://schemas.openxmlformats.org/officeDocument/2006/relationships/notesSlide"/><Relationship Id="rId46" Target="notesSlides/notesSlide3.xml" Type="http://schemas.openxmlformats.org/officeDocument/2006/relationships/notesSlide"/><Relationship Id="rId47" Target="notesSlides/notesSlide4.xml" Type="http://schemas.openxmlformats.org/officeDocument/2006/relationships/notesSlide"/><Relationship Id="rId48" Target="notesSlides/notesSlide5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notesSlides/notesSlide6.xml" Type="http://schemas.openxmlformats.org/officeDocument/2006/relationships/notesSlide"/><Relationship Id="rId52" Target="notesSlides/notesSlide7.xml" Type="http://schemas.openxmlformats.org/officeDocument/2006/relationships/notesSlide"/><Relationship Id="rId53" Target="notesSlides/notesSlide8.xml" Type="http://schemas.openxmlformats.org/officeDocument/2006/relationships/notesSlide"/><Relationship Id="rId54" Target="notesSlides/notesSlide9.xml" Type="http://schemas.openxmlformats.org/officeDocument/2006/relationships/notesSlide"/><Relationship Id="rId55" Target="notesSlides/notesSlide10.xml" Type="http://schemas.openxmlformats.org/officeDocument/2006/relationships/notesSlide"/><Relationship Id="rId56" Target="notesSlides/notesSlide1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- remove the previous marks, they did not see them from before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- remove the previous marks, they did not see them from before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- remove the previous marks, they did not see them from before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- remove the previous marks, they did not see them from before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jpe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jpeg" Type="http://schemas.openxmlformats.org/officeDocument/2006/relationships/image"/><Relationship Id="rId8" Target="../media/image11.jpeg" Type="http://schemas.openxmlformats.org/officeDocument/2006/relationships/image"/><Relationship Id="rId9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0.jpeg" Type="http://schemas.openxmlformats.org/officeDocument/2006/relationships/image"/><Relationship Id="rId8" Target="../media/image5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13.jpe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5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13.jpeg" Type="http://schemas.openxmlformats.org/officeDocument/2006/relationships/image"/><Relationship Id="rId6" Target="../media/image23.png" Type="http://schemas.openxmlformats.org/officeDocument/2006/relationships/image"/><Relationship Id="rId7" Target="../media/image5.png" Type="http://schemas.openxmlformats.org/officeDocument/2006/relationships/image"/><Relationship Id="rId8" Target="../media/image24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13.jpe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5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13.jpe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13.jpe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5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32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35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40.png" Type="http://schemas.openxmlformats.org/officeDocument/2006/relationships/image"/><Relationship Id="rId3" Target="../media/image5.pn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39.jpeg" Type="http://schemas.openxmlformats.org/officeDocument/2006/relationships/image"/><Relationship Id="rId8" Target="../media/image10.jpe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41.jpeg" Type="http://schemas.openxmlformats.org/officeDocument/2006/relationships/image"/><Relationship Id="rId4" Target="../media/image39.jpe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39.jpeg" Type="http://schemas.openxmlformats.org/officeDocument/2006/relationships/image"/><Relationship Id="rId8" Target="../media/image5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5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5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5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3.pn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3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3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46.png" Type="http://schemas.openxmlformats.org/officeDocument/2006/relationships/image"/><Relationship Id="rId8" Target="../media/image5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5.png" Type="http://schemas.openxmlformats.org/officeDocument/2006/relationships/image"/><Relationship Id="rId6" Target="../media/image39.jpeg" Type="http://schemas.openxmlformats.org/officeDocument/2006/relationships/image"/><Relationship Id="rId7" Target="../media/image10.jpe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5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94209" y="4455366"/>
            <a:ext cx="9299572" cy="128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8"/>
              </a:lnSpc>
            </a:pPr>
            <a:r>
              <a:rPr lang="en-US" sz="84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eMYAA PROGRESS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29998" y="5962888"/>
            <a:ext cx="9627984" cy="1206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375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Presentation to Board Executive Committee (BEC)</a:t>
            </a:r>
          </a:p>
          <a:p>
            <a:pPr algn="ctr">
              <a:lnSpc>
                <a:spcPts val="4826"/>
              </a:lnSpc>
            </a:pPr>
            <a:r>
              <a:rPr lang="en-US" sz="3375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Date: Monday, 14</a:t>
            </a:r>
            <a:r>
              <a:rPr lang="en-US" sz="3375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th</a:t>
            </a:r>
            <a:r>
              <a:rPr lang="en-US" sz="3375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September 2026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333" y="1028700"/>
            <a:ext cx="2628995" cy="757142"/>
            <a:chOff x="0" y="0"/>
            <a:chExt cx="3505327" cy="1009523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4" r="0" b="-31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45860" y="2312079"/>
            <a:ext cx="14400009" cy="38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36" b="true">
                <a:solidFill>
                  <a:srgbClr val="0F1634"/>
                </a:solidFill>
                <a:latin typeface="Exo 2 Bold"/>
                <a:ea typeface="Exo 2 Bold"/>
                <a:cs typeface="Exo 2 Bold"/>
                <a:sym typeface="Exo 2 Bold"/>
              </a:rPr>
              <a:t>Executive Summary</a:t>
            </a:r>
          </a:p>
        </p:txBody>
      </p:sp>
      <p:sp>
        <p:nvSpPr>
          <p:cNvPr name="AutoShape 5" id="5"/>
          <p:cNvSpPr/>
          <p:nvPr/>
        </p:nvSpPr>
        <p:spPr>
          <a:xfrm rot="6300">
            <a:off x="2817066" y="2843603"/>
            <a:ext cx="519912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457039" y="2102368"/>
            <a:ext cx="1019556" cy="1005935"/>
            <a:chOff x="0" y="0"/>
            <a:chExt cx="1359408" cy="1341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9408" cy="1341247"/>
            </a:xfrm>
            <a:custGeom>
              <a:avLst/>
              <a:gdLst/>
              <a:ahLst/>
              <a:cxnLst/>
              <a:rect r="r" b="b" t="t" l="l"/>
              <a:pathLst>
                <a:path h="1341247" w="1359408">
                  <a:moveTo>
                    <a:pt x="0" y="0"/>
                  </a:moveTo>
                  <a:lnTo>
                    <a:pt x="1359408" y="0"/>
                  </a:lnTo>
                  <a:lnTo>
                    <a:pt x="1359408" y="1341247"/>
                  </a:lnTo>
                  <a:lnTo>
                    <a:pt x="0" y="1341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7" r="0" b="-67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80808" y="7351852"/>
            <a:ext cx="14378492" cy="3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36" b="true">
                <a:solidFill>
                  <a:srgbClr val="0F1634"/>
                </a:solidFill>
                <a:latin typeface="Exo 2 Bold"/>
                <a:ea typeface="Exo 2 Bold"/>
                <a:cs typeface="Exo 2 Bold"/>
                <a:sym typeface="Exo 2 Bold"/>
              </a:rPr>
              <a:t>Performance Update</a:t>
            </a:r>
          </a:p>
        </p:txBody>
      </p:sp>
      <p:sp>
        <p:nvSpPr>
          <p:cNvPr name="AutoShape 9" id="9"/>
          <p:cNvSpPr/>
          <p:nvPr/>
        </p:nvSpPr>
        <p:spPr>
          <a:xfrm rot="6360">
            <a:off x="2854700" y="7901750"/>
            <a:ext cx="512593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57039" y="7123967"/>
            <a:ext cx="1075468" cy="1060704"/>
            <a:chOff x="0" y="0"/>
            <a:chExt cx="1433957" cy="14142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3957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33957">
                  <a:moveTo>
                    <a:pt x="0" y="0"/>
                  </a:moveTo>
                  <a:lnTo>
                    <a:pt x="1433957" y="0"/>
                  </a:lnTo>
                  <a:lnTo>
                    <a:pt x="1433957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95" r="0" b="-69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57039" y="3751231"/>
            <a:ext cx="1028795" cy="1014603"/>
            <a:chOff x="0" y="0"/>
            <a:chExt cx="1371727" cy="13528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727" cy="1352804"/>
            </a:xfrm>
            <a:custGeom>
              <a:avLst/>
              <a:gdLst/>
              <a:ahLst/>
              <a:cxnLst/>
              <a:rect r="r" b="b" t="t" l="l"/>
              <a:pathLst>
                <a:path h="1352804" w="1371727">
                  <a:moveTo>
                    <a:pt x="0" y="0"/>
                  </a:moveTo>
                  <a:lnTo>
                    <a:pt x="1371727" y="0"/>
                  </a:lnTo>
                  <a:lnTo>
                    <a:pt x="1371727" y="1352804"/>
                  </a:lnTo>
                  <a:lnTo>
                    <a:pt x="0" y="1352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99" r="0" b="-69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0808" y="3923167"/>
            <a:ext cx="5814656" cy="3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36" b="true">
                <a:solidFill>
                  <a:srgbClr val="0F1634"/>
                </a:solidFill>
                <a:latin typeface="Exo 2 Bold"/>
                <a:ea typeface="Exo 2 Bold"/>
                <a:cs typeface="Exo 2 Bold"/>
                <a:sym typeface="Exo 2 Bold"/>
              </a:rPr>
              <a:t>WealthTech Technology Progress Update</a:t>
            </a:r>
          </a:p>
        </p:txBody>
      </p:sp>
      <p:sp>
        <p:nvSpPr>
          <p:cNvPr name="AutoShape 15" id="15"/>
          <p:cNvSpPr/>
          <p:nvPr/>
        </p:nvSpPr>
        <p:spPr>
          <a:xfrm rot="6300">
            <a:off x="2854700" y="4538929"/>
            <a:ext cx="52022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57039" y="5408781"/>
            <a:ext cx="1087279" cy="1072229"/>
            <a:chOff x="0" y="0"/>
            <a:chExt cx="1449705" cy="14296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49705" cy="1429639"/>
            </a:xfrm>
            <a:custGeom>
              <a:avLst/>
              <a:gdLst/>
              <a:ahLst/>
              <a:cxnLst/>
              <a:rect r="r" b="b" t="t" l="l"/>
              <a:pathLst>
                <a:path h="1429639" w="1449705">
                  <a:moveTo>
                    <a:pt x="0" y="0"/>
                  </a:moveTo>
                  <a:lnTo>
                    <a:pt x="1449705" y="0"/>
                  </a:lnTo>
                  <a:lnTo>
                    <a:pt x="1449705" y="1429639"/>
                  </a:lnTo>
                  <a:lnTo>
                    <a:pt x="0" y="1429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01" r="0" b="-70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880808" y="5609530"/>
            <a:ext cx="14378492" cy="3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36" b="true">
                <a:solidFill>
                  <a:srgbClr val="0F1634"/>
                </a:solidFill>
                <a:latin typeface="Exo 2 Bold"/>
                <a:ea typeface="Exo 2 Bold"/>
                <a:cs typeface="Exo 2 Bold"/>
                <a:sym typeface="Exo 2 Bold"/>
              </a:rPr>
              <a:t>Marketing Progress Update</a:t>
            </a:r>
          </a:p>
        </p:txBody>
      </p:sp>
      <p:sp>
        <p:nvSpPr>
          <p:cNvPr name="AutoShape 19" id="19"/>
          <p:cNvSpPr/>
          <p:nvPr/>
        </p:nvSpPr>
        <p:spPr>
          <a:xfrm rot="6300">
            <a:off x="2854700" y="6225292"/>
            <a:ext cx="517704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755847" y="557136"/>
            <a:ext cx="13164598" cy="928783"/>
            <a:chOff x="0" y="0"/>
            <a:chExt cx="17552797" cy="12383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5847" y="549993"/>
            <a:ext cx="13164598" cy="935927"/>
            <a:chOff x="0" y="0"/>
            <a:chExt cx="17552797" cy="1247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5847" y="542849"/>
            <a:ext cx="13164598" cy="943118"/>
            <a:chOff x="0" y="0"/>
            <a:chExt cx="17552797" cy="12574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552797" cy="1257554"/>
            </a:xfrm>
            <a:custGeom>
              <a:avLst/>
              <a:gdLst/>
              <a:ahLst/>
              <a:cxnLst/>
              <a:rect r="r" b="b" t="t" l="l"/>
              <a:pathLst>
                <a:path h="1257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554"/>
                  </a:lnTo>
                  <a:lnTo>
                    <a:pt x="0" y="125755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1783" r="0" b="-22177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5847" y="535705"/>
            <a:ext cx="13164598" cy="950262"/>
            <a:chOff x="0" y="0"/>
            <a:chExt cx="17552797" cy="12670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Agenda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5847" y="557136"/>
            <a:ext cx="13164598" cy="928783"/>
            <a:chOff x="0" y="0"/>
            <a:chExt cx="17552797" cy="12383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5847" y="549993"/>
            <a:ext cx="13164598" cy="935927"/>
            <a:chOff x="0" y="0"/>
            <a:chExt cx="17552797" cy="1247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5847" y="542849"/>
            <a:ext cx="13164598" cy="943118"/>
            <a:chOff x="0" y="0"/>
            <a:chExt cx="17552797" cy="1257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2797" cy="1257554"/>
            </a:xfrm>
            <a:custGeom>
              <a:avLst/>
              <a:gdLst/>
              <a:ahLst/>
              <a:cxnLst/>
              <a:rect r="r" b="b" t="t" l="l"/>
              <a:pathLst>
                <a:path h="1257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554"/>
                  </a:lnTo>
                  <a:lnTo>
                    <a:pt x="0" y="12575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1783" r="0" b="-2217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847" y="535705"/>
            <a:ext cx="13164598" cy="950262"/>
            <a:chOff x="0" y="0"/>
            <a:chExt cx="17552797" cy="1267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Executive Summary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91884" y="2015900"/>
            <a:ext cx="16605885" cy="1357913"/>
            <a:chOff x="0" y="0"/>
            <a:chExt cx="22141180" cy="181055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524764" y="0"/>
              <a:ext cx="21616416" cy="1810512"/>
              <a:chOff x="0" y="0"/>
              <a:chExt cx="21616416" cy="181051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616415" cy="1810512"/>
              </a:xfrm>
              <a:custGeom>
                <a:avLst/>
                <a:gdLst/>
                <a:ahLst/>
                <a:cxnLst/>
                <a:rect r="r" b="b" t="t" l="l"/>
                <a:pathLst>
                  <a:path h="18105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12"/>
                    </a:lnTo>
                    <a:lnTo>
                      <a:pt x="0" y="181051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2477" r="0" b="-182478"/>
                </a:stretch>
              </a:blip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524764" y="0"/>
              <a:ext cx="21616416" cy="1810512"/>
              <a:chOff x="0" y="0"/>
              <a:chExt cx="21616416" cy="181051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616415" cy="1810512"/>
              </a:xfrm>
              <a:custGeom>
                <a:avLst/>
                <a:gdLst/>
                <a:ahLst/>
                <a:cxnLst/>
                <a:rect r="r" b="b" t="t" l="l"/>
                <a:pathLst>
                  <a:path h="18105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12"/>
                    </a:lnTo>
                    <a:lnTo>
                      <a:pt x="0" y="181051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82477" r="0" b="-182478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524764" y="0"/>
              <a:ext cx="21616416" cy="1810550"/>
              <a:chOff x="0" y="0"/>
              <a:chExt cx="21616416" cy="18105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616415" cy="1810512"/>
              </a:xfrm>
              <a:custGeom>
                <a:avLst/>
                <a:gdLst/>
                <a:ahLst/>
                <a:cxnLst/>
                <a:rect r="r" b="b" t="t" l="l"/>
                <a:pathLst>
                  <a:path h="18105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12"/>
                    </a:lnTo>
                    <a:lnTo>
                      <a:pt x="0" y="1810512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82476" r="0" b="-182478"/>
                </a:stretch>
              </a:blip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524764" y="0"/>
              <a:ext cx="21616416" cy="1810550"/>
              <a:chOff x="0" y="0"/>
              <a:chExt cx="21616416" cy="181055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616415" cy="1810551"/>
              </a:xfrm>
              <a:custGeom>
                <a:avLst/>
                <a:gdLst/>
                <a:ahLst/>
                <a:cxnLst/>
                <a:rect r="r" b="b" t="t" l="l"/>
                <a:pathLst>
                  <a:path h="1810551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51"/>
                    </a:lnTo>
                    <a:lnTo>
                      <a:pt x="0" y="181055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2634" r="0" b="-182634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21616416" cy="18105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78"/>
                  </a:lnSpc>
                </a:pPr>
                <a:r>
                  <a:rPr lang="en-US" sz="2648" b="true">
                    <a:solidFill>
                      <a:srgbClr val="0F1634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Quick</a:t>
                </a:r>
                <a:r>
                  <a:rPr lang="en-US" sz="2648" b="true">
                    <a:solidFill>
                      <a:srgbClr val="8A93A8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 </a:t>
                </a:r>
                <a:r>
                  <a:rPr lang="en-US" sz="2648" b="true">
                    <a:solidFill>
                      <a:srgbClr val="0F1634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Summary</a:t>
                </a:r>
              </a:p>
              <a:p>
                <a:pPr algn="l">
                  <a:lnSpc>
                    <a:spcPts val="3179"/>
                  </a:lnSpc>
                </a:pPr>
                <a:r>
                  <a:rPr lang="en-US" sz="26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First Board Executive Committee review since eMYAA's 14 May 2026 launch. Covers platform stability, the marketing agency transition, and performance to date.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64452"/>
              <a:ext cx="370840" cy="324485"/>
              <a:chOff x="0" y="0"/>
              <a:chExt cx="370840" cy="32448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70840" cy="324485"/>
              </a:xfrm>
              <a:custGeom>
                <a:avLst/>
                <a:gdLst/>
                <a:ahLst/>
                <a:cxnLst/>
                <a:rect r="r" b="b" t="t" l="l"/>
                <a:pathLst>
                  <a:path h="324485" w="370840">
                    <a:moveTo>
                      <a:pt x="0" y="0"/>
                    </a:moveTo>
                    <a:lnTo>
                      <a:pt x="370840" y="0"/>
                    </a:lnTo>
                    <a:lnTo>
                      <a:pt x="370840" y="324485"/>
                    </a:lnTo>
                    <a:lnTo>
                      <a:pt x="0" y="32448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32257">
                      <a:alpha val="100000"/>
                    </a:srgbClr>
                  </a:gs>
                  <a:gs pos="100000">
                    <a:srgbClr val="2F6FE0">
                      <a:alpha val="100000"/>
                    </a:srgbClr>
                  </a:gs>
                </a:gsLst>
                <a:lin ang="18900000"/>
              </a:grad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585597" y="3927215"/>
            <a:ext cx="16605885" cy="1357759"/>
            <a:chOff x="0" y="0"/>
            <a:chExt cx="22141180" cy="181034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524764" y="0"/>
              <a:ext cx="21616416" cy="1810345"/>
              <a:chOff x="0" y="0"/>
              <a:chExt cx="21616416" cy="181034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616415" cy="1810349"/>
              </a:xfrm>
              <a:custGeom>
                <a:avLst/>
                <a:gdLst/>
                <a:ahLst/>
                <a:cxnLst/>
                <a:rect r="r" b="b" t="t" l="l"/>
                <a:pathLst>
                  <a:path h="1810349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349"/>
                    </a:lnTo>
                    <a:lnTo>
                      <a:pt x="0" y="1810349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2654" r="0" b="-182665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21616416" cy="18103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79"/>
                  </a:lnSpc>
                </a:pPr>
                <a:r>
                  <a:rPr lang="en-US" sz="2648" b="true">
                    <a:solidFill>
                      <a:srgbClr val="0F1634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WealthTech Technology Recap</a:t>
                </a:r>
              </a:p>
              <a:p>
                <a:pPr algn="l">
                  <a:lnSpc>
                    <a:spcPts val="3178"/>
                  </a:lnSpc>
                </a:pPr>
                <a:r>
                  <a:rPr lang="en-US" sz="26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Platform stability since go-live. Roadmap covering internal systems (Helpdesk, CRM, Reporting Dashboard) and the next client-facing application scheduled for rollout.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64452"/>
              <a:ext cx="370840" cy="324485"/>
              <a:chOff x="0" y="0"/>
              <a:chExt cx="370840" cy="32448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70840" cy="324485"/>
              </a:xfrm>
              <a:custGeom>
                <a:avLst/>
                <a:gdLst/>
                <a:ahLst/>
                <a:cxnLst/>
                <a:rect r="r" b="b" t="t" l="l"/>
                <a:pathLst>
                  <a:path h="324485" w="370840">
                    <a:moveTo>
                      <a:pt x="0" y="0"/>
                    </a:moveTo>
                    <a:lnTo>
                      <a:pt x="370840" y="0"/>
                    </a:lnTo>
                    <a:lnTo>
                      <a:pt x="370840" y="324485"/>
                    </a:lnTo>
                    <a:lnTo>
                      <a:pt x="0" y="32448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32257">
                      <a:alpha val="100000"/>
                    </a:srgbClr>
                  </a:gs>
                  <a:gs pos="100000">
                    <a:srgbClr val="2F6FE0">
                      <a:alpha val="100000"/>
                    </a:srgbClr>
                  </a:gs>
                </a:gsLst>
                <a:lin ang="18900000"/>
              </a:gradFill>
            </p:spPr>
          </p:sp>
        </p:grpSp>
      </p:grpSp>
      <p:grpSp>
        <p:nvGrpSpPr>
          <p:cNvPr name="Group 33" id="33"/>
          <p:cNvGrpSpPr/>
          <p:nvPr/>
        </p:nvGrpSpPr>
        <p:grpSpPr>
          <a:xfrm rot="0">
            <a:off x="585597" y="5838377"/>
            <a:ext cx="16605885" cy="1357903"/>
            <a:chOff x="0" y="0"/>
            <a:chExt cx="22141180" cy="1810537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524764" y="0"/>
              <a:ext cx="21616416" cy="1810512"/>
              <a:chOff x="0" y="0"/>
              <a:chExt cx="21616416" cy="181051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616415" cy="1810512"/>
              </a:xfrm>
              <a:custGeom>
                <a:avLst/>
                <a:gdLst/>
                <a:ahLst/>
                <a:cxnLst/>
                <a:rect r="r" b="b" t="t" l="l"/>
                <a:pathLst>
                  <a:path h="18105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12"/>
                    </a:lnTo>
                    <a:lnTo>
                      <a:pt x="0" y="181051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2477" r="0" b="-182478"/>
                </a:stretch>
              </a:blip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524764" y="0"/>
              <a:ext cx="21616416" cy="1810512"/>
              <a:chOff x="0" y="0"/>
              <a:chExt cx="21616416" cy="181051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616415" cy="1810512"/>
              </a:xfrm>
              <a:custGeom>
                <a:avLst/>
                <a:gdLst/>
                <a:ahLst/>
                <a:cxnLst/>
                <a:rect r="r" b="b" t="t" l="l"/>
                <a:pathLst>
                  <a:path h="18105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12"/>
                    </a:lnTo>
                    <a:lnTo>
                      <a:pt x="0" y="181051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82477" r="0" b="-182478"/>
                </a:stretch>
              </a:blip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524764" y="0"/>
              <a:ext cx="21616416" cy="1810537"/>
              <a:chOff x="0" y="0"/>
              <a:chExt cx="21616416" cy="181053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616415" cy="1810512"/>
              </a:xfrm>
              <a:custGeom>
                <a:avLst/>
                <a:gdLst/>
                <a:ahLst/>
                <a:cxnLst/>
                <a:rect r="r" b="b" t="t" l="l"/>
                <a:pathLst>
                  <a:path h="18105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12"/>
                    </a:lnTo>
                    <a:lnTo>
                      <a:pt x="0" y="1810512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82476" r="0" b="-182478"/>
                </a:stretch>
              </a:blip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4764" y="0"/>
              <a:ext cx="21616416" cy="1810537"/>
              <a:chOff x="0" y="0"/>
              <a:chExt cx="21616416" cy="181053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1616415" cy="1810537"/>
              </a:xfrm>
              <a:custGeom>
                <a:avLst/>
                <a:gdLst/>
                <a:ahLst/>
                <a:cxnLst/>
                <a:rect r="r" b="b" t="t" l="l"/>
                <a:pathLst>
                  <a:path h="1810537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810537"/>
                    </a:lnTo>
                    <a:lnTo>
                      <a:pt x="0" y="181053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2636" r="0" b="-182636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21616416" cy="181053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79"/>
                  </a:lnSpc>
                </a:pPr>
                <a:r>
                  <a:rPr lang="en-US" sz="2648" b="true">
                    <a:solidFill>
                      <a:srgbClr val="0F1634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Marketing</a:t>
                </a:r>
                <a:r>
                  <a:rPr lang="en-US" sz="2648" b="true">
                    <a:solidFill>
                      <a:srgbClr val="8A93A8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 </a:t>
                </a:r>
                <a:r>
                  <a:rPr lang="en-US" sz="2648" b="true">
                    <a:solidFill>
                      <a:srgbClr val="0F1634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Recap</a:t>
                </a:r>
              </a:p>
              <a:p>
                <a:pPr algn="l">
                  <a:lnSpc>
                    <a:spcPts val="3179"/>
                  </a:lnSpc>
                </a:pPr>
                <a:r>
                  <a:rPr lang="en-US" sz="26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The $80,000 budget, the move from TRACCS to specialized partners, and the H2 2026 plan through year end.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64452"/>
              <a:ext cx="370840" cy="324485"/>
              <a:chOff x="0" y="0"/>
              <a:chExt cx="370840" cy="32448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370840" cy="324485"/>
              </a:xfrm>
              <a:custGeom>
                <a:avLst/>
                <a:gdLst/>
                <a:ahLst/>
                <a:cxnLst/>
                <a:rect r="r" b="b" t="t" l="l"/>
                <a:pathLst>
                  <a:path h="324485" w="370840">
                    <a:moveTo>
                      <a:pt x="0" y="0"/>
                    </a:moveTo>
                    <a:lnTo>
                      <a:pt x="370840" y="0"/>
                    </a:lnTo>
                    <a:lnTo>
                      <a:pt x="370840" y="324485"/>
                    </a:lnTo>
                    <a:lnTo>
                      <a:pt x="0" y="32448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32257">
                      <a:alpha val="100000"/>
                    </a:srgbClr>
                  </a:gs>
                  <a:gs pos="100000">
                    <a:srgbClr val="2F6FE0">
                      <a:alpha val="100000"/>
                    </a:srgbClr>
                  </a:gs>
                </a:gsLst>
                <a:lin ang="18900000"/>
              </a:gradFill>
            </p:spPr>
          </p:sp>
        </p:grpSp>
      </p:grpSp>
      <p:grpSp>
        <p:nvGrpSpPr>
          <p:cNvPr name="Group 45" id="45"/>
          <p:cNvGrpSpPr/>
          <p:nvPr/>
        </p:nvGrpSpPr>
        <p:grpSpPr>
          <a:xfrm rot="0">
            <a:off x="585597" y="7749683"/>
            <a:ext cx="16605885" cy="957853"/>
            <a:chOff x="0" y="0"/>
            <a:chExt cx="22141180" cy="1277137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524764" y="0"/>
              <a:ext cx="21616416" cy="1277112"/>
              <a:chOff x="0" y="0"/>
              <a:chExt cx="21616416" cy="127711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1616415" cy="1277112"/>
              </a:xfrm>
              <a:custGeom>
                <a:avLst/>
                <a:gdLst/>
                <a:ahLst/>
                <a:cxnLst/>
                <a:rect r="r" b="b" t="t" l="l"/>
                <a:pathLst>
                  <a:path h="12771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277112"/>
                    </a:lnTo>
                    <a:lnTo>
                      <a:pt x="0" y="127711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9574" r="0" b="-279575"/>
                </a:stretch>
              </a:blip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524764" y="0"/>
              <a:ext cx="21616416" cy="1277112"/>
              <a:chOff x="0" y="0"/>
              <a:chExt cx="21616416" cy="127711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616415" cy="1277112"/>
              </a:xfrm>
              <a:custGeom>
                <a:avLst/>
                <a:gdLst/>
                <a:ahLst/>
                <a:cxnLst/>
                <a:rect r="r" b="b" t="t" l="l"/>
                <a:pathLst>
                  <a:path h="12771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277112"/>
                    </a:lnTo>
                    <a:lnTo>
                      <a:pt x="0" y="127711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79574" r="0" b="-279575"/>
                </a:stretch>
              </a:blip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524764" y="0"/>
              <a:ext cx="21616416" cy="1277137"/>
              <a:chOff x="0" y="0"/>
              <a:chExt cx="21616416" cy="127713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1616415" cy="1277112"/>
              </a:xfrm>
              <a:custGeom>
                <a:avLst/>
                <a:gdLst/>
                <a:ahLst/>
                <a:cxnLst/>
                <a:rect r="r" b="b" t="t" l="l"/>
                <a:pathLst>
                  <a:path h="127711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277112"/>
                    </a:lnTo>
                    <a:lnTo>
                      <a:pt x="0" y="1277112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79573" r="0" b="-279576"/>
                </a:stretch>
              </a:blip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524764" y="0"/>
              <a:ext cx="21616416" cy="1277137"/>
              <a:chOff x="0" y="0"/>
              <a:chExt cx="21616416" cy="1277137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1616415" cy="1277137"/>
              </a:xfrm>
              <a:custGeom>
                <a:avLst/>
                <a:gdLst/>
                <a:ahLst/>
                <a:cxnLst/>
                <a:rect r="r" b="b" t="t" l="l"/>
                <a:pathLst>
                  <a:path h="1277137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277137"/>
                    </a:lnTo>
                    <a:lnTo>
                      <a:pt x="0" y="127713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79797" r="0" b="-279797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21616416" cy="127713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79"/>
                  </a:lnSpc>
                </a:pPr>
                <a:r>
                  <a:rPr lang="en-US" sz="2648" b="true">
                    <a:solidFill>
                      <a:srgbClr val="0F1634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Performance</a:t>
                </a:r>
                <a:r>
                  <a:rPr lang="en-US" sz="2648" b="true">
                    <a:solidFill>
                      <a:srgbClr val="8A93A8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 </a:t>
                </a:r>
                <a:r>
                  <a:rPr lang="en-US" sz="2648" b="true">
                    <a:solidFill>
                      <a:srgbClr val="0F1634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Update</a:t>
                </a:r>
              </a:p>
              <a:p>
                <a:pPr algn="l">
                  <a:lnSpc>
                    <a:spcPts val="3179"/>
                  </a:lnSpc>
                </a:pPr>
                <a:r>
                  <a:rPr lang="en-US" sz="26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Where eMYAA stands against its KPI targets.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164452"/>
              <a:ext cx="370840" cy="324485"/>
              <a:chOff x="0" y="0"/>
              <a:chExt cx="370840" cy="324485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70840" cy="324485"/>
              </a:xfrm>
              <a:custGeom>
                <a:avLst/>
                <a:gdLst/>
                <a:ahLst/>
                <a:cxnLst/>
                <a:rect r="r" b="b" t="t" l="l"/>
                <a:pathLst>
                  <a:path h="324485" w="370840">
                    <a:moveTo>
                      <a:pt x="0" y="0"/>
                    </a:moveTo>
                    <a:lnTo>
                      <a:pt x="370840" y="0"/>
                    </a:lnTo>
                    <a:lnTo>
                      <a:pt x="370840" y="324485"/>
                    </a:lnTo>
                    <a:lnTo>
                      <a:pt x="0" y="32448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32257">
                      <a:alpha val="100000"/>
                    </a:srgbClr>
                  </a:gs>
                  <a:gs pos="100000">
                    <a:srgbClr val="2F6FE0">
                      <a:alpha val="100000"/>
                    </a:srgbClr>
                  </a:gs>
                </a:gsLst>
                <a:lin ang="18900000"/>
              </a:gradFill>
            </p:spPr>
          </p:sp>
        </p:grpSp>
      </p:grpSp>
      <p:sp>
        <p:nvSpPr>
          <p:cNvPr name="TextBox 57" id="57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4500562"/>
            <a:ext cx="18287990" cy="257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0"/>
              </a:lnSpc>
            </a:pPr>
            <a:r>
              <a:rPr lang="en-US" sz="84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WealthTech Technology </a:t>
            </a:r>
          </a:p>
          <a:p>
            <a:pPr algn="ctr">
              <a:lnSpc>
                <a:spcPts val="10198"/>
              </a:lnSpc>
            </a:pPr>
            <a:r>
              <a:rPr lang="en-US" sz="84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Progress Update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4" r="0" b="-31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3378" y="781164"/>
            <a:ext cx="13164598" cy="928783"/>
            <a:chOff x="0" y="0"/>
            <a:chExt cx="17552797" cy="12383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3378" y="774021"/>
            <a:ext cx="13164598" cy="935927"/>
            <a:chOff x="0" y="0"/>
            <a:chExt cx="17552797" cy="1247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378" y="766877"/>
            <a:ext cx="13164598" cy="943118"/>
            <a:chOff x="0" y="0"/>
            <a:chExt cx="17552797" cy="1257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1257427"/>
            </a:xfrm>
            <a:custGeom>
              <a:avLst/>
              <a:gdLst/>
              <a:ahLst/>
              <a:cxnLst/>
              <a:rect r="r" b="b" t="t" l="l"/>
              <a:pathLst>
                <a:path h="125742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427"/>
                  </a:lnTo>
                  <a:lnTo>
                    <a:pt x="0" y="12574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1805" r="0" b="-22181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378" y="759733"/>
            <a:ext cx="13164598" cy="950262"/>
            <a:chOff x="0" y="0"/>
            <a:chExt cx="17552797" cy="1267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Summary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8066" y="872871"/>
            <a:ext cx="115062" cy="732282"/>
            <a:chOff x="0" y="0"/>
            <a:chExt cx="153416" cy="976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28066" y="2139991"/>
            <a:ext cx="17190720" cy="1823847"/>
            <a:chOff x="0" y="0"/>
            <a:chExt cx="22920960" cy="243179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2920960" cy="2431796"/>
              <a:chOff x="0" y="0"/>
              <a:chExt cx="22920960" cy="243179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920961" cy="2431796"/>
              </a:xfrm>
              <a:custGeom>
                <a:avLst/>
                <a:gdLst/>
                <a:ahLst/>
                <a:cxnLst/>
                <a:rect r="r" b="b" t="t" l="l"/>
                <a:pathLst>
                  <a:path h="2431796" w="22920961">
                    <a:moveTo>
                      <a:pt x="0" y="0"/>
                    </a:moveTo>
                    <a:lnTo>
                      <a:pt x="22920961" y="0"/>
                    </a:lnTo>
                    <a:lnTo>
                      <a:pt x="22920961" y="2431796"/>
                    </a:lnTo>
                    <a:lnTo>
                      <a:pt x="0" y="2431796"/>
                    </a:lnTo>
                    <a:close/>
                  </a:path>
                </a:pathLst>
              </a:custGeom>
              <a:solidFill>
                <a:srgbClr val="F7F9FC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73152" cy="2431796"/>
              <a:chOff x="0" y="0"/>
              <a:chExt cx="73152" cy="243179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3152" cy="2431796"/>
              </a:xfrm>
              <a:custGeom>
                <a:avLst/>
                <a:gdLst/>
                <a:ahLst/>
                <a:cxnLst/>
                <a:rect r="r" b="b" t="t" l="l"/>
                <a:pathLst>
                  <a:path h="2431796" w="73152">
                    <a:moveTo>
                      <a:pt x="0" y="0"/>
                    </a:moveTo>
                    <a:lnTo>
                      <a:pt x="73152" y="0"/>
                    </a:lnTo>
                    <a:lnTo>
                      <a:pt x="73152" y="2431796"/>
                    </a:lnTo>
                    <a:lnTo>
                      <a:pt x="0" y="2431796"/>
                    </a:lnTo>
                    <a:close/>
                  </a:path>
                </a:pathLst>
              </a:custGeom>
              <a:solidFill>
                <a:srgbClr val="C9A227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426720" y="212598"/>
              <a:ext cx="7208241" cy="8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7"/>
                </a:lnSpc>
              </a:pPr>
              <a:r>
                <a:rPr lang="en-US" sz="2047" b="true">
                  <a:solidFill>
                    <a:srgbClr val="C9A22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PLATFORM PROGRESS</a:t>
              </a:r>
            </a:p>
            <a:p>
              <a:pPr algn="l">
                <a:lnSpc>
                  <a:spcPts val="2458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26720" y="612521"/>
              <a:ext cx="22067520" cy="1659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0588" indent="-150147" lvl="3">
                <a:lnSpc>
                  <a:spcPts val="3299"/>
                </a:lnSpc>
                <a:buFont typeface="Arial"/>
                <a:buChar char="￭"/>
              </a:pPr>
              <a:r>
                <a:rPr lang="en-US" sz="2199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Go-live achieved on 14 May 2026.</a:t>
              </a:r>
            </a:p>
            <a:p>
              <a:pPr algn="l" marL="600588" indent="-150147" lvl="3">
                <a:lnSpc>
                  <a:spcPts val="3299"/>
                </a:lnSpc>
                <a:buFont typeface="Arial"/>
                <a:buChar char="￭"/>
              </a:pPr>
              <a:r>
                <a:rPr lang="en-US" sz="2199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Continuous development to enhance platform capabilities, user experience, and operational efficiency.</a:t>
              </a:r>
            </a:p>
            <a:p>
              <a:pPr algn="l" marL="600588" indent="-150147" lvl="3">
                <a:lnSpc>
                  <a:spcPts val="3299"/>
                </a:lnSpc>
                <a:buFont typeface="Arial"/>
                <a:buChar char="￭"/>
              </a:pPr>
              <a:r>
                <a:rPr lang="en-US" sz="2199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Demonstrated resilience during the regional conflict, with limited operational impact and prompt service recovery.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5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8066" y="4710693"/>
            <a:ext cx="17190720" cy="1358267"/>
            <a:chOff x="0" y="0"/>
            <a:chExt cx="22920960" cy="181102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2920960" cy="1811022"/>
              <a:chOff x="0" y="0"/>
              <a:chExt cx="22920960" cy="181102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920961" cy="1811022"/>
              </a:xfrm>
              <a:custGeom>
                <a:avLst/>
                <a:gdLst/>
                <a:ahLst/>
                <a:cxnLst/>
                <a:rect r="r" b="b" t="t" l="l"/>
                <a:pathLst>
                  <a:path h="1811022" w="22920961">
                    <a:moveTo>
                      <a:pt x="0" y="0"/>
                    </a:moveTo>
                    <a:lnTo>
                      <a:pt x="22920961" y="0"/>
                    </a:lnTo>
                    <a:lnTo>
                      <a:pt x="22920961" y="1811022"/>
                    </a:lnTo>
                    <a:lnTo>
                      <a:pt x="0" y="1811022"/>
                    </a:lnTo>
                    <a:close/>
                  </a:path>
                </a:pathLst>
              </a:custGeom>
              <a:solidFill>
                <a:srgbClr val="F7F9FC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20523" y="0"/>
              <a:ext cx="63500" cy="1811022"/>
              <a:chOff x="0" y="0"/>
              <a:chExt cx="63500" cy="181102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500" cy="1811022"/>
              </a:xfrm>
              <a:custGeom>
                <a:avLst/>
                <a:gdLst/>
                <a:ahLst/>
                <a:cxnLst/>
                <a:rect r="r" b="b" t="t" l="l"/>
                <a:pathLst>
                  <a:path h="1811022" w="63500">
                    <a:moveTo>
                      <a:pt x="0" y="0"/>
                    </a:moveTo>
                    <a:lnTo>
                      <a:pt x="63500" y="0"/>
                    </a:lnTo>
                    <a:lnTo>
                      <a:pt x="63500" y="1811022"/>
                    </a:lnTo>
                    <a:lnTo>
                      <a:pt x="0" y="1811022"/>
                    </a:lnTo>
                    <a:close/>
                  </a:path>
                </a:pathLst>
              </a:custGeom>
              <a:solidFill>
                <a:srgbClr val="C9A227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426720" y="212598"/>
              <a:ext cx="10921467" cy="40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8"/>
                </a:lnSpc>
              </a:pPr>
              <a:r>
                <a:rPr lang="en-US" sz="2046" b="true">
                  <a:solidFill>
                    <a:srgbClr val="C9A22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NEXT APPLICATION RELEASE (PLANNED Q4 2026)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26720" y="710806"/>
              <a:ext cx="22067520" cy="898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0602" indent="-150151" lvl="3">
                <a:lnSpc>
                  <a:spcPts val="2639"/>
                </a:lnSpc>
                <a:buFont typeface="Arial"/>
                <a:buChar char="￭"/>
              </a:pPr>
              <a:r>
                <a:rPr lang="en-US" sz="2198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New application to be delivered by EXANTE in Q4 2026, moving from the current MVP to a more refined, enhanced app with a cleaner, more intuitive UI/UX for a better trading experience.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8066" y="6815814"/>
            <a:ext cx="17190720" cy="1326007"/>
            <a:chOff x="0" y="0"/>
            <a:chExt cx="22920960" cy="176801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2920960" cy="1768010"/>
              <a:chOff x="0" y="0"/>
              <a:chExt cx="22920960" cy="176801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920961" cy="1767954"/>
              </a:xfrm>
              <a:custGeom>
                <a:avLst/>
                <a:gdLst/>
                <a:ahLst/>
                <a:cxnLst/>
                <a:rect r="r" b="b" t="t" l="l"/>
                <a:pathLst>
                  <a:path h="1767954" w="22920961">
                    <a:moveTo>
                      <a:pt x="0" y="0"/>
                    </a:moveTo>
                    <a:lnTo>
                      <a:pt x="22920961" y="0"/>
                    </a:lnTo>
                    <a:lnTo>
                      <a:pt x="22920961" y="1767954"/>
                    </a:lnTo>
                    <a:lnTo>
                      <a:pt x="0" y="1767954"/>
                    </a:lnTo>
                    <a:close/>
                  </a:path>
                </a:pathLst>
              </a:custGeom>
              <a:solidFill>
                <a:srgbClr val="F7F9FC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20523" y="0"/>
              <a:ext cx="63500" cy="1768010"/>
              <a:chOff x="0" y="0"/>
              <a:chExt cx="63500" cy="176801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3500" cy="1768010"/>
              </a:xfrm>
              <a:custGeom>
                <a:avLst/>
                <a:gdLst/>
                <a:ahLst/>
                <a:cxnLst/>
                <a:rect r="r" b="b" t="t" l="l"/>
                <a:pathLst>
                  <a:path h="1768010" w="63500">
                    <a:moveTo>
                      <a:pt x="0" y="0"/>
                    </a:moveTo>
                    <a:lnTo>
                      <a:pt x="63500" y="0"/>
                    </a:lnTo>
                    <a:lnTo>
                      <a:pt x="63500" y="1768010"/>
                    </a:lnTo>
                    <a:lnTo>
                      <a:pt x="0" y="1768010"/>
                    </a:lnTo>
                    <a:close/>
                  </a:path>
                </a:pathLst>
              </a:custGeom>
              <a:solidFill>
                <a:srgbClr val="C9A227"/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426720" y="212598"/>
              <a:ext cx="4170839" cy="43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9"/>
                </a:lnSpc>
              </a:pPr>
              <a:r>
                <a:rPr lang="en-US" sz="2147" b="true">
                  <a:solidFill>
                    <a:srgbClr val="C9A22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Technology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26720" y="625069"/>
              <a:ext cx="22067520" cy="898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0602" indent="-150151" lvl="3">
                <a:lnSpc>
                  <a:spcPts val="2639"/>
                </a:lnSpc>
                <a:spcBef>
                  <a:spcPct val="0"/>
                </a:spcBef>
                <a:buFont typeface="Arial"/>
                <a:buChar char="￭"/>
              </a:pPr>
              <a:r>
                <a:rPr lang="en-US" sz="2198" strike="noStrike" u="none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Three internal systems are planned for deployment: Helpdesk, CRM, and a Real-Time Reporting Dashboard, to strengthen internal operations and reporting.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2291039"/>
            <a:ext cx="5364290" cy="4472940"/>
            <a:chOff x="0" y="0"/>
            <a:chExt cx="7152386" cy="5963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52386" cy="5963920"/>
            </a:xfrm>
            <a:custGeom>
              <a:avLst/>
              <a:gdLst/>
              <a:ahLst/>
              <a:cxnLst/>
              <a:rect r="r" b="b" t="t" l="l"/>
              <a:pathLst>
                <a:path h="5963920" w="7152386">
                  <a:moveTo>
                    <a:pt x="0" y="156464"/>
                  </a:moveTo>
                  <a:cubicBezTo>
                    <a:pt x="0" y="70104"/>
                    <a:pt x="65532" y="0"/>
                    <a:pt x="146304" y="0"/>
                  </a:cubicBezTo>
                  <a:lnTo>
                    <a:pt x="7006082" y="0"/>
                  </a:lnTo>
                  <a:cubicBezTo>
                    <a:pt x="7086853" y="0"/>
                    <a:pt x="7152386" y="70104"/>
                    <a:pt x="7152386" y="156464"/>
                  </a:cubicBezTo>
                  <a:lnTo>
                    <a:pt x="7152386" y="5807456"/>
                  </a:lnTo>
                  <a:cubicBezTo>
                    <a:pt x="7152386" y="5893816"/>
                    <a:pt x="7086853" y="5963920"/>
                    <a:pt x="7006082" y="5963920"/>
                  </a:cubicBezTo>
                  <a:lnTo>
                    <a:pt x="146304" y="5963920"/>
                  </a:lnTo>
                  <a:cubicBezTo>
                    <a:pt x="65532" y="5963920"/>
                    <a:pt x="0" y="5893816"/>
                    <a:pt x="0" y="5807456"/>
                  </a:cubicBezTo>
                  <a:close/>
                </a:path>
              </a:pathLst>
            </a:custGeom>
            <a:solidFill>
              <a:srgbClr val="F3F6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33939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633939"/>
            <a:ext cx="685800" cy="685800"/>
            <a:chOff x="0" y="0"/>
            <a:chExt cx="914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626795"/>
            <a:ext cx="685800" cy="692944"/>
            <a:chOff x="0" y="0"/>
            <a:chExt cx="914400" cy="923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23925"/>
            </a:xfrm>
            <a:custGeom>
              <a:avLst/>
              <a:gdLst/>
              <a:ahLst/>
              <a:cxnLst/>
              <a:rect r="r" b="b" t="t" l="l"/>
              <a:pathLst>
                <a:path h="9239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30" t="0" r="-79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619651"/>
            <a:ext cx="685800" cy="700088"/>
            <a:chOff x="0" y="0"/>
            <a:chExt cx="914400" cy="933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33450"/>
            </a:xfrm>
            <a:custGeom>
              <a:avLst/>
              <a:gdLst/>
              <a:ahLst/>
              <a:cxnLst/>
              <a:rect r="r" b="b" t="t" l="l"/>
              <a:pathLst>
                <a:path h="93345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976" t="0" r="-8097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20240" y="2592791"/>
            <a:ext cx="3855529" cy="685800"/>
            <a:chOff x="0" y="0"/>
            <a:chExt cx="5140706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40706" cy="914400"/>
            </a:xfrm>
            <a:custGeom>
              <a:avLst/>
              <a:gdLst/>
              <a:ahLst/>
              <a:cxnLst/>
              <a:rect r="r" b="b" t="t" l="l"/>
              <a:pathLst>
                <a:path h="914400" w="5140706">
                  <a:moveTo>
                    <a:pt x="0" y="0"/>
                  </a:moveTo>
                  <a:lnTo>
                    <a:pt x="5140706" y="0"/>
                  </a:lnTo>
                  <a:lnTo>
                    <a:pt x="51407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68" r="0" b="-5946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20240" y="2585647"/>
            <a:ext cx="3855568" cy="692944"/>
            <a:chOff x="0" y="0"/>
            <a:chExt cx="5140757" cy="9239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40706" cy="923925"/>
            </a:xfrm>
            <a:custGeom>
              <a:avLst/>
              <a:gdLst/>
              <a:ahLst/>
              <a:cxnLst/>
              <a:rect r="r" b="b" t="t" l="l"/>
              <a:pathLst>
                <a:path h="923925" w="5140706">
                  <a:moveTo>
                    <a:pt x="0" y="0"/>
                  </a:moveTo>
                  <a:lnTo>
                    <a:pt x="5140706" y="0"/>
                  </a:lnTo>
                  <a:lnTo>
                    <a:pt x="5140706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39" r="0" b="-5834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20240" y="2578503"/>
            <a:ext cx="3855568" cy="700088"/>
            <a:chOff x="0" y="0"/>
            <a:chExt cx="5140757" cy="933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0758" cy="933450"/>
            </a:xfrm>
            <a:custGeom>
              <a:avLst/>
              <a:gdLst/>
              <a:ahLst/>
              <a:cxnLst/>
              <a:rect r="r" b="b" t="t" l="l"/>
              <a:pathLst>
                <a:path h="933450" w="5140758">
                  <a:moveTo>
                    <a:pt x="0" y="0"/>
                  </a:moveTo>
                  <a:lnTo>
                    <a:pt x="5140758" y="0"/>
                  </a:lnTo>
                  <a:lnTo>
                    <a:pt x="5140758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09" r="0" b="-573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140757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Helpdesk Deployment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3456899"/>
            <a:ext cx="4678490" cy="411480"/>
            <a:chOff x="0" y="0"/>
            <a:chExt cx="6237986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7986" cy="548640"/>
            </a:xfrm>
            <a:custGeom>
              <a:avLst/>
              <a:gdLst/>
              <a:ahLst/>
              <a:cxnLst/>
              <a:rect r="r" b="b" t="t" l="l"/>
              <a:pathLst>
                <a:path h="548640" w="623798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28258" y="0"/>
                  </a:lnTo>
                  <a:cubicBezTo>
                    <a:pt x="6188837" y="0"/>
                    <a:pt x="6237986" y="49149"/>
                    <a:pt x="6237986" y="109728"/>
                  </a:cubicBezTo>
                  <a:lnTo>
                    <a:pt x="6237986" y="438912"/>
                  </a:lnTo>
                  <a:cubicBezTo>
                    <a:pt x="6237986" y="499491"/>
                    <a:pt x="6188837" y="548640"/>
                    <a:pt x="6128258" y="548640"/>
                  </a:cubicBezTo>
                  <a:lnTo>
                    <a:pt x="109728" y="548640"/>
                  </a:lnTo>
                  <a:cubicBezTo>
                    <a:pt x="49149" y="548640"/>
                    <a:pt x="0" y="499491"/>
                    <a:pt x="0" y="43891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3456899"/>
            <a:ext cx="4678490" cy="411480"/>
            <a:chOff x="0" y="0"/>
            <a:chExt cx="6237986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37986" cy="548640"/>
            </a:xfrm>
            <a:custGeom>
              <a:avLst/>
              <a:gdLst/>
              <a:ahLst/>
              <a:cxnLst/>
              <a:rect r="r" b="b" t="t" l="l"/>
              <a:pathLst>
                <a:path h="548640" w="6237986">
                  <a:moveTo>
                    <a:pt x="0" y="0"/>
                  </a:moveTo>
                  <a:lnTo>
                    <a:pt x="6237986" y="0"/>
                  </a:lnTo>
                  <a:lnTo>
                    <a:pt x="623798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388" r="0" b="-17138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3449755"/>
            <a:ext cx="4678528" cy="418624"/>
            <a:chOff x="0" y="0"/>
            <a:chExt cx="6238037" cy="5581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37986" cy="558165"/>
            </a:xfrm>
            <a:custGeom>
              <a:avLst/>
              <a:gdLst/>
              <a:ahLst/>
              <a:cxnLst/>
              <a:rect r="r" b="b" t="t" l="l"/>
              <a:pathLst>
                <a:path h="558165" w="6237986">
                  <a:moveTo>
                    <a:pt x="0" y="0"/>
                  </a:moveTo>
                  <a:lnTo>
                    <a:pt x="6237986" y="0"/>
                  </a:lnTo>
                  <a:lnTo>
                    <a:pt x="6237986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13" r="0" b="-16761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8700" y="3442611"/>
            <a:ext cx="4678528" cy="425768"/>
            <a:chOff x="0" y="0"/>
            <a:chExt cx="6238037" cy="5676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38037" cy="567690"/>
            </a:xfrm>
            <a:custGeom>
              <a:avLst/>
              <a:gdLst/>
              <a:ahLst/>
              <a:cxnLst/>
              <a:rect r="r" b="b" t="t" l="l"/>
              <a:pathLst>
                <a:path h="567690" w="6238037">
                  <a:moveTo>
                    <a:pt x="0" y="0"/>
                  </a:moveTo>
                  <a:lnTo>
                    <a:pt x="6238037" y="0"/>
                  </a:lnTo>
                  <a:lnTo>
                    <a:pt x="6238037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110" r="0" b="-1641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238037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75">
                  <a:solidFill>
                    <a:srgbClr val="1E276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TARGET  20 Sep 2026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5143967"/>
            <a:ext cx="2125980" cy="384048"/>
            <a:chOff x="0" y="0"/>
            <a:chExt cx="283464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8700" y="5136823"/>
            <a:ext cx="2125980" cy="391192"/>
            <a:chOff x="0" y="0"/>
            <a:chExt cx="2834640" cy="5215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8700" y="5129679"/>
            <a:ext cx="2125980" cy="398336"/>
            <a:chOff x="0" y="0"/>
            <a:chExt cx="2834640" cy="5311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EXPLORING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512668" y="5157683"/>
            <a:ext cx="2194560" cy="356616"/>
            <a:chOff x="0" y="0"/>
            <a:chExt cx="2926080" cy="4754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4F5E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2668" y="5157683"/>
            <a:ext cx="2194560" cy="356616"/>
            <a:chOff x="0" y="0"/>
            <a:chExt cx="2926080" cy="475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512668" y="5150539"/>
            <a:ext cx="2194560" cy="363760"/>
            <a:chOff x="0" y="0"/>
            <a:chExt cx="2926080" cy="48501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512668" y="5143395"/>
            <a:ext cx="2194560" cy="370904"/>
            <a:chOff x="0" y="0"/>
            <a:chExt cx="2926080" cy="4945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1E9E6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DONE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5651459"/>
            <a:ext cx="2125980" cy="384048"/>
            <a:chOff x="0" y="0"/>
            <a:chExt cx="2834640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28700" y="5644315"/>
            <a:ext cx="2125980" cy="391192"/>
            <a:chOff x="0" y="0"/>
            <a:chExt cx="2834640" cy="5215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28700" y="5637171"/>
            <a:ext cx="2125980" cy="398336"/>
            <a:chOff x="0" y="0"/>
            <a:chExt cx="2834640" cy="5311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PLANNING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512668" y="5665175"/>
            <a:ext cx="2194560" cy="356616"/>
            <a:chOff x="0" y="0"/>
            <a:chExt cx="2926080" cy="4754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4F5E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512668" y="5665175"/>
            <a:ext cx="2194560" cy="356616"/>
            <a:chOff x="0" y="0"/>
            <a:chExt cx="2926080" cy="4754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512668" y="5658031"/>
            <a:ext cx="2194560" cy="363760"/>
            <a:chOff x="0" y="0"/>
            <a:chExt cx="2926080" cy="48501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512668" y="5650887"/>
            <a:ext cx="2194560" cy="370904"/>
            <a:chOff x="0" y="0"/>
            <a:chExt cx="2926080" cy="49453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1E9E6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DONE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28700" y="6158951"/>
            <a:ext cx="2125980" cy="384048"/>
            <a:chOff x="0" y="0"/>
            <a:chExt cx="2834640" cy="5120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28700" y="6151807"/>
            <a:ext cx="2125980" cy="391192"/>
            <a:chOff x="0" y="0"/>
            <a:chExt cx="2834640" cy="52158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8700" y="6144663"/>
            <a:ext cx="2125980" cy="398336"/>
            <a:chOff x="0" y="0"/>
            <a:chExt cx="2834640" cy="5311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DEPLOYMENT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512668" y="6172667"/>
            <a:ext cx="2194560" cy="356616"/>
            <a:chOff x="0" y="0"/>
            <a:chExt cx="2926080" cy="475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FBF0D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3512668" y="6172667"/>
            <a:ext cx="2194560" cy="356616"/>
            <a:chOff x="0" y="0"/>
            <a:chExt cx="2926080" cy="4754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3512668" y="6165523"/>
            <a:ext cx="2194560" cy="363760"/>
            <a:chOff x="0" y="0"/>
            <a:chExt cx="2926080" cy="48501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512668" y="6158379"/>
            <a:ext cx="2194560" cy="370904"/>
            <a:chOff x="0" y="0"/>
            <a:chExt cx="2926080" cy="49453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D98C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IN PROGRESS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461608" y="2291039"/>
            <a:ext cx="5364290" cy="4472940"/>
            <a:chOff x="0" y="0"/>
            <a:chExt cx="7152386" cy="59639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52386" cy="5963920"/>
            </a:xfrm>
            <a:custGeom>
              <a:avLst/>
              <a:gdLst/>
              <a:ahLst/>
              <a:cxnLst/>
              <a:rect r="r" b="b" t="t" l="l"/>
              <a:pathLst>
                <a:path h="5963920" w="7152386">
                  <a:moveTo>
                    <a:pt x="0" y="156464"/>
                  </a:moveTo>
                  <a:cubicBezTo>
                    <a:pt x="0" y="70104"/>
                    <a:pt x="65532" y="0"/>
                    <a:pt x="146304" y="0"/>
                  </a:cubicBezTo>
                  <a:lnTo>
                    <a:pt x="7006082" y="0"/>
                  </a:lnTo>
                  <a:cubicBezTo>
                    <a:pt x="7086853" y="0"/>
                    <a:pt x="7152386" y="70104"/>
                    <a:pt x="7152386" y="156464"/>
                  </a:cubicBezTo>
                  <a:lnTo>
                    <a:pt x="7152386" y="5807456"/>
                  </a:lnTo>
                  <a:cubicBezTo>
                    <a:pt x="7152386" y="5893816"/>
                    <a:pt x="7086853" y="5963920"/>
                    <a:pt x="7006082" y="5963920"/>
                  </a:cubicBezTo>
                  <a:lnTo>
                    <a:pt x="146304" y="5963920"/>
                  </a:lnTo>
                  <a:cubicBezTo>
                    <a:pt x="65532" y="5963920"/>
                    <a:pt x="0" y="5893816"/>
                    <a:pt x="0" y="5807456"/>
                  </a:cubicBezTo>
                  <a:close/>
                </a:path>
              </a:pathLst>
            </a:custGeom>
            <a:solidFill>
              <a:srgbClr val="F3F6FC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804508" y="2633939"/>
            <a:ext cx="685800" cy="685800"/>
            <a:chOff x="0" y="0"/>
            <a:chExt cx="914400" cy="914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804508" y="2633939"/>
            <a:ext cx="685800" cy="685800"/>
            <a:chOff x="0" y="0"/>
            <a:chExt cx="914400" cy="914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804508" y="2626795"/>
            <a:ext cx="685800" cy="692944"/>
            <a:chOff x="0" y="0"/>
            <a:chExt cx="914400" cy="92392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" cy="923925"/>
            </a:xfrm>
            <a:custGeom>
              <a:avLst/>
              <a:gdLst/>
              <a:ahLst/>
              <a:cxnLst/>
              <a:rect r="r" b="b" t="t" l="l"/>
              <a:pathLst>
                <a:path h="9239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30" t="0" r="-7973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804508" y="2619651"/>
            <a:ext cx="685800" cy="700088"/>
            <a:chOff x="0" y="0"/>
            <a:chExt cx="914400" cy="9334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933450"/>
            </a:xfrm>
            <a:custGeom>
              <a:avLst/>
              <a:gdLst/>
              <a:ahLst/>
              <a:cxnLst/>
              <a:rect r="r" b="b" t="t" l="l"/>
              <a:pathLst>
                <a:path h="93345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976" t="0" r="-80976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02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696048" y="2592791"/>
            <a:ext cx="3855529" cy="685800"/>
            <a:chOff x="0" y="0"/>
            <a:chExt cx="5140706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140706" cy="914400"/>
            </a:xfrm>
            <a:custGeom>
              <a:avLst/>
              <a:gdLst/>
              <a:ahLst/>
              <a:cxnLst/>
              <a:rect r="r" b="b" t="t" l="l"/>
              <a:pathLst>
                <a:path h="914400" w="5140706">
                  <a:moveTo>
                    <a:pt x="0" y="0"/>
                  </a:moveTo>
                  <a:lnTo>
                    <a:pt x="5140706" y="0"/>
                  </a:lnTo>
                  <a:lnTo>
                    <a:pt x="51407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68" r="0" b="-59466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696048" y="2585647"/>
            <a:ext cx="3855568" cy="692944"/>
            <a:chOff x="0" y="0"/>
            <a:chExt cx="5140757" cy="92392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140706" cy="923925"/>
            </a:xfrm>
            <a:custGeom>
              <a:avLst/>
              <a:gdLst/>
              <a:ahLst/>
              <a:cxnLst/>
              <a:rect r="r" b="b" t="t" l="l"/>
              <a:pathLst>
                <a:path h="923925" w="5140706">
                  <a:moveTo>
                    <a:pt x="0" y="0"/>
                  </a:moveTo>
                  <a:lnTo>
                    <a:pt x="5140706" y="0"/>
                  </a:lnTo>
                  <a:lnTo>
                    <a:pt x="5140706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39" r="0" b="-5834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7696048" y="2578503"/>
            <a:ext cx="3855568" cy="700088"/>
            <a:chOff x="0" y="0"/>
            <a:chExt cx="5140757" cy="9334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140758" cy="933450"/>
            </a:xfrm>
            <a:custGeom>
              <a:avLst/>
              <a:gdLst/>
              <a:ahLst/>
              <a:cxnLst/>
              <a:rect r="r" b="b" t="t" l="l"/>
              <a:pathLst>
                <a:path h="933450" w="5140758">
                  <a:moveTo>
                    <a:pt x="0" y="0"/>
                  </a:moveTo>
                  <a:lnTo>
                    <a:pt x="5140758" y="0"/>
                  </a:lnTo>
                  <a:lnTo>
                    <a:pt x="5140758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09" r="0" b="-5730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5140757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CRM Rollout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804508" y="3456899"/>
            <a:ext cx="4678490" cy="411480"/>
            <a:chOff x="0" y="0"/>
            <a:chExt cx="6237986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7986" cy="548640"/>
            </a:xfrm>
            <a:custGeom>
              <a:avLst/>
              <a:gdLst/>
              <a:ahLst/>
              <a:cxnLst/>
              <a:rect r="r" b="b" t="t" l="l"/>
              <a:pathLst>
                <a:path h="548640" w="623798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28258" y="0"/>
                  </a:lnTo>
                  <a:cubicBezTo>
                    <a:pt x="6188837" y="0"/>
                    <a:pt x="6237986" y="49149"/>
                    <a:pt x="6237986" y="109728"/>
                  </a:cubicBezTo>
                  <a:lnTo>
                    <a:pt x="6237986" y="438912"/>
                  </a:lnTo>
                  <a:cubicBezTo>
                    <a:pt x="6237986" y="499491"/>
                    <a:pt x="6188837" y="548640"/>
                    <a:pt x="6128258" y="548640"/>
                  </a:cubicBezTo>
                  <a:lnTo>
                    <a:pt x="109728" y="548640"/>
                  </a:lnTo>
                  <a:cubicBezTo>
                    <a:pt x="49149" y="548640"/>
                    <a:pt x="0" y="499491"/>
                    <a:pt x="0" y="43891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804508" y="3456899"/>
            <a:ext cx="4678490" cy="411480"/>
            <a:chOff x="0" y="0"/>
            <a:chExt cx="6237986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237986" cy="548640"/>
            </a:xfrm>
            <a:custGeom>
              <a:avLst/>
              <a:gdLst/>
              <a:ahLst/>
              <a:cxnLst/>
              <a:rect r="r" b="b" t="t" l="l"/>
              <a:pathLst>
                <a:path h="548640" w="6237986">
                  <a:moveTo>
                    <a:pt x="0" y="0"/>
                  </a:moveTo>
                  <a:lnTo>
                    <a:pt x="6237986" y="0"/>
                  </a:lnTo>
                  <a:lnTo>
                    <a:pt x="623798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388" r="0" b="-171388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6804508" y="3449755"/>
            <a:ext cx="4678528" cy="418624"/>
            <a:chOff x="0" y="0"/>
            <a:chExt cx="6238037" cy="55816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237986" cy="558165"/>
            </a:xfrm>
            <a:custGeom>
              <a:avLst/>
              <a:gdLst/>
              <a:ahLst/>
              <a:cxnLst/>
              <a:rect r="r" b="b" t="t" l="l"/>
              <a:pathLst>
                <a:path h="558165" w="6237986">
                  <a:moveTo>
                    <a:pt x="0" y="0"/>
                  </a:moveTo>
                  <a:lnTo>
                    <a:pt x="6237986" y="0"/>
                  </a:lnTo>
                  <a:lnTo>
                    <a:pt x="6237986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13" r="0" b="-167613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804508" y="3442611"/>
            <a:ext cx="4678528" cy="425768"/>
            <a:chOff x="0" y="0"/>
            <a:chExt cx="6238037" cy="56769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238037" cy="567690"/>
            </a:xfrm>
            <a:custGeom>
              <a:avLst/>
              <a:gdLst/>
              <a:ahLst/>
              <a:cxnLst/>
              <a:rect r="r" b="b" t="t" l="l"/>
              <a:pathLst>
                <a:path h="567690" w="6238037">
                  <a:moveTo>
                    <a:pt x="0" y="0"/>
                  </a:moveTo>
                  <a:lnTo>
                    <a:pt x="6238037" y="0"/>
                  </a:lnTo>
                  <a:lnTo>
                    <a:pt x="6238037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110" r="0" b="-16411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6238037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75">
                  <a:solidFill>
                    <a:srgbClr val="1E276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TARGET  29 Oct 2026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804508" y="5143967"/>
            <a:ext cx="2125980" cy="384048"/>
            <a:chOff x="0" y="0"/>
            <a:chExt cx="2834640" cy="5120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804508" y="5136823"/>
            <a:ext cx="2125980" cy="391192"/>
            <a:chOff x="0" y="0"/>
            <a:chExt cx="2834640" cy="52158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6804508" y="5129679"/>
            <a:ext cx="2125980" cy="398336"/>
            <a:chOff x="0" y="0"/>
            <a:chExt cx="2834640" cy="53111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EXPLORING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288475" y="5157683"/>
            <a:ext cx="2194560" cy="356616"/>
            <a:chOff x="0" y="0"/>
            <a:chExt cx="2926080" cy="47548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4F5EC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288475" y="5157683"/>
            <a:ext cx="2194560" cy="356616"/>
            <a:chOff x="0" y="0"/>
            <a:chExt cx="2926080" cy="4754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288475" y="5150539"/>
            <a:ext cx="2194560" cy="363760"/>
            <a:chOff x="0" y="0"/>
            <a:chExt cx="2926080" cy="48501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288475" y="5143395"/>
            <a:ext cx="2194560" cy="370904"/>
            <a:chOff x="0" y="0"/>
            <a:chExt cx="2926080" cy="49453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1E9E6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DONE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804508" y="5651459"/>
            <a:ext cx="2125980" cy="384048"/>
            <a:chOff x="0" y="0"/>
            <a:chExt cx="2834640" cy="51206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804508" y="5644315"/>
            <a:ext cx="2125980" cy="391192"/>
            <a:chOff x="0" y="0"/>
            <a:chExt cx="2834640" cy="52158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804508" y="5637171"/>
            <a:ext cx="2125980" cy="398336"/>
            <a:chOff x="0" y="0"/>
            <a:chExt cx="2834640" cy="53111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PLANNING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288475" y="5665175"/>
            <a:ext cx="2194560" cy="356616"/>
            <a:chOff x="0" y="0"/>
            <a:chExt cx="2926080" cy="4754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4F5EC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288475" y="5665175"/>
            <a:ext cx="2194560" cy="356616"/>
            <a:chOff x="0" y="0"/>
            <a:chExt cx="2926080" cy="47548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288475" y="5658031"/>
            <a:ext cx="2194560" cy="363760"/>
            <a:chOff x="0" y="0"/>
            <a:chExt cx="2926080" cy="48501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8475" y="5650887"/>
            <a:ext cx="2194560" cy="370904"/>
            <a:chOff x="0" y="0"/>
            <a:chExt cx="2926080" cy="49453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1E9E6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DONE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6804508" y="6158951"/>
            <a:ext cx="2125980" cy="384048"/>
            <a:chOff x="0" y="0"/>
            <a:chExt cx="2834640" cy="51206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6804508" y="6151807"/>
            <a:ext cx="2125980" cy="391192"/>
            <a:chOff x="0" y="0"/>
            <a:chExt cx="2834640" cy="52158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6804508" y="6144663"/>
            <a:ext cx="2125980" cy="398336"/>
            <a:chOff x="0" y="0"/>
            <a:chExt cx="2834640" cy="53111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DEPLOYMENT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288475" y="6172667"/>
            <a:ext cx="2194560" cy="356616"/>
            <a:chOff x="0" y="0"/>
            <a:chExt cx="2926080" cy="47548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DEFF3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288475" y="6172667"/>
            <a:ext cx="2194560" cy="356616"/>
            <a:chOff x="0" y="0"/>
            <a:chExt cx="2926080" cy="47548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8475" y="6165523"/>
            <a:ext cx="2194560" cy="363760"/>
            <a:chOff x="0" y="0"/>
            <a:chExt cx="2926080" cy="485013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8475" y="6158379"/>
            <a:ext cx="2194560" cy="370904"/>
            <a:chOff x="0" y="0"/>
            <a:chExt cx="2926080" cy="49453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9AA3B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NOT STARTED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237415" y="2291039"/>
            <a:ext cx="5364290" cy="4472940"/>
            <a:chOff x="0" y="0"/>
            <a:chExt cx="7152386" cy="59639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152386" cy="5963920"/>
            </a:xfrm>
            <a:custGeom>
              <a:avLst/>
              <a:gdLst/>
              <a:ahLst/>
              <a:cxnLst/>
              <a:rect r="r" b="b" t="t" l="l"/>
              <a:pathLst>
                <a:path h="5963920" w="7152386">
                  <a:moveTo>
                    <a:pt x="0" y="156464"/>
                  </a:moveTo>
                  <a:cubicBezTo>
                    <a:pt x="0" y="70104"/>
                    <a:pt x="65532" y="0"/>
                    <a:pt x="146304" y="0"/>
                  </a:cubicBezTo>
                  <a:lnTo>
                    <a:pt x="7006082" y="0"/>
                  </a:lnTo>
                  <a:cubicBezTo>
                    <a:pt x="7086853" y="0"/>
                    <a:pt x="7152386" y="70104"/>
                    <a:pt x="7152386" y="156464"/>
                  </a:cubicBezTo>
                  <a:lnTo>
                    <a:pt x="7152386" y="5807456"/>
                  </a:lnTo>
                  <a:cubicBezTo>
                    <a:pt x="7152386" y="5893816"/>
                    <a:pt x="7086853" y="5963920"/>
                    <a:pt x="7006082" y="5963920"/>
                  </a:cubicBezTo>
                  <a:lnTo>
                    <a:pt x="146304" y="5963920"/>
                  </a:lnTo>
                  <a:cubicBezTo>
                    <a:pt x="65532" y="5963920"/>
                    <a:pt x="0" y="5893816"/>
                    <a:pt x="0" y="5807456"/>
                  </a:cubicBezTo>
                  <a:close/>
                </a:path>
              </a:pathLst>
            </a:custGeom>
            <a:solidFill>
              <a:srgbClr val="F3F6FC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2580315" y="2633939"/>
            <a:ext cx="685800" cy="685800"/>
            <a:chOff x="0" y="0"/>
            <a:chExt cx="914400" cy="9144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2580315" y="2633939"/>
            <a:ext cx="685800" cy="685800"/>
            <a:chOff x="0" y="0"/>
            <a:chExt cx="914400" cy="9144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580315" y="2626795"/>
            <a:ext cx="685800" cy="692944"/>
            <a:chOff x="0" y="0"/>
            <a:chExt cx="914400" cy="923925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14400" cy="923925"/>
            </a:xfrm>
            <a:custGeom>
              <a:avLst/>
              <a:gdLst/>
              <a:ahLst/>
              <a:cxnLst/>
              <a:rect r="r" b="b" t="t" l="l"/>
              <a:pathLst>
                <a:path h="9239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30" t="0" r="-79730" b="0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2580315" y="2619651"/>
            <a:ext cx="685800" cy="700088"/>
            <a:chOff x="0" y="0"/>
            <a:chExt cx="914400" cy="93345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914400" cy="933450"/>
            </a:xfrm>
            <a:custGeom>
              <a:avLst/>
              <a:gdLst/>
              <a:ahLst/>
              <a:cxnLst/>
              <a:rect r="r" b="b" t="t" l="l"/>
              <a:pathLst>
                <a:path h="93345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976" t="0" r="-80976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952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03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3471855" y="2592791"/>
            <a:ext cx="3855529" cy="685800"/>
            <a:chOff x="0" y="0"/>
            <a:chExt cx="5140706" cy="9144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5140706" cy="914400"/>
            </a:xfrm>
            <a:custGeom>
              <a:avLst/>
              <a:gdLst/>
              <a:ahLst/>
              <a:cxnLst/>
              <a:rect r="r" b="b" t="t" l="l"/>
              <a:pathLst>
                <a:path h="914400" w="5140706">
                  <a:moveTo>
                    <a:pt x="0" y="0"/>
                  </a:moveTo>
                  <a:lnTo>
                    <a:pt x="5140706" y="0"/>
                  </a:lnTo>
                  <a:lnTo>
                    <a:pt x="51407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68" r="0" b="-59466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471855" y="2585647"/>
            <a:ext cx="3855568" cy="692944"/>
            <a:chOff x="0" y="0"/>
            <a:chExt cx="5140757" cy="923925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140706" cy="923925"/>
            </a:xfrm>
            <a:custGeom>
              <a:avLst/>
              <a:gdLst/>
              <a:ahLst/>
              <a:cxnLst/>
              <a:rect r="r" b="b" t="t" l="l"/>
              <a:pathLst>
                <a:path h="923925" w="5140706">
                  <a:moveTo>
                    <a:pt x="0" y="0"/>
                  </a:moveTo>
                  <a:lnTo>
                    <a:pt x="5140706" y="0"/>
                  </a:lnTo>
                  <a:lnTo>
                    <a:pt x="5140706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39" r="0" b="-58340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471855" y="2578503"/>
            <a:ext cx="3855568" cy="700088"/>
            <a:chOff x="0" y="0"/>
            <a:chExt cx="5140757" cy="93345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140758" cy="933450"/>
            </a:xfrm>
            <a:custGeom>
              <a:avLst/>
              <a:gdLst/>
              <a:ahLst/>
              <a:cxnLst/>
              <a:rect r="r" b="b" t="t" l="l"/>
              <a:pathLst>
                <a:path h="933450" w="5140758">
                  <a:moveTo>
                    <a:pt x="0" y="0"/>
                  </a:moveTo>
                  <a:lnTo>
                    <a:pt x="5140758" y="0"/>
                  </a:lnTo>
                  <a:lnTo>
                    <a:pt x="5140758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09" r="0" b="-57309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9525"/>
              <a:ext cx="5140757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Reporting Dashboard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2580315" y="3456899"/>
            <a:ext cx="4678490" cy="411480"/>
            <a:chOff x="0" y="0"/>
            <a:chExt cx="6237986" cy="54864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7986" cy="548640"/>
            </a:xfrm>
            <a:custGeom>
              <a:avLst/>
              <a:gdLst/>
              <a:ahLst/>
              <a:cxnLst/>
              <a:rect r="r" b="b" t="t" l="l"/>
              <a:pathLst>
                <a:path h="548640" w="623798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28258" y="0"/>
                  </a:lnTo>
                  <a:cubicBezTo>
                    <a:pt x="6188837" y="0"/>
                    <a:pt x="6237986" y="49149"/>
                    <a:pt x="6237986" y="109728"/>
                  </a:cubicBezTo>
                  <a:lnTo>
                    <a:pt x="6237986" y="438912"/>
                  </a:lnTo>
                  <a:cubicBezTo>
                    <a:pt x="6237986" y="499491"/>
                    <a:pt x="6188837" y="548640"/>
                    <a:pt x="6128258" y="548640"/>
                  </a:cubicBezTo>
                  <a:lnTo>
                    <a:pt x="109728" y="548640"/>
                  </a:lnTo>
                  <a:cubicBezTo>
                    <a:pt x="49149" y="548640"/>
                    <a:pt x="0" y="499491"/>
                    <a:pt x="0" y="43891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580315" y="3456899"/>
            <a:ext cx="4678490" cy="411480"/>
            <a:chOff x="0" y="0"/>
            <a:chExt cx="6237986" cy="5486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7986" cy="548640"/>
            </a:xfrm>
            <a:custGeom>
              <a:avLst/>
              <a:gdLst/>
              <a:ahLst/>
              <a:cxnLst/>
              <a:rect r="r" b="b" t="t" l="l"/>
              <a:pathLst>
                <a:path h="548640" w="6237986">
                  <a:moveTo>
                    <a:pt x="0" y="0"/>
                  </a:moveTo>
                  <a:lnTo>
                    <a:pt x="6237986" y="0"/>
                  </a:lnTo>
                  <a:lnTo>
                    <a:pt x="623798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388" r="0" b="-171388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2580315" y="3449755"/>
            <a:ext cx="4678528" cy="418624"/>
            <a:chOff x="0" y="0"/>
            <a:chExt cx="6238037" cy="558165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6237986" cy="558165"/>
            </a:xfrm>
            <a:custGeom>
              <a:avLst/>
              <a:gdLst/>
              <a:ahLst/>
              <a:cxnLst/>
              <a:rect r="r" b="b" t="t" l="l"/>
              <a:pathLst>
                <a:path h="558165" w="6237986">
                  <a:moveTo>
                    <a:pt x="0" y="0"/>
                  </a:moveTo>
                  <a:lnTo>
                    <a:pt x="6237986" y="0"/>
                  </a:lnTo>
                  <a:lnTo>
                    <a:pt x="6237986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13" r="0" b="-167613"/>
              </a:stretch>
            </a:blip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580315" y="3442611"/>
            <a:ext cx="4678528" cy="425768"/>
            <a:chOff x="0" y="0"/>
            <a:chExt cx="6238037" cy="56769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8037" cy="567690"/>
            </a:xfrm>
            <a:custGeom>
              <a:avLst/>
              <a:gdLst/>
              <a:ahLst/>
              <a:cxnLst/>
              <a:rect r="r" b="b" t="t" l="l"/>
              <a:pathLst>
                <a:path h="567690" w="6238037">
                  <a:moveTo>
                    <a:pt x="0" y="0"/>
                  </a:moveTo>
                  <a:lnTo>
                    <a:pt x="6238037" y="0"/>
                  </a:lnTo>
                  <a:lnTo>
                    <a:pt x="6238037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110" r="0" b="-16411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9525"/>
              <a:ext cx="6238037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75">
                  <a:solidFill>
                    <a:srgbClr val="1E276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TARGET  TBC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2580315" y="5143967"/>
            <a:ext cx="2125980" cy="384048"/>
            <a:chOff x="0" y="0"/>
            <a:chExt cx="2834640" cy="512064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2580315" y="5136823"/>
            <a:ext cx="2125980" cy="391192"/>
            <a:chOff x="0" y="0"/>
            <a:chExt cx="2834640" cy="521589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12580315" y="5129679"/>
            <a:ext cx="2125980" cy="398336"/>
            <a:chOff x="0" y="0"/>
            <a:chExt cx="2834640" cy="531114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EXPLORING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5064283" y="5157683"/>
            <a:ext cx="2194560" cy="356616"/>
            <a:chOff x="0" y="0"/>
            <a:chExt cx="2926080" cy="475488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FBF0DE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5064283" y="5157683"/>
            <a:ext cx="2194560" cy="356616"/>
            <a:chOff x="0" y="0"/>
            <a:chExt cx="2926080" cy="47548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5064283" y="5150539"/>
            <a:ext cx="2194560" cy="363760"/>
            <a:chOff x="0" y="0"/>
            <a:chExt cx="2926080" cy="485013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5064283" y="5143395"/>
            <a:ext cx="2194560" cy="370904"/>
            <a:chOff x="0" y="0"/>
            <a:chExt cx="2926080" cy="494538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D98C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IN PROGRESS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2580315" y="5651459"/>
            <a:ext cx="2125980" cy="384048"/>
            <a:chOff x="0" y="0"/>
            <a:chExt cx="2834640" cy="512064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2580315" y="5644315"/>
            <a:ext cx="2125980" cy="391192"/>
            <a:chOff x="0" y="0"/>
            <a:chExt cx="2834640" cy="52158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2580315" y="5637171"/>
            <a:ext cx="2125980" cy="398336"/>
            <a:chOff x="0" y="0"/>
            <a:chExt cx="2834640" cy="531114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PLANNING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5064283" y="5665175"/>
            <a:ext cx="2194560" cy="356616"/>
            <a:chOff x="0" y="0"/>
            <a:chExt cx="2926080" cy="475488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DEFF3"/>
            </a:solid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5064283" y="5665175"/>
            <a:ext cx="2194560" cy="356616"/>
            <a:chOff x="0" y="0"/>
            <a:chExt cx="2926080" cy="475488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5064283" y="5658031"/>
            <a:ext cx="2194560" cy="363760"/>
            <a:chOff x="0" y="0"/>
            <a:chExt cx="2926080" cy="485013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15064283" y="5650887"/>
            <a:ext cx="2194560" cy="370904"/>
            <a:chOff x="0" y="0"/>
            <a:chExt cx="2926080" cy="494538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9AA3B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NOT STARTED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2580315" y="6158951"/>
            <a:ext cx="2125980" cy="384048"/>
            <a:chOff x="0" y="0"/>
            <a:chExt cx="2834640" cy="512064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834640" cy="512064"/>
            </a:xfrm>
            <a:custGeom>
              <a:avLst/>
              <a:gdLst/>
              <a:ahLst/>
              <a:cxnLst/>
              <a:rect r="r" b="b" t="t" l="l"/>
              <a:pathLst>
                <a:path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87" r="0" b="-57790"/>
              </a:stretch>
            </a:blip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12580315" y="6151807"/>
            <a:ext cx="2125980" cy="391192"/>
            <a:chOff x="0" y="0"/>
            <a:chExt cx="2834640" cy="521589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2834640" cy="521589"/>
            </a:xfrm>
            <a:custGeom>
              <a:avLst/>
              <a:gdLst/>
              <a:ahLst/>
              <a:cxnLst/>
              <a:rect r="r" b="b" t="t" l="l"/>
              <a:pathLst>
                <a:path h="521589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19" r="0" b="-55821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12580315" y="6144663"/>
            <a:ext cx="2125980" cy="398336"/>
            <a:chOff x="0" y="0"/>
            <a:chExt cx="2834640" cy="531114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2834640" cy="531114"/>
            </a:xfrm>
            <a:custGeom>
              <a:avLst/>
              <a:gdLst/>
              <a:ahLst/>
              <a:cxnLst/>
              <a:rect r="r" b="b" t="t" l="l"/>
              <a:pathLst>
                <a:path h="53111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94" r="0" b="-53994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9525"/>
              <a:ext cx="28346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5B64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DEPLOYMENT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5064283" y="6172667"/>
            <a:ext cx="2194560" cy="356616"/>
            <a:chOff x="0" y="0"/>
            <a:chExt cx="2926080" cy="47548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DEFF3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15064283" y="6172667"/>
            <a:ext cx="2194560" cy="356616"/>
            <a:chOff x="0" y="0"/>
            <a:chExt cx="2926080" cy="475488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15064283" y="6165523"/>
            <a:ext cx="2194560" cy="363760"/>
            <a:chOff x="0" y="0"/>
            <a:chExt cx="2926080" cy="485013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15064283" y="6158379"/>
            <a:ext cx="2194560" cy="370904"/>
            <a:chOff x="0" y="0"/>
            <a:chExt cx="2926080" cy="49453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9AA3B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NOT STARTED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685800" y="6954479"/>
            <a:ext cx="16915924" cy="2047780"/>
            <a:chOff x="0" y="0"/>
            <a:chExt cx="22554565" cy="2730373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22554564" cy="2730373"/>
            </a:xfrm>
            <a:custGeom>
              <a:avLst/>
              <a:gdLst/>
              <a:ahLst/>
              <a:cxnLst/>
              <a:rect r="r" b="b" t="t" l="l"/>
              <a:pathLst>
                <a:path h="2730373" w="22554564">
                  <a:moveTo>
                    <a:pt x="0" y="158496"/>
                  </a:moveTo>
                  <a:cubicBezTo>
                    <a:pt x="0" y="70993"/>
                    <a:pt x="73660" y="0"/>
                    <a:pt x="164592" y="0"/>
                  </a:cubicBezTo>
                  <a:lnTo>
                    <a:pt x="22389973" y="0"/>
                  </a:lnTo>
                  <a:cubicBezTo>
                    <a:pt x="22480905" y="0"/>
                    <a:pt x="22554564" y="70993"/>
                    <a:pt x="22554564" y="158496"/>
                  </a:cubicBezTo>
                  <a:lnTo>
                    <a:pt x="22554564" y="2571877"/>
                  </a:lnTo>
                  <a:cubicBezTo>
                    <a:pt x="22554564" y="2659507"/>
                    <a:pt x="22480905" y="2730373"/>
                    <a:pt x="22389973" y="2730373"/>
                  </a:cubicBezTo>
                  <a:lnTo>
                    <a:pt x="164592" y="2730373"/>
                  </a:lnTo>
                  <a:cubicBezTo>
                    <a:pt x="73660" y="2730373"/>
                    <a:pt x="0" y="2659380"/>
                    <a:pt x="0" y="2571877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1097280" y="7201367"/>
            <a:ext cx="8229600" cy="411480"/>
            <a:chOff x="0" y="0"/>
            <a:chExt cx="10972800" cy="548640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1097280" y="7194223"/>
            <a:ext cx="8229600" cy="418624"/>
            <a:chOff x="0" y="0"/>
            <a:chExt cx="10972800" cy="558165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10972800" cy="558165"/>
            </a:xfrm>
            <a:custGeom>
              <a:avLst/>
              <a:gdLst/>
              <a:ahLst/>
              <a:cxnLst/>
              <a:rect r="r" b="b" t="t" l="l"/>
              <a:pathLst>
                <a:path h="55816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84" r="0" b="-332782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97280" y="7187079"/>
            <a:ext cx="8229600" cy="425768"/>
            <a:chOff x="0" y="0"/>
            <a:chExt cx="10972800" cy="56769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10972800" cy="567690"/>
            </a:xfrm>
            <a:custGeom>
              <a:avLst/>
              <a:gdLst/>
              <a:ahLst/>
              <a:cxnLst/>
              <a:rect r="r" b="b" t="t" l="l"/>
              <a:pathLst>
                <a:path h="56769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623" r="0" b="-326623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952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179">
                  <a:solidFill>
                    <a:srgbClr val="CADCF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HELPDESK SOLUTION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1097280" y="7804871"/>
            <a:ext cx="576072" cy="576072"/>
            <a:chOff x="0" y="0"/>
            <a:chExt cx="768096" cy="768096"/>
          </a:xfrm>
        </p:grpSpPr>
        <p:sp>
          <p:nvSpPr>
            <p:cNvPr name="Freeform 237" id="237" descr="icons/dollar_white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38" id="238"/>
          <p:cNvSpPr txBox="true"/>
          <p:nvPr/>
        </p:nvSpPr>
        <p:spPr>
          <a:xfrm rot="0">
            <a:off x="1792615" y="7758484"/>
            <a:ext cx="7066588" cy="84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5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Cost-Effective  </a:t>
            </a:r>
            <a:r>
              <a:rPr lang="en-US" sz="1575">
                <a:solidFill>
                  <a:srgbClr val="CADCFC"/>
                </a:solidFill>
                <a:latin typeface="Exo 2"/>
                <a:ea typeface="Exo 2"/>
                <a:cs typeface="Exo 2"/>
                <a:sym typeface="Exo 2"/>
              </a:rPr>
              <a:t>Annual cost of USD 600–1,000 (hosting only), delivering approximately 83%–90% savings versus comparable vendor solutions at USD 6,000–10,000.</a:t>
            </a:r>
          </a:p>
        </p:txBody>
      </p:sp>
      <p:sp>
        <p:nvSpPr>
          <p:cNvPr name="AutoShape 239" id="239"/>
          <p:cNvSpPr/>
          <p:nvPr/>
        </p:nvSpPr>
        <p:spPr>
          <a:xfrm rot="24420">
            <a:off x="8724729" y="7907179"/>
            <a:ext cx="1341463" cy="0"/>
          </a:xfrm>
          <a:prstGeom prst="line">
            <a:avLst/>
          </a:prstGeom>
          <a:ln cap="rnd" w="9525">
            <a:solidFill>
              <a:srgbClr val="3A448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0" id="240"/>
          <p:cNvGrpSpPr/>
          <p:nvPr/>
        </p:nvGrpSpPr>
        <p:grpSpPr>
          <a:xfrm rot="0">
            <a:off x="9806940" y="7804871"/>
            <a:ext cx="576072" cy="576072"/>
            <a:chOff x="0" y="0"/>
            <a:chExt cx="768096" cy="768096"/>
          </a:xfrm>
        </p:grpSpPr>
        <p:sp>
          <p:nvSpPr>
            <p:cNvPr name="Freeform 241" id="241" descr="icons/code_white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755847" y="557136"/>
            <a:ext cx="13164598" cy="928783"/>
            <a:chOff x="0" y="0"/>
            <a:chExt cx="17552797" cy="12383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755847" y="549993"/>
            <a:ext cx="13164598" cy="935927"/>
            <a:chOff x="0" y="0"/>
            <a:chExt cx="17552797" cy="1247902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755847" y="542849"/>
            <a:ext cx="13164598" cy="943118"/>
            <a:chOff x="0" y="0"/>
            <a:chExt cx="17552797" cy="1257490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17552797" cy="1257427"/>
            </a:xfrm>
            <a:custGeom>
              <a:avLst/>
              <a:gdLst/>
              <a:ahLst/>
              <a:cxnLst/>
              <a:rect r="r" b="b" t="t" l="l"/>
              <a:pathLst>
                <a:path h="125742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427"/>
                  </a:lnTo>
                  <a:lnTo>
                    <a:pt x="0" y="12574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805" r="0" b="-221810"/>
              </a:stretch>
            </a:blip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755847" y="535705"/>
            <a:ext cx="13164598" cy="950262"/>
            <a:chOff x="0" y="0"/>
            <a:chExt cx="17552797" cy="1267016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Systems Planning &amp; Deployment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2" r="0" b="-363"/>
              </a:stretch>
            </a:blipFill>
          </p:spPr>
        </p:sp>
      </p:grpSp>
      <p:grpSp>
        <p:nvGrpSpPr>
          <p:cNvPr name="Group 255" id="255"/>
          <p:cNvGrpSpPr/>
          <p:nvPr/>
        </p:nvGrpSpPr>
        <p:grpSpPr>
          <a:xfrm rot="0">
            <a:off x="9292438" y="5678891"/>
            <a:ext cx="2194560" cy="356616"/>
            <a:chOff x="0" y="0"/>
            <a:chExt cx="2926080" cy="475488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834640" y="0"/>
                  </a:lnTo>
                  <a:cubicBezTo>
                    <a:pt x="2885186" y="0"/>
                    <a:pt x="2926080" y="40894"/>
                    <a:pt x="2926080" y="91440"/>
                  </a:cubicBezTo>
                  <a:lnTo>
                    <a:pt x="2926080" y="384048"/>
                  </a:lnTo>
                  <a:cubicBezTo>
                    <a:pt x="2926080" y="434594"/>
                    <a:pt x="2885186" y="475488"/>
                    <a:pt x="2834640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FBF0DE"/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9292438" y="5678891"/>
            <a:ext cx="2194560" cy="356616"/>
            <a:chOff x="0" y="0"/>
            <a:chExt cx="2926080" cy="475488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2926080" cy="475488"/>
            </a:xfrm>
            <a:custGeom>
              <a:avLst/>
              <a:gdLst/>
              <a:ahLst/>
              <a:cxnLst/>
              <a:rect r="r" b="b" t="t" l="l"/>
              <a:pathLst>
                <a:path h="4754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23" r="0" b="-69826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9292438" y="5671747"/>
            <a:ext cx="2194560" cy="363760"/>
            <a:chOff x="0" y="0"/>
            <a:chExt cx="2926080" cy="485013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2926080" cy="485013"/>
            </a:xfrm>
            <a:custGeom>
              <a:avLst/>
              <a:gdLst/>
              <a:ahLst/>
              <a:cxnLst/>
              <a:rect r="r" b="b" t="t" l="l"/>
              <a:pathLst>
                <a:path h="485013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5013"/>
                  </a:lnTo>
                  <a:lnTo>
                    <a:pt x="0" y="485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70" r="0" b="-67473"/>
              </a:stretch>
            </a:blipFill>
          </p:spPr>
        </p:sp>
      </p:grpSp>
      <p:grpSp>
        <p:nvGrpSpPr>
          <p:cNvPr name="Group 261" id="261"/>
          <p:cNvGrpSpPr/>
          <p:nvPr/>
        </p:nvGrpSpPr>
        <p:grpSpPr>
          <a:xfrm rot="0">
            <a:off x="9292438" y="5664603"/>
            <a:ext cx="2194560" cy="370904"/>
            <a:chOff x="0" y="0"/>
            <a:chExt cx="2926080" cy="494538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2926080" cy="494538"/>
            </a:xfrm>
            <a:custGeom>
              <a:avLst/>
              <a:gdLst/>
              <a:ahLst/>
              <a:cxnLst/>
              <a:rect r="r" b="b" t="t" l="l"/>
              <a:pathLst>
                <a:path h="49453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94538"/>
                  </a:lnTo>
                  <a:lnTo>
                    <a:pt x="0" y="494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88" r="0" b="-65288"/>
              </a:stretch>
            </a:blipFill>
          </p:spPr>
        </p:sp>
        <p:sp>
          <p:nvSpPr>
            <p:cNvPr name="TextBox 263" id="263"/>
            <p:cNvSpPr txBox="true"/>
            <p:nvPr/>
          </p:nvSpPr>
          <p:spPr>
            <a:xfrm>
              <a:off x="0" y="-9525"/>
              <a:ext cx="29260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43">
                  <a:solidFill>
                    <a:srgbClr val="D98C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IN PROGRESS</a:t>
              </a:r>
            </a:p>
          </p:txBody>
        </p:sp>
      </p:grpSp>
      <p:grpSp>
        <p:nvGrpSpPr>
          <p:cNvPr name="Group 264" id="264"/>
          <p:cNvGrpSpPr/>
          <p:nvPr/>
        </p:nvGrpSpPr>
        <p:grpSpPr>
          <a:xfrm rot="0">
            <a:off x="2117656" y="9097504"/>
            <a:ext cx="14052689" cy="313448"/>
            <a:chOff x="0" y="0"/>
            <a:chExt cx="18736918" cy="417931"/>
          </a:xfrm>
        </p:grpSpPr>
        <p:grpSp>
          <p:nvGrpSpPr>
            <p:cNvPr name="Group 265" id="265"/>
            <p:cNvGrpSpPr/>
            <p:nvPr/>
          </p:nvGrpSpPr>
          <p:grpSpPr>
            <a:xfrm rot="0">
              <a:off x="0" y="0"/>
              <a:ext cx="18736918" cy="417931"/>
              <a:chOff x="0" y="0"/>
              <a:chExt cx="22117329" cy="493331"/>
            </a:xfrm>
          </p:grpSpPr>
          <p:sp>
            <p:nvSpPr>
              <p:cNvPr name="Freeform 266" id="266"/>
              <p:cNvSpPr/>
              <p:nvPr/>
            </p:nvSpPr>
            <p:spPr>
              <a:xfrm flipH="false" flipV="false" rot="0">
                <a:off x="0" y="0"/>
                <a:ext cx="22117304" cy="493332"/>
              </a:xfrm>
              <a:custGeom>
                <a:avLst/>
                <a:gdLst/>
                <a:ahLst/>
                <a:cxnLst/>
                <a:rect r="r" b="b" t="t" l="l"/>
                <a:pathLst>
                  <a:path h="493332" w="22117304">
                    <a:moveTo>
                      <a:pt x="59965" y="0"/>
                    </a:moveTo>
                    <a:lnTo>
                      <a:pt x="22057339" y="0"/>
                    </a:lnTo>
                    <a:cubicBezTo>
                      <a:pt x="22073243" y="0"/>
                      <a:pt x="22088495" y="6318"/>
                      <a:pt x="22099741" y="17563"/>
                    </a:cubicBezTo>
                    <a:cubicBezTo>
                      <a:pt x="22110987" y="28809"/>
                      <a:pt x="22117304" y="44061"/>
                      <a:pt x="22117304" y="59965"/>
                    </a:cubicBezTo>
                    <a:lnTo>
                      <a:pt x="22117304" y="433366"/>
                    </a:lnTo>
                    <a:cubicBezTo>
                      <a:pt x="22117304" y="449270"/>
                      <a:pt x="22110987" y="464523"/>
                      <a:pt x="22099741" y="475768"/>
                    </a:cubicBezTo>
                    <a:cubicBezTo>
                      <a:pt x="22088495" y="487014"/>
                      <a:pt x="22073243" y="493332"/>
                      <a:pt x="22057339" y="493332"/>
                    </a:cubicBezTo>
                    <a:lnTo>
                      <a:pt x="59965" y="493332"/>
                    </a:lnTo>
                    <a:cubicBezTo>
                      <a:pt x="44061" y="493332"/>
                      <a:pt x="28809" y="487014"/>
                      <a:pt x="17563" y="475768"/>
                    </a:cubicBezTo>
                    <a:cubicBezTo>
                      <a:pt x="6318" y="464523"/>
                      <a:pt x="0" y="449270"/>
                      <a:pt x="0" y="433366"/>
                    </a:cubicBezTo>
                    <a:lnTo>
                      <a:pt x="0" y="59965"/>
                    </a:lnTo>
                    <a:cubicBezTo>
                      <a:pt x="0" y="44061"/>
                      <a:pt x="6318" y="28809"/>
                      <a:pt x="17563" y="17563"/>
                    </a:cubicBezTo>
                    <a:cubicBezTo>
                      <a:pt x="28809" y="6318"/>
                      <a:pt x="44061" y="0"/>
                      <a:pt x="59965" y="0"/>
                    </a:cubicBezTo>
                    <a:close/>
                  </a:path>
                </a:pathLst>
              </a:custGeom>
              <a:solidFill>
                <a:srgbClr val="EEF1F8"/>
              </a:solidFill>
            </p:spPr>
          </p:sp>
        </p:grpSp>
        <p:sp>
          <p:nvSpPr>
            <p:cNvPr name="TextBox 267" id="267"/>
            <p:cNvSpPr txBox="true"/>
            <p:nvPr/>
          </p:nvSpPr>
          <p:spPr>
            <a:xfrm rot="0">
              <a:off x="3672151" y="69265"/>
              <a:ext cx="11392615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9"/>
                </a:lnSpc>
              </a:pPr>
              <a:r>
                <a:rPr lang="en-US" sz="1416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Helpdesk operations are currently managed manually via Excel by Client Experience</a:t>
              </a:r>
            </a:p>
          </p:txBody>
        </p:sp>
      </p:grpSp>
      <p:sp>
        <p:nvSpPr>
          <p:cNvPr name="Freeform 268" id="268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  <p:sp>
        <p:nvSpPr>
          <p:cNvPr name="TextBox 269" id="269"/>
          <p:cNvSpPr txBox="true"/>
          <p:nvPr/>
        </p:nvSpPr>
        <p:spPr>
          <a:xfrm rot="0">
            <a:off x="1028700" y="3960962"/>
            <a:ext cx="4678528" cy="5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5">
                <a:solidFill>
                  <a:srgbClr val="5B6472"/>
                </a:solidFill>
                <a:latin typeface="Exo 2"/>
                <a:ea typeface="Exo 2"/>
                <a:cs typeface="Exo 2"/>
                <a:sym typeface="Exo 2"/>
              </a:rPr>
              <a:t>Cybersecurity approved, deployment underway for faster, more organized query resolution.</a:t>
            </a:r>
          </a:p>
        </p:txBody>
      </p:sp>
      <p:sp>
        <p:nvSpPr>
          <p:cNvPr name="TextBox 270" id="270"/>
          <p:cNvSpPr txBox="true"/>
          <p:nvPr/>
        </p:nvSpPr>
        <p:spPr>
          <a:xfrm rot="0">
            <a:off x="6804508" y="3960962"/>
            <a:ext cx="4678528" cy="58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5">
                <a:solidFill>
                  <a:srgbClr val="5B6472"/>
                </a:solidFill>
                <a:latin typeface="Exo 2"/>
                <a:ea typeface="Exo 2"/>
                <a:cs typeface="Exo 2"/>
                <a:sym typeface="Exo 2"/>
              </a:rPr>
              <a:t>Will consolidate the customer base into a single, unified system after Helpdesk deployment.</a:t>
            </a:r>
          </a:p>
        </p:txBody>
      </p:sp>
      <p:sp>
        <p:nvSpPr>
          <p:cNvPr name="TextBox 271" id="271"/>
          <p:cNvSpPr txBox="true"/>
          <p:nvPr/>
        </p:nvSpPr>
        <p:spPr>
          <a:xfrm rot="0">
            <a:off x="12580315" y="3960962"/>
            <a:ext cx="4678528" cy="58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5">
                <a:solidFill>
                  <a:srgbClr val="5B6472"/>
                </a:solidFill>
                <a:latin typeface="Exo 2"/>
                <a:ea typeface="Exo 2"/>
                <a:cs typeface="Exo 2"/>
                <a:sym typeface="Exo 2"/>
              </a:rPr>
              <a:t>Real-time reporting capability under evaluation, to support the business case.</a:t>
            </a:r>
          </a:p>
        </p:txBody>
      </p:sp>
      <p:sp>
        <p:nvSpPr>
          <p:cNvPr name="TextBox 272" id="272"/>
          <p:cNvSpPr txBox="true"/>
          <p:nvPr/>
        </p:nvSpPr>
        <p:spPr>
          <a:xfrm rot="0">
            <a:off x="10594315" y="7758484"/>
            <a:ext cx="6652260" cy="58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5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In-House &amp; Fully Customizable  </a:t>
            </a:r>
            <a:r>
              <a:rPr lang="en-US" sz="1575">
                <a:solidFill>
                  <a:srgbClr val="CADCFC"/>
                </a:solidFill>
                <a:latin typeface="Exo 2"/>
                <a:ea typeface="Exo 2"/>
                <a:cs typeface="Exo 2"/>
                <a:sym typeface="Exo 2"/>
              </a:rPr>
              <a:t>Full control over the source code, database, and future enhancements.</a:t>
            </a:r>
          </a:p>
        </p:txBody>
      </p:sp>
      <p:sp>
        <p:nvSpPr>
          <p:cNvPr name="TextBox 273" id="273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74" id="274"/>
          <p:cNvSpPr txBox="true"/>
          <p:nvPr/>
        </p:nvSpPr>
        <p:spPr>
          <a:xfrm rot="0">
            <a:off x="14682883" y="9828762"/>
            <a:ext cx="534238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6</a:t>
            </a:r>
          </a:p>
        </p:txBody>
      </p:sp>
      <p:grpSp>
        <p:nvGrpSpPr>
          <p:cNvPr name="Group 275" id="275"/>
          <p:cNvGrpSpPr/>
          <p:nvPr/>
        </p:nvGrpSpPr>
        <p:grpSpPr>
          <a:xfrm rot="0">
            <a:off x="777240" y="1485967"/>
            <a:ext cx="7455428" cy="493776"/>
            <a:chOff x="0" y="0"/>
            <a:chExt cx="9940571" cy="658368"/>
          </a:xfrm>
        </p:grpSpPr>
        <p:grpSp>
          <p:nvGrpSpPr>
            <p:cNvPr name="Group 276" id="276"/>
            <p:cNvGrpSpPr/>
            <p:nvPr/>
          </p:nvGrpSpPr>
          <p:grpSpPr>
            <a:xfrm rot="0">
              <a:off x="0" y="17093"/>
              <a:ext cx="9940571" cy="624181"/>
              <a:chOff x="0" y="0"/>
              <a:chExt cx="1963570" cy="123295"/>
            </a:xfrm>
          </p:grpSpPr>
          <p:sp>
            <p:nvSpPr>
              <p:cNvPr name="Freeform 277" id="277"/>
              <p:cNvSpPr/>
              <p:nvPr/>
            </p:nvSpPr>
            <p:spPr>
              <a:xfrm flipH="false" flipV="false" rot="0">
                <a:off x="0" y="0"/>
                <a:ext cx="1963570" cy="123295"/>
              </a:xfrm>
              <a:custGeom>
                <a:avLst/>
                <a:gdLst/>
                <a:ahLst/>
                <a:cxnLst/>
                <a:rect r="r" b="b" t="t" l="l"/>
                <a:pathLst>
                  <a:path h="123295" w="1963570">
                    <a:moveTo>
                      <a:pt x="61648" y="0"/>
                    </a:moveTo>
                    <a:lnTo>
                      <a:pt x="1901922" y="0"/>
                    </a:lnTo>
                    <a:cubicBezTo>
                      <a:pt x="1918272" y="0"/>
                      <a:pt x="1933952" y="6495"/>
                      <a:pt x="1945514" y="18056"/>
                    </a:cubicBezTo>
                    <a:cubicBezTo>
                      <a:pt x="1957075" y="29617"/>
                      <a:pt x="1963570" y="45298"/>
                      <a:pt x="1963570" y="61648"/>
                    </a:cubicBezTo>
                    <a:lnTo>
                      <a:pt x="1963570" y="61648"/>
                    </a:lnTo>
                    <a:cubicBezTo>
                      <a:pt x="1963570" y="95695"/>
                      <a:pt x="1935969" y="123295"/>
                      <a:pt x="1901922" y="123295"/>
                    </a:cubicBezTo>
                    <a:lnTo>
                      <a:pt x="61648" y="123295"/>
                    </a:lnTo>
                    <a:cubicBezTo>
                      <a:pt x="45298" y="123295"/>
                      <a:pt x="29617" y="116800"/>
                      <a:pt x="18056" y="105239"/>
                    </a:cubicBezTo>
                    <a:cubicBezTo>
                      <a:pt x="6495" y="93678"/>
                      <a:pt x="0" y="77997"/>
                      <a:pt x="0" y="61648"/>
                    </a:cubicBezTo>
                    <a:lnTo>
                      <a:pt x="0" y="61648"/>
                    </a:lnTo>
                    <a:cubicBezTo>
                      <a:pt x="0" y="45298"/>
                      <a:pt x="6495" y="29617"/>
                      <a:pt x="18056" y="18056"/>
                    </a:cubicBezTo>
                    <a:cubicBezTo>
                      <a:pt x="29617" y="6495"/>
                      <a:pt x="45298" y="0"/>
                      <a:pt x="61648" y="0"/>
                    </a:cubicBezTo>
                    <a:close/>
                  </a:path>
                </a:pathLst>
              </a:custGeom>
              <a:solidFill>
                <a:srgbClr val="1E2D4F"/>
              </a:solidFill>
            </p:spPr>
          </p:sp>
          <p:sp>
            <p:nvSpPr>
              <p:cNvPr name="TextBox 278" id="278"/>
              <p:cNvSpPr txBox="true"/>
              <p:nvPr/>
            </p:nvSpPr>
            <p:spPr>
              <a:xfrm>
                <a:off x="0" y="-9525"/>
                <a:ext cx="1963570" cy="132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2"/>
                  </a:lnSpc>
                </a:pPr>
              </a:p>
            </p:txBody>
          </p:sp>
        </p:grpSp>
        <p:grpSp>
          <p:nvGrpSpPr>
            <p:cNvPr name="Group 279" id="279"/>
            <p:cNvGrpSpPr/>
            <p:nvPr/>
          </p:nvGrpSpPr>
          <p:grpSpPr>
            <a:xfrm rot="0">
              <a:off x="230631" y="0"/>
              <a:ext cx="9423214" cy="658368"/>
              <a:chOff x="0" y="0"/>
              <a:chExt cx="9423214" cy="658368"/>
            </a:xfrm>
          </p:grpSpPr>
          <p:sp>
            <p:nvSpPr>
              <p:cNvPr name="Freeform 280" id="280"/>
              <p:cNvSpPr/>
              <p:nvPr/>
            </p:nvSpPr>
            <p:spPr>
              <a:xfrm flipH="false" flipV="false" rot="0">
                <a:off x="0" y="0"/>
                <a:ext cx="9423214" cy="658368"/>
              </a:xfrm>
              <a:custGeom>
                <a:avLst/>
                <a:gdLst/>
                <a:ahLst/>
                <a:cxnLst/>
                <a:rect r="r" b="b" t="t" l="l"/>
                <a:pathLst>
                  <a:path h="658368" w="9423214">
                    <a:moveTo>
                      <a:pt x="0" y="0"/>
                    </a:moveTo>
                    <a:lnTo>
                      <a:pt x="9423214" y="0"/>
                    </a:lnTo>
                    <a:lnTo>
                      <a:pt x="942321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98844" r="46629" b="-98844"/>
                </a:stretch>
              </a:blipFill>
            </p:spPr>
          </p:sp>
          <p:sp>
            <p:nvSpPr>
              <p:cNvPr name="TextBox 281" id="281"/>
              <p:cNvSpPr txBox="true"/>
              <p:nvPr/>
            </p:nvSpPr>
            <p:spPr>
              <a:xfrm>
                <a:off x="0" y="0"/>
                <a:ext cx="9423214" cy="6583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980"/>
                  </a:lnSpc>
                </a:pPr>
                <a:r>
                  <a:rPr lang="en-US" b="true" sz="1650" spc="150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INTERNAL WEALTHTECH TECHNOLOGY OPERATIONS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302" y="838124"/>
            <a:ext cx="11817125" cy="55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App UI Refresh: Login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68598" y="1899999"/>
            <a:ext cx="1999964" cy="400050"/>
            <a:chOff x="0" y="0"/>
            <a:chExt cx="2666619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68598" y="1892856"/>
            <a:ext cx="1999964" cy="407098"/>
            <a:chOff x="0" y="0"/>
            <a:chExt cx="2666619" cy="5427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68598" y="1885712"/>
            <a:ext cx="1999964" cy="414338"/>
            <a:chOff x="0" y="0"/>
            <a:chExt cx="2666619" cy="552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68598" y="1878568"/>
            <a:ext cx="2000002" cy="421434"/>
            <a:chOff x="0" y="0"/>
            <a:chExt cx="2666670" cy="561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68598" y="1871424"/>
            <a:ext cx="2000002" cy="428577"/>
            <a:chOff x="0" y="0"/>
            <a:chExt cx="2666670" cy="5714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CURRENT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37192" y="2419998"/>
            <a:ext cx="3462814" cy="7200043"/>
            <a:chOff x="0" y="0"/>
            <a:chExt cx="4617085" cy="9600057"/>
          </a:xfrm>
        </p:grpSpPr>
        <p:sp>
          <p:nvSpPr>
            <p:cNvPr name="Freeform 17" id="17" descr="Home Screen Old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7" t="0" r="-8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31404" y="1899999"/>
            <a:ext cx="1999964" cy="400050"/>
            <a:chOff x="0" y="0"/>
            <a:chExt cx="2666619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31404" y="1892856"/>
            <a:ext cx="1999964" cy="407098"/>
            <a:chOff x="0" y="0"/>
            <a:chExt cx="2666619" cy="5427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31404" y="1885712"/>
            <a:ext cx="1999964" cy="414338"/>
            <a:chOff x="0" y="0"/>
            <a:chExt cx="2666619" cy="552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31404" y="1878568"/>
            <a:ext cx="2000002" cy="421434"/>
            <a:chOff x="0" y="0"/>
            <a:chExt cx="2666670" cy="561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31404" y="1871424"/>
            <a:ext cx="2000002" cy="428577"/>
            <a:chOff x="0" y="0"/>
            <a:chExt cx="2666670" cy="5714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NEW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699998" y="2419998"/>
            <a:ext cx="3462814" cy="7200043"/>
            <a:chOff x="0" y="0"/>
            <a:chExt cx="4617085" cy="9600057"/>
          </a:xfrm>
        </p:grpSpPr>
        <p:sp>
          <p:nvSpPr>
            <p:cNvPr name="Freeform 30" id="30" descr="Home Screen New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7" t="0" r="-87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300002" y="2460003"/>
            <a:ext cx="46006" cy="300038"/>
            <a:chOff x="0" y="0"/>
            <a:chExt cx="61341" cy="400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341" cy="400050"/>
            </a:xfrm>
            <a:custGeom>
              <a:avLst/>
              <a:gdLst/>
              <a:ahLst/>
              <a:cxnLst/>
              <a:rect r="r" b="b" t="t" l="l"/>
              <a:pathLst>
                <a:path h="400050" w="61341">
                  <a:moveTo>
                    <a:pt x="0" y="0"/>
                  </a:moveTo>
                  <a:lnTo>
                    <a:pt x="61341" y="0"/>
                  </a:lnTo>
                  <a:lnTo>
                    <a:pt x="61341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531440" y="2418093"/>
            <a:ext cx="6815118" cy="35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What Changed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323004" y="3164996"/>
            <a:ext cx="104966" cy="104966"/>
            <a:chOff x="0" y="0"/>
            <a:chExt cx="139954" cy="1399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684450" y="3062859"/>
            <a:ext cx="6650088" cy="3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Clearer visual hierarchy with a single primary action.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323004" y="4247731"/>
            <a:ext cx="104966" cy="104966"/>
            <a:chOff x="0" y="0"/>
            <a:chExt cx="139954" cy="1399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684450" y="4145585"/>
            <a:ext cx="6655118" cy="70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Primary action restyled to the gold brand button, previously gray.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323004" y="5680405"/>
            <a:ext cx="104966" cy="104966"/>
            <a:chOff x="0" y="0"/>
            <a:chExt cx="139954" cy="1399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684450" y="5578250"/>
            <a:ext cx="4805839" cy="3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Warmer, more welcoming entry point.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346007" y="6763121"/>
            <a:ext cx="104966" cy="104966"/>
            <a:chOff x="0" y="0"/>
            <a:chExt cx="139954" cy="1399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707453" y="6660985"/>
            <a:ext cx="6655118" cy="3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Modern aesthetic with clean UI.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2" r="0" b="-363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77240" y="9773517"/>
            <a:ext cx="10817123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91443" y="9773517"/>
            <a:ext cx="717118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7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5576633" y="950619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300002" y="3004957"/>
            <a:ext cx="7250001" cy="4249998"/>
            <a:chOff x="0" y="0"/>
            <a:chExt cx="9666668" cy="56666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66605" cy="5666613"/>
            </a:xfrm>
            <a:custGeom>
              <a:avLst/>
              <a:gdLst/>
              <a:ahLst/>
              <a:cxnLst/>
              <a:rect r="r" b="b" t="t" l="l"/>
              <a:pathLst>
                <a:path h="5666613" w="9666605">
                  <a:moveTo>
                    <a:pt x="0" y="0"/>
                  </a:moveTo>
                  <a:lnTo>
                    <a:pt x="9666605" y="0"/>
                  </a:lnTo>
                  <a:lnTo>
                    <a:pt x="9666605" y="5666613"/>
                  </a:lnTo>
                  <a:lnTo>
                    <a:pt x="0" y="56666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329996" y="3164996"/>
            <a:ext cx="104966" cy="104966"/>
            <a:chOff x="0" y="0"/>
            <a:chExt cx="139954" cy="13995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585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782881" y="3106198"/>
            <a:ext cx="6472238" cy="61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The screen opens with the brand logo and a Welcome greeting, a warmer entry point.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329996" y="4094998"/>
            <a:ext cx="104966" cy="104966"/>
            <a:chOff x="0" y="0"/>
            <a:chExt cx="139954" cy="13995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585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0782881" y="4036200"/>
            <a:ext cx="6472238" cy="61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Email and password fields carry floating labels in place of plain grey boxes.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329996" y="5024990"/>
            <a:ext cx="104966" cy="104966"/>
            <a:chOff x="0" y="0"/>
            <a:chExt cx="139954" cy="13995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585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0782881" y="4966192"/>
            <a:ext cx="6472238" cy="61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A single environment selector replaces the two competing buttons in the current build.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0329996" y="5954992"/>
            <a:ext cx="104966" cy="104966"/>
            <a:chOff x="0" y="0"/>
            <a:chExt cx="139954" cy="13995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585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0782881" y="5896194"/>
            <a:ext cx="6472238" cy="61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Primary action restyled to the gold brand button, previously grey.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5849302" y="3157299"/>
            <a:ext cx="3157625" cy="1047398"/>
            <a:chOff x="0" y="0"/>
            <a:chExt cx="4210167" cy="13965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10230" cy="1396619"/>
            </a:xfrm>
            <a:custGeom>
              <a:avLst/>
              <a:gdLst/>
              <a:ahLst/>
              <a:cxnLst/>
              <a:rect r="r" b="b" t="t" l="l"/>
              <a:pathLst>
                <a:path h="1396619" w="4210230">
                  <a:moveTo>
                    <a:pt x="0" y="111760"/>
                  </a:moveTo>
                  <a:cubicBezTo>
                    <a:pt x="0" y="50038"/>
                    <a:pt x="49385" y="0"/>
                    <a:pt x="110301" y="0"/>
                  </a:cubicBezTo>
                  <a:lnTo>
                    <a:pt x="4099928" y="0"/>
                  </a:lnTo>
                  <a:cubicBezTo>
                    <a:pt x="4160845" y="0"/>
                    <a:pt x="4210230" y="50038"/>
                    <a:pt x="4210230" y="111760"/>
                  </a:cubicBezTo>
                  <a:lnTo>
                    <a:pt x="4210230" y="1284859"/>
                  </a:lnTo>
                  <a:cubicBezTo>
                    <a:pt x="4210230" y="1346581"/>
                    <a:pt x="4160845" y="1396619"/>
                    <a:pt x="4099928" y="1396619"/>
                  </a:cubicBezTo>
                  <a:lnTo>
                    <a:pt x="110301" y="1396619"/>
                  </a:lnTo>
                  <a:cubicBezTo>
                    <a:pt x="49385" y="1396619"/>
                    <a:pt x="0" y="1346581"/>
                    <a:pt x="0" y="1284859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518" r="-1321" b="-9512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>
            <a:off x="9006928" y="3218327"/>
            <a:ext cx="1375551" cy="462671"/>
          </a:xfrm>
          <a:custGeom>
            <a:avLst/>
            <a:gdLst/>
            <a:ahLst/>
            <a:cxnLst/>
            <a:rect r="r" b="b" t="t" l="l"/>
            <a:pathLst>
              <a:path h="462671" w="1375551">
                <a:moveTo>
                  <a:pt x="1375551" y="0"/>
                </a:moveTo>
                <a:lnTo>
                  <a:pt x="916375" y="0"/>
                </a:lnTo>
                <a:cubicBezTo>
                  <a:pt x="855746" y="0"/>
                  <a:pt x="797601" y="24085"/>
                  <a:pt x="754730" y="66955"/>
                </a:cubicBezTo>
                <a:cubicBezTo>
                  <a:pt x="711859" y="109826"/>
                  <a:pt x="687775" y="167971"/>
                  <a:pt x="687775" y="228600"/>
                </a:cubicBezTo>
                <a:lnTo>
                  <a:pt x="687775" y="234071"/>
                </a:lnTo>
                <a:cubicBezTo>
                  <a:pt x="687775" y="360324"/>
                  <a:pt x="585427" y="462671"/>
                  <a:pt x="459175" y="462671"/>
                </a:cubicBezTo>
                <a:lnTo>
                  <a:pt x="0" y="462671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5849302" y="4352696"/>
            <a:ext cx="3157625" cy="1129763"/>
            <a:chOff x="0" y="0"/>
            <a:chExt cx="4210167" cy="15063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10104" cy="1506350"/>
            </a:xfrm>
            <a:custGeom>
              <a:avLst/>
              <a:gdLst/>
              <a:ahLst/>
              <a:cxnLst/>
              <a:rect r="r" b="b" t="t" l="l"/>
              <a:pathLst>
                <a:path h="1506350" w="4210104">
                  <a:moveTo>
                    <a:pt x="0" y="120484"/>
                  </a:moveTo>
                  <a:cubicBezTo>
                    <a:pt x="0" y="53973"/>
                    <a:pt x="44246" y="0"/>
                    <a:pt x="98769" y="0"/>
                  </a:cubicBezTo>
                  <a:lnTo>
                    <a:pt x="4111335" y="0"/>
                  </a:lnTo>
                  <a:cubicBezTo>
                    <a:pt x="4165859" y="0"/>
                    <a:pt x="4210104" y="53973"/>
                    <a:pt x="4210104" y="120484"/>
                  </a:cubicBezTo>
                  <a:lnTo>
                    <a:pt x="4210104" y="1385867"/>
                  </a:lnTo>
                  <a:cubicBezTo>
                    <a:pt x="4210104" y="1452377"/>
                    <a:pt x="4165859" y="1506350"/>
                    <a:pt x="4111335" y="1506350"/>
                  </a:cubicBezTo>
                  <a:lnTo>
                    <a:pt x="98769" y="1506350"/>
                  </a:lnTo>
                  <a:cubicBezTo>
                    <a:pt x="44246" y="1506350"/>
                    <a:pt x="0" y="1452377"/>
                    <a:pt x="0" y="1385867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49" r="-1324" b="3288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70" id="70"/>
          <p:cNvSpPr/>
          <p:nvPr/>
        </p:nvSpPr>
        <p:spPr>
          <a:xfrm>
            <a:off x="9006880" y="4147115"/>
            <a:ext cx="1375598" cy="770462"/>
          </a:xfrm>
          <a:custGeom>
            <a:avLst/>
            <a:gdLst/>
            <a:ahLst/>
            <a:cxnLst/>
            <a:rect r="r" b="b" t="t" l="l"/>
            <a:pathLst>
              <a:path h="770462" w="1375598">
                <a:moveTo>
                  <a:pt x="1375599" y="0"/>
                </a:moveTo>
                <a:lnTo>
                  <a:pt x="916400" y="0"/>
                </a:lnTo>
                <a:cubicBezTo>
                  <a:pt x="855771" y="0"/>
                  <a:pt x="797625" y="24085"/>
                  <a:pt x="754755" y="66956"/>
                </a:cubicBezTo>
                <a:cubicBezTo>
                  <a:pt x="711884" y="109827"/>
                  <a:pt x="687800" y="167972"/>
                  <a:pt x="687800" y="228600"/>
                </a:cubicBezTo>
                <a:lnTo>
                  <a:pt x="687800" y="541863"/>
                </a:lnTo>
                <a:cubicBezTo>
                  <a:pt x="687800" y="602491"/>
                  <a:pt x="663715" y="660637"/>
                  <a:pt x="620844" y="703508"/>
                </a:cubicBezTo>
                <a:cubicBezTo>
                  <a:pt x="577974" y="746378"/>
                  <a:pt x="519828" y="770463"/>
                  <a:pt x="459200" y="770463"/>
                </a:cubicBezTo>
                <a:lnTo>
                  <a:pt x="0" y="770463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1" id="71"/>
          <p:cNvGrpSpPr/>
          <p:nvPr/>
        </p:nvGrpSpPr>
        <p:grpSpPr>
          <a:xfrm rot="0">
            <a:off x="5849303" y="5791295"/>
            <a:ext cx="3157578" cy="348396"/>
            <a:chOff x="0" y="0"/>
            <a:chExt cx="4210104" cy="4645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10167" cy="464566"/>
            </a:xfrm>
            <a:custGeom>
              <a:avLst/>
              <a:gdLst/>
              <a:ahLst/>
              <a:cxnLst/>
              <a:rect r="r" b="b" t="t" l="l"/>
              <a:pathLst>
                <a:path h="464566" w="4210167">
                  <a:moveTo>
                    <a:pt x="0" y="37211"/>
                  </a:moveTo>
                  <a:cubicBezTo>
                    <a:pt x="0" y="16637"/>
                    <a:pt x="16420" y="0"/>
                    <a:pt x="36725" y="0"/>
                  </a:cubicBezTo>
                  <a:lnTo>
                    <a:pt x="4173442" y="0"/>
                  </a:lnTo>
                  <a:cubicBezTo>
                    <a:pt x="4193747" y="0"/>
                    <a:pt x="4210167" y="16637"/>
                    <a:pt x="4210167" y="37211"/>
                  </a:cubicBezTo>
                  <a:lnTo>
                    <a:pt x="4210167" y="427355"/>
                  </a:lnTo>
                  <a:cubicBezTo>
                    <a:pt x="4210167" y="447929"/>
                    <a:pt x="4193747" y="464566"/>
                    <a:pt x="4173442" y="464566"/>
                  </a:cubicBezTo>
                  <a:lnTo>
                    <a:pt x="36725" y="464566"/>
                  </a:lnTo>
                  <a:cubicBezTo>
                    <a:pt x="16420" y="464566"/>
                    <a:pt x="0" y="447929"/>
                    <a:pt x="0" y="42735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8925" r="-1322" b="-128916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73" id="73"/>
          <p:cNvSpPr/>
          <p:nvPr/>
        </p:nvSpPr>
        <p:spPr>
          <a:xfrm>
            <a:off x="9006880" y="5089296"/>
            <a:ext cx="1375598" cy="876198"/>
          </a:xfrm>
          <a:custGeom>
            <a:avLst/>
            <a:gdLst/>
            <a:ahLst/>
            <a:cxnLst/>
            <a:rect r="r" b="b" t="t" l="l"/>
            <a:pathLst>
              <a:path h="876198" w="1375598">
                <a:moveTo>
                  <a:pt x="1375599" y="0"/>
                </a:moveTo>
                <a:lnTo>
                  <a:pt x="916400" y="0"/>
                </a:lnTo>
                <a:cubicBezTo>
                  <a:pt x="790148" y="0"/>
                  <a:pt x="687800" y="102347"/>
                  <a:pt x="687800" y="228600"/>
                </a:cubicBezTo>
                <a:lnTo>
                  <a:pt x="687800" y="647597"/>
                </a:lnTo>
                <a:cubicBezTo>
                  <a:pt x="687800" y="708226"/>
                  <a:pt x="663715" y="766371"/>
                  <a:pt x="620844" y="809242"/>
                </a:cubicBezTo>
                <a:cubicBezTo>
                  <a:pt x="577974" y="852113"/>
                  <a:pt x="519828" y="876197"/>
                  <a:pt x="459200" y="876197"/>
                </a:cubicBezTo>
                <a:lnTo>
                  <a:pt x="0" y="876197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4" id="74"/>
          <p:cNvGrpSpPr/>
          <p:nvPr/>
        </p:nvGrpSpPr>
        <p:grpSpPr>
          <a:xfrm rot="0">
            <a:off x="5849303" y="6177215"/>
            <a:ext cx="3157578" cy="510859"/>
            <a:chOff x="0" y="0"/>
            <a:chExt cx="4210104" cy="68114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210041" cy="681130"/>
            </a:xfrm>
            <a:custGeom>
              <a:avLst/>
              <a:gdLst/>
              <a:ahLst/>
              <a:cxnLst/>
              <a:rect r="r" b="b" t="t" l="l"/>
              <a:pathLst>
                <a:path h="681130" w="4210041">
                  <a:moveTo>
                    <a:pt x="0" y="54490"/>
                  </a:moveTo>
                  <a:cubicBezTo>
                    <a:pt x="0" y="24401"/>
                    <a:pt x="20430" y="0"/>
                    <a:pt x="45624" y="0"/>
                  </a:cubicBezTo>
                  <a:lnTo>
                    <a:pt x="4164418" y="0"/>
                  </a:lnTo>
                  <a:cubicBezTo>
                    <a:pt x="4189611" y="0"/>
                    <a:pt x="4210041" y="24401"/>
                    <a:pt x="4210041" y="54490"/>
                  </a:cubicBezTo>
                  <a:lnTo>
                    <a:pt x="4210041" y="626640"/>
                  </a:lnTo>
                  <a:cubicBezTo>
                    <a:pt x="4210041" y="656729"/>
                    <a:pt x="4189611" y="681130"/>
                    <a:pt x="4164418" y="681130"/>
                  </a:cubicBezTo>
                  <a:lnTo>
                    <a:pt x="45624" y="681130"/>
                  </a:lnTo>
                  <a:cubicBezTo>
                    <a:pt x="20430" y="681130"/>
                    <a:pt x="0" y="656729"/>
                    <a:pt x="0" y="62664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613" r="-1325" b="-64452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76" id="76"/>
          <p:cNvSpPr/>
          <p:nvPr/>
        </p:nvSpPr>
        <p:spPr>
          <a:xfrm>
            <a:off x="9006833" y="6013228"/>
            <a:ext cx="1375645" cy="419417"/>
          </a:xfrm>
          <a:custGeom>
            <a:avLst/>
            <a:gdLst/>
            <a:ahLst/>
            <a:cxnLst/>
            <a:rect r="r" b="b" t="t" l="l"/>
            <a:pathLst>
              <a:path h="419417" w="1375645">
                <a:moveTo>
                  <a:pt x="1375646" y="0"/>
                </a:moveTo>
                <a:lnTo>
                  <a:pt x="897531" y="0"/>
                </a:lnTo>
                <a:cubicBezTo>
                  <a:pt x="841914" y="0"/>
                  <a:pt x="788574" y="22094"/>
                  <a:pt x="749245" y="61422"/>
                </a:cubicBezTo>
                <a:cubicBezTo>
                  <a:pt x="709917" y="100750"/>
                  <a:pt x="687823" y="154090"/>
                  <a:pt x="687823" y="209708"/>
                </a:cubicBezTo>
                <a:lnTo>
                  <a:pt x="687823" y="209708"/>
                </a:lnTo>
                <a:cubicBezTo>
                  <a:pt x="687823" y="265326"/>
                  <a:pt x="665729" y="318667"/>
                  <a:pt x="626401" y="357994"/>
                </a:cubicBezTo>
                <a:cubicBezTo>
                  <a:pt x="587073" y="397323"/>
                  <a:pt x="533733" y="419417"/>
                  <a:pt x="478115" y="419417"/>
                </a:cubicBezTo>
                <a:lnTo>
                  <a:pt x="0" y="419417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68598" y="1899999"/>
            <a:ext cx="1999964" cy="400050"/>
            <a:chOff x="0" y="0"/>
            <a:chExt cx="2666619" cy="533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68598" y="1892856"/>
            <a:ext cx="1999964" cy="407098"/>
            <a:chOff x="0" y="0"/>
            <a:chExt cx="2666619" cy="5427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68598" y="1885712"/>
            <a:ext cx="1999964" cy="414338"/>
            <a:chOff x="0" y="0"/>
            <a:chExt cx="2666619" cy="552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68598" y="1878568"/>
            <a:ext cx="2000002" cy="421434"/>
            <a:chOff x="0" y="0"/>
            <a:chExt cx="2666670" cy="561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68598" y="1871424"/>
            <a:ext cx="2000002" cy="428577"/>
            <a:chOff x="0" y="0"/>
            <a:chExt cx="2666670" cy="571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CURRENT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31404" y="1899999"/>
            <a:ext cx="1999964" cy="400050"/>
            <a:chOff x="0" y="0"/>
            <a:chExt cx="2666619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31404" y="1892856"/>
            <a:ext cx="1999964" cy="407098"/>
            <a:chOff x="0" y="0"/>
            <a:chExt cx="2666619" cy="542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31404" y="1885712"/>
            <a:ext cx="1999964" cy="414338"/>
            <a:chOff x="0" y="0"/>
            <a:chExt cx="2666619" cy="5524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31404" y="1878568"/>
            <a:ext cx="2000002" cy="421434"/>
            <a:chOff x="0" y="0"/>
            <a:chExt cx="2666670" cy="561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31404" y="1871424"/>
            <a:ext cx="2000002" cy="428577"/>
            <a:chOff x="0" y="0"/>
            <a:chExt cx="2666670" cy="5714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699998" y="2419998"/>
            <a:ext cx="3462814" cy="7200043"/>
            <a:chOff x="0" y="0"/>
            <a:chExt cx="4617085" cy="9600057"/>
          </a:xfrm>
        </p:grpSpPr>
        <p:sp>
          <p:nvSpPr>
            <p:cNvPr name="Freeform 27" id="27" descr="Portfolio New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7" t="0" r="-87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300002" y="2460003"/>
            <a:ext cx="46006" cy="300038"/>
            <a:chOff x="0" y="0"/>
            <a:chExt cx="61341" cy="400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341" cy="400050"/>
            </a:xfrm>
            <a:custGeom>
              <a:avLst/>
              <a:gdLst/>
              <a:ahLst/>
              <a:cxnLst/>
              <a:rect r="r" b="b" t="t" l="l"/>
              <a:pathLst>
                <a:path h="400050" w="61341">
                  <a:moveTo>
                    <a:pt x="0" y="0"/>
                  </a:moveTo>
                  <a:lnTo>
                    <a:pt x="61341" y="0"/>
                  </a:lnTo>
                  <a:lnTo>
                    <a:pt x="61341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2" r="0" b="-363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96302" y="755952"/>
            <a:ext cx="11817125" cy="55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App UI Refresh: Portfolio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31440" y="2418093"/>
            <a:ext cx="6815118" cy="35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What Changed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329996" y="3164996"/>
            <a:ext cx="104966" cy="104966"/>
            <a:chOff x="0" y="0"/>
            <a:chExt cx="139954" cy="1399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691441" y="3060478"/>
            <a:ext cx="6655118" cy="70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Account value leads the screen as a large figure with daily change, previously a small Value row.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329996" y="4289889"/>
            <a:ext cx="104966" cy="104966"/>
            <a:chOff x="0" y="0"/>
            <a:chExt cx="139954" cy="1399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691441" y="4185361"/>
            <a:ext cx="6655118" cy="70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A performance chart across the selected period is added. The current build has none.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329996" y="5414782"/>
            <a:ext cx="104966" cy="104966"/>
            <a:chOff x="0" y="0"/>
            <a:chExt cx="139954" cy="1399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691441" y="5310254"/>
            <a:ext cx="6655118" cy="70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Purification is surfaced as its own row with a Purify action.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329996" y="6539655"/>
            <a:ext cx="104966" cy="104966"/>
            <a:chOff x="0" y="0"/>
            <a:chExt cx="139954" cy="1399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691441" y="6435138"/>
            <a:ext cx="6655118" cy="101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Every position speaks for itself: green for gains, red for losses, so performance is clear the moment the screen opens.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329996" y="7997933"/>
            <a:ext cx="104966" cy="104966"/>
            <a:chOff x="0" y="0"/>
            <a:chExt cx="139954" cy="1399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0691441" y="7893406"/>
            <a:ext cx="6655118" cy="101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Bottom navigation changes from Orders and More to Explore and Activity shifting the emphasis toward discovery and recent actions.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7240" y="9773517"/>
            <a:ext cx="10817123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591443" y="9773517"/>
            <a:ext cx="717118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8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537173" y="2419998"/>
            <a:ext cx="3462814" cy="7200043"/>
            <a:chOff x="0" y="0"/>
            <a:chExt cx="4617085" cy="9600057"/>
          </a:xfrm>
        </p:grpSpPr>
        <p:sp>
          <p:nvSpPr>
            <p:cNvPr name="Freeform 52" id="52" descr="Portfolio Old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11" r="0" b="-111"/>
              </a:stretch>
            </a:blip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5576633" y="950619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5896794" y="3460087"/>
            <a:ext cx="3110694" cy="436403"/>
            <a:chOff x="0" y="0"/>
            <a:chExt cx="4147591" cy="5818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47566" cy="581771"/>
            </a:xfrm>
            <a:custGeom>
              <a:avLst/>
              <a:gdLst/>
              <a:ahLst/>
              <a:cxnLst/>
              <a:rect r="r" b="b" t="t" l="l"/>
              <a:pathLst>
                <a:path h="581771" w="4147566">
                  <a:moveTo>
                    <a:pt x="0" y="46502"/>
                  </a:moveTo>
                  <a:cubicBezTo>
                    <a:pt x="0" y="20890"/>
                    <a:pt x="18542" y="0"/>
                    <a:pt x="41275" y="0"/>
                  </a:cubicBezTo>
                  <a:lnTo>
                    <a:pt x="4106291" y="0"/>
                  </a:lnTo>
                  <a:cubicBezTo>
                    <a:pt x="4129151" y="0"/>
                    <a:pt x="4147566" y="20890"/>
                    <a:pt x="4147566" y="46502"/>
                  </a:cubicBezTo>
                  <a:lnTo>
                    <a:pt x="4147566" y="535269"/>
                  </a:lnTo>
                  <a:cubicBezTo>
                    <a:pt x="4147566" y="561023"/>
                    <a:pt x="4129024" y="581770"/>
                    <a:pt x="4106291" y="581770"/>
                  </a:cubicBezTo>
                  <a:lnTo>
                    <a:pt x="41275" y="581770"/>
                  </a:lnTo>
                  <a:cubicBezTo>
                    <a:pt x="18542" y="581909"/>
                    <a:pt x="0" y="561023"/>
                    <a:pt x="0" y="535269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525" r="0" b="-83301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6" id="56"/>
          <p:cNvSpPr/>
          <p:nvPr/>
        </p:nvSpPr>
        <p:spPr>
          <a:xfrm>
            <a:off x="9007469" y="3204196"/>
            <a:ext cx="1375010" cy="474093"/>
          </a:xfrm>
          <a:custGeom>
            <a:avLst/>
            <a:gdLst/>
            <a:ahLst/>
            <a:cxnLst/>
            <a:rect r="r" b="b" t="t" l="l"/>
            <a:pathLst>
              <a:path h="474093" w="1375010">
                <a:moveTo>
                  <a:pt x="1375010" y="0"/>
                </a:moveTo>
                <a:lnTo>
                  <a:pt x="916105" y="0"/>
                </a:lnTo>
                <a:cubicBezTo>
                  <a:pt x="789853" y="0"/>
                  <a:pt x="687505" y="102347"/>
                  <a:pt x="687505" y="228600"/>
                </a:cubicBezTo>
                <a:lnTo>
                  <a:pt x="687505" y="245492"/>
                </a:lnTo>
                <a:cubicBezTo>
                  <a:pt x="687505" y="371745"/>
                  <a:pt x="585157" y="474092"/>
                  <a:pt x="458905" y="474092"/>
                </a:cubicBezTo>
                <a:lnTo>
                  <a:pt x="0" y="474092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5854752" y="4750451"/>
            <a:ext cx="3152736" cy="1339853"/>
            <a:chOff x="0" y="0"/>
            <a:chExt cx="4203648" cy="17864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3622" cy="1786382"/>
            </a:xfrm>
            <a:custGeom>
              <a:avLst/>
              <a:gdLst/>
              <a:ahLst/>
              <a:cxnLst/>
              <a:rect r="r" b="b" t="t" l="l"/>
              <a:pathLst>
                <a:path h="1786382" w="4203622">
                  <a:moveTo>
                    <a:pt x="0" y="142875"/>
                  </a:moveTo>
                  <a:cubicBezTo>
                    <a:pt x="0" y="64008"/>
                    <a:pt x="64873" y="0"/>
                    <a:pt x="144806" y="0"/>
                  </a:cubicBezTo>
                  <a:lnTo>
                    <a:pt x="4058816" y="0"/>
                  </a:lnTo>
                  <a:cubicBezTo>
                    <a:pt x="4138878" y="0"/>
                    <a:pt x="4203622" y="64008"/>
                    <a:pt x="4203622" y="142875"/>
                  </a:cubicBezTo>
                  <a:lnTo>
                    <a:pt x="4203622" y="1643507"/>
                  </a:lnTo>
                  <a:cubicBezTo>
                    <a:pt x="4203622" y="1722501"/>
                    <a:pt x="4138749" y="1786382"/>
                    <a:pt x="4058816" y="1786382"/>
                  </a:cubicBezTo>
                  <a:lnTo>
                    <a:pt x="144806" y="1786382"/>
                  </a:lnTo>
                  <a:cubicBezTo>
                    <a:pt x="64873" y="1786509"/>
                    <a:pt x="0" y="1722501"/>
                    <a:pt x="0" y="1643507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93" t="0" r="-3860" b="-4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9" id="59"/>
          <p:cNvSpPr/>
          <p:nvPr/>
        </p:nvSpPr>
        <p:spPr>
          <a:xfrm>
            <a:off x="9007468" y="4343705"/>
            <a:ext cx="1375011" cy="1076672"/>
          </a:xfrm>
          <a:custGeom>
            <a:avLst/>
            <a:gdLst/>
            <a:ahLst/>
            <a:cxnLst/>
            <a:rect r="r" b="b" t="t" l="l"/>
            <a:pathLst>
              <a:path h="1076672" w="1375011">
                <a:moveTo>
                  <a:pt x="1375011" y="0"/>
                </a:moveTo>
                <a:lnTo>
                  <a:pt x="916105" y="0"/>
                </a:lnTo>
                <a:cubicBezTo>
                  <a:pt x="789853" y="0"/>
                  <a:pt x="687505" y="102348"/>
                  <a:pt x="687505" y="228600"/>
                </a:cubicBezTo>
                <a:lnTo>
                  <a:pt x="687505" y="848072"/>
                </a:lnTo>
                <a:cubicBezTo>
                  <a:pt x="687505" y="974325"/>
                  <a:pt x="585157" y="1076672"/>
                  <a:pt x="458905" y="1076672"/>
                </a:cubicBezTo>
                <a:lnTo>
                  <a:pt x="0" y="1076672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0" id="60"/>
          <p:cNvGrpSpPr/>
          <p:nvPr/>
        </p:nvGrpSpPr>
        <p:grpSpPr>
          <a:xfrm rot="0">
            <a:off x="5854752" y="6274451"/>
            <a:ext cx="3152736" cy="406403"/>
            <a:chOff x="0" y="0"/>
            <a:chExt cx="4203648" cy="5418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03622" cy="541783"/>
            </a:xfrm>
            <a:custGeom>
              <a:avLst/>
              <a:gdLst/>
              <a:ahLst/>
              <a:cxnLst/>
              <a:rect r="r" b="b" t="t" l="l"/>
              <a:pathLst>
                <a:path h="541783" w="4203622">
                  <a:moveTo>
                    <a:pt x="0" y="43307"/>
                  </a:moveTo>
                  <a:cubicBezTo>
                    <a:pt x="0" y="19431"/>
                    <a:pt x="19694" y="0"/>
                    <a:pt x="43892" y="0"/>
                  </a:cubicBezTo>
                  <a:lnTo>
                    <a:pt x="4159730" y="0"/>
                  </a:lnTo>
                  <a:cubicBezTo>
                    <a:pt x="4184058" y="0"/>
                    <a:pt x="4203622" y="19431"/>
                    <a:pt x="4203622" y="43307"/>
                  </a:cubicBezTo>
                  <a:lnTo>
                    <a:pt x="4203622" y="498475"/>
                  </a:lnTo>
                  <a:cubicBezTo>
                    <a:pt x="4203622" y="522478"/>
                    <a:pt x="4183929" y="541782"/>
                    <a:pt x="4159730" y="541782"/>
                  </a:cubicBezTo>
                  <a:lnTo>
                    <a:pt x="43892" y="541782"/>
                  </a:lnTo>
                  <a:cubicBezTo>
                    <a:pt x="19694" y="541909"/>
                    <a:pt x="0" y="522478"/>
                    <a:pt x="0" y="49847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158" r="1332" b="-99174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62" id="62"/>
          <p:cNvSpPr/>
          <p:nvPr/>
        </p:nvSpPr>
        <p:spPr>
          <a:xfrm>
            <a:off x="9007468" y="5470622"/>
            <a:ext cx="1375011" cy="1007030"/>
          </a:xfrm>
          <a:custGeom>
            <a:avLst/>
            <a:gdLst/>
            <a:ahLst/>
            <a:cxnLst/>
            <a:rect r="r" b="b" t="t" l="l"/>
            <a:pathLst>
              <a:path h="1007030" w="1375011">
                <a:moveTo>
                  <a:pt x="1375011" y="0"/>
                </a:moveTo>
                <a:lnTo>
                  <a:pt x="916105" y="0"/>
                </a:lnTo>
                <a:cubicBezTo>
                  <a:pt x="789853" y="0"/>
                  <a:pt x="687505" y="102348"/>
                  <a:pt x="687505" y="228600"/>
                </a:cubicBezTo>
                <a:lnTo>
                  <a:pt x="687505" y="778430"/>
                </a:lnTo>
                <a:cubicBezTo>
                  <a:pt x="687505" y="904683"/>
                  <a:pt x="585157" y="1007030"/>
                  <a:pt x="458905" y="1007030"/>
                </a:cubicBezTo>
                <a:lnTo>
                  <a:pt x="0" y="1007030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3" id="63"/>
          <p:cNvGrpSpPr/>
          <p:nvPr/>
        </p:nvGrpSpPr>
        <p:grpSpPr>
          <a:xfrm rot="0">
            <a:off x="5854752" y="7607951"/>
            <a:ext cx="3152736" cy="799857"/>
            <a:chOff x="0" y="0"/>
            <a:chExt cx="4203648" cy="10664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03622" cy="1066384"/>
            </a:xfrm>
            <a:custGeom>
              <a:avLst/>
              <a:gdLst/>
              <a:ahLst/>
              <a:cxnLst/>
              <a:rect r="r" b="b" t="t" l="l"/>
              <a:pathLst>
                <a:path h="1066384" w="4203622">
                  <a:moveTo>
                    <a:pt x="0" y="85274"/>
                  </a:moveTo>
                  <a:cubicBezTo>
                    <a:pt x="0" y="38208"/>
                    <a:pt x="37199" y="0"/>
                    <a:pt x="83022" y="0"/>
                  </a:cubicBezTo>
                  <a:lnTo>
                    <a:pt x="4120600" y="0"/>
                  </a:lnTo>
                  <a:cubicBezTo>
                    <a:pt x="4166423" y="0"/>
                    <a:pt x="4203622" y="38208"/>
                    <a:pt x="4203622" y="85274"/>
                  </a:cubicBezTo>
                  <a:lnTo>
                    <a:pt x="4203622" y="981110"/>
                  </a:lnTo>
                  <a:cubicBezTo>
                    <a:pt x="4203622" y="1028176"/>
                    <a:pt x="4166423" y="1066384"/>
                    <a:pt x="4120600" y="1066384"/>
                  </a:cubicBezTo>
                  <a:lnTo>
                    <a:pt x="83022" y="1066384"/>
                  </a:lnTo>
                  <a:cubicBezTo>
                    <a:pt x="37199" y="1066514"/>
                    <a:pt x="0" y="1028308"/>
                    <a:pt x="0" y="98111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50" r="1332" b="-23819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65" id="65"/>
          <p:cNvSpPr/>
          <p:nvPr/>
        </p:nvSpPr>
        <p:spPr>
          <a:xfrm>
            <a:off x="9007468" y="6592837"/>
            <a:ext cx="1375011" cy="1415042"/>
          </a:xfrm>
          <a:custGeom>
            <a:avLst/>
            <a:gdLst/>
            <a:ahLst/>
            <a:cxnLst/>
            <a:rect r="r" b="b" t="t" l="l"/>
            <a:pathLst>
              <a:path h="1415042" w="1375011">
                <a:moveTo>
                  <a:pt x="1375011" y="0"/>
                </a:moveTo>
                <a:lnTo>
                  <a:pt x="1375011" y="478921"/>
                </a:lnTo>
                <a:cubicBezTo>
                  <a:pt x="1375011" y="605173"/>
                  <a:pt x="1272663" y="707521"/>
                  <a:pt x="1146411" y="707521"/>
                </a:cubicBezTo>
                <a:lnTo>
                  <a:pt x="228600" y="707521"/>
                </a:lnTo>
                <a:cubicBezTo>
                  <a:pt x="167971" y="707521"/>
                  <a:pt x="109826" y="731606"/>
                  <a:pt x="66956" y="774477"/>
                </a:cubicBezTo>
                <a:cubicBezTo>
                  <a:pt x="24085" y="817347"/>
                  <a:pt x="0" y="875492"/>
                  <a:pt x="0" y="936121"/>
                </a:cubicBezTo>
                <a:lnTo>
                  <a:pt x="0" y="1415042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6" id="66"/>
          <p:cNvGrpSpPr/>
          <p:nvPr/>
        </p:nvGrpSpPr>
        <p:grpSpPr>
          <a:xfrm rot="0">
            <a:off x="5854752" y="8679787"/>
            <a:ext cx="3152736" cy="572817"/>
            <a:chOff x="0" y="0"/>
            <a:chExt cx="4203648" cy="7637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3622" cy="763666"/>
            </a:xfrm>
            <a:custGeom>
              <a:avLst/>
              <a:gdLst/>
              <a:ahLst/>
              <a:cxnLst/>
              <a:rect r="r" b="b" t="t" l="l"/>
              <a:pathLst>
                <a:path h="763666" w="4203622">
                  <a:moveTo>
                    <a:pt x="0" y="61057"/>
                  </a:moveTo>
                  <a:cubicBezTo>
                    <a:pt x="0" y="27339"/>
                    <a:pt x="27030" y="0"/>
                    <a:pt x="60368" y="0"/>
                  </a:cubicBezTo>
                  <a:lnTo>
                    <a:pt x="4143254" y="0"/>
                  </a:lnTo>
                  <a:cubicBezTo>
                    <a:pt x="4176592" y="0"/>
                    <a:pt x="4203622" y="27339"/>
                    <a:pt x="4203622" y="61057"/>
                  </a:cubicBezTo>
                  <a:lnTo>
                    <a:pt x="4203622" y="702609"/>
                  </a:lnTo>
                  <a:cubicBezTo>
                    <a:pt x="4203622" y="736327"/>
                    <a:pt x="4176592" y="763665"/>
                    <a:pt x="4143254" y="763665"/>
                  </a:cubicBezTo>
                  <a:lnTo>
                    <a:pt x="60368" y="763665"/>
                  </a:lnTo>
                  <a:cubicBezTo>
                    <a:pt x="27030" y="763795"/>
                    <a:pt x="0" y="736457"/>
                    <a:pt x="0" y="702609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43" r="1332" b="-54608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68" id="68"/>
          <p:cNvSpPr/>
          <p:nvPr/>
        </p:nvSpPr>
        <p:spPr>
          <a:xfrm>
            <a:off x="9007468" y="8048603"/>
            <a:ext cx="1375011" cy="917593"/>
          </a:xfrm>
          <a:custGeom>
            <a:avLst/>
            <a:gdLst/>
            <a:ahLst/>
            <a:cxnLst/>
            <a:rect r="r" b="b" t="t" l="l"/>
            <a:pathLst>
              <a:path h="917593" w="1375011">
                <a:moveTo>
                  <a:pt x="1375011" y="0"/>
                </a:moveTo>
                <a:lnTo>
                  <a:pt x="916105" y="0"/>
                </a:lnTo>
                <a:cubicBezTo>
                  <a:pt x="789853" y="0"/>
                  <a:pt x="687505" y="102348"/>
                  <a:pt x="687505" y="228600"/>
                </a:cubicBezTo>
                <a:lnTo>
                  <a:pt x="687505" y="688992"/>
                </a:lnTo>
                <a:cubicBezTo>
                  <a:pt x="687505" y="815244"/>
                  <a:pt x="585157" y="917592"/>
                  <a:pt x="458905" y="917592"/>
                </a:cubicBezTo>
                <a:lnTo>
                  <a:pt x="0" y="917592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302" y="838124"/>
            <a:ext cx="11817125" cy="55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App UI Refresh: Watchlist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68598" y="1899999"/>
            <a:ext cx="1999964" cy="400050"/>
            <a:chOff x="0" y="0"/>
            <a:chExt cx="2666619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68598" y="1892856"/>
            <a:ext cx="1999964" cy="407098"/>
            <a:chOff x="0" y="0"/>
            <a:chExt cx="2666619" cy="5427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68598" y="1885712"/>
            <a:ext cx="1999964" cy="414338"/>
            <a:chOff x="0" y="0"/>
            <a:chExt cx="2666619" cy="552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68598" y="1878568"/>
            <a:ext cx="2000002" cy="421434"/>
            <a:chOff x="0" y="0"/>
            <a:chExt cx="2666670" cy="561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68598" y="1871424"/>
            <a:ext cx="2000002" cy="428577"/>
            <a:chOff x="0" y="0"/>
            <a:chExt cx="2666670" cy="5714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CURRENT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37192" y="2419998"/>
            <a:ext cx="3462814" cy="7200043"/>
            <a:chOff x="0" y="0"/>
            <a:chExt cx="4617085" cy="9600057"/>
          </a:xfrm>
        </p:grpSpPr>
        <p:sp>
          <p:nvSpPr>
            <p:cNvPr name="Freeform 17" id="17" descr="Watch List Old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7" t="0" r="-8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31404" y="1899999"/>
            <a:ext cx="1999964" cy="400050"/>
            <a:chOff x="0" y="0"/>
            <a:chExt cx="2666619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31404" y="1892856"/>
            <a:ext cx="1999964" cy="407098"/>
            <a:chOff x="0" y="0"/>
            <a:chExt cx="2666619" cy="5427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31404" y="1885712"/>
            <a:ext cx="1999964" cy="414338"/>
            <a:chOff x="0" y="0"/>
            <a:chExt cx="2666619" cy="552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31404" y="1878568"/>
            <a:ext cx="2000002" cy="421434"/>
            <a:chOff x="0" y="0"/>
            <a:chExt cx="2666670" cy="561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31404" y="1871424"/>
            <a:ext cx="2000002" cy="428577"/>
            <a:chOff x="0" y="0"/>
            <a:chExt cx="2666670" cy="5714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NEW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699998" y="2419998"/>
            <a:ext cx="3462814" cy="7200043"/>
            <a:chOff x="0" y="0"/>
            <a:chExt cx="4617085" cy="9600057"/>
          </a:xfrm>
        </p:grpSpPr>
        <p:sp>
          <p:nvSpPr>
            <p:cNvPr name="Freeform 30" id="30" descr="Watch List New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7" t="0" r="-87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300002" y="2460003"/>
            <a:ext cx="46006" cy="300038"/>
            <a:chOff x="0" y="0"/>
            <a:chExt cx="61341" cy="400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341" cy="400050"/>
            </a:xfrm>
            <a:custGeom>
              <a:avLst/>
              <a:gdLst/>
              <a:ahLst/>
              <a:cxnLst/>
              <a:rect r="r" b="b" t="t" l="l"/>
              <a:pathLst>
                <a:path h="400050" w="61341">
                  <a:moveTo>
                    <a:pt x="0" y="0"/>
                  </a:moveTo>
                  <a:lnTo>
                    <a:pt x="61341" y="0"/>
                  </a:lnTo>
                  <a:lnTo>
                    <a:pt x="61341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531440" y="2418093"/>
            <a:ext cx="6815118" cy="35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What Changed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329996" y="3164996"/>
            <a:ext cx="104966" cy="104966"/>
            <a:chOff x="0" y="0"/>
            <a:chExt cx="139954" cy="1399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691441" y="3062859"/>
            <a:ext cx="6655118" cy="68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Company names now sit beneath every ticker, so users always know exactly what they're trading.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329996" y="4630112"/>
            <a:ext cx="104966" cy="104966"/>
            <a:chOff x="0" y="0"/>
            <a:chExt cx="139954" cy="1399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691441" y="4527966"/>
            <a:ext cx="6655118" cy="68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Less icon clutter on each row means the numbers that matter stand out instantly.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346007" y="6095400"/>
            <a:ext cx="104966" cy="104966"/>
            <a:chOff x="0" y="0"/>
            <a:chExt cx="139954" cy="1399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707453" y="5993254"/>
            <a:ext cx="6655118" cy="68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Adding instruments is now a single tap away with a prominent floating action button.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2" r="0" b="-363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777240" y="9773517"/>
            <a:ext cx="10817123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91443" y="9773517"/>
            <a:ext cx="717118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9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5576633" y="950619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5811519" y="3882752"/>
            <a:ext cx="1594835" cy="747360"/>
            <a:chOff x="0" y="0"/>
            <a:chExt cx="2126447" cy="996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26395" cy="996480"/>
            </a:xfrm>
            <a:custGeom>
              <a:avLst/>
              <a:gdLst/>
              <a:ahLst/>
              <a:cxnLst/>
              <a:rect r="r" b="b" t="t" l="l"/>
              <a:pathLst>
                <a:path h="996480" w="2126395">
                  <a:moveTo>
                    <a:pt x="0" y="79718"/>
                  </a:moveTo>
                  <a:cubicBezTo>
                    <a:pt x="0" y="35675"/>
                    <a:pt x="42594" y="0"/>
                    <a:pt x="95178" y="0"/>
                  </a:cubicBezTo>
                  <a:lnTo>
                    <a:pt x="2031216" y="0"/>
                  </a:lnTo>
                  <a:cubicBezTo>
                    <a:pt x="2083801" y="0"/>
                    <a:pt x="2126395" y="35675"/>
                    <a:pt x="2126395" y="79718"/>
                  </a:cubicBezTo>
                  <a:lnTo>
                    <a:pt x="2126395" y="916762"/>
                  </a:lnTo>
                  <a:cubicBezTo>
                    <a:pt x="2126395" y="960805"/>
                    <a:pt x="2083801" y="996480"/>
                    <a:pt x="2031216" y="996480"/>
                  </a:cubicBezTo>
                  <a:lnTo>
                    <a:pt x="95178" y="996480"/>
                  </a:lnTo>
                  <a:cubicBezTo>
                    <a:pt x="42594" y="996480"/>
                    <a:pt x="0" y="960805"/>
                    <a:pt x="0" y="916762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045" t="0" r="-17654" b="-15340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0" id="50"/>
          <p:cNvSpPr/>
          <p:nvPr/>
        </p:nvSpPr>
        <p:spPr>
          <a:xfrm>
            <a:off x="7442544" y="3208678"/>
            <a:ext cx="2939935" cy="1116193"/>
          </a:xfrm>
          <a:custGeom>
            <a:avLst/>
            <a:gdLst/>
            <a:ahLst/>
            <a:cxnLst/>
            <a:rect r="r" b="b" t="t" l="l"/>
            <a:pathLst>
              <a:path h="1116193" w="2939935">
                <a:moveTo>
                  <a:pt x="2939935" y="0"/>
                </a:moveTo>
                <a:lnTo>
                  <a:pt x="2799394" y="0"/>
                </a:lnTo>
                <a:cubicBezTo>
                  <a:pt x="2762119" y="0"/>
                  <a:pt x="2726372" y="14807"/>
                  <a:pt x="2700015" y="41163"/>
                </a:cubicBezTo>
                <a:cubicBezTo>
                  <a:pt x="2673659" y="67520"/>
                  <a:pt x="2658852" y="103267"/>
                  <a:pt x="2658852" y="140541"/>
                </a:cubicBezTo>
                <a:lnTo>
                  <a:pt x="2658852" y="887592"/>
                </a:lnTo>
                <a:cubicBezTo>
                  <a:pt x="2658852" y="1013844"/>
                  <a:pt x="2556504" y="1116192"/>
                  <a:pt x="2430252" y="1116192"/>
                </a:cubicBezTo>
                <a:lnTo>
                  <a:pt x="0" y="1116192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7207749" y="5249589"/>
            <a:ext cx="1844554" cy="1019694"/>
            <a:chOff x="0" y="0"/>
            <a:chExt cx="2459405" cy="1359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59417" cy="1359681"/>
            </a:xfrm>
            <a:custGeom>
              <a:avLst/>
              <a:gdLst/>
              <a:ahLst/>
              <a:cxnLst/>
              <a:rect r="r" b="b" t="t" l="l"/>
              <a:pathLst>
                <a:path h="1359681" w="2459417">
                  <a:moveTo>
                    <a:pt x="0" y="108796"/>
                  </a:moveTo>
                  <a:cubicBezTo>
                    <a:pt x="0" y="48658"/>
                    <a:pt x="52280" y="0"/>
                    <a:pt x="116895" y="0"/>
                  </a:cubicBezTo>
                  <a:lnTo>
                    <a:pt x="2342524" y="0"/>
                  </a:lnTo>
                  <a:cubicBezTo>
                    <a:pt x="2406998" y="0"/>
                    <a:pt x="2459417" y="48658"/>
                    <a:pt x="2459417" y="108796"/>
                  </a:cubicBezTo>
                  <a:lnTo>
                    <a:pt x="2459417" y="1250887"/>
                  </a:lnTo>
                  <a:cubicBezTo>
                    <a:pt x="2459417" y="1310894"/>
                    <a:pt x="2407139" y="1359681"/>
                    <a:pt x="2342524" y="1359681"/>
                  </a:cubicBezTo>
                  <a:lnTo>
                    <a:pt x="116895" y="1359681"/>
                  </a:lnTo>
                  <a:cubicBezTo>
                    <a:pt x="52421" y="1359681"/>
                    <a:pt x="0" y="1311025"/>
                    <a:pt x="0" y="1250887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747" t="0" r="-14356" b="2651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3" id="53"/>
          <p:cNvSpPr/>
          <p:nvPr/>
        </p:nvSpPr>
        <p:spPr>
          <a:xfrm>
            <a:off x="9088485" y="4700257"/>
            <a:ext cx="1293994" cy="997167"/>
          </a:xfrm>
          <a:custGeom>
            <a:avLst/>
            <a:gdLst/>
            <a:ahLst/>
            <a:cxnLst/>
            <a:rect r="r" b="b" t="t" l="l"/>
            <a:pathLst>
              <a:path h="997167" w="1293994">
                <a:moveTo>
                  <a:pt x="1293994" y="0"/>
                </a:moveTo>
                <a:lnTo>
                  <a:pt x="875597" y="0"/>
                </a:lnTo>
                <a:cubicBezTo>
                  <a:pt x="814968" y="0"/>
                  <a:pt x="756823" y="24084"/>
                  <a:pt x="713952" y="66955"/>
                </a:cubicBezTo>
                <a:cubicBezTo>
                  <a:pt x="671081" y="109826"/>
                  <a:pt x="646997" y="167971"/>
                  <a:pt x="646997" y="228600"/>
                </a:cubicBezTo>
                <a:lnTo>
                  <a:pt x="646997" y="768567"/>
                </a:lnTo>
                <a:cubicBezTo>
                  <a:pt x="646997" y="894819"/>
                  <a:pt x="544649" y="997167"/>
                  <a:pt x="418397" y="997167"/>
                </a:cubicBezTo>
                <a:lnTo>
                  <a:pt x="0" y="997167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8360683" y="8039652"/>
            <a:ext cx="502380" cy="494150"/>
            <a:chOff x="0" y="0"/>
            <a:chExt cx="669840" cy="6588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9805" cy="658843"/>
            </a:xfrm>
            <a:custGeom>
              <a:avLst/>
              <a:gdLst/>
              <a:ahLst/>
              <a:cxnLst/>
              <a:rect r="r" b="b" t="t" l="l"/>
              <a:pathLst>
                <a:path h="658843" w="669805">
                  <a:moveTo>
                    <a:pt x="0" y="51393"/>
                  </a:moveTo>
                  <a:cubicBezTo>
                    <a:pt x="0" y="23007"/>
                    <a:pt x="23977" y="0"/>
                    <a:pt x="53560" y="0"/>
                  </a:cubicBezTo>
                  <a:lnTo>
                    <a:pt x="616244" y="0"/>
                  </a:lnTo>
                  <a:cubicBezTo>
                    <a:pt x="645827" y="0"/>
                    <a:pt x="669805" y="23007"/>
                    <a:pt x="669805" y="51393"/>
                  </a:cubicBezTo>
                  <a:lnTo>
                    <a:pt x="669805" y="607450"/>
                  </a:lnTo>
                  <a:cubicBezTo>
                    <a:pt x="669805" y="635836"/>
                    <a:pt x="645827" y="658843"/>
                    <a:pt x="616244" y="658843"/>
                  </a:cubicBezTo>
                  <a:lnTo>
                    <a:pt x="53560" y="658843"/>
                  </a:lnTo>
                  <a:cubicBezTo>
                    <a:pt x="23977" y="658843"/>
                    <a:pt x="0" y="635836"/>
                    <a:pt x="0" y="60745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6797" t="0" r="-93268" b="-10957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6" id="56"/>
          <p:cNvSpPr/>
          <p:nvPr/>
        </p:nvSpPr>
        <p:spPr>
          <a:xfrm>
            <a:off x="8931717" y="6138802"/>
            <a:ext cx="1466773" cy="2186095"/>
          </a:xfrm>
          <a:custGeom>
            <a:avLst/>
            <a:gdLst/>
            <a:ahLst/>
            <a:cxnLst/>
            <a:rect r="r" b="b" t="t" l="l"/>
            <a:pathLst>
              <a:path h="2186095" w="1466773">
                <a:moveTo>
                  <a:pt x="1466773" y="0"/>
                </a:moveTo>
                <a:lnTo>
                  <a:pt x="1466773" y="1957495"/>
                </a:lnTo>
                <a:cubicBezTo>
                  <a:pt x="1466773" y="2083747"/>
                  <a:pt x="1364425" y="2186095"/>
                  <a:pt x="1238173" y="2186095"/>
                </a:cubicBezTo>
                <a:lnTo>
                  <a:pt x="0" y="2186095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302" y="838124"/>
            <a:ext cx="11817125" cy="55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App UI Refresh: Instrument Search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68598" y="1899999"/>
            <a:ext cx="1999964" cy="400050"/>
            <a:chOff x="0" y="0"/>
            <a:chExt cx="2666619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68598" y="1892856"/>
            <a:ext cx="1999964" cy="407098"/>
            <a:chOff x="0" y="0"/>
            <a:chExt cx="2666619" cy="5427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68598" y="1885712"/>
            <a:ext cx="1999964" cy="414338"/>
            <a:chOff x="0" y="0"/>
            <a:chExt cx="2666619" cy="552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68598" y="1878568"/>
            <a:ext cx="2000002" cy="421434"/>
            <a:chOff x="0" y="0"/>
            <a:chExt cx="2666670" cy="561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68598" y="1871424"/>
            <a:ext cx="2000002" cy="428577"/>
            <a:chOff x="0" y="0"/>
            <a:chExt cx="2666670" cy="5714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CURRENT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37192" y="2419998"/>
            <a:ext cx="3462814" cy="7200043"/>
            <a:chOff x="0" y="0"/>
            <a:chExt cx="4617085" cy="9600057"/>
          </a:xfrm>
        </p:grpSpPr>
        <p:sp>
          <p:nvSpPr>
            <p:cNvPr name="Freeform 17" id="17" descr="Search for stocks Old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7" t="0" r="-8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31404" y="1899999"/>
            <a:ext cx="1999964" cy="400050"/>
            <a:chOff x="0" y="0"/>
            <a:chExt cx="2666619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31404" y="1892856"/>
            <a:ext cx="1999964" cy="407098"/>
            <a:chOff x="0" y="0"/>
            <a:chExt cx="2666619" cy="5427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31404" y="1885712"/>
            <a:ext cx="1999964" cy="414338"/>
            <a:chOff x="0" y="0"/>
            <a:chExt cx="2666619" cy="552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31404" y="1878568"/>
            <a:ext cx="2000002" cy="421434"/>
            <a:chOff x="0" y="0"/>
            <a:chExt cx="2666670" cy="561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31404" y="1871424"/>
            <a:ext cx="2000002" cy="428577"/>
            <a:chOff x="0" y="0"/>
            <a:chExt cx="2666670" cy="5714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NEW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699998" y="2419998"/>
            <a:ext cx="3462814" cy="7200043"/>
            <a:chOff x="0" y="0"/>
            <a:chExt cx="4617085" cy="9600057"/>
          </a:xfrm>
        </p:grpSpPr>
        <p:sp>
          <p:nvSpPr>
            <p:cNvPr name="Freeform 30" id="30" descr="Search for stocks New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7" t="0" r="-87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300002" y="2460003"/>
            <a:ext cx="46006" cy="300038"/>
            <a:chOff x="0" y="0"/>
            <a:chExt cx="61341" cy="400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341" cy="400050"/>
            </a:xfrm>
            <a:custGeom>
              <a:avLst/>
              <a:gdLst/>
              <a:ahLst/>
              <a:cxnLst/>
              <a:rect r="r" b="b" t="t" l="l"/>
              <a:pathLst>
                <a:path h="400050" w="61341">
                  <a:moveTo>
                    <a:pt x="0" y="0"/>
                  </a:moveTo>
                  <a:lnTo>
                    <a:pt x="61341" y="0"/>
                  </a:lnTo>
                  <a:lnTo>
                    <a:pt x="61341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531440" y="2418093"/>
            <a:ext cx="6815118" cy="35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What Changed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337859" y="4429607"/>
            <a:ext cx="104966" cy="104966"/>
            <a:chOff x="0" y="0"/>
            <a:chExt cx="139954" cy="1399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699304" y="4327471"/>
            <a:ext cx="6655118" cy="67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Filtering moves to inline pills with result counts: All, Bonds, Stocks &amp; ETFs.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337859" y="5645616"/>
            <a:ext cx="104966" cy="104966"/>
            <a:chOff x="0" y="0"/>
            <a:chExt cx="139954" cy="1399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699304" y="5543470"/>
            <a:ext cx="6655118" cy="67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Every result follows one clean layout: logo, ticker, name, price and change.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329996" y="6861606"/>
            <a:ext cx="104966" cy="104966"/>
            <a:chOff x="0" y="0"/>
            <a:chExt cx="139954" cy="1399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683578" y="6759460"/>
            <a:ext cx="6655118" cy="68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Live pricing appears on every row, so users can act without opening a single instrument.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329996" y="3161695"/>
            <a:ext cx="104966" cy="104966"/>
            <a:chOff x="0" y="0"/>
            <a:chExt cx="139954" cy="1399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691441" y="3059558"/>
            <a:ext cx="6655118" cy="67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S</a:t>
            </a: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earch now returns a ranked list instantly. No more digging through nested categories.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2" r="0" b="-363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77240" y="9773517"/>
            <a:ext cx="10817123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91443" y="9773517"/>
            <a:ext cx="717118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10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5576633" y="950619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5838082" y="5006950"/>
            <a:ext cx="3214211" cy="522132"/>
            <a:chOff x="0" y="0"/>
            <a:chExt cx="4285615" cy="69617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85666" cy="696214"/>
            </a:xfrm>
            <a:custGeom>
              <a:avLst/>
              <a:gdLst/>
              <a:ahLst/>
              <a:cxnLst/>
              <a:rect r="r" b="b" t="t" l="l"/>
              <a:pathLst>
                <a:path h="696214" w="4285666">
                  <a:moveTo>
                    <a:pt x="0" y="55753"/>
                  </a:moveTo>
                  <a:cubicBezTo>
                    <a:pt x="0" y="24892"/>
                    <a:pt x="25107" y="0"/>
                    <a:pt x="56235" y="0"/>
                  </a:cubicBezTo>
                  <a:lnTo>
                    <a:pt x="4229431" y="0"/>
                  </a:lnTo>
                  <a:cubicBezTo>
                    <a:pt x="4260431" y="0"/>
                    <a:pt x="4285666" y="24892"/>
                    <a:pt x="4285666" y="55753"/>
                  </a:cubicBezTo>
                  <a:lnTo>
                    <a:pt x="4285666" y="640461"/>
                  </a:lnTo>
                  <a:cubicBezTo>
                    <a:pt x="4285666" y="671195"/>
                    <a:pt x="4260559" y="696214"/>
                    <a:pt x="4229431" y="696214"/>
                  </a:cubicBezTo>
                  <a:lnTo>
                    <a:pt x="56235" y="696214"/>
                  </a:lnTo>
                  <a:cubicBezTo>
                    <a:pt x="25107" y="696214"/>
                    <a:pt x="0" y="671195"/>
                    <a:pt x="0" y="640461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916" r="858" b="-68910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3" id="53"/>
          <p:cNvSpPr/>
          <p:nvPr/>
        </p:nvSpPr>
        <p:spPr>
          <a:xfrm>
            <a:off x="9088482" y="5279125"/>
            <a:ext cx="1286134" cy="418974"/>
          </a:xfrm>
          <a:custGeom>
            <a:avLst/>
            <a:gdLst/>
            <a:ahLst/>
            <a:cxnLst/>
            <a:rect r="r" b="b" t="t" l="l"/>
            <a:pathLst>
              <a:path h="418974" w="1286134">
                <a:moveTo>
                  <a:pt x="1286134" y="418974"/>
                </a:moveTo>
                <a:lnTo>
                  <a:pt x="861877" y="418974"/>
                </a:lnTo>
                <a:cubicBezTo>
                  <a:pt x="806317" y="418974"/>
                  <a:pt x="753033" y="396903"/>
                  <a:pt x="713747" y="357617"/>
                </a:cubicBezTo>
                <a:cubicBezTo>
                  <a:pt x="674460" y="318330"/>
                  <a:pt x="652389" y="265047"/>
                  <a:pt x="652389" y="209487"/>
                </a:cubicBezTo>
                <a:lnTo>
                  <a:pt x="652389" y="209487"/>
                </a:lnTo>
                <a:cubicBezTo>
                  <a:pt x="652389" y="153927"/>
                  <a:pt x="630319" y="100644"/>
                  <a:pt x="591032" y="61358"/>
                </a:cubicBezTo>
                <a:cubicBezTo>
                  <a:pt x="551746" y="22071"/>
                  <a:pt x="498462" y="0"/>
                  <a:pt x="442902" y="0"/>
                </a:cubicBezTo>
                <a:lnTo>
                  <a:pt x="0" y="0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8384218" y="5649478"/>
            <a:ext cx="668075" cy="1686413"/>
            <a:chOff x="0" y="0"/>
            <a:chExt cx="890767" cy="22485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90869" cy="2248614"/>
            </a:xfrm>
            <a:custGeom>
              <a:avLst/>
              <a:gdLst/>
              <a:ahLst/>
              <a:cxnLst/>
              <a:rect r="r" b="b" t="t" l="l"/>
              <a:pathLst>
                <a:path h="2248614" w="890869">
                  <a:moveTo>
                    <a:pt x="0" y="162848"/>
                  </a:moveTo>
                  <a:cubicBezTo>
                    <a:pt x="0" y="72841"/>
                    <a:pt x="31885" y="0"/>
                    <a:pt x="71285" y="0"/>
                  </a:cubicBezTo>
                  <a:lnTo>
                    <a:pt x="819537" y="0"/>
                  </a:lnTo>
                  <a:cubicBezTo>
                    <a:pt x="858868" y="0"/>
                    <a:pt x="890869" y="72841"/>
                    <a:pt x="890869" y="162848"/>
                  </a:cubicBezTo>
                  <a:lnTo>
                    <a:pt x="890869" y="2085780"/>
                  </a:lnTo>
                  <a:cubicBezTo>
                    <a:pt x="890869" y="2175633"/>
                    <a:pt x="858936" y="2248614"/>
                    <a:pt x="819537" y="2248614"/>
                  </a:cubicBezTo>
                  <a:lnTo>
                    <a:pt x="71285" y="2248614"/>
                  </a:lnTo>
                  <a:cubicBezTo>
                    <a:pt x="31885" y="2248614"/>
                    <a:pt x="0" y="2175633"/>
                    <a:pt x="0" y="208578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72146" t="0" r="-259726" b="17882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6" id="56"/>
          <p:cNvSpPr/>
          <p:nvPr/>
        </p:nvSpPr>
        <p:spPr>
          <a:xfrm>
            <a:off x="9088479" y="6416392"/>
            <a:ext cx="1288142" cy="497697"/>
          </a:xfrm>
          <a:custGeom>
            <a:avLst/>
            <a:gdLst/>
            <a:ahLst/>
            <a:cxnLst/>
            <a:rect r="r" b="b" t="t" l="l"/>
            <a:pathLst>
              <a:path h="497697" w="1288142">
                <a:moveTo>
                  <a:pt x="1288142" y="497697"/>
                </a:moveTo>
                <a:lnTo>
                  <a:pt x="872671" y="497697"/>
                </a:lnTo>
                <a:cubicBezTo>
                  <a:pt x="746419" y="497697"/>
                  <a:pt x="644071" y="395349"/>
                  <a:pt x="644071" y="269097"/>
                </a:cubicBezTo>
                <a:lnTo>
                  <a:pt x="644071" y="228600"/>
                </a:lnTo>
                <a:cubicBezTo>
                  <a:pt x="644071" y="102347"/>
                  <a:pt x="541723" y="0"/>
                  <a:pt x="415471" y="0"/>
                </a:cubicBezTo>
                <a:lnTo>
                  <a:pt x="0" y="0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5838082" y="3439819"/>
            <a:ext cx="3186646" cy="472646"/>
            <a:chOff x="0" y="0"/>
            <a:chExt cx="4248861" cy="6301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48912" cy="630233"/>
            </a:xfrm>
            <a:custGeom>
              <a:avLst/>
              <a:gdLst/>
              <a:ahLst/>
              <a:cxnLst/>
              <a:rect r="r" b="b" t="t" l="l"/>
              <a:pathLst>
                <a:path h="630233" w="4248912">
                  <a:moveTo>
                    <a:pt x="0" y="50469"/>
                  </a:moveTo>
                  <a:cubicBezTo>
                    <a:pt x="0" y="22533"/>
                    <a:pt x="24892" y="0"/>
                    <a:pt x="55753" y="0"/>
                  </a:cubicBezTo>
                  <a:lnTo>
                    <a:pt x="4193159" y="0"/>
                  </a:lnTo>
                  <a:cubicBezTo>
                    <a:pt x="4223893" y="0"/>
                    <a:pt x="4248912" y="22533"/>
                    <a:pt x="4248912" y="50469"/>
                  </a:cubicBezTo>
                  <a:lnTo>
                    <a:pt x="4248912" y="579761"/>
                  </a:lnTo>
                  <a:cubicBezTo>
                    <a:pt x="4248912" y="607582"/>
                    <a:pt x="4224020" y="630233"/>
                    <a:pt x="4193159" y="630233"/>
                  </a:cubicBezTo>
                  <a:lnTo>
                    <a:pt x="55753" y="630233"/>
                  </a:lnTo>
                  <a:cubicBezTo>
                    <a:pt x="24892" y="630233"/>
                    <a:pt x="0" y="607582"/>
                    <a:pt x="0" y="579761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131" r="1" b="-86594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9" id="59"/>
          <p:cNvSpPr/>
          <p:nvPr/>
        </p:nvSpPr>
        <p:spPr>
          <a:xfrm>
            <a:off x="9088482" y="3739235"/>
            <a:ext cx="1304779" cy="739923"/>
          </a:xfrm>
          <a:custGeom>
            <a:avLst/>
            <a:gdLst/>
            <a:ahLst/>
            <a:cxnLst/>
            <a:rect r="r" b="b" t="t" l="l"/>
            <a:pathLst>
              <a:path h="739923" w="1304779">
                <a:moveTo>
                  <a:pt x="1304779" y="739923"/>
                </a:moveTo>
                <a:lnTo>
                  <a:pt x="880989" y="739923"/>
                </a:lnTo>
                <a:cubicBezTo>
                  <a:pt x="754737" y="739923"/>
                  <a:pt x="652389" y="637575"/>
                  <a:pt x="652389" y="511323"/>
                </a:cubicBezTo>
                <a:lnTo>
                  <a:pt x="652389" y="228600"/>
                </a:lnTo>
                <a:cubicBezTo>
                  <a:pt x="652389" y="102347"/>
                  <a:pt x="550041" y="0"/>
                  <a:pt x="423789" y="0"/>
                </a:cubicBezTo>
                <a:lnTo>
                  <a:pt x="0" y="0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302" y="838124"/>
            <a:ext cx="11817125" cy="55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App UI Refresh: Trade Screen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7003" y="1595780"/>
            <a:ext cx="1999964" cy="400050"/>
            <a:chOff x="0" y="0"/>
            <a:chExt cx="2666619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17003" y="1588637"/>
            <a:ext cx="1999964" cy="407098"/>
            <a:chOff x="0" y="0"/>
            <a:chExt cx="2666619" cy="5427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17003" y="1581493"/>
            <a:ext cx="1999964" cy="414338"/>
            <a:chOff x="0" y="0"/>
            <a:chExt cx="2666619" cy="552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7003" y="1574349"/>
            <a:ext cx="2000002" cy="421434"/>
            <a:chOff x="0" y="0"/>
            <a:chExt cx="2666670" cy="561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7003" y="1567205"/>
            <a:ext cx="2000002" cy="428577"/>
            <a:chOff x="0" y="0"/>
            <a:chExt cx="2666670" cy="5714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CURRENT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5597" y="2115779"/>
            <a:ext cx="3462814" cy="7200043"/>
            <a:chOff x="0" y="0"/>
            <a:chExt cx="4617085" cy="9600057"/>
          </a:xfrm>
        </p:grpSpPr>
        <p:sp>
          <p:nvSpPr>
            <p:cNvPr name="Freeform 17" id="17" descr="Buy Stock Old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7" t="0" r="-8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72942" y="1595780"/>
            <a:ext cx="1999964" cy="400050"/>
            <a:chOff x="0" y="0"/>
            <a:chExt cx="2666619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72942" y="1588637"/>
            <a:ext cx="1999964" cy="407098"/>
            <a:chOff x="0" y="0"/>
            <a:chExt cx="2666619" cy="5427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172942" y="1581493"/>
            <a:ext cx="1999964" cy="414338"/>
            <a:chOff x="0" y="0"/>
            <a:chExt cx="2666619" cy="552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172942" y="1574349"/>
            <a:ext cx="2000002" cy="421434"/>
            <a:chOff x="0" y="0"/>
            <a:chExt cx="2666670" cy="561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172942" y="1567205"/>
            <a:ext cx="2000002" cy="428577"/>
            <a:chOff x="0" y="0"/>
            <a:chExt cx="2666670" cy="5714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NEW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41527" y="2115779"/>
            <a:ext cx="3462814" cy="7200043"/>
            <a:chOff x="0" y="0"/>
            <a:chExt cx="4617085" cy="9600057"/>
          </a:xfrm>
        </p:grpSpPr>
        <p:sp>
          <p:nvSpPr>
            <p:cNvPr name="Freeform 30" id="30" descr="Buy Stock New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7" t="0" r="-87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153395" y="2166995"/>
            <a:ext cx="47625" cy="300038"/>
            <a:chOff x="0" y="0"/>
            <a:chExt cx="63500" cy="400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" cy="400050"/>
            </a:xfrm>
            <a:custGeom>
              <a:avLst/>
              <a:gdLst/>
              <a:ahLst/>
              <a:cxnLst/>
              <a:rect r="r" b="b" t="t" l="l"/>
              <a:pathLst>
                <a:path h="400050" w="63500">
                  <a:moveTo>
                    <a:pt x="0" y="0"/>
                  </a:moveTo>
                  <a:lnTo>
                    <a:pt x="63500" y="0"/>
                  </a:lnTo>
                  <a:lnTo>
                    <a:pt x="63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323959" y="2125085"/>
            <a:ext cx="50225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What Changed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54642" y="2614613"/>
            <a:ext cx="4904680" cy="135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Info, Statistics and Financials now sit beside Trade, so users can research and execute without leaving the screen.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54642" y="4624435"/>
            <a:ext cx="4904680" cy="135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An interactive chart with adjustable timeframes, volume bars and indicators puts full price discovery in the user's hands.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67396" y="6634439"/>
            <a:ext cx="4904680" cy="101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2199">
                <a:solidFill>
                  <a:srgbClr val="1E2D4F"/>
                </a:solidFill>
                <a:latin typeface="Exo 2"/>
                <a:ea typeface="Exo 2"/>
                <a:cs typeface="Exo 2"/>
                <a:sym typeface="Exo 2"/>
              </a:rPr>
              <a:t>Familiar red Sell and green Buy buttons so users always know exactly what they're placing.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2" r="0" b="-363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77240" y="9773517"/>
            <a:ext cx="10817123" cy="35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591443" y="9773517"/>
            <a:ext cx="71711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11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028871" y="1595780"/>
            <a:ext cx="1999964" cy="400050"/>
            <a:chOff x="0" y="0"/>
            <a:chExt cx="2666619" cy="533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66619" cy="533400"/>
            </a:xfrm>
            <a:custGeom>
              <a:avLst/>
              <a:gdLst/>
              <a:ahLst/>
              <a:cxnLst/>
              <a:rect r="r" b="b" t="t" l="l"/>
              <a:pathLst>
                <a:path h="533400" w="2666619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2577719" y="0"/>
                  </a:lnTo>
                  <a:cubicBezTo>
                    <a:pt x="2626868" y="0"/>
                    <a:pt x="2666619" y="39751"/>
                    <a:pt x="2666619" y="88900"/>
                  </a:cubicBezTo>
                  <a:lnTo>
                    <a:pt x="2666619" y="444500"/>
                  </a:lnTo>
                  <a:cubicBezTo>
                    <a:pt x="2666619" y="493649"/>
                    <a:pt x="2626868" y="533400"/>
                    <a:pt x="2577719" y="533400"/>
                  </a:cubicBezTo>
                  <a:lnTo>
                    <a:pt x="88900" y="533400"/>
                  </a:lnTo>
                  <a:cubicBezTo>
                    <a:pt x="39751" y="533400"/>
                    <a:pt x="0" y="493649"/>
                    <a:pt x="0" y="44450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028871" y="1588637"/>
            <a:ext cx="1999964" cy="407098"/>
            <a:chOff x="0" y="0"/>
            <a:chExt cx="2666619" cy="54279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66619" cy="542798"/>
            </a:xfrm>
            <a:custGeom>
              <a:avLst/>
              <a:gdLst/>
              <a:ahLst/>
              <a:cxnLst/>
              <a:rect r="r" b="b" t="t" l="l"/>
              <a:pathLst>
                <a:path h="542798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42798"/>
                  </a:lnTo>
                  <a:lnTo>
                    <a:pt x="0" y="5427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26" r="0" b="-4552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028871" y="1581493"/>
            <a:ext cx="1999964" cy="414338"/>
            <a:chOff x="0" y="0"/>
            <a:chExt cx="2666619" cy="5524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66619" cy="552450"/>
            </a:xfrm>
            <a:custGeom>
              <a:avLst/>
              <a:gdLst/>
              <a:ahLst/>
              <a:cxnLst/>
              <a:rect r="r" b="b" t="t" l="l"/>
              <a:pathLst>
                <a:path h="552450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5" r="0" b="-43857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028871" y="1574349"/>
            <a:ext cx="2000002" cy="421434"/>
            <a:chOff x="0" y="0"/>
            <a:chExt cx="2666670" cy="561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66619" cy="561975"/>
            </a:xfrm>
            <a:custGeom>
              <a:avLst/>
              <a:gdLst/>
              <a:ahLst/>
              <a:cxnLst/>
              <a:rect r="r" b="b" t="t" l="l"/>
              <a:pathLst>
                <a:path h="561975" w="2666619">
                  <a:moveTo>
                    <a:pt x="0" y="0"/>
                  </a:moveTo>
                  <a:lnTo>
                    <a:pt x="2666619" y="0"/>
                  </a:lnTo>
                  <a:lnTo>
                    <a:pt x="2666619" y="561975"/>
                  </a:lnTo>
                  <a:lnTo>
                    <a:pt x="0" y="561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02" r="-1" b="-42388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028871" y="1567205"/>
            <a:ext cx="2000002" cy="428577"/>
            <a:chOff x="0" y="0"/>
            <a:chExt cx="2666670" cy="5714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66669" cy="571437"/>
            </a:xfrm>
            <a:custGeom>
              <a:avLst/>
              <a:gdLst/>
              <a:ahLst/>
              <a:cxnLst/>
              <a:rect r="r" b="b" t="t" l="l"/>
              <a:pathLst>
                <a:path h="571437" w="2666669">
                  <a:moveTo>
                    <a:pt x="0" y="0"/>
                  </a:moveTo>
                  <a:lnTo>
                    <a:pt x="2666669" y="0"/>
                  </a:lnTo>
                  <a:lnTo>
                    <a:pt x="2666669" y="571437"/>
                  </a:lnTo>
                  <a:lnTo>
                    <a:pt x="0" y="5714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8" r="0" b="-4092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666670" cy="580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5"/>
                </a:lnSpc>
              </a:pPr>
              <a:r>
                <a:rPr lang="en-US" sz="12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NEW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97466" y="2115779"/>
            <a:ext cx="3462814" cy="7200043"/>
            <a:chOff x="0" y="0"/>
            <a:chExt cx="4617085" cy="9600057"/>
          </a:xfrm>
        </p:grpSpPr>
        <p:sp>
          <p:nvSpPr>
            <p:cNvPr name="Freeform 53" id="53" descr="Buy Stock New 2.png"/>
            <p:cNvSpPr/>
            <p:nvPr/>
          </p:nvSpPr>
          <p:spPr>
            <a:xfrm flipH="false" flipV="false" rot="0">
              <a:off x="0" y="0"/>
              <a:ext cx="4617085" cy="9600057"/>
            </a:xfrm>
            <a:custGeom>
              <a:avLst/>
              <a:gdLst/>
              <a:ahLst/>
              <a:cxnLst/>
              <a:rect r="r" b="b" t="t" l="l"/>
              <a:pathLst>
                <a:path h="9600057" w="4617085">
                  <a:moveTo>
                    <a:pt x="0" y="0"/>
                  </a:moveTo>
                  <a:lnTo>
                    <a:pt x="4617085" y="0"/>
                  </a:lnTo>
                  <a:lnTo>
                    <a:pt x="4617085" y="9600057"/>
                  </a:lnTo>
                  <a:lnTo>
                    <a:pt x="0" y="960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87" t="0" r="-87" b="0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15576633" y="950619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4559351" y="3699748"/>
            <a:ext cx="2298363" cy="286836"/>
            <a:chOff x="0" y="0"/>
            <a:chExt cx="3064485" cy="382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64510" cy="382524"/>
            </a:xfrm>
            <a:custGeom>
              <a:avLst/>
              <a:gdLst/>
              <a:ahLst/>
              <a:cxnLst/>
              <a:rect r="r" b="b" t="t" l="l"/>
              <a:pathLst>
                <a:path h="382524" w="3064510">
                  <a:moveTo>
                    <a:pt x="0" y="30607"/>
                  </a:moveTo>
                  <a:cubicBezTo>
                    <a:pt x="0" y="13716"/>
                    <a:pt x="13716" y="0"/>
                    <a:pt x="30607" y="0"/>
                  </a:cubicBezTo>
                  <a:lnTo>
                    <a:pt x="3033903" y="0"/>
                  </a:lnTo>
                  <a:cubicBezTo>
                    <a:pt x="3050794" y="0"/>
                    <a:pt x="3064510" y="13716"/>
                    <a:pt x="3064510" y="30607"/>
                  </a:cubicBezTo>
                  <a:lnTo>
                    <a:pt x="3064510" y="351917"/>
                  </a:lnTo>
                  <a:cubicBezTo>
                    <a:pt x="3064510" y="368808"/>
                    <a:pt x="3050794" y="382524"/>
                    <a:pt x="3033903" y="382524"/>
                  </a:cubicBezTo>
                  <a:lnTo>
                    <a:pt x="30607" y="382524"/>
                  </a:lnTo>
                  <a:cubicBezTo>
                    <a:pt x="13716" y="382397"/>
                    <a:pt x="0" y="368808"/>
                    <a:pt x="0" y="351917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108" r="0" b="-106089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57" id="57"/>
          <p:cNvSpPr/>
          <p:nvPr/>
        </p:nvSpPr>
        <p:spPr>
          <a:xfrm>
            <a:off x="6857714" y="2766881"/>
            <a:ext cx="5381978" cy="1076285"/>
          </a:xfrm>
          <a:custGeom>
            <a:avLst/>
            <a:gdLst/>
            <a:ahLst/>
            <a:cxnLst/>
            <a:rect r="r" b="b" t="t" l="l"/>
            <a:pathLst>
              <a:path h="1076285" w="5381978">
                <a:moveTo>
                  <a:pt x="5381978" y="0"/>
                </a:moveTo>
                <a:lnTo>
                  <a:pt x="2919589" y="0"/>
                </a:lnTo>
                <a:cubicBezTo>
                  <a:pt x="2858960" y="0"/>
                  <a:pt x="2800815" y="24085"/>
                  <a:pt x="2757945" y="66956"/>
                </a:cubicBezTo>
                <a:cubicBezTo>
                  <a:pt x="2715074" y="109827"/>
                  <a:pt x="2690989" y="167972"/>
                  <a:pt x="2690989" y="228600"/>
                </a:cubicBezTo>
                <a:lnTo>
                  <a:pt x="2690989" y="847685"/>
                </a:lnTo>
                <a:cubicBezTo>
                  <a:pt x="2690989" y="908314"/>
                  <a:pt x="2666905" y="966459"/>
                  <a:pt x="2624034" y="1009330"/>
                </a:cubicBezTo>
                <a:cubicBezTo>
                  <a:pt x="2581163" y="1052201"/>
                  <a:pt x="2523018" y="1076285"/>
                  <a:pt x="2462389" y="1076285"/>
                </a:cubicBezTo>
                <a:lnTo>
                  <a:pt x="0" y="1076285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8" id="58"/>
          <p:cNvGrpSpPr/>
          <p:nvPr/>
        </p:nvGrpSpPr>
        <p:grpSpPr>
          <a:xfrm rot="0">
            <a:off x="4533224" y="4013473"/>
            <a:ext cx="3343399" cy="4025436"/>
            <a:chOff x="0" y="0"/>
            <a:chExt cx="4457865" cy="536724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57827" cy="5367274"/>
            </a:xfrm>
            <a:custGeom>
              <a:avLst/>
              <a:gdLst/>
              <a:ahLst/>
              <a:cxnLst/>
              <a:rect r="r" b="b" t="t" l="l"/>
              <a:pathLst>
                <a:path h="5367274" w="4457827">
                  <a:moveTo>
                    <a:pt x="0" y="356616"/>
                  </a:moveTo>
                  <a:cubicBezTo>
                    <a:pt x="0" y="159639"/>
                    <a:pt x="159639" y="0"/>
                    <a:pt x="356616" y="0"/>
                  </a:cubicBezTo>
                  <a:lnTo>
                    <a:pt x="4101211" y="0"/>
                  </a:lnTo>
                  <a:cubicBezTo>
                    <a:pt x="4298188" y="0"/>
                    <a:pt x="4457827" y="159639"/>
                    <a:pt x="4457827" y="356616"/>
                  </a:cubicBezTo>
                  <a:lnTo>
                    <a:pt x="4457827" y="5010658"/>
                  </a:lnTo>
                  <a:cubicBezTo>
                    <a:pt x="4457827" y="5207635"/>
                    <a:pt x="4298188" y="5367274"/>
                    <a:pt x="4101211" y="5367274"/>
                  </a:cubicBezTo>
                  <a:lnTo>
                    <a:pt x="356616" y="5367274"/>
                  </a:lnTo>
                  <a:cubicBezTo>
                    <a:pt x="159639" y="5367274"/>
                    <a:pt x="0" y="5207635"/>
                    <a:pt x="0" y="5010658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4477" t="0" r="-104478" b="0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60" id="60"/>
          <p:cNvSpPr/>
          <p:nvPr/>
        </p:nvSpPr>
        <p:spPr>
          <a:xfrm>
            <a:off x="7876594" y="4803310"/>
            <a:ext cx="4363098" cy="1222882"/>
          </a:xfrm>
          <a:custGeom>
            <a:avLst/>
            <a:gdLst/>
            <a:ahLst/>
            <a:cxnLst/>
            <a:rect r="r" b="b" t="t" l="l"/>
            <a:pathLst>
              <a:path h="1222882" w="4363098">
                <a:moveTo>
                  <a:pt x="4363098" y="0"/>
                </a:moveTo>
                <a:lnTo>
                  <a:pt x="2410149" y="0"/>
                </a:lnTo>
                <a:cubicBezTo>
                  <a:pt x="2283897" y="0"/>
                  <a:pt x="2181549" y="102347"/>
                  <a:pt x="2181549" y="228600"/>
                </a:cubicBezTo>
                <a:lnTo>
                  <a:pt x="2181549" y="994281"/>
                </a:lnTo>
                <a:cubicBezTo>
                  <a:pt x="2181549" y="1120534"/>
                  <a:pt x="2079201" y="1222881"/>
                  <a:pt x="1952949" y="1222881"/>
                </a:cubicBezTo>
                <a:lnTo>
                  <a:pt x="0" y="1222881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1" id="61"/>
          <p:cNvGrpSpPr/>
          <p:nvPr/>
        </p:nvGrpSpPr>
        <p:grpSpPr>
          <a:xfrm rot="0">
            <a:off x="8459972" y="8372853"/>
            <a:ext cx="3134392" cy="539920"/>
            <a:chOff x="0" y="0"/>
            <a:chExt cx="4179189" cy="71989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79189" cy="719919"/>
            </a:xfrm>
            <a:custGeom>
              <a:avLst/>
              <a:gdLst/>
              <a:ahLst/>
              <a:cxnLst/>
              <a:rect r="r" b="b" t="t" l="l"/>
              <a:pathLst>
                <a:path h="719919" w="4179189">
                  <a:moveTo>
                    <a:pt x="0" y="57646"/>
                  </a:moveTo>
                  <a:cubicBezTo>
                    <a:pt x="0" y="25831"/>
                    <a:pt x="22479" y="0"/>
                    <a:pt x="50165" y="0"/>
                  </a:cubicBezTo>
                  <a:lnTo>
                    <a:pt x="4129024" y="0"/>
                  </a:lnTo>
                  <a:cubicBezTo>
                    <a:pt x="4156710" y="0"/>
                    <a:pt x="4179189" y="25831"/>
                    <a:pt x="4179189" y="57646"/>
                  </a:cubicBezTo>
                  <a:lnTo>
                    <a:pt x="4179189" y="662276"/>
                  </a:lnTo>
                  <a:cubicBezTo>
                    <a:pt x="4179189" y="694091"/>
                    <a:pt x="4156710" y="719919"/>
                    <a:pt x="4129024" y="719919"/>
                  </a:cubicBezTo>
                  <a:lnTo>
                    <a:pt x="50165" y="719919"/>
                  </a:lnTo>
                  <a:cubicBezTo>
                    <a:pt x="22479" y="719919"/>
                    <a:pt x="0" y="694091"/>
                    <a:pt x="0" y="662276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602" r="0" b="-56621"/>
              </a:stretch>
            </a:blip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Freeform 63" id="63"/>
          <p:cNvSpPr/>
          <p:nvPr/>
        </p:nvSpPr>
        <p:spPr>
          <a:xfrm>
            <a:off x="11594364" y="6812824"/>
            <a:ext cx="645313" cy="1829989"/>
          </a:xfrm>
          <a:custGeom>
            <a:avLst/>
            <a:gdLst/>
            <a:ahLst/>
            <a:cxnLst/>
            <a:rect r="r" b="b" t="t" l="l"/>
            <a:pathLst>
              <a:path h="1829989" w="645313">
                <a:moveTo>
                  <a:pt x="645313" y="0"/>
                </a:moveTo>
                <a:lnTo>
                  <a:pt x="645313" y="686394"/>
                </a:lnTo>
                <a:cubicBezTo>
                  <a:pt x="645313" y="812646"/>
                  <a:pt x="542965" y="914994"/>
                  <a:pt x="416713" y="914994"/>
                </a:cubicBezTo>
                <a:lnTo>
                  <a:pt x="228600" y="914994"/>
                </a:lnTo>
                <a:cubicBezTo>
                  <a:pt x="102348" y="914994"/>
                  <a:pt x="0" y="1017342"/>
                  <a:pt x="0" y="1143594"/>
                </a:cubicBezTo>
                <a:lnTo>
                  <a:pt x="0" y="1829989"/>
                </a:lnTo>
              </a:path>
            </a:pathLst>
          </a:custGeom>
          <a:ln cap="rnd" w="47625">
            <a:solidFill>
              <a:srgbClr val="D4A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12187209" y="2716749"/>
            <a:ext cx="104966" cy="104966"/>
            <a:chOff x="0" y="0"/>
            <a:chExt cx="139954" cy="13995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187209" y="4748698"/>
            <a:ext cx="104966" cy="104966"/>
            <a:chOff x="0" y="0"/>
            <a:chExt cx="139954" cy="13995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187209" y="6760341"/>
            <a:ext cx="104966" cy="104966"/>
            <a:chOff x="0" y="0"/>
            <a:chExt cx="139954" cy="13995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9954" cy="139954"/>
            </a:xfrm>
            <a:custGeom>
              <a:avLst/>
              <a:gdLst/>
              <a:ahLst/>
              <a:cxnLst/>
              <a:rect r="r" b="b" t="t" l="l"/>
              <a:pathLst>
                <a:path h="139954" w="139954">
                  <a:moveTo>
                    <a:pt x="0" y="69977"/>
                  </a:moveTo>
                  <a:cubicBezTo>
                    <a:pt x="0" y="31369"/>
                    <a:pt x="31369" y="0"/>
                    <a:pt x="69977" y="0"/>
                  </a:cubicBezTo>
                  <a:cubicBezTo>
                    <a:pt x="108585" y="0"/>
                    <a:pt x="139954" y="31369"/>
                    <a:pt x="139954" y="69977"/>
                  </a:cubicBezTo>
                  <a:cubicBezTo>
                    <a:pt x="139954" y="108585"/>
                    <a:pt x="108585" y="139954"/>
                    <a:pt x="69977" y="139954"/>
                  </a:cubicBezTo>
                  <a:cubicBezTo>
                    <a:pt x="31369" y="139954"/>
                    <a:pt x="0" y="108712"/>
                    <a:pt x="0" y="69977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07321" y="4500562"/>
            <a:ext cx="14073349" cy="128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8"/>
              </a:lnSpc>
            </a:pPr>
            <a:r>
              <a:rPr lang="en-US" sz="84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Marketing Progress Update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4" r="0" b="-31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5847" y="557136"/>
            <a:ext cx="13164598" cy="928783"/>
            <a:chOff x="0" y="0"/>
            <a:chExt cx="17552797" cy="12383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5847" y="549993"/>
            <a:ext cx="13164598" cy="935927"/>
            <a:chOff x="0" y="0"/>
            <a:chExt cx="17552797" cy="1247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847" y="542849"/>
            <a:ext cx="13164598" cy="943118"/>
            <a:chOff x="0" y="0"/>
            <a:chExt cx="17552797" cy="1257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1257554"/>
            </a:xfrm>
            <a:custGeom>
              <a:avLst/>
              <a:gdLst/>
              <a:ahLst/>
              <a:cxnLst/>
              <a:rect r="r" b="b" t="t" l="l"/>
              <a:pathLst>
                <a:path h="1257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554"/>
                  </a:lnTo>
                  <a:lnTo>
                    <a:pt x="0" y="125755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1783" r="0" b="-2217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5847" y="535705"/>
            <a:ext cx="13164598" cy="950262"/>
            <a:chOff x="0" y="0"/>
            <a:chExt cx="17552797" cy="1267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Quick Recap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1734779"/>
            <a:ext cx="17190720" cy="2061972"/>
            <a:chOff x="0" y="0"/>
            <a:chExt cx="22920960" cy="2749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2749296"/>
            </a:xfrm>
            <a:custGeom>
              <a:avLst/>
              <a:gdLst/>
              <a:ahLst/>
              <a:cxnLst/>
              <a:rect r="r" b="b" t="t" l="l"/>
              <a:pathLst>
                <a:path h="2749296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749296"/>
                  </a:lnTo>
                  <a:lnTo>
                    <a:pt x="0" y="2749296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" y="1734779"/>
            <a:ext cx="54864" cy="2061972"/>
            <a:chOff x="0" y="0"/>
            <a:chExt cx="73152" cy="27492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" cy="2749296"/>
            </a:xfrm>
            <a:custGeom>
              <a:avLst/>
              <a:gdLst/>
              <a:ahLst/>
              <a:cxnLst/>
              <a:rect r="r" b="b" t="t" l="l"/>
              <a:pathLst>
                <a:path h="2749296" w="73152">
                  <a:moveTo>
                    <a:pt x="0" y="0"/>
                  </a:moveTo>
                  <a:lnTo>
                    <a:pt x="73152" y="0"/>
                  </a:lnTo>
                  <a:lnTo>
                    <a:pt x="73152" y="2749296"/>
                  </a:lnTo>
                  <a:lnTo>
                    <a:pt x="0" y="2749296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68680" y="1872796"/>
            <a:ext cx="4094959" cy="31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SOFT LAUNCH (BEFORE 14 MAY 2026)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8680" y="2256558"/>
            <a:ext cx="51612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Brand Built, Story Told, Launch Staged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8680" y="2626033"/>
            <a:ext cx="16550640" cy="56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The $80,000 2026 marketing budget was agreed in March, during a period of regional tension, since public attention was on the conflict, not on a new investment platform.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8106" y="3266970"/>
            <a:ext cx="16032318" cy="2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b="true" sz="1749" i="true">
                <a:solidFill>
                  <a:srgbClr val="2E7D3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Key Milestone: Launch-day PR (GCC-wide, 14 May 2026): 20 articles, 8,712,000 total views, BHD 26,550 total ad-value equivalent free of cost.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48640" y="4020588"/>
            <a:ext cx="17190720" cy="1923288"/>
            <a:chOff x="0" y="0"/>
            <a:chExt cx="22920960" cy="25643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920961" cy="2564384"/>
            </a:xfrm>
            <a:custGeom>
              <a:avLst/>
              <a:gdLst/>
              <a:ahLst/>
              <a:cxnLst/>
              <a:rect r="r" b="b" t="t" l="l"/>
              <a:pathLst>
                <a:path h="25643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564384"/>
                  </a:lnTo>
                  <a:lnTo>
                    <a:pt x="0" y="2564384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4020588"/>
            <a:ext cx="54864" cy="1923288"/>
            <a:chOff x="0" y="0"/>
            <a:chExt cx="73152" cy="25643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" cy="2564384"/>
            </a:xfrm>
            <a:custGeom>
              <a:avLst/>
              <a:gdLst/>
              <a:ahLst/>
              <a:cxnLst/>
              <a:rect r="r" b="b" t="t" l="l"/>
              <a:pathLst>
                <a:path h="2564384" w="73152">
                  <a:moveTo>
                    <a:pt x="0" y="0"/>
                  </a:moveTo>
                  <a:lnTo>
                    <a:pt x="73152" y="0"/>
                  </a:lnTo>
                  <a:lnTo>
                    <a:pt x="73152" y="2564384"/>
                  </a:lnTo>
                  <a:lnTo>
                    <a:pt x="0" y="2564384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68680" y="4158605"/>
            <a:ext cx="6090437" cy="31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LAUNCH &amp; STABILIZATION (14 MAY - 30 JUN 2026)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680" y="4549092"/>
            <a:ext cx="710426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Platform Live, First Paid Ads, First Red Flag Caught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8680" y="4925301"/>
            <a:ext cx="16550640" cy="56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website (EN/AR) went live, onboarding incentive program launched, first paid social ads activated. A TikTok bot-fraud investigation found the platform's traffic was fake (Pangle ad network).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8680" y="5572963"/>
            <a:ext cx="1429234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b="true" sz="1749" i="true">
                <a:solidFill>
                  <a:srgbClr val="2E7D3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Key Milestone: Instagram reached 774 followers (+270% vs launch baseline) and 1.08M views in June.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48640" y="6167704"/>
            <a:ext cx="17190720" cy="3220022"/>
            <a:chOff x="0" y="0"/>
            <a:chExt cx="22920960" cy="42933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920961" cy="4293362"/>
            </a:xfrm>
            <a:custGeom>
              <a:avLst/>
              <a:gdLst/>
              <a:ahLst/>
              <a:cxnLst/>
              <a:rect r="r" b="b" t="t" l="l"/>
              <a:pathLst>
                <a:path h="429336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293362"/>
                  </a:lnTo>
                  <a:lnTo>
                    <a:pt x="0" y="4293362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48640" y="6167704"/>
            <a:ext cx="54864" cy="3220021"/>
            <a:chOff x="0" y="0"/>
            <a:chExt cx="73152" cy="42933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" cy="4293362"/>
            </a:xfrm>
            <a:custGeom>
              <a:avLst/>
              <a:gdLst/>
              <a:ahLst/>
              <a:cxnLst/>
              <a:rect r="r" b="b" t="t" l="l"/>
              <a:pathLst>
                <a:path h="4293362" w="73152">
                  <a:moveTo>
                    <a:pt x="0" y="0"/>
                  </a:moveTo>
                  <a:lnTo>
                    <a:pt x="73152" y="0"/>
                  </a:lnTo>
                  <a:lnTo>
                    <a:pt x="73152" y="4293362"/>
                  </a:lnTo>
                  <a:lnTo>
                    <a:pt x="0" y="4293362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68680" y="6305721"/>
            <a:ext cx="6920198" cy="31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AGENCY TRANSITION (JUL - AUG 2026)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8680" y="6839760"/>
            <a:ext cx="1020022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Communications Agency Exited, Two Specialists Onboarded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8680" y="7359520"/>
            <a:ext cx="16550640" cy="110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515" indent="-117103" lvl="4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8A93A8"/>
                </a:solidFill>
                <a:latin typeface="Exo 2 Bold"/>
                <a:ea typeface="Exo 2 Bold"/>
                <a:cs typeface="Exo 2 Bold"/>
                <a:sym typeface="Exo 2 Bold"/>
              </a:rPr>
              <a:t>TRACCS Offboarded:</a:t>
            </a:r>
            <a:r>
              <a:rPr lang="en-US" sz="17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 Inconsistent support during Chairman feedback, reinforcing the need for a strategy change.</a:t>
            </a:r>
          </a:p>
          <a:p>
            <a:pPr algn="l" marL="585515" indent="-117103" lvl="4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8A93A8"/>
                </a:solidFill>
                <a:latin typeface="Exo 2 Bold"/>
                <a:ea typeface="Exo 2 Bold"/>
                <a:cs typeface="Exo 2 Bold"/>
                <a:sym typeface="Exo 2 Bold"/>
              </a:rPr>
              <a:t>Ad Inconsistencies:</a:t>
            </a:r>
            <a:r>
              <a:rPr lang="en-US" sz="17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 Sponsor ads targeted wrong regions (e.g., Madagascar instead of GCC), and TikTok generated fraudulent clicks.</a:t>
            </a:r>
          </a:p>
          <a:p>
            <a:pPr algn="l" marL="585515" indent="-117103" lvl="4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8A93A8"/>
                </a:solidFill>
                <a:latin typeface="Exo 2 Bold"/>
                <a:ea typeface="Exo 2 Bold"/>
                <a:cs typeface="Exo 2 Bold"/>
                <a:sym typeface="Exo 2 Bold"/>
              </a:rPr>
              <a:t>Specialist Restructure:</a:t>
            </a:r>
            <a:r>
              <a:rPr lang="en-US" sz="17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 Replaced the single generalist agency with 24F (content), Ignite (paid ads), and P2 (influencers) at a similar total cost (Out of 15+ agencies shortlisted).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8680" y="8572757"/>
            <a:ext cx="165506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b="true" sz="1749" i="true">
                <a:solidFill>
                  <a:srgbClr val="2E7D3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Key Milestone: Instagram grew to 1,765 followers by 30 Aug (+128% since June) through the paid-ad gap; LinkedIn organic reactions hit a new high (68) on the lowest ad spend of the quarter.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13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C61B6">
                <a:alpha val="100000"/>
              </a:srgbClr>
            </a:gs>
            <a:gs pos="100000">
              <a:srgbClr val="121C36">
                <a:alpha val="100000"/>
              </a:srgbClr>
            </a:gs>
          </a:gsLst>
          <a:path path="circle">
            <a:fillToRect l="200000" r="-100000" t="200000" b="-100000"/>
          </a:path>
          <a:tileRect r="-300000" l="0" b="-3000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5259" cy="10287000"/>
            <a:chOff x="0" y="0"/>
            <a:chExt cx="22034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34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0345">
                  <a:moveTo>
                    <a:pt x="0" y="0"/>
                  </a:moveTo>
                  <a:lnTo>
                    <a:pt x="220345" y="0"/>
                  </a:lnTo>
                  <a:lnTo>
                    <a:pt x="22034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48640"/>
            <a:ext cx="16459200" cy="888302"/>
            <a:chOff x="0" y="0"/>
            <a:chExt cx="21945600" cy="1184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184402"/>
            </a:xfrm>
            <a:custGeom>
              <a:avLst/>
              <a:gdLst/>
              <a:ahLst/>
              <a:cxnLst/>
              <a:rect r="r" b="b" t="t" l="l"/>
              <a:pathLst>
                <a:path h="1184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4402"/>
                  </a:lnTo>
                  <a:lnTo>
                    <a:pt x="0" y="1184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0783" r="0" b="-31078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41496"/>
            <a:ext cx="16459200" cy="895445"/>
            <a:chOff x="0" y="0"/>
            <a:chExt cx="21945600" cy="11939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93927"/>
            </a:xfrm>
            <a:custGeom>
              <a:avLst/>
              <a:gdLst/>
              <a:ahLst/>
              <a:cxnLst/>
              <a:rect r="r" b="b" t="t" l="l"/>
              <a:pathLst>
                <a:path h="119392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93927"/>
                  </a:lnTo>
                  <a:lnTo>
                    <a:pt x="0" y="11939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905" r="0" b="-3079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548640"/>
            <a:ext cx="16459200" cy="888340"/>
            <a:chOff x="0" y="0"/>
            <a:chExt cx="21945600" cy="11844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184402"/>
            </a:xfrm>
            <a:custGeom>
              <a:avLst/>
              <a:gdLst/>
              <a:ahLst/>
              <a:cxnLst/>
              <a:rect r="r" b="b" t="t" l="l"/>
              <a:pathLst>
                <a:path h="1184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4402"/>
                  </a:lnTo>
                  <a:lnTo>
                    <a:pt x="0" y="11844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781" r="0" b="-31078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555784"/>
            <a:ext cx="16459200" cy="881196"/>
            <a:chOff x="0" y="0"/>
            <a:chExt cx="21945600" cy="1174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174928"/>
            </a:xfrm>
            <a:custGeom>
              <a:avLst/>
              <a:gdLst/>
              <a:ahLst/>
              <a:cxnLst/>
              <a:rect r="r" b="b" t="t" l="l"/>
              <a:pathLst>
                <a:path h="11749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4928"/>
                  </a:lnTo>
                  <a:lnTo>
                    <a:pt x="0" y="11749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3946" r="0" b="-3139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1945600" cy="1165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4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New Agency Breakdown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059305"/>
            <a:ext cx="5417820" cy="6792468"/>
            <a:chOff x="0" y="0"/>
            <a:chExt cx="7223760" cy="90566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23760" cy="9056624"/>
            </a:xfrm>
            <a:custGeom>
              <a:avLst/>
              <a:gdLst/>
              <a:ahLst/>
              <a:cxnLst/>
              <a:rect r="r" b="b" t="t" l="l"/>
              <a:pathLst>
                <a:path h="905662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056624"/>
                  </a:lnTo>
                  <a:lnTo>
                    <a:pt x="0" y="9056624"/>
                  </a:lnTo>
                  <a:close/>
                </a:path>
              </a:pathLst>
            </a:custGeom>
            <a:solidFill>
              <a:srgbClr val="1E2D4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2333625"/>
            <a:ext cx="1508760" cy="1508760"/>
            <a:chOff x="0" y="0"/>
            <a:chExt cx="2011680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2361057"/>
            <a:ext cx="1508760" cy="1440180"/>
            <a:chOff x="0" y="0"/>
            <a:chExt cx="2011680" cy="1920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556" t="0" r="-7255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2353913"/>
            <a:ext cx="1508760" cy="1447324"/>
            <a:chOff x="0" y="0"/>
            <a:chExt cx="2011680" cy="19297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1929765"/>
            </a:xfrm>
            <a:custGeom>
              <a:avLst/>
              <a:gdLst/>
              <a:ahLst/>
              <a:cxnLst/>
              <a:rect r="r" b="b" t="t" l="l"/>
              <a:pathLst>
                <a:path h="1929765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9765"/>
                  </a:lnTo>
                  <a:lnTo>
                    <a:pt x="0" y="1929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64" t="0" r="-7316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3020" y="2346770"/>
            <a:ext cx="1508760" cy="1454468"/>
            <a:chOff x="0" y="0"/>
            <a:chExt cx="2011680" cy="19392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1680" cy="1939290"/>
            </a:xfrm>
            <a:custGeom>
              <a:avLst/>
              <a:gdLst/>
              <a:ahLst/>
              <a:cxnLst/>
              <a:rect r="r" b="b" t="t" l="l"/>
              <a:pathLst>
                <a:path h="193929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39290"/>
                  </a:lnTo>
                  <a:lnTo>
                    <a:pt x="0" y="19392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772" t="0" r="-7377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2339626"/>
            <a:ext cx="1508760" cy="1461611"/>
            <a:chOff x="0" y="0"/>
            <a:chExt cx="2011680" cy="19488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1680" cy="1948816"/>
            </a:xfrm>
            <a:custGeom>
              <a:avLst/>
              <a:gdLst/>
              <a:ahLst/>
              <a:cxnLst/>
              <a:rect r="r" b="b" t="t" l="l"/>
              <a:pathLst>
                <a:path h="194881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48816"/>
                  </a:lnTo>
                  <a:lnTo>
                    <a:pt x="0" y="19488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4294" t="0" r="-7429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011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#1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3020" y="4048125"/>
            <a:ext cx="5006340" cy="713232"/>
            <a:chOff x="0" y="0"/>
            <a:chExt cx="6675120" cy="9509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75120" cy="950976"/>
            </a:xfrm>
            <a:custGeom>
              <a:avLst/>
              <a:gdLst/>
              <a:ahLst/>
              <a:cxnLst/>
              <a:rect r="r" b="b" t="t" l="l"/>
              <a:pathLst>
                <a:path h="95097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74" r="0" b="-8667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03020" y="4040981"/>
            <a:ext cx="5006340" cy="720376"/>
            <a:chOff x="0" y="0"/>
            <a:chExt cx="6675120" cy="9605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75120" cy="960501"/>
            </a:xfrm>
            <a:custGeom>
              <a:avLst/>
              <a:gdLst/>
              <a:ahLst/>
              <a:cxnLst/>
              <a:rect r="r" b="b" t="t" l="l"/>
              <a:pathLst>
                <a:path h="960501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60501"/>
                  </a:lnTo>
                  <a:lnTo>
                    <a:pt x="0" y="960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9" r="0" b="-8531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03020" y="4033838"/>
            <a:ext cx="5006340" cy="727520"/>
            <a:chOff x="0" y="0"/>
            <a:chExt cx="6675120" cy="9700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75120" cy="970026"/>
            </a:xfrm>
            <a:custGeom>
              <a:avLst/>
              <a:gdLst/>
              <a:ahLst/>
              <a:cxnLst/>
              <a:rect r="r" b="b" t="t" l="l"/>
              <a:pathLst>
                <a:path h="97002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70026"/>
                  </a:lnTo>
                  <a:lnTo>
                    <a:pt x="0" y="9700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990" r="0" b="-8399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4026694"/>
            <a:ext cx="5006340" cy="734663"/>
            <a:chOff x="0" y="0"/>
            <a:chExt cx="6675120" cy="9795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75120" cy="979552"/>
            </a:xfrm>
            <a:custGeom>
              <a:avLst/>
              <a:gdLst/>
              <a:ahLst/>
              <a:cxnLst/>
              <a:rect r="r" b="b" t="t" l="l"/>
              <a:pathLst>
                <a:path h="979552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79552"/>
                  </a:lnTo>
                  <a:lnTo>
                    <a:pt x="0" y="9795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780" r="0" b="-827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67512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Project 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03020" y="5215509"/>
            <a:ext cx="5006340" cy="517398"/>
            <a:chOff x="0" y="0"/>
            <a:chExt cx="6675120" cy="6898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75120" cy="689864"/>
            </a:xfrm>
            <a:custGeom>
              <a:avLst/>
              <a:gdLst/>
              <a:ahLst/>
              <a:cxnLst/>
              <a:rect r="r" b="b" t="t" l="l"/>
              <a:pathLst>
                <a:path h="68986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689864"/>
                  </a:lnTo>
                  <a:lnTo>
                    <a:pt x="0" y="689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405" r="0" b="-13840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020" y="5208365"/>
            <a:ext cx="5006340" cy="524542"/>
            <a:chOff x="0" y="0"/>
            <a:chExt cx="6675120" cy="6993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75120" cy="699389"/>
            </a:xfrm>
            <a:custGeom>
              <a:avLst/>
              <a:gdLst/>
              <a:ahLst/>
              <a:cxnLst/>
              <a:rect r="r" b="b" t="t" l="l"/>
              <a:pathLst>
                <a:path h="699389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699389"/>
                  </a:lnTo>
                  <a:lnTo>
                    <a:pt x="0" y="699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39" r="0" b="-135839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03020" y="5201221"/>
            <a:ext cx="5006340" cy="531695"/>
            <a:chOff x="0" y="0"/>
            <a:chExt cx="6675120" cy="7089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75120" cy="708914"/>
            </a:xfrm>
            <a:custGeom>
              <a:avLst/>
              <a:gdLst/>
              <a:ahLst/>
              <a:cxnLst/>
              <a:rect r="r" b="b" t="t" l="l"/>
              <a:pathLst>
                <a:path h="70891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08914"/>
                  </a:lnTo>
                  <a:lnTo>
                    <a:pt x="0" y="7089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342" r="0" b="-133342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03020" y="5194078"/>
            <a:ext cx="5006340" cy="538839"/>
            <a:chOff x="0" y="0"/>
            <a:chExt cx="6675120" cy="7184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75120" cy="718452"/>
            </a:xfrm>
            <a:custGeom>
              <a:avLst/>
              <a:gdLst/>
              <a:ahLst/>
              <a:cxnLst/>
              <a:rect r="r" b="b" t="t" l="l"/>
              <a:pathLst>
                <a:path h="718452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18452"/>
                  </a:lnTo>
                  <a:lnTo>
                    <a:pt x="0" y="7184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035" r="0" b="-1310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675120" cy="727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6"/>
                </a:lnSpc>
              </a:pPr>
              <a:r>
                <a:rPr lang="en-US" sz="2448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Role: Influencers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03020" y="6051680"/>
            <a:ext cx="5006340" cy="438912"/>
            <a:chOff x="0" y="0"/>
            <a:chExt cx="667512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3020" y="6051680"/>
            <a:ext cx="5006340" cy="438912"/>
            <a:chOff x="0" y="0"/>
            <a:chExt cx="667512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03020" y="6051680"/>
            <a:ext cx="5006340" cy="438912"/>
            <a:chOff x="0" y="0"/>
            <a:chExt cx="667512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03020" y="6051680"/>
            <a:ext cx="5006340" cy="438912"/>
            <a:chOff x="0" y="0"/>
            <a:chExt cx="667512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251" r="0" b="-1722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6751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7"/>
                </a:lnSpc>
              </a:pPr>
              <a:r>
                <a:rPr lang="en-US" sz="1998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$9,036.50 total (One-off for 6 influencers)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394460" y="7080133"/>
            <a:ext cx="482346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392" indent="-130078" lvl="4">
              <a:lnSpc>
                <a:spcPts val="23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Best prices of any influencer option evaluated. A fraction of the rates quoted through Traccs for comparable talent.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789420" y="2059305"/>
            <a:ext cx="5417820" cy="6792468"/>
            <a:chOff x="0" y="0"/>
            <a:chExt cx="7223760" cy="90566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3760" cy="9056624"/>
            </a:xfrm>
            <a:custGeom>
              <a:avLst/>
              <a:gdLst/>
              <a:ahLst/>
              <a:cxnLst/>
              <a:rect r="r" b="b" t="t" l="l"/>
              <a:pathLst>
                <a:path h="905662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056624"/>
                  </a:lnTo>
                  <a:lnTo>
                    <a:pt x="0" y="9056624"/>
                  </a:lnTo>
                  <a:close/>
                </a:path>
              </a:pathLst>
            </a:custGeom>
            <a:solidFill>
              <a:srgbClr val="1E2D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995160" y="2333625"/>
            <a:ext cx="1508760" cy="1508760"/>
            <a:chOff x="0" y="0"/>
            <a:chExt cx="2011680" cy="2011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995160" y="2361057"/>
            <a:ext cx="1508760" cy="1440180"/>
            <a:chOff x="0" y="0"/>
            <a:chExt cx="2011680" cy="1920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556" t="0" r="-72556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995160" y="2353913"/>
            <a:ext cx="1508760" cy="1447324"/>
            <a:chOff x="0" y="0"/>
            <a:chExt cx="2011680" cy="192976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1680" cy="1929765"/>
            </a:xfrm>
            <a:custGeom>
              <a:avLst/>
              <a:gdLst/>
              <a:ahLst/>
              <a:cxnLst/>
              <a:rect r="r" b="b" t="t" l="l"/>
              <a:pathLst>
                <a:path h="1929765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9765"/>
                  </a:lnTo>
                  <a:lnTo>
                    <a:pt x="0" y="1929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64" t="0" r="-73164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995160" y="2346770"/>
            <a:ext cx="1508760" cy="1454468"/>
            <a:chOff x="0" y="0"/>
            <a:chExt cx="2011680" cy="19392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11680" cy="1939290"/>
            </a:xfrm>
            <a:custGeom>
              <a:avLst/>
              <a:gdLst/>
              <a:ahLst/>
              <a:cxnLst/>
              <a:rect r="r" b="b" t="t" l="l"/>
              <a:pathLst>
                <a:path h="193929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39290"/>
                  </a:lnTo>
                  <a:lnTo>
                    <a:pt x="0" y="19392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772" t="0" r="-73772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995160" y="2339626"/>
            <a:ext cx="1508760" cy="1461611"/>
            <a:chOff x="0" y="0"/>
            <a:chExt cx="2011680" cy="194881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11680" cy="1948816"/>
            </a:xfrm>
            <a:custGeom>
              <a:avLst/>
              <a:gdLst/>
              <a:ahLst/>
              <a:cxnLst/>
              <a:rect r="r" b="b" t="t" l="l"/>
              <a:pathLst>
                <a:path h="194881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48816"/>
                  </a:lnTo>
                  <a:lnTo>
                    <a:pt x="0" y="19488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4294" t="0" r="-7429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011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#2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995160" y="4048125"/>
            <a:ext cx="5006340" cy="713232"/>
            <a:chOff x="0" y="0"/>
            <a:chExt cx="6675120" cy="95097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75120" cy="950976"/>
            </a:xfrm>
            <a:custGeom>
              <a:avLst/>
              <a:gdLst/>
              <a:ahLst/>
              <a:cxnLst/>
              <a:rect r="r" b="b" t="t" l="l"/>
              <a:pathLst>
                <a:path h="95097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74" r="0" b="-86674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995160" y="4040981"/>
            <a:ext cx="5006340" cy="720376"/>
            <a:chOff x="0" y="0"/>
            <a:chExt cx="6675120" cy="96050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675120" cy="960501"/>
            </a:xfrm>
            <a:custGeom>
              <a:avLst/>
              <a:gdLst/>
              <a:ahLst/>
              <a:cxnLst/>
              <a:rect r="r" b="b" t="t" l="l"/>
              <a:pathLst>
                <a:path h="960501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60501"/>
                  </a:lnTo>
                  <a:lnTo>
                    <a:pt x="0" y="960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9" r="0" b="-8531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995160" y="4033838"/>
            <a:ext cx="5006340" cy="727520"/>
            <a:chOff x="0" y="0"/>
            <a:chExt cx="6675120" cy="97002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75120" cy="970026"/>
            </a:xfrm>
            <a:custGeom>
              <a:avLst/>
              <a:gdLst/>
              <a:ahLst/>
              <a:cxnLst/>
              <a:rect r="r" b="b" t="t" l="l"/>
              <a:pathLst>
                <a:path h="97002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70026"/>
                  </a:lnTo>
                  <a:lnTo>
                    <a:pt x="0" y="9700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990" r="0" b="-8399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995160" y="4026694"/>
            <a:ext cx="5006340" cy="734663"/>
            <a:chOff x="0" y="0"/>
            <a:chExt cx="6675120" cy="9795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675120" cy="979552"/>
            </a:xfrm>
            <a:custGeom>
              <a:avLst/>
              <a:gdLst/>
              <a:ahLst/>
              <a:cxnLst/>
              <a:rect r="r" b="b" t="t" l="l"/>
              <a:pathLst>
                <a:path h="979552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79552"/>
                  </a:lnTo>
                  <a:lnTo>
                    <a:pt x="0" y="9795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780" r="0" b="-8278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67512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24F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995160" y="5215509"/>
            <a:ext cx="5006340" cy="517398"/>
            <a:chOff x="0" y="0"/>
            <a:chExt cx="6675120" cy="6898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675120" cy="689864"/>
            </a:xfrm>
            <a:custGeom>
              <a:avLst/>
              <a:gdLst/>
              <a:ahLst/>
              <a:cxnLst/>
              <a:rect r="r" b="b" t="t" l="l"/>
              <a:pathLst>
                <a:path h="68986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689864"/>
                  </a:lnTo>
                  <a:lnTo>
                    <a:pt x="0" y="689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405" r="0" b="-138405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995160" y="5208365"/>
            <a:ext cx="5006340" cy="524542"/>
            <a:chOff x="0" y="0"/>
            <a:chExt cx="6675120" cy="69938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675120" cy="699389"/>
            </a:xfrm>
            <a:custGeom>
              <a:avLst/>
              <a:gdLst/>
              <a:ahLst/>
              <a:cxnLst/>
              <a:rect r="r" b="b" t="t" l="l"/>
              <a:pathLst>
                <a:path h="699389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699389"/>
                  </a:lnTo>
                  <a:lnTo>
                    <a:pt x="0" y="699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39" r="0" b="-135839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995160" y="5201221"/>
            <a:ext cx="5006340" cy="531695"/>
            <a:chOff x="0" y="0"/>
            <a:chExt cx="6675120" cy="70892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75120" cy="708914"/>
            </a:xfrm>
            <a:custGeom>
              <a:avLst/>
              <a:gdLst/>
              <a:ahLst/>
              <a:cxnLst/>
              <a:rect r="r" b="b" t="t" l="l"/>
              <a:pathLst>
                <a:path h="70891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08914"/>
                  </a:lnTo>
                  <a:lnTo>
                    <a:pt x="0" y="7089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342" r="0" b="-133342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995160" y="5194078"/>
            <a:ext cx="5006340" cy="538839"/>
            <a:chOff x="0" y="0"/>
            <a:chExt cx="6675120" cy="7184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675120" cy="718452"/>
            </a:xfrm>
            <a:custGeom>
              <a:avLst/>
              <a:gdLst/>
              <a:ahLst/>
              <a:cxnLst/>
              <a:rect r="r" b="b" t="t" l="l"/>
              <a:pathLst>
                <a:path h="718452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18452"/>
                  </a:lnTo>
                  <a:lnTo>
                    <a:pt x="0" y="7184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035" r="0" b="-13103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6675120" cy="727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6"/>
                </a:lnSpc>
              </a:pPr>
              <a:r>
                <a:rPr lang="en-US" sz="2448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Role: Social Media Management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995160" y="6187069"/>
            <a:ext cx="5006340" cy="438912"/>
            <a:chOff x="0" y="0"/>
            <a:chExt cx="6675120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995160" y="6187069"/>
            <a:ext cx="5006340" cy="438912"/>
            <a:chOff x="0" y="0"/>
            <a:chExt cx="6675120" cy="58521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995160" y="6187069"/>
            <a:ext cx="5006340" cy="438912"/>
            <a:chOff x="0" y="0"/>
            <a:chExt cx="6675120" cy="5852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995160" y="6051680"/>
            <a:ext cx="5006340" cy="438912"/>
            <a:chOff x="0" y="0"/>
            <a:chExt cx="6675120" cy="5852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251" r="0" b="-17225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66751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7"/>
                </a:lnSpc>
              </a:pPr>
              <a:r>
                <a:rPr lang="en-US" sz="1998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$6,413 / month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7219950" y="7080133"/>
            <a:ext cx="482346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392" indent="-130078" lvl="4">
              <a:lnSpc>
                <a:spcPts val="23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Selected for their experience, many clients, and very positive feedback from the financial sector in the region.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2481560" y="2059305"/>
            <a:ext cx="5417820" cy="6792468"/>
            <a:chOff x="0" y="0"/>
            <a:chExt cx="7223760" cy="90566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223760" cy="9056624"/>
            </a:xfrm>
            <a:custGeom>
              <a:avLst/>
              <a:gdLst/>
              <a:ahLst/>
              <a:cxnLst/>
              <a:rect r="r" b="b" t="t" l="l"/>
              <a:pathLst>
                <a:path h="905662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056624"/>
                  </a:lnTo>
                  <a:lnTo>
                    <a:pt x="0" y="9056624"/>
                  </a:lnTo>
                  <a:close/>
                </a:path>
              </a:pathLst>
            </a:custGeom>
            <a:solidFill>
              <a:srgbClr val="1E2D4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687300" y="2333625"/>
            <a:ext cx="1508760" cy="1508760"/>
            <a:chOff x="0" y="0"/>
            <a:chExt cx="2011680" cy="2011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687300" y="2361057"/>
            <a:ext cx="1508760" cy="1440180"/>
            <a:chOff x="0" y="0"/>
            <a:chExt cx="2011680" cy="19202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556" t="0" r="-72556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687300" y="2353913"/>
            <a:ext cx="1508760" cy="1447324"/>
            <a:chOff x="0" y="0"/>
            <a:chExt cx="2011680" cy="192976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11680" cy="1929765"/>
            </a:xfrm>
            <a:custGeom>
              <a:avLst/>
              <a:gdLst/>
              <a:ahLst/>
              <a:cxnLst/>
              <a:rect r="r" b="b" t="t" l="l"/>
              <a:pathLst>
                <a:path h="1929765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9765"/>
                  </a:lnTo>
                  <a:lnTo>
                    <a:pt x="0" y="1929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64" t="0" r="-73164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687300" y="2346770"/>
            <a:ext cx="1508760" cy="1454468"/>
            <a:chOff x="0" y="0"/>
            <a:chExt cx="2011680" cy="193929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011680" cy="1939290"/>
            </a:xfrm>
            <a:custGeom>
              <a:avLst/>
              <a:gdLst/>
              <a:ahLst/>
              <a:cxnLst/>
              <a:rect r="r" b="b" t="t" l="l"/>
              <a:pathLst>
                <a:path h="193929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39290"/>
                  </a:lnTo>
                  <a:lnTo>
                    <a:pt x="0" y="19392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772" t="0" r="-73772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687300" y="2339626"/>
            <a:ext cx="1508760" cy="1461611"/>
            <a:chOff x="0" y="0"/>
            <a:chExt cx="2011680" cy="194881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11680" cy="1948816"/>
            </a:xfrm>
            <a:custGeom>
              <a:avLst/>
              <a:gdLst/>
              <a:ahLst/>
              <a:cxnLst/>
              <a:rect r="r" b="b" t="t" l="l"/>
              <a:pathLst>
                <a:path h="194881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48816"/>
                  </a:lnTo>
                  <a:lnTo>
                    <a:pt x="0" y="19488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4294" t="0" r="-74294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2011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#3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687300" y="4048125"/>
            <a:ext cx="5006340" cy="713232"/>
            <a:chOff x="0" y="0"/>
            <a:chExt cx="6675120" cy="95097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675120" cy="950976"/>
            </a:xfrm>
            <a:custGeom>
              <a:avLst/>
              <a:gdLst/>
              <a:ahLst/>
              <a:cxnLst/>
              <a:rect r="r" b="b" t="t" l="l"/>
              <a:pathLst>
                <a:path h="95097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74" r="0" b="-86674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687300" y="4040981"/>
            <a:ext cx="5006340" cy="720376"/>
            <a:chOff x="0" y="0"/>
            <a:chExt cx="6675120" cy="96050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675120" cy="960501"/>
            </a:xfrm>
            <a:custGeom>
              <a:avLst/>
              <a:gdLst/>
              <a:ahLst/>
              <a:cxnLst/>
              <a:rect r="r" b="b" t="t" l="l"/>
              <a:pathLst>
                <a:path h="960501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60501"/>
                  </a:lnTo>
                  <a:lnTo>
                    <a:pt x="0" y="960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9" r="0" b="-85319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687300" y="4033838"/>
            <a:ext cx="5006340" cy="727520"/>
            <a:chOff x="0" y="0"/>
            <a:chExt cx="6675120" cy="97002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675120" cy="970026"/>
            </a:xfrm>
            <a:custGeom>
              <a:avLst/>
              <a:gdLst/>
              <a:ahLst/>
              <a:cxnLst/>
              <a:rect r="r" b="b" t="t" l="l"/>
              <a:pathLst>
                <a:path h="97002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70026"/>
                  </a:lnTo>
                  <a:lnTo>
                    <a:pt x="0" y="9700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990" r="0" b="-8399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687300" y="4026694"/>
            <a:ext cx="5006340" cy="734663"/>
            <a:chOff x="0" y="0"/>
            <a:chExt cx="6675120" cy="97955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675120" cy="979552"/>
            </a:xfrm>
            <a:custGeom>
              <a:avLst/>
              <a:gdLst/>
              <a:ahLst/>
              <a:cxnLst/>
              <a:rect r="r" b="b" t="t" l="l"/>
              <a:pathLst>
                <a:path h="979552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979552"/>
                  </a:lnTo>
                  <a:lnTo>
                    <a:pt x="0" y="9795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780" r="0" b="-8278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667512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Ignite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687300" y="5215509"/>
            <a:ext cx="5006340" cy="517398"/>
            <a:chOff x="0" y="0"/>
            <a:chExt cx="6675120" cy="68986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675120" cy="689864"/>
            </a:xfrm>
            <a:custGeom>
              <a:avLst/>
              <a:gdLst/>
              <a:ahLst/>
              <a:cxnLst/>
              <a:rect r="r" b="b" t="t" l="l"/>
              <a:pathLst>
                <a:path h="68986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689864"/>
                  </a:lnTo>
                  <a:lnTo>
                    <a:pt x="0" y="689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405" r="0" b="-138405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687300" y="5208365"/>
            <a:ext cx="5006340" cy="524542"/>
            <a:chOff x="0" y="0"/>
            <a:chExt cx="6675120" cy="69938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675120" cy="699389"/>
            </a:xfrm>
            <a:custGeom>
              <a:avLst/>
              <a:gdLst/>
              <a:ahLst/>
              <a:cxnLst/>
              <a:rect r="r" b="b" t="t" l="l"/>
              <a:pathLst>
                <a:path h="699389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699389"/>
                  </a:lnTo>
                  <a:lnTo>
                    <a:pt x="0" y="699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39" r="0" b="-135839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2687300" y="5201221"/>
            <a:ext cx="5006340" cy="531695"/>
            <a:chOff x="0" y="0"/>
            <a:chExt cx="6675120" cy="70892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675120" cy="708914"/>
            </a:xfrm>
            <a:custGeom>
              <a:avLst/>
              <a:gdLst/>
              <a:ahLst/>
              <a:cxnLst/>
              <a:rect r="r" b="b" t="t" l="l"/>
              <a:pathLst>
                <a:path h="70891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08914"/>
                  </a:lnTo>
                  <a:lnTo>
                    <a:pt x="0" y="7089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342" r="0" b="-133342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2687300" y="5194078"/>
            <a:ext cx="5006340" cy="538839"/>
            <a:chOff x="0" y="0"/>
            <a:chExt cx="6675120" cy="7184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675120" cy="718452"/>
            </a:xfrm>
            <a:custGeom>
              <a:avLst/>
              <a:gdLst/>
              <a:ahLst/>
              <a:cxnLst/>
              <a:rect r="r" b="b" t="t" l="l"/>
              <a:pathLst>
                <a:path h="718452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18452"/>
                  </a:lnTo>
                  <a:lnTo>
                    <a:pt x="0" y="7184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035" r="0" b="-13103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6675120" cy="727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6"/>
                </a:lnSpc>
              </a:pPr>
              <a:r>
                <a:rPr lang="en-US" sz="2448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Role: Sponsor Ads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729210" y="6051680"/>
            <a:ext cx="5006340" cy="438912"/>
            <a:chOff x="0" y="0"/>
            <a:chExt cx="6675120" cy="58521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729210" y="6051680"/>
            <a:ext cx="5006340" cy="438912"/>
            <a:chOff x="0" y="0"/>
            <a:chExt cx="6675120" cy="58521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2729210" y="6051680"/>
            <a:ext cx="5006340" cy="438912"/>
            <a:chOff x="0" y="0"/>
            <a:chExt cx="6675120" cy="58521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096" r="0" b="-172096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2729210" y="6051680"/>
            <a:ext cx="5006340" cy="438912"/>
            <a:chOff x="0" y="0"/>
            <a:chExt cx="6675120" cy="58521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6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251" r="0" b="-172251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66751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7"/>
                </a:lnSpc>
              </a:pPr>
              <a:r>
                <a:rPr lang="en-US" sz="1998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$1,020 / month, ad spend separate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12912090" y="7080133"/>
            <a:ext cx="482346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392" indent="-130078" lvl="4">
              <a:lnSpc>
                <a:spcPts val="23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$1,020 / month covers ads management for up to 5 platforms (Instagram, LinkedIn, X, TikTok, YouTube) plus a monthly extended metrics report.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15203662" y="1028700"/>
            <a:ext cx="2055686" cy="592074"/>
            <a:chOff x="0" y="0"/>
            <a:chExt cx="2740914" cy="789432"/>
          </a:xfrm>
        </p:grpSpPr>
        <p:sp>
          <p:nvSpPr>
            <p:cNvPr name="Freeform 137" id="137" descr="image.png"/>
            <p:cNvSpPr/>
            <p:nvPr/>
          </p:nvSpPr>
          <p:spPr>
            <a:xfrm flipH="false" flipV="false" rot="0">
              <a:off x="0" y="0"/>
              <a:ext cx="2740914" cy="789432"/>
            </a:xfrm>
            <a:custGeom>
              <a:avLst/>
              <a:gdLst/>
              <a:ahLst/>
              <a:cxnLst/>
              <a:rect r="r" b="b" t="t" l="l"/>
              <a:pathLst>
                <a:path h="789432" w="2740914">
                  <a:moveTo>
                    <a:pt x="0" y="0"/>
                  </a:moveTo>
                  <a:lnTo>
                    <a:pt x="2740914" y="0"/>
                  </a:lnTo>
                  <a:lnTo>
                    <a:pt x="2740914" y="789432"/>
                  </a:lnTo>
                  <a:lnTo>
                    <a:pt x="0" y="789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0" r="0" b="-312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097280" y="8879996"/>
            <a:ext cx="16459200" cy="822960"/>
            <a:chOff x="0" y="0"/>
            <a:chExt cx="21945600" cy="109728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29" r="0" b="-33943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097280" y="8872852"/>
            <a:ext cx="16459200" cy="830104"/>
            <a:chOff x="0" y="0"/>
            <a:chExt cx="21945600" cy="110680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1945600" cy="1106805"/>
            </a:xfrm>
            <a:custGeom>
              <a:avLst/>
              <a:gdLst/>
              <a:ahLst/>
              <a:cxnLst/>
              <a:rect r="r" b="b" t="t" l="l"/>
              <a:pathLst>
                <a:path h="11068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06805"/>
                  </a:lnTo>
                  <a:lnTo>
                    <a:pt x="0" y="1106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078" r="0" b="-336079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097280" y="8865708"/>
            <a:ext cx="16459200" cy="837248"/>
            <a:chOff x="0" y="0"/>
            <a:chExt cx="21945600" cy="111633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1945600" cy="1116330"/>
            </a:xfrm>
            <a:custGeom>
              <a:avLst/>
              <a:gdLst/>
              <a:ahLst/>
              <a:cxnLst/>
              <a:rect r="r" b="b" t="t" l="l"/>
              <a:pathLst>
                <a:path h="111633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2783" r="0" b="-332784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097280" y="8858564"/>
            <a:ext cx="16459200" cy="844391"/>
            <a:chOff x="0" y="0"/>
            <a:chExt cx="21945600" cy="112585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1945600" cy="1125856"/>
            </a:xfrm>
            <a:custGeom>
              <a:avLst/>
              <a:gdLst/>
              <a:ahLst/>
              <a:cxnLst/>
              <a:rect r="r" b="b" t="t" l="l"/>
              <a:pathLst>
                <a:path h="112585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25856"/>
                  </a:lnTo>
                  <a:lnTo>
                    <a:pt x="0" y="1125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9809" r="0" b="-329809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21945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Cost of TRACCS: </a:t>
              </a:r>
              <a:r>
                <a:rPr lang="en-US" sz="2300" b="true">
                  <a:solidFill>
                    <a:srgbClr val="FBECE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$7,579 / month 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Cost of Current Agencies: </a:t>
              </a:r>
              <a:r>
                <a:rPr lang="en-US" sz="2300" b="true">
                  <a:solidFill>
                    <a:srgbClr val="2E7D3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$7,433 / month</a:t>
              </a: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CADCFC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CADCFC"/>
                </a:solidFill>
                <a:latin typeface="Exo 2"/>
                <a:ea typeface="Exo 2"/>
                <a:cs typeface="Exo 2"/>
                <a:sym typeface="Exo 2"/>
              </a:rPr>
              <a:t>14</a:t>
            </a:r>
          </a:p>
        </p:txBody>
      </p:sp>
      <p:sp>
        <p:nvSpPr>
          <p:cNvPr name="Freeform 149" id="149"/>
          <p:cNvSpPr/>
          <p:nvPr/>
        </p:nvSpPr>
        <p:spPr>
          <a:xfrm flipH="false" flipV="false" rot="0">
            <a:off x="15545549" y="9299448"/>
            <a:ext cx="1713798" cy="609351"/>
          </a:xfrm>
          <a:custGeom>
            <a:avLst/>
            <a:gdLst/>
            <a:ahLst/>
            <a:cxnLst/>
            <a:rect r="r" b="b" t="t" l="l"/>
            <a:pathLst>
              <a:path h="609351" w="1713798">
                <a:moveTo>
                  <a:pt x="0" y="0"/>
                </a:moveTo>
                <a:lnTo>
                  <a:pt x="1713799" y="0"/>
                </a:lnTo>
                <a:lnTo>
                  <a:pt x="1713799" y="609351"/>
                </a:lnTo>
                <a:lnTo>
                  <a:pt x="0" y="6093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5847" y="557136"/>
            <a:ext cx="13164598" cy="928783"/>
            <a:chOff x="0" y="0"/>
            <a:chExt cx="17552797" cy="12383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5847" y="549993"/>
            <a:ext cx="13164598" cy="935927"/>
            <a:chOff x="0" y="0"/>
            <a:chExt cx="17552797" cy="1247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847" y="542849"/>
            <a:ext cx="13164598" cy="943118"/>
            <a:chOff x="0" y="0"/>
            <a:chExt cx="17552797" cy="1257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1257554"/>
            </a:xfrm>
            <a:custGeom>
              <a:avLst/>
              <a:gdLst/>
              <a:ahLst/>
              <a:cxnLst/>
              <a:rect r="r" b="b" t="t" l="l"/>
              <a:pathLst>
                <a:path h="1257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554"/>
                  </a:lnTo>
                  <a:lnTo>
                    <a:pt x="0" y="12575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1783" r="0" b="-2217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5847" y="535705"/>
            <a:ext cx="13164598" cy="950262"/>
            <a:chOff x="0" y="0"/>
            <a:chExt cx="17552797" cy="1267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Influencer Strategy: Persona-Led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023741" y="8454104"/>
            <a:ext cx="10190416" cy="1253871"/>
            <a:chOff x="0" y="0"/>
            <a:chExt cx="13587222" cy="16718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87222" cy="1671828"/>
            </a:xfrm>
            <a:custGeom>
              <a:avLst/>
              <a:gdLst/>
              <a:ahLst/>
              <a:cxnLst/>
              <a:rect r="r" b="b" t="t" l="l"/>
              <a:pathLst>
                <a:path h="1671828" w="13587222">
                  <a:moveTo>
                    <a:pt x="0" y="0"/>
                  </a:moveTo>
                  <a:lnTo>
                    <a:pt x="13587222" y="0"/>
                  </a:lnTo>
                  <a:lnTo>
                    <a:pt x="13587222" y="1671828"/>
                  </a:lnTo>
                  <a:lnTo>
                    <a:pt x="0" y="1671828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149014" y="8620696"/>
            <a:ext cx="5558076" cy="25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749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P2's List Is Filtered by Customer Type, Not Just Reach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49014" y="9001173"/>
            <a:ext cx="9771431" cy="54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</a:pPr>
            <a:r>
              <a:rPr lang="en-US" sz="1698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Each of the six influencers speaks to a different persona. eMYAA will run targeted messaging built for these distinct audiences, rather than one generic ad repeated across channels.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593541" y="1525753"/>
          <a:ext cx="16598900" cy="6718300"/>
        </p:xfrm>
        <a:graphic>
          <a:graphicData uri="http://schemas.openxmlformats.org/drawingml/2006/table">
            <a:tbl>
              <a:tblPr/>
              <a:tblGrid>
                <a:gridCol w="6628202"/>
                <a:gridCol w="3323565"/>
                <a:gridCol w="2662639"/>
                <a:gridCol w="3984494"/>
              </a:tblGrid>
              <a:tr h="4959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Influencer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Market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Agency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Price (USD)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Ali Sabeel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P2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$1,060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Hamed Al Bloushi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P2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$1,060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Manal Talal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P2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$1,325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Musheera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P2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$1,855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Abdulelah Alharbi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Saudi Arabia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P2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$1,590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Ammar Alshaikh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P2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132257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$1,325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Hassan Mohammed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$2,120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Amwal (single story)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$662.50+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Dr Asaad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Bahrain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$17,490+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Mohammed al Nuaimi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UAE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$47,700+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Samah Al Hajeri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UAE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$47,700+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Ahmed Elgamal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UAE (Gulf)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$47,700+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Ali Alhamed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UAE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$92,750+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7"/>
                        </a:lnSpc>
                        <a:defRPr/>
                      </a:pPr>
                      <a:r>
                        <a:rPr lang="en-US" sz="1149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Amwal (6 month package)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17"/>
                        </a:lnSpc>
                        <a:defRPr/>
                      </a:pPr>
                      <a:r>
                        <a:rPr lang="en-US" sz="109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UAE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7"/>
                        </a:lnSpc>
                        <a:defRPr/>
                      </a:pPr>
                      <a:r>
                        <a:rPr lang="en-US" sz="1149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$113,950+</a:t>
                      </a:r>
                      <a:endParaRPr lang="en-US" sz="1100"/>
                    </a:p>
                  </a:txBody>
                  <a:tcPr marL="120000" marR="120000" marT="120000" marB="120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15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842230"/>
            <a:ext cx="17190720" cy="1786318"/>
            <a:chOff x="0" y="0"/>
            <a:chExt cx="22920960" cy="2381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20961" cy="2381758"/>
            </a:xfrm>
            <a:custGeom>
              <a:avLst/>
              <a:gdLst/>
              <a:ahLst/>
              <a:cxnLst/>
              <a:rect r="r" b="b" t="t" l="l"/>
              <a:pathLst>
                <a:path h="238175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381758"/>
                  </a:lnTo>
                  <a:lnTo>
                    <a:pt x="0" y="2381758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1842230"/>
            <a:ext cx="54864" cy="1687068"/>
            <a:chOff x="0" y="0"/>
            <a:chExt cx="73152" cy="2249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2249424"/>
            </a:xfrm>
            <a:custGeom>
              <a:avLst/>
              <a:gdLst/>
              <a:ahLst/>
              <a:cxnLst/>
              <a:rect r="r" b="b" t="t" l="l"/>
              <a:pathLst>
                <a:path h="2249424" w="73152">
                  <a:moveTo>
                    <a:pt x="0" y="0"/>
                  </a:moveTo>
                  <a:lnTo>
                    <a:pt x="73152" y="0"/>
                  </a:lnTo>
                  <a:lnTo>
                    <a:pt x="73152" y="2249424"/>
                  </a:lnTo>
                  <a:lnTo>
                    <a:pt x="0" y="2249424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847" y="557136"/>
            <a:ext cx="13164598" cy="928783"/>
            <a:chOff x="0" y="0"/>
            <a:chExt cx="17552797" cy="12383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5847" y="549993"/>
            <a:ext cx="13164598" cy="935927"/>
            <a:chOff x="0" y="0"/>
            <a:chExt cx="17552797" cy="12479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5847" y="542849"/>
            <a:ext cx="13164598" cy="943118"/>
            <a:chOff x="0" y="0"/>
            <a:chExt cx="17552797" cy="1257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52797" cy="1257554"/>
            </a:xfrm>
            <a:custGeom>
              <a:avLst/>
              <a:gdLst/>
              <a:ahLst/>
              <a:cxnLst/>
              <a:rect r="r" b="b" t="t" l="l"/>
              <a:pathLst>
                <a:path h="1257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554"/>
                  </a:lnTo>
                  <a:lnTo>
                    <a:pt x="0" y="12575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1783" r="0" b="-22177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5847" y="535705"/>
            <a:ext cx="13164598" cy="950262"/>
            <a:chOff x="0" y="0"/>
            <a:chExt cx="17552797" cy="1267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Marketing Campaigns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920445" y="6269746"/>
            <a:ext cx="3560636" cy="3008186"/>
            <a:chOff x="0" y="0"/>
            <a:chExt cx="4747514" cy="40109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47514" cy="4010914"/>
            </a:xfrm>
            <a:custGeom>
              <a:avLst/>
              <a:gdLst/>
              <a:ahLst/>
              <a:cxnLst/>
              <a:rect r="r" b="b" t="t" l="l"/>
              <a:pathLst>
                <a:path h="4010914" w="4747514">
                  <a:moveTo>
                    <a:pt x="0" y="0"/>
                  </a:moveTo>
                  <a:lnTo>
                    <a:pt x="4747514" y="0"/>
                  </a:lnTo>
                  <a:lnTo>
                    <a:pt x="4747514" y="4010914"/>
                  </a:lnTo>
                  <a:lnTo>
                    <a:pt x="0" y="4010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5" t="0" r="-6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8640" y="3984869"/>
            <a:ext cx="17190720" cy="1704880"/>
            <a:chOff x="0" y="0"/>
            <a:chExt cx="22920960" cy="22731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920961" cy="2273173"/>
            </a:xfrm>
            <a:custGeom>
              <a:avLst/>
              <a:gdLst/>
              <a:ahLst/>
              <a:cxnLst/>
              <a:rect r="r" b="b" t="t" l="l"/>
              <a:pathLst>
                <a:path h="2273173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273173"/>
                  </a:lnTo>
                  <a:lnTo>
                    <a:pt x="0" y="2273173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48640" y="3984869"/>
            <a:ext cx="54864" cy="1687068"/>
            <a:chOff x="0" y="0"/>
            <a:chExt cx="73152" cy="22494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" cy="2249424"/>
            </a:xfrm>
            <a:custGeom>
              <a:avLst/>
              <a:gdLst/>
              <a:ahLst/>
              <a:cxnLst/>
              <a:rect r="r" b="b" t="t" l="l"/>
              <a:pathLst>
                <a:path h="2249424" w="73152">
                  <a:moveTo>
                    <a:pt x="0" y="0"/>
                  </a:moveTo>
                  <a:lnTo>
                    <a:pt x="73152" y="0"/>
                  </a:lnTo>
                  <a:lnTo>
                    <a:pt x="73152" y="2249424"/>
                  </a:lnTo>
                  <a:lnTo>
                    <a:pt x="0" y="2249424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6199861"/>
            <a:ext cx="13084207" cy="3058478"/>
            <a:chOff x="0" y="0"/>
            <a:chExt cx="17445609" cy="40779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445610" cy="4077970"/>
            </a:xfrm>
            <a:custGeom>
              <a:avLst/>
              <a:gdLst/>
              <a:ahLst/>
              <a:cxnLst/>
              <a:rect r="r" b="b" t="t" l="l"/>
              <a:pathLst>
                <a:path h="4077970" w="17445610">
                  <a:moveTo>
                    <a:pt x="0" y="0"/>
                  </a:moveTo>
                  <a:lnTo>
                    <a:pt x="17445610" y="0"/>
                  </a:lnTo>
                  <a:lnTo>
                    <a:pt x="17445610" y="4077970"/>
                  </a:lnTo>
                  <a:lnTo>
                    <a:pt x="0" y="4077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3" r="0" b="-2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68680" y="1977866"/>
            <a:ext cx="96661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PAID MEDIA RELAUNCH &amp; H2 CAMPAIGNS (24 AUG - DEC 2026, LIVE / PLANNED)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680" y="2402043"/>
            <a:ext cx="129189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Two Campaigns Live, Raffle and Influencer Program Running Through Year End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8680" y="2867797"/>
            <a:ext cx="165506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The GCC-wide "Mention &amp; Win" ($500/mo) and Ali Sabeel video are both live. The $5,000 Most Active Trader Raffle runs 1 Aug – 31 Dec (draw 10 Jan 2027), alongside an active 6-creator influencer program.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8680" y="4120505"/>
            <a:ext cx="96661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MENTION &amp; WIN/ $5,000 CAMPAIGNS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8643" y="4520555"/>
            <a:ext cx="12918996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Transparent Payouts Build Trust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8680" y="5015827"/>
            <a:ext cx="165506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Executed prizes and "Mention &amp; Win" campaigns to address industry regulatory concerns following the ATME situation, using verifiable payouts to establish strong audience trust.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16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5847" y="557136"/>
            <a:ext cx="13164598" cy="928783"/>
            <a:chOff x="0" y="0"/>
            <a:chExt cx="17552797" cy="12383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527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989" r="0" b="-2259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5847" y="549993"/>
            <a:ext cx="13164598" cy="935927"/>
            <a:chOff x="0" y="0"/>
            <a:chExt cx="17552797" cy="1247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5847" y="542849"/>
            <a:ext cx="13164598" cy="943118"/>
            <a:chOff x="0" y="0"/>
            <a:chExt cx="17552797" cy="1257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2797" cy="1257554"/>
            </a:xfrm>
            <a:custGeom>
              <a:avLst/>
              <a:gdLst/>
              <a:ahLst/>
              <a:cxnLst/>
              <a:rect r="r" b="b" t="t" l="l"/>
              <a:pathLst>
                <a:path h="1257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554"/>
                  </a:lnTo>
                  <a:lnTo>
                    <a:pt x="0" y="12575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1783" r="0" b="-2217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847" y="535705"/>
            <a:ext cx="13164598" cy="950262"/>
            <a:chOff x="0" y="0"/>
            <a:chExt cx="17552797" cy="1267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1267016"/>
            </a:xfrm>
            <a:custGeom>
              <a:avLst/>
              <a:gdLst/>
              <a:ahLst/>
              <a:cxnLst/>
              <a:rect r="r" b="b" t="t" l="l"/>
              <a:pathLst>
                <a:path h="1267016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16"/>
                  </a:lnTo>
                  <a:lnTo>
                    <a:pt x="0" y="12670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938" r="0" b="-2199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552797" cy="1276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Q4 2026 Outlook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291229" y="5440147"/>
            <a:ext cx="13705523" cy="3787712"/>
            <a:chOff x="0" y="0"/>
            <a:chExt cx="18274030" cy="5050282"/>
          </a:xfrm>
        </p:grpSpPr>
        <p:sp>
          <p:nvSpPr>
            <p:cNvPr name="Freeform 16" id="16" descr="Full Carrousel.png"/>
            <p:cNvSpPr/>
            <p:nvPr/>
          </p:nvSpPr>
          <p:spPr>
            <a:xfrm flipH="false" flipV="false" rot="0">
              <a:off x="0" y="0"/>
              <a:ext cx="18274030" cy="5050282"/>
            </a:xfrm>
            <a:custGeom>
              <a:avLst/>
              <a:gdLst/>
              <a:ahLst/>
              <a:cxnLst/>
              <a:rect r="r" b="b" t="t" l="l"/>
              <a:pathLst>
                <a:path h="5050282" w="18274030">
                  <a:moveTo>
                    <a:pt x="0" y="0"/>
                  </a:moveTo>
                  <a:lnTo>
                    <a:pt x="18274030" y="0"/>
                  </a:lnTo>
                  <a:lnTo>
                    <a:pt x="18274030" y="5050282"/>
                  </a:lnTo>
                  <a:lnTo>
                    <a:pt x="0" y="5050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" r="0" b="-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70535" y="1608811"/>
            <a:ext cx="17190720" cy="1687068"/>
            <a:chOff x="0" y="0"/>
            <a:chExt cx="22920960" cy="22494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2249424"/>
            </a:xfrm>
            <a:custGeom>
              <a:avLst/>
              <a:gdLst/>
              <a:ahLst/>
              <a:cxnLst/>
              <a:rect r="r" b="b" t="t" l="l"/>
              <a:pathLst>
                <a:path h="22494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249424"/>
                  </a:lnTo>
                  <a:lnTo>
                    <a:pt x="0" y="2249424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70535" y="1608811"/>
            <a:ext cx="54864" cy="1687068"/>
            <a:chOff x="0" y="0"/>
            <a:chExt cx="73152" cy="22494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" cy="2249424"/>
            </a:xfrm>
            <a:custGeom>
              <a:avLst/>
              <a:gdLst/>
              <a:ahLst/>
              <a:cxnLst/>
              <a:rect r="r" b="b" t="t" l="l"/>
              <a:pathLst>
                <a:path h="2249424" w="73152">
                  <a:moveTo>
                    <a:pt x="0" y="0"/>
                  </a:moveTo>
                  <a:lnTo>
                    <a:pt x="73152" y="0"/>
                  </a:lnTo>
                  <a:lnTo>
                    <a:pt x="73152" y="2249424"/>
                  </a:lnTo>
                  <a:lnTo>
                    <a:pt x="0" y="2249424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90575" y="1746828"/>
            <a:ext cx="9666160" cy="31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PRIMARY FOCUS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0575" y="2254015"/>
            <a:ext cx="11637645" cy="33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$5,000 Raffle Culminates, Utilize App Update as a Marketing USP, Influencers Strategy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70535" y="3524479"/>
            <a:ext cx="17190720" cy="1687068"/>
            <a:chOff x="0" y="0"/>
            <a:chExt cx="22920960" cy="22494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920961" cy="2249424"/>
            </a:xfrm>
            <a:custGeom>
              <a:avLst/>
              <a:gdLst/>
              <a:ahLst/>
              <a:cxnLst/>
              <a:rect r="r" b="b" t="t" l="l"/>
              <a:pathLst>
                <a:path h="22494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249424"/>
                  </a:lnTo>
                  <a:lnTo>
                    <a:pt x="0" y="2249424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70535" y="3524479"/>
            <a:ext cx="54864" cy="1687068"/>
            <a:chOff x="0" y="0"/>
            <a:chExt cx="73152" cy="22494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" cy="2249424"/>
            </a:xfrm>
            <a:custGeom>
              <a:avLst/>
              <a:gdLst/>
              <a:ahLst/>
              <a:cxnLst/>
              <a:rect r="r" b="b" t="t" l="l"/>
              <a:pathLst>
                <a:path h="2249424" w="73152">
                  <a:moveTo>
                    <a:pt x="0" y="0"/>
                  </a:moveTo>
                  <a:lnTo>
                    <a:pt x="73152" y="0"/>
                  </a:lnTo>
                  <a:lnTo>
                    <a:pt x="73152" y="2249424"/>
                  </a:lnTo>
                  <a:lnTo>
                    <a:pt x="0" y="2249424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90575" y="3662496"/>
            <a:ext cx="9666160" cy="31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true">
                <a:solidFill>
                  <a:srgbClr val="C9A227"/>
                </a:solidFill>
                <a:latin typeface="Exo 2 Bold"/>
                <a:ea typeface="Exo 2 Bold"/>
                <a:cs typeface="Exo 2 Bold"/>
                <a:sym typeface="Exo 2 Bold"/>
              </a:rPr>
              <a:t>ENGAGEMENT BEYOND CAMPAIGNS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0575" y="4169683"/>
            <a:ext cx="1291900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New Artwork Direction, Monthly Newsletters, Introducing More Human Elements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17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29209" y="4841234"/>
            <a:ext cx="137239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25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Purification Recap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78354" y="8666607"/>
            <a:ext cx="159877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25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GCC Market Spotlight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11226" y="8666607"/>
            <a:ext cx="99805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25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Market Pulse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7280" y="9180957"/>
            <a:ext cx="1700784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b="true" sz="1998" i="true">
                <a:solidFill>
                  <a:srgbClr val="8A93A8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*Work in progress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32907" y="1545126"/>
            <a:ext cx="6364986" cy="3291840"/>
            <a:chOff x="0" y="0"/>
            <a:chExt cx="8486648" cy="438912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486648" cy="4389120"/>
            </a:xfrm>
            <a:custGeom>
              <a:avLst/>
              <a:gdLst/>
              <a:ahLst/>
              <a:cxnLst/>
              <a:rect r="r" b="b" t="t" l="l"/>
              <a:pathLst>
                <a:path h="4389120" w="8486648">
                  <a:moveTo>
                    <a:pt x="0" y="0"/>
                  </a:moveTo>
                  <a:lnTo>
                    <a:pt x="8486648" y="0"/>
                  </a:lnTo>
                  <a:lnTo>
                    <a:pt x="8486648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" r="0" b="-3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5228" y="5349240"/>
            <a:ext cx="6364986" cy="3291840"/>
            <a:chOff x="0" y="0"/>
            <a:chExt cx="8486648" cy="438912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486648" cy="4389120"/>
            </a:xfrm>
            <a:custGeom>
              <a:avLst/>
              <a:gdLst/>
              <a:ahLst/>
              <a:cxnLst/>
              <a:rect r="r" b="b" t="t" l="l"/>
              <a:pathLst>
                <a:path h="4389120" w="8486648">
                  <a:moveTo>
                    <a:pt x="0" y="0"/>
                  </a:moveTo>
                  <a:lnTo>
                    <a:pt x="8486648" y="0"/>
                  </a:lnTo>
                  <a:lnTo>
                    <a:pt x="8486648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" r="0" b="-3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27748" y="5349240"/>
            <a:ext cx="6364986" cy="3291840"/>
            <a:chOff x="0" y="0"/>
            <a:chExt cx="8486648" cy="438912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8486648" cy="4389120"/>
            </a:xfrm>
            <a:custGeom>
              <a:avLst/>
              <a:gdLst/>
              <a:ahLst/>
              <a:cxnLst/>
              <a:rect r="r" b="b" t="t" l="l"/>
              <a:pathLst>
                <a:path h="4389120" w="8486648">
                  <a:moveTo>
                    <a:pt x="0" y="0"/>
                  </a:moveTo>
                  <a:lnTo>
                    <a:pt x="8486648" y="0"/>
                  </a:lnTo>
                  <a:lnTo>
                    <a:pt x="8486648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" r="0" b="-3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4862" y="603561"/>
            <a:ext cx="14636972" cy="822865"/>
            <a:chOff x="0" y="0"/>
            <a:chExt cx="19515963" cy="10971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1596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6354" r="0" b="-29635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4862" y="596417"/>
            <a:ext cx="14636972" cy="830008"/>
            <a:chOff x="0" y="0"/>
            <a:chExt cx="19515963" cy="11066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1596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06678"/>
                  </a:lnTo>
                  <a:lnTo>
                    <a:pt x="0" y="110667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3373" r="0" b="-29337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04862" y="589274"/>
            <a:ext cx="14636972" cy="837152"/>
            <a:chOff x="0" y="0"/>
            <a:chExt cx="19515963" cy="11162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15962" cy="1116203"/>
            </a:xfrm>
            <a:custGeom>
              <a:avLst/>
              <a:gdLst/>
              <a:ahLst/>
              <a:cxnLst/>
              <a:rect r="r" b="b" t="t" l="l"/>
              <a:pathLst>
                <a:path h="111620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16203"/>
                  </a:lnTo>
                  <a:lnTo>
                    <a:pt x="0" y="11162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0443" r="0" b="-29044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4862" y="624992"/>
            <a:ext cx="14636944" cy="801424"/>
            <a:chOff x="0" y="0"/>
            <a:chExt cx="19515925" cy="10685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15962" cy="1068578"/>
            </a:xfrm>
            <a:custGeom>
              <a:avLst/>
              <a:gdLst/>
              <a:ahLst/>
              <a:cxnLst/>
              <a:rect r="r" b="b" t="t" l="l"/>
              <a:pathLst>
                <a:path h="10685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68578"/>
                  </a:lnTo>
                  <a:lnTo>
                    <a:pt x="0" y="10685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5616" r="0" b="-30561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4862" y="660711"/>
            <a:ext cx="14636944" cy="765705"/>
            <a:chOff x="0" y="0"/>
            <a:chExt cx="19515925" cy="1020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15925" cy="1020940"/>
            </a:xfrm>
            <a:custGeom>
              <a:avLst/>
              <a:gdLst/>
              <a:ahLst/>
              <a:cxnLst/>
              <a:rect r="r" b="b" t="t" l="l"/>
              <a:pathLst>
                <a:path h="1020940" w="19515925">
                  <a:moveTo>
                    <a:pt x="0" y="0"/>
                  </a:moveTo>
                  <a:lnTo>
                    <a:pt x="19515925" y="0"/>
                  </a:lnTo>
                  <a:lnTo>
                    <a:pt x="19515925" y="1020940"/>
                  </a:lnTo>
                  <a:lnTo>
                    <a:pt x="0" y="10209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2468" r="0" b="-32246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19515925" cy="973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September Artwork Preview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62" r="0" b="-363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18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48109" y="4200001"/>
            <a:ext cx="8491823" cy="4826603"/>
            <a:chOff x="0" y="0"/>
            <a:chExt cx="11322431" cy="6435471"/>
          </a:xfrm>
        </p:grpSpPr>
        <p:sp>
          <p:nvSpPr>
            <p:cNvPr name="Freeform 5" id="5" descr="award_screenshot.png"/>
            <p:cNvSpPr/>
            <p:nvPr/>
          </p:nvSpPr>
          <p:spPr>
            <a:xfrm flipH="false" flipV="false" rot="0">
              <a:off x="0" y="0"/>
              <a:ext cx="11322431" cy="6435471"/>
            </a:xfrm>
            <a:custGeom>
              <a:avLst/>
              <a:gdLst/>
              <a:ahLst/>
              <a:cxnLst/>
              <a:rect r="r" b="b" t="t" l="l"/>
              <a:pathLst>
                <a:path h="6435471" w="11322431">
                  <a:moveTo>
                    <a:pt x="0" y="0"/>
                  </a:moveTo>
                  <a:lnTo>
                    <a:pt x="11322431" y="0"/>
                  </a:lnTo>
                  <a:lnTo>
                    <a:pt x="11322431" y="6435471"/>
                  </a:lnTo>
                  <a:lnTo>
                    <a:pt x="0" y="6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2" r="0" b="-36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19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8106" y="1799996"/>
            <a:ext cx="16591788" cy="1700022"/>
            <a:chOff x="0" y="0"/>
            <a:chExt cx="22122384" cy="2266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2385" cy="2266696"/>
            </a:xfrm>
            <a:custGeom>
              <a:avLst/>
              <a:gdLst/>
              <a:ahLst/>
              <a:cxnLst/>
              <a:rect r="r" b="b" t="t" l="l"/>
              <a:pathLst>
                <a:path h="2266696" w="22122385">
                  <a:moveTo>
                    <a:pt x="0" y="0"/>
                  </a:moveTo>
                  <a:lnTo>
                    <a:pt x="22122385" y="0"/>
                  </a:lnTo>
                  <a:lnTo>
                    <a:pt x="22122385" y="2266696"/>
                  </a:lnTo>
                  <a:lnTo>
                    <a:pt x="0" y="226669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8106" y="1799996"/>
            <a:ext cx="42005" cy="1700022"/>
            <a:chOff x="0" y="0"/>
            <a:chExt cx="56007" cy="2266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07" cy="2266696"/>
            </a:xfrm>
            <a:custGeom>
              <a:avLst/>
              <a:gdLst/>
              <a:ahLst/>
              <a:cxnLst/>
              <a:rect r="r" b="b" t="t" l="l"/>
              <a:pathLst>
                <a:path h="2266696" w="56007">
                  <a:moveTo>
                    <a:pt x="0" y="0"/>
                  </a:moveTo>
                  <a:lnTo>
                    <a:pt x="56007" y="0"/>
                  </a:lnTo>
                  <a:lnTo>
                    <a:pt x="56007" y="2266696"/>
                  </a:lnTo>
                  <a:lnTo>
                    <a:pt x="0" y="226669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19543" y="2015719"/>
            <a:ext cx="1584890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8"/>
              </a:lnSpc>
            </a:pPr>
            <a:r>
              <a:rPr lang="en-US" sz="1499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GLOBAL BUSINESS OUTLOOK AWARDS 2026, FINANCE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543" y="2357142"/>
            <a:ext cx="1584890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Most Innovative Shari'ah Compliant Investment Management Company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543" y="3037141"/>
            <a:ext cx="250253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E6CE8A"/>
                </a:solidFill>
                <a:latin typeface="Exo 2 Bold"/>
                <a:ea typeface="Exo 2 Bold"/>
                <a:cs typeface="Exo 2 Bold"/>
                <a:sym typeface="Exo 2 Bold"/>
              </a:rPr>
              <a:t>Ajyad Capital, Bahrain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48106" y="3789997"/>
            <a:ext cx="38005" cy="290036"/>
            <a:chOff x="0" y="0"/>
            <a:chExt cx="50673" cy="386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9546" y="3777148"/>
            <a:ext cx="726711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Award Detail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48106" y="4200001"/>
            <a:ext cx="7599997" cy="930021"/>
            <a:chOff x="0" y="0"/>
            <a:chExt cx="10133330" cy="12400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33330" cy="1240028"/>
            </a:xfrm>
            <a:custGeom>
              <a:avLst/>
              <a:gdLst/>
              <a:ahLst/>
              <a:cxnLst/>
              <a:rect r="r" b="b" t="t" l="l"/>
              <a:pathLst>
                <a:path h="1240028" w="10133330">
                  <a:moveTo>
                    <a:pt x="0" y="0"/>
                  </a:moveTo>
                  <a:lnTo>
                    <a:pt x="10133330" y="0"/>
                  </a:lnTo>
                  <a:lnTo>
                    <a:pt x="10133330" y="1240028"/>
                  </a:lnTo>
                  <a:lnTo>
                    <a:pt x="0" y="124002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8102" y="4200001"/>
            <a:ext cx="2899981" cy="930021"/>
            <a:chOff x="0" y="0"/>
            <a:chExt cx="3866642" cy="12400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15" r="0" b="-1071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48102" y="4200001"/>
            <a:ext cx="2900001" cy="930002"/>
            <a:chOff x="0" y="0"/>
            <a:chExt cx="3866667" cy="12400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16" r="0" b="-1071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48102" y="4200001"/>
            <a:ext cx="2900001" cy="930002"/>
            <a:chOff x="0" y="0"/>
            <a:chExt cx="3866667" cy="12400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66668" cy="1240003"/>
            </a:xfrm>
            <a:custGeom>
              <a:avLst/>
              <a:gdLst/>
              <a:ahLst/>
              <a:cxnLst/>
              <a:rect r="r" b="b" t="t" l="l"/>
              <a:pathLst>
                <a:path h="1240003" w="3866668">
                  <a:moveTo>
                    <a:pt x="0" y="0"/>
                  </a:moveTo>
                  <a:lnTo>
                    <a:pt x="3866668" y="0"/>
                  </a:lnTo>
                  <a:lnTo>
                    <a:pt x="3866668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59" r="0" b="-107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866667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Awarding Body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098103" y="4200001"/>
            <a:ext cx="4150042" cy="930021"/>
            <a:chOff x="0" y="0"/>
            <a:chExt cx="5533390" cy="12400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887" r="0" b="-3688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098103" y="4200001"/>
            <a:ext cx="4150004" cy="930002"/>
            <a:chOff x="0" y="0"/>
            <a:chExt cx="5533339" cy="12400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88" r="0" b="-3688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098103" y="4200001"/>
            <a:ext cx="4150004" cy="930002"/>
            <a:chOff x="0" y="0"/>
            <a:chExt cx="5533339" cy="12400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33339" cy="1240003"/>
            </a:xfrm>
            <a:custGeom>
              <a:avLst/>
              <a:gdLst/>
              <a:ahLst/>
              <a:cxnLst/>
              <a:rect r="r" b="b" t="t" l="l"/>
              <a:pathLst>
                <a:path h="1240003" w="5533339">
                  <a:moveTo>
                    <a:pt x="0" y="0"/>
                  </a:moveTo>
                  <a:lnTo>
                    <a:pt x="5533339" y="0"/>
                  </a:lnTo>
                  <a:lnTo>
                    <a:pt x="5533339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949" r="0" b="-3694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533339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Global Business Outlook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48106" y="5130003"/>
            <a:ext cx="7599997" cy="930021"/>
            <a:chOff x="0" y="0"/>
            <a:chExt cx="10133330" cy="12400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33330" cy="1240028"/>
            </a:xfrm>
            <a:custGeom>
              <a:avLst/>
              <a:gdLst/>
              <a:ahLst/>
              <a:cxnLst/>
              <a:rect r="r" b="b" t="t" l="l"/>
              <a:pathLst>
                <a:path h="1240028" w="10133330">
                  <a:moveTo>
                    <a:pt x="0" y="0"/>
                  </a:moveTo>
                  <a:lnTo>
                    <a:pt x="10133330" y="0"/>
                  </a:lnTo>
                  <a:lnTo>
                    <a:pt x="10133330" y="1240028"/>
                  </a:lnTo>
                  <a:lnTo>
                    <a:pt x="0" y="12400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48102" y="5130003"/>
            <a:ext cx="2899981" cy="930021"/>
            <a:chOff x="0" y="0"/>
            <a:chExt cx="3866642" cy="12400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15" r="0" b="-1071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8102" y="5130003"/>
            <a:ext cx="2900001" cy="930002"/>
            <a:chOff x="0" y="0"/>
            <a:chExt cx="3866667" cy="12400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16" r="0" b="-1071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48102" y="5130003"/>
            <a:ext cx="2900001" cy="930002"/>
            <a:chOff x="0" y="0"/>
            <a:chExt cx="3866667" cy="12400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66668" cy="1240003"/>
            </a:xfrm>
            <a:custGeom>
              <a:avLst/>
              <a:gdLst/>
              <a:ahLst/>
              <a:cxnLst/>
              <a:rect r="r" b="b" t="t" l="l"/>
              <a:pathLst>
                <a:path h="1240003" w="3866668">
                  <a:moveTo>
                    <a:pt x="0" y="0"/>
                  </a:moveTo>
                  <a:lnTo>
                    <a:pt x="3866668" y="0"/>
                  </a:lnTo>
                  <a:lnTo>
                    <a:pt x="3866668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59" r="0" b="-1075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866667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Category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098103" y="5130003"/>
            <a:ext cx="4150042" cy="930021"/>
            <a:chOff x="0" y="0"/>
            <a:chExt cx="5533390" cy="12400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887" r="0" b="-3688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098103" y="5130003"/>
            <a:ext cx="4150004" cy="930002"/>
            <a:chOff x="0" y="0"/>
            <a:chExt cx="5533339" cy="12400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88" r="0" b="-36885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098103" y="5130003"/>
            <a:ext cx="4150004" cy="930002"/>
            <a:chOff x="0" y="0"/>
            <a:chExt cx="5533339" cy="124000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33339" cy="1240003"/>
            </a:xfrm>
            <a:custGeom>
              <a:avLst/>
              <a:gdLst/>
              <a:ahLst/>
              <a:cxnLst/>
              <a:rect r="r" b="b" t="t" l="l"/>
              <a:pathLst>
                <a:path h="1240003" w="5533339">
                  <a:moveTo>
                    <a:pt x="0" y="0"/>
                  </a:moveTo>
                  <a:lnTo>
                    <a:pt x="5533339" y="0"/>
                  </a:lnTo>
                  <a:lnTo>
                    <a:pt x="5533339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949" r="0" b="-3694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533339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Finance, 2026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48106" y="6059996"/>
            <a:ext cx="7599997" cy="930021"/>
            <a:chOff x="0" y="0"/>
            <a:chExt cx="10133330" cy="12400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33330" cy="1240028"/>
            </a:xfrm>
            <a:custGeom>
              <a:avLst/>
              <a:gdLst/>
              <a:ahLst/>
              <a:cxnLst/>
              <a:rect r="r" b="b" t="t" l="l"/>
              <a:pathLst>
                <a:path h="1240028" w="10133330">
                  <a:moveTo>
                    <a:pt x="0" y="0"/>
                  </a:moveTo>
                  <a:lnTo>
                    <a:pt x="10133330" y="0"/>
                  </a:lnTo>
                  <a:lnTo>
                    <a:pt x="10133330" y="1240028"/>
                  </a:lnTo>
                  <a:lnTo>
                    <a:pt x="0" y="124002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48102" y="6059996"/>
            <a:ext cx="2899981" cy="930021"/>
            <a:chOff x="0" y="0"/>
            <a:chExt cx="3866642" cy="12400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15" r="0" b="-10715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48102" y="6059996"/>
            <a:ext cx="2900001" cy="930002"/>
            <a:chOff x="0" y="0"/>
            <a:chExt cx="3866667" cy="12400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16" r="0" b="-1071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48102" y="6059996"/>
            <a:ext cx="2900001" cy="930002"/>
            <a:chOff x="0" y="0"/>
            <a:chExt cx="3866667" cy="124000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866668" cy="1240003"/>
            </a:xfrm>
            <a:custGeom>
              <a:avLst/>
              <a:gdLst/>
              <a:ahLst/>
              <a:cxnLst/>
              <a:rect r="r" b="b" t="t" l="l"/>
              <a:pathLst>
                <a:path h="1240003" w="3866668">
                  <a:moveTo>
                    <a:pt x="0" y="0"/>
                  </a:moveTo>
                  <a:lnTo>
                    <a:pt x="3866668" y="0"/>
                  </a:lnTo>
                  <a:lnTo>
                    <a:pt x="3866668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59" r="0" b="-1075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866667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Market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098103" y="6059996"/>
            <a:ext cx="4150042" cy="930021"/>
            <a:chOff x="0" y="0"/>
            <a:chExt cx="5533390" cy="12400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887" r="0" b="-36888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098103" y="6059996"/>
            <a:ext cx="4150004" cy="930002"/>
            <a:chOff x="0" y="0"/>
            <a:chExt cx="5533339" cy="124000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88" r="0" b="-3688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098103" y="6059996"/>
            <a:ext cx="4150004" cy="930002"/>
            <a:chOff x="0" y="0"/>
            <a:chExt cx="5533339" cy="12400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533339" cy="1240003"/>
            </a:xfrm>
            <a:custGeom>
              <a:avLst/>
              <a:gdLst/>
              <a:ahLst/>
              <a:cxnLst/>
              <a:rect r="r" b="b" t="t" l="l"/>
              <a:pathLst>
                <a:path h="1240003" w="5533339">
                  <a:moveTo>
                    <a:pt x="0" y="0"/>
                  </a:moveTo>
                  <a:lnTo>
                    <a:pt x="5533339" y="0"/>
                  </a:lnTo>
                  <a:lnTo>
                    <a:pt x="5533339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949" r="0" b="-3694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533339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48106" y="6989997"/>
            <a:ext cx="7599997" cy="930021"/>
            <a:chOff x="0" y="0"/>
            <a:chExt cx="10133330" cy="12400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133330" cy="1240028"/>
            </a:xfrm>
            <a:custGeom>
              <a:avLst/>
              <a:gdLst/>
              <a:ahLst/>
              <a:cxnLst/>
              <a:rect r="r" b="b" t="t" l="l"/>
              <a:pathLst>
                <a:path h="1240028" w="10133330">
                  <a:moveTo>
                    <a:pt x="0" y="0"/>
                  </a:moveTo>
                  <a:lnTo>
                    <a:pt x="10133330" y="0"/>
                  </a:lnTo>
                  <a:lnTo>
                    <a:pt x="10133330" y="1240028"/>
                  </a:lnTo>
                  <a:lnTo>
                    <a:pt x="0" y="12400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48102" y="6989997"/>
            <a:ext cx="2899981" cy="930021"/>
            <a:chOff x="0" y="0"/>
            <a:chExt cx="3866642" cy="12400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15" r="0" b="-10715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48102" y="6989997"/>
            <a:ext cx="2900001" cy="930002"/>
            <a:chOff x="0" y="0"/>
            <a:chExt cx="3866667" cy="124000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16" r="0" b="-1071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48102" y="6989997"/>
            <a:ext cx="2900001" cy="930002"/>
            <a:chOff x="0" y="0"/>
            <a:chExt cx="3866667" cy="124000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866668" cy="1240003"/>
            </a:xfrm>
            <a:custGeom>
              <a:avLst/>
              <a:gdLst/>
              <a:ahLst/>
              <a:cxnLst/>
              <a:rect r="r" b="b" t="t" l="l"/>
              <a:pathLst>
                <a:path h="1240003" w="3866668">
                  <a:moveTo>
                    <a:pt x="0" y="0"/>
                  </a:moveTo>
                  <a:lnTo>
                    <a:pt x="3866668" y="0"/>
                  </a:lnTo>
                  <a:lnTo>
                    <a:pt x="3866668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59" r="0" b="-1075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3866667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Application Process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098103" y="6989997"/>
            <a:ext cx="4150042" cy="930021"/>
            <a:chOff x="0" y="0"/>
            <a:chExt cx="5533390" cy="12400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887" r="0" b="-36888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098103" y="6989997"/>
            <a:ext cx="4150004" cy="930002"/>
            <a:chOff x="0" y="0"/>
            <a:chExt cx="5533339" cy="124000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33390" cy="1240028"/>
            </a:xfrm>
            <a:custGeom>
              <a:avLst/>
              <a:gdLst/>
              <a:ahLst/>
              <a:cxnLst/>
              <a:rect r="r" b="b" t="t" l="l"/>
              <a:pathLst>
                <a:path h="1240028" w="5533390">
                  <a:moveTo>
                    <a:pt x="0" y="0"/>
                  </a:moveTo>
                  <a:lnTo>
                    <a:pt x="5533390" y="0"/>
                  </a:lnTo>
                  <a:lnTo>
                    <a:pt x="5533390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88" r="0" b="-36885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4098103" y="6989997"/>
            <a:ext cx="4150004" cy="930002"/>
            <a:chOff x="0" y="0"/>
            <a:chExt cx="5533339" cy="124000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533339" cy="1240003"/>
            </a:xfrm>
            <a:custGeom>
              <a:avLst/>
              <a:gdLst/>
              <a:ahLst/>
              <a:cxnLst/>
              <a:rect r="r" b="b" t="t" l="l"/>
              <a:pathLst>
                <a:path h="1240003" w="5533339">
                  <a:moveTo>
                    <a:pt x="0" y="0"/>
                  </a:moveTo>
                  <a:lnTo>
                    <a:pt x="5533339" y="0"/>
                  </a:lnTo>
                  <a:lnTo>
                    <a:pt x="5533339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949" r="0" b="-3694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5533339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Two month application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48106" y="7919999"/>
            <a:ext cx="7599997" cy="930021"/>
            <a:chOff x="0" y="0"/>
            <a:chExt cx="10133330" cy="124002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133330" cy="1240028"/>
            </a:xfrm>
            <a:custGeom>
              <a:avLst/>
              <a:gdLst/>
              <a:ahLst/>
              <a:cxnLst/>
              <a:rect r="r" b="b" t="t" l="l"/>
              <a:pathLst>
                <a:path h="1240028" w="10133330">
                  <a:moveTo>
                    <a:pt x="0" y="0"/>
                  </a:moveTo>
                  <a:lnTo>
                    <a:pt x="10133330" y="0"/>
                  </a:lnTo>
                  <a:lnTo>
                    <a:pt x="10133330" y="1240028"/>
                  </a:lnTo>
                  <a:lnTo>
                    <a:pt x="0" y="124002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48102" y="7919999"/>
            <a:ext cx="2899981" cy="930021"/>
            <a:chOff x="0" y="0"/>
            <a:chExt cx="3866642" cy="12400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15" r="0" b="-10715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48102" y="7919999"/>
            <a:ext cx="2900001" cy="930002"/>
            <a:chOff x="0" y="0"/>
            <a:chExt cx="3866667" cy="124000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66642" cy="1240028"/>
            </a:xfrm>
            <a:custGeom>
              <a:avLst/>
              <a:gdLst/>
              <a:ahLst/>
              <a:cxnLst/>
              <a:rect r="r" b="b" t="t" l="l"/>
              <a:pathLst>
                <a:path h="1240028" w="3866642">
                  <a:moveTo>
                    <a:pt x="0" y="0"/>
                  </a:moveTo>
                  <a:lnTo>
                    <a:pt x="3866642" y="0"/>
                  </a:lnTo>
                  <a:lnTo>
                    <a:pt x="3866642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16" r="0" b="-10715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48102" y="7919999"/>
            <a:ext cx="2900001" cy="930002"/>
            <a:chOff x="0" y="0"/>
            <a:chExt cx="3866667" cy="124000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866668" cy="1240003"/>
            </a:xfrm>
            <a:custGeom>
              <a:avLst/>
              <a:gdLst/>
              <a:ahLst/>
              <a:cxnLst/>
              <a:rect r="r" b="b" t="t" l="l"/>
              <a:pathLst>
                <a:path h="1240003" w="3866668">
                  <a:moveTo>
                    <a:pt x="0" y="0"/>
                  </a:moveTo>
                  <a:lnTo>
                    <a:pt x="3866668" y="0"/>
                  </a:lnTo>
                  <a:lnTo>
                    <a:pt x="3866668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59" r="0" b="-1075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866667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Cost to Ajyad Capital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4098103" y="7919999"/>
            <a:ext cx="4258532" cy="930021"/>
            <a:chOff x="0" y="0"/>
            <a:chExt cx="5678043" cy="12400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678043" cy="1240028"/>
            </a:xfrm>
            <a:custGeom>
              <a:avLst/>
              <a:gdLst/>
              <a:ahLst/>
              <a:cxnLst/>
              <a:rect r="r" b="b" t="t" l="l"/>
              <a:pathLst>
                <a:path h="1240028" w="5678043">
                  <a:moveTo>
                    <a:pt x="0" y="0"/>
                  </a:moveTo>
                  <a:lnTo>
                    <a:pt x="5678043" y="0"/>
                  </a:lnTo>
                  <a:lnTo>
                    <a:pt x="5678043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159" r="0" b="-39159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098103" y="7919999"/>
            <a:ext cx="4258561" cy="930002"/>
            <a:chOff x="0" y="0"/>
            <a:chExt cx="5678081" cy="124000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678043" cy="1240028"/>
            </a:xfrm>
            <a:custGeom>
              <a:avLst/>
              <a:gdLst/>
              <a:ahLst/>
              <a:cxnLst/>
              <a:rect r="r" b="b" t="t" l="l"/>
              <a:pathLst>
                <a:path h="1240028" w="5678043">
                  <a:moveTo>
                    <a:pt x="0" y="0"/>
                  </a:moveTo>
                  <a:lnTo>
                    <a:pt x="5678043" y="0"/>
                  </a:lnTo>
                  <a:lnTo>
                    <a:pt x="5678043" y="1240028"/>
                  </a:lnTo>
                  <a:lnTo>
                    <a:pt x="0" y="1240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161" r="0" b="-39158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4098103" y="7919999"/>
            <a:ext cx="4258561" cy="930002"/>
            <a:chOff x="0" y="0"/>
            <a:chExt cx="5678081" cy="124000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678081" cy="1240003"/>
            </a:xfrm>
            <a:custGeom>
              <a:avLst/>
              <a:gdLst/>
              <a:ahLst/>
              <a:cxnLst/>
              <a:rect r="r" b="b" t="t" l="l"/>
              <a:pathLst>
                <a:path h="1240003" w="5678081">
                  <a:moveTo>
                    <a:pt x="0" y="0"/>
                  </a:moveTo>
                  <a:lnTo>
                    <a:pt x="5678081" y="0"/>
                  </a:lnTo>
                  <a:lnTo>
                    <a:pt x="5678081" y="1240003"/>
                  </a:lnTo>
                  <a:lnTo>
                    <a:pt x="0" y="12400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223" r="0" b="-3922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5678081" cy="12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7"/>
                </a:lnSpc>
              </a:pPr>
              <a:r>
                <a:rPr lang="en-US" sz="1749" b="true">
                  <a:solidFill>
                    <a:srgbClr val="4A4A4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Nothing has been paid.</a:t>
              </a:r>
              <a:r>
                <a:rPr lang="en-US" sz="1749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 Ajyad can pay for physical delivery and marketing rights only.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948109" y="3789997"/>
            <a:ext cx="38005" cy="290036"/>
            <a:chOff x="0" y="0"/>
            <a:chExt cx="50673" cy="38671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9189549" y="3777148"/>
            <a:ext cx="815890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Published Winners Listing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804862" y="603561"/>
            <a:ext cx="14636972" cy="822865"/>
            <a:chOff x="0" y="0"/>
            <a:chExt cx="19515963" cy="109715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51596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6354" r="0" b="-296356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804862" y="596417"/>
            <a:ext cx="14636972" cy="830008"/>
            <a:chOff x="0" y="0"/>
            <a:chExt cx="19515963" cy="110667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51596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06678"/>
                  </a:lnTo>
                  <a:lnTo>
                    <a:pt x="0" y="1106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3373" r="0" b="-293375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04862" y="589274"/>
            <a:ext cx="14636972" cy="928783"/>
            <a:chOff x="0" y="0"/>
            <a:chExt cx="19515963" cy="123837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9515962" cy="1238377"/>
            </a:xfrm>
            <a:custGeom>
              <a:avLst/>
              <a:gdLst/>
              <a:ahLst/>
              <a:cxnLst/>
              <a:rect r="r" b="b" t="t" l="l"/>
              <a:pathLst>
                <a:path h="1238377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238377"/>
                  </a:lnTo>
                  <a:lnTo>
                    <a:pt x="0" y="1238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856" r="0" b="-256857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804862" y="624992"/>
            <a:ext cx="14636944" cy="893102"/>
            <a:chOff x="0" y="0"/>
            <a:chExt cx="19515925" cy="119080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515962" cy="1190752"/>
            </a:xfrm>
            <a:custGeom>
              <a:avLst/>
              <a:gdLst/>
              <a:ahLst/>
              <a:cxnLst/>
              <a:rect r="r" b="b" t="t" l="l"/>
              <a:pathLst>
                <a:path h="1190752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90752"/>
                  </a:lnTo>
                  <a:lnTo>
                    <a:pt x="0" y="1190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127" r="0" b="-269131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04862" y="660711"/>
            <a:ext cx="14636944" cy="857383"/>
            <a:chOff x="0" y="0"/>
            <a:chExt cx="19515925" cy="114317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9515925" cy="1143178"/>
            </a:xfrm>
            <a:custGeom>
              <a:avLst/>
              <a:gdLst/>
              <a:ahLst/>
              <a:cxnLst/>
              <a:rect r="r" b="b" t="t" l="l"/>
              <a:pathLst>
                <a:path h="1143178" w="19515925">
                  <a:moveTo>
                    <a:pt x="0" y="0"/>
                  </a:moveTo>
                  <a:lnTo>
                    <a:pt x="19515925" y="0"/>
                  </a:lnTo>
                  <a:lnTo>
                    <a:pt x="19515925" y="1143178"/>
                  </a:lnTo>
                  <a:lnTo>
                    <a:pt x="0" y="114317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2641" r="0" b="-28264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47625"/>
              <a:ext cx="19515925" cy="1095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External Recognition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Freeform 116" id="116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4862" y="603561"/>
            <a:ext cx="14636972" cy="822865"/>
            <a:chOff x="0" y="0"/>
            <a:chExt cx="19515963" cy="10971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1596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54" r="0" b="-2963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4862" y="596417"/>
            <a:ext cx="14636972" cy="830008"/>
            <a:chOff x="0" y="0"/>
            <a:chExt cx="19515963" cy="1106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596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06678"/>
                  </a:lnTo>
                  <a:lnTo>
                    <a:pt x="0" y="11066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3373" r="0" b="-2933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4862" y="589274"/>
            <a:ext cx="14636972" cy="837152"/>
            <a:chOff x="0" y="0"/>
            <a:chExt cx="19515963" cy="1116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15962" cy="1116203"/>
            </a:xfrm>
            <a:custGeom>
              <a:avLst/>
              <a:gdLst/>
              <a:ahLst/>
              <a:cxnLst/>
              <a:rect r="r" b="b" t="t" l="l"/>
              <a:pathLst>
                <a:path h="111620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16203"/>
                  </a:lnTo>
                  <a:lnTo>
                    <a:pt x="0" y="11162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0443" r="0" b="-29044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4862" y="582130"/>
            <a:ext cx="14636972" cy="844296"/>
            <a:chOff x="0" y="0"/>
            <a:chExt cx="19515963" cy="11257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15962" cy="1125728"/>
            </a:xfrm>
            <a:custGeom>
              <a:avLst/>
              <a:gdLst/>
              <a:ahLst/>
              <a:cxnLst/>
              <a:rect r="r" b="b" t="t" l="l"/>
              <a:pathLst>
                <a:path h="112572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25728"/>
                  </a:lnTo>
                  <a:lnTo>
                    <a:pt x="0" y="11257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7563" r="0" b="-28756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4862" y="617849"/>
            <a:ext cx="14636944" cy="808568"/>
            <a:chOff x="0" y="0"/>
            <a:chExt cx="19515925" cy="1078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15962" cy="1078103"/>
            </a:xfrm>
            <a:custGeom>
              <a:avLst/>
              <a:gdLst/>
              <a:ahLst/>
              <a:cxnLst/>
              <a:rect r="r" b="b" t="t" l="l"/>
              <a:pathLst>
                <a:path h="107810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78103"/>
                  </a:lnTo>
                  <a:lnTo>
                    <a:pt x="0" y="1078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2474" r="0" b="-30247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4862" y="653567"/>
            <a:ext cx="14636944" cy="772849"/>
            <a:chOff x="0" y="0"/>
            <a:chExt cx="19515925" cy="10304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15925" cy="1030466"/>
            </a:xfrm>
            <a:custGeom>
              <a:avLst/>
              <a:gdLst/>
              <a:ahLst/>
              <a:cxnLst/>
              <a:rect r="r" b="b" t="t" l="l"/>
              <a:pathLst>
                <a:path h="1030466" w="19515925">
                  <a:moveTo>
                    <a:pt x="0" y="0"/>
                  </a:moveTo>
                  <a:lnTo>
                    <a:pt x="19515925" y="0"/>
                  </a:lnTo>
                  <a:lnTo>
                    <a:pt x="19515925" y="1030466"/>
                  </a:lnTo>
                  <a:lnTo>
                    <a:pt x="0" y="103046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9025" r="0" b="-3190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19515925" cy="9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Marketing Budget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0001" y="1780003"/>
            <a:ext cx="3952018" cy="1100042"/>
            <a:chOff x="0" y="0"/>
            <a:chExt cx="5269357" cy="14667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50001" y="1772860"/>
            <a:ext cx="3951999" cy="1107148"/>
            <a:chOff x="0" y="0"/>
            <a:chExt cx="5269332" cy="14761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$80,000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Allocated Budget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62004" y="1780003"/>
            <a:ext cx="3952018" cy="1100042"/>
            <a:chOff x="0" y="0"/>
            <a:chExt cx="5269357" cy="14667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62004" y="1772860"/>
            <a:ext cx="3951999" cy="1107148"/>
            <a:chOff x="0" y="0"/>
            <a:chExt cx="5269332" cy="14761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$34,482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Spent to Date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73997" y="1780003"/>
            <a:ext cx="3952018" cy="1100042"/>
            <a:chOff x="0" y="0"/>
            <a:chExt cx="5269357" cy="14667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273997" y="1772860"/>
            <a:ext cx="3951999" cy="1107148"/>
            <a:chOff x="0" y="0"/>
            <a:chExt cx="5269332" cy="14761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$35,610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Planned to Year End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486000" y="1780003"/>
            <a:ext cx="3952018" cy="1100042"/>
            <a:chOff x="0" y="0"/>
            <a:chExt cx="5269357" cy="14667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486000" y="1772860"/>
            <a:ext cx="3951999" cy="1107148"/>
            <a:chOff x="0" y="0"/>
            <a:chExt cx="5269332" cy="14761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69332" cy="1476192"/>
            </a:xfrm>
            <a:custGeom>
              <a:avLst/>
              <a:gdLst/>
              <a:ahLst/>
              <a:cxnLst/>
              <a:rect r="r" b="b" t="t" l="l"/>
              <a:pathLst>
                <a:path h="1476192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2"/>
                  </a:lnTo>
                  <a:lnTo>
                    <a:pt x="0" y="14761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7BD39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$9,908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Contingency </a:t>
              </a: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(Other Marketing Expense)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0001" y="3150003"/>
            <a:ext cx="38005" cy="290036"/>
            <a:chOff x="0" y="0"/>
            <a:chExt cx="50673" cy="38671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91441" y="3146669"/>
            <a:ext cx="3967124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Budget Utilization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50001" y="3540004"/>
            <a:ext cx="4299966" cy="3628644"/>
            <a:chOff x="0" y="0"/>
            <a:chExt cx="5733288" cy="4838192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5733288" cy="4838192"/>
            </a:xfrm>
            <a:custGeom>
              <a:avLst/>
              <a:gdLst/>
              <a:ahLst/>
              <a:cxnLst/>
              <a:rect r="r" b="b" t="t" l="l"/>
              <a:pathLst>
                <a:path h="4838192" w="5733288">
                  <a:moveTo>
                    <a:pt x="0" y="0"/>
                  </a:moveTo>
                  <a:lnTo>
                    <a:pt x="5733288" y="0"/>
                  </a:lnTo>
                  <a:lnTo>
                    <a:pt x="5733288" y="4838192"/>
                  </a:lnTo>
                  <a:lnTo>
                    <a:pt x="0" y="483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" t="0" r="-7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50005" y="3150003"/>
            <a:ext cx="38005" cy="290036"/>
            <a:chOff x="0" y="0"/>
            <a:chExt cx="50673" cy="38671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5691445" y="3146669"/>
            <a:ext cx="5667118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Spent to Date, 14 May to 6 Sep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450005" y="3540004"/>
            <a:ext cx="5999988" cy="419957"/>
            <a:chOff x="0" y="0"/>
            <a:chExt cx="7999984" cy="55994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99984" cy="559943"/>
            </a:xfrm>
            <a:custGeom>
              <a:avLst/>
              <a:gdLst/>
              <a:ahLst/>
              <a:cxnLst/>
              <a:rect r="r" b="b" t="t" l="l"/>
              <a:pathLst>
                <a:path h="55994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570001" y="3540004"/>
            <a:ext cx="3960000" cy="419995"/>
            <a:chOff x="0" y="0"/>
            <a:chExt cx="5280000" cy="55999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80025" cy="559943"/>
            </a:xfrm>
            <a:custGeom>
              <a:avLst/>
              <a:gdLst/>
              <a:ahLst/>
              <a:cxnLst/>
              <a:rect r="r" b="b" t="t" l="l"/>
              <a:pathLst>
                <a:path h="559943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3601" r="0" b="-133613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570001" y="3532861"/>
            <a:ext cx="3960000" cy="427139"/>
            <a:chOff x="0" y="0"/>
            <a:chExt cx="5280000" cy="5695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80000" cy="569518"/>
            </a:xfrm>
            <a:custGeom>
              <a:avLst/>
              <a:gdLst/>
              <a:ahLst/>
              <a:cxnLst/>
              <a:rect r="r" b="b" t="t" l="l"/>
              <a:pathLst>
                <a:path h="569518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0645" r="0" b="-13064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280000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49997" y="3540004"/>
            <a:ext cx="1680000" cy="419995"/>
            <a:chOff x="0" y="0"/>
            <a:chExt cx="2240001" cy="55999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40026" cy="559943"/>
            </a:xfrm>
            <a:custGeom>
              <a:avLst/>
              <a:gdLst/>
              <a:ahLst/>
              <a:cxnLst/>
              <a:rect r="r" b="b" t="t" l="l"/>
              <a:pathLst>
                <a:path h="559943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888" r="1" b="-2789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49997" y="3532861"/>
            <a:ext cx="1680000" cy="427139"/>
            <a:chOff x="0" y="0"/>
            <a:chExt cx="2240001" cy="5695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40000" cy="569518"/>
            </a:xfrm>
            <a:custGeom>
              <a:avLst/>
              <a:gdLst/>
              <a:ahLst/>
              <a:cxnLst/>
              <a:rect r="r" b="b" t="t" l="l"/>
              <a:pathLst>
                <a:path h="569518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637" r="0" b="-2663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240001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450005" y="3960000"/>
            <a:ext cx="5999988" cy="469964"/>
            <a:chOff x="0" y="0"/>
            <a:chExt cx="7999984" cy="62661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570001" y="3960000"/>
            <a:ext cx="3960000" cy="470002"/>
            <a:chOff x="0" y="0"/>
            <a:chExt cx="5280000" cy="62666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570001" y="3960000"/>
            <a:ext cx="3960000" cy="470002"/>
            <a:chOff x="0" y="0"/>
            <a:chExt cx="5280000" cy="62666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Sponsored ads and influencer boosts (TRACCS)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49997" y="3960000"/>
            <a:ext cx="1680000" cy="470002"/>
            <a:chOff x="0" y="0"/>
            <a:chExt cx="2240001" cy="6266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49997" y="3960000"/>
            <a:ext cx="1680000" cy="470002"/>
            <a:chOff x="0" y="0"/>
            <a:chExt cx="2240001" cy="62666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$21,533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450005" y="4430001"/>
            <a:ext cx="5999988" cy="469964"/>
            <a:chOff x="0" y="0"/>
            <a:chExt cx="7999984" cy="62661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570001" y="4430001"/>
            <a:ext cx="3960000" cy="470002"/>
            <a:chOff x="0" y="0"/>
            <a:chExt cx="5280000" cy="62666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570001" y="4430001"/>
            <a:ext cx="3960000" cy="470002"/>
            <a:chOff x="0" y="0"/>
            <a:chExt cx="5280000" cy="62666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Influencer program, 6 creators (Project 2)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49997" y="4430001"/>
            <a:ext cx="1680000" cy="470002"/>
            <a:chOff x="0" y="0"/>
            <a:chExt cx="2240001" cy="62666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49997" y="4430001"/>
            <a:ext cx="1680000" cy="470002"/>
            <a:chOff x="0" y="0"/>
            <a:chExt cx="2240001" cy="62666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$9,037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450005" y="4900003"/>
            <a:ext cx="5999988" cy="469964"/>
            <a:chOff x="0" y="0"/>
            <a:chExt cx="7999984" cy="62661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570001" y="4900003"/>
            <a:ext cx="3960000" cy="470002"/>
            <a:chOff x="0" y="0"/>
            <a:chExt cx="5280000" cy="62666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570001" y="4900003"/>
            <a:ext cx="3960000" cy="470002"/>
            <a:chOff x="0" y="0"/>
            <a:chExt cx="5280000" cy="6266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Ali Sabeel video sponsor ad, Instagram (Ignite)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649997" y="4900003"/>
            <a:ext cx="1680000" cy="470002"/>
            <a:chOff x="0" y="0"/>
            <a:chExt cx="2240001" cy="62666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49997" y="4900003"/>
            <a:ext cx="1680000" cy="470002"/>
            <a:chOff x="0" y="0"/>
            <a:chExt cx="2240001" cy="62666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$2,200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450005" y="5370004"/>
            <a:ext cx="5999988" cy="469964"/>
            <a:chOff x="0" y="0"/>
            <a:chExt cx="7999984" cy="62661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70001" y="5370004"/>
            <a:ext cx="3960000" cy="470002"/>
            <a:chOff x="0" y="0"/>
            <a:chExt cx="5280000" cy="62666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570001" y="5370004"/>
            <a:ext cx="3960000" cy="470002"/>
            <a:chOff x="0" y="0"/>
            <a:chExt cx="5280000" cy="62666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sponsor ad, Instagram (Ignite)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49997" y="5370004"/>
            <a:ext cx="1680000" cy="470002"/>
            <a:chOff x="0" y="0"/>
            <a:chExt cx="2240001" cy="62666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649997" y="5370004"/>
            <a:ext cx="1680000" cy="470002"/>
            <a:chOff x="0" y="0"/>
            <a:chExt cx="2240001" cy="62666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$400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450005" y="5839997"/>
            <a:ext cx="5999988" cy="469964"/>
            <a:chOff x="0" y="0"/>
            <a:chExt cx="7999984" cy="62661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570001" y="5839997"/>
            <a:ext cx="3960000" cy="470002"/>
            <a:chOff x="0" y="0"/>
            <a:chExt cx="5280000" cy="62666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570001" y="5839997"/>
            <a:ext cx="3960000" cy="470002"/>
            <a:chOff x="0" y="0"/>
            <a:chExt cx="5280000" cy="62666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prizes, June to August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649997" y="5839997"/>
            <a:ext cx="1680000" cy="470002"/>
            <a:chOff x="0" y="0"/>
            <a:chExt cx="2240001" cy="62666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649997" y="5839997"/>
            <a:ext cx="1680000" cy="470002"/>
            <a:chOff x="0" y="0"/>
            <a:chExt cx="2240001" cy="62666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$1,100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5450005" y="6309998"/>
            <a:ext cx="5999988" cy="469964"/>
            <a:chOff x="0" y="0"/>
            <a:chExt cx="7999984" cy="62661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570001" y="6309998"/>
            <a:ext cx="3960000" cy="470002"/>
            <a:chOff x="0" y="0"/>
            <a:chExt cx="5280000" cy="62666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5570001" y="6309998"/>
            <a:ext cx="3960000" cy="470002"/>
            <a:chOff x="0" y="0"/>
            <a:chExt cx="5280000" cy="62666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Voiceover production, 4 videos (EnRoute PR)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649997" y="6309998"/>
            <a:ext cx="1680000" cy="470002"/>
            <a:chOff x="0" y="0"/>
            <a:chExt cx="2240001" cy="626669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649997" y="6309998"/>
            <a:ext cx="1680000" cy="470002"/>
            <a:chOff x="0" y="0"/>
            <a:chExt cx="2240001" cy="626669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$212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5450005" y="6780000"/>
            <a:ext cx="5999988" cy="469964"/>
            <a:chOff x="0" y="0"/>
            <a:chExt cx="7999984" cy="62661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5450005" y="6780000"/>
            <a:ext cx="5999988" cy="18002"/>
            <a:chOff x="0" y="0"/>
            <a:chExt cx="7999984" cy="2400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999984" cy="24003"/>
            </a:xfrm>
            <a:custGeom>
              <a:avLst/>
              <a:gdLst/>
              <a:ahLst/>
              <a:cxnLst/>
              <a:rect r="r" b="b" t="t" l="l"/>
              <a:pathLst>
                <a:path h="2400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5570001" y="6780000"/>
            <a:ext cx="3960000" cy="470002"/>
            <a:chOff x="0" y="0"/>
            <a:chExt cx="5280000" cy="62666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5570001" y="6780000"/>
            <a:ext cx="3960000" cy="470002"/>
            <a:chOff x="0" y="0"/>
            <a:chExt cx="5280000" cy="626669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spent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649997" y="6780000"/>
            <a:ext cx="1680000" cy="470002"/>
            <a:chOff x="0" y="0"/>
            <a:chExt cx="2240001" cy="626669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649997" y="6780000"/>
            <a:ext cx="1680000" cy="470002"/>
            <a:chOff x="0" y="0"/>
            <a:chExt cx="2240001" cy="62666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$34,482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1750002" y="3150003"/>
            <a:ext cx="38005" cy="290036"/>
            <a:chOff x="0" y="0"/>
            <a:chExt cx="50673" cy="386715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51" id="151"/>
          <p:cNvSpPr txBox="true"/>
          <p:nvPr/>
        </p:nvSpPr>
        <p:spPr>
          <a:xfrm rot="0">
            <a:off x="11991442" y="3146669"/>
            <a:ext cx="5355117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Plan to Year End, Sep to Dec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11750002" y="3540004"/>
            <a:ext cx="5688044" cy="419957"/>
            <a:chOff x="0" y="0"/>
            <a:chExt cx="7584059" cy="559943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584059" cy="559943"/>
            </a:xfrm>
            <a:custGeom>
              <a:avLst/>
              <a:gdLst/>
              <a:ahLst/>
              <a:cxnLst/>
              <a:rect r="r" b="b" t="t" l="l"/>
              <a:pathLst>
                <a:path h="559943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1869998" y="3540004"/>
            <a:ext cx="3741601" cy="419995"/>
            <a:chOff x="0" y="0"/>
            <a:chExt cx="4988801" cy="55999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4988814" cy="559943"/>
            </a:xfrm>
            <a:custGeom>
              <a:avLst/>
              <a:gdLst/>
              <a:ahLst/>
              <a:cxnLst/>
              <a:rect r="r" b="b" t="t" l="l"/>
              <a:pathLst>
                <a:path h="559943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3474" r="0" b="-123486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1869998" y="3532861"/>
            <a:ext cx="3741601" cy="427139"/>
            <a:chOff x="0" y="0"/>
            <a:chExt cx="4988801" cy="569519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988801" cy="569518"/>
            </a:xfrm>
            <a:custGeom>
              <a:avLst/>
              <a:gdLst/>
              <a:ahLst/>
              <a:cxnLst/>
              <a:rect r="r" b="b" t="t" l="l"/>
              <a:pathLst>
                <a:path h="569518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0682" r="0" b="-120682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"/>
              <a:ext cx="4988801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5731595" y="3540004"/>
            <a:ext cx="1586398" cy="419995"/>
            <a:chOff x="0" y="0"/>
            <a:chExt cx="2115198" cy="55999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115185" cy="559943"/>
            </a:xfrm>
            <a:custGeom>
              <a:avLst/>
              <a:gdLst/>
              <a:ahLst/>
              <a:cxnLst/>
              <a:rect r="r" b="b" t="t" l="l"/>
              <a:pathLst>
                <a:path h="559943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549" r="0" b="-23558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5731595" y="3532861"/>
            <a:ext cx="1586398" cy="427139"/>
            <a:chOff x="0" y="0"/>
            <a:chExt cx="2115198" cy="56951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115197" cy="569518"/>
            </a:xfrm>
            <a:custGeom>
              <a:avLst/>
              <a:gdLst/>
              <a:ahLst/>
              <a:cxnLst/>
              <a:rect r="r" b="b" t="t" l="l"/>
              <a:pathLst>
                <a:path h="569518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367" r="0" b="-22367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2115198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1750002" y="3960000"/>
            <a:ext cx="5688044" cy="469964"/>
            <a:chOff x="0" y="0"/>
            <a:chExt cx="7584059" cy="62661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1869998" y="3960000"/>
            <a:ext cx="3741601" cy="470002"/>
            <a:chOff x="0" y="0"/>
            <a:chExt cx="4988801" cy="626669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1869998" y="3960000"/>
            <a:ext cx="3741601" cy="470002"/>
            <a:chOff x="0" y="0"/>
            <a:chExt cx="4988801" cy="62666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Baseline sponsor ads, Sep to Dec (Ignite)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5731595" y="3960000"/>
            <a:ext cx="1586398" cy="470002"/>
            <a:chOff x="0" y="0"/>
            <a:chExt cx="2115198" cy="626669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5731595" y="3960000"/>
            <a:ext cx="1586398" cy="470002"/>
            <a:chOff x="0" y="0"/>
            <a:chExt cx="2115198" cy="62666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$18,400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1750002" y="4430001"/>
            <a:ext cx="5688044" cy="469964"/>
            <a:chOff x="0" y="0"/>
            <a:chExt cx="7584059" cy="62661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1869998" y="4430001"/>
            <a:ext cx="3741601" cy="470002"/>
            <a:chOff x="0" y="0"/>
            <a:chExt cx="4988801" cy="626669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1869998" y="4430001"/>
            <a:ext cx="3741601" cy="470002"/>
            <a:chOff x="0" y="0"/>
            <a:chExt cx="4988801" cy="626669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prizes and ads, Sep to Dec (Ignite)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5731595" y="4430001"/>
            <a:ext cx="1586398" cy="470002"/>
            <a:chOff x="0" y="0"/>
            <a:chExt cx="2115198" cy="626669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5731595" y="4430001"/>
            <a:ext cx="1586398" cy="470002"/>
            <a:chOff x="0" y="0"/>
            <a:chExt cx="2115198" cy="62666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$3,200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1750002" y="4900003"/>
            <a:ext cx="5688044" cy="469964"/>
            <a:chOff x="0" y="0"/>
            <a:chExt cx="7584059" cy="62661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1869998" y="4900003"/>
            <a:ext cx="3741601" cy="470002"/>
            <a:chOff x="0" y="0"/>
            <a:chExt cx="4988801" cy="626669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1869998" y="4900003"/>
            <a:ext cx="3741601" cy="470002"/>
            <a:chOff x="0" y="0"/>
            <a:chExt cx="4988801" cy="626669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November app release coverage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5731595" y="4900003"/>
            <a:ext cx="1586398" cy="470002"/>
            <a:chOff x="0" y="0"/>
            <a:chExt cx="2115198" cy="626669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5731595" y="4900003"/>
            <a:ext cx="1586398" cy="470002"/>
            <a:chOff x="0" y="0"/>
            <a:chExt cx="2115198" cy="62666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$9,010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1750002" y="5370004"/>
            <a:ext cx="5688044" cy="469964"/>
            <a:chOff x="0" y="0"/>
            <a:chExt cx="7584059" cy="62661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11869998" y="5370004"/>
            <a:ext cx="3741601" cy="470002"/>
            <a:chOff x="0" y="0"/>
            <a:chExt cx="4988801" cy="626669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1869998" y="5370004"/>
            <a:ext cx="3741601" cy="470002"/>
            <a:chOff x="0" y="0"/>
            <a:chExt cx="4988801" cy="626669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$5,000 campaign prize, drawn 10 Jan 2027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15731595" y="5370004"/>
            <a:ext cx="1586398" cy="470002"/>
            <a:chOff x="0" y="0"/>
            <a:chExt cx="2115198" cy="626669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5731595" y="5370004"/>
            <a:ext cx="1586398" cy="470002"/>
            <a:chOff x="0" y="0"/>
            <a:chExt cx="2115198" cy="62666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$5,000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1750002" y="5839997"/>
            <a:ext cx="5688044" cy="469964"/>
            <a:chOff x="0" y="0"/>
            <a:chExt cx="7584059" cy="62661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BECEC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11750002" y="5839997"/>
            <a:ext cx="34004" cy="469964"/>
            <a:chOff x="0" y="0"/>
            <a:chExt cx="45339" cy="626618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45339" cy="626618"/>
            </a:xfrm>
            <a:custGeom>
              <a:avLst/>
              <a:gdLst/>
              <a:ahLst/>
              <a:cxnLst/>
              <a:rect r="r" b="b" t="t" l="l"/>
              <a:pathLst>
                <a:path h="626618" w="45339">
                  <a:moveTo>
                    <a:pt x="0" y="0"/>
                  </a:moveTo>
                  <a:lnTo>
                    <a:pt x="45339" y="0"/>
                  </a:lnTo>
                  <a:lnTo>
                    <a:pt x="4533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11869998" y="5839997"/>
            <a:ext cx="3741601" cy="470002"/>
            <a:chOff x="0" y="0"/>
            <a:chExt cx="4988801" cy="626669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1869998" y="5839997"/>
            <a:ext cx="3741601" cy="470002"/>
            <a:chOff x="0" y="0"/>
            <a:chExt cx="4988801" cy="626669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988801" cy="626667"/>
            </a:xfrm>
            <a:custGeom>
              <a:avLst/>
              <a:gdLst/>
              <a:ahLst/>
              <a:cxnLst/>
              <a:rect r="r" b="b" t="t" l="l"/>
              <a:pathLst>
                <a:path h="626667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7"/>
                  </a:lnTo>
                  <a:lnTo>
                    <a:pt x="0" y="6266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5117" r="0" b="-105117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b="true" sz="1050" strike="sngStrike">
                  <a:solidFill>
                    <a:srgbClr val="C0392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Fintech Forward sponsorship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5731595" y="5839997"/>
            <a:ext cx="1586398" cy="470002"/>
            <a:chOff x="0" y="0"/>
            <a:chExt cx="2115198" cy="626669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15731595" y="5839997"/>
            <a:ext cx="1586398" cy="470002"/>
            <a:chOff x="0" y="0"/>
            <a:chExt cx="2115198" cy="626669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b="true" sz="1149" strike="sngStrike">
                  <a:solidFill>
                    <a:srgbClr val="C0392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$26,500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11750002" y="6309998"/>
            <a:ext cx="5688044" cy="469964"/>
            <a:chOff x="0" y="0"/>
            <a:chExt cx="7584059" cy="626618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11750002" y="6309998"/>
            <a:ext cx="5688044" cy="18002"/>
            <a:chOff x="0" y="0"/>
            <a:chExt cx="7584059" cy="24003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7584059" cy="24003"/>
            </a:xfrm>
            <a:custGeom>
              <a:avLst/>
              <a:gdLst/>
              <a:ahLst/>
              <a:cxnLst/>
              <a:rect r="r" b="b" t="t" l="l"/>
              <a:pathLst>
                <a:path h="24003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1869998" y="6309998"/>
            <a:ext cx="3741601" cy="470002"/>
            <a:chOff x="0" y="0"/>
            <a:chExt cx="4988801" cy="626669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11869998" y="6309998"/>
            <a:ext cx="3741601" cy="470002"/>
            <a:chOff x="0" y="0"/>
            <a:chExt cx="4988801" cy="626669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planned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15731595" y="6309998"/>
            <a:ext cx="1586398" cy="470002"/>
            <a:chOff x="0" y="0"/>
            <a:chExt cx="2115198" cy="626669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15731595" y="6309998"/>
            <a:ext cx="1586398" cy="470002"/>
            <a:chOff x="0" y="0"/>
            <a:chExt cx="2115198" cy="626669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39" id="239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$35,610</a:t>
              </a:r>
            </a:p>
          </p:txBody>
        </p:sp>
      </p:grpSp>
      <p:grpSp>
        <p:nvGrpSpPr>
          <p:cNvPr name="Group 240" id="240"/>
          <p:cNvGrpSpPr/>
          <p:nvPr/>
        </p:nvGrpSpPr>
        <p:grpSpPr>
          <a:xfrm rot="0">
            <a:off x="850001" y="7850000"/>
            <a:ext cx="16587978" cy="739997"/>
            <a:chOff x="0" y="0"/>
            <a:chExt cx="22117304" cy="986663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2117304" cy="986663"/>
            </a:xfrm>
            <a:custGeom>
              <a:avLst/>
              <a:gdLst/>
              <a:ahLst/>
              <a:cxnLst/>
              <a:rect r="r" b="b" t="t" l="l"/>
              <a:pathLst>
                <a:path h="98666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986663"/>
                  </a:lnTo>
                  <a:lnTo>
                    <a:pt x="0" y="98666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850001" y="7850000"/>
            <a:ext cx="40005" cy="739997"/>
            <a:chOff x="0" y="0"/>
            <a:chExt cx="53340" cy="986663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3340" cy="986663"/>
            </a:xfrm>
            <a:custGeom>
              <a:avLst/>
              <a:gdLst/>
              <a:ahLst/>
              <a:cxnLst/>
              <a:rect r="r" b="b" t="t" l="l"/>
              <a:pathLst>
                <a:path h="986663" w="53340">
                  <a:moveTo>
                    <a:pt x="0" y="0"/>
                  </a:moveTo>
                  <a:lnTo>
                    <a:pt x="53340" y="0"/>
                  </a:lnTo>
                  <a:lnTo>
                    <a:pt x="53340" y="986663"/>
                  </a:lnTo>
                  <a:lnTo>
                    <a:pt x="0" y="986663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244" id="244"/>
          <p:cNvSpPr txBox="true"/>
          <p:nvPr/>
        </p:nvSpPr>
        <p:spPr>
          <a:xfrm rot="0">
            <a:off x="1141438" y="7981674"/>
            <a:ext cx="16005115" cy="19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Agency Retainers, outside the $80,000 budget</a:t>
            </a:r>
          </a:p>
        </p:txBody>
      </p:sp>
      <p:sp>
        <p:nvSpPr>
          <p:cNvPr name="TextBox 245" id="245"/>
          <p:cNvSpPr txBox="true"/>
          <p:nvPr/>
        </p:nvSpPr>
        <p:spPr>
          <a:xfrm rot="0">
            <a:off x="1141438" y="8295723"/>
            <a:ext cx="16005115" cy="17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"/>
              </a:lnSpc>
            </a:pPr>
            <a:r>
              <a:rPr lang="en-US" sz="114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TRACCS, 5 months to 19 July  $37,895        24F social management, from August  $6,413 a month        Ignite ads management, from August  $1,020 a month</a:t>
            </a:r>
          </a:p>
        </p:txBody>
      </p:sp>
      <p:grpSp>
        <p:nvGrpSpPr>
          <p:cNvPr name="Group 246" id="246"/>
          <p:cNvGrpSpPr/>
          <p:nvPr/>
        </p:nvGrpSpPr>
        <p:grpSpPr>
          <a:xfrm rot="0">
            <a:off x="850001" y="8720004"/>
            <a:ext cx="16587978" cy="419957"/>
            <a:chOff x="0" y="0"/>
            <a:chExt cx="22117304" cy="559943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22117304" cy="559943"/>
            </a:xfrm>
            <a:custGeom>
              <a:avLst/>
              <a:gdLst/>
              <a:ahLst/>
              <a:cxnLst/>
              <a:rect r="r" b="b" t="t" l="l"/>
              <a:pathLst>
                <a:path h="5599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FBECEC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850001" y="8720004"/>
            <a:ext cx="40005" cy="419957"/>
            <a:chOff x="0" y="0"/>
            <a:chExt cx="53340" cy="559943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53340" cy="559943"/>
            </a:xfrm>
            <a:custGeom>
              <a:avLst/>
              <a:gdLst/>
              <a:ahLst/>
              <a:cxnLst/>
              <a:rect r="r" b="b" t="t" l="l"/>
              <a:pathLst>
                <a:path h="559943" w="53340">
                  <a:moveTo>
                    <a:pt x="0" y="0"/>
                  </a:moveTo>
                  <a:lnTo>
                    <a:pt x="53340" y="0"/>
                  </a:lnTo>
                  <a:lnTo>
                    <a:pt x="53340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1049998" y="8720004"/>
            <a:ext cx="16187995" cy="420005"/>
            <a:chOff x="0" y="0"/>
            <a:chExt cx="21583993" cy="560006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21584031" cy="559943"/>
            </a:xfrm>
            <a:custGeom>
              <a:avLst/>
              <a:gdLst/>
              <a:ahLst/>
              <a:cxnLst/>
              <a:rect r="r" b="b" t="t" l="l"/>
              <a:pathLst>
                <a:path h="559943" w="21584031">
                  <a:moveTo>
                    <a:pt x="0" y="0"/>
                  </a:moveTo>
                  <a:lnTo>
                    <a:pt x="21584031" y="0"/>
                  </a:lnTo>
                  <a:lnTo>
                    <a:pt x="2158403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00557" r="0" b="-700569"/>
              </a:stretch>
            </a:blipFill>
          </p:spPr>
        </p:sp>
      </p:grpSp>
      <p:grpSp>
        <p:nvGrpSpPr>
          <p:cNvPr name="Group 252" id="252"/>
          <p:cNvGrpSpPr/>
          <p:nvPr/>
        </p:nvGrpSpPr>
        <p:grpSpPr>
          <a:xfrm rot="0">
            <a:off x="1049998" y="8720004"/>
            <a:ext cx="16187995" cy="419995"/>
            <a:chOff x="0" y="0"/>
            <a:chExt cx="21583993" cy="559994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21583994" cy="560000"/>
            </a:xfrm>
            <a:custGeom>
              <a:avLst/>
              <a:gdLst/>
              <a:ahLst/>
              <a:cxnLst/>
              <a:rect r="r" b="b" t="t" l="l"/>
              <a:pathLst>
                <a:path h="560000" w="21583994">
                  <a:moveTo>
                    <a:pt x="0" y="0"/>
                  </a:moveTo>
                  <a:lnTo>
                    <a:pt x="21583994" y="0"/>
                  </a:lnTo>
                  <a:lnTo>
                    <a:pt x="21583994" y="560000"/>
                  </a:lnTo>
                  <a:lnTo>
                    <a:pt x="0" y="560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01009" r="0" b="-701008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21583993" cy="559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8"/>
                </a:lnSpc>
              </a:pPr>
              <a:r>
                <a:rPr lang="en-US" sz="1149" i="true">
                  <a:solidFill>
                    <a:srgbClr val="4A4A4A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Fintech Forward was canceled and the money moved into sponsor ads. Due to the competitive bidding prices and to increase sponsor ad exposure in the region.</a:t>
              </a:r>
            </a:p>
          </p:txBody>
        </p:sp>
      </p:grpSp>
      <p:sp>
        <p:nvSpPr>
          <p:cNvPr name="Freeform 255" id="255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53177" y="4500562"/>
            <a:ext cx="10581637" cy="128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8"/>
              </a:lnSpc>
            </a:pPr>
            <a:r>
              <a:rPr lang="en-US" sz="84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Performance Update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4" r="0" b="-31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4862" y="462829"/>
            <a:ext cx="13241560" cy="822865"/>
            <a:chOff x="0" y="0"/>
            <a:chExt cx="17655413" cy="1097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65541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7655412">
                  <a:moveTo>
                    <a:pt x="0" y="0"/>
                  </a:moveTo>
                  <a:lnTo>
                    <a:pt x="17655412" y="0"/>
                  </a:lnTo>
                  <a:lnTo>
                    <a:pt x="1765541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336" r="0" b="-26333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4862" y="455686"/>
            <a:ext cx="13241560" cy="830008"/>
            <a:chOff x="0" y="0"/>
            <a:chExt cx="17655413" cy="110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541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7655412">
                  <a:moveTo>
                    <a:pt x="0" y="0"/>
                  </a:moveTo>
                  <a:lnTo>
                    <a:pt x="17655412" y="0"/>
                  </a:lnTo>
                  <a:lnTo>
                    <a:pt x="17655412" y="1106678"/>
                  </a:lnTo>
                  <a:lnTo>
                    <a:pt x="0" y="1106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0639" r="0" b="-2606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4862" y="484261"/>
            <a:ext cx="13241569" cy="801424"/>
            <a:chOff x="0" y="0"/>
            <a:chExt cx="17655426" cy="10685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55412" cy="1068578"/>
            </a:xfrm>
            <a:custGeom>
              <a:avLst/>
              <a:gdLst/>
              <a:ahLst/>
              <a:cxnLst/>
              <a:rect r="r" b="b" t="t" l="l"/>
              <a:pathLst>
                <a:path h="1068578" w="17655412">
                  <a:moveTo>
                    <a:pt x="0" y="0"/>
                  </a:moveTo>
                  <a:lnTo>
                    <a:pt x="17655412" y="0"/>
                  </a:lnTo>
                  <a:lnTo>
                    <a:pt x="17655412" y="1068578"/>
                  </a:lnTo>
                  <a:lnTo>
                    <a:pt x="0" y="106857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1716" r="0" b="-27171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4862" y="512836"/>
            <a:ext cx="13241569" cy="779733"/>
            <a:chOff x="0" y="0"/>
            <a:chExt cx="17655426" cy="10396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655426" cy="1039645"/>
            </a:xfrm>
            <a:custGeom>
              <a:avLst/>
              <a:gdLst/>
              <a:ahLst/>
              <a:cxnLst/>
              <a:rect r="r" b="b" t="t" l="l"/>
              <a:pathLst>
                <a:path h="1039645" w="17655426">
                  <a:moveTo>
                    <a:pt x="0" y="0"/>
                  </a:moveTo>
                  <a:lnTo>
                    <a:pt x="17655426" y="0"/>
                  </a:lnTo>
                  <a:lnTo>
                    <a:pt x="17655426" y="1039645"/>
                  </a:lnTo>
                  <a:lnTo>
                    <a:pt x="0" y="10396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81339" r="0" b="-2804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7655426" cy="1001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33"/>
                </a:lnSpc>
              </a:pPr>
              <a:r>
                <a:rPr lang="en-US" b="true" sz="3699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Client Growth &amp; Total Deposits (May - Sep, 2026)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0535" y="508111"/>
            <a:ext cx="115062" cy="732282"/>
            <a:chOff x="0" y="0"/>
            <a:chExt cx="153416" cy="976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22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0001" y="2290477"/>
            <a:ext cx="794400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92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Cumulative clients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0001" y="2610479"/>
            <a:ext cx="794400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7"/>
              </a:lnSpc>
            </a:pPr>
            <a:r>
              <a:rPr lang="en-US" sz="393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52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0001" y="3339998"/>
            <a:ext cx="360000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+373% since May</a:t>
            </a:r>
          </a:p>
        </p:txBody>
      </p:sp>
      <p:sp>
        <p:nvSpPr>
          <p:cNvPr name="AutoShape 23" id="23"/>
          <p:cNvSpPr/>
          <p:nvPr/>
        </p:nvSpPr>
        <p:spPr>
          <a:xfrm>
            <a:off x="5780029" y="3466027"/>
            <a:ext cx="405773" cy="0"/>
          </a:xfrm>
          <a:prstGeom prst="line">
            <a:avLst/>
          </a:prstGeom>
          <a:ln cap="rnd" w="4762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6254001" y="3329997"/>
            <a:ext cx="899998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32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sp>
        <p:nvSpPr>
          <p:cNvPr name="AutoShape 25" id="25"/>
          <p:cNvSpPr/>
          <p:nvPr/>
        </p:nvSpPr>
        <p:spPr>
          <a:xfrm>
            <a:off x="7280026" y="3466027"/>
            <a:ext cx="354922" cy="0"/>
          </a:xfrm>
          <a:prstGeom prst="line">
            <a:avLst/>
          </a:prstGeom>
          <a:ln cap="rnd" w="47625">
            <a:solidFill>
              <a:srgbClr val="132257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7753998" y="3329997"/>
            <a:ext cx="899998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32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Projected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0005" y="7899997"/>
            <a:ext cx="7624000" cy="9001"/>
            <a:chOff x="0" y="0"/>
            <a:chExt cx="10165334" cy="120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D3DAE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30005" y="6566668"/>
            <a:ext cx="7624000" cy="9001"/>
            <a:chOff x="0" y="0"/>
            <a:chExt cx="10165334" cy="120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30005" y="5233330"/>
            <a:ext cx="7624000" cy="9001"/>
            <a:chOff x="0" y="0"/>
            <a:chExt cx="10165334" cy="120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30005" y="3900002"/>
            <a:ext cx="7624000" cy="9001"/>
            <a:chOff x="0" y="0"/>
            <a:chExt cx="10165334" cy="120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30005" y="4426782"/>
            <a:ext cx="7616525" cy="3473215"/>
            <a:chOff x="0" y="0"/>
            <a:chExt cx="10165334" cy="46354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65334" cy="4635562"/>
            </a:xfrm>
            <a:custGeom>
              <a:avLst/>
              <a:gdLst/>
              <a:ahLst/>
              <a:cxnLst/>
              <a:rect r="r" b="b" t="t" l="l"/>
              <a:pathLst>
                <a:path h="4635562" w="10165334">
                  <a:moveTo>
                    <a:pt x="0" y="3635624"/>
                  </a:moveTo>
                  <a:lnTo>
                    <a:pt x="2541270" y="2454007"/>
                  </a:lnTo>
                  <a:lnTo>
                    <a:pt x="5082540" y="1636005"/>
                  </a:lnTo>
                  <a:lnTo>
                    <a:pt x="7623937" y="363614"/>
                  </a:lnTo>
                  <a:lnTo>
                    <a:pt x="10165334" y="0"/>
                  </a:lnTo>
                  <a:lnTo>
                    <a:pt x="10165334" y="4635562"/>
                  </a:lnTo>
                  <a:lnTo>
                    <a:pt x="7623937" y="4635562"/>
                  </a:lnTo>
                  <a:lnTo>
                    <a:pt x="5082667" y="4635562"/>
                  </a:lnTo>
                  <a:lnTo>
                    <a:pt x="2541270" y="4635562"/>
                  </a:lnTo>
                  <a:lnTo>
                    <a:pt x="0" y="4635562"/>
                  </a:lnTo>
                  <a:close/>
                </a:path>
              </a:pathLst>
            </a:custGeom>
            <a:solidFill>
              <a:srgbClr val="1BA97C">
                <a:alpha val="1569"/>
              </a:srgbClr>
            </a:solidFill>
          </p:spPr>
        </p:sp>
      </p:grpSp>
      <p:sp>
        <p:nvSpPr>
          <p:cNvPr name="AutoShape 37" id="37"/>
          <p:cNvSpPr/>
          <p:nvPr/>
        </p:nvSpPr>
        <p:spPr>
          <a:xfrm rot="-515939">
            <a:off x="1006326" y="6423812"/>
            <a:ext cx="1953358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-515939">
            <a:off x="2912316" y="6157141"/>
            <a:ext cx="1953358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-631319">
            <a:off x="4812782" y="5857142"/>
            <a:ext cx="1964436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-745260">
            <a:off x="6712153" y="5490477"/>
            <a:ext cx="1977695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-1497420">
            <a:off x="910838" y="6719049"/>
            <a:ext cx="2144325" cy="0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-1090259">
            <a:off x="2865930" y="5985710"/>
            <a:ext cx="2046141" cy="0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-1593060">
            <a:off x="4708350" y="5219043"/>
            <a:ext cx="2173291" cy="0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6720343" y="4453434"/>
            <a:ext cx="1908140" cy="299114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968473" y="6505137"/>
            <a:ext cx="123053" cy="123053"/>
            <a:chOff x="0" y="0"/>
            <a:chExt cx="164071" cy="1640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2874474" y="6238475"/>
            <a:ext cx="123053" cy="123053"/>
            <a:chOff x="0" y="0"/>
            <a:chExt cx="164071" cy="1640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780474" y="5971804"/>
            <a:ext cx="123053" cy="123053"/>
            <a:chOff x="0" y="0"/>
            <a:chExt cx="164071" cy="1640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686474" y="5638476"/>
            <a:ext cx="123053" cy="123053"/>
            <a:chOff x="0" y="0"/>
            <a:chExt cx="164071" cy="16407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592474" y="5238474"/>
            <a:ext cx="123053" cy="123053"/>
            <a:chOff x="0" y="0"/>
            <a:chExt cx="164071" cy="1640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1998" y="7108669"/>
            <a:ext cx="115995" cy="115995"/>
            <a:chOff x="0" y="0"/>
            <a:chExt cx="154661" cy="15466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2877998" y="6241999"/>
            <a:ext cx="115995" cy="115995"/>
            <a:chOff x="0" y="0"/>
            <a:chExt cx="154661" cy="15466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783998" y="5642000"/>
            <a:ext cx="115995" cy="115995"/>
            <a:chOff x="0" y="0"/>
            <a:chExt cx="154661" cy="1546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689998" y="4708665"/>
            <a:ext cx="115995" cy="115995"/>
            <a:chOff x="0" y="0"/>
            <a:chExt cx="154661" cy="15466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552853" y="4415201"/>
            <a:ext cx="113850" cy="113850"/>
            <a:chOff x="0" y="0"/>
            <a:chExt cx="154661" cy="15466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330003" y="7247144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11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236003" y="5810479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24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142003" y="5210470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33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048004" y="4277144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47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954004" y="4010473"/>
            <a:ext cx="140000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52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22997" y="5843807"/>
            <a:ext cx="1119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+118%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328997" y="5110477"/>
            <a:ext cx="1119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+38%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234997" y="4343810"/>
            <a:ext cx="1119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+42%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140997" y="3743811"/>
            <a:ext cx="111999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+11%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30000" y="6647145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136000" y="6380474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042000" y="6113812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28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948001" y="5780475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33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854001" y="5380472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39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30000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436000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342000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248000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154000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493996" y="2290477"/>
            <a:ext cx="794400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92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Cumulative deposits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493996" y="2610479"/>
            <a:ext cx="794400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7"/>
              </a:lnSpc>
            </a:pPr>
            <a:r>
              <a:rPr lang="en-US" sz="393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$10,195.88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493996" y="3339998"/>
            <a:ext cx="360000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+154% since May</a:t>
            </a:r>
          </a:p>
        </p:txBody>
      </p:sp>
      <p:sp>
        <p:nvSpPr>
          <p:cNvPr name="AutoShape 87" id="87"/>
          <p:cNvSpPr/>
          <p:nvPr/>
        </p:nvSpPr>
        <p:spPr>
          <a:xfrm>
            <a:off x="14424033" y="3466027"/>
            <a:ext cx="403108" cy="0"/>
          </a:xfrm>
          <a:prstGeom prst="line">
            <a:avLst/>
          </a:prstGeom>
          <a:ln cap="rnd" w="19050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8" id="88"/>
          <p:cNvSpPr txBox="true"/>
          <p:nvPr/>
        </p:nvSpPr>
        <p:spPr>
          <a:xfrm rot="0">
            <a:off x="14897995" y="3329997"/>
            <a:ext cx="899998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32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sp>
        <p:nvSpPr>
          <p:cNvPr name="AutoShape 89" id="89"/>
          <p:cNvSpPr/>
          <p:nvPr/>
        </p:nvSpPr>
        <p:spPr>
          <a:xfrm>
            <a:off x="15960999" y="3466027"/>
            <a:ext cx="384001" cy="0"/>
          </a:xfrm>
          <a:prstGeom prst="line">
            <a:avLst/>
          </a:prstGeom>
          <a:ln cap="rnd" w="47625">
            <a:solidFill>
              <a:srgbClr val="132257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90" id="90"/>
          <p:cNvSpPr txBox="true"/>
          <p:nvPr/>
        </p:nvSpPr>
        <p:spPr>
          <a:xfrm rot="0">
            <a:off x="16398002" y="3329997"/>
            <a:ext cx="899998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32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Projected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9674000" y="7899997"/>
            <a:ext cx="7624000" cy="9001"/>
            <a:chOff x="0" y="0"/>
            <a:chExt cx="10165334" cy="1200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D3DAE7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674000" y="7100002"/>
            <a:ext cx="7624000" cy="9001"/>
            <a:chOff x="0" y="0"/>
            <a:chExt cx="10165334" cy="1200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674000" y="6299997"/>
            <a:ext cx="7624000" cy="9001"/>
            <a:chOff x="0" y="0"/>
            <a:chExt cx="10165334" cy="1200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674000" y="5500002"/>
            <a:ext cx="7624000" cy="9001"/>
            <a:chOff x="0" y="0"/>
            <a:chExt cx="10165334" cy="1200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674000" y="4699997"/>
            <a:ext cx="7624000" cy="9001"/>
            <a:chOff x="0" y="0"/>
            <a:chExt cx="10165334" cy="1200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4000" y="3900002"/>
            <a:ext cx="7624000" cy="9001"/>
            <a:chOff x="0" y="0"/>
            <a:chExt cx="10165334" cy="1200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165334" cy="11938"/>
            </a:xfrm>
            <a:custGeom>
              <a:avLst/>
              <a:gdLst/>
              <a:ahLst/>
              <a:cxnLst/>
              <a:rect r="r" b="b" t="t" l="l"/>
              <a:pathLst>
                <a:path h="11938" w="10165334">
                  <a:moveTo>
                    <a:pt x="0" y="0"/>
                  </a:moveTo>
                  <a:lnTo>
                    <a:pt x="10165334" y="0"/>
                  </a:lnTo>
                  <a:lnTo>
                    <a:pt x="1016533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4000" y="7736862"/>
            <a:ext cx="7624000" cy="163135"/>
            <a:chOff x="0" y="0"/>
            <a:chExt cx="10165334" cy="21751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165334" cy="217551"/>
            </a:xfrm>
            <a:custGeom>
              <a:avLst/>
              <a:gdLst/>
              <a:ahLst/>
              <a:cxnLst/>
              <a:rect r="r" b="b" t="t" l="l"/>
              <a:pathLst>
                <a:path h="217551" w="10165334">
                  <a:moveTo>
                    <a:pt x="0" y="131953"/>
                  </a:moveTo>
                  <a:lnTo>
                    <a:pt x="2541270" y="48895"/>
                  </a:lnTo>
                  <a:lnTo>
                    <a:pt x="5082540" y="33528"/>
                  </a:lnTo>
                  <a:lnTo>
                    <a:pt x="7623937" y="4064"/>
                  </a:lnTo>
                  <a:lnTo>
                    <a:pt x="10165334" y="0"/>
                  </a:lnTo>
                  <a:lnTo>
                    <a:pt x="10165334" y="217551"/>
                  </a:lnTo>
                  <a:lnTo>
                    <a:pt x="7623937" y="217551"/>
                  </a:lnTo>
                  <a:lnTo>
                    <a:pt x="5082667" y="217551"/>
                  </a:lnTo>
                  <a:lnTo>
                    <a:pt x="2541270" y="217551"/>
                  </a:lnTo>
                  <a:lnTo>
                    <a:pt x="0" y="217551"/>
                  </a:lnTo>
                  <a:close/>
                </a:path>
              </a:pathLst>
            </a:custGeom>
            <a:solidFill>
              <a:srgbClr val="1BA97C">
                <a:alpha val="1569"/>
              </a:srgbClr>
            </a:solidFill>
          </p:spPr>
        </p:sp>
      </p:grpSp>
      <p:sp>
        <p:nvSpPr>
          <p:cNvPr name="AutoShape 105" id="105"/>
          <p:cNvSpPr/>
          <p:nvPr/>
        </p:nvSpPr>
        <p:spPr>
          <a:xfrm rot="-715319">
            <a:off x="9640005" y="6099277"/>
            <a:ext cx="1973980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rot="-869520">
            <a:off x="11535566" y="5671175"/>
            <a:ext cx="1994868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 rot="-1055580">
            <a:off x="13425916" y="5140766"/>
            <a:ext cx="2026168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 rot="-1277580">
            <a:off x="15308551" y="4483589"/>
            <a:ext cx="2072907" cy="0"/>
          </a:xfrm>
          <a:prstGeom prst="line">
            <a:avLst/>
          </a:prstGeom>
          <a:ln cap="rnd" w="19050">
            <a:solidFill>
              <a:srgbClr val="1322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 rot="-177359">
            <a:off x="9653654" y="7790355"/>
            <a:ext cx="1946691" cy="0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 rot="-87719">
            <a:off x="11560635" y="7753445"/>
            <a:ext cx="1944729" cy="0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 rot="-106320">
            <a:off x="13466483" y="7736662"/>
            <a:ext cx="1945024" cy="0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 rot="-72780">
            <a:off x="15372731" y="7724108"/>
            <a:ext cx="1944538" cy="0"/>
          </a:xfrm>
          <a:prstGeom prst="line">
            <a:avLst/>
          </a:prstGeom>
          <a:ln cap="rnd" w="28575">
            <a:solidFill>
              <a:srgbClr val="1BA9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3" id="113"/>
          <p:cNvGrpSpPr/>
          <p:nvPr/>
        </p:nvGrpSpPr>
        <p:grpSpPr>
          <a:xfrm rot="0">
            <a:off x="9612478" y="6238475"/>
            <a:ext cx="123053" cy="123053"/>
            <a:chOff x="0" y="0"/>
            <a:chExt cx="164071" cy="16407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518478" y="5856075"/>
            <a:ext cx="123053" cy="123053"/>
            <a:chOff x="0" y="0"/>
            <a:chExt cx="164071" cy="1640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424478" y="5382282"/>
            <a:ext cx="123053" cy="123053"/>
            <a:chOff x="0" y="0"/>
            <a:chExt cx="164071" cy="16407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5330478" y="4795256"/>
            <a:ext cx="123053" cy="123053"/>
            <a:chOff x="0" y="0"/>
            <a:chExt cx="164071" cy="16407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7236478" y="4067918"/>
            <a:ext cx="123053" cy="123053"/>
            <a:chOff x="0" y="0"/>
            <a:chExt cx="164071" cy="16407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9616002" y="7777791"/>
            <a:ext cx="115995" cy="115995"/>
            <a:chOff x="0" y="0"/>
            <a:chExt cx="154661" cy="154661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1522002" y="7715488"/>
            <a:ext cx="115995" cy="115995"/>
            <a:chOff x="0" y="0"/>
            <a:chExt cx="154661" cy="15466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3428002" y="7703972"/>
            <a:ext cx="115995" cy="115995"/>
            <a:chOff x="0" y="0"/>
            <a:chExt cx="154661" cy="15466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5334002" y="7681932"/>
            <a:ext cx="115995" cy="115995"/>
            <a:chOff x="0" y="0"/>
            <a:chExt cx="154661" cy="15466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7240002" y="7678864"/>
            <a:ext cx="115995" cy="115995"/>
            <a:chOff x="0" y="0"/>
            <a:chExt cx="154661" cy="15466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4686" cy="154686"/>
            </a:xfrm>
            <a:custGeom>
              <a:avLst/>
              <a:gdLst/>
              <a:ahLst/>
              <a:cxnLst/>
              <a:rect r="r" b="b" t="t" l="l"/>
              <a:pathLst>
                <a:path h="154686" w="15468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cubicBezTo>
                    <a:pt x="120015" y="0"/>
                    <a:pt x="154686" y="34671"/>
                    <a:pt x="154686" y="77343"/>
                  </a:cubicBezTo>
                  <a:cubicBezTo>
                    <a:pt x="154686" y="120015"/>
                    <a:pt x="120015" y="154686"/>
                    <a:pt x="77343" y="154686"/>
                  </a:cubicBezTo>
                  <a:cubicBezTo>
                    <a:pt x="34671" y="154686"/>
                    <a:pt x="0" y="120015"/>
                    <a:pt x="0" y="77343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33" id="133"/>
          <p:cNvSpPr txBox="true"/>
          <p:nvPr/>
        </p:nvSpPr>
        <p:spPr>
          <a:xfrm rot="0">
            <a:off x="8973998" y="7346271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$4,013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0879998" y="7283968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$7,907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785998" y="7272442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$8,627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4691998" y="7250411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$10,004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6597998" y="7247334"/>
            <a:ext cx="1400004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$10,196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0067001" y="6915112"/>
            <a:ext cx="1119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+97%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1973001" y="6878203"/>
            <a:ext cx="1119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+9%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879001" y="6861429"/>
            <a:ext cx="1119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+16%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5785001" y="6848875"/>
            <a:ext cx="1119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>
                <a:solidFill>
                  <a:srgbClr val="1BA97C"/>
                </a:solidFill>
                <a:latin typeface="Exo 2"/>
                <a:ea typeface="Exo 2"/>
                <a:cs typeface="Exo 2"/>
                <a:sym typeface="Exo 2"/>
              </a:rPr>
              <a:t>+2%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8874004" y="5860475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$100,000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0780004" y="5478075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$123,900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2686005" y="5004283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$153,512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592005" y="4417257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$190,201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6497995" y="3689918"/>
            <a:ext cx="1600000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6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$235,660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9174004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1080004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2986004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4892004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6798004" y="8010477"/>
            <a:ext cx="1000001" cy="3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4775" y="391001"/>
            <a:ext cx="17552765" cy="1247966"/>
            <a:chOff x="0" y="0"/>
            <a:chExt cx="23403687" cy="1663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3688" cy="1663954"/>
            </a:xfrm>
            <a:custGeom>
              <a:avLst/>
              <a:gdLst/>
              <a:ahLst/>
              <a:cxnLst/>
              <a:rect r="r" b="b" t="t" l="l"/>
              <a:pathLst>
                <a:path h="1663954" w="23403688">
                  <a:moveTo>
                    <a:pt x="0" y="0"/>
                  </a:moveTo>
                  <a:lnTo>
                    <a:pt x="23403688" y="0"/>
                  </a:lnTo>
                  <a:lnTo>
                    <a:pt x="23403688" y="1663954"/>
                  </a:lnTo>
                  <a:lnTo>
                    <a:pt x="0" y="1663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68" r="0" b="-22386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4775" y="383858"/>
            <a:ext cx="17552765" cy="1255109"/>
            <a:chOff x="0" y="0"/>
            <a:chExt cx="23403687" cy="1673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3688" cy="1673479"/>
            </a:xfrm>
            <a:custGeom>
              <a:avLst/>
              <a:gdLst/>
              <a:ahLst/>
              <a:cxnLst/>
              <a:rect r="r" b="b" t="t" l="l"/>
              <a:pathLst>
                <a:path h="1673479" w="23403688">
                  <a:moveTo>
                    <a:pt x="0" y="0"/>
                  </a:moveTo>
                  <a:lnTo>
                    <a:pt x="23403688" y="0"/>
                  </a:lnTo>
                  <a:lnTo>
                    <a:pt x="23403688" y="1673479"/>
                  </a:lnTo>
                  <a:lnTo>
                    <a:pt x="0" y="16734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310" r="0" b="-2223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4775" y="376714"/>
            <a:ext cx="17552794" cy="1262253"/>
            <a:chOff x="0" y="0"/>
            <a:chExt cx="23403725" cy="16830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3688" cy="1683004"/>
            </a:xfrm>
            <a:custGeom>
              <a:avLst/>
              <a:gdLst/>
              <a:ahLst/>
              <a:cxnLst/>
              <a:rect r="r" b="b" t="t" l="l"/>
              <a:pathLst>
                <a:path h="1683004" w="23403688">
                  <a:moveTo>
                    <a:pt x="0" y="0"/>
                  </a:moveTo>
                  <a:lnTo>
                    <a:pt x="23403688" y="0"/>
                  </a:lnTo>
                  <a:lnTo>
                    <a:pt x="23403688" y="1683004"/>
                  </a:lnTo>
                  <a:lnTo>
                    <a:pt x="0" y="16830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0768" r="0" b="-22076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34775" y="369570"/>
            <a:ext cx="17552794" cy="1269397"/>
            <a:chOff x="0" y="0"/>
            <a:chExt cx="23403725" cy="16925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03725" cy="1692529"/>
            </a:xfrm>
            <a:custGeom>
              <a:avLst/>
              <a:gdLst/>
              <a:ahLst/>
              <a:cxnLst/>
              <a:rect r="r" b="b" t="t" l="l"/>
              <a:pathLst>
                <a:path h="1692529" w="23403725">
                  <a:moveTo>
                    <a:pt x="0" y="0"/>
                  </a:moveTo>
                  <a:lnTo>
                    <a:pt x="23403725" y="0"/>
                  </a:lnTo>
                  <a:lnTo>
                    <a:pt x="23403725" y="1692529"/>
                  </a:lnTo>
                  <a:lnTo>
                    <a:pt x="0" y="16925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9432" r="0" b="-2194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403725" cy="1702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20"/>
                </a:lnSpc>
              </a:pPr>
              <a:r>
                <a:rPr lang="en-US" b="true" sz="41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Performance Update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6251" y="1800444"/>
            <a:ext cx="3996690" cy="1802130"/>
            <a:chOff x="0" y="0"/>
            <a:chExt cx="5328920" cy="2402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2936" y="1800444"/>
            <a:ext cx="3703320" cy="903827"/>
            <a:chOff x="0" y="0"/>
            <a:chExt cx="4937760" cy="12051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2936" y="1793300"/>
            <a:ext cx="3703320" cy="910971"/>
            <a:chOff x="0" y="0"/>
            <a:chExt cx="4937760" cy="12146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32936" y="1786157"/>
            <a:ext cx="3703320" cy="918115"/>
            <a:chOff x="0" y="0"/>
            <a:chExt cx="4937760" cy="12241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32936" y="1779013"/>
            <a:ext cx="3703320" cy="925249"/>
            <a:chOff x="0" y="0"/>
            <a:chExt cx="4937760" cy="12336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32936" y="1771869"/>
            <a:ext cx="3703320" cy="932393"/>
            <a:chOff x="0" y="0"/>
            <a:chExt cx="4937760" cy="1243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419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2936" y="2608726"/>
            <a:ext cx="3703320" cy="499300"/>
            <a:chOff x="0" y="0"/>
            <a:chExt cx="4937760" cy="6657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32936" y="2601582"/>
            <a:ext cx="3703320" cy="506444"/>
            <a:chOff x="0" y="0"/>
            <a:chExt cx="4937760" cy="6752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2936" y="2594439"/>
            <a:ext cx="3703320" cy="513588"/>
            <a:chOff x="0" y="0"/>
            <a:chExt cx="4937760" cy="6847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2936" y="2587295"/>
            <a:ext cx="3703320" cy="520694"/>
            <a:chOff x="0" y="0"/>
            <a:chExt cx="4937760" cy="6942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32936" y="2580151"/>
            <a:ext cx="3703320" cy="527837"/>
            <a:chOff x="0" y="0"/>
            <a:chExt cx="4937760" cy="7037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Downloads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875371" y="1800444"/>
            <a:ext cx="3996690" cy="1802130"/>
            <a:chOff x="0" y="0"/>
            <a:chExt cx="5328920" cy="2402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022056" y="1800444"/>
            <a:ext cx="3703320" cy="903827"/>
            <a:chOff x="0" y="0"/>
            <a:chExt cx="4937760" cy="12051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022056" y="1793300"/>
            <a:ext cx="3703320" cy="910971"/>
            <a:chOff x="0" y="0"/>
            <a:chExt cx="4937760" cy="12146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022056" y="1786157"/>
            <a:ext cx="3703320" cy="918115"/>
            <a:chOff x="0" y="0"/>
            <a:chExt cx="4937760" cy="12241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022056" y="1779013"/>
            <a:ext cx="3703320" cy="925249"/>
            <a:chOff x="0" y="0"/>
            <a:chExt cx="4937760" cy="12336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022056" y="1771869"/>
            <a:ext cx="3703320" cy="932393"/>
            <a:chOff x="0" y="0"/>
            <a:chExt cx="4937760" cy="12431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22056" y="2608726"/>
            <a:ext cx="3703320" cy="499300"/>
            <a:chOff x="0" y="0"/>
            <a:chExt cx="4937760" cy="66573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022056" y="2601582"/>
            <a:ext cx="3703320" cy="506444"/>
            <a:chOff x="0" y="0"/>
            <a:chExt cx="4937760" cy="67525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022056" y="2594439"/>
            <a:ext cx="3703320" cy="513588"/>
            <a:chOff x="0" y="0"/>
            <a:chExt cx="4937760" cy="6847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022056" y="2587295"/>
            <a:ext cx="3703320" cy="520694"/>
            <a:chOff x="0" y="0"/>
            <a:chExt cx="4937760" cy="69425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022056" y="2580151"/>
            <a:ext cx="3703320" cy="527837"/>
            <a:chOff x="0" y="0"/>
            <a:chExt cx="4937760" cy="70378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Users Onboarded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264491" y="1800444"/>
            <a:ext cx="3996690" cy="1802130"/>
            <a:chOff x="0" y="0"/>
            <a:chExt cx="5328920" cy="2402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411176" y="1800444"/>
            <a:ext cx="3703320" cy="903827"/>
            <a:chOff x="0" y="0"/>
            <a:chExt cx="4937760" cy="120510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411176" y="1793300"/>
            <a:ext cx="3703320" cy="910971"/>
            <a:chOff x="0" y="0"/>
            <a:chExt cx="4937760" cy="12146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411176" y="1786157"/>
            <a:ext cx="3703320" cy="918115"/>
            <a:chOff x="0" y="0"/>
            <a:chExt cx="4937760" cy="122415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411176" y="1779013"/>
            <a:ext cx="3703320" cy="925249"/>
            <a:chOff x="0" y="0"/>
            <a:chExt cx="4937760" cy="123366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11176" y="1771869"/>
            <a:ext cx="3703320" cy="932393"/>
            <a:chOff x="0" y="0"/>
            <a:chExt cx="4937760" cy="124319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11176" y="2608726"/>
            <a:ext cx="3703320" cy="499300"/>
            <a:chOff x="0" y="0"/>
            <a:chExt cx="4937760" cy="66573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11176" y="2601582"/>
            <a:ext cx="3703320" cy="506444"/>
            <a:chOff x="0" y="0"/>
            <a:chExt cx="4937760" cy="67525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411176" y="2594439"/>
            <a:ext cx="3703320" cy="513588"/>
            <a:chOff x="0" y="0"/>
            <a:chExt cx="4937760" cy="6847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411176" y="2587295"/>
            <a:ext cx="3703320" cy="520694"/>
            <a:chOff x="0" y="0"/>
            <a:chExt cx="4937760" cy="69425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411176" y="2580151"/>
            <a:ext cx="3703320" cy="527837"/>
            <a:chOff x="0" y="0"/>
            <a:chExt cx="4937760" cy="70378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Incomplete KYC Users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653611" y="1800444"/>
            <a:ext cx="3996690" cy="1802130"/>
            <a:chOff x="0" y="0"/>
            <a:chExt cx="5328920" cy="24028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70535" y="3927929"/>
            <a:ext cx="3996690" cy="1802130"/>
            <a:chOff x="0" y="0"/>
            <a:chExt cx="5328920" cy="24028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17220" y="3927929"/>
            <a:ext cx="3703320" cy="903827"/>
            <a:chOff x="0" y="0"/>
            <a:chExt cx="4937760" cy="120510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17220" y="3920785"/>
            <a:ext cx="3703320" cy="910971"/>
            <a:chOff x="0" y="0"/>
            <a:chExt cx="4937760" cy="121462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17220" y="3913642"/>
            <a:ext cx="3703320" cy="918115"/>
            <a:chOff x="0" y="0"/>
            <a:chExt cx="4937760" cy="122415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17220" y="3906498"/>
            <a:ext cx="3703320" cy="925249"/>
            <a:chOff x="0" y="0"/>
            <a:chExt cx="4937760" cy="123366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17220" y="3899354"/>
            <a:ext cx="3703320" cy="932393"/>
            <a:chOff x="0" y="0"/>
            <a:chExt cx="4937760" cy="124319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$10,195.88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17220" y="4740221"/>
            <a:ext cx="3703320" cy="499300"/>
            <a:chOff x="0" y="0"/>
            <a:chExt cx="4937760" cy="66573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17220" y="4733077"/>
            <a:ext cx="3703320" cy="506444"/>
            <a:chOff x="0" y="0"/>
            <a:chExt cx="4937760" cy="67525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17220" y="4725934"/>
            <a:ext cx="3703320" cy="513588"/>
            <a:chOff x="0" y="0"/>
            <a:chExt cx="4937760" cy="6847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17220" y="4718790"/>
            <a:ext cx="3703320" cy="520694"/>
            <a:chOff x="0" y="0"/>
            <a:chExt cx="4937760" cy="69425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617220" y="4711646"/>
            <a:ext cx="3703320" cy="527837"/>
            <a:chOff x="0" y="0"/>
            <a:chExt cx="4937760" cy="70378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Deposits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4859655" y="3927929"/>
            <a:ext cx="3996690" cy="1802130"/>
            <a:chOff x="0" y="0"/>
            <a:chExt cx="5328920" cy="24028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248775" y="3927929"/>
            <a:ext cx="3996690" cy="1802130"/>
            <a:chOff x="0" y="0"/>
            <a:chExt cx="5328920" cy="24028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637895" y="3927929"/>
            <a:ext cx="3996690" cy="1802130"/>
            <a:chOff x="0" y="0"/>
            <a:chExt cx="5328920" cy="2402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06718" y="6642325"/>
            <a:ext cx="16605885" cy="775764"/>
            <a:chOff x="0" y="0"/>
            <a:chExt cx="22141180" cy="1034352"/>
          </a:xfrm>
        </p:grpSpPr>
        <p:grpSp>
          <p:nvGrpSpPr>
            <p:cNvPr name="Group 118" id="118"/>
            <p:cNvGrpSpPr/>
            <p:nvPr/>
          </p:nvGrpSpPr>
          <p:grpSpPr>
            <a:xfrm rot="0">
              <a:off x="524764" y="0"/>
              <a:ext cx="21616416" cy="1034288"/>
              <a:chOff x="0" y="0"/>
              <a:chExt cx="21616416" cy="1034288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21616415" cy="1034288"/>
              </a:xfrm>
              <a:custGeom>
                <a:avLst/>
                <a:gdLst/>
                <a:ahLst/>
                <a:cxnLst/>
                <a:rect r="r" b="b" t="t" l="l"/>
                <a:pathLst>
                  <a:path h="10342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288"/>
                    </a:lnTo>
                    <a:lnTo>
                      <a:pt x="0" y="1034288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356949" r="0" b="-356951"/>
                </a:stretch>
              </a:blipFill>
            </p:spPr>
          </p:sp>
        </p:grpSp>
        <p:grpSp>
          <p:nvGrpSpPr>
            <p:cNvPr name="Group 120" id="120"/>
            <p:cNvGrpSpPr/>
            <p:nvPr/>
          </p:nvGrpSpPr>
          <p:grpSpPr>
            <a:xfrm rot="0">
              <a:off x="524764" y="0"/>
              <a:ext cx="21616416" cy="1034288"/>
              <a:chOff x="0" y="0"/>
              <a:chExt cx="21616416" cy="1034288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21616415" cy="1034288"/>
              </a:xfrm>
              <a:custGeom>
                <a:avLst/>
                <a:gdLst/>
                <a:ahLst/>
                <a:cxnLst/>
                <a:rect r="r" b="b" t="t" l="l"/>
                <a:pathLst>
                  <a:path h="10342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288"/>
                    </a:lnTo>
                    <a:lnTo>
                      <a:pt x="0" y="1034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6949" r="0" b="-356951"/>
                </a:stretch>
              </a:blipFill>
            </p:spPr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524764" y="0"/>
              <a:ext cx="21616416" cy="1034288"/>
              <a:chOff x="0" y="0"/>
              <a:chExt cx="21616416" cy="1034288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21616415" cy="1034288"/>
              </a:xfrm>
              <a:custGeom>
                <a:avLst/>
                <a:gdLst/>
                <a:ahLst/>
                <a:cxnLst/>
                <a:rect r="r" b="b" t="t" l="l"/>
                <a:pathLst>
                  <a:path h="10342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288"/>
                    </a:lnTo>
                    <a:lnTo>
                      <a:pt x="0" y="103428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56949" r="0" b="-356951"/>
                </a:stretch>
              </a:blipFill>
            </p:spPr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524764" y="0"/>
              <a:ext cx="21616416" cy="1034351"/>
              <a:chOff x="0" y="0"/>
              <a:chExt cx="21616416" cy="1034351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21616415" cy="1034415"/>
              </a:xfrm>
              <a:custGeom>
                <a:avLst/>
                <a:gdLst/>
                <a:ahLst/>
                <a:cxnLst/>
                <a:rect r="r" b="b" t="t" l="l"/>
                <a:pathLst>
                  <a:path h="1034415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415"/>
                    </a:lnTo>
                    <a:lnTo>
                      <a:pt x="0" y="1034415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56903" r="0" b="-356897"/>
                </a:stretch>
              </a:blipFill>
            </p:spPr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524764" y="0"/>
              <a:ext cx="21616416" cy="1034352"/>
              <a:chOff x="0" y="0"/>
              <a:chExt cx="21616416" cy="1034352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1616415" cy="1034352"/>
              </a:xfrm>
              <a:custGeom>
                <a:avLst/>
                <a:gdLst/>
                <a:ahLst/>
                <a:cxnLst/>
                <a:rect r="r" b="b" t="t" l="l"/>
                <a:pathLst>
                  <a:path h="103435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352"/>
                    </a:lnTo>
                    <a:lnTo>
                      <a:pt x="0" y="103435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57208" r="0" b="-357208"/>
                </a:stretch>
              </a:blipFill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0"/>
                <a:ext cx="21616416" cy="10343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78"/>
                  </a:lnSpc>
                </a:pPr>
                <a:r>
                  <a:rPr lang="en-US" sz="2148" b="true">
                    <a:solidFill>
                      <a:srgbClr val="8A93A8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Client Base Is Growing</a:t>
                </a:r>
              </a:p>
              <a:p>
                <a:pPr algn="l">
                  <a:lnSpc>
                    <a:spcPts val="2578"/>
                  </a:lnSpc>
                </a:pPr>
                <a:r>
                  <a:rPr lang="en-US" sz="21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52 clients onboarded and 47 trades placed since launch, the platform's first live activity.</a:t>
                </a:r>
              </a:p>
            </p:txBody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0" y="164452"/>
              <a:ext cx="370840" cy="324485"/>
              <a:chOff x="0" y="0"/>
              <a:chExt cx="370840" cy="324485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370840" cy="324485"/>
              </a:xfrm>
              <a:custGeom>
                <a:avLst/>
                <a:gdLst/>
                <a:ahLst/>
                <a:cxnLst/>
                <a:rect r="r" b="b" t="t" l="l"/>
                <a:pathLst>
                  <a:path h="324485" w="370840">
                    <a:moveTo>
                      <a:pt x="0" y="0"/>
                    </a:moveTo>
                    <a:lnTo>
                      <a:pt x="370840" y="0"/>
                    </a:lnTo>
                    <a:lnTo>
                      <a:pt x="370840" y="324485"/>
                    </a:lnTo>
                    <a:lnTo>
                      <a:pt x="0" y="32448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32257">
                      <a:alpha val="100000"/>
                    </a:srgbClr>
                  </a:gs>
                  <a:gs pos="100000">
                    <a:srgbClr val="2F6FE0">
                      <a:alpha val="100000"/>
                    </a:srgbClr>
                  </a:gs>
                </a:gsLst>
                <a:lin ang="18900000"/>
              </a:gradFill>
            </p:spPr>
          </p:sp>
        </p:grpSp>
      </p:grpSp>
      <p:grpSp>
        <p:nvGrpSpPr>
          <p:cNvPr name="Group 131" id="131"/>
          <p:cNvGrpSpPr/>
          <p:nvPr/>
        </p:nvGrpSpPr>
        <p:grpSpPr>
          <a:xfrm rot="0">
            <a:off x="406718" y="7442159"/>
            <a:ext cx="16605885" cy="1099614"/>
            <a:chOff x="0" y="0"/>
            <a:chExt cx="22141180" cy="1466152"/>
          </a:xfrm>
        </p:grpSpPr>
        <p:grpSp>
          <p:nvGrpSpPr>
            <p:cNvPr name="Group 132" id="132"/>
            <p:cNvGrpSpPr/>
            <p:nvPr/>
          </p:nvGrpSpPr>
          <p:grpSpPr>
            <a:xfrm rot="0">
              <a:off x="524764" y="0"/>
              <a:ext cx="21616416" cy="1466088"/>
              <a:chOff x="0" y="0"/>
              <a:chExt cx="21616416" cy="1466088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21616415" cy="1466088"/>
              </a:xfrm>
              <a:custGeom>
                <a:avLst/>
                <a:gdLst/>
                <a:ahLst/>
                <a:cxnLst/>
                <a:rect r="r" b="b" t="t" l="l"/>
                <a:pathLst>
                  <a:path h="14660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466088"/>
                    </a:lnTo>
                    <a:lnTo>
                      <a:pt x="0" y="1466088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237092" r="0" b="-237093"/>
                </a:stretch>
              </a:blipFill>
            </p:spPr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524764" y="0"/>
              <a:ext cx="21616416" cy="1466088"/>
              <a:chOff x="0" y="0"/>
              <a:chExt cx="21616416" cy="1466088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21616415" cy="1466088"/>
              </a:xfrm>
              <a:custGeom>
                <a:avLst/>
                <a:gdLst/>
                <a:ahLst/>
                <a:cxnLst/>
                <a:rect r="r" b="b" t="t" l="l"/>
                <a:pathLst>
                  <a:path h="14660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466088"/>
                    </a:lnTo>
                    <a:lnTo>
                      <a:pt x="0" y="14660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7092" r="0" b="-237093"/>
                </a:stretch>
              </a:blipFill>
            </p:spPr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524764" y="0"/>
              <a:ext cx="21616416" cy="1466088"/>
              <a:chOff x="0" y="0"/>
              <a:chExt cx="21616416" cy="1466088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21616415" cy="1466088"/>
              </a:xfrm>
              <a:custGeom>
                <a:avLst/>
                <a:gdLst/>
                <a:ahLst/>
                <a:cxnLst/>
                <a:rect r="r" b="b" t="t" l="l"/>
                <a:pathLst>
                  <a:path h="14660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466088"/>
                    </a:lnTo>
                    <a:lnTo>
                      <a:pt x="0" y="146608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37092" r="0" b="-237093"/>
                </a:stretch>
              </a:blipFill>
            </p:spPr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524764" y="0"/>
              <a:ext cx="21616416" cy="1466152"/>
              <a:chOff x="0" y="0"/>
              <a:chExt cx="21616416" cy="1466152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21616415" cy="1466215"/>
              </a:xfrm>
              <a:custGeom>
                <a:avLst/>
                <a:gdLst/>
                <a:ahLst/>
                <a:cxnLst/>
                <a:rect r="r" b="b" t="t" l="l"/>
                <a:pathLst>
                  <a:path h="1466215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466215"/>
                    </a:lnTo>
                    <a:lnTo>
                      <a:pt x="0" y="1466215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37070" r="0" b="-237066"/>
                </a:stretch>
              </a:blipFill>
            </p:spPr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524764" y="0"/>
              <a:ext cx="21616416" cy="1466152"/>
              <a:chOff x="0" y="0"/>
              <a:chExt cx="21616416" cy="1466152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21616415" cy="1466152"/>
              </a:xfrm>
              <a:custGeom>
                <a:avLst/>
                <a:gdLst/>
                <a:ahLst/>
                <a:cxnLst/>
                <a:rect r="r" b="b" t="t" l="l"/>
                <a:pathLst>
                  <a:path h="1466152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466152"/>
                    </a:lnTo>
                    <a:lnTo>
                      <a:pt x="0" y="146615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37280" r="0" b="-237280"/>
                </a:stretch>
              </a:blipFill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0" y="0"/>
                <a:ext cx="21616416" cy="14661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78"/>
                  </a:lnSpc>
                </a:pPr>
                <a:r>
                  <a:rPr lang="en-US" sz="2148" b="true">
                    <a:solidFill>
                      <a:srgbClr val="8A93A8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Deposits Are Building</a:t>
                </a:r>
              </a:p>
              <a:p>
                <a:pPr algn="l">
                  <a:lnSpc>
                    <a:spcPts val="2578"/>
                  </a:lnSpc>
                </a:pPr>
                <a:r>
                  <a:rPr lang="en-US" sz="21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$10,195.88 total deposited against $8,529.69 currently held in AUM, with early revenue of $107.52.</a:t>
                </a:r>
              </a:p>
            </p:txBody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0" y="164452"/>
              <a:ext cx="370840" cy="324485"/>
              <a:chOff x="0" y="0"/>
              <a:chExt cx="370840" cy="324485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370840" cy="324485"/>
              </a:xfrm>
              <a:custGeom>
                <a:avLst/>
                <a:gdLst/>
                <a:ahLst/>
                <a:cxnLst/>
                <a:rect r="r" b="b" t="t" l="l"/>
                <a:pathLst>
                  <a:path h="324485" w="370840">
                    <a:moveTo>
                      <a:pt x="0" y="0"/>
                    </a:moveTo>
                    <a:lnTo>
                      <a:pt x="370840" y="0"/>
                    </a:lnTo>
                    <a:lnTo>
                      <a:pt x="370840" y="324485"/>
                    </a:lnTo>
                    <a:lnTo>
                      <a:pt x="0" y="32448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32257">
                      <a:alpha val="100000"/>
                    </a:srgbClr>
                  </a:gs>
                  <a:gs pos="100000">
                    <a:srgbClr val="2F6FE0">
                      <a:alpha val="100000"/>
                    </a:srgbClr>
                  </a:gs>
                </a:gsLst>
                <a:lin ang="18900000"/>
              </a:gradFill>
            </p:spPr>
          </p:sp>
        </p:grpSp>
      </p:grpSp>
      <p:grpSp>
        <p:nvGrpSpPr>
          <p:cNvPr name="Group 145" id="145"/>
          <p:cNvGrpSpPr/>
          <p:nvPr/>
        </p:nvGrpSpPr>
        <p:grpSpPr>
          <a:xfrm rot="0">
            <a:off x="406718" y="8565842"/>
            <a:ext cx="16605885" cy="1099465"/>
            <a:chOff x="0" y="0"/>
            <a:chExt cx="22141180" cy="1465954"/>
          </a:xfrm>
        </p:grpSpPr>
        <p:grpSp>
          <p:nvGrpSpPr>
            <p:cNvPr name="Group 146" id="146"/>
            <p:cNvGrpSpPr/>
            <p:nvPr/>
          </p:nvGrpSpPr>
          <p:grpSpPr>
            <a:xfrm rot="0">
              <a:off x="524764" y="0"/>
              <a:ext cx="21616416" cy="1034288"/>
              <a:chOff x="0" y="0"/>
              <a:chExt cx="21616416" cy="1034288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21616415" cy="1034288"/>
              </a:xfrm>
              <a:custGeom>
                <a:avLst/>
                <a:gdLst/>
                <a:ahLst/>
                <a:cxnLst/>
                <a:rect r="r" b="b" t="t" l="l"/>
                <a:pathLst>
                  <a:path h="10342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288"/>
                    </a:lnTo>
                    <a:lnTo>
                      <a:pt x="0" y="1034288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356949" r="0" b="-356951"/>
                </a:stretch>
              </a:blipFill>
            </p:spPr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524764" y="0"/>
              <a:ext cx="21616416" cy="1034288"/>
              <a:chOff x="0" y="0"/>
              <a:chExt cx="21616416" cy="1034288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21616415" cy="1034288"/>
              </a:xfrm>
              <a:custGeom>
                <a:avLst/>
                <a:gdLst/>
                <a:ahLst/>
                <a:cxnLst/>
                <a:rect r="r" b="b" t="t" l="l"/>
                <a:pathLst>
                  <a:path h="10342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288"/>
                    </a:lnTo>
                    <a:lnTo>
                      <a:pt x="0" y="1034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6949" r="0" b="-356951"/>
                </a:stretch>
              </a:blipFill>
            </p:spPr>
          </p:sp>
        </p:grpSp>
        <p:grpSp>
          <p:nvGrpSpPr>
            <p:cNvPr name="Group 150" id="150"/>
            <p:cNvGrpSpPr/>
            <p:nvPr/>
          </p:nvGrpSpPr>
          <p:grpSpPr>
            <a:xfrm rot="0">
              <a:off x="524764" y="0"/>
              <a:ext cx="21616416" cy="1034288"/>
              <a:chOff x="0" y="0"/>
              <a:chExt cx="21616416" cy="1034288"/>
            </a:xfrm>
          </p:grpSpPr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21616415" cy="1034288"/>
              </a:xfrm>
              <a:custGeom>
                <a:avLst/>
                <a:gdLst/>
                <a:ahLst/>
                <a:cxnLst/>
                <a:rect r="r" b="b" t="t" l="l"/>
                <a:pathLst>
                  <a:path h="1034288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288"/>
                    </a:lnTo>
                    <a:lnTo>
                      <a:pt x="0" y="103428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56949" r="0" b="-356951"/>
                </a:stretch>
              </a:blipFill>
            </p:spPr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524764" y="0"/>
              <a:ext cx="21616416" cy="1034351"/>
              <a:chOff x="0" y="0"/>
              <a:chExt cx="21616416" cy="1034351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21616415" cy="1034415"/>
              </a:xfrm>
              <a:custGeom>
                <a:avLst/>
                <a:gdLst/>
                <a:ahLst/>
                <a:cxnLst/>
                <a:rect r="r" b="b" t="t" l="l"/>
                <a:pathLst>
                  <a:path h="1034415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034415"/>
                    </a:lnTo>
                    <a:lnTo>
                      <a:pt x="0" y="1034415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56903" r="0" b="-356897"/>
                </a:stretch>
              </a:blipFill>
            </p:spPr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524764" y="0"/>
              <a:ext cx="21616416" cy="1465954"/>
              <a:chOff x="0" y="0"/>
              <a:chExt cx="21616416" cy="1465954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21616415" cy="1465954"/>
              </a:xfrm>
              <a:custGeom>
                <a:avLst/>
                <a:gdLst/>
                <a:ahLst/>
                <a:cxnLst/>
                <a:rect r="r" b="b" t="t" l="l"/>
                <a:pathLst>
                  <a:path h="1465954" w="21616415">
                    <a:moveTo>
                      <a:pt x="0" y="0"/>
                    </a:moveTo>
                    <a:lnTo>
                      <a:pt x="21616415" y="0"/>
                    </a:lnTo>
                    <a:lnTo>
                      <a:pt x="21616415" y="1465954"/>
                    </a:lnTo>
                    <a:lnTo>
                      <a:pt x="0" y="1465954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52039" r="0" b="-222598"/>
                </a:stretch>
              </a:blipFill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0" y="0"/>
                <a:ext cx="21616416" cy="146595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77"/>
                  </a:lnSpc>
                </a:pPr>
                <a:r>
                  <a:rPr lang="en-US" sz="2148" b="true">
                    <a:solidFill>
                      <a:srgbClr val="8A93A8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Onboarding Recovery Opportunity</a:t>
                </a:r>
              </a:p>
              <a:p>
                <a:pPr algn="l">
                  <a:lnSpc>
                    <a:spcPts val="2578"/>
                  </a:lnSpc>
                </a:pPr>
                <a:r>
                  <a:rPr lang="en-US" sz="21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We have 62</a:t>
                </a:r>
                <a:r>
                  <a:rPr lang="en-US" sz="2148">
                    <a:solidFill>
                      <a:srgbClr val="8A93A8"/>
                    </a:solidFill>
                    <a:latin typeface="Exo 2"/>
                    <a:ea typeface="Exo 2"/>
                    <a:cs typeface="Exo 2"/>
                    <a:sym typeface="Exo 2"/>
                  </a:rPr>
                  <a:t> users who started but didn't complete KYC, giving us a ready pipeline to re-engage and convert them into fully onboarded clients.</a:t>
                </a:r>
              </a:p>
            </p:txBody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0" y="164452"/>
              <a:ext cx="370840" cy="324485"/>
              <a:chOff x="0" y="0"/>
              <a:chExt cx="370840" cy="324485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370840" cy="324485"/>
              </a:xfrm>
              <a:custGeom>
                <a:avLst/>
                <a:gdLst/>
                <a:ahLst/>
                <a:cxnLst/>
                <a:rect r="r" b="b" t="t" l="l"/>
                <a:pathLst>
                  <a:path h="324485" w="370840">
                    <a:moveTo>
                      <a:pt x="0" y="0"/>
                    </a:moveTo>
                    <a:lnTo>
                      <a:pt x="370840" y="0"/>
                    </a:lnTo>
                    <a:lnTo>
                      <a:pt x="370840" y="324485"/>
                    </a:lnTo>
                    <a:lnTo>
                      <a:pt x="0" y="32448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32257">
                      <a:alpha val="100000"/>
                    </a:srgbClr>
                  </a:gs>
                  <a:gs pos="100000">
                    <a:srgbClr val="2F6FE0">
                      <a:alpha val="100000"/>
                    </a:srgbClr>
                  </a:gs>
                </a:gsLst>
                <a:lin ang="18900000"/>
              </a:gradFill>
            </p:spPr>
          </p:sp>
        </p:grpSp>
      </p:grpSp>
      <p:grpSp>
        <p:nvGrpSpPr>
          <p:cNvPr name="Group 159" id="159"/>
          <p:cNvGrpSpPr/>
          <p:nvPr/>
        </p:nvGrpSpPr>
        <p:grpSpPr>
          <a:xfrm rot="0">
            <a:off x="797528" y="3108017"/>
            <a:ext cx="1933956" cy="438912"/>
            <a:chOff x="0" y="0"/>
            <a:chExt cx="2578608" cy="585216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578608" cy="585216"/>
            </a:xfrm>
            <a:custGeom>
              <a:avLst/>
              <a:gdLst/>
              <a:ahLst/>
              <a:cxnLst/>
              <a:rect r="r" b="b" t="t" l="l"/>
              <a:pathLst>
                <a:path h="58521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796" r="0" b="-35796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2329882" y="3108017"/>
            <a:ext cx="1841754" cy="438912"/>
            <a:chOff x="0" y="0"/>
            <a:chExt cx="2455672" cy="58521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455672" cy="585216"/>
            </a:xfrm>
            <a:custGeom>
              <a:avLst/>
              <a:gdLst/>
              <a:ahLst/>
              <a:cxnLst/>
              <a:rect r="r" b="b" t="t" l="l"/>
              <a:pathLst>
                <a:path h="585216" w="2455672">
                  <a:moveTo>
                    <a:pt x="0" y="0"/>
                  </a:moveTo>
                  <a:lnTo>
                    <a:pt x="2455672" y="0"/>
                  </a:lnTo>
                  <a:lnTo>
                    <a:pt x="24556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705" r="0" b="-31705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781812" y="5243522"/>
            <a:ext cx="1933956" cy="438912"/>
            <a:chOff x="0" y="0"/>
            <a:chExt cx="2578608" cy="58521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578608" cy="585216"/>
            </a:xfrm>
            <a:custGeom>
              <a:avLst/>
              <a:gdLst/>
              <a:ahLst/>
              <a:cxnLst/>
              <a:rect r="r" b="b" t="t" l="l"/>
              <a:pathLst>
                <a:path h="58521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796" r="0" b="-35796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2314165" y="5243522"/>
            <a:ext cx="1841754" cy="438912"/>
            <a:chOff x="0" y="0"/>
            <a:chExt cx="2455672" cy="58521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455672" cy="585216"/>
            </a:xfrm>
            <a:custGeom>
              <a:avLst/>
              <a:gdLst/>
              <a:ahLst/>
              <a:cxnLst/>
              <a:rect r="r" b="b" t="t" l="l"/>
              <a:pathLst>
                <a:path h="585216" w="2455672">
                  <a:moveTo>
                    <a:pt x="0" y="0"/>
                  </a:moveTo>
                  <a:lnTo>
                    <a:pt x="2455672" y="0"/>
                  </a:lnTo>
                  <a:lnTo>
                    <a:pt x="24556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705" r="0" b="-31705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5186648" y="3108017"/>
            <a:ext cx="1933956" cy="438912"/>
            <a:chOff x="0" y="0"/>
            <a:chExt cx="2578608" cy="58521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578608" cy="585216"/>
            </a:xfrm>
            <a:custGeom>
              <a:avLst/>
              <a:gdLst/>
              <a:ahLst/>
              <a:cxnLst/>
              <a:rect r="r" b="b" t="t" l="l"/>
              <a:pathLst>
                <a:path h="58521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796" r="0" b="-35796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6719002" y="3108017"/>
            <a:ext cx="1841754" cy="438912"/>
            <a:chOff x="0" y="0"/>
            <a:chExt cx="2455672" cy="585216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455672" cy="585216"/>
            </a:xfrm>
            <a:custGeom>
              <a:avLst/>
              <a:gdLst/>
              <a:ahLst/>
              <a:cxnLst/>
              <a:rect r="r" b="b" t="t" l="l"/>
              <a:pathLst>
                <a:path h="585216" w="2455672">
                  <a:moveTo>
                    <a:pt x="0" y="0"/>
                  </a:moveTo>
                  <a:lnTo>
                    <a:pt x="2455672" y="0"/>
                  </a:lnTo>
                  <a:lnTo>
                    <a:pt x="24556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705" r="0" b="-31705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9575768" y="3108017"/>
            <a:ext cx="1933956" cy="438912"/>
            <a:chOff x="0" y="0"/>
            <a:chExt cx="2578608" cy="58521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578608" cy="585216"/>
            </a:xfrm>
            <a:custGeom>
              <a:avLst/>
              <a:gdLst/>
              <a:ahLst/>
              <a:cxnLst/>
              <a:rect r="r" b="b" t="t" l="l"/>
              <a:pathLst>
                <a:path h="58521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796" r="0" b="-35796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1108122" y="3108017"/>
            <a:ext cx="1841754" cy="438912"/>
            <a:chOff x="0" y="0"/>
            <a:chExt cx="2455672" cy="58521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455672" cy="585216"/>
            </a:xfrm>
            <a:custGeom>
              <a:avLst/>
              <a:gdLst/>
              <a:ahLst/>
              <a:cxnLst/>
              <a:rect r="r" b="b" t="t" l="l"/>
              <a:pathLst>
                <a:path h="585216" w="2455672">
                  <a:moveTo>
                    <a:pt x="0" y="0"/>
                  </a:moveTo>
                  <a:lnTo>
                    <a:pt x="2455672" y="0"/>
                  </a:lnTo>
                  <a:lnTo>
                    <a:pt x="24556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705" r="0" b="-31705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800296" y="3927929"/>
            <a:ext cx="3703320" cy="903827"/>
            <a:chOff x="0" y="0"/>
            <a:chExt cx="4937760" cy="1205103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00296" y="3920785"/>
            <a:ext cx="3703320" cy="910971"/>
            <a:chOff x="0" y="0"/>
            <a:chExt cx="4937760" cy="1214628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3800296" y="3913642"/>
            <a:ext cx="3703320" cy="918115"/>
            <a:chOff x="0" y="0"/>
            <a:chExt cx="4937760" cy="1224153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3800296" y="3906498"/>
            <a:ext cx="3703320" cy="925249"/>
            <a:chOff x="0" y="0"/>
            <a:chExt cx="4937760" cy="1233665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13800296" y="3899354"/>
            <a:ext cx="3703320" cy="932393"/>
            <a:chOff x="0" y="0"/>
            <a:chExt cx="4937760" cy="124319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47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3800296" y="4740221"/>
            <a:ext cx="3703320" cy="499300"/>
            <a:chOff x="0" y="0"/>
            <a:chExt cx="4937760" cy="665734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3800296" y="4733077"/>
            <a:ext cx="3703320" cy="506444"/>
            <a:chOff x="0" y="0"/>
            <a:chExt cx="4937760" cy="67525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3800296" y="4725934"/>
            <a:ext cx="3703320" cy="513588"/>
            <a:chOff x="0" y="0"/>
            <a:chExt cx="4937760" cy="684784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3800296" y="4718790"/>
            <a:ext cx="3703320" cy="520694"/>
            <a:chOff x="0" y="0"/>
            <a:chExt cx="4937760" cy="694258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3800296" y="4711646"/>
            <a:ext cx="3703320" cy="527837"/>
            <a:chOff x="0" y="0"/>
            <a:chExt cx="4937760" cy="703783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Trades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964888" y="5243522"/>
            <a:ext cx="1933956" cy="438912"/>
            <a:chOff x="0" y="0"/>
            <a:chExt cx="2578608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578608" cy="585216"/>
            </a:xfrm>
            <a:custGeom>
              <a:avLst/>
              <a:gdLst/>
              <a:ahLst/>
              <a:cxnLst/>
              <a:rect r="r" b="b" t="t" l="l"/>
              <a:pathLst>
                <a:path h="58521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796" r="0" b="-35796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5497242" y="5243522"/>
            <a:ext cx="1841754" cy="438912"/>
            <a:chOff x="0" y="0"/>
            <a:chExt cx="2455672" cy="585216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455672" cy="585216"/>
            </a:xfrm>
            <a:custGeom>
              <a:avLst/>
              <a:gdLst/>
              <a:ahLst/>
              <a:cxnLst/>
              <a:rect r="r" b="b" t="t" l="l"/>
              <a:pathLst>
                <a:path h="585216" w="2455672">
                  <a:moveTo>
                    <a:pt x="0" y="0"/>
                  </a:moveTo>
                  <a:lnTo>
                    <a:pt x="2455672" y="0"/>
                  </a:lnTo>
                  <a:lnTo>
                    <a:pt x="24556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705" r="0" b="-31705"/>
              </a:stretch>
            </a:blip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5022056" y="3951742"/>
            <a:ext cx="3703320" cy="903827"/>
            <a:chOff x="0" y="0"/>
            <a:chExt cx="4937760" cy="1205103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5022056" y="3944598"/>
            <a:ext cx="3703320" cy="910971"/>
            <a:chOff x="0" y="0"/>
            <a:chExt cx="4937760" cy="1214628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5022056" y="3937454"/>
            <a:ext cx="3703320" cy="918115"/>
            <a:chOff x="0" y="0"/>
            <a:chExt cx="4937760" cy="1224153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5022056" y="3930310"/>
            <a:ext cx="3703320" cy="925249"/>
            <a:chOff x="0" y="0"/>
            <a:chExt cx="4937760" cy="1233665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022056" y="3923167"/>
            <a:ext cx="3703320" cy="932393"/>
            <a:chOff x="0" y="0"/>
            <a:chExt cx="4937760" cy="124319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$1,666.19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22056" y="4764034"/>
            <a:ext cx="3703320" cy="499300"/>
            <a:chOff x="0" y="0"/>
            <a:chExt cx="4937760" cy="66573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5022056" y="4756890"/>
            <a:ext cx="3703320" cy="506444"/>
            <a:chOff x="0" y="0"/>
            <a:chExt cx="4937760" cy="675259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022056" y="4749746"/>
            <a:ext cx="3703320" cy="513588"/>
            <a:chOff x="0" y="0"/>
            <a:chExt cx="4937760" cy="684784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5022056" y="4742602"/>
            <a:ext cx="3703320" cy="520694"/>
            <a:chOff x="0" y="0"/>
            <a:chExt cx="4937760" cy="69425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5022056" y="4735459"/>
            <a:ext cx="3703320" cy="527837"/>
            <a:chOff x="0" y="0"/>
            <a:chExt cx="4937760" cy="703783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Withdrawals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5186648" y="5267335"/>
            <a:ext cx="1933956" cy="438912"/>
            <a:chOff x="0" y="0"/>
            <a:chExt cx="2578608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578608" cy="585216"/>
            </a:xfrm>
            <a:custGeom>
              <a:avLst/>
              <a:gdLst/>
              <a:ahLst/>
              <a:cxnLst/>
              <a:rect r="r" b="b" t="t" l="l"/>
              <a:pathLst>
                <a:path h="58521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796" r="0" b="-35796"/>
              </a:stretch>
            </a:blip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9411176" y="3937435"/>
            <a:ext cx="3703320" cy="903827"/>
            <a:chOff x="0" y="0"/>
            <a:chExt cx="4937760" cy="1205103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9411176" y="3930291"/>
            <a:ext cx="3703320" cy="910971"/>
            <a:chOff x="0" y="0"/>
            <a:chExt cx="4937760" cy="1214628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9411176" y="3923147"/>
            <a:ext cx="3703320" cy="918115"/>
            <a:chOff x="0" y="0"/>
            <a:chExt cx="4937760" cy="1224153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411176" y="3916004"/>
            <a:ext cx="3703320" cy="925249"/>
            <a:chOff x="0" y="0"/>
            <a:chExt cx="4937760" cy="1233665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9411176" y="3908860"/>
            <a:ext cx="3703320" cy="932393"/>
            <a:chOff x="0" y="0"/>
            <a:chExt cx="4937760" cy="124319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$8,529.69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11176" y="4749727"/>
            <a:ext cx="3703320" cy="499300"/>
            <a:chOff x="0" y="0"/>
            <a:chExt cx="4937760" cy="665734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238" id="238"/>
          <p:cNvGrpSpPr/>
          <p:nvPr/>
        </p:nvGrpSpPr>
        <p:grpSpPr>
          <a:xfrm rot="0">
            <a:off x="9411176" y="4742583"/>
            <a:ext cx="3703320" cy="506444"/>
            <a:chOff x="0" y="0"/>
            <a:chExt cx="4937760" cy="675259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240" id="240"/>
          <p:cNvGrpSpPr/>
          <p:nvPr/>
        </p:nvGrpSpPr>
        <p:grpSpPr>
          <a:xfrm rot="0">
            <a:off x="9411176" y="4735439"/>
            <a:ext cx="3703320" cy="513588"/>
            <a:chOff x="0" y="0"/>
            <a:chExt cx="4937760" cy="684784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9411176" y="4728296"/>
            <a:ext cx="3703320" cy="520694"/>
            <a:chOff x="0" y="0"/>
            <a:chExt cx="4937760" cy="694258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411176" y="4721152"/>
            <a:ext cx="3703320" cy="527837"/>
            <a:chOff x="0" y="0"/>
            <a:chExt cx="4937760" cy="703783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246" id="246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Current AUM</a:t>
              </a:r>
            </a:p>
          </p:txBody>
        </p:sp>
      </p:grpSp>
      <p:grpSp>
        <p:nvGrpSpPr>
          <p:cNvPr name="Group 247" id="247"/>
          <p:cNvGrpSpPr/>
          <p:nvPr/>
        </p:nvGrpSpPr>
        <p:grpSpPr>
          <a:xfrm rot="0">
            <a:off x="9575768" y="5253028"/>
            <a:ext cx="1933956" cy="438912"/>
            <a:chOff x="0" y="0"/>
            <a:chExt cx="2578608" cy="585216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2578608" cy="585216"/>
            </a:xfrm>
            <a:custGeom>
              <a:avLst/>
              <a:gdLst/>
              <a:ahLst/>
              <a:cxnLst/>
              <a:rect r="r" b="b" t="t" l="l"/>
              <a:pathLst>
                <a:path h="58521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796" r="0" b="-35796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1108122" y="5253028"/>
            <a:ext cx="1841754" cy="438912"/>
            <a:chOff x="0" y="0"/>
            <a:chExt cx="2455672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2455672" cy="585216"/>
            </a:xfrm>
            <a:custGeom>
              <a:avLst/>
              <a:gdLst/>
              <a:ahLst/>
              <a:cxnLst/>
              <a:rect r="r" b="b" t="t" l="l"/>
              <a:pathLst>
                <a:path h="585216" w="2455672">
                  <a:moveTo>
                    <a:pt x="0" y="0"/>
                  </a:moveTo>
                  <a:lnTo>
                    <a:pt x="2455672" y="0"/>
                  </a:lnTo>
                  <a:lnTo>
                    <a:pt x="24556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705" r="0" b="-31705"/>
              </a:stretch>
            </a:blipFill>
          </p:spPr>
        </p:sp>
      </p:grpSp>
      <p:sp>
        <p:nvSpPr>
          <p:cNvPr name="TextBox 251" id="251"/>
          <p:cNvSpPr txBox="true"/>
          <p:nvPr/>
        </p:nvSpPr>
        <p:spPr>
          <a:xfrm rot="0">
            <a:off x="843324" y="5996740"/>
            <a:ext cx="499999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200000" r="-100000" t="200000" b="-100000"/>
                  </a:path>
                  <a:tileRect r="-300000" l="0" b="-300000" t="0"/>
                </a:gradFill>
                <a:latin typeface="Exo 2 Bold"/>
                <a:ea typeface="Exo 2 Bold"/>
                <a:cs typeface="Exo 2 Bold"/>
                <a:sym typeface="Exo 2 Bold"/>
              </a:rPr>
              <a:t>Key Highlights</a:t>
            </a:r>
          </a:p>
        </p:txBody>
      </p:sp>
      <p:grpSp>
        <p:nvGrpSpPr>
          <p:cNvPr name="Group 252" id="252"/>
          <p:cNvGrpSpPr/>
          <p:nvPr/>
        </p:nvGrpSpPr>
        <p:grpSpPr>
          <a:xfrm rot="0">
            <a:off x="13784580" y="1824257"/>
            <a:ext cx="3703320" cy="903827"/>
            <a:chOff x="0" y="0"/>
            <a:chExt cx="4937760" cy="1205103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13784580" y="1817113"/>
            <a:ext cx="3703320" cy="910971"/>
            <a:chOff x="0" y="0"/>
            <a:chExt cx="4937760" cy="1214628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4937760" cy="1214628"/>
            </a:xfrm>
            <a:custGeom>
              <a:avLst/>
              <a:gdLst/>
              <a:ahLst/>
              <a:cxnLst/>
              <a:rect r="r" b="b" t="t" l="l"/>
              <a:pathLst>
                <a:path h="121462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6" r="0" b="-29156"/>
              </a:stretch>
            </a:blipFill>
          </p:spPr>
        </p:sp>
      </p:grpSp>
      <p:grpSp>
        <p:nvGrpSpPr>
          <p:cNvPr name="Group 256" id="256"/>
          <p:cNvGrpSpPr/>
          <p:nvPr/>
        </p:nvGrpSpPr>
        <p:grpSpPr>
          <a:xfrm rot="0">
            <a:off x="13784580" y="1809969"/>
            <a:ext cx="3703320" cy="918115"/>
            <a:chOff x="0" y="0"/>
            <a:chExt cx="4937760" cy="1224153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4937760" cy="1224153"/>
            </a:xfrm>
            <a:custGeom>
              <a:avLst/>
              <a:gdLst/>
              <a:ahLst/>
              <a:cxnLst/>
              <a:rect r="r" b="b" t="t" l="l"/>
              <a:pathLst>
                <a:path h="122415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0" r="0" b="-28540"/>
              </a:stretch>
            </a:blipFill>
          </p:spPr>
        </p:sp>
      </p:grpSp>
      <p:grpSp>
        <p:nvGrpSpPr>
          <p:cNvPr name="Group 258" id="258"/>
          <p:cNvGrpSpPr/>
          <p:nvPr/>
        </p:nvGrpSpPr>
        <p:grpSpPr>
          <a:xfrm rot="0">
            <a:off x="13784580" y="1802825"/>
            <a:ext cx="3703320" cy="925249"/>
            <a:chOff x="0" y="0"/>
            <a:chExt cx="4937760" cy="1233665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4937760" cy="1233678"/>
            </a:xfrm>
            <a:custGeom>
              <a:avLst/>
              <a:gdLst/>
              <a:ahLst/>
              <a:cxnLst/>
              <a:rect r="r" b="b" t="t" l="l"/>
              <a:pathLst>
                <a:path h="123367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4" r="0" b="-27932"/>
              </a:stretch>
            </a:blip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784580" y="1795682"/>
            <a:ext cx="3703320" cy="932393"/>
            <a:chOff x="0" y="0"/>
            <a:chExt cx="4937760" cy="1243190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4937760" cy="1243190"/>
            </a:xfrm>
            <a:custGeom>
              <a:avLst/>
              <a:gdLst/>
              <a:ahLst/>
              <a:cxnLst/>
              <a:rect r="r" b="b" t="t" l="l"/>
              <a:pathLst>
                <a:path h="12431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391" r="0" b="-27391"/>
              </a:stretch>
            </a:blip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-9525"/>
              <a:ext cx="4937760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$107.52</a:t>
              </a:r>
            </a:p>
          </p:txBody>
        </p:sp>
      </p:grpSp>
      <p:grpSp>
        <p:nvGrpSpPr>
          <p:cNvPr name="Group 263" id="263"/>
          <p:cNvGrpSpPr/>
          <p:nvPr/>
        </p:nvGrpSpPr>
        <p:grpSpPr>
          <a:xfrm rot="0">
            <a:off x="13784580" y="2636549"/>
            <a:ext cx="3703320" cy="499300"/>
            <a:chOff x="0" y="0"/>
            <a:chExt cx="4937760" cy="665734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265" id="265"/>
          <p:cNvGrpSpPr/>
          <p:nvPr/>
        </p:nvGrpSpPr>
        <p:grpSpPr>
          <a:xfrm rot="0">
            <a:off x="13784580" y="2629405"/>
            <a:ext cx="3703320" cy="506444"/>
            <a:chOff x="0" y="0"/>
            <a:chExt cx="4937760" cy="675259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4937760" cy="675259"/>
            </a:xfrm>
            <a:custGeom>
              <a:avLst/>
              <a:gdLst/>
              <a:ahLst/>
              <a:cxnLst/>
              <a:rect r="r" b="b" t="t" l="l"/>
              <a:pathLst>
                <a:path h="67525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59"/>
                  </a:lnTo>
                  <a:lnTo>
                    <a:pt x="0" y="675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82" r="0" b="-92382"/>
              </a:stretch>
            </a:blipFill>
          </p:spPr>
        </p:sp>
      </p:grpSp>
      <p:grpSp>
        <p:nvGrpSpPr>
          <p:cNvPr name="Group 267" id="267"/>
          <p:cNvGrpSpPr/>
          <p:nvPr/>
        </p:nvGrpSpPr>
        <p:grpSpPr>
          <a:xfrm rot="0">
            <a:off x="13784580" y="2622261"/>
            <a:ext cx="3703320" cy="513588"/>
            <a:chOff x="0" y="0"/>
            <a:chExt cx="4937760" cy="684784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4937760" cy="684784"/>
            </a:xfrm>
            <a:custGeom>
              <a:avLst/>
              <a:gdLst/>
              <a:ahLst/>
              <a:cxnLst/>
              <a:rect r="r" b="b" t="t" l="l"/>
              <a:pathLst>
                <a:path h="684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84784"/>
                  </a:lnTo>
                  <a:lnTo>
                    <a:pt x="0" y="684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2" r="0" b="-90402"/>
              </a:stretch>
            </a:blip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13784580" y="2615117"/>
            <a:ext cx="3703320" cy="520694"/>
            <a:chOff x="0" y="0"/>
            <a:chExt cx="4937760" cy="694258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4937760" cy="694309"/>
            </a:xfrm>
            <a:custGeom>
              <a:avLst/>
              <a:gdLst/>
              <a:ahLst/>
              <a:cxnLst/>
              <a:rect r="r" b="b" t="t" l="l"/>
              <a:pathLst>
                <a:path h="6943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94309"/>
                  </a:lnTo>
                  <a:lnTo>
                    <a:pt x="0" y="6943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479" r="0" b="-88472"/>
              </a:stretch>
            </a:blipFill>
          </p:spPr>
        </p:sp>
      </p:grpSp>
      <p:grpSp>
        <p:nvGrpSpPr>
          <p:cNvPr name="Group 271" id="271"/>
          <p:cNvGrpSpPr/>
          <p:nvPr/>
        </p:nvGrpSpPr>
        <p:grpSpPr>
          <a:xfrm rot="0">
            <a:off x="13784580" y="2607974"/>
            <a:ext cx="3703320" cy="527837"/>
            <a:chOff x="0" y="0"/>
            <a:chExt cx="4937760" cy="703783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4937760" cy="703784"/>
            </a:xfrm>
            <a:custGeom>
              <a:avLst/>
              <a:gdLst/>
              <a:ahLst/>
              <a:cxnLst/>
              <a:rect r="r" b="b" t="t" l="l"/>
              <a:pathLst>
                <a:path h="7037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03784"/>
                  </a:lnTo>
                  <a:lnTo>
                    <a:pt x="0" y="703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07" r="0" b="-86707"/>
              </a:stretch>
            </a:blipFill>
          </p:spPr>
        </p:sp>
        <p:sp>
          <p:nvSpPr>
            <p:cNvPr name="TextBox 273" id="273"/>
            <p:cNvSpPr txBox="true"/>
            <p:nvPr/>
          </p:nvSpPr>
          <p:spPr>
            <a:xfrm>
              <a:off x="0" y="-9525"/>
              <a:ext cx="4937760" cy="713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Revenue </a:t>
              </a:r>
            </a:p>
          </p:txBody>
        </p:sp>
      </p:grpSp>
      <p:grpSp>
        <p:nvGrpSpPr>
          <p:cNvPr name="Group 274" id="274"/>
          <p:cNvGrpSpPr/>
          <p:nvPr/>
        </p:nvGrpSpPr>
        <p:grpSpPr>
          <a:xfrm rot="0">
            <a:off x="13804106" y="3061449"/>
            <a:ext cx="3703320" cy="499300"/>
            <a:chOff x="0" y="0"/>
            <a:chExt cx="4937760" cy="665734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276" id="276"/>
          <p:cNvGrpSpPr/>
          <p:nvPr/>
        </p:nvGrpSpPr>
        <p:grpSpPr>
          <a:xfrm rot="0">
            <a:off x="13804106" y="3061449"/>
            <a:ext cx="3703320" cy="499300"/>
            <a:chOff x="0" y="0"/>
            <a:chExt cx="4937760" cy="665734"/>
          </a:xfrm>
        </p:grpSpPr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278" id="278"/>
          <p:cNvGrpSpPr/>
          <p:nvPr/>
        </p:nvGrpSpPr>
        <p:grpSpPr>
          <a:xfrm rot="0">
            <a:off x="13804106" y="3061449"/>
            <a:ext cx="3703320" cy="499300"/>
            <a:chOff x="0" y="0"/>
            <a:chExt cx="4937760" cy="665734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420" r="0" b="-94420"/>
              </a:stretch>
            </a:blipFill>
          </p:spPr>
        </p:sp>
      </p:grpSp>
      <p:grpSp>
        <p:nvGrpSpPr>
          <p:cNvPr name="Group 280" id="280"/>
          <p:cNvGrpSpPr/>
          <p:nvPr/>
        </p:nvGrpSpPr>
        <p:grpSpPr>
          <a:xfrm rot="0">
            <a:off x="13804106" y="3061449"/>
            <a:ext cx="3703320" cy="499262"/>
            <a:chOff x="0" y="0"/>
            <a:chExt cx="4937760" cy="665683"/>
          </a:xfrm>
        </p:grpSpPr>
        <p:sp>
          <p:nvSpPr>
            <p:cNvPr name="Freeform 281" id="281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423" r="0" b="-94416"/>
              </a:stretch>
            </a:blipFill>
          </p:spPr>
        </p:sp>
      </p:grpSp>
      <p:grpSp>
        <p:nvGrpSpPr>
          <p:cNvPr name="Group 282" id="282"/>
          <p:cNvGrpSpPr/>
          <p:nvPr/>
        </p:nvGrpSpPr>
        <p:grpSpPr>
          <a:xfrm rot="0">
            <a:off x="13804106" y="3061449"/>
            <a:ext cx="3703320" cy="499262"/>
            <a:chOff x="0" y="0"/>
            <a:chExt cx="4937760" cy="665683"/>
          </a:xfrm>
        </p:grpSpPr>
        <p:sp>
          <p:nvSpPr>
            <p:cNvPr name="Freeform 283" id="283"/>
            <p:cNvSpPr/>
            <p:nvPr/>
          </p:nvSpPr>
          <p:spPr>
            <a:xfrm flipH="false" flipV="false" rot="0">
              <a:off x="0" y="0"/>
              <a:ext cx="4937760" cy="665683"/>
            </a:xfrm>
            <a:custGeom>
              <a:avLst/>
              <a:gdLst/>
              <a:ahLst/>
              <a:cxnLst/>
              <a:rect r="r" b="b" t="t" l="l"/>
              <a:pathLst>
                <a:path h="66568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683"/>
                  </a:lnTo>
                  <a:lnTo>
                    <a:pt x="0" y="6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4531" r="0" b="-94532"/>
              </a:stretch>
            </a:blipFill>
          </p:spPr>
        </p:sp>
        <p:sp>
          <p:nvSpPr>
            <p:cNvPr name="TextBox 284" id="284"/>
            <p:cNvSpPr txBox="true"/>
            <p:nvPr/>
          </p:nvSpPr>
          <p:spPr>
            <a:xfrm>
              <a:off x="0" y="0"/>
              <a:ext cx="4937760" cy="665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9AA5E0"/>
                  </a:solidFill>
                  <a:latin typeface="Exo 2"/>
                  <a:ea typeface="Exo 2"/>
                  <a:cs typeface="Exo 2"/>
                  <a:sym typeface="Exo 2"/>
                </a:rPr>
                <a:t>From 14 May 2026 till date </a:t>
              </a:r>
            </a:p>
          </p:txBody>
        </p:sp>
      </p:grpSp>
      <p:grpSp>
        <p:nvGrpSpPr>
          <p:cNvPr name="Group 285" id="285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2" r="0" b="-363"/>
              </a:stretch>
            </a:blipFill>
          </p:spPr>
        </p:sp>
      </p:grpSp>
      <p:sp>
        <p:nvSpPr>
          <p:cNvPr name="TextBox 287" id="287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88" id="288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23</a:t>
            </a:r>
          </a:p>
        </p:txBody>
      </p:sp>
      <p:sp>
        <p:nvSpPr>
          <p:cNvPr name="TextBox 289" id="289"/>
          <p:cNvSpPr txBox="true"/>
          <p:nvPr/>
        </p:nvSpPr>
        <p:spPr>
          <a:xfrm rot="0">
            <a:off x="684809" y="1248442"/>
            <a:ext cx="403700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424" i="true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200000" r="-100000" t="200000" b="-100000"/>
                  </a:path>
                  <a:tileRect r="-300000" l="0" b="-300000" t="0"/>
                </a:gradFill>
                <a:latin typeface="Exo 2 Italics"/>
                <a:ea typeface="Exo 2 Italics"/>
                <a:cs typeface="Exo 2 Italics"/>
                <a:sym typeface="Exo 2 Italics"/>
              </a:rPr>
              <a:t>As of 13th of September, 2026</a:t>
            </a:r>
          </a:p>
        </p:txBody>
      </p:sp>
      <p:sp>
        <p:nvSpPr>
          <p:cNvPr name="Freeform 290" id="290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862" y="560003"/>
            <a:ext cx="13241560" cy="822865"/>
            <a:chOff x="0" y="0"/>
            <a:chExt cx="17655413" cy="1097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5541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7655412">
                  <a:moveTo>
                    <a:pt x="0" y="0"/>
                  </a:moveTo>
                  <a:lnTo>
                    <a:pt x="17655412" y="0"/>
                  </a:lnTo>
                  <a:lnTo>
                    <a:pt x="1765541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336" r="0" b="-26333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4862" y="552860"/>
            <a:ext cx="13241560" cy="840962"/>
            <a:chOff x="0" y="0"/>
            <a:chExt cx="17655413" cy="11212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55412" cy="1121283"/>
            </a:xfrm>
            <a:custGeom>
              <a:avLst/>
              <a:gdLst/>
              <a:ahLst/>
              <a:cxnLst/>
              <a:rect r="r" b="b" t="t" l="l"/>
              <a:pathLst>
                <a:path h="1121283" w="17655412">
                  <a:moveTo>
                    <a:pt x="0" y="0"/>
                  </a:moveTo>
                  <a:lnTo>
                    <a:pt x="17655412" y="0"/>
                  </a:lnTo>
                  <a:lnTo>
                    <a:pt x="17655412" y="1121283"/>
                  </a:lnTo>
                  <a:lnTo>
                    <a:pt x="0" y="11212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593" r="0" b="-25659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4862" y="588578"/>
            <a:ext cx="13241569" cy="805205"/>
            <a:chOff x="0" y="0"/>
            <a:chExt cx="17655426" cy="10736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655412" cy="1073658"/>
            </a:xfrm>
            <a:custGeom>
              <a:avLst/>
              <a:gdLst/>
              <a:ahLst/>
              <a:cxnLst/>
              <a:rect r="r" b="b" t="t" l="l"/>
              <a:pathLst>
                <a:path h="1073658" w="17655412">
                  <a:moveTo>
                    <a:pt x="0" y="0"/>
                  </a:moveTo>
                  <a:lnTo>
                    <a:pt x="17655412" y="0"/>
                  </a:lnTo>
                  <a:lnTo>
                    <a:pt x="17655412" y="1073658"/>
                  </a:lnTo>
                  <a:lnTo>
                    <a:pt x="0" y="10736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0195" r="0" b="-2701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4862" y="624297"/>
            <a:ext cx="13241569" cy="769487"/>
            <a:chOff x="0" y="0"/>
            <a:chExt cx="17655426" cy="10259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5426" cy="1025982"/>
            </a:xfrm>
            <a:custGeom>
              <a:avLst/>
              <a:gdLst/>
              <a:ahLst/>
              <a:cxnLst/>
              <a:rect r="r" b="b" t="t" l="l"/>
              <a:pathLst>
                <a:path h="1025982" w="17655426">
                  <a:moveTo>
                    <a:pt x="0" y="0"/>
                  </a:moveTo>
                  <a:lnTo>
                    <a:pt x="17655426" y="0"/>
                  </a:lnTo>
                  <a:lnTo>
                    <a:pt x="17655426" y="1025982"/>
                  </a:lnTo>
                  <a:lnTo>
                    <a:pt x="0" y="10259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04" r="0" b="-285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7655426" cy="978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53"/>
                </a:lnSpc>
              </a:pPr>
              <a:r>
                <a:rPr lang="en-US" b="true" sz="3999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Key Performance Indicators &amp; Volume Projections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2" r="0" b="-36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70535" y="599999"/>
            <a:ext cx="115062" cy="732282"/>
            <a:chOff x="0" y="0"/>
            <a:chExt cx="153416" cy="976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91443" y="9783042"/>
            <a:ext cx="71711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50001" y="1980000"/>
            <a:ext cx="16587997" cy="7183164"/>
            <a:chOff x="0" y="0"/>
            <a:chExt cx="22117329" cy="957755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2117329" cy="685388"/>
              <a:chOff x="0" y="0"/>
              <a:chExt cx="22117329" cy="68538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117304" cy="685331"/>
              </a:xfrm>
              <a:custGeom>
                <a:avLst/>
                <a:gdLst/>
                <a:ahLst/>
                <a:cxnLst/>
                <a:rect r="r" b="b" t="t" l="l"/>
                <a:pathLst>
                  <a:path h="685331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685331"/>
                    </a:lnTo>
                    <a:lnTo>
                      <a:pt x="0" y="68533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5312080" cy="685388"/>
              <a:chOff x="0" y="0"/>
              <a:chExt cx="5312080" cy="68538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312084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5312084">
                    <a:moveTo>
                      <a:pt x="0" y="0"/>
                    </a:moveTo>
                    <a:lnTo>
                      <a:pt x="5312084" y="0"/>
                    </a:lnTo>
                    <a:lnTo>
                      <a:pt x="5312084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200000" r="-100000" t="200000" b="-100000"/>
                </a:path>
                <a:tileRect r="-300000" l="0" b="-300000" t="0"/>
              </a:gradFill>
              <a:ln w="6350" cap="sq">
                <a:solidFill>
                  <a:srgbClr val="C5CED8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5312080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098"/>
                  </a:lnSpc>
                  <a:spcBef>
                    <a:spcPct val="0"/>
                  </a:spcBef>
                </a:pPr>
                <a:r>
                  <a:rPr lang="en-US" b="true" sz="1749" strike="noStrike" u="non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KPI &amp; Performance Detail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418747" y="0"/>
              <a:ext cx="2087321" cy="685388"/>
              <a:chOff x="0" y="0"/>
              <a:chExt cx="2087321" cy="68538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087323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0" b="-4084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2087321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May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506068" y="0"/>
              <a:ext cx="2087321" cy="685388"/>
              <a:chOff x="0" y="0"/>
              <a:chExt cx="2087321" cy="68538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087323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0" b="-4084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2087321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June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9593390" y="0"/>
              <a:ext cx="2087321" cy="685388"/>
              <a:chOff x="0" y="0"/>
              <a:chExt cx="2087321" cy="68538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087323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0" b="-4084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2087321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July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1680711" y="0"/>
              <a:ext cx="2087321" cy="685388"/>
              <a:chOff x="0" y="0"/>
              <a:chExt cx="2087321" cy="68538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087323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0" b="-4084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0"/>
                <a:ext cx="2087321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August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768032" y="0"/>
              <a:ext cx="2087880" cy="685388"/>
              <a:chOff x="0" y="0"/>
              <a:chExt cx="2087880" cy="68538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087881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26" b="-4084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2087880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September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5855912" y="0"/>
              <a:ext cx="2087880" cy="685388"/>
              <a:chOff x="0" y="0"/>
              <a:chExt cx="2087880" cy="68538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087881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26" b="-4084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0"/>
                <a:ext cx="2087880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October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7942687" y="0"/>
              <a:ext cx="2087321" cy="685388"/>
              <a:chOff x="0" y="0"/>
              <a:chExt cx="2087321" cy="68538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087323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0" b="-4084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0"/>
                <a:ext cx="2087321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November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20030008" y="0"/>
              <a:ext cx="2087321" cy="685388"/>
              <a:chOff x="0" y="0"/>
              <a:chExt cx="2087321" cy="68538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087323" cy="685387"/>
              </a:xfrm>
              <a:custGeom>
                <a:avLst/>
                <a:gdLst/>
                <a:ahLst/>
                <a:cxnLst/>
                <a:rect r="r" b="b" t="t" l="l"/>
                <a:pathLst>
                  <a:path h="685387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685387"/>
                    </a:lnTo>
                    <a:lnTo>
                      <a:pt x="0" y="68538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4597" r="0" b="-4084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2087321" cy="685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sz="1749" b="true">
                    <a:solidFill>
                      <a:srgbClr val="FFFFF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December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685388"/>
              <a:ext cx="22117329" cy="554268"/>
              <a:chOff x="0" y="0"/>
              <a:chExt cx="22117329" cy="55426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DCE2EF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685388"/>
              <a:ext cx="22117329" cy="554270"/>
              <a:chOff x="0" y="0"/>
              <a:chExt cx="22117329" cy="55427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211733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2117331">
                    <a:moveTo>
                      <a:pt x="0" y="0"/>
                    </a:moveTo>
                    <a:lnTo>
                      <a:pt x="22117331" y="0"/>
                    </a:lnTo>
                    <a:lnTo>
                      <a:pt x="2211733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732776" r="0" b="-722262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0"/>
                <a:ext cx="22117329" cy="5542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b="true" sz="1749" spc="96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I.  CLIENTS, CUMULATIVE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1239656"/>
              <a:ext cx="22117329" cy="554268"/>
              <a:chOff x="0" y="0"/>
              <a:chExt cx="22117329" cy="554268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240005" y="1239656"/>
              <a:ext cx="5072075" cy="554270"/>
              <a:chOff x="0" y="0"/>
              <a:chExt cx="5072075" cy="55427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Achieved / Current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5418747" y="1239656"/>
              <a:ext cx="2087321" cy="554270"/>
              <a:chOff x="0" y="0"/>
              <a:chExt cx="2087321" cy="55427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11</a:t>
                </a: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7506068" y="1239656"/>
              <a:ext cx="2087321" cy="554270"/>
              <a:chOff x="0" y="0"/>
              <a:chExt cx="2087321" cy="55427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24</a:t>
                </a: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9593390" y="1239656"/>
              <a:ext cx="2087321" cy="554270"/>
              <a:chOff x="0" y="0"/>
              <a:chExt cx="2087321" cy="55427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33</a:t>
                </a: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11680711" y="1239656"/>
              <a:ext cx="2087321" cy="554270"/>
              <a:chOff x="0" y="0"/>
              <a:chExt cx="2087321" cy="55427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47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3768032" y="1239656"/>
              <a:ext cx="2087880" cy="554270"/>
              <a:chOff x="0" y="0"/>
              <a:chExt cx="2087880" cy="55427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52</a:t>
                </a: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1793925"/>
              <a:ext cx="22117329" cy="554268"/>
              <a:chOff x="0" y="0"/>
              <a:chExt cx="22117329" cy="554268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240005" y="1793925"/>
              <a:ext cx="5072075" cy="554270"/>
              <a:chOff x="0" y="0"/>
              <a:chExt cx="5072075" cy="55427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Target / Projected</a:t>
                </a: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5418747" y="1793925"/>
              <a:ext cx="2087321" cy="554270"/>
              <a:chOff x="0" y="0"/>
              <a:chExt cx="2087321" cy="55427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20</a:t>
                </a: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7506068" y="1793925"/>
              <a:ext cx="2087321" cy="554270"/>
              <a:chOff x="0" y="0"/>
              <a:chExt cx="2087321" cy="55427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24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9593390" y="1793925"/>
              <a:ext cx="2087321" cy="554270"/>
              <a:chOff x="0" y="0"/>
              <a:chExt cx="2087321" cy="55427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28</a:t>
                </a: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11680711" y="1793925"/>
              <a:ext cx="2087321" cy="554270"/>
              <a:chOff x="0" y="0"/>
              <a:chExt cx="2087321" cy="55427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33</a:t>
                </a: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0">
              <a:off x="13768032" y="1793925"/>
              <a:ext cx="2087880" cy="554270"/>
              <a:chOff x="0" y="0"/>
              <a:chExt cx="2087880" cy="55427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39</a:t>
                </a: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15855912" y="1793925"/>
              <a:ext cx="2087880" cy="554270"/>
              <a:chOff x="0" y="0"/>
              <a:chExt cx="2087880" cy="55427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46</a:t>
                </a: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17942687" y="1793925"/>
              <a:ext cx="2087321" cy="554270"/>
              <a:chOff x="0" y="0"/>
              <a:chExt cx="2087321" cy="554270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54</a:t>
                </a: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20030008" y="1793925"/>
              <a:ext cx="2087321" cy="554270"/>
              <a:chOff x="0" y="0"/>
              <a:chExt cx="2087321" cy="55427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64</a:t>
                </a:r>
              </a:p>
            </p:txBody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0" y="2348193"/>
              <a:ext cx="22117329" cy="554268"/>
              <a:chOff x="0" y="0"/>
              <a:chExt cx="22117329" cy="554268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0" y="2305555"/>
              <a:ext cx="22117329" cy="63500"/>
              <a:chOff x="0" y="0"/>
              <a:chExt cx="22117329" cy="6350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22117304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E3E8F2"/>
              </a:solidFill>
            </p:spPr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240005" y="2348193"/>
              <a:ext cx="5072075" cy="554270"/>
              <a:chOff x="0" y="0"/>
              <a:chExt cx="5072075" cy="55427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b="true" sz="1689" i="true">
                    <a:solidFill>
                      <a:srgbClr val="132257"/>
                    </a:solidFill>
                    <a:latin typeface="Exo 2 Bold Italics"/>
                    <a:ea typeface="Exo 2 Bold Italics"/>
                    <a:cs typeface="Exo 2 Bold Italics"/>
                    <a:sym typeface="Exo 2 Bold Italics"/>
                  </a:rPr>
                  <a:t>Performance Gap</a:t>
                </a: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5418747" y="2348193"/>
              <a:ext cx="2087321" cy="554270"/>
              <a:chOff x="0" y="0"/>
              <a:chExt cx="2087321" cy="55427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-9</a:t>
                </a: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7506068" y="2348193"/>
              <a:ext cx="2087321" cy="554270"/>
              <a:chOff x="0" y="0"/>
              <a:chExt cx="2087321" cy="55427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+0</a:t>
                </a: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93390" y="2348193"/>
              <a:ext cx="2087321" cy="554270"/>
              <a:chOff x="0" y="0"/>
              <a:chExt cx="2087321" cy="55427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+5</a:t>
                </a: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11680711" y="2348193"/>
              <a:ext cx="2087321" cy="554270"/>
              <a:chOff x="0" y="0"/>
              <a:chExt cx="2087321" cy="55427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+14</a:t>
                </a: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13768032" y="2348193"/>
              <a:ext cx="2087880" cy="554270"/>
              <a:chOff x="0" y="0"/>
              <a:chExt cx="2087880" cy="55427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+13</a:t>
                </a: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0" y="2902461"/>
              <a:ext cx="22117329" cy="554268"/>
              <a:chOff x="0" y="0"/>
              <a:chExt cx="22117329" cy="554268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DCE2EF"/>
              </a:solidFill>
            </p:spPr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0" y="2902461"/>
              <a:ext cx="22117329" cy="554270"/>
              <a:chOff x="0" y="0"/>
              <a:chExt cx="22117329" cy="554270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211733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2117331">
                    <a:moveTo>
                      <a:pt x="0" y="0"/>
                    </a:moveTo>
                    <a:lnTo>
                      <a:pt x="22117331" y="0"/>
                    </a:lnTo>
                    <a:lnTo>
                      <a:pt x="2211733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732776" r="0" b="-722262"/>
                </a:stretch>
              </a:blipFill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0"/>
                <a:ext cx="22117329" cy="5542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b="true" sz="1749" spc="96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II.  NUMBER OF TRADES</a:t>
                </a:r>
              </a:p>
            </p:txBody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0" y="3456744"/>
              <a:ext cx="22117329" cy="554268"/>
              <a:chOff x="0" y="0"/>
              <a:chExt cx="22117329" cy="554268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240005" y="3456744"/>
              <a:ext cx="5072075" cy="554270"/>
              <a:chOff x="0" y="0"/>
              <a:chExt cx="5072075" cy="554270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133" id="133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Achieved / Current</a:t>
                </a:r>
              </a:p>
            </p:txBody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5418747" y="3456744"/>
              <a:ext cx="2087321" cy="554270"/>
              <a:chOff x="0" y="0"/>
              <a:chExt cx="2087321" cy="554270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36" id="136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8</a:t>
                </a:r>
              </a:p>
            </p:txBody>
          </p:sp>
        </p:grpSp>
        <p:grpSp>
          <p:nvGrpSpPr>
            <p:cNvPr name="Group 137" id="137"/>
            <p:cNvGrpSpPr/>
            <p:nvPr/>
          </p:nvGrpSpPr>
          <p:grpSpPr>
            <a:xfrm rot="0">
              <a:off x="7506068" y="3456744"/>
              <a:ext cx="2087321" cy="554270"/>
              <a:chOff x="0" y="0"/>
              <a:chExt cx="2087321" cy="554270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39" id="139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17</a:t>
                </a:r>
              </a:p>
            </p:txBody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9593390" y="3456744"/>
              <a:ext cx="2087321" cy="554270"/>
              <a:chOff x="0" y="0"/>
              <a:chExt cx="2087321" cy="554270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5</a:t>
                </a:r>
              </a:p>
            </p:txBody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11680711" y="3456744"/>
              <a:ext cx="2087321" cy="554270"/>
              <a:chOff x="0" y="0"/>
              <a:chExt cx="2087321" cy="554270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16</a:t>
                </a: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13768032" y="3456744"/>
              <a:ext cx="2087880" cy="554270"/>
              <a:chOff x="0" y="0"/>
              <a:chExt cx="2087880" cy="554270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1</a:t>
                </a:r>
              </a:p>
            </p:txBody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0" y="4011012"/>
              <a:ext cx="22117329" cy="554268"/>
              <a:chOff x="0" y="0"/>
              <a:chExt cx="22117329" cy="554268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240005" y="4011012"/>
              <a:ext cx="5072075" cy="554270"/>
              <a:chOff x="0" y="0"/>
              <a:chExt cx="5072075" cy="55427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Target / Projected</a:t>
                </a: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5418747" y="4011012"/>
              <a:ext cx="2087321" cy="554270"/>
              <a:chOff x="0" y="0"/>
              <a:chExt cx="2087321" cy="554270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20</a:t>
                </a:r>
              </a:p>
            </p:txBody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7506068" y="4011012"/>
              <a:ext cx="2087321" cy="554270"/>
              <a:chOff x="0" y="0"/>
              <a:chExt cx="2087321" cy="554270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59" id="159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24</a:t>
                </a:r>
              </a:p>
            </p:txBody>
          </p:sp>
        </p:grpSp>
        <p:grpSp>
          <p:nvGrpSpPr>
            <p:cNvPr name="Group 160" id="160"/>
            <p:cNvGrpSpPr/>
            <p:nvPr/>
          </p:nvGrpSpPr>
          <p:grpSpPr>
            <a:xfrm rot="0">
              <a:off x="9593390" y="4011012"/>
              <a:ext cx="2087321" cy="554270"/>
              <a:chOff x="0" y="0"/>
              <a:chExt cx="2087321" cy="554270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62" id="162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28</a:t>
                </a:r>
              </a:p>
            </p:txBody>
          </p:sp>
        </p:grpSp>
        <p:grpSp>
          <p:nvGrpSpPr>
            <p:cNvPr name="Group 163" id="163"/>
            <p:cNvGrpSpPr/>
            <p:nvPr/>
          </p:nvGrpSpPr>
          <p:grpSpPr>
            <a:xfrm rot="0">
              <a:off x="11680711" y="4011012"/>
              <a:ext cx="2087321" cy="554270"/>
              <a:chOff x="0" y="0"/>
              <a:chExt cx="2087321" cy="554270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65" id="165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33</a:t>
                </a:r>
              </a:p>
            </p:txBody>
          </p:sp>
        </p:grpSp>
        <p:grpSp>
          <p:nvGrpSpPr>
            <p:cNvPr name="Group 166" id="166"/>
            <p:cNvGrpSpPr/>
            <p:nvPr/>
          </p:nvGrpSpPr>
          <p:grpSpPr>
            <a:xfrm rot="0">
              <a:off x="13768032" y="4011012"/>
              <a:ext cx="2087880" cy="554270"/>
              <a:chOff x="0" y="0"/>
              <a:chExt cx="2087880" cy="554270"/>
            </a:xfrm>
          </p:grpSpPr>
          <p:sp>
            <p:nvSpPr>
              <p:cNvPr name="Freeform 167" id="167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168" id="168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39</a:t>
                </a:r>
              </a:p>
            </p:txBody>
          </p:sp>
        </p:grpSp>
        <p:grpSp>
          <p:nvGrpSpPr>
            <p:cNvPr name="Group 169" id="169"/>
            <p:cNvGrpSpPr/>
            <p:nvPr/>
          </p:nvGrpSpPr>
          <p:grpSpPr>
            <a:xfrm rot="0">
              <a:off x="15855912" y="4011012"/>
              <a:ext cx="2087880" cy="554270"/>
              <a:chOff x="0" y="0"/>
              <a:chExt cx="2087880" cy="554270"/>
            </a:xfrm>
          </p:grpSpPr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171" id="171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46</a:t>
                </a:r>
              </a:p>
            </p:txBody>
          </p:sp>
        </p:grpSp>
        <p:grpSp>
          <p:nvGrpSpPr>
            <p:cNvPr name="Group 172" id="172"/>
            <p:cNvGrpSpPr/>
            <p:nvPr/>
          </p:nvGrpSpPr>
          <p:grpSpPr>
            <a:xfrm rot="0">
              <a:off x="17942687" y="4011012"/>
              <a:ext cx="2087321" cy="554270"/>
              <a:chOff x="0" y="0"/>
              <a:chExt cx="2087321" cy="554270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74" id="174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54</a:t>
                </a:r>
              </a:p>
            </p:txBody>
          </p:sp>
        </p:grpSp>
        <p:grpSp>
          <p:nvGrpSpPr>
            <p:cNvPr name="Group 175" id="175"/>
            <p:cNvGrpSpPr/>
            <p:nvPr/>
          </p:nvGrpSpPr>
          <p:grpSpPr>
            <a:xfrm rot="0">
              <a:off x="20030008" y="4011012"/>
              <a:ext cx="2087321" cy="554270"/>
              <a:chOff x="0" y="0"/>
              <a:chExt cx="2087321" cy="554270"/>
            </a:xfrm>
          </p:grpSpPr>
          <p:sp>
            <p:nvSpPr>
              <p:cNvPr name="Freeform 176" id="176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77" id="177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64</a:t>
                </a:r>
              </a:p>
            </p:txBody>
          </p:sp>
        </p:grpSp>
        <p:grpSp>
          <p:nvGrpSpPr>
            <p:cNvPr name="Group 178" id="178"/>
            <p:cNvGrpSpPr/>
            <p:nvPr/>
          </p:nvGrpSpPr>
          <p:grpSpPr>
            <a:xfrm rot="0">
              <a:off x="0" y="4565281"/>
              <a:ext cx="22117329" cy="554268"/>
              <a:chOff x="0" y="0"/>
              <a:chExt cx="22117329" cy="554268"/>
            </a:xfrm>
          </p:grpSpPr>
          <p:sp>
            <p:nvSpPr>
              <p:cNvPr name="Freeform 179" id="179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180" id="180"/>
            <p:cNvGrpSpPr/>
            <p:nvPr/>
          </p:nvGrpSpPr>
          <p:grpSpPr>
            <a:xfrm rot="0">
              <a:off x="0" y="4522643"/>
              <a:ext cx="22117329" cy="63500"/>
              <a:chOff x="0" y="0"/>
              <a:chExt cx="22117329" cy="63500"/>
            </a:xfrm>
          </p:grpSpPr>
          <p:sp>
            <p:nvSpPr>
              <p:cNvPr name="Freeform 181" id="181"/>
              <p:cNvSpPr/>
              <p:nvPr/>
            </p:nvSpPr>
            <p:spPr>
              <a:xfrm flipH="false" flipV="false" rot="0">
                <a:off x="0" y="0"/>
                <a:ext cx="22117304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E3E8F2"/>
              </a:solidFill>
            </p:spPr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240005" y="4565281"/>
              <a:ext cx="5072075" cy="554270"/>
              <a:chOff x="0" y="0"/>
              <a:chExt cx="5072075" cy="554270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184" id="184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b="true" sz="1689" i="true">
                    <a:solidFill>
                      <a:srgbClr val="132257"/>
                    </a:solidFill>
                    <a:latin typeface="Exo 2 Bold Italics"/>
                    <a:ea typeface="Exo 2 Bold Italics"/>
                    <a:cs typeface="Exo 2 Bold Italics"/>
                    <a:sym typeface="Exo 2 Bold Italics"/>
                  </a:rPr>
                  <a:t>Performance Gap</a:t>
                </a:r>
              </a:p>
            </p:txBody>
          </p:sp>
        </p:grpSp>
        <p:grpSp>
          <p:nvGrpSpPr>
            <p:cNvPr name="Group 185" id="185"/>
            <p:cNvGrpSpPr/>
            <p:nvPr/>
          </p:nvGrpSpPr>
          <p:grpSpPr>
            <a:xfrm rot="0">
              <a:off x="5418747" y="4565281"/>
              <a:ext cx="2087321" cy="554270"/>
              <a:chOff x="0" y="0"/>
              <a:chExt cx="2087321" cy="554270"/>
            </a:xfrm>
          </p:grpSpPr>
          <p:sp>
            <p:nvSpPr>
              <p:cNvPr name="Freeform 186" id="186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87" id="187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-12</a:t>
                </a:r>
              </a:p>
            </p:txBody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7506068" y="4565281"/>
              <a:ext cx="2087321" cy="554270"/>
              <a:chOff x="0" y="0"/>
              <a:chExt cx="2087321" cy="554270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90" id="190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-7</a:t>
                </a:r>
              </a:p>
            </p:txBody>
          </p:sp>
        </p:grpSp>
        <p:grpSp>
          <p:nvGrpSpPr>
            <p:cNvPr name="Group 191" id="191"/>
            <p:cNvGrpSpPr/>
            <p:nvPr/>
          </p:nvGrpSpPr>
          <p:grpSpPr>
            <a:xfrm rot="0">
              <a:off x="9593390" y="4565281"/>
              <a:ext cx="2087321" cy="554270"/>
              <a:chOff x="0" y="0"/>
              <a:chExt cx="2087321" cy="554270"/>
            </a:xfrm>
          </p:grpSpPr>
          <p:sp>
            <p:nvSpPr>
              <p:cNvPr name="Freeform 192" id="192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93" id="193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-23</a:t>
                </a:r>
              </a:p>
            </p:txBody>
          </p:sp>
        </p:grpSp>
        <p:grpSp>
          <p:nvGrpSpPr>
            <p:cNvPr name="Group 194" id="194"/>
            <p:cNvGrpSpPr/>
            <p:nvPr/>
          </p:nvGrpSpPr>
          <p:grpSpPr>
            <a:xfrm rot="0">
              <a:off x="11680711" y="4565281"/>
              <a:ext cx="2087321" cy="554270"/>
              <a:chOff x="0" y="0"/>
              <a:chExt cx="2087321" cy="554270"/>
            </a:xfrm>
          </p:grpSpPr>
          <p:sp>
            <p:nvSpPr>
              <p:cNvPr name="Freeform 195" id="195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196" id="196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-17</a:t>
                </a:r>
              </a:p>
            </p:txBody>
          </p:sp>
        </p:grpSp>
        <p:grpSp>
          <p:nvGrpSpPr>
            <p:cNvPr name="Group 197" id="197"/>
            <p:cNvGrpSpPr/>
            <p:nvPr/>
          </p:nvGrpSpPr>
          <p:grpSpPr>
            <a:xfrm rot="0">
              <a:off x="13768032" y="4565281"/>
              <a:ext cx="2087880" cy="554270"/>
              <a:chOff x="0" y="0"/>
              <a:chExt cx="2087880" cy="554270"/>
            </a:xfrm>
          </p:grpSpPr>
          <p:sp>
            <p:nvSpPr>
              <p:cNvPr name="Freeform 198" id="198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199" id="199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-38</a:t>
                </a:r>
              </a:p>
            </p:txBody>
          </p:sp>
        </p:grpSp>
        <p:grpSp>
          <p:nvGrpSpPr>
            <p:cNvPr name="Group 200" id="200"/>
            <p:cNvGrpSpPr/>
            <p:nvPr/>
          </p:nvGrpSpPr>
          <p:grpSpPr>
            <a:xfrm rot="0">
              <a:off x="0" y="5119549"/>
              <a:ext cx="22117329" cy="554268"/>
              <a:chOff x="0" y="0"/>
              <a:chExt cx="22117329" cy="554268"/>
            </a:xfrm>
          </p:grpSpPr>
          <p:sp>
            <p:nvSpPr>
              <p:cNvPr name="Freeform 201" id="201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DCE2EF"/>
              </a:solidFill>
            </p:spPr>
          </p:sp>
        </p:grpSp>
        <p:grpSp>
          <p:nvGrpSpPr>
            <p:cNvPr name="Group 202" id="202"/>
            <p:cNvGrpSpPr/>
            <p:nvPr/>
          </p:nvGrpSpPr>
          <p:grpSpPr>
            <a:xfrm rot="0">
              <a:off x="0" y="5119549"/>
              <a:ext cx="22117329" cy="554270"/>
              <a:chOff x="0" y="0"/>
              <a:chExt cx="22117329" cy="554270"/>
            </a:xfrm>
          </p:grpSpPr>
          <p:sp>
            <p:nvSpPr>
              <p:cNvPr name="Freeform 203" id="203"/>
              <p:cNvSpPr/>
              <p:nvPr/>
            </p:nvSpPr>
            <p:spPr>
              <a:xfrm flipH="false" flipV="false" rot="0">
                <a:off x="0" y="0"/>
                <a:ext cx="2211733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2117331">
                    <a:moveTo>
                      <a:pt x="0" y="0"/>
                    </a:moveTo>
                    <a:lnTo>
                      <a:pt x="22117331" y="0"/>
                    </a:lnTo>
                    <a:lnTo>
                      <a:pt x="2211733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732776" r="0" b="-722262"/>
                </a:stretch>
              </a:blipFill>
            </p:spPr>
          </p:sp>
          <p:sp>
            <p:nvSpPr>
              <p:cNvPr name="TextBox 204" id="204"/>
              <p:cNvSpPr txBox="true"/>
              <p:nvPr/>
            </p:nvSpPr>
            <p:spPr>
              <a:xfrm>
                <a:off x="0" y="0"/>
                <a:ext cx="22117329" cy="5542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b="true" sz="1749" spc="96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III.  AVERAGE INVESTMENT PER CLIENT</a:t>
                </a:r>
              </a:p>
            </p:txBody>
          </p:sp>
        </p:grpSp>
        <p:grpSp>
          <p:nvGrpSpPr>
            <p:cNvPr name="Group 205" id="205"/>
            <p:cNvGrpSpPr/>
            <p:nvPr/>
          </p:nvGrpSpPr>
          <p:grpSpPr>
            <a:xfrm rot="0">
              <a:off x="0" y="5673817"/>
              <a:ext cx="22117329" cy="554268"/>
              <a:chOff x="0" y="0"/>
              <a:chExt cx="22117329" cy="554268"/>
            </a:xfrm>
          </p:grpSpPr>
          <p:sp>
            <p:nvSpPr>
              <p:cNvPr name="Freeform 206" id="206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207" id="207"/>
            <p:cNvGrpSpPr/>
            <p:nvPr/>
          </p:nvGrpSpPr>
          <p:grpSpPr>
            <a:xfrm rot="0">
              <a:off x="240005" y="5673817"/>
              <a:ext cx="5072075" cy="554270"/>
              <a:chOff x="0" y="0"/>
              <a:chExt cx="5072075" cy="554270"/>
            </a:xfrm>
          </p:grpSpPr>
          <p:sp>
            <p:nvSpPr>
              <p:cNvPr name="Freeform 208" id="208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209" id="209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Actual / Current</a:t>
                </a:r>
              </a:p>
            </p:txBody>
          </p:sp>
        </p:grpSp>
        <p:grpSp>
          <p:nvGrpSpPr>
            <p:cNvPr name="Group 210" id="210"/>
            <p:cNvGrpSpPr/>
            <p:nvPr/>
          </p:nvGrpSpPr>
          <p:grpSpPr>
            <a:xfrm rot="0">
              <a:off x="5418747" y="5673817"/>
              <a:ext cx="2087321" cy="554270"/>
              <a:chOff x="0" y="0"/>
              <a:chExt cx="2087321" cy="554270"/>
            </a:xfrm>
          </p:grpSpPr>
          <p:sp>
            <p:nvSpPr>
              <p:cNvPr name="Freeform 211" id="211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12" id="212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$364.82</a:t>
                </a:r>
              </a:p>
            </p:txBody>
          </p:sp>
        </p:grpSp>
        <p:grpSp>
          <p:nvGrpSpPr>
            <p:cNvPr name="Group 213" id="213"/>
            <p:cNvGrpSpPr/>
            <p:nvPr/>
          </p:nvGrpSpPr>
          <p:grpSpPr>
            <a:xfrm rot="0">
              <a:off x="7506068" y="5673817"/>
              <a:ext cx="2087321" cy="554270"/>
              <a:chOff x="0" y="0"/>
              <a:chExt cx="2087321" cy="554270"/>
            </a:xfrm>
          </p:grpSpPr>
          <p:sp>
            <p:nvSpPr>
              <p:cNvPr name="Freeform 214" id="214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15" id="215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$329.46</a:t>
                </a:r>
              </a:p>
            </p:txBody>
          </p:sp>
        </p:grpSp>
        <p:grpSp>
          <p:nvGrpSpPr>
            <p:cNvPr name="Group 216" id="216"/>
            <p:cNvGrpSpPr/>
            <p:nvPr/>
          </p:nvGrpSpPr>
          <p:grpSpPr>
            <a:xfrm rot="0">
              <a:off x="9593390" y="5673817"/>
              <a:ext cx="2087321" cy="554270"/>
              <a:chOff x="0" y="0"/>
              <a:chExt cx="2087321" cy="554270"/>
            </a:xfrm>
          </p:grpSpPr>
          <p:sp>
            <p:nvSpPr>
              <p:cNvPr name="Freeform 217" id="217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18" id="218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$261.42</a:t>
                </a:r>
              </a:p>
            </p:txBody>
          </p:sp>
        </p:grpSp>
        <p:grpSp>
          <p:nvGrpSpPr>
            <p:cNvPr name="Group 219" id="219"/>
            <p:cNvGrpSpPr/>
            <p:nvPr/>
          </p:nvGrpSpPr>
          <p:grpSpPr>
            <a:xfrm rot="0">
              <a:off x="11680711" y="5673817"/>
              <a:ext cx="2087321" cy="554270"/>
              <a:chOff x="0" y="0"/>
              <a:chExt cx="2087321" cy="554270"/>
            </a:xfrm>
          </p:grpSpPr>
          <p:sp>
            <p:nvSpPr>
              <p:cNvPr name="Freeform 220" id="220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21" id="221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$212.84</a:t>
                </a:r>
              </a:p>
            </p:txBody>
          </p:sp>
        </p:grpSp>
        <p:grpSp>
          <p:nvGrpSpPr>
            <p:cNvPr name="Group 222" id="222"/>
            <p:cNvGrpSpPr/>
            <p:nvPr/>
          </p:nvGrpSpPr>
          <p:grpSpPr>
            <a:xfrm rot="0">
              <a:off x="13768032" y="5673817"/>
              <a:ext cx="2087880" cy="554270"/>
              <a:chOff x="0" y="0"/>
              <a:chExt cx="2087880" cy="554270"/>
            </a:xfrm>
          </p:grpSpPr>
          <p:sp>
            <p:nvSpPr>
              <p:cNvPr name="Freeform 223" id="223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224" id="224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$196.07</a:t>
                </a:r>
              </a:p>
            </p:txBody>
          </p:sp>
        </p:grpSp>
        <p:grpSp>
          <p:nvGrpSpPr>
            <p:cNvPr name="Group 225" id="225"/>
            <p:cNvGrpSpPr/>
            <p:nvPr/>
          </p:nvGrpSpPr>
          <p:grpSpPr>
            <a:xfrm rot="0">
              <a:off x="0" y="6228086"/>
              <a:ext cx="22117329" cy="554268"/>
              <a:chOff x="0" y="0"/>
              <a:chExt cx="22117329" cy="554268"/>
            </a:xfrm>
          </p:grpSpPr>
          <p:sp>
            <p:nvSpPr>
              <p:cNvPr name="Freeform 226" id="226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27" id="227"/>
            <p:cNvGrpSpPr/>
            <p:nvPr/>
          </p:nvGrpSpPr>
          <p:grpSpPr>
            <a:xfrm rot="0">
              <a:off x="240005" y="6228086"/>
              <a:ext cx="5072075" cy="554270"/>
              <a:chOff x="0" y="0"/>
              <a:chExt cx="5072075" cy="554270"/>
            </a:xfrm>
          </p:grpSpPr>
          <p:sp>
            <p:nvSpPr>
              <p:cNvPr name="Freeform 228" id="228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229" id="229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Target / Projected</a:t>
                </a:r>
              </a:p>
            </p:txBody>
          </p:sp>
        </p:grpSp>
        <p:grpSp>
          <p:nvGrpSpPr>
            <p:cNvPr name="Group 230" id="230"/>
            <p:cNvGrpSpPr/>
            <p:nvPr/>
          </p:nvGrpSpPr>
          <p:grpSpPr>
            <a:xfrm rot="0">
              <a:off x="5418747" y="6228086"/>
              <a:ext cx="2087321" cy="554270"/>
              <a:chOff x="0" y="0"/>
              <a:chExt cx="2087321" cy="554270"/>
            </a:xfrm>
          </p:grpSpPr>
          <p:sp>
            <p:nvSpPr>
              <p:cNvPr name="Freeform 231" id="231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32" id="232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$5,000</a:t>
                </a:r>
              </a:p>
            </p:txBody>
          </p:sp>
        </p:grpSp>
        <p:grpSp>
          <p:nvGrpSpPr>
            <p:cNvPr name="Group 233" id="233"/>
            <p:cNvGrpSpPr/>
            <p:nvPr/>
          </p:nvGrpSpPr>
          <p:grpSpPr>
            <a:xfrm rot="0">
              <a:off x="7506068" y="6228086"/>
              <a:ext cx="2087321" cy="554270"/>
              <a:chOff x="0" y="0"/>
              <a:chExt cx="2087321" cy="554270"/>
            </a:xfrm>
          </p:grpSpPr>
          <p:sp>
            <p:nvSpPr>
              <p:cNvPr name="Freeform 234" id="234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35" id="235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$5,250</a:t>
                </a:r>
              </a:p>
            </p:txBody>
          </p:sp>
        </p:grpSp>
        <p:grpSp>
          <p:nvGrpSpPr>
            <p:cNvPr name="Group 236" id="236"/>
            <p:cNvGrpSpPr/>
            <p:nvPr/>
          </p:nvGrpSpPr>
          <p:grpSpPr>
            <a:xfrm rot="0">
              <a:off x="9593390" y="6228086"/>
              <a:ext cx="2087321" cy="554270"/>
              <a:chOff x="0" y="0"/>
              <a:chExt cx="2087321" cy="554270"/>
            </a:xfrm>
          </p:grpSpPr>
          <p:sp>
            <p:nvSpPr>
              <p:cNvPr name="Freeform 237" id="237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38" id="238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$5,513</a:t>
                </a:r>
              </a:p>
            </p:txBody>
          </p:sp>
        </p:grpSp>
        <p:grpSp>
          <p:nvGrpSpPr>
            <p:cNvPr name="Group 239" id="239"/>
            <p:cNvGrpSpPr/>
            <p:nvPr/>
          </p:nvGrpSpPr>
          <p:grpSpPr>
            <a:xfrm rot="0">
              <a:off x="11680711" y="6228086"/>
              <a:ext cx="2087321" cy="554270"/>
              <a:chOff x="0" y="0"/>
              <a:chExt cx="2087321" cy="554270"/>
            </a:xfrm>
          </p:grpSpPr>
          <p:sp>
            <p:nvSpPr>
              <p:cNvPr name="Freeform 240" id="240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41" id="241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$5,788</a:t>
                </a:r>
              </a:p>
            </p:txBody>
          </p:sp>
        </p:grpSp>
        <p:grpSp>
          <p:nvGrpSpPr>
            <p:cNvPr name="Group 242" id="242"/>
            <p:cNvGrpSpPr/>
            <p:nvPr/>
          </p:nvGrpSpPr>
          <p:grpSpPr>
            <a:xfrm rot="0">
              <a:off x="13768032" y="6228086"/>
              <a:ext cx="2087880" cy="554270"/>
              <a:chOff x="0" y="0"/>
              <a:chExt cx="2087880" cy="554270"/>
            </a:xfrm>
          </p:grpSpPr>
          <p:sp>
            <p:nvSpPr>
              <p:cNvPr name="Freeform 243" id="243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244" id="244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$6,078</a:t>
                </a:r>
              </a:p>
            </p:txBody>
          </p:sp>
        </p:grpSp>
        <p:grpSp>
          <p:nvGrpSpPr>
            <p:cNvPr name="Group 245" id="245"/>
            <p:cNvGrpSpPr/>
            <p:nvPr/>
          </p:nvGrpSpPr>
          <p:grpSpPr>
            <a:xfrm rot="0">
              <a:off x="15855912" y="6228086"/>
              <a:ext cx="2087880" cy="554270"/>
              <a:chOff x="0" y="0"/>
              <a:chExt cx="2087880" cy="554270"/>
            </a:xfrm>
          </p:grpSpPr>
          <p:sp>
            <p:nvSpPr>
              <p:cNvPr name="Freeform 246" id="246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247" id="247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$6,381</a:t>
                </a:r>
              </a:p>
            </p:txBody>
          </p:sp>
        </p:grpSp>
        <p:grpSp>
          <p:nvGrpSpPr>
            <p:cNvPr name="Group 248" id="248"/>
            <p:cNvGrpSpPr/>
            <p:nvPr/>
          </p:nvGrpSpPr>
          <p:grpSpPr>
            <a:xfrm rot="0">
              <a:off x="17942687" y="6228086"/>
              <a:ext cx="2087321" cy="554270"/>
              <a:chOff x="0" y="0"/>
              <a:chExt cx="2087321" cy="554270"/>
            </a:xfrm>
          </p:grpSpPr>
          <p:sp>
            <p:nvSpPr>
              <p:cNvPr name="Freeform 249" id="249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50" id="250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$6,700</a:t>
                </a:r>
              </a:p>
            </p:txBody>
          </p:sp>
        </p:grpSp>
        <p:grpSp>
          <p:nvGrpSpPr>
            <p:cNvPr name="Group 251" id="251"/>
            <p:cNvGrpSpPr/>
            <p:nvPr/>
          </p:nvGrpSpPr>
          <p:grpSpPr>
            <a:xfrm rot="0">
              <a:off x="20030008" y="6228086"/>
              <a:ext cx="2087321" cy="554270"/>
              <a:chOff x="0" y="0"/>
              <a:chExt cx="2087321" cy="554270"/>
            </a:xfrm>
          </p:grpSpPr>
          <p:sp>
            <p:nvSpPr>
              <p:cNvPr name="Freeform 252" id="252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53" id="253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$7,036</a:t>
                </a:r>
              </a:p>
            </p:txBody>
          </p:sp>
        </p:grpSp>
        <p:grpSp>
          <p:nvGrpSpPr>
            <p:cNvPr name="Group 254" id="254"/>
            <p:cNvGrpSpPr/>
            <p:nvPr/>
          </p:nvGrpSpPr>
          <p:grpSpPr>
            <a:xfrm rot="0">
              <a:off x="0" y="6782354"/>
              <a:ext cx="22117329" cy="554268"/>
              <a:chOff x="0" y="0"/>
              <a:chExt cx="22117329" cy="554268"/>
            </a:xfrm>
          </p:grpSpPr>
          <p:sp>
            <p:nvSpPr>
              <p:cNvPr name="Freeform 255" id="255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256" id="256"/>
            <p:cNvGrpSpPr/>
            <p:nvPr/>
          </p:nvGrpSpPr>
          <p:grpSpPr>
            <a:xfrm rot="0">
              <a:off x="0" y="6739716"/>
              <a:ext cx="22117329" cy="63500"/>
              <a:chOff x="0" y="0"/>
              <a:chExt cx="22117329" cy="63500"/>
            </a:xfrm>
          </p:grpSpPr>
          <p:sp>
            <p:nvSpPr>
              <p:cNvPr name="Freeform 257" id="257"/>
              <p:cNvSpPr/>
              <p:nvPr/>
            </p:nvSpPr>
            <p:spPr>
              <a:xfrm flipH="false" flipV="false" rot="0">
                <a:off x="0" y="0"/>
                <a:ext cx="22117304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E3E8F2"/>
              </a:solidFill>
            </p:spPr>
          </p:sp>
        </p:grpSp>
        <p:grpSp>
          <p:nvGrpSpPr>
            <p:cNvPr name="Group 258" id="258"/>
            <p:cNvGrpSpPr/>
            <p:nvPr/>
          </p:nvGrpSpPr>
          <p:grpSpPr>
            <a:xfrm rot="0">
              <a:off x="240005" y="6782354"/>
              <a:ext cx="5072075" cy="554270"/>
              <a:chOff x="0" y="0"/>
              <a:chExt cx="5072075" cy="554270"/>
            </a:xfrm>
          </p:grpSpPr>
          <p:sp>
            <p:nvSpPr>
              <p:cNvPr name="Freeform 259" id="259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260" id="260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b="true" sz="1689" i="true">
                    <a:solidFill>
                      <a:srgbClr val="132257"/>
                    </a:solidFill>
                    <a:latin typeface="Exo 2 Bold Italics"/>
                    <a:ea typeface="Exo 2 Bold Italics"/>
                    <a:cs typeface="Exo 2 Bold Italics"/>
                    <a:sym typeface="Exo 2 Bold Italics"/>
                  </a:rPr>
                  <a:t>Performance Gap</a:t>
                </a:r>
              </a:p>
            </p:txBody>
          </p:sp>
        </p:grpSp>
        <p:grpSp>
          <p:nvGrpSpPr>
            <p:cNvPr name="Group 261" id="261"/>
            <p:cNvGrpSpPr/>
            <p:nvPr/>
          </p:nvGrpSpPr>
          <p:grpSpPr>
            <a:xfrm rot="0">
              <a:off x="5418747" y="6782354"/>
              <a:ext cx="2087321" cy="554270"/>
              <a:chOff x="0" y="0"/>
              <a:chExt cx="2087321" cy="554270"/>
            </a:xfrm>
          </p:grpSpPr>
          <p:sp>
            <p:nvSpPr>
              <p:cNvPr name="Freeform 262" id="262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63" id="263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-$4,635.18</a:t>
                </a:r>
              </a:p>
            </p:txBody>
          </p:sp>
        </p:grpSp>
        <p:grpSp>
          <p:nvGrpSpPr>
            <p:cNvPr name="Group 264" id="264"/>
            <p:cNvGrpSpPr/>
            <p:nvPr/>
          </p:nvGrpSpPr>
          <p:grpSpPr>
            <a:xfrm rot="0">
              <a:off x="7506068" y="6782354"/>
              <a:ext cx="2087321" cy="554270"/>
              <a:chOff x="0" y="0"/>
              <a:chExt cx="2087321" cy="554270"/>
            </a:xfrm>
          </p:grpSpPr>
          <p:sp>
            <p:nvSpPr>
              <p:cNvPr name="Freeform 265" id="265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66" id="266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-$4,920.54</a:t>
                </a:r>
              </a:p>
            </p:txBody>
          </p:sp>
        </p:grpSp>
        <p:grpSp>
          <p:nvGrpSpPr>
            <p:cNvPr name="Group 267" id="267"/>
            <p:cNvGrpSpPr/>
            <p:nvPr/>
          </p:nvGrpSpPr>
          <p:grpSpPr>
            <a:xfrm rot="0">
              <a:off x="9593390" y="6782354"/>
              <a:ext cx="2087321" cy="554270"/>
              <a:chOff x="0" y="0"/>
              <a:chExt cx="2087321" cy="554270"/>
            </a:xfrm>
          </p:grpSpPr>
          <p:sp>
            <p:nvSpPr>
              <p:cNvPr name="Freeform 268" id="268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69" id="269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-$5,251.58</a:t>
                </a:r>
              </a:p>
            </p:txBody>
          </p:sp>
        </p:grpSp>
        <p:grpSp>
          <p:nvGrpSpPr>
            <p:cNvPr name="Group 270" id="270"/>
            <p:cNvGrpSpPr/>
            <p:nvPr/>
          </p:nvGrpSpPr>
          <p:grpSpPr>
            <a:xfrm rot="0">
              <a:off x="11680711" y="6782354"/>
              <a:ext cx="2087321" cy="554270"/>
              <a:chOff x="0" y="0"/>
              <a:chExt cx="2087321" cy="554270"/>
            </a:xfrm>
          </p:grpSpPr>
          <p:sp>
            <p:nvSpPr>
              <p:cNvPr name="Freeform 271" id="271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72" id="272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-$5,575.16</a:t>
                </a:r>
              </a:p>
            </p:txBody>
          </p:sp>
        </p:grpSp>
        <p:grpSp>
          <p:nvGrpSpPr>
            <p:cNvPr name="Group 273" id="273"/>
            <p:cNvGrpSpPr/>
            <p:nvPr/>
          </p:nvGrpSpPr>
          <p:grpSpPr>
            <a:xfrm rot="0">
              <a:off x="13768032" y="6782354"/>
              <a:ext cx="2087880" cy="554270"/>
              <a:chOff x="0" y="0"/>
              <a:chExt cx="2087880" cy="554270"/>
            </a:xfrm>
          </p:grpSpPr>
          <p:sp>
            <p:nvSpPr>
              <p:cNvPr name="Freeform 274" id="274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275" id="275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-$5,881.93</a:t>
                </a:r>
              </a:p>
            </p:txBody>
          </p:sp>
        </p:grpSp>
        <p:grpSp>
          <p:nvGrpSpPr>
            <p:cNvPr name="Group 276" id="276"/>
            <p:cNvGrpSpPr/>
            <p:nvPr/>
          </p:nvGrpSpPr>
          <p:grpSpPr>
            <a:xfrm rot="0">
              <a:off x="0" y="7336622"/>
              <a:ext cx="22117329" cy="554268"/>
              <a:chOff x="0" y="0"/>
              <a:chExt cx="22117329" cy="554268"/>
            </a:xfrm>
          </p:grpSpPr>
          <p:sp>
            <p:nvSpPr>
              <p:cNvPr name="Freeform 277" id="277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DCE2EF"/>
              </a:solidFill>
            </p:spPr>
          </p:sp>
        </p:grpSp>
        <p:grpSp>
          <p:nvGrpSpPr>
            <p:cNvPr name="Group 278" id="278"/>
            <p:cNvGrpSpPr/>
            <p:nvPr/>
          </p:nvGrpSpPr>
          <p:grpSpPr>
            <a:xfrm rot="0">
              <a:off x="0" y="7336622"/>
              <a:ext cx="22117329" cy="554270"/>
              <a:chOff x="0" y="0"/>
              <a:chExt cx="22117329" cy="554270"/>
            </a:xfrm>
          </p:grpSpPr>
          <p:sp>
            <p:nvSpPr>
              <p:cNvPr name="Freeform 279" id="279"/>
              <p:cNvSpPr/>
              <p:nvPr/>
            </p:nvSpPr>
            <p:spPr>
              <a:xfrm flipH="false" flipV="false" rot="0">
                <a:off x="0" y="0"/>
                <a:ext cx="2211733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2117331">
                    <a:moveTo>
                      <a:pt x="0" y="0"/>
                    </a:moveTo>
                    <a:lnTo>
                      <a:pt x="22117331" y="0"/>
                    </a:lnTo>
                    <a:lnTo>
                      <a:pt x="2211733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732776" r="0" b="-722262"/>
                </a:stretch>
              </a:blipFill>
            </p:spPr>
          </p:sp>
          <p:sp>
            <p:nvSpPr>
              <p:cNvPr name="TextBox 280" id="280"/>
              <p:cNvSpPr txBox="true"/>
              <p:nvPr/>
            </p:nvSpPr>
            <p:spPr>
              <a:xfrm>
                <a:off x="0" y="0"/>
                <a:ext cx="22117329" cy="5542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99"/>
                  </a:lnSpc>
                </a:pPr>
                <a:r>
                  <a:rPr lang="en-US" b="true" sz="1749" spc="96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IV.  TOTAL DEPOSITS, CUMULATIVE</a:t>
                </a:r>
              </a:p>
            </p:txBody>
          </p:sp>
        </p:grpSp>
        <p:grpSp>
          <p:nvGrpSpPr>
            <p:cNvPr name="Group 281" id="281"/>
            <p:cNvGrpSpPr/>
            <p:nvPr/>
          </p:nvGrpSpPr>
          <p:grpSpPr>
            <a:xfrm rot="0">
              <a:off x="0" y="7890905"/>
              <a:ext cx="22117329" cy="554268"/>
              <a:chOff x="0" y="0"/>
              <a:chExt cx="22117329" cy="554268"/>
            </a:xfrm>
          </p:grpSpPr>
          <p:sp>
            <p:nvSpPr>
              <p:cNvPr name="Freeform 282" id="282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283" id="283"/>
            <p:cNvGrpSpPr/>
            <p:nvPr/>
          </p:nvGrpSpPr>
          <p:grpSpPr>
            <a:xfrm rot="0">
              <a:off x="240005" y="7890905"/>
              <a:ext cx="5072075" cy="554270"/>
              <a:chOff x="0" y="0"/>
              <a:chExt cx="5072075" cy="554270"/>
            </a:xfrm>
          </p:grpSpPr>
          <p:sp>
            <p:nvSpPr>
              <p:cNvPr name="Freeform 284" id="284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285" id="285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Achieved / Current</a:t>
                </a:r>
              </a:p>
            </p:txBody>
          </p:sp>
        </p:grpSp>
        <p:grpSp>
          <p:nvGrpSpPr>
            <p:cNvPr name="Group 286" id="286"/>
            <p:cNvGrpSpPr/>
            <p:nvPr/>
          </p:nvGrpSpPr>
          <p:grpSpPr>
            <a:xfrm rot="0">
              <a:off x="5418747" y="7890905"/>
              <a:ext cx="2087321" cy="554270"/>
              <a:chOff x="0" y="0"/>
              <a:chExt cx="2087321" cy="554270"/>
            </a:xfrm>
          </p:grpSpPr>
          <p:sp>
            <p:nvSpPr>
              <p:cNvPr name="Freeform 287" id="287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88" id="288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$4,012.99</a:t>
                </a:r>
              </a:p>
            </p:txBody>
          </p:sp>
        </p:grpSp>
        <p:grpSp>
          <p:nvGrpSpPr>
            <p:cNvPr name="Group 289" id="289"/>
            <p:cNvGrpSpPr/>
            <p:nvPr/>
          </p:nvGrpSpPr>
          <p:grpSpPr>
            <a:xfrm rot="0">
              <a:off x="7506068" y="7890905"/>
              <a:ext cx="2087321" cy="554270"/>
              <a:chOff x="0" y="0"/>
              <a:chExt cx="2087321" cy="554270"/>
            </a:xfrm>
          </p:grpSpPr>
          <p:sp>
            <p:nvSpPr>
              <p:cNvPr name="Freeform 290" id="290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91" id="291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$7,907.15</a:t>
                </a:r>
              </a:p>
            </p:txBody>
          </p:sp>
        </p:grpSp>
        <p:grpSp>
          <p:nvGrpSpPr>
            <p:cNvPr name="Group 292" id="292"/>
            <p:cNvGrpSpPr/>
            <p:nvPr/>
          </p:nvGrpSpPr>
          <p:grpSpPr>
            <a:xfrm rot="0">
              <a:off x="9593390" y="7890905"/>
              <a:ext cx="2087321" cy="554270"/>
              <a:chOff x="0" y="0"/>
              <a:chExt cx="2087321" cy="554270"/>
            </a:xfrm>
          </p:grpSpPr>
          <p:sp>
            <p:nvSpPr>
              <p:cNvPr name="Freeform 293" id="293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94" id="294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$8,626.91</a:t>
                </a:r>
              </a:p>
            </p:txBody>
          </p:sp>
        </p:grpSp>
        <p:grpSp>
          <p:nvGrpSpPr>
            <p:cNvPr name="Group 295" id="295"/>
            <p:cNvGrpSpPr/>
            <p:nvPr/>
          </p:nvGrpSpPr>
          <p:grpSpPr>
            <a:xfrm rot="0">
              <a:off x="11680711" y="7890905"/>
              <a:ext cx="2087321" cy="554270"/>
              <a:chOff x="0" y="0"/>
              <a:chExt cx="2087321" cy="554270"/>
            </a:xfrm>
          </p:grpSpPr>
          <p:sp>
            <p:nvSpPr>
              <p:cNvPr name="Freeform 296" id="296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297" id="297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$10,003.60</a:t>
                </a:r>
              </a:p>
            </p:txBody>
          </p:sp>
        </p:grpSp>
        <p:grpSp>
          <p:nvGrpSpPr>
            <p:cNvPr name="Group 298" id="298"/>
            <p:cNvGrpSpPr/>
            <p:nvPr/>
          </p:nvGrpSpPr>
          <p:grpSpPr>
            <a:xfrm rot="0">
              <a:off x="13768032" y="7890905"/>
              <a:ext cx="2087880" cy="554270"/>
              <a:chOff x="0" y="0"/>
              <a:chExt cx="2087880" cy="554270"/>
            </a:xfrm>
          </p:grpSpPr>
          <p:sp>
            <p:nvSpPr>
              <p:cNvPr name="Freeform 299" id="299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300" id="300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$10,195.88</a:t>
                </a:r>
              </a:p>
            </p:txBody>
          </p:sp>
        </p:grpSp>
        <p:grpSp>
          <p:nvGrpSpPr>
            <p:cNvPr name="Group 301" id="301"/>
            <p:cNvGrpSpPr/>
            <p:nvPr/>
          </p:nvGrpSpPr>
          <p:grpSpPr>
            <a:xfrm rot="0">
              <a:off x="0" y="8445173"/>
              <a:ext cx="22117329" cy="554268"/>
              <a:chOff x="0" y="0"/>
              <a:chExt cx="22117329" cy="554268"/>
            </a:xfrm>
          </p:grpSpPr>
          <p:sp>
            <p:nvSpPr>
              <p:cNvPr name="Freeform 302" id="302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3" id="303"/>
            <p:cNvGrpSpPr/>
            <p:nvPr/>
          </p:nvGrpSpPr>
          <p:grpSpPr>
            <a:xfrm rot="0">
              <a:off x="240005" y="8445173"/>
              <a:ext cx="5072075" cy="554270"/>
              <a:chOff x="0" y="0"/>
              <a:chExt cx="5072075" cy="554270"/>
            </a:xfrm>
          </p:grpSpPr>
          <p:sp>
            <p:nvSpPr>
              <p:cNvPr name="Freeform 304" id="304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305" id="305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Target / Projected</a:t>
                </a:r>
              </a:p>
            </p:txBody>
          </p:sp>
        </p:grpSp>
        <p:grpSp>
          <p:nvGrpSpPr>
            <p:cNvPr name="Group 306" id="306"/>
            <p:cNvGrpSpPr/>
            <p:nvPr/>
          </p:nvGrpSpPr>
          <p:grpSpPr>
            <a:xfrm rot="0">
              <a:off x="5418747" y="8445173"/>
              <a:ext cx="2087321" cy="554270"/>
              <a:chOff x="0" y="0"/>
              <a:chExt cx="2087321" cy="554270"/>
            </a:xfrm>
          </p:grpSpPr>
          <p:sp>
            <p:nvSpPr>
              <p:cNvPr name="Freeform 307" id="307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08" id="308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$100,000</a:t>
                </a:r>
              </a:p>
            </p:txBody>
          </p:sp>
        </p:grpSp>
        <p:grpSp>
          <p:nvGrpSpPr>
            <p:cNvPr name="Group 309" id="309"/>
            <p:cNvGrpSpPr/>
            <p:nvPr/>
          </p:nvGrpSpPr>
          <p:grpSpPr>
            <a:xfrm rot="0">
              <a:off x="7506068" y="8445173"/>
              <a:ext cx="2087321" cy="554270"/>
              <a:chOff x="0" y="0"/>
              <a:chExt cx="2087321" cy="554270"/>
            </a:xfrm>
          </p:grpSpPr>
          <p:sp>
            <p:nvSpPr>
              <p:cNvPr name="Freeform 310" id="310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11" id="311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$123,900</a:t>
                </a:r>
              </a:p>
            </p:txBody>
          </p:sp>
        </p:grpSp>
        <p:grpSp>
          <p:nvGrpSpPr>
            <p:cNvPr name="Group 312" id="312"/>
            <p:cNvGrpSpPr/>
            <p:nvPr/>
          </p:nvGrpSpPr>
          <p:grpSpPr>
            <a:xfrm rot="0">
              <a:off x="9593390" y="8445173"/>
              <a:ext cx="2087321" cy="554270"/>
              <a:chOff x="0" y="0"/>
              <a:chExt cx="2087321" cy="554270"/>
            </a:xfrm>
          </p:grpSpPr>
          <p:sp>
            <p:nvSpPr>
              <p:cNvPr name="Freeform 313" id="313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14" id="314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$153,512</a:t>
                </a:r>
              </a:p>
            </p:txBody>
          </p:sp>
        </p:grpSp>
        <p:grpSp>
          <p:nvGrpSpPr>
            <p:cNvPr name="Group 315" id="315"/>
            <p:cNvGrpSpPr/>
            <p:nvPr/>
          </p:nvGrpSpPr>
          <p:grpSpPr>
            <a:xfrm rot="0">
              <a:off x="11680711" y="8445173"/>
              <a:ext cx="2087321" cy="554270"/>
              <a:chOff x="0" y="0"/>
              <a:chExt cx="2087321" cy="554270"/>
            </a:xfrm>
          </p:grpSpPr>
          <p:sp>
            <p:nvSpPr>
              <p:cNvPr name="Freeform 316" id="316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17" id="317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$190,201</a:t>
                </a:r>
              </a:p>
            </p:txBody>
          </p:sp>
        </p:grpSp>
        <p:grpSp>
          <p:nvGrpSpPr>
            <p:cNvPr name="Group 318" id="318"/>
            <p:cNvGrpSpPr/>
            <p:nvPr/>
          </p:nvGrpSpPr>
          <p:grpSpPr>
            <a:xfrm rot="0">
              <a:off x="13768032" y="8445173"/>
              <a:ext cx="2087880" cy="554270"/>
              <a:chOff x="0" y="0"/>
              <a:chExt cx="2087880" cy="554270"/>
            </a:xfrm>
          </p:grpSpPr>
          <p:sp>
            <p:nvSpPr>
              <p:cNvPr name="Freeform 319" id="319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320" id="320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$235,660</a:t>
                </a:r>
              </a:p>
            </p:txBody>
          </p:sp>
        </p:grpSp>
        <p:grpSp>
          <p:nvGrpSpPr>
            <p:cNvPr name="Group 321" id="321"/>
            <p:cNvGrpSpPr/>
            <p:nvPr/>
          </p:nvGrpSpPr>
          <p:grpSpPr>
            <a:xfrm rot="0">
              <a:off x="15855912" y="8445173"/>
              <a:ext cx="2087880" cy="554270"/>
              <a:chOff x="0" y="0"/>
              <a:chExt cx="2087880" cy="554270"/>
            </a:xfrm>
          </p:grpSpPr>
          <p:sp>
            <p:nvSpPr>
              <p:cNvPr name="Freeform 322" id="322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323" id="323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$291,982</a:t>
                </a:r>
              </a:p>
            </p:txBody>
          </p:sp>
        </p:grpSp>
        <p:grpSp>
          <p:nvGrpSpPr>
            <p:cNvPr name="Group 324" id="324"/>
            <p:cNvGrpSpPr/>
            <p:nvPr/>
          </p:nvGrpSpPr>
          <p:grpSpPr>
            <a:xfrm rot="0">
              <a:off x="17942687" y="8445173"/>
              <a:ext cx="2087321" cy="554270"/>
              <a:chOff x="0" y="0"/>
              <a:chExt cx="2087321" cy="554270"/>
            </a:xfrm>
          </p:grpSpPr>
          <p:sp>
            <p:nvSpPr>
              <p:cNvPr name="Freeform 325" id="325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26" id="326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$361,766</a:t>
                </a:r>
              </a:p>
            </p:txBody>
          </p:sp>
        </p:grpSp>
        <p:grpSp>
          <p:nvGrpSpPr>
            <p:cNvPr name="Group 327" id="327"/>
            <p:cNvGrpSpPr/>
            <p:nvPr/>
          </p:nvGrpSpPr>
          <p:grpSpPr>
            <a:xfrm rot="0">
              <a:off x="20030008" y="8445173"/>
              <a:ext cx="2087321" cy="554270"/>
              <a:chOff x="0" y="0"/>
              <a:chExt cx="2087321" cy="554270"/>
            </a:xfrm>
          </p:grpSpPr>
          <p:sp>
            <p:nvSpPr>
              <p:cNvPr name="Freeform 328" id="328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29" id="329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sz="1689">
                    <a:solidFill>
                      <a:srgbClr val="4A4A4A"/>
                    </a:solidFill>
                    <a:latin typeface="Exo 2"/>
                    <a:ea typeface="Exo 2"/>
                    <a:cs typeface="Exo 2"/>
                    <a:sym typeface="Exo 2"/>
                  </a:rPr>
                  <a:t>$448,228</a:t>
                </a:r>
              </a:p>
            </p:txBody>
          </p:sp>
        </p:grpSp>
        <p:grpSp>
          <p:nvGrpSpPr>
            <p:cNvPr name="Group 330" id="330"/>
            <p:cNvGrpSpPr/>
            <p:nvPr/>
          </p:nvGrpSpPr>
          <p:grpSpPr>
            <a:xfrm rot="0">
              <a:off x="0" y="8999441"/>
              <a:ext cx="22117329" cy="554268"/>
              <a:chOff x="0" y="0"/>
              <a:chExt cx="22117329" cy="554268"/>
            </a:xfrm>
          </p:grpSpPr>
          <p:sp>
            <p:nvSpPr>
              <p:cNvPr name="Freeform 331" id="331"/>
              <p:cNvSpPr/>
              <p:nvPr/>
            </p:nvSpPr>
            <p:spPr>
              <a:xfrm flipH="false" flipV="false" rot="0">
                <a:off x="0" y="0"/>
                <a:ext cx="22117304" cy="554332"/>
              </a:xfrm>
              <a:custGeom>
                <a:avLst/>
                <a:gdLst/>
                <a:ahLst/>
                <a:cxnLst/>
                <a:rect r="r" b="b" t="t" l="l"/>
                <a:pathLst>
                  <a:path h="554332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554332"/>
                    </a:lnTo>
                    <a:lnTo>
                      <a:pt x="0" y="554332"/>
                    </a:lnTo>
                    <a:close/>
                  </a:path>
                </a:pathLst>
              </a:custGeom>
              <a:solidFill>
                <a:srgbClr val="F4F6FB"/>
              </a:solidFill>
            </p:spPr>
          </p:sp>
        </p:grpSp>
        <p:grpSp>
          <p:nvGrpSpPr>
            <p:cNvPr name="Group 332" id="332"/>
            <p:cNvGrpSpPr/>
            <p:nvPr/>
          </p:nvGrpSpPr>
          <p:grpSpPr>
            <a:xfrm rot="0">
              <a:off x="0" y="8956804"/>
              <a:ext cx="22117329" cy="63500"/>
              <a:chOff x="0" y="0"/>
              <a:chExt cx="22117329" cy="63500"/>
            </a:xfrm>
          </p:grpSpPr>
          <p:sp>
            <p:nvSpPr>
              <p:cNvPr name="Freeform 333" id="333"/>
              <p:cNvSpPr/>
              <p:nvPr/>
            </p:nvSpPr>
            <p:spPr>
              <a:xfrm flipH="false" flipV="false" rot="0">
                <a:off x="0" y="0"/>
                <a:ext cx="22117304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E3E8F2"/>
              </a:solidFill>
            </p:spPr>
          </p:sp>
        </p:grpSp>
        <p:grpSp>
          <p:nvGrpSpPr>
            <p:cNvPr name="Group 334" id="334"/>
            <p:cNvGrpSpPr/>
            <p:nvPr/>
          </p:nvGrpSpPr>
          <p:grpSpPr>
            <a:xfrm rot="0">
              <a:off x="240005" y="8999441"/>
              <a:ext cx="5072075" cy="554270"/>
              <a:chOff x="0" y="0"/>
              <a:chExt cx="5072075" cy="554270"/>
            </a:xfrm>
          </p:grpSpPr>
          <p:sp>
            <p:nvSpPr>
              <p:cNvPr name="Freeform 335" id="335"/>
              <p:cNvSpPr/>
              <p:nvPr/>
            </p:nvSpPr>
            <p:spPr>
              <a:xfrm flipH="false" flipV="false" rot="0">
                <a:off x="0" y="0"/>
                <a:ext cx="5072079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5072079">
                    <a:moveTo>
                      <a:pt x="0" y="0"/>
                    </a:moveTo>
                    <a:lnTo>
                      <a:pt x="5072079" y="0"/>
                    </a:lnTo>
                    <a:lnTo>
                      <a:pt x="5072079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33562" r="0" b="-123048"/>
                </a:stretch>
              </a:blipFill>
            </p:spPr>
          </p:sp>
          <p:sp>
            <p:nvSpPr>
              <p:cNvPr name="TextBox 336" id="336"/>
              <p:cNvSpPr txBox="true"/>
              <p:nvPr/>
            </p:nvSpPr>
            <p:spPr>
              <a:xfrm>
                <a:off x="0" y="-9525"/>
                <a:ext cx="5072075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7"/>
                  </a:lnSpc>
                </a:pPr>
                <a:r>
                  <a:rPr lang="en-US" b="true" sz="1689" i="true">
                    <a:solidFill>
                      <a:srgbClr val="132257"/>
                    </a:solidFill>
                    <a:latin typeface="Exo 2 Bold Italics"/>
                    <a:ea typeface="Exo 2 Bold Italics"/>
                    <a:cs typeface="Exo 2 Bold Italics"/>
                    <a:sym typeface="Exo 2 Bold Italics"/>
                  </a:rPr>
                  <a:t>Performance Gap</a:t>
                </a:r>
              </a:p>
            </p:txBody>
          </p:sp>
        </p:grpSp>
        <p:grpSp>
          <p:nvGrpSpPr>
            <p:cNvPr name="Group 337" id="337"/>
            <p:cNvGrpSpPr/>
            <p:nvPr/>
          </p:nvGrpSpPr>
          <p:grpSpPr>
            <a:xfrm rot="0">
              <a:off x="5418747" y="8999441"/>
              <a:ext cx="2087321" cy="554270"/>
              <a:chOff x="0" y="0"/>
              <a:chExt cx="2087321" cy="554270"/>
            </a:xfrm>
          </p:grpSpPr>
          <p:sp>
            <p:nvSpPr>
              <p:cNvPr name="Freeform 338" id="338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39" id="339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-$95,987.01</a:t>
                </a:r>
              </a:p>
            </p:txBody>
          </p:sp>
        </p:grpSp>
        <p:grpSp>
          <p:nvGrpSpPr>
            <p:cNvPr name="Group 340" id="340"/>
            <p:cNvGrpSpPr/>
            <p:nvPr/>
          </p:nvGrpSpPr>
          <p:grpSpPr>
            <a:xfrm rot="0">
              <a:off x="7506068" y="8999441"/>
              <a:ext cx="2087321" cy="554270"/>
              <a:chOff x="0" y="0"/>
              <a:chExt cx="2087321" cy="554270"/>
            </a:xfrm>
          </p:grpSpPr>
          <p:sp>
            <p:nvSpPr>
              <p:cNvPr name="Freeform 341" id="341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42" id="342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-$115,992.85</a:t>
                </a:r>
              </a:p>
            </p:txBody>
          </p:sp>
        </p:grpSp>
        <p:grpSp>
          <p:nvGrpSpPr>
            <p:cNvPr name="Group 343" id="343"/>
            <p:cNvGrpSpPr/>
            <p:nvPr/>
          </p:nvGrpSpPr>
          <p:grpSpPr>
            <a:xfrm rot="0">
              <a:off x="9593390" y="8999441"/>
              <a:ext cx="2087321" cy="554270"/>
              <a:chOff x="0" y="0"/>
              <a:chExt cx="2087321" cy="554270"/>
            </a:xfrm>
          </p:grpSpPr>
          <p:sp>
            <p:nvSpPr>
              <p:cNvPr name="Freeform 344" id="344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45" id="345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-$144,885.19</a:t>
                </a:r>
              </a:p>
            </p:txBody>
          </p:sp>
        </p:grpSp>
        <p:grpSp>
          <p:nvGrpSpPr>
            <p:cNvPr name="Group 346" id="346"/>
            <p:cNvGrpSpPr/>
            <p:nvPr/>
          </p:nvGrpSpPr>
          <p:grpSpPr>
            <a:xfrm rot="0">
              <a:off x="11680711" y="8999441"/>
              <a:ext cx="2087321" cy="554270"/>
              <a:chOff x="0" y="0"/>
              <a:chExt cx="2087321" cy="554270"/>
            </a:xfrm>
          </p:grpSpPr>
          <p:sp>
            <p:nvSpPr>
              <p:cNvPr name="Freeform 347" id="347"/>
              <p:cNvSpPr/>
              <p:nvPr/>
            </p:nvSpPr>
            <p:spPr>
              <a:xfrm flipH="false" flipV="false" rot="0">
                <a:off x="0" y="0"/>
                <a:ext cx="2087323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323">
                    <a:moveTo>
                      <a:pt x="0" y="0"/>
                    </a:moveTo>
                    <a:lnTo>
                      <a:pt x="2087323" y="0"/>
                    </a:lnTo>
                    <a:lnTo>
                      <a:pt x="2087323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0" b="-18121"/>
                </a:stretch>
              </a:blipFill>
            </p:spPr>
          </p:sp>
          <p:sp>
            <p:nvSpPr>
              <p:cNvPr name="TextBox 348" id="348"/>
              <p:cNvSpPr txBox="true"/>
              <p:nvPr/>
            </p:nvSpPr>
            <p:spPr>
              <a:xfrm>
                <a:off x="0" y="-9525"/>
                <a:ext cx="2087321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-$180,197.89</a:t>
                </a:r>
              </a:p>
            </p:txBody>
          </p:sp>
        </p:grpSp>
        <p:grpSp>
          <p:nvGrpSpPr>
            <p:cNvPr name="Group 349" id="349"/>
            <p:cNvGrpSpPr/>
            <p:nvPr/>
          </p:nvGrpSpPr>
          <p:grpSpPr>
            <a:xfrm rot="0">
              <a:off x="13768032" y="8999441"/>
              <a:ext cx="2087880" cy="554270"/>
              <a:chOff x="0" y="0"/>
              <a:chExt cx="2087880" cy="554270"/>
            </a:xfrm>
          </p:grpSpPr>
          <p:sp>
            <p:nvSpPr>
              <p:cNvPr name="Freeform 350" id="350"/>
              <p:cNvSpPr/>
              <p:nvPr/>
            </p:nvSpPr>
            <p:spPr>
              <a:xfrm flipH="false" flipV="false" rot="0">
                <a:off x="0" y="0"/>
                <a:ext cx="2087881" cy="554271"/>
              </a:xfrm>
              <a:custGeom>
                <a:avLst/>
                <a:gdLst/>
                <a:ahLst/>
                <a:cxnLst/>
                <a:rect r="r" b="b" t="t" l="l"/>
                <a:pathLst>
                  <a:path h="554271" w="2087881">
                    <a:moveTo>
                      <a:pt x="0" y="0"/>
                    </a:moveTo>
                    <a:lnTo>
                      <a:pt x="2087881" y="0"/>
                    </a:lnTo>
                    <a:lnTo>
                      <a:pt x="2087881" y="554271"/>
                    </a:lnTo>
                    <a:lnTo>
                      <a:pt x="0" y="5542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635" r="26" b="-18121"/>
                </a:stretch>
              </a:blipFill>
            </p:spPr>
          </p:sp>
          <p:sp>
            <p:nvSpPr>
              <p:cNvPr name="TextBox 351" id="351"/>
              <p:cNvSpPr txBox="true"/>
              <p:nvPr/>
            </p:nvSpPr>
            <p:spPr>
              <a:xfrm>
                <a:off x="0" y="-9525"/>
                <a:ext cx="2087880" cy="56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27"/>
                  </a:lnSpc>
                </a:pPr>
                <a:r>
                  <a:rPr lang="en-US" b="true" sz="1689">
                    <a:solidFill>
                      <a:srgbClr val="1E2761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-$225,463.77</a:t>
                </a:r>
              </a:p>
            </p:txBody>
          </p:sp>
        </p:grpSp>
        <p:grpSp>
          <p:nvGrpSpPr>
            <p:cNvPr name="Group 352" id="352"/>
            <p:cNvGrpSpPr/>
            <p:nvPr/>
          </p:nvGrpSpPr>
          <p:grpSpPr>
            <a:xfrm rot="0">
              <a:off x="0" y="9514052"/>
              <a:ext cx="22117329" cy="63500"/>
              <a:chOff x="0" y="0"/>
              <a:chExt cx="22117329" cy="63500"/>
            </a:xfrm>
          </p:grpSpPr>
          <p:sp>
            <p:nvSpPr>
              <p:cNvPr name="Freeform 353" id="353"/>
              <p:cNvSpPr/>
              <p:nvPr/>
            </p:nvSpPr>
            <p:spPr>
              <a:xfrm flipH="false" flipV="false" rot="0">
                <a:off x="0" y="0"/>
                <a:ext cx="22117304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32257"/>
              </a:solidFill>
            </p:spPr>
          </p:sp>
        </p:grp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4" r="0" b="-3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92485" y="3742468"/>
            <a:ext cx="1570302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7"/>
              </a:lnSpc>
            </a:pPr>
            <a:r>
              <a:rPr lang="en-US" sz="83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21390" y="5611301"/>
            <a:ext cx="55550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Invest Wisely. Trade Precisely.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85" y="4500562"/>
            <a:ext cx="1570302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8"/>
              </a:lnSpc>
            </a:pPr>
            <a:r>
              <a:rPr lang="en-US" sz="84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Appendix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4" r="0" b="-31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47" y="564280"/>
            <a:ext cx="13164598" cy="928878"/>
            <a:chOff x="0" y="0"/>
            <a:chExt cx="17552797" cy="1238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52797" cy="1238504"/>
            </a:xfrm>
            <a:custGeom>
              <a:avLst/>
              <a:gdLst/>
              <a:ahLst/>
              <a:cxnLst/>
              <a:rect r="r" b="b" t="t" l="l"/>
              <a:pathLst>
                <a:path h="123850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38504"/>
                  </a:lnTo>
                  <a:lnTo>
                    <a:pt x="0" y="1238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960" r="0" b="-2259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5847" y="557136"/>
            <a:ext cx="13164598" cy="935927"/>
            <a:chOff x="0" y="0"/>
            <a:chExt cx="17552797" cy="1247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52797" cy="1247902"/>
            </a:xfrm>
            <a:custGeom>
              <a:avLst/>
              <a:gdLst/>
              <a:ahLst/>
              <a:cxnLst/>
              <a:rect r="r" b="b" t="t" l="l"/>
              <a:pathLst>
                <a:path h="1247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47902"/>
                  </a:lnTo>
                  <a:lnTo>
                    <a:pt x="0" y="1247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82" r="0" b="-2238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5847" y="549993"/>
            <a:ext cx="13164598" cy="943166"/>
            <a:chOff x="0" y="0"/>
            <a:chExt cx="17552797" cy="1257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52797" cy="1257554"/>
            </a:xfrm>
            <a:custGeom>
              <a:avLst/>
              <a:gdLst/>
              <a:ahLst/>
              <a:cxnLst/>
              <a:rect r="r" b="b" t="t" l="l"/>
              <a:pathLst>
                <a:path h="1257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57554"/>
                  </a:lnTo>
                  <a:lnTo>
                    <a:pt x="0" y="12575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1780" r="0" b="-22178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5847" y="542849"/>
            <a:ext cx="13164598" cy="950262"/>
            <a:chOff x="0" y="0"/>
            <a:chExt cx="17552797" cy="1267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2797" cy="1267079"/>
            </a:xfrm>
            <a:custGeom>
              <a:avLst/>
              <a:gdLst/>
              <a:ahLst/>
              <a:cxnLst/>
              <a:rect r="r" b="b" t="t" l="l"/>
              <a:pathLst>
                <a:path h="1267079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67079"/>
                  </a:lnTo>
                  <a:lnTo>
                    <a:pt x="0" y="12670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740" r="0" b="-21973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847" y="535705"/>
            <a:ext cx="13164598" cy="957405"/>
            <a:chOff x="0" y="0"/>
            <a:chExt cx="17552797" cy="12765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1276541"/>
            </a:xfrm>
            <a:custGeom>
              <a:avLst/>
              <a:gdLst/>
              <a:ahLst/>
              <a:cxnLst/>
              <a:rect r="r" b="b" t="t" l="l"/>
              <a:pathLst>
                <a:path h="1276541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1276541"/>
                  </a:lnTo>
                  <a:lnTo>
                    <a:pt x="0" y="12765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7924" r="0" b="-2179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552797" cy="1286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 Overview of CX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8249" y="2459076"/>
            <a:ext cx="3547846" cy="1109243"/>
            <a:chOff x="0" y="0"/>
            <a:chExt cx="3854450" cy="12051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54450" cy="1205103"/>
            </a:xfrm>
            <a:custGeom>
              <a:avLst/>
              <a:gdLst/>
              <a:ahLst/>
              <a:cxnLst/>
              <a:rect r="r" b="b" t="t" l="l"/>
              <a:pathLst>
                <a:path h="120510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78" r="0" b="-1227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8249" y="2450309"/>
            <a:ext cx="3547846" cy="1118010"/>
            <a:chOff x="0" y="0"/>
            <a:chExt cx="3854450" cy="12146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54450" cy="1214628"/>
            </a:xfrm>
            <a:custGeom>
              <a:avLst/>
              <a:gdLst/>
              <a:ahLst/>
              <a:cxnLst/>
              <a:rect r="r" b="b" t="t" l="l"/>
              <a:pathLst>
                <a:path h="121462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0" r="0" b="-1179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8249" y="2441542"/>
            <a:ext cx="3547846" cy="1126777"/>
            <a:chOff x="0" y="0"/>
            <a:chExt cx="3854450" cy="12241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54450" cy="1224153"/>
            </a:xfrm>
            <a:custGeom>
              <a:avLst/>
              <a:gdLst/>
              <a:ahLst/>
              <a:cxnLst/>
              <a:rect r="r" b="b" t="t" l="l"/>
              <a:pathLst>
                <a:path h="122415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09" r="0" b="-1130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8249" y="2432774"/>
            <a:ext cx="3547881" cy="1135533"/>
            <a:chOff x="0" y="0"/>
            <a:chExt cx="3854488" cy="12336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54450" cy="1233678"/>
            </a:xfrm>
            <a:custGeom>
              <a:avLst/>
              <a:gdLst/>
              <a:ahLst/>
              <a:cxnLst/>
              <a:rect r="r" b="b" t="t" l="l"/>
              <a:pathLst>
                <a:path h="123367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36" r="0" b="-1083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8249" y="2424007"/>
            <a:ext cx="3547881" cy="1144300"/>
            <a:chOff x="0" y="0"/>
            <a:chExt cx="3854488" cy="12431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54488" cy="1243190"/>
            </a:xfrm>
            <a:custGeom>
              <a:avLst/>
              <a:gdLst/>
              <a:ahLst/>
              <a:cxnLst/>
              <a:rect r="r" b="b" t="t" l="l"/>
              <a:pathLst>
                <a:path h="1243190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12" r="0" b="-1041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54488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139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4795" y="3094892"/>
            <a:ext cx="2890838" cy="373952"/>
            <a:chOff x="0" y="0"/>
            <a:chExt cx="3854450" cy="4986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54450" cy="498602"/>
            </a:xfrm>
            <a:custGeom>
              <a:avLst/>
              <a:gdLst/>
              <a:ahLst/>
              <a:cxnLst/>
              <a:rect r="r" b="b" t="t" l="l"/>
              <a:pathLst>
                <a:path h="49860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524" r="0" b="-10052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4795" y="3087748"/>
            <a:ext cx="2890838" cy="381095"/>
            <a:chOff x="0" y="0"/>
            <a:chExt cx="3854450" cy="5081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54450" cy="508127"/>
            </a:xfrm>
            <a:custGeom>
              <a:avLst/>
              <a:gdLst/>
              <a:ahLst/>
              <a:cxnLst/>
              <a:rect r="r" b="b" t="t" l="l"/>
              <a:pathLst>
                <a:path h="50812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03" r="0" b="-9770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4795" y="3080604"/>
            <a:ext cx="2890838" cy="388239"/>
            <a:chOff x="0" y="0"/>
            <a:chExt cx="3854450" cy="5176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4450" cy="517652"/>
            </a:xfrm>
            <a:custGeom>
              <a:avLst/>
              <a:gdLst/>
              <a:ahLst/>
              <a:cxnLst/>
              <a:rect r="r" b="b" t="t" l="l"/>
              <a:pathLst>
                <a:path h="51765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985" r="0" b="-9498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4795" y="3073460"/>
            <a:ext cx="2890866" cy="395345"/>
            <a:chOff x="0" y="0"/>
            <a:chExt cx="3854488" cy="5271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54450" cy="527177"/>
            </a:xfrm>
            <a:custGeom>
              <a:avLst/>
              <a:gdLst/>
              <a:ahLst/>
              <a:cxnLst/>
              <a:rect r="r" b="b" t="t" l="l"/>
              <a:pathLst>
                <a:path h="52717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27177"/>
                  </a:lnTo>
                  <a:lnTo>
                    <a:pt x="0" y="5271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372" r="0" b="-9236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4795" y="3066317"/>
            <a:ext cx="2890866" cy="402488"/>
            <a:chOff x="0" y="0"/>
            <a:chExt cx="3854488" cy="5366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54488" cy="536652"/>
            </a:xfrm>
            <a:custGeom>
              <a:avLst/>
              <a:gdLst/>
              <a:ahLst/>
              <a:cxnLst/>
              <a:rect r="r" b="b" t="t" l="l"/>
              <a:pathLst>
                <a:path h="536652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536652"/>
                  </a:lnTo>
                  <a:lnTo>
                    <a:pt x="0" y="5366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950" r="0" b="-899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854488" cy="54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Clients Contacted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32006" y="1643948"/>
            <a:ext cx="4054130" cy="2211705"/>
            <a:chOff x="0" y="0"/>
            <a:chExt cx="4404487" cy="2402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04487" cy="2402840"/>
            </a:xfrm>
            <a:custGeom>
              <a:avLst/>
              <a:gdLst/>
              <a:ahLst/>
              <a:cxnLst/>
              <a:rect r="r" b="b" t="t" l="l"/>
              <a:pathLst>
                <a:path h="2402840" w="4404487">
                  <a:moveTo>
                    <a:pt x="0" y="0"/>
                  </a:moveTo>
                  <a:lnTo>
                    <a:pt x="4404487" y="0"/>
                  </a:lnTo>
                  <a:lnTo>
                    <a:pt x="4404487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51419" y="2459076"/>
            <a:ext cx="3547846" cy="1109243"/>
            <a:chOff x="0" y="0"/>
            <a:chExt cx="3854450" cy="12051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54450" cy="1205103"/>
            </a:xfrm>
            <a:custGeom>
              <a:avLst/>
              <a:gdLst/>
              <a:ahLst/>
              <a:cxnLst/>
              <a:rect r="r" b="b" t="t" l="l"/>
              <a:pathLst>
                <a:path h="120510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78" r="0" b="-12278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51419" y="2450309"/>
            <a:ext cx="3547846" cy="1118010"/>
            <a:chOff x="0" y="0"/>
            <a:chExt cx="3854450" cy="12146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54450" cy="1214628"/>
            </a:xfrm>
            <a:custGeom>
              <a:avLst/>
              <a:gdLst/>
              <a:ahLst/>
              <a:cxnLst/>
              <a:rect r="r" b="b" t="t" l="l"/>
              <a:pathLst>
                <a:path h="121462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0" r="0" b="-1179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51419" y="2441542"/>
            <a:ext cx="3547846" cy="1126777"/>
            <a:chOff x="0" y="0"/>
            <a:chExt cx="3854450" cy="122415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54450" cy="1224153"/>
            </a:xfrm>
            <a:custGeom>
              <a:avLst/>
              <a:gdLst/>
              <a:ahLst/>
              <a:cxnLst/>
              <a:rect r="r" b="b" t="t" l="l"/>
              <a:pathLst>
                <a:path h="122415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09" r="0" b="-113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351419" y="2432774"/>
            <a:ext cx="3547881" cy="1135533"/>
            <a:chOff x="0" y="0"/>
            <a:chExt cx="3854488" cy="12336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54450" cy="1233678"/>
            </a:xfrm>
            <a:custGeom>
              <a:avLst/>
              <a:gdLst/>
              <a:ahLst/>
              <a:cxnLst/>
              <a:rect r="r" b="b" t="t" l="l"/>
              <a:pathLst>
                <a:path h="123367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36" r="0" b="-10835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185148" y="1736929"/>
            <a:ext cx="3547881" cy="1144300"/>
            <a:chOff x="0" y="0"/>
            <a:chExt cx="3854488" cy="124319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54488" cy="1243190"/>
            </a:xfrm>
            <a:custGeom>
              <a:avLst/>
              <a:gdLst/>
              <a:ahLst/>
              <a:cxnLst/>
              <a:rect r="r" b="b" t="t" l="l"/>
              <a:pathLst>
                <a:path h="1243190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12" r="0" b="-104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854488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728118" y="3094892"/>
            <a:ext cx="2890838" cy="373952"/>
            <a:chOff x="0" y="0"/>
            <a:chExt cx="3854450" cy="4986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54450" cy="498602"/>
            </a:xfrm>
            <a:custGeom>
              <a:avLst/>
              <a:gdLst/>
              <a:ahLst/>
              <a:cxnLst/>
              <a:rect r="r" b="b" t="t" l="l"/>
              <a:pathLst>
                <a:path h="49860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524" r="0" b="-100524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728118" y="3087748"/>
            <a:ext cx="2890838" cy="381095"/>
            <a:chOff x="0" y="0"/>
            <a:chExt cx="3854450" cy="5081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54450" cy="508127"/>
            </a:xfrm>
            <a:custGeom>
              <a:avLst/>
              <a:gdLst/>
              <a:ahLst/>
              <a:cxnLst/>
              <a:rect r="r" b="b" t="t" l="l"/>
              <a:pathLst>
                <a:path h="50812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03" r="0" b="-9770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8118" y="3080604"/>
            <a:ext cx="2890838" cy="388239"/>
            <a:chOff x="0" y="0"/>
            <a:chExt cx="3854450" cy="5176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54450" cy="517652"/>
            </a:xfrm>
            <a:custGeom>
              <a:avLst/>
              <a:gdLst/>
              <a:ahLst/>
              <a:cxnLst/>
              <a:rect r="r" b="b" t="t" l="l"/>
              <a:pathLst>
                <a:path h="51765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985" r="0" b="-9498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728118" y="3073460"/>
            <a:ext cx="2890866" cy="395345"/>
            <a:chOff x="0" y="0"/>
            <a:chExt cx="3854488" cy="52712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54450" cy="527177"/>
            </a:xfrm>
            <a:custGeom>
              <a:avLst/>
              <a:gdLst/>
              <a:ahLst/>
              <a:cxnLst/>
              <a:rect r="r" b="b" t="t" l="l"/>
              <a:pathLst>
                <a:path h="52717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27177"/>
                  </a:lnTo>
                  <a:lnTo>
                    <a:pt x="0" y="5271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372" r="0" b="-9236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185148" y="2842781"/>
            <a:ext cx="3547881" cy="493963"/>
            <a:chOff x="0" y="0"/>
            <a:chExt cx="3854488" cy="5366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54488" cy="536652"/>
            </a:xfrm>
            <a:custGeom>
              <a:avLst/>
              <a:gdLst/>
              <a:ahLst/>
              <a:cxnLst/>
              <a:rect r="r" b="b" t="t" l="l"/>
              <a:pathLst>
                <a:path h="536652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536652"/>
                  </a:lnTo>
                  <a:lnTo>
                    <a:pt x="0" y="5366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950" r="0" b="-899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854488" cy="54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Completed Onboarding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42330" y="1643948"/>
            <a:ext cx="4054130" cy="2211705"/>
            <a:chOff x="0" y="0"/>
            <a:chExt cx="4404487" cy="2402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04487" cy="2402840"/>
            </a:xfrm>
            <a:custGeom>
              <a:avLst/>
              <a:gdLst/>
              <a:ahLst/>
              <a:cxnLst/>
              <a:rect r="r" b="b" t="t" l="l"/>
              <a:pathLst>
                <a:path h="2402840" w="4404487">
                  <a:moveTo>
                    <a:pt x="0" y="0"/>
                  </a:moveTo>
                  <a:lnTo>
                    <a:pt x="4404487" y="0"/>
                  </a:lnTo>
                  <a:lnTo>
                    <a:pt x="4404487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661742" y="2459076"/>
            <a:ext cx="3547846" cy="1109243"/>
            <a:chOff x="0" y="0"/>
            <a:chExt cx="3854450" cy="120510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54450" cy="1205103"/>
            </a:xfrm>
            <a:custGeom>
              <a:avLst/>
              <a:gdLst/>
              <a:ahLst/>
              <a:cxnLst/>
              <a:rect r="r" b="b" t="t" l="l"/>
              <a:pathLst>
                <a:path h="120510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78" r="0" b="-12278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661742" y="2450309"/>
            <a:ext cx="3547846" cy="1118010"/>
            <a:chOff x="0" y="0"/>
            <a:chExt cx="3854450" cy="12146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54450" cy="1214628"/>
            </a:xfrm>
            <a:custGeom>
              <a:avLst/>
              <a:gdLst/>
              <a:ahLst/>
              <a:cxnLst/>
              <a:rect r="r" b="b" t="t" l="l"/>
              <a:pathLst>
                <a:path h="121462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0" r="0" b="-1179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661742" y="2441542"/>
            <a:ext cx="3547846" cy="1126777"/>
            <a:chOff x="0" y="0"/>
            <a:chExt cx="3854450" cy="122415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54450" cy="1224153"/>
            </a:xfrm>
            <a:custGeom>
              <a:avLst/>
              <a:gdLst/>
              <a:ahLst/>
              <a:cxnLst/>
              <a:rect r="r" b="b" t="t" l="l"/>
              <a:pathLst>
                <a:path h="122415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09" r="0" b="-113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661742" y="2432774"/>
            <a:ext cx="3547881" cy="1135533"/>
            <a:chOff x="0" y="0"/>
            <a:chExt cx="3854488" cy="123366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54450" cy="1233678"/>
            </a:xfrm>
            <a:custGeom>
              <a:avLst/>
              <a:gdLst/>
              <a:ahLst/>
              <a:cxnLst/>
              <a:rect r="r" b="b" t="t" l="l"/>
              <a:pathLst>
                <a:path h="123367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36" r="0" b="-1083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495472" y="1736929"/>
            <a:ext cx="3547881" cy="1144300"/>
            <a:chOff x="0" y="0"/>
            <a:chExt cx="3854488" cy="124319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854488" cy="1243190"/>
            </a:xfrm>
            <a:custGeom>
              <a:avLst/>
              <a:gdLst/>
              <a:ahLst/>
              <a:cxnLst/>
              <a:rect r="r" b="b" t="t" l="l"/>
              <a:pathLst>
                <a:path h="1243190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12" r="0" b="-1041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854488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22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240233" y="3094892"/>
            <a:ext cx="2890838" cy="373952"/>
            <a:chOff x="0" y="0"/>
            <a:chExt cx="3854450" cy="49860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54450" cy="498602"/>
            </a:xfrm>
            <a:custGeom>
              <a:avLst/>
              <a:gdLst/>
              <a:ahLst/>
              <a:cxnLst/>
              <a:rect r="r" b="b" t="t" l="l"/>
              <a:pathLst>
                <a:path h="49860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524" r="0" b="-100524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240233" y="3087748"/>
            <a:ext cx="2890838" cy="381095"/>
            <a:chOff x="0" y="0"/>
            <a:chExt cx="3854450" cy="5081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854450" cy="508127"/>
            </a:xfrm>
            <a:custGeom>
              <a:avLst/>
              <a:gdLst/>
              <a:ahLst/>
              <a:cxnLst/>
              <a:rect r="r" b="b" t="t" l="l"/>
              <a:pathLst>
                <a:path h="50812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03" r="0" b="-97703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240233" y="3080604"/>
            <a:ext cx="2890838" cy="388239"/>
            <a:chOff x="0" y="0"/>
            <a:chExt cx="3854450" cy="5176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854450" cy="517652"/>
            </a:xfrm>
            <a:custGeom>
              <a:avLst/>
              <a:gdLst/>
              <a:ahLst/>
              <a:cxnLst/>
              <a:rect r="r" b="b" t="t" l="l"/>
              <a:pathLst>
                <a:path h="51765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985" r="0" b="-94985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240233" y="3073460"/>
            <a:ext cx="2890866" cy="395345"/>
            <a:chOff x="0" y="0"/>
            <a:chExt cx="3854488" cy="52712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854450" cy="527177"/>
            </a:xfrm>
            <a:custGeom>
              <a:avLst/>
              <a:gdLst/>
              <a:ahLst/>
              <a:cxnLst/>
              <a:rect r="r" b="b" t="t" l="l"/>
              <a:pathLst>
                <a:path h="52717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27177"/>
                  </a:lnTo>
                  <a:lnTo>
                    <a:pt x="0" y="5271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372" r="0" b="-9236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495472" y="2842781"/>
            <a:ext cx="3547881" cy="493963"/>
            <a:chOff x="0" y="0"/>
            <a:chExt cx="3854488" cy="53665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54488" cy="536652"/>
            </a:xfrm>
            <a:custGeom>
              <a:avLst/>
              <a:gdLst/>
              <a:ahLst/>
              <a:cxnLst/>
              <a:rect r="r" b="b" t="t" l="l"/>
              <a:pathLst>
                <a:path h="536652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536652"/>
                  </a:lnTo>
                  <a:lnTo>
                    <a:pt x="0" y="5366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950" r="0" b="-899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3854488" cy="54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Still Pending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552641" y="1643948"/>
            <a:ext cx="4054130" cy="2211705"/>
            <a:chOff x="0" y="0"/>
            <a:chExt cx="4404487" cy="2402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04487" cy="2402840"/>
            </a:xfrm>
            <a:custGeom>
              <a:avLst/>
              <a:gdLst/>
              <a:ahLst/>
              <a:cxnLst/>
              <a:rect r="r" b="b" t="t" l="l"/>
              <a:pathLst>
                <a:path h="2402840" w="4404487">
                  <a:moveTo>
                    <a:pt x="0" y="0"/>
                  </a:moveTo>
                  <a:lnTo>
                    <a:pt x="4404487" y="0"/>
                  </a:lnTo>
                  <a:lnTo>
                    <a:pt x="4404487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4752339" y="2193827"/>
            <a:ext cx="2890838" cy="903827"/>
            <a:chOff x="0" y="0"/>
            <a:chExt cx="3854450" cy="120510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854450" cy="1205103"/>
            </a:xfrm>
            <a:custGeom>
              <a:avLst/>
              <a:gdLst/>
              <a:ahLst/>
              <a:cxnLst/>
              <a:rect r="r" b="b" t="t" l="l"/>
              <a:pathLst>
                <a:path h="120510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78" r="0" b="-12278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4752339" y="2186683"/>
            <a:ext cx="2890838" cy="910971"/>
            <a:chOff x="0" y="0"/>
            <a:chExt cx="3854450" cy="12146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54450" cy="1214628"/>
            </a:xfrm>
            <a:custGeom>
              <a:avLst/>
              <a:gdLst/>
              <a:ahLst/>
              <a:cxnLst/>
              <a:rect r="r" b="b" t="t" l="l"/>
              <a:pathLst>
                <a:path h="121462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0" r="0" b="-1179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752339" y="2179539"/>
            <a:ext cx="2890838" cy="918115"/>
            <a:chOff x="0" y="0"/>
            <a:chExt cx="3854450" cy="122415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54450" cy="1224153"/>
            </a:xfrm>
            <a:custGeom>
              <a:avLst/>
              <a:gdLst/>
              <a:ahLst/>
              <a:cxnLst/>
              <a:rect r="r" b="b" t="t" l="l"/>
              <a:pathLst>
                <a:path h="122415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09" r="0" b="-11309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752339" y="2172395"/>
            <a:ext cx="2890866" cy="925249"/>
            <a:chOff x="0" y="0"/>
            <a:chExt cx="3854488" cy="123366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854450" cy="1233678"/>
            </a:xfrm>
            <a:custGeom>
              <a:avLst/>
              <a:gdLst/>
              <a:ahLst/>
              <a:cxnLst/>
              <a:rect r="r" b="b" t="t" l="l"/>
              <a:pathLst>
                <a:path h="123367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36" r="0" b="-1083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805783" y="1736929"/>
            <a:ext cx="3547881" cy="1144300"/>
            <a:chOff x="0" y="0"/>
            <a:chExt cx="3854488" cy="124319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54488" cy="1243190"/>
            </a:xfrm>
            <a:custGeom>
              <a:avLst/>
              <a:gdLst/>
              <a:ahLst/>
              <a:cxnLst/>
              <a:rect r="r" b="b" t="t" l="l"/>
              <a:pathLst>
                <a:path h="1243190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12" r="0" b="-1041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3854488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29%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752339" y="3094892"/>
            <a:ext cx="2890838" cy="373952"/>
            <a:chOff x="0" y="0"/>
            <a:chExt cx="3854450" cy="49860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54450" cy="498602"/>
            </a:xfrm>
            <a:custGeom>
              <a:avLst/>
              <a:gdLst/>
              <a:ahLst/>
              <a:cxnLst/>
              <a:rect r="r" b="b" t="t" l="l"/>
              <a:pathLst>
                <a:path h="49860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524" r="0" b="-100524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752339" y="3087748"/>
            <a:ext cx="2890838" cy="381095"/>
            <a:chOff x="0" y="0"/>
            <a:chExt cx="3854450" cy="50812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854450" cy="508127"/>
            </a:xfrm>
            <a:custGeom>
              <a:avLst/>
              <a:gdLst/>
              <a:ahLst/>
              <a:cxnLst/>
              <a:rect r="r" b="b" t="t" l="l"/>
              <a:pathLst>
                <a:path h="50812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03" r="0" b="-97703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752339" y="3080604"/>
            <a:ext cx="2890838" cy="388239"/>
            <a:chOff x="0" y="0"/>
            <a:chExt cx="3854450" cy="5176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854450" cy="517652"/>
            </a:xfrm>
            <a:custGeom>
              <a:avLst/>
              <a:gdLst/>
              <a:ahLst/>
              <a:cxnLst/>
              <a:rect r="r" b="b" t="t" l="l"/>
              <a:pathLst>
                <a:path h="51765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985" r="0" b="-94985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752339" y="3073460"/>
            <a:ext cx="2890866" cy="395345"/>
            <a:chOff x="0" y="0"/>
            <a:chExt cx="3854488" cy="52712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854450" cy="527177"/>
            </a:xfrm>
            <a:custGeom>
              <a:avLst/>
              <a:gdLst/>
              <a:ahLst/>
              <a:cxnLst/>
              <a:rect r="r" b="b" t="t" l="l"/>
              <a:pathLst>
                <a:path h="52717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27177"/>
                  </a:lnTo>
                  <a:lnTo>
                    <a:pt x="0" y="5271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372" r="0" b="-9236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805783" y="2842781"/>
            <a:ext cx="3547881" cy="493963"/>
            <a:chOff x="0" y="0"/>
            <a:chExt cx="3854488" cy="53665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854488" cy="536652"/>
            </a:xfrm>
            <a:custGeom>
              <a:avLst/>
              <a:gdLst/>
              <a:ahLst/>
              <a:cxnLst/>
              <a:rect r="r" b="b" t="t" l="l"/>
              <a:pathLst>
                <a:path h="536652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536652"/>
                  </a:lnTo>
                  <a:lnTo>
                    <a:pt x="0" y="5366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950" r="0" b="-8995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854488" cy="54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Conversion (of Total)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29224" y="5052203"/>
            <a:ext cx="16212312" cy="775716"/>
            <a:chOff x="0" y="0"/>
            <a:chExt cx="21616416" cy="103428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949" r="0" b="-356951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029224" y="5052203"/>
            <a:ext cx="16212312" cy="775716"/>
            <a:chOff x="0" y="0"/>
            <a:chExt cx="21616416" cy="103428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949" r="0" b="-356951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29224" y="5052203"/>
            <a:ext cx="16212312" cy="775811"/>
            <a:chOff x="0" y="0"/>
            <a:chExt cx="21616416" cy="103441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616415" cy="1034415"/>
            </a:xfrm>
            <a:custGeom>
              <a:avLst/>
              <a:gdLst/>
              <a:ahLst/>
              <a:cxnLst/>
              <a:rect r="r" b="b" t="t" l="l"/>
              <a:pathLst>
                <a:path h="10344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899" r="0" b="-356901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29224" y="5052203"/>
            <a:ext cx="16212312" cy="775764"/>
            <a:chOff x="0" y="0"/>
            <a:chExt cx="21616416" cy="103435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616415" cy="1034415"/>
            </a:xfrm>
            <a:custGeom>
              <a:avLst/>
              <a:gdLst/>
              <a:ahLst/>
              <a:cxnLst/>
              <a:rect r="r" b="b" t="t" l="l"/>
              <a:pathLst>
                <a:path h="10344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903" r="0" b="-356897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29224" y="5052203"/>
            <a:ext cx="16212312" cy="775764"/>
            <a:chOff x="0" y="0"/>
            <a:chExt cx="21616416" cy="10343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1616415" cy="1034352"/>
            </a:xfrm>
            <a:custGeom>
              <a:avLst/>
              <a:gdLst/>
              <a:ahLst/>
              <a:cxnLst/>
              <a:rect r="r" b="b" t="t" l="l"/>
              <a:pathLst>
                <a:path h="1034352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52"/>
                  </a:lnTo>
                  <a:lnTo>
                    <a:pt x="0" y="10343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7208" r="0" b="-35720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21616416" cy="1034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2148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Out of 31 clients contacted, 9 have completed onboarding, giving a conversion rate of 29%. The remaining 22 clients (71%) are still pending, representing the primary area for continued follow-up.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635651" y="5175542"/>
            <a:ext cx="278130" cy="243364"/>
            <a:chOff x="0" y="0"/>
            <a:chExt cx="370840" cy="324485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70840" cy="324485"/>
            </a:xfrm>
            <a:custGeom>
              <a:avLst/>
              <a:gdLst/>
              <a:ahLst/>
              <a:cxnLst/>
              <a:rect r="r" b="b" t="t" l="l"/>
              <a:pathLst>
                <a:path h="324485" w="370840">
                  <a:moveTo>
                    <a:pt x="0" y="0"/>
                  </a:moveTo>
                  <a:lnTo>
                    <a:pt x="370840" y="0"/>
                  </a:lnTo>
                  <a:lnTo>
                    <a:pt x="370840" y="324485"/>
                  </a:lnTo>
                  <a:lnTo>
                    <a:pt x="0" y="3244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120" id="120"/>
          <p:cNvSpPr txBox="true"/>
          <p:nvPr/>
        </p:nvSpPr>
        <p:spPr>
          <a:xfrm rot="0">
            <a:off x="585597" y="4379528"/>
            <a:ext cx="4200001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200000" r="-100000" t="200000" b="-100000"/>
                  </a:path>
                  <a:tileRect r="-300000" l="0" b="-300000" t="0"/>
                </a:gradFill>
                <a:latin typeface="Exo 2 Bold"/>
                <a:ea typeface="Exo 2 Bold"/>
                <a:cs typeface="Exo 2 Bold"/>
                <a:sym typeface="Exo 2 Bold"/>
              </a:rPr>
              <a:t>Summary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585597" y="1643948"/>
            <a:ext cx="4054130" cy="2211705"/>
            <a:chOff x="0" y="0"/>
            <a:chExt cx="4404487" cy="24028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404487" cy="2402840"/>
            </a:xfrm>
            <a:custGeom>
              <a:avLst/>
              <a:gdLst/>
              <a:ahLst/>
              <a:cxnLst/>
              <a:rect r="r" b="b" t="t" l="l"/>
              <a:pathLst>
                <a:path h="2402840" w="4404487">
                  <a:moveTo>
                    <a:pt x="0" y="0"/>
                  </a:moveTo>
                  <a:lnTo>
                    <a:pt x="4404487" y="0"/>
                  </a:lnTo>
                  <a:lnTo>
                    <a:pt x="4404487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05009" y="2437123"/>
            <a:ext cx="3547846" cy="1109243"/>
            <a:chOff x="0" y="0"/>
            <a:chExt cx="3854450" cy="120510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854450" cy="1205103"/>
            </a:xfrm>
            <a:custGeom>
              <a:avLst/>
              <a:gdLst/>
              <a:ahLst/>
              <a:cxnLst/>
              <a:rect r="r" b="b" t="t" l="l"/>
              <a:pathLst>
                <a:path h="120510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78" r="0" b="-12278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5005009" y="2428355"/>
            <a:ext cx="3547846" cy="1118010"/>
            <a:chOff x="0" y="0"/>
            <a:chExt cx="3854450" cy="121462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854450" cy="1214628"/>
            </a:xfrm>
            <a:custGeom>
              <a:avLst/>
              <a:gdLst/>
              <a:ahLst/>
              <a:cxnLst/>
              <a:rect r="r" b="b" t="t" l="l"/>
              <a:pathLst>
                <a:path h="121462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14628"/>
                  </a:lnTo>
                  <a:lnTo>
                    <a:pt x="0" y="121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0" r="0" b="-1179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5005009" y="2419588"/>
            <a:ext cx="3547846" cy="1126777"/>
            <a:chOff x="0" y="0"/>
            <a:chExt cx="3854450" cy="122415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854450" cy="1224153"/>
            </a:xfrm>
            <a:custGeom>
              <a:avLst/>
              <a:gdLst/>
              <a:ahLst/>
              <a:cxnLst/>
              <a:rect r="r" b="b" t="t" l="l"/>
              <a:pathLst>
                <a:path h="1224153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24153"/>
                  </a:lnTo>
                  <a:lnTo>
                    <a:pt x="0" y="1224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09" r="0" b="-11309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05009" y="2410821"/>
            <a:ext cx="3547881" cy="1135533"/>
            <a:chOff x="0" y="0"/>
            <a:chExt cx="3854488" cy="123366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854450" cy="1233678"/>
            </a:xfrm>
            <a:custGeom>
              <a:avLst/>
              <a:gdLst/>
              <a:ahLst/>
              <a:cxnLst/>
              <a:rect r="r" b="b" t="t" l="l"/>
              <a:pathLst>
                <a:path h="1233678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1233678"/>
                  </a:lnTo>
                  <a:lnTo>
                    <a:pt x="0" y="1233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36" r="0" b="-10835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838739" y="1714975"/>
            <a:ext cx="3547881" cy="1144300"/>
            <a:chOff x="0" y="0"/>
            <a:chExt cx="3854488" cy="124319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854488" cy="1243190"/>
            </a:xfrm>
            <a:custGeom>
              <a:avLst/>
              <a:gdLst/>
              <a:ahLst/>
              <a:cxnLst/>
              <a:rect r="r" b="b" t="t" l="l"/>
              <a:pathLst>
                <a:path h="1243190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1243190"/>
                  </a:lnTo>
                  <a:lnTo>
                    <a:pt x="0" y="1243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12" r="0" b="-10412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3854488" cy="1252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31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4186599" y="3079756"/>
            <a:ext cx="2890838" cy="373952"/>
            <a:chOff x="0" y="0"/>
            <a:chExt cx="3854450" cy="49860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854450" cy="498602"/>
            </a:xfrm>
            <a:custGeom>
              <a:avLst/>
              <a:gdLst/>
              <a:ahLst/>
              <a:cxnLst/>
              <a:rect r="r" b="b" t="t" l="l"/>
              <a:pathLst>
                <a:path h="49860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524" r="0" b="-100524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4186599" y="3072613"/>
            <a:ext cx="2890838" cy="381095"/>
            <a:chOff x="0" y="0"/>
            <a:chExt cx="3854450" cy="508127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854450" cy="508127"/>
            </a:xfrm>
            <a:custGeom>
              <a:avLst/>
              <a:gdLst/>
              <a:ahLst/>
              <a:cxnLst/>
              <a:rect r="r" b="b" t="t" l="l"/>
              <a:pathLst>
                <a:path h="50812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03" r="0" b="-97703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4186599" y="3065469"/>
            <a:ext cx="2890838" cy="388239"/>
            <a:chOff x="0" y="0"/>
            <a:chExt cx="3854450" cy="5176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854450" cy="517652"/>
            </a:xfrm>
            <a:custGeom>
              <a:avLst/>
              <a:gdLst/>
              <a:ahLst/>
              <a:cxnLst/>
              <a:rect r="r" b="b" t="t" l="l"/>
              <a:pathLst>
                <a:path h="517652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985" r="0" b="-94985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4186599" y="3058325"/>
            <a:ext cx="2890866" cy="395345"/>
            <a:chOff x="0" y="0"/>
            <a:chExt cx="3854488" cy="52712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854450" cy="527177"/>
            </a:xfrm>
            <a:custGeom>
              <a:avLst/>
              <a:gdLst/>
              <a:ahLst/>
              <a:cxnLst/>
              <a:rect r="r" b="b" t="t" l="l"/>
              <a:pathLst>
                <a:path h="527177" w="3854450">
                  <a:moveTo>
                    <a:pt x="0" y="0"/>
                  </a:moveTo>
                  <a:lnTo>
                    <a:pt x="3854450" y="0"/>
                  </a:lnTo>
                  <a:lnTo>
                    <a:pt x="3854450" y="527177"/>
                  </a:lnTo>
                  <a:lnTo>
                    <a:pt x="0" y="5271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372" r="0" b="-92360"/>
              </a:stretch>
            </a:blipFill>
          </p:spPr>
        </p:sp>
      </p:grpSp>
      <p:sp>
        <p:nvSpPr>
          <p:cNvPr name="TextBox 144" id="144"/>
          <p:cNvSpPr txBox="true"/>
          <p:nvPr/>
        </p:nvSpPr>
        <p:spPr>
          <a:xfrm rot="0">
            <a:off x="585597" y="6470761"/>
            <a:ext cx="4600004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200000" r="-100000" t="200000" b="-100000"/>
                  </a:path>
                  <a:tileRect r="-300000" l="0" b="-300000" t="0"/>
                </a:gradFill>
                <a:latin typeface="Exo 2 Bold"/>
                <a:ea typeface="Exo 2 Bold"/>
                <a:cs typeface="Exo 2 Bold"/>
                <a:sym typeface="Exo 2 Bold"/>
              </a:rPr>
              <a:t>Client Feedback</a:t>
            </a:r>
          </a:p>
        </p:txBody>
      </p:sp>
      <p:grpSp>
        <p:nvGrpSpPr>
          <p:cNvPr name="Group 145" id="145"/>
          <p:cNvGrpSpPr/>
          <p:nvPr/>
        </p:nvGrpSpPr>
        <p:grpSpPr>
          <a:xfrm rot="0">
            <a:off x="1029224" y="7142274"/>
            <a:ext cx="16212312" cy="775716"/>
            <a:chOff x="0" y="0"/>
            <a:chExt cx="21616416" cy="103428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949" r="0" b="-356951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029224" y="7142274"/>
            <a:ext cx="16212312" cy="775716"/>
            <a:chOff x="0" y="0"/>
            <a:chExt cx="21616416" cy="103428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949" r="0" b="-356951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029224" y="7142274"/>
            <a:ext cx="16212312" cy="775811"/>
            <a:chOff x="0" y="0"/>
            <a:chExt cx="21616416" cy="1034415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1616415" cy="1034415"/>
            </a:xfrm>
            <a:custGeom>
              <a:avLst/>
              <a:gdLst/>
              <a:ahLst/>
              <a:cxnLst/>
              <a:rect r="r" b="b" t="t" l="l"/>
              <a:pathLst>
                <a:path h="10344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899" r="0" b="-356901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029224" y="7142274"/>
            <a:ext cx="16212312" cy="775764"/>
            <a:chOff x="0" y="0"/>
            <a:chExt cx="21616416" cy="103435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1616415" cy="1034415"/>
            </a:xfrm>
            <a:custGeom>
              <a:avLst/>
              <a:gdLst/>
              <a:ahLst/>
              <a:cxnLst/>
              <a:rect r="r" b="b" t="t" l="l"/>
              <a:pathLst>
                <a:path h="10344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903" r="0" b="-356897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029224" y="7142274"/>
            <a:ext cx="16212312" cy="775764"/>
            <a:chOff x="0" y="0"/>
            <a:chExt cx="21616416" cy="1034351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1616415" cy="1034352"/>
            </a:xfrm>
            <a:custGeom>
              <a:avLst/>
              <a:gdLst/>
              <a:ahLst/>
              <a:cxnLst/>
              <a:rect r="r" b="b" t="t" l="l"/>
              <a:pathLst>
                <a:path h="1034352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52"/>
                  </a:lnTo>
                  <a:lnTo>
                    <a:pt x="0" y="10343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7208" r="0" b="-357208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21616416" cy="1034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2148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Missing or incomplete documents: Many clients don't have the required KYC documents ready at the time of registration, causing delays or drop-off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635651" y="7265613"/>
            <a:ext cx="278130" cy="243364"/>
            <a:chOff x="0" y="0"/>
            <a:chExt cx="370840" cy="324485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70840" cy="324485"/>
            </a:xfrm>
            <a:custGeom>
              <a:avLst/>
              <a:gdLst/>
              <a:ahLst/>
              <a:cxnLst/>
              <a:rect r="r" b="b" t="t" l="l"/>
              <a:pathLst>
                <a:path h="324485" w="370840">
                  <a:moveTo>
                    <a:pt x="0" y="0"/>
                  </a:moveTo>
                  <a:lnTo>
                    <a:pt x="370840" y="0"/>
                  </a:lnTo>
                  <a:lnTo>
                    <a:pt x="370840" y="324485"/>
                  </a:lnTo>
                  <a:lnTo>
                    <a:pt x="0" y="3244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029224" y="7918037"/>
            <a:ext cx="16212312" cy="775716"/>
            <a:chOff x="0" y="0"/>
            <a:chExt cx="21616416" cy="103428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949" r="0" b="-356951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029224" y="7918037"/>
            <a:ext cx="16212312" cy="775716"/>
            <a:chOff x="0" y="0"/>
            <a:chExt cx="21616416" cy="103428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949" r="0" b="-356951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029224" y="7918037"/>
            <a:ext cx="16212312" cy="775811"/>
            <a:chOff x="0" y="0"/>
            <a:chExt cx="21616416" cy="1034415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1616415" cy="1034415"/>
            </a:xfrm>
            <a:custGeom>
              <a:avLst/>
              <a:gdLst/>
              <a:ahLst/>
              <a:cxnLst/>
              <a:rect r="r" b="b" t="t" l="l"/>
              <a:pathLst>
                <a:path h="10344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899" r="0" b="-356901"/>
              </a:stretch>
            </a:blip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029224" y="7918037"/>
            <a:ext cx="16212312" cy="775764"/>
            <a:chOff x="0" y="0"/>
            <a:chExt cx="21616416" cy="103435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1616415" cy="1034415"/>
            </a:xfrm>
            <a:custGeom>
              <a:avLst/>
              <a:gdLst/>
              <a:ahLst/>
              <a:cxnLst/>
              <a:rect r="r" b="b" t="t" l="l"/>
              <a:pathLst>
                <a:path h="10344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903" r="0" b="-356897"/>
              </a:stretch>
            </a:blip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029224" y="7918037"/>
            <a:ext cx="16212312" cy="775764"/>
            <a:chOff x="0" y="0"/>
            <a:chExt cx="21616416" cy="1034351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1616415" cy="1034352"/>
            </a:xfrm>
            <a:custGeom>
              <a:avLst/>
              <a:gdLst/>
              <a:ahLst/>
              <a:cxnLst/>
              <a:rect r="r" b="b" t="t" l="l"/>
              <a:pathLst>
                <a:path h="1034352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52"/>
                  </a:lnTo>
                  <a:lnTo>
                    <a:pt x="0" y="10343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7208" r="0" b="-357208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0"/>
              <a:ext cx="21616416" cy="1034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2148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KYC process feels too long: Clients report the verification steps take longer than expected, leading to frustration and mid-process abandonment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635651" y="8041376"/>
            <a:ext cx="278130" cy="243364"/>
            <a:chOff x="0" y="0"/>
            <a:chExt cx="370840" cy="324485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370840" cy="324485"/>
            </a:xfrm>
            <a:custGeom>
              <a:avLst/>
              <a:gdLst/>
              <a:ahLst/>
              <a:cxnLst/>
              <a:rect r="r" b="b" t="t" l="l"/>
              <a:pathLst>
                <a:path h="324485" w="370840">
                  <a:moveTo>
                    <a:pt x="0" y="0"/>
                  </a:moveTo>
                  <a:lnTo>
                    <a:pt x="370840" y="0"/>
                  </a:lnTo>
                  <a:lnTo>
                    <a:pt x="370840" y="324485"/>
                  </a:lnTo>
                  <a:lnTo>
                    <a:pt x="0" y="3244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2" r="0" b="-363"/>
              </a:stretch>
            </a:blipFill>
          </p:spPr>
        </p:sp>
      </p:grpSp>
      <p:sp>
        <p:nvSpPr>
          <p:cNvPr name="TextBox 173" id="173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15178932" y="9783042"/>
            <a:ext cx="129629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27</a:t>
            </a:r>
          </a:p>
        </p:txBody>
      </p:sp>
      <p:sp>
        <p:nvSpPr>
          <p:cNvPr name="Freeform 175" id="175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76" id="176"/>
          <p:cNvGrpSpPr/>
          <p:nvPr/>
        </p:nvGrpSpPr>
        <p:grpSpPr>
          <a:xfrm rot="0">
            <a:off x="879300" y="2840766"/>
            <a:ext cx="3547881" cy="493963"/>
            <a:chOff x="0" y="0"/>
            <a:chExt cx="3854488" cy="536651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854488" cy="536652"/>
            </a:xfrm>
            <a:custGeom>
              <a:avLst/>
              <a:gdLst/>
              <a:ahLst/>
              <a:cxnLst/>
              <a:rect r="r" b="b" t="t" l="l"/>
              <a:pathLst>
                <a:path h="536652" w="3854488">
                  <a:moveTo>
                    <a:pt x="0" y="0"/>
                  </a:moveTo>
                  <a:lnTo>
                    <a:pt x="3854488" y="0"/>
                  </a:lnTo>
                  <a:lnTo>
                    <a:pt x="3854488" y="536652"/>
                  </a:lnTo>
                  <a:lnTo>
                    <a:pt x="0" y="5366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950" r="0" b="-8995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9525"/>
              <a:ext cx="3854488" cy="54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Clients Contacted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531" y="2089490"/>
            <a:ext cx="4118705" cy="4334542"/>
            <a:chOff x="0" y="0"/>
            <a:chExt cx="5491607" cy="5779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1607" cy="5779389"/>
            </a:xfrm>
            <a:custGeom>
              <a:avLst/>
              <a:gdLst/>
              <a:ahLst/>
              <a:cxnLst/>
              <a:rect r="r" b="b" t="t" l="l"/>
              <a:pathLst>
                <a:path h="5779389" w="5491607">
                  <a:moveTo>
                    <a:pt x="0" y="0"/>
                  </a:moveTo>
                  <a:lnTo>
                    <a:pt x="5491607" y="0"/>
                  </a:lnTo>
                  <a:lnTo>
                    <a:pt x="5491607" y="5779389"/>
                  </a:lnTo>
                  <a:lnTo>
                    <a:pt x="0" y="5779389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70006" y="2089490"/>
            <a:ext cx="4118705" cy="4334542"/>
            <a:chOff x="0" y="0"/>
            <a:chExt cx="5491607" cy="5779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1607" cy="5779389"/>
            </a:xfrm>
            <a:custGeom>
              <a:avLst/>
              <a:gdLst/>
              <a:ahLst/>
              <a:cxnLst/>
              <a:rect r="r" b="b" t="t" l="l"/>
              <a:pathLst>
                <a:path h="5779389" w="5491607">
                  <a:moveTo>
                    <a:pt x="0" y="0"/>
                  </a:moveTo>
                  <a:lnTo>
                    <a:pt x="5491607" y="0"/>
                  </a:lnTo>
                  <a:lnTo>
                    <a:pt x="5491607" y="5779389"/>
                  </a:lnTo>
                  <a:lnTo>
                    <a:pt x="0" y="5779389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48906" y="2089490"/>
            <a:ext cx="4118705" cy="4334542"/>
            <a:chOff x="0" y="0"/>
            <a:chExt cx="5491607" cy="5779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1607" cy="5779389"/>
            </a:xfrm>
            <a:custGeom>
              <a:avLst/>
              <a:gdLst/>
              <a:ahLst/>
              <a:cxnLst/>
              <a:rect r="r" b="b" t="t" l="l"/>
              <a:pathLst>
                <a:path h="5779389" w="5491607">
                  <a:moveTo>
                    <a:pt x="0" y="0"/>
                  </a:moveTo>
                  <a:lnTo>
                    <a:pt x="5491607" y="0"/>
                  </a:lnTo>
                  <a:lnTo>
                    <a:pt x="5491607" y="5779389"/>
                  </a:lnTo>
                  <a:lnTo>
                    <a:pt x="0" y="5779389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54445" y="2089490"/>
            <a:ext cx="4118705" cy="4334542"/>
            <a:chOff x="0" y="0"/>
            <a:chExt cx="5491607" cy="5779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91607" cy="5779389"/>
            </a:xfrm>
            <a:custGeom>
              <a:avLst/>
              <a:gdLst/>
              <a:ahLst/>
              <a:cxnLst/>
              <a:rect r="r" b="b" t="t" l="l"/>
              <a:pathLst>
                <a:path h="5779389" w="5491607">
                  <a:moveTo>
                    <a:pt x="0" y="0"/>
                  </a:moveTo>
                  <a:lnTo>
                    <a:pt x="5491607" y="0"/>
                  </a:lnTo>
                  <a:lnTo>
                    <a:pt x="5491607" y="5779389"/>
                  </a:lnTo>
                  <a:lnTo>
                    <a:pt x="0" y="5779389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847" y="564280"/>
            <a:ext cx="13164598" cy="1595628"/>
            <a:chOff x="0" y="0"/>
            <a:chExt cx="17552797" cy="2127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2797" cy="2127504"/>
            </a:xfrm>
            <a:custGeom>
              <a:avLst/>
              <a:gdLst/>
              <a:ahLst/>
              <a:cxnLst/>
              <a:rect r="r" b="b" t="t" l="l"/>
              <a:pathLst>
                <a:path h="212750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2127504"/>
                  </a:lnTo>
                  <a:lnTo>
                    <a:pt x="0" y="2127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647" r="0" b="-11064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5847" y="557136"/>
            <a:ext cx="13164598" cy="1602676"/>
            <a:chOff x="0" y="0"/>
            <a:chExt cx="17552797" cy="21369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52797" cy="2136902"/>
            </a:xfrm>
            <a:custGeom>
              <a:avLst/>
              <a:gdLst/>
              <a:ahLst/>
              <a:cxnLst/>
              <a:rect r="r" b="b" t="t" l="l"/>
              <a:pathLst>
                <a:path h="2136902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2136902"/>
                  </a:lnTo>
                  <a:lnTo>
                    <a:pt x="0" y="2136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941" r="0" b="-1099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5847" y="549993"/>
            <a:ext cx="13164598" cy="1609916"/>
            <a:chOff x="0" y="0"/>
            <a:chExt cx="17552797" cy="21465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52797" cy="2146554"/>
            </a:xfrm>
            <a:custGeom>
              <a:avLst/>
              <a:gdLst/>
              <a:ahLst/>
              <a:cxnLst/>
              <a:rect r="r" b="b" t="t" l="l"/>
              <a:pathLst>
                <a:path h="2146554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2146554"/>
                  </a:lnTo>
                  <a:lnTo>
                    <a:pt x="0" y="21465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221" r="0" b="-10922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5847" y="542849"/>
            <a:ext cx="13164598" cy="1617012"/>
            <a:chOff x="0" y="0"/>
            <a:chExt cx="17552797" cy="2156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52797" cy="2156079"/>
            </a:xfrm>
            <a:custGeom>
              <a:avLst/>
              <a:gdLst/>
              <a:ahLst/>
              <a:cxnLst/>
              <a:rect r="r" b="b" t="t" l="l"/>
              <a:pathLst>
                <a:path h="2156079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2156079"/>
                  </a:lnTo>
                  <a:lnTo>
                    <a:pt x="0" y="21560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520" r="0" b="-10851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5847" y="535705"/>
            <a:ext cx="13164598" cy="1624155"/>
            <a:chOff x="0" y="0"/>
            <a:chExt cx="17552797" cy="21655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52797" cy="2165541"/>
            </a:xfrm>
            <a:custGeom>
              <a:avLst/>
              <a:gdLst/>
              <a:ahLst/>
              <a:cxnLst/>
              <a:rect r="r" b="b" t="t" l="l"/>
              <a:pathLst>
                <a:path h="2165541" w="17552797">
                  <a:moveTo>
                    <a:pt x="0" y="0"/>
                  </a:moveTo>
                  <a:lnTo>
                    <a:pt x="17552797" y="0"/>
                  </a:lnTo>
                  <a:lnTo>
                    <a:pt x="17552797" y="2165541"/>
                  </a:lnTo>
                  <a:lnTo>
                    <a:pt x="0" y="21655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936" r="0" b="-1079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7552797" cy="217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Client Interaction Journey</a:t>
              </a:r>
            </a:p>
            <a:p>
              <a:pPr algn="l">
                <a:lnSpc>
                  <a:spcPts val="52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5597" y="2217420"/>
            <a:ext cx="2948940" cy="480060"/>
            <a:chOff x="0" y="0"/>
            <a:chExt cx="393192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85597" y="2217420"/>
            <a:ext cx="2948940" cy="480060"/>
            <a:chOff x="0" y="0"/>
            <a:chExt cx="393192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85597" y="2217420"/>
            <a:ext cx="2948940" cy="480060"/>
            <a:chOff x="0" y="0"/>
            <a:chExt cx="393192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85597" y="2217420"/>
            <a:ext cx="2948940" cy="480060"/>
            <a:chOff x="0" y="0"/>
            <a:chExt cx="3931920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85597" y="2217420"/>
            <a:ext cx="2948940" cy="480060"/>
            <a:chOff x="0" y="0"/>
            <a:chExt cx="393192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9319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DAY 1 CALL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19680" y="1381125"/>
            <a:ext cx="2948940" cy="3593497"/>
            <a:chOff x="0" y="0"/>
            <a:chExt cx="3931920" cy="47913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31920" cy="4791329"/>
            </a:xfrm>
            <a:custGeom>
              <a:avLst/>
              <a:gdLst/>
              <a:ahLst/>
              <a:cxnLst/>
              <a:rect r="r" b="b" t="t" l="l"/>
              <a:pathLst>
                <a:path h="4791329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791329"/>
                  </a:lnTo>
                  <a:lnTo>
                    <a:pt x="0" y="4791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456" t="0" r="-106456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19680" y="1373981"/>
            <a:ext cx="2948940" cy="3600640"/>
            <a:chOff x="0" y="0"/>
            <a:chExt cx="3931920" cy="48008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31920" cy="4800854"/>
            </a:xfrm>
            <a:custGeom>
              <a:avLst/>
              <a:gdLst/>
              <a:ahLst/>
              <a:cxnLst/>
              <a:rect r="r" b="b" t="t" l="l"/>
              <a:pathLst>
                <a:path h="480085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00854"/>
                  </a:lnTo>
                  <a:lnTo>
                    <a:pt x="0" y="4800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767" t="0" r="-106766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19680" y="1366838"/>
            <a:ext cx="2948940" cy="3607784"/>
            <a:chOff x="0" y="0"/>
            <a:chExt cx="3931920" cy="48103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31920" cy="4810379"/>
            </a:xfrm>
            <a:custGeom>
              <a:avLst/>
              <a:gdLst/>
              <a:ahLst/>
              <a:cxnLst/>
              <a:rect r="r" b="b" t="t" l="l"/>
              <a:pathLst>
                <a:path h="4810379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10379"/>
                  </a:lnTo>
                  <a:lnTo>
                    <a:pt x="0" y="48103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7078" t="0" r="-107077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19680" y="1359694"/>
            <a:ext cx="2948940" cy="3614880"/>
            <a:chOff x="0" y="0"/>
            <a:chExt cx="3931920" cy="4819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31920" cy="4819904"/>
            </a:xfrm>
            <a:custGeom>
              <a:avLst/>
              <a:gdLst/>
              <a:ahLst/>
              <a:cxnLst/>
              <a:rect r="r" b="b" t="t" l="l"/>
              <a:pathLst>
                <a:path h="481990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19904"/>
                  </a:lnTo>
                  <a:lnTo>
                    <a:pt x="0" y="48199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386" t="0" r="-107386" b="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19680" y="1352550"/>
            <a:ext cx="2948940" cy="3622024"/>
            <a:chOff x="0" y="0"/>
            <a:chExt cx="3931920" cy="482936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31920" cy="4829365"/>
            </a:xfrm>
            <a:custGeom>
              <a:avLst/>
              <a:gdLst/>
              <a:ahLst/>
              <a:cxnLst/>
              <a:rect r="r" b="b" t="t" l="l"/>
              <a:pathLst>
                <a:path h="482936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29365"/>
                  </a:lnTo>
                  <a:lnTo>
                    <a:pt x="0" y="48293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588" t="0" r="-107588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931920" cy="4838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7"/>
                </a:lnSpc>
              </a:pPr>
              <a:r>
                <a:rPr lang="en-US" sz="4898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19680" y="3570980"/>
            <a:ext cx="2948940" cy="685800"/>
            <a:chOff x="0" y="0"/>
            <a:chExt cx="393192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27" r="0" b="-33726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19680" y="3563836"/>
            <a:ext cx="2948940" cy="692944"/>
            <a:chOff x="0" y="0"/>
            <a:chExt cx="3931920" cy="9239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31920" cy="923925"/>
            </a:xfrm>
            <a:custGeom>
              <a:avLst/>
              <a:gdLst/>
              <a:ahLst/>
              <a:cxnLst/>
              <a:rect r="r" b="b" t="t" l="l"/>
              <a:pathLst>
                <a:path h="92392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64" r="0" b="-3286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19680" y="3556692"/>
            <a:ext cx="2948940" cy="700088"/>
            <a:chOff x="0" y="0"/>
            <a:chExt cx="3931920" cy="9334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31920" cy="933450"/>
            </a:xfrm>
            <a:custGeom>
              <a:avLst/>
              <a:gdLst/>
              <a:ahLst/>
              <a:cxnLst/>
              <a:rect r="r" b="b" t="t" l="l"/>
              <a:pathLst>
                <a:path h="93345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19" r="0" b="-32017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19680" y="3549548"/>
            <a:ext cx="2948940" cy="707231"/>
            <a:chOff x="0" y="0"/>
            <a:chExt cx="3931920" cy="9429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31920" cy="942975"/>
            </a:xfrm>
            <a:custGeom>
              <a:avLst/>
              <a:gdLst/>
              <a:ahLst/>
              <a:cxnLst/>
              <a:rect r="r" b="b" t="t" l="l"/>
              <a:pathLst>
                <a:path h="94297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42975"/>
                  </a:lnTo>
                  <a:lnTo>
                    <a:pt x="0" y="9429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190" r="0" b="-31189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19680" y="3542405"/>
            <a:ext cx="2948940" cy="714375"/>
            <a:chOff x="0" y="0"/>
            <a:chExt cx="3931920" cy="952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31920" cy="952500"/>
            </a:xfrm>
            <a:custGeom>
              <a:avLst/>
              <a:gdLst/>
              <a:ahLst/>
              <a:cxnLst/>
              <a:rect r="r" b="b" t="t" l="l"/>
              <a:pathLst>
                <a:path h="9525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434" r="0" b="-3043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931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First Contact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9680" y="3931787"/>
            <a:ext cx="2948940" cy="2167318"/>
            <a:chOff x="0" y="0"/>
            <a:chExt cx="3931920" cy="288975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31920" cy="2889758"/>
            </a:xfrm>
            <a:custGeom>
              <a:avLst/>
              <a:gdLst/>
              <a:ahLst/>
              <a:cxnLst/>
              <a:rect r="r" b="b" t="t" l="l"/>
              <a:pathLst>
                <a:path h="288975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889758"/>
                  </a:lnTo>
                  <a:lnTo>
                    <a:pt x="0" y="2889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362" t="0" r="-44362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19680" y="3888924"/>
            <a:ext cx="2948940" cy="2210181"/>
            <a:chOff x="0" y="0"/>
            <a:chExt cx="3931920" cy="29469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931920" cy="2946908"/>
            </a:xfrm>
            <a:custGeom>
              <a:avLst/>
              <a:gdLst/>
              <a:ahLst/>
              <a:cxnLst/>
              <a:rect r="r" b="b" t="t" l="l"/>
              <a:pathLst>
                <a:path h="29469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46908"/>
                  </a:lnTo>
                  <a:lnTo>
                    <a:pt x="0" y="2946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8" t="0" r="-46228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19680" y="3846062"/>
            <a:ext cx="2948940" cy="2253044"/>
            <a:chOff x="0" y="0"/>
            <a:chExt cx="3931920" cy="300405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31920" cy="3004058"/>
            </a:xfrm>
            <a:custGeom>
              <a:avLst/>
              <a:gdLst/>
              <a:ahLst/>
              <a:cxnLst/>
              <a:rect r="r" b="b" t="t" l="l"/>
              <a:pathLst>
                <a:path h="300405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3004058"/>
                  </a:lnTo>
                  <a:lnTo>
                    <a:pt x="0" y="30040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094" t="0" r="-48094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19680" y="3803199"/>
            <a:ext cx="2948940" cy="2295877"/>
            <a:chOff x="0" y="0"/>
            <a:chExt cx="3931920" cy="30611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31920" cy="3061208"/>
            </a:xfrm>
            <a:custGeom>
              <a:avLst/>
              <a:gdLst/>
              <a:ahLst/>
              <a:cxnLst/>
              <a:rect r="r" b="b" t="t" l="l"/>
              <a:pathLst>
                <a:path h="30612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3061208"/>
                  </a:lnTo>
                  <a:lnTo>
                    <a:pt x="0" y="30612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9959" t="0" r="-49959" b="1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19680" y="3760337"/>
            <a:ext cx="2948940" cy="2338740"/>
            <a:chOff x="0" y="0"/>
            <a:chExt cx="3931920" cy="31183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31920" cy="3118319"/>
            </a:xfrm>
            <a:custGeom>
              <a:avLst/>
              <a:gdLst/>
              <a:ahLst/>
              <a:cxnLst/>
              <a:rect r="r" b="b" t="t" l="l"/>
              <a:pathLst>
                <a:path h="3118319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3118319"/>
                  </a:lnTo>
                  <a:lnTo>
                    <a:pt x="0" y="311831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1754" t="0" r="-5175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3931920" cy="3175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Reach out directly by phone. Guide the client through whatever step they're stuck on.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136566" y="2292953"/>
            <a:ext cx="2948940" cy="345948"/>
            <a:chOff x="0" y="0"/>
            <a:chExt cx="3931920" cy="4612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931920" cy="461264"/>
            </a:xfrm>
            <a:custGeom>
              <a:avLst/>
              <a:gdLst/>
              <a:ahLst/>
              <a:cxnLst/>
              <a:rect r="r" b="b" t="t" l="l"/>
              <a:pathLst>
                <a:path h="46126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61264"/>
                  </a:lnTo>
                  <a:lnTo>
                    <a:pt x="0" y="461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980" r="0" b="-115977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136566" y="2292953"/>
            <a:ext cx="2948940" cy="345948"/>
            <a:chOff x="0" y="0"/>
            <a:chExt cx="3931920" cy="4612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31920" cy="461264"/>
            </a:xfrm>
            <a:custGeom>
              <a:avLst/>
              <a:gdLst/>
              <a:ahLst/>
              <a:cxnLst/>
              <a:rect r="r" b="b" t="t" l="l"/>
              <a:pathLst>
                <a:path h="46126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61264"/>
                  </a:lnTo>
                  <a:lnTo>
                    <a:pt x="0" y="46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980" r="0" b="-115977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136566" y="2292953"/>
            <a:ext cx="2948940" cy="345948"/>
            <a:chOff x="0" y="0"/>
            <a:chExt cx="3931920" cy="4612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931920" cy="461264"/>
            </a:xfrm>
            <a:custGeom>
              <a:avLst/>
              <a:gdLst/>
              <a:ahLst/>
              <a:cxnLst/>
              <a:rect r="r" b="b" t="t" l="l"/>
              <a:pathLst>
                <a:path h="46126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61264"/>
                  </a:lnTo>
                  <a:lnTo>
                    <a:pt x="0" y="4612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980" r="0" b="-115977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136566" y="2292953"/>
            <a:ext cx="2948940" cy="345929"/>
            <a:chOff x="0" y="0"/>
            <a:chExt cx="3931920" cy="46123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31920" cy="461264"/>
            </a:xfrm>
            <a:custGeom>
              <a:avLst/>
              <a:gdLst/>
              <a:ahLst/>
              <a:cxnLst/>
              <a:rect r="r" b="b" t="t" l="l"/>
              <a:pathLst>
                <a:path h="46126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61264"/>
                  </a:lnTo>
                  <a:lnTo>
                    <a:pt x="0" y="4612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5982" r="0" b="-115974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5136566" y="2292953"/>
            <a:ext cx="2948940" cy="345929"/>
            <a:chOff x="0" y="0"/>
            <a:chExt cx="3931920" cy="46123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31920" cy="461239"/>
            </a:xfrm>
            <a:custGeom>
              <a:avLst/>
              <a:gdLst/>
              <a:ahLst/>
              <a:cxnLst/>
              <a:rect r="r" b="b" t="t" l="l"/>
              <a:pathLst>
                <a:path h="461239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61239"/>
                  </a:lnTo>
                  <a:lnTo>
                    <a:pt x="0" y="4612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6104" r="0" b="-11610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931920" cy="461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DAY 1 EMAIL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566173" y="1362075"/>
            <a:ext cx="694849" cy="3593497"/>
            <a:chOff x="0" y="0"/>
            <a:chExt cx="926465" cy="479132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6465" cy="4791329"/>
            </a:xfrm>
            <a:custGeom>
              <a:avLst/>
              <a:gdLst/>
              <a:ahLst/>
              <a:cxnLst/>
              <a:rect r="r" b="b" t="t" l="l"/>
              <a:pathLst>
                <a:path h="4791329" w="926465">
                  <a:moveTo>
                    <a:pt x="0" y="0"/>
                  </a:moveTo>
                  <a:lnTo>
                    <a:pt x="926465" y="0"/>
                  </a:lnTo>
                  <a:lnTo>
                    <a:pt x="926465" y="4791329"/>
                  </a:lnTo>
                  <a:lnTo>
                    <a:pt x="0" y="4791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000" t="0" r="-61400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566173" y="1354931"/>
            <a:ext cx="694849" cy="3600640"/>
            <a:chOff x="0" y="0"/>
            <a:chExt cx="926465" cy="480085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26465" cy="4800854"/>
            </a:xfrm>
            <a:custGeom>
              <a:avLst/>
              <a:gdLst/>
              <a:ahLst/>
              <a:cxnLst/>
              <a:rect r="r" b="b" t="t" l="l"/>
              <a:pathLst>
                <a:path h="4800854" w="926465">
                  <a:moveTo>
                    <a:pt x="0" y="0"/>
                  </a:moveTo>
                  <a:lnTo>
                    <a:pt x="926465" y="0"/>
                  </a:lnTo>
                  <a:lnTo>
                    <a:pt x="926465" y="4800854"/>
                  </a:lnTo>
                  <a:lnTo>
                    <a:pt x="0" y="4800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5320" t="0" r="-615318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566173" y="1347788"/>
            <a:ext cx="694849" cy="3607784"/>
            <a:chOff x="0" y="0"/>
            <a:chExt cx="926465" cy="481037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6465" cy="4810379"/>
            </a:xfrm>
            <a:custGeom>
              <a:avLst/>
              <a:gdLst/>
              <a:ahLst/>
              <a:cxnLst/>
              <a:rect r="r" b="b" t="t" l="l"/>
              <a:pathLst>
                <a:path h="4810379" w="926465">
                  <a:moveTo>
                    <a:pt x="0" y="0"/>
                  </a:moveTo>
                  <a:lnTo>
                    <a:pt x="926465" y="0"/>
                  </a:lnTo>
                  <a:lnTo>
                    <a:pt x="926465" y="4810379"/>
                  </a:lnTo>
                  <a:lnTo>
                    <a:pt x="0" y="48103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6640" t="0" r="-616638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6566173" y="1340644"/>
            <a:ext cx="694849" cy="3614880"/>
            <a:chOff x="0" y="0"/>
            <a:chExt cx="926465" cy="4819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26465" cy="4819904"/>
            </a:xfrm>
            <a:custGeom>
              <a:avLst/>
              <a:gdLst/>
              <a:ahLst/>
              <a:cxnLst/>
              <a:rect r="r" b="b" t="t" l="l"/>
              <a:pathLst>
                <a:path h="4819904" w="926465">
                  <a:moveTo>
                    <a:pt x="0" y="0"/>
                  </a:moveTo>
                  <a:lnTo>
                    <a:pt x="926465" y="0"/>
                  </a:lnTo>
                  <a:lnTo>
                    <a:pt x="926465" y="4819904"/>
                  </a:lnTo>
                  <a:lnTo>
                    <a:pt x="0" y="48199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17950" t="0" r="-617950" b="1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566173" y="1333500"/>
            <a:ext cx="694849" cy="3622024"/>
            <a:chOff x="0" y="0"/>
            <a:chExt cx="926465" cy="482936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26465" cy="4829365"/>
            </a:xfrm>
            <a:custGeom>
              <a:avLst/>
              <a:gdLst/>
              <a:ahLst/>
              <a:cxnLst/>
              <a:rect r="r" b="b" t="t" l="l"/>
              <a:pathLst>
                <a:path h="4829365" w="926465">
                  <a:moveTo>
                    <a:pt x="0" y="0"/>
                  </a:moveTo>
                  <a:lnTo>
                    <a:pt x="926465" y="0"/>
                  </a:lnTo>
                  <a:lnTo>
                    <a:pt x="926465" y="4829365"/>
                  </a:lnTo>
                  <a:lnTo>
                    <a:pt x="0" y="48293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18805" t="0" r="-618805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926465" cy="4838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7"/>
                </a:lnSpc>
              </a:pPr>
              <a:r>
                <a:rPr lang="en-US" sz="4898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39127" y="3377117"/>
            <a:ext cx="2948940" cy="1073563"/>
            <a:chOff x="0" y="0"/>
            <a:chExt cx="3931920" cy="143141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931920" cy="1431417"/>
            </a:xfrm>
            <a:custGeom>
              <a:avLst/>
              <a:gdLst/>
              <a:ahLst/>
              <a:cxnLst/>
              <a:rect r="r" b="b" t="t" l="l"/>
              <a:pathLst>
                <a:path h="1431417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431417"/>
                  </a:lnTo>
                  <a:lnTo>
                    <a:pt x="0" y="14314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5" r="0" b="-348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439127" y="3369974"/>
            <a:ext cx="2948940" cy="1080706"/>
            <a:chOff x="0" y="0"/>
            <a:chExt cx="3931920" cy="144094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931920" cy="1440942"/>
            </a:xfrm>
            <a:custGeom>
              <a:avLst/>
              <a:gdLst/>
              <a:ahLst/>
              <a:cxnLst/>
              <a:rect r="r" b="b" t="t" l="l"/>
              <a:pathLst>
                <a:path h="144094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440942"/>
                  </a:lnTo>
                  <a:lnTo>
                    <a:pt x="0" y="1440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2" r="0" b="-3131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439127" y="3362830"/>
            <a:ext cx="2948940" cy="1087850"/>
            <a:chOff x="0" y="0"/>
            <a:chExt cx="3931920" cy="145046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931920" cy="1450467"/>
            </a:xfrm>
            <a:custGeom>
              <a:avLst/>
              <a:gdLst/>
              <a:ahLst/>
              <a:cxnLst/>
              <a:rect r="r" b="b" t="t" l="l"/>
              <a:pathLst>
                <a:path h="1450467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450467"/>
                  </a:lnTo>
                  <a:lnTo>
                    <a:pt x="0" y="14504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3" r="0" b="-2782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5439127" y="3355686"/>
            <a:ext cx="2948940" cy="1094946"/>
            <a:chOff x="0" y="0"/>
            <a:chExt cx="3931920" cy="145992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31920" cy="1459992"/>
            </a:xfrm>
            <a:custGeom>
              <a:avLst/>
              <a:gdLst/>
              <a:ahLst/>
              <a:cxnLst/>
              <a:rect r="r" b="b" t="t" l="l"/>
              <a:pathLst>
                <a:path h="14599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459992"/>
                  </a:lnTo>
                  <a:lnTo>
                    <a:pt x="0" y="14599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0" r="0" b="-2436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439127" y="3348542"/>
            <a:ext cx="2948940" cy="1102090"/>
            <a:chOff x="0" y="0"/>
            <a:chExt cx="3931920" cy="146945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931920" cy="1469453"/>
            </a:xfrm>
            <a:custGeom>
              <a:avLst/>
              <a:gdLst/>
              <a:ahLst/>
              <a:cxnLst/>
              <a:rect r="r" b="b" t="t" l="l"/>
              <a:pathLst>
                <a:path h="1469453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469453"/>
                  </a:lnTo>
                  <a:lnTo>
                    <a:pt x="0" y="14694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37" r="0" b="-213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3931920" cy="14789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Email Reminder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439127" y="4240578"/>
            <a:ext cx="2983135" cy="1859375"/>
            <a:chOff x="0" y="0"/>
            <a:chExt cx="3977513" cy="247916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977513" cy="2479167"/>
            </a:xfrm>
            <a:custGeom>
              <a:avLst/>
              <a:gdLst/>
              <a:ahLst/>
              <a:cxnLst/>
              <a:rect r="r" b="b" t="t" l="l"/>
              <a:pathLst>
                <a:path h="2479167" w="3977513">
                  <a:moveTo>
                    <a:pt x="0" y="0"/>
                  </a:moveTo>
                  <a:lnTo>
                    <a:pt x="3977513" y="0"/>
                  </a:lnTo>
                  <a:lnTo>
                    <a:pt x="3977513" y="2479167"/>
                  </a:lnTo>
                  <a:lnTo>
                    <a:pt x="0" y="24791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026" t="0" r="-30026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439127" y="4197715"/>
            <a:ext cx="2983135" cy="1902238"/>
            <a:chOff x="0" y="0"/>
            <a:chExt cx="3977513" cy="253631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77513" cy="2536317"/>
            </a:xfrm>
            <a:custGeom>
              <a:avLst/>
              <a:gdLst/>
              <a:ahLst/>
              <a:cxnLst/>
              <a:rect r="r" b="b" t="t" l="l"/>
              <a:pathLst>
                <a:path h="2536317" w="3977513">
                  <a:moveTo>
                    <a:pt x="0" y="0"/>
                  </a:moveTo>
                  <a:lnTo>
                    <a:pt x="3977513" y="0"/>
                  </a:lnTo>
                  <a:lnTo>
                    <a:pt x="3977513" y="2536317"/>
                  </a:lnTo>
                  <a:lnTo>
                    <a:pt x="0" y="2536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871" t="0" r="-31871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439127" y="4154853"/>
            <a:ext cx="2983135" cy="1945100"/>
            <a:chOff x="0" y="0"/>
            <a:chExt cx="3977513" cy="259346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77513" cy="2593467"/>
            </a:xfrm>
            <a:custGeom>
              <a:avLst/>
              <a:gdLst/>
              <a:ahLst/>
              <a:cxnLst/>
              <a:rect r="r" b="b" t="t" l="l"/>
              <a:pathLst>
                <a:path h="2593467" w="3977513">
                  <a:moveTo>
                    <a:pt x="0" y="0"/>
                  </a:moveTo>
                  <a:lnTo>
                    <a:pt x="3977513" y="0"/>
                  </a:lnTo>
                  <a:lnTo>
                    <a:pt x="3977513" y="2593467"/>
                  </a:lnTo>
                  <a:lnTo>
                    <a:pt x="0" y="25934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716" t="0" r="-33716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5439127" y="4111990"/>
            <a:ext cx="2983154" cy="1987991"/>
            <a:chOff x="0" y="0"/>
            <a:chExt cx="3977538" cy="265065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977513" cy="2650617"/>
            </a:xfrm>
            <a:custGeom>
              <a:avLst/>
              <a:gdLst/>
              <a:ahLst/>
              <a:cxnLst/>
              <a:rect r="r" b="b" t="t" l="l"/>
              <a:pathLst>
                <a:path h="2650617" w="3977513">
                  <a:moveTo>
                    <a:pt x="0" y="0"/>
                  </a:moveTo>
                  <a:lnTo>
                    <a:pt x="3977513" y="0"/>
                  </a:lnTo>
                  <a:lnTo>
                    <a:pt x="3977513" y="2650617"/>
                  </a:lnTo>
                  <a:lnTo>
                    <a:pt x="0" y="26506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5561" t="0" r="-35562" b="-1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5439127" y="4069128"/>
            <a:ext cx="2983154" cy="2030854"/>
            <a:chOff x="0" y="0"/>
            <a:chExt cx="3977538" cy="270780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977539" cy="2707805"/>
            </a:xfrm>
            <a:custGeom>
              <a:avLst/>
              <a:gdLst/>
              <a:ahLst/>
              <a:cxnLst/>
              <a:rect r="r" b="b" t="t" l="l"/>
              <a:pathLst>
                <a:path h="2707805" w="3977539">
                  <a:moveTo>
                    <a:pt x="0" y="0"/>
                  </a:moveTo>
                  <a:lnTo>
                    <a:pt x="3977539" y="0"/>
                  </a:lnTo>
                  <a:lnTo>
                    <a:pt x="3977539" y="2707805"/>
                  </a:lnTo>
                  <a:lnTo>
                    <a:pt x="0" y="27078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7345" t="0" r="-37345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57150"/>
              <a:ext cx="3977538" cy="276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Send a reminder email at the end of the day outlining the steps required to progress through their current stage.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554137" y="2217420"/>
            <a:ext cx="2948940" cy="480060"/>
            <a:chOff x="0" y="0"/>
            <a:chExt cx="3931920" cy="6400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554137" y="2217420"/>
            <a:ext cx="2948940" cy="480060"/>
            <a:chOff x="0" y="0"/>
            <a:chExt cx="3931920" cy="6400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554137" y="2217420"/>
            <a:ext cx="2948940" cy="480060"/>
            <a:chOff x="0" y="0"/>
            <a:chExt cx="3931920" cy="6400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554137" y="2217420"/>
            <a:ext cx="2948940" cy="480060"/>
            <a:chOff x="0" y="0"/>
            <a:chExt cx="3931920" cy="6400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554137" y="2217420"/>
            <a:ext cx="2948940" cy="480060"/>
            <a:chOff x="0" y="0"/>
            <a:chExt cx="3931920" cy="6400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39319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DAY 3 CALL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747275" y="1381125"/>
            <a:ext cx="2948940" cy="3593497"/>
            <a:chOff x="0" y="0"/>
            <a:chExt cx="3931920" cy="479132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931920" cy="4791329"/>
            </a:xfrm>
            <a:custGeom>
              <a:avLst/>
              <a:gdLst/>
              <a:ahLst/>
              <a:cxnLst/>
              <a:rect r="r" b="b" t="t" l="l"/>
              <a:pathLst>
                <a:path h="4791329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791329"/>
                  </a:lnTo>
                  <a:lnTo>
                    <a:pt x="0" y="4791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456" t="0" r="-106456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747275" y="1373981"/>
            <a:ext cx="2948940" cy="3600640"/>
            <a:chOff x="0" y="0"/>
            <a:chExt cx="3931920" cy="480085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931920" cy="4800854"/>
            </a:xfrm>
            <a:custGeom>
              <a:avLst/>
              <a:gdLst/>
              <a:ahLst/>
              <a:cxnLst/>
              <a:rect r="r" b="b" t="t" l="l"/>
              <a:pathLst>
                <a:path h="480085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00854"/>
                  </a:lnTo>
                  <a:lnTo>
                    <a:pt x="0" y="4800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767" t="0" r="-106766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747275" y="1366838"/>
            <a:ext cx="2948940" cy="3607784"/>
            <a:chOff x="0" y="0"/>
            <a:chExt cx="3931920" cy="4810379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931920" cy="4810379"/>
            </a:xfrm>
            <a:custGeom>
              <a:avLst/>
              <a:gdLst/>
              <a:ahLst/>
              <a:cxnLst/>
              <a:rect r="r" b="b" t="t" l="l"/>
              <a:pathLst>
                <a:path h="4810379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10379"/>
                  </a:lnTo>
                  <a:lnTo>
                    <a:pt x="0" y="48103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7078" t="0" r="-107077" b="0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747275" y="1359694"/>
            <a:ext cx="2948940" cy="3614880"/>
            <a:chOff x="0" y="0"/>
            <a:chExt cx="3931920" cy="48198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931920" cy="4819904"/>
            </a:xfrm>
            <a:custGeom>
              <a:avLst/>
              <a:gdLst/>
              <a:ahLst/>
              <a:cxnLst/>
              <a:rect r="r" b="b" t="t" l="l"/>
              <a:pathLst>
                <a:path h="481990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19904"/>
                  </a:lnTo>
                  <a:lnTo>
                    <a:pt x="0" y="48199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386" t="0" r="-107386" b="1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747275" y="1352550"/>
            <a:ext cx="2948940" cy="3622024"/>
            <a:chOff x="0" y="0"/>
            <a:chExt cx="3931920" cy="482936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931920" cy="4829365"/>
            </a:xfrm>
            <a:custGeom>
              <a:avLst/>
              <a:gdLst/>
              <a:ahLst/>
              <a:cxnLst/>
              <a:rect r="r" b="b" t="t" l="l"/>
              <a:pathLst>
                <a:path h="482936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829365"/>
                  </a:lnTo>
                  <a:lnTo>
                    <a:pt x="0" y="48293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588" t="0" r="-107588" b="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3931920" cy="4838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7"/>
                </a:lnSpc>
              </a:pPr>
              <a:r>
                <a:rPr lang="en-US" sz="4898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747275" y="3570980"/>
            <a:ext cx="2948940" cy="685800"/>
            <a:chOff x="0" y="0"/>
            <a:chExt cx="3931920" cy="9144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27" r="0" b="-33726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747275" y="3563836"/>
            <a:ext cx="2948940" cy="692944"/>
            <a:chOff x="0" y="0"/>
            <a:chExt cx="3931920" cy="923925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931920" cy="923925"/>
            </a:xfrm>
            <a:custGeom>
              <a:avLst/>
              <a:gdLst/>
              <a:ahLst/>
              <a:cxnLst/>
              <a:rect r="r" b="b" t="t" l="l"/>
              <a:pathLst>
                <a:path h="92392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64" r="0" b="-32863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747275" y="3556692"/>
            <a:ext cx="2948940" cy="700088"/>
            <a:chOff x="0" y="0"/>
            <a:chExt cx="3931920" cy="93345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931920" cy="933450"/>
            </a:xfrm>
            <a:custGeom>
              <a:avLst/>
              <a:gdLst/>
              <a:ahLst/>
              <a:cxnLst/>
              <a:rect r="r" b="b" t="t" l="l"/>
              <a:pathLst>
                <a:path h="93345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19" r="0" b="-32017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747275" y="3549548"/>
            <a:ext cx="2948940" cy="707231"/>
            <a:chOff x="0" y="0"/>
            <a:chExt cx="3931920" cy="942975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931920" cy="942975"/>
            </a:xfrm>
            <a:custGeom>
              <a:avLst/>
              <a:gdLst/>
              <a:ahLst/>
              <a:cxnLst/>
              <a:rect r="r" b="b" t="t" l="l"/>
              <a:pathLst>
                <a:path h="94297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42975"/>
                  </a:lnTo>
                  <a:lnTo>
                    <a:pt x="0" y="9429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190" r="0" b="-31189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747275" y="3542405"/>
            <a:ext cx="2948940" cy="714375"/>
            <a:chOff x="0" y="0"/>
            <a:chExt cx="3931920" cy="9525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931920" cy="952500"/>
            </a:xfrm>
            <a:custGeom>
              <a:avLst/>
              <a:gdLst/>
              <a:ahLst/>
              <a:cxnLst/>
              <a:rect r="r" b="b" t="t" l="l"/>
              <a:pathLst>
                <a:path h="9525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434" r="0" b="-30434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3931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Second Call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836534" y="4187923"/>
            <a:ext cx="2948940" cy="1911191"/>
            <a:chOff x="0" y="0"/>
            <a:chExt cx="3931920" cy="254825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931920" cy="2548255"/>
            </a:xfrm>
            <a:custGeom>
              <a:avLst/>
              <a:gdLst/>
              <a:ahLst/>
              <a:cxnLst/>
              <a:rect r="r" b="b" t="t" l="l"/>
              <a:pathLst>
                <a:path h="254825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548255"/>
                  </a:lnTo>
                  <a:lnTo>
                    <a:pt x="0" y="2548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210" t="0" r="-33210" b="0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836534" y="4145061"/>
            <a:ext cx="2948940" cy="1954054"/>
            <a:chOff x="0" y="0"/>
            <a:chExt cx="3931920" cy="260540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931920" cy="2605405"/>
            </a:xfrm>
            <a:custGeom>
              <a:avLst/>
              <a:gdLst/>
              <a:ahLst/>
              <a:cxnLst/>
              <a:rect r="r" b="b" t="t" l="l"/>
              <a:pathLst>
                <a:path h="260540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605405"/>
                  </a:lnTo>
                  <a:lnTo>
                    <a:pt x="0" y="2605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076" t="0" r="-35076" b="0"/>
              </a:stretch>
            </a:blip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836534" y="4102198"/>
            <a:ext cx="2948940" cy="1996916"/>
            <a:chOff x="0" y="0"/>
            <a:chExt cx="3931920" cy="2662555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931920" cy="2662555"/>
            </a:xfrm>
            <a:custGeom>
              <a:avLst/>
              <a:gdLst/>
              <a:ahLst/>
              <a:cxnLst/>
              <a:rect r="r" b="b" t="t" l="l"/>
              <a:pathLst>
                <a:path h="266255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662555"/>
                  </a:lnTo>
                  <a:lnTo>
                    <a:pt x="0" y="26625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943" t="0" r="-36942" b="0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836534" y="4059336"/>
            <a:ext cx="2948940" cy="2039741"/>
            <a:chOff x="0" y="0"/>
            <a:chExt cx="3931920" cy="2719654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931920" cy="2719705"/>
            </a:xfrm>
            <a:custGeom>
              <a:avLst/>
              <a:gdLst/>
              <a:ahLst/>
              <a:cxnLst/>
              <a:rect r="r" b="b" t="t" l="l"/>
              <a:pathLst>
                <a:path h="271970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719705"/>
                  </a:lnTo>
                  <a:lnTo>
                    <a:pt x="0" y="27197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8807" t="0" r="-38807" b="1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836534" y="4016473"/>
            <a:ext cx="2948940" cy="2082603"/>
            <a:chOff x="0" y="0"/>
            <a:chExt cx="3931920" cy="277680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931920" cy="2776805"/>
            </a:xfrm>
            <a:custGeom>
              <a:avLst/>
              <a:gdLst/>
              <a:ahLst/>
              <a:cxnLst/>
              <a:rect r="r" b="b" t="t" l="l"/>
              <a:pathLst>
                <a:path h="277680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776805"/>
                  </a:lnTo>
                  <a:lnTo>
                    <a:pt x="0" y="27768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0610" t="0" r="-40610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57150"/>
              <a:ext cx="3931920" cy="2833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Follow up with a second call, conveying greater urgency and offering to walk the client through the process live.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903223" y="2225888"/>
            <a:ext cx="2948940" cy="480060"/>
            <a:chOff x="0" y="0"/>
            <a:chExt cx="3931920" cy="6400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903223" y="2225888"/>
            <a:ext cx="2948940" cy="480060"/>
            <a:chOff x="0" y="0"/>
            <a:chExt cx="3931920" cy="64008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3903223" y="2225888"/>
            <a:ext cx="2948940" cy="480060"/>
            <a:chOff x="0" y="0"/>
            <a:chExt cx="3931920" cy="64008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3903223" y="2225888"/>
            <a:ext cx="2948940" cy="480060"/>
            <a:chOff x="0" y="0"/>
            <a:chExt cx="3931920" cy="64008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611" r="0" b="-69609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903223" y="2225888"/>
            <a:ext cx="2948940" cy="480060"/>
            <a:chOff x="0" y="0"/>
            <a:chExt cx="3931920" cy="64008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3931920" cy="640080"/>
            </a:xfrm>
            <a:custGeom>
              <a:avLst/>
              <a:gdLst/>
              <a:ahLst/>
              <a:cxnLst/>
              <a:rect r="r" b="b" t="t" l="l"/>
              <a:pathLst>
                <a:path h="64008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0"/>
              <a:ext cx="39319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4F6F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DAY 3 EMAIL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4160198" y="2560634"/>
            <a:ext cx="2948940" cy="1234440"/>
            <a:chOff x="0" y="0"/>
            <a:chExt cx="3931920" cy="164592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3931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45" t="0" r="-3745" b="0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4160198" y="2553491"/>
            <a:ext cx="2948940" cy="1241584"/>
            <a:chOff x="0" y="0"/>
            <a:chExt cx="3931920" cy="1655445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931920" cy="1655445"/>
            </a:xfrm>
            <a:custGeom>
              <a:avLst/>
              <a:gdLst/>
              <a:ahLst/>
              <a:cxnLst/>
              <a:rect r="r" b="b" t="t" l="l"/>
              <a:pathLst>
                <a:path h="165544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56" t="0" r="-4056" b="0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160198" y="2546347"/>
            <a:ext cx="2948940" cy="1248727"/>
            <a:chOff x="0" y="0"/>
            <a:chExt cx="3931920" cy="166497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931920" cy="1664970"/>
            </a:xfrm>
            <a:custGeom>
              <a:avLst/>
              <a:gdLst/>
              <a:ahLst/>
              <a:cxnLst/>
              <a:rect r="r" b="b" t="t" l="l"/>
              <a:pathLst>
                <a:path h="166497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67" t="0" r="-4367" b="0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4160198" y="2539203"/>
            <a:ext cx="2948940" cy="1255871"/>
            <a:chOff x="0" y="0"/>
            <a:chExt cx="3931920" cy="1674495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3931920" cy="1674495"/>
            </a:xfrm>
            <a:custGeom>
              <a:avLst/>
              <a:gdLst/>
              <a:ahLst/>
              <a:cxnLst/>
              <a:rect r="r" b="b" t="t" l="l"/>
              <a:pathLst>
                <a:path h="167449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78" t="0" r="-4678" b="0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4160198" y="2532059"/>
            <a:ext cx="2948940" cy="1263015"/>
            <a:chOff x="0" y="0"/>
            <a:chExt cx="3931920" cy="168402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93192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951" t="0" r="-4951" b="0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9525"/>
              <a:ext cx="393192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7"/>
                </a:lnSpc>
              </a:pPr>
              <a:r>
                <a:rPr lang="en-US" sz="4898" b="true">
                  <a:solidFill>
                    <a:srgbClr val="F4F6F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4233769" y="3570980"/>
            <a:ext cx="2948940" cy="685800"/>
            <a:chOff x="0" y="0"/>
            <a:chExt cx="3931920" cy="9144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27" r="0" b="-33726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4233769" y="3563836"/>
            <a:ext cx="2948940" cy="692944"/>
            <a:chOff x="0" y="0"/>
            <a:chExt cx="3931920" cy="923925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931920" cy="923925"/>
            </a:xfrm>
            <a:custGeom>
              <a:avLst/>
              <a:gdLst/>
              <a:ahLst/>
              <a:cxnLst/>
              <a:rect r="r" b="b" t="t" l="l"/>
              <a:pathLst>
                <a:path h="92392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64" r="0" b="-32863"/>
              </a:stretch>
            </a:blip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4233769" y="3556692"/>
            <a:ext cx="2948940" cy="700088"/>
            <a:chOff x="0" y="0"/>
            <a:chExt cx="3931920" cy="93345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3931920" cy="933450"/>
            </a:xfrm>
            <a:custGeom>
              <a:avLst/>
              <a:gdLst/>
              <a:ahLst/>
              <a:cxnLst/>
              <a:rect r="r" b="b" t="t" l="l"/>
              <a:pathLst>
                <a:path h="93345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19" r="0" b="-32017"/>
              </a:stretch>
            </a:blip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14233769" y="3549548"/>
            <a:ext cx="2948940" cy="707231"/>
            <a:chOff x="0" y="0"/>
            <a:chExt cx="3931920" cy="942975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931920" cy="942975"/>
            </a:xfrm>
            <a:custGeom>
              <a:avLst/>
              <a:gdLst/>
              <a:ahLst/>
              <a:cxnLst/>
              <a:rect r="r" b="b" t="t" l="l"/>
              <a:pathLst>
                <a:path h="942975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42975"/>
                  </a:lnTo>
                  <a:lnTo>
                    <a:pt x="0" y="9429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190" r="0" b="-31189"/>
              </a:stretch>
            </a:blip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4233769" y="3542405"/>
            <a:ext cx="2948940" cy="714375"/>
            <a:chOff x="0" y="0"/>
            <a:chExt cx="3931920" cy="95250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31920" cy="952500"/>
            </a:xfrm>
            <a:custGeom>
              <a:avLst/>
              <a:gdLst/>
              <a:ahLst/>
              <a:cxnLst/>
              <a:rect r="r" b="b" t="t" l="l"/>
              <a:pathLst>
                <a:path h="9525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434" r="0" b="-30434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9525"/>
              <a:ext cx="3931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4F6F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Follow-Up Email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4038802" y="3771900"/>
            <a:ext cx="3338894" cy="2743200"/>
            <a:chOff x="0" y="0"/>
            <a:chExt cx="4451858" cy="365760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451858" cy="3657600"/>
            </a:xfrm>
            <a:custGeom>
              <a:avLst/>
              <a:gdLst/>
              <a:ahLst/>
              <a:cxnLst/>
              <a:rect r="r" b="b" t="t" l="l"/>
              <a:pathLst>
                <a:path h="3657600" w="4451858">
                  <a:moveTo>
                    <a:pt x="0" y="0"/>
                  </a:moveTo>
                  <a:lnTo>
                    <a:pt x="4451858" y="0"/>
                  </a:lnTo>
                  <a:lnTo>
                    <a:pt x="4451858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486" t="0" r="-55486" b="0"/>
              </a:stretch>
            </a:blip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4038802" y="3729038"/>
            <a:ext cx="3338894" cy="2786062"/>
            <a:chOff x="0" y="0"/>
            <a:chExt cx="4451858" cy="371475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4451858" cy="3714750"/>
            </a:xfrm>
            <a:custGeom>
              <a:avLst/>
              <a:gdLst/>
              <a:ahLst/>
              <a:cxnLst/>
              <a:rect r="r" b="b" t="t" l="l"/>
              <a:pathLst>
                <a:path h="3714750" w="4451858">
                  <a:moveTo>
                    <a:pt x="0" y="0"/>
                  </a:moveTo>
                  <a:lnTo>
                    <a:pt x="4451858" y="0"/>
                  </a:lnTo>
                  <a:lnTo>
                    <a:pt x="4451858" y="3714750"/>
                  </a:lnTo>
                  <a:lnTo>
                    <a:pt x="0" y="3714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134" t="0" r="-57134" b="0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4038802" y="3686175"/>
            <a:ext cx="3338894" cy="2828925"/>
            <a:chOff x="0" y="0"/>
            <a:chExt cx="4451858" cy="377190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451858" cy="3771900"/>
            </a:xfrm>
            <a:custGeom>
              <a:avLst/>
              <a:gdLst/>
              <a:ahLst/>
              <a:cxnLst/>
              <a:rect r="r" b="b" t="t" l="l"/>
              <a:pathLst>
                <a:path h="3771900" w="4451858">
                  <a:moveTo>
                    <a:pt x="0" y="0"/>
                  </a:moveTo>
                  <a:lnTo>
                    <a:pt x="4451858" y="0"/>
                  </a:lnTo>
                  <a:lnTo>
                    <a:pt x="4451858" y="3771900"/>
                  </a:lnTo>
                  <a:lnTo>
                    <a:pt x="0" y="3771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782" t="0" r="-58782" b="0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4038802" y="3643312"/>
            <a:ext cx="3338855" cy="2871788"/>
            <a:chOff x="0" y="0"/>
            <a:chExt cx="4451807" cy="382905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451858" cy="3829050"/>
            </a:xfrm>
            <a:custGeom>
              <a:avLst/>
              <a:gdLst/>
              <a:ahLst/>
              <a:cxnLst/>
              <a:rect r="r" b="b" t="t" l="l"/>
              <a:pathLst>
                <a:path h="3829050" w="4451858">
                  <a:moveTo>
                    <a:pt x="0" y="0"/>
                  </a:moveTo>
                  <a:lnTo>
                    <a:pt x="4451858" y="0"/>
                  </a:lnTo>
                  <a:lnTo>
                    <a:pt x="4451858" y="3829050"/>
                  </a:lnTo>
                  <a:lnTo>
                    <a:pt x="0" y="3829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0431" t="0" r="-60430" b="0"/>
              </a:stretch>
            </a:blip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14038802" y="3600450"/>
            <a:ext cx="3338855" cy="2914651"/>
            <a:chOff x="0" y="0"/>
            <a:chExt cx="4451807" cy="3886201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4451807" cy="3886202"/>
            </a:xfrm>
            <a:custGeom>
              <a:avLst/>
              <a:gdLst/>
              <a:ahLst/>
              <a:cxnLst/>
              <a:rect r="r" b="b" t="t" l="l"/>
              <a:pathLst>
                <a:path h="3886202" w="4451807">
                  <a:moveTo>
                    <a:pt x="0" y="0"/>
                  </a:moveTo>
                  <a:lnTo>
                    <a:pt x="4451807" y="0"/>
                  </a:lnTo>
                  <a:lnTo>
                    <a:pt x="4451807" y="3886202"/>
                  </a:lnTo>
                  <a:lnTo>
                    <a:pt x="0" y="38862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2002" t="0" r="-62002" b="0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57150"/>
              <a:ext cx="4451807" cy="3943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>
                  <a:solidFill>
                    <a:srgbClr val="F4F6FA"/>
                  </a:solidFill>
                  <a:latin typeface="Exo 2"/>
                  <a:ea typeface="Exo 2"/>
                  <a:cs typeface="Exo 2"/>
                  <a:sym typeface="Exo 2"/>
                </a:rPr>
                <a:t>Send campaign emails to re-engage clients who remain stuck mid-onboarding or have not yet funded their account.</a:t>
              </a: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755847" y="6734756"/>
            <a:ext cx="520000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200000" r="-100000" t="200000" b="-100000"/>
                  </a:path>
                  <a:tileRect r="-300000" l="0" b="-300000" t="0"/>
                </a:gradFill>
                <a:latin typeface="Exo 2 Bold"/>
                <a:ea typeface="Exo 2 Bold"/>
                <a:cs typeface="Exo 2 Bold"/>
                <a:sym typeface="Exo 2 Bold"/>
              </a:rPr>
              <a:t>Contact Channels</a:t>
            </a:r>
          </a:p>
        </p:txBody>
      </p:sp>
      <p:grpSp>
        <p:nvGrpSpPr>
          <p:cNvPr name="Group 200" id="200"/>
          <p:cNvGrpSpPr/>
          <p:nvPr/>
        </p:nvGrpSpPr>
        <p:grpSpPr>
          <a:xfrm rot="0">
            <a:off x="1149420" y="7372931"/>
            <a:ext cx="16212312" cy="451866"/>
            <a:chOff x="0" y="0"/>
            <a:chExt cx="21616416" cy="60248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21616415" cy="602488"/>
            </a:xfrm>
            <a:custGeom>
              <a:avLst/>
              <a:gdLst/>
              <a:ahLst/>
              <a:cxnLst/>
              <a:rect r="r" b="b" t="t" l="l"/>
              <a:pathLst>
                <a:path h="6024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488"/>
                  </a:lnTo>
                  <a:lnTo>
                    <a:pt x="0" y="602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8608" r="0" b="-648610"/>
              </a:stretch>
            </a:blip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1149420" y="7372931"/>
            <a:ext cx="16212312" cy="451866"/>
            <a:chOff x="0" y="0"/>
            <a:chExt cx="21616416" cy="602488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21616415" cy="602488"/>
            </a:xfrm>
            <a:custGeom>
              <a:avLst/>
              <a:gdLst/>
              <a:ahLst/>
              <a:cxnLst/>
              <a:rect r="r" b="b" t="t" l="l"/>
              <a:pathLst>
                <a:path h="6024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488"/>
                  </a:lnTo>
                  <a:lnTo>
                    <a:pt x="0" y="602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608" r="0" b="-648610"/>
              </a:stretch>
            </a:blip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149420" y="7372931"/>
            <a:ext cx="16212312" cy="451961"/>
            <a:chOff x="0" y="0"/>
            <a:chExt cx="21616416" cy="602615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1616415" cy="602615"/>
            </a:xfrm>
            <a:custGeom>
              <a:avLst/>
              <a:gdLst/>
              <a:ahLst/>
              <a:cxnLst/>
              <a:rect r="r" b="b" t="t" l="l"/>
              <a:pathLst>
                <a:path h="6026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615"/>
                  </a:lnTo>
                  <a:lnTo>
                    <a:pt x="0" y="6026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8461" r="0" b="-648463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149420" y="7372931"/>
            <a:ext cx="16212312" cy="451914"/>
            <a:chOff x="0" y="0"/>
            <a:chExt cx="21616416" cy="602552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1616415" cy="602615"/>
            </a:xfrm>
            <a:custGeom>
              <a:avLst/>
              <a:gdLst/>
              <a:ahLst/>
              <a:cxnLst/>
              <a:rect r="r" b="b" t="t" l="l"/>
              <a:pathLst>
                <a:path h="6026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615"/>
                  </a:lnTo>
                  <a:lnTo>
                    <a:pt x="0" y="602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8467" r="0" b="-648457"/>
              </a:stretch>
            </a:blip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1149420" y="7372931"/>
            <a:ext cx="16212312" cy="451914"/>
            <a:chOff x="0" y="0"/>
            <a:chExt cx="21616416" cy="602552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21616415" cy="602552"/>
            </a:xfrm>
            <a:custGeom>
              <a:avLst/>
              <a:gdLst/>
              <a:ahLst/>
              <a:cxnLst/>
              <a:rect r="r" b="b" t="t" l="l"/>
              <a:pathLst>
                <a:path h="602552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552"/>
                  </a:lnTo>
                  <a:lnTo>
                    <a:pt x="0" y="602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9020" r="0" b="-649020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0"/>
              <a:ext cx="21616416" cy="602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2148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Phone Calls: direct phone outreach for onboarding guidance and follow-ups.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755847" y="7496270"/>
            <a:ext cx="278130" cy="243364"/>
            <a:chOff x="0" y="0"/>
            <a:chExt cx="370840" cy="324485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370840" cy="324485"/>
            </a:xfrm>
            <a:custGeom>
              <a:avLst/>
              <a:gdLst/>
              <a:ahLst/>
              <a:cxnLst/>
              <a:rect r="r" b="b" t="t" l="l"/>
              <a:pathLst>
                <a:path h="324485" w="370840">
                  <a:moveTo>
                    <a:pt x="0" y="0"/>
                  </a:moveTo>
                  <a:lnTo>
                    <a:pt x="370840" y="0"/>
                  </a:lnTo>
                  <a:lnTo>
                    <a:pt x="370840" y="324485"/>
                  </a:lnTo>
                  <a:lnTo>
                    <a:pt x="0" y="3244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1149420" y="7948660"/>
            <a:ext cx="16212312" cy="451866"/>
            <a:chOff x="0" y="0"/>
            <a:chExt cx="21616416" cy="602488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21616415" cy="602488"/>
            </a:xfrm>
            <a:custGeom>
              <a:avLst/>
              <a:gdLst/>
              <a:ahLst/>
              <a:cxnLst/>
              <a:rect r="r" b="b" t="t" l="l"/>
              <a:pathLst>
                <a:path h="6024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488"/>
                  </a:lnTo>
                  <a:lnTo>
                    <a:pt x="0" y="602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8608" r="0" b="-648610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1149420" y="7948660"/>
            <a:ext cx="16212312" cy="451866"/>
            <a:chOff x="0" y="0"/>
            <a:chExt cx="21616416" cy="602488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21616415" cy="602488"/>
            </a:xfrm>
            <a:custGeom>
              <a:avLst/>
              <a:gdLst/>
              <a:ahLst/>
              <a:cxnLst/>
              <a:rect r="r" b="b" t="t" l="l"/>
              <a:pathLst>
                <a:path h="6024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488"/>
                  </a:lnTo>
                  <a:lnTo>
                    <a:pt x="0" y="602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608" r="0" b="-648610"/>
              </a:stretch>
            </a:blip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1149420" y="7948660"/>
            <a:ext cx="16212312" cy="451961"/>
            <a:chOff x="0" y="0"/>
            <a:chExt cx="21616416" cy="602615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1616415" cy="602615"/>
            </a:xfrm>
            <a:custGeom>
              <a:avLst/>
              <a:gdLst/>
              <a:ahLst/>
              <a:cxnLst/>
              <a:rect r="r" b="b" t="t" l="l"/>
              <a:pathLst>
                <a:path h="6026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615"/>
                  </a:lnTo>
                  <a:lnTo>
                    <a:pt x="0" y="6026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8461" r="0" b="-648463"/>
              </a:stretch>
            </a:blip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1149420" y="7948660"/>
            <a:ext cx="16212312" cy="451914"/>
            <a:chOff x="0" y="0"/>
            <a:chExt cx="21616416" cy="602552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21616415" cy="602615"/>
            </a:xfrm>
            <a:custGeom>
              <a:avLst/>
              <a:gdLst/>
              <a:ahLst/>
              <a:cxnLst/>
              <a:rect r="r" b="b" t="t" l="l"/>
              <a:pathLst>
                <a:path h="6026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615"/>
                  </a:lnTo>
                  <a:lnTo>
                    <a:pt x="0" y="602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8467" r="0" b="-648457"/>
              </a:stretch>
            </a:blip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1149420" y="7948660"/>
            <a:ext cx="16212312" cy="451914"/>
            <a:chOff x="0" y="0"/>
            <a:chExt cx="21616416" cy="60255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1616415" cy="602552"/>
            </a:xfrm>
            <a:custGeom>
              <a:avLst/>
              <a:gdLst/>
              <a:ahLst/>
              <a:cxnLst/>
              <a:rect r="r" b="b" t="t" l="l"/>
              <a:pathLst>
                <a:path h="602552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552"/>
                  </a:lnTo>
                  <a:lnTo>
                    <a:pt x="0" y="602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9020" r="0" b="-649020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0"/>
              <a:ext cx="21616416" cy="602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2148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Emails: reminders, document lists, and campaign follow-ups.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755847" y="8071999"/>
            <a:ext cx="278130" cy="243364"/>
            <a:chOff x="0" y="0"/>
            <a:chExt cx="370840" cy="324485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370840" cy="324485"/>
            </a:xfrm>
            <a:custGeom>
              <a:avLst/>
              <a:gdLst/>
              <a:ahLst/>
              <a:cxnLst/>
              <a:rect r="r" b="b" t="t" l="l"/>
              <a:pathLst>
                <a:path h="324485" w="370840">
                  <a:moveTo>
                    <a:pt x="0" y="0"/>
                  </a:moveTo>
                  <a:lnTo>
                    <a:pt x="370840" y="0"/>
                  </a:lnTo>
                  <a:lnTo>
                    <a:pt x="370840" y="324485"/>
                  </a:lnTo>
                  <a:lnTo>
                    <a:pt x="0" y="3244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26" id="226"/>
          <p:cNvGrpSpPr/>
          <p:nvPr/>
        </p:nvGrpSpPr>
        <p:grpSpPr>
          <a:xfrm rot="0">
            <a:off x="1149420" y="8524399"/>
            <a:ext cx="16212312" cy="451866"/>
            <a:chOff x="0" y="0"/>
            <a:chExt cx="21616416" cy="602488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21616415" cy="602488"/>
            </a:xfrm>
            <a:custGeom>
              <a:avLst/>
              <a:gdLst/>
              <a:ahLst/>
              <a:cxnLst/>
              <a:rect r="r" b="b" t="t" l="l"/>
              <a:pathLst>
                <a:path h="6024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488"/>
                  </a:lnTo>
                  <a:lnTo>
                    <a:pt x="0" y="602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8608" r="0" b="-648610"/>
              </a:stretch>
            </a:blip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1149420" y="8524399"/>
            <a:ext cx="16212312" cy="451866"/>
            <a:chOff x="0" y="0"/>
            <a:chExt cx="21616416" cy="602488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21616415" cy="602488"/>
            </a:xfrm>
            <a:custGeom>
              <a:avLst/>
              <a:gdLst/>
              <a:ahLst/>
              <a:cxnLst/>
              <a:rect r="r" b="b" t="t" l="l"/>
              <a:pathLst>
                <a:path h="6024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488"/>
                  </a:lnTo>
                  <a:lnTo>
                    <a:pt x="0" y="602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608" r="0" b="-648610"/>
              </a:stretch>
            </a:blip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149420" y="8524399"/>
            <a:ext cx="16212312" cy="451961"/>
            <a:chOff x="0" y="0"/>
            <a:chExt cx="21616416" cy="602615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21616415" cy="602615"/>
            </a:xfrm>
            <a:custGeom>
              <a:avLst/>
              <a:gdLst/>
              <a:ahLst/>
              <a:cxnLst/>
              <a:rect r="r" b="b" t="t" l="l"/>
              <a:pathLst>
                <a:path h="6026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615"/>
                  </a:lnTo>
                  <a:lnTo>
                    <a:pt x="0" y="6026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8461" r="0" b="-648463"/>
              </a:stretch>
            </a:blip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1149420" y="8524399"/>
            <a:ext cx="16212312" cy="451914"/>
            <a:chOff x="0" y="0"/>
            <a:chExt cx="21616416" cy="602552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21616415" cy="602615"/>
            </a:xfrm>
            <a:custGeom>
              <a:avLst/>
              <a:gdLst/>
              <a:ahLst/>
              <a:cxnLst/>
              <a:rect r="r" b="b" t="t" l="l"/>
              <a:pathLst>
                <a:path h="602615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615"/>
                  </a:lnTo>
                  <a:lnTo>
                    <a:pt x="0" y="602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8467" r="0" b="-648457"/>
              </a:stretch>
            </a:blip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1149420" y="8524399"/>
            <a:ext cx="16212312" cy="451914"/>
            <a:chOff x="0" y="0"/>
            <a:chExt cx="21616416" cy="602552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21616415" cy="602552"/>
            </a:xfrm>
            <a:custGeom>
              <a:avLst/>
              <a:gdLst/>
              <a:ahLst/>
              <a:cxnLst/>
              <a:rect r="r" b="b" t="t" l="l"/>
              <a:pathLst>
                <a:path h="602552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602552"/>
                  </a:lnTo>
                  <a:lnTo>
                    <a:pt x="0" y="602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9020" r="0" b="-649020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0"/>
              <a:ext cx="21616416" cy="602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2148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Business WhatsApp (In Progress): planned addition to reach clients faster and more directly.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755847" y="8647738"/>
            <a:ext cx="278130" cy="243364"/>
            <a:chOff x="0" y="0"/>
            <a:chExt cx="370840" cy="324485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370840" cy="324485"/>
            </a:xfrm>
            <a:custGeom>
              <a:avLst/>
              <a:gdLst/>
              <a:ahLst/>
              <a:cxnLst/>
              <a:rect r="r" b="b" t="t" l="l"/>
              <a:pathLst>
                <a:path h="324485" w="370840">
                  <a:moveTo>
                    <a:pt x="0" y="0"/>
                  </a:moveTo>
                  <a:lnTo>
                    <a:pt x="370840" y="0"/>
                  </a:lnTo>
                  <a:lnTo>
                    <a:pt x="370840" y="324485"/>
                  </a:lnTo>
                  <a:lnTo>
                    <a:pt x="0" y="3244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2" r="0" b="-363"/>
              </a:stretch>
            </a:blipFill>
          </p:spPr>
        </p:sp>
      </p:grpSp>
      <p:sp>
        <p:nvSpPr>
          <p:cNvPr name="TextBox 241" id="241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42" id="242"/>
          <p:cNvSpPr txBox="true"/>
          <p:nvPr/>
        </p:nvSpPr>
        <p:spPr>
          <a:xfrm rot="0">
            <a:off x="14591443" y="9783042"/>
            <a:ext cx="71711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28</a:t>
            </a:r>
          </a:p>
        </p:txBody>
      </p:sp>
      <p:sp>
        <p:nvSpPr>
          <p:cNvPr name="Freeform 243" id="243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9792567"/>
            <a:ext cx="10817123" cy="33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1443" y="9792567"/>
            <a:ext cx="71711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71442" y="726196"/>
            <a:ext cx="14134243" cy="55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Customer Acquisition Cost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442" y="1406195"/>
            <a:ext cx="14134243" cy="2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Cost per client acquired, measured against ad spend. Agency retainers excluded.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0001" y="1799996"/>
            <a:ext cx="5329333" cy="1330004"/>
            <a:chOff x="0" y="0"/>
            <a:chExt cx="7105777" cy="17733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777" cy="1773301"/>
            </a:xfrm>
            <a:custGeom>
              <a:avLst/>
              <a:gdLst/>
              <a:ahLst/>
              <a:cxnLst/>
              <a:rect r="r" b="b" t="t" l="l"/>
              <a:pathLst>
                <a:path h="1773301" w="7105777">
                  <a:moveTo>
                    <a:pt x="0" y="0"/>
                  </a:moveTo>
                  <a:lnTo>
                    <a:pt x="7105777" y="0"/>
                  </a:lnTo>
                  <a:lnTo>
                    <a:pt x="7105777" y="1773301"/>
                  </a:lnTo>
                  <a:lnTo>
                    <a:pt x="0" y="1773301"/>
                  </a:lnTo>
                  <a:close/>
                </a:path>
              </a:pathLst>
            </a:custGeom>
            <a:solidFill>
              <a:srgbClr val="1322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7105777" cy="1782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$308</a:t>
              </a:r>
            </a:p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Cost per Client</a:t>
              </a:r>
            </a:p>
            <a:p>
              <a:pPr algn="ctr">
                <a:lnSpc>
                  <a:spcPts val="1320"/>
                </a:lnSpc>
              </a:pPr>
              <a:r>
                <a:rPr lang="en-US" sz="1100">
                  <a:solidFill>
                    <a:srgbClr val="CADCFC"/>
                  </a:solidFill>
                  <a:latin typeface="Exo 2"/>
                  <a:ea typeface="Exo 2"/>
                  <a:cs typeface="Exo 2"/>
                  <a:sym typeface="Exo 2"/>
                </a:rPr>
                <a:t>14 May to 6 Sep, blended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79334" y="1799996"/>
            <a:ext cx="5329333" cy="1330004"/>
            <a:chOff x="0" y="0"/>
            <a:chExt cx="7105777" cy="17733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5777" cy="1773301"/>
            </a:xfrm>
            <a:custGeom>
              <a:avLst/>
              <a:gdLst/>
              <a:ahLst/>
              <a:cxnLst/>
              <a:rect r="r" b="b" t="t" l="l"/>
              <a:pathLst>
                <a:path h="1773301" w="7105777">
                  <a:moveTo>
                    <a:pt x="0" y="0"/>
                  </a:moveTo>
                  <a:lnTo>
                    <a:pt x="7105777" y="0"/>
                  </a:lnTo>
                  <a:lnTo>
                    <a:pt x="7105777" y="1773301"/>
                  </a:lnTo>
                  <a:lnTo>
                    <a:pt x="0" y="1773301"/>
                  </a:lnTo>
                  <a:close/>
                </a:path>
              </a:pathLst>
            </a:custGeom>
            <a:solidFill>
              <a:srgbClr val="13225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105777" cy="1782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7BD39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23%</a:t>
              </a:r>
            </a:p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Lower Than May</a:t>
              </a:r>
            </a:p>
            <a:p>
              <a:pPr algn="ctr">
                <a:lnSpc>
                  <a:spcPts val="1320"/>
                </a:lnSpc>
              </a:pPr>
              <a:r>
                <a:rPr lang="en-US" sz="1100">
                  <a:solidFill>
                    <a:srgbClr val="CADCFC"/>
                  </a:solidFill>
                  <a:latin typeface="Exo 2"/>
                  <a:ea typeface="Exo 2"/>
                  <a:cs typeface="Exo 2"/>
                  <a:sym typeface="Exo 2"/>
                </a:rPr>
                <a:t>$409 in May to $313 in August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08666" y="1799996"/>
            <a:ext cx="5329333" cy="1330004"/>
            <a:chOff x="0" y="0"/>
            <a:chExt cx="7105777" cy="17733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05777" cy="1773301"/>
            </a:xfrm>
            <a:custGeom>
              <a:avLst/>
              <a:gdLst/>
              <a:ahLst/>
              <a:cxnLst/>
              <a:rect r="r" b="b" t="t" l="l"/>
              <a:pathLst>
                <a:path h="1773301" w="7105777">
                  <a:moveTo>
                    <a:pt x="0" y="0"/>
                  </a:moveTo>
                  <a:lnTo>
                    <a:pt x="7105777" y="0"/>
                  </a:lnTo>
                  <a:lnTo>
                    <a:pt x="7105777" y="1773301"/>
                  </a:lnTo>
                  <a:lnTo>
                    <a:pt x="0" y="1773301"/>
                  </a:lnTo>
                  <a:close/>
                </a:path>
              </a:pathLst>
            </a:custGeom>
            <a:solidFill>
              <a:srgbClr val="1322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105777" cy="1782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49</a:t>
              </a:r>
            </a:p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Acquired</a:t>
              </a:r>
            </a:p>
            <a:p>
              <a:pPr algn="ctr">
                <a:lnSpc>
                  <a:spcPts val="1320"/>
                </a:lnSpc>
              </a:pPr>
              <a:r>
                <a:rPr lang="en-US" sz="1100">
                  <a:solidFill>
                    <a:srgbClr val="CADCFC"/>
                  </a:solidFill>
                  <a:latin typeface="Exo 2"/>
                  <a:ea typeface="Exo 2"/>
                  <a:cs typeface="Exo 2"/>
                  <a:sym typeface="Exo 2"/>
                </a:rPr>
                <a:t>14 May to 6 Sep 2026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0001" y="3450003"/>
            <a:ext cx="38005" cy="289998"/>
            <a:chOff x="0" y="0"/>
            <a:chExt cx="50673" cy="3866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91441" y="3456194"/>
            <a:ext cx="7267118" cy="27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Cost per Client by Month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0001" y="3849995"/>
            <a:ext cx="7599997" cy="3884447"/>
            <a:chOff x="0" y="0"/>
            <a:chExt cx="10133330" cy="5179263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0133330" cy="5179314"/>
            </a:xfrm>
            <a:custGeom>
              <a:avLst/>
              <a:gdLst/>
              <a:ahLst/>
              <a:cxnLst/>
              <a:rect r="r" b="b" t="t" l="l"/>
              <a:pathLst>
                <a:path h="5179314" w="10133330">
                  <a:moveTo>
                    <a:pt x="0" y="0"/>
                  </a:moveTo>
                  <a:lnTo>
                    <a:pt x="10133330" y="0"/>
                  </a:lnTo>
                  <a:lnTo>
                    <a:pt x="10133330" y="5179314"/>
                  </a:lnTo>
                  <a:lnTo>
                    <a:pt x="0" y="5179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" t="0" r="-4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70004" y="3450003"/>
            <a:ext cx="38005" cy="289998"/>
            <a:chOff x="0" y="0"/>
            <a:chExt cx="50673" cy="3866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111444" y="3456194"/>
            <a:ext cx="8235115" cy="27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Ad Spend vs Clients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50001" y="7974444"/>
            <a:ext cx="16587997" cy="739997"/>
            <a:chOff x="0" y="0"/>
            <a:chExt cx="22117329" cy="9866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17304" cy="986663"/>
            </a:xfrm>
            <a:custGeom>
              <a:avLst/>
              <a:gdLst/>
              <a:ahLst/>
              <a:cxnLst/>
              <a:rect r="r" b="b" t="t" l="l"/>
              <a:pathLst>
                <a:path h="98666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986663"/>
                  </a:lnTo>
                  <a:lnTo>
                    <a:pt x="0" y="98666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0001" y="7974444"/>
            <a:ext cx="39995" cy="739997"/>
            <a:chOff x="0" y="0"/>
            <a:chExt cx="53327" cy="9866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340" cy="986663"/>
            </a:xfrm>
            <a:custGeom>
              <a:avLst/>
              <a:gdLst/>
              <a:ahLst/>
              <a:cxnLst/>
              <a:rect r="r" b="b" t="t" l="l"/>
              <a:pathLst>
                <a:path h="986663" w="53340">
                  <a:moveTo>
                    <a:pt x="0" y="0"/>
                  </a:moveTo>
                  <a:lnTo>
                    <a:pt x="53340" y="0"/>
                  </a:lnTo>
                  <a:lnTo>
                    <a:pt x="53340" y="986663"/>
                  </a:lnTo>
                  <a:lnTo>
                    <a:pt x="0" y="986663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70000" y="7974444"/>
            <a:ext cx="16147999" cy="739997"/>
            <a:chOff x="0" y="0"/>
            <a:chExt cx="21530666" cy="9866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530664" cy="986667"/>
            </a:xfrm>
            <a:custGeom>
              <a:avLst/>
              <a:gdLst/>
              <a:ahLst/>
              <a:cxnLst/>
              <a:rect r="r" b="b" t="t" l="l"/>
              <a:pathLst>
                <a:path h="986667" w="21530664">
                  <a:moveTo>
                    <a:pt x="0" y="0"/>
                  </a:moveTo>
                  <a:lnTo>
                    <a:pt x="21530664" y="0"/>
                  </a:lnTo>
                  <a:lnTo>
                    <a:pt x="21530664" y="986667"/>
                  </a:lnTo>
                  <a:lnTo>
                    <a:pt x="0" y="98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5195" r="0" b="-37519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1530666" cy="9961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Cost per client fell 23% from May to August while August delivered the strongest client growth of any month, 14 new clients on 3% less ad spend than May.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41441" y="8880643"/>
            <a:ext cx="16405117" cy="2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i="true">
                <a:solidFill>
                  <a:srgbClr val="8A93A8"/>
                </a:solidFill>
                <a:latin typeface="Exo 2 Italics"/>
                <a:ea typeface="Exo 2 Italics"/>
                <a:cs typeface="Exo 2 Italics"/>
                <a:sym typeface="Exo 2 Italics"/>
              </a:rPr>
              <a:t>August figures are approved campaign budgets. Ignite has not yet reported delivered spend.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870004" y="3849995"/>
            <a:ext cx="8567995" cy="429997"/>
            <a:chOff x="0" y="0"/>
            <a:chExt cx="11423993" cy="5733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24031" cy="573278"/>
            </a:xfrm>
            <a:custGeom>
              <a:avLst/>
              <a:gdLst/>
              <a:ahLst/>
              <a:cxnLst/>
              <a:rect r="r" b="b" t="t" l="l"/>
              <a:pathLst>
                <a:path h="573278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573278"/>
                  </a:lnTo>
                  <a:lnTo>
                    <a:pt x="0" y="57327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979999" y="3849995"/>
            <a:ext cx="2007680" cy="429997"/>
            <a:chOff x="0" y="0"/>
            <a:chExt cx="2676906" cy="5733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76905" cy="573333"/>
            </a:xfrm>
            <a:custGeom>
              <a:avLst/>
              <a:gdLst/>
              <a:ahLst/>
              <a:cxnLst/>
              <a:rect r="r" b="b" t="t" l="l"/>
              <a:pathLst>
                <a:path h="573333" w="2676905">
                  <a:moveTo>
                    <a:pt x="0" y="0"/>
                  </a:moveTo>
                  <a:lnTo>
                    <a:pt x="2676905" y="0"/>
                  </a:lnTo>
                  <a:lnTo>
                    <a:pt x="2676905" y="573333"/>
                  </a:lnTo>
                  <a:lnTo>
                    <a:pt x="0" y="57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76" r="0" b="-4097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676906" cy="573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Month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207677" y="3849995"/>
            <a:ext cx="2093357" cy="429997"/>
            <a:chOff x="0" y="0"/>
            <a:chExt cx="2791142" cy="5733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91145" cy="573333"/>
            </a:xfrm>
            <a:custGeom>
              <a:avLst/>
              <a:gdLst/>
              <a:ahLst/>
              <a:cxnLst/>
              <a:rect r="r" b="b" t="t" l="l"/>
              <a:pathLst>
                <a:path h="573333" w="2791145">
                  <a:moveTo>
                    <a:pt x="0" y="0"/>
                  </a:moveTo>
                  <a:lnTo>
                    <a:pt x="2791145" y="0"/>
                  </a:lnTo>
                  <a:lnTo>
                    <a:pt x="2791145" y="573333"/>
                  </a:lnTo>
                  <a:lnTo>
                    <a:pt x="0" y="57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858" r="0" b="-4485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791142" cy="573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Ad Spend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521042" y="3849995"/>
            <a:ext cx="1664960" cy="429997"/>
            <a:chOff x="0" y="0"/>
            <a:chExt cx="2219947" cy="5733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9945" cy="573333"/>
            </a:xfrm>
            <a:custGeom>
              <a:avLst/>
              <a:gdLst/>
              <a:ahLst/>
              <a:cxnLst/>
              <a:rect r="r" b="b" t="t" l="l"/>
              <a:pathLst>
                <a:path h="573333" w="2219945">
                  <a:moveTo>
                    <a:pt x="0" y="0"/>
                  </a:moveTo>
                  <a:lnTo>
                    <a:pt x="2219945" y="0"/>
                  </a:lnTo>
                  <a:lnTo>
                    <a:pt x="2219945" y="573333"/>
                  </a:lnTo>
                  <a:lnTo>
                    <a:pt x="0" y="57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46" r="0" b="-2544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219947" cy="573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406002" y="3849995"/>
            <a:ext cx="1922002" cy="429997"/>
            <a:chOff x="0" y="0"/>
            <a:chExt cx="2562670" cy="57332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62668" cy="573333"/>
            </a:xfrm>
            <a:custGeom>
              <a:avLst/>
              <a:gdLst/>
              <a:ahLst/>
              <a:cxnLst/>
              <a:rect r="r" b="b" t="t" l="l"/>
              <a:pathLst>
                <a:path h="573333" w="2562668">
                  <a:moveTo>
                    <a:pt x="0" y="0"/>
                  </a:moveTo>
                  <a:lnTo>
                    <a:pt x="2562668" y="0"/>
                  </a:lnTo>
                  <a:lnTo>
                    <a:pt x="2562668" y="573333"/>
                  </a:lnTo>
                  <a:lnTo>
                    <a:pt x="0" y="57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94" r="0" b="-3709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562670" cy="573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870004" y="4280002"/>
            <a:ext cx="8567995" cy="400002"/>
            <a:chOff x="0" y="0"/>
            <a:chExt cx="11423993" cy="5333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424031" cy="533273"/>
            </a:xfrm>
            <a:custGeom>
              <a:avLst/>
              <a:gdLst/>
              <a:ahLst/>
              <a:cxnLst/>
              <a:rect r="r" b="b" t="t" l="l"/>
              <a:pathLst>
                <a:path h="533273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533273"/>
                  </a:lnTo>
                  <a:lnTo>
                    <a:pt x="0" y="53327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979999" y="4280002"/>
            <a:ext cx="2007680" cy="400002"/>
            <a:chOff x="0" y="0"/>
            <a:chExt cx="2676906" cy="533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76905" cy="533333"/>
            </a:xfrm>
            <a:custGeom>
              <a:avLst/>
              <a:gdLst/>
              <a:ahLst/>
              <a:cxnLst/>
              <a:rect r="r" b="b" t="t" l="l"/>
              <a:pathLst>
                <a:path h="533333" w="2676905">
                  <a:moveTo>
                    <a:pt x="0" y="0"/>
                  </a:moveTo>
                  <a:lnTo>
                    <a:pt x="2676905" y="0"/>
                  </a:lnTo>
                  <a:lnTo>
                    <a:pt x="267690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98" r="0" b="-4779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2676906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May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207677" y="4280002"/>
            <a:ext cx="2093357" cy="400002"/>
            <a:chOff x="0" y="0"/>
            <a:chExt cx="2791142" cy="5333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91145" cy="533333"/>
            </a:xfrm>
            <a:custGeom>
              <a:avLst/>
              <a:gdLst/>
              <a:ahLst/>
              <a:cxnLst/>
              <a:rect r="r" b="b" t="t" l="l"/>
              <a:pathLst>
                <a:path h="533333" w="2791145">
                  <a:moveTo>
                    <a:pt x="0" y="0"/>
                  </a:moveTo>
                  <a:lnTo>
                    <a:pt x="2791145" y="0"/>
                  </a:lnTo>
                  <a:lnTo>
                    <a:pt x="27911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72" r="0" b="-5197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791142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$4,500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521042" y="4280002"/>
            <a:ext cx="1664960" cy="400002"/>
            <a:chOff x="0" y="0"/>
            <a:chExt cx="2219947" cy="533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19945" cy="533333"/>
            </a:xfrm>
            <a:custGeom>
              <a:avLst/>
              <a:gdLst/>
              <a:ahLst/>
              <a:cxnLst/>
              <a:rect r="r" b="b" t="t" l="l"/>
              <a:pathLst>
                <a:path h="533333" w="2219945">
                  <a:moveTo>
                    <a:pt x="0" y="0"/>
                  </a:moveTo>
                  <a:lnTo>
                    <a:pt x="2219945" y="0"/>
                  </a:lnTo>
                  <a:lnTo>
                    <a:pt x="22199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04" r="0" b="-311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219947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11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406002" y="4280002"/>
            <a:ext cx="1922002" cy="400002"/>
            <a:chOff x="0" y="0"/>
            <a:chExt cx="2562670" cy="5333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62668" cy="533333"/>
            </a:xfrm>
            <a:custGeom>
              <a:avLst/>
              <a:gdLst/>
              <a:ahLst/>
              <a:cxnLst/>
              <a:rect r="r" b="b" t="t" l="l"/>
              <a:pathLst>
                <a:path h="533333" w="2562668">
                  <a:moveTo>
                    <a:pt x="0" y="0"/>
                  </a:moveTo>
                  <a:lnTo>
                    <a:pt x="2562668" y="0"/>
                  </a:lnTo>
                  <a:lnTo>
                    <a:pt x="2562668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25" r="0" b="-4362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562670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$409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870004" y="4680004"/>
            <a:ext cx="8567995" cy="400002"/>
            <a:chOff x="0" y="0"/>
            <a:chExt cx="11423993" cy="5333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424031" cy="533273"/>
            </a:xfrm>
            <a:custGeom>
              <a:avLst/>
              <a:gdLst/>
              <a:ahLst/>
              <a:cxnLst/>
              <a:rect r="r" b="b" t="t" l="l"/>
              <a:pathLst>
                <a:path h="533273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533273"/>
                  </a:lnTo>
                  <a:lnTo>
                    <a:pt x="0" y="5332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979999" y="4680004"/>
            <a:ext cx="2007680" cy="400002"/>
            <a:chOff x="0" y="0"/>
            <a:chExt cx="2676906" cy="533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676905" cy="533333"/>
            </a:xfrm>
            <a:custGeom>
              <a:avLst/>
              <a:gdLst/>
              <a:ahLst/>
              <a:cxnLst/>
              <a:rect r="r" b="b" t="t" l="l"/>
              <a:pathLst>
                <a:path h="533333" w="2676905">
                  <a:moveTo>
                    <a:pt x="0" y="0"/>
                  </a:moveTo>
                  <a:lnTo>
                    <a:pt x="2676905" y="0"/>
                  </a:lnTo>
                  <a:lnTo>
                    <a:pt x="267690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98" r="0" b="-4779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676906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June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207677" y="4680004"/>
            <a:ext cx="2093357" cy="400002"/>
            <a:chOff x="0" y="0"/>
            <a:chExt cx="2791142" cy="533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91145" cy="533333"/>
            </a:xfrm>
            <a:custGeom>
              <a:avLst/>
              <a:gdLst/>
              <a:ahLst/>
              <a:cxnLst/>
              <a:rect r="r" b="b" t="t" l="l"/>
              <a:pathLst>
                <a:path h="533333" w="2791145">
                  <a:moveTo>
                    <a:pt x="0" y="0"/>
                  </a:moveTo>
                  <a:lnTo>
                    <a:pt x="2791145" y="0"/>
                  </a:lnTo>
                  <a:lnTo>
                    <a:pt x="27911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72" r="0" b="-5197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791142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$4,668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521042" y="4680004"/>
            <a:ext cx="1664960" cy="400002"/>
            <a:chOff x="0" y="0"/>
            <a:chExt cx="2219947" cy="5333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19945" cy="533333"/>
            </a:xfrm>
            <a:custGeom>
              <a:avLst/>
              <a:gdLst/>
              <a:ahLst/>
              <a:cxnLst/>
              <a:rect r="r" b="b" t="t" l="l"/>
              <a:pathLst>
                <a:path h="533333" w="2219945">
                  <a:moveTo>
                    <a:pt x="0" y="0"/>
                  </a:moveTo>
                  <a:lnTo>
                    <a:pt x="2219945" y="0"/>
                  </a:lnTo>
                  <a:lnTo>
                    <a:pt x="22199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04" r="0" b="-3110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219947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13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5406002" y="4680004"/>
            <a:ext cx="1922002" cy="400002"/>
            <a:chOff x="0" y="0"/>
            <a:chExt cx="2562670" cy="5333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62668" cy="533333"/>
            </a:xfrm>
            <a:custGeom>
              <a:avLst/>
              <a:gdLst/>
              <a:ahLst/>
              <a:cxnLst/>
              <a:rect r="r" b="b" t="t" l="l"/>
              <a:pathLst>
                <a:path h="533333" w="2562668">
                  <a:moveTo>
                    <a:pt x="0" y="0"/>
                  </a:moveTo>
                  <a:lnTo>
                    <a:pt x="2562668" y="0"/>
                  </a:lnTo>
                  <a:lnTo>
                    <a:pt x="2562668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25" r="0" b="-4362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2562670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$359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870004" y="5079997"/>
            <a:ext cx="8567995" cy="400002"/>
            <a:chOff x="0" y="0"/>
            <a:chExt cx="11423993" cy="5333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424031" cy="533273"/>
            </a:xfrm>
            <a:custGeom>
              <a:avLst/>
              <a:gdLst/>
              <a:ahLst/>
              <a:cxnLst/>
              <a:rect r="r" b="b" t="t" l="l"/>
              <a:pathLst>
                <a:path h="533273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533273"/>
                  </a:lnTo>
                  <a:lnTo>
                    <a:pt x="0" y="53327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979999" y="5079997"/>
            <a:ext cx="2007680" cy="400002"/>
            <a:chOff x="0" y="0"/>
            <a:chExt cx="2676906" cy="5333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76905" cy="533333"/>
            </a:xfrm>
            <a:custGeom>
              <a:avLst/>
              <a:gdLst/>
              <a:ahLst/>
              <a:cxnLst/>
              <a:rect r="r" b="b" t="t" l="l"/>
              <a:pathLst>
                <a:path h="533333" w="2676905">
                  <a:moveTo>
                    <a:pt x="0" y="0"/>
                  </a:moveTo>
                  <a:lnTo>
                    <a:pt x="2676905" y="0"/>
                  </a:lnTo>
                  <a:lnTo>
                    <a:pt x="267690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98" r="0" b="-4779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676906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July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207677" y="5079997"/>
            <a:ext cx="2093357" cy="400002"/>
            <a:chOff x="0" y="0"/>
            <a:chExt cx="2791142" cy="53333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791145" cy="533333"/>
            </a:xfrm>
            <a:custGeom>
              <a:avLst/>
              <a:gdLst/>
              <a:ahLst/>
              <a:cxnLst/>
              <a:rect r="r" b="b" t="t" l="l"/>
              <a:pathLst>
                <a:path h="533333" w="2791145">
                  <a:moveTo>
                    <a:pt x="0" y="0"/>
                  </a:moveTo>
                  <a:lnTo>
                    <a:pt x="2791145" y="0"/>
                  </a:lnTo>
                  <a:lnTo>
                    <a:pt x="27911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72" r="0" b="-5197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2791142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$1,539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521042" y="5079997"/>
            <a:ext cx="1664960" cy="400002"/>
            <a:chOff x="0" y="0"/>
            <a:chExt cx="2219947" cy="53333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19945" cy="533333"/>
            </a:xfrm>
            <a:custGeom>
              <a:avLst/>
              <a:gdLst/>
              <a:ahLst/>
              <a:cxnLst/>
              <a:rect r="r" b="b" t="t" l="l"/>
              <a:pathLst>
                <a:path h="533333" w="2219945">
                  <a:moveTo>
                    <a:pt x="0" y="0"/>
                  </a:moveTo>
                  <a:lnTo>
                    <a:pt x="2219945" y="0"/>
                  </a:lnTo>
                  <a:lnTo>
                    <a:pt x="22199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04" r="0" b="-3110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2219947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9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406002" y="5079997"/>
            <a:ext cx="1922002" cy="400002"/>
            <a:chOff x="0" y="0"/>
            <a:chExt cx="2562670" cy="5333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2668" cy="533333"/>
            </a:xfrm>
            <a:custGeom>
              <a:avLst/>
              <a:gdLst/>
              <a:ahLst/>
              <a:cxnLst/>
              <a:rect r="r" b="b" t="t" l="l"/>
              <a:pathLst>
                <a:path h="533333" w="2562668">
                  <a:moveTo>
                    <a:pt x="0" y="0"/>
                  </a:moveTo>
                  <a:lnTo>
                    <a:pt x="2562668" y="0"/>
                  </a:lnTo>
                  <a:lnTo>
                    <a:pt x="2562668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25" r="0" b="-4362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562670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$171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870004" y="5479999"/>
            <a:ext cx="8567995" cy="400002"/>
            <a:chOff x="0" y="0"/>
            <a:chExt cx="11423993" cy="53333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424031" cy="533273"/>
            </a:xfrm>
            <a:custGeom>
              <a:avLst/>
              <a:gdLst/>
              <a:ahLst/>
              <a:cxnLst/>
              <a:rect r="r" b="b" t="t" l="l"/>
              <a:pathLst>
                <a:path h="533273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533273"/>
                  </a:lnTo>
                  <a:lnTo>
                    <a:pt x="0" y="5332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979999" y="5479999"/>
            <a:ext cx="2007680" cy="400002"/>
            <a:chOff x="0" y="0"/>
            <a:chExt cx="2676906" cy="5333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676905" cy="533333"/>
            </a:xfrm>
            <a:custGeom>
              <a:avLst/>
              <a:gdLst/>
              <a:ahLst/>
              <a:cxnLst/>
              <a:rect r="r" b="b" t="t" l="l"/>
              <a:pathLst>
                <a:path h="533333" w="2676905">
                  <a:moveTo>
                    <a:pt x="0" y="0"/>
                  </a:moveTo>
                  <a:lnTo>
                    <a:pt x="2676905" y="0"/>
                  </a:lnTo>
                  <a:lnTo>
                    <a:pt x="267690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98" r="0" b="-4779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2676906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August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207677" y="5479999"/>
            <a:ext cx="2093357" cy="400002"/>
            <a:chOff x="0" y="0"/>
            <a:chExt cx="2791142" cy="53333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791145" cy="533333"/>
            </a:xfrm>
            <a:custGeom>
              <a:avLst/>
              <a:gdLst/>
              <a:ahLst/>
              <a:cxnLst/>
              <a:rect r="r" b="b" t="t" l="l"/>
              <a:pathLst>
                <a:path h="533333" w="2791145">
                  <a:moveTo>
                    <a:pt x="0" y="0"/>
                  </a:moveTo>
                  <a:lnTo>
                    <a:pt x="2791145" y="0"/>
                  </a:lnTo>
                  <a:lnTo>
                    <a:pt x="27911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72" r="0" b="-5197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791142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$4,383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521042" y="5479999"/>
            <a:ext cx="1664960" cy="400002"/>
            <a:chOff x="0" y="0"/>
            <a:chExt cx="2219947" cy="53333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19945" cy="533333"/>
            </a:xfrm>
            <a:custGeom>
              <a:avLst/>
              <a:gdLst/>
              <a:ahLst/>
              <a:cxnLst/>
              <a:rect r="r" b="b" t="t" l="l"/>
              <a:pathLst>
                <a:path h="533333" w="2219945">
                  <a:moveTo>
                    <a:pt x="0" y="0"/>
                  </a:moveTo>
                  <a:lnTo>
                    <a:pt x="2219945" y="0"/>
                  </a:lnTo>
                  <a:lnTo>
                    <a:pt x="22199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04" r="0" b="-3110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2219947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14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406002" y="5479999"/>
            <a:ext cx="1922002" cy="400002"/>
            <a:chOff x="0" y="0"/>
            <a:chExt cx="2562670" cy="53333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2668" cy="533333"/>
            </a:xfrm>
            <a:custGeom>
              <a:avLst/>
              <a:gdLst/>
              <a:ahLst/>
              <a:cxnLst/>
              <a:rect r="r" b="b" t="t" l="l"/>
              <a:pathLst>
                <a:path h="533333" w="2562668">
                  <a:moveTo>
                    <a:pt x="0" y="0"/>
                  </a:moveTo>
                  <a:lnTo>
                    <a:pt x="2562668" y="0"/>
                  </a:lnTo>
                  <a:lnTo>
                    <a:pt x="2562668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25" r="0" b="-4362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2562670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$313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870004" y="5880002"/>
            <a:ext cx="8567995" cy="400002"/>
            <a:chOff x="0" y="0"/>
            <a:chExt cx="11423993" cy="5333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424031" cy="533273"/>
            </a:xfrm>
            <a:custGeom>
              <a:avLst/>
              <a:gdLst/>
              <a:ahLst/>
              <a:cxnLst/>
              <a:rect r="r" b="b" t="t" l="l"/>
              <a:pathLst>
                <a:path h="533273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533273"/>
                  </a:lnTo>
                  <a:lnTo>
                    <a:pt x="0" y="53327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979999" y="5880002"/>
            <a:ext cx="2007680" cy="400002"/>
            <a:chOff x="0" y="0"/>
            <a:chExt cx="2676906" cy="533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76905" cy="533333"/>
            </a:xfrm>
            <a:custGeom>
              <a:avLst/>
              <a:gdLst/>
              <a:ahLst/>
              <a:cxnLst/>
              <a:rect r="r" b="b" t="t" l="l"/>
              <a:pathLst>
                <a:path h="533333" w="2676905">
                  <a:moveTo>
                    <a:pt x="0" y="0"/>
                  </a:moveTo>
                  <a:lnTo>
                    <a:pt x="2676905" y="0"/>
                  </a:lnTo>
                  <a:lnTo>
                    <a:pt x="267690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98" r="0" b="-4779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2676906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Sep, week 1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207677" y="5880002"/>
            <a:ext cx="2093357" cy="400002"/>
            <a:chOff x="0" y="0"/>
            <a:chExt cx="2791142" cy="533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791145" cy="533333"/>
            </a:xfrm>
            <a:custGeom>
              <a:avLst/>
              <a:gdLst/>
              <a:ahLst/>
              <a:cxnLst/>
              <a:rect r="r" b="b" t="t" l="l"/>
              <a:pathLst>
                <a:path h="533333" w="2791145">
                  <a:moveTo>
                    <a:pt x="0" y="0"/>
                  </a:moveTo>
                  <a:lnTo>
                    <a:pt x="2791145" y="0"/>
                  </a:lnTo>
                  <a:lnTo>
                    <a:pt x="27911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72" r="0" b="-5197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2791142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—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521042" y="5880002"/>
            <a:ext cx="1664960" cy="400002"/>
            <a:chOff x="0" y="0"/>
            <a:chExt cx="2219947" cy="53333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19945" cy="533333"/>
            </a:xfrm>
            <a:custGeom>
              <a:avLst/>
              <a:gdLst/>
              <a:ahLst/>
              <a:cxnLst/>
              <a:rect r="r" b="b" t="t" l="l"/>
              <a:pathLst>
                <a:path h="533333" w="2219945">
                  <a:moveTo>
                    <a:pt x="0" y="0"/>
                  </a:moveTo>
                  <a:lnTo>
                    <a:pt x="2219945" y="0"/>
                  </a:lnTo>
                  <a:lnTo>
                    <a:pt x="22199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04" r="0" b="-3110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2219947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2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5406002" y="5880002"/>
            <a:ext cx="1922002" cy="400002"/>
            <a:chOff x="0" y="0"/>
            <a:chExt cx="2562670" cy="53333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62668" cy="533333"/>
            </a:xfrm>
            <a:custGeom>
              <a:avLst/>
              <a:gdLst/>
              <a:ahLst/>
              <a:cxnLst/>
              <a:rect r="r" b="b" t="t" l="l"/>
              <a:pathLst>
                <a:path h="533333" w="2562668">
                  <a:moveTo>
                    <a:pt x="0" y="0"/>
                  </a:moveTo>
                  <a:lnTo>
                    <a:pt x="2562668" y="0"/>
                  </a:lnTo>
                  <a:lnTo>
                    <a:pt x="2562668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25" r="0" b="-4362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2562670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—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8870004" y="6280004"/>
            <a:ext cx="8567995" cy="400002"/>
            <a:chOff x="0" y="0"/>
            <a:chExt cx="11423993" cy="53333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424031" cy="533273"/>
            </a:xfrm>
            <a:custGeom>
              <a:avLst/>
              <a:gdLst/>
              <a:ahLst/>
              <a:cxnLst/>
              <a:rect r="r" b="b" t="t" l="l"/>
              <a:pathLst>
                <a:path h="533273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533273"/>
                  </a:lnTo>
                  <a:lnTo>
                    <a:pt x="0" y="533273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870004" y="6280004"/>
            <a:ext cx="8567995" cy="18002"/>
            <a:chOff x="0" y="0"/>
            <a:chExt cx="11423993" cy="24003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1424031" cy="24003"/>
            </a:xfrm>
            <a:custGeom>
              <a:avLst/>
              <a:gdLst/>
              <a:ahLst/>
              <a:cxnLst/>
              <a:rect r="r" b="b" t="t" l="l"/>
              <a:pathLst>
                <a:path h="24003" w="11424031">
                  <a:moveTo>
                    <a:pt x="0" y="0"/>
                  </a:moveTo>
                  <a:lnTo>
                    <a:pt x="11424031" y="0"/>
                  </a:lnTo>
                  <a:lnTo>
                    <a:pt x="11424031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8979999" y="6280004"/>
            <a:ext cx="2007680" cy="400002"/>
            <a:chOff x="0" y="0"/>
            <a:chExt cx="2676906" cy="53333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676905" cy="533333"/>
            </a:xfrm>
            <a:custGeom>
              <a:avLst/>
              <a:gdLst/>
              <a:ahLst/>
              <a:cxnLst/>
              <a:rect r="r" b="b" t="t" l="l"/>
              <a:pathLst>
                <a:path h="533333" w="2676905">
                  <a:moveTo>
                    <a:pt x="0" y="0"/>
                  </a:moveTo>
                  <a:lnTo>
                    <a:pt x="2676905" y="0"/>
                  </a:lnTo>
                  <a:lnTo>
                    <a:pt x="267690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98" r="0" b="-47799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2676906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207677" y="6280004"/>
            <a:ext cx="2093357" cy="400002"/>
            <a:chOff x="0" y="0"/>
            <a:chExt cx="2791142" cy="53333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791145" cy="533333"/>
            </a:xfrm>
            <a:custGeom>
              <a:avLst/>
              <a:gdLst/>
              <a:ahLst/>
              <a:cxnLst/>
              <a:rect r="r" b="b" t="t" l="l"/>
              <a:pathLst>
                <a:path h="533333" w="2791145">
                  <a:moveTo>
                    <a:pt x="0" y="0"/>
                  </a:moveTo>
                  <a:lnTo>
                    <a:pt x="2791145" y="0"/>
                  </a:lnTo>
                  <a:lnTo>
                    <a:pt x="27911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72" r="0" b="-5197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2791142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$15,090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521042" y="6280004"/>
            <a:ext cx="1664960" cy="400002"/>
            <a:chOff x="0" y="0"/>
            <a:chExt cx="2219947" cy="53333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219945" cy="533333"/>
            </a:xfrm>
            <a:custGeom>
              <a:avLst/>
              <a:gdLst/>
              <a:ahLst/>
              <a:cxnLst/>
              <a:rect r="r" b="b" t="t" l="l"/>
              <a:pathLst>
                <a:path h="533333" w="2219945">
                  <a:moveTo>
                    <a:pt x="0" y="0"/>
                  </a:moveTo>
                  <a:lnTo>
                    <a:pt x="2219945" y="0"/>
                  </a:lnTo>
                  <a:lnTo>
                    <a:pt x="221994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04" r="0" b="-31104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2219947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49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5406002" y="6280004"/>
            <a:ext cx="1922002" cy="400002"/>
            <a:chOff x="0" y="0"/>
            <a:chExt cx="2562670" cy="533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562668" cy="533333"/>
            </a:xfrm>
            <a:custGeom>
              <a:avLst/>
              <a:gdLst/>
              <a:ahLst/>
              <a:cxnLst/>
              <a:rect r="r" b="b" t="t" l="l"/>
              <a:pathLst>
                <a:path h="533333" w="2562668">
                  <a:moveTo>
                    <a:pt x="0" y="0"/>
                  </a:moveTo>
                  <a:lnTo>
                    <a:pt x="2562668" y="0"/>
                  </a:lnTo>
                  <a:lnTo>
                    <a:pt x="2562668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25" r="0" b="-43626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2562670" cy="542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$308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8961444" y="6815719"/>
            <a:ext cx="8385115" cy="32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September clients came from the Ignite campaigns booked and paid in August that ran into September.</a:t>
            </a:r>
          </a:p>
        </p:txBody>
      </p:sp>
      <p:sp>
        <p:nvSpPr>
          <p:cNvPr name="Freeform 136" id="136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4862" y="603561"/>
            <a:ext cx="14636972" cy="822865"/>
            <a:chOff x="0" y="0"/>
            <a:chExt cx="19515963" cy="10971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1596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354" r="0" b="-2963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4862" y="596417"/>
            <a:ext cx="14636972" cy="830008"/>
            <a:chOff x="0" y="0"/>
            <a:chExt cx="19515963" cy="1106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596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06678"/>
                  </a:lnTo>
                  <a:lnTo>
                    <a:pt x="0" y="110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73" r="0" b="-2933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4862" y="589274"/>
            <a:ext cx="14636972" cy="837152"/>
            <a:chOff x="0" y="0"/>
            <a:chExt cx="19515963" cy="1116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15962" cy="1116203"/>
            </a:xfrm>
            <a:custGeom>
              <a:avLst/>
              <a:gdLst/>
              <a:ahLst/>
              <a:cxnLst/>
              <a:rect r="r" b="b" t="t" l="l"/>
              <a:pathLst>
                <a:path h="111620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16203"/>
                  </a:lnTo>
                  <a:lnTo>
                    <a:pt x="0" y="11162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443" r="0" b="-29044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4862" y="624992"/>
            <a:ext cx="14636944" cy="801424"/>
            <a:chOff x="0" y="0"/>
            <a:chExt cx="19515925" cy="10685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15962" cy="1068578"/>
            </a:xfrm>
            <a:custGeom>
              <a:avLst/>
              <a:gdLst/>
              <a:ahLst/>
              <a:cxnLst/>
              <a:rect r="r" b="b" t="t" l="l"/>
              <a:pathLst>
                <a:path h="10685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68578"/>
                  </a:lnTo>
                  <a:lnTo>
                    <a:pt x="0" y="10685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5616" r="0" b="-30561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4862" y="660711"/>
            <a:ext cx="14636944" cy="765705"/>
            <a:chOff x="0" y="0"/>
            <a:chExt cx="19515925" cy="10209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15925" cy="1020940"/>
            </a:xfrm>
            <a:custGeom>
              <a:avLst/>
              <a:gdLst/>
              <a:ahLst/>
              <a:cxnLst/>
              <a:rect r="r" b="b" t="t" l="l"/>
              <a:pathLst>
                <a:path h="1020940" w="19515925">
                  <a:moveTo>
                    <a:pt x="0" y="0"/>
                  </a:moveTo>
                  <a:lnTo>
                    <a:pt x="19515925" y="0"/>
                  </a:lnTo>
                  <a:lnTo>
                    <a:pt x="19515925" y="1020940"/>
                  </a:lnTo>
                  <a:lnTo>
                    <a:pt x="0" y="10209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2468" r="0" b="-3224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9515925" cy="973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Instagram: Standout Channel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470535" y="6583870"/>
          <a:ext cx="11353800" cy="2717800"/>
        </p:xfrm>
        <a:graphic>
          <a:graphicData uri="http://schemas.openxmlformats.org/drawingml/2006/table">
            <a:tbl>
              <a:tblPr/>
              <a:tblGrid>
                <a:gridCol w="3510509"/>
                <a:gridCol w="7843291"/>
              </a:tblGrid>
              <a:tr h="6089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Content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6089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Ali Sabeel Reel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 i="true">
                          <a:solidFill>
                            <a:srgbClr val="8A93A8"/>
                          </a:solidFill>
                          <a:latin typeface="Exo 2 Italics"/>
                          <a:ea typeface="Exo 2 Italics"/>
                          <a:cs typeface="Exo 2 Italics"/>
                          <a:sym typeface="Exo 2 Italics"/>
                        </a:rPr>
                        <a:t>497K views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Musheera Reel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5.3M views, 660 likes, 8 comments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909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Mention &amp; Win $500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 i="true">
                          <a:solidFill>
                            <a:srgbClr val="8A93A8"/>
                          </a:solidFill>
                          <a:latin typeface="Exo 2 Italics"/>
                          <a:ea typeface="Exo 2 Italics"/>
                          <a:cs typeface="Exo 2 Italics"/>
                          <a:sym typeface="Exo 2 Italics"/>
                        </a:rPr>
                        <a:t>3.9K interactions (Aug 25) - best-performing single post to date, up from 2.6K (Jul 16) and 1.5K (Jun 11)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2615024" y="6064758"/>
            <a:ext cx="2170652" cy="3277267"/>
            <a:chOff x="0" y="0"/>
            <a:chExt cx="2894203" cy="43696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94203" cy="4369689"/>
            </a:xfrm>
            <a:custGeom>
              <a:avLst/>
              <a:gdLst/>
              <a:ahLst/>
              <a:cxnLst/>
              <a:rect r="r" b="b" t="t" l="l"/>
              <a:pathLst>
                <a:path h="4369689" w="2894203">
                  <a:moveTo>
                    <a:pt x="0" y="0"/>
                  </a:moveTo>
                  <a:lnTo>
                    <a:pt x="2894203" y="0"/>
                  </a:lnTo>
                  <a:lnTo>
                    <a:pt x="2894203" y="4369689"/>
                  </a:lnTo>
                  <a:lnTo>
                    <a:pt x="0" y="4369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" t="0" r="-20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026240" y="6064758"/>
            <a:ext cx="2132076" cy="3271647"/>
            <a:chOff x="0" y="0"/>
            <a:chExt cx="2842768" cy="4362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42768" cy="4362196"/>
            </a:xfrm>
            <a:custGeom>
              <a:avLst/>
              <a:gdLst/>
              <a:ahLst/>
              <a:cxnLst/>
              <a:rect r="r" b="b" t="t" l="l"/>
              <a:pathLst>
                <a:path h="4362196" w="2842768">
                  <a:moveTo>
                    <a:pt x="0" y="0"/>
                  </a:moveTo>
                  <a:lnTo>
                    <a:pt x="2842768" y="0"/>
                  </a:lnTo>
                  <a:lnTo>
                    <a:pt x="2842768" y="4362196"/>
                  </a:lnTo>
                  <a:lnTo>
                    <a:pt x="0" y="4362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" t="0" r="-12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28066" y="5858456"/>
            <a:ext cx="432673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200000" r="-100000" t="200000" b="-100000"/>
                  </a:path>
                  <a:tileRect r="-300000" l="0" b="-300000" t="0"/>
                </a:gradFill>
                <a:latin typeface="Exo 2 Bold"/>
                <a:ea typeface="Exo 2 Bold"/>
                <a:cs typeface="Exo 2 Bold"/>
                <a:sym typeface="Exo 2 Bold"/>
              </a:rPr>
              <a:t>Top Performing Content</a:t>
            </a:r>
          </a:p>
        </p:txBody>
      </p: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470535" y="1640398"/>
          <a:ext cx="16649700" cy="3657600"/>
        </p:xfrm>
        <a:graphic>
          <a:graphicData uri="http://schemas.openxmlformats.org/drawingml/2006/table">
            <a:tbl>
              <a:tblPr/>
              <a:tblGrid>
                <a:gridCol w="3672599"/>
                <a:gridCol w="3010023"/>
                <a:gridCol w="9967078"/>
              </a:tblGrid>
              <a:tr h="6189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Notes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6189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Followers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1,802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9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Views (account insights)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2,329,028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Viewers 724,457; 0.7% from followers; 61.8% Reels / 35.9% Stories / 2.2% Posts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002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Interactions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11,087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80.6% from non-followers; 78.8% from Reels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2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Accounts Engaged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7,254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002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Profile Visits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5,990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8"/>
                        </a:lnSpc>
                        <a:defRPr/>
                      </a:pPr>
                      <a:r>
                        <a:rPr lang="en-US" sz="20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38 external link taps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4" id="2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62" r="0" b="-36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91443" y="9783042"/>
            <a:ext cx="71711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30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862" y="603561"/>
            <a:ext cx="14636972" cy="822865"/>
            <a:chOff x="0" y="0"/>
            <a:chExt cx="19515963" cy="1097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1596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354" r="0" b="-29635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4862" y="596417"/>
            <a:ext cx="14636972" cy="830008"/>
            <a:chOff x="0" y="0"/>
            <a:chExt cx="19515963" cy="11066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1596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06678"/>
                  </a:lnTo>
                  <a:lnTo>
                    <a:pt x="0" y="110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73" r="0" b="-29337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4862" y="589274"/>
            <a:ext cx="14636972" cy="837152"/>
            <a:chOff x="0" y="0"/>
            <a:chExt cx="19515963" cy="1116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5962" cy="1116203"/>
            </a:xfrm>
            <a:custGeom>
              <a:avLst/>
              <a:gdLst/>
              <a:ahLst/>
              <a:cxnLst/>
              <a:rect r="r" b="b" t="t" l="l"/>
              <a:pathLst>
                <a:path h="111620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16203"/>
                  </a:lnTo>
                  <a:lnTo>
                    <a:pt x="0" y="11162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443" r="0" b="-2904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4862" y="624992"/>
            <a:ext cx="14636944" cy="801424"/>
            <a:chOff x="0" y="0"/>
            <a:chExt cx="19515925" cy="10685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15962" cy="1068578"/>
            </a:xfrm>
            <a:custGeom>
              <a:avLst/>
              <a:gdLst/>
              <a:ahLst/>
              <a:cxnLst/>
              <a:rect r="r" b="b" t="t" l="l"/>
              <a:pathLst>
                <a:path h="10685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68578"/>
                  </a:lnTo>
                  <a:lnTo>
                    <a:pt x="0" y="10685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5616" r="0" b="-30561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4862" y="660711"/>
            <a:ext cx="14636944" cy="765705"/>
            <a:chOff x="0" y="0"/>
            <a:chExt cx="19515925" cy="10209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15925" cy="1020940"/>
            </a:xfrm>
            <a:custGeom>
              <a:avLst/>
              <a:gdLst/>
              <a:ahLst/>
              <a:cxnLst/>
              <a:rect r="r" b="b" t="t" l="l"/>
              <a:pathLst>
                <a:path h="1020940" w="19515925">
                  <a:moveTo>
                    <a:pt x="0" y="0"/>
                  </a:moveTo>
                  <a:lnTo>
                    <a:pt x="19515925" y="0"/>
                  </a:lnTo>
                  <a:lnTo>
                    <a:pt x="19515925" y="1020940"/>
                  </a:lnTo>
                  <a:lnTo>
                    <a:pt x="0" y="10209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2468" r="0" b="-3224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9515925" cy="973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X, LinkedIn &amp; TikTok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804861" y="1675963"/>
          <a:ext cx="16370300" cy="3149600"/>
        </p:xfrm>
        <a:graphic>
          <a:graphicData uri="http://schemas.openxmlformats.org/drawingml/2006/table">
            <a:tbl>
              <a:tblPr/>
              <a:tblGrid>
                <a:gridCol w="2996320"/>
                <a:gridCol w="4317898"/>
                <a:gridCol w="9056082"/>
              </a:tblGrid>
              <a:tr h="6377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Platform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Metrics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Notes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9326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738 followers, 99 posts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Audience quality is real:</a:t>
                      </a:r>
                      <a:r>
                        <a:rPr lang="en-US" sz="21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96.4% Bahrain, 3.6% Saudi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LinkedIn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586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Organic reactions grew:</a:t>
                      </a:r>
                      <a:r>
                        <a:rPr lang="en-US" sz="21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Jun 46 → Jul 20 → Aug 68 (best month)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402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i="true">
                          <a:solidFill>
                            <a:srgbClr val="8A93A8"/>
                          </a:solidFill>
                          <a:latin typeface="Exo 2 Italics"/>
                          <a:ea typeface="Exo 2 Italics"/>
                          <a:cs typeface="Exo 2 Italics"/>
                          <a:sym typeface="Exo 2 Italics"/>
                        </a:rPr>
                        <a:t>TikTok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>
                          <a:solidFill>
                            <a:srgbClr val="8A93A8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15 followers, 176 total likes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b="true">
                          <a:solidFill>
                            <a:srgbClr val="8A93A8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Lowest interactions of all platforms / audience not suitable for eMYAA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5293719" y="5143500"/>
            <a:ext cx="7476744" cy="4256503"/>
            <a:chOff x="0" y="0"/>
            <a:chExt cx="9968992" cy="56753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68992" cy="5675376"/>
            </a:xfrm>
            <a:custGeom>
              <a:avLst/>
              <a:gdLst/>
              <a:ahLst/>
              <a:cxnLst/>
              <a:rect r="r" b="b" t="t" l="l"/>
              <a:pathLst>
                <a:path h="5675376" w="9968992">
                  <a:moveTo>
                    <a:pt x="0" y="0"/>
                  </a:moveTo>
                  <a:lnTo>
                    <a:pt x="9968992" y="0"/>
                  </a:lnTo>
                  <a:lnTo>
                    <a:pt x="9968992" y="5675376"/>
                  </a:lnTo>
                  <a:lnTo>
                    <a:pt x="0" y="5675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993" r="0" b="-3199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2" r="0" b="-36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91443" y="9783042"/>
            <a:ext cx="71711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31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893141"/>
            <a:ext cx="4091940" cy="960120"/>
            <a:chOff x="0" y="0"/>
            <a:chExt cx="545592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5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0160"/>
                  </a:lnTo>
                  <a:lnTo>
                    <a:pt x="0" y="128016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885998"/>
            <a:ext cx="4091940" cy="967264"/>
            <a:chOff x="0" y="0"/>
            <a:chExt cx="5455920" cy="12896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5920" cy="1289685"/>
            </a:xfrm>
            <a:custGeom>
              <a:avLst/>
              <a:gdLst/>
              <a:ahLst/>
              <a:cxnLst/>
              <a:rect r="r" b="b" t="t" l="l"/>
              <a:pathLst>
                <a:path h="1289685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3" r="0" b="-3237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1878854"/>
            <a:ext cx="4091940" cy="974407"/>
            <a:chOff x="0" y="0"/>
            <a:chExt cx="5455920" cy="1299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5920" cy="1299210"/>
            </a:xfrm>
            <a:custGeom>
              <a:avLst/>
              <a:gdLst/>
              <a:ahLst/>
              <a:cxnLst/>
              <a:rect r="r" b="b" t="t" l="l"/>
              <a:pathLst>
                <a:path h="129921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69" r="0" b="-3176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871710"/>
            <a:ext cx="4091940" cy="981551"/>
            <a:chOff x="0" y="0"/>
            <a:chExt cx="5455920" cy="13087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55920" cy="1308734"/>
            </a:xfrm>
            <a:custGeom>
              <a:avLst/>
              <a:gdLst/>
              <a:ahLst/>
              <a:cxnLst/>
              <a:rect r="r" b="b" t="t" l="l"/>
              <a:pathLst>
                <a:path h="1308734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308734"/>
                  </a:lnTo>
                  <a:lnTo>
                    <a:pt x="0" y="13087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30" r="0" b="-312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45592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4,301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Visits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14900" y="1893141"/>
            <a:ext cx="4091940" cy="960120"/>
            <a:chOff x="0" y="0"/>
            <a:chExt cx="545592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55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0160"/>
                  </a:lnTo>
                  <a:lnTo>
                    <a:pt x="0" y="128016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14900" y="1885998"/>
            <a:ext cx="4091940" cy="967264"/>
            <a:chOff x="0" y="0"/>
            <a:chExt cx="5455920" cy="12896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55920" cy="1289685"/>
            </a:xfrm>
            <a:custGeom>
              <a:avLst/>
              <a:gdLst/>
              <a:ahLst/>
              <a:cxnLst/>
              <a:rect r="r" b="b" t="t" l="l"/>
              <a:pathLst>
                <a:path h="1289685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3" r="0" b="-3237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14900" y="1878854"/>
            <a:ext cx="4091940" cy="974407"/>
            <a:chOff x="0" y="0"/>
            <a:chExt cx="5455920" cy="12992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5920" cy="1299210"/>
            </a:xfrm>
            <a:custGeom>
              <a:avLst/>
              <a:gdLst/>
              <a:ahLst/>
              <a:cxnLst/>
              <a:rect r="r" b="b" t="t" l="l"/>
              <a:pathLst>
                <a:path h="129921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69" r="0" b="-3176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14900" y="1871710"/>
            <a:ext cx="4091940" cy="981551"/>
            <a:chOff x="0" y="0"/>
            <a:chExt cx="5455920" cy="13087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55920" cy="1308734"/>
            </a:xfrm>
            <a:custGeom>
              <a:avLst/>
              <a:gdLst/>
              <a:ahLst/>
              <a:cxnLst/>
              <a:rect r="r" b="b" t="t" l="l"/>
              <a:pathLst>
                <a:path h="1308734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308734"/>
                  </a:lnTo>
                  <a:lnTo>
                    <a:pt x="0" y="13087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30" r="0" b="-312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45592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3.8K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Unique Visitors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81160" y="1893141"/>
            <a:ext cx="4091940" cy="960120"/>
            <a:chOff x="0" y="0"/>
            <a:chExt cx="545592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55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0160"/>
                  </a:lnTo>
                  <a:lnTo>
                    <a:pt x="0" y="128016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281160" y="1885998"/>
            <a:ext cx="4091940" cy="967264"/>
            <a:chOff x="0" y="0"/>
            <a:chExt cx="5455920" cy="12896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55920" cy="1289685"/>
            </a:xfrm>
            <a:custGeom>
              <a:avLst/>
              <a:gdLst/>
              <a:ahLst/>
              <a:cxnLst/>
              <a:rect r="r" b="b" t="t" l="l"/>
              <a:pathLst>
                <a:path h="1289685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3" r="0" b="-3237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81160" y="1878854"/>
            <a:ext cx="4091940" cy="974407"/>
            <a:chOff x="0" y="0"/>
            <a:chExt cx="5455920" cy="12992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55920" cy="1299210"/>
            </a:xfrm>
            <a:custGeom>
              <a:avLst/>
              <a:gdLst/>
              <a:ahLst/>
              <a:cxnLst/>
              <a:rect r="r" b="b" t="t" l="l"/>
              <a:pathLst>
                <a:path h="129921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69" r="0" b="-3176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281160" y="1871710"/>
            <a:ext cx="4091940" cy="981551"/>
            <a:chOff x="0" y="0"/>
            <a:chExt cx="5455920" cy="13087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55920" cy="1308734"/>
            </a:xfrm>
            <a:custGeom>
              <a:avLst/>
              <a:gdLst/>
              <a:ahLst/>
              <a:cxnLst/>
              <a:rect r="r" b="b" t="t" l="l"/>
              <a:pathLst>
                <a:path h="1308734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308734"/>
                  </a:lnTo>
                  <a:lnTo>
                    <a:pt x="0" y="13087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30" r="0" b="-312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45592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5.2K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Pageviews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7420" y="1893141"/>
            <a:ext cx="4091940" cy="960120"/>
            <a:chOff x="0" y="0"/>
            <a:chExt cx="545592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55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0160"/>
                  </a:lnTo>
                  <a:lnTo>
                    <a:pt x="0" y="128016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647420" y="1885998"/>
            <a:ext cx="4091940" cy="967264"/>
            <a:chOff x="0" y="0"/>
            <a:chExt cx="5455920" cy="12896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55920" cy="1289685"/>
            </a:xfrm>
            <a:custGeom>
              <a:avLst/>
              <a:gdLst/>
              <a:ahLst/>
              <a:cxnLst/>
              <a:rect r="r" b="b" t="t" l="l"/>
              <a:pathLst>
                <a:path h="1289685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3" r="0" b="-3237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647420" y="1878854"/>
            <a:ext cx="4091940" cy="974407"/>
            <a:chOff x="0" y="0"/>
            <a:chExt cx="5455920" cy="12992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55920" cy="1299210"/>
            </a:xfrm>
            <a:custGeom>
              <a:avLst/>
              <a:gdLst/>
              <a:ahLst/>
              <a:cxnLst/>
              <a:rect r="r" b="b" t="t" l="l"/>
              <a:pathLst>
                <a:path h="1299210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69" r="0" b="-31768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647420" y="1871710"/>
            <a:ext cx="4091940" cy="981551"/>
            <a:chOff x="0" y="0"/>
            <a:chExt cx="5455920" cy="130873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55920" cy="1308734"/>
            </a:xfrm>
            <a:custGeom>
              <a:avLst/>
              <a:gdLst/>
              <a:ahLst/>
              <a:cxnLst/>
              <a:rect r="r" b="b" t="t" l="l"/>
              <a:pathLst>
                <a:path h="1308734" w="5455920">
                  <a:moveTo>
                    <a:pt x="0" y="0"/>
                  </a:moveTo>
                  <a:lnTo>
                    <a:pt x="5455920" y="0"/>
                  </a:lnTo>
                  <a:lnTo>
                    <a:pt x="5455920" y="1308734"/>
                  </a:lnTo>
                  <a:lnTo>
                    <a:pt x="0" y="13087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30" r="0" b="-312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45592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88.99%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Bounce Rate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2" r="0" b="-36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04862" y="603561"/>
            <a:ext cx="14636972" cy="822865"/>
            <a:chOff x="0" y="0"/>
            <a:chExt cx="19515963" cy="109715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15962" cy="1097153"/>
            </a:xfrm>
            <a:custGeom>
              <a:avLst/>
              <a:gdLst/>
              <a:ahLst/>
              <a:cxnLst/>
              <a:rect r="r" b="b" t="t" l="l"/>
              <a:pathLst>
                <a:path h="109715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6354" r="0" b="-29635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04862" y="596417"/>
            <a:ext cx="14636972" cy="830008"/>
            <a:chOff x="0" y="0"/>
            <a:chExt cx="19515963" cy="110667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1596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06678"/>
                  </a:lnTo>
                  <a:lnTo>
                    <a:pt x="0" y="110667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3373" r="0" b="-29337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04862" y="589274"/>
            <a:ext cx="14636972" cy="837152"/>
            <a:chOff x="0" y="0"/>
            <a:chExt cx="19515963" cy="11162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515962" cy="1116203"/>
            </a:xfrm>
            <a:custGeom>
              <a:avLst/>
              <a:gdLst/>
              <a:ahLst/>
              <a:cxnLst/>
              <a:rect r="r" b="b" t="t" l="l"/>
              <a:pathLst>
                <a:path h="1116203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116203"/>
                  </a:lnTo>
                  <a:lnTo>
                    <a:pt x="0" y="11162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443" r="0" b="-29044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4862" y="624992"/>
            <a:ext cx="14636944" cy="801424"/>
            <a:chOff x="0" y="0"/>
            <a:chExt cx="19515925" cy="10685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515962" cy="1068578"/>
            </a:xfrm>
            <a:custGeom>
              <a:avLst/>
              <a:gdLst/>
              <a:ahLst/>
              <a:cxnLst/>
              <a:rect r="r" b="b" t="t" l="l"/>
              <a:pathLst>
                <a:path h="1068578" w="19515962">
                  <a:moveTo>
                    <a:pt x="0" y="0"/>
                  </a:moveTo>
                  <a:lnTo>
                    <a:pt x="19515962" y="0"/>
                  </a:lnTo>
                  <a:lnTo>
                    <a:pt x="19515962" y="1068578"/>
                  </a:lnTo>
                  <a:lnTo>
                    <a:pt x="0" y="1068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616" r="0" b="-30561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04862" y="660711"/>
            <a:ext cx="14636944" cy="765705"/>
            <a:chOff x="0" y="0"/>
            <a:chExt cx="19515925" cy="10209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515925" cy="1020940"/>
            </a:xfrm>
            <a:custGeom>
              <a:avLst/>
              <a:gdLst/>
              <a:ahLst/>
              <a:cxnLst/>
              <a:rect r="r" b="b" t="t" l="l"/>
              <a:pathLst>
                <a:path h="1020940" w="19515925">
                  <a:moveTo>
                    <a:pt x="0" y="0"/>
                  </a:moveTo>
                  <a:lnTo>
                    <a:pt x="19515925" y="0"/>
                  </a:lnTo>
                  <a:lnTo>
                    <a:pt x="19515925" y="1020940"/>
                  </a:lnTo>
                  <a:lnTo>
                    <a:pt x="0" y="1020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2468" r="0" b="-3224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47625"/>
              <a:ext cx="19515925" cy="973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4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Website Analytics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2257">
                    <a:alpha val="100000"/>
                  </a:srgbClr>
                </a:gs>
                <a:gs pos="100000">
                  <a:srgbClr val="2F6FE0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591443" y="9783042"/>
            <a:ext cx="71711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32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48640" y="3179997"/>
            <a:ext cx="38005" cy="290036"/>
            <a:chOff x="0" y="0"/>
            <a:chExt cx="50673" cy="38671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790080" y="3167148"/>
            <a:ext cx="7667120" cy="29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Traffic Sources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548640" y="3670002"/>
            <a:ext cx="8000047" cy="419957"/>
            <a:chOff x="0" y="0"/>
            <a:chExt cx="10666730" cy="5599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66730" cy="559943"/>
            </a:xfrm>
            <a:custGeom>
              <a:avLst/>
              <a:gdLst/>
              <a:ahLst/>
              <a:cxnLst/>
              <a:rect r="r" b="b" t="t" l="l"/>
              <a:pathLst>
                <a:path h="559943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88638" y="3670002"/>
            <a:ext cx="4120039" cy="419957"/>
            <a:chOff x="0" y="0"/>
            <a:chExt cx="5493385" cy="55994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93385" cy="559943"/>
            </a:xfrm>
            <a:custGeom>
              <a:avLst/>
              <a:gdLst/>
              <a:ahLst/>
              <a:cxnLst/>
              <a:rect r="r" b="b" t="t" l="l"/>
              <a:pathLst>
                <a:path h="559943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027" r="0" b="-141027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88638" y="3670002"/>
            <a:ext cx="4120001" cy="419995"/>
            <a:chOff x="0" y="0"/>
            <a:chExt cx="5493334" cy="55999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93385" cy="559943"/>
            </a:xfrm>
            <a:custGeom>
              <a:avLst/>
              <a:gdLst/>
              <a:ahLst/>
              <a:cxnLst/>
              <a:rect r="r" b="b" t="t" l="l"/>
              <a:pathLst>
                <a:path h="559943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020" r="0" b="-14102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88638" y="3670002"/>
            <a:ext cx="4120001" cy="419995"/>
            <a:chOff x="0" y="0"/>
            <a:chExt cx="5493334" cy="55999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93335" cy="559993"/>
            </a:xfrm>
            <a:custGeom>
              <a:avLst/>
              <a:gdLst/>
              <a:ahLst/>
              <a:cxnLst/>
              <a:rect r="r" b="b" t="t" l="l"/>
              <a:pathLst>
                <a:path h="559993" w="5493335">
                  <a:moveTo>
                    <a:pt x="0" y="0"/>
                  </a:moveTo>
                  <a:lnTo>
                    <a:pt x="5493335" y="0"/>
                  </a:lnTo>
                  <a:lnTo>
                    <a:pt x="5493335" y="559993"/>
                  </a:lnTo>
                  <a:lnTo>
                    <a:pt x="0" y="5599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1" r="0" b="-1411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5493334" cy="559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7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Source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948638" y="3670002"/>
            <a:ext cx="3459956" cy="419957"/>
            <a:chOff x="0" y="0"/>
            <a:chExt cx="4613275" cy="55994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13275" cy="559943"/>
            </a:xfrm>
            <a:custGeom>
              <a:avLst/>
              <a:gdLst/>
              <a:ahLst/>
              <a:cxnLst/>
              <a:rect r="r" b="b" t="t" l="l"/>
              <a:pathLst>
                <a:path h="559943" w="4613275">
                  <a:moveTo>
                    <a:pt x="0" y="0"/>
                  </a:moveTo>
                  <a:lnTo>
                    <a:pt x="4613275" y="0"/>
                  </a:lnTo>
                  <a:lnTo>
                    <a:pt x="461327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21" r="0" b="-11042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948638" y="3670002"/>
            <a:ext cx="3460004" cy="419995"/>
            <a:chOff x="0" y="0"/>
            <a:chExt cx="4613338" cy="55999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13402" cy="559943"/>
            </a:xfrm>
            <a:custGeom>
              <a:avLst/>
              <a:gdLst/>
              <a:ahLst/>
              <a:cxnLst/>
              <a:rect r="r" b="b" t="t" l="l"/>
              <a:pathLst>
                <a:path h="559943" w="4613402">
                  <a:moveTo>
                    <a:pt x="0" y="0"/>
                  </a:moveTo>
                  <a:lnTo>
                    <a:pt x="4613402" y="0"/>
                  </a:lnTo>
                  <a:lnTo>
                    <a:pt x="4613402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19" r="1" b="-110428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948638" y="3670002"/>
            <a:ext cx="3460004" cy="419995"/>
            <a:chOff x="0" y="0"/>
            <a:chExt cx="4613338" cy="5599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13339" cy="559993"/>
            </a:xfrm>
            <a:custGeom>
              <a:avLst/>
              <a:gdLst/>
              <a:ahLst/>
              <a:cxnLst/>
              <a:rect r="r" b="b" t="t" l="l"/>
              <a:pathLst>
                <a:path h="559993" w="4613339">
                  <a:moveTo>
                    <a:pt x="0" y="0"/>
                  </a:moveTo>
                  <a:lnTo>
                    <a:pt x="4613339" y="0"/>
                  </a:lnTo>
                  <a:lnTo>
                    <a:pt x="4613339" y="559993"/>
                  </a:lnTo>
                  <a:lnTo>
                    <a:pt x="0" y="5599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521" r="0" b="-11052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4613338" cy="559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7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Visits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48640" y="4089997"/>
            <a:ext cx="8000047" cy="419957"/>
            <a:chOff x="0" y="0"/>
            <a:chExt cx="10666730" cy="55994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666730" cy="559943"/>
            </a:xfrm>
            <a:custGeom>
              <a:avLst/>
              <a:gdLst/>
              <a:ahLst/>
              <a:cxnLst/>
              <a:rect r="r" b="b" t="t" l="l"/>
              <a:pathLst>
                <a:path h="559943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88638" y="4089997"/>
            <a:ext cx="4120039" cy="419957"/>
            <a:chOff x="0" y="0"/>
            <a:chExt cx="5493385" cy="5599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93385" cy="559943"/>
            </a:xfrm>
            <a:custGeom>
              <a:avLst/>
              <a:gdLst/>
              <a:ahLst/>
              <a:cxnLst/>
              <a:rect r="r" b="b" t="t" l="l"/>
              <a:pathLst>
                <a:path h="559943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027" r="0" b="-141027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88638" y="4082853"/>
            <a:ext cx="4120001" cy="427139"/>
            <a:chOff x="0" y="0"/>
            <a:chExt cx="5493334" cy="56951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93385" cy="569468"/>
            </a:xfrm>
            <a:custGeom>
              <a:avLst/>
              <a:gdLst/>
              <a:ahLst/>
              <a:cxnLst/>
              <a:rect r="r" b="b" t="t" l="l"/>
              <a:pathLst>
                <a:path h="569468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25" r="0" b="-137834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88638" y="4075709"/>
            <a:ext cx="4120001" cy="434283"/>
            <a:chOff x="0" y="0"/>
            <a:chExt cx="5493334" cy="5790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493335" cy="579044"/>
            </a:xfrm>
            <a:custGeom>
              <a:avLst/>
              <a:gdLst/>
              <a:ahLst/>
              <a:cxnLst/>
              <a:rect r="r" b="b" t="t" l="l"/>
              <a:pathLst>
                <a:path h="579044" w="5493335">
                  <a:moveTo>
                    <a:pt x="0" y="0"/>
                  </a:moveTo>
                  <a:lnTo>
                    <a:pt x="5493335" y="0"/>
                  </a:lnTo>
                  <a:lnTo>
                    <a:pt x="5493335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852" r="0" b="-13485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5493334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Direct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4948638" y="4089997"/>
            <a:ext cx="3459956" cy="419957"/>
            <a:chOff x="0" y="0"/>
            <a:chExt cx="4613275" cy="55994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613275" cy="559943"/>
            </a:xfrm>
            <a:custGeom>
              <a:avLst/>
              <a:gdLst/>
              <a:ahLst/>
              <a:cxnLst/>
              <a:rect r="r" b="b" t="t" l="l"/>
              <a:pathLst>
                <a:path h="559943" w="4613275">
                  <a:moveTo>
                    <a:pt x="0" y="0"/>
                  </a:moveTo>
                  <a:lnTo>
                    <a:pt x="4613275" y="0"/>
                  </a:lnTo>
                  <a:lnTo>
                    <a:pt x="461327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21" r="0" b="-110421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948638" y="4082853"/>
            <a:ext cx="3460004" cy="427139"/>
            <a:chOff x="0" y="0"/>
            <a:chExt cx="4613338" cy="56951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613402" cy="569468"/>
            </a:xfrm>
            <a:custGeom>
              <a:avLst/>
              <a:gdLst/>
              <a:ahLst/>
              <a:cxnLst/>
              <a:rect r="r" b="b" t="t" l="l"/>
              <a:pathLst>
                <a:path h="569468" w="4613402">
                  <a:moveTo>
                    <a:pt x="0" y="0"/>
                  </a:moveTo>
                  <a:lnTo>
                    <a:pt x="4613402" y="0"/>
                  </a:lnTo>
                  <a:lnTo>
                    <a:pt x="4613402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1" b="-107745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4948638" y="4075709"/>
            <a:ext cx="3460004" cy="434283"/>
            <a:chOff x="0" y="0"/>
            <a:chExt cx="4613338" cy="57904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13339" cy="579044"/>
            </a:xfrm>
            <a:custGeom>
              <a:avLst/>
              <a:gdLst/>
              <a:ahLst/>
              <a:cxnLst/>
              <a:rect r="r" b="b" t="t" l="l"/>
              <a:pathLst>
                <a:path h="579044" w="4613339">
                  <a:moveTo>
                    <a:pt x="0" y="0"/>
                  </a:moveTo>
                  <a:lnTo>
                    <a:pt x="4613339" y="0"/>
                  </a:lnTo>
                  <a:lnTo>
                    <a:pt x="4613339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240" r="0" b="-10524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4613338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2,092  (48.6%)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48640" y="4510002"/>
            <a:ext cx="8000047" cy="419957"/>
            <a:chOff x="0" y="0"/>
            <a:chExt cx="10666730" cy="55994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66730" cy="559943"/>
            </a:xfrm>
            <a:custGeom>
              <a:avLst/>
              <a:gdLst/>
              <a:ahLst/>
              <a:cxnLst/>
              <a:rect r="r" b="b" t="t" l="l"/>
              <a:pathLst>
                <a:path h="559943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88638" y="4510002"/>
            <a:ext cx="4120039" cy="419957"/>
            <a:chOff x="0" y="0"/>
            <a:chExt cx="5493385" cy="55994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493385" cy="559943"/>
            </a:xfrm>
            <a:custGeom>
              <a:avLst/>
              <a:gdLst/>
              <a:ahLst/>
              <a:cxnLst/>
              <a:rect r="r" b="b" t="t" l="l"/>
              <a:pathLst>
                <a:path h="559943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027" r="0" b="-141027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88638" y="4502858"/>
            <a:ext cx="4120001" cy="427139"/>
            <a:chOff x="0" y="0"/>
            <a:chExt cx="5493334" cy="56951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493385" cy="569468"/>
            </a:xfrm>
            <a:custGeom>
              <a:avLst/>
              <a:gdLst/>
              <a:ahLst/>
              <a:cxnLst/>
              <a:rect r="r" b="b" t="t" l="l"/>
              <a:pathLst>
                <a:path h="569468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25" r="0" b="-137834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88638" y="4495714"/>
            <a:ext cx="4120001" cy="434283"/>
            <a:chOff x="0" y="0"/>
            <a:chExt cx="5493334" cy="57904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493335" cy="579044"/>
            </a:xfrm>
            <a:custGeom>
              <a:avLst/>
              <a:gdLst/>
              <a:ahLst/>
              <a:cxnLst/>
              <a:rect r="r" b="b" t="t" l="l"/>
              <a:pathLst>
                <a:path h="579044" w="5493335">
                  <a:moveTo>
                    <a:pt x="0" y="0"/>
                  </a:moveTo>
                  <a:lnTo>
                    <a:pt x="5493335" y="0"/>
                  </a:lnTo>
                  <a:lnTo>
                    <a:pt x="5493335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852" r="0" b="-13485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5493334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Social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948638" y="4510002"/>
            <a:ext cx="3459956" cy="419957"/>
            <a:chOff x="0" y="0"/>
            <a:chExt cx="4613275" cy="55994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613275" cy="559943"/>
            </a:xfrm>
            <a:custGeom>
              <a:avLst/>
              <a:gdLst/>
              <a:ahLst/>
              <a:cxnLst/>
              <a:rect r="r" b="b" t="t" l="l"/>
              <a:pathLst>
                <a:path h="559943" w="4613275">
                  <a:moveTo>
                    <a:pt x="0" y="0"/>
                  </a:moveTo>
                  <a:lnTo>
                    <a:pt x="4613275" y="0"/>
                  </a:lnTo>
                  <a:lnTo>
                    <a:pt x="461327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21" r="0" b="-11042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948638" y="4502858"/>
            <a:ext cx="3460004" cy="427139"/>
            <a:chOff x="0" y="0"/>
            <a:chExt cx="4613338" cy="56951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613402" cy="569468"/>
            </a:xfrm>
            <a:custGeom>
              <a:avLst/>
              <a:gdLst/>
              <a:ahLst/>
              <a:cxnLst/>
              <a:rect r="r" b="b" t="t" l="l"/>
              <a:pathLst>
                <a:path h="569468" w="4613402">
                  <a:moveTo>
                    <a:pt x="0" y="0"/>
                  </a:moveTo>
                  <a:lnTo>
                    <a:pt x="4613402" y="0"/>
                  </a:lnTo>
                  <a:lnTo>
                    <a:pt x="4613402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1" b="-107745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4948638" y="4495714"/>
            <a:ext cx="3460004" cy="434283"/>
            <a:chOff x="0" y="0"/>
            <a:chExt cx="4613338" cy="57904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613339" cy="579044"/>
            </a:xfrm>
            <a:custGeom>
              <a:avLst/>
              <a:gdLst/>
              <a:ahLst/>
              <a:cxnLst/>
              <a:rect r="r" b="b" t="t" l="l"/>
              <a:pathLst>
                <a:path h="579044" w="4613339">
                  <a:moveTo>
                    <a:pt x="0" y="0"/>
                  </a:moveTo>
                  <a:lnTo>
                    <a:pt x="4613339" y="0"/>
                  </a:lnTo>
                  <a:lnTo>
                    <a:pt x="4613339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240" r="0" b="-10524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4613338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1,682  (39.1%)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548640" y="4929997"/>
            <a:ext cx="8000047" cy="419957"/>
            <a:chOff x="0" y="0"/>
            <a:chExt cx="10666730" cy="55994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666730" cy="559943"/>
            </a:xfrm>
            <a:custGeom>
              <a:avLst/>
              <a:gdLst/>
              <a:ahLst/>
              <a:cxnLst/>
              <a:rect r="r" b="b" t="t" l="l"/>
              <a:pathLst>
                <a:path h="559943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88638" y="4929997"/>
            <a:ext cx="4120039" cy="419957"/>
            <a:chOff x="0" y="0"/>
            <a:chExt cx="5493385" cy="55994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493385" cy="559943"/>
            </a:xfrm>
            <a:custGeom>
              <a:avLst/>
              <a:gdLst/>
              <a:ahLst/>
              <a:cxnLst/>
              <a:rect r="r" b="b" t="t" l="l"/>
              <a:pathLst>
                <a:path h="559943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027" r="0" b="-141027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688638" y="4922853"/>
            <a:ext cx="4120001" cy="427139"/>
            <a:chOff x="0" y="0"/>
            <a:chExt cx="5493334" cy="56951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493385" cy="569468"/>
            </a:xfrm>
            <a:custGeom>
              <a:avLst/>
              <a:gdLst/>
              <a:ahLst/>
              <a:cxnLst/>
              <a:rect r="r" b="b" t="t" l="l"/>
              <a:pathLst>
                <a:path h="569468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25" r="0" b="-137834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88638" y="4915710"/>
            <a:ext cx="4120001" cy="434283"/>
            <a:chOff x="0" y="0"/>
            <a:chExt cx="5493334" cy="57904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493335" cy="579044"/>
            </a:xfrm>
            <a:custGeom>
              <a:avLst/>
              <a:gdLst/>
              <a:ahLst/>
              <a:cxnLst/>
              <a:rect r="r" b="b" t="t" l="l"/>
              <a:pathLst>
                <a:path h="579044" w="5493335">
                  <a:moveTo>
                    <a:pt x="0" y="0"/>
                  </a:moveTo>
                  <a:lnTo>
                    <a:pt x="5493335" y="0"/>
                  </a:lnTo>
                  <a:lnTo>
                    <a:pt x="5493335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852" r="0" b="-134852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5493334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Search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4948638" y="4929997"/>
            <a:ext cx="3459956" cy="419957"/>
            <a:chOff x="0" y="0"/>
            <a:chExt cx="4613275" cy="55994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613275" cy="559943"/>
            </a:xfrm>
            <a:custGeom>
              <a:avLst/>
              <a:gdLst/>
              <a:ahLst/>
              <a:cxnLst/>
              <a:rect r="r" b="b" t="t" l="l"/>
              <a:pathLst>
                <a:path h="559943" w="4613275">
                  <a:moveTo>
                    <a:pt x="0" y="0"/>
                  </a:moveTo>
                  <a:lnTo>
                    <a:pt x="4613275" y="0"/>
                  </a:lnTo>
                  <a:lnTo>
                    <a:pt x="461327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21" r="0" b="-110421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4948638" y="4922853"/>
            <a:ext cx="3460004" cy="427139"/>
            <a:chOff x="0" y="0"/>
            <a:chExt cx="4613338" cy="56951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613402" cy="569468"/>
            </a:xfrm>
            <a:custGeom>
              <a:avLst/>
              <a:gdLst/>
              <a:ahLst/>
              <a:cxnLst/>
              <a:rect r="r" b="b" t="t" l="l"/>
              <a:pathLst>
                <a:path h="569468" w="4613402">
                  <a:moveTo>
                    <a:pt x="0" y="0"/>
                  </a:moveTo>
                  <a:lnTo>
                    <a:pt x="4613402" y="0"/>
                  </a:lnTo>
                  <a:lnTo>
                    <a:pt x="4613402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1" b="-107745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948638" y="4915710"/>
            <a:ext cx="3460004" cy="434283"/>
            <a:chOff x="0" y="0"/>
            <a:chExt cx="4613338" cy="57904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613339" cy="579044"/>
            </a:xfrm>
            <a:custGeom>
              <a:avLst/>
              <a:gdLst/>
              <a:ahLst/>
              <a:cxnLst/>
              <a:rect r="r" b="b" t="t" l="l"/>
              <a:pathLst>
                <a:path h="579044" w="4613339">
                  <a:moveTo>
                    <a:pt x="0" y="0"/>
                  </a:moveTo>
                  <a:lnTo>
                    <a:pt x="4613339" y="0"/>
                  </a:lnTo>
                  <a:lnTo>
                    <a:pt x="4613339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240" r="0" b="-10524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4613338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303  (7.04%)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548640" y="5350002"/>
            <a:ext cx="8000047" cy="419957"/>
            <a:chOff x="0" y="0"/>
            <a:chExt cx="10666730" cy="55994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666730" cy="559943"/>
            </a:xfrm>
            <a:custGeom>
              <a:avLst/>
              <a:gdLst/>
              <a:ahLst/>
              <a:cxnLst/>
              <a:rect r="r" b="b" t="t" l="l"/>
              <a:pathLst>
                <a:path h="559943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688638" y="5350002"/>
            <a:ext cx="4120039" cy="419957"/>
            <a:chOff x="0" y="0"/>
            <a:chExt cx="5493385" cy="55994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493385" cy="559943"/>
            </a:xfrm>
            <a:custGeom>
              <a:avLst/>
              <a:gdLst/>
              <a:ahLst/>
              <a:cxnLst/>
              <a:rect r="r" b="b" t="t" l="l"/>
              <a:pathLst>
                <a:path h="559943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027" r="0" b="-141027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688638" y="5342858"/>
            <a:ext cx="4120001" cy="427139"/>
            <a:chOff x="0" y="0"/>
            <a:chExt cx="5493334" cy="56951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493385" cy="569468"/>
            </a:xfrm>
            <a:custGeom>
              <a:avLst/>
              <a:gdLst/>
              <a:ahLst/>
              <a:cxnLst/>
              <a:rect r="r" b="b" t="t" l="l"/>
              <a:pathLst>
                <a:path h="569468" w="5493385">
                  <a:moveTo>
                    <a:pt x="0" y="0"/>
                  </a:moveTo>
                  <a:lnTo>
                    <a:pt x="5493385" y="0"/>
                  </a:lnTo>
                  <a:lnTo>
                    <a:pt x="5493385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25" r="0" b="-137834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688638" y="5335714"/>
            <a:ext cx="4120001" cy="434283"/>
            <a:chOff x="0" y="0"/>
            <a:chExt cx="5493334" cy="57904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493335" cy="579044"/>
            </a:xfrm>
            <a:custGeom>
              <a:avLst/>
              <a:gdLst/>
              <a:ahLst/>
              <a:cxnLst/>
              <a:rect r="r" b="b" t="t" l="l"/>
              <a:pathLst>
                <a:path h="579044" w="5493335">
                  <a:moveTo>
                    <a:pt x="0" y="0"/>
                  </a:moveTo>
                  <a:lnTo>
                    <a:pt x="5493335" y="0"/>
                  </a:lnTo>
                  <a:lnTo>
                    <a:pt x="5493335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852" r="0" b="-13485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5493334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Referral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4948638" y="5350002"/>
            <a:ext cx="3459956" cy="419957"/>
            <a:chOff x="0" y="0"/>
            <a:chExt cx="4613275" cy="55994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613275" cy="559943"/>
            </a:xfrm>
            <a:custGeom>
              <a:avLst/>
              <a:gdLst/>
              <a:ahLst/>
              <a:cxnLst/>
              <a:rect r="r" b="b" t="t" l="l"/>
              <a:pathLst>
                <a:path h="559943" w="4613275">
                  <a:moveTo>
                    <a:pt x="0" y="0"/>
                  </a:moveTo>
                  <a:lnTo>
                    <a:pt x="4613275" y="0"/>
                  </a:lnTo>
                  <a:lnTo>
                    <a:pt x="461327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21" r="0" b="-110421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4948638" y="5342858"/>
            <a:ext cx="3460004" cy="427139"/>
            <a:chOff x="0" y="0"/>
            <a:chExt cx="4613338" cy="56951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613402" cy="569468"/>
            </a:xfrm>
            <a:custGeom>
              <a:avLst/>
              <a:gdLst/>
              <a:ahLst/>
              <a:cxnLst/>
              <a:rect r="r" b="b" t="t" l="l"/>
              <a:pathLst>
                <a:path h="569468" w="4613402">
                  <a:moveTo>
                    <a:pt x="0" y="0"/>
                  </a:moveTo>
                  <a:lnTo>
                    <a:pt x="4613402" y="0"/>
                  </a:lnTo>
                  <a:lnTo>
                    <a:pt x="4613402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1" b="-107745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4948638" y="5335714"/>
            <a:ext cx="3460004" cy="434283"/>
            <a:chOff x="0" y="0"/>
            <a:chExt cx="4613338" cy="57904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613339" cy="579044"/>
            </a:xfrm>
            <a:custGeom>
              <a:avLst/>
              <a:gdLst/>
              <a:ahLst/>
              <a:cxnLst/>
              <a:rect r="r" b="b" t="t" l="l"/>
              <a:pathLst>
                <a:path h="579044" w="4613339">
                  <a:moveTo>
                    <a:pt x="0" y="0"/>
                  </a:moveTo>
                  <a:lnTo>
                    <a:pt x="4613339" y="0"/>
                  </a:lnTo>
                  <a:lnTo>
                    <a:pt x="4613339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240" r="0" b="-10524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4613338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224  (5.21%)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657645" y="3179997"/>
            <a:ext cx="38005" cy="290036"/>
            <a:chOff x="0" y="0"/>
            <a:chExt cx="50673" cy="38671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42" id="142"/>
          <p:cNvSpPr txBox="true"/>
          <p:nvPr/>
        </p:nvSpPr>
        <p:spPr>
          <a:xfrm rot="0">
            <a:off x="9899085" y="3167148"/>
            <a:ext cx="7747121" cy="29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Geography (Top Countries)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9657645" y="3670002"/>
            <a:ext cx="8079962" cy="419957"/>
            <a:chOff x="0" y="0"/>
            <a:chExt cx="10773283" cy="559943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797644" y="3670002"/>
            <a:ext cx="4164044" cy="419957"/>
            <a:chOff x="0" y="0"/>
            <a:chExt cx="5552059" cy="55994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797644" y="3670002"/>
            <a:ext cx="4163997" cy="419995"/>
            <a:chOff x="0" y="0"/>
            <a:chExt cx="5551996" cy="55999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61" r="1" b="-143068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797644" y="3670002"/>
            <a:ext cx="4163997" cy="419995"/>
            <a:chOff x="0" y="0"/>
            <a:chExt cx="5551996" cy="55999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551996" cy="559993"/>
            </a:xfrm>
            <a:custGeom>
              <a:avLst/>
              <a:gdLst/>
              <a:ahLst/>
              <a:cxnLst/>
              <a:rect r="r" b="b" t="t" l="l"/>
              <a:pathLst>
                <a:path h="559993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59993"/>
                  </a:lnTo>
                  <a:lnTo>
                    <a:pt x="0" y="5599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3182" r="0" b="-143182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5551996" cy="559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7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Country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101648" y="3670002"/>
            <a:ext cx="3495961" cy="419957"/>
            <a:chOff x="0" y="0"/>
            <a:chExt cx="4661281" cy="559943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4101648" y="3670002"/>
            <a:ext cx="3495999" cy="419995"/>
            <a:chOff x="0" y="0"/>
            <a:chExt cx="4661332" cy="55999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88" r="-1" b="-112097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4101648" y="3670002"/>
            <a:ext cx="3495999" cy="419995"/>
            <a:chOff x="0" y="0"/>
            <a:chExt cx="4661332" cy="559994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661332" cy="559993"/>
            </a:xfrm>
            <a:custGeom>
              <a:avLst/>
              <a:gdLst/>
              <a:ahLst/>
              <a:cxnLst/>
              <a:rect r="r" b="b" t="t" l="l"/>
              <a:pathLst>
                <a:path h="559993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59993"/>
                  </a:lnTo>
                  <a:lnTo>
                    <a:pt x="0" y="5599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191" r="0" b="-112191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4661332" cy="559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7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Visits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9657645" y="4089997"/>
            <a:ext cx="8079962" cy="419957"/>
            <a:chOff x="0" y="0"/>
            <a:chExt cx="10773283" cy="55994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797644" y="4089997"/>
            <a:ext cx="4164044" cy="419957"/>
            <a:chOff x="0" y="0"/>
            <a:chExt cx="5552059" cy="55994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9797644" y="4082853"/>
            <a:ext cx="4163997" cy="427139"/>
            <a:chOff x="0" y="0"/>
            <a:chExt cx="5551996" cy="56951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9797644" y="4075709"/>
            <a:ext cx="4163997" cy="434283"/>
            <a:chOff x="0" y="0"/>
            <a:chExt cx="5551996" cy="57904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4101648" y="4089997"/>
            <a:ext cx="3495961" cy="419957"/>
            <a:chOff x="0" y="0"/>
            <a:chExt cx="4661281" cy="559943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101648" y="4082853"/>
            <a:ext cx="3495999" cy="427139"/>
            <a:chOff x="0" y="0"/>
            <a:chExt cx="4661332" cy="56951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4101648" y="4075709"/>
            <a:ext cx="3495999" cy="434283"/>
            <a:chOff x="0" y="0"/>
            <a:chExt cx="4661332" cy="57904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1,273  (29.6%)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9657645" y="4510002"/>
            <a:ext cx="8079962" cy="419957"/>
            <a:chOff x="0" y="0"/>
            <a:chExt cx="10773283" cy="559943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9797644" y="4510002"/>
            <a:ext cx="4164044" cy="419957"/>
            <a:chOff x="0" y="0"/>
            <a:chExt cx="5552059" cy="559943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797644" y="4502858"/>
            <a:ext cx="4163997" cy="427139"/>
            <a:chOff x="0" y="0"/>
            <a:chExt cx="5551996" cy="56951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9797644" y="4495714"/>
            <a:ext cx="4163997" cy="434283"/>
            <a:chOff x="0" y="0"/>
            <a:chExt cx="5551996" cy="579044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Saudi Arabia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4101648" y="4510002"/>
            <a:ext cx="3495961" cy="419957"/>
            <a:chOff x="0" y="0"/>
            <a:chExt cx="4661281" cy="559943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4101648" y="4502858"/>
            <a:ext cx="3495999" cy="427139"/>
            <a:chOff x="0" y="0"/>
            <a:chExt cx="4661332" cy="569519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4101648" y="4495714"/>
            <a:ext cx="3495999" cy="434283"/>
            <a:chOff x="0" y="0"/>
            <a:chExt cx="4661332" cy="57904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1,246  (29.0%)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657645" y="4929997"/>
            <a:ext cx="8079962" cy="419957"/>
            <a:chOff x="0" y="0"/>
            <a:chExt cx="10773283" cy="559943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9797644" y="4929997"/>
            <a:ext cx="4164044" cy="419957"/>
            <a:chOff x="0" y="0"/>
            <a:chExt cx="5552059" cy="559943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9797644" y="4922853"/>
            <a:ext cx="4163997" cy="427139"/>
            <a:chOff x="0" y="0"/>
            <a:chExt cx="5551996" cy="569519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797644" y="4915710"/>
            <a:ext cx="4163997" cy="434283"/>
            <a:chOff x="0" y="0"/>
            <a:chExt cx="5551996" cy="57904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Oman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4101648" y="4929997"/>
            <a:ext cx="3495961" cy="419957"/>
            <a:chOff x="0" y="0"/>
            <a:chExt cx="4661281" cy="559943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14101648" y="4922853"/>
            <a:ext cx="3495999" cy="427139"/>
            <a:chOff x="0" y="0"/>
            <a:chExt cx="4661332" cy="569519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4101648" y="4915710"/>
            <a:ext cx="3495999" cy="434283"/>
            <a:chOff x="0" y="0"/>
            <a:chExt cx="4661332" cy="579044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518  (12.0%)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9657645" y="5350002"/>
            <a:ext cx="8079962" cy="419957"/>
            <a:chOff x="0" y="0"/>
            <a:chExt cx="10773283" cy="559943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9797644" y="5350002"/>
            <a:ext cx="4164044" cy="419957"/>
            <a:chOff x="0" y="0"/>
            <a:chExt cx="5552059" cy="559943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9797644" y="5342858"/>
            <a:ext cx="4163997" cy="427139"/>
            <a:chOff x="0" y="0"/>
            <a:chExt cx="5551996" cy="569519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9797644" y="5335714"/>
            <a:ext cx="4163997" cy="434283"/>
            <a:chOff x="0" y="0"/>
            <a:chExt cx="5551996" cy="579044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215" id="215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United States</a:t>
              </a:r>
            </a:p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14101648" y="5350002"/>
            <a:ext cx="3495961" cy="419957"/>
            <a:chOff x="0" y="0"/>
            <a:chExt cx="4661281" cy="559943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4101648" y="5342858"/>
            <a:ext cx="3495999" cy="427139"/>
            <a:chOff x="0" y="0"/>
            <a:chExt cx="4661332" cy="569519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14101648" y="5335714"/>
            <a:ext cx="3495999" cy="434283"/>
            <a:chOff x="0" y="0"/>
            <a:chExt cx="4661332" cy="579044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335  (7.79%)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657645" y="5769997"/>
            <a:ext cx="8079962" cy="419957"/>
            <a:chOff x="0" y="0"/>
            <a:chExt cx="10773283" cy="559943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9797644" y="5769997"/>
            <a:ext cx="4164044" cy="419957"/>
            <a:chOff x="0" y="0"/>
            <a:chExt cx="5552059" cy="559943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9797644" y="5762854"/>
            <a:ext cx="4163997" cy="427139"/>
            <a:chOff x="0" y="0"/>
            <a:chExt cx="5551996" cy="569519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9797644" y="5755710"/>
            <a:ext cx="4163997" cy="434283"/>
            <a:chOff x="0" y="0"/>
            <a:chExt cx="5551996" cy="579044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China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14101648" y="5769997"/>
            <a:ext cx="3495961" cy="419957"/>
            <a:chOff x="0" y="0"/>
            <a:chExt cx="4661281" cy="559943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14101648" y="5762854"/>
            <a:ext cx="3495999" cy="427139"/>
            <a:chOff x="0" y="0"/>
            <a:chExt cx="4661332" cy="569519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4101648" y="5755710"/>
            <a:ext cx="3495999" cy="434283"/>
            <a:chOff x="0" y="0"/>
            <a:chExt cx="4661332" cy="579044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130  (3.02%)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657645" y="6190002"/>
            <a:ext cx="8079962" cy="419957"/>
            <a:chOff x="0" y="0"/>
            <a:chExt cx="10773283" cy="559943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9797644" y="6190002"/>
            <a:ext cx="4164044" cy="419957"/>
            <a:chOff x="0" y="0"/>
            <a:chExt cx="5552059" cy="559943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9797644" y="6182858"/>
            <a:ext cx="4163997" cy="427139"/>
            <a:chOff x="0" y="0"/>
            <a:chExt cx="5551996" cy="569519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9797644" y="6175715"/>
            <a:ext cx="4163997" cy="434283"/>
            <a:chOff x="0" y="0"/>
            <a:chExt cx="5551996" cy="579044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Egypt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14101648" y="6190002"/>
            <a:ext cx="3495961" cy="419957"/>
            <a:chOff x="0" y="0"/>
            <a:chExt cx="4661281" cy="559943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14101648" y="6182858"/>
            <a:ext cx="3495999" cy="427139"/>
            <a:chOff x="0" y="0"/>
            <a:chExt cx="4661332" cy="569519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252" id="252"/>
          <p:cNvGrpSpPr/>
          <p:nvPr/>
        </p:nvGrpSpPr>
        <p:grpSpPr>
          <a:xfrm rot="0">
            <a:off x="14101648" y="6175715"/>
            <a:ext cx="3495999" cy="434283"/>
            <a:chOff x="0" y="0"/>
            <a:chExt cx="4661332" cy="579044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100  (2.32%)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657645" y="6609998"/>
            <a:ext cx="8079962" cy="419957"/>
            <a:chOff x="0" y="0"/>
            <a:chExt cx="10773283" cy="559943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9797644" y="6609998"/>
            <a:ext cx="4164044" cy="419957"/>
            <a:chOff x="0" y="0"/>
            <a:chExt cx="5552059" cy="559943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9797644" y="6602854"/>
            <a:ext cx="4163997" cy="427139"/>
            <a:chOff x="0" y="0"/>
            <a:chExt cx="5551996" cy="569519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261" id="261"/>
          <p:cNvGrpSpPr/>
          <p:nvPr/>
        </p:nvGrpSpPr>
        <p:grpSpPr>
          <a:xfrm rot="0">
            <a:off x="9797644" y="6595710"/>
            <a:ext cx="4163997" cy="434283"/>
            <a:chOff x="0" y="0"/>
            <a:chExt cx="5551996" cy="579044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263" id="263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India</a:t>
              </a:r>
            </a:p>
          </p:txBody>
        </p:sp>
      </p:grpSp>
      <p:grpSp>
        <p:nvGrpSpPr>
          <p:cNvPr name="Group 264" id="264"/>
          <p:cNvGrpSpPr/>
          <p:nvPr/>
        </p:nvGrpSpPr>
        <p:grpSpPr>
          <a:xfrm rot="0">
            <a:off x="14101648" y="6609998"/>
            <a:ext cx="3495961" cy="419957"/>
            <a:chOff x="0" y="0"/>
            <a:chExt cx="4661281" cy="559943"/>
          </a:xfrm>
        </p:grpSpPr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266" id="266"/>
          <p:cNvGrpSpPr/>
          <p:nvPr/>
        </p:nvGrpSpPr>
        <p:grpSpPr>
          <a:xfrm rot="0">
            <a:off x="14101648" y="6602854"/>
            <a:ext cx="3495999" cy="427139"/>
            <a:chOff x="0" y="0"/>
            <a:chExt cx="4661332" cy="569519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268" id="268"/>
          <p:cNvGrpSpPr/>
          <p:nvPr/>
        </p:nvGrpSpPr>
        <p:grpSpPr>
          <a:xfrm rot="0">
            <a:off x="14101648" y="6595710"/>
            <a:ext cx="3495999" cy="434283"/>
            <a:chOff x="0" y="0"/>
            <a:chExt cx="4661332" cy="579044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79  (1.84%)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9657645" y="7030002"/>
            <a:ext cx="8079962" cy="419957"/>
            <a:chOff x="0" y="0"/>
            <a:chExt cx="10773283" cy="559943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9797644" y="7030002"/>
            <a:ext cx="4164044" cy="419957"/>
            <a:chOff x="0" y="0"/>
            <a:chExt cx="5552059" cy="559943"/>
          </a:xfrm>
        </p:grpSpPr>
        <p:sp>
          <p:nvSpPr>
            <p:cNvPr name="Freeform 274" id="274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9797644" y="7022859"/>
            <a:ext cx="4163997" cy="427139"/>
            <a:chOff x="0" y="0"/>
            <a:chExt cx="5551996" cy="569519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277" id="277"/>
          <p:cNvGrpSpPr/>
          <p:nvPr/>
        </p:nvGrpSpPr>
        <p:grpSpPr>
          <a:xfrm rot="0">
            <a:off x="9797644" y="7015715"/>
            <a:ext cx="4163997" cy="434283"/>
            <a:chOff x="0" y="0"/>
            <a:chExt cx="5551996" cy="579044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279" id="279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United Arab Emirates</a:t>
              </a:r>
            </a:p>
          </p:txBody>
        </p:sp>
      </p:grpSp>
      <p:grpSp>
        <p:nvGrpSpPr>
          <p:cNvPr name="Group 280" id="280"/>
          <p:cNvGrpSpPr/>
          <p:nvPr/>
        </p:nvGrpSpPr>
        <p:grpSpPr>
          <a:xfrm rot="0">
            <a:off x="14101648" y="7030002"/>
            <a:ext cx="3495961" cy="419957"/>
            <a:chOff x="0" y="0"/>
            <a:chExt cx="4661281" cy="559943"/>
          </a:xfrm>
        </p:grpSpPr>
        <p:sp>
          <p:nvSpPr>
            <p:cNvPr name="Freeform 281" id="281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282" id="282"/>
          <p:cNvGrpSpPr/>
          <p:nvPr/>
        </p:nvGrpSpPr>
        <p:grpSpPr>
          <a:xfrm rot="0">
            <a:off x="14101648" y="7022859"/>
            <a:ext cx="3495999" cy="427139"/>
            <a:chOff x="0" y="0"/>
            <a:chExt cx="4661332" cy="569519"/>
          </a:xfrm>
        </p:grpSpPr>
        <p:sp>
          <p:nvSpPr>
            <p:cNvPr name="Freeform 283" id="283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284" id="284"/>
          <p:cNvGrpSpPr/>
          <p:nvPr/>
        </p:nvGrpSpPr>
        <p:grpSpPr>
          <a:xfrm rot="0">
            <a:off x="14101648" y="7015715"/>
            <a:ext cx="3495999" cy="434283"/>
            <a:chOff x="0" y="0"/>
            <a:chExt cx="4661332" cy="579044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286" id="286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77  (1.79%)</a:t>
              </a:r>
            </a:p>
          </p:txBody>
        </p:sp>
      </p:grpSp>
      <p:grpSp>
        <p:nvGrpSpPr>
          <p:cNvPr name="Group 287" id="287"/>
          <p:cNvGrpSpPr/>
          <p:nvPr/>
        </p:nvGrpSpPr>
        <p:grpSpPr>
          <a:xfrm rot="0">
            <a:off x="9657645" y="7449998"/>
            <a:ext cx="8079962" cy="419957"/>
            <a:chOff x="0" y="0"/>
            <a:chExt cx="10773283" cy="559943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0" y="0"/>
              <a:ext cx="10773283" cy="559943"/>
            </a:xfrm>
            <a:custGeom>
              <a:avLst/>
              <a:gdLst/>
              <a:ahLst/>
              <a:cxnLst/>
              <a:rect r="r" b="b" t="t" l="l"/>
              <a:pathLst>
                <a:path h="559943" w="10773283">
                  <a:moveTo>
                    <a:pt x="0" y="0"/>
                  </a:moveTo>
                  <a:lnTo>
                    <a:pt x="10773283" y="0"/>
                  </a:lnTo>
                  <a:lnTo>
                    <a:pt x="10773283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89" id="289"/>
          <p:cNvGrpSpPr/>
          <p:nvPr/>
        </p:nvGrpSpPr>
        <p:grpSpPr>
          <a:xfrm rot="0">
            <a:off x="9797644" y="7449998"/>
            <a:ext cx="4164044" cy="419957"/>
            <a:chOff x="0" y="0"/>
            <a:chExt cx="5552059" cy="559943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5552059" cy="559943"/>
            </a:xfrm>
            <a:custGeom>
              <a:avLst/>
              <a:gdLst/>
              <a:ahLst/>
              <a:cxnLst/>
              <a:rect r="r" b="b" t="t" l="l"/>
              <a:pathLst>
                <a:path h="559943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68" r="0" b="-143066"/>
              </a:stretch>
            </a:blipFill>
          </p:spPr>
        </p:sp>
      </p:grpSp>
      <p:grpSp>
        <p:nvGrpSpPr>
          <p:cNvPr name="Group 291" id="291"/>
          <p:cNvGrpSpPr/>
          <p:nvPr/>
        </p:nvGrpSpPr>
        <p:grpSpPr>
          <a:xfrm rot="0">
            <a:off x="9797644" y="7442854"/>
            <a:ext cx="4163997" cy="427139"/>
            <a:chOff x="0" y="0"/>
            <a:chExt cx="5551996" cy="569519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5552059" cy="569468"/>
            </a:xfrm>
            <a:custGeom>
              <a:avLst/>
              <a:gdLst/>
              <a:ahLst/>
              <a:cxnLst/>
              <a:rect r="r" b="b" t="t" l="l"/>
              <a:pathLst>
                <a:path h="569468" w="5552059">
                  <a:moveTo>
                    <a:pt x="0" y="0"/>
                  </a:moveTo>
                  <a:lnTo>
                    <a:pt x="5552059" y="0"/>
                  </a:lnTo>
                  <a:lnTo>
                    <a:pt x="5552059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832" r="1" b="-139839"/>
              </a:stretch>
            </a:blipFill>
          </p:spPr>
        </p:sp>
      </p:grpSp>
      <p:grpSp>
        <p:nvGrpSpPr>
          <p:cNvPr name="Group 293" id="293"/>
          <p:cNvGrpSpPr/>
          <p:nvPr/>
        </p:nvGrpSpPr>
        <p:grpSpPr>
          <a:xfrm rot="0">
            <a:off x="9797644" y="7435710"/>
            <a:ext cx="4163997" cy="434283"/>
            <a:chOff x="0" y="0"/>
            <a:chExt cx="5551996" cy="579044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0" y="0"/>
              <a:ext cx="5551996" cy="579044"/>
            </a:xfrm>
            <a:custGeom>
              <a:avLst/>
              <a:gdLst/>
              <a:ahLst/>
              <a:cxnLst/>
              <a:rect r="r" b="b" t="t" l="l"/>
              <a:pathLst>
                <a:path h="579044" w="5551996">
                  <a:moveTo>
                    <a:pt x="0" y="0"/>
                  </a:moveTo>
                  <a:lnTo>
                    <a:pt x="5551996" y="0"/>
                  </a:lnTo>
                  <a:lnTo>
                    <a:pt x="5551996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826" r="0" b="-136826"/>
              </a:stretch>
            </a:blipFill>
          </p:spPr>
        </p:sp>
        <p:sp>
          <p:nvSpPr>
            <p:cNvPr name="TextBox 295" id="295"/>
            <p:cNvSpPr txBox="true"/>
            <p:nvPr/>
          </p:nvSpPr>
          <p:spPr>
            <a:xfrm>
              <a:off x="0" y="-9525"/>
              <a:ext cx="5551996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Kuwait</a:t>
              </a:r>
            </a:p>
          </p:txBody>
        </p:sp>
      </p:grpSp>
      <p:grpSp>
        <p:nvGrpSpPr>
          <p:cNvPr name="Group 296" id="296"/>
          <p:cNvGrpSpPr/>
          <p:nvPr/>
        </p:nvGrpSpPr>
        <p:grpSpPr>
          <a:xfrm rot="0">
            <a:off x="14101648" y="7449998"/>
            <a:ext cx="3495961" cy="419957"/>
            <a:chOff x="0" y="0"/>
            <a:chExt cx="4661281" cy="559943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4661281" cy="559943"/>
            </a:xfrm>
            <a:custGeom>
              <a:avLst/>
              <a:gdLst/>
              <a:ahLst/>
              <a:cxnLst/>
              <a:rect r="r" b="b" t="t" l="l"/>
              <a:pathLst>
                <a:path h="559943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91" r="0" b="-112091"/>
              </a:stretch>
            </a:blip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4101648" y="7442854"/>
            <a:ext cx="3495999" cy="427139"/>
            <a:chOff x="0" y="0"/>
            <a:chExt cx="4661332" cy="569519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4661281" cy="569468"/>
            </a:xfrm>
            <a:custGeom>
              <a:avLst/>
              <a:gdLst/>
              <a:ahLst/>
              <a:cxnLst/>
              <a:rect r="r" b="b" t="t" l="l"/>
              <a:pathLst>
                <a:path h="569468" w="4661281">
                  <a:moveTo>
                    <a:pt x="0" y="0"/>
                  </a:moveTo>
                  <a:lnTo>
                    <a:pt x="4661281" y="0"/>
                  </a:lnTo>
                  <a:lnTo>
                    <a:pt x="4661281" y="569468"/>
                  </a:lnTo>
                  <a:lnTo>
                    <a:pt x="0" y="569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77" r="-1" b="-109386"/>
              </a:stretch>
            </a:blip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4101648" y="7435710"/>
            <a:ext cx="3495999" cy="434283"/>
            <a:chOff x="0" y="0"/>
            <a:chExt cx="4661332" cy="579044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4661332" cy="579044"/>
            </a:xfrm>
            <a:custGeom>
              <a:avLst/>
              <a:gdLst/>
              <a:ahLst/>
              <a:cxnLst/>
              <a:rect r="r" b="b" t="t" l="l"/>
              <a:pathLst>
                <a:path h="579044" w="4661332">
                  <a:moveTo>
                    <a:pt x="0" y="0"/>
                  </a:moveTo>
                  <a:lnTo>
                    <a:pt x="4661332" y="0"/>
                  </a:lnTo>
                  <a:lnTo>
                    <a:pt x="4661332" y="579044"/>
                  </a:lnTo>
                  <a:lnTo>
                    <a:pt x="0" y="57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855" r="0" b="-106855"/>
              </a:stretch>
            </a:blipFill>
          </p:spPr>
        </p:sp>
        <p:sp>
          <p:nvSpPr>
            <p:cNvPr name="TextBox 302" id="302"/>
            <p:cNvSpPr txBox="true"/>
            <p:nvPr/>
          </p:nvSpPr>
          <p:spPr>
            <a:xfrm>
              <a:off x="0" y="-9525"/>
              <a:ext cx="4661332" cy="58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63  (1.46%)</a:t>
              </a:r>
            </a:p>
          </p:txBody>
        </p:sp>
      </p:grpSp>
      <p:sp>
        <p:nvSpPr>
          <p:cNvPr name="Freeform 303" id="303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1634500"/>
            <a:ext cx="891540" cy="521208"/>
            <a:chOff x="0" y="0"/>
            <a:chExt cx="1188720" cy="694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" cy="694944"/>
            </a:xfrm>
            <a:custGeom>
              <a:avLst/>
              <a:gdLst/>
              <a:ahLst/>
              <a:cxnLst/>
              <a:rect r="r" b="b" t="t" l="l"/>
              <a:pathLst>
                <a:path h="694944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694944"/>
                  </a:lnTo>
                  <a:lnTo>
                    <a:pt x="0" y="69494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1675648"/>
            <a:ext cx="754380" cy="452628"/>
            <a:chOff x="0" y="0"/>
            <a:chExt cx="1005840" cy="603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603504"/>
            </a:xfrm>
            <a:custGeom>
              <a:avLst/>
              <a:gdLst/>
              <a:ahLst/>
              <a:cxnLst/>
              <a:rect r="r" b="b" t="t" l="l"/>
              <a:pathLst>
                <a:path h="6035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0060" y="1675648"/>
            <a:ext cx="754380" cy="452628"/>
            <a:chOff x="0" y="0"/>
            <a:chExt cx="1005840" cy="603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603504"/>
            </a:xfrm>
            <a:custGeom>
              <a:avLst/>
              <a:gdLst/>
              <a:ahLst/>
              <a:cxnLst/>
              <a:rect r="r" b="b" t="t" l="l"/>
              <a:pathLst>
                <a:path h="6035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0060" y="1675648"/>
            <a:ext cx="754380" cy="452628"/>
            <a:chOff x="0" y="0"/>
            <a:chExt cx="100584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603504"/>
            </a:xfrm>
            <a:custGeom>
              <a:avLst/>
              <a:gdLst/>
              <a:ahLst/>
              <a:cxnLst/>
              <a:rect r="r" b="b" t="t" l="l"/>
              <a:pathLst>
                <a:path h="6035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0060" y="1675648"/>
            <a:ext cx="754380" cy="452628"/>
            <a:chOff x="0" y="0"/>
            <a:chExt cx="10058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603504"/>
            </a:xfrm>
            <a:custGeom>
              <a:avLst/>
              <a:gdLst/>
              <a:ahLst/>
              <a:cxnLst/>
              <a:rect r="r" b="b" t="t" l="l"/>
              <a:pathLst>
                <a:path h="6035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0584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600" y="1634500"/>
            <a:ext cx="3429000" cy="521208"/>
            <a:chOff x="0" y="0"/>
            <a:chExt cx="4572000" cy="6949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0" cy="694944"/>
            </a:xfrm>
            <a:custGeom>
              <a:avLst/>
              <a:gdLst/>
              <a:ahLst/>
              <a:cxnLst/>
              <a:rect r="r" b="b" t="t" l="l"/>
              <a:pathLst>
                <a:path h="69494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94944"/>
                  </a:lnTo>
                  <a:lnTo>
                    <a:pt x="0" y="69494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0180" y="1675648"/>
            <a:ext cx="3291840" cy="452628"/>
            <a:chOff x="0" y="0"/>
            <a:chExt cx="4389120" cy="6035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0" cy="603504"/>
            </a:xfrm>
            <a:custGeom>
              <a:avLst/>
              <a:gdLst/>
              <a:ahLst/>
              <a:cxnLst/>
              <a:rect r="r" b="b" t="t" l="l"/>
              <a:pathLst>
                <a:path h="60350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609" r="0" b="-9161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40180" y="1675648"/>
            <a:ext cx="3291840" cy="452628"/>
            <a:chOff x="0" y="0"/>
            <a:chExt cx="4389120" cy="6035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120" cy="603504"/>
            </a:xfrm>
            <a:custGeom>
              <a:avLst/>
              <a:gdLst/>
              <a:ahLst/>
              <a:cxnLst/>
              <a:rect r="r" b="b" t="t" l="l"/>
              <a:pathLst>
                <a:path h="60350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609" r="0" b="-9161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0180" y="1675648"/>
            <a:ext cx="3291840" cy="452628"/>
            <a:chOff x="0" y="0"/>
            <a:chExt cx="4389120" cy="6035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9120" cy="603504"/>
            </a:xfrm>
            <a:custGeom>
              <a:avLst/>
              <a:gdLst/>
              <a:ahLst/>
              <a:cxnLst/>
              <a:rect r="r" b="b" t="t" l="l"/>
              <a:pathLst>
                <a:path h="60350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609" r="0" b="-9161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40180" y="1675648"/>
            <a:ext cx="3291840" cy="452628"/>
            <a:chOff x="0" y="0"/>
            <a:chExt cx="4389120" cy="6035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0" cy="603504"/>
            </a:xfrm>
            <a:custGeom>
              <a:avLst/>
              <a:gdLst/>
              <a:ahLst/>
              <a:cxnLst/>
              <a:rect r="r" b="b" t="t" l="l"/>
              <a:pathLst>
                <a:path h="60350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3891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3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Agency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37760" y="1634500"/>
            <a:ext cx="2743200" cy="521208"/>
            <a:chOff x="0" y="0"/>
            <a:chExt cx="3657600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06340" y="1675648"/>
            <a:ext cx="2606040" cy="452628"/>
            <a:chOff x="0" y="0"/>
            <a:chExt cx="3474720" cy="603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06340" y="1675648"/>
            <a:ext cx="2606040" cy="452628"/>
            <a:chOff x="0" y="0"/>
            <a:chExt cx="3474720" cy="603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06340" y="1675648"/>
            <a:ext cx="2606040" cy="452628"/>
            <a:chOff x="0" y="0"/>
            <a:chExt cx="3474720" cy="6035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006340" y="1675648"/>
            <a:ext cx="2606040" cy="452628"/>
            <a:chOff x="0" y="0"/>
            <a:chExt cx="3474720" cy="6035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186" r="0" b="-6218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4747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3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Specialty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18120" y="1634500"/>
            <a:ext cx="2743200" cy="521208"/>
            <a:chOff x="0" y="0"/>
            <a:chExt cx="3657600" cy="6949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886700" y="1675648"/>
            <a:ext cx="2606040" cy="452628"/>
            <a:chOff x="0" y="0"/>
            <a:chExt cx="3474720" cy="6035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886700" y="1675648"/>
            <a:ext cx="2606040" cy="452628"/>
            <a:chOff x="0" y="0"/>
            <a:chExt cx="3474720" cy="603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886700" y="1675648"/>
            <a:ext cx="2606040" cy="452628"/>
            <a:chOff x="0" y="0"/>
            <a:chExt cx="3474720" cy="6035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886700" y="1675648"/>
            <a:ext cx="2606040" cy="452628"/>
            <a:chOff x="0" y="0"/>
            <a:chExt cx="3474720" cy="6035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186" r="0" b="-6218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4747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3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Origin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98480" y="1634500"/>
            <a:ext cx="2743200" cy="521208"/>
            <a:chOff x="0" y="0"/>
            <a:chExt cx="3657600" cy="6949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767060" y="1675648"/>
            <a:ext cx="2606040" cy="452628"/>
            <a:chOff x="0" y="0"/>
            <a:chExt cx="3474720" cy="6035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767060" y="1675648"/>
            <a:ext cx="2606040" cy="452628"/>
            <a:chOff x="0" y="0"/>
            <a:chExt cx="3474720" cy="6035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767060" y="1675648"/>
            <a:ext cx="2606040" cy="452628"/>
            <a:chOff x="0" y="0"/>
            <a:chExt cx="3474720" cy="6035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108" r="0" b="-62108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767060" y="1675648"/>
            <a:ext cx="2606040" cy="452628"/>
            <a:chOff x="0" y="0"/>
            <a:chExt cx="3474720" cy="6035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603504"/>
            </a:xfrm>
            <a:custGeom>
              <a:avLst/>
              <a:gdLst/>
              <a:ahLst/>
              <a:cxnLst/>
              <a:rect r="r" b="b" t="t" l="l"/>
              <a:pathLst>
                <a:path h="60350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186" r="0" b="-6218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4747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3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Monthly Price (BHD / USD)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578840" y="1634500"/>
            <a:ext cx="2057400" cy="521208"/>
            <a:chOff x="0" y="0"/>
            <a:chExt cx="2743200" cy="6949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43200" cy="694944"/>
            </a:xfrm>
            <a:custGeom>
              <a:avLst/>
              <a:gdLst/>
              <a:ahLst/>
              <a:cxnLst/>
              <a:rect r="r" b="b" t="t" l="l"/>
              <a:pathLst>
                <a:path h="69494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94944"/>
                  </a:lnTo>
                  <a:lnTo>
                    <a:pt x="0" y="69494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647420" y="1675648"/>
            <a:ext cx="1920240" cy="452628"/>
            <a:chOff x="0" y="0"/>
            <a:chExt cx="2560320" cy="6035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603504"/>
            </a:xfrm>
            <a:custGeom>
              <a:avLst/>
              <a:gdLst/>
              <a:ahLst/>
              <a:cxnLst/>
              <a:rect r="r" b="b" t="t" l="l"/>
              <a:pathLst>
                <a:path h="60350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07" r="0" b="-32605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647420" y="1675648"/>
            <a:ext cx="1920240" cy="452628"/>
            <a:chOff x="0" y="0"/>
            <a:chExt cx="2560320" cy="6035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603504"/>
            </a:xfrm>
            <a:custGeom>
              <a:avLst/>
              <a:gdLst/>
              <a:ahLst/>
              <a:cxnLst/>
              <a:rect r="r" b="b" t="t" l="l"/>
              <a:pathLst>
                <a:path h="60350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07" r="0" b="-3260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647420" y="1675648"/>
            <a:ext cx="1920240" cy="452628"/>
            <a:chOff x="0" y="0"/>
            <a:chExt cx="2560320" cy="6035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0" cy="603504"/>
            </a:xfrm>
            <a:custGeom>
              <a:avLst/>
              <a:gdLst/>
              <a:ahLst/>
              <a:cxnLst/>
              <a:rect r="r" b="b" t="t" l="l"/>
              <a:pathLst>
                <a:path h="60350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07" r="0" b="-3260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647420" y="1675648"/>
            <a:ext cx="1920240" cy="452628"/>
            <a:chOff x="0" y="0"/>
            <a:chExt cx="2560320" cy="60350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603504"/>
            </a:xfrm>
            <a:custGeom>
              <a:avLst/>
              <a:gdLst/>
              <a:ahLst/>
              <a:cxnLst/>
              <a:rect r="r" b="b" t="t" l="l"/>
              <a:pathLst>
                <a:path h="60350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663" r="0" b="-3266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5603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3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Fintech Clients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773400" y="1634500"/>
            <a:ext cx="2331720" cy="521208"/>
            <a:chOff x="0" y="0"/>
            <a:chExt cx="3108960" cy="6949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08960" cy="694944"/>
            </a:xfrm>
            <a:custGeom>
              <a:avLst/>
              <a:gdLst/>
              <a:ahLst/>
              <a:cxnLst/>
              <a:rect r="r" b="b" t="t" l="l"/>
              <a:pathLst>
                <a:path h="69494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94944"/>
                  </a:lnTo>
                  <a:lnTo>
                    <a:pt x="0" y="69494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841980" y="1675648"/>
            <a:ext cx="2194560" cy="452628"/>
            <a:chOff x="0" y="0"/>
            <a:chExt cx="2926080" cy="60350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26080" cy="603504"/>
            </a:xfrm>
            <a:custGeom>
              <a:avLst/>
              <a:gdLst/>
              <a:ahLst/>
              <a:cxnLst/>
              <a:rect r="r" b="b" t="t" l="l"/>
              <a:pathLst>
                <a:path h="60350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06" r="0" b="-44408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841980" y="1675648"/>
            <a:ext cx="2194560" cy="452628"/>
            <a:chOff x="0" y="0"/>
            <a:chExt cx="2926080" cy="6035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603504"/>
            </a:xfrm>
            <a:custGeom>
              <a:avLst/>
              <a:gdLst/>
              <a:ahLst/>
              <a:cxnLst/>
              <a:rect r="r" b="b" t="t" l="l"/>
              <a:pathLst>
                <a:path h="60350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06" r="0" b="-44408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5841980" y="1675648"/>
            <a:ext cx="2194560" cy="452628"/>
            <a:chOff x="0" y="0"/>
            <a:chExt cx="2926080" cy="6035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26080" cy="603504"/>
            </a:xfrm>
            <a:custGeom>
              <a:avLst/>
              <a:gdLst/>
              <a:ahLst/>
              <a:cxnLst/>
              <a:rect r="r" b="b" t="t" l="l"/>
              <a:pathLst>
                <a:path h="60350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406" r="0" b="-44408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5841980" y="1675648"/>
            <a:ext cx="2194560" cy="452628"/>
            <a:chOff x="0" y="0"/>
            <a:chExt cx="2926080" cy="60350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926080" cy="603504"/>
            </a:xfrm>
            <a:custGeom>
              <a:avLst/>
              <a:gdLst/>
              <a:ahLst/>
              <a:cxnLst/>
              <a:rect r="r" b="b" t="t" l="l"/>
              <a:pathLst>
                <a:path h="60350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292608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3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Score /100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96002" y="2140229"/>
            <a:ext cx="17724596" cy="607028"/>
            <a:chOff x="0" y="0"/>
            <a:chExt cx="23632795" cy="80937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480060" y="2238004"/>
            <a:ext cx="754380" cy="411480"/>
            <a:chOff x="0" y="0"/>
            <a:chExt cx="100584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80060" y="2265436"/>
            <a:ext cx="754380" cy="373952"/>
            <a:chOff x="0" y="0"/>
            <a:chExt cx="1005840" cy="49860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480060" y="2258292"/>
            <a:ext cx="754380" cy="381095"/>
            <a:chOff x="0" y="0"/>
            <a:chExt cx="1005840" cy="50812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80060" y="2251148"/>
            <a:ext cx="754380" cy="388201"/>
            <a:chOff x="0" y="0"/>
            <a:chExt cx="1005840" cy="51760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480060" y="2244004"/>
            <a:ext cx="754380" cy="395345"/>
            <a:chOff x="0" y="0"/>
            <a:chExt cx="1005840" cy="52712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3A2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#1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40180" y="2224288"/>
            <a:ext cx="3291840" cy="466344"/>
            <a:chOff x="0" y="0"/>
            <a:chExt cx="4389120" cy="6217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40180" y="2217144"/>
            <a:ext cx="3291840" cy="473488"/>
            <a:chOff x="0" y="0"/>
            <a:chExt cx="4389120" cy="63131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440180" y="2210000"/>
            <a:ext cx="3291840" cy="480632"/>
            <a:chOff x="0" y="0"/>
            <a:chExt cx="4389120" cy="64084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40180" y="2202856"/>
            <a:ext cx="3291840" cy="487775"/>
            <a:chOff x="0" y="0"/>
            <a:chExt cx="4389120" cy="65036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24F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006340" y="2224288"/>
            <a:ext cx="2606040" cy="466344"/>
            <a:chOff x="0" y="0"/>
            <a:chExt cx="3474720" cy="6217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006340" y="2224288"/>
            <a:ext cx="2606040" cy="466344"/>
            <a:chOff x="0" y="0"/>
            <a:chExt cx="3474720" cy="6217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006340" y="2224288"/>
            <a:ext cx="2606040" cy="466344"/>
            <a:chOff x="0" y="0"/>
            <a:chExt cx="3474720" cy="62179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006340" y="2224288"/>
            <a:ext cx="2606040" cy="466344"/>
            <a:chOff x="0" y="0"/>
            <a:chExt cx="3474720" cy="6217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Video Production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886700" y="2224288"/>
            <a:ext cx="2606040" cy="466344"/>
            <a:chOff x="0" y="0"/>
            <a:chExt cx="3474720" cy="6217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7886700" y="2224288"/>
            <a:ext cx="2606040" cy="466344"/>
            <a:chOff x="0" y="0"/>
            <a:chExt cx="3474720" cy="62179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7886700" y="2224288"/>
            <a:ext cx="2606040" cy="466344"/>
            <a:chOff x="0" y="0"/>
            <a:chExt cx="3474720" cy="6217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7886700" y="2224288"/>
            <a:ext cx="2606040" cy="466344"/>
            <a:chOff x="0" y="0"/>
            <a:chExt cx="3474720" cy="6217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767060" y="2224288"/>
            <a:ext cx="2606040" cy="466344"/>
            <a:chOff x="0" y="0"/>
            <a:chExt cx="3474720" cy="6217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767060" y="2224288"/>
            <a:ext cx="2606040" cy="466344"/>
            <a:chOff x="0" y="0"/>
            <a:chExt cx="3474720" cy="6217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0767060" y="2224288"/>
            <a:ext cx="2606040" cy="466344"/>
            <a:chOff x="0" y="0"/>
            <a:chExt cx="3474720" cy="6217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767060" y="2224288"/>
            <a:ext cx="2606040" cy="466344"/>
            <a:chOff x="0" y="0"/>
            <a:chExt cx="3474720" cy="6217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2,420 / $6,413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647420" y="2224288"/>
            <a:ext cx="1920240" cy="466344"/>
            <a:chOff x="0" y="0"/>
            <a:chExt cx="2560320" cy="6217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3647420" y="2217144"/>
            <a:ext cx="1920240" cy="473488"/>
            <a:chOff x="0" y="0"/>
            <a:chExt cx="2560320" cy="631317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3647420" y="2210000"/>
            <a:ext cx="1920240" cy="480632"/>
            <a:chOff x="0" y="0"/>
            <a:chExt cx="2560320" cy="64084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647420" y="2202856"/>
            <a:ext cx="1920240" cy="487775"/>
            <a:chOff x="0" y="0"/>
            <a:chExt cx="2560320" cy="65036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0B98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5841980" y="2498608"/>
            <a:ext cx="2125980" cy="109728"/>
            <a:chOff x="0" y="0"/>
            <a:chExt cx="2834640" cy="14630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5841980" y="2498608"/>
            <a:ext cx="1555432" cy="109728"/>
            <a:chOff x="0" y="0"/>
            <a:chExt cx="2073910" cy="14630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073910" cy="146304"/>
            </a:xfrm>
            <a:custGeom>
              <a:avLst/>
              <a:gdLst/>
              <a:ahLst/>
              <a:cxnLst/>
              <a:rect r="r" b="b" t="t" l="l"/>
              <a:pathLst>
                <a:path h="146304" w="2073910">
                  <a:moveTo>
                    <a:pt x="0" y="0"/>
                  </a:moveTo>
                  <a:lnTo>
                    <a:pt x="2073910" y="0"/>
                  </a:lnTo>
                  <a:lnTo>
                    <a:pt x="207391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5841980" y="2155708"/>
            <a:ext cx="2125980" cy="411385"/>
            <a:chOff x="0" y="0"/>
            <a:chExt cx="2834640" cy="54851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5841980" y="2148564"/>
            <a:ext cx="2125980" cy="418528"/>
            <a:chOff x="0" y="0"/>
            <a:chExt cx="2834640" cy="55803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5841980" y="2141420"/>
            <a:ext cx="2125980" cy="425710"/>
            <a:chOff x="0" y="0"/>
            <a:chExt cx="2834640" cy="56761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5841980" y="2134276"/>
            <a:ext cx="2125980" cy="432854"/>
            <a:chOff x="0" y="0"/>
            <a:chExt cx="2834640" cy="577139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81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396002" y="2743733"/>
            <a:ext cx="17724596" cy="607028"/>
            <a:chOff x="0" y="0"/>
            <a:chExt cx="23632795" cy="80937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EEF1F8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480060" y="2841508"/>
            <a:ext cx="754380" cy="411480"/>
            <a:chOff x="0" y="0"/>
            <a:chExt cx="1005840" cy="5486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A8A9AD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480060" y="2868940"/>
            <a:ext cx="754380" cy="373952"/>
            <a:chOff x="0" y="0"/>
            <a:chExt cx="1005840" cy="49860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480060" y="2861796"/>
            <a:ext cx="754380" cy="381095"/>
            <a:chOff x="0" y="0"/>
            <a:chExt cx="1005840" cy="508127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480060" y="2854652"/>
            <a:ext cx="754380" cy="388201"/>
            <a:chOff x="0" y="0"/>
            <a:chExt cx="1005840" cy="51760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480060" y="2847508"/>
            <a:ext cx="754380" cy="395345"/>
            <a:chOff x="0" y="0"/>
            <a:chExt cx="1005840" cy="52712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A1A1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#2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440180" y="2827792"/>
            <a:ext cx="3291840" cy="466344"/>
            <a:chOff x="0" y="0"/>
            <a:chExt cx="4389120" cy="62179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440180" y="2820648"/>
            <a:ext cx="3291840" cy="473488"/>
            <a:chOff x="0" y="0"/>
            <a:chExt cx="4389120" cy="631317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440180" y="2813504"/>
            <a:ext cx="3291840" cy="480632"/>
            <a:chOff x="0" y="0"/>
            <a:chExt cx="4389120" cy="64084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440180" y="2806360"/>
            <a:ext cx="3291840" cy="487775"/>
            <a:chOff x="0" y="0"/>
            <a:chExt cx="4389120" cy="650367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Ignite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5006340" y="2827792"/>
            <a:ext cx="2606040" cy="466344"/>
            <a:chOff x="0" y="0"/>
            <a:chExt cx="3474720" cy="621792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5006340" y="2827792"/>
            <a:ext cx="2606040" cy="466344"/>
            <a:chOff x="0" y="0"/>
            <a:chExt cx="3474720" cy="621792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5006340" y="2827792"/>
            <a:ext cx="2606040" cy="466344"/>
            <a:chOff x="0" y="0"/>
            <a:chExt cx="3474720" cy="62179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5006340" y="2827792"/>
            <a:ext cx="2606040" cy="466344"/>
            <a:chOff x="0" y="0"/>
            <a:chExt cx="3474720" cy="621792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Social Media &amp; Design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7886700" y="2827792"/>
            <a:ext cx="2606040" cy="466344"/>
            <a:chOff x="0" y="0"/>
            <a:chExt cx="3474720" cy="621792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7886700" y="2827792"/>
            <a:ext cx="2606040" cy="466344"/>
            <a:chOff x="0" y="0"/>
            <a:chExt cx="3474720" cy="621792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7886700" y="2827792"/>
            <a:ext cx="2606040" cy="466344"/>
            <a:chOff x="0" y="0"/>
            <a:chExt cx="3474720" cy="62179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7886700" y="2827792"/>
            <a:ext cx="2606040" cy="466344"/>
            <a:chOff x="0" y="0"/>
            <a:chExt cx="3474720" cy="621792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0767060" y="2827792"/>
            <a:ext cx="2606040" cy="466344"/>
            <a:chOff x="0" y="0"/>
            <a:chExt cx="3474720" cy="621792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0767060" y="2827792"/>
            <a:ext cx="2606040" cy="466344"/>
            <a:chOff x="0" y="0"/>
            <a:chExt cx="3474720" cy="621792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0767060" y="2827792"/>
            <a:ext cx="2606040" cy="466344"/>
            <a:chOff x="0" y="0"/>
            <a:chExt cx="3474720" cy="62179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10767060" y="2827792"/>
            <a:ext cx="2606040" cy="466344"/>
            <a:chOff x="0" y="0"/>
            <a:chExt cx="3474720" cy="621792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2,530 / $6,707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3647420" y="2827792"/>
            <a:ext cx="1920240" cy="466344"/>
            <a:chOff x="0" y="0"/>
            <a:chExt cx="2560320" cy="621792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3647420" y="2820648"/>
            <a:ext cx="1920240" cy="473488"/>
            <a:chOff x="0" y="0"/>
            <a:chExt cx="2560320" cy="631317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3647420" y="2813504"/>
            <a:ext cx="1920240" cy="480632"/>
            <a:chOff x="0" y="0"/>
            <a:chExt cx="2560320" cy="64084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3647420" y="2806360"/>
            <a:ext cx="1920240" cy="487775"/>
            <a:chOff x="0" y="0"/>
            <a:chExt cx="2560320" cy="650367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2C3E5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5841980" y="3102112"/>
            <a:ext cx="2125980" cy="109728"/>
            <a:chOff x="0" y="0"/>
            <a:chExt cx="2834640" cy="146304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210" id="210"/>
          <p:cNvGrpSpPr/>
          <p:nvPr/>
        </p:nvGrpSpPr>
        <p:grpSpPr>
          <a:xfrm rot="0">
            <a:off x="15841980" y="3102112"/>
            <a:ext cx="1440180" cy="109728"/>
            <a:chOff x="0" y="0"/>
            <a:chExt cx="1920240" cy="146304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920240" cy="146304"/>
            </a:xfrm>
            <a:custGeom>
              <a:avLst/>
              <a:gdLst/>
              <a:ahLst/>
              <a:cxnLst/>
              <a:rect r="r" b="b" t="t" l="l"/>
              <a:pathLst>
                <a:path h="146304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A8A9AD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5841980" y="2759212"/>
            <a:ext cx="2125980" cy="411385"/>
            <a:chOff x="0" y="0"/>
            <a:chExt cx="2834640" cy="548513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15841980" y="2752068"/>
            <a:ext cx="2125980" cy="418528"/>
            <a:chOff x="0" y="0"/>
            <a:chExt cx="2834640" cy="558038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15841980" y="2744924"/>
            <a:ext cx="2125980" cy="425710"/>
            <a:chOff x="0" y="0"/>
            <a:chExt cx="2834640" cy="567614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5841980" y="2737780"/>
            <a:ext cx="2125980" cy="432854"/>
            <a:chOff x="0" y="0"/>
            <a:chExt cx="2834640" cy="577139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75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396002" y="3347237"/>
            <a:ext cx="17724596" cy="607028"/>
            <a:chOff x="0" y="0"/>
            <a:chExt cx="23632795" cy="809371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223" id="223"/>
          <p:cNvGrpSpPr/>
          <p:nvPr/>
        </p:nvGrpSpPr>
        <p:grpSpPr>
          <a:xfrm rot="0">
            <a:off x="480060" y="3445012"/>
            <a:ext cx="754380" cy="411480"/>
            <a:chOff x="0" y="0"/>
            <a:chExt cx="1005840" cy="548640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CD7F32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480060" y="3472444"/>
            <a:ext cx="754380" cy="373952"/>
            <a:chOff x="0" y="0"/>
            <a:chExt cx="1005840" cy="498602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480060" y="3465300"/>
            <a:ext cx="754380" cy="381095"/>
            <a:chOff x="0" y="0"/>
            <a:chExt cx="1005840" cy="508127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480060" y="3458156"/>
            <a:ext cx="754380" cy="388201"/>
            <a:chOff x="0" y="0"/>
            <a:chExt cx="1005840" cy="517601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480060" y="3451012"/>
            <a:ext cx="754380" cy="395345"/>
            <a:chOff x="0" y="0"/>
            <a:chExt cx="1005840" cy="527126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2B12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#3</a:t>
              </a:r>
            </a:p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1440180" y="3431296"/>
            <a:ext cx="3291840" cy="466344"/>
            <a:chOff x="0" y="0"/>
            <a:chExt cx="4389120" cy="621792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440180" y="3424152"/>
            <a:ext cx="3291840" cy="473488"/>
            <a:chOff x="0" y="0"/>
            <a:chExt cx="4389120" cy="631317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238" id="238"/>
          <p:cNvGrpSpPr/>
          <p:nvPr/>
        </p:nvGrpSpPr>
        <p:grpSpPr>
          <a:xfrm rot="0">
            <a:off x="1440180" y="3417008"/>
            <a:ext cx="3291840" cy="480632"/>
            <a:chOff x="0" y="0"/>
            <a:chExt cx="4389120" cy="640842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240" id="240"/>
          <p:cNvGrpSpPr/>
          <p:nvPr/>
        </p:nvGrpSpPr>
        <p:grpSpPr>
          <a:xfrm rot="0">
            <a:off x="1440180" y="3409864"/>
            <a:ext cx="3291840" cy="487775"/>
            <a:chOff x="0" y="0"/>
            <a:chExt cx="4389120" cy="650367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242" id="242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Communion</a:t>
              </a:r>
            </a:p>
          </p:txBody>
        </p:sp>
      </p:grpSp>
      <p:grpSp>
        <p:nvGrpSpPr>
          <p:cNvPr name="Group 243" id="243"/>
          <p:cNvGrpSpPr/>
          <p:nvPr/>
        </p:nvGrpSpPr>
        <p:grpSpPr>
          <a:xfrm rot="0">
            <a:off x="5006340" y="3431296"/>
            <a:ext cx="2606040" cy="466344"/>
            <a:chOff x="0" y="0"/>
            <a:chExt cx="3474720" cy="621792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5006340" y="3431296"/>
            <a:ext cx="2606040" cy="466344"/>
            <a:chOff x="0" y="0"/>
            <a:chExt cx="3474720" cy="621792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5006340" y="3431296"/>
            <a:ext cx="2606040" cy="466344"/>
            <a:chOff x="0" y="0"/>
            <a:chExt cx="3474720" cy="621792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5006340" y="3431296"/>
            <a:ext cx="2606040" cy="466344"/>
            <a:chOff x="0" y="0"/>
            <a:chExt cx="3474720" cy="621792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Motion-First Creative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7886700" y="3431296"/>
            <a:ext cx="2606040" cy="466344"/>
            <a:chOff x="0" y="0"/>
            <a:chExt cx="3474720" cy="621792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7886700" y="3431296"/>
            <a:ext cx="2606040" cy="466344"/>
            <a:chOff x="0" y="0"/>
            <a:chExt cx="3474720" cy="621792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56" id="256"/>
          <p:cNvGrpSpPr/>
          <p:nvPr/>
        </p:nvGrpSpPr>
        <p:grpSpPr>
          <a:xfrm rot="0">
            <a:off x="7886700" y="3431296"/>
            <a:ext cx="2606040" cy="466344"/>
            <a:chOff x="0" y="0"/>
            <a:chExt cx="3474720" cy="621792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58" id="258"/>
          <p:cNvGrpSpPr/>
          <p:nvPr/>
        </p:nvGrpSpPr>
        <p:grpSpPr>
          <a:xfrm rot="0">
            <a:off x="7886700" y="3431296"/>
            <a:ext cx="2606040" cy="466344"/>
            <a:chOff x="0" y="0"/>
            <a:chExt cx="3474720" cy="621792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260" id="260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261" id="261"/>
          <p:cNvGrpSpPr/>
          <p:nvPr/>
        </p:nvGrpSpPr>
        <p:grpSpPr>
          <a:xfrm rot="0">
            <a:off x="10767060" y="3431296"/>
            <a:ext cx="2606040" cy="466344"/>
            <a:chOff x="0" y="0"/>
            <a:chExt cx="3474720" cy="621792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63" id="263"/>
          <p:cNvGrpSpPr/>
          <p:nvPr/>
        </p:nvGrpSpPr>
        <p:grpSpPr>
          <a:xfrm rot="0">
            <a:off x="10767060" y="3431296"/>
            <a:ext cx="2606040" cy="466344"/>
            <a:chOff x="0" y="0"/>
            <a:chExt cx="3474720" cy="621792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65" id="265"/>
          <p:cNvGrpSpPr/>
          <p:nvPr/>
        </p:nvGrpSpPr>
        <p:grpSpPr>
          <a:xfrm rot="0">
            <a:off x="10767060" y="3431296"/>
            <a:ext cx="2606040" cy="466344"/>
            <a:chOff x="0" y="0"/>
            <a:chExt cx="3474720" cy="621792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267" id="267"/>
          <p:cNvGrpSpPr/>
          <p:nvPr/>
        </p:nvGrpSpPr>
        <p:grpSpPr>
          <a:xfrm rot="0">
            <a:off x="10767060" y="3431296"/>
            <a:ext cx="2606040" cy="466344"/>
            <a:chOff x="0" y="0"/>
            <a:chExt cx="3474720" cy="621792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269" id="269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8,000+ / $21,200+</a:t>
              </a:r>
            </a:p>
          </p:txBody>
        </p:sp>
      </p:grpSp>
      <p:grpSp>
        <p:nvGrpSpPr>
          <p:cNvPr name="Group 270" id="270"/>
          <p:cNvGrpSpPr/>
          <p:nvPr/>
        </p:nvGrpSpPr>
        <p:grpSpPr>
          <a:xfrm rot="0">
            <a:off x="13647420" y="3431296"/>
            <a:ext cx="1920240" cy="466344"/>
            <a:chOff x="0" y="0"/>
            <a:chExt cx="2560320" cy="621792"/>
          </a:xfrm>
        </p:grpSpPr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3647420" y="3424152"/>
            <a:ext cx="1920240" cy="473488"/>
            <a:chOff x="0" y="0"/>
            <a:chExt cx="2560320" cy="631317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274" id="274"/>
          <p:cNvGrpSpPr/>
          <p:nvPr/>
        </p:nvGrpSpPr>
        <p:grpSpPr>
          <a:xfrm rot="0">
            <a:off x="13647420" y="3417008"/>
            <a:ext cx="1920240" cy="480632"/>
            <a:chOff x="0" y="0"/>
            <a:chExt cx="2560320" cy="640842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276" id="276"/>
          <p:cNvGrpSpPr/>
          <p:nvPr/>
        </p:nvGrpSpPr>
        <p:grpSpPr>
          <a:xfrm rot="0">
            <a:off x="13647420" y="3409864"/>
            <a:ext cx="1920240" cy="487775"/>
            <a:chOff x="0" y="0"/>
            <a:chExt cx="2560320" cy="650367"/>
          </a:xfrm>
        </p:grpSpPr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278" id="278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0B98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7</a:t>
              </a:r>
            </a:p>
          </p:txBody>
        </p:sp>
      </p:grpSp>
      <p:grpSp>
        <p:nvGrpSpPr>
          <p:cNvPr name="Group 279" id="279"/>
          <p:cNvGrpSpPr/>
          <p:nvPr/>
        </p:nvGrpSpPr>
        <p:grpSpPr>
          <a:xfrm rot="0">
            <a:off x="15841980" y="3705616"/>
            <a:ext cx="2125980" cy="109728"/>
            <a:chOff x="0" y="0"/>
            <a:chExt cx="2834640" cy="146304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15841980" y="3705616"/>
            <a:ext cx="1382554" cy="109728"/>
            <a:chOff x="0" y="0"/>
            <a:chExt cx="1843405" cy="146304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1843405" cy="146304"/>
            </a:xfrm>
            <a:custGeom>
              <a:avLst/>
              <a:gdLst/>
              <a:ahLst/>
              <a:cxnLst/>
              <a:rect r="r" b="b" t="t" l="l"/>
              <a:pathLst>
                <a:path h="146304" w="1843405">
                  <a:moveTo>
                    <a:pt x="0" y="0"/>
                  </a:moveTo>
                  <a:lnTo>
                    <a:pt x="1843405" y="0"/>
                  </a:lnTo>
                  <a:lnTo>
                    <a:pt x="1843405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D7F32"/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5841980" y="3362716"/>
            <a:ext cx="2125980" cy="411385"/>
            <a:chOff x="0" y="0"/>
            <a:chExt cx="2834640" cy="548513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5841980" y="3355572"/>
            <a:ext cx="2125980" cy="418528"/>
            <a:chOff x="0" y="0"/>
            <a:chExt cx="2834640" cy="558038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287" id="287"/>
          <p:cNvGrpSpPr/>
          <p:nvPr/>
        </p:nvGrpSpPr>
        <p:grpSpPr>
          <a:xfrm rot="0">
            <a:off x="15841980" y="3348428"/>
            <a:ext cx="2125980" cy="425710"/>
            <a:chOff x="0" y="0"/>
            <a:chExt cx="2834640" cy="567614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289" id="289"/>
          <p:cNvGrpSpPr/>
          <p:nvPr/>
        </p:nvGrpSpPr>
        <p:grpSpPr>
          <a:xfrm rot="0">
            <a:off x="15841980" y="3341284"/>
            <a:ext cx="2125980" cy="432854"/>
            <a:chOff x="0" y="0"/>
            <a:chExt cx="2834640" cy="577139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291" id="291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72</a:t>
              </a:r>
            </a:p>
          </p:txBody>
        </p:sp>
      </p:grpSp>
      <p:grpSp>
        <p:nvGrpSpPr>
          <p:cNvPr name="Group 292" id="292"/>
          <p:cNvGrpSpPr/>
          <p:nvPr/>
        </p:nvGrpSpPr>
        <p:grpSpPr>
          <a:xfrm rot="0">
            <a:off x="396002" y="3950741"/>
            <a:ext cx="17724596" cy="607028"/>
            <a:chOff x="0" y="0"/>
            <a:chExt cx="23632795" cy="809371"/>
          </a:xfrm>
        </p:grpSpPr>
        <p:sp>
          <p:nvSpPr>
            <p:cNvPr name="Freeform 293" id="293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EEF1F8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294" id="294"/>
          <p:cNvGrpSpPr/>
          <p:nvPr/>
        </p:nvGrpSpPr>
        <p:grpSpPr>
          <a:xfrm rot="0">
            <a:off x="480060" y="4048516"/>
            <a:ext cx="754380" cy="411480"/>
            <a:chOff x="0" y="0"/>
            <a:chExt cx="1005840" cy="548640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480060" y="4075948"/>
            <a:ext cx="754380" cy="373952"/>
            <a:chOff x="0" y="0"/>
            <a:chExt cx="1005840" cy="498602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480060" y="4068804"/>
            <a:ext cx="754380" cy="381095"/>
            <a:chOff x="0" y="0"/>
            <a:chExt cx="1005840" cy="508127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480060" y="4061660"/>
            <a:ext cx="754380" cy="388201"/>
            <a:chOff x="0" y="0"/>
            <a:chExt cx="1005840" cy="517601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480060" y="4054516"/>
            <a:ext cx="754380" cy="395345"/>
            <a:chOff x="0" y="0"/>
            <a:chExt cx="1005840" cy="527126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440180" y="4034800"/>
            <a:ext cx="3291840" cy="466344"/>
            <a:chOff x="0" y="0"/>
            <a:chExt cx="4389120" cy="621792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307" id="307"/>
          <p:cNvGrpSpPr/>
          <p:nvPr/>
        </p:nvGrpSpPr>
        <p:grpSpPr>
          <a:xfrm rot="0">
            <a:off x="1440180" y="4027656"/>
            <a:ext cx="3291840" cy="473488"/>
            <a:chOff x="0" y="0"/>
            <a:chExt cx="4389120" cy="631317"/>
          </a:xfrm>
        </p:grpSpPr>
        <p:sp>
          <p:nvSpPr>
            <p:cNvPr name="Freeform 308" id="308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309" id="309"/>
          <p:cNvGrpSpPr/>
          <p:nvPr/>
        </p:nvGrpSpPr>
        <p:grpSpPr>
          <a:xfrm rot="0">
            <a:off x="1440180" y="4020512"/>
            <a:ext cx="3291840" cy="480632"/>
            <a:chOff x="0" y="0"/>
            <a:chExt cx="4389120" cy="640842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1440180" y="4013368"/>
            <a:ext cx="3291840" cy="487775"/>
            <a:chOff x="0" y="0"/>
            <a:chExt cx="4389120" cy="650367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The Only Agency</a:t>
              </a:r>
            </a:p>
          </p:txBody>
        </p:sp>
      </p:grpSp>
      <p:grpSp>
        <p:nvGrpSpPr>
          <p:cNvPr name="Group 314" id="314"/>
          <p:cNvGrpSpPr/>
          <p:nvPr/>
        </p:nvGrpSpPr>
        <p:grpSpPr>
          <a:xfrm rot="0">
            <a:off x="5006340" y="4034800"/>
            <a:ext cx="2606040" cy="466344"/>
            <a:chOff x="0" y="0"/>
            <a:chExt cx="3474720" cy="621792"/>
          </a:xfrm>
        </p:grpSpPr>
        <p:sp>
          <p:nvSpPr>
            <p:cNvPr name="Freeform 315" id="31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16" id="316"/>
          <p:cNvGrpSpPr/>
          <p:nvPr/>
        </p:nvGrpSpPr>
        <p:grpSpPr>
          <a:xfrm rot="0">
            <a:off x="5006340" y="4034800"/>
            <a:ext cx="2606040" cy="466344"/>
            <a:chOff x="0" y="0"/>
            <a:chExt cx="3474720" cy="621792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18" id="318"/>
          <p:cNvGrpSpPr/>
          <p:nvPr/>
        </p:nvGrpSpPr>
        <p:grpSpPr>
          <a:xfrm rot="0">
            <a:off x="5006340" y="4034800"/>
            <a:ext cx="2606040" cy="466344"/>
            <a:chOff x="0" y="0"/>
            <a:chExt cx="3474720" cy="621792"/>
          </a:xfrm>
        </p:grpSpPr>
        <p:sp>
          <p:nvSpPr>
            <p:cNvPr name="Freeform 319" id="31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20" id="320"/>
          <p:cNvGrpSpPr/>
          <p:nvPr/>
        </p:nvGrpSpPr>
        <p:grpSpPr>
          <a:xfrm rot="0">
            <a:off x="5006340" y="4034800"/>
            <a:ext cx="2606040" cy="466344"/>
            <a:chOff x="0" y="0"/>
            <a:chExt cx="3474720" cy="621792"/>
          </a:xfrm>
        </p:grpSpPr>
        <p:sp>
          <p:nvSpPr>
            <p:cNvPr name="Freeform 321" id="32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22" id="322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Entertainment/Govt</a:t>
              </a:r>
            </a:p>
          </p:txBody>
        </p:sp>
      </p:grpSp>
      <p:grpSp>
        <p:nvGrpSpPr>
          <p:cNvPr name="Group 323" id="323"/>
          <p:cNvGrpSpPr/>
          <p:nvPr/>
        </p:nvGrpSpPr>
        <p:grpSpPr>
          <a:xfrm rot="0">
            <a:off x="7886700" y="4034800"/>
            <a:ext cx="2606040" cy="466344"/>
            <a:chOff x="0" y="0"/>
            <a:chExt cx="3474720" cy="621792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25" id="325"/>
          <p:cNvGrpSpPr/>
          <p:nvPr/>
        </p:nvGrpSpPr>
        <p:grpSpPr>
          <a:xfrm rot="0">
            <a:off x="7886700" y="4034800"/>
            <a:ext cx="2606040" cy="466344"/>
            <a:chOff x="0" y="0"/>
            <a:chExt cx="3474720" cy="621792"/>
          </a:xfrm>
        </p:grpSpPr>
        <p:sp>
          <p:nvSpPr>
            <p:cNvPr name="Freeform 326" id="32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27" id="327"/>
          <p:cNvGrpSpPr/>
          <p:nvPr/>
        </p:nvGrpSpPr>
        <p:grpSpPr>
          <a:xfrm rot="0">
            <a:off x="7886700" y="4034800"/>
            <a:ext cx="2606040" cy="466344"/>
            <a:chOff x="0" y="0"/>
            <a:chExt cx="3474720" cy="621792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29" id="329"/>
          <p:cNvGrpSpPr/>
          <p:nvPr/>
        </p:nvGrpSpPr>
        <p:grpSpPr>
          <a:xfrm rot="0">
            <a:off x="7886700" y="4034800"/>
            <a:ext cx="2606040" cy="466344"/>
            <a:chOff x="0" y="0"/>
            <a:chExt cx="3474720" cy="621792"/>
          </a:xfrm>
        </p:grpSpPr>
        <p:sp>
          <p:nvSpPr>
            <p:cNvPr name="Freeform 330" id="33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31" id="331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Saudi Arabia</a:t>
              </a:r>
            </a:p>
          </p:txBody>
        </p:sp>
      </p:grpSp>
      <p:grpSp>
        <p:nvGrpSpPr>
          <p:cNvPr name="Group 332" id="332"/>
          <p:cNvGrpSpPr/>
          <p:nvPr/>
        </p:nvGrpSpPr>
        <p:grpSpPr>
          <a:xfrm rot="0">
            <a:off x="10767060" y="4034800"/>
            <a:ext cx="2606040" cy="466344"/>
            <a:chOff x="0" y="0"/>
            <a:chExt cx="3474720" cy="621792"/>
          </a:xfrm>
        </p:grpSpPr>
        <p:sp>
          <p:nvSpPr>
            <p:cNvPr name="Freeform 333" id="33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34" id="334"/>
          <p:cNvGrpSpPr/>
          <p:nvPr/>
        </p:nvGrpSpPr>
        <p:grpSpPr>
          <a:xfrm rot="0">
            <a:off x="10767060" y="4034800"/>
            <a:ext cx="2606040" cy="466344"/>
            <a:chOff x="0" y="0"/>
            <a:chExt cx="3474720" cy="621792"/>
          </a:xfrm>
        </p:grpSpPr>
        <p:sp>
          <p:nvSpPr>
            <p:cNvPr name="Freeform 335" id="33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36" id="336"/>
          <p:cNvGrpSpPr/>
          <p:nvPr/>
        </p:nvGrpSpPr>
        <p:grpSpPr>
          <a:xfrm rot="0">
            <a:off x="10767060" y="4034800"/>
            <a:ext cx="2606040" cy="466344"/>
            <a:chOff x="0" y="0"/>
            <a:chExt cx="3474720" cy="621792"/>
          </a:xfrm>
        </p:grpSpPr>
        <p:sp>
          <p:nvSpPr>
            <p:cNvPr name="Freeform 337" id="33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38" id="338"/>
          <p:cNvGrpSpPr/>
          <p:nvPr/>
        </p:nvGrpSpPr>
        <p:grpSpPr>
          <a:xfrm rot="0">
            <a:off x="10767060" y="4034800"/>
            <a:ext cx="2606040" cy="466344"/>
            <a:chOff x="0" y="0"/>
            <a:chExt cx="3474720" cy="621792"/>
          </a:xfrm>
        </p:grpSpPr>
        <p:sp>
          <p:nvSpPr>
            <p:cNvPr name="Freeform 339" id="33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40" id="340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5,300 / $14,045</a:t>
              </a:r>
            </a:p>
          </p:txBody>
        </p:sp>
      </p:grpSp>
      <p:grpSp>
        <p:nvGrpSpPr>
          <p:cNvPr name="Group 341" id="341"/>
          <p:cNvGrpSpPr/>
          <p:nvPr/>
        </p:nvGrpSpPr>
        <p:grpSpPr>
          <a:xfrm rot="0">
            <a:off x="13647420" y="4034800"/>
            <a:ext cx="1920240" cy="466344"/>
            <a:chOff x="0" y="0"/>
            <a:chExt cx="2560320" cy="621792"/>
          </a:xfrm>
        </p:grpSpPr>
        <p:sp>
          <p:nvSpPr>
            <p:cNvPr name="Freeform 342" id="342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343" id="343"/>
          <p:cNvGrpSpPr/>
          <p:nvPr/>
        </p:nvGrpSpPr>
        <p:grpSpPr>
          <a:xfrm rot="0">
            <a:off x="13647420" y="4027656"/>
            <a:ext cx="1920240" cy="473488"/>
            <a:chOff x="0" y="0"/>
            <a:chExt cx="2560320" cy="631317"/>
          </a:xfrm>
        </p:grpSpPr>
        <p:sp>
          <p:nvSpPr>
            <p:cNvPr name="Freeform 344" id="344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345" id="345"/>
          <p:cNvGrpSpPr/>
          <p:nvPr/>
        </p:nvGrpSpPr>
        <p:grpSpPr>
          <a:xfrm rot="0">
            <a:off x="13647420" y="4020512"/>
            <a:ext cx="1920240" cy="480632"/>
            <a:chOff x="0" y="0"/>
            <a:chExt cx="2560320" cy="640842"/>
          </a:xfrm>
        </p:grpSpPr>
        <p:sp>
          <p:nvSpPr>
            <p:cNvPr name="Freeform 346" id="346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347" id="347"/>
          <p:cNvGrpSpPr/>
          <p:nvPr/>
        </p:nvGrpSpPr>
        <p:grpSpPr>
          <a:xfrm rot="0">
            <a:off x="13647420" y="4013368"/>
            <a:ext cx="1920240" cy="487775"/>
            <a:chOff x="0" y="0"/>
            <a:chExt cx="2560320" cy="650367"/>
          </a:xfrm>
        </p:grpSpPr>
        <p:sp>
          <p:nvSpPr>
            <p:cNvPr name="Freeform 348" id="348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349" id="349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0B98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</a:t>
              </a:r>
            </a:p>
          </p:txBody>
        </p:sp>
      </p:grpSp>
      <p:grpSp>
        <p:nvGrpSpPr>
          <p:cNvPr name="Group 350" id="350"/>
          <p:cNvGrpSpPr/>
          <p:nvPr/>
        </p:nvGrpSpPr>
        <p:grpSpPr>
          <a:xfrm rot="0">
            <a:off x="15841980" y="4309120"/>
            <a:ext cx="2125980" cy="109728"/>
            <a:chOff x="0" y="0"/>
            <a:chExt cx="2834640" cy="146304"/>
          </a:xfrm>
        </p:grpSpPr>
        <p:sp>
          <p:nvSpPr>
            <p:cNvPr name="Freeform 351" id="351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352" id="352"/>
          <p:cNvGrpSpPr/>
          <p:nvPr/>
        </p:nvGrpSpPr>
        <p:grpSpPr>
          <a:xfrm rot="0">
            <a:off x="15841980" y="4309120"/>
            <a:ext cx="1324927" cy="109728"/>
            <a:chOff x="0" y="0"/>
            <a:chExt cx="1766570" cy="146304"/>
          </a:xfrm>
        </p:grpSpPr>
        <p:sp>
          <p:nvSpPr>
            <p:cNvPr name="Freeform 353" id="353"/>
            <p:cNvSpPr/>
            <p:nvPr/>
          </p:nvSpPr>
          <p:spPr>
            <a:xfrm flipH="false" flipV="false" rot="0">
              <a:off x="0" y="0"/>
              <a:ext cx="1766570" cy="146304"/>
            </a:xfrm>
            <a:custGeom>
              <a:avLst/>
              <a:gdLst/>
              <a:ahLst/>
              <a:cxnLst/>
              <a:rect r="r" b="b" t="t" l="l"/>
              <a:pathLst>
                <a:path h="146304" w="1766570">
                  <a:moveTo>
                    <a:pt x="0" y="0"/>
                  </a:moveTo>
                  <a:lnTo>
                    <a:pt x="1766570" y="0"/>
                  </a:lnTo>
                  <a:lnTo>
                    <a:pt x="1766570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354" id="354"/>
          <p:cNvGrpSpPr/>
          <p:nvPr/>
        </p:nvGrpSpPr>
        <p:grpSpPr>
          <a:xfrm rot="0">
            <a:off x="15841980" y="3966220"/>
            <a:ext cx="2125980" cy="411385"/>
            <a:chOff x="0" y="0"/>
            <a:chExt cx="2834640" cy="548513"/>
          </a:xfrm>
        </p:grpSpPr>
        <p:sp>
          <p:nvSpPr>
            <p:cNvPr name="Freeform 355" id="355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356" id="356"/>
          <p:cNvGrpSpPr/>
          <p:nvPr/>
        </p:nvGrpSpPr>
        <p:grpSpPr>
          <a:xfrm rot="0">
            <a:off x="15841980" y="3959076"/>
            <a:ext cx="2125980" cy="418528"/>
            <a:chOff x="0" y="0"/>
            <a:chExt cx="2834640" cy="558038"/>
          </a:xfrm>
        </p:grpSpPr>
        <p:sp>
          <p:nvSpPr>
            <p:cNvPr name="Freeform 357" id="357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358" id="358"/>
          <p:cNvGrpSpPr/>
          <p:nvPr/>
        </p:nvGrpSpPr>
        <p:grpSpPr>
          <a:xfrm rot="0">
            <a:off x="15841980" y="3951932"/>
            <a:ext cx="2125980" cy="425710"/>
            <a:chOff x="0" y="0"/>
            <a:chExt cx="2834640" cy="567614"/>
          </a:xfrm>
        </p:grpSpPr>
        <p:sp>
          <p:nvSpPr>
            <p:cNvPr name="Freeform 359" id="359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360" id="360"/>
          <p:cNvGrpSpPr/>
          <p:nvPr/>
        </p:nvGrpSpPr>
        <p:grpSpPr>
          <a:xfrm rot="0">
            <a:off x="15841980" y="3944788"/>
            <a:ext cx="2125980" cy="432854"/>
            <a:chOff x="0" y="0"/>
            <a:chExt cx="2834640" cy="577139"/>
          </a:xfrm>
        </p:grpSpPr>
        <p:sp>
          <p:nvSpPr>
            <p:cNvPr name="Freeform 361" id="361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362" id="362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69</a:t>
              </a:r>
            </a:p>
          </p:txBody>
        </p:sp>
      </p:grpSp>
      <p:grpSp>
        <p:nvGrpSpPr>
          <p:cNvPr name="Group 363" id="363"/>
          <p:cNvGrpSpPr/>
          <p:nvPr/>
        </p:nvGrpSpPr>
        <p:grpSpPr>
          <a:xfrm rot="0">
            <a:off x="396002" y="4554245"/>
            <a:ext cx="17724596" cy="607028"/>
            <a:chOff x="0" y="0"/>
            <a:chExt cx="23632795" cy="809371"/>
          </a:xfrm>
        </p:grpSpPr>
        <p:sp>
          <p:nvSpPr>
            <p:cNvPr name="Freeform 364" id="364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365" id="365"/>
          <p:cNvGrpSpPr/>
          <p:nvPr/>
        </p:nvGrpSpPr>
        <p:grpSpPr>
          <a:xfrm rot="0">
            <a:off x="480060" y="4652020"/>
            <a:ext cx="754380" cy="411480"/>
            <a:chOff x="0" y="0"/>
            <a:chExt cx="1005840" cy="548640"/>
          </a:xfrm>
        </p:grpSpPr>
        <p:sp>
          <p:nvSpPr>
            <p:cNvPr name="Freeform 366" id="366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367" id="367"/>
          <p:cNvGrpSpPr/>
          <p:nvPr/>
        </p:nvGrpSpPr>
        <p:grpSpPr>
          <a:xfrm rot="0">
            <a:off x="480060" y="4679452"/>
            <a:ext cx="754380" cy="373952"/>
            <a:chOff x="0" y="0"/>
            <a:chExt cx="1005840" cy="498602"/>
          </a:xfrm>
        </p:grpSpPr>
        <p:sp>
          <p:nvSpPr>
            <p:cNvPr name="Freeform 368" id="368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369" id="369"/>
          <p:cNvGrpSpPr/>
          <p:nvPr/>
        </p:nvGrpSpPr>
        <p:grpSpPr>
          <a:xfrm rot="0">
            <a:off x="480060" y="4672308"/>
            <a:ext cx="754380" cy="381095"/>
            <a:chOff x="0" y="0"/>
            <a:chExt cx="1005840" cy="508127"/>
          </a:xfrm>
        </p:grpSpPr>
        <p:sp>
          <p:nvSpPr>
            <p:cNvPr name="Freeform 370" id="370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371" id="371"/>
          <p:cNvGrpSpPr/>
          <p:nvPr/>
        </p:nvGrpSpPr>
        <p:grpSpPr>
          <a:xfrm rot="0">
            <a:off x="480060" y="4665164"/>
            <a:ext cx="754380" cy="388201"/>
            <a:chOff x="0" y="0"/>
            <a:chExt cx="1005840" cy="517601"/>
          </a:xfrm>
        </p:grpSpPr>
        <p:sp>
          <p:nvSpPr>
            <p:cNvPr name="Freeform 372" id="372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373" id="373"/>
          <p:cNvGrpSpPr/>
          <p:nvPr/>
        </p:nvGrpSpPr>
        <p:grpSpPr>
          <a:xfrm rot="0">
            <a:off x="480060" y="4658020"/>
            <a:ext cx="754380" cy="395345"/>
            <a:chOff x="0" y="0"/>
            <a:chExt cx="1005840" cy="527126"/>
          </a:xfrm>
        </p:grpSpPr>
        <p:sp>
          <p:nvSpPr>
            <p:cNvPr name="Freeform 374" id="374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375" id="375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#5</a:t>
              </a:r>
            </a:p>
          </p:txBody>
        </p:sp>
      </p:grpSp>
      <p:grpSp>
        <p:nvGrpSpPr>
          <p:cNvPr name="Group 376" id="376"/>
          <p:cNvGrpSpPr/>
          <p:nvPr/>
        </p:nvGrpSpPr>
        <p:grpSpPr>
          <a:xfrm rot="0">
            <a:off x="1440180" y="4638304"/>
            <a:ext cx="3291840" cy="466344"/>
            <a:chOff x="0" y="0"/>
            <a:chExt cx="4389120" cy="621792"/>
          </a:xfrm>
        </p:grpSpPr>
        <p:sp>
          <p:nvSpPr>
            <p:cNvPr name="Freeform 377" id="377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378" id="378"/>
          <p:cNvGrpSpPr/>
          <p:nvPr/>
        </p:nvGrpSpPr>
        <p:grpSpPr>
          <a:xfrm rot="0">
            <a:off x="1440180" y="4631160"/>
            <a:ext cx="3291840" cy="473488"/>
            <a:chOff x="0" y="0"/>
            <a:chExt cx="4389120" cy="631317"/>
          </a:xfrm>
        </p:grpSpPr>
        <p:sp>
          <p:nvSpPr>
            <p:cNvPr name="Freeform 379" id="379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380" id="380"/>
          <p:cNvGrpSpPr/>
          <p:nvPr/>
        </p:nvGrpSpPr>
        <p:grpSpPr>
          <a:xfrm rot="0">
            <a:off x="1440180" y="4624016"/>
            <a:ext cx="3291840" cy="480632"/>
            <a:chOff x="0" y="0"/>
            <a:chExt cx="4389120" cy="640842"/>
          </a:xfrm>
        </p:grpSpPr>
        <p:sp>
          <p:nvSpPr>
            <p:cNvPr name="Freeform 381" id="381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382" id="382"/>
          <p:cNvGrpSpPr/>
          <p:nvPr/>
        </p:nvGrpSpPr>
        <p:grpSpPr>
          <a:xfrm rot="0">
            <a:off x="1440180" y="4616872"/>
            <a:ext cx="3291840" cy="487775"/>
            <a:chOff x="0" y="0"/>
            <a:chExt cx="4389120" cy="650367"/>
          </a:xfrm>
        </p:grpSpPr>
        <p:sp>
          <p:nvSpPr>
            <p:cNvPr name="Freeform 383" id="383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384" id="384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From6</a:t>
              </a:r>
            </a:p>
          </p:txBody>
        </p:sp>
      </p:grpSp>
      <p:grpSp>
        <p:nvGrpSpPr>
          <p:cNvPr name="Group 385" id="385"/>
          <p:cNvGrpSpPr/>
          <p:nvPr/>
        </p:nvGrpSpPr>
        <p:grpSpPr>
          <a:xfrm rot="0">
            <a:off x="5006340" y="4638304"/>
            <a:ext cx="2606040" cy="466344"/>
            <a:chOff x="0" y="0"/>
            <a:chExt cx="3474720" cy="621792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87" id="387"/>
          <p:cNvGrpSpPr/>
          <p:nvPr/>
        </p:nvGrpSpPr>
        <p:grpSpPr>
          <a:xfrm rot="0">
            <a:off x="5006340" y="4638304"/>
            <a:ext cx="2606040" cy="466344"/>
            <a:chOff x="0" y="0"/>
            <a:chExt cx="3474720" cy="621792"/>
          </a:xfrm>
        </p:grpSpPr>
        <p:sp>
          <p:nvSpPr>
            <p:cNvPr name="Freeform 388" id="38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89" id="389"/>
          <p:cNvGrpSpPr/>
          <p:nvPr/>
        </p:nvGrpSpPr>
        <p:grpSpPr>
          <a:xfrm rot="0">
            <a:off x="5006340" y="4638304"/>
            <a:ext cx="2606040" cy="466344"/>
            <a:chOff x="0" y="0"/>
            <a:chExt cx="3474720" cy="621792"/>
          </a:xfrm>
        </p:grpSpPr>
        <p:sp>
          <p:nvSpPr>
            <p:cNvPr name="Freeform 390" id="39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91" id="391"/>
          <p:cNvGrpSpPr/>
          <p:nvPr/>
        </p:nvGrpSpPr>
        <p:grpSpPr>
          <a:xfrm rot="0">
            <a:off x="5006340" y="4638304"/>
            <a:ext cx="2606040" cy="466344"/>
            <a:chOff x="0" y="0"/>
            <a:chExt cx="3474720" cy="621792"/>
          </a:xfrm>
        </p:grpSpPr>
        <p:sp>
          <p:nvSpPr>
            <p:cNvPr name="Freeform 392" id="39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93" id="393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Full-Service Marketing</a:t>
              </a:r>
            </a:p>
          </p:txBody>
        </p:sp>
      </p:grpSp>
      <p:grpSp>
        <p:nvGrpSpPr>
          <p:cNvPr name="Group 394" id="394"/>
          <p:cNvGrpSpPr/>
          <p:nvPr/>
        </p:nvGrpSpPr>
        <p:grpSpPr>
          <a:xfrm rot="0">
            <a:off x="7886700" y="4638304"/>
            <a:ext cx="2606040" cy="466344"/>
            <a:chOff x="0" y="0"/>
            <a:chExt cx="3474720" cy="621792"/>
          </a:xfrm>
        </p:grpSpPr>
        <p:sp>
          <p:nvSpPr>
            <p:cNvPr name="Freeform 395" id="39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96" id="396"/>
          <p:cNvGrpSpPr/>
          <p:nvPr/>
        </p:nvGrpSpPr>
        <p:grpSpPr>
          <a:xfrm rot="0">
            <a:off x="7886700" y="4638304"/>
            <a:ext cx="2606040" cy="466344"/>
            <a:chOff x="0" y="0"/>
            <a:chExt cx="3474720" cy="621792"/>
          </a:xfrm>
        </p:grpSpPr>
        <p:sp>
          <p:nvSpPr>
            <p:cNvPr name="Freeform 397" id="39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398" id="398"/>
          <p:cNvGrpSpPr/>
          <p:nvPr/>
        </p:nvGrpSpPr>
        <p:grpSpPr>
          <a:xfrm rot="0">
            <a:off x="7886700" y="4638304"/>
            <a:ext cx="2606040" cy="466344"/>
            <a:chOff x="0" y="0"/>
            <a:chExt cx="3474720" cy="621792"/>
          </a:xfrm>
        </p:grpSpPr>
        <p:sp>
          <p:nvSpPr>
            <p:cNvPr name="Freeform 399" id="39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00" id="400"/>
          <p:cNvGrpSpPr/>
          <p:nvPr/>
        </p:nvGrpSpPr>
        <p:grpSpPr>
          <a:xfrm rot="0">
            <a:off x="7886700" y="4638304"/>
            <a:ext cx="2606040" cy="466344"/>
            <a:chOff x="0" y="0"/>
            <a:chExt cx="3474720" cy="621792"/>
          </a:xfrm>
        </p:grpSpPr>
        <p:sp>
          <p:nvSpPr>
            <p:cNvPr name="Freeform 401" id="40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02" id="402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403" id="403"/>
          <p:cNvGrpSpPr/>
          <p:nvPr/>
        </p:nvGrpSpPr>
        <p:grpSpPr>
          <a:xfrm rot="0">
            <a:off x="10767060" y="4638304"/>
            <a:ext cx="2606040" cy="466344"/>
            <a:chOff x="0" y="0"/>
            <a:chExt cx="3474720" cy="621792"/>
          </a:xfrm>
        </p:grpSpPr>
        <p:sp>
          <p:nvSpPr>
            <p:cNvPr name="Freeform 404" id="40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05" id="405"/>
          <p:cNvGrpSpPr/>
          <p:nvPr/>
        </p:nvGrpSpPr>
        <p:grpSpPr>
          <a:xfrm rot="0">
            <a:off x="10767060" y="4638304"/>
            <a:ext cx="2606040" cy="466344"/>
            <a:chOff x="0" y="0"/>
            <a:chExt cx="3474720" cy="621792"/>
          </a:xfrm>
        </p:grpSpPr>
        <p:sp>
          <p:nvSpPr>
            <p:cNvPr name="Freeform 406" id="40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07" id="407"/>
          <p:cNvGrpSpPr/>
          <p:nvPr/>
        </p:nvGrpSpPr>
        <p:grpSpPr>
          <a:xfrm rot="0">
            <a:off x="10767060" y="4638304"/>
            <a:ext cx="2606040" cy="466344"/>
            <a:chOff x="0" y="0"/>
            <a:chExt cx="3474720" cy="621792"/>
          </a:xfrm>
        </p:grpSpPr>
        <p:sp>
          <p:nvSpPr>
            <p:cNvPr name="Freeform 408" id="40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09" id="409"/>
          <p:cNvGrpSpPr/>
          <p:nvPr/>
        </p:nvGrpSpPr>
        <p:grpSpPr>
          <a:xfrm rot="0">
            <a:off x="10767060" y="4638304"/>
            <a:ext cx="2606040" cy="466344"/>
            <a:chOff x="0" y="0"/>
            <a:chExt cx="3474720" cy="621792"/>
          </a:xfrm>
        </p:grpSpPr>
        <p:sp>
          <p:nvSpPr>
            <p:cNvPr name="Freeform 410" id="41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11" id="411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4,955 / $13,128</a:t>
              </a:r>
            </a:p>
          </p:txBody>
        </p:sp>
      </p:grpSp>
      <p:grpSp>
        <p:nvGrpSpPr>
          <p:cNvPr name="Group 412" id="412"/>
          <p:cNvGrpSpPr/>
          <p:nvPr/>
        </p:nvGrpSpPr>
        <p:grpSpPr>
          <a:xfrm rot="0">
            <a:off x="13647420" y="4638304"/>
            <a:ext cx="1920240" cy="466344"/>
            <a:chOff x="0" y="0"/>
            <a:chExt cx="2560320" cy="621792"/>
          </a:xfrm>
        </p:grpSpPr>
        <p:sp>
          <p:nvSpPr>
            <p:cNvPr name="Freeform 413" id="413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414" id="414"/>
          <p:cNvGrpSpPr/>
          <p:nvPr/>
        </p:nvGrpSpPr>
        <p:grpSpPr>
          <a:xfrm rot="0">
            <a:off x="13647420" y="4631160"/>
            <a:ext cx="1920240" cy="473488"/>
            <a:chOff x="0" y="0"/>
            <a:chExt cx="2560320" cy="631317"/>
          </a:xfrm>
        </p:grpSpPr>
        <p:sp>
          <p:nvSpPr>
            <p:cNvPr name="Freeform 415" id="415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416" id="416"/>
          <p:cNvGrpSpPr/>
          <p:nvPr/>
        </p:nvGrpSpPr>
        <p:grpSpPr>
          <a:xfrm rot="0">
            <a:off x="13647420" y="4624016"/>
            <a:ext cx="1920240" cy="480632"/>
            <a:chOff x="0" y="0"/>
            <a:chExt cx="2560320" cy="640842"/>
          </a:xfrm>
        </p:grpSpPr>
        <p:sp>
          <p:nvSpPr>
            <p:cNvPr name="Freeform 417" id="417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418" id="418"/>
          <p:cNvGrpSpPr/>
          <p:nvPr/>
        </p:nvGrpSpPr>
        <p:grpSpPr>
          <a:xfrm rot="0">
            <a:off x="13647420" y="4616872"/>
            <a:ext cx="1920240" cy="487775"/>
            <a:chOff x="0" y="0"/>
            <a:chExt cx="2560320" cy="650367"/>
          </a:xfrm>
        </p:grpSpPr>
        <p:sp>
          <p:nvSpPr>
            <p:cNvPr name="Freeform 419" id="419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420" id="420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2C3E5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421" id="421"/>
          <p:cNvGrpSpPr/>
          <p:nvPr/>
        </p:nvGrpSpPr>
        <p:grpSpPr>
          <a:xfrm rot="0">
            <a:off x="15841980" y="4912624"/>
            <a:ext cx="2125980" cy="109728"/>
            <a:chOff x="0" y="0"/>
            <a:chExt cx="2834640" cy="146304"/>
          </a:xfrm>
        </p:grpSpPr>
        <p:sp>
          <p:nvSpPr>
            <p:cNvPr name="Freeform 422" id="422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423" id="423"/>
          <p:cNvGrpSpPr/>
          <p:nvPr/>
        </p:nvGrpSpPr>
        <p:grpSpPr>
          <a:xfrm rot="0">
            <a:off x="15841980" y="4912624"/>
            <a:ext cx="1190530" cy="109728"/>
            <a:chOff x="0" y="0"/>
            <a:chExt cx="1587373" cy="146304"/>
          </a:xfrm>
        </p:grpSpPr>
        <p:sp>
          <p:nvSpPr>
            <p:cNvPr name="Freeform 424" id="424"/>
            <p:cNvSpPr/>
            <p:nvPr/>
          </p:nvSpPr>
          <p:spPr>
            <a:xfrm flipH="false" flipV="false" rot="0">
              <a:off x="0" y="0"/>
              <a:ext cx="1587373" cy="146304"/>
            </a:xfrm>
            <a:custGeom>
              <a:avLst/>
              <a:gdLst/>
              <a:ahLst/>
              <a:cxnLst/>
              <a:rect r="r" b="b" t="t" l="l"/>
              <a:pathLst>
                <a:path h="146304" w="1587373">
                  <a:moveTo>
                    <a:pt x="0" y="0"/>
                  </a:moveTo>
                  <a:lnTo>
                    <a:pt x="1587373" y="0"/>
                  </a:lnTo>
                  <a:lnTo>
                    <a:pt x="1587373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425" id="425"/>
          <p:cNvGrpSpPr/>
          <p:nvPr/>
        </p:nvGrpSpPr>
        <p:grpSpPr>
          <a:xfrm rot="0">
            <a:off x="15841980" y="4569724"/>
            <a:ext cx="2125980" cy="411385"/>
            <a:chOff x="0" y="0"/>
            <a:chExt cx="2834640" cy="548513"/>
          </a:xfrm>
        </p:grpSpPr>
        <p:sp>
          <p:nvSpPr>
            <p:cNvPr name="Freeform 426" id="426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427" id="427"/>
          <p:cNvGrpSpPr/>
          <p:nvPr/>
        </p:nvGrpSpPr>
        <p:grpSpPr>
          <a:xfrm rot="0">
            <a:off x="15841980" y="4562580"/>
            <a:ext cx="2125980" cy="418528"/>
            <a:chOff x="0" y="0"/>
            <a:chExt cx="2834640" cy="558038"/>
          </a:xfrm>
        </p:grpSpPr>
        <p:sp>
          <p:nvSpPr>
            <p:cNvPr name="Freeform 428" id="428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429" id="429"/>
          <p:cNvGrpSpPr/>
          <p:nvPr/>
        </p:nvGrpSpPr>
        <p:grpSpPr>
          <a:xfrm rot="0">
            <a:off x="15841980" y="4555436"/>
            <a:ext cx="2125980" cy="425710"/>
            <a:chOff x="0" y="0"/>
            <a:chExt cx="2834640" cy="567614"/>
          </a:xfrm>
        </p:grpSpPr>
        <p:sp>
          <p:nvSpPr>
            <p:cNvPr name="Freeform 430" id="430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431" id="431"/>
          <p:cNvGrpSpPr/>
          <p:nvPr/>
        </p:nvGrpSpPr>
        <p:grpSpPr>
          <a:xfrm rot="0">
            <a:off x="15841980" y="4548292"/>
            <a:ext cx="2125980" cy="432854"/>
            <a:chOff x="0" y="0"/>
            <a:chExt cx="2834640" cy="577139"/>
          </a:xfrm>
        </p:grpSpPr>
        <p:sp>
          <p:nvSpPr>
            <p:cNvPr name="Freeform 432" id="432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433" id="433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62</a:t>
              </a:r>
            </a:p>
          </p:txBody>
        </p:sp>
      </p:grpSp>
      <p:grpSp>
        <p:nvGrpSpPr>
          <p:cNvPr name="Group 434" id="434"/>
          <p:cNvGrpSpPr/>
          <p:nvPr/>
        </p:nvGrpSpPr>
        <p:grpSpPr>
          <a:xfrm rot="0">
            <a:off x="396002" y="5157749"/>
            <a:ext cx="17724596" cy="607028"/>
            <a:chOff x="0" y="0"/>
            <a:chExt cx="23632795" cy="809371"/>
          </a:xfrm>
        </p:grpSpPr>
        <p:sp>
          <p:nvSpPr>
            <p:cNvPr name="Freeform 435" id="435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EEF1F8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436" id="436"/>
          <p:cNvGrpSpPr/>
          <p:nvPr/>
        </p:nvGrpSpPr>
        <p:grpSpPr>
          <a:xfrm rot="0">
            <a:off x="480060" y="5255524"/>
            <a:ext cx="754380" cy="411480"/>
            <a:chOff x="0" y="0"/>
            <a:chExt cx="1005840" cy="548640"/>
          </a:xfrm>
        </p:grpSpPr>
        <p:sp>
          <p:nvSpPr>
            <p:cNvPr name="Freeform 437" id="437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438" id="438"/>
          <p:cNvGrpSpPr/>
          <p:nvPr/>
        </p:nvGrpSpPr>
        <p:grpSpPr>
          <a:xfrm rot="0">
            <a:off x="480060" y="5282956"/>
            <a:ext cx="754380" cy="373952"/>
            <a:chOff x="0" y="0"/>
            <a:chExt cx="1005840" cy="498602"/>
          </a:xfrm>
        </p:grpSpPr>
        <p:sp>
          <p:nvSpPr>
            <p:cNvPr name="Freeform 439" id="439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440" id="440"/>
          <p:cNvGrpSpPr/>
          <p:nvPr/>
        </p:nvGrpSpPr>
        <p:grpSpPr>
          <a:xfrm rot="0">
            <a:off x="480060" y="5275812"/>
            <a:ext cx="754380" cy="381095"/>
            <a:chOff x="0" y="0"/>
            <a:chExt cx="1005840" cy="508127"/>
          </a:xfrm>
        </p:grpSpPr>
        <p:sp>
          <p:nvSpPr>
            <p:cNvPr name="Freeform 441" id="441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442" id="442"/>
          <p:cNvGrpSpPr/>
          <p:nvPr/>
        </p:nvGrpSpPr>
        <p:grpSpPr>
          <a:xfrm rot="0">
            <a:off x="480060" y="5268668"/>
            <a:ext cx="754380" cy="388201"/>
            <a:chOff x="0" y="0"/>
            <a:chExt cx="1005840" cy="517601"/>
          </a:xfrm>
        </p:grpSpPr>
        <p:sp>
          <p:nvSpPr>
            <p:cNvPr name="Freeform 443" id="443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444" id="444"/>
          <p:cNvGrpSpPr/>
          <p:nvPr/>
        </p:nvGrpSpPr>
        <p:grpSpPr>
          <a:xfrm rot="0">
            <a:off x="480060" y="5261524"/>
            <a:ext cx="754380" cy="395345"/>
            <a:chOff x="0" y="0"/>
            <a:chExt cx="1005840" cy="527126"/>
          </a:xfrm>
        </p:grpSpPr>
        <p:sp>
          <p:nvSpPr>
            <p:cNvPr name="Freeform 445" id="445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446" id="446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#6</a:t>
              </a:r>
            </a:p>
          </p:txBody>
        </p:sp>
      </p:grpSp>
      <p:grpSp>
        <p:nvGrpSpPr>
          <p:cNvPr name="Group 447" id="447"/>
          <p:cNvGrpSpPr/>
          <p:nvPr/>
        </p:nvGrpSpPr>
        <p:grpSpPr>
          <a:xfrm rot="0">
            <a:off x="1440180" y="5241808"/>
            <a:ext cx="3291840" cy="466344"/>
            <a:chOff x="0" y="0"/>
            <a:chExt cx="4389120" cy="621792"/>
          </a:xfrm>
        </p:grpSpPr>
        <p:sp>
          <p:nvSpPr>
            <p:cNvPr name="Freeform 448" id="448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449" id="449"/>
          <p:cNvGrpSpPr/>
          <p:nvPr/>
        </p:nvGrpSpPr>
        <p:grpSpPr>
          <a:xfrm rot="0">
            <a:off x="1440180" y="5234664"/>
            <a:ext cx="3291840" cy="473488"/>
            <a:chOff x="0" y="0"/>
            <a:chExt cx="4389120" cy="631317"/>
          </a:xfrm>
        </p:grpSpPr>
        <p:sp>
          <p:nvSpPr>
            <p:cNvPr name="Freeform 450" id="450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451" id="451"/>
          <p:cNvGrpSpPr/>
          <p:nvPr/>
        </p:nvGrpSpPr>
        <p:grpSpPr>
          <a:xfrm rot="0">
            <a:off x="1440180" y="5227520"/>
            <a:ext cx="3291840" cy="480632"/>
            <a:chOff x="0" y="0"/>
            <a:chExt cx="4389120" cy="640842"/>
          </a:xfrm>
        </p:grpSpPr>
        <p:sp>
          <p:nvSpPr>
            <p:cNvPr name="Freeform 452" id="452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453" id="453"/>
          <p:cNvGrpSpPr/>
          <p:nvPr/>
        </p:nvGrpSpPr>
        <p:grpSpPr>
          <a:xfrm rot="0">
            <a:off x="1440180" y="5220376"/>
            <a:ext cx="3291840" cy="487775"/>
            <a:chOff x="0" y="0"/>
            <a:chExt cx="4389120" cy="650367"/>
          </a:xfrm>
        </p:grpSpPr>
        <p:sp>
          <p:nvSpPr>
            <p:cNvPr name="Freeform 454" id="454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455" id="455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Traccs</a:t>
              </a:r>
            </a:p>
          </p:txBody>
        </p:sp>
      </p:grpSp>
      <p:grpSp>
        <p:nvGrpSpPr>
          <p:cNvPr name="Group 456" id="456"/>
          <p:cNvGrpSpPr/>
          <p:nvPr/>
        </p:nvGrpSpPr>
        <p:grpSpPr>
          <a:xfrm rot="0">
            <a:off x="5006340" y="5241808"/>
            <a:ext cx="2606040" cy="466344"/>
            <a:chOff x="0" y="0"/>
            <a:chExt cx="3474720" cy="621792"/>
          </a:xfrm>
        </p:grpSpPr>
        <p:sp>
          <p:nvSpPr>
            <p:cNvPr name="Freeform 457" id="45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58" id="458"/>
          <p:cNvGrpSpPr/>
          <p:nvPr/>
        </p:nvGrpSpPr>
        <p:grpSpPr>
          <a:xfrm rot="0">
            <a:off x="5006340" y="5241808"/>
            <a:ext cx="2606040" cy="466344"/>
            <a:chOff x="0" y="0"/>
            <a:chExt cx="3474720" cy="621792"/>
          </a:xfrm>
        </p:grpSpPr>
        <p:sp>
          <p:nvSpPr>
            <p:cNvPr name="Freeform 459" id="45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60" id="460"/>
          <p:cNvGrpSpPr/>
          <p:nvPr/>
        </p:nvGrpSpPr>
        <p:grpSpPr>
          <a:xfrm rot="0">
            <a:off x="5006340" y="5241808"/>
            <a:ext cx="2606040" cy="466344"/>
            <a:chOff x="0" y="0"/>
            <a:chExt cx="3474720" cy="621792"/>
          </a:xfrm>
        </p:grpSpPr>
        <p:sp>
          <p:nvSpPr>
            <p:cNvPr name="Freeform 461" id="46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62" id="462"/>
          <p:cNvGrpSpPr/>
          <p:nvPr/>
        </p:nvGrpSpPr>
        <p:grpSpPr>
          <a:xfrm rot="0">
            <a:off x="5006340" y="5241808"/>
            <a:ext cx="2606040" cy="466344"/>
            <a:chOff x="0" y="0"/>
            <a:chExt cx="3474720" cy="621792"/>
          </a:xfrm>
        </p:grpSpPr>
        <p:sp>
          <p:nvSpPr>
            <p:cNvPr name="Freeform 463" id="46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64" id="464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PR &amp; Communications</a:t>
              </a:r>
            </a:p>
          </p:txBody>
        </p:sp>
      </p:grpSp>
      <p:grpSp>
        <p:nvGrpSpPr>
          <p:cNvPr name="Group 465" id="465"/>
          <p:cNvGrpSpPr/>
          <p:nvPr/>
        </p:nvGrpSpPr>
        <p:grpSpPr>
          <a:xfrm rot="0">
            <a:off x="7886700" y="5241808"/>
            <a:ext cx="2606040" cy="466344"/>
            <a:chOff x="0" y="0"/>
            <a:chExt cx="3474720" cy="621792"/>
          </a:xfrm>
        </p:grpSpPr>
        <p:sp>
          <p:nvSpPr>
            <p:cNvPr name="Freeform 466" id="46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67" id="467"/>
          <p:cNvGrpSpPr/>
          <p:nvPr/>
        </p:nvGrpSpPr>
        <p:grpSpPr>
          <a:xfrm rot="0">
            <a:off x="7886700" y="5241808"/>
            <a:ext cx="2606040" cy="466344"/>
            <a:chOff x="0" y="0"/>
            <a:chExt cx="3474720" cy="621792"/>
          </a:xfrm>
        </p:grpSpPr>
        <p:sp>
          <p:nvSpPr>
            <p:cNvPr name="Freeform 468" id="46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69" id="469"/>
          <p:cNvGrpSpPr/>
          <p:nvPr/>
        </p:nvGrpSpPr>
        <p:grpSpPr>
          <a:xfrm rot="0">
            <a:off x="7886700" y="5241808"/>
            <a:ext cx="2606040" cy="466344"/>
            <a:chOff x="0" y="0"/>
            <a:chExt cx="3474720" cy="621792"/>
          </a:xfrm>
        </p:grpSpPr>
        <p:sp>
          <p:nvSpPr>
            <p:cNvPr name="Freeform 470" id="47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71" id="471"/>
          <p:cNvGrpSpPr/>
          <p:nvPr/>
        </p:nvGrpSpPr>
        <p:grpSpPr>
          <a:xfrm rot="0">
            <a:off x="7886700" y="5241808"/>
            <a:ext cx="2606040" cy="466344"/>
            <a:chOff x="0" y="0"/>
            <a:chExt cx="3474720" cy="621792"/>
          </a:xfrm>
        </p:grpSpPr>
        <p:sp>
          <p:nvSpPr>
            <p:cNvPr name="Freeform 472" id="47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73" id="473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Saudi Arabia</a:t>
              </a:r>
            </a:p>
          </p:txBody>
        </p:sp>
      </p:grpSp>
      <p:grpSp>
        <p:nvGrpSpPr>
          <p:cNvPr name="Group 474" id="474"/>
          <p:cNvGrpSpPr/>
          <p:nvPr/>
        </p:nvGrpSpPr>
        <p:grpSpPr>
          <a:xfrm rot="0">
            <a:off x="10767060" y="5241808"/>
            <a:ext cx="2606040" cy="466344"/>
            <a:chOff x="0" y="0"/>
            <a:chExt cx="3474720" cy="621792"/>
          </a:xfrm>
        </p:grpSpPr>
        <p:sp>
          <p:nvSpPr>
            <p:cNvPr name="Freeform 475" id="47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76" id="476"/>
          <p:cNvGrpSpPr/>
          <p:nvPr/>
        </p:nvGrpSpPr>
        <p:grpSpPr>
          <a:xfrm rot="0">
            <a:off x="10767060" y="5241808"/>
            <a:ext cx="2606040" cy="466344"/>
            <a:chOff x="0" y="0"/>
            <a:chExt cx="3474720" cy="621792"/>
          </a:xfrm>
        </p:grpSpPr>
        <p:sp>
          <p:nvSpPr>
            <p:cNvPr name="Freeform 477" id="47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78" id="478"/>
          <p:cNvGrpSpPr/>
          <p:nvPr/>
        </p:nvGrpSpPr>
        <p:grpSpPr>
          <a:xfrm rot="0">
            <a:off x="10767060" y="5241808"/>
            <a:ext cx="2606040" cy="466344"/>
            <a:chOff x="0" y="0"/>
            <a:chExt cx="3474720" cy="621792"/>
          </a:xfrm>
        </p:grpSpPr>
        <p:sp>
          <p:nvSpPr>
            <p:cNvPr name="Freeform 479" id="47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480" id="480"/>
          <p:cNvGrpSpPr/>
          <p:nvPr/>
        </p:nvGrpSpPr>
        <p:grpSpPr>
          <a:xfrm rot="0">
            <a:off x="10767060" y="5241808"/>
            <a:ext cx="2606040" cy="466344"/>
            <a:chOff x="0" y="0"/>
            <a:chExt cx="3474720" cy="621792"/>
          </a:xfrm>
        </p:grpSpPr>
        <p:sp>
          <p:nvSpPr>
            <p:cNvPr name="Freeform 481" id="48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82" id="482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2,862 / $7,585</a:t>
              </a:r>
            </a:p>
          </p:txBody>
        </p:sp>
      </p:grpSp>
      <p:grpSp>
        <p:nvGrpSpPr>
          <p:cNvPr name="Group 483" id="483"/>
          <p:cNvGrpSpPr/>
          <p:nvPr/>
        </p:nvGrpSpPr>
        <p:grpSpPr>
          <a:xfrm rot="0">
            <a:off x="13647420" y="5241808"/>
            <a:ext cx="1920240" cy="466344"/>
            <a:chOff x="0" y="0"/>
            <a:chExt cx="2560320" cy="621792"/>
          </a:xfrm>
        </p:grpSpPr>
        <p:sp>
          <p:nvSpPr>
            <p:cNvPr name="Freeform 484" id="484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485" id="485"/>
          <p:cNvGrpSpPr/>
          <p:nvPr/>
        </p:nvGrpSpPr>
        <p:grpSpPr>
          <a:xfrm rot="0">
            <a:off x="13647420" y="5234664"/>
            <a:ext cx="1920240" cy="473488"/>
            <a:chOff x="0" y="0"/>
            <a:chExt cx="2560320" cy="631317"/>
          </a:xfrm>
        </p:grpSpPr>
        <p:sp>
          <p:nvSpPr>
            <p:cNvPr name="Freeform 486" id="486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487" id="487"/>
          <p:cNvGrpSpPr/>
          <p:nvPr/>
        </p:nvGrpSpPr>
        <p:grpSpPr>
          <a:xfrm rot="0">
            <a:off x="13647420" y="5227520"/>
            <a:ext cx="1920240" cy="480632"/>
            <a:chOff x="0" y="0"/>
            <a:chExt cx="2560320" cy="640842"/>
          </a:xfrm>
        </p:grpSpPr>
        <p:sp>
          <p:nvSpPr>
            <p:cNvPr name="Freeform 488" id="488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489" id="489"/>
          <p:cNvGrpSpPr/>
          <p:nvPr/>
        </p:nvGrpSpPr>
        <p:grpSpPr>
          <a:xfrm rot="0">
            <a:off x="13647420" y="5220376"/>
            <a:ext cx="1920240" cy="487775"/>
            <a:chOff x="0" y="0"/>
            <a:chExt cx="2560320" cy="650367"/>
          </a:xfrm>
        </p:grpSpPr>
        <p:sp>
          <p:nvSpPr>
            <p:cNvPr name="Freeform 490" id="490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491" id="491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0B98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</a:t>
              </a:r>
            </a:p>
          </p:txBody>
        </p:sp>
      </p:grpSp>
      <p:grpSp>
        <p:nvGrpSpPr>
          <p:cNvPr name="Group 492" id="492"/>
          <p:cNvGrpSpPr/>
          <p:nvPr/>
        </p:nvGrpSpPr>
        <p:grpSpPr>
          <a:xfrm rot="0">
            <a:off x="15841980" y="5516128"/>
            <a:ext cx="2125980" cy="109728"/>
            <a:chOff x="0" y="0"/>
            <a:chExt cx="2834640" cy="146304"/>
          </a:xfrm>
        </p:grpSpPr>
        <p:sp>
          <p:nvSpPr>
            <p:cNvPr name="Freeform 493" id="493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494" id="494"/>
          <p:cNvGrpSpPr/>
          <p:nvPr/>
        </p:nvGrpSpPr>
        <p:grpSpPr>
          <a:xfrm rot="0">
            <a:off x="15841980" y="5516128"/>
            <a:ext cx="1171384" cy="109728"/>
            <a:chOff x="0" y="0"/>
            <a:chExt cx="1561846" cy="146304"/>
          </a:xfrm>
        </p:grpSpPr>
        <p:sp>
          <p:nvSpPr>
            <p:cNvPr name="Freeform 495" id="495"/>
            <p:cNvSpPr/>
            <p:nvPr/>
          </p:nvSpPr>
          <p:spPr>
            <a:xfrm flipH="false" flipV="false" rot="0">
              <a:off x="0" y="0"/>
              <a:ext cx="1561846" cy="146304"/>
            </a:xfrm>
            <a:custGeom>
              <a:avLst/>
              <a:gdLst/>
              <a:ahLst/>
              <a:cxnLst/>
              <a:rect r="r" b="b" t="t" l="l"/>
              <a:pathLst>
                <a:path h="146304" w="1561846">
                  <a:moveTo>
                    <a:pt x="0" y="0"/>
                  </a:moveTo>
                  <a:lnTo>
                    <a:pt x="1561846" y="0"/>
                  </a:lnTo>
                  <a:lnTo>
                    <a:pt x="1561846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496" id="496"/>
          <p:cNvGrpSpPr/>
          <p:nvPr/>
        </p:nvGrpSpPr>
        <p:grpSpPr>
          <a:xfrm rot="0">
            <a:off x="15841980" y="5173228"/>
            <a:ext cx="2125980" cy="411385"/>
            <a:chOff x="0" y="0"/>
            <a:chExt cx="2834640" cy="548513"/>
          </a:xfrm>
        </p:grpSpPr>
        <p:sp>
          <p:nvSpPr>
            <p:cNvPr name="Freeform 497" id="497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498" id="498"/>
          <p:cNvGrpSpPr/>
          <p:nvPr/>
        </p:nvGrpSpPr>
        <p:grpSpPr>
          <a:xfrm rot="0">
            <a:off x="15841980" y="5166084"/>
            <a:ext cx="2125980" cy="418528"/>
            <a:chOff x="0" y="0"/>
            <a:chExt cx="2834640" cy="558038"/>
          </a:xfrm>
        </p:grpSpPr>
        <p:sp>
          <p:nvSpPr>
            <p:cNvPr name="Freeform 499" id="499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500" id="500"/>
          <p:cNvGrpSpPr/>
          <p:nvPr/>
        </p:nvGrpSpPr>
        <p:grpSpPr>
          <a:xfrm rot="0">
            <a:off x="15841980" y="5158940"/>
            <a:ext cx="2125980" cy="425710"/>
            <a:chOff x="0" y="0"/>
            <a:chExt cx="2834640" cy="567614"/>
          </a:xfrm>
        </p:grpSpPr>
        <p:sp>
          <p:nvSpPr>
            <p:cNvPr name="Freeform 501" id="501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502" id="502"/>
          <p:cNvGrpSpPr/>
          <p:nvPr/>
        </p:nvGrpSpPr>
        <p:grpSpPr>
          <a:xfrm rot="0">
            <a:off x="15841980" y="5151796"/>
            <a:ext cx="2125980" cy="432854"/>
            <a:chOff x="0" y="0"/>
            <a:chExt cx="2834640" cy="577139"/>
          </a:xfrm>
        </p:grpSpPr>
        <p:sp>
          <p:nvSpPr>
            <p:cNvPr name="Freeform 503" id="503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504" id="504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61</a:t>
              </a:r>
            </a:p>
          </p:txBody>
        </p:sp>
      </p:grpSp>
      <p:grpSp>
        <p:nvGrpSpPr>
          <p:cNvPr name="Group 505" id="505"/>
          <p:cNvGrpSpPr/>
          <p:nvPr/>
        </p:nvGrpSpPr>
        <p:grpSpPr>
          <a:xfrm rot="0">
            <a:off x="396002" y="5761253"/>
            <a:ext cx="17724596" cy="607028"/>
            <a:chOff x="0" y="0"/>
            <a:chExt cx="23632795" cy="809371"/>
          </a:xfrm>
        </p:grpSpPr>
        <p:sp>
          <p:nvSpPr>
            <p:cNvPr name="Freeform 506" id="506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507" id="507"/>
          <p:cNvGrpSpPr/>
          <p:nvPr/>
        </p:nvGrpSpPr>
        <p:grpSpPr>
          <a:xfrm rot="0">
            <a:off x="480060" y="5859028"/>
            <a:ext cx="754380" cy="411480"/>
            <a:chOff x="0" y="0"/>
            <a:chExt cx="1005840" cy="548640"/>
          </a:xfrm>
        </p:grpSpPr>
        <p:sp>
          <p:nvSpPr>
            <p:cNvPr name="Freeform 508" id="508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509" id="509"/>
          <p:cNvGrpSpPr/>
          <p:nvPr/>
        </p:nvGrpSpPr>
        <p:grpSpPr>
          <a:xfrm rot="0">
            <a:off x="480060" y="5886460"/>
            <a:ext cx="754380" cy="373952"/>
            <a:chOff x="0" y="0"/>
            <a:chExt cx="1005840" cy="498602"/>
          </a:xfrm>
        </p:grpSpPr>
        <p:sp>
          <p:nvSpPr>
            <p:cNvPr name="Freeform 510" id="510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511" id="511"/>
          <p:cNvGrpSpPr/>
          <p:nvPr/>
        </p:nvGrpSpPr>
        <p:grpSpPr>
          <a:xfrm rot="0">
            <a:off x="480060" y="5879316"/>
            <a:ext cx="754380" cy="381095"/>
            <a:chOff x="0" y="0"/>
            <a:chExt cx="1005840" cy="508127"/>
          </a:xfrm>
        </p:grpSpPr>
        <p:sp>
          <p:nvSpPr>
            <p:cNvPr name="Freeform 512" id="512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513" id="513"/>
          <p:cNvGrpSpPr/>
          <p:nvPr/>
        </p:nvGrpSpPr>
        <p:grpSpPr>
          <a:xfrm rot="0">
            <a:off x="480060" y="5872172"/>
            <a:ext cx="754380" cy="388201"/>
            <a:chOff x="0" y="0"/>
            <a:chExt cx="1005840" cy="517601"/>
          </a:xfrm>
        </p:grpSpPr>
        <p:sp>
          <p:nvSpPr>
            <p:cNvPr name="Freeform 514" id="514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515" id="515"/>
          <p:cNvGrpSpPr/>
          <p:nvPr/>
        </p:nvGrpSpPr>
        <p:grpSpPr>
          <a:xfrm rot="0">
            <a:off x="480060" y="5865028"/>
            <a:ext cx="754380" cy="395345"/>
            <a:chOff x="0" y="0"/>
            <a:chExt cx="1005840" cy="527126"/>
          </a:xfrm>
        </p:grpSpPr>
        <p:sp>
          <p:nvSpPr>
            <p:cNvPr name="Freeform 516" id="516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517" id="517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#7</a:t>
              </a:r>
            </a:p>
          </p:txBody>
        </p:sp>
      </p:grpSp>
      <p:grpSp>
        <p:nvGrpSpPr>
          <p:cNvPr name="Group 518" id="518"/>
          <p:cNvGrpSpPr/>
          <p:nvPr/>
        </p:nvGrpSpPr>
        <p:grpSpPr>
          <a:xfrm rot="0">
            <a:off x="1440180" y="5845312"/>
            <a:ext cx="3291840" cy="466344"/>
            <a:chOff x="0" y="0"/>
            <a:chExt cx="4389120" cy="621792"/>
          </a:xfrm>
        </p:grpSpPr>
        <p:sp>
          <p:nvSpPr>
            <p:cNvPr name="Freeform 519" id="519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520" id="520"/>
          <p:cNvGrpSpPr/>
          <p:nvPr/>
        </p:nvGrpSpPr>
        <p:grpSpPr>
          <a:xfrm rot="0">
            <a:off x="1440180" y="5838168"/>
            <a:ext cx="3291840" cy="473488"/>
            <a:chOff x="0" y="0"/>
            <a:chExt cx="4389120" cy="631317"/>
          </a:xfrm>
        </p:grpSpPr>
        <p:sp>
          <p:nvSpPr>
            <p:cNvPr name="Freeform 521" id="521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522" id="522"/>
          <p:cNvGrpSpPr/>
          <p:nvPr/>
        </p:nvGrpSpPr>
        <p:grpSpPr>
          <a:xfrm rot="0">
            <a:off x="1440180" y="5831024"/>
            <a:ext cx="3291840" cy="480632"/>
            <a:chOff x="0" y="0"/>
            <a:chExt cx="4389120" cy="640842"/>
          </a:xfrm>
        </p:grpSpPr>
        <p:sp>
          <p:nvSpPr>
            <p:cNvPr name="Freeform 523" id="523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524" id="524"/>
          <p:cNvGrpSpPr/>
          <p:nvPr/>
        </p:nvGrpSpPr>
        <p:grpSpPr>
          <a:xfrm rot="0">
            <a:off x="1440180" y="5823880"/>
            <a:ext cx="3291840" cy="487775"/>
            <a:chOff x="0" y="0"/>
            <a:chExt cx="4389120" cy="650367"/>
          </a:xfrm>
        </p:grpSpPr>
        <p:sp>
          <p:nvSpPr>
            <p:cNvPr name="Freeform 525" id="525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526" id="526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Chain Reaction</a:t>
              </a:r>
            </a:p>
          </p:txBody>
        </p:sp>
      </p:grpSp>
      <p:grpSp>
        <p:nvGrpSpPr>
          <p:cNvPr name="Group 527" id="527"/>
          <p:cNvGrpSpPr/>
          <p:nvPr/>
        </p:nvGrpSpPr>
        <p:grpSpPr>
          <a:xfrm rot="0">
            <a:off x="5006340" y="5845312"/>
            <a:ext cx="2606040" cy="466344"/>
            <a:chOff x="0" y="0"/>
            <a:chExt cx="3474720" cy="621792"/>
          </a:xfrm>
        </p:grpSpPr>
        <p:sp>
          <p:nvSpPr>
            <p:cNvPr name="Freeform 528" id="52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29" id="529"/>
          <p:cNvGrpSpPr/>
          <p:nvPr/>
        </p:nvGrpSpPr>
        <p:grpSpPr>
          <a:xfrm rot="0">
            <a:off x="5006340" y="5845312"/>
            <a:ext cx="2606040" cy="466344"/>
            <a:chOff x="0" y="0"/>
            <a:chExt cx="3474720" cy="621792"/>
          </a:xfrm>
        </p:grpSpPr>
        <p:sp>
          <p:nvSpPr>
            <p:cNvPr name="Freeform 530" id="53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31" id="531"/>
          <p:cNvGrpSpPr/>
          <p:nvPr/>
        </p:nvGrpSpPr>
        <p:grpSpPr>
          <a:xfrm rot="0">
            <a:off x="5006340" y="5845312"/>
            <a:ext cx="2606040" cy="466344"/>
            <a:chOff x="0" y="0"/>
            <a:chExt cx="3474720" cy="621792"/>
          </a:xfrm>
        </p:grpSpPr>
        <p:sp>
          <p:nvSpPr>
            <p:cNvPr name="Freeform 532" id="53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33" id="533"/>
          <p:cNvGrpSpPr/>
          <p:nvPr/>
        </p:nvGrpSpPr>
        <p:grpSpPr>
          <a:xfrm rot="0">
            <a:off x="5006340" y="5845312"/>
            <a:ext cx="2606040" cy="466344"/>
            <a:chOff x="0" y="0"/>
            <a:chExt cx="3474720" cy="621792"/>
          </a:xfrm>
        </p:grpSpPr>
        <p:sp>
          <p:nvSpPr>
            <p:cNvPr name="Freeform 534" id="53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535" id="535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Performance Marketing</a:t>
              </a:r>
            </a:p>
          </p:txBody>
        </p:sp>
      </p:grpSp>
      <p:grpSp>
        <p:nvGrpSpPr>
          <p:cNvPr name="Group 536" id="536"/>
          <p:cNvGrpSpPr/>
          <p:nvPr/>
        </p:nvGrpSpPr>
        <p:grpSpPr>
          <a:xfrm rot="0">
            <a:off x="7886700" y="5845312"/>
            <a:ext cx="2606040" cy="466344"/>
            <a:chOff x="0" y="0"/>
            <a:chExt cx="3474720" cy="621792"/>
          </a:xfrm>
        </p:grpSpPr>
        <p:sp>
          <p:nvSpPr>
            <p:cNvPr name="Freeform 537" id="53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38" id="538"/>
          <p:cNvGrpSpPr/>
          <p:nvPr/>
        </p:nvGrpSpPr>
        <p:grpSpPr>
          <a:xfrm rot="0">
            <a:off x="7886700" y="5845312"/>
            <a:ext cx="2606040" cy="466344"/>
            <a:chOff x="0" y="0"/>
            <a:chExt cx="3474720" cy="621792"/>
          </a:xfrm>
        </p:grpSpPr>
        <p:sp>
          <p:nvSpPr>
            <p:cNvPr name="Freeform 539" id="53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40" id="540"/>
          <p:cNvGrpSpPr/>
          <p:nvPr/>
        </p:nvGrpSpPr>
        <p:grpSpPr>
          <a:xfrm rot="0">
            <a:off x="7886700" y="5845312"/>
            <a:ext cx="2606040" cy="466344"/>
            <a:chOff x="0" y="0"/>
            <a:chExt cx="3474720" cy="621792"/>
          </a:xfrm>
        </p:grpSpPr>
        <p:sp>
          <p:nvSpPr>
            <p:cNvPr name="Freeform 541" id="54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42" id="542"/>
          <p:cNvGrpSpPr/>
          <p:nvPr/>
        </p:nvGrpSpPr>
        <p:grpSpPr>
          <a:xfrm rot="0">
            <a:off x="7886700" y="5845312"/>
            <a:ext cx="2606040" cy="466344"/>
            <a:chOff x="0" y="0"/>
            <a:chExt cx="3474720" cy="621792"/>
          </a:xfrm>
        </p:grpSpPr>
        <p:sp>
          <p:nvSpPr>
            <p:cNvPr name="Freeform 543" id="54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544" id="544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UAE</a:t>
              </a:r>
            </a:p>
          </p:txBody>
        </p:sp>
      </p:grpSp>
      <p:grpSp>
        <p:nvGrpSpPr>
          <p:cNvPr name="Group 545" id="545"/>
          <p:cNvGrpSpPr/>
          <p:nvPr/>
        </p:nvGrpSpPr>
        <p:grpSpPr>
          <a:xfrm rot="0">
            <a:off x="10767060" y="5845312"/>
            <a:ext cx="2606040" cy="466344"/>
            <a:chOff x="0" y="0"/>
            <a:chExt cx="3474720" cy="621792"/>
          </a:xfrm>
        </p:grpSpPr>
        <p:sp>
          <p:nvSpPr>
            <p:cNvPr name="Freeform 546" id="54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47" id="547"/>
          <p:cNvGrpSpPr/>
          <p:nvPr/>
        </p:nvGrpSpPr>
        <p:grpSpPr>
          <a:xfrm rot="0">
            <a:off x="10767060" y="5845312"/>
            <a:ext cx="2606040" cy="466344"/>
            <a:chOff x="0" y="0"/>
            <a:chExt cx="3474720" cy="621792"/>
          </a:xfrm>
        </p:grpSpPr>
        <p:sp>
          <p:nvSpPr>
            <p:cNvPr name="Freeform 548" id="54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49" id="549"/>
          <p:cNvGrpSpPr/>
          <p:nvPr/>
        </p:nvGrpSpPr>
        <p:grpSpPr>
          <a:xfrm rot="0">
            <a:off x="10767060" y="5845312"/>
            <a:ext cx="2606040" cy="466344"/>
            <a:chOff x="0" y="0"/>
            <a:chExt cx="3474720" cy="621792"/>
          </a:xfrm>
        </p:grpSpPr>
        <p:sp>
          <p:nvSpPr>
            <p:cNvPr name="Freeform 550" id="55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551" id="551"/>
          <p:cNvGrpSpPr/>
          <p:nvPr/>
        </p:nvGrpSpPr>
        <p:grpSpPr>
          <a:xfrm rot="0">
            <a:off x="10767060" y="5845312"/>
            <a:ext cx="2606040" cy="466344"/>
            <a:chOff x="0" y="0"/>
            <a:chExt cx="3474720" cy="621792"/>
          </a:xfrm>
        </p:grpSpPr>
        <p:sp>
          <p:nvSpPr>
            <p:cNvPr name="Freeform 552" id="55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553" id="553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8,731 / $23,138</a:t>
              </a:r>
            </a:p>
          </p:txBody>
        </p:sp>
      </p:grpSp>
      <p:grpSp>
        <p:nvGrpSpPr>
          <p:cNvPr name="Group 554" id="554"/>
          <p:cNvGrpSpPr/>
          <p:nvPr/>
        </p:nvGrpSpPr>
        <p:grpSpPr>
          <a:xfrm rot="0">
            <a:off x="13647420" y="5845312"/>
            <a:ext cx="1920240" cy="466344"/>
            <a:chOff x="0" y="0"/>
            <a:chExt cx="2560320" cy="621792"/>
          </a:xfrm>
        </p:grpSpPr>
        <p:sp>
          <p:nvSpPr>
            <p:cNvPr name="Freeform 555" id="555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556" id="556"/>
          <p:cNvGrpSpPr/>
          <p:nvPr/>
        </p:nvGrpSpPr>
        <p:grpSpPr>
          <a:xfrm rot="0">
            <a:off x="13647420" y="5838168"/>
            <a:ext cx="1920240" cy="473488"/>
            <a:chOff x="0" y="0"/>
            <a:chExt cx="2560320" cy="631317"/>
          </a:xfrm>
        </p:grpSpPr>
        <p:sp>
          <p:nvSpPr>
            <p:cNvPr name="Freeform 557" id="557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558" id="558"/>
          <p:cNvGrpSpPr/>
          <p:nvPr/>
        </p:nvGrpSpPr>
        <p:grpSpPr>
          <a:xfrm rot="0">
            <a:off x="13647420" y="5831024"/>
            <a:ext cx="1920240" cy="480632"/>
            <a:chOff x="0" y="0"/>
            <a:chExt cx="2560320" cy="640842"/>
          </a:xfrm>
        </p:grpSpPr>
        <p:sp>
          <p:nvSpPr>
            <p:cNvPr name="Freeform 559" id="559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560" id="560"/>
          <p:cNvGrpSpPr/>
          <p:nvPr/>
        </p:nvGrpSpPr>
        <p:grpSpPr>
          <a:xfrm rot="0">
            <a:off x="13647420" y="5823880"/>
            <a:ext cx="1920240" cy="487775"/>
            <a:chOff x="0" y="0"/>
            <a:chExt cx="2560320" cy="650367"/>
          </a:xfrm>
        </p:grpSpPr>
        <p:sp>
          <p:nvSpPr>
            <p:cNvPr name="Freeform 561" id="561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562" id="562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0B98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8</a:t>
              </a:r>
            </a:p>
          </p:txBody>
        </p:sp>
      </p:grpSp>
      <p:grpSp>
        <p:nvGrpSpPr>
          <p:cNvPr name="Group 563" id="563"/>
          <p:cNvGrpSpPr/>
          <p:nvPr/>
        </p:nvGrpSpPr>
        <p:grpSpPr>
          <a:xfrm rot="0">
            <a:off x="15841980" y="6119632"/>
            <a:ext cx="2125980" cy="109728"/>
            <a:chOff x="0" y="0"/>
            <a:chExt cx="2834640" cy="146304"/>
          </a:xfrm>
        </p:grpSpPr>
        <p:sp>
          <p:nvSpPr>
            <p:cNvPr name="Freeform 564" id="564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565" id="565"/>
          <p:cNvGrpSpPr/>
          <p:nvPr/>
        </p:nvGrpSpPr>
        <p:grpSpPr>
          <a:xfrm rot="0">
            <a:off x="15841980" y="6119632"/>
            <a:ext cx="1152144" cy="109728"/>
            <a:chOff x="0" y="0"/>
            <a:chExt cx="1536192" cy="146304"/>
          </a:xfrm>
        </p:grpSpPr>
        <p:sp>
          <p:nvSpPr>
            <p:cNvPr name="Freeform 566" id="566"/>
            <p:cNvSpPr/>
            <p:nvPr/>
          </p:nvSpPr>
          <p:spPr>
            <a:xfrm flipH="false" flipV="false" rot="0">
              <a:off x="0" y="0"/>
              <a:ext cx="1536192" cy="146304"/>
            </a:xfrm>
            <a:custGeom>
              <a:avLst/>
              <a:gdLst/>
              <a:ahLst/>
              <a:cxnLst/>
              <a:rect r="r" b="b" t="t" l="l"/>
              <a:pathLst>
                <a:path h="146304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567" id="567"/>
          <p:cNvGrpSpPr/>
          <p:nvPr/>
        </p:nvGrpSpPr>
        <p:grpSpPr>
          <a:xfrm rot="0">
            <a:off x="15841980" y="5776732"/>
            <a:ext cx="2125980" cy="411385"/>
            <a:chOff x="0" y="0"/>
            <a:chExt cx="2834640" cy="548513"/>
          </a:xfrm>
        </p:grpSpPr>
        <p:sp>
          <p:nvSpPr>
            <p:cNvPr name="Freeform 568" id="568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569" id="569"/>
          <p:cNvGrpSpPr/>
          <p:nvPr/>
        </p:nvGrpSpPr>
        <p:grpSpPr>
          <a:xfrm rot="0">
            <a:off x="15841980" y="5769588"/>
            <a:ext cx="2125980" cy="418528"/>
            <a:chOff x="0" y="0"/>
            <a:chExt cx="2834640" cy="558038"/>
          </a:xfrm>
        </p:grpSpPr>
        <p:sp>
          <p:nvSpPr>
            <p:cNvPr name="Freeform 570" id="570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571" id="571"/>
          <p:cNvGrpSpPr/>
          <p:nvPr/>
        </p:nvGrpSpPr>
        <p:grpSpPr>
          <a:xfrm rot="0">
            <a:off x="15841980" y="5762444"/>
            <a:ext cx="2125980" cy="425710"/>
            <a:chOff x="0" y="0"/>
            <a:chExt cx="2834640" cy="567614"/>
          </a:xfrm>
        </p:grpSpPr>
        <p:sp>
          <p:nvSpPr>
            <p:cNvPr name="Freeform 572" id="572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573" id="573"/>
          <p:cNvGrpSpPr/>
          <p:nvPr/>
        </p:nvGrpSpPr>
        <p:grpSpPr>
          <a:xfrm rot="0">
            <a:off x="15841980" y="5755300"/>
            <a:ext cx="2125980" cy="432854"/>
            <a:chOff x="0" y="0"/>
            <a:chExt cx="2834640" cy="577139"/>
          </a:xfrm>
        </p:grpSpPr>
        <p:sp>
          <p:nvSpPr>
            <p:cNvPr name="Freeform 574" id="574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575" id="575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60</a:t>
              </a:r>
            </a:p>
          </p:txBody>
        </p:sp>
      </p:grpSp>
      <p:grpSp>
        <p:nvGrpSpPr>
          <p:cNvPr name="Group 576" id="576"/>
          <p:cNvGrpSpPr/>
          <p:nvPr/>
        </p:nvGrpSpPr>
        <p:grpSpPr>
          <a:xfrm rot="0">
            <a:off x="396002" y="6364757"/>
            <a:ext cx="17724596" cy="607028"/>
            <a:chOff x="0" y="0"/>
            <a:chExt cx="23632795" cy="809371"/>
          </a:xfrm>
        </p:grpSpPr>
        <p:sp>
          <p:nvSpPr>
            <p:cNvPr name="Freeform 577" id="577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EEF1F8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578" id="578"/>
          <p:cNvGrpSpPr/>
          <p:nvPr/>
        </p:nvGrpSpPr>
        <p:grpSpPr>
          <a:xfrm rot="0">
            <a:off x="480060" y="6462532"/>
            <a:ext cx="754380" cy="411480"/>
            <a:chOff x="0" y="0"/>
            <a:chExt cx="1005840" cy="548640"/>
          </a:xfrm>
        </p:grpSpPr>
        <p:sp>
          <p:nvSpPr>
            <p:cNvPr name="Freeform 579" id="579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580" id="580"/>
          <p:cNvGrpSpPr/>
          <p:nvPr/>
        </p:nvGrpSpPr>
        <p:grpSpPr>
          <a:xfrm rot="0">
            <a:off x="480060" y="6489964"/>
            <a:ext cx="754380" cy="373952"/>
            <a:chOff x="0" y="0"/>
            <a:chExt cx="1005840" cy="498602"/>
          </a:xfrm>
        </p:grpSpPr>
        <p:sp>
          <p:nvSpPr>
            <p:cNvPr name="Freeform 581" id="581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582" id="582"/>
          <p:cNvGrpSpPr/>
          <p:nvPr/>
        </p:nvGrpSpPr>
        <p:grpSpPr>
          <a:xfrm rot="0">
            <a:off x="480060" y="6482820"/>
            <a:ext cx="754380" cy="381095"/>
            <a:chOff x="0" y="0"/>
            <a:chExt cx="1005840" cy="508127"/>
          </a:xfrm>
        </p:grpSpPr>
        <p:sp>
          <p:nvSpPr>
            <p:cNvPr name="Freeform 583" id="583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584" id="584"/>
          <p:cNvGrpSpPr/>
          <p:nvPr/>
        </p:nvGrpSpPr>
        <p:grpSpPr>
          <a:xfrm rot="0">
            <a:off x="480060" y="6475676"/>
            <a:ext cx="754380" cy="388201"/>
            <a:chOff x="0" y="0"/>
            <a:chExt cx="1005840" cy="517601"/>
          </a:xfrm>
        </p:grpSpPr>
        <p:sp>
          <p:nvSpPr>
            <p:cNvPr name="Freeform 585" id="585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586" id="586"/>
          <p:cNvGrpSpPr/>
          <p:nvPr/>
        </p:nvGrpSpPr>
        <p:grpSpPr>
          <a:xfrm rot="0">
            <a:off x="480060" y="6468532"/>
            <a:ext cx="754380" cy="395345"/>
            <a:chOff x="0" y="0"/>
            <a:chExt cx="1005840" cy="527126"/>
          </a:xfrm>
        </p:grpSpPr>
        <p:sp>
          <p:nvSpPr>
            <p:cNvPr name="Freeform 587" id="587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588" id="588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#8</a:t>
              </a:r>
            </a:p>
          </p:txBody>
        </p:sp>
      </p:grpSp>
      <p:grpSp>
        <p:nvGrpSpPr>
          <p:cNvPr name="Group 589" id="589"/>
          <p:cNvGrpSpPr/>
          <p:nvPr/>
        </p:nvGrpSpPr>
        <p:grpSpPr>
          <a:xfrm rot="0">
            <a:off x="1440180" y="6448816"/>
            <a:ext cx="3291840" cy="466344"/>
            <a:chOff x="0" y="0"/>
            <a:chExt cx="4389120" cy="621792"/>
          </a:xfrm>
        </p:grpSpPr>
        <p:sp>
          <p:nvSpPr>
            <p:cNvPr name="Freeform 590" id="590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591" id="591"/>
          <p:cNvGrpSpPr/>
          <p:nvPr/>
        </p:nvGrpSpPr>
        <p:grpSpPr>
          <a:xfrm rot="0">
            <a:off x="1440180" y="6441672"/>
            <a:ext cx="3291840" cy="473488"/>
            <a:chOff x="0" y="0"/>
            <a:chExt cx="4389120" cy="631317"/>
          </a:xfrm>
        </p:grpSpPr>
        <p:sp>
          <p:nvSpPr>
            <p:cNvPr name="Freeform 592" id="592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593" id="593"/>
          <p:cNvGrpSpPr/>
          <p:nvPr/>
        </p:nvGrpSpPr>
        <p:grpSpPr>
          <a:xfrm rot="0">
            <a:off x="1440180" y="6434528"/>
            <a:ext cx="3291840" cy="480632"/>
            <a:chOff x="0" y="0"/>
            <a:chExt cx="4389120" cy="640842"/>
          </a:xfrm>
        </p:grpSpPr>
        <p:sp>
          <p:nvSpPr>
            <p:cNvPr name="Freeform 594" id="594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595" id="595"/>
          <p:cNvGrpSpPr/>
          <p:nvPr/>
        </p:nvGrpSpPr>
        <p:grpSpPr>
          <a:xfrm rot="0">
            <a:off x="1440180" y="6427384"/>
            <a:ext cx="3291840" cy="487775"/>
            <a:chOff x="0" y="0"/>
            <a:chExt cx="4389120" cy="650367"/>
          </a:xfrm>
        </p:grpSpPr>
        <p:sp>
          <p:nvSpPr>
            <p:cNvPr name="Freeform 596" id="596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597" id="597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YouYaa</a:t>
              </a:r>
            </a:p>
          </p:txBody>
        </p:sp>
      </p:grpSp>
      <p:grpSp>
        <p:nvGrpSpPr>
          <p:cNvPr name="Group 598" id="598"/>
          <p:cNvGrpSpPr/>
          <p:nvPr/>
        </p:nvGrpSpPr>
        <p:grpSpPr>
          <a:xfrm rot="0">
            <a:off x="5006340" y="6448816"/>
            <a:ext cx="2606040" cy="466344"/>
            <a:chOff x="0" y="0"/>
            <a:chExt cx="3474720" cy="621792"/>
          </a:xfrm>
        </p:grpSpPr>
        <p:sp>
          <p:nvSpPr>
            <p:cNvPr name="Freeform 599" id="59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00" id="600"/>
          <p:cNvGrpSpPr/>
          <p:nvPr/>
        </p:nvGrpSpPr>
        <p:grpSpPr>
          <a:xfrm rot="0">
            <a:off x="5006340" y="6448816"/>
            <a:ext cx="2606040" cy="466344"/>
            <a:chOff x="0" y="0"/>
            <a:chExt cx="3474720" cy="621792"/>
          </a:xfrm>
        </p:grpSpPr>
        <p:sp>
          <p:nvSpPr>
            <p:cNvPr name="Freeform 601" id="60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02" id="602"/>
          <p:cNvGrpSpPr/>
          <p:nvPr/>
        </p:nvGrpSpPr>
        <p:grpSpPr>
          <a:xfrm rot="0">
            <a:off x="5006340" y="6448816"/>
            <a:ext cx="2606040" cy="466344"/>
            <a:chOff x="0" y="0"/>
            <a:chExt cx="3474720" cy="621792"/>
          </a:xfrm>
        </p:grpSpPr>
        <p:sp>
          <p:nvSpPr>
            <p:cNvPr name="Freeform 603" id="60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04" id="604"/>
          <p:cNvGrpSpPr/>
          <p:nvPr/>
        </p:nvGrpSpPr>
        <p:grpSpPr>
          <a:xfrm rot="0">
            <a:off x="5006340" y="6448816"/>
            <a:ext cx="2606040" cy="466344"/>
            <a:chOff x="0" y="0"/>
            <a:chExt cx="3474720" cy="621792"/>
          </a:xfrm>
        </p:grpSpPr>
        <p:sp>
          <p:nvSpPr>
            <p:cNvPr name="Freeform 605" id="60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606" id="606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WealthTech Branding</a:t>
              </a:r>
            </a:p>
          </p:txBody>
        </p:sp>
      </p:grpSp>
      <p:grpSp>
        <p:nvGrpSpPr>
          <p:cNvPr name="Group 607" id="607"/>
          <p:cNvGrpSpPr/>
          <p:nvPr/>
        </p:nvGrpSpPr>
        <p:grpSpPr>
          <a:xfrm rot="0">
            <a:off x="7886700" y="6448816"/>
            <a:ext cx="2606040" cy="466344"/>
            <a:chOff x="0" y="0"/>
            <a:chExt cx="3474720" cy="621792"/>
          </a:xfrm>
        </p:grpSpPr>
        <p:sp>
          <p:nvSpPr>
            <p:cNvPr name="Freeform 608" id="60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09" id="609"/>
          <p:cNvGrpSpPr/>
          <p:nvPr/>
        </p:nvGrpSpPr>
        <p:grpSpPr>
          <a:xfrm rot="0">
            <a:off x="7886700" y="6448816"/>
            <a:ext cx="2606040" cy="466344"/>
            <a:chOff x="0" y="0"/>
            <a:chExt cx="3474720" cy="621792"/>
          </a:xfrm>
        </p:grpSpPr>
        <p:sp>
          <p:nvSpPr>
            <p:cNvPr name="Freeform 610" id="61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11" id="611"/>
          <p:cNvGrpSpPr/>
          <p:nvPr/>
        </p:nvGrpSpPr>
        <p:grpSpPr>
          <a:xfrm rot="0">
            <a:off x="7886700" y="6448816"/>
            <a:ext cx="2606040" cy="466344"/>
            <a:chOff x="0" y="0"/>
            <a:chExt cx="3474720" cy="621792"/>
          </a:xfrm>
        </p:grpSpPr>
        <p:sp>
          <p:nvSpPr>
            <p:cNvPr name="Freeform 612" id="61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13" id="613"/>
          <p:cNvGrpSpPr/>
          <p:nvPr/>
        </p:nvGrpSpPr>
        <p:grpSpPr>
          <a:xfrm rot="0">
            <a:off x="7886700" y="6448816"/>
            <a:ext cx="2606040" cy="466344"/>
            <a:chOff x="0" y="0"/>
            <a:chExt cx="3474720" cy="621792"/>
          </a:xfrm>
        </p:grpSpPr>
        <p:sp>
          <p:nvSpPr>
            <p:cNvPr name="Freeform 614" id="61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615" id="615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Dubai, UAE</a:t>
              </a:r>
            </a:p>
          </p:txBody>
        </p:sp>
      </p:grpSp>
      <p:grpSp>
        <p:nvGrpSpPr>
          <p:cNvPr name="Group 616" id="616"/>
          <p:cNvGrpSpPr/>
          <p:nvPr/>
        </p:nvGrpSpPr>
        <p:grpSpPr>
          <a:xfrm rot="0">
            <a:off x="10767060" y="6448816"/>
            <a:ext cx="2606040" cy="466344"/>
            <a:chOff x="0" y="0"/>
            <a:chExt cx="3474720" cy="621792"/>
          </a:xfrm>
        </p:grpSpPr>
        <p:sp>
          <p:nvSpPr>
            <p:cNvPr name="Freeform 617" id="61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18" id="618"/>
          <p:cNvGrpSpPr/>
          <p:nvPr/>
        </p:nvGrpSpPr>
        <p:grpSpPr>
          <a:xfrm rot="0">
            <a:off x="10767060" y="6448816"/>
            <a:ext cx="2606040" cy="466344"/>
            <a:chOff x="0" y="0"/>
            <a:chExt cx="3474720" cy="621792"/>
          </a:xfrm>
        </p:grpSpPr>
        <p:sp>
          <p:nvSpPr>
            <p:cNvPr name="Freeform 619" id="61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20" id="620"/>
          <p:cNvGrpSpPr/>
          <p:nvPr/>
        </p:nvGrpSpPr>
        <p:grpSpPr>
          <a:xfrm rot="0">
            <a:off x="10767060" y="6448816"/>
            <a:ext cx="2606040" cy="466344"/>
            <a:chOff x="0" y="0"/>
            <a:chExt cx="3474720" cy="621792"/>
          </a:xfrm>
        </p:grpSpPr>
        <p:sp>
          <p:nvSpPr>
            <p:cNvPr name="Freeform 621" id="62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22" id="622"/>
          <p:cNvGrpSpPr/>
          <p:nvPr/>
        </p:nvGrpSpPr>
        <p:grpSpPr>
          <a:xfrm rot="0">
            <a:off x="10767060" y="6448816"/>
            <a:ext cx="2606040" cy="466344"/>
            <a:chOff x="0" y="0"/>
            <a:chExt cx="3474720" cy="621792"/>
          </a:xfrm>
        </p:grpSpPr>
        <p:sp>
          <p:nvSpPr>
            <p:cNvPr name="Freeform 623" id="62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624" id="624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5,660 / $15,000</a:t>
              </a:r>
            </a:p>
          </p:txBody>
        </p:sp>
      </p:grpSp>
      <p:grpSp>
        <p:nvGrpSpPr>
          <p:cNvPr name="Group 625" id="625"/>
          <p:cNvGrpSpPr/>
          <p:nvPr/>
        </p:nvGrpSpPr>
        <p:grpSpPr>
          <a:xfrm rot="0">
            <a:off x="13647420" y="6448816"/>
            <a:ext cx="1920240" cy="466344"/>
            <a:chOff x="0" y="0"/>
            <a:chExt cx="2560320" cy="621792"/>
          </a:xfrm>
        </p:grpSpPr>
        <p:sp>
          <p:nvSpPr>
            <p:cNvPr name="Freeform 626" id="626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627" id="627"/>
          <p:cNvGrpSpPr/>
          <p:nvPr/>
        </p:nvGrpSpPr>
        <p:grpSpPr>
          <a:xfrm rot="0">
            <a:off x="13647420" y="6441672"/>
            <a:ext cx="1920240" cy="473488"/>
            <a:chOff x="0" y="0"/>
            <a:chExt cx="2560320" cy="631317"/>
          </a:xfrm>
        </p:grpSpPr>
        <p:sp>
          <p:nvSpPr>
            <p:cNvPr name="Freeform 628" id="628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629" id="629"/>
          <p:cNvGrpSpPr/>
          <p:nvPr/>
        </p:nvGrpSpPr>
        <p:grpSpPr>
          <a:xfrm rot="0">
            <a:off x="13647420" y="6434528"/>
            <a:ext cx="1920240" cy="480632"/>
            <a:chOff x="0" y="0"/>
            <a:chExt cx="2560320" cy="640842"/>
          </a:xfrm>
        </p:grpSpPr>
        <p:sp>
          <p:nvSpPr>
            <p:cNvPr name="Freeform 630" id="630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631" id="631"/>
          <p:cNvGrpSpPr/>
          <p:nvPr/>
        </p:nvGrpSpPr>
        <p:grpSpPr>
          <a:xfrm rot="0">
            <a:off x="13647420" y="6427384"/>
            <a:ext cx="1920240" cy="487775"/>
            <a:chOff x="0" y="0"/>
            <a:chExt cx="2560320" cy="650367"/>
          </a:xfrm>
        </p:grpSpPr>
        <p:sp>
          <p:nvSpPr>
            <p:cNvPr name="Freeform 632" id="632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633" id="633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0B98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8</a:t>
              </a:r>
            </a:p>
          </p:txBody>
        </p:sp>
      </p:grpSp>
      <p:grpSp>
        <p:nvGrpSpPr>
          <p:cNvPr name="Group 634" id="634"/>
          <p:cNvGrpSpPr/>
          <p:nvPr/>
        </p:nvGrpSpPr>
        <p:grpSpPr>
          <a:xfrm rot="0">
            <a:off x="15841980" y="6723136"/>
            <a:ext cx="2125980" cy="109728"/>
            <a:chOff x="0" y="0"/>
            <a:chExt cx="2834640" cy="146304"/>
          </a:xfrm>
        </p:grpSpPr>
        <p:sp>
          <p:nvSpPr>
            <p:cNvPr name="Freeform 635" id="635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636" id="636"/>
          <p:cNvGrpSpPr/>
          <p:nvPr/>
        </p:nvGrpSpPr>
        <p:grpSpPr>
          <a:xfrm rot="0">
            <a:off x="15841980" y="6723136"/>
            <a:ext cx="960120" cy="109728"/>
            <a:chOff x="0" y="0"/>
            <a:chExt cx="1280160" cy="146304"/>
          </a:xfrm>
        </p:grpSpPr>
        <p:sp>
          <p:nvSpPr>
            <p:cNvPr name="Freeform 637" id="637"/>
            <p:cNvSpPr/>
            <p:nvPr/>
          </p:nvSpPr>
          <p:spPr>
            <a:xfrm flipH="false" flipV="false" rot="0">
              <a:off x="0" y="0"/>
              <a:ext cx="1280160" cy="146304"/>
            </a:xfrm>
            <a:custGeom>
              <a:avLst/>
              <a:gdLst/>
              <a:ahLst/>
              <a:cxnLst/>
              <a:rect r="r" b="b" t="t" l="l"/>
              <a:pathLst>
                <a:path h="14630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638" id="638"/>
          <p:cNvGrpSpPr/>
          <p:nvPr/>
        </p:nvGrpSpPr>
        <p:grpSpPr>
          <a:xfrm rot="0">
            <a:off x="15841980" y="6380236"/>
            <a:ext cx="2125980" cy="411385"/>
            <a:chOff x="0" y="0"/>
            <a:chExt cx="2834640" cy="548513"/>
          </a:xfrm>
        </p:grpSpPr>
        <p:sp>
          <p:nvSpPr>
            <p:cNvPr name="Freeform 639" id="639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640" id="640"/>
          <p:cNvGrpSpPr/>
          <p:nvPr/>
        </p:nvGrpSpPr>
        <p:grpSpPr>
          <a:xfrm rot="0">
            <a:off x="15841980" y="6373092"/>
            <a:ext cx="2125980" cy="418528"/>
            <a:chOff x="0" y="0"/>
            <a:chExt cx="2834640" cy="558038"/>
          </a:xfrm>
        </p:grpSpPr>
        <p:sp>
          <p:nvSpPr>
            <p:cNvPr name="Freeform 641" id="641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642" id="642"/>
          <p:cNvGrpSpPr/>
          <p:nvPr/>
        </p:nvGrpSpPr>
        <p:grpSpPr>
          <a:xfrm rot="0">
            <a:off x="15841980" y="6365948"/>
            <a:ext cx="2125980" cy="425710"/>
            <a:chOff x="0" y="0"/>
            <a:chExt cx="2834640" cy="567614"/>
          </a:xfrm>
        </p:grpSpPr>
        <p:sp>
          <p:nvSpPr>
            <p:cNvPr name="Freeform 643" id="643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644" id="644"/>
          <p:cNvGrpSpPr/>
          <p:nvPr/>
        </p:nvGrpSpPr>
        <p:grpSpPr>
          <a:xfrm rot="0">
            <a:off x="15841980" y="6358804"/>
            <a:ext cx="2125980" cy="432854"/>
            <a:chOff x="0" y="0"/>
            <a:chExt cx="2834640" cy="577139"/>
          </a:xfrm>
        </p:grpSpPr>
        <p:sp>
          <p:nvSpPr>
            <p:cNvPr name="Freeform 645" id="645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646" id="646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50</a:t>
              </a:r>
            </a:p>
          </p:txBody>
        </p:sp>
      </p:grpSp>
      <p:grpSp>
        <p:nvGrpSpPr>
          <p:cNvPr name="Group 647" id="647"/>
          <p:cNvGrpSpPr/>
          <p:nvPr/>
        </p:nvGrpSpPr>
        <p:grpSpPr>
          <a:xfrm rot="0">
            <a:off x="396002" y="6968261"/>
            <a:ext cx="17724596" cy="607028"/>
            <a:chOff x="0" y="0"/>
            <a:chExt cx="23632795" cy="809371"/>
          </a:xfrm>
        </p:grpSpPr>
        <p:sp>
          <p:nvSpPr>
            <p:cNvPr name="Freeform 648" id="648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649" id="649"/>
          <p:cNvGrpSpPr/>
          <p:nvPr/>
        </p:nvGrpSpPr>
        <p:grpSpPr>
          <a:xfrm rot="0">
            <a:off x="480060" y="7066036"/>
            <a:ext cx="754380" cy="411480"/>
            <a:chOff x="0" y="0"/>
            <a:chExt cx="1005840" cy="548640"/>
          </a:xfrm>
        </p:grpSpPr>
        <p:sp>
          <p:nvSpPr>
            <p:cNvPr name="Freeform 650" id="650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651" id="651"/>
          <p:cNvGrpSpPr/>
          <p:nvPr/>
        </p:nvGrpSpPr>
        <p:grpSpPr>
          <a:xfrm rot="0">
            <a:off x="480060" y="7093468"/>
            <a:ext cx="754380" cy="373952"/>
            <a:chOff x="0" y="0"/>
            <a:chExt cx="1005840" cy="498602"/>
          </a:xfrm>
        </p:grpSpPr>
        <p:sp>
          <p:nvSpPr>
            <p:cNvPr name="Freeform 652" id="652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653" id="653"/>
          <p:cNvGrpSpPr/>
          <p:nvPr/>
        </p:nvGrpSpPr>
        <p:grpSpPr>
          <a:xfrm rot="0">
            <a:off x="480060" y="7086324"/>
            <a:ext cx="754380" cy="381095"/>
            <a:chOff x="0" y="0"/>
            <a:chExt cx="1005840" cy="508127"/>
          </a:xfrm>
        </p:grpSpPr>
        <p:sp>
          <p:nvSpPr>
            <p:cNvPr name="Freeform 654" id="654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655" id="655"/>
          <p:cNvGrpSpPr/>
          <p:nvPr/>
        </p:nvGrpSpPr>
        <p:grpSpPr>
          <a:xfrm rot="0">
            <a:off x="480060" y="7079180"/>
            <a:ext cx="754380" cy="388201"/>
            <a:chOff x="0" y="0"/>
            <a:chExt cx="1005840" cy="517601"/>
          </a:xfrm>
        </p:grpSpPr>
        <p:sp>
          <p:nvSpPr>
            <p:cNvPr name="Freeform 656" id="656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657" id="657"/>
          <p:cNvGrpSpPr/>
          <p:nvPr/>
        </p:nvGrpSpPr>
        <p:grpSpPr>
          <a:xfrm rot="0">
            <a:off x="480060" y="7072036"/>
            <a:ext cx="754380" cy="395345"/>
            <a:chOff x="0" y="0"/>
            <a:chExt cx="1005840" cy="527126"/>
          </a:xfrm>
        </p:grpSpPr>
        <p:sp>
          <p:nvSpPr>
            <p:cNvPr name="Freeform 658" id="658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659" id="659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#9</a:t>
              </a:r>
            </a:p>
          </p:txBody>
        </p:sp>
      </p:grpSp>
      <p:grpSp>
        <p:nvGrpSpPr>
          <p:cNvPr name="Group 660" id="660"/>
          <p:cNvGrpSpPr/>
          <p:nvPr/>
        </p:nvGrpSpPr>
        <p:grpSpPr>
          <a:xfrm rot="0">
            <a:off x="1440180" y="7052320"/>
            <a:ext cx="3291840" cy="466344"/>
            <a:chOff x="0" y="0"/>
            <a:chExt cx="4389120" cy="621792"/>
          </a:xfrm>
        </p:grpSpPr>
        <p:sp>
          <p:nvSpPr>
            <p:cNvPr name="Freeform 661" id="661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662" id="662"/>
          <p:cNvGrpSpPr/>
          <p:nvPr/>
        </p:nvGrpSpPr>
        <p:grpSpPr>
          <a:xfrm rot="0">
            <a:off x="1440180" y="7045176"/>
            <a:ext cx="3291840" cy="473488"/>
            <a:chOff x="0" y="0"/>
            <a:chExt cx="4389120" cy="631317"/>
          </a:xfrm>
        </p:grpSpPr>
        <p:sp>
          <p:nvSpPr>
            <p:cNvPr name="Freeform 663" id="663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664" id="664"/>
          <p:cNvGrpSpPr/>
          <p:nvPr/>
        </p:nvGrpSpPr>
        <p:grpSpPr>
          <a:xfrm rot="0">
            <a:off x="1440180" y="7038032"/>
            <a:ext cx="3291840" cy="480632"/>
            <a:chOff x="0" y="0"/>
            <a:chExt cx="4389120" cy="640842"/>
          </a:xfrm>
        </p:grpSpPr>
        <p:sp>
          <p:nvSpPr>
            <p:cNvPr name="Freeform 665" id="665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666" id="666"/>
          <p:cNvGrpSpPr/>
          <p:nvPr/>
        </p:nvGrpSpPr>
        <p:grpSpPr>
          <a:xfrm rot="0">
            <a:off x="1440180" y="7030888"/>
            <a:ext cx="3291840" cy="487775"/>
            <a:chOff x="0" y="0"/>
            <a:chExt cx="4389120" cy="650367"/>
          </a:xfrm>
        </p:grpSpPr>
        <p:sp>
          <p:nvSpPr>
            <p:cNvPr name="Freeform 667" id="667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668" id="668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Carolina Mir</a:t>
              </a:r>
            </a:p>
          </p:txBody>
        </p:sp>
      </p:grpSp>
      <p:grpSp>
        <p:nvGrpSpPr>
          <p:cNvPr name="Group 669" id="669"/>
          <p:cNvGrpSpPr/>
          <p:nvPr/>
        </p:nvGrpSpPr>
        <p:grpSpPr>
          <a:xfrm rot="0">
            <a:off x="5006340" y="7052320"/>
            <a:ext cx="2606040" cy="466344"/>
            <a:chOff x="0" y="0"/>
            <a:chExt cx="3474720" cy="621792"/>
          </a:xfrm>
        </p:grpSpPr>
        <p:sp>
          <p:nvSpPr>
            <p:cNvPr name="Freeform 670" id="67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71" id="671"/>
          <p:cNvGrpSpPr/>
          <p:nvPr/>
        </p:nvGrpSpPr>
        <p:grpSpPr>
          <a:xfrm rot="0">
            <a:off x="5006340" y="7052320"/>
            <a:ext cx="2606040" cy="466344"/>
            <a:chOff x="0" y="0"/>
            <a:chExt cx="3474720" cy="621792"/>
          </a:xfrm>
        </p:grpSpPr>
        <p:sp>
          <p:nvSpPr>
            <p:cNvPr name="Freeform 672" id="67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73" id="673"/>
          <p:cNvGrpSpPr/>
          <p:nvPr/>
        </p:nvGrpSpPr>
        <p:grpSpPr>
          <a:xfrm rot="0">
            <a:off x="5006340" y="7052320"/>
            <a:ext cx="2606040" cy="466344"/>
            <a:chOff x="0" y="0"/>
            <a:chExt cx="3474720" cy="621792"/>
          </a:xfrm>
        </p:grpSpPr>
        <p:sp>
          <p:nvSpPr>
            <p:cNvPr name="Freeform 674" id="67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75" id="675"/>
          <p:cNvGrpSpPr/>
          <p:nvPr/>
        </p:nvGrpSpPr>
        <p:grpSpPr>
          <a:xfrm rot="0">
            <a:off x="5006340" y="7052320"/>
            <a:ext cx="2606040" cy="466344"/>
            <a:chOff x="0" y="0"/>
            <a:chExt cx="3474720" cy="621792"/>
          </a:xfrm>
        </p:grpSpPr>
        <p:sp>
          <p:nvSpPr>
            <p:cNvPr name="Freeform 676" id="67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677" id="677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Fintech Onboarding</a:t>
              </a:r>
            </a:p>
          </p:txBody>
        </p:sp>
      </p:grpSp>
      <p:grpSp>
        <p:nvGrpSpPr>
          <p:cNvPr name="Group 678" id="678"/>
          <p:cNvGrpSpPr/>
          <p:nvPr/>
        </p:nvGrpSpPr>
        <p:grpSpPr>
          <a:xfrm rot="0">
            <a:off x="7886700" y="7052320"/>
            <a:ext cx="2606040" cy="466344"/>
            <a:chOff x="0" y="0"/>
            <a:chExt cx="3474720" cy="621792"/>
          </a:xfrm>
        </p:grpSpPr>
        <p:sp>
          <p:nvSpPr>
            <p:cNvPr name="Freeform 679" id="67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80" id="680"/>
          <p:cNvGrpSpPr/>
          <p:nvPr/>
        </p:nvGrpSpPr>
        <p:grpSpPr>
          <a:xfrm rot="0">
            <a:off x="7886700" y="7052320"/>
            <a:ext cx="2606040" cy="466344"/>
            <a:chOff x="0" y="0"/>
            <a:chExt cx="3474720" cy="621792"/>
          </a:xfrm>
        </p:grpSpPr>
        <p:sp>
          <p:nvSpPr>
            <p:cNvPr name="Freeform 681" id="68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82" id="682"/>
          <p:cNvGrpSpPr/>
          <p:nvPr/>
        </p:nvGrpSpPr>
        <p:grpSpPr>
          <a:xfrm rot="0">
            <a:off x="7886700" y="7052320"/>
            <a:ext cx="2606040" cy="466344"/>
            <a:chOff x="0" y="0"/>
            <a:chExt cx="3474720" cy="621792"/>
          </a:xfrm>
        </p:grpSpPr>
        <p:sp>
          <p:nvSpPr>
            <p:cNvPr name="Freeform 683" id="68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84" id="684"/>
          <p:cNvGrpSpPr/>
          <p:nvPr/>
        </p:nvGrpSpPr>
        <p:grpSpPr>
          <a:xfrm rot="0">
            <a:off x="7886700" y="7052320"/>
            <a:ext cx="2606040" cy="466344"/>
            <a:chOff x="0" y="0"/>
            <a:chExt cx="3474720" cy="621792"/>
          </a:xfrm>
        </p:grpSpPr>
        <p:sp>
          <p:nvSpPr>
            <p:cNvPr name="Freeform 685" id="68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686" id="686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687" id="687"/>
          <p:cNvGrpSpPr/>
          <p:nvPr/>
        </p:nvGrpSpPr>
        <p:grpSpPr>
          <a:xfrm rot="0">
            <a:off x="10767060" y="7052320"/>
            <a:ext cx="2606040" cy="466344"/>
            <a:chOff x="0" y="0"/>
            <a:chExt cx="3474720" cy="621792"/>
          </a:xfrm>
        </p:grpSpPr>
        <p:sp>
          <p:nvSpPr>
            <p:cNvPr name="Freeform 688" id="68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89" id="689"/>
          <p:cNvGrpSpPr/>
          <p:nvPr/>
        </p:nvGrpSpPr>
        <p:grpSpPr>
          <a:xfrm rot="0">
            <a:off x="10767060" y="7052320"/>
            <a:ext cx="2606040" cy="466344"/>
            <a:chOff x="0" y="0"/>
            <a:chExt cx="3474720" cy="621792"/>
          </a:xfrm>
        </p:grpSpPr>
        <p:sp>
          <p:nvSpPr>
            <p:cNvPr name="Freeform 690" id="69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91" id="691"/>
          <p:cNvGrpSpPr/>
          <p:nvPr/>
        </p:nvGrpSpPr>
        <p:grpSpPr>
          <a:xfrm rot="0">
            <a:off x="10767060" y="7052320"/>
            <a:ext cx="2606040" cy="466344"/>
            <a:chOff x="0" y="0"/>
            <a:chExt cx="3474720" cy="621792"/>
          </a:xfrm>
        </p:grpSpPr>
        <p:sp>
          <p:nvSpPr>
            <p:cNvPr name="Freeform 692" id="69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693" id="693"/>
          <p:cNvGrpSpPr/>
          <p:nvPr/>
        </p:nvGrpSpPr>
        <p:grpSpPr>
          <a:xfrm rot="0">
            <a:off x="10767060" y="7052320"/>
            <a:ext cx="2606040" cy="466344"/>
            <a:chOff x="0" y="0"/>
            <a:chExt cx="3474720" cy="621792"/>
          </a:xfrm>
        </p:grpSpPr>
        <p:sp>
          <p:nvSpPr>
            <p:cNvPr name="Freeform 694" id="69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695" id="695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1,400 / $3,711</a:t>
              </a:r>
            </a:p>
          </p:txBody>
        </p:sp>
      </p:grpSp>
      <p:grpSp>
        <p:nvGrpSpPr>
          <p:cNvPr name="Group 696" id="696"/>
          <p:cNvGrpSpPr/>
          <p:nvPr/>
        </p:nvGrpSpPr>
        <p:grpSpPr>
          <a:xfrm rot="0">
            <a:off x="13647420" y="7052320"/>
            <a:ext cx="1920240" cy="466344"/>
            <a:chOff x="0" y="0"/>
            <a:chExt cx="2560320" cy="621792"/>
          </a:xfrm>
        </p:grpSpPr>
        <p:sp>
          <p:nvSpPr>
            <p:cNvPr name="Freeform 697" id="697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698" id="698"/>
          <p:cNvGrpSpPr/>
          <p:nvPr/>
        </p:nvGrpSpPr>
        <p:grpSpPr>
          <a:xfrm rot="0">
            <a:off x="13647420" y="7045176"/>
            <a:ext cx="1920240" cy="473488"/>
            <a:chOff x="0" y="0"/>
            <a:chExt cx="2560320" cy="631317"/>
          </a:xfrm>
        </p:grpSpPr>
        <p:sp>
          <p:nvSpPr>
            <p:cNvPr name="Freeform 699" id="699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700" id="700"/>
          <p:cNvGrpSpPr/>
          <p:nvPr/>
        </p:nvGrpSpPr>
        <p:grpSpPr>
          <a:xfrm rot="0">
            <a:off x="13647420" y="7038032"/>
            <a:ext cx="1920240" cy="480632"/>
            <a:chOff x="0" y="0"/>
            <a:chExt cx="2560320" cy="640842"/>
          </a:xfrm>
        </p:grpSpPr>
        <p:sp>
          <p:nvSpPr>
            <p:cNvPr name="Freeform 701" id="701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702" id="702"/>
          <p:cNvGrpSpPr/>
          <p:nvPr/>
        </p:nvGrpSpPr>
        <p:grpSpPr>
          <a:xfrm rot="0">
            <a:off x="13647420" y="7030888"/>
            <a:ext cx="1920240" cy="487775"/>
            <a:chOff x="0" y="0"/>
            <a:chExt cx="2560320" cy="650367"/>
          </a:xfrm>
        </p:grpSpPr>
        <p:sp>
          <p:nvSpPr>
            <p:cNvPr name="Freeform 703" id="703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704" id="704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0B98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</a:t>
              </a:r>
            </a:p>
          </p:txBody>
        </p:sp>
      </p:grpSp>
      <p:grpSp>
        <p:nvGrpSpPr>
          <p:cNvPr name="Group 705" id="705"/>
          <p:cNvGrpSpPr/>
          <p:nvPr/>
        </p:nvGrpSpPr>
        <p:grpSpPr>
          <a:xfrm rot="0">
            <a:off x="15841980" y="7326640"/>
            <a:ext cx="2125980" cy="109728"/>
            <a:chOff x="0" y="0"/>
            <a:chExt cx="2834640" cy="146304"/>
          </a:xfrm>
        </p:grpSpPr>
        <p:sp>
          <p:nvSpPr>
            <p:cNvPr name="Freeform 706" id="706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707" id="707"/>
          <p:cNvGrpSpPr/>
          <p:nvPr/>
        </p:nvGrpSpPr>
        <p:grpSpPr>
          <a:xfrm rot="0">
            <a:off x="15841980" y="7326640"/>
            <a:ext cx="960120" cy="109728"/>
            <a:chOff x="0" y="0"/>
            <a:chExt cx="1280160" cy="146304"/>
          </a:xfrm>
        </p:grpSpPr>
        <p:sp>
          <p:nvSpPr>
            <p:cNvPr name="Freeform 708" id="708"/>
            <p:cNvSpPr/>
            <p:nvPr/>
          </p:nvSpPr>
          <p:spPr>
            <a:xfrm flipH="false" flipV="false" rot="0">
              <a:off x="0" y="0"/>
              <a:ext cx="1280160" cy="146304"/>
            </a:xfrm>
            <a:custGeom>
              <a:avLst/>
              <a:gdLst/>
              <a:ahLst/>
              <a:cxnLst/>
              <a:rect r="r" b="b" t="t" l="l"/>
              <a:pathLst>
                <a:path h="14630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709" id="709"/>
          <p:cNvGrpSpPr/>
          <p:nvPr/>
        </p:nvGrpSpPr>
        <p:grpSpPr>
          <a:xfrm rot="0">
            <a:off x="15841980" y="6983740"/>
            <a:ext cx="2125980" cy="411385"/>
            <a:chOff x="0" y="0"/>
            <a:chExt cx="2834640" cy="548513"/>
          </a:xfrm>
        </p:grpSpPr>
        <p:sp>
          <p:nvSpPr>
            <p:cNvPr name="Freeform 710" id="710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711" id="711"/>
          <p:cNvGrpSpPr/>
          <p:nvPr/>
        </p:nvGrpSpPr>
        <p:grpSpPr>
          <a:xfrm rot="0">
            <a:off x="15841980" y="6976596"/>
            <a:ext cx="2125980" cy="418528"/>
            <a:chOff x="0" y="0"/>
            <a:chExt cx="2834640" cy="558038"/>
          </a:xfrm>
        </p:grpSpPr>
        <p:sp>
          <p:nvSpPr>
            <p:cNvPr name="Freeform 712" id="712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713" id="713"/>
          <p:cNvGrpSpPr/>
          <p:nvPr/>
        </p:nvGrpSpPr>
        <p:grpSpPr>
          <a:xfrm rot="0">
            <a:off x="15841980" y="6969452"/>
            <a:ext cx="2125980" cy="425710"/>
            <a:chOff x="0" y="0"/>
            <a:chExt cx="2834640" cy="567614"/>
          </a:xfrm>
        </p:grpSpPr>
        <p:sp>
          <p:nvSpPr>
            <p:cNvPr name="Freeform 714" id="714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715" id="715"/>
          <p:cNvGrpSpPr/>
          <p:nvPr/>
        </p:nvGrpSpPr>
        <p:grpSpPr>
          <a:xfrm rot="0">
            <a:off x="15841980" y="6962308"/>
            <a:ext cx="2125980" cy="432854"/>
            <a:chOff x="0" y="0"/>
            <a:chExt cx="2834640" cy="577139"/>
          </a:xfrm>
        </p:grpSpPr>
        <p:sp>
          <p:nvSpPr>
            <p:cNvPr name="Freeform 716" id="716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717" id="717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50</a:t>
              </a:r>
            </a:p>
          </p:txBody>
        </p:sp>
      </p:grpSp>
      <p:grpSp>
        <p:nvGrpSpPr>
          <p:cNvPr name="Group 718" id="718"/>
          <p:cNvGrpSpPr/>
          <p:nvPr/>
        </p:nvGrpSpPr>
        <p:grpSpPr>
          <a:xfrm rot="0">
            <a:off x="396002" y="7571765"/>
            <a:ext cx="17724596" cy="607028"/>
            <a:chOff x="0" y="0"/>
            <a:chExt cx="23632795" cy="809371"/>
          </a:xfrm>
        </p:grpSpPr>
        <p:sp>
          <p:nvSpPr>
            <p:cNvPr name="Freeform 719" id="719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EEF1F8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720" id="720"/>
          <p:cNvGrpSpPr/>
          <p:nvPr/>
        </p:nvGrpSpPr>
        <p:grpSpPr>
          <a:xfrm rot="0">
            <a:off x="480060" y="7669540"/>
            <a:ext cx="754380" cy="411480"/>
            <a:chOff x="0" y="0"/>
            <a:chExt cx="1005840" cy="548640"/>
          </a:xfrm>
        </p:grpSpPr>
        <p:sp>
          <p:nvSpPr>
            <p:cNvPr name="Freeform 721" id="721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722" id="722"/>
          <p:cNvGrpSpPr/>
          <p:nvPr/>
        </p:nvGrpSpPr>
        <p:grpSpPr>
          <a:xfrm rot="0">
            <a:off x="480060" y="7696972"/>
            <a:ext cx="754380" cy="373952"/>
            <a:chOff x="0" y="0"/>
            <a:chExt cx="1005840" cy="498602"/>
          </a:xfrm>
        </p:grpSpPr>
        <p:sp>
          <p:nvSpPr>
            <p:cNvPr name="Freeform 723" id="723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724" id="724"/>
          <p:cNvGrpSpPr/>
          <p:nvPr/>
        </p:nvGrpSpPr>
        <p:grpSpPr>
          <a:xfrm rot="0">
            <a:off x="480060" y="7689828"/>
            <a:ext cx="754380" cy="381095"/>
            <a:chOff x="0" y="0"/>
            <a:chExt cx="1005840" cy="508127"/>
          </a:xfrm>
        </p:grpSpPr>
        <p:sp>
          <p:nvSpPr>
            <p:cNvPr name="Freeform 725" id="725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726" id="726"/>
          <p:cNvGrpSpPr/>
          <p:nvPr/>
        </p:nvGrpSpPr>
        <p:grpSpPr>
          <a:xfrm rot="0">
            <a:off x="480060" y="7682684"/>
            <a:ext cx="754380" cy="388201"/>
            <a:chOff x="0" y="0"/>
            <a:chExt cx="1005840" cy="517601"/>
          </a:xfrm>
        </p:grpSpPr>
        <p:sp>
          <p:nvSpPr>
            <p:cNvPr name="Freeform 727" id="727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728" id="728"/>
          <p:cNvGrpSpPr/>
          <p:nvPr/>
        </p:nvGrpSpPr>
        <p:grpSpPr>
          <a:xfrm rot="0">
            <a:off x="480060" y="7675540"/>
            <a:ext cx="754380" cy="395345"/>
            <a:chOff x="0" y="0"/>
            <a:chExt cx="1005840" cy="527126"/>
          </a:xfrm>
        </p:grpSpPr>
        <p:sp>
          <p:nvSpPr>
            <p:cNvPr name="Freeform 729" id="729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730" id="730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#10</a:t>
              </a:r>
            </a:p>
          </p:txBody>
        </p:sp>
      </p:grpSp>
      <p:grpSp>
        <p:nvGrpSpPr>
          <p:cNvPr name="Group 731" id="731"/>
          <p:cNvGrpSpPr/>
          <p:nvPr/>
        </p:nvGrpSpPr>
        <p:grpSpPr>
          <a:xfrm rot="0">
            <a:off x="1440180" y="7655824"/>
            <a:ext cx="3291840" cy="466344"/>
            <a:chOff x="0" y="0"/>
            <a:chExt cx="4389120" cy="621792"/>
          </a:xfrm>
        </p:grpSpPr>
        <p:sp>
          <p:nvSpPr>
            <p:cNvPr name="Freeform 732" id="732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733" id="733"/>
          <p:cNvGrpSpPr/>
          <p:nvPr/>
        </p:nvGrpSpPr>
        <p:grpSpPr>
          <a:xfrm rot="0">
            <a:off x="1440180" y="7648680"/>
            <a:ext cx="3291840" cy="473488"/>
            <a:chOff x="0" y="0"/>
            <a:chExt cx="4389120" cy="631317"/>
          </a:xfrm>
        </p:grpSpPr>
        <p:sp>
          <p:nvSpPr>
            <p:cNvPr name="Freeform 734" id="734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735" id="735"/>
          <p:cNvGrpSpPr/>
          <p:nvPr/>
        </p:nvGrpSpPr>
        <p:grpSpPr>
          <a:xfrm rot="0">
            <a:off x="1440180" y="7641536"/>
            <a:ext cx="3291840" cy="480632"/>
            <a:chOff x="0" y="0"/>
            <a:chExt cx="4389120" cy="640842"/>
          </a:xfrm>
        </p:grpSpPr>
        <p:sp>
          <p:nvSpPr>
            <p:cNvPr name="Freeform 736" id="736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737" id="737"/>
          <p:cNvGrpSpPr/>
          <p:nvPr/>
        </p:nvGrpSpPr>
        <p:grpSpPr>
          <a:xfrm rot="0">
            <a:off x="1440180" y="7634392"/>
            <a:ext cx="3291840" cy="487775"/>
            <a:chOff x="0" y="0"/>
            <a:chExt cx="4389120" cy="650367"/>
          </a:xfrm>
        </p:grpSpPr>
        <p:sp>
          <p:nvSpPr>
            <p:cNvPr name="Freeform 738" id="738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739" id="739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Fathom</a:t>
              </a:r>
            </a:p>
          </p:txBody>
        </p:sp>
      </p:grpSp>
      <p:grpSp>
        <p:nvGrpSpPr>
          <p:cNvPr name="Group 740" id="740"/>
          <p:cNvGrpSpPr/>
          <p:nvPr/>
        </p:nvGrpSpPr>
        <p:grpSpPr>
          <a:xfrm rot="0">
            <a:off x="5006340" y="7655824"/>
            <a:ext cx="2606040" cy="466344"/>
            <a:chOff x="0" y="0"/>
            <a:chExt cx="3474720" cy="621792"/>
          </a:xfrm>
        </p:grpSpPr>
        <p:sp>
          <p:nvSpPr>
            <p:cNvPr name="Freeform 741" id="74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42" id="742"/>
          <p:cNvGrpSpPr/>
          <p:nvPr/>
        </p:nvGrpSpPr>
        <p:grpSpPr>
          <a:xfrm rot="0">
            <a:off x="5006340" y="7655824"/>
            <a:ext cx="2606040" cy="466344"/>
            <a:chOff x="0" y="0"/>
            <a:chExt cx="3474720" cy="621792"/>
          </a:xfrm>
        </p:grpSpPr>
        <p:sp>
          <p:nvSpPr>
            <p:cNvPr name="Freeform 743" id="74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44" id="744"/>
          <p:cNvGrpSpPr/>
          <p:nvPr/>
        </p:nvGrpSpPr>
        <p:grpSpPr>
          <a:xfrm rot="0">
            <a:off x="5006340" y="7655824"/>
            <a:ext cx="2606040" cy="466344"/>
            <a:chOff x="0" y="0"/>
            <a:chExt cx="3474720" cy="621792"/>
          </a:xfrm>
        </p:grpSpPr>
        <p:sp>
          <p:nvSpPr>
            <p:cNvPr name="Freeform 745" id="74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46" id="746"/>
          <p:cNvGrpSpPr/>
          <p:nvPr/>
        </p:nvGrpSpPr>
        <p:grpSpPr>
          <a:xfrm rot="0">
            <a:off x="5006340" y="7655824"/>
            <a:ext cx="2606040" cy="466344"/>
            <a:chOff x="0" y="0"/>
            <a:chExt cx="3474720" cy="621792"/>
          </a:xfrm>
        </p:grpSpPr>
        <p:sp>
          <p:nvSpPr>
            <p:cNvPr name="Freeform 747" id="74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748" id="748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Design-Led Social</a:t>
              </a:r>
            </a:p>
          </p:txBody>
        </p:sp>
      </p:grpSp>
      <p:grpSp>
        <p:nvGrpSpPr>
          <p:cNvPr name="Group 749" id="749"/>
          <p:cNvGrpSpPr/>
          <p:nvPr/>
        </p:nvGrpSpPr>
        <p:grpSpPr>
          <a:xfrm rot="0">
            <a:off x="7886700" y="7655824"/>
            <a:ext cx="2606040" cy="466344"/>
            <a:chOff x="0" y="0"/>
            <a:chExt cx="3474720" cy="621792"/>
          </a:xfrm>
        </p:grpSpPr>
        <p:sp>
          <p:nvSpPr>
            <p:cNvPr name="Freeform 750" id="75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51" id="751"/>
          <p:cNvGrpSpPr/>
          <p:nvPr/>
        </p:nvGrpSpPr>
        <p:grpSpPr>
          <a:xfrm rot="0">
            <a:off x="7886700" y="7655824"/>
            <a:ext cx="2606040" cy="466344"/>
            <a:chOff x="0" y="0"/>
            <a:chExt cx="3474720" cy="621792"/>
          </a:xfrm>
        </p:grpSpPr>
        <p:sp>
          <p:nvSpPr>
            <p:cNvPr name="Freeform 752" id="75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53" id="753"/>
          <p:cNvGrpSpPr/>
          <p:nvPr/>
        </p:nvGrpSpPr>
        <p:grpSpPr>
          <a:xfrm rot="0">
            <a:off x="7886700" y="7655824"/>
            <a:ext cx="2606040" cy="466344"/>
            <a:chOff x="0" y="0"/>
            <a:chExt cx="3474720" cy="621792"/>
          </a:xfrm>
        </p:grpSpPr>
        <p:sp>
          <p:nvSpPr>
            <p:cNvPr name="Freeform 754" id="75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55" id="755"/>
          <p:cNvGrpSpPr/>
          <p:nvPr/>
        </p:nvGrpSpPr>
        <p:grpSpPr>
          <a:xfrm rot="0">
            <a:off x="7886700" y="7655824"/>
            <a:ext cx="2606040" cy="466344"/>
            <a:chOff x="0" y="0"/>
            <a:chExt cx="3474720" cy="621792"/>
          </a:xfrm>
        </p:grpSpPr>
        <p:sp>
          <p:nvSpPr>
            <p:cNvPr name="Freeform 756" id="75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757" id="757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758" id="758"/>
          <p:cNvGrpSpPr/>
          <p:nvPr/>
        </p:nvGrpSpPr>
        <p:grpSpPr>
          <a:xfrm rot="0">
            <a:off x="10767060" y="7655824"/>
            <a:ext cx="2606040" cy="466344"/>
            <a:chOff x="0" y="0"/>
            <a:chExt cx="3474720" cy="621792"/>
          </a:xfrm>
        </p:grpSpPr>
        <p:sp>
          <p:nvSpPr>
            <p:cNvPr name="Freeform 759" id="75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60" id="760"/>
          <p:cNvGrpSpPr/>
          <p:nvPr/>
        </p:nvGrpSpPr>
        <p:grpSpPr>
          <a:xfrm rot="0">
            <a:off x="10767060" y="7655824"/>
            <a:ext cx="2606040" cy="466344"/>
            <a:chOff x="0" y="0"/>
            <a:chExt cx="3474720" cy="621792"/>
          </a:xfrm>
        </p:grpSpPr>
        <p:sp>
          <p:nvSpPr>
            <p:cNvPr name="Freeform 761" id="76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62" id="762"/>
          <p:cNvGrpSpPr/>
          <p:nvPr/>
        </p:nvGrpSpPr>
        <p:grpSpPr>
          <a:xfrm rot="0">
            <a:off x="10767060" y="7655824"/>
            <a:ext cx="2606040" cy="466344"/>
            <a:chOff x="0" y="0"/>
            <a:chExt cx="3474720" cy="621792"/>
          </a:xfrm>
        </p:grpSpPr>
        <p:sp>
          <p:nvSpPr>
            <p:cNvPr name="Freeform 763" id="76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764" id="764"/>
          <p:cNvGrpSpPr/>
          <p:nvPr/>
        </p:nvGrpSpPr>
        <p:grpSpPr>
          <a:xfrm rot="0">
            <a:off x="10767060" y="7655824"/>
            <a:ext cx="2606040" cy="466344"/>
            <a:chOff x="0" y="0"/>
            <a:chExt cx="3474720" cy="621792"/>
          </a:xfrm>
        </p:grpSpPr>
        <p:sp>
          <p:nvSpPr>
            <p:cNvPr name="Freeform 765" id="76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766" id="766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4,755 / $12,602</a:t>
              </a:r>
            </a:p>
          </p:txBody>
        </p:sp>
      </p:grpSp>
      <p:grpSp>
        <p:nvGrpSpPr>
          <p:cNvPr name="Group 767" id="767"/>
          <p:cNvGrpSpPr/>
          <p:nvPr/>
        </p:nvGrpSpPr>
        <p:grpSpPr>
          <a:xfrm rot="0">
            <a:off x="13647420" y="7655824"/>
            <a:ext cx="1920240" cy="466344"/>
            <a:chOff x="0" y="0"/>
            <a:chExt cx="2560320" cy="621792"/>
          </a:xfrm>
        </p:grpSpPr>
        <p:sp>
          <p:nvSpPr>
            <p:cNvPr name="Freeform 768" id="768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769" id="769"/>
          <p:cNvGrpSpPr/>
          <p:nvPr/>
        </p:nvGrpSpPr>
        <p:grpSpPr>
          <a:xfrm rot="0">
            <a:off x="13647420" y="7648680"/>
            <a:ext cx="1920240" cy="473488"/>
            <a:chOff x="0" y="0"/>
            <a:chExt cx="2560320" cy="631317"/>
          </a:xfrm>
        </p:grpSpPr>
        <p:sp>
          <p:nvSpPr>
            <p:cNvPr name="Freeform 770" id="770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771" id="771"/>
          <p:cNvGrpSpPr/>
          <p:nvPr/>
        </p:nvGrpSpPr>
        <p:grpSpPr>
          <a:xfrm rot="0">
            <a:off x="13647420" y="7641536"/>
            <a:ext cx="1920240" cy="480632"/>
            <a:chOff x="0" y="0"/>
            <a:chExt cx="2560320" cy="640842"/>
          </a:xfrm>
        </p:grpSpPr>
        <p:sp>
          <p:nvSpPr>
            <p:cNvPr name="Freeform 772" id="772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773" id="773"/>
          <p:cNvGrpSpPr/>
          <p:nvPr/>
        </p:nvGrpSpPr>
        <p:grpSpPr>
          <a:xfrm rot="0">
            <a:off x="13647420" y="7634392"/>
            <a:ext cx="1920240" cy="487775"/>
            <a:chOff x="0" y="0"/>
            <a:chExt cx="2560320" cy="650367"/>
          </a:xfrm>
        </p:grpSpPr>
        <p:sp>
          <p:nvSpPr>
            <p:cNvPr name="Freeform 774" id="774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775" id="775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2C3E5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776" id="776"/>
          <p:cNvGrpSpPr/>
          <p:nvPr/>
        </p:nvGrpSpPr>
        <p:grpSpPr>
          <a:xfrm rot="0">
            <a:off x="15841980" y="7930144"/>
            <a:ext cx="2125980" cy="109728"/>
            <a:chOff x="0" y="0"/>
            <a:chExt cx="2834640" cy="146304"/>
          </a:xfrm>
        </p:grpSpPr>
        <p:sp>
          <p:nvSpPr>
            <p:cNvPr name="Freeform 777" id="777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778" id="778"/>
          <p:cNvGrpSpPr/>
          <p:nvPr/>
        </p:nvGrpSpPr>
        <p:grpSpPr>
          <a:xfrm rot="0">
            <a:off x="15841980" y="7930144"/>
            <a:ext cx="940880" cy="109728"/>
            <a:chOff x="0" y="0"/>
            <a:chExt cx="1254506" cy="146304"/>
          </a:xfrm>
        </p:grpSpPr>
        <p:sp>
          <p:nvSpPr>
            <p:cNvPr name="Freeform 779" id="779"/>
            <p:cNvSpPr/>
            <p:nvPr/>
          </p:nvSpPr>
          <p:spPr>
            <a:xfrm flipH="false" flipV="false" rot="0">
              <a:off x="0" y="0"/>
              <a:ext cx="1254506" cy="146304"/>
            </a:xfrm>
            <a:custGeom>
              <a:avLst/>
              <a:gdLst/>
              <a:ahLst/>
              <a:cxnLst/>
              <a:rect r="r" b="b" t="t" l="l"/>
              <a:pathLst>
                <a:path h="146304" w="1254506">
                  <a:moveTo>
                    <a:pt x="0" y="0"/>
                  </a:moveTo>
                  <a:lnTo>
                    <a:pt x="1254506" y="0"/>
                  </a:lnTo>
                  <a:lnTo>
                    <a:pt x="1254506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780" id="780"/>
          <p:cNvGrpSpPr/>
          <p:nvPr/>
        </p:nvGrpSpPr>
        <p:grpSpPr>
          <a:xfrm rot="0">
            <a:off x="15841980" y="7587244"/>
            <a:ext cx="2125980" cy="411385"/>
            <a:chOff x="0" y="0"/>
            <a:chExt cx="2834640" cy="548513"/>
          </a:xfrm>
        </p:grpSpPr>
        <p:sp>
          <p:nvSpPr>
            <p:cNvPr name="Freeform 781" id="781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782" id="782"/>
          <p:cNvGrpSpPr/>
          <p:nvPr/>
        </p:nvGrpSpPr>
        <p:grpSpPr>
          <a:xfrm rot="0">
            <a:off x="15841980" y="7580100"/>
            <a:ext cx="2125980" cy="418528"/>
            <a:chOff x="0" y="0"/>
            <a:chExt cx="2834640" cy="558038"/>
          </a:xfrm>
        </p:grpSpPr>
        <p:sp>
          <p:nvSpPr>
            <p:cNvPr name="Freeform 783" id="783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784" id="784"/>
          <p:cNvGrpSpPr/>
          <p:nvPr/>
        </p:nvGrpSpPr>
        <p:grpSpPr>
          <a:xfrm rot="0">
            <a:off x="15841980" y="7572956"/>
            <a:ext cx="2125980" cy="425710"/>
            <a:chOff x="0" y="0"/>
            <a:chExt cx="2834640" cy="567614"/>
          </a:xfrm>
        </p:grpSpPr>
        <p:sp>
          <p:nvSpPr>
            <p:cNvPr name="Freeform 785" id="785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786" id="786"/>
          <p:cNvGrpSpPr/>
          <p:nvPr/>
        </p:nvGrpSpPr>
        <p:grpSpPr>
          <a:xfrm rot="0">
            <a:off x="15841980" y="7565812"/>
            <a:ext cx="2125980" cy="432854"/>
            <a:chOff x="0" y="0"/>
            <a:chExt cx="2834640" cy="577139"/>
          </a:xfrm>
        </p:grpSpPr>
        <p:sp>
          <p:nvSpPr>
            <p:cNvPr name="Freeform 787" id="787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788" id="788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49</a:t>
              </a:r>
            </a:p>
          </p:txBody>
        </p:sp>
      </p:grpSp>
      <p:grpSp>
        <p:nvGrpSpPr>
          <p:cNvPr name="Group 789" id="789"/>
          <p:cNvGrpSpPr/>
          <p:nvPr/>
        </p:nvGrpSpPr>
        <p:grpSpPr>
          <a:xfrm rot="0">
            <a:off x="396002" y="8175269"/>
            <a:ext cx="17724596" cy="607028"/>
            <a:chOff x="0" y="0"/>
            <a:chExt cx="23632795" cy="809371"/>
          </a:xfrm>
        </p:grpSpPr>
        <p:sp>
          <p:nvSpPr>
            <p:cNvPr name="Freeform 790" id="790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791" id="791"/>
          <p:cNvGrpSpPr/>
          <p:nvPr/>
        </p:nvGrpSpPr>
        <p:grpSpPr>
          <a:xfrm rot="0">
            <a:off x="480060" y="8273044"/>
            <a:ext cx="754380" cy="411480"/>
            <a:chOff x="0" y="0"/>
            <a:chExt cx="1005840" cy="548640"/>
          </a:xfrm>
        </p:grpSpPr>
        <p:sp>
          <p:nvSpPr>
            <p:cNvPr name="Freeform 792" id="792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793" id="793"/>
          <p:cNvGrpSpPr/>
          <p:nvPr/>
        </p:nvGrpSpPr>
        <p:grpSpPr>
          <a:xfrm rot="0">
            <a:off x="480060" y="8300476"/>
            <a:ext cx="754380" cy="373952"/>
            <a:chOff x="0" y="0"/>
            <a:chExt cx="1005840" cy="498602"/>
          </a:xfrm>
        </p:grpSpPr>
        <p:sp>
          <p:nvSpPr>
            <p:cNvPr name="Freeform 794" id="794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795" id="795"/>
          <p:cNvGrpSpPr/>
          <p:nvPr/>
        </p:nvGrpSpPr>
        <p:grpSpPr>
          <a:xfrm rot="0">
            <a:off x="480060" y="8293332"/>
            <a:ext cx="754380" cy="381095"/>
            <a:chOff x="0" y="0"/>
            <a:chExt cx="1005840" cy="508127"/>
          </a:xfrm>
        </p:grpSpPr>
        <p:sp>
          <p:nvSpPr>
            <p:cNvPr name="Freeform 796" id="796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797" id="797"/>
          <p:cNvGrpSpPr/>
          <p:nvPr/>
        </p:nvGrpSpPr>
        <p:grpSpPr>
          <a:xfrm rot="0">
            <a:off x="480060" y="8286188"/>
            <a:ext cx="754380" cy="388201"/>
            <a:chOff x="0" y="0"/>
            <a:chExt cx="1005840" cy="517601"/>
          </a:xfrm>
        </p:grpSpPr>
        <p:sp>
          <p:nvSpPr>
            <p:cNvPr name="Freeform 798" id="798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799" id="799"/>
          <p:cNvGrpSpPr/>
          <p:nvPr/>
        </p:nvGrpSpPr>
        <p:grpSpPr>
          <a:xfrm rot="0">
            <a:off x="480060" y="8279044"/>
            <a:ext cx="754380" cy="395345"/>
            <a:chOff x="0" y="0"/>
            <a:chExt cx="1005840" cy="527126"/>
          </a:xfrm>
        </p:grpSpPr>
        <p:sp>
          <p:nvSpPr>
            <p:cNvPr name="Freeform 800" id="800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801" id="801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#11</a:t>
              </a:r>
            </a:p>
          </p:txBody>
        </p:sp>
      </p:grpSp>
      <p:grpSp>
        <p:nvGrpSpPr>
          <p:cNvPr name="Group 802" id="802"/>
          <p:cNvGrpSpPr/>
          <p:nvPr/>
        </p:nvGrpSpPr>
        <p:grpSpPr>
          <a:xfrm rot="0">
            <a:off x="1440180" y="8259328"/>
            <a:ext cx="3291840" cy="466344"/>
            <a:chOff x="0" y="0"/>
            <a:chExt cx="4389120" cy="621792"/>
          </a:xfrm>
        </p:grpSpPr>
        <p:sp>
          <p:nvSpPr>
            <p:cNvPr name="Freeform 803" id="803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804" id="804"/>
          <p:cNvGrpSpPr/>
          <p:nvPr/>
        </p:nvGrpSpPr>
        <p:grpSpPr>
          <a:xfrm rot="0">
            <a:off x="1440180" y="8252184"/>
            <a:ext cx="3291840" cy="473488"/>
            <a:chOff x="0" y="0"/>
            <a:chExt cx="4389120" cy="631317"/>
          </a:xfrm>
        </p:grpSpPr>
        <p:sp>
          <p:nvSpPr>
            <p:cNvPr name="Freeform 805" id="805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806" id="806"/>
          <p:cNvGrpSpPr/>
          <p:nvPr/>
        </p:nvGrpSpPr>
        <p:grpSpPr>
          <a:xfrm rot="0">
            <a:off x="1440180" y="8245040"/>
            <a:ext cx="3291840" cy="480632"/>
            <a:chOff x="0" y="0"/>
            <a:chExt cx="4389120" cy="640842"/>
          </a:xfrm>
        </p:grpSpPr>
        <p:sp>
          <p:nvSpPr>
            <p:cNvPr name="Freeform 807" id="807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808" id="808"/>
          <p:cNvGrpSpPr/>
          <p:nvPr/>
        </p:nvGrpSpPr>
        <p:grpSpPr>
          <a:xfrm rot="0">
            <a:off x="1440180" y="8237896"/>
            <a:ext cx="3291840" cy="487775"/>
            <a:chOff x="0" y="0"/>
            <a:chExt cx="4389120" cy="650367"/>
          </a:xfrm>
        </p:grpSpPr>
        <p:sp>
          <p:nvSpPr>
            <p:cNvPr name="Freeform 809" id="809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810" id="810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GOamplify</a:t>
              </a:r>
            </a:p>
          </p:txBody>
        </p:sp>
      </p:grpSp>
      <p:grpSp>
        <p:nvGrpSpPr>
          <p:cNvPr name="Group 811" id="811"/>
          <p:cNvGrpSpPr/>
          <p:nvPr/>
        </p:nvGrpSpPr>
        <p:grpSpPr>
          <a:xfrm rot="0">
            <a:off x="5006340" y="8259328"/>
            <a:ext cx="2606040" cy="466344"/>
            <a:chOff x="0" y="0"/>
            <a:chExt cx="3474720" cy="621792"/>
          </a:xfrm>
        </p:grpSpPr>
        <p:sp>
          <p:nvSpPr>
            <p:cNvPr name="Freeform 812" id="81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13" id="813"/>
          <p:cNvGrpSpPr/>
          <p:nvPr/>
        </p:nvGrpSpPr>
        <p:grpSpPr>
          <a:xfrm rot="0">
            <a:off x="5006340" y="8259328"/>
            <a:ext cx="2606040" cy="466344"/>
            <a:chOff x="0" y="0"/>
            <a:chExt cx="3474720" cy="621792"/>
          </a:xfrm>
        </p:grpSpPr>
        <p:sp>
          <p:nvSpPr>
            <p:cNvPr name="Freeform 814" id="81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15" id="815"/>
          <p:cNvGrpSpPr/>
          <p:nvPr/>
        </p:nvGrpSpPr>
        <p:grpSpPr>
          <a:xfrm rot="0">
            <a:off x="5006340" y="8259328"/>
            <a:ext cx="2606040" cy="466344"/>
            <a:chOff x="0" y="0"/>
            <a:chExt cx="3474720" cy="621792"/>
          </a:xfrm>
        </p:grpSpPr>
        <p:sp>
          <p:nvSpPr>
            <p:cNvPr name="Freeform 816" id="81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17" id="817"/>
          <p:cNvGrpSpPr/>
          <p:nvPr/>
        </p:nvGrpSpPr>
        <p:grpSpPr>
          <a:xfrm rot="0">
            <a:off x="5006340" y="8259328"/>
            <a:ext cx="2606040" cy="466344"/>
            <a:chOff x="0" y="0"/>
            <a:chExt cx="3474720" cy="621792"/>
          </a:xfrm>
        </p:grpSpPr>
        <p:sp>
          <p:nvSpPr>
            <p:cNvPr name="Freeform 818" id="81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819" id="819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Digital &amp; Performance</a:t>
              </a:r>
            </a:p>
          </p:txBody>
        </p:sp>
      </p:grpSp>
      <p:grpSp>
        <p:nvGrpSpPr>
          <p:cNvPr name="Group 820" id="820"/>
          <p:cNvGrpSpPr/>
          <p:nvPr/>
        </p:nvGrpSpPr>
        <p:grpSpPr>
          <a:xfrm rot="0">
            <a:off x="7886700" y="8259328"/>
            <a:ext cx="2606040" cy="466344"/>
            <a:chOff x="0" y="0"/>
            <a:chExt cx="3474720" cy="621792"/>
          </a:xfrm>
        </p:grpSpPr>
        <p:sp>
          <p:nvSpPr>
            <p:cNvPr name="Freeform 821" id="82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22" id="822"/>
          <p:cNvGrpSpPr/>
          <p:nvPr/>
        </p:nvGrpSpPr>
        <p:grpSpPr>
          <a:xfrm rot="0">
            <a:off x="7886700" y="8259328"/>
            <a:ext cx="2606040" cy="466344"/>
            <a:chOff x="0" y="0"/>
            <a:chExt cx="3474720" cy="621792"/>
          </a:xfrm>
        </p:grpSpPr>
        <p:sp>
          <p:nvSpPr>
            <p:cNvPr name="Freeform 823" id="82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24" id="824"/>
          <p:cNvGrpSpPr/>
          <p:nvPr/>
        </p:nvGrpSpPr>
        <p:grpSpPr>
          <a:xfrm rot="0">
            <a:off x="7886700" y="8259328"/>
            <a:ext cx="2606040" cy="466344"/>
            <a:chOff x="0" y="0"/>
            <a:chExt cx="3474720" cy="621792"/>
          </a:xfrm>
        </p:grpSpPr>
        <p:sp>
          <p:nvSpPr>
            <p:cNvPr name="Freeform 825" id="82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26" id="826"/>
          <p:cNvGrpSpPr/>
          <p:nvPr/>
        </p:nvGrpSpPr>
        <p:grpSpPr>
          <a:xfrm rot="0">
            <a:off x="7886700" y="8259328"/>
            <a:ext cx="2606040" cy="466344"/>
            <a:chOff x="0" y="0"/>
            <a:chExt cx="3474720" cy="621792"/>
          </a:xfrm>
        </p:grpSpPr>
        <p:sp>
          <p:nvSpPr>
            <p:cNvPr name="Freeform 827" id="82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828" id="828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Bahrain</a:t>
              </a:r>
            </a:p>
          </p:txBody>
        </p:sp>
      </p:grpSp>
      <p:grpSp>
        <p:nvGrpSpPr>
          <p:cNvPr name="Group 829" id="829"/>
          <p:cNvGrpSpPr/>
          <p:nvPr/>
        </p:nvGrpSpPr>
        <p:grpSpPr>
          <a:xfrm rot="0">
            <a:off x="10767060" y="8259328"/>
            <a:ext cx="2606040" cy="466344"/>
            <a:chOff x="0" y="0"/>
            <a:chExt cx="3474720" cy="621792"/>
          </a:xfrm>
        </p:grpSpPr>
        <p:sp>
          <p:nvSpPr>
            <p:cNvPr name="Freeform 830" id="830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31" id="831"/>
          <p:cNvGrpSpPr/>
          <p:nvPr/>
        </p:nvGrpSpPr>
        <p:grpSpPr>
          <a:xfrm rot="0">
            <a:off x="10767060" y="8259328"/>
            <a:ext cx="2606040" cy="466344"/>
            <a:chOff x="0" y="0"/>
            <a:chExt cx="3474720" cy="621792"/>
          </a:xfrm>
        </p:grpSpPr>
        <p:sp>
          <p:nvSpPr>
            <p:cNvPr name="Freeform 832" id="83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33" id="833"/>
          <p:cNvGrpSpPr/>
          <p:nvPr/>
        </p:nvGrpSpPr>
        <p:grpSpPr>
          <a:xfrm rot="0">
            <a:off x="10767060" y="8259328"/>
            <a:ext cx="2606040" cy="466344"/>
            <a:chOff x="0" y="0"/>
            <a:chExt cx="3474720" cy="621792"/>
          </a:xfrm>
        </p:grpSpPr>
        <p:sp>
          <p:nvSpPr>
            <p:cNvPr name="Freeform 834" id="83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35" id="835"/>
          <p:cNvGrpSpPr/>
          <p:nvPr/>
        </p:nvGrpSpPr>
        <p:grpSpPr>
          <a:xfrm rot="0">
            <a:off x="10767060" y="8259328"/>
            <a:ext cx="2606040" cy="466344"/>
            <a:chOff x="0" y="0"/>
            <a:chExt cx="3474720" cy="621792"/>
          </a:xfrm>
        </p:grpSpPr>
        <p:sp>
          <p:nvSpPr>
            <p:cNvPr name="Freeform 836" id="83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837" id="837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6,000+ / $15,900+</a:t>
              </a:r>
            </a:p>
          </p:txBody>
        </p:sp>
      </p:grpSp>
      <p:grpSp>
        <p:nvGrpSpPr>
          <p:cNvPr name="Group 838" id="838"/>
          <p:cNvGrpSpPr/>
          <p:nvPr/>
        </p:nvGrpSpPr>
        <p:grpSpPr>
          <a:xfrm rot="0">
            <a:off x="13647420" y="8259328"/>
            <a:ext cx="1920240" cy="466344"/>
            <a:chOff x="0" y="0"/>
            <a:chExt cx="2560320" cy="621792"/>
          </a:xfrm>
        </p:grpSpPr>
        <p:sp>
          <p:nvSpPr>
            <p:cNvPr name="Freeform 839" id="839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840" id="840"/>
          <p:cNvGrpSpPr/>
          <p:nvPr/>
        </p:nvGrpSpPr>
        <p:grpSpPr>
          <a:xfrm rot="0">
            <a:off x="13647420" y="8252184"/>
            <a:ext cx="1920240" cy="473488"/>
            <a:chOff x="0" y="0"/>
            <a:chExt cx="2560320" cy="631317"/>
          </a:xfrm>
        </p:grpSpPr>
        <p:sp>
          <p:nvSpPr>
            <p:cNvPr name="Freeform 841" id="841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842" id="842"/>
          <p:cNvGrpSpPr/>
          <p:nvPr/>
        </p:nvGrpSpPr>
        <p:grpSpPr>
          <a:xfrm rot="0">
            <a:off x="13647420" y="8245040"/>
            <a:ext cx="1920240" cy="480632"/>
            <a:chOff x="0" y="0"/>
            <a:chExt cx="2560320" cy="640842"/>
          </a:xfrm>
        </p:grpSpPr>
        <p:sp>
          <p:nvSpPr>
            <p:cNvPr name="Freeform 843" id="843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844" id="844"/>
          <p:cNvGrpSpPr/>
          <p:nvPr/>
        </p:nvGrpSpPr>
        <p:grpSpPr>
          <a:xfrm rot="0">
            <a:off x="13647420" y="8237896"/>
            <a:ext cx="1920240" cy="487775"/>
            <a:chOff x="0" y="0"/>
            <a:chExt cx="2560320" cy="650367"/>
          </a:xfrm>
        </p:grpSpPr>
        <p:sp>
          <p:nvSpPr>
            <p:cNvPr name="Freeform 845" id="845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846" id="846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2C3E5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</a:t>
              </a:r>
            </a:p>
          </p:txBody>
        </p:sp>
      </p:grpSp>
      <p:grpSp>
        <p:nvGrpSpPr>
          <p:cNvPr name="Group 847" id="847"/>
          <p:cNvGrpSpPr/>
          <p:nvPr/>
        </p:nvGrpSpPr>
        <p:grpSpPr>
          <a:xfrm rot="0">
            <a:off x="15841980" y="8533648"/>
            <a:ext cx="2125980" cy="109728"/>
            <a:chOff x="0" y="0"/>
            <a:chExt cx="2834640" cy="146304"/>
          </a:xfrm>
        </p:grpSpPr>
        <p:sp>
          <p:nvSpPr>
            <p:cNvPr name="Freeform 848" id="848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849" id="849"/>
          <p:cNvGrpSpPr/>
          <p:nvPr/>
        </p:nvGrpSpPr>
        <p:grpSpPr>
          <a:xfrm rot="0">
            <a:off x="15841980" y="8533648"/>
            <a:ext cx="864108" cy="109728"/>
            <a:chOff x="0" y="0"/>
            <a:chExt cx="1152144" cy="146304"/>
          </a:xfrm>
        </p:grpSpPr>
        <p:sp>
          <p:nvSpPr>
            <p:cNvPr name="Freeform 850" id="850"/>
            <p:cNvSpPr/>
            <p:nvPr/>
          </p:nvSpPr>
          <p:spPr>
            <a:xfrm flipH="false" flipV="false" rot="0">
              <a:off x="0" y="0"/>
              <a:ext cx="1152144" cy="146304"/>
            </a:xfrm>
            <a:custGeom>
              <a:avLst/>
              <a:gdLst/>
              <a:ahLst/>
              <a:cxnLst/>
              <a:rect r="r" b="b" t="t" l="l"/>
              <a:pathLst>
                <a:path h="146304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851" id="851"/>
          <p:cNvGrpSpPr/>
          <p:nvPr/>
        </p:nvGrpSpPr>
        <p:grpSpPr>
          <a:xfrm rot="0">
            <a:off x="15841980" y="8190748"/>
            <a:ext cx="2125980" cy="411385"/>
            <a:chOff x="0" y="0"/>
            <a:chExt cx="2834640" cy="548513"/>
          </a:xfrm>
        </p:grpSpPr>
        <p:sp>
          <p:nvSpPr>
            <p:cNvPr name="Freeform 852" id="852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853" id="853"/>
          <p:cNvGrpSpPr/>
          <p:nvPr/>
        </p:nvGrpSpPr>
        <p:grpSpPr>
          <a:xfrm rot="0">
            <a:off x="15841980" y="8183604"/>
            <a:ext cx="2125980" cy="418528"/>
            <a:chOff x="0" y="0"/>
            <a:chExt cx="2834640" cy="558038"/>
          </a:xfrm>
        </p:grpSpPr>
        <p:sp>
          <p:nvSpPr>
            <p:cNvPr name="Freeform 854" id="854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855" id="855"/>
          <p:cNvGrpSpPr/>
          <p:nvPr/>
        </p:nvGrpSpPr>
        <p:grpSpPr>
          <a:xfrm rot="0">
            <a:off x="15841980" y="8176460"/>
            <a:ext cx="2125980" cy="425710"/>
            <a:chOff x="0" y="0"/>
            <a:chExt cx="2834640" cy="567614"/>
          </a:xfrm>
        </p:grpSpPr>
        <p:sp>
          <p:nvSpPr>
            <p:cNvPr name="Freeform 856" id="856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857" id="857"/>
          <p:cNvGrpSpPr/>
          <p:nvPr/>
        </p:nvGrpSpPr>
        <p:grpSpPr>
          <a:xfrm rot="0">
            <a:off x="15841980" y="8169316"/>
            <a:ext cx="2125980" cy="432854"/>
            <a:chOff x="0" y="0"/>
            <a:chExt cx="2834640" cy="577139"/>
          </a:xfrm>
        </p:grpSpPr>
        <p:sp>
          <p:nvSpPr>
            <p:cNvPr name="Freeform 858" id="858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859" id="859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45</a:t>
              </a:r>
            </a:p>
          </p:txBody>
        </p:sp>
      </p:grpSp>
      <p:grpSp>
        <p:nvGrpSpPr>
          <p:cNvPr name="Group 860" id="860"/>
          <p:cNvGrpSpPr/>
          <p:nvPr/>
        </p:nvGrpSpPr>
        <p:grpSpPr>
          <a:xfrm rot="0">
            <a:off x="396002" y="8778773"/>
            <a:ext cx="17724596" cy="607028"/>
            <a:chOff x="0" y="0"/>
            <a:chExt cx="23632795" cy="809371"/>
          </a:xfrm>
        </p:grpSpPr>
        <p:sp>
          <p:nvSpPr>
            <p:cNvPr name="Freeform 861" id="861"/>
            <p:cNvSpPr/>
            <p:nvPr/>
          </p:nvSpPr>
          <p:spPr>
            <a:xfrm flipH="false" flipV="false" rot="0">
              <a:off x="0" y="0"/>
              <a:ext cx="23632795" cy="809371"/>
            </a:xfrm>
            <a:custGeom>
              <a:avLst/>
              <a:gdLst/>
              <a:ahLst/>
              <a:cxnLst/>
              <a:rect r="r" b="b" t="t" l="l"/>
              <a:pathLst>
                <a:path h="809371" w="23632795">
                  <a:moveTo>
                    <a:pt x="0" y="0"/>
                  </a:moveTo>
                  <a:lnTo>
                    <a:pt x="23632795" y="0"/>
                  </a:lnTo>
                  <a:lnTo>
                    <a:pt x="23632795" y="809371"/>
                  </a:lnTo>
                  <a:lnTo>
                    <a:pt x="0" y="809371"/>
                  </a:lnTo>
                  <a:close/>
                </a:path>
              </a:pathLst>
            </a:custGeom>
            <a:solidFill>
              <a:srgbClr val="EEF1F8"/>
            </a:solidFill>
            <a:ln w="9525" cap="sq">
              <a:solidFill>
                <a:srgbClr val="DDE2EE"/>
              </a:solidFill>
              <a:prstDash val="solid"/>
              <a:miter/>
            </a:ln>
          </p:spPr>
        </p:sp>
      </p:grpSp>
      <p:grpSp>
        <p:nvGrpSpPr>
          <p:cNvPr name="Group 862" id="862"/>
          <p:cNvGrpSpPr/>
          <p:nvPr/>
        </p:nvGrpSpPr>
        <p:grpSpPr>
          <a:xfrm rot="0">
            <a:off x="480060" y="8876548"/>
            <a:ext cx="754380" cy="411480"/>
            <a:chOff x="0" y="0"/>
            <a:chExt cx="1005840" cy="548640"/>
          </a:xfrm>
        </p:grpSpPr>
        <p:sp>
          <p:nvSpPr>
            <p:cNvPr name="Freeform 863" id="863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864" id="864"/>
          <p:cNvGrpSpPr/>
          <p:nvPr/>
        </p:nvGrpSpPr>
        <p:grpSpPr>
          <a:xfrm rot="0">
            <a:off x="480060" y="8903980"/>
            <a:ext cx="754380" cy="373952"/>
            <a:chOff x="0" y="0"/>
            <a:chExt cx="1005840" cy="498602"/>
          </a:xfrm>
        </p:grpSpPr>
        <p:sp>
          <p:nvSpPr>
            <p:cNvPr name="Freeform 865" id="865"/>
            <p:cNvSpPr/>
            <p:nvPr/>
          </p:nvSpPr>
          <p:spPr>
            <a:xfrm flipH="false" flipV="false" rot="0">
              <a:off x="0" y="0"/>
              <a:ext cx="1005840" cy="498602"/>
            </a:xfrm>
            <a:custGeom>
              <a:avLst/>
              <a:gdLst/>
              <a:ahLst/>
              <a:cxnLst/>
              <a:rect r="r" b="b" t="t" l="l"/>
              <a:pathLst>
                <a:path h="49860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98602"/>
                  </a:lnTo>
                  <a:lnTo>
                    <a:pt x="0" y="49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45" t="0" r="-13645" b="0"/>
              </a:stretch>
            </a:blipFill>
          </p:spPr>
        </p:sp>
      </p:grpSp>
      <p:grpSp>
        <p:nvGrpSpPr>
          <p:cNvPr name="Group 866" id="866"/>
          <p:cNvGrpSpPr/>
          <p:nvPr/>
        </p:nvGrpSpPr>
        <p:grpSpPr>
          <a:xfrm rot="0">
            <a:off x="480060" y="8896836"/>
            <a:ext cx="754380" cy="381095"/>
            <a:chOff x="0" y="0"/>
            <a:chExt cx="1005840" cy="508127"/>
          </a:xfrm>
        </p:grpSpPr>
        <p:sp>
          <p:nvSpPr>
            <p:cNvPr name="Freeform 867" id="867"/>
            <p:cNvSpPr/>
            <p:nvPr/>
          </p:nvSpPr>
          <p:spPr>
            <a:xfrm flipH="false" flipV="false" rot="0">
              <a:off x="0" y="0"/>
              <a:ext cx="1005840" cy="508127"/>
            </a:xfrm>
            <a:custGeom>
              <a:avLst/>
              <a:gdLst/>
              <a:ahLst/>
              <a:cxnLst/>
              <a:rect r="r" b="b" t="t" l="l"/>
              <a:pathLst>
                <a:path h="508127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08127"/>
                  </a:lnTo>
                  <a:lnTo>
                    <a:pt x="0" y="508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861" t="0" r="-14861" b="0"/>
              </a:stretch>
            </a:blipFill>
          </p:spPr>
        </p:sp>
      </p:grpSp>
      <p:grpSp>
        <p:nvGrpSpPr>
          <p:cNvPr name="Group 868" id="868"/>
          <p:cNvGrpSpPr/>
          <p:nvPr/>
        </p:nvGrpSpPr>
        <p:grpSpPr>
          <a:xfrm rot="0">
            <a:off x="480060" y="8889692"/>
            <a:ext cx="754380" cy="388201"/>
            <a:chOff x="0" y="0"/>
            <a:chExt cx="1005840" cy="517601"/>
          </a:xfrm>
        </p:grpSpPr>
        <p:sp>
          <p:nvSpPr>
            <p:cNvPr name="Freeform 869" id="869"/>
            <p:cNvSpPr/>
            <p:nvPr/>
          </p:nvSpPr>
          <p:spPr>
            <a:xfrm flipH="false" flipV="false" rot="0">
              <a:off x="0" y="0"/>
              <a:ext cx="1005840" cy="517652"/>
            </a:xfrm>
            <a:custGeom>
              <a:avLst/>
              <a:gdLst/>
              <a:ahLst/>
              <a:cxnLst/>
              <a:rect r="r" b="b" t="t" l="l"/>
              <a:pathLst>
                <a:path h="51765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7652"/>
                  </a:lnTo>
                  <a:lnTo>
                    <a:pt x="0" y="517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070" t="0" r="-16070" b="9"/>
              </a:stretch>
            </a:blipFill>
          </p:spPr>
        </p:sp>
      </p:grpSp>
      <p:grpSp>
        <p:nvGrpSpPr>
          <p:cNvPr name="Group 870" id="870"/>
          <p:cNvGrpSpPr/>
          <p:nvPr/>
        </p:nvGrpSpPr>
        <p:grpSpPr>
          <a:xfrm rot="0">
            <a:off x="480060" y="8882548"/>
            <a:ext cx="754380" cy="395345"/>
            <a:chOff x="0" y="0"/>
            <a:chExt cx="1005840" cy="527126"/>
          </a:xfrm>
        </p:grpSpPr>
        <p:sp>
          <p:nvSpPr>
            <p:cNvPr name="Freeform 871" id="871"/>
            <p:cNvSpPr/>
            <p:nvPr/>
          </p:nvSpPr>
          <p:spPr>
            <a:xfrm flipH="false" flipV="false" rot="0">
              <a:off x="0" y="0"/>
              <a:ext cx="1005840" cy="527126"/>
            </a:xfrm>
            <a:custGeom>
              <a:avLst/>
              <a:gdLst/>
              <a:ahLst/>
              <a:cxnLst/>
              <a:rect r="r" b="b" t="t" l="l"/>
              <a:pathLst>
                <a:path h="52712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27126"/>
                  </a:lnTo>
                  <a:lnTo>
                    <a:pt x="0" y="5271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239" t="0" r="-17239" b="0"/>
              </a:stretch>
            </a:blipFill>
          </p:spPr>
        </p:sp>
        <p:sp>
          <p:nvSpPr>
            <p:cNvPr name="TextBox 872" id="872"/>
            <p:cNvSpPr txBox="true"/>
            <p:nvPr/>
          </p:nvSpPr>
          <p:spPr>
            <a:xfrm>
              <a:off x="0" y="-9525"/>
              <a:ext cx="1005840" cy="536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#12</a:t>
              </a:r>
            </a:p>
          </p:txBody>
        </p:sp>
      </p:grpSp>
      <p:grpSp>
        <p:nvGrpSpPr>
          <p:cNvPr name="Group 873" id="873"/>
          <p:cNvGrpSpPr/>
          <p:nvPr/>
        </p:nvGrpSpPr>
        <p:grpSpPr>
          <a:xfrm rot="0">
            <a:off x="1440180" y="8862832"/>
            <a:ext cx="3291840" cy="466344"/>
            <a:chOff x="0" y="0"/>
            <a:chExt cx="4389120" cy="621792"/>
          </a:xfrm>
        </p:grpSpPr>
        <p:sp>
          <p:nvSpPr>
            <p:cNvPr name="Freeform 874" id="874"/>
            <p:cNvSpPr/>
            <p:nvPr/>
          </p:nvSpPr>
          <p:spPr>
            <a:xfrm flipH="false" flipV="false" rot="0">
              <a:off x="0" y="0"/>
              <a:ext cx="4389120" cy="621792"/>
            </a:xfrm>
            <a:custGeom>
              <a:avLst/>
              <a:gdLst/>
              <a:ahLst/>
              <a:cxnLst/>
              <a:rect r="r" b="b" t="t" l="l"/>
              <a:pathLst>
                <a:path h="6217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4" r="0" b="-87446"/>
              </a:stretch>
            </a:blipFill>
          </p:spPr>
        </p:sp>
      </p:grpSp>
      <p:grpSp>
        <p:nvGrpSpPr>
          <p:cNvPr name="Group 875" id="875"/>
          <p:cNvGrpSpPr/>
          <p:nvPr/>
        </p:nvGrpSpPr>
        <p:grpSpPr>
          <a:xfrm rot="0">
            <a:off x="1440180" y="8855688"/>
            <a:ext cx="3291840" cy="473488"/>
            <a:chOff x="0" y="0"/>
            <a:chExt cx="4389120" cy="631317"/>
          </a:xfrm>
        </p:grpSpPr>
        <p:sp>
          <p:nvSpPr>
            <p:cNvPr name="Freeform 876" id="876"/>
            <p:cNvSpPr/>
            <p:nvPr/>
          </p:nvSpPr>
          <p:spPr>
            <a:xfrm flipH="false" flipV="false" rot="0">
              <a:off x="0" y="0"/>
              <a:ext cx="4389120" cy="631317"/>
            </a:xfrm>
            <a:custGeom>
              <a:avLst/>
              <a:gdLst/>
              <a:ahLst/>
              <a:cxnLst/>
              <a:rect r="r" b="b" t="t" l="l"/>
              <a:pathLst>
                <a:path h="6313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71" r="0" b="-85373"/>
              </a:stretch>
            </a:blipFill>
          </p:spPr>
        </p:sp>
      </p:grpSp>
      <p:grpSp>
        <p:nvGrpSpPr>
          <p:cNvPr name="Group 877" id="877"/>
          <p:cNvGrpSpPr/>
          <p:nvPr/>
        </p:nvGrpSpPr>
        <p:grpSpPr>
          <a:xfrm rot="0">
            <a:off x="1440180" y="8848544"/>
            <a:ext cx="3291840" cy="480632"/>
            <a:chOff x="0" y="0"/>
            <a:chExt cx="4389120" cy="640842"/>
          </a:xfrm>
        </p:grpSpPr>
        <p:sp>
          <p:nvSpPr>
            <p:cNvPr name="Freeform 878" id="878"/>
            <p:cNvSpPr/>
            <p:nvPr/>
          </p:nvSpPr>
          <p:spPr>
            <a:xfrm flipH="false" flipV="false" rot="0">
              <a:off x="0" y="0"/>
              <a:ext cx="4389120" cy="640842"/>
            </a:xfrm>
            <a:custGeom>
              <a:avLst/>
              <a:gdLst/>
              <a:ahLst/>
              <a:cxnLst/>
              <a:rect r="r" b="b" t="t" l="l"/>
              <a:pathLst>
                <a:path h="64084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9" r="0" b="-83361"/>
              </a:stretch>
            </a:blipFill>
          </p:spPr>
        </p:sp>
      </p:grpSp>
      <p:grpSp>
        <p:nvGrpSpPr>
          <p:cNvPr name="Group 879" id="879"/>
          <p:cNvGrpSpPr/>
          <p:nvPr/>
        </p:nvGrpSpPr>
        <p:grpSpPr>
          <a:xfrm rot="0">
            <a:off x="1440180" y="8841400"/>
            <a:ext cx="3291840" cy="487775"/>
            <a:chOff x="0" y="0"/>
            <a:chExt cx="4389120" cy="650367"/>
          </a:xfrm>
        </p:grpSpPr>
        <p:sp>
          <p:nvSpPr>
            <p:cNvPr name="Freeform 880" id="880"/>
            <p:cNvSpPr/>
            <p:nvPr/>
          </p:nvSpPr>
          <p:spPr>
            <a:xfrm flipH="false" flipV="false" rot="0">
              <a:off x="0" y="0"/>
              <a:ext cx="4389120" cy="650368"/>
            </a:xfrm>
            <a:custGeom>
              <a:avLst/>
              <a:gdLst/>
              <a:ahLst/>
              <a:cxnLst/>
              <a:rect r="r" b="b" t="t" l="l"/>
              <a:pathLst>
                <a:path h="650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498" r="0" b="-81498"/>
              </a:stretch>
            </a:blipFill>
          </p:spPr>
        </p:sp>
        <p:sp>
          <p:nvSpPr>
            <p:cNvPr name="TextBox 881" id="881"/>
            <p:cNvSpPr txBox="true"/>
            <p:nvPr/>
          </p:nvSpPr>
          <p:spPr>
            <a:xfrm>
              <a:off x="0" y="-9525"/>
              <a:ext cx="43891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Memac Ogilvy</a:t>
              </a:r>
            </a:p>
          </p:txBody>
        </p:sp>
      </p:grpSp>
      <p:grpSp>
        <p:nvGrpSpPr>
          <p:cNvPr name="Group 882" id="882"/>
          <p:cNvGrpSpPr/>
          <p:nvPr/>
        </p:nvGrpSpPr>
        <p:grpSpPr>
          <a:xfrm rot="0">
            <a:off x="5006340" y="8862832"/>
            <a:ext cx="2606040" cy="466344"/>
            <a:chOff x="0" y="0"/>
            <a:chExt cx="3474720" cy="621792"/>
          </a:xfrm>
        </p:grpSpPr>
        <p:sp>
          <p:nvSpPr>
            <p:cNvPr name="Freeform 883" id="88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84" id="884"/>
          <p:cNvGrpSpPr/>
          <p:nvPr/>
        </p:nvGrpSpPr>
        <p:grpSpPr>
          <a:xfrm rot="0">
            <a:off x="5006340" y="8862832"/>
            <a:ext cx="2606040" cy="466344"/>
            <a:chOff x="0" y="0"/>
            <a:chExt cx="3474720" cy="621792"/>
          </a:xfrm>
        </p:grpSpPr>
        <p:sp>
          <p:nvSpPr>
            <p:cNvPr name="Freeform 885" id="88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86" id="886"/>
          <p:cNvGrpSpPr/>
          <p:nvPr/>
        </p:nvGrpSpPr>
        <p:grpSpPr>
          <a:xfrm rot="0">
            <a:off x="5006340" y="8862832"/>
            <a:ext cx="2606040" cy="466344"/>
            <a:chOff x="0" y="0"/>
            <a:chExt cx="3474720" cy="621792"/>
          </a:xfrm>
        </p:grpSpPr>
        <p:sp>
          <p:nvSpPr>
            <p:cNvPr name="Freeform 887" id="88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88" id="888"/>
          <p:cNvGrpSpPr/>
          <p:nvPr/>
        </p:nvGrpSpPr>
        <p:grpSpPr>
          <a:xfrm rot="0">
            <a:off x="5006340" y="8862832"/>
            <a:ext cx="2606040" cy="466344"/>
            <a:chOff x="0" y="0"/>
            <a:chExt cx="3474720" cy="621792"/>
          </a:xfrm>
        </p:grpSpPr>
        <p:sp>
          <p:nvSpPr>
            <p:cNvPr name="Freeform 889" id="889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890" id="890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Integrated Comms</a:t>
              </a:r>
            </a:p>
          </p:txBody>
        </p:sp>
      </p:grpSp>
      <p:grpSp>
        <p:nvGrpSpPr>
          <p:cNvPr name="Group 891" id="891"/>
          <p:cNvGrpSpPr/>
          <p:nvPr/>
        </p:nvGrpSpPr>
        <p:grpSpPr>
          <a:xfrm rot="0">
            <a:off x="7886700" y="8862832"/>
            <a:ext cx="2606040" cy="466344"/>
            <a:chOff x="0" y="0"/>
            <a:chExt cx="3474720" cy="621792"/>
          </a:xfrm>
        </p:grpSpPr>
        <p:sp>
          <p:nvSpPr>
            <p:cNvPr name="Freeform 892" id="892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93" id="893"/>
          <p:cNvGrpSpPr/>
          <p:nvPr/>
        </p:nvGrpSpPr>
        <p:grpSpPr>
          <a:xfrm rot="0">
            <a:off x="7886700" y="8862832"/>
            <a:ext cx="2606040" cy="466344"/>
            <a:chOff x="0" y="0"/>
            <a:chExt cx="3474720" cy="621792"/>
          </a:xfrm>
        </p:grpSpPr>
        <p:sp>
          <p:nvSpPr>
            <p:cNvPr name="Freeform 894" id="894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95" id="895"/>
          <p:cNvGrpSpPr/>
          <p:nvPr/>
        </p:nvGrpSpPr>
        <p:grpSpPr>
          <a:xfrm rot="0">
            <a:off x="7886700" y="8862832"/>
            <a:ext cx="2606040" cy="466344"/>
            <a:chOff x="0" y="0"/>
            <a:chExt cx="3474720" cy="621792"/>
          </a:xfrm>
        </p:grpSpPr>
        <p:sp>
          <p:nvSpPr>
            <p:cNvPr name="Freeform 896" id="89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897" id="897"/>
          <p:cNvGrpSpPr/>
          <p:nvPr/>
        </p:nvGrpSpPr>
        <p:grpSpPr>
          <a:xfrm rot="0">
            <a:off x="7886700" y="8862832"/>
            <a:ext cx="2606040" cy="466344"/>
            <a:chOff x="0" y="0"/>
            <a:chExt cx="3474720" cy="621792"/>
          </a:xfrm>
        </p:grpSpPr>
        <p:sp>
          <p:nvSpPr>
            <p:cNvPr name="Freeform 898" id="89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899" id="899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USA (Global)</a:t>
              </a:r>
            </a:p>
          </p:txBody>
        </p:sp>
      </p:grpSp>
      <p:grpSp>
        <p:nvGrpSpPr>
          <p:cNvPr name="Group 900" id="900"/>
          <p:cNvGrpSpPr/>
          <p:nvPr/>
        </p:nvGrpSpPr>
        <p:grpSpPr>
          <a:xfrm rot="0">
            <a:off x="10767060" y="8862832"/>
            <a:ext cx="2606040" cy="466344"/>
            <a:chOff x="0" y="0"/>
            <a:chExt cx="3474720" cy="621792"/>
          </a:xfrm>
        </p:grpSpPr>
        <p:sp>
          <p:nvSpPr>
            <p:cNvPr name="Freeform 901" id="901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902" id="902"/>
          <p:cNvGrpSpPr/>
          <p:nvPr/>
        </p:nvGrpSpPr>
        <p:grpSpPr>
          <a:xfrm rot="0">
            <a:off x="10767060" y="8862832"/>
            <a:ext cx="2606040" cy="466344"/>
            <a:chOff x="0" y="0"/>
            <a:chExt cx="3474720" cy="621792"/>
          </a:xfrm>
        </p:grpSpPr>
        <p:sp>
          <p:nvSpPr>
            <p:cNvPr name="Freeform 903" id="903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904" id="904"/>
          <p:cNvGrpSpPr/>
          <p:nvPr/>
        </p:nvGrpSpPr>
        <p:grpSpPr>
          <a:xfrm rot="0">
            <a:off x="10767060" y="8862832"/>
            <a:ext cx="2606040" cy="466344"/>
            <a:chOff x="0" y="0"/>
            <a:chExt cx="3474720" cy="621792"/>
          </a:xfrm>
        </p:grpSpPr>
        <p:sp>
          <p:nvSpPr>
            <p:cNvPr name="Freeform 905" id="905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811" r="0" b="-58811"/>
              </a:stretch>
            </a:blipFill>
          </p:spPr>
        </p:sp>
      </p:grpSp>
      <p:grpSp>
        <p:nvGrpSpPr>
          <p:cNvPr name="Group 906" id="906"/>
          <p:cNvGrpSpPr/>
          <p:nvPr/>
        </p:nvGrpSpPr>
        <p:grpSpPr>
          <a:xfrm rot="0">
            <a:off x="10767060" y="8862832"/>
            <a:ext cx="2606040" cy="466344"/>
            <a:chOff x="0" y="0"/>
            <a:chExt cx="3474720" cy="621792"/>
          </a:xfrm>
        </p:grpSpPr>
        <p:sp>
          <p:nvSpPr>
            <p:cNvPr name="Freeform 907" id="907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908" id="908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2C3E50"/>
                  </a:solidFill>
                  <a:latin typeface="Exo 2"/>
                  <a:ea typeface="Exo 2"/>
                  <a:cs typeface="Exo 2"/>
                  <a:sym typeface="Exo 2"/>
                </a:rPr>
                <a:t>BHD 4,102 / $10,867</a:t>
              </a:r>
            </a:p>
          </p:txBody>
        </p:sp>
      </p:grpSp>
      <p:grpSp>
        <p:nvGrpSpPr>
          <p:cNvPr name="Group 909" id="909"/>
          <p:cNvGrpSpPr/>
          <p:nvPr/>
        </p:nvGrpSpPr>
        <p:grpSpPr>
          <a:xfrm rot="0">
            <a:off x="13647420" y="8862832"/>
            <a:ext cx="1920240" cy="466344"/>
            <a:chOff x="0" y="0"/>
            <a:chExt cx="2560320" cy="621792"/>
          </a:xfrm>
        </p:grpSpPr>
        <p:sp>
          <p:nvSpPr>
            <p:cNvPr name="Freeform 910" id="910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7" r="0" b="-30175"/>
              </a:stretch>
            </a:blipFill>
          </p:spPr>
        </p:sp>
      </p:grpSp>
      <p:grpSp>
        <p:nvGrpSpPr>
          <p:cNvPr name="Group 911" id="911"/>
          <p:cNvGrpSpPr/>
          <p:nvPr/>
        </p:nvGrpSpPr>
        <p:grpSpPr>
          <a:xfrm rot="0">
            <a:off x="13647420" y="8855688"/>
            <a:ext cx="1920240" cy="473488"/>
            <a:chOff x="0" y="0"/>
            <a:chExt cx="2560320" cy="631317"/>
          </a:xfrm>
        </p:grpSpPr>
        <p:sp>
          <p:nvSpPr>
            <p:cNvPr name="Freeform 912" id="912"/>
            <p:cNvSpPr/>
            <p:nvPr/>
          </p:nvSpPr>
          <p:spPr>
            <a:xfrm flipH="false" flipV="false" rot="0">
              <a:off x="0" y="0"/>
              <a:ext cx="2560320" cy="631317"/>
            </a:xfrm>
            <a:custGeom>
              <a:avLst/>
              <a:gdLst/>
              <a:ahLst/>
              <a:cxnLst/>
              <a:rect r="r" b="b" t="t" l="l"/>
              <a:pathLst>
                <a:path h="63131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" r="0" b="-28966"/>
              </a:stretch>
            </a:blipFill>
          </p:spPr>
        </p:sp>
      </p:grpSp>
      <p:grpSp>
        <p:nvGrpSpPr>
          <p:cNvPr name="Group 913" id="913"/>
          <p:cNvGrpSpPr/>
          <p:nvPr/>
        </p:nvGrpSpPr>
        <p:grpSpPr>
          <a:xfrm rot="0">
            <a:off x="13647420" y="8848544"/>
            <a:ext cx="1920240" cy="480632"/>
            <a:chOff x="0" y="0"/>
            <a:chExt cx="2560320" cy="640842"/>
          </a:xfrm>
        </p:grpSpPr>
        <p:sp>
          <p:nvSpPr>
            <p:cNvPr name="Freeform 914" id="914"/>
            <p:cNvSpPr/>
            <p:nvPr/>
          </p:nvSpPr>
          <p:spPr>
            <a:xfrm flipH="false" flipV="false" rot="0">
              <a:off x="0" y="0"/>
              <a:ext cx="2560320" cy="640842"/>
            </a:xfrm>
            <a:custGeom>
              <a:avLst/>
              <a:gdLst/>
              <a:ahLst/>
              <a:cxnLst/>
              <a:rect r="r" b="b" t="t" l="l"/>
              <a:pathLst>
                <a:path h="64084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92" r="0" b="-27794"/>
              </a:stretch>
            </a:blipFill>
          </p:spPr>
        </p:sp>
      </p:grpSp>
      <p:grpSp>
        <p:nvGrpSpPr>
          <p:cNvPr name="Group 915" id="915"/>
          <p:cNvGrpSpPr/>
          <p:nvPr/>
        </p:nvGrpSpPr>
        <p:grpSpPr>
          <a:xfrm rot="0">
            <a:off x="13647420" y="8841400"/>
            <a:ext cx="1920240" cy="487775"/>
            <a:chOff x="0" y="0"/>
            <a:chExt cx="2560320" cy="650367"/>
          </a:xfrm>
        </p:grpSpPr>
        <p:sp>
          <p:nvSpPr>
            <p:cNvPr name="Freeform 916" id="916"/>
            <p:cNvSpPr/>
            <p:nvPr/>
          </p:nvSpPr>
          <p:spPr>
            <a:xfrm flipH="false" flipV="false" rot="0">
              <a:off x="0" y="0"/>
              <a:ext cx="2560320" cy="650368"/>
            </a:xfrm>
            <a:custGeom>
              <a:avLst/>
              <a:gdLst/>
              <a:ahLst/>
              <a:cxnLst/>
              <a:rect r="r" b="b" t="t" l="l"/>
              <a:pathLst>
                <a:path h="650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0368"/>
                  </a:lnTo>
                  <a:lnTo>
                    <a:pt x="0" y="650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707" r="0" b="-26707"/>
              </a:stretch>
            </a:blipFill>
          </p:spPr>
        </p:sp>
        <p:sp>
          <p:nvSpPr>
            <p:cNvPr name="TextBox 917" id="917"/>
            <p:cNvSpPr txBox="true"/>
            <p:nvPr/>
          </p:nvSpPr>
          <p:spPr>
            <a:xfrm>
              <a:off x="0" y="-9525"/>
              <a:ext cx="25603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</a:t>
              </a:r>
            </a:p>
          </p:txBody>
        </p:sp>
      </p:grpSp>
      <p:grpSp>
        <p:nvGrpSpPr>
          <p:cNvPr name="Group 918" id="918"/>
          <p:cNvGrpSpPr/>
          <p:nvPr/>
        </p:nvGrpSpPr>
        <p:grpSpPr>
          <a:xfrm rot="0">
            <a:off x="15841980" y="9137152"/>
            <a:ext cx="2125980" cy="109728"/>
            <a:chOff x="0" y="0"/>
            <a:chExt cx="2834640" cy="146304"/>
          </a:xfrm>
        </p:grpSpPr>
        <p:sp>
          <p:nvSpPr>
            <p:cNvPr name="Freeform 919" id="919"/>
            <p:cNvSpPr/>
            <p:nvPr/>
          </p:nvSpPr>
          <p:spPr>
            <a:xfrm flipH="false" flipV="false" rot="0">
              <a:off x="0" y="0"/>
              <a:ext cx="2834640" cy="146304"/>
            </a:xfrm>
            <a:custGeom>
              <a:avLst/>
              <a:gdLst/>
              <a:ahLst/>
              <a:cxnLst/>
              <a:rect r="r" b="b" t="t" l="l"/>
              <a:pathLst>
                <a:path h="14630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920" id="920"/>
          <p:cNvGrpSpPr/>
          <p:nvPr/>
        </p:nvGrpSpPr>
        <p:grpSpPr>
          <a:xfrm rot="0">
            <a:off x="15841980" y="9137152"/>
            <a:ext cx="748856" cy="109728"/>
            <a:chOff x="0" y="0"/>
            <a:chExt cx="998474" cy="146304"/>
          </a:xfrm>
        </p:grpSpPr>
        <p:sp>
          <p:nvSpPr>
            <p:cNvPr name="Freeform 921" id="921"/>
            <p:cNvSpPr/>
            <p:nvPr/>
          </p:nvSpPr>
          <p:spPr>
            <a:xfrm flipH="false" flipV="false" rot="0">
              <a:off x="0" y="0"/>
              <a:ext cx="998474" cy="146304"/>
            </a:xfrm>
            <a:custGeom>
              <a:avLst/>
              <a:gdLst/>
              <a:ahLst/>
              <a:cxnLst/>
              <a:rect r="r" b="b" t="t" l="l"/>
              <a:pathLst>
                <a:path h="14630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146304"/>
                  </a:lnTo>
                  <a:lnTo>
                    <a:pt x="0" y="14630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922" id="922"/>
          <p:cNvGrpSpPr/>
          <p:nvPr/>
        </p:nvGrpSpPr>
        <p:grpSpPr>
          <a:xfrm rot="0">
            <a:off x="15841980" y="8794252"/>
            <a:ext cx="2125980" cy="411385"/>
            <a:chOff x="0" y="0"/>
            <a:chExt cx="2834640" cy="548513"/>
          </a:xfrm>
        </p:grpSpPr>
        <p:sp>
          <p:nvSpPr>
            <p:cNvPr name="Freeform 923" id="923"/>
            <p:cNvSpPr/>
            <p:nvPr/>
          </p:nvSpPr>
          <p:spPr>
            <a:xfrm flipH="false" flipV="false" rot="0">
              <a:off x="0" y="0"/>
              <a:ext cx="2834640" cy="548513"/>
            </a:xfrm>
            <a:custGeom>
              <a:avLst/>
              <a:gdLst/>
              <a:ahLst/>
              <a:cxnLst/>
              <a:rect r="r" b="b" t="t" l="l"/>
              <a:pathLst>
                <a:path h="54851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513"/>
                  </a:lnTo>
                  <a:lnTo>
                    <a:pt x="0" y="548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25" r="0" b="-50627"/>
              </a:stretch>
            </a:blipFill>
          </p:spPr>
        </p:sp>
      </p:grpSp>
      <p:grpSp>
        <p:nvGrpSpPr>
          <p:cNvPr name="Group 924" id="924"/>
          <p:cNvGrpSpPr/>
          <p:nvPr/>
        </p:nvGrpSpPr>
        <p:grpSpPr>
          <a:xfrm rot="0">
            <a:off x="15841980" y="8787108"/>
            <a:ext cx="2125980" cy="418528"/>
            <a:chOff x="0" y="0"/>
            <a:chExt cx="2834640" cy="558038"/>
          </a:xfrm>
        </p:grpSpPr>
        <p:sp>
          <p:nvSpPr>
            <p:cNvPr name="Freeform 925" id="925"/>
            <p:cNvSpPr/>
            <p:nvPr/>
          </p:nvSpPr>
          <p:spPr>
            <a:xfrm flipH="false" flipV="false" rot="0">
              <a:off x="0" y="0"/>
              <a:ext cx="2834640" cy="558038"/>
            </a:xfrm>
            <a:custGeom>
              <a:avLst/>
              <a:gdLst/>
              <a:ahLst/>
              <a:cxnLst/>
              <a:rect r="r" b="b" t="t" l="l"/>
              <a:pathLst>
                <a:path h="5580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58038"/>
                  </a:lnTo>
                  <a:lnTo>
                    <a:pt x="0" y="558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07" r="0" b="-48909"/>
              </a:stretch>
            </a:blipFill>
          </p:spPr>
        </p:sp>
      </p:grpSp>
      <p:grpSp>
        <p:nvGrpSpPr>
          <p:cNvPr name="Group 926" id="926"/>
          <p:cNvGrpSpPr/>
          <p:nvPr/>
        </p:nvGrpSpPr>
        <p:grpSpPr>
          <a:xfrm rot="0">
            <a:off x="15841980" y="8779964"/>
            <a:ext cx="2125980" cy="425710"/>
            <a:chOff x="0" y="0"/>
            <a:chExt cx="2834640" cy="567614"/>
          </a:xfrm>
        </p:grpSpPr>
        <p:sp>
          <p:nvSpPr>
            <p:cNvPr name="Freeform 927" id="927"/>
            <p:cNvSpPr/>
            <p:nvPr/>
          </p:nvSpPr>
          <p:spPr>
            <a:xfrm flipH="false" flipV="false" rot="0">
              <a:off x="0" y="0"/>
              <a:ext cx="2834640" cy="567563"/>
            </a:xfrm>
            <a:custGeom>
              <a:avLst/>
              <a:gdLst/>
              <a:ahLst/>
              <a:cxnLst/>
              <a:rect r="r" b="b" t="t" l="l"/>
              <a:pathLst>
                <a:path h="567563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67563"/>
                  </a:lnTo>
                  <a:lnTo>
                    <a:pt x="0" y="567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3" r="0" b="-47254"/>
              </a:stretch>
            </a:blipFill>
          </p:spPr>
        </p:sp>
      </p:grpSp>
      <p:grpSp>
        <p:nvGrpSpPr>
          <p:cNvPr name="Group 928" id="928"/>
          <p:cNvGrpSpPr/>
          <p:nvPr/>
        </p:nvGrpSpPr>
        <p:grpSpPr>
          <a:xfrm rot="0">
            <a:off x="15841980" y="8772820"/>
            <a:ext cx="2125980" cy="432854"/>
            <a:chOff x="0" y="0"/>
            <a:chExt cx="2834640" cy="577139"/>
          </a:xfrm>
        </p:grpSpPr>
        <p:sp>
          <p:nvSpPr>
            <p:cNvPr name="Freeform 929" id="929"/>
            <p:cNvSpPr/>
            <p:nvPr/>
          </p:nvSpPr>
          <p:spPr>
            <a:xfrm flipH="false" flipV="false" rot="0">
              <a:off x="0" y="0"/>
              <a:ext cx="2834640" cy="577138"/>
            </a:xfrm>
            <a:custGeom>
              <a:avLst/>
              <a:gdLst/>
              <a:ahLst/>
              <a:cxnLst/>
              <a:rect r="r" b="b" t="t" l="l"/>
              <a:pathLst>
                <a:path h="57713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77138"/>
                  </a:lnTo>
                  <a:lnTo>
                    <a:pt x="0" y="5771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01" r="0" b="-45701"/>
              </a:stretch>
            </a:blipFill>
          </p:spPr>
        </p:sp>
        <p:sp>
          <p:nvSpPr>
            <p:cNvPr name="TextBox 930" id="930"/>
            <p:cNvSpPr txBox="true"/>
            <p:nvPr/>
          </p:nvSpPr>
          <p:spPr>
            <a:xfrm>
              <a:off x="0" y="-9525"/>
              <a:ext cx="2834640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8"/>
                </a:lnSpc>
              </a:pPr>
              <a:r>
                <a:rPr lang="en-US" sz="19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39</a:t>
              </a:r>
            </a:p>
          </p:txBody>
        </p:sp>
      </p:grpSp>
      <p:sp>
        <p:nvSpPr>
          <p:cNvPr name="TextBox 931" id="931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932" id="932"/>
          <p:cNvSpPr txBox="true"/>
          <p:nvPr/>
        </p:nvSpPr>
        <p:spPr>
          <a:xfrm rot="0">
            <a:off x="14591443" y="9783042"/>
            <a:ext cx="71711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33</a:t>
            </a:r>
          </a:p>
        </p:txBody>
      </p:sp>
      <p:grpSp>
        <p:nvGrpSpPr>
          <p:cNvPr name="Group 933" id="933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934" id="934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935" id="935"/>
          <p:cNvSpPr txBox="true"/>
          <p:nvPr/>
        </p:nvSpPr>
        <p:spPr>
          <a:xfrm rot="0">
            <a:off x="939546" y="677142"/>
            <a:ext cx="14317123" cy="52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Overall Rankings</a:t>
            </a:r>
          </a:p>
        </p:txBody>
      </p:sp>
      <p:sp>
        <p:nvSpPr>
          <p:cNvPr name="TextBox 936" id="936"/>
          <p:cNvSpPr txBox="true"/>
          <p:nvPr/>
        </p:nvSpPr>
        <p:spPr>
          <a:xfrm rot="0">
            <a:off x="939546" y="1287142"/>
            <a:ext cx="13817117" cy="22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All 12 agencies ranked by total score out of 100.</a:t>
            </a:r>
          </a:p>
        </p:txBody>
      </p:sp>
      <p:grpSp>
        <p:nvGrpSpPr>
          <p:cNvPr name="Group 937" id="937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938" id="938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2" r="0" b="-363"/>
              </a:stretch>
            </a:blipFill>
          </p:spPr>
        </p:sp>
      </p:grpSp>
      <p:sp>
        <p:nvSpPr>
          <p:cNvPr name="Freeform 939" id="939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442" y="696192"/>
            <a:ext cx="14317123" cy="55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Customer Acquisition Cost: Detail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1442" y="1376191"/>
            <a:ext cx="14317123" cy="2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Supporting detail for the CAC figures in the Marketing section.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0001" y="2010004"/>
            <a:ext cx="38005" cy="289998"/>
            <a:chOff x="0" y="0"/>
            <a:chExt cx="50673" cy="3866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1441" y="2016195"/>
            <a:ext cx="5667118" cy="27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Ad Spend Build-Up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0001" y="2409996"/>
            <a:ext cx="5999998" cy="519998"/>
            <a:chOff x="0" y="0"/>
            <a:chExt cx="7999997" cy="693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99984" cy="693293"/>
            </a:xfrm>
            <a:custGeom>
              <a:avLst/>
              <a:gdLst/>
              <a:ahLst/>
              <a:cxnLst/>
              <a:rect r="r" b="b" t="t" l="l"/>
              <a:pathLst>
                <a:path h="69329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93293"/>
                  </a:lnTo>
                  <a:lnTo>
                    <a:pt x="0" y="69329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006" y="2409996"/>
            <a:ext cx="3980002" cy="519998"/>
            <a:chOff x="0" y="0"/>
            <a:chExt cx="5306670" cy="6933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06667" cy="693333"/>
            </a:xfrm>
            <a:custGeom>
              <a:avLst/>
              <a:gdLst/>
              <a:ahLst/>
              <a:cxnLst/>
              <a:rect r="r" b="b" t="t" l="l"/>
              <a:pathLst>
                <a:path h="693333" w="5306667">
                  <a:moveTo>
                    <a:pt x="0" y="0"/>
                  </a:moveTo>
                  <a:lnTo>
                    <a:pt x="5306667" y="0"/>
                  </a:lnTo>
                  <a:lnTo>
                    <a:pt x="5306667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306670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59997" y="2409996"/>
            <a:ext cx="1579997" cy="519998"/>
            <a:chOff x="0" y="0"/>
            <a:chExt cx="2106663" cy="6933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6667" cy="693333"/>
            </a:xfrm>
            <a:custGeom>
              <a:avLst/>
              <a:gdLst/>
              <a:ahLst/>
              <a:cxnLst/>
              <a:rect r="r" b="b" t="t" l="l"/>
              <a:pathLst>
                <a:path h="693333" w="2106667">
                  <a:moveTo>
                    <a:pt x="0" y="0"/>
                  </a:moveTo>
                  <a:lnTo>
                    <a:pt x="2106667" y="0"/>
                  </a:lnTo>
                  <a:lnTo>
                    <a:pt x="2106667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04" r="0" b="-92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06663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0001" y="2930004"/>
            <a:ext cx="5999998" cy="620001"/>
            <a:chOff x="0" y="0"/>
            <a:chExt cx="7999997" cy="8266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99984" cy="826643"/>
            </a:xfrm>
            <a:custGeom>
              <a:avLst/>
              <a:gdLst/>
              <a:ahLst/>
              <a:cxnLst/>
              <a:rect r="r" b="b" t="t" l="l"/>
              <a:pathLst>
                <a:path h="82664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006" y="2930004"/>
            <a:ext cx="3980002" cy="620001"/>
            <a:chOff x="0" y="0"/>
            <a:chExt cx="5306670" cy="8266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5306667">
                  <a:moveTo>
                    <a:pt x="0" y="0"/>
                  </a:moveTo>
                  <a:lnTo>
                    <a:pt x="5306667" y="0"/>
                  </a:lnTo>
                  <a:lnTo>
                    <a:pt x="53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81" r="0" b="-7508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306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Platform ad spend, May to July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59997" y="2930004"/>
            <a:ext cx="1579997" cy="620001"/>
            <a:chOff x="0" y="0"/>
            <a:chExt cx="2106663" cy="8266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106667">
                  <a:moveTo>
                    <a:pt x="0" y="0"/>
                  </a:moveTo>
                  <a:lnTo>
                    <a:pt x="2106667" y="0"/>
                  </a:lnTo>
                  <a:lnTo>
                    <a:pt x="21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7" t="0" r="-34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106663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$10,707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0001" y="3549996"/>
            <a:ext cx="5999998" cy="620001"/>
            <a:chOff x="0" y="0"/>
            <a:chExt cx="7999997" cy="8266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99984" cy="826643"/>
            </a:xfrm>
            <a:custGeom>
              <a:avLst/>
              <a:gdLst/>
              <a:ahLst/>
              <a:cxnLst/>
              <a:rect r="r" b="b" t="t" l="l"/>
              <a:pathLst>
                <a:path h="82664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006" y="3549996"/>
            <a:ext cx="3980002" cy="620001"/>
            <a:chOff x="0" y="0"/>
            <a:chExt cx="5306670" cy="8266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5306667">
                  <a:moveTo>
                    <a:pt x="0" y="0"/>
                  </a:moveTo>
                  <a:lnTo>
                    <a:pt x="5306667" y="0"/>
                  </a:lnTo>
                  <a:lnTo>
                    <a:pt x="53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81" r="0" b="-7508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306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Musheera boost and Mention &amp; Win extension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59997" y="3549996"/>
            <a:ext cx="1579997" cy="620001"/>
            <a:chOff x="0" y="0"/>
            <a:chExt cx="2106663" cy="8266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106667">
                  <a:moveTo>
                    <a:pt x="0" y="0"/>
                  </a:moveTo>
                  <a:lnTo>
                    <a:pt x="2106667" y="0"/>
                  </a:lnTo>
                  <a:lnTo>
                    <a:pt x="21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7" t="0" r="-34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106663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$1,783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0001" y="4169997"/>
            <a:ext cx="5999998" cy="620001"/>
            <a:chOff x="0" y="0"/>
            <a:chExt cx="7999997" cy="8266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99984" cy="826643"/>
            </a:xfrm>
            <a:custGeom>
              <a:avLst/>
              <a:gdLst/>
              <a:ahLst/>
              <a:cxnLst/>
              <a:rect r="r" b="b" t="t" l="l"/>
              <a:pathLst>
                <a:path h="82664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006" y="4169997"/>
            <a:ext cx="3980002" cy="620001"/>
            <a:chOff x="0" y="0"/>
            <a:chExt cx="5306670" cy="8266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5306667">
                  <a:moveTo>
                    <a:pt x="0" y="0"/>
                  </a:moveTo>
                  <a:lnTo>
                    <a:pt x="5306667" y="0"/>
                  </a:lnTo>
                  <a:lnTo>
                    <a:pt x="53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81" r="0" b="-750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306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Ignite campaigns: Ali Sabeel and Mention &amp; Win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159997" y="4169997"/>
            <a:ext cx="1579997" cy="620001"/>
            <a:chOff x="0" y="0"/>
            <a:chExt cx="2106663" cy="8266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106667">
                  <a:moveTo>
                    <a:pt x="0" y="0"/>
                  </a:moveTo>
                  <a:lnTo>
                    <a:pt x="2106667" y="0"/>
                  </a:lnTo>
                  <a:lnTo>
                    <a:pt x="21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7" t="0" r="-346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106663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$2,600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50001" y="4789999"/>
            <a:ext cx="5999998" cy="620001"/>
            <a:chOff x="0" y="0"/>
            <a:chExt cx="7999997" cy="8266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999984" cy="826643"/>
            </a:xfrm>
            <a:custGeom>
              <a:avLst/>
              <a:gdLst/>
              <a:ahLst/>
              <a:cxnLst/>
              <a:rect r="r" b="b" t="t" l="l"/>
              <a:pathLst>
                <a:path h="82664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50001" y="4789999"/>
            <a:ext cx="5999998" cy="18002"/>
            <a:chOff x="0" y="0"/>
            <a:chExt cx="7999997" cy="240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999984" cy="24003"/>
            </a:xfrm>
            <a:custGeom>
              <a:avLst/>
              <a:gdLst/>
              <a:ahLst/>
              <a:cxnLst/>
              <a:rect r="r" b="b" t="t" l="l"/>
              <a:pathLst>
                <a:path h="2400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0006" y="4789999"/>
            <a:ext cx="3980002" cy="620001"/>
            <a:chOff x="0" y="0"/>
            <a:chExt cx="5306670" cy="8266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5306667">
                  <a:moveTo>
                    <a:pt x="0" y="0"/>
                  </a:moveTo>
                  <a:lnTo>
                    <a:pt x="5306667" y="0"/>
                  </a:lnTo>
                  <a:lnTo>
                    <a:pt x="53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81" r="0" b="-750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306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ad spend, basis for CAC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159997" y="4789999"/>
            <a:ext cx="1579997" cy="620001"/>
            <a:chOff x="0" y="0"/>
            <a:chExt cx="2106663" cy="8266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06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106667">
                  <a:moveTo>
                    <a:pt x="0" y="0"/>
                  </a:moveTo>
                  <a:lnTo>
                    <a:pt x="2106667" y="0"/>
                  </a:lnTo>
                  <a:lnTo>
                    <a:pt x="2106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7" t="0" r="-346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106663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$15,090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149998" y="2010004"/>
            <a:ext cx="38005" cy="289998"/>
            <a:chOff x="0" y="0"/>
            <a:chExt cx="50673" cy="3866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7391438" y="2016195"/>
            <a:ext cx="4767120" cy="27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Excluded from CAC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7149998" y="2409996"/>
            <a:ext cx="5099999" cy="519998"/>
            <a:chOff x="0" y="0"/>
            <a:chExt cx="6799999" cy="6933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99961" cy="693293"/>
            </a:xfrm>
            <a:custGeom>
              <a:avLst/>
              <a:gdLst/>
              <a:ahLst/>
              <a:cxnLst/>
              <a:rect r="r" b="b" t="t" l="l"/>
              <a:pathLst>
                <a:path h="693293" w="6799961">
                  <a:moveTo>
                    <a:pt x="0" y="0"/>
                  </a:moveTo>
                  <a:lnTo>
                    <a:pt x="6799961" y="0"/>
                  </a:lnTo>
                  <a:lnTo>
                    <a:pt x="6799961" y="693293"/>
                  </a:lnTo>
                  <a:lnTo>
                    <a:pt x="0" y="69329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260003" y="2409996"/>
            <a:ext cx="3146003" cy="519998"/>
            <a:chOff x="0" y="0"/>
            <a:chExt cx="4194670" cy="6933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94667" cy="693333"/>
            </a:xfrm>
            <a:custGeom>
              <a:avLst/>
              <a:gdLst/>
              <a:ahLst/>
              <a:cxnLst/>
              <a:rect r="r" b="b" t="t" l="l"/>
              <a:pathLst>
                <a:path h="693333" w="4194667">
                  <a:moveTo>
                    <a:pt x="0" y="0"/>
                  </a:moveTo>
                  <a:lnTo>
                    <a:pt x="4194667" y="0"/>
                  </a:lnTo>
                  <a:lnTo>
                    <a:pt x="4194667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884" r="0" b="-6788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194670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26004" y="2409996"/>
            <a:ext cx="1513999" cy="519998"/>
            <a:chOff x="0" y="0"/>
            <a:chExt cx="2018665" cy="6933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18667" cy="693333"/>
            </a:xfrm>
            <a:custGeom>
              <a:avLst/>
              <a:gdLst/>
              <a:ahLst/>
              <a:cxnLst/>
              <a:rect r="r" b="b" t="t" l="l"/>
              <a:pathLst>
                <a:path h="693333" w="2018667">
                  <a:moveTo>
                    <a:pt x="0" y="0"/>
                  </a:moveTo>
                  <a:lnTo>
                    <a:pt x="2018667" y="0"/>
                  </a:lnTo>
                  <a:lnTo>
                    <a:pt x="2018667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31" r="0" b="-673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018665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149998" y="2930004"/>
            <a:ext cx="5099999" cy="620001"/>
            <a:chOff x="0" y="0"/>
            <a:chExt cx="6799999" cy="8266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99961" cy="826643"/>
            </a:xfrm>
            <a:custGeom>
              <a:avLst/>
              <a:gdLst/>
              <a:ahLst/>
              <a:cxnLst/>
              <a:rect r="r" b="b" t="t" l="l"/>
              <a:pathLst>
                <a:path h="826643" w="6799961">
                  <a:moveTo>
                    <a:pt x="0" y="0"/>
                  </a:moveTo>
                  <a:lnTo>
                    <a:pt x="6799961" y="0"/>
                  </a:lnTo>
                  <a:lnTo>
                    <a:pt x="6799961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260003" y="2930004"/>
            <a:ext cx="3146003" cy="620001"/>
            <a:chOff x="0" y="0"/>
            <a:chExt cx="4194670" cy="8266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194667" cy="826667"/>
            </a:xfrm>
            <a:custGeom>
              <a:avLst/>
              <a:gdLst/>
              <a:ahLst/>
              <a:cxnLst/>
              <a:rect r="r" b="b" t="t" l="l"/>
              <a:pathLst>
                <a:path h="826667" w="4194667">
                  <a:moveTo>
                    <a:pt x="0" y="0"/>
                  </a:moveTo>
                  <a:lnTo>
                    <a:pt x="4194667" y="0"/>
                  </a:lnTo>
                  <a:lnTo>
                    <a:pt x="4194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0" r="0" b="-488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194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prize money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626004" y="2930004"/>
            <a:ext cx="1513999" cy="620001"/>
            <a:chOff x="0" y="0"/>
            <a:chExt cx="2018665" cy="8266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18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018667">
                  <a:moveTo>
                    <a:pt x="0" y="0"/>
                  </a:moveTo>
                  <a:lnTo>
                    <a:pt x="2018667" y="0"/>
                  </a:lnTo>
                  <a:lnTo>
                    <a:pt x="2018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1" t="0" r="-254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2018665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$1,100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149998" y="3549996"/>
            <a:ext cx="5099999" cy="620001"/>
            <a:chOff x="0" y="0"/>
            <a:chExt cx="6799999" cy="8266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99961" cy="826643"/>
            </a:xfrm>
            <a:custGeom>
              <a:avLst/>
              <a:gdLst/>
              <a:ahLst/>
              <a:cxnLst/>
              <a:rect r="r" b="b" t="t" l="l"/>
              <a:pathLst>
                <a:path h="826643" w="6799961">
                  <a:moveTo>
                    <a:pt x="0" y="0"/>
                  </a:moveTo>
                  <a:lnTo>
                    <a:pt x="6799961" y="0"/>
                  </a:lnTo>
                  <a:lnTo>
                    <a:pt x="6799961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260003" y="3549996"/>
            <a:ext cx="3146003" cy="620001"/>
            <a:chOff x="0" y="0"/>
            <a:chExt cx="4194670" cy="8266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94667" cy="826667"/>
            </a:xfrm>
            <a:custGeom>
              <a:avLst/>
              <a:gdLst/>
              <a:ahLst/>
              <a:cxnLst/>
              <a:rect r="r" b="b" t="t" l="l"/>
              <a:pathLst>
                <a:path h="826667" w="4194667">
                  <a:moveTo>
                    <a:pt x="0" y="0"/>
                  </a:moveTo>
                  <a:lnTo>
                    <a:pt x="4194667" y="0"/>
                  </a:lnTo>
                  <a:lnTo>
                    <a:pt x="4194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0" r="0" b="-488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4194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TRACCS ads management above platform spend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626004" y="3549996"/>
            <a:ext cx="1513999" cy="620001"/>
            <a:chOff x="0" y="0"/>
            <a:chExt cx="2018665" cy="8266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18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018667">
                  <a:moveTo>
                    <a:pt x="0" y="0"/>
                  </a:moveTo>
                  <a:lnTo>
                    <a:pt x="2018667" y="0"/>
                  </a:lnTo>
                  <a:lnTo>
                    <a:pt x="2018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1" t="0" r="-2541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018665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$9,044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149998" y="4169997"/>
            <a:ext cx="5099999" cy="620001"/>
            <a:chOff x="0" y="0"/>
            <a:chExt cx="6799999" cy="8266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799961" cy="826643"/>
            </a:xfrm>
            <a:custGeom>
              <a:avLst/>
              <a:gdLst/>
              <a:ahLst/>
              <a:cxnLst/>
              <a:rect r="r" b="b" t="t" l="l"/>
              <a:pathLst>
                <a:path h="826643" w="6799961">
                  <a:moveTo>
                    <a:pt x="0" y="0"/>
                  </a:moveTo>
                  <a:lnTo>
                    <a:pt x="6799961" y="0"/>
                  </a:lnTo>
                  <a:lnTo>
                    <a:pt x="6799961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260003" y="4169997"/>
            <a:ext cx="3146003" cy="620001"/>
            <a:chOff x="0" y="0"/>
            <a:chExt cx="4194670" cy="8266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94667" cy="826667"/>
            </a:xfrm>
            <a:custGeom>
              <a:avLst/>
              <a:gdLst/>
              <a:ahLst/>
              <a:cxnLst/>
              <a:rect r="r" b="b" t="t" l="l"/>
              <a:pathLst>
                <a:path h="826667" w="4194667">
                  <a:moveTo>
                    <a:pt x="0" y="0"/>
                  </a:moveTo>
                  <a:lnTo>
                    <a:pt x="4194667" y="0"/>
                  </a:lnTo>
                  <a:lnTo>
                    <a:pt x="4194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0" r="0" b="-4887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194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Agency retainers, TRACCS, 24F and Ignite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626004" y="4169997"/>
            <a:ext cx="1513999" cy="620001"/>
            <a:chOff x="0" y="0"/>
            <a:chExt cx="2018665" cy="82666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18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018667">
                  <a:moveTo>
                    <a:pt x="0" y="0"/>
                  </a:moveTo>
                  <a:lnTo>
                    <a:pt x="2018667" y="0"/>
                  </a:lnTo>
                  <a:lnTo>
                    <a:pt x="2018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1" t="0" r="-254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018665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see below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149998" y="4789999"/>
            <a:ext cx="5099999" cy="620001"/>
            <a:chOff x="0" y="0"/>
            <a:chExt cx="6799999" cy="8266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799961" cy="826643"/>
            </a:xfrm>
            <a:custGeom>
              <a:avLst/>
              <a:gdLst/>
              <a:ahLst/>
              <a:cxnLst/>
              <a:rect r="r" b="b" t="t" l="l"/>
              <a:pathLst>
                <a:path h="826643" w="6799961">
                  <a:moveTo>
                    <a:pt x="0" y="0"/>
                  </a:moveTo>
                  <a:lnTo>
                    <a:pt x="6799961" y="0"/>
                  </a:lnTo>
                  <a:lnTo>
                    <a:pt x="6799961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149998" y="4789999"/>
            <a:ext cx="5099999" cy="18002"/>
            <a:chOff x="0" y="0"/>
            <a:chExt cx="6799999" cy="2400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799961" cy="24003"/>
            </a:xfrm>
            <a:custGeom>
              <a:avLst/>
              <a:gdLst/>
              <a:ahLst/>
              <a:cxnLst/>
              <a:rect r="r" b="b" t="t" l="l"/>
              <a:pathLst>
                <a:path h="24003" w="6799961">
                  <a:moveTo>
                    <a:pt x="0" y="0"/>
                  </a:moveTo>
                  <a:lnTo>
                    <a:pt x="6799961" y="0"/>
                  </a:lnTo>
                  <a:lnTo>
                    <a:pt x="6799961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260003" y="4789999"/>
            <a:ext cx="3146003" cy="620001"/>
            <a:chOff x="0" y="0"/>
            <a:chExt cx="4194670" cy="8266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94667" cy="826667"/>
            </a:xfrm>
            <a:custGeom>
              <a:avLst/>
              <a:gdLst/>
              <a:ahLst/>
              <a:cxnLst/>
              <a:rect r="r" b="b" t="t" l="l"/>
              <a:pathLst>
                <a:path h="826667" w="4194667">
                  <a:moveTo>
                    <a:pt x="0" y="0"/>
                  </a:moveTo>
                  <a:lnTo>
                    <a:pt x="4194667" y="0"/>
                  </a:lnTo>
                  <a:lnTo>
                    <a:pt x="4194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0" r="0" b="-4887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4194670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excluded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626004" y="4789999"/>
            <a:ext cx="1513999" cy="620001"/>
            <a:chOff x="0" y="0"/>
            <a:chExt cx="2018665" cy="82666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18667" cy="826667"/>
            </a:xfrm>
            <a:custGeom>
              <a:avLst/>
              <a:gdLst/>
              <a:ahLst/>
              <a:cxnLst/>
              <a:rect r="r" b="b" t="t" l="l"/>
              <a:pathLst>
                <a:path h="826667" w="2018667">
                  <a:moveTo>
                    <a:pt x="0" y="0"/>
                  </a:moveTo>
                  <a:lnTo>
                    <a:pt x="2018667" y="0"/>
                  </a:lnTo>
                  <a:lnTo>
                    <a:pt x="2018667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1" t="0" r="-2541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2018665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$10,144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549997" y="2010004"/>
            <a:ext cx="38005" cy="289998"/>
            <a:chOff x="0" y="0"/>
            <a:chExt cx="50673" cy="38666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2791437" y="2016195"/>
            <a:ext cx="4555122" cy="27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Mention &amp; Win by Month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2549997" y="2409996"/>
            <a:ext cx="4888001" cy="519998"/>
            <a:chOff x="0" y="0"/>
            <a:chExt cx="6517335" cy="69333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517386" cy="693293"/>
            </a:xfrm>
            <a:custGeom>
              <a:avLst/>
              <a:gdLst/>
              <a:ahLst/>
              <a:cxnLst/>
              <a:rect r="r" b="b" t="t" l="l"/>
              <a:pathLst>
                <a:path h="693293" w="6517386">
                  <a:moveTo>
                    <a:pt x="0" y="0"/>
                  </a:moveTo>
                  <a:lnTo>
                    <a:pt x="6517386" y="0"/>
                  </a:lnTo>
                  <a:lnTo>
                    <a:pt x="6517386" y="693293"/>
                  </a:lnTo>
                  <a:lnTo>
                    <a:pt x="0" y="69329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660001" y="2409996"/>
            <a:ext cx="1148639" cy="519998"/>
            <a:chOff x="0" y="0"/>
            <a:chExt cx="1531518" cy="69333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31519" cy="693333"/>
            </a:xfrm>
            <a:custGeom>
              <a:avLst/>
              <a:gdLst/>
              <a:ahLst/>
              <a:cxnLst/>
              <a:rect r="r" b="b" t="t" l="l"/>
              <a:pathLst>
                <a:path h="693333" w="1531519">
                  <a:moveTo>
                    <a:pt x="0" y="0"/>
                  </a:moveTo>
                  <a:lnTo>
                    <a:pt x="1531519" y="0"/>
                  </a:lnTo>
                  <a:lnTo>
                    <a:pt x="1531519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84" t="0" r="-8084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531518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Month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028639" y="2409996"/>
            <a:ext cx="953119" cy="519998"/>
            <a:chOff x="0" y="0"/>
            <a:chExt cx="1270826" cy="6933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270825" cy="693333"/>
            </a:xfrm>
            <a:custGeom>
              <a:avLst/>
              <a:gdLst/>
              <a:ahLst/>
              <a:cxnLst/>
              <a:rect r="r" b="b" t="t" l="l"/>
              <a:pathLst>
                <a:path h="693333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99" t="0" r="-19999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1270826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Prize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5201757" y="2409996"/>
            <a:ext cx="953119" cy="519998"/>
            <a:chOff x="0" y="0"/>
            <a:chExt cx="1270826" cy="69333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270825" cy="693333"/>
            </a:xfrm>
            <a:custGeom>
              <a:avLst/>
              <a:gdLst/>
              <a:ahLst/>
              <a:cxnLst/>
              <a:rect r="r" b="b" t="t" l="l"/>
              <a:pathLst>
                <a:path h="693333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99" t="0" r="-19999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1270826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Ads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6374875" y="2409996"/>
            <a:ext cx="953119" cy="519998"/>
            <a:chOff x="0" y="0"/>
            <a:chExt cx="1270826" cy="69333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270828" cy="693333"/>
            </a:xfrm>
            <a:custGeom>
              <a:avLst/>
              <a:gdLst/>
              <a:ahLst/>
              <a:cxnLst/>
              <a:rect r="r" b="b" t="t" l="l"/>
              <a:pathLst>
                <a:path h="693333" w="1270828">
                  <a:moveTo>
                    <a:pt x="0" y="0"/>
                  </a:moveTo>
                  <a:lnTo>
                    <a:pt x="1270828" y="0"/>
                  </a:lnTo>
                  <a:lnTo>
                    <a:pt x="1270828" y="693333"/>
                  </a:lnTo>
                  <a:lnTo>
                    <a:pt x="0" y="69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99" t="0" r="-19999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1270826" cy="69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549997" y="2930004"/>
            <a:ext cx="4888001" cy="620001"/>
            <a:chOff x="0" y="0"/>
            <a:chExt cx="6517335" cy="82666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517386" cy="826643"/>
            </a:xfrm>
            <a:custGeom>
              <a:avLst/>
              <a:gdLst/>
              <a:ahLst/>
              <a:cxnLst/>
              <a:rect r="r" b="b" t="t" l="l"/>
              <a:pathLst>
                <a:path h="826643" w="6517386">
                  <a:moveTo>
                    <a:pt x="0" y="0"/>
                  </a:moveTo>
                  <a:lnTo>
                    <a:pt x="6517386" y="0"/>
                  </a:lnTo>
                  <a:lnTo>
                    <a:pt x="6517386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660001" y="2930004"/>
            <a:ext cx="1148639" cy="620001"/>
            <a:chOff x="0" y="0"/>
            <a:chExt cx="1531518" cy="82666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531519" cy="826667"/>
            </a:xfrm>
            <a:custGeom>
              <a:avLst/>
              <a:gdLst/>
              <a:ahLst/>
              <a:cxnLst/>
              <a:rect r="r" b="b" t="t" l="l"/>
              <a:pathLst>
                <a:path h="826667" w="1531519">
                  <a:moveTo>
                    <a:pt x="0" y="0"/>
                  </a:moveTo>
                  <a:lnTo>
                    <a:pt x="1531519" y="0"/>
                  </a:lnTo>
                  <a:lnTo>
                    <a:pt x="1531519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4" t="0" r="-19254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1531518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June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4028639" y="2930004"/>
            <a:ext cx="953119" cy="620001"/>
            <a:chOff x="0" y="0"/>
            <a:chExt cx="1270826" cy="82666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$100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5201757" y="2930004"/>
            <a:ext cx="953119" cy="620001"/>
            <a:chOff x="0" y="0"/>
            <a:chExt cx="1270826" cy="82666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$599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6374875" y="2930004"/>
            <a:ext cx="953119" cy="620001"/>
            <a:chOff x="0" y="0"/>
            <a:chExt cx="1270826" cy="82666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270828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8">
                  <a:moveTo>
                    <a:pt x="0" y="0"/>
                  </a:moveTo>
                  <a:lnTo>
                    <a:pt x="1270828" y="0"/>
                  </a:lnTo>
                  <a:lnTo>
                    <a:pt x="1270828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0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$699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549997" y="3549996"/>
            <a:ext cx="4888001" cy="620001"/>
            <a:chOff x="0" y="0"/>
            <a:chExt cx="6517335" cy="82666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517386" cy="826643"/>
            </a:xfrm>
            <a:custGeom>
              <a:avLst/>
              <a:gdLst/>
              <a:ahLst/>
              <a:cxnLst/>
              <a:rect r="r" b="b" t="t" l="l"/>
              <a:pathLst>
                <a:path h="826643" w="6517386">
                  <a:moveTo>
                    <a:pt x="0" y="0"/>
                  </a:moveTo>
                  <a:lnTo>
                    <a:pt x="6517386" y="0"/>
                  </a:lnTo>
                  <a:lnTo>
                    <a:pt x="6517386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660001" y="3549996"/>
            <a:ext cx="1148639" cy="620001"/>
            <a:chOff x="0" y="0"/>
            <a:chExt cx="1531518" cy="82666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31519" cy="826667"/>
            </a:xfrm>
            <a:custGeom>
              <a:avLst/>
              <a:gdLst/>
              <a:ahLst/>
              <a:cxnLst/>
              <a:rect r="r" b="b" t="t" l="l"/>
              <a:pathLst>
                <a:path h="826667" w="1531519">
                  <a:moveTo>
                    <a:pt x="0" y="0"/>
                  </a:moveTo>
                  <a:lnTo>
                    <a:pt x="1531519" y="0"/>
                  </a:lnTo>
                  <a:lnTo>
                    <a:pt x="1531519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4" t="0" r="-19254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1531518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July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4028639" y="3549996"/>
            <a:ext cx="953119" cy="620001"/>
            <a:chOff x="0" y="0"/>
            <a:chExt cx="1270826" cy="82666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$500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5201757" y="3549996"/>
            <a:ext cx="953119" cy="620001"/>
            <a:chOff x="0" y="0"/>
            <a:chExt cx="1270826" cy="82666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—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6374875" y="3549996"/>
            <a:ext cx="953119" cy="620001"/>
            <a:chOff x="0" y="0"/>
            <a:chExt cx="1270826" cy="82666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270828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8">
                  <a:moveTo>
                    <a:pt x="0" y="0"/>
                  </a:moveTo>
                  <a:lnTo>
                    <a:pt x="1270828" y="0"/>
                  </a:lnTo>
                  <a:lnTo>
                    <a:pt x="1270828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0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$500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549997" y="4169997"/>
            <a:ext cx="4888001" cy="620001"/>
            <a:chOff x="0" y="0"/>
            <a:chExt cx="6517335" cy="82666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517386" cy="826643"/>
            </a:xfrm>
            <a:custGeom>
              <a:avLst/>
              <a:gdLst/>
              <a:ahLst/>
              <a:cxnLst/>
              <a:rect r="r" b="b" t="t" l="l"/>
              <a:pathLst>
                <a:path h="826643" w="6517386">
                  <a:moveTo>
                    <a:pt x="0" y="0"/>
                  </a:moveTo>
                  <a:lnTo>
                    <a:pt x="6517386" y="0"/>
                  </a:lnTo>
                  <a:lnTo>
                    <a:pt x="6517386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660001" y="4169997"/>
            <a:ext cx="1148639" cy="620001"/>
            <a:chOff x="0" y="0"/>
            <a:chExt cx="1531518" cy="82666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531519" cy="826667"/>
            </a:xfrm>
            <a:custGeom>
              <a:avLst/>
              <a:gdLst/>
              <a:ahLst/>
              <a:cxnLst/>
              <a:rect r="r" b="b" t="t" l="l"/>
              <a:pathLst>
                <a:path h="826667" w="1531519">
                  <a:moveTo>
                    <a:pt x="0" y="0"/>
                  </a:moveTo>
                  <a:lnTo>
                    <a:pt x="1531519" y="0"/>
                  </a:lnTo>
                  <a:lnTo>
                    <a:pt x="1531519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4" t="0" r="-19254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1531518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August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028639" y="4169997"/>
            <a:ext cx="953119" cy="620001"/>
            <a:chOff x="0" y="0"/>
            <a:chExt cx="1270826" cy="82666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$500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5201757" y="4169997"/>
            <a:ext cx="953119" cy="620001"/>
            <a:chOff x="0" y="0"/>
            <a:chExt cx="1270826" cy="82666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$583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6374875" y="4169997"/>
            <a:ext cx="953119" cy="620001"/>
            <a:chOff x="0" y="0"/>
            <a:chExt cx="1270826" cy="8266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270828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8">
                  <a:moveTo>
                    <a:pt x="0" y="0"/>
                  </a:moveTo>
                  <a:lnTo>
                    <a:pt x="1270828" y="0"/>
                  </a:lnTo>
                  <a:lnTo>
                    <a:pt x="1270828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0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$1,083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2549997" y="4789999"/>
            <a:ext cx="4888001" cy="620001"/>
            <a:chOff x="0" y="0"/>
            <a:chExt cx="6517335" cy="82666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517386" cy="826643"/>
            </a:xfrm>
            <a:custGeom>
              <a:avLst/>
              <a:gdLst/>
              <a:ahLst/>
              <a:cxnLst/>
              <a:rect r="r" b="b" t="t" l="l"/>
              <a:pathLst>
                <a:path h="826643" w="6517386">
                  <a:moveTo>
                    <a:pt x="0" y="0"/>
                  </a:moveTo>
                  <a:lnTo>
                    <a:pt x="6517386" y="0"/>
                  </a:lnTo>
                  <a:lnTo>
                    <a:pt x="6517386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549997" y="4789999"/>
            <a:ext cx="4888001" cy="18002"/>
            <a:chOff x="0" y="0"/>
            <a:chExt cx="6517335" cy="24003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517386" cy="24003"/>
            </a:xfrm>
            <a:custGeom>
              <a:avLst/>
              <a:gdLst/>
              <a:ahLst/>
              <a:cxnLst/>
              <a:rect r="r" b="b" t="t" l="l"/>
              <a:pathLst>
                <a:path h="24003" w="6517386">
                  <a:moveTo>
                    <a:pt x="0" y="0"/>
                  </a:moveTo>
                  <a:lnTo>
                    <a:pt x="6517386" y="0"/>
                  </a:lnTo>
                  <a:lnTo>
                    <a:pt x="6517386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2660001" y="4789999"/>
            <a:ext cx="1148639" cy="620001"/>
            <a:chOff x="0" y="0"/>
            <a:chExt cx="1531518" cy="82666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531519" cy="826667"/>
            </a:xfrm>
            <a:custGeom>
              <a:avLst/>
              <a:gdLst/>
              <a:ahLst/>
              <a:cxnLst/>
              <a:rect r="r" b="b" t="t" l="l"/>
              <a:pathLst>
                <a:path h="826667" w="1531519">
                  <a:moveTo>
                    <a:pt x="0" y="0"/>
                  </a:moveTo>
                  <a:lnTo>
                    <a:pt x="1531519" y="0"/>
                  </a:lnTo>
                  <a:lnTo>
                    <a:pt x="1531519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4" t="0" r="-19254" b="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9525"/>
              <a:ext cx="1531518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4028639" y="4789999"/>
            <a:ext cx="953119" cy="620001"/>
            <a:chOff x="0" y="0"/>
            <a:chExt cx="1270826" cy="82666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$1,100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5201757" y="4789999"/>
            <a:ext cx="953119" cy="620001"/>
            <a:chOff x="0" y="0"/>
            <a:chExt cx="1270826" cy="82666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270825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5">
                  <a:moveTo>
                    <a:pt x="0" y="0"/>
                  </a:moveTo>
                  <a:lnTo>
                    <a:pt x="1270825" y="0"/>
                  </a:lnTo>
                  <a:lnTo>
                    <a:pt x="1270825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1" b="0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$1,182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6374875" y="4789999"/>
            <a:ext cx="953119" cy="620001"/>
            <a:chOff x="0" y="0"/>
            <a:chExt cx="1270826" cy="82666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270828" cy="826667"/>
            </a:xfrm>
            <a:custGeom>
              <a:avLst/>
              <a:gdLst/>
              <a:ahLst/>
              <a:cxnLst/>
              <a:rect r="r" b="b" t="t" l="l"/>
              <a:pathLst>
                <a:path h="826667" w="1270828">
                  <a:moveTo>
                    <a:pt x="0" y="0"/>
                  </a:moveTo>
                  <a:lnTo>
                    <a:pt x="1270828" y="0"/>
                  </a:lnTo>
                  <a:lnTo>
                    <a:pt x="1270828" y="826667"/>
                  </a:lnTo>
                  <a:lnTo>
                    <a:pt x="0" y="82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461" t="0" r="-33460" b="0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9525"/>
              <a:ext cx="1270826" cy="836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$2,282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2" r="0" b="-363"/>
              </a:stretch>
            </a:blipFill>
          </p:spPr>
        </p:sp>
      </p:grpSp>
      <p:sp>
        <p:nvSpPr>
          <p:cNvPr name="TextBox 173" id="173"/>
          <p:cNvSpPr txBox="true"/>
          <p:nvPr/>
        </p:nvSpPr>
        <p:spPr>
          <a:xfrm rot="0">
            <a:off x="868680" y="9828762"/>
            <a:ext cx="10634243" cy="24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14682883" y="9828762"/>
            <a:ext cx="53423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34</a:t>
            </a:r>
          </a:p>
        </p:txBody>
      </p:sp>
      <p:sp>
        <p:nvSpPr>
          <p:cNvPr name="Freeform 175" id="175"/>
          <p:cNvSpPr/>
          <p:nvPr/>
        </p:nvSpPr>
        <p:spPr>
          <a:xfrm flipH="false" flipV="false" rot="0">
            <a:off x="15576633" y="9506197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DAHUhV2xu90</dc:identifier>
  <dcterms:modified xsi:type="dcterms:W3CDTF">2011-08-01T06:04:30Z</dcterms:modified>
  <cp:revision>1</cp:revision>
  <dc:title>BEC eMYAA Board Update (Appendix) - 14.09.2026</dc:title>
</cp:coreProperties>
</file>