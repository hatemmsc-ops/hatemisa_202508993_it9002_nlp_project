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62" r:id="rId12"/>
    <p:sldId id="259" r:id="rId9"/>
    <p:sldId id="261" r:id="rId11"/>
    <p:sldId id="260" r:id="rId10"/>
  </p:sldIdLst>
  <p:sldSz cx="18288000" cy="10287000"/>
  <p:notesSz cx="6858000" cy="9144000"/>
  <p:embeddedFontLst>
    <p:embeddedFont>
      <p:font typeface="Exo 2 Bold" charset="1" panose="00000000000000000000"/>
      <p:regular r:id="rId13"/>
    </p:embeddedFont>
    <p:embeddedFont>
      <p:font typeface="Exo 2" charset="1" panose="00000000000000000000"/>
      <p:regular r:id="rId14"/>
    </p:embeddedFont>
    <p:embeddedFont>
      <p:font typeface="Calibri (MS)" charset="1" panose="020F0502020204030204"/>
      <p:regular r:id="rId15"/>
    </p:embeddedFont>
    <p:embeddedFont>
      <p:font typeface="Exo 2 Italic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6.xml"/><Relationship Id="rId12" Type="http://schemas.openxmlformats.org/officeDocument/2006/relationships/slide" Target="slides/slide4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jpe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jpe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jpeg"/><Relationship Id="rId4" Type="http://schemas.openxmlformats.org/officeDocument/2006/relationships/image" Target="../media/image8.jpeg"/><Relationship Id="rId5" Type="http://schemas.openxmlformats.org/officeDocument/2006/relationships/hyperlink" Target="https://www.digitalapplied.com/blog/linkedin-ads-benchmarks-2026-cpc-ctr-cvr-industry" TargetMode="External"/><Relationship Id="rId6" Type="http://schemas.openxmlformats.org/officeDocument/2006/relationships/image" Target="../media/image6.png"/><Relationship Id="rId7" Type="http://schemas.openxmlformats.org/officeDocument/2006/relationships/image" Target="../media/image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jpe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jpeg"/><Relationship Id="rId4" Type="http://schemas.openxmlformats.org/officeDocument/2006/relationships/image" Target="../media/image8.jpeg"/><Relationship Id="rId5" Type="http://schemas.openxmlformats.org/officeDocument/2006/relationships/hyperlink" Target="https://logicworks.ae/blog/what-is-google-ads-cost-per-click-in-uae-and-gcc-2026/" TargetMode="External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hyperlink" Target="https://www.digitalwasfa.com/google-ads-cost-in-saudi-arabia/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014" y="-252008"/>
            <a:ext cx="19093861" cy="10853442"/>
            <a:chOff x="0" y="0"/>
            <a:chExt cx="24384000" cy="13860493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860494"/>
            </a:xfrm>
            <a:custGeom>
              <a:avLst/>
              <a:gdLst/>
              <a:ahLst/>
              <a:cxnLst/>
              <a:rect r="r" b="b" t="t" l="l"/>
              <a:pathLst>
                <a:path h="1386049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860494"/>
                  </a:lnTo>
                  <a:lnTo>
                    <a:pt x="0" y="13860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26" t="0" r="-52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3528090"/>
            <a:ext cx="18288000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39"/>
              </a:lnSpc>
            </a:pPr>
            <a:r>
              <a:rPr lang="en-US" sz="819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Market Feedback </a:t>
            </a:r>
          </a:p>
          <a:p>
            <a:pPr algn="ctr">
              <a:lnSpc>
                <a:spcPts val="9839"/>
              </a:lnSpc>
            </a:pPr>
            <a:r>
              <a:rPr lang="en-US" b="true" sz="81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and Growth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3183" y="6305790"/>
            <a:ext cx="15498341" cy="59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8"/>
              </a:lnSpc>
            </a:pP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Wh</a:t>
            </a: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at the Market Told Us, and</a:t>
            </a: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</a:t>
            </a: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W</a:t>
            </a: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h</a:t>
            </a: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a</a:t>
            </a: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t</a:t>
            </a: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 W</a:t>
            </a: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e </a:t>
            </a:r>
            <a:r>
              <a:rPr lang="en-US" sz="3376" spc="-64">
                <a:solidFill>
                  <a:srgbClr val="94A3B8"/>
                </a:solidFill>
                <a:latin typeface="Exo 2"/>
                <a:ea typeface="Exo 2"/>
                <a:cs typeface="Exo 2"/>
                <a:sym typeface="Exo 2"/>
              </a:rPr>
              <a:t>Changed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340" y="1028700"/>
            <a:ext cx="2628960" cy="757148"/>
            <a:chOff x="0" y="0"/>
            <a:chExt cx="6614516" cy="1905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614541" cy="1905000"/>
            </a:xfrm>
            <a:custGeom>
              <a:avLst/>
              <a:gdLst/>
              <a:ahLst/>
              <a:cxnLst/>
              <a:rect r="r" b="b" t="t" l="l"/>
              <a:pathLst>
                <a:path h="1905000" w="6614541">
                  <a:moveTo>
                    <a:pt x="0" y="0"/>
                  </a:moveTo>
                  <a:lnTo>
                    <a:pt x="6614541" y="0"/>
                  </a:lnTo>
                  <a:lnTo>
                    <a:pt x="6614541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73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0300" cy="853440"/>
          </a:xfrm>
          <a:custGeom>
            <a:avLst/>
            <a:gdLst/>
            <a:ahLst/>
            <a:cxnLst/>
            <a:rect r="r" b="b" t="t" l="l"/>
            <a:pathLst>
              <a:path h="853440" w="2400300">
                <a:moveTo>
                  <a:pt x="0" y="0"/>
                </a:moveTo>
                <a:lnTo>
                  <a:pt x="2400300" y="0"/>
                </a:lnTo>
                <a:lnTo>
                  <a:pt x="240030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91443" y="9783042"/>
            <a:ext cx="717118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gradFill rotWithShape="true">
              <a:gsLst>
                <a:gs pos="0">
                  <a:srgbClr val="2D6CD3">
                    <a:alpha val="100000"/>
                  </a:srgbClr>
                </a:gs>
                <a:gs pos="100000">
                  <a:srgbClr val="1B2A61">
                    <a:alpha val="100000"/>
                  </a:srgbClr>
                </a:gs>
              </a:gsLst>
              <a:lin ang="162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002" y="600951"/>
            <a:ext cx="14317123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5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DIAGNOSIS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002" y="920001"/>
            <a:ext cx="1431712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b="true" sz="4160" spc="-60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Clients Are Ahead. Money Is Not.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0002" y="1855360"/>
            <a:ext cx="8302784" cy="2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7"/>
              </a:lnSpc>
            </a:pPr>
            <a:r>
              <a:rPr lang="en-US" sz="1689">
                <a:solidFill>
                  <a:srgbClr val="6B7488"/>
                </a:solidFill>
                <a:latin typeface="Exo 2"/>
                <a:ea typeface="Exo 2"/>
                <a:cs typeface="Exo 2"/>
                <a:sym typeface="Exo 2"/>
              </a:rPr>
              <a:t>Four</a:t>
            </a:r>
            <a:r>
              <a:rPr lang="en-US" sz="1689">
                <a:solidFill>
                  <a:srgbClr val="6B7488"/>
                </a:solidFill>
                <a:latin typeface="Exo 2"/>
                <a:ea typeface="Exo 2"/>
                <a:cs typeface="Exo 2"/>
                <a:sym typeface="Exo 2"/>
              </a:rPr>
              <a:t> months live. The funnel works until the moment someone has to commit capital.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99997" y="1180005"/>
            <a:ext cx="1400004" cy="7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96"/>
              </a:lnSpc>
            </a:pPr>
            <a:r>
              <a:rPr lang="en-US" sz="4580" b="true">
                <a:solidFill>
                  <a:srgbClr val="EDF0F7"/>
                </a:solidFill>
                <a:latin typeface="Exo 2 Bold"/>
                <a:ea typeface="Exo 2 Bold"/>
                <a:cs typeface="Exo 2 Bold"/>
                <a:sym typeface="Exo 2 Bold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0001" y="2626885"/>
            <a:ext cx="16587978" cy="2465784"/>
            <a:chOff x="0" y="0"/>
            <a:chExt cx="22117304" cy="3287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17304" cy="3287649"/>
            </a:xfrm>
            <a:custGeom>
              <a:avLst/>
              <a:gdLst/>
              <a:ahLst/>
              <a:cxnLst/>
              <a:rect r="r" b="b" t="t" l="l"/>
              <a:pathLst>
                <a:path h="3287649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3287649"/>
                  </a:lnTo>
                  <a:lnTo>
                    <a:pt x="0" y="3287649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0001" y="2626885"/>
            <a:ext cx="16587978" cy="26003"/>
            <a:chOff x="0" y="0"/>
            <a:chExt cx="22117304" cy="34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17304" cy="34671"/>
            </a:xfrm>
            <a:custGeom>
              <a:avLst/>
              <a:gdLst/>
              <a:ahLst/>
              <a:cxnLst/>
              <a:rect r="r" b="b" t="t" l="l"/>
              <a:pathLst>
                <a:path h="34671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34671"/>
                  </a:lnTo>
                  <a:lnTo>
                    <a:pt x="0" y="34671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70003" y="2807356"/>
            <a:ext cx="1598570" cy="64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8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131%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0003" y="3620924"/>
            <a:ext cx="4826948" cy="33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8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Clients vs target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0003" y="4129692"/>
            <a:ext cx="3766019" cy="34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8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51 onboarded against 39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281699" y="3482192"/>
            <a:ext cx="47625" cy="820007"/>
            <a:chOff x="0" y="0"/>
            <a:chExt cx="63500" cy="10933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" cy="1093343"/>
            </a:xfrm>
            <a:custGeom>
              <a:avLst/>
              <a:gdLst/>
              <a:ahLst/>
              <a:cxnLst/>
              <a:rect r="r" b="b" t="t" l="l"/>
              <a:pathLst>
                <a:path h="1093343" w="63500">
                  <a:moveTo>
                    <a:pt x="0" y="0"/>
                  </a:moveTo>
                  <a:lnTo>
                    <a:pt x="63500" y="0"/>
                  </a:lnTo>
                  <a:lnTo>
                    <a:pt x="63500" y="1093343"/>
                  </a:lnTo>
                  <a:lnTo>
                    <a:pt x="0" y="1093343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750522" y="2807356"/>
            <a:ext cx="2049339" cy="64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8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4.3%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50522" y="3635735"/>
            <a:ext cx="4826948" cy="33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8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Deposits vs target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50522" y="4159315"/>
            <a:ext cx="4357551" cy="34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8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$10,195.88 against $235,660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862230" y="3482192"/>
            <a:ext cx="47625" cy="820007"/>
            <a:chOff x="0" y="0"/>
            <a:chExt cx="63500" cy="10933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" cy="1093343"/>
            </a:xfrm>
            <a:custGeom>
              <a:avLst/>
              <a:gdLst/>
              <a:ahLst/>
              <a:cxnLst/>
              <a:rect r="r" b="b" t="t" l="l"/>
              <a:pathLst>
                <a:path h="1093343" w="63500">
                  <a:moveTo>
                    <a:pt x="0" y="0"/>
                  </a:moveTo>
                  <a:lnTo>
                    <a:pt x="63500" y="0"/>
                  </a:lnTo>
                  <a:lnTo>
                    <a:pt x="63500" y="1093343"/>
                  </a:lnTo>
                  <a:lnTo>
                    <a:pt x="0" y="1093343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331054" y="2807356"/>
            <a:ext cx="1650482" cy="64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8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$208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31054" y="3635735"/>
            <a:ext cx="4826948" cy="33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8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Average deposit per client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31054" y="4159315"/>
            <a:ext cx="4826948" cy="34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8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Out of $10,195.88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0001" y="5919154"/>
            <a:ext cx="150019" cy="26003"/>
            <a:chOff x="0" y="0"/>
            <a:chExt cx="200025" cy="346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0025" cy="34671"/>
            </a:xfrm>
            <a:custGeom>
              <a:avLst/>
              <a:gdLst/>
              <a:ahLst/>
              <a:cxnLst/>
              <a:rect r="r" b="b" t="t" l="l"/>
              <a:pathLst>
                <a:path h="34671" w="200025">
                  <a:moveTo>
                    <a:pt x="0" y="0"/>
                  </a:moveTo>
                  <a:lnTo>
                    <a:pt x="200025" y="0"/>
                  </a:lnTo>
                  <a:lnTo>
                    <a:pt x="200025" y="34671"/>
                  </a:lnTo>
                  <a:lnTo>
                    <a:pt x="0" y="34671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80002" y="5797520"/>
            <a:ext cx="74499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1919" spc="260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THE FUNNEL AS IT STANDS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50001" y="6273151"/>
            <a:ext cx="3245644" cy="880015"/>
            <a:chOff x="0" y="0"/>
            <a:chExt cx="4327525" cy="117335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27525" cy="1173353"/>
            </a:xfrm>
            <a:custGeom>
              <a:avLst/>
              <a:gdLst/>
              <a:ahLst/>
              <a:cxnLst/>
              <a:rect r="r" b="b" t="t" l="l"/>
              <a:pathLst>
                <a:path h="1173353" w="4327525">
                  <a:moveTo>
                    <a:pt x="0" y="0"/>
                  </a:moveTo>
                  <a:lnTo>
                    <a:pt x="4327525" y="0"/>
                  </a:lnTo>
                  <a:lnTo>
                    <a:pt x="4327525" y="1173353"/>
                  </a:lnTo>
                  <a:lnTo>
                    <a:pt x="0" y="1173353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50001" y="6501951"/>
            <a:ext cx="324559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61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395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0001" y="7273152"/>
            <a:ext cx="324559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sz="2718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Downloads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185599" y="6387555"/>
            <a:ext cx="3245644" cy="765620"/>
            <a:chOff x="0" y="0"/>
            <a:chExt cx="4327525" cy="102082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27525" cy="1020826"/>
            </a:xfrm>
            <a:custGeom>
              <a:avLst/>
              <a:gdLst/>
              <a:ahLst/>
              <a:cxnLst/>
              <a:rect r="r" b="b" t="t" l="l"/>
              <a:pathLst>
                <a:path h="1020826" w="4327525">
                  <a:moveTo>
                    <a:pt x="0" y="0"/>
                  </a:moveTo>
                  <a:lnTo>
                    <a:pt x="4327525" y="0"/>
                  </a:lnTo>
                  <a:lnTo>
                    <a:pt x="4327525" y="1020826"/>
                  </a:lnTo>
                  <a:lnTo>
                    <a:pt x="0" y="1020826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5613532" y="6605554"/>
            <a:ext cx="389731" cy="39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61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62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185599" y="7273152"/>
            <a:ext cx="324559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sz="2718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KYC Pipeline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521197" y="6501951"/>
            <a:ext cx="3245644" cy="651224"/>
            <a:chOff x="0" y="0"/>
            <a:chExt cx="4327525" cy="8682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27525" cy="868299"/>
            </a:xfrm>
            <a:custGeom>
              <a:avLst/>
              <a:gdLst/>
              <a:ahLst/>
              <a:cxnLst/>
              <a:rect r="r" b="b" t="t" l="l"/>
              <a:pathLst>
                <a:path h="868299" w="4327525">
                  <a:moveTo>
                    <a:pt x="0" y="0"/>
                  </a:moveTo>
                  <a:lnTo>
                    <a:pt x="4327525" y="0"/>
                  </a:lnTo>
                  <a:lnTo>
                    <a:pt x="4327525" y="868299"/>
                  </a:lnTo>
                  <a:lnTo>
                    <a:pt x="0" y="868299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521197" y="6624357"/>
            <a:ext cx="324559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61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51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21197" y="7273152"/>
            <a:ext cx="324559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sz="2718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Clients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856795" y="6616356"/>
            <a:ext cx="3245644" cy="536829"/>
            <a:chOff x="0" y="0"/>
            <a:chExt cx="4327525" cy="7157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27525" cy="715772"/>
            </a:xfrm>
            <a:custGeom>
              <a:avLst/>
              <a:gdLst/>
              <a:ahLst/>
              <a:cxnLst/>
              <a:rect r="r" b="b" t="t" l="l"/>
              <a:pathLst>
                <a:path h="715772" w="4327525">
                  <a:moveTo>
                    <a:pt x="0" y="0"/>
                  </a:moveTo>
                  <a:lnTo>
                    <a:pt x="4327525" y="0"/>
                  </a:lnTo>
                  <a:lnTo>
                    <a:pt x="4327525" y="715772"/>
                  </a:lnTo>
                  <a:lnTo>
                    <a:pt x="0" y="715772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0856795" y="6674753"/>
            <a:ext cx="324559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61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46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856795" y="7273152"/>
            <a:ext cx="324559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sz="2718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Trades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4192393" y="6730751"/>
            <a:ext cx="3245644" cy="422434"/>
            <a:chOff x="0" y="0"/>
            <a:chExt cx="4327525" cy="5632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27525" cy="563245"/>
            </a:xfrm>
            <a:custGeom>
              <a:avLst/>
              <a:gdLst/>
              <a:ahLst/>
              <a:cxnLst/>
              <a:rect r="r" b="b" t="t" l="l"/>
              <a:pathLst>
                <a:path h="563245" w="4327525">
                  <a:moveTo>
                    <a:pt x="0" y="0"/>
                  </a:moveTo>
                  <a:lnTo>
                    <a:pt x="4327525" y="0"/>
                  </a:lnTo>
                  <a:lnTo>
                    <a:pt x="4327525" y="563245"/>
                  </a:lnTo>
                  <a:lnTo>
                    <a:pt x="0" y="563245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4192393" y="6738761"/>
            <a:ext cx="324559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61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$10,196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125740" y="7273152"/>
            <a:ext cx="1378902" cy="40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sz="2718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Deposits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91443" y="9783042"/>
            <a:ext cx="717118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gradFill rotWithShape="true">
              <a:gsLst>
                <a:gs pos="0">
                  <a:srgbClr val="2D6CD3">
                    <a:alpha val="100000"/>
                  </a:srgbClr>
                </a:gs>
                <a:gs pos="100000">
                  <a:srgbClr val="1B2A61">
                    <a:alpha val="100000"/>
                  </a:srgbClr>
                </a:gs>
              </a:gsLst>
              <a:lin ang="162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002" y="610476"/>
            <a:ext cx="14317123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5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THE CLIENTS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002" y="920001"/>
            <a:ext cx="14317123" cy="7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b="true" sz="4160" spc="-60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Four Investors, Four Different Answers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0002" y="1720472"/>
            <a:ext cx="13600005" cy="34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6B7488"/>
                </a:solidFill>
                <a:latin typeface="Exo 2"/>
                <a:ea typeface="Exo 2"/>
                <a:cs typeface="Exo 2"/>
                <a:sym typeface="Exo 2"/>
              </a:rPr>
              <a:t>Who they are, how they behave, and what unlocks a deposit from each.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99997" y="1180005"/>
            <a:ext cx="1400004" cy="7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96"/>
              </a:lnSpc>
            </a:pPr>
            <a:r>
              <a:rPr lang="en-US" sz="4580" b="true">
                <a:solidFill>
                  <a:srgbClr val="EDF0F7"/>
                </a:solidFill>
                <a:latin typeface="Exo 2 Bold"/>
                <a:ea typeface="Exo 2 Bold"/>
                <a:cs typeface="Exo 2 Bold"/>
                <a:sym typeface="Exo 2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0001" y="2119998"/>
            <a:ext cx="8043996" cy="53997"/>
            <a:chOff x="0" y="0"/>
            <a:chExt cx="10725328" cy="719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25277" cy="72009"/>
            </a:xfrm>
            <a:custGeom>
              <a:avLst/>
              <a:gdLst/>
              <a:ahLst/>
              <a:cxnLst/>
              <a:rect r="r" b="b" t="t" l="l"/>
              <a:pathLst>
                <a:path h="72009" w="10725277">
                  <a:moveTo>
                    <a:pt x="0" y="0"/>
                  </a:moveTo>
                  <a:lnTo>
                    <a:pt x="10725277" y="0"/>
                  </a:lnTo>
                  <a:lnTo>
                    <a:pt x="1072527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0001" y="2249996"/>
            <a:ext cx="80439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b="true" sz="1519" spc="278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REACHED AT SCALE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0001" y="2560472"/>
            <a:ext cx="80439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489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Through the app, search and paid media. They decide without meeting anyone.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0001" y="2920003"/>
            <a:ext cx="3892001" cy="5819779"/>
            <a:chOff x="0" y="0"/>
            <a:chExt cx="5189334" cy="77597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89347" cy="7759743"/>
            </a:xfrm>
            <a:custGeom>
              <a:avLst/>
              <a:gdLst/>
              <a:ahLst/>
              <a:cxnLst/>
              <a:rect r="r" b="b" t="t" l="l"/>
              <a:pathLst>
                <a:path h="7759743" w="5189347">
                  <a:moveTo>
                    <a:pt x="0" y="0"/>
                  </a:moveTo>
                  <a:lnTo>
                    <a:pt x="5189347" y="0"/>
                  </a:lnTo>
                  <a:lnTo>
                    <a:pt x="5189347" y="7759743"/>
                  </a:lnTo>
                  <a:lnTo>
                    <a:pt x="0" y="775974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0001" y="2920003"/>
            <a:ext cx="3892001" cy="39995"/>
            <a:chOff x="0" y="0"/>
            <a:chExt cx="5189334" cy="533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89347" cy="53340"/>
            </a:xfrm>
            <a:custGeom>
              <a:avLst/>
              <a:gdLst/>
              <a:ahLst/>
              <a:cxnLst/>
              <a:rect r="r" b="b" t="t" l="l"/>
              <a:pathLst>
                <a:path h="53340" w="5189347">
                  <a:moveTo>
                    <a:pt x="0" y="0"/>
                  </a:moveTo>
                  <a:lnTo>
                    <a:pt x="5189347" y="0"/>
                  </a:lnTo>
                  <a:lnTo>
                    <a:pt x="518934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9AA5B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29998" y="3150003"/>
            <a:ext cx="33720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New investor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9998" y="3480473"/>
            <a:ext cx="337200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489" b="true">
                <a:solidFill>
                  <a:srgbClr val="9AA5BC"/>
                </a:solidFill>
                <a:latin typeface="Exo 2 Bold"/>
                <a:ea typeface="Exo 2 Bold"/>
                <a:cs typeface="Exo 2 Bold"/>
                <a:sym typeface="Exo 2 Bold"/>
              </a:rPr>
              <a:t>Under $1,000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29998" y="3820001"/>
            <a:ext cx="3331997" cy="14002"/>
            <a:chOff x="0" y="0"/>
            <a:chExt cx="4442663" cy="186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42714" cy="18669"/>
            </a:xfrm>
            <a:custGeom>
              <a:avLst/>
              <a:gdLst/>
              <a:ahLst/>
              <a:cxnLst/>
              <a:rect r="r" b="b" t="t" l="l"/>
              <a:pathLst>
                <a:path h="18669" w="4442714">
                  <a:moveTo>
                    <a:pt x="0" y="0"/>
                  </a:moveTo>
                  <a:lnTo>
                    <a:pt x="4442714" y="0"/>
                  </a:lnTo>
                  <a:lnTo>
                    <a:pt x="4442714" y="18669"/>
                  </a:lnTo>
                  <a:lnTo>
                    <a:pt x="0" y="18669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29998" y="3920004"/>
            <a:ext cx="3372002" cy="864863"/>
            <a:chOff x="0" y="0"/>
            <a:chExt cx="4496003" cy="115315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9AA5B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BACKGROUND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58089"/>
              <a:ext cx="4496003" cy="895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21 to 35, salaried, usually their first financial product beyond a bank account. Found us through Instagram or an influencer.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29998" y="5022280"/>
            <a:ext cx="3372002" cy="1322063"/>
            <a:chOff x="0" y="0"/>
            <a:chExt cx="4496003" cy="176275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9AA5B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BEHAVIOUR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258089"/>
              <a:ext cx="4496003" cy="1504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Comfortable with apps and heavy in the ones they trust. </a:t>
              </a: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Downloads quickly, explores, deposits a small amount to test, trades once or twice. Price sensitive, and gone the moment something confuses them.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9998" y="6581757"/>
            <a:ext cx="3372002" cy="1093463"/>
            <a:chOff x="0" y="0"/>
            <a:chExt cx="4496003" cy="145795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9AA5B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WHAT UNLOCKS A DEPOSIT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258089"/>
              <a:ext cx="4496003" cy="1199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Understanding what they are buying, a first amount small enough to feel safe, and visible proof the platform is real and regulated.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01997" y="2920003"/>
            <a:ext cx="3892001" cy="5819779"/>
            <a:chOff x="0" y="0"/>
            <a:chExt cx="5189334" cy="775970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89347" cy="7759743"/>
            </a:xfrm>
            <a:custGeom>
              <a:avLst/>
              <a:gdLst/>
              <a:ahLst/>
              <a:cxnLst/>
              <a:rect r="r" b="b" t="t" l="l"/>
              <a:pathLst>
                <a:path h="7759743" w="5189347">
                  <a:moveTo>
                    <a:pt x="0" y="0"/>
                  </a:moveTo>
                  <a:lnTo>
                    <a:pt x="5189347" y="0"/>
                  </a:lnTo>
                  <a:lnTo>
                    <a:pt x="5189347" y="7759743"/>
                  </a:lnTo>
                  <a:lnTo>
                    <a:pt x="0" y="775974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001997" y="2920003"/>
            <a:ext cx="3892001" cy="39995"/>
            <a:chOff x="0" y="0"/>
            <a:chExt cx="5189334" cy="533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89347" cy="53340"/>
            </a:xfrm>
            <a:custGeom>
              <a:avLst/>
              <a:gdLst/>
              <a:ahLst/>
              <a:cxnLst/>
              <a:rect r="r" b="b" t="t" l="l"/>
              <a:pathLst>
                <a:path h="53340" w="5189347">
                  <a:moveTo>
                    <a:pt x="0" y="0"/>
                  </a:moveTo>
                  <a:lnTo>
                    <a:pt x="5189347" y="0"/>
                  </a:lnTo>
                  <a:lnTo>
                    <a:pt x="518934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5282003" y="3150003"/>
            <a:ext cx="33720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Emerging investor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282003" y="3480473"/>
            <a:ext cx="337200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48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$1,000 to $5,000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282003" y="3820001"/>
            <a:ext cx="3331997" cy="14002"/>
            <a:chOff x="0" y="0"/>
            <a:chExt cx="4442663" cy="1866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442714" cy="18669"/>
            </a:xfrm>
            <a:custGeom>
              <a:avLst/>
              <a:gdLst/>
              <a:ahLst/>
              <a:cxnLst/>
              <a:rect r="r" b="b" t="t" l="l"/>
              <a:pathLst>
                <a:path h="18669" w="4442714">
                  <a:moveTo>
                    <a:pt x="0" y="0"/>
                  </a:moveTo>
                  <a:lnTo>
                    <a:pt x="4442714" y="0"/>
                  </a:lnTo>
                  <a:lnTo>
                    <a:pt x="4442714" y="18669"/>
                  </a:lnTo>
                  <a:lnTo>
                    <a:pt x="0" y="18669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282003" y="3920004"/>
            <a:ext cx="3372002" cy="1093463"/>
            <a:chOff x="0" y="0"/>
            <a:chExt cx="4496003" cy="1457950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BACKGROUND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258089"/>
              <a:ext cx="4496003" cy="1199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28 to 45, professional, already has a savings habit and often a bank investment product. Researches before acting, and does not only follow social media.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282003" y="5250880"/>
            <a:ext cx="3372002" cy="1093463"/>
            <a:chOff x="0" y="0"/>
            <a:chExt cx="4496003" cy="1457950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BEHAVIOUR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258089"/>
              <a:ext cx="4496003" cy="1199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Deposits once, then waits. Watches performance before adding more. Compares fees carefully and responds to structure rather than hype.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282003" y="6581757"/>
            <a:ext cx="3372002" cy="864863"/>
            <a:chOff x="0" y="0"/>
            <a:chExt cx="4496003" cy="1153150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3E61B5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WHAT UNLOCKS A DEPOSIT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0" y="258089"/>
              <a:ext cx="4496003" cy="895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 reason to deposit a second time. Recurring investing, a portfolio view they trust, and evidence the money is working.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94003" y="2119998"/>
            <a:ext cx="8043996" cy="53997"/>
            <a:chOff x="0" y="0"/>
            <a:chExt cx="10725328" cy="719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25277" cy="72009"/>
            </a:xfrm>
            <a:custGeom>
              <a:avLst/>
              <a:gdLst/>
              <a:ahLst/>
              <a:cxnLst/>
              <a:rect r="r" b="b" t="t" l="l"/>
              <a:pathLst>
                <a:path h="72009" w="10725277">
                  <a:moveTo>
                    <a:pt x="0" y="0"/>
                  </a:moveTo>
                  <a:lnTo>
                    <a:pt x="10725277" y="0"/>
                  </a:lnTo>
                  <a:lnTo>
                    <a:pt x="1072527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9394003" y="2249996"/>
            <a:ext cx="80439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b="true" sz="1519" spc="278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REACHED ONE AT A TIME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394003" y="2560472"/>
            <a:ext cx="80439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489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Through a referral, a conversation and a meeting. Advertising does not reach them.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394003" y="2920003"/>
            <a:ext cx="3892001" cy="5819779"/>
            <a:chOff x="0" y="0"/>
            <a:chExt cx="5189334" cy="77597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89347" cy="7759743"/>
            </a:xfrm>
            <a:custGeom>
              <a:avLst/>
              <a:gdLst/>
              <a:ahLst/>
              <a:cxnLst/>
              <a:rect r="r" b="b" t="t" l="l"/>
              <a:pathLst>
                <a:path h="7759743" w="5189347">
                  <a:moveTo>
                    <a:pt x="0" y="0"/>
                  </a:moveTo>
                  <a:lnTo>
                    <a:pt x="5189347" y="0"/>
                  </a:lnTo>
                  <a:lnTo>
                    <a:pt x="5189347" y="7759743"/>
                  </a:lnTo>
                  <a:lnTo>
                    <a:pt x="0" y="775974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94003" y="2920003"/>
            <a:ext cx="3892001" cy="39995"/>
            <a:chOff x="0" y="0"/>
            <a:chExt cx="5189334" cy="5332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89347" cy="53340"/>
            </a:xfrm>
            <a:custGeom>
              <a:avLst/>
              <a:gdLst/>
              <a:ahLst/>
              <a:cxnLst/>
              <a:rect r="r" b="b" t="t" l="l"/>
              <a:pathLst>
                <a:path h="53340" w="5189347">
                  <a:moveTo>
                    <a:pt x="0" y="0"/>
                  </a:moveTo>
                  <a:lnTo>
                    <a:pt x="5189347" y="0"/>
                  </a:lnTo>
                  <a:lnTo>
                    <a:pt x="518934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E0C36A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9674000" y="3150003"/>
            <a:ext cx="33720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Affluent investor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674000" y="3480473"/>
            <a:ext cx="337200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489" b="true">
                <a:solidFill>
                  <a:srgbClr val="E0C36A"/>
                </a:solidFill>
                <a:latin typeface="Exo 2 Bold"/>
                <a:ea typeface="Exo 2 Bold"/>
                <a:cs typeface="Exo 2 Bold"/>
                <a:sym typeface="Exo 2 Bold"/>
              </a:rPr>
              <a:t>$5,000 to $50,000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674000" y="3820001"/>
            <a:ext cx="3331997" cy="14002"/>
            <a:chOff x="0" y="0"/>
            <a:chExt cx="4442663" cy="1866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42714" cy="18669"/>
            </a:xfrm>
            <a:custGeom>
              <a:avLst/>
              <a:gdLst/>
              <a:ahLst/>
              <a:cxnLst/>
              <a:rect r="r" b="b" t="t" l="l"/>
              <a:pathLst>
                <a:path h="18669" w="4442714">
                  <a:moveTo>
                    <a:pt x="0" y="0"/>
                  </a:moveTo>
                  <a:lnTo>
                    <a:pt x="4442714" y="0"/>
                  </a:lnTo>
                  <a:lnTo>
                    <a:pt x="4442714" y="18669"/>
                  </a:lnTo>
                  <a:lnTo>
                    <a:pt x="0" y="18669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4000" y="3920004"/>
            <a:ext cx="3372002" cy="1093463"/>
            <a:chOff x="0" y="0"/>
            <a:chExt cx="4496003" cy="1457950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E0C36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BACKGROUND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258089"/>
              <a:ext cx="4496003" cy="1199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35 to 55, senior professional, business owner or part of a family business. Already invested elsewhere, often property or a local broker.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4000" y="5365180"/>
            <a:ext cx="3372002" cy="864863"/>
            <a:chOff x="0" y="0"/>
            <a:chExt cx="4496003" cy="1153150"/>
          </a:xfrm>
        </p:grpSpPr>
        <p:sp>
          <p:nvSpPr>
            <p:cNvPr name="TextBox 66" id="66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E0C36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BEHAVIOUR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0" y="258089"/>
              <a:ext cx="4496003" cy="895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Will not open an account from an advertisement. Asks people they trust first. Slow to start and sticky once started.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74000" y="6581757"/>
            <a:ext cx="3372002" cy="1093463"/>
            <a:chOff x="0" y="0"/>
            <a:chExt cx="4496003" cy="1457950"/>
          </a:xfrm>
        </p:grpSpPr>
        <p:sp>
          <p:nvSpPr>
            <p:cNvPr name="TextBox 69" id="69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E0C36A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WHAT UNLOCKS A DEPOSIT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0" y="258089"/>
              <a:ext cx="4496003" cy="1199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A named contact, a conversation, and the ability to verify the institution independently. Needs human interaction with onboarding rather than trusting a link.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545998" y="2920003"/>
            <a:ext cx="3892001" cy="5819779"/>
            <a:chOff x="0" y="0"/>
            <a:chExt cx="5189334" cy="775970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89347" cy="7759743"/>
            </a:xfrm>
            <a:custGeom>
              <a:avLst/>
              <a:gdLst/>
              <a:ahLst/>
              <a:cxnLst/>
              <a:rect r="r" b="b" t="t" l="l"/>
              <a:pathLst>
                <a:path h="7759743" w="5189347">
                  <a:moveTo>
                    <a:pt x="0" y="0"/>
                  </a:moveTo>
                  <a:lnTo>
                    <a:pt x="5189347" y="0"/>
                  </a:lnTo>
                  <a:lnTo>
                    <a:pt x="5189347" y="7759743"/>
                  </a:lnTo>
                  <a:lnTo>
                    <a:pt x="0" y="7759743"/>
                  </a:lnTo>
                  <a:close/>
                </a:path>
              </a:pathLst>
            </a:custGeom>
            <a:gradFill rotWithShape="true">
              <a:gsLst>
                <a:gs pos="0">
                  <a:srgbClr val="22376F">
                    <a:alpha val="100000"/>
                  </a:srgbClr>
                </a:gs>
                <a:gs pos="100000">
                  <a:srgbClr val="101B3B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545998" y="2920003"/>
            <a:ext cx="3892001" cy="39995"/>
            <a:chOff x="0" y="0"/>
            <a:chExt cx="5189334" cy="5332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89347" cy="53340"/>
            </a:xfrm>
            <a:custGeom>
              <a:avLst/>
              <a:gdLst/>
              <a:ahLst/>
              <a:cxnLst/>
              <a:rect r="r" b="b" t="t" l="l"/>
              <a:pathLst>
                <a:path h="53340" w="5189347">
                  <a:moveTo>
                    <a:pt x="0" y="0"/>
                  </a:moveTo>
                  <a:lnTo>
                    <a:pt x="5189347" y="0"/>
                  </a:lnTo>
                  <a:lnTo>
                    <a:pt x="5189347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3826004" y="3150003"/>
            <a:ext cx="33720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HNW investor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826004" y="3480473"/>
            <a:ext cx="337200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489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$50,000 and above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3826004" y="3820001"/>
            <a:ext cx="3331997" cy="14002"/>
            <a:chOff x="0" y="0"/>
            <a:chExt cx="4442663" cy="1866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42714" cy="18669"/>
            </a:xfrm>
            <a:custGeom>
              <a:avLst/>
              <a:gdLst/>
              <a:ahLst/>
              <a:cxnLst/>
              <a:rect r="r" b="b" t="t" l="l"/>
              <a:pathLst>
                <a:path h="18669" w="4442714">
                  <a:moveTo>
                    <a:pt x="0" y="0"/>
                  </a:moveTo>
                  <a:lnTo>
                    <a:pt x="4442714" y="0"/>
                  </a:lnTo>
                  <a:lnTo>
                    <a:pt x="4442714" y="18669"/>
                  </a:lnTo>
                  <a:lnTo>
                    <a:pt x="0" y="18669"/>
                  </a:lnTo>
                  <a:close/>
                </a:path>
              </a:pathLst>
            </a:custGeom>
            <a:solidFill>
              <a:srgbClr val="2E4275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826004" y="3920004"/>
            <a:ext cx="3372002" cy="1322063"/>
            <a:chOff x="0" y="0"/>
            <a:chExt cx="4496003" cy="1762750"/>
          </a:xfrm>
        </p:grpSpPr>
        <p:sp>
          <p:nvSpPr>
            <p:cNvPr name="TextBox 80" id="80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BACKGROUND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0" y="258089"/>
              <a:ext cx="4496003" cy="1504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C6CFE4"/>
                  </a:solidFill>
                  <a:latin typeface="Exo 2"/>
                  <a:ea typeface="Exo 2"/>
                  <a:cs typeface="Exo 2"/>
                  <a:sym typeface="Exo 2"/>
                </a:rPr>
                <a:t>40 to 70, executives, CEOs, board members, business owners, or those involved in established family businesses. Heavy investors who are minimal users of social media.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826004" y="5365180"/>
            <a:ext cx="3372002" cy="1093463"/>
            <a:chOff x="0" y="0"/>
            <a:chExt cx="4496003" cy="1457950"/>
          </a:xfrm>
        </p:grpSpPr>
        <p:sp>
          <p:nvSpPr>
            <p:cNvPr name="TextBox 83" id="83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BEHAVIOUR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0" y="258089"/>
              <a:ext cx="4496003" cy="1199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C6CFE4"/>
                  </a:solidFill>
                  <a:latin typeface="Exo 2"/>
                  <a:ea typeface="Exo 2"/>
                  <a:cs typeface="Exo 2"/>
                  <a:sym typeface="Exo 2"/>
                </a:rPr>
                <a:t>Moves capital on relationship and referral, dwithout any consideration for social media. Tests with a fraction of the portfolio. Diligence takes weeks, and not days.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826004" y="6581757"/>
            <a:ext cx="3372002" cy="1093463"/>
            <a:chOff x="0" y="0"/>
            <a:chExt cx="4496003" cy="1457950"/>
          </a:xfrm>
        </p:grpSpPr>
        <p:sp>
          <p:nvSpPr>
            <p:cNvPr name="TextBox 86" id="86"/>
            <p:cNvSpPr txBox="true"/>
            <p:nvPr/>
          </p:nvSpPr>
          <p:spPr>
            <a:xfrm rot="0">
              <a:off x="0" y="-9525"/>
              <a:ext cx="4496003" cy="23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4"/>
                </a:lnSpc>
              </a:pPr>
              <a:r>
                <a:rPr lang="en-US" b="true" sz="1170" spc="153">
                  <a:solidFill>
                    <a:srgbClr val="D4AF3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WHAT UNLOCKS A DEPOSIT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0" y="258089"/>
              <a:ext cx="4496003" cy="1199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sz="1309">
                  <a:solidFill>
                    <a:srgbClr val="C6CFE4"/>
                  </a:solidFill>
                  <a:latin typeface="Exo 2"/>
                  <a:ea typeface="Exo 2"/>
                  <a:cs typeface="Exo 2"/>
                  <a:sym typeface="Exo 2"/>
                </a:rPr>
                <a:t>A relationship rather than a campaign. Accountability by name, Shari’ah and regulatory proof on demand, and permission to start small.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50001" y="8882657"/>
            <a:ext cx="16587997" cy="375643"/>
            <a:chOff x="0" y="0"/>
            <a:chExt cx="22117329" cy="50085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117304" cy="500851"/>
            </a:xfrm>
            <a:custGeom>
              <a:avLst/>
              <a:gdLst/>
              <a:ahLst/>
              <a:cxnLst/>
              <a:rect r="r" b="b" t="t" l="l"/>
              <a:pathLst>
                <a:path h="500851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500851"/>
                  </a:lnTo>
                  <a:lnTo>
                    <a:pt x="0" y="500851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50001" y="8882657"/>
            <a:ext cx="43996" cy="375643"/>
            <a:chOff x="0" y="0"/>
            <a:chExt cx="58661" cy="50085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8674" cy="500851"/>
            </a:xfrm>
            <a:custGeom>
              <a:avLst/>
              <a:gdLst/>
              <a:ahLst/>
              <a:cxnLst/>
              <a:rect r="r" b="b" t="t" l="l"/>
              <a:pathLst>
                <a:path h="500851" w="58674">
                  <a:moveTo>
                    <a:pt x="0" y="0"/>
                  </a:moveTo>
                  <a:lnTo>
                    <a:pt x="58674" y="0"/>
                  </a:lnTo>
                  <a:lnTo>
                    <a:pt x="58674" y="500851"/>
                  </a:lnTo>
                  <a:lnTo>
                    <a:pt x="0" y="500851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29998" y="8882657"/>
            <a:ext cx="16028003" cy="375641"/>
            <a:chOff x="0" y="0"/>
            <a:chExt cx="21370671" cy="50085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370666" cy="500852"/>
            </a:xfrm>
            <a:custGeom>
              <a:avLst/>
              <a:gdLst/>
              <a:ahLst/>
              <a:cxnLst/>
              <a:rect r="r" b="b" t="t" l="l"/>
              <a:pathLst>
                <a:path h="500852" w="21370666">
                  <a:moveTo>
                    <a:pt x="0" y="0"/>
                  </a:moveTo>
                  <a:lnTo>
                    <a:pt x="21370666" y="0"/>
                  </a:lnTo>
                  <a:lnTo>
                    <a:pt x="21370666" y="500852"/>
                  </a:lnTo>
                  <a:lnTo>
                    <a:pt x="0" y="50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5563" r="0" b="-82723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21370671" cy="51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7"/>
                </a:lnSpc>
              </a:pPr>
              <a:r>
                <a:rPr lang="en-US" sz="158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Two of these four can be served at scale. The other two are served one at a time.</a:t>
              </a: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6" id="96"/>
          <p:cNvGrpSpPr/>
          <p:nvPr/>
        </p:nvGrpSpPr>
        <p:grpSpPr>
          <a:xfrm rot="0">
            <a:off x="1028700" y="7646644"/>
            <a:ext cx="3076480" cy="640004"/>
            <a:chOff x="0" y="0"/>
            <a:chExt cx="4101973" cy="85333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101973" cy="853313"/>
            </a:xfrm>
            <a:custGeom>
              <a:avLst/>
              <a:gdLst/>
              <a:ahLst/>
              <a:cxnLst/>
              <a:rect r="r" b="b" t="t" l="l"/>
              <a:pathLst>
                <a:path h="853313" w="4101973">
                  <a:moveTo>
                    <a:pt x="0" y="0"/>
                  </a:moveTo>
                  <a:lnTo>
                    <a:pt x="4101973" y="0"/>
                  </a:lnTo>
                  <a:lnTo>
                    <a:pt x="4101973" y="853313"/>
                  </a:lnTo>
                  <a:lnTo>
                    <a:pt x="0" y="853313"/>
                  </a:lnTo>
                  <a:close/>
                </a:path>
              </a:pathLst>
            </a:custGeom>
            <a:solidFill>
              <a:srgbClr val="F0F3F9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28700" y="7932632"/>
            <a:ext cx="3076480" cy="640004"/>
            <a:chOff x="0" y="0"/>
            <a:chExt cx="4101973" cy="85333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101973" cy="853313"/>
            </a:xfrm>
            <a:custGeom>
              <a:avLst/>
              <a:gdLst/>
              <a:ahLst/>
              <a:cxnLst/>
              <a:rect r="r" b="b" t="t" l="l"/>
              <a:pathLst>
                <a:path h="853313" w="4101973">
                  <a:moveTo>
                    <a:pt x="0" y="0"/>
                  </a:moveTo>
                  <a:lnTo>
                    <a:pt x="4101973" y="0"/>
                  </a:lnTo>
                  <a:lnTo>
                    <a:pt x="4101973" y="853313"/>
                  </a:lnTo>
                  <a:lnTo>
                    <a:pt x="0" y="853313"/>
                  </a:lnTo>
                  <a:close/>
                </a:path>
              </a:pathLst>
            </a:custGeom>
            <a:solidFill>
              <a:srgbClr val="9AA5BC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805400" y="7812636"/>
            <a:ext cx="816321" cy="880000"/>
            <a:chOff x="0" y="0"/>
            <a:chExt cx="1088428" cy="117333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88425" cy="1173339"/>
            </a:xfrm>
            <a:custGeom>
              <a:avLst/>
              <a:gdLst/>
              <a:ahLst/>
              <a:cxnLst/>
              <a:rect r="r" b="b" t="t" l="l"/>
              <a:pathLst>
                <a:path h="1173339" w="1088425">
                  <a:moveTo>
                    <a:pt x="0" y="0"/>
                  </a:moveTo>
                  <a:lnTo>
                    <a:pt x="1088425" y="0"/>
                  </a:lnTo>
                  <a:lnTo>
                    <a:pt x="1088425" y="1173339"/>
                  </a:lnTo>
                  <a:lnTo>
                    <a:pt x="0" y="1173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311" t="0" r="-88311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1088428" cy="1173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99"/>
                </a:lnSpc>
              </a:pPr>
              <a:r>
                <a:rPr lang="en-US" sz="17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226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744920" y="7801409"/>
            <a:ext cx="816321" cy="880000"/>
            <a:chOff x="0" y="0"/>
            <a:chExt cx="1088428" cy="117333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88425" cy="1173339"/>
            </a:xfrm>
            <a:custGeom>
              <a:avLst/>
              <a:gdLst/>
              <a:ahLst/>
              <a:cxnLst/>
              <a:rect r="r" b="b" t="t" l="l"/>
              <a:pathLst>
                <a:path h="1173339" w="1088425">
                  <a:moveTo>
                    <a:pt x="0" y="0"/>
                  </a:moveTo>
                  <a:lnTo>
                    <a:pt x="1088425" y="0"/>
                  </a:lnTo>
                  <a:lnTo>
                    <a:pt x="1088425" y="1173339"/>
                  </a:lnTo>
                  <a:lnTo>
                    <a:pt x="0" y="1173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311" t="0" r="-88311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1088428" cy="1173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99"/>
                </a:lnSpc>
              </a:pPr>
              <a:r>
                <a:rPr lang="en-US" sz="17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46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076601" y="7921414"/>
            <a:ext cx="3076480" cy="640004"/>
            <a:chOff x="0" y="0"/>
            <a:chExt cx="4101973" cy="85333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101973" cy="853313"/>
            </a:xfrm>
            <a:custGeom>
              <a:avLst/>
              <a:gdLst/>
              <a:ahLst/>
              <a:cxnLst/>
              <a:rect r="r" b="b" t="t" l="l"/>
              <a:pathLst>
                <a:path h="853313" w="4101973">
                  <a:moveTo>
                    <a:pt x="0" y="0"/>
                  </a:moveTo>
                  <a:lnTo>
                    <a:pt x="4101973" y="0"/>
                  </a:lnTo>
                  <a:lnTo>
                    <a:pt x="4101973" y="853313"/>
                  </a:lnTo>
                  <a:lnTo>
                    <a:pt x="0" y="8533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5076601" y="7921414"/>
            <a:ext cx="701141" cy="640004"/>
            <a:chOff x="0" y="0"/>
            <a:chExt cx="934855" cy="85333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34841" cy="853313"/>
            </a:xfrm>
            <a:custGeom>
              <a:avLst/>
              <a:gdLst/>
              <a:ahLst/>
              <a:cxnLst/>
              <a:rect r="r" b="b" t="t" l="l"/>
              <a:pathLst>
                <a:path h="853313" w="934841">
                  <a:moveTo>
                    <a:pt x="0" y="0"/>
                  </a:moveTo>
                  <a:lnTo>
                    <a:pt x="934841" y="0"/>
                  </a:lnTo>
                  <a:lnTo>
                    <a:pt x="934841" y="853313"/>
                  </a:lnTo>
                  <a:lnTo>
                    <a:pt x="0" y="853313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433198" y="7932632"/>
            <a:ext cx="3076480" cy="640004"/>
            <a:chOff x="0" y="0"/>
            <a:chExt cx="4101973" cy="85333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101973" cy="853313"/>
            </a:xfrm>
            <a:custGeom>
              <a:avLst/>
              <a:gdLst/>
              <a:ahLst/>
              <a:cxnLst/>
              <a:rect r="r" b="b" t="t" l="l"/>
              <a:pathLst>
                <a:path h="853313" w="4101973">
                  <a:moveTo>
                    <a:pt x="0" y="0"/>
                  </a:moveTo>
                  <a:lnTo>
                    <a:pt x="4101973" y="0"/>
                  </a:lnTo>
                  <a:lnTo>
                    <a:pt x="4101973" y="853313"/>
                  </a:lnTo>
                  <a:lnTo>
                    <a:pt x="0" y="8533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433198" y="7932632"/>
            <a:ext cx="68066" cy="640004"/>
            <a:chOff x="0" y="0"/>
            <a:chExt cx="90754" cy="85333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0805" cy="853313"/>
            </a:xfrm>
            <a:custGeom>
              <a:avLst/>
              <a:gdLst/>
              <a:ahLst/>
              <a:cxnLst/>
              <a:rect r="r" b="b" t="t" l="l"/>
              <a:pathLst>
                <a:path h="853313" w="90805">
                  <a:moveTo>
                    <a:pt x="0" y="0"/>
                  </a:moveTo>
                  <a:lnTo>
                    <a:pt x="90805" y="0"/>
                  </a:lnTo>
                  <a:lnTo>
                    <a:pt x="90805" y="853313"/>
                  </a:lnTo>
                  <a:lnTo>
                    <a:pt x="0" y="853313"/>
                  </a:lnTo>
                  <a:close/>
                </a:path>
              </a:pathLst>
            </a:custGeom>
            <a:solidFill>
              <a:srgbClr val="E0C36A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2101517" y="7801409"/>
            <a:ext cx="816321" cy="880000"/>
            <a:chOff x="0" y="0"/>
            <a:chExt cx="1088428" cy="117333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088425" cy="1173339"/>
            </a:xfrm>
            <a:custGeom>
              <a:avLst/>
              <a:gdLst/>
              <a:ahLst/>
              <a:cxnLst/>
              <a:rect r="r" b="b" t="t" l="l"/>
              <a:pathLst>
                <a:path h="1173339" w="1088425">
                  <a:moveTo>
                    <a:pt x="0" y="0"/>
                  </a:moveTo>
                  <a:lnTo>
                    <a:pt x="1088425" y="0"/>
                  </a:lnTo>
                  <a:lnTo>
                    <a:pt x="1088425" y="1173339"/>
                  </a:lnTo>
                  <a:lnTo>
                    <a:pt x="0" y="1173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311" t="0" r="-88311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1088428" cy="1173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99"/>
                </a:lnSpc>
              </a:pPr>
              <a:r>
                <a:rPr lang="en-US" sz="174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5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619378" y="7921414"/>
            <a:ext cx="3076480" cy="640004"/>
            <a:chOff x="0" y="0"/>
            <a:chExt cx="4101973" cy="85333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101973" cy="853313"/>
            </a:xfrm>
            <a:custGeom>
              <a:avLst/>
              <a:gdLst/>
              <a:ahLst/>
              <a:cxnLst/>
              <a:rect r="r" b="b" t="t" l="l"/>
              <a:pathLst>
                <a:path h="853313" w="4101973">
                  <a:moveTo>
                    <a:pt x="0" y="0"/>
                  </a:moveTo>
                  <a:lnTo>
                    <a:pt x="4101973" y="0"/>
                  </a:lnTo>
                  <a:lnTo>
                    <a:pt x="4101973" y="853313"/>
                  </a:lnTo>
                  <a:lnTo>
                    <a:pt x="0" y="8533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619378" y="7921414"/>
            <a:ext cx="40834" cy="640004"/>
            <a:chOff x="0" y="0"/>
            <a:chExt cx="54445" cy="85333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4483" cy="853313"/>
            </a:xfrm>
            <a:custGeom>
              <a:avLst/>
              <a:gdLst/>
              <a:ahLst/>
              <a:cxnLst/>
              <a:rect r="r" b="b" t="t" l="l"/>
              <a:pathLst>
                <a:path h="853313" w="54483">
                  <a:moveTo>
                    <a:pt x="0" y="0"/>
                  </a:moveTo>
                  <a:lnTo>
                    <a:pt x="54483" y="0"/>
                  </a:lnTo>
                  <a:lnTo>
                    <a:pt x="54483" y="853313"/>
                  </a:lnTo>
                  <a:lnTo>
                    <a:pt x="0" y="853313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6350539" y="7801409"/>
            <a:ext cx="816321" cy="880000"/>
            <a:chOff x="0" y="0"/>
            <a:chExt cx="1088428" cy="1173333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88425" cy="1173339"/>
            </a:xfrm>
            <a:custGeom>
              <a:avLst/>
              <a:gdLst/>
              <a:ahLst/>
              <a:cxnLst/>
              <a:rect r="r" b="b" t="t" l="l"/>
              <a:pathLst>
                <a:path h="1173339" w="1088425">
                  <a:moveTo>
                    <a:pt x="0" y="0"/>
                  </a:moveTo>
                  <a:lnTo>
                    <a:pt x="1088425" y="0"/>
                  </a:lnTo>
                  <a:lnTo>
                    <a:pt x="1088425" y="1173339"/>
                  </a:lnTo>
                  <a:lnTo>
                    <a:pt x="0" y="1173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311" t="0" r="-88311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1088428" cy="1173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99"/>
                </a:lnSpc>
              </a:pPr>
              <a:r>
                <a:rPr lang="en-US" b="true" sz="1749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3</a:t>
              </a:r>
            </a:p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1129998" y="8060581"/>
            <a:ext cx="2790602" cy="19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8"/>
              </a:lnSpc>
              <a:spcBef>
                <a:spcPct val="0"/>
              </a:spcBef>
            </a:pPr>
            <a:r>
              <a:rPr lang="en-US" b="true" sz="1306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CLIENTS NEEDED TO CLOSE THE GAP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5204114" y="8032319"/>
            <a:ext cx="2789714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8"/>
              </a:lnSpc>
              <a:spcBef>
                <a:spcPct val="0"/>
              </a:spcBef>
            </a:pPr>
            <a:r>
              <a:rPr lang="en-US" b="true" sz="1306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CLIENT</a:t>
            </a:r>
            <a:r>
              <a:rPr lang="en-US" b="true" sz="1306">
                <a:gradFill>
                  <a:gsLst>
                    <a:gs pos="0">
                      <a:srgbClr val="22376F">
                        <a:alpha val="100000"/>
                      </a:srgbClr>
                    </a:gs>
                    <a:gs pos="100000">
                      <a:srgbClr val="101B3B">
                        <a:alpha val="100000"/>
                      </a:srgbClr>
                    </a:gs>
                  </a:gsLst>
                  <a:lin ang="18900000"/>
                </a:gradFill>
                <a:latin typeface="Exo 2 Bold"/>
                <a:ea typeface="Exo 2 Bold"/>
                <a:cs typeface="Exo 2 Bold"/>
                <a:sym typeface="Exo 2 Bold"/>
              </a:rPr>
              <a:t>S NEEDED TO CLOSE THE GAP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9576581" y="8050909"/>
            <a:ext cx="2789714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8"/>
              </a:lnSpc>
              <a:spcBef>
                <a:spcPct val="0"/>
              </a:spcBef>
            </a:pPr>
            <a:r>
              <a:rPr lang="en-US" b="true" sz="1306">
                <a:gradFill>
                  <a:gsLst>
                    <a:gs pos="0">
                      <a:srgbClr val="2D6CD3">
                        <a:alpha val="100000"/>
                      </a:srgbClr>
                    </a:gs>
                    <a:gs pos="100000">
                      <a:srgbClr val="1B2A61">
                        <a:alpha val="100000"/>
                      </a:srgbClr>
                    </a:gs>
                  </a:gsLst>
                  <a:lin ang="16200000"/>
                </a:gradFill>
                <a:latin typeface="Exo 2 Bold"/>
                <a:ea typeface="Exo 2 Bold"/>
                <a:cs typeface="Exo 2 Bold"/>
                <a:sym typeface="Exo 2 Bold"/>
              </a:rPr>
              <a:t>CLIENTS NEEDED TO CLOSE THE GAP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3762761" y="8050916"/>
            <a:ext cx="2789714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8"/>
              </a:lnSpc>
              <a:spcBef>
                <a:spcPct val="0"/>
              </a:spcBef>
            </a:pPr>
            <a:r>
              <a:rPr lang="en-US" b="true" sz="1306">
                <a:gradFill>
                  <a:gsLst>
                    <a:gs pos="0">
                      <a:srgbClr val="2D6CD3">
                        <a:alpha val="100000"/>
                      </a:srgbClr>
                    </a:gs>
                    <a:gs pos="100000">
                      <a:srgbClr val="1B2A61">
                        <a:alpha val="100000"/>
                      </a:srgbClr>
                    </a:gs>
                  </a:gsLst>
                  <a:lin ang="16200000"/>
                </a:gradFill>
                <a:latin typeface="Exo 2 Bold"/>
                <a:ea typeface="Exo 2 Bold"/>
                <a:cs typeface="Exo 2 Bold"/>
                <a:sym typeface="Exo 2 Bold"/>
              </a:rPr>
              <a:t>CLIENTS NEEDED TO CLOSE THE GAP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3762761" y="8243111"/>
            <a:ext cx="14449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  <a:spcBef>
                <a:spcPct val="0"/>
              </a:spcBef>
            </a:pPr>
            <a:r>
              <a:rPr lang="en-US" b="true" sz="1350">
                <a:gradFill>
                  <a:gsLst>
                    <a:gs pos="0">
                      <a:srgbClr val="2D6CD3">
                        <a:alpha val="100000"/>
                      </a:srgbClr>
                    </a:gs>
                    <a:gs pos="100000">
                      <a:srgbClr val="1B2A61">
                        <a:alpha val="100000"/>
                      </a:srgbClr>
                    </a:gs>
                  </a:gsLst>
                  <a:lin ang="16200000"/>
                </a:gradFill>
                <a:latin typeface="Exo 2 Bold"/>
                <a:ea typeface="Exo 2 Bold"/>
                <a:cs typeface="Exo 2 Bold"/>
                <a:sym typeface="Exo 2 Bold"/>
              </a:rPr>
              <a:t>HNW, at $100,000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9576581" y="8243111"/>
            <a:ext cx="162829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  <a:spcBef>
                <a:spcPct val="0"/>
              </a:spcBef>
            </a:pPr>
            <a:r>
              <a:rPr lang="en-US" b="true" sz="1350">
                <a:gradFill>
                  <a:gsLst>
                    <a:gs pos="0">
                      <a:srgbClr val="2D6CD3">
                        <a:alpha val="100000"/>
                      </a:srgbClr>
                    </a:gs>
                    <a:gs pos="100000">
                      <a:srgbClr val="1B2A61">
                        <a:alpha val="100000"/>
                      </a:srgbClr>
                    </a:gs>
                  </a:gsLst>
                  <a:lin ang="16200000"/>
                </a:gradFill>
                <a:latin typeface="Exo 2 Bold"/>
                <a:ea typeface="Exo 2 Bold"/>
                <a:cs typeface="Exo 2 Bold"/>
                <a:sym typeface="Exo 2 Bold"/>
              </a:rPr>
              <a:t>Affluent</a:t>
            </a:r>
            <a:r>
              <a:rPr lang="en-US" b="true" sz="1350">
                <a:gradFill>
                  <a:gsLst>
                    <a:gs pos="0">
                      <a:srgbClr val="2D6CD3">
                        <a:alpha val="100000"/>
                      </a:srgbClr>
                    </a:gs>
                    <a:gs pos="100000">
                      <a:srgbClr val="1B2A61">
                        <a:alpha val="100000"/>
                      </a:srgbClr>
                    </a:gs>
                  </a:gsLst>
                  <a:lin ang="16200000"/>
                </a:gradFill>
                <a:latin typeface="Exo 2 Bold"/>
                <a:ea typeface="Exo 2 Bold"/>
                <a:cs typeface="Exo 2 Bold"/>
                <a:sym typeface="Exo 2 Bold"/>
              </a:rPr>
              <a:t>, at $50,000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5212131" y="8260919"/>
            <a:ext cx="161226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  <a:spcBef>
                <a:spcPct val="0"/>
              </a:spcBef>
            </a:pPr>
            <a:r>
              <a:rPr lang="en-US" b="true" sz="135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Emergi</a:t>
            </a:r>
            <a:r>
              <a:rPr lang="en-US" b="true" sz="1350">
                <a:gradFill>
                  <a:gsLst>
                    <a:gs pos="0">
                      <a:srgbClr val="2D6CD3">
                        <a:alpha val="100000"/>
                      </a:srgbClr>
                    </a:gs>
                    <a:gs pos="100000">
                      <a:srgbClr val="1B2A61">
                        <a:alpha val="100000"/>
                      </a:srgbClr>
                    </a:gs>
                  </a:gsLst>
                  <a:lin ang="16200000"/>
                </a:gradFill>
                <a:latin typeface="Exo 2 Bold"/>
                <a:ea typeface="Exo 2 Bold"/>
                <a:cs typeface="Exo 2 Bold"/>
                <a:sym typeface="Exo 2 Bold"/>
              </a:rPr>
              <a:t>ng</a:t>
            </a:r>
            <a:r>
              <a:rPr lang="en-US" b="true" sz="1350">
                <a:gradFill>
                  <a:gsLst>
                    <a:gs pos="0">
                      <a:srgbClr val="2D6CD3">
                        <a:alpha val="100000"/>
                      </a:srgbClr>
                    </a:gs>
                    <a:gs pos="100000">
                      <a:srgbClr val="1B2A61">
                        <a:alpha val="100000"/>
                      </a:srgbClr>
                    </a:gs>
                  </a:gsLst>
                  <a:lin ang="16200000"/>
                </a:gradFill>
                <a:latin typeface="Exo 2 Bold"/>
                <a:ea typeface="Exo 2 Bold"/>
                <a:cs typeface="Exo 2 Bold"/>
                <a:sym typeface="Exo 2 Bold"/>
              </a:rPr>
              <a:t>, at $5,000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129998" y="8260919"/>
            <a:ext cx="118570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  <a:spcBef>
                <a:spcPct val="0"/>
              </a:spcBef>
            </a:pPr>
            <a:r>
              <a:rPr lang="en-US" b="true" sz="135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New</a:t>
            </a:r>
            <a:r>
              <a:rPr lang="en-US" b="true" sz="1350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, at $1,000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91443" y="9783042"/>
            <a:ext cx="717118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gradFill rotWithShape="true">
              <a:gsLst>
                <a:gs pos="0">
                  <a:srgbClr val="2D6CD3">
                    <a:alpha val="100000"/>
                  </a:srgbClr>
                </a:gs>
                <a:gs pos="100000">
                  <a:srgbClr val="1B2A61">
                    <a:alpha val="100000"/>
                  </a:srgbClr>
                </a:gs>
              </a:gsLst>
              <a:lin ang="162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002" y="610476"/>
            <a:ext cx="14317123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5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THE ASSIGNMENT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002" y="920001"/>
            <a:ext cx="1431712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b="true" sz="4160" spc="-60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Who Can Reach Our Segments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0002" y="1720472"/>
            <a:ext cx="13600005" cy="34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6B7488"/>
                </a:solidFill>
                <a:latin typeface="Exo 2"/>
                <a:ea typeface="Exo 2"/>
                <a:cs typeface="Exo 2"/>
                <a:sym typeface="Exo 2"/>
              </a:rPr>
              <a:t>The split follows how each client decides, not how much they hold.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99997" y="1180005"/>
            <a:ext cx="1400004" cy="7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96"/>
              </a:lnSpc>
            </a:pPr>
            <a:r>
              <a:rPr lang="en-US" sz="4580" b="true">
                <a:solidFill>
                  <a:srgbClr val="EDF0F7"/>
                </a:solidFill>
                <a:latin typeface="Exo 2 Bold"/>
                <a:ea typeface="Exo 2 Bold"/>
                <a:cs typeface="Exo 2 Bold"/>
                <a:sym typeface="Exo 2 Bold"/>
              </a:rPr>
              <a:t>03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0001" y="2530002"/>
            <a:ext cx="3921995" cy="1929994"/>
            <a:chOff x="0" y="0"/>
            <a:chExt cx="5229327" cy="25733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29352" cy="2573313"/>
            </a:xfrm>
            <a:custGeom>
              <a:avLst/>
              <a:gdLst/>
              <a:ahLst/>
              <a:cxnLst/>
              <a:rect r="r" b="b" t="t" l="l"/>
              <a:pathLst>
                <a:path h="2573313" w="5229352">
                  <a:moveTo>
                    <a:pt x="0" y="0"/>
                  </a:moveTo>
                  <a:lnTo>
                    <a:pt x="5229352" y="0"/>
                  </a:lnTo>
                  <a:lnTo>
                    <a:pt x="5229352" y="2573313"/>
                  </a:lnTo>
                  <a:lnTo>
                    <a:pt x="0" y="25733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0001" y="2530002"/>
            <a:ext cx="3921995" cy="47625"/>
            <a:chOff x="0" y="0"/>
            <a:chExt cx="5229327" cy="63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29352" cy="63513"/>
            </a:xfrm>
            <a:custGeom>
              <a:avLst/>
              <a:gdLst/>
              <a:ahLst/>
              <a:cxnLst/>
              <a:rect r="r" b="b" t="t" l="l"/>
              <a:pathLst>
                <a:path h="63513" w="5229352">
                  <a:moveTo>
                    <a:pt x="0" y="0"/>
                  </a:moveTo>
                  <a:lnTo>
                    <a:pt x="5229352" y="0"/>
                  </a:lnTo>
                  <a:lnTo>
                    <a:pt x="5229352" y="63513"/>
                  </a:lnTo>
                  <a:lnTo>
                    <a:pt x="0" y="63513"/>
                  </a:lnTo>
                  <a:close/>
                </a:path>
              </a:pathLst>
            </a:custGeom>
            <a:solidFill>
              <a:srgbClr val="9AA5B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30008" y="2930034"/>
            <a:ext cx="336200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9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New investor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0008" y="3478558"/>
            <a:ext cx="33620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Under $1,000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071996" y="2530002"/>
            <a:ext cx="3921995" cy="1929994"/>
            <a:chOff x="0" y="0"/>
            <a:chExt cx="5229327" cy="25733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29352" cy="2573313"/>
            </a:xfrm>
            <a:custGeom>
              <a:avLst/>
              <a:gdLst/>
              <a:ahLst/>
              <a:cxnLst/>
              <a:rect r="r" b="b" t="t" l="l"/>
              <a:pathLst>
                <a:path h="2573313" w="5229352">
                  <a:moveTo>
                    <a:pt x="0" y="0"/>
                  </a:moveTo>
                  <a:lnTo>
                    <a:pt x="5229352" y="0"/>
                  </a:lnTo>
                  <a:lnTo>
                    <a:pt x="5229352" y="2573313"/>
                  </a:lnTo>
                  <a:lnTo>
                    <a:pt x="0" y="25733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071996" y="2530002"/>
            <a:ext cx="3921995" cy="47625"/>
            <a:chOff x="0" y="0"/>
            <a:chExt cx="5229327" cy="63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29352" cy="63513"/>
            </a:xfrm>
            <a:custGeom>
              <a:avLst/>
              <a:gdLst/>
              <a:ahLst/>
              <a:cxnLst/>
              <a:rect r="r" b="b" t="t" l="l"/>
              <a:pathLst>
                <a:path h="63513" w="5229352">
                  <a:moveTo>
                    <a:pt x="0" y="0"/>
                  </a:moveTo>
                  <a:lnTo>
                    <a:pt x="5229352" y="0"/>
                  </a:lnTo>
                  <a:lnTo>
                    <a:pt x="5229352" y="63513"/>
                  </a:lnTo>
                  <a:lnTo>
                    <a:pt x="0" y="63513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352012" y="2930034"/>
            <a:ext cx="336200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9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Emerging investor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2012" y="3478558"/>
            <a:ext cx="33620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$1,000 to $5,000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94000" y="2530002"/>
            <a:ext cx="3921995" cy="1929994"/>
            <a:chOff x="0" y="0"/>
            <a:chExt cx="5229327" cy="25733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29352" cy="2573313"/>
            </a:xfrm>
            <a:custGeom>
              <a:avLst/>
              <a:gdLst/>
              <a:ahLst/>
              <a:cxnLst/>
              <a:rect r="r" b="b" t="t" l="l"/>
              <a:pathLst>
                <a:path h="2573313" w="5229352">
                  <a:moveTo>
                    <a:pt x="0" y="0"/>
                  </a:moveTo>
                  <a:lnTo>
                    <a:pt x="5229352" y="0"/>
                  </a:lnTo>
                  <a:lnTo>
                    <a:pt x="5229352" y="2573313"/>
                  </a:lnTo>
                  <a:lnTo>
                    <a:pt x="0" y="25733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94000" y="2530002"/>
            <a:ext cx="3921995" cy="47625"/>
            <a:chOff x="0" y="0"/>
            <a:chExt cx="5229327" cy="63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29352" cy="63513"/>
            </a:xfrm>
            <a:custGeom>
              <a:avLst/>
              <a:gdLst/>
              <a:ahLst/>
              <a:cxnLst/>
              <a:rect r="r" b="b" t="t" l="l"/>
              <a:pathLst>
                <a:path h="63513" w="5229352">
                  <a:moveTo>
                    <a:pt x="0" y="0"/>
                  </a:moveTo>
                  <a:lnTo>
                    <a:pt x="5229352" y="0"/>
                  </a:lnTo>
                  <a:lnTo>
                    <a:pt x="5229352" y="63513"/>
                  </a:lnTo>
                  <a:lnTo>
                    <a:pt x="0" y="63513"/>
                  </a:lnTo>
                  <a:close/>
                </a:path>
              </a:pathLst>
            </a:custGeom>
            <a:solidFill>
              <a:srgbClr val="E0C36A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574006" y="2930034"/>
            <a:ext cx="336200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9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Affluent investor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74006" y="3478558"/>
            <a:ext cx="33620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$5,000 to $50,000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515994" y="2530002"/>
            <a:ext cx="3921995" cy="1929994"/>
            <a:chOff x="0" y="0"/>
            <a:chExt cx="5229327" cy="25733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29352" cy="2573313"/>
            </a:xfrm>
            <a:custGeom>
              <a:avLst/>
              <a:gdLst/>
              <a:ahLst/>
              <a:cxnLst/>
              <a:rect r="r" b="b" t="t" l="l"/>
              <a:pathLst>
                <a:path h="2573313" w="5229352">
                  <a:moveTo>
                    <a:pt x="0" y="0"/>
                  </a:moveTo>
                  <a:lnTo>
                    <a:pt x="5229352" y="0"/>
                  </a:lnTo>
                  <a:lnTo>
                    <a:pt x="5229352" y="2573313"/>
                  </a:lnTo>
                  <a:lnTo>
                    <a:pt x="0" y="257331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515994" y="2530002"/>
            <a:ext cx="3921995" cy="47625"/>
            <a:chOff x="0" y="0"/>
            <a:chExt cx="5229327" cy="63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29352" cy="63513"/>
            </a:xfrm>
            <a:custGeom>
              <a:avLst/>
              <a:gdLst/>
              <a:ahLst/>
              <a:cxnLst/>
              <a:rect r="r" b="b" t="t" l="l"/>
              <a:pathLst>
                <a:path h="63513" w="5229352">
                  <a:moveTo>
                    <a:pt x="0" y="0"/>
                  </a:moveTo>
                  <a:lnTo>
                    <a:pt x="5229352" y="0"/>
                  </a:lnTo>
                  <a:lnTo>
                    <a:pt x="5229352" y="63513"/>
                  </a:lnTo>
                  <a:lnTo>
                    <a:pt x="0" y="63513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796000" y="2930034"/>
            <a:ext cx="336200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98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HNW investor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96000" y="3478558"/>
            <a:ext cx="33620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719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$50,000 and above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90190" y="5269516"/>
            <a:ext cx="8094002" cy="2473757"/>
            <a:chOff x="0" y="0"/>
            <a:chExt cx="10792003" cy="32983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91952" cy="3298380"/>
            </a:xfrm>
            <a:custGeom>
              <a:avLst/>
              <a:gdLst/>
              <a:ahLst/>
              <a:cxnLst/>
              <a:rect r="r" b="b" t="t" l="l"/>
              <a:pathLst>
                <a:path h="3298380" w="10791952">
                  <a:moveTo>
                    <a:pt x="0" y="0"/>
                  </a:moveTo>
                  <a:lnTo>
                    <a:pt x="10791952" y="0"/>
                  </a:lnTo>
                  <a:lnTo>
                    <a:pt x="10791952" y="3298380"/>
                  </a:lnTo>
                  <a:lnTo>
                    <a:pt x="0" y="3298380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90190" y="5299996"/>
            <a:ext cx="8094002" cy="45996"/>
            <a:chOff x="0" y="0"/>
            <a:chExt cx="10792003" cy="613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91952" cy="61341"/>
            </a:xfrm>
            <a:custGeom>
              <a:avLst/>
              <a:gdLst/>
              <a:ahLst/>
              <a:cxnLst/>
              <a:rect r="r" b="b" t="t" l="l"/>
              <a:pathLst>
                <a:path h="61341" w="10791952">
                  <a:moveTo>
                    <a:pt x="0" y="0"/>
                  </a:moveTo>
                  <a:lnTo>
                    <a:pt x="10791952" y="0"/>
                  </a:lnTo>
                  <a:lnTo>
                    <a:pt x="10791952" y="61341"/>
                  </a:lnTo>
                  <a:lnTo>
                    <a:pt x="0" y="61341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89996" y="5540473"/>
            <a:ext cx="741400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b="true" sz="2388" spc="252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WEALTHTECH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9996" y="6064348"/>
            <a:ext cx="741400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New and Emerging investors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9996" y="6563798"/>
            <a:ext cx="7414003" cy="98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19">
                <a:solidFill>
                  <a:srgbClr val="545C72"/>
                </a:solidFill>
                <a:latin typeface="Exo 2"/>
                <a:ea typeface="Exo 2"/>
                <a:cs typeface="Exo 2"/>
                <a:sym typeface="Exo 2"/>
              </a:rPr>
              <a:t>They arrive through search, social and the app, and decide without meeting anyone. Content, product and price move them, and reaching one is cheap enough that volume works.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343996" y="5299996"/>
            <a:ext cx="8094002" cy="2473757"/>
            <a:chOff x="0" y="0"/>
            <a:chExt cx="10792003" cy="329834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91952" cy="3298380"/>
            </a:xfrm>
            <a:custGeom>
              <a:avLst/>
              <a:gdLst/>
              <a:ahLst/>
              <a:cxnLst/>
              <a:rect r="r" b="b" t="t" l="l"/>
              <a:pathLst>
                <a:path h="3298380" w="10791952">
                  <a:moveTo>
                    <a:pt x="0" y="0"/>
                  </a:moveTo>
                  <a:lnTo>
                    <a:pt x="10791952" y="0"/>
                  </a:lnTo>
                  <a:lnTo>
                    <a:pt x="10791952" y="3298380"/>
                  </a:lnTo>
                  <a:lnTo>
                    <a:pt x="0" y="3298380"/>
                  </a:lnTo>
                  <a:close/>
                </a:path>
              </a:pathLst>
            </a:custGeom>
            <a:gradFill rotWithShape="true">
              <a:gsLst>
                <a:gs pos="0">
                  <a:srgbClr val="22376F">
                    <a:alpha val="100000"/>
                  </a:srgbClr>
                </a:gs>
                <a:gs pos="100000">
                  <a:srgbClr val="101B3B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43996" y="5299996"/>
            <a:ext cx="8094002" cy="45996"/>
            <a:chOff x="0" y="0"/>
            <a:chExt cx="10792003" cy="613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91952" cy="61341"/>
            </a:xfrm>
            <a:custGeom>
              <a:avLst/>
              <a:gdLst/>
              <a:ahLst/>
              <a:cxnLst/>
              <a:rect r="r" b="b" t="t" l="l"/>
              <a:pathLst>
                <a:path h="61341" w="10791952">
                  <a:moveTo>
                    <a:pt x="0" y="0"/>
                  </a:moveTo>
                  <a:lnTo>
                    <a:pt x="10791952" y="0"/>
                  </a:lnTo>
                  <a:lnTo>
                    <a:pt x="10791952" y="61341"/>
                  </a:lnTo>
                  <a:lnTo>
                    <a:pt x="0" y="61341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684001" y="5540473"/>
            <a:ext cx="741400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b="true" sz="2388" spc="252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PLACEMENT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83996" y="6064348"/>
            <a:ext cx="741400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b="true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Affluent and HNW investors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684001" y="6489249"/>
            <a:ext cx="7414003" cy="98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19">
                <a:solidFill>
                  <a:srgbClr val="C6CFE4"/>
                </a:solidFill>
                <a:latin typeface="Exo 2"/>
                <a:ea typeface="Exo 2"/>
                <a:cs typeface="Exo 2"/>
                <a:sym typeface="Exo 2"/>
              </a:rPr>
              <a:t>Neither can be bought. No advertising platform sells net worth, and both decide on relationship and referral. The team already sits in front of this client type for Ajyad.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50001" y="8250003"/>
            <a:ext cx="16587997" cy="720004"/>
            <a:chOff x="0" y="0"/>
            <a:chExt cx="22117329" cy="96000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117304" cy="959993"/>
            </a:xfrm>
            <a:custGeom>
              <a:avLst/>
              <a:gdLst/>
              <a:ahLst/>
              <a:cxnLst/>
              <a:rect r="r" b="b" t="t" l="l"/>
              <a:pathLst>
                <a:path h="95999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50001" y="8250003"/>
            <a:ext cx="43996" cy="720004"/>
            <a:chOff x="0" y="0"/>
            <a:chExt cx="58661" cy="96000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8674" cy="959993"/>
            </a:xfrm>
            <a:custGeom>
              <a:avLst/>
              <a:gdLst/>
              <a:ahLst/>
              <a:cxnLst/>
              <a:rect r="r" b="b" t="t" l="l"/>
              <a:pathLst>
                <a:path h="959993" w="58674">
                  <a:moveTo>
                    <a:pt x="0" y="0"/>
                  </a:moveTo>
                  <a:lnTo>
                    <a:pt x="58674" y="0"/>
                  </a:lnTo>
                  <a:lnTo>
                    <a:pt x="58674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29998" y="8250003"/>
            <a:ext cx="16028003" cy="720000"/>
            <a:chOff x="0" y="0"/>
            <a:chExt cx="21370671" cy="960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370666" cy="959994"/>
            </a:xfrm>
            <a:custGeom>
              <a:avLst/>
              <a:gdLst/>
              <a:ahLst/>
              <a:cxnLst/>
              <a:rect r="r" b="b" t="t" l="l"/>
              <a:pathLst>
                <a:path h="959994" w="21370666">
                  <a:moveTo>
                    <a:pt x="0" y="0"/>
                  </a:moveTo>
                  <a:lnTo>
                    <a:pt x="21370666" y="0"/>
                  </a:lnTo>
                  <a:lnTo>
                    <a:pt x="21370666" y="959994"/>
                  </a:lnTo>
                  <a:lnTo>
                    <a:pt x="0" y="9599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760" r="0" b="-38376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1370671" cy="96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7"/>
                </a:lnSpc>
              </a:pPr>
              <a:r>
                <a:rPr lang="en-US" sz="158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Three HNW clients at $100,000 each would close the entire gap on their own.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58" id="58"/>
          <p:cNvSpPr/>
          <p:nvPr/>
        </p:nvSpPr>
        <p:spPr>
          <a:xfrm>
            <a:off x="2791949" y="4459996"/>
            <a:ext cx="0" cy="809521"/>
          </a:xfrm>
          <a:prstGeom prst="line">
            <a:avLst/>
          </a:prstGeom>
          <a:ln cap="flat" w="19050">
            <a:solidFill>
              <a:srgbClr val="D4AF37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9" id="59"/>
          <p:cNvSpPr/>
          <p:nvPr/>
        </p:nvSpPr>
        <p:spPr>
          <a:xfrm>
            <a:off x="7013943" y="4459996"/>
            <a:ext cx="0" cy="809521"/>
          </a:xfrm>
          <a:prstGeom prst="line">
            <a:avLst/>
          </a:prstGeom>
          <a:ln cap="flat" w="19050">
            <a:solidFill>
              <a:srgbClr val="D4AF37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60" id="60"/>
          <p:cNvSpPr/>
          <p:nvPr/>
        </p:nvSpPr>
        <p:spPr>
          <a:xfrm>
            <a:off x="11235947" y="4459996"/>
            <a:ext cx="0" cy="809521"/>
          </a:xfrm>
          <a:prstGeom prst="line">
            <a:avLst/>
          </a:prstGeom>
          <a:ln cap="flat" w="19050">
            <a:solidFill>
              <a:srgbClr val="2E4275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61" id="61"/>
          <p:cNvSpPr/>
          <p:nvPr/>
        </p:nvSpPr>
        <p:spPr>
          <a:xfrm>
            <a:off x="15422756" y="4459996"/>
            <a:ext cx="0" cy="809521"/>
          </a:xfrm>
          <a:prstGeom prst="line">
            <a:avLst/>
          </a:prstGeom>
          <a:ln cap="flat" w="19050">
            <a:solidFill>
              <a:srgbClr val="2E4275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Freeform 62" id="62"/>
          <p:cNvSpPr/>
          <p:nvPr/>
        </p:nvSpPr>
        <p:spPr>
          <a:xfrm>
            <a:off x="7918121" y="4443093"/>
            <a:ext cx="3317826" cy="785552"/>
          </a:xfrm>
          <a:custGeom>
            <a:avLst/>
            <a:gdLst/>
            <a:ahLst/>
            <a:cxnLst/>
            <a:rect r="r" b="b" t="t" l="l"/>
            <a:pathLst>
              <a:path h="785552" w="3317826">
                <a:moveTo>
                  <a:pt x="3317827" y="0"/>
                </a:moveTo>
                <a:lnTo>
                  <a:pt x="3317827" y="257254"/>
                </a:lnTo>
                <a:cubicBezTo>
                  <a:pt x="3317827" y="383506"/>
                  <a:pt x="3215478" y="485854"/>
                  <a:pt x="3089227" y="485854"/>
                </a:cubicBezTo>
                <a:lnTo>
                  <a:pt x="149849" y="485854"/>
                </a:lnTo>
                <a:cubicBezTo>
                  <a:pt x="110107" y="485854"/>
                  <a:pt x="71992" y="501642"/>
                  <a:pt x="43890" y="529743"/>
                </a:cubicBezTo>
                <a:cubicBezTo>
                  <a:pt x="15788" y="557846"/>
                  <a:pt x="0" y="595960"/>
                  <a:pt x="0" y="635703"/>
                </a:cubicBezTo>
                <a:lnTo>
                  <a:pt x="0" y="785552"/>
                </a:lnTo>
              </a:path>
            </a:pathLst>
          </a:custGeom>
          <a:ln cap="flat" w="19050">
            <a:solidFill>
              <a:srgbClr val="D4AF37"/>
            </a:solidFill>
            <a:prstDash val="sysDot"/>
            <a:headEnd type="none" len="sm" w="sm"/>
            <a:tailEnd type="arrow" len="sm" w="me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91443" y="9783042"/>
            <a:ext cx="717118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gradFill rotWithShape="true">
              <a:gsLst>
                <a:gs pos="0">
                  <a:srgbClr val="2D6CD3">
                    <a:alpha val="100000"/>
                  </a:srgbClr>
                </a:gs>
                <a:gs pos="100000">
                  <a:srgbClr val="1B2A61">
                    <a:alpha val="100000"/>
                  </a:srgbClr>
                </a:gs>
              </a:gsLst>
              <a:lin ang="162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002" y="600951"/>
            <a:ext cx="14317123" cy="31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5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EXECUTION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002" y="920001"/>
            <a:ext cx="1431712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b="true" sz="4160" spc="-60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How We Reach Them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0002" y="1710947"/>
            <a:ext cx="1360000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6B7488"/>
                </a:solidFill>
                <a:latin typeface="Exo 2"/>
                <a:ea typeface="Exo 2"/>
                <a:cs typeface="Exo 2"/>
                <a:sym typeface="Exo 2"/>
              </a:rPr>
              <a:t>Three channels, matched to how each segment decides.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99997" y="1180005"/>
            <a:ext cx="1400004" cy="7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96"/>
              </a:lnSpc>
            </a:pPr>
            <a:r>
              <a:rPr lang="en-US" sz="4580" b="true">
                <a:solidFill>
                  <a:srgbClr val="EDF0F7"/>
                </a:solidFill>
                <a:latin typeface="Exo 2 Bold"/>
                <a:ea typeface="Exo 2 Bold"/>
                <a:cs typeface="Exo 2 Bold"/>
                <a:sym typeface="Exo 2 Bold"/>
              </a:rPr>
              <a:t>04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082015" y="2621509"/>
            <a:ext cx="5356003" cy="1979962"/>
            <a:chOff x="0" y="0"/>
            <a:chExt cx="7141337" cy="26399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41337" cy="2639949"/>
            </a:xfrm>
            <a:custGeom>
              <a:avLst/>
              <a:gdLst/>
              <a:ahLst/>
              <a:cxnLst/>
              <a:rect r="r" b="b" t="t" l="l"/>
              <a:pathLst>
                <a:path h="2639949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2639949"/>
                  </a:lnTo>
                  <a:lnTo>
                    <a:pt x="0" y="2639949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82015" y="2621509"/>
            <a:ext cx="5356003" cy="34004"/>
            <a:chOff x="0" y="0"/>
            <a:chExt cx="7141337" cy="453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41337" cy="45339"/>
            </a:xfrm>
            <a:custGeom>
              <a:avLst/>
              <a:gdLst/>
              <a:ahLst/>
              <a:cxnLst/>
              <a:rect r="r" b="b" t="t" l="l"/>
              <a:pathLst>
                <a:path h="45339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382014" y="2832459"/>
            <a:ext cx="4755994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18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AFFLUENT AND HNW  ·  CLOSES THE GAP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82014" y="3132458"/>
            <a:ext cx="273034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858" b="true">
                <a:solidFill>
                  <a:srgbClr val="9A7B1F"/>
                </a:solidFill>
                <a:latin typeface="Exo 2 Bold"/>
                <a:ea typeface="Exo 2 Bold"/>
                <a:cs typeface="Exo 2 Bold"/>
                <a:sym typeface="Exo 2 Bold"/>
              </a:rPr>
              <a:t>In Person Visits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82014" y="3649932"/>
            <a:ext cx="4755994" cy="24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Closing the deposits gap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2014" y="3945312"/>
            <a:ext cx="4755994" cy="477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In person visits with high net worth individuals are essential for building trust and securing larger deposits.</a:t>
            </a:r>
          </a:p>
        </p:txBody>
      </p:sp>
      <p:grpSp>
        <p:nvGrpSpPr>
          <p:cNvPr name="Group 20" id="20"/>
          <p:cNvGrpSpPr/>
          <p:nvPr/>
        </p:nvGrpSpPr>
        <p:grpSpPr>
          <a:xfrm rot="5400000">
            <a:off x="6191424" y="3487512"/>
            <a:ext cx="180022" cy="180022"/>
            <a:chOff x="0" y="0"/>
            <a:chExt cx="240030" cy="2400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0030" cy="240030"/>
            </a:xfrm>
            <a:custGeom>
              <a:avLst/>
              <a:gdLst/>
              <a:ahLst/>
              <a:cxnLst/>
              <a:rect r="r" b="b" t="t" l="l"/>
              <a:pathLst>
                <a:path h="240030" w="240030">
                  <a:moveTo>
                    <a:pt x="0" y="240030"/>
                  </a:moveTo>
                  <a:lnTo>
                    <a:pt x="120015" y="0"/>
                  </a:lnTo>
                  <a:lnTo>
                    <a:pt x="240030" y="240030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29627" y="2587504"/>
            <a:ext cx="5356003" cy="2013966"/>
            <a:chOff x="0" y="0"/>
            <a:chExt cx="7141337" cy="2685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41337" cy="2685288"/>
            </a:xfrm>
            <a:custGeom>
              <a:avLst/>
              <a:gdLst/>
              <a:ahLst/>
              <a:cxnLst/>
              <a:rect r="r" b="b" t="t" l="l"/>
              <a:pathLst>
                <a:path h="2685288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2685288"/>
                  </a:lnTo>
                  <a:lnTo>
                    <a:pt x="0" y="268528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29627" y="2587504"/>
            <a:ext cx="5356003" cy="34004"/>
            <a:chOff x="0" y="0"/>
            <a:chExt cx="7141337" cy="453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41337" cy="45339"/>
            </a:xfrm>
            <a:custGeom>
              <a:avLst/>
              <a:gdLst/>
              <a:ahLst/>
              <a:cxnLst/>
              <a:rect r="r" b="b" t="t" l="l"/>
              <a:pathLst>
                <a:path h="45339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729627" y="2798455"/>
            <a:ext cx="4755994" cy="19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18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AFFLUENT  ·  FINDS THE ROOM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29627" y="3208487"/>
            <a:ext cx="4755994" cy="45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858" b="true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LinkedIn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29627" y="3748599"/>
            <a:ext cx="4755994" cy="24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Seniority and networth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29627" y="4043978"/>
            <a:ext cx="4755994" cy="220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Owner, Partner, CXO, VP and Director, GCC based.</a:t>
            </a:r>
          </a:p>
        </p:txBody>
      </p:sp>
      <p:grpSp>
        <p:nvGrpSpPr>
          <p:cNvPr name="Group 30" id="30"/>
          <p:cNvGrpSpPr/>
          <p:nvPr/>
        </p:nvGrpSpPr>
        <p:grpSpPr>
          <a:xfrm rot="5400000">
            <a:off x="11843811" y="3487512"/>
            <a:ext cx="180022" cy="180022"/>
            <a:chOff x="0" y="0"/>
            <a:chExt cx="240030" cy="2400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0030" cy="240030"/>
            </a:xfrm>
            <a:custGeom>
              <a:avLst/>
              <a:gdLst/>
              <a:ahLst/>
              <a:cxnLst/>
              <a:rect r="r" b="b" t="t" l="l"/>
              <a:pathLst>
                <a:path h="240030" w="240030">
                  <a:moveTo>
                    <a:pt x="0" y="240030"/>
                  </a:moveTo>
                  <a:lnTo>
                    <a:pt x="120015" y="0"/>
                  </a:lnTo>
                  <a:lnTo>
                    <a:pt x="240030" y="240030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77240" y="2587504"/>
            <a:ext cx="5356003" cy="2013966"/>
            <a:chOff x="0" y="0"/>
            <a:chExt cx="7141337" cy="2685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41337" cy="2685288"/>
            </a:xfrm>
            <a:custGeom>
              <a:avLst/>
              <a:gdLst/>
              <a:ahLst/>
              <a:cxnLst/>
              <a:rect r="r" b="b" t="t" l="l"/>
              <a:pathLst>
                <a:path h="2685288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2685288"/>
                  </a:lnTo>
                  <a:lnTo>
                    <a:pt x="0" y="2685288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77240" y="2587504"/>
            <a:ext cx="5356003" cy="34004"/>
            <a:chOff x="0" y="0"/>
            <a:chExt cx="7141337" cy="453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41337" cy="45339"/>
            </a:xfrm>
            <a:custGeom>
              <a:avLst/>
              <a:gdLst/>
              <a:ahLst/>
              <a:cxnLst/>
              <a:rect r="r" b="b" t="t" l="l"/>
              <a:pathLst>
                <a:path h="45339" w="7141337">
                  <a:moveTo>
                    <a:pt x="0" y="0"/>
                  </a:moveTo>
                  <a:lnTo>
                    <a:pt x="7141337" y="0"/>
                  </a:lnTo>
                  <a:lnTo>
                    <a:pt x="7141337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77239" y="2798455"/>
            <a:ext cx="4755994" cy="29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18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NEW AND EMERGING  ·  THE VOLUME SEGMENTS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7239" y="3208487"/>
            <a:ext cx="4755994" cy="4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858" b="true">
                <a:solidFill>
                  <a:srgbClr val="1BA97C"/>
                </a:solidFill>
                <a:latin typeface="Exo 2 Bold"/>
                <a:ea typeface="Exo 2 Bold"/>
                <a:cs typeface="Exo 2 Bold"/>
                <a:sym typeface="Exo 2 Bold"/>
              </a:rPr>
              <a:t>Google Ads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3695" y="3727675"/>
            <a:ext cx="4755994" cy="24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1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In-addition to the current marketing strategy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7239" y="4023055"/>
            <a:ext cx="4755994" cy="43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00">
                <a:solidFill>
                  <a:srgbClr val="7A849C"/>
                </a:solidFill>
                <a:latin typeface="Exo 2"/>
                <a:ea typeface="Exo 2"/>
                <a:cs typeface="Exo 2"/>
                <a:sym typeface="Exo 2"/>
              </a:rPr>
              <a:t>Saudi led. Global access, Shari’ah investing, purification and brand defence.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50001" y="5209499"/>
            <a:ext cx="150019" cy="26003"/>
            <a:chOff x="0" y="0"/>
            <a:chExt cx="200025" cy="346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0025" cy="34671"/>
            </a:xfrm>
            <a:custGeom>
              <a:avLst/>
              <a:gdLst/>
              <a:ahLst/>
              <a:cxnLst/>
              <a:rect r="r" b="b" t="t" l="l"/>
              <a:pathLst>
                <a:path h="34671" w="200025">
                  <a:moveTo>
                    <a:pt x="0" y="0"/>
                  </a:moveTo>
                  <a:lnTo>
                    <a:pt x="200025" y="0"/>
                  </a:lnTo>
                  <a:lnTo>
                    <a:pt x="200025" y="34671"/>
                  </a:lnTo>
                  <a:lnTo>
                    <a:pt x="0" y="34671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52487" y="5062804"/>
            <a:ext cx="744999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b="true" sz="2019" spc="274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Google Ads Keyword Examples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50001" y="5563495"/>
            <a:ext cx="4027494" cy="400002"/>
            <a:chOff x="0" y="0"/>
            <a:chExt cx="5369992" cy="533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9941" cy="533273"/>
            </a:xfrm>
            <a:custGeom>
              <a:avLst/>
              <a:gdLst/>
              <a:ahLst/>
              <a:cxnLst/>
              <a:rect r="r" b="b" t="t" l="l"/>
              <a:pathLst>
                <a:path h="533273" w="5369941">
                  <a:moveTo>
                    <a:pt x="0" y="0"/>
                  </a:moveTo>
                  <a:lnTo>
                    <a:pt x="5369941" y="0"/>
                  </a:lnTo>
                  <a:lnTo>
                    <a:pt x="5369941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70" r="0" b="-14608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50001" y="5563495"/>
            <a:ext cx="4027484" cy="400002"/>
            <a:chOff x="0" y="0"/>
            <a:chExt cx="5369979" cy="533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69984" cy="533333"/>
            </a:xfrm>
            <a:custGeom>
              <a:avLst/>
              <a:gdLst/>
              <a:ahLst/>
              <a:cxnLst/>
              <a:rect r="r" b="b" t="t" l="l"/>
              <a:pathLst>
                <a:path h="533333" w="5369984">
                  <a:moveTo>
                    <a:pt x="0" y="0"/>
                  </a:moveTo>
                  <a:lnTo>
                    <a:pt x="5369984" y="0"/>
                  </a:lnTo>
                  <a:lnTo>
                    <a:pt x="5369984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6188" r="0" b="-14618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369979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0"/>
                </a:lnSpc>
              </a:pPr>
              <a:r>
                <a:rPr lang="en-US" b="true" sz="1659" spc="158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Search Other than Trading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162874" y="5563495"/>
            <a:ext cx="8506254" cy="400002"/>
            <a:chOff x="0" y="0"/>
            <a:chExt cx="11341672" cy="533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341608" cy="533273"/>
            </a:xfrm>
            <a:custGeom>
              <a:avLst/>
              <a:gdLst/>
              <a:ahLst/>
              <a:cxnLst/>
              <a:rect r="r" b="b" t="t" l="l"/>
              <a:pathLst>
                <a:path h="533273" w="11341608">
                  <a:moveTo>
                    <a:pt x="0" y="0"/>
                  </a:moveTo>
                  <a:lnTo>
                    <a:pt x="11341608" y="0"/>
                  </a:lnTo>
                  <a:lnTo>
                    <a:pt x="11341608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115" r="0" b="-364124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162874" y="5563495"/>
            <a:ext cx="8506244" cy="400002"/>
            <a:chOff x="0" y="0"/>
            <a:chExt cx="11341659" cy="5333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341661" cy="533333"/>
            </a:xfrm>
            <a:custGeom>
              <a:avLst/>
              <a:gdLst/>
              <a:ahLst/>
              <a:cxnLst/>
              <a:rect r="r" b="b" t="t" l="l"/>
              <a:pathLst>
                <a:path h="533333" w="11341661">
                  <a:moveTo>
                    <a:pt x="0" y="0"/>
                  </a:moveTo>
                  <a:lnTo>
                    <a:pt x="11341661" y="0"/>
                  </a:lnTo>
                  <a:lnTo>
                    <a:pt x="11341661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360" r="0" b="-36436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1341659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90"/>
                </a:lnSpc>
              </a:pPr>
              <a:r>
                <a:rPr lang="en-US" b="true" sz="1659" spc="158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Example keywords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954525" y="5563495"/>
            <a:ext cx="3198095" cy="400002"/>
            <a:chOff x="0" y="0"/>
            <a:chExt cx="4264127" cy="533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64152" cy="533273"/>
            </a:xfrm>
            <a:custGeom>
              <a:avLst/>
              <a:gdLst/>
              <a:ahLst/>
              <a:cxnLst/>
              <a:rect r="r" b="b" t="t" l="l"/>
              <a:pathLst>
                <a:path h="533273" w="4264152">
                  <a:moveTo>
                    <a:pt x="0" y="0"/>
                  </a:moveTo>
                  <a:lnTo>
                    <a:pt x="4264152" y="0"/>
                  </a:lnTo>
                  <a:lnTo>
                    <a:pt x="4264152" y="533273"/>
                  </a:lnTo>
                  <a:lnTo>
                    <a:pt x="0" y="533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91" r="0" b="-105701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954525" y="5563495"/>
            <a:ext cx="3198085" cy="400002"/>
            <a:chOff x="0" y="0"/>
            <a:chExt cx="4264114" cy="5333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64115" cy="533333"/>
            </a:xfrm>
            <a:custGeom>
              <a:avLst/>
              <a:gdLst/>
              <a:ahLst/>
              <a:cxnLst/>
              <a:rect r="r" b="b" t="t" l="l"/>
              <a:pathLst>
                <a:path h="533333" w="4264115">
                  <a:moveTo>
                    <a:pt x="0" y="0"/>
                  </a:moveTo>
                  <a:lnTo>
                    <a:pt x="4264115" y="0"/>
                  </a:lnTo>
                  <a:lnTo>
                    <a:pt x="4264115" y="533333"/>
                  </a:lnTo>
                  <a:lnTo>
                    <a:pt x="0" y="5333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86" r="0" b="-10578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4264114" cy="533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90"/>
                </a:lnSpc>
              </a:pPr>
              <a:r>
                <a:rPr lang="en-US" b="true" sz="1659" spc="158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Est. CPC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50001" y="5963498"/>
            <a:ext cx="16588016" cy="22003"/>
            <a:chOff x="0" y="0"/>
            <a:chExt cx="22117355" cy="2933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117304" cy="29337"/>
            </a:xfrm>
            <a:custGeom>
              <a:avLst/>
              <a:gdLst/>
              <a:ahLst/>
              <a:cxnLst/>
              <a:rect r="r" b="b" t="t" l="l"/>
              <a:pathLst>
                <a:path h="29337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50001" y="6023600"/>
            <a:ext cx="4027494" cy="439998"/>
            <a:chOff x="0" y="0"/>
            <a:chExt cx="5369992" cy="5866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69941" cy="586613"/>
            </a:xfrm>
            <a:custGeom>
              <a:avLst/>
              <a:gdLst/>
              <a:ahLst/>
              <a:cxnLst/>
              <a:rect r="r" b="b" t="t" l="l"/>
              <a:pathLst>
                <a:path h="586613" w="5369941">
                  <a:moveTo>
                    <a:pt x="0" y="0"/>
                  </a:moveTo>
                  <a:lnTo>
                    <a:pt x="5369941" y="0"/>
                  </a:lnTo>
                  <a:lnTo>
                    <a:pt x="5369941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242" r="0" b="-12825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50001" y="6016457"/>
            <a:ext cx="4027484" cy="447142"/>
            <a:chOff x="0" y="0"/>
            <a:chExt cx="5369979" cy="5961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69984" cy="596192"/>
            </a:xfrm>
            <a:custGeom>
              <a:avLst/>
              <a:gdLst/>
              <a:ahLst/>
              <a:cxnLst/>
              <a:rect r="r" b="b" t="t" l="l"/>
              <a:pathLst>
                <a:path h="596192" w="5369984">
                  <a:moveTo>
                    <a:pt x="0" y="0"/>
                  </a:moveTo>
                  <a:lnTo>
                    <a:pt x="5369984" y="0"/>
                  </a:lnTo>
                  <a:lnTo>
                    <a:pt x="5369984" y="596192"/>
                  </a:lnTo>
                  <a:lnTo>
                    <a:pt x="0" y="596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504" r="0" b="-1255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5369979" cy="60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8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Global market access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162874" y="6023600"/>
            <a:ext cx="9217133" cy="439998"/>
            <a:chOff x="0" y="0"/>
            <a:chExt cx="12289511" cy="5866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289536" cy="586613"/>
            </a:xfrm>
            <a:custGeom>
              <a:avLst/>
              <a:gdLst/>
              <a:ahLst/>
              <a:cxnLst/>
              <a:rect r="r" b="b" t="t" l="l"/>
              <a:pathLst>
                <a:path h="586613" w="12289536">
                  <a:moveTo>
                    <a:pt x="0" y="0"/>
                  </a:moveTo>
                  <a:lnTo>
                    <a:pt x="12289536" y="0"/>
                  </a:lnTo>
                  <a:lnTo>
                    <a:pt x="12289536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921" r="0" b="-357932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162874" y="6002169"/>
            <a:ext cx="9217133" cy="461429"/>
            <a:chOff x="0" y="0"/>
            <a:chExt cx="12289511" cy="61523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289508" cy="615242"/>
            </a:xfrm>
            <a:custGeom>
              <a:avLst/>
              <a:gdLst/>
              <a:ahLst/>
              <a:cxnLst/>
              <a:rect r="r" b="b" t="t" l="l"/>
              <a:pathLst>
                <a:path h="615242" w="12289508">
                  <a:moveTo>
                    <a:pt x="0" y="0"/>
                  </a:moveTo>
                  <a:lnTo>
                    <a:pt x="12289508" y="0"/>
                  </a:lnTo>
                  <a:lnTo>
                    <a:pt x="12289508" y="615242"/>
                  </a:lnTo>
                  <a:lnTo>
                    <a:pt x="0" y="6152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215" r="0" b="-33921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2289511" cy="643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ar-EG" sz="1649">
                  <a:solidFill>
                    <a:srgbClr val="545C72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تداول الأسهم الأمريكية</a:t>
              </a:r>
              <a:r>
                <a:rPr lang="en-US" sz="1649">
                  <a:solidFill>
                    <a:srgbClr val="545C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invest in US stocks from Saudi Arabia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954525" y="6023600"/>
            <a:ext cx="3198095" cy="439998"/>
            <a:chOff x="0" y="0"/>
            <a:chExt cx="4264127" cy="5866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264152" cy="586613"/>
            </a:xfrm>
            <a:custGeom>
              <a:avLst/>
              <a:gdLst/>
              <a:ahLst/>
              <a:cxnLst/>
              <a:rect r="r" b="b" t="t" l="l"/>
              <a:pathLst>
                <a:path h="586613" w="4264152">
                  <a:moveTo>
                    <a:pt x="0" y="0"/>
                  </a:moveTo>
                  <a:lnTo>
                    <a:pt x="4264152" y="0"/>
                  </a:lnTo>
                  <a:lnTo>
                    <a:pt x="4264152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34" r="0" b="-91543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954525" y="6016457"/>
            <a:ext cx="3198085" cy="447142"/>
            <a:chOff x="0" y="0"/>
            <a:chExt cx="4264114" cy="59618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264115" cy="596192"/>
            </a:xfrm>
            <a:custGeom>
              <a:avLst/>
              <a:gdLst/>
              <a:ahLst/>
              <a:cxnLst/>
              <a:rect r="r" b="b" t="t" l="l"/>
              <a:pathLst>
                <a:path h="596192" w="4264115">
                  <a:moveTo>
                    <a:pt x="0" y="0"/>
                  </a:moveTo>
                  <a:lnTo>
                    <a:pt x="4264115" y="0"/>
                  </a:lnTo>
                  <a:lnTo>
                    <a:pt x="4264115" y="596192"/>
                  </a:lnTo>
                  <a:lnTo>
                    <a:pt x="0" y="596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362" r="0" b="-8936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4264114" cy="60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19"/>
                </a:lnSpc>
              </a:pPr>
              <a:r>
                <a:rPr lang="en-US" sz="1848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$3.00 to $4.50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50001" y="6452597"/>
            <a:ext cx="16588016" cy="10954"/>
            <a:chOff x="0" y="0"/>
            <a:chExt cx="22117355" cy="1460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117304" cy="14605"/>
            </a:xfrm>
            <a:custGeom>
              <a:avLst/>
              <a:gdLst/>
              <a:ahLst/>
              <a:cxnLst/>
              <a:rect r="r" b="b" t="t" l="l"/>
              <a:pathLst>
                <a:path h="14605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50001" y="6463598"/>
            <a:ext cx="4027494" cy="439998"/>
            <a:chOff x="0" y="0"/>
            <a:chExt cx="5369992" cy="58666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69941" cy="586613"/>
            </a:xfrm>
            <a:custGeom>
              <a:avLst/>
              <a:gdLst/>
              <a:ahLst/>
              <a:cxnLst/>
              <a:rect r="r" b="b" t="t" l="l"/>
              <a:pathLst>
                <a:path h="586613" w="5369941">
                  <a:moveTo>
                    <a:pt x="0" y="0"/>
                  </a:moveTo>
                  <a:lnTo>
                    <a:pt x="5369941" y="0"/>
                  </a:lnTo>
                  <a:lnTo>
                    <a:pt x="5369941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242" r="0" b="-12825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50001" y="6456455"/>
            <a:ext cx="4027484" cy="447142"/>
            <a:chOff x="0" y="0"/>
            <a:chExt cx="5369979" cy="59618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369984" cy="596192"/>
            </a:xfrm>
            <a:custGeom>
              <a:avLst/>
              <a:gdLst/>
              <a:ahLst/>
              <a:cxnLst/>
              <a:rect r="r" b="b" t="t" l="l"/>
              <a:pathLst>
                <a:path h="596192" w="5369984">
                  <a:moveTo>
                    <a:pt x="0" y="0"/>
                  </a:moveTo>
                  <a:lnTo>
                    <a:pt x="5369984" y="0"/>
                  </a:lnTo>
                  <a:lnTo>
                    <a:pt x="5369984" y="596192"/>
                  </a:lnTo>
                  <a:lnTo>
                    <a:pt x="0" y="596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504" r="0" b="-12550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5369979" cy="60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8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Shari’ah investing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162874" y="6463598"/>
            <a:ext cx="8791651" cy="439998"/>
            <a:chOff x="0" y="0"/>
            <a:chExt cx="11722202" cy="5866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722227" cy="586613"/>
            </a:xfrm>
            <a:custGeom>
              <a:avLst/>
              <a:gdLst/>
              <a:ahLst/>
              <a:cxnLst/>
              <a:rect r="r" b="b" t="t" l="l"/>
              <a:pathLst>
                <a:path h="586613" w="11722227">
                  <a:moveTo>
                    <a:pt x="0" y="0"/>
                  </a:moveTo>
                  <a:lnTo>
                    <a:pt x="11722227" y="0"/>
                  </a:lnTo>
                  <a:lnTo>
                    <a:pt x="11722227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090" r="0" b="-339101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5162874" y="6442167"/>
            <a:ext cx="8791651" cy="461429"/>
            <a:chOff x="0" y="0"/>
            <a:chExt cx="11722202" cy="61523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722200" cy="615242"/>
            </a:xfrm>
            <a:custGeom>
              <a:avLst/>
              <a:gdLst/>
              <a:ahLst/>
              <a:cxnLst/>
              <a:rect r="r" b="b" t="t" l="l"/>
              <a:pathLst>
                <a:path h="615242" w="11722200">
                  <a:moveTo>
                    <a:pt x="0" y="0"/>
                  </a:moveTo>
                  <a:lnTo>
                    <a:pt x="11722200" y="0"/>
                  </a:lnTo>
                  <a:lnTo>
                    <a:pt x="11722200" y="615242"/>
                  </a:lnTo>
                  <a:lnTo>
                    <a:pt x="0" y="6152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248" r="0" b="-32124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11722202" cy="643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ar-EG" sz="1649">
                  <a:solidFill>
                    <a:srgbClr val="545C72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تطبيق استثمار حلال</a:t>
              </a:r>
              <a:r>
                <a:rPr lang="en-US" sz="1649">
                  <a:solidFill>
                    <a:srgbClr val="545C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halal investing app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954525" y="6463598"/>
            <a:ext cx="3198095" cy="439998"/>
            <a:chOff x="0" y="0"/>
            <a:chExt cx="4264127" cy="58666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264152" cy="586613"/>
            </a:xfrm>
            <a:custGeom>
              <a:avLst/>
              <a:gdLst/>
              <a:ahLst/>
              <a:cxnLst/>
              <a:rect r="r" b="b" t="t" l="l"/>
              <a:pathLst>
                <a:path h="586613" w="4264152">
                  <a:moveTo>
                    <a:pt x="0" y="0"/>
                  </a:moveTo>
                  <a:lnTo>
                    <a:pt x="4264152" y="0"/>
                  </a:lnTo>
                  <a:lnTo>
                    <a:pt x="4264152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34" r="0" b="-91543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954525" y="6456455"/>
            <a:ext cx="3198085" cy="447142"/>
            <a:chOff x="0" y="0"/>
            <a:chExt cx="4264114" cy="59618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264115" cy="596192"/>
            </a:xfrm>
            <a:custGeom>
              <a:avLst/>
              <a:gdLst/>
              <a:ahLst/>
              <a:cxnLst/>
              <a:rect r="r" b="b" t="t" l="l"/>
              <a:pathLst>
                <a:path h="596192" w="4264115">
                  <a:moveTo>
                    <a:pt x="0" y="0"/>
                  </a:moveTo>
                  <a:lnTo>
                    <a:pt x="4264115" y="0"/>
                  </a:lnTo>
                  <a:lnTo>
                    <a:pt x="4264115" y="596192"/>
                  </a:lnTo>
                  <a:lnTo>
                    <a:pt x="0" y="596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362" r="0" b="-8936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4264114" cy="60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19"/>
                </a:lnSpc>
              </a:pPr>
              <a:r>
                <a:rPr lang="en-US" sz="1848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$2.00 to $3.50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50001" y="6892595"/>
            <a:ext cx="16588016" cy="10954"/>
            <a:chOff x="0" y="0"/>
            <a:chExt cx="22117355" cy="1460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117304" cy="14605"/>
            </a:xfrm>
            <a:custGeom>
              <a:avLst/>
              <a:gdLst/>
              <a:ahLst/>
              <a:cxnLst/>
              <a:rect r="r" b="b" t="t" l="l"/>
              <a:pathLst>
                <a:path h="14605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50001" y="6903596"/>
            <a:ext cx="4027494" cy="439998"/>
            <a:chOff x="0" y="0"/>
            <a:chExt cx="5369992" cy="5866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69941" cy="586613"/>
            </a:xfrm>
            <a:custGeom>
              <a:avLst/>
              <a:gdLst/>
              <a:ahLst/>
              <a:cxnLst/>
              <a:rect r="r" b="b" t="t" l="l"/>
              <a:pathLst>
                <a:path h="586613" w="5369941">
                  <a:moveTo>
                    <a:pt x="0" y="0"/>
                  </a:moveTo>
                  <a:lnTo>
                    <a:pt x="5369941" y="0"/>
                  </a:lnTo>
                  <a:lnTo>
                    <a:pt x="5369941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242" r="0" b="-12825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850001" y="6896452"/>
            <a:ext cx="4027484" cy="447142"/>
            <a:chOff x="0" y="0"/>
            <a:chExt cx="5369979" cy="59618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369984" cy="596192"/>
            </a:xfrm>
            <a:custGeom>
              <a:avLst/>
              <a:gdLst/>
              <a:ahLst/>
              <a:cxnLst/>
              <a:rect r="r" b="b" t="t" l="l"/>
              <a:pathLst>
                <a:path h="596192" w="5369984">
                  <a:moveTo>
                    <a:pt x="0" y="0"/>
                  </a:moveTo>
                  <a:lnTo>
                    <a:pt x="5369984" y="0"/>
                  </a:lnTo>
                  <a:lnTo>
                    <a:pt x="5369984" y="596192"/>
                  </a:lnTo>
                  <a:lnTo>
                    <a:pt x="0" y="596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504" r="0" b="-12550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5369979" cy="60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8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Purification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162874" y="6903596"/>
            <a:ext cx="8506254" cy="439998"/>
            <a:chOff x="0" y="0"/>
            <a:chExt cx="11341672" cy="58666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341608" cy="586613"/>
            </a:xfrm>
            <a:custGeom>
              <a:avLst/>
              <a:gdLst/>
              <a:ahLst/>
              <a:cxnLst/>
              <a:rect r="r" b="b" t="t" l="l"/>
              <a:pathLst>
                <a:path h="586613" w="11341608">
                  <a:moveTo>
                    <a:pt x="0" y="0"/>
                  </a:moveTo>
                  <a:lnTo>
                    <a:pt x="11341608" y="0"/>
                  </a:lnTo>
                  <a:lnTo>
                    <a:pt x="11341608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460" r="0" b="-326468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162874" y="6882165"/>
            <a:ext cx="8506244" cy="461429"/>
            <a:chOff x="0" y="0"/>
            <a:chExt cx="11341659" cy="61523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341661" cy="615242"/>
            </a:xfrm>
            <a:custGeom>
              <a:avLst/>
              <a:gdLst/>
              <a:ahLst/>
              <a:cxnLst/>
              <a:rect r="r" b="b" t="t" l="l"/>
              <a:pathLst>
                <a:path h="615242" w="11341661">
                  <a:moveTo>
                    <a:pt x="0" y="0"/>
                  </a:moveTo>
                  <a:lnTo>
                    <a:pt x="11341661" y="0"/>
                  </a:lnTo>
                  <a:lnTo>
                    <a:pt x="11341661" y="615242"/>
                  </a:lnTo>
                  <a:lnTo>
                    <a:pt x="0" y="6152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196" r="0" b="-30919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11341659" cy="643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ar-EG" sz="1649">
                  <a:solidFill>
                    <a:srgbClr val="545C72"/>
                  </a:solidFill>
                  <a:latin typeface="Calibri (MS)"/>
                  <a:ea typeface="Calibri (MS)"/>
                  <a:cs typeface="Calibri (MS)"/>
                  <a:sym typeface="Calibri (MS)"/>
                  <a:rtl val="true"/>
                </a:rPr>
                <a:t>حاسبة تطهير الأرباح</a:t>
              </a:r>
              <a:r>
                <a:rPr lang="en-US" sz="1649">
                  <a:solidFill>
                    <a:srgbClr val="545C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· purification calculator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954525" y="6903596"/>
            <a:ext cx="3198095" cy="439998"/>
            <a:chOff x="0" y="0"/>
            <a:chExt cx="4264127" cy="5866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264152" cy="586613"/>
            </a:xfrm>
            <a:custGeom>
              <a:avLst/>
              <a:gdLst/>
              <a:ahLst/>
              <a:cxnLst/>
              <a:rect r="r" b="b" t="t" l="l"/>
              <a:pathLst>
                <a:path h="586613" w="4264152">
                  <a:moveTo>
                    <a:pt x="0" y="0"/>
                  </a:moveTo>
                  <a:lnTo>
                    <a:pt x="4264152" y="0"/>
                  </a:lnTo>
                  <a:lnTo>
                    <a:pt x="4264152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34" r="0" b="-91543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954525" y="6896452"/>
            <a:ext cx="3198085" cy="447142"/>
            <a:chOff x="0" y="0"/>
            <a:chExt cx="4264114" cy="59618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264115" cy="596192"/>
            </a:xfrm>
            <a:custGeom>
              <a:avLst/>
              <a:gdLst/>
              <a:ahLst/>
              <a:cxnLst/>
              <a:rect r="r" b="b" t="t" l="l"/>
              <a:pathLst>
                <a:path h="596192" w="4264115">
                  <a:moveTo>
                    <a:pt x="0" y="0"/>
                  </a:moveTo>
                  <a:lnTo>
                    <a:pt x="4264115" y="0"/>
                  </a:lnTo>
                  <a:lnTo>
                    <a:pt x="4264115" y="596192"/>
                  </a:lnTo>
                  <a:lnTo>
                    <a:pt x="0" y="596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362" r="0" b="-8936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4264114" cy="60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19"/>
                </a:lnSpc>
              </a:pPr>
              <a:r>
                <a:rPr lang="en-US" sz="1848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$1.50 to $3.00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850001" y="7332593"/>
            <a:ext cx="16588016" cy="10954"/>
            <a:chOff x="0" y="0"/>
            <a:chExt cx="22117355" cy="1460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2117304" cy="14605"/>
            </a:xfrm>
            <a:custGeom>
              <a:avLst/>
              <a:gdLst/>
              <a:ahLst/>
              <a:cxnLst/>
              <a:rect r="r" b="b" t="t" l="l"/>
              <a:pathLst>
                <a:path h="14605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850001" y="7343594"/>
            <a:ext cx="4027494" cy="439998"/>
            <a:chOff x="0" y="0"/>
            <a:chExt cx="5369992" cy="58666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369941" cy="586613"/>
            </a:xfrm>
            <a:custGeom>
              <a:avLst/>
              <a:gdLst/>
              <a:ahLst/>
              <a:cxnLst/>
              <a:rect r="r" b="b" t="t" l="l"/>
              <a:pathLst>
                <a:path h="586613" w="5369941">
                  <a:moveTo>
                    <a:pt x="0" y="0"/>
                  </a:moveTo>
                  <a:lnTo>
                    <a:pt x="5369941" y="0"/>
                  </a:lnTo>
                  <a:lnTo>
                    <a:pt x="5369941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242" r="0" b="-12825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850001" y="7336450"/>
            <a:ext cx="4027484" cy="447142"/>
            <a:chOff x="0" y="0"/>
            <a:chExt cx="5369979" cy="59618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369984" cy="596192"/>
            </a:xfrm>
            <a:custGeom>
              <a:avLst/>
              <a:gdLst/>
              <a:ahLst/>
              <a:cxnLst/>
              <a:rect r="r" b="b" t="t" l="l"/>
              <a:pathLst>
                <a:path h="596192" w="5369984">
                  <a:moveTo>
                    <a:pt x="0" y="0"/>
                  </a:moveTo>
                  <a:lnTo>
                    <a:pt x="5369984" y="0"/>
                  </a:lnTo>
                  <a:lnTo>
                    <a:pt x="5369984" y="596192"/>
                  </a:lnTo>
                  <a:lnTo>
                    <a:pt x="0" y="596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504" r="0" b="-12550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5369979" cy="60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8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Brand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162874" y="7343594"/>
            <a:ext cx="8506254" cy="439998"/>
            <a:chOff x="0" y="0"/>
            <a:chExt cx="11341672" cy="5866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341608" cy="586613"/>
            </a:xfrm>
            <a:custGeom>
              <a:avLst/>
              <a:gdLst/>
              <a:ahLst/>
              <a:cxnLst/>
              <a:rect r="r" b="b" t="t" l="l"/>
              <a:pathLst>
                <a:path h="586613" w="11341608">
                  <a:moveTo>
                    <a:pt x="0" y="0"/>
                  </a:moveTo>
                  <a:lnTo>
                    <a:pt x="11341608" y="0"/>
                  </a:lnTo>
                  <a:lnTo>
                    <a:pt x="11341608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460" r="0" b="-326468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5162874" y="7343594"/>
            <a:ext cx="8506244" cy="439998"/>
            <a:chOff x="0" y="0"/>
            <a:chExt cx="11341659" cy="58666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1341661" cy="586667"/>
            </a:xfrm>
            <a:custGeom>
              <a:avLst/>
              <a:gdLst/>
              <a:ahLst/>
              <a:cxnLst/>
              <a:rect r="r" b="b" t="t" l="l"/>
              <a:pathLst>
                <a:path h="586667" w="11341661">
                  <a:moveTo>
                    <a:pt x="0" y="0"/>
                  </a:moveTo>
                  <a:lnTo>
                    <a:pt x="11341661" y="0"/>
                  </a:lnTo>
                  <a:lnTo>
                    <a:pt x="11341661" y="586667"/>
                  </a:lnTo>
                  <a:lnTo>
                    <a:pt x="0" y="58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692" r="0" b="-326691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11341659" cy="58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545C72"/>
                  </a:solidFill>
                  <a:latin typeface="Exo 2"/>
                  <a:ea typeface="Exo 2"/>
                  <a:cs typeface="Exo 2"/>
                  <a:sym typeface="Exo 2"/>
                </a:rPr>
                <a:t>eMYAA · Ajyad Capital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3954525" y="7343594"/>
            <a:ext cx="3198095" cy="439998"/>
            <a:chOff x="0" y="0"/>
            <a:chExt cx="4264127" cy="58666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264152" cy="586613"/>
            </a:xfrm>
            <a:custGeom>
              <a:avLst/>
              <a:gdLst/>
              <a:ahLst/>
              <a:cxnLst/>
              <a:rect r="r" b="b" t="t" l="l"/>
              <a:pathLst>
                <a:path h="586613" w="4264152">
                  <a:moveTo>
                    <a:pt x="0" y="0"/>
                  </a:moveTo>
                  <a:lnTo>
                    <a:pt x="4264152" y="0"/>
                  </a:lnTo>
                  <a:lnTo>
                    <a:pt x="4264152" y="586613"/>
                  </a:lnTo>
                  <a:lnTo>
                    <a:pt x="0" y="586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34" r="0" b="-91543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3954525" y="7336450"/>
            <a:ext cx="3198085" cy="447142"/>
            <a:chOff x="0" y="0"/>
            <a:chExt cx="4264114" cy="59618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264115" cy="596192"/>
            </a:xfrm>
            <a:custGeom>
              <a:avLst/>
              <a:gdLst/>
              <a:ahLst/>
              <a:cxnLst/>
              <a:rect r="r" b="b" t="t" l="l"/>
              <a:pathLst>
                <a:path h="596192" w="4264115">
                  <a:moveTo>
                    <a:pt x="0" y="0"/>
                  </a:moveTo>
                  <a:lnTo>
                    <a:pt x="4264115" y="0"/>
                  </a:lnTo>
                  <a:lnTo>
                    <a:pt x="4264115" y="596192"/>
                  </a:lnTo>
                  <a:lnTo>
                    <a:pt x="0" y="596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362" r="0" b="-8936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4264114" cy="605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19"/>
                </a:lnSpc>
              </a:pPr>
              <a:r>
                <a:rPr lang="en-US" sz="1848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$0.20 to $0.60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850001" y="8069342"/>
            <a:ext cx="16587978" cy="719995"/>
            <a:chOff x="0" y="0"/>
            <a:chExt cx="22117304" cy="95999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2117304" cy="959993"/>
            </a:xfrm>
            <a:custGeom>
              <a:avLst/>
              <a:gdLst/>
              <a:ahLst/>
              <a:cxnLst/>
              <a:rect r="r" b="b" t="t" l="l"/>
              <a:pathLst>
                <a:path h="95999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850001" y="8069342"/>
            <a:ext cx="44006" cy="719995"/>
            <a:chOff x="0" y="0"/>
            <a:chExt cx="58674" cy="95999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8674" cy="959993"/>
            </a:xfrm>
            <a:custGeom>
              <a:avLst/>
              <a:gdLst/>
              <a:ahLst/>
              <a:cxnLst/>
              <a:rect r="r" b="b" t="t" l="l"/>
              <a:pathLst>
                <a:path h="959993" w="58674">
                  <a:moveTo>
                    <a:pt x="0" y="0"/>
                  </a:moveTo>
                  <a:lnTo>
                    <a:pt x="58674" y="0"/>
                  </a:lnTo>
                  <a:lnTo>
                    <a:pt x="58674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129998" y="8069342"/>
            <a:ext cx="16028003" cy="719995"/>
            <a:chOff x="0" y="0"/>
            <a:chExt cx="21370671" cy="959993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1370671" cy="959993"/>
            </a:xfrm>
            <a:custGeom>
              <a:avLst/>
              <a:gdLst/>
              <a:ahLst/>
              <a:cxnLst/>
              <a:rect r="r" b="b" t="t" l="l"/>
              <a:pathLst>
                <a:path h="959993" w="21370671">
                  <a:moveTo>
                    <a:pt x="0" y="0"/>
                  </a:moveTo>
                  <a:lnTo>
                    <a:pt x="21370671" y="0"/>
                  </a:lnTo>
                  <a:lnTo>
                    <a:pt x="21370671" y="959993"/>
                  </a:lnTo>
                  <a:lnTo>
                    <a:pt x="0" y="9599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459" r="0" b="-383460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129998" y="8062198"/>
            <a:ext cx="16028003" cy="727148"/>
            <a:chOff x="0" y="0"/>
            <a:chExt cx="21370671" cy="96953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1370671" cy="969525"/>
            </a:xfrm>
            <a:custGeom>
              <a:avLst/>
              <a:gdLst/>
              <a:ahLst/>
              <a:cxnLst/>
              <a:rect r="r" b="b" t="t" l="l"/>
              <a:pathLst>
                <a:path h="969525" w="21370671">
                  <a:moveTo>
                    <a:pt x="0" y="0"/>
                  </a:moveTo>
                  <a:lnTo>
                    <a:pt x="21370671" y="0"/>
                  </a:lnTo>
                  <a:lnTo>
                    <a:pt x="21370671" y="969525"/>
                  </a:lnTo>
                  <a:lnTo>
                    <a:pt x="0" y="969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9496" r="0" b="-379497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21370671" cy="979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7"/>
                </a:lnSpc>
              </a:pPr>
              <a:r>
                <a:rPr lang="en-US" sz="158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 advertising platform sells net worth. Google Ads and LinkedIn can bring leads and we need to close them.</a:t>
              </a: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850001" y="9300000"/>
            <a:ext cx="16587997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8"/>
              </a:lnSpc>
            </a:pPr>
            <a:r>
              <a:rPr lang="en-US" sz="1149" i="true" u="sng">
                <a:solidFill>
                  <a:srgbClr val="0000FF"/>
                </a:solidFill>
                <a:latin typeface="Exo 2 Italics"/>
                <a:ea typeface="Exo 2 Italics"/>
                <a:cs typeface="Exo 2 Italics"/>
                <a:sym typeface="Exo 2 Italics"/>
                <a:hlinkClick r:id="rId5" tooltip="https://www.digitalapplied.com/blog/linkedin-ads-benchmarks-2026-cpc-ctr-cvr-industry"/>
              </a:rPr>
              <a:t>Sources: LinkedIn Ads Benchmarks 2026, and Google Ads cost in Saudi Arabia 2026</a:t>
            </a:r>
          </a:p>
        </p:txBody>
      </p:sp>
      <p:sp>
        <p:nvSpPr>
          <p:cNvPr name="Freeform 136" id="136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91443" y="9783042"/>
            <a:ext cx="717118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gradFill rotWithShape="true">
              <a:gsLst>
                <a:gs pos="0">
                  <a:srgbClr val="2D6CD3">
                    <a:alpha val="100000"/>
                  </a:srgbClr>
                </a:gs>
                <a:gs pos="100000">
                  <a:srgbClr val="1B2A61">
                    <a:alpha val="100000"/>
                  </a:srgbClr>
                </a:gs>
              </a:gsLst>
              <a:lin ang="162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002" y="610476"/>
            <a:ext cx="14317123" cy="30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b="true" sz="1260" spc="259">
                <a:solidFill>
                  <a:srgbClr val="D4AF37"/>
                </a:solidFill>
                <a:latin typeface="Exo 2 Bold"/>
                <a:ea typeface="Exo 2 Bold"/>
                <a:cs typeface="Exo 2 Bold"/>
                <a:sym typeface="Exo 2 Bold"/>
              </a:rPr>
              <a:t>DELIVERY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0002" y="920001"/>
            <a:ext cx="14317123" cy="7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b="true" sz="4160" spc="-60">
                <a:solidFill>
                  <a:srgbClr val="3E61B5"/>
                </a:solidFill>
                <a:latin typeface="Exo 2 Bold"/>
                <a:ea typeface="Exo 2 Bold"/>
                <a:cs typeface="Exo 2 Bold"/>
                <a:sym typeface="Exo 2 Bold"/>
              </a:rPr>
              <a:t>The Runway, and What It Should Produce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0002" y="1720472"/>
            <a:ext cx="1360000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>
                <a:solidFill>
                  <a:srgbClr val="6B7488"/>
                </a:solidFill>
                <a:latin typeface="Exo 2"/>
                <a:ea typeface="Exo 2"/>
                <a:cs typeface="Exo 2"/>
                <a:sym typeface="Exo 2"/>
              </a:rPr>
              <a:t>The plan ahead for the growth strategy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99997" y="1180005"/>
            <a:ext cx="1400004" cy="76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96"/>
              </a:lnSpc>
            </a:pPr>
            <a:r>
              <a:rPr lang="en-US" sz="4580" b="true">
                <a:solidFill>
                  <a:srgbClr val="EDF0F7"/>
                </a:solidFill>
                <a:latin typeface="Exo 2 Bold"/>
                <a:ea typeface="Exo 2 Bold"/>
                <a:cs typeface="Exo 2 Bold"/>
                <a:sym typeface="Exo 2 Bold"/>
              </a:rPr>
              <a:t>05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252989" y="2450001"/>
            <a:ext cx="899106" cy="380000"/>
            <a:chOff x="0" y="0"/>
            <a:chExt cx="1198808" cy="506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 w3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52095" y="2450001"/>
            <a:ext cx="899106" cy="380000"/>
            <a:chOff x="0" y="0"/>
            <a:chExt cx="1198808" cy="5066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Sep w4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51214" y="2450001"/>
            <a:ext cx="899106" cy="380000"/>
            <a:chOff x="0" y="0"/>
            <a:chExt cx="1198808" cy="5066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50319" y="2450001"/>
            <a:ext cx="899106" cy="380000"/>
            <a:chOff x="0" y="0"/>
            <a:chExt cx="1198808" cy="5066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49438" y="2450001"/>
            <a:ext cx="899106" cy="380000"/>
            <a:chOff x="0" y="0"/>
            <a:chExt cx="1198808" cy="5066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748544" y="2450001"/>
            <a:ext cx="899106" cy="380000"/>
            <a:chOff x="0" y="0"/>
            <a:chExt cx="1198808" cy="5066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Oct w4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47663" y="2450001"/>
            <a:ext cx="899106" cy="380000"/>
            <a:chOff x="0" y="0"/>
            <a:chExt cx="1198808" cy="5066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46769" y="2450001"/>
            <a:ext cx="899106" cy="380000"/>
            <a:chOff x="0" y="0"/>
            <a:chExt cx="1198808" cy="5066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445888" y="2450001"/>
            <a:ext cx="899106" cy="380000"/>
            <a:chOff x="0" y="0"/>
            <a:chExt cx="1198808" cy="5066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344993" y="2450001"/>
            <a:ext cx="899106" cy="380000"/>
            <a:chOff x="0" y="0"/>
            <a:chExt cx="1198808" cy="5066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Nov w4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244099" y="2450001"/>
            <a:ext cx="899106" cy="380000"/>
            <a:chOff x="0" y="0"/>
            <a:chExt cx="1198808" cy="50666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143218" y="2450001"/>
            <a:ext cx="899106" cy="380000"/>
            <a:chOff x="0" y="0"/>
            <a:chExt cx="1198808" cy="50666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98812" cy="506667"/>
            </a:xfrm>
            <a:custGeom>
              <a:avLst/>
              <a:gdLst/>
              <a:ahLst/>
              <a:cxnLst/>
              <a:rect r="r" b="b" t="t" l="l"/>
              <a:pathLst>
                <a:path h="506667" w="1198812">
                  <a:moveTo>
                    <a:pt x="0" y="0"/>
                  </a:moveTo>
                  <a:lnTo>
                    <a:pt x="1198812" y="0"/>
                  </a:lnTo>
                  <a:lnTo>
                    <a:pt x="1198812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35" t="0" r="968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198808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Dec w2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50001" y="2450001"/>
            <a:ext cx="5125903" cy="380000"/>
            <a:chOff x="0" y="0"/>
            <a:chExt cx="6834537" cy="50666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34543" cy="506667"/>
            </a:xfrm>
            <a:custGeom>
              <a:avLst/>
              <a:gdLst/>
              <a:ahLst/>
              <a:cxnLst/>
              <a:rect r="r" b="b" t="t" l="l"/>
              <a:pathLst>
                <a:path h="506667" w="6834543">
                  <a:moveTo>
                    <a:pt x="0" y="0"/>
                  </a:moveTo>
                  <a:lnTo>
                    <a:pt x="6834543" y="0"/>
                  </a:lnTo>
                  <a:lnTo>
                    <a:pt x="6834543" y="506667"/>
                  </a:lnTo>
                  <a:lnTo>
                    <a:pt x="0" y="50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27817" b="-13972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834537" cy="516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40">
                  <a:solidFill>
                    <a:srgbClr val="7A849C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WORKSTREAM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50001" y="2830001"/>
            <a:ext cx="16587997" cy="22003"/>
            <a:chOff x="0" y="0"/>
            <a:chExt cx="22117329" cy="2933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117304" cy="29337"/>
            </a:xfrm>
            <a:custGeom>
              <a:avLst/>
              <a:gdLst/>
              <a:ahLst/>
              <a:cxnLst/>
              <a:rect r="r" b="b" t="t" l="l"/>
              <a:pathLst>
                <a:path h="29337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29337"/>
                  </a:lnTo>
                  <a:lnTo>
                    <a:pt x="0" y="29337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50001" y="2852004"/>
            <a:ext cx="16587997" cy="780002"/>
            <a:chOff x="0" y="0"/>
            <a:chExt cx="22117329" cy="104000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117304" cy="1040003"/>
            </a:xfrm>
            <a:custGeom>
              <a:avLst/>
              <a:gdLst/>
              <a:ahLst/>
              <a:cxnLst/>
              <a:rect r="r" b="b" t="t" l="l"/>
              <a:pathLst>
                <a:path h="104000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40003"/>
                  </a:lnTo>
                  <a:lnTo>
                    <a:pt x="0" y="104000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099375" y="2972000"/>
            <a:ext cx="4904254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16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MARKETING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99375" y="3222479"/>
            <a:ext cx="490425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Tracking and landing pages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6252989" y="3152003"/>
            <a:ext cx="10789348" cy="180003"/>
            <a:chOff x="0" y="0"/>
            <a:chExt cx="14385798" cy="24000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385823" cy="240030"/>
            </a:xfrm>
            <a:custGeom>
              <a:avLst/>
              <a:gdLst/>
              <a:ahLst/>
              <a:cxnLst/>
              <a:rect r="r" b="b" t="t" l="l"/>
              <a:pathLst>
                <a:path h="240030" w="14385823">
                  <a:moveTo>
                    <a:pt x="0" y="0"/>
                  </a:moveTo>
                  <a:lnTo>
                    <a:pt x="14385823" y="0"/>
                  </a:lnTo>
                  <a:lnTo>
                    <a:pt x="14385823" y="240030"/>
                  </a:lnTo>
                  <a:lnTo>
                    <a:pt x="0" y="240030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294542" y="3091996"/>
            <a:ext cx="1715105" cy="299999"/>
            <a:chOff x="0" y="0"/>
            <a:chExt cx="2286806" cy="39999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86736" cy="400050"/>
            </a:xfrm>
            <a:custGeom>
              <a:avLst/>
              <a:gdLst/>
              <a:ahLst/>
              <a:cxnLst/>
              <a:rect r="r" b="b" t="t" l="l"/>
              <a:pathLst>
                <a:path h="400050" w="2286736">
                  <a:moveTo>
                    <a:pt x="0" y="0"/>
                  </a:moveTo>
                  <a:lnTo>
                    <a:pt x="2286736" y="0"/>
                  </a:lnTo>
                  <a:lnTo>
                    <a:pt x="2286736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50001" y="3620995"/>
            <a:ext cx="16587997" cy="11001"/>
            <a:chOff x="0" y="0"/>
            <a:chExt cx="22117329" cy="146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117304" cy="14605"/>
            </a:xfrm>
            <a:custGeom>
              <a:avLst/>
              <a:gdLst/>
              <a:ahLst/>
              <a:cxnLst/>
              <a:rect r="r" b="b" t="t" l="l"/>
              <a:pathLst>
                <a:path h="14605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50001" y="3631997"/>
            <a:ext cx="16587997" cy="780002"/>
            <a:chOff x="0" y="0"/>
            <a:chExt cx="22117329" cy="104000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117304" cy="1040003"/>
            </a:xfrm>
            <a:custGeom>
              <a:avLst/>
              <a:gdLst/>
              <a:ahLst/>
              <a:cxnLst/>
              <a:rect r="r" b="b" t="t" l="l"/>
              <a:pathLst>
                <a:path h="104000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40003"/>
                  </a:lnTo>
                  <a:lnTo>
                    <a:pt x="0" y="104000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099375" y="3752002"/>
            <a:ext cx="4904254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16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PLACEMENT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99375" y="4002472"/>
            <a:ext cx="490425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HNW visits and closing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252989" y="3931996"/>
            <a:ext cx="10789348" cy="180003"/>
            <a:chOff x="0" y="0"/>
            <a:chExt cx="14385798" cy="24000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385823" cy="240030"/>
            </a:xfrm>
            <a:custGeom>
              <a:avLst/>
              <a:gdLst/>
              <a:ahLst/>
              <a:cxnLst/>
              <a:rect r="r" b="b" t="t" l="l"/>
              <a:pathLst>
                <a:path h="240030" w="14385823">
                  <a:moveTo>
                    <a:pt x="0" y="0"/>
                  </a:moveTo>
                  <a:lnTo>
                    <a:pt x="14385823" y="0"/>
                  </a:lnTo>
                  <a:lnTo>
                    <a:pt x="14385823" y="240030"/>
                  </a:lnTo>
                  <a:lnTo>
                    <a:pt x="0" y="240030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092767" y="3871998"/>
            <a:ext cx="8908003" cy="299999"/>
            <a:chOff x="0" y="0"/>
            <a:chExt cx="11877338" cy="39999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877389" cy="400050"/>
            </a:xfrm>
            <a:custGeom>
              <a:avLst/>
              <a:gdLst/>
              <a:ahLst/>
              <a:cxnLst/>
              <a:rect r="r" b="b" t="t" l="l"/>
              <a:pathLst>
                <a:path h="400050" w="11877389">
                  <a:moveTo>
                    <a:pt x="0" y="0"/>
                  </a:moveTo>
                  <a:lnTo>
                    <a:pt x="11877389" y="0"/>
                  </a:lnTo>
                  <a:lnTo>
                    <a:pt x="11877389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13225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50001" y="4400998"/>
            <a:ext cx="16587997" cy="11001"/>
            <a:chOff x="0" y="0"/>
            <a:chExt cx="22117329" cy="1466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117304" cy="14605"/>
            </a:xfrm>
            <a:custGeom>
              <a:avLst/>
              <a:gdLst/>
              <a:ahLst/>
              <a:cxnLst/>
              <a:rect r="r" b="b" t="t" l="l"/>
              <a:pathLst>
                <a:path h="14605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50001" y="4411999"/>
            <a:ext cx="16587997" cy="780002"/>
            <a:chOff x="0" y="0"/>
            <a:chExt cx="22117329" cy="104000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117304" cy="1040003"/>
            </a:xfrm>
            <a:custGeom>
              <a:avLst/>
              <a:gdLst/>
              <a:ahLst/>
              <a:cxnLst/>
              <a:rect r="r" b="b" t="t" l="l"/>
              <a:pathLst>
                <a:path h="104000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40003"/>
                  </a:lnTo>
                  <a:lnTo>
                    <a:pt x="0" y="104000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099375" y="4532005"/>
            <a:ext cx="4904254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16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CX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99375" y="4782474"/>
            <a:ext cx="490425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The 62 stalled users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252989" y="4711998"/>
            <a:ext cx="10789348" cy="180003"/>
            <a:chOff x="0" y="0"/>
            <a:chExt cx="14385798" cy="24000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385823" cy="240030"/>
            </a:xfrm>
            <a:custGeom>
              <a:avLst/>
              <a:gdLst/>
              <a:ahLst/>
              <a:cxnLst/>
              <a:rect r="r" b="b" t="t" l="l"/>
              <a:pathLst>
                <a:path h="240030" w="14385823">
                  <a:moveTo>
                    <a:pt x="0" y="0"/>
                  </a:moveTo>
                  <a:lnTo>
                    <a:pt x="14385823" y="0"/>
                  </a:lnTo>
                  <a:lnTo>
                    <a:pt x="14385823" y="240030"/>
                  </a:lnTo>
                  <a:lnTo>
                    <a:pt x="0" y="240030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092767" y="4652000"/>
            <a:ext cx="2614210" cy="299999"/>
            <a:chOff x="0" y="0"/>
            <a:chExt cx="3485614" cy="39999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485614" cy="400050"/>
            </a:xfrm>
            <a:custGeom>
              <a:avLst/>
              <a:gdLst/>
              <a:ahLst/>
              <a:cxnLst/>
              <a:rect r="r" b="b" t="t" l="l"/>
              <a:pathLst>
                <a:path h="400050" w="3485614">
                  <a:moveTo>
                    <a:pt x="0" y="0"/>
                  </a:moveTo>
                  <a:lnTo>
                    <a:pt x="3485614" y="0"/>
                  </a:lnTo>
                  <a:lnTo>
                    <a:pt x="3485614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50001" y="5181000"/>
            <a:ext cx="16587997" cy="11001"/>
            <a:chOff x="0" y="0"/>
            <a:chExt cx="22117329" cy="1466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117304" cy="14605"/>
            </a:xfrm>
            <a:custGeom>
              <a:avLst/>
              <a:gdLst/>
              <a:ahLst/>
              <a:cxnLst/>
              <a:rect r="r" b="b" t="t" l="l"/>
              <a:pathLst>
                <a:path h="14605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50001" y="5192001"/>
            <a:ext cx="16587997" cy="780002"/>
            <a:chOff x="0" y="0"/>
            <a:chExt cx="22117329" cy="104000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117304" cy="1040003"/>
            </a:xfrm>
            <a:custGeom>
              <a:avLst/>
              <a:gdLst/>
              <a:ahLst/>
              <a:cxnLst/>
              <a:rect r="r" b="b" t="t" l="l"/>
              <a:pathLst>
                <a:path h="104000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40003"/>
                  </a:lnTo>
                  <a:lnTo>
                    <a:pt x="0" y="104000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099375" y="5311997"/>
            <a:ext cx="4904254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16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MARKETING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99375" y="5562476"/>
            <a:ext cx="490425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Google Ads and LinkedIn, first test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6252989" y="5492001"/>
            <a:ext cx="10789348" cy="180003"/>
            <a:chOff x="0" y="0"/>
            <a:chExt cx="14385798" cy="24000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385823" cy="240030"/>
            </a:xfrm>
            <a:custGeom>
              <a:avLst/>
              <a:gdLst/>
              <a:ahLst/>
              <a:cxnLst/>
              <a:rect r="r" b="b" t="t" l="l"/>
              <a:pathLst>
                <a:path h="240030" w="14385823">
                  <a:moveTo>
                    <a:pt x="0" y="0"/>
                  </a:moveTo>
                  <a:lnTo>
                    <a:pt x="14385823" y="0"/>
                  </a:lnTo>
                  <a:lnTo>
                    <a:pt x="14385823" y="240030"/>
                  </a:lnTo>
                  <a:lnTo>
                    <a:pt x="0" y="240030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8991886" y="5432003"/>
            <a:ext cx="3513329" cy="299999"/>
            <a:chOff x="0" y="0"/>
            <a:chExt cx="4684439" cy="39999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684477" cy="400050"/>
            </a:xfrm>
            <a:custGeom>
              <a:avLst/>
              <a:gdLst/>
              <a:ahLst/>
              <a:cxnLst/>
              <a:rect r="r" b="b" t="t" l="l"/>
              <a:pathLst>
                <a:path h="400050" w="4684477">
                  <a:moveTo>
                    <a:pt x="0" y="0"/>
                  </a:moveTo>
                  <a:lnTo>
                    <a:pt x="4684477" y="0"/>
                  </a:lnTo>
                  <a:lnTo>
                    <a:pt x="4684477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850001" y="5961002"/>
            <a:ext cx="16587997" cy="11001"/>
            <a:chOff x="0" y="0"/>
            <a:chExt cx="22117329" cy="1466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2117304" cy="14605"/>
            </a:xfrm>
            <a:custGeom>
              <a:avLst/>
              <a:gdLst/>
              <a:ahLst/>
              <a:cxnLst/>
              <a:rect r="r" b="b" t="t" l="l"/>
              <a:pathLst>
                <a:path h="14605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50001" y="5972004"/>
            <a:ext cx="16587997" cy="780002"/>
            <a:chOff x="0" y="0"/>
            <a:chExt cx="22117329" cy="104000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2117304" cy="1040003"/>
            </a:xfrm>
            <a:custGeom>
              <a:avLst/>
              <a:gdLst/>
              <a:ahLst/>
              <a:cxnLst/>
              <a:rect r="r" b="b" t="t" l="l"/>
              <a:pathLst>
                <a:path h="104000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40003"/>
                  </a:lnTo>
                  <a:lnTo>
                    <a:pt x="0" y="104000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1099375" y="6092000"/>
            <a:ext cx="4904254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16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MARKETING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99375" y="6342478"/>
            <a:ext cx="490425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Scale Google Ads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6252989" y="6272003"/>
            <a:ext cx="10789348" cy="180003"/>
            <a:chOff x="0" y="0"/>
            <a:chExt cx="14385798" cy="24000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4385823" cy="240030"/>
            </a:xfrm>
            <a:custGeom>
              <a:avLst/>
              <a:gdLst/>
              <a:ahLst/>
              <a:cxnLst/>
              <a:rect r="r" b="b" t="t" l="l"/>
              <a:pathLst>
                <a:path h="240030" w="14385823">
                  <a:moveTo>
                    <a:pt x="0" y="0"/>
                  </a:moveTo>
                  <a:lnTo>
                    <a:pt x="14385823" y="0"/>
                  </a:lnTo>
                  <a:lnTo>
                    <a:pt x="14385823" y="240030"/>
                  </a:lnTo>
                  <a:lnTo>
                    <a:pt x="0" y="240030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1689216" y="6211995"/>
            <a:ext cx="5311554" cy="299999"/>
            <a:chOff x="0" y="0"/>
            <a:chExt cx="7082072" cy="39999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082072" cy="400050"/>
            </a:xfrm>
            <a:custGeom>
              <a:avLst/>
              <a:gdLst/>
              <a:ahLst/>
              <a:cxnLst/>
              <a:rect r="r" b="b" t="t" l="l"/>
              <a:pathLst>
                <a:path h="400050" w="7082072">
                  <a:moveTo>
                    <a:pt x="0" y="0"/>
                  </a:moveTo>
                  <a:lnTo>
                    <a:pt x="7082072" y="0"/>
                  </a:lnTo>
                  <a:lnTo>
                    <a:pt x="7082072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D4AF3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50001" y="6741004"/>
            <a:ext cx="16587997" cy="11001"/>
            <a:chOff x="0" y="0"/>
            <a:chExt cx="22117329" cy="1466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117304" cy="14605"/>
            </a:xfrm>
            <a:custGeom>
              <a:avLst/>
              <a:gdLst/>
              <a:ahLst/>
              <a:cxnLst/>
              <a:rect r="r" b="b" t="t" l="l"/>
              <a:pathLst>
                <a:path h="14605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50001" y="6751996"/>
            <a:ext cx="16587997" cy="780002"/>
            <a:chOff x="0" y="0"/>
            <a:chExt cx="22117329" cy="104000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117304" cy="1040003"/>
            </a:xfrm>
            <a:custGeom>
              <a:avLst/>
              <a:gdLst/>
              <a:ahLst/>
              <a:cxnLst/>
              <a:rect r="r" b="b" t="t" l="l"/>
              <a:pathLst>
                <a:path h="104000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040003"/>
                  </a:lnTo>
                  <a:lnTo>
                    <a:pt x="0" y="104000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099375" y="6872002"/>
            <a:ext cx="4904254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"/>
              </a:lnSpc>
            </a:pPr>
            <a:r>
              <a:rPr lang="en-US" b="true" sz="1130" spc="160">
                <a:solidFill>
                  <a:srgbClr val="7A849C"/>
                </a:solidFill>
                <a:latin typeface="Exo 2 Bold"/>
                <a:ea typeface="Exo 2 Bold"/>
                <a:cs typeface="Exo 2 Bold"/>
                <a:sym typeface="Exo 2 Bold"/>
              </a:rPr>
              <a:t>TECHNOLOGY - WealthTech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099375" y="7122471"/>
            <a:ext cx="490425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132257"/>
                </a:solidFill>
                <a:latin typeface="Exo 2 Bold"/>
                <a:ea typeface="Exo 2 Bold"/>
                <a:cs typeface="Exo 2 Bold"/>
                <a:sym typeface="Exo 2 Bold"/>
              </a:rPr>
              <a:t>New UI and UX update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6252989" y="7051996"/>
            <a:ext cx="10789348" cy="180003"/>
            <a:chOff x="0" y="0"/>
            <a:chExt cx="14385798" cy="24000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4385823" cy="240030"/>
            </a:xfrm>
            <a:custGeom>
              <a:avLst/>
              <a:gdLst/>
              <a:ahLst/>
              <a:cxnLst/>
              <a:rect r="r" b="b" t="t" l="l"/>
              <a:pathLst>
                <a:path h="240030" w="14385823">
                  <a:moveTo>
                    <a:pt x="0" y="0"/>
                  </a:moveTo>
                  <a:lnTo>
                    <a:pt x="14385823" y="0"/>
                  </a:lnTo>
                  <a:lnTo>
                    <a:pt x="14385823" y="240030"/>
                  </a:lnTo>
                  <a:lnTo>
                    <a:pt x="0" y="240030"/>
                  </a:lnTo>
                  <a:close/>
                </a:path>
              </a:pathLst>
            </a:custGeom>
            <a:solidFill>
              <a:srgbClr val="E9EDF6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4386560" y="6991998"/>
            <a:ext cx="2614210" cy="299999"/>
            <a:chOff x="0" y="0"/>
            <a:chExt cx="3485614" cy="39999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485614" cy="400050"/>
            </a:xfrm>
            <a:custGeom>
              <a:avLst/>
              <a:gdLst/>
              <a:ahLst/>
              <a:cxnLst/>
              <a:rect r="r" b="b" t="t" l="l"/>
              <a:pathLst>
                <a:path h="400050" w="3485614">
                  <a:moveTo>
                    <a:pt x="0" y="0"/>
                  </a:moveTo>
                  <a:lnTo>
                    <a:pt x="3485614" y="0"/>
                  </a:lnTo>
                  <a:lnTo>
                    <a:pt x="3485614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3E61B5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850001" y="7520997"/>
            <a:ext cx="16587997" cy="11001"/>
            <a:chOff x="0" y="0"/>
            <a:chExt cx="22117329" cy="1466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2117304" cy="14605"/>
            </a:xfrm>
            <a:custGeom>
              <a:avLst/>
              <a:gdLst/>
              <a:ahLst/>
              <a:cxnLst/>
              <a:rect r="r" b="b" t="t" l="l"/>
              <a:pathLst>
                <a:path h="14605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E3E8F2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850001" y="7831998"/>
            <a:ext cx="16587997" cy="720004"/>
            <a:chOff x="0" y="0"/>
            <a:chExt cx="22117329" cy="96000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117304" cy="959993"/>
            </a:xfrm>
            <a:custGeom>
              <a:avLst/>
              <a:gdLst/>
              <a:ahLst/>
              <a:cxnLst/>
              <a:rect r="r" b="b" t="t" l="l"/>
              <a:pathLst>
                <a:path h="959993" w="22117304">
                  <a:moveTo>
                    <a:pt x="0" y="0"/>
                  </a:moveTo>
                  <a:lnTo>
                    <a:pt x="22117304" y="0"/>
                  </a:lnTo>
                  <a:lnTo>
                    <a:pt x="22117304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850001" y="7831998"/>
            <a:ext cx="43996" cy="720004"/>
            <a:chOff x="0" y="0"/>
            <a:chExt cx="58661" cy="96000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8674" cy="959993"/>
            </a:xfrm>
            <a:custGeom>
              <a:avLst/>
              <a:gdLst/>
              <a:ahLst/>
              <a:cxnLst/>
              <a:rect r="r" b="b" t="t" l="l"/>
              <a:pathLst>
                <a:path h="959993" w="58674">
                  <a:moveTo>
                    <a:pt x="0" y="0"/>
                  </a:moveTo>
                  <a:lnTo>
                    <a:pt x="58674" y="0"/>
                  </a:lnTo>
                  <a:lnTo>
                    <a:pt x="58674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1BA97C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129998" y="7831998"/>
            <a:ext cx="16028003" cy="720004"/>
            <a:chOff x="0" y="0"/>
            <a:chExt cx="21370671" cy="96000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1370666" cy="960000"/>
            </a:xfrm>
            <a:custGeom>
              <a:avLst/>
              <a:gdLst/>
              <a:ahLst/>
              <a:cxnLst/>
              <a:rect r="r" b="b" t="t" l="l"/>
              <a:pathLst>
                <a:path h="960000" w="21370666">
                  <a:moveTo>
                    <a:pt x="0" y="0"/>
                  </a:moveTo>
                  <a:lnTo>
                    <a:pt x="21370666" y="0"/>
                  </a:lnTo>
                  <a:lnTo>
                    <a:pt x="21370666" y="960000"/>
                  </a:lnTo>
                  <a:lnTo>
                    <a:pt x="0" y="96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758" r="0" b="-38375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21370671" cy="969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7"/>
                </a:lnSpc>
              </a:pPr>
              <a:r>
                <a:rPr lang="en-US" sz="1589" b="true">
                  <a:solidFill>
                    <a:srgbClr val="132257"/>
                  </a:solidFill>
                  <a:latin typeface="Exo 2 Bold"/>
                  <a:ea typeface="Exo 2 Bold"/>
                  <a:cs typeface="Exo 2 Bold"/>
                  <a:sym typeface="Exo 2 Bold"/>
                </a:rPr>
                <a:t>We are ahead of target on onboarding. This plan points that momentum at the deposit gap, through qualified leads and in person visits that close HNW clients.</a:t>
              </a:r>
            </a:p>
          </p:txBody>
        </p:sp>
      </p:grpSp>
      <p:sp>
        <p:nvSpPr>
          <p:cNvPr name="Freeform 120" id="120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240" y="9783042"/>
            <a:ext cx="10817123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eMYAA Trading Platform  |  Board Executive Committee Update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91443" y="9783042"/>
            <a:ext cx="717118" cy="34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0"/>
              </a:lnSpc>
            </a:pPr>
            <a:r>
              <a:rPr lang="en-US" sz="950">
                <a:solidFill>
                  <a:srgbClr val="8A93A8"/>
                </a:solidFill>
                <a:latin typeface="Exo 2"/>
                <a:ea typeface="Exo 2"/>
                <a:cs typeface="Exo 2"/>
                <a:sym typeface="Exo 2"/>
              </a:rPr>
              <a:t>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441806" y="505082"/>
            <a:ext cx="1817465" cy="523589"/>
            <a:chOff x="0" y="0"/>
            <a:chExt cx="2423287" cy="698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3287" cy="698119"/>
            </a:xfrm>
            <a:custGeom>
              <a:avLst/>
              <a:gdLst/>
              <a:ahLst/>
              <a:cxnLst/>
              <a:rect r="r" b="b" t="t" l="l"/>
              <a:pathLst>
                <a:path h="698119" w="2423287">
                  <a:moveTo>
                    <a:pt x="0" y="0"/>
                  </a:moveTo>
                  <a:lnTo>
                    <a:pt x="2423287" y="0"/>
                  </a:lnTo>
                  <a:lnTo>
                    <a:pt x="2423287" y="698119"/>
                  </a:lnTo>
                  <a:lnTo>
                    <a:pt x="0" y="69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2" r="0" b="-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0535" y="648843"/>
            <a:ext cx="115062" cy="732282"/>
            <a:chOff x="0" y="0"/>
            <a:chExt cx="153416" cy="976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416" cy="976376"/>
            </a:xfrm>
            <a:custGeom>
              <a:avLst/>
              <a:gdLst/>
              <a:ahLst/>
              <a:cxnLst/>
              <a:rect r="r" b="b" t="t" l="l"/>
              <a:pathLst>
                <a:path h="97637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976376"/>
                  </a:lnTo>
                  <a:lnTo>
                    <a:pt x="0" y="976376"/>
                  </a:lnTo>
                  <a:close/>
                </a:path>
              </a:pathLst>
            </a:custGeom>
            <a:gradFill rotWithShape="true">
              <a:gsLst>
                <a:gs pos="0">
                  <a:srgbClr val="2D6CD3">
                    <a:alpha val="100000"/>
                  </a:srgbClr>
                </a:gs>
                <a:gs pos="100000">
                  <a:srgbClr val="1B2A61">
                    <a:alpha val="100000"/>
                  </a:srgbClr>
                </a:gs>
              </a:gsLst>
              <a:lin ang="16200000"/>
            </a:gradFill>
          </p:spPr>
        </p:sp>
      </p:grpSp>
      <p:sp>
        <p:nvSpPr>
          <p:cNvPr name="Freeform 149" id="149"/>
          <p:cNvSpPr/>
          <p:nvPr/>
        </p:nvSpPr>
        <p:spPr>
          <a:xfrm flipH="false" flipV="false" rot="0">
            <a:off x="15711491" y="9398509"/>
            <a:ext cx="1547809" cy="550332"/>
          </a:xfrm>
          <a:custGeom>
            <a:avLst/>
            <a:gdLst/>
            <a:ahLst/>
            <a:cxnLst/>
            <a:rect r="r" b="b" t="t" l="l"/>
            <a:pathLst>
              <a:path h="550332" w="1547809">
                <a:moveTo>
                  <a:pt x="0" y="0"/>
                </a:moveTo>
                <a:lnTo>
                  <a:pt x="1547809" y="0"/>
                </a:lnTo>
                <a:lnTo>
                  <a:pt x="1547809" y="550332"/>
                </a:lnTo>
                <a:lnTo>
                  <a:pt x="0" y="550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50" name="TextBox 149"/>
          <p:cNvSpPr txBox="1"/>
          <p:nvPr/>
        </p:nvSpPr>
        <p:spPr>
          <a:xfrm>
            <a:off x="780000" y="620000"/>
            <a:ext cx="14317123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60" b="1" i="0" spc="260">
                <a:solidFill>
                  <a:srgbClr val="D4AF37"/>
                </a:solidFill>
                <a:latin typeface="Exo 2 Bold"/>
              </a:rPr>
              <a:t>THE ASK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80000" y="920000"/>
            <a:ext cx="14317123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160" b="1" i="0" spc="-60">
                <a:solidFill>
                  <a:srgbClr val="3E61B5"/>
                </a:solidFill>
                <a:latin typeface="Exo 2 Bold"/>
              </a:rPr>
              <a:t>What The Plan Costs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80000" y="1730000"/>
            <a:ext cx="13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90" b="0" i="0">
                <a:solidFill>
                  <a:srgbClr val="6B7488"/>
                </a:solidFill>
                <a:latin typeface="Exo 2"/>
              </a:rPr>
              <a:t>What the plan needs, and where the money comes from without new funding.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900000" y="1180000"/>
            <a:ext cx="14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580" b="1" i="0">
                <a:solidFill>
                  <a:srgbClr val="EDF0F7"/>
                </a:solidFill>
                <a:latin typeface="Exo 2 Bold"/>
              </a:rPr>
              <a:t>06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50001" y="2286000"/>
            <a:ext cx="150000" cy="26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80001" y="2220000"/>
            <a:ext cx="16587999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 b="1" i="0" spc="180">
                <a:solidFill>
                  <a:srgbClr val="132257"/>
                </a:solidFill>
                <a:latin typeface="Exo 2 Bold"/>
              </a:rPr>
              <a:t>WHAT THIS ACTUALLY NEEDS, $30,000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0001" y="2700000"/>
            <a:ext cx="4856399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257"/>
                </a:solidFill>
                <a:latin typeface="Exo 2 Bold"/>
              </a:rPr>
              <a:t>Google Search, Saudi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826400" y="2820000"/>
            <a:ext cx="9952801" cy="220000"/>
          </a:xfrm>
          <a:prstGeom prst="rect">
            <a:avLst/>
          </a:prstGeom>
          <a:solidFill>
            <a:srgbClr val="F0F3F9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826400" y="2820000"/>
            <a:ext cx="9952801" cy="220000"/>
          </a:xfrm>
          <a:prstGeom prst="rect">
            <a:avLst/>
          </a:prstGeom>
          <a:solidFill>
            <a:srgbClr val="132257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5869201" y="2700000"/>
            <a:ext cx="1538799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50" b="1" i="0">
                <a:solidFill>
                  <a:srgbClr val="132257"/>
                </a:solidFill>
                <a:latin typeface="Exo 2 Bold"/>
              </a:rPr>
              <a:t>$9,000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50001" y="3160000"/>
            <a:ext cx="4856399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257"/>
                </a:solidFill>
                <a:latin typeface="Exo 2 Bold"/>
              </a:rPr>
              <a:t>LinkedIn Affluent, Saudi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826400" y="3280000"/>
            <a:ext cx="9952801" cy="220000"/>
          </a:xfrm>
          <a:prstGeom prst="rect">
            <a:avLst/>
          </a:prstGeom>
          <a:solidFill>
            <a:srgbClr val="F0F3F9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826400" y="3280000"/>
            <a:ext cx="9952801" cy="220000"/>
          </a:xfrm>
          <a:prstGeom prst="rect">
            <a:avLst/>
          </a:prstGeom>
          <a:solidFill>
            <a:srgbClr val="3E61B5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5869201" y="3160000"/>
            <a:ext cx="1538799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50" b="1" i="0">
                <a:solidFill>
                  <a:srgbClr val="132257"/>
                </a:solidFill>
                <a:latin typeface="Exo 2 Bold"/>
              </a:rPr>
              <a:t>$9,000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50001" y="3620000"/>
            <a:ext cx="4856399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257"/>
                </a:solidFill>
                <a:latin typeface="Exo 2 Bold"/>
              </a:rPr>
              <a:t>Google Search, Qatar, UAE, Kuwait, Bahrain and Oman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826400" y="3740000"/>
            <a:ext cx="9952801" cy="220000"/>
          </a:xfrm>
          <a:prstGeom prst="rect">
            <a:avLst/>
          </a:prstGeom>
          <a:solidFill>
            <a:srgbClr val="F0F3F9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826400" y="3740000"/>
            <a:ext cx="6635200" cy="220000"/>
          </a:xfrm>
          <a:prstGeom prst="rect">
            <a:avLst/>
          </a:prstGeom>
          <a:solidFill>
            <a:srgbClr val="132257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5869201" y="3620000"/>
            <a:ext cx="1538799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50" b="1" i="0">
                <a:solidFill>
                  <a:srgbClr val="132257"/>
                </a:solidFill>
                <a:latin typeface="Exo 2 Bold"/>
              </a:rPr>
              <a:t>$6,000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50001" y="4080000"/>
            <a:ext cx="4856399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257"/>
                </a:solidFill>
                <a:latin typeface="Exo 2 Bold"/>
              </a:rPr>
              <a:t>LinkedIn Affluent, Qatar, UAE, Kuwait, Bahrain and Oman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826400" y="4200000"/>
            <a:ext cx="9952801" cy="220000"/>
          </a:xfrm>
          <a:prstGeom prst="rect">
            <a:avLst/>
          </a:prstGeom>
          <a:solidFill>
            <a:srgbClr val="F0F3F9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826400" y="4200000"/>
            <a:ext cx="6635200" cy="220000"/>
          </a:xfrm>
          <a:prstGeom prst="rect">
            <a:avLst/>
          </a:prstGeom>
          <a:solidFill>
            <a:srgbClr val="3E61B5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5869201" y="4080000"/>
            <a:ext cx="1538799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50" b="1" i="0">
                <a:solidFill>
                  <a:srgbClr val="132257"/>
                </a:solidFill>
                <a:latin typeface="Exo 2 Bold"/>
              </a:rPr>
              <a:t>$6,000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50001" y="4700000"/>
            <a:ext cx="16587999" cy="60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50001" y="4700000"/>
            <a:ext cx="44000" cy="600000"/>
          </a:xfrm>
          <a:prstGeom prst="rect">
            <a:avLst/>
          </a:prstGeom>
          <a:solidFill>
            <a:srgbClr val="1BA97C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130001" y="4700000"/>
            <a:ext cx="16027999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90" b="1" i="0">
                <a:solidFill>
                  <a:srgbClr val="132257"/>
                </a:solidFill>
                <a:latin typeface="Exo 2 Bold"/>
              </a:rPr>
              <a:t>WealthTech is generating the Affluent pipeline across the GCC and delivering leads. Placement closes them and holds the relationship.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50001" y="5506000"/>
            <a:ext cx="150000" cy="26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80001" y="5440000"/>
            <a:ext cx="16587999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 b="1" i="0" spc="180">
                <a:solidFill>
                  <a:srgbClr val="132257"/>
                </a:solidFill>
                <a:latin typeface="Exo 2 Bold"/>
              </a:rPr>
              <a:t>WHERE THE $30,000 COMES FROM, SEPTEMBER TO DECEMBER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50001" y="5900000"/>
            <a:ext cx="16587999" cy="115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50001" y="5900000"/>
            <a:ext cx="16587999" cy="26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70001" y="6090000"/>
            <a:ext cx="3586999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32257"/>
                </a:solidFill>
                <a:latin typeface="Exo 2 Bold"/>
              </a:rPr>
              <a:t>$127,820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170001" y="6560000"/>
            <a:ext cx="3586999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257"/>
                </a:solidFill>
                <a:latin typeface="Exo 2 Bold"/>
              </a:rPr>
              <a:t>Available from 1 September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70001" y="6800000"/>
            <a:ext cx="3586999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A849C"/>
                </a:solidFill>
                <a:latin typeface="Exo 2"/>
              </a:rPr>
              <a:t>Balance of the $192,000 annual budget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997000" y="6080000"/>
            <a:ext cx="14000" cy="79000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317000" y="6090000"/>
            <a:ext cx="3586999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3E61B5"/>
                </a:solidFill>
                <a:latin typeface="Exo 2 Bold"/>
              </a:rPr>
              <a:t>$65,343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317000" y="6560000"/>
            <a:ext cx="3586999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257"/>
                </a:solidFill>
                <a:latin typeface="Exo 2 Bold"/>
              </a:rPr>
              <a:t>Committed expenses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317000" y="6800000"/>
            <a:ext cx="3586999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A849C"/>
                </a:solidFill>
                <a:latin typeface="Exo 2"/>
              </a:rPr>
              <a:t>Retainers and scheduled campaigns, 51.1 per cent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144000" y="6080000"/>
            <a:ext cx="14000" cy="79000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464000" y="6090000"/>
            <a:ext cx="3586999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9A7B1F"/>
                </a:solidFill>
                <a:latin typeface="Exo 2 Bold"/>
              </a:rPr>
              <a:t>$30,000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464000" y="6560000"/>
            <a:ext cx="3586999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257"/>
                </a:solidFill>
                <a:latin typeface="Exo 2 Bold"/>
              </a:rPr>
              <a:t>Requested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464000" y="6800000"/>
            <a:ext cx="3586999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A849C"/>
                </a:solidFill>
                <a:latin typeface="Exo 2"/>
              </a:rPr>
              <a:t>Google and LinkedIn, 23.5 per cent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3291000" y="6080000"/>
            <a:ext cx="14000" cy="79000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3611000" y="6090000"/>
            <a:ext cx="3586999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BA97C"/>
                </a:solidFill>
                <a:latin typeface="Exo 2 Bold"/>
              </a:rPr>
              <a:t>$32,477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3611000" y="6560000"/>
            <a:ext cx="3586999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257"/>
                </a:solidFill>
                <a:latin typeface="Exo 2 Bold"/>
              </a:rPr>
              <a:t>Contingency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3611000" y="6800000"/>
            <a:ext cx="3586999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A849C"/>
                </a:solidFill>
                <a:latin typeface="Exo 2"/>
              </a:rPr>
              <a:t>25.4 per cent of the balance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50001" y="7160000"/>
            <a:ext cx="8479968" cy="300000"/>
          </a:xfrm>
          <a:prstGeom prst="rect">
            <a:avLst/>
          </a:prstGeom>
          <a:solidFill>
            <a:srgbClr val="3E61B5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329969" y="7160000"/>
            <a:ext cx="3893287" cy="30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3223256" y="7160000"/>
            <a:ext cx="4214742" cy="300000"/>
          </a:xfrm>
          <a:prstGeom prst="rect">
            <a:avLst/>
          </a:prstGeom>
          <a:solidFill>
            <a:srgbClr val="1BA97C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50001" y="7620000"/>
            <a:ext cx="16587999" cy="66000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50001" y="7620000"/>
            <a:ext cx="44000" cy="66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150001" y="7620000"/>
            <a:ext cx="15987999" cy="6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32257"/>
                </a:solidFill>
                <a:latin typeface="Exo 2 Bold"/>
              </a:rPr>
              <a:t>Against the $80,000 approved during the war: $34,482 spent and $35,610 committed leaves $9,908. Adding the $30,000 takes the campaign budget to $100,092, which is $20,092 above it. The plan is therefore funded from the wider $192,000 budget, where $32,477 of contingency remains after it.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50001" y="8420000"/>
            <a:ext cx="16587999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i="1">
                <a:solidFill>
                  <a:srgbClr val="3E61B5"/>
                </a:solidFill>
                <a:latin typeface="Exo 2"/>
                <a:hlinkClick r:id="rId8"/>
              </a:rPr>
              <a:t>Source: Google Ads cost per click, UAE and GCC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DAHUyOnjS54</dc:identifier>
  <dcterms:modified xsi:type="dcterms:W3CDTF">2011-08-01T06:04:30Z</dcterms:modified>
  <cp:revision>1</cp:revision>
  <dc:title>eMYAA Board Update - Funding Mitigation Plan Draft  -  Repaired.pptx</dc:title>
</cp:coreProperties>
</file>