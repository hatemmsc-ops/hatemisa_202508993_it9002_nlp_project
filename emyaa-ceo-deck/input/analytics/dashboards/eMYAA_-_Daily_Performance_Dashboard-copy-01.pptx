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x="18288000" cy="10287000"/>
  <p:notesSz cx="6858000" cy="9144000"/>
  <p:embeddedFontLst>
    <p:embeddedFont>
      <p:font typeface="Exo" charset="1" panose="00000000000000000000"/>
      <p:regular r:id="rId66"/>
    </p:embeddedFont>
    <p:embeddedFont>
      <p:font typeface="Exo Bold" charset="1" panose="00000000000000000000"/>
      <p:regular r:id="rId67"/>
    </p:embeddedFont>
    <p:embeddedFont>
      <p:font typeface="Trebuchet MS Bold" charset="1" panose="020B0703020202020204"/>
      <p:regular r:id="rId68"/>
    </p:embeddedFont>
    <p:embeddedFont>
      <p:font typeface="Trebuchet MS" charset="1" panose="020B0603020202020204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fonts/font66.fntdata" Type="http://schemas.openxmlformats.org/officeDocument/2006/relationships/font"/><Relationship Id="rId67" Target="fonts/font67.fntdata" Type="http://schemas.openxmlformats.org/officeDocument/2006/relationships/font"/><Relationship Id="rId68" Target="fonts/font68.fntdata" Type="http://schemas.openxmlformats.org/officeDocument/2006/relationships/font"/><Relationship Id="rId69" Target="fonts/font69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262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228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,539.81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55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61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70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27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27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29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221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,539.81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54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61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70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27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27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28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259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214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,029.69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54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60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69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27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26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27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197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,029.69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51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67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24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258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196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,029.69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51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65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23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257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195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14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,029.69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14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50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64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22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242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195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,029.69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13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49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64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21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242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195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,029.69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AUM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13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49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20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241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191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13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,029.69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13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49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54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63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17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241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189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8,529.69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53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16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237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186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8,529.69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52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63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14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234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185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8,529.69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52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62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13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233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181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8,529.69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51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160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10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230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180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8,529.69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50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160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9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177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8,529.69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49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160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8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225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170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8,529.69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49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157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3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220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169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8,337.41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49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156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208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165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8,337.41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48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 Sep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197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165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8,337.41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45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154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31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194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165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8,467.96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45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154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30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190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162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8,935.77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41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7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149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27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190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160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8,586.53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11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39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41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7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148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26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189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158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8,586.53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40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7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148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24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189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156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8,321.93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40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7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148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23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189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149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8,321.93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38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146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20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188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149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8,321.93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38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145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19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188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8,321.93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38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145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18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188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$ 7,821.93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36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146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17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188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$ 7,821.93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36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142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16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181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$ 7,821.93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36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37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126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13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181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138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8,659.21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10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36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36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125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25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12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181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8,579.83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35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36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122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11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181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$ 8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,526.91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35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122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10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179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$ 8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,526.91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34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122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9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$ 8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,526.91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34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117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6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$ 8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,526.91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34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116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5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$ 8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,526.91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34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4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178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106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$ 8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,526.91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33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114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 Aug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All Time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99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4,6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81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.06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32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112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30 Jul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2026 - 29  Jul 2026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99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4,6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81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.06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31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113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29 Jul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2026 - 28  Jul 2026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99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4,6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81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.06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26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28 Jul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2026 - 27  Jul 2026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19 Jul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2026 - 18 Jul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89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7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4,2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84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.18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103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12 Jul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2026 - 11 Jul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154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4,2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84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.18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23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98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05 Jul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2026 - 04 Jul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136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$ 4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,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235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.</a:t>
              </a: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83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18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22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93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29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2026 - 28 Jun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136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77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818883"/>
            <a:chOff x="0" y="0"/>
            <a:chExt cx="3128572" cy="125267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$ 3,696.71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17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19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90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23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2026 - 22 Jun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130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76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86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22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2026 - 21 Jun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130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75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14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84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21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2026 - 20 Jun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130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14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83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18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2026 - 17 Jun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123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202A44"/>
                  </a:solidFill>
                  <a:latin typeface="Exo Bold"/>
                  <a:ea typeface="Exo Bold"/>
                  <a:cs typeface="Exo Bold"/>
                  <a:sym typeface="Exo Bold"/>
                </a:rPr>
                <a:t>71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13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77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17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2026 - 16 Jun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71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94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15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2026 - 14 Jun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121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68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11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75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14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2026 - 13 Jun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68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0B981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11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0FB980"/>
                  </a:solidFill>
                  <a:latin typeface="Exo Bold"/>
                  <a:ea typeface="Exo Bold"/>
                  <a:cs typeface="Exo Bold"/>
                  <a:sym typeface="Exo Bold"/>
                </a:rPr>
                <a:t>69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10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2026 - 09 Jun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110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63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3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$ 2,088.57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61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21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24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04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14 May 2026 - 03 Jun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107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$1,609.40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53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18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18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01 Jun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31 May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107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2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62673"/>
            <a:ext cx="2655866" cy="818883"/>
            <a:chOff x="0" y="0"/>
            <a:chExt cx="4062784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4062784" cy="1252678"/>
            </a:xfrm>
            <a:custGeom>
              <a:avLst/>
              <a:gdLst/>
              <a:ahLst/>
              <a:cxnLst/>
              <a:rect r="r" b="b" t="t" l="l"/>
              <a:pathLst>
                <a:path h="1252678" w="4062784">
                  <a:moveTo>
                    <a:pt x="0" y="0"/>
                  </a:moveTo>
                  <a:lnTo>
                    <a:pt x="4062784" y="0"/>
                  </a:lnTo>
                  <a:lnTo>
                    <a:pt x="4062784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2770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4062784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$1,609.40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53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18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18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26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May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25 May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50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58919"/>
            <a:ext cx="2045166" cy="818883"/>
            <a:chOff x="0" y="0"/>
            <a:chExt cx="3128572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$66.15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9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25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May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24 May 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50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50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58919"/>
            <a:ext cx="2045166" cy="818883"/>
            <a:chOff x="0" y="0"/>
            <a:chExt cx="3128572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$0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24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May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21 May 2026 – 23 May 2026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32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7" id="47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49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3" id="93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6" id="146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8" id="148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0" id="150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6" id="156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8" id="158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3" id="163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5" id="165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9" id="169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1" id="171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5" id="175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1" id="181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5582051" y="4058919"/>
            <a:ext cx="2045166" cy="818883"/>
            <a:chOff x="0" y="0"/>
            <a:chExt cx="3128572" cy="1252678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$0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5" id="215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22" id="22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3" id="223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31" id="23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32" id="232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3" id="23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4" id="234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5" id="23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6" id="236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4" id="24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5" id="245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7" id="247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8" id="24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9" id="249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7" id="25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8" id="258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9" id="25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60" id="260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61" id="26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62" id="262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70" id="27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3" id="273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4" id="27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6" id="286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7" id="287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8" id="288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6" id="29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7" id="297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9" id="299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01" id="301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3" id="303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5" id="305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11" id="311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3" id="31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58919"/>
            <a:ext cx="2045166" cy="818883"/>
            <a:chOff x="0" y="0"/>
            <a:chExt cx="3128572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$0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21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May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20 May 2026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89513"/>
            <a:ext cx="18378537" cy="1327127"/>
            <a:chOff x="0" y="0"/>
            <a:chExt cx="90980085" cy="6569735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90980084" cy="6569735"/>
            </a:xfrm>
            <a:custGeom>
              <a:avLst/>
              <a:gdLst/>
              <a:ahLst/>
              <a:cxnLst/>
              <a:rect r="r" b="b" t="t" l="l"/>
              <a:pathLst>
                <a:path h="6569735" w="90980084">
                  <a:moveTo>
                    <a:pt x="0" y="0"/>
                  </a:moveTo>
                  <a:lnTo>
                    <a:pt x="90980084" y="0"/>
                  </a:lnTo>
                  <a:lnTo>
                    <a:pt x="90980084" y="6569735"/>
                  </a:lnTo>
                  <a:lnTo>
                    <a:pt x="0" y="6569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9485" r="0" b="-33948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77490" y="370288"/>
            <a:ext cx="54864" cy="384048"/>
            <a:chOff x="0" y="0"/>
            <a:chExt cx="73152" cy="5120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512064"/>
            </a:xfrm>
            <a:custGeom>
              <a:avLst/>
              <a:gdLst/>
              <a:ahLst/>
              <a:cxnLst/>
              <a:rect r="r" b="b" t="t" l="l"/>
              <a:pathLst>
                <a:path h="512064" w="73152">
                  <a:moveTo>
                    <a:pt x="0" y="0"/>
                  </a:moveTo>
                  <a:lnTo>
                    <a:pt x="73152" y="0"/>
                  </a:lnTo>
                  <a:lnTo>
                    <a:pt x="73152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A4A6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942082" y="370288"/>
            <a:ext cx="2743200" cy="384048"/>
            <a:chOff x="0" y="0"/>
            <a:chExt cx="3657600" cy="512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512064"/>
            </a:xfrm>
            <a:custGeom>
              <a:avLst/>
              <a:gdLst/>
              <a:ahLst/>
              <a:cxnLst/>
              <a:rect r="r" b="b" t="t" l="l"/>
              <a:pathLst>
                <a:path h="51206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365760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Platform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86400" y="315424"/>
            <a:ext cx="7269480" cy="493776"/>
            <a:chOff x="0" y="0"/>
            <a:chExt cx="9692640" cy="6583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92640" cy="658368"/>
            </a:xfrm>
            <a:custGeom>
              <a:avLst/>
              <a:gdLst/>
              <a:ahLst/>
              <a:cxnLst/>
              <a:rect r="r" b="b" t="t" l="l"/>
              <a:pathLst>
                <a:path h="658368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63" r="0" b="-23686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69264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FFFFFF"/>
                  </a:solidFill>
                  <a:latin typeface="Exo Bold"/>
                  <a:ea typeface="Exo Bold"/>
                  <a:cs typeface="Exo Bold"/>
                  <a:sym typeface="Exo Bold"/>
                </a:rPr>
                <a:t>PERFORMANCE DASHBOARD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99516" y="210529"/>
            <a:ext cx="1803771" cy="641344"/>
          </a:xfrm>
          <a:custGeom>
            <a:avLst/>
            <a:gdLst/>
            <a:ahLst/>
            <a:cxnLst/>
            <a:rect r="r" b="b" t="t" l="l"/>
            <a:pathLst>
              <a:path h="641344" w="1803771">
                <a:moveTo>
                  <a:pt x="0" y="0"/>
                </a:moveTo>
                <a:lnTo>
                  <a:pt x="1803771" y="0"/>
                </a:lnTo>
                <a:lnTo>
                  <a:pt x="1803771" y="641343"/>
                </a:lnTo>
                <a:lnTo>
                  <a:pt x="0" y="6413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18" t="0" r="-118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71243" y="1394789"/>
            <a:ext cx="54633" cy="300483"/>
            <a:chOff x="0" y="0"/>
            <a:chExt cx="73152" cy="4023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35143" y="1394789"/>
            <a:ext cx="3914630" cy="300483"/>
            <a:chOff x="0" y="0"/>
            <a:chExt cx="5241544" cy="402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DOWNLOADS  &amp;  RATINGS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0871" y="1763564"/>
            <a:ext cx="4078530" cy="1936706"/>
            <a:chOff x="0" y="0"/>
            <a:chExt cx="6239089" cy="29626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0871" y="1763564"/>
            <a:ext cx="4078530" cy="59775"/>
            <a:chOff x="0" y="0"/>
            <a:chExt cx="6239089" cy="91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1301" y="2026573"/>
            <a:ext cx="373898" cy="373644"/>
            <a:chOff x="0" y="0"/>
            <a:chExt cx="571967" cy="571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1967" cy="571579"/>
            </a:xfrm>
            <a:custGeom>
              <a:avLst/>
              <a:gdLst/>
              <a:ahLst/>
              <a:cxnLst/>
              <a:rect r="r" b="b" t="t" l="l"/>
              <a:pathLst>
                <a:path h="571579" w="571967">
                  <a:moveTo>
                    <a:pt x="0" y="285789"/>
                  </a:moveTo>
                  <a:cubicBezTo>
                    <a:pt x="0" y="127963"/>
                    <a:pt x="128049" y="0"/>
                    <a:pt x="285983" y="0"/>
                  </a:cubicBezTo>
                  <a:cubicBezTo>
                    <a:pt x="443917" y="0"/>
                    <a:pt x="571967" y="127963"/>
                    <a:pt x="571967" y="285789"/>
                  </a:cubicBezTo>
                  <a:cubicBezTo>
                    <a:pt x="571967" y="443616"/>
                    <a:pt x="443917" y="571579"/>
                    <a:pt x="285983" y="571579"/>
                  </a:cubicBezTo>
                  <a:cubicBezTo>
                    <a:pt x="128049" y="571579"/>
                    <a:pt x="0" y="443616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663" y="2101388"/>
            <a:ext cx="207552" cy="207411"/>
            <a:chOff x="0" y="0"/>
            <a:chExt cx="326838" cy="3266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26838" cy="326616"/>
            </a:xfrm>
            <a:custGeom>
              <a:avLst/>
              <a:gdLst/>
              <a:ahLst/>
              <a:cxnLst/>
              <a:rect r="r" b="b" t="t" l="l"/>
              <a:pathLst>
                <a:path h="326616" w="326838">
                  <a:moveTo>
                    <a:pt x="0" y="0"/>
                  </a:moveTo>
                  <a:lnTo>
                    <a:pt x="326838" y="0"/>
                  </a:lnTo>
                  <a:lnTo>
                    <a:pt x="326838" y="326616"/>
                  </a:lnTo>
                  <a:lnTo>
                    <a:pt x="0" y="326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3" r="0" b="-3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52593" y="2002663"/>
            <a:ext cx="2045166" cy="818883"/>
            <a:chOff x="0" y="0"/>
            <a:chExt cx="3128572" cy="125267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15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12896" y="2815602"/>
            <a:ext cx="2584862" cy="382559"/>
            <a:chOff x="0" y="0"/>
            <a:chExt cx="3954167" cy="5852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Downloads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09609" y="3241830"/>
            <a:ext cx="3816945" cy="8302"/>
            <a:chOff x="0" y="0"/>
            <a:chExt cx="5838933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12896" y="3317710"/>
            <a:ext cx="2584862" cy="263009"/>
            <a:chOff x="0" y="0"/>
            <a:chExt cx="3954167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Store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471243" y="3823574"/>
            <a:ext cx="4078530" cy="1936706"/>
            <a:chOff x="0" y="0"/>
            <a:chExt cx="6239089" cy="29626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471243" y="3823574"/>
            <a:ext cx="4078530" cy="59775"/>
            <a:chOff x="0" y="0"/>
            <a:chExt cx="6239089" cy="91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41673" y="4086583"/>
            <a:ext cx="373593" cy="379395"/>
            <a:chOff x="0" y="0"/>
            <a:chExt cx="608333" cy="6177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8333" cy="617781"/>
            </a:xfrm>
            <a:custGeom>
              <a:avLst/>
              <a:gdLst/>
              <a:ahLst/>
              <a:cxnLst/>
              <a:rect r="r" b="b" t="t" l="l"/>
              <a:pathLst>
                <a:path h="617781" w="608333">
                  <a:moveTo>
                    <a:pt x="0" y="308890"/>
                  </a:moveTo>
                  <a:cubicBezTo>
                    <a:pt x="0" y="138306"/>
                    <a:pt x="136191" y="0"/>
                    <a:pt x="304167" y="0"/>
                  </a:cubicBezTo>
                  <a:cubicBezTo>
                    <a:pt x="472142" y="0"/>
                    <a:pt x="608333" y="138306"/>
                    <a:pt x="608333" y="308890"/>
                  </a:cubicBezTo>
                  <a:cubicBezTo>
                    <a:pt x="608333" y="479475"/>
                    <a:pt x="472142" y="617781"/>
                    <a:pt x="304167" y="617781"/>
                  </a:cubicBezTo>
                  <a:cubicBezTo>
                    <a:pt x="136191" y="617781"/>
                    <a:pt x="0" y="479475"/>
                    <a:pt x="0" y="308890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21729" y="4147561"/>
            <a:ext cx="213482" cy="216797"/>
            <a:chOff x="0" y="0"/>
            <a:chExt cx="347619" cy="353017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347619" cy="353018"/>
            </a:xfrm>
            <a:custGeom>
              <a:avLst/>
              <a:gdLst/>
              <a:ahLst/>
              <a:cxnLst/>
              <a:rect r="r" b="b" t="t" l="l"/>
              <a:pathLst>
                <a:path h="353018" w="347619">
                  <a:moveTo>
                    <a:pt x="0" y="0"/>
                  </a:moveTo>
                  <a:lnTo>
                    <a:pt x="347619" y="0"/>
                  </a:lnTo>
                  <a:lnTo>
                    <a:pt x="347619" y="353018"/>
                  </a:lnTo>
                  <a:lnTo>
                    <a:pt x="0" y="35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6" t="0" r="-77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52964" y="4062673"/>
            <a:ext cx="2045166" cy="818883"/>
            <a:chOff x="0" y="0"/>
            <a:chExt cx="3128572" cy="12526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b="true" sz="3900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13268" y="4875612"/>
            <a:ext cx="2584862" cy="382559"/>
            <a:chOff x="0" y="0"/>
            <a:chExt cx="3954167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Downloads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09956" y="5301840"/>
            <a:ext cx="3816945" cy="8302"/>
            <a:chOff x="0" y="0"/>
            <a:chExt cx="5838933" cy="127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13268" y="5377721"/>
            <a:ext cx="2584862" cy="263009"/>
            <a:chOff x="0" y="0"/>
            <a:chExt cx="3954167" cy="4023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Apple App Store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70871" y="5883584"/>
            <a:ext cx="4078530" cy="1936706"/>
            <a:chOff x="0" y="0"/>
            <a:chExt cx="6239089" cy="2962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470871" y="5883584"/>
            <a:ext cx="4078530" cy="59775"/>
            <a:chOff x="0" y="0"/>
            <a:chExt cx="6239089" cy="91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41301" y="6146594"/>
            <a:ext cx="373911" cy="373643"/>
            <a:chOff x="0" y="0"/>
            <a:chExt cx="571986" cy="57157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0B981">
                <a:alpha val="1961"/>
              </a:srgbClr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52593" y="6122684"/>
            <a:ext cx="2045166" cy="818883"/>
            <a:chOff x="0" y="0"/>
            <a:chExt cx="3128572" cy="125267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12896" y="6935622"/>
            <a:ext cx="2584862" cy="382559"/>
            <a:chOff x="0" y="0"/>
            <a:chExt cx="3954167" cy="5852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Android App Rating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09609" y="7361850"/>
            <a:ext cx="3816945" cy="8302"/>
            <a:chOff x="0" y="0"/>
            <a:chExt cx="5838933" cy="127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612896" y="7437731"/>
            <a:ext cx="2584862" cy="263009"/>
            <a:chOff x="0" y="0"/>
            <a:chExt cx="3954167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Google Play  ·  2 reviews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470871" y="7943594"/>
            <a:ext cx="4078530" cy="1936706"/>
            <a:chOff x="0" y="0"/>
            <a:chExt cx="6239089" cy="296265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70871" y="7943594"/>
            <a:ext cx="4078530" cy="59775"/>
            <a:chOff x="0" y="0"/>
            <a:chExt cx="6239089" cy="914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41301" y="8206604"/>
            <a:ext cx="373911" cy="373643"/>
            <a:chOff x="0" y="0"/>
            <a:chExt cx="571986" cy="57157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52593" y="8182694"/>
            <a:ext cx="2045166" cy="818883"/>
            <a:chOff x="0" y="0"/>
            <a:chExt cx="3128572" cy="125267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5.0 </a:t>
              </a:r>
              <a:r>
                <a:rPr lang="en-US" sz="3900" b="true">
                  <a:solidFill>
                    <a:srgbClr val="F59E0B"/>
                  </a:solidFill>
                  <a:latin typeface="Exo Bold"/>
                  <a:ea typeface="Exo Bold"/>
                  <a:cs typeface="Exo Bold"/>
                  <a:sym typeface="Exo Bold"/>
                </a:rPr>
                <a:t>★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612896" y="8995632"/>
            <a:ext cx="2584862" cy="382559"/>
            <a:chOff x="0" y="0"/>
            <a:chExt cx="3954167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iOS App Rating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09609" y="9421860"/>
            <a:ext cx="3816945" cy="8302"/>
            <a:chOff x="0" y="0"/>
            <a:chExt cx="5838933" cy="12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12896" y="9497741"/>
            <a:ext cx="2584862" cy="263009"/>
            <a:chOff x="0" y="0"/>
            <a:chExt cx="3954167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App Store  ·  2 reviews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21750" y="6231943"/>
            <a:ext cx="213014" cy="202944"/>
          </a:xfrm>
          <a:custGeom>
            <a:avLst/>
            <a:gdLst/>
            <a:ahLst/>
            <a:cxnLst/>
            <a:rect r="r" b="b" t="t" l="l"/>
            <a:pathLst>
              <a:path h="202944" w="213014">
                <a:moveTo>
                  <a:pt x="0" y="0"/>
                </a:moveTo>
                <a:lnTo>
                  <a:pt x="213014" y="0"/>
                </a:lnTo>
                <a:lnTo>
                  <a:pt x="213014" y="202944"/>
                </a:lnTo>
                <a:lnTo>
                  <a:pt x="0" y="202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728675" y="8298552"/>
            <a:ext cx="199162" cy="189748"/>
          </a:xfrm>
          <a:custGeom>
            <a:avLst/>
            <a:gdLst/>
            <a:ahLst/>
            <a:cxnLst/>
            <a:rect r="r" b="b" t="t" l="l"/>
            <a:pathLst>
              <a:path h="189748" w="199162">
                <a:moveTo>
                  <a:pt x="0" y="0"/>
                </a:moveTo>
                <a:lnTo>
                  <a:pt x="199163" y="0"/>
                </a:lnTo>
                <a:lnTo>
                  <a:pt x="199163" y="189747"/>
                </a:lnTo>
                <a:lnTo>
                  <a:pt x="0" y="189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5042355" y="1394789"/>
            <a:ext cx="3914630" cy="300483"/>
            <a:chOff x="0" y="0"/>
            <a:chExt cx="5241544" cy="40233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U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SER ACTIVITY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878083" y="1763564"/>
            <a:ext cx="4078530" cy="1936706"/>
            <a:chOff x="0" y="0"/>
            <a:chExt cx="6239089" cy="296265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070760" y="2022819"/>
            <a:ext cx="373911" cy="373643"/>
            <a:chOff x="0" y="0"/>
            <a:chExt cx="571986" cy="57157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150884" y="2102885"/>
            <a:ext cx="213663" cy="213510"/>
            <a:chOff x="0" y="0"/>
            <a:chExt cx="326849" cy="326615"/>
          </a:xfrm>
        </p:grpSpPr>
        <p:sp>
          <p:nvSpPr>
            <p:cNvPr name="Freeform 100" id="100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35" r="0" b="-35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5582051" y="1998909"/>
            <a:ext cx="2045166" cy="741208"/>
            <a:chOff x="0" y="0"/>
            <a:chExt cx="3128572" cy="113385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128572" cy="1133856"/>
            </a:xfrm>
            <a:custGeom>
              <a:avLst/>
              <a:gdLst/>
              <a:ahLst/>
              <a:cxnLst/>
              <a:rect r="r" b="b" t="t" l="l"/>
              <a:pathLst>
                <a:path h="113385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83" r="-26262" b="-17883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9525"/>
              <a:ext cx="3128572" cy="1143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1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042355" y="2811847"/>
            <a:ext cx="2584862" cy="382559"/>
            <a:chOff x="0" y="0"/>
            <a:chExt cx="3954167" cy="58521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3954167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Users Deposited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042355" y="3313956"/>
            <a:ext cx="2584862" cy="263009"/>
            <a:chOff x="0" y="0"/>
            <a:chExt cx="3954167" cy="4023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3954167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Funded accounts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016821" y="3241830"/>
            <a:ext cx="3816945" cy="8302"/>
            <a:chOff x="0" y="0"/>
            <a:chExt cx="5838933" cy="12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4878455" y="3823574"/>
            <a:ext cx="4078530" cy="1936706"/>
            <a:chOff x="0" y="0"/>
            <a:chExt cx="6239089" cy="2962656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4878455" y="3823574"/>
            <a:ext cx="4078530" cy="59775"/>
            <a:chOff x="0" y="0"/>
            <a:chExt cx="6239089" cy="9144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5017169" y="5301840"/>
            <a:ext cx="3816945" cy="8302"/>
            <a:chOff x="0" y="0"/>
            <a:chExt cx="5838933" cy="127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4878083" y="5883584"/>
            <a:ext cx="4078530" cy="1936706"/>
            <a:chOff x="0" y="0"/>
            <a:chExt cx="6239089" cy="296265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4878083" y="5883584"/>
            <a:ext cx="4078530" cy="59775"/>
            <a:chOff x="0" y="0"/>
            <a:chExt cx="6239089" cy="914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5016821" y="7361850"/>
            <a:ext cx="3816945" cy="8302"/>
            <a:chOff x="0" y="0"/>
            <a:chExt cx="5838933" cy="127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4878083" y="7943594"/>
            <a:ext cx="4078530" cy="1936706"/>
            <a:chOff x="0" y="0"/>
            <a:chExt cx="6239089" cy="2962656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878083" y="7943594"/>
            <a:ext cx="4078530" cy="59775"/>
            <a:chOff x="0" y="0"/>
            <a:chExt cx="6239089" cy="914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5016821" y="9421860"/>
            <a:ext cx="3816945" cy="8302"/>
            <a:chOff x="0" y="0"/>
            <a:chExt cx="5838933" cy="1270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9285667" y="1394789"/>
            <a:ext cx="54633" cy="300483"/>
            <a:chOff x="0" y="0"/>
            <a:chExt cx="73152" cy="40233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9449567" y="1394789"/>
            <a:ext cx="3914630" cy="300483"/>
            <a:chOff x="0" y="0"/>
            <a:chExt cx="5241544" cy="40233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KYC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 </a:t>
              </a: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STATUS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285295" y="1763564"/>
            <a:ext cx="4078530" cy="1936706"/>
            <a:chOff x="0" y="0"/>
            <a:chExt cx="6239089" cy="296265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285295" y="1763564"/>
            <a:ext cx="4078530" cy="59775"/>
            <a:chOff x="0" y="0"/>
            <a:chExt cx="6239089" cy="914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9424033" y="3241830"/>
            <a:ext cx="3816945" cy="8302"/>
            <a:chOff x="0" y="0"/>
            <a:chExt cx="5838933" cy="127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9285667" y="3823574"/>
            <a:ext cx="4078530" cy="1936706"/>
            <a:chOff x="0" y="0"/>
            <a:chExt cx="6239089" cy="29626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285667" y="3823574"/>
            <a:ext cx="4078530" cy="59775"/>
            <a:chOff x="0" y="0"/>
            <a:chExt cx="6239089" cy="914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424381" y="5301840"/>
            <a:ext cx="3816945" cy="8302"/>
            <a:chOff x="0" y="0"/>
            <a:chExt cx="5838933" cy="12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9285295" y="5883584"/>
            <a:ext cx="4078530" cy="1936706"/>
            <a:chOff x="0" y="0"/>
            <a:chExt cx="6239089" cy="29626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9285295" y="5883584"/>
            <a:ext cx="4078530" cy="59775"/>
            <a:chOff x="0" y="0"/>
            <a:chExt cx="6239089" cy="9144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9424033" y="7361850"/>
            <a:ext cx="3816945" cy="8302"/>
            <a:chOff x="0" y="0"/>
            <a:chExt cx="5838933" cy="127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3692879" y="1394789"/>
            <a:ext cx="54633" cy="300483"/>
            <a:chOff x="0" y="0"/>
            <a:chExt cx="73152" cy="40233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3856779" y="1394789"/>
            <a:ext cx="3914630" cy="300483"/>
            <a:chOff x="0" y="0"/>
            <a:chExt cx="5241544" cy="40233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5241544" cy="402336"/>
            </a:xfrm>
            <a:custGeom>
              <a:avLst/>
              <a:gdLst/>
              <a:ahLst/>
              <a:cxnLst/>
              <a:rect r="r" b="b" t="t" l="l"/>
              <a:pathLst>
                <a:path h="402336" w="5241544">
                  <a:moveTo>
                    <a:pt x="0" y="0"/>
                  </a:moveTo>
                  <a:lnTo>
                    <a:pt x="5241544" y="0"/>
                  </a:lnTo>
                  <a:lnTo>
                    <a:pt x="52415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1410" r="-109342" b="-48141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52415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b="true" sz="1200" spc="300">
                  <a:solidFill>
                    <a:srgbClr val="64748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3692508" y="3823574"/>
            <a:ext cx="4078530" cy="1936706"/>
            <a:chOff x="0" y="0"/>
            <a:chExt cx="6239089" cy="296265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13692508" y="3823574"/>
            <a:ext cx="4078530" cy="59775"/>
            <a:chOff x="0" y="0"/>
            <a:chExt cx="6239089" cy="91440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831246" y="5301840"/>
            <a:ext cx="3816945" cy="8302"/>
            <a:chOff x="0" y="0"/>
            <a:chExt cx="5838933" cy="1270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3692879" y="5883584"/>
            <a:ext cx="4078530" cy="1936706"/>
            <a:chOff x="0" y="0"/>
            <a:chExt cx="6239089" cy="296265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6" id="166"/>
          <p:cNvGrpSpPr/>
          <p:nvPr/>
        </p:nvGrpSpPr>
        <p:grpSpPr>
          <a:xfrm rot="0">
            <a:off x="13692879" y="5883584"/>
            <a:ext cx="4078530" cy="59775"/>
            <a:chOff x="0" y="0"/>
            <a:chExt cx="6239089" cy="9144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831593" y="7361850"/>
            <a:ext cx="3816945" cy="8302"/>
            <a:chOff x="0" y="0"/>
            <a:chExt cx="5838933" cy="1270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13692508" y="7943594"/>
            <a:ext cx="4078530" cy="1936706"/>
            <a:chOff x="0" y="0"/>
            <a:chExt cx="6239089" cy="2962656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13692508" y="7943594"/>
            <a:ext cx="4078530" cy="59775"/>
            <a:chOff x="0" y="0"/>
            <a:chExt cx="6239089" cy="914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174" id="174"/>
          <p:cNvGrpSpPr/>
          <p:nvPr/>
        </p:nvGrpSpPr>
        <p:grpSpPr>
          <a:xfrm rot="0">
            <a:off x="13831246" y="9421860"/>
            <a:ext cx="3816945" cy="8302"/>
            <a:chOff x="0" y="0"/>
            <a:chExt cx="5838933" cy="12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6" id="176"/>
          <p:cNvGrpSpPr/>
          <p:nvPr/>
        </p:nvGrpSpPr>
        <p:grpSpPr>
          <a:xfrm rot="0">
            <a:off x="4878083" y="1763564"/>
            <a:ext cx="4078530" cy="59775"/>
            <a:chOff x="0" y="0"/>
            <a:chExt cx="6239089" cy="91440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78" id="178"/>
          <p:cNvGrpSpPr/>
          <p:nvPr/>
        </p:nvGrpSpPr>
        <p:grpSpPr>
          <a:xfrm rot="0">
            <a:off x="4878455" y="1394789"/>
            <a:ext cx="54633" cy="300483"/>
            <a:chOff x="0" y="0"/>
            <a:chExt cx="73152" cy="402336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73152" cy="402336"/>
            </a:xfrm>
            <a:custGeom>
              <a:avLst/>
              <a:gdLst/>
              <a:ahLst/>
              <a:cxnLst/>
              <a:rect r="r" b="b" t="t" l="l"/>
              <a:pathLst>
                <a:path h="402336" w="73152">
                  <a:moveTo>
                    <a:pt x="0" y="0"/>
                  </a:moveTo>
                  <a:lnTo>
                    <a:pt x="73152" y="0"/>
                  </a:lnTo>
                  <a:lnTo>
                    <a:pt x="73152" y="402336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6366F1"/>
            </a:solidFill>
          </p:spPr>
        </p:sp>
      </p:grpSp>
      <p:grpSp>
        <p:nvGrpSpPr>
          <p:cNvPr name="Group 180" id="180"/>
          <p:cNvGrpSpPr/>
          <p:nvPr/>
        </p:nvGrpSpPr>
        <p:grpSpPr>
          <a:xfrm rot="0">
            <a:off x="5070760" y="4082829"/>
            <a:ext cx="373911" cy="373643"/>
            <a:chOff x="0" y="0"/>
            <a:chExt cx="571986" cy="571577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82" id="182"/>
          <p:cNvGrpSpPr/>
          <p:nvPr/>
        </p:nvGrpSpPr>
        <p:grpSpPr>
          <a:xfrm rot="0">
            <a:off x="5582051" y="4058919"/>
            <a:ext cx="2045166" cy="818883"/>
            <a:chOff x="0" y="0"/>
            <a:chExt cx="3128572" cy="1252678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$0.99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042355" y="4871857"/>
            <a:ext cx="2584862" cy="382559"/>
            <a:chOff x="0" y="0"/>
            <a:chExt cx="3954167" cy="585216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Deposits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5042355" y="5373966"/>
            <a:ext cx="2584862" cy="263009"/>
            <a:chOff x="0" y="0"/>
            <a:chExt cx="3954167" cy="402336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Cumulative platform deposits</a:t>
              </a:r>
            </a:p>
          </p:txBody>
        </p:sp>
      </p:grpSp>
      <p:sp>
        <p:nvSpPr>
          <p:cNvPr name="Freeform 191" id="191"/>
          <p:cNvSpPr/>
          <p:nvPr/>
        </p:nvSpPr>
        <p:spPr>
          <a:xfrm flipH="false" flipV="false" rot="0">
            <a:off x="5134170" y="4192953"/>
            <a:ext cx="247090" cy="152578"/>
          </a:xfrm>
          <a:custGeom>
            <a:avLst/>
            <a:gdLst/>
            <a:ahLst/>
            <a:cxnLst/>
            <a:rect r="r" b="b" t="t" l="l"/>
            <a:pathLst>
              <a:path h="152578" w="247090">
                <a:moveTo>
                  <a:pt x="0" y="0"/>
                </a:moveTo>
                <a:lnTo>
                  <a:pt x="247090" y="0"/>
                </a:lnTo>
                <a:lnTo>
                  <a:pt x="247090" y="152578"/>
                </a:lnTo>
                <a:lnTo>
                  <a:pt x="0" y="15257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2" id="192"/>
          <p:cNvGrpSpPr/>
          <p:nvPr/>
        </p:nvGrpSpPr>
        <p:grpSpPr>
          <a:xfrm rot="0">
            <a:off x="5099165" y="6146594"/>
            <a:ext cx="373911" cy="373643"/>
            <a:chOff x="0" y="0"/>
            <a:chExt cx="571986" cy="571577"/>
          </a:xfrm>
        </p:grpSpPr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6366F1">
                <a:alpha val="1961"/>
              </a:srgbClr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5610456" y="6122684"/>
            <a:ext cx="2045166" cy="818883"/>
            <a:chOff x="0" y="0"/>
            <a:chExt cx="3128572" cy="1252678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5070760" y="6935622"/>
            <a:ext cx="2584862" cy="382559"/>
            <a:chOff x="0" y="0"/>
            <a:chExt cx="3954167" cy="585216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Traded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5070760" y="7437731"/>
            <a:ext cx="2584862" cy="263009"/>
            <a:chOff x="0" y="0"/>
            <a:chExt cx="3954167" cy="402336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Placed at least 1 trade</a:t>
              </a:r>
            </a:p>
          </p:txBody>
        </p:sp>
      </p:grpSp>
      <p:sp>
        <p:nvSpPr>
          <p:cNvPr name="Freeform 203" id="203"/>
          <p:cNvSpPr/>
          <p:nvPr/>
        </p:nvSpPr>
        <p:spPr>
          <a:xfrm flipH="false" flipV="false" rot="0">
            <a:off x="5179289" y="6222048"/>
            <a:ext cx="210344" cy="210871"/>
          </a:xfrm>
          <a:custGeom>
            <a:avLst/>
            <a:gdLst/>
            <a:ahLst/>
            <a:cxnLst/>
            <a:rect r="r" b="b" t="t" l="l"/>
            <a:pathLst>
              <a:path h="210871" w="210344">
                <a:moveTo>
                  <a:pt x="0" y="0"/>
                </a:moveTo>
                <a:lnTo>
                  <a:pt x="210343" y="0"/>
                </a:lnTo>
                <a:lnTo>
                  <a:pt x="210343" y="210871"/>
                </a:lnTo>
                <a:lnTo>
                  <a:pt x="0" y="2108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4" id="204"/>
          <p:cNvGrpSpPr/>
          <p:nvPr/>
        </p:nvGrpSpPr>
        <p:grpSpPr>
          <a:xfrm rot="0">
            <a:off x="5127570" y="8193427"/>
            <a:ext cx="373911" cy="373643"/>
            <a:chOff x="0" y="0"/>
            <a:chExt cx="571986" cy="571577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3B82F6">
                <a:alpha val="1961"/>
              </a:srgbClr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5638862" y="8169517"/>
            <a:ext cx="2045166" cy="818883"/>
            <a:chOff x="0" y="0"/>
            <a:chExt cx="3128572" cy="1252678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3128572" cy="1252678"/>
            </a:xfrm>
            <a:custGeom>
              <a:avLst/>
              <a:gdLst/>
              <a:ahLst/>
              <a:cxnLst/>
              <a:rect r="r" b="b" t="t" l="l"/>
              <a:pathLst>
                <a:path h="1252678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52678"/>
                  </a:lnTo>
                  <a:lnTo>
                    <a:pt x="0" y="12526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87" r="-26262" b="-6701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0"/>
              <a:ext cx="3128572" cy="12526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0</a:t>
              </a:r>
            </a:p>
          </p:txBody>
        </p:sp>
      </p:grpSp>
      <p:grpSp>
        <p:nvGrpSpPr>
          <p:cNvPr name="Group 209" id="209"/>
          <p:cNvGrpSpPr/>
          <p:nvPr/>
        </p:nvGrpSpPr>
        <p:grpSpPr>
          <a:xfrm rot="0">
            <a:off x="5099165" y="8982455"/>
            <a:ext cx="2584862" cy="382559"/>
            <a:chOff x="0" y="0"/>
            <a:chExt cx="3954167" cy="585216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Total No. of Trades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5099165" y="9484564"/>
            <a:ext cx="2584862" cy="263009"/>
            <a:chOff x="0" y="0"/>
            <a:chExt cx="3954167" cy="402336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Executed across all users</a:t>
              </a:r>
            </a:p>
          </p:txBody>
        </p:sp>
      </p:grpSp>
      <p:sp>
        <p:nvSpPr>
          <p:cNvPr name="Freeform 215" id="215"/>
          <p:cNvSpPr/>
          <p:nvPr/>
        </p:nvSpPr>
        <p:spPr>
          <a:xfrm flipH="false" flipV="false" rot="0">
            <a:off x="5127570" y="8300445"/>
            <a:ext cx="375962" cy="135696"/>
          </a:xfrm>
          <a:custGeom>
            <a:avLst/>
            <a:gdLst/>
            <a:ahLst/>
            <a:cxnLst/>
            <a:rect r="r" b="b" t="t" l="l"/>
            <a:pathLst>
              <a:path h="135696" w="375962">
                <a:moveTo>
                  <a:pt x="0" y="0"/>
                </a:moveTo>
                <a:lnTo>
                  <a:pt x="375962" y="0"/>
                </a:lnTo>
                <a:lnTo>
                  <a:pt x="375962" y="135696"/>
                </a:lnTo>
                <a:lnTo>
                  <a:pt x="0" y="1356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-177061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9478414" y="1978570"/>
            <a:ext cx="379723" cy="379451"/>
            <a:chOff x="0" y="0"/>
            <a:chExt cx="571986" cy="571577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218" id="218"/>
          <p:cNvGrpSpPr/>
          <p:nvPr/>
        </p:nvGrpSpPr>
        <p:grpSpPr>
          <a:xfrm rot="0">
            <a:off x="9559783" y="2059881"/>
            <a:ext cx="216984" cy="216829"/>
            <a:chOff x="0" y="0"/>
            <a:chExt cx="326849" cy="326615"/>
          </a:xfrm>
        </p:grpSpPr>
        <p:sp>
          <p:nvSpPr>
            <p:cNvPr name="Freeform 219" id="219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35" r="0" b="-35"/>
              </a:stretch>
            </a:blipFill>
          </p:spPr>
        </p:sp>
      </p:grpSp>
      <p:grpSp>
        <p:nvGrpSpPr>
          <p:cNvPr name="Group 220" id="220"/>
          <p:cNvGrpSpPr/>
          <p:nvPr/>
        </p:nvGrpSpPr>
        <p:grpSpPr>
          <a:xfrm rot="0">
            <a:off x="9997653" y="1954288"/>
            <a:ext cx="2076956" cy="818883"/>
            <a:chOff x="0" y="0"/>
            <a:chExt cx="3128572" cy="1233505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3128572" cy="1233505"/>
            </a:xfrm>
            <a:custGeom>
              <a:avLst/>
              <a:gdLst/>
              <a:ahLst/>
              <a:cxnLst/>
              <a:rect r="r" b="b" t="t" l="l"/>
              <a:pathLst>
                <a:path h="1233505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33505"/>
                  </a:lnTo>
                  <a:lnTo>
                    <a:pt x="0" y="1233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8" r="-26262" b="-836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>
              <a:off x="0" y="0"/>
              <a:ext cx="3128572" cy="1233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9449567" y="2779863"/>
            <a:ext cx="2625042" cy="388506"/>
            <a:chOff x="0" y="0"/>
            <a:chExt cx="3954167" cy="585216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Users Onboarded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9449567" y="3289776"/>
            <a:ext cx="2625042" cy="267098"/>
            <a:chOff x="0" y="0"/>
            <a:chExt cx="3954167" cy="402336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28" id="228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Completed signup &amp; verification</a:t>
              </a:r>
            </a:p>
          </p:txBody>
        </p:sp>
      </p:grpSp>
      <p:grpSp>
        <p:nvGrpSpPr>
          <p:cNvPr name="Group 229" id="229"/>
          <p:cNvGrpSpPr/>
          <p:nvPr/>
        </p:nvGrpSpPr>
        <p:grpSpPr>
          <a:xfrm rot="0">
            <a:off x="9510194" y="4060441"/>
            <a:ext cx="386144" cy="385868"/>
            <a:chOff x="0" y="0"/>
            <a:chExt cx="571986" cy="571577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EF4444">
                <a:alpha val="1961"/>
              </a:srgbClr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9592939" y="4143127"/>
            <a:ext cx="220654" cy="220496"/>
            <a:chOff x="0" y="0"/>
            <a:chExt cx="326849" cy="326615"/>
          </a:xfrm>
        </p:grpSpPr>
        <p:sp>
          <p:nvSpPr>
            <p:cNvPr name="Freeform 232" id="232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35" r="0" b="-35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10038214" y="4035749"/>
            <a:ext cx="2112080" cy="818883"/>
            <a:chOff x="0" y="0"/>
            <a:chExt cx="3128572" cy="1212991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8</a:t>
              </a: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9480860" y="4875285"/>
            <a:ext cx="2669435" cy="395076"/>
            <a:chOff x="0" y="0"/>
            <a:chExt cx="3954167" cy="585216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38" id="238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Rejected KYC Requests</a:t>
              </a:r>
            </a:p>
          </p:txBody>
        </p:sp>
      </p:grpSp>
      <p:grpSp>
        <p:nvGrpSpPr>
          <p:cNvPr name="Group 239" id="239"/>
          <p:cNvGrpSpPr/>
          <p:nvPr/>
        </p:nvGrpSpPr>
        <p:grpSpPr>
          <a:xfrm rot="0">
            <a:off x="9480860" y="5393822"/>
            <a:ext cx="2669435" cy="271615"/>
            <a:chOff x="0" y="0"/>
            <a:chExt cx="3954167" cy="402336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Require re-submission</a:t>
              </a:r>
            </a:p>
          </p:txBody>
        </p:sp>
      </p:grpSp>
      <p:grpSp>
        <p:nvGrpSpPr>
          <p:cNvPr name="Group 242" id="242"/>
          <p:cNvGrpSpPr/>
          <p:nvPr/>
        </p:nvGrpSpPr>
        <p:grpSpPr>
          <a:xfrm rot="0">
            <a:off x="9522767" y="6147258"/>
            <a:ext cx="384306" cy="384031"/>
            <a:chOff x="0" y="0"/>
            <a:chExt cx="571986" cy="571577"/>
          </a:xfrm>
        </p:grpSpPr>
        <p:sp>
          <p:nvSpPr>
            <p:cNvPr name="Freeform 243" id="243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59E0B">
                <a:alpha val="1961"/>
              </a:srgbClr>
            </a:solidFill>
          </p:spPr>
        </p:sp>
      </p:grpSp>
      <p:grpSp>
        <p:nvGrpSpPr>
          <p:cNvPr name="Group 244" id="244"/>
          <p:cNvGrpSpPr/>
          <p:nvPr/>
        </p:nvGrpSpPr>
        <p:grpSpPr>
          <a:xfrm rot="0">
            <a:off x="9605118" y="6229551"/>
            <a:ext cx="219603" cy="219446"/>
            <a:chOff x="0" y="0"/>
            <a:chExt cx="326849" cy="326615"/>
          </a:xfrm>
        </p:grpSpPr>
        <p:sp>
          <p:nvSpPr>
            <p:cNvPr name="Freeform 245" id="245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35" r="0" b="-35"/>
              </a:stretch>
            </a:blipFill>
          </p:spPr>
        </p:sp>
      </p:grpSp>
      <p:grpSp>
        <p:nvGrpSpPr>
          <p:cNvPr name="Group 246" id="246"/>
          <p:cNvGrpSpPr/>
          <p:nvPr/>
        </p:nvGrpSpPr>
        <p:grpSpPr>
          <a:xfrm rot="0">
            <a:off x="10048272" y="6122684"/>
            <a:ext cx="2102022" cy="818883"/>
            <a:chOff x="0" y="0"/>
            <a:chExt cx="3128572" cy="1218796"/>
          </a:xfrm>
        </p:grpSpPr>
        <p:sp>
          <p:nvSpPr>
            <p:cNvPr name="Freeform 247" id="247"/>
            <p:cNvSpPr/>
            <p:nvPr/>
          </p:nvSpPr>
          <p:spPr>
            <a:xfrm flipH="false" flipV="false" rot="0">
              <a:off x="0" y="0"/>
              <a:ext cx="3128572" cy="1218796"/>
            </a:xfrm>
            <a:custGeom>
              <a:avLst/>
              <a:gdLst/>
              <a:ahLst/>
              <a:cxnLst/>
              <a:rect r="r" b="b" t="t" l="l"/>
              <a:pathLst>
                <a:path h="1218796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8796"/>
                  </a:lnTo>
                  <a:lnTo>
                    <a:pt x="0" y="1218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37" r="-26262" b="-9667"/>
              </a:stretch>
            </a:blipFill>
          </p:spPr>
        </p:sp>
        <p:sp>
          <p:nvSpPr>
            <p:cNvPr name="TextBox 248" id="248"/>
            <p:cNvSpPr txBox="true"/>
            <p:nvPr/>
          </p:nvSpPr>
          <p:spPr>
            <a:xfrm>
              <a:off x="0" y="0"/>
              <a:ext cx="3128572" cy="1218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6</a:t>
              </a:r>
            </a:p>
          </p:txBody>
        </p:sp>
      </p:grpSp>
      <p:grpSp>
        <p:nvGrpSpPr>
          <p:cNvPr name="Group 249" id="249"/>
          <p:cNvGrpSpPr/>
          <p:nvPr/>
        </p:nvGrpSpPr>
        <p:grpSpPr>
          <a:xfrm rot="0">
            <a:off x="9493572" y="6958222"/>
            <a:ext cx="2656722" cy="393194"/>
            <a:chOff x="0" y="0"/>
            <a:chExt cx="3954167" cy="585216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51" id="251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I</a:t>
              </a: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ncomplete KYC Users</a:t>
              </a:r>
            </a:p>
          </p:txBody>
        </p:sp>
      </p:grpSp>
      <p:grpSp>
        <p:nvGrpSpPr>
          <p:cNvPr name="Group 252" id="252"/>
          <p:cNvGrpSpPr/>
          <p:nvPr/>
        </p:nvGrpSpPr>
        <p:grpSpPr>
          <a:xfrm rot="0">
            <a:off x="9493572" y="7474289"/>
            <a:ext cx="2656722" cy="270321"/>
            <a:chOff x="0" y="0"/>
            <a:chExt cx="3954167" cy="402336"/>
          </a:xfrm>
        </p:grpSpPr>
        <p:sp>
          <p:nvSpPr>
            <p:cNvPr name="Freeform 253" id="253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54" id="254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Initiated KYC but did not proceed</a:t>
              </a:r>
            </a:p>
          </p:txBody>
        </p:sp>
      </p:grpSp>
      <p:grpSp>
        <p:nvGrpSpPr>
          <p:cNvPr name="Group 255" id="255"/>
          <p:cNvGrpSpPr/>
          <p:nvPr/>
        </p:nvGrpSpPr>
        <p:grpSpPr>
          <a:xfrm rot="0">
            <a:off x="13886114" y="4083611"/>
            <a:ext cx="386144" cy="385868"/>
            <a:chOff x="0" y="0"/>
            <a:chExt cx="571986" cy="571577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3968859" y="4166297"/>
            <a:ext cx="220654" cy="220496"/>
            <a:chOff x="0" y="0"/>
            <a:chExt cx="326849" cy="326615"/>
          </a:xfrm>
        </p:grpSpPr>
        <p:sp>
          <p:nvSpPr>
            <p:cNvPr name="Freeform 258" id="258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59" id="259"/>
          <p:cNvGrpSpPr/>
          <p:nvPr/>
        </p:nvGrpSpPr>
        <p:grpSpPr>
          <a:xfrm rot="0">
            <a:off x="14414134" y="4058919"/>
            <a:ext cx="2112080" cy="818883"/>
            <a:chOff x="0" y="0"/>
            <a:chExt cx="3128572" cy="1212991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61" id="261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13856779" y="4898455"/>
            <a:ext cx="2669435" cy="395076"/>
            <a:chOff x="0" y="0"/>
            <a:chExt cx="3954167" cy="585216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64" id="264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Created</a:t>
              </a: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13856779" y="5416992"/>
            <a:ext cx="2669435" cy="271615"/>
            <a:chOff x="0" y="0"/>
            <a:chExt cx="3954167" cy="402336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67" id="267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13915448" y="6139501"/>
            <a:ext cx="386144" cy="385868"/>
            <a:chOff x="0" y="0"/>
            <a:chExt cx="571986" cy="571577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70" id="270"/>
          <p:cNvGrpSpPr/>
          <p:nvPr/>
        </p:nvGrpSpPr>
        <p:grpSpPr>
          <a:xfrm rot="0">
            <a:off x="13998194" y="6222187"/>
            <a:ext cx="220654" cy="220496"/>
            <a:chOff x="0" y="0"/>
            <a:chExt cx="326849" cy="326615"/>
          </a:xfrm>
        </p:grpSpPr>
        <p:sp>
          <p:nvSpPr>
            <p:cNvPr name="Freeform 271" id="271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72" id="272"/>
          <p:cNvGrpSpPr/>
          <p:nvPr/>
        </p:nvGrpSpPr>
        <p:grpSpPr>
          <a:xfrm rot="0">
            <a:off x="14443468" y="6114809"/>
            <a:ext cx="2112080" cy="818883"/>
            <a:chOff x="0" y="0"/>
            <a:chExt cx="3128572" cy="1212991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</a:t>
              </a:r>
            </a:p>
          </p:txBody>
        </p:sp>
      </p:grpSp>
      <p:grpSp>
        <p:nvGrpSpPr>
          <p:cNvPr name="Group 275" id="275"/>
          <p:cNvGrpSpPr/>
          <p:nvPr/>
        </p:nvGrpSpPr>
        <p:grpSpPr>
          <a:xfrm rot="0">
            <a:off x="13886114" y="6954345"/>
            <a:ext cx="2669435" cy="395076"/>
            <a:chOff x="0" y="0"/>
            <a:chExt cx="3954167" cy="585216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Email Queries</a:t>
              </a:r>
            </a:p>
          </p:txBody>
        </p:sp>
      </p:grpSp>
      <p:grpSp>
        <p:nvGrpSpPr>
          <p:cNvPr name="Group 278" id="278"/>
          <p:cNvGrpSpPr/>
          <p:nvPr/>
        </p:nvGrpSpPr>
        <p:grpSpPr>
          <a:xfrm rot="0">
            <a:off x="13886114" y="7472882"/>
            <a:ext cx="2669435" cy="271615"/>
            <a:chOff x="0" y="0"/>
            <a:chExt cx="3954167" cy="402336"/>
          </a:xfrm>
        </p:grpSpPr>
        <p:sp>
          <p:nvSpPr>
            <p:cNvPr name="Freeform 279" id="27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80" id="28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81" id="281"/>
          <p:cNvGrpSpPr/>
          <p:nvPr/>
        </p:nvGrpSpPr>
        <p:grpSpPr>
          <a:xfrm rot="0">
            <a:off x="13944783" y="8199511"/>
            <a:ext cx="386144" cy="385868"/>
            <a:chOff x="0" y="0"/>
            <a:chExt cx="571986" cy="571577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F43F5E">
                <a:alpha val="1961"/>
              </a:srgbClr>
            </a:solidFill>
          </p:spPr>
        </p:sp>
      </p:grpSp>
      <p:grpSp>
        <p:nvGrpSpPr>
          <p:cNvPr name="Group 283" id="283"/>
          <p:cNvGrpSpPr/>
          <p:nvPr/>
        </p:nvGrpSpPr>
        <p:grpSpPr>
          <a:xfrm rot="0">
            <a:off x="14027528" y="8282197"/>
            <a:ext cx="220654" cy="220496"/>
            <a:chOff x="0" y="0"/>
            <a:chExt cx="326849" cy="326615"/>
          </a:xfrm>
        </p:grpSpPr>
        <p:sp>
          <p:nvSpPr>
            <p:cNvPr name="Freeform 284" id="284" descr="preencoded.png"/>
            <p:cNvSpPr/>
            <p:nvPr/>
          </p:nvSpPr>
          <p:spPr>
            <a:xfrm flipH="false" flipV="false" rot="0">
              <a:off x="0" y="0"/>
              <a:ext cx="326849" cy="326615"/>
            </a:xfrm>
            <a:custGeom>
              <a:avLst/>
              <a:gdLst/>
              <a:ahLst/>
              <a:cxnLst/>
              <a:rect r="r" b="b" t="t" l="l"/>
              <a:pathLst>
                <a:path h="326615" w="326849">
                  <a:moveTo>
                    <a:pt x="0" y="0"/>
                  </a:moveTo>
                  <a:lnTo>
                    <a:pt x="326849" y="0"/>
                  </a:lnTo>
                  <a:lnTo>
                    <a:pt x="326849" y="326615"/>
                  </a:lnTo>
                  <a:lnTo>
                    <a:pt x="0" y="32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35" r="0" b="-35"/>
              </a:stretch>
            </a:blipFill>
          </p:spPr>
        </p:sp>
      </p:grpSp>
      <p:grpSp>
        <p:nvGrpSpPr>
          <p:cNvPr name="Group 285" id="285"/>
          <p:cNvGrpSpPr/>
          <p:nvPr/>
        </p:nvGrpSpPr>
        <p:grpSpPr>
          <a:xfrm rot="0">
            <a:off x="14472803" y="8174819"/>
            <a:ext cx="2112080" cy="818883"/>
            <a:chOff x="0" y="0"/>
            <a:chExt cx="3128572" cy="1212991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287" id="287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2</a:t>
              </a:r>
            </a:p>
          </p:txBody>
        </p:sp>
      </p:grpSp>
      <p:grpSp>
        <p:nvGrpSpPr>
          <p:cNvPr name="Group 288" id="288"/>
          <p:cNvGrpSpPr/>
          <p:nvPr/>
        </p:nvGrpSpPr>
        <p:grpSpPr>
          <a:xfrm rot="0">
            <a:off x="13915448" y="9014355"/>
            <a:ext cx="2669435" cy="395076"/>
            <a:chOff x="0" y="0"/>
            <a:chExt cx="3954167" cy="585216"/>
          </a:xfrm>
        </p:grpSpPr>
        <p:sp>
          <p:nvSpPr>
            <p:cNvPr name="Freeform 289" id="289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290" id="290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AI Client Support Queries</a:t>
              </a:r>
            </a:p>
          </p:txBody>
        </p:sp>
      </p:grpSp>
      <p:grpSp>
        <p:nvGrpSpPr>
          <p:cNvPr name="Group 291" id="291"/>
          <p:cNvGrpSpPr/>
          <p:nvPr/>
        </p:nvGrpSpPr>
        <p:grpSpPr>
          <a:xfrm rot="0">
            <a:off x="13915448" y="9532892"/>
            <a:ext cx="2669435" cy="271615"/>
            <a:chOff x="0" y="0"/>
            <a:chExt cx="3954167" cy="402336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293" id="293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grpSp>
        <p:nvGrpSpPr>
          <p:cNvPr name="Group 294" id="294"/>
          <p:cNvGrpSpPr/>
          <p:nvPr/>
        </p:nvGrpSpPr>
        <p:grpSpPr>
          <a:xfrm rot="0">
            <a:off x="13692508" y="1763043"/>
            <a:ext cx="4078530" cy="1936706"/>
            <a:chOff x="0" y="0"/>
            <a:chExt cx="6239089" cy="2962656"/>
          </a:xfrm>
        </p:grpSpPr>
        <p:sp>
          <p:nvSpPr>
            <p:cNvPr name="Freeform 295" id="295"/>
            <p:cNvSpPr/>
            <p:nvPr/>
          </p:nvSpPr>
          <p:spPr>
            <a:xfrm flipH="false" flipV="false" rot="0">
              <a:off x="0" y="0"/>
              <a:ext cx="6239089" cy="2962656"/>
            </a:xfrm>
            <a:custGeom>
              <a:avLst/>
              <a:gdLst/>
              <a:ahLst/>
              <a:cxnLst/>
              <a:rect r="r" b="b" t="t" l="l"/>
              <a:pathLst>
                <a:path h="2962656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2962656"/>
                  </a:lnTo>
                  <a:lnTo>
                    <a:pt x="0" y="296265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6" id="296"/>
          <p:cNvGrpSpPr/>
          <p:nvPr/>
        </p:nvGrpSpPr>
        <p:grpSpPr>
          <a:xfrm rot="0">
            <a:off x="13692508" y="1763043"/>
            <a:ext cx="4078530" cy="59775"/>
            <a:chOff x="0" y="0"/>
            <a:chExt cx="6239089" cy="91440"/>
          </a:xfrm>
        </p:grpSpPr>
        <p:sp>
          <p:nvSpPr>
            <p:cNvPr name="Freeform 297" id="297"/>
            <p:cNvSpPr/>
            <p:nvPr/>
          </p:nvSpPr>
          <p:spPr>
            <a:xfrm flipH="false" flipV="false" rot="0">
              <a:off x="0" y="0"/>
              <a:ext cx="6239089" cy="91440"/>
            </a:xfrm>
            <a:custGeom>
              <a:avLst/>
              <a:gdLst/>
              <a:ahLst/>
              <a:cxnLst/>
              <a:rect r="r" b="b" t="t" l="l"/>
              <a:pathLst>
                <a:path h="91440" w="6239089">
                  <a:moveTo>
                    <a:pt x="0" y="0"/>
                  </a:moveTo>
                  <a:lnTo>
                    <a:pt x="6239089" y="0"/>
                  </a:lnTo>
                  <a:lnTo>
                    <a:pt x="6239089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8" id="298"/>
          <p:cNvGrpSpPr/>
          <p:nvPr/>
        </p:nvGrpSpPr>
        <p:grpSpPr>
          <a:xfrm rot="0">
            <a:off x="13831246" y="3241309"/>
            <a:ext cx="3816945" cy="8302"/>
            <a:chOff x="0" y="0"/>
            <a:chExt cx="5838933" cy="127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7545" y="0"/>
              <a:ext cx="5823842" cy="12700"/>
            </a:xfrm>
            <a:custGeom>
              <a:avLst/>
              <a:gdLst/>
              <a:ahLst/>
              <a:cxnLst/>
              <a:rect r="r" b="b" t="t" l="l"/>
              <a:pathLst>
                <a:path h="12700" w="5823842">
                  <a:moveTo>
                    <a:pt x="0" y="0"/>
                  </a:moveTo>
                  <a:lnTo>
                    <a:pt x="5823842" y="0"/>
                  </a:lnTo>
                  <a:lnTo>
                    <a:pt x="5823842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300" id="300"/>
          <p:cNvGrpSpPr/>
          <p:nvPr/>
        </p:nvGrpSpPr>
        <p:grpSpPr>
          <a:xfrm rot="0">
            <a:off x="13886114" y="2023080"/>
            <a:ext cx="386144" cy="385868"/>
            <a:chOff x="0" y="0"/>
            <a:chExt cx="571986" cy="571577"/>
          </a:xfrm>
        </p:grpSpPr>
        <p:sp>
          <p:nvSpPr>
            <p:cNvPr name="Freeform 301" id="301"/>
            <p:cNvSpPr/>
            <p:nvPr/>
          </p:nvSpPr>
          <p:spPr>
            <a:xfrm flipH="false" flipV="false" rot="0">
              <a:off x="0" y="0"/>
              <a:ext cx="571986" cy="571577"/>
            </a:xfrm>
            <a:custGeom>
              <a:avLst/>
              <a:gdLst/>
              <a:ahLst/>
              <a:cxnLst/>
              <a:rect r="r" b="b" t="t" l="l"/>
              <a:pathLst>
                <a:path h="571577" w="571986">
                  <a:moveTo>
                    <a:pt x="0" y="285789"/>
                  </a:moveTo>
                  <a:cubicBezTo>
                    <a:pt x="0" y="127962"/>
                    <a:pt x="128054" y="0"/>
                    <a:pt x="285993" y="0"/>
                  </a:cubicBezTo>
                  <a:cubicBezTo>
                    <a:pt x="443932" y="0"/>
                    <a:pt x="571986" y="127962"/>
                    <a:pt x="571986" y="285789"/>
                  </a:cubicBezTo>
                  <a:cubicBezTo>
                    <a:pt x="571986" y="443615"/>
                    <a:pt x="443932" y="571577"/>
                    <a:pt x="285993" y="571577"/>
                  </a:cubicBezTo>
                  <a:cubicBezTo>
                    <a:pt x="128054" y="571577"/>
                    <a:pt x="0" y="443615"/>
                    <a:pt x="0" y="285789"/>
                  </a:cubicBezTo>
                  <a:close/>
                </a:path>
              </a:pathLst>
            </a:custGeom>
            <a:solidFill>
              <a:srgbClr val="14B8A6">
                <a:alpha val="1961"/>
              </a:srgbClr>
            </a:solidFill>
          </p:spPr>
        </p:sp>
      </p:grpSp>
      <p:grpSp>
        <p:nvGrpSpPr>
          <p:cNvPr name="Group 302" id="302"/>
          <p:cNvGrpSpPr/>
          <p:nvPr/>
        </p:nvGrpSpPr>
        <p:grpSpPr>
          <a:xfrm rot="0">
            <a:off x="14414134" y="1998388"/>
            <a:ext cx="2112080" cy="818883"/>
            <a:chOff x="0" y="0"/>
            <a:chExt cx="3128572" cy="1212991"/>
          </a:xfrm>
        </p:grpSpPr>
        <p:sp>
          <p:nvSpPr>
            <p:cNvPr name="Freeform 303" id="303"/>
            <p:cNvSpPr/>
            <p:nvPr/>
          </p:nvSpPr>
          <p:spPr>
            <a:xfrm flipH="false" flipV="false" rot="0">
              <a:off x="0" y="0"/>
              <a:ext cx="3128572" cy="1212991"/>
            </a:xfrm>
            <a:custGeom>
              <a:avLst/>
              <a:gdLst/>
              <a:ahLst/>
              <a:cxnLst/>
              <a:rect r="r" b="b" t="t" l="l"/>
              <a:pathLst>
                <a:path h="1212991" w="3128572">
                  <a:moveTo>
                    <a:pt x="0" y="0"/>
                  </a:moveTo>
                  <a:lnTo>
                    <a:pt x="3128572" y="0"/>
                  </a:lnTo>
                  <a:lnTo>
                    <a:pt x="3128572" y="1212991"/>
                  </a:lnTo>
                  <a:lnTo>
                    <a:pt x="0" y="12129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" r="-26262" b="-10192"/>
              </a:stretch>
            </a:blipFill>
          </p:spPr>
        </p:sp>
        <p:sp>
          <p:nvSpPr>
            <p:cNvPr name="TextBox 304" id="304"/>
            <p:cNvSpPr txBox="true"/>
            <p:nvPr/>
          </p:nvSpPr>
          <p:spPr>
            <a:xfrm>
              <a:off x="0" y="0"/>
              <a:ext cx="3128572" cy="1212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4</a:t>
              </a:r>
            </a:p>
          </p:txBody>
        </p:sp>
      </p:grpSp>
      <p:grpSp>
        <p:nvGrpSpPr>
          <p:cNvPr name="Group 305" id="305"/>
          <p:cNvGrpSpPr/>
          <p:nvPr/>
        </p:nvGrpSpPr>
        <p:grpSpPr>
          <a:xfrm rot="0">
            <a:off x="13856779" y="2837924"/>
            <a:ext cx="2669435" cy="395076"/>
            <a:chOff x="0" y="0"/>
            <a:chExt cx="3954167" cy="585216"/>
          </a:xfrm>
        </p:grpSpPr>
        <p:sp>
          <p:nvSpPr>
            <p:cNvPr name="Freeform 306" id="306"/>
            <p:cNvSpPr/>
            <p:nvPr/>
          </p:nvSpPr>
          <p:spPr>
            <a:xfrm flipH="false" flipV="false" rot="0">
              <a:off x="0" y="0"/>
              <a:ext cx="3954167" cy="585216"/>
            </a:xfrm>
            <a:custGeom>
              <a:avLst/>
              <a:gdLst/>
              <a:ahLst/>
              <a:cxnLst/>
              <a:rect r="r" b="b" t="t" l="l"/>
              <a:pathLst>
                <a:path h="58521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231" r="-26262" b="-116231"/>
              </a:stretch>
            </a:blipFill>
          </p:spPr>
        </p:sp>
        <p:sp>
          <p:nvSpPr>
            <p:cNvPr name="TextBox 307" id="307"/>
            <p:cNvSpPr txBox="true"/>
            <p:nvPr/>
          </p:nvSpPr>
          <p:spPr>
            <a:xfrm>
              <a:off x="0" y="0"/>
              <a:ext cx="3954167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E293B"/>
                  </a:solidFill>
                  <a:latin typeface="Exo Bold"/>
                  <a:ea typeface="Exo Bold"/>
                  <a:cs typeface="Exo Bold"/>
                  <a:sym typeface="Exo Bold"/>
                </a:rPr>
                <a:t>Support Tickets Resolved</a:t>
              </a:r>
            </a:p>
          </p:txBody>
        </p:sp>
      </p:grpSp>
      <p:grpSp>
        <p:nvGrpSpPr>
          <p:cNvPr name="Group 308" id="308"/>
          <p:cNvGrpSpPr/>
          <p:nvPr/>
        </p:nvGrpSpPr>
        <p:grpSpPr>
          <a:xfrm rot="0">
            <a:off x="13856779" y="3356461"/>
            <a:ext cx="2669435" cy="271615"/>
            <a:chOff x="0" y="0"/>
            <a:chExt cx="3954167" cy="402336"/>
          </a:xfrm>
        </p:grpSpPr>
        <p:sp>
          <p:nvSpPr>
            <p:cNvPr name="Freeform 309" id="309"/>
            <p:cNvSpPr/>
            <p:nvPr/>
          </p:nvSpPr>
          <p:spPr>
            <a:xfrm flipH="false" flipV="false" rot="0">
              <a:off x="0" y="0"/>
              <a:ext cx="3954167" cy="402336"/>
            </a:xfrm>
            <a:custGeom>
              <a:avLst/>
              <a:gdLst/>
              <a:ahLst/>
              <a:cxnLst/>
              <a:rect r="r" b="b" t="t" l="l"/>
              <a:pathLst>
                <a:path h="402336" w="3954167">
                  <a:moveTo>
                    <a:pt x="0" y="0"/>
                  </a:moveTo>
                  <a:lnTo>
                    <a:pt x="3954167" y="0"/>
                  </a:lnTo>
                  <a:lnTo>
                    <a:pt x="3954167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91" r="-26262" b="-191791"/>
              </a:stretch>
            </a:blipFill>
          </p:spPr>
        </p:sp>
        <p:sp>
          <p:nvSpPr>
            <p:cNvPr name="TextBox 310" id="310"/>
            <p:cNvSpPr txBox="true"/>
            <p:nvPr/>
          </p:nvSpPr>
          <p:spPr>
            <a:xfrm>
              <a:off x="0" y="0"/>
              <a:ext cx="3954167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Exo"/>
                  <a:ea typeface="Exo"/>
                  <a:cs typeface="Exo"/>
                  <a:sym typeface="Exo"/>
                </a:rPr>
                <a:t>Submitted by users</a:t>
              </a:r>
            </a:p>
          </p:txBody>
        </p:sp>
      </p:grpSp>
      <p:sp>
        <p:nvSpPr>
          <p:cNvPr name="Freeform 311" id="311"/>
          <p:cNvSpPr/>
          <p:nvPr/>
        </p:nvSpPr>
        <p:spPr>
          <a:xfrm flipH="false" flipV="false" rot="0">
            <a:off x="13944287" y="2100001"/>
            <a:ext cx="269798" cy="232026"/>
          </a:xfrm>
          <a:custGeom>
            <a:avLst/>
            <a:gdLst/>
            <a:ahLst/>
            <a:cxnLst/>
            <a:rect r="r" b="b" t="t" l="l"/>
            <a:pathLst>
              <a:path h="232026" w="269798">
                <a:moveTo>
                  <a:pt x="0" y="0"/>
                </a:moveTo>
                <a:lnTo>
                  <a:pt x="269798" y="0"/>
                </a:lnTo>
                <a:lnTo>
                  <a:pt x="269798" y="232027"/>
                </a:lnTo>
                <a:lnTo>
                  <a:pt x="0" y="23202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2" id="312"/>
          <p:cNvGrpSpPr/>
          <p:nvPr/>
        </p:nvGrpSpPr>
        <p:grpSpPr>
          <a:xfrm rot="0">
            <a:off x="13978384" y="425152"/>
            <a:ext cx="3566160" cy="432206"/>
            <a:chOff x="0" y="0"/>
            <a:chExt cx="4754880" cy="576275"/>
          </a:xfrm>
        </p:grpSpPr>
        <p:sp>
          <p:nvSpPr>
            <p:cNvPr name="Freeform 313" id="313"/>
            <p:cNvSpPr/>
            <p:nvPr/>
          </p:nvSpPr>
          <p:spPr>
            <a:xfrm flipH="false" flipV="false" rot="0">
              <a:off x="0" y="0"/>
              <a:ext cx="4754880" cy="576275"/>
            </a:xfrm>
            <a:custGeom>
              <a:avLst/>
              <a:gdLst/>
              <a:ahLst/>
              <a:cxnLst/>
              <a:rect r="r" b="b" t="t" l="l"/>
              <a:pathLst>
                <a:path h="57627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6275"/>
                  </a:lnTo>
                  <a:lnTo>
                    <a:pt x="0" y="5762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9037" r="0" b="-92507"/>
              </a:stretch>
            </a:blipFill>
          </p:spPr>
        </p:sp>
        <p:sp>
          <p:nvSpPr>
            <p:cNvPr name="TextBox 314" id="314"/>
            <p:cNvSpPr txBox="true"/>
            <p:nvPr/>
          </p:nvSpPr>
          <p:spPr>
            <a:xfrm>
              <a:off x="0" y="0"/>
              <a:ext cx="4754880" cy="5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 Date: 20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 </a:t>
              </a: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May 2026</a:t>
              </a:r>
            </a:p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FFFFFF"/>
                  </a:solidFill>
                  <a:latin typeface="Exo"/>
                  <a:ea typeface="Exo"/>
                  <a:cs typeface="Exo"/>
                  <a:sym typeface="Exo"/>
                </a:rPr>
                <a:t>Reporting Period: 12 May 2026 - 19 May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DAHJ5hgddTs</dc:identifier>
  <dcterms:modified xsi:type="dcterms:W3CDTF">2011-08-01T06:04:30Z</dcterms:modified>
  <cp:revision>1</cp:revision>
  <dc:title>eMYAA - Daily Performance Dashboard</dc:title>
</cp:coreProperties>
</file>