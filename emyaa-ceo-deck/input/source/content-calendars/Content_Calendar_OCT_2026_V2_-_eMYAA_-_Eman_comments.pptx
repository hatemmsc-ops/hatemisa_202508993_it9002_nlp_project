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3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8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Light" panose="00000400000000000000" pitchFamily="2" charset="0"/>
      <p:regular r:id="rId27"/>
      <p:bold r:id="rId28"/>
      <p:italic r:id="rId29"/>
      <p:boldItalic r:id="rId30"/>
    </p:embeddedFont>
    <p:embeddedFont>
      <p:font typeface="Montserrat Medium" panose="00000600000000000000" pitchFamily="2" charset="0"/>
      <p:regular r:id="rId31"/>
      <p:bold r:id="rId32"/>
      <p:italic r:id="rId33"/>
      <p:boldItalic r:id="rId34"/>
    </p:embeddedFont>
    <p:embeddedFont>
      <p:font typeface="Montserrat SemiBold" panose="00000700000000000000" pitchFamily="2" charset="0"/>
      <p:regular r:id="rId35"/>
      <p:bold r:id="rId36"/>
      <p:italic r:id="rId37"/>
      <p:boldItalic r:id="rId38"/>
    </p:embeddedFont>
    <p:embeddedFont>
      <p:font typeface="Rubik" panose="020B0604020202020204" charset="-79"/>
      <p:regular r:id="rId39"/>
      <p:bold r:id="rId40"/>
      <p:italic r:id="rId41"/>
      <p:boldItalic r:id="rId42"/>
    </p:embeddedFont>
    <p:embeddedFont>
      <p:font typeface="Rubik Medium" panose="020B0604020202020204" charset="-79"/>
      <p:regular r:id="rId43"/>
      <p:bold r:id="rId44"/>
      <p:italic r:id="rId45"/>
      <p:boldItalic r:id="rId46"/>
    </p:embeddedFont>
    <p:embeddedFont>
      <p:font typeface="Rubik SemiBold" panose="020B0604020202020204" charset="-79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325">
          <p15:clr>
            <a:srgbClr val="A4A3A4"/>
          </p15:clr>
        </p15:guide>
        <p15:guide id="3" orient="horz" pos="845">
          <p15:clr>
            <a:srgbClr val="A4A3A4"/>
          </p15:clr>
        </p15:guide>
        <p15:guide id="4" pos="7355">
          <p15:clr>
            <a:srgbClr val="A4A3A4"/>
          </p15:clr>
        </p15:guide>
        <p15:guide id="5" orient="horz" pos="37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neI5gTTPBRa71eZ4c6qkGKUL7H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E71D12-D815-3F05-8FC5-BC99AAF91F62}" name="Eman Mahdi Almansoor" initials="EM" userId="S::ealmansoor@ajyadcapital.com::d4a875a7-e2ef-48bf-8b87-3401686c02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5A2213-206D-4D29-8ACF-96B4C444891F}">
  <a:tblStyle styleId="{285A2213-206D-4D29-8ACF-96B4C44489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 varScale="1">
        <p:scale>
          <a:sx n="81" d="100"/>
          <a:sy n="81" d="100"/>
        </p:scale>
        <p:origin x="80" y="1628"/>
      </p:cViewPr>
      <p:guideLst>
        <p:guide orient="horz" pos="3838"/>
        <p:guide pos="325"/>
        <p:guide orient="horz" pos="845"/>
        <p:guide pos="7355"/>
        <p:guide orient="horz"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font" Target="fonts/font3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font" Target="fonts/font31.fntdata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20C9AF-CB75-4A06-A6DD-7F4D6D7B6D52}" authorId="{18E71D12-D815-3F05-8FC5-BC99AAF91F62}" created="2026-09-30T13:49:50.5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52" creationId="{00000000-0000-0000-0000-000000000000}"/>
      <ac:txMk cp="506" len="115">
        <ac:context len="819" hash="2385309986"/>
      </ac:txMk>
    </ac:txMkLst>
    <p188:pos x="7739992" y="4005348"/>
    <p188:txBody>
      <a:bodyPr/>
      <a:lstStyle/>
      <a:p>
        <a:r>
          <a:rPr lang="en-US"/>
          <a:t>SPUS tracks a Shari'ah-compliant index built from the S&amp;P 500 universe, applying specific Shari'ah screening criteria.</a:t>
        </a:r>
      </a:p>
    </p188:txBody>
  </p188:cm>
  <p188:cm id="{A9A9BF2E-DD92-4171-886D-D5B5E0335092}" authorId="{18E71D12-D815-3F05-8FC5-BC99AAF91F62}" created="2026-10-01T06:44:58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52" creationId="{00000000-0000-0000-0000-000000000000}"/>
      <ac:txMk cp="70" len="26">
        <ac:context len="819" hash="2385309986"/>
      </ac:txMk>
    </ac:txMkLst>
    <p188:pos x="2094103" y="921906"/>
    <p188:txBody>
      <a:bodyPr/>
      <a:lstStyle/>
      <a:p>
        <a:r>
          <a:rPr lang="en-US"/>
          <a:t>Let’s say: Which one fits my investment goals?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071635-47B9-49A1-B4AC-4F3E75645E13}" authorId="{18E71D12-D815-3F05-8FC5-BC99AAF91F62}" created="2026-09-30T13:57:18.1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115" len="81">
        <ac:context len="793" hash="703458732"/>
      </ac:txMk>
    </ac:txMkLst>
    <p188:pos x="6570410" y="1412490"/>
    <p188:txBody>
      <a:bodyPr/>
      <a:lstStyle/>
      <a:p>
        <a:r>
          <a:rPr lang="en-US"/>
          <a:t>I like the ovrall idea and the flow. However, I think we should change it to: U.S. equity markets represented 43.7% of global equity market capitalization in 2025. according to https://www.sifma.org/news/blog/2026-capital-markets-fact-book-key-findings</a:t>
        </a:r>
      </a:p>
    </p188:txBody>
  </p188:cm>
  <p188:cm id="{2554342F-25B9-4CF6-892E-8DDCF0DF2C90}" authorId="{18E71D12-D815-3F05-8FC5-BC99AAF91F62}" created="2026-09-30T13:58:01.7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236" len="73">
        <ac:context len="793" hash="703458732"/>
      </ac:txMk>
    </ac:txMkLst>
    <p188:pos x="5804866" y="2326890"/>
    <p188:replyLst>
      <p188:reply id="{9A2898C2-FEFF-46E8-A0E0-F103EAAD54A5}" authorId="{18E71D12-D815-3F05-8FC5-BC99AAF91F62}" created="2026-10-01T06:37:09.958">
        <p188:txBody>
          <a:bodyPr/>
          <a:lstStyle/>
          <a:p>
            <a:r>
              <a:rPr lang="en-US"/>
              <a:t>Or we can say, last year</a:t>
            </a:r>
          </a:p>
        </p188:txBody>
      </p188:reply>
    </p188:replyLst>
    <p188:txBody>
      <a:bodyPr/>
      <a:lstStyle/>
      <a:p>
        <a:r>
          <a:rPr lang="en-US"/>
          <a:t>Same goes here: U.S. equity market capitalization stood at $68.9 trillion in 2025.</a:t>
        </a:r>
      </a:p>
    </p188:txBody>
  </p188:cm>
  <p188:cm id="{F5EAE6B0-AC99-4154-A8F9-972AC58CE720}" authorId="{18E71D12-D815-3F05-8FC5-BC99AAF91F62}" created="2026-10-01T06:45:54.0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92" len="20">
        <ac:context len="793" hash="703458732"/>
      </ac:txMk>
    </ac:txMkLst>
    <p188:pos x="1665470" y="1187925"/>
    <p188:txBody>
      <a:bodyPr/>
      <a:lstStyle/>
      <a:p>
        <a:r>
          <a:rPr lang="en-US"/>
          <a:t>Lets say: The World’s Largest Equity Market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974FDA-05E3-4618-A732-F47A29EB11E5}" authorId="{18E71D12-D815-3F05-8FC5-BC99AAF91F62}" created="2026-09-30T13:58:49.6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5" creationId="{00000000-0000-0000-0000-000000000000}"/>
      <ac:txMk cp="30" len="4">
        <ac:context len="315" hash="3787464096"/>
      </ac:txMk>
    </ac:txMkLst>
    <p188:pos x="2625664" y="739318"/>
    <p188:txBody>
      <a:bodyPr/>
      <a:lstStyle/>
      <a:p>
        <a:r>
          <a:rPr lang="en-US"/>
          <a:t>buy</a:t>
        </a:r>
      </a:p>
    </p188:txBody>
  </p188:cm>
  <p188:cm id="{CC84E90B-ACFF-4558-AAFC-32F94738201A}" authorId="{18E71D12-D815-3F05-8FC5-BC99AAF91F62}" created="2026-09-30T13:59:09.7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5" creationId="{00000000-0000-0000-0000-000000000000}"/>
      <ac:txMk cp="264" len="4">
        <ac:context len="315" hash="3787464096"/>
      </ac:txMk>
    </ac:txMkLst>
    <p188:pos x="2870213" y="3195439"/>
    <p188:txBody>
      <a:bodyPr/>
      <a:lstStyle/>
      <a:p>
        <a:r>
          <a:rPr lang="en-US"/>
          <a:t>buy</a:t>
        </a:r>
      </a:p>
    </p188:txBody>
  </p188:cm>
  <p188:cm id="{A3B6900D-15F4-440D-9620-E996B992D7F5}" authorId="{18E71D12-D815-3F05-8FC5-BC99AAF91F62}" created="2026-10-01T06:40:43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7" creationId="{00000000-0000-0000-0000-000000000000}"/>
      <ac:txMk cp="301" len="9">
        <ac:context len="396" hash="2170607440"/>
      </ac:txMk>
    </ac:txMkLst>
    <p188:pos x="1948446" y="2768484"/>
    <p188:txBody>
      <a:bodyPr/>
      <a:lstStyle/>
      <a:p>
        <a:r>
          <a:rPr lang="en-US"/>
          <a:t>Unfortunately we do not have real time data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580b7541f_0_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g3f580b7541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3e4482777_1_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g3f3e4482777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b4af7843d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g3fb4af784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4e3c6d27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fb4e3c6d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84980652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g3fb8498065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ea212878359e98f_0_1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h4ea212878359e98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da663f0f3bf80fa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h7da663f0f3bf80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ea212878359e98f_0_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h4ea212878359e98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ea212878359e98f_0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h4ea212878359e98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ea212878359e98f_0_2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h4ea212878359e98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ea212878359e98f_0_1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h4ea212878359e98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ea212878359e98f_0_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h4ea212878359e98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4ea212878359e98f_0_1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h4ea212878359e98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ea212878359e98f_0_1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h4ea212878359e98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84a60ae80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e84a60ae8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Slide">
  <p:cSld name="Title Pages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Content Pages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3"/>
          <p:cNvSpPr txBox="1"/>
          <p:nvPr/>
        </p:nvSpPr>
        <p:spPr>
          <a:xfrm>
            <a:off x="11450973" y="6285007"/>
            <a:ext cx="27365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ato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9;p33"/>
          <p:cNvSpPr txBox="1"/>
          <p:nvPr/>
        </p:nvSpPr>
        <p:spPr>
          <a:xfrm>
            <a:off x="421442" y="6284986"/>
            <a:ext cx="26291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24F PRODUCTION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33"/>
          <p:cNvCxnSpPr/>
          <p:nvPr/>
        </p:nvCxnSpPr>
        <p:spPr>
          <a:xfrm>
            <a:off x="507404" y="914402"/>
            <a:ext cx="111771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" name="Google Shape;11;p33"/>
          <p:cNvPicPr preferRelativeResize="0"/>
          <p:nvPr/>
        </p:nvPicPr>
        <p:blipFill rotWithShape="1">
          <a:blip r:embed="rId2">
            <a:alphaModFix/>
          </a:blip>
          <a:srcRect l="94076"/>
          <a:stretch/>
        </p:blipFill>
        <p:spPr>
          <a:xfrm rot="-5400000">
            <a:off x="5980609" y="634205"/>
            <a:ext cx="230783" cy="12264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OCTOBER</a:t>
            </a:r>
            <a:r>
              <a:rPr lang="en-US" sz="1500" b="1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2026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 descr="Picture 4"/>
          <p:cNvPicPr preferRelativeResize="0"/>
          <p:nvPr/>
        </p:nvPicPr>
        <p:blipFill rotWithShape="1">
          <a:blip r:embed="rId4">
            <a:alphaModFix/>
          </a:blip>
          <a:srcRect l="27140" t="27156" r="27419" b="31956"/>
          <a:stretch/>
        </p:blipFill>
        <p:spPr>
          <a:xfrm>
            <a:off x="10099142" y="231693"/>
            <a:ext cx="1576944" cy="100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Google Shape;21;p1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80b7541f_0_5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f580b7541f_0_50"/>
          <p:cNvSpPr/>
          <p:nvPr/>
        </p:nvSpPr>
        <p:spPr>
          <a:xfrm>
            <a:off x="224850" y="684475"/>
            <a:ext cx="117423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580b7541f_0_5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" name="Google Shape;30;g3f580b7541f_0_50"/>
          <p:cNvGraphicFramePr/>
          <p:nvPr/>
        </p:nvGraphicFramePr>
        <p:xfrm>
          <a:off x="1119775" y="533526"/>
          <a:ext cx="9952450" cy="5653890"/>
        </p:xfrm>
        <a:graphic>
          <a:graphicData uri="http://schemas.openxmlformats.org/drawingml/2006/table">
            <a:tbl>
              <a:tblPr>
                <a:noFill/>
                <a:tableStyleId>{285A2213-206D-4D29-8ACF-96B4C444891F}</a:tableStyleId>
              </a:tblPr>
              <a:tblGrid>
                <a:gridCol w="1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MON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TUE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WED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THU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04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05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$5000 Campaign Animation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07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08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SPUS vs other ETFs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11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12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Power of consistency Animation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13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14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U.S. Market — By the Numbers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Mention &amp; Win $500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19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What Happens After You Tap “Buy”?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22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Manal Talal Video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Female Investors: Building Financial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27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 new path for your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28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Market Pulse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3e4482777_1_4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3e4482777_1_4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3e4482777_1_4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g3f3e4482777_1_4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g3f3e4482777_1_4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g3f3e4482777_1_44"/>
          <p:cNvSpPr txBox="1"/>
          <p:nvPr/>
        </p:nvSpPr>
        <p:spPr>
          <a:xfrm>
            <a:off x="1287050" y="1525925"/>
            <a:ext cx="8410200" cy="474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300" b="0" i="0" u="none" strike="noStrike" cap="none" dirty="0" err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فرعي</a:t>
            </a: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):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اعرفها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صـح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رئيسي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الصنادي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ــــق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الاستثماري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ـــــة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المناسب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؟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عندما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تشتري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صندوق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ETF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تقليدي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يتبع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S&amp;P 500،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فأنت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تستثمر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حزمة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تضم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500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بحسب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وتشمل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هذه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الحزمة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جميع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القطاعات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استثناء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بما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القطاع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المالي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التقليدي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والشركات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ذات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المديونيات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المرتفعة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حين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يعتمد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صندوق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مثل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SPUS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منهجية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مختلفة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الانتقاء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الخامس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فهو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يتبع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نفس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المؤشر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(S&amp;P 500)،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لكنه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يطبق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معايير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فلترة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تقتصر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الشركات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المتوافقة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أحكام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الشريعة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الإسلامية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السادس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الفرق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بين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هيكلة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الصناديق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يتيح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اتخاذ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قرارات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متوازنة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تناسب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أهدافك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يمكنك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الاستكشاف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والتداول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بين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مختلف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صناديق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المؤشرات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الآن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1" name="Google Shape;41;g3f3e4482777_1_4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g3f3e4482777_1_4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SPUS vs other ETFs  I   Date: 08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4af7843d_0_37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b4af7843d_0_37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b4af7843d_0_37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g3fb4af7843d_0_37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g3fb4af7843d_0_37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3fb4af7843d_0_37"/>
          <p:cNvSpPr txBox="1"/>
          <p:nvPr/>
        </p:nvSpPr>
        <p:spPr>
          <a:xfrm>
            <a:off x="1287050" y="1055750"/>
            <a:ext cx="8410200" cy="5599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Know It Right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(Main Title): Investment Funds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one is right for me?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purchase a conventional ETF that tracks the S&amp;P 500 index, you are investing in a basket containing the top 500 U.S. companies by market capitalization.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basket covers all sectors without exception, including traditional financial institutions and highly indebted companies.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the other hand, a fund like SPUS relies on a different selection methodology.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tracks the same U.S. index (S&amp;P 500), but applies screening criteria restricted to Shari'ah-compliant companies.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6: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structural differences between funds empowers you to make balanced decisions tailored to your investment goals. 💡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and trade various ETFs now via the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app.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" name="Google Shape;53;g3fb4af7843d_0_37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4e3c6d27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b4e3c6d27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fb4e3c6d27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fb4e3c6d27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3fb4e3c6d27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g3fb4e3c6d27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3fb4e3c6d27_0_0"/>
          <p:cNvSpPr txBox="1"/>
          <p:nvPr/>
        </p:nvSpPr>
        <p:spPr>
          <a:xfrm>
            <a:off x="927821" y="1760125"/>
            <a:ext cx="4514400" cy="36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السر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الذي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يعرفه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الكثير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الاستثمار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..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يظن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البعض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أن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تستثمر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لكن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مرة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تكرر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ذلك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وينتظر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الكثيرون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الحصول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مبلغ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كبير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للبدء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..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بينما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المستثمر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الذكي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يبدأ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بمبلغ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بسيط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ويكرره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بشكل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منتظم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ببساطة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كيف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تفعل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ذلك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حدد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مبلغًا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يؤثر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حياتك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اليومية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اختر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يومًا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ثابتًا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شهر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حوّل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العملية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لعادة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تلقائية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دون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التفكير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في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تقلبات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السوق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وتذكر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دائمًا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الاستمرارية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المحرك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الحقيقي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للنمو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المالي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5" name="Google Shape;65;g3fb4e3c6d27_0_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Power of Consistency  - Animation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fb4e3c6d27_0_0"/>
          <p:cNvSpPr txBox="1"/>
          <p:nvPr/>
        </p:nvSpPr>
        <p:spPr>
          <a:xfrm>
            <a:off x="6322071" y="1760125"/>
            <a:ext cx="5230500" cy="415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Script: </a:t>
            </a:r>
            <a:endParaRPr sz="15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secret most people don't know about investing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think it’s about </a:t>
            </a:r>
            <a:r>
              <a:rPr lang="en-US" sz="1300" b="0" i="1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much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invest, but what truly matters is </a:t>
            </a:r>
            <a:r>
              <a:rPr lang="en-US" sz="1300" b="0" i="1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often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repeat it.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Many wait until they have a large sum to get started, but the smart investor begins with a small amount and repeats it consistently.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can you easily do this?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Set an amount that won't affect your daily life.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Pick a fixed day every month.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Turn the process into an automatic habit, without stressing over market fluctuations.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always remember: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Consistency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the real engine of financial growth!</a:t>
            </a:r>
            <a:endParaRPr sz="15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7" name="Google Shape;67;g3fb4e3c6d27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Power of Consistency   I    Date: 12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84980652_0_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b84980652_0_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b84980652_0_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fb84980652_0_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g3fb84980652_0_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3fb84980652_0_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g3fb84980652_0_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U.S. Market — By the Numbers  I  Date: 15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g3fb84980652_0_4"/>
          <p:cNvSpPr txBox="1"/>
          <p:nvPr/>
        </p:nvSpPr>
        <p:spPr>
          <a:xfrm>
            <a:off x="1287049" y="1525925"/>
            <a:ext cx="8410200" cy="457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دليلك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المختصر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لاكتشاف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 📊 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المركز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عالمياً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بلا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منازع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🌐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استحوذت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أسواق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43.7%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إجمالي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القيمة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للأسهم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قوة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تُضاهى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💰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بلغت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القيمة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لأسواق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68.9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تريليون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يعادل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4.4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أضعاف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حجم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الصينية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ثاني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خيارات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متنوعة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أكثر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5,500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مدرجة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بورصتي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نيويورك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(NYSE)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وناسداك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(NASDAQ).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وتشكل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10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شركات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S&amp;P 500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نحو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38%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وزن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المؤشر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الخامس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البداية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ممّا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تتخيل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 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استكشف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مجموعة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مختارة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بحد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أدنى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للإيداع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يبدأ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دولاراً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فقط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ea212878359e98f_0_19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4ea212878359e98f_0_19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4ea212878359e98f_0_19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h4ea212878359e98f_0_194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h4ea212878359e98f_0_19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h4ea212878359e98f_0_19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h4ea212878359e98f_0_194"/>
          <p:cNvSpPr txBox="1"/>
          <p:nvPr/>
        </p:nvSpPr>
        <p:spPr>
          <a:xfrm>
            <a:off x="1287050" y="1213752"/>
            <a:ext cx="8615400" cy="48313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quick guide to discovering the world's largest stock market! 📊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Unrivaled Global #1 🌐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stock markets account for 43.7% of total global stock market capitalization.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Unmatched Financial Power 💰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market capitalization of U.S. stock markets reached $68.9 trillion...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1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(equivalent to 4.4 times the size of the Chinese market, the second largest stock market in the world).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Diverse Investment Options 🏢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5,500 companies are listed on the New York Stock Exchange (NYSE) and NASDAQ. The top 10 companies in the S&amp;P 500 index make up approximately 38% of the index's weight.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Getting started is easier than you think! 💡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 curated selection of U.S. stocks via the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app, with a minimum deposit starting at just $50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da663f0f3bf80fa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7da663f0f3bf80fa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7da663f0f3bf80fa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h7da663f0f3bf80fa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h7da663f0f3bf80fa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h7da663f0f3bf80fa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h7da663f0f3bf80fa_0_0"/>
          <p:cNvSpPr txBox="1"/>
          <p:nvPr/>
        </p:nvSpPr>
        <p:spPr>
          <a:xfrm>
            <a:off x="829917" y="2260807"/>
            <a:ext cx="4514400" cy="27253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نساعدك تبدأ رحلتك الاستثمارية، ونمنحك فرصة للفوز بـ500 دولار تُضاف مباشرة إلى حسابك.</a:t>
            </a:r>
            <a:endParaRPr lang="en-US"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اللي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تسويه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حسابنا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وتسوي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منشن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والأهم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يكون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عندك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خاص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تفوّت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الفرصة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وشارك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  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02" name="Google Shape;102;h7da663f0f3bf80fa_0_0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Mention &amp; Win - Animation with VO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h7da663f0f3bf80fa_0_0"/>
          <p:cNvSpPr txBox="1"/>
          <p:nvPr/>
        </p:nvSpPr>
        <p:spPr>
          <a:xfrm>
            <a:off x="6387492" y="2242068"/>
            <a:ext cx="4514400" cy="32647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we’re here to support your investment journey and give you the chance to win $500.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to do: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Follow our account and mention a friend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Make sure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have an active account on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app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Don't miss the opportunity, participate today!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h7da663f0f3bf80fa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Mention &amp; Win $500   I   Date: 18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AE6D0-E122-2B34-4421-8160B12BF4FA}"/>
              </a:ext>
            </a:extLst>
          </p:cNvPr>
          <p:cNvSpPr txBox="1"/>
          <p:nvPr/>
        </p:nvSpPr>
        <p:spPr>
          <a:xfrm>
            <a:off x="914400" y="57194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ea212878359e98f_0_2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4ea212878359e98f_0_2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4ea212878359e98f_0_2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h4ea212878359e98f_0_29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h4ea212878359e98f_0_2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h4ea212878359e98f_0_2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h4ea212878359e98f_0_29"/>
          <p:cNvSpPr txBox="1"/>
          <p:nvPr/>
        </p:nvSpPr>
        <p:spPr>
          <a:xfrm>
            <a:off x="829917" y="2152738"/>
            <a:ext cx="4514400" cy="34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ماذا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يحدث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بعد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تضغط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«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شراء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»؟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أولًا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ادخل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Orders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أسفل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وتعرّف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حالة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تتأكد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إذا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كان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السوق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مفتوحًا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أو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متى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بيفتح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ثانيًا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حركة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السهم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قسم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Trade،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حركة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السعر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وتشوف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الـChart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بشكل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مباشر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lvl="0" algn="r" rtl="1">
              <a:lnSpc>
                <a:spcPct val="115000"/>
              </a:lnSpc>
              <a:buSzPts val="1100"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لحظة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الضغط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«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شراء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»…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ar-BH" dirty="0">
                <a:latin typeface="Rubik"/>
                <a:ea typeface="Rubik"/>
                <a:cs typeface="Rubik"/>
                <a:sym typeface="Rubik"/>
              </a:rPr>
              <a:t>استثمارك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6" name="Google Shape;116;h4ea212878359e98f_0_29"/>
          <p:cNvSpPr txBox="1"/>
          <p:nvPr/>
        </p:nvSpPr>
        <p:spPr>
          <a:xfrm>
            <a:off x="1287050" y="587425"/>
            <a:ext cx="7355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What Happens After You Tap “Buy”? - Video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h4ea212878359e98f_0_29"/>
          <p:cNvSpPr txBox="1"/>
          <p:nvPr/>
        </p:nvSpPr>
        <p:spPr>
          <a:xfrm>
            <a:off x="6387480" y="1899209"/>
            <a:ext cx="4514400" cy="394415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What Happens After You Tap “Buy”?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First, track your order.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Head to **Orders** at the bottom of the app to check your order status and see whether the market is open or when it’s scheduled to open.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Then, follow the market.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Go to </a:t>
            </a: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Trade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 to track the stock’s price movement and view its chart in real time.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R="381000" lvl="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From placing your order to tracking the market, the </a:t>
            </a:r>
            <a:r>
              <a:rPr lang="en-US" sz="1200" dirty="0" err="1"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 app keeps you informed.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h4ea212878359e98f_0_29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What Happens After You Tap “Buy”?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I   Date: </a:t>
            </a: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ea212878359e98f_0_5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4ea212878359e98f_0_5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4ea212878359e98f_0_5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h4ea212878359e98f_0_59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h4ea212878359e98f_0_5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h4ea212878359e98f_0_5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h4ea212878359e98f_0_59"/>
          <p:cNvSpPr txBox="1"/>
          <p:nvPr/>
        </p:nvSpPr>
        <p:spPr>
          <a:xfrm>
            <a:off x="829892" y="1806288"/>
            <a:ext cx="4514400" cy="3819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استثماركِ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أمان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الغد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لكِ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ولأبنائك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400" b="0" i="0" u="none" strike="noStrike" cap="none" dirty="0" err="1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فرعي</a:t>
            </a: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):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والبداية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ممّا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تتخيلين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لبدء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رحلتك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تحتاجين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لرأس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مال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ضخم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قضاء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ساعات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طويلة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تحليل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الأسواق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تحتاجينه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50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فقط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خطوة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بسيطة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تعود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عائلتك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بالنفع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غدًا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عملية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تداول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تقومين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بها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وحتى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نهاية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ديسمبر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تتضاعف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فرص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فوزك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بجوائز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تصل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لـ5000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h4ea212878359e98f_0_59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h4ea212878359e98f_0_59"/>
          <p:cNvSpPr txBox="1"/>
          <p:nvPr/>
        </p:nvSpPr>
        <p:spPr>
          <a:xfrm>
            <a:off x="6387492" y="1806288"/>
            <a:ext cx="4514400" cy="379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investment today is tomorrow’s security for you and your children.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1" u="none" strike="noStrike" cap="none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starting is easier than you think!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begin your investment journey, you don't need huge capital or long hours analyzing the markets.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is just $50. A simple step today pays off for you and your family tomorrow.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app until the end of December, you double your chances of winning prizes worth up to $5,000!</a:t>
            </a: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2" name="Google Shape;132;h4ea212878359e98f_0_59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1400"/>
            </a:pPr>
            <a:r>
              <a:rPr lang="en-US" sz="1300" dirty="0">
                <a:latin typeface="Montserrat Light"/>
                <a:ea typeface="Montserrat Light"/>
                <a:cs typeface="Montserrat Light"/>
                <a:sym typeface="Montserrat Light"/>
              </a:rPr>
              <a:t>Mothers &amp; Investing: Building a Financial Future I 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Date: 25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ea212878359e98f_0_21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4ea212878359e98f_0_21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4ea212878359e98f_0_21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h4ea212878359e98f_0_21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h4ea212878359e98f_0_21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h4ea212878359e98f_0_211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h4ea212878359e98f_0_211"/>
          <p:cNvSpPr txBox="1"/>
          <p:nvPr/>
        </p:nvSpPr>
        <p:spPr>
          <a:xfrm>
            <a:off x="829892" y="1793000"/>
            <a:ext cx="4514400" cy="4179477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رحلتك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بأسلوب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أذكى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ومتوافق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قيمك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BH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 منصة تمنحك</a:t>
            </a:r>
            <a:endParaRPr lang="en-US"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سهولة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الاستخدام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تجربة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انضمام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مباشرة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هاتفك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آمن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وصناديق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(ETFs)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ومؤشرات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متوافقة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الشريعة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الإسلامية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بداية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مرنة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برأس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مناسب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وبكل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مرونة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عملية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تقوم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وحتى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نهاية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ديسمبر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تتضاعف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فرص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فوزك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بجوائز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تصل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لـ5000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📲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حمل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الآن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وافتح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حسابك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دقائق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4" name="Google Shape;144;h4ea212878359e98f_0_211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h4ea212878359e98f_0_211"/>
          <p:cNvSpPr txBox="1"/>
          <p:nvPr/>
        </p:nvSpPr>
        <p:spPr>
          <a:xfrm>
            <a:off x="6387492" y="1618938"/>
            <a:ext cx="4514400" cy="452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 your investment journey today in a way that is: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Easier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Smarter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Aligned with your values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a platform that offers you: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Ease of use: Fast onboarding and seamless trading straight from your phone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Secure investing: Access to Shari'ah-compliant stocks, ETFs, and indices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Flexible start: Begin investing with a suitable capital and full flexibility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eMYAA app until the end of December, double your chances to win prizes worth up to $5,000!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📲 </a:t>
            </a: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Download the app now and open your account in minutes!</a:t>
            </a:r>
            <a:endParaRPr sz="15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h4ea212878359e98f_0_211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new path for your future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I  Date: 27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ea212878359e98f_0_108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4ea212878359e98f_0_108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4ea212878359e98f_0_108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h4ea212878359e98f_0_108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h4ea212878359e98f_0_108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h4ea212878359e98f_0_108"/>
          <p:cNvSpPr txBox="1"/>
          <p:nvPr/>
        </p:nvSpPr>
        <p:spPr>
          <a:xfrm>
            <a:off x="1287050" y="1525925"/>
            <a:ext cx="8410200" cy="469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الأول: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إليك أهم ما حرّك المشهد المالي هذا الشهر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الثاني: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مستويات قياسية تقود الأسواق الأمريكية 🇺🇸</a:t>
            </a:r>
            <a:endParaRPr sz="1300" b="0" i="0" u="none" strike="noStrike" cap="none">
              <a:solidFill>
                <a:schemeClr val="dk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استمرت الأسواق الأمريكية في تحقيق المكاسب مع نهاية أكتوبر، مدفوعة بزخم شركات التكنولوجيا الكبرى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S&amp;P 500: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ناسداك المركب: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داو جونز الصناعي: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الثالث: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لم يقتصر المشهد على الأسواق الأمريكية؛ حيث أظهرت الأسواق الإقليمية والعالمية تحركات لافتة: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تاسي (TASI):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 دبي المالي (DFMGI):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هانغ سينغ (Hang Seng):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الرابع:</a:t>
            </a:r>
            <a:endParaRPr sz="13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لكن المشهد لا يخلو من التحديات والمحطات المفصلية ⚖️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شهد شهر أكتوبر قرارات واضحة وتبايناً في البيانات الاقتصادية التي رسمت توجهات الأسواق: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قرار الفيدرالي: ثبت مجلس الاحتياطي الفيدرالي نطاق الفائدة المرجعية عند (...) في اجتماعه بتاريخ (..)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التضخم الأمريكي: أظهرت بيانات CPI الصادرة في (..) تسارعاً سنوياً عند (..) 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أسعار النفط: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7" name="Google Shape;157;h4ea212878359e98f_0_108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h4ea212878359e98f_0_108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ea212878359e98f_0_12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4ea212878359e98f_0_12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4ea212878359e98f_0_12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h4ea212878359e98f_0_12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h4ea212878359e98f_0_12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h4ea212878359e98f_0_120"/>
          <p:cNvSpPr txBox="1"/>
          <p:nvPr/>
        </p:nvSpPr>
        <p:spPr>
          <a:xfrm>
            <a:off x="1287050" y="3150013"/>
            <a:ext cx="8410200" cy="9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الخامس:</a:t>
            </a:r>
            <a:endParaRPr sz="14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فهمك للمشهد المالي يساعدك على اتخاذ قرارات استثمارية أكثر دقة وتوازناً.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 eMYAA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ابقَ على اطلاع 💡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9" name="Google Shape;169;h4ea212878359e98f_0_12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h4ea212878359e98f_0_12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ea212878359e98f_0_13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4ea212878359e98f_0_13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4ea212878359e98f_0_13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h4ea212878359e98f_0_13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h4ea212878359e98f_0_13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h4ea212878359e98f_0_13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h4ea212878359e98f_0_131"/>
          <p:cNvSpPr txBox="1"/>
          <p:nvPr/>
        </p:nvSpPr>
        <p:spPr>
          <a:xfrm>
            <a:off x="1287050" y="1145913"/>
            <a:ext cx="8410200" cy="532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Here is what moved the financial landscape this month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Record Levels Driving U.S. Markets 🇺🇸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markets continued to post gains through the end of October, driven by momentum in major tech stocks: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S&amp;P 500 Index: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Nasdaq Composite Index: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 Jones Industrial Average: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momentum was not limited to U.S. markets; regional and global markets also showed notable movements: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Tadawul All Share Index (TASI):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Dubai Financial Market General Index (DFMGI):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Hang Seng Index: Closed at (...)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However, the landscape is not without its challenges and key turning points ⚖️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October witnessed decisive moves and diverging economic data that shaped market direction: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Federal Reserve Decision: The Federal Reserve held benchmark interest rates steady at (...) during its meeting on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Inflation: CPI data released on (...) showed an annual acceleration of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Oil Prices: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ea212878359e98f_0_15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4ea212878359e98f_0_15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4ea212878359e98f_0_15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h4ea212878359e98f_0_15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h4ea212878359e98f_0_15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h4ea212878359e98f_0_15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h4ea212878359e98f_0_151"/>
          <p:cNvSpPr txBox="1"/>
          <p:nvPr/>
        </p:nvSpPr>
        <p:spPr>
          <a:xfrm>
            <a:off x="1287050" y="2731651"/>
            <a:ext cx="8410200" cy="17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financial landscape helps you make more precise and balanced investment decisions.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eMYAA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Stay informed 💡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84a60ae80_0_94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e84a60ae80_0_94" descr="Picture 4"/>
          <p:cNvPicPr preferRelativeResize="0"/>
          <p:nvPr/>
        </p:nvPicPr>
        <p:blipFill rotWithShape="1">
          <a:blip r:embed="rId4">
            <a:alphaModFix/>
          </a:blip>
          <a:srcRect l="27141" t="27158" r="27419" b="31954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e84a60ae80_0_94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e84a60ae80_0_94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e84a60ae80_0_94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g3e84a60ae80_0_94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g3e84a60ae80_0_94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4D434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2074</Words>
  <Application>Microsoft Office PowerPoint</Application>
  <PresentationFormat>Widescreen</PresentationFormat>
  <Paragraphs>327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Montserrat SemiBold</vt:lpstr>
      <vt:lpstr>Lato</vt:lpstr>
      <vt:lpstr>Montserrat</vt:lpstr>
      <vt:lpstr>Arial</vt:lpstr>
      <vt:lpstr>Rubik</vt:lpstr>
      <vt:lpstr>Montserrat Light</vt:lpstr>
      <vt:lpstr>Rubik SemiBold</vt:lpstr>
      <vt:lpstr>Montserrat Medium</vt:lpstr>
      <vt:lpstr>Calibri</vt:lpstr>
      <vt:lpstr>Rubik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Zahra</dc:creator>
  <cp:lastModifiedBy>Eman Mahdi Almansoor</cp:lastModifiedBy>
  <cp:revision>3</cp:revision>
  <dcterms:modified xsi:type="dcterms:W3CDTF">2026-10-01T06:51:21Z</dcterms:modified>
</cp:coreProperties>
</file>