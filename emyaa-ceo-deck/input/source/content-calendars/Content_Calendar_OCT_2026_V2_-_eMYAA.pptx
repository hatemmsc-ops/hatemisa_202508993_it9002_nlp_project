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Lato" panose="020F0502020204030203" pitchFamily="34" charset="0"/>
      <p:regular r:id="rId19"/>
      <p:bold r:id="rId20"/>
      <p:italic r:id="rId21"/>
      <p:boldItalic r:id="rId22"/>
    </p:embeddedFont>
    <p:embeddedFont>
      <p:font typeface="Montserrat" pitchFamily="2" charset="77"/>
      <p:regular r:id="rId23"/>
      <p:bold r:id="rId24"/>
      <p:italic r:id="rId25"/>
      <p:boldItalic r:id="rId26"/>
    </p:embeddedFont>
    <p:embeddedFont>
      <p:font typeface="Montserrat Light" panose="00000400000000000000" pitchFamily="2" charset="77"/>
      <p:regular r:id="rId27"/>
      <p:bold r:id="rId28"/>
      <p:italic r:id="rId29"/>
      <p:boldItalic r:id="rId30"/>
    </p:embeddedFont>
    <p:embeddedFont>
      <p:font typeface="Montserrat Medium" panose="00000600000000000000" pitchFamily="2" charset="77"/>
      <p:regular r:id="rId31"/>
      <p:bold r:id="rId32"/>
      <p:italic r:id="rId33"/>
      <p:boldItalic r:id="rId34"/>
    </p:embeddedFont>
    <p:embeddedFont>
      <p:font typeface="Montserrat SemiBold" panose="00000700000000000000" pitchFamily="2" charset="77"/>
      <p:regular r:id="rId35"/>
      <p:bold r:id="rId36"/>
      <p:italic r:id="rId37"/>
      <p:boldItalic r:id="rId38"/>
    </p:embeddedFont>
    <p:embeddedFont>
      <p:font typeface="Rubik" pitchFamily="2" charset="-79"/>
      <p:regular r:id="rId39"/>
      <p:bold r:id="rId40"/>
      <p:italic r:id="rId41"/>
      <p:boldItalic r:id="rId42"/>
    </p:embeddedFont>
    <p:embeddedFont>
      <p:font typeface="Rubik Medium" pitchFamily="2" charset="-79"/>
      <p:regular r:id="rId43"/>
      <p:bold r:id="rId44"/>
      <p:italic r:id="rId45"/>
      <p:boldItalic r:id="rId46"/>
    </p:embeddedFont>
    <p:embeddedFont>
      <p:font typeface="Rubik SemiBold" pitchFamily="2" charset="-79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838">
          <p15:clr>
            <a:srgbClr val="A4A3A4"/>
          </p15:clr>
        </p15:guide>
        <p15:guide id="2" pos="325">
          <p15:clr>
            <a:srgbClr val="A4A3A4"/>
          </p15:clr>
        </p15:guide>
        <p15:guide id="3" orient="horz" pos="845">
          <p15:clr>
            <a:srgbClr val="A4A3A4"/>
          </p15:clr>
        </p15:guide>
        <p15:guide id="4" pos="7355">
          <p15:clr>
            <a:srgbClr val="A4A3A4"/>
          </p15:clr>
        </p15:guide>
        <p15:guide id="5" orient="horz" pos="37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1" roundtripDataSignature="AMtx7mhneI5gTTPBRa71eZ4c6qkGKUL7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85A2213-206D-4D29-8ACF-96B4C444891F}">
  <a:tblStyle styleId="{285A2213-206D-4D29-8ACF-96B4C444891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9"/>
  </p:normalViewPr>
  <p:slideViewPr>
    <p:cSldViewPr snapToGrid="0">
      <p:cViewPr>
        <p:scale>
          <a:sx n="142" d="100"/>
          <a:sy n="142" d="100"/>
        </p:scale>
        <p:origin x="-400" y="-424"/>
      </p:cViewPr>
      <p:guideLst>
        <p:guide orient="horz" pos="3838"/>
        <p:guide pos="325"/>
        <p:guide orient="horz" pos="845"/>
        <p:guide pos="7355"/>
        <p:guide orient="horz" pos="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font" Target="fonts/font21.fntdata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openxmlformats.org/officeDocument/2006/relationships/font" Target="fonts/font24.fntdata"/><Relationship Id="rId47" Type="http://schemas.openxmlformats.org/officeDocument/2006/relationships/font" Target="fonts/font29.fntdata"/><Relationship Id="rId50" Type="http://schemas.openxmlformats.org/officeDocument/2006/relationships/font" Target="fonts/font32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1.fntdata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font" Target="fonts/font22.fntdata"/><Relationship Id="rId45" Type="http://schemas.openxmlformats.org/officeDocument/2006/relationships/font" Target="fonts/font27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4" Type="http://schemas.openxmlformats.org/officeDocument/2006/relationships/font" Target="fonts/font26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43" Type="http://schemas.openxmlformats.org/officeDocument/2006/relationships/font" Target="fonts/font25.fntdata"/><Relationship Id="rId48" Type="http://schemas.openxmlformats.org/officeDocument/2006/relationships/font" Target="fonts/font30.fntdata"/><Relationship Id="rId8" Type="http://schemas.openxmlformats.org/officeDocument/2006/relationships/slide" Target="slides/slide7.xml"/><Relationship Id="rId51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Relationship Id="rId46" Type="http://schemas.openxmlformats.org/officeDocument/2006/relationships/font" Target="fonts/font28.fntdata"/><Relationship Id="rId20" Type="http://schemas.openxmlformats.org/officeDocument/2006/relationships/font" Target="fonts/font2.fntdata"/><Relationship Id="rId41" Type="http://schemas.openxmlformats.org/officeDocument/2006/relationships/font" Target="fonts/font23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49" Type="http://schemas.openxmlformats.org/officeDocument/2006/relationships/font" Target="fonts/font3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" name="Google Shape;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f580b7541f_0_5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" name="Google Shape;25;g3f580b7541f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f3e4482777_1_4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" name="Google Shape;33;g3f3e4482777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b4af7843d_0_3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" name="Google Shape;45;g3fb4af7843d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b4e3c6d27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" name="Google Shape;56;g3fb4e3c6d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b84980652_0_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" name="Google Shape;70;g3fb84980652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4ea212878359e98f_0_19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" name="Google Shape;82;h4ea212878359e98f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7da663f0f3bf80fa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h7da663f0f3bf80f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4ea212878359e98f_0_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h4ea212878359e98f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4ea212878359e98f_0_5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h4ea212878359e98f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4ea212878359e98f_0_2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h4ea212878359e98f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h4ea212878359e98f_0_10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h4ea212878359e98f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4ea212878359e98f_0_1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h4ea212878359e98f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h4ea212878359e98f_0_13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h4ea212878359e98f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h4ea212878359e98f_0_15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h4ea212878359e98f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84a60ae80_0_9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g3e84a60ae80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4_Title Slide">
  <p:cSld name="Title Pages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Content Pages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33"/>
          <p:cNvSpPr txBox="1"/>
          <p:nvPr/>
        </p:nvSpPr>
        <p:spPr>
          <a:xfrm>
            <a:off x="11450973" y="6285007"/>
            <a:ext cx="27365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Lato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Google Shape;9;p33"/>
          <p:cNvSpPr txBox="1"/>
          <p:nvPr/>
        </p:nvSpPr>
        <p:spPr>
          <a:xfrm>
            <a:off x="421442" y="6284986"/>
            <a:ext cx="262910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24F PRODUCTION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" name="Google Shape;10;p33"/>
          <p:cNvCxnSpPr/>
          <p:nvPr/>
        </p:nvCxnSpPr>
        <p:spPr>
          <a:xfrm>
            <a:off x="507404" y="914402"/>
            <a:ext cx="1117719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1" name="Google Shape;11;p33"/>
          <p:cNvPicPr preferRelativeResize="0"/>
          <p:nvPr/>
        </p:nvPicPr>
        <p:blipFill rotWithShape="1">
          <a:blip r:embed="rId2">
            <a:alphaModFix/>
          </a:blip>
          <a:srcRect l="94076"/>
          <a:stretch/>
        </p:blipFill>
        <p:spPr>
          <a:xfrm rot="-5400000">
            <a:off x="5980609" y="634205"/>
            <a:ext cx="230783" cy="122649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slide" Target="slide3.xml"/><Relationship Id="rId7" Type="http://schemas.openxmlformats.org/officeDocument/2006/relationships/slide" Target="slide1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5" Type="http://schemas.openxmlformats.org/officeDocument/2006/relationships/slide" Target="slide6.xml"/><Relationship Id="rId4" Type="http://schemas.openxmlformats.org/officeDocument/2006/relationships/slide" Target="slide5.xml"/><Relationship Id="rId9" Type="http://schemas.openxmlformats.org/officeDocument/2006/relationships/slide" Target="slide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 txBox="1"/>
          <p:nvPr/>
        </p:nvSpPr>
        <p:spPr>
          <a:xfrm>
            <a:off x="515950" y="6107550"/>
            <a:ext cx="1968600" cy="2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500" b="1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OCTOBER</a:t>
            </a:r>
            <a:r>
              <a:rPr lang="en-US" sz="1500" b="1" i="0" u="none" strike="noStrike" cap="none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 2026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1" descr="Picture 4"/>
          <p:cNvPicPr preferRelativeResize="0"/>
          <p:nvPr/>
        </p:nvPicPr>
        <p:blipFill rotWithShape="1">
          <a:blip r:embed="rId4">
            <a:alphaModFix/>
          </a:blip>
          <a:srcRect l="27140" t="27156" r="27419" b="31956"/>
          <a:stretch/>
        </p:blipFill>
        <p:spPr>
          <a:xfrm>
            <a:off x="10099142" y="231693"/>
            <a:ext cx="1576944" cy="100392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 txBox="1"/>
          <p:nvPr/>
        </p:nvSpPr>
        <p:spPr>
          <a:xfrm>
            <a:off x="424475" y="5213625"/>
            <a:ext cx="3719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October content calendar  </a:t>
            </a:r>
            <a:endParaRPr sz="20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424475" y="4658400"/>
            <a:ext cx="519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eMYAA x AJYAD</a:t>
            </a:r>
            <a:endParaRPr sz="1800" b="1" i="0" u="none" strike="noStrike" cap="non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20" name="Google Shape;20;p1"/>
          <p:cNvCxnSpPr/>
          <p:nvPr/>
        </p:nvCxnSpPr>
        <p:spPr>
          <a:xfrm>
            <a:off x="4143578" y="5447814"/>
            <a:ext cx="319200" cy="33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1" name="Google Shape;21;p1" title="Ajyad+Capital+Logo+white.png"/>
          <p:cNvPicPr preferRelativeResize="0"/>
          <p:nvPr/>
        </p:nvPicPr>
        <p:blipFill rotWithShape="1">
          <a:blip r:embed="rId5">
            <a:alphaModFix/>
          </a:blip>
          <a:srcRect l="-12561" t="-41466" r="-18690" b="-39137"/>
          <a:stretch/>
        </p:blipFill>
        <p:spPr>
          <a:xfrm>
            <a:off x="1605441" y="379923"/>
            <a:ext cx="1663273" cy="659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" title="Gold+&amp;+White+Logo.png"/>
          <p:cNvPicPr preferRelativeResize="0"/>
          <p:nvPr/>
        </p:nvPicPr>
        <p:blipFill rotWithShape="1">
          <a:blip r:embed="rId6">
            <a:alphaModFix/>
          </a:blip>
          <a:srcRect t="14763" b="14770"/>
          <a:stretch/>
        </p:blipFill>
        <p:spPr>
          <a:xfrm>
            <a:off x="22988" y="279913"/>
            <a:ext cx="1915617" cy="759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f580b7541f_0_50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g3f580b7541f_0_50"/>
          <p:cNvSpPr/>
          <p:nvPr/>
        </p:nvSpPr>
        <p:spPr>
          <a:xfrm>
            <a:off x="224850" y="684475"/>
            <a:ext cx="117423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g3f580b7541f_0_50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" name="Google Shape;30;g3f580b7541f_0_50"/>
          <p:cNvGraphicFramePr/>
          <p:nvPr/>
        </p:nvGraphicFramePr>
        <p:xfrm>
          <a:off x="1119775" y="533526"/>
          <a:ext cx="9952450" cy="5653890"/>
        </p:xfrm>
        <a:graphic>
          <a:graphicData uri="http://schemas.openxmlformats.org/drawingml/2006/table">
            <a:tbl>
              <a:tblPr>
                <a:noFill/>
                <a:tableStyleId>{285A2213-206D-4D29-8ACF-96B4C444891F}</a:tableStyleId>
              </a:tblPr>
              <a:tblGrid>
                <a:gridCol w="172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SUN</a:t>
                      </a:r>
                      <a:endParaRPr sz="1300" u="none" strike="noStrike" cap="non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MON</a:t>
                      </a:r>
                      <a:endParaRPr sz="1300" u="none" strike="noStrike" cap="non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TUE</a:t>
                      </a:r>
                      <a:endParaRPr sz="1300" u="none" strike="noStrike" cap="non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WED</a:t>
                      </a:r>
                      <a:endParaRPr sz="1300" u="none" strike="noStrike" cap="non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THU</a:t>
                      </a:r>
                      <a:endParaRPr sz="1300" u="none" strike="noStrike" cap="non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highlight>
                          <a:srgbClr val="D9EAD3"/>
                        </a:highlight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01</a:t>
                      </a:r>
                      <a:endParaRPr sz="1300" u="none" strike="noStrike" cap="none">
                        <a:solidFill>
                          <a:srgbClr val="4A86E8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04</a:t>
                      </a:r>
                      <a:endParaRPr sz="1300" u="none" strike="noStrike" cap="none">
                        <a:solidFill>
                          <a:srgbClr val="4A86E8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highlight>
                          <a:srgbClr val="D9EAD3"/>
                        </a:highlight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05</a:t>
                      </a:r>
                      <a:endParaRPr sz="1300" u="none" strike="noStrike" cap="none">
                        <a:solidFill>
                          <a:srgbClr val="4A86E8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$5000 Campaign Animation</a:t>
                      </a: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06</a:t>
                      </a: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07</a:t>
                      </a:r>
                      <a:endParaRPr sz="1300" u="none" strike="noStrike" cap="none">
                        <a:solidFill>
                          <a:srgbClr val="4A86E8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1" u="sng" strike="noStrike" cap="none">
                          <a:solidFill>
                            <a:srgbClr val="4A86E8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08</a:t>
                      </a:r>
                      <a:endParaRPr sz="1300" b="1" u="none" strike="noStrike" cap="none">
                        <a:solidFill>
                          <a:srgbClr val="4A86E8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SPUS vs other ETFs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11</a:t>
                      </a: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1" u="sng" strike="noStrike" cap="none">
                          <a:solidFill>
                            <a:srgbClr val="4A86E8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12</a:t>
                      </a:r>
                      <a:endParaRPr sz="1300" b="1" u="none" strike="noStrike" cap="none">
                        <a:solidFill>
                          <a:srgbClr val="4A86E8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Power of consistency Animation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13</a:t>
                      </a:r>
                      <a:endParaRPr sz="1300" u="none" strike="noStrike" cap="none">
                        <a:solidFill>
                          <a:srgbClr val="4A86E8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highlight>
                          <a:srgbClr val="D9EAD3"/>
                        </a:highlight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14</a:t>
                      </a: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sng" strike="noStrike" cap="none">
                          <a:solidFill>
                            <a:srgbClr val="4A86E8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15</a:t>
                      </a:r>
                      <a:endParaRPr sz="1300" b="1" u="none" strike="noStrike" cap="none">
                        <a:solidFill>
                          <a:srgbClr val="4A86E8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The U.S. Market — By the Numbers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solidFill>
                          <a:schemeClr val="dk1"/>
                        </a:solidFill>
                        <a:highlight>
                          <a:srgbClr val="D9EAD3"/>
                        </a:highlight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sng" strike="noStrike" cap="none">
                          <a:solidFill>
                            <a:srgbClr val="4A86E8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6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18</a:t>
                      </a:r>
                      <a:endParaRPr sz="1300" b="1" u="none" strike="noStrike" cap="none">
                        <a:solidFill>
                          <a:srgbClr val="4A86E8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Mention &amp; Win $500</a:t>
                      </a: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19</a:t>
                      </a:r>
                      <a:endParaRPr sz="1300" u="none" strike="noStrike" cap="none">
                        <a:solidFill>
                          <a:srgbClr val="4A86E8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20</a:t>
                      </a: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What Happens After You Tap “Buy”?</a:t>
                      </a: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21</a:t>
                      </a:r>
                      <a:endParaRPr sz="1300" u="none" strike="noStrike" cap="none">
                        <a:solidFill>
                          <a:srgbClr val="4A86E8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>
                        <a:highlight>
                          <a:srgbClr val="D9EAD3"/>
                        </a:highlight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22</a:t>
                      </a: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Manal Talal Video</a:t>
                      </a: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sng" strike="noStrike" cap="none">
                          <a:solidFill>
                            <a:srgbClr val="4A86E8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7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25</a:t>
                      </a:r>
                      <a:endParaRPr sz="1300" b="1" u="none" strike="noStrike" cap="none">
                        <a:solidFill>
                          <a:srgbClr val="4A86E8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Female Investors: Building Financial Future </a:t>
                      </a: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26</a:t>
                      </a: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sng" strike="noStrike" cap="none">
                          <a:solidFill>
                            <a:srgbClr val="4A86E8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8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27</a:t>
                      </a:r>
                      <a:endParaRPr sz="1300" b="1" u="none" strike="noStrike" cap="none">
                        <a:solidFill>
                          <a:srgbClr val="4A86E8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A new path for your future </a:t>
                      </a: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28</a:t>
                      </a:r>
                      <a:endParaRPr sz="1300" u="none" strike="noStrike" cap="none">
                        <a:solidFill>
                          <a:srgbClr val="4A86E8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sng" strike="noStrike" cap="none">
                          <a:solidFill>
                            <a:srgbClr val="4A86E8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9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29</a:t>
                      </a:r>
                      <a:endParaRPr sz="1300" b="1" u="none" strike="noStrike" cap="none">
                        <a:solidFill>
                          <a:srgbClr val="4A86E8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Market Pulse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f3e4482777_1_44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g3f3e4482777_1_44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g3f3e4482777_1_44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" name="Google Shape;38;g3f3e4482777_1_44" descr="Picture 4"/>
          <p:cNvPicPr preferRelativeResize="0"/>
          <p:nvPr/>
        </p:nvPicPr>
        <p:blipFill rotWithShape="1">
          <a:blip r:embed="rId3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" name="Google Shape;39;g3f3e4482777_1_44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g3f3e4482777_1_44"/>
          <p:cNvSpPr txBox="1"/>
          <p:nvPr/>
        </p:nvSpPr>
        <p:spPr>
          <a:xfrm>
            <a:off x="1287050" y="1525925"/>
            <a:ext cx="8410200" cy="4742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 الأول:</a:t>
            </a:r>
            <a:endParaRPr sz="13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(عنوان فرعي):</a:t>
            </a: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اعرفها صـح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عنوان رئيسي: الصناديــــق الاستثماريـــــة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ما المناسب لي؟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 الثاني:</a:t>
            </a:r>
            <a:endParaRPr sz="13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عندما تشتري صندوق ETF تقليدي يتبع مؤشر S&amp;P 500، فأنت تستثمر في حزمة تضم أكبر 500 شركة أمريكية بحسب قيمتها السوقية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 الثالث:</a:t>
            </a:r>
            <a:endParaRPr sz="13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وتشمل هذه الحزمة جميع القطاعات دون استثناء، بما فيها القطاع المالي التقليدي والشركات ذات المديونيات المرتفعة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 الرابع:</a:t>
            </a:r>
            <a:endParaRPr sz="1300" b="0" i="0" u="none" strike="noStrike" cap="none">
              <a:solidFill>
                <a:schemeClr val="dk1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في حين يعتمد صندوق مثل SPUS على منهجية مختلفة في الانتقاء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 الخامس:</a:t>
            </a:r>
            <a:endParaRPr sz="1300" b="0" i="0" u="none" strike="noStrike" cap="none">
              <a:solidFill>
                <a:schemeClr val="dk1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فهو يتبع نفس المؤشر الأمريكي (S&amp;P 500)، لكنه يطبق معايير فلترة تقتصر على الشركات المتوافقة مع أحكام الشريعة الإسلامية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البوست السادس: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فهم الفرق بين هيكلة الصناديق يتيح لك اتخاذ قرارات متوازنة تناسب أهدافك الاستثمارية 💡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يمكنك الاستكشاف والتداول بين مختلف صناديق المؤشرات الآن عبر تطبيق eMYAA.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41" name="Google Shape;41;g3f3e4482777_1_44"/>
          <p:cNvSpPr txBox="1"/>
          <p:nvPr/>
        </p:nvSpPr>
        <p:spPr>
          <a:xfrm>
            <a:off x="1287050" y="587425"/>
            <a:ext cx="55425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9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Carousel Post - AR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" name="Google Shape;42;g3f3e4482777_1_44"/>
          <p:cNvSpPr txBox="1"/>
          <p:nvPr/>
        </p:nvSpPr>
        <p:spPr>
          <a:xfrm>
            <a:off x="1287050" y="1195200"/>
            <a:ext cx="60222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SPUS vs other ETFs  I   Date: 08 Oct</a:t>
            </a:r>
            <a:endParaRPr sz="13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fb4af7843d_0_37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g3fb4af7843d_0_37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g3fb4af7843d_0_37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" name="Google Shape;50;g3fb4af7843d_0_37" descr="Picture 4"/>
          <p:cNvPicPr preferRelativeResize="0"/>
          <p:nvPr/>
        </p:nvPicPr>
        <p:blipFill rotWithShape="1">
          <a:blip r:embed="rId3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" name="Google Shape;51;g3fb4af7843d_0_37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" name="Google Shape;52;g3fb4af7843d_0_37"/>
          <p:cNvSpPr txBox="1"/>
          <p:nvPr/>
        </p:nvSpPr>
        <p:spPr>
          <a:xfrm>
            <a:off x="1287050" y="1145913"/>
            <a:ext cx="8410200" cy="541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Cover Post: </a:t>
            </a:r>
            <a:endParaRPr sz="15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1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(Subtitle):</a:t>
            </a: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Know It Right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(Main Title): Investment Funds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Which one is right for me?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2: </a:t>
            </a:r>
            <a:endParaRPr sz="1500" b="0" i="0" u="none" strike="noStrike" cap="none">
              <a:solidFill>
                <a:schemeClr val="dk1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When you purchase a conventional ETF that tracks the S&amp;P 500 index, you are investing in a basket containing the top 500 U.S. companies by market capitalization.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3: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basket covers all sectors without exception, including traditional financial institutions and highly indebted companies.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4: </a:t>
            </a:r>
            <a:endParaRPr sz="13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 the other hand, a fund like SPUS relies on a different selection methodology.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5: </a:t>
            </a:r>
            <a:endParaRPr sz="13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 tracks the same U.S. index (S&amp;P 500), but applies screening criteria restricted to Shari'ah-compliant companies.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6: </a:t>
            </a:r>
            <a:endParaRPr sz="13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Understanding the structural differences between funds empowers you to make balanced decisions tailored to your investment goals. 💡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Explore and trade various ETFs now via the eMYAA app.</a:t>
            </a:r>
            <a:endParaRPr sz="13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3" name="Google Shape;53;g3fb4af7843d_0_37"/>
          <p:cNvSpPr txBox="1"/>
          <p:nvPr/>
        </p:nvSpPr>
        <p:spPr>
          <a:xfrm>
            <a:off x="1287050" y="587425"/>
            <a:ext cx="55425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9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Carousel Post - EN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4e3c6d27_0_0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g3fb4e3c6d27_0_0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g3fb4e3c6d27_0_0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" name="Google Shape;61;g3fb4e3c6d27_0_0" descr="Picture 4"/>
          <p:cNvPicPr preferRelativeResize="0"/>
          <p:nvPr/>
        </p:nvPicPr>
        <p:blipFill rotWithShape="1">
          <a:blip r:embed="rId3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" name="Google Shape;62;g3fb4e3c6d27_0_0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" name="Google Shape;63;g3fb4e3c6d27_0_0"/>
          <p:cNvCxnSpPr/>
          <p:nvPr/>
        </p:nvCxnSpPr>
        <p:spPr>
          <a:xfrm>
            <a:off x="5865898" y="1814950"/>
            <a:ext cx="0" cy="411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" name="Google Shape;64;g3fb4e3c6d27_0_0"/>
          <p:cNvSpPr txBox="1"/>
          <p:nvPr/>
        </p:nvSpPr>
        <p:spPr>
          <a:xfrm>
            <a:off x="927821" y="1760125"/>
            <a:ext cx="4514400" cy="3684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النص:</a:t>
            </a:r>
            <a:endParaRPr sz="1400" b="0" i="0" u="none" strike="noStrike" cap="non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السر الذي لا يعرفه الكثير عن الاستثمار..</a:t>
            </a:r>
            <a:endParaRPr sz="1400" b="0" i="0" u="none" strike="noStrike" cap="non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يظن البعض أن المهم هو: كم تستثمر؟ لكن الأهم: كم مرة تكرر ذلك؟</a:t>
            </a:r>
            <a:endParaRPr sz="1400" b="0" i="0" u="none" strike="noStrike" cap="non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وينتظر الكثيرون الحصول على مبلغ كبير للبدء.. بينما المستثمر الذكي هو من يبدأ بمبلغ بسيط ويكرره بشكل منتظم.</a:t>
            </a:r>
            <a:endParaRPr sz="1400" b="0" i="0" u="none" strike="noStrike" cap="non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ببساطة، كيف تفعل ذلك؟</a:t>
            </a:r>
            <a:endParaRPr sz="1400" b="0" i="0" u="none" strike="noStrike" cap="non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حدد مبلغًا لا يؤثر على حياتك اليومية </a:t>
            </a:r>
            <a:endParaRPr sz="1400" b="0" i="0" u="none" strike="noStrike" cap="non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اختر يومًا ثابتًا من كل شهر </a:t>
            </a:r>
            <a:endParaRPr sz="1400" b="0" i="0" u="none" strike="noStrike" cap="non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حوّل العملية لعادة تلقائية دون التفكير في تقلبات السوق </a:t>
            </a:r>
            <a:endParaRPr sz="1400" b="0" i="0" u="none" strike="noStrike" cap="non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وتذكر دائمًا: الاستمرارية هي المحرك الحقيقي للنمو المالي!</a:t>
            </a:r>
            <a:endParaRPr sz="1400" b="0" i="0" u="none" strike="noStrike" cap="non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65" name="Google Shape;65;g3fb4e3c6d27_0_0"/>
          <p:cNvSpPr txBox="1"/>
          <p:nvPr/>
        </p:nvSpPr>
        <p:spPr>
          <a:xfrm>
            <a:off x="1287050" y="587425"/>
            <a:ext cx="55425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9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The Power of Consistency  - Animation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g3fb4e3c6d27_0_0"/>
          <p:cNvSpPr txBox="1"/>
          <p:nvPr/>
        </p:nvSpPr>
        <p:spPr>
          <a:xfrm>
            <a:off x="6322071" y="1760125"/>
            <a:ext cx="5230500" cy="415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Script: </a:t>
            </a:r>
            <a:endParaRPr sz="1500" b="0" i="0" u="none" strike="noStrike" cap="non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secret most people don't know about investing</a:t>
            </a:r>
            <a:endParaRPr sz="13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Some think it’s about </a:t>
            </a:r>
            <a:r>
              <a:rPr lang="en-US" sz="1300" b="0" i="1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how much</a:t>
            </a:r>
            <a:r>
              <a:rPr lang="en-US" sz="13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you invest, but what truly matters is </a:t>
            </a:r>
            <a:r>
              <a:rPr lang="en-US" sz="1300" b="0" i="1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how often</a:t>
            </a:r>
            <a:r>
              <a:rPr lang="en-US" sz="13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you repeat it.</a:t>
            </a:r>
            <a:endParaRPr sz="13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Many wait until they have a large sum to get started, but the smart investor begins with a small amount and repeats it consistently.</a:t>
            </a:r>
            <a:endParaRPr sz="13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How can you easily do this?</a:t>
            </a:r>
            <a:endParaRPr sz="13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3810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Char char="-"/>
            </a:pPr>
            <a:r>
              <a:rPr lang="en-US" sz="13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Set an amount that won't affect your daily life.</a:t>
            </a:r>
            <a:endParaRPr sz="13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3810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Char char="-"/>
            </a:pPr>
            <a:r>
              <a:rPr lang="en-US" sz="13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Pick a fixed day every month.</a:t>
            </a:r>
            <a:endParaRPr sz="13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3810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Char char="-"/>
            </a:pPr>
            <a:r>
              <a:rPr lang="en-US" sz="13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Turn the process into an automatic habit, without stressing over market fluctuations.</a:t>
            </a:r>
            <a:endParaRPr sz="13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And always remember: </a:t>
            </a:r>
            <a:r>
              <a:rPr lang="en-US" sz="1300" b="0" i="0" u="none" strike="noStrike" cap="non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Consistency</a:t>
            </a:r>
            <a:r>
              <a:rPr lang="en-US" sz="13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is the real engine of financial growth!</a:t>
            </a:r>
            <a:endParaRPr sz="1500" b="0" i="0" u="none" strike="noStrike" cap="non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67" name="Google Shape;67;g3fb4e3c6d27_0_0"/>
          <p:cNvSpPr txBox="1"/>
          <p:nvPr/>
        </p:nvSpPr>
        <p:spPr>
          <a:xfrm>
            <a:off x="1287050" y="1195200"/>
            <a:ext cx="60222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Power of Consistency   I    Date: 12 Oct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b84980652_0_4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3fb84980652_0_4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g3fb84980652_0_4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g3fb84980652_0_4" descr="Picture 4"/>
          <p:cNvPicPr preferRelativeResize="0"/>
          <p:nvPr/>
        </p:nvPicPr>
        <p:blipFill rotWithShape="1">
          <a:blip r:embed="rId3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" name="Google Shape;76;g3fb84980652_0_4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7" name="Google Shape;77;g3fb84980652_0_4"/>
          <p:cNvSpPr txBox="1"/>
          <p:nvPr/>
        </p:nvSpPr>
        <p:spPr>
          <a:xfrm>
            <a:off x="1287050" y="587425"/>
            <a:ext cx="55425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9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Carousel Post - AR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g3fb84980652_0_4"/>
          <p:cNvSpPr txBox="1"/>
          <p:nvPr/>
        </p:nvSpPr>
        <p:spPr>
          <a:xfrm>
            <a:off x="1287050" y="1195200"/>
            <a:ext cx="60222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U.S. Market — By the Numbers  I  Date: 15 Oct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g3fb84980652_0_4"/>
          <p:cNvSpPr txBox="1"/>
          <p:nvPr/>
        </p:nvSpPr>
        <p:spPr>
          <a:xfrm>
            <a:off x="1287049" y="1525925"/>
            <a:ext cx="8410200" cy="4572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الأول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دليلك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المختصر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لاكتشاف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أكبر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سوق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أسهم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في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العالم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! 📊 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الثاني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300" b="0" i="0" u="none" strike="noStrike" cap="none" dirty="0">
              <a:solidFill>
                <a:schemeClr val="dk1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المركز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الأول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عالمياً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بلا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منازع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🌐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استحوذت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أسواق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الأسهم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الأمريكية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على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43.7%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من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إجمالي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القيمة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السوقية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العالمية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للأسهم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الثالث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: </a:t>
            </a: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قوة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مالية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لا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تُضاهى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💰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بلغت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القيمة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السوقية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لأسواق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الأسهم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الأمريكية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68.9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تريليون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دولار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..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(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ما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يعادل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4.4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أضعاف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حجم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السوق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الصينية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،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ثاني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أكبر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سوق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أسهم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في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العالم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)</a:t>
            </a:r>
            <a:endParaRPr sz="1300" b="0" i="1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1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الرابع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: </a:t>
            </a: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خيارات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استثمارية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متنوعة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أكثر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من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5,500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شركة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مدرجة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في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بورصتي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نيويورك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(NYSE)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وناسداك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(NASDAQ).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وتشكل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أكبر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10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شركات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في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مؤشر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S&amp;P 500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نحو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38%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من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وزن</a:t>
            </a:r>
            <a:r>
              <a:rPr lang="en-US" sz="1300" b="0" i="1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المؤشر</a:t>
            </a:r>
            <a:endParaRPr sz="1300" b="0" i="1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1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الخامس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: </a:t>
            </a:r>
            <a:endParaRPr sz="1300" b="0" i="1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البداية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أسهل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ممّا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تتخيل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! 💡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استكشف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مجموعة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مختارة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من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الأسهم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الأمريكية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عبر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تطبيق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eMYAA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،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بحد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أدنى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للإيداع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يبدأ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من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50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دولاراً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فقط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4ea212878359e98f_0_194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h4ea212878359e98f_0_194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h4ea212878359e98f_0_194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h4ea212878359e98f_0_194" descr="Picture 4"/>
          <p:cNvPicPr preferRelativeResize="0"/>
          <p:nvPr/>
        </p:nvPicPr>
        <p:blipFill rotWithShape="1">
          <a:blip r:embed="rId3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" name="Google Shape;88;h4ea212878359e98f_0_194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9" name="Google Shape;89;h4ea212878359e98f_0_194"/>
          <p:cNvSpPr txBox="1"/>
          <p:nvPr/>
        </p:nvSpPr>
        <p:spPr>
          <a:xfrm>
            <a:off x="1287050" y="587425"/>
            <a:ext cx="55425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9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Carousel Post - EN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h4ea212878359e98f_0_194"/>
          <p:cNvSpPr txBox="1"/>
          <p:nvPr/>
        </p:nvSpPr>
        <p:spPr>
          <a:xfrm>
            <a:off x="1287050" y="1213752"/>
            <a:ext cx="8615400" cy="483132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Cover Post: </a:t>
            </a: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Your quick guide to discovering the world's largest stock market! 📊</a:t>
            </a:r>
            <a:endParaRPr sz="13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2: </a:t>
            </a:r>
            <a:endParaRPr sz="1300" b="0" i="0" u="none" strike="noStrike" cap="none" dirty="0">
              <a:solidFill>
                <a:schemeClr val="dk1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Unrivaled Global #1 🌐</a:t>
            </a:r>
            <a:endParaRPr sz="13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U.S. stock markets account for 43.7% of total global stock market capitalization.</a:t>
            </a:r>
            <a:endParaRPr sz="13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3: </a:t>
            </a: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Unmatched Financial Power 💰</a:t>
            </a:r>
            <a:endParaRPr sz="13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market capitalization of U.S. stock markets reached $68.9 trillion...</a:t>
            </a:r>
            <a:endParaRPr sz="13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1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(equivalent to 4.4 times the size of the Chinese market, the second largest stock market in the world).</a:t>
            </a:r>
            <a:endParaRPr sz="13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4: </a:t>
            </a: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Diverse Investment Options 🏢</a:t>
            </a:r>
            <a:endParaRPr sz="13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More than 5,500 companies are listed on the New York Stock Exchange (NYSE) and NASDAQ. The top 10 companies in the S&amp;P 500 index make up approximately 38% of the index's weight.</a:t>
            </a:r>
            <a:endParaRPr sz="13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5: </a:t>
            </a: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Getting started is easier than you think! 💡</a:t>
            </a:r>
            <a:endParaRPr sz="13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Explore a curated selection of U.S. stocks via the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eMYAA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app, with a minimum deposit starting at just $50</a:t>
            </a:r>
            <a:endParaRPr sz="13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h7da663f0f3bf80fa_0_0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h7da663f0f3bf80fa_0_0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h7da663f0f3bf80fa_0_0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h7da663f0f3bf80fa_0_0" descr="Picture 4"/>
          <p:cNvPicPr preferRelativeResize="0"/>
          <p:nvPr/>
        </p:nvPicPr>
        <p:blipFill rotWithShape="1">
          <a:blip r:embed="rId3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9" name="Google Shape;99;h7da663f0f3bf80fa_0_0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0" name="Google Shape;100;h7da663f0f3bf80fa_0_0"/>
          <p:cNvCxnSpPr/>
          <p:nvPr/>
        </p:nvCxnSpPr>
        <p:spPr>
          <a:xfrm>
            <a:off x="5865898" y="1814950"/>
            <a:ext cx="0" cy="411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1" name="Google Shape;101;h7da663f0f3bf80fa_0_0"/>
          <p:cNvSpPr txBox="1"/>
          <p:nvPr/>
        </p:nvSpPr>
        <p:spPr>
          <a:xfrm>
            <a:off x="829917" y="2260807"/>
            <a:ext cx="4514400" cy="272536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النص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ar-BH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في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eMYAA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، </a:t>
            </a:r>
            <a:r>
              <a:rPr lang="ar-BH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نساعدك تبدأ رحلتك الاستثمارية، ونمنحك فرصة للفوز بـ500 دولار تُضاف مباشرة إلى حسابك.</a:t>
            </a:r>
            <a:endParaRPr lang="en-US"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كل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اللي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عليك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تسويه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: </a:t>
            </a: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تتابع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حسابنا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وتسوي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منشن</a:t>
            </a:r>
            <a:endParaRPr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والأهم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يكون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عندك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حساب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خاص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فيك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على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تطبيق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eMYAA</a:t>
            </a:r>
            <a:endParaRPr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لا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تفوّت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الفرصة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وشارك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اليوم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!   </a:t>
            </a: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102" name="Google Shape;102;h7da663f0f3bf80fa_0_0"/>
          <p:cNvSpPr txBox="1"/>
          <p:nvPr/>
        </p:nvSpPr>
        <p:spPr>
          <a:xfrm>
            <a:off x="1287050" y="587425"/>
            <a:ext cx="46608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9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Mention &amp; Win - Animation with VO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h7da663f0f3bf80fa_0_0"/>
          <p:cNvSpPr txBox="1"/>
          <p:nvPr/>
        </p:nvSpPr>
        <p:spPr>
          <a:xfrm>
            <a:off x="6387492" y="2242068"/>
            <a:ext cx="4514400" cy="326474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Script: </a:t>
            </a:r>
            <a:endParaRPr sz="1500" b="0" i="0" u="none" strike="noStrike" cap="none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eMYAA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we’re here to support your investment journey and give you the chance to win $500.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12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All you need to do:</a:t>
            </a:r>
            <a:endParaRPr sz="12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Char char="●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Follow our account and mention a friend </a:t>
            </a:r>
            <a:endParaRPr sz="12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Char char="●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Make sure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you have an active account on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eMYAA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app</a:t>
            </a:r>
            <a:endParaRPr sz="12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Don't miss the opportunity, participate today!</a:t>
            </a:r>
            <a:endParaRPr sz="12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04" name="Google Shape;104;h7da663f0f3bf80fa_0_0"/>
          <p:cNvSpPr txBox="1"/>
          <p:nvPr/>
        </p:nvSpPr>
        <p:spPr>
          <a:xfrm>
            <a:off x="1287050" y="1195200"/>
            <a:ext cx="60222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Mention &amp; Win $500   I   Date: 18 Oct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8AE6D0-E122-2B34-4421-8160B12BF4FA}"/>
              </a:ext>
            </a:extLst>
          </p:cNvPr>
          <p:cNvSpPr txBox="1"/>
          <p:nvPr/>
        </p:nvSpPr>
        <p:spPr>
          <a:xfrm>
            <a:off x="914400" y="57194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4ea212878359e98f_0_29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h4ea212878359e98f_0_29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h4ea212878359e98f_0_29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h4ea212878359e98f_0_29" descr="Picture 4"/>
          <p:cNvPicPr preferRelativeResize="0"/>
          <p:nvPr/>
        </p:nvPicPr>
        <p:blipFill rotWithShape="1">
          <a:blip r:embed="rId3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3" name="Google Shape;113;h4ea212878359e98f_0_29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4" name="Google Shape;114;h4ea212878359e98f_0_29"/>
          <p:cNvCxnSpPr/>
          <p:nvPr/>
        </p:nvCxnSpPr>
        <p:spPr>
          <a:xfrm>
            <a:off x="5865898" y="1814950"/>
            <a:ext cx="0" cy="411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" name="Google Shape;115;h4ea212878359e98f_0_29"/>
          <p:cNvSpPr txBox="1"/>
          <p:nvPr/>
        </p:nvSpPr>
        <p:spPr>
          <a:xfrm>
            <a:off x="829917" y="2152738"/>
            <a:ext cx="4514400" cy="343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النص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ماذا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يحدث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بعد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ما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تضغط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«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شراء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»؟</a:t>
            </a:r>
            <a:endParaRPr dirty="0"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b="1" dirty="0" err="1">
                <a:latin typeface="Rubik"/>
                <a:ea typeface="Rubik"/>
                <a:cs typeface="Rubik"/>
                <a:sym typeface="Rubik"/>
              </a:rPr>
              <a:t>أولًا</a:t>
            </a:r>
            <a:r>
              <a:rPr lang="en-US" b="1" dirty="0">
                <a:latin typeface="Rubik"/>
                <a:ea typeface="Rubik"/>
                <a:cs typeface="Rubik"/>
                <a:sym typeface="Rubik"/>
              </a:rPr>
              <a:t>: </a:t>
            </a:r>
            <a:r>
              <a:rPr lang="en-US" b="1" dirty="0" err="1">
                <a:latin typeface="Rubik"/>
                <a:ea typeface="Rubik"/>
                <a:cs typeface="Rubik"/>
                <a:sym typeface="Rubik"/>
              </a:rPr>
              <a:t>تابع</a:t>
            </a:r>
            <a:r>
              <a:rPr lang="en-US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b="1" dirty="0" err="1">
                <a:latin typeface="Rubik"/>
                <a:ea typeface="Rubik"/>
                <a:cs typeface="Rubik"/>
                <a:sym typeface="Rubik"/>
              </a:rPr>
              <a:t>طلبك</a:t>
            </a:r>
            <a:r>
              <a:rPr lang="en-US" b="1" dirty="0">
                <a:latin typeface="Rubik"/>
                <a:ea typeface="Rubik"/>
                <a:cs typeface="Rubik"/>
                <a:sym typeface="Rubik"/>
              </a:rPr>
              <a:t>.</a:t>
            </a:r>
            <a:endParaRPr b="1" dirty="0"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ادخل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على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Orders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أسفل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التطبيق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،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وتعرّف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على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حالة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طلبك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،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تقدر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تتأكد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إذا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كان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السوق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مفتوحًا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أو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متى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بيفتح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.</a:t>
            </a:r>
            <a:endParaRPr dirty="0"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b="1" dirty="0" err="1">
                <a:latin typeface="Rubik"/>
                <a:ea typeface="Rubik"/>
                <a:cs typeface="Rubik"/>
                <a:sym typeface="Rubik"/>
              </a:rPr>
              <a:t>ثانيًا</a:t>
            </a:r>
            <a:r>
              <a:rPr lang="en-US" b="1" dirty="0">
                <a:latin typeface="Rubik"/>
                <a:ea typeface="Rubik"/>
                <a:cs typeface="Rubik"/>
                <a:sym typeface="Rubik"/>
              </a:rPr>
              <a:t>: </a:t>
            </a:r>
            <a:r>
              <a:rPr lang="en-US" b="1" dirty="0" err="1">
                <a:latin typeface="Rubik"/>
                <a:ea typeface="Rubik"/>
                <a:cs typeface="Rubik"/>
                <a:sym typeface="Rubik"/>
              </a:rPr>
              <a:t>تابع</a:t>
            </a:r>
            <a:r>
              <a:rPr lang="en-US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b="1" dirty="0" err="1">
                <a:latin typeface="Rubik"/>
                <a:ea typeface="Rubik"/>
                <a:cs typeface="Rubik"/>
                <a:sym typeface="Rubik"/>
              </a:rPr>
              <a:t>حركة</a:t>
            </a:r>
            <a:r>
              <a:rPr lang="en-US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b="1" dirty="0" err="1">
                <a:latin typeface="Rubik"/>
                <a:ea typeface="Rubik"/>
                <a:cs typeface="Rubik"/>
                <a:sym typeface="Rubik"/>
              </a:rPr>
              <a:t>السهم</a:t>
            </a:r>
            <a:r>
              <a:rPr lang="en-US" b="1" dirty="0">
                <a:latin typeface="Rubik"/>
                <a:ea typeface="Rubik"/>
                <a:cs typeface="Rubik"/>
                <a:sym typeface="Rubik"/>
              </a:rPr>
              <a:t>.</a:t>
            </a:r>
            <a:endParaRPr b="1" dirty="0"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من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قسم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Trade،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تقدر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تتابع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حركة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السعر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وتشوف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الـChart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بشكل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مباشر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.</a:t>
            </a:r>
            <a:endParaRPr dirty="0"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>
              <a:latin typeface="Rubik"/>
              <a:ea typeface="Rubik"/>
              <a:cs typeface="Rubik"/>
              <a:sym typeface="Rubik"/>
            </a:endParaRPr>
          </a:p>
          <a:p>
            <a:pPr lvl="0" algn="r" rtl="1">
              <a:lnSpc>
                <a:spcPct val="115000"/>
              </a:lnSpc>
              <a:buSzPts val="1100"/>
            </a:pP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من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لحظة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الضغط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على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«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شراء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»…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تقدر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تتابع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كل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ar-BH" dirty="0">
                <a:latin typeface="Rubik"/>
                <a:ea typeface="Rubik"/>
                <a:cs typeface="Rubik"/>
                <a:sym typeface="Rubik"/>
              </a:rPr>
              <a:t>استثمارك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من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خلال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تطبيق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eMYAA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.</a:t>
            </a:r>
            <a:endParaRPr dirty="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6" name="Google Shape;116;h4ea212878359e98f_0_29"/>
          <p:cNvSpPr txBox="1"/>
          <p:nvPr/>
        </p:nvSpPr>
        <p:spPr>
          <a:xfrm>
            <a:off x="1287050" y="587425"/>
            <a:ext cx="73554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900" b="1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What Happens After You Tap “Buy”? - Video 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h4ea212878359e98f_0_29"/>
          <p:cNvSpPr txBox="1"/>
          <p:nvPr/>
        </p:nvSpPr>
        <p:spPr>
          <a:xfrm>
            <a:off x="6387480" y="1899209"/>
            <a:ext cx="4514400" cy="3944157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Script: </a:t>
            </a:r>
            <a:endParaRPr sz="12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dirty="0">
                <a:latin typeface="Montserrat"/>
                <a:ea typeface="Montserrat"/>
                <a:cs typeface="Montserrat"/>
                <a:sym typeface="Montserrat"/>
              </a:rPr>
              <a:t>What Happens After You Tap “Buy”?</a:t>
            </a:r>
            <a:endParaRPr sz="12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1" dirty="0">
                <a:latin typeface="Montserrat"/>
                <a:ea typeface="Montserrat"/>
                <a:cs typeface="Montserrat"/>
                <a:sym typeface="Montserrat"/>
              </a:rPr>
              <a:t>First, track your order.</a:t>
            </a:r>
            <a:endParaRPr sz="1200"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dirty="0">
                <a:latin typeface="Montserrat"/>
                <a:ea typeface="Montserrat"/>
                <a:cs typeface="Montserrat"/>
                <a:sym typeface="Montserrat"/>
              </a:rPr>
              <a:t>Head to **Orders** at the bottom of the app to check your order status and see whether the market is open or when it’s scheduled to open.</a:t>
            </a:r>
            <a:endParaRPr sz="12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1" dirty="0">
                <a:latin typeface="Montserrat"/>
                <a:ea typeface="Montserrat"/>
                <a:cs typeface="Montserrat"/>
                <a:sym typeface="Montserrat"/>
              </a:rPr>
              <a:t>Then, follow the market.</a:t>
            </a:r>
            <a:endParaRPr sz="1200"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dirty="0">
                <a:latin typeface="Montserrat"/>
                <a:ea typeface="Montserrat"/>
                <a:cs typeface="Montserrat"/>
                <a:sym typeface="Montserrat"/>
              </a:rPr>
              <a:t>Go to </a:t>
            </a:r>
            <a:r>
              <a:rPr lang="en-US" sz="1200" b="1" dirty="0">
                <a:latin typeface="Montserrat"/>
                <a:ea typeface="Montserrat"/>
                <a:cs typeface="Montserrat"/>
                <a:sym typeface="Montserrat"/>
              </a:rPr>
              <a:t>Trade</a:t>
            </a:r>
            <a:r>
              <a:rPr lang="en-US" sz="1200" dirty="0">
                <a:latin typeface="Montserrat"/>
                <a:ea typeface="Montserrat"/>
                <a:cs typeface="Montserrat"/>
                <a:sym typeface="Montserrat"/>
              </a:rPr>
              <a:t> to track the stock’s price movement and view its chart in real time.</a:t>
            </a:r>
            <a:endParaRPr sz="12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dirty="0">
              <a:latin typeface="Montserrat"/>
              <a:ea typeface="Montserrat"/>
              <a:cs typeface="Montserrat"/>
              <a:sym typeface="Montserrat"/>
            </a:endParaRPr>
          </a:p>
          <a:p>
            <a:pPr marR="381000" lvl="0">
              <a:lnSpc>
                <a:spcPct val="115000"/>
              </a:lnSpc>
              <a:spcBef>
                <a:spcPts val="1200"/>
              </a:spcBef>
              <a:buSzPts val="1100"/>
            </a:pPr>
            <a:r>
              <a:rPr lang="en-US" sz="1200" dirty="0">
                <a:latin typeface="Montserrat"/>
                <a:ea typeface="Montserrat"/>
                <a:cs typeface="Montserrat"/>
                <a:sym typeface="Montserrat"/>
              </a:rPr>
              <a:t>From placing your order to tracking the market, the </a:t>
            </a:r>
            <a:r>
              <a:rPr lang="en-US" sz="1200" dirty="0" err="1">
                <a:latin typeface="Montserrat"/>
                <a:ea typeface="Montserrat"/>
                <a:cs typeface="Montserrat"/>
                <a:sym typeface="Montserrat"/>
              </a:rPr>
              <a:t>eMYAA</a:t>
            </a:r>
            <a:r>
              <a:rPr lang="en-US" sz="1200" dirty="0">
                <a:latin typeface="Montserrat"/>
                <a:ea typeface="Montserrat"/>
                <a:cs typeface="Montserrat"/>
                <a:sym typeface="Montserrat"/>
              </a:rPr>
              <a:t> app keeps you informed.</a:t>
            </a:r>
            <a:endParaRPr sz="12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h4ea212878359e98f_0_29"/>
          <p:cNvSpPr txBox="1"/>
          <p:nvPr/>
        </p:nvSpPr>
        <p:spPr>
          <a:xfrm>
            <a:off x="1287050" y="1195200"/>
            <a:ext cx="60222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>
                <a:latin typeface="Montserrat Light"/>
                <a:ea typeface="Montserrat Light"/>
                <a:cs typeface="Montserrat Light"/>
                <a:sym typeface="Montserrat Light"/>
              </a:rPr>
              <a:t>What Happens After You Tap “Buy”?</a:t>
            </a:r>
            <a:r>
              <a:rPr lang="en-US" sz="1300" b="0" i="0" u="none" strike="noStrike" cap="non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 I   Date: </a:t>
            </a:r>
            <a:r>
              <a:rPr lang="en-US" sz="1300">
                <a:latin typeface="Montserrat Light"/>
                <a:ea typeface="Montserrat Light"/>
                <a:cs typeface="Montserrat Light"/>
                <a:sym typeface="Montserrat Light"/>
              </a:rPr>
              <a:t>20</a:t>
            </a:r>
            <a:r>
              <a:rPr lang="en-US" sz="1300" b="0" i="0" u="none" strike="noStrike" cap="non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Oct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4ea212878359e98f_0_59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h4ea212878359e98f_0_59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h4ea212878359e98f_0_59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h4ea212878359e98f_0_59" descr="Picture 4"/>
          <p:cNvPicPr preferRelativeResize="0"/>
          <p:nvPr/>
        </p:nvPicPr>
        <p:blipFill rotWithShape="1">
          <a:blip r:embed="rId3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7" name="Google Shape;127;h4ea212878359e98f_0_59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8" name="Google Shape;128;h4ea212878359e98f_0_59"/>
          <p:cNvCxnSpPr/>
          <p:nvPr/>
        </p:nvCxnSpPr>
        <p:spPr>
          <a:xfrm>
            <a:off x="5865898" y="1814950"/>
            <a:ext cx="0" cy="411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9" name="Google Shape;129;h4ea212878359e98f_0_59"/>
          <p:cNvSpPr txBox="1"/>
          <p:nvPr/>
        </p:nvSpPr>
        <p:spPr>
          <a:xfrm>
            <a:off x="829892" y="1806288"/>
            <a:ext cx="4514400" cy="38196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4"/>
              <a:buFont typeface="Arial"/>
              <a:buNone/>
            </a:pPr>
            <a:r>
              <a:rPr lang="en-US" sz="1240" b="0" i="0" u="none" strike="noStrike" cap="none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 الأول:</a:t>
            </a:r>
            <a:endParaRPr sz="1240" b="0" i="0" u="none" strike="noStrike" cap="non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استثماركِ اليوم، أمان الغد لكِ ولأبنائك </a:t>
            </a:r>
            <a:endParaRPr sz="1400" b="0" i="0" u="none" strike="noStrike" cap="non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0" i="0" u="none" strike="noStrike" cap="none">
                <a:solidFill>
                  <a:srgbClr val="8F8F8F"/>
                </a:solidFill>
                <a:latin typeface="Rubik"/>
                <a:ea typeface="Rubik"/>
                <a:cs typeface="Rubik"/>
                <a:sym typeface="Rubik"/>
              </a:rPr>
              <a:t>(عنوان فرعي):</a:t>
            </a:r>
            <a:r>
              <a:rPr lang="en-US" sz="1400" b="0" i="0" u="none" strike="noStrike" cap="non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والبداية أسهل ممّا تتخيلين! </a:t>
            </a:r>
            <a:endParaRPr sz="1400" b="0" i="0" u="none" strike="noStrike" cap="non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4"/>
              <a:buFont typeface="Arial"/>
              <a:buNone/>
            </a:pPr>
            <a:r>
              <a:rPr lang="en-US" sz="1240" b="0" i="0" u="none" strike="noStrike" cap="none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 الثاني:</a:t>
            </a:r>
            <a:endParaRPr sz="1240" b="0" i="0" u="none" strike="noStrike" cap="non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لبدء رحلتك الاستثمارية، لا تحتاجين لرأس مال ضخم أو قضاء ساعات طويلة في تحليل الأسواق  </a:t>
            </a:r>
            <a:endParaRPr sz="1400" b="0" i="0" u="none" strike="noStrike" cap="non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4"/>
              <a:buFont typeface="Arial"/>
              <a:buNone/>
            </a:pPr>
            <a:r>
              <a:rPr lang="en-US" sz="1240" b="0" i="0" u="none" strike="noStrike" cap="none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 الثالث:</a:t>
            </a:r>
            <a:endParaRPr sz="1240" b="0" i="0" u="none" strike="noStrike" cap="non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كل ما تحتاجينه 50 دولار فقط </a:t>
            </a:r>
            <a:endParaRPr sz="1400" b="0" i="0" u="none" strike="noStrike" cap="non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خطوة بسيطة اليوم تعود عليك وعلى عائلتك بالنفع غدًا </a:t>
            </a:r>
            <a:endParaRPr sz="1400" b="0" i="0" u="none" strike="noStrike" cap="non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4"/>
              <a:buFont typeface="Arial"/>
              <a:buNone/>
            </a:pPr>
            <a:r>
              <a:rPr lang="en-US" sz="1240" b="0" i="0" u="none" strike="noStrike" cap="none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 الرابع:</a:t>
            </a:r>
            <a:endParaRPr sz="1240" b="0" i="0" u="none" strike="noStrike" cap="non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ومع كل عملية تداول تقومين بها من خلال تطبيق eMYAA وحتى نهاية ديسمبر، تتضاعف فرص فوزك بجوائز تصل قيمتها لـ5000 دولار </a:t>
            </a:r>
            <a:endParaRPr sz="1400" b="0" i="0" u="none" strike="noStrike" cap="non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30" name="Google Shape;130;h4ea212878359e98f_0_59"/>
          <p:cNvSpPr txBox="1"/>
          <p:nvPr/>
        </p:nvSpPr>
        <p:spPr>
          <a:xfrm>
            <a:off x="1287050" y="587425"/>
            <a:ext cx="46608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9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Carousel Post 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h4ea212878359e98f_0_59"/>
          <p:cNvSpPr txBox="1"/>
          <p:nvPr/>
        </p:nvSpPr>
        <p:spPr>
          <a:xfrm>
            <a:off x="6387492" y="1806288"/>
            <a:ext cx="4514400" cy="379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1: </a:t>
            </a:r>
            <a:endParaRPr sz="1200" b="0" i="0" u="none" strike="noStrike" cap="non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Your investment today is tomorrow’s security for you and your children. </a:t>
            </a: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1" u="none" strike="noStrike" cap="none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(Subtitle):</a:t>
            </a:r>
            <a:r>
              <a:rPr lang="en-US" sz="1200" b="0" i="0" u="none" strike="noStrike" cap="none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And starting is easier than you think!</a:t>
            </a: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2:</a:t>
            </a:r>
            <a:r>
              <a:rPr lang="en-US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 begin your investment journey, you don't need huge capital or long hours analyzing the markets.</a:t>
            </a: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3:</a:t>
            </a:r>
            <a:r>
              <a:rPr lang="en-US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All you need is just $50. A simple step today pays off for you and your family tomorrow.</a:t>
            </a: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4:</a:t>
            </a:r>
            <a:r>
              <a:rPr lang="en-US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With every trade you make through the eMYAA app until the end of December, you double your chances of winning prizes worth up to $5,000!</a:t>
            </a:r>
            <a:endParaRPr sz="1500" b="0" i="0" u="none" strike="noStrike" cap="non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32" name="Google Shape;132;h4ea212878359e98f_0_59"/>
          <p:cNvSpPr txBox="1"/>
          <p:nvPr/>
        </p:nvSpPr>
        <p:spPr>
          <a:xfrm>
            <a:off x="1287050" y="1195200"/>
            <a:ext cx="67518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buSzPts val="1400"/>
            </a:pPr>
            <a:r>
              <a:rPr lang="en-US" sz="1300" dirty="0">
                <a:latin typeface="Montserrat Light"/>
                <a:ea typeface="Montserrat Light"/>
                <a:cs typeface="Montserrat Light"/>
                <a:sym typeface="Montserrat Light"/>
              </a:rPr>
              <a:t>Mothers &amp; Investing: Building a Financial Future I  </a:t>
            </a:r>
            <a:r>
              <a:rPr lang="en-US" sz="1300" b="0" i="0" u="none" strike="noStrike" cap="none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Date: 25 Oct</a:t>
            </a:r>
            <a:endParaRPr sz="1900" b="1" i="0" u="none" strike="noStrike" cap="none" dirty="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4ea212878359e98f_0_211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h4ea212878359e98f_0_211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h4ea212878359e98f_0_211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h4ea212878359e98f_0_211" descr="Picture 4"/>
          <p:cNvPicPr preferRelativeResize="0"/>
          <p:nvPr/>
        </p:nvPicPr>
        <p:blipFill rotWithShape="1">
          <a:blip r:embed="rId3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1" name="Google Shape;141;h4ea212878359e98f_0_211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2" name="Google Shape;142;h4ea212878359e98f_0_211"/>
          <p:cNvCxnSpPr/>
          <p:nvPr/>
        </p:nvCxnSpPr>
        <p:spPr>
          <a:xfrm>
            <a:off x="5865898" y="1814950"/>
            <a:ext cx="0" cy="411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3" name="Google Shape;143;h4ea212878359e98f_0_211"/>
          <p:cNvSpPr txBox="1"/>
          <p:nvPr/>
        </p:nvSpPr>
        <p:spPr>
          <a:xfrm>
            <a:off x="829892" y="1793000"/>
            <a:ext cx="4514400" cy="4179477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4"/>
              <a:buFont typeface="Arial"/>
              <a:buNone/>
            </a:pPr>
            <a:r>
              <a:rPr lang="en-US" sz="124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24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24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الأول</a:t>
            </a:r>
            <a:r>
              <a:rPr lang="en-US" sz="124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24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ابدأ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رحلتك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الاستثمارية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اليوم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بأسلوب</a:t>
            </a:r>
            <a:endParaRPr sz="12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457200" marR="0" lvl="0" indent="-3048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ubik"/>
              <a:buChar char="●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أسهل</a:t>
            </a:r>
            <a:endParaRPr sz="12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457200" marR="0" lvl="0" indent="-3048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ubik"/>
              <a:buChar char="●"/>
            </a:pPr>
            <a:r>
              <a:rPr lang="en-US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أذكى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endParaRPr sz="12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457200" marR="0" lvl="0" indent="-3048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ubik"/>
              <a:buChar char="●"/>
            </a:pPr>
            <a:r>
              <a:rPr lang="en-US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ومتوافق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مع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قيمك</a:t>
            </a:r>
            <a:endParaRPr sz="12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4"/>
              <a:buFont typeface="Arial"/>
              <a:buNone/>
            </a:pPr>
            <a:r>
              <a:rPr lang="en-US" sz="124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24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24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الثاني</a:t>
            </a:r>
            <a:r>
              <a:rPr lang="en-US" sz="124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240" b="0" i="0" u="none" strike="noStrike" cap="none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ar-BH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ومع منصة تمنحك</a:t>
            </a:r>
            <a:endParaRPr lang="en-US" sz="12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171450" marR="0" lvl="0" indent="-17145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سهولة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الاستخدام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: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تجربة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انضمام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وتداول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سريعة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مباشرة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من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هاتفك</a:t>
            </a:r>
            <a:endParaRPr lang="en-US" sz="1200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171450" marR="0" lvl="0" indent="-17145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استثمار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آمن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: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وصول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إلى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أسهم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وصناديق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استثمارية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(ETFs)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ومؤشرات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متوافقة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مع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الشريعة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الإسلامية</a:t>
            </a:r>
            <a:endParaRPr lang="en-US" sz="1200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171450" marR="0" lvl="0" indent="-17145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بداية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مرنة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: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ابدأ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استثمارك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برأس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مال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مناسب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وبكل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مرونة</a:t>
            </a:r>
            <a:endParaRPr sz="12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4"/>
              <a:buFont typeface="Arial"/>
              <a:buNone/>
            </a:pPr>
            <a:r>
              <a:rPr lang="en-US" sz="124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24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24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الثالث</a:t>
            </a:r>
            <a:r>
              <a:rPr lang="en-US" sz="124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24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ومع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كل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عملية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تداول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تقوم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بها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من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خلال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تطبيق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eMYAA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وحتى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نهاية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ديسمبر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،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تتضاعف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فرص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فوزك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بجوائز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تصل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قيمتها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لـ5000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دولار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endParaRPr sz="12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4"/>
              <a:buFont typeface="Arial"/>
              <a:buNone/>
            </a:pPr>
            <a:endParaRPr sz="124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24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24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24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الرابع</a:t>
            </a:r>
            <a:r>
              <a:rPr lang="en-US" sz="124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24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📲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حمل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التطبيق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الآن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وافتح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حسابك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في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دقائق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!</a:t>
            </a:r>
            <a:endParaRPr sz="12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44" name="Google Shape;144;h4ea212878359e98f_0_211"/>
          <p:cNvSpPr txBox="1"/>
          <p:nvPr/>
        </p:nvSpPr>
        <p:spPr>
          <a:xfrm>
            <a:off x="1287050" y="587425"/>
            <a:ext cx="46608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9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Carousel Post 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h4ea212878359e98f_0_211"/>
          <p:cNvSpPr txBox="1"/>
          <p:nvPr/>
        </p:nvSpPr>
        <p:spPr>
          <a:xfrm>
            <a:off x="6387492" y="1618938"/>
            <a:ext cx="4514400" cy="4527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1: </a:t>
            </a:r>
            <a:endParaRPr sz="1200" b="0" i="0" u="none" strike="noStrike" cap="non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Start your investment journey today in a way that is:</a:t>
            </a:r>
            <a:endParaRPr sz="11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• Easier</a:t>
            </a:r>
            <a:endParaRPr sz="11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• Smarter</a:t>
            </a:r>
            <a:endParaRPr sz="11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• Aligned with your values</a:t>
            </a: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2:</a:t>
            </a:r>
            <a:r>
              <a:rPr lang="en-US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With a platform that offers you:</a:t>
            </a:r>
            <a:endParaRPr sz="11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Ease of use: Fast onboarding and seamless trading straight from your phone</a:t>
            </a:r>
            <a:endParaRPr sz="11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Secure investing: Access to Shari'ah-compliant stocks, ETFs, and indices</a:t>
            </a:r>
            <a:endParaRPr sz="11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Flexible start: Begin investing with a suitable capital and full flexibility</a:t>
            </a:r>
            <a:endParaRPr sz="11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3:</a:t>
            </a:r>
            <a:r>
              <a:rPr lang="en-US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With every trade you make through the eMYAA app until the end of December, double your chances to win prizes worth up to $5,000!</a:t>
            </a:r>
            <a:endParaRPr sz="11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4:</a:t>
            </a:r>
            <a:r>
              <a:rPr lang="en-US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📲 </a:t>
            </a:r>
            <a:r>
              <a:rPr lang="en-US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Download the app now and open your account in minutes!</a:t>
            </a:r>
            <a:endParaRPr sz="15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h4ea212878359e98f_0_211"/>
          <p:cNvSpPr txBox="1"/>
          <p:nvPr/>
        </p:nvSpPr>
        <p:spPr>
          <a:xfrm>
            <a:off x="1287050" y="1195200"/>
            <a:ext cx="67518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 new path for your future</a:t>
            </a:r>
            <a:r>
              <a:rPr lang="en-US" sz="1300" b="0" i="0" u="none" strike="noStrike" cap="none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I  Date: 27 Oct</a:t>
            </a:r>
            <a:endParaRPr sz="1900" b="1" i="0" u="none" strike="noStrike" cap="none" dirty="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h4ea212878359e98f_0_108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h4ea212878359e98f_0_108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h4ea212878359e98f_0_108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h4ea212878359e98f_0_108" descr="Picture 4"/>
          <p:cNvPicPr preferRelativeResize="0"/>
          <p:nvPr/>
        </p:nvPicPr>
        <p:blipFill rotWithShape="1">
          <a:blip r:embed="rId3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" name="Google Shape;155;h4ea212878359e98f_0_108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6" name="Google Shape;156;h4ea212878359e98f_0_108"/>
          <p:cNvSpPr txBox="1"/>
          <p:nvPr/>
        </p:nvSpPr>
        <p:spPr>
          <a:xfrm>
            <a:off x="1287050" y="1525925"/>
            <a:ext cx="8410200" cy="469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 الأول:</a:t>
            </a:r>
            <a:endParaRPr sz="13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إليك أهم ما حرّك المشهد المالي هذا الشهر 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 الثاني:</a:t>
            </a:r>
            <a:endParaRPr sz="13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مستويات قياسية تقود الأسواق الأمريكية 🇺🇸</a:t>
            </a:r>
            <a:endParaRPr sz="1300" b="0" i="0" u="none" strike="noStrike" cap="none">
              <a:solidFill>
                <a:schemeClr val="dk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استمرت الأسواق الأمريكية في تحقيق المكاسب مع نهاية أكتوبر، مدفوعة بزخم شركات التكنولوجيا الكبرى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مؤشر S&amp;P 500: أغلق عند (..)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مؤشر ناسداك المركب: سجل (…) نقطة 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مؤشر داو جونز الصناعي: أغلق عند (..)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 الثالث:</a:t>
            </a:r>
            <a:endParaRPr sz="13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لم يقتصر المشهد على الأسواق الأمريكية؛ حيث أظهرت الأسواق الإقليمية والعالمية تحركات لافتة: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457200" marR="0" lvl="0" indent="-3111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تاسي (TASI): أغلق عند (..)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457200" marR="0" lvl="0" indent="-3111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ubik"/>
              <a:buChar char="●"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سوق دبي المالي (DFMGI): سجل (…) نقطة 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457200" marR="0" lvl="0" indent="-3111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ubik"/>
              <a:buChar char="●"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هانغ سينغ (Hang Seng): أغلق عند (..)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 الرابع:</a:t>
            </a:r>
            <a:endParaRPr sz="1300" b="0" i="0" u="none" strike="noStrike" cap="none">
              <a:solidFill>
                <a:schemeClr val="dk1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لكن المشهد لا يخلو من التحديات والمحطات المفصلية ⚖️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شهد شهر أكتوبر قرارات واضحة وتبايناً في البيانات الاقتصادية التي رسمت توجهات الأسواق: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457200" marR="0" lvl="0" indent="-31115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قرار الفيدرالي: ثبت مجلس الاحتياطي الفيدرالي نطاق الفائدة المرجعية عند (...) في اجتماعه بتاريخ (..)</a:t>
            </a:r>
            <a:endParaRPr sz="1300" b="0" i="1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457200" marR="0" lvl="0" indent="-31115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التضخم الأمريكي: أظهرت بيانات CPI الصادرة في (..) تسارعاً سنوياً عند (..) </a:t>
            </a:r>
            <a:endParaRPr sz="1300" b="0" i="1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457200" marR="0" lvl="0" indent="-31115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أسعار النفط: 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57" name="Google Shape;157;h4ea212878359e98f_0_108"/>
          <p:cNvSpPr txBox="1"/>
          <p:nvPr/>
        </p:nvSpPr>
        <p:spPr>
          <a:xfrm>
            <a:off x="1287050" y="587425"/>
            <a:ext cx="55425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9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Carousel Post - AR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h4ea212878359e98f_0_108"/>
          <p:cNvSpPr txBox="1"/>
          <p:nvPr/>
        </p:nvSpPr>
        <p:spPr>
          <a:xfrm>
            <a:off x="1287050" y="1195200"/>
            <a:ext cx="60222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Market Pulse  I   Date: 29 Oct</a:t>
            </a:r>
            <a:endParaRPr sz="13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h4ea212878359e98f_0_120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h4ea212878359e98f_0_120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h4ea212878359e98f_0_120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h4ea212878359e98f_0_120" descr="Picture 4"/>
          <p:cNvPicPr preferRelativeResize="0"/>
          <p:nvPr/>
        </p:nvPicPr>
        <p:blipFill rotWithShape="1">
          <a:blip r:embed="rId3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" name="Google Shape;167;h4ea212878359e98f_0_120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8" name="Google Shape;168;h4ea212878359e98f_0_120"/>
          <p:cNvSpPr txBox="1"/>
          <p:nvPr/>
        </p:nvSpPr>
        <p:spPr>
          <a:xfrm>
            <a:off x="1287050" y="3150013"/>
            <a:ext cx="8410200" cy="958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 الخامس:</a:t>
            </a:r>
            <a:endParaRPr sz="1400" b="0" i="0" u="none" strike="noStrike" cap="none">
              <a:solidFill>
                <a:schemeClr val="dk1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فهمك للمشهد المالي يساعدك على اتخاذ قرارات استثمارية أكثر دقة وتوازناً.</a:t>
            </a:r>
            <a:endParaRPr sz="14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مع eMYAA</a:t>
            </a:r>
            <a:endParaRPr sz="14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ابقَ على اطلاع 💡</a:t>
            </a:r>
            <a:endParaRPr sz="14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69" name="Google Shape;169;h4ea212878359e98f_0_120"/>
          <p:cNvSpPr txBox="1"/>
          <p:nvPr/>
        </p:nvSpPr>
        <p:spPr>
          <a:xfrm>
            <a:off x="1287050" y="587425"/>
            <a:ext cx="55425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9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Carousel Post - AR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h4ea212878359e98f_0_120"/>
          <p:cNvSpPr txBox="1"/>
          <p:nvPr/>
        </p:nvSpPr>
        <p:spPr>
          <a:xfrm>
            <a:off x="1287050" y="1195200"/>
            <a:ext cx="60222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Market Pulse  I   Date: 29 Oct</a:t>
            </a:r>
            <a:endParaRPr sz="13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4ea212878359e98f_0_131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h4ea212878359e98f_0_131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h4ea212878359e98f_0_131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h4ea212878359e98f_0_131" descr="Picture 4"/>
          <p:cNvPicPr preferRelativeResize="0"/>
          <p:nvPr/>
        </p:nvPicPr>
        <p:blipFill rotWithShape="1">
          <a:blip r:embed="rId3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9" name="Google Shape;179;h4ea212878359e98f_0_131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0" name="Google Shape;180;h4ea212878359e98f_0_131"/>
          <p:cNvSpPr txBox="1"/>
          <p:nvPr/>
        </p:nvSpPr>
        <p:spPr>
          <a:xfrm>
            <a:off x="1287050" y="587425"/>
            <a:ext cx="55425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9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Carousel Post - EN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h4ea212878359e98f_0_131"/>
          <p:cNvSpPr txBox="1"/>
          <p:nvPr/>
        </p:nvSpPr>
        <p:spPr>
          <a:xfrm>
            <a:off x="1287050" y="1145913"/>
            <a:ext cx="8410200" cy="532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Cover Post: </a:t>
            </a:r>
            <a:endParaRPr sz="15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Here is what moved the financial landscape this month 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2: </a:t>
            </a:r>
            <a:endParaRPr sz="1500" b="0" i="0" u="none" strike="noStrike" cap="none">
              <a:solidFill>
                <a:schemeClr val="dk1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Record Levels Driving U.S. Markets 🇺🇸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U.S. markets continued to post gains through the end of October, driven by momentum in major tech stocks: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S&amp;P 500 Index: Closed at (...)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Nasdaq Composite Index: Reached (...) points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Dow Jones Industrial Average: Closed at (...)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3: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momentum was not limited to U.S. markets; regional and global markets also showed notable movements: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Tadawul All Share Index (TASI): Closed at (...)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Dubai Financial Market General Index (DFMGI): Reached (...) points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Hang Seng Index: Closed at (...)</a:t>
            </a:r>
            <a:endParaRPr sz="13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4: </a:t>
            </a:r>
            <a:endParaRPr sz="13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However, the landscape is not without its challenges and key turning points ⚖️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October witnessed decisive moves and diverging economic data that shaped market direction: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Federal Reserve Decision: The Federal Reserve held benchmark interest rates steady at (...) during its meeting on (...)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U.S. Inflation: CPI data released on (...) showed an annual acceleration of (...)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Oil Prices: (...)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h4ea212878359e98f_0_151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h4ea212878359e98f_0_151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h4ea212878359e98f_0_151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h4ea212878359e98f_0_151" descr="Picture 4"/>
          <p:cNvPicPr preferRelativeResize="0"/>
          <p:nvPr/>
        </p:nvPicPr>
        <p:blipFill rotWithShape="1">
          <a:blip r:embed="rId3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0" name="Google Shape;190;h4ea212878359e98f_0_151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1" name="Google Shape;191;h4ea212878359e98f_0_151"/>
          <p:cNvSpPr txBox="1"/>
          <p:nvPr/>
        </p:nvSpPr>
        <p:spPr>
          <a:xfrm>
            <a:off x="1287050" y="587425"/>
            <a:ext cx="55425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9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Carousel Post - EN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h4ea212878359e98f_0_151"/>
          <p:cNvSpPr txBox="1"/>
          <p:nvPr/>
        </p:nvSpPr>
        <p:spPr>
          <a:xfrm>
            <a:off x="1287050" y="2731651"/>
            <a:ext cx="8410200" cy="179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5: </a:t>
            </a:r>
            <a:endParaRPr sz="13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Understanding the financial landscape helps you make more precise and balanced investment decisions.</a:t>
            </a:r>
            <a:endParaRPr sz="13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With eMYAA</a:t>
            </a:r>
            <a:endParaRPr sz="13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Stay informed 💡</a:t>
            </a:r>
            <a:endParaRPr sz="13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84a60ae80_0_94"/>
          <p:cNvSpPr txBox="1"/>
          <p:nvPr/>
        </p:nvSpPr>
        <p:spPr>
          <a:xfrm>
            <a:off x="515950" y="6107550"/>
            <a:ext cx="1968600" cy="2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THANK YOU!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g3e84a60ae80_0_94" descr="Picture 4"/>
          <p:cNvPicPr preferRelativeResize="0"/>
          <p:nvPr/>
        </p:nvPicPr>
        <p:blipFill rotWithShape="1">
          <a:blip r:embed="rId4">
            <a:alphaModFix/>
          </a:blip>
          <a:srcRect l="27141" t="27158" r="27419" b="31954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g3e84a60ae80_0_94" title="Ajyad+Capital+Logo+white.png"/>
          <p:cNvPicPr preferRelativeResize="0"/>
          <p:nvPr/>
        </p:nvPicPr>
        <p:blipFill rotWithShape="1">
          <a:blip r:embed="rId5">
            <a:alphaModFix/>
          </a:blip>
          <a:srcRect l="-12561" t="-41466" r="-18690" b="-39137"/>
          <a:stretch/>
        </p:blipFill>
        <p:spPr>
          <a:xfrm>
            <a:off x="1605441" y="379923"/>
            <a:ext cx="1663273" cy="659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g3e84a60ae80_0_94" title="Gold+&amp;+White+Logo.png"/>
          <p:cNvPicPr preferRelativeResize="0"/>
          <p:nvPr/>
        </p:nvPicPr>
        <p:blipFill rotWithShape="1">
          <a:blip r:embed="rId6">
            <a:alphaModFix/>
          </a:blip>
          <a:srcRect t="14763" b="14770"/>
          <a:stretch/>
        </p:blipFill>
        <p:spPr>
          <a:xfrm>
            <a:off x="22988" y="279913"/>
            <a:ext cx="1915617" cy="759326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3e84a60ae80_0_94"/>
          <p:cNvSpPr txBox="1"/>
          <p:nvPr/>
        </p:nvSpPr>
        <p:spPr>
          <a:xfrm>
            <a:off x="424475" y="4658400"/>
            <a:ext cx="519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eMYAA x AJYAD</a:t>
            </a:r>
            <a:endParaRPr sz="1800" b="1" i="0" u="none" strike="noStrike" cap="non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2" name="Google Shape;202;g3e84a60ae80_0_94"/>
          <p:cNvSpPr txBox="1"/>
          <p:nvPr/>
        </p:nvSpPr>
        <p:spPr>
          <a:xfrm>
            <a:off x="424475" y="5213625"/>
            <a:ext cx="3719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October content calendar  </a:t>
            </a:r>
            <a:endParaRPr sz="20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3" name="Google Shape;203;g3e84a60ae80_0_94"/>
          <p:cNvCxnSpPr/>
          <p:nvPr/>
        </p:nvCxnSpPr>
        <p:spPr>
          <a:xfrm>
            <a:off x="4143578" y="5447814"/>
            <a:ext cx="319200" cy="33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4D4343"/>
      </a:lt2>
      <a:accent1>
        <a:srgbClr val="F59696"/>
      </a:accent1>
      <a:accent2>
        <a:srgbClr val="E67878"/>
      </a:accent2>
      <a:accent3>
        <a:srgbClr val="C0504F"/>
      </a:accent3>
      <a:accent4>
        <a:srgbClr val="9B3433"/>
      </a:accent4>
      <a:accent5>
        <a:srgbClr val="8F8F8F"/>
      </a:accent5>
      <a:accent6>
        <a:srgbClr val="6E6E6E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59696"/>
      </a:accent1>
      <a:accent2>
        <a:srgbClr val="E67878"/>
      </a:accent2>
      <a:accent3>
        <a:srgbClr val="C0504F"/>
      </a:accent3>
      <a:accent4>
        <a:srgbClr val="9B3433"/>
      </a:accent4>
      <a:accent5>
        <a:srgbClr val="8F8F8F"/>
      </a:accent5>
      <a:accent6>
        <a:srgbClr val="6E6E6E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2074</Words>
  <Application>Microsoft Macintosh PowerPoint</Application>
  <PresentationFormat>Widescreen</PresentationFormat>
  <Paragraphs>327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Montserrat Light</vt:lpstr>
      <vt:lpstr>Rubik SemiBold</vt:lpstr>
      <vt:lpstr>Montserrat SemiBold</vt:lpstr>
      <vt:lpstr>Arial</vt:lpstr>
      <vt:lpstr>Rubik Medium</vt:lpstr>
      <vt:lpstr>Lato</vt:lpstr>
      <vt:lpstr>Calibri</vt:lpstr>
      <vt:lpstr>Montserrat</vt:lpstr>
      <vt:lpstr>Rubik</vt:lpstr>
      <vt:lpstr>Montserrat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Zahra</dc:creator>
  <cp:lastModifiedBy>Hatem Isa Hatem Abbas Hatem</cp:lastModifiedBy>
  <cp:revision>1</cp:revision>
  <dcterms:modified xsi:type="dcterms:W3CDTF">2026-09-29T10:52:00Z</dcterms:modified>
</cp:coreProperties>
</file>