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A2F"/>
        </a:solidFill>
        <a:effectLst/>
      </p:bgPr>
    </p:bg>
    <p:spTree>
      <p:nvGrpSpPr>
        <p:cNvPr id="1" name=""/>
        <p:cNvGrpSpPr/>
        <p:nvPr/>
      </p:nvGrpSpPr>
      <p:grpSpPr/>
      <p:sp>
        <p:nvSpPr>
          <p:cNvPr id="2" name="TextBox 1"/>
          <p:cNvSpPr txBox="1"/>
          <p:nvPr/>
        </p:nvSpPr>
        <p:spPr>
          <a:xfrm>
            <a:off x="548640" y="3291840"/>
            <a:ext cx="17190720" cy="457200"/>
          </a:xfrm>
          <a:prstGeom prst="rect">
            <a:avLst/>
          </a:prstGeom>
          <a:noFill/>
        </p:spPr>
        <p:txBody>
          <a:bodyPr wrap="square">
            <a:spAutoFit/>
          </a:bodyPr>
          <a:lstStyle/>
          <a:p>
            <a:pPr algn="l"/>
            <a:r>
              <a:rPr sz="1600" b="1" i="0">
                <a:solidFill>
                  <a:srgbClr val="C9A227"/>
                </a:solidFill>
                <a:latin typeface="Arial"/>
              </a:rPr>
              <a:t>eMYAA MONTHLY PERFORMANCE REPORT</a:t>
            </a:r>
          </a:p>
        </p:txBody>
      </p:sp>
      <p:sp>
        <p:nvSpPr>
          <p:cNvPr id="3" name="TextBox 2"/>
          <p:cNvSpPr txBox="1"/>
          <p:nvPr/>
        </p:nvSpPr>
        <p:spPr>
          <a:xfrm>
            <a:off x="548640" y="3749039"/>
            <a:ext cx="17190720" cy="1188720"/>
          </a:xfrm>
          <a:prstGeom prst="rect">
            <a:avLst/>
          </a:prstGeom>
          <a:noFill/>
        </p:spPr>
        <p:txBody>
          <a:bodyPr wrap="square">
            <a:spAutoFit/>
          </a:bodyPr>
          <a:lstStyle/>
          <a:p>
            <a:pPr algn="l"/>
            <a:r>
              <a:rPr sz="4400" b="1" i="0">
                <a:solidFill>
                  <a:srgbClr val="FFFFFF"/>
                </a:solidFill>
                <a:latin typeface="Arial"/>
              </a:rPr>
              <a:t>July 2026 Filing</a:t>
            </a:r>
          </a:p>
        </p:txBody>
      </p:sp>
      <p:sp>
        <p:nvSpPr>
          <p:cNvPr id="4" name="TextBox 3"/>
          <p:cNvSpPr txBox="1"/>
          <p:nvPr/>
        </p:nvSpPr>
        <p:spPr>
          <a:xfrm>
            <a:off x="548640" y="4663440"/>
            <a:ext cx="17190720" cy="457200"/>
          </a:xfrm>
          <a:prstGeom prst="rect">
            <a:avLst/>
          </a:prstGeom>
          <a:noFill/>
        </p:spPr>
        <p:txBody>
          <a:bodyPr wrap="square">
            <a:spAutoFit/>
          </a:bodyPr>
          <a:lstStyle/>
          <a:p>
            <a:pPr algn="l"/>
            <a:r>
              <a:rPr sz="1600" b="0" i="0">
                <a:solidFill>
                  <a:srgbClr val="C7CEDD"/>
                </a:solidFill>
                <a:latin typeface="Arial"/>
              </a:rPr>
              <a:t>Covering June 2026 performance and cumulative results since launch (14 May - 4 Jul 2026)</a:t>
            </a:r>
          </a:p>
        </p:txBody>
      </p:sp>
      <p:sp>
        <p:nvSpPr>
          <p:cNvPr id="5" name="Rectangle 4"/>
          <p:cNvSpPr/>
          <p:nvPr/>
        </p:nvSpPr>
        <p:spPr>
          <a:xfrm>
            <a:off x="548640" y="5486400"/>
            <a:ext cx="640080" cy="35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5669280"/>
            <a:ext cx="17190720" cy="365760"/>
          </a:xfrm>
          <a:prstGeom prst="rect">
            <a:avLst/>
          </a:prstGeom>
          <a:noFill/>
        </p:spPr>
        <p:txBody>
          <a:bodyPr wrap="square">
            <a:spAutoFit/>
          </a:bodyPr>
          <a:lstStyle/>
          <a:p>
            <a:pPr algn="l"/>
            <a:r>
              <a:rPr sz="1300" b="0" i="0">
                <a:solidFill>
                  <a:srgbClr val="C7CEDD"/>
                </a:solidFill>
                <a:latin typeface="Arial"/>
              </a:rPr>
              <a:t>Prepared for the Board | Ajyad Capital B.S.C. (Closed)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73152" cy="68580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8229600" cy="640080"/>
          </a:xfrm>
          <a:prstGeom prst="rect">
            <a:avLst/>
          </a:prstGeom>
          <a:noFill/>
        </p:spPr>
        <p:txBody>
          <a:bodyPr wrap="square">
            <a:spAutoFit/>
          </a:bodyPr>
          <a:lstStyle/>
          <a:p>
            <a:pPr algn="l"/>
            <a:r>
              <a:rPr sz="3400" b="1" i="0">
                <a:solidFill>
                  <a:srgbClr val="121A2F"/>
                </a:solidFill>
                <a:latin typeface="Arial"/>
              </a:rPr>
              <a:t>eMYAA Performance</a:t>
            </a:r>
          </a:p>
        </p:txBody>
      </p:sp>
      <p:sp>
        <p:nvSpPr>
          <p:cNvPr id="5" name="TextBox 4"/>
          <p:cNvSpPr txBox="1"/>
          <p:nvPr/>
        </p:nvSpPr>
        <p:spPr>
          <a:xfrm>
            <a:off x="749808" y="960120"/>
            <a:ext cx="8229600" cy="320040"/>
          </a:xfrm>
          <a:prstGeom prst="rect">
            <a:avLst/>
          </a:prstGeom>
          <a:noFill/>
        </p:spPr>
        <p:txBody>
          <a:bodyPr wrap="square">
            <a:spAutoFit/>
          </a:bodyPr>
          <a:lstStyle/>
          <a:p>
            <a:pPr algn="l"/>
            <a:r>
              <a:rPr sz="1300" b="1" i="0">
                <a:solidFill>
                  <a:srgbClr val="5A6A85"/>
                </a:solidFill>
                <a:latin typeface="Arial"/>
              </a:rPr>
              <a:t>Cumulative since launch | Reporting period 14 May - 4 Jul 2026</a:t>
            </a:r>
          </a:p>
        </p:txBody>
      </p:sp>
      <p:sp>
        <p:nvSpPr>
          <p:cNvPr id="6" name="TextBox 5"/>
          <p:cNvSpPr txBox="1"/>
          <p:nvPr/>
        </p:nvSpPr>
        <p:spPr>
          <a:xfrm>
            <a:off x="14356080" y="365760"/>
            <a:ext cx="3383280" cy="548640"/>
          </a:xfrm>
          <a:prstGeom prst="rect">
            <a:avLst/>
          </a:prstGeom>
          <a:noFill/>
        </p:spPr>
        <p:txBody>
          <a:bodyPr wrap="square">
            <a:spAutoFit/>
          </a:bodyPr>
          <a:lstStyle/>
          <a:p>
            <a:pPr algn="r"/>
            <a:r>
              <a:rPr sz="2000" b="1" i="0">
                <a:solidFill>
                  <a:srgbClr val="121A2F"/>
                </a:solidFill>
                <a:latin typeface="Arial"/>
              </a:rPr>
              <a:t>AJYAD CAPITAL</a:t>
            </a:r>
          </a:p>
        </p:txBody>
      </p:sp>
      <p:sp>
        <p:nvSpPr>
          <p:cNvPr id="7" name="Rectangle 6"/>
          <p:cNvSpPr/>
          <p:nvPr/>
        </p:nvSpPr>
        <p:spPr>
          <a:xfrm>
            <a:off x="548640" y="1508760"/>
            <a:ext cx="4057650" cy="1234440"/>
          </a:xfrm>
          <a:prstGeom prst="rect">
            <a:avLst/>
          </a:prstGeom>
          <a:gradFill rotWithShape="1">
            <a:gsLst>
              <a:gs pos="0">
                <a:srgbClr val="121A2F"/>
              </a:gs>
              <a:gs pos="100000">
                <a:srgbClr val="2E4A8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3000" b="1">
                <a:solidFill>
                  <a:srgbClr val="FFFFFF"/>
                </a:solidFill>
                <a:latin typeface="Arial"/>
              </a:rPr>
              <a:t>6</a:t>
            </a:r>
          </a:p>
          <a:p>
            <a:pPr algn="ctr"/>
            <a:r>
              <a:rPr sz="1300">
                <a:solidFill>
                  <a:srgbClr val="FFFFFF"/>
                </a:solidFill>
                <a:latin typeface="Arial"/>
              </a:rPr>
              <a:t>Total Funded Users</a:t>
            </a:r>
          </a:p>
          <a:p>
            <a:pPr algn="ctr"/>
            <a:r>
              <a:rPr sz="1000" i="1">
                <a:solidFill>
                  <a:srgbClr val="C7CEDD"/>
                </a:solidFill>
                <a:latin typeface="Arial"/>
              </a:rPr>
              <a:t>Onboarding</a:t>
            </a:r>
          </a:p>
        </p:txBody>
      </p:sp>
      <p:sp>
        <p:nvSpPr>
          <p:cNvPr id="8" name="Rectangle 7"/>
          <p:cNvSpPr/>
          <p:nvPr/>
        </p:nvSpPr>
        <p:spPr>
          <a:xfrm>
            <a:off x="4926330" y="1508760"/>
            <a:ext cx="4057650" cy="1234440"/>
          </a:xfrm>
          <a:prstGeom prst="rect">
            <a:avLst/>
          </a:prstGeom>
          <a:gradFill rotWithShape="1">
            <a:gsLst>
              <a:gs pos="0">
                <a:srgbClr val="121A2F"/>
              </a:gs>
              <a:gs pos="100000">
                <a:srgbClr val="2E4A8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3000" b="1">
                <a:solidFill>
                  <a:srgbClr val="FFFFFF"/>
                </a:solidFill>
                <a:latin typeface="Arial"/>
              </a:rPr>
              <a:t>Pending</a:t>
            </a:r>
          </a:p>
          <a:p>
            <a:pPr algn="ctr"/>
            <a:r>
              <a:rPr sz="1300">
                <a:solidFill>
                  <a:srgbClr val="FFFFFF"/>
                </a:solidFill>
                <a:latin typeface="Arial"/>
              </a:rPr>
              <a:t>Total Platform AUM</a:t>
            </a:r>
          </a:p>
          <a:p>
            <a:pPr algn="ctr"/>
            <a:r>
              <a:rPr sz="1000" i="1">
                <a:solidFill>
                  <a:srgbClr val="C7CEDD"/>
                </a:solidFill>
                <a:latin typeface="Arial"/>
              </a:rPr>
              <a:t>Asset Dynamics - not yet tracked</a:t>
            </a:r>
          </a:p>
        </p:txBody>
      </p:sp>
      <p:sp>
        <p:nvSpPr>
          <p:cNvPr id="9" name="Rectangle 8"/>
          <p:cNvSpPr/>
          <p:nvPr/>
        </p:nvSpPr>
        <p:spPr>
          <a:xfrm>
            <a:off x="9304020" y="1508760"/>
            <a:ext cx="4057650" cy="1234440"/>
          </a:xfrm>
          <a:prstGeom prst="rect">
            <a:avLst/>
          </a:prstGeom>
          <a:gradFill rotWithShape="1">
            <a:gsLst>
              <a:gs pos="0">
                <a:srgbClr val="121A2F"/>
              </a:gs>
              <a:gs pos="100000">
                <a:srgbClr val="2E4A8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3000" b="1">
                <a:solidFill>
                  <a:srgbClr val="FFFFFF"/>
                </a:solidFill>
                <a:latin typeface="Arial"/>
              </a:rPr>
              <a:t>22</a:t>
            </a:r>
          </a:p>
          <a:p>
            <a:pPr algn="ctr"/>
            <a:r>
              <a:rPr sz="1300">
                <a:solidFill>
                  <a:srgbClr val="FFFFFF"/>
                </a:solidFill>
                <a:latin typeface="Arial"/>
              </a:rPr>
              <a:t>Total Onboarded Users</a:t>
            </a:r>
          </a:p>
          <a:p>
            <a:pPr algn="ctr"/>
            <a:r>
              <a:rPr sz="1000" i="1">
                <a:solidFill>
                  <a:srgbClr val="C7CEDD"/>
                </a:solidFill>
                <a:latin typeface="Arial"/>
              </a:rPr>
              <a:t>Eligible Only</a:t>
            </a:r>
          </a:p>
        </p:txBody>
      </p:sp>
      <p:sp>
        <p:nvSpPr>
          <p:cNvPr id="10" name="Rectangle 9"/>
          <p:cNvSpPr/>
          <p:nvPr/>
        </p:nvSpPr>
        <p:spPr>
          <a:xfrm>
            <a:off x="13681710" y="1508760"/>
            <a:ext cx="4057650" cy="1234440"/>
          </a:xfrm>
          <a:prstGeom prst="rect">
            <a:avLst/>
          </a:prstGeom>
          <a:gradFill rotWithShape="1">
            <a:gsLst>
              <a:gs pos="0">
                <a:srgbClr val="121A2F"/>
              </a:gs>
              <a:gs pos="100000">
                <a:srgbClr val="2E4A8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3000" b="1">
                <a:solidFill>
                  <a:srgbClr val="FFFFFF"/>
                </a:solidFill>
                <a:latin typeface="Arial"/>
              </a:rPr>
              <a:t>218</a:t>
            </a:r>
          </a:p>
          <a:p>
            <a:pPr algn="ctr"/>
            <a:r>
              <a:rPr sz="1300">
                <a:solidFill>
                  <a:srgbClr val="FFFFFF"/>
                </a:solidFill>
                <a:latin typeface="Arial"/>
              </a:rPr>
              <a:t>Total App Downloads</a:t>
            </a:r>
          </a:p>
          <a:p>
            <a:pPr algn="ctr"/>
            <a:r>
              <a:rPr sz="1000" i="1">
                <a:solidFill>
                  <a:srgbClr val="C7CEDD"/>
                </a:solidFill>
                <a:latin typeface="Arial"/>
              </a:rPr>
              <a:t>App Store &amp; Play Store</a:t>
            </a:r>
          </a:p>
        </p:txBody>
      </p:sp>
      <p:sp>
        <p:nvSpPr>
          <p:cNvPr id="11" name="Rectangle 10"/>
          <p:cNvSpPr/>
          <p:nvPr/>
        </p:nvSpPr>
        <p:spPr>
          <a:xfrm>
            <a:off x="548640" y="2971800"/>
            <a:ext cx="4057650" cy="9601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971800"/>
            <a:ext cx="4057650" cy="960120"/>
          </a:xfrm>
          <a:prstGeom prst="rect">
            <a:avLst/>
          </a:prstGeom>
          <a:noFill/>
        </p:spPr>
        <p:txBody>
          <a:bodyPr wrap="square" anchor="ctr">
            <a:spAutoFit/>
          </a:bodyPr>
          <a:lstStyle/>
          <a:p>
            <a:pPr algn="ctr"/>
            <a:r>
              <a:rPr sz="2600" b="1">
                <a:solidFill>
                  <a:srgbClr val="121A2F"/>
                </a:solidFill>
                <a:latin typeface="Arial"/>
              </a:rPr>
              <a:t>78.6%</a:t>
            </a:r>
          </a:p>
          <a:p>
            <a:pPr algn="ctr"/>
            <a:r>
              <a:rPr sz="1200">
                <a:solidFill>
                  <a:srgbClr val="121A2F"/>
                </a:solidFill>
                <a:latin typeface="Arial"/>
              </a:rPr>
              <a:t>KYC Approval Rate*</a:t>
            </a:r>
          </a:p>
        </p:txBody>
      </p:sp>
      <p:sp>
        <p:nvSpPr>
          <p:cNvPr id="13" name="Rectangle 12"/>
          <p:cNvSpPr/>
          <p:nvPr/>
        </p:nvSpPr>
        <p:spPr>
          <a:xfrm>
            <a:off x="4926330" y="2971800"/>
            <a:ext cx="4057650" cy="9601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26330" y="2971800"/>
            <a:ext cx="4057650" cy="960120"/>
          </a:xfrm>
          <a:prstGeom prst="rect">
            <a:avLst/>
          </a:prstGeom>
          <a:noFill/>
        </p:spPr>
        <p:txBody>
          <a:bodyPr wrap="square" anchor="ctr">
            <a:spAutoFit/>
          </a:bodyPr>
          <a:lstStyle/>
          <a:p>
            <a:pPr algn="ctr"/>
            <a:r>
              <a:rPr sz="2600" b="1">
                <a:solidFill>
                  <a:srgbClr val="121A2F"/>
                </a:solidFill>
                <a:latin typeface="Arial"/>
              </a:rPr>
              <a:t>18</a:t>
            </a:r>
          </a:p>
          <a:p>
            <a:pPr algn="ctr"/>
            <a:r>
              <a:rPr sz="1200">
                <a:solidFill>
                  <a:srgbClr val="121A2F"/>
                </a:solidFill>
                <a:latin typeface="Arial"/>
              </a:rPr>
              <a:t>Total Trades Executed</a:t>
            </a:r>
          </a:p>
        </p:txBody>
      </p:sp>
      <p:sp>
        <p:nvSpPr>
          <p:cNvPr id="15" name="Rectangle 14"/>
          <p:cNvSpPr/>
          <p:nvPr/>
        </p:nvSpPr>
        <p:spPr>
          <a:xfrm>
            <a:off x="9304020" y="2971800"/>
            <a:ext cx="4057650" cy="9601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4020" y="2971800"/>
            <a:ext cx="4057650" cy="960120"/>
          </a:xfrm>
          <a:prstGeom prst="rect">
            <a:avLst/>
          </a:prstGeom>
          <a:noFill/>
        </p:spPr>
        <p:txBody>
          <a:bodyPr wrap="square" anchor="ctr">
            <a:spAutoFit/>
          </a:bodyPr>
          <a:lstStyle/>
          <a:p>
            <a:pPr algn="ctr"/>
            <a:r>
              <a:rPr sz="2600" b="1">
                <a:solidFill>
                  <a:srgbClr val="121A2F"/>
                </a:solidFill>
                <a:latin typeface="Arial"/>
              </a:rPr>
              <a:t>24 / 24</a:t>
            </a:r>
          </a:p>
          <a:p>
            <a:pPr algn="ctr"/>
            <a:r>
              <a:rPr sz="1200">
                <a:solidFill>
                  <a:srgbClr val="121A2F"/>
                </a:solidFill>
                <a:latin typeface="Arial"/>
              </a:rPr>
              <a:t>Support Tickets</a:t>
            </a:r>
          </a:p>
        </p:txBody>
      </p:sp>
      <p:sp>
        <p:nvSpPr>
          <p:cNvPr id="17" name="Rectangle 16"/>
          <p:cNvSpPr/>
          <p:nvPr/>
        </p:nvSpPr>
        <p:spPr>
          <a:xfrm>
            <a:off x="13681710" y="2971800"/>
            <a:ext cx="4057650" cy="9601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681710" y="2971800"/>
            <a:ext cx="4057650" cy="960120"/>
          </a:xfrm>
          <a:prstGeom prst="rect">
            <a:avLst/>
          </a:prstGeom>
          <a:noFill/>
        </p:spPr>
        <p:txBody>
          <a:bodyPr wrap="square" anchor="ctr">
            <a:spAutoFit/>
          </a:bodyPr>
          <a:lstStyle/>
          <a:p>
            <a:pPr algn="ctr"/>
            <a:r>
              <a:rPr sz="2600" b="1">
                <a:solidFill>
                  <a:srgbClr val="B42A2A"/>
                </a:solidFill>
                <a:latin typeface="Arial"/>
              </a:rPr>
              <a:t>93</a:t>
            </a:r>
          </a:p>
          <a:p>
            <a:pPr algn="ctr"/>
            <a:r>
              <a:rPr sz="1200">
                <a:solidFill>
                  <a:srgbClr val="121A2F"/>
                </a:solidFill>
                <a:latin typeface="Arial"/>
              </a:rPr>
              <a:t>Incomplete KYC</a:t>
            </a:r>
          </a:p>
        </p:txBody>
      </p:sp>
      <p:sp>
        <p:nvSpPr>
          <p:cNvPr id="19" name="TextBox 18"/>
          <p:cNvSpPr txBox="1"/>
          <p:nvPr/>
        </p:nvSpPr>
        <p:spPr>
          <a:xfrm>
            <a:off x="548640" y="4005072"/>
            <a:ext cx="17190720" cy="274320"/>
          </a:xfrm>
          <a:prstGeom prst="rect">
            <a:avLst/>
          </a:prstGeom>
          <a:noFill/>
        </p:spPr>
        <p:txBody>
          <a:bodyPr wrap="square">
            <a:spAutoFit/>
          </a:bodyPr>
          <a:lstStyle/>
          <a:p>
            <a:pPr algn="l"/>
            <a:r>
              <a:rPr sz="950" b="0" i="1">
                <a:solidFill>
                  <a:srgbClr val="5A6A85"/>
                </a:solidFill>
                <a:latin typeface="Arial"/>
              </a:rPr>
              <a:t>*Of KYC decisions rendered (22 approved / 6 rejected). Does not include the 93 still-incomplete applications, shown separately at right.</a:t>
            </a:r>
          </a:p>
        </p:txBody>
      </p:sp>
      <p:sp>
        <p:nvSpPr>
          <p:cNvPr id="20" name="TextBox 19"/>
          <p:cNvSpPr txBox="1"/>
          <p:nvPr/>
        </p:nvSpPr>
        <p:spPr>
          <a:xfrm>
            <a:off x="548640" y="4389120"/>
            <a:ext cx="5486400" cy="365760"/>
          </a:xfrm>
          <a:prstGeom prst="rect">
            <a:avLst/>
          </a:prstGeom>
          <a:noFill/>
        </p:spPr>
        <p:txBody>
          <a:bodyPr wrap="square">
            <a:spAutoFit/>
          </a:bodyPr>
          <a:lstStyle/>
          <a:p>
            <a:pPr algn="l"/>
            <a:r>
              <a:rPr sz="2000" b="1" i="0">
                <a:solidFill>
                  <a:srgbClr val="121A2F"/>
                </a:solidFill>
                <a:latin typeface="Arial"/>
              </a:rPr>
              <a:t>Key Highlights So Far</a:t>
            </a:r>
          </a:p>
        </p:txBody>
      </p:sp>
      <p:sp>
        <p:nvSpPr>
          <p:cNvPr id="21" name="Rectangle 20"/>
          <p:cNvSpPr/>
          <p:nvPr/>
        </p:nvSpPr>
        <p:spPr>
          <a:xfrm>
            <a:off x="548640" y="4846320"/>
            <a:ext cx="17190720" cy="2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548640" y="5129784"/>
            <a:ext cx="201168" cy="201168"/>
          </a:xfrm>
          <a:prstGeom prst="triangle">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074920"/>
            <a:ext cx="365760" cy="320040"/>
          </a:xfrm>
          <a:prstGeom prst="rect">
            <a:avLst/>
          </a:prstGeom>
          <a:noFill/>
        </p:spPr>
        <p:txBody>
          <a:bodyPr wrap="square">
            <a:spAutoFit/>
          </a:bodyPr>
          <a:lstStyle/>
          <a:p>
            <a:pPr algn="l"/>
            <a:r>
              <a:rPr sz="100" b="0" i="0">
                <a:solidFill>
                  <a:srgbClr val="121A2F"/>
                </a:solidFill>
                <a:latin typeface="Arial"/>
              </a:rPr>
              <a:t/>
            </a:r>
          </a:p>
        </p:txBody>
      </p:sp>
      <p:sp>
        <p:nvSpPr>
          <p:cNvPr id="24" name="TextBox 23"/>
          <p:cNvSpPr txBox="1"/>
          <p:nvPr/>
        </p:nvSpPr>
        <p:spPr>
          <a:xfrm>
            <a:off x="914400" y="5020056"/>
            <a:ext cx="16733520" cy="822960"/>
          </a:xfrm>
          <a:prstGeom prst="rect">
            <a:avLst/>
          </a:prstGeom>
          <a:noFill/>
        </p:spPr>
        <p:txBody>
          <a:bodyPr wrap="square">
            <a:spAutoFit/>
          </a:bodyPr>
          <a:lstStyle/>
          <a:p>
            <a:pPr algn="l"/>
            <a:r>
              <a:rPr sz="1300" b="0" i="0">
                <a:solidFill>
                  <a:srgbClr val="121A2F"/>
                </a:solidFill>
                <a:latin typeface="Arial"/>
              </a:rPr>
              <a:t/>
            </a:r>
            <a:r>
              <a:rPr b="1" sz="1400">
                <a:solidFill>
                  <a:srgbClr val="121A2F"/>
                </a:solidFill>
                <a:latin typeface="Arial"/>
              </a:rPr>
              <a:t>Funding and trading rails confirmed live.  </a:t>
            </a:r>
            <a:r>
              <a:rPr sz="1300">
                <a:solidFill>
                  <a:srgbClr val="5A6A85"/>
                </a:solidFill>
                <a:latin typeface="Arial"/>
              </a:rPr>
              <a:t>6 funded accounts, $4,235.83 in total deposits, and 18 trades executed by 6 active traders since launch - end-to-end payment and trading flow is operational.</a:t>
            </a:r>
          </a:p>
        </p:txBody>
      </p:sp>
      <p:sp>
        <p:nvSpPr>
          <p:cNvPr id="25" name="Isosceles Triangle 24"/>
          <p:cNvSpPr/>
          <p:nvPr/>
        </p:nvSpPr>
        <p:spPr>
          <a:xfrm rot="10800000">
            <a:off x="548640" y="5952744"/>
            <a:ext cx="201168" cy="201168"/>
          </a:xfrm>
          <a:prstGeom prst="triangle">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897880"/>
            <a:ext cx="365760" cy="320040"/>
          </a:xfrm>
          <a:prstGeom prst="rect">
            <a:avLst/>
          </a:prstGeom>
          <a:noFill/>
        </p:spPr>
        <p:txBody>
          <a:bodyPr wrap="square">
            <a:spAutoFit/>
          </a:bodyPr>
          <a:lstStyle/>
          <a:p>
            <a:pPr algn="l"/>
            <a:r>
              <a:rPr sz="100" b="0" i="0">
                <a:solidFill>
                  <a:srgbClr val="121A2F"/>
                </a:solidFill>
                <a:latin typeface="Arial"/>
              </a:rPr>
              <a:t/>
            </a:r>
          </a:p>
        </p:txBody>
      </p:sp>
      <p:sp>
        <p:nvSpPr>
          <p:cNvPr id="27" name="TextBox 26"/>
          <p:cNvSpPr txBox="1"/>
          <p:nvPr/>
        </p:nvSpPr>
        <p:spPr>
          <a:xfrm>
            <a:off x="914400" y="5843016"/>
            <a:ext cx="16733520" cy="822960"/>
          </a:xfrm>
          <a:prstGeom prst="rect">
            <a:avLst/>
          </a:prstGeom>
          <a:noFill/>
        </p:spPr>
        <p:txBody>
          <a:bodyPr wrap="square">
            <a:spAutoFit/>
          </a:bodyPr>
          <a:lstStyle/>
          <a:p>
            <a:pPr algn="l"/>
            <a:r>
              <a:rPr sz="1300" b="0" i="0">
                <a:solidFill>
                  <a:srgbClr val="121A2F"/>
                </a:solidFill>
                <a:latin typeface="Arial"/>
              </a:rPr>
              <a:t/>
            </a:r>
            <a:r>
              <a:rPr b="1" sz="1400">
                <a:solidFill>
                  <a:srgbClr val="121A2F"/>
                </a:solidFill>
                <a:latin typeface="Arial"/>
              </a:rPr>
              <a:t>Strong early app store traction.  </a:t>
            </a:r>
            <a:r>
              <a:rPr sz="1300">
                <a:solidFill>
                  <a:srgbClr val="5A6A85"/>
                </a:solidFill>
                <a:latin typeface="Arial"/>
              </a:rPr>
              <a:t>218 total downloads (136 Android + 82 iOS) since launch, with a perfect 5.0/5.0 rating on both stores and no negative reviews.</a:t>
            </a:r>
          </a:p>
        </p:txBody>
      </p:sp>
      <p:sp>
        <p:nvSpPr>
          <p:cNvPr id="28" name="Isosceles Triangle 27"/>
          <p:cNvSpPr/>
          <p:nvPr/>
        </p:nvSpPr>
        <p:spPr>
          <a:xfrm rot="10800000">
            <a:off x="548640" y="6775704"/>
            <a:ext cx="201168" cy="201168"/>
          </a:xfrm>
          <a:prstGeom prst="triangle">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6720840"/>
            <a:ext cx="365760" cy="320040"/>
          </a:xfrm>
          <a:prstGeom prst="rect">
            <a:avLst/>
          </a:prstGeom>
          <a:noFill/>
        </p:spPr>
        <p:txBody>
          <a:bodyPr wrap="square">
            <a:spAutoFit/>
          </a:bodyPr>
          <a:lstStyle/>
          <a:p>
            <a:pPr algn="l"/>
            <a:r>
              <a:rPr sz="100" b="0" i="0">
                <a:solidFill>
                  <a:srgbClr val="121A2F"/>
                </a:solidFill>
                <a:latin typeface="Arial"/>
              </a:rPr>
              <a:t/>
            </a:r>
          </a:p>
        </p:txBody>
      </p:sp>
      <p:sp>
        <p:nvSpPr>
          <p:cNvPr id="30" name="TextBox 29"/>
          <p:cNvSpPr txBox="1"/>
          <p:nvPr/>
        </p:nvSpPr>
        <p:spPr>
          <a:xfrm>
            <a:off x="914400" y="6665976"/>
            <a:ext cx="16733520" cy="822960"/>
          </a:xfrm>
          <a:prstGeom prst="rect">
            <a:avLst/>
          </a:prstGeom>
          <a:noFill/>
        </p:spPr>
        <p:txBody>
          <a:bodyPr wrap="square">
            <a:spAutoFit/>
          </a:bodyPr>
          <a:lstStyle/>
          <a:p>
            <a:pPr algn="l"/>
            <a:r>
              <a:rPr sz="1300" b="0" i="0">
                <a:solidFill>
                  <a:srgbClr val="121A2F"/>
                </a:solidFill>
                <a:latin typeface="Arial"/>
              </a:rPr>
              <a:t/>
            </a:r>
            <a:r>
              <a:rPr b="1" sz="1400">
                <a:solidFill>
                  <a:srgbClr val="121A2F"/>
                </a:solidFill>
                <a:latin typeface="Arial"/>
              </a:rPr>
              <a:t>KYC completion is the top priority gap.  </a:t>
            </a:r>
            <a:r>
              <a:rPr sz="1300">
                <a:solidFill>
                  <a:srgbClr val="5A6A85"/>
                </a:solidFill>
                <a:latin typeface="Arial"/>
              </a:rPr>
              <a:t>93 users started KYC but never finished - more than 4x the 22 who completed onboarding. The new customer service calling initiative (see next slide) is already converting part of this backlog.</a:t>
            </a:r>
          </a:p>
        </p:txBody>
      </p:sp>
      <p:sp>
        <p:nvSpPr>
          <p:cNvPr id="31" name="TextBox 30"/>
          <p:cNvSpPr txBox="1"/>
          <p:nvPr/>
        </p:nvSpPr>
        <p:spPr>
          <a:xfrm>
            <a:off x="15544800" y="9601200"/>
            <a:ext cx="2286000" cy="365760"/>
          </a:xfrm>
          <a:prstGeom prst="rect">
            <a:avLst/>
          </a:prstGeom>
          <a:noFill/>
        </p:spPr>
        <p:txBody>
          <a:bodyPr wrap="square">
            <a:spAutoFit/>
          </a:bodyPr>
          <a:lstStyle/>
          <a:p>
            <a:pPr algn="r"/>
            <a:r>
              <a:rPr sz="1600" b="1" i="0">
                <a:solidFill>
                  <a:srgbClr val="C9A227"/>
                </a:solidFill>
                <a:latin typeface="Arial"/>
              </a:rPr>
              <a:t>eMYAA</a:t>
            </a:r>
          </a:p>
        </p:txBody>
      </p:sp>
      <p:sp>
        <p:nvSpPr>
          <p:cNvPr id="32" name="TextBox 31"/>
          <p:cNvSpPr txBox="1"/>
          <p:nvPr/>
        </p:nvSpPr>
        <p:spPr>
          <a:xfrm>
            <a:off x="548640" y="9784080"/>
            <a:ext cx="9144000" cy="365760"/>
          </a:xfrm>
          <a:prstGeom prst="rect">
            <a:avLst/>
          </a:prstGeom>
          <a:noFill/>
        </p:spPr>
        <p:txBody>
          <a:bodyPr wrap="square">
            <a:spAutoFit/>
          </a:bodyPr>
          <a:lstStyle/>
          <a:p>
            <a:pPr algn="l"/>
            <a:r>
              <a:rPr sz="950" b="0" i="1">
                <a:solidFill>
                  <a:srgbClr val="5A6A85"/>
                </a:solidFill>
                <a:latin typeface="Arial"/>
              </a:rPr>
              <a:t>Source: eMYAA - Daily Performance Dashboard 7.5.2026.pdf. AUM not tracked in current source data - confirm with Malek/tech before filing. AI Resolution Score and Agent Escalation Ratio also pending.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NEW THIS CYCLE</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800" b="1" i="0">
                <a:solidFill>
                  <a:srgbClr val="121A2F"/>
                </a:solidFill>
                <a:latin typeface="Arial"/>
              </a:rPr>
              <a:t>Customer Service Calling: A New Retention Lever</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17190720" cy="365760"/>
          </a:xfrm>
          <a:prstGeom prst="rect">
            <a:avLst/>
          </a:prstGeom>
          <a:noFill/>
        </p:spPr>
        <p:txBody>
          <a:bodyPr wrap="square">
            <a:spAutoFit/>
          </a:bodyPr>
          <a:lstStyle/>
          <a:p>
            <a:pPr algn="l"/>
            <a:r>
              <a:rPr sz="1300" b="0" i="0">
                <a:solidFill>
                  <a:srgbClr val="5A6A85"/>
                </a:solidFill>
                <a:latin typeface="Arial"/>
              </a:rPr>
              <a:t>Launched the week of 23 Jun 2026 - calling leads who stalled in KYC or never funded after approval, to directly close the gap flagged on the previous slide.</a:t>
            </a:r>
          </a:p>
        </p:txBody>
      </p:sp>
      <p:sp>
        <p:nvSpPr>
          <p:cNvPr id="7" name="Rectangle 6"/>
          <p:cNvSpPr/>
          <p:nvPr/>
        </p:nvSpPr>
        <p:spPr>
          <a:xfrm>
            <a:off x="548640" y="2057400"/>
            <a:ext cx="4023360" cy="13716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57400"/>
            <a:ext cx="45720"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94560"/>
            <a:ext cx="3657600" cy="594360"/>
          </a:xfrm>
          <a:prstGeom prst="rect">
            <a:avLst/>
          </a:prstGeom>
          <a:noFill/>
        </p:spPr>
        <p:txBody>
          <a:bodyPr wrap="square">
            <a:spAutoFit/>
          </a:bodyPr>
          <a:lstStyle/>
          <a:p>
            <a:pPr algn="l"/>
            <a:r>
              <a:rPr sz="3000" b="1" i="0">
                <a:solidFill>
                  <a:srgbClr val="1B7A43"/>
                </a:solidFill>
                <a:latin typeface="Arial"/>
              </a:rPr>
              <a:t>7 of 22</a:t>
            </a:r>
          </a:p>
        </p:txBody>
      </p:sp>
      <p:sp>
        <p:nvSpPr>
          <p:cNvPr id="10" name="TextBox 9"/>
          <p:cNvSpPr txBox="1"/>
          <p:nvPr/>
        </p:nvSpPr>
        <p:spPr>
          <a:xfrm>
            <a:off x="777240" y="2743200"/>
            <a:ext cx="3657600" cy="320040"/>
          </a:xfrm>
          <a:prstGeom prst="rect">
            <a:avLst/>
          </a:prstGeom>
          <a:noFill/>
        </p:spPr>
        <p:txBody>
          <a:bodyPr wrap="square">
            <a:spAutoFit/>
          </a:bodyPr>
          <a:lstStyle/>
          <a:p>
            <a:pPr algn="l"/>
            <a:r>
              <a:rPr sz="1300" b="1" i="0">
                <a:solidFill>
                  <a:srgbClr val="121A2F"/>
                </a:solidFill>
                <a:latin typeface="Arial"/>
              </a:rPr>
              <a:t>Onboarded After a Call</a:t>
            </a:r>
          </a:p>
        </p:txBody>
      </p:sp>
      <p:sp>
        <p:nvSpPr>
          <p:cNvPr id="11" name="TextBox 10"/>
          <p:cNvSpPr txBox="1"/>
          <p:nvPr/>
        </p:nvSpPr>
        <p:spPr>
          <a:xfrm>
            <a:off x="777240" y="3063240"/>
            <a:ext cx="3657600" cy="274320"/>
          </a:xfrm>
          <a:prstGeom prst="rect">
            <a:avLst/>
          </a:prstGeom>
          <a:noFill/>
        </p:spPr>
        <p:txBody>
          <a:bodyPr wrap="square">
            <a:spAutoFit/>
          </a:bodyPr>
          <a:lstStyle/>
          <a:p>
            <a:pPr algn="l"/>
            <a:r>
              <a:rPr sz="1000" b="0" i="0">
                <a:solidFill>
                  <a:srgbClr val="5A6A85"/>
                </a:solidFill>
                <a:latin typeface="Arial"/>
              </a:rPr>
              <a:t>32% conversion on the priority drop-off list</a:t>
            </a:r>
          </a:p>
        </p:txBody>
      </p:sp>
      <p:sp>
        <p:nvSpPr>
          <p:cNvPr id="12" name="Rectangle 11"/>
          <p:cNvSpPr/>
          <p:nvPr/>
        </p:nvSpPr>
        <p:spPr>
          <a:xfrm>
            <a:off x="4937760" y="2057400"/>
            <a:ext cx="4023360" cy="13716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37760" y="2057400"/>
            <a:ext cx="45720"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6360" y="2194560"/>
            <a:ext cx="3657600" cy="594360"/>
          </a:xfrm>
          <a:prstGeom prst="rect">
            <a:avLst/>
          </a:prstGeom>
          <a:noFill/>
        </p:spPr>
        <p:txBody>
          <a:bodyPr wrap="square">
            <a:spAutoFit/>
          </a:bodyPr>
          <a:lstStyle/>
          <a:p>
            <a:pPr algn="l"/>
            <a:r>
              <a:rPr sz="3000" b="1" i="0">
                <a:solidFill>
                  <a:srgbClr val="121A2F"/>
                </a:solidFill>
                <a:latin typeface="Arial"/>
              </a:rPr>
              <a:t>8 more</a:t>
            </a:r>
          </a:p>
        </p:txBody>
      </p:sp>
      <p:sp>
        <p:nvSpPr>
          <p:cNvPr id="15" name="TextBox 14"/>
          <p:cNvSpPr txBox="1"/>
          <p:nvPr/>
        </p:nvSpPr>
        <p:spPr>
          <a:xfrm>
            <a:off x="5166360" y="2743200"/>
            <a:ext cx="3657600" cy="320040"/>
          </a:xfrm>
          <a:prstGeom prst="rect">
            <a:avLst/>
          </a:prstGeom>
          <a:noFill/>
        </p:spPr>
        <p:txBody>
          <a:bodyPr wrap="square">
            <a:spAutoFit/>
          </a:bodyPr>
          <a:lstStyle/>
          <a:p>
            <a:pPr algn="l"/>
            <a:r>
              <a:rPr sz="1300" b="1" i="0">
                <a:solidFill>
                  <a:srgbClr val="121A2F"/>
                </a:solidFill>
                <a:latin typeface="Arial"/>
              </a:rPr>
              <a:t>Warm &amp; Re-engageable</a:t>
            </a:r>
          </a:p>
        </p:txBody>
      </p:sp>
      <p:sp>
        <p:nvSpPr>
          <p:cNvPr id="16" name="TextBox 15"/>
          <p:cNvSpPr txBox="1"/>
          <p:nvPr/>
        </p:nvSpPr>
        <p:spPr>
          <a:xfrm>
            <a:off x="5166360" y="3063240"/>
            <a:ext cx="3657600" cy="274320"/>
          </a:xfrm>
          <a:prstGeom prst="rect">
            <a:avLst/>
          </a:prstGeom>
          <a:noFill/>
        </p:spPr>
        <p:txBody>
          <a:bodyPr wrap="square">
            <a:spAutoFit/>
          </a:bodyPr>
          <a:lstStyle/>
          <a:p>
            <a:pPr algn="l"/>
            <a:r>
              <a:rPr sz="1000" b="0" i="0">
                <a:solidFill>
                  <a:srgbClr val="5A6A85"/>
                </a:solidFill>
                <a:latin typeface="Arial"/>
              </a:rPr>
              <a:t>Mostly just forgot their passport at home</a:t>
            </a:r>
          </a:p>
        </p:txBody>
      </p:sp>
      <p:sp>
        <p:nvSpPr>
          <p:cNvPr id="17" name="Rectangle 16"/>
          <p:cNvSpPr/>
          <p:nvPr/>
        </p:nvSpPr>
        <p:spPr>
          <a:xfrm>
            <a:off x="9326880" y="2057400"/>
            <a:ext cx="4023360" cy="13716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326880" y="2057400"/>
            <a:ext cx="45720"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55480" y="2194560"/>
            <a:ext cx="3657600" cy="594360"/>
          </a:xfrm>
          <a:prstGeom prst="rect">
            <a:avLst/>
          </a:prstGeom>
          <a:noFill/>
        </p:spPr>
        <p:txBody>
          <a:bodyPr wrap="square">
            <a:spAutoFit/>
          </a:bodyPr>
          <a:lstStyle/>
          <a:p>
            <a:pPr algn="l"/>
            <a:r>
              <a:rPr sz="3000" b="1" i="0">
                <a:solidFill>
                  <a:srgbClr val="121A2F"/>
                </a:solidFill>
                <a:latin typeface="Arial"/>
              </a:rPr>
              <a:t>75</a:t>
            </a:r>
          </a:p>
        </p:txBody>
      </p:sp>
      <p:sp>
        <p:nvSpPr>
          <p:cNvPr id="20" name="TextBox 19"/>
          <p:cNvSpPr txBox="1"/>
          <p:nvPr/>
        </p:nvSpPr>
        <p:spPr>
          <a:xfrm>
            <a:off x="9555480" y="2743200"/>
            <a:ext cx="3657600" cy="320040"/>
          </a:xfrm>
          <a:prstGeom prst="rect">
            <a:avLst/>
          </a:prstGeom>
          <a:noFill/>
        </p:spPr>
        <p:txBody>
          <a:bodyPr wrap="square">
            <a:spAutoFit/>
          </a:bodyPr>
          <a:lstStyle/>
          <a:p>
            <a:pPr algn="l"/>
            <a:r>
              <a:rPr sz="1300" b="1" i="0">
                <a:solidFill>
                  <a:srgbClr val="121A2F"/>
                </a:solidFill>
                <a:latin typeface="Arial"/>
              </a:rPr>
              <a:t>Phone-Verification Leads Queued</a:t>
            </a:r>
          </a:p>
        </p:txBody>
      </p:sp>
      <p:sp>
        <p:nvSpPr>
          <p:cNvPr id="21" name="TextBox 20"/>
          <p:cNvSpPr txBox="1"/>
          <p:nvPr/>
        </p:nvSpPr>
        <p:spPr>
          <a:xfrm>
            <a:off x="9555480" y="3063240"/>
            <a:ext cx="3657600" cy="274320"/>
          </a:xfrm>
          <a:prstGeom prst="rect">
            <a:avLst/>
          </a:prstGeom>
          <a:noFill/>
        </p:spPr>
        <p:txBody>
          <a:bodyPr wrap="square">
            <a:spAutoFit/>
          </a:bodyPr>
          <a:lstStyle/>
          <a:p>
            <a:pPr algn="l"/>
            <a:r>
              <a:rPr sz="1000" b="0" i="0">
                <a:solidFill>
                  <a:srgbClr val="5A6A85"/>
                </a:solidFill>
                <a:latin typeface="Arial"/>
              </a:rPr>
              <a:t>Calling just started here - 4 contacted so far</a:t>
            </a:r>
          </a:p>
        </p:txBody>
      </p:sp>
      <p:sp>
        <p:nvSpPr>
          <p:cNvPr id="22" name="Rectangle 21"/>
          <p:cNvSpPr/>
          <p:nvPr/>
        </p:nvSpPr>
        <p:spPr>
          <a:xfrm>
            <a:off x="13716000" y="2057400"/>
            <a:ext cx="4023360" cy="13716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0" y="2057400"/>
            <a:ext cx="45720"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944600" y="2194560"/>
            <a:ext cx="3657600" cy="594360"/>
          </a:xfrm>
          <a:prstGeom prst="rect">
            <a:avLst/>
          </a:prstGeom>
          <a:noFill/>
        </p:spPr>
        <p:txBody>
          <a:bodyPr wrap="square">
            <a:spAutoFit/>
          </a:bodyPr>
          <a:lstStyle/>
          <a:p>
            <a:pPr algn="l"/>
            <a:r>
              <a:rPr sz="3000" b="1" i="0">
                <a:solidFill>
                  <a:srgbClr val="121A2F"/>
                </a:solidFill>
                <a:latin typeface="Arial"/>
              </a:rPr>
              <a:t>13</a:t>
            </a:r>
          </a:p>
        </p:txBody>
      </p:sp>
      <p:sp>
        <p:nvSpPr>
          <p:cNvPr id="25" name="TextBox 24"/>
          <p:cNvSpPr txBox="1"/>
          <p:nvPr/>
        </p:nvSpPr>
        <p:spPr>
          <a:xfrm>
            <a:off x="13944600" y="2743200"/>
            <a:ext cx="3657600" cy="320040"/>
          </a:xfrm>
          <a:prstGeom prst="rect">
            <a:avLst/>
          </a:prstGeom>
          <a:noFill/>
        </p:spPr>
        <p:txBody>
          <a:bodyPr wrap="square">
            <a:spAutoFit/>
          </a:bodyPr>
          <a:lstStyle/>
          <a:p>
            <a:pPr algn="l"/>
            <a:r>
              <a:rPr sz="1300" b="1" i="0">
                <a:solidFill>
                  <a:srgbClr val="121A2F"/>
                </a:solidFill>
                <a:latin typeface="Arial"/>
              </a:rPr>
              <a:t>Approved-But-Not-Funded Leads</a:t>
            </a:r>
          </a:p>
        </p:txBody>
      </p:sp>
      <p:sp>
        <p:nvSpPr>
          <p:cNvPr id="26" name="TextBox 25"/>
          <p:cNvSpPr txBox="1"/>
          <p:nvPr/>
        </p:nvSpPr>
        <p:spPr>
          <a:xfrm>
            <a:off x="13944600" y="3063240"/>
            <a:ext cx="3657600" cy="274320"/>
          </a:xfrm>
          <a:prstGeom prst="rect">
            <a:avLst/>
          </a:prstGeom>
          <a:noFill/>
        </p:spPr>
        <p:txBody>
          <a:bodyPr wrap="square">
            <a:spAutoFit/>
          </a:bodyPr>
          <a:lstStyle/>
          <a:p>
            <a:pPr algn="l"/>
            <a:r>
              <a:rPr sz="1000" b="0" i="0">
                <a:solidFill>
                  <a:srgbClr val="5A6A85"/>
                </a:solidFill>
                <a:latin typeface="Arial"/>
              </a:rPr>
              <a:t>The "Funded Gap" - being called separately</a:t>
            </a:r>
          </a:p>
        </p:txBody>
      </p:sp>
      <p:sp>
        <p:nvSpPr>
          <p:cNvPr id="27" name="Rectangle 26"/>
          <p:cNvSpPr/>
          <p:nvPr/>
        </p:nvSpPr>
        <p:spPr>
          <a:xfrm>
            <a:off x="548640" y="3749040"/>
            <a:ext cx="17190720" cy="192024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931920"/>
            <a:ext cx="16642080" cy="1645920"/>
          </a:xfrm>
          <a:prstGeom prst="rect">
            <a:avLst/>
          </a:prstGeom>
          <a:noFill/>
        </p:spPr>
        <p:txBody>
          <a:bodyPr wrap="square">
            <a:spAutoFit/>
          </a:bodyPr>
          <a:lstStyle/>
          <a:p>
            <a:pPr algn="l"/>
            <a:r>
              <a:rPr sz="1200" b="0" i="0">
                <a:solidFill>
                  <a:srgbClr val="5A6A85"/>
                </a:solidFill>
                <a:latin typeface="Arial"/>
              </a:rPr>
              <a:t>Why this matters: these calls are converting people who were already interested - downloaded the app, started KYC, or got approved - into completed, funded accounts, without any new ad spend. Early results are promising: roughly a third of the first priority list converted within days of being called.</a:t>
            </a:r>
          </a:p>
          <a:p>
            <a:pPr algn="l"/>
            <a:r>
              <a:rPr sz="1200" b="0" i="0">
                <a:solidFill>
                  <a:srgbClr val="5A6A85"/>
                </a:solidFill>
                <a:latin typeface="Arial"/>
              </a:rPr>
              <a:t/>
            </a:r>
          </a:p>
          <a:p>
            <a:pPr algn="l"/>
            <a:r>
              <a:rPr sz="1200" b="0" i="0">
                <a:solidFill>
                  <a:srgbClr val="5A6A85"/>
                </a:solidFill>
                <a:latin typeface="Arial"/>
              </a:rPr>
              <a:t>The calls are also surfacing real, fixable problems, not just reluctance: at least one approved customer hit a broken local bank transfer (Benefit) error trying to fund his account, and others reported never receiving their username email. Both are now logged with specifics and can be routed to tech/ops as concrete bugs, not vague complaints.</a:t>
            </a:r>
          </a:p>
        </p:txBody>
      </p:sp>
      <p:sp>
        <p:nvSpPr>
          <p:cNvPr id="29" name="TextBox 28"/>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Client Onboarding Follow-Up Register.xlsx (week of 23-29 Jun 2026). Figures aggregated; no individual customer data included in this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JUNE 2026 PERFORMANCE</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800" b="1" i="0">
                <a:solidFill>
                  <a:srgbClr val="121A2F"/>
                </a:solidFill>
                <a:latin typeface="Arial"/>
              </a:rPr>
              <a:t>Social Media: June vs. May</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17190720" cy="365760"/>
          </a:xfrm>
          <a:prstGeom prst="rect">
            <a:avLst/>
          </a:prstGeom>
          <a:noFill/>
        </p:spPr>
        <p:txBody>
          <a:bodyPr wrap="square">
            <a:spAutoFit/>
          </a:bodyPr>
          <a:lstStyle/>
          <a:p>
            <a:pPr algn="l"/>
            <a:r>
              <a:rPr sz="1300" b="0" i="0">
                <a:solidFill>
                  <a:srgbClr val="5A6A85"/>
                </a:solidFill>
                <a:latin typeface="Arial"/>
              </a:rPr>
              <a:t>Source: TRACCS Social Media Monthly Review, June 2026 (Sprout Social export)</a:t>
            </a:r>
          </a:p>
        </p:txBody>
      </p:sp>
      <p:sp>
        <p:nvSpPr>
          <p:cNvPr id="7" name="Rectangle 6"/>
          <p:cNvSpPr/>
          <p:nvPr/>
        </p:nvSpPr>
        <p:spPr>
          <a:xfrm>
            <a:off x="548640" y="2011680"/>
            <a:ext cx="8778240" cy="36576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57400"/>
            <a:ext cx="1645920" cy="274320"/>
          </a:xfrm>
          <a:prstGeom prst="rect">
            <a:avLst/>
          </a:prstGeom>
          <a:noFill/>
        </p:spPr>
        <p:txBody>
          <a:bodyPr wrap="square">
            <a:spAutoFit/>
          </a:bodyPr>
          <a:lstStyle/>
          <a:p>
            <a:pPr algn="l"/>
            <a:r>
              <a:rPr sz="1200" b="1" i="0">
                <a:solidFill>
                  <a:srgbClr val="FFFFFF"/>
                </a:solidFill>
                <a:latin typeface="Arial"/>
              </a:rPr>
              <a:t>Platform</a:t>
            </a:r>
          </a:p>
        </p:txBody>
      </p:sp>
      <p:sp>
        <p:nvSpPr>
          <p:cNvPr id="9" name="TextBox 8"/>
          <p:cNvSpPr txBox="1"/>
          <p:nvPr/>
        </p:nvSpPr>
        <p:spPr>
          <a:xfrm>
            <a:off x="2194560" y="2057400"/>
            <a:ext cx="2377440" cy="274320"/>
          </a:xfrm>
          <a:prstGeom prst="rect">
            <a:avLst/>
          </a:prstGeom>
          <a:noFill/>
        </p:spPr>
        <p:txBody>
          <a:bodyPr wrap="square">
            <a:spAutoFit/>
          </a:bodyPr>
          <a:lstStyle/>
          <a:p>
            <a:pPr algn="l"/>
            <a:r>
              <a:rPr sz="1200" b="1" i="0">
                <a:solidFill>
                  <a:srgbClr val="FFFFFF"/>
                </a:solidFill>
                <a:latin typeface="Arial"/>
              </a:rPr>
              <a:t>Follower Growth</a:t>
            </a:r>
          </a:p>
        </p:txBody>
      </p:sp>
      <p:sp>
        <p:nvSpPr>
          <p:cNvPr id="10" name="TextBox 9"/>
          <p:cNvSpPr txBox="1"/>
          <p:nvPr/>
        </p:nvSpPr>
        <p:spPr>
          <a:xfrm>
            <a:off x="4572000" y="2057400"/>
            <a:ext cx="2377440" cy="274320"/>
          </a:xfrm>
          <a:prstGeom prst="rect">
            <a:avLst/>
          </a:prstGeom>
          <a:noFill/>
        </p:spPr>
        <p:txBody>
          <a:bodyPr wrap="square">
            <a:spAutoFit/>
          </a:bodyPr>
          <a:lstStyle/>
          <a:p>
            <a:pPr algn="l"/>
            <a:r>
              <a:rPr sz="1200" b="1" i="0">
                <a:solidFill>
                  <a:srgbClr val="FFFFFF"/>
                </a:solidFill>
                <a:latin typeface="Arial"/>
              </a:rPr>
              <a:t>Views / Impressions</a:t>
            </a:r>
          </a:p>
        </p:txBody>
      </p:sp>
      <p:sp>
        <p:nvSpPr>
          <p:cNvPr id="11" name="TextBox 10"/>
          <p:cNvSpPr txBox="1"/>
          <p:nvPr/>
        </p:nvSpPr>
        <p:spPr>
          <a:xfrm>
            <a:off x="6949440" y="2057400"/>
            <a:ext cx="2377440" cy="274320"/>
          </a:xfrm>
          <a:prstGeom prst="rect">
            <a:avLst/>
          </a:prstGeom>
          <a:noFill/>
        </p:spPr>
        <p:txBody>
          <a:bodyPr wrap="square">
            <a:spAutoFit/>
          </a:bodyPr>
          <a:lstStyle/>
          <a:p>
            <a:pPr algn="l"/>
            <a:r>
              <a:rPr sz="1200" b="1" i="0">
                <a:solidFill>
                  <a:srgbClr val="FFFFFF"/>
                </a:solidFill>
                <a:latin typeface="Arial"/>
              </a:rPr>
              <a:t>Engagements</a:t>
            </a:r>
          </a:p>
        </p:txBody>
      </p:sp>
      <p:sp>
        <p:nvSpPr>
          <p:cNvPr id="12" name="Rectangle 11"/>
          <p:cNvSpPr/>
          <p:nvPr/>
        </p:nvSpPr>
        <p:spPr>
          <a:xfrm>
            <a:off x="548640" y="2377440"/>
            <a:ext cx="8778240" cy="5029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468880"/>
            <a:ext cx="1554480" cy="320040"/>
          </a:xfrm>
          <a:prstGeom prst="rect">
            <a:avLst/>
          </a:prstGeom>
          <a:noFill/>
        </p:spPr>
        <p:txBody>
          <a:bodyPr wrap="square">
            <a:spAutoFit/>
          </a:bodyPr>
          <a:lstStyle/>
          <a:p>
            <a:pPr algn="l"/>
            <a:r>
              <a:rPr sz="1300" b="1" i="0">
                <a:solidFill>
                  <a:srgbClr val="121A2F"/>
                </a:solidFill>
                <a:latin typeface="Arial"/>
              </a:rPr>
              <a:t>Instagram</a:t>
            </a:r>
          </a:p>
        </p:txBody>
      </p:sp>
      <p:sp>
        <p:nvSpPr>
          <p:cNvPr id="14" name="TextBox 13"/>
          <p:cNvSpPr txBox="1"/>
          <p:nvPr/>
        </p:nvSpPr>
        <p:spPr>
          <a:xfrm>
            <a:off x="2286000" y="2468880"/>
            <a:ext cx="2286000" cy="320040"/>
          </a:xfrm>
          <a:prstGeom prst="rect">
            <a:avLst/>
          </a:prstGeom>
          <a:noFill/>
        </p:spPr>
        <p:txBody>
          <a:bodyPr wrap="square">
            <a:spAutoFit/>
          </a:bodyPr>
          <a:lstStyle/>
          <a:p>
            <a:pPr algn="l"/>
            <a:r>
              <a:rPr sz="1200" b="0" i="0">
                <a:solidFill>
                  <a:srgbClr val="1B7A43"/>
                </a:solidFill>
                <a:latin typeface="Arial"/>
              </a:rPr>
              <a:t>1,765 followers</a:t>
            </a:r>
            <a:r>
              <a:rPr sz="1200">
                <a:solidFill>
                  <a:srgbClr val="5A6A85"/>
                </a:solidFill>
                <a:latin typeface="Arial"/>
              </a:rPr>
              <a:t/>
            </a:r>
            <a:r>
              <a:rPr sz="1200">
                <a:solidFill>
                  <a:srgbClr val="5A6A85"/>
                </a:solidFill>
                <a:latin typeface="Arial"/>
              </a:rPr>
              <a:t> (live, 14 Jul; was 774 / +270.3% at 30 Jun)</a:t>
            </a:r>
          </a:p>
        </p:txBody>
      </p:sp>
      <p:sp>
        <p:nvSpPr>
          <p:cNvPr id="15" name="TextBox 14"/>
          <p:cNvSpPr txBox="1"/>
          <p:nvPr/>
        </p:nvSpPr>
        <p:spPr>
          <a:xfrm>
            <a:off x="4663440" y="2468880"/>
            <a:ext cx="2286000" cy="320040"/>
          </a:xfrm>
          <a:prstGeom prst="rect">
            <a:avLst/>
          </a:prstGeom>
          <a:noFill/>
        </p:spPr>
        <p:txBody>
          <a:bodyPr wrap="square">
            <a:spAutoFit/>
          </a:bodyPr>
          <a:lstStyle/>
          <a:p>
            <a:pPr algn="l"/>
            <a:r>
              <a:rPr sz="1200" b="0" i="0">
                <a:solidFill>
                  <a:srgbClr val="1B7A43"/>
                </a:solidFill>
                <a:latin typeface="Arial"/>
              </a:rPr>
              <a:t>1,084,794 views (+195%)</a:t>
            </a:r>
          </a:p>
        </p:txBody>
      </p:sp>
      <p:sp>
        <p:nvSpPr>
          <p:cNvPr id="16" name="TextBox 15"/>
          <p:cNvSpPr txBox="1"/>
          <p:nvPr/>
        </p:nvSpPr>
        <p:spPr>
          <a:xfrm>
            <a:off x="7040880" y="2468880"/>
            <a:ext cx="2286000" cy="320040"/>
          </a:xfrm>
          <a:prstGeom prst="rect">
            <a:avLst/>
          </a:prstGeom>
          <a:noFill/>
        </p:spPr>
        <p:txBody>
          <a:bodyPr wrap="square">
            <a:spAutoFit/>
          </a:bodyPr>
          <a:lstStyle/>
          <a:p>
            <a:pPr algn="l"/>
            <a:r>
              <a:rPr sz="1200" b="0" i="0">
                <a:solidFill>
                  <a:srgbClr val="1B7A43"/>
                </a:solidFill>
                <a:latin typeface="Arial"/>
              </a:rPr>
              <a:t>1,737 engagements (+194.9%)</a:t>
            </a:r>
          </a:p>
        </p:txBody>
      </p:sp>
      <p:sp>
        <p:nvSpPr>
          <p:cNvPr id="17" name="Rectangle 16"/>
          <p:cNvSpPr/>
          <p:nvPr/>
        </p:nvSpPr>
        <p:spPr>
          <a:xfrm>
            <a:off x="548640" y="2880360"/>
            <a:ext cx="8778240" cy="50292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971800"/>
            <a:ext cx="1554480" cy="320040"/>
          </a:xfrm>
          <a:prstGeom prst="rect">
            <a:avLst/>
          </a:prstGeom>
          <a:noFill/>
        </p:spPr>
        <p:txBody>
          <a:bodyPr wrap="square">
            <a:spAutoFit/>
          </a:bodyPr>
          <a:lstStyle/>
          <a:p>
            <a:pPr algn="l"/>
            <a:r>
              <a:rPr sz="1300" b="1" i="0">
                <a:solidFill>
                  <a:srgbClr val="121A2F"/>
                </a:solidFill>
                <a:latin typeface="Arial"/>
              </a:rPr>
              <a:t>Facebook</a:t>
            </a:r>
          </a:p>
        </p:txBody>
      </p:sp>
      <p:sp>
        <p:nvSpPr>
          <p:cNvPr id="19" name="TextBox 18"/>
          <p:cNvSpPr txBox="1"/>
          <p:nvPr/>
        </p:nvSpPr>
        <p:spPr>
          <a:xfrm>
            <a:off x="2286000" y="2971800"/>
            <a:ext cx="2286000" cy="320040"/>
          </a:xfrm>
          <a:prstGeom prst="rect">
            <a:avLst/>
          </a:prstGeom>
          <a:noFill/>
        </p:spPr>
        <p:txBody>
          <a:bodyPr wrap="square">
            <a:spAutoFit/>
          </a:bodyPr>
          <a:lstStyle/>
          <a:p>
            <a:pPr algn="l"/>
            <a:r>
              <a:rPr sz="1200" b="0" i="0">
                <a:solidFill>
                  <a:srgbClr val="5A6A85"/>
                </a:solidFill>
                <a:latin typeface="Arial"/>
              </a:rPr>
              <a:t>1 page followed</a:t>
            </a:r>
          </a:p>
        </p:txBody>
      </p:sp>
      <p:sp>
        <p:nvSpPr>
          <p:cNvPr id="20" name="TextBox 19"/>
          <p:cNvSpPr txBox="1"/>
          <p:nvPr/>
        </p:nvSpPr>
        <p:spPr>
          <a:xfrm>
            <a:off x="4663440" y="2971800"/>
            <a:ext cx="2286000" cy="320040"/>
          </a:xfrm>
          <a:prstGeom prst="rect">
            <a:avLst/>
          </a:prstGeom>
          <a:noFill/>
        </p:spPr>
        <p:txBody>
          <a:bodyPr wrap="square">
            <a:spAutoFit/>
          </a:bodyPr>
          <a:lstStyle/>
          <a:p>
            <a:pPr algn="l"/>
            <a:r>
              <a:rPr sz="1200" b="0" i="0">
                <a:solidFill>
                  <a:srgbClr val="1B7A43"/>
                </a:solidFill>
                <a:latin typeface="Arial"/>
              </a:rPr>
              <a:t>811,932 views (+88.4%)</a:t>
            </a:r>
          </a:p>
        </p:txBody>
      </p:sp>
      <p:sp>
        <p:nvSpPr>
          <p:cNvPr id="21" name="TextBox 20"/>
          <p:cNvSpPr txBox="1"/>
          <p:nvPr/>
        </p:nvSpPr>
        <p:spPr>
          <a:xfrm>
            <a:off x="7040880" y="2971800"/>
            <a:ext cx="2286000" cy="320040"/>
          </a:xfrm>
          <a:prstGeom prst="rect">
            <a:avLst/>
          </a:prstGeom>
          <a:noFill/>
        </p:spPr>
        <p:txBody>
          <a:bodyPr wrap="square">
            <a:spAutoFit/>
          </a:bodyPr>
          <a:lstStyle/>
          <a:p>
            <a:pPr algn="l"/>
            <a:r>
              <a:rPr sz="1200" b="0" i="0">
                <a:solidFill>
                  <a:srgbClr val="1B7A43"/>
                </a:solidFill>
                <a:latin typeface="Arial"/>
              </a:rPr>
              <a:t>8,488 engagements (+112.3%)</a:t>
            </a:r>
          </a:p>
        </p:txBody>
      </p:sp>
      <p:sp>
        <p:nvSpPr>
          <p:cNvPr id="22" name="Rectangle 21"/>
          <p:cNvSpPr/>
          <p:nvPr/>
        </p:nvSpPr>
        <p:spPr>
          <a:xfrm>
            <a:off x="548640" y="3383280"/>
            <a:ext cx="8778240" cy="5029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474720"/>
            <a:ext cx="1554480" cy="320040"/>
          </a:xfrm>
          <a:prstGeom prst="rect">
            <a:avLst/>
          </a:prstGeom>
          <a:noFill/>
        </p:spPr>
        <p:txBody>
          <a:bodyPr wrap="square">
            <a:spAutoFit/>
          </a:bodyPr>
          <a:lstStyle/>
          <a:p>
            <a:pPr algn="l"/>
            <a:r>
              <a:rPr sz="1300" b="1" i="0">
                <a:solidFill>
                  <a:srgbClr val="121A2F"/>
                </a:solidFill>
                <a:latin typeface="Arial"/>
              </a:rPr>
              <a:t>X (Twitter)</a:t>
            </a:r>
          </a:p>
        </p:txBody>
      </p:sp>
      <p:sp>
        <p:nvSpPr>
          <p:cNvPr id="24" name="TextBox 23"/>
          <p:cNvSpPr txBox="1"/>
          <p:nvPr/>
        </p:nvSpPr>
        <p:spPr>
          <a:xfrm>
            <a:off x="2286000" y="3474720"/>
            <a:ext cx="2286000" cy="320040"/>
          </a:xfrm>
          <a:prstGeom prst="rect">
            <a:avLst/>
          </a:prstGeom>
          <a:noFill/>
        </p:spPr>
        <p:txBody>
          <a:bodyPr wrap="square">
            <a:spAutoFit/>
          </a:bodyPr>
          <a:lstStyle/>
          <a:p>
            <a:pPr algn="l"/>
            <a:r>
              <a:rPr sz="1200" b="0" i="0">
                <a:solidFill>
                  <a:srgbClr val="1B7A43"/>
                </a:solidFill>
                <a:latin typeface="Arial"/>
              </a:rPr>
              <a:t>1,221 followers (+347.3%)</a:t>
            </a:r>
          </a:p>
        </p:txBody>
      </p:sp>
      <p:sp>
        <p:nvSpPr>
          <p:cNvPr id="25" name="TextBox 24"/>
          <p:cNvSpPr txBox="1"/>
          <p:nvPr/>
        </p:nvSpPr>
        <p:spPr>
          <a:xfrm>
            <a:off x="4663440" y="3474720"/>
            <a:ext cx="2286000" cy="320040"/>
          </a:xfrm>
          <a:prstGeom prst="rect">
            <a:avLst/>
          </a:prstGeom>
          <a:noFill/>
        </p:spPr>
        <p:txBody>
          <a:bodyPr wrap="square">
            <a:spAutoFit/>
          </a:bodyPr>
          <a:lstStyle/>
          <a:p>
            <a:pPr algn="l"/>
            <a:r>
              <a:rPr sz="1200" b="0" i="0">
                <a:solidFill>
                  <a:srgbClr val="B42A2A"/>
                </a:solidFill>
                <a:latin typeface="Arial"/>
              </a:rPr>
              <a:t>1,179 impressions (-27%)</a:t>
            </a:r>
          </a:p>
        </p:txBody>
      </p:sp>
      <p:sp>
        <p:nvSpPr>
          <p:cNvPr id="26" name="TextBox 25"/>
          <p:cNvSpPr txBox="1"/>
          <p:nvPr/>
        </p:nvSpPr>
        <p:spPr>
          <a:xfrm>
            <a:off x="7040880" y="3474720"/>
            <a:ext cx="2286000" cy="320040"/>
          </a:xfrm>
          <a:prstGeom prst="rect">
            <a:avLst/>
          </a:prstGeom>
          <a:noFill/>
        </p:spPr>
        <p:txBody>
          <a:bodyPr wrap="square">
            <a:spAutoFit/>
          </a:bodyPr>
          <a:lstStyle/>
          <a:p>
            <a:pPr algn="l"/>
            <a:r>
              <a:rPr sz="1200" b="0" i="0">
                <a:solidFill>
                  <a:srgbClr val="B42A2A"/>
                </a:solidFill>
                <a:latin typeface="Arial"/>
              </a:rPr>
              <a:t>114 engagements (-41.8%)</a:t>
            </a:r>
          </a:p>
        </p:txBody>
      </p:sp>
      <p:sp>
        <p:nvSpPr>
          <p:cNvPr id="27" name="Rectangle 26"/>
          <p:cNvSpPr/>
          <p:nvPr/>
        </p:nvSpPr>
        <p:spPr>
          <a:xfrm>
            <a:off x="548640" y="3886200"/>
            <a:ext cx="8778240" cy="50292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977640"/>
            <a:ext cx="1554480" cy="320040"/>
          </a:xfrm>
          <a:prstGeom prst="rect">
            <a:avLst/>
          </a:prstGeom>
          <a:noFill/>
        </p:spPr>
        <p:txBody>
          <a:bodyPr wrap="square">
            <a:spAutoFit/>
          </a:bodyPr>
          <a:lstStyle/>
          <a:p>
            <a:pPr algn="l"/>
            <a:r>
              <a:rPr sz="1300" b="1" i="0">
                <a:solidFill>
                  <a:srgbClr val="121A2F"/>
                </a:solidFill>
                <a:latin typeface="Arial"/>
              </a:rPr>
              <a:t>LinkedIn</a:t>
            </a:r>
          </a:p>
        </p:txBody>
      </p:sp>
      <p:sp>
        <p:nvSpPr>
          <p:cNvPr id="29" name="TextBox 28"/>
          <p:cNvSpPr txBox="1"/>
          <p:nvPr/>
        </p:nvSpPr>
        <p:spPr>
          <a:xfrm>
            <a:off x="2286000" y="3977640"/>
            <a:ext cx="2286000" cy="320040"/>
          </a:xfrm>
          <a:prstGeom prst="rect">
            <a:avLst/>
          </a:prstGeom>
          <a:noFill/>
        </p:spPr>
        <p:txBody>
          <a:bodyPr wrap="square">
            <a:spAutoFit/>
          </a:bodyPr>
          <a:lstStyle/>
          <a:p>
            <a:pPr algn="l"/>
            <a:r>
              <a:rPr sz="1200" b="0" i="0">
                <a:solidFill>
                  <a:srgbClr val="1B7A43"/>
                </a:solidFill>
                <a:latin typeface="Arial"/>
              </a:rPr>
              <a:t>590 followers (+570.5%)</a:t>
            </a:r>
          </a:p>
        </p:txBody>
      </p:sp>
      <p:sp>
        <p:nvSpPr>
          <p:cNvPr id="30" name="TextBox 29"/>
          <p:cNvSpPr txBox="1"/>
          <p:nvPr/>
        </p:nvSpPr>
        <p:spPr>
          <a:xfrm>
            <a:off x="4663440" y="3977640"/>
            <a:ext cx="2286000" cy="320040"/>
          </a:xfrm>
          <a:prstGeom prst="rect">
            <a:avLst/>
          </a:prstGeom>
          <a:noFill/>
        </p:spPr>
        <p:txBody>
          <a:bodyPr wrap="square">
            <a:spAutoFit/>
          </a:bodyPr>
          <a:lstStyle/>
          <a:p>
            <a:pPr algn="l"/>
            <a:r>
              <a:rPr sz="1200" b="0" i="0">
                <a:solidFill>
                  <a:srgbClr val="B42A2A"/>
                </a:solidFill>
                <a:latin typeface="Arial"/>
              </a:rPr>
              <a:t>662 impressions (-65.1%)</a:t>
            </a:r>
          </a:p>
        </p:txBody>
      </p:sp>
      <p:sp>
        <p:nvSpPr>
          <p:cNvPr id="31" name="TextBox 30"/>
          <p:cNvSpPr txBox="1"/>
          <p:nvPr/>
        </p:nvSpPr>
        <p:spPr>
          <a:xfrm>
            <a:off x="7040880" y="3977640"/>
            <a:ext cx="2286000" cy="320040"/>
          </a:xfrm>
          <a:prstGeom prst="rect">
            <a:avLst/>
          </a:prstGeom>
          <a:noFill/>
        </p:spPr>
        <p:txBody>
          <a:bodyPr wrap="square">
            <a:spAutoFit/>
          </a:bodyPr>
          <a:lstStyle/>
          <a:p>
            <a:pPr algn="l"/>
            <a:r>
              <a:rPr sz="1200" b="0" i="0">
                <a:solidFill>
                  <a:srgbClr val="B42A2A"/>
                </a:solidFill>
                <a:latin typeface="Arial"/>
              </a:rPr>
              <a:t>89 engagements (-80.4%)</a:t>
            </a:r>
          </a:p>
        </p:txBody>
      </p:sp>
      <p:sp>
        <p:nvSpPr>
          <p:cNvPr id="32" name="Rectangle 31"/>
          <p:cNvSpPr/>
          <p:nvPr/>
        </p:nvSpPr>
        <p:spPr>
          <a:xfrm>
            <a:off x="548640" y="4389120"/>
            <a:ext cx="8778240" cy="5029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4480560"/>
            <a:ext cx="1554480" cy="320040"/>
          </a:xfrm>
          <a:prstGeom prst="rect">
            <a:avLst/>
          </a:prstGeom>
          <a:noFill/>
        </p:spPr>
        <p:txBody>
          <a:bodyPr wrap="square">
            <a:spAutoFit/>
          </a:bodyPr>
          <a:lstStyle/>
          <a:p>
            <a:pPr algn="l"/>
            <a:r>
              <a:rPr sz="1300" b="1" i="0">
                <a:solidFill>
                  <a:srgbClr val="121A2F"/>
                </a:solidFill>
                <a:latin typeface="Arial"/>
              </a:rPr>
              <a:t>TikTok (organic)</a:t>
            </a:r>
          </a:p>
        </p:txBody>
      </p:sp>
      <p:sp>
        <p:nvSpPr>
          <p:cNvPr id="34" name="TextBox 33"/>
          <p:cNvSpPr txBox="1"/>
          <p:nvPr/>
        </p:nvSpPr>
        <p:spPr>
          <a:xfrm>
            <a:off x="2286000" y="4480560"/>
            <a:ext cx="2286000" cy="320040"/>
          </a:xfrm>
          <a:prstGeom prst="rect">
            <a:avLst/>
          </a:prstGeom>
          <a:noFill/>
        </p:spPr>
        <p:txBody>
          <a:bodyPr wrap="square">
            <a:spAutoFit/>
          </a:bodyPr>
          <a:lstStyle/>
          <a:p>
            <a:pPr algn="l"/>
            <a:r>
              <a:rPr sz="1200" b="0" i="0">
                <a:solidFill>
                  <a:srgbClr val="5A6A85"/>
                </a:solidFill>
                <a:latin typeface="Arial"/>
              </a:rPr>
              <a:t>Dormant by design</a:t>
            </a:r>
          </a:p>
        </p:txBody>
      </p:sp>
      <p:sp>
        <p:nvSpPr>
          <p:cNvPr id="35" name="TextBox 34"/>
          <p:cNvSpPr txBox="1"/>
          <p:nvPr/>
        </p:nvSpPr>
        <p:spPr>
          <a:xfrm>
            <a:off x="4663440" y="4480560"/>
            <a:ext cx="2286000" cy="320040"/>
          </a:xfrm>
          <a:prstGeom prst="rect">
            <a:avLst/>
          </a:prstGeom>
          <a:noFill/>
        </p:spPr>
        <p:txBody>
          <a:bodyPr wrap="square">
            <a:spAutoFit/>
          </a:bodyPr>
          <a:lstStyle/>
          <a:p>
            <a:pPr algn="l"/>
            <a:r>
              <a:rPr sz="1200" b="0" i="0">
                <a:solidFill>
                  <a:srgbClr val="5A6A85"/>
                </a:solidFill>
                <a:latin typeface="Arial"/>
              </a:rPr>
              <a:t>14 video views (-98.7%)</a:t>
            </a:r>
          </a:p>
        </p:txBody>
      </p:sp>
      <p:sp>
        <p:nvSpPr>
          <p:cNvPr id="36" name="TextBox 35"/>
          <p:cNvSpPr txBox="1"/>
          <p:nvPr/>
        </p:nvSpPr>
        <p:spPr>
          <a:xfrm>
            <a:off x="7040880" y="4480560"/>
            <a:ext cx="2286000" cy="320040"/>
          </a:xfrm>
          <a:prstGeom prst="rect">
            <a:avLst/>
          </a:prstGeom>
          <a:noFill/>
        </p:spPr>
        <p:txBody>
          <a:bodyPr wrap="square">
            <a:spAutoFit/>
          </a:bodyPr>
          <a:lstStyle/>
          <a:p>
            <a:pPr algn="l"/>
            <a:r>
              <a:rPr sz="1200" b="0" i="0">
                <a:solidFill>
                  <a:srgbClr val="5A6A85"/>
                </a:solidFill>
                <a:latin typeface="Arial"/>
              </a:rPr>
              <a:t>0 engagements</a:t>
            </a:r>
          </a:p>
        </p:txBody>
      </p:sp>
      <p:sp>
        <p:nvSpPr>
          <p:cNvPr id="37" name="TextBox 36"/>
          <p:cNvSpPr txBox="1"/>
          <p:nvPr/>
        </p:nvSpPr>
        <p:spPr>
          <a:xfrm>
            <a:off x="548640" y="6080760"/>
            <a:ext cx="17190720" cy="822960"/>
          </a:xfrm>
          <a:prstGeom prst="rect">
            <a:avLst/>
          </a:prstGeom>
          <a:noFill/>
        </p:spPr>
        <p:txBody>
          <a:bodyPr wrap="square">
            <a:spAutoFit/>
          </a:bodyPr>
          <a:lstStyle/>
          <a:p>
            <a:pPr algn="l"/>
            <a:r>
              <a:rPr sz="1300" b="0" i="1">
                <a:solidFill>
                  <a:srgbClr val="5A6A85"/>
                </a:solidFill>
                <a:latin typeface="Arial"/>
              </a:rPr>
              <a:t>Read: Instagram is the clear growth engine this month, driven by the GCC Relaunch and Mention &amp; Win pushes. Followers grew sharply on every channel, but content-level engagement fell on X and LinkedIn even as the audience grew - both channels need a steadier always-on content cadence, which the H2 baseline sponsor ads plan is designed to fix. TikTok's organic collapse is expected: paid TikTok was removed after a bot-fraud finding (see next slide).</a:t>
            </a:r>
          </a:p>
        </p:txBody>
      </p:sp>
      <p:sp>
        <p:nvSpPr>
          <p:cNvPr id="38" name="TextBox 37"/>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
            </a:r>
          </a:p>
        </p:txBody>
      </p:sp>
      <p:sp>
        <p:nvSpPr>
          <p:cNvPr id="39" name="Rectangle 38"/>
          <p:cNvSpPr/>
          <p:nvPr/>
        </p:nvSpPr>
        <p:spPr>
          <a:xfrm>
            <a:off x="548640" y="5074920"/>
            <a:ext cx="17190720" cy="822960"/>
          </a:xfrm>
          <a:prstGeom prst="rect">
            <a:avLst/>
          </a:prstGeom>
          <a:solidFill>
            <a:srgbClr val="FBF6E9"/>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r>
              <a:rPr b="1" sz="1300">
                <a:solidFill>
                  <a:srgbClr val="121A2F"/>
                </a:solidFill>
                <a:latin typeface="Arial"/>
              </a:rPr>
              <a:t>Update since filing: </a:t>
            </a:r>
            <a:r>
              <a:rPr sz="1300">
                <a:solidFill>
                  <a:srgbClr val="5A6A85"/>
                </a:solidFill>
                <a:latin typeface="Arial"/>
              </a:rPr>
              <a:t/>
            </a:r>
            <a:r>
              <a:rPr sz="1300">
                <a:solidFill>
                  <a:srgbClr val="5A6A85"/>
                </a:solidFill>
                <a:latin typeface="Arial"/>
              </a:rPr>
              <a:t>Instagram's live follower count (1,765, as of 14 Jul 2026) is now reflected directly in the table above. Views and engagement figures in the table remain the 30 June reporting-period totals from TRACCS - those have not been re-pulled live.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LAUNCH CAMPAIGNS</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800" b="1" i="0">
                <a:solidFill>
                  <a:srgbClr val="121A2F"/>
                </a:solidFill>
                <a:latin typeface="Arial"/>
              </a:rPr>
              <a:t>Sponsored Ads: What We Did</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37360"/>
            <a:ext cx="11247120" cy="36576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1828800" cy="274320"/>
          </a:xfrm>
          <a:prstGeom prst="rect">
            <a:avLst/>
          </a:prstGeom>
          <a:noFill/>
        </p:spPr>
        <p:txBody>
          <a:bodyPr wrap="square">
            <a:spAutoFit/>
          </a:bodyPr>
          <a:lstStyle/>
          <a:p>
            <a:pPr algn="l"/>
            <a:r>
              <a:rPr sz="1100" b="1" i="0">
                <a:solidFill>
                  <a:srgbClr val="FFFFFF"/>
                </a:solidFill>
                <a:latin typeface="Arial"/>
              </a:rPr>
              <a:t>Campaign</a:t>
            </a:r>
          </a:p>
        </p:txBody>
      </p:sp>
      <p:sp>
        <p:nvSpPr>
          <p:cNvPr id="8" name="TextBox 7"/>
          <p:cNvSpPr txBox="1"/>
          <p:nvPr/>
        </p:nvSpPr>
        <p:spPr>
          <a:xfrm>
            <a:off x="2377440" y="1783080"/>
            <a:ext cx="2103120" cy="274320"/>
          </a:xfrm>
          <a:prstGeom prst="rect">
            <a:avLst/>
          </a:prstGeom>
          <a:noFill/>
        </p:spPr>
        <p:txBody>
          <a:bodyPr wrap="square">
            <a:spAutoFit/>
          </a:bodyPr>
          <a:lstStyle/>
          <a:p>
            <a:pPr algn="l"/>
            <a:r>
              <a:rPr sz="1100" b="1" i="0">
                <a:solidFill>
                  <a:srgbClr val="FFFFFF"/>
                </a:solidFill>
                <a:latin typeface="Arial"/>
              </a:rPr>
              <a:t>Platforms</a:t>
            </a:r>
          </a:p>
        </p:txBody>
      </p:sp>
      <p:sp>
        <p:nvSpPr>
          <p:cNvPr id="9" name="TextBox 8"/>
          <p:cNvSpPr txBox="1"/>
          <p:nvPr/>
        </p:nvSpPr>
        <p:spPr>
          <a:xfrm>
            <a:off x="4480560" y="1783080"/>
            <a:ext cx="1828800" cy="274320"/>
          </a:xfrm>
          <a:prstGeom prst="rect">
            <a:avLst/>
          </a:prstGeom>
          <a:noFill/>
        </p:spPr>
        <p:txBody>
          <a:bodyPr wrap="square">
            <a:spAutoFit/>
          </a:bodyPr>
          <a:lstStyle/>
          <a:p>
            <a:pPr algn="l"/>
            <a:r>
              <a:rPr sz="1100" b="1" i="0">
                <a:solidFill>
                  <a:srgbClr val="FFFFFF"/>
                </a:solidFill>
                <a:latin typeface="Arial"/>
              </a:rPr>
              <a:t>Window</a:t>
            </a:r>
          </a:p>
        </p:txBody>
      </p:sp>
      <p:sp>
        <p:nvSpPr>
          <p:cNvPr id="10" name="TextBox 9"/>
          <p:cNvSpPr txBox="1"/>
          <p:nvPr/>
        </p:nvSpPr>
        <p:spPr>
          <a:xfrm>
            <a:off x="6309360" y="1783080"/>
            <a:ext cx="1005840" cy="274320"/>
          </a:xfrm>
          <a:prstGeom prst="rect">
            <a:avLst/>
          </a:prstGeom>
          <a:noFill/>
        </p:spPr>
        <p:txBody>
          <a:bodyPr wrap="square">
            <a:spAutoFit/>
          </a:bodyPr>
          <a:lstStyle/>
          <a:p>
            <a:pPr algn="l"/>
            <a:r>
              <a:rPr sz="1100" b="1" i="0">
                <a:solidFill>
                  <a:srgbClr val="FFFFFF"/>
                </a:solidFill>
                <a:latin typeface="Arial"/>
              </a:rPr>
              <a:t>Spend</a:t>
            </a:r>
          </a:p>
        </p:txBody>
      </p:sp>
      <p:sp>
        <p:nvSpPr>
          <p:cNvPr id="11" name="TextBox 10"/>
          <p:cNvSpPr txBox="1"/>
          <p:nvPr/>
        </p:nvSpPr>
        <p:spPr>
          <a:xfrm>
            <a:off x="7315200" y="1783080"/>
            <a:ext cx="4480560" cy="274320"/>
          </a:xfrm>
          <a:prstGeom prst="rect">
            <a:avLst/>
          </a:prstGeom>
          <a:noFill/>
        </p:spPr>
        <p:txBody>
          <a:bodyPr wrap="square">
            <a:spAutoFit/>
          </a:bodyPr>
          <a:lstStyle/>
          <a:p>
            <a:pPr algn="l"/>
            <a:r>
              <a:rPr sz="1100" b="1" i="0">
                <a:solidFill>
                  <a:srgbClr val="FFFFFF"/>
                </a:solidFill>
                <a:latin typeface="Arial"/>
              </a:rPr>
              <a:t>What Happened</a:t>
            </a:r>
          </a:p>
        </p:txBody>
      </p:sp>
      <p:sp>
        <p:nvSpPr>
          <p:cNvPr id="12" name="Rectangle 11"/>
          <p:cNvSpPr/>
          <p:nvPr/>
        </p:nvSpPr>
        <p:spPr>
          <a:xfrm>
            <a:off x="548640" y="2103120"/>
            <a:ext cx="11247120" cy="77724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176272"/>
            <a:ext cx="1737360" cy="685800"/>
          </a:xfrm>
          <a:prstGeom prst="rect">
            <a:avLst/>
          </a:prstGeom>
          <a:noFill/>
        </p:spPr>
        <p:txBody>
          <a:bodyPr wrap="square">
            <a:spAutoFit/>
          </a:bodyPr>
          <a:lstStyle/>
          <a:p>
            <a:pPr algn="l"/>
            <a:r>
              <a:rPr sz="1200" b="1" i="0">
                <a:solidFill>
                  <a:srgbClr val="121A2F"/>
                </a:solidFill>
                <a:latin typeface="Arial"/>
              </a:rPr>
              <a:t>Long Form Launch</a:t>
            </a:r>
          </a:p>
        </p:txBody>
      </p:sp>
      <p:sp>
        <p:nvSpPr>
          <p:cNvPr id="14" name="TextBox 13"/>
          <p:cNvSpPr txBox="1"/>
          <p:nvPr/>
        </p:nvSpPr>
        <p:spPr>
          <a:xfrm>
            <a:off x="2450592" y="2176272"/>
            <a:ext cx="2011680" cy="685800"/>
          </a:xfrm>
          <a:prstGeom prst="rect">
            <a:avLst/>
          </a:prstGeom>
          <a:noFill/>
        </p:spPr>
        <p:txBody>
          <a:bodyPr wrap="square">
            <a:spAutoFit/>
          </a:bodyPr>
          <a:lstStyle/>
          <a:p>
            <a:pPr algn="l"/>
            <a:r>
              <a:rPr sz="1100" b="0" i="0">
                <a:solidFill>
                  <a:srgbClr val="5A6A85"/>
                </a:solidFill>
                <a:latin typeface="Arial"/>
              </a:rPr>
              <a:t>Instagram + LinkedIn</a:t>
            </a:r>
          </a:p>
        </p:txBody>
      </p:sp>
      <p:sp>
        <p:nvSpPr>
          <p:cNvPr id="15" name="TextBox 14"/>
          <p:cNvSpPr txBox="1"/>
          <p:nvPr/>
        </p:nvSpPr>
        <p:spPr>
          <a:xfrm>
            <a:off x="4553712" y="2176272"/>
            <a:ext cx="1737360" cy="685800"/>
          </a:xfrm>
          <a:prstGeom prst="rect">
            <a:avLst/>
          </a:prstGeom>
          <a:noFill/>
        </p:spPr>
        <p:txBody>
          <a:bodyPr wrap="square">
            <a:spAutoFit/>
          </a:bodyPr>
          <a:lstStyle/>
          <a:p>
            <a:pPr algn="l"/>
            <a:r>
              <a:rPr sz="1100" b="0" i="0">
                <a:solidFill>
                  <a:srgbClr val="5A6A85"/>
                </a:solidFill>
                <a:latin typeface="Arial"/>
              </a:rPr>
              <a:t>19 May - 1 Jun</a:t>
            </a:r>
          </a:p>
        </p:txBody>
      </p:sp>
      <p:sp>
        <p:nvSpPr>
          <p:cNvPr id="16" name="TextBox 15"/>
          <p:cNvSpPr txBox="1"/>
          <p:nvPr/>
        </p:nvSpPr>
        <p:spPr>
          <a:xfrm>
            <a:off x="6382512" y="2176272"/>
            <a:ext cx="914400" cy="685800"/>
          </a:xfrm>
          <a:prstGeom prst="rect">
            <a:avLst/>
          </a:prstGeom>
          <a:noFill/>
        </p:spPr>
        <p:txBody>
          <a:bodyPr wrap="square">
            <a:spAutoFit/>
          </a:bodyPr>
          <a:lstStyle/>
          <a:p>
            <a:pPr algn="l"/>
            <a:r>
              <a:rPr sz="1200" b="1" i="0">
                <a:solidFill>
                  <a:srgbClr val="121A2F"/>
                </a:solidFill>
                <a:latin typeface="Arial"/>
              </a:rPr>
              <a:t>$1,700</a:t>
            </a:r>
          </a:p>
        </p:txBody>
      </p:sp>
      <p:sp>
        <p:nvSpPr>
          <p:cNvPr id="17" name="TextBox 16"/>
          <p:cNvSpPr txBox="1"/>
          <p:nvPr/>
        </p:nvSpPr>
        <p:spPr>
          <a:xfrm>
            <a:off x="7388352" y="2176272"/>
            <a:ext cx="4343400" cy="685800"/>
          </a:xfrm>
          <a:prstGeom prst="rect">
            <a:avLst/>
          </a:prstGeom>
          <a:noFill/>
        </p:spPr>
        <p:txBody>
          <a:bodyPr wrap="square">
            <a:spAutoFit/>
          </a:bodyPr>
          <a:lstStyle/>
          <a:p>
            <a:pPr algn="l"/>
            <a:r>
              <a:rPr sz="1100" b="0" i="0">
                <a:solidFill>
                  <a:srgbClr val="121A2F"/>
                </a:solidFill>
                <a:latin typeface="Arial"/>
              </a:rPr>
              <a:t>231,850 impressions across KSA/Bahrain/Oman/Kuwait, 3,471 clicks</a:t>
            </a:r>
          </a:p>
        </p:txBody>
      </p:sp>
      <p:sp>
        <p:nvSpPr>
          <p:cNvPr id="18" name="Rectangle 17"/>
          <p:cNvSpPr/>
          <p:nvPr/>
        </p:nvSpPr>
        <p:spPr>
          <a:xfrm>
            <a:off x="548640" y="2880360"/>
            <a:ext cx="11247120" cy="77724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2953512"/>
            <a:ext cx="1737360" cy="685800"/>
          </a:xfrm>
          <a:prstGeom prst="rect">
            <a:avLst/>
          </a:prstGeom>
          <a:noFill/>
        </p:spPr>
        <p:txBody>
          <a:bodyPr wrap="square">
            <a:spAutoFit/>
          </a:bodyPr>
          <a:lstStyle/>
          <a:p>
            <a:pPr algn="l"/>
            <a:r>
              <a:rPr sz="1200" b="1" i="0">
                <a:solidFill>
                  <a:srgbClr val="121A2F"/>
                </a:solidFill>
                <a:latin typeface="Arial"/>
              </a:rPr>
              <a:t>Astronaut</a:t>
            </a:r>
          </a:p>
        </p:txBody>
      </p:sp>
      <p:sp>
        <p:nvSpPr>
          <p:cNvPr id="20" name="TextBox 19"/>
          <p:cNvSpPr txBox="1"/>
          <p:nvPr/>
        </p:nvSpPr>
        <p:spPr>
          <a:xfrm>
            <a:off x="2450592" y="2953512"/>
            <a:ext cx="2011680" cy="685800"/>
          </a:xfrm>
          <a:prstGeom prst="rect">
            <a:avLst/>
          </a:prstGeom>
          <a:noFill/>
        </p:spPr>
        <p:txBody>
          <a:bodyPr wrap="square">
            <a:spAutoFit/>
          </a:bodyPr>
          <a:lstStyle/>
          <a:p>
            <a:pPr algn="l"/>
            <a:r>
              <a:rPr sz="1100" b="0" i="0">
                <a:solidFill>
                  <a:srgbClr val="5A6A85"/>
                </a:solidFill>
                <a:latin typeface="Arial"/>
              </a:rPr>
              <a:t>Instagram, TikTok, X</a:t>
            </a:r>
          </a:p>
        </p:txBody>
      </p:sp>
      <p:sp>
        <p:nvSpPr>
          <p:cNvPr id="21" name="TextBox 20"/>
          <p:cNvSpPr txBox="1"/>
          <p:nvPr/>
        </p:nvSpPr>
        <p:spPr>
          <a:xfrm>
            <a:off x="4553712" y="2953512"/>
            <a:ext cx="1737360" cy="685800"/>
          </a:xfrm>
          <a:prstGeom prst="rect">
            <a:avLst/>
          </a:prstGeom>
          <a:noFill/>
        </p:spPr>
        <p:txBody>
          <a:bodyPr wrap="square">
            <a:spAutoFit/>
          </a:bodyPr>
          <a:lstStyle/>
          <a:p>
            <a:pPr algn="l"/>
            <a:r>
              <a:rPr sz="1100" b="0" i="0">
                <a:solidFill>
                  <a:srgbClr val="5A6A85"/>
                </a:solidFill>
                <a:latin typeface="Arial"/>
              </a:rPr>
              <a:t>19 May - 1 Jun</a:t>
            </a:r>
          </a:p>
        </p:txBody>
      </p:sp>
      <p:sp>
        <p:nvSpPr>
          <p:cNvPr id="22" name="TextBox 21"/>
          <p:cNvSpPr txBox="1"/>
          <p:nvPr/>
        </p:nvSpPr>
        <p:spPr>
          <a:xfrm>
            <a:off x="6382512" y="2953512"/>
            <a:ext cx="914400" cy="685800"/>
          </a:xfrm>
          <a:prstGeom prst="rect">
            <a:avLst/>
          </a:prstGeom>
          <a:noFill/>
        </p:spPr>
        <p:txBody>
          <a:bodyPr wrap="square">
            <a:spAutoFit/>
          </a:bodyPr>
          <a:lstStyle/>
          <a:p>
            <a:pPr algn="l"/>
            <a:r>
              <a:rPr sz="1200" b="1" i="0">
                <a:solidFill>
                  <a:srgbClr val="121A2F"/>
                </a:solidFill>
                <a:latin typeface="Arial"/>
              </a:rPr>
              <a:t>$3,700</a:t>
            </a:r>
          </a:p>
        </p:txBody>
      </p:sp>
      <p:sp>
        <p:nvSpPr>
          <p:cNvPr id="23" name="TextBox 22"/>
          <p:cNvSpPr txBox="1"/>
          <p:nvPr/>
        </p:nvSpPr>
        <p:spPr>
          <a:xfrm>
            <a:off x="7388352" y="2953512"/>
            <a:ext cx="4343400" cy="685800"/>
          </a:xfrm>
          <a:prstGeom prst="rect">
            <a:avLst/>
          </a:prstGeom>
          <a:noFill/>
        </p:spPr>
        <p:txBody>
          <a:bodyPr wrap="square">
            <a:spAutoFit/>
          </a:bodyPr>
          <a:lstStyle/>
          <a:p>
            <a:pPr algn="l"/>
            <a:r>
              <a:rPr sz="1100" b="0" i="0">
                <a:solidFill>
                  <a:srgbClr val="121A2F"/>
                </a:solidFill>
                <a:latin typeface="Arial"/>
              </a:rPr>
              <a:t>Highest raw reach of any May campaign, but TikTok leg later found fraudulent (see next slide)</a:t>
            </a:r>
          </a:p>
        </p:txBody>
      </p:sp>
      <p:sp>
        <p:nvSpPr>
          <p:cNvPr id="24" name="Rectangle 23"/>
          <p:cNvSpPr/>
          <p:nvPr/>
        </p:nvSpPr>
        <p:spPr>
          <a:xfrm>
            <a:off x="548640" y="3657600"/>
            <a:ext cx="11247120" cy="77724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3730752"/>
            <a:ext cx="1737360" cy="685800"/>
          </a:xfrm>
          <a:prstGeom prst="rect">
            <a:avLst/>
          </a:prstGeom>
          <a:noFill/>
        </p:spPr>
        <p:txBody>
          <a:bodyPr wrap="square">
            <a:spAutoFit/>
          </a:bodyPr>
          <a:lstStyle/>
          <a:p>
            <a:pPr algn="l"/>
            <a:r>
              <a:rPr sz="1200" b="1" i="0">
                <a:solidFill>
                  <a:srgbClr val="121A2F"/>
                </a:solidFill>
                <a:latin typeface="Arial"/>
              </a:rPr>
              <a:t>App Screens</a:t>
            </a:r>
          </a:p>
        </p:txBody>
      </p:sp>
      <p:sp>
        <p:nvSpPr>
          <p:cNvPr id="26" name="TextBox 25"/>
          <p:cNvSpPr txBox="1"/>
          <p:nvPr/>
        </p:nvSpPr>
        <p:spPr>
          <a:xfrm>
            <a:off x="2450592" y="3730752"/>
            <a:ext cx="2011680" cy="685800"/>
          </a:xfrm>
          <a:prstGeom prst="rect">
            <a:avLst/>
          </a:prstGeom>
          <a:noFill/>
        </p:spPr>
        <p:txBody>
          <a:bodyPr wrap="square">
            <a:spAutoFit/>
          </a:bodyPr>
          <a:lstStyle/>
          <a:p>
            <a:pPr algn="l"/>
            <a:r>
              <a:rPr sz="1100" b="0" i="0">
                <a:solidFill>
                  <a:srgbClr val="5A6A85"/>
                </a:solidFill>
                <a:latin typeface="Arial"/>
              </a:rPr>
              <a:t>X</a:t>
            </a:r>
          </a:p>
        </p:txBody>
      </p:sp>
      <p:sp>
        <p:nvSpPr>
          <p:cNvPr id="27" name="TextBox 26"/>
          <p:cNvSpPr txBox="1"/>
          <p:nvPr/>
        </p:nvSpPr>
        <p:spPr>
          <a:xfrm>
            <a:off x="4553712" y="3730752"/>
            <a:ext cx="1737360" cy="685800"/>
          </a:xfrm>
          <a:prstGeom prst="rect">
            <a:avLst/>
          </a:prstGeom>
          <a:noFill/>
        </p:spPr>
        <p:txBody>
          <a:bodyPr wrap="square">
            <a:spAutoFit/>
          </a:bodyPr>
          <a:lstStyle/>
          <a:p>
            <a:pPr algn="l"/>
            <a:r>
              <a:rPr sz="1100" b="0" i="0">
                <a:solidFill>
                  <a:srgbClr val="5A6A85"/>
                </a:solidFill>
                <a:latin typeface="Arial"/>
              </a:rPr>
              <a:t>4 - 13 Jun</a:t>
            </a:r>
          </a:p>
        </p:txBody>
      </p:sp>
      <p:sp>
        <p:nvSpPr>
          <p:cNvPr id="28" name="TextBox 27"/>
          <p:cNvSpPr txBox="1"/>
          <p:nvPr/>
        </p:nvSpPr>
        <p:spPr>
          <a:xfrm>
            <a:off x="6382512" y="3730752"/>
            <a:ext cx="914400" cy="685800"/>
          </a:xfrm>
          <a:prstGeom prst="rect">
            <a:avLst/>
          </a:prstGeom>
          <a:noFill/>
        </p:spPr>
        <p:txBody>
          <a:bodyPr wrap="square">
            <a:spAutoFit/>
          </a:bodyPr>
          <a:lstStyle/>
          <a:p>
            <a:pPr algn="l"/>
            <a:r>
              <a:rPr sz="1200" b="1" i="0">
                <a:solidFill>
                  <a:srgbClr val="121A2F"/>
                </a:solidFill>
                <a:latin typeface="Arial"/>
              </a:rPr>
              <a:t>$500</a:t>
            </a:r>
          </a:p>
        </p:txBody>
      </p:sp>
      <p:sp>
        <p:nvSpPr>
          <p:cNvPr id="29" name="TextBox 28"/>
          <p:cNvSpPr txBox="1"/>
          <p:nvPr/>
        </p:nvSpPr>
        <p:spPr>
          <a:xfrm>
            <a:off x="7388352" y="3730752"/>
            <a:ext cx="4343400" cy="685800"/>
          </a:xfrm>
          <a:prstGeom prst="rect">
            <a:avLst/>
          </a:prstGeom>
          <a:noFill/>
        </p:spPr>
        <p:txBody>
          <a:bodyPr wrap="square">
            <a:spAutoFit/>
          </a:bodyPr>
          <a:lstStyle/>
          <a:p>
            <a:pPr algn="l"/>
            <a:r>
              <a:rPr sz="1100" b="0" i="0">
                <a:solidFill>
                  <a:srgbClr val="121A2F"/>
                </a:solidFill>
                <a:latin typeface="Arial"/>
              </a:rPr>
              <a:t>Small-scale product-focused push, KSA only</a:t>
            </a:r>
          </a:p>
        </p:txBody>
      </p:sp>
      <p:sp>
        <p:nvSpPr>
          <p:cNvPr id="30" name="Rectangle 29"/>
          <p:cNvSpPr/>
          <p:nvPr/>
        </p:nvSpPr>
        <p:spPr>
          <a:xfrm>
            <a:off x="548640" y="4434840"/>
            <a:ext cx="11247120" cy="77724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4507992"/>
            <a:ext cx="1737360" cy="685800"/>
          </a:xfrm>
          <a:prstGeom prst="rect">
            <a:avLst/>
          </a:prstGeom>
          <a:noFill/>
        </p:spPr>
        <p:txBody>
          <a:bodyPr wrap="square">
            <a:spAutoFit/>
          </a:bodyPr>
          <a:lstStyle/>
          <a:p>
            <a:pPr algn="l"/>
            <a:r>
              <a:rPr sz="1200" b="1" i="0">
                <a:solidFill>
                  <a:srgbClr val="121A2F"/>
                </a:solidFill>
                <a:latin typeface="Arial"/>
              </a:rPr>
              <a:t>GCC Relaunch</a:t>
            </a:r>
          </a:p>
        </p:txBody>
      </p:sp>
      <p:sp>
        <p:nvSpPr>
          <p:cNvPr id="32" name="TextBox 31"/>
          <p:cNvSpPr txBox="1"/>
          <p:nvPr/>
        </p:nvSpPr>
        <p:spPr>
          <a:xfrm>
            <a:off x="2450592" y="4507992"/>
            <a:ext cx="2011680" cy="685800"/>
          </a:xfrm>
          <a:prstGeom prst="rect">
            <a:avLst/>
          </a:prstGeom>
          <a:noFill/>
        </p:spPr>
        <p:txBody>
          <a:bodyPr wrap="square">
            <a:spAutoFit/>
          </a:bodyPr>
          <a:lstStyle/>
          <a:p>
            <a:pPr algn="l"/>
            <a:r>
              <a:rPr sz="1100" b="0" i="0">
                <a:solidFill>
                  <a:srgbClr val="5A6A85"/>
                </a:solidFill>
                <a:latin typeface="Arial"/>
              </a:rPr>
              <a:t>X, Instagram, LinkedIn</a:t>
            </a:r>
          </a:p>
        </p:txBody>
      </p:sp>
      <p:sp>
        <p:nvSpPr>
          <p:cNvPr id="33" name="TextBox 32"/>
          <p:cNvSpPr txBox="1"/>
          <p:nvPr/>
        </p:nvSpPr>
        <p:spPr>
          <a:xfrm>
            <a:off x="4553712" y="4507992"/>
            <a:ext cx="1737360" cy="685800"/>
          </a:xfrm>
          <a:prstGeom prst="rect">
            <a:avLst/>
          </a:prstGeom>
          <a:noFill/>
        </p:spPr>
        <p:txBody>
          <a:bodyPr wrap="square">
            <a:spAutoFit/>
          </a:bodyPr>
          <a:lstStyle/>
          <a:p>
            <a:pPr algn="l"/>
            <a:r>
              <a:rPr sz="1100" b="0" i="0">
                <a:solidFill>
                  <a:srgbClr val="5A6A85"/>
                </a:solidFill>
                <a:latin typeface="Arial"/>
              </a:rPr>
              <a:t>8 Jun - 8 Jul (in flight)</a:t>
            </a:r>
          </a:p>
        </p:txBody>
      </p:sp>
      <p:sp>
        <p:nvSpPr>
          <p:cNvPr id="34" name="TextBox 33"/>
          <p:cNvSpPr txBox="1"/>
          <p:nvPr/>
        </p:nvSpPr>
        <p:spPr>
          <a:xfrm>
            <a:off x="6382512" y="4507992"/>
            <a:ext cx="914400" cy="685800"/>
          </a:xfrm>
          <a:prstGeom prst="rect">
            <a:avLst/>
          </a:prstGeom>
          <a:noFill/>
        </p:spPr>
        <p:txBody>
          <a:bodyPr wrap="square">
            <a:spAutoFit/>
          </a:bodyPr>
          <a:lstStyle/>
          <a:p>
            <a:pPr algn="l"/>
            <a:r>
              <a:rPr sz="1200" b="1" i="0">
                <a:solidFill>
                  <a:srgbClr val="121A2F"/>
                </a:solidFill>
                <a:latin typeface="Arial"/>
              </a:rPr>
              <a:t>$6,700</a:t>
            </a:r>
          </a:p>
        </p:txBody>
      </p:sp>
      <p:sp>
        <p:nvSpPr>
          <p:cNvPr id="35" name="TextBox 34"/>
          <p:cNvSpPr txBox="1"/>
          <p:nvPr/>
        </p:nvSpPr>
        <p:spPr>
          <a:xfrm>
            <a:off x="7388352" y="4507992"/>
            <a:ext cx="4343400" cy="685800"/>
          </a:xfrm>
          <a:prstGeom prst="rect">
            <a:avLst/>
          </a:prstGeom>
          <a:noFill/>
        </p:spPr>
        <p:txBody>
          <a:bodyPr wrap="square">
            <a:spAutoFit/>
          </a:bodyPr>
          <a:lstStyle/>
          <a:p>
            <a:pPr algn="l"/>
            <a:r>
              <a:rPr sz="1100" b="0" i="0">
                <a:solidFill>
                  <a:srgbClr val="121A2F"/>
                </a:solidFill>
                <a:latin typeface="Arial"/>
              </a:rPr>
              <a:t>Still running at filing time - results to be reported next cycle</a:t>
            </a:r>
          </a:p>
        </p:txBody>
      </p:sp>
      <p:sp>
        <p:nvSpPr>
          <p:cNvPr id="36" name="Rectangle 35"/>
          <p:cNvSpPr/>
          <p:nvPr/>
        </p:nvSpPr>
        <p:spPr>
          <a:xfrm>
            <a:off x="548640" y="5212080"/>
            <a:ext cx="11247120" cy="77724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5285232"/>
            <a:ext cx="1737360" cy="685800"/>
          </a:xfrm>
          <a:prstGeom prst="rect">
            <a:avLst/>
          </a:prstGeom>
          <a:noFill/>
        </p:spPr>
        <p:txBody>
          <a:bodyPr wrap="square">
            <a:spAutoFit/>
          </a:bodyPr>
          <a:lstStyle/>
          <a:p>
            <a:pPr algn="l"/>
            <a:r>
              <a:rPr sz="1200" b="1" i="0">
                <a:solidFill>
                  <a:srgbClr val="121A2F"/>
                </a:solidFill>
                <a:latin typeface="Arial"/>
              </a:rPr>
              <a:t>Mention &amp; Win</a:t>
            </a:r>
          </a:p>
        </p:txBody>
      </p:sp>
      <p:sp>
        <p:nvSpPr>
          <p:cNvPr id="38" name="TextBox 37"/>
          <p:cNvSpPr txBox="1"/>
          <p:nvPr/>
        </p:nvSpPr>
        <p:spPr>
          <a:xfrm>
            <a:off x="2450592" y="5285232"/>
            <a:ext cx="2011680" cy="685800"/>
          </a:xfrm>
          <a:prstGeom prst="rect">
            <a:avLst/>
          </a:prstGeom>
          <a:noFill/>
        </p:spPr>
        <p:txBody>
          <a:bodyPr wrap="square">
            <a:spAutoFit/>
          </a:bodyPr>
          <a:lstStyle/>
          <a:p>
            <a:pPr algn="l"/>
            <a:r>
              <a:rPr sz="1100" b="0" i="0">
                <a:solidFill>
                  <a:srgbClr val="5A6A85"/>
                </a:solidFill>
                <a:latin typeface="Arial"/>
              </a:rPr>
              <a:t>Instagram</a:t>
            </a:r>
          </a:p>
        </p:txBody>
      </p:sp>
      <p:sp>
        <p:nvSpPr>
          <p:cNvPr id="39" name="TextBox 38"/>
          <p:cNvSpPr txBox="1"/>
          <p:nvPr/>
        </p:nvSpPr>
        <p:spPr>
          <a:xfrm>
            <a:off x="4553712" y="5285232"/>
            <a:ext cx="1737360" cy="685800"/>
          </a:xfrm>
          <a:prstGeom prst="rect">
            <a:avLst/>
          </a:prstGeom>
          <a:noFill/>
        </p:spPr>
        <p:txBody>
          <a:bodyPr wrap="square">
            <a:spAutoFit/>
          </a:bodyPr>
          <a:lstStyle/>
          <a:p>
            <a:pPr algn="l"/>
            <a:r>
              <a:rPr sz="1100" b="0" i="0">
                <a:solidFill>
                  <a:srgbClr val="5A6A85"/>
                </a:solidFill>
                <a:latin typeface="Arial"/>
              </a:rPr>
              <a:t>11 - 18 Jun</a:t>
            </a:r>
          </a:p>
        </p:txBody>
      </p:sp>
      <p:sp>
        <p:nvSpPr>
          <p:cNvPr id="40" name="TextBox 39"/>
          <p:cNvSpPr txBox="1"/>
          <p:nvPr/>
        </p:nvSpPr>
        <p:spPr>
          <a:xfrm>
            <a:off x="6382512" y="5285232"/>
            <a:ext cx="914400" cy="685800"/>
          </a:xfrm>
          <a:prstGeom prst="rect">
            <a:avLst/>
          </a:prstGeom>
          <a:noFill/>
        </p:spPr>
        <p:txBody>
          <a:bodyPr wrap="square">
            <a:spAutoFit/>
          </a:bodyPr>
          <a:lstStyle/>
          <a:p>
            <a:pPr algn="l"/>
            <a:r>
              <a:rPr sz="1200" b="1" i="0">
                <a:solidFill>
                  <a:srgbClr val="121A2F"/>
                </a:solidFill>
                <a:latin typeface="Arial"/>
              </a:rPr>
              <a:t>$600</a:t>
            </a:r>
          </a:p>
        </p:txBody>
      </p:sp>
      <p:sp>
        <p:nvSpPr>
          <p:cNvPr id="41" name="TextBox 40"/>
          <p:cNvSpPr txBox="1"/>
          <p:nvPr/>
        </p:nvSpPr>
        <p:spPr>
          <a:xfrm>
            <a:off x="7388352" y="5285232"/>
            <a:ext cx="4343400" cy="685800"/>
          </a:xfrm>
          <a:prstGeom prst="rect">
            <a:avLst/>
          </a:prstGeom>
          <a:noFill/>
        </p:spPr>
        <p:txBody>
          <a:bodyPr wrap="square">
            <a:spAutoFit/>
          </a:bodyPr>
          <a:lstStyle/>
          <a:p>
            <a:pPr algn="l"/>
            <a:r>
              <a:rPr sz="1100" b="0" i="0">
                <a:solidFill>
                  <a:srgbClr val="121A2F"/>
                </a:solidFill>
                <a:latin typeface="Arial"/>
              </a:rPr>
              <a:t>266,218 views, 22,580 clicks, 6 new accounts acquired (~$100 cost per acquisition)</a:t>
            </a:r>
          </a:p>
        </p:txBody>
      </p:sp>
      <p:sp>
        <p:nvSpPr>
          <p:cNvPr id="42" name="TextBox 41"/>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Sponsored Ads Report / eMYAA Sponsor Ad Budget - 2026.xlsx; eMYAA H2 2026 Campaign Ad Copy Calendar.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LAUNCH CAMPAIGNS</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800" b="1" i="0">
                <a:solidFill>
                  <a:srgbClr val="121A2F"/>
                </a:solidFill>
                <a:latin typeface="Arial"/>
              </a:rPr>
              <a:t>Sponsored Ads: What We Learned, Why We're Changing, and the Payoff</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12618720" cy="36576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737360"/>
            <a:ext cx="4114800" cy="274320"/>
          </a:xfrm>
          <a:prstGeom prst="rect">
            <a:avLst/>
          </a:prstGeom>
          <a:noFill/>
        </p:spPr>
        <p:txBody>
          <a:bodyPr wrap="square">
            <a:spAutoFit/>
          </a:bodyPr>
          <a:lstStyle/>
          <a:p>
            <a:pPr algn="l"/>
            <a:r>
              <a:rPr sz="1200" b="1" i="0">
                <a:solidFill>
                  <a:srgbClr val="FFFFFF"/>
                </a:solidFill>
                <a:latin typeface="Arial"/>
              </a:rPr>
              <a:t>What We Found</a:t>
            </a:r>
          </a:p>
        </p:txBody>
      </p:sp>
      <p:sp>
        <p:nvSpPr>
          <p:cNvPr id="8" name="TextBox 7"/>
          <p:cNvSpPr txBox="1"/>
          <p:nvPr/>
        </p:nvSpPr>
        <p:spPr>
          <a:xfrm>
            <a:off x="4828032" y="1737360"/>
            <a:ext cx="4114800" cy="274320"/>
          </a:xfrm>
          <a:prstGeom prst="rect">
            <a:avLst/>
          </a:prstGeom>
          <a:noFill/>
        </p:spPr>
        <p:txBody>
          <a:bodyPr wrap="square">
            <a:spAutoFit/>
          </a:bodyPr>
          <a:lstStyle/>
          <a:p>
            <a:pPr algn="l"/>
            <a:r>
              <a:rPr sz="1200" b="1" i="0">
                <a:solidFill>
                  <a:srgbClr val="FFFFFF"/>
                </a:solidFill>
                <a:latin typeface="Arial"/>
              </a:rPr>
              <a:t>Why We're Changing</a:t>
            </a:r>
          </a:p>
        </p:txBody>
      </p:sp>
      <p:sp>
        <p:nvSpPr>
          <p:cNvPr id="9" name="TextBox 8"/>
          <p:cNvSpPr txBox="1"/>
          <p:nvPr/>
        </p:nvSpPr>
        <p:spPr>
          <a:xfrm>
            <a:off x="9034272" y="1737360"/>
            <a:ext cx="4114800" cy="274320"/>
          </a:xfrm>
          <a:prstGeom prst="rect">
            <a:avLst/>
          </a:prstGeom>
          <a:noFill/>
        </p:spPr>
        <p:txBody>
          <a:bodyPr wrap="square">
            <a:spAutoFit/>
          </a:bodyPr>
          <a:lstStyle/>
          <a:p>
            <a:pPr algn="l"/>
            <a:r>
              <a:rPr sz="1200" b="1" i="0">
                <a:solidFill>
                  <a:srgbClr val="FFFFFF"/>
                </a:solidFill>
                <a:latin typeface="Arial"/>
              </a:rPr>
              <a:t>Expected Positive Impact</a:t>
            </a:r>
          </a:p>
        </p:txBody>
      </p:sp>
      <p:sp>
        <p:nvSpPr>
          <p:cNvPr id="10" name="Rectangle 9"/>
          <p:cNvSpPr/>
          <p:nvPr/>
        </p:nvSpPr>
        <p:spPr>
          <a:xfrm>
            <a:off x="548640" y="2057400"/>
            <a:ext cx="12618720" cy="23317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148840"/>
            <a:ext cx="4005072" cy="320040"/>
          </a:xfrm>
          <a:prstGeom prst="rect">
            <a:avLst/>
          </a:prstGeom>
          <a:noFill/>
        </p:spPr>
        <p:txBody>
          <a:bodyPr wrap="square">
            <a:spAutoFit/>
          </a:bodyPr>
          <a:lstStyle/>
          <a:p>
            <a:pPr algn="l"/>
            <a:r>
              <a:rPr sz="1200" b="1" i="0">
                <a:solidFill>
                  <a:srgbClr val="121A2F"/>
                </a:solidFill>
                <a:latin typeface="Arial"/>
              </a:rPr>
              <a:t>TikTok's May traffic was fraudulent, not just underperforming.</a:t>
            </a:r>
          </a:p>
        </p:txBody>
      </p:sp>
      <p:sp>
        <p:nvSpPr>
          <p:cNvPr id="12" name="TextBox 11"/>
          <p:cNvSpPr txBox="1"/>
          <p:nvPr/>
        </p:nvSpPr>
        <p:spPr>
          <a:xfrm>
            <a:off x="658368" y="2514600"/>
            <a:ext cx="4005072" cy="1783080"/>
          </a:xfrm>
          <a:prstGeom prst="rect">
            <a:avLst/>
          </a:prstGeom>
          <a:noFill/>
        </p:spPr>
        <p:txBody>
          <a:bodyPr wrap="square">
            <a:spAutoFit/>
          </a:bodyPr>
          <a:lstStyle/>
          <a:p>
            <a:pPr algn="l"/>
            <a:r>
              <a:rPr sz="1100" b="0" i="0">
                <a:solidFill>
                  <a:srgbClr val="5A6A85"/>
                </a:solidFill>
                <a:latin typeface="Arial"/>
              </a:rPr>
              <a:t>CPCs 24-47x cheaper than TikTok's own Dec 2025 baseline, funneled through the Pangle network, 99%+ Android skew, traffic concentrated in Oman/KSA against a Bahrain-centric target.</a:t>
            </a:r>
          </a:p>
        </p:txBody>
      </p:sp>
      <p:sp>
        <p:nvSpPr>
          <p:cNvPr id="13" name="TextBox 12"/>
          <p:cNvSpPr txBox="1"/>
          <p:nvPr/>
        </p:nvSpPr>
        <p:spPr>
          <a:xfrm>
            <a:off x="4864608" y="2148840"/>
            <a:ext cx="4005072" cy="2148840"/>
          </a:xfrm>
          <a:prstGeom prst="rect">
            <a:avLst/>
          </a:prstGeom>
          <a:noFill/>
        </p:spPr>
        <p:txBody>
          <a:bodyPr wrap="square">
            <a:spAutoFit/>
          </a:bodyPr>
          <a:lstStyle/>
          <a:p>
            <a:pPr algn="l"/>
            <a:r>
              <a:rPr sz="1100" b="0" i="0">
                <a:solidFill>
                  <a:srgbClr val="5A6A85"/>
                </a:solidFill>
                <a:latin typeface="Arial"/>
              </a:rPr>
              <a:t>Bot traffic doesn't just waste spend - it corrupts every downstream metric and was masking the fact that real GCC investors were never being reached on that channel at all.</a:t>
            </a:r>
          </a:p>
        </p:txBody>
      </p:sp>
      <p:sp>
        <p:nvSpPr>
          <p:cNvPr id="14" name="TextBox 13"/>
          <p:cNvSpPr txBox="1"/>
          <p:nvPr/>
        </p:nvSpPr>
        <p:spPr>
          <a:xfrm>
            <a:off x="9070848" y="2148840"/>
            <a:ext cx="4005072" cy="2148840"/>
          </a:xfrm>
          <a:prstGeom prst="rect">
            <a:avLst/>
          </a:prstGeom>
          <a:noFill/>
        </p:spPr>
        <p:txBody>
          <a:bodyPr wrap="square">
            <a:spAutoFit/>
          </a:bodyPr>
          <a:lstStyle/>
          <a:p>
            <a:pPr algn="l"/>
            <a:r>
              <a:rPr sz="1100" b="0" i="0">
                <a:solidFill>
                  <a:srgbClr val="1B7A43"/>
                </a:solidFill>
                <a:latin typeface="Arial"/>
              </a:rPr>
              <a:t>TikTok removed entirely from paid media (22 Jun). Every dollar once earmarked for it now goes to channels with verified, human audiences - no efficiency lost, only fraud removed.</a:t>
            </a:r>
          </a:p>
        </p:txBody>
      </p:sp>
      <p:sp>
        <p:nvSpPr>
          <p:cNvPr id="15" name="Rectangle 14"/>
          <p:cNvSpPr/>
          <p:nvPr/>
        </p:nvSpPr>
        <p:spPr>
          <a:xfrm>
            <a:off x="548640" y="4389120"/>
            <a:ext cx="12618720" cy="233172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480560"/>
            <a:ext cx="4005072" cy="320040"/>
          </a:xfrm>
          <a:prstGeom prst="rect">
            <a:avLst/>
          </a:prstGeom>
          <a:noFill/>
        </p:spPr>
        <p:txBody>
          <a:bodyPr wrap="square">
            <a:spAutoFit/>
          </a:bodyPr>
          <a:lstStyle/>
          <a:p>
            <a:pPr algn="l"/>
            <a:r>
              <a:rPr sz="1200" b="1" i="0">
                <a:solidFill>
                  <a:srgbClr val="121A2F"/>
                </a:solidFill>
                <a:latin typeface="Arial"/>
              </a:rPr>
              <a:t>Human-fronted content beats animation.</a:t>
            </a:r>
          </a:p>
        </p:txBody>
      </p:sp>
      <p:sp>
        <p:nvSpPr>
          <p:cNvPr id="17" name="TextBox 16"/>
          <p:cNvSpPr txBox="1"/>
          <p:nvPr/>
        </p:nvSpPr>
        <p:spPr>
          <a:xfrm>
            <a:off x="658368" y="4846320"/>
            <a:ext cx="4005072" cy="1783080"/>
          </a:xfrm>
          <a:prstGeom prst="rect">
            <a:avLst/>
          </a:prstGeom>
          <a:noFill/>
        </p:spPr>
        <p:txBody>
          <a:bodyPr wrap="square">
            <a:spAutoFit/>
          </a:bodyPr>
          <a:lstStyle/>
          <a:p>
            <a:pPr algn="l"/>
            <a:r>
              <a:rPr sz="1100" b="0" i="0">
                <a:solidFill>
                  <a:srgbClr val="5A6A85"/>
                </a:solidFill>
                <a:latin typeface="Arial"/>
              </a:rPr>
              <a:t>Dec 2025's presenter-led Instagram/LinkedIn ads outperformed May 2026's animated "Astronaut" creative on real engagement.</a:t>
            </a:r>
          </a:p>
        </p:txBody>
      </p:sp>
      <p:sp>
        <p:nvSpPr>
          <p:cNvPr id="18" name="TextBox 17"/>
          <p:cNvSpPr txBox="1"/>
          <p:nvPr/>
        </p:nvSpPr>
        <p:spPr>
          <a:xfrm>
            <a:off x="4864608" y="4480560"/>
            <a:ext cx="4005072" cy="2148840"/>
          </a:xfrm>
          <a:prstGeom prst="rect">
            <a:avLst/>
          </a:prstGeom>
          <a:noFill/>
        </p:spPr>
        <p:txBody>
          <a:bodyPr wrap="square">
            <a:spAutoFit/>
          </a:bodyPr>
          <a:lstStyle/>
          <a:p>
            <a:pPr algn="l"/>
            <a:r>
              <a:rPr sz="1100" b="0" i="0">
                <a:solidFill>
                  <a:srgbClr val="5A6A85"/>
                </a:solidFill>
                <a:latin typeface="Arial"/>
              </a:rPr>
              <a:t>Trading and investing content runs on trust. A real person builds credibility with a first-time GCC investor faster than a graphic explainer can.</a:t>
            </a:r>
          </a:p>
        </p:txBody>
      </p:sp>
      <p:sp>
        <p:nvSpPr>
          <p:cNvPr id="19" name="TextBox 18"/>
          <p:cNvSpPr txBox="1"/>
          <p:nvPr/>
        </p:nvSpPr>
        <p:spPr>
          <a:xfrm>
            <a:off x="9070848" y="4480560"/>
            <a:ext cx="4005072" cy="2148840"/>
          </a:xfrm>
          <a:prstGeom prst="rect">
            <a:avLst/>
          </a:prstGeom>
          <a:noFill/>
        </p:spPr>
        <p:txBody>
          <a:bodyPr wrap="square">
            <a:spAutoFit/>
          </a:bodyPr>
          <a:lstStyle/>
          <a:p>
            <a:pPr algn="l"/>
            <a:r>
              <a:rPr sz="1100" b="0" i="0">
                <a:solidFill>
                  <a:srgbClr val="1B7A43"/>
                </a:solidFill>
                <a:latin typeface="Arial"/>
              </a:rPr>
              <a:t>Funded the new 5-creator influencer program (Phase 1, $7,579) - a direct, costed response expected to lift engagement on the channels where June's paid ads underperformed (X, LinkedIn).</a:t>
            </a:r>
          </a:p>
        </p:txBody>
      </p:sp>
      <p:sp>
        <p:nvSpPr>
          <p:cNvPr id="20" name="Rectangle 19"/>
          <p:cNvSpPr/>
          <p:nvPr/>
        </p:nvSpPr>
        <p:spPr>
          <a:xfrm>
            <a:off x="548640" y="6720840"/>
            <a:ext cx="12618720" cy="23317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6812280"/>
            <a:ext cx="4005072" cy="320040"/>
          </a:xfrm>
          <a:prstGeom prst="rect">
            <a:avLst/>
          </a:prstGeom>
          <a:noFill/>
        </p:spPr>
        <p:txBody>
          <a:bodyPr wrap="square">
            <a:spAutoFit/>
          </a:bodyPr>
          <a:lstStyle/>
          <a:p>
            <a:pPr algn="l"/>
            <a:r>
              <a:rPr sz="1200" b="1" i="0">
                <a:solidFill>
                  <a:srgbClr val="121A2F"/>
                </a:solidFill>
                <a:latin typeface="Arial"/>
              </a:rPr>
              <a:t>Audience growth is outrunning content cadence.</a:t>
            </a:r>
          </a:p>
        </p:txBody>
      </p:sp>
      <p:sp>
        <p:nvSpPr>
          <p:cNvPr id="22" name="TextBox 21"/>
          <p:cNvSpPr txBox="1"/>
          <p:nvPr/>
        </p:nvSpPr>
        <p:spPr>
          <a:xfrm>
            <a:off x="658368" y="7178040"/>
            <a:ext cx="4005072" cy="1783080"/>
          </a:xfrm>
          <a:prstGeom prst="rect">
            <a:avLst/>
          </a:prstGeom>
          <a:noFill/>
        </p:spPr>
        <p:txBody>
          <a:bodyPr wrap="square">
            <a:spAutoFit/>
          </a:bodyPr>
          <a:lstStyle/>
          <a:p>
            <a:pPr algn="l"/>
            <a:r>
              <a:rPr sz="1100" b="0" i="0">
                <a:solidFill>
                  <a:srgbClr val="5A6A85"/>
                </a:solidFill>
                <a:latin typeface="Arial"/>
              </a:rPr>
              <a:t>Every platform gained followers fast in June, but organic engagement fell on X (-41.8%) and LinkedIn (-80.4%) over the same period.</a:t>
            </a:r>
          </a:p>
        </p:txBody>
      </p:sp>
      <p:sp>
        <p:nvSpPr>
          <p:cNvPr id="23" name="TextBox 22"/>
          <p:cNvSpPr txBox="1"/>
          <p:nvPr/>
        </p:nvSpPr>
        <p:spPr>
          <a:xfrm>
            <a:off x="4864608" y="6812280"/>
            <a:ext cx="4005072" cy="2148840"/>
          </a:xfrm>
          <a:prstGeom prst="rect">
            <a:avLst/>
          </a:prstGeom>
          <a:noFill/>
        </p:spPr>
        <p:txBody>
          <a:bodyPr wrap="square">
            <a:spAutoFit/>
          </a:bodyPr>
          <a:lstStyle/>
          <a:p>
            <a:pPr algn="l"/>
            <a:r>
              <a:rPr sz="1100" b="0" i="0">
                <a:solidFill>
                  <a:srgbClr val="5A6A85"/>
                </a:solidFill>
                <a:latin typeface="Arial"/>
              </a:rPr>
              <a:t>Fast follower growth without a matching content rhythm risks losing the audience as fast as it's gained - new followers who see nothing for weeks disengage before they convert.</a:t>
            </a:r>
          </a:p>
        </p:txBody>
      </p:sp>
      <p:sp>
        <p:nvSpPr>
          <p:cNvPr id="24" name="TextBox 23"/>
          <p:cNvSpPr txBox="1"/>
          <p:nvPr/>
        </p:nvSpPr>
        <p:spPr>
          <a:xfrm>
            <a:off x="9070848" y="6812280"/>
            <a:ext cx="4005072" cy="2148840"/>
          </a:xfrm>
          <a:prstGeom prst="rect">
            <a:avLst/>
          </a:prstGeom>
          <a:noFill/>
        </p:spPr>
        <p:txBody>
          <a:bodyPr wrap="square">
            <a:spAutoFit/>
          </a:bodyPr>
          <a:lstStyle/>
          <a:p>
            <a:pPr algn="l"/>
            <a:r>
              <a:rPr sz="1100" b="0" i="0">
                <a:solidFill>
                  <a:srgbClr val="1B7A43"/>
                </a:solidFill>
                <a:latin typeface="Arial"/>
              </a:rPr>
              <a:t>H2 baseline always-on ads resume mid-August at a higher, steadier $4,400/month rate, turning this month's follower spike into a durable, engaged audience instead of a one-time bump.</a:t>
            </a:r>
          </a:p>
        </p:txBody>
      </p:sp>
      <p:sp>
        <p:nvSpPr>
          <p:cNvPr id="25" name="TextBox 24"/>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LAUNCH CAMPAIGNS</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800" b="1" i="0">
                <a:solidFill>
                  <a:srgbClr val="121A2F"/>
                </a:solidFill>
                <a:latin typeface="Arial"/>
              </a:rPr>
              <a:t>Sponsored Ads: What We'll Do Next</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411480" cy="41148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411480" cy="411480"/>
          </a:xfrm>
          <a:prstGeom prst="rect">
            <a:avLst/>
          </a:prstGeom>
          <a:noFill/>
        </p:spPr>
        <p:txBody>
          <a:bodyPr wrap="square" anchor="ctr">
            <a:spAutoFit/>
          </a:bodyPr>
          <a:lstStyle/>
          <a:p>
            <a:pPr algn="ctr"/>
            <a:r>
              <a:rPr sz="1600" b="1" i="0">
                <a:solidFill>
                  <a:srgbClr val="FFFFFF"/>
                </a:solidFill>
                <a:latin typeface="Arial"/>
              </a:rPr>
              <a:t>1</a:t>
            </a:r>
          </a:p>
        </p:txBody>
      </p:sp>
      <p:sp>
        <p:nvSpPr>
          <p:cNvPr id="8" name="TextBox 7"/>
          <p:cNvSpPr txBox="1"/>
          <p:nvPr/>
        </p:nvSpPr>
        <p:spPr>
          <a:xfrm>
            <a:off x="1143000" y="1801368"/>
            <a:ext cx="16596360" cy="502920"/>
          </a:xfrm>
          <a:prstGeom prst="rect">
            <a:avLst/>
          </a:prstGeom>
          <a:noFill/>
        </p:spPr>
        <p:txBody>
          <a:bodyPr wrap="square">
            <a:spAutoFit/>
          </a:bodyPr>
          <a:lstStyle/>
          <a:p>
            <a:pPr algn="l"/>
            <a:r>
              <a:rPr sz="1400" b="0" i="0">
                <a:solidFill>
                  <a:srgbClr val="121A2F"/>
                </a:solidFill>
                <a:latin typeface="Arial"/>
              </a:rPr>
              <a:t>No further paid TikTok spend - platform is fully removed from the media mix going forward.</a:t>
            </a:r>
          </a:p>
        </p:txBody>
      </p:sp>
      <p:sp>
        <p:nvSpPr>
          <p:cNvPr id="9" name="Rectangle 8"/>
          <p:cNvSpPr/>
          <p:nvPr/>
        </p:nvSpPr>
        <p:spPr>
          <a:xfrm>
            <a:off x="548640" y="2468880"/>
            <a:ext cx="411480" cy="41148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68880"/>
            <a:ext cx="411480" cy="411480"/>
          </a:xfrm>
          <a:prstGeom prst="rect">
            <a:avLst/>
          </a:prstGeom>
          <a:noFill/>
        </p:spPr>
        <p:txBody>
          <a:bodyPr wrap="square" anchor="ctr">
            <a:spAutoFit/>
          </a:bodyPr>
          <a:lstStyle/>
          <a:p>
            <a:pPr algn="ctr"/>
            <a:r>
              <a:rPr sz="1600" b="1" i="0">
                <a:solidFill>
                  <a:srgbClr val="FFFFFF"/>
                </a:solidFill>
                <a:latin typeface="Arial"/>
              </a:rPr>
              <a:t>2</a:t>
            </a:r>
          </a:p>
        </p:txBody>
      </p:sp>
      <p:sp>
        <p:nvSpPr>
          <p:cNvPr id="11" name="TextBox 10"/>
          <p:cNvSpPr txBox="1"/>
          <p:nvPr/>
        </p:nvSpPr>
        <p:spPr>
          <a:xfrm>
            <a:off x="1143000" y="2487168"/>
            <a:ext cx="16596360" cy="502920"/>
          </a:xfrm>
          <a:prstGeom prst="rect">
            <a:avLst/>
          </a:prstGeom>
          <a:noFill/>
        </p:spPr>
        <p:txBody>
          <a:bodyPr wrap="square">
            <a:spAutoFit/>
          </a:bodyPr>
          <a:lstStyle/>
          <a:p>
            <a:pPr algn="l"/>
            <a:r>
              <a:rPr sz="1400" b="0" i="0">
                <a:solidFill>
                  <a:srgbClr val="121A2F"/>
                </a:solidFill>
                <a:latin typeface="Arial"/>
              </a:rPr>
              <a:t>Favor presenter-led, human-fronted video over animated/stock-style creative across all campaigns.</a:t>
            </a:r>
          </a:p>
        </p:txBody>
      </p:sp>
      <p:sp>
        <p:nvSpPr>
          <p:cNvPr id="12" name="Rectangle 11"/>
          <p:cNvSpPr/>
          <p:nvPr/>
        </p:nvSpPr>
        <p:spPr>
          <a:xfrm>
            <a:off x="548640" y="3154680"/>
            <a:ext cx="411480" cy="41148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154680"/>
            <a:ext cx="411480" cy="411480"/>
          </a:xfrm>
          <a:prstGeom prst="rect">
            <a:avLst/>
          </a:prstGeom>
          <a:noFill/>
        </p:spPr>
        <p:txBody>
          <a:bodyPr wrap="square" anchor="ctr">
            <a:spAutoFit/>
          </a:bodyPr>
          <a:lstStyle/>
          <a:p>
            <a:pPr algn="ctr"/>
            <a:r>
              <a:rPr sz="1600" b="1" i="0">
                <a:solidFill>
                  <a:srgbClr val="FFFFFF"/>
                </a:solidFill>
                <a:latin typeface="Arial"/>
              </a:rPr>
              <a:t>3</a:t>
            </a:r>
          </a:p>
        </p:txBody>
      </p:sp>
      <p:sp>
        <p:nvSpPr>
          <p:cNvPr id="14" name="TextBox 13"/>
          <p:cNvSpPr txBox="1"/>
          <p:nvPr/>
        </p:nvSpPr>
        <p:spPr>
          <a:xfrm>
            <a:off x="1143000" y="3172968"/>
            <a:ext cx="16596360" cy="502920"/>
          </a:xfrm>
          <a:prstGeom prst="rect">
            <a:avLst/>
          </a:prstGeom>
          <a:noFill/>
        </p:spPr>
        <p:txBody>
          <a:bodyPr wrap="square">
            <a:spAutoFit/>
          </a:bodyPr>
          <a:lstStyle/>
          <a:p>
            <a:pPr algn="l"/>
            <a:r>
              <a:rPr sz="1400" b="0" i="0">
                <a:solidFill>
                  <a:srgbClr val="121A2F"/>
                </a:solidFill>
                <a:latin typeface="Arial"/>
              </a:rPr>
              <a:t>Pause baseline always-on sponsor ads July through mid-August, then resume at a higher combined Instagram + X rate of $4,400/month from mid-August through December, geographically weighted toward KSA and the UAE.</a:t>
            </a:r>
          </a:p>
        </p:txBody>
      </p:sp>
      <p:sp>
        <p:nvSpPr>
          <p:cNvPr id="15" name="Rectangle 14"/>
          <p:cNvSpPr/>
          <p:nvPr/>
        </p:nvSpPr>
        <p:spPr>
          <a:xfrm>
            <a:off x="548640" y="3840480"/>
            <a:ext cx="411480" cy="41148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840480"/>
            <a:ext cx="411480" cy="411480"/>
          </a:xfrm>
          <a:prstGeom prst="rect">
            <a:avLst/>
          </a:prstGeom>
          <a:noFill/>
        </p:spPr>
        <p:txBody>
          <a:bodyPr wrap="square" anchor="ctr">
            <a:spAutoFit/>
          </a:bodyPr>
          <a:lstStyle/>
          <a:p>
            <a:pPr algn="ctr"/>
            <a:r>
              <a:rPr sz="1600" b="1" i="0">
                <a:solidFill>
                  <a:srgbClr val="FFFFFF"/>
                </a:solidFill>
                <a:latin typeface="Arial"/>
              </a:rPr>
              <a:t>4</a:t>
            </a:r>
          </a:p>
        </p:txBody>
      </p:sp>
      <p:sp>
        <p:nvSpPr>
          <p:cNvPr id="17" name="TextBox 16"/>
          <p:cNvSpPr txBox="1"/>
          <p:nvPr/>
        </p:nvSpPr>
        <p:spPr>
          <a:xfrm>
            <a:off x="1143000" y="3858768"/>
            <a:ext cx="16596360" cy="502920"/>
          </a:xfrm>
          <a:prstGeom prst="rect">
            <a:avLst/>
          </a:prstGeom>
          <a:noFill/>
        </p:spPr>
        <p:txBody>
          <a:bodyPr wrap="square">
            <a:spAutoFit/>
          </a:bodyPr>
          <a:lstStyle/>
          <a:p>
            <a:pPr algn="l"/>
            <a:r>
              <a:rPr sz="1400" b="0" i="0">
                <a:solidFill>
                  <a:srgbClr val="121A2F"/>
                </a:solidFill>
                <a:latin typeface="Arial"/>
              </a:rPr>
              <a:t>Layer the new influencer content line (see next section) on top of paid media to give campaigns a consistent human face.</a:t>
            </a:r>
          </a:p>
        </p:txBody>
      </p:sp>
      <p:sp>
        <p:nvSpPr>
          <p:cNvPr id="18" name="Rectangle 17"/>
          <p:cNvSpPr/>
          <p:nvPr/>
        </p:nvSpPr>
        <p:spPr>
          <a:xfrm>
            <a:off x="548640" y="4526280"/>
            <a:ext cx="411480" cy="41148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26280"/>
            <a:ext cx="411480" cy="411480"/>
          </a:xfrm>
          <a:prstGeom prst="rect">
            <a:avLst/>
          </a:prstGeom>
          <a:noFill/>
        </p:spPr>
        <p:txBody>
          <a:bodyPr wrap="square" anchor="ctr">
            <a:spAutoFit/>
          </a:bodyPr>
          <a:lstStyle/>
          <a:p>
            <a:pPr algn="ctr"/>
            <a:r>
              <a:rPr sz="1600" b="1" i="0">
                <a:solidFill>
                  <a:srgbClr val="FFFFFF"/>
                </a:solidFill>
                <a:latin typeface="Arial"/>
              </a:rPr>
              <a:t>5</a:t>
            </a:r>
          </a:p>
        </p:txBody>
      </p:sp>
      <p:sp>
        <p:nvSpPr>
          <p:cNvPr id="20" name="TextBox 19"/>
          <p:cNvSpPr txBox="1"/>
          <p:nvPr/>
        </p:nvSpPr>
        <p:spPr>
          <a:xfrm>
            <a:off x="1143000" y="4544568"/>
            <a:ext cx="16596360" cy="502920"/>
          </a:xfrm>
          <a:prstGeom prst="rect">
            <a:avLst/>
          </a:prstGeom>
          <a:noFill/>
        </p:spPr>
        <p:txBody>
          <a:bodyPr wrap="square">
            <a:spAutoFit/>
          </a:bodyPr>
          <a:lstStyle/>
          <a:p>
            <a:pPr algn="l"/>
            <a:r>
              <a:rPr sz="1400" b="0" i="0">
                <a:solidFill>
                  <a:srgbClr val="121A2F"/>
                </a:solidFill>
                <a:latin typeface="Arial"/>
              </a:rPr>
              <a:t>Report GCC Relaunch results (in flight through 8 July) in the next filing cycle.</a:t>
            </a:r>
          </a:p>
        </p:txBody>
      </p:sp>
      <p:sp>
        <p:nvSpPr>
          <p:cNvPr id="21" name="TextBox 20"/>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H2 2026 PLAN</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800" b="1" i="0">
                <a:solidFill>
                  <a:srgbClr val="121A2F"/>
                </a:solidFill>
                <a:latin typeface="Arial"/>
              </a:rPr>
              <a:t>What's Next: Three New Programs</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5486400" cy="30175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54864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5029200" cy="457200"/>
          </a:xfrm>
          <a:prstGeom prst="rect">
            <a:avLst/>
          </a:prstGeom>
          <a:noFill/>
        </p:spPr>
        <p:txBody>
          <a:bodyPr wrap="square">
            <a:spAutoFit/>
          </a:bodyPr>
          <a:lstStyle/>
          <a:p>
            <a:pPr algn="l"/>
            <a:r>
              <a:rPr sz="1800" b="1" i="0">
                <a:solidFill>
                  <a:srgbClr val="121A2F"/>
                </a:solidFill>
                <a:latin typeface="Arial"/>
              </a:rPr>
              <a:t>Mention &amp; Win</a:t>
            </a:r>
          </a:p>
        </p:txBody>
      </p:sp>
      <p:sp>
        <p:nvSpPr>
          <p:cNvPr id="9" name="TextBox 8"/>
          <p:cNvSpPr txBox="1"/>
          <p:nvPr/>
        </p:nvSpPr>
        <p:spPr>
          <a:xfrm>
            <a:off x="777240" y="2542032"/>
            <a:ext cx="5029200" cy="320040"/>
          </a:xfrm>
          <a:prstGeom prst="rect">
            <a:avLst/>
          </a:prstGeom>
          <a:noFill/>
        </p:spPr>
        <p:txBody>
          <a:bodyPr wrap="square">
            <a:spAutoFit/>
          </a:bodyPr>
          <a:lstStyle/>
          <a:p>
            <a:pPr algn="l"/>
            <a:r>
              <a:rPr sz="1200" b="1" i="0">
                <a:solidFill>
                  <a:srgbClr val="C9A227"/>
                </a:solidFill>
                <a:latin typeface="Arial"/>
              </a:rPr>
              <a:t>Monthly, Jul-Dec</a:t>
            </a:r>
          </a:p>
        </p:txBody>
      </p:sp>
      <p:sp>
        <p:nvSpPr>
          <p:cNvPr id="10" name="TextBox 9"/>
          <p:cNvSpPr txBox="1"/>
          <p:nvPr/>
        </p:nvSpPr>
        <p:spPr>
          <a:xfrm>
            <a:off x="777240" y="2971800"/>
            <a:ext cx="5029200" cy="1737360"/>
          </a:xfrm>
          <a:prstGeom prst="rect">
            <a:avLst/>
          </a:prstGeom>
          <a:noFill/>
        </p:spPr>
        <p:txBody>
          <a:bodyPr wrap="square">
            <a:spAutoFit/>
          </a:bodyPr>
          <a:lstStyle/>
          <a:p>
            <a:pPr algn="l"/>
            <a:r>
              <a:rPr sz="1200" b="0" i="0">
                <a:solidFill>
                  <a:srgbClr val="5A6A85"/>
                </a:solidFill>
                <a:latin typeface="Arial"/>
              </a:rPr>
              <a:t>$500 prize + ~$50/GCC country in ad spend, every month. Drives referrals and adds a recurring, low-cost acquisition touchpoint alongside baseline ads.</a:t>
            </a:r>
          </a:p>
        </p:txBody>
      </p:sp>
      <p:sp>
        <p:nvSpPr>
          <p:cNvPr id="11" name="Rectangle 10"/>
          <p:cNvSpPr/>
          <p:nvPr/>
        </p:nvSpPr>
        <p:spPr>
          <a:xfrm>
            <a:off x="6400800" y="1828800"/>
            <a:ext cx="5486400" cy="30175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828800"/>
            <a:ext cx="54864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103120"/>
            <a:ext cx="5029200" cy="457200"/>
          </a:xfrm>
          <a:prstGeom prst="rect">
            <a:avLst/>
          </a:prstGeom>
          <a:noFill/>
        </p:spPr>
        <p:txBody>
          <a:bodyPr wrap="square">
            <a:spAutoFit/>
          </a:bodyPr>
          <a:lstStyle/>
          <a:p>
            <a:pPr algn="l"/>
            <a:r>
              <a:rPr sz="1800" b="1" i="0">
                <a:solidFill>
                  <a:srgbClr val="121A2F"/>
                </a:solidFill>
                <a:latin typeface="Arial"/>
              </a:rPr>
              <a:t>Influencers</a:t>
            </a:r>
          </a:p>
        </p:txBody>
      </p:sp>
      <p:sp>
        <p:nvSpPr>
          <p:cNvPr id="14" name="TextBox 13"/>
          <p:cNvSpPr txBox="1"/>
          <p:nvPr/>
        </p:nvSpPr>
        <p:spPr>
          <a:xfrm>
            <a:off x="6629400" y="2542032"/>
            <a:ext cx="5029200" cy="320040"/>
          </a:xfrm>
          <a:prstGeom prst="rect">
            <a:avLst/>
          </a:prstGeom>
          <a:noFill/>
        </p:spPr>
        <p:txBody>
          <a:bodyPr wrap="square">
            <a:spAutoFit/>
          </a:bodyPr>
          <a:lstStyle/>
          <a:p>
            <a:pPr algn="l"/>
            <a:r>
              <a:rPr sz="1200" b="1" i="0">
                <a:solidFill>
                  <a:srgbClr val="C9A227"/>
                </a:solidFill>
                <a:latin typeface="Arial"/>
              </a:rPr>
              <a:t>Phase 1 launching now</a:t>
            </a:r>
          </a:p>
        </p:txBody>
      </p:sp>
      <p:sp>
        <p:nvSpPr>
          <p:cNvPr id="15" name="TextBox 14"/>
          <p:cNvSpPr txBox="1"/>
          <p:nvPr/>
        </p:nvSpPr>
        <p:spPr>
          <a:xfrm>
            <a:off x="6629400" y="2971800"/>
            <a:ext cx="5029200" cy="1737360"/>
          </a:xfrm>
          <a:prstGeom prst="rect">
            <a:avLst/>
          </a:prstGeom>
          <a:noFill/>
        </p:spPr>
        <p:txBody>
          <a:bodyPr wrap="square">
            <a:spAutoFit/>
          </a:bodyPr>
          <a:lstStyle/>
          <a:p>
            <a:pPr algn="l"/>
            <a:r>
              <a:rPr sz="1200" b="0" i="0">
                <a:solidFill>
                  <a:srgbClr val="5A6A85"/>
                </a:solidFill>
                <a:latin typeface="Arial"/>
              </a:rPr>
              <a:t>5 confirmed GCC creators recording presenter-led content for Instagram, X, and LinkedIn - the human element the May/June learnings called for. More creators to follow in later phases.</a:t>
            </a:r>
          </a:p>
        </p:txBody>
      </p:sp>
      <p:sp>
        <p:nvSpPr>
          <p:cNvPr id="16" name="Rectangle 15"/>
          <p:cNvSpPr/>
          <p:nvPr/>
        </p:nvSpPr>
        <p:spPr>
          <a:xfrm>
            <a:off x="12252960" y="1828800"/>
            <a:ext cx="5486400" cy="30175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252960" y="1828800"/>
            <a:ext cx="54864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481560" y="2103120"/>
            <a:ext cx="5029200" cy="457200"/>
          </a:xfrm>
          <a:prstGeom prst="rect">
            <a:avLst/>
          </a:prstGeom>
          <a:noFill/>
        </p:spPr>
        <p:txBody>
          <a:bodyPr wrap="square">
            <a:spAutoFit/>
          </a:bodyPr>
          <a:lstStyle/>
          <a:p>
            <a:pPr algn="l"/>
            <a:r>
              <a:rPr sz="1800" b="1" i="0">
                <a:solidFill>
                  <a:srgbClr val="121A2F"/>
                </a:solidFill>
                <a:latin typeface="Arial"/>
              </a:rPr>
              <a:t>$5,000 Campaign</a:t>
            </a:r>
          </a:p>
        </p:txBody>
      </p:sp>
      <p:sp>
        <p:nvSpPr>
          <p:cNvPr id="19" name="TextBox 18"/>
          <p:cNvSpPr txBox="1"/>
          <p:nvPr/>
        </p:nvSpPr>
        <p:spPr>
          <a:xfrm>
            <a:off x="12481560" y="2542032"/>
            <a:ext cx="5029200" cy="320040"/>
          </a:xfrm>
          <a:prstGeom prst="rect">
            <a:avLst/>
          </a:prstGeom>
          <a:noFill/>
        </p:spPr>
        <p:txBody>
          <a:bodyPr wrap="square">
            <a:spAutoFit/>
          </a:bodyPr>
          <a:lstStyle/>
          <a:p>
            <a:pPr algn="l"/>
            <a:r>
              <a:rPr sz="1200" b="1" i="0">
                <a:solidFill>
                  <a:srgbClr val="C9A227"/>
                </a:solidFill>
                <a:latin typeface="Arial"/>
              </a:rPr>
              <a:t>Aug 1 - Dec 31</a:t>
            </a:r>
          </a:p>
        </p:txBody>
      </p:sp>
      <p:sp>
        <p:nvSpPr>
          <p:cNvPr id="20" name="TextBox 19"/>
          <p:cNvSpPr txBox="1"/>
          <p:nvPr/>
        </p:nvSpPr>
        <p:spPr>
          <a:xfrm>
            <a:off x="12481560" y="2971800"/>
            <a:ext cx="5029200" cy="1737360"/>
          </a:xfrm>
          <a:prstGeom prst="rect">
            <a:avLst/>
          </a:prstGeom>
          <a:noFill/>
        </p:spPr>
        <p:txBody>
          <a:bodyPr wrap="square">
            <a:spAutoFit/>
          </a:bodyPr>
          <a:lstStyle/>
          <a:p>
            <a:pPr algn="l"/>
            <a:r>
              <a:rPr sz="1200" b="0" i="0">
                <a:solidFill>
                  <a:srgbClr val="5A6A85"/>
                </a:solidFill>
                <a:latin typeface="Arial"/>
              </a:rPr>
              <a:t>Most Active Trader Raffle. Every $500 traded earns a raffle entry; one winner drawn 10 January 2027, prize scaled to their own volume tier up to $5,000. Built to drive trading volume and re-engage dormant accounts.</a:t>
            </a:r>
          </a:p>
        </p:txBody>
      </p:sp>
      <p:sp>
        <p:nvSpPr>
          <p:cNvPr id="21" name="TextBox 20"/>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Full detail on each program follows. All three draw from the $55,000 H2 2026 Strategic Reserve.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H2 2026 PLAN</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800" b="1" i="0">
                <a:solidFill>
                  <a:srgbClr val="121A2F"/>
                </a:solidFill>
                <a:latin typeface="Arial"/>
              </a:rPr>
              <a:t>Mention &amp; Win + Influencers, In Detail</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5212080" cy="365760"/>
          </a:xfrm>
          <a:prstGeom prst="rect">
            <a:avLst/>
          </a:prstGeom>
          <a:noFill/>
        </p:spPr>
        <p:txBody>
          <a:bodyPr wrap="square">
            <a:spAutoFit/>
          </a:bodyPr>
          <a:lstStyle/>
          <a:p>
            <a:pPr algn="l"/>
            <a:r>
              <a:rPr sz="1800" b="1" i="0">
                <a:solidFill>
                  <a:srgbClr val="121A2F"/>
                </a:solidFill>
                <a:latin typeface="Arial"/>
              </a:rPr>
              <a:t>Mention &amp; Win</a:t>
            </a:r>
          </a:p>
        </p:txBody>
      </p:sp>
      <p:sp>
        <p:nvSpPr>
          <p:cNvPr id="7" name="Rectangle 6"/>
          <p:cNvSpPr/>
          <p:nvPr/>
        </p:nvSpPr>
        <p:spPr>
          <a:xfrm>
            <a:off x="548640" y="1920240"/>
            <a:ext cx="5212080" cy="3749039"/>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754880" cy="3383280"/>
          </a:xfrm>
          <a:prstGeom prst="rect">
            <a:avLst/>
          </a:prstGeom>
          <a:noFill/>
        </p:spPr>
        <p:txBody>
          <a:bodyPr wrap="square">
            <a:spAutoFit/>
          </a:bodyPr>
          <a:lstStyle/>
          <a:p>
            <a:pPr algn="l"/>
            <a:r>
              <a:rPr sz="1300" b="0" i="0">
                <a:solidFill>
                  <a:srgbClr val="5A6A85"/>
                </a:solidFill>
                <a:latin typeface="Arial"/>
              </a:rPr>
              <a:t>Mechanic: mention a friend, follow @emyaa.app, and open or fund an account for a chance to win.</a:t>
            </a:r>
          </a:p>
          <a:p>
            <a:pPr algn="l"/>
            <a:r>
              <a:rPr sz="1300" b="0" i="0">
                <a:solidFill>
                  <a:srgbClr val="5A6A85"/>
                </a:solidFill>
                <a:latin typeface="Arial"/>
              </a:rPr>
              <a:t>Prize: $500 winner, every month, July through December.</a:t>
            </a:r>
          </a:p>
          <a:p>
            <a:pPr algn="l"/>
            <a:r>
              <a:rPr sz="1300" b="0" i="0">
                <a:solidFill>
                  <a:srgbClr val="5A6A85"/>
                </a:solidFill>
                <a:latin typeface="Arial"/>
              </a:rPr>
              <a:t>Ad support: roughly $50 per GCC country per month (Bahrain, Kuwait, Oman, Qatar, KSA).</a:t>
            </a:r>
          </a:p>
          <a:p>
            <a:pPr algn="l"/>
            <a:r>
              <a:rPr sz="1300" b="0" i="0">
                <a:solidFill>
                  <a:srgbClr val="5A6A85"/>
                </a:solidFill>
                <a:latin typeface="Arial"/>
              </a:rPr>
              <a:t>Track record: the June 11-18 pilot run already produced 266,218 views and 22,580 clicks on a $600 spend, converting 6 new accounts.</a:t>
            </a:r>
          </a:p>
          <a:p>
            <a:pPr algn="l"/>
            <a:r>
              <a:rPr sz="1300" b="0" i="0">
                <a:solidFill>
                  <a:srgbClr val="5A6A85"/>
                </a:solidFill>
                <a:latin typeface="Arial"/>
              </a:rPr>
              <a:t>Budget: $4,800 total, July-December.</a:t>
            </a:r>
          </a:p>
        </p:txBody>
      </p:sp>
      <p:sp>
        <p:nvSpPr>
          <p:cNvPr id="9" name="TextBox 8"/>
          <p:cNvSpPr txBox="1"/>
          <p:nvPr/>
        </p:nvSpPr>
        <p:spPr>
          <a:xfrm>
            <a:off x="6126480" y="1508760"/>
            <a:ext cx="5212080" cy="365760"/>
          </a:xfrm>
          <a:prstGeom prst="rect">
            <a:avLst/>
          </a:prstGeom>
          <a:noFill/>
        </p:spPr>
        <p:txBody>
          <a:bodyPr wrap="square">
            <a:spAutoFit/>
          </a:bodyPr>
          <a:lstStyle/>
          <a:p>
            <a:pPr algn="l"/>
            <a:r>
              <a:rPr sz="1800" b="1" i="0">
                <a:solidFill>
                  <a:srgbClr val="121A2F"/>
                </a:solidFill>
                <a:latin typeface="Arial"/>
              </a:rPr>
              <a:t>Influencers (Phase 1)</a:t>
            </a:r>
          </a:p>
        </p:txBody>
      </p:sp>
      <p:sp>
        <p:nvSpPr>
          <p:cNvPr id="10" name="Rectangle 9"/>
          <p:cNvSpPr/>
          <p:nvPr/>
        </p:nvSpPr>
        <p:spPr>
          <a:xfrm>
            <a:off x="6126480" y="1920240"/>
            <a:ext cx="5212080" cy="3749039"/>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2103120"/>
            <a:ext cx="4754880" cy="3383280"/>
          </a:xfrm>
          <a:prstGeom prst="rect">
            <a:avLst/>
          </a:prstGeom>
          <a:noFill/>
        </p:spPr>
        <p:txBody>
          <a:bodyPr wrap="square">
            <a:spAutoFit/>
          </a:bodyPr>
          <a:lstStyle/>
          <a:p>
            <a:pPr algn="l"/>
            <a:r>
              <a:rPr sz="1300" b="0" i="0">
                <a:solidFill>
                  <a:srgbClr val="5A6A85"/>
                </a:solidFill>
                <a:latin typeface="Arial"/>
              </a:rPr>
              <a:t>5 confirmed GCC creators recording real, presenter-led talking-head content: Ali Sabeel, Hamed Al Bloushi, Manal Talal, and Musheera (Bahrain), plus Abdulelah Alharbi (Saudi Arabia).</a:t>
            </a:r>
          </a:p>
          <a:p>
            <a:pPr algn="l"/>
            <a:r>
              <a:rPr sz="1300" b="0" i="0">
                <a:solidFill>
                  <a:srgbClr val="5A6A85"/>
                </a:solidFill>
                <a:latin typeface="Arial"/>
              </a:rPr>
              <a:t>Distribution: Instagram, X, and LinkedIn only - never TikTok.</a:t>
            </a:r>
          </a:p>
          <a:p>
            <a:pPr algn="l"/>
            <a:r>
              <a:rPr sz="1300" b="0" i="0">
                <a:solidFill>
                  <a:srgbClr val="5A6A85"/>
                </a:solidFill>
                <a:latin typeface="Arial"/>
              </a:rPr>
              <a:t>Phase 1 confirmed cost: $7,579 (BHD 2,860 incl. VAT).</a:t>
            </a:r>
          </a:p>
          <a:p>
            <a:pPr algn="l"/>
            <a:r>
              <a:rPr sz="1300" b="0" i="0">
                <a:solidFill>
                  <a:srgbClr val="5A6A85"/>
                </a:solidFill>
                <a:latin typeface="Arial"/>
              </a:rPr>
              <a:t>Additional creators are planned in later phases; total program cost will grow beyond this figure.</a:t>
            </a:r>
          </a:p>
          <a:p>
            <a:pPr algn="l"/>
            <a:r>
              <a:rPr sz="1300" b="0" i="0">
                <a:solidFill>
                  <a:srgbClr val="5A6A85"/>
                </a:solidFill>
                <a:latin typeface="Arial"/>
              </a:rPr>
              <a:t>Directly answers the "presenter-led content outperforms animation" finding from the May/June ad review.</a:t>
            </a:r>
          </a:p>
        </p:txBody>
      </p:sp>
      <p:sp>
        <p:nvSpPr>
          <p:cNvPr id="12" name="TextBox 11"/>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Note: figure confirmed against Project2 PR quote QT-1858 (30 Jun 2026), BHD 2,860 incl. VAT - supersedes earlier planning figures ($5,300 / $6,850). Quote expires 21 Jul 2026 and must be actioned before then.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H2 2026 PLAN</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800" b="1" i="0">
                <a:solidFill>
                  <a:srgbClr val="121A2F"/>
                </a:solidFill>
                <a:latin typeface="Arial"/>
              </a:rPr>
              <a:t>$5,000 Campaign: Most Active Trader Raffle</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37360"/>
            <a:ext cx="6583680" cy="39319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6126480" cy="3566160"/>
          </a:xfrm>
          <a:prstGeom prst="rect">
            <a:avLst/>
          </a:prstGeom>
          <a:noFill/>
        </p:spPr>
        <p:txBody>
          <a:bodyPr wrap="square">
            <a:spAutoFit/>
          </a:bodyPr>
          <a:lstStyle/>
          <a:p>
            <a:pPr algn="l"/>
            <a:r>
              <a:rPr sz="1300" b="0" i="0">
                <a:solidFill>
                  <a:srgbClr val="5A6A85"/>
                </a:solidFill>
                <a:latin typeface="Arial"/>
              </a:rPr>
              <a:t>Objective: drive trading volume and re-engage dormant accounts by rewarding activity, not just sign-ups.</a:t>
            </a:r>
          </a:p>
          <a:p>
            <a:pPr algn="l"/>
            <a:r>
              <a:rPr sz="1300" b="0" i="0">
                <a:solidFill>
                  <a:srgbClr val="5A6A85"/>
                </a:solidFill>
                <a:latin typeface="Arial"/>
              </a:rPr>
              <a:t/>
            </a:r>
          </a:p>
          <a:p>
            <a:pPr algn="l"/>
            <a:r>
              <a:rPr sz="1300" b="0" i="0">
                <a:solidFill>
                  <a:srgbClr val="5A6A85"/>
                </a:solidFill>
                <a:latin typeface="Arial"/>
              </a:rPr>
              <a:t>Mechanic: every $500 in cumulative trading volume earns one raffle entry. One winner is drawn at the end of the campaign; the prize is scaled to the winner's own volume tier, up to $5,000.</a:t>
            </a:r>
          </a:p>
          <a:p>
            <a:pPr algn="l"/>
            <a:r>
              <a:rPr sz="1300" b="0" i="0">
                <a:solidFill>
                  <a:srgbClr val="5A6A85"/>
                </a:solidFill>
                <a:latin typeface="Arial"/>
              </a:rPr>
              <a:t/>
            </a:r>
          </a:p>
          <a:p>
            <a:pPr algn="l"/>
            <a:r>
              <a:rPr sz="1300" b="0" i="0">
                <a:solidFill>
                  <a:srgbClr val="5A6A85"/>
                </a:solidFill>
                <a:latin typeface="Arial"/>
              </a:rPr>
              <a:t>Campaign period: 1 August - 31 December 2026.</a:t>
            </a:r>
          </a:p>
          <a:p>
            <a:pPr algn="l"/>
            <a:r>
              <a:rPr sz="1300" b="0" i="0">
                <a:solidFill>
                  <a:srgbClr val="5A6A85"/>
                </a:solidFill>
                <a:latin typeface="Arial"/>
              </a:rPr>
              <a:t>Draw date: 10 January 2027.</a:t>
            </a:r>
          </a:p>
          <a:p>
            <a:pPr algn="l"/>
            <a:r>
              <a:rPr sz="1300" b="0" i="0">
                <a:solidFill>
                  <a:srgbClr val="5A6A85"/>
                </a:solidFill>
                <a:latin typeface="Arial"/>
              </a:rPr>
              <a:t/>
            </a:r>
          </a:p>
          <a:p>
            <a:pPr algn="l"/>
            <a:r>
              <a:rPr sz="1300" b="0" i="0">
                <a:solidFill>
                  <a:srgbClr val="5A6A85"/>
                </a:solidFill>
                <a:latin typeface="Arial"/>
              </a:rPr>
              <a:t>Launch content: a carousel, a motion-graphic teaser ("Trade More. Enter More. Win More."), and an influencer talking-head video go live together on 1 August, followed by a weekly reminder post through the full campaign.</a:t>
            </a:r>
          </a:p>
        </p:txBody>
      </p:sp>
      <p:sp>
        <p:nvSpPr>
          <p:cNvPr id="8" name="Rectangle 7"/>
          <p:cNvSpPr/>
          <p:nvPr/>
        </p:nvSpPr>
        <p:spPr>
          <a:xfrm>
            <a:off x="7498080" y="1737360"/>
            <a:ext cx="3840480" cy="393192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1920240"/>
            <a:ext cx="3291840" cy="365760"/>
          </a:xfrm>
          <a:prstGeom prst="rect">
            <a:avLst/>
          </a:prstGeom>
          <a:noFill/>
        </p:spPr>
        <p:txBody>
          <a:bodyPr wrap="square">
            <a:spAutoFit/>
          </a:bodyPr>
          <a:lstStyle/>
          <a:p>
            <a:pPr algn="l"/>
            <a:r>
              <a:rPr sz="1500" b="1" i="0">
                <a:solidFill>
                  <a:srgbClr val="C9A227"/>
                </a:solidFill>
                <a:latin typeface="Arial"/>
              </a:rPr>
              <a:t>Budget</a:t>
            </a:r>
          </a:p>
        </p:txBody>
      </p:sp>
      <p:sp>
        <p:nvSpPr>
          <p:cNvPr id="10" name="TextBox 9"/>
          <p:cNvSpPr txBox="1"/>
          <p:nvPr/>
        </p:nvSpPr>
        <p:spPr>
          <a:xfrm>
            <a:off x="7772400" y="2377440"/>
            <a:ext cx="3291840" cy="731520"/>
          </a:xfrm>
          <a:prstGeom prst="rect">
            <a:avLst/>
          </a:prstGeom>
          <a:noFill/>
        </p:spPr>
        <p:txBody>
          <a:bodyPr wrap="square">
            <a:spAutoFit/>
          </a:bodyPr>
          <a:lstStyle/>
          <a:p>
            <a:pPr algn="l"/>
            <a:r>
              <a:rPr sz="3200" b="1" i="0">
                <a:solidFill>
                  <a:srgbClr val="FFFFFF"/>
                </a:solidFill>
                <a:latin typeface="Arial"/>
              </a:rPr>
              <a:t>$17,000</a:t>
            </a:r>
          </a:p>
        </p:txBody>
      </p:sp>
      <p:sp>
        <p:nvSpPr>
          <p:cNvPr id="11" name="TextBox 10"/>
          <p:cNvSpPr txBox="1"/>
          <p:nvPr/>
        </p:nvSpPr>
        <p:spPr>
          <a:xfrm>
            <a:off x="7772400" y="3063240"/>
            <a:ext cx="3291840" cy="457200"/>
          </a:xfrm>
          <a:prstGeom prst="rect">
            <a:avLst/>
          </a:prstGeom>
          <a:noFill/>
        </p:spPr>
        <p:txBody>
          <a:bodyPr wrap="square">
            <a:spAutoFit/>
          </a:bodyPr>
          <a:lstStyle/>
          <a:p>
            <a:pPr algn="l"/>
            <a:r>
              <a:rPr sz="1100" b="0" i="0">
                <a:solidFill>
                  <a:srgbClr val="C7CEDD"/>
                </a:solidFill>
                <a:latin typeface="Arial"/>
              </a:rPr>
              <a:t>Promotion &amp; production, Aug-Dec 2026</a:t>
            </a:r>
          </a:p>
        </p:txBody>
      </p:sp>
      <p:sp>
        <p:nvSpPr>
          <p:cNvPr id="12" name="TextBox 11"/>
          <p:cNvSpPr txBox="1"/>
          <p:nvPr/>
        </p:nvSpPr>
        <p:spPr>
          <a:xfrm>
            <a:off x="7772400" y="3611880"/>
            <a:ext cx="3291840" cy="640080"/>
          </a:xfrm>
          <a:prstGeom prst="rect">
            <a:avLst/>
          </a:prstGeom>
          <a:noFill/>
        </p:spPr>
        <p:txBody>
          <a:bodyPr wrap="square">
            <a:spAutoFit/>
          </a:bodyPr>
          <a:lstStyle/>
          <a:p>
            <a:pPr algn="l"/>
            <a:r>
              <a:rPr sz="2400" b="1" i="0">
                <a:solidFill>
                  <a:srgbClr val="C9A227"/>
                </a:solidFill>
                <a:latin typeface="Arial"/>
              </a:rPr>
              <a:t>+ $5,000</a:t>
            </a:r>
          </a:p>
        </p:txBody>
      </p:sp>
      <p:sp>
        <p:nvSpPr>
          <p:cNvPr id="13" name="TextBox 12"/>
          <p:cNvSpPr txBox="1"/>
          <p:nvPr/>
        </p:nvSpPr>
        <p:spPr>
          <a:xfrm>
            <a:off x="7772400" y="4160520"/>
            <a:ext cx="3291840" cy="640080"/>
          </a:xfrm>
          <a:prstGeom prst="rect">
            <a:avLst/>
          </a:prstGeom>
          <a:noFill/>
        </p:spPr>
        <p:txBody>
          <a:bodyPr wrap="square">
            <a:spAutoFit/>
          </a:bodyPr>
          <a:lstStyle/>
          <a:p>
            <a:pPr algn="l"/>
            <a:r>
              <a:rPr sz="1100" b="0" i="0">
                <a:solidFill>
                  <a:srgbClr val="C7CEDD"/>
                </a:solidFill>
                <a:latin typeface="Arial"/>
              </a:rPr>
              <a:t>Grand prize, paid after the 10 Jan 2027 draw (outside the H2 2026 window)</a:t>
            </a:r>
          </a:p>
        </p:txBody>
      </p:sp>
      <p:sp>
        <p:nvSpPr>
          <p:cNvPr id="14" name="TextBox 13"/>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Note to reconcile: the T&amp;Cs finalized this window (Aug 1-Dec 31); an earlier planning note referenced Jul-Sep. This slide uses the finalized T&amp;Cs and current campaign timeline.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BUDGET</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800" b="1" i="0">
                <a:solidFill>
                  <a:srgbClr val="121A2F"/>
                </a:solidFill>
                <a:latin typeface="Arial"/>
              </a:rPr>
              <a:t>What We've Spent So Far</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17190720" cy="365760"/>
          </a:xfrm>
          <a:prstGeom prst="rect">
            <a:avLst/>
          </a:prstGeom>
          <a:noFill/>
        </p:spPr>
        <p:txBody>
          <a:bodyPr wrap="square">
            <a:spAutoFit/>
          </a:bodyPr>
          <a:lstStyle/>
          <a:p>
            <a:pPr algn="l"/>
            <a:r>
              <a:rPr sz="1300" b="0" i="0">
                <a:solidFill>
                  <a:srgbClr val="5A6A85"/>
                </a:solidFill>
                <a:latin typeface="Arial"/>
              </a:rPr>
              <a:t>Sponsor Ads line, May-June 2026 (of the $80,000 total Ajyad Capital marketing budget)</a:t>
            </a:r>
          </a:p>
        </p:txBody>
      </p:sp>
      <p:sp>
        <p:nvSpPr>
          <p:cNvPr id="7" name="Rectangle 6"/>
          <p:cNvSpPr/>
          <p:nvPr/>
        </p:nvSpPr>
        <p:spPr>
          <a:xfrm>
            <a:off x="548640" y="2011680"/>
            <a:ext cx="5486400" cy="146304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11680"/>
            <a:ext cx="45720" cy="14630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5120640" cy="594360"/>
          </a:xfrm>
          <a:prstGeom prst="rect">
            <a:avLst/>
          </a:prstGeom>
          <a:noFill/>
        </p:spPr>
        <p:txBody>
          <a:bodyPr wrap="square">
            <a:spAutoFit/>
          </a:bodyPr>
          <a:lstStyle/>
          <a:p>
            <a:pPr algn="l"/>
            <a:r>
              <a:rPr sz="3000" b="1" i="0">
                <a:solidFill>
                  <a:srgbClr val="121A2F"/>
                </a:solidFill>
                <a:latin typeface="Arial"/>
              </a:rPr>
              <a:t>$16,100</a:t>
            </a:r>
          </a:p>
        </p:txBody>
      </p:sp>
      <p:sp>
        <p:nvSpPr>
          <p:cNvPr id="10" name="TextBox 9"/>
          <p:cNvSpPr txBox="1"/>
          <p:nvPr/>
        </p:nvSpPr>
        <p:spPr>
          <a:xfrm>
            <a:off x="777240" y="2788920"/>
            <a:ext cx="5120640" cy="320040"/>
          </a:xfrm>
          <a:prstGeom prst="rect">
            <a:avLst/>
          </a:prstGeom>
          <a:noFill/>
        </p:spPr>
        <p:txBody>
          <a:bodyPr wrap="square">
            <a:spAutoFit/>
          </a:bodyPr>
          <a:lstStyle/>
          <a:p>
            <a:pPr algn="l"/>
            <a:r>
              <a:rPr sz="1300" b="1" i="0">
                <a:solidFill>
                  <a:srgbClr val="121A2F"/>
                </a:solidFill>
                <a:latin typeface="Arial"/>
              </a:rPr>
              <a:t>May Sponsor Ads Budget</a:t>
            </a:r>
          </a:p>
        </p:txBody>
      </p:sp>
      <p:sp>
        <p:nvSpPr>
          <p:cNvPr id="11" name="TextBox 10"/>
          <p:cNvSpPr txBox="1"/>
          <p:nvPr/>
        </p:nvSpPr>
        <p:spPr>
          <a:xfrm>
            <a:off x="777240" y="3108960"/>
            <a:ext cx="5120640" cy="274320"/>
          </a:xfrm>
          <a:prstGeom prst="rect">
            <a:avLst/>
          </a:prstGeom>
          <a:noFill/>
        </p:spPr>
        <p:txBody>
          <a:bodyPr wrap="square">
            <a:spAutoFit/>
          </a:bodyPr>
          <a:lstStyle/>
          <a:p>
            <a:pPr algn="l"/>
            <a:r>
              <a:rPr sz="1000" b="0" i="0">
                <a:solidFill>
                  <a:srgbClr val="5A6A85"/>
                </a:solidFill>
                <a:latin typeface="Arial"/>
              </a:rPr>
              <a:t>Long Form Launch + Astronaut</a:t>
            </a:r>
          </a:p>
        </p:txBody>
      </p:sp>
      <p:sp>
        <p:nvSpPr>
          <p:cNvPr id="12" name="Rectangle 11"/>
          <p:cNvSpPr/>
          <p:nvPr/>
        </p:nvSpPr>
        <p:spPr>
          <a:xfrm>
            <a:off x="6400800" y="2011680"/>
            <a:ext cx="5486400" cy="146304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2011680"/>
            <a:ext cx="45720" cy="14630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2148840"/>
            <a:ext cx="5120640" cy="594360"/>
          </a:xfrm>
          <a:prstGeom prst="rect">
            <a:avLst/>
          </a:prstGeom>
          <a:noFill/>
        </p:spPr>
        <p:txBody>
          <a:bodyPr wrap="square">
            <a:spAutoFit/>
          </a:bodyPr>
          <a:lstStyle/>
          <a:p>
            <a:pPr algn="l"/>
            <a:r>
              <a:rPr sz="3000" b="1" i="0">
                <a:solidFill>
                  <a:srgbClr val="121A2F"/>
                </a:solidFill>
                <a:latin typeface="Arial"/>
              </a:rPr>
              <a:t>$11,700</a:t>
            </a:r>
          </a:p>
        </p:txBody>
      </p:sp>
      <p:sp>
        <p:nvSpPr>
          <p:cNvPr id="15" name="TextBox 14"/>
          <p:cNvSpPr txBox="1"/>
          <p:nvPr/>
        </p:nvSpPr>
        <p:spPr>
          <a:xfrm>
            <a:off x="6629400" y="2788920"/>
            <a:ext cx="5120640" cy="320040"/>
          </a:xfrm>
          <a:prstGeom prst="rect">
            <a:avLst/>
          </a:prstGeom>
          <a:noFill/>
        </p:spPr>
        <p:txBody>
          <a:bodyPr wrap="square">
            <a:spAutoFit/>
          </a:bodyPr>
          <a:lstStyle/>
          <a:p>
            <a:pPr algn="l"/>
            <a:r>
              <a:rPr sz="1300" b="1" i="0">
                <a:solidFill>
                  <a:srgbClr val="121A2F"/>
                </a:solidFill>
                <a:latin typeface="Arial"/>
              </a:rPr>
              <a:t>May Spend Recorded</a:t>
            </a:r>
          </a:p>
        </p:txBody>
      </p:sp>
      <p:sp>
        <p:nvSpPr>
          <p:cNvPr id="16" name="TextBox 15"/>
          <p:cNvSpPr txBox="1"/>
          <p:nvPr/>
        </p:nvSpPr>
        <p:spPr>
          <a:xfrm>
            <a:off x="6629400" y="3108960"/>
            <a:ext cx="5120640" cy="274320"/>
          </a:xfrm>
          <a:prstGeom prst="rect">
            <a:avLst/>
          </a:prstGeom>
          <a:noFill/>
        </p:spPr>
        <p:txBody>
          <a:bodyPr wrap="square">
            <a:spAutoFit/>
          </a:bodyPr>
          <a:lstStyle/>
          <a:p>
            <a:pPr algn="l"/>
            <a:r>
              <a:rPr sz="1000" b="0" i="0">
                <a:solidFill>
                  <a:srgbClr val="5A6A85"/>
                </a:solidFill>
                <a:latin typeface="Arial"/>
              </a:rPr>
              <a:t>$4,400 carried forward</a:t>
            </a:r>
          </a:p>
        </p:txBody>
      </p:sp>
      <p:sp>
        <p:nvSpPr>
          <p:cNvPr id="17" name="Rectangle 16"/>
          <p:cNvSpPr/>
          <p:nvPr/>
        </p:nvSpPr>
        <p:spPr>
          <a:xfrm>
            <a:off x="12252960" y="2011680"/>
            <a:ext cx="5486400" cy="146304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252960" y="2011680"/>
            <a:ext cx="45720" cy="14630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481560" y="2148840"/>
            <a:ext cx="5120640" cy="594360"/>
          </a:xfrm>
          <a:prstGeom prst="rect">
            <a:avLst/>
          </a:prstGeom>
          <a:noFill/>
        </p:spPr>
        <p:txBody>
          <a:bodyPr wrap="square">
            <a:spAutoFit/>
          </a:bodyPr>
          <a:lstStyle/>
          <a:p>
            <a:pPr algn="l"/>
            <a:r>
              <a:rPr sz="3000" b="1" i="0">
                <a:solidFill>
                  <a:srgbClr val="121A2F"/>
                </a:solidFill>
                <a:latin typeface="Arial"/>
              </a:rPr>
              <a:t>$7,800</a:t>
            </a:r>
          </a:p>
        </p:txBody>
      </p:sp>
      <p:sp>
        <p:nvSpPr>
          <p:cNvPr id="20" name="TextBox 19"/>
          <p:cNvSpPr txBox="1"/>
          <p:nvPr/>
        </p:nvSpPr>
        <p:spPr>
          <a:xfrm>
            <a:off x="12481560" y="2788920"/>
            <a:ext cx="5120640" cy="320040"/>
          </a:xfrm>
          <a:prstGeom prst="rect">
            <a:avLst/>
          </a:prstGeom>
          <a:noFill/>
        </p:spPr>
        <p:txBody>
          <a:bodyPr wrap="square">
            <a:spAutoFit/>
          </a:bodyPr>
          <a:lstStyle/>
          <a:p>
            <a:pPr algn="l"/>
            <a:r>
              <a:rPr sz="1300" b="1" i="0">
                <a:solidFill>
                  <a:srgbClr val="121A2F"/>
                </a:solidFill>
                <a:latin typeface="Arial"/>
              </a:rPr>
              <a:t>June Spend Recorded</a:t>
            </a:r>
          </a:p>
        </p:txBody>
      </p:sp>
      <p:sp>
        <p:nvSpPr>
          <p:cNvPr id="21" name="TextBox 20"/>
          <p:cNvSpPr txBox="1"/>
          <p:nvPr/>
        </p:nvSpPr>
        <p:spPr>
          <a:xfrm>
            <a:off x="12481560" y="3108960"/>
            <a:ext cx="5120640" cy="274320"/>
          </a:xfrm>
          <a:prstGeom prst="rect">
            <a:avLst/>
          </a:prstGeom>
          <a:noFill/>
        </p:spPr>
        <p:txBody>
          <a:bodyPr wrap="square">
            <a:spAutoFit/>
          </a:bodyPr>
          <a:lstStyle/>
          <a:p>
            <a:pPr algn="l"/>
            <a:r>
              <a:rPr sz="1000" b="0" i="0">
                <a:solidFill>
                  <a:srgbClr val="5A6A85"/>
                </a:solidFill>
                <a:latin typeface="Arial"/>
              </a:rPr>
              <a:t>App Screens + GCC Relaunch (partial, in flight) + Mention &amp; Win pilot</a:t>
            </a:r>
          </a:p>
        </p:txBody>
      </p:sp>
      <p:sp>
        <p:nvSpPr>
          <p:cNvPr id="22" name="Rectangle 21"/>
          <p:cNvSpPr/>
          <p:nvPr/>
        </p:nvSpPr>
        <p:spPr>
          <a:xfrm>
            <a:off x="548640" y="3794760"/>
            <a:ext cx="17190720" cy="173736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977640"/>
            <a:ext cx="16642080" cy="1371600"/>
          </a:xfrm>
          <a:prstGeom prst="rect">
            <a:avLst/>
          </a:prstGeom>
          <a:noFill/>
        </p:spPr>
        <p:txBody>
          <a:bodyPr wrap="square">
            <a:spAutoFit/>
          </a:bodyPr>
          <a:lstStyle/>
          <a:p>
            <a:pPr algn="l"/>
            <a:r>
              <a:rPr sz="1300" b="0" i="0">
                <a:solidFill>
                  <a:srgbClr val="5A6A85"/>
                </a:solidFill>
                <a:latin typeface="Arial"/>
              </a:rPr>
              <a:t>Of the $20,000 Sponsor Ads line for 2026, roughly $2,800 remained as of late June: $1,500 earmarked for the July sponsor ad campaign and a $1,300 buffer. The GCC Relaunch campaign ($6,700, running 8 June - 8 July) is still in flight, so its full cost and results will land in the next report. The Paid Media / Digital PR line still has about $4,680 of its $5,000 allocation untouched, and the $55,000 Strategic Reserve funds everything in the H2 2026 plan on the next slide.</a:t>
            </a:r>
          </a:p>
        </p:txBody>
      </p:sp>
      <p:sp>
        <p:nvSpPr>
          <p:cNvPr id="24" name="TextBox 23"/>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eMYAA Sponsor Ad Budget - 2026.xlsx; project memory dated 22 Jun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BUDGET</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800" b="1" i="0">
                <a:solidFill>
                  <a:srgbClr val="121A2F"/>
                </a:solidFill>
                <a:latin typeface="Arial"/>
              </a:rPr>
              <a:t>What We'll Spend Next (H2 2026)</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37360"/>
            <a:ext cx="11887200" cy="36576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4114800" cy="274320"/>
          </a:xfrm>
          <a:prstGeom prst="rect">
            <a:avLst/>
          </a:prstGeom>
          <a:noFill/>
        </p:spPr>
        <p:txBody>
          <a:bodyPr wrap="square">
            <a:spAutoFit/>
          </a:bodyPr>
          <a:lstStyle/>
          <a:p>
            <a:pPr algn="l"/>
            <a:r>
              <a:rPr sz="1200" b="1" i="0">
                <a:solidFill>
                  <a:srgbClr val="FFFFFF"/>
                </a:solidFill>
                <a:latin typeface="Arial"/>
              </a:rPr>
              <a:t>Line Item</a:t>
            </a:r>
          </a:p>
        </p:txBody>
      </p:sp>
      <p:sp>
        <p:nvSpPr>
          <p:cNvPr id="8" name="TextBox 7"/>
          <p:cNvSpPr txBox="1"/>
          <p:nvPr/>
        </p:nvSpPr>
        <p:spPr>
          <a:xfrm>
            <a:off x="4663440" y="1783080"/>
            <a:ext cx="2011680" cy="274320"/>
          </a:xfrm>
          <a:prstGeom prst="rect">
            <a:avLst/>
          </a:prstGeom>
          <a:noFill/>
        </p:spPr>
        <p:txBody>
          <a:bodyPr wrap="square">
            <a:spAutoFit/>
          </a:bodyPr>
          <a:lstStyle/>
          <a:p>
            <a:pPr algn="l"/>
            <a:r>
              <a:rPr sz="1200" b="1" i="0">
                <a:solidFill>
                  <a:srgbClr val="FFFFFF"/>
                </a:solidFill>
                <a:latin typeface="Arial"/>
              </a:rPr>
              <a:t>Budget</a:t>
            </a:r>
          </a:p>
        </p:txBody>
      </p:sp>
      <p:sp>
        <p:nvSpPr>
          <p:cNvPr id="9" name="TextBox 8"/>
          <p:cNvSpPr txBox="1"/>
          <p:nvPr/>
        </p:nvSpPr>
        <p:spPr>
          <a:xfrm>
            <a:off x="6675120" y="1783080"/>
            <a:ext cx="5760720" cy="274320"/>
          </a:xfrm>
          <a:prstGeom prst="rect">
            <a:avLst/>
          </a:prstGeom>
          <a:noFill/>
        </p:spPr>
        <p:txBody>
          <a:bodyPr wrap="square">
            <a:spAutoFit/>
          </a:bodyPr>
          <a:lstStyle/>
          <a:p>
            <a:pPr algn="l"/>
            <a:r>
              <a:rPr sz="1200" b="1" i="0">
                <a:solidFill>
                  <a:srgbClr val="FFFFFF"/>
                </a:solidFill>
                <a:latin typeface="Arial"/>
              </a:rPr>
              <a:t>Notes</a:t>
            </a:r>
          </a:p>
        </p:txBody>
      </p:sp>
      <p:sp>
        <p:nvSpPr>
          <p:cNvPr id="10" name="Rectangle 9"/>
          <p:cNvSpPr/>
          <p:nvPr/>
        </p:nvSpPr>
        <p:spPr>
          <a:xfrm>
            <a:off x="548640" y="2103120"/>
            <a:ext cx="11887200" cy="5029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94560"/>
            <a:ext cx="4023360" cy="320040"/>
          </a:xfrm>
          <a:prstGeom prst="rect">
            <a:avLst/>
          </a:prstGeom>
          <a:noFill/>
        </p:spPr>
        <p:txBody>
          <a:bodyPr wrap="square">
            <a:spAutoFit/>
          </a:bodyPr>
          <a:lstStyle/>
          <a:p>
            <a:pPr algn="l"/>
            <a:r>
              <a:rPr sz="1300" b="1" i="0">
                <a:solidFill>
                  <a:srgbClr val="121A2F"/>
                </a:solidFill>
                <a:latin typeface="Arial"/>
              </a:rPr>
              <a:t>Mention &amp; Win</a:t>
            </a:r>
          </a:p>
        </p:txBody>
      </p:sp>
      <p:sp>
        <p:nvSpPr>
          <p:cNvPr id="12" name="TextBox 11"/>
          <p:cNvSpPr txBox="1"/>
          <p:nvPr/>
        </p:nvSpPr>
        <p:spPr>
          <a:xfrm>
            <a:off x="4754880" y="2194560"/>
            <a:ext cx="1920240" cy="320040"/>
          </a:xfrm>
          <a:prstGeom prst="rect">
            <a:avLst/>
          </a:prstGeom>
          <a:noFill/>
        </p:spPr>
        <p:txBody>
          <a:bodyPr wrap="square">
            <a:spAutoFit/>
          </a:bodyPr>
          <a:lstStyle/>
          <a:p>
            <a:pPr algn="l"/>
            <a:r>
              <a:rPr sz="1300" b="1" i="0">
                <a:solidFill>
                  <a:srgbClr val="121A2F"/>
                </a:solidFill>
                <a:latin typeface="Arial"/>
              </a:rPr>
              <a:t>$4,800</a:t>
            </a:r>
          </a:p>
        </p:txBody>
      </p:sp>
      <p:sp>
        <p:nvSpPr>
          <p:cNvPr id="13" name="TextBox 12"/>
          <p:cNvSpPr txBox="1"/>
          <p:nvPr/>
        </p:nvSpPr>
        <p:spPr>
          <a:xfrm>
            <a:off x="6766560" y="2194560"/>
            <a:ext cx="5623560" cy="320040"/>
          </a:xfrm>
          <a:prstGeom prst="rect">
            <a:avLst/>
          </a:prstGeom>
          <a:noFill/>
        </p:spPr>
        <p:txBody>
          <a:bodyPr wrap="square">
            <a:spAutoFit/>
          </a:bodyPr>
          <a:lstStyle/>
          <a:p>
            <a:pPr algn="l"/>
            <a:r>
              <a:rPr sz="1100" b="0" i="0">
                <a:solidFill>
                  <a:srgbClr val="5A6A85"/>
                </a:solidFill>
                <a:latin typeface="Arial"/>
              </a:rPr>
              <a:t>Every month, Jul-Dec</a:t>
            </a:r>
          </a:p>
        </p:txBody>
      </p:sp>
      <p:sp>
        <p:nvSpPr>
          <p:cNvPr id="14" name="Rectangle 13"/>
          <p:cNvSpPr/>
          <p:nvPr/>
        </p:nvSpPr>
        <p:spPr>
          <a:xfrm>
            <a:off x="548640" y="2606040"/>
            <a:ext cx="11887200" cy="50292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697480"/>
            <a:ext cx="4023360" cy="320040"/>
          </a:xfrm>
          <a:prstGeom prst="rect">
            <a:avLst/>
          </a:prstGeom>
          <a:noFill/>
        </p:spPr>
        <p:txBody>
          <a:bodyPr wrap="square">
            <a:spAutoFit/>
          </a:bodyPr>
          <a:lstStyle/>
          <a:p>
            <a:pPr algn="l"/>
            <a:r>
              <a:rPr sz="1300" b="1" i="0">
                <a:solidFill>
                  <a:srgbClr val="121A2F"/>
                </a:solidFill>
                <a:latin typeface="Arial"/>
              </a:rPr>
              <a:t>$5,000 Campaign</a:t>
            </a:r>
          </a:p>
        </p:txBody>
      </p:sp>
      <p:sp>
        <p:nvSpPr>
          <p:cNvPr id="16" name="TextBox 15"/>
          <p:cNvSpPr txBox="1"/>
          <p:nvPr/>
        </p:nvSpPr>
        <p:spPr>
          <a:xfrm>
            <a:off x="4754880" y="2697480"/>
            <a:ext cx="1920240" cy="320040"/>
          </a:xfrm>
          <a:prstGeom prst="rect">
            <a:avLst/>
          </a:prstGeom>
          <a:noFill/>
        </p:spPr>
        <p:txBody>
          <a:bodyPr wrap="square">
            <a:spAutoFit/>
          </a:bodyPr>
          <a:lstStyle/>
          <a:p>
            <a:pPr algn="l"/>
            <a:r>
              <a:rPr sz="1300" b="1" i="0">
                <a:solidFill>
                  <a:srgbClr val="121A2F"/>
                </a:solidFill>
                <a:latin typeface="Arial"/>
              </a:rPr>
              <a:t>$17,000</a:t>
            </a:r>
          </a:p>
        </p:txBody>
      </p:sp>
      <p:sp>
        <p:nvSpPr>
          <p:cNvPr id="17" name="TextBox 16"/>
          <p:cNvSpPr txBox="1"/>
          <p:nvPr/>
        </p:nvSpPr>
        <p:spPr>
          <a:xfrm>
            <a:off x="6766560" y="2697480"/>
            <a:ext cx="5623560" cy="320040"/>
          </a:xfrm>
          <a:prstGeom prst="rect">
            <a:avLst/>
          </a:prstGeom>
          <a:noFill/>
        </p:spPr>
        <p:txBody>
          <a:bodyPr wrap="square">
            <a:spAutoFit/>
          </a:bodyPr>
          <a:lstStyle/>
          <a:p>
            <a:pPr algn="l"/>
            <a:r>
              <a:rPr sz="1100" b="0" i="0">
                <a:solidFill>
                  <a:srgbClr val="5A6A85"/>
                </a:solidFill>
                <a:latin typeface="Arial"/>
              </a:rPr>
              <a:t>+ $5,000 prize (paid Jan 2027)</a:t>
            </a:r>
          </a:p>
        </p:txBody>
      </p:sp>
      <p:sp>
        <p:nvSpPr>
          <p:cNvPr id="18" name="Rectangle 17"/>
          <p:cNvSpPr/>
          <p:nvPr/>
        </p:nvSpPr>
        <p:spPr>
          <a:xfrm>
            <a:off x="548640" y="3108960"/>
            <a:ext cx="11887200" cy="5029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200400"/>
            <a:ext cx="4023360" cy="320040"/>
          </a:xfrm>
          <a:prstGeom prst="rect">
            <a:avLst/>
          </a:prstGeom>
          <a:noFill/>
        </p:spPr>
        <p:txBody>
          <a:bodyPr wrap="square">
            <a:spAutoFit/>
          </a:bodyPr>
          <a:lstStyle/>
          <a:p>
            <a:pPr algn="l"/>
            <a:r>
              <a:rPr sz="1300" b="1" i="0">
                <a:solidFill>
                  <a:srgbClr val="121A2F"/>
                </a:solidFill>
                <a:latin typeface="Arial"/>
              </a:rPr>
              <a:t>Influencers (Phase 1)</a:t>
            </a:r>
          </a:p>
        </p:txBody>
      </p:sp>
      <p:sp>
        <p:nvSpPr>
          <p:cNvPr id="20" name="TextBox 19"/>
          <p:cNvSpPr txBox="1"/>
          <p:nvPr/>
        </p:nvSpPr>
        <p:spPr>
          <a:xfrm>
            <a:off x="4754880" y="3200400"/>
            <a:ext cx="1920240" cy="320040"/>
          </a:xfrm>
          <a:prstGeom prst="rect">
            <a:avLst/>
          </a:prstGeom>
          <a:noFill/>
        </p:spPr>
        <p:txBody>
          <a:bodyPr wrap="square">
            <a:spAutoFit/>
          </a:bodyPr>
          <a:lstStyle/>
          <a:p>
            <a:pPr algn="l"/>
            <a:r>
              <a:rPr sz="1300" b="1" i="0">
                <a:solidFill>
                  <a:srgbClr val="121A2F"/>
                </a:solidFill>
                <a:latin typeface="Arial"/>
              </a:rPr>
              <a:t>$7,579</a:t>
            </a:r>
          </a:p>
        </p:txBody>
      </p:sp>
      <p:sp>
        <p:nvSpPr>
          <p:cNvPr id="21" name="TextBox 20"/>
          <p:cNvSpPr txBox="1"/>
          <p:nvPr/>
        </p:nvSpPr>
        <p:spPr>
          <a:xfrm>
            <a:off x="6766560" y="3200400"/>
            <a:ext cx="5623560" cy="320040"/>
          </a:xfrm>
          <a:prstGeom prst="rect">
            <a:avLst/>
          </a:prstGeom>
          <a:noFill/>
        </p:spPr>
        <p:txBody>
          <a:bodyPr wrap="square">
            <a:spAutoFit/>
          </a:bodyPr>
          <a:lstStyle/>
          <a:p>
            <a:pPr algn="l"/>
            <a:r>
              <a:rPr sz="1100" b="0" i="0">
                <a:solidFill>
                  <a:srgbClr val="5A6A85"/>
                </a:solidFill>
                <a:latin typeface="Arial"/>
              </a:rPr>
              <a:t>5 creators confirmed; more phases to follow</a:t>
            </a:r>
          </a:p>
        </p:txBody>
      </p:sp>
      <p:sp>
        <p:nvSpPr>
          <p:cNvPr id="22" name="Rectangle 21"/>
          <p:cNvSpPr/>
          <p:nvPr/>
        </p:nvSpPr>
        <p:spPr>
          <a:xfrm>
            <a:off x="548640" y="3611880"/>
            <a:ext cx="11887200" cy="50292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703320"/>
            <a:ext cx="4023360" cy="320040"/>
          </a:xfrm>
          <a:prstGeom prst="rect">
            <a:avLst/>
          </a:prstGeom>
          <a:noFill/>
        </p:spPr>
        <p:txBody>
          <a:bodyPr wrap="square">
            <a:spAutoFit/>
          </a:bodyPr>
          <a:lstStyle/>
          <a:p>
            <a:pPr algn="l"/>
            <a:r>
              <a:rPr sz="1300" b="1" i="0">
                <a:solidFill>
                  <a:srgbClr val="121A2F"/>
                </a:solidFill>
                <a:latin typeface="Arial"/>
              </a:rPr>
              <a:t>App Relaunch</a:t>
            </a:r>
          </a:p>
        </p:txBody>
      </p:sp>
      <p:sp>
        <p:nvSpPr>
          <p:cNvPr id="24" name="TextBox 23"/>
          <p:cNvSpPr txBox="1"/>
          <p:nvPr/>
        </p:nvSpPr>
        <p:spPr>
          <a:xfrm>
            <a:off x="4754880" y="3703320"/>
            <a:ext cx="1920240" cy="320040"/>
          </a:xfrm>
          <a:prstGeom prst="rect">
            <a:avLst/>
          </a:prstGeom>
          <a:noFill/>
        </p:spPr>
        <p:txBody>
          <a:bodyPr wrap="square">
            <a:spAutoFit/>
          </a:bodyPr>
          <a:lstStyle/>
          <a:p>
            <a:pPr algn="l"/>
            <a:r>
              <a:rPr sz="1300" b="1" i="0">
                <a:solidFill>
                  <a:srgbClr val="121A2F"/>
                </a:solidFill>
                <a:latin typeface="Arial"/>
              </a:rPr>
              <a:t>$4,000</a:t>
            </a:r>
          </a:p>
        </p:txBody>
      </p:sp>
      <p:sp>
        <p:nvSpPr>
          <p:cNvPr id="25" name="TextBox 24"/>
          <p:cNvSpPr txBox="1"/>
          <p:nvPr/>
        </p:nvSpPr>
        <p:spPr>
          <a:xfrm>
            <a:off x="6766560" y="3703320"/>
            <a:ext cx="5623560" cy="320040"/>
          </a:xfrm>
          <a:prstGeom prst="rect">
            <a:avLst/>
          </a:prstGeom>
          <a:noFill/>
        </p:spPr>
        <p:txBody>
          <a:bodyPr wrap="square">
            <a:spAutoFit/>
          </a:bodyPr>
          <a:lstStyle/>
          <a:p>
            <a:pPr algn="l"/>
            <a:r>
              <a:rPr sz="1100" b="0" i="0">
                <a:solidFill>
                  <a:srgbClr val="5A6A85"/>
                </a:solidFill>
                <a:latin typeface="Arial"/>
              </a:rPr>
              <a:t>Oct-Nov, new UI/UX push</a:t>
            </a:r>
          </a:p>
        </p:txBody>
      </p:sp>
      <p:sp>
        <p:nvSpPr>
          <p:cNvPr id="26" name="Rectangle 25"/>
          <p:cNvSpPr/>
          <p:nvPr/>
        </p:nvSpPr>
        <p:spPr>
          <a:xfrm>
            <a:off x="548640" y="4114800"/>
            <a:ext cx="11887200" cy="5029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206240"/>
            <a:ext cx="4023360" cy="320040"/>
          </a:xfrm>
          <a:prstGeom prst="rect">
            <a:avLst/>
          </a:prstGeom>
          <a:noFill/>
        </p:spPr>
        <p:txBody>
          <a:bodyPr wrap="square">
            <a:spAutoFit/>
          </a:bodyPr>
          <a:lstStyle/>
          <a:p>
            <a:pPr algn="l"/>
            <a:r>
              <a:rPr sz="1300" b="1" i="0">
                <a:solidFill>
                  <a:srgbClr val="121A2F"/>
                </a:solidFill>
                <a:latin typeface="Arial"/>
              </a:rPr>
              <a:t>Baseline Sponsor Ads</a:t>
            </a:r>
          </a:p>
        </p:txBody>
      </p:sp>
      <p:sp>
        <p:nvSpPr>
          <p:cNvPr id="28" name="TextBox 27"/>
          <p:cNvSpPr txBox="1"/>
          <p:nvPr/>
        </p:nvSpPr>
        <p:spPr>
          <a:xfrm>
            <a:off x="4754880" y="4206240"/>
            <a:ext cx="1920240" cy="320040"/>
          </a:xfrm>
          <a:prstGeom prst="rect">
            <a:avLst/>
          </a:prstGeom>
          <a:noFill/>
        </p:spPr>
        <p:txBody>
          <a:bodyPr wrap="square">
            <a:spAutoFit/>
          </a:bodyPr>
          <a:lstStyle/>
          <a:p>
            <a:pPr algn="l"/>
            <a:r>
              <a:rPr sz="1300" b="1" i="0">
                <a:solidFill>
                  <a:srgbClr val="121A2F"/>
                </a:solidFill>
                <a:latin typeface="Arial"/>
              </a:rPr>
              <a:t>$22,000*</a:t>
            </a:r>
          </a:p>
        </p:txBody>
      </p:sp>
      <p:sp>
        <p:nvSpPr>
          <p:cNvPr id="29" name="TextBox 28"/>
          <p:cNvSpPr txBox="1"/>
          <p:nvPr/>
        </p:nvSpPr>
        <p:spPr>
          <a:xfrm>
            <a:off x="6766560" y="4206240"/>
            <a:ext cx="5623560" cy="320040"/>
          </a:xfrm>
          <a:prstGeom prst="rect">
            <a:avLst/>
          </a:prstGeom>
          <a:noFill/>
        </p:spPr>
        <p:txBody>
          <a:bodyPr wrap="square">
            <a:spAutoFit/>
          </a:bodyPr>
          <a:lstStyle/>
          <a:p>
            <a:pPr algn="l"/>
            <a:r>
              <a:rPr sz="1100" b="0" i="0">
                <a:solidFill>
                  <a:srgbClr val="5A6A85"/>
                </a:solidFill>
                <a:latin typeface="Arial"/>
              </a:rPr>
              <a:t>$4,400/month, mid-Aug through Dec</a:t>
            </a:r>
          </a:p>
        </p:txBody>
      </p:sp>
      <p:sp>
        <p:nvSpPr>
          <p:cNvPr id="30" name="TextBox 29"/>
          <p:cNvSpPr txBox="1"/>
          <p:nvPr/>
        </p:nvSpPr>
        <p:spPr>
          <a:xfrm>
            <a:off x="548640" y="4800600"/>
            <a:ext cx="17190720" cy="822960"/>
          </a:xfrm>
          <a:prstGeom prst="rect">
            <a:avLst/>
          </a:prstGeom>
          <a:noFill/>
        </p:spPr>
        <p:txBody>
          <a:bodyPr wrap="square">
            <a:spAutoFit/>
          </a:bodyPr>
          <a:lstStyle/>
          <a:p>
            <a:pPr algn="l"/>
            <a:r>
              <a:rPr sz="1200" b="0" i="1">
                <a:solidFill>
                  <a:srgbClr val="B42A2A"/>
                </a:solidFill>
                <a:latin typeface="Arial"/>
              </a:rPr>
              <a:t>*Baseline Sponsor Ads figures come from two source documents that don't fully agree with each other ($22,000 vs. a $6,600 planning-sheet line). Figure above uses the more detailed backing sheet - confirm with Hatem before this slide is treated as final. Ajyad Capital is not attending Fintech Forward this cycle, so that line has been dropped. Against the $55,000 Strategic Reserve, the confirmed lines alone (excluding the flagged item) already commit $33,379, before the $5,000 prize.</a:t>
            </a:r>
          </a:p>
        </p:txBody>
      </p:sp>
      <p:sp>
        <p:nvSpPr>
          <p:cNvPr id="31" name="TextBox 30"/>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eMYAA H2 2026 Marketing Budget Plan.xlsx; eMYAA H2 2026 Campaign Timeline.xlsx; Project2 PR Quote QT-1858 (30 Jun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CLOSING</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800" b="1" i="0">
                <a:solidFill>
                  <a:srgbClr val="121A2F"/>
                </a:solidFill>
                <a:latin typeface="Arial"/>
              </a:rPr>
              <a:t>Wins This Month</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411480" cy="411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411480" cy="411480"/>
          </a:xfrm>
          <a:prstGeom prst="rect">
            <a:avLst/>
          </a:prstGeom>
          <a:noFill/>
        </p:spPr>
        <p:txBody>
          <a:bodyPr wrap="square" anchor="ctr">
            <a:spAutoFit/>
          </a:bodyPr>
          <a:lstStyle/>
          <a:p>
            <a:pPr algn="ctr"/>
            <a:r>
              <a:rPr sz="1600" b="1" i="0">
                <a:solidFill>
                  <a:srgbClr val="121A2F"/>
                </a:solidFill>
                <a:latin typeface="Arial"/>
              </a:rPr>
              <a:t>1</a:t>
            </a:r>
          </a:p>
        </p:txBody>
      </p:sp>
      <p:sp>
        <p:nvSpPr>
          <p:cNvPr id="8" name="TextBox 7"/>
          <p:cNvSpPr txBox="1"/>
          <p:nvPr/>
        </p:nvSpPr>
        <p:spPr>
          <a:xfrm>
            <a:off x="1143000" y="1801368"/>
            <a:ext cx="16596360" cy="777240"/>
          </a:xfrm>
          <a:prstGeom prst="rect">
            <a:avLst/>
          </a:prstGeom>
          <a:noFill/>
        </p:spPr>
        <p:txBody>
          <a:bodyPr wrap="square">
            <a:spAutoFit/>
          </a:bodyPr>
          <a:lstStyle/>
          <a:p>
            <a:pPr algn="l"/>
            <a:r>
              <a:rPr sz="1400" b="0" i="0">
                <a:solidFill>
                  <a:srgbClr val="121A2F"/>
                </a:solidFill>
                <a:latin typeface="Arial"/>
              </a:rPr>
              <a:t>Instagram nearly quadrupled its follower base (+270%) and crossed a million monthly views for the first time, powered by the GCC Relaunch and Mention &amp; Win campaigns.</a:t>
            </a:r>
          </a:p>
        </p:txBody>
      </p:sp>
      <p:sp>
        <p:nvSpPr>
          <p:cNvPr id="9" name="Rectangle 8"/>
          <p:cNvSpPr/>
          <p:nvPr/>
        </p:nvSpPr>
        <p:spPr>
          <a:xfrm>
            <a:off x="548640" y="2697480"/>
            <a:ext cx="411480" cy="411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697480"/>
            <a:ext cx="411480" cy="411480"/>
          </a:xfrm>
          <a:prstGeom prst="rect">
            <a:avLst/>
          </a:prstGeom>
          <a:noFill/>
        </p:spPr>
        <p:txBody>
          <a:bodyPr wrap="square" anchor="ctr">
            <a:spAutoFit/>
          </a:bodyPr>
          <a:lstStyle/>
          <a:p>
            <a:pPr algn="ctr"/>
            <a:r>
              <a:rPr sz="1600" b="1" i="0">
                <a:solidFill>
                  <a:srgbClr val="121A2F"/>
                </a:solidFill>
                <a:latin typeface="Arial"/>
              </a:rPr>
              <a:t>2</a:t>
            </a:r>
          </a:p>
        </p:txBody>
      </p:sp>
      <p:sp>
        <p:nvSpPr>
          <p:cNvPr id="11" name="TextBox 10"/>
          <p:cNvSpPr txBox="1"/>
          <p:nvPr/>
        </p:nvSpPr>
        <p:spPr>
          <a:xfrm>
            <a:off x="1143000" y="2715768"/>
            <a:ext cx="16596360" cy="777240"/>
          </a:xfrm>
          <a:prstGeom prst="rect">
            <a:avLst/>
          </a:prstGeom>
          <a:noFill/>
        </p:spPr>
        <p:txBody>
          <a:bodyPr wrap="square">
            <a:spAutoFit/>
          </a:bodyPr>
          <a:lstStyle/>
          <a:p>
            <a:pPr algn="l"/>
            <a:r>
              <a:rPr sz="1400" b="0" i="0">
                <a:solidFill>
                  <a:srgbClr val="121A2F"/>
                </a:solidFill>
                <a:latin typeface="Arial"/>
              </a:rPr>
              <a:t>The Mention &amp; Win pilot converted a $600 spend into 6 new funded-account leads at roughly $100 acquisition cost, well inside plan.</a:t>
            </a:r>
          </a:p>
        </p:txBody>
      </p:sp>
      <p:sp>
        <p:nvSpPr>
          <p:cNvPr id="12" name="Rectangle 11"/>
          <p:cNvSpPr/>
          <p:nvPr/>
        </p:nvSpPr>
        <p:spPr>
          <a:xfrm>
            <a:off x="548640" y="3611880"/>
            <a:ext cx="411480" cy="411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611880"/>
            <a:ext cx="411480" cy="411480"/>
          </a:xfrm>
          <a:prstGeom prst="rect">
            <a:avLst/>
          </a:prstGeom>
          <a:noFill/>
        </p:spPr>
        <p:txBody>
          <a:bodyPr wrap="square" anchor="ctr">
            <a:spAutoFit/>
          </a:bodyPr>
          <a:lstStyle/>
          <a:p>
            <a:pPr algn="ctr"/>
            <a:r>
              <a:rPr sz="1600" b="1" i="0">
                <a:solidFill>
                  <a:srgbClr val="121A2F"/>
                </a:solidFill>
                <a:latin typeface="Arial"/>
              </a:rPr>
              <a:t>3</a:t>
            </a:r>
          </a:p>
        </p:txBody>
      </p:sp>
      <p:sp>
        <p:nvSpPr>
          <p:cNvPr id="14" name="TextBox 13"/>
          <p:cNvSpPr txBox="1"/>
          <p:nvPr/>
        </p:nvSpPr>
        <p:spPr>
          <a:xfrm>
            <a:off x="1143000" y="3630168"/>
            <a:ext cx="16596360" cy="777240"/>
          </a:xfrm>
          <a:prstGeom prst="rect">
            <a:avLst/>
          </a:prstGeom>
          <a:noFill/>
        </p:spPr>
        <p:txBody>
          <a:bodyPr wrap="square">
            <a:spAutoFit/>
          </a:bodyPr>
          <a:lstStyle/>
          <a:p>
            <a:pPr algn="l"/>
            <a:r>
              <a:rPr sz="1400" b="0" i="0">
                <a:solidFill>
                  <a:srgbClr val="121A2F"/>
                </a:solidFill>
                <a:latin typeface="Arial"/>
              </a:rPr>
              <a:t>New customer service calling converted 7 of 22 priority KYC drop-offs into onboarded users within days - at zero additional ad spend - and surfaced two concrete tech/ops bugs (a broken bank transfer flow and missing username emails).</a:t>
            </a:r>
          </a:p>
        </p:txBody>
      </p:sp>
      <p:sp>
        <p:nvSpPr>
          <p:cNvPr id="15" name="Rectangle 14"/>
          <p:cNvSpPr/>
          <p:nvPr/>
        </p:nvSpPr>
        <p:spPr>
          <a:xfrm>
            <a:off x="548640" y="4526280"/>
            <a:ext cx="411480" cy="411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526280"/>
            <a:ext cx="411480" cy="411480"/>
          </a:xfrm>
          <a:prstGeom prst="rect">
            <a:avLst/>
          </a:prstGeom>
          <a:noFill/>
        </p:spPr>
        <p:txBody>
          <a:bodyPr wrap="square" anchor="ctr">
            <a:spAutoFit/>
          </a:bodyPr>
          <a:lstStyle/>
          <a:p>
            <a:pPr algn="ctr"/>
            <a:r>
              <a:rPr sz="1600" b="1" i="0">
                <a:solidFill>
                  <a:srgbClr val="121A2F"/>
                </a:solidFill>
                <a:latin typeface="Arial"/>
              </a:rPr>
              <a:t>4</a:t>
            </a:r>
          </a:p>
        </p:txBody>
      </p:sp>
      <p:sp>
        <p:nvSpPr>
          <p:cNvPr id="17" name="TextBox 16"/>
          <p:cNvSpPr txBox="1"/>
          <p:nvPr/>
        </p:nvSpPr>
        <p:spPr>
          <a:xfrm>
            <a:off x="1143000" y="4544568"/>
            <a:ext cx="16596360" cy="777240"/>
          </a:xfrm>
          <a:prstGeom prst="rect">
            <a:avLst/>
          </a:prstGeom>
          <a:noFill/>
        </p:spPr>
        <p:txBody>
          <a:bodyPr wrap="square">
            <a:spAutoFit/>
          </a:bodyPr>
          <a:lstStyle/>
          <a:p>
            <a:pPr algn="l"/>
            <a:r>
              <a:rPr sz="1400" b="0" i="0">
                <a:solidFill>
                  <a:srgbClr val="121A2F"/>
                </a:solidFill>
                <a:latin typeface="Arial"/>
              </a:rPr>
              <a:t>A real fraud problem was caught and fixed: TikTok's bot-driven traffic was identified and the channel was pulled from paid media entirely.</a:t>
            </a:r>
          </a:p>
        </p:txBody>
      </p:sp>
      <p:sp>
        <p:nvSpPr>
          <p:cNvPr id="18" name="Rectangle 17"/>
          <p:cNvSpPr/>
          <p:nvPr/>
        </p:nvSpPr>
        <p:spPr>
          <a:xfrm>
            <a:off x="548640" y="5440680"/>
            <a:ext cx="411480" cy="411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440680"/>
            <a:ext cx="411480" cy="411480"/>
          </a:xfrm>
          <a:prstGeom prst="rect">
            <a:avLst/>
          </a:prstGeom>
          <a:noFill/>
        </p:spPr>
        <p:txBody>
          <a:bodyPr wrap="square" anchor="ctr">
            <a:spAutoFit/>
          </a:bodyPr>
          <a:lstStyle/>
          <a:p>
            <a:pPr algn="ctr"/>
            <a:r>
              <a:rPr sz="1600" b="1" i="0">
                <a:solidFill>
                  <a:srgbClr val="121A2F"/>
                </a:solidFill>
                <a:latin typeface="Arial"/>
              </a:rPr>
              <a:t>5</a:t>
            </a:r>
          </a:p>
        </p:txBody>
      </p:sp>
      <p:sp>
        <p:nvSpPr>
          <p:cNvPr id="20" name="TextBox 19"/>
          <p:cNvSpPr txBox="1"/>
          <p:nvPr/>
        </p:nvSpPr>
        <p:spPr>
          <a:xfrm>
            <a:off x="1143000" y="5458968"/>
            <a:ext cx="16596360" cy="777240"/>
          </a:xfrm>
          <a:prstGeom prst="rect">
            <a:avLst/>
          </a:prstGeom>
          <a:noFill/>
        </p:spPr>
        <p:txBody>
          <a:bodyPr wrap="square">
            <a:spAutoFit/>
          </a:bodyPr>
          <a:lstStyle/>
          <a:p>
            <a:pPr algn="l"/>
            <a:r>
              <a:rPr sz="1400" b="0" i="0">
                <a:solidFill>
                  <a:srgbClr val="121A2F"/>
                </a:solidFill>
                <a:latin typeface="Arial"/>
              </a:rPr>
              <a:t>Two new, evidence-based programs move into build this cycle: a 5-creator influencer roster (Phase 1) for human-fronted content, and the Most Active Trader $5,000 Campaign to convert dormant accounts into active traders.</a:t>
            </a:r>
          </a:p>
        </p:txBody>
      </p:sp>
      <p:sp>
        <p:nvSpPr>
          <p:cNvPr id="21" name="TextBox 20"/>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