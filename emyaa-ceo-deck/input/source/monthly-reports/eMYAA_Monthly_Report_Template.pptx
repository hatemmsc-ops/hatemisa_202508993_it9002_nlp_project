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Ajyad Capital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40690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4663440"/>
            <a:ext cx="4114800" cy="36576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&amp; Authorized Agencies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AUM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Dynamics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6364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User ROI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Success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09828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8972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 Momentum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8972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26517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46888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606040"/>
            <a:ext cx="2468880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11480" y="2972714"/>
            <a:ext cx="246888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468880"/>
            <a:ext cx="26517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46888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606040"/>
            <a:ext cx="2468880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37560" y="2972714"/>
            <a:ext cx="246888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3189884"/>
            <a:ext cx="2468880" cy="147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99.99%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72200" y="2468880"/>
            <a:ext cx="26517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46888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606040"/>
            <a:ext cx="2468880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[ms]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63640" y="2972714"/>
            <a:ext cx="246888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Latency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189884"/>
            <a:ext cx="2468880" cy="147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&lt;500ms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098280" y="2468880"/>
            <a:ext cx="2651760" cy="86868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98280" y="246888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2606040"/>
            <a:ext cx="2468880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89720" y="2972714"/>
            <a:ext cx="246888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Resolution Score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354787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 This Month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3840480"/>
            <a:ext cx="11521440" cy="27432"/>
          </a:xfrm>
          <a:prstGeom prst="rect">
            <a:avLst/>
          </a:prstGeom>
          <a:solidFill>
            <a:srgbClr val="C5CED8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3977640"/>
            <a:ext cx="164592" cy="164592"/>
          </a:xfrm>
          <a:prstGeom prst="ellipse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3931920"/>
            <a:ext cx="10808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1 — key result, milestone, or trend from this month.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" y="4636008"/>
            <a:ext cx="164592" cy="164592"/>
          </a:xfrm>
          <a:prstGeom prst="ellipse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4590288"/>
            <a:ext cx="10808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2 — key result, milestone, or trend from this month.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472" y="5294376"/>
            <a:ext cx="164592" cy="164592"/>
          </a:xfrm>
          <a:prstGeom prst="ellipse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5248656"/>
            <a:ext cx="10808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3 — key result, milestone, or trend from this month.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Funnel Integrity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First-Pass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8972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Gap (Not Invested)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2267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Funnel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78608"/>
          <a:ext cx="5577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0876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Onboarding 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&amp; Funded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&amp; Not Funded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080760" y="2267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Pareto (Top Reasons)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578608"/>
          <a:ext cx="5577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Clarity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Dynamics &amp; Market Allocation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0233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581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Diversification Index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10512"/>
            <a:ext cx="3840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Avg. instruments/investor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320040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51560"/>
            <a:ext cx="320040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88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158191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Density — Mean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810512"/>
            <a:ext cx="3017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Retail segment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83880" y="1051560"/>
            <a:ext cx="338328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051560"/>
            <a:ext cx="338328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75320" y="15819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Density — Median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1810512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Whale segment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2176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Exposure (AUM by Market)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05156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(TASI)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 (NYSE/NASDAQ)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 (DFM/ADX)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 (HKEX)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080760" y="2176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Allocation (AUM by Type)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Sukuk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Success &amp; Portfolio Alpha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3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651760" cy="137160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61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8059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User ROI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% return across all users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137160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61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18059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Portfolio Health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1762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stop-loss / adv. orders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51760" cy="137160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161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18059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Velocity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1762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non-compliant returns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98280" y="1051560"/>
            <a:ext cx="2651760" cy="137160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1612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89720" y="18059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Deployment Ratio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1762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active in market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Breakdown by Segment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62656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Portfolio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(&lt; BHD 5,000)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 (BHD 5K–50K)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Whale (&gt; BHD 50K)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08076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Shari'ah Compliance Activity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962656"/>
          <a:ext cx="5577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Purification Velocity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Screened Instruments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Deployment Ratio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Feature Intelligence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4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6517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Resolution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Escalation Ratio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517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Support-to-Trade Ratio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810512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 100 trades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98280" y="1051560"/>
            <a:ext cx="26517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188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[×/wk]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8972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Stickiness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720" y="1810512"/>
            <a:ext cx="2468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App opens vs. trades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2176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Rate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Freq. (MoM)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Shari'ah Screener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Feed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6080760" y="2176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Support Health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9144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Resolution Score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Escalation Ratio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Support-to-Trade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Stickiness (opens/wk)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Commercial, LTV &amp; Capital Efficiency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5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funded user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user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[mo]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Period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recover CAC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98280" y="1051560"/>
            <a:ext cx="2651760" cy="118872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161288"/>
            <a:ext cx="24688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[BHD]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89720" y="1705356"/>
            <a:ext cx="2468880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 Momentum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026310"/>
            <a:ext cx="246888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− Withdrawals (MoM)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79776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0058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Month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Brokerage Commissions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Spread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/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08076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&amp; Withdrawal Activity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779776"/>
          <a:ext cx="5577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Month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Month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Deposits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Withdrawals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Compliance &amp; Technical Excellence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6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[✓/✗]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Transparency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86407"/>
            <a:ext cx="246888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CBB adherence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3756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Latency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886407"/>
            <a:ext cx="246888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Target: &lt;500ms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220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6364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886407"/>
            <a:ext cx="246888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Shari'ah screening accuracy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098280" y="1051560"/>
            <a:ext cx="2651760" cy="100584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1051560"/>
            <a:ext cx="26517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188720"/>
            <a:ext cx="24688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89720" y="1634947"/>
            <a:ext cx="246888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89720" y="1886407"/>
            <a:ext cx="246888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Target: 99.99%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22677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Checklist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78608"/>
          <a:ext cx="5577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CBB Monthly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Shari'ah Screening Engine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AML/KYC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Protocols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6080760" y="22677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Health Metrics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578608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Latency (avg 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Latency (peak 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Uptime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 Score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Reported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Ecosystem Growth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96112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7 of 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35661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35661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15819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Viral Coefficient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810512"/>
            <a:ext cx="3383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Organic vs. paid acquisition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0" y="1051560"/>
            <a:ext cx="356616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051560"/>
            <a:ext cx="35661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97680" y="15819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 (SOV)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1810512"/>
            <a:ext cx="3383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vs. GCC competitors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92440" y="1051560"/>
            <a:ext cx="3474720" cy="914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051560"/>
            <a:ext cx="347472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188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[+/-]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183880" y="15819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1810512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Organic mentions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21762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ROI Comparison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  <a:gridCol w="91440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 (BHD)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(FB/IG)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 /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080760" y="21762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Growth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1887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 /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Media Coverage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572000"/>
                <a:gridCol w="146304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(est.)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[Outlet]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/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[Outlet]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/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[Outlet]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/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[Outlet]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/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[Outlet]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[Headline]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/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[—]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611880"/>
            <a:ext cx="5394960" cy="594360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Media Mentions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[#]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035040" y="3611880"/>
            <a:ext cx="5806440" cy="59436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Sentiment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72200" y="3931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Positive / Neutral / Negative ]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This Month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56616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35661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188720"/>
            <a:ext cx="731520" cy="731520"/>
          </a:xfrm>
          <a:prstGeom prst="ellipse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win here — key result, milestone, or metric achieved.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356616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051560"/>
            <a:ext cx="35661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188720"/>
            <a:ext cx="731520" cy="731520"/>
          </a:xfrm>
          <a:prstGeom prst="ellipse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4231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win here — key result, milestone, or metric achieved.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051560"/>
            <a:ext cx="3566160" cy="2651760"/>
          </a:xfrm>
          <a:prstGeom prst="rect">
            <a:avLst/>
          </a:prstGeom>
          <a:solidFill>
            <a:srgbClr val="F4F6FA"/>
          </a:solidFill>
          <a:ln w="12700">
            <a:solidFill>
              <a:srgbClr val="C5C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051560"/>
            <a:ext cx="3566160" cy="54864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1188720"/>
            <a:ext cx="731520" cy="731520"/>
          </a:xfrm>
          <a:prstGeom prst="ellipse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242316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win here — key result, milestone, or metric achieved.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Blockers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115214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28016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issue clearly]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[Category]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issue clearly]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[Category]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69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issue clearly]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[Category]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7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issue clearly]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[Category]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15468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key:  Open = unresolved   |   In Progress = being worked on   |   Resolved = completed this month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521440" y="6537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64008" cy="475488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4389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 Priorities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347472" cy="329184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155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— describe the main focus area, campaign, or deliverable.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347472" cy="329184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— describe the main focus area, campaign, or deliverable.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347472" cy="329184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9339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 — describe the main focus area, campaign, or deliverable.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50592"/>
            <a:ext cx="347472" cy="329184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5059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4871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 — describe the main focus area, campaign, or deliverable.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347472" cy="329184"/>
          </a:xfrm>
          <a:prstGeom prst="rect">
            <a:avLst/>
          </a:prstGeom>
          <a:solidFill>
            <a:srgbClr val="121A2F"/>
          </a:solidFill>
          <a:ln w="12700">
            <a:solidFill>
              <a:srgbClr val="121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0779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9443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5 — describe the main focus area, campaign, or deliverable.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Dates &amp; Deadlines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11521440" cy="27432"/>
          </a:xfrm>
          <a:prstGeom prst="rect">
            <a:avLst/>
          </a:prstGeom>
          <a:solidFill>
            <a:srgbClr val="C5CED8"/>
          </a:solidFill>
          <a:ln w="12700">
            <a:solidFill>
              <a:srgbClr val="C5CED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05072"/>
          <a:ext cx="11521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8638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[DD/MM/YYYY]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event, deadline, or milestone]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[DD/MM/YYYY]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event, deadline, or milestone]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[DD/MM/YYYY]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[Describe the event, deadline, or milestone]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A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[Owner]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eMYAA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2633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Ajyad Capital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0" y="3090672"/>
            <a:ext cx="4480560" cy="36576"/>
          </a:xfrm>
          <a:prstGeom prst="rect">
            <a:avLst/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735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Wisely. Trade Precisely.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8221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093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For Internal Use &amp; Authorized Agencies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2026-05-07T09:33:49Z</dcterms:created>
  <dcterms:modified xsi:type="dcterms:W3CDTF">2026-05-07T09:33:49Z</dcterms:modified>
</cp:coreProperties>
</file>