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Exo 2 Bold" charset="1" panose="00000000000000000000"/>
      <p:regular r:id="rId20"/>
    </p:embeddedFont>
    <p:embeddedFont>
      <p:font typeface="Exo 2" charset="1" panose="00000000000000000000"/>
      <p:regular r:id="rId21"/>
    </p:embeddedFont>
    <p:embeddedFont>
      <p:font typeface="Exo 2 Italics" charset="1" panose="00000000000000000000"/>
      <p:regular r:id="rId23"/>
    </p:embeddedFont>
    <p:embeddedFont>
      <p:font typeface="Calibri (MS) Bold" charset="1" panose="020F0702030404030204"/>
      <p:regular r:id="rId26"/>
    </p:embeddedFont>
    <p:embeddedFont>
      <p:font typeface="Calibri (MS)" charset="1" panose="020F0502020204030204"/>
      <p:regular r:id="rId27"/>
    </p:embeddedFont>
    <p:embeddedFont>
      <p:font typeface="Calibri (MS) Italics" charset="1" panose="020F05020202040A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5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014" y="-252008"/>
            <a:ext cx="19093861" cy="10853442"/>
            <a:chOff x="0" y="0"/>
            <a:chExt cx="24384000" cy="13860493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860494"/>
            </a:xfrm>
            <a:custGeom>
              <a:avLst/>
              <a:gdLst/>
              <a:ahLst/>
              <a:cxnLst/>
              <a:rect r="r" b="b" t="t" l="l"/>
              <a:pathLst>
                <a:path h="1386049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860494"/>
                  </a:lnTo>
                  <a:lnTo>
                    <a:pt x="0" y="13860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6" t="0" r="-52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92489" y="3566355"/>
            <a:ext cx="15703023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b="true" sz="810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eMYAA M</a:t>
            </a:r>
            <a:r>
              <a:rPr lang="en-US" b="true" sz="810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onthly</a:t>
            </a:r>
          </a:p>
          <a:p>
            <a:pPr algn="ctr">
              <a:lnSpc>
                <a:spcPts val="9720"/>
              </a:lnSpc>
            </a:pPr>
            <a:r>
              <a:rPr lang="en-US" b="true" sz="810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 Performance Report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80024" y="6486765"/>
            <a:ext cx="8927951" cy="450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2"/>
              </a:lnSpc>
            </a:pPr>
            <a:r>
              <a:rPr lang="en-US" sz="2976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MAY 2026 | Internal Use &amp; Authorized Agencies Only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340" y="1028700"/>
            <a:ext cx="2628960" cy="757148"/>
            <a:chOff x="0" y="0"/>
            <a:chExt cx="6614516" cy="1905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614541" cy="1905000"/>
            </a:xfrm>
            <a:custGeom>
              <a:avLst/>
              <a:gdLst/>
              <a:ahLst/>
              <a:cxnLst/>
              <a:rect r="r" b="b" t="t" l="l"/>
              <a:pathLst>
                <a:path h="1905000" w="6614541">
                  <a:moveTo>
                    <a:pt x="0" y="0"/>
                  </a:moveTo>
                  <a:lnTo>
                    <a:pt x="6614541" y="0"/>
                  </a:lnTo>
                  <a:lnTo>
                    <a:pt x="6614541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773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2400300" cy="853440"/>
          </a:xfrm>
          <a:custGeom>
            <a:avLst/>
            <a:gdLst/>
            <a:ahLst/>
            <a:cxnLst/>
            <a:rect r="r" b="b" t="t" l="l"/>
            <a:pathLst>
              <a:path h="853440" w="2400300">
                <a:moveTo>
                  <a:pt x="0" y="0"/>
                </a:moveTo>
                <a:lnTo>
                  <a:pt x="2400300" y="0"/>
                </a:lnTo>
                <a:lnTo>
                  <a:pt x="240030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0" y="12700"/>
              <a:ext cx="128016" cy="950976"/>
            </a:xfrm>
            <a:custGeom>
              <a:avLst/>
              <a:gdLst/>
              <a:ahLst/>
              <a:cxnLst/>
              <a:rect r="r" b="b" t="t" l="l"/>
              <a:pathLst>
                <a:path h="950976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950976"/>
                  </a:lnTo>
                  <a:lnTo>
                    <a:pt x="0" y="950976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12700" y="0"/>
                  </a:moveTo>
                  <a:lnTo>
                    <a:pt x="140716" y="0"/>
                  </a:lnTo>
                  <a:cubicBezTo>
                    <a:pt x="147701" y="0"/>
                    <a:pt x="153416" y="5715"/>
                    <a:pt x="153416" y="12700"/>
                  </a:cubicBezTo>
                  <a:lnTo>
                    <a:pt x="153416" y="963676"/>
                  </a:lnTo>
                  <a:cubicBezTo>
                    <a:pt x="153416" y="970661"/>
                    <a:pt x="147701" y="976376"/>
                    <a:pt x="140716" y="976376"/>
                  </a:cubicBezTo>
                  <a:lnTo>
                    <a:pt x="12700" y="976376"/>
                  </a:lnTo>
                  <a:cubicBezTo>
                    <a:pt x="5715" y="976376"/>
                    <a:pt x="0" y="970661"/>
                    <a:pt x="0" y="96367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63676"/>
                  </a:lnTo>
                  <a:lnTo>
                    <a:pt x="12700" y="963676"/>
                  </a:lnTo>
                  <a:lnTo>
                    <a:pt x="12700" y="950976"/>
                  </a:lnTo>
                  <a:lnTo>
                    <a:pt x="140716" y="950976"/>
                  </a:lnTo>
                  <a:lnTo>
                    <a:pt x="140716" y="963676"/>
                  </a:lnTo>
                  <a:lnTo>
                    <a:pt x="128016" y="963676"/>
                  </a:lnTo>
                  <a:lnTo>
                    <a:pt x="128016" y="12700"/>
                  </a:lnTo>
                  <a:lnTo>
                    <a:pt x="140716" y="12700"/>
                  </a:lnTo>
                  <a:lnTo>
                    <a:pt x="140716" y="25400"/>
                  </a:lnTo>
                  <a:lnTo>
                    <a:pt x="12700" y="2540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89775" y="427022"/>
            <a:ext cx="12344400" cy="1140793"/>
            <a:chOff x="0" y="0"/>
            <a:chExt cx="16459200" cy="15210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59200" cy="1521057"/>
            </a:xfrm>
            <a:custGeom>
              <a:avLst/>
              <a:gdLst/>
              <a:ahLst/>
              <a:cxnLst/>
              <a:rect r="r" b="b" t="t" l="l"/>
              <a:pathLst>
                <a:path h="1521057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521057"/>
                  </a:lnTo>
                  <a:lnTo>
                    <a:pt x="0" y="15210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9585" r="0" b="-14210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6459200" cy="1530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6480"/>
                </a:lnSpc>
                <a:spcBef>
                  <a:spcPct val="0"/>
                </a:spcBef>
              </a:pPr>
              <a:r>
                <a:rPr lang="en-US" b="true" sz="5400" strike="noStrike" u="none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Executive Summary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0535" y="1567815"/>
            <a:ext cx="3996690" cy="1802130"/>
            <a:chOff x="0" y="0"/>
            <a:chExt cx="5328920" cy="2402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53035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2377440"/>
                  </a:lnTo>
                  <a:lnTo>
                    <a:pt x="0" y="237744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2892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328920">
                  <a:moveTo>
                    <a:pt x="12700" y="0"/>
                  </a:moveTo>
                  <a:lnTo>
                    <a:pt x="5316220" y="0"/>
                  </a:lnTo>
                  <a:cubicBezTo>
                    <a:pt x="5323205" y="0"/>
                    <a:pt x="5328920" y="5715"/>
                    <a:pt x="5328920" y="12700"/>
                  </a:cubicBezTo>
                  <a:lnTo>
                    <a:pt x="5328920" y="2390140"/>
                  </a:lnTo>
                  <a:cubicBezTo>
                    <a:pt x="5328920" y="2397125"/>
                    <a:pt x="5323205" y="2402840"/>
                    <a:pt x="5316220" y="2402840"/>
                  </a:cubicBezTo>
                  <a:lnTo>
                    <a:pt x="12700" y="2402840"/>
                  </a:lnTo>
                  <a:cubicBezTo>
                    <a:pt x="5715" y="2402840"/>
                    <a:pt x="0" y="2397125"/>
                    <a:pt x="0" y="239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90140"/>
                  </a:lnTo>
                  <a:lnTo>
                    <a:pt x="12700" y="2390140"/>
                  </a:lnTo>
                  <a:lnTo>
                    <a:pt x="12700" y="2377440"/>
                  </a:lnTo>
                  <a:lnTo>
                    <a:pt x="5316220" y="2377440"/>
                  </a:lnTo>
                  <a:lnTo>
                    <a:pt x="5316220" y="2390140"/>
                  </a:lnTo>
                  <a:lnTo>
                    <a:pt x="5303520" y="2390140"/>
                  </a:lnTo>
                  <a:lnTo>
                    <a:pt x="5303520" y="12700"/>
                  </a:lnTo>
                  <a:lnTo>
                    <a:pt x="5316220" y="12700"/>
                  </a:lnTo>
                  <a:lnTo>
                    <a:pt x="53162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21A2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17220" y="1741932"/>
            <a:ext cx="3703320" cy="903821"/>
            <a:chOff x="0" y="0"/>
            <a:chExt cx="4937760" cy="12050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37760" cy="1205095"/>
            </a:xfrm>
            <a:custGeom>
              <a:avLst/>
              <a:gdLst/>
              <a:ahLst/>
              <a:cxnLst/>
              <a:rect r="r" b="b" t="t" l="l"/>
              <a:pathLst>
                <a:path h="1205095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05095"/>
                  </a:lnTo>
                  <a:lnTo>
                    <a:pt x="0" y="1205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490" r="0" b="-2718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4937760" cy="12146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sz="4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17220" y="2558034"/>
            <a:ext cx="3703320" cy="499263"/>
            <a:chOff x="0" y="0"/>
            <a:chExt cx="4937760" cy="6656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37760" cy="665685"/>
            </a:xfrm>
            <a:custGeom>
              <a:avLst/>
              <a:gdLst/>
              <a:ahLst/>
              <a:cxnLst/>
              <a:rect r="r" b="b" t="t" l="l"/>
              <a:pathLst>
                <a:path h="665685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65685"/>
                  </a:lnTo>
                  <a:lnTo>
                    <a:pt x="0" y="6656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531" r="0" b="-9453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4937760" cy="675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Funded Users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17220" y="2963264"/>
            <a:ext cx="3703320" cy="320955"/>
            <a:chOff x="0" y="0"/>
            <a:chExt cx="4937760" cy="4279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37760" cy="427941"/>
            </a:xfrm>
            <a:custGeom>
              <a:avLst/>
              <a:gdLst/>
              <a:ahLst/>
              <a:cxnLst/>
              <a:rect r="r" b="b" t="t" l="l"/>
              <a:pathLst>
                <a:path h="427941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27941"/>
                  </a:lnTo>
                  <a:lnTo>
                    <a:pt x="0" y="4279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4826" r="0" b="-17482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4937760" cy="437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i="true">
                  <a:solidFill>
                    <a:srgbClr val="FFFFFF"/>
                  </a:solidFill>
                  <a:latin typeface="Exo 2 Italics"/>
                  <a:ea typeface="Exo 2 Italics"/>
                  <a:cs typeface="Exo 2 Italics"/>
                  <a:sym typeface="Exo 2 Italics"/>
                </a:rPr>
                <a:t>Onboarding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859655" y="1567815"/>
            <a:ext cx="3996690" cy="1802130"/>
            <a:chOff x="0" y="0"/>
            <a:chExt cx="5328920" cy="2402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2700" y="12700"/>
              <a:ext cx="53035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2377440"/>
                  </a:lnTo>
                  <a:lnTo>
                    <a:pt x="0" y="237744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2892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328920">
                  <a:moveTo>
                    <a:pt x="12700" y="0"/>
                  </a:moveTo>
                  <a:lnTo>
                    <a:pt x="5316220" y="0"/>
                  </a:lnTo>
                  <a:cubicBezTo>
                    <a:pt x="5323205" y="0"/>
                    <a:pt x="5328920" y="5715"/>
                    <a:pt x="5328920" y="12700"/>
                  </a:cubicBezTo>
                  <a:lnTo>
                    <a:pt x="5328920" y="2390140"/>
                  </a:lnTo>
                  <a:cubicBezTo>
                    <a:pt x="5328920" y="2397125"/>
                    <a:pt x="5323205" y="2402840"/>
                    <a:pt x="5316220" y="2402840"/>
                  </a:cubicBezTo>
                  <a:lnTo>
                    <a:pt x="12700" y="2402840"/>
                  </a:lnTo>
                  <a:cubicBezTo>
                    <a:pt x="5715" y="2402840"/>
                    <a:pt x="0" y="2397125"/>
                    <a:pt x="0" y="239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90140"/>
                  </a:lnTo>
                  <a:lnTo>
                    <a:pt x="12700" y="2390140"/>
                  </a:lnTo>
                  <a:lnTo>
                    <a:pt x="12700" y="2377440"/>
                  </a:lnTo>
                  <a:lnTo>
                    <a:pt x="5316220" y="2377440"/>
                  </a:lnTo>
                  <a:lnTo>
                    <a:pt x="5316220" y="2390140"/>
                  </a:lnTo>
                  <a:lnTo>
                    <a:pt x="5303520" y="2390140"/>
                  </a:lnTo>
                  <a:lnTo>
                    <a:pt x="5303520" y="12700"/>
                  </a:lnTo>
                  <a:lnTo>
                    <a:pt x="5316220" y="12700"/>
                  </a:lnTo>
                  <a:lnTo>
                    <a:pt x="53162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21A2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006340" y="1741932"/>
            <a:ext cx="3703320" cy="903821"/>
            <a:chOff x="0" y="0"/>
            <a:chExt cx="4937760" cy="120509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37760" cy="1205095"/>
            </a:xfrm>
            <a:custGeom>
              <a:avLst/>
              <a:gdLst/>
              <a:ahLst/>
              <a:cxnLst/>
              <a:rect r="r" b="b" t="t" l="l"/>
              <a:pathLst>
                <a:path h="1205095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05095"/>
                  </a:lnTo>
                  <a:lnTo>
                    <a:pt x="0" y="1205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490" r="0" b="-2718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4937760" cy="12146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sz="4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 </a:t>
              </a:r>
              <a:r>
                <a:rPr lang="en-US" b="true" sz="4299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67.14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006340" y="2558034"/>
            <a:ext cx="3703320" cy="499263"/>
            <a:chOff x="0" y="0"/>
            <a:chExt cx="4937760" cy="6656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37760" cy="665685"/>
            </a:xfrm>
            <a:custGeom>
              <a:avLst/>
              <a:gdLst/>
              <a:ahLst/>
              <a:cxnLst/>
              <a:rect r="r" b="b" t="t" l="l"/>
              <a:pathLst>
                <a:path h="665685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65685"/>
                  </a:lnTo>
                  <a:lnTo>
                    <a:pt x="0" y="6656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531" r="0" b="-9453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4937760" cy="675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Platform AUM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06340" y="2963265"/>
            <a:ext cx="3703320" cy="320955"/>
            <a:chOff x="0" y="0"/>
            <a:chExt cx="4937760" cy="4279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37760" cy="427941"/>
            </a:xfrm>
            <a:custGeom>
              <a:avLst/>
              <a:gdLst/>
              <a:ahLst/>
              <a:cxnLst/>
              <a:rect r="r" b="b" t="t" l="l"/>
              <a:pathLst>
                <a:path h="427941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27941"/>
                  </a:lnTo>
                  <a:lnTo>
                    <a:pt x="0" y="4279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4826" r="0" b="-17482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4937760" cy="437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i="true">
                  <a:solidFill>
                    <a:srgbClr val="FFFFFF"/>
                  </a:solidFill>
                  <a:latin typeface="Exo 2 Italics"/>
                  <a:ea typeface="Exo 2 Italics"/>
                  <a:cs typeface="Exo 2 Italics"/>
                  <a:sym typeface="Exo 2 Italics"/>
                </a:rPr>
                <a:t>Asset Dynamics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248775" y="1567815"/>
            <a:ext cx="3996690" cy="1802130"/>
            <a:chOff x="0" y="0"/>
            <a:chExt cx="5328920" cy="2402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2700" y="12700"/>
              <a:ext cx="53035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2377440"/>
                  </a:lnTo>
                  <a:lnTo>
                    <a:pt x="0" y="237744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2892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328920">
                  <a:moveTo>
                    <a:pt x="12700" y="0"/>
                  </a:moveTo>
                  <a:lnTo>
                    <a:pt x="5316220" y="0"/>
                  </a:lnTo>
                  <a:cubicBezTo>
                    <a:pt x="5323205" y="0"/>
                    <a:pt x="5328920" y="5715"/>
                    <a:pt x="5328920" y="12700"/>
                  </a:cubicBezTo>
                  <a:lnTo>
                    <a:pt x="5328920" y="2390140"/>
                  </a:lnTo>
                  <a:cubicBezTo>
                    <a:pt x="5328920" y="2397125"/>
                    <a:pt x="5323205" y="2402840"/>
                    <a:pt x="5316220" y="2402840"/>
                  </a:cubicBezTo>
                  <a:lnTo>
                    <a:pt x="12700" y="2402840"/>
                  </a:lnTo>
                  <a:cubicBezTo>
                    <a:pt x="5715" y="2402840"/>
                    <a:pt x="0" y="2397125"/>
                    <a:pt x="0" y="239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90140"/>
                  </a:lnTo>
                  <a:lnTo>
                    <a:pt x="12700" y="2390140"/>
                  </a:lnTo>
                  <a:lnTo>
                    <a:pt x="12700" y="2377440"/>
                  </a:lnTo>
                  <a:lnTo>
                    <a:pt x="5316220" y="2377440"/>
                  </a:lnTo>
                  <a:lnTo>
                    <a:pt x="5316220" y="2390140"/>
                  </a:lnTo>
                  <a:lnTo>
                    <a:pt x="5303520" y="2390140"/>
                  </a:lnTo>
                  <a:lnTo>
                    <a:pt x="5303520" y="12700"/>
                  </a:lnTo>
                  <a:lnTo>
                    <a:pt x="5316220" y="12700"/>
                  </a:lnTo>
                  <a:lnTo>
                    <a:pt x="53162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21A2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395460" y="1741932"/>
            <a:ext cx="3703320" cy="903821"/>
            <a:chOff x="0" y="0"/>
            <a:chExt cx="4937760" cy="120509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937760" cy="1205095"/>
            </a:xfrm>
            <a:custGeom>
              <a:avLst/>
              <a:gdLst/>
              <a:ahLst/>
              <a:cxnLst/>
              <a:rect r="r" b="b" t="t" l="l"/>
              <a:pathLst>
                <a:path h="1205095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05095"/>
                  </a:lnTo>
                  <a:lnTo>
                    <a:pt x="0" y="1205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490" r="0" b="-2718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937760" cy="12146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sz="4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62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395460" y="2558034"/>
            <a:ext cx="3703320" cy="499263"/>
            <a:chOff x="0" y="0"/>
            <a:chExt cx="4937760" cy="6656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937760" cy="665685"/>
            </a:xfrm>
            <a:custGeom>
              <a:avLst/>
              <a:gdLst/>
              <a:ahLst/>
              <a:cxnLst/>
              <a:rect r="r" b="b" t="t" l="l"/>
              <a:pathLst>
                <a:path h="665685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65685"/>
                  </a:lnTo>
                  <a:lnTo>
                    <a:pt x="0" y="6656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531" r="0" b="-9453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4937760" cy="675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Onboarding Requests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95460" y="2963265"/>
            <a:ext cx="3703320" cy="320955"/>
            <a:chOff x="0" y="0"/>
            <a:chExt cx="4937760" cy="4279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937760" cy="427941"/>
            </a:xfrm>
            <a:custGeom>
              <a:avLst/>
              <a:gdLst/>
              <a:ahLst/>
              <a:cxnLst/>
              <a:rect r="r" b="b" t="t" l="l"/>
              <a:pathLst>
                <a:path h="427941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27941"/>
                  </a:lnTo>
                  <a:lnTo>
                    <a:pt x="0" y="4279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4826" r="0" b="-17482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4937760" cy="437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i="true">
                  <a:solidFill>
                    <a:srgbClr val="FFFFFF"/>
                  </a:solidFill>
                  <a:latin typeface="Exo 2 Italics"/>
                  <a:ea typeface="Exo 2 Italics"/>
                  <a:cs typeface="Exo 2 Italics"/>
                  <a:sym typeface="Exo 2 Italics"/>
                </a:rPr>
                <a:t>Eligible Only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637895" y="1567815"/>
            <a:ext cx="3996690" cy="1802130"/>
            <a:chOff x="0" y="0"/>
            <a:chExt cx="5328920" cy="2402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2700" y="12700"/>
              <a:ext cx="53035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2377440"/>
                  </a:lnTo>
                  <a:lnTo>
                    <a:pt x="0" y="237744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28920" cy="2402840"/>
            </a:xfrm>
            <a:custGeom>
              <a:avLst/>
              <a:gdLst/>
              <a:ahLst/>
              <a:cxnLst/>
              <a:rect r="r" b="b" t="t" l="l"/>
              <a:pathLst>
                <a:path h="2402840" w="5328920">
                  <a:moveTo>
                    <a:pt x="12700" y="0"/>
                  </a:moveTo>
                  <a:lnTo>
                    <a:pt x="5316220" y="0"/>
                  </a:lnTo>
                  <a:cubicBezTo>
                    <a:pt x="5323205" y="0"/>
                    <a:pt x="5328920" y="5715"/>
                    <a:pt x="5328920" y="12700"/>
                  </a:cubicBezTo>
                  <a:lnTo>
                    <a:pt x="5328920" y="2390140"/>
                  </a:lnTo>
                  <a:cubicBezTo>
                    <a:pt x="5328920" y="2397125"/>
                    <a:pt x="5323205" y="2402840"/>
                    <a:pt x="5316220" y="2402840"/>
                  </a:cubicBezTo>
                  <a:lnTo>
                    <a:pt x="12700" y="2402840"/>
                  </a:lnTo>
                  <a:cubicBezTo>
                    <a:pt x="5715" y="2402840"/>
                    <a:pt x="0" y="2397125"/>
                    <a:pt x="0" y="239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90140"/>
                  </a:lnTo>
                  <a:lnTo>
                    <a:pt x="12700" y="2390140"/>
                  </a:lnTo>
                  <a:lnTo>
                    <a:pt x="12700" y="2377440"/>
                  </a:lnTo>
                  <a:lnTo>
                    <a:pt x="5316220" y="2377440"/>
                  </a:lnTo>
                  <a:lnTo>
                    <a:pt x="5316220" y="2390140"/>
                  </a:lnTo>
                  <a:lnTo>
                    <a:pt x="5303520" y="2390140"/>
                  </a:lnTo>
                  <a:lnTo>
                    <a:pt x="5303520" y="12700"/>
                  </a:lnTo>
                  <a:lnTo>
                    <a:pt x="5316220" y="12700"/>
                  </a:lnTo>
                  <a:lnTo>
                    <a:pt x="53162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21A2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784580" y="1741932"/>
            <a:ext cx="3703320" cy="903821"/>
            <a:chOff x="0" y="0"/>
            <a:chExt cx="4937760" cy="120509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937760" cy="1205095"/>
            </a:xfrm>
            <a:custGeom>
              <a:avLst/>
              <a:gdLst/>
              <a:ahLst/>
              <a:cxnLst/>
              <a:rect r="r" b="b" t="t" l="l"/>
              <a:pathLst>
                <a:path h="1205095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205095"/>
                  </a:lnTo>
                  <a:lnTo>
                    <a:pt x="0" y="1205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490" r="0" b="-2718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4937760" cy="12146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b="true" sz="4299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126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784580" y="2558034"/>
            <a:ext cx="3703320" cy="499263"/>
            <a:chOff x="0" y="0"/>
            <a:chExt cx="4937760" cy="66568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937760" cy="665685"/>
            </a:xfrm>
            <a:custGeom>
              <a:avLst/>
              <a:gdLst/>
              <a:ahLst/>
              <a:cxnLst/>
              <a:rect r="r" b="b" t="t" l="l"/>
              <a:pathLst>
                <a:path h="665685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65685"/>
                  </a:lnTo>
                  <a:lnTo>
                    <a:pt x="0" y="6656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531" r="0" b="-9453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4937760" cy="675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App Downloads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784580" y="2963265"/>
            <a:ext cx="3703320" cy="320955"/>
            <a:chOff x="0" y="0"/>
            <a:chExt cx="4937760" cy="4279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937760" cy="427941"/>
            </a:xfrm>
            <a:custGeom>
              <a:avLst/>
              <a:gdLst/>
              <a:ahLst/>
              <a:cxnLst/>
              <a:rect r="r" b="b" t="t" l="l"/>
              <a:pathLst>
                <a:path h="427941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27941"/>
                  </a:lnTo>
                  <a:lnTo>
                    <a:pt x="0" y="4279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4826" r="0" b="-17482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4937760" cy="437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i="true">
                  <a:solidFill>
                    <a:srgbClr val="FFFFFF"/>
                  </a:solidFill>
                  <a:latin typeface="Exo 2 Italics"/>
                  <a:ea typeface="Exo 2 Italics"/>
                  <a:cs typeface="Exo 2 Italics"/>
                  <a:sym typeface="Exo 2 Italics"/>
                </a:rPr>
                <a:t>App Store &amp; Play Store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70535" y="3693795"/>
            <a:ext cx="3996690" cy="1322070"/>
            <a:chOff x="0" y="0"/>
            <a:chExt cx="5328920" cy="17627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2700" y="12700"/>
              <a:ext cx="53035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3289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5328920">
                  <a:moveTo>
                    <a:pt x="12700" y="0"/>
                  </a:moveTo>
                  <a:lnTo>
                    <a:pt x="5316220" y="0"/>
                  </a:lnTo>
                  <a:cubicBezTo>
                    <a:pt x="5323205" y="0"/>
                    <a:pt x="5328920" y="5715"/>
                    <a:pt x="5328920" y="12700"/>
                  </a:cubicBezTo>
                  <a:lnTo>
                    <a:pt x="5328920" y="1750060"/>
                  </a:lnTo>
                  <a:cubicBezTo>
                    <a:pt x="5328920" y="1757045"/>
                    <a:pt x="5323205" y="1762760"/>
                    <a:pt x="5316220" y="1762760"/>
                  </a:cubicBezTo>
                  <a:lnTo>
                    <a:pt x="12700" y="1762760"/>
                  </a:lnTo>
                  <a:cubicBezTo>
                    <a:pt x="5715" y="1762760"/>
                    <a:pt x="0" y="1757045"/>
                    <a:pt x="0" y="1750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50060"/>
                  </a:lnTo>
                  <a:lnTo>
                    <a:pt x="12700" y="1750060"/>
                  </a:lnTo>
                  <a:lnTo>
                    <a:pt x="12700" y="1737360"/>
                  </a:lnTo>
                  <a:lnTo>
                    <a:pt x="5316220" y="1737360"/>
                  </a:lnTo>
                  <a:lnTo>
                    <a:pt x="5316220" y="1750060"/>
                  </a:lnTo>
                  <a:lnTo>
                    <a:pt x="5303520" y="1750060"/>
                  </a:lnTo>
                  <a:lnTo>
                    <a:pt x="5303520" y="12700"/>
                  </a:lnTo>
                  <a:lnTo>
                    <a:pt x="5316220" y="12700"/>
                  </a:lnTo>
                  <a:lnTo>
                    <a:pt x="53162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5CED8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17220" y="3693795"/>
            <a:ext cx="3703320" cy="782358"/>
            <a:chOff x="0" y="0"/>
            <a:chExt cx="4937760" cy="104314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937760" cy="1043144"/>
            </a:xfrm>
            <a:custGeom>
              <a:avLst/>
              <a:gdLst/>
              <a:ahLst/>
              <a:cxnLst/>
              <a:rect r="r" b="b" t="t" l="l"/>
              <a:pathLst>
                <a:path h="104314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43144"/>
                  </a:lnTo>
                  <a:lnTo>
                    <a:pt x="0" y="10431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759" r="0" b="-2970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4937760" cy="1052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439"/>
                </a:lnSpc>
              </a:pPr>
              <a:r>
                <a:rPr lang="en-US" b="true" sz="3699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55 %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85597" y="4401998"/>
            <a:ext cx="3703320" cy="338785"/>
            <a:chOff x="0" y="0"/>
            <a:chExt cx="4937760" cy="45171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937760" cy="451714"/>
            </a:xfrm>
            <a:custGeom>
              <a:avLst/>
              <a:gdLst/>
              <a:ahLst/>
              <a:cxnLst/>
              <a:rect r="r" b="b" t="t" l="l"/>
              <a:pathLst>
                <a:path h="45171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51714"/>
                  </a:lnTo>
                  <a:lnTo>
                    <a:pt x="0" y="4517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994" r="0" b="-16299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4937760" cy="4612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111C37"/>
                  </a:solidFill>
                  <a:latin typeface="Exo 2"/>
                  <a:ea typeface="Exo 2"/>
                  <a:cs typeface="Exo 2"/>
                  <a:sym typeface="Exo 2"/>
                </a:rPr>
                <a:t>KYC </a:t>
              </a:r>
              <a:r>
                <a:rPr lang="en-US" sz="1599">
                  <a:solidFill>
                    <a:srgbClr val="111C37"/>
                  </a:solidFill>
                  <a:latin typeface="Exo 2"/>
                  <a:ea typeface="Exo 2"/>
                  <a:cs typeface="Exo 2"/>
                  <a:sym typeface="Exo 2"/>
                </a:rPr>
                <a:t>Approval Ratio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4859655" y="3693795"/>
            <a:ext cx="3996690" cy="1322070"/>
            <a:chOff x="0" y="0"/>
            <a:chExt cx="5328920" cy="17627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2700" y="12700"/>
              <a:ext cx="53035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3289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5328920">
                  <a:moveTo>
                    <a:pt x="12700" y="0"/>
                  </a:moveTo>
                  <a:lnTo>
                    <a:pt x="5316220" y="0"/>
                  </a:lnTo>
                  <a:cubicBezTo>
                    <a:pt x="5323205" y="0"/>
                    <a:pt x="5328920" y="5715"/>
                    <a:pt x="5328920" y="12700"/>
                  </a:cubicBezTo>
                  <a:lnTo>
                    <a:pt x="5328920" y="1750060"/>
                  </a:lnTo>
                  <a:cubicBezTo>
                    <a:pt x="5328920" y="1757045"/>
                    <a:pt x="5323205" y="1762760"/>
                    <a:pt x="5316220" y="1762760"/>
                  </a:cubicBezTo>
                  <a:lnTo>
                    <a:pt x="12700" y="1762760"/>
                  </a:lnTo>
                  <a:cubicBezTo>
                    <a:pt x="5715" y="1762760"/>
                    <a:pt x="0" y="1757045"/>
                    <a:pt x="0" y="1750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50060"/>
                  </a:lnTo>
                  <a:lnTo>
                    <a:pt x="12700" y="1750060"/>
                  </a:lnTo>
                  <a:lnTo>
                    <a:pt x="12700" y="1737360"/>
                  </a:lnTo>
                  <a:lnTo>
                    <a:pt x="5316220" y="1737360"/>
                  </a:lnTo>
                  <a:lnTo>
                    <a:pt x="5316220" y="1750060"/>
                  </a:lnTo>
                  <a:lnTo>
                    <a:pt x="5303520" y="1750060"/>
                  </a:lnTo>
                  <a:lnTo>
                    <a:pt x="5303520" y="12700"/>
                  </a:lnTo>
                  <a:lnTo>
                    <a:pt x="5316220" y="12700"/>
                  </a:lnTo>
                  <a:lnTo>
                    <a:pt x="53162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5CED8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5006340" y="3693795"/>
            <a:ext cx="3703320" cy="782358"/>
            <a:chOff x="0" y="0"/>
            <a:chExt cx="4937760" cy="104314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937760" cy="1043144"/>
            </a:xfrm>
            <a:custGeom>
              <a:avLst/>
              <a:gdLst/>
              <a:ahLst/>
              <a:cxnLst/>
              <a:rect r="r" b="b" t="t" l="l"/>
              <a:pathLst>
                <a:path h="104314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43144"/>
                  </a:lnTo>
                  <a:lnTo>
                    <a:pt x="0" y="10431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759" r="0" b="-2970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4937760" cy="1052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439"/>
                </a:lnSpc>
              </a:pPr>
              <a:r>
                <a:rPr lang="en-US" b="true" sz="3699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100%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5006340" y="4401998"/>
            <a:ext cx="3703320" cy="338785"/>
            <a:chOff x="0" y="0"/>
            <a:chExt cx="4937760" cy="45171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937760" cy="451714"/>
            </a:xfrm>
            <a:custGeom>
              <a:avLst/>
              <a:gdLst/>
              <a:ahLst/>
              <a:cxnLst/>
              <a:rect r="r" b="b" t="t" l="l"/>
              <a:pathLst>
                <a:path h="45171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51714"/>
                  </a:lnTo>
                  <a:lnTo>
                    <a:pt x="0" y="4517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994" r="0" b="-162993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4937760" cy="4612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111C37"/>
                  </a:solidFill>
                  <a:latin typeface="Exo 2"/>
                  <a:ea typeface="Exo 2"/>
                  <a:cs typeface="Exo 2"/>
                  <a:sym typeface="Exo 2"/>
                </a:rPr>
                <a:t>System Uptime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5006340" y="4701807"/>
            <a:ext cx="3703320" cy="267932"/>
            <a:chOff x="0" y="0"/>
            <a:chExt cx="4937760" cy="35724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937760" cy="357243"/>
            </a:xfrm>
            <a:custGeom>
              <a:avLst/>
              <a:gdLst/>
              <a:ahLst/>
              <a:cxnLst/>
              <a:rect r="r" b="b" t="t" l="l"/>
              <a:pathLst>
                <a:path h="35724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357243"/>
                  </a:lnTo>
                  <a:lnTo>
                    <a:pt x="0" y="3572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7981" r="0" b="-21065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4937760" cy="366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i="true">
                  <a:solidFill>
                    <a:srgbClr val="1A7A4A"/>
                  </a:solidFill>
                  <a:latin typeface="Exo 2 Italics"/>
                  <a:ea typeface="Exo 2 Italics"/>
                  <a:cs typeface="Exo 2 Italics"/>
                  <a:sym typeface="Exo 2 Italics"/>
                </a:rPr>
                <a:t>Target: 99.99%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248775" y="3693795"/>
            <a:ext cx="3996690" cy="1322070"/>
            <a:chOff x="0" y="0"/>
            <a:chExt cx="5328920" cy="17627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2700" y="12700"/>
              <a:ext cx="53035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3289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5328920">
                  <a:moveTo>
                    <a:pt x="12700" y="0"/>
                  </a:moveTo>
                  <a:lnTo>
                    <a:pt x="5316220" y="0"/>
                  </a:lnTo>
                  <a:cubicBezTo>
                    <a:pt x="5323205" y="0"/>
                    <a:pt x="5328920" y="5715"/>
                    <a:pt x="5328920" y="12700"/>
                  </a:cubicBezTo>
                  <a:lnTo>
                    <a:pt x="5328920" y="1750060"/>
                  </a:lnTo>
                  <a:cubicBezTo>
                    <a:pt x="5328920" y="1757045"/>
                    <a:pt x="5323205" y="1762760"/>
                    <a:pt x="5316220" y="1762760"/>
                  </a:cubicBezTo>
                  <a:lnTo>
                    <a:pt x="12700" y="1762760"/>
                  </a:lnTo>
                  <a:cubicBezTo>
                    <a:pt x="5715" y="1762760"/>
                    <a:pt x="0" y="1757045"/>
                    <a:pt x="0" y="1750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50060"/>
                  </a:lnTo>
                  <a:lnTo>
                    <a:pt x="12700" y="1750060"/>
                  </a:lnTo>
                  <a:lnTo>
                    <a:pt x="12700" y="1737360"/>
                  </a:lnTo>
                  <a:lnTo>
                    <a:pt x="5316220" y="1737360"/>
                  </a:lnTo>
                  <a:lnTo>
                    <a:pt x="5316220" y="1750060"/>
                  </a:lnTo>
                  <a:lnTo>
                    <a:pt x="5303520" y="1750060"/>
                  </a:lnTo>
                  <a:lnTo>
                    <a:pt x="5303520" y="12700"/>
                  </a:lnTo>
                  <a:lnTo>
                    <a:pt x="5316220" y="12700"/>
                  </a:lnTo>
                  <a:lnTo>
                    <a:pt x="53162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5CED8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395460" y="3693795"/>
            <a:ext cx="3703320" cy="782358"/>
            <a:chOff x="0" y="0"/>
            <a:chExt cx="4937760" cy="104314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937760" cy="1043144"/>
            </a:xfrm>
            <a:custGeom>
              <a:avLst/>
              <a:gdLst/>
              <a:ahLst/>
              <a:cxnLst/>
              <a:rect r="r" b="b" t="t" l="l"/>
              <a:pathLst>
                <a:path h="104314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43144"/>
                  </a:lnTo>
                  <a:lnTo>
                    <a:pt x="0" y="10431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759" r="0" b="-2970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4937760" cy="1052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439"/>
                </a:lnSpc>
              </a:pPr>
              <a:r>
                <a:rPr lang="en-US" b="true" sz="3699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&lt;500ms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395460" y="4401998"/>
            <a:ext cx="3703320" cy="338785"/>
            <a:chOff x="0" y="0"/>
            <a:chExt cx="4937760" cy="45171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937760" cy="451714"/>
            </a:xfrm>
            <a:custGeom>
              <a:avLst/>
              <a:gdLst/>
              <a:ahLst/>
              <a:cxnLst/>
              <a:rect r="r" b="b" t="t" l="l"/>
              <a:pathLst>
                <a:path h="45171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51714"/>
                  </a:lnTo>
                  <a:lnTo>
                    <a:pt x="0" y="4517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994" r="0" b="-162993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4937760" cy="4612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111C37"/>
                  </a:solidFill>
                  <a:latin typeface="Exo 2"/>
                  <a:ea typeface="Exo 2"/>
                  <a:cs typeface="Exo 2"/>
                  <a:sym typeface="Exo 2"/>
                </a:rPr>
                <a:t>System Latency (App Speed)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395460" y="4701807"/>
            <a:ext cx="3703320" cy="267932"/>
            <a:chOff x="0" y="0"/>
            <a:chExt cx="4937760" cy="35724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937760" cy="357243"/>
            </a:xfrm>
            <a:custGeom>
              <a:avLst/>
              <a:gdLst/>
              <a:ahLst/>
              <a:cxnLst/>
              <a:rect r="r" b="b" t="t" l="l"/>
              <a:pathLst>
                <a:path h="357243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357243"/>
                  </a:lnTo>
                  <a:lnTo>
                    <a:pt x="0" y="3572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7981" r="0" b="-210656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4937760" cy="366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i="true">
                  <a:solidFill>
                    <a:srgbClr val="1A7A4A"/>
                  </a:solidFill>
                  <a:latin typeface="Exo 2 Italics"/>
                  <a:ea typeface="Exo 2 Italics"/>
                  <a:cs typeface="Exo 2 Italics"/>
                  <a:sym typeface="Exo 2 Italics"/>
                </a:rPr>
                <a:t>Target: &lt;500ms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637895" y="3693795"/>
            <a:ext cx="3996690" cy="1322070"/>
            <a:chOff x="0" y="0"/>
            <a:chExt cx="5328920" cy="176276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2700" y="12700"/>
              <a:ext cx="53035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3289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5328920">
                  <a:moveTo>
                    <a:pt x="12700" y="0"/>
                  </a:moveTo>
                  <a:lnTo>
                    <a:pt x="5316220" y="0"/>
                  </a:lnTo>
                  <a:cubicBezTo>
                    <a:pt x="5323205" y="0"/>
                    <a:pt x="5328920" y="5715"/>
                    <a:pt x="5328920" y="12700"/>
                  </a:cubicBezTo>
                  <a:lnTo>
                    <a:pt x="5328920" y="1750060"/>
                  </a:lnTo>
                  <a:cubicBezTo>
                    <a:pt x="5328920" y="1757045"/>
                    <a:pt x="5323205" y="1762760"/>
                    <a:pt x="5316220" y="1762760"/>
                  </a:cubicBezTo>
                  <a:lnTo>
                    <a:pt x="12700" y="1762760"/>
                  </a:lnTo>
                  <a:cubicBezTo>
                    <a:pt x="5715" y="1762760"/>
                    <a:pt x="0" y="1757045"/>
                    <a:pt x="0" y="1750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50060"/>
                  </a:lnTo>
                  <a:lnTo>
                    <a:pt x="12700" y="1750060"/>
                  </a:lnTo>
                  <a:lnTo>
                    <a:pt x="12700" y="1737360"/>
                  </a:lnTo>
                  <a:lnTo>
                    <a:pt x="5316220" y="1737360"/>
                  </a:lnTo>
                  <a:lnTo>
                    <a:pt x="5316220" y="1750060"/>
                  </a:lnTo>
                  <a:lnTo>
                    <a:pt x="5303520" y="1750060"/>
                  </a:lnTo>
                  <a:lnTo>
                    <a:pt x="5303520" y="12700"/>
                  </a:lnTo>
                  <a:lnTo>
                    <a:pt x="5316220" y="12700"/>
                  </a:lnTo>
                  <a:lnTo>
                    <a:pt x="53162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5CED8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3784580" y="3693795"/>
            <a:ext cx="3703320" cy="782358"/>
            <a:chOff x="0" y="0"/>
            <a:chExt cx="4937760" cy="104314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937760" cy="1043144"/>
            </a:xfrm>
            <a:custGeom>
              <a:avLst/>
              <a:gdLst/>
              <a:ahLst/>
              <a:cxnLst/>
              <a:rect r="r" b="b" t="t" l="l"/>
              <a:pathLst>
                <a:path h="104314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43144"/>
                  </a:lnTo>
                  <a:lnTo>
                    <a:pt x="0" y="10431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759" r="0" b="-29706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4937760" cy="1052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439"/>
                </a:lnSpc>
              </a:pPr>
              <a:r>
                <a:rPr lang="en-US" b="true" sz="3699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93%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3784580" y="4401998"/>
            <a:ext cx="3703320" cy="338785"/>
            <a:chOff x="0" y="0"/>
            <a:chExt cx="4937760" cy="45171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937760" cy="451714"/>
            </a:xfrm>
            <a:custGeom>
              <a:avLst/>
              <a:gdLst/>
              <a:ahLst/>
              <a:cxnLst/>
              <a:rect r="r" b="b" t="t" l="l"/>
              <a:pathLst>
                <a:path h="45171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51714"/>
                  </a:lnTo>
                  <a:lnTo>
                    <a:pt x="0" y="4517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994" r="0" b="-162993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4937760" cy="4612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111C37"/>
                  </a:solidFill>
                  <a:latin typeface="Exo 2"/>
                  <a:ea typeface="Exo 2"/>
                  <a:cs typeface="Exo 2"/>
                  <a:sym typeface="Exo 2"/>
                </a:rPr>
                <a:t>AI Resolution Score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502915" y="5553901"/>
            <a:ext cx="17282160" cy="479894"/>
            <a:chOff x="0" y="0"/>
            <a:chExt cx="23042880" cy="63985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3042880" cy="639859"/>
            </a:xfrm>
            <a:custGeom>
              <a:avLst/>
              <a:gdLst/>
              <a:ahLst/>
              <a:cxnLst/>
              <a:rect r="r" b="b" t="t" l="l"/>
              <a:pathLst>
                <a:path h="639859" w="23042880">
                  <a:moveTo>
                    <a:pt x="0" y="0"/>
                  </a:moveTo>
                  <a:lnTo>
                    <a:pt x="23042880" y="0"/>
                  </a:lnTo>
                  <a:lnTo>
                    <a:pt x="23042880" y="639859"/>
                  </a:lnTo>
                  <a:lnTo>
                    <a:pt x="0" y="6398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8831" r="0" b="-644575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23042880" cy="649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121A2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Key Highlights This Month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470535" y="6111968"/>
            <a:ext cx="17301210" cy="60198"/>
            <a:chOff x="0" y="0"/>
            <a:chExt cx="23068280" cy="8026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12700" y="12700"/>
              <a:ext cx="23042880" cy="54864"/>
            </a:xfrm>
            <a:custGeom>
              <a:avLst/>
              <a:gdLst/>
              <a:ahLst/>
              <a:cxnLst/>
              <a:rect r="r" b="b" t="t" l="l"/>
              <a:pathLst>
                <a:path h="54864" w="23042880">
                  <a:moveTo>
                    <a:pt x="0" y="0"/>
                  </a:moveTo>
                  <a:lnTo>
                    <a:pt x="23042880" y="0"/>
                  </a:lnTo>
                  <a:lnTo>
                    <a:pt x="23042880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C5CED8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3068280" cy="80264"/>
            </a:xfrm>
            <a:custGeom>
              <a:avLst/>
              <a:gdLst/>
              <a:ahLst/>
              <a:cxnLst/>
              <a:rect r="r" b="b" t="t" l="l"/>
              <a:pathLst>
                <a:path h="80264" w="23068280">
                  <a:moveTo>
                    <a:pt x="12700" y="0"/>
                  </a:moveTo>
                  <a:lnTo>
                    <a:pt x="23055580" y="0"/>
                  </a:lnTo>
                  <a:cubicBezTo>
                    <a:pt x="23062566" y="0"/>
                    <a:pt x="23068280" y="5715"/>
                    <a:pt x="23068280" y="12700"/>
                  </a:cubicBezTo>
                  <a:lnTo>
                    <a:pt x="23068280" y="67564"/>
                  </a:lnTo>
                  <a:cubicBezTo>
                    <a:pt x="23068280" y="74549"/>
                    <a:pt x="23062566" y="80264"/>
                    <a:pt x="23055580" y="80264"/>
                  </a:cubicBezTo>
                  <a:lnTo>
                    <a:pt x="12700" y="80264"/>
                  </a:lnTo>
                  <a:cubicBezTo>
                    <a:pt x="5715" y="80264"/>
                    <a:pt x="0" y="74549"/>
                    <a:pt x="0" y="6756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7564"/>
                  </a:lnTo>
                  <a:lnTo>
                    <a:pt x="12700" y="67564"/>
                  </a:lnTo>
                  <a:lnTo>
                    <a:pt x="12700" y="54864"/>
                  </a:lnTo>
                  <a:lnTo>
                    <a:pt x="23055580" y="54864"/>
                  </a:lnTo>
                  <a:lnTo>
                    <a:pt x="23055580" y="67564"/>
                  </a:lnTo>
                  <a:lnTo>
                    <a:pt x="23042880" y="67564"/>
                  </a:lnTo>
                  <a:lnTo>
                    <a:pt x="23042880" y="12700"/>
                  </a:lnTo>
                  <a:lnTo>
                    <a:pt x="23055580" y="12700"/>
                  </a:lnTo>
                  <a:lnTo>
                    <a:pt x="23055580" y="25400"/>
                  </a:lnTo>
                  <a:lnTo>
                    <a:pt x="12700" y="25400"/>
                  </a:lnTo>
                  <a:close/>
                </a:path>
              </a:pathLst>
            </a:custGeom>
            <a:gradFill rotWithShape="true">
              <a:gsLst>
                <a:gs pos="0">
                  <a:srgbClr val="D4AF37">
                    <a:alpha val="100000"/>
                  </a:srgbClr>
                </a:gs>
                <a:gs pos="100000">
                  <a:srgbClr val="8D763B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905256" y="6571831"/>
            <a:ext cx="16212312" cy="775760"/>
            <a:chOff x="0" y="0"/>
            <a:chExt cx="21616416" cy="103434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1616415" cy="1034346"/>
            </a:xfrm>
            <a:custGeom>
              <a:avLst/>
              <a:gdLst/>
              <a:ahLst/>
              <a:cxnLst/>
              <a:rect r="r" b="b" t="t" l="l"/>
              <a:pathLst>
                <a:path h="1034346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346"/>
                  </a:lnTo>
                  <a:lnTo>
                    <a:pt x="0" y="10343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2457" r="0" b="-331963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0"/>
              <a:ext cx="21616416" cy="1034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 b="true">
                  <a:solidFill>
                    <a:srgbClr val="5A6A8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</a:t>
              </a:r>
              <a:r>
                <a:rPr lang="en-US" sz="2149" b="true">
                  <a:solidFill>
                    <a:srgbClr val="5A6A8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latform</a:t>
              </a:r>
              <a:r>
                <a:rPr lang="en-US" sz="2149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 </a:t>
              </a:r>
              <a:r>
                <a:rPr lang="en-US" sz="2149" b="true">
                  <a:solidFill>
                    <a:srgbClr val="5A6A8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launch (20–31 May):</a:t>
              </a:r>
              <a:r>
                <a:rPr lang="en-US" sz="2149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 eMYAA recorded its first live user activity with 2 funded accounts depositing a combined USD 67.14, confirming end-to-end payment rails are operational.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05256" y="7559383"/>
            <a:ext cx="16212312" cy="775760"/>
            <a:chOff x="0" y="0"/>
            <a:chExt cx="21616416" cy="103434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1616415" cy="1034346"/>
            </a:xfrm>
            <a:custGeom>
              <a:avLst/>
              <a:gdLst/>
              <a:ahLst/>
              <a:cxnLst/>
              <a:rect r="r" b="b" t="t" l="l"/>
              <a:pathLst>
                <a:path h="1034346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346"/>
                  </a:lnTo>
                  <a:lnTo>
                    <a:pt x="0" y="10343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2457" r="0" b="-331963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21616416" cy="1034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 b="true">
                  <a:solidFill>
                    <a:srgbClr val="5A6A8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App</a:t>
              </a:r>
              <a:r>
                <a:rPr lang="en-US" sz="2149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 </a:t>
              </a:r>
              <a:r>
                <a:rPr lang="en-US" sz="2149" b="true">
                  <a:solidFill>
                    <a:srgbClr val="5A6A8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store</a:t>
              </a:r>
              <a:r>
                <a:rPr lang="en-US" sz="2149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 </a:t>
              </a:r>
              <a:r>
                <a:rPr lang="en-US" sz="2149" b="true">
                  <a:solidFill>
                    <a:srgbClr val="5A6A8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traction:</a:t>
              </a:r>
              <a:r>
                <a:rPr lang="en-US" sz="2149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 72 Andro</a:t>
              </a:r>
              <a:r>
                <a:rPr lang="en-US" sz="2149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id downloads and 54 iOS downloads achieved within the first 2 weeks of availability, both rated a perfect 5.0 stars with no negative reviews.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05256" y="8546935"/>
            <a:ext cx="16212312" cy="775760"/>
            <a:chOff x="0" y="0"/>
            <a:chExt cx="21616416" cy="103434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1616415" cy="1034346"/>
            </a:xfrm>
            <a:custGeom>
              <a:avLst/>
              <a:gdLst/>
              <a:ahLst/>
              <a:cxnLst/>
              <a:rect r="r" b="b" t="t" l="l"/>
              <a:pathLst>
                <a:path h="1034346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034346"/>
                  </a:lnTo>
                  <a:lnTo>
                    <a:pt x="0" y="10343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2457" r="0" b="-331963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21616416" cy="1034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 b="true">
                  <a:solidFill>
                    <a:srgbClr val="5A6A8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Zero</a:t>
              </a:r>
              <a:r>
                <a:rPr lang="en-US" sz="2149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 </a:t>
              </a:r>
              <a:r>
                <a:rPr lang="en-US" sz="2149" b="true">
                  <a:solidFill>
                    <a:srgbClr val="5A6A8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compl</a:t>
              </a:r>
              <a:r>
                <a:rPr lang="en-US" sz="2149" b="true">
                  <a:solidFill>
                    <a:srgbClr val="5A6A8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iance breaches:</a:t>
              </a:r>
              <a:r>
                <a:rPr lang="en-US" sz="2149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 automated KYC controls successfully identified and rejected 5 ineligible applicants (age restrictions, expired documents), demonstrating robust regulatory adherence from day one.</a:t>
              </a:r>
            </a:p>
          </p:txBody>
        </p:sp>
      </p:grpSp>
      <p:sp>
        <p:nvSpPr>
          <p:cNvPr name="Freeform 115" id="115"/>
          <p:cNvSpPr/>
          <p:nvPr/>
        </p:nvSpPr>
        <p:spPr>
          <a:xfrm flipH="false" flipV="false" rot="0">
            <a:off x="15711491" y="9398509"/>
            <a:ext cx="1547809" cy="550332"/>
          </a:xfrm>
          <a:custGeom>
            <a:avLst/>
            <a:gdLst/>
            <a:ahLst/>
            <a:cxnLst/>
            <a:rect r="r" b="b" t="t" l="l"/>
            <a:pathLst>
              <a:path h="550332" w="1547809">
                <a:moveTo>
                  <a:pt x="0" y="0"/>
                </a:moveTo>
                <a:lnTo>
                  <a:pt x="1547809" y="0"/>
                </a:lnTo>
                <a:lnTo>
                  <a:pt x="1547809" y="550332"/>
                </a:lnTo>
                <a:lnTo>
                  <a:pt x="0" y="5503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6" id="116"/>
          <p:cNvSpPr/>
          <p:nvPr/>
        </p:nvSpPr>
        <p:spPr>
          <a:xfrm flipH="false" flipV="false" rot="0">
            <a:off x="15441807" y="505082"/>
            <a:ext cx="1817493" cy="523618"/>
          </a:xfrm>
          <a:custGeom>
            <a:avLst/>
            <a:gdLst/>
            <a:ahLst/>
            <a:cxnLst/>
            <a:rect r="r" b="b" t="t" l="l"/>
            <a:pathLst>
              <a:path h="523618" w="1817493">
                <a:moveTo>
                  <a:pt x="0" y="0"/>
                </a:moveTo>
                <a:lnTo>
                  <a:pt x="1817493" y="0"/>
                </a:lnTo>
                <a:lnTo>
                  <a:pt x="1817493" y="523618"/>
                </a:lnTo>
                <a:lnTo>
                  <a:pt x="0" y="5236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17" id="117"/>
          <p:cNvGrpSpPr/>
          <p:nvPr/>
        </p:nvGrpSpPr>
        <p:grpSpPr>
          <a:xfrm rot="0">
            <a:off x="511683" y="6695170"/>
            <a:ext cx="278092" cy="243331"/>
            <a:chOff x="0" y="0"/>
            <a:chExt cx="812800" cy="7112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19" id="119"/>
            <p:cNvSpPr txBox="true"/>
            <p:nvPr/>
          </p:nvSpPr>
          <p:spPr>
            <a:xfrm>
              <a:off x="127000" y="41275"/>
              <a:ext cx="5588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511683" y="7681451"/>
            <a:ext cx="278092" cy="243331"/>
            <a:chOff x="0" y="0"/>
            <a:chExt cx="812800" cy="7112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2" id="122"/>
            <p:cNvSpPr txBox="true"/>
            <p:nvPr/>
          </p:nvSpPr>
          <p:spPr>
            <a:xfrm>
              <a:off x="127000" y="41275"/>
              <a:ext cx="5588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511683" y="8677257"/>
            <a:ext cx="278092" cy="243331"/>
            <a:chOff x="0" y="0"/>
            <a:chExt cx="812800" cy="71120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5" id="125"/>
            <p:cNvSpPr txBox="true"/>
            <p:nvPr/>
          </p:nvSpPr>
          <p:spPr>
            <a:xfrm>
              <a:off x="127000" y="41275"/>
              <a:ext cx="5588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7282160" y="9806940"/>
            <a:ext cx="548640" cy="301752"/>
            <a:chOff x="0" y="0"/>
            <a:chExt cx="731520" cy="402336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73152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566" t="0" r="-20566" b="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9525"/>
              <a:ext cx="73152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3225" y="492699"/>
            <a:ext cx="10629900" cy="994325"/>
            <a:chOff x="0" y="0"/>
            <a:chExt cx="16459200" cy="153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0" cy="1539600"/>
            </a:xfrm>
            <a:custGeom>
              <a:avLst/>
              <a:gdLst/>
              <a:ahLst/>
              <a:cxnLst/>
              <a:rect r="r" b="b" t="t" l="l"/>
              <a:pathLst>
                <a:path h="15396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539600"/>
                  </a:lnTo>
                  <a:lnTo>
                    <a:pt x="0" y="153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7422" r="0" b="-13919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6459200" cy="154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5640"/>
                </a:lnSpc>
                <a:spcBef>
                  <a:spcPct val="0"/>
                </a:spcBef>
              </a:pPr>
              <a:r>
                <a:rPr lang="en-US" b="true" sz="4700" strike="noStrike" u="none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Onboarding &amp; Funnel Integrity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0535" y="1567815"/>
            <a:ext cx="3996690" cy="1527810"/>
            <a:chOff x="0" y="0"/>
            <a:chExt cx="5328920" cy="2037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53035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2011680"/>
                  </a:lnTo>
                  <a:lnTo>
                    <a:pt x="0" y="201168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28920" cy="2037080"/>
            </a:xfrm>
            <a:custGeom>
              <a:avLst/>
              <a:gdLst/>
              <a:ahLst/>
              <a:cxnLst/>
              <a:rect r="r" b="b" t="t" l="l"/>
              <a:pathLst>
                <a:path h="2037080" w="5328920">
                  <a:moveTo>
                    <a:pt x="12700" y="0"/>
                  </a:moveTo>
                  <a:lnTo>
                    <a:pt x="5316220" y="0"/>
                  </a:lnTo>
                  <a:cubicBezTo>
                    <a:pt x="5323205" y="0"/>
                    <a:pt x="5328920" y="5715"/>
                    <a:pt x="5328920" y="12700"/>
                  </a:cubicBezTo>
                  <a:lnTo>
                    <a:pt x="5328920" y="2024380"/>
                  </a:lnTo>
                  <a:cubicBezTo>
                    <a:pt x="5328920" y="2031365"/>
                    <a:pt x="5323205" y="2037080"/>
                    <a:pt x="5316220" y="2037080"/>
                  </a:cubicBezTo>
                  <a:lnTo>
                    <a:pt x="12700" y="2037080"/>
                  </a:lnTo>
                  <a:cubicBezTo>
                    <a:pt x="5715" y="2037080"/>
                    <a:pt x="0" y="2031365"/>
                    <a:pt x="0" y="20243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24380"/>
                  </a:lnTo>
                  <a:lnTo>
                    <a:pt x="12700" y="2024380"/>
                  </a:lnTo>
                  <a:lnTo>
                    <a:pt x="12700" y="2011680"/>
                  </a:lnTo>
                  <a:lnTo>
                    <a:pt x="5316220" y="2011680"/>
                  </a:lnTo>
                  <a:lnTo>
                    <a:pt x="5316220" y="2024380"/>
                  </a:lnTo>
                  <a:lnTo>
                    <a:pt x="5303520" y="2024380"/>
                  </a:lnTo>
                  <a:lnTo>
                    <a:pt x="5303520" y="12700"/>
                  </a:lnTo>
                  <a:lnTo>
                    <a:pt x="5316220" y="12700"/>
                  </a:lnTo>
                  <a:lnTo>
                    <a:pt x="53162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5CED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17220" y="1721590"/>
            <a:ext cx="3703320" cy="797839"/>
            <a:chOff x="0" y="0"/>
            <a:chExt cx="4937760" cy="10637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37760" cy="1063785"/>
            </a:xfrm>
            <a:custGeom>
              <a:avLst/>
              <a:gdLst/>
              <a:ahLst/>
              <a:cxnLst/>
              <a:rect r="r" b="b" t="t" l="l"/>
              <a:pathLst>
                <a:path h="1063785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63785"/>
                  </a:lnTo>
                  <a:lnTo>
                    <a:pt x="0" y="10637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894" r="0" b="-3299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937760" cy="10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17220" y="2407764"/>
            <a:ext cx="3703320" cy="392277"/>
            <a:chOff x="0" y="0"/>
            <a:chExt cx="4937760" cy="523036"/>
          </a:xfrm>
        </p:grpSpPr>
        <p:sp>
          <p:nvSpPr>
            <p:cNvPr name="Freeform 14" id="14" descr="shorten this and make it more cohesive "/>
            <p:cNvSpPr/>
            <p:nvPr/>
          </p:nvSpPr>
          <p:spPr>
            <a:xfrm flipH="false" flipV="false" rot="0">
              <a:off x="0" y="0"/>
              <a:ext cx="4937760" cy="523035"/>
            </a:xfrm>
            <a:custGeom>
              <a:avLst/>
              <a:gdLst/>
              <a:ahLst/>
              <a:cxnLst/>
              <a:rect r="r" b="b" t="t" l="l"/>
              <a:pathLst>
                <a:path h="523035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23035"/>
                  </a:lnTo>
                  <a:lnTo>
                    <a:pt x="0" y="523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950" r="0" b="-1339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4937760" cy="5325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6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Customers Who Completed KYC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859655" y="1567815"/>
            <a:ext cx="3996690" cy="1527810"/>
            <a:chOff x="0" y="0"/>
            <a:chExt cx="5328920" cy="2037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53035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2011680"/>
                  </a:lnTo>
                  <a:lnTo>
                    <a:pt x="0" y="201168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28920" cy="2037080"/>
            </a:xfrm>
            <a:custGeom>
              <a:avLst/>
              <a:gdLst/>
              <a:ahLst/>
              <a:cxnLst/>
              <a:rect r="r" b="b" t="t" l="l"/>
              <a:pathLst>
                <a:path h="2037080" w="5328920">
                  <a:moveTo>
                    <a:pt x="12700" y="0"/>
                  </a:moveTo>
                  <a:lnTo>
                    <a:pt x="5316220" y="0"/>
                  </a:lnTo>
                  <a:cubicBezTo>
                    <a:pt x="5323205" y="0"/>
                    <a:pt x="5328920" y="5715"/>
                    <a:pt x="5328920" y="12700"/>
                  </a:cubicBezTo>
                  <a:lnTo>
                    <a:pt x="5328920" y="2024380"/>
                  </a:lnTo>
                  <a:cubicBezTo>
                    <a:pt x="5328920" y="2031365"/>
                    <a:pt x="5323205" y="2037080"/>
                    <a:pt x="5316220" y="2037080"/>
                  </a:cubicBezTo>
                  <a:lnTo>
                    <a:pt x="12700" y="2037080"/>
                  </a:lnTo>
                  <a:cubicBezTo>
                    <a:pt x="5715" y="2037080"/>
                    <a:pt x="0" y="2031365"/>
                    <a:pt x="0" y="20243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24380"/>
                  </a:lnTo>
                  <a:lnTo>
                    <a:pt x="12700" y="2024380"/>
                  </a:lnTo>
                  <a:lnTo>
                    <a:pt x="12700" y="2011680"/>
                  </a:lnTo>
                  <a:lnTo>
                    <a:pt x="5316220" y="2011680"/>
                  </a:lnTo>
                  <a:lnTo>
                    <a:pt x="5316220" y="2024380"/>
                  </a:lnTo>
                  <a:lnTo>
                    <a:pt x="5303520" y="2024380"/>
                  </a:lnTo>
                  <a:lnTo>
                    <a:pt x="5303520" y="12700"/>
                  </a:lnTo>
                  <a:lnTo>
                    <a:pt x="5316220" y="12700"/>
                  </a:lnTo>
                  <a:lnTo>
                    <a:pt x="53162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5CED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006340" y="1721590"/>
            <a:ext cx="3703320" cy="797839"/>
            <a:chOff x="0" y="0"/>
            <a:chExt cx="4937760" cy="10637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37760" cy="1063785"/>
            </a:xfrm>
            <a:custGeom>
              <a:avLst/>
              <a:gdLst/>
              <a:ahLst/>
              <a:cxnLst/>
              <a:rect r="r" b="b" t="t" l="l"/>
              <a:pathLst>
                <a:path h="1063785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63785"/>
                  </a:lnTo>
                  <a:lnTo>
                    <a:pt x="0" y="10637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894" r="0" b="-3299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4937760" cy="10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100 </a:t>
              </a:r>
              <a:r>
                <a:rPr lang="en-US" b="true" sz="3799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%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06340" y="2519429"/>
            <a:ext cx="3703320" cy="392277"/>
            <a:chOff x="0" y="0"/>
            <a:chExt cx="4937760" cy="5230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37760" cy="523035"/>
            </a:xfrm>
            <a:custGeom>
              <a:avLst/>
              <a:gdLst/>
              <a:ahLst/>
              <a:cxnLst/>
              <a:rect r="r" b="b" t="t" l="l"/>
              <a:pathLst>
                <a:path h="523035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23035"/>
                  </a:lnTo>
                  <a:lnTo>
                    <a:pt x="0" y="523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950" r="0" b="-1339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4937760" cy="5325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6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KYC First-Pass Rate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48775" y="1567815"/>
            <a:ext cx="3996690" cy="1527810"/>
            <a:chOff x="0" y="0"/>
            <a:chExt cx="5328920" cy="2037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2700" y="12700"/>
              <a:ext cx="53035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2011680"/>
                  </a:lnTo>
                  <a:lnTo>
                    <a:pt x="0" y="201168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28920" cy="2037080"/>
            </a:xfrm>
            <a:custGeom>
              <a:avLst/>
              <a:gdLst/>
              <a:ahLst/>
              <a:cxnLst/>
              <a:rect r="r" b="b" t="t" l="l"/>
              <a:pathLst>
                <a:path h="2037080" w="5328920">
                  <a:moveTo>
                    <a:pt x="12700" y="0"/>
                  </a:moveTo>
                  <a:lnTo>
                    <a:pt x="5316220" y="0"/>
                  </a:lnTo>
                  <a:cubicBezTo>
                    <a:pt x="5323205" y="0"/>
                    <a:pt x="5328920" y="5715"/>
                    <a:pt x="5328920" y="12700"/>
                  </a:cubicBezTo>
                  <a:lnTo>
                    <a:pt x="5328920" y="2024380"/>
                  </a:lnTo>
                  <a:cubicBezTo>
                    <a:pt x="5328920" y="2031365"/>
                    <a:pt x="5323205" y="2037080"/>
                    <a:pt x="5316220" y="2037080"/>
                  </a:cubicBezTo>
                  <a:lnTo>
                    <a:pt x="12700" y="2037080"/>
                  </a:lnTo>
                  <a:cubicBezTo>
                    <a:pt x="5715" y="2037080"/>
                    <a:pt x="0" y="2031365"/>
                    <a:pt x="0" y="20243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24380"/>
                  </a:lnTo>
                  <a:lnTo>
                    <a:pt x="12700" y="2024380"/>
                  </a:lnTo>
                  <a:lnTo>
                    <a:pt x="12700" y="2011680"/>
                  </a:lnTo>
                  <a:lnTo>
                    <a:pt x="5316220" y="2011680"/>
                  </a:lnTo>
                  <a:lnTo>
                    <a:pt x="5316220" y="2024380"/>
                  </a:lnTo>
                  <a:lnTo>
                    <a:pt x="5303520" y="2024380"/>
                  </a:lnTo>
                  <a:lnTo>
                    <a:pt x="5303520" y="12700"/>
                  </a:lnTo>
                  <a:lnTo>
                    <a:pt x="5316220" y="12700"/>
                  </a:lnTo>
                  <a:lnTo>
                    <a:pt x="53162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5CED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395460" y="1721590"/>
            <a:ext cx="3703320" cy="797839"/>
            <a:chOff x="0" y="0"/>
            <a:chExt cx="4937760" cy="106378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37760" cy="1063785"/>
            </a:xfrm>
            <a:custGeom>
              <a:avLst/>
              <a:gdLst/>
              <a:ahLst/>
              <a:cxnLst/>
              <a:rect r="r" b="b" t="t" l="l"/>
              <a:pathLst>
                <a:path h="1063785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63785"/>
                  </a:lnTo>
                  <a:lnTo>
                    <a:pt x="0" y="10637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894" r="0" b="-3299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4937760" cy="10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6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95460" y="2519429"/>
            <a:ext cx="3703320" cy="392277"/>
            <a:chOff x="0" y="0"/>
            <a:chExt cx="4937760" cy="5230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37760" cy="523035"/>
            </a:xfrm>
            <a:custGeom>
              <a:avLst/>
              <a:gdLst/>
              <a:ahLst/>
              <a:cxnLst/>
              <a:rect r="r" b="b" t="t" l="l"/>
              <a:pathLst>
                <a:path h="523035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23035"/>
                  </a:lnTo>
                  <a:lnTo>
                    <a:pt x="0" y="523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950" r="0" b="-1339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4937760" cy="5325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6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Approved &amp; Onboarded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637895" y="1567815"/>
            <a:ext cx="3996690" cy="1527810"/>
            <a:chOff x="0" y="0"/>
            <a:chExt cx="5328920" cy="2037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2700" y="12700"/>
              <a:ext cx="53035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2011680"/>
                  </a:lnTo>
                  <a:lnTo>
                    <a:pt x="0" y="201168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28920" cy="2037080"/>
            </a:xfrm>
            <a:custGeom>
              <a:avLst/>
              <a:gdLst/>
              <a:ahLst/>
              <a:cxnLst/>
              <a:rect r="r" b="b" t="t" l="l"/>
              <a:pathLst>
                <a:path h="2037080" w="5328920">
                  <a:moveTo>
                    <a:pt x="12700" y="0"/>
                  </a:moveTo>
                  <a:lnTo>
                    <a:pt x="5316220" y="0"/>
                  </a:lnTo>
                  <a:cubicBezTo>
                    <a:pt x="5323205" y="0"/>
                    <a:pt x="5328920" y="5715"/>
                    <a:pt x="5328920" y="12700"/>
                  </a:cubicBezTo>
                  <a:lnTo>
                    <a:pt x="5328920" y="2024380"/>
                  </a:lnTo>
                  <a:cubicBezTo>
                    <a:pt x="5328920" y="2031365"/>
                    <a:pt x="5323205" y="2037080"/>
                    <a:pt x="5316220" y="2037080"/>
                  </a:cubicBezTo>
                  <a:lnTo>
                    <a:pt x="12700" y="2037080"/>
                  </a:lnTo>
                  <a:cubicBezTo>
                    <a:pt x="5715" y="2037080"/>
                    <a:pt x="0" y="2031365"/>
                    <a:pt x="0" y="20243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24380"/>
                  </a:lnTo>
                  <a:lnTo>
                    <a:pt x="12700" y="2024380"/>
                  </a:lnTo>
                  <a:lnTo>
                    <a:pt x="12700" y="2011680"/>
                  </a:lnTo>
                  <a:lnTo>
                    <a:pt x="5316220" y="2011680"/>
                  </a:lnTo>
                  <a:lnTo>
                    <a:pt x="5316220" y="2024380"/>
                  </a:lnTo>
                  <a:lnTo>
                    <a:pt x="5303520" y="2024380"/>
                  </a:lnTo>
                  <a:lnTo>
                    <a:pt x="5303520" y="12700"/>
                  </a:lnTo>
                  <a:lnTo>
                    <a:pt x="5316220" y="12700"/>
                  </a:lnTo>
                  <a:lnTo>
                    <a:pt x="53162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5CED8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784580" y="1721590"/>
            <a:ext cx="3703320" cy="797839"/>
            <a:chOff x="0" y="0"/>
            <a:chExt cx="4937760" cy="106378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937760" cy="1063785"/>
            </a:xfrm>
            <a:custGeom>
              <a:avLst/>
              <a:gdLst/>
              <a:ahLst/>
              <a:cxnLst/>
              <a:rect r="r" b="b" t="t" l="l"/>
              <a:pathLst>
                <a:path h="1063785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63785"/>
                  </a:lnTo>
                  <a:lnTo>
                    <a:pt x="0" y="10637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894" r="0" b="-3299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937760" cy="10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4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80060" y="3401568"/>
            <a:ext cx="8229600" cy="414401"/>
            <a:chOff x="0" y="0"/>
            <a:chExt cx="10972800" cy="55253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552534"/>
            </a:xfrm>
            <a:custGeom>
              <a:avLst/>
              <a:gdLst/>
              <a:ahLst/>
              <a:cxnLst/>
              <a:rect r="r" b="b" t="t" l="l"/>
              <a:pathLst>
                <a:path h="55253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52534"/>
                  </a:lnTo>
                  <a:lnTo>
                    <a:pt x="0" y="552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7306" r="0" b="-33660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10972800" cy="552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121A2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Onboarding Funnel</a:t>
              </a:r>
            </a:p>
          </p:txBody>
        </p:sp>
      </p:grpSp>
      <p:graphicFrame>
        <p:nvGraphicFramePr>
          <p:cNvPr name="Table 43" id="43"/>
          <p:cNvGraphicFramePr>
            <a:graphicFrameLocks noGrp="true"/>
          </p:cNvGraphicFramePr>
          <p:nvPr/>
        </p:nvGraphicFramePr>
        <p:xfrm>
          <a:off x="480060" y="3867912"/>
          <a:ext cx="8324850" cy="2330450"/>
        </p:xfrm>
        <a:graphic>
          <a:graphicData uri="http://schemas.openxmlformats.org/drawingml/2006/table">
            <a:tbl>
              <a:tblPr/>
              <a:tblGrid>
                <a:gridCol w="3814144"/>
                <a:gridCol w="2255353"/>
                <a:gridCol w="2255353"/>
              </a:tblGrid>
              <a:tr h="5826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Requests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Count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% of Total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</a:tr>
              <a:tr h="5826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Total Onboarding Requests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62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-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6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KYC Completion Rate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826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KYC Incompletion Rate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51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82%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44" id="44"/>
          <p:cNvGrpSpPr/>
          <p:nvPr/>
        </p:nvGrpSpPr>
        <p:grpSpPr>
          <a:xfrm rot="0">
            <a:off x="9121140" y="3401568"/>
            <a:ext cx="8229600" cy="414401"/>
            <a:chOff x="0" y="0"/>
            <a:chExt cx="10972800" cy="55253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552534"/>
            </a:xfrm>
            <a:custGeom>
              <a:avLst/>
              <a:gdLst/>
              <a:ahLst/>
              <a:cxnLst/>
              <a:rect r="r" b="b" t="t" l="l"/>
              <a:pathLst>
                <a:path h="55253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52534"/>
                  </a:lnTo>
                  <a:lnTo>
                    <a:pt x="0" y="552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7306" r="0" b="-33660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0972800" cy="552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121A2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Rejection Pareto (Top Reasons)</a:t>
              </a:r>
            </a:p>
          </p:txBody>
        </p:sp>
      </p:grpSp>
      <p:graphicFrame>
        <p:nvGraphicFramePr>
          <p:cNvPr name="Table 47" id="47"/>
          <p:cNvGraphicFramePr>
            <a:graphicFrameLocks noGrp="true"/>
          </p:cNvGraphicFramePr>
          <p:nvPr/>
        </p:nvGraphicFramePr>
        <p:xfrm>
          <a:off x="9121140" y="3867912"/>
          <a:ext cx="8343900" cy="1749425"/>
        </p:xfrm>
        <a:graphic>
          <a:graphicData uri="http://schemas.openxmlformats.org/drawingml/2006/table">
            <a:tbl>
              <a:tblPr/>
              <a:tblGrid>
                <a:gridCol w="4638016"/>
                <a:gridCol w="1852942"/>
                <a:gridCol w="1852942"/>
              </a:tblGrid>
              <a:tr h="5831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Rejection Reason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Count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</a:tr>
              <a:tr h="5831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Age Restriction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80%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31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Expired Documents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pSp>
        <p:nvGrpSpPr>
          <p:cNvPr name="Group 48" id="48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2700" y="12700"/>
              <a:ext cx="128016" cy="950976"/>
            </a:xfrm>
            <a:custGeom>
              <a:avLst/>
              <a:gdLst/>
              <a:ahLst/>
              <a:cxnLst/>
              <a:rect r="r" b="b" t="t" l="l"/>
              <a:pathLst>
                <a:path h="950976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950976"/>
                  </a:lnTo>
                  <a:lnTo>
                    <a:pt x="0" y="950976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12700" y="0"/>
                  </a:moveTo>
                  <a:lnTo>
                    <a:pt x="140716" y="0"/>
                  </a:lnTo>
                  <a:cubicBezTo>
                    <a:pt x="147701" y="0"/>
                    <a:pt x="153416" y="5715"/>
                    <a:pt x="153416" y="12700"/>
                  </a:cubicBezTo>
                  <a:lnTo>
                    <a:pt x="153416" y="963676"/>
                  </a:lnTo>
                  <a:cubicBezTo>
                    <a:pt x="153416" y="970661"/>
                    <a:pt x="147701" y="976376"/>
                    <a:pt x="140716" y="976376"/>
                  </a:cubicBezTo>
                  <a:lnTo>
                    <a:pt x="12700" y="976376"/>
                  </a:lnTo>
                  <a:cubicBezTo>
                    <a:pt x="5715" y="976376"/>
                    <a:pt x="0" y="970661"/>
                    <a:pt x="0" y="96367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63676"/>
                  </a:lnTo>
                  <a:lnTo>
                    <a:pt x="12700" y="963676"/>
                  </a:lnTo>
                  <a:lnTo>
                    <a:pt x="12700" y="950976"/>
                  </a:lnTo>
                  <a:lnTo>
                    <a:pt x="140716" y="950976"/>
                  </a:lnTo>
                  <a:lnTo>
                    <a:pt x="140716" y="963676"/>
                  </a:lnTo>
                  <a:lnTo>
                    <a:pt x="128016" y="963676"/>
                  </a:lnTo>
                  <a:lnTo>
                    <a:pt x="128016" y="12700"/>
                  </a:lnTo>
                  <a:lnTo>
                    <a:pt x="140716" y="12700"/>
                  </a:lnTo>
                  <a:lnTo>
                    <a:pt x="140716" y="25400"/>
                  </a:lnTo>
                  <a:lnTo>
                    <a:pt x="12700" y="2540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sp>
        <p:nvSpPr>
          <p:cNvPr name="Freeform 51" id="51"/>
          <p:cNvSpPr/>
          <p:nvPr/>
        </p:nvSpPr>
        <p:spPr>
          <a:xfrm flipH="false" flipV="false" rot="0">
            <a:off x="15711491" y="9398509"/>
            <a:ext cx="1547809" cy="550332"/>
          </a:xfrm>
          <a:custGeom>
            <a:avLst/>
            <a:gdLst/>
            <a:ahLst/>
            <a:cxnLst/>
            <a:rect r="r" b="b" t="t" l="l"/>
            <a:pathLst>
              <a:path h="550332" w="1547809">
                <a:moveTo>
                  <a:pt x="0" y="0"/>
                </a:moveTo>
                <a:lnTo>
                  <a:pt x="1547809" y="0"/>
                </a:lnTo>
                <a:lnTo>
                  <a:pt x="1547809" y="550332"/>
                </a:lnTo>
                <a:lnTo>
                  <a:pt x="0" y="5503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5441807" y="505082"/>
            <a:ext cx="1817493" cy="523618"/>
          </a:xfrm>
          <a:custGeom>
            <a:avLst/>
            <a:gdLst/>
            <a:ahLst/>
            <a:cxnLst/>
            <a:rect r="r" b="b" t="t" l="l"/>
            <a:pathLst>
              <a:path h="523618" w="1817493">
                <a:moveTo>
                  <a:pt x="0" y="0"/>
                </a:moveTo>
                <a:lnTo>
                  <a:pt x="1817493" y="0"/>
                </a:lnTo>
                <a:lnTo>
                  <a:pt x="1817493" y="523618"/>
                </a:lnTo>
                <a:lnTo>
                  <a:pt x="0" y="5236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13788390" y="2519429"/>
            <a:ext cx="3703320" cy="392277"/>
            <a:chOff x="0" y="0"/>
            <a:chExt cx="4937760" cy="5230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37760" cy="523035"/>
            </a:xfrm>
            <a:custGeom>
              <a:avLst/>
              <a:gdLst/>
              <a:ahLst/>
              <a:cxnLst/>
              <a:rect r="r" b="b" t="t" l="l"/>
              <a:pathLst>
                <a:path h="523035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23035"/>
                  </a:lnTo>
                  <a:lnTo>
                    <a:pt x="0" y="523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950" r="0" b="-13395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4937760" cy="5325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6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Funded Gap (N</a:t>
              </a:r>
              <a:r>
                <a:rPr lang="en-US" sz="16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ot Invested)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121140" y="5855462"/>
            <a:ext cx="8229600" cy="414401"/>
            <a:chOff x="0" y="0"/>
            <a:chExt cx="10972800" cy="55253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552534"/>
            </a:xfrm>
            <a:custGeom>
              <a:avLst/>
              <a:gdLst/>
              <a:ahLst/>
              <a:cxnLst/>
              <a:rect r="r" b="b" t="t" l="l"/>
              <a:pathLst>
                <a:path h="55253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52534"/>
                  </a:lnTo>
                  <a:lnTo>
                    <a:pt x="0" y="552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7306" r="0" b="-33660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10972800" cy="552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121A2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KYC Completion Gap </a:t>
              </a:r>
              <a:r>
                <a:rPr lang="en-US" sz="1999" b="true">
                  <a:solidFill>
                    <a:srgbClr val="121A2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Pareto (User Exit Points)</a:t>
              </a:r>
            </a:p>
          </p:txBody>
        </p:sp>
      </p:grpSp>
      <p:graphicFrame>
        <p:nvGraphicFramePr>
          <p:cNvPr name="Table 59" id="59"/>
          <p:cNvGraphicFramePr>
            <a:graphicFrameLocks noGrp="true"/>
          </p:cNvGraphicFramePr>
          <p:nvPr/>
        </p:nvGraphicFramePr>
        <p:xfrm>
          <a:off x="9121140" y="6321806"/>
          <a:ext cx="8343900" cy="2911475"/>
        </p:xfrm>
        <a:graphic>
          <a:graphicData uri="http://schemas.openxmlformats.org/drawingml/2006/table">
            <a:tbl>
              <a:tblPr/>
              <a:tblGrid>
                <a:gridCol w="4638016"/>
                <a:gridCol w="1852942"/>
                <a:gridCol w="1852942"/>
              </a:tblGrid>
              <a:tr h="5822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Exit Points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Count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</a:tr>
              <a:tr h="5822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Phone Verification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43%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2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Document Submission (Passport &amp; CPR)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822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Address Verifcation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2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Others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45%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60" id="60"/>
          <p:cNvGraphicFramePr>
            <a:graphicFrameLocks noGrp="true"/>
          </p:cNvGraphicFramePr>
          <p:nvPr/>
        </p:nvGraphicFramePr>
        <p:xfrm>
          <a:off x="585597" y="6783832"/>
          <a:ext cx="8324850" cy="2330450"/>
        </p:xfrm>
        <a:graphic>
          <a:graphicData uri="http://schemas.openxmlformats.org/drawingml/2006/table">
            <a:tbl>
              <a:tblPr/>
              <a:tblGrid>
                <a:gridCol w="3814144"/>
                <a:gridCol w="2255353"/>
                <a:gridCol w="2255353"/>
              </a:tblGrid>
              <a:tr h="5826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Requests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Count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% of Total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</a:tr>
              <a:tr h="5826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Approved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55%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6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Rejected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45%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826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Total Requests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61" id="61"/>
          <p:cNvGrpSpPr/>
          <p:nvPr/>
        </p:nvGrpSpPr>
        <p:grpSpPr>
          <a:xfrm rot="0">
            <a:off x="480060" y="6321806"/>
            <a:ext cx="8229600" cy="414401"/>
            <a:chOff x="0" y="0"/>
            <a:chExt cx="10972800" cy="55253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0" cy="552534"/>
            </a:xfrm>
            <a:custGeom>
              <a:avLst/>
              <a:gdLst/>
              <a:ahLst/>
              <a:cxnLst/>
              <a:rect r="r" b="b" t="t" l="l"/>
              <a:pathLst>
                <a:path h="55253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52534"/>
                  </a:lnTo>
                  <a:lnTo>
                    <a:pt x="0" y="552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7306" r="0" b="-33660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10972800" cy="552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121A2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KYC C</a:t>
              </a:r>
              <a:r>
                <a:rPr lang="en-US" sz="1999" b="true">
                  <a:solidFill>
                    <a:srgbClr val="121A2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ompletion Rate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7282160" y="9806940"/>
            <a:ext cx="548640" cy="301752"/>
            <a:chOff x="0" y="0"/>
            <a:chExt cx="731520" cy="40233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3152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566" t="0" r="-20566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73152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82160" y="9806940"/>
            <a:ext cx="548640" cy="301752"/>
            <a:chOff x="0" y="0"/>
            <a:chExt cx="731520" cy="402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566" t="0" r="-20566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73152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128016" cy="950976"/>
            </a:xfrm>
            <a:custGeom>
              <a:avLst/>
              <a:gdLst/>
              <a:ahLst/>
              <a:cxnLst/>
              <a:rect r="r" b="b" t="t" l="l"/>
              <a:pathLst>
                <a:path h="950976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B8942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12700" y="0"/>
                  </a:moveTo>
                  <a:lnTo>
                    <a:pt x="140716" y="0"/>
                  </a:lnTo>
                  <a:cubicBezTo>
                    <a:pt x="147701" y="0"/>
                    <a:pt x="153416" y="5715"/>
                    <a:pt x="153416" y="12700"/>
                  </a:cubicBezTo>
                  <a:lnTo>
                    <a:pt x="153416" y="963676"/>
                  </a:lnTo>
                  <a:cubicBezTo>
                    <a:pt x="153416" y="970661"/>
                    <a:pt x="147701" y="976376"/>
                    <a:pt x="140716" y="976376"/>
                  </a:cubicBezTo>
                  <a:lnTo>
                    <a:pt x="12700" y="976376"/>
                  </a:lnTo>
                  <a:cubicBezTo>
                    <a:pt x="5715" y="976376"/>
                    <a:pt x="0" y="970661"/>
                    <a:pt x="0" y="96367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63676"/>
                  </a:lnTo>
                  <a:lnTo>
                    <a:pt x="12700" y="963676"/>
                  </a:lnTo>
                  <a:lnTo>
                    <a:pt x="12700" y="950976"/>
                  </a:lnTo>
                  <a:lnTo>
                    <a:pt x="140716" y="950976"/>
                  </a:lnTo>
                  <a:lnTo>
                    <a:pt x="140716" y="963676"/>
                  </a:lnTo>
                  <a:lnTo>
                    <a:pt x="128016" y="963676"/>
                  </a:lnTo>
                  <a:lnTo>
                    <a:pt x="128016" y="12700"/>
                  </a:lnTo>
                  <a:lnTo>
                    <a:pt x="140716" y="12700"/>
                  </a:lnTo>
                  <a:lnTo>
                    <a:pt x="140716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B8942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4380" y="603559"/>
            <a:ext cx="12344400" cy="822851"/>
            <a:chOff x="0" y="0"/>
            <a:chExt cx="16459200" cy="10971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1097134"/>
            </a:xfrm>
            <a:custGeom>
              <a:avLst/>
              <a:gdLst/>
              <a:ahLst/>
              <a:cxnLst/>
              <a:rect r="r" b="b" t="t" l="l"/>
              <a:pathLst>
                <a:path h="1097134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134"/>
                  </a:lnTo>
                  <a:lnTo>
                    <a:pt x="0" y="10971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975" r="0" b="-23565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6459200" cy="1106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Feature Intelligence &amp; User Progression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711491" y="9398509"/>
            <a:ext cx="1547809" cy="550332"/>
          </a:xfrm>
          <a:custGeom>
            <a:avLst/>
            <a:gdLst/>
            <a:ahLst/>
            <a:cxnLst/>
            <a:rect r="r" b="b" t="t" l="l"/>
            <a:pathLst>
              <a:path h="550332" w="1547809">
                <a:moveTo>
                  <a:pt x="0" y="0"/>
                </a:moveTo>
                <a:lnTo>
                  <a:pt x="1547809" y="0"/>
                </a:lnTo>
                <a:lnTo>
                  <a:pt x="1547809" y="550332"/>
                </a:lnTo>
                <a:lnTo>
                  <a:pt x="0" y="5503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41807" y="505082"/>
            <a:ext cx="1817493" cy="523618"/>
          </a:xfrm>
          <a:custGeom>
            <a:avLst/>
            <a:gdLst/>
            <a:ahLst/>
            <a:cxnLst/>
            <a:rect r="r" b="b" t="t" l="l"/>
            <a:pathLst>
              <a:path h="523618" w="1817493">
                <a:moveTo>
                  <a:pt x="0" y="0"/>
                </a:moveTo>
                <a:lnTo>
                  <a:pt x="1817493" y="0"/>
                </a:lnTo>
                <a:lnTo>
                  <a:pt x="1817493" y="523618"/>
                </a:lnTo>
                <a:lnTo>
                  <a:pt x="0" y="5236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128016" cy="950976"/>
            </a:xfrm>
            <a:custGeom>
              <a:avLst/>
              <a:gdLst/>
              <a:ahLst/>
              <a:cxnLst/>
              <a:rect r="r" b="b" t="t" l="l"/>
              <a:pathLst>
                <a:path h="950976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950976"/>
                  </a:lnTo>
                  <a:lnTo>
                    <a:pt x="0" y="950976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12700" y="0"/>
                  </a:moveTo>
                  <a:lnTo>
                    <a:pt x="140716" y="0"/>
                  </a:lnTo>
                  <a:cubicBezTo>
                    <a:pt x="147701" y="0"/>
                    <a:pt x="153416" y="5715"/>
                    <a:pt x="153416" y="12700"/>
                  </a:cubicBezTo>
                  <a:lnTo>
                    <a:pt x="153416" y="963676"/>
                  </a:lnTo>
                  <a:cubicBezTo>
                    <a:pt x="153416" y="970661"/>
                    <a:pt x="147701" y="976376"/>
                    <a:pt x="140716" y="976376"/>
                  </a:cubicBezTo>
                  <a:lnTo>
                    <a:pt x="12700" y="976376"/>
                  </a:lnTo>
                  <a:cubicBezTo>
                    <a:pt x="5715" y="976376"/>
                    <a:pt x="0" y="970661"/>
                    <a:pt x="0" y="96367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63676"/>
                  </a:lnTo>
                  <a:lnTo>
                    <a:pt x="12700" y="963676"/>
                  </a:lnTo>
                  <a:lnTo>
                    <a:pt x="12700" y="950976"/>
                  </a:lnTo>
                  <a:lnTo>
                    <a:pt x="140716" y="950976"/>
                  </a:lnTo>
                  <a:lnTo>
                    <a:pt x="140716" y="963676"/>
                  </a:lnTo>
                  <a:lnTo>
                    <a:pt x="128016" y="963676"/>
                  </a:lnTo>
                  <a:lnTo>
                    <a:pt x="128016" y="12700"/>
                  </a:lnTo>
                  <a:lnTo>
                    <a:pt x="140716" y="12700"/>
                  </a:lnTo>
                  <a:lnTo>
                    <a:pt x="140716" y="25400"/>
                  </a:lnTo>
                  <a:lnTo>
                    <a:pt x="12700" y="2540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246894" y="5325574"/>
            <a:ext cx="7866735" cy="414684"/>
            <a:chOff x="0" y="0"/>
            <a:chExt cx="10488980" cy="55291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88981" cy="552913"/>
            </a:xfrm>
            <a:custGeom>
              <a:avLst/>
              <a:gdLst/>
              <a:ahLst/>
              <a:cxnLst/>
              <a:rect r="r" b="b" t="t" l="l"/>
              <a:pathLst>
                <a:path h="552913" w="10488981">
                  <a:moveTo>
                    <a:pt x="0" y="0"/>
                  </a:moveTo>
                  <a:lnTo>
                    <a:pt x="10488981" y="0"/>
                  </a:lnTo>
                  <a:lnTo>
                    <a:pt x="10488981" y="552913"/>
                  </a:lnTo>
                  <a:lnTo>
                    <a:pt x="0" y="5529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7075" r="-4612" b="-33630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0488980" cy="552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399"/>
                </a:lnSpc>
                <a:spcBef>
                  <a:spcPct val="0"/>
                </a:spcBef>
              </a:pPr>
              <a:r>
                <a:rPr lang="en-US" b="true" sz="1999" strike="noStrike" u="none">
                  <a:solidFill>
                    <a:srgbClr val="121A2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Deposit &amp; Withdrawal Activity</a:t>
              </a:r>
            </a:p>
          </p:txBody>
        </p:sp>
      </p:grp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9246889" y="5874345"/>
          <a:ext cx="7939575" cy="2922355"/>
        </p:xfrm>
        <a:graphic>
          <a:graphicData uri="http://schemas.openxmlformats.org/drawingml/2006/table">
            <a:tbl>
              <a:tblPr/>
              <a:tblGrid>
                <a:gridCol w="3933344"/>
                <a:gridCol w="4006231"/>
              </a:tblGrid>
              <a:tr h="7305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Metric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This Month (USD)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</a:tr>
              <a:tr h="7305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Total Deposits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$ 67.14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05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Total Withdrawals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305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Net Inflow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$ 67.14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955864" y="5883232"/>
          <a:ext cx="7957785" cy="2913468"/>
        </p:xfrm>
        <a:graphic>
          <a:graphicData uri="http://schemas.openxmlformats.org/drawingml/2006/table">
            <a:tbl>
              <a:tblPr/>
              <a:tblGrid>
                <a:gridCol w="3933333"/>
                <a:gridCol w="4024453"/>
              </a:tblGrid>
              <a:tr h="5826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Requests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Count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</a:tr>
              <a:tr h="5826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Funded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6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Not Funded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826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Traded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6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Not Traded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pSp>
        <p:nvGrpSpPr>
          <p:cNvPr name="Group 23" id="23"/>
          <p:cNvGrpSpPr/>
          <p:nvPr/>
        </p:nvGrpSpPr>
        <p:grpSpPr>
          <a:xfrm rot="0">
            <a:off x="955864" y="5325574"/>
            <a:ext cx="7866735" cy="414684"/>
            <a:chOff x="0" y="0"/>
            <a:chExt cx="10488980" cy="55291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88981" cy="552913"/>
            </a:xfrm>
            <a:custGeom>
              <a:avLst/>
              <a:gdLst/>
              <a:ahLst/>
              <a:cxnLst/>
              <a:rect r="r" b="b" t="t" l="l"/>
              <a:pathLst>
                <a:path h="552913" w="10488981">
                  <a:moveTo>
                    <a:pt x="0" y="0"/>
                  </a:moveTo>
                  <a:lnTo>
                    <a:pt x="10488981" y="0"/>
                  </a:lnTo>
                  <a:lnTo>
                    <a:pt x="10488981" y="552913"/>
                  </a:lnTo>
                  <a:lnTo>
                    <a:pt x="0" y="5529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7075" r="-4612" b="-33630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0488980" cy="552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121A2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User Pr</a:t>
              </a:r>
              <a:r>
                <a:rPr lang="en-US" sz="1999" b="true">
                  <a:solidFill>
                    <a:srgbClr val="121A2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ogression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1669027"/>
            <a:ext cx="3764621" cy="1527810"/>
            <a:chOff x="0" y="0"/>
            <a:chExt cx="5019495" cy="2037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1963" y="12700"/>
              <a:ext cx="4995569" cy="2011680"/>
            </a:xfrm>
            <a:custGeom>
              <a:avLst/>
              <a:gdLst/>
              <a:ahLst/>
              <a:cxnLst/>
              <a:rect r="r" b="b" t="t" l="l"/>
              <a:pathLst>
                <a:path h="2011680" w="4995569">
                  <a:moveTo>
                    <a:pt x="0" y="0"/>
                  </a:moveTo>
                  <a:lnTo>
                    <a:pt x="4995569" y="0"/>
                  </a:lnTo>
                  <a:lnTo>
                    <a:pt x="4995569" y="2011680"/>
                  </a:lnTo>
                  <a:lnTo>
                    <a:pt x="0" y="201168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19495" cy="2037080"/>
            </a:xfrm>
            <a:custGeom>
              <a:avLst/>
              <a:gdLst/>
              <a:ahLst/>
              <a:cxnLst/>
              <a:rect r="r" b="b" t="t" l="l"/>
              <a:pathLst>
                <a:path h="2037080" w="5019495">
                  <a:moveTo>
                    <a:pt x="11963" y="0"/>
                  </a:moveTo>
                  <a:lnTo>
                    <a:pt x="5007532" y="0"/>
                  </a:lnTo>
                  <a:cubicBezTo>
                    <a:pt x="5014111" y="0"/>
                    <a:pt x="5019495" y="5715"/>
                    <a:pt x="5019495" y="12700"/>
                  </a:cubicBezTo>
                  <a:lnTo>
                    <a:pt x="5019495" y="2024380"/>
                  </a:lnTo>
                  <a:cubicBezTo>
                    <a:pt x="5019495" y="2031365"/>
                    <a:pt x="5014111" y="2037080"/>
                    <a:pt x="5007532" y="2037080"/>
                  </a:cubicBezTo>
                  <a:lnTo>
                    <a:pt x="11963" y="2037080"/>
                  </a:lnTo>
                  <a:cubicBezTo>
                    <a:pt x="5383" y="2037080"/>
                    <a:pt x="0" y="2031365"/>
                    <a:pt x="0" y="2024380"/>
                  </a:cubicBezTo>
                  <a:lnTo>
                    <a:pt x="0" y="12700"/>
                  </a:lnTo>
                  <a:cubicBezTo>
                    <a:pt x="0" y="5715"/>
                    <a:pt x="5383" y="0"/>
                    <a:pt x="11963" y="0"/>
                  </a:cubicBezTo>
                  <a:moveTo>
                    <a:pt x="11963" y="25400"/>
                  </a:moveTo>
                  <a:lnTo>
                    <a:pt x="11963" y="12700"/>
                  </a:lnTo>
                  <a:lnTo>
                    <a:pt x="23925" y="12700"/>
                  </a:lnTo>
                  <a:lnTo>
                    <a:pt x="23925" y="2024380"/>
                  </a:lnTo>
                  <a:lnTo>
                    <a:pt x="11963" y="2024380"/>
                  </a:lnTo>
                  <a:lnTo>
                    <a:pt x="11963" y="2011680"/>
                  </a:lnTo>
                  <a:lnTo>
                    <a:pt x="5007532" y="2011680"/>
                  </a:lnTo>
                  <a:lnTo>
                    <a:pt x="5007532" y="2024380"/>
                  </a:lnTo>
                  <a:lnTo>
                    <a:pt x="4995569" y="2024380"/>
                  </a:lnTo>
                  <a:lnTo>
                    <a:pt x="4995569" y="12700"/>
                  </a:lnTo>
                  <a:lnTo>
                    <a:pt x="5007532" y="12700"/>
                  </a:lnTo>
                  <a:lnTo>
                    <a:pt x="5007532" y="25400"/>
                  </a:lnTo>
                  <a:lnTo>
                    <a:pt x="11963" y="25400"/>
                  </a:lnTo>
                  <a:close/>
                </a:path>
              </a:pathLst>
            </a:custGeom>
            <a:solidFill>
              <a:srgbClr val="C5CED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66868" y="1822802"/>
            <a:ext cx="3488286" cy="797839"/>
            <a:chOff x="0" y="0"/>
            <a:chExt cx="4651047" cy="106378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51047" cy="1063785"/>
            </a:xfrm>
            <a:custGeom>
              <a:avLst/>
              <a:gdLst/>
              <a:ahLst/>
              <a:cxnLst/>
              <a:rect r="r" b="b" t="t" l="l"/>
              <a:pathLst>
                <a:path h="1063785" w="4651047">
                  <a:moveTo>
                    <a:pt x="0" y="0"/>
                  </a:moveTo>
                  <a:lnTo>
                    <a:pt x="4651047" y="0"/>
                  </a:lnTo>
                  <a:lnTo>
                    <a:pt x="4651047" y="1063785"/>
                  </a:lnTo>
                  <a:lnTo>
                    <a:pt x="0" y="10637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894" r="-6164" b="-3299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651047" cy="10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82 %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66868" y="2508976"/>
            <a:ext cx="3488286" cy="392277"/>
            <a:chOff x="0" y="0"/>
            <a:chExt cx="4651047" cy="523036"/>
          </a:xfrm>
        </p:grpSpPr>
        <p:sp>
          <p:nvSpPr>
            <p:cNvPr name="Freeform 33" id="33" descr="shorten this and make it more cohesive "/>
            <p:cNvSpPr/>
            <p:nvPr/>
          </p:nvSpPr>
          <p:spPr>
            <a:xfrm flipH="false" flipV="false" rot="0">
              <a:off x="0" y="0"/>
              <a:ext cx="4651047" cy="523035"/>
            </a:xfrm>
            <a:custGeom>
              <a:avLst/>
              <a:gdLst/>
              <a:ahLst/>
              <a:cxnLst/>
              <a:rect r="r" b="b" t="t" l="l"/>
              <a:pathLst>
                <a:path h="523035" w="4651047">
                  <a:moveTo>
                    <a:pt x="0" y="0"/>
                  </a:moveTo>
                  <a:lnTo>
                    <a:pt x="4651047" y="0"/>
                  </a:lnTo>
                  <a:lnTo>
                    <a:pt x="4651047" y="523035"/>
                  </a:lnTo>
                  <a:lnTo>
                    <a:pt x="0" y="523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950" r="-6164" b="-1339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4651047" cy="5325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6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AI Res</a:t>
              </a:r>
              <a:r>
                <a:rPr lang="en-US" sz="16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olution Score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162964" y="1669027"/>
            <a:ext cx="3764621" cy="1527810"/>
            <a:chOff x="0" y="0"/>
            <a:chExt cx="5019495" cy="2037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1963" y="12700"/>
              <a:ext cx="4995569" cy="2011680"/>
            </a:xfrm>
            <a:custGeom>
              <a:avLst/>
              <a:gdLst/>
              <a:ahLst/>
              <a:cxnLst/>
              <a:rect r="r" b="b" t="t" l="l"/>
              <a:pathLst>
                <a:path h="2011680" w="4995569">
                  <a:moveTo>
                    <a:pt x="0" y="0"/>
                  </a:moveTo>
                  <a:lnTo>
                    <a:pt x="4995569" y="0"/>
                  </a:lnTo>
                  <a:lnTo>
                    <a:pt x="4995569" y="2011680"/>
                  </a:lnTo>
                  <a:lnTo>
                    <a:pt x="0" y="201168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19495" cy="2037080"/>
            </a:xfrm>
            <a:custGeom>
              <a:avLst/>
              <a:gdLst/>
              <a:ahLst/>
              <a:cxnLst/>
              <a:rect r="r" b="b" t="t" l="l"/>
              <a:pathLst>
                <a:path h="2037080" w="5019495">
                  <a:moveTo>
                    <a:pt x="11963" y="0"/>
                  </a:moveTo>
                  <a:lnTo>
                    <a:pt x="5007532" y="0"/>
                  </a:lnTo>
                  <a:cubicBezTo>
                    <a:pt x="5014111" y="0"/>
                    <a:pt x="5019495" y="5715"/>
                    <a:pt x="5019495" y="12700"/>
                  </a:cubicBezTo>
                  <a:lnTo>
                    <a:pt x="5019495" y="2024380"/>
                  </a:lnTo>
                  <a:cubicBezTo>
                    <a:pt x="5019495" y="2031365"/>
                    <a:pt x="5014111" y="2037080"/>
                    <a:pt x="5007532" y="2037080"/>
                  </a:cubicBezTo>
                  <a:lnTo>
                    <a:pt x="11963" y="2037080"/>
                  </a:lnTo>
                  <a:cubicBezTo>
                    <a:pt x="5383" y="2037080"/>
                    <a:pt x="0" y="2031365"/>
                    <a:pt x="0" y="2024380"/>
                  </a:cubicBezTo>
                  <a:lnTo>
                    <a:pt x="0" y="12700"/>
                  </a:lnTo>
                  <a:cubicBezTo>
                    <a:pt x="0" y="5715"/>
                    <a:pt x="5383" y="0"/>
                    <a:pt x="11963" y="0"/>
                  </a:cubicBezTo>
                  <a:moveTo>
                    <a:pt x="11963" y="25400"/>
                  </a:moveTo>
                  <a:lnTo>
                    <a:pt x="11963" y="12700"/>
                  </a:lnTo>
                  <a:lnTo>
                    <a:pt x="23925" y="12700"/>
                  </a:lnTo>
                  <a:lnTo>
                    <a:pt x="23925" y="2024380"/>
                  </a:lnTo>
                  <a:lnTo>
                    <a:pt x="11963" y="2024380"/>
                  </a:lnTo>
                  <a:lnTo>
                    <a:pt x="11963" y="2011680"/>
                  </a:lnTo>
                  <a:lnTo>
                    <a:pt x="5007532" y="2011680"/>
                  </a:lnTo>
                  <a:lnTo>
                    <a:pt x="5007532" y="2024380"/>
                  </a:lnTo>
                  <a:lnTo>
                    <a:pt x="4995569" y="2024380"/>
                  </a:lnTo>
                  <a:lnTo>
                    <a:pt x="4995569" y="12700"/>
                  </a:lnTo>
                  <a:lnTo>
                    <a:pt x="5007532" y="12700"/>
                  </a:lnTo>
                  <a:lnTo>
                    <a:pt x="5007532" y="25400"/>
                  </a:lnTo>
                  <a:lnTo>
                    <a:pt x="11963" y="25400"/>
                  </a:lnTo>
                  <a:close/>
                </a:path>
              </a:pathLst>
            </a:custGeom>
            <a:solidFill>
              <a:srgbClr val="C5CED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301132" y="1822802"/>
            <a:ext cx="3488286" cy="797839"/>
            <a:chOff x="0" y="0"/>
            <a:chExt cx="4651047" cy="106378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51047" cy="1063785"/>
            </a:xfrm>
            <a:custGeom>
              <a:avLst/>
              <a:gdLst/>
              <a:ahLst/>
              <a:cxnLst/>
              <a:rect r="r" b="b" t="t" l="l"/>
              <a:pathLst>
                <a:path h="1063785" w="4651047">
                  <a:moveTo>
                    <a:pt x="0" y="0"/>
                  </a:moveTo>
                  <a:lnTo>
                    <a:pt x="4651047" y="0"/>
                  </a:lnTo>
                  <a:lnTo>
                    <a:pt x="4651047" y="1063785"/>
                  </a:lnTo>
                  <a:lnTo>
                    <a:pt x="0" y="10637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894" r="-6164" b="-3299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4651047" cy="10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18 </a:t>
              </a:r>
              <a:r>
                <a:rPr lang="en-US" b="true" sz="3799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%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301132" y="2571605"/>
            <a:ext cx="3488286" cy="392277"/>
            <a:chOff x="0" y="0"/>
            <a:chExt cx="4651047" cy="5230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651047" cy="523035"/>
            </a:xfrm>
            <a:custGeom>
              <a:avLst/>
              <a:gdLst/>
              <a:ahLst/>
              <a:cxnLst/>
              <a:rect r="r" b="b" t="t" l="l"/>
              <a:pathLst>
                <a:path h="523035" w="4651047">
                  <a:moveTo>
                    <a:pt x="0" y="0"/>
                  </a:moveTo>
                  <a:lnTo>
                    <a:pt x="4651047" y="0"/>
                  </a:lnTo>
                  <a:lnTo>
                    <a:pt x="4651047" y="523035"/>
                  </a:lnTo>
                  <a:lnTo>
                    <a:pt x="0" y="523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950" r="-6164" b="-1339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4651047" cy="5325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6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Agent Escalation</a:t>
              </a:r>
              <a:r>
                <a:rPr lang="en-US" sz="16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 Ratio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297229" y="1669027"/>
            <a:ext cx="3764621" cy="1527810"/>
            <a:chOff x="0" y="0"/>
            <a:chExt cx="5019495" cy="2037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1963" y="12700"/>
              <a:ext cx="4995569" cy="2011680"/>
            </a:xfrm>
            <a:custGeom>
              <a:avLst/>
              <a:gdLst/>
              <a:ahLst/>
              <a:cxnLst/>
              <a:rect r="r" b="b" t="t" l="l"/>
              <a:pathLst>
                <a:path h="2011680" w="4995569">
                  <a:moveTo>
                    <a:pt x="0" y="0"/>
                  </a:moveTo>
                  <a:lnTo>
                    <a:pt x="4995569" y="0"/>
                  </a:lnTo>
                  <a:lnTo>
                    <a:pt x="4995569" y="2011680"/>
                  </a:lnTo>
                  <a:lnTo>
                    <a:pt x="0" y="201168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019495" cy="2037080"/>
            </a:xfrm>
            <a:custGeom>
              <a:avLst/>
              <a:gdLst/>
              <a:ahLst/>
              <a:cxnLst/>
              <a:rect r="r" b="b" t="t" l="l"/>
              <a:pathLst>
                <a:path h="2037080" w="5019495">
                  <a:moveTo>
                    <a:pt x="11963" y="0"/>
                  </a:moveTo>
                  <a:lnTo>
                    <a:pt x="5007532" y="0"/>
                  </a:lnTo>
                  <a:cubicBezTo>
                    <a:pt x="5014111" y="0"/>
                    <a:pt x="5019495" y="5715"/>
                    <a:pt x="5019495" y="12700"/>
                  </a:cubicBezTo>
                  <a:lnTo>
                    <a:pt x="5019495" y="2024380"/>
                  </a:lnTo>
                  <a:cubicBezTo>
                    <a:pt x="5019495" y="2031365"/>
                    <a:pt x="5014111" y="2037080"/>
                    <a:pt x="5007532" y="2037080"/>
                  </a:cubicBezTo>
                  <a:lnTo>
                    <a:pt x="11963" y="2037080"/>
                  </a:lnTo>
                  <a:cubicBezTo>
                    <a:pt x="5383" y="2037080"/>
                    <a:pt x="0" y="2031365"/>
                    <a:pt x="0" y="2024380"/>
                  </a:cubicBezTo>
                  <a:lnTo>
                    <a:pt x="0" y="12700"/>
                  </a:lnTo>
                  <a:cubicBezTo>
                    <a:pt x="0" y="5715"/>
                    <a:pt x="5383" y="0"/>
                    <a:pt x="11963" y="0"/>
                  </a:cubicBezTo>
                  <a:moveTo>
                    <a:pt x="11963" y="25400"/>
                  </a:moveTo>
                  <a:lnTo>
                    <a:pt x="11963" y="12700"/>
                  </a:lnTo>
                  <a:lnTo>
                    <a:pt x="23925" y="12700"/>
                  </a:lnTo>
                  <a:lnTo>
                    <a:pt x="23925" y="2024380"/>
                  </a:lnTo>
                  <a:lnTo>
                    <a:pt x="11963" y="2024380"/>
                  </a:lnTo>
                  <a:lnTo>
                    <a:pt x="11963" y="2011680"/>
                  </a:lnTo>
                  <a:lnTo>
                    <a:pt x="5007532" y="2011680"/>
                  </a:lnTo>
                  <a:lnTo>
                    <a:pt x="5007532" y="2024380"/>
                  </a:lnTo>
                  <a:lnTo>
                    <a:pt x="4995569" y="2024380"/>
                  </a:lnTo>
                  <a:lnTo>
                    <a:pt x="4995569" y="12700"/>
                  </a:lnTo>
                  <a:lnTo>
                    <a:pt x="5007532" y="12700"/>
                  </a:lnTo>
                  <a:lnTo>
                    <a:pt x="5007532" y="25400"/>
                  </a:lnTo>
                  <a:lnTo>
                    <a:pt x="11963" y="25400"/>
                  </a:lnTo>
                  <a:close/>
                </a:path>
              </a:pathLst>
            </a:custGeom>
            <a:solidFill>
              <a:srgbClr val="C5CED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435396" y="1822802"/>
            <a:ext cx="3488286" cy="797839"/>
            <a:chOff x="0" y="0"/>
            <a:chExt cx="4651047" cy="106378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651047" cy="1063785"/>
            </a:xfrm>
            <a:custGeom>
              <a:avLst/>
              <a:gdLst/>
              <a:ahLst/>
              <a:cxnLst/>
              <a:rect r="r" b="b" t="t" l="l"/>
              <a:pathLst>
                <a:path h="1063785" w="4651047">
                  <a:moveTo>
                    <a:pt x="0" y="0"/>
                  </a:moveTo>
                  <a:lnTo>
                    <a:pt x="4651047" y="0"/>
                  </a:lnTo>
                  <a:lnTo>
                    <a:pt x="4651047" y="1063785"/>
                  </a:lnTo>
                  <a:lnTo>
                    <a:pt x="0" y="10637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894" r="-6164" b="-3299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4651047" cy="10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35396" y="2571605"/>
            <a:ext cx="3488286" cy="392277"/>
            <a:chOff x="0" y="0"/>
            <a:chExt cx="4651047" cy="52303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651047" cy="523035"/>
            </a:xfrm>
            <a:custGeom>
              <a:avLst/>
              <a:gdLst/>
              <a:ahLst/>
              <a:cxnLst/>
              <a:rect r="r" b="b" t="t" l="l"/>
              <a:pathLst>
                <a:path h="523035" w="4651047">
                  <a:moveTo>
                    <a:pt x="0" y="0"/>
                  </a:moveTo>
                  <a:lnTo>
                    <a:pt x="4651047" y="0"/>
                  </a:lnTo>
                  <a:lnTo>
                    <a:pt x="4651047" y="523035"/>
                  </a:lnTo>
                  <a:lnTo>
                    <a:pt x="0" y="523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950" r="-6164" b="-13395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4651047" cy="5325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6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Handled by Client Support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421843" y="1669027"/>
            <a:ext cx="3764621" cy="1527810"/>
            <a:chOff x="0" y="0"/>
            <a:chExt cx="5019495" cy="20370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1963" y="12700"/>
              <a:ext cx="4995569" cy="2011680"/>
            </a:xfrm>
            <a:custGeom>
              <a:avLst/>
              <a:gdLst/>
              <a:ahLst/>
              <a:cxnLst/>
              <a:rect r="r" b="b" t="t" l="l"/>
              <a:pathLst>
                <a:path h="2011680" w="4995569">
                  <a:moveTo>
                    <a:pt x="0" y="0"/>
                  </a:moveTo>
                  <a:lnTo>
                    <a:pt x="4995569" y="0"/>
                  </a:lnTo>
                  <a:lnTo>
                    <a:pt x="4995569" y="2011680"/>
                  </a:lnTo>
                  <a:lnTo>
                    <a:pt x="0" y="201168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019495" cy="2037080"/>
            </a:xfrm>
            <a:custGeom>
              <a:avLst/>
              <a:gdLst/>
              <a:ahLst/>
              <a:cxnLst/>
              <a:rect r="r" b="b" t="t" l="l"/>
              <a:pathLst>
                <a:path h="2037080" w="5019495">
                  <a:moveTo>
                    <a:pt x="11963" y="0"/>
                  </a:moveTo>
                  <a:lnTo>
                    <a:pt x="5007532" y="0"/>
                  </a:lnTo>
                  <a:cubicBezTo>
                    <a:pt x="5014111" y="0"/>
                    <a:pt x="5019495" y="5715"/>
                    <a:pt x="5019495" y="12700"/>
                  </a:cubicBezTo>
                  <a:lnTo>
                    <a:pt x="5019495" y="2024380"/>
                  </a:lnTo>
                  <a:cubicBezTo>
                    <a:pt x="5019495" y="2031365"/>
                    <a:pt x="5014111" y="2037080"/>
                    <a:pt x="5007532" y="2037080"/>
                  </a:cubicBezTo>
                  <a:lnTo>
                    <a:pt x="11963" y="2037080"/>
                  </a:lnTo>
                  <a:cubicBezTo>
                    <a:pt x="5383" y="2037080"/>
                    <a:pt x="0" y="2031365"/>
                    <a:pt x="0" y="2024380"/>
                  </a:cubicBezTo>
                  <a:lnTo>
                    <a:pt x="0" y="12700"/>
                  </a:lnTo>
                  <a:cubicBezTo>
                    <a:pt x="0" y="5715"/>
                    <a:pt x="5383" y="0"/>
                    <a:pt x="11963" y="0"/>
                  </a:cubicBezTo>
                  <a:moveTo>
                    <a:pt x="11963" y="25400"/>
                  </a:moveTo>
                  <a:lnTo>
                    <a:pt x="11963" y="12700"/>
                  </a:lnTo>
                  <a:lnTo>
                    <a:pt x="23925" y="12700"/>
                  </a:lnTo>
                  <a:lnTo>
                    <a:pt x="23925" y="2024380"/>
                  </a:lnTo>
                  <a:lnTo>
                    <a:pt x="11963" y="2024380"/>
                  </a:lnTo>
                  <a:lnTo>
                    <a:pt x="11963" y="2011680"/>
                  </a:lnTo>
                  <a:lnTo>
                    <a:pt x="5007532" y="2011680"/>
                  </a:lnTo>
                  <a:lnTo>
                    <a:pt x="5007532" y="2024380"/>
                  </a:lnTo>
                  <a:lnTo>
                    <a:pt x="4995569" y="2024380"/>
                  </a:lnTo>
                  <a:lnTo>
                    <a:pt x="4995569" y="12700"/>
                  </a:lnTo>
                  <a:lnTo>
                    <a:pt x="5007532" y="12700"/>
                  </a:lnTo>
                  <a:lnTo>
                    <a:pt x="5007532" y="25400"/>
                  </a:lnTo>
                  <a:lnTo>
                    <a:pt x="11963" y="25400"/>
                  </a:lnTo>
                  <a:close/>
                </a:path>
              </a:pathLst>
            </a:custGeom>
            <a:solidFill>
              <a:srgbClr val="C5CED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560011" y="1822802"/>
            <a:ext cx="3488286" cy="797839"/>
            <a:chOff x="0" y="0"/>
            <a:chExt cx="4651047" cy="106378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51047" cy="1063785"/>
            </a:xfrm>
            <a:custGeom>
              <a:avLst/>
              <a:gdLst/>
              <a:ahLst/>
              <a:cxnLst/>
              <a:rect r="r" b="b" t="t" l="l"/>
              <a:pathLst>
                <a:path h="1063785" w="4651047">
                  <a:moveTo>
                    <a:pt x="0" y="0"/>
                  </a:moveTo>
                  <a:lnTo>
                    <a:pt x="4651047" y="0"/>
                  </a:lnTo>
                  <a:lnTo>
                    <a:pt x="4651047" y="1063785"/>
                  </a:lnTo>
                  <a:lnTo>
                    <a:pt x="0" y="10637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894" r="-6164" b="-3299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4651047" cy="10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573996" y="2571605"/>
            <a:ext cx="3488286" cy="392277"/>
            <a:chOff x="0" y="0"/>
            <a:chExt cx="4651047" cy="5230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651047" cy="523035"/>
            </a:xfrm>
            <a:custGeom>
              <a:avLst/>
              <a:gdLst/>
              <a:ahLst/>
              <a:cxnLst/>
              <a:rect r="r" b="b" t="t" l="l"/>
              <a:pathLst>
                <a:path h="523035" w="4651047">
                  <a:moveTo>
                    <a:pt x="0" y="0"/>
                  </a:moveTo>
                  <a:lnTo>
                    <a:pt x="4651047" y="0"/>
                  </a:lnTo>
                  <a:lnTo>
                    <a:pt x="4651047" y="523035"/>
                  </a:lnTo>
                  <a:lnTo>
                    <a:pt x="0" y="523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950" r="-6164" b="-13395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4651047" cy="5325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6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Cases handled by AI Support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28700" y="3463290"/>
            <a:ext cx="16157764" cy="1527810"/>
            <a:chOff x="0" y="0"/>
            <a:chExt cx="21543686" cy="2037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51343" y="12700"/>
              <a:ext cx="21440999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440999">
                  <a:moveTo>
                    <a:pt x="0" y="0"/>
                  </a:moveTo>
                  <a:lnTo>
                    <a:pt x="21440999" y="0"/>
                  </a:lnTo>
                  <a:lnTo>
                    <a:pt x="21440999" y="2011680"/>
                  </a:lnTo>
                  <a:lnTo>
                    <a:pt x="0" y="201168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543687" cy="2037080"/>
            </a:xfrm>
            <a:custGeom>
              <a:avLst/>
              <a:gdLst/>
              <a:ahLst/>
              <a:cxnLst/>
              <a:rect r="r" b="b" t="t" l="l"/>
              <a:pathLst>
                <a:path h="2037080" w="21543687">
                  <a:moveTo>
                    <a:pt x="51343" y="0"/>
                  </a:moveTo>
                  <a:lnTo>
                    <a:pt x="21492342" y="0"/>
                  </a:lnTo>
                  <a:cubicBezTo>
                    <a:pt x="21520581" y="0"/>
                    <a:pt x="21543687" y="5715"/>
                    <a:pt x="21543687" y="12700"/>
                  </a:cubicBezTo>
                  <a:lnTo>
                    <a:pt x="21543687" y="2024380"/>
                  </a:lnTo>
                  <a:cubicBezTo>
                    <a:pt x="21543687" y="2031365"/>
                    <a:pt x="21520581" y="2037080"/>
                    <a:pt x="21492342" y="2037080"/>
                  </a:cubicBezTo>
                  <a:lnTo>
                    <a:pt x="51343" y="2037080"/>
                  </a:lnTo>
                  <a:cubicBezTo>
                    <a:pt x="23105" y="2037080"/>
                    <a:pt x="0" y="2031365"/>
                    <a:pt x="0" y="2024380"/>
                  </a:cubicBezTo>
                  <a:lnTo>
                    <a:pt x="0" y="12700"/>
                  </a:lnTo>
                  <a:cubicBezTo>
                    <a:pt x="0" y="5715"/>
                    <a:pt x="23105" y="0"/>
                    <a:pt x="51343" y="0"/>
                  </a:cubicBezTo>
                  <a:moveTo>
                    <a:pt x="51343" y="25400"/>
                  </a:moveTo>
                  <a:lnTo>
                    <a:pt x="51343" y="12700"/>
                  </a:lnTo>
                  <a:lnTo>
                    <a:pt x="102687" y="12700"/>
                  </a:lnTo>
                  <a:lnTo>
                    <a:pt x="102687" y="2024380"/>
                  </a:lnTo>
                  <a:lnTo>
                    <a:pt x="51343" y="2024380"/>
                  </a:lnTo>
                  <a:lnTo>
                    <a:pt x="51343" y="2011680"/>
                  </a:lnTo>
                  <a:lnTo>
                    <a:pt x="21492342" y="2011680"/>
                  </a:lnTo>
                  <a:lnTo>
                    <a:pt x="21492342" y="2024380"/>
                  </a:lnTo>
                  <a:lnTo>
                    <a:pt x="21441000" y="2024380"/>
                  </a:lnTo>
                  <a:lnTo>
                    <a:pt x="21441000" y="12700"/>
                  </a:lnTo>
                  <a:lnTo>
                    <a:pt x="21492342" y="12700"/>
                  </a:lnTo>
                  <a:lnTo>
                    <a:pt x="21492342" y="25400"/>
                  </a:lnTo>
                  <a:lnTo>
                    <a:pt x="51343" y="25400"/>
                  </a:lnTo>
                  <a:close/>
                </a:path>
              </a:pathLst>
            </a:custGeom>
            <a:solidFill>
              <a:srgbClr val="C5CED8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621716" y="3617065"/>
            <a:ext cx="14971732" cy="797839"/>
            <a:chOff x="0" y="0"/>
            <a:chExt cx="19962310" cy="106378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9962309" cy="1063785"/>
            </a:xfrm>
            <a:custGeom>
              <a:avLst/>
              <a:gdLst/>
              <a:ahLst/>
              <a:cxnLst/>
              <a:rect r="r" b="b" t="t" l="l"/>
              <a:pathLst>
                <a:path h="1063785" w="19962309">
                  <a:moveTo>
                    <a:pt x="0" y="0"/>
                  </a:moveTo>
                  <a:lnTo>
                    <a:pt x="19962309" y="0"/>
                  </a:lnTo>
                  <a:lnTo>
                    <a:pt x="19962309" y="1063785"/>
                  </a:lnTo>
                  <a:lnTo>
                    <a:pt x="0" y="10637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894" r="75264" b="-3299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19962310" cy="1073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17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658134" y="4414904"/>
            <a:ext cx="14971732" cy="392277"/>
            <a:chOff x="0" y="0"/>
            <a:chExt cx="19962310" cy="52303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9962309" cy="523035"/>
            </a:xfrm>
            <a:custGeom>
              <a:avLst/>
              <a:gdLst/>
              <a:ahLst/>
              <a:cxnLst/>
              <a:rect r="r" b="b" t="t" l="l"/>
              <a:pathLst>
                <a:path h="523035" w="19962309">
                  <a:moveTo>
                    <a:pt x="0" y="0"/>
                  </a:moveTo>
                  <a:lnTo>
                    <a:pt x="19962309" y="0"/>
                  </a:lnTo>
                  <a:lnTo>
                    <a:pt x="19962309" y="523035"/>
                  </a:lnTo>
                  <a:lnTo>
                    <a:pt x="0" y="523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950" r="75264" b="-13395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19962310" cy="5325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69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Cases handled by AI Support &amp; Client Support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82160" y="9806940"/>
            <a:ext cx="548640" cy="301752"/>
            <a:chOff x="0" y="0"/>
            <a:chExt cx="731520" cy="402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566" t="0" r="-20566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73152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A6A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128016" cy="950976"/>
            </a:xfrm>
            <a:custGeom>
              <a:avLst/>
              <a:gdLst/>
              <a:ahLst/>
              <a:cxnLst/>
              <a:rect r="r" b="b" t="t" l="l"/>
              <a:pathLst>
                <a:path h="950976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B8942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12700" y="0"/>
                  </a:moveTo>
                  <a:lnTo>
                    <a:pt x="140716" y="0"/>
                  </a:lnTo>
                  <a:cubicBezTo>
                    <a:pt x="147701" y="0"/>
                    <a:pt x="153416" y="5715"/>
                    <a:pt x="153416" y="12700"/>
                  </a:cubicBezTo>
                  <a:lnTo>
                    <a:pt x="153416" y="963676"/>
                  </a:lnTo>
                  <a:cubicBezTo>
                    <a:pt x="153416" y="970661"/>
                    <a:pt x="147701" y="976376"/>
                    <a:pt x="140716" y="976376"/>
                  </a:cubicBezTo>
                  <a:lnTo>
                    <a:pt x="12700" y="976376"/>
                  </a:lnTo>
                  <a:cubicBezTo>
                    <a:pt x="5715" y="976376"/>
                    <a:pt x="0" y="970661"/>
                    <a:pt x="0" y="96367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63676"/>
                  </a:lnTo>
                  <a:lnTo>
                    <a:pt x="12700" y="963676"/>
                  </a:lnTo>
                  <a:lnTo>
                    <a:pt x="12700" y="950976"/>
                  </a:lnTo>
                  <a:lnTo>
                    <a:pt x="140716" y="950976"/>
                  </a:lnTo>
                  <a:lnTo>
                    <a:pt x="140716" y="963676"/>
                  </a:lnTo>
                  <a:lnTo>
                    <a:pt x="128016" y="963676"/>
                  </a:lnTo>
                  <a:lnTo>
                    <a:pt x="128016" y="12700"/>
                  </a:lnTo>
                  <a:lnTo>
                    <a:pt x="140716" y="12700"/>
                  </a:lnTo>
                  <a:lnTo>
                    <a:pt x="140716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B8942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3232" y="658368"/>
            <a:ext cx="12344400" cy="822851"/>
            <a:chOff x="0" y="0"/>
            <a:chExt cx="16459200" cy="10971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1097134"/>
            </a:xfrm>
            <a:custGeom>
              <a:avLst/>
              <a:gdLst/>
              <a:ahLst/>
              <a:cxnLst/>
              <a:rect r="r" b="b" t="t" l="l"/>
              <a:pathLst>
                <a:path h="1097134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134"/>
                  </a:lnTo>
                  <a:lnTo>
                    <a:pt x="0" y="10971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975" r="0" b="-23565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6459200" cy="1106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Marketing &amp; Ecosystem Growth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0535" y="1567815"/>
            <a:ext cx="5368290" cy="1390650"/>
            <a:chOff x="0" y="0"/>
            <a:chExt cx="7157720" cy="1854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71323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57720" cy="1854200"/>
            </a:xfrm>
            <a:custGeom>
              <a:avLst/>
              <a:gdLst/>
              <a:ahLst/>
              <a:cxnLst/>
              <a:rect r="r" b="b" t="t" l="l"/>
              <a:pathLst>
                <a:path h="1854200" w="7157720">
                  <a:moveTo>
                    <a:pt x="12700" y="0"/>
                  </a:moveTo>
                  <a:lnTo>
                    <a:pt x="7145020" y="0"/>
                  </a:lnTo>
                  <a:cubicBezTo>
                    <a:pt x="7152005" y="0"/>
                    <a:pt x="7157720" y="5715"/>
                    <a:pt x="7157720" y="12700"/>
                  </a:cubicBezTo>
                  <a:lnTo>
                    <a:pt x="7157720" y="1841500"/>
                  </a:lnTo>
                  <a:cubicBezTo>
                    <a:pt x="7157720" y="1848485"/>
                    <a:pt x="7152005" y="1854200"/>
                    <a:pt x="7145020" y="1854200"/>
                  </a:cubicBezTo>
                  <a:lnTo>
                    <a:pt x="12700" y="1854200"/>
                  </a:lnTo>
                  <a:cubicBezTo>
                    <a:pt x="5715" y="1854200"/>
                    <a:pt x="0" y="1848485"/>
                    <a:pt x="0" y="18415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41500"/>
                  </a:lnTo>
                  <a:lnTo>
                    <a:pt x="12700" y="1841500"/>
                  </a:lnTo>
                  <a:lnTo>
                    <a:pt x="12700" y="1828800"/>
                  </a:lnTo>
                  <a:lnTo>
                    <a:pt x="7145020" y="1828800"/>
                  </a:lnTo>
                  <a:lnTo>
                    <a:pt x="7145020" y="1841500"/>
                  </a:lnTo>
                  <a:lnTo>
                    <a:pt x="7132320" y="1841500"/>
                  </a:lnTo>
                  <a:lnTo>
                    <a:pt x="7132320" y="12700"/>
                  </a:lnTo>
                  <a:lnTo>
                    <a:pt x="7145020" y="12700"/>
                  </a:lnTo>
                  <a:lnTo>
                    <a:pt x="71450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5CED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17220" y="1783080"/>
            <a:ext cx="5074920" cy="617220"/>
            <a:chOff x="0" y="0"/>
            <a:chExt cx="6766560" cy="822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66560" cy="822960"/>
            </a:xfrm>
            <a:custGeom>
              <a:avLst/>
              <a:gdLst/>
              <a:ahLst/>
              <a:cxnLst/>
              <a:rect r="r" b="b" t="t" l="l"/>
              <a:pathLst>
                <a:path h="82296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0210" r="0" b="-11021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676656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21A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[%]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17220" y="2372868"/>
            <a:ext cx="5074920" cy="356616"/>
            <a:chOff x="0" y="0"/>
            <a:chExt cx="6766560" cy="4754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66560" cy="475488"/>
            </a:xfrm>
            <a:custGeom>
              <a:avLst/>
              <a:gdLst/>
              <a:ahLst/>
              <a:cxnLst/>
              <a:rect r="r" b="b" t="t" l="l"/>
              <a:pathLst>
                <a:path h="475488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7287" r="0" b="-22728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76656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A6A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Organic Viral Coefficient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17220" y="2715768"/>
            <a:ext cx="5074920" cy="233172"/>
            <a:chOff x="0" y="0"/>
            <a:chExt cx="6766560" cy="3108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66560" cy="310896"/>
            </a:xfrm>
            <a:custGeom>
              <a:avLst/>
              <a:gdLst/>
              <a:ahLst/>
              <a:cxnLst/>
              <a:rect r="r" b="b" t="t" l="l"/>
              <a:pathLst>
                <a:path h="310896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4086" r="0" b="-37408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766560" cy="329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i="true">
                  <a:solidFill>
                    <a:srgbClr val="1A7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Target: Organic vs. paid acquisition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99835" y="1567815"/>
            <a:ext cx="5368290" cy="1390650"/>
            <a:chOff x="0" y="0"/>
            <a:chExt cx="7157720" cy="1854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2700" y="12700"/>
              <a:ext cx="71323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57720" cy="1854200"/>
            </a:xfrm>
            <a:custGeom>
              <a:avLst/>
              <a:gdLst/>
              <a:ahLst/>
              <a:cxnLst/>
              <a:rect r="r" b="b" t="t" l="l"/>
              <a:pathLst>
                <a:path h="1854200" w="7157720">
                  <a:moveTo>
                    <a:pt x="12700" y="0"/>
                  </a:moveTo>
                  <a:lnTo>
                    <a:pt x="7145020" y="0"/>
                  </a:lnTo>
                  <a:cubicBezTo>
                    <a:pt x="7152005" y="0"/>
                    <a:pt x="7157720" y="5715"/>
                    <a:pt x="7157720" y="12700"/>
                  </a:cubicBezTo>
                  <a:lnTo>
                    <a:pt x="7157720" y="1841500"/>
                  </a:lnTo>
                  <a:cubicBezTo>
                    <a:pt x="7157720" y="1848485"/>
                    <a:pt x="7152005" y="1854200"/>
                    <a:pt x="7145020" y="1854200"/>
                  </a:cubicBezTo>
                  <a:lnTo>
                    <a:pt x="12700" y="1854200"/>
                  </a:lnTo>
                  <a:cubicBezTo>
                    <a:pt x="5715" y="1854200"/>
                    <a:pt x="0" y="1848485"/>
                    <a:pt x="0" y="18415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41500"/>
                  </a:lnTo>
                  <a:lnTo>
                    <a:pt x="12700" y="1841500"/>
                  </a:lnTo>
                  <a:lnTo>
                    <a:pt x="12700" y="1828800"/>
                  </a:lnTo>
                  <a:lnTo>
                    <a:pt x="7145020" y="1828800"/>
                  </a:lnTo>
                  <a:lnTo>
                    <a:pt x="7145020" y="1841500"/>
                  </a:lnTo>
                  <a:lnTo>
                    <a:pt x="7132320" y="1841500"/>
                  </a:lnTo>
                  <a:lnTo>
                    <a:pt x="7132320" y="12700"/>
                  </a:lnTo>
                  <a:lnTo>
                    <a:pt x="7145020" y="12700"/>
                  </a:lnTo>
                  <a:lnTo>
                    <a:pt x="71450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5CED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446520" y="1783080"/>
            <a:ext cx="5074920" cy="617220"/>
            <a:chOff x="0" y="0"/>
            <a:chExt cx="6766560" cy="8229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66560" cy="822960"/>
            </a:xfrm>
            <a:custGeom>
              <a:avLst/>
              <a:gdLst/>
              <a:ahLst/>
              <a:cxnLst/>
              <a:rect r="r" b="b" t="t" l="l"/>
              <a:pathLst>
                <a:path h="82296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0210" r="0" b="-11021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676656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21A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[%]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446520" y="2372868"/>
            <a:ext cx="5074920" cy="356616"/>
            <a:chOff x="0" y="0"/>
            <a:chExt cx="6766560" cy="4754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766560" cy="475488"/>
            </a:xfrm>
            <a:custGeom>
              <a:avLst/>
              <a:gdLst/>
              <a:ahLst/>
              <a:cxnLst/>
              <a:rect r="r" b="b" t="t" l="l"/>
              <a:pathLst>
                <a:path h="475488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7287" r="0" b="-22728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76656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A6A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Share of Voice (SOV)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446520" y="2715768"/>
            <a:ext cx="5074920" cy="233172"/>
            <a:chOff x="0" y="0"/>
            <a:chExt cx="6766560" cy="3108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66560" cy="310896"/>
            </a:xfrm>
            <a:custGeom>
              <a:avLst/>
              <a:gdLst/>
              <a:ahLst/>
              <a:cxnLst/>
              <a:rect r="r" b="b" t="t" l="l"/>
              <a:pathLst>
                <a:path h="310896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4086" r="0" b="-37408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6766560" cy="329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i="true">
                  <a:solidFill>
                    <a:srgbClr val="1A7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Target: vs. GCC competitors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129135" y="1567815"/>
            <a:ext cx="5231130" cy="1390650"/>
            <a:chOff x="0" y="0"/>
            <a:chExt cx="6974840" cy="1854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2700" y="12700"/>
              <a:ext cx="6949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748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6974840">
                  <a:moveTo>
                    <a:pt x="12700" y="0"/>
                  </a:moveTo>
                  <a:lnTo>
                    <a:pt x="6962140" y="0"/>
                  </a:lnTo>
                  <a:cubicBezTo>
                    <a:pt x="6969125" y="0"/>
                    <a:pt x="6974840" y="5715"/>
                    <a:pt x="6974840" y="12700"/>
                  </a:cubicBezTo>
                  <a:lnTo>
                    <a:pt x="6974840" y="1841500"/>
                  </a:lnTo>
                  <a:cubicBezTo>
                    <a:pt x="6974840" y="1848485"/>
                    <a:pt x="6969125" y="1854200"/>
                    <a:pt x="6962140" y="1854200"/>
                  </a:cubicBezTo>
                  <a:lnTo>
                    <a:pt x="12700" y="1854200"/>
                  </a:lnTo>
                  <a:cubicBezTo>
                    <a:pt x="5715" y="1854200"/>
                    <a:pt x="0" y="1848485"/>
                    <a:pt x="0" y="18415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41500"/>
                  </a:lnTo>
                  <a:lnTo>
                    <a:pt x="12700" y="1841500"/>
                  </a:lnTo>
                  <a:lnTo>
                    <a:pt x="12700" y="1828800"/>
                  </a:lnTo>
                  <a:lnTo>
                    <a:pt x="6962140" y="1828800"/>
                  </a:lnTo>
                  <a:lnTo>
                    <a:pt x="6962140" y="1841500"/>
                  </a:lnTo>
                  <a:lnTo>
                    <a:pt x="6949440" y="1841500"/>
                  </a:lnTo>
                  <a:lnTo>
                    <a:pt x="6949440" y="12700"/>
                  </a:lnTo>
                  <a:lnTo>
                    <a:pt x="6962140" y="12700"/>
                  </a:lnTo>
                  <a:lnTo>
                    <a:pt x="6962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5CED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275820" y="1783080"/>
            <a:ext cx="4937760" cy="617220"/>
            <a:chOff x="0" y="0"/>
            <a:chExt cx="6583680" cy="8229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83680" cy="822960"/>
            </a:xfrm>
            <a:custGeom>
              <a:avLst/>
              <a:gdLst/>
              <a:ahLst/>
              <a:cxnLst/>
              <a:rect r="r" b="b" t="t" l="l"/>
              <a:pathLst>
                <a:path h="8229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658368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21A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[+/-]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275820" y="2372868"/>
            <a:ext cx="4937760" cy="356616"/>
            <a:chOff x="0" y="0"/>
            <a:chExt cx="6583680" cy="47548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583680" cy="475488"/>
            </a:xfrm>
            <a:custGeom>
              <a:avLst/>
              <a:gdLst/>
              <a:ahLst/>
              <a:cxnLst/>
              <a:rect r="r" b="b" t="t" l="l"/>
              <a:pathLst>
                <a:path h="47548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58368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A6A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 Score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275820" y="2715768"/>
            <a:ext cx="4937760" cy="233172"/>
            <a:chOff x="0" y="0"/>
            <a:chExt cx="6583680" cy="31089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583680" cy="310896"/>
            </a:xfrm>
            <a:custGeom>
              <a:avLst/>
              <a:gdLst/>
              <a:ahLst/>
              <a:cxnLst/>
              <a:rect r="r" b="b" t="t" l="l"/>
              <a:pathLst>
                <a:path h="31089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6583680" cy="329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i="true">
                  <a:solidFill>
                    <a:srgbClr val="1A7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Target: Organic mentions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80060" y="3264408"/>
            <a:ext cx="8366760" cy="411480"/>
            <a:chOff x="0" y="0"/>
            <a:chExt cx="1115568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155680" cy="548640"/>
            </a:xfrm>
            <a:custGeom>
              <a:avLst/>
              <a:gdLst/>
              <a:ahLst/>
              <a:cxnLst/>
              <a:rect r="r" b="b" t="t" l="l"/>
              <a:pathLst>
                <a:path h="54864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6195" r="0" b="-34619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11556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21A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Channel ROI Comparison</a:t>
              </a:r>
            </a:p>
          </p:txBody>
        </p:sp>
      </p:grpSp>
      <p:graphicFrame>
        <p:nvGraphicFramePr>
          <p:cNvPr name="Table 52" id="52"/>
          <p:cNvGraphicFramePr>
            <a:graphicFrameLocks noGrp="true"/>
          </p:cNvGraphicFramePr>
          <p:nvPr/>
        </p:nvGraphicFramePr>
        <p:xfrm>
          <a:off x="480060" y="3730752"/>
          <a:ext cx="8324850" cy="3230033"/>
        </p:xfrm>
        <a:graphic>
          <a:graphicData uri="http://schemas.openxmlformats.org/drawingml/2006/table">
            <a:tbl>
              <a:tblPr/>
              <a:tblGrid>
                <a:gridCol w="2177730"/>
                <a:gridCol w="1772919"/>
                <a:gridCol w="1772919"/>
                <a:gridCol w="1368109"/>
                <a:gridCol w="1233172"/>
              </a:tblGrid>
              <a:tr h="5630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Channel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Spend (BHD)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Conversions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CPA (BHD)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</a:tr>
              <a:tr h="5333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Google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3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Meta (FB/IG)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333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LinkedIn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3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Twitter / 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333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TikTok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53" id="53"/>
          <p:cNvGrpSpPr/>
          <p:nvPr/>
        </p:nvGrpSpPr>
        <p:grpSpPr>
          <a:xfrm rot="0">
            <a:off x="9121140" y="3264408"/>
            <a:ext cx="8366760" cy="411480"/>
            <a:chOff x="0" y="0"/>
            <a:chExt cx="1115568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155680" cy="548640"/>
            </a:xfrm>
            <a:custGeom>
              <a:avLst/>
              <a:gdLst/>
              <a:ahLst/>
              <a:cxnLst/>
              <a:rect r="r" b="b" t="t" l="l"/>
              <a:pathLst>
                <a:path h="54864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6195" r="0" b="-34619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11556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21A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Social Media Growth</a:t>
              </a:r>
            </a:p>
          </p:txBody>
        </p:sp>
      </p:grpSp>
      <p:graphicFrame>
        <p:nvGraphicFramePr>
          <p:cNvPr name="Table 56" id="56"/>
          <p:cNvGraphicFramePr>
            <a:graphicFrameLocks noGrp="true"/>
          </p:cNvGraphicFramePr>
          <p:nvPr/>
        </p:nvGraphicFramePr>
        <p:xfrm>
          <a:off x="9121140" y="3730752"/>
          <a:ext cx="8343900" cy="2696845"/>
        </p:xfrm>
        <a:graphic>
          <a:graphicData uri="http://schemas.openxmlformats.org/drawingml/2006/table">
            <a:tbl>
              <a:tblPr/>
              <a:tblGrid>
                <a:gridCol w="2182713"/>
                <a:gridCol w="1506485"/>
                <a:gridCol w="1506485"/>
                <a:gridCol w="1776976"/>
                <a:gridCol w="1371240"/>
              </a:tblGrid>
              <a:tr h="5633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Platform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Followers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Reach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Engagements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Growth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</a:tr>
              <a:tr h="5333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Instagram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3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LinkedIn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333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Twitter / 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3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TikTok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[—]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name="Freeform 57" id="57"/>
          <p:cNvSpPr/>
          <p:nvPr/>
        </p:nvSpPr>
        <p:spPr>
          <a:xfrm flipH="false" flipV="false" rot="0">
            <a:off x="15711491" y="9398509"/>
            <a:ext cx="1547809" cy="550332"/>
          </a:xfrm>
          <a:custGeom>
            <a:avLst/>
            <a:gdLst/>
            <a:ahLst/>
            <a:cxnLst/>
            <a:rect r="r" b="b" t="t" l="l"/>
            <a:pathLst>
              <a:path h="550332" w="1547809">
                <a:moveTo>
                  <a:pt x="0" y="0"/>
                </a:moveTo>
                <a:lnTo>
                  <a:pt x="1547809" y="0"/>
                </a:lnTo>
                <a:lnTo>
                  <a:pt x="1547809" y="550332"/>
                </a:lnTo>
                <a:lnTo>
                  <a:pt x="0" y="5503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5441807" y="505082"/>
            <a:ext cx="1817493" cy="523618"/>
          </a:xfrm>
          <a:custGeom>
            <a:avLst/>
            <a:gdLst/>
            <a:ahLst/>
            <a:cxnLst/>
            <a:rect r="r" b="b" t="t" l="l"/>
            <a:pathLst>
              <a:path h="523618" w="1817493">
                <a:moveTo>
                  <a:pt x="0" y="0"/>
                </a:moveTo>
                <a:lnTo>
                  <a:pt x="1817493" y="0"/>
                </a:lnTo>
                <a:lnTo>
                  <a:pt x="1817493" y="523618"/>
                </a:lnTo>
                <a:lnTo>
                  <a:pt x="0" y="5236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2700" y="12700"/>
              <a:ext cx="128016" cy="950976"/>
            </a:xfrm>
            <a:custGeom>
              <a:avLst/>
              <a:gdLst/>
              <a:ahLst/>
              <a:cxnLst/>
              <a:rect r="r" b="b" t="t" l="l"/>
              <a:pathLst>
                <a:path h="950976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950976"/>
                  </a:lnTo>
                  <a:lnTo>
                    <a:pt x="0" y="950976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12700" y="0"/>
                  </a:moveTo>
                  <a:lnTo>
                    <a:pt x="140716" y="0"/>
                  </a:lnTo>
                  <a:cubicBezTo>
                    <a:pt x="147701" y="0"/>
                    <a:pt x="153416" y="5715"/>
                    <a:pt x="153416" y="12700"/>
                  </a:cubicBezTo>
                  <a:lnTo>
                    <a:pt x="153416" y="963676"/>
                  </a:lnTo>
                  <a:cubicBezTo>
                    <a:pt x="153416" y="970661"/>
                    <a:pt x="147701" y="976376"/>
                    <a:pt x="140716" y="976376"/>
                  </a:cubicBezTo>
                  <a:lnTo>
                    <a:pt x="12700" y="976376"/>
                  </a:lnTo>
                  <a:cubicBezTo>
                    <a:pt x="5715" y="976376"/>
                    <a:pt x="0" y="970661"/>
                    <a:pt x="0" y="96367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63676"/>
                  </a:lnTo>
                  <a:lnTo>
                    <a:pt x="12700" y="963676"/>
                  </a:lnTo>
                  <a:lnTo>
                    <a:pt x="12700" y="950976"/>
                  </a:lnTo>
                  <a:lnTo>
                    <a:pt x="140716" y="950976"/>
                  </a:lnTo>
                  <a:lnTo>
                    <a:pt x="140716" y="963676"/>
                  </a:lnTo>
                  <a:lnTo>
                    <a:pt x="128016" y="963676"/>
                  </a:lnTo>
                  <a:lnTo>
                    <a:pt x="128016" y="12700"/>
                  </a:lnTo>
                  <a:lnTo>
                    <a:pt x="140716" y="12700"/>
                  </a:lnTo>
                  <a:lnTo>
                    <a:pt x="140716" y="25400"/>
                  </a:lnTo>
                  <a:lnTo>
                    <a:pt x="12700" y="2540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82160" y="9806940"/>
            <a:ext cx="548640" cy="301752"/>
            <a:chOff x="0" y="0"/>
            <a:chExt cx="731520" cy="402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566" t="0" r="-20566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73152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A6A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128016" cy="950976"/>
            </a:xfrm>
            <a:custGeom>
              <a:avLst/>
              <a:gdLst/>
              <a:ahLst/>
              <a:cxnLst/>
              <a:rect r="r" b="b" t="t" l="l"/>
              <a:pathLst>
                <a:path h="950976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B8942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12700" y="0"/>
                  </a:moveTo>
                  <a:lnTo>
                    <a:pt x="140716" y="0"/>
                  </a:lnTo>
                  <a:cubicBezTo>
                    <a:pt x="147701" y="0"/>
                    <a:pt x="153416" y="5715"/>
                    <a:pt x="153416" y="12700"/>
                  </a:cubicBezTo>
                  <a:lnTo>
                    <a:pt x="153416" y="963676"/>
                  </a:lnTo>
                  <a:cubicBezTo>
                    <a:pt x="153416" y="970661"/>
                    <a:pt x="147701" y="976376"/>
                    <a:pt x="140716" y="976376"/>
                  </a:cubicBezTo>
                  <a:lnTo>
                    <a:pt x="12700" y="976376"/>
                  </a:lnTo>
                  <a:cubicBezTo>
                    <a:pt x="5715" y="976376"/>
                    <a:pt x="0" y="970661"/>
                    <a:pt x="0" y="96367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63676"/>
                  </a:lnTo>
                  <a:lnTo>
                    <a:pt x="12700" y="963676"/>
                  </a:lnTo>
                  <a:lnTo>
                    <a:pt x="12700" y="950976"/>
                  </a:lnTo>
                  <a:lnTo>
                    <a:pt x="140716" y="950976"/>
                  </a:lnTo>
                  <a:lnTo>
                    <a:pt x="140716" y="963676"/>
                  </a:lnTo>
                  <a:lnTo>
                    <a:pt x="128016" y="963676"/>
                  </a:lnTo>
                  <a:lnTo>
                    <a:pt x="128016" y="12700"/>
                  </a:lnTo>
                  <a:lnTo>
                    <a:pt x="140716" y="12700"/>
                  </a:lnTo>
                  <a:lnTo>
                    <a:pt x="140716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B8942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3232" y="658368"/>
            <a:ext cx="12344400" cy="822851"/>
            <a:chOff x="0" y="0"/>
            <a:chExt cx="16459200" cy="10971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1097134"/>
            </a:xfrm>
            <a:custGeom>
              <a:avLst/>
              <a:gdLst/>
              <a:ahLst/>
              <a:cxnLst/>
              <a:rect r="r" b="b" t="t" l="l"/>
              <a:pathLst>
                <a:path h="1097134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134"/>
                  </a:lnTo>
                  <a:lnTo>
                    <a:pt x="0" y="10971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975" r="0" b="-23565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6459200" cy="1106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PR &amp; Media Coverage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950256" y="1802901"/>
          <a:ext cx="16387487" cy="6759575"/>
        </p:xfrm>
        <a:graphic>
          <a:graphicData uri="http://schemas.openxmlformats.org/drawingml/2006/table">
            <a:tbl>
              <a:tblPr/>
              <a:tblGrid>
                <a:gridCol w="4492156"/>
                <a:gridCol w="2142952"/>
                <a:gridCol w="2305529"/>
                <a:gridCol w="7446850"/>
              </a:tblGrid>
              <a:tr h="5815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Outlet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Date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Language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Reach (est.)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</a:tr>
              <a:tr h="5148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Zawya.com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EN / 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2,706,000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8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Alayam.com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1,038,000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148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Alwatannews.net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834,000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8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OpenPR.com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300,000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148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Alsyahaalarabia.com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3,000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8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Bizbahrain.com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00" strike="noStrike" u="none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EN / 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150,000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1483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Saudishopper.com.sa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EN / 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150,000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8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25h.app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00" strike="noStrike" u="none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EN / 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25,000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148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Nabd.com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EN / 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150,000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8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100-100fm.com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75,000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148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Heidinews.net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EN / 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75,000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8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Sanews.sa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7,500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name="Freeform 14" id="14"/>
          <p:cNvSpPr/>
          <p:nvPr/>
        </p:nvSpPr>
        <p:spPr>
          <a:xfrm flipH="false" flipV="false" rot="0">
            <a:off x="15711491" y="9398509"/>
            <a:ext cx="1547809" cy="550332"/>
          </a:xfrm>
          <a:custGeom>
            <a:avLst/>
            <a:gdLst/>
            <a:ahLst/>
            <a:cxnLst/>
            <a:rect r="r" b="b" t="t" l="l"/>
            <a:pathLst>
              <a:path h="550332" w="1547809">
                <a:moveTo>
                  <a:pt x="0" y="0"/>
                </a:moveTo>
                <a:lnTo>
                  <a:pt x="1547809" y="0"/>
                </a:lnTo>
                <a:lnTo>
                  <a:pt x="1547809" y="550332"/>
                </a:lnTo>
                <a:lnTo>
                  <a:pt x="0" y="5503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441807" y="505082"/>
            <a:ext cx="1817493" cy="523618"/>
          </a:xfrm>
          <a:custGeom>
            <a:avLst/>
            <a:gdLst/>
            <a:ahLst/>
            <a:cxnLst/>
            <a:rect r="r" b="b" t="t" l="l"/>
            <a:pathLst>
              <a:path h="523618" w="1817493">
                <a:moveTo>
                  <a:pt x="0" y="0"/>
                </a:moveTo>
                <a:lnTo>
                  <a:pt x="1817493" y="0"/>
                </a:lnTo>
                <a:lnTo>
                  <a:pt x="1817493" y="523618"/>
                </a:lnTo>
                <a:lnTo>
                  <a:pt x="0" y="5236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128016" cy="950976"/>
            </a:xfrm>
            <a:custGeom>
              <a:avLst/>
              <a:gdLst/>
              <a:ahLst/>
              <a:cxnLst/>
              <a:rect r="r" b="b" t="t" l="l"/>
              <a:pathLst>
                <a:path h="950976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950976"/>
                  </a:lnTo>
                  <a:lnTo>
                    <a:pt x="0" y="950976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12700" y="0"/>
                  </a:moveTo>
                  <a:lnTo>
                    <a:pt x="140716" y="0"/>
                  </a:lnTo>
                  <a:cubicBezTo>
                    <a:pt x="147701" y="0"/>
                    <a:pt x="153416" y="5715"/>
                    <a:pt x="153416" y="12700"/>
                  </a:cubicBezTo>
                  <a:lnTo>
                    <a:pt x="153416" y="963676"/>
                  </a:lnTo>
                  <a:cubicBezTo>
                    <a:pt x="153416" y="970661"/>
                    <a:pt x="147701" y="976376"/>
                    <a:pt x="140716" y="976376"/>
                  </a:cubicBezTo>
                  <a:lnTo>
                    <a:pt x="12700" y="976376"/>
                  </a:lnTo>
                  <a:cubicBezTo>
                    <a:pt x="5715" y="976376"/>
                    <a:pt x="0" y="970661"/>
                    <a:pt x="0" y="96367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63676"/>
                  </a:lnTo>
                  <a:lnTo>
                    <a:pt x="12700" y="963676"/>
                  </a:lnTo>
                  <a:lnTo>
                    <a:pt x="12700" y="950976"/>
                  </a:lnTo>
                  <a:lnTo>
                    <a:pt x="140716" y="950976"/>
                  </a:lnTo>
                  <a:lnTo>
                    <a:pt x="140716" y="963676"/>
                  </a:lnTo>
                  <a:lnTo>
                    <a:pt x="128016" y="963676"/>
                  </a:lnTo>
                  <a:lnTo>
                    <a:pt x="128016" y="12700"/>
                  </a:lnTo>
                  <a:lnTo>
                    <a:pt x="140716" y="12700"/>
                  </a:lnTo>
                  <a:lnTo>
                    <a:pt x="140716" y="25400"/>
                  </a:lnTo>
                  <a:lnTo>
                    <a:pt x="12700" y="2540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82160" y="9806940"/>
            <a:ext cx="548640" cy="301752"/>
            <a:chOff x="0" y="0"/>
            <a:chExt cx="731520" cy="402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566" t="0" r="-20566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73152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A6A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128016" cy="950976"/>
            </a:xfrm>
            <a:custGeom>
              <a:avLst/>
              <a:gdLst/>
              <a:ahLst/>
              <a:cxnLst/>
              <a:rect r="r" b="b" t="t" l="l"/>
              <a:pathLst>
                <a:path h="950976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B8942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12700" y="0"/>
                  </a:moveTo>
                  <a:lnTo>
                    <a:pt x="140716" y="0"/>
                  </a:lnTo>
                  <a:cubicBezTo>
                    <a:pt x="147701" y="0"/>
                    <a:pt x="153416" y="5715"/>
                    <a:pt x="153416" y="12700"/>
                  </a:cubicBezTo>
                  <a:lnTo>
                    <a:pt x="153416" y="963676"/>
                  </a:lnTo>
                  <a:cubicBezTo>
                    <a:pt x="153416" y="970661"/>
                    <a:pt x="147701" y="976376"/>
                    <a:pt x="140716" y="976376"/>
                  </a:cubicBezTo>
                  <a:lnTo>
                    <a:pt x="12700" y="976376"/>
                  </a:lnTo>
                  <a:cubicBezTo>
                    <a:pt x="5715" y="976376"/>
                    <a:pt x="0" y="970661"/>
                    <a:pt x="0" y="96367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63676"/>
                  </a:lnTo>
                  <a:lnTo>
                    <a:pt x="12700" y="963676"/>
                  </a:lnTo>
                  <a:lnTo>
                    <a:pt x="12700" y="950976"/>
                  </a:lnTo>
                  <a:lnTo>
                    <a:pt x="140716" y="950976"/>
                  </a:lnTo>
                  <a:lnTo>
                    <a:pt x="140716" y="963676"/>
                  </a:lnTo>
                  <a:lnTo>
                    <a:pt x="128016" y="963676"/>
                  </a:lnTo>
                  <a:lnTo>
                    <a:pt x="128016" y="12700"/>
                  </a:lnTo>
                  <a:lnTo>
                    <a:pt x="140716" y="12700"/>
                  </a:lnTo>
                  <a:lnTo>
                    <a:pt x="140716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B8942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3232" y="658368"/>
            <a:ext cx="12344400" cy="822851"/>
            <a:chOff x="0" y="0"/>
            <a:chExt cx="16459200" cy="10971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1097134"/>
            </a:xfrm>
            <a:custGeom>
              <a:avLst/>
              <a:gdLst/>
              <a:ahLst/>
              <a:cxnLst/>
              <a:rect r="r" b="b" t="t" l="l"/>
              <a:pathLst>
                <a:path h="1097134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134"/>
                  </a:lnTo>
                  <a:lnTo>
                    <a:pt x="0" y="10971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975" r="0" b="-23565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6459200" cy="1106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PR &amp; Media Coverage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480060" y="1645920"/>
          <a:ext cx="17259300" cy="3231092"/>
        </p:xfrm>
        <a:graphic>
          <a:graphicData uri="http://schemas.openxmlformats.org/drawingml/2006/table">
            <a:tbl>
              <a:tblPr/>
              <a:tblGrid>
                <a:gridCol w="5667513"/>
                <a:gridCol w="2736689"/>
                <a:gridCol w="3638481"/>
                <a:gridCol w="5216617"/>
              </a:tblGrid>
              <a:tr h="5821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Outlet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Date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Language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9"/>
                        </a:lnSpc>
                        <a:defRPr/>
                      </a:pPr>
                      <a:r>
                        <a:rPr lang="en-US" sz="1849" b="true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Reach (est.)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</a:tr>
              <a:tr h="5333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@bftbahrain (Instagram)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57,400 followers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3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@dinarbh973 (Instagram)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27,400 followers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333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@alayambusiness (Instagram)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27,600 followers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3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@cnnewss (Instagram)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00" strike="noStrike" u="none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EN / 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69,800 followers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153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@alsahatnews (X)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14/05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19,700 followers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428625" y="5496137"/>
            <a:ext cx="8162925" cy="1006797"/>
            <a:chOff x="0" y="0"/>
            <a:chExt cx="10883900" cy="13423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81" y="14042"/>
              <a:ext cx="10858339" cy="1314313"/>
            </a:xfrm>
            <a:custGeom>
              <a:avLst/>
              <a:gdLst/>
              <a:ahLst/>
              <a:cxnLst/>
              <a:rect r="r" b="b" t="t" l="l"/>
              <a:pathLst>
                <a:path h="1314313" w="10858339">
                  <a:moveTo>
                    <a:pt x="0" y="0"/>
                  </a:moveTo>
                  <a:lnTo>
                    <a:pt x="10858338" y="0"/>
                  </a:lnTo>
                  <a:lnTo>
                    <a:pt x="10858338" y="1314313"/>
                  </a:lnTo>
                  <a:lnTo>
                    <a:pt x="0" y="1314313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83900" cy="1342397"/>
            </a:xfrm>
            <a:custGeom>
              <a:avLst/>
              <a:gdLst/>
              <a:ahLst/>
              <a:cxnLst/>
              <a:rect r="r" b="b" t="t" l="l"/>
              <a:pathLst>
                <a:path h="1342397" w="10883900">
                  <a:moveTo>
                    <a:pt x="12781" y="0"/>
                  </a:moveTo>
                  <a:lnTo>
                    <a:pt x="10871119" y="0"/>
                  </a:lnTo>
                  <a:cubicBezTo>
                    <a:pt x="10878148" y="0"/>
                    <a:pt x="10883900" y="6319"/>
                    <a:pt x="10883900" y="14042"/>
                  </a:cubicBezTo>
                  <a:lnTo>
                    <a:pt x="10883900" y="1328355"/>
                  </a:lnTo>
                  <a:cubicBezTo>
                    <a:pt x="10883900" y="1336078"/>
                    <a:pt x="10878148" y="1342397"/>
                    <a:pt x="10871119" y="1342397"/>
                  </a:cubicBezTo>
                  <a:lnTo>
                    <a:pt x="12781" y="1342397"/>
                  </a:lnTo>
                  <a:cubicBezTo>
                    <a:pt x="5751" y="1342397"/>
                    <a:pt x="0" y="1336078"/>
                    <a:pt x="0" y="1328355"/>
                  </a:cubicBezTo>
                  <a:lnTo>
                    <a:pt x="0" y="14042"/>
                  </a:lnTo>
                  <a:cubicBezTo>
                    <a:pt x="0" y="6319"/>
                    <a:pt x="5751" y="0"/>
                    <a:pt x="12781" y="0"/>
                  </a:cubicBezTo>
                  <a:moveTo>
                    <a:pt x="12781" y="28084"/>
                  </a:moveTo>
                  <a:lnTo>
                    <a:pt x="12781" y="14042"/>
                  </a:lnTo>
                  <a:lnTo>
                    <a:pt x="25561" y="14042"/>
                  </a:lnTo>
                  <a:lnTo>
                    <a:pt x="25561" y="1328355"/>
                  </a:lnTo>
                  <a:lnTo>
                    <a:pt x="12781" y="1328355"/>
                  </a:lnTo>
                  <a:lnTo>
                    <a:pt x="12781" y="1314313"/>
                  </a:lnTo>
                  <a:lnTo>
                    <a:pt x="10871119" y="1314313"/>
                  </a:lnTo>
                  <a:lnTo>
                    <a:pt x="10871119" y="1328355"/>
                  </a:lnTo>
                  <a:lnTo>
                    <a:pt x="10858339" y="1328355"/>
                  </a:lnTo>
                  <a:lnTo>
                    <a:pt x="10858339" y="14042"/>
                  </a:lnTo>
                  <a:lnTo>
                    <a:pt x="10871119" y="14042"/>
                  </a:lnTo>
                  <a:lnTo>
                    <a:pt x="10871119" y="28084"/>
                  </a:lnTo>
                  <a:lnTo>
                    <a:pt x="12781" y="28084"/>
                  </a:lnTo>
                  <a:close/>
                </a:path>
              </a:pathLst>
            </a:custGeom>
            <a:solidFill>
              <a:srgbClr val="121A2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33529" y="5582494"/>
            <a:ext cx="4114800" cy="424624"/>
            <a:chOff x="0" y="0"/>
            <a:chExt cx="5486400" cy="5661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566166"/>
            </a:xfrm>
            <a:custGeom>
              <a:avLst/>
              <a:gdLst/>
              <a:ahLst/>
              <a:cxnLst/>
              <a:rect r="r" b="b" t="t" l="l"/>
              <a:pathLst>
                <a:path h="56616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66166"/>
                  </a:lnTo>
                  <a:lnTo>
                    <a:pt x="0" y="5661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3596" r="0" b="-13404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5486400" cy="575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Total Media Mentions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33529" y="5874465"/>
            <a:ext cx="4114800" cy="630660"/>
            <a:chOff x="0" y="0"/>
            <a:chExt cx="5486400" cy="8408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840879"/>
            </a:xfrm>
            <a:custGeom>
              <a:avLst/>
              <a:gdLst/>
              <a:ahLst/>
              <a:cxnLst/>
              <a:rect r="r" b="b" t="t" l="l"/>
              <a:pathLst>
                <a:path h="840879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40879"/>
                  </a:lnTo>
                  <a:lnTo>
                    <a:pt x="0" y="8408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683" r="0" b="-5758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8504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B8942A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17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52560" y="5496137"/>
            <a:ext cx="8728710" cy="1006797"/>
            <a:chOff x="0" y="0"/>
            <a:chExt cx="11638280" cy="13423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4042"/>
              <a:ext cx="11612880" cy="1314313"/>
            </a:xfrm>
            <a:custGeom>
              <a:avLst/>
              <a:gdLst/>
              <a:ahLst/>
              <a:cxnLst/>
              <a:rect r="r" b="b" t="t" l="l"/>
              <a:pathLst>
                <a:path h="1314313" w="11612880">
                  <a:moveTo>
                    <a:pt x="0" y="0"/>
                  </a:moveTo>
                  <a:lnTo>
                    <a:pt x="11612880" y="0"/>
                  </a:lnTo>
                  <a:lnTo>
                    <a:pt x="11612880" y="1314313"/>
                  </a:lnTo>
                  <a:lnTo>
                    <a:pt x="0" y="1314313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638280" cy="1342397"/>
            </a:xfrm>
            <a:custGeom>
              <a:avLst/>
              <a:gdLst/>
              <a:ahLst/>
              <a:cxnLst/>
              <a:rect r="r" b="b" t="t" l="l"/>
              <a:pathLst>
                <a:path h="1342397" w="11638280">
                  <a:moveTo>
                    <a:pt x="12700" y="0"/>
                  </a:moveTo>
                  <a:lnTo>
                    <a:pt x="11625580" y="0"/>
                  </a:lnTo>
                  <a:cubicBezTo>
                    <a:pt x="11632565" y="0"/>
                    <a:pt x="11638280" y="6319"/>
                    <a:pt x="11638280" y="14042"/>
                  </a:cubicBezTo>
                  <a:lnTo>
                    <a:pt x="11638280" y="1328355"/>
                  </a:lnTo>
                  <a:cubicBezTo>
                    <a:pt x="11638280" y="1336078"/>
                    <a:pt x="11632565" y="1342397"/>
                    <a:pt x="11625580" y="1342397"/>
                  </a:cubicBezTo>
                  <a:lnTo>
                    <a:pt x="12700" y="1342397"/>
                  </a:lnTo>
                  <a:cubicBezTo>
                    <a:pt x="5715" y="1342397"/>
                    <a:pt x="0" y="1336078"/>
                    <a:pt x="0" y="1328355"/>
                  </a:cubicBezTo>
                  <a:lnTo>
                    <a:pt x="0" y="14042"/>
                  </a:lnTo>
                  <a:cubicBezTo>
                    <a:pt x="0" y="6319"/>
                    <a:pt x="5715" y="0"/>
                    <a:pt x="12700" y="0"/>
                  </a:cubicBezTo>
                  <a:moveTo>
                    <a:pt x="12700" y="28084"/>
                  </a:moveTo>
                  <a:lnTo>
                    <a:pt x="12700" y="14042"/>
                  </a:lnTo>
                  <a:lnTo>
                    <a:pt x="25400" y="14042"/>
                  </a:lnTo>
                  <a:lnTo>
                    <a:pt x="25400" y="1328355"/>
                  </a:lnTo>
                  <a:lnTo>
                    <a:pt x="12700" y="1328355"/>
                  </a:lnTo>
                  <a:lnTo>
                    <a:pt x="12700" y="1314313"/>
                  </a:lnTo>
                  <a:lnTo>
                    <a:pt x="11625580" y="1314313"/>
                  </a:lnTo>
                  <a:lnTo>
                    <a:pt x="11625580" y="1328355"/>
                  </a:lnTo>
                  <a:lnTo>
                    <a:pt x="11612880" y="1328355"/>
                  </a:lnTo>
                  <a:lnTo>
                    <a:pt x="11612880" y="14042"/>
                  </a:lnTo>
                  <a:lnTo>
                    <a:pt x="11625580" y="14042"/>
                  </a:lnTo>
                  <a:lnTo>
                    <a:pt x="11625580" y="28084"/>
                  </a:lnTo>
                  <a:lnTo>
                    <a:pt x="12700" y="28084"/>
                  </a:lnTo>
                  <a:close/>
                </a:path>
              </a:pathLst>
            </a:custGeom>
            <a:solidFill>
              <a:srgbClr val="C5CED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267825" y="5582494"/>
            <a:ext cx="5486400" cy="424624"/>
            <a:chOff x="0" y="0"/>
            <a:chExt cx="7315200" cy="5661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0" cy="566166"/>
            </a:xfrm>
            <a:custGeom>
              <a:avLst/>
              <a:gdLst/>
              <a:ahLst/>
              <a:cxnLst/>
              <a:rect r="r" b="b" t="t" l="l"/>
              <a:pathLst>
                <a:path h="56616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66166"/>
                  </a:lnTo>
                  <a:lnTo>
                    <a:pt x="0" y="5661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6536" r="0" b="-19698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7315200" cy="575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Overall Sentiment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267825" y="5946879"/>
            <a:ext cx="8229600" cy="485832"/>
            <a:chOff x="0" y="0"/>
            <a:chExt cx="10972800" cy="64777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647777"/>
            </a:xfrm>
            <a:custGeom>
              <a:avLst/>
              <a:gdLst/>
              <a:ahLst/>
              <a:cxnLst/>
              <a:rect r="r" b="b" t="t" l="l"/>
              <a:pathLst>
                <a:path h="647777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7777"/>
                  </a:lnTo>
                  <a:lnTo>
                    <a:pt x="0" y="6477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0535" r="0" b="-26958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0972800" cy="657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1A7A4A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Positive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5711491" y="9398509"/>
            <a:ext cx="1547809" cy="550332"/>
          </a:xfrm>
          <a:custGeom>
            <a:avLst/>
            <a:gdLst/>
            <a:ahLst/>
            <a:cxnLst/>
            <a:rect r="r" b="b" t="t" l="l"/>
            <a:pathLst>
              <a:path h="550332" w="1547809">
                <a:moveTo>
                  <a:pt x="0" y="0"/>
                </a:moveTo>
                <a:lnTo>
                  <a:pt x="1547809" y="0"/>
                </a:lnTo>
                <a:lnTo>
                  <a:pt x="1547809" y="550332"/>
                </a:lnTo>
                <a:lnTo>
                  <a:pt x="0" y="5503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441807" y="505082"/>
            <a:ext cx="1817493" cy="523618"/>
          </a:xfrm>
          <a:custGeom>
            <a:avLst/>
            <a:gdLst/>
            <a:ahLst/>
            <a:cxnLst/>
            <a:rect r="r" b="b" t="t" l="l"/>
            <a:pathLst>
              <a:path h="523618" w="1817493">
                <a:moveTo>
                  <a:pt x="0" y="0"/>
                </a:moveTo>
                <a:lnTo>
                  <a:pt x="1817493" y="0"/>
                </a:lnTo>
                <a:lnTo>
                  <a:pt x="1817493" y="523618"/>
                </a:lnTo>
                <a:lnTo>
                  <a:pt x="0" y="5236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2700" y="12700"/>
              <a:ext cx="128016" cy="950976"/>
            </a:xfrm>
            <a:custGeom>
              <a:avLst/>
              <a:gdLst/>
              <a:ahLst/>
              <a:cxnLst/>
              <a:rect r="r" b="b" t="t" l="l"/>
              <a:pathLst>
                <a:path h="950976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950976"/>
                  </a:lnTo>
                  <a:lnTo>
                    <a:pt x="0" y="950976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12700" y="0"/>
                  </a:moveTo>
                  <a:lnTo>
                    <a:pt x="140716" y="0"/>
                  </a:lnTo>
                  <a:cubicBezTo>
                    <a:pt x="147701" y="0"/>
                    <a:pt x="153416" y="5715"/>
                    <a:pt x="153416" y="12700"/>
                  </a:cubicBezTo>
                  <a:lnTo>
                    <a:pt x="153416" y="963676"/>
                  </a:lnTo>
                  <a:cubicBezTo>
                    <a:pt x="153416" y="970661"/>
                    <a:pt x="147701" y="976376"/>
                    <a:pt x="140716" y="976376"/>
                  </a:cubicBezTo>
                  <a:lnTo>
                    <a:pt x="12700" y="976376"/>
                  </a:lnTo>
                  <a:cubicBezTo>
                    <a:pt x="5715" y="976376"/>
                    <a:pt x="0" y="970661"/>
                    <a:pt x="0" y="96367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63676"/>
                  </a:lnTo>
                  <a:lnTo>
                    <a:pt x="12700" y="963676"/>
                  </a:lnTo>
                  <a:lnTo>
                    <a:pt x="12700" y="950976"/>
                  </a:lnTo>
                  <a:lnTo>
                    <a:pt x="140716" y="950976"/>
                  </a:lnTo>
                  <a:lnTo>
                    <a:pt x="140716" y="963676"/>
                  </a:lnTo>
                  <a:lnTo>
                    <a:pt x="128016" y="963676"/>
                  </a:lnTo>
                  <a:lnTo>
                    <a:pt x="128016" y="12700"/>
                  </a:lnTo>
                  <a:lnTo>
                    <a:pt x="140716" y="12700"/>
                  </a:lnTo>
                  <a:lnTo>
                    <a:pt x="140716" y="25400"/>
                  </a:lnTo>
                  <a:lnTo>
                    <a:pt x="12700" y="2540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428625" y="6797812"/>
            <a:ext cx="17310735" cy="1006797"/>
            <a:chOff x="0" y="0"/>
            <a:chExt cx="23080980" cy="1342397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23080980" cy="1342397"/>
              <a:chOff x="0" y="0"/>
              <a:chExt cx="23080980" cy="1342397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27103" y="14042"/>
                <a:ext cx="23026773" cy="1314313"/>
              </a:xfrm>
              <a:custGeom>
                <a:avLst/>
                <a:gdLst/>
                <a:ahLst/>
                <a:cxnLst/>
                <a:rect r="r" b="b" t="t" l="l"/>
                <a:pathLst>
                  <a:path h="1314313" w="23026773">
                    <a:moveTo>
                      <a:pt x="0" y="0"/>
                    </a:moveTo>
                    <a:lnTo>
                      <a:pt x="23026774" y="0"/>
                    </a:lnTo>
                    <a:lnTo>
                      <a:pt x="23026774" y="1314313"/>
                    </a:lnTo>
                    <a:lnTo>
                      <a:pt x="0" y="131431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C61B6">
                      <a:alpha val="100000"/>
                    </a:srgbClr>
                  </a:gs>
                  <a:gs pos="100000">
                    <a:srgbClr val="121C36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3080979" cy="1342397"/>
              </a:xfrm>
              <a:custGeom>
                <a:avLst/>
                <a:gdLst/>
                <a:ahLst/>
                <a:cxnLst/>
                <a:rect r="r" b="b" t="t" l="l"/>
                <a:pathLst>
                  <a:path h="1342397" w="23080979">
                    <a:moveTo>
                      <a:pt x="27103" y="0"/>
                    </a:moveTo>
                    <a:lnTo>
                      <a:pt x="23053877" y="0"/>
                    </a:lnTo>
                    <a:cubicBezTo>
                      <a:pt x="23068783" y="0"/>
                      <a:pt x="23080979" y="6319"/>
                      <a:pt x="23080979" y="14042"/>
                    </a:cubicBezTo>
                    <a:lnTo>
                      <a:pt x="23080979" y="1328355"/>
                    </a:lnTo>
                    <a:cubicBezTo>
                      <a:pt x="23080979" y="1336078"/>
                      <a:pt x="23068783" y="1342397"/>
                      <a:pt x="23053877" y="1342397"/>
                    </a:cubicBezTo>
                    <a:lnTo>
                      <a:pt x="27103" y="1342397"/>
                    </a:lnTo>
                    <a:cubicBezTo>
                      <a:pt x="12196" y="1342397"/>
                      <a:pt x="0" y="1336078"/>
                      <a:pt x="0" y="1328355"/>
                    </a:cubicBezTo>
                    <a:lnTo>
                      <a:pt x="0" y="14042"/>
                    </a:lnTo>
                    <a:cubicBezTo>
                      <a:pt x="0" y="6319"/>
                      <a:pt x="12196" y="0"/>
                      <a:pt x="27103" y="0"/>
                    </a:cubicBezTo>
                    <a:moveTo>
                      <a:pt x="27103" y="28084"/>
                    </a:moveTo>
                    <a:lnTo>
                      <a:pt x="27103" y="14042"/>
                    </a:lnTo>
                    <a:lnTo>
                      <a:pt x="54206" y="14042"/>
                    </a:lnTo>
                    <a:lnTo>
                      <a:pt x="54206" y="1328355"/>
                    </a:lnTo>
                    <a:lnTo>
                      <a:pt x="27103" y="1328355"/>
                    </a:lnTo>
                    <a:lnTo>
                      <a:pt x="27103" y="1314313"/>
                    </a:lnTo>
                    <a:lnTo>
                      <a:pt x="23053877" y="1314313"/>
                    </a:lnTo>
                    <a:lnTo>
                      <a:pt x="23053877" y="1328355"/>
                    </a:lnTo>
                    <a:lnTo>
                      <a:pt x="23026773" y="1328355"/>
                    </a:lnTo>
                    <a:lnTo>
                      <a:pt x="23026773" y="14042"/>
                    </a:lnTo>
                    <a:lnTo>
                      <a:pt x="23053877" y="14042"/>
                    </a:lnTo>
                    <a:lnTo>
                      <a:pt x="23053877" y="28084"/>
                    </a:lnTo>
                    <a:lnTo>
                      <a:pt x="27103" y="28084"/>
                    </a:lnTo>
                    <a:close/>
                  </a:path>
                </a:pathLst>
              </a:custGeom>
              <a:solidFill>
                <a:srgbClr val="121A2F"/>
              </a:solidFill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612530" y="115143"/>
              <a:ext cx="11708529" cy="566166"/>
              <a:chOff x="0" y="0"/>
              <a:chExt cx="11708529" cy="566166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1708529" cy="566166"/>
              </a:xfrm>
              <a:custGeom>
                <a:avLst/>
                <a:gdLst/>
                <a:ahLst/>
                <a:cxnLst/>
                <a:rect r="r" b="b" t="t" l="l"/>
                <a:pathLst>
                  <a:path h="566166" w="11708529">
                    <a:moveTo>
                      <a:pt x="0" y="0"/>
                    </a:moveTo>
                    <a:lnTo>
                      <a:pt x="11708529" y="0"/>
                    </a:lnTo>
                    <a:lnTo>
                      <a:pt x="11708529" y="566166"/>
                    </a:lnTo>
                    <a:lnTo>
                      <a:pt x="0" y="56616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43596" r="53141" b="-134040"/>
                </a:stretch>
              </a:blip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9525"/>
                <a:ext cx="11708529" cy="57569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sz="1500">
                    <a:solidFill>
                      <a:srgbClr val="FFFFFF"/>
                    </a:solidFill>
                    <a:latin typeface="Exo 2"/>
                    <a:ea typeface="Exo 2"/>
                    <a:cs typeface="Exo 2"/>
                    <a:sym typeface="Exo 2"/>
                  </a:rPr>
                  <a:t>Total Followers Reach on Social Media Platforms </a:t>
                </a: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612530" y="487888"/>
              <a:ext cx="11708529" cy="840879"/>
              <a:chOff x="0" y="0"/>
              <a:chExt cx="11708529" cy="840879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1708529" cy="840879"/>
              </a:xfrm>
              <a:custGeom>
                <a:avLst/>
                <a:gdLst/>
                <a:ahLst/>
                <a:cxnLst/>
                <a:rect r="r" b="b" t="t" l="l"/>
                <a:pathLst>
                  <a:path h="840879" w="11708529">
                    <a:moveTo>
                      <a:pt x="0" y="0"/>
                    </a:moveTo>
                    <a:lnTo>
                      <a:pt x="11708529" y="0"/>
                    </a:lnTo>
                    <a:lnTo>
                      <a:pt x="11708529" y="840879"/>
                    </a:lnTo>
                    <a:lnTo>
                      <a:pt x="0" y="84087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96683" r="53141" b="-57580"/>
                </a:stretch>
              </a:blip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9525"/>
                <a:ext cx="11708529" cy="85040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0"/>
                  </a:lnSpc>
                </a:pPr>
                <a:r>
                  <a:rPr lang="en-US" sz="2700" b="true">
                    <a:solidFill>
                      <a:srgbClr val="B8942A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201,900</a:t>
                </a: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428625" y="7983643"/>
            <a:ext cx="17310735" cy="1006797"/>
            <a:chOff x="0" y="0"/>
            <a:chExt cx="23080980" cy="1342397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0"/>
              <a:ext cx="23080980" cy="1342397"/>
              <a:chOff x="0" y="0"/>
              <a:chExt cx="23080980" cy="1342397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27103" y="14042"/>
                <a:ext cx="23026773" cy="1314313"/>
              </a:xfrm>
              <a:custGeom>
                <a:avLst/>
                <a:gdLst/>
                <a:ahLst/>
                <a:cxnLst/>
                <a:rect r="r" b="b" t="t" l="l"/>
                <a:pathLst>
                  <a:path h="1314313" w="23026773">
                    <a:moveTo>
                      <a:pt x="0" y="0"/>
                    </a:moveTo>
                    <a:lnTo>
                      <a:pt x="23026774" y="0"/>
                    </a:lnTo>
                    <a:lnTo>
                      <a:pt x="23026774" y="1314313"/>
                    </a:lnTo>
                    <a:lnTo>
                      <a:pt x="0" y="131431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C61B6">
                      <a:alpha val="100000"/>
                    </a:srgbClr>
                  </a:gs>
                  <a:gs pos="100000">
                    <a:srgbClr val="121C36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3080979" cy="1342397"/>
              </a:xfrm>
              <a:custGeom>
                <a:avLst/>
                <a:gdLst/>
                <a:ahLst/>
                <a:cxnLst/>
                <a:rect r="r" b="b" t="t" l="l"/>
                <a:pathLst>
                  <a:path h="1342397" w="23080979">
                    <a:moveTo>
                      <a:pt x="27103" y="0"/>
                    </a:moveTo>
                    <a:lnTo>
                      <a:pt x="23053877" y="0"/>
                    </a:lnTo>
                    <a:cubicBezTo>
                      <a:pt x="23068783" y="0"/>
                      <a:pt x="23080979" y="6319"/>
                      <a:pt x="23080979" y="14042"/>
                    </a:cubicBezTo>
                    <a:lnTo>
                      <a:pt x="23080979" y="1328355"/>
                    </a:lnTo>
                    <a:cubicBezTo>
                      <a:pt x="23080979" y="1336078"/>
                      <a:pt x="23068783" y="1342397"/>
                      <a:pt x="23053877" y="1342397"/>
                    </a:cubicBezTo>
                    <a:lnTo>
                      <a:pt x="27103" y="1342397"/>
                    </a:lnTo>
                    <a:cubicBezTo>
                      <a:pt x="12196" y="1342397"/>
                      <a:pt x="0" y="1336078"/>
                      <a:pt x="0" y="1328355"/>
                    </a:cubicBezTo>
                    <a:lnTo>
                      <a:pt x="0" y="14042"/>
                    </a:lnTo>
                    <a:cubicBezTo>
                      <a:pt x="0" y="6319"/>
                      <a:pt x="12196" y="0"/>
                      <a:pt x="27103" y="0"/>
                    </a:cubicBezTo>
                    <a:moveTo>
                      <a:pt x="27103" y="28084"/>
                    </a:moveTo>
                    <a:lnTo>
                      <a:pt x="27103" y="14042"/>
                    </a:lnTo>
                    <a:lnTo>
                      <a:pt x="54206" y="14042"/>
                    </a:lnTo>
                    <a:lnTo>
                      <a:pt x="54206" y="1328355"/>
                    </a:lnTo>
                    <a:lnTo>
                      <a:pt x="27103" y="1328355"/>
                    </a:lnTo>
                    <a:lnTo>
                      <a:pt x="27103" y="1314313"/>
                    </a:lnTo>
                    <a:lnTo>
                      <a:pt x="23053877" y="1314313"/>
                    </a:lnTo>
                    <a:lnTo>
                      <a:pt x="23053877" y="1328355"/>
                    </a:lnTo>
                    <a:lnTo>
                      <a:pt x="23026773" y="1328355"/>
                    </a:lnTo>
                    <a:lnTo>
                      <a:pt x="23026773" y="14042"/>
                    </a:lnTo>
                    <a:lnTo>
                      <a:pt x="23053877" y="14042"/>
                    </a:lnTo>
                    <a:lnTo>
                      <a:pt x="23053877" y="28084"/>
                    </a:lnTo>
                    <a:lnTo>
                      <a:pt x="27103" y="28084"/>
                    </a:lnTo>
                    <a:close/>
                  </a:path>
                </a:pathLst>
              </a:custGeom>
              <a:solidFill>
                <a:srgbClr val="121A2F"/>
              </a:solid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612530" y="115143"/>
              <a:ext cx="11708529" cy="566166"/>
              <a:chOff x="0" y="0"/>
              <a:chExt cx="11708529" cy="566166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1708529" cy="566166"/>
              </a:xfrm>
              <a:custGeom>
                <a:avLst/>
                <a:gdLst/>
                <a:ahLst/>
                <a:cxnLst/>
                <a:rect r="r" b="b" t="t" l="l"/>
                <a:pathLst>
                  <a:path h="566166" w="11708529">
                    <a:moveTo>
                      <a:pt x="0" y="0"/>
                    </a:moveTo>
                    <a:lnTo>
                      <a:pt x="11708529" y="0"/>
                    </a:lnTo>
                    <a:lnTo>
                      <a:pt x="11708529" y="566166"/>
                    </a:lnTo>
                    <a:lnTo>
                      <a:pt x="0" y="56616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43596" r="53141" b="-134040"/>
                </a:stretch>
              </a:blip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9525"/>
                <a:ext cx="11708529" cy="57569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sz="1500">
                    <a:solidFill>
                      <a:srgbClr val="FFFFFF"/>
                    </a:solidFill>
                    <a:latin typeface="Exo 2"/>
                    <a:ea typeface="Exo 2"/>
                    <a:cs typeface="Exo 2"/>
                    <a:sym typeface="Exo 2"/>
                  </a:rPr>
                  <a:t>Total PR &amp; Media Coverage Reach</a:t>
                </a: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612530" y="487888"/>
              <a:ext cx="11708529" cy="840879"/>
              <a:chOff x="0" y="0"/>
              <a:chExt cx="11708529" cy="840879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1708529" cy="840879"/>
              </a:xfrm>
              <a:custGeom>
                <a:avLst/>
                <a:gdLst/>
                <a:ahLst/>
                <a:cxnLst/>
                <a:rect r="r" b="b" t="t" l="l"/>
                <a:pathLst>
                  <a:path h="840879" w="11708529">
                    <a:moveTo>
                      <a:pt x="0" y="0"/>
                    </a:moveTo>
                    <a:lnTo>
                      <a:pt x="11708529" y="0"/>
                    </a:lnTo>
                    <a:lnTo>
                      <a:pt x="11708529" y="840879"/>
                    </a:lnTo>
                    <a:lnTo>
                      <a:pt x="0" y="84087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96683" r="53141" b="-57580"/>
                </a:stretch>
              </a:blip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9525"/>
                <a:ext cx="11708529" cy="85040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0"/>
                  </a:lnSpc>
                </a:pPr>
                <a:r>
                  <a:rPr lang="en-US" sz="2700" b="true">
                    <a:solidFill>
                      <a:srgbClr val="B8942A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5,715,400</a:t>
                </a: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82160" y="9806940"/>
            <a:ext cx="548640" cy="301752"/>
            <a:chOff x="0" y="0"/>
            <a:chExt cx="731520" cy="402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566" t="0" r="-20566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73152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A6A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128016" cy="950976"/>
            </a:xfrm>
            <a:custGeom>
              <a:avLst/>
              <a:gdLst/>
              <a:ahLst/>
              <a:cxnLst/>
              <a:rect r="r" b="b" t="t" l="l"/>
              <a:pathLst>
                <a:path h="950976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B8942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12700" y="0"/>
                  </a:moveTo>
                  <a:lnTo>
                    <a:pt x="140716" y="0"/>
                  </a:lnTo>
                  <a:cubicBezTo>
                    <a:pt x="147701" y="0"/>
                    <a:pt x="153416" y="5715"/>
                    <a:pt x="153416" y="12700"/>
                  </a:cubicBezTo>
                  <a:lnTo>
                    <a:pt x="153416" y="963676"/>
                  </a:lnTo>
                  <a:cubicBezTo>
                    <a:pt x="153416" y="970661"/>
                    <a:pt x="147701" y="976376"/>
                    <a:pt x="140716" y="976376"/>
                  </a:cubicBezTo>
                  <a:lnTo>
                    <a:pt x="12700" y="976376"/>
                  </a:lnTo>
                  <a:cubicBezTo>
                    <a:pt x="5715" y="976376"/>
                    <a:pt x="0" y="970661"/>
                    <a:pt x="0" y="96367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63676"/>
                  </a:lnTo>
                  <a:lnTo>
                    <a:pt x="12700" y="963676"/>
                  </a:lnTo>
                  <a:lnTo>
                    <a:pt x="12700" y="950976"/>
                  </a:lnTo>
                  <a:lnTo>
                    <a:pt x="140716" y="950976"/>
                  </a:lnTo>
                  <a:lnTo>
                    <a:pt x="140716" y="963676"/>
                  </a:lnTo>
                  <a:lnTo>
                    <a:pt x="128016" y="963676"/>
                  </a:lnTo>
                  <a:lnTo>
                    <a:pt x="128016" y="12700"/>
                  </a:lnTo>
                  <a:lnTo>
                    <a:pt x="140716" y="12700"/>
                  </a:lnTo>
                  <a:lnTo>
                    <a:pt x="140716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B8942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3232" y="658368"/>
            <a:ext cx="12344400" cy="822851"/>
            <a:chOff x="0" y="0"/>
            <a:chExt cx="16459200" cy="10971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1097134"/>
            </a:xfrm>
            <a:custGeom>
              <a:avLst/>
              <a:gdLst/>
              <a:ahLst/>
              <a:cxnLst/>
              <a:rect r="r" b="b" t="t" l="l"/>
              <a:pathLst>
                <a:path h="1097134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134"/>
                  </a:lnTo>
                  <a:lnTo>
                    <a:pt x="0" y="10971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975" r="0" b="-23565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6459200" cy="1106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Wins This Month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0535" y="1567815"/>
            <a:ext cx="5368290" cy="3996690"/>
            <a:chOff x="0" y="0"/>
            <a:chExt cx="7157720" cy="5328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7132320" cy="5303520"/>
            </a:xfrm>
            <a:custGeom>
              <a:avLst/>
              <a:gdLst/>
              <a:ahLst/>
              <a:cxnLst/>
              <a:rect r="r" b="b" t="t" l="l"/>
              <a:pathLst>
                <a:path h="5303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303520"/>
                  </a:lnTo>
                  <a:lnTo>
                    <a:pt x="0" y="530352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57720" cy="5328920"/>
            </a:xfrm>
            <a:custGeom>
              <a:avLst/>
              <a:gdLst/>
              <a:ahLst/>
              <a:cxnLst/>
              <a:rect r="r" b="b" t="t" l="l"/>
              <a:pathLst>
                <a:path h="5328920" w="7157720">
                  <a:moveTo>
                    <a:pt x="12700" y="0"/>
                  </a:moveTo>
                  <a:lnTo>
                    <a:pt x="7145020" y="0"/>
                  </a:lnTo>
                  <a:cubicBezTo>
                    <a:pt x="7152005" y="0"/>
                    <a:pt x="7157720" y="5715"/>
                    <a:pt x="7157720" y="12700"/>
                  </a:cubicBezTo>
                  <a:lnTo>
                    <a:pt x="7157720" y="5316220"/>
                  </a:lnTo>
                  <a:cubicBezTo>
                    <a:pt x="7157720" y="5323205"/>
                    <a:pt x="7152005" y="5328920"/>
                    <a:pt x="7145020" y="5328920"/>
                  </a:cubicBezTo>
                  <a:lnTo>
                    <a:pt x="12700" y="5328920"/>
                  </a:lnTo>
                  <a:cubicBezTo>
                    <a:pt x="5715" y="5328920"/>
                    <a:pt x="0" y="5323205"/>
                    <a:pt x="0" y="53162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316220"/>
                  </a:lnTo>
                  <a:lnTo>
                    <a:pt x="12700" y="5316220"/>
                  </a:lnTo>
                  <a:lnTo>
                    <a:pt x="12700" y="5303520"/>
                  </a:lnTo>
                  <a:lnTo>
                    <a:pt x="7145020" y="5303520"/>
                  </a:lnTo>
                  <a:lnTo>
                    <a:pt x="7145020" y="5316220"/>
                  </a:lnTo>
                  <a:lnTo>
                    <a:pt x="7132320" y="5316220"/>
                  </a:lnTo>
                  <a:lnTo>
                    <a:pt x="7132320" y="12700"/>
                  </a:lnTo>
                  <a:lnTo>
                    <a:pt x="7145020" y="12700"/>
                  </a:lnTo>
                  <a:lnTo>
                    <a:pt x="71450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5CED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596515" y="1773555"/>
            <a:ext cx="1116330" cy="1116330"/>
            <a:chOff x="0" y="0"/>
            <a:chExt cx="1488440" cy="1488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121A2F">
                <a:alpha val="30980"/>
              </a:srgbClr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lnTo>
                    <a:pt x="744220" y="12700"/>
                  </a:lnTo>
                  <a:lnTo>
                    <a:pt x="744220" y="0"/>
                  </a:lnTo>
                  <a:cubicBezTo>
                    <a:pt x="1155192" y="0"/>
                    <a:pt x="1488440" y="333248"/>
                    <a:pt x="1488440" y="744220"/>
                  </a:cubicBezTo>
                  <a:lnTo>
                    <a:pt x="1475740" y="744220"/>
                  </a:lnTo>
                  <a:lnTo>
                    <a:pt x="1488440" y="744220"/>
                  </a:lnTo>
                  <a:cubicBezTo>
                    <a:pt x="1488440" y="1155192"/>
                    <a:pt x="1155192" y="1488440"/>
                    <a:pt x="744220" y="1488440"/>
                  </a:cubicBezTo>
                  <a:lnTo>
                    <a:pt x="744220" y="1475740"/>
                  </a:lnTo>
                  <a:lnTo>
                    <a:pt x="744220" y="1488440"/>
                  </a:lnTo>
                  <a:cubicBezTo>
                    <a:pt x="333248" y="1488440"/>
                    <a:pt x="0" y="1155192"/>
                    <a:pt x="0" y="744220"/>
                  </a:cubicBezTo>
                  <a:lnTo>
                    <a:pt x="12700" y="744220"/>
                  </a:lnTo>
                  <a:lnTo>
                    <a:pt x="25400" y="744220"/>
                  </a:lnTo>
                  <a:lnTo>
                    <a:pt x="12700" y="744220"/>
                  </a:lnTo>
                  <a:lnTo>
                    <a:pt x="0" y="744220"/>
                  </a:lnTo>
                  <a:moveTo>
                    <a:pt x="25400" y="744220"/>
                  </a:moveTo>
                  <a:cubicBezTo>
                    <a:pt x="25400" y="751205"/>
                    <a:pt x="19685" y="756920"/>
                    <a:pt x="12700" y="756920"/>
                  </a:cubicBezTo>
                  <a:cubicBezTo>
                    <a:pt x="5715" y="756920"/>
                    <a:pt x="0" y="751205"/>
                    <a:pt x="0" y="744220"/>
                  </a:cubicBezTo>
                  <a:cubicBezTo>
                    <a:pt x="0" y="737235"/>
                    <a:pt x="5715" y="731520"/>
                    <a:pt x="12700" y="731520"/>
                  </a:cubicBezTo>
                  <a:cubicBezTo>
                    <a:pt x="19685" y="731520"/>
                    <a:pt x="25400" y="737235"/>
                    <a:pt x="25400" y="744220"/>
                  </a:cubicBezTo>
                  <a:cubicBezTo>
                    <a:pt x="25400" y="1141222"/>
                    <a:pt x="347218" y="1463040"/>
                    <a:pt x="744220" y="1463040"/>
                  </a:cubicBezTo>
                  <a:cubicBezTo>
                    <a:pt x="1141222" y="1463040"/>
                    <a:pt x="1463040" y="1141222"/>
                    <a:pt x="1463040" y="744220"/>
                  </a:cubicBezTo>
                  <a:cubicBezTo>
                    <a:pt x="1463040" y="347218"/>
                    <a:pt x="1141222" y="25400"/>
                    <a:pt x="744220" y="25400"/>
                  </a:cubicBezTo>
                  <a:lnTo>
                    <a:pt x="744220" y="12700"/>
                  </a:lnTo>
                  <a:lnTo>
                    <a:pt x="744220" y="25400"/>
                  </a:lnTo>
                  <a:cubicBezTo>
                    <a:pt x="347218" y="25400"/>
                    <a:pt x="25400" y="347218"/>
                    <a:pt x="25400" y="744220"/>
                  </a:cubicBezTo>
                  <a:close/>
                </a:path>
              </a:pathLst>
            </a:custGeom>
            <a:solidFill>
              <a:srgbClr val="121A2F">
                <a:alpha val="30980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615565" y="1754886"/>
            <a:ext cx="1097280" cy="1097280"/>
            <a:chOff x="0" y="0"/>
            <a:chExt cx="1463040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46304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85800" y="3086100"/>
            <a:ext cx="4937760" cy="623384"/>
            <a:chOff x="0" y="0"/>
            <a:chExt cx="6583680" cy="8311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3680" cy="831179"/>
            </a:xfrm>
            <a:custGeom>
              <a:avLst/>
              <a:gdLst/>
              <a:ahLst/>
              <a:cxnLst/>
              <a:rect r="r" b="b" t="t" l="l"/>
              <a:pathLst>
                <a:path h="831179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31179"/>
                  </a:lnTo>
                  <a:lnTo>
                    <a:pt x="0" y="8311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5834" r="0" b="-9284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6583680" cy="840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39"/>
                </a:lnSpc>
              </a:pPr>
              <a:r>
                <a:rPr lang="en-US" b="true" sz="2949">
                  <a:gradFill>
                    <a:gsLst>
                      <a:gs pos="0">
                        <a:srgbClr val="D4AF37">
                          <a:alpha val="100000"/>
                        </a:srgbClr>
                      </a:gs>
                      <a:gs pos="100000">
                        <a:srgbClr val="8D763B">
                          <a:alpha val="100000"/>
                        </a:srgbClr>
                      </a:gs>
                    </a:gsLst>
                    <a:lin ang="54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Win 1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45820" y="3871409"/>
            <a:ext cx="46177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i="true">
                <a:solidFill>
                  <a:srgbClr val="F4F6FA"/>
                </a:solidFill>
                <a:latin typeface="Exo 2 Italics"/>
                <a:ea typeface="Exo 2 Italics"/>
                <a:cs typeface="Exo 2 Italics"/>
                <a:sym typeface="Exo 2 Italics"/>
              </a:rPr>
              <a:t>Describe the win here — key result, milestone, or metric achieved.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436995" y="1567815"/>
            <a:ext cx="5368290" cy="3996690"/>
            <a:chOff x="0" y="0"/>
            <a:chExt cx="7157720" cy="53289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7132320" cy="5303520"/>
            </a:xfrm>
            <a:custGeom>
              <a:avLst/>
              <a:gdLst/>
              <a:ahLst/>
              <a:cxnLst/>
              <a:rect r="r" b="b" t="t" l="l"/>
              <a:pathLst>
                <a:path h="5303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303520"/>
                  </a:lnTo>
                  <a:lnTo>
                    <a:pt x="0" y="530352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57720" cy="5328920"/>
            </a:xfrm>
            <a:custGeom>
              <a:avLst/>
              <a:gdLst/>
              <a:ahLst/>
              <a:cxnLst/>
              <a:rect r="r" b="b" t="t" l="l"/>
              <a:pathLst>
                <a:path h="5328920" w="7157720">
                  <a:moveTo>
                    <a:pt x="12700" y="0"/>
                  </a:moveTo>
                  <a:lnTo>
                    <a:pt x="7145020" y="0"/>
                  </a:lnTo>
                  <a:cubicBezTo>
                    <a:pt x="7152005" y="0"/>
                    <a:pt x="7157720" y="5715"/>
                    <a:pt x="7157720" y="12700"/>
                  </a:cubicBezTo>
                  <a:lnTo>
                    <a:pt x="7157720" y="5316220"/>
                  </a:lnTo>
                  <a:cubicBezTo>
                    <a:pt x="7157720" y="5323205"/>
                    <a:pt x="7152005" y="5328920"/>
                    <a:pt x="7145020" y="5328920"/>
                  </a:cubicBezTo>
                  <a:lnTo>
                    <a:pt x="12700" y="5328920"/>
                  </a:lnTo>
                  <a:cubicBezTo>
                    <a:pt x="5715" y="5328920"/>
                    <a:pt x="0" y="5323205"/>
                    <a:pt x="0" y="53162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316220"/>
                  </a:lnTo>
                  <a:lnTo>
                    <a:pt x="12700" y="5316220"/>
                  </a:lnTo>
                  <a:lnTo>
                    <a:pt x="12700" y="5303520"/>
                  </a:lnTo>
                  <a:lnTo>
                    <a:pt x="7145020" y="5303520"/>
                  </a:lnTo>
                  <a:lnTo>
                    <a:pt x="7145020" y="5316220"/>
                  </a:lnTo>
                  <a:lnTo>
                    <a:pt x="7132320" y="5316220"/>
                  </a:lnTo>
                  <a:lnTo>
                    <a:pt x="7132320" y="12700"/>
                  </a:lnTo>
                  <a:lnTo>
                    <a:pt x="7145020" y="12700"/>
                  </a:lnTo>
                  <a:lnTo>
                    <a:pt x="71450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5CED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562975" y="1773555"/>
            <a:ext cx="1116330" cy="1116330"/>
            <a:chOff x="0" y="0"/>
            <a:chExt cx="1488440" cy="1488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2700" y="1270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121A2F">
                <a:alpha val="30980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lnTo>
                    <a:pt x="744220" y="12700"/>
                  </a:lnTo>
                  <a:lnTo>
                    <a:pt x="744220" y="0"/>
                  </a:lnTo>
                  <a:cubicBezTo>
                    <a:pt x="1155192" y="0"/>
                    <a:pt x="1488440" y="333248"/>
                    <a:pt x="1488440" y="744220"/>
                  </a:cubicBezTo>
                  <a:lnTo>
                    <a:pt x="1475740" y="744220"/>
                  </a:lnTo>
                  <a:lnTo>
                    <a:pt x="1488440" y="744220"/>
                  </a:lnTo>
                  <a:cubicBezTo>
                    <a:pt x="1488440" y="1155192"/>
                    <a:pt x="1155192" y="1488440"/>
                    <a:pt x="744220" y="1488440"/>
                  </a:cubicBezTo>
                  <a:lnTo>
                    <a:pt x="744220" y="1475740"/>
                  </a:lnTo>
                  <a:lnTo>
                    <a:pt x="744220" y="1488440"/>
                  </a:lnTo>
                  <a:cubicBezTo>
                    <a:pt x="333248" y="1488440"/>
                    <a:pt x="0" y="1155192"/>
                    <a:pt x="0" y="744220"/>
                  </a:cubicBezTo>
                  <a:lnTo>
                    <a:pt x="12700" y="744220"/>
                  </a:lnTo>
                  <a:lnTo>
                    <a:pt x="25400" y="744220"/>
                  </a:lnTo>
                  <a:lnTo>
                    <a:pt x="12700" y="744220"/>
                  </a:lnTo>
                  <a:lnTo>
                    <a:pt x="0" y="744220"/>
                  </a:lnTo>
                  <a:moveTo>
                    <a:pt x="25400" y="744220"/>
                  </a:moveTo>
                  <a:cubicBezTo>
                    <a:pt x="25400" y="751205"/>
                    <a:pt x="19685" y="756920"/>
                    <a:pt x="12700" y="756920"/>
                  </a:cubicBezTo>
                  <a:cubicBezTo>
                    <a:pt x="5715" y="756920"/>
                    <a:pt x="0" y="751205"/>
                    <a:pt x="0" y="744220"/>
                  </a:cubicBezTo>
                  <a:cubicBezTo>
                    <a:pt x="0" y="737235"/>
                    <a:pt x="5715" y="731520"/>
                    <a:pt x="12700" y="731520"/>
                  </a:cubicBezTo>
                  <a:cubicBezTo>
                    <a:pt x="19685" y="731520"/>
                    <a:pt x="25400" y="737235"/>
                    <a:pt x="25400" y="744220"/>
                  </a:cubicBezTo>
                  <a:cubicBezTo>
                    <a:pt x="25400" y="1141222"/>
                    <a:pt x="347218" y="1463040"/>
                    <a:pt x="744220" y="1463040"/>
                  </a:cubicBezTo>
                  <a:cubicBezTo>
                    <a:pt x="1141222" y="1463040"/>
                    <a:pt x="1463040" y="1141222"/>
                    <a:pt x="1463040" y="744220"/>
                  </a:cubicBezTo>
                  <a:cubicBezTo>
                    <a:pt x="1463040" y="347218"/>
                    <a:pt x="1141222" y="25400"/>
                    <a:pt x="744220" y="25400"/>
                  </a:cubicBezTo>
                  <a:lnTo>
                    <a:pt x="744220" y="12700"/>
                  </a:lnTo>
                  <a:lnTo>
                    <a:pt x="744220" y="25400"/>
                  </a:lnTo>
                  <a:cubicBezTo>
                    <a:pt x="347218" y="25400"/>
                    <a:pt x="25400" y="347218"/>
                    <a:pt x="25400" y="744220"/>
                  </a:cubicBezTo>
                  <a:close/>
                </a:path>
              </a:pathLst>
            </a:custGeom>
            <a:solidFill>
              <a:srgbClr val="121A2F">
                <a:alpha val="30980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572500" y="1783080"/>
            <a:ext cx="1097280" cy="1097280"/>
            <a:chOff x="0" y="0"/>
            <a:chExt cx="1463040" cy="1463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46304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652260" y="3086100"/>
            <a:ext cx="4937760" cy="623384"/>
            <a:chOff x="0" y="0"/>
            <a:chExt cx="6583680" cy="83117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83680" cy="831179"/>
            </a:xfrm>
            <a:custGeom>
              <a:avLst/>
              <a:gdLst/>
              <a:ahLst/>
              <a:cxnLst/>
              <a:rect r="r" b="b" t="t" l="l"/>
              <a:pathLst>
                <a:path h="831179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31179"/>
                  </a:lnTo>
                  <a:lnTo>
                    <a:pt x="0" y="8311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5834" r="0" b="-9284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6583680" cy="840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39"/>
                </a:lnSpc>
              </a:pPr>
              <a:r>
                <a:rPr lang="en-US" b="true" sz="2949">
                  <a:gradFill>
                    <a:gsLst>
                      <a:gs pos="0">
                        <a:srgbClr val="D4AF37">
                          <a:alpha val="100000"/>
                        </a:srgbClr>
                      </a:gs>
                      <a:gs pos="100000">
                        <a:srgbClr val="8D763B">
                          <a:alpha val="100000"/>
                        </a:srgbClr>
                      </a:gs>
                    </a:gsLst>
                    <a:lin ang="54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Win 2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6812280" y="3871409"/>
            <a:ext cx="46177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i="true">
                <a:solidFill>
                  <a:srgbClr val="F4F6FA"/>
                </a:solidFill>
                <a:latin typeface="Exo 2 Italics"/>
                <a:ea typeface="Exo 2 Italics"/>
                <a:cs typeface="Exo 2 Italics"/>
                <a:sym typeface="Exo 2 Italics"/>
              </a:rPr>
              <a:t>Describe the win here — key result, milestone, or metric achieved.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403455" y="1567815"/>
            <a:ext cx="5368290" cy="3996690"/>
            <a:chOff x="0" y="0"/>
            <a:chExt cx="7157720" cy="53289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2700" y="12700"/>
              <a:ext cx="7132320" cy="5303520"/>
            </a:xfrm>
            <a:custGeom>
              <a:avLst/>
              <a:gdLst/>
              <a:ahLst/>
              <a:cxnLst/>
              <a:rect r="r" b="b" t="t" l="l"/>
              <a:pathLst>
                <a:path h="5303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303520"/>
                  </a:lnTo>
                  <a:lnTo>
                    <a:pt x="0" y="530352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157720" cy="5328920"/>
            </a:xfrm>
            <a:custGeom>
              <a:avLst/>
              <a:gdLst/>
              <a:ahLst/>
              <a:cxnLst/>
              <a:rect r="r" b="b" t="t" l="l"/>
              <a:pathLst>
                <a:path h="5328920" w="7157720">
                  <a:moveTo>
                    <a:pt x="12700" y="0"/>
                  </a:moveTo>
                  <a:lnTo>
                    <a:pt x="7145020" y="0"/>
                  </a:lnTo>
                  <a:cubicBezTo>
                    <a:pt x="7152005" y="0"/>
                    <a:pt x="7157720" y="5715"/>
                    <a:pt x="7157720" y="12700"/>
                  </a:cubicBezTo>
                  <a:lnTo>
                    <a:pt x="7157720" y="5316220"/>
                  </a:lnTo>
                  <a:cubicBezTo>
                    <a:pt x="7157720" y="5323205"/>
                    <a:pt x="7152005" y="5328920"/>
                    <a:pt x="7145020" y="5328920"/>
                  </a:cubicBezTo>
                  <a:lnTo>
                    <a:pt x="12700" y="5328920"/>
                  </a:lnTo>
                  <a:cubicBezTo>
                    <a:pt x="5715" y="5328920"/>
                    <a:pt x="0" y="5323205"/>
                    <a:pt x="0" y="53162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316220"/>
                  </a:lnTo>
                  <a:lnTo>
                    <a:pt x="12700" y="5316220"/>
                  </a:lnTo>
                  <a:lnTo>
                    <a:pt x="12700" y="5303520"/>
                  </a:lnTo>
                  <a:lnTo>
                    <a:pt x="7145020" y="5303520"/>
                  </a:lnTo>
                  <a:lnTo>
                    <a:pt x="7145020" y="5316220"/>
                  </a:lnTo>
                  <a:lnTo>
                    <a:pt x="7132320" y="5316220"/>
                  </a:lnTo>
                  <a:lnTo>
                    <a:pt x="7132320" y="12700"/>
                  </a:lnTo>
                  <a:lnTo>
                    <a:pt x="7145020" y="12700"/>
                  </a:lnTo>
                  <a:lnTo>
                    <a:pt x="71450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5CED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529435" y="1773555"/>
            <a:ext cx="1116330" cy="1116330"/>
            <a:chOff x="0" y="0"/>
            <a:chExt cx="1488440" cy="1488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2700" y="1270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121A2F">
                <a:alpha val="30980"/>
              </a:srgbClr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lnTo>
                    <a:pt x="744220" y="12700"/>
                  </a:lnTo>
                  <a:lnTo>
                    <a:pt x="744220" y="0"/>
                  </a:lnTo>
                  <a:cubicBezTo>
                    <a:pt x="1155192" y="0"/>
                    <a:pt x="1488440" y="333248"/>
                    <a:pt x="1488440" y="744220"/>
                  </a:cubicBezTo>
                  <a:lnTo>
                    <a:pt x="1475740" y="744220"/>
                  </a:lnTo>
                  <a:lnTo>
                    <a:pt x="1488440" y="744220"/>
                  </a:lnTo>
                  <a:cubicBezTo>
                    <a:pt x="1488440" y="1155192"/>
                    <a:pt x="1155192" y="1488440"/>
                    <a:pt x="744220" y="1488440"/>
                  </a:cubicBezTo>
                  <a:lnTo>
                    <a:pt x="744220" y="1475740"/>
                  </a:lnTo>
                  <a:lnTo>
                    <a:pt x="744220" y="1488440"/>
                  </a:lnTo>
                  <a:cubicBezTo>
                    <a:pt x="333248" y="1488440"/>
                    <a:pt x="0" y="1155192"/>
                    <a:pt x="0" y="744220"/>
                  </a:cubicBezTo>
                  <a:lnTo>
                    <a:pt x="12700" y="744220"/>
                  </a:lnTo>
                  <a:lnTo>
                    <a:pt x="25400" y="744220"/>
                  </a:lnTo>
                  <a:lnTo>
                    <a:pt x="12700" y="744220"/>
                  </a:lnTo>
                  <a:lnTo>
                    <a:pt x="0" y="744220"/>
                  </a:lnTo>
                  <a:moveTo>
                    <a:pt x="25400" y="744220"/>
                  </a:moveTo>
                  <a:cubicBezTo>
                    <a:pt x="25400" y="751205"/>
                    <a:pt x="19685" y="756920"/>
                    <a:pt x="12700" y="756920"/>
                  </a:cubicBezTo>
                  <a:cubicBezTo>
                    <a:pt x="5715" y="756920"/>
                    <a:pt x="0" y="751205"/>
                    <a:pt x="0" y="744220"/>
                  </a:cubicBezTo>
                  <a:cubicBezTo>
                    <a:pt x="0" y="737235"/>
                    <a:pt x="5715" y="731520"/>
                    <a:pt x="12700" y="731520"/>
                  </a:cubicBezTo>
                  <a:cubicBezTo>
                    <a:pt x="19685" y="731520"/>
                    <a:pt x="25400" y="737235"/>
                    <a:pt x="25400" y="744220"/>
                  </a:cubicBezTo>
                  <a:cubicBezTo>
                    <a:pt x="25400" y="1141222"/>
                    <a:pt x="347218" y="1463040"/>
                    <a:pt x="744220" y="1463040"/>
                  </a:cubicBezTo>
                  <a:cubicBezTo>
                    <a:pt x="1141222" y="1463040"/>
                    <a:pt x="1463040" y="1141222"/>
                    <a:pt x="1463040" y="744220"/>
                  </a:cubicBezTo>
                  <a:cubicBezTo>
                    <a:pt x="1463040" y="347218"/>
                    <a:pt x="1141222" y="25400"/>
                    <a:pt x="744220" y="25400"/>
                  </a:cubicBezTo>
                  <a:lnTo>
                    <a:pt x="744220" y="12700"/>
                  </a:lnTo>
                  <a:lnTo>
                    <a:pt x="744220" y="25400"/>
                  </a:lnTo>
                  <a:cubicBezTo>
                    <a:pt x="347218" y="25400"/>
                    <a:pt x="25400" y="347218"/>
                    <a:pt x="25400" y="744220"/>
                  </a:cubicBezTo>
                  <a:close/>
                </a:path>
              </a:pathLst>
            </a:custGeom>
            <a:solidFill>
              <a:srgbClr val="121A2F">
                <a:alpha val="30980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4538960" y="1783080"/>
            <a:ext cx="1097280" cy="1097280"/>
            <a:chOff x="0" y="0"/>
            <a:chExt cx="1463040" cy="14630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46304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618720" y="3086100"/>
            <a:ext cx="4937760" cy="623384"/>
            <a:chOff x="0" y="0"/>
            <a:chExt cx="6583680" cy="83117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83680" cy="831179"/>
            </a:xfrm>
            <a:custGeom>
              <a:avLst/>
              <a:gdLst/>
              <a:ahLst/>
              <a:cxnLst/>
              <a:rect r="r" b="b" t="t" l="l"/>
              <a:pathLst>
                <a:path h="831179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31179"/>
                  </a:lnTo>
                  <a:lnTo>
                    <a:pt x="0" y="8311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5834" r="0" b="-9284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6583680" cy="840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39"/>
                </a:lnSpc>
              </a:pPr>
              <a:r>
                <a:rPr lang="en-US" b="true" sz="2949">
                  <a:gradFill>
                    <a:gsLst>
                      <a:gs pos="0">
                        <a:srgbClr val="D4AF37">
                          <a:alpha val="100000"/>
                        </a:srgbClr>
                      </a:gs>
                      <a:gs pos="100000">
                        <a:srgbClr val="8D763B">
                          <a:alpha val="100000"/>
                        </a:srgbClr>
                      </a:gs>
                    </a:gsLst>
                    <a:lin ang="54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Win 3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2778740" y="3871409"/>
            <a:ext cx="46177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i="true">
                <a:solidFill>
                  <a:srgbClr val="F4F6FA"/>
                </a:solidFill>
                <a:latin typeface="Exo 2 Italics"/>
                <a:ea typeface="Exo 2 Italics"/>
                <a:cs typeface="Exo 2 Italics"/>
                <a:sym typeface="Exo 2 Italics"/>
              </a:rPr>
              <a:t>Describe the win here — key result, milestone, or metric achieved.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15711491" y="9398509"/>
            <a:ext cx="1547809" cy="550332"/>
          </a:xfrm>
          <a:custGeom>
            <a:avLst/>
            <a:gdLst/>
            <a:ahLst/>
            <a:cxnLst/>
            <a:rect r="r" b="b" t="t" l="l"/>
            <a:pathLst>
              <a:path h="550332" w="1547809">
                <a:moveTo>
                  <a:pt x="0" y="0"/>
                </a:moveTo>
                <a:lnTo>
                  <a:pt x="1547809" y="0"/>
                </a:lnTo>
                <a:lnTo>
                  <a:pt x="1547809" y="550332"/>
                </a:lnTo>
                <a:lnTo>
                  <a:pt x="0" y="5503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5441807" y="505082"/>
            <a:ext cx="1817493" cy="523618"/>
          </a:xfrm>
          <a:custGeom>
            <a:avLst/>
            <a:gdLst/>
            <a:ahLst/>
            <a:cxnLst/>
            <a:rect r="r" b="b" t="t" l="l"/>
            <a:pathLst>
              <a:path h="523618" w="1817493">
                <a:moveTo>
                  <a:pt x="0" y="0"/>
                </a:moveTo>
                <a:lnTo>
                  <a:pt x="1817493" y="0"/>
                </a:lnTo>
                <a:lnTo>
                  <a:pt x="1817493" y="523618"/>
                </a:lnTo>
                <a:lnTo>
                  <a:pt x="0" y="5236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2700" y="12700"/>
              <a:ext cx="128016" cy="950976"/>
            </a:xfrm>
            <a:custGeom>
              <a:avLst/>
              <a:gdLst/>
              <a:ahLst/>
              <a:cxnLst/>
              <a:rect r="r" b="b" t="t" l="l"/>
              <a:pathLst>
                <a:path h="950976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950976"/>
                  </a:lnTo>
                  <a:lnTo>
                    <a:pt x="0" y="950976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12700" y="0"/>
                  </a:moveTo>
                  <a:lnTo>
                    <a:pt x="140716" y="0"/>
                  </a:lnTo>
                  <a:cubicBezTo>
                    <a:pt x="147701" y="0"/>
                    <a:pt x="153416" y="5715"/>
                    <a:pt x="153416" y="12700"/>
                  </a:cubicBezTo>
                  <a:lnTo>
                    <a:pt x="153416" y="963676"/>
                  </a:lnTo>
                  <a:cubicBezTo>
                    <a:pt x="153416" y="970661"/>
                    <a:pt x="147701" y="976376"/>
                    <a:pt x="140716" y="976376"/>
                  </a:cubicBezTo>
                  <a:lnTo>
                    <a:pt x="12700" y="976376"/>
                  </a:lnTo>
                  <a:cubicBezTo>
                    <a:pt x="5715" y="976376"/>
                    <a:pt x="0" y="970661"/>
                    <a:pt x="0" y="96367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63676"/>
                  </a:lnTo>
                  <a:lnTo>
                    <a:pt x="12700" y="963676"/>
                  </a:lnTo>
                  <a:lnTo>
                    <a:pt x="12700" y="950976"/>
                  </a:lnTo>
                  <a:lnTo>
                    <a:pt x="140716" y="950976"/>
                  </a:lnTo>
                  <a:lnTo>
                    <a:pt x="140716" y="963676"/>
                  </a:lnTo>
                  <a:lnTo>
                    <a:pt x="128016" y="963676"/>
                  </a:lnTo>
                  <a:lnTo>
                    <a:pt x="128016" y="12700"/>
                  </a:lnTo>
                  <a:lnTo>
                    <a:pt x="140716" y="12700"/>
                  </a:lnTo>
                  <a:lnTo>
                    <a:pt x="140716" y="25400"/>
                  </a:lnTo>
                  <a:lnTo>
                    <a:pt x="12700" y="2540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82160" y="9806940"/>
            <a:ext cx="548640" cy="301752"/>
            <a:chOff x="0" y="0"/>
            <a:chExt cx="731520" cy="402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566" t="0" r="-20566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73152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A6A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128016" cy="950976"/>
            </a:xfrm>
            <a:custGeom>
              <a:avLst/>
              <a:gdLst/>
              <a:ahLst/>
              <a:cxnLst/>
              <a:rect r="r" b="b" t="t" l="l"/>
              <a:pathLst>
                <a:path h="950976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B8942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12700" y="0"/>
                  </a:moveTo>
                  <a:lnTo>
                    <a:pt x="140716" y="0"/>
                  </a:lnTo>
                  <a:cubicBezTo>
                    <a:pt x="147701" y="0"/>
                    <a:pt x="153416" y="5715"/>
                    <a:pt x="153416" y="12700"/>
                  </a:cubicBezTo>
                  <a:lnTo>
                    <a:pt x="153416" y="963676"/>
                  </a:lnTo>
                  <a:cubicBezTo>
                    <a:pt x="153416" y="970661"/>
                    <a:pt x="147701" y="976376"/>
                    <a:pt x="140716" y="976376"/>
                  </a:cubicBezTo>
                  <a:lnTo>
                    <a:pt x="12700" y="976376"/>
                  </a:lnTo>
                  <a:cubicBezTo>
                    <a:pt x="5715" y="976376"/>
                    <a:pt x="0" y="970661"/>
                    <a:pt x="0" y="96367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63676"/>
                  </a:lnTo>
                  <a:lnTo>
                    <a:pt x="12700" y="963676"/>
                  </a:lnTo>
                  <a:lnTo>
                    <a:pt x="12700" y="950976"/>
                  </a:lnTo>
                  <a:lnTo>
                    <a:pt x="140716" y="950976"/>
                  </a:lnTo>
                  <a:lnTo>
                    <a:pt x="140716" y="963676"/>
                  </a:lnTo>
                  <a:lnTo>
                    <a:pt x="128016" y="963676"/>
                  </a:lnTo>
                  <a:lnTo>
                    <a:pt x="128016" y="12700"/>
                  </a:lnTo>
                  <a:lnTo>
                    <a:pt x="140716" y="12700"/>
                  </a:lnTo>
                  <a:lnTo>
                    <a:pt x="140716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B8942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3232" y="658368"/>
            <a:ext cx="12344400" cy="822851"/>
            <a:chOff x="0" y="0"/>
            <a:chExt cx="16459200" cy="10971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1097134"/>
            </a:xfrm>
            <a:custGeom>
              <a:avLst/>
              <a:gdLst/>
              <a:ahLst/>
              <a:cxnLst/>
              <a:rect r="r" b="b" t="t" l="l"/>
              <a:pathLst>
                <a:path h="1097134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134"/>
                  </a:lnTo>
                  <a:lnTo>
                    <a:pt x="0" y="10971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975" r="0" b="-23565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6459200" cy="1106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Issues &amp; Blockers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480060" y="1577340"/>
          <a:ext cx="17259300" cy="6024041"/>
        </p:xfrm>
        <a:graphic>
          <a:graphicData uri="http://schemas.openxmlformats.org/drawingml/2006/table">
            <a:tbl>
              <a:tblPr/>
              <a:tblGrid>
                <a:gridCol w="7890264"/>
                <a:gridCol w="2006115"/>
                <a:gridCol w="2402321"/>
                <a:gridCol w="2665377"/>
                <a:gridCol w="2295223"/>
              </a:tblGrid>
              <a:tr h="7474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9"/>
                        </a:lnSpc>
                        <a:defRPr/>
                      </a:pPr>
                      <a:r>
                        <a:rPr lang="en-US" b="true" sz="2149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Issue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9"/>
                        </a:lnSpc>
                        <a:defRPr/>
                      </a:pPr>
                      <a:r>
                        <a:rPr lang="en-US" b="true" sz="2149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Category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9"/>
                        </a:lnSpc>
                        <a:defRPr/>
                      </a:pPr>
                      <a:r>
                        <a:rPr lang="en-US" b="true" sz="2149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Impact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9"/>
                        </a:lnSpc>
                        <a:defRPr/>
                      </a:pPr>
                      <a:r>
                        <a:rPr lang="en-US" b="true" sz="2149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Owner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9"/>
                        </a:lnSpc>
                        <a:defRPr/>
                      </a:pPr>
                      <a:r>
                        <a:rPr lang="en-US" b="true" sz="2149">
                          <a:solidFill>
                            <a:srgbClr val="FFFFFF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Status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3C61B6">
                            <a:alpha val="100000"/>
                          </a:srgbClr>
                        </a:gs>
                        <a:gs pos="100000">
                          <a:srgbClr val="121C36">
                            <a:alpha val="100000"/>
                          </a:srgbClr>
                        </a:gs>
                      </a:gsLst>
                      <a:path path="circle">
                        <a:fillToRect l="0" r="100000" t="0" b="100000"/>
                      </a:path>
                      <a:tileRect r="0" l="-100000" b="0" t="-100000"/>
                    </a:gradFill>
                  </a:tcPr>
                </a:tc>
              </a:tr>
              <a:tr h="27151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39"/>
                        </a:lnSpc>
                        <a:defRPr/>
                      </a:pPr>
                      <a:r>
                        <a:rPr lang="en-US" sz="1949" b="true">
                          <a:solidFill>
                            <a:srgbClr val="5A6A85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High drop-off at Phone Verification: </a:t>
                      </a:r>
                      <a:r>
                        <a:rPr lang="en-US" sz="19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42% of stalled users never complete KYC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39"/>
                        </a:lnSpc>
                        <a:defRPr/>
                      </a:pPr>
                      <a:r>
                        <a:rPr lang="en-US" sz="19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Onboarding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39"/>
                        </a:lnSpc>
                        <a:defRPr/>
                      </a:pPr>
                      <a:r>
                        <a:rPr lang="en-US" sz="1949" b="true">
                          <a:solidFill>
                            <a:srgbClr val="C0392B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39"/>
                        </a:lnSpc>
                        <a:defRPr/>
                      </a:pPr>
                      <a:r>
                        <a:rPr lang="en-US" sz="19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Client Solution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39"/>
                        </a:lnSpc>
                        <a:defRPr/>
                      </a:pPr>
                      <a:r>
                        <a:rPr lang="en-US" sz="1949" b="true">
                          <a:solidFill>
                            <a:srgbClr val="8B6914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In Progress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</a:tr>
              <a:tr h="25614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39"/>
                        </a:lnSpc>
                        <a:defRPr/>
                      </a:pPr>
                      <a:r>
                        <a:rPr lang="en-US" sz="1949" b="true">
                          <a:solidFill>
                            <a:srgbClr val="5A6A85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Approved-to-Funded Gap:</a:t>
                      </a:r>
                      <a:r>
                        <a:rPr lang="en-US" sz="19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 4 approved accounts remain unfunded, representing 67% of all approved accounts.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39"/>
                        </a:lnSpc>
                        <a:defRPr/>
                      </a:pPr>
                      <a:r>
                        <a:rPr lang="en-US" sz="19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Deposit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39"/>
                        </a:lnSpc>
                        <a:defRPr/>
                      </a:pPr>
                      <a:r>
                        <a:rPr lang="en-US" sz="1949" b="true">
                          <a:solidFill>
                            <a:srgbClr val="C0392B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39"/>
                        </a:lnSpc>
                        <a:defRPr/>
                      </a:pPr>
                      <a:r>
                        <a:rPr lang="en-US" sz="1949">
                          <a:solidFill>
                            <a:srgbClr val="5A6A8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Client Solution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39"/>
                        </a:lnSpc>
                        <a:defRPr/>
                      </a:pPr>
                      <a:r>
                        <a:rPr lang="en-US" sz="1949" b="true">
                          <a:solidFill>
                            <a:srgbClr val="8B6914"/>
                          </a:solidFill>
                          <a:latin typeface="Exo 2 Bold"/>
                          <a:ea typeface="Exo 2 Bold"/>
                          <a:cs typeface="Exo 2 Bold"/>
                          <a:sym typeface="Exo 2 Bold"/>
                        </a:rPr>
                        <a:t>In Progress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457200" y="7752613"/>
            <a:ext cx="17282160" cy="384048"/>
            <a:chOff x="0" y="0"/>
            <a:chExt cx="23042880" cy="5120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42880" cy="512064"/>
            </a:xfrm>
            <a:custGeom>
              <a:avLst/>
              <a:gdLst/>
              <a:ahLst/>
              <a:cxnLst/>
              <a:rect r="r" b="b" t="t" l="l"/>
              <a:pathLst>
                <a:path h="512064" w="23042880">
                  <a:moveTo>
                    <a:pt x="0" y="0"/>
                  </a:moveTo>
                  <a:lnTo>
                    <a:pt x="23042880" y="0"/>
                  </a:lnTo>
                  <a:lnTo>
                    <a:pt x="230428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6826" r="0" b="-82682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304288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i="true">
                  <a:solidFill>
                    <a:srgbClr val="5A6A85"/>
                  </a:solidFill>
                  <a:latin typeface="Exo 2 Italics"/>
                  <a:ea typeface="Exo 2 Italics"/>
                  <a:cs typeface="Exo 2 Italics"/>
                  <a:sym typeface="Exo 2 Italics"/>
                </a:rPr>
                <a:t>Status key:  Open = unresolved   |   In Progress = being worked on   |   Resolved = completed this month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711491" y="9398509"/>
            <a:ext cx="1547809" cy="550332"/>
          </a:xfrm>
          <a:custGeom>
            <a:avLst/>
            <a:gdLst/>
            <a:ahLst/>
            <a:cxnLst/>
            <a:rect r="r" b="b" t="t" l="l"/>
            <a:pathLst>
              <a:path h="550332" w="1547809">
                <a:moveTo>
                  <a:pt x="0" y="0"/>
                </a:moveTo>
                <a:lnTo>
                  <a:pt x="1547809" y="0"/>
                </a:lnTo>
                <a:lnTo>
                  <a:pt x="1547809" y="550332"/>
                </a:lnTo>
                <a:lnTo>
                  <a:pt x="0" y="5503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441807" y="505082"/>
            <a:ext cx="1817493" cy="523618"/>
          </a:xfrm>
          <a:custGeom>
            <a:avLst/>
            <a:gdLst/>
            <a:ahLst/>
            <a:cxnLst/>
            <a:rect r="r" b="b" t="t" l="l"/>
            <a:pathLst>
              <a:path h="523618" w="1817493">
                <a:moveTo>
                  <a:pt x="0" y="0"/>
                </a:moveTo>
                <a:lnTo>
                  <a:pt x="1817493" y="0"/>
                </a:lnTo>
                <a:lnTo>
                  <a:pt x="1817493" y="523618"/>
                </a:lnTo>
                <a:lnTo>
                  <a:pt x="0" y="5236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128016" cy="950976"/>
            </a:xfrm>
            <a:custGeom>
              <a:avLst/>
              <a:gdLst/>
              <a:ahLst/>
              <a:cxnLst/>
              <a:rect r="r" b="b" t="t" l="l"/>
              <a:pathLst>
                <a:path h="950976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950976"/>
                  </a:lnTo>
                  <a:lnTo>
                    <a:pt x="0" y="950976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12700" y="0"/>
                  </a:moveTo>
                  <a:lnTo>
                    <a:pt x="140716" y="0"/>
                  </a:lnTo>
                  <a:cubicBezTo>
                    <a:pt x="147701" y="0"/>
                    <a:pt x="153416" y="5715"/>
                    <a:pt x="153416" y="12700"/>
                  </a:cubicBezTo>
                  <a:lnTo>
                    <a:pt x="153416" y="963676"/>
                  </a:lnTo>
                  <a:cubicBezTo>
                    <a:pt x="153416" y="970661"/>
                    <a:pt x="147701" y="976376"/>
                    <a:pt x="140716" y="976376"/>
                  </a:cubicBezTo>
                  <a:lnTo>
                    <a:pt x="12700" y="976376"/>
                  </a:lnTo>
                  <a:cubicBezTo>
                    <a:pt x="5715" y="976376"/>
                    <a:pt x="0" y="970661"/>
                    <a:pt x="0" y="96367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63676"/>
                  </a:lnTo>
                  <a:lnTo>
                    <a:pt x="12700" y="963676"/>
                  </a:lnTo>
                  <a:lnTo>
                    <a:pt x="12700" y="950976"/>
                  </a:lnTo>
                  <a:lnTo>
                    <a:pt x="140716" y="950976"/>
                  </a:lnTo>
                  <a:lnTo>
                    <a:pt x="140716" y="963676"/>
                  </a:lnTo>
                  <a:lnTo>
                    <a:pt x="128016" y="963676"/>
                  </a:lnTo>
                  <a:lnTo>
                    <a:pt x="128016" y="12700"/>
                  </a:lnTo>
                  <a:lnTo>
                    <a:pt x="140716" y="12700"/>
                  </a:lnTo>
                  <a:lnTo>
                    <a:pt x="140716" y="25400"/>
                  </a:lnTo>
                  <a:lnTo>
                    <a:pt x="12700" y="2540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1618" y="6428037"/>
            <a:ext cx="8712203" cy="2860043"/>
            <a:chOff x="0" y="0"/>
            <a:chExt cx="11616271" cy="381339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1616271" cy="3813391"/>
              <a:chOff x="0" y="0"/>
              <a:chExt cx="11616271" cy="381339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1616309" cy="3813429"/>
              </a:xfrm>
              <a:custGeom>
                <a:avLst/>
                <a:gdLst/>
                <a:ahLst/>
                <a:cxnLst/>
                <a:rect r="r" b="b" t="t" l="l"/>
                <a:pathLst>
                  <a:path h="3813429" w="11616309">
                    <a:moveTo>
                      <a:pt x="0" y="0"/>
                    </a:moveTo>
                    <a:lnTo>
                      <a:pt x="11616309" y="0"/>
                    </a:lnTo>
                    <a:lnTo>
                      <a:pt x="11616309" y="3813429"/>
                    </a:lnTo>
                    <a:lnTo>
                      <a:pt x="0" y="381342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D0D8E8"/>
                </a:solidFill>
                <a:prstDash val="solid"/>
                <a:miter/>
              </a:ln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0" y="0"/>
              <a:ext cx="1057999" cy="3813391"/>
              <a:chOff x="0" y="0"/>
              <a:chExt cx="1057999" cy="3813391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58037" cy="3813429"/>
              </a:xfrm>
              <a:custGeom>
                <a:avLst/>
                <a:gdLst/>
                <a:ahLst/>
                <a:cxnLst/>
                <a:rect r="r" b="b" t="t" l="l"/>
                <a:pathLst>
                  <a:path h="3813429" w="1058037">
                    <a:moveTo>
                      <a:pt x="0" y="0"/>
                    </a:moveTo>
                    <a:lnTo>
                      <a:pt x="1058037" y="0"/>
                    </a:lnTo>
                    <a:lnTo>
                      <a:pt x="1058037" y="3813429"/>
                    </a:lnTo>
                    <a:lnTo>
                      <a:pt x="0" y="381342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C61B6">
                      <a:alpha val="100000"/>
                    </a:srgbClr>
                  </a:gs>
                  <a:gs pos="100000">
                    <a:srgbClr val="121C36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25400" cap="sq">
                <a:gradFill>
                  <a:gsLst>
                    <a:gs pos="0">
                      <a:srgbClr val="3C61B6">
                        <a:alpha val="100000"/>
                      </a:srgbClr>
                    </a:gs>
                    <a:gs pos="100000">
                      <a:srgbClr val="121C36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6929" y="16929"/>
              <a:ext cx="1024128" cy="3779520"/>
              <a:chOff x="0" y="0"/>
              <a:chExt cx="1024128" cy="377952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24128" cy="3779520"/>
              </a:xfrm>
              <a:custGeom>
                <a:avLst/>
                <a:gdLst/>
                <a:ahLst/>
                <a:cxnLst/>
                <a:rect r="r" b="b" t="t" l="l"/>
                <a:pathLst>
                  <a:path h="3779520" w="1024128">
                    <a:moveTo>
                      <a:pt x="0" y="0"/>
                    </a:moveTo>
                    <a:lnTo>
                      <a:pt x="1024128" y="0"/>
                    </a:lnTo>
                    <a:lnTo>
                      <a:pt x="1024128" y="3779520"/>
                    </a:lnTo>
                    <a:lnTo>
                      <a:pt x="0" y="377952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423501" t="0" r="-423501" b="0"/>
                </a:stretch>
              </a:blip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9525"/>
                <a:ext cx="1024128" cy="37890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C9A84C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02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236129" y="212001"/>
              <a:ext cx="10192512" cy="731520"/>
              <a:chOff x="0" y="0"/>
              <a:chExt cx="10192512" cy="73152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192512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10192512">
                    <a:moveTo>
                      <a:pt x="0" y="0"/>
                    </a:moveTo>
                    <a:lnTo>
                      <a:pt x="10192512" y="0"/>
                    </a:lnTo>
                    <a:lnTo>
                      <a:pt x="10192512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21491" r="0" b="-221491"/>
                </a:stretch>
              </a:blip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9525"/>
                <a:ext cx="10192512" cy="7410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59"/>
                  </a:lnSpc>
                </a:pPr>
                <a:r>
                  <a:rPr lang="en-US" sz="2299" b="true">
                    <a:solidFill>
                      <a:srgbClr val="1B2D4F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Fix the KYC restart problem</a:t>
                </a: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358049" y="1035342"/>
              <a:ext cx="9997440" cy="1849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8469" indent="-229235" lvl="1">
                <a:lnSpc>
                  <a:spcPts val="2849"/>
                </a:lnSpc>
                <a:buFont typeface="Arial"/>
                <a:buChar char="•"/>
              </a:pPr>
              <a:r>
                <a:rPr lang="en-US" sz="1899">
                  <a:solidFill>
                    <a:srgbClr val="4A5568"/>
                  </a:solidFill>
                  <a:latin typeface="Exo 2"/>
                  <a:ea typeface="Exo 2"/>
                  <a:cs typeface="Exo 2"/>
                  <a:sym typeface="Exo 2"/>
                </a:rPr>
                <a:t>Build a persistent KYC journey, users resume from their last completed step, not the beginning.</a:t>
              </a:r>
            </a:p>
            <a:p>
              <a:pPr algn="l" marL="458469" indent="-229235" lvl="1">
                <a:lnSpc>
                  <a:spcPts val="2849"/>
                </a:lnSpc>
                <a:buFont typeface="Arial"/>
                <a:buChar char="•"/>
              </a:pPr>
              <a:r>
                <a:rPr lang="en-US" sz="1899">
                  <a:solidFill>
                    <a:srgbClr val="4A5568"/>
                  </a:solidFill>
                  <a:latin typeface="Exo 2"/>
                  <a:ea typeface="Exo 2"/>
                  <a:cs typeface="Exo 2"/>
                  <a:sym typeface="Exo 2"/>
                </a:rPr>
                <a:t>Prevent a new journey being triggered each time the user taps 'Sign Up' again.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14178" y="1911540"/>
            <a:ext cx="8712203" cy="2860043"/>
            <a:chOff x="0" y="0"/>
            <a:chExt cx="11616271" cy="381339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1616271" cy="3813391"/>
              <a:chOff x="0" y="0"/>
              <a:chExt cx="11616271" cy="381339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1616309" cy="3813429"/>
              </a:xfrm>
              <a:custGeom>
                <a:avLst/>
                <a:gdLst/>
                <a:ahLst/>
                <a:cxnLst/>
                <a:rect r="r" b="b" t="t" l="l"/>
                <a:pathLst>
                  <a:path h="3813429" w="11616309">
                    <a:moveTo>
                      <a:pt x="0" y="0"/>
                    </a:moveTo>
                    <a:lnTo>
                      <a:pt x="11616309" y="0"/>
                    </a:lnTo>
                    <a:lnTo>
                      <a:pt x="11616309" y="3813429"/>
                    </a:lnTo>
                    <a:lnTo>
                      <a:pt x="0" y="381342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D0D8E8"/>
                </a:solidFill>
                <a:prstDash val="solid"/>
                <a:miter/>
              </a:ln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0"/>
              <a:ext cx="1057999" cy="3813391"/>
              <a:chOff x="0" y="0"/>
              <a:chExt cx="1057999" cy="381339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58037" cy="3813429"/>
              </a:xfrm>
              <a:custGeom>
                <a:avLst/>
                <a:gdLst/>
                <a:ahLst/>
                <a:cxnLst/>
                <a:rect r="r" b="b" t="t" l="l"/>
                <a:pathLst>
                  <a:path h="3813429" w="1058037">
                    <a:moveTo>
                      <a:pt x="0" y="0"/>
                    </a:moveTo>
                    <a:lnTo>
                      <a:pt x="1058037" y="0"/>
                    </a:lnTo>
                    <a:lnTo>
                      <a:pt x="1058037" y="3813429"/>
                    </a:lnTo>
                    <a:lnTo>
                      <a:pt x="0" y="381342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C61B6">
                      <a:alpha val="100000"/>
                    </a:srgbClr>
                  </a:gs>
                  <a:gs pos="100000">
                    <a:srgbClr val="121C36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25400" cap="sq">
                <a:gradFill>
                  <a:gsLst>
                    <a:gs pos="0">
                      <a:srgbClr val="3C61B6">
                        <a:alpha val="100000"/>
                      </a:srgbClr>
                    </a:gs>
                    <a:gs pos="100000">
                      <a:srgbClr val="121C36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16929" y="16929"/>
              <a:ext cx="1024128" cy="3779520"/>
              <a:chOff x="0" y="0"/>
              <a:chExt cx="1024128" cy="377952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24128" cy="3779520"/>
              </a:xfrm>
              <a:custGeom>
                <a:avLst/>
                <a:gdLst/>
                <a:ahLst/>
                <a:cxnLst/>
                <a:rect r="r" b="b" t="t" l="l"/>
                <a:pathLst>
                  <a:path h="3779520" w="1024128">
                    <a:moveTo>
                      <a:pt x="0" y="0"/>
                    </a:moveTo>
                    <a:lnTo>
                      <a:pt x="1024128" y="0"/>
                    </a:lnTo>
                    <a:lnTo>
                      <a:pt x="1024128" y="3779520"/>
                    </a:lnTo>
                    <a:lnTo>
                      <a:pt x="0" y="377952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423501" t="0" r="-423501" b="0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9525"/>
                <a:ext cx="1024128" cy="37890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C9A84C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03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236129" y="212001"/>
              <a:ext cx="10192512" cy="731520"/>
              <a:chOff x="0" y="0"/>
              <a:chExt cx="10192512" cy="73152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192512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10192512">
                    <a:moveTo>
                      <a:pt x="0" y="0"/>
                    </a:moveTo>
                    <a:lnTo>
                      <a:pt x="10192512" y="0"/>
                    </a:lnTo>
                    <a:lnTo>
                      <a:pt x="10192512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21491" r="0" b="-221491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9525"/>
                <a:ext cx="10192512" cy="7410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59"/>
                  </a:lnSpc>
                </a:pPr>
                <a:r>
                  <a:rPr lang="en-US" sz="2299" b="true">
                    <a:solidFill>
                      <a:srgbClr val="1B2D4F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Activation &amp; Trading Conversion Strategy</a:t>
                </a: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358049" y="1035342"/>
              <a:ext cx="9997440" cy="1849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8469" indent="-229235" lvl="1">
                <a:lnSpc>
                  <a:spcPts val="2849"/>
                </a:lnSpc>
                <a:buFont typeface="Arial"/>
                <a:buChar char="•"/>
              </a:pPr>
              <a:r>
                <a:rPr lang="en-US" sz="1899">
                  <a:solidFill>
                    <a:srgbClr val="4A5568"/>
                  </a:solidFill>
                  <a:latin typeface="Exo 2"/>
                  <a:ea typeface="Exo 2"/>
                  <a:cs typeface="Exo 2"/>
                  <a:sym typeface="Exo 2"/>
                </a:rPr>
                <a:t>Increas</a:t>
              </a:r>
              <a:r>
                <a:rPr lang="en-US" sz="1899">
                  <a:solidFill>
                    <a:srgbClr val="4A5568"/>
                  </a:solidFill>
                  <a:latin typeface="Exo 2"/>
                  <a:ea typeface="Exo 2"/>
                  <a:cs typeface="Exo 2"/>
                  <a:sym typeface="Exo 2"/>
                </a:rPr>
                <a:t>e proactive engagement with approved clients to improve first-trade conversion.</a:t>
              </a:r>
            </a:p>
            <a:p>
              <a:pPr algn="l" marL="458469" indent="-229235" lvl="1">
                <a:lnSpc>
                  <a:spcPts val="2849"/>
                </a:lnSpc>
                <a:buFont typeface="Arial"/>
                <a:buChar char="•"/>
              </a:pPr>
              <a:r>
                <a:rPr lang="en-US" sz="1899">
                  <a:solidFill>
                    <a:srgbClr val="4A5568"/>
                  </a:solidFill>
                  <a:latin typeface="Exo 2"/>
                  <a:ea typeface="Exo 2"/>
                  <a:cs typeface="Exo 2"/>
                  <a:sym typeface="Exo 2"/>
                </a:rPr>
                <a:t>Introduce timely reminders, either in-app or email to encourage trading activity among inactive approved clients.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14178" y="5392417"/>
            <a:ext cx="8712203" cy="3865883"/>
            <a:chOff x="0" y="0"/>
            <a:chExt cx="11616271" cy="5154511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1616271" cy="5154511"/>
              <a:chOff x="0" y="0"/>
              <a:chExt cx="11616271" cy="515451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1616309" cy="5154549"/>
              </a:xfrm>
              <a:custGeom>
                <a:avLst/>
                <a:gdLst/>
                <a:ahLst/>
                <a:cxnLst/>
                <a:rect r="r" b="b" t="t" l="l"/>
                <a:pathLst>
                  <a:path h="5154549" w="11616309">
                    <a:moveTo>
                      <a:pt x="0" y="0"/>
                    </a:moveTo>
                    <a:lnTo>
                      <a:pt x="11616309" y="0"/>
                    </a:lnTo>
                    <a:lnTo>
                      <a:pt x="11616309" y="5154549"/>
                    </a:lnTo>
                    <a:lnTo>
                      <a:pt x="0" y="515454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D0D8E8"/>
                </a:solidFill>
                <a:prstDash val="solid"/>
                <a:miter/>
              </a:ln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0"/>
              <a:ext cx="1057999" cy="5154511"/>
              <a:chOff x="0" y="0"/>
              <a:chExt cx="1057999" cy="515451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58037" cy="5154549"/>
              </a:xfrm>
              <a:custGeom>
                <a:avLst/>
                <a:gdLst/>
                <a:ahLst/>
                <a:cxnLst/>
                <a:rect r="r" b="b" t="t" l="l"/>
                <a:pathLst>
                  <a:path h="5154549" w="1058037">
                    <a:moveTo>
                      <a:pt x="0" y="0"/>
                    </a:moveTo>
                    <a:lnTo>
                      <a:pt x="1058037" y="0"/>
                    </a:lnTo>
                    <a:lnTo>
                      <a:pt x="1058037" y="5154549"/>
                    </a:lnTo>
                    <a:lnTo>
                      <a:pt x="0" y="515454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C61B6">
                      <a:alpha val="100000"/>
                    </a:srgbClr>
                  </a:gs>
                  <a:gs pos="100000">
                    <a:srgbClr val="121C36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25400" cap="sq">
                <a:gradFill>
                  <a:gsLst>
                    <a:gs pos="0">
                      <a:srgbClr val="3C61B6">
                        <a:alpha val="100000"/>
                      </a:srgbClr>
                    </a:gs>
                    <a:gs pos="100000">
                      <a:srgbClr val="121C36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16929" y="16929"/>
              <a:ext cx="1024128" cy="5120640"/>
              <a:chOff x="0" y="0"/>
              <a:chExt cx="1024128" cy="512064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024128" cy="5120640"/>
              </a:xfrm>
              <a:custGeom>
                <a:avLst/>
                <a:gdLst/>
                <a:ahLst/>
                <a:cxnLst/>
                <a:rect r="r" b="b" t="t" l="l"/>
                <a:pathLst>
                  <a:path h="5120640" w="1024128">
                    <a:moveTo>
                      <a:pt x="0" y="0"/>
                    </a:moveTo>
                    <a:lnTo>
                      <a:pt x="1024128" y="0"/>
                    </a:lnTo>
                    <a:lnTo>
                      <a:pt x="1024128" y="5120640"/>
                    </a:lnTo>
                    <a:lnTo>
                      <a:pt x="0" y="51206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591517" t="0" r="-591517" b="0"/>
                </a:stretch>
              </a:blip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9525"/>
                <a:ext cx="1024128" cy="51301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C9A84C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04</a:t>
                </a: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236129" y="212001"/>
              <a:ext cx="10192512" cy="731520"/>
              <a:chOff x="0" y="0"/>
              <a:chExt cx="10192512" cy="73152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192512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10192512">
                    <a:moveTo>
                      <a:pt x="0" y="0"/>
                    </a:moveTo>
                    <a:lnTo>
                      <a:pt x="10192512" y="0"/>
                    </a:lnTo>
                    <a:lnTo>
                      <a:pt x="10192512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21491" r="0" b="-221491"/>
                </a:stretch>
              </a:blip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9525"/>
                <a:ext cx="10192512" cy="7410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59"/>
                  </a:lnSpc>
                </a:pPr>
                <a:r>
                  <a:rPr lang="en-US" sz="2299" b="true">
                    <a:solidFill>
                      <a:srgbClr val="1B2D4F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Reduce document friction</a:t>
                </a: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1358049" y="1035342"/>
              <a:ext cx="9997440" cy="137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8469" indent="-229235" lvl="1">
                <a:lnSpc>
                  <a:spcPts val="2849"/>
                </a:lnSpc>
                <a:buFont typeface="Arial"/>
                <a:buChar char="•"/>
              </a:pPr>
              <a:r>
                <a:rPr lang="en-US" sz="1899">
                  <a:solidFill>
                    <a:srgbClr val="4A5568"/>
                  </a:solidFill>
                  <a:latin typeface="Exo 2"/>
                  <a:ea typeface="Exo 2"/>
                  <a:cs typeface="Exo 2"/>
                  <a:sym typeface="Exo 2"/>
                </a:rPr>
                <a:t>Use</a:t>
              </a:r>
              <a:r>
                <a:rPr lang="en-US" sz="1899">
                  <a:solidFill>
                    <a:srgbClr val="4A5568"/>
                  </a:solidFill>
                  <a:latin typeface="Exo 2"/>
                  <a:ea typeface="Exo 2"/>
                  <a:cs typeface="Exo 2"/>
                  <a:sym typeface="Exo 2"/>
                </a:rPr>
                <a:t> social media channels to educate users on required documents and reduce onboarding friction.</a:t>
              </a:r>
            </a:p>
            <a:p>
              <a:pPr algn="l" marL="458469" indent="-229235" lvl="1">
                <a:lnSpc>
                  <a:spcPts val="2849"/>
                </a:lnSpc>
                <a:buFont typeface="Arial"/>
                <a:buChar char="•"/>
              </a:pPr>
              <a:r>
                <a:rPr lang="en-US" sz="1899">
                  <a:solidFill>
                    <a:srgbClr val="4A5568"/>
                  </a:solidFill>
                  <a:latin typeface="Exo 2"/>
                  <a:ea typeface="Exo 2"/>
                  <a:cs typeface="Exo 2"/>
                  <a:sym typeface="Exo 2"/>
                </a:rPr>
                <a:t>Include document requirements in the re-engagement email.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13232" y="658368"/>
            <a:ext cx="12344400" cy="822851"/>
            <a:chOff x="0" y="0"/>
            <a:chExt cx="16459200" cy="109713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459200" cy="1097134"/>
            </a:xfrm>
            <a:custGeom>
              <a:avLst/>
              <a:gdLst/>
              <a:ahLst/>
              <a:cxnLst/>
              <a:rect r="r" b="b" t="t" l="l"/>
              <a:pathLst>
                <a:path h="1097134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134"/>
                  </a:lnTo>
                  <a:lnTo>
                    <a:pt x="0" y="10971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8975" r="0" b="-23565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6459200" cy="1106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R</a:t>
              </a:r>
              <a:r>
                <a:rPr lang="en-US" b="true" sz="3900" strike="noStrike" u="none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e</a:t>
              </a:r>
              <a:r>
                <a:rPr lang="en-US" b="true" sz="3900" strike="noStrike" u="none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c</a:t>
              </a:r>
              <a:r>
                <a:rPr lang="en-US" b="true" sz="3900" strike="noStrike" u="none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o</a:t>
              </a:r>
              <a:r>
                <a:rPr lang="en-US" b="true" sz="3900" strike="noStrike" u="none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mme</a:t>
              </a:r>
              <a:r>
                <a:rPr lang="en-US" b="true" sz="3900" strike="noStrike" u="none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n</a:t>
              </a:r>
              <a:r>
                <a:rPr lang="en-US" b="true" sz="3900" strike="noStrike" u="none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da</a:t>
              </a:r>
              <a:r>
                <a:rPr lang="en-US" b="true" sz="3900" strike="noStrike" u="none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tio</a:t>
              </a:r>
              <a:r>
                <a:rPr lang="en-US" b="true" sz="3900" strike="noStrike" u="none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ns &amp; Ac</a:t>
              </a:r>
              <a:r>
                <a:rPr lang="en-US" b="true" sz="3900" strike="noStrike" u="none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ti</a:t>
              </a:r>
              <a:r>
                <a:rPr lang="en-US" b="true" sz="3900" strike="noStrike" u="none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on</a:t>
              </a:r>
              <a:r>
                <a:rPr lang="en-US" b="true" sz="3900" strike="noStrike" u="none">
                  <a:gradFill>
                    <a:gsLst>
                      <a:gs pos="0">
                        <a:srgbClr val="3C61B6">
                          <a:alpha val="100000"/>
                        </a:srgbClr>
                      </a:gs>
                      <a:gs pos="100000">
                        <a:srgbClr val="121C3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Exo 2 Bold"/>
                  <a:ea typeface="Exo 2 Bold"/>
                  <a:cs typeface="Exo 2 Bold"/>
                  <a:sym typeface="Exo 2 Bold"/>
                </a:rPr>
                <a:t>s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15711491" y="9398509"/>
            <a:ext cx="1547809" cy="550332"/>
          </a:xfrm>
          <a:custGeom>
            <a:avLst/>
            <a:gdLst/>
            <a:ahLst/>
            <a:cxnLst/>
            <a:rect r="r" b="b" t="t" l="l"/>
            <a:pathLst>
              <a:path h="550332" w="1547809">
                <a:moveTo>
                  <a:pt x="0" y="0"/>
                </a:moveTo>
                <a:lnTo>
                  <a:pt x="1547809" y="0"/>
                </a:lnTo>
                <a:lnTo>
                  <a:pt x="1547809" y="550332"/>
                </a:lnTo>
                <a:lnTo>
                  <a:pt x="0" y="550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5441807" y="505082"/>
            <a:ext cx="1817493" cy="523618"/>
          </a:xfrm>
          <a:custGeom>
            <a:avLst/>
            <a:gdLst/>
            <a:ahLst/>
            <a:cxnLst/>
            <a:rect r="r" b="b" t="t" l="l"/>
            <a:pathLst>
              <a:path h="523618" w="1817493">
                <a:moveTo>
                  <a:pt x="0" y="0"/>
                </a:moveTo>
                <a:lnTo>
                  <a:pt x="1817493" y="0"/>
                </a:lnTo>
                <a:lnTo>
                  <a:pt x="1817493" y="523618"/>
                </a:lnTo>
                <a:lnTo>
                  <a:pt x="0" y="523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261618" y="1911540"/>
            <a:ext cx="8712203" cy="4290065"/>
            <a:chOff x="0" y="0"/>
            <a:chExt cx="11616271" cy="572008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616309" cy="5720124"/>
            </a:xfrm>
            <a:custGeom>
              <a:avLst/>
              <a:gdLst/>
              <a:ahLst/>
              <a:cxnLst/>
              <a:rect r="r" b="b" t="t" l="l"/>
              <a:pathLst>
                <a:path h="5720124" w="11616309">
                  <a:moveTo>
                    <a:pt x="0" y="0"/>
                  </a:moveTo>
                  <a:lnTo>
                    <a:pt x="11616309" y="0"/>
                  </a:lnTo>
                  <a:lnTo>
                    <a:pt x="11616309" y="5720124"/>
                  </a:lnTo>
                  <a:lnTo>
                    <a:pt x="0" y="5720124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0D8E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2700" y="12700"/>
              <a:ext cx="128016" cy="950976"/>
            </a:xfrm>
            <a:custGeom>
              <a:avLst/>
              <a:gdLst/>
              <a:ahLst/>
              <a:cxnLst/>
              <a:rect r="r" b="b" t="t" l="l"/>
              <a:pathLst>
                <a:path h="950976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950976"/>
                  </a:lnTo>
                  <a:lnTo>
                    <a:pt x="0" y="950976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12700" y="0"/>
                  </a:moveTo>
                  <a:lnTo>
                    <a:pt x="140716" y="0"/>
                  </a:lnTo>
                  <a:cubicBezTo>
                    <a:pt x="147701" y="0"/>
                    <a:pt x="153416" y="5715"/>
                    <a:pt x="153416" y="12700"/>
                  </a:cubicBezTo>
                  <a:lnTo>
                    <a:pt x="153416" y="963676"/>
                  </a:lnTo>
                  <a:cubicBezTo>
                    <a:pt x="153416" y="970661"/>
                    <a:pt x="147701" y="976376"/>
                    <a:pt x="140716" y="976376"/>
                  </a:cubicBezTo>
                  <a:lnTo>
                    <a:pt x="12700" y="976376"/>
                  </a:lnTo>
                  <a:cubicBezTo>
                    <a:pt x="5715" y="976376"/>
                    <a:pt x="0" y="970661"/>
                    <a:pt x="0" y="96367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63676"/>
                  </a:lnTo>
                  <a:lnTo>
                    <a:pt x="12700" y="963676"/>
                  </a:lnTo>
                  <a:lnTo>
                    <a:pt x="12700" y="950976"/>
                  </a:lnTo>
                  <a:lnTo>
                    <a:pt x="140716" y="950976"/>
                  </a:lnTo>
                  <a:lnTo>
                    <a:pt x="140716" y="963676"/>
                  </a:lnTo>
                  <a:lnTo>
                    <a:pt x="128016" y="963676"/>
                  </a:lnTo>
                  <a:lnTo>
                    <a:pt x="128016" y="12700"/>
                  </a:lnTo>
                  <a:lnTo>
                    <a:pt x="140716" y="12700"/>
                  </a:lnTo>
                  <a:lnTo>
                    <a:pt x="140716" y="25400"/>
                  </a:lnTo>
                  <a:lnTo>
                    <a:pt x="12700" y="25400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7282160" y="9806940"/>
            <a:ext cx="548640" cy="301752"/>
            <a:chOff x="0" y="0"/>
            <a:chExt cx="731520" cy="4023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3152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566" t="0" r="-20566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73152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A6A85"/>
                  </a:solidFill>
                  <a:latin typeface="Exo 2"/>
                  <a:ea typeface="Exo 2"/>
                  <a:cs typeface="Exo 2"/>
                  <a:sym typeface="Exo 2"/>
                </a:rPr>
                <a:t>8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61618" y="1911540"/>
            <a:ext cx="793499" cy="4280496"/>
            <a:chOff x="0" y="0"/>
            <a:chExt cx="1057999" cy="570732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58037" cy="5707366"/>
            </a:xfrm>
            <a:custGeom>
              <a:avLst/>
              <a:gdLst/>
              <a:ahLst/>
              <a:cxnLst/>
              <a:rect r="r" b="b" t="t" l="l"/>
              <a:pathLst>
                <a:path h="5707366" w="1058037">
                  <a:moveTo>
                    <a:pt x="0" y="0"/>
                  </a:moveTo>
                  <a:lnTo>
                    <a:pt x="1058037" y="0"/>
                  </a:lnTo>
                  <a:lnTo>
                    <a:pt x="1058037" y="5707366"/>
                  </a:lnTo>
                  <a:lnTo>
                    <a:pt x="0" y="5707366"/>
                  </a:lnTo>
                  <a:close/>
                </a:path>
              </a:pathLst>
            </a:custGeom>
            <a:gradFill rotWithShape="true">
              <a:gsLst>
                <a:gs pos="0">
                  <a:srgbClr val="3C61B6">
                    <a:alpha val="100000"/>
                  </a:srgbClr>
                </a:gs>
                <a:gs pos="100000">
                  <a:srgbClr val="121C3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25400" cap="sq">
              <a:gradFill>
                <a:gsLst>
                  <a:gs pos="0">
                    <a:srgbClr val="3C61B6">
                      <a:alpha val="100000"/>
                    </a:srgbClr>
                  </a:gs>
                  <a:gs pos="100000">
                    <a:srgbClr val="121C36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260604" y="1936943"/>
            <a:ext cx="768096" cy="4255093"/>
            <a:chOff x="0" y="0"/>
            <a:chExt cx="1024128" cy="567345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4128" cy="5673457"/>
            </a:xfrm>
            <a:custGeom>
              <a:avLst/>
              <a:gdLst/>
              <a:ahLst/>
              <a:cxnLst/>
              <a:rect r="r" b="b" t="t" l="l"/>
              <a:pathLst>
                <a:path h="5673457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5673457"/>
                  </a:lnTo>
                  <a:lnTo>
                    <a:pt x="0" y="56734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1517" t="0" r="-591517" b="974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1024128" cy="56829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C9A84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01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88715" y="2070540"/>
            <a:ext cx="7644384" cy="548640"/>
            <a:chOff x="0" y="0"/>
            <a:chExt cx="10192512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192512" cy="731520"/>
            </a:xfrm>
            <a:custGeom>
              <a:avLst/>
              <a:gdLst/>
              <a:ahLst/>
              <a:cxnLst/>
              <a:rect r="r" b="b" t="t" l="l"/>
              <a:pathLst>
                <a:path h="731520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491" r="0" b="-2214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10192512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1B2D4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Re-engage stalled KYC users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280155" y="2671377"/>
            <a:ext cx="7498080" cy="316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69" indent="-229235" lvl="1">
              <a:lnSpc>
                <a:spcPts val="2849"/>
              </a:lnSpc>
              <a:buFont typeface="Arial"/>
              <a:buChar char="•"/>
            </a:pP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Export emails of pending users and assign to Client Solutions Team for immediate follow-up.</a:t>
            </a:r>
          </a:p>
          <a:p>
            <a:pPr algn="l" marL="458469" indent="-229235" lvl="1">
              <a:lnSpc>
                <a:spcPts val="2849"/>
              </a:lnSpc>
              <a:buFont typeface="Arial"/>
              <a:buChar char="•"/>
            </a:pP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Deploy a customised re-engagement email with app download links (Android &amp; iOS), social media handles and website.</a:t>
            </a:r>
          </a:p>
          <a:p>
            <a:pPr algn="l" marL="458469" indent="-229235" lvl="1">
              <a:lnSpc>
                <a:spcPts val="2849"/>
              </a:lnSpc>
              <a:buFont typeface="Arial"/>
              <a:buChar char="•"/>
            </a:pP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Track email click-through rates to measure conversion, report results in June.</a:t>
            </a:r>
          </a:p>
          <a:p>
            <a:pPr algn="l" marL="458469" indent="-229235" lvl="1">
              <a:lnSpc>
                <a:spcPts val="2849"/>
              </a:lnSpc>
              <a:buFont typeface="Arial"/>
              <a:buChar char="•"/>
            </a:pPr>
            <a:r>
              <a:rPr lang="en-US" sz="1899">
                <a:solidFill>
                  <a:srgbClr val="4A5568"/>
                </a:solidFill>
                <a:latin typeface="Exo 2"/>
                <a:ea typeface="Exo 2"/>
                <a:cs typeface="Exo 2"/>
                <a:sym typeface="Exo 2"/>
              </a:rPr>
              <a:t>For users with available phone numbers, the Client Solutions team should engage them directly to understand and address any barriers to funding.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014" y="-252008"/>
            <a:ext cx="19093861" cy="10853442"/>
            <a:chOff x="0" y="0"/>
            <a:chExt cx="24384000" cy="13860493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860494"/>
            </a:xfrm>
            <a:custGeom>
              <a:avLst/>
              <a:gdLst/>
              <a:ahLst/>
              <a:cxnLst/>
              <a:rect r="r" b="b" t="t" l="l"/>
              <a:pathLst>
                <a:path h="1386049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860494"/>
                  </a:lnTo>
                  <a:lnTo>
                    <a:pt x="0" y="13860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6" t="0" r="-52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92489" y="3780565"/>
            <a:ext cx="15703023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9"/>
              </a:lnSpc>
            </a:pPr>
            <a:r>
              <a:rPr lang="en-US" b="true" sz="83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21561" y="5649399"/>
            <a:ext cx="5554712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2"/>
              </a:lnSpc>
            </a:pPr>
            <a:r>
              <a:rPr lang="en-US" sz="3176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May 2026 </a:t>
            </a:r>
          </a:p>
          <a:p>
            <a:pPr algn="ctr">
              <a:lnSpc>
                <a:spcPts val="3812"/>
              </a:lnSpc>
            </a:pPr>
            <a:r>
              <a:rPr lang="en-US" sz="3176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Invest Wisely. Trade Precisely.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340" y="1028700"/>
            <a:ext cx="2628960" cy="757148"/>
            <a:chOff x="0" y="0"/>
            <a:chExt cx="6614516" cy="1905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614541" cy="1905000"/>
            </a:xfrm>
            <a:custGeom>
              <a:avLst/>
              <a:gdLst/>
              <a:ahLst/>
              <a:cxnLst/>
              <a:rect r="r" b="b" t="t" l="l"/>
              <a:pathLst>
                <a:path h="1905000" w="6614541">
                  <a:moveTo>
                    <a:pt x="0" y="0"/>
                  </a:moveTo>
                  <a:lnTo>
                    <a:pt x="6614541" y="0"/>
                  </a:lnTo>
                  <a:lnTo>
                    <a:pt x="6614541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773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2400300" cy="853440"/>
          </a:xfrm>
          <a:custGeom>
            <a:avLst/>
            <a:gdLst/>
            <a:ahLst/>
            <a:cxnLst/>
            <a:rect r="r" b="b" t="t" l="l"/>
            <a:pathLst>
              <a:path h="853440" w="2400300">
                <a:moveTo>
                  <a:pt x="0" y="0"/>
                </a:moveTo>
                <a:lnTo>
                  <a:pt x="2400300" y="0"/>
                </a:lnTo>
                <a:lnTo>
                  <a:pt x="240030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DAHKwLblKXU</dc:identifier>
  <dcterms:modified xsi:type="dcterms:W3CDTF">2011-08-01T06:04:30Z</dcterms:modified>
  <cp:revision>1</cp:revision>
  <dc:title>eMYAA Monthly Report Template May 2026</dc:title>
</cp:coreProperties>
</file>