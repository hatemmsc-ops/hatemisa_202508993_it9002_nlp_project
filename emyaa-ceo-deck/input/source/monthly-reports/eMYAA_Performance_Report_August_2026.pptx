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68" r:id="rId19"/>
    <p:sldId id="259" r:id="rId10"/>
    <p:sldId id="260" r:id="rId11"/>
    <p:sldId id="261" r:id="rId12"/>
    <p:sldId id="262" r:id="rId13"/>
    <p:sldId id="263" r:id="rId14"/>
    <p:sldId id="267" r:id="rId18"/>
    <p:sldId id="264" r:id="rId15"/>
    <p:sldId id="265" r:id="rId16"/>
    <p:sldId id="266" r:id="rId1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0.xml"/><Relationship Id="rId19"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A2F"/>
        </a:solidFill>
        <a:effectLst/>
      </p:bgPr>
    </p:bg>
    <p:spTree>
      <p:nvGrpSpPr>
        <p:cNvPr id="1" name=""/>
        <p:cNvGrpSpPr/>
        <p:nvPr/>
      </p:nvGrpSpPr>
      <p:grpSpPr/>
      <p:sp>
        <p:nvSpPr>
          <p:cNvPr id="2" name="TextBox 1"/>
          <p:cNvSpPr txBox="1"/>
          <p:nvPr/>
        </p:nvSpPr>
        <p:spPr>
          <a:xfrm>
            <a:off x="548640" y="3200400"/>
            <a:ext cx="17190720" cy="457200"/>
          </a:xfrm>
          <a:prstGeom prst="rect">
            <a:avLst/>
          </a:prstGeom>
          <a:noFill/>
        </p:spPr>
        <p:txBody>
          <a:bodyPr wrap="square">
            <a:spAutoFit/>
          </a:bodyPr>
          <a:lstStyle/>
          <a:p>
            <a:pPr algn="l"/>
            <a:r>
              <a:rPr sz="1600" b="1" i="0">
                <a:solidFill>
                  <a:srgbClr val="C9A227"/>
                </a:solidFill>
                <a:latin typeface="Arial"/>
              </a:rPr>
              <a:t>eMYAA MONTHLY PERFORMANCE REPORT</a:t>
            </a:r>
          </a:p>
        </p:txBody>
      </p:sp>
      <p:sp>
        <p:nvSpPr>
          <p:cNvPr id="3" name="TextBox 2"/>
          <p:cNvSpPr txBox="1"/>
          <p:nvPr/>
        </p:nvSpPr>
        <p:spPr>
          <a:xfrm>
            <a:off x="548640" y="3657600"/>
            <a:ext cx="17190720" cy="1005840"/>
          </a:xfrm>
          <a:prstGeom prst="rect">
            <a:avLst/>
          </a:prstGeom>
          <a:noFill/>
        </p:spPr>
        <p:txBody>
          <a:bodyPr wrap="square">
            <a:spAutoFit/>
          </a:bodyPr>
          <a:lstStyle/>
          <a:p>
            <a:pPr algn="l"/>
            <a:r>
              <a:rPr sz="4200" b="1" i="0">
                <a:solidFill>
                  <a:srgbClr val="FFFFFF"/>
                </a:solidFill>
                <a:latin typeface="Arial"/>
              </a:rPr>
              <a:t>August 2026</a:t>
            </a:r>
          </a:p>
        </p:txBody>
      </p:sp>
      <p:sp>
        <p:nvSpPr>
          <p:cNvPr id="4" name="TextBox 3"/>
          <p:cNvSpPr txBox="1"/>
          <p:nvPr/>
        </p:nvSpPr>
        <p:spPr>
          <a:xfrm>
            <a:off x="548640" y="4526280"/>
            <a:ext cx="17190720" cy="457200"/>
          </a:xfrm>
          <a:prstGeom prst="rect">
            <a:avLst/>
          </a:prstGeom>
          <a:noFill/>
        </p:spPr>
        <p:txBody>
          <a:bodyPr wrap="square">
            <a:spAutoFit/>
          </a:bodyPr>
          <a:lstStyle/>
          <a:p>
            <a:pPr algn="l"/>
            <a:r>
              <a:rPr sz="1500" b="0" i="0">
                <a:solidFill>
                  <a:srgbClr val="C7CEDD"/>
                </a:solidFill>
                <a:latin typeface="Arial"/>
              </a:rPr>
              <a:t>Performance so far, the agency transition, social platform review, and September content plan</a:t>
            </a:r>
          </a:p>
        </p:txBody>
      </p:sp>
      <p:sp>
        <p:nvSpPr>
          <p:cNvPr id="5" name="Rectangle 4"/>
          <p:cNvSpPr/>
          <p:nvPr/>
        </p:nvSpPr>
        <p:spPr>
          <a:xfrm>
            <a:off x="548640" y="5166360"/>
            <a:ext cx="640080" cy="35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5349240"/>
            <a:ext cx="17190720" cy="365760"/>
          </a:xfrm>
          <a:prstGeom prst="rect">
            <a:avLst/>
          </a:prstGeom>
          <a:noFill/>
        </p:spPr>
        <p:txBody>
          <a:bodyPr wrap="square">
            <a:spAutoFit/>
          </a:bodyPr>
          <a:lstStyle/>
          <a:p>
            <a:pPr algn="l"/>
            <a:r>
              <a:rPr sz="1300" b="0" i="0">
                <a:solidFill>
                  <a:srgbClr val="C7CEDD"/>
                </a:solidFill>
                <a:latin typeface="Arial"/>
              </a:rPr>
              <a:t>Filed 30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00" b="0" i="0">
                <a:solidFill>
                  <a:srgbClr val="121A2F"/>
                </a:solidFill>
                <a:latin typeface="Arial"/>
              </a:rPr>
              <a:t/>
            </a:r>
          </a:p>
        </p:txBody>
      </p:sp>
      <p:sp>
        <p:nvSpPr>
          <p:cNvPr id="4" name="TextBox 3"/>
          <p:cNvSpPr txBox="1"/>
          <p:nvPr/>
        </p:nvSpPr>
        <p:spPr>
          <a:xfrm>
            <a:off x="548640" y="320040"/>
            <a:ext cx="8229600" cy="640080"/>
          </a:xfrm>
          <a:prstGeom prst="rect">
            <a:avLst/>
          </a:prstGeom>
          <a:noFill/>
        </p:spPr>
        <p:txBody>
          <a:bodyPr wrap="square">
            <a:spAutoFit/>
          </a:bodyPr>
          <a:lstStyle/>
          <a:p>
            <a:pPr algn="l"/>
            <a:r>
              <a:rPr sz="3200" b="1" i="0">
                <a:solidFill>
                  <a:srgbClr val="121A2F"/>
                </a:solidFill>
                <a:latin typeface="Arial"/>
              </a:rPr>
              <a:t>eMYAA Performance</a:t>
            </a:r>
          </a:p>
        </p:txBody>
      </p:sp>
      <p:sp>
        <p:nvSpPr>
          <p:cNvPr id="5" name="TextBox 4"/>
          <p:cNvSpPr txBox="1"/>
          <p:nvPr/>
        </p:nvSpPr>
        <p:spPr>
          <a:xfrm>
            <a:off x="548640" y="960120"/>
            <a:ext cx="8229600" cy="320040"/>
          </a:xfrm>
          <a:prstGeom prst="rect">
            <a:avLst/>
          </a:prstGeom>
          <a:noFill/>
        </p:spPr>
        <p:txBody>
          <a:bodyPr wrap="square">
            <a:spAutoFit/>
          </a:bodyPr>
          <a:lstStyle/>
          <a:p>
            <a:pPr algn="l"/>
            <a:r>
              <a:rPr sz="1300" b="1" i="0">
                <a:solidFill>
                  <a:srgbClr val="5A6A85"/>
                </a:solidFill>
                <a:latin typeface="Arial"/>
              </a:rPr>
              <a:t>Cumulative since launch | Reporting period 14 May - 30 Aug 2026</a:t>
            </a:r>
          </a:p>
        </p:txBody>
      </p:sp>
      <p:sp>
        <p:nvSpPr>
          <p:cNvPr id="6" name="TextBox 5"/>
          <p:cNvSpPr txBox="1"/>
          <p:nvPr/>
        </p:nvSpPr>
        <p:spPr>
          <a:xfrm>
            <a:off x="14356080" y="365760"/>
            <a:ext cx="3383280" cy="548640"/>
          </a:xfrm>
          <a:prstGeom prst="rect">
            <a:avLst/>
          </a:prstGeom>
          <a:noFill/>
        </p:spPr>
        <p:txBody>
          <a:bodyPr wrap="square">
            <a:spAutoFit/>
          </a:bodyPr>
          <a:lstStyle/>
          <a:p>
            <a:pPr algn="r"/>
            <a:r>
              <a:rPr sz="1800" b="1" i="0">
                <a:solidFill>
                  <a:srgbClr val="121A2F"/>
                </a:solidFill>
                <a:latin typeface="Arial"/>
              </a:rPr>
              <a:t>AJYAD CAPITAL</a:t>
            </a:r>
          </a:p>
        </p:txBody>
      </p:sp>
      <p:sp>
        <p:nvSpPr>
          <p:cNvPr id="7" name="Rectangle 6"/>
          <p:cNvSpPr/>
          <p:nvPr/>
        </p:nvSpPr>
        <p:spPr>
          <a:xfrm>
            <a:off x="548640" y="1463040"/>
            <a:ext cx="4057650" cy="1143000"/>
          </a:xfrm>
          <a:prstGeom prst="rect">
            <a:avLst/>
          </a:prstGeom>
          <a:gradFill rotWithShape="1">
            <a:gsLst>
              <a:gs pos="0">
                <a:srgbClr val="0C1E4A"/>
              </a:gs>
              <a:gs pos="100000">
                <a:srgbClr val="2F6FE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600" b="1">
                <a:solidFill>
                  <a:srgbClr val="FFFFFF"/>
                </a:solidFill>
                <a:latin typeface="Arial"/>
              </a:rPr>
              <a:t>359</a:t>
            </a:r>
          </a:p>
          <a:p>
            <a:pPr algn="ctr"/>
            <a:r>
              <a:rPr sz="1200">
                <a:solidFill>
                  <a:srgbClr val="FFFFFF"/>
                </a:solidFill>
                <a:latin typeface="Arial"/>
              </a:rPr>
              <a:t>Total App Downloads</a:t>
            </a:r>
          </a:p>
          <a:p>
            <a:pPr algn="ctr"/>
            <a:r>
              <a:rPr sz="950" i="1">
                <a:solidFill>
                  <a:srgbClr val="C7CEDD"/>
                </a:solidFill>
                <a:latin typeface="Arial"/>
              </a:rPr>
              <a:t>194 Android + 165 iOS</a:t>
            </a:r>
          </a:p>
        </p:txBody>
      </p:sp>
      <p:sp>
        <p:nvSpPr>
          <p:cNvPr id="8" name="Rectangle 7"/>
          <p:cNvSpPr/>
          <p:nvPr/>
        </p:nvSpPr>
        <p:spPr>
          <a:xfrm>
            <a:off x="4926330" y="1463040"/>
            <a:ext cx="4057650" cy="1143000"/>
          </a:xfrm>
          <a:prstGeom prst="rect">
            <a:avLst/>
          </a:prstGeom>
          <a:gradFill rotWithShape="1">
            <a:gsLst>
              <a:gs pos="0">
                <a:srgbClr val="0C1E4A"/>
              </a:gs>
              <a:gs pos="100000">
                <a:srgbClr val="2F6FE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600" b="1">
                <a:solidFill>
                  <a:srgbClr val="FFFFFF"/>
                </a:solidFill>
                <a:latin typeface="Arial"/>
              </a:rPr>
              <a:t>47</a:t>
            </a:r>
          </a:p>
          <a:p>
            <a:pPr algn="ctr"/>
            <a:r>
              <a:rPr sz="1200">
                <a:solidFill>
                  <a:srgbClr val="FFFFFF"/>
                </a:solidFill>
                <a:latin typeface="Arial"/>
              </a:rPr>
              <a:t>Total Onboarded Users</a:t>
            </a:r>
          </a:p>
          <a:p>
            <a:pPr algn="ctr"/>
            <a:r>
              <a:rPr sz="950" i="1">
                <a:solidFill>
                  <a:srgbClr val="C7CEDD"/>
                </a:solidFill>
                <a:latin typeface="Arial"/>
              </a:rPr>
              <a:t>+13 vs 5 Aug</a:t>
            </a:r>
          </a:p>
        </p:txBody>
      </p:sp>
      <p:sp>
        <p:nvSpPr>
          <p:cNvPr id="9" name="Rectangle 8"/>
          <p:cNvSpPr/>
          <p:nvPr/>
        </p:nvSpPr>
        <p:spPr>
          <a:xfrm>
            <a:off x="9304020" y="1463040"/>
            <a:ext cx="4057650" cy="1143000"/>
          </a:xfrm>
          <a:prstGeom prst="rect">
            <a:avLst/>
          </a:prstGeom>
          <a:gradFill rotWithShape="1">
            <a:gsLst>
              <a:gs pos="0">
                <a:srgbClr val="0C1E4A"/>
              </a:gs>
              <a:gs pos="100000">
                <a:srgbClr val="2F6FE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200" b="1">
                <a:solidFill>
                  <a:srgbClr val="FFFFFF"/>
                </a:solidFill>
                <a:latin typeface="Arial"/>
              </a:rPr>
              <a:t>$8,467.96</a:t>
            </a:r>
          </a:p>
          <a:p>
            <a:pPr algn="ctr"/>
            <a:r>
              <a:rPr sz="1200">
                <a:solidFill>
                  <a:srgbClr val="FFFFFF"/>
                </a:solidFill>
                <a:latin typeface="Arial"/>
              </a:rPr>
              <a:t>Total Deposits</a:t>
            </a:r>
          </a:p>
          <a:p>
            <a:pPr algn="ctr"/>
            <a:r>
              <a:rPr sz="950" i="1">
                <a:solidFill>
                  <a:srgbClr val="C7CEDD"/>
                </a:solidFill>
                <a:latin typeface="Arial"/>
              </a:rPr>
              <a:t>−$58.95 vs 5 Aug</a:t>
            </a:r>
          </a:p>
        </p:txBody>
      </p:sp>
      <p:sp>
        <p:nvSpPr>
          <p:cNvPr id="10" name="Rectangle 9"/>
          <p:cNvSpPr/>
          <p:nvPr/>
        </p:nvSpPr>
        <p:spPr>
          <a:xfrm>
            <a:off x="13681710" y="1463040"/>
            <a:ext cx="4057650" cy="1143000"/>
          </a:xfrm>
          <a:prstGeom prst="rect">
            <a:avLst/>
          </a:prstGeom>
          <a:gradFill rotWithShape="1">
            <a:gsLst>
              <a:gs pos="0">
                <a:srgbClr val="0C1E4A"/>
              </a:gs>
              <a:gs pos="100000">
                <a:srgbClr val="2F6FE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600" b="1">
                <a:solidFill>
                  <a:srgbClr val="FFFFFF"/>
                </a:solidFill>
                <a:latin typeface="Arial"/>
              </a:rPr>
              <a:t>45</a:t>
            </a:r>
          </a:p>
          <a:p>
            <a:pPr algn="ctr"/>
            <a:r>
              <a:rPr sz="1200">
                <a:solidFill>
                  <a:srgbClr val="FFFFFF"/>
                </a:solidFill>
                <a:latin typeface="Arial"/>
              </a:rPr>
              <a:t>Total Trades</a:t>
            </a:r>
          </a:p>
          <a:p>
            <a:pPr algn="ctr"/>
            <a:r>
              <a:rPr sz="950" i="1">
                <a:solidFill>
                  <a:srgbClr val="C7CEDD"/>
                </a:solidFill>
                <a:latin typeface="Arial"/>
              </a:rPr>
              <a:t>+15 vs 5 Aug</a:t>
            </a:r>
          </a:p>
        </p:txBody>
      </p:sp>
      <p:sp>
        <p:nvSpPr>
          <p:cNvPr id="11" name="Rectangle 10"/>
          <p:cNvSpPr/>
          <p:nvPr/>
        </p:nvSpPr>
        <p:spPr>
          <a:xfrm>
            <a:off x="548640" y="2807208"/>
            <a:ext cx="4057650" cy="86868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07208"/>
            <a:ext cx="4057650" cy="868680"/>
          </a:xfrm>
          <a:prstGeom prst="rect">
            <a:avLst/>
          </a:prstGeom>
          <a:noFill/>
        </p:spPr>
        <p:txBody>
          <a:bodyPr wrap="square" anchor="ctr">
            <a:spAutoFit/>
          </a:bodyPr>
          <a:lstStyle/>
          <a:p>
            <a:pPr algn="ctr"/>
            <a:r>
              <a:rPr sz="2200" b="1">
                <a:solidFill>
                  <a:srgbClr val="121A2F"/>
                </a:solidFill>
                <a:latin typeface="Arial"/>
              </a:rPr>
              <a:t>12 / 12</a:t>
            </a:r>
          </a:p>
          <a:p>
            <a:pPr algn="ctr"/>
            <a:r>
              <a:rPr sz="1100">
                <a:solidFill>
                  <a:srgbClr val="121A2F"/>
                </a:solidFill>
                <a:latin typeface="Arial"/>
              </a:rPr>
              <a:t>Deposited / Traded</a:t>
            </a:r>
          </a:p>
        </p:txBody>
      </p:sp>
      <p:sp>
        <p:nvSpPr>
          <p:cNvPr id="13" name="Rectangle 12"/>
          <p:cNvSpPr/>
          <p:nvPr/>
        </p:nvSpPr>
        <p:spPr>
          <a:xfrm>
            <a:off x="4926330" y="2807208"/>
            <a:ext cx="4057650" cy="86868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26330" y="2807208"/>
            <a:ext cx="4057650" cy="868680"/>
          </a:xfrm>
          <a:prstGeom prst="rect">
            <a:avLst/>
          </a:prstGeom>
          <a:noFill/>
        </p:spPr>
        <p:txBody>
          <a:bodyPr wrap="square" anchor="ctr">
            <a:spAutoFit/>
          </a:bodyPr>
          <a:lstStyle/>
          <a:p>
            <a:pPr algn="ctr"/>
            <a:r>
              <a:rPr sz="2200" b="1">
                <a:solidFill>
                  <a:srgbClr val="121A2F"/>
                </a:solidFill>
                <a:latin typeface="Arial"/>
              </a:rPr>
              <a:t>9</a:t>
            </a:r>
          </a:p>
          <a:p>
            <a:pPr algn="ctr"/>
            <a:r>
              <a:rPr sz="1100">
                <a:solidFill>
                  <a:srgbClr val="121A2F"/>
                </a:solidFill>
                <a:latin typeface="Arial"/>
              </a:rPr>
              <a:t>Rejected KYC</a:t>
            </a:r>
          </a:p>
        </p:txBody>
      </p:sp>
      <p:sp>
        <p:nvSpPr>
          <p:cNvPr id="15" name="Rectangle 14"/>
          <p:cNvSpPr/>
          <p:nvPr/>
        </p:nvSpPr>
        <p:spPr>
          <a:xfrm>
            <a:off x="9304020" y="2807208"/>
            <a:ext cx="4057650" cy="86868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04020" y="2807208"/>
            <a:ext cx="4057650" cy="868680"/>
          </a:xfrm>
          <a:prstGeom prst="rect">
            <a:avLst/>
          </a:prstGeom>
          <a:noFill/>
        </p:spPr>
        <p:txBody>
          <a:bodyPr wrap="square" anchor="ctr">
            <a:spAutoFit/>
          </a:bodyPr>
          <a:lstStyle/>
          <a:p>
            <a:pPr algn="ctr"/>
            <a:r>
              <a:rPr sz="2200" b="1">
                <a:solidFill>
                  <a:srgbClr val="B42A2A"/>
                </a:solidFill>
                <a:latin typeface="Arial"/>
              </a:rPr>
              <a:t>154</a:t>
            </a:r>
          </a:p>
          <a:p>
            <a:pPr algn="ctr"/>
            <a:r>
              <a:rPr sz="1100">
                <a:solidFill>
                  <a:srgbClr val="121A2F"/>
                </a:solidFill>
                <a:latin typeface="Arial"/>
              </a:rPr>
              <a:t>Incomplete KYC</a:t>
            </a:r>
          </a:p>
        </p:txBody>
      </p:sp>
      <p:sp>
        <p:nvSpPr>
          <p:cNvPr id="17" name="Rectangle 16"/>
          <p:cNvSpPr/>
          <p:nvPr/>
        </p:nvSpPr>
        <p:spPr>
          <a:xfrm>
            <a:off x="13681710" y="2807208"/>
            <a:ext cx="4057650" cy="86868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681710" y="2807208"/>
            <a:ext cx="4057650" cy="868680"/>
          </a:xfrm>
          <a:prstGeom prst="rect">
            <a:avLst/>
          </a:prstGeom>
          <a:noFill/>
        </p:spPr>
        <p:txBody>
          <a:bodyPr wrap="square" anchor="ctr">
            <a:spAutoFit/>
          </a:bodyPr>
          <a:lstStyle/>
          <a:p>
            <a:pPr algn="ctr"/>
            <a:r>
              <a:rPr sz="2200" b="1">
                <a:solidFill>
                  <a:srgbClr val="121A2F"/>
                </a:solidFill>
                <a:latin typeface="Arial"/>
              </a:rPr>
              <a:t>24 / 25</a:t>
            </a:r>
          </a:p>
          <a:p>
            <a:pPr algn="ctr"/>
            <a:r>
              <a:rPr sz="1100">
                <a:solidFill>
                  <a:srgbClr val="121A2F"/>
                </a:solidFill>
                <a:latin typeface="Arial"/>
              </a:rPr>
              <a:t>Tickets Resolved/Created</a:t>
            </a:r>
          </a:p>
        </p:txBody>
      </p:sp>
      <p:sp>
        <p:nvSpPr>
          <p:cNvPr id="19" name="TextBox 18"/>
          <p:cNvSpPr txBox="1"/>
          <p:nvPr/>
        </p:nvSpPr>
        <p:spPr>
          <a:xfrm>
            <a:off x="548640" y="3950208"/>
            <a:ext cx="5486400" cy="365760"/>
          </a:xfrm>
          <a:prstGeom prst="rect">
            <a:avLst/>
          </a:prstGeom>
          <a:noFill/>
        </p:spPr>
        <p:txBody>
          <a:bodyPr wrap="square">
            <a:spAutoFit/>
          </a:bodyPr>
          <a:lstStyle/>
          <a:p>
            <a:pPr algn="l"/>
            <a:r>
              <a:rPr sz="1900" b="1" i="0">
                <a:solidFill>
                  <a:srgbClr val="121A2F"/>
                </a:solidFill>
                <a:latin typeface="Arial"/>
              </a:rPr>
              <a:t>Key Highlights</a:t>
            </a:r>
          </a:p>
        </p:txBody>
      </p:sp>
      <p:sp>
        <p:nvSpPr>
          <p:cNvPr id="20" name="Rectangle 19"/>
          <p:cNvSpPr/>
          <p:nvPr/>
        </p:nvSpPr>
        <p:spPr>
          <a:xfrm>
            <a:off x="548640" y="4389120"/>
            <a:ext cx="17190720" cy="28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590288"/>
            <a:ext cx="17190720" cy="274320"/>
          </a:xfrm>
          <a:prstGeom prst="rect">
            <a:avLst/>
          </a:prstGeom>
          <a:noFill/>
        </p:spPr>
        <p:txBody>
          <a:bodyPr wrap="square">
            <a:spAutoFit/>
          </a:bodyPr>
          <a:lstStyle/>
          <a:p>
            <a:pPr algn="l"/>
            <a:r>
              <a:rPr sz="1350" b="1" i="0">
                <a:solidFill>
                  <a:srgbClr val="121A2F"/>
                </a:solidFill>
                <a:latin typeface="Arial"/>
              </a:rPr>
              <a:t>iOS growth is outpacing Android for the first time.</a:t>
            </a:r>
          </a:p>
        </p:txBody>
      </p:sp>
      <p:sp>
        <p:nvSpPr>
          <p:cNvPr id="22" name="TextBox 21"/>
          <p:cNvSpPr txBox="1"/>
          <p:nvPr/>
        </p:nvSpPr>
        <p:spPr>
          <a:xfrm>
            <a:off x="548640" y="4846320"/>
            <a:ext cx="17190720" cy="320040"/>
          </a:xfrm>
          <a:prstGeom prst="rect">
            <a:avLst/>
          </a:prstGeom>
          <a:noFill/>
        </p:spPr>
        <p:txBody>
          <a:bodyPr wrap="square">
            <a:spAutoFit/>
          </a:bodyPr>
          <a:lstStyle/>
          <a:p>
            <a:pPr algn="l"/>
            <a:r>
              <a:rPr sz="1150" b="0" i="0">
                <a:solidFill>
                  <a:srgbClr val="5A6A85"/>
                </a:solidFill>
                <a:latin typeface="Arial"/>
              </a:rPr>
              <a:t>iOS downloads grew +59 this period vs. +16 for Android - a real shift from the platform's historical Android lead.</a:t>
            </a:r>
          </a:p>
        </p:txBody>
      </p:sp>
      <p:sp>
        <p:nvSpPr>
          <p:cNvPr id="23" name="TextBox 22"/>
          <p:cNvSpPr txBox="1"/>
          <p:nvPr/>
        </p:nvSpPr>
        <p:spPr>
          <a:xfrm>
            <a:off x="548640" y="5212080"/>
            <a:ext cx="17190720" cy="274320"/>
          </a:xfrm>
          <a:prstGeom prst="rect">
            <a:avLst/>
          </a:prstGeom>
          <a:noFill/>
        </p:spPr>
        <p:txBody>
          <a:bodyPr wrap="square">
            <a:spAutoFit/>
          </a:bodyPr>
          <a:lstStyle/>
          <a:p>
            <a:pPr algn="l"/>
            <a:r>
              <a:rPr sz="1350" b="1" i="0">
                <a:solidFill>
                  <a:srgbClr val="121A2F"/>
                </a:solidFill>
                <a:latin typeface="Arial"/>
              </a:rPr>
              <a:t>Total deposits dipped, not grew, this cycle.</a:t>
            </a:r>
          </a:p>
        </p:txBody>
      </p:sp>
      <p:sp>
        <p:nvSpPr>
          <p:cNvPr id="24" name="TextBox 23"/>
          <p:cNvSpPr txBox="1"/>
          <p:nvPr/>
        </p:nvSpPr>
        <p:spPr>
          <a:xfrm>
            <a:off x="548640" y="5468112"/>
            <a:ext cx="17190720" cy="320040"/>
          </a:xfrm>
          <a:prstGeom prst="rect">
            <a:avLst/>
          </a:prstGeom>
          <a:noFill/>
        </p:spPr>
        <p:txBody>
          <a:bodyPr wrap="square">
            <a:spAutoFit/>
          </a:bodyPr>
          <a:lstStyle/>
          <a:p>
            <a:pPr algn="l"/>
            <a:r>
              <a:rPr sz="1150" b="0" i="0">
                <a:solidFill>
                  <a:srgbClr val="5A6A85"/>
                </a:solidFill>
                <a:latin typeface="Arial"/>
              </a:rPr>
              <a:t>Despite 3 more users funding accounts, total deposits fell by $58.95 - net withdrawals outpaced new inflows. Being reported plainly rather than smoothed over.</a:t>
            </a:r>
          </a:p>
        </p:txBody>
      </p:sp>
      <p:sp>
        <p:nvSpPr>
          <p:cNvPr id="25" name="TextBox 24"/>
          <p:cNvSpPr txBox="1"/>
          <p:nvPr/>
        </p:nvSpPr>
        <p:spPr>
          <a:xfrm>
            <a:off x="548640" y="5833872"/>
            <a:ext cx="17190720" cy="274320"/>
          </a:xfrm>
          <a:prstGeom prst="rect">
            <a:avLst/>
          </a:prstGeom>
          <a:noFill/>
        </p:spPr>
        <p:txBody>
          <a:bodyPr wrap="square">
            <a:spAutoFit/>
          </a:bodyPr>
          <a:lstStyle/>
          <a:p>
            <a:pPr algn="l"/>
            <a:r>
              <a:rPr sz="1350" b="1" i="0">
                <a:solidFill>
                  <a:srgbClr val="121A2F"/>
                </a:solidFill>
                <a:latin typeface="Arial"/>
              </a:rPr>
              <a:t>KYC friction is widening faster than onboarding.</a:t>
            </a:r>
          </a:p>
        </p:txBody>
      </p:sp>
      <p:sp>
        <p:nvSpPr>
          <p:cNvPr id="26" name="TextBox 25"/>
          <p:cNvSpPr txBox="1"/>
          <p:nvPr/>
        </p:nvSpPr>
        <p:spPr>
          <a:xfrm>
            <a:off x="548640" y="6089904"/>
            <a:ext cx="17190720" cy="320040"/>
          </a:xfrm>
          <a:prstGeom prst="rect">
            <a:avLst/>
          </a:prstGeom>
          <a:noFill/>
        </p:spPr>
        <p:txBody>
          <a:bodyPr wrap="square">
            <a:spAutoFit/>
          </a:bodyPr>
          <a:lstStyle/>
          <a:p>
            <a:pPr algn="l"/>
            <a:r>
              <a:rPr sz="1150" b="0" i="0">
                <a:solidFill>
                  <a:srgbClr val="5A6A85"/>
                </a:solidFill>
                <a:latin typeface="Arial"/>
              </a:rPr>
              <a:t>Incomplete KYC grew by 38 users this period, more than double the growth in completed onboarding (+13). This remains the single largest funnel gap on the platform.</a:t>
            </a:r>
          </a:p>
        </p:txBody>
      </p:sp>
      <p:sp>
        <p:nvSpPr>
          <p:cNvPr id="27" name="TextBox 26"/>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Source: eMYAA - Daily Performance Dashboard.pdf, report date 30 Aug 2026, All Time. Compared to the 5 Aug 2026 snapshot.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OUR STORY THIS YEAR</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700" b="1" i="0">
                <a:solidFill>
                  <a:srgbClr val="121A2F"/>
                </a:solidFill>
                <a:latin typeface="Arial"/>
              </a:rPr>
              <a:t>How We Got Here: The Agency Transition, Closed Out</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91640"/>
            <a:ext cx="17190720" cy="14173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54864" cy="14173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3080"/>
            <a:ext cx="16642080" cy="274320"/>
          </a:xfrm>
          <a:prstGeom prst="rect">
            <a:avLst/>
          </a:prstGeom>
          <a:noFill/>
        </p:spPr>
        <p:txBody>
          <a:bodyPr wrap="square">
            <a:spAutoFit/>
          </a:bodyPr>
          <a:lstStyle/>
          <a:p>
            <a:pPr algn="l"/>
            <a:r>
              <a:rPr sz="1100" b="1" i="0">
                <a:solidFill>
                  <a:srgbClr val="C9A227"/>
                </a:solidFill>
                <a:latin typeface="Arial"/>
              </a:rPr>
              <a:t>MID-JULY</a:t>
            </a:r>
          </a:p>
        </p:txBody>
      </p:sp>
      <p:sp>
        <p:nvSpPr>
          <p:cNvPr id="9" name="TextBox 8"/>
          <p:cNvSpPr txBox="1"/>
          <p:nvPr/>
        </p:nvSpPr>
        <p:spPr>
          <a:xfrm>
            <a:off x="822960" y="2039112"/>
            <a:ext cx="16642080" cy="320040"/>
          </a:xfrm>
          <a:prstGeom prst="rect">
            <a:avLst/>
          </a:prstGeom>
          <a:noFill/>
        </p:spPr>
        <p:txBody>
          <a:bodyPr wrap="square">
            <a:spAutoFit/>
          </a:bodyPr>
          <a:lstStyle/>
          <a:p>
            <a:pPr algn="l"/>
            <a:r>
              <a:rPr sz="1500" b="1" i="0">
                <a:solidFill>
                  <a:srgbClr val="121A2F"/>
                </a:solidFill>
                <a:latin typeface="Arial"/>
              </a:rPr>
              <a:t>Paid Social Went Dark - Unintentionally</a:t>
            </a:r>
          </a:p>
        </p:txBody>
      </p:sp>
      <p:sp>
        <p:nvSpPr>
          <p:cNvPr id="10" name="TextBox 9"/>
          <p:cNvSpPr txBox="1"/>
          <p:nvPr/>
        </p:nvSpPr>
        <p:spPr>
          <a:xfrm>
            <a:off x="822960" y="2377440"/>
            <a:ext cx="16642080" cy="640080"/>
          </a:xfrm>
          <a:prstGeom prst="rect">
            <a:avLst/>
          </a:prstGeom>
          <a:noFill/>
        </p:spPr>
        <p:txBody>
          <a:bodyPr wrap="square">
            <a:spAutoFit/>
          </a:bodyPr>
          <a:lstStyle/>
          <a:p>
            <a:pPr algn="l"/>
            <a:r>
              <a:rPr sz="1200" b="0" i="0">
                <a:solidFill>
                  <a:srgbClr val="5A6A85"/>
                </a:solidFill>
                <a:latin typeface="Arial"/>
              </a:rPr>
              <a:t>Paid support on X and LinkedIn lapsed simultaneously around 9-10 July. Confirmed: this was not a strategic decision - it happened because of an agency transition gap, compounded by a Meta Business Verification that had been stuck for months.</a:t>
            </a:r>
          </a:p>
        </p:txBody>
      </p:sp>
      <p:sp>
        <p:nvSpPr>
          <p:cNvPr id="11" name="Rectangle 10"/>
          <p:cNvSpPr/>
          <p:nvPr/>
        </p:nvSpPr>
        <p:spPr>
          <a:xfrm>
            <a:off x="548640" y="3273552"/>
            <a:ext cx="17190720" cy="14173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73552"/>
            <a:ext cx="54864" cy="14173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64992"/>
            <a:ext cx="16642080" cy="274320"/>
          </a:xfrm>
          <a:prstGeom prst="rect">
            <a:avLst/>
          </a:prstGeom>
          <a:noFill/>
        </p:spPr>
        <p:txBody>
          <a:bodyPr wrap="square">
            <a:spAutoFit/>
          </a:bodyPr>
          <a:lstStyle/>
          <a:p>
            <a:pPr algn="l"/>
            <a:r>
              <a:rPr sz="1100" b="1" i="0">
                <a:solidFill>
                  <a:srgbClr val="C9A227"/>
                </a:solidFill>
                <a:latin typeface="Arial"/>
              </a:rPr>
              <a:t>27 JULY - 17 AUGUST</a:t>
            </a:r>
          </a:p>
        </p:txBody>
      </p:sp>
      <p:sp>
        <p:nvSpPr>
          <p:cNvPr id="14" name="TextBox 13"/>
          <p:cNvSpPr txBox="1"/>
          <p:nvPr/>
        </p:nvSpPr>
        <p:spPr>
          <a:xfrm>
            <a:off x="822960" y="3621024"/>
            <a:ext cx="16642080" cy="320040"/>
          </a:xfrm>
          <a:prstGeom prst="rect">
            <a:avLst/>
          </a:prstGeom>
          <a:noFill/>
        </p:spPr>
        <p:txBody>
          <a:bodyPr wrap="square">
            <a:spAutoFit/>
          </a:bodyPr>
          <a:lstStyle/>
          <a:p>
            <a:pPr algn="l"/>
            <a:r>
              <a:rPr sz="1500" b="1" i="0">
                <a:solidFill>
                  <a:srgbClr val="121A2F"/>
                </a:solidFill>
                <a:latin typeface="Arial"/>
              </a:rPr>
              <a:t>Specialized Partners Onboarded</a:t>
            </a:r>
          </a:p>
        </p:txBody>
      </p:sp>
      <p:sp>
        <p:nvSpPr>
          <p:cNvPr id="15" name="TextBox 14"/>
          <p:cNvSpPr txBox="1"/>
          <p:nvPr/>
        </p:nvSpPr>
        <p:spPr>
          <a:xfrm>
            <a:off x="822960" y="3959352"/>
            <a:ext cx="16642080" cy="640080"/>
          </a:xfrm>
          <a:prstGeom prst="rect">
            <a:avLst/>
          </a:prstGeom>
          <a:noFill/>
        </p:spPr>
        <p:txBody>
          <a:bodyPr wrap="square">
            <a:spAutoFit/>
          </a:bodyPr>
          <a:lstStyle/>
          <a:p>
            <a:pPr algn="l"/>
            <a:r>
              <a:rPr sz="1200" b="0" i="0">
                <a:solidFill>
                  <a:srgbClr val="5A6A85"/>
                </a:solidFill>
                <a:latin typeface="Arial"/>
              </a:rPr>
              <a:t>24F (social content) kicked off 27 July; Ignite (paid ads) kicked off 13-17 August. Both replace the single generalist agency that was managing everything before, at a comparable combined cost.</a:t>
            </a:r>
          </a:p>
        </p:txBody>
      </p:sp>
      <p:sp>
        <p:nvSpPr>
          <p:cNvPr id="16" name="Rectangle 15"/>
          <p:cNvSpPr/>
          <p:nvPr/>
        </p:nvSpPr>
        <p:spPr>
          <a:xfrm>
            <a:off x="548640" y="4855464"/>
            <a:ext cx="17190720" cy="14173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855464"/>
            <a:ext cx="54864" cy="14173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46904"/>
            <a:ext cx="16642080" cy="274320"/>
          </a:xfrm>
          <a:prstGeom prst="rect">
            <a:avLst/>
          </a:prstGeom>
          <a:noFill/>
        </p:spPr>
        <p:txBody>
          <a:bodyPr wrap="square">
            <a:spAutoFit/>
          </a:bodyPr>
          <a:lstStyle/>
          <a:p>
            <a:pPr algn="l"/>
            <a:r>
              <a:rPr sz="1100" b="1" i="0">
                <a:solidFill>
                  <a:srgbClr val="C9A227"/>
                </a:solidFill>
                <a:latin typeface="Arial"/>
              </a:rPr>
              <a:t>20-27 AUGUST</a:t>
            </a:r>
          </a:p>
        </p:txBody>
      </p:sp>
      <p:sp>
        <p:nvSpPr>
          <p:cNvPr id="19" name="TextBox 18"/>
          <p:cNvSpPr txBox="1"/>
          <p:nvPr/>
        </p:nvSpPr>
        <p:spPr>
          <a:xfrm>
            <a:off x="822960" y="5202936"/>
            <a:ext cx="16642080" cy="320040"/>
          </a:xfrm>
          <a:prstGeom prst="rect">
            <a:avLst/>
          </a:prstGeom>
          <a:noFill/>
        </p:spPr>
        <p:txBody>
          <a:bodyPr wrap="square">
            <a:spAutoFit/>
          </a:bodyPr>
          <a:lstStyle/>
          <a:p>
            <a:pPr algn="l"/>
            <a:r>
              <a:rPr sz="1500" b="1" i="0">
                <a:solidFill>
                  <a:srgbClr val="121A2F"/>
                </a:solidFill>
                <a:latin typeface="Arial"/>
              </a:rPr>
              <a:t>Paid Media Resumed, Compliance Tightened</a:t>
            </a:r>
          </a:p>
        </p:txBody>
      </p:sp>
      <p:sp>
        <p:nvSpPr>
          <p:cNvPr id="20" name="TextBox 19"/>
          <p:cNvSpPr txBox="1"/>
          <p:nvPr/>
        </p:nvSpPr>
        <p:spPr>
          <a:xfrm>
            <a:off x="822960" y="5541264"/>
            <a:ext cx="16642080" cy="640080"/>
          </a:xfrm>
          <a:prstGeom prst="rect">
            <a:avLst/>
          </a:prstGeom>
          <a:noFill/>
        </p:spPr>
        <p:txBody>
          <a:bodyPr wrap="square">
            <a:spAutoFit/>
          </a:bodyPr>
          <a:lstStyle/>
          <a:p>
            <a:pPr algn="l"/>
            <a:r>
              <a:rPr sz="1200" b="0" i="0">
                <a:solidFill>
                  <a:srgbClr val="5A6A85"/>
                </a:solidFill>
                <a:latin typeface="Arial"/>
              </a:rPr>
              <a:t>Two Instagram campaigns approved and now live: Mention &amp; Win ($400) and the Ali Sabeel influencer video ($2,200). All prize messaging now locked to "up to $5,000" phrasing, never a flat guaranteed amount.</a:t>
            </a:r>
          </a:p>
        </p:txBody>
      </p:sp>
      <p:sp>
        <p:nvSpPr>
          <p:cNvPr id="21" name="TextBox 20"/>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Source: Ignite and 24F email correspondence, Aug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EMYAA.COM</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700" b="1" i="0">
                <a:solidFill>
                  <a:srgbClr val="121A2F"/>
                </a:solidFill>
                <a:latin typeface="Arial"/>
              </a:rPr>
              <a:t>Website Analytics</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4057650" cy="1097280"/>
          </a:xfrm>
          <a:prstGeom prst="rect">
            <a:avLst/>
          </a:prstGeom>
          <a:gradFill rotWithShape="1">
            <a:gsLst>
              <a:gs pos="0">
                <a:srgbClr val="0C1E4A"/>
              </a:gs>
              <a:gs pos="100000">
                <a:srgbClr val="2F6FE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600" b="1">
                <a:solidFill>
                  <a:srgbClr val="FFFFFF"/>
                </a:solidFill>
                <a:latin typeface="Arial"/>
              </a:rPr>
              <a:t>656</a:t>
            </a:r>
          </a:p>
          <a:p>
            <a:pPr algn="ctr"/>
            <a:r>
              <a:rPr sz="1200">
                <a:solidFill>
                  <a:srgbClr val="FFFFFF"/>
                </a:solidFill>
                <a:latin typeface="Arial"/>
              </a:rPr>
              <a:t>Visits</a:t>
            </a:r>
          </a:p>
          <a:p>
            <a:pPr algn="ctr"/>
            <a:r>
              <a:rPr sz="950" i="1">
                <a:solidFill>
                  <a:srgbClr val="C7CEDD"/>
                </a:solidFill>
                <a:latin typeface="Arial"/>
              </a:rPr>
              <a:t>+1,239% YoY</a:t>
            </a:r>
          </a:p>
        </p:txBody>
      </p:sp>
      <p:sp>
        <p:nvSpPr>
          <p:cNvPr id="7" name="Rectangle 6"/>
          <p:cNvSpPr/>
          <p:nvPr/>
        </p:nvSpPr>
        <p:spPr>
          <a:xfrm>
            <a:off x="4926330" y="1600200"/>
            <a:ext cx="4057650" cy="1097280"/>
          </a:xfrm>
          <a:prstGeom prst="rect">
            <a:avLst/>
          </a:prstGeom>
          <a:gradFill rotWithShape="1">
            <a:gsLst>
              <a:gs pos="0">
                <a:srgbClr val="0C1E4A"/>
              </a:gs>
              <a:gs pos="100000">
                <a:srgbClr val="2F6FE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600" b="1">
                <a:solidFill>
                  <a:srgbClr val="FFFFFF"/>
                </a:solidFill>
                <a:latin typeface="Arial"/>
              </a:rPr>
              <a:t>575</a:t>
            </a:r>
          </a:p>
          <a:p>
            <a:pPr algn="ctr"/>
            <a:r>
              <a:rPr sz="1200">
                <a:solidFill>
                  <a:srgbClr val="FFFFFF"/>
                </a:solidFill>
                <a:latin typeface="Arial"/>
              </a:rPr>
              <a:t>Unique Visitors</a:t>
            </a:r>
          </a:p>
          <a:p>
            <a:pPr algn="ctr"/>
            <a:r>
              <a:rPr sz="950" i="1">
                <a:solidFill>
                  <a:srgbClr val="C7CEDD"/>
                </a:solidFill>
                <a:latin typeface="Arial"/>
              </a:rPr>
              <a:t>+1,454% YoY</a:t>
            </a:r>
          </a:p>
        </p:txBody>
      </p:sp>
      <p:sp>
        <p:nvSpPr>
          <p:cNvPr id="8" name="Rectangle 7"/>
          <p:cNvSpPr/>
          <p:nvPr/>
        </p:nvSpPr>
        <p:spPr>
          <a:xfrm>
            <a:off x="9304020" y="1600200"/>
            <a:ext cx="4057650" cy="1097280"/>
          </a:xfrm>
          <a:prstGeom prst="rect">
            <a:avLst/>
          </a:prstGeom>
          <a:gradFill rotWithShape="1">
            <a:gsLst>
              <a:gs pos="0">
                <a:srgbClr val="0C1E4A"/>
              </a:gs>
              <a:gs pos="100000">
                <a:srgbClr val="2F6FE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600" b="1">
                <a:solidFill>
                  <a:srgbClr val="FFFFFF"/>
                </a:solidFill>
                <a:latin typeface="Arial"/>
              </a:rPr>
              <a:t>975</a:t>
            </a:r>
          </a:p>
          <a:p>
            <a:pPr algn="ctr"/>
            <a:r>
              <a:rPr sz="1200">
                <a:solidFill>
                  <a:srgbClr val="FFFFFF"/>
                </a:solidFill>
                <a:latin typeface="Arial"/>
              </a:rPr>
              <a:t>Pageviews</a:t>
            </a:r>
          </a:p>
          <a:p>
            <a:pPr algn="ctr"/>
            <a:r>
              <a:rPr sz="950" i="1">
                <a:solidFill>
                  <a:srgbClr val="C7CEDD"/>
                </a:solidFill>
                <a:latin typeface="Arial"/>
              </a:rPr>
              <a:t>+1,423% YoY</a:t>
            </a:r>
          </a:p>
        </p:txBody>
      </p:sp>
      <p:sp>
        <p:nvSpPr>
          <p:cNvPr id="9" name="Rectangle 8"/>
          <p:cNvSpPr/>
          <p:nvPr/>
        </p:nvSpPr>
        <p:spPr>
          <a:xfrm>
            <a:off x="13681710" y="1600200"/>
            <a:ext cx="4057650" cy="1097280"/>
          </a:xfrm>
          <a:prstGeom prst="rect">
            <a:avLst/>
          </a:prstGeom>
          <a:gradFill rotWithShape="1">
            <a:gsLst>
              <a:gs pos="0">
                <a:srgbClr val="0C1E4A"/>
              </a:gs>
              <a:gs pos="100000">
                <a:srgbClr val="2F6FE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600" b="1">
                <a:solidFill>
                  <a:srgbClr val="FFFFFF"/>
                </a:solidFill>
                <a:latin typeface="Arial"/>
              </a:rPr>
              <a:t>79.38%</a:t>
            </a:r>
          </a:p>
          <a:p>
            <a:pPr algn="ctr"/>
            <a:r>
              <a:rPr sz="1200">
                <a:solidFill>
                  <a:srgbClr val="FFFFFF"/>
                </a:solidFill>
                <a:latin typeface="Arial"/>
              </a:rPr>
              <a:t>Bounce Rate</a:t>
            </a:r>
          </a:p>
          <a:p>
            <a:pPr algn="ctr"/>
            <a:r>
              <a:rPr sz="950" i="1">
                <a:solidFill>
                  <a:srgbClr val="C7CEDD"/>
                </a:solidFill>
                <a:latin typeface="Arial"/>
              </a:rPr>
              <a:t>0% YoY</a:t>
            </a:r>
          </a:p>
        </p:txBody>
      </p:sp>
      <p:sp>
        <p:nvSpPr>
          <p:cNvPr id="10" name="TextBox 9"/>
          <p:cNvSpPr txBox="1"/>
          <p:nvPr/>
        </p:nvSpPr>
        <p:spPr>
          <a:xfrm>
            <a:off x="548640" y="3017520"/>
            <a:ext cx="5486400" cy="365760"/>
          </a:xfrm>
          <a:prstGeom prst="rect">
            <a:avLst/>
          </a:prstGeom>
          <a:noFill/>
        </p:spPr>
        <p:txBody>
          <a:bodyPr wrap="square">
            <a:spAutoFit/>
          </a:bodyPr>
          <a:lstStyle/>
          <a:p>
            <a:pPr algn="l"/>
            <a:r>
              <a:rPr sz="1700" b="1" i="0">
                <a:solidFill>
                  <a:srgbClr val="121A2F"/>
                </a:solidFill>
                <a:latin typeface="Arial"/>
              </a:rPr>
              <a:t>Traffic Sources</a:t>
            </a:r>
          </a:p>
        </p:txBody>
      </p:sp>
      <p:sp>
        <p:nvSpPr>
          <p:cNvPr id="11" name="Rectangle 10"/>
          <p:cNvSpPr/>
          <p:nvPr/>
        </p:nvSpPr>
        <p:spPr>
          <a:xfrm>
            <a:off x="548640" y="3429000"/>
            <a:ext cx="11247120" cy="36576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474720"/>
            <a:ext cx="2176272" cy="274320"/>
          </a:xfrm>
          <a:prstGeom prst="rect">
            <a:avLst/>
          </a:prstGeom>
          <a:noFill/>
        </p:spPr>
        <p:txBody>
          <a:bodyPr wrap="square">
            <a:spAutoFit/>
          </a:bodyPr>
          <a:lstStyle/>
          <a:p>
            <a:pPr algn="l"/>
            <a:r>
              <a:rPr sz="1150" b="1" i="0">
                <a:solidFill>
                  <a:srgbClr val="FFFFFF"/>
                </a:solidFill>
                <a:latin typeface="Arial"/>
              </a:rPr>
              <a:t>Source</a:t>
            </a:r>
          </a:p>
        </p:txBody>
      </p:sp>
      <p:sp>
        <p:nvSpPr>
          <p:cNvPr id="13" name="TextBox 12"/>
          <p:cNvSpPr txBox="1"/>
          <p:nvPr/>
        </p:nvSpPr>
        <p:spPr>
          <a:xfrm>
            <a:off x="2907792" y="3474720"/>
            <a:ext cx="1353312" cy="274320"/>
          </a:xfrm>
          <a:prstGeom prst="rect">
            <a:avLst/>
          </a:prstGeom>
          <a:noFill/>
        </p:spPr>
        <p:txBody>
          <a:bodyPr wrap="square">
            <a:spAutoFit/>
          </a:bodyPr>
          <a:lstStyle/>
          <a:p>
            <a:pPr algn="l"/>
            <a:r>
              <a:rPr sz="1150" b="1" i="0">
                <a:solidFill>
                  <a:srgbClr val="FFFFFF"/>
                </a:solidFill>
                <a:latin typeface="Arial"/>
              </a:rPr>
              <a:t>Visits</a:t>
            </a:r>
          </a:p>
        </p:txBody>
      </p:sp>
      <p:sp>
        <p:nvSpPr>
          <p:cNvPr id="14" name="TextBox 13"/>
          <p:cNvSpPr txBox="1"/>
          <p:nvPr/>
        </p:nvSpPr>
        <p:spPr>
          <a:xfrm>
            <a:off x="4370832" y="3474720"/>
            <a:ext cx="1353312" cy="274320"/>
          </a:xfrm>
          <a:prstGeom prst="rect">
            <a:avLst/>
          </a:prstGeom>
          <a:noFill/>
        </p:spPr>
        <p:txBody>
          <a:bodyPr wrap="square">
            <a:spAutoFit/>
          </a:bodyPr>
          <a:lstStyle/>
          <a:p>
            <a:pPr algn="l"/>
            <a:r>
              <a:rPr sz="1150" b="1" i="0">
                <a:solidFill>
                  <a:srgbClr val="FFFFFF"/>
                </a:solidFill>
                <a:latin typeface="Arial"/>
              </a:rPr>
              <a:t/>
            </a:r>
          </a:p>
        </p:txBody>
      </p:sp>
      <p:sp>
        <p:nvSpPr>
          <p:cNvPr id="15" name="TextBox 14"/>
          <p:cNvSpPr txBox="1"/>
          <p:nvPr/>
        </p:nvSpPr>
        <p:spPr>
          <a:xfrm>
            <a:off x="5833872" y="3474720"/>
            <a:ext cx="5925312" cy="274320"/>
          </a:xfrm>
          <a:prstGeom prst="rect">
            <a:avLst/>
          </a:prstGeom>
          <a:noFill/>
        </p:spPr>
        <p:txBody>
          <a:bodyPr wrap="square">
            <a:spAutoFit/>
          </a:bodyPr>
          <a:lstStyle/>
          <a:p>
            <a:pPr algn="l"/>
            <a:r>
              <a:rPr sz="1150" b="1" i="0">
                <a:solidFill>
                  <a:srgbClr val="FFFFFF"/>
                </a:solidFill>
                <a:latin typeface="Arial"/>
              </a:rPr>
              <a:t>Notes</a:t>
            </a:r>
          </a:p>
        </p:txBody>
      </p:sp>
      <p:sp>
        <p:nvSpPr>
          <p:cNvPr id="16" name="Rectangle 15"/>
          <p:cNvSpPr/>
          <p:nvPr/>
        </p:nvSpPr>
        <p:spPr>
          <a:xfrm>
            <a:off x="548640" y="3794760"/>
            <a:ext cx="11247120" cy="45720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867912"/>
            <a:ext cx="2157984" cy="347472"/>
          </a:xfrm>
          <a:prstGeom prst="rect">
            <a:avLst/>
          </a:prstGeom>
          <a:noFill/>
        </p:spPr>
        <p:txBody>
          <a:bodyPr wrap="square">
            <a:spAutoFit/>
          </a:bodyPr>
          <a:lstStyle/>
          <a:p>
            <a:pPr algn="l"/>
            <a:r>
              <a:rPr sz="1100" b="1" i="0">
                <a:solidFill>
                  <a:srgbClr val="121A2F"/>
                </a:solidFill>
                <a:latin typeface="Arial"/>
              </a:rPr>
              <a:t>Direct</a:t>
            </a:r>
          </a:p>
        </p:txBody>
      </p:sp>
      <p:sp>
        <p:nvSpPr>
          <p:cNvPr id="18" name="TextBox 17"/>
          <p:cNvSpPr txBox="1"/>
          <p:nvPr/>
        </p:nvSpPr>
        <p:spPr>
          <a:xfrm>
            <a:off x="2907792" y="3867912"/>
            <a:ext cx="1335024" cy="347472"/>
          </a:xfrm>
          <a:prstGeom prst="rect">
            <a:avLst/>
          </a:prstGeom>
          <a:noFill/>
        </p:spPr>
        <p:txBody>
          <a:bodyPr wrap="square">
            <a:spAutoFit/>
          </a:bodyPr>
          <a:lstStyle/>
          <a:p>
            <a:pPr algn="l"/>
            <a:r>
              <a:rPr sz="1100" b="0" i="0">
                <a:solidFill>
                  <a:srgbClr val="121A2F"/>
                </a:solidFill>
                <a:latin typeface="Arial"/>
              </a:rPr>
              <a:t>496 (75.5%)</a:t>
            </a:r>
          </a:p>
        </p:txBody>
      </p:sp>
      <p:sp>
        <p:nvSpPr>
          <p:cNvPr id="19" name="TextBox 18"/>
          <p:cNvSpPr txBox="1"/>
          <p:nvPr/>
        </p:nvSpPr>
        <p:spPr>
          <a:xfrm>
            <a:off x="4370832" y="3867912"/>
            <a:ext cx="1335024" cy="347472"/>
          </a:xfrm>
          <a:prstGeom prst="rect">
            <a:avLst/>
          </a:prstGeom>
          <a:noFill/>
        </p:spPr>
        <p:txBody>
          <a:bodyPr wrap="square">
            <a:spAutoFit/>
          </a:bodyPr>
          <a:lstStyle/>
          <a:p>
            <a:pPr algn="l"/>
            <a:r>
              <a:rPr sz="1100" b="0" i="0">
                <a:solidFill>
                  <a:srgbClr val="121A2F"/>
                </a:solidFill>
                <a:latin typeface="Arial"/>
              </a:rPr>
              <a:t/>
            </a:r>
          </a:p>
        </p:txBody>
      </p:sp>
      <p:sp>
        <p:nvSpPr>
          <p:cNvPr id="20" name="TextBox 19"/>
          <p:cNvSpPr txBox="1"/>
          <p:nvPr/>
        </p:nvSpPr>
        <p:spPr>
          <a:xfrm>
            <a:off x="5833872" y="3867912"/>
            <a:ext cx="5907024" cy="347472"/>
          </a:xfrm>
          <a:prstGeom prst="rect">
            <a:avLst/>
          </a:prstGeom>
          <a:noFill/>
        </p:spPr>
        <p:txBody>
          <a:bodyPr wrap="square">
            <a:spAutoFit/>
          </a:bodyPr>
          <a:lstStyle/>
          <a:p>
            <a:pPr algn="l"/>
            <a:r>
              <a:rPr sz="1100" b="0" i="0">
                <a:solidFill>
                  <a:srgbClr val="5A6A85"/>
                </a:solidFill>
                <a:latin typeface="Arial"/>
              </a:rPr>
              <a:t>No campaign or referral tag - typed URL, bookmark, or app share</a:t>
            </a:r>
          </a:p>
        </p:txBody>
      </p:sp>
      <p:sp>
        <p:nvSpPr>
          <p:cNvPr id="21" name="Rectangle 20"/>
          <p:cNvSpPr/>
          <p:nvPr/>
        </p:nvSpPr>
        <p:spPr>
          <a:xfrm>
            <a:off x="548640" y="4251960"/>
            <a:ext cx="11247120" cy="45720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4325112"/>
            <a:ext cx="2157984" cy="347472"/>
          </a:xfrm>
          <a:prstGeom prst="rect">
            <a:avLst/>
          </a:prstGeom>
          <a:noFill/>
        </p:spPr>
        <p:txBody>
          <a:bodyPr wrap="square">
            <a:spAutoFit/>
          </a:bodyPr>
          <a:lstStyle/>
          <a:p>
            <a:pPr algn="l"/>
            <a:r>
              <a:rPr sz="1100" b="1" i="0">
                <a:solidFill>
                  <a:srgbClr val="121A2F"/>
                </a:solidFill>
                <a:latin typeface="Arial"/>
              </a:rPr>
              <a:t>Search</a:t>
            </a:r>
          </a:p>
        </p:txBody>
      </p:sp>
      <p:sp>
        <p:nvSpPr>
          <p:cNvPr id="23" name="TextBox 22"/>
          <p:cNvSpPr txBox="1"/>
          <p:nvPr/>
        </p:nvSpPr>
        <p:spPr>
          <a:xfrm>
            <a:off x="2907792" y="4325112"/>
            <a:ext cx="1335024" cy="347472"/>
          </a:xfrm>
          <a:prstGeom prst="rect">
            <a:avLst/>
          </a:prstGeom>
          <a:noFill/>
        </p:spPr>
        <p:txBody>
          <a:bodyPr wrap="square">
            <a:spAutoFit/>
          </a:bodyPr>
          <a:lstStyle/>
          <a:p>
            <a:pPr algn="l"/>
            <a:r>
              <a:rPr sz="1100" b="0" i="0">
                <a:solidFill>
                  <a:srgbClr val="121A2F"/>
                </a:solidFill>
                <a:latin typeface="Arial"/>
              </a:rPr>
              <a:t>89 (13.5%)</a:t>
            </a:r>
          </a:p>
        </p:txBody>
      </p:sp>
      <p:sp>
        <p:nvSpPr>
          <p:cNvPr id="24" name="TextBox 23"/>
          <p:cNvSpPr txBox="1"/>
          <p:nvPr/>
        </p:nvSpPr>
        <p:spPr>
          <a:xfrm>
            <a:off x="4370832" y="4325112"/>
            <a:ext cx="1335024" cy="347472"/>
          </a:xfrm>
          <a:prstGeom prst="rect">
            <a:avLst/>
          </a:prstGeom>
          <a:noFill/>
        </p:spPr>
        <p:txBody>
          <a:bodyPr wrap="square">
            <a:spAutoFit/>
          </a:bodyPr>
          <a:lstStyle/>
          <a:p>
            <a:pPr algn="l"/>
            <a:r>
              <a:rPr sz="1100" b="0" i="0">
                <a:solidFill>
                  <a:srgbClr val="121A2F"/>
                </a:solidFill>
                <a:latin typeface="Arial"/>
              </a:rPr>
              <a:t/>
            </a:r>
          </a:p>
        </p:txBody>
      </p:sp>
      <p:sp>
        <p:nvSpPr>
          <p:cNvPr id="25" name="TextBox 24"/>
          <p:cNvSpPr txBox="1"/>
          <p:nvPr/>
        </p:nvSpPr>
        <p:spPr>
          <a:xfrm>
            <a:off x="5833872" y="4325112"/>
            <a:ext cx="5907024" cy="347472"/>
          </a:xfrm>
          <a:prstGeom prst="rect">
            <a:avLst/>
          </a:prstGeom>
          <a:noFill/>
        </p:spPr>
        <p:txBody>
          <a:bodyPr wrap="square">
            <a:spAutoFit/>
          </a:bodyPr>
          <a:lstStyle/>
          <a:p>
            <a:pPr algn="l"/>
            <a:r>
              <a:rPr sz="1100" b="0" i="0">
                <a:solidFill>
                  <a:srgbClr val="5A6A85"/>
                </a:solidFill>
                <a:latin typeface="Arial"/>
              </a:rPr>
              <a:t>Organic Google search</a:t>
            </a:r>
          </a:p>
        </p:txBody>
      </p:sp>
      <p:sp>
        <p:nvSpPr>
          <p:cNvPr id="26" name="Rectangle 25"/>
          <p:cNvSpPr/>
          <p:nvPr/>
        </p:nvSpPr>
        <p:spPr>
          <a:xfrm>
            <a:off x="548640" y="4709160"/>
            <a:ext cx="11247120" cy="45720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4782312"/>
            <a:ext cx="2157984" cy="347472"/>
          </a:xfrm>
          <a:prstGeom prst="rect">
            <a:avLst/>
          </a:prstGeom>
          <a:noFill/>
        </p:spPr>
        <p:txBody>
          <a:bodyPr wrap="square">
            <a:spAutoFit/>
          </a:bodyPr>
          <a:lstStyle/>
          <a:p>
            <a:pPr algn="l"/>
            <a:r>
              <a:rPr sz="1100" b="1" i="0">
                <a:solidFill>
                  <a:srgbClr val="121A2F"/>
                </a:solidFill>
                <a:latin typeface="Arial"/>
              </a:rPr>
              <a:t>Referral</a:t>
            </a:r>
          </a:p>
        </p:txBody>
      </p:sp>
      <p:sp>
        <p:nvSpPr>
          <p:cNvPr id="28" name="TextBox 27"/>
          <p:cNvSpPr txBox="1"/>
          <p:nvPr/>
        </p:nvSpPr>
        <p:spPr>
          <a:xfrm>
            <a:off x="2907792" y="4782312"/>
            <a:ext cx="1335024" cy="347472"/>
          </a:xfrm>
          <a:prstGeom prst="rect">
            <a:avLst/>
          </a:prstGeom>
          <a:noFill/>
        </p:spPr>
        <p:txBody>
          <a:bodyPr wrap="square">
            <a:spAutoFit/>
          </a:bodyPr>
          <a:lstStyle/>
          <a:p>
            <a:pPr algn="l"/>
            <a:r>
              <a:rPr sz="1100" b="0" i="0">
                <a:solidFill>
                  <a:srgbClr val="121A2F"/>
                </a:solidFill>
                <a:latin typeface="Arial"/>
              </a:rPr>
              <a:t>41 (6.24%)</a:t>
            </a:r>
          </a:p>
        </p:txBody>
      </p:sp>
      <p:sp>
        <p:nvSpPr>
          <p:cNvPr id="29" name="TextBox 28"/>
          <p:cNvSpPr txBox="1"/>
          <p:nvPr/>
        </p:nvSpPr>
        <p:spPr>
          <a:xfrm>
            <a:off x="4370832" y="4782312"/>
            <a:ext cx="1335024" cy="347472"/>
          </a:xfrm>
          <a:prstGeom prst="rect">
            <a:avLst/>
          </a:prstGeom>
          <a:noFill/>
        </p:spPr>
        <p:txBody>
          <a:bodyPr wrap="square">
            <a:spAutoFit/>
          </a:bodyPr>
          <a:lstStyle/>
          <a:p>
            <a:pPr algn="l"/>
            <a:r>
              <a:rPr sz="1100" b="0" i="0">
                <a:solidFill>
                  <a:srgbClr val="121A2F"/>
                </a:solidFill>
                <a:latin typeface="Arial"/>
              </a:rPr>
              <a:t/>
            </a:r>
          </a:p>
        </p:txBody>
      </p:sp>
      <p:sp>
        <p:nvSpPr>
          <p:cNvPr id="30" name="TextBox 29"/>
          <p:cNvSpPr txBox="1"/>
          <p:nvPr/>
        </p:nvSpPr>
        <p:spPr>
          <a:xfrm>
            <a:off x="5833872" y="4782312"/>
            <a:ext cx="5907024" cy="347472"/>
          </a:xfrm>
          <a:prstGeom prst="rect">
            <a:avLst/>
          </a:prstGeom>
          <a:noFill/>
        </p:spPr>
        <p:txBody>
          <a:bodyPr wrap="square">
            <a:spAutoFit/>
          </a:bodyPr>
          <a:lstStyle/>
          <a:p>
            <a:pPr algn="l"/>
            <a:r>
              <a:rPr sz="1100" b="0" i="0">
                <a:solidFill>
                  <a:srgbClr val="5A6A85"/>
                </a:solidFill>
                <a:latin typeface="Arial"/>
              </a:rPr>
              <a:t>ajyadcapital.com 28, chatgpt.com 3, others under 3 each</a:t>
            </a:r>
          </a:p>
        </p:txBody>
      </p:sp>
      <p:sp>
        <p:nvSpPr>
          <p:cNvPr id="31" name="Rectangle 30"/>
          <p:cNvSpPr/>
          <p:nvPr/>
        </p:nvSpPr>
        <p:spPr>
          <a:xfrm>
            <a:off x="548640" y="5166360"/>
            <a:ext cx="11247120" cy="45720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5239512"/>
            <a:ext cx="2157984" cy="347472"/>
          </a:xfrm>
          <a:prstGeom prst="rect">
            <a:avLst/>
          </a:prstGeom>
          <a:noFill/>
        </p:spPr>
        <p:txBody>
          <a:bodyPr wrap="square">
            <a:spAutoFit/>
          </a:bodyPr>
          <a:lstStyle/>
          <a:p>
            <a:pPr algn="l"/>
            <a:r>
              <a:rPr sz="1100" b="1" i="0">
                <a:solidFill>
                  <a:srgbClr val="121A2F"/>
                </a:solidFill>
                <a:latin typeface="Arial"/>
              </a:rPr>
              <a:t>Social</a:t>
            </a:r>
          </a:p>
        </p:txBody>
      </p:sp>
      <p:sp>
        <p:nvSpPr>
          <p:cNvPr id="33" name="TextBox 32"/>
          <p:cNvSpPr txBox="1"/>
          <p:nvPr/>
        </p:nvSpPr>
        <p:spPr>
          <a:xfrm>
            <a:off x="2907792" y="5239512"/>
            <a:ext cx="1335024" cy="347472"/>
          </a:xfrm>
          <a:prstGeom prst="rect">
            <a:avLst/>
          </a:prstGeom>
          <a:noFill/>
        </p:spPr>
        <p:txBody>
          <a:bodyPr wrap="square">
            <a:spAutoFit/>
          </a:bodyPr>
          <a:lstStyle/>
          <a:p>
            <a:pPr algn="l"/>
            <a:r>
              <a:rPr sz="1100" b="0" i="0">
                <a:solidFill>
                  <a:srgbClr val="121A2F"/>
                </a:solidFill>
                <a:latin typeface="Arial"/>
              </a:rPr>
              <a:t>31 (4.72%)</a:t>
            </a:r>
          </a:p>
        </p:txBody>
      </p:sp>
      <p:sp>
        <p:nvSpPr>
          <p:cNvPr id="34" name="TextBox 33"/>
          <p:cNvSpPr txBox="1"/>
          <p:nvPr/>
        </p:nvSpPr>
        <p:spPr>
          <a:xfrm>
            <a:off x="4370832" y="5239512"/>
            <a:ext cx="1335024" cy="347472"/>
          </a:xfrm>
          <a:prstGeom prst="rect">
            <a:avLst/>
          </a:prstGeom>
          <a:noFill/>
        </p:spPr>
        <p:txBody>
          <a:bodyPr wrap="square">
            <a:spAutoFit/>
          </a:bodyPr>
          <a:lstStyle/>
          <a:p>
            <a:pPr algn="l"/>
            <a:r>
              <a:rPr sz="1100" b="0" i="0">
                <a:solidFill>
                  <a:srgbClr val="121A2F"/>
                </a:solidFill>
                <a:latin typeface="Arial"/>
              </a:rPr>
              <a:t/>
            </a:r>
          </a:p>
        </p:txBody>
      </p:sp>
      <p:sp>
        <p:nvSpPr>
          <p:cNvPr id="35" name="TextBox 34"/>
          <p:cNvSpPr txBox="1"/>
          <p:nvPr/>
        </p:nvSpPr>
        <p:spPr>
          <a:xfrm>
            <a:off x="5833872" y="5239512"/>
            <a:ext cx="5907024" cy="347472"/>
          </a:xfrm>
          <a:prstGeom prst="rect">
            <a:avLst/>
          </a:prstGeom>
          <a:noFill/>
        </p:spPr>
        <p:txBody>
          <a:bodyPr wrap="square">
            <a:spAutoFit/>
          </a:bodyPr>
          <a:lstStyle/>
          <a:p>
            <a:pPr algn="l"/>
            <a:r>
              <a:rPr sz="1100" b="0" i="0">
                <a:solidFill>
                  <a:srgbClr val="5A6A85"/>
                </a:solidFill>
                <a:latin typeface="Arial"/>
              </a:rPr>
              <a:t>Instagram 22, Facebook 6, Twitter/X 3</a:t>
            </a:r>
          </a:p>
        </p:txBody>
      </p:sp>
      <p:sp>
        <p:nvSpPr>
          <p:cNvPr id="36" name="TextBox 35"/>
          <p:cNvSpPr txBox="1"/>
          <p:nvPr/>
        </p:nvSpPr>
        <p:spPr>
          <a:xfrm>
            <a:off x="548640" y="5943600"/>
            <a:ext cx="17190720" cy="365760"/>
          </a:xfrm>
          <a:prstGeom prst="rect">
            <a:avLst/>
          </a:prstGeom>
          <a:noFill/>
        </p:spPr>
        <p:txBody>
          <a:bodyPr wrap="square">
            <a:spAutoFit/>
          </a:bodyPr>
          <a:lstStyle/>
          <a:p>
            <a:pPr algn="l"/>
            <a:r>
              <a:rPr sz="1400" b="1" i="0">
                <a:solidFill>
                  <a:srgbClr val="121A2F"/>
                </a:solidFill>
                <a:latin typeface="Arial"/>
              </a:rPr>
              <a:t>Read</a:t>
            </a:r>
          </a:p>
        </p:txBody>
      </p:sp>
      <p:sp>
        <p:nvSpPr>
          <p:cNvPr id="37" name="TextBox 36"/>
          <p:cNvSpPr txBox="1"/>
          <p:nvPr/>
        </p:nvSpPr>
        <p:spPr>
          <a:xfrm>
            <a:off x="548640" y="6291072"/>
            <a:ext cx="17190720" cy="1005840"/>
          </a:xfrm>
          <a:prstGeom prst="rect">
            <a:avLst/>
          </a:prstGeom>
          <a:noFill/>
        </p:spPr>
        <p:txBody>
          <a:bodyPr wrap="square">
            <a:spAutoFit/>
          </a:bodyPr>
          <a:lstStyle/>
          <a:p>
            <a:pPr algn="l"/>
            <a:r>
              <a:rPr sz="1300" b="0" i="0">
                <a:solidFill>
                  <a:srgbClr val="5A6A85"/>
                </a:solidFill>
                <a:latin typeface="Arial"/>
              </a:rPr>
              <a:t>Traffic is real but small and concentrated in Direct, meaning most visits still come from people who already know the URL rather than organic discovery or paid referral. Bounce rate sits at 79.38% (0% YoY change, i.e. flat against last year, not improving). Reporting window shown is 31 May to 30 Aug 2026; e-commerce/revenue fields read $0 because the site has no checkout flow to track.</a:t>
            </a:r>
          </a:p>
        </p:txBody>
      </p:sp>
      <p:sp>
        <p:nvSpPr>
          <p:cNvPr id="38" name="TextBox 37"/>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Source: Squarespace Analytics, custom range 31 May - 30 Aug 2026, screenshots provided by user, 30 Aug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SOCIAL MEDIA</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700" b="1" i="0">
                <a:solidFill>
                  <a:srgbClr val="121A2F"/>
                </a:solidFill>
                <a:latin typeface="Arial"/>
              </a:rPr>
              <a:t>Instagram: Standout Channel, Two Results Confirmed Paid</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11704320" cy="36576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600200"/>
            <a:ext cx="2816352" cy="274320"/>
          </a:xfrm>
          <a:prstGeom prst="rect">
            <a:avLst/>
          </a:prstGeom>
          <a:noFill/>
        </p:spPr>
        <p:txBody>
          <a:bodyPr wrap="square">
            <a:spAutoFit/>
          </a:bodyPr>
          <a:lstStyle/>
          <a:p>
            <a:pPr algn="l"/>
            <a:r>
              <a:rPr sz="1150" b="1" i="0">
                <a:solidFill>
                  <a:srgbClr val="FFFFFF"/>
                </a:solidFill>
                <a:latin typeface="Arial"/>
              </a:rPr>
              <a:t>Metric</a:t>
            </a:r>
          </a:p>
        </p:txBody>
      </p:sp>
      <p:sp>
        <p:nvSpPr>
          <p:cNvPr id="8" name="TextBox 7"/>
          <p:cNvSpPr txBox="1"/>
          <p:nvPr/>
        </p:nvSpPr>
        <p:spPr>
          <a:xfrm>
            <a:off x="3547872" y="1600200"/>
            <a:ext cx="2816352" cy="274320"/>
          </a:xfrm>
          <a:prstGeom prst="rect">
            <a:avLst/>
          </a:prstGeom>
          <a:noFill/>
        </p:spPr>
        <p:txBody>
          <a:bodyPr wrap="square">
            <a:spAutoFit/>
          </a:bodyPr>
          <a:lstStyle/>
          <a:p>
            <a:pPr algn="l"/>
            <a:r>
              <a:rPr sz="1150" b="1" i="0">
                <a:solidFill>
                  <a:srgbClr val="FFFFFF"/>
                </a:solidFill>
                <a:latin typeface="Arial"/>
              </a:rPr>
              <a:t>Value</a:t>
            </a:r>
          </a:p>
        </p:txBody>
      </p:sp>
      <p:sp>
        <p:nvSpPr>
          <p:cNvPr id="9" name="TextBox 8"/>
          <p:cNvSpPr txBox="1"/>
          <p:nvPr/>
        </p:nvSpPr>
        <p:spPr>
          <a:xfrm>
            <a:off x="6473952" y="1600200"/>
            <a:ext cx="2816352" cy="274320"/>
          </a:xfrm>
          <a:prstGeom prst="rect">
            <a:avLst/>
          </a:prstGeom>
          <a:noFill/>
        </p:spPr>
        <p:txBody>
          <a:bodyPr wrap="square">
            <a:spAutoFit/>
          </a:bodyPr>
          <a:lstStyle/>
          <a:p>
            <a:pPr algn="l"/>
            <a:r>
              <a:rPr sz="1150" b="1" i="0">
                <a:solidFill>
                  <a:srgbClr val="FFFFFF"/>
                </a:solidFill>
                <a:latin typeface="Arial"/>
              </a:rPr>
              <a:t>Detail</a:t>
            </a:r>
          </a:p>
        </p:txBody>
      </p:sp>
      <p:sp>
        <p:nvSpPr>
          <p:cNvPr id="10" name="TextBox 9"/>
          <p:cNvSpPr txBox="1"/>
          <p:nvPr/>
        </p:nvSpPr>
        <p:spPr>
          <a:xfrm>
            <a:off x="9400032" y="1600200"/>
            <a:ext cx="2816352" cy="274320"/>
          </a:xfrm>
          <a:prstGeom prst="rect">
            <a:avLst/>
          </a:prstGeom>
          <a:noFill/>
        </p:spPr>
        <p:txBody>
          <a:bodyPr wrap="square">
            <a:spAutoFit/>
          </a:bodyPr>
          <a:lstStyle/>
          <a:p>
            <a:pPr algn="l"/>
            <a:r>
              <a:rPr sz="1150" b="1" i="0">
                <a:solidFill>
                  <a:srgbClr val="FFFFFF"/>
                </a:solidFill>
                <a:latin typeface="Arial"/>
              </a:rPr>
              <a:t>Note</a:t>
            </a:r>
          </a:p>
        </p:txBody>
      </p:sp>
      <p:sp>
        <p:nvSpPr>
          <p:cNvPr id="11" name="Rectangle 10"/>
          <p:cNvSpPr/>
          <p:nvPr/>
        </p:nvSpPr>
        <p:spPr>
          <a:xfrm>
            <a:off x="548640" y="1920240"/>
            <a:ext cx="11704320" cy="5029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993392"/>
            <a:ext cx="2798064" cy="393192"/>
          </a:xfrm>
          <a:prstGeom prst="rect">
            <a:avLst/>
          </a:prstGeom>
          <a:noFill/>
        </p:spPr>
        <p:txBody>
          <a:bodyPr wrap="square">
            <a:spAutoFit/>
          </a:bodyPr>
          <a:lstStyle/>
          <a:p>
            <a:pPr algn="l"/>
            <a:r>
              <a:rPr sz="1100" b="1" i="0">
                <a:solidFill>
                  <a:srgbClr val="121A2F"/>
                </a:solidFill>
                <a:latin typeface="Arial"/>
              </a:rPr>
              <a:t>Followers</a:t>
            </a:r>
          </a:p>
        </p:txBody>
      </p:sp>
      <p:sp>
        <p:nvSpPr>
          <p:cNvPr id="13" name="TextBox 12"/>
          <p:cNvSpPr txBox="1"/>
          <p:nvPr/>
        </p:nvSpPr>
        <p:spPr>
          <a:xfrm>
            <a:off x="3547872" y="1993392"/>
            <a:ext cx="2798064" cy="393192"/>
          </a:xfrm>
          <a:prstGeom prst="rect">
            <a:avLst/>
          </a:prstGeom>
          <a:noFill/>
        </p:spPr>
        <p:txBody>
          <a:bodyPr wrap="square">
            <a:spAutoFit/>
          </a:bodyPr>
          <a:lstStyle/>
          <a:p>
            <a:pPr algn="l"/>
            <a:r>
              <a:rPr sz="1100" b="0" i="0">
                <a:solidFill>
                  <a:srgbClr val="1B7A43"/>
                </a:solidFill>
                <a:latin typeface="Arial"/>
              </a:rPr>
              <a:t>1,765</a:t>
            </a:r>
          </a:p>
        </p:txBody>
      </p:sp>
      <p:sp>
        <p:nvSpPr>
          <p:cNvPr id="14" name="TextBox 13"/>
          <p:cNvSpPr txBox="1"/>
          <p:nvPr/>
        </p:nvSpPr>
        <p:spPr>
          <a:xfrm>
            <a:off x="6473952" y="1993392"/>
            <a:ext cx="2798064" cy="393192"/>
          </a:xfrm>
          <a:prstGeom prst="rect">
            <a:avLst/>
          </a:prstGeom>
          <a:noFill/>
        </p:spPr>
        <p:txBody>
          <a:bodyPr wrap="square">
            <a:spAutoFit/>
          </a:bodyPr>
          <a:lstStyle/>
          <a:p>
            <a:pPr algn="l"/>
            <a:r>
              <a:rPr sz="1100" b="0" i="0">
                <a:solidFill>
                  <a:srgbClr val="5A6A85"/>
                </a:solidFill>
                <a:latin typeface="Arial"/>
              </a:rPr>
              <a:t>59 posts</a:t>
            </a:r>
          </a:p>
        </p:txBody>
      </p:sp>
      <p:sp>
        <p:nvSpPr>
          <p:cNvPr id="15" name="TextBox 14"/>
          <p:cNvSpPr txBox="1"/>
          <p:nvPr/>
        </p:nvSpPr>
        <p:spPr>
          <a:xfrm>
            <a:off x="9400032" y="1993392"/>
            <a:ext cx="2798064" cy="393192"/>
          </a:xfrm>
          <a:prstGeom prst="rect">
            <a:avLst/>
          </a:prstGeom>
          <a:noFill/>
        </p:spPr>
        <p:txBody>
          <a:bodyPr wrap="square">
            <a:spAutoFit/>
          </a:bodyPr>
          <a:lstStyle/>
          <a:p>
            <a:pPr algn="l"/>
            <a:r>
              <a:rPr sz="1100" b="0" i="0">
                <a:solidFill>
                  <a:srgbClr val="5A6A85"/>
                </a:solidFill>
                <a:latin typeface="Arial"/>
              </a:rPr>
              <a:t/>
            </a:r>
          </a:p>
        </p:txBody>
      </p:sp>
      <p:sp>
        <p:nvSpPr>
          <p:cNvPr id="16" name="Rectangle 15"/>
          <p:cNvSpPr/>
          <p:nvPr/>
        </p:nvSpPr>
        <p:spPr>
          <a:xfrm>
            <a:off x="548640" y="2423160"/>
            <a:ext cx="11704320" cy="50292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496312"/>
            <a:ext cx="2798064" cy="393192"/>
          </a:xfrm>
          <a:prstGeom prst="rect">
            <a:avLst/>
          </a:prstGeom>
          <a:noFill/>
        </p:spPr>
        <p:txBody>
          <a:bodyPr wrap="square">
            <a:spAutoFit/>
          </a:bodyPr>
          <a:lstStyle/>
          <a:p>
            <a:pPr algn="l"/>
            <a:r>
              <a:rPr sz="1100" b="1" i="0">
                <a:solidFill>
                  <a:srgbClr val="121A2F"/>
                </a:solidFill>
                <a:latin typeface="Arial"/>
              </a:rPr>
              <a:t>Views (90-day)</a:t>
            </a:r>
          </a:p>
        </p:txBody>
      </p:sp>
      <p:sp>
        <p:nvSpPr>
          <p:cNvPr id="18" name="TextBox 17"/>
          <p:cNvSpPr txBox="1"/>
          <p:nvPr/>
        </p:nvSpPr>
        <p:spPr>
          <a:xfrm>
            <a:off x="3547872" y="2496312"/>
            <a:ext cx="2798064" cy="393192"/>
          </a:xfrm>
          <a:prstGeom prst="rect">
            <a:avLst/>
          </a:prstGeom>
          <a:noFill/>
        </p:spPr>
        <p:txBody>
          <a:bodyPr wrap="square">
            <a:spAutoFit/>
          </a:bodyPr>
          <a:lstStyle/>
          <a:p>
            <a:pPr algn="l"/>
            <a:r>
              <a:rPr sz="1100" b="0" i="0">
                <a:solidFill>
                  <a:srgbClr val="1B7A43"/>
                </a:solidFill>
                <a:latin typeface="Arial"/>
              </a:rPr>
              <a:t>2,271,132</a:t>
            </a:r>
          </a:p>
        </p:txBody>
      </p:sp>
      <p:sp>
        <p:nvSpPr>
          <p:cNvPr id="19" name="TextBox 18"/>
          <p:cNvSpPr txBox="1"/>
          <p:nvPr/>
        </p:nvSpPr>
        <p:spPr>
          <a:xfrm>
            <a:off x="6473952" y="2496312"/>
            <a:ext cx="2798064" cy="393192"/>
          </a:xfrm>
          <a:prstGeom prst="rect">
            <a:avLst/>
          </a:prstGeom>
          <a:noFill/>
        </p:spPr>
        <p:txBody>
          <a:bodyPr wrap="square">
            <a:spAutoFit/>
          </a:bodyPr>
          <a:lstStyle/>
          <a:p>
            <a:pPr algn="l"/>
            <a:r>
              <a:rPr sz="1100" b="0" i="0">
                <a:solidFill>
                  <a:srgbClr val="5A6A85"/>
                </a:solidFill>
                <a:latin typeface="Arial"/>
              </a:rPr>
              <a:t>711,396 viewers</a:t>
            </a:r>
          </a:p>
        </p:txBody>
      </p:sp>
      <p:sp>
        <p:nvSpPr>
          <p:cNvPr id="20" name="TextBox 19"/>
          <p:cNvSpPr txBox="1"/>
          <p:nvPr/>
        </p:nvSpPr>
        <p:spPr>
          <a:xfrm>
            <a:off x="9400032" y="2496312"/>
            <a:ext cx="2798064" cy="393192"/>
          </a:xfrm>
          <a:prstGeom prst="rect">
            <a:avLst/>
          </a:prstGeom>
          <a:noFill/>
        </p:spPr>
        <p:txBody>
          <a:bodyPr wrap="square">
            <a:spAutoFit/>
          </a:bodyPr>
          <a:lstStyle/>
          <a:p>
            <a:pPr algn="l"/>
            <a:r>
              <a:rPr sz="1100" b="0" i="0">
                <a:solidFill>
                  <a:srgbClr val="5A6A85"/>
                </a:solidFill>
                <a:latin typeface="Arial"/>
              </a:rPr>
              <a:t>59.2% Reels / 38.1% Stories</a:t>
            </a:r>
          </a:p>
        </p:txBody>
      </p:sp>
      <p:sp>
        <p:nvSpPr>
          <p:cNvPr id="21" name="Rectangle 20"/>
          <p:cNvSpPr/>
          <p:nvPr/>
        </p:nvSpPr>
        <p:spPr>
          <a:xfrm>
            <a:off x="548640" y="2926080"/>
            <a:ext cx="11704320" cy="50292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2999232"/>
            <a:ext cx="2798064" cy="393192"/>
          </a:xfrm>
          <a:prstGeom prst="rect">
            <a:avLst/>
          </a:prstGeom>
          <a:noFill/>
        </p:spPr>
        <p:txBody>
          <a:bodyPr wrap="square">
            <a:spAutoFit/>
          </a:bodyPr>
          <a:lstStyle/>
          <a:p>
            <a:pPr algn="l"/>
            <a:r>
              <a:rPr sz="1100" b="1" i="0">
                <a:solidFill>
                  <a:srgbClr val="121A2F"/>
                </a:solidFill>
                <a:latin typeface="Arial"/>
              </a:rPr>
              <a:t>Interactions (90-day)</a:t>
            </a:r>
          </a:p>
        </p:txBody>
      </p:sp>
      <p:sp>
        <p:nvSpPr>
          <p:cNvPr id="23" name="TextBox 22"/>
          <p:cNvSpPr txBox="1"/>
          <p:nvPr/>
        </p:nvSpPr>
        <p:spPr>
          <a:xfrm>
            <a:off x="3547872" y="2999232"/>
            <a:ext cx="2798064" cy="393192"/>
          </a:xfrm>
          <a:prstGeom prst="rect">
            <a:avLst/>
          </a:prstGeom>
          <a:noFill/>
        </p:spPr>
        <p:txBody>
          <a:bodyPr wrap="square">
            <a:spAutoFit/>
          </a:bodyPr>
          <a:lstStyle/>
          <a:p>
            <a:pPr algn="l"/>
            <a:r>
              <a:rPr sz="1100" b="0" i="0">
                <a:solidFill>
                  <a:srgbClr val="1B7A43"/>
                </a:solidFill>
                <a:latin typeface="Arial"/>
              </a:rPr>
              <a:t>8,311</a:t>
            </a:r>
          </a:p>
        </p:txBody>
      </p:sp>
      <p:sp>
        <p:nvSpPr>
          <p:cNvPr id="24" name="TextBox 23"/>
          <p:cNvSpPr txBox="1"/>
          <p:nvPr/>
        </p:nvSpPr>
        <p:spPr>
          <a:xfrm>
            <a:off x="6473952" y="2999232"/>
            <a:ext cx="2798064" cy="393192"/>
          </a:xfrm>
          <a:prstGeom prst="rect">
            <a:avLst/>
          </a:prstGeom>
          <a:noFill/>
        </p:spPr>
        <p:txBody>
          <a:bodyPr wrap="square">
            <a:spAutoFit/>
          </a:bodyPr>
          <a:lstStyle/>
          <a:p>
            <a:pPr algn="l"/>
            <a:r>
              <a:rPr sz="1100" b="0" i="0">
                <a:solidFill>
                  <a:srgbClr val="5A6A85"/>
                </a:solidFill>
                <a:latin typeface="Arial"/>
              </a:rPr>
              <a:t>5,715 accounts engaged</a:t>
            </a:r>
          </a:p>
        </p:txBody>
      </p:sp>
      <p:sp>
        <p:nvSpPr>
          <p:cNvPr id="25" name="TextBox 24"/>
          <p:cNvSpPr txBox="1"/>
          <p:nvPr/>
        </p:nvSpPr>
        <p:spPr>
          <a:xfrm>
            <a:off x="9400032" y="2999232"/>
            <a:ext cx="2798064" cy="393192"/>
          </a:xfrm>
          <a:prstGeom prst="rect">
            <a:avLst/>
          </a:prstGeom>
          <a:noFill/>
        </p:spPr>
        <p:txBody>
          <a:bodyPr wrap="square">
            <a:spAutoFit/>
          </a:bodyPr>
          <a:lstStyle/>
          <a:p>
            <a:pPr algn="l"/>
            <a:r>
              <a:rPr sz="1100" b="0" i="0">
                <a:solidFill>
                  <a:srgbClr val="5A6A85"/>
                </a:solidFill>
                <a:latin typeface="Arial"/>
              </a:rPr>
              <a:t>72.4% from Reels</a:t>
            </a:r>
          </a:p>
        </p:txBody>
      </p:sp>
      <p:sp>
        <p:nvSpPr>
          <p:cNvPr id="26" name="TextBox 25"/>
          <p:cNvSpPr txBox="1"/>
          <p:nvPr/>
        </p:nvSpPr>
        <p:spPr>
          <a:xfrm>
            <a:off x="548640" y="3703320"/>
            <a:ext cx="17190720" cy="320040"/>
          </a:xfrm>
          <a:prstGeom prst="rect">
            <a:avLst/>
          </a:prstGeom>
          <a:noFill/>
        </p:spPr>
        <p:txBody>
          <a:bodyPr wrap="square">
            <a:spAutoFit/>
          </a:bodyPr>
          <a:lstStyle/>
          <a:p>
            <a:pPr algn="l"/>
            <a:r>
              <a:rPr sz="1500" b="1" i="0">
                <a:solidFill>
                  <a:srgbClr val="121A2F"/>
                </a:solidFill>
                <a:latin typeface="Arial"/>
              </a:rPr>
              <a:t>Top Performing Content</a:t>
            </a:r>
          </a:p>
        </p:txBody>
      </p:sp>
      <p:sp>
        <p:nvSpPr>
          <p:cNvPr id="27" name="Rectangle 26"/>
          <p:cNvSpPr/>
          <p:nvPr/>
        </p:nvSpPr>
        <p:spPr>
          <a:xfrm>
            <a:off x="548640" y="4087368"/>
            <a:ext cx="11704320" cy="36576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 y="4133088"/>
            <a:ext cx="3090672" cy="274320"/>
          </a:xfrm>
          <a:prstGeom prst="rect">
            <a:avLst/>
          </a:prstGeom>
          <a:noFill/>
        </p:spPr>
        <p:txBody>
          <a:bodyPr wrap="square">
            <a:spAutoFit/>
          </a:bodyPr>
          <a:lstStyle/>
          <a:p>
            <a:pPr algn="l"/>
            <a:r>
              <a:rPr sz="1150" b="1" i="0">
                <a:solidFill>
                  <a:srgbClr val="FFFFFF"/>
                </a:solidFill>
                <a:latin typeface="Arial"/>
              </a:rPr>
              <a:t>Content</a:t>
            </a:r>
          </a:p>
        </p:txBody>
      </p:sp>
      <p:sp>
        <p:nvSpPr>
          <p:cNvPr id="29" name="TextBox 28"/>
          <p:cNvSpPr txBox="1"/>
          <p:nvPr/>
        </p:nvSpPr>
        <p:spPr>
          <a:xfrm>
            <a:off x="3822192" y="4133088"/>
            <a:ext cx="2633472" cy="274320"/>
          </a:xfrm>
          <a:prstGeom prst="rect">
            <a:avLst/>
          </a:prstGeom>
          <a:noFill/>
        </p:spPr>
        <p:txBody>
          <a:bodyPr wrap="square">
            <a:spAutoFit/>
          </a:bodyPr>
          <a:lstStyle/>
          <a:p>
            <a:pPr algn="l"/>
            <a:r>
              <a:rPr sz="1150" b="1" i="0">
                <a:solidFill>
                  <a:srgbClr val="FFFFFF"/>
                </a:solidFill>
                <a:latin typeface="Arial"/>
              </a:rPr>
              <a:t>Result</a:t>
            </a:r>
          </a:p>
        </p:txBody>
      </p:sp>
      <p:sp>
        <p:nvSpPr>
          <p:cNvPr id="30" name="TextBox 29"/>
          <p:cNvSpPr txBox="1"/>
          <p:nvPr/>
        </p:nvSpPr>
        <p:spPr>
          <a:xfrm>
            <a:off x="6565392" y="4133088"/>
            <a:ext cx="5650992" cy="274320"/>
          </a:xfrm>
          <a:prstGeom prst="rect">
            <a:avLst/>
          </a:prstGeom>
          <a:noFill/>
        </p:spPr>
        <p:txBody>
          <a:bodyPr wrap="square">
            <a:spAutoFit/>
          </a:bodyPr>
          <a:lstStyle/>
          <a:p>
            <a:pPr algn="l"/>
            <a:r>
              <a:rPr sz="1150" b="1" i="0">
                <a:solidFill>
                  <a:srgbClr val="FFFFFF"/>
                </a:solidFill>
                <a:latin typeface="Arial"/>
              </a:rPr>
              <a:t>Read</a:t>
            </a:r>
          </a:p>
        </p:txBody>
      </p:sp>
      <p:sp>
        <p:nvSpPr>
          <p:cNvPr id="31" name="Rectangle 30"/>
          <p:cNvSpPr/>
          <p:nvPr/>
        </p:nvSpPr>
        <p:spPr>
          <a:xfrm>
            <a:off x="548640" y="4453128"/>
            <a:ext cx="11704320" cy="54864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4526280"/>
            <a:ext cx="3072384" cy="438912"/>
          </a:xfrm>
          <a:prstGeom prst="rect">
            <a:avLst/>
          </a:prstGeom>
          <a:noFill/>
        </p:spPr>
        <p:txBody>
          <a:bodyPr wrap="square">
            <a:spAutoFit/>
          </a:bodyPr>
          <a:lstStyle/>
          <a:p>
            <a:pPr algn="l"/>
            <a:r>
              <a:rPr sz="1100" b="1" i="0">
                <a:solidFill>
                  <a:srgbClr val="121A2F"/>
                </a:solidFill>
                <a:latin typeface="Arial"/>
              </a:rPr>
              <a:t>Ali Sabeel reel</a:t>
            </a:r>
          </a:p>
        </p:txBody>
      </p:sp>
      <p:sp>
        <p:nvSpPr>
          <p:cNvPr id="33" name="TextBox 32"/>
          <p:cNvSpPr txBox="1"/>
          <p:nvPr/>
        </p:nvSpPr>
        <p:spPr>
          <a:xfrm>
            <a:off x="3822192" y="4526280"/>
            <a:ext cx="2615184" cy="438912"/>
          </a:xfrm>
          <a:prstGeom prst="rect">
            <a:avLst/>
          </a:prstGeom>
          <a:noFill/>
        </p:spPr>
        <p:txBody>
          <a:bodyPr wrap="square">
            <a:spAutoFit/>
          </a:bodyPr>
          <a:lstStyle/>
          <a:p>
            <a:pPr algn="l"/>
            <a:r>
              <a:rPr sz="1100" b="0" i="0">
                <a:solidFill>
                  <a:srgbClr val="1B7A43"/>
                </a:solidFill>
                <a:latin typeface="Arial"/>
              </a:rPr>
              <a:t>28.1K views</a:t>
            </a:r>
          </a:p>
        </p:txBody>
      </p:sp>
      <p:sp>
        <p:nvSpPr>
          <p:cNvPr id="34" name="TextBox 33"/>
          <p:cNvSpPr txBox="1"/>
          <p:nvPr/>
        </p:nvSpPr>
        <p:spPr>
          <a:xfrm>
            <a:off x="6565392" y="4526280"/>
            <a:ext cx="5632704" cy="438912"/>
          </a:xfrm>
          <a:prstGeom prst="rect">
            <a:avLst/>
          </a:prstGeom>
          <a:noFill/>
        </p:spPr>
        <p:txBody>
          <a:bodyPr wrap="square">
            <a:spAutoFit/>
          </a:bodyPr>
          <a:lstStyle/>
          <a:p>
            <a:pPr algn="l"/>
            <a:r>
              <a:rPr sz="1100" b="0" i="0">
                <a:solidFill>
                  <a:srgbClr val="B47A1A"/>
                </a:solidFill>
                <a:latin typeface="Arial"/>
              </a:rPr>
              <a:t>Captured after the $2,200 Ignite paid boost went live (confirmed) - 28.1K views includes paid reach, not an organic-only figure.</a:t>
            </a:r>
          </a:p>
        </p:txBody>
      </p:sp>
      <p:sp>
        <p:nvSpPr>
          <p:cNvPr id="35" name="Rectangle 34"/>
          <p:cNvSpPr/>
          <p:nvPr/>
        </p:nvSpPr>
        <p:spPr>
          <a:xfrm>
            <a:off x="548640" y="5001768"/>
            <a:ext cx="11704320" cy="54864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 y="5074920"/>
            <a:ext cx="3072384" cy="438912"/>
          </a:xfrm>
          <a:prstGeom prst="rect">
            <a:avLst/>
          </a:prstGeom>
          <a:noFill/>
        </p:spPr>
        <p:txBody>
          <a:bodyPr wrap="square">
            <a:spAutoFit/>
          </a:bodyPr>
          <a:lstStyle/>
          <a:p>
            <a:pPr algn="l"/>
            <a:r>
              <a:rPr sz="1100" b="1" i="0">
                <a:solidFill>
                  <a:srgbClr val="121A2F"/>
                </a:solidFill>
                <a:latin typeface="Arial"/>
              </a:rPr>
              <a:t>Musheera reel</a:t>
            </a:r>
          </a:p>
        </p:txBody>
      </p:sp>
      <p:sp>
        <p:nvSpPr>
          <p:cNvPr id="37" name="TextBox 36"/>
          <p:cNvSpPr txBox="1"/>
          <p:nvPr/>
        </p:nvSpPr>
        <p:spPr>
          <a:xfrm>
            <a:off x="3822192" y="5074920"/>
            <a:ext cx="2615184" cy="438912"/>
          </a:xfrm>
          <a:prstGeom prst="rect">
            <a:avLst/>
          </a:prstGeom>
          <a:noFill/>
        </p:spPr>
        <p:txBody>
          <a:bodyPr wrap="square">
            <a:spAutoFit/>
          </a:bodyPr>
          <a:lstStyle/>
          <a:p>
            <a:pPr algn="l"/>
            <a:r>
              <a:rPr sz="1100" b="0" i="0">
                <a:solidFill>
                  <a:srgbClr val="B42A2A"/>
                </a:solidFill>
                <a:latin typeface="Arial"/>
              </a:rPr>
              <a:t>5.3M views, 660 likes, 8 comments</a:t>
            </a:r>
          </a:p>
        </p:txBody>
      </p:sp>
      <p:sp>
        <p:nvSpPr>
          <p:cNvPr id="38" name="TextBox 37"/>
          <p:cNvSpPr txBox="1"/>
          <p:nvPr/>
        </p:nvSpPr>
        <p:spPr>
          <a:xfrm>
            <a:off x="6565392" y="5074920"/>
            <a:ext cx="5632704" cy="438912"/>
          </a:xfrm>
          <a:prstGeom prst="rect">
            <a:avLst/>
          </a:prstGeom>
          <a:noFill/>
        </p:spPr>
        <p:txBody>
          <a:bodyPr wrap="square">
            <a:spAutoFit/>
          </a:bodyPr>
          <a:lstStyle/>
          <a:p>
            <a:pPr algn="l"/>
            <a:r>
              <a:rPr sz="1100" b="0" i="0">
                <a:solidFill>
                  <a:srgbClr val="B42A2A"/>
                </a:solidFill>
                <a:latin typeface="Arial"/>
              </a:rPr>
              <a:t>0.0125% engagement rate - paid reach (confirmed), not organic resonance. Views figure is boosted, not a genuine organic win.</a:t>
            </a:r>
          </a:p>
        </p:txBody>
      </p:sp>
      <p:sp>
        <p:nvSpPr>
          <p:cNvPr id="39" name="Rectangle 38"/>
          <p:cNvSpPr/>
          <p:nvPr/>
        </p:nvSpPr>
        <p:spPr>
          <a:xfrm>
            <a:off x="548640" y="5550408"/>
            <a:ext cx="11704320" cy="54864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1792" y="5623560"/>
            <a:ext cx="3072384" cy="438912"/>
          </a:xfrm>
          <a:prstGeom prst="rect">
            <a:avLst/>
          </a:prstGeom>
          <a:noFill/>
        </p:spPr>
        <p:txBody>
          <a:bodyPr wrap="square">
            <a:spAutoFit/>
          </a:bodyPr>
          <a:lstStyle/>
          <a:p>
            <a:pPr algn="l"/>
            <a:r>
              <a:rPr sz="1100" b="1" i="0">
                <a:solidFill>
                  <a:srgbClr val="121A2F"/>
                </a:solidFill>
                <a:latin typeface="Arial"/>
              </a:rPr>
              <a:t>Mention &amp; Win posts ($500/$100)</a:t>
            </a:r>
          </a:p>
        </p:txBody>
      </p:sp>
      <p:sp>
        <p:nvSpPr>
          <p:cNvPr id="41" name="TextBox 40"/>
          <p:cNvSpPr txBox="1"/>
          <p:nvPr/>
        </p:nvSpPr>
        <p:spPr>
          <a:xfrm>
            <a:off x="3822192" y="5623560"/>
            <a:ext cx="2615184" cy="438912"/>
          </a:xfrm>
          <a:prstGeom prst="rect">
            <a:avLst/>
          </a:prstGeom>
          <a:noFill/>
        </p:spPr>
        <p:txBody>
          <a:bodyPr wrap="square">
            <a:spAutoFit/>
          </a:bodyPr>
          <a:lstStyle/>
          <a:p>
            <a:pPr algn="l"/>
            <a:r>
              <a:rPr sz="1100" b="0" i="0">
                <a:solidFill>
                  <a:srgbClr val="1B7A43"/>
                </a:solidFill>
                <a:latin typeface="Arial"/>
              </a:rPr>
              <a:t>Up to 2.6K interactions</a:t>
            </a:r>
          </a:p>
        </p:txBody>
      </p:sp>
      <p:sp>
        <p:nvSpPr>
          <p:cNvPr id="42" name="TextBox 41"/>
          <p:cNvSpPr txBox="1"/>
          <p:nvPr/>
        </p:nvSpPr>
        <p:spPr>
          <a:xfrm>
            <a:off x="6565392" y="5623560"/>
            <a:ext cx="5632704" cy="438912"/>
          </a:xfrm>
          <a:prstGeom prst="rect">
            <a:avLst/>
          </a:prstGeom>
          <a:noFill/>
        </p:spPr>
        <p:txBody>
          <a:bodyPr wrap="square">
            <a:spAutoFit/>
          </a:bodyPr>
          <a:lstStyle/>
          <a:p>
            <a:pPr algn="l"/>
            <a:r>
              <a:rPr sz="1100" b="0" i="0">
                <a:solidFill>
                  <a:srgbClr val="1B7A43"/>
                </a:solidFill>
                <a:latin typeface="Arial"/>
              </a:rPr>
              <a:t>Best-performing content type by a wide margin, consistently</a:t>
            </a:r>
          </a:p>
        </p:txBody>
      </p:sp>
      <p:sp>
        <p:nvSpPr>
          <p:cNvPr id="43" name="Rectangle 42"/>
          <p:cNvSpPr/>
          <p:nvPr/>
        </p:nvSpPr>
        <p:spPr>
          <a:xfrm>
            <a:off x="548640" y="6099048"/>
            <a:ext cx="11704320" cy="54864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1792" y="6172200"/>
            <a:ext cx="3072384" cy="438912"/>
          </a:xfrm>
          <a:prstGeom prst="rect">
            <a:avLst/>
          </a:prstGeom>
          <a:noFill/>
        </p:spPr>
        <p:txBody>
          <a:bodyPr wrap="square">
            <a:spAutoFit/>
          </a:bodyPr>
          <a:lstStyle/>
          <a:p>
            <a:pPr algn="l"/>
            <a:r>
              <a:rPr sz="1100" b="1" i="0">
                <a:solidFill>
                  <a:srgbClr val="121A2F"/>
                </a:solidFill>
                <a:latin typeface="Arial"/>
              </a:rPr>
              <a:t>$5,000 Campaign creative</a:t>
            </a:r>
          </a:p>
        </p:txBody>
      </p:sp>
      <p:sp>
        <p:nvSpPr>
          <p:cNvPr id="45" name="TextBox 44"/>
          <p:cNvSpPr txBox="1"/>
          <p:nvPr/>
        </p:nvSpPr>
        <p:spPr>
          <a:xfrm>
            <a:off x="3822192" y="6172200"/>
            <a:ext cx="2615184" cy="438912"/>
          </a:xfrm>
          <a:prstGeom prst="rect">
            <a:avLst/>
          </a:prstGeom>
          <a:noFill/>
        </p:spPr>
        <p:txBody>
          <a:bodyPr wrap="square">
            <a:spAutoFit/>
          </a:bodyPr>
          <a:lstStyle/>
          <a:p>
            <a:pPr algn="l"/>
            <a:r>
              <a:rPr sz="1100" b="0" i="0">
                <a:solidFill>
                  <a:srgbClr val="B47A1A"/>
                </a:solidFill>
                <a:latin typeface="Arial"/>
              </a:rPr>
              <a:t>11 interactions</a:t>
            </a:r>
          </a:p>
        </p:txBody>
      </p:sp>
      <p:sp>
        <p:nvSpPr>
          <p:cNvPr id="46" name="TextBox 45"/>
          <p:cNvSpPr txBox="1"/>
          <p:nvPr/>
        </p:nvSpPr>
        <p:spPr>
          <a:xfrm>
            <a:off x="6565392" y="6172200"/>
            <a:ext cx="5632704" cy="438912"/>
          </a:xfrm>
          <a:prstGeom prst="rect">
            <a:avLst/>
          </a:prstGeom>
          <a:noFill/>
        </p:spPr>
        <p:txBody>
          <a:bodyPr wrap="square">
            <a:spAutoFit/>
          </a:bodyPr>
          <a:lstStyle/>
          <a:p>
            <a:pPr algn="l"/>
            <a:r>
              <a:rPr sz="1100" b="0" i="0">
                <a:solidFill>
                  <a:srgbClr val="B47A1A"/>
                </a:solidFill>
                <a:latin typeface="Arial"/>
              </a:rPr>
              <a:t>Weakest-performing asset so far - early days, not yet boosted at time of review</a:t>
            </a:r>
          </a:p>
        </p:txBody>
      </p:sp>
      <p:sp>
        <p:nvSpPr>
          <p:cNvPr id="47" name="TextBox 46"/>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Source: Instagram Professional Dashboard, live pull. Note: both Musheera and Ali Sabeel figures are confirmed paid/boosted, not organic.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SOCIAL MEDIA</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700" b="1" i="0">
                <a:solidFill>
                  <a:srgbClr val="121A2F"/>
                </a:solidFill>
                <a:latin typeface="Arial"/>
              </a:rPr>
              <a:t>X, LinkedIn &amp; TikTok: Where Paid Support Actually Went</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14173200" cy="36576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600200"/>
            <a:ext cx="2267712" cy="274320"/>
          </a:xfrm>
          <a:prstGeom prst="rect">
            <a:avLst/>
          </a:prstGeom>
          <a:noFill/>
        </p:spPr>
        <p:txBody>
          <a:bodyPr wrap="square">
            <a:spAutoFit/>
          </a:bodyPr>
          <a:lstStyle/>
          <a:p>
            <a:pPr algn="l"/>
            <a:r>
              <a:rPr sz="1150" b="1" i="0">
                <a:solidFill>
                  <a:srgbClr val="FFFFFF"/>
                </a:solidFill>
                <a:latin typeface="Arial"/>
              </a:rPr>
              <a:t>Platform</a:t>
            </a:r>
          </a:p>
        </p:txBody>
      </p:sp>
      <p:sp>
        <p:nvSpPr>
          <p:cNvPr id="8" name="TextBox 7"/>
          <p:cNvSpPr txBox="1"/>
          <p:nvPr/>
        </p:nvSpPr>
        <p:spPr>
          <a:xfrm>
            <a:off x="2999232" y="1600200"/>
            <a:ext cx="3547872" cy="274320"/>
          </a:xfrm>
          <a:prstGeom prst="rect">
            <a:avLst/>
          </a:prstGeom>
          <a:noFill/>
        </p:spPr>
        <p:txBody>
          <a:bodyPr wrap="square">
            <a:spAutoFit/>
          </a:bodyPr>
          <a:lstStyle/>
          <a:p>
            <a:pPr algn="l"/>
            <a:r>
              <a:rPr sz="1150" b="1" i="0">
                <a:solidFill>
                  <a:srgbClr val="FFFFFF"/>
                </a:solidFill>
                <a:latin typeface="Arial"/>
              </a:rPr>
              <a:t>Size</a:t>
            </a:r>
          </a:p>
        </p:txBody>
      </p:sp>
      <p:sp>
        <p:nvSpPr>
          <p:cNvPr id="9" name="TextBox 8"/>
          <p:cNvSpPr txBox="1"/>
          <p:nvPr/>
        </p:nvSpPr>
        <p:spPr>
          <a:xfrm>
            <a:off x="6656832" y="1600200"/>
            <a:ext cx="3547872" cy="274320"/>
          </a:xfrm>
          <a:prstGeom prst="rect">
            <a:avLst/>
          </a:prstGeom>
          <a:noFill/>
        </p:spPr>
        <p:txBody>
          <a:bodyPr wrap="square">
            <a:spAutoFit/>
          </a:bodyPr>
          <a:lstStyle/>
          <a:p>
            <a:pPr algn="l"/>
            <a:r>
              <a:rPr sz="1150" b="1" i="0">
                <a:solidFill>
                  <a:srgbClr val="FFFFFF"/>
                </a:solidFill>
                <a:latin typeface="Arial"/>
              </a:rPr>
              <a:t>Paid Status</a:t>
            </a:r>
          </a:p>
        </p:txBody>
      </p:sp>
      <p:sp>
        <p:nvSpPr>
          <p:cNvPr id="10" name="TextBox 9"/>
          <p:cNvSpPr txBox="1"/>
          <p:nvPr/>
        </p:nvSpPr>
        <p:spPr>
          <a:xfrm>
            <a:off x="10314432" y="1600200"/>
            <a:ext cx="4370832" cy="274320"/>
          </a:xfrm>
          <a:prstGeom prst="rect">
            <a:avLst/>
          </a:prstGeom>
          <a:noFill/>
        </p:spPr>
        <p:txBody>
          <a:bodyPr wrap="square">
            <a:spAutoFit/>
          </a:bodyPr>
          <a:lstStyle/>
          <a:p>
            <a:pPr algn="l"/>
            <a:r>
              <a:rPr sz="1150" b="1" i="0">
                <a:solidFill>
                  <a:srgbClr val="FFFFFF"/>
                </a:solidFill>
                <a:latin typeface="Arial"/>
              </a:rPr>
              <a:t>Organic Read</a:t>
            </a:r>
          </a:p>
        </p:txBody>
      </p:sp>
      <p:sp>
        <p:nvSpPr>
          <p:cNvPr id="11" name="Rectangle 10"/>
          <p:cNvSpPr/>
          <p:nvPr/>
        </p:nvSpPr>
        <p:spPr>
          <a:xfrm>
            <a:off x="548640" y="1920240"/>
            <a:ext cx="14173200" cy="68580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993392"/>
            <a:ext cx="2249424" cy="576072"/>
          </a:xfrm>
          <a:prstGeom prst="rect">
            <a:avLst/>
          </a:prstGeom>
          <a:noFill/>
        </p:spPr>
        <p:txBody>
          <a:bodyPr wrap="square">
            <a:spAutoFit/>
          </a:bodyPr>
          <a:lstStyle/>
          <a:p>
            <a:pPr algn="l"/>
            <a:r>
              <a:rPr sz="1100" b="1" i="0">
                <a:solidFill>
                  <a:srgbClr val="121A2F"/>
                </a:solidFill>
                <a:latin typeface="Arial"/>
              </a:rPr>
              <a:t>X (Twitter)</a:t>
            </a:r>
          </a:p>
        </p:txBody>
      </p:sp>
      <p:sp>
        <p:nvSpPr>
          <p:cNvPr id="13" name="TextBox 12"/>
          <p:cNvSpPr txBox="1"/>
          <p:nvPr/>
        </p:nvSpPr>
        <p:spPr>
          <a:xfrm>
            <a:off x="2999232" y="1993392"/>
            <a:ext cx="3529584" cy="576072"/>
          </a:xfrm>
          <a:prstGeom prst="rect">
            <a:avLst/>
          </a:prstGeom>
          <a:noFill/>
        </p:spPr>
        <p:txBody>
          <a:bodyPr wrap="square">
            <a:spAutoFit/>
          </a:bodyPr>
          <a:lstStyle/>
          <a:p>
            <a:pPr algn="l"/>
            <a:r>
              <a:rPr sz="1100" b="0" i="0">
                <a:solidFill>
                  <a:srgbClr val="5A6A85"/>
                </a:solidFill>
                <a:latin typeface="Arial"/>
              </a:rPr>
              <a:t>738 followers, 99 posts</a:t>
            </a:r>
          </a:p>
        </p:txBody>
      </p:sp>
      <p:sp>
        <p:nvSpPr>
          <p:cNvPr id="14" name="TextBox 13"/>
          <p:cNvSpPr txBox="1"/>
          <p:nvPr/>
        </p:nvSpPr>
        <p:spPr>
          <a:xfrm>
            <a:off x="6656832" y="1993392"/>
            <a:ext cx="3529584" cy="576072"/>
          </a:xfrm>
          <a:prstGeom prst="rect">
            <a:avLst/>
          </a:prstGeom>
          <a:noFill/>
        </p:spPr>
        <p:txBody>
          <a:bodyPr wrap="square">
            <a:spAutoFit/>
          </a:bodyPr>
          <a:lstStyle/>
          <a:p>
            <a:pPr algn="l"/>
            <a:r>
              <a:rPr sz="1100" b="0" i="0">
                <a:solidFill>
                  <a:srgbClr val="B42A2A"/>
                </a:solidFill>
                <a:latin typeface="Arial"/>
              </a:rPr>
              <a:t>Impressions flatlined to zero mid-Jul through Aug 29</a:t>
            </a:r>
          </a:p>
        </p:txBody>
      </p:sp>
      <p:sp>
        <p:nvSpPr>
          <p:cNvPr id="15" name="TextBox 14"/>
          <p:cNvSpPr txBox="1"/>
          <p:nvPr/>
        </p:nvSpPr>
        <p:spPr>
          <a:xfrm>
            <a:off x="10314432" y="1993392"/>
            <a:ext cx="4352544" cy="576072"/>
          </a:xfrm>
          <a:prstGeom prst="rect">
            <a:avLst/>
          </a:prstGeom>
          <a:noFill/>
        </p:spPr>
        <p:txBody>
          <a:bodyPr wrap="square">
            <a:spAutoFit/>
          </a:bodyPr>
          <a:lstStyle/>
          <a:p>
            <a:pPr algn="l"/>
            <a:r>
              <a:rPr sz="1100" b="0" i="0">
                <a:solidFill>
                  <a:srgbClr val="1B7A43"/>
                </a:solidFill>
                <a:latin typeface="Arial"/>
              </a:rPr>
              <a:t>Audience quality is real: 96.4% Bahrain, 3.6% Saudi</a:t>
            </a:r>
          </a:p>
        </p:txBody>
      </p:sp>
      <p:sp>
        <p:nvSpPr>
          <p:cNvPr id="16" name="Rectangle 15"/>
          <p:cNvSpPr/>
          <p:nvPr/>
        </p:nvSpPr>
        <p:spPr>
          <a:xfrm>
            <a:off x="548640" y="2606040"/>
            <a:ext cx="14173200" cy="68580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679192"/>
            <a:ext cx="2249424" cy="576072"/>
          </a:xfrm>
          <a:prstGeom prst="rect">
            <a:avLst/>
          </a:prstGeom>
          <a:noFill/>
        </p:spPr>
        <p:txBody>
          <a:bodyPr wrap="square">
            <a:spAutoFit/>
          </a:bodyPr>
          <a:lstStyle/>
          <a:p>
            <a:pPr algn="l"/>
            <a:r>
              <a:rPr sz="1100" b="1" i="0">
                <a:solidFill>
                  <a:srgbClr val="121A2F"/>
                </a:solidFill>
                <a:latin typeface="Arial"/>
              </a:rPr>
              <a:t>LinkedIn</a:t>
            </a:r>
          </a:p>
        </p:txBody>
      </p:sp>
      <p:sp>
        <p:nvSpPr>
          <p:cNvPr id="18" name="TextBox 17"/>
          <p:cNvSpPr txBox="1"/>
          <p:nvPr/>
        </p:nvSpPr>
        <p:spPr>
          <a:xfrm>
            <a:off x="2999232" y="2679192"/>
            <a:ext cx="3529584" cy="576072"/>
          </a:xfrm>
          <a:prstGeom prst="rect">
            <a:avLst/>
          </a:prstGeom>
          <a:noFill/>
        </p:spPr>
        <p:txBody>
          <a:bodyPr wrap="square">
            <a:spAutoFit/>
          </a:bodyPr>
          <a:lstStyle/>
          <a:p>
            <a:pPr algn="l"/>
            <a:r>
              <a:rPr sz="1100" b="0" i="0">
                <a:solidFill>
                  <a:srgbClr val="5A6A85"/>
                </a:solidFill>
                <a:latin typeface="Arial"/>
              </a:rPr>
              <a:t>586 followers</a:t>
            </a:r>
          </a:p>
        </p:txBody>
      </p:sp>
      <p:sp>
        <p:nvSpPr>
          <p:cNvPr id="19" name="TextBox 18"/>
          <p:cNvSpPr txBox="1"/>
          <p:nvPr/>
        </p:nvSpPr>
        <p:spPr>
          <a:xfrm>
            <a:off x="6656832" y="2679192"/>
            <a:ext cx="3529584" cy="576072"/>
          </a:xfrm>
          <a:prstGeom prst="rect">
            <a:avLst/>
          </a:prstGeom>
          <a:noFill/>
        </p:spPr>
        <p:txBody>
          <a:bodyPr wrap="square">
            <a:spAutoFit/>
          </a:bodyPr>
          <a:lstStyle/>
          <a:p>
            <a:pPr algn="l"/>
            <a:r>
              <a:rPr sz="1100" b="0" i="0">
                <a:solidFill>
                  <a:srgbClr val="B42A2A"/>
                </a:solidFill>
                <a:latin typeface="Arial"/>
              </a:rPr>
              <a:t>Sponsored impr.: Jun 23,118 → Jul 6,629 → Aug 0</a:t>
            </a:r>
          </a:p>
        </p:txBody>
      </p:sp>
      <p:sp>
        <p:nvSpPr>
          <p:cNvPr id="20" name="TextBox 19"/>
          <p:cNvSpPr txBox="1"/>
          <p:nvPr/>
        </p:nvSpPr>
        <p:spPr>
          <a:xfrm>
            <a:off x="10314432" y="2679192"/>
            <a:ext cx="4352544" cy="576072"/>
          </a:xfrm>
          <a:prstGeom prst="rect">
            <a:avLst/>
          </a:prstGeom>
          <a:noFill/>
        </p:spPr>
        <p:txBody>
          <a:bodyPr wrap="square">
            <a:spAutoFit/>
          </a:bodyPr>
          <a:lstStyle/>
          <a:p>
            <a:pPr algn="l"/>
            <a:r>
              <a:rPr sz="1100" b="0" i="0">
                <a:solidFill>
                  <a:srgbClr val="1B7A43"/>
                </a:solidFill>
                <a:latin typeface="Arial"/>
              </a:rPr>
              <a:t>Organic reactions actually grew: Jun 46 → Jul 20 → Aug 68 (best month)</a:t>
            </a:r>
          </a:p>
        </p:txBody>
      </p:sp>
      <p:sp>
        <p:nvSpPr>
          <p:cNvPr id="21" name="Rectangle 20"/>
          <p:cNvSpPr/>
          <p:nvPr/>
        </p:nvSpPr>
        <p:spPr>
          <a:xfrm>
            <a:off x="548640" y="3291840"/>
            <a:ext cx="14173200" cy="68580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3364992"/>
            <a:ext cx="2249424" cy="576072"/>
          </a:xfrm>
          <a:prstGeom prst="rect">
            <a:avLst/>
          </a:prstGeom>
          <a:noFill/>
        </p:spPr>
        <p:txBody>
          <a:bodyPr wrap="square">
            <a:spAutoFit/>
          </a:bodyPr>
          <a:lstStyle/>
          <a:p>
            <a:pPr algn="l"/>
            <a:r>
              <a:rPr sz="1100" b="1" i="0">
                <a:solidFill>
                  <a:srgbClr val="121A2F"/>
                </a:solidFill>
                <a:latin typeface="Arial"/>
              </a:rPr>
              <a:t>TikTok</a:t>
            </a:r>
          </a:p>
        </p:txBody>
      </p:sp>
      <p:sp>
        <p:nvSpPr>
          <p:cNvPr id="23" name="TextBox 22"/>
          <p:cNvSpPr txBox="1"/>
          <p:nvPr/>
        </p:nvSpPr>
        <p:spPr>
          <a:xfrm>
            <a:off x="2999232" y="3364992"/>
            <a:ext cx="3529584" cy="576072"/>
          </a:xfrm>
          <a:prstGeom prst="rect">
            <a:avLst/>
          </a:prstGeom>
          <a:noFill/>
        </p:spPr>
        <p:txBody>
          <a:bodyPr wrap="square">
            <a:spAutoFit/>
          </a:bodyPr>
          <a:lstStyle/>
          <a:p>
            <a:pPr algn="l"/>
            <a:r>
              <a:rPr sz="1100" b="0" i="0">
                <a:solidFill>
                  <a:srgbClr val="B42A2A"/>
                </a:solidFill>
                <a:latin typeface="Arial"/>
              </a:rPr>
              <a:t>15 followers, 176 total likes</a:t>
            </a:r>
          </a:p>
        </p:txBody>
      </p:sp>
      <p:sp>
        <p:nvSpPr>
          <p:cNvPr id="24" name="TextBox 23"/>
          <p:cNvSpPr txBox="1"/>
          <p:nvPr/>
        </p:nvSpPr>
        <p:spPr>
          <a:xfrm>
            <a:off x="6656832" y="3364992"/>
            <a:ext cx="3529584" cy="576072"/>
          </a:xfrm>
          <a:prstGeom prst="rect">
            <a:avLst/>
          </a:prstGeom>
          <a:noFill/>
        </p:spPr>
        <p:txBody>
          <a:bodyPr wrap="square">
            <a:spAutoFit/>
          </a:bodyPr>
          <a:lstStyle/>
          <a:p>
            <a:pPr algn="l"/>
            <a:r>
              <a:rPr sz="1100" b="0" i="0">
                <a:solidFill>
                  <a:srgbClr val="5A6A85"/>
                </a:solidFill>
                <a:latin typeface="Arial"/>
              </a:rPr>
              <a:t>No paid spend since the May fraud removal - by design</a:t>
            </a:r>
          </a:p>
        </p:txBody>
      </p:sp>
      <p:sp>
        <p:nvSpPr>
          <p:cNvPr id="25" name="TextBox 24"/>
          <p:cNvSpPr txBox="1"/>
          <p:nvPr/>
        </p:nvSpPr>
        <p:spPr>
          <a:xfrm>
            <a:off x="10314432" y="3364992"/>
            <a:ext cx="4352544" cy="576072"/>
          </a:xfrm>
          <a:prstGeom prst="rect">
            <a:avLst/>
          </a:prstGeom>
          <a:noFill/>
        </p:spPr>
        <p:txBody>
          <a:bodyPr wrap="square">
            <a:spAutoFit/>
          </a:bodyPr>
          <a:lstStyle/>
          <a:p>
            <a:pPr algn="l"/>
            <a:r>
              <a:rPr sz="1100" b="0" i="0">
                <a:solidFill>
                  <a:srgbClr val="5A6A85"/>
                </a:solidFill>
                <a:latin typeface="Arial"/>
              </a:rPr>
              <a:t>Confirms the deprioritization was correct: only 1 of 11 recent videos breaks 3 digits (189.5K)</a:t>
            </a:r>
          </a:p>
        </p:txBody>
      </p:sp>
      <p:sp>
        <p:nvSpPr>
          <p:cNvPr id="26" name="Rectangle 25"/>
          <p:cNvSpPr/>
          <p:nvPr/>
        </p:nvSpPr>
        <p:spPr>
          <a:xfrm>
            <a:off x="548640" y="4251960"/>
            <a:ext cx="17190720" cy="1371600"/>
          </a:xfrm>
          <a:prstGeom prst="rect">
            <a:avLst/>
          </a:prstGeom>
          <a:solidFill>
            <a:srgbClr val="FBF3E6"/>
          </a:solidFill>
          <a:ln w="9525">
            <a:solidFill>
              <a:srgbClr val="B4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251960"/>
            <a:ext cx="54864" cy="1371600"/>
          </a:xfrm>
          <a:prstGeom prst="rect">
            <a:avLst/>
          </a:prstGeom>
          <a:solidFill>
            <a:srgbClr val="B4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361688"/>
            <a:ext cx="16642080" cy="274320"/>
          </a:xfrm>
          <a:prstGeom prst="rect">
            <a:avLst/>
          </a:prstGeom>
          <a:noFill/>
        </p:spPr>
        <p:txBody>
          <a:bodyPr wrap="square">
            <a:spAutoFit/>
          </a:bodyPr>
          <a:lstStyle/>
          <a:p>
            <a:pPr algn="l"/>
            <a:r>
              <a:rPr sz="1200" b="1" i="0">
                <a:solidFill>
                  <a:srgbClr val="B47A1A"/>
                </a:solidFill>
                <a:latin typeface="Arial"/>
              </a:rPr>
              <a:t>OPEN QUESTION - NEEDS A DECISION</a:t>
            </a:r>
          </a:p>
        </p:txBody>
      </p:sp>
      <p:sp>
        <p:nvSpPr>
          <p:cNvPr id="29" name="TextBox 28"/>
          <p:cNvSpPr txBox="1"/>
          <p:nvPr/>
        </p:nvSpPr>
        <p:spPr>
          <a:xfrm>
            <a:off x="822960" y="4663440"/>
            <a:ext cx="16642080" cy="868680"/>
          </a:xfrm>
          <a:prstGeom prst="rect">
            <a:avLst/>
          </a:prstGeom>
          <a:noFill/>
        </p:spPr>
        <p:txBody>
          <a:bodyPr wrap="square">
            <a:spAutoFit/>
          </a:bodyPr>
          <a:lstStyle/>
          <a:p>
            <a:pPr algn="l"/>
            <a:r>
              <a:rPr sz="1200" b="0" i="0">
                <a:solidFill>
                  <a:srgbClr val="121A2F"/>
                </a:solidFill>
                <a:latin typeface="Arial"/>
              </a:rPr>
              <a:t>Both channels' engagement held up or improved on far less traffic once paid spend stopped - a real, if small, signal that the organic content itself is landing. The decision needed: reactivate paid support on one or both channels with real budget, or formally deprioritize them (as TikTok already was) so they stop reading as unexplained underperformance every month.</a:t>
            </a:r>
          </a:p>
        </p:txBody>
      </p:sp>
      <p:sp>
        <p:nvSpPr>
          <p:cNvPr id="30" name="Rectangle 29"/>
          <p:cNvSpPr/>
          <p:nvPr/>
        </p:nvSpPr>
        <p:spPr>
          <a:xfrm>
            <a:off x="548640" y="5852160"/>
            <a:ext cx="17190720" cy="77724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943600"/>
            <a:ext cx="16733520" cy="594360"/>
          </a:xfrm>
          <a:prstGeom prst="rect">
            <a:avLst/>
          </a:prstGeom>
          <a:noFill/>
        </p:spPr>
        <p:txBody>
          <a:bodyPr wrap="square">
            <a:spAutoFit/>
          </a:bodyPr>
          <a:lstStyle/>
          <a:p>
            <a:pPr algn="l"/>
            <a:r>
              <a:rPr sz="1150" b="0" i="1">
                <a:solidFill>
                  <a:srgbClr val="5A6A85"/>
                </a:solidFill>
                <a:latin typeface="Arial"/>
              </a:rPr>
              <a:t>Unresolved: 490 of LinkedIn's 586 followers were recorded on a single day (24 June 2026), versus 0-2 on every other day in the 3-month window. Not characterized as a spike since the cause is unknown - could be a data or tracking artifact rather than a real follower event. Left open, not explained.</a:t>
            </a:r>
          </a:p>
        </p:txBody>
      </p:sp>
      <p:sp>
        <p:nvSpPr>
          <p:cNvPr id="32" name="TextBox 31"/>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Source: X native analytics + Ads Manager export; LinkedIn Company Page analytics exports, Aug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DATA INTEGRITY</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700" b="1" i="0">
                <a:solidFill>
                  <a:srgbClr val="121A2F"/>
                </a:solidFill>
                <a:latin typeface="Arial"/>
              </a:rPr>
              <a:t>Attribution Review: One Fix Confirmed, One New Flag</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17190720" cy="1737360"/>
          </a:xfrm>
          <a:prstGeom prst="rect">
            <a:avLst/>
          </a:prstGeom>
          <a:solidFill>
            <a:srgbClr val="E8F3EC"/>
          </a:solidFill>
          <a:ln w="9525">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00200"/>
            <a:ext cx="54864" cy="173736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37360"/>
            <a:ext cx="16642080" cy="320040"/>
          </a:xfrm>
          <a:prstGeom prst="rect">
            <a:avLst/>
          </a:prstGeom>
          <a:noFill/>
        </p:spPr>
        <p:txBody>
          <a:bodyPr wrap="square">
            <a:spAutoFit/>
          </a:bodyPr>
          <a:lstStyle/>
          <a:p>
            <a:pPr algn="l"/>
            <a:r>
              <a:rPr sz="1400" b="1" i="0">
                <a:solidFill>
                  <a:srgbClr val="1B7A43"/>
                </a:solidFill>
                <a:latin typeface="Arial"/>
              </a:rPr>
              <a:t>CONFIRMED FIXED: The TikTok/Pangle Bot Traffic Is Gone</a:t>
            </a:r>
          </a:p>
        </p:txBody>
      </p:sp>
      <p:sp>
        <p:nvSpPr>
          <p:cNvPr id="9" name="TextBox 8"/>
          <p:cNvSpPr txBox="1"/>
          <p:nvPr/>
        </p:nvSpPr>
        <p:spPr>
          <a:xfrm>
            <a:off x="822960" y="2103120"/>
            <a:ext cx="16642080" cy="1097280"/>
          </a:xfrm>
          <a:prstGeom prst="rect">
            <a:avLst/>
          </a:prstGeom>
          <a:noFill/>
        </p:spPr>
        <p:txBody>
          <a:bodyPr wrap="square">
            <a:spAutoFit/>
          </a:bodyPr>
          <a:lstStyle/>
          <a:p>
            <a:pPr algn="l"/>
            <a:r>
              <a:rPr sz="1200" b="0" i="0">
                <a:solidFill>
                  <a:srgbClr val="121A2F"/>
                </a:solidFill>
                <a:latin typeface="Arial"/>
              </a:rPr>
              <a:t>OneLink referrer data confirms the fix held permanently: Pangle-sourced clicks fell from 706,445 in May to 48,180 in June to zero in both July and August. The May bot-fraud finding that got TikTok pulled from paid media was correct, and the channel has stayed clean since.</a:t>
            </a:r>
          </a:p>
        </p:txBody>
      </p:sp>
      <p:sp>
        <p:nvSpPr>
          <p:cNvPr id="10" name="Rectangle 9"/>
          <p:cNvSpPr/>
          <p:nvPr/>
        </p:nvSpPr>
        <p:spPr>
          <a:xfrm>
            <a:off x="548640" y="3566160"/>
            <a:ext cx="17190720" cy="2286000"/>
          </a:xfrm>
          <a:prstGeom prst="rect">
            <a:avLst/>
          </a:prstGeom>
          <a:solidFill>
            <a:srgbClr val="FBECEC"/>
          </a:solidFill>
          <a:ln w="9525">
            <a:solidFill>
              <a:srgbClr val="B4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566160"/>
            <a:ext cx="54864" cy="2286000"/>
          </a:xfrm>
          <a:prstGeom prst="rect">
            <a:avLst/>
          </a:prstGeom>
          <a:solidFill>
            <a:srgbClr val="B4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703320"/>
            <a:ext cx="16642080" cy="320040"/>
          </a:xfrm>
          <a:prstGeom prst="rect">
            <a:avLst/>
          </a:prstGeom>
          <a:noFill/>
        </p:spPr>
        <p:txBody>
          <a:bodyPr wrap="square">
            <a:spAutoFit/>
          </a:bodyPr>
          <a:lstStyle/>
          <a:p>
            <a:pPr algn="l"/>
            <a:r>
              <a:rPr sz="1400" b="1" i="0">
                <a:solidFill>
                  <a:srgbClr val="B42A2A"/>
                </a:solidFill>
                <a:latin typeface="Arial"/>
              </a:rPr>
              <a:t>NEW, UNEXPLAINED: A Similar Pattern Appeared 5-18 August</a:t>
            </a:r>
          </a:p>
        </p:txBody>
      </p:sp>
      <p:sp>
        <p:nvSpPr>
          <p:cNvPr id="13" name="TextBox 12"/>
          <p:cNvSpPr txBox="1"/>
          <p:nvPr/>
        </p:nvSpPr>
        <p:spPr>
          <a:xfrm>
            <a:off x="822960" y="4069080"/>
            <a:ext cx="16642080" cy="1691640"/>
          </a:xfrm>
          <a:prstGeom prst="rect">
            <a:avLst/>
          </a:prstGeom>
          <a:noFill/>
        </p:spPr>
        <p:txBody>
          <a:bodyPr wrap="square">
            <a:spAutoFit/>
          </a:bodyPr>
          <a:lstStyle/>
          <a:p>
            <a:pPr algn="l"/>
            <a:r>
              <a:rPr sz="1150" b="0" i="0">
                <a:solidFill>
                  <a:srgbClr val="121A2F"/>
                </a:solidFill>
                <a:latin typeface="Arial"/>
              </a:rPr>
              <a:t>~3,300 link clicks in this window were classified as device type "Other" - not iPhone, Android, iPad, or Huawei - versus roughly 86 genuine iPhone and 250 genuine Android clicks across the entire month. These track almost exactly with a spike in t.co (X link shortener) referrals, dropping off a cliff after 19 August.</a:t>
            </a:r>
          </a:p>
          <a:p>
            <a:pPr algn="l"/>
            <a:r>
              <a:rPr sz="1150" b="0" i="0">
                <a:solidFill>
                  <a:srgbClr val="121A2F"/>
                </a:solidFill>
                <a:latin typeface="Arial"/>
              </a:rPr>
              <a:t/>
            </a:r>
          </a:p>
          <a:p>
            <a:pPr algn="l"/>
            <a:r>
              <a:rPr sz="1150" b="0" i="0">
                <a:solidFill>
                  <a:srgbClr val="121A2F"/>
                </a:solidFill>
                <a:latin typeface="Arial"/>
              </a:rPr>
              <a:t>This cannot be explained by the new Ignite campaigns - those weren't approved until 24 August. The device signature is the same red flag pattern that caught the TikTok/Pangle fraud. This has not been explained yet and is flagged here rather than left out. By contrast, the genuine Android spike on 28-30 August (124 → 239 → 551) lines up cleanly with the real Ignite campaign launch and looks legitimate.</a:t>
            </a:r>
          </a:p>
        </p:txBody>
      </p:sp>
      <p:sp>
        <p:nvSpPr>
          <p:cNvPr id="14" name="TextBox 13"/>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Source: OneLink (onelink.to/gpbwrg) referrer and device export, 11 May - 30 Aug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PAID MEDIA</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700" b="1" i="0">
                <a:solidFill>
                  <a:srgbClr val="121A2F"/>
                </a:solidFill>
                <a:latin typeface="Arial"/>
              </a:rPr>
              <a:t>Sponsored Ads: What's Live Now</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16276320" cy="36576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645920"/>
            <a:ext cx="3090672" cy="274320"/>
          </a:xfrm>
          <a:prstGeom prst="rect">
            <a:avLst/>
          </a:prstGeom>
          <a:noFill/>
        </p:spPr>
        <p:txBody>
          <a:bodyPr wrap="square">
            <a:spAutoFit/>
          </a:bodyPr>
          <a:lstStyle/>
          <a:p>
            <a:pPr algn="l"/>
            <a:r>
              <a:rPr sz="1150" b="1" i="0">
                <a:solidFill>
                  <a:srgbClr val="FFFFFF"/>
                </a:solidFill>
                <a:latin typeface="Arial"/>
              </a:rPr>
              <a:t>Campaign</a:t>
            </a:r>
          </a:p>
        </p:txBody>
      </p:sp>
      <p:sp>
        <p:nvSpPr>
          <p:cNvPr id="8" name="TextBox 7"/>
          <p:cNvSpPr txBox="1"/>
          <p:nvPr/>
        </p:nvSpPr>
        <p:spPr>
          <a:xfrm>
            <a:off x="3822192" y="1645920"/>
            <a:ext cx="2450592" cy="274320"/>
          </a:xfrm>
          <a:prstGeom prst="rect">
            <a:avLst/>
          </a:prstGeom>
          <a:noFill/>
        </p:spPr>
        <p:txBody>
          <a:bodyPr wrap="square">
            <a:spAutoFit/>
          </a:bodyPr>
          <a:lstStyle/>
          <a:p>
            <a:pPr algn="l"/>
            <a:r>
              <a:rPr sz="1150" b="1" i="0">
                <a:solidFill>
                  <a:srgbClr val="FFFFFF"/>
                </a:solidFill>
                <a:latin typeface="Arial"/>
              </a:rPr>
              <a:t>Budget</a:t>
            </a:r>
          </a:p>
        </p:txBody>
      </p:sp>
      <p:sp>
        <p:nvSpPr>
          <p:cNvPr id="9" name="TextBox 8"/>
          <p:cNvSpPr txBox="1"/>
          <p:nvPr/>
        </p:nvSpPr>
        <p:spPr>
          <a:xfrm>
            <a:off x="6382512" y="1645920"/>
            <a:ext cx="2176272" cy="274320"/>
          </a:xfrm>
          <a:prstGeom prst="rect">
            <a:avLst/>
          </a:prstGeom>
          <a:noFill/>
        </p:spPr>
        <p:txBody>
          <a:bodyPr wrap="square">
            <a:spAutoFit/>
          </a:bodyPr>
          <a:lstStyle/>
          <a:p>
            <a:pPr algn="l"/>
            <a:r>
              <a:rPr sz="1150" b="1" i="0">
                <a:solidFill>
                  <a:srgbClr val="FFFFFF"/>
                </a:solidFill>
                <a:latin typeface="Arial"/>
              </a:rPr>
              <a:t>Status</a:t>
            </a:r>
          </a:p>
        </p:txBody>
      </p:sp>
      <p:sp>
        <p:nvSpPr>
          <p:cNvPr id="10" name="TextBox 9"/>
          <p:cNvSpPr txBox="1"/>
          <p:nvPr/>
        </p:nvSpPr>
        <p:spPr>
          <a:xfrm>
            <a:off x="8668512" y="1645920"/>
            <a:ext cx="8119872" cy="274320"/>
          </a:xfrm>
          <a:prstGeom prst="rect">
            <a:avLst/>
          </a:prstGeom>
          <a:noFill/>
        </p:spPr>
        <p:txBody>
          <a:bodyPr wrap="square">
            <a:spAutoFit/>
          </a:bodyPr>
          <a:lstStyle/>
          <a:p>
            <a:pPr algn="l"/>
            <a:r>
              <a:rPr sz="1150" b="1" i="0">
                <a:solidFill>
                  <a:srgbClr val="FFFFFF"/>
                </a:solidFill>
                <a:latin typeface="Arial"/>
              </a:rPr>
              <a:t>Detail</a:t>
            </a:r>
          </a:p>
        </p:txBody>
      </p:sp>
      <p:sp>
        <p:nvSpPr>
          <p:cNvPr id="11" name="Rectangle 10"/>
          <p:cNvSpPr/>
          <p:nvPr/>
        </p:nvSpPr>
        <p:spPr>
          <a:xfrm>
            <a:off x="548640" y="1965960"/>
            <a:ext cx="16276320" cy="68580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039112"/>
            <a:ext cx="3072384" cy="576072"/>
          </a:xfrm>
          <a:prstGeom prst="rect">
            <a:avLst/>
          </a:prstGeom>
          <a:noFill/>
        </p:spPr>
        <p:txBody>
          <a:bodyPr wrap="square">
            <a:spAutoFit/>
          </a:bodyPr>
          <a:lstStyle/>
          <a:p>
            <a:pPr algn="l"/>
            <a:r>
              <a:rPr sz="1100" b="1" i="0">
                <a:solidFill>
                  <a:srgbClr val="121A2F"/>
                </a:solidFill>
                <a:latin typeface="Arial"/>
              </a:rPr>
              <a:t>Mention &amp; Win</a:t>
            </a:r>
          </a:p>
        </p:txBody>
      </p:sp>
      <p:sp>
        <p:nvSpPr>
          <p:cNvPr id="13" name="TextBox 12"/>
          <p:cNvSpPr txBox="1"/>
          <p:nvPr/>
        </p:nvSpPr>
        <p:spPr>
          <a:xfrm>
            <a:off x="3822192" y="2039112"/>
            <a:ext cx="2432304" cy="576072"/>
          </a:xfrm>
          <a:prstGeom prst="rect">
            <a:avLst/>
          </a:prstGeom>
          <a:noFill/>
        </p:spPr>
        <p:txBody>
          <a:bodyPr wrap="square">
            <a:spAutoFit/>
          </a:bodyPr>
          <a:lstStyle/>
          <a:p>
            <a:pPr algn="l"/>
            <a:r>
              <a:rPr sz="1100" b="0" i="0">
                <a:solidFill>
                  <a:srgbClr val="121A2F"/>
                </a:solidFill>
                <a:latin typeface="Arial"/>
              </a:rPr>
              <a:t>$400</a:t>
            </a:r>
          </a:p>
        </p:txBody>
      </p:sp>
      <p:sp>
        <p:nvSpPr>
          <p:cNvPr id="14" name="TextBox 13"/>
          <p:cNvSpPr txBox="1"/>
          <p:nvPr/>
        </p:nvSpPr>
        <p:spPr>
          <a:xfrm>
            <a:off x="6382512" y="2039112"/>
            <a:ext cx="2157984" cy="576072"/>
          </a:xfrm>
          <a:prstGeom prst="rect">
            <a:avLst/>
          </a:prstGeom>
          <a:noFill/>
        </p:spPr>
        <p:txBody>
          <a:bodyPr wrap="square">
            <a:spAutoFit/>
          </a:bodyPr>
          <a:lstStyle/>
          <a:p>
            <a:pPr algn="l"/>
            <a:r>
              <a:rPr sz="1100" b="0" i="0">
                <a:solidFill>
                  <a:srgbClr val="1B7A43"/>
                </a:solidFill>
                <a:latin typeface="Arial"/>
              </a:rPr>
              <a:t>Live 24 Aug</a:t>
            </a:r>
          </a:p>
        </p:txBody>
      </p:sp>
      <p:sp>
        <p:nvSpPr>
          <p:cNvPr id="15" name="TextBox 14"/>
          <p:cNvSpPr txBox="1"/>
          <p:nvPr/>
        </p:nvSpPr>
        <p:spPr>
          <a:xfrm>
            <a:off x="8668512" y="2039112"/>
            <a:ext cx="8101584" cy="576072"/>
          </a:xfrm>
          <a:prstGeom prst="rect">
            <a:avLst/>
          </a:prstGeom>
          <a:noFill/>
        </p:spPr>
        <p:txBody>
          <a:bodyPr wrap="square">
            <a:spAutoFit/>
          </a:bodyPr>
          <a:lstStyle/>
          <a:p>
            <a:pPr algn="l"/>
            <a:r>
              <a:rPr sz="1100" b="0" i="0">
                <a:solidFill>
                  <a:srgbClr val="5A6A85"/>
                </a:solidFill>
                <a:latin typeface="Arial"/>
              </a:rPr>
              <a:t>Instagram only, GCC-wide targeting, 3-week run through 15 Sep</a:t>
            </a:r>
          </a:p>
        </p:txBody>
      </p:sp>
      <p:sp>
        <p:nvSpPr>
          <p:cNvPr id="16" name="Rectangle 15"/>
          <p:cNvSpPr/>
          <p:nvPr/>
        </p:nvSpPr>
        <p:spPr>
          <a:xfrm>
            <a:off x="548640" y="2651760"/>
            <a:ext cx="16276320" cy="68580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724912"/>
            <a:ext cx="3072384" cy="576072"/>
          </a:xfrm>
          <a:prstGeom prst="rect">
            <a:avLst/>
          </a:prstGeom>
          <a:noFill/>
        </p:spPr>
        <p:txBody>
          <a:bodyPr wrap="square">
            <a:spAutoFit/>
          </a:bodyPr>
          <a:lstStyle/>
          <a:p>
            <a:pPr algn="l"/>
            <a:r>
              <a:rPr sz="1100" b="1" i="0">
                <a:solidFill>
                  <a:srgbClr val="121A2F"/>
                </a:solidFill>
                <a:latin typeface="Arial"/>
              </a:rPr>
              <a:t>Ali Sabeel Video</a:t>
            </a:r>
          </a:p>
        </p:txBody>
      </p:sp>
      <p:sp>
        <p:nvSpPr>
          <p:cNvPr id="18" name="TextBox 17"/>
          <p:cNvSpPr txBox="1"/>
          <p:nvPr/>
        </p:nvSpPr>
        <p:spPr>
          <a:xfrm>
            <a:off x="3822192" y="2724912"/>
            <a:ext cx="2432304" cy="576072"/>
          </a:xfrm>
          <a:prstGeom prst="rect">
            <a:avLst/>
          </a:prstGeom>
          <a:noFill/>
        </p:spPr>
        <p:txBody>
          <a:bodyPr wrap="square">
            <a:spAutoFit/>
          </a:bodyPr>
          <a:lstStyle/>
          <a:p>
            <a:pPr algn="l"/>
            <a:r>
              <a:rPr sz="1100" b="0" i="0">
                <a:solidFill>
                  <a:srgbClr val="121A2F"/>
                </a:solidFill>
                <a:latin typeface="Arial"/>
              </a:rPr>
              <a:t>$2,200</a:t>
            </a:r>
          </a:p>
        </p:txBody>
      </p:sp>
      <p:sp>
        <p:nvSpPr>
          <p:cNvPr id="19" name="TextBox 18"/>
          <p:cNvSpPr txBox="1"/>
          <p:nvPr/>
        </p:nvSpPr>
        <p:spPr>
          <a:xfrm>
            <a:off x="6382512" y="2724912"/>
            <a:ext cx="2157984" cy="576072"/>
          </a:xfrm>
          <a:prstGeom prst="rect">
            <a:avLst/>
          </a:prstGeom>
          <a:noFill/>
        </p:spPr>
        <p:txBody>
          <a:bodyPr wrap="square">
            <a:spAutoFit/>
          </a:bodyPr>
          <a:lstStyle/>
          <a:p>
            <a:pPr algn="l"/>
            <a:r>
              <a:rPr sz="1100" b="0" i="0">
                <a:solidFill>
                  <a:srgbClr val="1B7A43"/>
                </a:solidFill>
                <a:latin typeface="Arial"/>
              </a:rPr>
              <a:t>Live now</a:t>
            </a:r>
          </a:p>
        </p:txBody>
      </p:sp>
      <p:sp>
        <p:nvSpPr>
          <p:cNvPr id="20" name="TextBox 19"/>
          <p:cNvSpPr txBox="1"/>
          <p:nvPr/>
        </p:nvSpPr>
        <p:spPr>
          <a:xfrm>
            <a:off x="8668512" y="2724912"/>
            <a:ext cx="8101584" cy="576072"/>
          </a:xfrm>
          <a:prstGeom prst="rect">
            <a:avLst/>
          </a:prstGeom>
          <a:noFill/>
        </p:spPr>
        <p:txBody>
          <a:bodyPr wrap="square">
            <a:spAutoFit/>
          </a:bodyPr>
          <a:lstStyle/>
          <a:p>
            <a:pPr algn="l"/>
            <a:r>
              <a:rPr sz="1100" b="0" i="0">
                <a:solidFill>
                  <a:srgbClr val="5A6A85"/>
                </a:solidFill>
                <a:latin typeface="Arial"/>
              </a:rPr>
              <a:t>Instagram only, GCC-wide targeting, paid boost confirmed as of this filing</a:t>
            </a:r>
          </a:p>
        </p:txBody>
      </p:sp>
      <p:sp>
        <p:nvSpPr>
          <p:cNvPr id="21" name="TextBox 20"/>
          <p:cNvSpPr txBox="1"/>
          <p:nvPr/>
        </p:nvSpPr>
        <p:spPr>
          <a:xfrm>
            <a:off x="548640" y="3611880"/>
            <a:ext cx="17190720" cy="1280160"/>
          </a:xfrm>
          <a:prstGeom prst="rect">
            <a:avLst/>
          </a:prstGeom>
          <a:noFill/>
        </p:spPr>
        <p:txBody>
          <a:bodyPr wrap="square">
            <a:spAutoFit/>
          </a:bodyPr>
          <a:lstStyle/>
          <a:p>
            <a:pPr algn="l"/>
            <a:r>
              <a:rPr sz="1300" b="0" i="0">
                <a:solidFill>
                  <a:srgbClr val="5A6A85"/>
                </a:solidFill>
                <a:latin typeface="Arial"/>
              </a:rPr>
              <a:t>Both campaigns are VAT-inclusive of their stated budgets, run through Ignite (onboarded 13-17 Aug), and represent the first paid social spend since the July lapse. Compliance note locked in with the agency: all prize messaging must read "up to $5,000," never a flat guaranteed amount - applies to all future creative, not just the $5,000 Campaign.</a:t>
            </a:r>
          </a:p>
        </p:txBody>
      </p:sp>
      <p:sp>
        <p:nvSpPr>
          <p:cNvPr id="22" name="TextBox 21"/>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Source: Ignite email correspondence, 13-27 Aug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WHAT'S NEXT</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700" b="1" i="0">
                <a:solidFill>
                  <a:srgbClr val="121A2F"/>
                </a:solidFill>
                <a:latin typeface="Arial"/>
              </a:rPr>
              <a:t>September Content Calendar</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16276320" cy="36576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645920"/>
            <a:ext cx="1261872" cy="274320"/>
          </a:xfrm>
          <a:prstGeom prst="rect">
            <a:avLst/>
          </a:prstGeom>
          <a:noFill/>
        </p:spPr>
        <p:txBody>
          <a:bodyPr wrap="square">
            <a:spAutoFit/>
          </a:bodyPr>
          <a:lstStyle/>
          <a:p>
            <a:pPr algn="l"/>
            <a:r>
              <a:rPr sz="1150" b="1" i="0">
                <a:solidFill>
                  <a:srgbClr val="FFFFFF"/>
                </a:solidFill>
                <a:latin typeface="Arial"/>
              </a:rPr>
              <a:t>Date</a:t>
            </a:r>
          </a:p>
        </p:txBody>
      </p:sp>
      <p:sp>
        <p:nvSpPr>
          <p:cNvPr id="8" name="TextBox 7"/>
          <p:cNvSpPr txBox="1"/>
          <p:nvPr/>
        </p:nvSpPr>
        <p:spPr>
          <a:xfrm>
            <a:off x="1993392" y="1645920"/>
            <a:ext cx="3730752" cy="274320"/>
          </a:xfrm>
          <a:prstGeom prst="rect">
            <a:avLst/>
          </a:prstGeom>
          <a:noFill/>
        </p:spPr>
        <p:txBody>
          <a:bodyPr wrap="square">
            <a:spAutoFit/>
          </a:bodyPr>
          <a:lstStyle/>
          <a:p>
            <a:pPr algn="l"/>
            <a:r>
              <a:rPr sz="1150" b="1" i="0">
                <a:solidFill>
                  <a:srgbClr val="FFFFFF"/>
                </a:solidFill>
                <a:latin typeface="Arial"/>
              </a:rPr>
              <a:t>Format</a:t>
            </a:r>
          </a:p>
        </p:txBody>
      </p:sp>
      <p:sp>
        <p:nvSpPr>
          <p:cNvPr id="9" name="TextBox 8"/>
          <p:cNvSpPr txBox="1"/>
          <p:nvPr/>
        </p:nvSpPr>
        <p:spPr>
          <a:xfrm>
            <a:off x="5833872" y="1645920"/>
            <a:ext cx="2633472" cy="274320"/>
          </a:xfrm>
          <a:prstGeom prst="rect">
            <a:avLst/>
          </a:prstGeom>
          <a:noFill/>
        </p:spPr>
        <p:txBody>
          <a:bodyPr wrap="square">
            <a:spAutoFit/>
          </a:bodyPr>
          <a:lstStyle/>
          <a:p>
            <a:pPr algn="l"/>
            <a:r>
              <a:rPr sz="1150" b="1" i="0">
                <a:solidFill>
                  <a:srgbClr val="FFFFFF"/>
                </a:solidFill>
                <a:latin typeface="Arial"/>
              </a:rPr>
              <a:t>Theme</a:t>
            </a:r>
          </a:p>
        </p:txBody>
      </p:sp>
      <p:sp>
        <p:nvSpPr>
          <p:cNvPr id="10" name="TextBox 9"/>
          <p:cNvSpPr txBox="1"/>
          <p:nvPr/>
        </p:nvSpPr>
        <p:spPr>
          <a:xfrm>
            <a:off x="8577072" y="1645920"/>
            <a:ext cx="8211312" cy="274320"/>
          </a:xfrm>
          <a:prstGeom prst="rect">
            <a:avLst/>
          </a:prstGeom>
          <a:noFill/>
        </p:spPr>
        <p:txBody>
          <a:bodyPr wrap="square">
            <a:spAutoFit/>
          </a:bodyPr>
          <a:lstStyle/>
          <a:p>
            <a:pPr algn="l"/>
            <a:r>
              <a:rPr sz="1150" b="1" i="0">
                <a:solidFill>
                  <a:srgbClr val="FFFFFF"/>
                </a:solidFill>
                <a:latin typeface="Arial"/>
              </a:rPr>
              <a:t>Description</a:t>
            </a:r>
          </a:p>
        </p:txBody>
      </p:sp>
      <p:sp>
        <p:nvSpPr>
          <p:cNvPr id="11" name="Rectangle 10"/>
          <p:cNvSpPr/>
          <p:nvPr/>
        </p:nvSpPr>
        <p:spPr>
          <a:xfrm>
            <a:off x="548640" y="1965960"/>
            <a:ext cx="16276320" cy="45720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039112"/>
            <a:ext cx="1243584" cy="347472"/>
          </a:xfrm>
          <a:prstGeom prst="rect">
            <a:avLst/>
          </a:prstGeom>
          <a:noFill/>
        </p:spPr>
        <p:txBody>
          <a:bodyPr wrap="square">
            <a:spAutoFit/>
          </a:bodyPr>
          <a:lstStyle/>
          <a:p>
            <a:pPr algn="l"/>
            <a:r>
              <a:rPr sz="1100" b="1" i="0">
                <a:solidFill>
                  <a:srgbClr val="5A6A85"/>
                </a:solidFill>
                <a:latin typeface="Arial"/>
              </a:rPr>
              <a:t>3 Sep</a:t>
            </a:r>
          </a:p>
        </p:txBody>
      </p:sp>
      <p:sp>
        <p:nvSpPr>
          <p:cNvPr id="13" name="TextBox 12"/>
          <p:cNvSpPr txBox="1"/>
          <p:nvPr/>
        </p:nvSpPr>
        <p:spPr>
          <a:xfrm>
            <a:off x="1993392" y="2039112"/>
            <a:ext cx="3712464" cy="347472"/>
          </a:xfrm>
          <a:prstGeom prst="rect">
            <a:avLst/>
          </a:prstGeom>
          <a:noFill/>
        </p:spPr>
        <p:txBody>
          <a:bodyPr wrap="square">
            <a:spAutoFit/>
          </a:bodyPr>
          <a:lstStyle/>
          <a:p>
            <a:pPr algn="l"/>
            <a:r>
              <a:rPr sz="1100" b="0" i="0">
                <a:solidFill>
                  <a:srgbClr val="121A2F"/>
                </a:solidFill>
                <a:latin typeface="Arial"/>
              </a:rPr>
              <a:t>Carousel</a:t>
            </a:r>
          </a:p>
        </p:txBody>
      </p:sp>
      <p:sp>
        <p:nvSpPr>
          <p:cNvPr id="14" name="TextBox 13"/>
          <p:cNvSpPr txBox="1"/>
          <p:nvPr/>
        </p:nvSpPr>
        <p:spPr>
          <a:xfrm>
            <a:off x="5833872" y="2039112"/>
            <a:ext cx="2615184" cy="347472"/>
          </a:xfrm>
          <a:prstGeom prst="rect">
            <a:avLst/>
          </a:prstGeom>
          <a:noFill/>
        </p:spPr>
        <p:txBody>
          <a:bodyPr wrap="square">
            <a:spAutoFit/>
          </a:bodyPr>
          <a:lstStyle/>
          <a:p>
            <a:pPr algn="l"/>
            <a:r>
              <a:rPr sz="1100" b="0" i="0">
                <a:solidFill>
                  <a:srgbClr val="121A2F"/>
                </a:solidFill>
                <a:latin typeface="Arial"/>
              </a:rPr>
              <a:t>Ali Sabeel Recap</a:t>
            </a:r>
          </a:p>
        </p:txBody>
      </p:sp>
      <p:sp>
        <p:nvSpPr>
          <p:cNvPr id="15" name="TextBox 14"/>
          <p:cNvSpPr txBox="1"/>
          <p:nvPr/>
        </p:nvSpPr>
        <p:spPr>
          <a:xfrm>
            <a:off x="8577072" y="2039112"/>
            <a:ext cx="8193024" cy="347472"/>
          </a:xfrm>
          <a:prstGeom prst="rect">
            <a:avLst/>
          </a:prstGeom>
          <a:noFill/>
        </p:spPr>
        <p:txBody>
          <a:bodyPr wrap="square">
            <a:spAutoFit/>
          </a:bodyPr>
          <a:lstStyle/>
          <a:p>
            <a:pPr algn="l"/>
            <a:r>
              <a:rPr sz="1100" b="0" i="0">
                <a:solidFill>
                  <a:srgbClr val="5A6A85"/>
                </a:solidFill>
                <a:latin typeface="Arial"/>
              </a:rPr>
              <a:t>"eMYAA is more than just an app" - summary of the influencer video</a:t>
            </a:r>
          </a:p>
        </p:txBody>
      </p:sp>
      <p:sp>
        <p:nvSpPr>
          <p:cNvPr id="16" name="Rectangle 15"/>
          <p:cNvSpPr/>
          <p:nvPr/>
        </p:nvSpPr>
        <p:spPr>
          <a:xfrm>
            <a:off x="548640" y="2423160"/>
            <a:ext cx="16276320" cy="45720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496312"/>
            <a:ext cx="1243584" cy="347472"/>
          </a:xfrm>
          <a:prstGeom prst="rect">
            <a:avLst/>
          </a:prstGeom>
          <a:noFill/>
        </p:spPr>
        <p:txBody>
          <a:bodyPr wrap="square">
            <a:spAutoFit/>
          </a:bodyPr>
          <a:lstStyle/>
          <a:p>
            <a:pPr algn="l"/>
            <a:r>
              <a:rPr sz="1100" b="1" i="0">
                <a:solidFill>
                  <a:srgbClr val="5A6A85"/>
                </a:solidFill>
                <a:latin typeface="Arial"/>
              </a:rPr>
              <a:t>7 Sep</a:t>
            </a:r>
          </a:p>
        </p:txBody>
      </p:sp>
      <p:sp>
        <p:nvSpPr>
          <p:cNvPr id="18" name="TextBox 17"/>
          <p:cNvSpPr txBox="1"/>
          <p:nvPr/>
        </p:nvSpPr>
        <p:spPr>
          <a:xfrm>
            <a:off x="1993392" y="2496312"/>
            <a:ext cx="3712464" cy="347472"/>
          </a:xfrm>
          <a:prstGeom prst="rect">
            <a:avLst/>
          </a:prstGeom>
          <a:noFill/>
        </p:spPr>
        <p:txBody>
          <a:bodyPr wrap="square">
            <a:spAutoFit/>
          </a:bodyPr>
          <a:lstStyle/>
          <a:p>
            <a:pPr algn="l"/>
            <a:r>
              <a:rPr sz="1100" b="0" i="0">
                <a:solidFill>
                  <a:srgbClr val="121A2F"/>
                </a:solidFill>
                <a:latin typeface="Arial"/>
              </a:rPr>
              <a:t>Animation</a:t>
            </a:r>
          </a:p>
        </p:txBody>
      </p:sp>
      <p:sp>
        <p:nvSpPr>
          <p:cNvPr id="19" name="TextBox 18"/>
          <p:cNvSpPr txBox="1"/>
          <p:nvPr/>
        </p:nvSpPr>
        <p:spPr>
          <a:xfrm>
            <a:off x="5833872" y="2496312"/>
            <a:ext cx="2615184" cy="347472"/>
          </a:xfrm>
          <a:prstGeom prst="rect">
            <a:avLst/>
          </a:prstGeom>
          <a:noFill/>
        </p:spPr>
        <p:txBody>
          <a:bodyPr wrap="square">
            <a:spAutoFit/>
          </a:bodyPr>
          <a:lstStyle/>
          <a:p>
            <a:pPr algn="l"/>
            <a:r>
              <a:rPr sz="1100" b="0" i="0">
                <a:solidFill>
                  <a:srgbClr val="121A2F"/>
                </a:solidFill>
                <a:latin typeface="Arial"/>
              </a:rPr>
              <a:t>The Five-Minute Account</a:t>
            </a:r>
          </a:p>
        </p:txBody>
      </p:sp>
      <p:sp>
        <p:nvSpPr>
          <p:cNvPr id="20" name="TextBox 19"/>
          <p:cNvSpPr txBox="1"/>
          <p:nvPr/>
        </p:nvSpPr>
        <p:spPr>
          <a:xfrm>
            <a:off x="8577072" y="2496312"/>
            <a:ext cx="8193024" cy="347472"/>
          </a:xfrm>
          <a:prstGeom prst="rect">
            <a:avLst/>
          </a:prstGeom>
          <a:noFill/>
        </p:spPr>
        <p:txBody>
          <a:bodyPr wrap="square">
            <a:spAutoFit/>
          </a:bodyPr>
          <a:lstStyle/>
          <a:p>
            <a:pPr algn="l"/>
            <a:r>
              <a:rPr sz="1100" b="0" i="0">
                <a:solidFill>
                  <a:srgbClr val="5A6A85"/>
                </a:solidFill>
                <a:latin typeface="Arial"/>
              </a:rPr>
              <a:t>App tour: fast onboarding, don't waste time waiting</a:t>
            </a:r>
          </a:p>
        </p:txBody>
      </p:sp>
      <p:sp>
        <p:nvSpPr>
          <p:cNvPr id="21" name="Rectangle 20"/>
          <p:cNvSpPr/>
          <p:nvPr/>
        </p:nvSpPr>
        <p:spPr>
          <a:xfrm>
            <a:off x="548640" y="2880360"/>
            <a:ext cx="16276320" cy="45720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2953512"/>
            <a:ext cx="1243584" cy="347472"/>
          </a:xfrm>
          <a:prstGeom prst="rect">
            <a:avLst/>
          </a:prstGeom>
          <a:noFill/>
        </p:spPr>
        <p:txBody>
          <a:bodyPr wrap="square">
            <a:spAutoFit/>
          </a:bodyPr>
          <a:lstStyle/>
          <a:p>
            <a:pPr algn="l"/>
            <a:r>
              <a:rPr sz="1100" b="1" i="0">
                <a:solidFill>
                  <a:srgbClr val="5A6A85"/>
                </a:solidFill>
                <a:latin typeface="Arial"/>
              </a:rPr>
              <a:t>9 Sep</a:t>
            </a:r>
          </a:p>
        </p:txBody>
      </p:sp>
      <p:sp>
        <p:nvSpPr>
          <p:cNvPr id="23" name="TextBox 22"/>
          <p:cNvSpPr txBox="1"/>
          <p:nvPr/>
        </p:nvSpPr>
        <p:spPr>
          <a:xfrm>
            <a:off x="1993392" y="2953512"/>
            <a:ext cx="3712464" cy="347472"/>
          </a:xfrm>
          <a:prstGeom prst="rect">
            <a:avLst/>
          </a:prstGeom>
          <a:noFill/>
        </p:spPr>
        <p:txBody>
          <a:bodyPr wrap="square">
            <a:spAutoFit/>
          </a:bodyPr>
          <a:lstStyle/>
          <a:p>
            <a:pPr algn="l"/>
            <a:r>
              <a:rPr sz="1100" b="0" i="0">
                <a:solidFill>
                  <a:srgbClr val="121A2F"/>
                </a:solidFill>
                <a:latin typeface="Arial"/>
              </a:rPr>
              <a:t>Carousel</a:t>
            </a:r>
          </a:p>
        </p:txBody>
      </p:sp>
      <p:sp>
        <p:nvSpPr>
          <p:cNvPr id="24" name="TextBox 23"/>
          <p:cNvSpPr txBox="1"/>
          <p:nvPr/>
        </p:nvSpPr>
        <p:spPr>
          <a:xfrm>
            <a:off x="5833872" y="2953512"/>
            <a:ext cx="2615184" cy="347472"/>
          </a:xfrm>
          <a:prstGeom prst="rect">
            <a:avLst/>
          </a:prstGeom>
          <a:noFill/>
        </p:spPr>
        <p:txBody>
          <a:bodyPr wrap="square">
            <a:spAutoFit/>
          </a:bodyPr>
          <a:lstStyle/>
          <a:p>
            <a:pPr algn="l"/>
            <a:r>
              <a:rPr sz="1100" b="0" i="0">
                <a:solidFill>
                  <a:srgbClr val="121A2F"/>
                </a:solidFill>
                <a:latin typeface="Arial"/>
              </a:rPr>
              <a:t>Built on Trust, Built on Values</a:t>
            </a:r>
          </a:p>
        </p:txBody>
      </p:sp>
      <p:sp>
        <p:nvSpPr>
          <p:cNvPr id="25" name="TextBox 24"/>
          <p:cNvSpPr txBox="1"/>
          <p:nvPr/>
        </p:nvSpPr>
        <p:spPr>
          <a:xfrm>
            <a:off x="8577072" y="2953512"/>
            <a:ext cx="8193024" cy="347472"/>
          </a:xfrm>
          <a:prstGeom prst="rect">
            <a:avLst/>
          </a:prstGeom>
          <a:noFill/>
        </p:spPr>
        <p:txBody>
          <a:bodyPr wrap="square">
            <a:spAutoFit/>
          </a:bodyPr>
          <a:lstStyle/>
          <a:p>
            <a:pPr algn="l"/>
            <a:r>
              <a:rPr sz="1100" b="0" i="0">
                <a:solidFill>
                  <a:srgbClr val="5A6A85"/>
                </a:solidFill>
                <a:latin typeface="Arial"/>
              </a:rPr>
              <a:t>Shari'ah-compliant investment opportunities</a:t>
            </a:r>
          </a:p>
        </p:txBody>
      </p:sp>
      <p:sp>
        <p:nvSpPr>
          <p:cNvPr id="26" name="Rectangle 25"/>
          <p:cNvSpPr/>
          <p:nvPr/>
        </p:nvSpPr>
        <p:spPr>
          <a:xfrm>
            <a:off x="548640" y="3337560"/>
            <a:ext cx="16276320" cy="45720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3410712"/>
            <a:ext cx="1243584" cy="347472"/>
          </a:xfrm>
          <a:prstGeom prst="rect">
            <a:avLst/>
          </a:prstGeom>
          <a:noFill/>
        </p:spPr>
        <p:txBody>
          <a:bodyPr wrap="square">
            <a:spAutoFit/>
          </a:bodyPr>
          <a:lstStyle/>
          <a:p>
            <a:pPr algn="l"/>
            <a:r>
              <a:rPr sz="1100" b="1" i="0">
                <a:solidFill>
                  <a:srgbClr val="5A6A85"/>
                </a:solidFill>
                <a:latin typeface="Arial"/>
              </a:rPr>
              <a:t>15 Sep</a:t>
            </a:r>
          </a:p>
        </p:txBody>
      </p:sp>
      <p:sp>
        <p:nvSpPr>
          <p:cNvPr id="28" name="TextBox 27"/>
          <p:cNvSpPr txBox="1"/>
          <p:nvPr/>
        </p:nvSpPr>
        <p:spPr>
          <a:xfrm>
            <a:off x="1993392" y="3410712"/>
            <a:ext cx="3712464" cy="347472"/>
          </a:xfrm>
          <a:prstGeom prst="rect">
            <a:avLst/>
          </a:prstGeom>
          <a:noFill/>
        </p:spPr>
        <p:txBody>
          <a:bodyPr wrap="square">
            <a:spAutoFit/>
          </a:bodyPr>
          <a:lstStyle/>
          <a:p>
            <a:pPr algn="l"/>
            <a:r>
              <a:rPr sz="1100" b="0" i="0">
                <a:solidFill>
                  <a:srgbClr val="121A2F"/>
                </a:solidFill>
                <a:latin typeface="Arial"/>
              </a:rPr>
              <a:t>Animation</a:t>
            </a:r>
          </a:p>
        </p:txBody>
      </p:sp>
      <p:sp>
        <p:nvSpPr>
          <p:cNvPr id="29" name="TextBox 28"/>
          <p:cNvSpPr txBox="1"/>
          <p:nvPr/>
        </p:nvSpPr>
        <p:spPr>
          <a:xfrm>
            <a:off x="5833872" y="3410712"/>
            <a:ext cx="2615184" cy="347472"/>
          </a:xfrm>
          <a:prstGeom prst="rect">
            <a:avLst/>
          </a:prstGeom>
          <a:noFill/>
        </p:spPr>
        <p:txBody>
          <a:bodyPr wrap="square">
            <a:spAutoFit/>
          </a:bodyPr>
          <a:lstStyle/>
          <a:p>
            <a:pPr algn="l"/>
            <a:r>
              <a:rPr sz="1100" b="0" i="0">
                <a:solidFill>
                  <a:srgbClr val="121A2F"/>
                </a:solidFill>
                <a:latin typeface="Arial"/>
              </a:rPr>
              <a:t>Mention &amp; Win $500</a:t>
            </a:r>
          </a:p>
        </p:txBody>
      </p:sp>
      <p:sp>
        <p:nvSpPr>
          <p:cNvPr id="30" name="TextBox 29"/>
          <p:cNvSpPr txBox="1"/>
          <p:nvPr/>
        </p:nvSpPr>
        <p:spPr>
          <a:xfrm>
            <a:off x="8577072" y="3410712"/>
            <a:ext cx="8193024" cy="347472"/>
          </a:xfrm>
          <a:prstGeom prst="rect">
            <a:avLst/>
          </a:prstGeom>
          <a:noFill/>
        </p:spPr>
        <p:txBody>
          <a:bodyPr wrap="square">
            <a:spAutoFit/>
          </a:bodyPr>
          <a:lstStyle/>
          <a:p>
            <a:pPr algn="l"/>
            <a:r>
              <a:rPr sz="1100" b="0" i="0">
                <a:solidFill>
                  <a:srgbClr val="5A6A85"/>
                </a:solidFill>
                <a:latin typeface="Arial"/>
              </a:rPr>
              <a:t>Monthly recurring prize mechanic</a:t>
            </a:r>
          </a:p>
        </p:txBody>
      </p:sp>
      <p:sp>
        <p:nvSpPr>
          <p:cNvPr id="31" name="Rectangle 30"/>
          <p:cNvSpPr/>
          <p:nvPr/>
        </p:nvSpPr>
        <p:spPr>
          <a:xfrm>
            <a:off x="548640" y="3794760"/>
            <a:ext cx="16276320" cy="45720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3867912"/>
            <a:ext cx="1243584" cy="347472"/>
          </a:xfrm>
          <a:prstGeom prst="rect">
            <a:avLst/>
          </a:prstGeom>
          <a:noFill/>
        </p:spPr>
        <p:txBody>
          <a:bodyPr wrap="square">
            <a:spAutoFit/>
          </a:bodyPr>
          <a:lstStyle/>
          <a:p>
            <a:pPr algn="l"/>
            <a:r>
              <a:rPr sz="1100" b="1" i="0">
                <a:solidFill>
                  <a:srgbClr val="5A6A85"/>
                </a:solidFill>
                <a:latin typeface="Arial"/>
              </a:rPr>
              <a:t>17 Sep</a:t>
            </a:r>
          </a:p>
        </p:txBody>
      </p:sp>
      <p:sp>
        <p:nvSpPr>
          <p:cNvPr id="33" name="TextBox 32"/>
          <p:cNvSpPr txBox="1"/>
          <p:nvPr/>
        </p:nvSpPr>
        <p:spPr>
          <a:xfrm>
            <a:off x="1993392" y="3867912"/>
            <a:ext cx="3712464" cy="347472"/>
          </a:xfrm>
          <a:prstGeom prst="rect">
            <a:avLst/>
          </a:prstGeom>
          <a:noFill/>
        </p:spPr>
        <p:txBody>
          <a:bodyPr wrap="square">
            <a:spAutoFit/>
          </a:bodyPr>
          <a:lstStyle/>
          <a:p>
            <a:pPr algn="l"/>
            <a:r>
              <a:rPr sz="1100" b="0" i="0">
                <a:solidFill>
                  <a:srgbClr val="121A2F"/>
                </a:solidFill>
                <a:latin typeface="Arial"/>
              </a:rPr>
              <a:t>Animation</a:t>
            </a:r>
          </a:p>
        </p:txBody>
      </p:sp>
      <p:sp>
        <p:nvSpPr>
          <p:cNvPr id="34" name="TextBox 33"/>
          <p:cNvSpPr txBox="1"/>
          <p:nvPr/>
        </p:nvSpPr>
        <p:spPr>
          <a:xfrm>
            <a:off x="5833872" y="3867912"/>
            <a:ext cx="2615184" cy="347472"/>
          </a:xfrm>
          <a:prstGeom prst="rect">
            <a:avLst/>
          </a:prstGeom>
          <a:noFill/>
        </p:spPr>
        <p:txBody>
          <a:bodyPr wrap="square">
            <a:spAutoFit/>
          </a:bodyPr>
          <a:lstStyle/>
          <a:p>
            <a:pPr algn="l"/>
            <a:r>
              <a:rPr sz="1100" b="0" i="0">
                <a:solidFill>
                  <a:srgbClr val="121A2F"/>
                </a:solidFill>
                <a:latin typeface="Arial"/>
              </a:rPr>
              <a:t>The Power of Consistency</a:t>
            </a:r>
          </a:p>
        </p:txBody>
      </p:sp>
      <p:sp>
        <p:nvSpPr>
          <p:cNvPr id="35" name="TextBox 34"/>
          <p:cNvSpPr txBox="1"/>
          <p:nvPr/>
        </p:nvSpPr>
        <p:spPr>
          <a:xfrm>
            <a:off x="8577072" y="3867912"/>
            <a:ext cx="8193024" cy="347472"/>
          </a:xfrm>
          <a:prstGeom prst="rect">
            <a:avLst/>
          </a:prstGeom>
          <a:noFill/>
        </p:spPr>
        <p:txBody>
          <a:bodyPr wrap="square">
            <a:spAutoFit/>
          </a:bodyPr>
          <a:lstStyle/>
          <a:p>
            <a:pPr algn="l"/>
            <a:r>
              <a:rPr sz="1100" b="0" i="0">
                <a:solidFill>
                  <a:srgbClr val="5A6A85"/>
                </a:solidFill>
                <a:latin typeface="Arial"/>
              </a:rPr>
              <a:t>Investing discipline messaging</a:t>
            </a:r>
          </a:p>
        </p:txBody>
      </p:sp>
      <p:sp>
        <p:nvSpPr>
          <p:cNvPr id="36" name="Rectangle 35"/>
          <p:cNvSpPr/>
          <p:nvPr/>
        </p:nvSpPr>
        <p:spPr>
          <a:xfrm>
            <a:off x="548640" y="4251960"/>
            <a:ext cx="16276320" cy="45720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 y="4325112"/>
            <a:ext cx="1243584" cy="347472"/>
          </a:xfrm>
          <a:prstGeom prst="rect">
            <a:avLst/>
          </a:prstGeom>
          <a:noFill/>
        </p:spPr>
        <p:txBody>
          <a:bodyPr wrap="square">
            <a:spAutoFit/>
          </a:bodyPr>
          <a:lstStyle/>
          <a:p>
            <a:pPr algn="l"/>
            <a:r>
              <a:rPr sz="1100" b="1" i="0">
                <a:solidFill>
                  <a:srgbClr val="5A6A85"/>
                </a:solidFill>
                <a:latin typeface="Arial"/>
              </a:rPr>
              <a:t>21 Sep</a:t>
            </a:r>
          </a:p>
        </p:txBody>
      </p:sp>
      <p:sp>
        <p:nvSpPr>
          <p:cNvPr id="38" name="TextBox 37"/>
          <p:cNvSpPr txBox="1"/>
          <p:nvPr/>
        </p:nvSpPr>
        <p:spPr>
          <a:xfrm>
            <a:off x="1993392" y="4325112"/>
            <a:ext cx="3712464" cy="347472"/>
          </a:xfrm>
          <a:prstGeom prst="rect">
            <a:avLst/>
          </a:prstGeom>
          <a:noFill/>
        </p:spPr>
        <p:txBody>
          <a:bodyPr wrap="square">
            <a:spAutoFit/>
          </a:bodyPr>
          <a:lstStyle/>
          <a:p>
            <a:pPr algn="l"/>
            <a:r>
              <a:rPr sz="1100" b="0" i="0">
                <a:solidFill>
                  <a:srgbClr val="121A2F"/>
                </a:solidFill>
                <a:latin typeface="Arial"/>
              </a:rPr>
              <a:t>Carousel</a:t>
            </a:r>
          </a:p>
        </p:txBody>
      </p:sp>
      <p:sp>
        <p:nvSpPr>
          <p:cNvPr id="39" name="TextBox 38"/>
          <p:cNvSpPr txBox="1"/>
          <p:nvPr/>
        </p:nvSpPr>
        <p:spPr>
          <a:xfrm>
            <a:off x="5833872" y="4325112"/>
            <a:ext cx="2615184" cy="347472"/>
          </a:xfrm>
          <a:prstGeom prst="rect">
            <a:avLst/>
          </a:prstGeom>
          <a:noFill/>
        </p:spPr>
        <p:txBody>
          <a:bodyPr wrap="square">
            <a:spAutoFit/>
          </a:bodyPr>
          <a:lstStyle/>
          <a:p>
            <a:pPr algn="l"/>
            <a:r>
              <a:rPr sz="1100" b="0" i="0">
                <a:solidFill>
                  <a:srgbClr val="121A2F"/>
                </a:solidFill>
                <a:latin typeface="Arial"/>
              </a:rPr>
              <a:t>Purification &amp; Payments</a:t>
            </a:r>
          </a:p>
        </p:txBody>
      </p:sp>
      <p:sp>
        <p:nvSpPr>
          <p:cNvPr id="40" name="TextBox 39"/>
          <p:cNvSpPr txBox="1"/>
          <p:nvPr/>
        </p:nvSpPr>
        <p:spPr>
          <a:xfrm>
            <a:off x="8577072" y="4325112"/>
            <a:ext cx="8193024" cy="347472"/>
          </a:xfrm>
          <a:prstGeom prst="rect">
            <a:avLst/>
          </a:prstGeom>
          <a:noFill/>
        </p:spPr>
        <p:txBody>
          <a:bodyPr wrap="square">
            <a:spAutoFit/>
          </a:bodyPr>
          <a:lstStyle/>
          <a:p>
            <a:pPr algn="l"/>
            <a:r>
              <a:rPr sz="1100" b="0" i="0">
                <a:solidFill>
                  <a:srgbClr val="5A6A85"/>
                </a:solidFill>
                <a:latin typeface="Arial"/>
              </a:rPr>
              <a:t>Purification calculator; adding Apple Pay &amp; Google Pay</a:t>
            </a:r>
          </a:p>
        </p:txBody>
      </p:sp>
      <p:sp>
        <p:nvSpPr>
          <p:cNvPr id="41" name="Rectangle 40"/>
          <p:cNvSpPr/>
          <p:nvPr/>
        </p:nvSpPr>
        <p:spPr>
          <a:xfrm>
            <a:off x="548640" y="4709160"/>
            <a:ext cx="16276320" cy="45720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 y="4782312"/>
            <a:ext cx="1243584" cy="347472"/>
          </a:xfrm>
          <a:prstGeom prst="rect">
            <a:avLst/>
          </a:prstGeom>
          <a:noFill/>
        </p:spPr>
        <p:txBody>
          <a:bodyPr wrap="square">
            <a:spAutoFit/>
          </a:bodyPr>
          <a:lstStyle/>
          <a:p>
            <a:pPr algn="l"/>
            <a:r>
              <a:rPr sz="1100" b="1" i="0">
                <a:solidFill>
                  <a:srgbClr val="5A6A85"/>
                </a:solidFill>
                <a:latin typeface="Arial"/>
              </a:rPr>
              <a:t>23 Sep</a:t>
            </a:r>
          </a:p>
        </p:txBody>
      </p:sp>
      <p:sp>
        <p:nvSpPr>
          <p:cNvPr id="43" name="TextBox 42"/>
          <p:cNvSpPr txBox="1"/>
          <p:nvPr/>
        </p:nvSpPr>
        <p:spPr>
          <a:xfrm>
            <a:off x="1993392" y="4782312"/>
            <a:ext cx="3712464" cy="347472"/>
          </a:xfrm>
          <a:prstGeom prst="rect">
            <a:avLst/>
          </a:prstGeom>
          <a:noFill/>
        </p:spPr>
        <p:txBody>
          <a:bodyPr wrap="square">
            <a:spAutoFit/>
          </a:bodyPr>
          <a:lstStyle/>
          <a:p>
            <a:pPr algn="l"/>
            <a:r>
              <a:rPr sz="1100" b="0" i="0">
                <a:solidFill>
                  <a:srgbClr val="121A2F"/>
                </a:solidFill>
                <a:latin typeface="Arial"/>
              </a:rPr>
              <a:t>Infographic</a:t>
            </a:r>
          </a:p>
        </p:txBody>
      </p:sp>
      <p:sp>
        <p:nvSpPr>
          <p:cNvPr id="44" name="TextBox 43"/>
          <p:cNvSpPr txBox="1"/>
          <p:nvPr/>
        </p:nvSpPr>
        <p:spPr>
          <a:xfrm>
            <a:off x="5833872" y="4782312"/>
            <a:ext cx="2615184" cy="347472"/>
          </a:xfrm>
          <a:prstGeom prst="rect">
            <a:avLst/>
          </a:prstGeom>
          <a:noFill/>
        </p:spPr>
        <p:txBody>
          <a:bodyPr wrap="square">
            <a:spAutoFit/>
          </a:bodyPr>
          <a:lstStyle/>
          <a:p>
            <a:pPr algn="l"/>
            <a:r>
              <a:rPr sz="1100" b="0" i="0">
                <a:solidFill>
                  <a:srgbClr val="121A2F"/>
                </a:solidFill>
                <a:latin typeface="Arial"/>
              </a:rPr>
              <a:t>Saudi National Day</a:t>
            </a:r>
          </a:p>
        </p:txBody>
      </p:sp>
      <p:sp>
        <p:nvSpPr>
          <p:cNvPr id="45" name="TextBox 44"/>
          <p:cNvSpPr txBox="1"/>
          <p:nvPr/>
        </p:nvSpPr>
        <p:spPr>
          <a:xfrm>
            <a:off x="8577072" y="4782312"/>
            <a:ext cx="8193024" cy="347472"/>
          </a:xfrm>
          <a:prstGeom prst="rect">
            <a:avLst/>
          </a:prstGeom>
          <a:noFill/>
        </p:spPr>
        <p:txBody>
          <a:bodyPr wrap="square">
            <a:spAutoFit/>
          </a:bodyPr>
          <a:lstStyle/>
          <a:p>
            <a:pPr algn="l"/>
            <a:r>
              <a:rPr sz="1100" b="0" i="0">
                <a:solidFill>
                  <a:srgbClr val="5A6A85"/>
                </a:solidFill>
                <a:latin typeface="Arial"/>
              </a:rPr>
              <a:t>Saudi market size ($2.5T+) as a timely cultural moment</a:t>
            </a:r>
          </a:p>
        </p:txBody>
      </p:sp>
      <p:sp>
        <p:nvSpPr>
          <p:cNvPr id="46" name="Rectangle 45"/>
          <p:cNvSpPr/>
          <p:nvPr/>
        </p:nvSpPr>
        <p:spPr>
          <a:xfrm>
            <a:off x="548640" y="5166360"/>
            <a:ext cx="16276320" cy="457200"/>
          </a:xfrm>
          <a:prstGeom prst="rect">
            <a:avLst/>
          </a:prstGeom>
          <a:solidFill>
            <a:srgbClr val="FFFFFF"/>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5239512"/>
            <a:ext cx="1243584" cy="347472"/>
          </a:xfrm>
          <a:prstGeom prst="rect">
            <a:avLst/>
          </a:prstGeom>
          <a:noFill/>
        </p:spPr>
        <p:txBody>
          <a:bodyPr wrap="square">
            <a:spAutoFit/>
          </a:bodyPr>
          <a:lstStyle/>
          <a:p>
            <a:pPr algn="l"/>
            <a:r>
              <a:rPr sz="1100" b="1" i="0">
                <a:solidFill>
                  <a:srgbClr val="5A6A85"/>
                </a:solidFill>
                <a:latin typeface="Arial"/>
              </a:rPr>
              <a:t>27 Sep</a:t>
            </a:r>
          </a:p>
        </p:txBody>
      </p:sp>
      <p:sp>
        <p:nvSpPr>
          <p:cNvPr id="48" name="TextBox 47"/>
          <p:cNvSpPr txBox="1"/>
          <p:nvPr/>
        </p:nvSpPr>
        <p:spPr>
          <a:xfrm>
            <a:off x="1993392" y="5239512"/>
            <a:ext cx="3712464" cy="347472"/>
          </a:xfrm>
          <a:prstGeom prst="rect">
            <a:avLst/>
          </a:prstGeom>
          <a:noFill/>
        </p:spPr>
        <p:txBody>
          <a:bodyPr wrap="square">
            <a:spAutoFit/>
          </a:bodyPr>
          <a:lstStyle/>
          <a:p>
            <a:pPr algn="l"/>
            <a:r>
              <a:rPr sz="1100" b="0" i="0">
                <a:solidFill>
                  <a:srgbClr val="121A2F"/>
                </a:solidFill>
                <a:latin typeface="Arial"/>
              </a:rPr>
              <a:t>Carousel</a:t>
            </a:r>
          </a:p>
        </p:txBody>
      </p:sp>
      <p:sp>
        <p:nvSpPr>
          <p:cNvPr id="49" name="TextBox 48"/>
          <p:cNvSpPr txBox="1"/>
          <p:nvPr/>
        </p:nvSpPr>
        <p:spPr>
          <a:xfrm>
            <a:off x="5833872" y="5239512"/>
            <a:ext cx="2615184" cy="347472"/>
          </a:xfrm>
          <a:prstGeom prst="rect">
            <a:avLst/>
          </a:prstGeom>
          <a:noFill/>
        </p:spPr>
        <p:txBody>
          <a:bodyPr wrap="square">
            <a:spAutoFit/>
          </a:bodyPr>
          <a:lstStyle/>
          <a:p>
            <a:pPr algn="l"/>
            <a:r>
              <a:rPr sz="1100" b="0" i="0">
                <a:solidFill>
                  <a:srgbClr val="121A2F"/>
                </a:solidFill>
                <a:latin typeface="Arial"/>
              </a:rPr>
              <a:t>GCC Market Spotlight</a:t>
            </a:r>
          </a:p>
        </p:txBody>
      </p:sp>
      <p:sp>
        <p:nvSpPr>
          <p:cNvPr id="50" name="TextBox 49"/>
          <p:cNvSpPr txBox="1"/>
          <p:nvPr/>
        </p:nvSpPr>
        <p:spPr>
          <a:xfrm>
            <a:off x="8577072" y="5239512"/>
            <a:ext cx="8193024" cy="347472"/>
          </a:xfrm>
          <a:prstGeom prst="rect">
            <a:avLst/>
          </a:prstGeom>
          <a:noFill/>
        </p:spPr>
        <p:txBody>
          <a:bodyPr wrap="square">
            <a:spAutoFit/>
          </a:bodyPr>
          <a:lstStyle/>
          <a:p>
            <a:pPr algn="l"/>
            <a:r>
              <a:rPr sz="1100" b="0" i="0">
                <a:solidFill>
                  <a:srgbClr val="5A6A85"/>
                </a:solidFill>
                <a:latin typeface="Arial"/>
              </a:rPr>
              <a:t>Regional diversification narrative</a:t>
            </a:r>
          </a:p>
        </p:txBody>
      </p:sp>
      <p:sp>
        <p:nvSpPr>
          <p:cNvPr id="51" name="Rectangle 50"/>
          <p:cNvSpPr/>
          <p:nvPr/>
        </p:nvSpPr>
        <p:spPr>
          <a:xfrm>
            <a:off x="548640" y="5623560"/>
            <a:ext cx="16276320" cy="457200"/>
          </a:xfrm>
          <a:prstGeom prst="rect">
            <a:avLst/>
          </a:prstGeom>
          <a:solidFill>
            <a:srgbClr val="F7F9FC"/>
          </a:solidFill>
          <a:ln w="9525">
            <a:solidFill>
              <a:srgbClr val="E8ED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1792" y="5696712"/>
            <a:ext cx="1243584" cy="347472"/>
          </a:xfrm>
          <a:prstGeom prst="rect">
            <a:avLst/>
          </a:prstGeom>
          <a:noFill/>
        </p:spPr>
        <p:txBody>
          <a:bodyPr wrap="square">
            <a:spAutoFit/>
          </a:bodyPr>
          <a:lstStyle/>
          <a:p>
            <a:pPr algn="l"/>
            <a:r>
              <a:rPr sz="1100" b="1" i="0">
                <a:solidFill>
                  <a:srgbClr val="5A6A85"/>
                </a:solidFill>
                <a:latin typeface="Arial"/>
              </a:rPr>
              <a:t>30 Sep</a:t>
            </a:r>
          </a:p>
        </p:txBody>
      </p:sp>
      <p:sp>
        <p:nvSpPr>
          <p:cNvPr id="53" name="TextBox 52"/>
          <p:cNvSpPr txBox="1"/>
          <p:nvPr/>
        </p:nvSpPr>
        <p:spPr>
          <a:xfrm>
            <a:off x="1993392" y="5696712"/>
            <a:ext cx="3712464" cy="347472"/>
          </a:xfrm>
          <a:prstGeom prst="rect">
            <a:avLst/>
          </a:prstGeom>
          <a:noFill/>
        </p:spPr>
        <p:txBody>
          <a:bodyPr wrap="square">
            <a:spAutoFit/>
          </a:bodyPr>
          <a:lstStyle/>
          <a:p>
            <a:pPr algn="l"/>
            <a:r>
              <a:rPr sz="1100" b="0" i="0">
                <a:solidFill>
                  <a:srgbClr val="121A2F"/>
                </a:solidFill>
                <a:latin typeface="Arial"/>
              </a:rPr>
              <a:t>Carousel</a:t>
            </a:r>
          </a:p>
        </p:txBody>
      </p:sp>
      <p:sp>
        <p:nvSpPr>
          <p:cNvPr id="54" name="TextBox 53"/>
          <p:cNvSpPr txBox="1"/>
          <p:nvPr/>
        </p:nvSpPr>
        <p:spPr>
          <a:xfrm>
            <a:off x="5833872" y="5696712"/>
            <a:ext cx="2615184" cy="347472"/>
          </a:xfrm>
          <a:prstGeom prst="rect">
            <a:avLst/>
          </a:prstGeom>
          <a:noFill/>
        </p:spPr>
        <p:txBody>
          <a:bodyPr wrap="square">
            <a:spAutoFit/>
          </a:bodyPr>
          <a:lstStyle/>
          <a:p>
            <a:pPr algn="l"/>
            <a:r>
              <a:rPr sz="1100" b="0" i="0">
                <a:solidFill>
                  <a:srgbClr val="121A2F"/>
                </a:solidFill>
                <a:latin typeface="Arial"/>
              </a:rPr>
              <a:t>Market Pulse</a:t>
            </a:r>
          </a:p>
        </p:txBody>
      </p:sp>
      <p:sp>
        <p:nvSpPr>
          <p:cNvPr id="55" name="TextBox 54"/>
          <p:cNvSpPr txBox="1"/>
          <p:nvPr/>
        </p:nvSpPr>
        <p:spPr>
          <a:xfrm>
            <a:off x="8577072" y="5696712"/>
            <a:ext cx="8193024" cy="347472"/>
          </a:xfrm>
          <a:prstGeom prst="rect">
            <a:avLst/>
          </a:prstGeom>
          <a:noFill/>
        </p:spPr>
        <p:txBody>
          <a:bodyPr wrap="square">
            <a:spAutoFit/>
          </a:bodyPr>
          <a:lstStyle/>
          <a:p>
            <a:pPr algn="l"/>
            <a:r>
              <a:rPr sz="1100" b="0" i="0">
                <a:solidFill>
                  <a:srgbClr val="5A6A85"/>
                </a:solidFill>
                <a:latin typeface="Arial"/>
              </a:rPr>
              <a:t>Monthly market recap</a:t>
            </a:r>
          </a:p>
        </p:txBody>
      </p:sp>
      <p:sp>
        <p:nvSpPr>
          <p:cNvPr id="56" name="TextBox 55"/>
          <p:cNvSpPr txBox="1"/>
          <p:nvPr/>
        </p:nvSpPr>
        <p:spPr>
          <a:xfrm>
            <a:off x="548640" y="6309360"/>
            <a:ext cx="17190720" cy="548640"/>
          </a:xfrm>
          <a:prstGeom prst="rect">
            <a:avLst/>
          </a:prstGeom>
          <a:noFill/>
        </p:spPr>
        <p:txBody>
          <a:bodyPr wrap="square">
            <a:spAutoFit/>
          </a:bodyPr>
          <a:lstStyle/>
          <a:p>
            <a:pPr algn="l"/>
            <a:r>
              <a:rPr sz="1200" b="0" i="1">
                <a:solidFill>
                  <a:srgbClr val="5A6A85"/>
                </a:solidFill>
                <a:latin typeface="Arial"/>
              </a:rPr>
              <a:t>Process improvement in place: design frames for animated content are now shared at least 3 days before the scheduled post date, giving proper time for animation and feedback before that stage begins.</a:t>
            </a:r>
          </a:p>
        </p:txBody>
      </p:sp>
      <p:sp>
        <p:nvSpPr>
          <p:cNvPr id="57" name="TextBox 56"/>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Source: 24F September Content Calendar, shared 23 Aug 2026. Some slides in the working deck still carry open internal review comments - plan shown here is directionally final, not yet fully locked.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WHAT'S NEXT</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700" b="1" i="0">
                <a:solidFill>
                  <a:srgbClr val="121A2F"/>
                </a:solidFill>
                <a:latin typeface="Arial"/>
              </a:rPr>
              <a:t>September Artwork Preview</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919472"/>
            <a:ext cx="8458200" cy="320040"/>
          </a:xfrm>
          <a:prstGeom prst="rect">
            <a:avLst/>
          </a:prstGeom>
          <a:noFill/>
        </p:spPr>
        <p:txBody>
          <a:bodyPr wrap="square">
            <a:spAutoFit/>
          </a:bodyPr>
          <a:lstStyle/>
          <a:p>
            <a:pPr algn="ctr"/>
            <a:r>
              <a:rPr sz="1250" b="1" i="0">
                <a:solidFill>
                  <a:srgbClr val="121A2F"/>
                </a:solidFill>
                <a:latin typeface="Arial"/>
              </a:rPr>
              <a:t>3 Sep - Ali Sabeel Recap</a:t>
            </a:r>
          </a:p>
        </p:txBody>
      </p:sp>
      <p:sp>
        <p:nvSpPr>
          <p:cNvPr id="9" name="TextBox 8"/>
          <p:cNvSpPr txBox="1"/>
          <p:nvPr/>
        </p:nvSpPr>
        <p:spPr>
          <a:xfrm>
            <a:off x="9281160" y="4919472"/>
            <a:ext cx="8458200" cy="320040"/>
          </a:xfrm>
          <a:prstGeom prst="rect">
            <a:avLst/>
          </a:prstGeom>
          <a:noFill/>
        </p:spPr>
        <p:txBody>
          <a:bodyPr wrap="square">
            <a:spAutoFit/>
          </a:bodyPr>
          <a:lstStyle/>
          <a:p>
            <a:pPr algn="ctr"/>
            <a:r>
              <a:rPr sz="1250" b="1" i="0">
                <a:solidFill>
                  <a:srgbClr val="121A2F"/>
                </a:solidFill>
                <a:latin typeface="Arial"/>
              </a:rPr>
              <a:t>23 Sep - Saudi National Day</a:t>
            </a:r>
          </a:p>
        </p:txBody>
      </p:sp>
      <p:sp>
        <p:nvSpPr>
          <p:cNvPr id="11" name="TextBox 10"/>
          <p:cNvSpPr txBox="1"/>
          <p:nvPr/>
        </p:nvSpPr>
        <p:spPr>
          <a:xfrm>
            <a:off x="548640" y="8668512"/>
            <a:ext cx="8458200" cy="320040"/>
          </a:xfrm>
          <a:prstGeom prst="rect">
            <a:avLst/>
          </a:prstGeom>
          <a:noFill/>
        </p:spPr>
        <p:txBody>
          <a:bodyPr wrap="square">
            <a:spAutoFit/>
          </a:bodyPr>
          <a:lstStyle/>
          <a:p>
            <a:pPr algn="ctr"/>
            <a:r>
              <a:rPr sz="1250" b="1" i="0">
                <a:solidFill>
                  <a:srgbClr val="121A2F"/>
                </a:solidFill>
                <a:latin typeface="Arial"/>
              </a:rPr>
              <a:t>27 Sep - GCC Market Spotlight</a:t>
            </a:r>
          </a:p>
        </p:txBody>
      </p:sp>
      <p:sp>
        <p:nvSpPr>
          <p:cNvPr id="13" name="TextBox 12"/>
          <p:cNvSpPr txBox="1"/>
          <p:nvPr/>
        </p:nvSpPr>
        <p:spPr>
          <a:xfrm>
            <a:off x="9281160" y="8668512"/>
            <a:ext cx="8458200" cy="320040"/>
          </a:xfrm>
          <a:prstGeom prst="rect">
            <a:avLst/>
          </a:prstGeom>
          <a:noFill/>
        </p:spPr>
        <p:txBody>
          <a:bodyPr wrap="square">
            <a:spAutoFit/>
          </a:bodyPr>
          <a:lstStyle/>
          <a:p>
            <a:pPr algn="ctr"/>
            <a:r>
              <a:rPr sz="1250" b="1" i="0">
                <a:solidFill>
                  <a:srgbClr val="121A2F"/>
                </a:solidFill>
                <a:latin typeface="Arial"/>
              </a:rPr>
              <a:t>30 Sep - Market Pulse</a:t>
            </a:r>
          </a:p>
        </p:txBody>
      </p:sp>
      <p:sp>
        <p:nvSpPr>
          <p:cNvPr id="14" name="TextBox 13"/>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Source: 24F September Content Calendar deck, artwork drafts as shared 23-26 Aug 2026. Still a work in progress - not yet fully approved, subject to change before posting.</a:t>
            </a:r>
          </a:p>
        </p:txBody>
      </p:sp>
      <p:pic>
        <p:nvPicPr>
          <p:cNvPr id="15" name="Picture 14" descr="image.png"/>
          <p:cNvPicPr>
            <a:picLocks noChangeAspect="1"/>
          </p:cNvPicPr>
          <p:nvPr/>
        </p:nvPicPr>
        <p:blipFill>
          <a:blip r:embed="rId2"/>
          <a:stretch>
            <a:fillRect/>
          </a:stretch>
        </p:blipFill>
        <p:spPr>
          <a:xfrm>
            <a:off x="1595230" y="1600200"/>
            <a:ext cx="6365019" cy="3291840"/>
          </a:xfrm>
          <a:prstGeom prst="rect">
            <a:avLst/>
          </a:prstGeom>
        </p:spPr>
      </p:pic>
      <p:pic>
        <p:nvPicPr>
          <p:cNvPr id="16" name="Picture 15" descr="image.png"/>
          <p:cNvPicPr>
            <a:picLocks noChangeAspect="1"/>
          </p:cNvPicPr>
          <p:nvPr/>
        </p:nvPicPr>
        <p:blipFill>
          <a:blip r:embed="rId3"/>
          <a:stretch>
            <a:fillRect/>
          </a:stretch>
        </p:blipFill>
        <p:spPr>
          <a:xfrm>
            <a:off x="10327750" y="1600200"/>
            <a:ext cx="6365019" cy="3291840"/>
          </a:xfrm>
          <a:prstGeom prst="rect">
            <a:avLst/>
          </a:prstGeom>
        </p:spPr>
      </p:pic>
      <p:pic>
        <p:nvPicPr>
          <p:cNvPr id="17" name="Picture 16" descr="image.png"/>
          <p:cNvPicPr>
            <a:picLocks noChangeAspect="1"/>
          </p:cNvPicPr>
          <p:nvPr/>
        </p:nvPicPr>
        <p:blipFill>
          <a:blip r:embed="rId4"/>
          <a:stretch>
            <a:fillRect/>
          </a:stretch>
        </p:blipFill>
        <p:spPr>
          <a:xfrm>
            <a:off x="1595230" y="5349240"/>
            <a:ext cx="6365019" cy="3291840"/>
          </a:xfrm>
          <a:prstGeom prst="rect">
            <a:avLst/>
          </a:prstGeom>
        </p:spPr>
      </p:pic>
      <p:pic>
        <p:nvPicPr>
          <p:cNvPr id="18" name="Picture 17" descr="image.png"/>
          <p:cNvPicPr>
            <a:picLocks noChangeAspect="1"/>
          </p:cNvPicPr>
          <p:nvPr/>
        </p:nvPicPr>
        <p:blipFill>
          <a:blip r:embed="rId5"/>
          <a:stretch>
            <a:fillRect/>
          </a:stretch>
        </p:blipFill>
        <p:spPr>
          <a:xfrm>
            <a:off x="10327750" y="5349240"/>
            <a:ext cx="6365019" cy="32918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OPEN ITEMS</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700" b="1" i="0">
                <a:solidFill>
                  <a:srgbClr val="121A2F"/>
                </a:solidFill>
                <a:latin typeface="Arial"/>
              </a:rPr>
              <a:t>Needs Confirmation Before This Report Is Final</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91640"/>
            <a:ext cx="365760" cy="365760"/>
          </a:xfrm>
          <a:prstGeom prst="rect">
            <a:avLst/>
          </a:prstGeom>
          <a:solidFill>
            <a:srgbClr val="B4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73352"/>
            <a:ext cx="365760" cy="402336"/>
          </a:xfrm>
          <a:prstGeom prst="rect">
            <a:avLst/>
          </a:prstGeom>
          <a:noFill/>
        </p:spPr>
        <p:txBody>
          <a:bodyPr wrap="square" anchor="ctr">
            <a:spAutoFit/>
          </a:bodyPr>
          <a:lstStyle/>
          <a:p>
            <a:pPr algn="ctr"/>
            <a:r>
              <a:rPr sz="1400" b="1" i="0">
                <a:solidFill>
                  <a:srgbClr val="FFFFFF"/>
                </a:solidFill>
                <a:latin typeface="Arial"/>
              </a:rPr>
              <a:t>1</a:t>
            </a:r>
          </a:p>
        </p:txBody>
      </p:sp>
      <p:sp>
        <p:nvSpPr>
          <p:cNvPr id="8" name="TextBox 7"/>
          <p:cNvSpPr txBox="1"/>
          <p:nvPr/>
        </p:nvSpPr>
        <p:spPr>
          <a:xfrm>
            <a:off x="1051560" y="1673352"/>
            <a:ext cx="16687800" cy="457200"/>
          </a:xfrm>
          <a:prstGeom prst="rect">
            <a:avLst/>
          </a:prstGeom>
          <a:noFill/>
        </p:spPr>
        <p:txBody>
          <a:bodyPr wrap="square">
            <a:spAutoFit/>
          </a:bodyPr>
          <a:lstStyle/>
          <a:p>
            <a:pPr algn="l"/>
            <a:r>
              <a:rPr sz="1250" b="0" i="0">
                <a:solidFill>
                  <a:srgbClr val="121A2F"/>
                </a:solidFill>
                <a:latin typeface="Arial"/>
              </a:rPr>
              <a:t>Facebook is not tracked yet (confirmed) - excluded from this and future reports until that changes.</a:t>
            </a:r>
          </a:p>
        </p:txBody>
      </p:sp>
      <p:sp>
        <p:nvSpPr>
          <p:cNvPr id="9" name="Rectangle 8"/>
          <p:cNvSpPr/>
          <p:nvPr/>
        </p:nvSpPr>
        <p:spPr>
          <a:xfrm>
            <a:off x="548640" y="2240280"/>
            <a:ext cx="365760" cy="365760"/>
          </a:xfrm>
          <a:prstGeom prst="rect">
            <a:avLst/>
          </a:prstGeom>
          <a:solidFill>
            <a:srgbClr val="B4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221992"/>
            <a:ext cx="365760" cy="402336"/>
          </a:xfrm>
          <a:prstGeom prst="rect">
            <a:avLst/>
          </a:prstGeom>
          <a:noFill/>
        </p:spPr>
        <p:txBody>
          <a:bodyPr wrap="square" anchor="ctr">
            <a:spAutoFit/>
          </a:bodyPr>
          <a:lstStyle/>
          <a:p>
            <a:pPr algn="ctr"/>
            <a:r>
              <a:rPr sz="1400" b="1" i="0">
                <a:solidFill>
                  <a:srgbClr val="FFFFFF"/>
                </a:solidFill>
                <a:latin typeface="Arial"/>
              </a:rPr>
              <a:t>2</a:t>
            </a:r>
          </a:p>
        </p:txBody>
      </p:sp>
      <p:sp>
        <p:nvSpPr>
          <p:cNvPr id="11" name="TextBox 10"/>
          <p:cNvSpPr txBox="1"/>
          <p:nvPr/>
        </p:nvSpPr>
        <p:spPr>
          <a:xfrm>
            <a:off x="1051560" y="2221992"/>
            <a:ext cx="16687800" cy="457200"/>
          </a:xfrm>
          <a:prstGeom prst="rect">
            <a:avLst/>
          </a:prstGeom>
          <a:noFill/>
        </p:spPr>
        <p:txBody>
          <a:bodyPr wrap="square">
            <a:spAutoFit/>
          </a:bodyPr>
          <a:lstStyle/>
          <a:p>
            <a:pPr algn="l"/>
            <a:r>
              <a:rPr sz="1250" b="0" i="0">
                <a:solidFill>
                  <a:srgbClr val="121A2F"/>
                </a:solidFill>
                <a:latin typeface="Arial"/>
              </a:rPr>
              <a:t>PR/media coverage for August is not ready yet (confirmed) - will follow in a later cycle once available.</a:t>
            </a:r>
          </a:p>
        </p:txBody>
      </p:sp>
      <p:sp>
        <p:nvSpPr>
          <p:cNvPr id="12" name="Rectangle 11"/>
          <p:cNvSpPr/>
          <p:nvPr/>
        </p:nvSpPr>
        <p:spPr>
          <a:xfrm>
            <a:off x="548640" y="2788920"/>
            <a:ext cx="365760" cy="365760"/>
          </a:xfrm>
          <a:prstGeom prst="rect">
            <a:avLst/>
          </a:prstGeom>
          <a:solidFill>
            <a:srgbClr val="B4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770632"/>
            <a:ext cx="365760" cy="402336"/>
          </a:xfrm>
          <a:prstGeom prst="rect">
            <a:avLst/>
          </a:prstGeom>
          <a:noFill/>
        </p:spPr>
        <p:txBody>
          <a:bodyPr wrap="square" anchor="ctr">
            <a:spAutoFit/>
          </a:bodyPr>
          <a:lstStyle/>
          <a:p>
            <a:pPr algn="ctr"/>
            <a:r>
              <a:rPr sz="1400" b="1" i="0">
                <a:solidFill>
                  <a:srgbClr val="FFFFFF"/>
                </a:solidFill>
                <a:latin typeface="Arial"/>
              </a:rPr>
              <a:t>3</a:t>
            </a:r>
          </a:p>
        </p:txBody>
      </p:sp>
      <p:sp>
        <p:nvSpPr>
          <p:cNvPr id="14" name="TextBox 13"/>
          <p:cNvSpPr txBox="1"/>
          <p:nvPr/>
        </p:nvSpPr>
        <p:spPr>
          <a:xfrm>
            <a:off x="1051560" y="2770632"/>
            <a:ext cx="16687800" cy="457200"/>
          </a:xfrm>
          <a:prstGeom prst="rect">
            <a:avLst/>
          </a:prstGeom>
          <a:noFill/>
        </p:spPr>
        <p:txBody>
          <a:bodyPr wrap="square">
            <a:spAutoFit/>
          </a:bodyPr>
          <a:lstStyle/>
          <a:p>
            <a:pPr algn="l"/>
            <a:r>
              <a:rPr sz="1250" b="0" i="0">
                <a:solidFill>
                  <a:srgbClr val="121A2F"/>
                </a:solidFill>
                <a:latin typeface="Arial"/>
              </a:rPr>
              <a:t>Website analytics (Squarespace) is now sourced (confirmed) - 656 visits, 575 unique visitors, 79.38% bounce rate, see Website Analytics slide.</a:t>
            </a:r>
          </a:p>
        </p:txBody>
      </p:sp>
      <p:sp>
        <p:nvSpPr>
          <p:cNvPr id="15" name="Rectangle 14"/>
          <p:cNvSpPr/>
          <p:nvPr/>
        </p:nvSpPr>
        <p:spPr>
          <a:xfrm>
            <a:off x="548640" y="3337560"/>
            <a:ext cx="365760" cy="365760"/>
          </a:xfrm>
          <a:prstGeom prst="rect">
            <a:avLst/>
          </a:prstGeom>
          <a:solidFill>
            <a:srgbClr val="B4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319272"/>
            <a:ext cx="365760" cy="402336"/>
          </a:xfrm>
          <a:prstGeom prst="rect">
            <a:avLst/>
          </a:prstGeom>
          <a:noFill/>
        </p:spPr>
        <p:txBody>
          <a:bodyPr wrap="square" anchor="ctr">
            <a:spAutoFit/>
          </a:bodyPr>
          <a:lstStyle/>
          <a:p>
            <a:pPr algn="ctr"/>
            <a:r>
              <a:rPr sz="1400" b="1" i="0">
                <a:solidFill>
                  <a:srgbClr val="FFFFFF"/>
                </a:solidFill>
                <a:latin typeface="Arial"/>
              </a:rPr>
              <a:t>4</a:t>
            </a:r>
          </a:p>
        </p:txBody>
      </p:sp>
      <p:sp>
        <p:nvSpPr>
          <p:cNvPr id="17" name="TextBox 16"/>
          <p:cNvSpPr txBox="1"/>
          <p:nvPr/>
        </p:nvSpPr>
        <p:spPr>
          <a:xfrm>
            <a:off x="1051560" y="3319272"/>
            <a:ext cx="16687800" cy="457200"/>
          </a:xfrm>
          <a:prstGeom prst="rect">
            <a:avLst/>
          </a:prstGeom>
          <a:noFill/>
        </p:spPr>
        <p:txBody>
          <a:bodyPr wrap="square">
            <a:spAutoFit/>
          </a:bodyPr>
          <a:lstStyle/>
          <a:p>
            <a:pPr algn="l"/>
            <a:r>
              <a:rPr sz="1250" b="0" i="0">
                <a:solidFill>
                  <a:srgbClr val="121A2F"/>
                </a:solidFill>
                <a:latin typeface="Arial"/>
              </a:rPr>
              <a:t>Musheera's 5.3M-view reel is confirmed paid (boosted), not organic - explains the 0.0125% engagement rate. Do not present as an organic win.</a:t>
            </a:r>
          </a:p>
        </p:txBody>
      </p:sp>
      <p:sp>
        <p:nvSpPr>
          <p:cNvPr id="18" name="Rectangle 17"/>
          <p:cNvSpPr/>
          <p:nvPr/>
        </p:nvSpPr>
        <p:spPr>
          <a:xfrm>
            <a:off x="548640" y="3886200"/>
            <a:ext cx="365760" cy="365760"/>
          </a:xfrm>
          <a:prstGeom prst="rect">
            <a:avLst/>
          </a:prstGeom>
          <a:solidFill>
            <a:srgbClr val="B4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867912"/>
            <a:ext cx="365760" cy="402336"/>
          </a:xfrm>
          <a:prstGeom prst="rect">
            <a:avLst/>
          </a:prstGeom>
          <a:noFill/>
        </p:spPr>
        <p:txBody>
          <a:bodyPr wrap="square" anchor="ctr">
            <a:spAutoFit/>
          </a:bodyPr>
          <a:lstStyle/>
          <a:p>
            <a:pPr algn="ctr"/>
            <a:r>
              <a:rPr sz="1400" b="1" i="0">
                <a:solidFill>
                  <a:srgbClr val="FFFFFF"/>
                </a:solidFill>
                <a:latin typeface="Arial"/>
              </a:rPr>
              <a:t>5</a:t>
            </a:r>
          </a:p>
        </p:txBody>
      </p:sp>
      <p:sp>
        <p:nvSpPr>
          <p:cNvPr id="20" name="TextBox 19"/>
          <p:cNvSpPr txBox="1"/>
          <p:nvPr/>
        </p:nvSpPr>
        <p:spPr>
          <a:xfrm>
            <a:off x="1051560" y="3867912"/>
            <a:ext cx="16687800" cy="457200"/>
          </a:xfrm>
          <a:prstGeom prst="rect">
            <a:avLst/>
          </a:prstGeom>
          <a:noFill/>
        </p:spPr>
        <p:txBody>
          <a:bodyPr wrap="square">
            <a:spAutoFit/>
          </a:bodyPr>
          <a:lstStyle/>
          <a:p>
            <a:pPr algn="l"/>
            <a:r>
              <a:rPr sz="1250" b="0" i="0">
                <a:solidFill>
                  <a:srgbClr val="121A2F"/>
                </a:solidFill>
                <a:latin typeface="Arial"/>
              </a:rPr>
              <a:t>Ali Sabeel's 28.1K views confirmed captured after the $2,200 paid boost went live - figure includes paid reach.</a:t>
            </a:r>
          </a:p>
        </p:txBody>
      </p:sp>
      <p:sp>
        <p:nvSpPr>
          <p:cNvPr id="21" name="Rectangle 20"/>
          <p:cNvSpPr/>
          <p:nvPr/>
        </p:nvSpPr>
        <p:spPr>
          <a:xfrm>
            <a:off x="548640" y="4434840"/>
            <a:ext cx="365760" cy="365760"/>
          </a:xfrm>
          <a:prstGeom prst="rect">
            <a:avLst/>
          </a:prstGeom>
          <a:solidFill>
            <a:srgbClr val="B4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416552"/>
            <a:ext cx="365760" cy="402336"/>
          </a:xfrm>
          <a:prstGeom prst="rect">
            <a:avLst/>
          </a:prstGeom>
          <a:noFill/>
        </p:spPr>
        <p:txBody>
          <a:bodyPr wrap="square" anchor="ctr">
            <a:spAutoFit/>
          </a:bodyPr>
          <a:lstStyle/>
          <a:p>
            <a:pPr algn="ctr"/>
            <a:r>
              <a:rPr sz="1400" b="1" i="0">
                <a:solidFill>
                  <a:srgbClr val="FFFFFF"/>
                </a:solidFill>
                <a:latin typeface="Arial"/>
              </a:rPr>
              <a:t>6</a:t>
            </a:r>
          </a:p>
        </p:txBody>
      </p:sp>
      <p:sp>
        <p:nvSpPr>
          <p:cNvPr id="23" name="TextBox 22"/>
          <p:cNvSpPr txBox="1"/>
          <p:nvPr/>
        </p:nvSpPr>
        <p:spPr>
          <a:xfrm>
            <a:off x="1051560" y="4416552"/>
            <a:ext cx="16687800" cy="457200"/>
          </a:xfrm>
          <a:prstGeom prst="rect">
            <a:avLst/>
          </a:prstGeom>
          <a:noFill/>
        </p:spPr>
        <p:txBody>
          <a:bodyPr wrap="square">
            <a:spAutoFit/>
          </a:bodyPr>
          <a:lstStyle/>
          <a:p>
            <a:pPr algn="l"/>
            <a:r>
              <a:rPr sz="1250" b="0" i="0">
                <a:solidFill>
                  <a:srgbClr val="121A2F"/>
                </a:solidFill>
                <a:latin typeface="Arial"/>
              </a:rPr>
              <a:t>eMYAA Expense Tracker.xlsx - pending: awaiting reply from Ignite on ad spend to date to update it; budget slide still runs on the H2 Marketing Budget Plan only until then.</a:t>
            </a:r>
          </a:p>
        </p:txBody>
      </p:sp>
      <p:sp>
        <p:nvSpPr>
          <p:cNvPr id="24" name="Rectangle 23"/>
          <p:cNvSpPr/>
          <p:nvPr/>
        </p:nvSpPr>
        <p:spPr>
          <a:xfrm>
            <a:off x="548640" y="4983480"/>
            <a:ext cx="365760" cy="365760"/>
          </a:xfrm>
          <a:prstGeom prst="rect">
            <a:avLst/>
          </a:prstGeom>
          <a:solidFill>
            <a:srgbClr val="B4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965192"/>
            <a:ext cx="365760" cy="402336"/>
          </a:xfrm>
          <a:prstGeom prst="rect">
            <a:avLst/>
          </a:prstGeom>
          <a:noFill/>
        </p:spPr>
        <p:txBody>
          <a:bodyPr wrap="square" anchor="ctr">
            <a:spAutoFit/>
          </a:bodyPr>
          <a:lstStyle/>
          <a:p>
            <a:pPr algn="ctr"/>
            <a:r>
              <a:rPr sz="1400" b="1" i="0">
                <a:solidFill>
                  <a:srgbClr val="FFFFFF"/>
                </a:solidFill>
                <a:latin typeface="Arial"/>
              </a:rPr>
              <a:t>7</a:t>
            </a:r>
          </a:p>
        </p:txBody>
      </p:sp>
      <p:sp>
        <p:nvSpPr>
          <p:cNvPr id="26" name="TextBox 25"/>
          <p:cNvSpPr txBox="1"/>
          <p:nvPr/>
        </p:nvSpPr>
        <p:spPr>
          <a:xfrm>
            <a:off x="1051560" y="4965192"/>
            <a:ext cx="16687800" cy="457200"/>
          </a:xfrm>
          <a:prstGeom prst="rect">
            <a:avLst/>
          </a:prstGeom>
          <a:noFill/>
        </p:spPr>
        <p:txBody>
          <a:bodyPr wrap="square">
            <a:spAutoFit/>
          </a:bodyPr>
          <a:lstStyle/>
          <a:p>
            <a:pPr algn="l"/>
            <a:r>
              <a:rPr sz="1250" b="0" i="0">
                <a:solidFill>
                  <a:srgbClr val="121A2F"/>
                </a:solidFill>
                <a:latin typeface="Arial"/>
              </a:rPr>
              <a:t>LinkedIn's single-day +490 follower count (24 Jun) - cause unknown, not confirmed as a genuine spike.</a:t>
            </a:r>
          </a:p>
        </p:txBody>
      </p:sp>
      <p:sp>
        <p:nvSpPr>
          <p:cNvPr id="27" name="Rectangle 26"/>
          <p:cNvSpPr/>
          <p:nvPr/>
        </p:nvSpPr>
        <p:spPr>
          <a:xfrm>
            <a:off x="548640" y="5532120"/>
            <a:ext cx="365760" cy="365760"/>
          </a:xfrm>
          <a:prstGeom prst="rect">
            <a:avLst/>
          </a:prstGeom>
          <a:solidFill>
            <a:srgbClr val="B4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513832"/>
            <a:ext cx="365760" cy="402336"/>
          </a:xfrm>
          <a:prstGeom prst="rect">
            <a:avLst/>
          </a:prstGeom>
          <a:noFill/>
        </p:spPr>
        <p:txBody>
          <a:bodyPr wrap="square" anchor="ctr">
            <a:spAutoFit/>
          </a:bodyPr>
          <a:lstStyle/>
          <a:p>
            <a:pPr algn="ctr"/>
            <a:r>
              <a:rPr sz="1400" b="1" i="0">
                <a:solidFill>
                  <a:srgbClr val="FFFFFF"/>
                </a:solidFill>
                <a:latin typeface="Arial"/>
              </a:rPr>
              <a:t>8</a:t>
            </a:r>
          </a:p>
        </p:txBody>
      </p:sp>
      <p:sp>
        <p:nvSpPr>
          <p:cNvPr id="29" name="TextBox 28"/>
          <p:cNvSpPr txBox="1"/>
          <p:nvPr/>
        </p:nvSpPr>
        <p:spPr>
          <a:xfrm>
            <a:off x="1051560" y="5513832"/>
            <a:ext cx="16687800" cy="457200"/>
          </a:xfrm>
          <a:prstGeom prst="rect">
            <a:avLst/>
          </a:prstGeom>
          <a:noFill/>
        </p:spPr>
        <p:txBody>
          <a:bodyPr wrap="square">
            <a:spAutoFit/>
          </a:bodyPr>
          <a:lstStyle/>
          <a:p>
            <a:pPr algn="l"/>
            <a:r>
              <a:rPr sz="1250" b="0" i="0">
                <a:solidFill>
                  <a:srgbClr val="121A2F"/>
                </a:solidFill>
                <a:latin typeface="Arial"/>
              </a:rPr>
              <a:t>The 5-18 Aug "Other"-device / t.co click anomaly (~3,300 clicks) - cause unknown, flagged on slide 6.</a:t>
            </a:r>
          </a:p>
        </p:txBody>
      </p:sp>
      <p:sp>
        <p:nvSpPr>
          <p:cNvPr id="30" name="Rectangle 29"/>
          <p:cNvSpPr/>
          <p:nvPr/>
        </p:nvSpPr>
        <p:spPr>
          <a:xfrm>
            <a:off x="548640" y="6080760"/>
            <a:ext cx="365760" cy="365760"/>
          </a:xfrm>
          <a:prstGeom prst="rect">
            <a:avLst/>
          </a:prstGeom>
          <a:solidFill>
            <a:srgbClr val="B4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062472"/>
            <a:ext cx="365760" cy="402336"/>
          </a:xfrm>
          <a:prstGeom prst="rect">
            <a:avLst/>
          </a:prstGeom>
          <a:noFill/>
        </p:spPr>
        <p:txBody>
          <a:bodyPr wrap="square" anchor="ctr">
            <a:spAutoFit/>
          </a:bodyPr>
          <a:lstStyle/>
          <a:p>
            <a:pPr algn="ctr"/>
            <a:r>
              <a:rPr sz="1400" b="1" i="0">
                <a:solidFill>
                  <a:srgbClr val="FFFFFF"/>
                </a:solidFill>
                <a:latin typeface="Arial"/>
              </a:rPr>
              <a:t>9</a:t>
            </a:r>
          </a:p>
        </p:txBody>
      </p:sp>
      <p:sp>
        <p:nvSpPr>
          <p:cNvPr id="32" name="TextBox 31"/>
          <p:cNvSpPr txBox="1"/>
          <p:nvPr/>
        </p:nvSpPr>
        <p:spPr>
          <a:xfrm>
            <a:off x="1051560" y="6062472"/>
            <a:ext cx="16687800" cy="457200"/>
          </a:xfrm>
          <a:prstGeom prst="rect">
            <a:avLst/>
          </a:prstGeom>
          <a:noFill/>
        </p:spPr>
        <p:txBody>
          <a:bodyPr wrap="square">
            <a:spAutoFit/>
          </a:bodyPr>
          <a:lstStyle/>
          <a:p>
            <a:pPr algn="l"/>
            <a:r>
              <a:rPr sz="1250" b="0" i="0">
                <a:solidFill>
                  <a:srgbClr val="121A2F"/>
                </a:solidFill>
                <a:latin typeface="Arial"/>
              </a:rPr>
              <a:t>Mention &amp; Win duration confirmed via the approved Ignite ad brief: 3 weeks, 24 August - 15 September 2026 (per the approved caption T&amp;Cs).</a:t>
            </a:r>
          </a:p>
        </p:txBody>
      </p:sp>
      <p:sp>
        <p:nvSpPr>
          <p:cNvPr id="33" name="TextBox 32"/>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This report is filed with these items open rather than guessed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00" cy="128016"/>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7190720" cy="320040"/>
          </a:xfrm>
          <a:prstGeom prst="rect">
            <a:avLst/>
          </a:prstGeom>
          <a:noFill/>
        </p:spPr>
        <p:txBody>
          <a:bodyPr wrap="square">
            <a:spAutoFit/>
          </a:bodyPr>
          <a:lstStyle/>
          <a:p>
            <a:pPr algn="l"/>
            <a:r>
              <a:rPr sz="1300" b="1" i="0">
                <a:solidFill>
                  <a:srgbClr val="C9A227"/>
                </a:solidFill>
                <a:latin typeface="Arial"/>
              </a:rPr>
              <a:t>CLOSING</a:t>
            </a:r>
          </a:p>
        </p:txBody>
      </p:sp>
      <p:sp>
        <p:nvSpPr>
          <p:cNvPr id="4" name="TextBox 3"/>
          <p:cNvSpPr txBox="1"/>
          <p:nvPr/>
        </p:nvSpPr>
        <p:spPr>
          <a:xfrm>
            <a:off x="548640" y="621792"/>
            <a:ext cx="17190720" cy="640080"/>
          </a:xfrm>
          <a:prstGeom prst="rect">
            <a:avLst/>
          </a:prstGeom>
          <a:noFill/>
        </p:spPr>
        <p:txBody>
          <a:bodyPr wrap="square">
            <a:spAutoFit/>
          </a:bodyPr>
          <a:lstStyle/>
          <a:p>
            <a:pPr algn="l"/>
            <a:r>
              <a:rPr sz="2700" b="1" i="0">
                <a:solidFill>
                  <a:srgbClr val="121A2F"/>
                </a:solidFill>
                <a:latin typeface="Arial"/>
              </a:rPr>
              <a:t>Wins This Month</a:t>
            </a:r>
          </a:p>
        </p:txBody>
      </p:sp>
      <p:sp>
        <p:nvSpPr>
          <p:cNvPr id="5" name="Rectangle 4"/>
          <p:cNvSpPr/>
          <p:nvPr/>
        </p:nvSpPr>
        <p:spPr>
          <a:xfrm>
            <a:off x="548640" y="1298448"/>
            <a:ext cx="548640" cy="30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411480" cy="4114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83080"/>
            <a:ext cx="411480" cy="411480"/>
          </a:xfrm>
          <a:prstGeom prst="rect">
            <a:avLst/>
          </a:prstGeom>
          <a:noFill/>
        </p:spPr>
        <p:txBody>
          <a:bodyPr wrap="square" anchor="ctr">
            <a:spAutoFit/>
          </a:bodyPr>
          <a:lstStyle/>
          <a:p>
            <a:pPr algn="ctr"/>
            <a:r>
              <a:rPr sz="1600" b="1" i="0">
                <a:solidFill>
                  <a:srgbClr val="121A2F"/>
                </a:solidFill>
                <a:latin typeface="Arial"/>
              </a:rPr>
              <a:t>1</a:t>
            </a:r>
          </a:p>
        </p:txBody>
      </p:sp>
      <p:sp>
        <p:nvSpPr>
          <p:cNvPr id="8" name="TextBox 7"/>
          <p:cNvSpPr txBox="1"/>
          <p:nvPr/>
        </p:nvSpPr>
        <p:spPr>
          <a:xfrm>
            <a:off x="1143000" y="1801368"/>
            <a:ext cx="16596360" cy="777240"/>
          </a:xfrm>
          <a:prstGeom prst="rect">
            <a:avLst/>
          </a:prstGeom>
          <a:noFill/>
        </p:spPr>
        <p:txBody>
          <a:bodyPr wrap="square">
            <a:spAutoFit/>
          </a:bodyPr>
          <a:lstStyle/>
          <a:p>
            <a:pPr algn="l"/>
            <a:r>
              <a:rPr sz="1350" b="0" i="0">
                <a:solidFill>
                  <a:srgbClr val="121A2F"/>
                </a:solidFill>
                <a:latin typeface="Arial"/>
              </a:rPr>
              <a:t>The TikTok/Pangle bot-fraud fix held completely - zero fraudulent traffic in July or August, confirming the May decision was correct.</a:t>
            </a:r>
          </a:p>
        </p:txBody>
      </p:sp>
      <p:sp>
        <p:nvSpPr>
          <p:cNvPr id="9" name="Rectangle 8"/>
          <p:cNvSpPr/>
          <p:nvPr/>
        </p:nvSpPr>
        <p:spPr>
          <a:xfrm>
            <a:off x="548640" y="2697480"/>
            <a:ext cx="411480" cy="4114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697480"/>
            <a:ext cx="411480" cy="411480"/>
          </a:xfrm>
          <a:prstGeom prst="rect">
            <a:avLst/>
          </a:prstGeom>
          <a:noFill/>
        </p:spPr>
        <p:txBody>
          <a:bodyPr wrap="square" anchor="ctr">
            <a:spAutoFit/>
          </a:bodyPr>
          <a:lstStyle/>
          <a:p>
            <a:pPr algn="ctr"/>
            <a:r>
              <a:rPr sz="1600" b="1" i="0">
                <a:solidFill>
                  <a:srgbClr val="121A2F"/>
                </a:solidFill>
                <a:latin typeface="Arial"/>
              </a:rPr>
              <a:t>2</a:t>
            </a:r>
          </a:p>
        </p:txBody>
      </p:sp>
      <p:sp>
        <p:nvSpPr>
          <p:cNvPr id="11" name="TextBox 10"/>
          <p:cNvSpPr txBox="1"/>
          <p:nvPr/>
        </p:nvSpPr>
        <p:spPr>
          <a:xfrm>
            <a:off x="1143000" y="2715768"/>
            <a:ext cx="16596360" cy="777240"/>
          </a:xfrm>
          <a:prstGeom prst="rect">
            <a:avLst/>
          </a:prstGeom>
          <a:noFill/>
        </p:spPr>
        <p:txBody>
          <a:bodyPr wrap="square">
            <a:spAutoFit/>
          </a:bodyPr>
          <a:lstStyle/>
          <a:p>
            <a:pPr algn="l"/>
            <a:r>
              <a:rPr sz="1350" b="0" i="0">
                <a:solidFill>
                  <a:srgbClr val="121A2F"/>
                </a:solidFill>
                <a:latin typeface="Arial"/>
              </a:rPr>
              <a:t>A real agency transition landed cleanly: 24F and Ignite are both onboarded and delivering, replacing a generalist agency with two specialists.</a:t>
            </a:r>
          </a:p>
        </p:txBody>
      </p:sp>
      <p:sp>
        <p:nvSpPr>
          <p:cNvPr id="12" name="Rectangle 11"/>
          <p:cNvSpPr/>
          <p:nvPr/>
        </p:nvSpPr>
        <p:spPr>
          <a:xfrm>
            <a:off x="548640" y="3611880"/>
            <a:ext cx="411480" cy="4114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611880"/>
            <a:ext cx="411480" cy="411480"/>
          </a:xfrm>
          <a:prstGeom prst="rect">
            <a:avLst/>
          </a:prstGeom>
          <a:noFill/>
        </p:spPr>
        <p:txBody>
          <a:bodyPr wrap="square" anchor="ctr">
            <a:spAutoFit/>
          </a:bodyPr>
          <a:lstStyle/>
          <a:p>
            <a:pPr algn="ctr"/>
            <a:r>
              <a:rPr sz="1600" b="1" i="0">
                <a:solidFill>
                  <a:srgbClr val="121A2F"/>
                </a:solidFill>
                <a:latin typeface="Arial"/>
              </a:rPr>
              <a:t>3</a:t>
            </a:r>
          </a:p>
        </p:txBody>
      </p:sp>
      <p:sp>
        <p:nvSpPr>
          <p:cNvPr id="14" name="TextBox 13"/>
          <p:cNvSpPr txBox="1"/>
          <p:nvPr/>
        </p:nvSpPr>
        <p:spPr>
          <a:xfrm>
            <a:off x="1143000" y="3630168"/>
            <a:ext cx="16596360" cy="777240"/>
          </a:xfrm>
          <a:prstGeom prst="rect">
            <a:avLst/>
          </a:prstGeom>
          <a:noFill/>
        </p:spPr>
        <p:txBody>
          <a:bodyPr wrap="square">
            <a:spAutoFit/>
          </a:bodyPr>
          <a:lstStyle/>
          <a:p>
            <a:pPr algn="l"/>
            <a:r>
              <a:rPr sz="1350" b="0" i="0">
                <a:solidFill>
                  <a:srgbClr val="121A2F"/>
                </a:solidFill>
                <a:latin typeface="Arial"/>
              </a:rPr>
              <a:t>Paid social is live again after the July lapse - Mention &amp; Win and Ali Sabeel's video are both running on Instagram with a locked compliance standard.</a:t>
            </a:r>
          </a:p>
        </p:txBody>
      </p:sp>
      <p:sp>
        <p:nvSpPr>
          <p:cNvPr id="15" name="Rectangle 14"/>
          <p:cNvSpPr/>
          <p:nvPr/>
        </p:nvSpPr>
        <p:spPr>
          <a:xfrm>
            <a:off x="548640" y="4526280"/>
            <a:ext cx="411480" cy="4114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526280"/>
            <a:ext cx="411480" cy="411480"/>
          </a:xfrm>
          <a:prstGeom prst="rect">
            <a:avLst/>
          </a:prstGeom>
          <a:noFill/>
        </p:spPr>
        <p:txBody>
          <a:bodyPr wrap="square" anchor="ctr">
            <a:spAutoFit/>
          </a:bodyPr>
          <a:lstStyle/>
          <a:p>
            <a:pPr algn="ctr"/>
            <a:r>
              <a:rPr sz="1600" b="1" i="0">
                <a:solidFill>
                  <a:srgbClr val="121A2F"/>
                </a:solidFill>
                <a:latin typeface="Arial"/>
              </a:rPr>
              <a:t>4</a:t>
            </a:r>
          </a:p>
        </p:txBody>
      </p:sp>
      <p:sp>
        <p:nvSpPr>
          <p:cNvPr id="17" name="TextBox 16"/>
          <p:cNvSpPr txBox="1"/>
          <p:nvPr/>
        </p:nvSpPr>
        <p:spPr>
          <a:xfrm>
            <a:off x="1143000" y="4544568"/>
            <a:ext cx="16596360" cy="777240"/>
          </a:xfrm>
          <a:prstGeom prst="rect">
            <a:avLst/>
          </a:prstGeom>
          <a:noFill/>
        </p:spPr>
        <p:txBody>
          <a:bodyPr wrap="square">
            <a:spAutoFit/>
          </a:bodyPr>
          <a:lstStyle/>
          <a:p>
            <a:pPr algn="l"/>
            <a:r>
              <a:rPr sz="1350" b="0" i="0">
                <a:solidFill>
                  <a:srgbClr val="121A2F"/>
                </a:solidFill>
                <a:latin typeface="Arial"/>
              </a:rPr>
              <a:t>LinkedIn organic engagement hit its best month yet (68 reactions) in August, on the lowest impression count of the quarter - the content itself is working.</a:t>
            </a:r>
          </a:p>
        </p:txBody>
      </p:sp>
      <p:sp>
        <p:nvSpPr>
          <p:cNvPr id="18" name="Rectangle 17"/>
          <p:cNvSpPr/>
          <p:nvPr/>
        </p:nvSpPr>
        <p:spPr>
          <a:xfrm>
            <a:off x="548640" y="5440680"/>
            <a:ext cx="411480" cy="4114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440680"/>
            <a:ext cx="411480" cy="411480"/>
          </a:xfrm>
          <a:prstGeom prst="rect">
            <a:avLst/>
          </a:prstGeom>
          <a:noFill/>
        </p:spPr>
        <p:txBody>
          <a:bodyPr wrap="square" anchor="ctr">
            <a:spAutoFit/>
          </a:bodyPr>
          <a:lstStyle/>
          <a:p>
            <a:pPr algn="ctr"/>
            <a:r>
              <a:rPr sz="1600" b="1" i="0">
                <a:solidFill>
                  <a:srgbClr val="121A2F"/>
                </a:solidFill>
                <a:latin typeface="Arial"/>
              </a:rPr>
              <a:t>5</a:t>
            </a:r>
          </a:p>
        </p:txBody>
      </p:sp>
      <p:sp>
        <p:nvSpPr>
          <p:cNvPr id="20" name="TextBox 19"/>
          <p:cNvSpPr txBox="1"/>
          <p:nvPr/>
        </p:nvSpPr>
        <p:spPr>
          <a:xfrm>
            <a:off x="1143000" y="5458968"/>
            <a:ext cx="16596360" cy="777240"/>
          </a:xfrm>
          <a:prstGeom prst="rect">
            <a:avLst/>
          </a:prstGeom>
          <a:noFill/>
        </p:spPr>
        <p:txBody>
          <a:bodyPr wrap="square">
            <a:spAutoFit/>
          </a:bodyPr>
          <a:lstStyle/>
          <a:p>
            <a:pPr algn="l"/>
            <a:r>
              <a:rPr sz="1350" b="0" i="0">
                <a:solidFill>
                  <a:srgbClr val="121A2F"/>
                </a:solidFill>
                <a:latin typeface="Arial"/>
              </a:rPr>
              <a:t>September's content calendar is fully planned and dated, with a new process to give animations proper production time.</a:t>
            </a:r>
          </a:p>
        </p:txBody>
      </p:sp>
      <p:sp>
        <p:nvSpPr>
          <p:cNvPr id="21" name="TextBox 20"/>
          <p:cNvSpPr txBox="1"/>
          <p:nvPr/>
        </p:nvSpPr>
        <p:spPr>
          <a:xfrm>
            <a:off x="548640" y="9784080"/>
            <a:ext cx="17190720" cy="365760"/>
          </a:xfrm>
          <a:prstGeom prst="rect">
            <a:avLst/>
          </a:prstGeom>
          <a:noFill/>
        </p:spPr>
        <p:txBody>
          <a:bodyPr wrap="square">
            <a:spAutoFit/>
          </a:bodyPr>
          <a:lstStyle/>
          <a:p>
            <a:pPr algn="l"/>
            <a:r>
              <a:rPr sz="1000" b="0" i="1">
                <a:solidFill>
                  <a:srgbClr val="5A6A85"/>
                </a:solidFill>
                <a:latin typeface="Arial"/>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A2F"/>
        </a:solidFill>
        <a:effectLst/>
      </p:bgPr>
    </p:bg>
    <p:spTree>
      <p:nvGrpSpPr>
        <p:cNvPr id="1" name=""/>
        <p:cNvGrpSpPr/>
        <p:nvPr/>
      </p:nvGrpSpPr>
      <p:grpSpPr/>
      <p:sp>
        <p:nvSpPr>
          <p:cNvPr id="2" name="TextBox 1"/>
          <p:cNvSpPr txBox="1"/>
          <p:nvPr/>
        </p:nvSpPr>
        <p:spPr>
          <a:xfrm>
            <a:off x="548640" y="4114800"/>
            <a:ext cx="17190720" cy="914400"/>
          </a:xfrm>
          <a:prstGeom prst="rect">
            <a:avLst/>
          </a:prstGeom>
          <a:noFill/>
        </p:spPr>
        <p:txBody>
          <a:bodyPr wrap="square">
            <a:spAutoFit/>
          </a:bodyPr>
          <a:lstStyle/>
          <a:p>
            <a:pPr algn="l"/>
            <a:r>
              <a:rPr sz="4000" b="1" i="0">
                <a:solidFill>
                  <a:srgbClr val="FFFFFF"/>
                </a:solidFill>
                <a:latin typeface="Arial"/>
              </a:rPr>
              <a:t>Thank You</a:t>
            </a:r>
          </a:p>
        </p:txBody>
      </p:sp>
      <p:sp>
        <p:nvSpPr>
          <p:cNvPr id="3" name="TextBox 2"/>
          <p:cNvSpPr txBox="1"/>
          <p:nvPr/>
        </p:nvSpPr>
        <p:spPr>
          <a:xfrm>
            <a:off x="548640" y="4937760"/>
            <a:ext cx="17190720" cy="457200"/>
          </a:xfrm>
          <a:prstGeom prst="rect">
            <a:avLst/>
          </a:prstGeom>
          <a:noFill/>
        </p:spPr>
        <p:txBody>
          <a:bodyPr wrap="square">
            <a:spAutoFit/>
          </a:bodyPr>
          <a:lstStyle/>
          <a:p>
            <a:pPr algn="l"/>
            <a:r>
              <a:rPr sz="1600" b="0" i="0">
                <a:solidFill>
                  <a:srgbClr val="C7CEDD"/>
                </a:solidFill>
                <a:latin typeface="Arial"/>
              </a:rPr>
              <a:t>August 2026 | Invest Wisely. Trade Precisely.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