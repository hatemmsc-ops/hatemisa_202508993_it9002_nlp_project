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Exo 2 Bold" charset="1" panose="00000000000000000000"/>
      <p:regular r:id="rId25"/>
    </p:embeddedFont>
    <p:embeddedFont>
      <p:font typeface="Exo 2" charset="1" panose="00000000000000000000"/>
      <p:regular r:id="rId26"/>
    </p:embeddedFont>
    <p:embeddedFont>
      <p:font typeface="Exo 2 Italics" charset="1" panose="00000000000000000000"/>
      <p:regular r:id="rId30"/>
    </p:embeddedFont>
    <p:embeddedFont>
      <p:font typeface="Calibri (MS) Bold" charset="1" panose="020F0702030404030204"/>
      <p:regular r:id="rId33"/>
    </p:embeddedFont>
    <p:embeddedFont>
      <p:font typeface="Calibri (MS)" charset="1" panose="020F050202020403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LP6zwez4.mp4" Type="http://schemas.openxmlformats.org/officeDocument/2006/relationships/video"/><Relationship Id="rId11" Target="../media/VAHLP6zwez4.mp4" Type="http://schemas.microsoft.com/office/2007/relationships/media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13" Target="../media/image9.pn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5.jpe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6.jpe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5.jpe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6.jpe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6.jpe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5.jpe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1.png" Type="http://schemas.openxmlformats.org/officeDocument/2006/relationships/image"/><Relationship Id="rId4" Target="../media/image5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png" Type="http://schemas.openxmlformats.org/officeDocument/2006/relationships/image"/><Relationship Id="rId14" Target="../media/image11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21.png" Type="http://schemas.openxmlformats.org/officeDocument/2006/relationships/image"/><Relationship Id="rId4" Target="../media/image5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6.jpe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21.png" Type="http://schemas.openxmlformats.org/officeDocument/2006/relationships/image"/><Relationship Id="rId4" Target="../media/image5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5.jpe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6.jpe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63" cy="10853442"/>
            <a:chOff x="0" y="0"/>
            <a:chExt cx="25458484" cy="14471256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" t="0" r="-5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92485" y="3556825"/>
            <a:ext cx="15703020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eMYAA Monthly</a:t>
            </a:r>
          </a:p>
          <a:p>
            <a:pPr algn="ctr">
              <a:lnSpc>
                <a:spcPts val="9720"/>
              </a:lnSpc>
            </a:pPr>
            <a:r>
              <a:rPr lang="en-US" sz="810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 Performance Report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61368" y="6334363"/>
            <a:ext cx="10365264" cy="45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2"/>
              </a:lnSpc>
            </a:pPr>
            <a:r>
              <a:rPr lang="en-US" sz="2976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June</a:t>
            </a:r>
            <a:r>
              <a:rPr lang="en-US" sz="2976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2026 | Post Launch Findings: May Performance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343" y="1028700"/>
            <a:ext cx="2628967" cy="757152"/>
            <a:chOff x="0" y="0"/>
            <a:chExt cx="3505289" cy="100953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3" r="1" b="-314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70" t="0" r="-37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63" cy="10853442"/>
            <a:chOff x="0" y="0"/>
            <a:chExt cx="25458484" cy="14471256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" t="0" r="-5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92490" y="3936459"/>
            <a:ext cx="15703020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Chairman’s Comments &amp; Direction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630343" y="1028700"/>
            <a:ext cx="2628967" cy="757152"/>
            <a:chOff x="0" y="0"/>
            <a:chExt cx="3505289" cy="1009536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3" r="1" b="-31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70" t="0" r="-37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5597" y="4320692"/>
            <a:ext cx="8731282" cy="1989144"/>
            <a:chOff x="0" y="0"/>
            <a:chExt cx="11641709" cy="2652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41709" cy="2652192"/>
            </a:xfrm>
            <a:custGeom>
              <a:avLst/>
              <a:gdLst/>
              <a:ahLst/>
              <a:cxnLst/>
              <a:rect r="r" b="b" t="t" l="l"/>
              <a:pathLst>
                <a:path h="2652192" w="11641709">
                  <a:moveTo>
                    <a:pt x="0" y="0"/>
                  </a:moveTo>
                  <a:lnTo>
                    <a:pt x="11641709" y="0"/>
                  </a:lnTo>
                  <a:lnTo>
                    <a:pt x="11641709" y="2652192"/>
                  </a:lnTo>
                  <a:lnTo>
                    <a:pt x="0" y="2652192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D8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85597" y="4320692"/>
            <a:ext cx="812578" cy="1989144"/>
            <a:chOff x="0" y="0"/>
            <a:chExt cx="1083437" cy="26521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83437" cy="2652192"/>
            </a:xfrm>
            <a:custGeom>
              <a:avLst/>
              <a:gdLst/>
              <a:ahLst/>
              <a:cxnLst/>
              <a:rect r="r" b="b" t="t" l="l"/>
              <a:pathLst>
                <a:path h="2652192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2652192"/>
                  </a:lnTo>
                  <a:lnTo>
                    <a:pt x="0" y="2652192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07819" y="4342914"/>
            <a:ext cx="768096" cy="1966923"/>
            <a:chOff x="0" y="0"/>
            <a:chExt cx="1024128" cy="26225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2622563"/>
            </a:xfrm>
            <a:custGeom>
              <a:avLst/>
              <a:gdLst/>
              <a:ahLst/>
              <a:cxnLst/>
              <a:rect r="r" b="b" t="t" l="l"/>
              <a:pathLst>
                <a:path h="2622563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2622563"/>
                  </a:lnTo>
                  <a:lnTo>
                    <a:pt x="0" y="26225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8785" t="0" r="-27878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07819" y="4335770"/>
            <a:ext cx="768096" cy="1974066"/>
            <a:chOff x="0" y="0"/>
            <a:chExt cx="1024128" cy="26320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" cy="2632088"/>
            </a:xfrm>
            <a:custGeom>
              <a:avLst/>
              <a:gdLst/>
              <a:ahLst/>
              <a:cxnLst/>
              <a:rect r="r" b="b" t="t" l="l"/>
              <a:pathLst>
                <a:path h="263208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2632088"/>
                  </a:lnTo>
                  <a:lnTo>
                    <a:pt x="0" y="26320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4694" t="0" r="-424694" b="-4395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24128" cy="2641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9A84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22219" y="4489218"/>
            <a:ext cx="7644384" cy="548640"/>
            <a:chOff x="0" y="0"/>
            <a:chExt cx="10192512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92512" cy="731520"/>
            </a:xfrm>
            <a:custGeom>
              <a:avLst/>
              <a:gdLst/>
              <a:ahLst/>
              <a:cxnLst/>
              <a:rect r="r" b="b" t="t" l="l"/>
              <a:pathLst>
                <a:path h="7315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302" r="0" b="-22130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22219" y="4482074"/>
            <a:ext cx="7644384" cy="555784"/>
            <a:chOff x="0" y="0"/>
            <a:chExt cx="10192512" cy="7410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92512" cy="741045"/>
            </a:xfrm>
            <a:custGeom>
              <a:avLst/>
              <a:gdLst/>
              <a:ahLst/>
              <a:cxnLst/>
              <a:rect r="r" b="b" t="t" l="l"/>
              <a:pathLst>
                <a:path h="741045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001" r="0" b="-2180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0192512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B2D4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GC</a:t>
              </a:r>
              <a:r>
                <a:rPr lang="en-US" sz="2299" b="true">
                  <a:solidFill>
                    <a:srgbClr val="1B2D4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 Regional Language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7819" y="6519386"/>
            <a:ext cx="8731282" cy="2879122"/>
            <a:chOff x="0" y="0"/>
            <a:chExt cx="11641709" cy="38388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41709" cy="3838829"/>
            </a:xfrm>
            <a:custGeom>
              <a:avLst/>
              <a:gdLst/>
              <a:ahLst/>
              <a:cxnLst/>
              <a:rect r="r" b="b" t="t" l="l"/>
              <a:pathLst>
                <a:path h="3838829" w="11641709">
                  <a:moveTo>
                    <a:pt x="0" y="0"/>
                  </a:moveTo>
                  <a:lnTo>
                    <a:pt x="11641709" y="0"/>
                  </a:lnTo>
                  <a:lnTo>
                    <a:pt x="11641709" y="3838829"/>
                  </a:lnTo>
                  <a:lnTo>
                    <a:pt x="0" y="38388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D8E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07819" y="6519386"/>
            <a:ext cx="812578" cy="2879122"/>
            <a:chOff x="0" y="0"/>
            <a:chExt cx="1083437" cy="38388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3437" cy="3838829"/>
            </a:xfrm>
            <a:custGeom>
              <a:avLst/>
              <a:gdLst/>
              <a:ahLst/>
              <a:cxnLst/>
              <a:rect r="r" b="b" t="t" l="l"/>
              <a:pathLst>
                <a:path h="3838829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3838829"/>
                  </a:lnTo>
                  <a:lnTo>
                    <a:pt x="0" y="3838829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30041" y="6541608"/>
            <a:ext cx="768096" cy="2834640"/>
            <a:chOff x="0" y="0"/>
            <a:chExt cx="1024128" cy="3779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3830" t="0" r="-42383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30041" y="6534464"/>
            <a:ext cx="768096" cy="2841784"/>
            <a:chOff x="0" y="0"/>
            <a:chExt cx="1024128" cy="37890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" cy="3789045"/>
            </a:xfrm>
            <a:custGeom>
              <a:avLst/>
              <a:gdLst/>
              <a:ahLst/>
              <a:cxnLst/>
              <a:rect r="r" b="b" t="t" l="l"/>
              <a:pathLst>
                <a:path h="3789045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789045"/>
                  </a:lnTo>
                  <a:lnTo>
                    <a:pt x="0" y="3789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4694" t="0" r="-424694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024128" cy="3798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9A84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44441" y="6687912"/>
            <a:ext cx="7644384" cy="548640"/>
            <a:chOff x="0" y="0"/>
            <a:chExt cx="10192512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92512" cy="731520"/>
            </a:xfrm>
            <a:custGeom>
              <a:avLst/>
              <a:gdLst/>
              <a:ahLst/>
              <a:cxnLst/>
              <a:rect r="r" b="b" t="t" l="l"/>
              <a:pathLst>
                <a:path h="7315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302" r="0" b="-221303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44441" y="6680768"/>
            <a:ext cx="7644384" cy="555784"/>
            <a:chOff x="0" y="0"/>
            <a:chExt cx="10192512" cy="7410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92512" cy="741045"/>
            </a:xfrm>
            <a:custGeom>
              <a:avLst/>
              <a:gdLst/>
              <a:ahLst/>
              <a:cxnLst/>
              <a:rect r="r" b="b" t="t" l="l"/>
              <a:pathLst>
                <a:path h="741045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001" r="0" b="-21800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0192512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B2D4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Four</a:t>
              </a:r>
              <a:r>
                <a:rPr lang="en-US" sz="2299" b="true">
                  <a:solidFill>
                    <a:srgbClr val="1B2D4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 Content Pillars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13232" y="658368"/>
            <a:ext cx="12344400" cy="822855"/>
            <a:chOff x="0" y="0"/>
            <a:chExt cx="16459200" cy="10971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459200" cy="1097153"/>
            </a:xfrm>
            <a:custGeom>
              <a:avLst/>
              <a:gdLst/>
              <a:ahLst/>
              <a:cxnLst/>
              <a:rect r="r" b="b" t="t" l="l"/>
              <a:pathLst>
                <a:path h="1097153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106" r="0" b="-24210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13232" y="651224"/>
            <a:ext cx="12344400" cy="829995"/>
            <a:chOff x="0" y="0"/>
            <a:chExt cx="16459200" cy="11066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59200" cy="1106654"/>
            </a:xfrm>
            <a:custGeom>
              <a:avLst/>
              <a:gdLst/>
              <a:ahLst/>
              <a:cxnLst/>
              <a:rect r="r" b="b" t="t" l="l"/>
              <a:pathLst>
                <a:path h="110665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106654"/>
                  </a:lnTo>
                  <a:lnTo>
                    <a:pt x="0" y="11066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799" r="0" b="-2398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6459200" cy="1116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Content Strategy (Chairman’s Directions)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5441806" y="505082"/>
            <a:ext cx="1817494" cy="523618"/>
            <a:chOff x="0" y="0"/>
            <a:chExt cx="2423325" cy="69815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4" r="-1" b="-8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85597" y="1791120"/>
            <a:ext cx="8731282" cy="2342919"/>
            <a:chOff x="0" y="0"/>
            <a:chExt cx="11641709" cy="31238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641709" cy="3123864"/>
            </a:xfrm>
            <a:custGeom>
              <a:avLst/>
              <a:gdLst/>
              <a:ahLst/>
              <a:cxnLst/>
              <a:rect r="r" b="b" t="t" l="l"/>
              <a:pathLst>
                <a:path h="3123864" w="11641709">
                  <a:moveTo>
                    <a:pt x="0" y="0"/>
                  </a:moveTo>
                  <a:lnTo>
                    <a:pt x="11641709" y="0"/>
                  </a:lnTo>
                  <a:lnTo>
                    <a:pt x="11641709" y="3123864"/>
                  </a:lnTo>
                  <a:lnTo>
                    <a:pt x="0" y="3123864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D8E8"/>
              </a:solidFill>
              <a:prstDash val="solid"/>
              <a:miter/>
            </a:ln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16" t="0" r="-20616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85597" y="1791120"/>
            <a:ext cx="812578" cy="2342919"/>
            <a:chOff x="0" y="0"/>
            <a:chExt cx="1083437" cy="31238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83437" cy="3123905"/>
            </a:xfrm>
            <a:custGeom>
              <a:avLst/>
              <a:gdLst/>
              <a:ahLst/>
              <a:cxnLst/>
              <a:rect r="r" b="b" t="t" l="l"/>
              <a:pathLst>
                <a:path h="3123905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3123905"/>
                  </a:lnTo>
                  <a:lnTo>
                    <a:pt x="0" y="3123905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94112" y="1826049"/>
            <a:ext cx="768096" cy="2307991"/>
            <a:chOff x="0" y="0"/>
            <a:chExt cx="1024128" cy="307732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4128" cy="3077334"/>
            </a:xfrm>
            <a:custGeom>
              <a:avLst/>
              <a:gdLst/>
              <a:ahLst/>
              <a:cxnLst/>
              <a:rect r="r" b="b" t="t" l="l"/>
              <a:pathLst>
                <a:path h="3077334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077334"/>
                  </a:lnTo>
                  <a:lnTo>
                    <a:pt x="0" y="30773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5799" t="0" r="-335799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94112" y="1818905"/>
            <a:ext cx="768096" cy="2315135"/>
            <a:chOff x="0" y="0"/>
            <a:chExt cx="1024128" cy="308684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128" cy="3086845"/>
            </a:xfrm>
            <a:custGeom>
              <a:avLst/>
              <a:gdLst/>
              <a:ahLst/>
              <a:cxnLst/>
              <a:rect r="r" b="b" t="t" l="l"/>
              <a:pathLst>
                <a:path h="3086845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086845"/>
                  </a:lnTo>
                  <a:lnTo>
                    <a:pt x="0" y="30868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1968" t="0" r="-661968" b="-8410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024128" cy="3096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9A84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22219" y="1959646"/>
            <a:ext cx="7644384" cy="548640"/>
            <a:chOff x="0" y="0"/>
            <a:chExt cx="10192512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192512" cy="731520"/>
            </a:xfrm>
            <a:custGeom>
              <a:avLst/>
              <a:gdLst/>
              <a:ahLst/>
              <a:cxnLst/>
              <a:rect r="r" b="b" t="t" l="l"/>
              <a:pathLst>
                <a:path h="7315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302" r="0" b="-221303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22219" y="1952502"/>
            <a:ext cx="7644384" cy="555784"/>
            <a:chOff x="0" y="0"/>
            <a:chExt cx="10192512" cy="74104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92512" cy="741045"/>
            </a:xfrm>
            <a:custGeom>
              <a:avLst/>
              <a:gdLst/>
              <a:ahLst/>
              <a:cxnLst/>
              <a:rect r="r" b="b" t="t" l="l"/>
              <a:pathLst>
                <a:path h="741045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001" r="0" b="-21800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0192512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B2D4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Dynamic First. No Static.</a:t>
              </a:r>
            </a:p>
          </p:txBody>
        </p:sp>
      </p:grpSp>
      <p:pic>
        <p:nvPicPr>
          <p:cNvPr name="Picture 55" id="55">
            <a:hlinkClick action="ppaction://media"/>
          </p:cNvPr>
          <p:cNvPicPr>
            <a:picLocks noChangeAspect="true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10855477" y="1401958"/>
            <a:ext cx="5903007" cy="7378759"/>
          </a:xfrm>
          <a:prstGeom prst="rect">
            <a:avLst/>
          </a:prstGeom>
        </p:spPr>
      </p:pic>
      <p:sp>
        <p:nvSpPr>
          <p:cNvPr name="TextBox 56" id="56"/>
          <p:cNvSpPr txBox="true"/>
          <p:nvPr/>
        </p:nvSpPr>
        <p:spPr>
          <a:xfrm rot="0">
            <a:off x="1613659" y="5040048"/>
            <a:ext cx="7498080" cy="10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348" indent="-152783" lvl="2">
              <a:lnSpc>
                <a:spcPts val="2849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A</a:t>
            </a: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ll copy targets investors across </a:t>
            </a:r>
            <a:r>
              <a:rPr lang="ar-EG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  <a:rtl val="true"/>
              </a:rPr>
              <a:t>دول مجلس التعاون الخليجي</a:t>
            </a: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. Broad regional phrasing only. Zero political references. Zero localised dialects.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35881" y="7238743"/>
            <a:ext cx="7498080" cy="140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229" indent="-152743" lvl="2">
              <a:lnSpc>
                <a:spcPts val="2848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Wh</a:t>
            </a: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at is eMYAA. </a:t>
            </a:r>
          </a:p>
          <a:p>
            <a:pPr algn="l" marL="458229" indent="-152743" lvl="2">
              <a:lnSpc>
                <a:spcPts val="2848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Platform Benefits. </a:t>
            </a:r>
          </a:p>
          <a:p>
            <a:pPr algn="l" marL="458229" indent="-152743" lvl="2">
              <a:lnSpc>
                <a:spcPts val="2848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Why Should GCC Investors Choose eMYAA.</a:t>
            </a:r>
          </a:p>
          <a:p>
            <a:pPr algn="l" marL="458348" indent="-152783" lvl="2">
              <a:lnSpc>
                <a:spcPts val="2849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Institutional Trust and CBB licensing.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13659" y="2493808"/>
            <a:ext cx="7498080" cy="10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348" indent="-152783" lvl="2">
              <a:lnSpc>
                <a:spcPts val="2849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Every asset must open with motion. High-net-worth audiences disengage within 3 seconds. Kinetic typography, UI fly-throughs, and micro-animations are non-negotiable from frame one.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0855477" y="8780716"/>
            <a:ext cx="5903007" cy="479810"/>
            <a:chOff x="0" y="0"/>
            <a:chExt cx="7870676" cy="63974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870676" cy="639747"/>
            </a:xfrm>
            <a:custGeom>
              <a:avLst/>
              <a:gdLst/>
              <a:ahLst/>
              <a:cxnLst/>
              <a:rect r="r" b="b" t="t" l="l"/>
              <a:pathLst>
                <a:path h="639747" w="7870676">
                  <a:moveTo>
                    <a:pt x="0" y="0"/>
                  </a:moveTo>
                  <a:lnTo>
                    <a:pt x="7870676" y="0"/>
                  </a:lnTo>
                  <a:lnTo>
                    <a:pt x="7870676" y="639747"/>
                  </a:lnTo>
                  <a:lnTo>
                    <a:pt x="0" y="6397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520" r="-29499" b="-26835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7870676" cy="6492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9" b="true">
                  <a:solidFill>
                    <a:srgbClr val="1B2D4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(In progress)</a:t>
              </a: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5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63" cy="10853442"/>
            <a:chOff x="0" y="0"/>
            <a:chExt cx="25458484" cy="14471256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" t="0" r="-5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92490" y="4519613"/>
            <a:ext cx="15703020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Post Launch Findings: </a:t>
            </a:r>
          </a:p>
          <a:p>
            <a:pPr algn="ctr">
              <a:lnSpc>
                <a:spcPts val="9720"/>
              </a:lnSpc>
            </a:pPr>
            <a:r>
              <a:rPr lang="en-US" sz="810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May Performance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630343" y="1028700"/>
            <a:ext cx="2628967" cy="757152"/>
            <a:chOff x="0" y="0"/>
            <a:chExt cx="3505289" cy="1009536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3" r="1" b="-31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70" t="0" r="-37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535" y="1524733"/>
            <a:ext cx="3998595" cy="1888294"/>
            <a:chOff x="0" y="0"/>
            <a:chExt cx="3603590" cy="17017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03590" cy="1701757"/>
            </a:xfrm>
            <a:custGeom>
              <a:avLst/>
              <a:gdLst/>
              <a:ahLst/>
              <a:cxnLst/>
              <a:rect r="r" b="b" t="t" l="l"/>
              <a:pathLst>
                <a:path h="1701757" w="3603590">
                  <a:moveTo>
                    <a:pt x="0" y="0"/>
                  </a:moveTo>
                  <a:lnTo>
                    <a:pt x="3603590" y="0"/>
                  </a:lnTo>
                  <a:lnTo>
                    <a:pt x="3603590" y="1701757"/>
                  </a:lnTo>
                  <a:lnTo>
                    <a:pt x="0" y="170175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1524733"/>
            <a:ext cx="3998595" cy="1888294"/>
            <a:chOff x="0" y="0"/>
            <a:chExt cx="3603590" cy="17017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03590" cy="1701757"/>
            </a:xfrm>
            <a:custGeom>
              <a:avLst/>
              <a:gdLst/>
              <a:ahLst/>
              <a:cxnLst/>
              <a:rect r="r" b="b" t="t" l="l"/>
              <a:pathLst>
                <a:path h="1701757" w="3603590">
                  <a:moveTo>
                    <a:pt x="0" y="0"/>
                  </a:moveTo>
                  <a:lnTo>
                    <a:pt x="3603590" y="0"/>
                  </a:lnTo>
                  <a:lnTo>
                    <a:pt x="3603590" y="1701757"/>
                  </a:lnTo>
                  <a:lnTo>
                    <a:pt x="0" y="170175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248775" y="1481651"/>
            <a:ext cx="3998595" cy="1888294"/>
            <a:chOff x="0" y="0"/>
            <a:chExt cx="3603590" cy="17017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03590" cy="1701757"/>
            </a:xfrm>
            <a:custGeom>
              <a:avLst/>
              <a:gdLst/>
              <a:ahLst/>
              <a:cxnLst/>
              <a:rect r="r" b="b" t="t" l="l"/>
              <a:pathLst>
                <a:path h="1701757" w="3603590">
                  <a:moveTo>
                    <a:pt x="0" y="0"/>
                  </a:moveTo>
                  <a:lnTo>
                    <a:pt x="3603590" y="0"/>
                  </a:lnTo>
                  <a:lnTo>
                    <a:pt x="3603590" y="1701757"/>
                  </a:lnTo>
                  <a:lnTo>
                    <a:pt x="0" y="170175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635990" y="1481651"/>
            <a:ext cx="3998595" cy="1888294"/>
            <a:chOff x="0" y="0"/>
            <a:chExt cx="3603590" cy="17017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03590" cy="1701757"/>
            </a:xfrm>
            <a:custGeom>
              <a:avLst/>
              <a:gdLst/>
              <a:ahLst/>
              <a:cxnLst/>
              <a:rect r="r" b="b" t="t" l="l"/>
              <a:pathLst>
                <a:path h="1701757" w="3603590">
                  <a:moveTo>
                    <a:pt x="0" y="0"/>
                  </a:moveTo>
                  <a:lnTo>
                    <a:pt x="3603590" y="0"/>
                  </a:lnTo>
                  <a:lnTo>
                    <a:pt x="3603590" y="1701757"/>
                  </a:lnTo>
                  <a:lnTo>
                    <a:pt x="0" y="170175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89775" y="427025"/>
            <a:ext cx="12344400" cy="1140790"/>
            <a:chOff x="0" y="0"/>
            <a:chExt cx="16459200" cy="15210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1521079"/>
            </a:xfrm>
            <a:custGeom>
              <a:avLst/>
              <a:gdLst/>
              <a:ahLst/>
              <a:cxnLst/>
              <a:rect r="r" b="b" t="t" l="l"/>
              <a:pathLst>
                <a:path h="1521079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521079"/>
                  </a:lnTo>
                  <a:lnTo>
                    <a:pt x="0" y="15210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0696" r="0" b="-16069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89775" y="419881"/>
            <a:ext cx="12344400" cy="1147934"/>
            <a:chOff x="0" y="0"/>
            <a:chExt cx="16459200" cy="15305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59200" cy="1530582"/>
            </a:xfrm>
            <a:custGeom>
              <a:avLst/>
              <a:gdLst/>
              <a:ahLst/>
              <a:cxnLst/>
              <a:rect r="r" b="b" t="t" l="l"/>
              <a:pathLst>
                <a:path h="1530582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530582"/>
                  </a:lnTo>
                  <a:lnTo>
                    <a:pt x="0" y="153058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9533" r="0" b="-15953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6459200" cy="15401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Executive Summary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17220" y="1741932"/>
            <a:ext cx="3703320" cy="903818"/>
            <a:chOff x="0" y="0"/>
            <a:chExt cx="4937760" cy="12050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37760" cy="1205103"/>
            </a:xfrm>
            <a:custGeom>
              <a:avLst/>
              <a:gdLst/>
              <a:ahLst/>
              <a:cxnLst/>
              <a:rect r="r" b="b" t="t" l="l"/>
              <a:pathLst>
                <a:path h="120510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81" r="0" b="-2978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17220" y="1734788"/>
            <a:ext cx="3703320" cy="910961"/>
            <a:chOff x="0" y="0"/>
            <a:chExt cx="4937760" cy="12146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37760" cy="1214620"/>
            </a:xfrm>
            <a:custGeom>
              <a:avLst/>
              <a:gdLst/>
              <a:ahLst/>
              <a:cxnLst/>
              <a:rect r="r" b="b" t="t" l="l"/>
              <a:pathLst>
                <a:path h="121462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14620"/>
                  </a:lnTo>
                  <a:lnTo>
                    <a:pt x="0" y="12146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212" r="0" b="-2921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4937760" cy="1224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17220" y="2558034"/>
            <a:ext cx="3703320" cy="499262"/>
            <a:chOff x="0" y="0"/>
            <a:chExt cx="4937760" cy="6656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423" r="0" b="-9441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17220" y="2550890"/>
            <a:ext cx="3703320" cy="506407"/>
            <a:chOff x="0" y="0"/>
            <a:chExt cx="4937760" cy="6752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7760" cy="675210"/>
            </a:xfrm>
            <a:custGeom>
              <a:avLst/>
              <a:gdLst/>
              <a:ahLst/>
              <a:cxnLst/>
              <a:rect r="r" b="b" t="t" l="l"/>
              <a:pathLst>
                <a:path h="67521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75210"/>
                  </a:lnTo>
                  <a:lnTo>
                    <a:pt x="0" y="67521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2492" r="0" b="-9249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937760" cy="684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8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Funded Clients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17220" y="2963266"/>
            <a:ext cx="3703320" cy="320954"/>
            <a:chOff x="0" y="0"/>
            <a:chExt cx="4937760" cy="42793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7760" cy="427990"/>
            </a:xfrm>
            <a:custGeom>
              <a:avLst/>
              <a:gdLst/>
              <a:ahLst/>
              <a:cxnLst/>
              <a:rect r="r" b="b" t="t" l="l"/>
              <a:pathLst>
                <a:path h="42799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27990"/>
                  </a:lnTo>
                  <a:lnTo>
                    <a:pt x="0" y="4279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4649" r="0" b="-174637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006340" y="1741932"/>
            <a:ext cx="3703320" cy="903818"/>
            <a:chOff x="0" y="0"/>
            <a:chExt cx="4937760" cy="12050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37760" cy="1205103"/>
            </a:xfrm>
            <a:custGeom>
              <a:avLst/>
              <a:gdLst/>
              <a:ahLst/>
              <a:cxnLst/>
              <a:rect r="r" b="b" t="t" l="l"/>
              <a:pathLst>
                <a:path h="120510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81" r="0" b="-29781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006340" y="1734788"/>
            <a:ext cx="3703320" cy="910961"/>
            <a:chOff x="0" y="0"/>
            <a:chExt cx="4937760" cy="121461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37760" cy="1214620"/>
            </a:xfrm>
            <a:custGeom>
              <a:avLst/>
              <a:gdLst/>
              <a:ahLst/>
              <a:cxnLst/>
              <a:rect r="r" b="b" t="t" l="l"/>
              <a:pathLst>
                <a:path h="121462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14620"/>
                  </a:lnTo>
                  <a:lnTo>
                    <a:pt x="0" y="12146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212" r="0" b="-2921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937760" cy="1224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$ 67.14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06340" y="2558034"/>
            <a:ext cx="3703320" cy="499262"/>
            <a:chOff x="0" y="0"/>
            <a:chExt cx="4937760" cy="6656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423" r="0" b="-94416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006340" y="2550890"/>
            <a:ext cx="3703320" cy="506406"/>
            <a:chOff x="0" y="0"/>
            <a:chExt cx="4937760" cy="6752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37760" cy="675209"/>
            </a:xfrm>
            <a:custGeom>
              <a:avLst/>
              <a:gdLst/>
              <a:ahLst/>
              <a:cxnLst/>
              <a:rect r="r" b="b" t="t" l="l"/>
              <a:pathLst>
                <a:path h="67520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75209"/>
                  </a:lnTo>
                  <a:lnTo>
                    <a:pt x="0" y="67520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2492" r="0" b="-9249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4937760" cy="6847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8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Platform AUM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006340" y="2963266"/>
            <a:ext cx="3703320" cy="320954"/>
            <a:chOff x="0" y="0"/>
            <a:chExt cx="4937760" cy="42793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37760" cy="427990"/>
            </a:xfrm>
            <a:custGeom>
              <a:avLst/>
              <a:gdLst/>
              <a:ahLst/>
              <a:cxnLst/>
              <a:rect r="r" b="b" t="t" l="l"/>
              <a:pathLst>
                <a:path h="42799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27990"/>
                  </a:lnTo>
                  <a:lnTo>
                    <a:pt x="0" y="4279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4649" r="0" b="-174637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006340" y="2956122"/>
            <a:ext cx="3703320" cy="328099"/>
            <a:chOff x="0" y="0"/>
            <a:chExt cx="4937760" cy="43746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37760" cy="437466"/>
            </a:xfrm>
            <a:custGeom>
              <a:avLst/>
              <a:gdLst/>
              <a:ahLst/>
              <a:cxnLst/>
              <a:rect r="r" b="b" t="t" l="l"/>
              <a:pathLst>
                <a:path h="43746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37466"/>
                  </a:lnTo>
                  <a:lnTo>
                    <a:pt x="0" y="43746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9931" r="0" b="-16993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937760" cy="446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i="true">
                  <a:solidFill>
                    <a:srgbClr val="FFFFFF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(14–31</a:t>
              </a:r>
              <a:r>
                <a:rPr lang="en-US" sz="1299" i="true">
                  <a:solidFill>
                    <a:srgbClr val="FFFFFF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 May)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95460" y="1741932"/>
            <a:ext cx="3703320" cy="903818"/>
            <a:chOff x="0" y="0"/>
            <a:chExt cx="4937760" cy="12050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37760" cy="1205103"/>
            </a:xfrm>
            <a:custGeom>
              <a:avLst/>
              <a:gdLst/>
              <a:ahLst/>
              <a:cxnLst/>
              <a:rect r="r" b="b" t="t" l="l"/>
              <a:pathLst>
                <a:path h="120510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81" r="0" b="-2978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395460" y="1734788"/>
            <a:ext cx="3703320" cy="910961"/>
            <a:chOff x="0" y="0"/>
            <a:chExt cx="4937760" cy="121461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937760" cy="1214620"/>
            </a:xfrm>
            <a:custGeom>
              <a:avLst/>
              <a:gdLst/>
              <a:ahLst/>
              <a:cxnLst/>
              <a:rect r="r" b="b" t="t" l="l"/>
              <a:pathLst>
                <a:path h="121462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14620"/>
                  </a:lnTo>
                  <a:lnTo>
                    <a:pt x="0" y="12146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212" r="0" b="-292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937760" cy="1224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95460" y="2558034"/>
            <a:ext cx="3703320" cy="499262"/>
            <a:chOff x="0" y="0"/>
            <a:chExt cx="4937760" cy="66568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423" r="0" b="-9441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395460" y="2550890"/>
            <a:ext cx="3703320" cy="506406"/>
            <a:chOff x="0" y="0"/>
            <a:chExt cx="4937760" cy="6752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937760" cy="675209"/>
            </a:xfrm>
            <a:custGeom>
              <a:avLst/>
              <a:gdLst/>
              <a:ahLst/>
              <a:cxnLst/>
              <a:rect r="r" b="b" t="t" l="l"/>
              <a:pathLst>
                <a:path h="67520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75209"/>
                  </a:lnTo>
                  <a:lnTo>
                    <a:pt x="0" y="67520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2492" r="0" b="-9249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4937760" cy="6847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8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Onboarding Requests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95460" y="2963266"/>
            <a:ext cx="3703320" cy="320954"/>
            <a:chOff x="0" y="0"/>
            <a:chExt cx="4937760" cy="42793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37760" cy="427990"/>
            </a:xfrm>
            <a:custGeom>
              <a:avLst/>
              <a:gdLst/>
              <a:ahLst/>
              <a:cxnLst/>
              <a:rect r="r" b="b" t="t" l="l"/>
              <a:pathLst>
                <a:path h="42799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27990"/>
                  </a:lnTo>
                  <a:lnTo>
                    <a:pt x="0" y="4279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4649" r="0" b="-174637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395460" y="2956122"/>
            <a:ext cx="3703320" cy="328098"/>
            <a:chOff x="0" y="0"/>
            <a:chExt cx="4937760" cy="4374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937760" cy="437465"/>
            </a:xfrm>
            <a:custGeom>
              <a:avLst/>
              <a:gdLst/>
              <a:ahLst/>
              <a:cxnLst/>
              <a:rect r="r" b="b" t="t" l="l"/>
              <a:pathLst>
                <a:path h="43746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37465"/>
                  </a:lnTo>
                  <a:lnTo>
                    <a:pt x="0" y="4374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9931" r="0" b="-16993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4937760" cy="446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i="true">
                  <a:solidFill>
                    <a:srgbClr val="FFFFFF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Eligible Only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784580" y="1741932"/>
            <a:ext cx="3703320" cy="903818"/>
            <a:chOff x="0" y="0"/>
            <a:chExt cx="4937760" cy="120509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937760" cy="1205103"/>
            </a:xfrm>
            <a:custGeom>
              <a:avLst/>
              <a:gdLst/>
              <a:ahLst/>
              <a:cxnLst/>
              <a:rect r="r" b="b" t="t" l="l"/>
              <a:pathLst>
                <a:path h="120510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103"/>
                  </a:lnTo>
                  <a:lnTo>
                    <a:pt x="0" y="12051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81" r="0" b="-29781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784580" y="1734788"/>
            <a:ext cx="3703320" cy="910965"/>
            <a:chOff x="0" y="0"/>
            <a:chExt cx="4937760" cy="12146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937760" cy="1214624"/>
            </a:xfrm>
            <a:custGeom>
              <a:avLst/>
              <a:gdLst/>
              <a:ahLst/>
              <a:cxnLst/>
              <a:rect r="r" b="b" t="t" l="l"/>
              <a:pathLst>
                <a:path h="121462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14624"/>
                  </a:lnTo>
                  <a:lnTo>
                    <a:pt x="0" y="121462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212" r="0" b="-2921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4937760" cy="1224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126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784580" y="2558034"/>
            <a:ext cx="3703320" cy="499262"/>
            <a:chOff x="0" y="0"/>
            <a:chExt cx="4937760" cy="66568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937760" cy="665734"/>
            </a:xfrm>
            <a:custGeom>
              <a:avLst/>
              <a:gdLst/>
              <a:ahLst/>
              <a:cxnLst/>
              <a:rect r="r" b="b" t="t" l="l"/>
              <a:pathLst>
                <a:path h="66573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734"/>
                  </a:lnTo>
                  <a:lnTo>
                    <a:pt x="0" y="6657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423" r="0" b="-94416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784580" y="2550890"/>
            <a:ext cx="3703320" cy="506406"/>
            <a:chOff x="0" y="0"/>
            <a:chExt cx="4937760" cy="6752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937760" cy="675209"/>
            </a:xfrm>
            <a:custGeom>
              <a:avLst/>
              <a:gdLst/>
              <a:ahLst/>
              <a:cxnLst/>
              <a:rect r="r" b="b" t="t" l="l"/>
              <a:pathLst>
                <a:path h="675209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75209"/>
                  </a:lnTo>
                  <a:lnTo>
                    <a:pt x="0" y="67520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2492" r="0" b="-9249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4937760" cy="6847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8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App Downloads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784580" y="2963266"/>
            <a:ext cx="3703320" cy="320954"/>
            <a:chOff x="0" y="0"/>
            <a:chExt cx="4937760" cy="42793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937760" cy="427990"/>
            </a:xfrm>
            <a:custGeom>
              <a:avLst/>
              <a:gdLst/>
              <a:ahLst/>
              <a:cxnLst/>
              <a:rect r="r" b="b" t="t" l="l"/>
              <a:pathLst>
                <a:path h="42799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27990"/>
                  </a:lnTo>
                  <a:lnTo>
                    <a:pt x="0" y="4279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4649" r="0" b="-174637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784580" y="2956122"/>
            <a:ext cx="3703320" cy="328099"/>
            <a:chOff x="0" y="0"/>
            <a:chExt cx="4937760" cy="43746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937760" cy="437466"/>
            </a:xfrm>
            <a:custGeom>
              <a:avLst/>
              <a:gdLst/>
              <a:ahLst/>
              <a:cxnLst/>
              <a:rect r="r" b="b" t="t" l="l"/>
              <a:pathLst>
                <a:path h="43746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37466"/>
                  </a:lnTo>
                  <a:lnTo>
                    <a:pt x="0" y="43746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9931" r="0" b="-16993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4937760" cy="446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i="true">
                  <a:solidFill>
                    <a:srgbClr val="FFFFFF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Android &amp; iOS Stores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535" y="3562826"/>
            <a:ext cx="3996690" cy="1329214"/>
            <a:chOff x="0" y="0"/>
            <a:chExt cx="5328920" cy="177228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9525"/>
              <a:ext cx="53289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1762760"/>
                  </a:lnTo>
                  <a:lnTo>
                    <a:pt x="0" y="1762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5" id="75"/>
            <p:cNvGrpSpPr/>
            <p:nvPr/>
          </p:nvGrpSpPr>
          <p:grpSpPr>
            <a:xfrm rot="0">
              <a:off x="195580" y="9525"/>
              <a:ext cx="4937760" cy="1043140"/>
              <a:chOff x="0" y="0"/>
              <a:chExt cx="4937760" cy="104314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4937760" cy="1043178"/>
              </a:xfrm>
              <a:custGeom>
                <a:avLst/>
                <a:gdLst/>
                <a:ahLst/>
                <a:cxnLst/>
                <a:rect r="r" b="b" t="t" l="l"/>
                <a:pathLst>
                  <a:path h="1043178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1043178"/>
                    </a:lnTo>
                    <a:lnTo>
                      <a:pt x="0" y="1043178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42167" r="0" b="-42164"/>
                </a:stretch>
              </a:blipFill>
            </p:spPr>
          </p:sp>
        </p:grpSp>
        <p:grpSp>
          <p:nvGrpSpPr>
            <p:cNvPr name="Group 77" id="77"/>
            <p:cNvGrpSpPr/>
            <p:nvPr/>
          </p:nvGrpSpPr>
          <p:grpSpPr>
            <a:xfrm rot="0">
              <a:off x="195580" y="0"/>
              <a:ext cx="4937760" cy="1052669"/>
              <a:chOff x="0" y="0"/>
              <a:chExt cx="4937760" cy="1052669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4937760" cy="1052673"/>
              </a:xfrm>
              <a:custGeom>
                <a:avLst/>
                <a:gdLst/>
                <a:ahLst/>
                <a:cxnLst/>
                <a:rect r="r" b="b" t="t" l="l"/>
                <a:pathLst>
                  <a:path h="1052673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1052673"/>
                    </a:lnTo>
                    <a:lnTo>
                      <a:pt x="0" y="1052673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41398" r="0" b="-41397"/>
                </a:stretch>
              </a:blip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9525"/>
                <a:ext cx="4937760" cy="10621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438"/>
                  </a:lnSpc>
                </a:pPr>
                <a:r>
                  <a:rPr lang="en-US" b="true" sz="3699">
                    <a:gradFill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  <a:latin typeface="Exo 2 Bold"/>
                    <a:ea typeface="Exo 2 Bold"/>
                    <a:cs typeface="Exo 2 Bold"/>
                    <a:sym typeface="Exo 2 Bold"/>
                  </a:rPr>
                  <a:t>33</a:t>
                </a:r>
                <a:r>
                  <a:rPr lang="en-US" b="true" sz="3699">
                    <a:gradFill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  <a:latin typeface="Exo 2 Bold"/>
                    <a:ea typeface="Exo 2 Bold"/>
                    <a:cs typeface="Exo 2 Bold"/>
                    <a:sym typeface="Exo 2 Bold"/>
                  </a:rPr>
                  <a:t>%</a:t>
                </a: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153416" y="953795"/>
              <a:ext cx="4937760" cy="451714"/>
              <a:chOff x="0" y="0"/>
              <a:chExt cx="4937760" cy="451714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4937760" cy="451739"/>
              </a:xfrm>
              <a:custGeom>
                <a:avLst/>
                <a:gdLst/>
                <a:ahLst/>
                <a:cxnLst/>
                <a:rect r="r" b="b" t="t" l="l"/>
                <a:pathLst>
                  <a:path h="451739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451739"/>
                    </a:lnTo>
                    <a:lnTo>
                      <a:pt x="0" y="451739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162836" r="0" b="-162831"/>
                </a:stretch>
              </a:blipFill>
            </p:spPr>
          </p:sp>
        </p:grpSp>
        <p:grpSp>
          <p:nvGrpSpPr>
            <p:cNvPr name="Group 82" id="82"/>
            <p:cNvGrpSpPr/>
            <p:nvPr/>
          </p:nvGrpSpPr>
          <p:grpSpPr>
            <a:xfrm rot="0">
              <a:off x="153416" y="944270"/>
              <a:ext cx="4937760" cy="461238"/>
              <a:chOff x="0" y="0"/>
              <a:chExt cx="4937760" cy="461238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4937760" cy="461238"/>
              </a:xfrm>
              <a:custGeom>
                <a:avLst/>
                <a:gdLst/>
                <a:ahLst/>
                <a:cxnLst/>
                <a:rect r="r" b="b" t="t" l="l"/>
                <a:pathLst>
                  <a:path h="461238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461238"/>
                    </a:lnTo>
                    <a:lnTo>
                      <a:pt x="0" y="461238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58596" r="0" b="-158596"/>
                </a:stretch>
              </a:blip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9525"/>
                <a:ext cx="4937760" cy="47076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918"/>
                  </a:lnSpc>
                </a:pPr>
                <a:r>
                  <a:rPr lang="en-US" sz="1599">
                    <a:solidFill>
                      <a:srgbClr val="111C37"/>
                    </a:solidFill>
                    <a:latin typeface="Exo 2"/>
                    <a:ea typeface="Exo 2"/>
                    <a:cs typeface="Exo 2"/>
                    <a:sym typeface="Exo 2"/>
                  </a:rPr>
                  <a:t>Percentage of Funded Clients</a:t>
                </a:r>
              </a:p>
            </p:txBody>
          </p:sp>
        </p:grpSp>
      </p:grpSp>
      <p:grpSp>
        <p:nvGrpSpPr>
          <p:cNvPr name="Group 85" id="85"/>
          <p:cNvGrpSpPr/>
          <p:nvPr/>
        </p:nvGrpSpPr>
        <p:grpSpPr>
          <a:xfrm rot="0">
            <a:off x="4859655" y="3562826"/>
            <a:ext cx="3996690" cy="1329214"/>
            <a:chOff x="0" y="0"/>
            <a:chExt cx="5328920" cy="177228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9525"/>
              <a:ext cx="53289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1762760"/>
                  </a:lnTo>
                  <a:lnTo>
                    <a:pt x="0" y="1762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7" id="87"/>
            <p:cNvGrpSpPr/>
            <p:nvPr/>
          </p:nvGrpSpPr>
          <p:grpSpPr>
            <a:xfrm rot="0">
              <a:off x="195580" y="9525"/>
              <a:ext cx="4937760" cy="1043140"/>
              <a:chOff x="0" y="0"/>
              <a:chExt cx="4937760" cy="104314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4937760" cy="1043178"/>
              </a:xfrm>
              <a:custGeom>
                <a:avLst/>
                <a:gdLst/>
                <a:ahLst/>
                <a:cxnLst/>
                <a:rect r="r" b="b" t="t" l="l"/>
                <a:pathLst>
                  <a:path h="1043178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1043178"/>
                    </a:lnTo>
                    <a:lnTo>
                      <a:pt x="0" y="1043178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42167" r="0" b="-42164"/>
                </a:stretch>
              </a:blipFill>
            </p:spPr>
          </p:sp>
        </p:grpSp>
        <p:grpSp>
          <p:nvGrpSpPr>
            <p:cNvPr name="Group 89" id="89"/>
            <p:cNvGrpSpPr/>
            <p:nvPr/>
          </p:nvGrpSpPr>
          <p:grpSpPr>
            <a:xfrm rot="0">
              <a:off x="195580" y="0"/>
              <a:ext cx="4937760" cy="1052669"/>
              <a:chOff x="0" y="0"/>
              <a:chExt cx="4937760" cy="1052669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4937760" cy="1052673"/>
              </a:xfrm>
              <a:custGeom>
                <a:avLst/>
                <a:gdLst/>
                <a:ahLst/>
                <a:cxnLst/>
                <a:rect r="r" b="b" t="t" l="l"/>
                <a:pathLst>
                  <a:path h="1052673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1052673"/>
                    </a:lnTo>
                    <a:lnTo>
                      <a:pt x="0" y="1052673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41398" r="0" b="-41397"/>
                </a:stretch>
              </a:blipFill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0" y="-9525"/>
                <a:ext cx="4937760" cy="10621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438"/>
                  </a:lnSpc>
                </a:pPr>
                <a:r>
                  <a:rPr lang="en-US" b="true" sz="3699">
                    <a:gradFill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  <a:latin typeface="Exo 2 Bold"/>
                    <a:ea typeface="Exo 2 Bold"/>
                    <a:cs typeface="Exo 2 Bold"/>
                    <a:sym typeface="Exo 2 Bold"/>
                  </a:rPr>
                  <a:t>100%</a:t>
                </a:r>
              </a:p>
            </p:txBody>
          </p:sp>
        </p:grpSp>
        <p:grpSp>
          <p:nvGrpSpPr>
            <p:cNvPr name="Group 92" id="92"/>
            <p:cNvGrpSpPr/>
            <p:nvPr/>
          </p:nvGrpSpPr>
          <p:grpSpPr>
            <a:xfrm rot="0">
              <a:off x="195580" y="953795"/>
              <a:ext cx="4937760" cy="451714"/>
              <a:chOff x="0" y="0"/>
              <a:chExt cx="4937760" cy="451714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4937760" cy="451739"/>
              </a:xfrm>
              <a:custGeom>
                <a:avLst/>
                <a:gdLst/>
                <a:ahLst/>
                <a:cxnLst/>
                <a:rect r="r" b="b" t="t" l="l"/>
                <a:pathLst>
                  <a:path h="451739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451739"/>
                    </a:lnTo>
                    <a:lnTo>
                      <a:pt x="0" y="451739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162836" r="0" b="-162831"/>
                </a:stretch>
              </a:blipFill>
            </p:spPr>
          </p:sp>
        </p:grpSp>
        <p:grpSp>
          <p:nvGrpSpPr>
            <p:cNvPr name="Group 94" id="94"/>
            <p:cNvGrpSpPr/>
            <p:nvPr/>
          </p:nvGrpSpPr>
          <p:grpSpPr>
            <a:xfrm rot="0">
              <a:off x="195580" y="944270"/>
              <a:ext cx="4937760" cy="461239"/>
              <a:chOff x="0" y="0"/>
              <a:chExt cx="4937760" cy="461239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4937760" cy="461238"/>
              </a:xfrm>
              <a:custGeom>
                <a:avLst/>
                <a:gdLst/>
                <a:ahLst/>
                <a:cxnLst/>
                <a:rect r="r" b="b" t="t" l="l"/>
                <a:pathLst>
                  <a:path h="461238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461238"/>
                    </a:lnTo>
                    <a:lnTo>
                      <a:pt x="0" y="461238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58595" r="0" b="-158595"/>
                </a:stretch>
              </a:blip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-9525"/>
                <a:ext cx="4937760" cy="4707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918"/>
                  </a:lnSpc>
                </a:pPr>
                <a:r>
                  <a:rPr lang="en-US" sz="1599">
                    <a:solidFill>
                      <a:srgbClr val="111C37"/>
                    </a:solidFill>
                    <a:latin typeface="Exo 2"/>
                    <a:ea typeface="Exo 2"/>
                    <a:cs typeface="Exo 2"/>
                    <a:sym typeface="Exo 2"/>
                  </a:rPr>
                  <a:t>System Uptime</a:t>
                </a: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195580" y="1353541"/>
              <a:ext cx="4937760" cy="357238"/>
              <a:chOff x="0" y="0"/>
              <a:chExt cx="4937760" cy="357238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4937760" cy="357251"/>
              </a:xfrm>
              <a:custGeom>
                <a:avLst/>
                <a:gdLst/>
                <a:ahLst/>
                <a:cxnLst/>
                <a:rect r="r" b="b" t="t" l="l"/>
                <a:pathLst>
                  <a:path h="357251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357251"/>
                    </a:lnTo>
                    <a:lnTo>
                      <a:pt x="0" y="357251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19125" r="0" b="-219125"/>
                </a:stretch>
              </a:blipFill>
            </p:spPr>
          </p:sp>
        </p:grpSp>
        <p:grpSp>
          <p:nvGrpSpPr>
            <p:cNvPr name="Group 99" id="99"/>
            <p:cNvGrpSpPr/>
            <p:nvPr/>
          </p:nvGrpSpPr>
          <p:grpSpPr>
            <a:xfrm rot="0">
              <a:off x="195580" y="1344016"/>
              <a:ext cx="4937760" cy="366763"/>
              <a:chOff x="0" y="0"/>
              <a:chExt cx="4937760" cy="366763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4937760" cy="366768"/>
              </a:xfrm>
              <a:custGeom>
                <a:avLst/>
                <a:gdLst/>
                <a:ahLst/>
                <a:cxnLst/>
                <a:rect r="r" b="b" t="t" l="l"/>
                <a:pathLst>
                  <a:path h="366768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366768"/>
                    </a:lnTo>
                    <a:lnTo>
                      <a:pt x="0" y="366768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12325" r="0" b="-212324"/>
                </a:stretch>
              </a:blipFill>
            </p:spPr>
          </p:sp>
          <p:sp>
            <p:nvSpPr>
              <p:cNvPr name="TextBox 101" id="101"/>
              <p:cNvSpPr txBox="true"/>
              <p:nvPr/>
            </p:nvSpPr>
            <p:spPr>
              <a:xfrm>
                <a:off x="0" y="-9525"/>
                <a:ext cx="4937760" cy="3762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i="true">
                    <a:solidFill>
                      <a:srgbClr val="1A7A4A"/>
                    </a:solidFill>
                    <a:latin typeface="Exo 2 Italics"/>
                    <a:ea typeface="Exo 2 Italics"/>
                    <a:cs typeface="Exo 2 Italics"/>
                    <a:sym typeface="Exo 2 Italics"/>
                  </a:rPr>
                  <a:t>Target: 99.99%</a:t>
                </a:r>
              </a:p>
            </p:txBody>
          </p:sp>
        </p:grpSp>
      </p:grpSp>
      <p:grpSp>
        <p:nvGrpSpPr>
          <p:cNvPr name="Group 102" id="102"/>
          <p:cNvGrpSpPr/>
          <p:nvPr/>
        </p:nvGrpSpPr>
        <p:grpSpPr>
          <a:xfrm rot="0">
            <a:off x="13635990" y="3513596"/>
            <a:ext cx="3996690" cy="1329214"/>
            <a:chOff x="0" y="0"/>
            <a:chExt cx="5328920" cy="177228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9525"/>
              <a:ext cx="53289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1762760"/>
                  </a:lnTo>
                  <a:lnTo>
                    <a:pt x="0" y="1762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4" id="104"/>
            <p:cNvGrpSpPr/>
            <p:nvPr/>
          </p:nvGrpSpPr>
          <p:grpSpPr>
            <a:xfrm rot="0">
              <a:off x="195580" y="9525"/>
              <a:ext cx="4937760" cy="1043140"/>
              <a:chOff x="0" y="0"/>
              <a:chExt cx="4937760" cy="1043140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4937760" cy="1043178"/>
              </a:xfrm>
              <a:custGeom>
                <a:avLst/>
                <a:gdLst/>
                <a:ahLst/>
                <a:cxnLst/>
                <a:rect r="r" b="b" t="t" l="l"/>
                <a:pathLst>
                  <a:path h="1043178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1043178"/>
                    </a:lnTo>
                    <a:lnTo>
                      <a:pt x="0" y="1043178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42167" r="0" b="-42164"/>
                </a:stretch>
              </a:blipFill>
            </p:spPr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195580" y="0"/>
              <a:ext cx="4937760" cy="1052669"/>
              <a:chOff x="0" y="0"/>
              <a:chExt cx="4937760" cy="1052669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4937760" cy="1052673"/>
              </a:xfrm>
              <a:custGeom>
                <a:avLst/>
                <a:gdLst/>
                <a:ahLst/>
                <a:cxnLst/>
                <a:rect r="r" b="b" t="t" l="l"/>
                <a:pathLst>
                  <a:path h="1052673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1052673"/>
                    </a:lnTo>
                    <a:lnTo>
                      <a:pt x="0" y="1052673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41398" r="0" b="-41397"/>
                </a:stretch>
              </a:blip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-9525"/>
                <a:ext cx="4937760" cy="10621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438"/>
                  </a:lnSpc>
                </a:pPr>
                <a:r>
                  <a:rPr lang="en-US" b="true" sz="3699">
                    <a:gradFill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  <a:latin typeface="Exo 2 Bold"/>
                    <a:ea typeface="Exo 2 Bold"/>
                    <a:cs typeface="Exo 2 Bold"/>
                    <a:sym typeface="Exo 2 Bold"/>
                  </a:rPr>
                  <a:t>82</a:t>
                </a:r>
                <a:r>
                  <a:rPr lang="en-US" b="true" sz="3699">
                    <a:gradFill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  <a:latin typeface="Exo 2 Bold"/>
                    <a:ea typeface="Exo 2 Bold"/>
                    <a:cs typeface="Exo 2 Bold"/>
                    <a:sym typeface="Exo 2 Bold"/>
                  </a:rPr>
                  <a:t>%</a:t>
                </a: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195580" y="953795"/>
              <a:ext cx="4937760" cy="451714"/>
              <a:chOff x="0" y="0"/>
              <a:chExt cx="4937760" cy="451714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4937760" cy="451739"/>
              </a:xfrm>
              <a:custGeom>
                <a:avLst/>
                <a:gdLst/>
                <a:ahLst/>
                <a:cxnLst/>
                <a:rect r="r" b="b" t="t" l="l"/>
                <a:pathLst>
                  <a:path h="451739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451739"/>
                    </a:lnTo>
                    <a:lnTo>
                      <a:pt x="0" y="451739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162836" r="0" b="-162831"/>
                </a:stretch>
              </a:blipFill>
            </p:spPr>
          </p:sp>
        </p:grpSp>
        <p:grpSp>
          <p:nvGrpSpPr>
            <p:cNvPr name="Group 111" id="111"/>
            <p:cNvGrpSpPr/>
            <p:nvPr/>
          </p:nvGrpSpPr>
          <p:grpSpPr>
            <a:xfrm rot="0">
              <a:off x="195580" y="944270"/>
              <a:ext cx="4937760" cy="461238"/>
              <a:chOff x="0" y="0"/>
              <a:chExt cx="4937760" cy="461238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4937760" cy="461238"/>
              </a:xfrm>
              <a:custGeom>
                <a:avLst/>
                <a:gdLst/>
                <a:ahLst/>
                <a:cxnLst/>
                <a:rect r="r" b="b" t="t" l="l"/>
                <a:pathLst>
                  <a:path h="461238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461238"/>
                    </a:lnTo>
                    <a:lnTo>
                      <a:pt x="0" y="461238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58596" r="0" b="-158596"/>
                </a:stretch>
              </a:blipFill>
            </p:spPr>
          </p:sp>
          <p:sp>
            <p:nvSpPr>
              <p:cNvPr name="TextBox 113" id="113"/>
              <p:cNvSpPr txBox="true"/>
              <p:nvPr/>
            </p:nvSpPr>
            <p:spPr>
              <a:xfrm>
                <a:off x="0" y="-9525"/>
                <a:ext cx="4937760" cy="47076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918"/>
                  </a:lnSpc>
                </a:pPr>
                <a:r>
                  <a:rPr lang="en-US" sz="1599">
                    <a:solidFill>
                      <a:srgbClr val="111C37"/>
                    </a:solidFill>
                    <a:latin typeface="Exo 2"/>
                    <a:ea typeface="Exo 2"/>
                    <a:cs typeface="Exo 2"/>
                    <a:sym typeface="Exo 2"/>
                  </a:rPr>
                  <a:t>AI Client Support Resolution Score</a:t>
                </a:r>
              </a:p>
            </p:txBody>
          </p:sp>
        </p:grpSp>
      </p:grpSp>
      <p:grpSp>
        <p:nvGrpSpPr>
          <p:cNvPr name="Group 114" id="114"/>
          <p:cNvGrpSpPr/>
          <p:nvPr/>
        </p:nvGrpSpPr>
        <p:grpSpPr>
          <a:xfrm rot="0">
            <a:off x="519108" y="5080159"/>
            <a:ext cx="17282160" cy="479898"/>
            <a:chOff x="0" y="0"/>
            <a:chExt cx="23042880" cy="63986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3042880" cy="639826"/>
            </a:xfrm>
            <a:custGeom>
              <a:avLst/>
              <a:gdLst/>
              <a:ahLst/>
              <a:cxnLst/>
              <a:rect r="r" b="b" t="t" l="l"/>
              <a:pathLst>
                <a:path h="639826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639826"/>
                  </a:lnTo>
                  <a:lnTo>
                    <a:pt x="0" y="6398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1248" r="0" b="-651254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19108" y="5073015"/>
            <a:ext cx="17282160" cy="487042"/>
            <a:chOff x="0" y="0"/>
            <a:chExt cx="23042880" cy="649389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3042880" cy="649384"/>
            </a:xfrm>
            <a:custGeom>
              <a:avLst/>
              <a:gdLst/>
              <a:ahLst/>
              <a:cxnLst/>
              <a:rect r="r" b="b" t="t" l="l"/>
              <a:pathLst>
                <a:path h="649384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649384"/>
                  </a:lnTo>
                  <a:lnTo>
                    <a:pt x="0" y="6493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1411" r="0" b="-64141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23042880" cy="658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Key Highlights This Month</a:t>
              </a:r>
            </a:p>
          </p:txBody>
        </p:sp>
      </p:grpSp>
      <p:sp>
        <p:nvSpPr>
          <p:cNvPr name="Freeform 119" id="119"/>
          <p:cNvSpPr/>
          <p:nvPr/>
        </p:nvSpPr>
        <p:spPr>
          <a:xfrm flipH="false" flipV="false" rot="0">
            <a:off x="486732" y="5638219"/>
            <a:ext cx="17301210" cy="60198"/>
          </a:xfrm>
          <a:custGeom>
            <a:avLst/>
            <a:gdLst/>
            <a:ahLst/>
            <a:cxnLst/>
            <a:rect r="r" b="b" t="t" l="l"/>
            <a:pathLst>
              <a:path h="60198" w="17301210">
                <a:moveTo>
                  <a:pt x="0" y="0"/>
                </a:moveTo>
                <a:lnTo>
                  <a:pt x="17301210" y="0"/>
                </a:lnTo>
                <a:lnTo>
                  <a:pt x="17301210" y="60198"/>
                </a:lnTo>
                <a:lnTo>
                  <a:pt x="0" y="601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0" id="120"/>
          <p:cNvGrpSpPr/>
          <p:nvPr/>
        </p:nvGrpSpPr>
        <p:grpSpPr>
          <a:xfrm rot="0">
            <a:off x="921639" y="5831767"/>
            <a:ext cx="16212312" cy="775764"/>
            <a:chOff x="0" y="0"/>
            <a:chExt cx="21616416" cy="1034351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1616415" cy="1034288"/>
            </a:xfrm>
            <a:custGeom>
              <a:avLst/>
              <a:gdLst/>
              <a:ahLst/>
              <a:cxnLst/>
              <a:rect r="r" b="b" t="t" l="l"/>
              <a:pathLst>
                <a:path h="10342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288"/>
                  </a:lnTo>
                  <a:lnTo>
                    <a:pt x="0" y="1034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6947" r="0" b="-356953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21639" y="5831767"/>
            <a:ext cx="16212312" cy="1747238"/>
            <a:chOff x="0" y="0"/>
            <a:chExt cx="21616416" cy="232965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1616415" cy="2329640"/>
            </a:xfrm>
            <a:custGeom>
              <a:avLst/>
              <a:gdLst/>
              <a:ahLst/>
              <a:cxnLst/>
              <a:rect r="r" b="b" t="t" l="l"/>
              <a:pathLst>
                <a:path h="2329640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2329640"/>
                  </a:lnTo>
                  <a:lnTo>
                    <a:pt x="0" y="2329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8599" r="0" b="-102998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0"/>
              <a:ext cx="21616416" cy="2329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8"/>
                </a:lnSpc>
              </a:pPr>
              <a:r>
                <a:rPr lang="en-US" sz="2148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Platform</a:t>
              </a:r>
              <a:r>
                <a:rPr lang="en-US" sz="2148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</a:t>
              </a:r>
              <a:r>
                <a:rPr lang="en-US" sz="2148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launch (14–31 May):</a:t>
              </a:r>
              <a:r>
                <a:rPr lang="en-US" sz="2148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</a:t>
              </a:r>
            </a:p>
            <a:p>
              <a:pPr algn="l" marL="463969" indent="-231984" lvl="1">
                <a:lnSpc>
                  <a:spcPts val="2578"/>
                </a:lnSpc>
                <a:buFont typeface="Arial"/>
                <a:buChar char="•"/>
              </a:pPr>
              <a:r>
                <a:rPr lang="en-US" sz="2148">
                  <a:solidFill>
                    <a:srgbClr val="4A5568"/>
                  </a:solidFill>
                  <a:latin typeface="Exo 2"/>
                  <a:ea typeface="Exo 2"/>
                  <a:cs typeface="Exo 2"/>
                  <a:sym typeface="Exo 2"/>
                </a:rPr>
                <a:t>E</a:t>
              </a:r>
              <a:r>
                <a:rPr lang="en-US" sz="2148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xecuted our pilot marketing testing phase. With the sponsor ads campaigns officially ending today, June 1</a:t>
              </a:r>
              <a:r>
                <a:rPr lang="en-US" sz="2148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st</a:t>
              </a:r>
              <a:r>
                <a:rPr lang="en-US" sz="2148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2026, our immediate next steps is to evaluate the initial performance data to strategically guide our upcoming marketing roadmap.</a:t>
              </a:r>
            </a:p>
            <a:p>
              <a:pPr algn="l" marL="463969" indent="-231984" lvl="1">
                <a:lnSpc>
                  <a:spcPts val="2578"/>
                </a:lnSpc>
                <a:buFont typeface="Arial"/>
                <a:buChar char="•"/>
              </a:pPr>
              <a:r>
                <a:rPr lang="en-US" sz="2148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eMYAA recorded its first live user activity with 2 funded accounts depositing a combined USD 67.14, confirming end-to-end payment rails are operational through bank transfer.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21639" y="7645680"/>
            <a:ext cx="16212312" cy="775764"/>
            <a:chOff x="0" y="0"/>
            <a:chExt cx="21616416" cy="103435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1616415" cy="1034288"/>
            </a:xfrm>
            <a:custGeom>
              <a:avLst/>
              <a:gdLst/>
              <a:ahLst/>
              <a:cxnLst/>
              <a:rect r="r" b="b" t="t" l="l"/>
              <a:pathLst>
                <a:path h="10342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288"/>
                  </a:lnTo>
                  <a:lnTo>
                    <a:pt x="0" y="1034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6947" r="0" b="-356953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921639" y="7645680"/>
            <a:ext cx="16212312" cy="775764"/>
            <a:chOff x="0" y="0"/>
            <a:chExt cx="21616416" cy="1034351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1616415" cy="1034347"/>
            </a:xfrm>
            <a:custGeom>
              <a:avLst/>
              <a:gdLst/>
              <a:ahLst/>
              <a:cxnLst/>
              <a:rect r="r" b="b" t="t" l="l"/>
              <a:pathLst>
                <a:path h="1034347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347"/>
                  </a:lnTo>
                  <a:lnTo>
                    <a:pt x="0" y="103434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7210" r="0" b="-35721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0"/>
              <a:ext cx="21616416" cy="1034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App</a:t>
              </a:r>
              <a:r>
                <a:rPr lang="en-US" sz="2149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</a:t>
              </a:r>
              <a:r>
                <a:rPr lang="en-US" sz="2149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store</a:t>
              </a:r>
              <a:r>
                <a:rPr lang="en-US" sz="2149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</a:t>
              </a:r>
              <a:r>
                <a:rPr lang="en-US" sz="2149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traction:</a:t>
              </a:r>
              <a:r>
                <a:rPr lang="en-US" sz="2149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72 Android downloads and 54 iOS downloads achieved within the first 2 weeks of availability, both rated a perfect 5.0 stars with no negative reviews.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21639" y="8633232"/>
            <a:ext cx="16212312" cy="775764"/>
            <a:chOff x="0" y="0"/>
            <a:chExt cx="21616416" cy="1034351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1616415" cy="1034288"/>
            </a:xfrm>
            <a:custGeom>
              <a:avLst/>
              <a:gdLst/>
              <a:ahLst/>
              <a:cxnLst/>
              <a:rect r="r" b="b" t="t" l="l"/>
              <a:pathLst>
                <a:path h="10342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288"/>
                  </a:lnTo>
                  <a:lnTo>
                    <a:pt x="0" y="1034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6947" r="0" b="-356953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21639" y="8633232"/>
            <a:ext cx="16212312" cy="775760"/>
            <a:chOff x="0" y="0"/>
            <a:chExt cx="21616416" cy="1034347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1616415" cy="1034342"/>
            </a:xfrm>
            <a:custGeom>
              <a:avLst/>
              <a:gdLst/>
              <a:ahLst/>
              <a:cxnLst/>
              <a:rect r="r" b="b" t="t" l="l"/>
              <a:pathLst>
                <a:path h="1034342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342"/>
                  </a:lnTo>
                  <a:lnTo>
                    <a:pt x="0" y="103434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7211" r="0" b="-357212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21616416" cy="1034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Zero</a:t>
              </a:r>
              <a:r>
                <a:rPr lang="en-US" sz="2149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</a:t>
              </a:r>
              <a:r>
                <a:rPr lang="en-US" sz="2149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compliance breaches:</a:t>
              </a:r>
              <a:r>
                <a:rPr lang="en-US" sz="2149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automated KYC controls successfully identified and rejected 5 ineligible applicants (age restrictions, expired documents), demonstrating robust regulatory adherence from day one.</a:t>
              </a:r>
            </a:p>
          </p:txBody>
        </p:sp>
      </p:grpSp>
      <p:sp>
        <p:nvSpPr>
          <p:cNvPr name="Freeform 135" id="135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36" id="136"/>
          <p:cNvGrpSpPr/>
          <p:nvPr/>
        </p:nvGrpSpPr>
        <p:grpSpPr>
          <a:xfrm rot="0">
            <a:off x="15441806" y="505082"/>
            <a:ext cx="1817494" cy="523618"/>
            <a:chOff x="0" y="0"/>
            <a:chExt cx="2423325" cy="698157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74" r="-1" b="-80"/>
              </a:stretch>
            </a:blipFill>
          </p:spPr>
        </p:sp>
      </p:grpSp>
      <p:sp>
        <p:nvSpPr>
          <p:cNvPr name="Freeform 138" id="138"/>
          <p:cNvSpPr/>
          <p:nvPr/>
        </p:nvSpPr>
        <p:spPr>
          <a:xfrm flipH="false" flipV="false" rot="0">
            <a:off x="528066" y="5955106"/>
            <a:ext cx="278092" cy="243335"/>
          </a:xfrm>
          <a:custGeom>
            <a:avLst/>
            <a:gdLst/>
            <a:ahLst/>
            <a:cxnLst/>
            <a:rect r="r" b="b" t="t" l="l"/>
            <a:pathLst>
              <a:path h="243335" w="278092">
                <a:moveTo>
                  <a:pt x="0" y="0"/>
                </a:moveTo>
                <a:lnTo>
                  <a:pt x="278092" y="0"/>
                </a:lnTo>
                <a:lnTo>
                  <a:pt x="278092" y="243335"/>
                </a:lnTo>
                <a:lnTo>
                  <a:pt x="0" y="24333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9" id="139"/>
          <p:cNvSpPr/>
          <p:nvPr/>
        </p:nvSpPr>
        <p:spPr>
          <a:xfrm flipH="false" flipV="false" rot="0">
            <a:off x="528066" y="7767752"/>
            <a:ext cx="278092" cy="243335"/>
          </a:xfrm>
          <a:custGeom>
            <a:avLst/>
            <a:gdLst/>
            <a:ahLst/>
            <a:cxnLst/>
            <a:rect r="r" b="b" t="t" l="l"/>
            <a:pathLst>
              <a:path h="243335" w="278092">
                <a:moveTo>
                  <a:pt x="0" y="0"/>
                </a:moveTo>
                <a:lnTo>
                  <a:pt x="278092" y="0"/>
                </a:lnTo>
                <a:lnTo>
                  <a:pt x="278092" y="243336"/>
                </a:lnTo>
                <a:lnTo>
                  <a:pt x="0" y="2433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0" id="140"/>
          <p:cNvSpPr/>
          <p:nvPr/>
        </p:nvSpPr>
        <p:spPr>
          <a:xfrm flipH="false" flipV="false" rot="0">
            <a:off x="528066" y="8763553"/>
            <a:ext cx="278092" cy="243335"/>
          </a:xfrm>
          <a:custGeom>
            <a:avLst/>
            <a:gdLst/>
            <a:ahLst/>
            <a:cxnLst/>
            <a:rect r="r" b="b" t="t" l="l"/>
            <a:pathLst>
              <a:path h="243335" w="278092">
                <a:moveTo>
                  <a:pt x="0" y="0"/>
                </a:moveTo>
                <a:lnTo>
                  <a:pt x="278092" y="0"/>
                </a:lnTo>
                <a:lnTo>
                  <a:pt x="278092" y="243335"/>
                </a:lnTo>
                <a:lnTo>
                  <a:pt x="0" y="24333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1" id="141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616" t="0" r="-20616" b="0"/>
              </a:stretch>
            </a:blip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46870" y="3513596"/>
            <a:ext cx="3996690" cy="1329214"/>
            <a:chOff x="0" y="0"/>
            <a:chExt cx="5328920" cy="1772285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9525"/>
              <a:ext cx="53289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1762760"/>
                  </a:lnTo>
                  <a:lnTo>
                    <a:pt x="0" y="1762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45" id="145"/>
            <p:cNvGrpSpPr/>
            <p:nvPr/>
          </p:nvGrpSpPr>
          <p:grpSpPr>
            <a:xfrm rot="0">
              <a:off x="195580" y="9525"/>
              <a:ext cx="4937760" cy="1043140"/>
              <a:chOff x="0" y="0"/>
              <a:chExt cx="4937760" cy="1043140"/>
            </a:xfrm>
          </p:grpSpPr>
          <p:sp>
            <p:nvSpPr>
              <p:cNvPr name="Freeform 146" id="146"/>
              <p:cNvSpPr/>
              <p:nvPr/>
            </p:nvSpPr>
            <p:spPr>
              <a:xfrm flipH="false" flipV="false" rot="0">
                <a:off x="0" y="0"/>
                <a:ext cx="4937760" cy="1043178"/>
              </a:xfrm>
              <a:custGeom>
                <a:avLst/>
                <a:gdLst/>
                <a:ahLst/>
                <a:cxnLst/>
                <a:rect r="r" b="b" t="t" l="l"/>
                <a:pathLst>
                  <a:path h="1043178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1043178"/>
                    </a:lnTo>
                    <a:lnTo>
                      <a:pt x="0" y="1043178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42167" r="0" b="-42164"/>
                </a:stretch>
              </a:blipFill>
            </p:spPr>
          </p:sp>
        </p:grpSp>
        <p:grpSp>
          <p:nvGrpSpPr>
            <p:cNvPr name="Group 147" id="147"/>
            <p:cNvGrpSpPr/>
            <p:nvPr/>
          </p:nvGrpSpPr>
          <p:grpSpPr>
            <a:xfrm rot="0">
              <a:off x="195580" y="0"/>
              <a:ext cx="4937760" cy="1052669"/>
              <a:chOff x="0" y="0"/>
              <a:chExt cx="4937760" cy="1052669"/>
            </a:xfrm>
          </p:grpSpPr>
          <p:sp>
            <p:nvSpPr>
              <p:cNvPr name="Freeform 148" id="148"/>
              <p:cNvSpPr/>
              <p:nvPr/>
            </p:nvSpPr>
            <p:spPr>
              <a:xfrm flipH="false" flipV="false" rot="0">
                <a:off x="0" y="0"/>
                <a:ext cx="4937760" cy="1052673"/>
              </a:xfrm>
              <a:custGeom>
                <a:avLst/>
                <a:gdLst/>
                <a:ahLst/>
                <a:cxnLst/>
                <a:rect r="r" b="b" t="t" l="l"/>
                <a:pathLst>
                  <a:path h="1052673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1052673"/>
                    </a:lnTo>
                    <a:lnTo>
                      <a:pt x="0" y="1052673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41398" r="0" b="-41397"/>
                </a:stretch>
              </a:blipFill>
            </p:spPr>
          </p:sp>
          <p:sp>
            <p:nvSpPr>
              <p:cNvPr name="TextBox 149" id="149"/>
              <p:cNvSpPr txBox="true"/>
              <p:nvPr/>
            </p:nvSpPr>
            <p:spPr>
              <a:xfrm>
                <a:off x="0" y="-9525"/>
                <a:ext cx="4937760" cy="10621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438"/>
                  </a:lnSpc>
                </a:pPr>
                <a:r>
                  <a:rPr lang="en-US" b="true" sz="3699">
                    <a:gradFill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  <a:latin typeface="Exo 2 Bold"/>
                    <a:ea typeface="Exo 2 Bold"/>
                    <a:cs typeface="Exo 2 Bold"/>
                    <a:sym typeface="Exo 2 Bold"/>
                  </a:rPr>
                  <a:t>$ 6.00</a:t>
                </a:r>
              </a:p>
            </p:txBody>
          </p:sp>
        </p:grpSp>
        <p:grpSp>
          <p:nvGrpSpPr>
            <p:cNvPr name="Group 150" id="150"/>
            <p:cNvGrpSpPr/>
            <p:nvPr/>
          </p:nvGrpSpPr>
          <p:grpSpPr>
            <a:xfrm rot="0">
              <a:off x="195580" y="953795"/>
              <a:ext cx="4937760" cy="451714"/>
              <a:chOff x="0" y="0"/>
              <a:chExt cx="4937760" cy="451714"/>
            </a:xfrm>
          </p:grpSpPr>
          <p:sp>
            <p:nvSpPr>
              <p:cNvPr name="Freeform 151" id="151"/>
              <p:cNvSpPr/>
              <p:nvPr/>
            </p:nvSpPr>
            <p:spPr>
              <a:xfrm flipH="false" flipV="false" rot="0">
                <a:off x="0" y="0"/>
                <a:ext cx="4937760" cy="451739"/>
              </a:xfrm>
              <a:custGeom>
                <a:avLst/>
                <a:gdLst/>
                <a:ahLst/>
                <a:cxnLst/>
                <a:rect r="r" b="b" t="t" l="l"/>
                <a:pathLst>
                  <a:path h="451739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451739"/>
                    </a:lnTo>
                    <a:lnTo>
                      <a:pt x="0" y="451739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162836" r="0" b="-162831"/>
                </a:stretch>
              </a:blipFill>
            </p:spPr>
          </p:sp>
        </p:grpSp>
        <p:grpSp>
          <p:nvGrpSpPr>
            <p:cNvPr name="Group 152" id="152"/>
            <p:cNvGrpSpPr/>
            <p:nvPr/>
          </p:nvGrpSpPr>
          <p:grpSpPr>
            <a:xfrm rot="0">
              <a:off x="195580" y="944270"/>
              <a:ext cx="4937760" cy="461238"/>
              <a:chOff x="0" y="0"/>
              <a:chExt cx="4937760" cy="461238"/>
            </a:xfrm>
          </p:grpSpPr>
          <p:sp>
            <p:nvSpPr>
              <p:cNvPr name="Freeform 153" id="153"/>
              <p:cNvSpPr/>
              <p:nvPr/>
            </p:nvSpPr>
            <p:spPr>
              <a:xfrm flipH="false" flipV="false" rot="0">
                <a:off x="0" y="0"/>
                <a:ext cx="4937760" cy="461238"/>
              </a:xfrm>
              <a:custGeom>
                <a:avLst/>
                <a:gdLst/>
                <a:ahLst/>
                <a:cxnLst/>
                <a:rect r="r" b="b" t="t" l="l"/>
                <a:pathLst>
                  <a:path h="461238" w="4937760">
                    <a:moveTo>
                      <a:pt x="0" y="0"/>
                    </a:moveTo>
                    <a:lnTo>
                      <a:pt x="4937760" y="0"/>
                    </a:lnTo>
                    <a:lnTo>
                      <a:pt x="4937760" y="461238"/>
                    </a:lnTo>
                    <a:lnTo>
                      <a:pt x="0" y="461238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58596" r="0" b="-158596"/>
                </a:stretch>
              </a:blipFill>
            </p:spPr>
          </p:sp>
          <p:sp>
            <p:nvSpPr>
              <p:cNvPr name="TextBox 154" id="154"/>
              <p:cNvSpPr txBox="true"/>
              <p:nvPr/>
            </p:nvSpPr>
            <p:spPr>
              <a:xfrm>
                <a:off x="0" y="-9525"/>
                <a:ext cx="4937760" cy="47076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918"/>
                  </a:lnSpc>
                </a:pPr>
                <a:r>
                  <a:rPr lang="en-US" sz="1599">
                    <a:solidFill>
                      <a:srgbClr val="111C37"/>
                    </a:solidFill>
                    <a:latin typeface="Exo 2"/>
                    <a:ea typeface="Exo 2"/>
                    <a:cs typeface="Exo 2"/>
                    <a:sym typeface="Exo 2"/>
                  </a:rPr>
                  <a:t>Total Revenue Generated</a:t>
                </a:r>
              </a:p>
            </p:txBody>
          </p:sp>
        </p:grpSp>
      </p:grpSp>
      <p:grpSp>
        <p:nvGrpSpPr>
          <p:cNvPr name="Group 155" id="155"/>
          <p:cNvGrpSpPr/>
          <p:nvPr/>
        </p:nvGrpSpPr>
        <p:grpSpPr>
          <a:xfrm rot="0">
            <a:off x="9393555" y="4484432"/>
            <a:ext cx="3703320" cy="328099"/>
            <a:chOff x="0" y="0"/>
            <a:chExt cx="4937760" cy="437465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937760" cy="437466"/>
            </a:xfrm>
            <a:custGeom>
              <a:avLst/>
              <a:gdLst/>
              <a:ahLst/>
              <a:cxnLst/>
              <a:rect r="r" b="b" t="t" l="l"/>
              <a:pathLst>
                <a:path h="43746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37466"/>
                  </a:lnTo>
                  <a:lnTo>
                    <a:pt x="0" y="43746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9931" r="0" b="-169931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9525"/>
              <a:ext cx="4937760" cy="446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558"/>
                </a:lnSpc>
                <a:spcBef>
                  <a:spcPct val="0"/>
                </a:spcBef>
              </a:pPr>
              <a:r>
                <a:rPr lang="en-US" sz="1299" i="true" strike="noStrike" u="none">
                  <a:solidFill>
                    <a:srgbClr val="1A7A4A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(14–31 May)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227" y="492700"/>
            <a:ext cx="10629900" cy="994324"/>
            <a:chOff x="0" y="0"/>
            <a:chExt cx="14173200" cy="13257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73200" cy="1325753"/>
            </a:xfrm>
            <a:custGeom>
              <a:avLst/>
              <a:gdLst/>
              <a:ahLst/>
              <a:cxnLst/>
              <a:rect r="r" b="b" t="t" l="l"/>
              <a:pathLst>
                <a:path h="1325753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325753"/>
                  </a:lnTo>
                  <a:lnTo>
                    <a:pt x="0" y="13257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62" r="0" b="-1581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3227" y="486547"/>
            <a:ext cx="10629900" cy="1000477"/>
            <a:chOff x="0" y="0"/>
            <a:chExt cx="14173200" cy="13339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173200" cy="1333969"/>
            </a:xfrm>
            <a:custGeom>
              <a:avLst/>
              <a:gdLst/>
              <a:ahLst/>
              <a:cxnLst/>
              <a:rect r="r" b="b" t="t" l="l"/>
              <a:pathLst>
                <a:path h="1333969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333969"/>
                  </a:lnTo>
                  <a:lnTo>
                    <a:pt x="0" y="13339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025" r="0" b="-1570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173200" cy="1343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40"/>
                </a:lnSpc>
              </a:pPr>
              <a:r>
                <a:rPr lang="en-US" b="true" sz="47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Onboarding &amp; Funnel Integrity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48775" y="1567815"/>
            <a:ext cx="3998595" cy="1527810"/>
            <a:chOff x="0" y="0"/>
            <a:chExt cx="3603590" cy="13768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03590" cy="1376884"/>
            </a:xfrm>
            <a:custGeom>
              <a:avLst/>
              <a:gdLst/>
              <a:ahLst/>
              <a:cxnLst/>
              <a:rect r="r" b="b" t="t" l="l"/>
              <a:pathLst>
                <a:path h="1376884" w="3603590">
                  <a:moveTo>
                    <a:pt x="0" y="0"/>
                  </a:moveTo>
                  <a:lnTo>
                    <a:pt x="3603590" y="0"/>
                  </a:lnTo>
                  <a:lnTo>
                    <a:pt x="3603590" y="1376884"/>
                  </a:lnTo>
                  <a:lnTo>
                    <a:pt x="0" y="137688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640752" y="1567815"/>
            <a:ext cx="3998595" cy="1527810"/>
            <a:chOff x="0" y="0"/>
            <a:chExt cx="3603590" cy="13768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03590" cy="1376884"/>
            </a:xfrm>
            <a:custGeom>
              <a:avLst/>
              <a:gdLst/>
              <a:ahLst/>
              <a:cxnLst/>
              <a:rect r="r" b="b" t="t" l="l"/>
              <a:pathLst>
                <a:path h="1376884" w="3603590">
                  <a:moveTo>
                    <a:pt x="0" y="0"/>
                  </a:moveTo>
                  <a:lnTo>
                    <a:pt x="3603590" y="0"/>
                  </a:lnTo>
                  <a:lnTo>
                    <a:pt x="3603590" y="1376884"/>
                  </a:lnTo>
                  <a:lnTo>
                    <a:pt x="0" y="137688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850130" y="1567815"/>
            <a:ext cx="3998595" cy="1527810"/>
            <a:chOff x="0" y="0"/>
            <a:chExt cx="3603590" cy="13768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03590" cy="1376884"/>
            </a:xfrm>
            <a:custGeom>
              <a:avLst/>
              <a:gdLst/>
              <a:ahLst/>
              <a:cxnLst/>
              <a:rect r="r" b="b" t="t" l="l"/>
              <a:pathLst>
                <a:path h="1376884" w="3603590">
                  <a:moveTo>
                    <a:pt x="0" y="0"/>
                  </a:moveTo>
                  <a:lnTo>
                    <a:pt x="3603590" y="0"/>
                  </a:lnTo>
                  <a:lnTo>
                    <a:pt x="3603590" y="1376884"/>
                  </a:lnTo>
                  <a:lnTo>
                    <a:pt x="0" y="137688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480060" y="1567815"/>
            <a:ext cx="3998595" cy="1527810"/>
            <a:chOff x="0" y="0"/>
            <a:chExt cx="3603590" cy="13768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03590" cy="1376884"/>
            </a:xfrm>
            <a:custGeom>
              <a:avLst/>
              <a:gdLst/>
              <a:ahLst/>
              <a:cxnLst/>
              <a:rect r="r" b="b" t="t" l="l"/>
              <a:pathLst>
                <a:path h="1376884" w="3603590">
                  <a:moveTo>
                    <a:pt x="0" y="0"/>
                  </a:moveTo>
                  <a:lnTo>
                    <a:pt x="3603590" y="0"/>
                  </a:lnTo>
                  <a:lnTo>
                    <a:pt x="3603590" y="1376884"/>
                  </a:lnTo>
                  <a:lnTo>
                    <a:pt x="0" y="1376884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17220" y="1721587"/>
            <a:ext cx="3703320" cy="797843"/>
            <a:chOff x="0" y="0"/>
            <a:chExt cx="4937760" cy="10637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37760" cy="1063752"/>
            </a:xfrm>
            <a:custGeom>
              <a:avLst/>
              <a:gdLst/>
              <a:ahLst/>
              <a:cxnLst/>
              <a:rect r="r" b="b" t="t" l="l"/>
              <a:pathLst>
                <a:path h="106375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63752"/>
                  </a:lnTo>
                  <a:lnTo>
                    <a:pt x="0" y="1063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82" r="0" b="-4038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17220" y="1714443"/>
            <a:ext cx="3703320" cy="804986"/>
            <a:chOff x="0" y="0"/>
            <a:chExt cx="4937760" cy="10733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37760" cy="1073310"/>
            </a:xfrm>
            <a:custGeom>
              <a:avLst/>
              <a:gdLst/>
              <a:ahLst/>
              <a:cxnLst/>
              <a:rect r="r" b="b" t="t" l="l"/>
              <a:pathLst>
                <a:path h="107331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73310"/>
                  </a:lnTo>
                  <a:lnTo>
                    <a:pt x="0" y="10733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40" r="0" b="-3964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4937760" cy="1082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17220" y="2407768"/>
            <a:ext cx="3703320" cy="392278"/>
            <a:chOff x="0" y="0"/>
            <a:chExt cx="4937760" cy="523037"/>
          </a:xfrm>
        </p:grpSpPr>
        <p:sp>
          <p:nvSpPr>
            <p:cNvPr name="Freeform 21" id="21" descr="shorten this and make it more cohesive "/>
            <p:cNvSpPr/>
            <p:nvPr/>
          </p:nvSpPr>
          <p:spPr>
            <a:xfrm flipH="false" flipV="false" rot="0">
              <a:off x="0" y="0"/>
              <a:ext cx="4937760" cy="522986"/>
            </a:xfrm>
            <a:custGeom>
              <a:avLst/>
              <a:gdLst/>
              <a:ahLst/>
              <a:cxnLst/>
              <a:rect r="r" b="b" t="t" l="l"/>
              <a:pathLst>
                <a:path h="52298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22986"/>
                  </a:lnTo>
                  <a:lnTo>
                    <a:pt x="0" y="5229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834" r="0" b="-13384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17220" y="2400624"/>
            <a:ext cx="3703320" cy="399421"/>
            <a:chOff x="0" y="0"/>
            <a:chExt cx="4937760" cy="5325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37760" cy="532561"/>
            </a:xfrm>
            <a:custGeom>
              <a:avLst/>
              <a:gdLst/>
              <a:ahLst/>
              <a:cxnLst/>
              <a:rect r="r" b="b" t="t" l="l"/>
              <a:pathLst>
                <a:path h="532561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32561"/>
                  </a:lnTo>
                  <a:lnTo>
                    <a:pt x="0" y="5325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659" r="0" b="-1306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4937760" cy="542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8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Customers Who Completed KYC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006340" y="1721587"/>
            <a:ext cx="3703320" cy="797843"/>
            <a:chOff x="0" y="0"/>
            <a:chExt cx="4937760" cy="10637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37760" cy="1063752"/>
            </a:xfrm>
            <a:custGeom>
              <a:avLst/>
              <a:gdLst/>
              <a:ahLst/>
              <a:cxnLst/>
              <a:rect r="r" b="b" t="t" l="l"/>
              <a:pathLst>
                <a:path h="106375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63752"/>
                  </a:lnTo>
                  <a:lnTo>
                    <a:pt x="0" y="1063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82" r="0" b="-40384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006340" y="1714443"/>
            <a:ext cx="3703320" cy="804986"/>
            <a:chOff x="0" y="0"/>
            <a:chExt cx="4937760" cy="10733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37760" cy="1073310"/>
            </a:xfrm>
            <a:custGeom>
              <a:avLst/>
              <a:gdLst/>
              <a:ahLst/>
              <a:cxnLst/>
              <a:rect r="r" b="b" t="t" l="l"/>
              <a:pathLst>
                <a:path h="107331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73310"/>
                  </a:lnTo>
                  <a:lnTo>
                    <a:pt x="0" y="10733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40" r="0" b="-3964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937760" cy="1082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100 %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006340" y="2519429"/>
            <a:ext cx="3703320" cy="392278"/>
            <a:chOff x="0" y="0"/>
            <a:chExt cx="4937760" cy="5230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37760" cy="522986"/>
            </a:xfrm>
            <a:custGeom>
              <a:avLst/>
              <a:gdLst/>
              <a:ahLst/>
              <a:cxnLst/>
              <a:rect r="r" b="b" t="t" l="l"/>
              <a:pathLst>
                <a:path h="52298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22986"/>
                  </a:lnTo>
                  <a:lnTo>
                    <a:pt x="0" y="5229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834" r="0" b="-133844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006340" y="2512285"/>
            <a:ext cx="3703320" cy="399421"/>
            <a:chOff x="0" y="0"/>
            <a:chExt cx="4937760" cy="53256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7760" cy="532561"/>
            </a:xfrm>
            <a:custGeom>
              <a:avLst/>
              <a:gdLst/>
              <a:ahLst/>
              <a:cxnLst/>
              <a:rect r="r" b="b" t="t" l="l"/>
              <a:pathLst>
                <a:path h="532561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32561"/>
                  </a:lnTo>
                  <a:lnTo>
                    <a:pt x="0" y="5325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659" r="0" b="-13066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4937760" cy="542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8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KYC First-Pass Rate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95460" y="1721587"/>
            <a:ext cx="3703320" cy="797843"/>
            <a:chOff x="0" y="0"/>
            <a:chExt cx="4937760" cy="10637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37760" cy="1063752"/>
            </a:xfrm>
            <a:custGeom>
              <a:avLst/>
              <a:gdLst/>
              <a:ahLst/>
              <a:cxnLst/>
              <a:rect r="r" b="b" t="t" l="l"/>
              <a:pathLst>
                <a:path h="106375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63752"/>
                  </a:lnTo>
                  <a:lnTo>
                    <a:pt x="0" y="1063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82" r="0" b="-40384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395460" y="1714443"/>
            <a:ext cx="3703320" cy="804986"/>
            <a:chOff x="0" y="0"/>
            <a:chExt cx="4937760" cy="10733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37760" cy="1073310"/>
            </a:xfrm>
            <a:custGeom>
              <a:avLst/>
              <a:gdLst/>
              <a:ahLst/>
              <a:cxnLst/>
              <a:rect r="r" b="b" t="t" l="l"/>
              <a:pathLst>
                <a:path h="107331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73310"/>
                  </a:lnTo>
                  <a:lnTo>
                    <a:pt x="0" y="10733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40" r="0" b="-3964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937760" cy="1082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95460" y="2519429"/>
            <a:ext cx="3703320" cy="392278"/>
            <a:chOff x="0" y="0"/>
            <a:chExt cx="4937760" cy="52303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37760" cy="522986"/>
            </a:xfrm>
            <a:custGeom>
              <a:avLst/>
              <a:gdLst/>
              <a:ahLst/>
              <a:cxnLst/>
              <a:rect r="r" b="b" t="t" l="l"/>
              <a:pathLst>
                <a:path h="52298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22986"/>
                  </a:lnTo>
                  <a:lnTo>
                    <a:pt x="0" y="5229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834" r="0" b="-133844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395460" y="2512285"/>
            <a:ext cx="3703320" cy="399421"/>
            <a:chOff x="0" y="0"/>
            <a:chExt cx="4937760" cy="53256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37760" cy="532561"/>
            </a:xfrm>
            <a:custGeom>
              <a:avLst/>
              <a:gdLst/>
              <a:ahLst/>
              <a:cxnLst/>
              <a:rect r="r" b="b" t="t" l="l"/>
              <a:pathLst>
                <a:path h="532561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32561"/>
                  </a:lnTo>
                  <a:lnTo>
                    <a:pt x="0" y="5325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659" r="0" b="-13066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4937760" cy="542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8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Approved &amp; Onboarded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784580" y="1721587"/>
            <a:ext cx="3703320" cy="797843"/>
            <a:chOff x="0" y="0"/>
            <a:chExt cx="4937760" cy="106379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937760" cy="1063752"/>
            </a:xfrm>
            <a:custGeom>
              <a:avLst/>
              <a:gdLst/>
              <a:ahLst/>
              <a:cxnLst/>
              <a:rect r="r" b="b" t="t" l="l"/>
              <a:pathLst>
                <a:path h="106375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63752"/>
                  </a:lnTo>
                  <a:lnTo>
                    <a:pt x="0" y="1063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82" r="0" b="-40384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784580" y="1714443"/>
            <a:ext cx="3703320" cy="804986"/>
            <a:chOff x="0" y="0"/>
            <a:chExt cx="4937760" cy="107331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37760" cy="1073310"/>
            </a:xfrm>
            <a:custGeom>
              <a:avLst/>
              <a:gdLst/>
              <a:ahLst/>
              <a:cxnLst/>
              <a:rect r="r" b="b" t="t" l="l"/>
              <a:pathLst>
                <a:path h="107331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73310"/>
                  </a:lnTo>
                  <a:lnTo>
                    <a:pt x="0" y="10733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40" r="0" b="-3964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4937760" cy="1082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80060" y="3401568"/>
            <a:ext cx="8229600" cy="414404"/>
            <a:chOff x="0" y="0"/>
            <a:chExt cx="10972800" cy="55253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552577"/>
            </a:xfrm>
            <a:custGeom>
              <a:avLst/>
              <a:gdLst/>
              <a:ahLst/>
              <a:cxnLst/>
              <a:rect r="r" b="b" t="t" l="l"/>
              <a:pathLst>
                <a:path h="552577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52577"/>
                  </a:lnTo>
                  <a:lnTo>
                    <a:pt x="0" y="552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658" r="0" b="-33665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80060" y="3401568"/>
            <a:ext cx="8229600" cy="414404"/>
            <a:chOff x="0" y="0"/>
            <a:chExt cx="10972800" cy="55253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552535"/>
            </a:xfrm>
            <a:custGeom>
              <a:avLst/>
              <a:gdLst/>
              <a:ahLst/>
              <a:cxnLst/>
              <a:rect r="r" b="b" t="t" l="l"/>
              <a:pathLst>
                <a:path h="55253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52535"/>
                  </a:lnTo>
                  <a:lnTo>
                    <a:pt x="0" y="5525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6953" r="0" b="-33695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0972800" cy="55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Onboarding Funnel</a:t>
              </a:r>
            </a:p>
          </p:txBody>
        </p:sp>
      </p:grpSp>
      <p:graphicFrame>
        <p:nvGraphicFramePr>
          <p:cNvPr name="Table 55" id="55"/>
          <p:cNvGraphicFramePr>
            <a:graphicFrameLocks noGrp="true"/>
          </p:cNvGraphicFramePr>
          <p:nvPr/>
        </p:nvGraphicFramePr>
        <p:xfrm>
          <a:off x="480060" y="3867912"/>
          <a:ext cx="8305800" cy="2286000"/>
        </p:xfrm>
        <a:graphic>
          <a:graphicData uri="http://schemas.openxmlformats.org/drawingml/2006/table">
            <a:tbl>
              <a:tblPr/>
              <a:tblGrid>
                <a:gridCol w="3800692"/>
                <a:gridCol w="2252554"/>
                <a:gridCol w="2252554"/>
              </a:tblGrid>
              <a:tr h="5715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Requests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Count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% of Total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Total Onboarding Requests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62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KYC Completion 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KYC Incompletion 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82%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56" id="56"/>
          <p:cNvGrpSpPr/>
          <p:nvPr/>
        </p:nvGrpSpPr>
        <p:grpSpPr>
          <a:xfrm rot="0">
            <a:off x="9121140" y="3401568"/>
            <a:ext cx="8229600" cy="414404"/>
            <a:chOff x="0" y="0"/>
            <a:chExt cx="10972800" cy="55253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552577"/>
            </a:xfrm>
            <a:custGeom>
              <a:avLst/>
              <a:gdLst/>
              <a:ahLst/>
              <a:cxnLst/>
              <a:rect r="r" b="b" t="t" l="l"/>
              <a:pathLst>
                <a:path h="552577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52577"/>
                  </a:lnTo>
                  <a:lnTo>
                    <a:pt x="0" y="552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658" r="0" b="-336651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121140" y="3401568"/>
            <a:ext cx="8229600" cy="414401"/>
            <a:chOff x="0" y="0"/>
            <a:chExt cx="10972800" cy="55253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552530"/>
            </a:xfrm>
            <a:custGeom>
              <a:avLst/>
              <a:gdLst/>
              <a:ahLst/>
              <a:cxnLst/>
              <a:rect r="r" b="b" t="t" l="l"/>
              <a:pathLst>
                <a:path h="55253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52530"/>
                  </a:lnTo>
                  <a:lnTo>
                    <a:pt x="0" y="5525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6956" r="0" b="-3369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0972800" cy="552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Rejection Analysis (Top Reasons)</a:t>
              </a:r>
            </a:p>
          </p:txBody>
        </p:sp>
      </p:grpSp>
      <p:graphicFrame>
        <p:nvGraphicFramePr>
          <p:cNvPr name="Table 61" id="61"/>
          <p:cNvGraphicFramePr>
            <a:graphicFrameLocks noGrp="true"/>
          </p:cNvGraphicFramePr>
          <p:nvPr/>
        </p:nvGraphicFramePr>
        <p:xfrm>
          <a:off x="9121140" y="3867912"/>
          <a:ext cx="8318500" cy="1714500"/>
        </p:xfrm>
        <a:graphic>
          <a:graphicData uri="http://schemas.openxmlformats.org/drawingml/2006/table">
            <a:tbl>
              <a:tblPr/>
              <a:tblGrid>
                <a:gridCol w="4615483"/>
                <a:gridCol w="1851508"/>
                <a:gridCol w="1851508"/>
              </a:tblGrid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Rejection Reason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Count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Age Restriction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80%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Expired Documents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name="Freeform 62" id="62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5441806" y="505082"/>
            <a:ext cx="1817494" cy="523618"/>
            <a:chOff x="0" y="0"/>
            <a:chExt cx="2423325" cy="69815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74" r="-1" b="-8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788390" y="2519429"/>
            <a:ext cx="3703320" cy="392278"/>
            <a:chOff x="0" y="0"/>
            <a:chExt cx="4937760" cy="52303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937760" cy="522986"/>
            </a:xfrm>
            <a:custGeom>
              <a:avLst/>
              <a:gdLst/>
              <a:ahLst/>
              <a:cxnLst/>
              <a:rect r="r" b="b" t="t" l="l"/>
              <a:pathLst>
                <a:path h="52298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22986"/>
                  </a:lnTo>
                  <a:lnTo>
                    <a:pt x="0" y="5229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834" r="0" b="-133844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788390" y="2512285"/>
            <a:ext cx="3703320" cy="399421"/>
            <a:chOff x="0" y="0"/>
            <a:chExt cx="4937760" cy="53256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937760" cy="532561"/>
            </a:xfrm>
            <a:custGeom>
              <a:avLst/>
              <a:gdLst/>
              <a:ahLst/>
              <a:cxnLst/>
              <a:rect r="r" b="b" t="t" l="l"/>
              <a:pathLst>
                <a:path h="532561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32561"/>
                  </a:lnTo>
                  <a:lnTo>
                    <a:pt x="0" y="5325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659" r="0" b="-13066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937760" cy="542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8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Funded Gap (Not Invested)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21140" y="5855465"/>
            <a:ext cx="8229600" cy="414404"/>
            <a:chOff x="0" y="0"/>
            <a:chExt cx="10972800" cy="55253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0" cy="552577"/>
            </a:xfrm>
            <a:custGeom>
              <a:avLst/>
              <a:gdLst/>
              <a:ahLst/>
              <a:cxnLst/>
              <a:rect r="r" b="b" t="t" l="l"/>
              <a:pathLst>
                <a:path h="552577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52577"/>
                  </a:lnTo>
                  <a:lnTo>
                    <a:pt x="0" y="552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658" r="0" b="-336651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121140" y="5855465"/>
            <a:ext cx="8229600" cy="414401"/>
            <a:chOff x="0" y="0"/>
            <a:chExt cx="10972800" cy="55253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72800" cy="552530"/>
            </a:xfrm>
            <a:custGeom>
              <a:avLst/>
              <a:gdLst/>
              <a:ahLst/>
              <a:cxnLst/>
              <a:rect r="r" b="b" t="t" l="l"/>
              <a:pathLst>
                <a:path h="55253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52530"/>
                  </a:lnTo>
                  <a:lnTo>
                    <a:pt x="0" y="5525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6956" r="0" b="-33695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10972800" cy="552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KYC Completion Gap (User Exit Points)</a:t>
              </a:r>
            </a:p>
          </p:txBody>
        </p:sp>
      </p:grpSp>
      <p:graphicFrame>
        <p:nvGraphicFramePr>
          <p:cNvPr name="Table 76" id="76"/>
          <p:cNvGraphicFramePr>
            <a:graphicFrameLocks noGrp="true"/>
          </p:cNvGraphicFramePr>
          <p:nvPr/>
        </p:nvGraphicFramePr>
        <p:xfrm>
          <a:off x="9121140" y="6321806"/>
          <a:ext cx="8318500" cy="2868295"/>
        </p:xfrm>
        <a:graphic>
          <a:graphicData uri="http://schemas.openxmlformats.org/drawingml/2006/table">
            <a:tbl>
              <a:tblPr/>
              <a:tblGrid>
                <a:gridCol w="4615483"/>
                <a:gridCol w="1851508"/>
                <a:gridCol w="1851508"/>
              </a:tblGrid>
              <a:tr h="5714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Exit Points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Count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</a:tr>
              <a:tr h="5714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Phone Verification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43%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4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Document Submission (Passport &amp; CPR)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823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Address Verification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4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Others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45%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77" id="77"/>
          <p:cNvGraphicFramePr>
            <a:graphicFrameLocks noGrp="true"/>
          </p:cNvGraphicFramePr>
          <p:nvPr/>
        </p:nvGraphicFramePr>
        <p:xfrm>
          <a:off x="585597" y="6783832"/>
          <a:ext cx="8305800" cy="2286000"/>
        </p:xfrm>
        <a:graphic>
          <a:graphicData uri="http://schemas.openxmlformats.org/drawingml/2006/table">
            <a:tbl>
              <a:tblPr/>
              <a:tblGrid>
                <a:gridCol w="3800692"/>
                <a:gridCol w="2252554"/>
                <a:gridCol w="2252554"/>
              </a:tblGrid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Requests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Count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% of Total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Approved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Rejected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45%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714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Total Requests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78" id="78"/>
          <p:cNvGrpSpPr/>
          <p:nvPr/>
        </p:nvGrpSpPr>
        <p:grpSpPr>
          <a:xfrm rot="0">
            <a:off x="480060" y="6321809"/>
            <a:ext cx="8229600" cy="414404"/>
            <a:chOff x="0" y="0"/>
            <a:chExt cx="10972800" cy="55253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552577"/>
            </a:xfrm>
            <a:custGeom>
              <a:avLst/>
              <a:gdLst/>
              <a:ahLst/>
              <a:cxnLst/>
              <a:rect r="r" b="b" t="t" l="l"/>
              <a:pathLst>
                <a:path h="552577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52577"/>
                  </a:lnTo>
                  <a:lnTo>
                    <a:pt x="0" y="552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658" r="0" b="-336651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80060" y="6321809"/>
            <a:ext cx="8229600" cy="414404"/>
            <a:chOff x="0" y="0"/>
            <a:chExt cx="10972800" cy="55253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72800" cy="552535"/>
            </a:xfrm>
            <a:custGeom>
              <a:avLst/>
              <a:gdLst/>
              <a:ahLst/>
              <a:cxnLst/>
              <a:rect r="r" b="b" t="t" l="l"/>
              <a:pathLst>
                <a:path h="55253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52535"/>
                  </a:lnTo>
                  <a:lnTo>
                    <a:pt x="0" y="5525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6953" r="0" b="-33695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10972800" cy="55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KYC Completion Rate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16" t="0" r="-20616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9057" y="1680948"/>
            <a:ext cx="3762794" cy="1515889"/>
            <a:chOff x="0" y="0"/>
            <a:chExt cx="3391083" cy="13661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1083" cy="1366141"/>
            </a:xfrm>
            <a:custGeom>
              <a:avLst/>
              <a:gdLst/>
              <a:ahLst/>
              <a:cxnLst/>
              <a:rect r="r" b="b" t="t" l="l"/>
              <a:pathLst>
                <a:path h="1366141" w="3391083">
                  <a:moveTo>
                    <a:pt x="0" y="0"/>
                  </a:moveTo>
                  <a:lnTo>
                    <a:pt x="3391083" y="0"/>
                  </a:lnTo>
                  <a:lnTo>
                    <a:pt x="3391083" y="1366141"/>
                  </a:lnTo>
                  <a:lnTo>
                    <a:pt x="0" y="1366141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433327" y="1680948"/>
            <a:ext cx="3762794" cy="1515889"/>
            <a:chOff x="0" y="0"/>
            <a:chExt cx="3391083" cy="13661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91083" cy="1366141"/>
            </a:xfrm>
            <a:custGeom>
              <a:avLst/>
              <a:gdLst/>
              <a:ahLst/>
              <a:cxnLst/>
              <a:rect r="r" b="b" t="t" l="l"/>
              <a:pathLst>
                <a:path h="1366141" w="3391083">
                  <a:moveTo>
                    <a:pt x="0" y="0"/>
                  </a:moveTo>
                  <a:lnTo>
                    <a:pt x="3391083" y="0"/>
                  </a:lnTo>
                  <a:lnTo>
                    <a:pt x="3391083" y="1366141"/>
                  </a:lnTo>
                  <a:lnTo>
                    <a:pt x="0" y="1366141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172485" y="1686908"/>
            <a:ext cx="3762794" cy="1515889"/>
            <a:chOff x="0" y="0"/>
            <a:chExt cx="3391083" cy="13661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1083" cy="1366141"/>
            </a:xfrm>
            <a:custGeom>
              <a:avLst/>
              <a:gdLst/>
              <a:ahLst/>
              <a:cxnLst/>
              <a:rect r="r" b="b" t="t" l="l"/>
              <a:pathLst>
                <a:path h="1366141" w="3391083">
                  <a:moveTo>
                    <a:pt x="0" y="0"/>
                  </a:moveTo>
                  <a:lnTo>
                    <a:pt x="3391083" y="0"/>
                  </a:lnTo>
                  <a:lnTo>
                    <a:pt x="3391083" y="1366141"/>
                  </a:lnTo>
                  <a:lnTo>
                    <a:pt x="0" y="1366141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38215" y="1680948"/>
            <a:ext cx="3762794" cy="1515889"/>
            <a:chOff x="0" y="0"/>
            <a:chExt cx="3391083" cy="13661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91083" cy="1366141"/>
            </a:xfrm>
            <a:custGeom>
              <a:avLst/>
              <a:gdLst/>
              <a:ahLst/>
              <a:cxnLst/>
              <a:rect r="r" b="b" t="t" l="l"/>
              <a:pathLst>
                <a:path h="1366141" w="3391083">
                  <a:moveTo>
                    <a:pt x="0" y="0"/>
                  </a:moveTo>
                  <a:lnTo>
                    <a:pt x="3391083" y="0"/>
                  </a:lnTo>
                  <a:lnTo>
                    <a:pt x="3391083" y="1366141"/>
                  </a:lnTo>
                  <a:lnTo>
                    <a:pt x="0" y="1366141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30529" y="3454013"/>
            <a:ext cx="16141160" cy="1515889"/>
            <a:chOff x="0" y="0"/>
            <a:chExt cx="14546641" cy="13661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546641" cy="1366141"/>
            </a:xfrm>
            <a:custGeom>
              <a:avLst/>
              <a:gdLst/>
              <a:ahLst/>
              <a:cxnLst/>
              <a:rect r="r" b="b" t="t" l="l"/>
              <a:pathLst>
                <a:path h="1366141" w="14546641">
                  <a:moveTo>
                    <a:pt x="0" y="0"/>
                  </a:moveTo>
                  <a:lnTo>
                    <a:pt x="14546641" y="0"/>
                  </a:lnTo>
                  <a:lnTo>
                    <a:pt x="14546641" y="1366141"/>
                  </a:lnTo>
                  <a:lnTo>
                    <a:pt x="0" y="1366141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16" t="0" r="-20616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54380" y="603561"/>
            <a:ext cx="12344400" cy="822855"/>
            <a:chOff x="0" y="0"/>
            <a:chExt cx="16459200" cy="1097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59200" cy="1097153"/>
            </a:xfrm>
            <a:custGeom>
              <a:avLst/>
              <a:gdLst/>
              <a:ahLst/>
              <a:cxnLst/>
              <a:rect r="r" b="b" t="t" l="l"/>
              <a:pathLst>
                <a:path h="1097153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106" r="0" b="-24210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54380" y="596417"/>
            <a:ext cx="12344400" cy="829999"/>
            <a:chOff x="0" y="0"/>
            <a:chExt cx="16459200" cy="11066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459200" cy="1106660"/>
            </a:xfrm>
            <a:custGeom>
              <a:avLst/>
              <a:gdLst/>
              <a:ahLst/>
              <a:cxnLst/>
              <a:rect r="r" b="b" t="t" l="l"/>
              <a:pathLst>
                <a:path h="11066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106660"/>
                  </a:lnTo>
                  <a:lnTo>
                    <a:pt x="0" y="11066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798" r="0" b="-23979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6459200" cy="1116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Feature Intelligence &amp; User Progression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5441806" y="505082"/>
            <a:ext cx="1817494" cy="523618"/>
            <a:chOff x="0" y="0"/>
            <a:chExt cx="2423325" cy="6981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74" r="-1" b="-8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46899" y="5325570"/>
            <a:ext cx="7866736" cy="414680"/>
            <a:chOff x="0" y="0"/>
            <a:chExt cx="10488981" cy="55290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88930" cy="552958"/>
            </a:xfrm>
            <a:custGeom>
              <a:avLst/>
              <a:gdLst/>
              <a:ahLst/>
              <a:cxnLst/>
              <a:rect r="r" b="b" t="t" l="l"/>
              <a:pathLst>
                <a:path h="552958" w="10488930">
                  <a:moveTo>
                    <a:pt x="0" y="0"/>
                  </a:moveTo>
                  <a:lnTo>
                    <a:pt x="10488930" y="0"/>
                  </a:lnTo>
                  <a:lnTo>
                    <a:pt x="10488930" y="552958"/>
                  </a:lnTo>
                  <a:lnTo>
                    <a:pt x="0" y="5529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356" r="0" b="-319347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46899" y="5325570"/>
            <a:ext cx="7866736" cy="414680"/>
            <a:chOff x="0" y="0"/>
            <a:chExt cx="10488981" cy="5529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88980" cy="552912"/>
            </a:xfrm>
            <a:custGeom>
              <a:avLst/>
              <a:gdLst/>
              <a:ahLst/>
              <a:cxnLst/>
              <a:rect r="r" b="b" t="t" l="l"/>
              <a:pathLst>
                <a:path h="552912" w="10488980">
                  <a:moveTo>
                    <a:pt x="0" y="0"/>
                  </a:moveTo>
                  <a:lnTo>
                    <a:pt x="10488980" y="0"/>
                  </a:lnTo>
                  <a:lnTo>
                    <a:pt x="10488980" y="552912"/>
                  </a:lnTo>
                  <a:lnTo>
                    <a:pt x="0" y="552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9640" r="0" b="-31963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0488981" cy="5529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Deposit &amp; Withdrawal Activity</a:t>
              </a:r>
            </a:p>
          </p:txBody>
        </p:sp>
      </p:grp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9246889" y="5874345"/>
          <a:ext cx="7924800" cy="2895600"/>
        </p:xfrm>
        <a:graphic>
          <a:graphicData uri="http://schemas.openxmlformats.org/drawingml/2006/table">
            <a:tbl>
              <a:tblPr/>
              <a:tblGrid>
                <a:gridCol w="3926140"/>
                <a:gridCol w="3998660"/>
              </a:tblGrid>
              <a:tr h="723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This Month (USD)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 Deposits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$ 67.14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 Withdrawals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Current AUM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$ 67.14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0" id="30"/>
          <p:cNvGraphicFramePr>
            <a:graphicFrameLocks noGrp="true"/>
          </p:cNvGraphicFramePr>
          <p:nvPr/>
        </p:nvGraphicFramePr>
        <p:xfrm>
          <a:off x="955864" y="5883232"/>
          <a:ext cx="7937500" cy="2868295"/>
        </p:xfrm>
        <a:graphic>
          <a:graphicData uri="http://schemas.openxmlformats.org/drawingml/2006/table">
            <a:tbl>
              <a:tblPr/>
              <a:tblGrid>
                <a:gridCol w="3923451"/>
                <a:gridCol w="4014049"/>
              </a:tblGrid>
              <a:tr h="58231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48" strike="noStrike" u="non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Requests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Count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</a:tr>
              <a:tr h="5714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Funded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4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Not Funded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714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Traded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4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Not Traded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pSp>
        <p:nvGrpSpPr>
          <p:cNvPr name="Group 31" id="31"/>
          <p:cNvGrpSpPr/>
          <p:nvPr/>
        </p:nvGrpSpPr>
        <p:grpSpPr>
          <a:xfrm rot="0">
            <a:off x="955862" y="5325570"/>
            <a:ext cx="7866736" cy="414680"/>
            <a:chOff x="0" y="0"/>
            <a:chExt cx="10488981" cy="55290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88930" cy="552958"/>
            </a:xfrm>
            <a:custGeom>
              <a:avLst/>
              <a:gdLst/>
              <a:ahLst/>
              <a:cxnLst/>
              <a:rect r="r" b="b" t="t" l="l"/>
              <a:pathLst>
                <a:path h="552958" w="10488930">
                  <a:moveTo>
                    <a:pt x="0" y="0"/>
                  </a:moveTo>
                  <a:lnTo>
                    <a:pt x="10488930" y="0"/>
                  </a:lnTo>
                  <a:lnTo>
                    <a:pt x="10488930" y="552958"/>
                  </a:lnTo>
                  <a:lnTo>
                    <a:pt x="0" y="5529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356" r="0" b="-319347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55862" y="5325570"/>
            <a:ext cx="7866736" cy="414680"/>
            <a:chOff x="0" y="0"/>
            <a:chExt cx="10488981" cy="5529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88980" cy="552912"/>
            </a:xfrm>
            <a:custGeom>
              <a:avLst/>
              <a:gdLst/>
              <a:ahLst/>
              <a:cxnLst/>
              <a:rect r="r" b="b" t="t" l="l"/>
              <a:pathLst>
                <a:path h="552912" w="10488980">
                  <a:moveTo>
                    <a:pt x="0" y="0"/>
                  </a:moveTo>
                  <a:lnTo>
                    <a:pt x="10488980" y="0"/>
                  </a:lnTo>
                  <a:lnTo>
                    <a:pt x="10488980" y="552912"/>
                  </a:lnTo>
                  <a:lnTo>
                    <a:pt x="0" y="552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9640" r="0" b="-31963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488981" cy="5529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User Progression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66870" y="1822799"/>
            <a:ext cx="3488284" cy="797843"/>
            <a:chOff x="0" y="0"/>
            <a:chExt cx="4651045" cy="106379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50994" cy="1063752"/>
            </a:xfrm>
            <a:custGeom>
              <a:avLst/>
              <a:gdLst/>
              <a:ahLst/>
              <a:cxnLst/>
              <a:rect r="r" b="b" t="t" l="l"/>
              <a:pathLst>
                <a:path h="1063752" w="4650994">
                  <a:moveTo>
                    <a:pt x="0" y="0"/>
                  </a:moveTo>
                  <a:lnTo>
                    <a:pt x="4650994" y="0"/>
                  </a:lnTo>
                  <a:lnTo>
                    <a:pt x="4650994" y="1063752"/>
                  </a:lnTo>
                  <a:lnTo>
                    <a:pt x="0" y="1063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33" r="-1" b="-3513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66870" y="1815656"/>
            <a:ext cx="3488284" cy="804986"/>
            <a:chOff x="0" y="0"/>
            <a:chExt cx="4651045" cy="107331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51048" cy="1073310"/>
            </a:xfrm>
            <a:custGeom>
              <a:avLst/>
              <a:gdLst/>
              <a:ahLst/>
              <a:cxnLst/>
              <a:rect r="r" b="b" t="t" l="l"/>
              <a:pathLst>
                <a:path h="1073310" w="4651048">
                  <a:moveTo>
                    <a:pt x="0" y="0"/>
                  </a:moveTo>
                  <a:lnTo>
                    <a:pt x="4651048" y="0"/>
                  </a:lnTo>
                  <a:lnTo>
                    <a:pt x="4651048" y="1073310"/>
                  </a:lnTo>
                  <a:lnTo>
                    <a:pt x="0" y="107331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651045" cy="1082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82 %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66870" y="2508980"/>
            <a:ext cx="3488284" cy="392278"/>
            <a:chOff x="0" y="0"/>
            <a:chExt cx="4651045" cy="523037"/>
          </a:xfrm>
        </p:grpSpPr>
        <p:sp>
          <p:nvSpPr>
            <p:cNvPr name="Freeform 42" id="42" descr="shorten this and make it more cohesive "/>
            <p:cNvSpPr/>
            <p:nvPr/>
          </p:nvSpPr>
          <p:spPr>
            <a:xfrm flipH="false" flipV="false" rot="0">
              <a:off x="0" y="0"/>
              <a:ext cx="4650994" cy="522986"/>
            </a:xfrm>
            <a:custGeom>
              <a:avLst/>
              <a:gdLst/>
              <a:ahLst/>
              <a:cxnLst/>
              <a:rect r="r" b="b" t="t" l="l"/>
              <a:pathLst>
                <a:path h="522986" w="4650994">
                  <a:moveTo>
                    <a:pt x="0" y="0"/>
                  </a:moveTo>
                  <a:lnTo>
                    <a:pt x="4650994" y="0"/>
                  </a:lnTo>
                  <a:lnTo>
                    <a:pt x="4650994" y="522986"/>
                  </a:lnTo>
                  <a:lnTo>
                    <a:pt x="0" y="5229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159" r="-1" b="-123171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66870" y="2501836"/>
            <a:ext cx="3488284" cy="399421"/>
            <a:chOff x="0" y="0"/>
            <a:chExt cx="4651045" cy="53256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651048" cy="532561"/>
            </a:xfrm>
            <a:custGeom>
              <a:avLst/>
              <a:gdLst/>
              <a:ahLst/>
              <a:cxnLst/>
              <a:rect r="r" b="b" t="t" l="l"/>
              <a:pathLst>
                <a:path h="532561" w="4651048">
                  <a:moveTo>
                    <a:pt x="0" y="0"/>
                  </a:moveTo>
                  <a:lnTo>
                    <a:pt x="4651048" y="0"/>
                  </a:lnTo>
                  <a:lnTo>
                    <a:pt x="4651048" y="532561"/>
                  </a:lnTo>
                  <a:lnTo>
                    <a:pt x="0" y="5325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0169" r="0" b="-12016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4651045" cy="542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8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AI Resolution Score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301129" y="1822799"/>
            <a:ext cx="3488284" cy="797843"/>
            <a:chOff x="0" y="0"/>
            <a:chExt cx="4651045" cy="106379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650994" cy="1063752"/>
            </a:xfrm>
            <a:custGeom>
              <a:avLst/>
              <a:gdLst/>
              <a:ahLst/>
              <a:cxnLst/>
              <a:rect r="r" b="b" t="t" l="l"/>
              <a:pathLst>
                <a:path h="1063752" w="4650994">
                  <a:moveTo>
                    <a:pt x="0" y="0"/>
                  </a:moveTo>
                  <a:lnTo>
                    <a:pt x="4650994" y="0"/>
                  </a:lnTo>
                  <a:lnTo>
                    <a:pt x="4650994" y="1063752"/>
                  </a:lnTo>
                  <a:lnTo>
                    <a:pt x="0" y="1063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33" r="-1" b="-35137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301129" y="1815656"/>
            <a:ext cx="3488284" cy="804986"/>
            <a:chOff x="0" y="0"/>
            <a:chExt cx="4651045" cy="107331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51048" cy="1073310"/>
            </a:xfrm>
            <a:custGeom>
              <a:avLst/>
              <a:gdLst/>
              <a:ahLst/>
              <a:cxnLst/>
              <a:rect r="r" b="b" t="t" l="l"/>
              <a:pathLst>
                <a:path h="1073310" w="4651048">
                  <a:moveTo>
                    <a:pt x="0" y="0"/>
                  </a:moveTo>
                  <a:lnTo>
                    <a:pt x="4651048" y="0"/>
                  </a:lnTo>
                  <a:lnTo>
                    <a:pt x="4651048" y="1073310"/>
                  </a:lnTo>
                  <a:lnTo>
                    <a:pt x="0" y="107331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4651045" cy="1082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18 %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301129" y="2571607"/>
            <a:ext cx="3488284" cy="392278"/>
            <a:chOff x="0" y="0"/>
            <a:chExt cx="4651045" cy="52303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650994" cy="522986"/>
            </a:xfrm>
            <a:custGeom>
              <a:avLst/>
              <a:gdLst/>
              <a:ahLst/>
              <a:cxnLst/>
              <a:rect r="r" b="b" t="t" l="l"/>
              <a:pathLst>
                <a:path h="522986" w="4650994">
                  <a:moveTo>
                    <a:pt x="0" y="0"/>
                  </a:moveTo>
                  <a:lnTo>
                    <a:pt x="4650994" y="0"/>
                  </a:lnTo>
                  <a:lnTo>
                    <a:pt x="4650994" y="522986"/>
                  </a:lnTo>
                  <a:lnTo>
                    <a:pt x="0" y="5229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159" r="-1" b="-123171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301129" y="2564463"/>
            <a:ext cx="3488284" cy="399421"/>
            <a:chOff x="0" y="0"/>
            <a:chExt cx="4651045" cy="53256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51048" cy="532561"/>
            </a:xfrm>
            <a:custGeom>
              <a:avLst/>
              <a:gdLst/>
              <a:ahLst/>
              <a:cxnLst/>
              <a:rect r="r" b="b" t="t" l="l"/>
              <a:pathLst>
                <a:path h="532561" w="4651048">
                  <a:moveTo>
                    <a:pt x="0" y="0"/>
                  </a:moveTo>
                  <a:lnTo>
                    <a:pt x="4651048" y="0"/>
                  </a:lnTo>
                  <a:lnTo>
                    <a:pt x="4651048" y="532561"/>
                  </a:lnTo>
                  <a:lnTo>
                    <a:pt x="0" y="5325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0169" r="0" b="-12016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651045" cy="542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8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Agent Escalation Ratio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35398" y="1822799"/>
            <a:ext cx="3488284" cy="797843"/>
            <a:chOff x="0" y="0"/>
            <a:chExt cx="4651045" cy="106379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50994" cy="1063752"/>
            </a:xfrm>
            <a:custGeom>
              <a:avLst/>
              <a:gdLst/>
              <a:ahLst/>
              <a:cxnLst/>
              <a:rect r="r" b="b" t="t" l="l"/>
              <a:pathLst>
                <a:path h="1063752" w="4650994">
                  <a:moveTo>
                    <a:pt x="0" y="0"/>
                  </a:moveTo>
                  <a:lnTo>
                    <a:pt x="4650994" y="0"/>
                  </a:lnTo>
                  <a:lnTo>
                    <a:pt x="4650994" y="1063752"/>
                  </a:lnTo>
                  <a:lnTo>
                    <a:pt x="0" y="1063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33" r="-1" b="-35137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435398" y="1815656"/>
            <a:ext cx="3488284" cy="804986"/>
            <a:chOff x="0" y="0"/>
            <a:chExt cx="4651045" cy="107331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651048" cy="1073310"/>
            </a:xfrm>
            <a:custGeom>
              <a:avLst/>
              <a:gdLst/>
              <a:ahLst/>
              <a:cxnLst/>
              <a:rect r="r" b="b" t="t" l="l"/>
              <a:pathLst>
                <a:path h="1073310" w="4651048">
                  <a:moveTo>
                    <a:pt x="0" y="0"/>
                  </a:moveTo>
                  <a:lnTo>
                    <a:pt x="4651048" y="0"/>
                  </a:lnTo>
                  <a:lnTo>
                    <a:pt x="4651048" y="1073310"/>
                  </a:lnTo>
                  <a:lnTo>
                    <a:pt x="0" y="107331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4651045" cy="1082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35398" y="2571607"/>
            <a:ext cx="3488284" cy="392278"/>
            <a:chOff x="0" y="0"/>
            <a:chExt cx="4651045" cy="52303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650994" cy="522986"/>
            </a:xfrm>
            <a:custGeom>
              <a:avLst/>
              <a:gdLst/>
              <a:ahLst/>
              <a:cxnLst/>
              <a:rect r="r" b="b" t="t" l="l"/>
              <a:pathLst>
                <a:path h="522986" w="4650994">
                  <a:moveTo>
                    <a:pt x="0" y="0"/>
                  </a:moveTo>
                  <a:lnTo>
                    <a:pt x="4650994" y="0"/>
                  </a:lnTo>
                  <a:lnTo>
                    <a:pt x="4650994" y="522986"/>
                  </a:lnTo>
                  <a:lnTo>
                    <a:pt x="0" y="5229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159" r="-1" b="-123171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347849" y="2459985"/>
            <a:ext cx="3663382" cy="615522"/>
            <a:chOff x="0" y="0"/>
            <a:chExt cx="4884509" cy="8206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884512" cy="820695"/>
            </a:xfrm>
            <a:custGeom>
              <a:avLst/>
              <a:gdLst/>
              <a:ahLst/>
              <a:cxnLst/>
              <a:rect r="r" b="b" t="t" l="l"/>
              <a:pathLst>
                <a:path h="820695" w="4884512">
                  <a:moveTo>
                    <a:pt x="0" y="0"/>
                  </a:moveTo>
                  <a:lnTo>
                    <a:pt x="4884512" y="0"/>
                  </a:lnTo>
                  <a:lnTo>
                    <a:pt x="4884512" y="820695"/>
                  </a:lnTo>
                  <a:lnTo>
                    <a:pt x="0" y="82069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7979" r="4779" b="-4287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4884509" cy="8302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8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Cases Handled by Client Support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560009" y="1822799"/>
            <a:ext cx="3488284" cy="797843"/>
            <a:chOff x="0" y="0"/>
            <a:chExt cx="4651045" cy="106379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650994" cy="1063752"/>
            </a:xfrm>
            <a:custGeom>
              <a:avLst/>
              <a:gdLst/>
              <a:ahLst/>
              <a:cxnLst/>
              <a:rect r="r" b="b" t="t" l="l"/>
              <a:pathLst>
                <a:path h="1063752" w="4650994">
                  <a:moveTo>
                    <a:pt x="0" y="0"/>
                  </a:moveTo>
                  <a:lnTo>
                    <a:pt x="4650994" y="0"/>
                  </a:lnTo>
                  <a:lnTo>
                    <a:pt x="4650994" y="1063752"/>
                  </a:lnTo>
                  <a:lnTo>
                    <a:pt x="0" y="1063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33" r="-1" b="-35137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560009" y="1815656"/>
            <a:ext cx="3488284" cy="804986"/>
            <a:chOff x="0" y="0"/>
            <a:chExt cx="4651045" cy="107331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651048" cy="1073310"/>
            </a:xfrm>
            <a:custGeom>
              <a:avLst/>
              <a:gdLst/>
              <a:ahLst/>
              <a:cxnLst/>
              <a:rect r="r" b="b" t="t" l="l"/>
              <a:pathLst>
                <a:path h="1073310" w="4651048">
                  <a:moveTo>
                    <a:pt x="0" y="0"/>
                  </a:moveTo>
                  <a:lnTo>
                    <a:pt x="4651048" y="0"/>
                  </a:lnTo>
                  <a:lnTo>
                    <a:pt x="4651048" y="1073310"/>
                  </a:lnTo>
                  <a:lnTo>
                    <a:pt x="0" y="107331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651045" cy="1082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14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573992" y="2571607"/>
            <a:ext cx="3488284" cy="392278"/>
            <a:chOff x="0" y="0"/>
            <a:chExt cx="4651045" cy="52303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650994" cy="522986"/>
            </a:xfrm>
            <a:custGeom>
              <a:avLst/>
              <a:gdLst/>
              <a:ahLst/>
              <a:cxnLst/>
              <a:rect r="r" b="b" t="t" l="l"/>
              <a:pathLst>
                <a:path h="522986" w="4650994">
                  <a:moveTo>
                    <a:pt x="0" y="0"/>
                  </a:moveTo>
                  <a:lnTo>
                    <a:pt x="4650994" y="0"/>
                  </a:lnTo>
                  <a:lnTo>
                    <a:pt x="4650994" y="522986"/>
                  </a:lnTo>
                  <a:lnTo>
                    <a:pt x="0" y="5229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159" r="-1" b="-123171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573992" y="2564463"/>
            <a:ext cx="3488284" cy="399421"/>
            <a:chOff x="0" y="0"/>
            <a:chExt cx="4651045" cy="53256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651048" cy="532560"/>
            </a:xfrm>
            <a:custGeom>
              <a:avLst/>
              <a:gdLst/>
              <a:ahLst/>
              <a:cxnLst/>
              <a:rect r="r" b="b" t="t" l="l"/>
              <a:pathLst>
                <a:path h="532560" w="4651048">
                  <a:moveTo>
                    <a:pt x="0" y="0"/>
                  </a:moveTo>
                  <a:lnTo>
                    <a:pt x="4651048" y="0"/>
                  </a:lnTo>
                  <a:lnTo>
                    <a:pt x="4651048" y="532560"/>
                  </a:lnTo>
                  <a:lnTo>
                    <a:pt x="0" y="5325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0169" r="0" b="-12017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4651045" cy="5420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8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Cases Handled by AI Support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621717" y="3617062"/>
            <a:ext cx="14971728" cy="797843"/>
            <a:chOff x="0" y="0"/>
            <a:chExt cx="19962304" cy="106379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9962368" cy="1063752"/>
            </a:xfrm>
            <a:custGeom>
              <a:avLst/>
              <a:gdLst/>
              <a:ahLst/>
              <a:cxnLst/>
              <a:rect r="r" b="b" t="t" l="l"/>
              <a:pathLst>
                <a:path h="1063752" w="19962368">
                  <a:moveTo>
                    <a:pt x="0" y="0"/>
                  </a:moveTo>
                  <a:lnTo>
                    <a:pt x="19962368" y="0"/>
                  </a:lnTo>
                  <a:lnTo>
                    <a:pt x="19962368" y="1063752"/>
                  </a:lnTo>
                  <a:lnTo>
                    <a:pt x="0" y="1063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98" r="0" b="-315402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621717" y="3609918"/>
            <a:ext cx="14971728" cy="804986"/>
            <a:chOff x="0" y="0"/>
            <a:chExt cx="19962304" cy="107331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9962310" cy="1073310"/>
            </a:xfrm>
            <a:custGeom>
              <a:avLst/>
              <a:gdLst/>
              <a:ahLst/>
              <a:cxnLst/>
              <a:rect r="r" b="b" t="t" l="l"/>
              <a:pathLst>
                <a:path h="1073310" w="19962310">
                  <a:moveTo>
                    <a:pt x="0" y="0"/>
                  </a:moveTo>
                  <a:lnTo>
                    <a:pt x="19962310" y="0"/>
                  </a:lnTo>
                  <a:lnTo>
                    <a:pt x="19962310" y="1073310"/>
                  </a:lnTo>
                  <a:lnTo>
                    <a:pt x="0" y="107331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2398" r="0" b="-31239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19962304" cy="1082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17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658131" y="4414904"/>
            <a:ext cx="14971728" cy="392278"/>
            <a:chOff x="0" y="0"/>
            <a:chExt cx="19962304" cy="52303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9962368" cy="522986"/>
            </a:xfrm>
            <a:custGeom>
              <a:avLst/>
              <a:gdLst/>
              <a:ahLst/>
              <a:cxnLst/>
              <a:rect r="r" b="b" t="t" l="l"/>
              <a:pathLst>
                <a:path h="522986" w="19962368">
                  <a:moveTo>
                    <a:pt x="0" y="0"/>
                  </a:moveTo>
                  <a:lnTo>
                    <a:pt x="19962368" y="0"/>
                  </a:lnTo>
                  <a:lnTo>
                    <a:pt x="19962368" y="522986"/>
                  </a:lnTo>
                  <a:lnTo>
                    <a:pt x="0" y="5229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220" r="0" b="-693227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658131" y="4407760"/>
            <a:ext cx="14971728" cy="399421"/>
            <a:chOff x="0" y="0"/>
            <a:chExt cx="19962304" cy="53256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9962310" cy="532560"/>
            </a:xfrm>
            <a:custGeom>
              <a:avLst/>
              <a:gdLst/>
              <a:ahLst/>
              <a:cxnLst/>
              <a:rect r="r" b="b" t="t" l="l"/>
              <a:pathLst>
                <a:path h="532560" w="19962310">
                  <a:moveTo>
                    <a:pt x="0" y="0"/>
                  </a:moveTo>
                  <a:lnTo>
                    <a:pt x="19962310" y="0"/>
                  </a:lnTo>
                  <a:lnTo>
                    <a:pt x="19962310" y="532560"/>
                  </a:lnTo>
                  <a:lnTo>
                    <a:pt x="0" y="5325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80370" r="0" b="-68037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19962304" cy="5420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8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Cases handled by AI Support &amp; Client Support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16" t="0" r="-2061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13232" y="658368"/>
            <a:ext cx="12344400" cy="822855"/>
            <a:chOff x="0" y="0"/>
            <a:chExt cx="16459200" cy="109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1097153"/>
            </a:xfrm>
            <a:custGeom>
              <a:avLst/>
              <a:gdLst/>
              <a:ahLst/>
              <a:cxnLst/>
              <a:rect r="r" b="b" t="t" l="l"/>
              <a:pathLst>
                <a:path h="1097153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106" r="0" b="-24210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13232" y="651224"/>
            <a:ext cx="12344400" cy="829999"/>
            <a:chOff x="0" y="0"/>
            <a:chExt cx="16459200" cy="11066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59200" cy="1106660"/>
            </a:xfrm>
            <a:custGeom>
              <a:avLst/>
              <a:gdLst/>
              <a:ahLst/>
              <a:cxnLst/>
              <a:rect r="r" b="b" t="t" l="l"/>
              <a:pathLst>
                <a:path h="11066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106660"/>
                  </a:lnTo>
                  <a:lnTo>
                    <a:pt x="0" y="11066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798" r="0" b="-23979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6459200" cy="1116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Marketing &amp; Ecosystem Growth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3395" y="4437024"/>
            <a:ext cx="16788765" cy="567455"/>
            <a:chOff x="0" y="0"/>
            <a:chExt cx="16232097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32098" cy="548640"/>
            </a:xfrm>
            <a:custGeom>
              <a:avLst/>
              <a:gdLst/>
              <a:ahLst/>
              <a:cxnLst/>
              <a:rect r="r" b="b" t="t" l="l"/>
              <a:pathLst>
                <a:path h="548640" w="16232098">
                  <a:moveTo>
                    <a:pt x="0" y="0"/>
                  </a:moveTo>
                  <a:lnTo>
                    <a:pt x="16232098" y="0"/>
                  </a:lnTo>
                  <a:lnTo>
                    <a:pt x="1623209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6086" r="0" b="-52608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93395" y="4397618"/>
            <a:ext cx="16788765" cy="606862"/>
            <a:chOff x="0" y="0"/>
            <a:chExt cx="16232097" cy="586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232098" cy="586740"/>
            </a:xfrm>
            <a:custGeom>
              <a:avLst/>
              <a:gdLst/>
              <a:ahLst/>
              <a:cxnLst/>
              <a:rect r="r" b="b" t="t" l="l"/>
              <a:pathLst>
                <a:path h="586740" w="16232098">
                  <a:moveTo>
                    <a:pt x="0" y="0"/>
                  </a:moveTo>
                  <a:lnTo>
                    <a:pt x="16232098" y="0"/>
                  </a:lnTo>
                  <a:lnTo>
                    <a:pt x="16232098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0468" r="31273" b="-32046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6232097" cy="634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21A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Social Media Growth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493395" y="5166405"/>
          <a:ext cx="16788765" cy="3656106"/>
        </p:xfrm>
        <a:graphic>
          <a:graphicData uri="http://schemas.openxmlformats.org/drawingml/2006/table">
            <a:tbl>
              <a:tblPr/>
              <a:tblGrid>
                <a:gridCol w="5247880"/>
                <a:gridCol w="3631436"/>
                <a:gridCol w="3631436"/>
                <a:gridCol w="4278013"/>
              </a:tblGrid>
              <a:tr h="7733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Platform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Followers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Reach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Engagements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</a:tr>
              <a:tr h="7206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Instagram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210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141,984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723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06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LinkedIn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88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22,726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3,504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206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274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45,196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06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TikTok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8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8" strike="noStrike" u="none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8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8" strike="noStrike" u="none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1,100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48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68" strike="noStrike" u="none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62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name="Freeform 16" id="16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441806" y="505082"/>
            <a:ext cx="1817494" cy="523618"/>
            <a:chOff x="0" y="0"/>
            <a:chExt cx="2423325" cy="6981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74" r="-1" b="-8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70535" y="1769012"/>
            <a:ext cx="3287405" cy="1888294"/>
            <a:chOff x="0" y="0"/>
            <a:chExt cx="2962656" cy="17017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62656" cy="1701757"/>
            </a:xfrm>
            <a:custGeom>
              <a:avLst/>
              <a:gdLst/>
              <a:ahLst/>
              <a:cxnLst/>
              <a:rect r="r" b="b" t="t" l="l"/>
              <a:pathLst>
                <a:path h="1701757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1701757"/>
                  </a:lnTo>
                  <a:lnTo>
                    <a:pt x="0" y="170175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605819" y="1867714"/>
            <a:ext cx="3016837" cy="70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4598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*</a:t>
            </a:r>
            <a:r>
              <a:rPr lang="en-US" b="true" sz="4598" strike="noStrike" u="non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5.7M+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5819" y="2620160"/>
            <a:ext cx="3016837" cy="37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398" strike="noStrike" u="non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PR Media Reach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7006" y="3126640"/>
            <a:ext cx="269446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1"/>
              </a:lnSpc>
            </a:pPr>
            <a:r>
              <a:rPr lang="en-US" sz="1909">
                <a:solidFill>
                  <a:srgbClr val="C8860A"/>
                </a:solidFill>
                <a:latin typeface="Exo 2"/>
                <a:ea typeface="Exo 2"/>
                <a:cs typeface="Exo 2"/>
                <a:sym typeface="Exo 2"/>
              </a:rPr>
              <a:t>20 Mentions / 17 Outlets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845875" y="1769012"/>
            <a:ext cx="3287405" cy="1888294"/>
            <a:chOff x="0" y="0"/>
            <a:chExt cx="2962656" cy="170175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62656" cy="1701757"/>
            </a:xfrm>
            <a:custGeom>
              <a:avLst/>
              <a:gdLst/>
              <a:ahLst/>
              <a:cxnLst/>
              <a:rect r="r" b="b" t="t" l="l"/>
              <a:pathLst>
                <a:path h="1701757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1701757"/>
                  </a:lnTo>
                  <a:lnTo>
                    <a:pt x="0" y="170175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3981159" y="1867714"/>
            <a:ext cx="3016837" cy="70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4598" strike="noStrike" u="non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332,941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81159" y="2620160"/>
            <a:ext cx="3016837" cy="37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398" strike="noStrike" u="non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Instagram Views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037650" y="3126640"/>
            <a:ext cx="290385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1"/>
              </a:lnSpc>
            </a:pPr>
            <a:r>
              <a:rPr lang="en-US" sz="1909">
                <a:solidFill>
                  <a:srgbClr val="C8860A"/>
                </a:solidFill>
                <a:latin typeface="Exo 2"/>
                <a:ea typeface="Exo 2"/>
                <a:cs typeface="Exo 2"/>
                <a:sym typeface="Exo 2"/>
              </a:rPr>
              <a:t>141,984 Accounts Reached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221215" y="1769012"/>
            <a:ext cx="3287405" cy="1888294"/>
            <a:chOff x="0" y="0"/>
            <a:chExt cx="2962656" cy="170175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62656" cy="1701757"/>
            </a:xfrm>
            <a:custGeom>
              <a:avLst/>
              <a:gdLst/>
              <a:ahLst/>
              <a:cxnLst/>
              <a:rect r="r" b="b" t="t" l="l"/>
              <a:pathLst>
                <a:path h="1701757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1701757"/>
                  </a:lnTo>
                  <a:lnTo>
                    <a:pt x="0" y="170175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7356499" y="1867714"/>
            <a:ext cx="3016837" cy="70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4598" strike="noStrike" u="non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45,196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56499" y="2543960"/>
            <a:ext cx="3016837" cy="37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398" strike="noStrike" u="non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X Impressions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777639" y="2944010"/>
            <a:ext cx="217455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1"/>
              </a:lnSpc>
            </a:pPr>
            <a:r>
              <a:rPr lang="en-US" sz="1909">
                <a:solidFill>
                  <a:srgbClr val="C8860A"/>
                </a:solidFill>
                <a:latin typeface="Exo 2"/>
                <a:ea typeface="Exo 2"/>
                <a:cs typeface="Exo 2"/>
                <a:sym typeface="Exo 2"/>
              </a:rPr>
              <a:t>274 New Followers </a:t>
            </a:r>
          </a:p>
          <a:p>
            <a:pPr algn="ctr">
              <a:lnSpc>
                <a:spcPts val="2291"/>
              </a:lnSpc>
            </a:pPr>
            <a:r>
              <a:rPr lang="en-US" sz="1909">
                <a:solidFill>
                  <a:srgbClr val="C8860A"/>
                </a:solidFill>
                <a:latin typeface="Exo 2"/>
                <a:ea typeface="Exo 2"/>
                <a:cs typeface="Exo 2"/>
                <a:sym typeface="Exo 2"/>
              </a:rPr>
              <a:t>(1,000%+)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596555" y="1769012"/>
            <a:ext cx="3287405" cy="1888294"/>
            <a:chOff x="0" y="0"/>
            <a:chExt cx="2962656" cy="170175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62656" cy="1701757"/>
            </a:xfrm>
            <a:custGeom>
              <a:avLst/>
              <a:gdLst/>
              <a:ahLst/>
              <a:cxnLst/>
              <a:rect r="r" b="b" t="t" l="l"/>
              <a:pathLst>
                <a:path h="1701757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1701757"/>
                  </a:lnTo>
                  <a:lnTo>
                    <a:pt x="0" y="170175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0731839" y="1867714"/>
            <a:ext cx="3016837" cy="70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4598" strike="noStrike" u="non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22,726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31839" y="2620160"/>
            <a:ext cx="3016837" cy="37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398" strike="noStrike" u="non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LinkedIn Impressions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150042" y="3126640"/>
            <a:ext cx="218043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1"/>
              </a:lnSpc>
            </a:pPr>
            <a:r>
              <a:rPr lang="en-US" sz="1909">
                <a:solidFill>
                  <a:srgbClr val="C8860A"/>
                </a:solidFill>
                <a:latin typeface="Exo 2"/>
                <a:ea typeface="Exo 2"/>
                <a:cs typeface="Exo 2"/>
                <a:sym typeface="Exo 2"/>
              </a:rPr>
              <a:t>3,504 Engagements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971895" y="1769012"/>
            <a:ext cx="3287405" cy="1888294"/>
            <a:chOff x="0" y="0"/>
            <a:chExt cx="2962656" cy="170175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62656" cy="1701757"/>
            </a:xfrm>
            <a:custGeom>
              <a:avLst/>
              <a:gdLst/>
              <a:ahLst/>
              <a:cxnLst/>
              <a:rect r="r" b="b" t="t" l="l"/>
              <a:pathLst>
                <a:path h="1701757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1701757"/>
                  </a:lnTo>
                  <a:lnTo>
                    <a:pt x="0" y="170175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4107179" y="1829578"/>
            <a:ext cx="3016837" cy="70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4598" strike="noStrike" u="non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$5,500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107179" y="2682054"/>
            <a:ext cx="2852306" cy="37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Pilot Test Ad Cost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412114" y="3210674"/>
            <a:ext cx="240696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1"/>
              </a:lnSpc>
            </a:pPr>
            <a:r>
              <a:rPr lang="en-US" sz="1909">
                <a:solidFill>
                  <a:srgbClr val="C8860A"/>
                </a:solidFill>
                <a:latin typeface="Exo 2"/>
                <a:ea typeface="Exo 2"/>
                <a:cs typeface="Exo 2"/>
                <a:sym typeface="Exo 2"/>
              </a:rPr>
              <a:t>4 Platforms Activated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28066" y="3752556"/>
            <a:ext cx="961235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*Zero paid placement for any media outlet ensuring 5.7M+ reach for free.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3232" y="651224"/>
            <a:ext cx="12344400" cy="829995"/>
            <a:chOff x="0" y="0"/>
            <a:chExt cx="16459200" cy="1106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59200" cy="1106654"/>
            </a:xfrm>
            <a:custGeom>
              <a:avLst/>
              <a:gdLst/>
              <a:ahLst/>
              <a:cxnLst/>
              <a:rect r="r" b="b" t="t" l="l"/>
              <a:pathLst>
                <a:path h="110665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106654"/>
                  </a:lnTo>
                  <a:lnTo>
                    <a:pt x="0" y="11066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9799" r="0" b="-23980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6459200" cy="1116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Website Analytics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41806" y="505082"/>
            <a:ext cx="1817494" cy="523618"/>
            <a:chOff x="0" y="0"/>
            <a:chExt cx="2423325" cy="698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4" r="-1" b="-8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2309299"/>
            <a:ext cx="3977848" cy="1888294"/>
            <a:chOff x="0" y="0"/>
            <a:chExt cx="3584892" cy="17017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84892" cy="1701757"/>
            </a:xfrm>
            <a:custGeom>
              <a:avLst/>
              <a:gdLst/>
              <a:ahLst/>
              <a:cxnLst/>
              <a:rect r="r" b="b" t="t" l="l"/>
              <a:pathLst>
                <a:path h="1701757" w="3584892">
                  <a:moveTo>
                    <a:pt x="0" y="0"/>
                  </a:moveTo>
                  <a:lnTo>
                    <a:pt x="3584892" y="0"/>
                  </a:lnTo>
                  <a:lnTo>
                    <a:pt x="3584892" y="1701757"/>
                  </a:lnTo>
                  <a:lnTo>
                    <a:pt x="0" y="170175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192397" y="2408001"/>
            <a:ext cx="3650453" cy="70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4598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268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2397" y="3160447"/>
            <a:ext cx="3650453" cy="37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Total Website Visits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40469" y="3666927"/>
            <a:ext cx="215430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1"/>
              </a:lnSpc>
            </a:pPr>
            <a:r>
              <a:rPr lang="en-US" sz="1909">
                <a:solidFill>
                  <a:srgbClr val="C8860A"/>
                </a:solidFill>
                <a:latin typeface="Exo 2"/>
                <a:ea typeface="Exo 2"/>
                <a:cs typeface="Exo 2"/>
                <a:sym typeface="Exo 2"/>
              </a:rPr>
              <a:t>May (14-31)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112951" y="2309299"/>
            <a:ext cx="3977848" cy="1888294"/>
            <a:chOff x="0" y="0"/>
            <a:chExt cx="3584892" cy="17017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84892" cy="1701757"/>
            </a:xfrm>
            <a:custGeom>
              <a:avLst/>
              <a:gdLst/>
              <a:ahLst/>
              <a:cxnLst/>
              <a:rect r="r" b="b" t="t" l="l"/>
              <a:pathLst>
                <a:path h="1701757" w="3584892">
                  <a:moveTo>
                    <a:pt x="0" y="0"/>
                  </a:moveTo>
                  <a:lnTo>
                    <a:pt x="3584892" y="0"/>
                  </a:lnTo>
                  <a:lnTo>
                    <a:pt x="3584892" y="1701757"/>
                  </a:lnTo>
                  <a:lnTo>
                    <a:pt x="0" y="170175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5276648" y="2408001"/>
            <a:ext cx="3650453" cy="70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4598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7</a:t>
            </a:r>
            <a:r>
              <a:rPr lang="en-US" b="true" sz="4598" strike="noStrike" u="non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3</a:t>
            </a:r>
            <a:r>
              <a:rPr lang="en-US" b="true" sz="4598" strike="noStrike" u="non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.</a:t>
            </a:r>
            <a:r>
              <a:rPr lang="en-US" b="true" sz="4598" strike="noStrike" u="non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1</a:t>
            </a:r>
            <a:r>
              <a:rPr lang="en-US" b="true" sz="4598" strike="noStrike" u="non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76648" y="3160447"/>
            <a:ext cx="3650453" cy="37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Direct Traffic Share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68613" y="3666927"/>
            <a:ext cx="206652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1"/>
              </a:lnSpc>
            </a:pPr>
            <a:r>
              <a:rPr lang="en-US" sz="1909">
                <a:solidFill>
                  <a:srgbClr val="C8860A"/>
                </a:solidFill>
                <a:latin typeface="Exo 2"/>
                <a:ea typeface="Exo 2"/>
                <a:cs typeface="Exo 2"/>
                <a:sym typeface="Exo 2"/>
              </a:rPr>
              <a:t>196 direct visits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97202" y="2309299"/>
            <a:ext cx="3977848" cy="1888294"/>
            <a:chOff x="0" y="0"/>
            <a:chExt cx="3584892" cy="17017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84892" cy="1701757"/>
            </a:xfrm>
            <a:custGeom>
              <a:avLst/>
              <a:gdLst/>
              <a:ahLst/>
              <a:cxnLst/>
              <a:rect r="r" b="b" t="t" l="l"/>
              <a:pathLst>
                <a:path h="1701757" w="3584892">
                  <a:moveTo>
                    <a:pt x="0" y="0"/>
                  </a:moveTo>
                  <a:lnTo>
                    <a:pt x="3584892" y="0"/>
                  </a:lnTo>
                  <a:lnTo>
                    <a:pt x="3584892" y="1701757"/>
                  </a:lnTo>
                  <a:lnTo>
                    <a:pt x="0" y="170175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360899" y="2408001"/>
            <a:ext cx="3650453" cy="70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4598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12.3%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60899" y="3160447"/>
            <a:ext cx="3650453" cy="37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Organic Search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92419" y="3666927"/>
            <a:ext cx="178741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1"/>
              </a:lnSpc>
            </a:pPr>
            <a:r>
              <a:rPr lang="en-US" sz="1909">
                <a:solidFill>
                  <a:srgbClr val="C8860A"/>
                </a:solidFill>
                <a:latin typeface="Exo 2"/>
                <a:ea typeface="Exo 2"/>
                <a:cs typeface="Exo 2"/>
                <a:sym typeface="Exo 2"/>
              </a:rPr>
              <a:t>30 via Google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281452" y="2309299"/>
            <a:ext cx="3977848" cy="1888294"/>
            <a:chOff x="0" y="0"/>
            <a:chExt cx="3584892" cy="170175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84892" cy="1701757"/>
            </a:xfrm>
            <a:custGeom>
              <a:avLst/>
              <a:gdLst/>
              <a:ahLst/>
              <a:cxnLst/>
              <a:rect r="r" b="b" t="t" l="l"/>
              <a:pathLst>
                <a:path h="1701757" w="3584892">
                  <a:moveTo>
                    <a:pt x="0" y="0"/>
                  </a:moveTo>
                  <a:lnTo>
                    <a:pt x="3584892" y="0"/>
                  </a:lnTo>
                  <a:lnTo>
                    <a:pt x="3584892" y="1701757"/>
                  </a:lnTo>
                  <a:lnTo>
                    <a:pt x="0" y="170175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3445150" y="2408001"/>
            <a:ext cx="3650453" cy="70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4598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45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45150" y="3160447"/>
            <a:ext cx="3650453" cy="37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Peak Day Visits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77599" y="3666927"/>
            <a:ext cx="258555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1"/>
              </a:lnSpc>
            </a:pPr>
            <a:r>
              <a:rPr lang="en-US" sz="1909">
                <a:solidFill>
                  <a:srgbClr val="C8860A"/>
                </a:solidFill>
                <a:latin typeface="Exo 2"/>
                <a:ea typeface="Exo 2"/>
                <a:cs typeface="Exo 2"/>
                <a:sym typeface="Exo 2"/>
              </a:rPr>
              <a:t>Launch day: 14 May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30872" y="2284133"/>
            <a:ext cx="713232" cy="13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"/>
              </a:lnSpc>
            </a:pPr>
            <a:r>
              <a:rPr lang="en-US" sz="850">
                <a:solidFill>
                  <a:srgbClr val="5A6A85"/>
                </a:solidFill>
                <a:latin typeface="Exo 2"/>
                <a:ea typeface="Exo 2"/>
                <a:cs typeface="Exo 2"/>
                <a:sym typeface="Exo 2"/>
              </a:rPr>
              <a:t>3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93395" y="4437024"/>
            <a:ext cx="16788765" cy="567455"/>
            <a:chOff x="0" y="0"/>
            <a:chExt cx="16232097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232098" cy="548640"/>
            </a:xfrm>
            <a:custGeom>
              <a:avLst/>
              <a:gdLst/>
              <a:ahLst/>
              <a:cxnLst/>
              <a:rect r="r" b="b" t="t" l="l"/>
              <a:pathLst>
                <a:path h="548640" w="16232098">
                  <a:moveTo>
                    <a:pt x="0" y="0"/>
                  </a:moveTo>
                  <a:lnTo>
                    <a:pt x="16232098" y="0"/>
                  </a:lnTo>
                  <a:lnTo>
                    <a:pt x="1623209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26086" r="0" b="-526082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93395" y="4397618"/>
            <a:ext cx="16788765" cy="606862"/>
            <a:chOff x="0" y="0"/>
            <a:chExt cx="16232097" cy="5867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232098" cy="586740"/>
            </a:xfrm>
            <a:custGeom>
              <a:avLst/>
              <a:gdLst/>
              <a:ahLst/>
              <a:cxnLst/>
              <a:rect r="r" b="b" t="t" l="l"/>
              <a:pathLst>
                <a:path h="586740" w="16232098">
                  <a:moveTo>
                    <a:pt x="0" y="0"/>
                  </a:moveTo>
                  <a:lnTo>
                    <a:pt x="16232098" y="0"/>
                  </a:lnTo>
                  <a:lnTo>
                    <a:pt x="16232098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468" r="31273" b="-3204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6232097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Traffic </a:t>
              </a: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Sources Breakdown</a:t>
              </a:r>
            </a:p>
          </p:txBody>
        </p:sp>
      </p:grpSp>
      <p:graphicFrame>
        <p:nvGraphicFramePr>
          <p:cNvPr name="Table 35" id="35"/>
          <p:cNvGraphicFramePr>
            <a:graphicFrameLocks noGrp="true"/>
          </p:cNvGraphicFramePr>
          <p:nvPr/>
        </p:nvGraphicFramePr>
        <p:xfrm>
          <a:off x="493395" y="5073548"/>
          <a:ext cx="16788765" cy="2965725"/>
        </p:xfrm>
        <a:graphic>
          <a:graphicData uri="http://schemas.openxmlformats.org/drawingml/2006/table">
            <a:tbl>
              <a:tblPr/>
              <a:tblGrid>
                <a:gridCol w="5247880"/>
                <a:gridCol w="3631436"/>
                <a:gridCol w="3631436"/>
                <a:gridCol w="4278013"/>
              </a:tblGrid>
              <a:tr h="8024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Source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Visits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Share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Breakdown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</a:tr>
              <a:tr h="7210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Direct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196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73.1%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Brand awareness and PR recall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0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Search (Total)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33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12.3%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Google 30 / Bing 2 / Yahoo 1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210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Social Media (Instagram, X &amp; LinkedIn)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21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7.84%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2"/>
                        </a:lnSpc>
                        <a:defRPr/>
                      </a:pPr>
                      <a:r>
                        <a:rPr lang="en-US" sz="2068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Instagram 10 / X 8 / LinkedIn 3</a:t>
                      </a:r>
                      <a:endParaRPr lang="en-US" sz="1100"/>
                    </a:p>
                  </a:txBody>
                  <a:tcPr marL="126101" marR="126101" marT="126101" marB="126101" anchor="ctr">
                    <a:lnL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57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36" id="36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74" t="0" r="-574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616" t="0" r="-20616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13232" y="658368"/>
            <a:ext cx="12344400" cy="822855"/>
            <a:chOff x="0" y="0"/>
            <a:chExt cx="16459200" cy="1097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59200" cy="1097153"/>
            </a:xfrm>
            <a:custGeom>
              <a:avLst/>
              <a:gdLst/>
              <a:ahLst/>
              <a:cxnLst/>
              <a:rect r="r" b="b" t="t" l="l"/>
              <a:pathLst>
                <a:path h="1097153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106" r="0" b="-24210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3232" y="651224"/>
            <a:ext cx="12344400" cy="829999"/>
            <a:chOff x="0" y="0"/>
            <a:chExt cx="16459200" cy="11066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1106660"/>
            </a:xfrm>
            <a:custGeom>
              <a:avLst/>
              <a:gdLst/>
              <a:ahLst/>
              <a:cxnLst/>
              <a:rect r="r" b="b" t="t" l="l"/>
              <a:pathLst>
                <a:path h="11066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106660"/>
                  </a:lnTo>
                  <a:lnTo>
                    <a:pt x="0" y="11066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798" r="0" b="-2397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459200" cy="1116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PR &amp; Media Coverage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950256" y="1802901"/>
          <a:ext cx="16357600" cy="6667500"/>
        </p:xfrm>
        <a:graphic>
          <a:graphicData uri="http://schemas.openxmlformats.org/drawingml/2006/table">
            <a:tbl>
              <a:tblPr/>
              <a:tblGrid>
                <a:gridCol w="4482744"/>
                <a:gridCol w="2145071"/>
                <a:gridCol w="2306850"/>
                <a:gridCol w="7422935"/>
              </a:tblGrid>
              <a:tr h="572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Outlet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Date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Language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Reach (est.)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</a:tr>
              <a:tr h="507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Zawya.com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 / 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2,706,000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Alayam.com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1,038,000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07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Alwatannews.net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834,000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OpenPR.com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300,000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07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Alsyahaalarabia.com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3,000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Bizbahrain.com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 / 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150,000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07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Saudishopper.com.sa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 / 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150,000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25h.app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 / 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75,000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07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Nabd.com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 / 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150,000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100-100fm.com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75,000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07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Heidinews.net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 / 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75,000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Sanews.sa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7,500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name="Freeform 13" id="13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441806" y="505082"/>
            <a:ext cx="1817494" cy="523618"/>
            <a:chOff x="0" y="0"/>
            <a:chExt cx="2423325" cy="6981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74" r="-1" b="-8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616" t="0" r="-20616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13232" y="658368"/>
            <a:ext cx="12344400" cy="822855"/>
            <a:chOff x="0" y="0"/>
            <a:chExt cx="16459200" cy="1097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59200" cy="1097153"/>
            </a:xfrm>
            <a:custGeom>
              <a:avLst/>
              <a:gdLst/>
              <a:ahLst/>
              <a:cxnLst/>
              <a:rect r="r" b="b" t="t" l="l"/>
              <a:pathLst>
                <a:path h="1097153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106" r="0" b="-24210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3232" y="651224"/>
            <a:ext cx="12344400" cy="829999"/>
            <a:chOff x="0" y="0"/>
            <a:chExt cx="16459200" cy="11066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1106660"/>
            </a:xfrm>
            <a:custGeom>
              <a:avLst/>
              <a:gdLst/>
              <a:ahLst/>
              <a:cxnLst/>
              <a:rect r="r" b="b" t="t" l="l"/>
              <a:pathLst>
                <a:path h="11066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106660"/>
                  </a:lnTo>
                  <a:lnTo>
                    <a:pt x="0" y="11066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798" r="0" b="-2397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459200" cy="1116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PR &amp; Media Coverage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8625" y="5496135"/>
            <a:ext cx="8162925" cy="1008993"/>
            <a:chOff x="0" y="0"/>
            <a:chExt cx="7356543" cy="9093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56543" cy="909319"/>
            </a:xfrm>
            <a:custGeom>
              <a:avLst/>
              <a:gdLst/>
              <a:ahLst/>
              <a:cxnLst/>
              <a:rect r="r" b="b" t="t" l="l"/>
              <a:pathLst>
                <a:path h="909319" w="7356543">
                  <a:moveTo>
                    <a:pt x="0" y="0"/>
                  </a:moveTo>
                  <a:lnTo>
                    <a:pt x="7356543" y="0"/>
                  </a:lnTo>
                  <a:lnTo>
                    <a:pt x="7356543" y="909319"/>
                  </a:lnTo>
                  <a:lnTo>
                    <a:pt x="0" y="909319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28625" y="6804293"/>
            <a:ext cx="17285335" cy="1008993"/>
            <a:chOff x="0" y="0"/>
            <a:chExt cx="15577788" cy="9093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77787" cy="909319"/>
            </a:xfrm>
            <a:custGeom>
              <a:avLst/>
              <a:gdLst/>
              <a:ahLst/>
              <a:cxnLst/>
              <a:rect r="r" b="b" t="t" l="l"/>
              <a:pathLst>
                <a:path h="909319" w="15577787">
                  <a:moveTo>
                    <a:pt x="0" y="0"/>
                  </a:moveTo>
                  <a:lnTo>
                    <a:pt x="15577787" y="0"/>
                  </a:lnTo>
                  <a:lnTo>
                    <a:pt x="15577787" y="909319"/>
                  </a:lnTo>
                  <a:lnTo>
                    <a:pt x="0" y="909319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41325" y="7981445"/>
            <a:ext cx="17285335" cy="1008993"/>
            <a:chOff x="0" y="0"/>
            <a:chExt cx="15577788" cy="9093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577787" cy="909319"/>
            </a:xfrm>
            <a:custGeom>
              <a:avLst/>
              <a:gdLst/>
              <a:ahLst/>
              <a:cxnLst/>
              <a:rect r="r" b="b" t="t" l="l"/>
              <a:pathLst>
                <a:path h="909319" w="15577787">
                  <a:moveTo>
                    <a:pt x="0" y="0"/>
                  </a:moveTo>
                  <a:lnTo>
                    <a:pt x="15577787" y="0"/>
                  </a:lnTo>
                  <a:lnTo>
                    <a:pt x="15577787" y="909319"/>
                  </a:lnTo>
                  <a:lnTo>
                    <a:pt x="0" y="909319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480060" y="1645920"/>
          <a:ext cx="17233900" cy="3162300"/>
        </p:xfrm>
        <a:graphic>
          <a:graphicData uri="http://schemas.openxmlformats.org/drawingml/2006/table">
            <a:tbl>
              <a:tblPr/>
              <a:tblGrid>
                <a:gridCol w="5655208"/>
                <a:gridCol w="2737286"/>
                <a:gridCol w="3635108"/>
                <a:gridCol w="5206297"/>
              </a:tblGrid>
              <a:tr h="5687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Outlet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Date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Language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Reach (est.)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</a:tr>
              <a:tr h="522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@bftbahrain (Instagram)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57,400 followers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@dinarbh973 (Instagram)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27,400 followers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22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@alayambusiness (Instagram)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27,600 followers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1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@cnnewss (Instagram)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 / 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69,800 followers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049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@alsahatnews (X)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19,700 followers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9" id="19"/>
          <p:cNvGrpSpPr/>
          <p:nvPr/>
        </p:nvGrpSpPr>
        <p:grpSpPr>
          <a:xfrm rot="0">
            <a:off x="833533" y="5582498"/>
            <a:ext cx="4114800" cy="424624"/>
            <a:chOff x="0" y="0"/>
            <a:chExt cx="5486400" cy="5661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566166"/>
            </a:xfrm>
            <a:custGeom>
              <a:avLst/>
              <a:gdLst/>
              <a:ahLst/>
              <a:cxnLst/>
              <a:rect r="r" b="b" t="t" l="l"/>
              <a:pathLst>
                <a:path h="56616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66166"/>
                  </a:lnTo>
                  <a:lnTo>
                    <a:pt x="0" y="5661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687" r="0" b="-13868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33533" y="5575354"/>
            <a:ext cx="4114800" cy="431768"/>
            <a:chOff x="0" y="0"/>
            <a:chExt cx="5486400" cy="5756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86400" cy="575690"/>
            </a:xfrm>
            <a:custGeom>
              <a:avLst/>
              <a:gdLst/>
              <a:ahLst/>
              <a:cxnLst/>
              <a:rect r="r" b="b" t="t" l="l"/>
              <a:pathLst>
                <a:path h="57569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75690"/>
                  </a:lnTo>
                  <a:lnTo>
                    <a:pt x="0" y="57569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5694" r="0" b="-13569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4864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Media Mentions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33533" y="5874468"/>
            <a:ext cx="4114800" cy="630660"/>
            <a:chOff x="0" y="0"/>
            <a:chExt cx="5486400" cy="840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00" cy="840867"/>
            </a:xfrm>
            <a:custGeom>
              <a:avLst/>
              <a:gdLst/>
              <a:ahLst/>
              <a:cxnLst/>
              <a:rect r="r" b="b" t="t" l="l"/>
              <a:pathLst>
                <a:path h="840867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044" r="0" b="-77047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33533" y="5867324"/>
            <a:ext cx="4114800" cy="637804"/>
            <a:chOff x="0" y="0"/>
            <a:chExt cx="5486400" cy="850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850405"/>
            </a:xfrm>
            <a:custGeom>
              <a:avLst/>
              <a:gdLst/>
              <a:ahLst/>
              <a:cxnLst/>
              <a:rect r="r" b="b" t="t" l="l"/>
              <a:pathLst>
                <a:path h="85040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50405"/>
                  </a:lnTo>
                  <a:lnTo>
                    <a:pt x="0" y="85040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5707" r="0" b="-7570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859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B8942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20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052560" y="5496135"/>
            <a:ext cx="8728710" cy="1006792"/>
          </a:xfrm>
          <a:custGeom>
            <a:avLst/>
            <a:gdLst/>
            <a:ahLst/>
            <a:cxnLst/>
            <a:rect r="r" b="b" t="t" l="l"/>
            <a:pathLst>
              <a:path h="1006792" w="8728710">
                <a:moveTo>
                  <a:pt x="0" y="0"/>
                </a:moveTo>
                <a:lnTo>
                  <a:pt x="8728710" y="0"/>
                </a:lnTo>
                <a:lnTo>
                  <a:pt x="8728710" y="1006792"/>
                </a:lnTo>
                <a:lnTo>
                  <a:pt x="0" y="10067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9267825" y="5582498"/>
            <a:ext cx="5486400" cy="424624"/>
            <a:chOff x="0" y="0"/>
            <a:chExt cx="7315200" cy="5661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0" cy="566166"/>
            </a:xfrm>
            <a:custGeom>
              <a:avLst/>
              <a:gdLst/>
              <a:ahLst/>
              <a:cxnLst/>
              <a:rect r="r" b="b" t="t" l="l"/>
              <a:pathLst>
                <a:path h="56616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66166"/>
                  </a:lnTo>
                  <a:lnTo>
                    <a:pt x="0" y="5661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1583" r="0" b="-201583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67825" y="5575354"/>
            <a:ext cx="5486400" cy="431768"/>
            <a:chOff x="0" y="0"/>
            <a:chExt cx="7315200" cy="5756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0" cy="575690"/>
            </a:xfrm>
            <a:custGeom>
              <a:avLst/>
              <a:gdLst/>
              <a:ahLst/>
              <a:cxnLst/>
              <a:rect r="r" b="b" t="t" l="l"/>
              <a:pathLst>
                <a:path h="57569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75690"/>
                  </a:lnTo>
                  <a:lnTo>
                    <a:pt x="0" y="57569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7593" r="0" b="-19759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73152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Overall Sentiment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67825" y="5946877"/>
            <a:ext cx="8229600" cy="485832"/>
            <a:chOff x="0" y="0"/>
            <a:chExt cx="10972800" cy="6477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647827"/>
            </a:xfrm>
            <a:custGeom>
              <a:avLst/>
              <a:gdLst/>
              <a:ahLst/>
              <a:cxnLst/>
              <a:rect r="r" b="b" t="t" l="l"/>
              <a:pathLst>
                <a:path h="647827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7827"/>
                  </a:lnTo>
                  <a:lnTo>
                    <a:pt x="0" y="6478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9809" r="0" b="-27980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267825" y="5939733"/>
            <a:ext cx="8229600" cy="492976"/>
            <a:chOff x="0" y="0"/>
            <a:chExt cx="10972800" cy="65730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657301"/>
            </a:xfrm>
            <a:custGeom>
              <a:avLst/>
              <a:gdLst/>
              <a:ahLst/>
              <a:cxnLst/>
              <a:rect r="r" b="b" t="t" l="l"/>
              <a:pathLst>
                <a:path h="65730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57301"/>
                  </a:lnTo>
                  <a:lnTo>
                    <a:pt x="0" y="657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5277" r="0" b="-27527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0972800" cy="666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7A4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Positive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5441806" y="505082"/>
            <a:ext cx="1817494" cy="523618"/>
            <a:chOff x="0" y="0"/>
            <a:chExt cx="2423325" cy="69815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74" r="-1" b="-80"/>
              </a:stretch>
            </a:blip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888025" y="6884165"/>
            <a:ext cx="8781393" cy="424624"/>
            <a:chOff x="0" y="0"/>
            <a:chExt cx="11708524" cy="56616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708511" cy="566166"/>
            </a:xfrm>
            <a:custGeom>
              <a:avLst/>
              <a:gdLst/>
              <a:ahLst/>
              <a:cxnLst/>
              <a:rect r="r" b="b" t="t" l="l"/>
              <a:pathLst>
                <a:path h="566166" w="11708511">
                  <a:moveTo>
                    <a:pt x="0" y="0"/>
                  </a:moveTo>
                  <a:lnTo>
                    <a:pt x="11708511" y="0"/>
                  </a:lnTo>
                  <a:lnTo>
                    <a:pt x="11708511" y="566166"/>
                  </a:lnTo>
                  <a:lnTo>
                    <a:pt x="0" y="5661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2678" r="0" b="-352678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88025" y="6877021"/>
            <a:ext cx="8781393" cy="431768"/>
            <a:chOff x="0" y="0"/>
            <a:chExt cx="11708524" cy="5756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708529" cy="575691"/>
            </a:xfrm>
            <a:custGeom>
              <a:avLst/>
              <a:gdLst/>
              <a:ahLst/>
              <a:cxnLst/>
              <a:rect r="r" b="b" t="t" l="l"/>
              <a:pathLst>
                <a:path h="575691" w="11708529">
                  <a:moveTo>
                    <a:pt x="0" y="0"/>
                  </a:moveTo>
                  <a:lnTo>
                    <a:pt x="11708529" y="0"/>
                  </a:lnTo>
                  <a:lnTo>
                    <a:pt x="11708529" y="575691"/>
                  </a:lnTo>
                  <a:lnTo>
                    <a:pt x="0" y="57569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46291" r="0" b="-34629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1708524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Followers Reach on Social Media Platforms 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88025" y="7163724"/>
            <a:ext cx="8781393" cy="630660"/>
            <a:chOff x="0" y="0"/>
            <a:chExt cx="11708524" cy="8408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708511" cy="840867"/>
            </a:xfrm>
            <a:custGeom>
              <a:avLst/>
              <a:gdLst/>
              <a:ahLst/>
              <a:cxnLst/>
              <a:rect r="r" b="b" t="t" l="l"/>
              <a:pathLst>
                <a:path h="840867" w="11708511">
                  <a:moveTo>
                    <a:pt x="0" y="0"/>
                  </a:moveTo>
                  <a:lnTo>
                    <a:pt x="11708511" y="0"/>
                  </a:lnTo>
                  <a:lnTo>
                    <a:pt x="1170851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1126" r="0" b="-221129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88025" y="7156580"/>
            <a:ext cx="8781393" cy="637804"/>
            <a:chOff x="0" y="0"/>
            <a:chExt cx="11708524" cy="85040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708529" cy="850403"/>
            </a:xfrm>
            <a:custGeom>
              <a:avLst/>
              <a:gdLst/>
              <a:ahLst/>
              <a:cxnLst/>
              <a:rect r="r" b="b" t="t" l="l"/>
              <a:pathLst>
                <a:path h="850403" w="11708529">
                  <a:moveTo>
                    <a:pt x="0" y="0"/>
                  </a:moveTo>
                  <a:lnTo>
                    <a:pt x="11708529" y="0"/>
                  </a:lnTo>
                  <a:lnTo>
                    <a:pt x="11708529" y="850403"/>
                  </a:lnTo>
                  <a:lnTo>
                    <a:pt x="0" y="85040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8273" r="0" b="-21827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1708524" cy="859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B8942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201,900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88025" y="8069999"/>
            <a:ext cx="8781393" cy="424624"/>
            <a:chOff x="0" y="0"/>
            <a:chExt cx="11708524" cy="56616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708511" cy="566166"/>
            </a:xfrm>
            <a:custGeom>
              <a:avLst/>
              <a:gdLst/>
              <a:ahLst/>
              <a:cxnLst/>
              <a:rect r="r" b="b" t="t" l="l"/>
              <a:pathLst>
                <a:path h="566166" w="11708511">
                  <a:moveTo>
                    <a:pt x="0" y="0"/>
                  </a:moveTo>
                  <a:lnTo>
                    <a:pt x="11708511" y="0"/>
                  </a:lnTo>
                  <a:lnTo>
                    <a:pt x="11708511" y="566166"/>
                  </a:lnTo>
                  <a:lnTo>
                    <a:pt x="0" y="5661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2678" r="0" b="-352678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88025" y="8062855"/>
            <a:ext cx="8781393" cy="431768"/>
            <a:chOff x="0" y="0"/>
            <a:chExt cx="11708524" cy="5756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708529" cy="575691"/>
            </a:xfrm>
            <a:custGeom>
              <a:avLst/>
              <a:gdLst/>
              <a:ahLst/>
              <a:cxnLst/>
              <a:rect r="r" b="b" t="t" l="l"/>
              <a:pathLst>
                <a:path h="575691" w="11708529">
                  <a:moveTo>
                    <a:pt x="0" y="0"/>
                  </a:moveTo>
                  <a:lnTo>
                    <a:pt x="11708529" y="0"/>
                  </a:lnTo>
                  <a:lnTo>
                    <a:pt x="11708529" y="575691"/>
                  </a:lnTo>
                  <a:lnTo>
                    <a:pt x="0" y="57569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46291" r="0" b="-3462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11708524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PR &amp; Media Coverage Reach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88025" y="8349558"/>
            <a:ext cx="8781393" cy="630660"/>
            <a:chOff x="0" y="0"/>
            <a:chExt cx="11708524" cy="8408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708511" cy="840867"/>
            </a:xfrm>
            <a:custGeom>
              <a:avLst/>
              <a:gdLst/>
              <a:ahLst/>
              <a:cxnLst/>
              <a:rect r="r" b="b" t="t" l="l"/>
              <a:pathLst>
                <a:path h="840867" w="11708511">
                  <a:moveTo>
                    <a:pt x="0" y="0"/>
                  </a:moveTo>
                  <a:lnTo>
                    <a:pt x="11708511" y="0"/>
                  </a:lnTo>
                  <a:lnTo>
                    <a:pt x="1170851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1126" r="0" b="-221129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88025" y="8342414"/>
            <a:ext cx="8781393" cy="637804"/>
            <a:chOff x="0" y="0"/>
            <a:chExt cx="11708524" cy="85040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708529" cy="850403"/>
            </a:xfrm>
            <a:custGeom>
              <a:avLst/>
              <a:gdLst/>
              <a:ahLst/>
              <a:cxnLst/>
              <a:rect r="r" b="b" t="t" l="l"/>
              <a:pathLst>
                <a:path h="850403" w="11708529">
                  <a:moveTo>
                    <a:pt x="0" y="0"/>
                  </a:moveTo>
                  <a:lnTo>
                    <a:pt x="11708529" y="0"/>
                  </a:lnTo>
                  <a:lnTo>
                    <a:pt x="11708529" y="850403"/>
                  </a:lnTo>
                  <a:lnTo>
                    <a:pt x="0" y="85040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8273" r="0" b="-21827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1708524" cy="859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B8942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5,715,400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63" cy="10853442"/>
            <a:chOff x="0" y="0"/>
            <a:chExt cx="25458484" cy="14471256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" t="0" r="-5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92490" y="4519613"/>
            <a:ext cx="1570302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Issues &amp; Recommendations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630343" y="1028700"/>
            <a:ext cx="2628967" cy="757152"/>
            <a:chOff x="0" y="0"/>
            <a:chExt cx="3505289" cy="1009536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3" r="1" b="-31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70" t="0" r="-37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616" t="0" r="-20616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13232" y="658368"/>
            <a:ext cx="12344400" cy="822855"/>
            <a:chOff x="0" y="0"/>
            <a:chExt cx="16459200" cy="1097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59200" cy="1097153"/>
            </a:xfrm>
            <a:custGeom>
              <a:avLst/>
              <a:gdLst/>
              <a:ahLst/>
              <a:cxnLst/>
              <a:rect r="r" b="b" t="t" l="l"/>
              <a:pathLst>
                <a:path h="1097153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106" r="0" b="-24210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3232" y="651224"/>
            <a:ext cx="12344400" cy="829999"/>
            <a:chOff x="0" y="0"/>
            <a:chExt cx="16459200" cy="11066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0" cy="1106660"/>
            </a:xfrm>
            <a:custGeom>
              <a:avLst/>
              <a:gdLst/>
              <a:ahLst/>
              <a:cxnLst/>
              <a:rect r="r" b="b" t="t" l="l"/>
              <a:pathLst>
                <a:path h="11066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106660"/>
                  </a:lnTo>
                  <a:lnTo>
                    <a:pt x="0" y="11066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798" r="0" b="-2397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459200" cy="1116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Issues &amp; Blockers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480060" y="1577340"/>
          <a:ext cx="17221200" cy="5994400"/>
        </p:xfrm>
        <a:graphic>
          <a:graphicData uri="http://schemas.openxmlformats.org/drawingml/2006/table">
            <a:tbl>
              <a:tblPr/>
              <a:tblGrid>
                <a:gridCol w="5666681"/>
                <a:gridCol w="2081435"/>
                <a:gridCol w="1862635"/>
                <a:gridCol w="1794212"/>
                <a:gridCol w="3829063"/>
                <a:gridCol w="1987173"/>
              </a:tblGrid>
              <a:tr h="7516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8"/>
                        </a:lnSpc>
                        <a:defRPr/>
                      </a:pPr>
                      <a:r>
                        <a:rPr lang="en-US" sz="2148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Action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9"/>
                        </a:lnSpc>
                        <a:defRPr/>
                      </a:pPr>
                      <a:r>
                        <a:rPr lang="en-US" sz="21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Issue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9"/>
                        </a:lnSpc>
                        <a:defRPr/>
                      </a:pPr>
                      <a:r>
                        <a:rPr lang="en-US" sz="21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Category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9"/>
                        </a:lnSpc>
                        <a:defRPr/>
                      </a:pPr>
                      <a:r>
                        <a:rPr lang="en-US" sz="21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Impact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9"/>
                        </a:lnSpc>
                        <a:defRPr/>
                      </a:pPr>
                      <a:r>
                        <a:rPr lang="en-US" sz="21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Owner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9"/>
                        </a:lnSpc>
                        <a:defRPr/>
                      </a:pPr>
                      <a:r>
                        <a:rPr lang="en-US" sz="21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Status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200000" r="-100000" t="200000" b="-100000"/>
                      </a:path>
                      <a:tileRect r="-300000" l="0" b="-300000" t="0"/>
                    </a:gradFill>
                  </a:tcPr>
                </a:tc>
              </a:tr>
              <a:tr h="2697354">
                <a:tc rowSpan="2">
                  <a:txBody>
                    <a:bodyPr anchor="t" rtlCol="false"/>
                    <a:lstStyle/>
                    <a:p>
                      <a:pPr algn="just">
                        <a:lnSpc>
                          <a:spcPts val="2338"/>
                        </a:lnSpc>
                        <a:defRPr/>
                      </a:pPr>
                      <a:r>
                        <a:rPr lang="en-US" sz="19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The WealthTech Team analyzed the onboarding report and Exante’s client area investment system, identified the target customers, and shared their details with Client Support for follow-up.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8"/>
                        </a:lnSpc>
                        <a:defRPr/>
                      </a:pPr>
                      <a:r>
                        <a:rPr lang="en-US" sz="1949" b="true">
                          <a:solidFill>
                            <a:srgbClr val="5A6A85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High drop-off at Phone Verification: </a:t>
                      </a:r>
                      <a:endParaRPr lang="en-US" sz="1100"/>
                    </a:p>
                    <a:p>
                      <a:pPr algn="ctr">
                        <a:lnSpc>
                          <a:spcPts val="2339"/>
                        </a:lnSpc>
                      </a:pPr>
                      <a:r>
                        <a:rPr lang="en-US" sz="19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43% of stalled users did not complete KYC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Onboarding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 b="true">
                          <a:solidFill>
                            <a:srgbClr val="C0392B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Client Solution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 b="true">
                          <a:solidFill>
                            <a:srgbClr val="8B6914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In Progress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  <a:tr h="2545350">
                <a:tc vMerge="true">
                  <a:txBody>
                    <a:bodyPr anchor="t" rtlCol="false"/>
                    <a:lstStyle/>
                    <a:p>
                      <a:pPr algn="just">
                        <a:lnSpc>
                          <a:spcPts val="2338"/>
                        </a:lnSpc>
                        <a:defRPr/>
                      </a:pPr>
                      <a:r>
                        <a:rPr lang="en-US" sz="19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The WealthTech Team analyzed the onboarding report and Exante’s client area investment system, identified the target customers, and shared their details with Client Support for follow-up.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8"/>
                        </a:lnSpc>
                        <a:defRPr/>
                      </a:pPr>
                      <a:r>
                        <a:rPr lang="en-US" sz="1949" b="true">
                          <a:solidFill>
                            <a:srgbClr val="5A6A85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Onboarded</a:t>
                      </a:r>
                      <a:r>
                        <a:rPr lang="en-US" sz="1949" b="true">
                          <a:solidFill>
                            <a:srgbClr val="5A6A85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-to-Invested Gap:</a:t>
                      </a:r>
                      <a:endParaRPr lang="en-US" sz="1100"/>
                    </a:p>
                    <a:p>
                      <a:pPr algn="ctr">
                        <a:lnSpc>
                          <a:spcPts val="2339"/>
                        </a:lnSpc>
                      </a:pPr>
                      <a:r>
                        <a:rPr lang="en-US" sz="19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 4 onboarded accounts remain unfunded, representing 67% of all approved accounts.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Deposit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 b="true">
                          <a:solidFill>
                            <a:srgbClr val="C0392B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Client Solution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 b="true">
                          <a:solidFill>
                            <a:srgbClr val="8B6914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In Progress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457200" y="7752617"/>
            <a:ext cx="17282160" cy="384048"/>
            <a:chOff x="0" y="0"/>
            <a:chExt cx="23042880" cy="512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042880" cy="512064"/>
            </a:xfrm>
            <a:custGeom>
              <a:avLst/>
              <a:gdLst/>
              <a:ahLst/>
              <a:cxnLst/>
              <a:rect r="r" b="b" t="t" l="l"/>
              <a:pathLst>
                <a:path h="512064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6217" r="0" b="-82621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57200" y="7745473"/>
            <a:ext cx="17282160" cy="391192"/>
            <a:chOff x="0" y="0"/>
            <a:chExt cx="23042880" cy="5215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42880" cy="521589"/>
            </a:xfrm>
            <a:custGeom>
              <a:avLst/>
              <a:gdLst/>
              <a:ahLst/>
              <a:cxnLst/>
              <a:rect r="r" b="b" t="t" l="l"/>
              <a:pathLst>
                <a:path h="521589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521589"/>
                  </a:lnTo>
                  <a:lnTo>
                    <a:pt x="0" y="52158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10814" r="0" b="-81081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304288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i="true">
                  <a:solidFill>
                    <a:srgbClr val="5A6A85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Status key:  Open = unresolved   |   In Progress = being worked on   |   Resolved = completed this month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5441806" y="505082"/>
            <a:ext cx="1817494" cy="523618"/>
            <a:chOff x="0" y="0"/>
            <a:chExt cx="2423325" cy="6981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74" r="-1" b="-8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089" y="6857790"/>
            <a:ext cx="8731282" cy="2439848"/>
            <a:chOff x="0" y="0"/>
            <a:chExt cx="11641709" cy="32531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41709" cy="3253131"/>
            </a:xfrm>
            <a:custGeom>
              <a:avLst/>
              <a:gdLst/>
              <a:ahLst/>
              <a:cxnLst/>
              <a:rect r="r" b="b" t="t" l="l"/>
              <a:pathLst>
                <a:path h="3253131" w="11641709">
                  <a:moveTo>
                    <a:pt x="0" y="0"/>
                  </a:moveTo>
                  <a:lnTo>
                    <a:pt x="11641709" y="0"/>
                  </a:lnTo>
                  <a:lnTo>
                    <a:pt x="11641709" y="3253131"/>
                  </a:lnTo>
                  <a:lnTo>
                    <a:pt x="0" y="325313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D8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52089" y="6857790"/>
            <a:ext cx="812578" cy="2439848"/>
            <a:chOff x="0" y="0"/>
            <a:chExt cx="1083437" cy="32531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83437" cy="3253131"/>
            </a:xfrm>
            <a:custGeom>
              <a:avLst/>
              <a:gdLst/>
              <a:ahLst/>
              <a:cxnLst/>
              <a:rect r="r" b="b" t="t" l="l"/>
              <a:pathLst>
                <a:path h="3253131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3253131"/>
                  </a:lnTo>
                  <a:lnTo>
                    <a:pt x="0" y="3253131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10" y="6857790"/>
            <a:ext cx="768096" cy="2417588"/>
            <a:chOff x="0" y="0"/>
            <a:chExt cx="1024128" cy="32234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3223451"/>
            </a:xfrm>
            <a:custGeom>
              <a:avLst/>
              <a:gdLst/>
              <a:ahLst/>
              <a:cxnLst/>
              <a:rect r="r" b="b" t="t" l="l"/>
              <a:pathLst>
                <a:path h="3223451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223451"/>
                  </a:lnTo>
                  <a:lnTo>
                    <a:pt x="0" y="32234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4117" t="0" r="-35411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4310" y="6870568"/>
            <a:ext cx="768096" cy="2408207"/>
            <a:chOff x="0" y="0"/>
            <a:chExt cx="1024128" cy="32109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" cy="3210942"/>
            </a:xfrm>
            <a:custGeom>
              <a:avLst/>
              <a:gdLst/>
              <a:ahLst/>
              <a:cxnLst/>
              <a:rect r="r" b="b" t="t" l="l"/>
              <a:pathLst>
                <a:path h="321094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210942"/>
                  </a:lnTo>
                  <a:lnTo>
                    <a:pt x="0" y="3210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4694" t="0" r="-424694" b="-180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24128" cy="3220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9A84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8710" y="6587042"/>
            <a:ext cx="7644384" cy="548640"/>
            <a:chOff x="0" y="0"/>
            <a:chExt cx="10192512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92512" cy="731520"/>
            </a:xfrm>
            <a:custGeom>
              <a:avLst/>
              <a:gdLst/>
              <a:ahLst/>
              <a:cxnLst/>
              <a:rect r="r" b="b" t="t" l="l"/>
              <a:pathLst>
                <a:path h="7315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302" r="0" b="-22130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88710" y="6994393"/>
            <a:ext cx="7644384" cy="555784"/>
            <a:chOff x="0" y="0"/>
            <a:chExt cx="10192512" cy="7410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92512" cy="741045"/>
            </a:xfrm>
            <a:custGeom>
              <a:avLst/>
              <a:gdLst/>
              <a:ahLst/>
              <a:cxnLst/>
              <a:rect r="r" b="b" t="t" l="l"/>
              <a:pathLst>
                <a:path h="741045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001" r="0" b="-2180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0192512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B2D4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System Enhancements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0150" y="7552368"/>
            <a:ext cx="7498080" cy="1056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348" indent="-152783" lvl="2">
              <a:lnSpc>
                <a:spcPts val="2849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Investigate</a:t>
            </a: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 a persistent KYC journey, users resume from their last completed step, not the beginning.</a:t>
            </a:r>
          </a:p>
          <a:p>
            <a:pPr algn="l" marL="458348" indent="-152783" lvl="2">
              <a:lnSpc>
                <a:spcPts val="2849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Timeline &amp; cost will be considered once received from Exante.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04649" y="1902019"/>
            <a:ext cx="8406274" cy="2879122"/>
            <a:chOff x="0" y="0"/>
            <a:chExt cx="11208365" cy="38388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08365" cy="3838829"/>
            </a:xfrm>
            <a:custGeom>
              <a:avLst/>
              <a:gdLst/>
              <a:ahLst/>
              <a:cxnLst/>
              <a:rect r="r" b="b" t="t" l="l"/>
              <a:pathLst>
                <a:path h="3838829" w="11208365">
                  <a:moveTo>
                    <a:pt x="0" y="0"/>
                  </a:moveTo>
                  <a:lnTo>
                    <a:pt x="11208365" y="0"/>
                  </a:lnTo>
                  <a:lnTo>
                    <a:pt x="11208365" y="3838829"/>
                  </a:lnTo>
                  <a:lnTo>
                    <a:pt x="0" y="38388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D8E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304649" y="1902019"/>
            <a:ext cx="812578" cy="2879122"/>
            <a:chOff x="0" y="0"/>
            <a:chExt cx="1083437" cy="38388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3437" cy="3838829"/>
            </a:xfrm>
            <a:custGeom>
              <a:avLst/>
              <a:gdLst/>
              <a:ahLst/>
              <a:cxnLst/>
              <a:rect r="r" b="b" t="t" l="l"/>
              <a:pathLst>
                <a:path h="3838829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3838829"/>
                  </a:lnTo>
                  <a:lnTo>
                    <a:pt x="0" y="3838829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26870" y="1924241"/>
            <a:ext cx="768096" cy="2834640"/>
            <a:chOff x="0" y="0"/>
            <a:chExt cx="1024128" cy="3779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3830" t="0" r="-42383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26870" y="1917097"/>
            <a:ext cx="768096" cy="2841784"/>
            <a:chOff x="0" y="0"/>
            <a:chExt cx="1024128" cy="37890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4128" cy="3789045"/>
            </a:xfrm>
            <a:custGeom>
              <a:avLst/>
              <a:gdLst/>
              <a:ahLst/>
              <a:cxnLst/>
              <a:rect r="r" b="b" t="t" l="l"/>
              <a:pathLst>
                <a:path h="3789045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789045"/>
                  </a:lnTo>
                  <a:lnTo>
                    <a:pt x="0" y="3789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4694" t="0" r="-42469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024128" cy="3798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9A84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41270" y="2070544"/>
            <a:ext cx="7644384" cy="548640"/>
            <a:chOff x="0" y="0"/>
            <a:chExt cx="10192512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92512" cy="731520"/>
            </a:xfrm>
            <a:custGeom>
              <a:avLst/>
              <a:gdLst/>
              <a:ahLst/>
              <a:cxnLst/>
              <a:rect r="r" b="b" t="t" l="l"/>
              <a:pathLst>
                <a:path h="7315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302" r="0" b="-22130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241270" y="2063401"/>
            <a:ext cx="7644384" cy="555784"/>
            <a:chOff x="0" y="0"/>
            <a:chExt cx="10192512" cy="7410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92512" cy="741045"/>
            </a:xfrm>
            <a:custGeom>
              <a:avLst/>
              <a:gdLst/>
              <a:ahLst/>
              <a:cxnLst/>
              <a:rect r="r" b="b" t="t" l="l"/>
              <a:pathLst>
                <a:path h="741045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001" r="0" b="-21800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0192512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B2D4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 Targetting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332710" y="2621375"/>
            <a:ext cx="7223770" cy="1756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229" indent="-152743" lvl="2">
              <a:lnSpc>
                <a:spcPts val="2848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Analyze the results of the marketing pilot phase, and prepare for a bigger targeted campaign through optimized channels and updated marketing content.</a:t>
            </a:r>
          </a:p>
          <a:p>
            <a:pPr algn="l" marL="458229" indent="-152743" lvl="2">
              <a:lnSpc>
                <a:spcPts val="2849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I</a:t>
            </a: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ncorporate timely reminders with the cooperation of Client Solutions to encourage clients to trade.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304649" y="5382892"/>
            <a:ext cx="8406274" cy="3884962"/>
            <a:chOff x="0" y="0"/>
            <a:chExt cx="11208365" cy="517994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208365" cy="5179949"/>
            </a:xfrm>
            <a:custGeom>
              <a:avLst/>
              <a:gdLst/>
              <a:ahLst/>
              <a:cxnLst/>
              <a:rect r="r" b="b" t="t" l="l"/>
              <a:pathLst>
                <a:path h="5179949" w="11208365">
                  <a:moveTo>
                    <a:pt x="0" y="0"/>
                  </a:moveTo>
                  <a:lnTo>
                    <a:pt x="11208365" y="0"/>
                  </a:lnTo>
                  <a:lnTo>
                    <a:pt x="11208365" y="5179949"/>
                  </a:lnTo>
                  <a:lnTo>
                    <a:pt x="0" y="5179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D8E8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304649" y="5382892"/>
            <a:ext cx="812578" cy="3884962"/>
            <a:chOff x="0" y="0"/>
            <a:chExt cx="1083437" cy="517994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83437" cy="5179949"/>
            </a:xfrm>
            <a:custGeom>
              <a:avLst/>
              <a:gdLst/>
              <a:ahLst/>
              <a:cxnLst/>
              <a:rect r="r" b="b" t="t" l="l"/>
              <a:pathLst>
                <a:path h="5179949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5179949"/>
                  </a:lnTo>
                  <a:lnTo>
                    <a:pt x="0" y="5179949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326870" y="5405114"/>
            <a:ext cx="768096" cy="3840480"/>
            <a:chOff x="0" y="0"/>
            <a:chExt cx="1024128" cy="5120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1964" t="0" r="-591964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326870" y="5397970"/>
            <a:ext cx="768096" cy="3847624"/>
            <a:chOff x="0" y="0"/>
            <a:chExt cx="1024128" cy="513016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" cy="5130165"/>
            </a:xfrm>
            <a:custGeom>
              <a:avLst/>
              <a:gdLst/>
              <a:ahLst/>
              <a:cxnLst/>
              <a:rect r="r" b="b" t="t" l="l"/>
              <a:pathLst>
                <a:path h="5130165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5130165"/>
                  </a:lnTo>
                  <a:lnTo>
                    <a:pt x="0" y="5130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711" t="0" r="-59271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024128" cy="5139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9A84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241270" y="5551418"/>
            <a:ext cx="7644384" cy="548640"/>
            <a:chOff x="0" y="0"/>
            <a:chExt cx="10192512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192512" cy="731520"/>
            </a:xfrm>
            <a:custGeom>
              <a:avLst/>
              <a:gdLst/>
              <a:ahLst/>
              <a:cxnLst/>
              <a:rect r="r" b="b" t="t" l="l"/>
              <a:pathLst>
                <a:path h="7315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302" r="0" b="-221303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241270" y="5544274"/>
            <a:ext cx="7644384" cy="555784"/>
            <a:chOff x="0" y="0"/>
            <a:chExt cx="10192512" cy="74104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192512" cy="741045"/>
            </a:xfrm>
            <a:custGeom>
              <a:avLst/>
              <a:gdLst/>
              <a:ahLst/>
              <a:cxnLst/>
              <a:rect r="r" b="b" t="t" l="l"/>
              <a:pathLst>
                <a:path h="741045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001" r="0" b="-21800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0192512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B2D4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 Education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332710" y="6102248"/>
            <a:ext cx="7498080" cy="10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348" indent="-152783" lvl="2">
              <a:lnSpc>
                <a:spcPts val="2849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Use social media channels to educate users on required documents and reduce onboarding friction.</a:t>
            </a:r>
          </a:p>
          <a:p>
            <a:pPr algn="l" marL="458348" indent="-152783" lvl="2">
              <a:lnSpc>
                <a:spcPts val="2849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Include document requirements in the re-engagement email.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13232" y="658368"/>
            <a:ext cx="12344400" cy="822855"/>
            <a:chOff x="0" y="0"/>
            <a:chExt cx="16459200" cy="10971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459200" cy="1097153"/>
            </a:xfrm>
            <a:custGeom>
              <a:avLst/>
              <a:gdLst/>
              <a:ahLst/>
              <a:cxnLst/>
              <a:rect r="r" b="b" t="t" l="l"/>
              <a:pathLst>
                <a:path h="1097153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106" r="0" b="-242105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13232" y="651224"/>
            <a:ext cx="12344400" cy="829999"/>
            <a:chOff x="0" y="0"/>
            <a:chExt cx="16459200" cy="110666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459200" cy="1106660"/>
            </a:xfrm>
            <a:custGeom>
              <a:avLst/>
              <a:gdLst/>
              <a:ahLst/>
              <a:cxnLst/>
              <a:rect r="r" b="b" t="t" l="l"/>
              <a:pathLst>
                <a:path h="11066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106660"/>
                  </a:lnTo>
                  <a:lnTo>
                    <a:pt x="0" y="11066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798" r="0" b="-23979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6459200" cy="1116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Recommendations &amp; Actions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5441806" y="505082"/>
            <a:ext cx="1817494" cy="523618"/>
            <a:chOff x="0" y="0"/>
            <a:chExt cx="2423325" cy="69815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4" r="-1" b="-8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252089" y="1902019"/>
            <a:ext cx="8731282" cy="4685024"/>
            <a:chOff x="0" y="0"/>
            <a:chExt cx="11641709" cy="624669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641709" cy="6246643"/>
            </a:xfrm>
            <a:custGeom>
              <a:avLst/>
              <a:gdLst/>
              <a:ahLst/>
              <a:cxnLst/>
              <a:rect r="r" b="b" t="t" l="l"/>
              <a:pathLst>
                <a:path h="6246643" w="11641709">
                  <a:moveTo>
                    <a:pt x="0" y="0"/>
                  </a:moveTo>
                  <a:lnTo>
                    <a:pt x="11641709" y="0"/>
                  </a:lnTo>
                  <a:lnTo>
                    <a:pt x="11641709" y="6246643"/>
                  </a:lnTo>
                  <a:lnTo>
                    <a:pt x="0" y="624664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D8E8"/>
              </a:solidFill>
              <a:prstDash val="solid"/>
              <a:miter/>
            </a:ln>
          </p:spPr>
        </p:sp>
      </p:grpSp>
      <p:sp>
        <p:nvSpPr>
          <p:cNvPr name="Freeform 57" id="57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16" t="0" r="-20616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252089" y="1902019"/>
            <a:ext cx="812578" cy="4685024"/>
            <a:chOff x="0" y="0"/>
            <a:chExt cx="1083437" cy="624669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83437" cy="6246711"/>
            </a:xfrm>
            <a:custGeom>
              <a:avLst/>
              <a:gdLst/>
              <a:ahLst/>
              <a:cxnLst/>
              <a:rect r="r" b="b" t="t" l="l"/>
              <a:pathLst>
                <a:path h="6246711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6246711"/>
                  </a:lnTo>
                  <a:lnTo>
                    <a:pt x="0" y="6246711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260604" y="1936947"/>
            <a:ext cx="768096" cy="4650095"/>
            <a:chOff x="0" y="0"/>
            <a:chExt cx="1024128" cy="620012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" cy="6200140"/>
            </a:xfrm>
            <a:custGeom>
              <a:avLst/>
              <a:gdLst/>
              <a:ahLst/>
              <a:cxnLst/>
              <a:rect r="r" b="b" t="t" l="l"/>
              <a:pathLst>
                <a:path h="620014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6200140"/>
                  </a:lnTo>
                  <a:lnTo>
                    <a:pt x="0" y="62001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7300" t="0" r="-72730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260604" y="1929803"/>
            <a:ext cx="768096" cy="4657239"/>
            <a:chOff x="0" y="0"/>
            <a:chExt cx="1024128" cy="62096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4128" cy="6209651"/>
            </a:xfrm>
            <a:custGeom>
              <a:avLst/>
              <a:gdLst/>
              <a:ahLst/>
              <a:cxnLst/>
              <a:rect r="r" b="b" t="t" l="l"/>
              <a:pathLst>
                <a:path h="6209651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6209651"/>
                  </a:lnTo>
                  <a:lnTo>
                    <a:pt x="0" y="6209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1968" t="0" r="-661968" b="848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1024128" cy="62191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9A84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01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88710" y="2070544"/>
            <a:ext cx="7644384" cy="548640"/>
            <a:chOff x="0" y="0"/>
            <a:chExt cx="10192512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192512" cy="731520"/>
            </a:xfrm>
            <a:custGeom>
              <a:avLst/>
              <a:gdLst/>
              <a:ahLst/>
              <a:cxnLst/>
              <a:rect r="r" b="b" t="t" l="l"/>
              <a:pathLst>
                <a:path h="7315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302" r="0" b="-221303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88710" y="2063401"/>
            <a:ext cx="7644384" cy="555784"/>
            <a:chOff x="0" y="0"/>
            <a:chExt cx="10192512" cy="74104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192512" cy="741045"/>
            </a:xfrm>
            <a:custGeom>
              <a:avLst/>
              <a:gdLst/>
              <a:ahLst/>
              <a:cxnLst/>
              <a:rect r="r" b="b" t="t" l="l"/>
              <a:pathLst>
                <a:path h="741045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001" r="0" b="-21800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10192512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B2D4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 Communications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280150" y="2604706"/>
            <a:ext cx="7498080" cy="351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348" indent="-152783" lvl="2">
              <a:lnSpc>
                <a:spcPts val="2849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Export emails of pending users and assign to Client Solutions Team for immediate follow-up.</a:t>
            </a:r>
          </a:p>
          <a:p>
            <a:pPr algn="l" marL="458348" indent="-152783" lvl="2">
              <a:lnSpc>
                <a:spcPts val="2849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Deploy a customised HTML based re-engagement email with app download links (Android &amp; iOS), social media handles and website.</a:t>
            </a:r>
          </a:p>
          <a:p>
            <a:pPr algn="l" marL="458348" indent="-152783" lvl="2">
              <a:lnSpc>
                <a:spcPts val="2849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Track email click-through rates to measure conversion, report results in June.</a:t>
            </a:r>
          </a:p>
          <a:p>
            <a:pPr algn="l" marL="458348" indent="-152783" lvl="2">
              <a:lnSpc>
                <a:spcPts val="2849"/>
              </a:lnSpc>
              <a:buFont typeface="Arial"/>
              <a:buChar char="⚬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For users with available phone numbers, the Client Solutions team can conduct a verbal survey in order to understand any barriers preventing them to continue onboarding.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63" cy="10853442"/>
            <a:chOff x="0" y="0"/>
            <a:chExt cx="25458484" cy="14471256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" t="0" r="-5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92485" y="3771043"/>
            <a:ext cx="1570302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8"/>
              </a:lnSpc>
            </a:pPr>
            <a:r>
              <a:rPr lang="en-US" sz="8398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21562" y="5639876"/>
            <a:ext cx="5554713" cy="96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sz="3176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June </a:t>
            </a:r>
            <a:r>
              <a:rPr lang="en-US" sz="3176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2026 </a:t>
            </a:r>
          </a:p>
          <a:p>
            <a:pPr algn="ctr">
              <a:lnSpc>
                <a:spcPts val="3811"/>
              </a:lnSpc>
            </a:pPr>
            <a:r>
              <a:rPr lang="en-US" sz="3176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Invest Wisely. Trade Precisely.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343" y="1028700"/>
            <a:ext cx="2628967" cy="757152"/>
            <a:chOff x="0" y="0"/>
            <a:chExt cx="3505289" cy="100953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3" r="1" b="-314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70" t="0" r="-37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16" t="0" r="-2061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36995" y="1549332"/>
            <a:ext cx="5153025" cy="5520349"/>
            <a:chOff x="0" y="0"/>
            <a:chExt cx="4643979" cy="49750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43979" cy="4975017"/>
            </a:xfrm>
            <a:custGeom>
              <a:avLst/>
              <a:gdLst/>
              <a:ahLst/>
              <a:cxnLst/>
              <a:rect r="r" b="b" t="t" l="l"/>
              <a:pathLst>
                <a:path h="4975017" w="4643979">
                  <a:moveTo>
                    <a:pt x="0" y="0"/>
                  </a:moveTo>
                  <a:lnTo>
                    <a:pt x="4643979" y="0"/>
                  </a:lnTo>
                  <a:lnTo>
                    <a:pt x="4643979" y="4975017"/>
                  </a:lnTo>
                  <a:lnTo>
                    <a:pt x="0" y="497501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399645" y="1549332"/>
            <a:ext cx="5153025" cy="5520349"/>
            <a:chOff x="0" y="0"/>
            <a:chExt cx="4643979" cy="49750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43979" cy="4975017"/>
            </a:xfrm>
            <a:custGeom>
              <a:avLst/>
              <a:gdLst/>
              <a:ahLst/>
              <a:cxnLst/>
              <a:rect r="r" b="b" t="t" l="l"/>
              <a:pathLst>
                <a:path h="4975017" w="4643979">
                  <a:moveTo>
                    <a:pt x="0" y="0"/>
                  </a:moveTo>
                  <a:lnTo>
                    <a:pt x="4643979" y="0"/>
                  </a:lnTo>
                  <a:lnTo>
                    <a:pt x="4643979" y="4975017"/>
                  </a:lnTo>
                  <a:lnTo>
                    <a:pt x="0" y="497501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70535" y="1549332"/>
            <a:ext cx="5153025" cy="5520349"/>
            <a:chOff x="0" y="0"/>
            <a:chExt cx="4643979" cy="49750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43979" cy="4975017"/>
            </a:xfrm>
            <a:custGeom>
              <a:avLst/>
              <a:gdLst/>
              <a:ahLst/>
              <a:cxnLst/>
              <a:rect r="r" b="b" t="t" l="l"/>
              <a:pathLst>
                <a:path h="4975017" w="4643979">
                  <a:moveTo>
                    <a:pt x="0" y="0"/>
                  </a:moveTo>
                  <a:lnTo>
                    <a:pt x="4643979" y="0"/>
                  </a:lnTo>
                  <a:lnTo>
                    <a:pt x="4643979" y="4975017"/>
                  </a:lnTo>
                  <a:lnTo>
                    <a:pt x="0" y="4975017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200000" r="-100000" t="200000" b="-100000"/>
              </a:path>
              <a:tileRect r="-300000" l="0" b="-300000" t="0"/>
            </a:gradFill>
            <a:ln cap="sq">
              <a:noFill/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13232" y="658368"/>
            <a:ext cx="12344400" cy="822855"/>
            <a:chOff x="0" y="0"/>
            <a:chExt cx="16459200" cy="1097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1097153"/>
            </a:xfrm>
            <a:custGeom>
              <a:avLst/>
              <a:gdLst/>
              <a:ahLst/>
              <a:cxnLst/>
              <a:rect r="r" b="b" t="t" l="l"/>
              <a:pathLst>
                <a:path h="1097153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53"/>
                  </a:lnTo>
                  <a:lnTo>
                    <a:pt x="0" y="10971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106" r="0" b="-24210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13232" y="651224"/>
            <a:ext cx="12344400" cy="829999"/>
            <a:chOff x="0" y="0"/>
            <a:chExt cx="16459200" cy="1106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59200" cy="1106660"/>
            </a:xfrm>
            <a:custGeom>
              <a:avLst/>
              <a:gdLst/>
              <a:ahLst/>
              <a:cxnLst/>
              <a:rect r="r" b="b" t="t" l="l"/>
              <a:pathLst>
                <a:path h="11066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106660"/>
                  </a:lnTo>
                  <a:lnTo>
                    <a:pt x="0" y="11066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798" r="0" b="-23979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6459200" cy="1116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200000" r="-100000" t="200000" b="-100000"/>
                    </a:path>
                    <a:tileRect r="-300000" l="0" b="-300000" t="0"/>
                  </a:gradFill>
                  <a:latin typeface="Exo 2 Bold"/>
                  <a:ea typeface="Exo 2 Bold"/>
                  <a:cs typeface="Exo 2 Bold"/>
                  <a:sym typeface="Exo 2 Bold"/>
                </a:rPr>
                <a:t>Wins This Month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596515" y="1773555"/>
            <a:ext cx="1116330" cy="1116330"/>
          </a:xfrm>
          <a:custGeom>
            <a:avLst/>
            <a:gdLst/>
            <a:ahLst/>
            <a:cxnLst/>
            <a:rect r="r" b="b" t="t" l="l"/>
            <a:pathLst>
              <a:path h="1116330" w="1116330">
                <a:moveTo>
                  <a:pt x="0" y="0"/>
                </a:moveTo>
                <a:lnTo>
                  <a:pt x="1116330" y="0"/>
                </a:lnTo>
                <a:lnTo>
                  <a:pt x="1116330" y="1116330"/>
                </a:lnTo>
                <a:lnTo>
                  <a:pt x="0" y="11163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615565" y="1754886"/>
            <a:ext cx="1097280" cy="1097280"/>
            <a:chOff x="0" y="0"/>
            <a:chExt cx="146304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2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615565" y="1747742"/>
            <a:ext cx="1097280" cy="1104424"/>
            <a:chOff x="0" y="0"/>
            <a:chExt cx="1463040" cy="14725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" cy="1472565"/>
            </a:xfrm>
            <a:custGeom>
              <a:avLst/>
              <a:gdLst/>
              <a:ahLst/>
              <a:cxnLst/>
              <a:rect r="r" b="b" t="t" l="l"/>
              <a:pathLst>
                <a:path h="1472565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138" t="0" r="-79138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5800" y="3086100"/>
            <a:ext cx="4937760" cy="623383"/>
            <a:chOff x="0" y="0"/>
            <a:chExt cx="6583680" cy="8311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0" cy="831215"/>
            </a:xfrm>
            <a:custGeom>
              <a:avLst/>
              <a:gdLst/>
              <a:ahLst/>
              <a:cxnLst/>
              <a:rect r="r" b="b" t="t" l="l"/>
              <a:pathLst>
                <a:path h="83121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31215"/>
                  </a:lnTo>
                  <a:lnTo>
                    <a:pt x="0" y="831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227" r="0" b="-10422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5800" y="3078956"/>
            <a:ext cx="4937760" cy="704272"/>
            <a:chOff x="0" y="0"/>
            <a:chExt cx="6583680" cy="9390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939031"/>
            </a:xfrm>
            <a:custGeom>
              <a:avLst/>
              <a:gdLst/>
              <a:ahLst/>
              <a:cxnLst/>
              <a:rect r="r" b="b" t="t" l="l"/>
              <a:pathLst>
                <a:path h="939031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39031"/>
                  </a:lnTo>
                  <a:lnTo>
                    <a:pt x="0" y="9390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848" r="0" b="-8137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583680" cy="948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19"/>
                </a:lnSpc>
              </a:pPr>
              <a:r>
                <a:rPr lang="en-US" b="true" sz="3348">
                  <a:gradFill>
                    <a:gsLst>
                      <a:gs pos="0">
                        <a:srgbClr val="D4AF37">
                          <a:alpha val="100000"/>
                        </a:srgbClr>
                      </a:gs>
                      <a:gs pos="100000">
                        <a:srgbClr val="8D763B">
                          <a:alpha val="100000"/>
                        </a:srgbClr>
                      </a:gs>
                    </a:gsLst>
                    <a:lin ang="54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Win 1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45820" y="4219575"/>
            <a:ext cx="4400550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i="true">
                <a:solidFill>
                  <a:srgbClr val="F4F6FA"/>
                </a:solidFill>
                <a:latin typeface="Exo 2 Italics"/>
                <a:ea typeface="Exo 2 Italics"/>
                <a:cs typeface="Exo 2 Italics"/>
                <a:sym typeface="Exo 2 Italics"/>
              </a:rPr>
              <a:t>Payment rails confirmed. First live trades placed. 100% uptime, and zero compliance breaches across 134 KYC applications. All in the first 14 days.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562975" y="1773555"/>
            <a:ext cx="1116330" cy="1116330"/>
          </a:xfrm>
          <a:custGeom>
            <a:avLst/>
            <a:gdLst/>
            <a:ahLst/>
            <a:cxnLst/>
            <a:rect r="r" b="b" t="t" l="l"/>
            <a:pathLst>
              <a:path h="1116330" w="1116330">
                <a:moveTo>
                  <a:pt x="0" y="0"/>
                </a:moveTo>
                <a:lnTo>
                  <a:pt x="1116330" y="0"/>
                </a:lnTo>
                <a:lnTo>
                  <a:pt x="1116330" y="1116330"/>
                </a:lnTo>
                <a:lnTo>
                  <a:pt x="0" y="11163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8572500" y="1783080"/>
            <a:ext cx="1097280" cy="1097280"/>
            <a:chOff x="0" y="0"/>
            <a:chExt cx="146304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2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72500" y="1775936"/>
            <a:ext cx="1097280" cy="1104424"/>
            <a:chOff x="0" y="0"/>
            <a:chExt cx="1463040" cy="147256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0" cy="1472565"/>
            </a:xfrm>
            <a:custGeom>
              <a:avLst/>
              <a:gdLst/>
              <a:ahLst/>
              <a:cxnLst/>
              <a:rect r="r" b="b" t="t" l="l"/>
              <a:pathLst>
                <a:path h="1472565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138" t="0" r="-79138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652260" y="3086100"/>
            <a:ext cx="4937760" cy="623383"/>
            <a:chOff x="0" y="0"/>
            <a:chExt cx="6583680" cy="8311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831215"/>
            </a:xfrm>
            <a:custGeom>
              <a:avLst/>
              <a:gdLst/>
              <a:ahLst/>
              <a:cxnLst/>
              <a:rect r="r" b="b" t="t" l="l"/>
              <a:pathLst>
                <a:path h="83121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31215"/>
                  </a:lnTo>
                  <a:lnTo>
                    <a:pt x="0" y="831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227" r="0" b="-104221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652260" y="3078956"/>
            <a:ext cx="4937760" cy="704272"/>
            <a:chOff x="0" y="0"/>
            <a:chExt cx="6583680" cy="9390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83680" cy="939031"/>
            </a:xfrm>
            <a:custGeom>
              <a:avLst/>
              <a:gdLst/>
              <a:ahLst/>
              <a:cxnLst/>
              <a:rect r="r" b="b" t="t" l="l"/>
              <a:pathLst>
                <a:path h="939031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39031"/>
                  </a:lnTo>
                  <a:lnTo>
                    <a:pt x="0" y="9390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848" r="0" b="-8137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6583680" cy="948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19"/>
                </a:lnSpc>
              </a:pPr>
              <a:r>
                <a:rPr lang="en-US" b="true" sz="3348">
                  <a:gradFill>
                    <a:gsLst>
                      <a:gs pos="0">
                        <a:srgbClr val="D4AF37">
                          <a:alpha val="100000"/>
                        </a:srgbClr>
                      </a:gs>
                      <a:gs pos="100000">
                        <a:srgbClr val="8D763B">
                          <a:alpha val="100000"/>
                        </a:srgbClr>
                      </a:gs>
                    </a:gsLst>
                    <a:lin ang="54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Win 2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812280" y="4219575"/>
            <a:ext cx="4431446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i="true">
                <a:solidFill>
                  <a:srgbClr val="F4F6FA"/>
                </a:solidFill>
                <a:latin typeface="Exo 2 Italics"/>
                <a:ea typeface="Exo 2 Italics"/>
                <a:cs typeface="Exo 2 Italics"/>
                <a:sym typeface="Exo 2 Italics"/>
              </a:rPr>
              <a:t>One release. 17 outlets. 20 clippings. 5,715,400 in media reach and 8,712,000 OTS. Zawya, Alayam, Alwatannews, and 13 others. Entirely earned. Zero paid placement.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4529435" y="1773555"/>
            <a:ext cx="1116330" cy="1116330"/>
          </a:xfrm>
          <a:custGeom>
            <a:avLst/>
            <a:gdLst/>
            <a:ahLst/>
            <a:cxnLst/>
            <a:rect r="r" b="b" t="t" l="l"/>
            <a:pathLst>
              <a:path h="1116330" w="1116330">
                <a:moveTo>
                  <a:pt x="0" y="0"/>
                </a:moveTo>
                <a:lnTo>
                  <a:pt x="1116330" y="0"/>
                </a:lnTo>
                <a:lnTo>
                  <a:pt x="1116330" y="1116330"/>
                </a:lnTo>
                <a:lnTo>
                  <a:pt x="0" y="11163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4538960" y="1783080"/>
            <a:ext cx="1097280" cy="1097280"/>
            <a:chOff x="0" y="0"/>
            <a:chExt cx="146304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2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538960" y="1775936"/>
            <a:ext cx="1097280" cy="1104424"/>
            <a:chOff x="0" y="0"/>
            <a:chExt cx="1463040" cy="147256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63040" cy="1472565"/>
            </a:xfrm>
            <a:custGeom>
              <a:avLst/>
              <a:gdLst/>
              <a:ahLst/>
              <a:cxnLst/>
              <a:rect r="r" b="b" t="t" l="l"/>
              <a:pathLst>
                <a:path h="1472565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138" t="0" r="-79138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618720" y="3086100"/>
            <a:ext cx="4937760" cy="623383"/>
            <a:chOff x="0" y="0"/>
            <a:chExt cx="6583680" cy="83117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83680" cy="831215"/>
            </a:xfrm>
            <a:custGeom>
              <a:avLst/>
              <a:gdLst/>
              <a:ahLst/>
              <a:cxnLst/>
              <a:rect r="r" b="b" t="t" l="l"/>
              <a:pathLst>
                <a:path h="83121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31215"/>
                  </a:lnTo>
                  <a:lnTo>
                    <a:pt x="0" y="831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227" r="0" b="-104221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618720" y="3078956"/>
            <a:ext cx="4937760" cy="704272"/>
            <a:chOff x="0" y="0"/>
            <a:chExt cx="6583680" cy="93902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0" cy="939031"/>
            </a:xfrm>
            <a:custGeom>
              <a:avLst/>
              <a:gdLst/>
              <a:ahLst/>
              <a:cxnLst/>
              <a:rect r="r" b="b" t="t" l="l"/>
              <a:pathLst>
                <a:path h="939031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39031"/>
                  </a:lnTo>
                  <a:lnTo>
                    <a:pt x="0" y="9390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848" r="0" b="-8137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6583680" cy="948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19"/>
                </a:lnSpc>
              </a:pPr>
              <a:r>
                <a:rPr lang="en-US" b="true" sz="3348">
                  <a:gradFill>
                    <a:gsLst>
                      <a:gs pos="0">
                        <a:srgbClr val="D4AF37">
                          <a:alpha val="100000"/>
                        </a:srgbClr>
                      </a:gs>
                      <a:gs pos="100000">
                        <a:srgbClr val="8D763B">
                          <a:alpha val="100000"/>
                        </a:srgbClr>
                      </a:gs>
                    </a:gsLst>
                    <a:lin ang="54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Win 3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778740" y="4219575"/>
            <a:ext cx="4286566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i="true">
                <a:solidFill>
                  <a:srgbClr val="F4F6FA"/>
                </a:solidFill>
                <a:latin typeface="Exo 2 Italics"/>
                <a:ea typeface="Exo 2 Italics"/>
                <a:cs typeface="Exo 2 Italics"/>
                <a:sym typeface="Exo 2 Italics"/>
              </a:rPr>
              <a:t>126 downloads. Perfect rating on both stores. Zero negative reviews. 96.9% of X reach in Saudi Arabia. 62% of LinkedIn followers in Banking, Investment Management, or Financial Services.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5441806" y="505082"/>
            <a:ext cx="1817494" cy="523618"/>
            <a:chOff x="0" y="0"/>
            <a:chExt cx="2423325" cy="69815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74" r="-1" b="-80"/>
              </a:stretch>
            </a:blip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470535" y="648843"/>
            <a:ext cx="115062" cy="732282"/>
          </a:xfrm>
          <a:custGeom>
            <a:avLst/>
            <a:gdLst/>
            <a:ahLst/>
            <a:cxnLst/>
            <a:rect r="r" b="b" t="t" l="l"/>
            <a:pathLst>
              <a:path h="732282" w="115062">
                <a:moveTo>
                  <a:pt x="0" y="0"/>
                </a:moveTo>
                <a:lnTo>
                  <a:pt x="115062" y="0"/>
                </a:lnTo>
                <a:lnTo>
                  <a:pt x="115062" y="732282"/>
                </a:lnTo>
                <a:lnTo>
                  <a:pt x="0" y="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DAHLPhIUC34</dc:identifier>
  <dcterms:modified xsi:type="dcterms:W3CDTF">2011-08-01T06:04:30Z</dcterms:modified>
  <cp:revision>1</cp:revision>
  <dc:title>eMYAA Performance Report | June 2026</dc:title>
</cp:coreProperties>
</file>