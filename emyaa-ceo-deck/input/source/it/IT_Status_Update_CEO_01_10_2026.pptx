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omments/modernComment_107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60" r:id="rId4"/>
    <p:sldId id="261" r:id="rId5"/>
    <p:sldId id="263"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9E234D-4572-42F4-545E-CCAA6178FFD6}" name="Hatem Isa Hatem Abbas Hatem" initials="HIHAH" userId="S::202508993@student.polytechnic.bh::1157ee01-616e-4dab-b06f-61eb021d60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1DE"/>
    <a:srgbClr val="E3F4EA"/>
    <a:srgbClr val="F7F9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04"/>
    <p:restoredTop sz="94610"/>
  </p:normalViewPr>
  <p:slideViewPr>
    <p:cSldViewPr snapToGrid="0" snapToObjects="1">
      <p:cViewPr varScale="1">
        <p:scale>
          <a:sx n="137" d="100"/>
          <a:sy n="137" d="100"/>
        </p:scale>
        <p:origin x="200"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Results</c:v>
                </c:pt>
              </c:strCache>
            </c:strRef>
          </c:tx>
          <c:spPr>
            <a:solidFill>
              <a:schemeClr val="accent1"/>
            </a:solidFill>
            <a:ln w="9525" cap="flat">
              <a:solidFill>
                <a:srgbClr val="F9F9F9"/>
              </a:solidFill>
              <a:prstDash val="solid"/>
              <a:round/>
            </a:ln>
            <a:effectLst/>
          </c:spPr>
          <c:dPt>
            <c:idx val="0"/>
            <c:bubble3D val="0"/>
            <c:spPr>
              <a:solidFill>
                <a:srgbClr val="1E8A4C"/>
              </a:solidFill>
              <a:effectLst/>
            </c:spPr>
            <c:extLst>
              <c:ext xmlns:c16="http://schemas.microsoft.com/office/drawing/2014/chart" uri="{C3380CC4-5D6E-409C-BE32-E72D297353CC}">
                <c16:uniqueId val="{00000001-B4A1-4833-9EF3-0C102839F54C}"/>
              </c:ext>
            </c:extLst>
          </c:dPt>
          <c:dPt>
            <c:idx val="1"/>
            <c:bubble3D val="0"/>
            <c:spPr>
              <a:solidFill>
                <a:srgbClr val="E8A33D"/>
              </a:solidFill>
              <a:effectLst/>
            </c:spPr>
            <c:extLst>
              <c:ext xmlns:c16="http://schemas.microsoft.com/office/drawing/2014/chart" uri="{C3380CC4-5D6E-409C-BE32-E72D297353CC}">
                <c16:uniqueId val="{00000003-B4A1-4833-9EF3-0C102839F54C}"/>
              </c:ext>
            </c:extLst>
          </c:dPt>
          <c:dPt>
            <c:idx val="2"/>
            <c:bubble3D val="0"/>
            <c:spPr>
              <a:solidFill>
                <a:srgbClr val="9AA3AF"/>
              </a:solidFill>
              <a:effectLst/>
            </c:spPr>
            <c:extLst>
              <c:ext xmlns:c16="http://schemas.microsoft.com/office/drawing/2014/chart" uri="{C3380CC4-5D6E-409C-BE32-E72D297353CC}">
                <c16:uniqueId val="{00000005-B4A1-4833-9EF3-0C102839F54C}"/>
              </c:ext>
            </c:extLst>
          </c:dPt>
          <c:dPt>
            <c:idx val="3"/>
            <c:bubble3D val="0"/>
            <c:spPr>
              <a:solidFill>
                <a:srgbClr val="C0392B"/>
              </a:solidFill>
              <a:effectLst/>
            </c:spPr>
            <c:extLst>
              <c:ext xmlns:c16="http://schemas.microsoft.com/office/drawing/2014/chart" uri="{C3380CC4-5D6E-409C-BE32-E72D297353CC}">
                <c16:uniqueId val="{00000007-B4A1-4833-9EF3-0C102839F54C}"/>
              </c:ext>
            </c:extLst>
          </c:dPt>
          <c:cat>
            <c:strRef>
              <c:f>Sheet1!$A$2:$A$5</c:f>
              <c:strCache>
                <c:ptCount val="4"/>
                <c:pt idx="0">
                  <c:v>Passed</c:v>
                </c:pt>
                <c:pt idx="1">
                  <c:v>Skipped</c:v>
                </c:pt>
                <c:pt idx="2">
                  <c:v>N/A</c:v>
                </c:pt>
                <c:pt idx="3">
                  <c:v>Failed</c:v>
                </c:pt>
              </c:strCache>
            </c:strRef>
          </c:cat>
          <c:val>
            <c:numRef>
              <c:f>Sheet1!$B$2:$B$5</c:f>
              <c:numCache>
                <c:formatCode>General</c:formatCode>
                <c:ptCount val="4"/>
                <c:pt idx="0">
                  <c:v>158</c:v>
                </c:pt>
                <c:pt idx="1">
                  <c:v>19</c:v>
                </c:pt>
                <c:pt idx="2">
                  <c:v>4</c:v>
                </c:pt>
                <c:pt idx="3">
                  <c:v>1</c:v>
                </c:pt>
              </c:numCache>
            </c:numRef>
          </c:val>
          <c:extLst>
            <c:ext xmlns:c16="http://schemas.microsoft.com/office/drawing/2014/chart" uri="{C3380CC4-5D6E-409C-BE32-E72D297353CC}">
              <c16:uniqueId val="{00000008-B4A1-4833-9EF3-0C102839F54C}"/>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omments/modernComment_101_0.xml><?xml version="1.0" encoding="utf-8"?>
<p188:cmLst xmlns:a="http://schemas.openxmlformats.org/drawingml/2006/main" xmlns:r="http://schemas.openxmlformats.org/officeDocument/2006/relationships" xmlns:p188="http://schemas.microsoft.com/office/powerpoint/2018/8/main">
  <p188:cm id="{AAD03A67-6291-A04C-B773-100FA7494F8A}" authorId="{E09E234D-4572-42F4-545E-CCAA6178FFD6}" created="2026-09-30T07:24:54.555">
    <ac:deMkLst xmlns:ac="http://schemas.microsoft.com/office/drawing/2013/main/command">
      <pc:docMk xmlns:pc="http://schemas.microsoft.com/office/powerpoint/2013/main/command"/>
      <pc:sldMk xmlns:pc="http://schemas.microsoft.com/office/powerpoint/2013/main/command" cId="0" sldId="257"/>
      <ac:graphicFrameMk id="10" creationId="{00000000-0000-0000-0000-000000000000}"/>
    </ac:deMkLst>
    <p188:txBody>
      <a:bodyPr/>
      <a:lstStyle/>
      <a:p>
        <a:r>
          <a:rPr lang="en-US"/>
          <a:t>we need to mention that shufti billing, that they gave us this amount as a compensation
</a:t>
        </a:r>
      </a:p>
    </p188:txBody>
  </p188:cm>
  <p188:cm id="{00B4E647-FB26-7C40-8B42-494A498C108D}" authorId="{E09E234D-4572-42F4-545E-CCAA6178FFD6}" created="2026-09-30T07:32:36.984">
    <ac:deMkLst xmlns:ac="http://schemas.microsoft.com/office/drawing/2013/main/command">
      <pc:docMk xmlns:pc="http://schemas.microsoft.com/office/powerpoint/2013/main/command"/>
      <pc:sldMk xmlns:pc="http://schemas.microsoft.com/office/powerpoint/2013/main/command" cId="0" sldId="257"/>
      <ac:graphicFrameMk id="10" creationId="{00000000-0000-0000-0000-000000000000}"/>
    </ac:deMkLst>
    <p188:txBody>
      <a:bodyPr/>
      <a:lstStyle/>
      <a:p>
        <a:r>
          <a:rPr lang="en-US"/>
          <a:t>add the crm and the other platform in the same format here
</a:t>
        </a:r>
      </a:p>
    </p188:txBody>
  </p188:cm>
  <p188:cm id="{611E1B88-6995-5842-BFF2-90D14681BD63}" authorId="{E09E234D-4572-42F4-545E-CCAA6178FFD6}" created="2026-09-30T07:32:54.082">
    <ac:txMkLst xmlns:ac="http://schemas.microsoft.com/office/drawing/2013/main/command">
      <pc:docMk xmlns:pc="http://schemas.microsoft.com/office/powerpoint/2013/main/command"/>
      <pc:sldMk xmlns:pc="http://schemas.microsoft.com/office/powerpoint/2013/main/command" cId="0" sldId="257"/>
      <ac:graphicFrameMk id="10" creationId="{00000000-0000-0000-0000-000000000000}"/>
      <ac:tblMk/>
      <ac:tcMk rowId="10002" colId="20002"/>
      <ac:txMk cp="0" len="8">
        <ac:context len="9" hash="2962451569"/>
      </ac:txMk>
    </ac:txMkLst>
    <p188:pos x="10728498" y="1455651"/>
    <p188:txBody>
      <a:bodyPr/>
      <a:lstStyle/>
      <a:p>
        <a:r>
          <a:rPr lang="en-US"/>
          <a:t>add target dates for the status, new column with target dates is neccessary.</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706414C0-B79E-934F-AF9B-794868DDB7E8}" authorId="{E09E234D-4572-42F4-545E-CCAA6178FFD6}" created="2026-09-30T07:39:15.192">
    <ac:deMkLst xmlns:ac="http://schemas.microsoft.com/office/drawing/2013/main/command">
      <pc:docMk xmlns:pc="http://schemas.microsoft.com/office/powerpoint/2013/main/command"/>
      <pc:sldMk xmlns:pc="http://schemas.microsoft.com/office/powerpoint/2013/main/command" cId="0" sldId="263"/>
      <ac:graphicFrameMk id="22" creationId="{00000000-0000-0000-0000-000000000000}"/>
    </ac:deMkLst>
    <p188:txBody>
      <a:bodyPr/>
      <a:lstStyle/>
      <a:p>
        <a:r>
          <a:rPr lang="en-US"/>
          <a:t>remove the names, we can also remove the IDs</a:t>
        </a:r>
      </a:p>
    </p188:txBody>
  </p188:cm>
  <p188:cm id="{D10F6E04-0D4E-9743-B620-39B835FA3DC9}" authorId="{E09E234D-4572-42F4-545E-CCAA6178FFD6}" created="2026-09-30T07:39:51.677">
    <pc:sldMkLst xmlns:pc="http://schemas.microsoft.com/office/powerpoint/2013/main/command">
      <pc:docMk/>
      <pc:sldMk cId="0" sldId="263"/>
    </pc:sldMkLst>
    <p188:txBody>
      <a:bodyPr/>
      <a:lstStyle/>
      <a:p>
        <a:r>
          <a:rPr lang="en-US"/>
          <a:t>appendix</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8518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F37"/>
          </a:solidFill>
          <a:ln/>
        </p:spPr>
        <p:txBody>
          <a:bodyPr/>
          <a:lstStyle/>
          <a:p>
            <a:endParaRPr lang="en-US"/>
          </a:p>
        </p:txBody>
      </p:sp>
      <p:sp>
        <p:nvSpPr>
          <p:cNvPr id="3" name="Text 1"/>
          <p:cNvSpPr txBox="1"/>
          <p:nvPr/>
        </p:nvSpPr>
        <p:spPr>
          <a:xfrm>
            <a:off x="822960" y="2011680"/>
            <a:ext cx="9144000" cy="457200"/>
          </a:xfrm>
          <a:prstGeom prst="rect">
            <a:avLst/>
          </a:prstGeom>
          <a:noFill/>
          <a:ln/>
        </p:spPr>
        <p:txBody>
          <a:bodyPr wrap="square" lIns="0" tIns="0" rIns="0" bIns="0" rtlCol="0" anchor="t"/>
          <a:lstStyle/>
          <a:p>
            <a:pPr marL="0" indent="0">
              <a:buNone/>
            </a:pPr>
            <a:r>
              <a:rPr lang="en-US" sz="1600" b="1" kern="0" spc="400" dirty="0">
                <a:solidFill>
                  <a:srgbClr val="D4AF37"/>
                </a:solidFill>
                <a:latin typeface="Calibri" pitchFamily="34" charset="0"/>
                <a:ea typeface="Calibri" pitchFamily="34" charset="-122"/>
                <a:cs typeface="Calibri" pitchFamily="34" charset="-120"/>
              </a:rPr>
              <a:t>IT STATUS UPDATE</a:t>
            </a:r>
            <a:endParaRPr lang="en-US" sz="1600" dirty="0"/>
          </a:p>
        </p:txBody>
      </p:sp>
      <p:sp>
        <p:nvSpPr>
          <p:cNvPr id="4" name="Text 2"/>
          <p:cNvSpPr txBox="1"/>
          <p:nvPr/>
        </p:nvSpPr>
        <p:spPr>
          <a:xfrm>
            <a:off x="822960" y="2514600"/>
            <a:ext cx="10058400" cy="91440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Vendors, Platform &amp; Internal Systems</a:t>
            </a:r>
            <a:endParaRPr lang="en-US" sz="4200" dirty="0"/>
          </a:p>
        </p:txBody>
      </p:sp>
      <p:sp>
        <p:nvSpPr>
          <p:cNvPr id="5" name="Text 3"/>
          <p:cNvSpPr txBox="1"/>
          <p:nvPr/>
        </p:nvSpPr>
        <p:spPr>
          <a:xfrm>
            <a:off x="822960" y="3566160"/>
            <a:ext cx="10058400" cy="457200"/>
          </a:xfrm>
          <a:prstGeom prst="rect">
            <a:avLst/>
          </a:prstGeom>
          <a:noFill/>
          <a:ln/>
        </p:spPr>
        <p:txBody>
          <a:bodyPr wrap="square" lIns="0" tIns="0" rIns="0" bIns="0" rtlCol="0" anchor="t"/>
          <a:lstStyle/>
          <a:p>
            <a:pPr marL="0" indent="0">
              <a:buNone/>
            </a:pPr>
            <a:r>
              <a:rPr lang="en-US" sz="1800" dirty="0">
                <a:solidFill>
                  <a:srgbClr val="C9D2E8"/>
                </a:solidFill>
                <a:latin typeface="Calibri" pitchFamily="34" charset="0"/>
                <a:ea typeface="Calibri" pitchFamily="34" charset="-122"/>
                <a:cs typeface="Calibri" pitchFamily="34" charset="-120"/>
              </a:rPr>
              <a:t>Prepared for the CEO  |  WealthTech  |  01 October 2026</a:t>
            </a:r>
            <a:endParaRPr lang="en-US" sz="1800" dirty="0"/>
          </a:p>
        </p:txBody>
      </p:sp>
      <p:sp>
        <p:nvSpPr>
          <p:cNvPr id="6" name="Shape 4"/>
          <p:cNvSpPr/>
          <p:nvPr/>
        </p:nvSpPr>
        <p:spPr>
          <a:xfrm>
            <a:off x="822960" y="4297680"/>
            <a:ext cx="2743200" cy="0"/>
          </a:xfrm>
          <a:prstGeom prst="line">
            <a:avLst/>
          </a:prstGeom>
          <a:noFill/>
          <a:ln w="25400">
            <a:solidFill>
              <a:srgbClr val="D4AF37"/>
            </a:solidFill>
            <a:prstDash val="solid"/>
          </a:ln>
        </p:spPr>
        <p:txBody>
          <a:bodyPr/>
          <a:lstStyle/>
          <a:p>
            <a:endParaRPr lang="en-US"/>
          </a:p>
        </p:txBody>
      </p:sp>
      <p:sp>
        <p:nvSpPr>
          <p:cNvPr id="7" name="Text 5"/>
          <p:cNvSpPr txBox="1"/>
          <p:nvPr/>
        </p:nvSpPr>
        <p:spPr>
          <a:xfrm>
            <a:off x="822960" y="4480560"/>
            <a:ext cx="10058400" cy="365760"/>
          </a:xfrm>
          <a:prstGeom prst="rect">
            <a:avLst/>
          </a:prstGeom>
          <a:noFill/>
          <a:ln/>
        </p:spPr>
        <p:txBody>
          <a:bodyPr wrap="square" lIns="0" tIns="0" rIns="0" bIns="0" rtlCol="0" anchor="t"/>
          <a:lstStyle/>
          <a:p>
            <a:pPr marL="0" indent="0">
              <a:buNone/>
            </a:pPr>
            <a:r>
              <a:rPr lang="en-US" sz="1400" dirty="0">
                <a:solidFill>
                  <a:srgbClr val="C9D2E8"/>
                </a:solidFill>
                <a:latin typeface="Calibri" pitchFamily="34" charset="0"/>
                <a:ea typeface="Calibri" pitchFamily="34" charset="-122"/>
                <a:cs typeface="Calibri" pitchFamily="34" charset="-120"/>
              </a:rPr>
              <a:t>iGentech  ·  Shufti Pro  ·  QATestLab  ·  Exante  ·  Google Play compliance  ·  Helpdesk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384048"/>
            <a:ext cx="73152" cy="566928"/>
          </a:xfrm>
          <a:prstGeom prst="rect">
            <a:avLst/>
          </a:prstGeom>
          <a:solidFill>
            <a:srgbClr val="204596"/>
          </a:solidFill>
          <a:ln/>
        </p:spPr>
        <p:txBody>
          <a:bodyPr/>
          <a:lstStyle/>
          <a:p>
            <a:endParaRPr lang="en-US"/>
          </a:p>
        </p:txBody>
      </p:sp>
      <p:sp>
        <p:nvSpPr>
          <p:cNvPr id="3" name="Text 1"/>
          <p:cNvSpPr txBox="1"/>
          <p:nvPr/>
        </p:nvSpPr>
        <p:spPr>
          <a:xfrm>
            <a:off x="502920" y="320040"/>
            <a:ext cx="9144000" cy="685800"/>
          </a:xfrm>
          <a:prstGeom prst="rect">
            <a:avLst/>
          </a:prstGeom>
          <a:noFill/>
          <a:ln/>
        </p:spPr>
        <p:txBody>
          <a:bodyPr wrap="square" lIns="0" tIns="0" rIns="0" bIns="0" rtlCol="0" anchor="ctr"/>
          <a:lstStyle/>
          <a:p>
            <a:pPr marL="0" indent="0">
              <a:buNone/>
            </a:pPr>
            <a:r>
              <a:rPr lang="en-US" sz="3000" b="1" dirty="0">
                <a:solidFill>
                  <a:srgbClr val="1F2A5A"/>
                </a:solidFill>
                <a:latin typeface="Calibri" pitchFamily="34" charset="0"/>
                <a:ea typeface="Calibri" pitchFamily="34" charset="-122"/>
                <a:cs typeface="Calibri" pitchFamily="34" charset="-120"/>
              </a:rPr>
              <a:t>Executive Summary</a:t>
            </a:r>
            <a:endParaRPr lang="en-US" sz="3000" dirty="0"/>
          </a:p>
        </p:txBody>
      </p:sp>
      <p:sp>
        <p:nvSpPr>
          <p:cNvPr id="4" name="Shape 2"/>
          <p:cNvSpPr/>
          <p:nvPr/>
        </p:nvSpPr>
        <p:spPr>
          <a:xfrm>
            <a:off x="502920" y="1051560"/>
            <a:ext cx="2532888" cy="365760"/>
          </a:xfrm>
          <a:prstGeom prst="roundRect">
            <a:avLst>
              <a:gd name="adj" fmla="val 50000"/>
            </a:avLst>
          </a:prstGeom>
          <a:solidFill>
            <a:srgbClr val="1E2761"/>
          </a:solidFill>
          <a:ln/>
        </p:spPr>
        <p:txBody>
          <a:bodyPr/>
          <a:lstStyle/>
          <a:p>
            <a:endParaRPr lang="en-US"/>
          </a:p>
        </p:txBody>
      </p:sp>
      <p:sp>
        <p:nvSpPr>
          <p:cNvPr id="5" name="Text 3"/>
          <p:cNvSpPr txBox="1"/>
          <p:nvPr/>
        </p:nvSpPr>
        <p:spPr>
          <a:xfrm>
            <a:off x="502920" y="1051560"/>
            <a:ext cx="2532888"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STATUS AT A GLANCE</a:t>
            </a:r>
            <a:endParaRPr lang="en-US" sz="1100" dirty="0"/>
          </a:p>
        </p:txBody>
      </p:sp>
      <p:pic>
        <p:nvPicPr>
          <p:cNvPr id="6" name="Image 0" descr="preencoded.png"/>
          <p:cNvPicPr>
            <a:picLocks noChangeAspect="1"/>
          </p:cNvPicPr>
          <p:nvPr/>
        </p:nvPicPr>
        <p:blipFill>
          <a:blip r:embed="rId4"/>
          <a:stretch>
            <a:fillRect/>
          </a:stretch>
        </p:blipFill>
        <p:spPr>
          <a:xfrm>
            <a:off x="10378440" y="274320"/>
            <a:ext cx="1463040" cy="530352"/>
          </a:xfrm>
          <a:prstGeom prst="rect">
            <a:avLst/>
          </a:prstGeom>
        </p:spPr>
      </p:pic>
      <p:pic>
        <p:nvPicPr>
          <p:cNvPr id="7" name="Image 1" descr="preencoded.png"/>
          <p:cNvPicPr>
            <a:picLocks noChangeAspect="1"/>
          </p:cNvPicPr>
          <p:nvPr/>
        </p:nvPicPr>
        <p:blipFill>
          <a:blip r:embed="rId5"/>
          <a:stretch>
            <a:fillRect/>
          </a:stretch>
        </p:blipFill>
        <p:spPr>
          <a:xfrm>
            <a:off x="10744200" y="6263640"/>
            <a:ext cx="1143000" cy="384048"/>
          </a:xfrm>
          <a:prstGeom prst="rect">
            <a:avLst/>
          </a:prstGeom>
        </p:spPr>
      </p:pic>
      <p:sp>
        <p:nvSpPr>
          <p:cNvPr id="8" name="Text 4"/>
          <p:cNvSpPr txBox="1"/>
          <p:nvPr/>
        </p:nvSpPr>
        <p:spPr>
          <a:xfrm>
            <a:off x="502920" y="6400800"/>
            <a:ext cx="6400800" cy="274320"/>
          </a:xfrm>
          <a:prstGeom prst="rect">
            <a:avLst/>
          </a:prstGeom>
          <a:noFill/>
          <a:ln/>
        </p:spPr>
        <p:txBody>
          <a:bodyPr wrap="square" lIns="0" tIns="0" rIns="0" bIns="0" rtlCol="0" anchor="ctr"/>
          <a:lstStyle/>
          <a:p>
            <a:pPr marL="0" indent="0">
              <a:buNone/>
            </a:pPr>
            <a:r>
              <a:rPr lang="en-US" sz="900" dirty="0">
                <a:solidFill>
                  <a:srgbClr val="5F6B7A"/>
                </a:solidFill>
                <a:latin typeface="Calibri" pitchFamily="34" charset="0"/>
                <a:ea typeface="Calibri" pitchFamily="34" charset="-122"/>
                <a:cs typeface="Calibri" pitchFamily="34" charset="-120"/>
              </a:rPr>
              <a:t>eMYAA Trading Platform  |  IT Status Update to CEO  |  01 Oct 2026</a:t>
            </a:r>
            <a:endParaRPr lang="en-US" sz="900" dirty="0"/>
          </a:p>
        </p:txBody>
      </p:sp>
      <p:sp>
        <p:nvSpPr>
          <p:cNvPr id="9" name="Text 5"/>
          <p:cNvSpPr txBox="1"/>
          <p:nvPr/>
        </p:nvSpPr>
        <p:spPr>
          <a:xfrm>
            <a:off x="10241280" y="6400800"/>
            <a:ext cx="365760" cy="274320"/>
          </a:xfrm>
          <a:prstGeom prst="rect">
            <a:avLst/>
          </a:prstGeom>
          <a:noFill/>
          <a:ln/>
        </p:spPr>
        <p:txBody>
          <a:bodyPr wrap="square" lIns="0" tIns="0" rIns="0" bIns="0" rtlCol="0" anchor="ctr"/>
          <a:lstStyle/>
          <a:p>
            <a:pPr marL="0" indent="0" algn="r">
              <a:buNone/>
            </a:pPr>
            <a:r>
              <a:rPr lang="en-US" sz="900" dirty="0">
                <a:solidFill>
                  <a:srgbClr val="5F6B7A"/>
                </a:solidFill>
                <a:latin typeface="Calibri" pitchFamily="34" charset="0"/>
                <a:ea typeface="Calibri" pitchFamily="34" charset="-122"/>
                <a:cs typeface="Calibri" pitchFamily="34" charset="-120"/>
              </a:rPr>
              <a:t>2</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221240883"/>
              </p:ext>
            </p:extLst>
          </p:nvPr>
        </p:nvGraphicFramePr>
        <p:xfrm>
          <a:off x="502920" y="1463040"/>
          <a:ext cx="11201400" cy="4654296"/>
        </p:xfrm>
        <a:graphic>
          <a:graphicData uri="http://schemas.openxmlformats.org/drawingml/2006/table">
            <a:tbl>
              <a:tblPr/>
              <a:tblGrid>
                <a:gridCol w="237744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8463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Update</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84632">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iGentech</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Invoice overrun resolved: billing cut from USD 10,750 to 5,625 (–48%)</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1E8A4C"/>
                          </a:solidFill>
                          <a:latin typeface="Calibri" pitchFamily="34" charset="0"/>
                          <a:ea typeface="Calibri" pitchFamily="34" charset="-122"/>
                          <a:cs typeface="Calibri" pitchFamily="34" charset="-120"/>
                        </a:rPr>
                        <a:t>RESOLVED</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10001"/>
                  </a:ext>
                </a:extLst>
              </a:tr>
              <a:tr h="484632">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Shufti Pro – billing</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Duplicate KYC charges refunded (USD 9,605) + USD 50 production test credit</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1E8A4C"/>
                          </a:solidFill>
                          <a:latin typeface="Calibri" pitchFamily="34" charset="0"/>
                          <a:ea typeface="Calibri" pitchFamily="34" charset="-122"/>
                          <a:cs typeface="Calibri" pitchFamily="34" charset="-120"/>
                        </a:rPr>
                        <a:t>RESOLVED</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10002"/>
                  </a:ext>
                </a:extLst>
              </a:tr>
              <a:tr h="484632">
                <a:tc>
                  <a:txBody>
                    <a:bodyPr/>
                    <a:lstStyle/>
                    <a:p>
                      <a:pPr marL="0" indent="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10003"/>
                  </a:ext>
                </a:extLst>
              </a:tr>
              <a:tr h="4846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b="1" dirty="0">
                          <a:solidFill>
                            <a:srgbClr val="1F2A5A"/>
                          </a:solidFill>
                          <a:latin typeface="Calibri" pitchFamily="34" charset="0"/>
                          <a:ea typeface="Calibri" pitchFamily="34" charset="-122"/>
                          <a:cs typeface="Calibri" pitchFamily="34" charset="-120"/>
                        </a:rPr>
                        <a:t>Google Play API update (Mention this is for security reasons – so it doesn’t get confused with new app)</a:t>
                      </a:r>
                      <a:endParaRPr lang="en-US" sz="1150" dirty="0">
                        <a:latin typeface="Calibri" charset="0"/>
                        <a:ea typeface="Calibri" charset="0"/>
                        <a:cs typeface="Calibri" charset="0"/>
                      </a:endParaRPr>
                    </a:p>
                    <a:p>
                      <a:pPr marL="0" indent="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a:solidFill>
                            <a:srgbClr val="3A4452"/>
                          </a:solidFill>
                          <a:latin typeface="Calibri" pitchFamily="34" charset="0"/>
                          <a:ea typeface="Calibri" pitchFamily="34" charset="-122"/>
                          <a:cs typeface="Calibri" pitchFamily="34" charset="-120"/>
                        </a:rPr>
                        <a:t>Android build tested in 2 rounds: 99.4% pass. Deadline 01 Nov 2026</a:t>
                      </a:r>
                      <a:endParaRPr lang="en-US" sz="1150" dirty="0">
                        <a:latin typeface="Calibri" charset="0"/>
                        <a:ea typeface="Calibri" charset="0"/>
                        <a:cs typeface="Calibri" charset="0"/>
                      </a:endParaRPr>
                    </a:p>
                    <a:p>
                      <a:pPr marL="0" indent="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1E8A4C"/>
                          </a:solidFill>
                          <a:latin typeface="Calibri" pitchFamily="34" charset="0"/>
                          <a:ea typeface="Calibri" charset="0"/>
                          <a:cs typeface="Calibri" pitchFamily="34" charset="-120"/>
                        </a:rPr>
                        <a:t>DONE</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778758212"/>
                  </a:ext>
                </a:extLst>
              </a:tr>
              <a:tr h="4846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b="1" dirty="0">
                          <a:solidFill>
                            <a:srgbClr val="1F2A5A"/>
                          </a:solidFill>
                          <a:latin typeface="Calibri" pitchFamily="34" charset="0"/>
                          <a:ea typeface="Calibri" pitchFamily="34" charset="-122"/>
                          <a:cs typeface="Calibri" pitchFamily="34" charset="-120"/>
                        </a:rPr>
                        <a:t>Helpdesk</a:t>
                      </a:r>
                      <a:endParaRPr lang="en-US" sz="1150" dirty="0">
                        <a:latin typeface="Calibri" charset="0"/>
                        <a:ea typeface="Calibri" charset="0"/>
                        <a:cs typeface="Calibri" charset="0"/>
                      </a:endParaRPr>
                    </a:p>
                    <a:p>
                      <a:pPr marL="0" indent="0">
                        <a:buNone/>
                      </a:pP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a:solidFill>
                            <a:srgbClr val="3A4452"/>
                          </a:solidFill>
                          <a:latin typeface="Calibri" pitchFamily="34" charset="0"/>
                          <a:ea typeface="Calibri" pitchFamily="34" charset="-122"/>
                          <a:cs typeface="Calibri" pitchFamily="34" charset="-120"/>
                        </a:rPr>
                        <a:t>Deployed 17 Sep 2026, ahead of the 20 Sep target.</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1E8A4C"/>
                          </a:solidFill>
                          <a:latin typeface="Calibri" pitchFamily="34" charset="0"/>
                          <a:ea typeface="Calibri" pitchFamily="34" charset="-122"/>
                          <a:cs typeface="Calibri" pitchFamily="34" charset="-120"/>
                        </a:rPr>
                        <a:t>DONE</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3336788564"/>
                  </a:ext>
                </a:extLst>
              </a:tr>
              <a:tr h="484632">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Shufti Pro – KYC</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Enhanced KYC journey via SDK demo app. Target 08 Oct 2026 (let us mention this is a demo for internal use only and it wont be live)</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C9820F"/>
                          </a:solidFill>
                          <a:latin typeface="Calibri" pitchFamily="34" charset="0"/>
                          <a:ea typeface="Calibri" pitchFamily="34" charset="-122"/>
                          <a:cs typeface="Calibri" pitchFamily="34" charset="-120"/>
                        </a:rPr>
                        <a:t>IN PROGRESS</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DF1DE"/>
                    </a:solidFill>
                  </a:tcPr>
                </a:tc>
                <a:extLst>
                  <a:ext uri="{0D108BD9-81ED-4DB2-BD59-A6C34878D82A}">
                    <a16:rowId xmlns:a16="http://schemas.microsoft.com/office/drawing/2014/main" val="10004"/>
                  </a:ext>
                </a:extLst>
              </a:tr>
              <a:tr h="484632">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QATestLab</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Engaged to review the Next App and prepare test cases</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C9820F"/>
                          </a:solidFill>
                          <a:latin typeface="Calibri" pitchFamily="34" charset="0"/>
                          <a:ea typeface="Calibri" pitchFamily="34" charset="-122"/>
                          <a:cs typeface="Calibri" pitchFamily="34" charset="-120"/>
                        </a:rPr>
                        <a:t>IN PROGRESS</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DF1DE"/>
                    </a:solidFill>
                  </a:tcPr>
                </a:tc>
                <a:extLst>
                  <a:ext uri="{0D108BD9-81ED-4DB2-BD59-A6C34878D82A}">
                    <a16:rowId xmlns:a16="http://schemas.microsoft.com/office/drawing/2014/main" val="10005"/>
                  </a:ext>
                </a:extLst>
              </a:tr>
              <a:tr h="484632">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Exante – Next App</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First version due 08 Oct 2026. Complete release plan to be shared by next week. (mention the date of which we will do the sanity test - )</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7F9FC"/>
                    </a:solidFill>
                  </a:tcPr>
                </a:tc>
                <a:tc>
                  <a:txBody>
                    <a:bodyPr/>
                    <a:lstStyle/>
                    <a:p>
                      <a:pPr marL="0" indent="0" algn="ctr">
                        <a:buNone/>
                      </a:pPr>
                      <a:r>
                        <a:rPr lang="en-US" sz="1000" b="1" dirty="0">
                          <a:solidFill>
                            <a:srgbClr val="C9820F"/>
                          </a:solidFill>
                          <a:latin typeface="Calibri" pitchFamily="34" charset="0"/>
                          <a:ea typeface="Calibri" pitchFamily="34" charset="-122"/>
                          <a:cs typeface="Calibri" pitchFamily="34" charset="-120"/>
                        </a:rPr>
                        <a:t>IN PROGRESS</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DF1DE"/>
                    </a:solidFill>
                  </a:tcPr>
                </a:tc>
                <a:extLst>
                  <a:ext uri="{0D108BD9-81ED-4DB2-BD59-A6C34878D82A}">
                    <a16:rowId xmlns:a16="http://schemas.microsoft.com/office/drawing/2014/main" val="10006"/>
                  </a:ext>
                </a:extLst>
              </a:tr>
            </a:tbl>
          </a:graphicData>
        </a:graphic>
      </p:graphicFrame>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384048"/>
            <a:ext cx="73152" cy="566928"/>
          </a:xfrm>
          <a:prstGeom prst="rect">
            <a:avLst/>
          </a:prstGeom>
          <a:solidFill>
            <a:srgbClr val="204596"/>
          </a:solidFill>
          <a:ln/>
        </p:spPr>
        <p:txBody>
          <a:bodyPr/>
          <a:lstStyle/>
          <a:p>
            <a:endParaRPr lang="en-US"/>
          </a:p>
        </p:txBody>
      </p:sp>
      <p:sp>
        <p:nvSpPr>
          <p:cNvPr id="3" name="Text 1"/>
          <p:cNvSpPr txBox="1"/>
          <p:nvPr/>
        </p:nvSpPr>
        <p:spPr>
          <a:xfrm>
            <a:off x="502920" y="320040"/>
            <a:ext cx="9144000" cy="685800"/>
          </a:xfrm>
          <a:prstGeom prst="rect">
            <a:avLst/>
          </a:prstGeom>
          <a:noFill/>
          <a:ln/>
        </p:spPr>
        <p:txBody>
          <a:bodyPr wrap="square" lIns="0" tIns="0" rIns="0" bIns="0" rtlCol="0" anchor="ctr"/>
          <a:lstStyle/>
          <a:p>
            <a:pPr marL="0" indent="0">
              <a:buNone/>
            </a:pPr>
            <a:r>
              <a:rPr lang="en-US" sz="3000" b="1" dirty="0">
                <a:solidFill>
                  <a:srgbClr val="1F2A5A"/>
                </a:solidFill>
                <a:latin typeface="Calibri" pitchFamily="34" charset="0"/>
                <a:ea typeface="Calibri" pitchFamily="34" charset="-122"/>
                <a:cs typeface="Calibri" pitchFamily="34" charset="-120"/>
              </a:rPr>
              <a:t>Next App – Exante &amp; QATestLab</a:t>
            </a:r>
            <a:endParaRPr lang="en-US" sz="3000" dirty="0"/>
          </a:p>
        </p:txBody>
      </p:sp>
      <p:sp>
        <p:nvSpPr>
          <p:cNvPr id="4" name="Shape 2"/>
          <p:cNvSpPr/>
          <p:nvPr/>
        </p:nvSpPr>
        <p:spPr>
          <a:xfrm>
            <a:off x="502920" y="1051560"/>
            <a:ext cx="3584448" cy="365760"/>
          </a:xfrm>
          <a:prstGeom prst="roundRect">
            <a:avLst>
              <a:gd name="adj" fmla="val 50000"/>
            </a:avLst>
          </a:prstGeom>
          <a:solidFill>
            <a:srgbClr val="1E2761"/>
          </a:solidFill>
          <a:ln/>
        </p:spPr>
        <p:txBody>
          <a:bodyPr/>
          <a:lstStyle/>
          <a:p>
            <a:endParaRPr lang="en-US"/>
          </a:p>
        </p:txBody>
      </p:sp>
      <p:sp>
        <p:nvSpPr>
          <p:cNvPr id="5" name="Text 3"/>
          <p:cNvSpPr txBox="1"/>
          <p:nvPr/>
        </p:nvSpPr>
        <p:spPr>
          <a:xfrm>
            <a:off x="502920" y="1051560"/>
            <a:ext cx="3584448"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PLATFORM · NEXT APP DELIVERY</a:t>
            </a:r>
            <a:endParaRPr lang="en-US" sz="1100" dirty="0"/>
          </a:p>
        </p:txBody>
      </p:sp>
      <p:pic>
        <p:nvPicPr>
          <p:cNvPr id="6" name="Image 0" descr="preencoded.png"/>
          <p:cNvPicPr>
            <a:picLocks noChangeAspect="1"/>
          </p:cNvPicPr>
          <p:nvPr/>
        </p:nvPicPr>
        <p:blipFill>
          <a:blip r:embed="rId3"/>
          <a:stretch>
            <a:fillRect/>
          </a:stretch>
        </p:blipFill>
        <p:spPr>
          <a:xfrm>
            <a:off x="10378440" y="274320"/>
            <a:ext cx="1463040" cy="530352"/>
          </a:xfrm>
          <a:prstGeom prst="rect">
            <a:avLst/>
          </a:prstGeom>
        </p:spPr>
      </p:pic>
      <p:pic>
        <p:nvPicPr>
          <p:cNvPr id="7" name="Image 1" descr="preencoded.png"/>
          <p:cNvPicPr>
            <a:picLocks noChangeAspect="1"/>
          </p:cNvPicPr>
          <p:nvPr/>
        </p:nvPicPr>
        <p:blipFill>
          <a:blip r:embed="rId4"/>
          <a:stretch>
            <a:fillRect/>
          </a:stretch>
        </p:blipFill>
        <p:spPr>
          <a:xfrm>
            <a:off x="10744200" y="6263640"/>
            <a:ext cx="1143000" cy="384048"/>
          </a:xfrm>
          <a:prstGeom prst="rect">
            <a:avLst/>
          </a:prstGeom>
        </p:spPr>
      </p:pic>
      <p:sp>
        <p:nvSpPr>
          <p:cNvPr id="8" name="Text 4"/>
          <p:cNvSpPr txBox="1"/>
          <p:nvPr/>
        </p:nvSpPr>
        <p:spPr>
          <a:xfrm>
            <a:off x="502920" y="6400800"/>
            <a:ext cx="6400800" cy="274320"/>
          </a:xfrm>
          <a:prstGeom prst="rect">
            <a:avLst/>
          </a:prstGeom>
          <a:noFill/>
          <a:ln/>
        </p:spPr>
        <p:txBody>
          <a:bodyPr wrap="square" lIns="0" tIns="0" rIns="0" bIns="0" rtlCol="0" anchor="ctr"/>
          <a:lstStyle/>
          <a:p>
            <a:pPr marL="0" indent="0">
              <a:buNone/>
            </a:pPr>
            <a:r>
              <a:rPr lang="en-US" sz="900" dirty="0">
                <a:solidFill>
                  <a:srgbClr val="5F6B7A"/>
                </a:solidFill>
                <a:latin typeface="Calibri" pitchFamily="34" charset="0"/>
                <a:ea typeface="Calibri" pitchFamily="34" charset="-122"/>
                <a:cs typeface="Calibri" pitchFamily="34" charset="-120"/>
              </a:rPr>
              <a:t>eMYAA Trading Platform  |  IT Status Update to CEO  |  01 Oct 2026</a:t>
            </a:r>
            <a:endParaRPr lang="en-US" sz="900" dirty="0"/>
          </a:p>
        </p:txBody>
      </p:sp>
      <p:sp>
        <p:nvSpPr>
          <p:cNvPr id="9" name="Text 5"/>
          <p:cNvSpPr txBox="1"/>
          <p:nvPr/>
        </p:nvSpPr>
        <p:spPr>
          <a:xfrm>
            <a:off x="10241280" y="6400800"/>
            <a:ext cx="365760" cy="274320"/>
          </a:xfrm>
          <a:prstGeom prst="rect">
            <a:avLst/>
          </a:prstGeom>
          <a:noFill/>
          <a:ln/>
        </p:spPr>
        <p:txBody>
          <a:bodyPr wrap="square" lIns="0" tIns="0" rIns="0" bIns="0" rtlCol="0" anchor="ctr"/>
          <a:lstStyle/>
          <a:p>
            <a:pPr marL="0" indent="0" algn="r">
              <a:buNone/>
            </a:pPr>
            <a:r>
              <a:rPr lang="en-US" sz="900" dirty="0">
                <a:solidFill>
                  <a:srgbClr val="5F6B7A"/>
                </a:solidFill>
                <a:latin typeface="Calibri" pitchFamily="34" charset="0"/>
                <a:ea typeface="Calibri" pitchFamily="34" charset="-122"/>
                <a:cs typeface="Calibri" pitchFamily="34" charset="-120"/>
              </a:rPr>
              <a:t>5</a:t>
            </a:r>
            <a:endParaRPr lang="en-US" sz="900" dirty="0"/>
          </a:p>
        </p:txBody>
      </p:sp>
      <p:sp>
        <p:nvSpPr>
          <p:cNvPr id="10" name="Shape 6"/>
          <p:cNvSpPr/>
          <p:nvPr/>
        </p:nvSpPr>
        <p:spPr>
          <a:xfrm>
            <a:off x="1097280" y="2331720"/>
            <a:ext cx="9966960" cy="0"/>
          </a:xfrm>
          <a:prstGeom prst="line">
            <a:avLst/>
          </a:prstGeom>
          <a:noFill/>
          <a:ln w="38100">
            <a:solidFill>
              <a:srgbClr val="DDE3EC"/>
            </a:solidFill>
            <a:prstDash val="solid"/>
          </a:ln>
        </p:spPr>
        <p:txBody>
          <a:bodyPr/>
          <a:lstStyle/>
          <a:p>
            <a:endParaRPr lang="en-US"/>
          </a:p>
        </p:txBody>
      </p:sp>
      <p:sp>
        <p:nvSpPr>
          <p:cNvPr id="11" name="Shape 7"/>
          <p:cNvSpPr/>
          <p:nvPr/>
        </p:nvSpPr>
        <p:spPr>
          <a:xfrm>
            <a:off x="914400" y="2148840"/>
            <a:ext cx="365760" cy="365760"/>
          </a:xfrm>
          <a:prstGeom prst="ellipse">
            <a:avLst/>
          </a:prstGeom>
          <a:solidFill>
            <a:srgbClr val="204596"/>
          </a:solidFill>
          <a:ln w="31750">
            <a:solidFill>
              <a:srgbClr val="204596"/>
            </a:solidFill>
            <a:prstDash val="solid"/>
          </a:ln>
        </p:spPr>
        <p:txBody>
          <a:bodyPr/>
          <a:lstStyle/>
          <a:p>
            <a:endParaRPr lang="en-US"/>
          </a:p>
        </p:txBody>
      </p:sp>
      <p:sp>
        <p:nvSpPr>
          <p:cNvPr id="12" name="Text 8"/>
          <p:cNvSpPr txBox="1"/>
          <p:nvPr/>
        </p:nvSpPr>
        <p:spPr>
          <a:xfrm>
            <a:off x="502920" y="1645920"/>
            <a:ext cx="2651760" cy="365760"/>
          </a:xfrm>
          <a:prstGeom prst="rect">
            <a:avLst/>
          </a:prstGeom>
          <a:noFill/>
          <a:ln/>
        </p:spPr>
        <p:txBody>
          <a:bodyPr wrap="square" lIns="0" tIns="0" rIns="0" bIns="0" rtlCol="0" anchor="t"/>
          <a:lstStyle/>
          <a:p>
            <a:pPr marL="0" indent="0">
              <a:buNone/>
            </a:pPr>
            <a:r>
              <a:rPr lang="en-US" sz="1300" b="1" dirty="0">
                <a:solidFill>
                  <a:srgbClr val="204596"/>
                </a:solidFill>
                <a:latin typeface="Calibri" pitchFamily="34" charset="0"/>
                <a:ea typeface="Calibri" pitchFamily="34" charset="-122"/>
                <a:cs typeface="Calibri" pitchFamily="34" charset="-120"/>
              </a:rPr>
              <a:t>Now</a:t>
            </a:r>
            <a:endParaRPr lang="en-US" sz="1300" dirty="0"/>
          </a:p>
        </p:txBody>
      </p:sp>
      <p:sp>
        <p:nvSpPr>
          <p:cNvPr id="13" name="Shape 9"/>
          <p:cNvSpPr/>
          <p:nvPr/>
        </p:nvSpPr>
        <p:spPr>
          <a:xfrm>
            <a:off x="502920" y="2743200"/>
            <a:ext cx="2697480" cy="1691640"/>
          </a:xfrm>
          <a:prstGeom prst="roundRect">
            <a:avLst>
              <a:gd name="adj" fmla="val 5405"/>
            </a:avLst>
          </a:prstGeom>
          <a:solidFill>
            <a:srgbClr val="F3F6FB"/>
          </a:solidFill>
          <a:ln/>
        </p:spPr>
        <p:txBody>
          <a:bodyPr/>
          <a:lstStyle/>
          <a:p>
            <a:endParaRPr lang="en-US"/>
          </a:p>
        </p:txBody>
      </p:sp>
      <p:sp>
        <p:nvSpPr>
          <p:cNvPr id="14" name="Text 10"/>
          <p:cNvSpPr txBox="1"/>
          <p:nvPr/>
        </p:nvSpPr>
        <p:spPr>
          <a:xfrm>
            <a:off x="685800" y="2880360"/>
            <a:ext cx="2377440" cy="365760"/>
          </a:xfrm>
          <a:prstGeom prst="rect">
            <a:avLst/>
          </a:prstGeom>
          <a:noFill/>
          <a:ln/>
        </p:spPr>
        <p:txBody>
          <a:bodyPr wrap="square" lIns="0" tIns="0" rIns="0" bIns="0" rtlCol="0" anchor="t"/>
          <a:lstStyle/>
          <a:p>
            <a:pPr marL="0" indent="0">
              <a:buNone/>
            </a:pPr>
            <a:r>
              <a:rPr lang="en-US" sz="1500" b="1" dirty="0">
                <a:solidFill>
                  <a:srgbClr val="1F2A5A"/>
                </a:solidFill>
                <a:latin typeface="Calibri" pitchFamily="34" charset="0"/>
                <a:ea typeface="Calibri" pitchFamily="34" charset="-122"/>
                <a:cs typeface="Calibri" pitchFamily="34" charset="-120"/>
              </a:rPr>
              <a:t>QATestLab engaged</a:t>
            </a:r>
            <a:endParaRPr lang="en-US" sz="1500" dirty="0"/>
          </a:p>
        </p:txBody>
      </p:sp>
      <p:sp>
        <p:nvSpPr>
          <p:cNvPr id="15" name="Text 11"/>
          <p:cNvSpPr txBox="1"/>
          <p:nvPr/>
        </p:nvSpPr>
        <p:spPr>
          <a:xfrm>
            <a:off x="685800" y="3291840"/>
            <a:ext cx="2377440" cy="1005840"/>
          </a:xfrm>
          <a:prstGeom prst="rect">
            <a:avLst/>
          </a:prstGeom>
          <a:noFill/>
          <a:ln/>
        </p:spPr>
        <p:txBody>
          <a:bodyPr wrap="square" lIns="0" tIns="0" rIns="0" bIns="0" rtlCol="0" anchor="t"/>
          <a:lstStyle/>
          <a:p>
            <a:pPr marL="0" indent="0">
              <a:buNone/>
            </a:pPr>
            <a:r>
              <a:rPr lang="en-US" sz="1200" dirty="0">
                <a:solidFill>
                  <a:srgbClr val="3A4452"/>
                </a:solidFill>
                <a:latin typeface="Calibri" pitchFamily="34" charset="0"/>
                <a:ea typeface="Calibri" pitchFamily="34" charset="-122"/>
                <a:cs typeface="Calibri" pitchFamily="34" charset="-120"/>
              </a:rPr>
              <a:t>Reviewing the Next App and preparing test cases</a:t>
            </a:r>
            <a:endParaRPr lang="en-US" sz="1200" dirty="0"/>
          </a:p>
        </p:txBody>
      </p:sp>
      <p:sp>
        <p:nvSpPr>
          <p:cNvPr id="16" name="Shape 12"/>
          <p:cNvSpPr/>
          <p:nvPr/>
        </p:nvSpPr>
        <p:spPr>
          <a:xfrm>
            <a:off x="3749040" y="2148840"/>
            <a:ext cx="365760" cy="365760"/>
          </a:xfrm>
          <a:prstGeom prst="ellipse">
            <a:avLst/>
          </a:prstGeom>
          <a:solidFill>
            <a:srgbClr val="FFFFFF"/>
          </a:solidFill>
          <a:ln w="31750">
            <a:solidFill>
              <a:srgbClr val="204596"/>
            </a:solidFill>
            <a:prstDash val="solid"/>
          </a:ln>
        </p:spPr>
        <p:txBody>
          <a:bodyPr/>
          <a:lstStyle/>
          <a:p>
            <a:endParaRPr lang="en-US"/>
          </a:p>
        </p:txBody>
      </p:sp>
      <p:sp>
        <p:nvSpPr>
          <p:cNvPr id="17" name="Text 13"/>
          <p:cNvSpPr txBox="1"/>
          <p:nvPr/>
        </p:nvSpPr>
        <p:spPr>
          <a:xfrm>
            <a:off x="3337560" y="1645920"/>
            <a:ext cx="2651760" cy="365760"/>
          </a:xfrm>
          <a:prstGeom prst="rect">
            <a:avLst/>
          </a:prstGeom>
          <a:noFill/>
          <a:ln/>
        </p:spPr>
        <p:txBody>
          <a:bodyPr wrap="square" lIns="0" tIns="0" rIns="0" bIns="0" rtlCol="0" anchor="t"/>
          <a:lstStyle/>
          <a:p>
            <a:pPr marL="0" indent="0">
              <a:buNone/>
            </a:pPr>
            <a:r>
              <a:rPr lang="en-US" sz="1300" b="1" dirty="0">
                <a:solidFill>
                  <a:srgbClr val="204596"/>
                </a:solidFill>
                <a:latin typeface="Calibri" pitchFamily="34" charset="0"/>
                <a:ea typeface="Calibri" pitchFamily="34" charset="-122"/>
                <a:cs typeface="Calibri" pitchFamily="34" charset="-120"/>
              </a:rPr>
              <a:t>Next week</a:t>
            </a:r>
            <a:endParaRPr lang="en-US" sz="1300" dirty="0"/>
          </a:p>
        </p:txBody>
      </p:sp>
      <p:sp>
        <p:nvSpPr>
          <p:cNvPr id="18" name="Shape 14"/>
          <p:cNvSpPr/>
          <p:nvPr/>
        </p:nvSpPr>
        <p:spPr>
          <a:xfrm>
            <a:off x="3337560" y="2743200"/>
            <a:ext cx="2697480" cy="1691640"/>
          </a:xfrm>
          <a:prstGeom prst="roundRect">
            <a:avLst>
              <a:gd name="adj" fmla="val 5405"/>
            </a:avLst>
          </a:prstGeom>
          <a:solidFill>
            <a:srgbClr val="F3F6FB"/>
          </a:solidFill>
          <a:ln/>
        </p:spPr>
        <p:txBody>
          <a:bodyPr/>
          <a:lstStyle/>
          <a:p>
            <a:endParaRPr lang="en-US"/>
          </a:p>
        </p:txBody>
      </p:sp>
      <p:sp>
        <p:nvSpPr>
          <p:cNvPr id="19" name="Text 15"/>
          <p:cNvSpPr txBox="1"/>
          <p:nvPr/>
        </p:nvSpPr>
        <p:spPr>
          <a:xfrm>
            <a:off x="3520440" y="2880360"/>
            <a:ext cx="2377440" cy="365760"/>
          </a:xfrm>
          <a:prstGeom prst="rect">
            <a:avLst/>
          </a:prstGeom>
          <a:noFill/>
          <a:ln/>
        </p:spPr>
        <p:txBody>
          <a:bodyPr wrap="square" lIns="0" tIns="0" rIns="0" bIns="0" rtlCol="0" anchor="t"/>
          <a:lstStyle/>
          <a:p>
            <a:pPr marL="0" indent="0">
              <a:buNone/>
            </a:pPr>
            <a:r>
              <a:rPr lang="en-US" sz="1500" b="1" dirty="0">
                <a:solidFill>
                  <a:srgbClr val="1F2A5A"/>
                </a:solidFill>
                <a:latin typeface="Calibri" pitchFamily="34" charset="0"/>
                <a:ea typeface="Calibri" pitchFamily="34" charset="-122"/>
                <a:cs typeface="Calibri" pitchFamily="34" charset="-120"/>
              </a:rPr>
              <a:t>Release plan</a:t>
            </a:r>
            <a:endParaRPr lang="en-US" sz="1500" dirty="0"/>
          </a:p>
        </p:txBody>
      </p:sp>
      <p:sp>
        <p:nvSpPr>
          <p:cNvPr id="20" name="Text 16"/>
          <p:cNvSpPr txBox="1"/>
          <p:nvPr/>
        </p:nvSpPr>
        <p:spPr>
          <a:xfrm>
            <a:off x="3520440" y="3291840"/>
            <a:ext cx="2377440" cy="1005840"/>
          </a:xfrm>
          <a:prstGeom prst="rect">
            <a:avLst/>
          </a:prstGeom>
          <a:noFill/>
          <a:ln/>
        </p:spPr>
        <p:txBody>
          <a:bodyPr wrap="square" lIns="0" tIns="0" rIns="0" bIns="0" rtlCol="0" anchor="t"/>
          <a:lstStyle/>
          <a:p>
            <a:pPr marL="0" indent="0">
              <a:buNone/>
            </a:pPr>
            <a:r>
              <a:rPr lang="en-US" sz="1200" dirty="0">
                <a:solidFill>
                  <a:srgbClr val="3A4452"/>
                </a:solidFill>
                <a:latin typeface="Calibri" pitchFamily="34" charset="0"/>
                <a:ea typeface="Calibri" pitchFamily="34" charset="-122"/>
                <a:cs typeface="Calibri" pitchFamily="34" charset="-120"/>
              </a:rPr>
              <a:t>Full plan shared once QATestLab confirms its estimate</a:t>
            </a:r>
            <a:endParaRPr lang="en-US" sz="1200" dirty="0"/>
          </a:p>
        </p:txBody>
      </p:sp>
      <p:sp>
        <p:nvSpPr>
          <p:cNvPr id="21" name="Shape 17"/>
          <p:cNvSpPr/>
          <p:nvPr/>
        </p:nvSpPr>
        <p:spPr>
          <a:xfrm>
            <a:off x="6583680" y="2148840"/>
            <a:ext cx="365760" cy="365760"/>
          </a:xfrm>
          <a:prstGeom prst="ellipse">
            <a:avLst/>
          </a:prstGeom>
          <a:solidFill>
            <a:srgbClr val="FFFFFF"/>
          </a:solidFill>
          <a:ln w="31750">
            <a:solidFill>
              <a:srgbClr val="204596"/>
            </a:solidFill>
            <a:prstDash val="solid"/>
          </a:ln>
        </p:spPr>
        <p:txBody>
          <a:bodyPr/>
          <a:lstStyle/>
          <a:p>
            <a:endParaRPr lang="en-US"/>
          </a:p>
        </p:txBody>
      </p:sp>
      <p:sp>
        <p:nvSpPr>
          <p:cNvPr id="22" name="Text 18"/>
          <p:cNvSpPr txBox="1"/>
          <p:nvPr/>
        </p:nvSpPr>
        <p:spPr>
          <a:xfrm>
            <a:off x="6172200" y="1645920"/>
            <a:ext cx="2651760" cy="365760"/>
          </a:xfrm>
          <a:prstGeom prst="rect">
            <a:avLst/>
          </a:prstGeom>
          <a:noFill/>
          <a:ln/>
        </p:spPr>
        <p:txBody>
          <a:bodyPr wrap="square" lIns="0" tIns="0" rIns="0" bIns="0" rtlCol="0" anchor="t"/>
          <a:lstStyle/>
          <a:p>
            <a:pPr marL="0" indent="0">
              <a:buNone/>
            </a:pPr>
            <a:r>
              <a:rPr lang="en-US" sz="1300" b="1" dirty="0">
                <a:solidFill>
                  <a:srgbClr val="204596"/>
                </a:solidFill>
                <a:latin typeface="Calibri" pitchFamily="34" charset="0"/>
                <a:ea typeface="Calibri" pitchFamily="34" charset="-122"/>
                <a:cs typeface="Calibri" pitchFamily="34" charset="-120"/>
              </a:rPr>
              <a:t>08 Oct 2026</a:t>
            </a:r>
            <a:endParaRPr lang="en-US" sz="1300" dirty="0"/>
          </a:p>
        </p:txBody>
      </p:sp>
      <p:sp>
        <p:nvSpPr>
          <p:cNvPr id="23" name="Shape 19"/>
          <p:cNvSpPr/>
          <p:nvPr/>
        </p:nvSpPr>
        <p:spPr>
          <a:xfrm>
            <a:off x="6172200" y="2743200"/>
            <a:ext cx="2697480" cy="1691640"/>
          </a:xfrm>
          <a:prstGeom prst="roundRect">
            <a:avLst>
              <a:gd name="adj" fmla="val 5405"/>
            </a:avLst>
          </a:prstGeom>
          <a:solidFill>
            <a:srgbClr val="F3F6FB"/>
          </a:solidFill>
          <a:ln/>
        </p:spPr>
        <p:txBody>
          <a:bodyPr/>
          <a:lstStyle/>
          <a:p>
            <a:endParaRPr lang="en-US"/>
          </a:p>
        </p:txBody>
      </p:sp>
      <p:sp>
        <p:nvSpPr>
          <p:cNvPr id="24" name="Text 20"/>
          <p:cNvSpPr txBox="1"/>
          <p:nvPr/>
        </p:nvSpPr>
        <p:spPr>
          <a:xfrm>
            <a:off x="6355080" y="2880360"/>
            <a:ext cx="2377440" cy="365760"/>
          </a:xfrm>
          <a:prstGeom prst="rect">
            <a:avLst/>
          </a:prstGeom>
          <a:noFill/>
          <a:ln/>
        </p:spPr>
        <p:txBody>
          <a:bodyPr wrap="square" lIns="0" tIns="0" rIns="0" bIns="0" rtlCol="0" anchor="t"/>
          <a:lstStyle/>
          <a:p>
            <a:pPr marL="0" indent="0">
              <a:buNone/>
            </a:pPr>
            <a:r>
              <a:rPr lang="en-US" sz="1500" b="1" dirty="0">
                <a:solidFill>
                  <a:srgbClr val="1F2A5A"/>
                </a:solidFill>
                <a:latin typeface="Calibri" pitchFamily="34" charset="0"/>
                <a:ea typeface="Calibri" pitchFamily="34" charset="-122"/>
                <a:cs typeface="Calibri" pitchFamily="34" charset="-120"/>
              </a:rPr>
              <a:t>Next App v1</a:t>
            </a:r>
            <a:endParaRPr lang="en-US" sz="1500" dirty="0"/>
          </a:p>
        </p:txBody>
      </p:sp>
      <p:sp>
        <p:nvSpPr>
          <p:cNvPr id="25" name="Text 21"/>
          <p:cNvSpPr txBox="1"/>
          <p:nvPr/>
        </p:nvSpPr>
        <p:spPr>
          <a:xfrm>
            <a:off x="6355080" y="3291840"/>
            <a:ext cx="2377440" cy="1005840"/>
          </a:xfrm>
          <a:prstGeom prst="rect">
            <a:avLst/>
          </a:prstGeom>
          <a:noFill/>
          <a:ln/>
        </p:spPr>
        <p:txBody>
          <a:bodyPr wrap="square" lIns="0" tIns="0" rIns="0" bIns="0" rtlCol="0" anchor="t"/>
          <a:lstStyle/>
          <a:p>
            <a:pPr marL="0" indent="0">
              <a:buNone/>
            </a:pPr>
            <a:r>
              <a:rPr lang="en-US" sz="1200" dirty="0">
                <a:solidFill>
                  <a:srgbClr val="3A4452"/>
                </a:solidFill>
                <a:latin typeface="Calibri" pitchFamily="34" charset="0"/>
                <a:ea typeface="Calibri" pitchFamily="34" charset="-122"/>
                <a:cs typeface="Calibri" pitchFamily="34" charset="-120"/>
              </a:rPr>
              <a:t>First version delivered by Exante</a:t>
            </a:r>
            <a:endParaRPr lang="en-US" sz="1200" dirty="0"/>
          </a:p>
        </p:txBody>
      </p:sp>
      <p:sp>
        <p:nvSpPr>
          <p:cNvPr id="26" name="Shape 22"/>
          <p:cNvSpPr/>
          <p:nvPr/>
        </p:nvSpPr>
        <p:spPr>
          <a:xfrm>
            <a:off x="9418320" y="2148840"/>
            <a:ext cx="365760" cy="365760"/>
          </a:xfrm>
          <a:prstGeom prst="ellipse">
            <a:avLst/>
          </a:prstGeom>
          <a:solidFill>
            <a:srgbClr val="FFFFFF"/>
          </a:solidFill>
          <a:ln w="31750">
            <a:solidFill>
              <a:srgbClr val="204596"/>
            </a:solidFill>
            <a:prstDash val="solid"/>
          </a:ln>
        </p:spPr>
        <p:txBody>
          <a:bodyPr/>
          <a:lstStyle/>
          <a:p>
            <a:endParaRPr lang="en-US"/>
          </a:p>
        </p:txBody>
      </p:sp>
      <p:sp>
        <p:nvSpPr>
          <p:cNvPr id="27" name="Text 23"/>
          <p:cNvSpPr txBox="1"/>
          <p:nvPr/>
        </p:nvSpPr>
        <p:spPr>
          <a:xfrm>
            <a:off x="9006840" y="1645920"/>
            <a:ext cx="2651760" cy="365760"/>
          </a:xfrm>
          <a:prstGeom prst="rect">
            <a:avLst/>
          </a:prstGeom>
          <a:noFill/>
          <a:ln/>
        </p:spPr>
        <p:txBody>
          <a:bodyPr wrap="square" lIns="0" tIns="0" rIns="0" bIns="0" rtlCol="0" anchor="t"/>
          <a:lstStyle/>
          <a:p>
            <a:pPr marL="0" indent="0">
              <a:buNone/>
            </a:pPr>
            <a:r>
              <a:rPr lang="en-US" sz="1300" b="1" dirty="0">
                <a:solidFill>
                  <a:srgbClr val="204596"/>
                </a:solidFill>
                <a:latin typeface="Calibri" pitchFamily="34" charset="0"/>
                <a:ea typeface="Calibri" pitchFamily="34" charset="-122"/>
                <a:cs typeface="Calibri" pitchFamily="34" charset="-120"/>
              </a:rPr>
              <a:t>After 08 Oct</a:t>
            </a:r>
            <a:endParaRPr lang="en-US" sz="1300" dirty="0"/>
          </a:p>
        </p:txBody>
      </p:sp>
      <p:sp>
        <p:nvSpPr>
          <p:cNvPr id="28" name="Shape 24"/>
          <p:cNvSpPr/>
          <p:nvPr/>
        </p:nvSpPr>
        <p:spPr>
          <a:xfrm>
            <a:off x="9006840" y="2743200"/>
            <a:ext cx="2697480" cy="1691640"/>
          </a:xfrm>
          <a:prstGeom prst="roundRect">
            <a:avLst>
              <a:gd name="adj" fmla="val 5405"/>
            </a:avLst>
          </a:prstGeom>
          <a:solidFill>
            <a:srgbClr val="F3F6FB"/>
          </a:solidFill>
          <a:ln/>
        </p:spPr>
        <p:txBody>
          <a:bodyPr/>
          <a:lstStyle/>
          <a:p>
            <a:endParaRPr lang="en-US"/>
          </a:p>
        </p:txBody>
      </p:sp>
      <p:sp>
        <p:nvSpPr>
          <p:cNvPr id="29" name="Text 25"/>
          <p:cNvSpPr txBox="1"/>
          <p:nvPr/>
        </p:nvSpPr>
        <p:spPr>
          <a:xfrm>
            <a:off x="9189720" y="2880360"/>
            <a:ext cx="2377440" cy="365760"/>
          </a:xfrm>
          <a:prstGeom prst="rect">
            <a:avLst/>
          </a:prstGeom>
          <a:noFill/>
          <a:ln/>
        </p:spPr>
        <p:txBody>
          <a:bodyPr wrap="square" lIns="0" tIns="0" rIns="0" bIns="0" rtlCol="0" anchor="t"/>
          <a:lstStyle/>
          <a:p>
            <a:pPr marL="0" indent="0">
              <a:buNone/>
            </a:pPr>
            <a:r>
              <a:rPr lang="en-US" sz="1500" b="1" dirty="0">
                <a:solidFill>
                  <a:srgbClr val="1F2A5A"/>
                </a:solidFill>
                <a:latin typeface="Calibri" pitchFamily="34" charset="0"/>
                <a:ea typeface="Calibri" pitchFamily="34" charset="-122"/>
                <a:cs typeface="Calibri" pitchFamily="34" charset="-120"/>
              </a:rPr>
              <a:t>Independent QA</a:t>
            </a:r>
            <a:endParaRPr lang="en-US" sz="1500" dirty="0"/>
          </a:p>
        </p:txBody>
      </p:sp>
      <p:sp>
        <p:nvSpPr>
          <p:cNvPr id="30" name="Text 26"/>
          <p:cNvSpPr txBox="1"/>
          <p:nvPr/>
        </p:nvSpPr>
        <p:spPr>
          <a:xfrm>
            <a:off x="9189720" y="3291840"/>
            <a:ext cx="2377440" cy="1005840"/>
          </a:xfrm>
          <a:prstGeom prst="rect">
            <a:avLst/>
          </a:prstGeom>
          <a:noFill/>
          <a:ln/>
        </p:spPr>
        <p:txBody>
          <a:bodyPr wrap="square" lIns="0" tIns="0" rIns="0" bIns="0" rtlCol="0" anchor="t"/>
          <a:lstStyle/>
          <a:p>
            <a:pPr marL="0" indent="0">
              <a:buNone/>
            </a:pPr>
            <a:r>
              <a:rPr lang="en-US" sz="1200" dirty="0">
                <a:solidFill>
                  <a:srgbClr val="3A4452"/>
                </a:solidFill>
                <a:latin typeface="Calibri" pitchFamily="34" charset="0"/>
                <a:ea typeface="Calibri" pitchFamily="34" charset="-122"/>
                <a:cs typeface="Calibri" pitchFamily="34" charset="-120"/>
              </a:rPr>
              <a:t>QATestLab tests v1 against prepared cases</a:t>
            </a:r>
            <a:endParaRPr lang="en-US" sz="1200" dirty="0"/>
          </a:p>
        </p:txBody>
      </p:sp>
      <p:sp>
        <p:nvSpPr>
          <p:cNvPr id="31" name="Shape 27"/>
          <p:cNvSpPr/>
          <p:nvPr/>
        </p:nvSpPr>
        <p:spPr>
          <a:xfrm>
            <a:off x="502920" y="4754880"/>
            <a:ext cx="11201400" cy="1234440"/>
          </a:xfrm>
          <a:prstGeom prst="roundRect">
            <a:avLst>
              <a:gd name="adj" fmla="val 7407"/>
            </a:avLst>
          </a:prstGeom>
          <a:solidFill>
            <a:srgbClr val="EEF2F8"/>
          </a:solidFill>
          <a:ln/>
        </p:spPr>
        <p:txBody>
          <a:bodyPr/>
          <a:lstStyle/>
          <a:p>
            <a:endParaRPr lang="en-US"/>
          </a:p>
        </p:txBody>
      </p:sp>
      <p:sp>
        <p:nvSpPr>
          <p:cNvPr id="32" name="Text 28"/>
          <p:cNvSpPr txBox="1"/>
          <p:nvPr/>
        </p:nvSpPr>
        <p:spPr>
          <a:xfrm>
            <a:off x="731520" y="4892040"/>
            <a:ext cx="3657600" cy="274320"/>
          </a:xfrm>
          <a:prstGeom prst="rect">
            <a:avLst/>
          </a:prstGeom>
          <a:noFill/>
          <a:ln/>
        </p:spPr>
        <p:txBody>
          <a:bodyPr wrap="square" lIns="0" tIns="0" rIns="0" bIns="0" rtlCol="0" anchor="t"/>
          <a:lstStyle/>
          <a:p>
            <a:pPr marL="0" indent="0">
              <a:buNone/>
            </a:pPr>
            <a:r>
              <a:rPr lang="en-US" sz="1100" b="1" kern="0" spc="200" dirty="0">
                <a:solidFill>
                  <a:srgbClr val="204596"/>
                </a:solidFill>
                <a:latin typeface="Calibri" pitchFamily="34" charset="0"/>
                <a:ea typeface="Calibri" pitchFamily="34" charset="-122"/>
                <a:cs typeface="Calibri" pitchFamily="34" charset="-120"/>
              </a:rPr>
              <a:t>WHY IT MATTERS</a:t>
            </a:r>
            <a:endParaRPr lang="en-US" sz="1100" dirty="0"/>
          </a:p>
        </p:txBody>
      </p:sp>
      <p:sp>
        <p:nvSpPr>
          <p:cNvPr id="33" name="Text 29"/>
          <p:cNvSpPr txBox="1"/>
          <p:nvPr/>
        </p:nvSpPr>
        <p:spPr>
          <a:xfrm>
            <a:off x="731520" y="5212080"/>
            <a:ext cx="10698480" cy="731520"/>
          </a:xfrm>
          <a:prstGeom prst="rect">
            <a:avLst/>
          </a:prstGeom>
          <a:noFill/>
          <a:ln/>
        </p:spPr>
        <p:txBody>
          <a:bodyPr wrap="square" lIns="0" tIns="0" rIns="0" bIns="0" rtlCol="0" anchor="t"/>
          <a:lstStyle/>
          <a:p>
            <a:pPr marL="0" indent="0">
              <a:buNone/>
            </a:pPr>
            <a:r>
              <a:rPr lang="en-US" sz="1300" dirty="0">
                <a:solidFill>
                  <a:srgbClr val="3A4452"/>
                </a:solidFill>
                <a:latin typeface="Calibri" pitchFamily="34" charset="0"/>
                <a:ea typeface="Calibri" pitchFamily="34" charset="-122"/>
                <a:cs typeface="Calibri" pitchFamily="34" charset="-120"/>
              </a:rPr>
              <a:t>Using QATestLab gives an independent quality check before the Next App reaches users. Test cases are being written in parallel with Exante's build, so testing can start as soon as v1 arrives on 09 Oct.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384048"/>
            <a:ext cx="73152" cy="566928"/>
          </a:xfrm>
          <a:prstGeom prst="rect">
            <a:avLst/>
          </a:prstGeom>
          <a:solidFill>
            <a:srgbClr val="204596"/>
          </a:solidFill>
          <a:ln/>
        </p:spPr>
        <p:txBody>
          <a:bodyPr/>
          <a:lstStyle/>
          <a:p>
            <a:endParaRPr lang="en-US"/>
          </a:p>
        </p:txBody>
      </p:sp>
      <p:sp>
        <p:nvSpPr>
          <p:cNvPr id="3" name="Text 1"/>
          <p:cNvSpPr txBox="1"/>
          <p:nvPr/>
        </p:nvSpPr>
        <p:spPr>
          <a:xfrm>
            <a:off x="502920" y="320040"/>
            <a:ext cx="9144000" cy="685800"/>
          </a:xfrm>
          <a:prstGeom prst="rect">
            <a:avLst/>
          </a:prstGeom>
          <a:noFill/>
          <a:ln/>
        </p:spPr>
        <p:txBody>
          <a:bodyPr wrap="square" lIns="0" tIns="0" rIns="0" bIns="0" rtlCol="0" anchor="ctr"/>
          <a:lstStyle/>
          <a:p>
            <a:pPr marL="0" indent="0">
              <a:buNone/>
            </a:pPr>
            <a:r>
              <a:rPr lang="en-US" sz="3000" b="1" dirty="0">
                <a:solidFill>
                  <a:srgbClr val="1F2A5A"/>
                </a:solidFill>
                <a:latin typeface="Calibri" pitchFamily="34" charset="0"/>
                <a:ea typeface="Calibri" pitchFamily="34" charset="-122"/>
                <a:cs typeface="Calibri" pitchFamily="34" charset="-120"/>
              </a:rPr>
              <a:t>Android App – Google Play API Update</a:t>
            </a:r>
            <a:endParaRPr lang="en-US" sz="3000" dirty="0"/>
          </a:p>
        </p:txBody>
      </p:sp>
      <p:sp>
        <p:nvSpPr>
          <p:cNvPr id="4" name="Shape 2"/>
          <p:cNvSpPr/>
          <p:nvPr/>
        </p:nvSpPr>
        <p:spPr>
          <a:xfrm>
            <a:off x="502920" y="1051560"/>
            <a:ext cx="2848356" cy="365760"/>
          </a:xfrm>
          <a:prstGeom prst="roundRect">
            <a:avLst>
              <a:gd name="adj" fmla="val 50000"/>
            </a:avLst>
          </a:prstGeom>
          <a:solidFill>
            <a:srgbClr val="1E2761"/>
          </a:solidFill>
          <a:ln/>
        </p:spPr>
        <p:txBody>
          <a:bodyPr/>
          <a:lstStyle/>
          <a:p>
            <a:endParaRPr lang="en-US"/>
          </a:p>
        </p:txBody>
      </p:sp>
      <p:sp>
        <p:nvSpPr>
          <p:cNvPr id="5" name="Text 3"/>
          <p:cNvSpPr txBox="1"/>
          <p:nvPr/>
        </p:nvSpPr>
        <p:spPr>
          <a:xfrm>
            <a:off x="502920" y="1051560"/>
            <a:ext cx="2848356"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PLATFORM · COMPLIANCE</a:t>
            </a:r>
            <a:endParaRPr lang="en-US" sz="1100" dirty="0"/>
          </a:p>
        </p:txBody>
      </p:sp>
      <p:pic>
        <p:nvPicPr>
          <p:cNvPr id="6" name="Image 0" descr="preencoded.png"/>
          <p:cNvPicPr>
            <a:picLocks noChangeAspect="1"/>
          </p:cNvPicPr>
          <p:nvPr/>
        </p:nvPicPr>
        <p:blipFill>
          <a:blip r:embed="rId3"/>
          <a:stretch>
            <a:fillRect/>
          </a:stretch>
        </p:blipFill>
        <p:spPr>
          <a:xfrm>
            <a:off x="10378440" y="274320"/>
            <a:ext cx="1463040" cy="530352"/>
          </a:xfrm>
          <a:prstGeom prst="rect">
            <a:avLst/>
          </a:prstGeom>
        </p:spPr>
      </p:pic>
      <p:pic>
        <p:nvPicPr>
          <p:cNvPr id="7" name="Image 1" descr="preencoded.png"/>
          <p:cNvPicPr>
            <a:picLocks noChangeAspect="1"/>
          </p:cNvPicPr>
          <p:nvPr/>
        </p:nvPicPr>
        <p:blipFill>
          <a:blip r:embed="rId4"/>
          <a:stretch>
            <a:fillRect/>
          </a:stretch>
        </p:blipFill>
        <p:spPr>
          <a:xfrm>
            <a:off x="10744200" y="6263640"/>
            <a:ext cx="1143000" cy="384048"/>
          </a:xfrm>
          <a:prstGeom prst="rect">
            <a:avLst/>
          </a:prstGeom>
        </p:spPr>
      </p:pic>
      <p:sp>
        <p:nvSpPr>
          <p:cNvPr id="8" name="Text 4"/>
          <p:cNvSpPr txBox="1"/>
          <p:nvPr/>
        </p:nvSpPr>
        <p:spPr>
          <a:xfrm>
            <a:off x="502920" y="6400800"/>
            <a:ext cx="6400800" cy="274320"/>
          </a:xfrm>
          <a:prstGeom prst="rect">
            <a:avLst/>
          </a:prstGeom>
          <a:noFill/>
          <a:ln/>
        </p:spPr>
        <p:txBody>
          <a:bodyPr wrap="square" lIns="0" tIns="0" rIns="0" bIns="0" rtlCol="0" anchor="ctr"/>
          <a:lstStyle/>
          <a:p>
            <a:pPr marL="0" indent="0">
              <a:buNone/>
            </a:pPr>
            <a:r>
              <a:rPr lang="en-US" sz="900" dirty="0">
                <a:solidFill>
                  <a:srgbClr val="5F6B7A"/>
                </a:solidFill>
                <a:latin typeface="Calibri" pitchFamily="34" charset="0"/>
                <a:ea typeface="Calibri" pitchFamily="34" charset="-122"/>
                <a:cs typeface="Calibri" pitchFamily="34" charset="-120"/>
              </a:rPr>
              <a:t>eMYAA Trading Platform  |  IT Status Update to CEO  |  01 Oct 2026</a:t>
            </a:r>
            <a:endParaRPr lang="en-US" sz="900" dirty="0"/>
          </a:p>
        </p:txBody>
      </p:sp>
      <p:sp>
        <p:nvSpPr>
          <p:cNvPr id="9" name="Text 5"/>
          <p:cNvSpPr txBox="1"/>
          <p:nvPr/>
        </p:nvSpPr>
        <p:spPr>
          <a:xfrm>
            <a:off x="10241280" y="6400800"/>
            <a:ext cx="365760" cy="274320"/>
          </a:xfrm>
          <a:prstGeom prst="rect">
            <a:avLst/>
          </a:prstGeom>
          <a:noFill/>
          <a:ln/>
        </p:spPr>
        <p:txBody>
          <a:bodyPr wrap="square" lIns="0" tIns="0" rIns="0" bIns="0" rtlCol="0" anchor="ctr"/>
          <a:lstStyle/>
          <a:p>
            <a:pPr marL="0" indent="0" algn="r">
              <a:buNone/>
            </a:pPr>
            <a:r>
              <a:rPr lang="en-US" sz="900" dirty="0">
                <a:solidFill>
                  <a:srgbClr val="5F6B7A"/>
                </a:solidFill>
                <a:latin typeface="Calibri" pitchFamily="34" charset="0"/>
                <a:ea typeface="Calibri" pitchFamily="34" charset="-122"/>
                <a:cs typeface="Calibri" pitchFamily="34" charset="-120"/>
              </a:rPr>
              <a:t>6</a:t>
            </a:r>
            <a:endParaRPr lang="en-US" sz="900" dirty="0"/>
          </a:p>
        </p:txBody>
      </p:sp>
      <p:sp>
        <p:nvSpPr>
          <p:cNvPr id="10" name="Shape 6"/>
          <p:cNvSpPr/>
          <p:nvPr/>
        </p:nvSpPr>
        <p:spPr>
          <a:xfrm>
            <a:off x="502920" y="1645920"/>
            <a:ext cx="3749040" cy="4434840"/>
          </a:xfrm>
          <a:prstGeom prst="roundRect">
            <a:avLst>
              <a:gd name="adj" fmla="val 2439"/>
            </a:avLst>
          </a:prstGeom>
          <a:solidFill>
            <a:srgbClr val="F3F6FB"/>
          </a:solidFill>
          <a:ln/>
        </p:spPr>
        <p:txBody>
          <a:bodyPr/>
          <a:lstStyle/>
          <a:p>
            <a:endParaRPr lang="en-US"/>
          </a:p>
        </p:txBody>
      </p:sp>
      <p:graphicFrame>
        <p:nvGraphicFramePr>
          <p:cNvPr id="11" name="Chart 0"/>
          <p:cNvGraphicFramePr/>
          <p:nvPr/>
        </p:nvGraphicFramePr>
        <p:xfrm>
          <a:off x="685800" y="1783080"/>
          <a:ext cx="338328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7"/>
          <p:cNvSpPr txBox="1"/>
          <p:nvPr/>
        </p:nvSpPr>
        <p:spPr>
          <a:xfrm>
            <a:off x="685800" y="2788920"/>
            <a:ext cx="3383280" cy="502920"/>
          </a:xfrm>
          <a:prstGeom prst="rect">
            <a:avLst/>
          </a:prstGeom>
          <a:noFill/>
          <a:ln/>
        </p:spPr>
        <p:txBody>
          <a:bodyPr wrap="square" lIns="0" tIns="0" rIns="0" bIns="0" rtlCol="0" anchor="t"/>
          <a:lstStyle/>
          <a:p>
            <a:pPr marL="0" indent="0" algn="ctr">
              <a:buNone/>
            </a:pPr>
            <a:r>
              <a:rPr lang="en-US" sz="3000" b="1" dirty="0">
                <a:solidFill>
                  <a:srgbClr val="1F2A5A"/>
                </a:solidFill>
                <a:latin typeface="Calibri" pitchFamily="34" charset="0"/>
                <a:ea typeface="Calibri" pitchFamily="34" charset="-122"/>
                <a:cs typeface="Calibri" pitchFamily="34" charset="-120"/>
              </a:rPr>
              <a:t>99.4%</a:t>
            </a:r>
            <a:endParaRPr lang="en-US" sz="3000" dirty="0"/>
          </a:p>
        </p:txBody>
      </p:sp>
      <p:sp>
        <p:nvSpPr>
          <p:cNvPr id="13" name="Text 8"/>
          <p:cNvSpPr txBox="1"/>
          <p:nvPr/>
        </p:nvSpPr>
        <p:spPr>
          <a:xfrm>
            <a:off x="685800" y="3291840"/>
            <a:ext cx="3383280" cy="274320"/>
          </a:xfrm>
          <a:prstGeom prst="rect">
            <a:avLst/>
          </a:prstGeom>
          <a:noFill/>
          <a:ln/>
        </p:spPr>
        <p:txBody>
          <a:bodyPr wrap="square" lIns="0" tIns="0" rIns="0" bIns="0" rtlCol="0" anchor="t"/>
          <a:lstStyle/>
          <a:p>
            <a:pPr marL="0" indent="0" algn="ctr">
              <a:buNone/>
            </a:pPr>
            <a:r>
              <a:rPr lang="en-US" sz="1000" dirty="0">
                <a:solidFill>
                  <a:srgbClr val="5F6B7A"/>
                </a:solidFill>
                <a:latin typeface="Calibri" pitchFamily="34" charset="0"/>
                <a:ea typeface="Calibri" pitchFamily="34" charset="-122"/>
                <a:cs typeface="Calibri" pitchFamily="34" charset="-120"/>
              </a:rPr>
              <a:t>pass rate (executed)</a:t>
            </a:r>
            <a:endParaRPr lang="en-US" sz="1000" dirty="0"/>
          </a:p>
        </p:txBody>
      </p:sp>
      <p:sp>
        <p:nvSpPr>
          <p:cNvPr id="14" name="Shape 9"/>
          <p:cNvSpPr/>
          <p:nvPr/>
        </p:nvSpPr>
        <p:spPr>
          <a:xfrm>
            <a:off x="777240" y="4773168"/>
            <a:ext cx="146304" cy="146304"/>
          </a:xfrm>
          <a:prstGeom prst="rect">
            <a:avLst/>
          </a:prstGeom>
          <a:solidFill>
            <a:srgbClr val="1E8A4C"/>
          </a:solidFill>
          <a:ln/>
        </p:spPr>
        <p:txBody>
          <a:bodyPr/>
          <a:lstStyle/>
          <a:p>
            <a:endParaRPr lang="en-US"/>
          </a:p>
        </p:txBody>
      </p:sp>
      <p:sp>
        <p:nvSpPr>
          <p:cNvPr id="15" name="Text 10"/>
          <p:cNvSpPr txBox="1"/>
          <p:nvPr/>
        </p:nvSpPr>
        <p:spPr>
          <a:xfrm>
            <a:off x="1005840" y="4709160"/>
            <a:ext cx="1371600" cy="274320"/>
          </a:xfrm>
          <a:prstGeom prst="rect">
            <a:avLst/>
          </a:prstGeom>
          <a:noFill/>
          <a:ln/>
        </p:spPr>
        <p:txBody>
          <a:bodyPr wrap="square" lIns="0" tIns="0" rIns="0" bIns="0" rtlCol="0" anchor="t"/>
          <a:lstStyle/>
          <a:p>
            <a:pPr marL="0" indent="0">
              <a:buNone/>
            </a:pPr>
            <a:r>
              <a:rPr lang="en-US" sz="1150" dirty="0">
                <a:solidFill>
                  <a:srgbClr val="3A4452"/>
                </a:solidFill>
                <a:latin typeface="Calibri" pitchFamily="34" charset="0"/>
                <a:ea typeface="Calibri" pitchFamily="34" charset="-122"/>
                <a:cs typeface="Calibri" pitchFamily="34" charset="-120"/>
              </a:rPr>
              <a:t>Passed 158</a:t>
            </a:r>
            <a:endParaRPr lang="en-US" sz="1150" dirty="0"/>
          </a:p>
        </p:txBody>
      </p:sp>
      <p:sp>
        <p:nvSpPr>
          <p:cNvPr id="16" name="Shape 11"/>
          <p:cNvSpPr/>
          <p:nvPr/>
        </p:nvSpPr>
        <p:spPr>
          <a:xfrm>
            <a:off x="2468880" y="4773168"/>
            <a:ext cx="146304" cy="146304"/>
          </a:xfrm>
          <a:prstGeom prst="rect">
            <a:avLst/>
          </a:prstGeom>
          <a:solidFill>
            <a:srgbClr val="E8A33D"/>
          </a:solidFill>
          <a:ln/>
        </p:spPr>
        <p:txBody>
          <a:bodyPr/>
          <a:lstStyle/>
          <a:p>
            <a:endParaRPr lang="en-US"/>
          </a:p>
        </p:txBody>
      </p:sp>
      <p:sp>
        <p:nvSpPr>
          <p:cNvPr id="17" name="Text 12"/>
          <p:cNvSpPr txBox="1"/>
          <p:nvPr/>
        </p:nvSpPr>
        <p:spPr>
          <a:xfrm>
            <a:off x="2697480" y="4709160"/>
            <a:ext cx="1371600" cy="274320"/>
          </a:xfrm>
          <a:prstGeom prst="rect">
            <a:avLst/>
          </a:prstGeom>
          <a:noFill/>
          <a:ln/>
        </p:spPr>
        <p:txBody>
          <a:bodyPr wrap="square" lIns="0" tIns="0" rIns="0" bIns="0" rtlCol="0" anchor="t"/>
          <a:lstStyle/>
          <a:p>
            <a:pPr marL="0" indent="0">
              <a:buNone/>
            </a:pPr>
            <a:r>
              <a:rPr lang="en-US" sz="1150" dirty="0">
                <a:solidFill>
                  <a:srgbClr val="3A4452"/>
                </a:solidFill>
                <a:latin typeface="Calibri" pitchFamily="34" charset="0"/>
                <a:ea typeface="Calibri" pitchFamily="34" charset="-122"/>
                <a:cs typeface="Calibri" pitchFamily="34" charset="-120"/>
              </a:rPr>
              <a:t>Skipped 19</a:t>
            </a:r>
            <a:endParaRPr lang="en-US" sz="1150" dirty="0"/>
          </a:p>
        </p:txBody>
      </p:sp>
      <p:sp>
        <p:nvSpPr>
          <p:cNvPr id="18" name="Shape 13"/>
          <p:cNvSpPr/>
          <p:nvPr/>
        </p:nvSpPr>
        <p:spPr>
          <a:xfrm>
            <a:off x="777240" y="5093208"/>
            <a:ext cx="146304" cy="146304"/>
          </a:xfrm>
          <a:prstGeom prst="rect">
            <a:avLst/>
          </a:prstGeom>
          <a:solidFill>
            <a:srgbClr val="9AA3AF"/>
          </a:solidFill>
          <a:ln/>
        </p:spPr>
        <p:txBody>
          <a:bodyPr/>
          <a:lstStyle/>
          <a:p>
            <a:endParaRPr lang="en-US"/>
          </a:p>
        </p:txBody>
      </p:sp>
      <p:sp>
        <p:nvSpPr>
          <p:cNvPr id="19" name="Text 14"/>
          <p:cNvSpPr txBox="1"/>
          <p:nvPr/>
        </p:nvSpPr>
        <p:spPr>
          <a:xfrm>
            <a:off x="1005840" y="5029200"/>
            <a:ext cx="1371600" cy="274320"/>
          </a:xfrm>
          <a:prstGeom prst="rect">
            <a:avLst/>
          </a:prstGeom>
          <a:noFill/>
          <a:ln/>
        </p:spPr>
        <p:txBody>
          <a:bodyPr wrap="square" lIns="0" tIns="0" rIns="0" bIns="0" rtlCol="0" anchor="t"/>
          <a:lstStyle/>
          <a:p>
            <a:pPr marL="0" indent="0">
              <a:buNone/>
            </a:pPr>
            <a:r>
              <a:rPr lang="en-US" sz="1150" dirty="0">
                <a:solidFill>
                  <a:srgbClr val="3A4452"/>
                </a:solidFill>
                <a:latin typeface="Calibri" pitchFamily="34" charset="0"/>
                <a:ea typeface="Calibri" pitchFamily="34" charset="-122"/>
                <a:cs typeface="Calibri" pitchFamily="34" charset="-120"/>
              </a:rPr>
              <a:t>N/A 4</a:t>
            </a:r>
            <a:endParaRPr lang="en-US" sz="1150" dirty="0"/>
          </a:p>
        </p:txBody>
      </p:sp>
      <p:sp>
        <p:nvSpPr>
          <p:cNvPr id="20" name="Shape 15"/>
          <p:cNvSpPr/>
          <p:nvPr/>
        </p:nvSpPr>
        <p:spPr>
          <a:xfrm>
            <a:off x="2468880" y="5093208"/>
            <a:ext cx="146304" cy="146304"/>
          </a:xfrm>
          <a:prstGeom prst="rect">
            <a:avLst/>
          </a:prstGeom>
          <a:solidFill>
            <a:srgbClr val="C0392B"/>
          </a:solidFill>
          <a:ln/>
        </p:spPr>
        <p:txBody>
          <a:bodyPr/>
          <a:lstStyle/>
          <a:p>
            <a:endParaRPr lang="en-US"/>
          </a:p>
        </p:txBody>
      </p:sp>
      <p:sp>
        <p:nvSpPr>
          <p:cNvPr id="21" name="Text 16"/>
          <p:cNvSpPr txBox="1"/>
          <p:nvPr/>
        </p:nvSpPr>
        <p:spPr>
          <a:xfrm>
            <a:off x="2697480" y="5029200"/>
            <a:ext cx="1371600" cy="274320"/>
          </a:xfrm>
          <a:prstGeom prst="rect">
            <a:avLst/>
          </a:prstGeom>
          <a:noFill/>
          <a:ln/>
        </p:spPr>
        <p:txBody>
          <a:bodyPr wrap="square" lIns="0" tIns="0" rIns="0" bIns="0" rtlCol="0" anchor="t"/>
          <a:lstStyle/>
          <a:p>
            <a:pPr marL="0" indent="0">
              <a:buNone/>
            </a:pPr>
            <a:r>
              <a:rPr lang="en-US" sz="1150" dirty="0">
                <a:solidFill>
                  <a:srgbClr val="3A4452"/>
                </a:solidFill>
                <a:latin typeface="Calibri" pitchFamily="34" charset="0"/>
                <a:ea typeface="Calibri" pitchFamily="34" charset="-122"/>
                <a:cs typeface="Calibri" pitchFamily="34" charset="-120"/>
              </a:rPr>
              <a:t>Failed 1</a:t>
            </a:r>
            <a:endParaRPr lang="en-US" sz="1150" dirty="0"/>
          </a:p>
        </p:txBody>
      </p:sp>
      <p:sp>
        <p:nvSpPr>
          <p:cNvPr id="22" name="Text 17"/>
          <p:cNvSpPr txBox="1"/>
          <p:nvPr/>
        </p:nvSpPr>
        <p:spPr>
          <a:xfrm>
            <a:off x="685800" y="5440680"/>
            <a:ext cx="3383280" cy="457200"/>
          </a:xfrm>
          <a:prstGeom prst="rect">
            <a:avLst/>
          </a:prstGeom>
          <a:noFill/>
          <a:ln/>
        </p:spPr>
        <p:txBody>
          <a:bodyPr wrap="square" lIns="0" tIns="0" rIns="0" bIns="0" rtlCol="0" anchor="t"/>
          <a:lstStyle/>
          <a:p>
            <a:pPr marL="0" indent="0" algn="ctr">
              <a:buNone/>
            </a:pPr>
            <a:r>
              <a:rPr lang="en-US" sz="1100" i="1" dirty="0">
                <a:solidFill>
                  <a:srgbClr val="5F6B7A"/>
                </a:solidFill>
                <a:latin typeface="Calibri" pitchFamily="34" charset="0"/>
                <a:ea typeface="Calibri" pitchFamily="34" charset="-122"/>
                <a:cs typeface="Calibri" pitchFamily="34" charset="-120"/>
              </a:rPr>
              <a:t>182 cases · 159 executed · 158 passed</a:t>
            </a:r>
            <a:endParaRPr lang="en-US" sz="1100" dirty="0"/>
          </a:p>
        </p:txBody>
      </p:sp>
      <p:sp>
        <p:nvSpPr>
          <p:cNvPr id="23" name="Text 18"/>
          <p:cNvSpPr txBox="1"/>
          <p:nvPr/>
        </p:nvSpPr>
        <p:spPr>
          <a:xfrm>
            <a:off x="4526280" y="1645920"/>
            <a:ext cx="7178040" cy="868680"/>
          </a:xfrm>
          <a:prstGeom prst="rect">
            <a:avLst/>
          </a:prstGeom>
          <a:noFill/>
          <a:ln/>
        </p:spPr>
        <p:txBody>
          <a:bodyPr wrap="square" lIns="0" tIns="0" rIns="0" bIns="0" rtlCol="0" anchor="t"/>
          <a:lstStyle/>
          <a:p>
            <a:pPr marL="0" indent="0">
              <a:buNone/>
            </a:pPr>
            <a:r>
              <a:rPr lang="en-US" sz="1250" dirty="0">
                <a:solidFill>
                  <a:srgbClr val="3A4452"/>
                </a:solidFill>
                <a:latin typeface="Calibri" pitchFamily="34" charset="0"/>
                <a:ea typeface="Calibri" pitchFamily="34" charset="-122"/>
                <a:cs typeface="Calibri" pitchFamily="34" charset="-120"/>
              </a:rPr>
              <a:t>Google required an API update and republish by 01 Nov 2026 to keep the app on Google Play. The team delivered the build and we completed two test rounds: Round 1 by Abdulla, Round 2 by Malik. No major bugs were found, and the updated app was published on Google Play on 29 Sep 2026.</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26280" y="2606040"/>
          <a:ext cx="3566160" cy="2072640"/>
        </p:xfrm>
        <a:graphic>
          <a:graphicData uri="http://schemas.openxmlformats.org/drawingml/2006/table">
            <a:tbl>
              <a:tblPr/>
              <a:tblGrid>
                <a:gridCol w="1325880">
                  <a:extLst>
                    <a:ext uri="{9D8B030D-6E8A-4147-A177-3AD203B41FA5}">
                      <a16:colId xmlns:a16="http://schemas.microsoft.com/office/drawing/2014/main" val="20000"/>
                    </a:ext>
                  </a:extLst>
                </a:gridCol>
                <a:gridCol w="566928">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67512">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tblGrid>
              <a:tr h="329184">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Passed</a:t>
                      </a:r>
                      <a:endParaRPr lang="en-US" sz="950" dirty="0">
                        <a:latin typeface="Calibri" charset="0"/>
                        <a:ea typeface="Calibri" charset="0"/>
                        <a:cs typeface="Calibri" charset="0"/>
                      </a:endParaRPr>
                    </a:p>
                  </a:txBody>
                  <a:tcPr marL="25400" marR="25400" marT="25400" marB="254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Failed</a:t>
                      </a:r>
                      <a:endParaRPr lang="en-US" sz="950" dirty="0">
                        <a:latin typeface="Calibri" charset="0"/>
                        <a:ea typeface="Calibri" charset="0"/>
                        <a:cs typeface="Calibri" charset="0"/>
                      </a:endParaRPr>
                    </a:p>
                  </a:txBody>
                  <a:tcPr marL="25400" marR="25400" marT="25400" marB="254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Skipped</a:t>
                      </a:r>
                      <a:endParaRPr lang="en-US" sz="950" dirty="0">
                        <a:latin typeface="Calibri" charset="0"/>
                        <a:ea typeface="Calibri" charset="0"/>
                        <a:cs typeface="Calibri" charset="0"/>
                      </a:endParaRPr>
                    </a:p>
                  </a:txBody>
                  <a:tcPr marL="25400" marR="25400" marT="25400" marB="254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N/A</a:t>
                      </a:r>
                      <a:endParaRPr lang="en-US" sz="950" dirty="0">
                        <a:latin typeface="Calibri" charset="0"/>
                        <a:ea typeface="Calibri" charset="0"/>
                        <a:cs typeface="Calibri" charset="0"/>
                      </a:endParaRPr>
                    </a:p>
                  </a:txBody>
                  <a:tcPr marL="25400" marR="25400" marT="25400" marB="254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9184">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Base requirements</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48</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b="1" dirty="0">
                          <a:solidFill>
                            <a:srgbClr val="C0392B"/>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AI Chatbot</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T&amp;C + SCC</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Other Q1 requirements</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42</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KYC onboarding</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hape 19"/>
          <p:cNvSpPr/>
          <p:nvPr/>
        </p:nvSpPr>
        <p:spPr>
          <a:xfrm>
            <a:off x="8275320" y="2606040"/>
            <a:ext cx="3429000" cy="3474720"/>
          </a:xfrm>
          <a:prstGeom prst="roundRect">
            <a:avLst>
              <a:gd name="adj" fmla="val 2667"/>
            </a:avLst>
          </a:prstGeom>
          <a:solidFill>
            <a:srgbClr val="F3F6FB"/>
          </a:solidFill>
          <a:ln/>
        </p:spPr>
        <p:txBody>
          <a:bodyPr/>
          <a:lstStyle/>
          <a:p>
            <a:endParaRPr lang="en-US"/>
          </a:p>
        </p:txBody>
      </p:sp>
      <p:sp>
        <p:nvSpPr>
          <p:cNvPr id="26" name="Text 20"/>
          <p:cNvSpPr txBox="1"/>
          <p:nvPr/>
        </p:nvSpPr>
        <p:spPr>
          <a:xfrm>
            <a:off x="8458200" y="2715768"/>
            <a:ext cx="3108960" cy="274320"/>
          </a:xfrm>
          <a:prstGeom prst="rect">
            <a:avLst/>
          </a:prstGeom>
          <a:noFill/>
          <a:ln/>
        </p:spPr>
        <p:txBody>
          <a:bodyPr wrap="square" lIns="0" tIns="0" rIns="0" bIns="0" rtlCol="0" anchor="t"/>
          <a:lstStyle/>
          <a:p>
            <a:pPr marL="0" indent="0">
              <a:buNone/>
            </a:pPr>
            <a:r>
              <a:rPr lang="en-US" sz="1050" b="1" kern="0" spc="100" dirty="0">
                <a:solidFill>
                  <a:srgbClr val="204596"/>
                </a:solidFill>
                <a:latin typeface="Calibri" pitchFamily="34" charset="0"/>
                <a:ea typeface="Calibri" pitchFamily="34" charset="-122"/>
                <a:cs typeface="Calibri" pitchFamily="34" charset="-120"/>
              </a:rPr>
              <a:t>MINOR ISSUES – NEXT RELEASE</a:t>
            </a:r>
            <a:endParaRPr lang="en-US" sz="1050" dirty="0"/>
          </a:p>
        </p:txBody>
      </p:sp>
      <p:sp>
        <p:nvSpPr>
          <p:cNvPr id="27" name="Text 21"/>
          <p:cNvSpPr txBox="1"/>
          <p:nvPr/>
        </p:nvSpPr>
        <p:spPr>
          <a:xfrm>
            <a:off x="8458200" y="3035808"/>
            <a:ext cx="3108960" cy="2971800"/>
          </a:xfrm>
          <a:prstGeom prst="rect">
            <a:avLst/>
          </a:prstGeom>
          <a:noFill/>
          <a:ln/>
        </p:spPr>
        <p:txBody>
          <a:bodyPr wrap="square" lIns="0" tIns="0" rIns="0" bIns="0" rtlCol="0" anchor="t"/>
          <a:lstStyle/>
          <a:p>
            <a:pPr marL="342900" indent="-342900">
              <a:spcAft>
                <a:spcPts val="400"/>
              </a:spcAft>
              <a:buSzPct val="100000"/>
              <a:buFont typeface="+mj-lt"/>
              <a:buAutoNum type="arabicPeriod"/>
            </a:pPr>
            <a:r>
              <a:rPr lang="en-US" sz="1100" dirty="0">
                <a:solidFill>
                  <a:srgbClr val="3A4452"/>
                </a:solidFill>
                <a:latin typeface="Calibri" pitchFamily="34" charset="0"/>
                <a:ea typeface="Calibri" pitchFamily="34" charset="-122"/>
                <a:cs typeface="Calibri" pitchFamily="34" charset="-120"/>
              </a:rPr>
              <a:t>Watchlist items disappear when Shariah filter is on</a:t>
            </a:r>
            <a:endParaRPr lang="en-US" sz="1100" dirty="0"/>
          </a:p>
          <a:p>
            <a:pPr marL="342900" indent="-342900">
              <a:spcAft>
                <a:spcPts val="400"/>
              </a:spcAft>
              <a:buSzPct val="100000"/>
              <a:buFont typeface="+mj-lt"/>
              <a:buAutoNum type="arabicPeriod"/>
            </a:pPr>
            <a:r>
              <a:rPr lang="en-US" sz="1100" dirty="0">
                <a:solidFill>
                  <a:srgbClr val="3A4452"/>
                </a:solidFill>
                <a:latin typeface="Calibri" pitchFamily="34" charset="0"/>
                <a:ea typeface="Calibri" pitchFamily="34" charset="-122"/>
                <a:cs typeface="Calibri" pitchFamily="34" charset="-120"/>
              </a:rPr>
              <a:t>Instrument tree keeps buffering on first open on the trade screen.</a:t>
            </a:r>
            <a:endParaRPr lang="en-US" sz="1100" dirty="0"/>
          </a:p>
          <a:p>
            <a:pPr marL="342900" indent="-342900">
              <a:spcAft>
                <a:spcPts val="400"/>
              </a:spcAft>
              <a:buSzPct val="100000"/>
              <a:buFont typeface="+mj-lt"/>
              <a:buAutoNum type="arabicPeriod"/>
            </a:pPr>
            <a:r>
              <a:rPr lang="en-US" sz="1100" dirty="0">
                <a:solidFill>
                  <a:srgbClr val="3A4452"/>
                </a:solidFill>
                <a:latin typeface="Calibri" pitchFamily="34" charset="0"/>
                <a:ea typeface="Calibri" pitchFamily="34" charset="-122"/>
                <a:cs typeface="Calibri" pitchFamily="34" charset="-120"/>
              </a:rPr>
              <a:t>Withdrawal: beneficiary shows last name only.</a:t>
            </a:r>
            <a:endParaRPr lang="en-US" sz="1100" dirty="0"/>
          </a:p>
          <a:p>
            <a:pPr marL="342900" indent="-342900">
              <a:spcAft>
                <a:spcPts val="400"/>
              </a:spcAft>
              <a:buSzPct val="100000"/>
              <a:buFont typeface="+mj-lt"/>
              <a:buAutoNum type="arabicPeriod"/>
            </a:pPr>
            <a:r>
              <a:rPr lang="en-US" sz="1100" dirty="0">
                <a:solidFill>
                  <a:srgbClr val="3A4452"/>
                </a:solidFill>
                <a:latin typeface="Calibri" pitchFamily="34" charset="0"/>
                <a:ea typeface="Calibri" pitchFamily="34" charset="-122"/>
                <a:cs typeface="Calibri" pitchFamily="34" charset="-120"/>
              </a:rPr>
              <a:t>Change display mode has no effect</a:t>
            </a:r>
            <a:endParaRPr lang="en-US" sz="1100" dirty="0"/>
          </a:p>
          <a:p>
            <a:pPr marL="342900" indent="-342900">
              <a:spcAft>
                <a:spcPts val="400"/>
              </a:spcAft>
              <a:buSzPct val="100000"/>
              <a:buFont typeface="+mj-lt"/>
              <a:buAutoNum type="arabicPeriod"/>
            </a:pPr>
            <a:r>
              <a:rPr lang="en-US" sz="1100" dirty="0">
                <a:solidFill>
                  <a:srgbClr val="3A4452"/>
                </a:solidFill>
                <a:latin typeface="Calibri" pitchFamily="34" charset="0"/>
                <a:ea typeface="Calibri" pitchFamily="34" charset="-122"/>
                <a:cs typeface="Calibri" pitchFamily="34" charset="-120"/>
              </a:rPr>
              <a:t>Arabic Summary screen: Daily P/L not clearly visible</a:t>
            </a:r>
            <a:endParaRPr lang="en-US" sz="1100" dirty="0"/>
          </a:p>
          <a:p>
            <a:pPr marL="342900" indent="-342900">
              <a:spcAft>
                <a:spcPts val="400"/>
              </a:spcAft>
              <a:buSzPct val="100000"/>
              <a:buFont typeface="+mj-lt"/>
              <a:buAutoNum type="arabicPeriod"/>
            </a:pPr>
            <a:r>
              <a:rPr lang="en-US" sz="1100" dirty="0">
                <a:solidFill>
                  <a:srgbClr val="3A4452"/>
                </a:solidFill>
                <a:latin typeface="Calibri" pitchFamily="34" charset="0"/>
                <a:ea typeface="Calibri" pitchFamily="34" charset="-122"/>
                <a:cs typeface="Calibri" pitchFamily="34" charset="-120"/>
              </a:rPr>
              <a:t>Exchange section should be hidden (USD base currency only)</a:t>
            </a:r>
            <a:endParaRPr lang="en-US" sz="1100" dirty="0"/>
          </a:p>
        </p:txBody>
      </p:sp>
      <p:sp>
        <p:nvSpPr>
          <p:cNvPr id="28" name="Text 22"/>
          <p:cNvSpPr txBox="1"/>
          <p:nvPr/>
        </p:nvSpPr>
        <p:spPr>
          <a:xfrm>
            <a:off x="4526280" y="4663440"/>
            <a:ext cx="3566160" cy="274320"/>
          </a:xfrm>
          <a:prstGeom prst="rect">
            <a:avLst/>
          </a:prstGeom>
          <a:noFill/>
          <a:ln/>
        </p:spPr>
        <p:txBody>
          <a:bodyPr wrap="square" lIns="0" tIns="0" rIns="0" bIns="0" rtlCol="0" anchor="t"/>
          <a:lstStyle/>
          <a:p>
            <a:pPr marL="0" indent="0">
              <a:buNone/>
            </a:pPr>
            <a:r>
              <a:rPr lang="en-US" sz="1100" i="1" dirty="0">
                <a:solidFill>
                  <a:srgbClr val="5F6B7A"/>
                </a:solidFill>
                <a:latin typeface="Calibri" pitchFamily="34" charset="0"/>
                <a:ea typeface="Calibri" pitchFamily="34" charset="-122"/>
                <a:cs typeface="Calibri" pitchFamily="34" charset="-120"/>
              </a:rPr>
              <a:t>None of these block the release.</a:t>
            </a:r>
            <a:endParaRPr lang="en-US" sz="1100" dirty="0"/>
          </a:p>
        </p:txBody>
      </p:sp>
      <p:sp>
        <p:nvSpPr>
          <p:cNvPr id="29" name="Shape 23"/>
          <p:cNvSpPr/>
          <p:nvPr/>
        </p:nvSpPr>
        <p:spPr>
          <a:xfrm>
            <a:off x="4526280" y="5029200"/>
            <a:ext cx="3566160" cy="1051560"/>
          </a:xfrm>
          <a:prstGeom prst="roundRect">
            <a:avLst>
              <a:gd name="adj" fmla="val 8696"/>
            </a:avLst>
          </a:prstGeom>
          <a:solidFill>
            <a:srgbClr val="E3F4EA"/>
          </a:solidFill>
          <a:ln/>
        </p:spPr>
        <p:txBody>
          <a:bodyPr/>
          <a:lstStyle/>
          <a:p>
            <a:endParaRPr lang="en-US"/>
          </a:p>
        </p:txBody>
      </p:sp>
      <p:sp>
        <p:nvSpPr>
          <p:cNvPr id="30" name="Text 24"/>
          <p:cNvSpPr txBox="1"/>
          <p:nvPr/>
        </p:nvSpPr>
        <p:spPr>
          <a:xfrm>
            <a:off x="4709160" y="5138928"/>
            <a:ext cx="3200400" cy="320040"/>
          </a:xfrm>
          <a:prstGeom prst="rect">
            <a:avLst/>
          </a:prstGeom>
          <a:noFill/>
          <a:ln/>
        </p:spPr>
        <p:txBody>
          <a:bodyPr wrap="square" lIns="0" tIns="0" rIns="0" bIns="0" rtlCol="0" anchor="t"/>
          <a:lstStyle/>
          <a:p>
            <a:pPr marL="0" indent="0">
              <a:buNone/>
            </a:pPr>
            <a:r>
              <a:rPr lang="en-US" sz="1400" b="1" dirty="0">
                <a:solidFill>
                  <a:srgbClr val="1E8A4C"/>
                </a:solidFill>
                <a:latin typeface="Calibri" pitchFamily="34" charset="0"/>
                <a:ea typeface="Calibri" pitchFamily="34" charset="-122"/>
                <a:cs typeface="Calibri" pitchFamily="34" charset="-120"/>
              </a:rPr>
              <a:t>Live on Google Play Store</a:t>
            </a:r>
            <a:endParaRPr lang="en-US" sz="1400" dirty="0"/>
          </a:p>
        </p:txBody>
      </p:sp>
      <p:sp>
        <p:nvSpPr>
          <p:cNvPr id="31" name="Text 25"/>
          <p:cNvSpPr txBox="1"/>
          <p:nvPr/>
        </p:nvSpPr>
        <p:spPr>
          <a:xfrm>
            <a:off x="4709160" y="5468112"/>
            <a:ext cx="3200400" cy="548640"/>
          </a:xfrm>
          <a:prstGeom prst="rect">
            <a:avLst/>
          </a:prstGeom>
          <a:noFill/>
          <a:ln/>
        </p:spPr>
        <p:txBody>
          <a:bodyPr wrap="square" lIns="0" tIns="0" rIns="0" bIns="0" rtlCol="0" anchor="t"/>
          <a:lstStyle/>
          <a:p>
            <a:pPr marL="0" indent="0">
              <a:buNone/>
            </a:pPr>
            <a:r>
              <a:rPr lang="en-US" sz="1150" dirty="0">
                <a:solidFill>
                  <a:srgbClr val="3A4452"/>
                </a:solidFill>
                <a:latin typeface="Calibri" pitchFamily="34" charset="0"/>
                <a:ea typeface="Calibri" pitchFamily="34" charset="-122"/>
                <a:cs typeface="Calibri" pitchFamily="34" charset="-120"/>
              </a:rPr>
              <a:t>Published 29 Sep 2026, more than a month ahead of the deadline.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20040" y="384048"/>
            <a:ext cx="73152" cy="566928"/>
          </a:xfrm>
          <a:prstGeom prst="rect">
            <a:avLst/>
          </a:prstGeom>
          <a:solidFill>
            <a:srgbClr val="204596"/>
          </a:solidFill>
          <a:ln/>
        </p:spPr>
        <p:txBody>
          <a:bodyPr/>
          <a:lstStyle/>
          <a:p>
            <a:endParaRPr lang="en-US"/>
          </a:p>
        </p:txBody>
      </p:sp>
      <p:sp>
        <p:nvSpPr>
          <p:cNvPr id="3" name="Text 1"/>
          <p:cNvSpPr txBox="1"/>
          <p:nvPr/>
        </p:nvSpPr>
        <p:spPr>
          <a:xfrm>
            <a:off x="502920" y="320040"/>
            <a:ext cx="9144000" cy="685800"/>
          </a:xfrm>
          <a:prstGeom prst="rect">
            <a:avLst/>
          </a:prstGeom>
          <a:noFill/>
          <a:ln/>
        </p:spPr>
        <p:txBody>
          <a:bodyPr wrap="square" lIns="0" tIns="0" rIns="0" bIns="0" rtlCol="0" anchor="ctr"/>
          <a:lstStyle/>
          <a:p>
            <a:pPr marL="0" indent="0">
              <a:buNone/>
            </a:pPr>
            <a:r>
              <a:rPr lang="en-US" sz="3000" b="1" dirty="0">
                <a:solidFill>
                  <a:srgbClr val="1F2A5A"/>
                </a:solidFill>
                <a:latin typeface="Calibri" pitchFamily="34" charset="0"/>
                <a:ea typeface="Calibri" pitchFamily="34" charset="-122"/>
                <a:cs typeface="Calibri" pitchFamily="34" charset="-120"/>
              </a:rPr>
              <a:t>Helpdesk – System Improvement Backlog</a:t>
            </a:r>
            <a:endParaRPr lang="en-US" sz="3000" dirty="0"/>
          </a:p>
        </p:txBody>
      </p:sp>
      <p:sp>
        <p:nvSpPr>
          <p:cNvPr id="4" name="Shape 2"/>
          <p:cNvSpPr/>
          <p:nvPr/>
        </p:nvSpPr>
        <p:spPr>
          <a:xfrm>
            <a:off x="502920" y="1051560"/>
            <a:ext cx="2432785" cy="365760"/>
          </a:xfrm>
          <a:prstGeom prst="roundRect">
            <a:avLst>
              <a:gd name="adj" fmla="val 50000"/>
            </a:avLst>
          </a:prstGeom>
          <a:solidFill>
            <a:srgbClr val="1E2761"/>
          </a:solidFill>
          <a:ln/>
        </p:spPr>
        <p:txBody>
          <a:bodyPr/>
          <a:lstStyle/>
          <a:p>
            <a:endParaRPr lang="en-US"/>
          </a:p>
        </p:txBody>
      </p:sp>
      <p:sp>
        <p:nvSpPr>
          <p:cNvPr id="5" name="Text 3"/>
          <p:cNvSpPr txBox="1"/>
          <p:nvPr/>
        </p:nvSpPr>
        <p:spPr>
          <a:xfrm>
            <a:off x="502920" y="1051560"/>
            <a:ext cx="2432785" cy="36576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Calibri" pitchFamily="34" charset="0"/>
                <a:ea typeface="Calibri" pitchFamily="34" charset="-122"/>
                <a:cs typeface="Calibri" pitchFamily="34" charset="-120"/>
              </a:rPr>
              <a:t>FEEDBACK</a:t>
            </a:r>
            <a:endParaRPr lang="en-US" sz="1100" dirty="0"/>
          </a:p>
        </p:txBody>
      </p:sp>
      <p:pic>
        <p:nvPicPr>
          <p:cNvPr id="6" name="Image 0" descr="preencoded.png"/>
          <p:cNvPicPr>
            <a:picLocks noChangeAspect="1"/>
          </p:cNvPicPr>
          <p:nvPr/>
        </p:nvPicPr>
        <p:blipFill>
          <a:blip r:embed="rId4"/>
          <a:stretch>
            <a:fillRect/>
          </a:stretch>
        </p:blipFill>
        <p:spPr>
          <a:xfrm>
            <a:off x="10378440" y="274320"/>
            <a:ext cx="1463040" cy="530352"/>
          </a:xfrm>
          <a:prstGeom prst="rect">
            <a:avLst/>
          </a:prstGeom>
        </p:spPr>
      </p:pic>
      <p:pic>
        <p:nvPicPr>
          <p:cNvPr id="7" name="Image 1" descr="preencoded.png"/>
          <p:cNvPicPr>
            <a:picLocks noChangeAspect="1"/>
          </p:cNvPicPr>
          <p:nvPr/>
        </p:nvPicPr>
        <p:blipFill>
          <a:blip r:embed="rId5"/>
          <a:stretch>
            <a:fillRect/>
          </a:stretch>
        </p:blipFill>
        <p:spPr>
          <a:xfrm>
            <a:off x="10744200" y="6263640"/>
            <a:ext cx="1143000" cy="384048"/>
          </a:xfrm>
          <a:prstGeom prst="rect">
            <a:avLst/>
          </a:prstGeom>
        </p:spPr>
      </p:pic>
      <p:sp>
        <p:nvSpPr>
          <p:cNvPr id="8" name="Text 4"/>
          <p:cNvSpPr txBox="1"/>
          <p:nvPr/>
        </p:nvSpPr>
        <p:spPr>
          <a:xfrm>
            <a:off x="502920" y="6400800"/>
            <a:ext cx="6400800" cy="274320"/>
          </a:xfrm>
          <a:prstGeom prst="rect">
            <a:avLst/>
          </a:prstGeom>
          <a:noFill/>
          <a:ln/>
        </p:spPr>
        <p:txBody>
          <a:bodyPr wrap="square" lIns="0" tIns="0" rIns="0" bIns="0" rtlCol="0" anchor="ctr"/>
          <a:lstStyle/>
          <a:p>
            <a:pPr marL="0" indent="0">
              <a:buNone/>
            </a:pPr>
            <a:r>
              <a:rPr lang="en-US" sz="900" dirty="0">
                <a:solidFill>
                  <a:srgbClr val="5F6B7A"/>
                </a:solidFill>
                <a:latin typeface="Calibri" pitchFamily="34" charset="0"/>
                <a:ea typeface="Calibri" pitchFamily="34" charset="-122"/>
                <a:cs typeface="Calibri" pitchFamily="34" charset="-120"/>
              </a:rPr>
              <a:t>eMYAA Trading Platform  |  IT Status Update to CEO  |  01 Oct 2026</a:t>
            </a:r>
            <a:endParaRPr lang="en-US" sz="900" dirty="0"/>
          </a:p>
        </p:txBody>
      </p:sp>
      <p:sp>
        <p:nvSpPr>
          <p:cNvPr id="9" name="Text 5"/>
          <p:cNvSpPr txBox="1"/>
          <p:nvPr/>
        </p:nvSpPr>
        <p:spPr>
          <a:xfrm>
            <a:off x="10241280" y="6400800"/>
            <a:ext cx="365760" cy="274320"/>
          </a:xfrm>
          <a:prstGeom prst="rect">
            <a:avLst/>
          </a:prstGeom>
          <a:noFill/>
          <a:ln/>
        </p:spPr>
        <p:txBody>
          <a:bodyPr wrap="square" lIns="0" tIns="0" rIns="0" bIns="0" rtlCol="0" anchor="ctr"/>
          <a:lstStyle/>
          <a:p>
            <a:pPr marL="0" indent="0" algn="r">
              <a:buNone/>
            </a:pPr>
            <a:r>
              <a:rPr lang="en-US" sz="900" dirty="0">
                <a:solidFill>
                  <a:srgbClr val="5F6B7A"/>
                </a:solidFill>
                <a:latin typeface="Calibri" pitchFamily="34" charset="0"/>
                <a:ea typeface="Calibri" pitchFamily="34" charset="-122"/>
                <a:cs typeface="Calibri" pitchFamily="34" charset="-120"/>
              </a:rPr>
              <a:t>8</a:t>
            </a:r>
            <a:endParaRPr lang="en-US" sz="900" dirty="0"/>
          </a:p>
        </p:txBody>
      </p:sp>
      <p:sp>
        <p:nvSpPr>
          <p:cNvPr id="10" name="Shape 6"/>
          <p:cNvSpPr/>
          <p:nvPr/>
        </p:nvSpPr>
        <p:spPr>
          <a:xfrm>
            <a:off x="502920" y="1645920"/>
            <a:ext cx="2103120" cy="960120"/>
          </a:xfrm>
          <a:prstGeom prst="roundRect">
            <a:avLst>
              <a:gd name="adj" fmla="val 9524"/>
            </a:avLst>
          </a:prstGeom>
          <a:solidFill>
            <a:srgbClr val="F3F6FB"/>
          </a:solidFill>
          <a:ln/>
        </p:spPr>
        <p:txBody>
          <a:bodyPr/>
          <a:lstStyle/>
          <a:p>
            <a:endParaRPr lang="en-US"/>
          </a:p>
        </p:txBody>
      </p:sp>
      <p:sp>
        <p:nvSpPr>
          <p:cNvPr id="11" name="Text 7"/>
          <p:cNvSpPr txBox="1"/>
          <p:nvPr/>
        </p:nvSpPr>
        <p:spPr>
          <a:xfrm>
            <a:off x="685800" y="1737360"/>
            <a:ext cx="1737360" cy="502920"/>
          </a:xfrm>
          <a:prstGeom prst="rect">
            <a:avLst/>
          </a:prstGeom>
          <a:noFill/>
          <a:ln/>
        </p:spPr>
        <p:txBody>
          <a:bodyPr wrap="square" lIns="0" tIns="0" rIns="0" bIns="0" rtlCol="0" anchor="t"/>
          <a:lstStyle/>
          <a:p>
            <a:pPr marL="0" indent="0">
              <a:buNone/>
            </a:pPr>
            <a:r>
              <a:rPr lang="en-US" sz="3000" b="1" dirty="0">
                <a:solidFill>
                  <a:srgbClr val="1F2A5A"/>
                </a:solidFill>
                <a:latin typeface="Calibri" pitchFamily="34" charset="0"/>
                <a:ea typeface="Calibri" pitchFamily="34" charset="-122"/>
                <a:cs typeface="Calibri" pitchFamily="34" charset="-120"/>
              </a:rPr>
              <a:t>7</a:t>
            </a:r>
            <a:endParaRPr lang="en-US" sz="3000" dirty="0"/>
          </a:p>
        </p:txBody>
      </p:sp>
      <p:sp>
        <p:nvSpPr>
          <p:cNvPr id="12" name="Text 8"/>
          <p:cNvSpPr txBox="1"/>
          <p:nvPr/>
        </p:nvSpPr>
        <p:spPr>
          <a:xfrm>
            <a:off x="685800" y="2240280"/>
            <a:ext cx="1737360" cy="274320"/>
          </a:xfrm>
          <a:prstGeom prst="rect">
            <a:avLst/>
          </a:prstGeom>
          <a:noFill/>
          <a:ln/>
        </p:spPr>
        <p:txBody>
          <a:bodyPr wrap="square" lIns="0" tIns="0" rIns="0" bIns="0" rtlCol="0" anchor="t"/>
          <a:lstStyle/>
          <a:p>
            <a:pPr marL="0" indent="0">
              <a:buNone/>
            </a:pPr>
            <a:r>
              <a:rPr lang="en-US" sz="1150" dirty="0">
                <a:solidFill>
                  <a:srgbClr val="5F6B7A"/>
                </a:solidFill>
                <a:latin typeface="Calibri" pitchFamily="34" charset="0"/>
                <a:ea typeface="Calibri" pitchFamily="34" charset="-122"/>
                <a:cs typeface="Calibri" pitchFamily="34" charset="-120"/>
              </a:rPr>
              <a:t>Items logged</a:t>
            </a:r>
            <a:endParaRPr lang="en-US" sz="1150" dirty="0"/>
          </a:p>
        </p:txBody>
      </p:sp>
      <p:sp>
        <p:nvSpPr>
          <p:cNvPr id="13" name="Shape 9"/>
          <p:cNvSpPr/>
          <p:nvPr/>
        </p:nvSpPr>
        <p:spPr>
          <a:xfrm>
            <a:off x="502920" y="2743200"/>
            <a:ext cx="2103120" cy="960120"/>
          </a:xfrm>
          <a:prstGeom prst="roundRect">
            <a:avLst>
              <a:gd name="adj" fmla="val 9524"/>
            </a:avLst>
          </a:prstGeom>
          <a:solidFill>
            <a:srgbClr val="F3F6FB"/>
          </a:solidFill>
          <a:ln/>
        </p:spPr>
        <p:txBody>
          <a:bodyPr/>
          <a:lstStyle/>
          <a:p>
            <a:endParaRPr lang="en-US"/>
          </a:p>
        </p:txBody>
      </p:sp>
      <p:sp>
        <p:nvSpPr>
          <p:cNvPr id="14" name="Text 10"/>
          <p:cNvSpPr txBox="1"/>
          <p:nvPr/>
        </p:nvSpPr>
        <p:spPr>
          <a:xfrm>
            <a:off x="685800" y="2834640"/>
            <a:ext cx="1737360" cy="502920"/>
          </a:xfrm>
          <a:prstGeom prst="rect">
            <a:avLst/>
          </a:prstGeom>
          <a:noFill/>
          <a:ln/>
        </p:spPr>
        <p:txBody>
          <a:bodyPr wrap="square" lIns="0" tIns="0" rIns="0" bIns="0" rtlCol="0" anchor="t"/>
          <a:lstStyle/>
          <a:p>
            <a:pPr marL="0" indent="0">
              <a:buNone/>
            </a:pPr>
            <a:r>
              <a:rPr lang="en-US" sz="3000" b="1" dirty="0">
                <a:solidFill>
                  <a:srgbClr val="1E8A4C"/>
                </a:solidFill>
                <a:latin typeface="Calibri" pitchFamily="34" charset="0"/>
                <a:ea typeface="Calibri" pitchFamily="34" charset="-122"/>
                <a:cs typeface="Calibri" pitchFamily="34" charset="-120"/>
              </a:rPr>
              <a:t>3</a:t>
            </a:r>
            <a:endParaRPr lang="en-US" sz="3000" dirty="0"/>
          </a:p>
        </p:txBody>
      </p:sp>
      <p:sp>
        <p:nvSpPr>
          <p:cNvPr id="15" name="Text 11"/>
          <p:cNvSpPr txBox="1"/>
          <p:nvPr/>
        </p:nvSpPr>
        <p:spPr>
          <a:xfrm>
            <a:off x="685800" y="3337560"/>
            <a:ext cx="1737360" cy="274320"/>
          </a:xfrm>
          <a:prstGeom prst="rect">
            <a:avLst/>
          </a:prstGeom>
          <a:noFill/>
          <a:ln/>
        </p:spPr>
        <p:txBody>
          <a:bodyPr wrap="square" lIns="0" tIns="0" rIns="0" bIns="0" rtlCol="0" anchor="t"/>
          <a:lstStyle/>
          <a:p>
            <a:pPr marL="0" indent="0">
              <a:buNone/>
            </a:pPr>
            <a:r>
              <a:rPr lang="en-US" sz="1150" dirty="0">
                <a:solidFill>
                  <a:srgbClr val="5F6B7A"/>
                </a:solidFill>
                <a:latin typeface="Calibri" pitchFamily="34" charset="0"/>
                <a:ea typeface="Calibri" pitchFamily="34" charset="-122"/>
                <a:cs typeface="Calibri" pitchFamily="34" charset="-120"/>
              </a:rPr>
              <a:t>Completed</a:t>
            </a:r>
            <a:endParaRPr lang="en-US" sz="1150" dirty="0"/>
          </a:p>
        </p:txBody>
      </p:sp>
      <p:sp>
        <p:nvSpPr>
          <p:cNvPr id="16" name="Shape 12"/>
          <p:cNvSpPr/>
          <p:nvPr/>
        </p:nvSpPr>
        <p:spPr>
          <a:xfrm>
            <a:off x="502920" y="3840480"/>
            <a:ext cx="2103120" cy="960120"/>
          </a:xfrm>
          <a:prstGeom prst="roundRect">
            <a:avLst>
              <a:gd name="adj" fmla="val 9524"/>
            </a:avLst>
          </a:prstGeom>
          <a:solidFill>
            <a:srgbClr val="F3F6FB"/>
          </a:solidFill>
          <a:ln/>
        </p:spPr>
        <p:txBody>
          <a:bodyPr/>
          <a:lstStyle/>
          <a:p>
            <a:endParaRPr lang="en-US"/>
          </a:p>
        </p:txBody>
      </p:sp>
      <p:sp>
        <p:nvSpPr>
          <p:cNvPr id="17" name="Text 13"/>
          <p:cNvSpPr txBox="1"/>
          <p:nvPr/>
        </p:nvSpPr>
        <p:spPr>
          <a:xfrm>
            <a:off x="685800" y="3931920"/>
            <a:ext cx="1737360" cy="502920"/>
          </a:xfrm>
          <a:prstGeom prst="rect">
            <a:avLst/>
          </a:prstGeom>
          <a:noFill/>
          <a:ln/>
        </p:spPr>
        <p:txBody>
          <a:bodyPr wrap="square" lIns="0" tIns="0" rIns="0" bIns="0" rtlCol="0" anchor="t"/>
          <a:lstStyle/>
          <a:p>
            <a:pPr marL="0" indent="0">
              <a:buNone/>
            </a:pPr>
            <a:r>
              <a:rPr lang="en-US" sz="3000" b="1" dirty="0">
                <a:solidFill>
                  <a:srgbClr val="C9820F"/>
                </a:solidFill>
                <a:latin typeface="Calibri" pitchFamily="34" charset="0"/>
                <a:ea typeface="Calibri" pitchFamily="34" charset="-122"/>
                <a:cs typeface="Calibri" pitchFamily="34" charset="-120"/>
              </a:rPr>
              <a:t>1</a:t>
            </a:r>
            <a:endParaRPr lang="en-US" sz="3000" dirty="0"/>
          </a:p>
        </p:txBody>
      </p:sp>
      <p:sp>
        <p:nvSpPr>
          <p:cNvPr id="18" name="Text 14"/>
          <p:cNvSpPr txBox="1"/>
          <p:nvPr/>
        </p:nvSpPr>
        <p:spPr>
          <a:xfrm>
            <a:off x="685800" y="4434840"/>
            <a:ext cx="1737360" cy="274320"/>
          </a:xfrm>
          <a:prstGeom prst="rect">
            <a:avLst/>
          </a:prstGeom>
          <a:noFill/>
          <a:ln/>
        </p:spPr>
        <p:txBody>
          <a:bodyPr wrap="square" lIns="0" tIns="0" rIns="0" bIns="0" rtlCol="0" anchor="t"/>
          <a:lstStyle/>
          <a:p>
            <a:pPr marL="0" indent="0">
              <a:buNone/>
            </a:pPr>
            <a:r>
              <a:rPr lang="en-US" sz="1150" dirty="0">
                <a:solidFill>
                  <a:srgbClr val="5F6B7A"/>
                </a:solidFill>
                <a:latin typeface="Calibri" pitchFamily="34" charset="0"/>
                <a:ea typeface="Calibri" pitchFamily="34" charset="-122"/>
                <a:cs typeface="Calibri" pitchFamily="34" charset="-120"/>
              </a:rPr>
              <a:t>In progress</a:t>
            </a:r>
            <a:endParaRPr lang="en-US" sz="1150" dirty="0"/>
          </a:p>
        </p:txBody>
      </p:sp>
      <p:sp>
        <p:nvSpPr>
          <p:cNvPr id="19" name="Shape 15"/>
          <p:cNvSpPr/>
          <p:nvPr/>
        </p:nvSpPr>
        <p:spPr>
          <a:xfrm>
            <a:off x="502920" y="4937760"/>
            <a:ext cx="2103120" cy="960120"/>
          </a:xfrm>
          <a:prstGeom prst="roundRect">
            <a:avLst>
              <a:gd name="adj" fmla="val 9524"/>
            </a:avLst>
          </a:prstGeom>
          <a:solidFill>
            <a:srgbClr val="F3F6FB"/>
          </a:solidFill>
          <a:ln/>
        </p:spPr>
        <p:txBody>
          <a:bodyPr/>
          <a:lstStyle/>
          <a:p>
            <a:endParaRPr lang="en-US"/>
          </a:p>
        </p:txBody>
      </p:sp>
      <p:sp>
        <p:nvSpPr>
          <p:cNvPr id="20" name="Text 16"/>
          <p:cNvSpPr txBox="1"/>
          <p:nvPr/>
        </p:nvSpPr>
        <p:spPr>
          <a:xfrm>
            <a:off x="685800" y="5029200"/>
            <a:ext cx="1737360" cy="502920"/>
          </a:xfrm>
          <a:prstGeom prst="rect">
            <a:avLst/>
          </a:prstGeom>
          <a:noFill/>
          <a:ln/>
        </p:spPr>
        <p:txBody>
          <a:bodyPr wrap="square" lIns="0" tIns="0" rIns="0" bIns="0" rtlCol="0" anchor="t"/>
          <a:lstStyle/>
          <a:p>
            <a:pPr marL="0" indent="0">
              <a:buNone/>
            </a:pPr>
            <a:r>
              <a:rPr lang="en-US" sz="3000" b="1" dirty="0">
                <a:solidFill>
                  <a:srgbClr val="204596"/>
                </a:solidFill>
                <a:latin typeface="Calibri" pitchFamily="34" charset="0"/>
                <a:ea typeface="Calibri" pitchFamily="34" charset="-122"/>
                <a:cs typeface="Calibri" pitchFamily="34" charset="-120"/>
              </a:rPr>
              <a:t>3</a:t>
            </a:r>
            <a:endParaRPr lang="en-US" sz="3000" dirty="0"/>
          </a:p>
        </p:txBody>
      </p:sp>
      <p:sp>
        <p:nvSpPr>
          <p:cNvPr id="21" name="Text 17"/>
          <p:cNvSpPr txBox="1"/>
          <p:nvPr/>
        </p:nvSpPr>
        <p:spPr>
          <a:xfrm>
            <a:off x="685800" y="5532120"/>
            <a:ext cx="1737360" cy="274320"/>
          </a:xfrm>
          <a:prstGeom prst="rect">
            <a:avLst/>
          </a:prstGeom>
          <a:noFill/>
          <a:ln/>
        </p:spPr>
        <p:txBody>
          <a:bodyPr wrap="square" lIns="0" tIns="0" rIns="0" bIns="0" rtlCol="0" anchor="t"/>
          <a:lstStyle/>
          <a:p>
            <a:pPr marL="0" indent="0">
              <a:buNone/>
            </a:pPr>
            <a:r>
              <a:rPr lang="en-US" sz="1150" dirty="0">
                <a:solidFill>
                  <a:srgbClr val="5F6B7A"/>
                </a:solidFill>
                <a:latin typeface="Calibri" pitchFamily="34" charset="0"/>
                <a:ea typeface="Calibri" pitchFamily="34" charset="-122"/>
                <a:cs typeface="Calibri" pitchFamily="34" charset="-120"/>
              </a:rPr>
              <a:t>New</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834640" y="1645920"/>
          <a:ext cx="8869680" cy="3657600"/>
        </p:xfrm>
        <a:graphic>
          <a:graphicData uri="http://schemas.openxmlformats.org/drawingml/2006/table">
            <a:tbl>
              <a:tblPr/>
              <a:tblGrid>
                <a:gridCol w="8229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Raised by</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Improvement</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Priority</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HD-001</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Suhail</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Standalone desktop app for Client Experience</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1E8A4C"/>
                          </a:solidFill>
                          <a:latin typeface="Calibri" pitchFamily="34" charset="0"/>
                          <a:ea typeface="Calibri" pitchFamily="34" charset="-122"/>
                          <a:cs typeface="Calibri" pitchFamily="34" charset="-120"/>
                        </a:rPr>
                        <a:t>DONE</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HD-002</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Malik</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Auto-acknowledgement email with ticket ID</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1E8A4C"/>
                          </a:solidFill>
                          <a:latin typeface="Calibri" pitchFamily="34" charset="0"/>
                          <a:ea typeface="Calibri" pitchFamily="34" charset="-122"/>
                          <a:cs typeface="Calibri" pitchFamily="34" charset="-120"/>
                        </a:rPr>
                        <a:t>DONE</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HD-003</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Malik</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Notify Client Experience on new tickets</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1E8A4C"/>
                          </a:solidFill>
                          <a:latin typeface="Calibri" pitchFamily="34" charset="0"/>
                          <a:ea typeface="Calibri" pitchFamily="34" charset="-122"/>
                          <a:cs typeface="Calibri" pitchFamily="34" charset="-120"/>
                        </a:rPr>
                        <a:t>DONE</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3F4EA"/>
                    </a:solidFill>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HD-007</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Abdulla</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Pause SLA timers on weekends</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C9820F"/>
                          </a:solidFill>
                          <a:latin typeface="Calibri" pitchFamily="34" charset="0"/>
                          <a:ea typeface="Calibri" pitchFamily="34" charset="-122"/>
                          <a:cs typeface="Calibri" pitchFamily="34" charset="-120"/>
                        </a:rPr>
                        <a:t>IN PROGRESS</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DF1DE"/>
                    </a:solidFill>
                  </a:tcPr>
                </a:tc>
                <a:extLst>
                  <a:ext uri="{0D108BD9-81ED-4DB2-BD59-A6C34878D82A}">
                    <a16:rowId xmlns:a16="http://schemas.microsoft.com/office/drawing/2014/main" val="10004"/>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HD-004</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Eman</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Knowledge Base linked to eMYAA support page</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204596"/>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6EEFB"/>
                    </a:solidFill>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HD-005</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Eman</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Create ticket when chatbot user picks "Contact a Human"</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204596"/>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6EEFB"/>
                    </a:solidFill>
                  </a:tcPr>
                </a:tc>
                <a:extLst>
                  <a:ext uri="{0D108BD9-81ED-4DB2-BD59-A6C34878D82A}">
                    <a16:rowId xmlns:a16="http://schemas.microsoft.com/office/drawing/2014/main" val="10006"/>
                  </a:ext>
                </a:extLst>
              </a:tr>
              <a:tr h="457200">
                <a:tc>
                  <a:txBody>
                    <a:bodyPr/>
                    <a:lstStyle/>
                    <a:p>
                      <a:pPr marL="0" indent="0">
                        <a:buNone/>
                      </a:pPr>
                      <a:r>
                        <a:rPr lang="en-US" sz="1150" b="1" dirty="0">
                          <a:solidFill>
                            <a:srgbClr val="1F2A5A"/>
                          </a:solidFill>
                          <a:latin typeface="Calibri" pitchFamily="34" charset="0"/>
                          <a:ea typeface="Calibri" pitchFamily="34" charset="-122"/>
                          <a:cs typeface="Calibri" pitchFamily="34" charset="-120"/>
                        </a:rPr>
                        <a:t>HD-006</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Eman</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buNone/>
                      </a:pPr>
                      <a:r>
                        <a:rPr lang="en-US" sz="1150" dirty="0">
                          <a:solidFill>
                            <a:srgbClr val="3A4452"/>
                          </a:solidFill>
                          <a:latin typeface="Calibri" pitchFamily="34" charset="0"/>
                          <a:ea typeface="Calibri" pitchFamily="34" charset="-122"/>
                          <a:cs typeface="Calibri" pitchFamily="34" charset="-120"/>
                        </a:rPr>
                        <a:t>CRM integration: auto-create Helpdesk accounts for new users</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150" dirty="0">
                          <a:solidFill>
                            <a:srgbClr val="3A4452"/>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tcPr>
                </a:tc>
                <a:tc>
                  <a:txBody>
                    <a:bodyPr/>
                    <a:lstStyle/>
                    <a:p>
                      <a:pPr marL="0" indent="0" algn="ctr">
                        <a:buNone/>
                      </a:pPr>
                      <a:r>
                        <a:rPr lang="en-US" sz="1000" b="1" dirty="0">
                          <a:solidFill>
                            <a:srgbClr val="204596"/>
                          </a:solidFill>
                          <a:latin typeface="Calibri" pitchFamily="34" charset="0"/>
                          <a:ea typeface="Calibri" pitchFamily="34" charset="-122"/>
                          <a:cs typeface="Calibri" pitchFamily="34" charset="-120"/>
                        </a:rPr>
                        <a:t>NEW</a:t>
                      </a:r>
                      <a:endParaRPr lang="en-US" sz="1000" dirty="0">
                        <a:latin typeface="Calibri" charset="0"/>
                        <a:ea typeface="Calibri" charset="0"/>
                        <a:cs typeface="Calibri" charset="0"/>
                      </a:endParaRPr>
                    </a:p>
                  </a:txBody>
                  <a:tcPr marL="76200" marR="76200" marT="38100" marB="3810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E6EEFB"/>
                    </a:solidFill>
                  </a:tcPr>
                </a:tc>
                <a:extLst>
                  <a:ext uri="{0D108BD9-81ED-4DB2-BD59-A6C34878D82A}">
                    <a16:rowId xmlns:a16="http://schemas.microsoft.com/office/drawing/2014/main" val="10007"/>
                  </a:ext>
                </a:extLst>
              </a:tr>
            </a:tbl>
          </a:graphicData>
        </a:graphic>
      </p:graphicFrame>
      <p:sp>
        <p:nvSpPr>
          <p:cNvPr id="23" name="Text 18"/>
          <p:cNvSpPr txBox="1"/>
          <p:nvPr/>
        </p:nvSpPr>
        <p:spPr>
          <a:xfrm>
            <a:off x="2834640" y="5486400"/>
            <a:ext cx="8869680" cy="502920"/>
          </a:xfrm>
          <a:prstGeom prst="rect">
            <a:avLst/>
          </a:prstGeom>
          <a:noFill/>
          <a:ln/>
        </p:spPr>
        <p:txBody>
          <a:bodyPr wrap="square" lIns="0" tIns="0" rIns="0" bIns="0" rtlCol="0" anchor="t"/>
          <a:lstStyle/>
          <a:p>
            <a:pPr marL="0" indent="0">
              <a:buNone/>
            </a:pPr>
            <a:r>
              <a:rPr lang="en-US" sz="1100" i="1" dirty="0">
                <a:solidFill>
                  <a:srgbClr val="5F6B7A"/>
                </a:solidFill>
                <a:latin typeface="Calibri" pitchFamily="34" charset="0"/>
                <a:ea typeface="Calibri" pitchFamily="34" charset="-122"/>
                <a:cs typeface="Calibri" pitchFamily="34" charset="-120"/>
              </a:rPr>
              <a:t>HD-007 is being built after an SLA breach on a client inquiry raised on a Thursday.</a:t>
            </a:r>
            <a:endParaRPr lang="en-US" sz="1100" dirty="0"/>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713</Words>
  <Application>Microsoft Macintosh PowerPoint</Application>
  <PresentationFormat>Widescreen</PresentationFormat>
  <Paragraphs>160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Hatem Isa Hatem Abbas Hatem</cp:lastModifiedBy>
  <cp:revision>3</cp:revision>
  <dcterms:created xsi:type="dcterms:W3CDTF">2026-09-30T06:38:22Z</dcterms:created>
  <dcterms:modified xsi:type="dcterms:W3CDTF">2026-09-30T07:39:54Z</dcterms:modified>
</cp:coreProperties>
</file>