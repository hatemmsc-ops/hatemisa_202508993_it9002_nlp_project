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rimo Bold" panose="020B0704020202020204" pitchFamily="34" charset="0"/>
      <p:regular r:id="rId22"/>
      <p:bold r:id="rId23"/>
    </p:embeddedFont>
    <p:embeddedFont>
      <p:font typeface="Exo 2" pitchFamily="2" charset="77"/>
      <p:regular r:id="rId24"/>
    </p:embeddedFont>
    <p:embeddedFont>
      <p:font typeface="Exo 2 Bold" pitchFamily="2" charset="77"/>
      <p:regular r:id="rId25"/>
      <p:bold r:id="rId26"/>
    </p:embeddedFont>
    <p:embeddedFont>
      <p:font typeface="Exo 2 Bold Italics" pitchFamily="2" charset="77"/>
      <p:regular r:id="rId27"/>
      <p:bold r:id="rId28"/>
    </p:embeddedFont>
    <p:embeddedFont>
      <p:font typeface="Exo 2 Italics" pitchFamily="2" charset="77"/>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7" autoAdjust="0"/>
  </p:normalViewPr>
  <p:slideViewPr>
    <p:cSldViewPr>
      <p:cViewPr varScale="1">
        <p:scale>
          <a:sx n="76" d="100"/>
          <a:sy n="76" d="100"/>
        </p:scale>
        <p:origin x="7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4.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jpeg"/><Relationship Id="rId8" Type="http://schemas.openxmlformats.org/officeDocument/2006/relationships/image" Target="../media/image14.png"/><Relationship Id="rId9"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svg"/><Relationship Id="rId7" Type="http://schemas.openxmlformats.org/officeDocument/2006/relationships/image" Target="../media/image4.jpe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6.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455364"/>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eMYAA Trading Platform</a:t>
            </a:r>
          </a:p>
        </p:txBody>
      </p:sp>
      <p:sp>
        <p:nvSpPr>
          <p:cNvPr id="5" name="TextBox 5"/>
          <p:cNvSpPr txBox="1"/>
          <p:nvPr/>
        </p:nvSpPr>
        <p:spPr>
          <a:xfrm>
            <a:off x="7005489" y="6305790"/>
            <a:ext cx="4277023" cy="1206288"/>
          </a:xfrm>
          <a:prstGeom prst="rect">
            <a:avLst/>
          </a:prstGeom>
        </p:spPr>
        <p:txBody>
          <a:bodyPr lIns="0" tIns="0" rIns="0" bIns="0" rtlCol="0" anchor="t">
            <a:spAutoFit/>
          </a:bodyPr>
          <a:lstStyle/>
          <a:p>
            <a:pPr algn="ctr">
              <a:lnSpc>
                <a:spcPts val="4828"/>
              </a:lnSpc>
            </a:pPr>
            <a:r>
              <a:rPr lang="en-US" sz="3376">
                <a:solidFill>
                  <a:srgbClr val="94A3B8"/>
                </a:solidFill>
                <a:latin typeface="Exo 2"/>
                <a:ea typeface="Exo 2"/>
                <a:cs typeface="Exo 2"/>
                <a:sym typeface="Exo 2"/>
              </a:rPr>
              <a:t>Performance Analysis</a:t>
            </a:r>
          </a:p>
          <a:p>
            <a:pPr algn="ctr">
              <a:lnSpc>
                <a:spcPts val="4828"/>
              </a:lnSpc>
            </a:pPr>
            <a:r>
              <a:rPr lang="en-US" sz="3376" i="1">
                <a:solidFill>
                  <a:srgbClr val="94A3B8"/>
                </a:solidFill>
                <a:latin typeface="Exo 2 Italics"/>
                <a:ea typeface="Exo 2 Italics"/>
                <a:cs typeface="Exo 2 Italics"/>
                <a:sym typeface="Exo 2 Italics"/>
              </a:rPr>
              <a:t> 1st of October, 2026</a:t>
            </a:r>
          </a:p>
        </p:txBody>
      </p:sp>
      <p:grpSp>
        <p:nvGrpSpPr>
          <p:cNvPr id="6" name="Group 6"/>
          <p:cNvGrpSpPr/>
          <p:nvPr/>
        </p:nvGrpSpPr>
        <p:grpSpPr>
          <a:xfrm>
            <a:off x="14630340" y="1028700"/>
            <a:ext cx="2628960" cy="757148"/>
            <a:chOff x="0" y="0"/>
            <a:chExt cx="6614516" cy="1905000"/>
          </a:xfrm>
        </p:grpSpPr>
        <p:sp>
          <p:nvSpPr>
            <p:cNvPr id="7" name="Freeform 7"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8" name="Freeform 8"/>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0535" y="648843"/>
            <a:ext cx="115062" cy="732282"/>
            <a:chOff x="0" y="0"/>
            <a:chExt cx="153416" cy="976376"/>
          </a:xfrm>
        </p:grpSpPr>
        <p:sp>
          <p:nvSpPr>
            <p:cNvPr id="3" name="Freeform 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5" name="Group 5"/>
          <p:cNvGrpSpPr/>
          <p:nvPr/>
        </p:nvGrpSpPr>
        <p:grpSpPr>
          <a:xfrm>
            <a:off x="755850" y="564284"/>
            <a:ext cx="13164593" cy="928831"/>
            <a:chOff x="0" y="0"/>
            <a:chExt cx="17552791" cy="1238442"/>
          </a:xfrm>
        </p:grpSpPr>
        <p:sp>
          <p:nvSpPr>
            <p:cNvPr id="6" name="Freeform 6"/>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3">
                <a:alphaModFix amt="0"/>
              </a:blip>
              <a:stretch>
                <a:fillRect t="-220566" r="6230" b="-197355"/>
              </a:stretch>
            </a:blipFill>
          </p:spPr>
          <p:txBody>
            <a:bodyPr/>
            <a:lstStyle/>
            <a:p>
              <a:endParaRPr lang="en-US"/>
            </a:p>
          </p:txBody>
        </p:sp>
        <p:sp>
          <p:nvSpPr>
            <p:cNvPr id="7" name="TextBox 7"/>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Performance Update</a:t>
              </a:r>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486251" y="1800446"/>
            <a:ext cx="3996690" cy="1802130"/>
            <a:chOff x="0" y="0"/>
            <a:chExt cx="5328920" cy="2402840"/>
          </a:xfrm>
        </p:grpSpPr>
        <p:sp>
          <p:nvSpPr>
            <p:cNvPr id="11" name="Freeform 1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2" name="Freeform 1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13" name="Group 13"/>
          <p:cNvGrpSpPr/>
          <p:nvPr/>
        </p:nvGrpSpPr>
        <p:grpSpPr>
          <a:xfrm>
            <a:off x="632936" y="1800446"/>
            <a:ext cx="3703320" cy="903821"/>
            <a:chOff x="0" y="0"/>
            <a:chExt cx="4937760" cy="1205094"/>
          </a:xfrm>
        </p:grpSpPr>
        <p:sp>
          <p:nvSpPr>
            <p:cNvPr id="14" name="Freeform 1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5" name="TextBox 1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480</a:t>
              </a:r>
            </a:p>
          </p:txBody>
        </p:sp>
      </p:grpSp>
      <p:grpSp>
        <p:nvGrpSpPr>
          <p:cNvPr id="16" name="Group 16"/>
          <p:cNvGrpSpPr/>
          <p:nvPr/>
        </p:nvGrpSpPr>
        <p:grpSpPr>
          <a:xfrm>
            <a:off x="632936" y="2608727"/>
            <a:ext cx="3703320" cy="499263"/>
            <a:chOff x="0" y="0"/>
            <a:chExt cx="4937760" cy="665684"/>
          </a:xfrm>
        </p:grpSpPr>
        <p:sp>
          <p:nvSpPr>
            <p:cNvPr id="17" name="Freeform 1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8" name="TextBox 1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Downloads</a:t>
              </a:r>
            </a:p>
          </p:txBody>
        </p:sp>
      </p:grpSp>
      <p:grpSp>
        <p:nvGrpSpPr>
          <p:cNvPr id="19" name="Group 19"/>
          <p:cNvGrpSpPr/>
          <p:nvPr/>
        </p:nvGrpSpPr>
        <p:grpSpPr>
          <a:xfrm>
            <a:off x="4875371" y="1800446"/>
            <a:ext cx="3996690" cy="1802130"/>
            <a:chOff x="0" y="0"/>
            <a:chExt cx="5328920" cy="2402840"/>
          </a:xfrm>
        </p:grpSpPr>
        <p:sp>
          <p:nvSpPr>
            <p:cNvPr id="20" name="Freeform 2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1" name="Freeform 2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22" name="Group 22"/>
          <p:cNvGrpSpPr/>
          <p:nvPr/>
        </p:nvGrpSpPr>
        <p:grpSpPr>
          <a:xfrm>
            <a:off x="5022056" y="1800446"/>
            <a:ext cx="3703320" cy="903821"/>
            <a:chOff x="0" y="0"/>
            <a:chExt cx="4937760" cy="1205094"/>
          </a:xfrm>
        </p:grpSpPr>
        <p:sp>
          <p:nvSpPr>
            <p:cNvPr id="23" name="Freeform 23"/>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24" name="TextBox 24"/>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61</a:t>
              </a:r>
            </a:p>
          </p:txBody>
        </p:sp>
      </p:grpSp>
      <p:grpSp>
        <p:nvGrpSpPr>
          <p:cNvPr id="25" name="Group 25"/>
          <p:cNvGrpSpPr/>
          <p:nvPr/>
        </p:nvGrpSpPr>
        <p:grpSpPr>
          <a:xfrm>
            <a:off x="5022056" y="2608727"/>
            <a:ext cx="3703320" cy="499263"/>
            <a:chOff x="0" y="0"/>
            <a:chExt cx="4937760" cy="665684"/>
          </a:xfrm>
        </p:grpSpPr>
        <p:sp>
          <p:nvSpPr>
            <p:cNvPr id="26" name="Freeform 26"/>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27" name="TextBox 27"/>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Users Onboarded</a:t>
              </a:r>
            </a:p>
          </p:txBody>
        </p:sp>
      </p:grpSp>
      <p:grpSp>
        <p:nvGrpSpPr>
          <p:cNvPr id="28" name="Group 28"/>
          <p:cNvGrpSpPr/>
          <p:nvPr/>
        </p:nvGrpSpPr>
        <p:grpSpPr>
          <a:xfrm>
            <a:off x="9264491" y="1800446"/>
            <a:ext cx="3996690" cy="1802130"/>
            <a:chOff x="0" y="0"/>
            <a:chExt cx="5328920" cy="2402840"/>
          </a:xfrm>
        </p:grpSpPr>
        <p:sp>
          <p:nvSpPr>
            <p:cNvPr id="29" name="Freeform 29"/>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0" name="Freeform 30"/>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31" name="Group 31"/>
          <p:cNvGrpSpPr/>
          <p:nvPr/>
        </p:nvGrpSpPr>
        <p:grpSpPr>
          <a:xfrm>
            <a:off x="9411176" y="1800446"/>
            <a:ext cx="3703320" cy="903821"/>
            <a:chOff x="0" y="0"/>
            <a:chExt cx="4937760" cy="1205094"/>
          </a:xfrm>
        </p:grpSpPr>
        <p:sp>
          <p:nvSpPr>
            <p:cNvPr id="32" name="Freeform 32"/>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33" name="TextBox 33"/>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70</a:t>
              </a:r>
            </a:p>
          </p:txBody>
        </p:sp>
      </p:grpSp>
      <p:grpSp>
        <p:nvGrpSpPr>
          <p:cNvPr id="34" name="Group 34"/>
          <p:cNvGrpSpPr/>
          <p:nvPr/>
        </p:nvGrpSpPr>
        <p:grpSpPr>
          <a:xfrm>
            <a:off x="9411176" y="2608727"/>
            <a:ext cx="3703320" cy="499263"/>
            <a:chOff x="0" y="0"/>
            <a:chExt cx="4937760" cy="665684"/>
          </a:xfrm>
        </p:grpSpPr>
        <p:sp>
          <p:nvSpPr>
            <p:cNvPr id="35" name="Freeform 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36" name="TextBox 36"/>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id="37" name="Group 37"/>
          <p:cNvGrpSpPr/>
          <p:nvPr/>
        </p:nvGrpSpPr>
        <p:grpSpPr>
          <a:xfrm>
            <a:off x="13653611" y="1800446"/>
            <a:ext cx="3996690" cy="1802130"/>
            <a:chOff x="0" y="0"/>
            <a:chExt cx="5328920" cy="2402840"/>
          </a:xfrm>
        </p:grpSpPr>
        <p:sp>
          <p:nvSpPr>
            <p:cNvPr id="38" name="Freeform 38"/>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9" name="Freeform 39"/>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0" name="Group 40"/>
          <p:cNvGrpSpPr/>
          <p:nvPr/>
        </p:nvGrpSpPr>
        <p:grpSpPr>
          <a:xfrm>
            <a:off x="470535" y="3927929"/>
            <a:ext cx="3996690" cy="1802130"/>
            <a:chOff x="0" y="0"/>
            <a:chExt cx="5328920" cy="2402840"/>
          </a:xfrm>
        </p:grpSpPr>
        <p:sp>
          <p:nvSpPr>
            <p:cNvPr id="41" name="Freeform 4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2" name="Freeform 4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3" name="Group 43"/>
          <p:cNvGrpSpPr/>
          <p:nvPr/>
        </p:nvGrpSpPr>
        <p:grpSpPr>
          <a:xfrm>
            <a:off x="617220" y="3927929"/>
            <a:ext cx="3703320" cy="903821"/>
            <a:chOff x="0" y="0"/>
            <a:chExt cx="4937760" cy="1205094"/>
          </a:xfrm>
        </p:grpSpPr>
        <p:sp>
          <p:nvSpPr>
            <p:cNvPr id="44" name="Freeform 4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45" name="TextBox 4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$12,206.00</a:t>
              </a:r>
            </a:p>
          </p:txBody>
        </p:sp>
      </p:grpSp>
      <p:grpSp>
        <p:nvGrpSpPr>
          <p:cNvPr id="46" name="Group 46"/>
          <p:cNvGrpSpPr/>
          <p:nvPr/>
        </p:nvGrpSpPr>
        <p:grpSpPr>
          <a:xfrm>
            <a:off x="617220" y="4740221"/>
            <a:ext cx="3703320" cy="499263"/>
            <a:chOff x="0" y="0"/>
            <a:chExt cx="4937760" cy="665684"/>
          </a:xfrm>
        </p:grpSpPr>
        <p:sp>
          <p:nvSpPr>
            <p:cNvPr id="47" name="Freeform 4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48" name="TextBox 4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Deposits</a:t>
              </a:r>
            </a:p>
          </p:txBody>
        </p:sp>
      </p:grpSp>
      <p:grpSp>
        <p:nvGrpSpPr>
          <p:cNvPr id="49" name="Group 49"/>
          <p:cNvGrpSpPr/>
          <p:nvPr/>
        </p:nvGrpSpPr>
        <p:grpSpPr>
          <a:xfrm>
            <a:off x="4859655" y="3927929"/>
            <a:ext cx="3996690" cy="1802130"/>
            <a:chOff x="0" y="0"/>
            <a:chExt cx="5328920" cy="2402840"/>
          </a:xfrm>
        </p:grpSpPr>
        <p:sp>
          <p:nvSpPr>
            <p:cNvPr id="50" name="Freeform 5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Freeform 5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2" name="Group 52"/>
          <p:cNvGrpSpPr/>
          <p:nvPr/>
        </p:nvGrpSpPr>
        <p:grpSpPr>
          <a:xfrm>
            <a:off x="9248775" y="3927929"/>
            <a:ext cx="3996690" cy="1802130"/>
            <a:chOff x="0" y="0"/>
            <a:chExt cx="5328920" cy="2402840"/>
          </a:xfrm>
        </p:grpSpPr>
        <p:sp>
          <p:nvSpPr>
            <p:cNvPr id="53" name="Freeform 53"/>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4" name="Freeform 54"/>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5" name="Group 55"/>
          <p:cNvGrpSpPr/>
          <p:nvPr/>
        </p:nvGrpSpPr>
        <p:grpSpPr>
          <a:xfrm>
            <a:off x="13637895" y="3927929"/>
            <a:ext cx="3996690" cy="1802130"/>
            <a:chOff x="0" y="0"/>
            <a:chExt cx="5328920" cy="2402840"/>
          </a:xfrm>
        </p:grpSpPr>
        <p:sp>
          <p:nvSpPr>
            <p:cNvPr id="56" name="Freeform 56"/>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7" name="Freeform 57"/>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8" name="Group 58"/>
          <p:cNvGrpSpPr/>
          <p:nvPr/>
        </p:nvGrpSpPr>
        <p:grpSpPr>
          <a:xfrm>
            <a:off x="470535" y="7643641"/>
            <a:ext cx="16605885" cy="775760"/>
            <a:chOff x="0" y="0"/>
            <a:chExt cx="22141180" cy="1034346"/>
          </a:xfrm>
        </p:grpSpPr>
        <p:grpSp>
          <p:nvGrpSpPr>
            <p:cNvPr id="59" name="Group 59"/>
            <p:cNvGrpSpPr/>
            <p:nvPr/>
          </p:nvGrpSpPr>
          <p:grpSpPr>
            <a:xfrm>
              <a:off x="524764" y="0"/>
              <a:ext cx="21616416" cy="1034346"/>
              <a:chOff x="0" y="0"/>
              <a:chExt cx="21616416" cy="1034346"/>
            </a:xfrm>
          </p:grpSpPr>
          <p:sp>
            <p:nvSpPr>
              <p:cNvPr id="60" name="Freeform 60"/>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1" name="TextBox 61"/>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Bold"/>
                    <a:ea typeface="Exo 2 Bold"/>
                    <a:cs typeface="Exo 2 Bold"/>
                    <a:sym typeface="Exo 2 Bold"/>
                  </a:rPr>
                  <a:t>Onboarding kept pace with acquisition
</a:t>
                </a:r>
                <a:r>
                  <a:rPr lang="en-US" sz="2149" dirty="0">
                    <a:solidFill>
                      <a:srgbClr val="5A6A85"/>
                    </a:solidFill>
                    <a:latin typeface="Exo 2 Bold"/>
                    <a:ea typeface="Exo 2 Bold"/>
                    <a:cs typeface="Exo 2 Bold"/>
                    <a:sym typeface="Exo 2 Bold"/>
                  </a:rPr>
                  <a:t>Users Onboarded grew approximately 19.6% (51→61) since the last update.</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2" name="Group 62"/>
            <p:cNvGrpSpPr/>
            <p:nvPr/>
          </p:nvGrpSpPr>
          <p:grpSpPr>
            <a:xfrm>
              <a:off x="0" y="164453"/>
              <a:ext cx="370790" cy="324441"/>
              <a:chOff x="0" y="0"/>
              <a:chExt cx="812800" cy="711200"/>
            </a:xfrm>
          </p:grpSpPr>
          <p:sp>
            <p:nvSpPr>
              <p:cNvPr id="63" name="Freeform 6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4" name="TextBox 64"/>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65" name="Group 65"/>
          <p:cNvGrpSpPr/>
          <p:nvPr/>
        </p:nvGrpSpPr>
        <p:grpSpPr>
          <a:xfrm>
            <a:off x="470535" y="6626711"/>
            <a:ext cx="16605885" cy="775760"/>
            <a:chOff x="0" y="0"/>
            <a:chExt cx="22141180" cy="1034346"/>
          </a:xfrm>
        </p:grpSpPr>
        <p:grpSp>
          <p:nvGrpSpPr>
            <p:cNvPr id="66" name="Group 66"/>
            <p:cNvGrpSpPr/>
            <p:nvPr/>
          </p:nvGrpSpPr>
          <p:grpSpPr>
            <a:xfrm>
              <a:off x="524764" y="0"/>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Bold"/>
                    <a:ea typeface="Exo 2 Bold"/>
                    <a:cs typeface="Exo 2 Bold"/>
                    <a:sym typeface="Exo 2 Bold"/>
                  </a:rPr>
                  <a:t>Steady top-of-funnel growth
</a:t>
                </a:r>
                <a:r>
                  <a:rPr lang="en-US" sz="2149" dirty="0">
                    <a:solidFill>
                      <a:srgbClr val="5A6A85"/>
                    </a:solidFill>
                    <a:latin typeface="Exo 2 Bold"/>
                    <a:ea typeface="Exo 2 Bold"/>
                    <a:cs typeface="Exo 2 Bold"/>
                    <a:sym typeface="Exo 2 Bold"/>
                  </a:rPr>
                  <a:t>Downloads reached 480 (up 15.9% from 414), showing continued organic interest in the platform.</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9" name="Group 69"/>
            <p:cNvGrpSpPr/>
            <p:nvPr/>
          </p:nvGrpSpPr>
          <p:grpSpPr>
            <a:xfrm>
              <a:off x="0" y="164453"/>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72" name="Group 72"/>
          <p:cNvGrpSpPr/>
          <p:nvPr/>
        </p:nvGrpSpPr>
        <p:grpSpPr>
          <a:xfrm>
            <a:off x="797528" y="3108017"/>
            <a:ext cx="3374136" cy="438912"/>
            <a:chOff x="0" y="0"/>
            <a:chExt cx="4498848" cy="585216"/>
          </a:xfrm>
        </p:grpSpPr>
        <p:grpSp>
          <p:nvGrpSpPr>
            <p:cNvPr id="73" name="Group 73"/>
            <p:cNvGrpSpPr/>
            <p:nvPr/>
          </p:nvGrpSpPr>
          <p:grpSpPr>
            <a:xfrm>
              <a:off x="0" y="0"/>
              <a:ext cx="2578608" cy="585216"/>
              <a:chOff x="0" y="0"/>
              <a:chExt cx="2578608" cy="585216"/>
            </a:xfrm>
          </p:grpSpPr>
          <p:sp>
            <p:nvSpPr>
              <p:cNvPr id="74" name="Freeform 74"/>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75" name="TextBox 75"/>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414</a:t>
                </a:r>
              </a:p>
            </p:txBody>
          </p:sp>
        </p:grpSp>
        <p:grpSp>
          <p:nvGrpSpPr>
            <p:cNvPr id="76" name="Group 76"/>
            <p:cNvGrpSpPr/>
            <p:nvPr/>
          </p:nvGrpSpPr>
          <p:grpSpPr>
            <a:xfrm>
              <a:off x="2043138" y="0"/>
              <a:ext cx="2455710" cy="585216"/>
              <a:chOff x="0" y="0"/>
              <a:chExt cx="2455710" cy="585216"/>
            </a:xfrm>
          </p:grpSpPr>
          <p:sp>
            <p:nvSpPr>
              <p:cNvPr id="77" name="Freeform 77"/>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78" name="TextBox 78"/>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+15.9%</a:t>
                </a:r>
              </a:p>
            </p:txBody>
          </p:sp>
        </p:grpSp>
      </p:grpSp>
      <p:grpSp>
        <p:nvGrpSpPr>
          <p:cNvPr id="79" name="Group 79"/>
          <p:cNvGrpSpPr/>
          <p:nvPr/>
        </p:nvGrpSpPr>
        <p:grpSpPr>
          <a:xfrm>
            <a:off x="781812" y="5243522"/>
            <a:ext cx="3374136" cy="438912"/>
            <a:chOff x="0" y="0"/>
            <a:chExt cx="4498848" cy="585216"/>
          </a:xfrm>
        </p:grpSpPr>
        <p:grpSp>
          <p:nvGrpSpPr>
            <p:cNvPr id="80" name="Group 80"/>
            <p:cNvGrpSpPr/>
            <p:nvPr/>
          </p:nvGrpSpPr>
          <p:grpSpPr>
            <a:xfrm>
              <a:off x="0" y="0"/>
              <a:ext cx="2578608" cy="585216"/>
              <a:chOff x="0" y="0"/>
              <a:chExt cx="2578608" cy="585216"/>
            </a:xfrm>
          </p:grpSpPr>
          <p:sp>
            <p:nvSpPr>
              <p:cNvPr id="81" name="Freeform 8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2" name="TextBox 8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$10,195.88</a:t>
                </a:r>
              </a:p>
            </p:txBody>
          </p:sp>
        </p:grpSp>
        <p:grpSp>
          <p:nvGrpSpPr>
            <p:cNvPr id="83" name="Group 83"/>
            <p:cNvGrpSpPr/>
            <p:nvPr/>
          </p:nvGrpSpPr>
          <p:grpSpPr>
            <a:xfrm>
              <a:off x="2043138" y="0"/>
              <a:ext cx="2455710" cy="585216"/>
              <a:chOff x="0" y="0"/>
              <a:chExt cx="2455710" cy="585216"/>
            </a:xfrm>
          </p:grpSpPr>
          <p:sp>
            <p:nvSpPr>
              <p:cNvPr id="84" name="Freeform 8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85" name="TextBox 8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+19.7%</a:t>
                </a:r>
              </a:p>
            </p:txBody>
          </p:sp>
        </p:grpSp>
      </p:grpSp>
      <p:grpSp>
        <p:nvGrpSpPr>
          <p:cNvPr id="86" name="Group 86"/>
          <p:cNvGrpSpPr/>
          <p:nvPr/>
        </p:nvGrpSpPr>
        <p:grpSpPr>
          <a:xfrm>
            <a:off x="5186648" y="3108017"/>
            <a:ext cx="3374136" cy="438912"/>
            <a:chOff x="0" y="0"/>
            <a:chExt cx="4498848" cy="585216"/>
          </a:xfrm>
        </p:grpSpPr>
        <p:grpSp>
          <p:nvGrpSpPr>
            <p:cNvPr id="87" name="Group 87"/>
            <p:cNvGrpSpPr/>
            <p:nvPr/>
          </p:nvGrpSpPr>
          <p:grpSpPr>
            <a:xfrm>
              <a:off x="0" y="0"/>
              <a:ext cx="2578608" cy="585216"/>
              <a:chOff x="0" y="0"/>
              <a:chExt cx="2578608" cy="585216"/>
            </a:xfrm>
          </p:grpSpPr>
          <p:sp>
            <p:nvSpPr>
              <p:cNvPr id="88" name="Freeform 88"/>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9" name="TextBox 89"/>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51</a:t>
                </a:r>
              </a:p>
            </p:txBody>
          </p:sp>
        </p:grpSp>
        <p:grpSp>
          <p:nvGrpSpPr>
            <p:cNvPr id="90" name="Group 90"/>
            <p:cNvGrpSpPr/>
            <p:nvPr/>
          </p:nvGrpSpPr>
          <p:grpSpPr>
            <a:xfrm>
              <a:off x="2043138" y="0"/>
              <a:ext cx="2455710" cy="585216"/>
              <a:chOff x="0" y="0"/>
              <a:chExt cx="2455710" cy="585216"/>
            </a:xfrm>
          </p:grpSpPr>
          <p:sp>
            <p:nvSpPr>
              <p:cNvPr id="91" name="Freeform 91"/>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92" name="TextBox 92"/>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+19.6%</a:t>
                </a:r>
              </a:p>
            </p:txBody>
          </p:sp>
        </p:grpSp>
      </p:grpSp>
      <p:grpSp>
        <p:nvGrpSpPr>
          <p:cNvPr id="93" name="Group 93"/>
          <p:cNvGrpSpPr/>
          <p:nvPr/>
        </p:nvGrpSpPr>
        <p:grpSpPr>
          <a:xfrm>
            <a:off x="13800296" y="3927929"/>
            <a:ext cx="3703320" cy="903821"/>
            <a:chOff x="0" y="0"/>
            <a:chExt cx="4937760" cy="1205094"/>
          </a:xfrm>
        </p:grpSpPr>
        <p:sp>
          <p:nvSpPr>
            <p:cNvPr id="94" name="Freeform 9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95" name="TextBox 9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54</a:t>
              </a:r>
            </a:p>
          </p:txBody>
        </p:sp>
      </p:grpSp>
      <p:grpSp>
        <p:nvGrpSpPr>
          <p:cNvPr id="96" name="Group 96"/>
          <p:cNvGrpSpPr/>
          <p:nvPr/>
        </p:nvGrpSpPr>
        <p:grpSpPr>
          <a:xfrm>
            <a:off x="13800296" y="4740221"/>
            <a:ext cx="3703320" cy="499263"/>
            <a:chOff x="0" y="0"/>
            <a:chExt cx="4937760" cy="665684"/>
          </a:xfrm>
        </p:grpSpPr>
        <p:sp>
          <p:nvSpPr>
            <p:cNvPr id="97" name="Freeform 9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98" name="TextBox 9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Trades</a:t>
              </a:r>
            </a:p>
          </p:txBody>
        </p:sp>
      </p:grpSp>
      <p:grpSp>
        <p:nvGrpSpPr>
          <p:cNvPr id="99" name="Group 99"/>
          <p:cNvGrpSpPr/>
          <p:nvPr/>
        </p:nvGrpSpPr>
        <p:grpSpPr>
          <a:xfrm>
            <a:off x="13964888" y="5243522"/>
            <a:ext cx="3374136" cy="438912"/>
            <a:chOff x="0" y="0"/>
            <a:chExt cx="4498848" cy="585216"/>
          </a:xfrm>
        </p:grpSpPr>
        <p:grpSp>
          <p:nvGrpSpPr>
            <p:cNvPr id="100" name="Group 100"/>
            <p:cNvGrpSpPr/>
            <p:nvPr/>
          </p:nvGrpSpPr>
          <p:grpSpPr>
            <a:xfrm>
              <a:off x="0" y="0"/>
              <a:ext cx="2578608" cy="585216"/>
              <a:chOff x="0" y="0"/>
              <a:chExt cx="2578608" cy="585216"/>
            </a:xfrm>
          </p:grpSpPr>
          <p:sp>
            <p:nvSpPr>
              <p:cNvPr id="101" name="Freeform 10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02" name="TextBox 10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47</a:t>
                </a:r>
              </a:p>
            </p:txBody>
          </p:sp>
        </p:grpSp>
        <p:grpSp>
          <p:nvGrpSpPr>
            <p:cNvPr id="103" name="Group 103"/>
            <p:cNvGrpSpPr/>
            <p:nvPr/>
          </p:nvGrpSpPr>
          <p:grpSpPr>
            <a:xfrm>
              <a:off x="2043138" y="0"/>
              <a:ext cx="2455710" cy="585216"/>
              <a:chOff x="0" y="0"/>
              <a:chExt cx="2455710" cy="585216"/>
            </a:xfrm>
          </p:grpSpPr>
          <p:sp>
            <p:nvSpPr>
              <p:cNvPr id="104" name="Freeform 10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05" name="TextBox 10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+14.9%</a:t>
                </a:r>
              </a:p>
            </p:txBody>
          </p:sp>
        </p:grpSp>
      </p:grpSp>
      <p:grpSp>
        <p:nvGrpSpPr>
          <p:cNvPr id="106" name="Group 106"/>
          <p:cNvGrpSpPr/>
          <p:nvPr/>
        </p:nvGrpSpPr>
        <p:grpSpPr>
          <a:xfrm>
            <a:off x="5022056" y="3951742"/>
            <a:ext cx="3703320" cy="903821"/>
            <a:chOff x="0" y="0"/>
            <a:chExt cx="4937760" cy="1205094"/>
          </a:xfrm>
        </p:grpSpPr>
        <p:sp>
          <p:nvSpPr>
            <p:cNvPr id="107" name="Freeform 107"/>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08" name="TextBox 108"/>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$1,666.19</a:t>
              </a:r>
            </a:p>
          </p:txBody>
        </p:sp>
      </p:grpSp>
      <p:grpSp>
        <p:nvGrpSpPr>
          <p:cNvPr id="109" name="Group 109"/>
          <p:cNvGrpSpPr/>
          <p:nvPr/>
        </p:nvGrpSpPr>
        <p:grpSpPr>
          <a:xfrm>
            <a:off x="5022056" y="4764034"/>
            <a:ext cx="3703320" cy="499263"/>
            <a:chOff x="0" y="0"/>
            <a:chExt cx="4937760" cy="665684"/>
          </a:xfrm>
        </p:grpSpPr>
        <p:sp>
          <p:nvSpPr>
            <p:cNvPr id="110" name="Freeform 110"/>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11" name="TextBox 111"/>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id="112" name="Group 112"/>
          <p:cNvGrpSpPr/>
          <p:nvPr/>
        </p:nvGrpSpPr>
        <p:grpSpPr>
          <a:xfrm>
            <a:off x="5186648" y="5267335"/>
            <a:ext cx="1933956" cy="438912"/>
            <a:chOff x="0" y="0"/>
            <a:chExt cx="2578608" cy="585216"/>
          </a:xfrm>
        </p:grpSpPr>
        <p:sp>
          <p:nvSpPr>
            <p:cNvPr id="113" name="Freeform 113"/>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14" name="TextBox 114"/>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$1,666.19</a:t>
              </a:r>
            </a:p>
          </p:txBody>
        </p:sp>
      </p:grpSp>
      <p:grpSp>
        <p:nvGrpSpPr>
          <p:cNvPr id="115" name="Group 115"/>
          <p:cNvGrpSpPr/>
          <p:nvPr/>
        </p:nvGrpSpPr>
        <p:grpSpPr>
          <a:xfrm>
            <a:off x="9411176" y="3937434"/>
            <a:ext cx="3703320" cy="903821"/>
            <a:chOff x="0" y="0"/>
            <a:chExt cx="4937760" cy="1205094"/>
          </a:xfrm>
        </p:grpSpPr>
        <p:sp>
          <p:nvSpPr>
            <p:cNvPr id="116" name="Freeform 116"/>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17" name="TextBox 117"/>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$10,539.81</a:t>
              </a:r>
            </a:p>
          </p:txBody>
        </p:sp>
      </p:grpSp>
      <p:grpSp>
        <p:nvGrpSpPr>
          <p:cNvPr id="118" name="Group 118"/>
          <p:cNvGrpSpPr/>
          <p:nvPr/>
        </p:nvGrpSpPr>
        <p:grpSpPr>
          <a:xfrm>
            <a:off x="9411176" y="4749726"/>
            <a:ext cx="3703320" cy="499263"/>
            <a:chOff x="0" y="0"/>
            <a:chExt cx="4937760" cy="665684"/>
          </a:xfrm>
        </p:grpSpPr>
        <p:sp>
          <p:nvSpPr>
            <p:cNvPr id="119" name="Freeform 119"/>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20" name="TextBox 120"/>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Current AUM</a:t>
              </a:r>
            </a:p>
          </p:txBody>
        </p:sp>
      </p:grpSp>
      <p:grpSp>
        <p:nvGrpSpPr>
          <p:cNvPr id="121" name="Group 121"/>
          <p:cNvGrpSpPr/>
          <p:nvPr/>
        </p:nvGrpSpPr>
        <p:grpSpPr>
          <a:xfrm>
            <a:off x="9575768" y="5253027"/>
            <a:ext cx="1933956" cy="438912"/>
            <a:chOff x="0" y="0"/>
            <a:chExt cx="2578608" cy="585216"/>
          </a:xfrm>
        </p:grpSpPr>
        <p:sp>
          <p:nvSpPr>
            <p:cNvPr id="122" name="Freeform 122"/>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23" name="TextBox 123"/>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$8,529.69</a:t>
              </a:r>
            </a:p>
          </p:txBody>
        </p:sp>
      </p:grpSp>
      <p:grpSp>
        <p:nvGrpSpPr>
          <p:cNvPr id="124" name="Group 124"/>
          <p:cNvGrpSpPr/>
          <p:nvPr/>
        </p:nvGrpSpPr>
        <p:grpSpPr>
          <a:xfrm>
            <a:off x="11108122" y="5253027"/>
            <a:ext cx="1841783" cy="438912"/>
            <a:chOff x="0" y="0"/>
            <a:chExt cx="2455710" cy="585216"/>
          </a:xfrm>
        </p:grpSpPr>
        <p:sp>
          <p:nvSpPr>
            <p:cNvPr id="125" name="Freeform 125"/>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26" name="TextBox 126"/>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+23.6%</a:t>
              </a:r>
            </a:p>
          </p:txBody>
        </p:sp>
      </p:grpSp>
      <p:sp>
        <p:nvSpPr>
          <p:cNvPr id="127" name="TextBox 127"/>
          <p:cNvSpPr txBox="1"/>
          <p:nvPr/>
        </p:nvSpPr>
        <p:spPr>
          <a:xfrm>
            <a:off x="843320" y="6044364"/>
            <a:ext cx="2600524" cy="457200"/>
          </a:xfrm>
          <a:prstGeom prst="rect">
            <a:avLst/>
          </a:prstGeom>
        </p:spPr>
        <p:txBody>
          <a:bodyPr lIns="0" tIns="0" rIns="0" bIns="0" rtlCol="0" anchor="t">
            <a:spAutoFit/>
          </a:bodyPr>
          <a:lstStyle/>
          <a:p>
            <a:pPr algn="l">
              <a:lnSpc>
                <a:spcPts val="3510"/>
              </a:lnSpc>
            </a:pPr>
            <a:r>
              <a:rPr lang="en-US" sz="2925" b="1" dirty="0">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Key Highlights</a:t>
            </a:r>
          </a:p>
        </p:txBody>
      </p:sp>
      <p:grpSp>
        <p:nvGrpSpPr>
          <p:cNvPr id="128" name="Group 128"/>
          <p:cNvGrpSpPr/>
          <p:nvPr/>
        </p:nvGrpSpPr>
        <p:grpSpPr>
          <a:xfrm>
            <a:off x="13784580" y="1824259"/>
            <a:ext cx="3703320" cy="903821"/>
            <a:chOff x="0" y="0"/>
            <a:chExt cx="4937760" cy="1205094"/>
          </a:xfrm>
        </p:grpSpPr>
        <p:sp>
          <p:nvSpPr>
            <p:cNvPr id="129" name="Freeform 129"/>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30" name="TextBox 130"/>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$107.52</a:t>
              </a:r>
            </a:p>
          </p:txBody>
        </p:sp>
      </p:grpSp>
      <p:grpSp>
        <p:nvGrpSpPr>
          <p:cNvPr id="131" name="Group 131"/>
          <p:cNvGrpSpPr/>
          <p:nvPr/>
        </p:nvGrpSpPr>
        <p:grpSpPr>
          <a:xfrm>
            <a:off x="13784580" y="2636551"/>
            <a:ext cx="3703320" cy="499263"/>
            <a:chOff x="0" y="0"/>
            <a:chExt cx="4937760" cy="665684"/>
          </a:xfrm>
        </p:grpSpPr>
        <p:sp>
          <p:nvSpPr>
            <p:cNvPr id="132" name="Freeform 132"/>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3" name="TextBox 133"/>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Revenue </a:t>
              </a:r>
            </a:p>
          </p:txBody>
        </p:sp>
      </p:grpSp>
      <p:grpSp>
        <p:nvGrpSpPr>
          <p:cNvPr id="134" name="Group 134"/>
          <p:cNvGrpSpPr/>
          <p:nvPr/>
        </p:nvGrpSpPr>
        <p:grpSpPr>
          <a:xfrm>
            <a:off x="13804106" y="3061454"/>
            <a:ext cx="3703320" cy="499263"/>
            <a:chOff x="0" y="0"/>
            <a:chExt cx="4937760" cy="665684"/>
          </a:xfrm>
        </p:grpSpPr>
        <p:sp>
          <p:nvSpPr>
            <p:cNvPr id="135" name="Freeform 1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6" name="TextBox 136"/>
            <p:cNvSpPr txBox="1"/>
            <p:nvPr/>
          </p:nvSpPr>
          <p:spPr>
            <a:xfrm>
              <a:off x="0" y="0"/>
              <a:ext cx="4937760" cy="665684"/>
            </a:xfrm>
            <a:prstGeom prst="rect">
              <a:avLst/>
            </a:prstGeom>
          </p:spPr>
          <p:txBody>
            <a:bodyPr lIns="0" tIns="0" rIns="0" bIns="0" rtlCol="0" anchor="ctr"/>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id="137" name="Group 137"/>
          <p:cNvGrpSpPr/>
          <p:nvPr/>
        </p:nvGrpSpPr>
        <p:grpSpPr>
          <a:xfrm>
            <a:off x="422434" y="8660570"/>
            <a:ext cx="16605885" cy="775760"/>
            <a:chOff x="0" y="0"/>
            <a:chExt cx="22141180" cy="1034346"/>
          </a:xfrm>
        </p:grpSpPr>
        <p:grpSp>
          <p:nvGrpSpPr>
            <p:cNvPr id="138" name="Group 138"/>
            <p:cNvGrpSpPr/>
            <p:nvPr/>
          </p:nvGrpSpPr>
          <p:grpSpPr>
            <a:xfrm>
              <a:off x="524764" y="0"/>
              <a:ext cx="21616416" cy="1034346"/>
              <a:chOff x="0" y="0"/>
              <a:chExt cx="21616416" cy="1034346"/>
            </a:xfrm>
          </p:grpSpPr>
          <p:sp>
            <p:nvSpPr>
              <p:cNvPr id="139" name="Freeform 139"/>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140" name="TextBox 140"/>
              <p:cNvSpPr txBox="1"/>
              <p:nvPr/>
            </p:nvSpPr>
            <p:spPr>
              <a:xfrm>
                <a:off x="0" y="0"/>
                <a:ext cx="21616416" cy="1034346"/>
              </a:xfrm>
              <a:prstGeom prst="rect">
                <a:avLst/>
              </a:prstGeom>
            </p:spPr>
            <p:txBody>
              <a:bodyPr lIns="0" tIns="0" rIns="0" bIns="0" rtlCol="0" anchor="ctr"/>
              <a:lstStyle/>
              <a:p>
                <a:pPr algn="l">
                  <a:lnSpc>
                    <a:spcPts val="2579"/>
                  </a:lnSpc>
                </a:pPr>
                <a:r>
                  <a:rPr lang="en-US" sz="2149" b="1">
                    <a:solidFill>
                      <a:srgbClr val="5A6A85"/>
                    </a:solidFill>
                    <a:latin typeface="Exo 2 Bold"/>
                    <a:ea typeface="Exo 2 Bold"/>
                    <a:cs typeface="Exo 2 Bold"/>
                    <a:sym typeface="Exo 2 Bold"/>
                  </a:rPr>
                  <a:t>Paid Media Resumed</a:t>
                </a:r>
              </a:p>
              <a:p>
                <a:pPr algn="l">
                  <a:lnSpc>
                    <a:spcPts val="2579"/>
                  </a:lnSpc>
                </a:pPr>
                <a:r>
                  <a:rPr lang="en-US" sz="2149">
                    <a:solidFill>
                      <a:srgbClr val="5A6A85"/>
                    </a:solidFill>
                    <a:latin typeface="Exo 2"/>
                    <a:ea typeface="Exo 2"/>
                    <a:cs typeface="Exo 2"/>
                    <a:sym typeface="Exo 2"/>
                  </a:rPr>
                  <a:t>Two Instagram campaigns are live, with two additional influencers preparing their content for scheduled release.</a:t>
                </a:r>
              </a:p>
            </p:txBody>
          </p:sp>
        </p:grpSp>
        <p:grpSp>
          <p:nvGrpSpPr>
            <p:cNvPr id="141" name="Group 141"/>
            <p:cNvGrpSpPr/>
            <p:nvPr/>
          </p:nvGrpSpPr>
          <p:grpSpPr>
            <a:xfrm>
              <a:off x="0" y="164453"/>
              <a:ext cx="370790" cy="324441"/>
              <a:chOff x="0" y="0"/>
              <a:chExt cx="812800" cy="711200"/>
            </a:xfrm>
          </p:grpSpPr>
          <p:sp>
            <p:nvSpPr>
              <p:cNvPr id="142" name="Freeform 1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43" name="TextBox 143"/>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3">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Key Performance Indicators &amp; Volume Projections</a:t>
              </a:r>
            </a:p>
          </p:txBody>
        </p:sp>
      </p:grpSp>
      <p:sp>
        <p:nvSpPr>
          <p:cNvPr id="5" name="Freeform 5"/>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850001" y="1980000"/>
            <a:ext cx="16587997" cy="514041"/>
            <a:chOff x="0" y="0"/>
            <a:chExt cx="22117329" cy="685388"/>
          </a:xfrm>
        </p:grpSpPr>
        <p:sp>
          <p:nvSpPr>
            <p:cNvPr id="11" name="Freeform 11"/>
            <p:cNvSpPr/>
            <p:nvPr/>
          </p:nvSpPr>
          <p:spPr>
            <a:xfrm>
              <a:off x="0" y="0"/>
              <a:ext cx="22117304" cy="685331"/>
            </a:xfrm>
            <a:custGeom>
              <a:avLst/>
              <a:gdLst/>
              <a:ahLst/>
              <a:cxnLst/>
              <a:rect l="l" t="t" r="r" b="b"/>
              <a:pathLst>
                <a:path w="22117304" h="685331">
                  <a:moveTo>
                    <a:pt x="0" y="0"/>
                  </a:moveTo>
                  <a:lnTo>
                    <a:pt x="22117304" y="0"/>
                  </a:lnTo>
                  <a:lnTo>
                    <a:pt x="22117304" y="685331"/>
                  </a:lnTo>
                  <a:lnTo>
                    <a:pt x="0" y="685331"/>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2" name="Group 12"/>
          <p:cNvGrpSpPr/>
          <p:nvPr/>
        </p:nvGrpSpPr>
        <p:grpSpPr>
          <a:xfrm>
            <a:off x="850001" y="1980000"/>
            <a:ext cx="3984060" cy="514041"/>
            <a:chOff x="0" y="0"/>
            <a:chExt cx="5312080" cy="685388"/>
          </a:xfrm>
        </p:grpSpPr>
        <p:sp>
          <p:nvSpPr>
            <p:cNvPr id="13" name="Freeform 13"/>
            <p:cNvSpPr/>
            <p:nvPr/>
          </p:nvSpPr>
          <p:spPr>
            <a:xfrm>
              <a:off x="0" y="0"/>
              <a:ext cx="5312084" cy="685387"/>
            </a:xfrm>
            <a:custGeom>
              <a:avLst/>
              <a:gdLst/>
              <a:ahLst/>
              <a:cxnLst/>
              <a:rect l="l" t="t" r="r" b="b"/>
              <a:pathLst>
                <a:path w="5312084" h="685387">
                  <a:moveTo>
                    <a:pt x="0" y="0"/>
                  </a:moveTo>
                  <a:lnTo>
                    <a:pt x="5312084" y="0"/>
                  </a:lnTo>
                  <a:lnTo>
                    <a:pt x="5312084" y="685387"/>
                  </a:lnTo>
                  <a:lnTo>
                    <a:pt x="0" y="685387"/>
                  </a:lnTo>
                  <a:close/>
                </a:path>
              </a:pathLst>
            </a:custGeom>
            <a:gradFill rotWithShape="1">
              <a:gsLst>
                <a:gs pos="0">
                  <a:srgbClr val="3C61B6">
                    <a:alpha val="100000"/>
                  </a:srgbClr>
                </a:gs>
                <a:gs pos="100000">
                  <a:srgbClr val="121C36">
                    <a:alpha val="100000"/>
                  </a:srgbClr>
                </a:gs>
              </a:gsLst>
              <a:path path="circle">
                <a:fillToRect l="200000" t="200000" r="-100000" b="-100000"/>
              </a:path>
              <a:tileRect r="-300000" b="-300000"/>
            </a:gradFill>
            <a:ln w="6350" cap="sq">
              <a:solidFill>
                <a:srgbClr val="C5CED8"/>
              </a:solidFill>
              <a:prstDash val="solid"/>
              <a:miter/>
            </a:ln>
          </p:spPr>
          <p:txBody>
            <a:bodyPr/>
            <a:lstStyle/>
            <a:p>
              <a:endParaRPr lang="en-US"/>
            </a:p>
          </p:txBody>
        </p:sp>
        <p:sp>
          <p:nvSpPr>
            <p:cNvPr id="14" name="TextBox 14"/>
            <p:cNvSpPr txBox="1"/>
            <p:nvPr/>
          </p:nvSpPr>
          <p:spPr>
            <a:xfrm>
              <a:off x="0" y="0"/>
              <a:ext cx="5312080" cy="685388"/>
            </a:xfrm>
            <a:prstGeom prst="rect">
              <a:avLst/>
            </a:prstGeom>
          </p:spPr>
          <p:txBody>
            <a:bodyPr lIns="0" tIns="0" rIns="0" bIns="0" rtlCol="0" anchor="ctr"/>
            <a:lstStyle/>
            <a:p>
              <a:pPr marL="0" lvl="0" indent="0" algn="ctr">
                <a:lnSpc>
                  <a:spcPts val="2098"/>
                </a:lnSpc>
                <a:spcBef>
                  <a:spcPct val="0"/>
                </a:spcBef>
              </a:pPr>
              <a:r>
                <a:rPr lang="en-US" sz="1749" b="1" u="none" strike="noStrike">
                  <a:solidFill>
                    <a:srgbClr val="FFFFFF"/>
                  </a:solidFill>
                  <a:latin typeface="Exo 2 Bold"/>
                  <a:ea typeface="Exo 2 Bold"/>
                  <a:cs typeface="Exo 2 Bold"/>
                  <a:sym typeface="Exo 2 Bold"/>
                </a:rPr>
                <a:t>KPI &amp; Performance Detail</a:t>
              </a:r>
            </a:p>
          </p:txBody>
        </p:sp>
      </p:grpSp>
      <p:grpSp>
        <p:nvGrpSpPr>
          <p:cNvPr id="15" name="Group 15"/>
          <p:cNvGrpSpPr/>
          <p:nvPr/>
        </p:nvGrpSpPr>
        <p:grpSpPr>
          <a:xfrm>
            <a:off x="4914062" y="1980000"/>
            <a:ext cx="1565491" cy="514041"/>
            <a:chOff x="0" y="0"/>
            <a:chExt cx="2087321" cy="685388"/>
          </a:xfrm>
        </p:grpSpPr>
        <p:sp>
          <p:nvSpPr>
            <p:cNvPr id="16" name="Freeform 16"/>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17" name="TextBox 17"/>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May</a:t>
              </a:r>
            </a:p>
          </p:txBody>
        </p:sp>
      </p:grpSp>
      <p:grpSp>
        <p:nvGrpSpPr>
          <p:cNvPr id="18" name="Group 18"/>
          <p:cNvGrpSpPr/>
          <p:nvPr/>
        </p:nvGrpSpPr>
        <p:grpSpPr>
          <a:xfrm>
            <a:off x="6479553" y="1980000"/>
            <a:ext cx="1565491" cy="514041"/>
            <a:chOff x="0" y="0"/>
            <a:chExt cx="2087321" cy="685388"/>
          </a:xfrm>
        </p:grpSpPr>
        <p:sp>
          <p:nvSpPr>
            <p:cNvPr id="19" name="Freeform 19"/>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0" name="TextBox 20"/>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June</a:t>
              </a:r>
            </a:p>
          </p:txBody>
        </p:sp>
      </p:grpSp>
      <p:grpSp>
        <p:nvGrpSpPr>
          <p:cNvPr id="21" name="Group 21"/>
          <p:cNvGrpSpPr/>
          <p:nvPr/>
        </p:nvGrpSpPr>
        <p:grpSpPr>
          <a:xfrm>
            <a:off x="8045044" y="1980000"/>
            <a:ext cx="1565491" cy="514041"/>
            <a:chOff x="0" y="0"/>
            <a:chExt cx="2087321" cy="685388"/>
          </a:xfrm>
        </p:grpSpPr>
        <p:sp>
          <p:nvSpPr>
            <p:cNvPr id="22" name="Freeform 22"/>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3" name="TextBox 23"/>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July</a:t>
              </a:r>
            </a:p>
          </p:txBody>
        </p:sp>
      </p:grpSp>
      <p:grpSp>
        <p:nvGrpSpPr>
          <p:cNvPr id="24" name="Group 24"/>
          <p:cNvGrpSpPr/>
          <p:nvPr/>
        </p:nvGrpSpPr>
        <p:grpSpPr>
          <a:xfrm>
            <a:off x="9610534" y="1980000"/>
            <a:ext cx="1565491" cy="514041"/>
            <a:chOff x="0" y="0"/>
            <a:chExt cx="2087321" cy="685388"/>
          </a:xfrm>
        </p:grpSpPr>
        <p:sp>
          <p:nvSpPr>
            <p:cNvPr id="25" name="Freeform 25"/>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6" name="TextBox 26"/>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August</a:t>
              </a:r>
            </a:p>
          </p:txBody>
        </p:sp>
      </p:grpSp>
      <p:grpSp>
        <p:nvGrpSpPr>
          <p:cNvPr id="27" name="Group 27"/>
          <p:cNvGrpSpPr/>
          <p:nvPr/>
        </p:nvGrpSpPr>
        <p:grpSpPr>
          <a:xfrm>
            <a:off x="11176025" y="1980000"/>
            <a:ext cx="1565491" cy="514041"/>
            <a:chOff x="0" y="0"/>
            <a:chExt cx="2087321" cy="685388"/>
          </a:xfrm>
        </p:grpSpPr>
        <p:sp>
          <p:nvSpPr>
            <p:cNvPr id="28" name="Freeform 28"/>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9" name="TextBox 29"/>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September</a:t>
              </a:r>
            </a:p>
          </p:txBody>
        </p:sp>
      </p:grpSp>
      <p:grpSp>
        <p:nvGrpSpPr>
          <p:cNvPr id="30" name="Group 30"/>
          <p:cNvGrpSpPr/>
          <p:nvPr/>
        </p:nvGrpSpPr>
        <p:grpSpPr>
          <a:xfrm>
            <a:off x="12741516" y="1980000"/>
            <a:ext cx="1565491" cy="514041"/>
            <a:chOff x="0" y="0"/>
            <a:chExt cx="2087321" cy="685388"/>
          </a:xfrm>
        </p:grpSpPr>
        <p:sp>
          <p:nvSpPr>
            <p:cNvPr id="31" name="Freeform 31"/>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2" name="TextBox 32"/>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October</a:t>
              </a:r>
            </a:p>
          </p:txBody>
        </p:sp>
      </p:grpSp>
      <p:grpSp>
        <p:nvGrpSpPr>
          <p:cNvPr id="33" name="Group 33"/>
          <p:cNvGrpSpPr/>
          <p:nvPr/>
        </p:nvGrpSpPr>
        <p:grpSpPr>
          <a:xfrm>
            <a:off x="14307017" y="1980000"/>
            <a:ext cx="1565491" cy="514041"/>
            <a:chOff x="0" y="0"/>
            <a:chExt cx="2087321" cy="685388"/>
          </a:xfrm>
        </p:grpSpPr>
        <p:sp>
          <p:nvSpPr>
            <p:cNvPr id="34" name="Freeform 34"/>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5" name="TextBox 35"/>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November</a:t>
              </a:r>
            </a:p>
          </p:txBody>
        </p:sp>
      </p:grpSp>
      <p:grpSp>
        <p:nvGrpSpPr>
          <p:cNvPr id="36" name="Group 36"/>
          <p:cNvGrpSpPr/>
          <p:nvPr/>
        </p:nvGrpSpPr>
        <p:grpSpPr>
          <a:xfrm>
            <a:off x="15872508" y="1980000"/>
            <a:ext cx="1565491" cy="514041"/>
            <a:chOff x="0" y="0"/>
            <a:chExt cx="2087321" cy="685388"/>
          </a:xfrm>
        </p:grpSpPr>
        <p:sp>
          <p:nvSpPr>
            <p:cNvPr id="37" name="Freeform 37"/>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8" name="TextBox 38"/>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December</a:t>
              </a:r>
            </a:p>
          </p:txBody>
        </p:sp>
      </p:grpSp>
      <p:grpSp>
        <p:nvGrpSpPr>
          <p:cNvPr id="39" name="Group 39"/>
          <p:cNvGrpSpPr/>
          <p:nvPr/>
        </p:nvGrpSpPr>
        <p:grpSpPr>
          <a:xfrm>
            <a:off x="850001" y="2494041"/>
            <a:ext cx="16587997" cy="415701"/>
            <a:chOff x="0" y="0"/>
            <a:chExt cx="22117329" cy="554268"/>
          </a:xfrm>
        </p:grpSpPr>
        <p:sp>
          <p:nvSpPr>
            <p:cNvPr id="40" name="Freeform 4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41" name="Group 41"/>
          <p:cNvGrpSpPr/>
          <p:nvPr/>
        </p:nvGrpSpPr>
        <p:grpSpPr>
          <a:xfrm>
            <a:off x="850001" y="2494041"/>
            <a:ext cx="16587997" cy="415702"/>
            <a:chOff x="0" y="0"/>
            <a:chExt cx="22117329" cy="554270"/>
          </a:xfrm>
        </p:grpSpPr>
        <p:sp>
          <p:nvSpPr>
            <p:cNvPr id="42" name="Freeform 42"/>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43" name="TextBox 43"/>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  CLIENTS, CUMULATIVE</a:t>
              </a:r>
            </a:p>
          </p:txBody>
        </p:sp>
      </p:grpSp>
      <p:grpSp>
        <p:nvGrpSpPr>
          <p:cNvPr id="44" name="Group 44"/>
          <p:cNvGrpSpPr/>
          <p:nvPr/>
        </p:nvGrpSpPr>
        <p:grpSpPr>
          <a:xfrm>
            <a:off x="850001" y="2909742"/>
            <a:ext cx="16587997" cy="415701"/>
            <a:chOff x="0" y="0"/>
            <a:chExt cx="22117329" cy="554268"/>
          </a:xfrm>
        </p:grpSpPr>
        <p:sp>
          <p:nvSpPr>
            <p:cNvPr id="45" name="Freeform 4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46" name="Group 46"/>
          <p:cNvGrpSpPr/>
          <p:nvPr/>
        </p:nvGrpSpPr>
        <p:grpSpPr>
          <a:xfrm>
            <a:off x="1030005" y="2909742"/>
            <a:ext cx="3804056" cy="415702"/>
            <a:chOff x="0" y="0"/>
            <a:chExt cx="5072075" cy="554270"/>
          </a:xfrm>
        </p:grpSpPr>
        <p:sp>
          <p:nvSpPr>
            <p:cNvPr id="47" name="Freeform 4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48" name="TextBox 4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49" name="Group 49"/>
          <p:cNvGrpSpPr/>
          <p:nvPr/>
        </p:nvGrpSpPr>
        <p:grpSpPr>
          <a:xfrm>
            <a:off x="4914062" y="2909742"/>
            <a:ext cx="1565491" cy="415702"/>
            <a:chOff x="0" y="0"/>
            <a:chExt cx="2087321" cy="554270"/>
          </a:xfrm>
        </p:grpSpPr>
        <p:sp>
          <p:nvSpPr>
            <p:cNvPr id="50" name="Freeform 5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1" name="TextBox 5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11</a:t>
              </a:r>
            </a:p>
          </p:txBody>
        </p:sp>
      </p:grpSp>
      <p:grpSp>
        <p:nvGrpSpPr>
          <p:cNvPr id="52" name="Group 52"/>
          <p:cNvGrpSpPr/>
          <p:nvPr/>
        </p:nvGrpSpPr>
        <p:grpSpPr>
          <a:xfrm>
            <a:off x="6479553" y="2909742"/>
            <a:ext cx="1565491" cy="415702"/>
            <a:chOff x="0" y="0"/>
            <a:chExt cx="2087321" cy="554270"/>
          </a:xfrm>
        </p:grpSpPr>
        <p:sp>
          <p:nvSpPr>
            <p:cNvPr id="53" name="Freeform 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4" name="TextBox 5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55" name="Group 55"/>
          <p:cNvGrpSpPr/>
          <p:nvPr/>
        </p:nvGrpSpPr>
        <p:grpSpPr>
          <a:xfrm>
            <a:off x="8045044" y="2909742"/>
            <a:ext cx="1565491" cy="415702"/>
            <a:chOff x="0" y="0"/>
            <a:chExt cx="2087321" cy="554270"/>
          </a:xfrm>
        </p:grpSpPr>
        <p:sp>
          <p:nvSpPr>
            <p:cNvPr id="56" name="Freeform 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7" name="TextBox 5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58" name="Group 58"/>
          <p:cNvGrpSpPr/>
          <p:nvPr/>
        </p:nvGrpSpPr>
        <p:grpSpPr>
          <a:xfrm>
            <a:off x="9610534" y="2909742"/>
            <a:ext cx="1565491" cy="415702"/>
            <a:chOff x="0" y="0"/>
            <a:chExt cx="2087321" cy="554270"/>
          </a:xfrm>
        </p:grpSpPr>
        <p:sp>
          <p:nvSpPr>
            <p:cNvPr id="59" name="Freeform 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0" name="TextBox 6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47</a:t>
              </a:r>
            </a:p>
          </p:txBody>
        </p:sp>
      </p:grpSp>
      <p:grpSp>
        <p:nvGrpSpPr>
          <p:cNvPr id="61" name="Group 61"/>
          <p:cNvGrpSpPr/>
          <p:nvPr/>
        </p:nvGrpSpPr>
        <p:grpSpPr>
          <a:xfrm>
            <a:off x="11176025" y="2909742"/>
            <a:ext cx="1565491" cy="415702"/>
            <a:chOff x="0" y="0"/>
            <a:chExt cx="2087321" cy="554270"/>
          </a:xfrm>
        </p:grpSpPr>
        <p:sp>
          <p:nvSpPr>
            <p:cNvPr id="62" name="Freeform 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3" name="TextBox 6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61</a:t>
              </a:r>
            </a:p>
          </p:txBody>
        </p:sp>
      </p:grpSp>
      <p:grpSp>
        <p:nvGrpSpPr>
          <p:cNvPr id="64" name="Group 64"/>
          <p:cNvGrpSpPr/>
          <p:nvPr/>
        </p:nvGrpSpPr>
        <p:grpSpPr>
          <a:xfrm>
            <a:off x="850001" y="3325443"/>
            <a:ext cx="16587997" cy="415701"/>
            <a:chOff x="0" y="0"/>
            <a:chExt cx="22117329" cy="554268"/>
          </a:xfrm>
        </p:grpSpPr>
        <p:sp>
          <p:nvSpPr>
            <p:cNvPr id="65" name="Freeform 6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66" name="Group 66"/>
          <p:cNvGrpSpPr/>
          <p:nvPr/>
        </p:nvGrpSpPr>
        <p:grpSpPr>
          <a:xfrm>
            <a:off x="1030005" y="3325443"/>
            <a:ext cx="3804056" cy="415702"/>
            <a:chOff x="0" y="0"/>
            <a:chExt cx="5072075" cy="554270"/>
          </a:xfrm>
        </p:grpSpPr>
        <p:sp>
          <p:nvSpPr>
            <p:cNvPr id="67" name="Freeform 6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68" name="TextBox 6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69" name="Group 69"/>
          <p:cNvGrpSpPr/>
          <p:nvPr/>
        </p:nvGrpSpPr>
        <p:grpSpPr>
          <a:xfrm>
            <a:off x="4914062" y="3325443"/>
            <a:ext cx="1565491" cy="415702"/>
            <a:chOff x="0" y="0"/>
            <a:chExt cx="2087321" cy="554270"/>
          </a:xfrm>
        </p:grpSpPr>
        <p:sp>
          <p:nvSpPr>
            <p:cNvPr id="70" name="Freeform 7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1" name="TextBox 7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72" name="Group 72"/>
          <p:cNvGrpSpPr/>
          <p:nvPr/>
        </p:nvGrpSpPr>
        <p:grpSpPr>
          <a:xfrm>
            <a:off x="6479553" y="3325443"/>
            <a:ext cx="1565491" cy="415702"/>
            <a:chOff x="0" y="0"/>
            <a:chExt cx="2087321" cy="554270"/>
          </a:xfrm>
        </p:grpSpPr>
        <p:sp>
          <p:nvSpPr>
            <p:cNvPr id="73" name="Freeform 7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4" name="TextBox 7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75" name="Group 75"/>
          <p:cNvGrpSpPr/>
          <p:nvPr/>
        </p:nvGrpSpPr>
        <p:grpSpPr>
          <a:xfrm>
            <a:off x="8045044" y="3325443"/>
            <a:ext cx="1565491" cy="415702"/>
            <a:chOff x="0" y="0"/>
            <a:chExt cx="2087321" cy="554270"/>
          </a:xfrm>
        </p:grpSpPr>
        <p:sp>
          <p:nvSpPr>
            <p:cNvPr id="76" name="Freeform 7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7" name="TextBox 7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78" name="Group 78"/>
          <p:cNvGrpSpPr/>
          <p:nvPr/>
        </p:nvGrpSpPr>
        <p:grpSpPr>
          <a:xfrm>
            <a:off x="9610534" y="3325443"/>
            <a:ext cx="1565491" cy="415702"/>
            <a:chOff x="0" y="0"/>
            <a:chExt cx="2087321" cy="554270"/>
          </a:xfrm>
        </p:grpSpPr>
        <p:sp>
          <p:nvSpPr>
            <p:cNvPr id="79" name="Freeform 7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0" name="TextBox 8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81" name="Group 81"/>
          <p:cNvGrpSpPr/>
          <p:nvPr/>
        </p:nvGrpSpPr>
        <p:grpSpPr>
          <a:xfrm>
            <a:off x="11176025" y="3325443"/>
            <a:ext cx="1565491" cy="415702"/>
            <a:chOff x="0" y="0"/>
            <a:chExt cx="2087321" cy="554270"/>
          </a:xfrm>
        </p:grpSpPr>
        <p:sp>
          <p:nvSpPr>
            <p:cNvPr id="82" name="Freeform 8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3" name="TextBox 8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84" name="Group 84"/>
          <p:cNvGrpSpPr/>
          <p:nvPr/>
        </p:nvGrpSpPr>
        <p:grpSpPr>
          <a:xfrm>
            <a:off x="12741516" y="3325443"/>
            <a:ext cx="1565491" cy="415702"/>
            <a:chOff x="0" y="0"/>
            <a:chExt cx="2087321" cy="554270"/>
          </a:xfrm>
        </p:grpSpPr>
        <p:sp>
          <p:nvSpPr>
            <p:cNvPr id="85" name="Freeform 8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6" name="TextBox 8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87" name="Group 87"/>
          <p:cNvGrpSpPr/>
          <p:nvPr/>
        </p:nvGrpSpPr>
        <p:grpSpPr>
          <a:xfrm>
            <a:off x="14307017" y="3325443"/>
            <a:ext cx="1565491" cy="415702"/>
            <a:chOff x="0" y="0"/>
            <a:chExt cx="2087321" cy="554270"/>
          </a:xfrm>
        </p:grpSpPr>
        <p:sp>
          <p:nvSpPr>
            <p:cNvPr id="88" name="Freeform 8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9" name="TextBox 8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90" name="Group 90"/>
          <p:cNvGrpSpPr/>
          <p:nvPr/>
        </p:nvGrpSpPr>
        <p:grpSpPr>
          <a:xfrm>
            <a:off x="15872508" y="3325443"/>
            <a:ext cx="1565491" cy="415702"/>
            <a:chOff x="0" y="0"/>
            <a:chExt cx="2087321" cy="554270"/>
          </a:xfrm>
        </p:grpSpPr>
        <p:sp>
          <p:nvSpPr>
            <p:cNvPr id="91" name="Freeform 9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92" name="TextBox 9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93" name="Group 93"/>
          <p:cNvGrpSpPr/>
          <p:nvPr/>
        </p:nvGrpSpPr>
        <p:grpSpPr>
          <a:xfrm>
            <a:off x="850001" y="3741145"/>
            <a:ext cx="16587997" cy="415701"/>
            <a:chOff x="0" y="0"/>
            <a:chExt cx="22117329" cy="554268"/>
          </a:xfrm>
        </p:grpSpPr>
        <p:sp>
          <p:nvSpPr>
            <p:cNvPr id="94" name="Freeform 94"/>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95" name="Group 95"/>
          <p:cNvGrpSpPr/>
          <p:nvPr/>
        </p:nvGrpSpPr>
        <p:grpSpPr>
          <a:xfrm>
            <a:off x="850001" y="3709166"/>
            <a:ext cx="16587997" cy="47625"/>
            <a:chOff x="0" y="0"/>
            <a:chExt cx="22117329" cy="63500"/>
          </a:xfrm>
        </p:grpSpPr>
        <p:sp>
          <p:nvSpPr>
            <p:cNvPr id="96" name="Freeform 96"/>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97" name="Group 97"/>
          <p:cNvGrpSpPr/>
          <p:nvPr/>
        </p:nvGrpSpPr>
        <p:grpSpPr>
          <a:xfrm>
            <a:off x="1030005" y="3741145"/>
            <a:ext cx="3804056" cy="415702"/>
            <a:chOff x="0" y="0"/>
            <a:chExt cx="5072075" cy="554270"/>
          </a:xfrm>
        </p:grpSpPr>
        <p:sp>
          <p:nvSpPr>
            <p:cNvPr id="98" name="Freeform 98"/>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99" name="TextBox 99"/>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00" name="Group 100"/>
          <p:cNvGrpSpPr/>
          <p:nvPr/>
        </p:nvGrpSpPr>
        <p:grpSpPr>
          <a:xfrm>
            <a:off x="4914062" y="3741145"/>
            <a:ext cx="1565491" cy="415702"/>
            <a:chOff x="0" y="0"/>
            <a:chExt cx="2087321" cy="554270"/>
          </a:xfrm>
        </p:grpSpPr>
        <p:sp>
          <p:nvSpPr>
            <p:cNvPr id="101" name="Freeform 1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2" name="TextBox 10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a:t>
              </a:r>
            </a:p>
          </p:txBody>
        </p:sp>
      </p:grpSp>
      <p:grpSp>
        <p:nvGrpSpPr>
          <p:cNvPr id="103" name="Group 103"/>
          <p:cNvGrpSpPr/>
          <p:nvPr/>
        </p:nvGrpSpPr>
        <p:grpSpPr>
          <a:xfrm>
            <a:off x="6479553" y="3741145"/>
            <a:ext cx="1565491" cy="415702"/>
            <a:chOff x="0" y="0"/>
            <a:chExt cx="2087321" cy="554270"/>
          </a:xfrm>
        </p:grpSpPr>
        <p:sp>
          <p:nvSpPr>
            <p:cNvPr id="104" name="Freeform 1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5" name="TextBox 105"/>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+0</a:t>
              </a:r>
            </a:p>
          </p:txBody>
        </p:sp>
      </p:grpSp>
      <p:grpSp>
        <p:nvGrpSpPr>
          <p:cNvPr id="106" name="Group 106"/>
          <p:cNvGrpSpPr/>
          <p:nvPr/>
        </p:nvGrpSpPr>
        <p:grpSpPr>
          <a:xfrm>
            <a:off x="8045044" y="3741145"/>
            <a:ext cx="1565491" cy="415702"/>
            <a:chOff x="0" y="0"/>
            <a:chExt cx="2087321" cy="554270"/>
          </a:xfrm>
        </p:grpSpPr>
        <p:sp>
          <p:nvSpPr>
            <p:cNvPr id="107" name="Freeform 1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8" name="TextBox 10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+5</a:t>
              </a:r>
            </a:p>
          </p:txBody>
        </p:sp>
      </p:grpSp>
      <p:grpSp>
        <p:nvGrpSpPr>
          <p:cNvPr id="109" name="Group 109"/>
          <p:cNvGrpSpPr/>
          <p:nvPr/>
        </p:nvGrpSpPr>
        <p:grpSpPr>
          <a:xfrm>
            <a:off x="9610534" y="3741145"/>
            <a:ext cx="1565491" cy="415702"/>
            <a:chOff x="0" y="0"/>
            <a:chExt cx="2087321" cy="554270"/>
          </a:xfrm>
        </p:grpSpPr>
        <p:sp>
          <p:nvSpPr>
            <p:cNvPr id="110" name="Freeform 1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1" name="TextBox 11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+14</a:t>
              </a:r>
            </a:p>
          </p:txBody>
        </p:sp>
      </p:grpSp>
      <p:grpSp>
        <p:nvGrpSpPr>
          <p:cNvPr id="112" name="Group 112"/>
          <p:cNvGrpSpPr/>
          <p:nvPr/>
        </p:nvGrpSpPr>
        <p:grpSpPr>
          <a:xfrm>
            <a:off x="11176025" y="3741145"/>
            <a:ext cx="1565491" cy="415702"/>
            <a:chOff x="0" y="0"/>
            <a:chExt cx="2087321" cy="554270"/>
          </a:xfrm>
        </p:grpSpPr>
        <p:sp>
          <p:nvSpPr>
            <p:cNvPr id="113" name="Freeform 1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4" name="TextBox 11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+22</a:t>
              </a:r>
            </a:p>
          </p:txBody>
        </p:sp>
      </p:grpSp>
      <p:grpSp>
        <p:nvGrpSpPr>
          <p:cNvPr id="115" name="Group 115"/>
          <p:cNvGrpSpPr/>
          <p:nvPr/>
        </p:nvGrpSpPr>
        <p:grpSpPr>
          <a:xfrm>
            <a:off x="850001" y="4156846"/>
            <a:ext cx="16587997" cy="415701"/>
            <a:chOff x="0" y="0"/>
            <a:chExt cx="22117329" cy="554268"/>
          </a:xfrm>
        </p:grpSpPr>
        <p:sp>
          <p:nvSpPr>
            <p:cNvPr id="116" name="Freeform 11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17" name="Group 117"/>
          <p:cNvGrpSpPr/>
          <p:nvPr/>
        </p:nvGrpSpPr>
        <p:grpSpPr>
          <a:xfrm>
            <a:off x="850001" y="4156846"/>
            <a:ext cx="16587997" cy="415702"/>
            <a:chOff x="0" y="0"/>
            <a:chExt cx="22117329" cy="554270"/>
          </a:xfrm>
        </p:grpSpPr>
        <p:sp>
          <p:nvSpPr>
            <p:cNvPr id="118" name="Freeform 118"/>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19" name="TextBox 119"/>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  NUMBER OF TRADES</a:t>
              </a:r>
            </a:p>
          </p:txBody>
        </p:sp>
      </p:grpSp>
      <p:grpSp>
        <p:nvGrpSpPr>
          <p:cNvPr id="120" name="Group 120"/>
          <p:cNvGrpSpPr/>
          <p:nvPr/>
        </p:nvGrpSpPr>
        <p:grpSpPr>
          <a:xfrm>
            <a:off x="850001" y="4572558"/>
            <a:ext cx="16587997" cy="415701"/>
            <a:chOff x="0" y="0"/>
            <a:chExt cx="22117329" cy="554268"/>
          </a:xfrm>
        </p:grpSpPr>
        <p:sp>
          <p:nvSpPr>
            <p:cNvPr id="121" name="Freeform 12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22" name="Group 122"/>
          <p:cNvGrpSpPr/>
          <p:nvPr/>
        </p:nvGrpSpPr>
        <p:grpSpPr>
          <a:xfrm>
            <a:off x="1030005" y="4572558"/>
            <a:ext cx="3804056" cy="415702"/>
            <a:chOff x="0" y="0"/>
            <a:chExt cx="5072075" cy="554270"/>
          </a:xfrm>
        </p:grpSpPr>
        <p:sp>
          <p:nvSpPr>
            <p:cNvPr id="123" name="Freeform 12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24" name="TextBox 12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125" name="Group 125"/>
          <p:cNvGrpSpPr/>
          <p:nvPr/>
        </p:nvGrpSpPr>
        <p:grpSpPr>
          <a:xfrm>
            <a:off x="4914062" y="4572558"/>
            <a:ext cx="1565491" cy="415702"/>
            <a:chOff x="0" y="0"/>
            <a:chExt cx="2087321" cy="554270"/>
          </a:xfrm>
        </p:grpSpPr>
        <p:sp>
          <p:nvSpPr>
            <p:cNvPr id="126" name="Freeform 12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27" name="TextBox 12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28" name="Group 128"/>
          <p:cNvGrpSpPr/>
          <p:nvPr/>
        </p:nvGrpSpPr>
        <p:grpSpPr>
          <a:xfrm>
            <a:off x="6479553" y="4572558"/>
            <a:ext cx="1565491" cy="415702"/>
            <a:chOff x="0" y="0"/>
            <a:chExt cx="2087321" cy="554270"/>
          </a:xfrm>
        </p:grpSpPr>
        <p:sp>
          <p:nvSpPr>
            <p:cNvPr id="129" name="Freeform 1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0" name="TextBox 13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17</a:t>
              </a:r>
            </a:p>
          </p:txBody>
        </p:sp>
      </p:grpSp>
      <p:grpSp>
        <p:nvGrpSpPr>
          <p:cNvPr id="131" name="Group 131"/>
          <p:cNvGrpSpPr/>
          <p:nvPr/>
        </p:nvGrpSpPr>
        <p:grpSpPr>
          <a:xfrm>
            <a:off x="8045044" y="4572558"/>
            <a:ext cx="1565491" cy="415702"/>
            <a:chOff x="0" y="0"/>
            <a:chExt cx="2087321" cy="554270"/>
          </a:xfrm>
        </p:grpSpPr>
        <p:sp>
          <p:nvSpPr>
            <p:cNvPr id="132" name="Freeform 1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3" name="TextBox 13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a:t>
              </a:r>
            </a:p>
          </p:txBody>
        </p:sp>
      </p:grpSp>
      <p:grpSp>
        <p:nvGrpSpPr>
          <p:cNvPr id="134" name="Group 134"/>
          <p:cNvGrpSpPr/>
          <p:nvPr/>
        </p:nvGrpSpPr>
        <p:grpSpPr>
          <a:xfrm>
            <a:off x="9610534" y="4572558"/>
            <a:ext cx="1565491" cy="415702"/>
            <a:chOff x="0" y="0"/>
            <a:chExt cx="2087321" cy="554270"/>
          </a:xfrm>
        </p:grpSpPr>
        <p:sp>
          <p:nvSpPr>
            <p:cNvPr id="135" name="Freeform 1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6" name="TextBox 13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16</a:t>
              </a:r>
            </a:p>
          </p:txBody>
        </p:sp>
      </p:grpSp>
      <p:grpSp>
        <p:nvGrpSpPr>
          <p:cNvPr id="137" name="Group 137"/>
          <p:cNvGrpSpPr/>
          <p:nvPr/>
        </p:nvGrpSpPr>
        <p:grpSpPr>
          <a:xfrm>
            <a:off x="11176025" y="4572558"/>
            <a:ext cx="1565491" cy="415702"/>
            <a:chOff x="0" y="0"/>
            <a:chExt cx="2087321" cy="554270"/>
          </a:xfrm>
        </p:grpSpPr>
        <p:sp>
          <p:nvSpPr>
            <p:cNvPr id="138" name="Freeform 1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9" name="TextBox 13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40" name="Group 140"/>
          <p:cNvGrpSpPr/>
          <p:nvPr/>
        </p:nvGrpSpPr>
        <p:grpSpPr>
          <a:xfrm>
            <a:off x="850001" y="4988259"/>
            <a:ext cx="16587997" cy="415701"/>
            <a:chOff x="0" y="0"/>
            <a:chExt cx="22117329" cy="554268"/>
          </a:xfrm>
        </p:grpSpPr>
        <p:sp>
          <p:nvSpPr>
            <p:cNvPr id="141" name="Freeform 14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142" name="Group 142"/>
          <p:cNvGrpSpPr/>
          <p:nvPr/>
        </p:nvGrpSpPr>
        <p:grpSpPr>
          <a:xfrm>
            <a:off x="1030005" y="4988259"/>
            <a:ext cx="3804056" cy="415702"/>
            <a:chOff x="0" y="0"/>
            <a:chExt cx="5072075" cy="554270"/>
          </a:xfrm>
        </p:grpSpPr>
        <p:sp>
          <p:nvSpPr>
            <p:cNvPr id="143" name="Freeform 14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44" name="TextBox 14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145" name="Group 145"/>
          <p:cNvGrpSpPr/>
          <p:nvPr/>
        </p:nvGrpSpPr>
        <p:grpSpPr>
          <a:xfrm>
            <a:off x="4914062" y="4988259"/>
            <a:ext cx="1565491" cy="415702"/>
            <a:chOff x="0" y="0"/>
            <a:chExt cx="2087321" cy="554270"/>
          </a:xfrm>
        </p:grpSpPr>
        <p:sp>
          <p:nvSpPr>
            <p:cNvPr id="146" name="Freeform 14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47" name="TextBox 14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148" name="Group 148"/>
          <p:cNvGrpSpPr/>
          <p:nvPr/>
        </p:nvGrpSpPr>
        <p:grpSpPr>
          <a:xfrm>
            <a:off x="6479553" y="4988259"/>
            <a:ext cx="1565491" cy="415702"/>
            <a:chOff x="0" y="0"/>
            <a:chExt cx="2087321" cy="554270"/>
          </a:xfrm>
        </p:grpSpPr>
        <p:sp>
          <p:nvSpPr>
            <p:cNvPr id="149" name="Freeform 14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0" name="TextBox 15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151" name="Group 151"/>
          <p:cNvGrpSpPr/>
          <p:nvPr/>
        </p:nvGrpSpPr>
        <p:grpSpPr>
          <a:xfrm>
            <a:off x="8045044" y="4988259"/>
            <a:ext cx="1565491" cy="415702"/>
            <a:chOff x="0" y="0"/>
            <a:chExt cx="2087321" cy="554270"/>
          </a:xfrm>
        </p:grpSpPr>
        <p:sp>
          <p:nvSpPr>
            <p:cNvPr id="152" name="Freeform 15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3" name="TextBox 15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154" name="Group 154"/>
          <p:cNvGrpSpPr/>
          <p:nvPr/>
        </p:nvGrpSpPr>
        <p:grpSpPr>
          <a:xfrm>
            <a:off x="9610534" y="4988259"/>
            <a:ext cx="1565491" cy="415702"/>
            <a:chOff x="0" y="0"/>
            <a:chExt cx="2087321" cy="554270"/>
          </a:xfrm>
        </p:grpSpPr>
        <p:sp>
          <p:nvSpPr>
            <p:cNvPr id="155" name="Freeform 15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6" name="TextBox 15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157" name="Group 157"/>
          <p:cNvGrpSpPr/>
          <p:nvPr/>
        </p:nvGrpSpPr>
        <p:grpSpPr>
          <a:xfrm>
            <a:off x="11176025" y="4988259"/>
            <a:ext cx="1565491" cy="415702"/>
            <a:chOff x="0" y="0"/>
            <a:chExt cx="2087321" cy="554270"/>
          </a:xfrm>
        </p:grpSpPr>
        <p:sp>
          <p:nvSpPr>
            <p:cNvPr id="158" name="Freeform 15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9" name="TextBox 15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160" name="Group 160"/>
          <p:cNvGrpSpPr/>
          <p:nvPr/>
        </p:nvGrpSpPr>
        <p:grpSpPr>
          <a:xfrm>
            <a:off x="12741516" y="4988259"/>
            <a:ext cx="1565491" cy="415702"/>
            <a:chOff x="0" y="0"/>
            <a:chExt cx="2087321" cy="554270"/>
          </a:xfrm>
        </p:grpSpPr>
        <p:sp>
          <p:nvSpPr>
            <p:cNvPr id="161" name="Freeform 16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2" name="TextBox 16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163" name="Group 163"/>
          <p:cNvGrpSpPr/>
          <p:nvPr/>
        </p:nvGrpSpPr>
        <p:grpSpPr>
          <a:xfrm>
            <a:off x="14307017" y="4988259"/>
            <a:ext cx="1565491" cy="415702"/>
            <a:chOff x="0" y="0"/>
            <a:chExt cx="2087321" cy="554270"/>
          </a:xfrm>
        </p:grpSpPr>
        <p:sp>
          <p:nvSpPr>
            <p:cNvPr id="164" name="Freeform 16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5" name="TextBox 16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166" name="Group 166"/>
          <p:cNvGrpSpPr/>
          <p:nvPr/>
        </p:nvGrpSpPr>
        <p:grpSpPr>
          <a:xfrm>
            <a:off x="15872508" y="4988259"/>
            <a:ext cx="1565491" cy="415702"/>
            <a:chOff x="0" y="0"/>
            <a:chExt cx="2087321" cy="554270"/>
          </a:xfrm>
        </p:grpSpPr>
        <p:sp>
          <p:nvSpPr>
            <p:cNvPr id="167" name="Freeform 16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8" name="TextBox 16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169" name="Group 169"/>
          <p:cNvGrpSpPr/>
          <p:nvPr/>
        </p:nvGrpSpPr>
        <p:grpSpPr>
          <a:xfrm>
            <a:off x="850001" y="5403960"/>
            <a:ext cx="16587997" cy="415701"/>
            <a:chOff x="0" y="0"/>
            <a:chExt cx="22117329" cy="554268"/>
          </a:xfrm>
        </p:grpSpPr>
        <p:sp>
          <p:nvSpPr>
            <p:cNvPr id="170" name="Freeform 17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71" name="Group 171"/>
          <p:cNvGrpSpPr/>
          <p:nvPr/>
        </p:nvGrpSpPr>
        <p:grpSpPr>
          <a:xfrm>
            <a:off x="850001" y="5371982"/>
            <a:ext cx="16587997" cy="47625"/>
            <a:chOff x="0" y="0"/>
            <a:chExt cx="22117329" cy="63500"/>
          </a:xfrm>
        </p:grpSpPr>
        <p:sp>
          <p:nvSpPr>
            <p:cNvPr id="172" name="Freeform 172"/>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173" name="Group 173"/>
          <p:cNvGrpSpPr/>
          <p:nvPr/>
        </p:nvGrpSpPr>
        <p:grpSpPr>
          <a:xfrm>
            <a:off x="1030005" y="5403960"/>
            <a:ext cx="3804056" cy="415702"/>
            <a:chOff x="0" y="0"/>
            <a:chExt cx="5072075" cy="554270"/>
          </a:xfrm>
        </p:grpSpPr>
        <p:sp>
          <p:nvSpPr>
            <p:cNvPr id="174" name="Freeform 174"/>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75" name="TextBox 175"/>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76" name="Group 176"/>
          <p:cNvGrpSpPr/>
          <p:nvPr/>
        </p:nvGrpSpPr>
        <p:grpSpPr>
          <a:xfrm>
            <a:off x="4914062" y="5403960"/>
            <a:ext cx="1565491" cy="415702"/>
            <a:chOff x="0" y="0"/>
            <a:chExt cx="2087321" cy="554270"/>
          </a:xfrm>
        </p:grpSpPr>
        <p:sp>
          <p:nvSpPr>
            <p:cNvPr id="177" name="Freeform 17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78" name="TextBox 17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-12</a:t>
              </a:r>
            </a:p>
          </p:txBody>
        </p:sp>
      </p:grpSp>
      <p:grpSp>
        <p:nvGrpSpPr>
          <p:cNvPr id="179" name="Group 179"/>
          <p:cNvGrpSpPr/>
          <p:nvPr/>
        </p:nvGrpSpPr>
        <p:grpSpPr>
          <a:xfrm>
            <a:off x="6479553" y="5403960"/>
            <a:ext cx="1565491" cy="415702"/>
            <a:chOff x="0" y="0"/>
            <a:chExt cx="2087321" cy="554270"/>
          </a:xfrm>
        </p:grpSpPr>
        <p:sp>
          <p:nvSpPr>
            <p:cNvPr id="180" name="Freeform 18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1" name="TextBox 18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-7</a:t>
              </a:r>
            </a:p>
          </p:txBody>
        </p:sp>
      </p:grpSp>
      <p:grpSp>
        <p:nvGrpSpPr>
          <p:cNvPr id="182" name="Group 182"/>
          <p:cNvGrpSpPr/>
          <p:nvPr/>
        </p:nvGrpSpPr>
        <p:grpSpPr>
          <a:xfrm>
            <a:off x="8045044" y="5403960"/>
            <a:ext cx="1565491" cy="415702"/>
            <a:chOff x="0" y="0"/>
            <a:chExt cx="2087321" cy="554270"/>
          </a:xfrm>
        </p:grpSpPr>
        <p:sp>
          <p:nvSpPr>
            <p:cNvPr id="183" name="Freeform 18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4" name="TextBox 18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-23</a:t>
              </a:r>
            </a:p>
          </p:txBody>
        </p:sp>
      </p:grpSp>
      <p:grpSp>
        <p:nvGrpSpPr>
          <p:cNvPr id="185" name="Group 185"/>
          <p:cNvGrpSpPr/>
          <p:nvPr/>
        </p:nvGrpSpPr>
        <p:grpSpPr>
          <a:xfrm>
            <a:off x="9610534" y="5403960"/>
            <a:ext cx="1565491" cy="415702"/>
            <a:chOff x="0" y="0"/>
            <a:chExt cx="2087321" cy="554270"/>
          </a:xfrm>
        </p:grpSpPr>
        <p:sp>
          <p:nvSpPr>
            <p:cNvPr id="186" name="Freeform 18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7" name="TextBox 18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-17</a:t>
              </a:r>
            </a:p>
          </p:txBody>
        </p:sp>
      </p:grpSp>
      <p:grpSp>
        <p:nvGrpSpPr>
          <p:cNvPr id="188" name="Group 188"/>
          <p:cNvGrpSpPr/>
          <p:nvPr/>
        </p:nvGrpSpPr>
        <p:grpSpPr>
          <a:xfrm>
            <a:off x="11176025" y="5403960"/>
            <a:ext cx="1565491" cy="415702"/>
            <a:chOff x="0" y="0"/>
            <a:chExt cx="2087321" cy="554270"/>
          </a:xfrm>
        </p:grpSpPr>
        <p:sp>
          <p:nvSpPr>
            <p:cNvPr id="189" name="Freeform 18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90" name="TextBox 19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-31</a:t>
              </a:r>
            </a:p>
          </p:txBody>
        </p:sp>
      </p:grpSp>
      <p:grpSp>
        <p:nvGrpSpPr>
          <p:cNvPr id="191" name="Group 191"/>
          <p:cNvGrpSpPr/>
          <p:nvPr/>
        </p:nvGrpSpPr>
        <p:grpSpPr>
          <a:xfrm>
            <a:off x="850001" y="5819662"/>
            <a:ext cx="16587997" cy="415701"/>
            <a:chOff x="0" y="0"/>
            <a:chExt cx="22117329" cy="554268"/>
          </a:xfrm>
        </p:grpSpPr>
        <p:sp>
          <p:nvSpPr>
            <p:cNvPr id="192" name="Freeform 19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93" name="Group 193"/>
          <p:cNvGrpSpPr/>
          <p:nvPr/>
        </p:nvGrpSpPr>
        <p:grpSpPr>
          <a:xfrm>
            <a:off x="850001" y="5819662"/>
            <a:ext cx="16587997" cy="415702"/>
            <a:chOff x="0" y="0"/>
            <a:chExt cx="22117329" cy="554270"/>
          </a:xfrm>
        </p:grpSpPr>
        <p:sp>
          <p:nvSpPr>
            <p:cNvPr id="194" name="Freeform 194"/>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95" name="TextBox 195"/>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III.  AVERAGE DEPOSIT PER CLIENT</a:t>
              </a:r>
            </a:p>
          </p:txBody>
        </p:sp>
      </p:grpSp>
      <p:grpSp>
        <p:nvGrpSpPr>
          <p:cNvPr id="196" name="Group 196"/>
          <p:cNvGrpSpPr/>
          <p:nvPr/>
        </p:nvGrpSpPr>
        <p:grpSpPr>
          <a:xfrm>
            <a:off x="850001" y="6235363"/>
            <a:ext cx="16587997" cy="415701"/>
            <a:chOff x="0" y="0"/>
            <a:chExt cx="22117329" cy="554268"/>
          </a:xfrm>
        </p:grpSpPr>
        <p:sp>
          <p:nvSpPr>
            <p:cNvPr id="197" name="Freeform 19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98" name="Group 198"/>
          <p:cNvGrpSpPr/>
          <p:nvPr/>
        </p:nvGrpSpPr>
        <p:grpSpPr>
          <a:xfrm>
            <a:off x="1030005" y="6235363"/>
            <a:ext cx="3804056" cy="415702"/>
            <a:chOff x="0" y="0"/>
            <a:chExt cx="5072075" cy="554270"/>
          </a:xfrm>
        </p:grpSpPr>
        <p:sp>
          <p:nvSpPr>
            <p:cNvPr id="199" name="Freeform 19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00" name="TextBox 20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Actual / Current</a:t>
              </a:r>
            </a:p>
          </p:txBody>
        </p:sp>
      </p:grpSp>
      <p:grpSp>
        <p:nvGrpSpPr>
          <p:cNvPr id="201" name="Group 201"/>
          <p:cNvGrpSpPr/>
          <p:nvPr/>
        </p:nvGrpSpPr>
        <p:grpSpPr>
          <a:xfrm>
            <a:off x="4914062" y="6235363"/>
            <a:ext cx="1565491" cy="415702"/>
            <a:chOff x="0" y="0"/>
            <a:chExt cx="2087321" cy="554270"/>
          </a:xfrm>
        </p:grpSpPr>
        <p:sp>
          <p:nvSpPr>
            <p:cNvPr id="202" name="Freeform 20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3" name="TextBox 20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$364.82</a:t>
              </a:r>
            </a:p>
          </p:txBody>
        </p:sp>
      </p:grpSp>
      <p:grpSp>
        <p:nvGrpSpPr>
          <p:cNvPr id="204" name="Group 204"/>
          <p:cNvGrpSpPr/>
          <p:nvPr/>
        </p:nvGrpSpPr>
        <p:grpSpPr>
          <a:xfrm>
            <a:off x="6479553" y="6235363"/>
            <a:ext cx="1565491" cy="415702"/>
            <a:chOff x="0" y="0"/>
            <a:chExt cx="2087321" cy="554270"/>
          </a:xfrm>
        </p:grpSpPr>
        <p:sp>
          <p:nvSpPr>
            <p:cNvPr id="205" name="Freeform 20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6" name="TextBox 20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$329.46</a:t>
              </a:r>
            </a:p>
          </p:txBody>
        </p:sp>
      </p:grpSp>
      <p:grpSp>
        <p:nvGrpSpPr>
          <p:cNvPr id="207" name="Group 207"/>
          <p:cNvGrpSpPr/>
          <p:nvPr/>
        </p:nvGrpSpPr>
        <p:grpSpPr>
          <a:xfrm>
            <a:off x="8045044" y="6235363"/>
            <a:ext cx="1565491" cy="415702"/>
            <a:chOff x="0" y="0"/>
            <a:chExt cx="2087321" cy="554270"/>
          </a:xfrm>
        </p:grpSpPr>
        <p:sp>
          <p:nvSpPr>
            <p:cNvPr id="208" name="Freeform 20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9" name="TextBox 20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$261.42</a:t>
              </a:r>
            </a:p>
          </p:txBody>
        </p:sp>
      </p:grpSp>
      <p:grpSp>
        <p:nvGrpSpPr>
          <p:cNvPr id="210" name="Group 210"/>
          <p:cNvGrpSpPr/>
          <p:nvPr/>
        </p:nvGrpSpPr>
        <p:grpSpPr>
          <a:xfrm>
            <a:off x="9610534" y="6235363"/>
            <a:ext cx="1565491" cy="415702"/>
            <a:chOff x="0" y="0"/>
            <a:chExt cx="2087321" cy="554270"/>
          </a:xfrm>
        </p:grpSpPr>
        <p:sp>
          <p:nvSpPr>
            <p:cNvPr id="211" name="Freeform 21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2" name="TextBox 21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$212.84</a:t>
              </a:r>
            </a:p>
          </p:txBody>
        </p:sp>
      </p:grpSp>
      <p:grpSp>
        <p:nvGrpSpPr>
          <p:cNvPr id="213" name="Group 213"/>
          <p:cNvGrpSpPr/>
          <p:nvPr/>
        </p:nvGrpSpPr>
        <p:grpSpPr>
          <a:xfrm>
            <a:off x="11176025" y="6235363"/>
            <a:ext cx="1565491" cy="415702"/>
            <a:chOff x="0" y="0"/>
            <a:chExt cx="2087321" cy="554270"/>
          </a:xfrm>
        </p:grpSpPr>
        <p:sp>
          <p:nvSpPr>
            <p:cNvPr id="214" name="Freeform 21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5" name="TextBox 21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$200.10</a:t>
              </a:r>
            </a:p>
          </p:txBody>
        </p:sp>
      </p:grpSp>
      <p:grpSp>
        <p:nvGrpSpPr>
          <p:cNvPr id="216" name="Group 216"/>
          <p:cNvGrpSpPr/>
          <p:nvPr/>
        </p:nvGrpSpPr>
        <p:grpSpPr>
          <a:xfrm>
            <a:off x="850001" y="6651064"/>
            <a:ext cx="16587997" cy="415701"/>
            <a:chOff x="0" y="0"/>
            <a:chExt cx="22117329" cy="554268"/>
          </a:xfrm>
        </p:grpSpPr>
        <p:sp>
          <p:nvSpPr>
            <p:cNvPr id="217" name="Freeform 21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18" name="Group 218"/>
          <p:cNvGrpSpPr/>
          <p:nvPr/>
        </p:nvGrpSpPr>
        <p:grpSpPr>
          <a:xfrm>
            <a:off x="1030005" y="6651064"/>
            <a:ext cx="3804056" cy="415702"/>
            <a:chOff x="0" y="0"/>
            <a:chExt cx="5072075" cy="554270"/>
          </a:xfrm>
        </p:grpSpPr>
        <p:sp>
          <p:nvSpPr>
            <p:cNvPr id="219" name="Freeform 21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20" name="TextBox 22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21" name="Group 221"/>
          <p:cNvGrpSpPr/>
          <p:nvPr/>
        </p:nvGrpSpPr>
        <p:grpSpPr>
          <a:xfrm>
            <a:off x="4914062" y="6651064"/>
            <a:ext cx="1565491" cy="415702"/>
            <a:chOff x="0" y="0"/>
            <a:chExt cx="2087321" cy="554270"/>
          </a:xfrm>
        </p:grpSpPr>
        <p:sp>
          <p:nvSpPr>
            <p:cNvPr id="222" name="Freeform 22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3" name="TextBox 22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$5,000</a:t>
              </a:r>
            </a:p>
          </p:txBody>
        </p:sp>
      </p:grpSp>
      <p:grpSp>
        <p:nvGrpSpPr>
          <p:cNvPr id="224" name="Group 224"/>
          <p:cNvGrpSpPr/>
          <p:nvPr/>
        </p:nvGrpSpPr>
        <p:grpSpPr>
          <a:xfrm>
            <a:off x="6479553" y="6651064"/>
            <a:ext cx="1565491" cy="415702"/>
            <a:chOff x="0" y="0"/>
            <a:chExt cx="2087321" cy="554270"/>
          </a:xfrm>
        </p:grpSpPr>
        <p:sp>
          <p:nvSpPr>
            <p:cNvPr id="225" name="Freeform 22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6" name="TextBox 22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$5,250</a:t>
              </a:r>
            </a:p>
          </p:txBody>
        </p:sp>
      </p:grpSp>
      <p:grpSp>
        <p:nvGrpSpPr>
          <p:cNvPr id="227" name="Group 227"/>
          <p:cNvGrpSpPr/>
          <p:nvPr/>
        </p:nvGrpSpPr>
        <p:grpSpPr>
          <a:xfrm>
            <a:off x="8045044" y="6651064"/>
            <a:ext cx="1565491" cy="415702"/>
            <a:chOff x="0" y="0"/>
            <a:chExt cx="2087321" cy="554270"/>
          </a:xfrm>
        </p:grpSpPr>
        <p:sp>
          <p:nvSpPr>
            <p:cNvPr id="228" name="Freeform 22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9" name="TextBox 22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$5,513</a:t>
              </a:r>
            </a:p>
          </p:txBody>
        </p:sp>
      </p:grpSp>
      <p:grpSp>
        <p:nvGrpSpPr>
          <p:cNvPr id="230" name="Group 230"/>
          <p:cNvGrpSpPr/>
          <p:nvPr/>
        </p:nvGrpSpPr>
        <p:grpSpPr>
          <a:xfrm>
            <a:off x="9610534" y="6651064"/>
            <a:ext cx="1565491" cy="415702"/>
            <a:chOff x="0" y="0"/>
            <a:chExt cx="2087321" cy="554270"/>
          </a:xfrm>
        </p:grpSpPr>
        <p:sp>
          <p:nvSpPr>
            <p:cNvPr id="231" name="Freeform 23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2" name="TextBox 23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$5,788</a:t>
              </a:r>
            </a:p>
          </p:txBody>
        </p:sp>
      </p:grpSp>
      <p:grpSp>
        <p:nvGrpSpPr>
          <p:cNvPr id="233" name="Group 233"/>
          <p:cNvGrpSpPr/>
          <p:nvPr/>
        </p:nvGrpSpPr>
        <p:grpSpPr>
          <a:xfrm>
            <a:off x="11176025" y="6651064"/>
            <a:ext cx="1565491" cy="415702"/>
            <a:chOff x="0" y="0"/>
            <a:chExt cx="2087321" cy="554270"/>
          </a:xfrm>
        </p:grpSpPr>
        <p:sp>
          <p:nvSpPr>
            <p:cNvPr id="234" name="Freeform 23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5" name="TextBox 23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$6,078</a:t>
              </a:r>
            </a:p>
          </p:txBody>
        </p:sp>
      </p:grpSp>
      <p:grpSp>
        <p:nvGrpSpPr>
          <p:cNvPr id="236" name="Group 236"/>
          <p:cNvGrpSpPr/>
          <p:nvPr/>
        </p:nvGrpSpPr>
        <p:grpSpPr>
          <a:xfrm>
            <a:off x="12741516" y="6651064"/>
            <a:ext cx="1565491" cy="415702"/>
            <a:chOff x="0" y="0"/>
            <a:chExt cx="2087321" cy="554270"/>
          </a:xfrm>
        </p:grpSpPr>
        <p:sp>
          <p:nvSpPr>
            <p:cNvPr id="237" name="Freeform 23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8" name="TextBox 23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$6,381</a:t>
              </a:r>
            </a:p>
          </p:txBody>
        </p:sp>
      </p:grpSp>
      <p:grpSp>
        <p:nvGrpSpPr>
          <p:cNvPr id="239" name="Group 239"/>
          <p:cNvGrpSpPr/>
          <p:nvPr/>
        </p:nvGrpSpPr>
        <p:grpSpPr>
          <a:xfrm>
            <a:off x="14307017" y="6651064"/>
            <a:ext cx="1565491" cy="415702"/>
            <a:chOff x="0" y="0"/>
            <a:chExt cx="2087321" cy="554270"/>
          </a:xfrm>
        </p:grpSpPr>
        <p:sp>
          <p:nvSpPr>
            <p:cNvPr id="240" name="Freeform 24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1" name="TextBox 24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$6,700</a:t>
              </a:r>
            </a:p>
          </p:txBody>
        </p:sp>
      </p:grpSp>
      <p:grpSp>
        <p:nvGrpSpPr>
          <p:cNvPr id="242" name="Group 242"/>
          <p:cNvGrpSpPr/>
          <p:nvPr/>
        </p:nvGrpSpPr>
        <p:grpSpPr>
          <a:xfrm>
            <a:off x="15872508" y="6651064"/>
            <a:ext cx="1565491" cy="415702"/>
            <a:chOff x="0" y="0"/>
            <a:chExt cx="2087321" cy="554270"/>
          </a:xfrm>
        </p:grpSpPr>
        <p:sp>
          <p:nvSpPr>
            <p:cNvPr id="243" name="Freeform 24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4" name="TextBox 24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$7,036</a:t>
              </a:r>
            </a:p>
          </p:txBody>
        </p:sp>
      </p:grpSp>
      <p:grpSp>
        <p:nvGrpSpPr>
          <p:cNvPr id="245" name="Group 245"/>
          <p:cNvGrpSpPr/>
          <p:nvPr/>
        </p:nvGrpSpPr>
        <p:grpSpPr>
          <a:xfrm>
            <a:off x="850001" y="7066765"/>
            <a:ext cx="16587997" cy="415701"/>
            <a:chOff x="0" y="0"/>
            <a:chExt cx="22117329" cy="554268"/>
          </a:xfrm>
        </p:grpSpPr>
        <p:sp>
          <p:nvSpPr>
            <p:cNvPr id="246" name="Freeform 24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47" name="Group 247"/>
          <p:cNvGrpSpPr/>
          <p:nvPr/>
        </p:nvGrpSpPr>
        <p:grpSpPr>
          <a:xfrm>
            <a:off x="850001" y="7034787"/>
            <a:ext cx="16587997" cy="47625"/>
            <a:chOff x="0" y="0"/>
            <a:chExt cx="22117329" cy="63500"/>
          </a:xfrm>
        </p:grpSpPr>
        <p:sp>
          <p:nvSpPr>
            <p:cNvPr id="248" name="Freeform 248"/>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249" name="Group 249"/>
          <p:cNvGrpSpPr/>
          <p:nvPr/>
        </p:nvGrpSpPr>
        <p:grpSpPr>
          <a:xfrm>
            <a:off x="1030005" y="7066765"/>
            <a:ext cx="3804056" cy="415702"/>
            <a:chOff x="0" y="0"/>
            <a:chExt cx="5072075" cy="554270"/>
          </a:xfrm>
        </p:grpSpPr>
        <p:sp>
          <p:nvSpPr>
            <p:cNvPr id="250" name="Freeform 250"/>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51" name="TextBox 251"/>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252" name="Group 252"/>
          <p:cNvGrpSpPr/>
          <p:nvPr/>
        </p:nvGrpSpPr>
        <p:grpSpPr>
          <a:xfrm>
            <a:off x="4914062" y="7066765"/>
            <a:ext cx="1565491" cy="415702"/>
            <a:chOff x="0" y="0"/>
            <a:chExt cx="2087321" cy="554270"/>
          </a:xfrm>
        </p:grpSpPr>
        <p:sp>
          <p:nvSpPr>
            <p:cNvPr id="253" name="Freeform 2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4" name="TextBox 25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-$4,635.18</a:t>
              </a:r>
            </a:p>
          </p:txBody>
        </p:sp>
      </p:grpSp>
      <p:grpSp>
        <p:nvGrpSpPr>
          <p:cNvPr id="255" name="Group 255"/>
          <p:cNvGrpSpPr/>
          <p:nvPr/>
        </p:nvGrpSpPr>
        <p:grpSpPr>
          <a:xfrm>
            <a:off x="6479553" y="7066765"/>
            <a:ext cx="1565491" cy="415702"/>
            <a:chOff x="0" y="0"/>
            <a:chExt cx="2087321" cy="554270"/>
          </a:xfrm>
        </p:grpSpPr>
        <p:sp>
          <p:nvSpPr>
            <p:cNvPr id="256" name="Freeform 2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7" name="TextBox 25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-$4,920.54</a:t>
              </a:r>
            </a:p>
          </p:txBody>
        </p:sp>
      </p:grpSp>
      <p:grpSp>
        <p:nvGrpSpPr>
          <p:cNvPr id="258" name="Group 258"/>
          <p:cNvGrpSpPr/>
          <p:nvPr/>
        </p:nvGrpSpPr>
        <p:grpSpPr>
          <a:xfrm>
            <a:off x="8045044" y="7066765"/>
            <a:ext cx="1565491" cy="415702"/>
            <a:chOff x="0" y="0"/>
            <a:chExt cx="2087321" cy="554270"/>
          </a:xfrm>
        </p:grpSpPr>
        <p:sp>
          <p:nvSpPr>
            <p:cNvPr id="259" name="Freeform 2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0" name="TextBox 26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-$5,251.58</a:t>
              </a:r>
            </a:p>
          </p:txBody>
        </p:sp>
      </p:grpSp>
      <p:grpSp>
        <p:nvGrpSpPr>
          <p:cNvPr id="261" name="Group 261"/>
          <p:cNvGrpSpPr/>
          <p:nvPr/>
        </p:nvGrpSpPr>
        <p:grpSpPr>
          <a:xfrm>
            <a:off x="9610534" y="7066765"/>
            <a:ext cx="1565491" cy="415702"/>
            <a:chOff x="0" y="0"/>
            <a:chExt cx="2087321" cy="554270"/>
          </a:xfrm>
        </p:grpSpPr>
        <p:sp>
          <p:nvSpPr>
            <p:cNvPr id="262" name="Freeform 2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3" name="TextBox 26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-$5,575.16</a:t>
              </a:r>
            </a:p>
          </p:txBody>
        </p:sp>
      </p:grpSp>
      <p:grpSp>
        <p:nvGrpSpPr>
          <p:cNvPr id="264" name="Group 264"/>
          <p:cNvGrpSpPr/>
          <p:nvPr/>
        </p:nvGrpSpPr>
        <p:grpSpPr>
          <a:xfrm>
            <a:off x="11176025" y="7066765"/>
            <a:ext cx="1565491" cy="415702"/>
            <a:chOff x="0" y="0"/>
            <a:chExt cx="2087321" cy="554270"/>
          </a:xfrm>
        </p:grpSpPr>
        <p:sp>
          <p:nvSpPr>
            <p:cNvPr id="265" name="Freeform 26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6" name="TextBox 26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-$5,877.90</a:t>
              </a:r>
            </a:p>
          </p:txBody>
        </p:sp>
      </p:grpSp>
      <p:grpSp>
        <p:nvGrpSpPr>
          <p:cNvPr id="267" name="Group 267"/>
          <p:cNvGrpSpPr/>
          <p:nvPr/>
        </p:nvGrpSpPr>
        <p:grpSpPr>
          <a:xfrm>
            <a:off x="850001" y="7482466"/>
            <a:ext cx="16587997" cy="415701"/>
            <a:chOff x="0" y="0"/>
            <a:chExt cx="22117329" cy="554268"/>
          </a:xfrm>
        </p:grpSpPr>
        <p:sp>
          <p:nvSpPr>
            <p:cNvPr id="268" name="Freeform 268"/>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269" name="Group 269"/>
          <p:cNvGrpSpPr/>
          <p:nvPr/>
        </p:nvGrpSpPr>
        <p:grpSpPr>
          <a:xfrm>
            <a:off x="850001" y="7482466"/>
            <a:ext cx="16587997" cy="415702"/>
            <a:chOff x="0" y="0"/>
            <a:chExt cx="22117329" cy="554270"/>
          </a:xfrm>
        </p:grpSpPr>
        <p:sp>
          <p:nvSpPr>
            <p:cNvPr id="270" name="Freeform 270"/>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271" name="TextBox 271"/>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IV.  TOTAL DEPOSITS, CUMULATIVE</a:t>
              </a:r>
            </a:p>
          </p:txBody>
        </p:sp>
      </p:grpSp>
      <p:grpSp>
        <p:nvGrpSpPr>
          <p:cNvPr id="272" name="Group 272"/>
          <p:cNvGrpSpPr/>
          <p:nvPr/>
        </p:nvGrpSpPr>
        <p:grpSpPr>
          <a:xfrm>
            <a:off x="850001" y="7898178"/>
            <a:ext cx="16587997" cy="415701"/>
            <a:chOff x="0" y="0"/>
            <a:chExt cx="22117329" cy="554268"/>
          </a:xfrm>
        </p:grpSpPr>
        <p:sp>
          <p:nvSpPr>
            <p:cNvPr id="273" name="Freeform 27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74" name="Group 274"/>
          <p:cNvGrpSpPr/>
          <p:nvPr/>
        </p:nvGrpSpPr>
        <p:grpSpPr>
          <a:xfrm>
            <a:off x="1030005" y="7898178"/>
            <a:ext cx="3804056" cy="415702"/>
            <a:chOff x="0" y="0"/>
            <a:chExt cx="5072075" cy="554270"/>
          </a:xfrm>
        </p:grpSpPr>
        <p:sp>
          <p:nvSpPr>
            <p:cNvPr id="275" name="Freeform 27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76" name="TextBox 27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277" name="Group 277"/>
          <p:cNvGrpSpPr/>
          <p:nvPr/>
        </p:nvGrpSpPr>
        <p:grpSpPr>
          <a:xfrm>
            <a:off x="4914062" y="7898178"/>
            <a:ext cx="1565491" cy="415702"/>
            <a:chOff x="0" y="0"/>
            <a:chExt cx="2087321" cy="554270"/>
          </a:xfrm>
        </p:grpSpPr>
        <p:sp>
          <p:nvSpPr>
            <p:cNvPr id="278" name="Freeform 27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79" name="TextBox 27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$4,012.99</a:t>
              </a:r>
            </a:p>
          </p:txBody>
        </p:sp>
      </p:grpSp>
      <p:grpSp>
        <p:nvGrpSpPr>
          <p:cNvPr id="280" name="Group 280"/>
          <p:cNvGrpSpPr/>
          <p:nvPr/>
        </p:nvGrpSpPr>
        <p:grpSpPr>
          <a:xfrm>
            <a:off x="6479553" y="7898178"/>
            <a:ext cx="1565491" cy="415702"/>
            <a:chOff x="0" y="0"/>
            <a:chExt cx="2087321" cy="554270"/>
          </a:xfrm>
        </p:grpSpPr>
        <p:sp>
          <p:nvSpPr>
            <p:cNvPr id="281" name="Freeform 28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2" name="TextBox 28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$7,907.15</a:t>
              </a:r>
            </a:p>
          </p:txBody>
        </p:sp>
      </p:grpSp>
      <p:grpSp>
        <p:nvGrpSpPr>
          <p:cNvPr id="283" name="Group 283"/>
          <p:cNvGrpSpPr/>
          <p:nvPr/>
        </p:nvGrpSpPr>
        <p:grpSpPr>
          <a:xfrm>
            <a:off x="8045044" y="7898178"/>
            <a:ext cx="1565491" cy="415702"/>
            <a:chOff x="0" y="0"/>
            <a:chExt cx="2087321" cy="554270"/>
          </a:xfrm>
        </p:grpSpPr>
        <p:sp>
          <p:nvSpPr>
            <p:cNvPr id="284" name="Freeform 28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5" name="TextBox 28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$8,626.91</a:t>
              </a:r>
            </a:p>
          </p:txBody>
        </p:sp>
      </p:grpSp>
      <p:grpSp>
        <p:nvGrpSpPr>
          <p:cNvPr id="286" name="Group 286"/>
          <p:cNvGrpSpPr/>
          <p:nvPr/>
        </p:nvGrpSpPr>
        <p:grpSpPr>
          <a:xfrm>
            <a:off x="9610534" y="7898178"/>
            <a:ext cx="1565491" cy="415702"/>
            <a:chOff x="0" y="0"/>
            <a:chExt cx="2087321" cy="554270"/>
          </a:xfrm>
        </p:grpSpPr>
        <p:sp>
          <p:nvSpPr>
            <p:cNvPr id="287" name="Freeform 28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8" name="TextBox 28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$10,003.60</a:t>
              </a:r>
            </a:p>
          </p:txBody>
        </p:sp>
      </p:grpSp>
      <p:grpSp>
        <p:nvGrpSpPr>
          <p:cNvPr id="289" name="Group 289"/>
          <p:cNvGrpSpPr/>
          <p:nvPr/>
        </p:nvGrpSpPr>
        <p:grpSpPr>
          <a:xfrm>
            <a:off x="11176025" y="7898178"/>
            <a:ext cx="1565491" cy="415702"/>
            <a:chOff x="0" y="0"/>
            <a:chExt cx="2087321" cy="554270"/>
          </a:xfrm>
        </p:grpSpPr>
        <p:sp>
          <p:nvSpPr>
            <p:cNvPr id="290" name="Freeform 29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1" name="TextBox 29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$12,206.00</a:t>
              </a:r>
            </a:p>
          </p:txBody>
        </p:sp>
      </p:grpSp>
      <p:grpSp>
        <p:nvGrpSpPr>
          <p:cNvPr id="292" name="Group 292"/>
          <p:cNvGrpSpPr/>
          <p:nvPr/>
        </p:nvGrpSpPr>
        <p:grpSpPr>
          <a:xfrm>
            <a:off x="850001" y="8313880"/>
            <a:ext cx="16587997" cy="415701"/>
            <a:chOff x="0" y="0"/>
            <a:chExt cx="22117329" cy="554268"/>
          </a:xfrm>
        </p:grpSpPr>
        <p:sp>
          <p:nvSpPr>
            <p:cNvPr id="293" name="Freeform 29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94" name="Group 294"/>
          <p:cNvGrpSpPr/>
          <p:nvPr/>
        </p:nvGrpSpPr>
        <p:grpSpPr>
          <a:xfrm>
            <a:off x="1030005" y="8313880"/>
            <a:ext cx="3804056" cy="415702"/>
            <a:chOff x="0" y="0"/>
            <a:chExt cx="5072075" cy="554270"/>
          </a:xfrm>
        </p:grpSpPr>
        <p:sp>
          <p:nvSpPr>
            <p:cNvPr id="295" name="Freeform 29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96" name="TextBox 29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97" name="Group 297"/>
          <p:cNvGrpSpPr/>
          <p:nvPr/>
        </p:nvGrpSpPr>
        <p:grpSpPr>
          <a:xfrm>
            <a:off x="4914062" y="8313880"/>
            <a:ext cx="1565491" cy="415702"/>
            <a:chOff x="0" y="0"/>
            <a:chExt cx="2087321" cy="554270"/>
          </a:xfrm>
        </p:grpSpPr>
        <p:sp>
          <p:nvSpPr>
            <p:cNvPr id="298" name="Freeform 29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9" name="TextBox 29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$100,000</a:t>
              </a:r>
            </a:p>
          </p:txBody>
        </p:sp>
      </p:grpSp>
      <p:grpSp>
        <p:nvGrpSpPr>
          <p:cNvPr id="300" name="Group 300"/>
          <p:cNvGrpSpPr/>
          <p:nvPr/>
        </p:nvGrpSpPr>
        <p:grpSpPr>
          <a:xfrm>
            <a:off x="6479553" y="8313880"/>
            <a:ext cx="1565491" cy="415702"/>
            <a:chOff x="0" y="0"/>
            <a:chExt cx="2087321" cy="554270"/>
          </a:xfrm>
        </p:grpSpPr>
        <p:sp>
          <p:nvSpPr>
            <p:cNvPr id="301" name="Freeform 3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2" name="TextBox 30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$123,900</a:t>
              </a:r>
            </a:p>
          </p:txBody>
        </p:sp>
      </p:grpSp>
      <p:grpSp>
        <p:nvGrpSpPr>
          <p:cNvPr id="303" name="Group 303"/>
          <p:cNvGrpSpPr/>
          <p:nvPr/>
        </p:nvGrpSpPr>
        <p:grpSpPr>
          <a:xfrm>
            <a:off x="8045044" y="8313880"/>
            <a:ext cx="1565491" cy="415702"/>
            <a:chOff x="0" y="0"/>
            <a:chExt cx="2087321" cy="554270"/>
          </a:xfrm>
        </p:grpSpPr>
        <p:sp>
          <p:nvSpPr>
            <p:cNvPr id="304" name="Freeform 3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5" name="TextBox 30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$153,512</a:t>
              </a:r>
            </a:p>
          </p:txBody>
        </p:sp>
      </p:grpSp>
      <p:grpSp>
        <p:nvGrpSpPr>
          <p:cNvPr id="306" name="Group 306"/>
          <p:cNvGrpSpPr/>
          <p:nvPr/>
        </p:nvGrpSpPr>
        <p:grpSpPr>
          <a:xfrm>
            <a:off x="9610534" y="8313880"/>
            <a:ext cx="1565491" cy="415702"/>
            <a:chOff x="0" y="0"/>
            <a:chExt cx="2087321" cy="554270"/>
          </a:xfrm>
        </p:grpSpPr>
        <p:sp>
          <p:nvSpPr>
            <p:cNvPr id="307" name="Freeform 3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8" name="TextBox 30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$190,201</a:t>
              </a:r>
            </a:p>
          </p:txBody>
        </p:sp>
      </p:grpSp>
      <p:grpSp>
        <p:nvGrpSpPr>
          <p:cNvPr id="309" name="Group 309"/>
          <p:cNvGrpSpPr/>
          <p:nvPr/>
        </p:nvGrpSpPr>
        <p:grpSpPr>
          <a:xfrm>
            <a:off x="11176025" y="8313880"/>
            <a:ext cx="1565491" cy="415702"/>
            <a:chOff x="0" y="0"/>
            <a:chExt cx="2087321" cy="554270"/>
          </a:xfrm>
        </p:grpSpPr>
        <p:sp>
          <p:nvSpPr>
            <p:cNvPr id="310" name="Freeform 3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1" name="TextBox 31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$235,660</a:t>
              </a:r>
            </a:p>
          </p:txBody>
        </p:sp>
      </p:grpSp>
      <p:grpSp>
        <p:nvGrpSpPr>
          <p:cNvPr id="312" name="Group 312"/>
          <p:cNvGrpSpPr/>
          <p:nvPr/>
        </p:nvGrpSpPr>
        <p:grpSpPr>
          <a:xfrm>
            <a:off x="12741516" y="8313880"/>
            <a:ext cx="1565491" cy="415702"/>
            <a:chOff x="0" y="0"/>
            <a:chExt cx="2087321" cy="554270"/>
          </a:xfrm>
        </p:grpSpPr>
        <p:sp>
          <p:nvSpPr>
            <p:cNvPr id="313" name="Freeform 3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4" name="TextBox 31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$291,982</a:t>
              </a:r>
            </a:p>
          </p:txBody>
        </p:sp>
      </p:grpSp>
      <p:grpSp>
        <p:nvGrpSpPr>
          <p:cNvPr id="315" name="Group 315"/>
          <p:cNvGrpSpPr/>
          <p:nvPr/>
        </p:nvGrpSpPr>
        <p:grpSpPr>
          <a:xfrm>
            <a:off x="14307017" y="8313880"/>
            <a:ext cx="1565491" cy="415702"/>
            <a:chOff x="0" y="0"/>
            <a:chExt cx="2087321" cy="554270"/>
          </a:xfrm>
        </p:grpSpPr>
        <p:sp>
          <p:nvSpPr>
            <p:cNvPr id="316" name="Freeform 31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7" name="TextBox 31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$361,766</a:t>
              </a:r>
            </a:p>
          </p:txBody>
        </p:sp>
      </p:grpSp>
      <p:grpSp>
        <p:nvGrpSpPr>
          <p:cNvPr id="318" name="Group 318"/>
          <p:cNvGrpSpPr/>
          <p:nvPr/>
        </p:nvGrpSpPr>
        <p:grpSpPr>
          <a:xfrm>
            <a:off x="15872508" y="8313880"/>
            <a:ext cx="1565491" cy="415702"/>
            <a:chOff x="0" y="0"/>
            <a:chExt cx="2087321" cy="554270"/>
          </a:xfrm>
        </p:grpSpPr>
        <p:sp>
          <p:nvSpPr>
            <p:cNvPr id="319" name="Freeform 31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20" name="TextBox 32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$448,228</a:t>
              </a:r>
            </a:p>
          </p:txBody>
        </p:sp>
      </p:grpSp>
      <p:grpSp>
        <p:nvGrpSpPr>
          <p:cNvPr id="321" name="Group 321"/>
          <p:cNvGrpSpPr/>
          <p:nvPr/>
        </p:nvGrpSpPr>
        <p:grpSpPr>
          <a:xfrm>
            <a:off x="850001" y="8729581"/>
            <a:ext cx="16587997" cy="415701"/>
            <a:chOff x="0" y="0"/>
            <a:chExt cx="22117329" cy="554268"/>
          </a:xfrm>
        </p:grpSpPr>
        <p:sp>
          <p:nvSpPr>
            <p:cNvPr id="322" name="Freeform 32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323" name="Group 323"/>
          <p:cNvGrpSpPr/>
          <p:nvPr/>
        </p:nvGrpSpPr>
        <p:grpSpPr>
          <a:xfrm>
            <a:off x="850001" y="8697602"/>
            <a:ext cx="16587997" cy="47625"/>
            <a:chOff x="0" y="0"/>
            <a:chExt cx="22117329" cy="63500"/>
          </a:xfrm>
        </p:grpSpPr>
        <p:sp>
          <p:nvSpPr>
            <p:cNvPr id="324" name="Freeform 32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325" name="Group 325"/>
          <p:cNvGrpSpPr/>
          <p:nvPr/>
        </p:nvGrpSpPr>
        <p:grpSpPr>
          <a:xfrm>
            <a:off x="1030005" y="8729581"/>
            <a:ext cx="3804056" cy="415702"/>
            <a:chOff x="0" y="0"/>
            <a:chExt cx="5072075" cy="554270"/>
          </a:xfrm>
        </p:grpSpPr>
        <p:sp>
          <p:nvSpPr>
            <p:cNvPr id="326" name="Freeform 326"/>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327" name="TextBox 327"/>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328" name="Group 328"/>
          <p:cNvGrpSpPr/>
          <p:nvPr/>
        </p:nvGrpSpPr>
        <p:grpSpPr>
          <a:xfrm>
            <a:off x="4914062" y="8729581"/>
            <a:ext cx="1565491" cy="415702"/>
            <a:chOff x="0" y="0"/>
            <a:chExt cx="2087321" cy="554270"/>
          </a:xfrm>
        </p:grpSpPr>
        <p:sp>
          <p:nvSpPr>
            <p:cNvPr id="329" name="Freeform 3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0" name="TextBox 33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-$95,987.01</a:t>
              </a:r>
            </a:p>
          </p:txBody>
        </p:sp>
      </p:grpSp>
      <p:grpSp>
        <p:nvGrpSpPr>
          <p:cNvPr id="331" name="Group 331"/>
          <p:cNvGrpSpPr/>
          <p:nvPr/>
        </p:nvGrpSpPr>
        <p:grpSpPr>
          <a:xfrm>
            <a:off x="6479553" y="8729581"/>
            <a:ext cx="1565491" cy="415702"/>
            <a:chOff x="0" y="0"/>
            <a:chExt cx="2087321" cy="554270"/>
          </a:xfrm>
        </p:grpSpPr>
        <p:sp>
          <p:nvSpPr>
            <p:cNvPr id="332" name="Freeform 3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3" name="TextBox 33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-$115,992.85</a:t>
              </a:r>
            </a:p>
          </p:txBody>
        </p:sp>
      </p:grpSp>
      <p:grpSp>
        <p:nvGrpSpPr>
          <p:cNvPr id="334" name="Group 334"/>
          <p:cNvGrpSpPr/>
          <p:nvPr/>
        </p:nvGrpSpPr>
        <p:grpSpPr>
          <a:xfrm>
            <a:off x="8045044" y="8729581"/>
            <a:ext cx="1565491" cy="415702"/>
            <a:chOff x="0" y="0"/>
            <a:chExt cx="2087321" cy="554270"/>
          </a:xfrm>
        </p:grpSpPr>
        <p:sp>
          <p:nvSpPr>
            <p:cNvPr id="335" name="Freeform 3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6" name="TextBox 33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-$144,885.19</a:t>
              </a:r>
            </a:p>
          </p:txBody>
        </p:sp>
      </p:grpSp>
      <p:grpSp>
        <p:nvGrpSpPr>
          <p:cNvPr id="337" name="Group 337"/>
          <p:cNvGrpSpPr/>
          <p:nvPr/>
        </p:nvGrpSpPr>
        <p:grpSpPr>
          <a:xfrm>
            <a:off x="9610534" y="8729581"/>
            <a:ext cx="1565491" cy="415702"/>
            <a:chOff x="0" y="0"/>
            <a:chExt cx="2087321" cy="554270"/>
          </a:xfrm>
        </p:grpSpPr>
        <p:sp>
          <p:nvSpPr>
            <p:cNvPr id="338" name="Freeform 3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9" name="TextBox 339"/>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-$180,197.89</a:t>
              </a:r>
            </a:p>
          </p:txBody>
        </p:sp>
      </p:grpSp>
      <p:grpSp>
        <p:nvGrpSpPr>
          <p:cNvPr id="340" name="Group 340"/>
          <p:cNvGrpSpPr/>
          <p:nvPr/>
        </p:nvGrpSpPr>
        <p:grpSpPr>
          <a:xfrm>
            <a:off x="11176025" y="8729581"/>
            <a:ext cx="1565491" cy="415702"/>
            <a:chOff x="0" y="0"/>
            <a:chExt cx="2087321" cy="554270"/>
          </a:xfrm>
        </p:grpSpPr>
        <p:sp>
          <p:nvSpPr>
            <p:cNvPr id="341" name="Freeform 34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42" name="TextBox 34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-$223,454.00</a:t>
              </a:r>
            </a:p>
          </p:txBody>
        </p:sp>
      </p:grpSp>
      <p:grpSp>
        <p:nvGrpSpPr>
          <p:cNvPr id="343" name="Group 343"/>
          <p:cNvGrpSpPr/>
          <p:nvPr/>
        </p:nvGrpSpPr>
        <p:grpSpPr>
          <a:xfrm>
            <a:off x="850001" y="9115539"/>
            <a:ext cx="16587997" cy="47625"/>
            <a:chOff x="0" y="0"/>
            <a:chExt cx="22117329" cy="63500"/>
          </a:xfrm>
        </p:grpSpPr>
        <p:sp>
          <p:nvSpPr>
            <p:cNvPr id="344" name="Freeform 34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132257"/>
            </a:solid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IT 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5" name="Group 5"/>
          <p:cNvGrpSpPr/>
          <p:nvPr/>
        </p:nvGrpSpPr>
        <p:grpSpPr>
          <a:xfrm>
            <a:off x="470535" y="648843"/>
            <a:ext cx="115062" cy="732282"/>
            <a:chOff x="0" y="0"/>
            <a:chExt cx="153416" cy="976376"/>
          </a:xfrm>
        </p:grpSpPr>
        <p:sp>
          <p:nvSpPr>
            <p:cNvPr id="6" name="Freeform 6"/>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10" name="Group 10"/>
          <p:cNvGrpSpPr/>
          <p:nvPr/>
        </p:nvGrpSpPr>
        <p:grpSpPr>
          <a:xfrm>
            <a:off x="630555" y="1769832"/>
            <a:ext cx="17026890" cy="1656177"/>
            <a:chOff x="0" y="0"/>
            <a:chExt cx="22702520" cy="2208236"/>
          </a:xfrm>
        </p:grpSpPr>
        <p:grpSp>
          <p:nvGrpSpPr>
            <p:cNvPr id="11" name="Group 11"/>
            <p:cNvGrpSpPr/>
            <p:nvPr/>
          </p:nvGrpSpPr>
          <p:grpSpPr>
            <a:xfrm>
              <a:off x="0" y="0"/>
              <a:ext cx="22702520" cy="2208236"/>
              <a:chOff x="0" y="0"/>
              <a:chExt cx="22702520" cy="2208236"/>
            </a:xfrm>
          </p:grpSpPr>
          <p:sp>
            <p:nvSpPr>
              <p:cNvPr id="12" name="Freeform 12"/>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3" name="Group 13"/>
            <p:cNvGrpSpPr/>
            <p:nvPr/>
          </p:nvGrpSpPr>
          <p:grpSpPr>
            <a:xfrm>
              <a:off x="433324" y="360172"/>
              <a:ext cx="19751040" cy="731520"/>
              <a:chOff x="0" y="0"/>
              <a:chExt cx="19751040" cy="731520"/>
            </a:xfrm>
          </p:grpSpPr>
          <p:sp>
            <p:nvSpPr>
              <p:cNvPr id="14" name="Freeform 14"/>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15" name="TextBox 15"/>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The Next Mobile App — </a:t>
                </a:r>
                <a:r>
                  <a:rPr lang="en-US" sz="2050" b="1">
                    <a:solidFill>
                      <a:srgbClr val="CC4E00"/>
                    </a:solidFill>
                    <a:latin typeface="Exo 2 Bold"/>
                    <a:ea typeface="Exo 2 Bold"/>
                    <a:cs typeface="Exo 2 Bold"/>
                    <a:sym typeface="Exo 2 Bold"/>
                  </a:rPr>
                  <a:t>In Development</a:t>
                </a:r>
              </a:p>
            </p:txBody>
          </p:sp>
        </p:grpSp>
        <p:grpSp>
          <p:nvGrpSpPr>
            <p:cNvPr id="16" name="Group 16"/>
            <p:cNvGrpSpPr/>
            <p:nvPr/>
          </p:nvGrpSpPr>
          <p:grpSpPr>
            <a:xfrm>
              <a:off x="433324" y="1092644"/>
              <a:ext cx="21835872" cy="914400"/>
              <a:chOff x="0" y="0"/>
              <a:chExt cx="21835872" cy="914400"/>
            </a:xfrm>
          </p:grpSpPr>
          <p:sp>
            <p:nvSpPr>
              <p:cNvPr id="17" name="Freeform 17"/>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18" name="TextBox 18"/>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The new Mobile App will make trading effortless with a simpler, more intuitive experience.</a:t>
                </a:r>
              </a:p>
            </p:txBody>
          </p:sp>
        </p:grpSp>
      </p:grpSp>
      <p:grpSp>
        <p:nvGrpSpPr>
          <p:cNvPr id="19" name="Group 19"/>
          <p:cNvGrpSpPr/>
          <p:nvPr/>
        </p:nvGrpSpPr>
        <p:grpSpPr>
          <a:xfrm>
            <a:off x="630555" y="3966642"/>
            <a:ext cx="17026890" cy="1656177"/>
            <a:chOff x="0" y="0"/>
            <a:chExt cx="22702520" cy="2208236"/>
          </a:xfrm>
        </p:grpSpPr>
        <p:grpSp>
          <p:nvGrpSpPr>
            <p:cNvPr id="20" name="Group 20"/>
            <p:cNvGrpSpPr/>
            <p:nvPr/>
          </p:nvGrpSpPr>
          <p:grpSpPr>
            <a:xfrm>
              <a:off x="0" y="0"/>
              <a:ext cx="22702520" cy="2208236"/>
              <a:chOff x="0" y="0"/>
              <a:chExt cx="22702520" cy="2208236"/>
            </a:xfrm>
          </p:grpSpPr>
          <p:sp>
            <p:nvSpPr>
              <p:cNvPr id="21" name="Freeform 21"/>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22" name="Group 22"/>
            <p:cNvGrpSpPr/>
            <p:nvPr/>
          </p:nvGrpSpPr>
          <p:grpSpPr>
            <a:xfrm>
              <a:off x="433324" y="360172"/>
              <a:ext cx="19751040" cy="731520"/>
              <a:chOff x="0" y="0"/>
              <a:chExt cx="19751040" cy="731520"/>
            </a:xfrm>
          </p:grpSpPr>
          <p:sp>
            <p:nvSpPr>
              <p:cNvPr id="23" name="Freeform 2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24" name="TextBox 24"/>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Guest Access — </a:t>
                </a:r>
                <a:r>
                  <a:rPr lang="en-US" sz="2050" b="1">
                    <a:solidFill>
                      <a:srgbClr val="CC4E00"/>
                    </a:solidFill>
                    <a:latin typeface="Exo 2 Bold"/>
                    <a:ea typeface="Exo 2 Bold"/>
                    <a:cs typeface="Exo 2 Bold"/>
                    <a:sym typeface="Exo 2 Bold"/>
                  </a:rPr>
                  <a:t>Planned 2027</a:t>
                </a:r>
              </a:p>
            </p:txBody>
          </p:sp>
        </p:grpSp>
        <p:grpSp>
          <p:nvGrpSpPr>
            <p:cNvPr id="25" name="Group 25"/>
            <p:cNvGrpSpPr/>
            <p:nvPr/>
          </p:nvGrpSpPr>
          <p:grpSpPr>
            <a:xfrm>
              <a:off x="433324" y="1092644"/>
              <a:ext cx="21835872" cy="914400"/>
              <a:chOff x="0" y="0"/>
              <a:chExt cx="21835872" cy="914400"/>
            </a:xfrm>
          </p:grpSpPr>
          <p:sp>
            <p:nvSpPr>
              <p:cNvPr id="26" name="Freeform 26"/>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27" name="TextBox 27"/>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Users can explore the platform before onboarding, removing KYC as a barrier to first experience. </a:t>
                </a:r>
              </a:p>
            </p:txBody>
          </p:sp>
        </p:grpSp>
      </p:grpSp>
      <p:grpSp>
        <p:nvGrpSpPr>
          <p:cNvPr id="28" name="Group 28"/>
          <p:cNvGrpSpPr/>
          <p:nvPr/>
        </p:nvGrpSpPr>
        <p:grpSpPr>
          <a:xfrm>
            <a:off x="630555" y="6163452"/>
            <a:ext cx="17026890" cy="2156327"/>
            <a:chOff x="0" y="0"/>
            <a:chExt cx="22702520" cy="2875103"/>
          </a:xfrm>
        </p:grpSpPr>
        <p:grpSp>
          <p:nvGrpSpPr>
            <p:cNvPr id="29" name="Group 29"/>
            <p:cNvGrpSpPr/>
            <p:nvPr/>
          </p:nvGrpSpPr>
          <p:grpSpPr>
            <a:xfrm>
              <a:off x="0" y="0"/>
              <a:ext cx="22702520" cy="2875103"/>
              <a:chOff x="0" y="0"/>
              <a:chExt cx="22702520" cy="2875103"/>
            </a:xfrm>
          </p:grpSpPr>
          <p:sp>
            <p:nvSpPr>
              <p:cNvPr id="30" name="Freeform 30"/>
              <p:cNvSpPr/>
              <p:nvPr/>
            </p:nvSpPr>
            <p:spPr>
              <a:xfrm>
                <a:off x="0" y="0"/>
                <a:ext cx="22702520" cy="2875102"/>
              </a:xfrm>
              <a:custGeom>
                <a:avLst/>
                <a:gdLst/>
                <a:ahLst/>
                <a:cxnLst/>
                <a:rect l="l" t="t" r="r" b="b"/>
                <a:pathLst>
                  <a:path w="22702520" h="2875102">
                    <a:moveTo>
                      <a:pt x="0" y="138602"/>
                    </a:moveTo>
                    <a:cubicBezTo>
                      <a:pt x="0" y="62025"/>
                      <a:pt x="66040" y="0"/>
                      <a:pt x="147574" y="0"/>
                    </a:cubicBezTo>
                    <a:lnTo>
                      <a:pt x="22554946" y="0"/>
                    </a:lnTo>
                    <a:cubicBezTo>
                      <a:pt x="22636480" y="0"/>
                      <a:pt x="22702520" y="62025"/>
                      <a:pt x="22702520" y="138602"/>
                    </a:cubicBezTo>
                    <a:lnTo>
                      <a:pt x="22702520" y="2736500"/>
                    </a:lnTo>
                    <a:cubicBezTo>
                      <a:pt x="22702520" y="2813077"/>
                      <a:pt x="22636480" y="2875102"/>
                      <a:pt x="22554946" y="2875102"/>
                    </a:cubicBezTo>
                    <a:lnTo>
                      <a:pt x="147574" y="2875102"/>
                    </a:lnTo>
                    <a:cubicBezTo>
                      <a:pt x="66040" y="2875102"/>
                      <a:pt x="0" y="2813077"/>
                      <a:pt x="0" y="2736500"/>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1" name="Group 31"/>
            <p:cNvGrpSpPr/>
            <p:nvPr/>
          </p:nvGrpSpPr>
          <p:grpSpPr>
            <a:xfrm>
              <a:off x="433324" y="360172"/>
              <a:ext cx="19751040" cy="731520"/>
              <a:chOff x="0" y="0"/>
              <a:chExt cx="19751040" cy="731520"/>
            </a:xfrm>
          </p:grpSpPr>
          <p:sp>
            <p:nvSpPr>
              <p:cNvPr id="32" name="Freeform 32"/>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33" name="TextBox 33"/>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Market Pulse Feature —</a:t>
                </a:r>
                <a:r>
                  <a:rPr lang="en-US" sz="2050" b="1">
                    <a:solidFill>
                      <a:srgbClr val="D4AF37"/>
                    </a:solidFill>
                    <a:latin typeface="Exo 2 Bold"/>
                    <a:ea typeface="Exo 2 Bold"/>
                    <a:cs typeface="Exo 2 Bold"/>
                    <a:sym typeface="Exo 2 Bold"/>
                  </a:rPr>
                  <a:t> </a:t>
                </a:r>
                <a:r>
                  <a:rPr lang="en-US" sz="2050" b="1">
                    <a:solidFill>
                      <a:srgbClr val="CC4E00"/>
                    </a:solidFill>
                    <a:latin typeface="Exo 2 Bold"/>
                    <a:ea typeface="Exo 2 Bold"/>
                    <a:cs typeface="Exo 2 Bold"/>
                    <a:sym typeface="Exo 2 Bold"/>
                  </a:rPr>
                  <a:t>In Discussion</a:t>
                </a:r>
              </a:p>
            </p:txBody>
          </p:sp>
        </p:grpSp>
        <p:grpSp>
          <p:nvGrpSpPr>
            <p:cNvPr id="34" name="Group 34"/>
            <p:cNvGrpSpPr/>
            <p:nvPr/>
          </p:nvGrpSpPr>
          <p:grpSpPr>
            <a:xfrm>
              <a:off x="433324" y="1092644"/>
              <a:ext cx="21835872" cy="914400"/>
              <a:chOff x="0" y="0"/>
              <a:chExt cx="21835872" cy="914400"/>
            </a:xfrm>
          </p:grpSpPr>
          <p:sp>
            <p:nvSpPr>
              <p:cNvPr id="35" name="Freeform 35"/>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36" name="TextBox 36"/>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In-app live market news to drive repeat engagement.</a:t>
                </a:r>
              </a:p>
            </p:txBody>
          </p:sp>
        </p:grpSp>
        <p:sp>
          <p:nvSpPr>
            <p:cNvPr id="37" name="TextBox 37"/>
            <p:cNvSpPr txBox="1"/>
            <p:nvPr/>
          </p:nvSpPr>
          <p:spPr>
            <a:xfrm>
              <a:off x="433324" y="1997519"/>
              <a:ext cx="8399661" cy="352425"/>
            </a:xfrm>
            <a:prstGeom prst="rect">
              <a:avLst/>
            </a:prstGeom>
          </p:spPr>
          <p:txBody>
            <a:bodyPr lIns="0" tIns="0" rIns="0" bIns="0" rtlCol="0" anchor="t">
              <a:spAutoFit/>
            </a:bodyPr>
            <a:lstStyle/>
            <a:p>
              <a:pPr algn="l">
                <a:lnSpc>
                  <a:spcPts val="2027"/>
                </a:lnSpc>
                <a:spcBef>
                  <a:spcPct val="0"/>
                </a:spcBef>
              </a:pPr>
              <a:r>
                <a:rPr lang="en-US" sz="1689" b="1" i="1">
                  <a:solidFill>
                    <a:srgbClr val="D4AF37"/>
                  </a:solidFill>
                  <a:latin typeface="Exo 2 Bold Italics"/>
                  <a:ea typeface="Exo 2 Bold Italics"/>
                  <a:cs typeface="Exo 2 Bold Italics"/>
                  <a:sym typeface="Exo 2 Bold Italics"/>
                </a:rPr>
                <a:t>Note: EXANTE verifying data-provider access for white-labels.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3857625"/>
            <a:ext cx="15703023" cy="2571750"/>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Client Experience </a:t>
            </a:r>
          </a:p>
          <a:p>
            <a:pPr algn="ctr">
              <a:lnSpc>
                <a:spcPts val="10199"/>
              </a:lnSpc>
            </a:pPr>
            <a:r>
              <a:rPr lang="en-US" sz="8499" b="1">
                <a:solidFill>
                  <a:srgbClr val="FFFFFF"/>
                </a:solidFill>
                <a:latin typeface="Exo 2 Bold"/>
                <a:ea typeface="Exo 2 Bold"/>
                <a:cs typeface="Exo 2 Bold"/>
                <a:sym typeface="Exo 2 Bold"/>
              </a:rPr>
              <a:t>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5850" y="564284"/>
            <a:ext cx="13164593" cy="928831"/>
            <a:chOff x="0" y="0"/>
            <a:chExt cx="17552791" cy="1238442"/>
          </a:xfrm>
        </p:grpSpPr>
        <p:sp>
          <p:nvSpPr>
            <p:cNvPr id="3" name="Freeform 3"/>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2">
                <a:alphaModFix amt="0"/>
              </a:blip>
              <a:stretch>
                <a:fillRect t="-220566" r="6230" b="-197355"/>
              </a:stretch>
            </a:blipFill>
          </p:spPr>
          <p:txBody>
            <a:bodyPr/>
            <a:lstStyle/>
            <a:p>
              <a:endParaRPr lang="en-US"/>
            </a:p>
          </p:txBody>
        </p:sp>
        <p:sp>
          <p:nvSpPr>
            <p:cNvPr id="4" name="TextBox 4"/>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Overview</a:t>
              </a:r>
            </a:p>
          </p:txBody>
        </p:sp>
      </p:grpSp>
      <p:grpSp>
        <p:nvGrpSpPr>
          <p:cNvPr id="5" name="Group 5"/>
          <p:cNvGrpSpPr/>
          <p:nvPr/>
        </p:nvGrpSpPr>
        <p:grpSpPr>
          <a:xfrm>
            <a:off x="470535" y="2089490"/>
            <a:ext cx="4147915" cy="1802130"/>
            <a:chOff x="0" y="0"/>
            <a:chExt cx="5530553" cy="2402840"/>
          </a:xfrm>
        </p:grpSpPr>
        <p:grpSp>
          <p:nvGrpSpPr>
            <p:cNvPr id="6" name="Group 6"/>
            <p:cNvGrpSpPr/>
            <p:nvPr/>
          </p:nvGrpSpPr>
          <p:grpSpPr>
            <a:xfrm>
              <a:off x="0" y="0"/>
              <a:ext cx="5530553" cy="2402840"/>
              <a:chOff x="0" y="0"/>
              <a:chExt cx="5530553" cy="2402840"/>
            </a:xfrm>
          </p:grpSpPr>
          <p:sp>
            <p:nvSpPr>
              <p:cNvPr id="7" name="Freeform 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 name="Freeform 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9" name="Group 9"/>
            <p:cNvGrpSpPr/>
            <p:nvPr/>
          </p:nvGrpSpPr>
          <p:grpSpPr>
            <a:xfrm>
              <a:off x="345330" y="139111"/>
              <a:ext cx="4839893" cy="1205094"/>
              <a:chOff x="0" y="0"/>
              <a:chExt cx="4839893" cy="1205094"/>
            </a:xfrm>
          </p:grpSpPr>
          <p:sp>
            <p:nvSpPr>
              <p:cNvPr id="10" name="Freeform 1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11" name="TextBox 1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31</a:t>
                </a:r>
              </a:p>
            </p:txBody>
          </p:sp>
        </p:grpSp>
        <p:grpSp>
          <p:nvGrpSpPr>
            <p:cNvPr id="12" name="Group 12"/>
            <p:cNvGrpSpPr/>
            <p:nvPr/>
          </p:nvGrpSpPr>
          <p:grpSpPr>
            <a:xfrm>
              <a:off x="345330" y="1340531"/>
              <a:ext cx="4839893" cy="498551"/>
              <a:chOff x="0" y="0"/>
              <a:chExt cx="4839893" cy="498551"/>
            </a:xfrm>
          </p:grpSpPr>
          <p:sp>
            <p:nvSpPr>
              <p:cNvPr id="13" name="Freeform 1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14" name="TextBox 1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u="none" strike="noStrike">
                    <a:solidFill>
                      <a:srgbClr val="FFFFFF"/>
                    </a:solidFill>
                    <a:latin typeface="Exo 2"/>
                    <a:ea typeface="Exo 2"/>
                    <a:cs typeface="Exo 2"/>
                    <a:sym typeface="Exo 2"/>
                  </a:rPr>
                  <a:t>Clients Contacted</a:t>
                </a:r>
              </a:p>
            </p:txBody>
          </p:sp>
        </p:grpSp>
      </p:grpSp>
      <p:grpSp>
        <p:nvGrpSpPr>
          <p:cNvPr id="15" name="Group 15"/>
          <p:cNvGrpSpPr/>
          <p:nvPr/>
        </p:nvGrpSpPr>
        <p:grpSpPr>
          <a:xfrm>
            <a:off x="4881572" y="2089490"/>
            <a:ext cx="4147915" cy="1802130"/>
            <a:chOff x="0" y="0"/>
            <a:chExt cx="5530553" cy="2402840"/>
          </a:xfrm>
        </p:grpSpPr>
        <p:grpSp>
          <p:nvGrpSpPr>
            <p:cNvPr id="16" name="Group 16"/>
            <p:cNvGrpSpPr/>
            <p:nvPr/>
          </p:nvGrpSpPr>
          <p:grpSpPr>
            <a:xfrm>
              <a:off x="0" y="0"/>
              <a:ext cx="5530553" cy="2402840"/>
              <a:chOff x="0" y="0"/>
              <a:chExt cx="5530553" cy="2402840"/>
            </a:xfrm>
          </p:grpSpPr>
          <p:sp>
            <p:nvSpPr>
              <p:cNvPr id="17" name="Freeform 1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19" name="Group 19"/>
            <p:cNvGrpSpPr/>
            <p:nvPr/>
          </p:nvGrpSpPr>
          <p:grpSpPr>
            <a:xfrm>
              <a:off x="345330" y="139111"/>
              <a:ext cx="4839893" cy="1205094"/>
              <a:chOff x="0" y="0"/>
              <a:chExt cx="4839893" cy="1205094"/>
            </a:xfrm>
          </p:grpSpPr>
          <p:sp>
            <p:nvSpPr>
              <p:cNvPr id="20" name="Freeform 2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21" name="TextBox 2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8</a:t>
                </a:r>
              </a:p>
            </p:txBody>
          </p:sp>
        </p:grpSp>
        <p:grpSp>
          <p:nvGrpSpPr>
            <p:cNvPr id="22" name="Group 22"/>
            <p:cNvGrpSpPr/>
            <p:nvPr/>
          </p:nvGrpSpPr>
          <p:grpSpPr>
            <a:xfrm>
              <a:off x="345330" y="1340531"/>
              <a:ext cx="4839893" cy="498551"/>
              <a:chOff x="0" y="0"/>
              <a:chExt cx="4839893" cy="498551"/>
            </a:xfrm>
          </p:grpSpPr>
          <p:sp>
            <p:nvSpPr>
              <p:cNvPr id="23" name="Freeform 2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24" name="TextBox 2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id="25" name="Group 25"/>
          <p:cNvGrpSpPr/>
          <p:nvPr/>
        </p:nvGrpSpPr>
        <p:grpSpPr>
          <a:xfrm>
            <a:off x="9291564" y="2089490"/>
            <a:ext cx="4147915" cy="1802130"/>
            <a:chOff x="0" y="0"/>
            <a:chExt cx="5530553" cy="2402840"/>
          </a:xfrm>
        </p:grpSpPr>
        <p:grpSp>
          <p:nvGrpSpPr>
            <p:cNvPr id="26" name="Group 26"/>
            <p:cNvGrpSpPr/>
            <p:nvPr/>
          </p:nvGrpSpPr>
          <p:grpSpPr>
            <a:xfrm>
              <a:off x="0" y="0"/>
              <a:ext cx="5530553" cy="2402840"/>
              <a:chOff x="0" y="0"/>
              <a:chExt cx="5530553" cy="2402840"/>
            </a:xfrm>
          </p:grpSpPr>
          <p:sp>
            <p:nvSpPr>
              <p:cNvPr id="27" name="Freeform 2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8" name="Freeform 2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29" name="Group 29"/>
            <p:cNvGrpSpPr/>
            <p:nvPr/>
          </p:nvGrpSpPr>
          <p:grpSpPr>
            <a:xfrm>
              <a:off x="345330" y="139111"/>
              <a:ext cx="4839893" cy="1205094"/>
              <a:chOff x="0" y="0"/>
              <a:chExt cx="4839893" cy="1205094"/>
            </a:xfrm>
          </p:grpSpPr>
          <p:sp>
            <p:nvSpPr>
              <p:cNvPr id="30" name="Freeform 3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31" name="TextBox 3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C0392B"/>
                    </a:solidFill>
                    <a:latin typeface="Exo 2 Bold"/>
                    <a:ea typeface="Exo 2 Bold"/>
                    <a:cs typeface="Exo 2 Bold"/>
                    <a:sym typeface="Exo 2 Bold"/>
                  </a:rPr>
                  <a:t>23</a:t>
                </a:r>
              </a:p>
            </p:txBody>
          </p:sp>
        </p:grpSp>
        <p:grpSp>
          <p:nvGrpSpPr>
            <p:cNvPr id="32" name="Group 32"/>
            <p:cNvGrpSpPr/>
            <p:nvPr/>
          </p:nvGrpSpPr>
          <p:grpSpPr>
            <a:xfrm>
              <a:off x="345330" y="1340531"/>
              <a:ext cx="4839893" cy="498551"/>
              <a:chOff x="0" y="0"/>
              <a:chExt cx="4839893" cy="498551"/>
            </a:xfrm>
          </p:grpSpPr>
          <p:sp>
            <p:nvSpPr>
              <p:cNvPr id="33" name="Freeform 3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34" name="TextBox 3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Still Pending</a:t>
                </a:r>
              </a:p>
            </p:txBody>
          </p:sp>
        </p:grpSp>
      </p:grpSp>
      <p:grpSp>
        <p:nvGrpSpPr>
          <p:cNvPr id="35" name="Group 35"/>
          <p:cNvGrpSpPr/>
          <p:nvPr/>
        </p:nvGrpSpPr>
        <p:grpSpPr>
          <a:xfrm>
            <a:off x="13701557" y="2089490"/>
            <a:ext cx="4147915" cy="1802130"/>
            <a:chOff x="0" y="0"/>
            <a:chExt cx="5530553" cy="2402840"/>
          </a:xfrm>
        </p:grpSpPr>
        <p:grpSp>
          <p:nvGrpSpPr>
            <p:cNvPr id="36" name="Group 36"/>
            <p:cNvGrpSpPr/>
            <p:nvPr/>
          </p:nvGrpSpPr>
          <p:grpSpPr>
            <a:xfrm>
              <a:off x="0" y="0"/>
              <a:ext cx="5530553" cy="2402840"/>
              <a:chOff x="0" y="0"/>
              <a:chExt cx="5530553" cy="2402840"/>
            </a:xfrm>
          </p:grpSpPr>
          <p:sp>
            <p:nvSpPr>
              <p:cNvPr id="37" name="Freeform 3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8" name="Freeform 3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39" name="Group 39"/>
            <p:cNvGrpSpPr/>
            <p:nvPr/>
          </p:nvGrpSpPr>
          <p:grpSpPr>
            <a:xfrm>
              <a:off x="345330" y="139111"/>
              <a:ext cx="4839893" cy="1205094"/>
              <a:chOff x="0" y="0"/>
              <a:chExt cx="4839893" cy="1205094"/>
            </a:xfrm>
          </p:grpSpPr>
          <p:sp>
            <p:nvSpPr>
              <p:cNvPr id="40" name="Freeform 4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41" name="TextBox 4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25.8%</a:t>
                </a:r>
              </a:p>
            </p:txBody>
          </p:sp>
        </p:grpSp>
        <p:grpSp>
          <p:nvGrpSpPr>
            <p:cNvPr id="42" name="Group 42"/>
            <p:cNvGrpSpPr/>
            <p:nvPr/>
          </p:nvGrpSpPr>
          <p:grpSpPr>
            <a:xfrm>
              <a:off x="345330" y="1340531"/>
              <a:ext cx="4839893" cy="498551"/>
              <a:chOff x="0" y="0"/>
              <a:chExt cx="4839893" cy="498551"/>
            </a:xfrm>
          </p:grpSpPr>
          <p:sp>
            <p:nvSpPr>
              <p:cNvPr id="43" name="Freeform 4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44" name="TextBox 4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Conversion (Client Contacted)</a:t>
                </a:r>
              </a:p>
            </p:txBody>
          </p:sp>
        </p:grpSp>
      </p:grpSp>
      <p:grpSp>
        <p:nvGrpSpPr>
          <p:cNvPr id="45" name="Group 45"/>
          <p:cNvGrpSpPr/>
          <p:nvPr/>
        </p:nvGrpSpPr>
        <p:grpSpPr>
          <a:xfrm>
            <a:off x="585597" y="4441441"/>
            <a:ext cx="16655936" cy="1386520"/>
            <a:chOff x="0" y="0"/>
            <a:chExt cx="22207915" cy="1848694"/>
          </a:xfrm>
        </p:grpSpPr>
        <p:grpSp>
          <p:nvGrpSpPr>
            <p:cNvPr id="46" name="Group 46"/>
            <p:cNvGrpSpPr/>
            <p:nvPr/>
          </p:nvGrpSpPr>
          <p:grpSpPr>
            <a:xfrm>
              <a:off x="591499" y="814347"/>
              <a:ext cx="21616416" cy="1034346"/>
              <a:chOff x="0" y="0"/>
              <a:chExt cx="21616416" cy="1034346"/>
            </a:xfrm>
          </p:grpSpPr>
          <p:sp>
            <p:nvSpPr>
              <p:cNvPr id="47" name="Freeform 4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48" name="TextBox 4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Out of 31 clients contacted, 8 have completed onboarding, giving a conversion rate of 25.8%. The remaining 23 clients (74.2%)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id="49" name="Group 49"/>
            <p:cNvGrpSpPr/>
            <p:nvPr/>
          </p:nvGrpSpPr>
          <p:grpSpPr>
            <a:xfrm>
              <a:off x="66735" y="978800"/>
              <a:ext cx="370790" cy="324441"/>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TextBox 5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sp>
          <p:nvSpPr>
            <p:cNvPr id="52" name="TextBox 52"/>
            <p:cNvSpPr txBox="1"/>
            <p:nvPr/>
          </p:nvSpPr>
          <p:spPr>
            <a:xfrm>
              <a:off x="0" y="-19050"/>
              <a:ext cx="2257425"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Summary</a:t>
              </a:r>
            </a:p>
          </p:txBody>
        </p:sp>
      </p:grpSp>
      <p:grpSp>
        <p:nvGrpSpPr>
          <p:cNvPr id="53" name="Group 53"/>
          <p:cNvGrpSpPr/>
          <p:nvPr/>
        </p:nvGrpSpPr>
        <p:grpSpPr>
          <a:xfrm>
            <a:off x="470535" y="648843"/>
            <a:ext cx="115062" cy="732282"/>
            <a:chOff x="0" y="0"/>
            <a:chExt cx="153416" cy="976376"/>
          </a:xfrm>
        </p:grpSpPr>
        <p:sp>
          <p:nvSpPr>
            <p:cNvPr id="54" name="Freeform 54"/>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5" name="Freeform 55"/>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56" name="Freeform 56"/>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7" name="Freeform 57"/>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58" name="Group 58"/>
          <p:cNvGrpSpPr/>
          <p:nvPr/>
        </p:nvGrpSpPr>
        <p:grpSpPr>
          <a:xfrm>
            <a:off x="585597" y="6532676"/>
            <a:ext cx="16655936" cy="2161119"/>
            <a:chOff x="0" y="0"/>
            <a:chExt cx="22207915" cy="2881493"/>
          </a:xfrm>
        </p:grpSpPr>
        <p:sp>
          <p:nvSpPr>
            <p:cNvPr id="59" name="TextBox 59"/>
            <p:cNvSpPr txBox="1"/>
            <p:nvPr/>
          </p:nvSpPr>
          <p:spPr>
            <a:xfrm>
              <a:off x="0" y="-19050"/>
              <a:ext cx="4211638"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Client Feedback’s</a:t>
              </a:r>
            </a:p>
          </p:txBody>
        </p:sp>
        <p:grpSp>
          <p:nvGrpSpPr>
            <p:cNvPr id="60" name="Group 60"/>
            <p:cNvGrpSpPr/>
            <p:nvPr/>
          </p:nvGrpSpPr>
          <p:grpSpPr>
            <a:xfrm>
              <a:off x="591499" y="812800"/>
              <a:ext cx="21616416" cy="1034346"/>
              <a:chOff x="0" y="0"/>
              <a:chExt cx="21616416" cy="1034346"/>
            </a:xfrm>
          </p:grpSpPr>
          <p:sp>
            <p:nvSpPr>
              <p:cNvPr id="61" name="Freeform 61"/>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2" name="TextBox 62"/>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id="63" name="Group 63"/>
            <p:cNvGrpSpPr/>
            <p:nvPr/>
          </p:nvGrpSpPr>
          <p:grpSpPr>
            <a:xfrm>
              <a:off x="66735" y="977253"/>
              <a:ext cx="370790" cy="324441"/>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5" name="TextBox 65"/>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nvGrpSpPr>
            <p:cNvPr id="66" name="Group 66"/>
            <p:cNvGrpSpPr/>
            <p:nvPr/>
          </p:nvGrpSpPr>
          <p:grpSpPr>
            <a:xfrm>
              <a:off x="591499" y="1847146"/>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id="69" name="Group 69"/>
            <p:cNvGrpSpPr/>
            <p:nvPr/>
          </p:nvGrpSpPr>
          <p:grpSpPr>
            <a:xfrm>
              <a:off x="66735" y="2011599"/>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Marketing</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Freeform 4"/>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5" name="Group 5"/>
          <p:cNvGrpSpPr/>
          <p:nvPr/>
        </p:nvGrpSpPr>
        <p:grpSpPr>
          <a:xfrm>
            <a:off x="804861" y="603559"/>
            <a:ext cx="14636945" cy="822851"/>
            <a:chOff x="0" y="0"/>
            <a:chExt cx="19515927" cy="1097134"/>
          </a:xfrm>
        </p:grpSpPr>
        <p:sp>
          <p:nvSpPr>
            <p:cNvPr id="6" name="Freeform 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7" name="TextBox 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Sponsored Ads: What's Live Now</a:t>
              </a:r>
            </a:p>
          </p:txBody>
        </p:sp>
      </p:gr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470535" y="1963511"/>
          <a:ext cx="9087244" cy="2967928"/>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9288">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931">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Mention &amp; Win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Live, 23 Sep to 20 Oct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Timed before salary days; 26.2K views, 1,129 likes on launch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931">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Ali Sabeel Video</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 18 Sep</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dirty="0">
                          <a:solidFill>
                            <a:srgbClr val="5A6A85"/>
                          </a:solidFill>
                          <a:latin typeface="Exo 2"/>
                          <a:ea typeface="Exo 2"/>
                          <a:cs typeface="Exo 2"/>
                          <a:sym typeface="Exo 2"/>
                        </a:rPr>
                        <a:t>GCC-wide targeting, 3-week run completed, no further spend invoiced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grpSp>
        <p:nvGrpSpPr>
          <p:cNvPr id="13" name="Group 13"/>
          <p:cNvGrpSpPr/>
          <p:nvPr/>
        </p:nvGrpSpPr>
        <p:grpSpPr>
          <a:xfrm>
            <a:off x="804861" y="4941661"/>
            <a:ext cx="14636945" cy="822851"/>
            <a:chOff x="0" y="0"/>
            <a:chExt cx="19515927" cy="1097134"/>
          </a:xfrm>
        </p:grpSpPr>
        <p:sp>
          <p:nvSpPr>
            <p:cNvPr id="14" name="Freeform 1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15" name="TextBox 1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What is Actioned &amp; In Progress</a:t>
              </a:r>
            </a:p>
          </p:txBody>
        </p:sp>
      </p:grpSp>
      <p:grpSp>
        <p:nvGrpSpPr>
          <p:cNvPr id="16" name="Group 16"/>
          <p:cNvGrpSpPr/>
          <p:nvPr/>
        </p:nvGrpSpPr>
        <p:grpSpPr>
          <a:xfrm>
            <a:off x="470535" y="4986945"/>
            <a:ext cx="115062" cy="732282"/>
            <a:chOff x="0" y="0"/>
            <a:chExt cx="153416" cy="976376"/>
          </a:xfrm>
        </p:grpSpPr>
        <p:sp>
          <p:nvSpPr>
            <p:cNvPr id="17" name="Freeform 17"/>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9" name="Table 19"/>
          <p:cNvGraphicFramePr>
            <a:graphicFrameLocks noGrp="1"/>
          </p:cNvGraphicFramePr>
          <p:nvPr>
            <p:extLst>
              <p:ext uri="{D42A27DB-BD31-4B8C-83A1-F6EECF244321}">
                <p14:modId xmlns:p14="http://schemas.microsoft.com/office/powerpoint/2010/main" val="3917843913"/>
              </p:ext>
            </p:extLst>
          </p:nvPr>
        </p:nvGraphicFramePr>
        <p:xfrm>
          <a:off x="470535" y="5918617"/>
          <a:ext cx="9087244" cy="3568701"/>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8855">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Monthly Calendar</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New How To video with a human presenter posted</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Abdulelah Al Harbi</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Video live on Instagram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Manal Talal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Scheduled for end of October</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dirty="0">
                          <a:solidFill>
                            <a:srgbClr val="5A6A85"/>
                          </a:solidFill>
                          <a:latin typeface="Exo 2"/>
                          <a:ea typeface="Exo 2"/>
                          <a:cs typeface="Exo 2"/>
                          <a:sym typeface="Exo 2"/>
                        </a:rPr>
                        <a:t>Brief sent, video production started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Freeform 20"/>
          <p:cNvSpPr/>
          <p:nvPr/>
        </p:nvSpPr>
        <p:spPr>
          <a:xfrm>
            <a:off x="9892105" y="1866236"/>
            <a:ext cx="8115313" cy="3865362"/>
          </a:xfrm>
          <a:custGeom>
            <a:avLst/>
            <a:gdLst/>
            <a:ahLst/>
            <a:cxnLst/>
            <a:rect l="l" t="t" r="r" b="b"/>
            <a:pathLst>
              <a:path w="8115313" h="3865362">
                <a:moveTo>
                  <a:pt x="0" y="0"/>
                </a:moveTo>
                <a:lnTo>
                  <a:pt x="8115313" y="0"/>
                </a:lnTo>
                <a:lnTo>
                  <a:pt x="8115313" y="3865362"/>
                </a:lnTo>
                <a:lnTo>
                  <a:pt x="0" y="3865362"/>
                </a:lnTo>
                <a:lnTo>
                  <a:pt x="0" y="0"/>
                </a:lnTo>
                <a:close/>
              </a:path>
            </a:pathLst>
          </a:custGeom>
          <a:blipFill>
            <a:blip r:embed="rId5"/>
            <a:stretch>
              <a:fillRect t="-63"/>
            </a:stretch>
          </a:blipFill>
        </p:spPr>
        <p:txBody>
          <a:bodyPr/>
          <a:lstStyle/>
          <a:p>
            <a:endParaRPr lang="en-US"/>
          </a:p>
        </p:txBody>
      </p:sp>
      <p:sp>
        <p:nvSpPr>
          <p:cNvPr id="21" name="Rounded Rectangle 20"/>
          <p:cNvSpPr/>
          <p:nvPr/>
        </p:nvSpPr>
        <p:spPr>
          <a:xfrm>
            <a:off x="9921695" y="8050000"/>
            <a:ext cx="3450000" cy="2150000"/>
          </a:xfrm>
          <a:prstGeom prst="roundRect">
            <a:avLst/>
          </a:prstGeom>
          <a:solidFill>
            <a:srgbClr val="F7F9FC"/>
          </a:solidFill>
          <a:ln w="15875">
            <a:solidFill>
              <a:srgbClr val="C9A84C"/>
            </a:solidFill>
          </a:ln>
          <a:effectLst/>
        </p:spPr>
        <p:style>
          <a:lnRef idx="1">
            <a:schemeClr val="accent1"/>
          </a:lnRef>
          <a:fillRef idx="3">
            <a:schemeClr val="accent1"/>
          </a:fillRef>
          <a:effectRef idx="2">
            <a:schemeClr val="accent1"/>
          </a:effectRef>
          <a:fontRef idx="minor">
            <a:schemeClr val="lt1"/>
          </a:fontRef>
        </p:style>
        <p:txBody>
          <a:bodyPr wrap="square" lIns="160000" tIns="140000" rIns="160000" bIns="140000" rtlCol="0" anchor="ctr"/>
          <a:lstStyle/>
          <a:p>
            <a:pPr algn="ctr"/>
            <a:r>
              <a:rPr sz="1300" b="1" dirty="0">
                <a:solidFill>
                  <a:srgbClr val="121A2F"/>
                </a:solidFill>
                <a:latin typeface="Calibri"/>
              </a:rPr>
              <a:t>NEW CHANNEL: GOOGLE ADS &amp; LINKEDIN</a:t>
            </a:r>
          </a:p>
          <a:p>
            <a:pPr>
              <a:spcBef>
                <a:spcPts val="600"/>
              </a:spcBef>
            </a:pPr>
            <a:r>
              <a:rPr sz="1000" dirty="0">
                <a:solidFill>
                  <a:srgbClr val="5A6A85"/>
                </a:solidFill>
                <a:latin typeface="Calibri"/>
              </a:rPr>
              <a:t>Launched 22 Sep, testing phase. Google Search (Starter/Emerging) + LinkedIn lead gen (Affluent). Interest targeting: Saudi Arabia and Riyadh; location restricted to Saudi Arabia residents only. $30,000 campaign, Sep to Dec (Ignite, TI7541).</a:t>
            </a:r>
          </a:p>
          <a:p>
            <a:pPr>
              <a:spcBef>
                <a:spcPts val="600"/>
              </a:spcBef>
            </a:pPr>
            <a:r>
              <a:rPr sz="1000" b="1" dirty="0">
                <a:solidFill>
                  <a:srgbClr val="5A6A85"/>
                </a:solidFill>
                <a:latin typeface="Calibri"/>
              </a:rPr>
              <a:t>In testing, English is outperforming Arabic: 212 vs 176 sessions, 97% vs 87% engagement rate.</a:t>
            </a:r>
          </a:p>
        </p:txBody>
      </p:sp>
      <p:pic>
        <p:nvPicPr>
          <p:cNvPr id="22" name="Picture 21" descr="1.png"/>
          <p:cNvPicPr>
            <a:picLocks noChangeAspect="1"/>
          </p:cNvPicPr>
          <p:nvPr/>
        </p:nvPicPr>
        <p:blipFill>
          <a:blip r:embed="rId6"/>
          <a:stretch>
            <a:fillRect/>
          </a:stretch>
        </p:blipFill>
        <p:spPr>
          <a:xfrm>
            <a:off x="13511695" y="8125324"/>
            <a:ext cx="4530000" cy="1999351"/>
          </a:xfrm>
          <a:prstGeom prst="rect">
            <a:avLst/>
          </a:prstGeom>
        </p:spPr>
      </p:pic>
      <p:sp>
        <p:nvSpPr>
          <p:cNvPr id="23" name="TextBox 22"/>
          <p:cNvSpPr txBox="1"/>
          <p:nvPr/>
        </p:nvSpPr>
        <p:spPr>
          <a:xfrm>
            <a:off x="13511695" y="7865324"/>
            <a:ext cx="4530000" cy="240000"/>
          </a:xfrm>
          <a:prstGeom prst="rect">
            <a:avLst/>
          </a:prstGeom>
          <a:noFill/>
        </p:spPr>
        <p:txBody>
          <a:bodyPr wrap="square">
            <a:spAutoFit/>
          </a:bodyPr>
          <a:lstStyle/>
          <a:p>
            <a:r>
              <a:rPr sz="900" i="1" dirty="0">
                <a:solidFill>
                  <a:srgbClr val="5A6A85"/>
                </a:solidFill>
                <a:latin typeface="Calibri"/>
              </a:rPr>
              <a:t>Google Analytics: website traffic, 21 to 27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grpSp>
        <p:nvGrpSpPr>
          <p:cNvPr id="4" name="Group 4"/>
          <p:cNvGrpSpPr/>
          <p:nvPr/>
        </p:nvGrpSpPr>
        <p:grpSpPr>
          <a:xfrm>
            <a:off x="14630340" y="1028700"/>
            <a:ext cx="2628960" cy="757148"/>
            <a:chOff x="0" y="0"/>
            <a:chExt cx="6614516" cy="1905000"/>
          </a:xfrm>
        </p:grpSpPr>
        <p:sp>
          <p:nvSpPr>
            <p:cNvPr id="5" name="Freeform 5"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6" name="Freeform 6"/>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292489" y="3780565"/>
            <a:ext cx="15703023" cy="1285875"/>
          </a:xfrm>
          <a:prstGeom prst="rect">
            <a:avLst/>
          </a:prstGeom>
        </p:spPr>
        <p:txBody>
          <a:bodyPr lIns="0" tIns="0" rIns="0" bIns="0" rtlCol="0" anchor="t">
            <a:spAutoFit/>
          </a:bodyPr>
          <a:lstStyle/>
          <a:p>
            <a:pPr algn="ctr">
              <a:lnSpc>
                <a:spcPts val="10079"/>
              </a:lnSpc>
            </a:pPr>
            <a:r>
              <a:rPr lang="en-US" sz="8399" b="1">
                <a:solidFill>
                  <a:srgbClr val="FFFFFF"/>
                </a:solidFill>
                <a:latin typeface="Exo 2 Bold"/>
                <a:ea typeface="Exo 2 Bold"/>
                <a:cs typeface="Exo 2 Bold"/>
                <a:sym typeface="Exo 2 Bold"/>
              </a:rPr>
              <a:t>Thank You</a:t>
            </a:r>
          </a:p>
        </p:txBody>
      </p:sp>
      <p:sp>
        <p:nvSpPr>
          <p:cNvPr id="8" name="TextBox 8"/>
          <p:cNvSpPr txBox="1"/>
          <p:nvPr/>
        </p:nvSpPr>
        <p:spPr>
          <a:xfrm>
            <a:off x="6321387" y="5649399"/>
            <a:ext cx="5555060" cy="485775"/>
          </a:xfrm>
          <a:prstGeom prst="rect">
            <a:avLst/>
          </a:prstGeom>
        </p:spPr>
        <p:txBody>
          <a:bodyPr lIns="0" tIns="0" rIns="0" bIns="0" rtlCol="0" anchor="t">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Appendix</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7695" y="1773555"/>
            <a:ext cx="17026890" cy="2057400"/>
            <a:chOff x="0" y="0"/>
            <a:chExt cx="22702520" cy="2743200"/>
          </a:xfrm>
        </p:grpSpPr>
        <p:sp>
          <p:nvSpPr>
            <p:cNvPr id="3" name="Freeform 3"/>
            <p:cNvSpPr/>
            <p:nvPr/>
          </p:nvSpPr>
          <p:spPr>
            <a:xfrm>
              <a:off x="0" y="0"/>
              <a:ext cx="22702520" cy="2743200"/>
            </a:xfrm>
            <a:custGeom>
              <a:avLst/>
              <a:gdLst/>
              <a:ahLst/>
              <a:cxnLst/>
              <a:rect l="l" t="t" r="r" b="b"/>
              <a:pathLst>
                <a:path w="22702520" h="2743200">
                  <a:moveTo>
                    <a:pt x="0" y="168768"/>
                  </a:moveTo>
                  <a:cubicBezTo>
                    <a:pt x="0" y="75539"/>
                    <a:pt x="66167" y="0"/>
                    <a:pt x="147828" y="0"/>
                  </a:cubicBezTo>
                  <a:lnTo>
                    <a:pt x="22554692" y="0"/>
                  </a:lnTo>
                  <a:cubicBezTo>
                    <a:pt x="22636353" y="0"/>
                    <a:pt x="22702520" y="75539"/>
                    <a:pt x="22702520" y="168768"/>
                  </a:cubicBezTo>
                  <a:lnTo>
                    <a:pt x="22702520" y="2574432"/>
                  </a:lnTo>
                  <a:cubicBezTo>
                    <a:pt x="22702520" y="2667661"/>
                    <a:pt x="22636353" y="2743200"/>
                    <a:pt x="22554692" y="2743200"/>
                  </a:cubicBezTo>
                  <a:lnTo>
                    <a:pt x="147828" y="2743200"/>
                  </a:lnTo>
                  <a:cubicBezTo>
                    <a:pt x="66167" y="2743200"/>
                    <a:pt x="0" y="2667661"/>
                    <a:pt x="0" y="257443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4" name="Group 4"/>
          <p:cNvGrpSpPr/>
          <p:nvPr/>
        </p:nvGrpSpPr>
        <p:grpSpPr>
          <a:xfrm>
            <a:off x="932688" y="2057400"/>
            <a:ext cx="2057400" cy="438912"/>
            <a:chOff x="0" y="0"/>
            <a:chExt cx="2743200" cy="585216"/>
          </a:xfrm>
        </p:grpSpPr>
        <p:sp>
          <p:nvSpPr>
            <p:cNvPr id="5" name="Freeform 5"/>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80784"/>
              </a:srgbClr>
            </a:solidFill>
          </p:spPr>
          <p:txBody>
            <a:bodyPr/>
            <a:lstStyle/>
            <a:p>
              <a:endParaRPr lang="en-US"/>
            </a:p>
          </p:txBody>
        </p:sp>
      </p:grpSp>
      <p:grpSp>
        <p:nvGrpSpPr>
          <p:cNvPr id="6" name="Group 6"/>
          <p:cNvGrpSpPr/>
          <p:nvPr/>
        </p:nvGrpSpPr>
        <p:grpSpPr>
          <a:xfrm>
            <a:off x="932688" y="2057400"/>
            <a:ext cx="2057400" cy="438912"/>
            <a:chOff x="0" y="0"/>
            <a:chExt cx="2743200" cy="585216"/>
          </a:xfrm>
        </p:grpSpPr>
        <p:sp>
          <p:nvSpPr>
            <p:cNvPr id="7" name="Freeform 7"/>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8" name="TextBox 8"/>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IN PROGRESS</a:t>
              </a:r>
            </a:p>
          </p:txBody>
        </p:sp>
      </p:grpSp>
      <p:grpSp>
        <p:nvGrpSpPr>
          <p:cNvPr id="9" name="Group 9"/>
          <p:cNvGrpSpPr/>
          <p:nvPr/>
        </p:nvGrpSpPr>
        <p:grpSpPr>
          <a:xfrm>
            <a:off x="3223260" y="2002536"/>
            <a:ext cx="13441680" cy="548640"/>
            <a:chOff x="0" y="0"/>
            <a:chExt cx="17922240" cy="731520"/>
          </a:xfrm>
        </p:grpSpPr>
        <p:sp>
          <p:nvSpPr>
            <p:cNvPr id="10" name="Freeform 10"/>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11" name="TextBox 11"/>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Helpdesk Deployment — Frappe Helpdesk</a:t>
              </a:r>
            </a:p>
          </p:txBody>
        </p:sp>
      </p:grpSp>
      <p:grpSp>
        <p:nvGrpSpPr>
          <p:cNvPr id="12" name="Group 12"/>
          <p:cNvGrpSpPr/>
          <p:nvPr/>
        </p:nvGrpSpPr>
        <p:grpSpPr>
          <a:xfrm>
            <a:off x="932688" y="2633472"/>
            <a:ext cx="16322040" cy="822960"/>
            <a:chOff x="0" y="0"/>
            <a:chExt cx="21762720" cy="1097280"/>
          </a:xfrm>
        </p:grpSpPr>
        <p:sp>
          <p:nvSpPr>
            <p:cNvPr id="13" name="Freeform 13"/>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14" name="TextBox 14"/>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approval received on 20th August. Deployment to proceed, targeted to go live within the next two weeks. Deployment will be carried by WealthTech IT since Ajyad IT is not familiar with the process.</a:t>
              </a:r>
            </a:p>
          </p:txBody>
        </p:sp>
      </p:grpSp>
      <p:grpSp>
        <p:nvGrpSpPr>
          <p:cNvPr id="15" name="Group 15"/>
          <p:cNvGrpSpPr/>
          <p:nvPr/>
        </p:nvGrpSpPr>
        <p:grpSpPr>
          <a:xfrm>
            <a:off x="607695" y="4168521"/>
            <a:ext cx="17026890" cy="1802130"/>
            <a:chOff x="0" y="0"/>
            <a:chExt cx="22702520" cy="2402840"/>
          </a:xfrm>
        </p:grpSpPr>
        <p:sp>
          <p:nvSpPr>
            <p:cNvPr id="16" name="Freeform 16"/>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7" name="Group 17"/>
          <p:cNvGrpSpPr/>
          <p:nvPr/>
        </p:nvGrpSpPr>
        <p:grpSpPr>
          <a:xfrm>
            <a:off x="932688" y="4452366"/>
            <a:ext cx="2057400" cy="438912"/>
            <a:chOff x="0" y="0"/>
            <a:chExt cx="2743200" cy="585216"/>
          </a:xfrm>
        </p:grpSpPr>
        <p:sp>
          <p:nvSpPr>
            <p:cNvPr id="18" name="Freeform 18"/>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80784"/>
              </a:srgbClr>
            </a:solidFill>
          </p:spPr>
          <p:txBody>
            <a:bodyPr/>
            <a:lstStyle/>
            <a:p>
              <a:endParaRPr lang="en-US"/>
            </a:p>
          </p:txBody>
        </p:sp>
      </p:grpSp>
      <p:grpSp>
        <p:nvGrpSpPr>
          <p:cNvPr id="19" name="Group 19"/>
          <p:cNvGrpSpPr/>
          <p:nvPr/>
        </p:nvGrpSpPr>
        <p:grpSpPr>
          <a:xfrm>
            <a:off x="932688" y="4452366"/>
            <a:ext cx="2057400" cy="438912"/>
            <a:chOff x="0" y="0"/>
            <a:chExt cx="2743200" cy="585216"/>
          </a:xfrm>
        </p:grpSpPr>
        <p:sp>
          <p:nvSpPr>
            <p:cNvPr id="20" name="Freeform 20"/>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21" name="TextBox 21"/>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PLANNED</a:t>
              </a:r>
            </a:p>
          </p:txBody>
        </p:sp>
      </p:grpSp>
      <p:grpSp>
        <p:nvGrpSpPr>
          <p:cNvPr id="22" name="Group 22"/>
          <p:cNvGrpSpPr/>
          <p:nvPr/>
        </p:nvGrpSpPr>
        <p:grpSpPr>
          <a:xfrm>
            <a:off x="3223260" y="4397502"/>
            <a:ext cx="13441680" cy="548640"/>
            <a:chOff x="0" y="0"/>
            <a:chExt cx="17922240" cy="731520"/>
          </a:xfrm>
        </p:grpSpPr>
        <p:sp>
          <p:nvSpPr>
            <p:cNvPr id="23" name="Freeform 23"/>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24" name="TextBox 24"/>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WealthTech CRM — Frappe CRM</a:t>
              </a:r>
            </a:p>
          </p:txBody>
        </p:sp>
      </p:grpSp>
      <p:grpSp>
        <p:nvGrpSpPr>
          <p:cNvPr id="25" name="Group 25"/>
          <p:cNvGrpSpPr/>
          <p:nvPr/>
        </p:nvGrpSpPr>
        <p:grpSpPr>
          <a:xfrm>
            <a:off x="932688" y="5028438"/>
            <a:ext cx="16322040" cy="822960"/>
            <a:chOff x="0" y="0"/>
            <a:chExt cx="21762720" cy="1097280"/>
          </a:xfrm>
        </p:grpSpPr>
        <p:sp>
          <p:nvSpPr>
            <p:cNvPr id="26" name="Freeform 26"/>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27" name="TextBox 27"/>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has approved use of Frappe applications. Plan to deploy Frappe's CRM module to manage a unified customer base. It will be actioned after helpdesk.</a:t>
              </a:r>
            </a:p>
          </p:txBody>
        </p:sp>
      </p:grpSp>
      <p:grpSp>
        <p:nvGrpSpPr>
          <p:cNvPr id="28" name="Group 28"/>
          <p:cNvGrpSpPr/>
          <p:nvPr/>
        </p:nvGrpSpPr>
        <p:grpSpPr>
          <a:xfrm>
            <a:off x="607695" y="6225921"/>
            <a:ext cx="17026890" cy="1802130"/>
            <a:chOff x="0" y="0"/>
            <a:chExt cx="22702520" cy="2402840"/>
          </a:xfrm>
        </p:grpSpPr>
        <p:sp>
          <p:nvSpPr>
            <p:cNvPr id="29" name="Freeform 29"/>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0" name="Group 30"/>
          <p:cNvGrpSpPr/>
          <p:nvPr/>
        </p:nvGrpSpPr>
        <p:grpSpPr>
          <a:xfrm>
            <a:off x="932688" y="6509766"/>
            <a:ext cx="2057400" cy="438912"/>
            <a:chOff x="0" y="0"/>
            <a:chExt cx="2743200" cy="585216"/>
          </a:xfrm>
        </p:grpSpPr>
        <p:sp>
          <p:nvSpPr>
            <p:cNvPr id="31" name="Freeform 31"/>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80784"/>
              </a:srgbClr>
            </a:solidFill>
          </p:spPr>
          <p:txBody>
            <a:bodyPr/>
            <a:lstStyle/>
            <a:p>
              <a:endParaRPr lang="en-US"/>
            </a:p>
          </p:txBody>
        </p:sp>
      </p:grpSp>
      <p:grpSp>
        <p:nvGrpSpPr>
          <p:cNvPr id="32" name="Group 32"/>
          <p:cNvGrpSpPr/>
          <p:nvPr/>
        </p:nvGrpSpPr>
        <p:grpSpPr>
          <a:xfrm>
            <a:off x="932688" y="6509766"/>
            <a:ext cx="2057400" cy="438912"/>
            <a:chOff x="0" y="0"/>
            <a:chExt cx="2743200" cy="585216"/>
          </a:xfrm>
        </p:grpSpPr>
        <p:sp>
          <p:nvSpPr>
            <p:cNvPr id="33" name="Freeform 33"/>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34" name="TextBox 34"/>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EXPLORING</a:t>
              </a:r>
            </a:p>
          </p:txBody>
        </p:sp>
      </p:grpSp>
      <p:grpSp>
        <p:nvGrpSpPr>
          <p:cNvPr id="35" name="Group 35"/>
          <p:cNvGrpSpPr/>
          <p:nvPr/>
        </p:nvGrpSpPr>
        <p:grpSpPr>
          <a:xfrm>
            <a:off x="3223260" y="6454902"/>
            <a:ext cx="13441680" cy="548640"/>
            <a:chOff x="0" y="0"/>
            <a:chExt cx="17922240" cy="731520"/>
          </a:xfrm>
        </p:grpSpPr>
        <p:sp>
          <p:nvSpPr>
            <p:cNvPr id="36" name="Freeform 36"/>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37" name="TextBox 37"/>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Reporting Dashboard</a:t>
              </a:r>
            </a:p>
          </p:txBody>
        </p:sp>
      </p:grpSp>
      <p:grpSp>
        <p:nvGrpSpPr>
          <p:cNvPr id="38" name="Group 38"/>
          <p:cNvGrpSpPr/>
          <p:nvPr/>
        </p:nvGrpSpPr>
        <p:grpSpPr>
          <a:xfrm>
            <a:off x="932688" y="7085838"/>
            <a:ext cx="16322040" cy="822960"/>
            <a:chOff x="0" y="0"/>
            <a:chExt cx="21762720" cy="1097280"/>
          </a:xfrm>
        </p:grpSpPr>
        <p:sp>
          <p:nvSpPr>
            <p:cNvPr id="39" name="Freeform 39"/>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40" name="TextBox 40"/>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id="41" name="Group 41"/>
          <p:cNvGrpSpPr/>
          <p:nvPr/>
        </p:nvGrpSpPr>
        <p:grpSpPr>
          <a:xfrm>
            <a:off x="804861" y="603559"/>
            <a:ext cx="13241570" cy="822851"/>
            <a:chOff x="0" y="0"/>
            <a:chExt cx="17655427" cy="1097134"/>
          </a:xfrm>
        </p:grpSpPr>
        <p:sp>
          <p:nvSpPr>
            <p:cNvPr id="42" name="Freeform 42"/>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3" name="TextBox 43"/>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Platform Initiatives Roadmap</a:t>
              </a:r>
            </a:p>
          </p:txBody>
        </p:sp>
      </p:grpSp>
      <p:grpSp>
        <p:nvGrpSpPr>
          <p:cNvPr id="44" name="Group 44"/>
          <p:cNvGrpSpPr/>
          <p:nvPr/>
        </p:nvGrpSpPr>
        <p:grpSpPr>
          <a:xfrm>
            <a:off x="470535" y="648843"/>
            <a:ext cx="115062" cy="732282"/>
            <a:chOff x="0" y="0"/>
            <a:chExt cx="153416" cy="976376"/>
          </a:xfrm>
        </p:grpSpPr>
        <p:sp>
          <p:nvSpPr>
            <p:cNvPr id="45" name="Freeform 45"/>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6" name="Freeform 46"/>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47" name="Freeform 4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8" name="Freeform 4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49" name="Group 49"/>
          <p:cNvGrpSpPr/>
          <p:nvPr/>
        </p:nvGrpSpPr>
        <p:grpSpPr>
          <a:xfrm>
            <a:off x="13580622" y="1983486"/>
            <a:ext cx="3722370" cy="512826"/>
            <a:chOff x="0" y="0"/>
            <a:chExt cx="4963160" cy="683768"/>
          </a:xfrm>
        </p:grpSpPr>
        <p:grpSp>
          <p:nvGrpSpPr>
            <p:cNvPr id="50" name="Group 50"/>
            <p:cNvGrpSpPr/>
            <p:nvPr/>
          </p:nvGrpSpPr>
          <p:grpSpPr>
            <a:xfrm>
              <a:off x="0" y="0"/>
              <a:ext cx="4963160" cy="683768"/>
              <a:chOff x="0" y="0"/>
              <a:chExt cx="4963160" cy="683768"/>
            </a:xfrm>
          </p:grpSpPr>
          <p:sp>
            <p:nvSpPr>
              <p:cNvPr id="51" name="Freeform 51"/>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2" name="Group 52"/>
            <p:cNvGrpSpPr/>
            <p:nvPr/>
          </p:nvGrpSpPr>
          <p:grpSpPr>
            <a:xfrm>
              <a:off x="12700" y="12700"/>
              <a:ext cx="4937760" cy="658368"/>
              <a:chOff x="0" y="0"/>
              <a:chExt cx="4937760" cy="658368"/>
            </a:xfrm>
          </p:grpSpPr>
          <p:sp>
            <p:nvSpPr>
              <p:cNvPr id="53" name="Freeform 53"/>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54" name="TextBox 54"/>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20 Sep 2026</a:t>
                </a:r>
              </a:p>
            </p:txBody>
          </p:sp>
        </p:grpSp>
      </p:grpSp>
      <p:grpSp>
        <p:nvGrpSpPr>
          <p:cNvPr id="55" name="Group 55"/>
          <p:cNvGrpSpPr/>
          <p:nvPr/>
        </p:nvGrpSpPr>
        <p:grpSpPr>
          <a:xfrm>
            <a:off x="13580622" y="4397502"/>
            <a:ext cx="3722370" cy="512826"/>
            <a:chOff x="0" y="0"/>
            <a:chExt cx="4963160" cy="683768"/>
          </a:xfrm>
        </p:grpSpPr>
        <p:grpSp>
          <p:nvGrpSpPr>
            <p:cNvPr id="56" name="Group 56"/>
            <p:cNvGrpSpPr/>
            <p:nvPr/>
          </p:nvGrpSpPr>
          <p:grpSpPr>
            <a:xfrm>
              <a:off x="0" y="0"/>
              <a:ext cx="4963160" cy="683768"/>
              <a:chOff x="0" y="0"/>
              <a:chExt cx="4963160" cy="683768"/>
            </a:xfrm>
          </p:grpSpPr>
          <p:sp>
            <p:nvSpPr>
              <p:cNvPr id="57" name="Freeform 57"/>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8" name="Group 58"/>
            <p:cNvGrpSpPr/>
            <p:nvPr/>
          </p:nvGrpSpPr>
          <p:grpSpPr>
            <a:xfrm>
              <a:off x="12700" y="12700"/>
              <a:ext cx="4937760" cy="658368"/>
              <a:chOff x="0" y="0"/>
              <a:chExt cx="4937760" cy="658368"/>
            </a:xfrm>
          </p:grpSpPr>
          <p:sp>
            <p:nvSpPr>
              <p:cNvPr id="59" name="Freeform 59"/>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0" name="TextBox 60"/>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29 Oct 2026</a:t>
                </a:r>
              </a:p>
            </p:txBody>
          </p:sp>
        </p:grpSp>
      </p:grpSp>
      <p:grpSp>
        <p:nvGrpSpPr>
          <p:cNvPr id="61" name="Group 61"/>
          <p:cNvGrpSpPr/>
          <p:nvPr/>
        </p:nvGrpSpPr>
        <p:grpSpPr>
          <a:xfrm>
            <a:off x="13580622" y="6454902"/>
            <a:ext cx="3722370" cy="512826"/>
            <a:chOff x="0" y="0"/>
            <a:chExt cx="4963160" cy="683768"/>
          </a:xfrm>
        </p:grpSpPr>
        <p:grpSp>
          <p:nvGrpSpPr>
            <p:cNvPr id="62" name="Group 62"/>
            <p:cNvGrpSpPr/>
            <p:nvPr/>
          </p:nvGrpSpPr>
          <p:grpSpPr>
            <a:xfrm>
              <a:off x="0" y="0"/>
              <a:ext cx="4963160" cy="683768"/>
              <a:chOff x="0" y="0"/>
              <a:chExt cx="4963160" cy="683768"/>
            </a:xfrm>
          </p:grpSpPr>
          <p:sp>
            <p:nvSpPr>
              <p:cNvPr id="63" name="Freeform 63"/>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BF6E9"/>
              </a:solidFill>
              <a:ln w="19050" cap="sq">
                <a:solidFill>
                  <a:srgbClr val="EEE0BB"/>
                </a:solidFill>
                <a:prstDash val="solid"/>
                <a:miter/>
              </a:ln>
            </p:spPr>
            <p:txBody>
              <a:bodyPr/>
              <a:lstStyle/>
              <a:p>
                <a:endParaRPr lang="en-US"/>
              </a:p>
            </p:txBody>
          </p:sp>
        </p:grpSp>
        <p:grpSp>
          <p:nvGrpSpPr>
            <p:cNvPr id="64" name="Group 64"/>
            <p:cNvGrpSpPr/>
            <p:nvPr/>
          </p:nvGrpSpPr>
          <p:grpSpPr>
            <a:xfrm>
              <a:off x="12700" y="12700"/>
              <a:ext cx="4937760" cy="658368"/>
              <a:chOff x="0" y="0"/>
              <a:chExt cx="4937760" cy="658368"/>
            </a:xfrm>
          </p:grpSpPr>
          <p:sp>
            <p:nvSpPr>
              <p:cNvPr id="65" name="Freeform 65"/>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6" name="TextBox 66"/>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8A7530"/>
                    </a:solidFill>
                    <a:latin typeface="Exo 2 Bold"/>
                    <a:ea typeface="Exo 2 Bold"/>
                    <a:cs typeface="Exo 2 Bold"/>
                    <a:sym typeface="Exo 2 Bold"/>
                  </a:rPr>
                  <a:t>Under R&amp;D — date TBC</a:t>
                </a:r>
              </a:p>
            </p:txBody>
          </p:sp>
        </p:grpSp>
      </p:grpSp>
      <p:grpSp>
        <p:nvGrpSpPr>
          <p:cNvPr id="67" name="Group 67"/>
          <p:cNvGrpSpPr/>
          <p:nvPr/>
        </p:nvGrpSpPr>
        <p:grpSpPr>
          <a:xfrm>
            <a:off x="932688" y="3122676"/>
            <a:ext cx="16322040" cy="822960"/>
            <a:chOff x="0" y="0"/>
            <a:chExt cx="21762720" cy="1097280"/>
          </a:xfrm>
        </p:grpSpPr>
        <p:sp>
          <p:nvSpPr>
            <p:cNvPr id="68" name="Freeform 68"/>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69" name="TextBox 69"/>
            <p:cNvSpPr txBox="1"/>
            <p:nvPr/>
          </p:nvSpPr>
          <p:spPr>
            <a:xfrm>
              <a:off x="0" y="-28575"/>
              <a:ext cx="21762720" cy="1125855"/>
            </a:xfrm>
            <a:prstGeom prst="rect">
              <a:avLst/>
            </a:prstGeom>
          </p:spPr>
          <p:txBody>
            <a:bodyPr lIns="0" tIns="0" rIns="0" bIns="0" rtlCol="0" anchor="ctr"/>
            <a:lstStyle/>
            <a:p>
              <a:pPr algn="l">
                <a:lnSpc>
                  <a:spcPts val="2277"/>
                </a:lnSpc>
              </a:pPr>
              <a:r>
                <a:rPr lang="en-US" sz="1650" b="1" i="1">
                  <a:solidFill>
                    <a:srgbClr val="C0392B"/>
                  </a:solidFill>
                  <a:latin typeface="Exo 2 Bold Italics"/>
                  <a:ea typeface="Exo 2 Bold Italics"/>
                  <a:cs typeface="Exo 2 Bold Italics"/>
                  <a:sym typeface="Exo 2 Bold Italics"/>
                </a:rPr>
                <a:t>Under review by the Compliance since 07.09.2026</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2291039"/>
            <a:ext cx="5364290" cy="4472940"/>
            <a:chOff x="0" y="0"/>
            <a:chExt cx="7152386" cy="5963920"/>
          </a:xfrm>
        </p:grpSpPr>
        <p:sp>
          <p:nvSpPr>
            <p:cNvPr id="3" name="Freeform 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4" name="Group 4"/>
          <p:cNvGrpSpPr/>
          <p:nvPr/>
        </p:nvGrpSpPr>
        <p:grpSpPr>
          <a:xfrm>
            <a:off x="1028700" y="2633939"/>
            <a:ext cx="685800" cy="685800"/>
            <a:chOff x="0" y="0"/>
            <a:chExt cx="914400" cy="914400"/>
          </a:xfrm>
        </p:grpSpPr>
        <p:sp>
          <p:nvSpPr>
            <p:cNvPr id="5" name="Freeform 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6" name="Group 6"/>
          <p:cNvGrpSpPr/>
          <p:nvPr/>
        </p:nvGrpSpPr>
        <p:grpSpPr>
          <a:xfrm>
            <a:off x="1028700" y="2633939"/>
            <a:ext cx="685800" cy="685800"/>
            <a:chOff x="0" y="0"/>
            <a:chExt cx="914400" cy="914400"/>
          </a:xfrm>
        </p:grpSpPr>
        <p:sp>
          <p:nvSpPr>
            <p:cNvPr id="7" name="Freeform 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 name="Group 8"/>
          <p:cNvGrpSpPr/>
          <p:nvPr/>
        </p:nvGrpSpPr>
        <p:grpSpPr>
          <a:xfrm>
            <a:off x="1028700" y="2626795"/>
            <a:ext cx="685800" cy="692944"/>
            <a:chOff x="0" y="0"/>
            <a:chExt cx="914400" cy="923925"/>
          </a:xfrm>
        </p:grpSpPr>
        <p:sp>
          <p:nvSpPr>
            <p:cNvPr id="9" name="Freeform 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0" name="Group 10"/>
          <p:cNvGrpSpPr/>
          <p:nvPr/>
        </p:nvGrpSpPr>
        <p:grpSpPr>
          <a:xfrm>
            <a:off x="1028700" y="2619651"/>
            <a:ext cx="685800" cy="700088"/>
            <a:chOff x="0" y="0"/>
            <a:chExt cx="914400" cy="933450"/>
          </a:xfrm>
        </p:grpSpPr>
        <p:sp>
          <p:nvSpPr>
            <p:cNvPr id="11" name="Freeform 1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2" name="TextBox 1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01</a:t>
              </a:r>
            </a:p>
          </p:txBody>
        </p:sp>
      </p:grpSp>
      <p:grpSp>
        <p:nvGrpSpPr>
          <p:cNvPr id="13" name="Group 13"/>
          <p:cNvGrpSpPr/>
          <p:nvPr/>
        </p:nvGrpSpPr>
        <p:grpSpPr>
          <a:xfrm>
            <a:off x="1920240" y="2592791"/>
            <a:ext cx="3855529" cy="685800"/>
            <a:chOff x="0" y="0"/>
            <a:chExt cx="5140706" cy="914400"/>
          </a:xfrm>
        </p:grpSpPr>
        <p:sp>
          <p:nvSpPr>
            <p:cNvPr id="14" name="Freeform 1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5" name="Group 15"/>
          <p:cNvGrpSpPr/>
          <p:nvPr/>
        </p:nvGrpSpPr>
        <p:grpSpPr>
          <a:xfrm>
            <a:off x="1920240" y="2585647"/>
            <a:ext cx="3855568" cy="692944"/>
            <a:chOff x="0" y="0"/>
            <a:chExt cx="5140757" cy="923925"/>
          </a:xfrm>
        </p:grpSpPr>
        <p:sp>
          <p:nvSpPr>
            <p:cNvPr id="16" name="Freeform 1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7" name="Group 17"/>
          <p:cNvGrpSpPr/>
          <p:nvPr/>
        </p:nvGrpSpPr>
        <p:grpSpPr>
          <a:xfrm>
            <a:off x="1920240" y="2578503"/>
            <a:ext cx="3855568" cy="700088"/>
            <a:chOff x="0" y="0"/>
            <a:chExt cx="5140757" cy="933450"/>
          </a:xfrm>
        </p:grpSpPr>
        <p:sp>
          <p:nvSpPr>
            <p:cNvPr id="18" name="Freeform 1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9" name="TextBox 1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Helpdesk Deployment</a:t>
              </a:r>
            </a:p>
          </p:txBody>
        </p:sp>
      </p:grpSp>
      <p:grpSp>
        <p:nvGrpSpPr>
          <p:cNvPr id="20" name="Group 20"/>
          <p:cNvGrpSpPr/>
          <p:nvPr/>
        </p:nvGrpSpPr>
        <p:grpSpPr>
          <a:xfrm>
            <a:off x="1028700" y="3456899"/>
            <a:ext cx="4678490" cy="411480"/>
            <a:chOff x="0" y="0"/>
            <a:chExt cx="6237986" cy="548640"/>
          </a:xfrm>
        </p:grpSpPr>
        <p:sp>
          <p:nvSpPr>
            <p:cNvPr id="21" name="Freeform 2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22" name="Group 22"/>
          <p:cNvGrpSpPr/>
          <p:nvPr/>
        </p:nvGrpSpPr>
        <p:grpSpPr>
          <a:xfrm>
            <a:off x="1028700" y="3456899"/>
            <a:ext cx="4678490" cy="411480"/>
            <a:chOff x="0" y="0"/>
            <a:chExt cx="6237986" cy="548640"/>
          </a:xfrm>
        </p:grpSpPr>
        <p:sp>
          <p:nvSpPr>
            <p:cNvPr id="23" name="Freeform 2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24" name="Group 24"/>
          <p:cNvGrpSpPr/>
          <p:nvPr/>
        </p:nvGrpSpPr>
        <p:grpSpPr>
          <a:xfrm>
            <a:off x="1028700" y="3449755"/>
            <a:ext cx="4678528" cy="418624"/>
            <a:chOff x="0" y="0"/>
            <a:chExt cx="6238037" cy="558165"/>
          </a:xfrm>
        </p:grpSpPr>
        <p:sp>
          <p:nvSpPr>
            <p:cNvPr id="25" name="Freeform 2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26" name="Group 26"/>
          <p:cNvGrpSpPr/>
          <p:nvPr/>
        </p:nvGrpSpPr>
        <p:grpSpPr>
          <a:xfrm>
            <a:off x="1028700" y="3442611"/>
            <a:ext cx="4678528" cy="425768"/>
            <a:chOff x="0" y="0"/>
            <a:chExt cx="6238037" cy="567690"/>
          </a:xfrm>
        </p:grpSpPr>
        <p:sp>
          <p:nvSpPr>
            <p:cNvPr id="27" name="Freeform 2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28" name="TextBox 2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20 Sep 2026</a:t>
              </a:r>
            </a:p>
          </p:txBody>
        </p:sp>
      </p:grpSp>
      <p:grpSp>
        <p:nvGrpSpPr>
          <p:cNvPr id="29" name="Group 29"/>
          <p:cNvGrpSpPr/>
          <p:nvPr/>
        </p:nvGrpSpPr>
        <p:grpSpPr>
          <a:xfrm>
            <a:off x="1028700" y="5143967"/>
            <a:ext cx="2125980" cy="384048"/>
            <a:chOff x="0" y="0"/>
            <a:chExt cx="2834640" cy="512064"/>
          </a:xfrm>
        </p:grpSpPr>
        <p:sp>
          <p:nvSpPr>
            <p:cNvPr id="30" name="Freeform 3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31" name="Group 31"/>
          <p:cNvGrpSpPr/>
          <p:nvPr/>
        </p:nvGrpSpPr>
        <p:grpSpPr>
          <a:xfrm>
            <a:off x="1028700" y="5136823"/>
            <a:ext cx="2125980" cy="391192"/>
            <a:chOff x="0" y="0"/>
            <a:chExt cx="2834640" cy="521589"/>
          </a:xfrm>
        </p:grpSpPr>
        <p:sp>
          <p:nvSpPr>
            <p:cNvPr id="32" name="Freeform 3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33" name="Group 33"/>
          <p:cNvGrpSpPr/>
          <p:nvPr/>
        </p:nvGrpSpPr>
        <p:grpSpPr>
          <a:xfrm>
            <a:off x="1028700" y="5129679"/>
            <a:ext cx="2125980" cy="398336"/>
            <a:chOff x="0" y="0"/>
            <a:chExt cx="2834640" cy="531114"/>
          </a:xfrm>
        </p:grpSpPr>
        <p:sp>
          <p:nvSpPr>
            <p:cNvPr id="34" name="Freeform 3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35" name="TextBox 3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36" name="Group 36"/>
          <p:cNvGrpSpPr/>
          <p:nvPr/>
        </p:nvGrpSpPr>
        <p:grpSpPr>
          <a:xfrm>
            <a:off x="3512668" y="5157683"/>
            <a:ext cx="2194560" cy="356616"/>
            <a:chOff x="0" y="0"/>
            <a:chExt cx="2926080" cy="475488"/>
          </a:xfrm>
        </p:grpSpPr>
        <p:sp>
          <p:nvSpPr>
            <p:cNvPr id="37" name="Freeform 3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38" name="Group 38"/>
          <p:cNvGrpSpPr/>
          <p:nvPr/>
        </p:nvGrpSpPr>
        <p:grpSpPr>
          <a:xfrm>
            <a:off x="3512668" y="5157683"/>
            <a:ext cx="2194560" cy="356616"/>
            <a:chOff x="0" y="0"/>
            <a:chExt cx="2926080" cy="475488"/>
          </a:xfrm>
        </p:grpSpPr>
        <p:sp>
          <p:nvSpPr>
            <p:cNvPr id="39" name="Freeform 3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40" name="Group 40"/>
          <p:cNvGrpSpPr/>
          <p:nvPr/>
        </p:nvGrpSpPr>
        <p:grpSpPr>
          <a:xfrm>
            <a:off x="3512668" y="5150539"/>
            <a:ext cx="2194560" cy="363760"/>
            <a:chOff x="0" y="0"/>
            <a:chExt cx="2926080" cy="485013"/>
          </a:xfrm>
        </p:grpSpPr>
        <p:sp>
          <p:nvSpPr>
            <p:cNvPr id="41" name="Freeform 4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42" name="Group 42"/>
          <p:cNvGrpSpPr/>
          <p:nvPr/>
        </p:nvGrpSpPr>
        <p:grpSpPr>
          <a:xfrm>
            <a:off x="3512668" y="5143395"/>
            <a:ext cx="2194560" cy="370904"/>
            <a:chOff x="0" y="0"/>
            <a:chExt cx="2926080" cy="494538"/>
          </a:xfrm>
        </p:grpSpPr>
        <p:sp>
          <p:nvSpPr>
            <p:cNvPr id="43" name="Freeform 4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44" name="TextBox 4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45" name="Group 45"/>
          <p:cNvGrpSpPr/>
          <p:nvPr/>
        </p:nvGrpSpPr>
        <p:grpSpPr>
          <a:xfrm>
            <a:off x="1028700" y="5651459"/>
            <a:ext cx="2125980" cy="384048"/>
            <a:chOff x="0" y="0"/>
            <a:chExt cx="2834640" cy="512064"/>
          </a:xfrm>
        </p:grpSpPr>
        <p:sp>
          <p:nvSpPr>
            <p:cNvPr id="46" name="Freeform 4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47" name="Group 47"/>
          <p:cNvGrpSpPr/>
          <p:nvPr/>
        </p:nvGrpSpPr>
        <p:grpSpPr>
          <a:xfrm>
            <a:off x="1028700" y="5644315"/>
            <a:ext cx="2125980" cy="391192"/>
            <a:chOff x="0" y="0"/>
            <a:chExt cx="2834640" cy="521589"/>
          </a:xfrm>
        </p:grpSpPr>
        <p:sp>
          <p:nvSpPr>
            <p:cNvPr id="48" name="Freeform 4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49" name="Group 49"/>
          <p:cNvGrpSpPr/>
          <p:nvPr/>
        </p:nvGrpSpPr>
        <p:grpSpPr>
          <a:xfrm>
            <a:off x="1028700" y="5637171"/>
            <a:ext cx="2125980" cy="398336"/>
            <a:chOff x="0" y="0"/>
            <a:chExt cx="2834640" cy="531114"/>
          </a:xfrm>
        </p:grpSpPr>
        <p:sp>
          <p:nvSpPr>
            <p:cNvPr id="50" name="Freeform 5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51" name="TextBox 5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52" name="Group 52"/>
          <p:cNvGrpSpPr/>
          <p:nvPr/>
        </p:nvGrpSpPr>
        <p:grpSpPr>
          <a:xfrm>
            <a:off x="3512668" y="5665175"/>
            <a:ext cx="2194560" cy="356616"/>
            <a:chOff x="0" y="0"/>
            <a:chExt cx="2926080" cy="475488"/>
          </a:xfrm>
        </p:grpSpPr>
        <p:sp>
          <p:nvSpPr>
            <p:cNvPr id="53" name="Freeform 5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54" name="Group 54"/>
          <p:cNvGrpSpPr/>
          <p:nvPr/>
        </p:nvGrpSpPr>
        <p:grpSpPr>
          <a:xfrm>
            <a:off x="3512668" y="5665175"/>
            <a:ext cx="2194560" cy="356616"/>
            <a:chOff x="0" y="0"/>
            <a:chExt cx="2926080" cy="475488"/>
          </a:xfrm>
        </p:grpSpPr>
        <p:sp>
          <p:nvSpPr>
            <p:cNvPr id="55" name="Freeform 5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56" name="Group 56"/>
          <p:cNvGrpSpPr/>
          <p:nvPr/>
        </p:nvGrpSpPr>
        <p:grpSpPr>
          <a:xfrm>
            <a:off x="3512668" y="5658031"/>
            <a:ext cx="2194560" cy="363760"/>
            <a:chOff x="0" y="0"/>
            <a:chExt cx="2926080" cy="485013"/>
          </a:xfrm>
        </p:grpSpPr>
        <p:sp>
          <p:nvSpPr>
            <p:cNvPr id="57" name="Freeform 5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58" name="Group 58"/>
          <p:cNvGrpSpPr/>
          <p:nvPr/>
        </p:nvGrpSpPr>
        <p:grpSpPr>
          <a:xfrm>
            <a:off x="3512668" y="5650887"/>
            <a:ext cx="2194560" cy="370904"/>
            <a:chOff x="0" y="0"/>
            <a:chExt cx="2926080" cy="494538"/>
          </a:xfrm>
        </p:grpSpPr>
        <p:sp>
          <p:nvSpPr>
            <p:cNvPr id="59" name="Freeform 5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60" name="TextBox 6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61" name="Group 61"/>
          <p:cNvGrpSpPr/>
          <p:nvPr/>
        </p:nvGrpSpPr>
        <p:grpSpPr>
          <a:xfrm>
            <a:off x="1028700" y="6158951"/>
            <a:ext cx="2125980" cy="384048"/>
            <a:chOff x="0" y="0"/>
            <a:chExt cx="2834640" cy="512064"/>
          </a:xfrm>
        </p:grpSpPr>
        <p:sp>
          <p:nvSpPr>
            <p:cNvPr id="62" name="Freeform 6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63" name="Group 63"/>
          <p:cNvGrpSpPr/>
          <p:nvPr/>
        </p:nvGrpSpPr>
        <p:grpSpPr>
          <a:xfrm>
            <a:off x="1028700" y="6151807"/>
            <a:ext cx="2125980" cy="391192"/>
            <a:chOff x="0" y="0"/>
            <a:chExt cx="2834640" cy="521589"/>
          </a:xfrm>
        </p:grpSpPr>
        <p:sp>
          <p:nvSpPr>
            <p:cNvPr id="64" name="Freeform 6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65" name="Group 65"/>
          <p:cNvGrpSpPr/>
          <p:nvPr/>
        </p:nvGrpSpPr>
        <p:grpSpPr>
          <a:xfrm>
            <a:off x="1028700" y="6144663"/>
            <a:ext cx="2125980" cy="398336"/>
            <a:chOff x="0" y="0"/>
            <a:chExt cx="2834640" cy="531114"/>
          </a:xfrm>
        </p:grpSpPr>
        <p:sp>
          <p:nvSpPr>
            <p:cNvPr id="66" name="Freeform 6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67" name="TextBox 6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68" name="Group 68"/>
          <p:cNvGrpSpPr/>
          <p:nvPr/>
        </p:nvGrpSpPr>
        <p:grpSpPr>
          <a:xfrm>
            <a:off x="3512668" y="6172667"/>
            <a:ext cx="2194560" cy="356616"/>
            <a:chOff x="0" y="0"/>
            <a:chExt cx="2926080" cy="475488"/>
          </a:xfrm>
        </p:grpSpPr>
        <p:sp>
          <p:nvSpPr>
            <p:cNvPr id="69" name="Freeform 6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70" name="Group 70"/>
          <p:cNvGrpSpPr/>
          <p:nvPr/>
        </p:nvGrpSpPr>
        <p:grpSpPr>
          <a:xfrm>
            <a:off x="3512668" y="6172667"/>
            <a:ext cx="2194560" cy="356616"/>
            <a:chOff x="0" y="0"/>
            <a:chExt cx="2926080" cy="475488"/>
          </a:xfrm>
        </p:grpSpPr>
        <p:sp>
          <p:nvSpPr>
            <p:cNvPr id="71" name="Freeform 7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72" name="Group 72"/>
          <p:cNvGrpSpPr/>
          <p:nvPr/>
        </p:nvGrpSpPr>
        <p:grpSpPr>
          <a:xfrm>
            <a:off x="3512668" y="6165523"/>
            <a:ext cx="2194560" cy="363760"/>
            <a:chOff x="0" y="0"/>
            <a:chExt cx="2926080" cy="485013"/>
          </a:xfrm>
        </p:grpSpPr>
        <p:sp>
          <p:nvSpPr>
            <p:cNvPr id="73" name="Freeform 7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74" name="Group 74"/>
          <p:cNvGrpSpPr/>
          <p:nvPr/>
        </p:nvGrpSpPr>
        <p:grpSpPr>
          <a:xfrm>
            <a:off x="3512668" y="6158379"/>
            <a:ext cx="2194560" cy="370904"/>
            <a:chOff x="0" y="0"/>
            <a:chExt cx="2926080" cy="494538"/>
          </a:xfrm>
        </p:grpSpPr>
        <p:sp>
          <p:nvSpPr>
            <p:cNvPr id="75" name="Freeform 7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76" name="TextBox 7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77" name="Group 77"/>
          <p:cNvGrpSpPr/>
          <p:nvPr/>
        </p:nvGrpSpPr>
        <p:grpSpPr>
          <a:xfrm>
            <a:off x="6461608" y="2291039"/>
            <a:ext cx="5364290" cy="4472940"/>
            <a:chOff x="0" y="0"/>
            <a:chExt cx="7152386" cy="5963920"/>
          </a:xfrm>
        </p:grpSpPr>
        <p:sp>
          <p:nvSpPr>
            <p:cNvPr id="78" name="Freeform 78"/>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79" name="Group 79"/>
          <p:cNvGrpSpPr/>
          <p:nvPr/>
        </p:nvGrpSpPr>
        <p:grpSpPr>
          <a:xfrm>
            <a:off x="6804508" y="2633939"/>
            <a:ext cx="685800" cy="685800"/>
            <a:chOff x="0" y="0"/>
            <a:chExt cx="914400" cy="914400"/>
          </a:xfrm>
        </p:grpSpPr>
        <p:sp>
          <p:nvSpPr>
            <p:cNvPr id="80" name="Freeform 80"/>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81" name="Group 81"/>
          <p:cNvGrpSpPr/>
          <p:nvPr/>
        </p:nvGrpSpPr>
        <p:grpSpPr>
          <a:xfrm>
            <a:off x="6804508" y="2633939"/>
            <a:ext cx="685800" cy="685800"/>
            <a:chOff x="0" y="0"/>
            <a:chExt cx="914400" cy="914400"/>
          </a:xfrm>
        </p:grpSpPr>
        <p:sp>
          <p:nvSpPr>
            <p:cNvPr id="82" name="Freeform 82"/>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3" name="Group 83"/>
          <p:cNvGrpSpPr/>
          <p:nvPr/>
        </p:nvGrpSpPr>
        <p:grpSpPr>
          <a:xfrm>
            <a:off x="6804508" y="2626795"/>
            <a:ext cx="685800" cy="692944"/>
            <a:chOff x="0" y="0"/>
            <a:chExt cx="914400" cy="923925"/>
          </a:xfrm>
        </p:grpSpPr>
        <p:sp>
          <p:nvSpPr>
            <p:cNvPr id="84" name="Freeform 84"/>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85" name="Group 85"/>
          <p:cNvGrpSpPr/>
          <p:nvPr/>
        </p:nvGrpSpPr>
        <p:grpSpPr>
          <a:xfrm>
            <a:off x="6804508" y="2619651"/>
            <a:ext cx="685800" cy="700088"/>
            <a:chOff x="0" y="0"/>
            <a:chExt cx="914400" cy="933450"/>
          </a:xfrm>
        </p:grpSpPr>
        <p:sp>
          <p:nvSpPr>
            <p:cNvPr id="86" name="Freeform 86"/>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87" name="TextBox 87"/>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02</a:t>
              </a:r>
            </a:p>
          </p:txBody>
        </p:sp>
      </p:grpSp>
      <p:grpSp>
        <p:nvGrpSpPr>
          <p:cNvPr id="88" name="Group 88"/>
          <p:cNvGrpSpPr/>
          <p:nvPr/>
        </p:nvGrpSpPr>
        <p:grpSpPr>
          <a:xfrm>
            <a:off x="7696048" y="2592791"/>
            <a:ext cx="3855529" cy="685800"/>
            <a:chOff x="0" y="0"/>
            <a:chExt cx="5140706" cy="914400"/>
          </a:xfrm>
        </p:grpSpPr>
        <p:sp>
          <p:nvSpPr>
            <p:cNvPr id="89" name="Freeform 89"/>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90" name="Group 90"/>
          <p:cNvGrpSpPr/>
          <p:nvPr/>
        </p:nvGrpSpPr>
        <p:grpSpPr>
          <a:xfrm>
            <a:off x="7696048" y="2585647"/>
            <a:ext cx="3855568" cy="692944"/>
            <a:chOff x="0" y="0"/>
            <a:chExt cx="5140757" cy="923925"/>
          </a:xfrm>
        </p:grpSpPr>
        <p:sp>
          <p:nvSpPr>
            <p:cNvPr id="91" name="Freeform 91"/>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92" name="Group 92"/>
          <p:cNvGrpSpPr/>
          <p:nvPr/>
        </p:nvGrpSpPr>
        <p:grpSpPr>
          <a:xfrm>
            <a:off x="7696048" y="2578503"/>
            <a:ext cx="3855568" cy="700088"/>
            <a:chOff x="0" y="0"/>
            <a:chExt cx="5140757" cy="933450"/>
          </a:xfrm>
        </p:grpSpPr>
        <p:sp>
          <p:nvSpPr>
            <p:cNvPr id="93" name="Freeform 93"/>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94" name="TextBox 94"/>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WealthTech CRM Rollout</a:t>
              </a:r>
            </a:p>
          </p:txBody>
        </p:sp>
      </p:grpSp>
      <p:grpSp>
        <p:nvGrpSpPr>
          <p:cNvPr id="95" name="Group 95"/>
          <p:cNvGrpSpPr/>
          <p:nvPr/>
        </p:nvGrpSpPr>
        <p:grpSpPr>
          <a:xfrm>
            <a:off x="6804508" y="3456899"/>
            <a:ext cx="4678490" cy="411480"/>
            <a:chOff x="0" y="0"/>
            <a:chExt cx="6237986" cy="548640"/>
          </a:xfrm>
        </p:grpSpPr>
        <p:sp>
          <p:nvSpPr>
            <p:cNvPr id="96" name="Freeform 96"/>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97" name="Group 97"/>
          <p:cNvGrpSpPr/>
          <p:nvPr/>
        </p:nvGrpSpPr>
        <p:grpSpPr>
          <a:xfrm>
            <a:off x="6804508" y="3456899"/>
            <a:ext cx="4678490" cy="411480"/>
            <a:chOff x="0" y="0"/>
            <a:chExt cx="6237986" cy="548640"/>
          </a:xfrm>
        </p:grpSpPr>
        <p:sp>
          <p:nvSpPr>
            <p:cNvPr id="98" name="Freeform 98"/>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99" name="Group 99"/>
          <p:cNvGrpSpPr/>
          <p:nvPr/>
        </p:nvGrpSpPr>
        <p:grpSpPr>
          <a:xfrm>
            <a:off x="6804508" y="3449755"/>
            <a:ext cx="4678528" cy="418624"/>
            <a:chOff x="0" y="0"/>
            <a:chExt cx="6238037" cy="558165"/>
          </a:xfrm>
        </p:grpSpPr>
        <p:sp>
          <p:nvSpPr>
            <p:cNvPr id="100" name="Freeform 100"/>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01" name="Group 101"/>
          <p:cNvGrpSpPr/>
          <p:nvPr/>
        </p:nvGrpSpPr>
        <p:grpSpPr>
          <a:xfrm>
            <a:off x="6804508" y="3442611"/>
            <a:ext cx="4678528" cy="425768"/>
            <a:chOff x="0" y="0"/>
            <a:chExt cx="6238037" cy="567690"/>
          </a:xfrm>
        </p:grpSpPr>
        <p:sp>
          <p:nvSpPr>
            <p:cNvPr id="102" name="Freeform 102"/>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03" name="TextBox 103"/>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29 Oct 2026</a:t>
              </a:r>
            </a:p>
          </p:txBody>
        </p:sp>
      </p:grpSp>
      <p:grpSp>
        <p:nvGrpSpPr>
          <p:cNvPr id="104" name="Group 104"/>
          <p:cNvGrpSpPr/>
          <p:nvPr/>
        </p:nvGrpSpPr>
        <p:grpSpPr>
          <a:xfrm>
            <a:off x="6804508" y="5143967"/>
            <a:ext cx="2125980" cy="384048"/>
            <a:chOff x="0" y="0"/>
            <a:chExt cx="2834640" cy="512064"/>
          </a:xfrm>
        </p:grpSpPr>
        <p:sp>
          <p:nvSpPr>
            <p:cNvPr id="105" name="Freeform 105"/>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06" name="Group 106"/>
          <p:cNvGrpSpPr/>
          <p:nvPr/>
        </p:nvGrpSpPr>
        <p:grpSpPr>
          <a:xfrm>
            <a:off x="6804508" y="5136823"/>
            <a:ext cx="2125980" cy="391192"/>
            <a:chOff x="0" y="0"/>
            <a:chExt cx="2834640" cy="521589"/>
          </a:xfrm>
        </p:grpSpPr>
        <p:sp>
          <p:nvSpPr>
            <p:cNvPr id="107" name="Freeform 107"/>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08" name="Group 108"/>
          <p:cNvGrpSpPr/>
          <p:nvPr/>
        </p:nvGrpSpPr>
        <p:grpSpPr>
          <a:xfrm>
            <a:off x="6804508" y="5129679"/>
            <a:ext cx="2125980" cy="398336"/>
            <a:chOff x="0" y="0"/>
            <a:chExt cx="2834640" cy="531114"/>
          </a:xfrm>
        </p:grpSpPr>
        <p:sp>
          <p:nvSpPr>
            <p:cNvPr id="109" name="Freeform 109"/>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10" name="TextBox 110"/>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11" name="Group 111"/>
          <p:cNvGrpSpPr/>
          <p:nvPr/>
        </p:nvGrpSpPr>
        <p:grpSpPr>
          <a:xfrm>
            <a:off x="9288475" y="5157683"/>
            <a:ext cx="2194560" cy="356616"/>
            <a:chOff x="0" y="0"/>
            <a:chExt cx="2926080" cy="475488"/>
          </a:xfrm>
        </p:grpSpPr>
        <p:sp>
          <p:nvSpPr>
            <p:cNvPr id="112" name="Freeform 11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13" name="Group 113"/>
          <p:cNvGrpSpPr/>
          <p:nvPr/>
        </p:nvGrpSpPr>
        <p:grpSpPr>
          <a:xfrm>
            <a:off x="9288475" y="5157683"/>
            <a:ext cx="2194560" cy="356616"/>
            <a:chOff x="0" y="0"/>
            <a:chExt cx="2926080" cy="475488"/>
          </a:xfrm>
        </p:grpSpPr>
        <p:sp>
          <p:nvSpPr>
            <p:cNvPr id="114" name="Freeform 114"/>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15" name="Group 115"/>
          <p:cNvGrpSpPr/>
          <p:nvPr/>
        </p:nvGrpSpPr>
        <p:grpSpPr>
          <a:xfrm>
            <a:off x="9288475" y="5150539"/>
            <a:ext cx="2194560" cy="363760"/>
            <a:chOff x="0" y="0"/>
            <a:chExt cx="2926080" cy="485013"/>
          </a:xfrm>
        </p:grpSpPr>
        <p:sp>
          <p:nvSpPr>
            <p:cNvPr id="116" name="Freeform 116"/>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17" name="Group 117"/>
          <p:cNvGrpSpPr/>
          <p:nvPr/>
        </p:nvGrpSpPr>
        <p:grpSpPr>
          <a:xfrm>
            <a:off x="9288475" y="5143395"/>
            <a:ext cx="2194560" cy="370904"/>
            <a:chOff x="0" y="0"/>
            <a:chExt cx="2926080" cy="494538"/>
          </a:xfrm>
        </p:grpSpPr>
        <p:sp>
          <p:nvSpPr>
            <p:cNvPr id="118" name="Freeform 118"/>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19" name="TextBox 119"/>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20" name="Group 120"/>
          <p:cNvGrpSpPr/>
          <p:nvPr/>
        </p:nvGrpSpPr>
        <p:grpSpPr>
          <a:xfrm>
            <a:off x="6804508" y="5651459"/>
            <a:ext cx="2125980" cy="384048"/>
            <a:chOff x="0" y="0"/>
            <a:chExt cx="2834640" cy="512064"/>
          </a:xfrm>
        </p:grpSpPr>
        <p:sp>
          <p:nvSpPr>
            <p:cNvPr id="121" name="Freeform 121"/>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22" name="Group 122"/>
          <p:cNvGrpSpPr/>
          <p:nvPr/>
        </p:nvGrpSpPr>
        <p:grpSpPr>
          <a:xfrm>
            <a:off x="6804508" y="5644315"/>
            <a:ext cx="2125980" cy="391192"/>
            <a:chOff x="0" y="0"/>
            <a:chExt cx="2834640" cy="521589"/>
          </a:xfrm>
        </p:grpSpPr>
        <p:sp>
          <p:nvSpPr>
            <p:cNvPr id="123" name="Freeform 123"/>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24" name="Group 124"/>
          <p:cNvGrpSpPr/>
          <p:nvPr/>
        </p:nvGrpSpPr>
        <p:grpSpPr>
          <a:xfrm>
            <a:off x="6804508" y="5637171"/>
            <a:ext cx="2125980" cy="398336"/>
            <a:chOff x="0" y="0"/>
            <a:chExt cx="2834640" cy="531114"/>
          </a:xfrm>
        </p:grpSpPr>
        <p:sp>
          <p:nvSpPr>
            <p:cNvPr id="125" name="Freeform 125"/>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26" name="TextBox 126"/>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127" name="Group 127"/>
          <p:cNvGrpSpPr/>
          <p:nvPr/>
        </p:nvGrpSpPr>
        <p:grpSpPr>
          <a:xfrm>
            <a:off x="9288475" y="5665175"/>
            <a:ext cx="2194560" cy="356616"/>
            <a:chOff x="0" y="0"/>
            <a:chExt cx="2926080" cy="475488"/>
          </a:xfrm>
        </p:grpSpPr>
        <p:sp>
          <p:nvSpPr>
            <p:cNvPr id="128" name="Freeform 128"/>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29" name="Group 129"/>
          <p:cNvGrpSpPr/>
          <p:nvPr/>
        </p:nvGrpSpPr>
        <p:grpSpPr>
          <a:xfrm>
            <a:off x="9288475" y="5665175"/>
            <a:ext cx="2194560" cy="356616"/>
            <a:chOff x="0" y="0"/>
            <a:chExt cx="2926080" cy="475488"/>
          </a:xfrm>
        </p:grpSpPr>
        <p:sp>
          <p:nvSpPr>
            <p:cNvPr id="130" name="Freeform 130"/>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31" name="Group 131"/>
          <p:cNvGrpSpPr/>
          <p:nvPr/>
        </p:nvGrpSpPr>
        <p:grpSpPr>
          <a:xfrm>
            <a:off x="9288475" y="5658031"/>
            <a:ext cx="2194560" cy="363760"/>
            <a:chOff x="0" y="0"/>
            <a:chExt cx="2926080" cy="485013"/>
          </a:xfrm>
        </p:grpSpPr>
        <p:sp>
          <p:nvSpPr>
            <p:cNvPr id="132" name="Freeform 132"/>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33" name="Group 133"/>
          <p:cNvGrpSpPr/>
          <p:nvPr/>
        </p:nvGrpSpPr>
        <p:grpSpPr>
          <a:xfrm>
            <a:off x="9288475" y="5650887"/>
            <a:ext cx="2194560" cy="370904"/>
            <a:chOff x="0" y="0"/>
            <a:chExt cx="2926080" cy="494538"/>
          </a:xfrm>
        </p:grpSpPr>
        <p:sp>
          <p:nvSpPr>
            <p:cNvPr id="134" name="Freeform 134"/>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35" name="TextBox 135"/>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36" name="Group 136"/>
          <p:cNvGrpSpPr/>
          <p:nvPr/>
        </p:nvGrpSpPr>
        <p:grpSpPr>
          <a:xfrm>
            <a:off x="6804508" y="6158951"/>
            <a:ext cx="2125980" cy="384048"/>
            <a:chOff x="0" y="0"/>
            <a:chExt cx="2834640" cy="512064"/>
          </a:xfrm>
        </p:grpSpPr>
        <p:sp>
          <p:nvSpPr>
            <p:cNvPr id="137" name="Freeform 137"/>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38" name="Group 138"/>
          <p:cNvGrpSpPr/>
          <p:nvPr/>
        </p:nvGrpSpPr>
        <p:grpSpPr>
          <a:xfrm>
            <a:off x="6804508" y="6151807"/>
            <a:ext cx="2125980" cy="391192"/>
            <a:chOff x="0" y="0"/>
            <a:chExt cx="2834640" cy="521589"/>
          </a:xfrm>
        </p:grpSpPr>
        <p:sp>
          <p:nvSpPr>
            <p:cNvPr id="139" name="Freeform 139"/>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40" name="Group 140"/>
          <p:cNvGrpSpPr/>
          <p:nvPr/>
        </p:nvGrpSpPr>
        <p:grpSpPr>
          <a:xfrm>
            <a:off x="6804508" y="6144663"/>
            <a:ext cx="2125980" cy="398336"/>
            <a:chOff x="0" y="0"/>
            <a:chExt cx="2834640" cy="531114"/>
          </a:xfrm>
        </p:grpSpPr>
        <p:sp>
          <p:nvSpPr>
            <p:cNvPr id="141" name="Freeform 141"/>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42" name="TextBox 142"/>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143" name="Group 143"/>
          <p:cNvGrpSpPr/>
          <p:nvPr/>
        </p:nvGrpSpPr>
        <p:grpSpPr>
          <a:xfrm>
            <a:off x="9288475" y="6172667"/>
            <a:ext cx="2194560" cy="356616"/>
            <a:chOff x="0" y="0"/>
            <a:chExt cx="2926080" cy="475488"/>
          </a:xfrm>
        </p:grpSpPr>
        <p:sp>
          <p:nvSpPr>
            <p:cNvPr id="144" name="Freeform 144"/>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145" name="Group 145"/>
          <p:cNvGrpSpPr/>
          <p:nvPr/>
        </p:nvGrpSpPr>
        <p:grpSpPr>
          <a:xfrm>
            <a:off x="9288475" y="6172667"/>
            <a:ext cx="2194560" cy="356616"/>
            <a:chOff x="0" y="0"/>
            <a:chExt cx="2926080" cy="475488"/>
          </a:xfrm>
        </p:grpSpPr>
        <p:sp>
          <p:nvSpPr>
            <p:cNvPr id="146" name="Freeform 146"/>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47" name="Group 147"/>
          <p:cNvGrpSpPr/>
          <p:nvPr/>
        </p:nvGrpSpPr>
        <p:grpSpPr>
          <a:xfrm>
            <a:off x="9288475" y="6165523"/>
            <a:ext cx="2194560" cy="363760"/>
            <a:chOff x="0" y="0"/>
            <a:chExt cx="2926080" cy="485013"/>
          </a:xfrm>
        </p:grpSpPr>
        <p:sp>
          <p:nvSpPr>
            <p:cNvPr id="148" name="Freeform 148"/>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49" name="Group 149"/>
          <p:cNvGrpSpPr/>
          <p:nvPr/>
        </p:nvGrpSpPr>
        <p:grpSpPr>
          <a:xfrm>
            <a:off x="9288475" y="6158379"/>
            <a:ext cx="2194560" cy="370904"/>
            <a:chOff x="0" y="0"/>
            <a:chExt cx="2926080" cy="494538"/>
          </a:xfrm>
        </p:grpSpPr>
        <p:sp>
          <p:nvSpPr>
            <p:cNvPr id="150" name="Freeform 150"/>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51" name="TextBox 151"/>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152" name="Group 152"/>
          <p:cNvGrpSpPr/>
          <p:nvPr/>
        </p:nvGrpSpPr>
        <p:grpSpPr>
          <a:xfrm>
            <a:off x="12237415" y="2291039"/>
            <a:ext cx="5364290" cy="4472940"/>
            <a:chOff x="0" y="0"/>
            <a:chExt cx="7152386" cy="5963920"/>
          </a:xfrm>
        </p:grpSpPr>
        <p:sp>
          <p:nvSpPr>
            <p:cNvPr id="153" name="Freeform 15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154" name="Group 154"/>
          <p:cNvGrpSpPr/>
          <p:nvPr/>
        </p:nvGrpSpPr>
        <p:grpSpPr>
          <a:xfrm>
            <a:off x="12580315" y="2633939"/>
            <a:ext cx="685800" cy="685800"/>
            <a:chOff x="0" y="0"/>
            <a:chExt cx="914400" cy="914400"/>
          </a:xfrm>
        </p:grpSpPr>
        <p:sp>
          <p:nvSpPr>
            <p:cNvPr id="155" name="Freeform 15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156" name="Group 156"/>
          <p:cNvGrpSpPr/>
          <p:nvPr/>
        </p:nvGrpSpPr>
        <p:grpSpPr>
          <a:xfrm>
            <a:off x="12580315" y="2633939"/>
            <a:ext cx="685800" cy="685800"/>
            <a:chOff x="0" y="0"/>
            <a:chExt cx="914400" cy="914400"/>
          </a:xfrm>
        </p:grpSpPr>
        <p:sp>
          <p:nvSpPr>
            <p:cNvPr id="157" name="Freeform 15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158" name="Group 158"/>
          <p:cNvGrpSpPr/>
          <p:nvPr/>
        </p:nvGrpSpPr>
        <p:grpSpPr>
          <a:xfrm>
            <a:off x="12580315" y="2626795"/>
            <a:ext cx="685800" cy="692944"/>
            <a:chOff x="0" y="0"/>
            <a:chExt cx="914400" cy="923925"/>
          </a:xfrm>
        </p:grpSpPr>
        <p:sp>
          <p:nvSpPr>
            <p:cNvPr id="159" name="Freeform 15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60" name="Group 160"/>
          <p:cNvGrpSpPr/>
          <p:nvPr/>
        </p:nvGrpSpPr>
        <p:grpSpPr>
          <a:xfrm>
            <a:off x="12580315" y="2619651"/>
            <a:ext cx="685800" cy="700088"/>
            <a:chOff x="0" y="0"/>
            <a:chExt cx="914400" cy="933450"/>
          </a:xfrm>
        </p:grpSpPr>
        <p:sp>
          <p:nvSpPr>
            <p:cNvPr id="161" name="Freeform 16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62" name="TextBox 16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03</a:t>
              </a:r>
            </a:p>
          </p:txBody>
        </p:sp>
      </p:grpSp>
      <p:grpSp>
        <p:nvGrpSpPr>
          <p:cNvPr id="163" name="Group 163"/>
          <p:cNvGrpSpPr/>
          <p:nvPr/>
        </p:nvGrpSpPr>
        <p:grpSpPr>
          <a:xfrm>
            <a:off x="13471855" y="2592791"/>
            <a:ext cx="3855529" cy="685800"/>
            <a:chOff x="0" y="0"/>
            <a:chExt cx="5140706" cy="914400"/>
          </a:xfrm>
        </p:grpSpPr>
        <p:sp>
          <p:nvSpPr>
            <p:cNvPr id="164" name="Freeform 16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65" name="Group 165"/>
          <p:cNvGrpSpPr/>
          <p:nvPr/>
        </p:nvGrpSpPr>
        <p:grpSpPr>
          <a:xfrm>
            <a:off x="13471855" y="2585647"/>
            <a:ext cx="3855568" cy="692944"/>
            <a:chOff x="0" y="0"/>
            <a:chExt cx="5140757" cy="923925"/>
          </a:xfrm>
        </p:grpSpPr>
        <p:sp>
          <p:nvSpPr>
            <p:cNvPr id="166" name="Freeform 16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67" name="Group 167"/>
          <p:cNvGrpSpPr/>
          <p:nvPr/>
        </p:nvGrpSpPr>
        <p:grpSpPr>
          <a:xfrm>
            <a:off x="13471855" y="2578503"/>
            <a:ext cx="3855568" cy="700088"/>
            <a:chOff x="0" y="0"/>
            <a:chExt cx="5140757" cy="933450"/>
          </a:xfrm>
        </p:grpSpPr>
        <p:sp>
          <p:nvSpPr>
            <p:cNvPr id="168" name="Freeform 16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69" name="TextBox 16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Reporting Dashboard</a:t>
              </a:r>
            </a:p>
          </p:txBody>
        </p:sp>
      </p:grpSp>
      <p:grpSp>
        <p:nvGrpSpPr>
          <p:cNvPr id="170" name="Group 170"/>
          <p:cNvGrpSpPr/>
          <p:nvPr/>
        </p:nvGrpSpPr>
        <p:grpSpPr>
          <a:xfrm>
            <a:off x="12580315" y="3456899"/>
            <a:ext cx="4678490" cy="411480"/>
            <a:chOff x="0" y="0"/>
            <a:chExt cx="6237986" cy="548640"/>
          </a:xfrm>
        </p:grpSpPr>
        <p:sp>
          <p:nvSpPr>
            <p:cNvPr id="171" name="Freeform 17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172" name="Group 172"/>
          <p:cNvGrpSpPr/>
          <p:nvPr/>
        </p:nvGrpSpPr>
        <p:grpSpPr>
          <a:xfrm>
            <a:off x="12580315" y="3456899"/>
            <a:ext cx="4678490" cy="411480"/>
            <a:chOff x="0" y="0"/>
            <a:chExt cx="6237986" cy="548640"/>
          </a:xfrm>
        </p:grpSpPr>
        <p:sp>
          <p:nvSpPr>
            <p:cNvPr id="173" name="Freeform 17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174" name="Group 174"/>
          <p:cNvGrpSpPr/>
          <p:nvPr/>
        </p:nvGrpSpPr>
        <p:grpSpPr>
          <a:xfrm>
            <a:off x="12580315" y="3449755"/>
            <a:ext cx="4678528" cy="418624"/>
            <a:chOff x="0" y="0"/>
            <a:chExt cx="6238037" cy="558165"/>
          </a:xfrm>
        </p:grpSpPr>
        <p:sp>
          <p:nvSpPr>
            <p:cNvPr id="175" name="Freeform 17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76" name="Group 176"/>
          <p:cNvGrpSpPr/>
          <p:nvPr/>
        </p:nvGrpSpPr>
        <p:grpSpPr>
          <a:xfrm>
            <a:off x="12580315" y="3442611"/>
            <a:ext cx="4678528" cy="425768"/>
            <a:chOff x="0" y="0"/>
            <a:chExt cx="6238037" cy="567690"/>
          </a:xfrm>
        </p:grpSpPr>
        <p:sp>
          <p:nvSpPr>
            <p:cNvPr id="177" name="Freeform 17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78" name="TextBox 17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TBC</a:t>
              </a:r>
            </a:p>
          </p:txBody>
        </p:sp>
      </p:grpSp>
      <p:grpSp>
        <p:nvGrpSpPr>
          <p:cNvPr id="179" name="Group 179"/>
          <p:cNvGrpSpPr/>
          <p:nvPr/>
        </p:nvGrpSpPr>
        <p:grpSpPr>
          <a:xfrm>
            <a:off x="12580315" y="5143967"/>
            <a:ext cx="2125980" cy="384048"/>
            <a:chOff x="0" y="0"/>
            <a:chExt cx="2834640" cy="512064"/>
          </a:xfrm>
        </p:grpSpPr>
        <p:sp>
          <p:nvSpPr>
            <p:cNvPr id="180" name="Freeform 18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81" name="Group 181"/>
          <p:cNvGrpSpPr/>
          <p:nvPr/>
        </p:nvGrpSpPr>
        <p:grpSpPr>
          <a:xfrm>
            <a:off x="12580315" y="5136823"/>
            <a:ext cx="2125980" cy="391192"/>
            <a:chOff x="0" y="0"/>
            <a:chExt cx="2834640" cy="521589"/>
          </a:xfrm>
        </p:grpSpPr>
        <p:sp>
          <p:nvSpPr>
            <p:cNvPr id="182" name="Freeform 18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83" name="Group 183"/>
          <p:cNvGrpSpPr/>
          <p:nvPr/>
        </p:nvGrpSpPr>
        <p:grpSpPr>
          <a:xfrm>
            <a:off x="12580315" y="5129679"/>
            <a:ext cx="2125980" cy="398336"/>
            <a:chOff x="0" y="0"/>
            <a:chExt cx="2834640" cy="531114"/>
          </a:xfrm>
        </p:grpSpPr>
        <p:sp>
          <p:nvSpPr>
            <p:cNvPr id="184" name="Freeform 18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85" name="TextBox 18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86" name="Group 186"/>
          <p:cNvGrpSpPr/>
          <p:nvPr/>
        </p:nvGrpSpPr>
        <p:grpSpPr>
          <a:xfrm>
            <a:off x="15064283" y="5157683"/>
            <a:ext cx="2194560" cy="356616"/>
            <a:chOff x="0" y="0"/>
            <a:chExt cx="2926080" cy="475488"/>
          </a:xfrm>
        </p:grpSpPr>
        <p:sp>
          <p:nvSpPr>
            <p:cNvPr id="187" name="Freeform 18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188" name="Group 188"/>
          <p:cNvGrpSpPr/>
          <p:nvPr/>
        </p:nvGrpSpPr>
        <p:grpSpPr>
          <a:xfrm>
            <a:off x="15064283" y="5157683"/>
            <a:ext cx="2194560" cy="356616"/>
            <a:chOff x="0" y="0"/>
            <a:chExt cx="2926080" cy="475488"/>
          </a:xfrm>
        </p:grpSpPr>
        <p:sp>
          <p:nvSpPr>
            <p:cNvPr id="189" name="Freeform 18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90" name="Group 190"/>
          <p:cNvGrpSpPr/>
          <p:nvPr/>
        </p:nvGrpSpPr>
        <p:grpSpPr>
          <a:xfrm>
            <a:off x="15064283" y="5150539"/>
            <a:ext cx="2194560" cy="363760"/>
            <a:chOff x="0" y="0"/>
            <a:chExt cx="2926080" cy="485013"/>
          </a:xfrm>
        </p:grpSpPr>
        <p:sp>
          <p:nvSpPr>
            <p:cNvPr id="191" name="Freeform 19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92" name="Group 192"/>
          <p:cNvGrpSpPr/>
          <p:nvPr/>
        </p:nvGrpSpPr>
        <p:grpSpPr>
          <a:xfrm>
            <a:off x="15064283" y="5143395"/>
            <a:ext cx="2194560" cy="370904"/>
            <a:chOff x="0" y="0"/>
            <a:chExt cx="2926080" cy="494538"/>
          </a:xfrm>
        </p:grpSpPr>
        <p:sp>
          <p:nvSpPr>
            <p:cNvPr id="193" name="Freeform 19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94" name="TextBox 19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195" name="Group 195"/>
          <p:cNvGrpSpPr/>
          <p:nvPr/>
        </p:nvGrpSpPr>
        <p:grpSpPr>
          <a:xfrm>
            <a:off x="12580315" y="5651459"/>
            <a:ext cx="2125980" cy="384048"/>
            <a:chOff x="0" y="0"/>
            <a:chExt cx="2834640" cy="512064"/>
          </a:xfrm>
        </p:grpSpPr>
        <p:sp>
          <p:nvSpPr>
            <p:cNvPr id="196" name="Freeform 19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97" name="Group 197"/>
          <p:cNvGrpSpPr/>
          <p:nvPr/>
        </p:nvGrpSpPr>
        <p:grpSpPr>
          <a:xfrm>
            <a:off x="12580315" y="5644315"/>
            <a:ext cx="2125980" cy="391192"/>
            <a:chOff x="0" y="0"/>
            <a:chExt cx="2834640" cy="521589"/>
          </a:xfrm>
        </p:grpSpPr>
        <p:sp>
          <p:nvSpPr>
            <p:cNvPr id="198" name="Freeform 19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99" name="Group 199"/>
          <p:cNvGrpSpPr/>
          <p:nvPr/>
        </p:nvGrpSpPr>
        <p:grpSpPr>
          <a:xfrm>
            <a:off x="12580315" y="5637171"/>
            <a:ext cx="2125980" cy="398336"/>
            <a:chOff x="0" y="0"/>
            <a:chExt cx="2834640" cy="531114"/>
          </a:xfrm>
        </p:grpSpPr>
        <p:sp>
          <p:nvSpPr>
            <p:cNvPr id="200" name="Freeform 20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01" name="TextBox 20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202" name="Group 202"/>
          <p:cNvGrpSpPr/>
          <p:nvPr/>
        </p:nvGrpSpPr>
        <p:grpSpPr>
          <a:xfrm>
            <a:off x="15064283" y="5665175"/>
            <a:ext cx="2194560" cy="356616"/>
            <a:chOff x="0" y="0"/>
            <a:chExt cx="2926080" cy="475488"/>
          </a:xfrm>
        </p:grpSpPr>
        <p:sp>
          <p:nvSpPr>
            <p:cNvPr id="203" name="Freeform 20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04" name="Group 204"/>
          <p:cNvGrpSpPr/>
          <p:nvPr/>
        </p:nvGrpSpPr>
        <p:grpSpPr>
          <a:xfrm>
            <a:off x="15064283" y="5665175"/>
            <a:ext cx="2194560" cy="356616"/>
            <a:chOff x="0" y="0"/>
            <a:chExt cx="2926080" cy="475488"/>
          </a:xfrm>
        </p:grpSpPr>
        <p:sp>
          <p:nvSpPr>
            <p:cNvPr id="205" name="Freeform 20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06" name="Group 206"/>
          <p:cNvGrpSpPr/>
          <p:nvPr/>
        </p:nvGrpSpPr>
        <p:grpSpPr>
          <a:xfrm>
            <a:off x="15064283" y="5658031"/>
            <a:ext cx="2194560" cy="363760"/>
            <a:chOff x="0" y="0"/>
            <a:chExt cx="2926080" cy="485013"/>
          </a:xfrm>
        </p:grpSpPr>
        <p:sp>
          <p:nvSpPr>
            <p:cNvPr id="207" name="Freeform 20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08" name="Group 208"/>
          <p:cNvGrpSpPr/>
          <p:nvPr/>
        </p:nvGrpSpPr>
        <p:grpSpPr>
          <a:xfrm>
            <a:off x="15064283" y="5650887"/>
            <a:ext cx="2194560" cy="370904"/>
            <a:chOff x="0" y="0"/>
            <a:chExt cx="2926080" cy="494538"/>
          </a:xfrm>
        </p:grpSpPr>
        <p:sp>
          <p:nvSpPr>
            <p:cNvPr id="209" name="Freeform 20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10" name="TextBox 21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11" name="Group 211"/>
          <p:cNvGrpSpPr/>
          <p:nvPr/>
        </p:nvGrpSpPr>
        <p:grpSpPr>
          <a:xfrm>
            <a:off x="12580315" y="6158951"/>
            <a:ext cx="2125980" cy="384048"/>
            <a:chOff x="0" y="0"/>
            <a:chExt cx="2834640" cy="512064"/>
          </a:xfrm>
        </p:grpSpPr>
        <p:sp>
          <p:nvSpPr>
            <p:cNvPr id="212" name="Freeform 21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213" name="Group 213"/>
          <p:cNvGrpSpPr/>
          <p:nvPr/>
        </p:nvGrpSpPr>
        <p:grpSpPr>
          <a:xfrm>
            <a:off x="12580315" y="6151807"/>
            <a:ext cx="2125980" cy="391192"/>
            <a:chOff x="0" y="0"/>
            <a:chExt cx="2834640" cy="521589"/>
          </a:xfrm>
        </p:grpSpPr>
        <p:sp>
          <p:nvSpPr>
            <p:cNvPr id="214" name="Freeform 21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215" name="Group 215"/>
          <p:cNvGrpSpPr/>
          <p:nvPr/>
        </p:nvGrpSpPr>
        <p:grpSpPr>
          <a:xfrm>
            <a:off x="12580315" y="6144663"/>
            <a:ext cx="2125980" cy="398336"/>
            <a:chOff x="0" y="0"/>
            <a:chExt cx="2834640" cy="531114"/>
          </a:xfrm>
        </p:grpSpPr>
        <p:sp>
          <p:nvSpPr>
            <p:cNvPr id="216" name="Freeform 21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17" name="TextBox 21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218" name="Group 218"/>
          <p:cNvGrpSpPr/>
          <p:nvPr/>
        </p:nvGrpSpPr>
        <p:grpSpPr>
          <a:xfrm>
            <a:off x="15064283" y="6172667"/>
            <a:ext cx="2194560" cy="356616"/>
            <a:chOff x="0" y="0"/>
            <a:chExt cx="2926080" cy="475488"/>
          </a:xfrm>
        </p:grpSpPr>
        <p:sp>
          <p:nvSpPr>
            <p:cNvPr id="219" name="Freeform 21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20" name="Group 220"/>
          <p:cNvGrpSpPr/>
          <p:nvPr/>
        </p:nvGrpSpPr>
        <p:grpSpPr>
          <a:xfrm>
            <a:off x="15064283" y="6172667"/>
            <a:ext cx="2194560" cy="356616"/>
            <a:chOff x="0" y="0"/>
            <a:chExt cx="2926080" cy="475488"/>
          </a:xfrm>
        </p:grpSpPr>
        <p:sp>
          <p:nvSpPr>
            <p:cNvPr id="221" name="Freeform 22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22" name="Group 222"/>
          <p:cNvGrpSpPr/>
          <p:nvPr/>
        </p:nvGrpSpPr>
        <p:grpSpPr>
          <a:xfrm>
            <a:off x="15064283" y="6165523"/>
            <a:ext cx="2194560" cy="363760"/>
            <a:chOff x="0" y="0"/>
            <a:chExt cx="2926080" cy="485013"/>
          </a:xfrm>
        </p:grpSpPr>
        <p:sp>
          <p:nvSpPr>
            <p:cNvPr id="223" name="Freeform 22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24" name="Group 224"/>
          <p:cNvGrpSpPr/>
          <p:nvPr/>
        </p:nvGrpSpPr>
        <p:grpSpPr>
          <a:xfrm>
            <a:off x="15064283" y="6158379"/>
            <a:ext cx="2194560" cy="370904"/>
            <a:chOff x="0" y="0"/>
            <a:chExt cx="2926080" cy="494538"/>
          </a:xfrm>
        </p:grpSpPr>
        <p:sp>
          <p:nvSpPr>
            <p:cNvPr id="225" name="Freeform 22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26" name="TextBox 22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27" name="Group 227"/>
          <p:cNvGrpSpPr/>
          <p:nvPr/>
        </p:nvGrpSpPr>
        <p:grpSpPr>
          <a:xfrm>
            <a:off x="685800" y="6954479"/>
            <a:ext cx="16915924" cy="2047780"/>
            <a:chOff x="0" y="0"/>
            <a:chExt cx="22554565" cy="2730373"/>
          </a:xfrm>
        </p:grpSpPr>
        <p:sp>
          <p:nvSpPr>
            <p:cNvPr id="228" name="Freeform 228"/>
            <p:cNvSpPr/>
            <p:nvPr/>
          </p:nvSpPr>
          <p:spPr>
            <a:xfrm>
              <a:off x="0" y="0"/>
              <a:ext cx="22554564" cy="2730373"/>
            </a:xfrm>
            <a:custGeom>
              <a:avLst/>
              <a:gdLst/>
              <a:ahLst/>
              <a:cxnLst/>
              <a:rect l="l" t="t" r="r" b="b"/>
              <a:pathLst>
                <a:path w="22554564" h="2730373">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txBody>
            <a:bodyPr/>
            <a:lstStyle/>
            <a:p>
              <a:endParaRPr lang="en-US"/>
            </a:p>
          </p:txBody>
        </p:sp>
      </p:grpSp>
      <p:grpSp>
        <p:nvGrpSpPr>
          <p:cNvPr id="229" name="Group 229"/>
          <p:cNvGrpSpPr/>
          <p:nvPr/>
        </p:nvGrpSpPr>
        <p:grpSpPr>
          <a:xfrm>
            <a:off x="1097280" y="7201367"/>
            <a:ext cx="8229600" cy="411480"/>
            <a:chOff x="0" y="0"/>
            <a:chExt cx="10972800" cy="548640"/>
          </a:xfrm>
        </p:grpSpPr>
        <p:sp>
          <p:nvSpPr>
            <p:cNvPr id="230" name="Freeform 230"/>
            <p:cNvSpPr/>
            <p:nvPr/>
          </p:nvSpPr>
          <p:spPr>
            <a:xfrm>
              <a:off x="0" y="0"/>
              <a:ext cx="10972800" cy="548640"/>
            </a:xfrm>
            <a:custGeom>
              <a:avLst/>
              <a:gdLst/>
              <a:ahLst/>
              <a:cxnLst/>
              <a:rect l="l" t="t" r="r" b="b"/>
              <a:pathLst>
                <a:path w="10972800" h="548640">
                  <a:moveTo>
                    <a:pt x="0" y="0"/>
                  </a:moveTo>
                  <a:lnTo>
                    <a:pt x="10972800" y="0"/>
                  </a:lnTo>
                  <a:lnTo>
                    <a:pt x="10972800" y="548640"/>
                  </a:lnTo>
                  <a:lnTo>
                    <a:pt x="0" y="548640"/>
                  </a:lnTo>
                  <a:close/>
                </a:path>
              </a:pathLst>
            </a:custGeom>
            <a:blipFill>
              <a:blip r:embed="rId2">
                <a:alphaModFix amt="0"/>
              </a:blip>
              <a:stretch>
                <a:fillRect t="-339430" b="-339428"/>
              </a:stretch>
            </a:blipFill>
          </p:spPr>
          <p:txBody>
            <a:bodyPr/>
            <a:lstStyle/>
            <a:p>
              <a:endParaRPr lang="en-US"/>
            </a:p>
          </p:txBody>
        </p:sp>
      </p:grpSp>
      <p:grpSp>
        <p:nvGrpSpPr>
          <p:cNvPr id="231" name="Group 231"/>
          <p:cNvGrpSpPr/>
          <p:nvPr/>
        </p:nvGrpSpPr>
        <p:grpSpPr>
          <a:xfrm>
            <a:off x="1097280" y="7194223"/>
            <a:ext cx="8229600" cy="418624"/>
            <a:chOff x="0" y="0"/>
            <a:chExt cx="10972800" cy="558165"/>
          </a:xfrm>
        </p:grpSpPr>
        <p:sp>
          <p:nvSpPr>
            <p:cNvPr id="232" name="Freeform 232"/>
            <p:cNvSpPr/>
            <p:nvPr/>
          </p:nvSpPr>
          <p:spPr>
            <a:xfrm>
              <a:off x="0" y="0"/>
              <a:ext cx="10972800" cy="558165"/>
            </a:xfrm>
            <a:custGeom>
              <a:avLst/>
              <a:gdLst/>
              <a:ahLst/>
              <a:cxnLst/>
              <a:rect l="l" t="t" r="r" b="b"/>
              <a:pathLst>
                <a:path w="10972800" h="558165">
                  <a:moveTo>
                    <a:pt x="0" y="0"/>
                  </a:moveTo>
                  <a:lnTo>
                    <a:pt x="10972800" y="0"/>
                  </a:lnTo>
                  <a:lnTo>
                    <a:pt x="10972800" y="558165"/>
                  </a:lnTo>
                  <a:lnTo>
                    <a:pt x="0" y="558165"/>
                  </a:lnTo>
                  <a:close/>
                </a:path>
              </a:pathLst>
            </a:custGeom>
            <a:blipFill>
              <a:blip r:embed="rId3">
                <a:alphaModFix amt="0"/>
              </a:blip>
              <a:stretch>
                <a:fillRect t="-332784" b="-332782"/>
              </a:stretch>
            </a:blipFill>
          </p:spPr>
          <p:txBody>
            <a:bodyPr/>
            <a:lstStyle/>
            <a:p>
              <a:endParaRPr lang="en-US"/>
            </a:p>
          </p:txBody>
        </p:sp>
      </p:grpSp>
      <p:grpSp>
        <p:nvGrpSpPr>
          <p:cNvPr id="233" name="Group 233"/>
          <p:cNvGrpSpPr/>
          <p:nvPr/>
        </p:nvGrpSpPr>
        <p:grpSpPr>
          <a:xfrm>
            <a:off x="1097280" y="7187079"/>
            <a:ext cx="8229600" cy="425768"/>
            <a:chOff x="0" y="0"/>
            <a:chExt cx="10972800" cy="567690"/>
          </a:xfrm>
        </p:grpSpPr>
        <p:sp>
          <p:nvSpPr>
            <p:cNvPr id="234" name="Freeform 234"/>
            <p:cNvSpPr/>
            <p:nvPr/>
          </p:nvSpPr>
          <p:spPr>
            <a:xfrm>
              <a:off x="0" y="0"/>
              <a:ext cx="10972800" cy="567690"/>
            </a:xfrm>
            <a:custGeom>
              <a:avLst/>
              <a:gdLst/>
              <a:ahLst/>
              <a:cxnLst/>
              <a:rect l="l" t="t" r="r" b="b"/>
              <a:pathLst>
                <a:path w="10972800" h="567690">
                  <a:moveTo>
                    <a:pt x="0" y="0"/>
                  </a:moveTo>
                  <a:lnTo>
                    <a:pt x="10972800" y="0"/>
                  </a:lnTo>
                  <a:lnTo>
                    <a:pt x="10972800" y="567690"/>
                  </a:lnTo>
                  <a:lnTo>
                    <a:pt x="0" y="567690"/>
                  </a:lnTo>
                  <a:close/>
                </a:path>
              </a:pathLst>
            </a:custGeom>
            <a:blipFill>
              <a:blip r:embed="rId4">
                <a:alphaModFix amt="0"/>
              </a:blip>
              <a:stretch>
                <a:fillRect t="-326623" b="-326623"/>
              </a:stretch>
            </a:blipFill>
          </p:spPr>
          <p:txBody>
            <a:bodyPr/>
            <a:lstStyle/>
            <a:p>
              <a:endParaRPr lang="en-US"/>
            </a:p>
          </p:txBody>
        </p:sp>
        <p:sp>
          <p:nvSpPr>
            <p:cNvPr id="235" name="TextBox 235"/>
            <p:cNvSpPr txBox="1"/>
            <p:nvPr/>
          </p:nvSpPr>
          <p:spPr>
            <a:xfrm>
              <a:off x="0" y="-9525"/>
              <a:ext cx="10972800" cy="577215"/>
            </a:xfrm>
            <a:prstGeom prst="rect">
              <a:avLst/>
            </a:prstGeom>
          </p:spPr>
          <p:txBody>
            <a:bodyPr lIns="0" tIns="0" rIns="0" bIns="0" rtlCol="0" anchor="ctr"/>
            <a:lstStyle/>
            <a:p>
              <a:pPr algn="l">
                <a:lnSpc>
                  <a:spcPts val="2250"/>
                </a:lnSpc>
              </a:pPr>
              <a:r>
                <a:rPr lang="en-US" sz="1875" b="1" spc="179">
                  <a:solidFill>
                    <a:srgbClr val="CADCFC"/>
                  </a:solidFill>
                  <a:latin typeface="Exo 2 Bold"/>
                  <a:ea typeface="Exo 2 Bold"/>
                  <a:cs typeface="Exo 2 Bold"/>
                  <a:sym typeface="Exo 2 Bold"/>
                </a:rPr>
                <a:t>HELPDESK SOLUTION</a:t>
              </a:r>
            </a:p>
          </p:txBody>
        </p:sp>
      </p:grpSp>
      <p:grpSp>
        <p:nvGrpSpPr>
          <p:cNvPr id="236" name="Group 236"/>
          <p:cNvGrpSpPr/>
          <p:nvPr/>
        </p:nvGrpSpPr>
        <p:grpSpPr>
          <a:xfrm>
            <a:off x="1097280" y="7804871"/>
            <a:ext cx="576072" cy="576072"/>
            <a:chOff x="0" y="0"/>
            <a:chExt cx="768096" cy="768096"/>
          </a:xfrm>
        </p:grpSpPr>
        <p:sp>
          <p:nvSpPr>
            <p:cNvPr id="237" name="Freeform 237" descr="icons/dollar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5"/>
              <a:stretch>
                <a:fillRect/>
              </a:stretch>
            </a:blipFill>
          </p:spPr>
          <p:txBody>
            <a:bodyPr/>
            <a:lstStyle/>
            <a:p>
              <a:endParaRPr lang="en-US"/>
            </a:p>
          </p:txBody>
        </p:sp>
      </p:grpSp>
      <p:sp>
        <p:nvSpPr>
          <p:cNvPr id="238" name="TextBox 238"/>
          <p:cNvSpPr txBox="1"/>
          <p:nvPr/>
        </p:nvSpPr>
        <p:spPr>
          <a:xfrm>
            <a:off x="1792615" y="7758484"/>
            <a:ext cx="7066588" cy="849820"/>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id="239" name="AutoShape 239"/>
          <p:cNvSpPr/>
          <p:nvPr/>
        </p:nvSpPr>
        <p:spPr>
          <a:xfrm rot="24420">
            <a:off x="8724729" y="7907179"/>
            <a:ext cx="1341463" cy="0"/>
          </a:xfrm>
          <a:prstGeom prst="line">
            <a:avLst/>
          </a:prstGeom>
          <a:ln w="9525" cap="rnd">
            <a:solidFill>
              <a:srgbClr val="3A4482"/>
            </a:solidFill>
            <a:prstDash val="solid"/>
            <a:headEnd type="none" w="sm" len="sm"/>
            <a:tailEnd type="none" w="sm" len="sm"/>
          </a:ln>
        </p:spPr>
        <p:txBody>
          <a:bodyPr/>
          <a:lstStyle/>
          <a:p>
            <a:endParaRPr lang="en-US"/>
          </a:p>
        </p:txBody>
      </p:sp>
      <p:grpSp>
        <p:nvGrpSpPr>
          <p:cNvPr id="240" name="Group 240"/>
          <p:cNvGrpSpPr/>
          <p:nvPr/>
        </p:nvGrpSpPr>
        <p:grpSpPr>
          <a:xfrm>
            <a:off x="9806940" y="7804871"/>
            <a:ext cx="576072" cy="576072"/>
            <a:chOff x="0" y="0"/>
            <a:chExt cx="768096" cy="768096"/>
          </a:xfrm>
        </p:grpSpPr>
        <p:sp>
          <p:nvSpPr>
            <p:cNvPr id="241" name="Freeform 241" descr="icons/code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6"/>
              <a:stretch>
                <a:fillRect/>
              </a:stretch>
            </a:blipFill>
          </p:spPr>
          <p:txBody>
            <a:bodyPr/>
            <a:lstStyle/>
            <a:p>
              <a:endParaRPr lang="en-US"/>
            </a:p>
          </p:txBody>
        </p:sp>
      </p:grpSp>
      <p:grpSp>
        <p:nvGrpSpPr>
          <p:cNvPr id="242" name="Group 242"/>
          <p:cNvGrpSpPr/>
          <p:nvPr/>
        </p:nvGrpSpPr>
        <p:grpSpPr>
          <a:xfrm>
            <a:off x="755847" y="557136"/>
            <a:ext cx="13164598" cy="928783"/>
            <a:chOff x="0" y="0"/>
            <a:chExt cx="17552797" cy="1238377"/>
          </a:xfrm>
        </p:grpSpPr>
        <p:sp>
          <p:nvSpPr>
            <p:cNvPr id="243" name="Freeform 243"/>
            <p:cNvSpPr/>
            <p:nvPr/>
          </p:nvSpPr>
          <p:spPr>
            <a:xfrm>
              <a:off x="0" y="0"/>
              <a:ext cx="17552797" cy="1238377"/>
            </a:xfrm>
            <a:custGeom>
              <a:avLst/>
              <a:gdLst/>
              <a:ahLst/>
              <a:cxnLst/>
              <a:rect l="l" t="t" r="r" b="b"/>
              <a:pathLst>
                <a:path w="17552797" h="1238377">
                  <a:moveTo>
                    <a:pt x="0" y="0"/>
                  </a:moveTo>
                  <a:lnTo>
                    <a:pt x="17552797" y="0"/>
                  </a:lnTo>
                  <a:lnTo>
                    <a:pt x="17552797" y="1238377"/>
                  </a:lnTo>
                  <a:lnTo>
                    <a:pt x="0" y="1238377"/>
                  </a:lnTo>
                  <a:close/>
                </a:path>
              </a:pathLst>
            </a:custGeom>
            <a:blipFill>
              <a:blip r:embed="rId7">
                <a:alphaModFix amt="0"/>
              </a:blip>
              <a:stretch>
                <a:fillRect t="-225989" b="-225990"/>
              </a:stretch>
            </a:blipFill>
          </p:spPr>
          <p:txBody>
            <a:bodyPr/>
            <a:lstStyle/>
            <a:p>
              <a:endParaRPr lang="en-US"/>
            </a:p>
          </p:txBody>
        </p:sp>
      </p:grpSp>
      <p:grpSp>
        <p:nvGrpSpPr>
          <p:cNvPr id="244" name="Group 244"/>
          <p:cNvGrpSpPr/>
          <p:nvPr/>
        </p:nvGrpSpPr>
        <p:grpSpPr>
          <a:xfrm>
            <a:off x="755847" y="549993"/>
            <a:ext cx="13164598" cy="935927"/>
            <a:chOff x="0" y="0"/>
            <a:chExt cx="17552797" cy="1247902"/>
          </a:xfrm>
        </p:grpSpPr>
        <p:sp>
          <p:nvSpPr>
            <p:cNvPr id="245" name="Freeform 245"/>
            <p:cNvSpPr/>
            <p:nvPr/>
          </p:nvSpPr>
          <p:spPr>
            <a:xfrm>
              <a:off x="0" y="0"/>
              <a:ext cx="17552797" cy="1247902"/>
            </a:xfrm>
            <a:custGeom>
              <a:avLst/>
              <a:gdLst/>
              <a:ahLst/>
              <a:cxnLst/>
              <a:rect l="l" t="t" r="r" b="b"/>
              <a:pathLst>
                <a:path w="17552797" h="1247902">
                  <a:moveTo>
                    <a:pt x="0" y="0"/>
                  </a:moveTo>
                  <a:lnTo>
                    <a:pt x="17552797" y="0"/>
                  </a:lnTo>
                  <a:lnTo>
                    <a:pt x="17552797" y="1247902"/>
                  </a:lnTo>
                  <a:lnTo>
                    <a:pt x="0" y="1247902"/>
                  </a:lnTo>
                  <a:close/>
                </a:path>
              </a:pathLst>
            </a:custGeom>
            <a:blipFill>
              <a:blip r:embed="rId2">
                <a:alphaModFix amt="0"/>
              </a:blip>
              <a:stretch>
                <a:fillRect t="-223882" b="-223883"/>
              </a:stretch>
            </a:blipFill>
          </p:spPr>
          <p:txBody>
            <a:bodyPr/>
            <a:lstStyle/>
            <a:p>
              <a:endParaRPr lang="en-US"/>
            </a:p>
          </p:txBody>
        </p:sp>
      </p:grpSp>
      <p:grpSp>
        <p:nvGrpSpPr>
          <p:cNvPr id="246" name="Group 246"/>
          <p:cNvGrpSpPr/>
          <p:nvPr/>
        </p:nvGrpSpPr>
        <p:grpSpPr>
          <a:xfrm>
            <a:off x="755847" y="542849"/>
            <a:ext cx="13164598" cy="943118"/>
            <a:chOff x="0" y="0"/>
            <a:chExt cx="17552797" cy="1257490"/>
          </a:xfrm>
        </p:grpSpPr>
        <p:sp>
          <p:nvSpPr>
            <p:cNvPr id="247" name="Freeform 247"/>
            <p:cNvSpPr/>
            <p:nvPr/>
          </p:nvSpPr>
          <p:spPr>
            <a:xfrm>
              <a:off x="0" y="0"/>
              <a:ext cx="17552797" cy="1257427"/>
            </a:xfrm>
            <a:custGeom>
              <a:avLst/>
              <a:gdLst/>
              <a:ahLst/>
              <a:cxnLst/>
              <a:rect l="l" t="t" r="r" b="b"/>
              <a:pathLst>
                <a:path w="17552797" h="1257427">
                  <a:moveTo>
                    <a:pt x="0" y="0"/>
                  </a:moveTo>
                  <a:lnTo>
                    <a:pt x="17552797" y="0"/>
                  </a:lnTo>
                  <a:lnTo>
                    <a:pt x="17552797" y="1257427"/>
                  </a:lnTo>
                  <a:lnTo>
                    <a:pt x="0" y="1257427"/>
                  </a:lnTo>
                  <a:close/>
                </a:path>
              </a:pathLst>
            </a:custGeom>
            <a:blipFill>
              <a:blip r:embed="rId3">
                <a:alphaModFix amt="0"/>
              </a:blip>
              <a:stretch>
                <a:fillRect t="-221805" b="-221810"/>
              </a:stretch>
            </a:blipFill>
          </p:spPr>
          <p:txBody>
            <a:bodyPr/>
            <a:lstStyle/>
            <a:p>
              <a:endParaRPr lang="en-US"/>
            </a:p>
          </p:txBody>
        </p:sp>
      </p:grpSp>
      <p:grpSp>
        <p:nvGrpSpPr>
          <p:cNvPr id="248" name="Group 248"/>
          <p:cNvGrpSpPr/>
          <p:nvPr/>
        </p:nvGrpSpPr>
        <p:grpSpPr>
          <a:xfrm>
            <a:off x="755847" y="535705"/>
            <a:ext cx="13164598" cy="950262"/>
            <a:chOff x="0" y="0"/>
            <a:chExt cx="17552797" cy="1267016"/>
          </a:xfrm>
        </p:grpSpPr>
        <p:sp>
          <p:nvSpPr>
            <p:cNvPr id="249" name="Freeform 249"/>
            <p:cNvSpPr/>
            <p:nvPr/>
          </p:nvSpPr>
          <p:spPr>
            <a:xfrm>
              <a:off x="0" y="0"/>
              <a:ext cx="17552797" cy="1267016"/>
            </a:xfrm>
            <a:custGeom>
              <a:avLst/>
              <a:gdLst/>
              <a:ahLst/>
              <a:cxnLst/>
              <a:rect l="l" t="t" r="r" b="b"/>
              <a:pathLst>
                <a:path w="17552797" h="1267016">
                  <a:moveTo>
                    <a:pt x="0" y="0"/>
                  </a:moveTo>
                  <a:lnTo>
                    <a:pt x="17552797" y="0"/>
                  </a:lnTo>
                  <a:lnTo>
                    <a:pt x="17552797" y="1267016"/>
                  </a:lnTo>
                  <a:lnTo>
                    <a:pt x="0" y="1267016"/>
                  </a:lnTo>
                  <a:close/>
                </a:path>
              </a:pathLst>
            </a:custGeom>
            <a:blipFill>
              <a:blip r:embed="rId4">
                <a:alphaModFix amt="0"/>
              </a:blip>
              <a:stretch>
                <a:fillRect t="-219938" b="-219938"/>
              </a:stretch>
            </a:blipFill>
          </p:spPr>
          <p:txBody>
            <a:bodyPr/>
            <a:lstStyle/>
            <a:p>
              <a:endParaRPr lang="en-US"/>
            </a:p>
          </p:txBody>
        </p:sp>
        <p:sp>
          <p:nvSpPr>
            <p:cNvPr id="250" name="TextBox 250"/>
            <p:cNvSpPr txBox="1"/>
            <p:nvPr/>
          </p:nvSpPr>
          <p:spPr>
            <a:xfrm>
              <a:off x="0" y="-9525"/>
              <a:ext cx="17552797" cy="1276541"/>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l="200000" t="200000" r="-100000" b="-100000"/>
                    </a:path>
                    <a:tileRect r="-300000" b="-300000"/>
                  </a:gradFill>
                  <a:latin typeface="Exo 2 Bold"/>
                  <a:ea typeface="Exo 2 Bold"/>
                  <a:cs typeface="Exo 2 Bold"/>
                  <a:sym typeface="Exo 2 Bold"/>
                </a:rPr>
                <a:t>Systems Planning &amp; Deployment</a:t>
              </a:r>
            </a:p>
          </p:txBody>
        </p:sp>
      </p:grpSp>
      <p:grpSp>
        <p:nvGrpSpPr>
          <p:cNvPr id="251" name="Group 251"/>
          <p:cNvGrpSpPr/>
          <p:nvPr/>
        </p:nvGrpSpPr>
        <p:grpSpPr>
          <a:xfrm>
            <a:off x="470535" y="648843"/>
            <a:ext cx="115062" cy="732282"/>
            <a:chOff x="0" y="0"/>
            <a:chExt cx="153416" cy="976376"/>
          </a:xfrm>
        </p:grpSpPr>
        <p:sp>
          <p:nvSpPr>
            <p:cNvPr id="252" name="Freeform 252"/>
            <p:cNvSpPr/>
            <p:nvPr/>
          </p:nvSpPr>
          <p:spPr>
            <a:xfrm>
              <a:off x="0" y="0"/>
              <a:ext cx="153416" cy="976376"/>
            </a:xfrm>
            <a:custGeom>
              <a:avLst/>
              <a:gdLst/>
              <a:ahLst/>
              <a:cxnLst/>
              <a:rect l="l" t="t" r="r" b="b"/>
              <a:pathLst>
                <a:path w="153416" h="976376">
                  <a:moveTo>
                    <a:pt x="0" y="0"/>
                  </a:moveTo>
                  <a:lnTo>
                    <a:pt x="153416" y="0"/>
                  </a:lnTo>
                  <a:lnTo>
                    <a:pt x="153416" y="976376"/>
                  </a:lnTo>
                  <a:lnTo>
                    <a:pt x="0" y="976376"/>
                  </a:lnTo>
                  <a:lnTo>
                    <a:pt x="0" y="0"/>
                  </a:lnTo>
                  <a:close/>
                </a:path>
              </a:pathLst>
            </a:custGeom>
            <a:gradFill rotWithShape="1">
              <a:gsLst>
                <a:gs pos="0">
                  <a:srgbClr val="132257">
                    <a:alpha val="100000"/>
                  </a:srgbClr>
                </a:gs>
                <a:gs pos="100000">
                  <a:srgbClr val="2F6FE0">
                    <a:alpha val="100000"/>
                  </a:srgbClr>
                </a:gs>
              </a:gsLst>
              <a:lin ang="18900000"/>
            </a:gradFill>
          </p:spPr>
          <p:txBody>
            <a:bodyPr/>
            <a:lstStyle/>
            <a:p>
              <a:endParaRPr lang="en-US"/>
            </a:p>
          </p:txBody>
        </p:sp>
      </p:grpSp>
      <p:grpSp>
        <p:nvGrpSpPr>
          <p:cNvPr id="253" name="Group 253"/>
          <p:cNvGrpSpPr/>
          <p:nvPr/>
        </p:nvGrpSpPr>
        <p:grpSpPr>
          <a:xfrm>
            <a:off x="15441806" y="505082"/>
            <a:ext cx="1817465" cy="523589"/>
            <a:chOff x="0" y="0"/>
            <a:chExt cx="2423287" cy="698119"/>
          </a:xfrm>
        </p:grpSpPr>
        <p:sp>
          <p:nvSpPr>
            <p:cNvPr id="254" name="Freeform 254"/>
            <p:cNvSpPr/>
            <p:nvPr/>
          </p:nvSpPr>
          <p:spPr>
            <a:xfrm>
              <a:off x="0" y="0"/>
              <a:ext cx="2423287" cy="698119"/>
            </a:xfrm>
            <a:custGeom>
              <a:avLst/>
              <a:gdLst/>
              <a:ahLst/>
              <a:cxnLst/>
              <a:rect l="l" t="t" r="r" b="b"/>
              <a:pathLst>
                <a:path w="2423287" h="698119">
                  <a:moveTo>
                    <a:pt x="0" y="0"/>
                  </a:moveTo>
                  <a:lnTo>
                    <a:pt x="2423287" y="0"/>
                  </a:lnTo>
                  <a:lnTo>
                    <a:pt x="2423287" y="698119"/>
                  </a:lnTo>
                  <a:lnTo>
                    <a:pt x="0" y="698119"/>
                  </a:lnTo>
                  <a:lnTo>
                    <a:pt x="0" y="0"/>
                  </a:lnTo>
                  <a:close/>
                </a:path>
              </a:pathLst>
            </a:custGeom>
            <a:blipFill>
              <a:blip r:embed="rId8"/>
              <a:stretch>
                <a:fillRect t="-362" b="-363"/>
              </a:stretch>
            </a:blipFill>
          </p:spPr>
          <p:txBody>
            <a:bodyPr/>
            <a:lstStyle/>
            <a:p>
              <a:endParaRPr lang="en-US"/>
            </a:p>
          </p:txBody>
        </p:sp>
      </p:grpSp>
      <p:grpSp>
        <p:nvGrpSpPr>
          <p:cNvPr id="255" name="Group 255"/>
          <p:cNvGrpSpPr/>
          <p:nvPr/>
        </p:nvGrpSpPr>
        <p:grpSpPr>
          <a:xfrm>
            <a:off x="9292438" y="5678891"/>
            <a:ext cx="2194560" cy="356616"/>
            <a:chOff x="0" y="0"/>
            <a:chExt cx="2926080" cy="475488"/>
          </a:xfrm>
        </p:grpSpPr>
        <p:sp>
          <p:nvSpPr>
            <p:cNvPr id="256" name="Freeform 256"/>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57" name="Group 257"/>
          <p:cNvGrpSpPr/>
          <p:nvPr/>
        </p:nvGrpSpPr>
        <p:grpSpPr>
          <a:xfrm>
            <a:off x="9292438" y="5678891"/>
            <a:ext cx="2194560" cy="356616"/>
            <a:chOff x="0" y="0"/>
            <a:chExt cx="2926080" cy="475488"/>
          </a:xfrm>
        </p:grpSpPr>
        <p:sp>
          <p:nvSpPr>
            <p:cNvPr id="258" name="Freeform 258"/>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59" name="Group 259"/>
          <p:cNvGrpSpPr/>
          <p:nvPr/>
        </p:nvGrpSpPr>
        <p:grpSpPr>
          <a:xfrm>
            <a:off x="9292438" y="5671747"/>
            <a:ext cx="2194560" cy="363760"/>
            <a:chOff x="0" y="0"/>
            <a:chExt cx="2926080" cy="485013"/>
          </a:xfrm>
        </p:grpSpPr>
        <p:sp>
          <p:nvSpPr>
            <p:cNvPr id="260" name="Freeform 260"/>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61" name="Group 261"/>
          <p:cNvGrpSpPr/>
          <p:nvPr/>
        </p:nvGrpSpPr>
        <p:grpSpPr>
          <a:xfrm>
            <a:off x="9292438" y="5664603"/>
            <a:ext cx="2194560" cy="370904"/>
            <a:chOff x="0" y="0"/>
            <a:chExt cx="2926080" cy="494538"/>
          </a:xfrm>
        </p:grpSpPr>
        <p:sp>
          <p:nvSpPr>
            <p:cNvPr id="262" name="Freeform 262"/>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63" name="TextBox 263"/>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264" name="Group 264"/>
          <p:cNvGrpSpPr/>
          <p:nvPr/>
        </p:nvGrpSpPr>
        <p:grpSpPr>
          <a:xfrm>
            <a:off x="2117656" y="9097504"/>
            <a:ext cx="14052689" cy="313448"/>
            <a:chOff x="0" y="0"/>
            <a:chExt cx="18736918" cy="417931"/>
          </a:xfrm>
        </p:grpSpPr>
        <p:grpSp>
          <p:nvGrpSpPr>
            <p:cNvPr id="265" name="Group 265"/>
            <p:cNvGrpSpPr/>
            <p:nvPr/>
          </p:nvGrpSpPr>
          <p:grpSpPr>
            <a:xfrm>
              <a:off x="0" y="0"/>
              <a:ext cx="18736918" cy="417931"/>
              <a:chOff x="0" y="0"/>
              <a:chExt cx="22117329" cy="493331"/>
            </a:xfrm>
          </p:grpSpPr>
          <p:sp>
            <p:nvSpPr>
              <p:cNvPr id="266" name="Freeform 266"/>
              <p:cNvSpPr/>
              <p:nvPr/>
            </p:nvSpPr>
            <p:spPr>
              <a:xfrm>
                <a:off x="0" y="0"/>
                <a:ext cx="22117304" cy="493332"/>
              </a:xfrm>
              <a:custGeom>
                <a:avLst/>
                <a:gdLst/>
                <a:ahLst/>
                <a:cxnLst/>
                <a:rect l="l" t="t" r="r" b="b"/>
                <a:pathLst>
                  <a:path w="22117304" h="493332">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txBody>
              <a:bodyPr/>
              <a:lstStyle/>
              <a:p>
                <a:endParaRPr lang="en-US"/>
              </a:p>
            </p:txBody>
          </p:sp>
        </p:grpSp>
        <p:sp>
          <p:nvSpPr>
            <p:cNvPr id="267" name="TextBox 267"/>
            <p:cNvSpPr txBox="1"/>
            <p:nvPr/>
          </p:nvSpPr>
          <p:spPr>
            <a:xfrm>
              <a:off x="3672151" y="69265"/>
              <a:ext cx="11392615" cy="279400"/>
            </a:xfrm>
            <a:prstGeom prst="rect">
              <a:avLst/>
            </a:prstGeom>
          </p:spPr>
          <p:txBody>
            <a:bodyPr lIns="0" tIns="0" rIns="0" bIns="0" rtlCol="0" anchor="t">
              <a:spAutoFit/>
            </a:bodyPr>
            <a:lstStyle/>
            <a:p>
              <a:pPr algn="ctr">
                <a:lnSpc>
                  <a:spcPts val="1699"/>
                </a:lnSpc>
              </a:pPr>
              <a:r>
                <a:rPr lang="en-US" sz="1416" b="1">
                  <a:solidFill>
                    <a:srgbClr val="132257"/>
                  </a:solidFill>
                  <a:latin typeface="Exo 2 Bold"/>
                  <a:ea typeface="Exo 2 Bold"/>
                  <a:cs typeface="Exo 2 Bold"/>
                  <a:sym typeface="Exo 2 Bold"/>
                </a:rPr>
                <a:t>Helpdesk operations are currently managed manually via Excel by Client Experience</a:t>
              </a:r>
            </a:p>
          </p:txBody>
        </p:sp>
      </p:grpSp>
      <p:sp>
        <p:nvSpPr>
          <p:cNvPr id="268" name="Freeform 268"/>
          <p:cNvSpPr/>
          <p:nvPr/>
        </p:nvSpPr>
        <p:spPr>
          <a:xfrm>
            <a:off x="15576633" y="9506197"/>
            <a:ext cx="1547812" cy="550335"/>
          </a:xfrm>
          <a:custGeom>
            <a:avLst/>
            <a:gdLst/>
            <a:ahLst/>
            <a:cxnLst/>
            <a:rect l="l" t="t" r="r" b="b"/>
            <a:pathLst>
              <a:path w="1547812" h="550335">
                <a:moveTo>
                  <a:pt x="0" y="0"/>
                </a:moveTo>
                <a:lnTo>
                  <a:pt x="1547812" y="0"/>
                </a:lnTo>
                <a:lnTo>
                  <a:pt x="1547812" y="550335"/>
                </a:lnTo>
                <a:lnTo>
                  <a:pt x="0" y="550335"/>
                </a:lnTo>
                <a:lnTo>
                  <a:pt x="0" y="0"/>
                </a:lnTo>
                <a:close/>
              </a:path>
            </a:pathLst>
          </a:custGeom>
          <a:blipFill>
            <a:blip>
              <a:extLst>
                <a:ext uri="{96DAC541-7B7A-43D3-8B79-37D633B846F1}">
                  <asvg:svgBlip xmlns:asvg="http://schemas.microsoft.com/office/drawing/2016/SVG/main" r:embed="rId9"/>
                </a:ext>
              </a:extLst>
            </a:blip>
            <a:stretch>
              <a:fillRect l="-574" r="-574"/>
            </a:stretch>
          </a:blipFill>
        </p:spPr>
        <p:txBody>
          <a:bodyPr/>
          <a:lstStyle/>
          <a:p>
            <a:endParaRPr lang="en-US"/>
          </a:p>
        </p:txBody>
      </p:sp>
      <p:grpSp>
        <p:nvGrpSpPr>
          <p:cNvPr id="269" name="Group 269"/>
          <p:cNvGrpSpPr/>
          <p:nvPr/>
        </p:nvGrpSpPr>
        <p:grpSpPr>
          <a:xfrm>
            <a:off x="1028700" y="1408117"/>
            <a:ext cx="7455428" cy="688349"/>
            <a:chOff x="0" y="0"/>
            <a:chExt cx="1963570" cy="181294"/>
          </a:xfrm>
        </p:grpSpPr>
        <p:sp>
          <p:nvSpPr>
            <p:cNvPr id="270" name="Freeform 270"/>
            <p:cNvSpPr/>
            <p:nvPr/>
          </p:nvSpPr>
          <p:spPr>
            <a:xfrm>
              <a:off x="0" y="0"/>
              <a:ext cx="1963570" cy="181294"/>
            </a:xfrm>
            <a:custGeom>
              <a:avLst/>
              <a:gdLst/>
              <a:ahLst/>
              <a:cxnLst/>
              <a:rect l="l" t="t" r="r" b="b"/>
              <a:pathLst>
                <a:path w="1963570" h="181294">
                  <a:moveTo>
                    <a:pt x="90647" y="0"/>
                  </a:moveTo>
                  <a:lnTo>
                    <a:pt x="1872923" y="0"/>
                  </a:lnTo>
                  <a:cubicBezTo>
                    <a:pt x="1922986" y="0"/>
                    <a:pt x="1963570" y="40584"/>
                    <a:pt x="1963570" y="90647"/>
                  </a:cubicBezTo>
                  <a:lnTo>
                    <a:pt x="1963570" y="90647"/>
                  </a:lnTo>
                  <a:cubicBezTo>
                    <a:pt x="1963570" y="140710"/>
                    <a:pt x="1922986" y="181294"/>
                    <a:pt x="1872923" y="181294"/>
                  </a:cubicBezTo>
                  <a:lnTo>
                    <a:pt x="90647" y="181294"/>
                  </a:lnTo>
                  <a:cubicBezTo>
                    <a:pt x="40584" y="181294"/>
                    <a:pt x="0" y="140710"/>
                    <a:pt x="0" y="90647"/>
                  </a:cubicBezTo>
                  <a:lnTo>
                    <a:pt x="0" y="90647"/>
                  </a:lnTo>
                  <a:cubicBezTo>
                    <a:pt x="0" y="40584"/>
                    <a:pt x="40584" y="0"/>
                    <a:pt x="90647" y="0"/>
                  </a:cubicBezTo>
                  <a:close/>
                </a:path>
              </a:pathLst>
            </a:custGeom>
            <a:solidFill>
              <a:srgbClr val="1E2D4F"/>
            </a:solidFill>
          </p:spPr>
          <p:txBody>
            <a:bodyPr/>
            <a:lstStyle/>
            <a:p>
              <a:endParaRPr lang="en-US"/>
            </a:p>
          </p:txBody>
        </p:sp>
        <p:sp>
          <p:nvSpPr>
            <p:cNvPr id="271" name="TextBox 271"/>
            <p:cNvSpPr txBox="1"/>
            <p:nvPr/>
          </p:nvSpPr>
          <p:spPr>
            <a:xfrm>
              <a:off x="0" y="-9525"/>
              <a:ext cx="1963570" cy="190819"/>
            </a:xfrm>
            <a:prstGeom prst="rect">
              <a:avLst/>
            </a:prstGeom>
          </p:spPr>
          <p:txBody>
            <a:bodyPr lIns="50800" tIns="50800" rIns="50800" bIns="50800" rtlCol="0" anchor="ctr"/>
            <a:lstStyle/>
            <a:p>
              <a:pPr algn="ctr">
                <a:lnSpc>
                  <a:spcPts val="2802"/>
                </a:lnSpc>
              </a:pPr>
              <a:endParaRPr/>
            </a:p>
          </p:txBody>
        </p:sp>
      </p:grpSp>
      <p:sp>
        <p:nvSpPr>
          <p:cNvPr id="272" name="TextBox 272"/>
          <p:cNvSpPr txBox="1"/>
          <p:nvPr/>
        </p:nvSpPr>
        <p:spPr>
          <a:xfrm>
            <a:off x="1028700" y="3960962"/>
            <a:ext cx="4678528" cy="52616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id="273" name="TextBox 273"/>
          <p:cNvSpPr txBox="1"/>
          <p:nvPr/>
        </p:nvSpPr>
        <p:spPr>
          <a:xfrm>
            <a:off x="6804508"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id="274" name="TextBox 274"/>
          <p:cNvSpPr txBox="1"/>
          <p:nvPr/>
        </p:nvSpPr>
        <p:spPr>
          <a:xfrm>
            <a:off x="12580315"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id="275" name="TextBox 275"/>
          <p:cNvSpPr txBox="1"/>
          <p:nvPr/>
        </p:nvSpPr>
        <p:spPr>
          <a:xfrm>
            <a:off x="10594315" y="7758484"/>
            <a:ext cx="6652260" cy="583121"/>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sp>
        <p:nvSpPr>
          <p:cNvPr id="276" name="TextBox 276"/>
          <p:cNvSpPr txBox="1"/>
          <p:nvPr/>
        </p:nvSpPr>
        <p:spPr>
          <a:xfrm>
            <a:off x="777240" y="9783042"/>
            <a:ext cx="10817123" cy="348072"/>
          </a:xfrm>
          <a:prstGeom prst="rect">
            <a:avLst/>
          </a:prstGeom>
        </p:spPr>
        <p:txBody>
          <a:bodyPr lIns="0" tIns="0" rIns="0" bIns="0" rtlCol="0" anchor="t">
            <a:spAutoFit/>
          </a:bodyPr>
          <a:lstStyle/>
          <a:p>
            <a:pPr algn="l">
              <a:lnSpc>
                <a:spcPts val="1140"/>
              </a:lnSpc>
            </a:pPr>
            <a:r>
              <a:rPr lang="en-US" sz="950">
                <a:solidFill>
                  <a:srgbClr val="8A93A8"/>
                </a:solidFill>
                <a:latin typeface="Exo 2"/>
                <a:ea typeface="Exo 2"/>
                <a:cs typeface="Exo 2"/>
                <a:sym typeface="Exo 2"/>
              </a:rPr>
              <a:t>eMYAA Trading Platform  |  Board Executive Committee Update</a:t>
            </a:r>
          </a:p>
        </p:txBody>
      </p:sp>
      <p:sp>
        <p:nvSpPr>
          <p:cNvPr id="277" name="TextBox 277"/>
          <p:cNvSpPr txBox="1"/>
          <p:nvPr/>
        </p:nvSpPr>
        <p:spPr>
          <a:xfrm>
            <a:off x="14682883" y="9828762"/>
            <a:ext cx="534238" cy="256632"/>
          </a:xfrm>
          <a:prstGeom prst="rect">
            <a:avLst/>
          </a:prstGeom>
        </p:spPr>
        <p:txBody>
          <a:bodyPr lIns="0" tIns="0" rIns="0" bIns="0" rtlCol="0" anchor="t">
            <a:spAutoFit/>
          </a:bodyPr>
          <a:lstStyle/>
          <a:p>
            <a:pPr algn="r">
              <a:lnSpc>
                <a:spcPts val="1140"/>
              </a:lnSpc>
            </a:pPr>
            <a:r>
              <a:rPr lang="en-US" sz="950">
                <a:solidFill>
                  <a:srgbClr val="8A93A8"/>
                </a:solidFill>
                <a:latin typeface="Exo 2"/>
                <a:ea typeface="Exo 2"/>
                <a:cs typeface="Exo 2"/>
                <a:sym typeface="Exo 2"/>
              </a:rPr>
              <a:t>6</a:t>
            </a:r>
          </a:p>
        </p:txBody>
      </p:sp>
      <p:grpSp>
        <p:nvGrpSpPr>
          <p:cNvPr id="278" name="Group 278"/>
          <p:cNvGrpSpPr/>
          <p:nvPr/>
        </p:nvGrpSpPr>
        <p:grpSpPr>
          <a:xfrm>
            <a:off x="1201674" y="1505403"/>
            <a:ext cx="7067410" cy="493776"/>
            <a:chOff x="0" y="0"/>
            <a:chExt cx="9423214" cy="658368"/>
          </a:xfrm>
        </p:grpSpPr>
        <p:sp>
          <p:nvSpPr>
            <p:cNvPr id="279" name="Freeform 279"/>
            <p:cNvSpPr/>
            <p:nvPr/>
          </p:nvSpPr>
          <p:spPr>
            <a:xfrm>
              <a:off x="0" y="0"/>
              <a:ext cx="9423214" cy="658368"/>
            </a:xfrm>
            <a:custGeom>
              <a:avLst/>
              <a:gdLst/>
              <a:ahLst/>
              <a:cxnLst/>
              <a:rect l="l" t="t" r="r" b="b"/>
              <a:pathLst>
                <a:path w="9423214" h="658368">
                  <a:moveTo>
                    <a:pt x="0" y="0"/>
                  </a:moveTo>
                  <a:lnTo>
                    <a:pt x="9423214" y="0"/>
                  </a:lnTo>
                  <a:lnTo>
                    <a:pt x="9423214" y="658368"/>
                  </a:lnTo>
                  <a:lnTo>
                    <a:pt x="0" y="658368"/>
                  </a:lnTo>
                  <a:close/>
                </a:path>
              </a:pathLst>
            </a:custGeom>
            <a:blipFill>
              <a:blip r:embed="rId4">
                <a:alphaModFix amt="0"/>
              </a:blip>
              <a:stretch>
                <a:fillRect t="-98844" r="46629" b="-98844"/>
              </a:stretch>
            </a:blipFill>
          </p:spPr>
          <p:txBody>
            <a:bodyPr/>
            <a:lstStyle/>
            <a:p>
              <a:endParaRPr lang="en-US"/>
            </a:p>
          </p:txBody>
        </p:sp>
        <p:sp>
          <p:nvSpPr>
            <p:cNvPr id="280" name="TextBox 280"/>
            <p:cNvSpPr txBox="1"/>
            <p:nvPr/>
          </p:nvSpPr>
          <p:spPr>
            <a:xfrm>
              <a:off x="0" y="0"/>
              <a:ext cx="9423214" cy="658368"/>
            </a:xfrm>
            <a:prstGeom prst="rect">
              <a:avLst/>
            </a:prstGeom>
          </p:spPr>
          <p:txBody>
            <a:bodyPr lIns="0" tIns="0" rIns="0" bIns="0" rtlCol="0" anchor="ctr"/>
            <a:lstStyle/>
            <a:p>
              <a:pPr algn="ctr">
                <a:lnSpc>
                  <a:spcPts val="1980"/>
                </a:lnSpc>
              </a:pPr>
              <a:r>
                <a:rPr lang="en-US" sz="1650" b="1" spc="150">
                  <a:solidFill>
                    <a:srgbClr val="FFFFFF"/>
                  </a:solidFill>
                  <a:latin typeface="Exo 2 Bold"/>
                  <a:ea typeface="Exo 2 Bold"/>
                  <a:cs typeface="Exo 2 Bold"/>
                  <a:sym typeface="Exo 2 Bold"/>
                </a:rPr>
                <a:t>INTERNAL WEALTHTECH TECHNOLOGY OPERATIONS</a:t>
              </a:r>
            </a:p>
          </p:txBody>
        </p:sp>
      </p:grpSp>
      <p:grpSp>
        <p:nvGrpSpPr>
          <p:cNvPr id="281" name="Group 281"/>
          <p:cNvGrpSpPr/>
          <p:nvPr/>
        </p:nvGrpSpPr>
        <p:grpSpPr>
          <a:xfrm>
            <a:off x="3514573" y="5658031"/>
            <a:ext cx="2194560" cy="356616"/>
            <a:chOff x="0" y="0"/>
            <a:chExt cx="2926080" cy="475488"/>
          </a:xfrm>
        </p:grpSpPr>
        <p:sp>
          <p:nvSpPr>
            <p:cNvPr id="282" name="Freeform 28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83" name="Group 283"/>
          <p:cNvGrpSpPr/>
          <p:nvPr/>
        </p:nvGrpSpPr>
        <p:grpSpPr>
          <a:xfrm>
            <a:off x="3514573" y="5644315"/>
            <a:ext cx="1697507" cy="363760"/>
            <a:chOff x="0" y="0"/>
            <a:chExt cx="2263343" cy="485013"/>
          </a:xfrm>
        </p:grpSpPr>
        <p:sp>
          <p:nvSpPr>
            <p:cNvPr id="284" name="Freeform 284"/>
            <p:cNvSpPr/>
            <p:nvPr/>
          </p:nvSpPr>
          <p:spPr>
            <a:xfrm>
              <a:off x="0" y="0"/>
              <a:ext cx="2263343" cy="485013"/>
            </a:xfrm>
            <a:custGeom>
              <a:avLst/>
              <a:gdLst/>
              <a:ahLst/>
              <a:cxnLst/>
              <a:rect l="l" t="t" r="r" b="b"/>
              <a:pathLst>
                <a:path w="2263343" h="485013">
                  <a:moveTo>
                    <a:pt x="0" y="0"/>
                  </a:moveTo>
                  <a:lnTo>
                    <a:pt x="2263343" y="0"/>
                  </a:lnTo>
                  <a:lnTo>
                    <a:pt x="2263343" y="485013"/>
                  </a:lnTo>
                  <a:lnTo>
                    <a:pt x="0" y="485013"/>
                  </a:lnTo>
                  <a:close/>
                </a:path>
              </a:pathLst>
            </a:custGeom>
            <a:blipFill>
              <a:blip r:embed="rId3">
                <a:alphaModFix amt="0"/>
              </a:blip>
              <a:stretch>
                <a:fillRect t="-40864" b="-40866"/>
              </a:stretch>
            </a:blipFill>
          </p:spPr>
          <p:txBody>
            <a:bodyPr/>
            <a:lstStyle/>
            <a:p>
              <a:endParaRPr lang="en-US"/>
            </a:p>
          </p:txBody>
        </p:sp>
      </p:grpSp>
      <p:grpSp>
        <p:nvGrpSpPr>
          <p:cNvPr id="285" name="Group 285"/>
          <p:cNvGrpSpPr/>
          <p:nvPr/>
        </p:nvGrpSpPr>
        <p:grpSpPr>
          <a:xfrm>
            <a:off x="3512630" y="5637171"/>
            <a:ext cx="2194560" cy="370904"/>
            <a:chOff x="0" y="0"/>
            <a:chExt cx="2926080" cy="494538"/>
          </a:xfrm>
        </p:grpSpPr>
        <p:sp>
          <p:nvSpPr>
            <p:cNvPr id="286" name="Freeform 286"/>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87" name="TextBox 287"/>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630555" y="2087067"/>
            <a:ext cx="17026890" cy="4746077"/>
            <a:chOff x="0" y="0"/>
            <a:chExt cx="22702520" cy="6328103"/>
          </a:xfrm>
        </p:grpSpPr>
        <p:sp>
          <p:nvSpPr>
            <p:cNvPr id="11" name="Freeform 11"/>
            <p:cNvSpPr/>
            <p:nvPr/>
          </p:nvSpPr>
          <p:spPr>
            <a:xfrm>
              <a:off x="0" y="0"/>
              <a:ext cx="22702520" cy="6328103"/>
            </a:xfrm>
            <a:custGeom>
              <a:avLst/>
              <a:gdLst/>
              <a:ahLst/>
              <a:cxnLst/>
              <a:rect l="l" t="t" r="r" b="b"/>
              <a:pathLst>
                <a:path w="22702520" h="6328103">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2" name="Group 12"/>
          <p:cNvGrpSpPr/>
          <p:nvPr/>
        </p:nvGrpSpPr>
        <p:grpSpPr>
          <a:xfrm>
            <a:off x="955548" y="2312619"/>
            <a:ext cx="14813280" cy="548640"/>
            <a:chOff x="0" y="0"/>
            <a:chExt cx="19751040" cy="731520"/>
          </a:xfrm>
        </p:grpSpPr>
        <p:sp>
          <p:nvSpPr>
            <p:cNvPr id="13" name="Freeform 1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4">
                <a:alphaModFix amt="0"/>
              </a:blip>
              <a:stretch>
                <a:fillRect t="-476096" b="-476096"/>
              </a:stretch>
            </a:blipFill>
          </p:spPr>
          <p:txBody>
            <a:bodyPr/>
            <a:lstStyle/>
            <a:p>
              <a:endParaRPr lang="en-US"/>
            </a:p>
          </p:txBody>
        </p:sp>
        <p:sp>
          <p:nvSpPr>
            <p:cNvPr id="14" name="TextBox 14"/>
            <p:cNvSpPr txBox="1"/>
            <p:nvPr/>
          </p:nvSpPr>
          <p:spPr>
            <a:xfrm>
              <a:off x="0" y="-9525"/>
              <a:ext cx="19751040" cy="741045"/>
            </a:xfrm>
            <a:prstGeom prst="rect">
              <a:avLst/>
            </a:prstGeom>
          </p:spPr>
          <p:txBody>
            <a:bodyPr lIns="0" tIns="0" rIns="0" bIns="0" rtlCol="0" anchor="ctr"/>
            <a:lstStyle/>
            <a:p>
              <a:pPr marL="0" lvl="0" indent="0" algn="l">
                <a:lnSpc>
                  <a:spcPts val="2700"/>
                </a:lnSpc>
                <a:spcBef>
                  <a:spcPct val="0"/>
                </a:spcBef>
              </a:pPr>
              <a:r>
                <a:rPr lang="en-US" sz="2250" b="1">
                  <a:solidFill>
                    <a:srgbClr val="1B1B3A"/>
                  </a:solidFill>
                  <a:latin typeface="Exo 2 Bold"/>
                  <a:ea typeface="Exo 2 Bold"/>
                  <a:cs typeface="Exo 2 Bold"/>
                  <a:sym typeface="Exo 2 Bold"/>
                </a:rPr>
                <a:t>Exa</a:t>
              </a:r>
              <a:r>
                <a:rPr lang="en-US" sz="2250" b="1" u="none" strike="noStrike">
                  <a:solidFill>
                    <a:srgbClr val="1B1B3A"/>
                  </a:solidFill>
                  <a:latin typeface="Exo 2 Bold"/>
                  <a:ea typeface="Exo 2 Bold"/>
                  <a:cs typeface="Exo 2 Bold"/>
                  <a:sym typeface="Exo 2 Bold"/>
                </a:rPr>
                <a:t>nte — Status Update</a:t>
              </a:r>
            </a:p>
          </p:txBody>
        </p:sp>
      </p:grpSp>
      <p:grpSp>
        <p:nvGrpSpPr>
          <p:cNvPr id="15" name="Group 15"/>
          <p:cNvGrpSpPr/>
          <p:nvPr/>
        </p:nvGrpSpPr>
        <p:grpSpPr>
          <a:xfrm>
            <a:off x="937260" y="3132578"/>
            <a:ext cx="16322040" cy="622173"/>
            <a:chOff x="0" y="0"/>
            <a:chExt cx="21762720" cy="829564"/>
          </a:xfrm>
        </p:grpSpPr>
        <p:grpSp>
          <p:nvGrpSpPr>
            <p:cNvPr id="16" name="Group 16"/>
            <p:cNvGrpSpPr/>
            <p:nvPr/>
          </p:nvGrpSpPr>
          <p:grpSpPr>
            <a:xfrm>
              <a:off x="0" y="164592"/>
              <a:ext cx="329184" cy="329184"/>
              <a:chOff x="0" y="0"/>
              <a:chExt cx="329184" cy="329184"/>
            </a:xfrm>
          </p:grpSpPr>
          <p:sp>
            <p:nvSpPr>
              <p:cNvPr id="17" name="Freeform 17"/>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18" name="TextBox 18"/>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id="19" name="Group 19"/>
          <p:cNvGrpSpPr/>
          <p:nvPr/>
        </p:nvGrpSpPr>
        <p:grpSpPr>
          <a:xfrm>
            <a:off x="937260" y="4224586"/>
            <a:ext cx="16322040" cy="622173"/>
            <a:chOff x="0" y="0"/>
            <a:chExt cx="21762720" cy="829564"/>
          </a:xfrm>
        </p:grpSpPr>
        <p:grpSp>
          <p:nvGrpSpPr>
            <p:cNvPr id="20" name="Group 20"/>
            <p:cNvGrpSpPr/>
            <p:nvPr/>
          </p:nvGrpSpPr>
          <p:grpSpPr>
            <a:xfrm>
              <a:off x="0" y="164592"/>
              <a:ext cx="329184" cy="329184"/>
              <a:chOff x="0" y="0"/>
              <a:chExt cx="329184" cy="329184"/>
            </a:xfrm>
          </p:grpSpPr>
          <p:sp>
            <p:nvSpPr>
              <p:cNvPr id="21" name="Freeform 21"/>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2" name="TextBox 22"/>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id="23" name="Group 23"/>
          <p:cNvGrpSpPr/>
          <p:nvPr/>
        </p:nvGrpSpPr>
        <p:grpSpPr>
          <a:xfrm>
            <a:off x="937260" y="5316594"/>
            <a:ext cx="16322040" cy="955548"/>
            <a:chOff x="0" y="0"/>
            <a:chExt cx="21762720" cy="1274064"/>
          </a:xfrm>
        </p:grpSpPr>
        <p:grpSp>
          <p:nvGrpSpPr>
            <p:cNvPr id="24" name="Group 24"/>
            <p:cNvGrpSpPr/>
            <p:nvPr/>
          </p:nvGrpSpPr>
          <p:grpSpPr>
            <a:xfrm>
              <a:off x="0" y="164592"/>
              <a:ext cx="329184" cy="329184"/>
              <a:chOff x="0" y="0"/>
              <a:chExt cx="329184" cy="329184"/>
            </a:xfrm>
          </p:grpSpPr>
          <p:sp>
            <p:nvSpPr>
              <p:cNvPr id="25" name="Freeform 25"/>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6" name="TextBox 26"/>
            <p:cNvSpPr txBox="1"/>
            <p:nvPr/>
          </p:nvSpPr>
          <p:spPr>
            <a:xfrm>
              <a:off x="548640" y="-38100"/>
              <a:ext cx="21214080" cy="13121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804861" y="603559"/>
            <a:ext cx="14636945" cy="822851"/>
            <a:chOff x="0" y="0"/>
            <a:chExt cx="19515927" cy="1097134"/>
          </a:xfrm>
        </p:grpSpPr>
        <p:sp>
          <p:nvSpPr>
            <p:cNvPr id="5" name="Freeform 5"/>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6" name="TextBox 6"/>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Instagram: Standout Channel</a:t>
              </a:r>
            </a:p>
          </p:txBody>
        </p:sp>
      </p:grpSp>
      <p:sp>
        <p:nvSpPr>
          <p:cNvPr id="7" name="Freeform 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528066" y="1807409"/>
          <a:ext cx="16715422" cy="2663117"/>
        </p:xfrm>
        <a:graphic>
          <a:graphicData uri="http://schemas.openxmlformats.org/drawingml/2006/table">
            <a:tbl>
              <a:tblPr/>
              <a:tblGrid>
                <a:gridCol w="5371770">
                  <a:extLst>
                    <a:ext uri="{9D8B030D-6E8A-4147-A177-3AD203B41FA5}">
                      <a16:colId xmlns:a16="http://schemas.microsoft.com/office/drawing/2014/main" val="20000"/>
                    </a:ext>
                  </a:extLst>
                </a:gridCol>
                <a:gridCol w="5133098">
                  <a:extLst>
                    <a:ext uri="{9D8B030D-6E8A-4147-A177-3AD203B41FA5}">
                      <a16:colId xmlns:a16="http://schemas.microsoft.com/office/drawing/2014/main" val="20001"/>
                    </a:ext>
                  </a:extLst>
                </a:gridCol>
                <a:gridCol w="6210554">
                  <a:extLst>
                    <a:ext uri="{9D8B030D-6E8A-4147-A177-3AD203B41FA5}">
                      <a16:colId xmlns:a16="http://schemas.microsoft.com/office/drawing/2014/main" val="20002"/>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Metric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Value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a:solidFill>
                            <a:srgbClr val="FFFFFF"/>
                          </a:solidFill>
                          <a:latin typeface="Exo 2"/>
                          <a:ea typeface="Exo 2"/>
                          <a:cs typeface="Exo 2"/>
                          <a:sym typeface="Exo 2"/>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2,116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Views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2,271,132</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59.</a:t>
                      </a:r>
                      <a:r>
                        <a:rPr lang="en-US" sz="2148" u="none" strike="noStrike">
                          <a:solidFill>
                            <a:srgbClr val="5A6A85"/>
                          </a:solidFill>
                          <a:latin typeface="Exo 2"/>
                          <a:ea typeface="Exo 2"/>
                          <a:cs typeface="Exo 2"/>
                          <a:sym typeface="Exo 2"/>
                        </a:rPr>
                        <a:t>2% Reels / 38.1% Stories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Interactions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8,311</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72.4% from Reels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3" name="Table 13"/>
          <p:cNvGraphicFramePr>
            <a:graphicFrameLocks noGrp="1"/>
          </p:cNvGraphicFramePr>
          <p:nvPr/>
        </p:nvGraphicFramePr>
        <p:xfrm>
          <a:off x="528066" y="5618289"/>
          <a:ext cx="10102858" cy="3492237"/>
        </p:xfrm>
        <a:graphic>
          <a:graphicData uri="http://schemas.openxmlformats.org/drawingml/2006/table">
            <a:tbl>
              <a:tblPr/>
              <a:tblGrid>
                <a:gridCol w="3105911">
                  <a:extLst>
                    <a:ext uri="{9D8B030D-6E8A-4147-A177-3AD203B41FA5}">
                      <a16:colId xmlns:a16="http://schemas.microsoft.com/office/drawing/2014/main" val="20000"/>
                    </a:ext>
                  </a:extLst>
                </a:gridCol>
                <a:gridCol w="6996947">
                  <a:extLst>
                    <a:ext uri="{9D8B030D-6E8A-4147-A177-3AD203B41FA5}">
                      <a16:colId xmlns:a16="http://schemas.microsoft.com/office/drawing/2014/main" val="20001"/>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Content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Result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Musheera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Ali Sabeel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Mention &amp; Win $500</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186K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Saudi Market Size Infographic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515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585597" y="5080126"/>
            <a:ext cx="4326731" cy="4667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Top Performing Content</a:t>
            </a:r>
          </a:p>
        </p:txBody>
      </p:sp>
      <p:pic>
        <p:nvPicPr>
          <p:cNvPr id="17" name="Picture 16" descr="grid_content.png"/>
          <p:cNvPicPr>
            <a:picLocks noChangeAspect="1"/>
          </p:cNvPicPr>
          <p:nvPr/>
        </p:nvPicPr>
        <p:blipFill>
          <a:blip r:embed="rId5"/>
          <a:stretch>
            <a:fillRect/>
          </a:stretch>
        </p:blipFill>
        <p:spPr>
          <a:xfrm>
            <a:off x="11307846" y="4843902"/>
            <a:ext cx="5751658" cy="44143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804861" y="603559"/>
            <a:ext cx="14636945" cy="822851"/>
            <a:chOff x="0" y="0"/>
            <a:chExt cx="19515927" cy="1097134"/>
          </a:xfrm>
        </p:grpSpPr>
        <p:sp>
          <p:nvSpPr>
            <p:cNvPr id="4" name="Freeform 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5" name="TextBox 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X, LinkedIn &amp; TikTok</a:t>
              </a:r>
            </a:p>
          </p:txBody>
        </p:sp>
      </p:gr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0" name="Table 10"/>
          <p:cNvGraphicFramePr>
            <a:graphicFrameLocks noGrp="1"/>
          </p:cNvGraphicFramePr>
          <p:nvPr/>
        </p:nvGraphicFramePr>
        <p:xfrm>
          <a:off x="804861" y="1675963"/>
          <a:ext cx="16454439" cy="3425000"/>
        </p:xfrm>
        <a:graphic>
          <a:graphicData uri="http://schemas.openxmlformats.org/drawingml/2006/table">
            <a:tbl>
              <a:tblPr/>
              <a:tblGrid>
                <a:gridCol w="2988691">
                  <a:extLst>
                    <a:ext uri="{9D8B030D-6E8A-4147-A177-3AD203B41FA5}">
                      <a16:colId xmlns:a16="http://schemas.microsoft.com/office/drawing/2014/main" val="20000"/>
                    </a:ext>
                  </a:extLst>
                </a:gridCol>
                <a:gridCol w="4329431">
                  <a:extLst>
                    <a:ext uri="{9D8B030D-6E8A-4147-A177-3AD203B41FA5}">
                      <a16:colId xmlns:a16="http://schemas.microsoft.com/office/drawing/2014/main" val="20001"/>
                    </a:ext>
                  </a:extLst>
                </a:gridCol>
                <a:gridCol w="9136317">
                  <a:extLst>
                    <a:ext uri="{9D8B030D-6E8A-4147-A177-3AD203B41FA5}">
                      <a16:colId xmlns:a16="http://schemas.microsoft.com/office/drawing/2014/main" val="20002"/>
                    </a:ext>
                  </a:extLst>
                </a:gridCol>
              </a:tblGrid>
              <a:tr h="648970">
                <a:tc>
                  <a:txBody>
                    <a:bodyPr/>
                    <a:lstStyle/>
                    <a:p>
                      <a:pPr algn="ctr">
                        <a:lnSpc>
                          <a:spcPts val="2579"/>
                        </a:lnSpc>
                        <a:defRPr/>
                      </a:pPr>
                      <a:r>
                        <a:rPr lang="en-US" sz="2148" b="1">
                          <a:solidFill>
                            <a:srgbClr val="FFFFFF"/>
                          </a:solidFill>
                          <a:latin typeface="Exo 2 Bold"/>
                          <a:ea typeface="Exo 2 Bold"/>
                          <a:cs typeface="Exo 2 Bold"/>
                          <a:sym typeface="Exo 2 Bold"/>
                        </a:rPr>
                        <a:t>Platform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Metrics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455">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738 followers, 99</a:t>
                      </a:r>
                      <a:r>
                        <a:rPr lang="en-US" sz="2148" u="none" strike="noStrike">
                          <a:solidFill>
                            <a:srgbClr val="5A6A85"/>
                          </a:solidFill>
                          <a:latin typeface="Exo 2"/>
                          <a:ea typeface="Exo 2"/>
                          <a:cs typeface="Exo 2"/>
                          <a:sym typeface="Exo 2"/>
                        </a:rPr>
                        <a:t> posts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Audience quality is real: 96.4% Bahrain, 3.6% Saudi, however still Instagram is heavily outperforming 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897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LinkedIn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531 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Followers up 247 in 30 days (+6,075%); 13-27 Sep: 559 impressions (+118%), 28 reactions (+155%)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455">
                <a:tc>
                  <a:txBody>
                    <a:bodyPr/>
                    <a:lstStyle/>
                    <a:p>
                      <a:pPr algn="ctr">
                        <a:lnSpc>
                          <a:spcPts val="2579"/>
                        </a:lnSpc>
                        <a:defRPr/>
                      </a:pPr>
                      <a:r>
                        <a:rPr lang="en-US" sz="2148" i="1">
                          <a:solidFill>
                            <a:srgbClr val="5A6A85"/>
                          </a:solidFill>
                          <a:latin typeface="Exo 2 Italics"/>
                          <a:ea typeface="Exo 2 Italics"/>
                          <a:cs typeface="Exo 2 Italics"/>
                          <a:sym typeface="Exo 2 Italics"/>
                        </a:rPr>
                        <a:t>Tiktok</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15 followers, 176 total likes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Lowest interactions between all platform/ audience not suitable for eMYAA</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Freeform 11"/>
          <p:cNvSpPr/>
          <p:nvPr/>
        </p:nvSpPr>
        <p:spPr>
          <a:xfrm>
            <a:off x="4857757" y="5143500"/>
            <a:ext cx="8348648" cy="4752862"/>
          </a:xfrm>
          <a:custGeom>
            <a:avLst/>
            <a:gdLst/>
            <a:ahLst/>
            <a:cxnLst/>
            <a:rect l="l" t="t" r="r" b="b"/>
            <a:pathLst>
              <a:path w="8348648" h="4752862">
                <a:moveTo>
                  <a:pt x="0" y="0"/>
                </a:moveTo>
                <a:lnTo>
                  <a:pt x="8348648" y="0"/>
                </a:lnTo>
                <a:lnTo>
                  <a:pt x="8348648" y="4752862"/>
                </a:lnTo>
                <a:lnTo>
                  <a:pt x="0" y="4752862"/>
                </a:lnTo>
                <a:lnTo>
                  <a:pt x="0" y="0"/>
                </a:lnTo>
                <a:close/>
              </a:path>
            </a:pathLst>
          </a:custGeom>
          <a:blipFill>
            <a:blip r:embed="rId5"/>
            <a:stretch>
              <a:fillRect t="-48624" b="-15358"/>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TextBox 4"/>
          <p:cNvSpPr txBox="1"/>
          <p:nvPr/>
        </p:nvSpPr>
        <p:spPr>
          <a:xfrm>
            <a:off x="64008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 Sep - Ali Sabeel Recap</a:t>
            </a:r>
          </a:p>
        </p:txBody>
      </p:sp>
      <p:sp>
        <p:nvSpPr>
          <p:cNvPr id="5" name="TextBox 5"/>
          <p:cNvSpPr txBox="1"/>
          <p:nvPr/>
        </p:nvSpPr>
        <p:spPr>
          <a:xfrm>
            <a:off x="937260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23 Sep - Saudi National Day</a:t>
            </a:r>
          </a:p>
        </p:txBody>
      </p:sp>
      <p:sp>
        <p:nvSpPr>
          <p:cNvPr id="6" name="TextBox 6"/>
          <p:cNvSpPr txBox="1"/>
          <p:nvPr/>
        </p:nvSpPr>
        <p:spPr>
          <a:xfrm>
            <a:off x="64008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27 Sep - GCC Market Spotlight</a:t>
            </a:r>
          </a:p>
        </p:txBody>
      </p:sp>
      <p:sp>
        <p:nvSpPr>
          <p:cNvPr id="7" name="TextBox 7"/>
          <p:cNvSpPr txBox="1"/>
          <p:nvPr/>
        </p:nvSpPr>
        <p:spPr>
          <a:xfrm>
            <a:off x="937260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30 Sep - Market Pulse</a:t>
            </a:r>
          </a:p>
        </p:txBody>
      </p:sp>
      <p:sp>
        <p:nvSpPr>
          <p:cNvPr id="8" name="TextBox 8"/>
          <p:cNvSpPr txBox="1"/>
          <p:nvPr/>
        </p:nvSpPr>
        <p:spPr>
          <a:xfrm>
            <a:off x="1097280" y="9180957"/>
            <a:ext cx="17007840" cy="295275"/>
          </a:xfrm>
          <a:prstGeom prst="rect">
            <a:avLst/>
          </a:prstGeom>
        </p:spPr>
        <p:txBody>
          <a:bodyPr lIns="0" tIns="0" rIns="0" bIns="0" rtlCol="0" anchor="t">
            <a:spAutoFit/>
          </a:bodyPr>
          <a:lstStyle/>
          <a:p>
            <a:pPr algn="ctr">
              <a:lnSpc>
                <a:spcPts val="2399"/>
              </a:lnSpc>
            </a:pPr>
            <a:r>
              <a:rPr lang="en-US" sz="1999" b="1" i="1">
                <a:solidFill>
                  <a:srgbClr val="5A6A85"/>
                </a:solidFill>
                <a:latin typeface="Exo 2 Bold Italics"/>
                <a:ea typeface="Exo 2 Bold Italics"/>
                <a:cs typeface="Exo 2 Bold Italics"/>
                <a:sym typeface="Exo 2 Bold Italics"/>
              </a:rPr>
              <a:t>*Work in progress</a:t>
            </a:r>
          </a:p>
        </p:txBody>
      </p:sp>
      <p:grpSp>
        <p:nvGrpSpPr>
          <p:cNvPr id="9" name="Group 9"/>
          <p:cNvGrpSpPr/>
          <p:nvPr/>
        </p:nvGrpSpPr>
        <p:grpSpPr>
          <a:xfrm>
            <a:off x="1595228" y="1600200"/>
            <a:ext cx="6365015" cy="3291840"/>
            <a:chOff x="0" y="0"/>
            <a:chExt cx="8486686" cy="4389120"/>
          </a:xfrm>
        </p:grpSpPr>
        <p:sp>
          <p:nvSpPr>
            <p:cNvPr id="10" name="Freeform 10"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2"/>
              <a:stretch>
                <a:fillRect/>
              </a:stretch>
            </a:blipFill>
          </p:spPr>
          <p:txBody>
            <a:bodyPr/>
            <a:lstStyle/>
            <a:p>
              <a:endParaRPr lang="en-US"/>
            </a:p>
          </p:txBody>
        </p:sp>
      </p:grpSp>
      <p:grpSp>
        <p:nvGrpSpPr>
          <p:cNvPr id="11" name="Group 11"/>
          <p:cNvGrpSpPr/>
          <p:nvPr/>
        </p:nvGrpSpPr>
        <p:grpSpPr>
          <a:xfrm>
            <a:off x="10327748" y="1600200"/>
            <a:ext cx="6365015" cy="3291840"/>
            <a:chOff x="0" y="0"/>
            <a:chExt cx="8486686" cy="4389120"/>
          </a:xfrm>
        </p:grpSpPr>
        <p:sp>
          <p:nvSpPr>
            <p:cNvPr id="12" name="Freeform 12"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3"/>
              <a:stretch>
                <a:fillRect/>
              </a:stretch>
            </a:blipFill>
          </p:spPr>
          <p:txBody>
            <a:bodyPr/>
            <a:lstStyle/>
            <a:p>
              <a:endParaRPr lang="en-US"/>
            </a:p>
          </p:txBody>
        </p:sp>
      </p:grpSp>
      <p:grpSp>
        <p:nvGrpSpPr>
          <p:cNvPr id="13" name="Group 13"/>
          <p:cNvGrpSpPr/>
          <p:nvPr/>
        </p:nvGrpSpPr>
        <p:grpSpPr>
          <a:xfrm>
            <a:off x="1595228" y="5349240"/>
            <a:ext cx="6365015" cy="3291840"/>
            <a:chOff x="0" y="0"/>
            <a:chExt cx="8486686" cy="4389120"/>
          </a:xfrm>
        </p:grpSpPr>
        <p:sp>
          <p:nvSpPr>
            <p:cNvPr id="14" name="Freeform 14"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4"/>
              <a:stretch>
                <a:fillRect/>
              </a:stretch>
            </a:blipFill>
          </p:spPr>
          <p:txBody>
            <a:bodyPr/>
            <a:lstStyle/>
            <a:p>
              <a:endParaRPr lang="en-US"/>
            </a:p>
          </p:txBody>
        </p:sp>
      </p:grpSp>
      <p:grpSp>
        <p:nvGrpSpPr>
          <p:cNvPr id="15" name="Group 15"/>
          <p:cNvGrpSpPr/>
          <p:nvPr/>
        </p:nvGrpSpPr>
        <p:grpSpPr>
          <a:xfrm>
            <a:off x="10327748" y="5349240"/>
            <a:ext cx="6365015" cy="3291840"/>
            <a:chOff x="0" y="0"/>
            <a:chExt cx="8486686" cy="4389120"/>
          </a:xfrm>
        </p:grpSpPr>
        <p:sp>
          <p:nvSpPr>
            <p:cNvPr id="16" name="Freeform 16"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5"/>
              <a:stretch>
                <a:fillRect/>
              </a:stretch>
            </a:blipFill>
          </p:spPr>
          <p:txBody>
            <a:bodyPr/>
            <a:lstStyle/>
            <a:p>
              <a:endParaRPr lang="en-US"/>
            </a:p>
          </p:txBody>
        </p:sp>
      </p:grpSp>
      <p:sp>
        <p:nvSpPr>
          <p:cNvPr id="17" name="Freeform 1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8" name="Group 18"/>
          <p:cNvGrpSpPr/>
          <p:nvPr/>
        </p:nvGrpSpPr>
        <p:grpSpPr>
          <a:xfrm>
            <a:off x="804861" y="603559"/>
            <a:ext cx="14636945" cy="822851"/>
            <a:chOff x="0" y="0"/>
            <a:chExt cx="19515927" cy="1097134"/>
          </a:xfrm>
        </p:grpSpPr>
        <p:sp>
          <p:nvSpPr>
            <p:cNvPr id="19" name="Freeform 19"/>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7">
                <a:alphaModFix amt="0"/>
              </a:blip>
              <a:stretch>
                <a:fillRect t="-248975" r="15662" b="-235653"/>
              </a:stretch>
            </a:blipFill>
          </p:spPr>
          <p:txBody>
            <a:bodyPr/>
            <a:lstStyle/>
            <a:p>
              <a:endParaRPr lang="en-US"/>
            </a:p>
          </p:txBody>
        </p:sp>
        <p:sp>
          <p:nvSpPr>
            <p:cNvPr id="20" name="TextBox 20"/>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September Artwork Preview</a:t>
              </a:r>
            </a:p>
          </p:txBody>
        </p:sp>
      </p:grpSp>
      <p:sp>
        <p:nvSpPr>
          <p:cNvPr id="21" name="Freeform 21"/>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8"/>
            <a:stretch>
              <a:fillRect/>
            </a:stretch>
          </a:blipFill>
        </p:spPr>
        <p:txBody>
          <a:bodyPr/>
          <a:lstStyle/>
          <a:p>
            <a:endParaRPr lang="en-US"/>
          </a:p>
        </p:txBody>
      </p:sp>
      <p:grpSp>
        <p:nvGrpSpPr>
          <p:cNvPr id="22" name="Group 22"/>
          <p:cNvGrpSpPr/>
          <p:nvPr/>
        </p:nvGrpSpPr>
        <p:grpSpPr>
          <a:xfrm>
            <a:off x="470535" y="648843"/>
            <a:ext cx="115062" cy="732282"/>
            <a:chOff x="0" y="0"/>
            <a:chExt cx="153416" cy="976376"/>
          </a:xfrm>
        </p:grpSpPr>
        <p:sp>
          <p:nvSpPr>
            <p:cNvPr id="23" name="Freeform 2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4" name="Freeform 2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548640" y="1600200"/>
            <a:ext cx="5379007" cy="1487805"/>
            <a:chOff x="0" y="0"/>
            <a:chExt cx="7172009" cy="1983740"/>
          </a:xfrm>
        </p:grpSpPr>
        <p:sp>
          <p:nvSpPr>
            <p:cNvPr id="5" name="Freeform 5"/>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6" name="TextBox 6"/>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587
Visits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7" name="Group 7"/>
          <p:cNvGrpSpPr/>
          <p:nvPr/>
        </p:nvGrpSpPr>
        <p:grpSpPr>
          <a:xfrm>
            <a:off x="6351906" y="1600200"/>
            <a:ext cx="5379007" cy="1487805"/>
            <a:chOff x="0" y="0"/>
            <a:chExt cx="7172009" cy="1983740"/>
          </a:xfrm>
        </p:grpSpPr>
        <p:sp>
          <p:nvSpPr>
            <p:cNvPr id="8" name="Freeform 8"/>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9" name="TextBox 9"/>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542
Active Users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10" name="Group 10"/>
          <p:cNvGrpSpPr/>
          <p:nvPr/>
        </p:nvGrpSpPr>
        <p:grpSpPr>
          <a:xfrm>
            <a:off x="12155173" y="1600200"/>
            <a:ext cx="5379007" cy="1487805"/>
            <a:chOff x="0" y="0"/>
            <a:chExt cx="7172009" cy="1983740"/>
          </a:xfrm>
        </p:grpSpPr>
        <p:sp>
          <p:nvSpPr>
            <p:cNvPr id="11" name="Freeform 11"/>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12" name="TextBox 12"/>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558
New Users</a:t>
              </a:r>
            </a:p>
            <a:p>
              <a:pPr algn="ctr">
                <a:lnSpc>
                  <a:spcPts val="3119"/>
                </a:lnSpc>
              </a:pPr>
              <a:endParaRPr lang="en-US" sz="3999" b="1">
                <a:solidFill>
                  <a:srgbClr val="FFFFFF"/>
                </a:solidFill>
                <a:latin typeface="Exo 2 Bold"/>
                <a:ea typeface="Exo 2 Bold"/>
                <a:cs typeface="Exo 2 Bold"/>
                <a:sym typeface="Exo 2 Bold"/>
              </a:endParaRPr>
            </a:p>
          </p:txBody>
        </p:sp>
      </p:grpSp>
      <p:sp>
        <p:nvSpPr>
          <p:cNvPr id="13" name="TextBox 13"/>
          <p:cNvSpPr txBox="1"/>
          <p:nvPr/>
        </p:nvSpPr>
        <p:spPr>
          <a:xfrm>
            <a:off x="640080" y="3230880"/>
            <a:ext cx="2931001" cy="495300"/>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Traffic Sources</a:t>
            </a:r>
          </a:p>
        </p:txBody>
      </p:sp>
      <p:graphicFrame>
        <p:nvGraphicFramePr>
          <p:cNvPr id="14" name="Table 14"/>
          <p:cNvGraphicFramePr>
            <a:graphicFrameLocks noGrp="1"/>
          </p:cNvGraphicFramePr>
          <p:nvPr/>
        </p:nvGraphicFramePr>
        <p:xfrm>
          <a:off x="548640" y="3880485"/>
          <a:ext cx="16985539" cy="4727775"/>
        </p:xfrm>
        <a:graphic>
          <a:graphicData uri="http://schemas.openxmlformats.org/drawingml/2006/table">
            <a:tbl>
              <a:tblPr/>
              <a:tblGrid>
                <a:gridCol w="3085157">
                  <a:extLst>
                    <a:ext uri="{9D8B030D-6E8A-4147-A177-3AD203B41FA5}">
                      <a16:colId xmlns:a16="http://schemas.microsoft.com/office/drawing/2014/main" val="20000"/>
                    </a:ext>
                  </a:extLst>
                </a:gridCol>
                <a:gridCol w="6950191">
                  <a:extLst>
                    <a:ext uri="{9D8B030D-6E8A-4147-A177-3AD203B41FA5}">
                      <a16:colId xmlns:a16="http://schemas.microsoft.com/office/drawing/2014/main" val="20001"/>
                    </a:ext>
                  </a:extLst>
                </a:gridCol>
                <a:gridCol w="6950191">
                  <a:extLst>
                    <a:ext uri="{9D8B030D-6E8A-4147-A177-3AD203B41FA5}">
                      <a16:colId xmlns:a16="http://schemas.microsoft.com/office/drawing/2014/main" val="20002"/>
                    </a:ext>
                  </a:extLst>
                </a:gridCol>
              </a:tblGrid>
              <a:tr h="648589">
                <a:tc>
                  <a:txBody>
                    <a:bodyPr/>
                    <a:lstStyle/>
                    <a:p>
                      <a:pPr algn="ctr">
                        <a:lnSpc>
                          <a:spcPts val="2579"/>
                        </a:lnSpc>
                        <a:defRPr/>
                      </a:pPr>
                      <a:r>
                        <a:rPr lang="en-US" sz="2148" b="1">
                          <a:solidFill>
                            <a:srgbClr val="FFFFFF"/>
                          </a:solidFill>
                          <a:latin typeface="Exo 2 Bold"/>
                          <a:ea typeface="Exo 2 Bold"/>
                          <a:cs typeface="Exo 2 Bold"/>
                          <a:sym typeface="Exo 2 Bold"/>
                        </a:rPr>
                        <a:t>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1264424">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Paid (Google Ads)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409 (69.7%)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google / cpc, new campaign launched 22 Sep, already the top traffic 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555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Direct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92 (15.7%)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No campaign or referral tag - typed URL, bookmark, or app share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1091160">
                <a:tc>
                  <a:txBody>
                    <a:bodyPr/>
                    <a:lstStyle/>
                    <a:p>
                      <a:pPr algn="ctr">
                        <a:lnSpc>
                          <a:spcPts val="2579"/>
                        </a:lnSpc>
                        <a:defRPr/>
                      </a:pPr>
                      <a:r>
                        <a:rPr lang="en-US" sz="2148" i="1">
                          <a:solidFill>
                            <a:srgbClr val="5A6A85"/>
                          </a:solidFill>
                          <a:latin typeface="Exo 2 Italics"/>
                          <a:ea typeface="Exo 2 Italics"/>
                          <a:cs typeface="Exo 2 Italics"/>
                          <a:sym typeface="Exo 2 Italics"/>
                        </a:rPr>
                        <a:t>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Organic Google 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44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Referral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ajyadcapital.com, Instagram, ChatGPT, Google Tag Assistant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grpSp>
        <p:nvGrpSpPr>
          <p:cNvPr id="15" name="Group 15"/>
          <p:cNvGrpSpPr/>
          <p:nvPr/>
        </p:nvGrpSpPr>
        <p:grpSpPr>
          <a:xfrm>
            <a:off x="804861" y="603559"/>
            <a:ext cx="14636945" cy="822851"/>
            <a:chOff x="0" y="0"/>
            <a:chExt cx="19515927" cy="1097134"/>
          </a:xfrm>
        </p:grpSpPr>
        <p:sp>
          <p:nvSpPr>
            <p:cNvPr id="16" name="Freeform 1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17" name="TextBox 1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Website Analytics</a:t>
              </a:r>
            </a:p>
          </p:txBody>
        </p:sp>
      </p:grpSp>
      <p:sp>
        <p:nvSpPr>
          <p:cNvPr id="18" name="Freeform 1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20" name="Group 20"/>
          <p:cNvGrpSpPr/>
          <p:nvPr/>
        </p:nvGrpSpPr>
        <p:grpSpPr>
          <a:xfrm>
            <a:off x="470535" y="648843"/>
            <a:ext cx="115062" cy="732282"/>
            <a:chOff x="0" y="0"/>
            <a:chExt cx="153416" cy="976376"/>
          </a:xfrm>
        </p:grpSpPr>
        <p:sp>
          <p:nvSpPr>
            <p:cNvPr id="21" name="Freeform 21"/>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2" name="Freeform 22"/>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3" name="TextBox 22"/>
          <p:cNvSpPr txBox="1"/>
          <p:nvPr/>
        </p:nvSpPr>
        <p:spPr>
          <a:xfrm>
            <a:off x="548640" y="8750000"/>
            <a:ext cx="16985539" cy="300000"/>
          </a:xfrm>
          <a:prstGeom prst="rect">
            <a:avLst/>
          </a:prstGeom>
          <a:noFill/>
        </p:spPr>
        <p:txBody>
          <a:bodyPr wrap="none">
            <a:spAutoFit/>
          </a:bodyPr>
          <a:lstStyle/>
          <a:p>
            <a:r>
              <a:rPr sz="950" i="1">
                <a:solidFill>
                  <a:srgbClr val="5A6A85"/>
                </a:solidFill>
                <a:latin typeface="Calibri"/>
              </a:rPr>
              <a:t>The four sources above account for 579 of the site’s 587 tracked sessions (98.6%); the remaining 8 sessions (1.4%) fall outside GA’s top-traffic breakdown.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8528" y="2089490"/>
            <a:ext cx="4118666" cy="4334573"/>
            <a:chOff x="0" y="0"/>
            <a:chExt cx="4404525" cy="4635417"/>
          </a:xfrm>
        </p:grpSpPr>
        <p:sp>
          <p:nvSpPr>
            <p:cNvPr id="3" name="Freeform 3"/>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5" name="Group 5"/>
          <p:cNvGrpSpPr/>
          <p:nvPr/>
        </p:nvGrpSpPr>
        <p:grpSpPr>
          <a:xfrm>
            <a:off x="9270007" y="2089490"/>
            <a:ext cx="4118666" cy="4334573"/>
            <a:chOff x="0" y="0"/>
            <a:chExt cx="4404525" cy="4635417"/>
          </a:xfrm>
        </p:grpSpPr>
        <p:sp>
          <p:nvSpPr>
            <p:cNvPr id="6" name="Freeform 6"/>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8" name="Group 8"/>
          <p:cNvGrpSpPr/>
          <p:nvPr/>
        </p:nvGrpSpPr>
        <p:grpSpPr>
          <a:xfrm>
            <a:off x="13648902" y="2089490"/>
            <a:ext cx="4118666" cy="4334573"/>
            <a:chOff x="0" y="0"/>
            <a:chExt cx="4404525" cy="4635417"/>
          </a:xfrm>
        </p:grpSpPr>
        <p:sp>
          <p:nvSpPr>
            <p:cNvPr id="9" name="Freeform 9"/>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0" name="Freeform 10"/>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1" name="Group 11"/>
          <p:cNvGrpSpPr/>
          <p:nvPr/>
        </p:nvGrpSpPr>
        <p:grpSpPr>
          <a:xfrm>
            <a:off x="4854447" y="2089490"/>
            <a:ext cx="4118666" cy="4334573"/>
            <a:chOff x="0" y="0"/>
            <a:chExt cx="4404525" cy="4635417"/>
          </a:xfrm>
        </p:grpSpPr>
        <p:sp>
          <p:nvSpPr>
            <p:cNvPr id="12" name="Freeform 12"/>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3" name="Freeform 13"/>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4" name="Group 14"/>
          <p:cNvGrpSpPr/>
          <p:nvPr/>
        </p:nvGrpSpPr>
        <p:grpSpPr>
          <a:xfrm>
            <a:off x="755850" y="564284"/>
            <a:ext cx="13164593" cy="1595581"/>
            <a:chOff x="0" y="0"/>
            <a:chExt cx="17552791" cy="2127442"/>
          </a:xfrm>
        </p:grpSpPr>
        <p:sp>
          <p:nvSpPr>
            <p:cNvPr id="15" name="Freeform 15"/>
            <p:cNvSpPr/>
            <p:nvPr/>
          </p:nvSpPr>
          <p:spPr>
            <a:xfrm>
              <a:off x="0" y="0"/>
              <a:ext cx="17552791" cy="2127442"/>
            </a:xfrm>
            <a:custGeom>
              <a:avLst/>
              <a:gdLst/>
              <a:ahLst/>
              <a:cxnLst/>
              <a:rect l="l" t="t" r="r" b="b"/>
              <a:pathLst>
                <a:path w="17552791" h="2127442">
                  <a:moveTo>
                    <a:pt x="0" y="0"/>
                  </a:moveTo>
                  <a:lnTo>
                    <a:pt x="17552791" y="0"/>
                  </a:lnTo>
                  <a:lnTo>
                    <a:pt x="17552791" y="2127442"/>
                  </a:lnTo>
                  <a:lnTo>
                    <a:pt x="0" y="2127442"/>
                  </a:lnTo>
                  <a:close/>
                </a:path>
              </a:pathLst>
            </a:custGeom>
            <a:blipFill>
              <a:blip r:embed="rId2">
                <a:alphaModFix amt="0"/>
              </a:blip>
              <a:stretch>
                <a:fillRect t="-128398" r="6230" b="-73098"/>
              </a:stretch>
            </a:blipFill>
          </p:spPr>
          <p:txBody>
            <a:bodyPr/>
            <a:lstStyle/>
            <a:p>
              <a:endParaRPr lang="en-US"/>
            </a:p>
          </p:txBody>
        </p:sp>
        <p:sp>
          <p:nvSpPr>
            <p:cNvPr id="16" name="TextBox 16"/>
            <p:cNvSpPr txBox="1"/>
            <p:nvPr/>
          </p:nvSpPr>
          <p:spPr>
            <a:xfrm>
              <a:off x="0" y="-9525"/>
              <a:ext cx="17552791" cy="2136967"/>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Interaction Journey</a:t>
              </a:r>
            </a:p>
            <a:p>
              <a:pPr marL="0" lvl="0" indent="0" algn="l">
                <a:lnSpc>
                  <a:spcPts val="5280"/>
                </a:lnSpc>
                <a:spcBef>
                  <a:spcPct val="0"/>
                </a:spcBef>
              </a:pPr>
              <a:endPar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endParaRPr>
            </a:p>
          </p:txBody>
        </p:sp>
      </p:grpSp>
      <p:grpSp>
        <p:nvGrpSpPr>
          <p:cNvPr id="17" name="Group 17"/>
          <p:cNvGrpSpPr/>
          <p:nvPr/>
        </p:nvGrpSpPr>
        <p:grpSpPr>
          <a:xfrm>
            <a:off x="470535" y="648843"/>
            <a:ext cx="115062" cy="732282"/>
            <a:chOff x="0" y="0"/>
            <a:chExt cx="153416" cy="976376"/>
          </a:xfrm>
        </p:grpSpPr>
        <p:sp>
          <p:nvSpPr>
            <p:cNvPr id="18" name="Freeform 1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9" name="Freeform 1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0" name="Freeform 20"/>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sp>
        <p:nvSpPr>
          <p:cNvPr id="21" name="Freeform 21"/>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2" name="Group 22"/>
          <p:cNvGrpSpPr/>
          <p:nvPr/>
        </p:nvGrpSpPr>
        <p:grpSpPr>
          <a:xfrm>
            <a:off x="585597" y="2217420"/>
            <a:ext cx="2948940" cy="480060"/>
            <a:chOff x="0" y="0"/>
            <a:chExt cx="3931920" cy="640080"/>
          </a:xfrm>
        </p:grpSpPr>
        <p:sp>
          <p:nvSpPr>
            <p:cNvPr id="23" name="Freeform 23"/>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24" name="TextBox 24"/>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CALL</a:t>
              </a:r>
            </a:p>
          </p:txBody>
        </p:sp>
      </p:grpSp>
      <p:grpSp>
        <p:nvGrpSpPr>
          <p:cNvPr id="25" name="Group 25"/>
          <p:cNvGrpSpPr/>
          <p:nvPr/>
        </p:nvGrpSpPr>
        <p:grpSpPr>
          <a:xfrm>
            <a:off x="1019682" y="1381125"/>
            <a:ext cx="2948940" cy="3593452"/>
            <a:chOff x="0" y="0"/>
            <a:chExt cx="3931920" cy="4791270"/>
          </a:xfrm>
        </p:grpSpPr>
        <p:sp>
          <p:nvSpPr>
            <p:cNvPr id="26" name="Freeform 26"/>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27" name="TextBox 27"/>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1</a:t>
              </a:r>
            </a:p>
          </p:txBody>
        </p:sp>
      </p:grpSp>
      <p:grpSp>
        <p:nvGrpSpPr>
          <p:cNvPr id="28" name="Group 28"/>
          <p:cNvGrpSpPr/>
          <p:nvPr/>
        </p:nvGrpSpPr>
        <p:grpSpPr>
          <a:xfrm>
            <a:off x="1019682" y="3570976"/>
            <a:ext cx="2948940" cy="685800"/>
            <a:chOff x="0" y="0"/>
            <a:chExt cx="3931920" cy="914400"/>
          </a:xfrm>
        </p:grpSpPr>
        <p:sp>
          <p:nvSpPr>
            <p:cNvPr id="29" name="Freeform 29"/>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30" name="TextBox 30"/>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First Contact</a:t>
              </a:r>
            </a:p>
          </p:txBody>
        </p:sp>
      </p:grpSp>
      <p:grpSp>
        <p:nvGrpSpPr>
          <p:cNvPr id="31" name="Group 31"/>
          <p:cNvGrpSpPr/>
          <p:nvPr/>
        </p:nvGrpSpPr>
        <p:grpSpPr>
          <a:xfrm>
            <a:off x="1019682" y="3931791"/>
            <a:ext cx="2948940" cy="2167286"/>
            <a:chOff x="0" y="0"/>
            <a:chExt cx="3931920" cy="2889715"/>
          </a:xfrm>
        </p:grpSpPr>
        <p:sp>
          <p:nvSpPr>
            <p:cNvPr id="32" name="Freeform 32"/>
            <p:cNvSpPr/>
            <p:nvPr/>
          </p:nvSpPr>
          <p:spPr>
            <a:xfrm>
              <a:off x="0" y="0"/>
              <a:ext cx="3931920" cy="2889715"/>
            </a:xfrm>
            <a:custGeom>
              <a:avLst/>
              <a:gdLst/>
              <a:ahLst/>
              <a:cxnLst/>
              <a:rect l="l" t="t" r="r" b="b"/>
              <a:pathLst>
                <a:path w="3931920" h="2889715">
                  <a:moveTo>
                    <a:pt x="0" y="0"/>
                  </a:moveTo>
                  <a:lnTo>
                    <a:pt x="3931920" y="0"/>
                  </a:lnTo>
                  <a:lnTo>
                    <a:pt x="3931920" y="2889715"/>
                  </a:lnTo>
                  <a:lnTo>
                    <a:pt x="0" y="2889715"/>
                  </a:lnTo>
                  <a:close/>
                </a:path>
              </a:pathLst>
            </a:custGeom>
            <a:blipFill>
              <a:blip r:embed="rId2">
                <a:alphaModFix amt="0"/>
              </a:blip>
              <a:stretch>
                <a:fillRect l="-69352" r="-69352" b="-26573"/>
              </a:stretch>
            </a:blipFill>
          </p:spPr>
          <p:txBody>
            <a:bodyPr/>
            <a:lstStyle/>
            <a:p>
              <a:endParaRPr lang="en-US"/>
            </a:p>
          </p:txBody>
        </p:sp>
        <p:sp>
          <p:nvSpPr>
            <p:cNvPr id="33" name="TextBox 33"/>
            <p:cNvSpPr txBox="1"/>
            <p:nvPr/>
          </p:nvSpPr>
          <p:spPr>
            <a:xfrm>
              <a:off x="0" y="-57150"/>
              <a:ext cx="3931920" cy="294686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id="34" name="Group 34"/>
          <p:cNvGrpSpPr/>
          <p:nvPr/>
        </p:nvGrpSpPr>
        <p:grpSpPr>
          <a:xfrm>
            <a:off x="5136568" y="2292953"/>
            <a:ext cx="2948940" cy="345929"/>
            <a:chOff x="0" y="0"/>
            <a:chExt cx="3931920" cy="461239"/>
          </a:xfrm>
        </p:grpSpPr>
        <p:sp>
          <p:nvSpPr>
            <p:cNvPr id="35" name="Freeform 35"/>
            <p:cNvSpPr/>
            <p:nvPr/>
          </p:nvSpPr>
          <p:spPr>
            <a:xfrm>
              <a:off x="0" y="0"/>
              <a:ext cx="3931920" cy="461239"/>
            </a:xfrm>
            <a:custGeom>
              <a:avLst/>
              <a:gdLst/>
              <a:ahLst/>
              <a:cxnLst/>
              <a:rect l="l" t="t" r="r" b="b"/>
              <a:pathLst>
                <a:path w="3931920" h="461239">
                  <a:moveTo>
                    <a:pt x="0" y="0"/>
                  </a:moveTo>
                  <a:lnTo>
                    <a:pt x="3931920" y="0"/>
                  </a:lnTo>
                  <a:lnTo>
                    <a:pt x="3931920" y="461239"/>
                  </a:lnTo>
                  <a:lnTo>
                    <a:pt x="0" y="461239"/>
                  </a:lnTo>
                  <a:close/>
                </a:path>
              </a:pathLst>
            </a:custGeom>
            <a:blipFill>
              <a:blip r:embed="rId2">
                <a:alphaModFix amt="0"/>
              </a:blip>
              <a:stretch>
                <a:fillRect t="-96716" b="-135491"/>
              </a:stretch>
            </a:blipFill>
          </p:spPr>
          <p:txBody>
            <a:bodyPr/>
            <a:lstStyle/>
            <a:p>
              <a:endParaRPr lang="en-US"/>
            </a:p>
          </p:txBody>
        </p:sp>
        <p:sp>
          <p:nvSpPr>
            <p:cNvPr id="36" name="TextBox 36"/>
            <p:cNvSpPr txBox="1"/>
            <p:nvPr/>
          </p:nvSpPr>
          <p:spPr>
            <a:xfrm>
              <a:off x="0" y="0"/>
              <a:ext cx="3931920" cy="461239"/>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EMAIL</a:t>
              </a:r>
            </a:p>
          </p:txBody>
        </p:sp>
      </p:grpSp>
      <p:grpSp>
        <p:nvGrpSpPr>
          <p:cNvPr id="37" name="Group 37"/>
          <p:cNvGrpSpPr/>
          <p:nvPr/>
        </p:nvGrpSpPr>
        <p:grpSpPr>
          <a:xfrm>
            <a:off x="6566175" y="1362075"/>
            <a:ext cx="694851" cy="3593452"/>
            <a:chOff x="0" y="0"/>
            <a:chExt cx="926468" cy="4791270"/>
          </a:xfrm>
        </p:grpSpPr>
        <p:sp>
          <p:nvSpPr>
            <p:cNvPr id="38" name="Freeform 38"/>
            <p:cNvSpPr/>
            <p:nvPr/>
          </p:nvSpPr>
          <p:spPr>
            <a:xfrm>
              <a:off x="0" y="0"/>
              <a:ext cx="926468" cy="4791270"/>
            </a:xfrm>
            <a:custGeom>
              <a:avLst/>
              <a:gdLst/>
              <a:ahLst/>
              <a:cxnLst/>
              <a:rect l="l" t="t" r="r" b="b"/>
              <a:pathLst>
                <a:path w="926468" h="4791270">
                  <a:moveTo>
                    <a:pt x="0" y="0"/>
                  </a:moveTo>
                  <a:lnTo>
                    <a:pt x="926468" y="0"/>
                  </a:lnTo>
                  <a:lnTo>
                    <a:pt x="926468" y="4791270"/>
                  </a:lnTo>
                  <a:lnTo>
                    <a:pt x="0" y="4791270"/>
                  </a:lnTo>
                  <a:close/>
                </a:path>
              </a:pathLst>
            </a:custGeom>
            <a:blipFill>
              <a:blip r:embed="rId2">
                <a:alphaModFix amt="0"/>
              </a:blip>
              <a:stretch>
                <a:fillRect l="-15738" r="-340137" b="65647"/>
              </a:stretch>
            </a:blipFill>
          </p:spPr>
          <p:txBody>
            <a:bodyPr/>
            <a:lstStyle/>
            <a:p>
              <a:endParaRPr lang="en-US"/>
            </a:p>
          </p:txBody>
        </p:sp>
        <p:sp>
          <p:nvSpPr>
            <p:cNvPr id="39" name="TextBox 39"/>
            <p:cNvSpPr txBox="1"/>
            <p:nvPr/>
          </p:nvSpPr>
          <p:spPr>
            <a:xfrm>
              <a:off x="0" y="-9525"/>
              <a:ext cx="926468"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2</a:t>
              </a:r>
            </a:p>
          </p:txBody>
        </p:sp>
      </p:grpSp>
      <p:grpSp>
        <p:nvGrpSpPr>
          <p:cNvPr id="40" name="Group 40"/>
          <p:cNvGrpSpPr/>
          <p:nvPr/>
        </p:nvGrpSpPr>
        <p:grpSpPr>
          <a:xfrm>
            <a:off x="5439130" y="3377116"/>
            <a:ext cx="2948940" cy="1073519"/>
            <a:chOff x="0" y="0"/>
            <a:chExt cx="3931920" cy="1431358"/>
          </a:xfrm>
        </p:grpSpPr>
        <p:sp>
          <p:nvSpPr>
            <p:cNvPr id="41" name="Freeform 41"/>
            <p:cNvSpPr/>
            <p:nvPr/>
          </p:nvSpPr>
          <p:spPr>
            <a:xfrm>
              <a:off x="0" y="0"/>
              <a:ext cx="3931920" cy="1431358"/>
            </a:xfrm>
            <a:custGeom>
              <a:avLst/>
              <a:gdLst/>
              <a:ahLst/>
              <a:cxnLst/>
              <a:rect l="l" t="t" r="r" b="b"/>
              <a:pathLst>
                <a:path w="3931920" h="1431358">
                  <a:moveTo>
                    <a:pt x="0" y="0"/>
                  </a:moveTo>
                  <a:lnTo>
                    <a:pt x="3931920" y="0"/>
                  </a:lnTo>
                  <a:lnTo>
                    <a:pt x="3931920" y="1431358"/>
                  </a:lnTo>
                  <a:lnTo>
                    <a:pt x="0" y="1431358"/>
                  </a:lnTo>
                  <a:close/>
                </a:path>
              </a:pathLst>
            </a:custGeom>
            <a:blipFill>
              <a:blip r:embed="rId2">
                <a:alphaModFix amt="0"/>
              </a:blip>
              <a:stretch>
                <a:fillRect t="-21583" b="14533"/>
              </a:stretch>
            </a:blipFill>
          </p:spPr>
          <p:txBody>
            <a:bodyPr/>
            <a:lstStyle/>
            <a:p>
              <a:endParaRPr lang="en-US"/>
            </a:p>
          </p:txBody>
        </p:sp>
        <p:sp>
          <p:nvSpPr>
            <p:cNvPr id="42" name="TextBox 42"/>
            <p:cNvSpPr txBox="1"/>
            <p:nvPr/>
          </p:nvSpPr>
          <p:spPr>
            <a:xfrm>
              <a:off x="0" y="-9525"/>
              <a:ext cx="3931920" cy="1440883"/>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Email Reminder</a:t>
              </a:r>
            </a:p>
          </p:txBody>
        </p:sp>
      </p:grpSp>
      <p:grpSp>
        <p:nvGrpSpPr>
          <p:cNvPr id="43" name="Group 43"/>
          <p:cNvGrpSpPr/>
          <p:nvPr/>
        </p:nvGrpSpPr>
        <p:grpSpPr>
          <a:xfrm>
            <a:off x="5439130" y="4240574"/>
            <a:ext cx="2983151" cy="1859400"/>
            <a:chOff x="0" y="0"/>
            <a:chExt cx="3977535" cy="2479199"/>
          </a:xfrm>
        </p:grpSpPr>
        <p:sp>
          <p:nvSpPr>
            <p:cNvPr id="44" name="Freeform 44"/>
            <p:cNvSpPr/>
            <p:nvPr/>
          </p:nvSpPr>
          <p:spPr>
            <a:xfrm>
              <a:off x="0" y="0"/>
              <a:ext cx="3977535" cy="2479199"/>
            </a:xfrm>
            <a:custGeom>
              <a:avLst/>
              <a:gdLst/>
              <a:ahLst/>
              <a:cxnLst/>
              <a:rect l="l" t="t" r="r" b="b"/>
              <a:pathLst>
                <a:path w="3977535" h="2479199">
                  <a:moveTo>
                    <a:pt x="0" y="0"/>
                  </a:moveTo>
                  <a:lnTo>
                    <a:pt x="3977535" y="0"/>
                  </a:lnTo>
                  <a:lnTo>
                    <a:pt x="3977535" y="2479199"/>
                  </a:lnTo>
                  <a:lnTo>
                    <a:pt x="0" y="2479199"/>
                  </a:lnTo>
                  <a:close/>
                </a:path>
              </a:pathLst>
            </a:custGeom>
            <a:blipFill>
              <a:blip r:embed="rId2">
                <a:alphaModFix amt="0"/>
              </a:blip>
              <a:stretch>
                <a:fillRect l="-68556" r="-67409" b="-47531"/>
              </a:stretch>
            </a:blipFill>
          </p:spPr>
          <p:txBody>
            <a:bodyPr/>
            <a:lstStyle/>
            <a:p>
              <a:endParaRPr lang="en-US"/>
            </a:p>
          </p:txBody>
        </p:sp>
        <p:sp>
          <p:nvSpPr>
            <p:cNvPr id="45" name="TextBox 45"/>
            <p:cNvSpPr txBox="1"/>
            <p:nvPr/>
          </p:nvSpPr>
          <p:spPr>
            <a:xfrm>
              <a:off x="0" y="-57150"/>
              <a:ext cx="3977535" cy="2536349"/>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Send a reminder email at the end of the day outlining the steps required to progress through their current stage.</a:t>
              </a:r>
            </a:p>
          </p:txBody>
        </p:sp>
      </p:grpSp>
      <p:grpSp>
        <p:nvGrpSpPr>
          <p:cNvPr id="46" name="Group 46"/>
          <p:cNvGrpSpPr/>
          <p:nvPr/>
        </p:nvGrpSpPr>
        <p:grpSpPr>
          <a:xfrm>
            <a:off x="9554138" y="2217420"/>
            <a:ext cx="2948940" cy="480060"/>
            <a:chOff x="0" y="0"/>
            <a:chExt cx="3931920" cy="640080"/>
          </a:xfrm>
        </p:grpSpPr>
        <p:sp>
          <p:nvSpPr>
            <p:cNvPr id="47" name="Freeform 47"/>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48" name="TextBox 48"/>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3 CALL</a:t>
              </a:r>
            </a:p>
          </p:txBody>
        </p:sp>
      </p:grpSp>
      <p:grpSp>
        <p:nvGrpSpPr>
          <p:cNvPr id="49" name="Group 49"/>
          <p:cNvGrpSpPr/>
          <p:nvPr/>
        </p:nvGrpSpPr>
        <p:grpSpPr>
          <a:xfrm>
            <a:off x="9747275" y="1381125"/>
            <a:ext cx="2948940" cy="3593452"/>
            <a:chOff x="0" y="0"/>
            <a:chExt cx="3931920" cy="4791270"/>
          </a:xfrm>
        </p:grpSpPr>
        <p:sp>
          <p:nvSpPr>
            <p:cNvPr id="50" name="Freeform 50"/>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51" name="TextBox 51"/>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3</a:t>
              </a:r>
            </a:p>
          </p:txBody>
        </p:sp>
      </p:grpSp>
      <p:grpSp>
        <p:nvGrpSpPr>
          <p:cNvPr id="52" name="Group 52"/>
          <p:cNvGrpSpPr/>
          <p:nvPr/>
        </p:nvGrpSpPr>
        <p:grpSpPr>
          <a:xfrm>
            <a:off x="9747275" y="3570976"/>
            <a:ext cx="2948940" cy="685800"/>
            <a:chOff x="0" y="0"/>
            <a:chExt cx="3931920" cy="914400"/>
          </a:xfrm>
        </p:grpSpPr>
        <p:sp>
          <p:nvSpPr>
            <p:cNvPr id="53" name="Freeform 53"/>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54" name="TextBox 54"/>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Second Call</a:t>
              </a:r>
            </a:p>
          </p:txBody>
        </p:sp>
      </p:grpSp>
      <p:grpSp>
        <p:nvGrpSpPr>
          <p:cNvPr id="55" name="Group 55"/>
          <p:cNvGrpSpPr/>
          <p:nvPr/>
        </p:nvGrpSpPr>
        <p:grpSpPr>
          <a:xfrm>
            <a:off x="9836537" y="4187923"/>
            <a:ext cx="2948940" cy="1911154"/>
            <a:chOff x="0" y="0"/>
            <a:chExt cx="3931920" cy="2548205"/>
          </a:xfrm>
        </p:grpSpPr>
        <p:sp>
          <p:nvSpPr>
            <p:cNvPr id="56" name="Freeform 56"/>
            <p:cNvSpPr/>
            <p:nvPr/>
          </p:nvSpPr>
          <p:spPr>
            <a:xfrm>
              <a:off x="0" y="0"/>
              <a:ext cx="3931920" cy="2548205"/>
            </a:xfrm>
            <a:custGeom>
              <a:avLst/>
              <a:gdLst/>
              <a:ahLst/>
              <a:cxnLst/>
              <a:rect l="l" t="t" r="r" b="b"/>
              <a:pathLst>
                <a:path w="3931920" h="2548205">
                  <a:moveTo>
                    <a:pt x="0" y="0"/>
                  </a:moveTo>
                  <a:lnTo>
                    <a:pt x="3931920" y="0"/>
                  </a:lnTo>
                  <a:lnTo>
                    <a:pt x="3931920" y="2548205"/>
                  </a:lnTo>
                  <a:lnTo>
                    <a:pt x="0" y="2548205"/>
                  </a:lnTo>
                  <a:close/>
                </a:path>
              </a:pathLst>
            </a:custGeom>
            <a:blipFill>
              <a:blip r:embed="rId2">
                <a:alphaModFix amt="0"/>
              </a:blip>
              <a:stretch>
                <a:fillRect l="-69352" r="-69352" b="-43536"/>
              </a:stretch>
            </a:blipFill>
          </p:spPr>
          <p:txBody>
            <a:bodyPr/>
            <a:lstStyle/>
            <a:p>
              <a:endParaRPr lang="en-US"/>
            </a:p>
          </p:txBody>
        </p:sp>
        <p:sp>
          <p:nvSpPr>
            <p:cNvPr id="57" name="TextBox 57"/>
            <p:cNvSpPr txBox="1"/>
            <p:nvPr/>
          </p:nvSpPr>
          <p:spPr>
            <a:xfrm>
              <a:off x="0" y="-57150"/>
              <a:ext cx="3931920" cy="260535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follow up with a second call, conveying greater urgency and offering to walk the client through the process live.</a:t>
              </a:r>
            </a:p>
          </p:txBody>
        </p:sp>
      </p:grpSp>
      <p:grpSp>
        <p:nvGrpSpPr>
          <p:cNvPr id="58" name="Group 58"/>
          <p:cNvGrpSpPr/>
          <p:nvPr/>
        </p:nvGrpSpPr>
        <p:grpSpPr>
          <a:xfrm>
            <a:off x="13903223" y="2225888"/>
            <a:ext cx="2948940" cy="480060"/>
            <a:chOff x="0" y="0"/>
            <a:chExt cx="3931920" cy="640080"/>
          </a:xfrm>
        </p:grpSpPr>
        <p:sp>
          <p:nvSpPr>
            <p:cNvPr id="59" name="Freeform 59"/>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60" name="TextBox 60"/>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4F6FA"/>
                  </a:solidFill>
                  <a:latin typeface="Exo 2 Bold"/>
                  <a:ea typeface="Exo 2 Bold"/>
                  <a:cs typeface="Exo 2 Bold"/>
                  <a:sym typeface="Exo 2 Bold"/>
                </a:rPr>
                <a:t>DAY 3 EMAIL</a:t>
              </a:r>
            </a:p>
          </p:txBody>
        </p:sp>
      </p:grpSp>
      <p:grpSp>
        <p:nvGrpSpPr>
          <p:cNvPr id="61" name="Group 61"/>
          <p:cNvGrpSpPr/>
          <p:nvPr/>
        </p:nvGrpSpPr>
        <p:grpSpPr>
          <a:xfrm>
            <a:off x="14160198" y="2560631"/>
            <a:ext cx="2948940" cy="1234440"/>
            <a:chOff x="0" y="0"/>
            <a:chExt cx="3931920" cy="1645920"/>
          </a:xfrm>
        </p:grpSpPr>
        <p:sp>
          <p:nvSpPr>
            <p:cNvPr id="62" name="Freeform 62"/>
            <p:cNvSpPr/>
            <p:nvPr/>
          </p:nvSpPr>
          <p:spPr>
            <a:xfrm>
              <a:off x="0" y="0"/>
              <a:ext cx="3931920" cy="1645920"/>
            </a:xfrm>
            <a:custGeom>
              <a:avLst/>
              <a:gdLst/>
              <a:ahLst/>
              <a:cxnLst/>
              <a:rect l="l" t="t" r="r" b="b"/>
              <a:pathLst>
                <a:path w="3931920" h="1645920">
                  <a:moveTo>
                    <a:pt x="0" y="0"/>
                  </a:moveTo>
                  <a:lnTo>
                    <a:pt x="3931920" y="0"/>
                  </a:lnTo>
                  <a:lnTo>
                    <a:pt x="3931920" y="1645920"/>
                  </a:lnTo>
                  <a:lnTo>
                    <a:pt x="0" y="1645920"/>
                  </a:lnTo>
                  <a:close/>
                </a:path>
              </a:pathLst>
            </a:custGeom>
            <a:blipFill>
              <a:blip r:embed="rId2">
                <a:alphaModFix amt="0"/>
              </a:blip>
              <a:stretch>
                <a:fillRect l="-3708" r="-3708"/>
              </a:stretch>
            </a:blipFill>
          </p:spPr>
          <p:txBody>
            <a:bodyPr/>
            <a:lstStyle/>
            <a:p>
              <a:endParaRPr lang="en-US"/>
            </a:p>
          </p:txBody>
        </p:sp>
        <p:sp>
          <p:nvSpPr>
            <p:cNvPr id="63" name="TextBox 63"/>
            <p:cNvSpPr txBox="1"/>
            <p:nvPr/>
          </p:nvSpPr>
          <p:spPr>
            <a:xfrm>
              <a:off x="0" y="-9525"/>
              <a:ext cx="3931920" cy="1655445"/>
            </a:xfrm>
            <a:prstGeom prst="rect">
              <a:avLst/>
            </a:prstGeom>
          </p:spPr>
          <p:txBody>
            <a:bodyPr lIns="0" tIns="0" rIns="0" bIns="0" rtlCol="0" anchor="ctr"/>
            <a:lstStyle/>
            <a:p>
              <a:pPr algn="ctr">
                <a:lnSpc>
                  <a:spcPts val="5880"/>
                </a:lnSpc>
              </a:pPr>
              <a:r>
                <a:rPr lang="en-US" sz="4900" b="1">
                  <a:solidFill>
                    <a:srgbClr val="F4F6FA"/>
                  </a:solidFill>
                  <a:latin typeface="Exo 2 Bold"/>
                  <a:ea typeface="Exo 2 Bold"/>
                  <a:cs typeface="Exo 2 Bold"/>
                  <a:sym typeface="Exo 2 Bold"/>
                </a:rPr>
                <a:t>4</a:t>
              </a:r>
            </a:p>
          </p:txBody>
        </p:sp>
      </p:grpSp>
      <p:grpSp>
        <p:nvGrpSpPr>
          <p:cNvPr id="64" name="Group 64"/>
          <p:cNvGrpSpPr/>
          <p:nvPr/>
        </p:nvGrpSpPr>
        <p:grpSpPr>
          <a:xfrm>
            <a:off x="14233765" y="3570976"/>
            <a:ext cx="2948940" cy="685800"/>
            <a:chOff x="0" y="0"/>
            <a:chExt cx="3931920" cy="914400"/>
          </a:xfrm>
        </p:grpSpPr>
        <p:sp>
          <p:nvSpPr>
            <p:cNvPr id="65" name="Freeform 65"/>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66" name="TextBox 66"/>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4F6FA"/>
                  </a:solidFill>
                  <a:latin typeface="Exo 2 Bold"/>
                  <a:ea typeface="Exo 2 Bold"/>
                  <a:cs typeface="Exo 2 Bold"/>
                  <a:sym typeface="Exo 2 Bold"/>
                </a:rPr>
                <a:t>Follow-Up Email</a:t>
              </a:r>
            </a:p>
          </p:txBody>
        </p:sp>
      </p:grpSp>
      <p:grpSp>
        <p:nvGrpSpPr>
          <p:cNvPr id="67" name="Group 67"/>
          <p:cNvGrpSpPr/>
          <p:nvPr/>
        </p:nvGrpSpPr>
        <p:grpSpPr>
          <a:xfrm>
            <a:off x="14038807" y="3771900"/>
            <a:ext cx="3338857" cy="2743200"/>
            <a:chOff x="0" y="0"/>
            <a:chExt cx="4451809" cy="3657600"/>
          </a:xfrm>
        </p:grpSpPr>
        <p:sp>
          <p:nvSpPr>
            <p:cNvPr id="68" name="Freeform 68"/>
            <p:cNvSpPr/>
            <p:nvPr/>
          </p:nvSpPr>
          <p:spPr>
            <a:xfrm>
              <a:off x="0" y="0"/>
              <a:ext cx="4451809" cy="3657600"/>
            </a:xfrm>
            <a:custGeom>
              <a:avLst/>
              <a:gdLst/>
              <a:ahLst/>
              <a:cxnLst/>
              <a:rect l="l" t="t" r="r" b="b"/>
              <a:pathLst>
                <a:path w="4451809" h="3657600">
                  <a:moveTo>
                    <a:pt x="0" y="0"/>
                  </a:moveTo>
                  <a:lnTo>
                    <a:pt x="4451809" y="0"/>
                  </a:lnTo>
                  <a:lnTo>
                    <a:pt x="4451809" y="3657600"/>
                  </a:lnTo>
                  <a:lnTo>
                    <a:pt x="0" y="3657600"/>
                  </a:lnTo>
                  <a:close/>
                </a:path>
              </a:pathLst>
            </a:custGeom>
            <a:blipFill>
              <a:blip r:embed="rId2">
                <a:alphaModFix amt="0"/>
              </a:blip>
              <a:stretch>
                <a:fillRect l="-61253" r="-49574"/>
              </a:stretch>
            </a:blipFill>
          </p:spPr>
          <p:txBody>
            <a:bodyPr/>
            <a:lstStyle/>
            <a:p>
              <a:endParaRPr lang="en-US"/>
            </a:p>
          </p:txBody>
        </p:sp>
        <p:sp>
          <p:nvSpPr>
            <p:cNvPr id="69" name="TextBox 69"/>
            <p:cNvSpPr txBox="1"/>
            <p:nvPr/>
          </p:nvSpPr>
          <p:spPr>
            <a:xfrm>
              <a:off x="0" y="-57150"/>
              <a:ext cx="4451809" cy="3714750"/>
            </a:xfrm>
            <a:prstGeom prst="rect">
              <a:avLst/>
            </a:prstGeom>
          </p:spPr>
          <p:txBody>
            <a:bodyPr lIns="0" tIns="0" rIns="0" bIns="0" rtlCol="0" anchor="ctr"/>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id="70" name="TextBox 70"/>
          <p:cNvSpPr txBox="1"/>
          <p:nvPr/>
        </p:nvSpPr>
        <p:spPr>
          <a:xfrm>
            <a:off x="755850" y="6782377"/>
            <a:ext cx="3158133" cy="45720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Contact Channels</a:t>
            </a:r>
          </a:p>
        </p:txBody>
      </p:sp>
      <p:grpSp>
        <p:nvGrpSpPr>
          <p:cNvPr id="71" name="Group 71"/>
          <p:cNvGrpSpPr/>
          <p:nvPr/>
        </p:nvGrpSpPr>
        <p:grpSpPr>
          <a:xfrm>
            <a:off x="755850" y="7372927"/>
            <a:ext cx="16605885" cy="451910"/>
            <a:chOff x="0" y="0"/>
            <a:chExt cx="22141180" cy="602546"/>
          </a:xfrm>
        </p:grpSpPr>
        <p:grpSp>
          <p:nvGrpSpPr>
            <p:cNvPr id="72" name="Group 72"/>
            <p:cNvGrpSpPr/>
            <p:nvPr/>
          </p:nvGrpSpPr>
          <p:grpSpPr>
            <a:xfrm>
              <a:off x="524764" y="0"/>
              <a:ext cx="21616416" cy="602546"/>
              <a:chOff x="0" y="0"/>
              <a:chExt cx="21616416" cy="602546"/>
            </a:xfrm>
          </p:grpSpPr>
          <p:sp>
            <p:nvSpPr>
              <p:cNvPr id="73" name="Freeform 73"/>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74" name="TextBox 74"/>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id="75" name="Group 75"/>
            <p:cNvGrpSpPr/>
            <p:nvPr/>
          </p:nvGrpSpPr>
          <p:grpSpPr>
            <a:xfrm>
              <a:off x="0" y="164453"/>
              <a:ext cx="370790" cy="324441"/>
              <a:chOff x="0" y="0"/>
              <a:chExt cx="812800" cy="711200"/>
            </a:xfrm>
          </p:grpSpPr>
          <p:sp>
            <p:nvSpPr>
              <p:cNvPr id="76" name="Freeform 7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7" name="TextBox 77"/>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78" name="Group 78"/>
          <p:cNvGrpSpPr/>
          <p:nvPr/>
        </p:nvGrpSpPr>
        <p:grpSpPr>
          <a:xfrm>
            <a:off x="755850" y="7948662"/>
            <a:ext cx="16605885" cy="451910"/>
            <a:chOff x="0" y="0"/>
            <a:chExt cx="22141180" cy="602546"/>
          </a:xfrm>
        </p:grpSpPr>
        <p:grpSp>
          <p:nvGrpSpPr>
            <p:cNvPr id="79" name="Group 79"/>
            <p:cNvGrpSpPr/>
            <p:nvPr/>
          </p:nvGrpSpPr>
          <p:grpSpPr>
            <a:xfrm>
              <a:off x="524764" y="0"/>
              <a:ext cx="21616416" cy="602546"/>
              <a:chOff x="0" y="0"/>
              <a:chExt cx="21616416" cy="602546"/>
            </a:xfrm>
          </p:grpSpPr>
          <p:sp>
            <p:nvSpPr>
              <p:cNvPr id="80" name="Freeform 80"/>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1" name="TextBox 81"/>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id="82" name="Group 82"/>
            <p:cNvGrpSpPr/>
            <p:nvPr/>
          </p:nvGrpSpPr>
          <p:grpSpPr>
            <a:xfrm>
              <a:off x="0" y="164453"/>
              <a:ext cx="370790" cy="324441"/>
              <a:chOff x="0" y="0"/>
              <a:chExt cx="812800" cy="711200"/>
            </a:xfrm>
          </p:grpSpPr>
          <p:sp>
            <p:nvSpPr>
              <p:cNvPr id="83" name="Freeform 8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4" name="TextBox 84"/>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85" name="Group 85"/>
          <p:cNvGrpSpPr/>
          <p:nvPr/>
        </p:nvGrpSpPr>
        <p:grpSpPr>
          <a:xfrm>
            <a:off x="755850" y="8524397"/>
            <a:ext cx="16605885" cy="451910"/>
            <a:chOff x="0" y="0"/>
            <a:chExt cx="22141180" cy="602546"/>
          </a:xfrm>
        </p:grpSpPr>
        <p:grpSp>
          <p:nvGrpSpPr>
            <p:cNvPr id="86" name="Group 86"/>
            <p:cNvGrpSpPr/>
            <p:nvPr/>
          </p:nvGrpSpPr>
          <p:grpSpPr>
            <a:xfrm>
              <a:off x="524764" y="0"/>
              <a:ext cx="21616416" cy="602546"/>
              <a:chOff x="0" y="0"/>
              <a:chExt cx="21616416" cy="602546"/>
            </a:xfrm>
          </p:grpSpPr>
          <p:sp>
            <p:nvSpPr>
              <p:cNvPr id="87" name="Freeform 87"/>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8" name="TextBox 88"/>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id="89" name="Group 89"/>
            <p:cNvGrpSpPr/>
            <p:nvPr/>
          </p:nvGrpSpPr>
          <p:grpSpPr>
            <a:xfrm>
              <a:off x="0" y="164453"/>
              <a:ext cx="370790" cy="324441"/>
              <a:chOff x="0" y="0"/>
              <a:chExt cx="812800" cy="711200"/>
            </a:xfrm>
          </p:grpSpPr>
          <p:sp>
            <p:nvSpPr>
              <p:cNvPr id="90" name="Freeform 9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1" name="TextBox 9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eMYAA Performance Analysis - 01.10.2026</dc:title>
  <cp:lastModifiedBy>Hatem Isa Hatem Abbas Hatem</cp:lastModifiedBy>
  <cp:revision>2</cp:revision>
  <dcterms:created xsi:type="dcterms:W3CDTF">2006-08-16T00:00:00Z</dcterms:created>
  <dcterms:modified xsi:type="dcterms:W3CDTF">2026-09-29T09:22:50Z</dcterms:modified>
  <dc:identifier>DAHWeaDiLTo</dc:identifier>
</cp:coreProperties>
</file>